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2993" r:id="rId4"/>
    <p:sldId id="2972" r:id="rId5"/>
    <p:sldId id="2996" r:id="rId6"/>
    <p:sldId id="2994" r:id="rId7"/>
    <p:sldId id="2736" r:id="rId8"/>
    <p:sldId id="2987" r:id="rId9"/>
    <p:sldId id="2973" r:id="rId10"/>
    <p:sldId id="2977" r:id="rId11"/>
    <p:sldId id="2908" r:id="rId12"/>
    <p:sldId id="2988" r:id="rId13"/>
    <p:sldId id="2979" r:id="rId14"/>
    <p:sldId id="2978" r:id="rId15"/>
    <p:sldId id="2990" r:id="rId16"/>
    <p:sldId id="2991" r:id="rId17"/>
    <p:sldId id="2737" r:id="rId18"/>
    <p:sldId id="2989" r:id="rId19"/>
    <p:sldId id="2563" r:id="rId20"/>
    <p:sldId id="2959" r:id="rId21"/>
    <p:sldId id="2970" r:id="rId22"/>
    <p:sldId id="2968" r:id="rId23"/>
    <p:sldId id="2969" r:id="rId24"/>
    <p:sldId id="2639" r:id="rId25"/>
    <p:sldId id="2957" r:id="rId26"/>
    <p:sldId id="2951" r:id="rId27"/>
    <p:sldId id="2841" r:id="rId28"/>
    <p:sldId id="2734" r:id="rId29"/>
    <p:sldId id="2595" r:id="rId30"/>
    <p:sldId id="2566" r:id="rId31"/>
    <p:sldId id="2915" r:id="rId32"/>
    <p:sldId id="2619" r:id="rId33"/>
    <p:sldId id="2761" r:id="rId34"/>
    <p:sldId id="2935" r:id="rId35"/>
    <p:sldId id="2919" r:id="rId36"/>
    <p:sldId id="2519" r:id="rId37"/>
    <p:sldId id="2931" r:id="rId38"/>
    <p:sldId id="2749" r:id="rId39"/>
    <p:sldId id="2950" r:id="rId40"/>
    <p:sldId id="2961" r:id="rId41"/>
    <p:sldId id="2849" r:id="rId42"/>
    <p:sldId id="2904" r:id="rId43"/>
    <p:sldId id="2905" r:id="rId44"/>
    <p:sldId id="2906" r:id="rId45"/>
    <p:sldId id="2907" r:id="rId46"/>
    <p:sldId id="2575" r:id="rId47"/>
    <p:sldId id="2910" r:id="rId48"/>
    <p:sldId id="1169"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38FE-6104-025A-CDFE-30FAA3890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8D8639-E90A-9B18-DC6D-71623D3159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E72E54-C9CA-B2DD-C033-09A6FA4C06A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8F05396-62B1-69E9-2915-961C6B4E4747}"/>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3068815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662407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3547118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949201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372C-6DE5-FF13-3A5F-C9A5DA8D25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2B9EF9-4EBB-274F-A1AD-FF4E683E4A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AC0E09-6858-2196-AFC4-29D0C88AFAE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517F6BB-CD63-0BD6-0237-3E95594ABBBB}"/>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318705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svg"/><Relationship Id="rId8"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1.svg"/><Relationship Id="rId4" Type="http://schemas.openxmlformats.org/officeDocument/2006/relationships/image" Target="../media/image52.svg"/><Relationship Id="rId5" Type="http://schemas.openxmlformats.org/officeDocument/2006/relationships/image" Target="../media/image53.svg"/><Relationship Id="rId6" Type="http://schemas.openxmlformats.org/officeDocument/2006/relationships/image" Target="../media/image54.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emf"/><Relationship Id="rId4" Type="http://schemas.openxmlformats.org/officeDocument/2006/relationships/image" Target="../media/image70.jpeg"/><Relationship Id="rId5" Type="http://schemas.openxmlformats.org/officeDocument/2006/relationships/image" Target="../media/image71.jpeg"/><Relationship Id="rId6" Type="http://schemas.openxmlformats.org/officeDocument/2006/relationships/image" Target="../media/image72.jpeg"/><Relationship Id="rId7" Type="http://schemas.openxmlformats.org/officeDocument/2006/relationships/image" Target="../media/image73.jpeg"/><Relationship Id="rId8" Type="http://schemas.openxmlformats.org/officeDocument/2006/relationships/image" Target="../media/image7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株式会社あらうち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全ページに「LINEでお問い合わせ」ボタンを設置。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b="1" dirty="0">
                <a:latin typeface="メイリオ" panose="020B0604030504040204" pitchFamily="50" charset="-128"/>
                <a:ea typeface="メイリオ" panose="020B0604030504040204" pitchFamily="50" charset="-128"/>
              </a:rPr>
              <a:t>100円チェッカー・内見依頼</a:t>
            </a:r>
            <a:r>
              <a:rPr lang="ja-JP" altLang="en-US" sz="1050" b="0" dirty="0">
                <a:latin typeface="メイリオ" panose="020B0604030504040204" pitchFamily="50" charset="-128"/>
                <a:ea typeface="メイリオ" panose="020B0604030504040204" pitchFamily="50" charset="-128"/>
              </a:rPr>
              <a:t>など、問い合わせ入口を整備。</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リッチメニュー未設定・あいさつにボタンなし。改善の余地あり。</a:t>
            </a:r>
            <a:endParaRPr lang="en-US" altLang="ja-JP" sz="1050" b="1"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en-US" altLang="ja-JP"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をもとにした想定。（仮）は仮置き。</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広告比率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900" dirty="0">
                <a:solidFill>
                  <a:schemeClr val="bg1"/>
                </a:solidFill>
                <a:latin typeface="メイリオ" panose="020B0604030504040204" pitchFamily="50" charset="-128"/>
                <a:ea typeface="メイリオ" panose="020B0604030504040204" pitchFamily="50" charset="-128"/>
              </a:rPr>
              <a:t>リッチメニュー</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1,737</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0（広告なし）</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solidFill>
                  <a:schemeClr val="tx1">
                    <a:lumMod val="85000"/>
                    <a:lumOff val="15000"/>
                  </a:schemeClr>
                </a:solidFill>
                <a:latin typeface="メイリオ" panose="020B0604030504040204" pitchFamily="50" charset="-128"/>
                <a:ea typeface="メイリオ" panose="020B0604030504040204" pitchFamily="50" charset="-128"/>
              </a:rPr>
              <a:t>なし</a:t>
            </a:r>
            <a:endParaRPr lang="en-US" altLang="ja-JP" sz="1000"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不明（広告なし）</a:t>
            </a: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en-US" altLang="ja-JP" sz="1000" b="1" dirty="0" err="1">
                <a:latin typeface="メイリオ" panose="020B0604030504040204" pitchFamily="50" charset="-128"/>
                <a:ea typeface="メイリオ" panose="020B0604030504040204" pitchFamily="50" charset="-128"/>
              </a:rPr>
              <a:t>YouTube</a:t>
            </a:r>
            <a:endParaRPr lang="en-US" altLang="ja-JP" sz="1000" b="1"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229084" y="4235360"/>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不明</a:t>
            </a:r>
            <a:endParaRPr lang="en-US" altLang="ja-JP" sz="1000" b="1" dirty="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30件（仮）</a:t>
            </a:r>
            <a:endParaRPr lang="en-US" altLang="ja-JP" sz="10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229084" y="3298824"/>
            <a:ext cx="1360330" cy="215444"/>
          </a:xfrm>
          <a:prstGeom prst="rect">
            <a:avLst/>
          </a:prstGeom>
          <a:solidFill>
            <a:schemeClr val="bg1">
              <a:lumMod val="95000"/>
            </a:schemeClr>
          </a:solidFill>
        </p:spPr>
        <p:txBody>
          <a:bodyPr wrap="square" anchor="ctr">
            <a:spAutoFit/>
          </a:bodyPr>
          <a:lstStyle/>
          <a:p>
            <a:pPr algn="ctr"/>
            <a:r>
              <a:rPr lang="ja-JP" altLang="en-US" sz="800" b="1" dirty="0">
                <a:solidFill>
                  <a:srgbClr val="FF0000"/>
                </a:solidFill>
                <a:latin typeface="メイリオ" panose="020B0604030504040204" pitchFamily="50" charset="-128"/>
                <a:ea typeface="メイリオ" panose="020B0604030504040204" pitchFamily="50" charset="-128"/>
              </a:rPr>
              <a:t>問い合わせ</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0％</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あいさつ</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1,241</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約807（仮）</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35%（仮）</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b="1">
                <a:latin typeface="メイリオ" panose="020B0604030504040204" pitchFamily="50" charset="-128"/>
                <a:ea typeface="メイリオ" panose="020B0604030504040204" pitchFamily="50" charset="-128"/>
              </a:rPr>
              <a:t>なし</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err="1">
                <a:latin typeface="メイリオ" panose="020B0604030504040204" pitchFamily="50" charset="-128"/>
                <a:ea typeface="メイリオ" panose="020B0604030504040204" pitchFamily="50" charset="-128"/>
              </a:rPr>
              <a:t>なし（標準機能）</a:t>
            </a:r>
            <a:endParaRPr lang="en-US" altLang="ja-JP" sz="900" b="1" dirty="0">
              <a:latin typeface="メイリオ" panose="020B0604030504040204" pitchFamily="50" charset="-128"/>
              <a:ea typeface="メイリオ" panose="020B0604030504040204" pitchFamily="50" charset="-128"/>
            </a:endParaRP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b="1">
                <a:latin typeface="メイリオ" panose="020B0604030504040204" pitchFamily="50" charset="-128"/>
                <a:ea typeface="メイリオ" panose="020B0604030504040204" pitchFamily="50" charset="-128"/>
              </a:rPr>
              <a:t>ボタンなし</a:t>
            </a:r>
          </a:p>
        </p:txBody>
      </p:sp>
      <p:sp>
        <p:nvSpPr>
          <p:cNvPr id="23" name="テキスト ボックス 22">
            <a:extLst>
              <a:ext uri="{FF2B5EF4-FFF2-40B4-BE49-F238E27FC236}">
                <a16:creationId xmlns:a16="http://schemas.microsoft.com/office/drawing/2014/main" id="{B40D587B-11A9-2453-DDAB-83F9EE52B8BC}"/>
              </a:ext>
            </a:extLst>
          </p:cNvPr>
          <p:cNvSpPr txBox="1"/>
          <p:nvPr/>
        </p:nvSpPr>
        <p:spPr>
          <a:xfrm>
            <a:off x="8928643" y="451067"/>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82CF626D-2943-A2F1-3A4D-8BC9EFDFB745}"/>
              </a:ext>
            </a:extLst>
          </p:cNvPr>
          <p:cNvPicPr>
            <a:picLocks noChangeAspect="1"/>
          </p:cNvPicPr>
          <p:nvPr/>
        </p:nvPicPr>
        <p:blipFill>
          <a:blip r:embed="rId4"/>
          <a:stretch>
            <a:fillRect/>
          </a:stretch>
        </p:blipFill>
        <p:spPr>
          <a:xfrm>
            <a:off x="366770" y="2009229"/>
            <a:ext cx="1619875" cy="3289593"/>
          </a:xfrm>
          <a:prstGeom prst="rect">
            <a:avLst/>
          </a:prstGeom>
        </p:spPr>
      </p:pic>
      <p:pic>
        <p:nvPicPr>
          <p:cNvPr id="24" name="図 23">
            <a:extLst>
              <a:ext uri="{FF2B5EF4-FFF2-40B4-BE49-F238E27FC236}">
                <a16:creationId xmlns:a16="http://schemas.microsoft.com/office/drawing/2014/main" id="{92F81D7F-9363-313C-9519-8D698FD92819}"/>
              </a:ext>
            </a:extLst>
          </p:cNvPr>
          <p:cNvPicPr>
            <a:picLocks noChangeAspect="1"/>
          </p:cNvPicPr>
          <p:nvPr/>
        </p:nvPicPr>
        <p:blipFill>
          <a:blip r:embed="rId5" cstate="print">
            <a:extLst>
              <a:ext uri="{28A0092B-C50C-407E-A947-70E740481C1C}">
                <a14:useLocalDpi xmlns:a14="http://schemas.microsoft.com/office/drawing/2010/main" val="0"/>
              </a:ext>
            </a:extLst>
          </a:blip>
          <a:srcRect t="4912" b="4367"/>
          <a:stretch>
            <a:fillRect/>
          </a:stretch>
        </p:blipFill>
        <p:spPr>
          <a:xfrm>
            <a:off x="4899773" y="2218832"/>
            <a:ext cx="1547444" cy="3037706"/>
          </a:xfrm>
          <a:prstGeom prst="rect">
            <a:avLst/>
          </a:prstGeom>
        </p:spPr>
      </p:pic>
      <p:sp>
        <p:nvSpPr>
          <p:cNvPr id="26" name="テキスト ボックス 25">
            <a:extLst>
              <a:ext uri="{FF2B5EF4-FFF2-40B4-BE49-F238E27FC236}">
                <a16:creationId xmlns:a16="http://schemas.microsoft.com/office/drawing/2014/main" id="{91691AF8-B769-8CB6-FE3F-9445764E2031}"/>
              </a:ext>
            </a:extLst>
          </p:cNvPr>
          <p:cNvSpPr txBox="1"/>
          <p:nvPr/>
        </p:nvSpPr>
        <p:spPr>
          <a:xfrm>
            <a:off x="2319101" y="841104"/>
            <a:ext cx="4963884" cy="415498"/>
          </a:xfrm>
          <a:prstGeom prst="rect">
            <a:avLst/>
          </a:prstGeom>
          <a:noFill/>
        </p:spPr>
        <p:txBody>
          <a:bodyPr wrap="square">
            <a:spAutoFit/>
          </a:bodyPr>
          <a:lstStyle/>
          <a:p>
            <a:pPr algn="ctr"/>
            <a:r>
              <a:rPr lang="en-US" altLang="ja-JP" sz="1050" dirty="0" err="1">
                <a:latin typeface="メイリオ" panose="020B0604030504040204" pitchFamily="50" charset="-128"/>
                <a:ea typeface="メイリオ" panose="020B0604030504040204" pitchFamily="50" charset="-128"/>
              </a:rPr>
              <a:t>LINE公式アカウントの標準機能で運用中（Lステップ等のツールなし）。</a:t>
            </a:r>
            <a:endParaRPr lang="en-US" altLang="ja-JP" sz="1050" dirty="0">
              <a:latin typeface="メイリオ" panose="020B0604030504040204" pitchFamily="50" charset="-128"/>
              <a:ea typeface="メイリオ" panose="020B0604030504040204" pitchFamily="50" charset="-128"/>
            </a:endParaRPr>
          </a:p>
          <a:p>
            <a:pPr algn="ctr"/>
            <a:r>
              <a:rPr lang="ja-JP" altLang="en-US" sz="1050" b="1" dirty="0">
                <a:latin typeface="メイリオ" panose="020B0604030504040204" pitchFamily="50" charset="-128"/>
                <a:ea typeface="メイリオ" panose="020B0604030504040204" pitchFamily="50" charset="-128"/>
              </a:rPr>
              <a:t>友だち追加の入口・追加後の動線ともに、改善の余地があると想定。</a:t>
            </a:r>
            <a:endParaRPr lang="en-US" altLang="ja-JP" sz="105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50054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633400"/>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2025747"/>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3640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218936"/>
            <a:ext cx="9425943" cy="27812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3542138" y="4175757"/>
            <a:ext cx="3640833" cy="276999"/>
          </a:xfrm>
          <a:prstGeom prst="rect">
            <a:avLst/>
          </a:prstGeom>
          <a:solidFill>
            <a:srgbClr val="173559"/>
          </a:solidFill>
        </p:spPr>
        <p:txBody>
          <a:bodyPr wrap="square">
            <a:spAutoFit/>
          </a:bodyPr>
          <a:lstStyle/>
          <a:p>
            <a:pPr algn="ctr"/>
            <a:r>
              <a:rPr lang="ja-JP" altLang="en-US" sz="1200" b="1" dirty="0">
                <a:solidFill>
                  <a:schemeClr val="bg1"/>
                </a:solidFill>
                <a:latin typeface="メイリオ" panose="020B0604030504040204" pitchFamily="50" charset="-128"/>
                <a:ea typeface="メイリオ" panose="020B0604030504040204" pitchFamily="50" charset="-128"/>
              </a:rPr>
              <a:t>問い合わせ</a:t>
            </a:r>
            <a:endParaRPr lang="en-US" altLang="ja-JP" sz="1200" b="1"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4999851"/>
            <a:ext cx="2352195" cy="276999"/>
          </a:xfrm>
          <a:prstGeom prst="rect">
            <a:avLst/>
          </a:prstGeom>
          <a:solidFill>
            <a:srgbClr val="FF0000"/>
          </a:solidFill>
        </p:spPr>
        <p:txBody>
          <a:bodyPr wrap="square">
            <a:spAutoFit/>
          </a:bodyPr>
          <a:lstStyle/>
          <a:p>
            <a:pPr algn="ctr"/>
            <a:r>
              <a:rPr lang="ja-JP" altLang="en-US" sz="1200" b="1" dirty="0">
                <a:solidFill>
                  <a:schemeClr val="bg1"/>
                </a:solidFill>
                <a:latin typeface="メイリオ" panose="020B0604030504040204" pitchFamily="50" charset="-128"/>
                <a:ea typeface="メイリオ" panose="020B0604030504040204" pitchFamily="50" charset="-128"/>
              </a:rPr>
              <a:t>契約</a:t>
            </a:r>
            <a:endParaRPr lang="en-US" altLang="ja-JP" sz="1200" b="1"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6" y="3441166"/>
            <a:ext cx="2157994" cy="253916"/>
          </a:xfrm>
          <a:prstGeom prst="rect">
            <a:avLst/>
          </a:prstGeom>
          <a:no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&lt;</a:t>
            </a:r>
            <a:r>
              <a:rPr lang="ja-JP" altLang="en-US" sz="1050" dirty="0">
                <a:latin typeface="メイリオ" panose="020B0604030504040204" pitchFamily="50" charset="-128"/>
                <a:ea typeface="メイリオ" panose="020B0604030504040204" pitchFamily="50" charset="-128"/>
              </a:rPr>
              <a:t>貴社のユーザー動線イメージ</a:t>
            </a:r>
            <a:r>
              <a:rPr lang="en-US" altLang="ja-JP" sz="1050" dirty="0">
                <a:latin typeface="メイリオ" panose="020B0604030504040204" pitchFamily="50" charset="-128"/>
                <a:ea typeface="メイリオ" panose="020B0604030504040204" pitchFamily="50" charset="-128"/>
              </a:rPr>
              <a:t>&gt;</a:t>
            </a:r>
            <a:endParaRPr lang="ja-JP" altLang="en-US" sz="1050" dirty="0">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28349" y="3827373"/>
            <a:ext cx="1868111" cy="261610"/>
          </a:xfrm>
          <a:prstGeom prst="rect">
            <a:avLst/>
          </a:prstGeom>
          <a:solidFill>
            <a:schemeClr val="bg1">
              <a:lumMod val="75000"/>
              <a:alpha val="30000"/>
            </a:schemeClr>
          </a:solidFill>
        </p:spPr>
        <p:txBody>
          <a:bodyPr wrap="square">
            <a:spAutoFit/>
          </a:bodyPr>
          <a:lstStyle/>
          <a:p>
            <a:pPr algn="ctr">
              <a:buNone/>
            </a:pPr>
            <a:r>
              <a:rPr lang="ja-JP" altLang="en-US" sz="1100" b="1" dirty="0">
                <a:latin typeface="メイリオ" panose="020B0604030504040204" pitchFamily="50" charset="-128"/>
                <a:ea typeface="メイリオ" panose="020B0604030504040204" pitchFamily="50" charset="-128"/>
              </a:rPr>
              <a:t>（広告・</a:t>
            </a:r>
            <a:r>
              <a:rPr lang="en-US" altLang="ja-JP" sz="1100" b="1" dirty="0">
                <a:latin typeface="メイリオ" panose="020B0604030504040204" pitchFamily="50" charset="-128"/>
                <a:ea typeface="メイリオ" panose="020B0604030504040204" pitchFamily="50" charset="-128"/>
              </a:rPr>
              <a:t>SEO</a:t>
            </a:r>
            <a:r>
              <a:rPr lang="ja-JP" altLang="en-US" sz="11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cxnSp>
        <p:nvCxnSpPr>
          <p:cNvPr id="44" name="コネクタ: カギ線 43">
            <a:extLst>
              <a:ext uri="{FF2B5EF4-FFF2-40B4-BE49-F238E27FC236}">
                <a16:creationId xmlns:a16="http://schemas.microsoft.com/office/drawing/2014/main" id="{49EFBAB0-BCDF-630C-31F0-B7E739627F12}"/>
              </a:ext>
            </a:extLst>
          </p:cNvPr>
          <p:cNvCxnSpPr>
            <a:cxnSpLocks/>
          </p:cNvCxnSpPr>
          <p:nvPr/>
        </p:nvCxnSpPr>
        <p:spPr>
          <a:xfrm>
            <a:off x="2196460" y="3979594"/>
            <a:ext cx="1345678" cy="267527"/>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D15D32A5-89C7-7801-F56B-48100CAD6CC5}"/>
              </a:ext>
            </a:extLst>
          </p:cNvPr>
          <p:cNvSpPr txBox="1"/>
          <p:nvPr/>
        </p:nvSpPr>
        <p:spPr>
          <a:xfrm>
            <a:off x="336745" y="4147057"/>
            <a:ext cx="1868111" cy="261610"/>
          </a:xfrm>
          <a:prstGeom prst="rect">
            <a:avLst/>
          </a:prstGeom>
          <a:solidFill>
            <a:schemeClr val="bg1">
              <a:lumMod val="75000"/>
              <a:alpha val="30000"/>
            </a:schemeClr>
          </a:solidFill>
        </p:spPr>
        <p:txBody>
          <a:bodyPr wrap="square">
            <a:spAutoFit/>
          </a:bodyPr>
          <a:lstStyle/>
          <a:p>
            <a:pPr algn="ctr">
              <a:buNone/>
            </a:pPr>
            <a:r>
              <a:rPr lang="ja-JP" altLang="en-US" sz="1100" b="1" dirty="0">
                <a:latin typeface="メイリオ" panose="020B0604030504040204" pitchFamily="50" charset="-128"/>
                <a:ea typeface="メイリオ" panose="020B0604030504040204" pitchFamily="50" charset="-128"/>
              </a:rPr>
              <a:t>（</a:t>
            </a:r>
            <a:r>
              <a:rPr lang="en-US" altLang="ja-JP" sz="1100" b="1" dirty="0">
                <a:latin typeface="メイリオ" panose="020B0604030504040204" pitchFamily="50" charset="-128"/>
                <a:ea typeface="メイリオ" panose="020B0604030504040204" pitchFamily="50" charset="-128"/>
              </a:rPr>
              <a:t>SNS</a:t>
            </a:r>
            <a:r>
              <a:rPr lang="ja-JP" altLang="en-US" sz="11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cxnSp>
        <p:nvCxnSpPr>
          <p:cNvPr id="27" name="コネクタ: カギ線 26">
            <a:extLst>
              <a:ext uri="{FF2B5EF4-FFF2-40B4-BE49-F238E27FC236}">
                <a16:creationId xmlns:a16="http://schemas.microsoft.com/office/drawing/2014/main" id="{6C3C3B2D-23E1-C8CD-176F-5DD72A1E849D}"/>
              </a:ext>
            </a:extLst>
          </p:cNvPr>
          <p:cNvCxnSpPr>
            <a:cxnSpLocks/>
          </p:cNvCxnSpPr>
          <p:nvPr/>
        </p:nvCxnSpPr>
        <p:spPr>
          <a:xfrm flipV="1">
            <a:off x="2196457" y="4378124"/>
            <a:ext cx="1345681" cy="972542"/>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78340F29-D7A4-35EA-E52D-EC31842DDDEB}"/>
              </a:ext>
            </a:extLst>
          </p:cNvPr>
          <p:cNvSpPr txBox="1"/>
          <p:nvPr/>
        </p:nvSpPr>
        <p:spPr>
          <a:xfrm>
            <a:off x="2397925" y="3832206"/>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
        <p:nvSpPr>
          <p:cNvPr id="37" name="テキスト ボックス 36">
            <a:extLst>
              <a:ext uri="{FF2B5EF4-FFF2-40B4-BE49-F238E27FC236}">
                <a16:creationId xmlns:a16="http://schemas.microsoft.com/office/drawing/2014/main" id="{BAB083D9-279E-97D0-AE6A-D93C9B88589A}"/>
              </a:ext>
            </a:extLst>
          </p:cNvPr>
          <p:cNvSpPr txBox="1"/>
          <p:nvPr/>
        </p:nvSpPr>
        <p:spPr>
          <a:xfrm>
            <a:off x="328348" y="5288199"/>
            <a:ext cx="1868111" cy="261610"/>
          </a:xfrm>
          <a:prstGeom prst="rect">
            <a:avLst/>
          </a:prstGeom>
          <a:solidFill>
            <a:schemeClr val="bg1">
              <a:lumMod val="75000"/>
              <a:alpha val="30000"/>
            </a:schemeClr>
          </a:solidFill>
        </p:spPr>
        <p:txBody>
          <a:bodyPr wrap="square">
            <a:spAutoFit/>
          </a:bodyPr>
          <a:lstStyle/>
          <a:p>
            <a:pPr algn="ctr">
              <a:buNone/>
            </a:pPr>
            <a:r>
              <a:rPr lang="ja-JP" altLang="en-US" sz="1100" b="1" dirty="0">
                <a:latin typeface="メイリオ" panose="020B0604030504040204" pitchFamily="50" charset="-128"/>
                <a:ea typeface="メイリオ" panose="020B0604030504040204" pitchFamily="50" charset="-128"/>
              </a:rPr>
              <a:t>貴社保有リスト</a:t>
            </a:r>
            <a:endParaRPr lang="ja-JP" altLang="ja-JP" sz="1100" b="1" dirty="0">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8CA7E237-5705-C3A2-3BA2-3D5CEA05AC50}"/>
              </a:ext>
            </a:extLst>
          </p:cNvPr>
          <p:cNvSpPr txBox="1"/>
          <p:nvPr/>
        </p:nvSpPr>
        <p:spPr>
          <a:xfrm>
            <a:off x="328348" y="5587746"/>
            <a:ext cx="1868111" cy="261610"/>
          </a:xfrm>
          <a:prstGeom prst="rect">
            <a:avLst/>
          </a:prstGeom>
          <a:solidFill>
            <a:schemeClr val="bg1">
              <a:lumMod val="75000"/>
              <a:alpha val="30000"/>
            </a:schemeClr>
          </a:solidFill>
        </p:spPr>
        <p:txBody>
          <a:bodyPr wrap="square">
            <a:spAutoFit/>
          </a:bodyPr>
          <a:lstStyle/>
          <a:p>
            <a:pPr algn="ctr">
              <a:buNone/>
            </a:pPr>
            <a:r>
              <a:rPr lang="ja-JP" altLang="en-US" sz="1100" b="1" dirty="0">
                <a:latin typeface="メイリオ" panose="020B0604030504040204" pitchFamily="50" charset="-128"/>
                <a:ea typeface="メイリオ" panose="020B0604030504040204" pitchFamily="50" charset="-128"/>
              </a:rPr>
              <a:t>（メルマガ）</a:t>
            </a:r>
            <a:endParaRPr lang="ja-JP" altLang="ja-JP" sz="1100" b="1" dirty="0">
              <a:latin typeface="メイリオ" panose="020B0604030504040204" pitchFamily="50" charset="-128"/>
              <a:ea typeface="メイリオ" panose="020B0604030504040204" pitchFamily="50" charset="-128"/>
            </a:endParaRPr>
          </a:p>
        </p:txBody>
      </p:sp>
      <p:cxnSp>
        <p:nvCxnSpPr>
          <p:cNvPr id="47" name="コネクタ: カギ線 46">
            <a:extLst>
              <a:ext uri="{FF2B5EF4-FFF2-40B4-BE49-F238E27FC236}">
                <a16:creationId xmlns:a16="http://schemas.microsoft.com/office/drawing/2014/main" id="{B9856E8F-73DC-42CA-5603-0929EAEE24B3}"/>
              </a:ext>
            </a:extLst>
          </p:cNvPr>
          <p:cNvCxnSpPr>
            <a:cxnSpLocks/>
            <a:stCxn id="46" idx="3"/>
            <a:endCxn id="34" idx="1"/>
          </p:cNvCxnSpPr>
          <p:nvPr/>
        </p:nvCxnSpPr>
        <p:spPr>
          <a:xfrm flipV="1">
            <a:off x="2196459" y="4378089"/>
            <a:ext cx="1345679" cy="1276631"/>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596EB3ED-1574-7170-0376-F4EEF28A9DB9}"/>
              </a:ext>
            </a:extLst>
          </p:cNvPr>
          <p:cNvSpPr txBox="1"/>
          <p:nvPr/>
        </p:nvSpPr>
        <p:spPr>
          <a:xfrm>
            <a:off x="2600222" y="5212748"/>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
        <p:nvSpPr>
          <p:cNvPr id="74" name="テキスト ボックス 73">
            <a:extLst>
              <a:ext uri="{FF2B5EF4-FFF2-40B4-BE49-F238E27FC236}">
                <a16:creationId xmlns:a16="http://schemas.microsoft.com/office/drawing/2014/main" id="{4D7511B7-38C6-2819-BA2E-507529687344}"/>
              </a:ext>
            </a:extLst>
          </p:cNvPr>
          <p:cNvSpPr txBox="1"/>
          <p:nvPr/>
        </p:nvSpPr>
        <p:spPr>
          <a:xfrm>
            <a:off x="7408051" y="5436023"/>
            <a:ext cx="2352195" cy="246221"/>
          </a:xfrm>
          <a:prstGeom prst="rect">
            <a:avLst/>
          </a:prstGeom>
          <a:solidFill>
            <a:schemeClr val="bg1">
              <a:lumMod val="75000"/>
            </a:schemeClr>
          </a:solidFill>
        </p:spPr>
        <p:txBody>
          <a:bodyPr wrap="square">
            <a:spAutoFit/>
          </a:bodyPr>
          <a:lstStyle/>
          <a:p>
            <a:pPr algn="ctr"/>
            <a:r>
              <a:rPr lang="en-US" altLang="ja-JP" sz="1000" dirty="0">
                <a:solidFill>
                  <a:schemeClr val="bg1">
                    <a:lumMod val="95000"/>
                  </a:schemeClr>
                </a:solidFill>
                <a:latin typeface="メイリオ" panose="020B0604030504040204" pitchFamily="50" charset="-128"/>
                <a:ea typeface="メイリオ" panose="020B0604030504040204" pitchFamily="50" charset="-128"/>
              </a:rPr>
              <a:t>(</a:t>
            </a:r>
            <a:r>
              <a:rPr lang="ja-JP" altLang="en-US" sz="1000" dirty="0">
                <a:solidFill>
                  <a:schemeClr val="bg1">
                    <a:lumMod val="95000"/>
                  </a:schemeClr>
                </a:solidFill>
                <a:latin typeface="メイリオ" panose="020B0604030504040204" pitchFamily="50" charset="-128"/>
                <a:ea typeface="メイリオ" panose="020B0604030504040204" pitchFamily="50" charset="-128"/>
              </a:rPr>
              <a:t>友だち紹介</a:t>
            </a:r>
            <a:r>
              <a:rPr lang="en-US" altLang="ja-JP" sz="1000" dirty="0">
                <a:solidFill>
                  <a:schemeClr val="bg1">
                    <a:lumMod val="95000"/>
                  </a:schemeClr>
                </a:solidFill>
                <a:latin typeface="メイリオ" panose="020B0604030504040204" pitchFamily="50" charset="-128"/>
                <a:ea typeface="メイリオ" panose="020B0604030504040204" pitchFamily="50" charset="-128"/>
              </a:rPr>
              <a:t>)</a:t>
            </a:r>
          </a:p>
        </p:txBody>
      </p:sp>
      <p:cxnSp>
        <p:nvCxnSpPr>
          <p:cNvPr id="22" name="コネクタ: カギ線 21">
            <a:extLst>
              <a:ext uri="{FF2B5EF4-FFF2-40B4-BE49-F238E27FC236}">
                <a16:creationId xmlns:a16="http://schemas.microsoft.com/office/drawing/2014/main" id="{C98FFC8F-E32E-63C2-0769-E61F54F92AA8}"/>
              </a:ext>
            </a:extLst>
          </p:cNvPr>
          <p:cNvCxnSpPr>
            <a:cxnSpLocks/>
          </p:cNvCxnSpPr>
          <p:nvPr/>
        </p:nvCxnSpPr>
        <p:spPr>
          <a:xfrm>
            <a:off x="2204856" y="4220229"/>
            <a:ext cx="1337282" cy="26500"/>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459F6DDB-7C9E-8820-DF35-6AA3914041C2}"/>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カスタマージャーニーを８分割した上で各フェーズに最適なプランを提示。</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特に改善したいポイントをご共有いただければそちらに対しての具体的なご提案</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をお持ち致します。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85EB9568-4DC5-72DF-DEB2-4CBA53EB5832}"/>
              </a:ext>
            </a:extLst>
          </p:cNvPr>
          <p:cNvSpPr txBox="1"/>
          <p:nvPr/>
        </p:nvSpPr>
        <p:spPr>
          <a:xfrm>
            <a:off x="4830775" y="4525928"/>
            <a:ext cx="2352195" cy="276999"/>
          </a:xfrm>
          <a:prstGeom prst="rect">
            <a:avLst/>
          </a:prstGeom>
          <a:solidFill>
            <a:srgbClr val="173559"/>
          </a:solidFill>
        </p:spPr>
        <p:txBody>
          <a:bodyPr wrap="square">
            <a:spAutoFit/>
          </a:bodyPr>
          <a:lstStyle/>
          <a:p>
            <a:pPr algn="ctr"/>
            <a:r>
              <a:rPr lang="ja-JP" altLang="en-US" sz="1200" b="1" dirty="0">
                <a:solidFill>
                  <a:schemeClr val="bg1"/>
                </a:solidFill>
                <a:latin typeface="メイリオ" panose="020B0604030504040204" pitchFamily="50" charset="-128"/>
                <a:ea typeface="メイリオ" panose="020B0604030504040204" pitchFamily="50" charset="-128"/>
              </a:rPr>
              <a:t>申込み</a:t>
            </a:r>
            <a:endParaRPr lang="en-US" altLang="ja-JP" sz="1200" b="1" dirty="0">
              <a:solidFill>
                <a:schemeClr val="bg1"/>
              </a:solidFill>
              <a:latin typeface="メイリオ" panose="020B0604030504040204" pitchFamily="50" charset="-128"/>
              <a:ea typeface="メイリオ" panose="020B0604030504040204" pitchFamily="50" charset="-128"/>
            </a:endParaRPr>
          </a:p>
        </p:txBody>
      </p:sp>
      <p:cxnSp>
        <p:nvCxnSpPr>
          <p:cNvPr id="41" name="コネクタ: カギ線 40">
            <a:extLst>
              <a:ext uri="{FF2B5EF4-FFF2-40B4-BE49-F238E27FC236}">
                <a16:creationId xmlns:a16="http://schemas.microsoft.com/office/drawing/2014/main" id="{63806D73-8539-6547-72CE-B5899B02FCBB}"/>
              </a:ext>
            </a:extLst>
          </p:cNvPr>
          <p:cNvCxnSpPr>
            <a:cxnSpLocks/>
            <a:stCxn id="40" idx="2"/>
            <a:endCxn id="36" idx="0"/>
          </p:cNvCxnSpPr>
          <p:nvPr/>
        </p:nvCxnSpPr>
        <p:spPr>
          <a:xfrm rot="16200000" flipH="1">
            <a:off x="6552730" y="4257069"/>
            <a:ext cx="196924" cy="1288639"/>
          </a:xfrm>
          <a:prstGeom prst="bentConnector3">
            <a:avLst>
              <a:gd name="adj1" fmla="val 36733"/>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1C99-7C4C-B3D1-EC94-9144492BA24D}"/>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F00B9F75-0688-D750-AFD8-BF8814C9625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設定項目</a:t>
            </a:r>
            <a:endParaRPr lang="en-US" altLang="ja-JP" sz="1600" b="1" dirty="0">
              <a:solidFill>
                <a:srgbClr val="002060"/>
              </a:solidFill>
              <a:latin typeface="Meiryo"/>
              <a:ea typeface="Meiryo"/>
              <a:cs typeface="Meiryo"/>
              <a:sym typeface="Meiryo"/>
            </a:endParaRPr>
          </a:p>
        </p:txBody>
      </p:sp>
      <p:pic>
        <p:nvPicPr>
          <p:cNvPr id="41" name="図 40">
            <a:extLst>
              <a:ext uri="{FF2B5EF4-FFF2-40B4-BE49-F238E27FC236}">
                <a16:creationId xmlns:a16="http://schemas.microsoft.com/office/drawing/2014/main" id="{0494CA84-CE11-4173-2FC7-2892CA9AC721}"/>
              </a:ext>
            </a:extLst>
          </p:cNvPr>
          <p:cNvPicPr>
            <a:picLocks noChangeAspect="1"/>
          </p:cNvPicPr>
          <p:nvPr/>
        </p:nvPicPr>
        <p:blipFill>
          <a:blip r:embed="rId3"/>
          <a:stretch>
            <a:fillRect/>
          </a:stretch>
        </p:blipFill>
        <p:spPr>
          <a:xfrm>
            <a:off x="662094" y="1659991"/>
            <a:ext cx="1732686" cy="3519238"/>
          </a:xfrm>
          <a:prstGeom prst="rect">
            <a:avLst/>
          </a:prstGeom>
        </p:spPr>
      </p:pic>
      <p:sp>
        <p:nvSpPr>
          <p:cNvPr id="46" name="テキスト ボックス 45">
            <a:extLst>
              <a:ext uri="{FF2B5EF4-FFF2-40B4-BE49-F238E27FC236}">
                <a16:creationId xmlns:a16="http://schemas.microsoft.com/office/drawing/2014/main" id="{992E1926-E52E-BC52-CC73-BA1EFC0084E7}"/>
              </a:ext>
            </a:extLst>
          </p:cNvPr>
          <p:cNvSpPr txBox="1"/>
          <p:nvPr/>
        </p:nvSpPr>
        <p:spPr>
          <a:xfrm>
            <a:off x="752871" y="192148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E9DC2323-9B53-FAAC-3A85-BED460CCEDD4}"/>
              </a:ext>
            </a:extLst>
          </p:cNvPr>
          <p:cNvPicPr>
            <a:picLocks noChangeAspect="1"/>
          </p:cNvPicPr>
          <p:nvPr/>
        </p:nvPicPr>
        <p:blipFill>
          <a:blip r:embed="rId4" cstate="print">
            <a:extLst>
              <a:ext uri="{28A0092B-C50C-407E-A947-70E740481C1C}">
                <a14:useLocalDpi xmlns:a14="http://schemas.microsoft.com/office/drawing/2010/main" val="0"/>
              </a:ext>
            </a:extLst>
          </a:blip>
          <a:srcRect t="4912" b="4367"/>
          <a:stretch>
            <a:fillRect/>
          </a:stretch>
        </p:blipFill>
        <p:spPr>
          <a:xfrm>
            <a:off x="761580" y="1903466"/>
            <a:ext cx="1547444" cy="3037706"/>
          </a:xfrm>
          <a:prstGeom prst="rect">
            <a:avLst/>
          </a:prstGeom>
        </p:spPr>
      </p:pic>
      <p:pic>
        <p:nvPicPr>
          <p:cNvPr id="9" name="図 8">
            <a:extLst>
              <a:ext uri="{FF2B5EF4-FFF2-40B4-BE49-F238E27FC236}">
                <a16:creationId xmlns:a16="http://schemas.microsoft.com/office/drawing/2014/main" id="{BDBCD9E7-F68E-48D3-42CB-B66B303BC937}"/>
              </a:ext>
            </a:extLst>
          </p:cNvPr>
          <p:cNvPicPr>
            <a:picLocks noChangeAspect="1"/>
          </p:cNvPicPr>
          <p:nvPr/>
        </p:nvPicPr>
        <p:blipFill>
          <a:blip r:embed="rId3"/>
          <a:stretch>
            <a:fillRect/>
          </a:stretch>
        </p:blipFill>
        <p:spPr>
          <a:xfrm>
            <a:off x="5286523" y="1659990"/>
            <a:ext cx="1615479" cy="3281181"/>
          </a:xfrm>
          <a:prstGeom prst="rect">
            <a:avLst/>
          </a:prstGeom>
        </p:spPr>
      </p:pic>
      <p:pic>
        <p:nvPicPr>
          <p:cNvPr id="11" name="図 10">
            <a:extLst>
              <a:ext uri="{FF2B5EF4-FFF2-40B4-BE49-F238E27FC236}">
                <a16:creationId xmlns:a16="http://schemas.microsoft.com/office/drawing/2014/main" id="{EBE403EF-3C68-CA9F-CC1C-B80F0D13560F}"/>
              </a:ext>
            </a:extLst>
          </p:cNvPr>
          <p:cNvPicPr>
            <a:picLocks noChangeAspect="1"/>
          </p:cNvPicPr>
          <p:nvPr/>
        </p:nvPicPr>
        <p:blipFill>
          <a:blip r:embed="rId3"/>
          <a:stretch>
            <a:fillRect/>
          </a:stretch>
        </p:blipFill>
        <p:spPr>
          <a:xfrm>
            <a:off x="2534257" y="1659990"/>
            <a:ext cx="1732686" cy="3519238"/>
          </a:xfrm>
          <a:prstGeom prst="rect">
            <a:avLst/>
          </a:prstGeom>
        </p:spPr>
      </p:pic>
      <p:pic>
        <p:nvPicPr>
          <p:cNvPr id="13" name="図 12">
            <a:extLst>
              <a:ext uri="{FF2B5EF4-FFF2-40B4-BE49-F238E27FC236}">
                <a16:creationId xmlns:a16="http://schemas.microsoft.com/office/drawing/2014/main" id="{D69012D9-4BBE-7A07-2E00-34BB3E1BB700}"/>
              </a:ext>
            </a:extLst>
          </p:cNvPr>
          <p:cNvPicPr>
            <a:picLocks noChangeAspect="1"/>
          </p:cNvPicPr>
          <p:nvPr/>
        </p:nvPicPr>
        <p:blipFill>
          <a:blip r:embed="rId5" cstate="print">
            <a:extLst>
              <a:ext uri="{28A0092B-C50C-407E-A947-70E740481C1C}">
                <a14:useLocalDpi xmlns:a14="http://schemas.microsoft.com/office/drawing/2010/main" val="0"/>
              </a:ext>
            </a:extLst>
          </a:blip>
          <a:srcRect t="5783" b="2175"/>
          <a:stretch>
            <a:fillRect/>
          </a:stretch>
        </p:blipFill>
        <p:spPr>
          <a:xfrm>
            <a:off x="5385449" y="1880057"/>
            <a:ext cx="1435042" cy="2858089"/>
          </a:xfrm>
          <a:prstGeom prst="rect">
            <a:avLst/>
          </a:prstGeom>
        </p:spPr>
      </p:pic>
      <p:sp>
        <p:nvSpPr>
          <p:cNvPr id="17" name="テキスト ボックス 16">
            <a:extLst>
              <a:ext uri="{FF2B5EF4-FFF2-40B4-BE49-F238E27FC236}">
                <a16:creationId xmlns:a16="http://schemas.microsoft.com/office/drawing/2014/main" id="{609B120E-C0E2-E12F-1F80-8D6AF883DEB0}"/>
              </a:ext>
            </a:extLst>
          </p:cNvPr>
          <p:cNvSpPr txBox="1"/>
          <p:nvPr/>
        </p:nvSpPr>
        <p:spPr>
          <a:xfrm>
            <a:off x="662095" y="5399296"/>
            <a:ext cx="4380168" cy="415498"/>
          </a:xfrm>
          <a:prstGeom prst="rect">
            <a:avLst/>
          </a:prstGeom>
          <a:solidFill>
            <a:schemeClr val="bg1">
              <a:lumMod val="95000"/>
            </a:schemeClr>
          </a:solidFill>
        </p:spPr>
        <p:txBody>
          <a:bodyPr wrap="square">
            <a:spAutoFit/>
          </a:bodyPr>
          <a:lstStyle/>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挨拶メッセ段階で「住みたい部屋」と「その</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URL</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」を共有</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してもらう形でコミュニケーションがスタートする。</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24ECA0A3-F246-44A7-250E-E610BF2A2FC0}"/>
              </a:ext>
            </a:extLst>
          </p:cNvPr>
          <p:cNvSpPr txBox="1"/>
          <p:nvPr/>
        </p:nvSpPr>
        <p:spPr>
          <a:xfrm>
            <a:off x="5286522" y="5399295"/>
            <a:ext cx="4380168" cy="415498"/>
          </a:xfrm>
          <a:prstGeom prst="rect">
            <a:avLst/>
          </a:prstGeom>
          <a:solidFill>
            <a:schemeClr val="bg1">
              <a:lumMod val="95000"/>
            </a:schemeClr>
          </a:solidFill>
        </p:spPr>
        <p:txBody>
          <a:bodyPr wrap="square">
            <a:spAutoFit/>
          </a:bodyPr>
          <a:lstStyle/>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プロフィールについては一定以上の充実度で設計されている。</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サービス利用の可能性が高まるような導線設計等で改善の余地あり。</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21" name="図 20">
            <a:extLst>
              <a:ext uri="{FF2B5EF4-FFF2-40B4-BE49-F238E27FC236}">
                <a16:creationId xmlns:a16="http://schemas.microsoft.com/office/drawing/2014/main" id="{CB51CD21-C4B4-80F4-49C0-B6B85C78326E}"/>
              </a:ext>
            </a:extLst>
          </p:cNvPr>
          <p:cNvPicPr>
            <a:picLocks noChangeAspect="1"/>
          </p:cNvPicPr>
          <p:nvPr/>
        </p:nvPicPr>
        <p:blipFill>
          <a:blip r:embed="rId6" cstate="print">
            <a:extLst>
              <a:ext uri="{28A0092B-C50C-407E-A947-70E740481C1C}">
                <a14:useLocalDpi xmlns:a14="http://schemas.microsoft.com/office/drawing/2010/main" val="0"/>
              </a:ext>
            </a:extLst>
          </a:blip>
          <a:srcRect t="4505" b="3454"/>
          <a:stretch>
            <a:fillRect/>
          </a:stretch>
        </p:blipFill>
        <p:spPr>
          <a:xfrm>
            <a:off x="2626879" y="1896080"/>
            <a:ext cx="1547443" cy="3081893"/>
          </a:xfrm>
          <a:prstGeom prst="rect">
            <a:avLst/>
          </a:prstGeom>
        </p:spPr>
      </p:pic>
      <p:sp>
        <p:nvSpPr>
          <p:cNvPr id="23" name="テキスト ボックス 22">
            <a:extLst>
              <a:ext uri="{FF2B5EF4-FFF2-40B4-BE49-F238E27FC236}">
                <a16:creationId xmlns:a16="http://schemas.microsoft.com/office/drawing/2014/main" id="{C459C0B8-DD35-D170-781E-F9893F99D37D}"/>
              </a:ext>
            </a:extLst>
          </p:cNvPr>
          <p:cNvSpPr txBox="1"/>
          <p:nvPr/>
        </p:nvSpPr>
        <p:spPr>
          <a:xfrm>
            <a:off x="662094" y="5886106"/>
            <a:ext cx="4380168" cy="253916"/>
          </a:xfrm>
          <a:prstGeom prst="rect">
            <a:avLst/>
          </a:prstGeom>
          <a:solidFill>
            <a:schemeClr val="bg1">
              <a:lumMod val="95000"/>
            </a:schemeClr>
          </a:solidFill>
        </p:spPr>
        <p:txBody>
          <a:bodyPr wrap="square">
            <a:spAutoFit/>
          </a:bodyPr>
          <a:lstStyle/>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動画、マンガを通じてユーザーの理解度をあげる動線を構築している。</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cxnSp>
        <p:nvCxnSpPr>
          <p:cNvPr id="25" name="直線コネクタ 24">
            <a:extLst>
              <a:ext uri="{FF2B5EF4-FFF2-40B4-BE49-F238E27FC236}">
                <a16:creationId xmlns:a16="http://schemas.microsoft.com/office/drawing/2014/main" id="{44DF5BBC-64AE-5A6F-8D0B-DF3272A3F17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F15D3943-CE6D-1B24-32DB-6327BC6AAB96}"/>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冒頭アンケート起動を行うなどでユーザーの興味関心や対応優先度を調査、活用を出来ると最適。</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また</a:t>
            </a: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「どういう物件が対象か」などは大きく</a:t>
            </a:r>
            <a:r>
              <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rPr>
              <a:t>CV</a:t>
            </a: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ハードルになる部分</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かと思われます。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13319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59172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5" name="Heading">
            <a:extLst>
              <a:ext uri="{FF2B5EF4-FFF2-40B4-BE49-F238E27FC236}">
                <a16:creationId xmlns:a16="http://schemas.microsoft.com/office/drawing/2014/main" id="{72D111CA-9C32-B454-53E5-199EF4E6ABE1}"/>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CB5A9197-C4B7-57D9-941C-59337584B1D9}"/>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なし </a:t>
            </a:r>
            <a:r>
              <a:rPr lang="en-US" altLang="ja-JP" sz="1000" dirty="0">
                <a:solidFill>
                  <a:srgbClr val="FFFFFF"/>
                </a:solidFill>
                <a:latin typeface="メイリオ" panose="020B0604030504040204" pitchFamily="50" charset="-128"/>
                <a:ea typeface="メイリオ" panose="020B0604030504040204" pitchFamily="50" charset="-128"/>
              </a:rPr>
              <a:t>※OAM</a:t>
            </a:r>
            <a:r>
              <a:rPr lang="ja-JP" altLang="en-US" sz="1000" dirty="0">
                <a:solidFill>
                  <a:srgbClr val="FFFFFF"/>
                </a:solidFill>
                <a:latin typeface="メイリオ" panose="020B0604030504040204" pitchFamily="50" charset="-128"/>
                <a:ea typeface="メイリオ" panose="020B0604030504040204" pitchFamily="50" charset="-128"/>
              </a:rPr>
              <a:t>にて運用する</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9" name="LeftBody">
            <a:extLst>
              <a:ext uri="{FF2B5EF4-FFF2-40B4-BE49-F238E27FC236}">
                <a16:creationId xmlns:a16="http://schemas.microsoft.com/office/drawing/2014/main" id="{1F03C4B4-E554-D5BC-620E-6E684192FEBB}"/>
              </a:ext>
            </a:extLst>
          </p:cNvPr>
          <p:cNvSpPr txBox="1"/>
          <p:nvPr/>
        </p:nvSpPr>
        <p:spPr>
          <a:xfrm>
            <a:off x="381000" y="1701738"/>
            <a:ext cx="4445000" cy="3556000"/>
          </a:xfrm>
          <a:prstGeom prst="rect">
            <a:avLst/>
          </a:prstGeom>
          <a:solidFill>
            <a:srgbClr val="F5F7FA"/>
          </a:solidFill>
          <a:ln w="6350">
            <a:solidFill>
              <a:srgbClr val="D1D8E0"/>
            </a:solidFill>
          </a:ln>
        </p:spPr>
        <p:txBody>
          <a:bodyPr wrap="square" lIns="177800" tIns="152400" rIns="177800" bIns="1524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2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200" b="1"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200" b="1" dirty="0">
              <a:solidFill>
                <a:srgbClr val="1F2A5C"/>
              </a:solidFill>
              <a:latin typeface="メイリオ" panose="020B0604030504040204" pitchFamily="50" charset="-128"/>
              <a:ea typeface="メイリオ" panose="020B0604030504040204" pitchFamily="50" charset="-128"/>
            </a:endParaRPr>
          </a:p>
          <a:p>
            <a:pPr>
              <a:spcBef>
                <a:spcPts val="600"/>
              </a:spcBef>
              <a:buNone/>
            </a:pPr>
            <a:r>
              <a:rPr lang="ja-JP" sz="12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200" dirty="0">
                <a:solidFill>
                  <a:srgbClr val="333333"/>
                </a:solidFill>
                <a:latin typeface="メイリオ" panose="020B0604030504040204" pitchFamily="50" charset="-128"/>
                <a:ea typeface="メイリオ" panose="020B0604030504040204" pitchFamily="50" charset="-128"/>
              </a:rPr>
              <a:t>顧客情報を活かしたセグメント配信が可能</a:t>
            </a:r>
          </a:p>
          <a:p>
            <a:pPr>
              <a:spcBef>
                <a:spcPts val="600"/>
              </a:spcBef>
              <a:buNone/>
            </a:pPr>
            <a:endParaRPr lang="en-US" altLang="ja-JP" sz="1200" b="1" dirty="0">
              <a:solidFill>
                <a:srgbClr val="1F2A5C"/>
              </a:solidFill>
              <a:latin typeface="メイリオ" panose="020B0604030504040204" pitchFamily="50" charset="-128"/>
              <a:ea typeface="メイリオ" panose="020B0604030504040204" pitchFamily="50" charset="-128"/>
            </a:endParaRPr>
          </a:p>
          <a:p>
            <a:pPr>
              <a:spcBef>
                <a:spcPts val="600"/>
              </a:spcBef>
              <a:buNone/>
            </a:pPr>
            <a:r>
              <a:rPr lang="ja-JP" sz="12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200" dirty="0">
                <a:solidFill>
                  <a:srgbClr val="333333"/>
                </a:solidFill>
                <a:latin typeface="メイリオ" panose="020B0604030504040204" pitchFamily="50" charset="-128"/>
                <a:ea typeface="メイリオ" panose="020B0604030504040204" pitchFamily="50" charset="-128"/>
              </a:rPr>
              <a:t>現状LINEとAPI連携ができておらず、データ活用が限定的</a:t>
            </a:r>
          </a:p>
        </p:txBody>
      </p:sp>
      <p:sp>
        <p:nvSpPr>
          <p:cNvPr id="11" name="RightHeader">
            <a:extLst>
              <a:ext uri="{FF2B5EF4-FFF2-40B4-BE49-F238E27FC236}">
                <a16:creationId xmlns:a16="http://schemas.microsoft.com/office/drawing/2014/main" id="{AAFEC56F-C547-3D3E-AA1C-0DCD55A22EF5}"/>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あり</a:t>
            </a:r>
            <a:r>
              <a:rPr lang="ja-JP" altLang="en-US" sz="1400" dirty="0">
                <a:solidFill>
                  <a:srgbClr val="FFFFFF"/>
                </a:solidFill>
                <a:latin typeface="メイリオ" panose="020B0604030504040204" pitchFamily="50" charset="-128"/>
                <a:ea typeface="メイリオ" panose="020B0604030504040204" pitchFamily="50" charset="-128"/>
              </a:rPr>
              <a:t> </a:t>
            </a:r>
            <a:r>
              <a:rPr lang="en-US" altLang="ja-JP" sz="1100" dirty="0">
                <a:solidFill>
                  <a:srgbClr val="FFFFFF"/>
                </a:solidFill>
                <a:latin typeface="メイリオ" panose="020B0604030504040204" pitchFamily="50" charset="-128"/>
                <a:ea typeface="メイリオ" panose="020B0604030504040204" pitchFamily="50" charset="-128"/>
              </a:rPr>
              <a:t>※</a:t>
            </a:r>
            <a:r>
              <a:rPr lang="en-US" altLang="ja-JP" sz="1100" dirty="0" err="1">
                <a:solidFill>
                  <a:srgbClr val="FFFFFF"/>
                </a:solidFill>
                <a:latin typeface="メイリオ" panose="020B0604030504040204" pitchFamily="50" charset="-128"/>
                <a:ea typeface="メイリオ" panose="020B0604030504040204" pitchFamily="50" charset="-128"/>
              </a:rPr>
              <a:t>Lstep</a:t>
            </a:r>
            <a:r>
              <a:rPr lang="ja-JP" altLang="en-US" sz="1100" dirty="0">
                <a:solidFill>
                  <a:srgbClr val="FFFFFF"/>
                </a:solidFill>
                <a:latin typeface="メイリオ" panose="020B0604030504040204" pitchFamily="50" charset="-128"/>
                <a:ea typeface="メイリオ" panose="020B0604030504040204" pitchFamily="50" charset="-128"/>
              </a:rPr>
              <a:t>など汎用的なもの</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3" name="RightBody">
            <a:extLst>
              <a:ext uri="{FF2B5EF4-FFF2-40B4-BE49-F238E27FC236}">
                <a16:creationId xmlns:a16="http://schemas.microsoft.com/office/drawing/2014/main" id="{1BC513A8-5C8C-B4A4-BC10-AD5348F343F6}"/>
              </a:ext>
            </a:extLst>
          </p:cNvPr>
          <p:cNvSpPr txBox="1"/>
          <p:nvPr/>
        </p:nvSpPr>
        <p:spPr>
          <a:xfrm>
            <a:off x="5080000" y="1701738"/>
            <a:ext cx="4445000" cy="3556000"/>
          </a:xfrm>
          <a:prstGeom prst="rect">
            <a:avLst/>
          </a:prstGeom>
          <a:solidFill>
            <a:srgbClr val="FFFFFF"/>
          </a:solidFill>
          <a:ln w="12700">
            <a:solidFill>
              <a:srgbClr val="00B050"/>
            </a:solidFill>
          </a:ln>
        </p:spPr>
        <p:txBody>
          <a:bodyPr wrap="square" lIns="177800" tIns="152400" rIns="177800" bIns="152400" anchor="t"/>
          <a:lstStyle/>
          <a:p>
            <a:pPr>
              <a:buNone/>
            </a:pPr>
            <a:r>
              <a:rPr lang="ja-JP" sz="12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en-US" altLang="ja-JP" sz="1200" b="1" dirty="0">
              <a:solidFill>
                <a:srgbClr val="00B050"/>
              </a:solidFill>
              <a:latin typeface="メイリオ" panose="020B0604030504040204" pitchFamily="50" charset="-128"/>
              <a:ea typeface="メイリオ" panose="020B0604030504040204" pitchFamily="50" charset="-128"/>
            </a:endParaRPr>
          </a:p>
          <a:p>
            <a:pPr>
              <a:spcBef>
                <a:spcPts val="600"/>
              </a:spcBef>
              <a:buNone/>
            </a:pPr>
            <a:r>
              <a:rPr lang="ja-JP" sz="1200" b="1" dirty="0">
                <a:solidFill>
                  <a:srgbClr val="00B050"/>
                </a:solidFill>
                <a:latin typeface="メイリオ" panose="020B0604030504040204" pitchFamily="50" charset="-128"/>
                <a:ea typeface="メイリオ" panose="020B0604030504040204" pitchFamily="50" charset="-128"/>
              </a:rPr>
              <a:t>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en-US" altLang="ja-JP" sz="1200" b="1" dirty="0">
              <a:solidFill>
                <a:srgbClr val="00B050"/>
              </a:solidFill>
              <a:latin typeface="メイリオ" panose="020B0604030504040204" pitchFamily="50" charset="-128"/>
              <a:ea typeface="メイリオ" panose="020B0604030504040204" pitchFamily="50" charset="-128"/>
            </a:endParaRPr>
          </a:p>
          <a:p>
            <a:pPr>
              <a:spcBef>
                <a:spcPts val="600"/>
              </a:spcBef>
              <a:buNone/>
            </a:pPr>
            <a:r>
              <a:rPr lang="ja-JP" sz="1200" b="1" dirty="0">
                <a:solidFill>
                  <a:srgbClr val="00B050"/>
                </a:solidFill>
                <a:latin typeface="メイリオ" panose="020B0604030504040204" pitchFamily="50" charset="-128"/>
                <a:ea typeface="メイリオ" panose="020B0604030504040204" pitchFamily="50" charset="-128"/>
              </a:rPr>
              <a:t>デメリット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
        <p:nvSpPr>
          <p:cNvPr id="15" name="Conclusion">
            <a:extLst>
              <a:ext uri="{FF2B5EF4-FFF2-40B4-BE49-F238E27FC236}">
                <a16:creationId xmlns:a16="http://schemas.microsoft.com/office/drawing/2014/main" id="{B1500BE8-1C08-1F79-1D96-C1B5F87124E6}"/>
              </a:ext>
            </a:extLst>
          </p:cNvPr>
          <p:cNvSpPr txBox="1"/>
          <p:nvPr/>
        </p:nvSpPr>
        <p:spPr>
          <a:xfrm>
            <a:off x="381000" y="5410138"/>
            <a:ext cx="9144000" cy="812800"/>
          </a:xfrm>
          <a:prstGeom prst="rect">
            <a:avLst/>
          </a:prstGeom>
          <a:solidFill>
            <a:srgbClr val="F0F2F7"/>
          </a:solidFill>
          <a:ln>
            <a:noFill/>
          </a:ln>
        </p:spPr>
        <p:txBody>
          <a:bodyPr wrap="square" lIns="177800" tIns="127000" rIns="177800" bIns="1270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2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200" dirty="0">
                <a:solidFill>
                  <a:srgbClr val="333333"/>
                </a:solidFill>
                <a:latin typeface="メイリオ" panose="020B0604030504040204" pitchFamily="50" charset="-128"/>
                <a:ea typeface="メイリオ" panose="020B0604030504040204" pitchFamily="50" charset="-128"/>
              </a:rPr>
              <a:t>。詳細なセグメント設定</a:t>
            </a:r>
            <a:r>
              <a:rPr lang="ja-JP" sz="1200" dirty="0">
                <a:solidFill>
                  <a:srgbClr val="333333"/>
                </a:solidFill>
                <a:latin typeface="メイリオ" panose="020B0604030504040204" pitchFamily="50" charset="-128"/>
                <a:ea typeface="メイリオ" panose="020B0604030504040204" pitchFamily="50" charset="-128"/>
              </a:rPr>
              <a:t>を左右する</a:t>
            </a:r>
            <a:r>
              <a:rPr lang="ja-JP" altLang="en-US" sz="1200" dirty="0">
                <a:solidFill>
                  <a:srgbClr val="333333"/>
                </a:solidFill>
                <a:latin typeface="メイリオ" panose="020B0604030504040204" pitchFamily="50" charset="-128"/>
                <a:ea typeface="メイリオ" panose="020B0604030504040204" pitchFamily="50" charset="-128"/>
              </a:rPr>
              <a:t>。</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2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ユーザーアンケートを活用して、利用ステータスやユーザー情報の回収→配信に活用といったフローを踏みたいところ。</a:t>
            </a:r>
            <a:endParaRPr lang="ja-JP" sz="1200" dirty="0">
              <a:solidFill>
                <a:srgbClr val="333333"/>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78392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29811250-0A12-BBDB-9A73-5B0FCA43DC62}"/>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友だち追加までの動線、友だち追加後の動線、それぞれ最適化のために運用致します。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を用いた運用</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53907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想定セグメント</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成果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795459" y="230210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781456" y="3247026"/>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C11D28DB-EF3F-3A24-C802-7CC621C247C9}"/>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冒頭アンケート起動を行うなどでユーザーの興味関心や対応優先度を調査、活用を出来ると最適。</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また</a:t>
            </a: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「どういう物件が対象か」などは大きく</a:t>
            </a:r>
            <a:r>
              <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rPr>
              <a:t>CV</a:t>
            </a: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ハードルになる部分</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かと思われます。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75379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66C8-9A67-CF78-E9A3-0EAF925C3F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DD4BAE5-A1D4-5D4A-9181-EF488E332EE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21DD27D-4369-4CAC-482F-78E216F0A30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85FA1D1-CF12-A6BD-7D2D-2D76A99BCFC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15" name="Conclusion">
            <a:extLst>
              <a:ext uri="{FF2B5EF4-FFF2-40B4-BE49-F238E27FC236}">
                <a16:creationId xmlns:a16="http://schemas.microsoft.com/office/drawing/2014/main" id="{ED3146E7-9955-F215-581D-DD3180418A87}"/>
              </a:ext>
            </a:extLst>
          </p:cNvPr>
          <p:cNvSpPr txBox="1"/>
          <p:nvPr/>
        </p:nvSpPr>
        <p:spPr>
          <a:xfrm>
            <a:off x="381000" y="5410138"/>
            <a:ext cx="9144000" cy="812800"/>
          </a:xfrm>
          <a:prstGeom prst="rect">
            <a:avLst/>
          </a:prstGeom>
          <a:solidFill>
            <a:srgbClr val="F0F2F7"/>
          </a:solidFill>
          <a:ln>
            <a:noFill/>
          </a:ln>
        </p:spPr>
        <p:txBody>
          <a:bodyPr wrap="square" lIns="177800" tIns="127000" rIns="177800" bIns="1270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200" dirty="0">
                <a:solidFill>
                  <a:srgbClr val="333333"/>
                </a:solidFill>
                <a:latin typeface="メイリオ" panose="020B0604030504040204" pitchFamily="50" charset="-128"/>
                <a:ea typeface="メイリオ" panose="020B0604030504040204" pitchFamily="50" charset="-128"/>
              </a:rPr>
              <a:t>API連携の有無が今後のデータ活用を左右するため、移行の実務工数とコストを精査した上での判断を推奨（本資料では優劣を断定しない）。</a:t>
            </a:r>
          </a:p>
        </p:txBody>
      </p:sp>
      <p:sp>
        <p:nvSpPr>
          <p:cNvPr id="6" name="Card1_Num">
            <a:extLst>
              <a:ext uri="{FF2B5EF4-FFF2-40B4-BE49-F238E27FC236}">
                <a16:creationId xmlns:a16="http://schemas.microsoft.com/office/drawing/2014/main" id="{99100708-28B5-0C64-45B6-17FF3C22A099}"/>
              </a:ext>
            </a:extLst>
          </p:cNvPr>
          <p:cNvSpPr txBox="1"/>
          <p:nvPr/>
        </p:nvSpPr>
        <p:spPr>
          <a:xfrm>
            <a:off x="381000" y="1270000"/>
            <a:ext cx="2921000" cy="635000"/>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10" name="Card1_Title">
            <a:extLst>
              <a:ext uri="{FF2B5EF4-FFF2-40B4-BE49-F238E27FC236}">
                <a16:creationId xmlns:a16="http://schemas.microsoft.com/office/drawing/2014/main" id="{A00E1BD8-B14A-9E83-AD58-EF16846CB3A4}"/>
              </a:ext>
            </a:extLst>
          </p:cNvPr>
          <p:cNvSpPr txBox="1"/>
          <p:nvPr/>
        </p:nvSpPr>
        <p:spPr>
          <a:xfrm>
            <a:off x="381000" y="1905000"/>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rPr>
              <a:t>新規面の課題</a:t>
            </a:r>
          </a:p>
        </p:txBody>
      </p:sp>
      <p:sp>
        <p:nvSpPr>
          <p:cNvPr id="14" name="Card1_Body">
            <a:extLst>
              <a:ext uri="{FF2B5EF4-FFF2-40B4-BE49-F238E27FC236}">
                <a16:creationId xmlns:a16="http://schemas.microsoft.com/office/drawing/2014/main" id="{400EE71C-7EE5-0652-6E8D-BFDA5B8F0AE3}"/>
              </a:ext>
            </a:extLst>
          </p:cNvPr>
          <p:cNvSpPr txBox="1"/>
          <p:nvPr/>
        </p:nvSpPr>
        <p:spPr>
          <a:xfrm>
            <a:off x="381000" y="2362200"/>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200" dirty="0">
                <a:solidFill>
                  <a:srgbClr val="333333"/>
                </a:solidFill>
              </a:rPr>
              <a:t>訪問・DMでつながった見込み客への配信内容に悩んでいる</a:t>
            </a:r>
          </a:p>
          <a:p>
            <a:pPr>
              <a:spcBef>
                <a:spcPts val="200"/>
              </a:spcBef>
              <a:buClr>
                <a:srgbClr val="1F2A5C"/>
              </a:buClr>
            </a:pPr>
            <a:endParaRPr lang="en-US" altLang="ja-JP" sz="1200" dirty="0">
              <a:solidFill>
                <a:srgbClr val="333333"/>
              </a:solidFill>
            </a:endParaRPr>
          </a:p>
          <a:p>
            <a:pPr>
              <a:spcBef>
                <a:spcPts val="200"/>
              </a:spcBef>
              <a:buClr>
                <a:srgbClr val="1F2A5C"/>
              </a:buClr>
            </a:pPr>
            <a:r>
              <a:rPr lang="ja-JP" sz="1200" dirty="0">
                <a:solidFill>
                  <a:srgbClr val="333333"/>
                </a:solidFill>
              </a:rPr>
              <a:t>サービスが複数あり、紹介の優先順位が不明確</a:t>
            </a:r>
          </a:p>
          <a:p>
            <a:pPr>
              <a:spcBef>
                <a:spcPts val="200"/>
              </a:spcBef>
              <a:buClr>
                <a:srgbClr val="1F2A5C"/>
              </a:buClr>
            </a:pPr>
            <a:endParaRPr lang="en-US" altLang="ja-JP" sz="1200" dirty="0">
              <a:solidFill>
                <a:srgbClr val="333333"/>
              </a:solidFill>
            </a:endParaRPr>
          </a:p>
          <a:p>
            <a:pPr>
              <a:spcBef>
                <a:spcPts val="200"/>
              </a:spcBef>
              <a:buClr>
                <a:srgbClr val="1F2A5C"/>
              </a:buClr>
            </a:pPr>
            <a:r>
              <a:rPr lang="ja-JP" sz="1200" dirty="0">
                <a:solidFill>
                  <a:srgbClr val="333333"/>
                </a:solidFill>
              </a:rPr>
              <a:t>イベント告知との出し分けも未整理</a:t>
            </a:r>
          </a:p>
        </p:txBody>
      </p:sp>
      <p:sp>
        <p:nvSpPr>
          <p:cNvPr id="17" name="Card2_Num">
            <a:extLst>
              <a:ext uri="{FF2B5EF4-FFF2-40B4-BE49-F238E27FC236}">
                <a16:creationId xmlns:a16="http://schemas.microsoft.com/office/drawing/2014/main" id="{1E55EC9A-E347-B84B-262B-EF1A6E14096B}"/>
              </a:ext>
            </a:extLst>
          </p:cNvPr>
          <p:cNvSpPr txBox="1"/>
          <p:nvPr/>
        </p:nvSpPr>
        <p:spPr>
          <a:xfrm>
            <a:off x="3492500" y="1270000"/>
            <a:ext cx="2921000" cy="635000"/>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19" name="Card2_Title">
            <a:extLst>
              <a:ext uri="{FF2B5EF4-FFF2-40B4-BE49-F238E27FC236}">
                <a16:creationId xmlns:a16="http://schemas.microsoft.com/office/drawing/2014/main" id="{7EA7999B-288A-E255-3A8D-51DA3754E17B}"/>
              </a:ext>
            </a:extLst>
          </p:cNvPr>
          <p:cNvSpPr txBox="1"/>
          <p:nvPr/>
        </p:nvSpPr>
        <p:spPr>
          <a:xfrm>
            <a:off x="3492500" y="1905000"/>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rPr>
              <a:t>効率面の課題</a:t>
            </a:r>
          </a:p>
        </p:txBody>
      </p:sp>
      <p:sp>
        <p:nvSpPr>
          <p:cNvPr id="21" name="Card2_Body">
            <a:extLst>
              <a:ext uri="{FF2B5EF4-FFF2-40B4-BE49-F238E27FC236}">
                <a16:creationId xmlns:a16="http://schemas.microsoft.com/office/drawing/2014/main" id="{E7A27D28-3DE5-B65B-3078-06258585755F}"/>
              </a:ext>
            </a:extLst>
          </p:cNvPr>
          <p:cNvSpPr txBox="1"/>
          <p:nvPr/>
        </p:nvSpPr>
        <p:spPr>
          <a:xfrm>
            <a:off x="3492500" y="2362200"/>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200" dirty="0">
                <a:solidFill>
                  <a:srgbClr val="333333"/>
                </a:solidFill>
              </a:rPr>
              <a:t>現時点では詳細未共有（要ヒアリング）</a:t>
            </a:r>
          </a:p>
          <a:p>
            <a:pPr>
              <a:spcBef>
                <a:spcPts val="200"/>
              </a:spcBef>
              <a:buClr>
                <a:srgbClr val="4A6FA5"/>
              </a:buClr>
            </a:pPr>
            <a:endParaRPr lang="en-US" altLang="ja-JP" sz="1200" dirty="0">
              <a:solidFill>
                <a:srgbClr val="333333"/>
              </a:solidFill>
            </a:endParaRPr>
          </a:p>
          <a:p>
            <a:pPr>
              <a:spcBef>
                <a:spcPts val="200"/>
              </a:spcBef>
              <a:buClr>
                <a:srgbClr val="4A6FA5"/>
              </a:buClr>
            </a:pPr>
            <a:r>
              <a:rPr lang="ja-JP" sz="1200" dirty="0">
                <a:solidFill>
                  <a:srgbClr val="333333"/>
                </a:solidFill>
              </a:rPr>
              <a:t>配信設計・運用体制の効率化余地は今後の確認事項</a:t>
            </a:r>
          </a:p>
          <a:p>
            <a:pPr>
              <a:spcBef>
                <a:spcPts val="200"/>
              </a:spcBef>
              <a:buClr>
                <a:srgbClr val="4A6FA5"/>
              </a:buClr>
            </a:pPr>
            <a:endParaRPr lang="en-US" altLang="ja-JP" sz="1200" dirty="0">
              <a:solidFill>
                <a:srgbClr val="333333"/>
              </a:solidFill>
            </a:endParaRPr>
          </a:p>
          <a:p>
            <a:pPr>
              <a:spcBef>
                <a:spcPts val="200"/>
              </a:spcBef>
              <a:buClr>
                <a:srgbClr val="4A6FA5"/>
              </a:buClr>
            </a:pPr>
            <a:r>
              <a:rPr lang="ja-JP" sz="1200" dirty="0">
                <a:solidFill>
                  <a:srgbClr val="333333"/>
                </a:solidFill>
              </a:rPr>
              <a:t>具体的な数値把握ができ次第、優先度を判断する</a:t>
            </a:r>
          </a:p>
        </p:txBody>
      </p:sp>
      <p:sp>
        <p:nvSpPr>
          <p:cNvPr id="23" name="Card3_Num">
            <a:extLst>
              <a:ext uri="{FF2B5EF4-FFF2-40B4-BE49-F238E27FC236}">
                <a16:creationId xmlns:a16="http://schemas.microsoft.com/office/drawing/2014/main" id="{70237F12-5482-737F-1B32-66F14BE63393}"/>
              </a:ext>
            </a:extLst>
          </p:cNvPr>
          <p:cNvSpPr txBox="1"/>
          <p:nvPr/>
        </p:nvSpPr>
        <p:spPr>
          <a:xfrm>
            <a:off x="6604000" y="1270000"/>
            <a:ext cx="2921000" cy="635000"/>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25" name="Card3_Title">
            <a:extLst>
              <a:ext uri="{FF2B5EF4-FFF2-40B4-BE49-F238E27FC236}">
                <a16:creationId xmlns:a16="http://schemas.microsoft.com/office/drawing/2014/main" id="{E3518035-C567-1D4B-318D-78C25A6B9E43}"/>
              </a:ext>
            </a:extLst>
          </p:cNvPr>
          <p:cNvSpPr txBox="1"/>
          <p:nvPr/>
        </p:nvSpPr>
        <p:spPr>
          <a:xfrm>
            <a:off x="6604000" y="1905000"/>
            <a:ext cx="2921000" cy="457200"/>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400" b="1" dirty="0">
                <a:solidFill>
                  <a:schemeClr val="tx1">
                    <a:lumMod val="65000"/>
                    <a:lumOff val="35000"/>
                  </a:schemeClr>
                </a:solidFill>
              </a:rPr>
              <a:t>既存面の課題</a:t>
            </a:r>
          </a:p>
        </p:txBody>
      </p:sp>
      <p:sp>
        <p:nvSpPr>
          <p:cNvPr id="27" name="Card3_Body">
            <a:extLst>
              <a:ext uri="{FF2B5EF4-FFF2-40B4-BE49-F238E27FC236}">
                <a16:creationId xmlns:a16="http://schemas.microsoft.com/office/drawing/2014/main" id="{6E2E9F62-4250-ED13-4C52-FC6B502E56E4}"/>
              </a:ext>
            </a:extLst>
          </p:cNvPr>
          <p:cNvSpPr txBox="1"/>
          <p:nvPr/>
        </p:nvSpPr>
        <p:spPr>
          <a:xfrm>
            <a:off x="6604000" y="2362200"/>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200" dirty="0">
                <a:solidFill>
                  <a:srgbClr val="333333"/>
                </a:solidFill>
              </a:rPr>
              <a:t>現状＋DIRECTを利用も、Lステップへの切替を検討中</a:t>
            </a:r>
          </a:p>
          <a:p>
            <a:pPr>
              <a:spcBef>
                <a:spcPts val="200"/>
              </a:spcBef>
              <a:buClr>
                <a:srgbClr val="C8102E"/>
              </a:buClr>
            </a:pPr>
            <a:endParaRPr lang="en-US" altLang="ja-JP" sz="1200" dirty="0">
              <a:solidFill>
                <a:srgbClr val="333333"/>
              </a:solidFill>
            </a:endParaRPr>
          </a:p>
          <a:p>
            <a:pPr>
              <a:spcBef>
                <a:spcPts val="200"/>
              </a:spcBef>
              <a:buClr>
                <a:srgbClr val="C8102E"/>
              </a:buClr>
            </a:pPr>
            <a:r>
              <a:rPr lang="ja-JP" sz="1200" dirty="0">
                <a:solidFill>
                  <a:srgbClr val="333333"/>
                </a:solidFill>
              </a:rPr>
              <a:t>LINEとAPI連携ができておらず、データ活用が限定的</a:t>
            </a:r>
          </a:p>
          <a:p>
            <a:pPr>
              <a:spcBef>
                <a:spcPts val="200"/>
              </a:spcBef>
              <a:buClr>
                <a:srgbClr val="C8102E"/>
              </a:buClr>
            </a:pPr>
            <a:endParaRPr lang="en-US" altLang="ja-JP" sz="1200" dirty="0">
              <a:solidFill>
                <a:srgbClr val="333333"/>
              </a:solidFill>
            </a:endParaRPr>
          </a:p>
          <a:p>
            <a:pPr>
              <a:spcBef>
                <a:spcPts val="200"/>
              </a:spcBef>
              <a:buClr>
                <a:srgbClr val="C8102E"/>
              </a:buClr>
            </a:pPr>
            <a:r>
              <a:rPr lang="ja-JP" sz="1200" dirty="0">
                <a:solidFill>
                  <a:srgbClr val="333333"/>
                </a:solidFill>
              </a:rPr>
              <a:t>移行要否は運用実績を踏まえて判断する</a:t>
            </a:r>
          </a:p>
        </p:txBody>
      </p:sp>
    </p:spTree>
    <p:extLst>
      <p:ext uri="{BB962C8B-B14F-4D97-AF65-F5344CB8AC3E}">
        <p14:creationId xmlns:p14="http://schemas.microsoft.com/office/powerpoint/2010/main" val="3583359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2766784"/>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2803487"/>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6"/>
            <a:ext cx="8898070" cy="62607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売上計測環境の整備と配信伸長での効果最大化</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正方形/長方形 1">
            <a:extLst>
              <a:ext uri="{FF2B5EF4-FFF2-40B4-BE49-F238E27FC236}">
                <a16:creationId xmlns:a16="http://schemas.microsoft.com/office/drawing/2014/main" id="{6CB99AAC-0BEA-E7FB-6909-1C7C68EDF323}"/>
              </a:ext>
            </a:extLst>
          </p:cNvPr>
          <p:cNvSpPr/>
          <p:nvPr/>
        </p:nvSpPr>
        <p:spPr>
          <a:xfrm>
            <a:off x="1574579" y="3726926"/>
            <a:ext cx="3006126" cy="534477"/>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サービス検討時期の精査</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正方形/長方形 4">
            <a:extLst>
              <a:ext uri="{FF2B5EF4-FFF2-40B4-BE49-F238E27FC236}">
                <a16:creationId xmlns:a16="http://schemas.microsoft.com/office/drawing/2014/main" id="{28DEF766-24DA-2EE3-9966-E5F26397AF6F}"/>
              </a:ext>
            </a:extLst>
          </p:cNvPr>
          <p:cNvSpPr/>
          <p:nvPr/>
        </p:nvSpPr>
        <p:spPr>
          <a:xfrm>
            <a:off x="1574579" y="4340131"/>
            <a:ext cx="3006126" cy="534477"/>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ツール連携に伴うセグメント配信</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93EBFD5C-B1C9-4553-7E8F-9C0C9C314CF4}"/>
              </a:ext>
            </a:extLst>
          </p:cNvPr>
          <p:cNvSpPr/>
          <p:nvPr/>
        </p:nvSpPr>
        <p:spPr>
          <a:xfrm>
            <a:off x="1574579" y="4953336"/>
            <a:ext cx="3006126" cy="534477"/>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サービス申込みユーザーに</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サンクスページ→</a:t>
            </a:r>
            <a:r>
              <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誘導</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a:extLst>
              <a:ext uri="{FF2B5EF4-FFF2-40B4-BE49-F238E27FC236}">
                <a16:creationId xmlns:a16="http://schemas.microsoft.com/office/drawing/2014/main" id="{D98C923A-1216-14F4-2ED5-A311A85ED8E3}"/>
              </a:ext>
            </a:extLst>
          </p:cNvPr>
          <p:cNvSpPr/>
          <p:nvPr/>
        </p:nvSpPr>
        <p:spPr>
          <a:xfrm>
            <a:off x="1574579" y="5566541"/>
            <a:ext cx="3006126" cy="534477"/>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未利用・契約者に</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サンクスページ→</a:t>
            </a:r>
            <a:r>
              <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誘導</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E5B64E4E-8E78-E3FA-521B-27A28AE8C886}"/>
              </a:ext>
            </a:extLst>
          </p:cNvPr>
          <p:cNvSpPr/>
          <p:nvPr/>
        </p:nvSpPr>
        <p:spPr>
          <a:xfrm>
            <a:off x="4645752" y="3726926"/>
            <a:ext cx="4704029" cy="534477"/>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アンケート、サイト内行動をもとにして</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ユーザーのカテゴリ・意欲フェーズを回収。</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正方形/長方形 8">
            <a:extLst>
              <a:ext uri="{FF2B5EF4-FFF2-40B4-BE49-F238E27FC236}">
                <a16:creationId xmlns:a16="http://schemas.microsoft.com/office/drawing/2014/main" id="{D8F17522-2B4E-7589-5AA4-4B807C76E486}"/>
              </a:ext>
            </a:extLst>
          </p:cNvPr>
          <p:cNvSpPr/>
          <p:nvPr/>
        </p:nvSpPr>
        <p:spPr>
          <a:xfrm>
            <a:off x="4645752" y="4340131"/>
            <a:ext cx="4704029" cy="534477"/>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検討タイミング、フェーズを把握したうえで配信を行い効率化。</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4EA197D1-87E1-A7E0-10DC-A97B3E9CE242}"/>
              </a:ext>
            </a:extLst>
          </p:cNvPr>
          <p:cNvSpPr/>
          <p:nvPr/>
        </p:nvSpPr>
        <p:spPr>
          <a:xfrm>
            <a:off x="4645752" y="4953336"/>
            <a:ext cx="4704029" cy="534477"/>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サービス申し込み完了時に、メルマガ、電話に加えて</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での情報登録（友だち追加＋アンケート）をさせる。</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正方形/長方形 10">
            <a:extLst>
              <a:ext uri="{FF2B5EF4-FFF2-40B4-BE49-F238E27FC236}">
                <a16:creationId xmlns:a16="http://schemas.microsoft.com/office/drawing/2014/main" id="{F77C2B00-62DD-3F17-C580-88FF79772D67}"/>
              </a:ext>
            </a:extLst>
          </p:cNvPr>
          <p:cNvSpPr/>
          <p:nvPr/>
        </p:nvSpPr>
        <p:spPr>
          <a:xfrm>
            <a:off x="4645752" y="5566541"/>
            <a:ext cx="4704029" cy="534477"/>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各種料金診断完了等のページにから</a:t>
            </a:r>
            <a:r>
              <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起動を自動化し、</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サービス利用を検討している層を</a:t>
            </a:r>
            <a:r>
              <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に直接誘導させる。</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正方形/長方形 11">
            <a:extLst>
              <a:ext uri="{FF2B5EF4-FFF2-40B4-BE49-F238E27FC236}">
                <a16:creationId xmlns:a16="http://schemas.microsoft.com/office/drawing/2014/main" id="{43593DC4-44C8-70F2-9B54-7FF41602B0D5}"/>
              </a:ext>
            </a:extLst>
          </p:cNvPr>
          <p:cNvSpPr/>
          <p:nvPr/>
        </p:nvSpPr>
        <p:spPr>
          <a:xfrm>
            <a:off x="594864" y="3721262"/>
            <a:ext cx="914668" cy="1153346"/>
          </a:xfrm>
          <a:prstGeom prst="rect">
            <a:avLst/>
          </a:prstGeom>
          <a:solidFill>
            <a:schemeClr val="accent1">
              <a:lumMod val="20000"/>
              <a:lumOff val="8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月</a:t>
            </a: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プラン</a:t>
            </a: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正方形/長方形 12">
            <a:extLst>
              <a:ext uri="{FF2B5EF4-FFF2-40B4-BE49-F238E27FC236}">
                <a16:creationId xmlns:a16="http://schemas.microsoft.com/office/drawing/2014/main" id="{2531A44D-6AD0-F803-BAD2-393C8D512170}"/>
              </a:ext>
            </a:extLst>
          </p:cNvPr>
          <p:cNvSpPr/>
          <p:nvPr/>
        </p:nvSpPr>
        <p:spPr>
          <a:xfrm>
            <a:off x="594864" y="4947672"/>
            <a:ext cx="914668" cy="1153346"/>
          </a:xfrm>
          <a:prstGeom prst="rect">
            <a:avLst/>
          </a:prstGeom>
          <a:solidFill>
            <a:schemeClr val="accent1">
              <a:lumMod val="20000"/>
              <a:lumOff val="8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15</a:t>
            </a:r>
            <a:r>
              <a:rPr lang="ja-JP" altLang="en-US"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月</a:t>
            </a: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プラン</a:t>
            </a: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en-US" altLang="ja-JP" sz="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万円プランに</a:t>
            </a:r>
            <a:endParaRPr lang="en-US" altLang="ja-JP" sz="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機能上乗せ</a:t>
            </a:r>
            <a:endParaRPr lang="en-US" altLang="ja-JP" sz="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正方形/長方形 16">
            <a:extLst>
              <a:ext uri="{FF2B5EF4-FFF2-40B4-BE49-F238E27FC236}">
                <a16:creationId xmlns:a16="http://schemas.microsoft.com/office/drawing/2014/main" id="{293BFA5E-B3C0-35B6-6EFD-E308F58F4E4D}"/>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19" name="正方形/長方形 18">
            <a:extLst>
              <a:ext uri="{FF2B5EF4-FFF2-40B4-BE49-F238E27FC236}">
                <a16:creationId xmlns:a16="http://schemas.microsoft.com/office/drawing/2014/main" id="{FDAC512C-D631-ABE0-B1C1-305609FC1A37}"/>
              </a:ext>
            </a:extLst>
          </p:cNvPr>
          <p:cNvSpPr/>
          <p:nvPr/>
        </p:nvSpPr>
        <p:spPr>
          <a:xfrm>
            <a:off x="413065" y="4924356"/>
            <a:ext cx="8988969" cy="1194080"/>
          </a:xfrm>
          <a:prstGeom prst="rect">
            <a:avLst/>
          </a:pr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endPar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¥100,000</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latin typeface="メイリオ" panose="020B0604030504040204" pitchFamily="50" charset="-128"/>
                <a:ea typeface="メイリオ" panose="020B0604030504040204" pitchFamily="50" charset="-128"/>
              </a:rPr>
              <a:t>¥150,000</a:t>
            </a:r>
            <a:endParaRPr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メイリオ" panose="020B0604030504040204" pitchFamily="50" charset="-128"/>
                <a:ea typeface="メイリオ" panose="020B0604030504040204" pitchFamily="50" charset="-128"/>
              </a:rPr>
              <a:t>2</a:t>
            </a:r>
            <a:r>
              <a:rPr kumimoji="1" lang="ja-JP" altLang="en-US" sz="1100" dirty="0">
                <a:solidFill>
                  <a:schemeClr val="tx1"/>
                </a:solidFill>
                <a:latin typeface="メイリオ" panose="020B0604030504040204" pitchFamily="50" charset="-128"/>
                <a:ea typeface="メイリオ" panose="020B0604030504040204" pitchFamily="50" charset="-128"/>
              </a:rPr>
              <a:t>回</a:t>
            </a: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メイリオ" panose="020B0604030504040204" pitchFamily="50" charset="-128"/>
                <a:ea typeface="メイリオ" panose="020B0604030504040204" pitchFamily="50" charset="-128"/>
              </a:rPr>
              <a:t>1</a:t>
            </a:r>
            <a:r>
              <a:rPr kumimoji="1" lang="ja-JP" altLang="en-US" sz="11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latin typeface="メイリオ" panose="020B0604030504040204" pitchFamily="50" charset="-128"/>
                <a:ea typeface="メイリオ" panose="020B0604030504040204" pitchFamily="50" charset="-128"/>
              </a:rPr>
              <a:t>1</a:t>
            </a:r>
            <a:r>
              <a:rPr lang="ja-JP" altLang="en-US" sz="1100" dirty="0">
                <a:solidFill>
                  <a:schemeClr val="tx1"/>
                </a:solidFill>
                <a:latin typeface="メイリオ" panose="020B0604030504040204" pitchFamily="50" charset="-128"/>
                <a:ea typeface="メイリオ" panose="020B0604030504040204" pitchFamily="50" charset="-128"/>
              </a:rPr>
              <a:t>回</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別途開発</a:t>
            </a: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メイリオ" panose="020B0604030504040204" pitchFamily="50" charset="-128"/>
                <a:ea typeface="メイリオ" panose="020B0604030504040204" pitchFamily="50" charset="-128"/>
              </a:rPr>
              <a:t>5</a:t>
            </a:r>
            <a:r>
              <a:rPr kumimoji="1" lang="ja-JP" altLang="en-US" sz="1100" dirty="0">
                <a:solidFill>
                  <a:schemeClr val="tx1"/>
                </a:solidFill>
                <a:latin typeface="メイリオ" panose="020B0604030504040204" pitchFamily="50" charset="-128"/>
                <a:ea typeface="メイリオ" panose="020B0604030504040204" pitchFamily="50" charset="-128"/>
              </a:rPr>
              <a:t>本程度</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開封率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875C2E-C3E8-B767-914C-D6C0F2DFE0F4}"/>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14" name="正方形/長方形 13">
            <a:extLst>
              <a:ext uri="{FF2B5EF4-FFF2-40B4-BE49-F238E27FC236}">
                <a16:creationId xmlns:a16="http://schemas.microsoft.com/office/drawing/2014/main" id="{6A51F581-11ED-01C9-5756-5F5E0AB144D9}"/>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メイリオ" panose="020B0604030504040204" pitchFamily="50" charset="-128"/>
                <a:ea typeface="メイリオ" panose="020B0604030504040204" pitchFamily="50" charset="-128"/>
              </a:rPr>
              <a:t>2</a:t>
            </a:r>
            <a:r>
              <a:rPr kumimoji="1" lang="ja-JP" altLang="en-US" sz="1100" dirty="0">
                <a:solidFill>
                  <a:schemeClr val="tx1"/>
                </a:solidFill>
                <a:latin typeface="メイリオ" panose="020B0604030504040204" pitchFamily="50" charset="-128"/>
                <a:ea typeface="メイリオ" panose="020B0604030504040204" pitchFamily="50" charset="-128"/>
              </a:rPr>
              <a:t>回</a:t>
            </a:r>
          </a:p>
        </p:txBody>
      </p:sp>
      <p:sp>
        <p:nvSpPr>
          <p:cNvPr id="18" name="正方形/長方形 17">
            <a:extLst>
              <a:ext uri="{FF2B5EF4-FFF2-40B4-BE49-F238E27FC236}">
                <a16:creationId xmlns:a16="http://schemas.microsoft.com/office/drawing/2014/main" id="{3895398F-633D-A0A2-5E8D-34C4C8E66416}"/>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AE5F6194-101E-2C0F-EC87-0FF8E59D82C0}"/>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98DCF835-0DB5-EA3F-AB90-2036AE2C6924}"/>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8BC6593C-0EB3-4DA4-0080-AD58D961A0D1}"/>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構築</a:t>
            </a:r>
          </a:p>
        </p:txBody>
      </p:sp>
      <p:sp>
        <p:nvSpPr>
          <p:cNvPr id="34" name="正方形/長方形 33">
            <a:extLst>
              <a:ext uri="{FF2B5EF4-FFF2-40B4-BE49-F238E27FC236}">
                <a16:creationId xmlns:a16="http://schemas.microsoft.com/office/drawing/2014/main" id="{F4623201-6547-9A0F-2297-B2529649C6D3}"/>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ツール契約</a:t>
            </a:r>
          </a:p>
        </p:txBody>
      </p:sp>
      <p:sp>
        <p:nvSpPr>
          <p:cNvPr id="38" name="正方形/長方形 37">
            <a:extLst>
              <a:ext uri="{FF2B5EF4-FFF2-40B4-BE49-F238E27FC236}">
                <a16:creationId xmlns:a16="http://schemas.microsoft.com/office/drawing/2014/main" id="{47B9617A-CA0F-EDAF-61F2-07A8AB4FDE89}"/>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代行</a:t>
            </a:r>
          </a:p>
        </p:txBody>
      </p:sp>
      <p:sp>
        <p:nvSpPr>
          <p:cNvPr id="42" name="正方形/長方形 41">
            <a:extLst>
              <a:ext uri="{FF2B5EF4-FFF2-40B4-BE49-F238E27FC236}">
                <a16:creationId xmlns:a16="http://schemas.microsoft.com/office/drawing/2014/main" id="{26CDC681-1C46-FC47-0F4E-05A36BE26DCB}"/>
              </a:ext>
            </a:extLst>
          </p:cNvPr>
          <p:cNvSpPr/>
          <p:nvPr/>
        </p:nvSpPr>
        <p:spPr>
          <a:xfrm>
            <a:off x="37997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DCD6556-D3E5-AAB5-6E43-9320FDD6C882}"/>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7C137CDC-5584-B43B-0B2E-4A1DDC4552B2}"/>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15,000</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DA174F3D-0309-7C22-438E-40B5BFC405F6}"/>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81%</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588260A5-44FC-C8E5-549E-7D23A899ABD5}"/>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3,700</a:t>
            </a:r>
            <a:r>
              <a:rPr lang="ja-JP" altLang="en-US" sz="1200" b="1" dirty="0">
                <a:solidFill>
                  <a:srgbClr val="FF0000"/>
                </a:solidFill>
                <a:latin typeface="メイリオ" panose="020B0604030504040204" pitchFamily="50" charset="-128"/>
                <a:ea typeface="メイリオ" panose="020B0604030504040204" pitchFamily="50" charset="-128"/>
              </a:rPr>
              <a:t>件</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9B021CC4-B451-89AD-3F9E-C80556C07471}"/>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12 </a:t>
            </a:r>
            <a:r>
              <a:rPr lang="ja-JP" altLang="en-US" sz="1200" b="1" dirty="0">
                <a:solidFill>
                  <a:srgbClr val="FF0000"/>
                </a:solidFill>
                <a:latin typeface="メイリオ" panose="020B0604030504040204" pitchFamily="50" charset="-128"/>
                <a:ea typeface="メイリオ" panose="020B0604030504040204" pitchFamily="50" charset="-128"/>
              </a:rPr>
              <a:t>件</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582A1340-F5BE-686F-6CCA-FC4C92159723}"/>
              </a:ext>
            </a:extLst>
          </p:cNvPr>
          <p:cNvSpPr txBox="1"/>
          <p:nvPr/>
        </p:nvSpPr>
        <p:spPr>
          <a:xfrm>
            <a:off x="8130449" y="3866031"/>
            <a:ext cx="1414960" cy="276999"/>
          </a:xfrm>
          <a:prstGeom prst="rect">
            <a:avLst/>
          </a:prstGeom>
          <a:noFill/>
        </p:spPr>
        <p:txBody>
          <a:bodyPr wrap="square">
            <a:spAutoFit/>
          </a:bodyPr>
          <a:lstStyle/>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CVR</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0.3%</a:t>
            </a:r>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pic>
        <p:nvPicPr>
          <p:cNvPr id="13" name="図 12">
            <a:extLst>
              <a:ext uri="{FF2B5EF4-FFF2-40B4-BE49-F238E27FC236}">
                <a16:creationId xmlns:a16="http://schemas.microsoft.com/office/drawing/2014/main" id="{8B2949FF-0EFA-A3DB-45BF-126B5ACD7F80}"/>
              </a:ext>
            </a:extLst>
          </p:cNvPr>
          <p:cNvPicPr>
            <a:picLocks noChangeAspect="1"/>
          </p:cNvPicPr>
          <p:nvPr/>
        </p:nvPicPr>
        <p:blipFill>
          <a:blip r:embed="rId3"/>
          <a:stretch>
            <a:fillRect/>
          </a:stretch>
        </p:blipFill>
        <p:spPr>
          <a:xfrm>
            <a:off x="5394419" y="2714826"/>
            <a:ext cx="686232" cy="265370"/>
          </a:xfrm>
          <a:prstGeom prst="rect">
            <a:avLst/>
          </a:prstGeom>
        </p:spPr>
      </p:pic>
    </p:spTree>
    <p:extLst>
      <p:ext uri="{BB962C8B-B14F-4D97-AF65-F5344CB8AC3E}">
        <p14:creationId xmlns:p14="http://schemas.microsoft.com/office/powerpoint/2010/main" val="3297221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実施施策</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1393" y="718142"/>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診断結果送付後のステップ配信と、既存企画の再配置で歩留まりを設計する（数値は目標値・ヒアリング後に精緻化）</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3" name="TextBox 3">
            <a:extLst>
              <a:ext uri="{FF2B5EF4-FFF2-40B4-BE49-F238E27FC236}">
                <a16:creationId xmlns:a16="http://schemas.microsoft.com/office/drawing/2014/main" id="{731799BD-0CDF-B1A8-CC48-DE7F17D3A9C6}"/>
              </a:ext>
            </a:extLst>
          </p:cNvPr>
          <p:cNvSpPr/>
          <p:nvPr/>
        </p:nvSpPr>
        <p:spPr>
          <a:xfrm>
            <a:off x="426900" y="1152360"/>
            <a:ext cx="274284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r>
              <a:rPr kumimoji="1" lang="zh-CN" alt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ステップ</a:t>
            </a:r>
            <a:r>
              <a:rPr kumimoji="1" 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1]</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0" name="Rounded Rectangle 4">
            <a:extLst>
              <a:ext uri="{FF2B5EF4-FFF2-40B4-BE49-F238E27FC236}">
                <a16:creationId xmlns:a16="http://schemas.microsoft.com/office/drawing/2014/main" id="{B07AFB34-2BBF-5EA7-D265-725DBBDEC073}"/>
              </a:ext>
            </a:extLst>
          </p:cNvPr>
          <p:cNvSpPr/>
          <p:nvPr/>
        </p:nvSpPr>
        <p:spPr>
          <a:xfrm>
            <a:off x="426900" y="1587790"/>
            <a:ext cx="776880" cy="45684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0日後</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24" name="Rounded Rectangle 5">
            <a:extLst>
              <a:ext uri="{FF2B5EF4-FFF2-40B4-BE49-F238E27FC236}">
                <a16:creationId xmlns:a16="http://schemas.microsoft.com/office/drawing/2014/main" id="{5198DCAB-7FC4-526C-A3A3-5198706E25EB}"/>
              </a:ext>
            </a:extLst>
          </p:cNvPr>
          <p:cNvSpPr/>
          <p:nvPr/>
        </p:nvSpPr>
        <p:spPr>
          <a:xfrm>
            <a:off x="1277220" y="158779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8" name="Right Arrow 6">
            <a:extLst>
              <a:ext uri="{FF2B5EF4-FFF2-40B4-BE49-F238E27FC236}">
                <a16:creationId xmlns:a16="http://schemas.microsoft.com/office/drawing/2014/main" id="{56D5EAC7-41BC-0102-17C5-1A1D29A08452}"/>
              </a:ext>
            </a:extLst>
          </p:cNvPr>
          <p:cNvSpPr/>
          <p:nvPr/>
        </p:nvSpPr>
        <p:spPr>
          <a:xfrm>
            <a:off x="2683740" y="174331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32" name="Rounded Rectangle 7">
            <a:extLst>
              <a:ext uri="{FF2B5EF4-FFF2-40B4-BE49-F238E27FC236}">
                <a16:creationId xmlns:a16="http://schemas.microsoft.com/office/drawing/2014/main" id="{3BCB7237-62EF-96DD-1421-6E8CF76DFE5B}"/>
              </a:ext>
            </a:extLst>
          </p:cNvPr>
          <p:cNvSpPr/>
          <p:nvPr/>
        </p:nvSpPr>
        <p:spPr>
          <a:xfrm>
            <a:off x="2976420" y="158779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5" name="Right Arrow 8">
            <a:extLst>
              <a:ext uri="{FF2B5EF4-FFF2-40B4-BE49-F238E27FC236}">
                <a16:creationId xmlns:a16="http://schemas.microsoft.com/office/drawing/2014/main" id="{008B76BD-548C-0954-C979-339DBDCB8134}"/>
              </a:ext>
            </a:extLst>
          </p:cNvPr>
          <p:cNvSpPr/>
          <p:nvPr/>
        </p:nvSpPr>
        <p:spPr>
          <a:xfrm>
            <a:off x="4382580" y="174331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36" name="Rounded Rectangle 9">
            <a:extLst>
              <a:ext uri="{FF2B5EF4-FFF2-40B4-BE49-F238E27FC236}">
                <a16:creationId xmlns:a16="http://schemas.microsoft.com/office/drawing/2014/main" id="{09CEFD02-EB42-0055-DFEF-9D383DFC8903}"/>
              </a:ext>
            </a:extLst>
          </p:cNvPr>
          <p:cNvSpPr/>
          <p:nvPr/>
        </p:nvSpPr>
        <p:spPr>
          <a:xfrm>
            <a:off x="4675260" y="158779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9" name="Right Arrow 10">
            <a:extLst>
              <a:ext uri="{FF2B5EF4-FFF2-40B4-BE49-F238E27FC236}">
                <a16:creationId xmlns:a16="http://schemas.microsoft.com/office/drawing/2014/main" id="{FA4EA334-8F09-A106-E6EE-785881684EF3}"/>
              </a:ext>
            </a:extLst>
          </p:cNvPr>
          <p:cNvSpPr/>
          <p:nvPr/>
        </p:nvSpPr>
        <p:spPr>
          <a:xfrm>
            <a:off x="6081420" y="174331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0" name="Rounded Rectangle 11">
            <a:extLst>
              <a:ext uri="{FF2B5EF4-FFF2-40B4-BE49-F238E27FC236}">
                <a16:creationId xmlns:a16="http://schemas.microsoft.com/office/drawing/2014/main" id="{73C9C641-49D4-E528-B9D5-73D83C98C60E}"/>
              </a:ext>
            </a:extLst>
          </p:cNvPr>
          <p:cNvSpPr/>
          <p:nvPr/>
        </p:nvSpPr>
        <p:spPr>
          <a:xfrm>
            <a:off x="6374100" y="158779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目標</a:t>
            </a:r>
            <a:r>
              <a:rPr kumimoji="1" lang="en-US" altLang="zh-CN"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40%×15%×8%</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43" name="Right Arrow 12">
            <a:extLst>
              <a:ext uri="{FF2B5EF4-FFF2-40B4-BE49-F238E27FC236}">
                <a16:creationId xmlns:a16="http://schemas.microsoft.com/office/drawing/2014/main" id="{23CD0EDC-7CF2-5430-7943-EC5B2618609B}"/>
              </a:ext>
            </a:extLst>
          </p:cNvPr>
          <p:cNvSpPr/>
          <p:nvPr/>
        </p:nvSpPr>
        <p:spPr>
          <a:xfrm>
            <a:off x="7780620" y="174331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4" name="Rounded Rectangle 13">
            <a:extLst>
              <a:ext uri="{FF2B5EF4-FFF2-40B4-BE49-F238E27FC236}">
                <a16:creationId xmlns:a16="http://schemas.microsoft.com/office/drawing/2014/main" id="{361BBFC9-4B3C-4E5F-E218-C98B004A0A03}"/>
              </a:ext>
            </a:extLst>
          </p:cNvPr>
          <p:cNvSpPr/>
          <p:nvPr/>
        </p:nvSpPr>
        <p:spPr>
          <a:xfrm>
            <a:off x="8072940" y="1587790"/>
            <a:ext cx="140616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8" name="Rounded Rectangle 14">
            <a:extLst>
              <a:ext uri="{FF2B5EF4-FFF2-40B4-BE49-F238E27FC236}">
                <a16:creationId xmlns:a16="http://schemas.microsoft.com/office/drawing/2014/main" id="{9CB10698-B82C-A164-346B-73E075B02AD4}"/>
              </a:ext>
            </a:extLst>
          </p:cNvPr>
          <p:cNvSpPr/>
          <p:nvPr/>
        </p:nvSpPr>
        <p:spPr>
          <a:xfrm>
            <a:off x="426900" y="2191150"/>
            <a:ext cx="776880" cy="45684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3日後</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9" name="Rounded Rectangle 15">
            <a:extLst>
              <a:ext uri="{FF2B5EF4-FFF2-40B4-BE49-F238E27FC236}">
                <a16:creationId xmlns:a16="http://schemas.microsoft.com/office/drawing/2014/main" id="{B8D5CDAE-53E5-B8C0-A243-DFA2FF1E285D}"/>
              </a:ext>
            </a:extLst>
          </p:cNvPr>
          <p:cNvSpPr/>
          <p:nvPr/>
        </p:nvSpPr>
        <p:spPr>
          <a:xfrm>
            <a:off x="1277220" y="219115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1" name="Right Arrow 16">
            <a:extLst>
              <a:ext uri="{FF2B5EF4-FFF2-40B4-BE49-F238E27FC236}">
                <a16:creationId xmlns:a16="http://schemas.microsoft.com/office/drawing/2014/main" id="{A9BC8A93-9C1A-ECD2-C6F9-6924AD85B604}"/>
              </a:ext>
            </a:extLst>
          </p:cNvPr>
          <p:cNvSpPr/>
          <p:nvPr/>
        </p:nvSpPr>
        <p:spPr>
          <a:xfrm>
            <a:off x="2683740" y="234667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2" name="Rounded Rectangle 17">
            <a:extLst>
              <a:ext uri="{FF2B5EF4-FFF2-40B4-BE49-F238E27FC236}">
                <a16:creationId xmlns:a16="http://schemas.microsoft.com/office/drawing/2014/main" id="{D8B4E446-E275-936B-B44B-6691FD32530B}"/>
              </a:ext>
            </a:extLst>
          </p:cNvPr>
          <p:cNvSpPr/>
          <p:nvPr/>
        </p:nvSpPr>
        <p:spPr>
          <a:xfrm>
            <a:off x="2976420" y="219115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3" name="Right Arrow 18">
            <a:extLst>
              <a:ext uri="{FF2B5EF4-FFF2-40B4-BE49-F238E27FC236}">
                <a16:creationId xmlns:a16="http://schemas.microsoft.com/office/drawing/2014/main" id="{06716D1B-7F7E-7898-6F00-48097C5F9A38}"/>
              </a:ext>
            </a:extLst>
          </p:cNvPr>
          <p:cNvSpPr/>
          <p:nvPr/>
        </p:nvSpPr>
        <p:spPr>
          <a:xfrm>
            <a:off x="4382580" y="234667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5" name="Rounded Rectangle 19">
            <a:extLst>
              <a:ext uri="{FF2B5EF4-FFF2-40B4-BE49-F238E27FC236}">
                <a16:creationId xmlns:a16="http://schemas.microsoft.com/office/drawing/2014/main" id="{D9036C8E-7E1A-B405-4D1F-518E7A672572}"/>
              </a:ext>
            </a:extLst>
          </p:cNvPr>
          <p:cNvSpPr/>
          <p:nvPr/>
        </p:nvSpPr>
        <p:spPr>
          <a:xfrm>
            <a:off x="4675260" y="219115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6" name="Right Arrow 20">
            <a:extLst>
              <a:ext uri="{FF2B5EF4-FFF2-40B4-BE49-F238E27FC236}">
                <a16:creationId xmlns:a16="http://schemas.microsoft.com/office/drawing/2014/main" id="{1B03BE52-B246-1655-43EB-2C40BC8F49D6}"/>
              </a:ext>
            </a:extLst>
          </p:cNvPr>
          <p:cNvSpPr/>
          <p:nvPr/>
        </p:nvSpPr>
        <p:spPr>
          <a:xfrm>
            <a:off x="6081420" y="234667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7" name="Rounded Rectangle 21">
            <a:extLst>
              <a:ext uri="{FF2B5EF4-FFF2-40B4-BE49-F238E27FC236}">
                <a16:creationId xmlns:a16="http://schemas.microsoft.com/office/drawing/2014/main" id="{A3BCEB8B-56A5-06DD-85B0-C5A0E5F546DF}"/>
              </a:ext>
            </a:extLst>
          </p:cNvPr>
          <p:cNvSpPr/>
          <p:nvPr/>
        </p:nvSpPr>
        <p:spPr>
          <a:xfrm>
            <a:off x="6374100" y="219115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目標</a:t>
            </a:r>
            <a:r>
              <a:rPr kumimoji="1" lang="en-US" altLang="zh-CN"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30%×10%×5%</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9" name="Right Arrow 22">
            <a:extLst>
              <a:ext uri="{FF2B5EF4-FFF2-40B4-BE49-F238E27FC236}">
                <a16:creationId xmlns:a16="http://schemas.microsoft.com/office/drawing/2014/main" id="{827C345C-6C2F-50EC-99EE-5E2A36FAA495}"/>
              </a:ext>
            </a:extLst>
          </p:cNvPr>
          <p:cNvSpPr/>
          <p:nvPr/>
        </p:nvSpPr>
        <p:spPr>
          <a:xfrm>
            <a:off x="7780620" y="234667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0" name="Rounded Rectangle 23">
            <a:extLst>
              <a:ext uri="{FF2B5EF4-FFF2-40B4-BE49-F238E27FC236}">
                <a16:creationId xmlns:a16="http://schemas.microsoft.com/office/drawing/2014/main" id="{6A54A830-3BF0-B09C-1E08-7BE7371AB39F}"/>
              </a:ext>
            </a:extLst>
          </p:cNvPr>
          <p:cNvSpPr/>
          <p:nvPr/>
        </p:nvSpPr>
        <p:spPr>
          <a:xfrm>
            <a:off x="8072940" y="2191150"/>
            <a:ext cx="140616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1" name="Rounded Rectangle 24">
            <a:extLst>
              <a:ext uri="{FF2B5EF4-FFF2-40B4-BE49-F238E27FC236}">
                <a16:creationId xmlns:a16="http://schemas.microsoft.com/office/drawing/2014/main" id="{02EC47B3-BB1D-F1C6-D8FB-AFF6474BEE45}"/>
              </a:ext>
            </a:extLst>
          </p:cNvPr>
          <p:cNvSpPr/>
          <p:nvPr/>
        </p:nvSpPr>
        <p:spPr>
          <a:xfrm>
            <a:off x="426900" y="2794870"/>
            <a:ext cx="776880" cy="45684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7日後</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3" name="Rounded Rectangle 25">
            <a:extLst>
              <a:ext uri="{FF2B5EF4-FFF2-40B4-BE49-F238E27FC236}">
                <a16:creationId xmlns:a16="http://schemas.microsoft.com/office/drawing/2014/main" id="{9B380151-0E5F-2493-D534-E10C05966FAF}"/>
              </a:ext>
            </a:extLst>
          </p:cNvPr>
          <p:cNvSpPr/>
          <p:nvPr/>
        </p:nvSpPr>
        <p:spPr>
          <a:xfrm>
            <a:off x="1277220" y="279487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4" name="Right Arrow 26">
            <a:extLst>
              <a:ext uri="{FF2B5EF4-FFF2-40B4-BE49-F238E27FC236}">
                <a16:creationId xmlns:a16="http://schemas.microsoft.com/office/drawing/2014/main" id="{3F6D6E42-09C5-022A-2DD9-A7A159007FA2}"/>
              </a:ext>
            </a:extLst>
          </p:cNvPr>
          <p:cNvSpPr/>
          <p:nvPr/>
        </p:nvSpPr>
        <p:spPr>
          <a:xfrm>
            <a:off x="2683740" y="295039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5" name="Rounded Rectangle 27">
            <a:extLst>
              <a:ext uri="{FF2B5EF4-FFF2-40B4-BE49-F238E27FC236}">
                <a16:creationId xmlns:a16="http://schemas.microsoft.com/office/drawing/2014/main" id="{19C1CD11-957A-BE24-A382-F4E7C2253757}"/>
              </a:ext>
            </a:extLst>
          </p:cNvPr>
          <p:cNvSpPr/>
          <p:nvPr/>
        </p:nvSpPr>
        <p:spPr>
          <a:xfrm>
            <a:off x="2976420" y="279487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7" name="Right Arrow 28">
            <a:extLst>
              <a:ext uri="{FF2B5EF4-FFF2-40B4-BE49-F238E27FC236}">
                <a16:creationId xmlns:a16="http://schemas.microsoft.com/office/drawing/2014/main" id="{544558A7-B034-6ECF-A05C-EAAB92FAB11F}"/>
              </a:ext>
            </a:extLst>
          </p:cNvPr>
          <p:cNvSpPr/>
          <p:nvPr/>
        </p:nvSpPr>
        <p:spPr>
          <a:xfrm>
            <a:off x="4382580" y="295039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8" name="Rounded Rectangle 29">
            <a:extLst>
              <a:ext uri="{FF2B5EF4-FFF2-40B4-BE49-F238E27FC236}">
                <a16:creationId xmlns:a16="http://schemas.microsoft.com/office/drawing/2014/main" id="{A2F3DEED-0432-5F2C-CBA1-390AA377A2E6}"/>
              </a:ext>
            </a:extLst>
          </p:cNvPr>
          <p:cNvSpPr/>
          <p:nvPr/>
        </p:nvSpPr>
        <p:spPr>
          <a:xfrm>
            <a:off x="4675260" y="279487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9" name="Right Arrow 30">
            <a:extLst>
              <a:ext uri="{FF2B5EF4-FFF2-40B4-BE49-F238E27FC236}">
                <a16:creationId xmlns:a16="http://schemas.microsoft.com/office/drawing/2014/main" id="{EBF3599F-C0CE-A27A-B94E-335FBD85F9D6}"/>
              </a:ext>
            </a:extLst>
          </p:cNvPr>
          <p:cNvSpPr/>
          <p:nvPr/>
        </p:nvSpPr>
        <p:spPr>
          <a:xfrm>
            <a:off x="6081420" y="295039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1" name="Rounded Rectangle 31">
            <a:extLst>
              <a:ext uri="{FF2B5EF4-FFF2-40B4-BE49-F238E27FC236}">
                <a16:creationId xmlns:a16="http://schemas.microsoft.com/office/drawing/2014/main" id="{078697A3-89B2-A9C1-66E6-41FD49ABD6E3}"/>
              </a:ext>
            </a:extLst>
          </p:cNvPr>
          <p:cNvSpPr/>
          <p:nvPr/>
        </p:nvSpPr>
        <p:spPr>
          <a:xfrm>
            <a:off x="6374100" y="279487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目標</a:t>
            </a:r>
            <a:r>
              <a:rPr kumimoji="1" lang="en-US" altLang="zh-CN"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25%×8%×3%</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2" name="Right Arrow 32">
            <a:extLst>
              <a:ext uri="{FF2B5EF4-FFF2-40B4-BE49-F238E27FC236}">
                <a16:creationId xmlns:a16="http://schemas.microsoft.com/office/drawing/2014/main" id="{BFFDEA0A-D313-0A7B-C4B5-7EAF684EFBB2}"/>
              </a:ext>
            </a:extLst>
          </p:cNvPr>
          <p:cNvSpPr/>
          <p:nvPr/>
        </p:nvSpPr>
        <p:spPr>
          <a:xfrm>
            <a:off x="7780620" y="295039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3" name="Rounded Rectangle 33">
            <a:extLst>
              <a:ext uri="{FF2B5EF4-FFF2-40B4-BE49-F238E27FC236}">
                <a16:creationId xmlns:a16="http://schemas.microsoft.com/office/drawing/2014/main" id="{2A867502-9B54-7125-E886-C2C81EC00AF2}"/>
              </a:ext>
            </a:extLst>
          </p:cNvPr>
          <p:cNvSpPr/>
          <p:nvPr/>
        </p:nvSpPr>
        <p:spPr>
          <a:xfrm>
            <a:off x="8072940" y="2794870"/>
            <a:ext cx="140616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4" name="TextBox 34">
            <a:extLst>
              <a:ext uri="{FF2B5EF4-FFF2-40B4-BE49-F238E27FC236}">
                <a16:creationId xmlns:a16="http://schemas.microsoft.com/office/drawing/2014/main" id="{11F9C51C-A808-3BBD-B48C-F0C2707CC2F9}"/>
              </a:ext>
            </a:extLst>
          </p:cNvPr>
          <p:cNvSpPr/>
          <p:nvPr/>
        </p:nvSpPr>
        <p:spPr>
          <a:xfrm>
            <a:off x="426900" y="3695265"/>
            <a:ext cx="274284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r>
              <a:rPr kumimoji="1" lang="zh-CN" alt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企画配信</a:t>
            </a:r>
            <a:r>
              <a:rPr kumimoji="1" 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5" name="Rounded Rectangle 35">
            <a:extLst>
              <a:ext uri="{FF2B5EF4-FFF2-40B4-BE49-F238E27FC236}">
                <a16:creationId xmlns:a16="http://schemas.microsoft.com/office/drawing/2014/main" id="{6A926E60-66AB-C567-7F58-99FEB19885EE}"/>
              </a:ext>
            </a:extLst>
          </p:cNvPr>
          <p:cNvSpPr/>
          <p:nvPr/>
        </p:nvSpPr>
        <p:spPr>
          <a:xfrm>
            <a:off x="426900" y="420036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6" name="Right Arrow 36">
            <a:extLst>
              <a:ext uri="{FF2B5EF4-FFF2-40B4-BE49-F238E27FC236}">
                <a16:creationId xmlns:a16="http://schemas.microsoft.com/office/drawing/2014/main" id="{C20201FF-BFEE-846F-C3DD-9E471A23D2FC}"/>
              </a:ext>
            </a:extLst>
          </p:cNvPr>
          <p:cNvSpPr/>
          <p:nvPr/>
        </p:nvSpPr>
        <p:spPr>
          <a:xfrm>
            <a:off x="2003340" y="435588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7" name="Rounded Rectangle 37">
            <a:extLst>
              <a:ext uri="{FF2B5EF4-FFF2-40B4-BE49-F238E27FC236}">
                <a16:creationId xmlns:a16="http://schemas.microsoft.com/office/drawing/2014/main" id="{236634AA-C36F-ABE3-F794-84C92819E608}"/>
              </a:ext>
            </a:extLst>
          </p:cNvPr>
          <p:cNvSpPr/>
          <p:nvPr/>
        </p:nvSpPr>
        <p:spPr>
          <a:xfrm>
            <a:off x="2296020" y="420036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8" name="Right Arrow 38">
            <a:extLst>
              <a:ext uri="{FF2B5EF4-FFF2-40B4-BE49-F238E27FC236}">
                <a16:creationId xmlns:a16="http://schemas.microsoft.com/office/drawing/2014/main" id="{170D629B-83EF-9AC6-873A-697FE13DC4A2}"/>
              </a:ext>
            </a:extLst>
          </p:cNvPr>
          <p:cNvSpPr/>
          <p:nvPr/>
        </p:nvSpPr>
        <p:spPr>
          <a:xfrm>
            <a:off x="3872460" y="435588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9" name="Rounded Rectangle 39">
            <a:extLst>
              <a:ext uri="{FF2B5EF4-FFF2-40B4-BE49-F238E27FC236}">
                <a16:creationId xmlns:a16="http://schemas.microsoft.com/office/drawing/2014/main" id="{E3796355-9664-5C7F-5671-C39FCC4A6D3C}"/>
              </a:ext>
            </a:extLst>
          </p:cNvPr>
          <p:cNvSpPr/>
          <p:nvPr/>
        </p:nvSpPr>
        <p:spPr>
          <a:xfrm>
            <a:off x="4165140" y="420036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1" name="Right Arrow 40">
            <a:extLst>
              <a:ext uri="{FF2B5EF4-FFF2-40B4-BE49-F238E27FC236}">
                <a16:creationId xmlns:a16="http://schemas.microsoft.com/office/drawing/2014/main" id="{67427884-FB17-D7E5-1A96-30090962817E}"/>
              </a:ext>
            </a:extLst>
          </p:cNvPr>
          <p:cNvSpPr/>
          <p:nvPr/>
        </p:nvSpPr>
        <p:spPr>
          <a:xfrm>
            <a:off x="5741220" y="435588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3" name="Rounded Rectangle 41">
            <a:extLst>
              <a:ext uri="{FF2B5EF4-FFF2-40B4-BE49-F238E27FC236}">
                <a16:creationId xmlns:a16="http://schemas.microsoft.com/office/drawing/2014/main" id="{5DE7101C-6578-4E47-F6CF-55CDB2BC2F88}"/>
              </a:ext>
            </a:extLst>
          </p:cNvPr>
          <p:cNvSpPr/>
          <p:nvPr/>
        </p:nvSpPr>
        <p:spPr>
          <a:xfrm>
            <a:off x="6033900" y="420036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目標</a:t>
            </a:r>
            <a:r>
              <a:rPr kumimoji="1" lang="en-US" altLang="zh-CN"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20%×5%×2%</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5" name="Right Arrow 42">
            <a:extLst>
              <a:ext uri="{FF2B5EF4-FFF2-40B4-BE49-F238E27FC236}">
                <a16:creationId xmlns:a16="http://schemas.microsoft.com/office/drawing/2014/main" id="{85034EAC-53F4-1D17-2A61-DBEF0411F280}"/>
              </a:ext>
            </a:extLst>
          </p:cNvPr>
          <p:cNvSpPr/>
          <p:nvPr/>
        </p:nvSpPr>
        <p:spPr>
          <a:xfrm>
            <a:off x="7610340" y="435588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7" name="Rounded Rectangle 43">
            <a:extLst>
              <a:ext uri="{FF2B5EF4-FFF2-40B4-BE49-F238E27FC236}">
                <a16:creationId xmlns:a16="http://schemas.microsoft.com/office/drawing/2014/main" id="{7C36E549-D437-EC3A-6A41-4F8B91A13FAD}"/>
              </a:ext>
            </a:extLst>
          </p:cNvPr>
          <p:cNvSpPr/>
          <p:nvPr/>
        </p:nvSpPr>
        <p:spPr>
          <a:xfrm>
            <a:off x="7903020" y="4200366"/>
            <a:ext cx="157608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8" name="Rounded Rectangle 44">
            <a:extLst>
              <a:ext uri="{FF2B5EF4-FFF2-40B4-BE49-F238E27FC236}">
                <a16:creationId xmlns:a16="http://schemas.microsoft.com/office/drawing/2014/main" id="{3509AA31-8BB4-CD7E-42E1-9F6BB58ADDF2}"/>
              </a:ext>
            </a:extLst>
          </p:cNvPr>
          <p:cNvSpPr/>
          <p:nvPr/>
        </p:nvSpPr>
        <p:spPr>
          <a:xfrm>
            <a:off x="426900" y="480372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9" name="Right Arrow 45">
            <a:extLst>
              <a:ext uri="{FF2B5EF4-FFF2-40B4-BE49-F238E27FC236}">
                <a16:creationId xmlns:a16="http://schemas.microsoft.com/office/drawing/2014/main" id="{2F08F878-E171-CBAF-5ACE-E97442C7CDAC}"/>
              </a:ext>
            </a:extLst>
          </p:cNvPr>
          <p:cNvSpPr/>
          <p:nvPr/>
        </p:nvSpPr>
        <p:spPr>
          <a:xfrm>
            <a:off x="2003340" y="495924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0" name="Rounded Rectangle 46">
            <a:extLst>
              <a:ext uri="{FF2B5EF4-FFF2-40B4-BE49-F238E27FC236}">
                <a16:creationId xmlns:a16="http://schemas.microsoft.com/office/drawing/2014/main" id="{4A9564DA-D72D-BE22-4B36-8B7397654E5B}"/>
              </a:ext>
            </a:extLst>
          </p:cNvPr>
          <p:cNvSpPr/>
          <p:nvPr/>
        </p:nvSpPr>
        <p:spPr>
          <a:xfrm>
            <a:off x="2296020" y="480372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1" name="Right Arrow 47">
            <a:extLst>
              <a:ext uri="{FF2B5EF4-FFF2-40B4-BE49-F238E27FC236}">
                <a16:creationId xmlns:a16="http://schemas.microsoft.com/office/drawing/2014/main" id="{9EE3F565-D1FC-FAA4-FD0C-E10E03557E83}"/>
              </a:ext>
            </a:extLst>
          </p:cNvPr>
          <p:cNvSpPr/>
          <p:nvPr/>
        </p:nvSpPr>
        <p:spPr>
          <a:xfrm>
            <a:off x="3872460" y="495924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2" name="Rounded Rectangle 48">
            <a:extLst>
              <a:ext uri="{FF2B5EF4-FFF2-40B4-BE49-F238E27FC236}">
                <a16:creationId xmlns:a16="http://schemas.microsoft.com/office/drawing/2014/main" id="{67D2510F-50F4-0118-37C7-386991E5C2A3}"/>
              </a:ext>
            </a:extLst>
          </p:cNvPr>
          <p:cNvSpPr/>
          <p:nvPr/>
        </p:nvSpPr>
        <p:spPr>
          <a:xfrm>
            <a:off x="4165140" y="480372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3" name="Right Arrow 49">
            <a:extLst>
              <a:ext uri="{FF2B5EF4-FFF2-40B4-BE49-F238E27FC236}">
                <a16:creationId xmlns:a16="http://schemas.microsoft.com/office/drawing/2014/main" id="{3373337A-E65C-AE53-F9A5-2F7A6E336571}"/>
              </a:ext>
            </a:extLst>
          </p:cNvPr>
          <p:cNvSpPr/>
          <p:nvPr/>
        </p:nvSpPr>
        <p:spPr>
          <a:xfrm>
            <a:off x="5741220" y="495924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4" name="Rounded Rectangle 50">
            <a:extLst>
              <a:ext uri="{FF2B5EF4-FFF2-40B4-BE49-F238E27FC236}">
                <a16:creationId xmlns:a16="http://schemas.microsoft.com/office/drawing/2014/main" id="{7B2D9D92-DC6A-BA17-D3AB-9EEC29847B44}"/>
              </a:ext>
            </a:extLst>
          </p:cNvPr>
          <p:cNvSpPr/>
          <p:nvPr/>
        </p:nvSpPr>
        <p:spPr>
          <a:xfrm>
            <a:off x="6033900" y="480372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目標</a:t>
            </a:r>
            <a:r>
              <a:rPr kumimoji="1" lang="en-US" altLang="zh-CN"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25%×6%×3%</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5" name="Right Arrow 51">
            <a:extLst>
              <a:ext uri="{FF2B5EF4-FFF2-40B4-BE49-F238E27FC236}">
                <a16:creationId xmlns:a16="http://schemas.microsoft.com/office/drawing/2014/main" id="{7B273A5A-6485-DC58-FE9D-66E32064C6BA}"/>
              </a:ext>
            </a:extLst>
          </p:cNvPr>
          <p:cNvSpPr/>
          <p:nvPr/>
        </p:nvSpPr>
        <p:spPr>
          <a:xfrm>
            <a:off x="7610340" y="495924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6" name="Rounded Rectangle 52">
            <a:extLst>
              <a:ext uri="{FF2B5EF4-FFF2-40B4-BE49-F238E27FC236}">
                <a16:creationId xmlns:a16="http://schemas.microsoft.com/office/drawing/2014/main" id="{3E174E44-E11C-D8A6-8593-84B4BD852C3C}"/>
              </a:ext>
            </a:extLst>
          </p:cNvPr>
          <p:cNvSpPr/>
          <p:nvPr/>
        </p:nvSpPr>
        <p:spPr>
          <a:xfrm>
            <a:off x="7903020" y="4803726"/>
            <a:ext cx="157608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7" name="Rounded Rectangle 53">
            <a:extLst>
              <a:ext uri="{FF2B5EF4-FFF2-40B4-BE49-F238E27FC236}">
                <a16:creationId xmlns:a16="http://schemas.microsoft.com/office/drawing/2014/main" id="{FE709356-918E-E7F2-F3E1-B4BD115559DF}"/>
              </a:ext>
            </a:extLst>
          </p:cNvPr>
          <p:cNvSpPr/>
          <p:nvPr/>
        </p:nvSpPr>
        <p:spPr>
          <a:xfrm>
            <a:off x="426900" y="540744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8" name="Right Arrow 54">
            <a:extLst>
              <a:ext uri="{FF2B5EF4-FFF2-40B4-BE49-F238E27FC236}">
                <a16:creationId xmlns:a16="http://schemas.microsoft.com/office/drawing/2014/main" id="{606E10D2-6C3B-CA37-E18B-DB4789958107}"/>
              </a:ext>
            </a:extLst>
          </p:cNvPr>
          <p:cNvSpPr/>
          <p:nvPr/>
        </p:nvSpPr>
        <p:spPr>
          <a:xfrm>
            <a:off x="2003340" y="556296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9" name="Rounded Rectangle 55">
            <a:extLst>
              <a:ext uri="{FF2B5EF4-FFF2-40B4-BE49-F238E27FC236}">
                <a16:creationId xmlns:a16="http://schemas.microsoft.com/office/drawing/2014/main" id="{20D02818-4FDF-B0AE-5F99-DD27442A6DD8}"/>
              </a:ext>
            </a:extLst>
          </p:cNvPr>
          <p:cNvSpPr/>
          <p:nvPr/>
        </p:nvSpPr>
        <p:spPr>
          <a:xfrm>
            <a:off x="2296020" y="540744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0" name="Right Arrow 56">
            <a:extLst>
              <a:ext uri="{FF2B5EF4-FFF2-40B4-BE49-F238E27FC236}">
                <a16:creationId xmlns:a16="http://schemas.microsoft.com/office/drawing/2014/main" id="{98FBF640-C93B-3832-D8BC-6F2B63E4E050}"/>
              </a:ext>
            </a:extLst>
          </p:cNvPr>
          <p:cNvSpPr/>
          <p:nvPr/>
        </p:nvSpPr>
        <p:spPr>
          <a:xfrm>
            <a:off x="3872460" y="556296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1" name="Rounded Rectangle 57">
            <a:extLst>
              <a:ext uri="{FF2B5EF4-FFF2-40B4-BE49-F238E27FC236}">
                <a16:creationId xmlns:a16="http://schemas.microsoft.com/office/drawing/2014/main" id="{D8F5335A-6069-7376-BC09-FF796F2F08E2}"/>
              </a:ext>
            </a:extLst>
          </p:cNvPr>
          <p:cNvSpPr/>
          <p:nvPr/>
        </p:nvSpPr>
        <p:spPr>
          <a:xfrm>
            <a:off x="4165140" y="540744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2" name="Right Arrow 58">
            <a:extLst>
              <a:ext uri="{FF2B5EF4-FFF2-40B4-BE49-F238E27FC236}">
                <a16:creationId xmlns:a16="http://schemas.microsoft.com/office/drawing/2014/main" id="{6F22DD59-A692-BE78-98F2-2A69DB20C8D8}"/>
              </a:ext>
            </a:extLst>
          </p:cNvPr>
          <p:cNvSpPr/>
          <p:nvPr/>
        </p:nvSpPr>
        <p:spPr>
          <a:xfrm>
            <a:off x="5741220" y="556296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3" name="Rounded Rectangle 59">
            <a:extLst>
              <a:ext uri="{FF2B5EF4-FFF2-40B4-BE49-F238E27FC236}">
                <a16:creationId xmlns:a16="http://schemas.microsoft.com/office/drawing/2014/main" id="{332041F0-252C-90C7-821C-A7C25230B63D}"/>
              </a:ext>
            </a:extLst>
          </p:cNvPr>
          <p:cNvSpPr/>
          <p:nvPr/>
        </p:nvSpPr>
        <p:spPr>
          <a:xfrm>
            <a:off x="6033900" y="540744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目標</a:t>
            </a:r>
            <a:r>
              <a:rPr kumimoji="1" lang="en-US" altLang="zh-CN"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35%×15%×10%</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4" name="Right Arrow 60">
            <a:extLst>
              <a:ext uri="{FF2B5EF4-FFF2-40B4-BE49-F238E27FC236}">
                <a16:creationId xmlns:a16="http://schemas.microsoft.com/office/drawing/2014/main" id="{D3B2D85C-2942-5837-41FA-4CDD86C50ADB}"/>
              </a:ext>
            </a:extLst>
          </p:cNvPr>
          <p:cNvSpPr/>
          <p:nvPr/>
        </p:nvSpPr>
        <p:spPr>
          <a:xfrm>
            <a:off x="7610340" y="556296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5" name="Rounded Rectangle 61">
            <a:extLst>
              <a:ext uri="{FF2B5EF4-FFF2-40B4-BE49-F238E27FC236}">
                <a16:creationId xmlns:a16="http://schemas.microsoft.com/office/drawing/2014/main" id="{3FE6E2F3-B8DC-0BC9-E506-DAC09607D1F6}"/>
              </a:ext>
            </a:extLst>
          </p:cNvPr>
          <p:cNvSpPr/>
          <p:nvPr/>
        </p:nvSpPr>
        <p:spPr>
          <a:xfrm>
            <a:off x="7903020" y="5407446"/>
            <a:ext cx="157608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6" name="Rounded Rectangle 62">
            <a:extLst>
              <a:ext uri="{FF2B5EF4-FFF2-40B4-BE49-F238E27FC236}">
                <a16:creationId xmlns:a16="http://schemas.microsoft.com/office/drawing/2014/main" id="{31BC816E-863E-27AE-E5EB-DA22ED19D939}"/>
              </a:ext>
            </a:extLst>
          </p:cNvPr>
          <p:cNvSpPr/>
          <p:nvPr/>
        </p:nvSpPr>
        <p:spPr>
          <a:xfrm>
            <a:off x="426900" y="601080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7" name="Right Arrow 63">
            <a:extLst>
              <a:ext uri="{FF2B5EF4-FFF2-40B4-BE49-F238E27FC236}">
                <a16:creationId xmlns:a16="http://schemas.microsoft.com/office/drawing/2014/main" id="{AAF9729B-F573-AD53-94AA-E5CCE5ED8ED4}"/>
              </a:ext>
            </a:extLst>
          </p:cNvPr>
          <p:cNvSpPr/>
          <p:nvPr/>
        </p:nvSpPr>
        <p:spPr>
          <a:xfrm>
            <a:off x="2003340" y="616632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8" name="Rounded Rectangle 64">
            <a:extLst>
              <a:ext uri="{FF2B5EF4-FFF2-40B4-BE49-F238E27FC236}">
                <a16:creationId xmlns:a16="http://schemas.microsoft.com/office/drawing/2014/main" id="{1EA392E1-BB3D-0558-5DF5-133DB92CF9ED}"/>
              </a:ext>
            </a:extLst>
          </p:cNvPr>
          <p:cNvSpPr/>
          <p:nvPr/>
        </p:nvSpPr>
        <p:spPr>
          <a:xfrm>
            <a:off x="2296020" y="601080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9" name="Right Arrow 65">
            <a:extLst>
              <a:ext uri="{FF2B5EF4-FFF2-40B4-BE49-F238E27FC236}">
                <a16:creationId xmlns:a16="http://schemas.microsoft.com/office/drawing/2014/main" id="{22FC96E8-D408-8B2D-C299-8DDA239E000C}"/>
              </a:ext>
            </a:extLst>
          </p:cNvPr>
          <p:cNvSpPr/>
          <p:nvPr/>
        </p:nvSpPr>
        <p:spPr>
          <a:xfrm>
            <a:off x="3872460" y="616632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0" name="Rounded Rectangle 66">
            <a:extLst>
              <a:ext uri="{FF2B5EF4-FFF2-40B4-BE49-F238E27FC236}">
                <a16:creationId xmlns:a16="http://schemas.microsoft.com/office/drawing/2014/main" id="{D14896B7-B487-01EB-8E6B-7B72174B76FF}"/>
              </a:ext>
            </a:extLst>
          </p:cNvPr>
          <p:cNvSpPr/>
          <p:nvPr/>
        </p:nvSpPr>
        <p:spPr>
          <a:xfrm>
            <a:off x="4165140" y="601080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1" name="Right Arrow 67">
            <a:extLst>
              <a:ext uri="{FF2B5EF4-FFF2-40B4-BE49-F238E27FC236}">
                <a16:creationId xmlns:a16="http://schemas.microsoft.com/office/drawing/2014/main" id="{8B1B518E-2F2F-8BE7-1CB9-F1842F99BC56}"/>
              </a:ext>
            </a:extLst>
          </p:cNvPr>
          <p:cNvSpPr/>
          <p:nvPr/>
        </p:nvSpPr>
        <p:spPr>
          <a:xfrm>
            <a:off x="5741220" y="616632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2" name="Rounded Rectangle 68">
            <a:extLst>
              <a:ext uri="{FF2B5EF4-FFF2-40B4-BE49-F238E27FC236}">
                <a16:creationId xmlns:a16="http://schemas.microsoft.com/office/drawing/2014/main" id="{B4B9C4DC-7417-5001-BF5A-F0E11BF15352}"/>
              </a:ext>
            </a:extLst>
          </p:cNvPr>
          <p:cNvSpPr/>
          <p:nvPr/>
        </p:nvSpPr>
        <p:spPr>
          <a:xfrm>
            <a:off x="6033900" y="601080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目標</a:t>
            </a:r>
            <a:r>
              <a:rPr kumimoji="1" lang="en-US" altLang="zh-CN"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30%×10%×8%</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3" name="Right Arrow 69">
            <a:extLst>
              <a:ext uri="{FF2B5EF4-FFF2-40B4-BE49-F238E27FC236}">
                <a16:creationId xmlns:a16="http://schemas.microsoft.com/office/drawing/2014/main" id="{D1BC55EB-7607-A91E-7382-CF2D4B9D7783}"/>
              </a:ext>
            </a:extLst>
          </p:cNvPr>
          <p:cNvSpPr/>
          <p:nvPr/>
        </p:nvSpPr>
        <p:spPr>
          <a:xfrm>
            <a:off x="7610340" y="616632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4" name="Rounded Rectangle 70">
            <a:extLst>
              <a:ext uri="{FF2B5EF4-FFF2-40B4-BE49-F238E27FC236}">
                <a16:creationId xmlns:a16="http://schemas.microsoft.com/office/drawing/2014/main" id="{74629097-D7F7-19A3-656B-8B02BB3A10F1}"/>
              </a:ext>
            </a:extLst>
          </p:cNvPr>
          <p:cNvSpPr/>
          <p:nvPr/>
        </p:nvSpPr>
        <p:spPr>
          <a:xfrm>
            <a:off x="7903020" y="6010806"/>
            <a:ext cx="157608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2198953-22C2-94BD-F872-5AE92CDDCDF0}"/>
              </a:ext>
            </a:extLst>
          </p:cNvPr>
          <p:cNvSpPr txBox="1"/>
          <p:nvPr/>
        </p:nvSpPr>
        <p:spPr>
          <a:xfrm>
            <a:off x="1293297" y="1357596"/>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ターゲット層</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5872C22-E4CF-8D77-4619-56AE8E363A15}"/>
              </a:ext>
            </a:extLst>
          </p:cNvPr>
          <p:cNvSpPr txBox="1"/>
          <p:nvPr/>
        </p:nvSpPr>
        <p:spPr>
          <a:xfrm>
            <a:off x="2959622" y="1362605"/>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セグメント方法</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4B495D1F-2E7E-91CE-AA55-67D1AED0FD52}"/>
              </a:ext>
            </a:extLst>
          </p:cNvPr>
          <p:cNvSpPr txBox="1"/>
          <p:nvPr/>
        </p:nvSpPr>
        <p:spPr>
          <a:xfrm>
            <a:off x="4691337" y="1365616"/>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配信コンテンツ</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2CA8F8DC-BFE6-04E9-FE02-BB98C2602D22}"/>
              </a:ext>
            </a:extLst>
          </p:cNvPr>
          <p:cNvSpPr txBox="1"/>
          <p:nvPr/>
        </p:nvSpPr>
        <p:spPr>
          <a:xfrm>
            <a:off x="6130263" y="1360810"/>
            <a:ext cx="182880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想定開封率</a:t>
            </a:r>
            <a:r>
              <a:rPr kumimoji="1" lang="en-US" altLang="ja-JP"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a:t>
            </a:r>
            <a:r>
              <a:rPr kumimoji="1" lang="ja-JP" altLang="en-US"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クリック率</a:t>
            </a:r>
            <a:r>
              <a:rPr kumimoji="1" lang="en-US" altLang="ja-JP"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×CV</a:t>
            </a:r>
            <a:r>
              <a:rPr kumimoji="1" lang="ja-JP" altLang="en-US"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率</a:t>
            </a:r>
            <a:endParaRPr kumimoji="1" lang="en-US" altLang="ja-JP"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3AC25444-1EE4-FD71-4FB1-84DD26B16711}"/>
              </a:ext>
            </a:extLst>
          </p:cNvPr>
          <p:cNvSpPr txBox="1"/>
          <p:nvPr/>
        </p:nvSpPr>
        <p:spPr>
          <a:xfrm>
            <a:off x="521240" y="4003179"/>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ターゲット層</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D4227666-88BC-C20C-B62E-C7059CBE8461}"/>
              </a:ext>
            </a:extLst>
          </p:cNvPr>
          <p:cNvSpPr txBox="1"/>
          <p:nvPr/>
        </p:nvSpPr>
        <p:spPr>
          <a:xfrm>
            <a:off x="2432306" y="4004383"/>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セグメント方法</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869552FF-EFA0-03CB-9D4F-8653B4E42388}"/>
              </a:ext>
            </a:extLst>
          </p:cNvPr>
          <p:cNvSpPr txBox="1"/>
          <p:nvPr/>
        </p:nvSpPr>
        <p:spPr>
          <a:xfrm>
            <a:off x="4260490" y="3998581"/>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配信コンテンツ</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59C40FD9-9474-881D-DA53-5CA81AAC4510}"/>
              </a:ext>
            </a:extLst>
          </p:cNvPr>
          <p:cNvSpPr txBox="1"/>
          <p:nvPr/>
        </p:nvSpPr>
        <p:spPr>
          <a:xfrm>
            <a:off x="5821884" y="4012733"/>
            <a:ext cx="182880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想定開封率</a:t>
            </a:r>
            <a:r>
              <a:rPr kumimoji="1" lang="en-US" altLang="ja-JP"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a:t>
            </a:r>
            <a:r>
              <a:rPr kumimoji="1" lang="ja-JP" altLang="en-US"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クリック率</a:t>
            </a:r>
            <a:r>
              <a:rPr kumimoji="1" lang="en-US" altLang="ja-JP"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×CV</a:t>
            </a:r>
            <a:r>
              <a:rPr kumimoji="1" lang="ja-JP" altLang="en-US"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率</a:t>
            </a:r>
            <a:endParaRPr kumimoji="1" lang="en-US" altLang="ja-JP"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51945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a:t>
            </a:r>
            <a:r>
              <a:rPr kumimoji="1" lang="en-US" altLang="zh-CN"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3</a:t>
            </a: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つの施策カテゴリ（診断コンテンツ・複数サービスを前提に整理）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QA</a:t>
            </a: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自動化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・料金・使用量等のよくある質問にLINEチャットボットで自動回答</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・診断結果に応じたQ&amp;Aパターンも自動化候補</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・契約内容等の複雑な問い合わせは有人チャットで個別対応</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・タグ管理で乗り換え検討等、優先度の高い問い合わせを可視化</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・暮らしスマイルアンケートをLINEリサーチ機能で実施</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・回答特典を付けて回収率を高める</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・キーワード応答＋タグ付けで一次対応を自動化</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・複数エリア（17アカウント）共通のFAQ対応を効率化</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・配信ログの自動集計（API連携）でレポーティング工数を削減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・診断結果送付〜ステップ配信までをGAS等で自動化</a:t>
            </a:r>
          </a:p>
        </p:txBody>
      </p:sp>
    </p:spTree>
    <p:extLst>
      <p:ext uri="{BB962C8B-B14F-4D97-AF65-F5344CB8AC3E}">
        <p14:creationId xmlns:p14="http://schemas.microsoft.com/office/powerpoint/2010/main" val="189377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料金プラン診断コンテンツ</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マイサーラ会員登録案内</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料金確定通知もLINEで受け取れる</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地域別WEB申込キャンペーン</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※「料金プラン診断」はサイト上に簡易診断フォームを設置し、結果をLINEで送付する動線を想定（要開発）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368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準顕在（獲得見込みが高い）層を効率よく取れる動線を用意し運用します。</a:t>
            </a:r>
            <a:endParaRPr lang="en-US" altLang="ja-JP" sz="14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EA70A0F9-54E5-2057-0898-CA95AFFCCD29}"/>
              </a:ext>
            </a:extLst>
          </p:cNvPr>
          <p:cNvSpPr/>
          <p:nvPr/>
        </p:nvSpPr>
        <p:spPr>
          <a:xfrm>
            <a:off x="396674" y="694337"/>
            <a:ext cx="3469656" cy="118913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143136</TotalTime>
  <Words>4915</Words>
  <Application>Microsoft Office PowerPoint</Application>
  <PresentationFormat>A4 210 x 297 mm</PresentationFormat>
  <Paragraphs>1107</Paragraphs>
  <Slides>47</Slides>
  <Notes>21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47</vt:i4>
      </vt:variant>
    </vt:vector>
  </HeadingPairs>
  <TitlesOfParts>
    <vt:vector size="54"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1961</cp:revision>
  <cp:lastPrinted>2022-11-01T11:38:14Z</cp:lastPrinted>
  <dcterms:created xsi:type="dcterms:W3CDTF">2015-09-04T09:21:15Z</dcterms:created>
  <dcterms:modified xsi:type="dcterms:W3CDTF">2026-10-09T02:24:24Z</dcterms:modified>
</cp:coreProperties>
</file>