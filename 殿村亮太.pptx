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46DAB7-1E2F-2F5D-0285-C46F3EA9C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AEBC1F-026F-5857-32CF-E1D0A5CD2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17CDEE-DDD1-39D6-CB1A-2219B8A1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EDE9A4-1F9C-677C-6C5D-DF722530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92D8D1-8B03-98B6-A13A-4E22E5EF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6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316CA-9BE9-06CC-A686-BBE8B2FD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DBE1AB-BD0F-9AAA-D262-77CA1DBFE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07DD59-6824-CA5A-24AB-09011635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6B691-E28A-19EA-1335-E000F90CC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7DC0ED-0FE0-7E7E-BDDB-F9BE79F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813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95782D-ECAB-6BCB-597A-049C644A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5CEFB5-5BC0-0CE4-3442-0E144F6C8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4C6DF-6A8D-AF0E-27CA-5AAAE54FF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28BB9D-8547-7B4B-C150-B1EF639D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DF1890-DCFD-1D56-2873-0FB6053B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90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A05C84-17F6-566B-25A7-9DC738B5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AD8E7E-9FE6-8C2A-2BDB-2EC35B947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FEFF9E-9418-7554-6366-649D1736E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34CE4F-9B78-553C-672E-A12E5F7E1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EF3D62-D18F-7FC8-15E2-290CDA6CF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89DC33-29E3-8E1E-4AD7-CA59C377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0987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A4B453-128B-378A-3BAA-19C3D8EB8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C98D70-0765-D64D-77F9-043924E9A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D71B7EC-FB1F-5EA4-026A-3EA735305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9288ED7-62FB-798F-FDB8-EA76DAE03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C7BBB83-415C-A794-6C5D-3C91D6CC2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714D0DE-F258-29BB-7B3C-B20C64C6B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B2B4FF-23F0-D5C1-1A8C-7D6EDC6B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8BAE85-10A2-E918-B220-864F59F5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99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CEBD9E-7D4F-1465-64E1-F8F955DFC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0F20C52-7F64-09CE-2143-830896EC6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1CC433C-FE89-CE80-FDF9-A4A9DA0B2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A169767-AA60-AFA4-D41E-80D096730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743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945A919-D509-76FE-6FD8-D1AC58F1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6E67E1D-D3FD-1A08-B50E-17A87436B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E38ADB-37EC-5CD5-CC7D-D19A2591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637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8AB29E-B33C-8FCD-1703-764E0E58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DB03DF-22E9-FB49-2B73-A08C0BA1A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AFFC6C-4F10-08FB-0B37-A0441CCBD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BE7D65-A17D-440A-3D9B-2B561DCA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3AD886-8B18-1F42-4F03-4DBFE2FF3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87ECDD-2A69-57CC-67C6-16FD569C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914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EE4BB1-594D-D0D2-CFED-91074F0A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34769AB-66FB-ADD5-926C-A4444766B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F8B265-8F89-9978-2DF9-982121A5E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7937DA-42EC-AE4F-3131-C220C29CC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58AD7D-8280-AD7B-8947-7BA53658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0D2BF6-F91F-98DB-A816-62DDF6B3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16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3E04C8-081C-0963-4612-BFE593E23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E830B6-9E47-BA23-65C0-70F3C3231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16F309-2B53-DC40-0932-89880CCC7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1AC936-99F0-DDBE-B677-FBB1A748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6E0687-95D5-0721-DC1F-F0CD31D8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630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E5CCF39-97FB-0FEC-EDF9-05098E8BC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150F07-BC25-FFAF-D2F2-59DD5D618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82AC8F-680B-6AF0-C589-DB1315FBF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E724D9-01A7-7E8A-56F2-7C94FA843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ABC71E-415B-8EF0-5609-EE121258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45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6B12C4-32C3-772A-35BF-3BD00A2B5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4DD59A-3368-8371-2B37-15C6DE038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441A0F-77B0-EDC9-22F9-1FA83D614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4866D-A95A-4D1C-8CDB-4E585211B00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1618E6-EEA3-72B0-935C-5DB234468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FB7EE3-4A0B-FB43-D346-1E017B99E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E83F4-33AD-48CC-BF79-3F5A1F963D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50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A5837A-85FC-4840-22B6-7E1A2F290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8096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4400" dirty="0"/>
              <a:t>①クライアント選定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21211F7-4974-FAB1-BF7A-771757C63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6856" y="1207008"/>
            <a:ext cx="2295144" cy="5650992"/>
          </a:xfrm>
        </p:spPr>
        <p:txBody>
          <a:bodyPr>
            <a:normAutofit/>
          </a:bodyPr>
          <a:lstStyle/>
          <a:p>
            <a:r>
              <a:rPr kumimoji="1" lang="ja-JP" altLang="en-US" sz="1200" dirty="0"/>
              <a:t>①業界</a:t>
            </a:r>
            <a:r>
              <a:rPr lang="ja-JP" altLang="en-US" sz="1200" dirty="0"/>
              <a:t>：</a:t>
            </a:r>
            <a:r>
              <a:rPr kumimoji="1" lang="ja-JP" altLang="en-US" sz="1200" dirty="0"/>
              <a:t>リース</a:t>
            </a:r>
            <a:endParaRPr kumimoji="1" lang="en-US" altLang="ja-JP" sz="1200" dirty="0"/>
          </a:p>
          <a:p>
            <a:r>
              <a:rPr lang="ja-JP" altLang="en-US" sz="1200" dirty="0"/>
              <a:t>②サービス名：カーネクスト</a:t>
            </a:r>
            <a:endParaRPr lang="en-US" altLang="ja-JP" sz="1200" dirty="0"/>
          </a:p>
          <a:p>
            <a:endParaRPr kumimoji="1" lang="ja-JP" altLang="en-US" sz="12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2FDD594-033B-E67F-775E-9AB71F402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2544"/>
            <a:ext cx="9896856" cy="528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44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7FD5B7-FEF3-785F-AEA6-11485778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4"/>
            <a:ext cx="10515600" cy="877823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②競合任意選定</a:t>
            </a:r>
            <a:r>
              <a:rPr kumimoji="1" lang="en-US" altLang="ja-JP" dirty="0"/>
              <a:t>+</a:t>
            </a:r>
            <a:r>
              <a:rPr kumimoji="1" lang="ja-JP" altLang="en-US" dirty="0"/>
              <a:t>理由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Hmhmver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CA9732-4C25-280E-62DC-CFFAD4D59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868678"/>
            <a:ext cx="11686032" cy="576072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ナビクル廃車買取</a:t>
            </a:r>
            <a:r>
              <a:rPr kumimoji="1" lang="en-US" altLang="ja-JP" dirty="0"/>
              <a:t>(</a:t>
            </a:r>
            <a:r>
              <a:rPr kumimoji="1" lang="ja-JP" altLang="en-US" dirty="0"/>
              <a:t>運営元：</a:t>
            </a:r>
            <a:r>
              <a:rPr lang="ja-JP" altLang="en-US" dirty="0"/>
              <a:t>株式会社エイチームライフデザイン</a:t>
            </a:r>
            <a:r>
              <a:rPr kumimoji="1" lang="en-US" altLang="ja-JP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ハイシャル</a:t>
            </a:r>
            <a:r>
              <a:rPr lang="en-US" altLang="ja-JP" dirty="0"/>
              <a:t>(</a:t>
            </a:r>
            <a:r>
              <a:rPr lang="ja-JP" altLang="en-US" dirty="0"/>
              <a:t>運営元：ユニオンエタニティ株式会社</a:t>
            </a:r>
            <a:r>
              <a:rPr lang="en-US" altLang="ja-JP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カービュー</a:t>
            </a:r>
            <a:r>
              <a:rPr kumimoji="1" lang="en-US" altLang="ja-JP" dirty="0"/>
              <a:t>(</a:t>
            </a:r>
            <a:r>
              <a:rPr kumimoji="1" lang="ja-JP" altLang="en-US" dirty="0"/>
              <a:t>運営元：</a:t>
            </a:r>
            <a:r>
              <a:rPr kumimoji="1" lang="en-US" altLang="ja-JP" dirty="0"/>
              <a:t>LINE</a:t>
            </a:r>
            <a:r>
              <a:rPr kumimoji="1" lang="ja-JP" altLang="en-US" dirty="0"/>
              <a:t>ヤフー株式会社</a:t>
            </a:r>
            <a:r>
              <a:rPr kumimoji="1" lang="en-US" altLang="ja-JP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カーセンサー</a:t>
            </a:r>
            <a:r>
              <a:rPr lang="en-US" altLang="ja-JP" dirty="0"/>
              <a:t>(</a:t>
            </a:r>
            <a:r>
              <a:rPr lang="ja-JP" altLang="en-US" dirty="0"/>
              <a:t>運営元：株式会社リクルート</a:t>
            </a:r>
            <a:r>
              <a:rPr lang="en-US" altLang="ja-JP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ユーカーパック</a:t>
            </a:r>
            <a:r>
              <a:rPr kumimoji="1" lang="en-US" altLang="ja-JP" dirty="0"/>
              <a:t>(</a:t>
            </a:r>
            <a:r>
              <a:rPr kumimoji="1" lang="ja-JP" altLang="en-US" dirty="0"/>
              <a:t>運営元：</a:t>
            </a:r>
            <a:r>
              <a:rPr lang="en-US" altLang="ja-JP" dirty="0" err="1"/>
              <a:t>UcarPAC</a:t>
            </a:r>
            <a:r>
              <a:rPr lang="ja-JP" altLang="en-US" dirty="0"/>
              <a:t>株式会社</a:t>
            </a:r>
            <a:r>
              <a:rPr kumimoji="1" lang="en-US" altLang="ja-JP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ソコカラ</a:t>
            </a:r>
            <a:r>
              <a:rPr kumimoji="1" lang="en-US" altLang="ja-JP" dirty="0"/>
              <a:t>(</a:t>
            </a:r>
            <a:r>
              <a:rPr kumimoji="1" lang="ja-JP" altLang="en-US" dirty="0"/>
              <a:t>運営元：</a:t>
            </a:r>
            <a:r>
              <a:rPr lang="ja-JP" altLang="en-US" dirty="0"/>
              <a:t>株式会社はなまる</a:t>
            </a:r>
            <a:r>
              <a:rPr kumimoji="1" lang="en-US" altLang="ja-JP" dirty="0"/>
              <a:t>)</a:t>
            </a:r>
          </a:p>
          <a:p>
            <a:pPr marL="0" indent="0">
              <a:buNone/>
            </a:pPr>
            <a:endParaRPr lang="en-US" altLang="ja-JP" sz="800" dirty="0"/>
          </a:p>
          <a:p>
            <a:pPr marL="0" indent="0">
              <a:buNone/>
            </a:pPr>
            <a:r>
              <a:rPr lang="ja-JP" altLang="en-US" dirty="0"/>
              <a:t>選定理由は</a:t>
            </a:r>
            <a:r>
              <a:rPr lang="en-US" altLang="ja-JP" dirty="0" err="1"/>
              <a:t>Hmhm</a:t>
            </a:r>
            <a:r>
              <a:rPr lang="ja-JP" altLang="en-US" dirty="0"/>
              <a:t>を用い、競合分析の欄に記載されていたかつ、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また、通常の</a:t>
            </a:r>
            <a:r>
              <a:rPr lang="en-US" altLang="ja-JP" dirty="0"/>
              <a:t>Google</a:t>
            </a:r>
            <a:r>
              <a:rPr lang="ja-JP" altLang="en-US" dirty="0"/>
              <a:t>検索で出てきた会社を選定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3638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86791C-2D68-8994-F018-3501C3C68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50024"/>
          </a:xfrm>
        </p:spPr>
        <p:txBody>
          <a:bodyPr>
            <a:normAutofit/>
          </a:bodyPr>
          <a:lstStyle/>
          <a:p>
            <a:r>
              <a:rPr lang="ja-JP" altLang="en-US" dirty="0"/>
              <a:t>②競合任意選定</a:t>
            </a:r>
            <a:r>
              <a:rPr lang="en-US" altLang="ja-JP" dirty="0"/>
              <a:t>+</a:t>
            </a:r>
            <a:r>
              <a:rPr lang="ja-JP" altLang="en-US" dirty="0"/>
              <a:t>理由</a:t>
            </a:r>
            <a:r>
              <a:rPr lang="en-US" altLang="ja-JP" dirty="0"/>
              <a:t>(Geminiver)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C5BAD37F-2010-5BB7-B2A0-FB47555E1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1977805"/>
              </p:ext>
            </p:extLst>
          </p:nvPr>
        </p:nvGraphicFramePr>
        <p:xfrm>
          <a:off x="370113" y="949324"/>
          <a:ext cx="11647715" cy="5425440"/>
        </p:xfrm>
        <a:graphic>
          <a:graphicData uri="http://schemas.openxmlformats.org/drawingml/2006/table">
            <a:tbl>
              <a:tblPr/>
              <a:tblGrid>
                <a:gridCol w="11647715">
                  <a:extLst>
                    <a:ext uri="{9D8B030D-6E8A-4147-A177-3AD203B41FA5}">
                      <a16:colId xmlns:a16="http://schemas.microsoft.com/office/drawing/2014/main" val="1521950443"/>
                    </a:ext>
                  </a:extLst>
                </a:gridCol>
              </a:tblGrid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ja-JP" altLang="en-US" sz="2800">
                          <a:effectLst/>
                        </a:rPr>
                        <a:t>直接競合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255452"/>
                  </a:ext>
                </a:extLst>
              </a:tr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ja-JP" altLang="en-US" sz="2800">
                          <a:effectLst/>
                        </a:rPr>
                        <a:t>株式会社</a:t>
                      </a:r>
                      <a:r>
                        <a:rPr lang="en-US" sz="2800">
                          <a:effectLst/>
                        </a:rPr>
                        <a:t>TAU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639197"/>
                  </a:ext>
                </a:extLst>
              </a:tr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altLang="ja-JP" sz="2800">
                          <a:effectLst/>
                        </a:rPr>
                        <a:t>NGP</a:t>
                      </a:r>
                      <a:r>
                        <a:rPr lang="ja-JP" altLang="en-US" sz="2800">
                          <a:effectLst/>
                        </a:rPr>
                        <a:t>日本自動車リサイクル事業協同組合 株式会社</a:t>
                      </a:r>
                      <a:r>
                        <a:rPr lang="en-US" altLang="ja-JP" sz="2800">
                          <a:effectLst/>
                        </a:rPr>
                        <a:t>NGP 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956088"/>
                  </a:ext>
                </a:extLst>
              </a:tr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ja-JP" altLang="en-US" sz="2800">
                          <a:effectLst/>
                        </a:rPr>
                        <a:t>ハイシャル</a:t>
                      </a:r>
                      <a:r>
                        <a:rPr lang="en-US" altLang="ja-JP" sz="2800">
                          <a:effectLst/>
                        </a:rPr>
                        <a:t>(</a:t>
                      </a:r>
                      <a:r>
                        <a:rPr lang="ja-JP" altLang="en-US" sz="2800">
                          <a:effectLst/>
                        </a:rPr>
                        <a:t>運営元：ユニオンエタニティ株式会社</a:t>
                      </a:r>
                      <a:r>
                        <a:rPr lang="en-US" altLang="ja-JP" sz="2800">
                          <a:effectLst/>
                        </a:rPr>
                        <a:t>)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299087"/>
                  </a:ext>
                </a:extLst>
              </a:tr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ja-JP" altLang="en-US" sz="2800">
                          <a:effectLst/>
                        </a:rPr>
                        <a:t>間接競合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196433"/>
                  </a:ext>
                </a:extLst>
              </a:tr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ja-JP" altLang="en-US" sz="2800">
                          <a:effectLst/>
                        </a:rPr>
                        <a:t>街の板金塗装・修理工場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107619"/>
                  </a:ext>
                </a:extLst>
              </a:tr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ja-JP" altLang="en-US" sz="2800">
                          <a:effectLst/>
                        </a:rPr>
                        <a:t>新車・中古車ディーラー（下取り）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185904"/>
                  </a:ext>
                </a:extLst>
              </a:tr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ja-JP" altLang="en-US" sz="2800">
                          <a:effectLst/>
                        </a:rPr>
                        <a:t>ベンチマーク</a:t>
                      </a:r>
                      <a:r>
                        <a:rPr lang="en-US" altLang="ja-JP" sz="2800">
                          <a:effectLst/>
                        </a:rPr>
                        <a:t>(2</a:t>
                      </a:r>
                      <a:r>
                        <a:rPr lang="ja-JP" altLang="en-US" sz="2800">
                          <a:effectLst/>
                        </a:rPr>
                        <a:t>社</a:t>
                      </a:r>
                      <a:r>
                        <a:rPr lang="en-US" altLang="ja-JP" sz="2800">
                          <a:effectLst/>
                        </a:rPr>
                        <a:t>)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831239"/>
                  </a:ext>
                </a:extLst>
              </a:tr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ja-JP" altLang="en-US" sz="2800">
                          <a:effectLst/>
                        </a:rPr>
                        <a:t>株式会社</a:t>
                      </a:r>
                      <a:r>
                        <a:rPr lang="en-US" sz="2800">
                          <a:effectLst/>
                        </a:rPr>
                        <a:t>BuySell Technologies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248403"/>
                  </a:ext>
                </a:extLst>
              </a:tr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ja-JP" altLang="en-US" sz="2800">
                          <a:effectLst/>
                        </a:rPr>
                        <a:t>株式会社オズビジョン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42699"/>
                  </a:ext>
                </a:extLst>
              </a:tr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ja-JP" altLang="en-US" sz="2800" dirty="0">
                          <a:effectLst/>
                        </a:rPr>
                        <a:t>新興企業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280871"/>
                  </a:ext>
                </a:extLst>
              </a:tr>
              <a:tr h="4479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ja-JP" altLang="en-US" sz="2800" dirty="0">
                          <a:effectLst/>
                        </a:rPr>
                        <a:t>ソコカラ</a:t>
                      </a:r>
                      <a:r>
                        <a:rPr lang="en-US" altLang="ja-JP" sz="2800" dirty="0">
                          <a:effectLst/>
                        </a:rPr>
                        <a:t>(</a:t>
                      </a:r>
                      <a:r>
                        <a:rPr lang="ja-JP" altLang="en-US" sz="2800" dirty="0">
                          <a:effectLst/>
                        </a:rPr>
                        <a:t>運営元：株式会社はなまる</a:t>
                      </a:r>
                      <a:r>
                        <a:rPr lang="en-US" altLang="ja-JP" sz="2800" dirty="0">
                          <a:effectLst/>
                        </a:rPr>
                        <a:t>)</a:t>
                      </a:r>
                    </a:p>
                  </a:txBody>
                  <a:tcPr marL="19050" marR="19050" marT="12700" marB="12700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32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067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53FBEE-B98E-A8AD-719A-B187CD10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58584"/>
          </a:xfrm>
        </p:spPr>
        <p:txBody>
          <a:bodyPr/>
          <a:lstStyle/>
          <a:p>
            <a:r>
              <a:rPr lang="ja-JP" altLang="en-US" dirty="0"/>
              <a:t>③訴求軸タグ付け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656731-DA83-B4B9-0E55-8D70F6641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858584"/>
            <a:ext cx="11795760" cy="5779960"/>
          </a:xfrm>
        </p:spPr>
        <p:txBody>
          <a:bodyPr/>
          <a:lstStyle/>
          <a:p>
            <a:r>
              <a:rPr lang="ja-JP" altLang="en-US" dirty="0"/>
              <a:t>「</a:t>
            </a:r>
            <a:r>
              <a:rPr lang="en-US" altLang="ja-JP" dirty="0"/>
              <a:t>#</a:t>
            </a:r>
            <a:r>
              <a:rPr lang="ja-JP" altLang="en-US" dirty="0"/>
              <a:t>車買取 </a:t>
            </a:r>
            <a:r>
              <a:rPr lang="en-US" altLang="ja-JP" dirty="0"/>
              <a:t>#</a:t>
            </a:r>
            <a:r>
              <a:rPr lang="ja-JP" altLang="en-US" dirty="0"/>
              <a:t>高価買取（全体へのアピール）」</a:t>
            </a:r>
            <a:endParaRPr lang="en-US" altLang="ja-JP" dirty="0"/>
          </a:p>
          <a:p>
            <a:r>
              <a:rPr lang="ja-JP" altLang="en-US" dirty="0"/>
              <a:t>「</a:t>
            </a:r>
            <a:r>
              <a:rPr lang="en-US" altLang="ja-JP" dirty="0"/>
              <a:t>#</a:t>
            </a:r>
            <a:r>
              <a:rPr lang="ja-JP" altLang="en-US" dirty="0"/>
              <a:t>しつこい営業なし（自社の強み）」</a:t>
            </a:r>
            <a:endParaRPr lang="en-US" altLang="ja-JP" dirty="0"/>
          </a:p>
          <a:p>
            <a:r>
              <a:rPr lang="ja-JP" altLang="en-US" dirty="0"/>
              <a:t>「</a:t>
            </a:r>
            <a:r>
              <a:rPr lang="en-US" altLang="ja-JP" dirty="0"/>
              <a:t>#</a:t>
            </a:r>
            <a:r>
              <a:rPr lang="ja-JP" altLang="en-US" dirty="0"/>
              <a:t>〇〇県（地域名）」</a:t>
            </a:r>
            <a:endParaRPr lang="en-US" altLang="ja-JP" dirty="0"/>
          </a:p>
          <a:p>
            <a:r>
              <a:rPr lang="ja-JP" altLang="en-US" dirty="0"/>
              <a:t>「</a:t>
            </a:r>
            <a:r>
              <a:rPr lang="en-US" altLang="ja-JP" dirty="0"/>
              <a:t>#</a:t>
            </a:r>
            <a:r>
              <a:rPr lang="ja-JP" altLang="en-US" dirty="0"/>
              <a:t>プリウス（具体的な車種名）」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└これが大枠として捉えられる。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そこからさらに細分化をし、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54220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232</Words>
  <Application>Microsoft Office PowerPoint</Application>
  <PresentationFormat>ワイド画面</PresentationFormat>
  <Paragraphs>34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①クライアント選定</vt:lpstr>
      <vt:lpstr>②競合任意選定+理由(Hmhmver)</vt:lpstr>
      <vt:lpstr>②競合任意選定+理由(Geminiver)</vt:lpstr>
      <vt:lpstr>③訴求軸タグ付け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殿村 亮太</dc:creator>
  <cp:lastModifiedBy>殿村 亮太</cp:lastModifiedBy>
  <cp:revision>1</cp:revision>
  <dcterms:created xsi:type="dcterms:W3CDTF">2026-04-30T05:27:33Z</dcterms:created>
  <dcterms:modified xsi:type="dcterms:W3CDTF">2026-04-30T06:45:27Z</dcterms:modified>
</cp:coreProperties>
</file>