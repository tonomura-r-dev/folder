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48.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67"/>
  </p:notesMasterIdLst>
  <p:handoutMasterIdLst>
    <p:handoutMasterId r:id="rId68"/>
  </p:handoutMasterIdLst>
  <p:sldIdLst>
    <p:sldId id="2363" r:id="rId3"/>
    <p:sldId id="2988" r:id="rId4"/>
    <p:sldId id="2972" r:id="rId5"/>
    <p:sldId id="2989" r:id="rId6"/>
    <p:sldId id="2971" r:id="rId7"/>
    <p:sldId id="2974" r:id="rId8"/>
    <p:sldId id="2975" r:id="rId9"/>
    <p:sldId id="2985" r:id="rId10"/>
    <p:sldId id="3004" r:id="rId11"/>
    <p:sldId id="2976" r:id="rId12"/>
    <p:sldId id="2986" r:id="rId13"/>
    <p:sldId id="2736" r:id="rId14"/>
    <p:sldId id="2979" r:id="rId15"/>
    <p:sldId id="3006" r:id="rId16"/>
    <p:sldId id="3022" r:id="rId17"/>
    <p:sldId id="2908" r:id="rId18"/>
    <p:sldId id="2966" r:id="rId19"/>
    <p:sldId id="3015" r:id="rId20"/>
    <p:sldId id="3013" r:id="rId21"/>
    <p:sldId id="3009" r:id="rId22"/>
    <p:sldId id="3018" r:id="rId23"/>
    <p:sldId id="3010" r:id="rId24"/>
    <p:sldId id="3014" r:id="rId25"/>
    <p:sldId id="3012" r:id="rId26"/>
    <p:sldId id="3017" r:id="rId27"/>
    <p:sldId id="3011" r:id="rId28"/>
    <p:sldId id="2737" r:id="rId29"/>
    <p:sldId id="2563" r:id="rId30"/>
    <p:sldId id="2970" r:id="rId31"/>
    <p:sldId id="2959" r:id="rId32"/>
    <p:sldId id="3025" r:id="rId73"/>
    <p:sldId id="2968" r:id="rId35"/>
    <p:sldId id="2969" r:id="rId36"/>
    <p:sldId id="2957" r:id="rId37"/>
    <p:sldId id="3019" r:id="rId38"/>
    <p:sldId id="2951" r:id="rId39"/>
    <p:sldId id="3023" r:id="rId40"/>
    <p:sldId id="3024" r:id="rId41"/>
    <p:sldId id="2841" r:id="rId42"/>
    <p:sldId id="2734" r:id="rId43"/>
    <p:sldId id="2595" r:id="rId44"/>
    <p:sldId id="2566" r:id="rId45"/>
    <p:sldId id="2915" r:id="rId46"/>
    <p:sldId id="2619" r:id="rId47"/>
    <p:sldId id="2761" r:id="rId48"/>
    <p:sldId id="3021" r:id="rId49"/>
    <p:sldId id="2935" r:id="rId50"/>
    <p:sldId id="2919" r:id="rId51"/>
    <p:sldId id="2519" r:id="rId52"/>
    <p:sldId id="2931" r:id="rId53"/>
    <p:sldId id="2749" r:id="rId54"/>
    <p:sldId id="2950" r:id="rId55"/>
    <p:sldId id="2961" r:id="rId56"/>
    <p:sldId id="2849" r:id="rId57"/>
    <p:sldId id="2904" r:id="rId58"/>
    <p:sldId id="2905" r:id="rId59"/>
    <p:sldId id="2906" r:id="rId60"/>
    <p:sldId id="2907" r:id="rId61"/>
    <p:sldId id="2575" r:id="rId62"/>
    <p:sldId id="2910" r:id="rId63"/>
    <p:sldId id="3007" r:id="rId64"/>
    <p:sldId id="3008" r:id="rId65"/>
    <p:sldId id="1169" r:id="rId66"/>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FDFDFD"/>
    <a:srgbClr val="173559"/>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57" autoAdjust="0"/>
    <p:restoredTop sz="94424" autoAdjust="0"/>
  </p:normalViewPr>
  <p:slideViewPr>
    <p:cSldViewPr snapToGrid="0">
      <p:cViewPr varScale="1">
        <p:scale>
          <a:sx n="110" d="100"/>
          <a:sy n="110" d="100"/>
        </p:scale>
        <p:origin x="12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notesMaster" Target="notesMasters/notesMaster1.xml"/><Relationship Id="rId68" Type="http://schemas.openxmlformats.org/officeDocument/2006/relationships/handoutMaster" Target="handoutMasters/handout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 Id="rId73" Type="http://schemas.openxmlformats.org/officeDocument/2006/relationships/slide" Target="slides/slide3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2026/10/20</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66AA4-1AC1-0B6A-8DD3-54899EB2E2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4BF6DE-3BFF-29D8-3037-FBBE63C7FD8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B3F9493-7009-9A31-DAE6-BB1112CC20A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6E5153-623E-955A-9E75-0EA3C02F1D85}"/>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2027802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5</a:t>
            </a:fld>
            <a:endParaRPr kumimoji="1" lang="ja-JP" altLang="en-US"/>
          </a:p>
        </p:txBody>
      </p:sp>
    </p:spTree>
    <p:extLst>
      <p:ext uri="{BB962C8B-B14F-4D97-AF65-F5344CB8AC3E}">
        <p14:creationId xmlns:p14="http://schemas.microsoft.com/office/powerpoint/2010/main" val="11238476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B3E24-A18E-3FB1-1BEB-F78B7876B6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3BD67E3-1B96-BBBF-6E58-9F584C1E421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415CA0F-593B-424A-AB1E-372C80A5306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C1FAE7-9B14-4C23-B5D8-2C06D3E82C52}"/>
              </a:ext>
            </a:extLst>
          </p:cNvPr>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40534932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68803-9F0E-9C31-9560-2094718579F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09DBAC0-C8E1-8C5B-7FC3-E2F967DE37D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C9E6ECD-81E8-9621-C097-7F38D3F575C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0567096-EE1C-9444-DCCA-A268D8AAC4E0}"/>
              </a:ext>
            </a:extLst>
          </p:cNvPr>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1686084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B93DA-F068-C7F5-5FEB-7A94DD8867B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0B680EF-CF86-D787-518D-CA5960A5648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DA54E59-6FD5-42C5-308A-B0701935BFB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4931D7D-5F42-F5B5-3683-5A2F0031C5B6}"/>
              </a:ext>
            </a:extLst>
          </p:cNvPr>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21802663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F8966-D000-6EA3-BAC7-8246A8124FB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3751AD-7833-5352-F3CD-93BF48718DA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3713479-1F1B-7F88-B85D-7A35CA42650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D17977F-8BEB-2B1C-1C7A-1D7AA1F05039}"/>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42789626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A4272-5DA9-3CCF-23F3-9466DBC1B84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AFD5C72-277A-86ED-D54E-FE626540E2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F71F2ED-0463-0DB8-0277-A35A864B316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D54FEC3-6CD7-0B2F-7F8F-E9EA265B8458}"/>
              </a:ext>
            </a:extLst>
          </p:cNvPr>
          <p:cNvSpPr>
            <a:spLocks noGrp="1"/>
          </p:cNvSpPr>
          <p:nvPr>
            <p:ph type="sldNum" sz="quarter" idx="10"/>
          </p:nvPr>
        </p:nvSpPr>
        <p:spPr/>
        <p:txBody>
          <a:bodyPr/>
          <a:lstStyle/>
          <a:p>
            <a:fld id="{022E43C0-6795-4B13-B37C-259C826D4B6A}" type="slidenum">
              <a:rPr kumimoji="1" lang="ja-JP" altLang="en-US" smtClean="0"/>
              <a:t>10</a:t>
            </a:fld>
            <a:endParaRPr kumimoji="1" lang="ja-JP" altLang="en-US"/>
          </a:p>
        </p:txBody>
      </p:sp>
    </p:spTree>
    <p:extLst>
      <p:ext uri="{BB962C8B-B14F-4D97-AF65-F5344CB8AC3E}">
        <p14:creationId xmlns:p14="http://schemas.microsoft.com/office/powerpoint/2010/main" val="35530082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E720E-DA68-EF51-102C-8A8F426BC2A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F3953B-7C5E-F4EE-4A6B-ED8A375555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1937431-13FD-3E05-9A43-DCB7C90B899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2A18B0F-EA65-28D1-0695-DBC0FCD085B9}"/>
              </a:ext>
            </a:extLst>
          </p:cNvPr>
          <p:cNvSpPr>
            <a:spLocks noGrp="1"/>
          </p:cNvSpPr>
          <p:nvPr>
            <p:ph type="sldNum" sz="quarter" idx="10"/>
          </p:nvPr>
        </p:nvSpPr>
        <p:spPr/>
        <p:txBody>
          <a:bodyPr/>
          <a:lstStyle/>
          <a:p>
            <a:fld id="{022E43C0-6795-4B13-B37C-259C826D4B6A}" type="slidenum">
              <a:rPr kumimoji="1" lang="ja-JP" altLang="en-US" smtClean="0"/>
              <a:t>11</a:t>
            </a:fld>
            <a:endParaRPr kumimoji="1" lang="ja-JP" altLang="en-US"/>
          </a:p>
        </p:txBody>
      </p:sp>
    </p:spTree>
    <p:extLst>
      <p:ext uri="{BB962C8B-B14F-4D97-AF65-F5344CB8AC3E}">
        <p14:creationId xmlns:p14="http://schemas.microsoft.com/office/powerpoint/2010/main" val="5089330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13</a:t>
            </a:fld>
            <a:endParaRPr kumimoji="1" lang="ja-JP" altLang="en-US"/>
          </a:p>
        </p:txBody>
      </p:sp>
    </p:spTree>
    <p:extLst>
      <p:ext uri="{BB962C8B-B14F-4D97-AF65-F5344CB8AC3E}">
        <p14:creationId xmlns:p14="http://schemas.microsoft.com/office/powerpoint/2010/main" val="18865823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3B6B0-6587-3186-12B6-A952A7A5D12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BB0FD4-EC87-837C-B6C4-420DF35669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0D00E3-9072-6B26-2C54-100B09DEBA1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F5CD577-5D30-A22F-CC79-63E4DE657085}"/>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32093741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192C0-1B1B-AD3F-B0C2-F33DAD8A2D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33AE9E-C7C9-D146-DD36-5849B111FD7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58A3C9A-42D2-B5D7-5F81-0F1CAB8FD4B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1D8EFF-3CFC-7207-CD2B-A2DC20DEDF1D}"/>
              </a:ext>
            </a:extLst>
          </p:cNvPr>
          <p:cNvSpPr>
            <a:spLocks noGrp="1"/>
          </p:cNvSpPr>
          <p:nvPr>
            <p:ph type="sldNum" sz="quarter" idx="10"/>
          </p:nvPr>
        </p:nvSpPr>
        <p:spPr/>
        <p:txBody>
          <a:bodyPr/>
          <a:lstStyle/>
          <a:p>
            <a:fld id="{022E43C0-6795-4B13-B37C-259C826D4B6A}" type="slidenum">
              <a:rPr kumimoji="1" lang="ja-JP" altLang="en-US" smtClean="0"/>
              <a:t>19</a:t>
            </a:fld>
            <a:endParaRPr kumimoji="1" lang="ja-JP" altLang="en-US"/>
          </a:p>
        </p:txBody>
      </p:sp>
    </p:spTree>
    <p:extLst>
      <p:ext uri="{BB962C8B-B14F-4D97-AF65-F5344CB8AC3E}">
        <p14:creationId xmlns:p14="http://schemas.microsoft.com/office/powerpoint/2010/main" val="33123719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E0D83-D1C7-371D-612C-5E2B8A2DC5D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24F9AF6-8FF2-E4BE-9495-E434005E973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C3C1C0-5C88-C938-5991-AFEF7FA0B54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6B98213-D486-73D4-8B33-4E68F0DB5A42}"/>
              </a:ext>
            </a:extLst>
          </p:cNvPr>
          <p:cNvSpPr>
            <a:spLocks noGrp="1"/>
          </p:cNvSpPr>
          <p:nvPr>
            <p:ph type="sldNum" sz="quarter" idx="10"/>
          </p:nvPr>
        </p:nvSpPr>
        <p:spPr/>
        <p:txBody>
          <a:bodyPr/>
          <a:lstStyle/>
          <a:p>
            <a:fld id="{022E43C0-6795-4B13-B37C-259C826D4B6A}" type="slidenum">
              <a:rPr kumimoji="1" lang="ja-JP" altLang="en-US" smtClean="0"/>
              <a:t>20</a:t>
            </a:fld>
            <a:endParaRPr kumimoji="1" lang="ja-JP" altLang="en-US"/>
          </a:p>
        </p:txBody>
      </p:sp>
    </p:spTree>
    <p:extLst>
      <p:ext uri="{BB962C8B-B14F-4D97-AF65-F5344CB8AC3E}">
        <p14:creationId xmlns:p14="http://schemas.microsoft.com/office/powerpoint/2010/main" val="8092732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D4971-08F2-4B39-6251-91FF17C71A5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A3A369-82C3-3BA3-1453-124787BB830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D260C15-0FB7-94D9-5A66-FACADA45FA2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F967B2E-769F-AAB3-0187-A5DBA3C1F9EE}"/>
              </a:ext>
            </a:extLst>
          </p:cNvPr>
          <p:cNvSpPr>
            <a:spLocks noGrp="1"/>
          </p:cNvSpPr>
          <p:nvPr>
            <p:ph type="sldNum" sz="quarter" idx="10"/>
          </p:nvPr>
        </p:nvSpPr>
        <p:spPr/>
        <p:txBody>
          <a:bodyPr/>
          <a:lstStyle/>
          <a:p>
            <a:fld id="{022E43C0-6795-4B13-B37C-259C826D4B6A}" type="slidenum">
              <a:rPr kumimoji="1" lang="ja-JP" altLang="en-US" smtClean="0"/>
              <a:t>21</a:t>
            </a:fld>
            <a:endParaRPr kumimoji="1" lang="ja-JP" altLang="en-US"/>
          </a:p>
        </p:txBody>
      </p:sp>
    </p:spTree>
    <p:extLst>
      <p:ext uri="{BB962C8B-B14F-4D97-AF65-F5344CB8AC3E}">
        <p14:creationId xmlns:p14="http://schemas.microsoft.com/office/powerpoint/2010/main" val="6557338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8EC97-39D9-E5D0-9E35-FF17E8EF288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5F0D4AD-6A7D-C0A6-AF78-D64A5A03BC0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89205B9-3B2F-6D1D-76E7-8AEC50707A8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A59932D-C299-8379-9E3A-2A2E77C4AB13}"/>
              </a:ext>
            </a:extLst>
          </p:cNvPr>
          <p:cNvSpPr>
            <a:spLocks noGrp="1"/>
          </p:cNvSpPr>
          <p:nvPr>
            <p:ph type="sldNum" sz="quarter" idx="10"/>
          </p:nvPr>
        </p:nvSpPr>
        <p:spPr/>
        <p:txBody>
          <a:bodyPr/>
          <a:lstStyle/>
          <a:p>
            <a:fld id="{022E43C0-6795-4B13-B37C-259C826D4B6A}" type="slidenum">
              <a:rPr kumimoji="1" lang="ja-JP" altLang="en-US" smtClean="0"/>
              <a:t>22</a:t>
            </a:fld>
            <a:endParaRPr kumimoji="1" lang="ja-JP" altLang="en-US"/>
          </a:p>
        </p:txBody>
      </p:sp>
    </p:spTree>
    <p:extLst>
      <p:ext uri="{BB962C8B-B14F-4D97-AF65-F5344CB8AC3E}">
        <p14:creationId xmlns:p14="http://schemas.microsoft.com/office/powerpoint/2010/main" val="26422842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0DA80-4FFC-BE6A-0F8C-9D3C51A14AD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3592DA-D539-E02E-8A31-2B4B05FAC6D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BA2163B-5447-527F-4607-2F8C469E7B2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0AEB180-59BA-CD0E-B3CD-681F6E4331A8}"/>
              </a:ext>
            </a:extLst>
          </p:cNvPr>
          <p:cNvSpPr>
            <a:spLocks noGrp="1"/>
          </p:cNvSpPr>
          <p:nvPr>
            <p:ph type="sldNum" sz="quarter" idx="10"/>
          </p:nvPr>
        </p:nvSpPr>
        <p:spPr/>
        <p:txBody>
          <a:bodyPr/>
          <a:lstStyle/>
          <a:p>
            <a:fld id="{022E43C0-6795-4B13-B37C-259C826D4B6A}" type="slidenum">
              <a:rPr kumimoji="1" lang="ja-JP" altLang="en-US" smtClean="0"/>
              <a:t>23</a:t>
            </a:fld>
            <a:endParaRPr kumimoji="1" lang="ja-JP" altLang="en-US"/>
          </a:p>
        </p:txBody>
      </p:sp>
    </p:spTree>
    <p:extLst>
      <p:ext uri="{BB962C8B-B14F-4D97-AF65-F5344CB8AC3E}">
        <p14:creationId xmlns:p14="http://schemas.microsoft.com/office/powerpoint/2010/main" val="2626540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D34F8-D5DE-5179-FB63-ACF6B24F946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8ED13EE-96CF-E04C-89AF-5315DD6E5C8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9A78F30-2C87-75E8-2A08-D40FBB1058E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0E083C2-6F16-0966-8829-EE2A75C429A5}"/>
              </a:ext>
            </a:extLst>
          </p:cNvPr>
          <p:cNvSpPr>
            <a:spLocks noGrp="1"/>
          </p:cNvSpPr>
          <p:nvPr>
            <p:ph type="sldNum" sz="quarter" idx="10"/>
          </p:nvPr>
        </p:nvSpPr>
        <p:spPr/>
        <p:txBody>
          <a:bodyPr/>
          <a:lstStyle/>
          <a:p>
            <a:fld id="{022E43C0-6795-4B13-B37C-259C826D4B6A}" type="slidenum">
              <a:rPr kumimoji="1" lang="ja-JP" altLang="en-US" smtClean="0"/>
              <a:t>24</a:t>
            </a:fld>
            <a:endParaRPr kumimoji="1" lang="ja-JP" altLang="en-US"/>
          </a:p>
        </p:txBody>
      </p:sp>
    </p:spTree>
    <p:extLst>
      <p:ext uri="{BB962C8B-B14F-4D97-AF65-F5344CB8AC3E}">
        <p14:creationId xmlns:p14="http://schemas.microsoft.com/office/powerpoint/2010/main" val="37225346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6C9A2-E4AC-C61B-66CE-46E597D4701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41A5492-F3BD-D4EC-3E43-F8324C031E8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425DF75-FC25-81EF-5110-9702A79930C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D426DDF-F568-D18F-F35E-DAF91882FDC6}"/>
              </a:ext>
            </a:extLst>
          </p:cNvPr>
          <p:cNvSpPr>
            <a:spLocks noGrp="1"/>
          </p:cNvSpPr>
          <p:nvPr>
            <p:ph type="sldNum" sz="quarter" idx="10"/>
          </p:nvPr>
        </p:nvSpPr>
        <p:spPr/>
        <p:txBody>
          <a:bodyPr/>
          <a:lstStyle/>
          <a:p>
            <a:fld id="{022E43C0-6795-4B13-B37C-259C826D4B6A}" type="slidenum">
              <a:rPr kumimoji="1" lang="ja-JP" altLang="en-US" smtClean="0"/>
              <a:t>25</a:t>
            </a:fld>
            <a:endParaRPr kumimoji="1" lang="ja-JP" altLang="en-US"/>
          </a:p>
        </p:txBody>
      </p:sp>
    </p:spTree>
    <p:extLst>
      <p:ext uri="{BB962C8B-B14F-4D97-AF65-F5344CB8AC3E}">
        <p14:creationId xmlns:p14="http://schemas.microsoft.com/office/powerpoint/2010/main" val="16523354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87073-46E4-97E2-AA29-34C04E4216C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716C4E1-C336-7022-85BD-D0261416B80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2802BD2-A4F7-3ACB-C314-CC3BD50FC0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5C9B1FE-F22D-0B70-94D0-AC959C46242D}"/>
              </a:ext>
            </a:extLst>
          </p:cNvPr>
          <p:cNvSpPr>
            <a:spLocks noGrp="1"/>
          </p:cNvSpPr>
          <p:nvPr>
            <p:ph type="sldNum" sz="quarter" idx="10"/>
          </p:nvPr>
        </p:nvSpPr>
        <p:spPr/>
        <p:txBody>
          <a:bodyPr/>
          <a:lstStyle/>
          <a:p>
            <a:fld id="{022E43C0-6795-4B13-B37C-259C826D4B6A}" type="slidenum">
              <a:rPr kumimoji="1" lang="ja-JP" altLang="en-US" smtClean="0"/>
              <a:t>26</a:t>
            </a:fld>
            <a:endParaRPr kumimoji="1" lang="ja-JP" altLang="en-US"/>
          </a:p>
        </p:txBody>
      </p:sp>
    </p:spTree>
    <p:extLst>
      <p:ext uri="{BB962C8B-B14F-4D97-AF65-F5344CB8AC3E}">
        <p14:creationId xmlns:p14="http://schemas.microsoft.com/office/powerpoint/2010/main" val="28889650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42</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43</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44</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45</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48</a:t>
            </a:fld>
            <a:endParaRPr kumimoji="1" lang="ja-JP" altLang="en-US"/>
          </a:p>
        </p:txBody>
      </p:sp>
    </p:spTree>
    <p:extLst>
      <p:ext uri="{BB962C8B-B14F-4D97-AF65-F5344CB8AC3E}">
        <p14:creationId xmlns:p14="http://schemas.microsoft.com/office/powerpoint/2010/main" val="2479538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49</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50</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51</a:t>
            </a:fld>
            <a:endParaRPr kumimoji="1" lang="ja-JP" altLang="en-US"/>
          </a:p>
        </p:txBody>
      </p:sp>
    </p:spTree>
    <p:extLst>
      <p:ext uri="{BB962C8B-B14F-4D97-AF65-F5344CB8AC3E}">
        <p14:creationId xmlns:p14="http://schemas.microsoft.com/office/powerpoint/2010/main" val="11014053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53</a:t>
            </a:fld>
            <a:endParaRPr kumimoji="1" lang="ja-JP" altLang="en-US"/>
          </a:p>
        </p:txBody>
      </p:sp>
    </p:spTree>
    <p:extLst>
      <p:ext uri="{BB962C8B-B14F-4D97-AF65-F5344CB8AC3E}">
        <p14:creationId xmlns:p14="http://schemas.microsoft.com/office/powerpoint/2010/main" val="23902344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64</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7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6.jpg"/><Relationship Id="rId3" Type="http://schemas.openxmlformats.org/officeDocument/2006/relationships/image" Target="../media/image77.jp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5.png"/><Relationship Id="rId7" Type="http://schemas.openxmlformats.org/officeDocument/2006/relationships/image" Target="../media/image23.jpeg"/><Relationship Id="rId8" Type="http://schemas.openxmlformats.org/officeDocument/2006/relationships/image" Target="../media/image78.jpg"/><Relationship Id="rId9" Type="http://schemas.openxmlformats.org/officeDocument/2006/relationships/image" Target="../media/image24.png"/><Relationship Id="rId10" Type="http://schemas.openxmlformats.org/officeDocument/2006/relationships/image" Target="../media/image79.png"/><Relationship Id="rId11" Type="http://schemas.openxmlformats.org/officeDocument/2006/relationships/hyperlink" Target="https://youtube.com/shorts/0qI4QgrOppQ"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image" Target="../media/image38.png"/><Relationship Id="rId8" Type="http://schemas.openxmlformats.org/officeDocument/2006/relationships/image" Target="../media/image39.png"/><Relationship Id="rId9" Type="http://schemas.openxmlformats.org/officeDocument/2006/relationships/image" Target="../media/image40.png"/><Relationship Id="rId10" Type="http://schemas.openxmlformats.org/officeDocument/2006/relationships/image" Target="../media/image4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2.png"/><Relationship Id="rId4" Type="http://schemas.openxmlformats.org/officeDocument/2006/relationships/image" Target="../media/image4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image" Target="../media/image48.svg"/><Relationship Id="rId8" Type="http://schemas.openxmlformats.org/officeDocument/2006/relationships/image" Target="../media/image4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50.svg"/><Relationship Id="rId4" Type="http://schemas.openxmlformats.org/officeDocument/2006/relationships/image" Target="../media/image51.svg"/><Relationship Id="rId5" Type="http://schemas.openxmlformats.org/officeDocument/2006/relationships/image" Target="../media/image52.svg"/><Relationship Id="rId6" Type="http://schemas.openxmlformats.org/officeDocument/2006/relationships/image" Target="../media/image53.sv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0.png"/><Relationship Id="rId3" Type="http://schemas.openxmlformats.org/officeDocument/2006/relationships/image" Target="../media/image61.png"/><Relationship Id="rId4" Type="http://schemas.openxmlformats.org/officeDocument/2006/relationships/image" Target="../media/image6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6.png"/><Relationship Id="rId3" Type="http://schemas.openxmlformats.org/officeDocument/2006/relationships/image" Target="../media/image67.png"/><Relationship Id="rId4" Type="http://schemas.openxmlformats.org/officeDocument/2006/relationships/image" Target="../media/image6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emf"/><Relationship Id="rId4" Type="http://schemas.openxmlformats.org/officeDocument/2006/relationships/image" Target="../media/image69.jpeg"/><Relationship Id="rId5" Type="http://schemas.openxmlformats.org/officeDocument/2006/relationships/image" Target="../media/image70.jpeg"/><Relationship Id="rId6" Type="http://schemas.openxmlformats.org/officeDocument/2006/relationships/image" Target="../media/image71.jpeg"/><Relationship Id="rId7" Type="http://schemas.openxmlformats.org/officeDocument/2006/relationships/image" Target="../media/image72.jpeg"/><Relationship Id="rId8" Type="http://schemas.openxmlformats.org/officeDocument/2006/relationships/image" Target="../media/image7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331720"/>
            <a:ext cx="6626632" cy="658368"/>
          </a:xfrm>
          <a:prstGeom prst="rect">
            <a:avLst/>
          </a:prstGeom>
        </p:spPr>
        <p:txBody>
          <a:bodyPr wrap="square">
            <a:spAutoFit/>
          </a:bodyPr>
          <a:lstStyle/>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広告で集めた方をLINEでナーチャリングをし、</a:t>
            </a:r>
          </a:p>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セミナー参加・入会へ</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A461DC58-6517-316F-E5FE-0F7AB1043C43}"/>
              </a:ext>
            </a:extLst>
          </p:cNvPr>
          <p:cNvSpPr txBox="1"/>
          <p:nvPr/>
        </p:nvSpPr>
        <p:spPr>
          <a:xfrm>
            <a:off x="365759" y="216290"/>
            <a:ext cx="5233851" cy="338554"/>
          </a:xfrm>
          <a:prstGeom prst="rect">
            <a:avLst/>
          </a:prstGeom>
          <a:noFill/>
        </p:spPr>
        <p:txBody>
          <a:bodyPr wrap="square">
            <a:spAutoFit/>
          </a:bodyPr>
          <a:lstStyle/>
          <a:p>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株式会社すなおコンサルティング 御中</a:t>
            </a:r>
            <a:endParaRPr lang="ja-JP" altLang="en-US" sz="1050" dirty="0">
              <a:latin typeface="メイリオ"/>
              <a:ea typeface="メイリオ"/>
              <a:cs typeface="メイリオ"/>
            </a:endParaRP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A891A-F874-A527-E24E-39C71E4366C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2808841" y="3038203"/>
            <a:ext cx="4288353"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現状ステータスの整理</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631432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9FC28CD-401F-CB33-EA18-1071AD4C7D1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EC0D1AEC-5D54-2359-450D-84430B2857C0}"/>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BE746261-2A92-C9B9-6034-451CF233AB9D}"/>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8948BAF3-ECB9-2FF9-8B0D-50EE1A62E7C4}"/>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12C4F8BA-6552-4B16-FBC5-C62D2917BFE8}"/>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BD16F021-165B-ADE2-A377-D74CBC854B23}"/>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B116237D-8580-3F61-2B2F-766C3CCF8BF6}"/>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55D1671E-E029-A7B0-F0FE-5B3AEA581FA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9C9A66C9-6F0C-720F-D33F-5A677E31CE5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E0FFD56C-A8BF-1D7F-B9F0-7A4C2CF517A7}"/>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8" name="正方形/長方形 27">
            <a:extLst>
              <a:ext uri="{FF2B5EF4-FFF2-40B4-BE49-F238E27FC236}">
                <a16:creationId xmlns:a16="http://schemas.microsoft.com/office/drawing/2014/main" id="{985D0F3D-E958-2764-0030-33A43FBBB844}"/>
              </a:ext>
            </a:extLst>
          </p:cNvPr>
          <p:cNvSpPr/>
          <p:nvPr/>
        </p:nvSpPr>
        <p:spPr>
          <a:xfrm>
            <a:off x="377495" y="3168907"/>
            <a:ext cx="9425943" cy="12803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62DFAD71-5EA4-2410-A3B7-8926C38B8C15}"/>
              </a:ext>
            </a:extLst>
          </p:cNvPr>
          <p:cNvSpPr txBox="1"/>
          <p:nvPr/>
        </p:nvSpPr>
        <p:spPr>
          <a:xfrm>
            <a:off x="3136470" y="3386385"/>
            <a:ext cx="1868110"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セミナー予約</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テキスト ボックス 35">
            <a:extLst>
              <a:ext uri="{FF2B5EF4-FFF2-40B4-BE49-F238E27FC236}">
                <a16:creationId xmlns:a16="http://schemas.microsoft.com/office/drawing/2014/main" id="{38132008-D8F9-19F3-2653-AEF9F6C09DC2}"/>
              </a:ext>
            </a:extLst>
          </p:cNvPr>
          <p:cNvSpPr txBox="1"/>
          <p:nvPr/>
        </p:nvSpPr>
        <p:spPr>
          <a:xfrm>
            <a:off x="6119414" y="3941570"/>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8" name="テキスト ボックス 37">
            <a:extLst>
              <a:ext uri="{FF2B5EF4-FFF2-40B4-BE49-F238E27FC236}">
                <a16:creationId xmlns:a16="http://schemas.microsoft.com/office/drawing/2014/main" id="{8423A7FD-A6C6-EFD2-582C-90B8E121BC79}"/>
              </a:ext>
            </a:extLst>
          </p:cNvPr>
          <p:cNvSpPr txBox="1"/>
          <p:nvPr/>
        </p:nvSpPr>
        <p:spPr>
          <a:xfrm>
            <a:off x="330435" y="3170605"/>
            <a:ext cx="2157994" cy="253916"/>
          </a:xfrm>
          <a:prstGeom prst="rect">
            <a:avLst/>
          </a:prstGeom>
          <a:no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メイリオ"/>
              </a:rPr>
              <a:t>&lt;</a:t>
            </a:r>
            <a:r>
              <a:rPr lang="ja-JP" altLang="en-US" sz="1050" b="1" dirty="0">
                <a:latin typeface="メイリオ" panose="020B0604030504040204" pitchFamily="50" charset="-128"/>
                <a:ea typeface="メイリオ" panose="020B0604030504040204" pitchFamily="50" charset="-128"/>
                <a:cs typeface="メイリオ"/>
              </a:rPr>
              <a:t>貴社のユーザー動線イメージ</a:t>
            </a:r>
            <a:r>
              <a:rPr lang="en-US" altLang="ja-JP" sz="1050" b="1" dirty="0">
                <a:latin typeface="メイリオ" panose="020B0604030504040204" pitchFamily="50" charset="-128"/>
                <a:ea typeface="メイリオ" panose="020B0604030504040204" pitchFamily="50" charset="-128"/>
                <a:cs typeface="メイリオ"/>
              </a:rPr>
              <a:t>&gt;</a:t>
            </a:r>
            <a:endParaRPr lang="ja-JP" altLang="en-US" sz="1050" b="1" dirty="0">
              <a:latin typeface="メイリオ" panose="020B0604030504040204" pitchFamily="50" charset="-128"/>
              <a:ea typeface="メイリオ" panose="020B0604030504040204" pitchFamily="50" charset="-128"/>
              <a:cs typeface="メイリオ"/>
            </a:endParaRPr>
          </a:p>
        </p:txBody>
      </p:sp>
      <p:sp>
        <p:nvSpPr>
          <p:cNvPr id="24" name="テキスト ボックス 23">
            <a:extLst>
              <a:ext uri="{FF2B5EF4-FFF2-40B4-BE49-F238E27FC236}">
                <a16:creationId xmlns:a16="http://schemas.microsoft.com/office/drawing/2014/main" id="{86D765FE-5D14-B727-20F8-7C773D684C03}"/>
              </a:ext>
            </a:extLst>
          </p:cNvPr>
          <p:cNvSpPr txBox="1"/>
          <p:nvPr/>
        </p:nvSpPr>
        <p:spPr>
          <a:xfrm>
            <a:off x="3542137" y="3670478"/>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セミナー参加</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9" name="テキスト ボックス 18">
            <a:extLst>
              <a:ext uri="{FF2B5EF4-FFF2-40B4-BE49-F238E27FC236}">
                <a16:creationId xmlns:a16="http://schemas.microsoft.com/office/drawing/2014/main" id="{54872F58-9C7B-BF3F-8FD6-90758592757B}"/>
              </a:ext>
            </a:extLst>
          </p:cNvPr>
          <p:cNvSpPr txBox="1"/>
          <p:nvPr/>
        </p:nvSpPr>
        <p:spPr>
          <a:xfrm>
            <a:off x="7408050" y="2633400"/>
            <a:ext cx="2352196" cy="4001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71A37862-DC0D-FFB9-A4C0-DFCD839440E7}"/>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23" name="テキスト ボックス 22">
            <a:extLst>
              <a:ext uri="{FF2B5EF4-FFF2-40B4-BE49-F238E27FC236}">
                <a16:creationId xmlns:a16="http://schemas.microsoft.com/office/drawing/2014/main" id="{687CD251-15DA-69B7-5940-0B47AE7838C7}"/>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広告からサロン入会まで8フェーズの動線を可視化し、各フェーズで発生する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離脱要因とLINE施策の打ち手を整理する。</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0" name="正方形/長方形 9">
            <a:extLst>
              <a:ext uri="{FF2B5EF4-FFF2-40B4-BE49-F238E27FC236}">
                <a16:creationId xmlns:a16="http://schemas.microsoft.com/office/drawing/2014/main" id="{BC3DB233-2109-75A0-E58B-5975C2C6368D}"/>
              </a:ext>
            </a:extLst>
          </p:cNvPr>
          <p:cNvSpPr/>
          <p:nvPr/>
        </p:nvSpPr>
        <p:spPr>
          <a:xfrm>
            <a:off x="377494" y="4506549"/>
            <a:ext cx="9425943" cy="1842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200" dirty="0">
                <a:solidFill>
                  <a:schemeClr val="tx1"/>
                </a:solidFill>
                <a:latin typeface="メイリオ" panose="020B0604030504040204" pitchFamily="50" charset="-128"/>
                <a:ea typeface="メイリオ" panose="020B0604030504040204" pitchFamily="50" charset="-128"/>
                <a:cs typeface="メイリオ"/>
              </a:rPr>
              <a:t>・またサービス特性として、</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kumimoji="1" lang="en-US" altLang="ja-JP" sz="6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【対象は保険営業の方】</a:t>
            </a:r>
            <a:r>
              <a:rPr lang="ja-JP" altLang="en-US" sz="1200" dirty="0">
                <a:solidFill>
                  <a:schemeClr val="tx1"/>
                </a:solidFill>
                <a:latin typeface="メイリオ" panose="020B0604030504040204" pitchFamily="50" charset="-128"/>
                <a:ea typeface="メイリオ" panose="020B0604030504040204" pitchFamily="50" charset="-128"/>
                <a:cs typeface="メイリオ"/>
              </a:rPr>
              <a:t>： 一般の方向けではなく、保険営業の方の営業力向上を目的としたセミナー・サロン</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【セミナーは無料・オンライン】</a:t>
            </a:r>
            <a:r>
              <a:rPr lang="ja-JP" altLang="en-US" sz="1200" dirty="0">
                <a:solidFill>
                  <a:schemeClr val="tx1"/>
                </a:solidFill>
                <a:latin typeface="メイリオ" panose="020B0604030504040204" pitchFamily="50" charset="-128"/>
                <a:ea typeface="メイリオ" panose="020B0604030504040204" pitchFamily="50" charset="-128"/>
                <a:cs typeface="メイリオ"/>
              </a:rPr>
              <a:t>： セミナー参加の段階では費用の不安は小さく、金額の判断はサロン入会の段階</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【イベントは年4回】</a:t>
            </a:r>
            <a:r>
              <a:rPr lang="ja-JP" altLang="en-US" sz="1200" dirty="0">
                <a:solidFill>
                  <a:schemeClr val="tx1"/>
                </a:solidFill>
                <a:latin typeface="メイリオ" panose="020B0604030504040204" pitchFamily="50" charset="-128"/>
                <a:ea typeface="メイリオ" panose="020B0604030504040204" pitchFamily="50" charset="-128"/>
                <a:cs typeface="メイリオ"/>
              </a:rPr>
              <a:t>： イベントとイベントの間の時期は、集めた方との接点が切れやすい</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600"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solidFill>
                <a:latin typeface="メイリオ" panose="020B0604030504040204" pitchFamily="50" charset="-128"/>
                <a:ea typeface="メイリオ" panose="020B0604030504040204" pitchFamily="50" charset="-128"/>
                <a:cs typeface="メイリオ"/>
              </a:rPr>
              <a:t>・貴社サービスとして</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【広告で、1回のイベントで81件のセミナー予約を集めている】</a:t>
            </a: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【セミナーの参加後に、サロンの入会を案内できる】</a:t>
            </a: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solidFill>
                <a:latin typeface="メイリオ" panose="020B0604030504040204" pitchFamily="50" charset="-128"/>
                <a:ea typeface="メイリオ" panose="020B0604030504040204" pitchFamily="50" charset="-128"/>
                <a:cs typeface="メイリオ"/>
              </a:rPr>
              <a:t>という強みを持っており、</a:t>
            </a:r>
            <a:r>
              <a:rPr lang="ja-JP" altLang="en-US" sz="1200" b="1" dirty="0">
                <a:solidFill>
                  <a:srgbClr val="1F2A5C"/>
                </a:solidFill>
                <a:latin typeface="メイリオ" panose="020B0604030504040204" pitchFamily="50" charset="-128"/>
                <a:ea typeface="メイリオ" panose="020B0604030504040204" pitchFamily="50" charset="-128"/>
                <a:cs typeface="メイリオ"/>
              </a:rPr>
              <a:t>集めた方と、次のイベント・入会まで接点を持ち続けること</a:t>
            </a:r>
            <a:r>
              <a:rPr lang="ja-JP" altLang="en-US" sz="1200" dirty="0">
                <a:solidFill>
                  <a:schemeClr val="tx1"/>
                </a:solidFill>
                <a:latin typeface="メイリオ" panose="020B0604030504040204" pitchFamily="50" charset="-128"/>
                <a:ea typeface="メイリオ" panose="020B0604030504040204" pitchFamily="50" charset="-128"/>
                <a:cs typeface="メイリオ"/>
              </a:rPr>
              <a:t>はメリットにつながる想定。</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715909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642A8-3E67-5B74-44A3-2319A4429A9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672B0F-F237-F0AD-0406-3F0B4D8374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6E4BBB3A-0D38-BEFA-41CE-475A3AD94E4B}"/>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F6061EA3-81DF-F127-35ED-8E76CB9BA87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4DFF8E60-181C-F552-91AA-8D421878A5E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C90C3361-4E73-2E37-B42D-7BEC4ACEF81B}"/>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FFD30C49-34B0-02C4-AF70-B2CDE69444A5}"/>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48603E9D-0741-5356-E71D-C1FC418F0477}"/>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5510780C-7296-C3F4-8C4C-3E6051AD3A79}"/>
              </a:ext>
            </a:extLst>
          </p:cNvPr>
          <p:cNvSpPr txBox="1"/>
          <p:nvPr/>
        </p:nvSpPr>
        <p:spPr>
          <a:xfrm>
            <a:off x="7408050" y="2633400"/>
            <a:ext cx="2352196" cy="400110"/>
          </a:xfrm>
          <a:prstGeom prst="rect">
            <a:avLst/>
          </a:prstGeom>
          <a:solidFill>
            <a:schemeClr val="bg1">
              <a:lumMod val="65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22893D84-2009-2D10-A58D-4D15D44E30A4}"/>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11" name="テキスト ボックス 10">
            <a:extLst>
              <a:ext uri="{FF2B5EF4-FFF2-40B4-BE49-F238E27FC236}">
                <a16:creationId xmlns:a16="http://schemas.microsoft.com/office/drawing/2014/main" id="{23C7633E-5748-2D3A-84BA-79804E06BD11}"/>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0FF28B09-D075-F525-81E8-9E46FD2E18CC}"/>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16BD59AA-351D-314F-6C74-5744411BB09A}"/>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7CD2930D-6317-C65A-EBFA-3A24A7BB98EE}"/>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FB4E9283-AFFE-D736-E74D-1988664432CA}"/>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A823DE0C-5E87-D9B3-1B01-A8A108957A34}"/>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F10F5A5D-3ADF-7E9F-1184-B3E6D3B235ED}"/>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graphicFrame>
        <p:nvGraphicFramePr>
          <p:cNvPr id="18" name="Table 2">
            <a:extLst>
              <a:ext uri="{FF2B5EF4-FFF2-40B4-BE49-F238E27FC236}">
                <a16:creationId xmlns:a16="http://schemas.microsoft.com/office/drawing/2014/main" id="{89845608-F0C2-67EC-D03E-3B68C6BD5068}"/>
              </a:ext>
            </a:extLst>
          </p:cNvPr>
          <p:cNvGraphicFramePr>
            <a:graphicFrameLocks noGrp="1"/>
          </p:cNvGraphicFramePr>
          <p:nvPr>
            <p:extLst>
              <p:ext uri="{D42A27DB-BD31-4B8C-83A1-F6EECF244321}">
                <p14:modId xmlns:p14="http://schemas.microsoft.com/office/powerpoint/2010/main" val="3163375250"/>
              </p:ext>
            </p:extLst>
          </p:nvPr>
        </p:nvGraphicFramePr>
        <p:xfrm>
          <a:off x="384048" y="3200400"/>
          <a:ext cx="9381744" cy="2962656"/>
        </p:xfrm>
        <a:graphic>
          <a:graphicData uri="http://schemas.openxmlformats.org/drawingml/2006/table">
            <a:tbl>
              <a:tblPr firstRow="1" bandRow="1">
                <a:tableStyleId>{5C22544A-7EE6-4342-B048-85BDC9FD1C3A}</a:tableStyleId>
              </a:tblPr>
              <a:tblGrid>
                <a:gridCol w="1783080">
                  <a:extLst>
                    <a:ext uri="{9D8B030D-6E8A-4147-A177-3AD203B41FA5}">
                      <a16:colId xmlns:a16="http://schemas.microsoft.com/office/drawing/2014/main" val="20000"/>
                    </a:ext>
                  </a:extLst>
                </a:gridCol>
                <a:gridCol w="2532888">
                  <a:extLst>
                    <a:ext uri="{9D8B030D-6E8A-4147-A177-3AD203B41FA5}">
                      <a16:colId xmlns:a16="http://schemas.microsoft.com/office/drawing/2014/main" val="20001"/>
                    </a:ext>
                  </a:extLst>
                </a:gridCol>
                <a:gridCol w="2532888">
                  <a:extLst>
                    <a:ext uri="{9D8B030D-6E8A-4147-A177-3AD203B41FA5}">
                      <a16:colId xmlns:a16="http://schemas.microsoft.com/office/drawing/2014/main" val="20002"/>
                    </a:ext>
                  </a:extLst>
                </a:gridCol>
                <a:gridCol w="2532888">
                  <a:extLst>
                    <a:ext uri="{9D8B030D-6E8A-4147-A177-3AD203B41FA5}">
                      <a16:colId xmlns:a16="http://schemas.microsoft.com/office/drawing/2014/main" val="20003"/>
                    </a:ext>
                  </a:extLst>
                </a:gridCol>
              </a:tblGrid>
              <a:tr h="329184">
                <a:tc>
                  <a:txBody>
                    <a:bodyPr/>
                    <a:lstStyle/>
                    <a:p>
                      <a:pPr algn="ctr"/>
                      <a:r>
                        <a:rPr lang="ja-JP" sz="1200" b="1">
                          <a:solidFill>
                            <a:srgbClr val="FFFFFF"/>
                          </a:solidFill>
                          <a:latin typeface="メイリオ"/>
                          <a:ea typeface="メイリオ"/>
                          <a:cs typeface="メイリオ"/>
                        </a:rPr>
                        <a:t>フェーズ</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ユーザー状態・心理</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離脱・停滞の課題</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LINE OAの役割・施策</a:t>
                      </a:r>
                    </a:p>
                  </a:txBody>
                  <a:tcPr marR="73152" anchor="ctr">
                    <a:solidFill>
                      <a:srgbClr val="1F2A5C"/>
                    </a:solidFill>
                  </a:tcPr>
                </a:tc>
                <a:extLst>
                  <a:ext uri="{0D108BD9-81ED-4DB2-BD59-A6C34878D82A}">
                    <a16:rowId xmlns:a16="http://schemas.microsoft.com/office/drawing/2014/main" val="10000"/>
                  </a:ext>
                </a:extLst>
              </a:tr>
              <a:tr h="329184">
                <a:tc>
                  <a:txBody>
                    <a:bodyPr/>
                    <a:lstStyle/>
                    <a:p>
                      <a:pPr algn="l"/>
                      <a:r>
                        <a:rPr lang="ja-JP" sz="1200" b="1">
                          <a:solidFill>
                            <a:srgbClr val="1F2A5C"/>
                          </a:solidFill>
                          <a:latin typeface="メイリオ"/>
                          <a:ea typeface="メイリオ"/>
                          <a:cs typeface="メイリオ"/>
                        </a:rPr>
                        <a:t>① 接触</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営業力を上げたい・情報収集中</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日程が合わず、申し込まない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離脱防止ポップアップを表示</a:t>
                      </a:r>
                    </a:p>
                  </a:txBody>
                  <a:tcPr marR="73152" anchor="ctr">
                    <a:solidFill>
                      <a:srgbClr val="FFFFFF"/>
                    </a:solidFill>
                  </a:tcPr>
                </a:tc>
                <a:extLst>
                  <a:ext uri="{0D108BD9-81ED-4DB2-BD59-A6C34878D82A}">
                    <a16:rowId xmlns:a16="http://schemas.microsoft.com/office/drawing/2014/main" val="10001"/>
                  </a:ext>
                </a:extLst>
              </a:tr>
              <a:tr h="329184">
                <a:tc>
                  <a:txBody>
                    <a:bodyPr/>
                    <a:lstStyle/>
                    <a:p>
                      <a:pPr algn="l"/>
                      <a:r>
                        <a:rPr lang="ja-JP" sz="1200" b="1">
                          <a:solidFill>
                            <a:srgbClr val="1F2A5C"/>
                          </a:solidFill>
                          <a:latin typeface="メイリオ"/>
                          <a:ea typeface="メイリオ"/>
                          <a:cs typeface="メイリオ"/>
                        </a:rPr>
                        <a:t>② サイト離脱</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今回は申し込まない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次の案内を届ける手段が無い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ポップアップからLINE友だち化</a:t>
                      </a:r>
                    </a:p>
                  </a:txBody>
                  <a:tcPr marR="73152" anchor="ctr">
                    <a:solidFill>
                      <a:srgbClr val="F5F7FA"/>
                    </a:solidFill>
                  </a:tcPr>
                </a:tc>
                <a:extLst>
                  <a:ext uri="{0D108BD9-81ED-4DB2-BD59-A6C34878D82A}">
                    <a16:rowId xmlns:a16="http://schemas.microsoft.com/office/drawing/2014/main" val="10002"/>
                  </a:ext>
                </a:extLst>
              </a:tr>
              <a:tr h="329184">
                <a:tc>
                  <a:txBody>
                    <a:bodyPr/>
                    <a:lstStyle/>
                    <a:p>
                      <a:pPr algn="l"/>
                      <a:r>
                        <a:rPr lang="ja-JP" sz="1200" b="1">
                          <a:solidFill>
                            <a:srgbClr val="1F2A5C"/>
                          </a:solidFill>
                          <a:latin typeface="メイリオ"/>
                          <a:ea typeface="メイリオ"/>
                          <a:cs typeface="メイリオ"/>
                        </a:rPr>
                        <a:t>③ 育成（追加直後）</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どんなセミナーか分からない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中身が見えず、予約に進まない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見どころ・特典をステップ配信</a:t>
                      </a:r>
                    </a:p>
                  </a:txBody>
                  <a:tcPr marR="73152" anchor="ctr">
                    <a:solidFill>
                      <a:srgbClr val="FFFFFF"/>
                    </a:solidFill>
                  </a:tcPr>
                </a:tc>
                <a:extLst>
                  <a:ext uri="{0D108BD9-81ED-4DB2-BD59-A6C34878D82A}">
                    <a16:rowId xmlns:a16="http://schemas.microsoft.com/office/drawing/2014/main" val="10003"/>
                  </a:ext>
                </a:extLst>
              </a:tr>
              <a:tr h="329184">
                <a:tc>
                  <a:txBody>
                    <a:bodyPr/>
                    <a:lstStyle/>
                    <a:p>
                      <a:pPr algn="l"/>
                      <a:r>
                        <a:rPr lang="ja-JP" sz="1200" b="1">
                          <a:solidFill>
                            <a:srgbClr val="1F2A5C"/>
                          </a:solidFill>
                          <a:latin typeface="メイリオ"/>
                          <a:ea typeface="メイリオ"/>
                          <a:cs typeface="メイリオ"/>
                        </a:rPr>
                        <a:t>④ リード獲得</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セミナーを予約した</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日が空き、参加を忘れる</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サンクスLINE誘導・前日の案内</a:t>
                      </a:r>
                    </a:p>
                  </a:txBody>
                  <a:tcPr marR="73152" anchor="ctr">
                    <a:solidFill>
                      <a:srgbClr val="F5F7FA"/>
                    </a:solidFill>
                  </a:tcPr>
                </a:tc>
                <a:extLst>
                  <a:ext uri="{0D108BD9-81ED-4DB2-BD59-A6C34878D82A}">
                    <a16:rowId xmlns:a16="http://schemas.microsoft.com/office/drawing/2014/main" val="10004"/>
                  </a:ext>
                </a:extLst>
              </a:tr>
              <a:tr h="329184">
                <a:tc>
                  <a:txBody>
                    <a:bodyPr/>
                    <a:lstStyle/>
                    <a:p>
                      <a:pPr algn="l"/>
                      <a:r>
                        <a:rPr lang="ja-JP" sz="1200" b="1">
                          <a:solidFill>
                            <a:srgbClr val="1F2A5C"/>
                          </a:solidFill>
                          <a:latin typeface="メイリオ"/>
                          <a:ea typeface="メイリオ"/>
                          <a:cs typeface="メイリオ"/>
                        </a:rPr>
                        <a:t>⑤ リード有効化</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参加して関心が高まっている</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入会を迷ったまま時間が経つ</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参加直後にサロンを案内</a:t>
                      </a:r>
                    </a:p>
                  </a:txBody>
                  <a:tcPr marR="73152" anchor="ctr">
                    <a:solidFill>
                      <a:srgbClr val="FFFFFF"/>
                    </a:solidFill>
                  </a:tcPr>
                </a:tc>
                <a:extLst>
                  <a:ext uri="{0D108BD9-81ED-4DB2-BD59-A6C34878D82A}">
                    <a16:rowId xmlns:a16="http://schemas.microsoft.com/office/drawing/2014/main" val="10005"/>
                  </a:ext>
                </a:extLst>
              </a:tr>
              <a:tr h="329184">
                <a:tc>
                  <a:txBody>
                    <a:bodyPr/>
                    <a:lstStyle/>
                    <a:p>
                      <a:pPr algn="l"/>
                      <a:r>
                        <a:rPr lang="ja-JP" sz="1200" b="1">
                          <a:solidFill>
                            <a:srgbClr val="1F2A5C"/>
                          </a:solidFill>
                          <a:latin typeface="メイリオ"/>
                          <a:ea typeface="メイリオ"/>
                          <a:cs typeface="メイリオ"/>
                        </a:rPr>
                        <a:t>⑥ 再育成</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未入会／予約したが不参加</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次のイベントまで接点が無い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月2回の配信で次のイベントへ</a:t>
                      </a:r>
                    </a:p>
                  </a:txBody>
                  <a:tcPr marR="73152" anchor="ctr">
                    <a:solidFill>
                      <a:srgbClr val="F5F7FA"/>
                    </a:solidFill>
                  </a:tcPr>
                </a:tc>
                <a:extLst>
                  <a:ext uri="{0D108BD9-81ED-4DB2-BD59-A6C34878D82A}">
                    <a16:rowId xmlns:a16="http://schemas.microsoft.com/office/drawing/2014/main" val="10006"/>
                  </a:ext>
                </a:extLst>
              </a:tr>
              <a:tr h="329184">
                <a:tc>
                  <a:txBody>
                    <a:bodyPr/>
                    <a:lstStyle/>
                    <a:p>
                      <a:pPr algn="l"/>
                      <a:r>
                        <a:rPr lang="ja-JP" sz="1200" b="1">
                          <a:solidFill>
                            <a:srgbClr val="1F2A5C"/>
                          </a:solidFill>
                          <a:latin typeface="メイリオ"/>
                          <a:ea typeface="メイリオ"/>
                          <a:cs typeface="メイリオ"/>
                        </a:rPr>
                        <a:t>⑦ マネタイズ</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サロンの入会を検討</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入会後の中身・成果が見えない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入会した方の声を配信</a:t>
                      </a:r>
                    </a:p>
                  </a:txBody>
                  <a:tcPr marR="73152" anchor="ctr">
                    <a:solidFill>
                      <a:srgbClr val="FFFFFF"/>
                    </a:solidFill>
                  </a:tcPr>
                </a:tc>
                <a:extLst>
                  <a:ext uri="{0D108BD9-81ED-4DB2-BD59-A6C34878D82A}">
                    <a16:rowId xmlns:a16="http://schemas.microsoft.com/office/drawing/2014/main" val="10007"/>
                  </a:ext>
                </a:extLst>
              </a:tr>
              <a:tr h="329184">
                <a:tc>
                  <a:txBody>
                    <a:bodyPr/>
                    <a:lstStyle/>
                    <a:p>
                      <a:pPr algn="l"/>
                      <a:r>
                        <a:rPr lang="ja-JP" sz="1200" b="1">
                          <a:solidFill>
                            <a:srgbClr val="1F2A5C"/>
                          </a:solidFill>
                          <a:latin typeface="メイリオ"/>
                          <a:ea typeface="メイリオ"/>
                          <a:cs typeface="メイリオ"/>
                        </a:rPr>
                        <a:t>⑧ ファン化・紹介</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サロンに入会</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次のイベントの案内・紹介</a:t>
                      </a:r>
                    </a:p>
                  </a:txBody>
                  <a:tcPr marR="73152" anchor="ctr">
                    <a:solidFill>
                      <a:srgbClr val="F5F7FA"/>
                    </a:solidFill>
                  </a:tcPr>
                </a:tc>
                <a:extLst>
                  <a:ext uri="{0D108BD9-81ED-4DB2-BD59-A6C34878D82A}">
                    <a16:rowId xmlns:a16="http://schemas.microsoft.com/office/drawing/2014/main" val="10008"/>
                  </a:ext>
                </a:extLst>
              </a:tr>
            </a:tbl>
          </a:graphicData>
        </a:graphic>
      </p:graphicFrame>
      <p:sp>
        <p:nvSpPr>
          <p:cNvPr id="19" name="テキスト ボックス 18">
            <a:extLst>
              <a:ext uri="{FF2B5EF4-FFF2-40B4-BE49-F238E27FC236}">
                <a16:creationId xmlns:a16="http://schemas.microsoft.com/office/drawing/2014/main" id="{66008B0A-0A1F-2AD8-1A0D-BF496D4F453D}"/>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8</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フェーズごとのユーザー心理・離脱課題・</a:t>
            </a: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LINE OA</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の役割を一覧化し、以降の施策設計の土台とする。</a:t>
            </a:r>
            <a:endParaRPr lang="ja-JP" altLang="ja-JP" sz="1100" dirty="0">
              <a:effectLst/>
              <a:latin typeface="メイリオ" panose="02020603050405020304" pitchFamily="18" charset="0"/>
              <a:ea typeface="メイリオ" panose="02020400000000000000" pitchFamily="18" charset="-128"/>
              <a:cs typeface="メイリオ"/>
            </a:endParaRPr>
          </a:p>
        </p:txBody>
      </p:sp>
    </p:spTree>
    <p:extLst>
      <p:ext uri="{BB962C8B-B14F-4D97-AF65-F5344CB8AC3E}">
        <p14:creationId xmlns:p14="http://schemas.microsoft.com/office/powerpoint/2010/main" val="3571272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750B4B-A121-360C-93EE-1C576646E6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9AF57BBF-9E24-A5DD-4EBD-626AA56926E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2F558483-DBE8-2E46-BAD9-E7186808666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954E864-E162-A524-FB6F-26FF53B7022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現状把握</a:t>
            </a:r>
            <a:endParaRPr sz="1600" b="1" dirty="0">
              <a:solidFill>
                <a:srgbClr val="002060"/>
              </a:solidFill>
              <a:latin typeface="メイリオ"/>
              <a:ea typeface="メイリオ"/>
              <a:cs typeface="メイリオ"/>
              <a:sym typeface="Meiryo"/>
            </a:endParaRPr>
          </a:p>
        </p:txBody>
      </p:sp>
      <p:sp>
        <p:nvSpPr>
          <p:cNvPr id="29" name="テキスト ボックス 28">
            <a:extLst>
              <a:ext uri="{FF2B5EF4-FFF2-40B4-BE49-F238E27FC236}">
                <a16:creationId xmlns:a16="http://schemas.microsoft.com/office/drawing/2014/main" id="{89944725-A636-ECEB-0A63-635C9AC8D442}"/>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1200" b="1" dirty="0">
                <a:solidFill>
                  <a:schemeClr val="bg1"/>
                </a:solidFill>
                <a:latin typeface="メイリオ" panose="020B0604030504040204" pitchFamily="50" charset="-128"/>
                <a:ea typeface="メイリオ" panose="020B0604030504040204" pitchFamily="50" charset="-128"/>
                <a:cs typeface="メイリオ"/>
              </a:rPr>
              <a:t>ステータス</a:t>
            </a:r>
            <a:endParaRPr lang="ja-JP" altLang="en-US" sz="1200" b="1" dirty="0">
              <a:solidFill>
                <a:schemeClr val="bg1"/>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4084F56D-F327-A822-5987-1D40EC17F819}"/>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LP（セミナー申込みページ）ステータス</a:t>
            </a:r>
            <a:endParaRPr lang="ja-JP" altLang="en-US" sz="1200" dirty="0">
              <a:solidFill>
                <a:schemeClr val="bg1"/>
              </a:solidFill>
              <a:latin typeface="メイリオ"/>
              <a:ea typeface="メイリオ"/>
              <a:cs typeface="メイリオ"/>
            </a:endParaRPr>
          </a:p>
        </p:txBody>
      </p:sp>
      <p:sp>
        <p:nvSpPr>
          <p:cNvPr id="43" name="テキスト ボックス 42">
            <a:extLst>
              <a:ext uri="{FF2B5EF4-FFF2-40B4-BE49-F238E27FC236}">
                <a16:creationId xmlns:a16="http://schemas.microsoft.com/office/drawing/2014/main" id="{DF252064-AA26-BA2E-6A97-4DB09F013416}"/>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広告でセミナー予約を獲得（1回 81件・CPA 26,043円）。</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申し込まずに離れた方を、次のイベントまで案内する手段が無い。</a:t>
            </a:r>
            <a:endParaRPr lang="en-US" altLang="ja-JP" sz="105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53" name="テキスト ボックス 52">
            <a:extLst>
              <a:ext uri="{FF2B5EF4-FFF2-40B4-BE49-F238E27FC236}">
                <a16:creationId xmlns:a16="http://schemas.microsoft.com/office/drawing/2014/main" id="{A9D49B02-3153-70EA-C9DA-F1F7EE54CE44}"/>
              </a:ext>
            </a:extLst>
          </p:cNvPr>
          <p:cNvSpPr txBox="1"/>
          <p:nvPr/>
        </p:nvSpPr>
        <p:spPr>
          <a:xfrm>
            <a:off x="4801043" y="5699170"/>
            <a:ext cx="4492485"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参加して入会していない方へ、</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latin typeface="メイリオ" panose="020B0604030504040204" pitchFamily="50" charset="-128"/>
                <a:ea typeface="メイリオ" panose="020B0604030504040204" pitchFamily="50" charset="-128"/>
                <a:cs typeface="メイリオ"/>
              </a:rPr>
              <a:t>入会まで案内を続ける手段が無い状況。</a:t>
            </a:r>
            <a:endParaRPr lang="en-US" altLang="ja-JP" sz="1050" dirty="0">
              <a:latin typeface="メイリオ" panose="020B0604030504040204" pitchFamily="50" charset="-128"/>
              <a:ea typeface="メイリオ" panose="020B0604030504040204" pitchFamily="50" charset="-128"/>
              <a:cs typeface="メイリオ"/>
            </a:endParaRPr>
          </a:p>
        </p:txBody>
      </p:sp>
      <p:pic>
        <p:nvPicPr>
          <p:cNvPr id="55" name="図 54">
            <a:extLst>
              <a:ext uri="{FF2B5EF4-FFF2-40B4-BE49-F238E27FC236}">
                <a16:creationId xmlns:a16="http://schemas.microsoft.com/office/drawing/2014/main" id="{A0055F99-5527-C0F0-D670-596AA96C9DB0}"/>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B2CAE599-CD63-C0C4-6166-4C1744AE2DDD}"/>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p:txBody>
      </p:sp>
      <p:sp>
        <p:nvSpPr>
          <p:cNvPr id="65" name="テキスト ボックス 64">
            <a:extLst>
              <a:ext uri="{FF2B5EF4-FFF2-40B4-BE49-F238E27FC236}">
                <a16:creationId xmlns:a16="http://schemas.microsoft.com/office/drawing/2014/main" id="{C742707A-0EFE-C959-2429-B7F41C6A6533}"/>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LP UU</a:t>
            </a:r>
          </a:p>
        </p:txBody>
      </p:sp>
      <p:sp>
        <p:nvSpPr>
          <p:cNvPr id="67" name="テキスト ボックス 66">
            <a:extLst>
              <a:ext uri="{FF2B5EF4-FFF2-40B4-BE49-F238E27FC236}">
                <a16:creationId xmlns:a16="http://schemas.microsoft.com/office/drawing/2014/main" id="{F4B640EE-F406-8C64-40BB-99B4F8666757}"/>
              </a:ext>
            </a:extLst>
          </p:cNvPr>
          <p:cNvSpPr txBox="1"/>
          <p:nvPr/>
        </p:nvSpPr>
        <p:spPr>
          <a:xfrm>
            <a:off x="2137430" y="4908654"/>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※1回のイベントの数値。LP UUは</a:t>
            </a:r>
          </a:p>
          <a:p>
            <a:r>
              <a:rPr lang="ja-JP" altLang="en-US" sz="900" dirty="0">
                <a:solidFill>
                  <a:schemeClr val="bg1">
                    <a:lumMod val="65000"/>
                  </a:schemeClr>
                </a:solidFill>
                <a:latin typeface="メイリオ" panose="020B0604030504040204" pitchFamily="50" charset="-128"/>
                <a:ea typeface="メイリオ" panose="020B0604030504040204" pitchFamily="50" charset="-128"/>
                <a:cs typeface="メイリオ"/>
              </a:rPr>
              <a:t>　広告のクリック数からの想定数値。</a:t>
            </a:r>
            <a:endParaRPr lang="ja-JP" altLang="en-US" sz="1400" dirty="0">
              <a:solidFill>
                <a:schemeClr val="bg1">
                  <a:lumMod val="65000"/>
                </a:schemeClr>
              </a:solidFill>
              <a:latin typeface="メイリオ"/>
              <a:ea typeface="メイリオ"/>
              <a:cs typeface="メイリオ"/>
            </a:endParaRPr>
          </a:p>
        </p:txBody>
      </p:sp>
      <p:sp>
        <p:nvSpPr>
          <p:cNvPr id="69" name="テキスト ボックス 68">
            <a:extLst>
              <a:ext uri="{FF2B5EF4-FFF2-40B4-BE49-F238E27FC236}">
                <a16:creationId xmlns:a16="http://schemas.microsoft.com/office/drawing/2014/main" id="{005CE4EC-9DAD-614D-EF21-189AC4A54B8B}"/>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うち広告</a:t>
            </a:r>
            <a:r>
              <a:rPr lang="en-US" altLang="ja-JP" sz="1000" dirty="0">
                <a:solidFill>
                  <a:schemeClr val="bg1"/>
                </a:solidFill>
                <a:latin typeface="メイリオ" panose="020B0604030504040204" pitchFamily="50" charset="-128"/>
                <a:ea typeface="メイリオ" panose="020B0604030504040204" pitchFamily="50" charset="-128"/>
                <a:cs typeface="メイリオ"/>
              </a:rPr>
              <a:t>UU</a:t>
            </a:r>
          </a:p>
        </p:txBody>
      </p:sp>
      <p:sp>
        <p:nvSpPr>
          <p:cNvPr id="71" name="テキスト ボックス 70">
            <a:extLst>
              <a:ext uri="{FF2B5EF4-FFF2-40B4-BE49-F238E27FC236}">
                <a16:creationId xmlns:a16="http://schemas.microsoft.com/office/drawing/2014/main" id="{E9F2E720-D964-9A60-45CD-5C6E8BAA980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広告費用</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3" name="テキスト ボックス 72">
            <a:extLst>
              <a:ext uri="{FF2B5EF4-FFF2-40B4-BE49-F238E27FC236}">
                <a16:creationId xmlns:a16="http://schemas.microsoft.com/office/drawing/2014/main" id="{C569673A-D559-A164-179E-003DC44124E7}"/>
              </a:ext>
            </a:extLst>
          </p:cNvPr>
          <p:cNvSpPr txBox="1"/>
          <p:nvPr/>
        </p:nvSpPr>
        <p:spPr>
          <a:xfrm>
            <a:off x="2117317" y="455097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メイン流入元</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5" name="テキスト ボックス 74">
            <a:extLst>
              <a:ext uri="{FF2B5EF4-FFF2-40B4-BE49-F238E27FC236}">
                <a16:creationId xmlns:a16="http://schemas.microsoft.com/office/drawing/2014/main" id="{5DF15628-8396-5390-0708-F6E808EFAAFF}"/>
              </a:ext>
            </a:extLst>
          </p:cNvPr>
          <p:cNvSpPr txBox="1"/>
          <p:nvPr/>
        </p:nvSpPr>
        <p:spPr>
          <a:xfrm>
            <a:off x="2117317" y="423495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他</a:t>
            </a:r>
            <a:r>
              <a:rPr lang="en-US" altLang="ja-JP" sz="1000" dirty="0">
                <a:solidFill>
                  <a:schemeClr val="bg1"/>
                </a:solidFill>
                <a:latin typeface="メイリオ" panose="020B0604030504040204" pitchFamily="50" charset="-128"/>
                <a:ea typeface="メイリオ" panose="020B0604030504040204" pitchFamily="50" charset="-128"/>
                <a:cs typeface="メイリオ"/>
              </a:rPr>
              <a:t>SNS</a:t>
            </a:r>
          </a:p>
        </p:txBody>
      </p:sp>
      <p:sp>
        <p:nvSpPr>
          <p:cNvPr id="76" name="テキスト ボックス 75">
            <a:extLst>
              <a:ext uri="{FF2B5EF4-FFF2-40B4-BE49-F238E27FC236}">
                <a16:creationId xmlns:a16="http://schemas.microsoft.com/office/drawing/2014/main" id="{4C5B2CB3-9726-166D-3753-A503CCEF0A26}"/>
              </a:ext>
            </a:extLst>
          </p:cNvPr>
          <p:cNvSpPr txBox="1"/>
          <p:nvPr/>
        </p:nvSpPr>
        <p:spPr>
          <a:xfrm>
            <a:off x="2117317" y="391892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リード保有数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8" name="テキスト ボックス 77">
            <a:extLst>
              <a:ext uri="{FF2B5EF4-FFF2-40B4-BE49-F238E27FC236}">
                <a16:creationId xmlns:a16="http://schemas.microsoft.com/office/drawing/2014/main" id="{DC4812CB-3D04-2C5B-A271-41DFEDCAB4C8}"/>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CV数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0482930D-56AE-298D-A6EB-FFBDE40ECC00}"/>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CV</a:t>
            </a:r>
            <a:r>
              <a:rPr lang="ja-JP" altLang="en-US" sz="1000" dirty="0">
                <a:solidFill>
                  <a:schemeClr val="bg1"/>
                </a:solidFill>
                <a:latin typeface="メイリオ" panose="020B0604030504040204" pitchFamily="50" charset="-128"/>
                <a:ea typeface="メイリオ" panose="020B0604030504040204" pitchFamily="50" charset="-128"/>
                <a:cs typeface="メイリオ"/>
              </a:rPr>
              <a:t>地点</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2" name="テキスト ボックス 81">
            <a:extLst>
              <a:ext uri="{FF2B5EF4-FFF2-40B4-BE49-F238E27FC236}">
                <a16:creationId xmlns:a16="http://schemas.microsoft.com/office/drawing/2014/main" id="{3C4E2BA0-63A7-25D9-1A97-5C69DFD79C77}"/>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LINE</a:t>
            </a:r>
            <a:r>
              <a:rPr lang="ja-JP" altLang="en-US" sz="1000" dirty="0">
                <a:solidFill>
                  <a:schemeClr val="bg1"/>
                </a:solidFill>
                <a:latin typeface="メイリオ" panose="020B0604030504040204" pitchFamily="50" charset="-128"/>
                <a:ea typeface="メイリオ" panose="020B0604030504040204" pitchFamily="50" charset="-128"/>
                <a:cs typeface="メイリオ"/>
              </a:rPr>
              <a:t>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6" name="テキスト ボックス 85">
            <a:extLst>
              <a:ext uri="{FF2B5EF4-FFF2-40B4-BE49-F238E27FC236}">
                <a16:creationId xmlns:a16="http://schemas.microsoft.com/office/drawing/2014/main" id="{EE72F3BF-6AE9-F7CC-CE6A-1536B8F8A660}"/>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友だち数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8" name="テキスト ボックス 87">
            <a:extLst>
              <a:ext uri="{FF2B5EF4-FFF2-40B4-BE49-F238E27FC236}">
                <a16:creationId xmlns:a16="http://schemas.microsoft.com/office/drawing/2014/main" id="{01CD0233-3F13-52A2-0BD2-A107006D060A}"/>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アクティブ数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0" name="テキスト ボックス 89">
            <a:extLst>
              <a:ext uri="{FF2B5EF4-FFF2-40B4-BE49-F238E27FC236}">
                <a16:creationId xmlns:a16="http://schemas.microsoft.com/office/drawing/2014/main" id="{E7B4DAA3-597E-9850-4FC5-7AEEE3895876}"/>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ブロック率</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2" name="テキスト ボックス 91">
            <a:extLst>
              <a:ext uri="{FF2B5EF4-FFF2-40B4-BE49-F238E27FC236}">
                <a16:creationId xmlns:a16="http://schemas.microsoft.com/office/drawing/2014/main" id="{88937895-903D-2714-B911-64B989A6665C}"/>
              </a:ext>
            </a:extLst>
          </p:cNvPr>
          <p:cNvSpPr txBox="1"/>
          <p:nvPr/>
        </p:nvSpPr>
        <p:spPr>
          <a:xfrm>
            <a:off x="6624506" y="4863565"/>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a:t>
            </a:r>
          </a:p>
        </p:txBody>
      </p:sp>
      <p:sp>
        <p:nvSpPr>
          <p:cNvPr id="94" name="テキスト ボックス 93">
            <a:extLst>
              <a:ext uri="{FF2B5EF4-FFF2-40B4-BE49-F238E27FC236}">
                <a16:creationId xmlns:a16="http://schemas.microsoft.com/office/drawing/2014/main" id="{C4822FE9-074B-EE00-9A49-F386569EF4E6}"/>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ツール</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6" name="テキスト ボックス 95">
            <a:extLst>
              <a:ext uri="{FF2B5EF4-FFF2-40B4-BE49-F238E27FC236}">
                <a16:creationId xmlns:a16="http://schemas.microsoft.com/office/drawing/2014/main" id="{E79733FB-6A51-DF26-D629-AE6F7073025B}"/>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想定コスト</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8" name="テキスト ボックス 97">
            <a:extLst>
              <a:ext uri="{FF2B5EF4-FFF2-40B4-BE49-F238E27FC236}">
                <a16:creationId xmlns:a16="http://schemas.microsoft.com/office/drawing/2014/main" id="{0B4493A0-88F0-89E9-9CBF-885AEEBFF9AC}"/>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月間投稿数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0" name="テキスト ボックス 99">
            <a:extLst>
              <a:ext uri="{FF2B5EF4-FFF2-40B4-BE49-F238E27FC236}">
                <a16:creationId xmlns:a16="http://schemas.microsoft.com/office/drawing/2014/main" id="{EE73B576-3B41-B994-1FCA-9ED3BC1A3172}"/>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ステップ実施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2" name="テキスト ボックス 101">
            <a:extLst>
              <a:ext uri="{FF2B5EF4-FFF2-40B4-BE49-F238E27FC236}">
                <a16:creationId xmlns:a16="http://schemas.microsoft.com/office/drawing/2014/main" id="{F2C9EB15-683C-4B0A-1EE1-C4245240F17A}"/>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4" name="テキスト ボックス 103">
            <a:extLst>
              <a:ext uri="{FF2B5EF4-FFF2-40B4-BE49-F238E27FC236}">
                <a16:creationId xmlns:a16="http://schemas.microsoft.com/office/drawing/2014/main" id="{AABDA6DE-2BAF-ADF7-0424-50D388AC01E5}"/>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プロフ動線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6" name="テキスト ボックス 105">
            <a:extLst>
              <a:ext uri="{FF2B5EF4-FFF2-40B4-BE49-F238E27FC236}">
                <a16:creationId xmlns:a16="http://schemas.microsoft.com/office/drawing/2014/main" id="{6C91CF70-D90C-4141-8B26-5B1DD07D7D1D}"/>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3,000</a:t>
            </a:r>
          </a:p>
        </p:txBody>
      </p:sp>
      <p:sp>
        <p:nvSpPr>
          <p:cNvPr id="108" name="テキスト ボックス 107">
            <a:extLst>
              <a:ext uri="{FF2B5EF4-FFF2-40B4-BE49-F238E27FC236}">
                <a16:creationId xmlns:a16="http://schemas.microsoft.com/office/drawing/2014/main" id="{2786C9AD-9375-AA46-5333-046CCBB18FE2}"/>
              </a:ext>
            </a:extLst>
          </p:cNvPr>
          <p:cNvSpPr txBox="1"/>
          <p:nvPr/>
        </p:nvSpPr>
        <p:spPr>
          <a:xfrm>
            <a:off x="3229084" y="233535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約2,760</a:t>
            </a:r>
          </a:p>
        </p:txBody>
      </p:sp>
      <p:sp>
        <p:nvSpPr>
          <p:cNvPr id="110" name="テキスト ボックス 109">
            <a:extLst>
              <a:ext uri="{FF2B5EF4-FFF2-40B4-BE49-F238E27FC236}">
                <a16:creationId xmlns:a16="http://schemas.microsoft.com/office/drawing/2014/main" id="{813069E4-69E1-66A2-90C2-822AF2276F64}"/>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約211万円</a:t>
            </a:r>
          </a:p>
        </p:txBody>
      </p:sp>
      <p:sp>
        <p:nvSpPr>
          <p:cNvPr id="112" name="テキスト ボックス 111">
            <a:extLst>
              <a:ext uri="{FF2B5EF4-FFF2-40B4-BE49-F238E27FC236}">
                <a16:creationId xmlns:a16="http://schemas.microsoft.com/office/drawing/2014/main" id="{9864CA39-A311-2EB8-804E-4F1BBDF74575}"/>
              </a:ext>
            </a:extLst>
          </p:cNvPr>
          <p:cNvSpPr txBox="1"/>
          <p:nvPr/>
        </p:nvSpPr>
        <p:spPr>
          <a:xfrm>
            <a:off x="3211624" y="455639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広告</a:t>
            </a:r>
          </a:p>
        </p:txBody>
      </p:sp>
      <p:sp>
        <p:nvSpPr>
          <p:cNvPr id="114" name="テキスト ボックス 113">
            <a:extLst>
              <a:ext uri="{FF2B5EF4-FFF2-40B4-BE49-F238E27FC236}">
                <a16:creationId xmlns:a16="http://schemas.microsoft.com/office/drawing/2014/main" id="{EDFB7A90-75B8-B37D-145F-272542CA021E}"/>
              </a:ext>
            </a:extLst>
          </p:cNvPr>
          <p:cNvSpPr txBox="1"/>
          <p:nvPr/>
        </p:nvSpPr>
        <p:spPr>
          <a:xfrm>
            <a:off x="3211624" y="424037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a:t>
            </a:r>
          </a:p>
        </p:txBody>
      </p:sp>
      <p:sp>
        <p:nvSpPr>
          <p:cNvPr id="116" name="テキスト ボックス 115">
            <a:extLst>
              <a:ext uri="{FF2B5EF4-FFF2-40B4-BE49-F238E27FC236}">
                <a16:creationId xmlns:a16="http://schemas.microsoft.com/office/drawing/2014/main" id="{EFFD1CA4-9630-0E9F-4C5E-ED52F6370CB1}"/>
              </a:ext>
            </a:extLst>
          </p:cNvPr>
          <p:cNvSpPr txBox="1"/>
          <p:nvPr/>
        </p:nvSpPr>
        <p:spPr>
          <a:xfrm>
            <a:off x="3211624" y="3924345"/>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a:t>
            </a:r>
          </a:p>
        </p:txBody>
      </p:sp>
      <p:sp>
        <p:nvSpPr>
          <p:cNvPr id="118" name="テキスト ボックス 117">
            <a:extLst>
              <a:ext uri="{FF2B5EF4-FFF2-40B4-BE49-F238E27FC236}">
                <a16:creationId xmlns:a16="http://schemas.microsoft.com/office/drawing/2014/main" id="{550EE59A-47D1-9367-09B0-1A6F7E0AE0E3}"/>
              </a:ext>
            </a:extLst>
          </p:cNvPr>
          <p:cNvSpPr txBox="1"/>
          <p:nvPr/>
        </p:nvSpPr>
        <p:spPr>
          <a:xfrm>
            <a:off x="3229084" y="2971256"/>
            <a:ext cx="1360330" cy="246221"/>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81件</a:t>
            </a:r>
          </a:p>
        </p:txBody>
      </p:sp>
      <p:sp>
        <p:nvSpPr>
          <p:cNvPr id="120" name="テキスト ボックス 119">
            <a:extLst>
              <a:ext uri="{FF2B5EF4-FFF2-40B4-BE49-F238E27FC236}">
                <a16:creationId xmlns:a16="http://schemas.microsoft.com/office/drawing/2014/main" id="{23698D91-4F04-ED85-ACCD-AD4A9AC48A1B}"/>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セミナー予約</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22" name="テキスト ボックス 121">
            <a:extLst>
              <a:ext uri="{FF2B5EF4-FFF2-40B4-BE49-F238E27FC236}">
                <a16:creationId xmlns:a16="http://schemas.microsoft.com/office/drawing/2014/main" id="{5E8D7F39-4F6F-4AF2-4196-C2EA1FC38898}"/>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rgbClr val="1F2A5C"/>
                </a:solidFill>
                <a:latin typeface="メイリオ" panose="020B0604030504040204" pitchFamily="50" charset="-128"/>
                <a:ea typeface="メイリオ" panose="020B0604030504040204" pitchFamily="50" charset="-128"/>
                <a:cs typeface="メイリオ"/>
              </a:rPr>
              <a:t>なし</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69" name="テキスト ボックス 168">
            <a:extLst>
              <a:ext uri="{FF2B5EF4-FFF2-40B4-BE49-F238E27FC236}">
                <a16:creationId xmlns:a16="http://schemas.microsoft.com/office/drawing/2014/main" id="{7D910DD2-60FF-DE1D-244F-84DABD92D62C}"/>
              </a:ext>
            </a:extLst>
          </p:cNvPr>
          <p:cNvSpPr txBox="1"/>
          <p:nvPr/>
        </p:nvSpPr>
        <p:spPr>
          <a:xfrm>
            <a:off x="6624505" y="5184313"/>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a:t>
            </a:r>
          </a:p>
        </p:txBody>
      </p:sp>
      <p:sp>
        <p:nvSpPr>
          <p:cNvPr id="171" name="テキスト ボックス 170">
            <a:extLst>
              <a:ext uri="{FF2B5EF4-FFF2-40B4-BE49-F238E27FC236}">
                <a16:creationId xmlns:a16="http://schemas.microsoft.com/office/drawing/2014/main" id="{C08B973B-E807-9696-E35D-A7AFE85B05D4}"/>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3" name="テキスト ボックス 172">
            <a:extLst>
              <a:ext uri="{FF2B5EF4-FFF2-40B4-BE49-F238E27FC236}">
                <a16:creationId xmlns:a16="http://schemas.microsoft.com/office/drawing/2014/main" id="{20E8600C-74F6-D8CE-13DD-E436F6712689}"/>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5" name="テキスト ボックス 174">
            <a:extLst>
              <a:ext uri="{FF2B5EF4-FFF2-40B4-BE49-F238E27FC236}">
                <a16:creationId xmlns:a16="http://schemas.microsoft.com/office/drawing/2014/main" id="{A09F1BA2-66AE-1801-55BA-97DAABCF1F8A}"/>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7" name="テキスト ボックス 176">
            <a:extLst>
              <a:ext uri="{FF2B5EF4-FFF2-40B4-BE49-F238E27FC236}">
                <a16:creationId xmlns:a16="http://schemas.microsoft.com/office/drawing/2014/main" id="{14E58E5E-2D77-90E6-91E8-9955CA80F448}"/>
              </a:ext>
            </a:extLst>
          </p:cNvPr>
          <p:cNvSpPr txBox="1"/>
          <p:nvPr/>
        </p:nvSpPr>
        <p:spPr>
          <a:xfrm>
            <a:off x="7754601" y="4865724"/>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cs typeface="メイリオ"/>
              </a:rPr>
              <a:t>※</a:t>
            </a:r>
          </a:p>
        </p:txBody>
      </p:sp>
      <p:sp>
        <p:nvSpPr>
          <p:cNvPr id="179" name="テキスト ボックス 178">
            <a:extLst>
              <a:ext uri="{FF2B5EF4-FFF2-40B4-BE49-F238E27FC236}">
                <a16:creationId xmlns:a16="http://schemas.microsoft.com/office/drawing/2014/main" id="{6C59D28E-FF8E-2297-95D2-CE45250AC0A3}"/>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1" name="テキスト ボックス 180">
            <a:extLst>
              <a:ext uri="{FF2B5EF4-FFF2-40B4-BE49-F238E27FC236}">
                <a16:creationId xmlns:a16="http://schemas.microsoft.com/office/drawing/2014/main" id="{47410AFA-018D-A9C2-B086-8AF69BAA4489}"/>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3" name="テキスト ボックス 182">
            <a:extLst>
              <a:ext uri="{FF2B5EF4-FFF2-40B4-BE49-F238E27FC236}">
                <a16:creationId xmlns:a16="http://schemas.microsoft.com/office/drawing/2014/main" id="{165EBB6B-ADB3-3E8C-14D2-AB834625C2FE}"/>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5" name="テキスト ボックス 184">
            <a:extLst>
              <a:ext uri="{FF2B5EF4-FFF2-40B4-BE49-F238E27FC236}">
                <a16:creationId xmlns:a16="http://schemas.microsoft.com/office/drawing/2014/main" id="{3A3BFABF-D395-60F7-F2BD-02619745DF45}"/>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7" name="テキスト ボックス 186">
            <a:extLst>
              <a:ext uri="{FF2B5EF4-FFF2-40B4-BE49-F238E27FC236}">
                <a16:creationId xmlns:a16="http://schemas.microsoft.com/office/drawing/2014/main" id="{231C25BF-5B10-E199-7FC9-7E0D6694588F}"/>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9" name="テキスト ボックス 188">
            <a:extLst>
              <a:ext uri="{FF2B5EF4-FFF2-40B4-BE49-F238E27FC236}">
                <a16:creationId xmlns:a16="http://schemas.microsoft.com/office/drawing/2014/main" id="{CDB65BA8-4992-8A6F-6949-F0D9E629721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91" name="テキスト ボックス 190">
            <a:extLst>
              <a:ext uri="{FF2B5EF4-FFF2-40B4-BE49-F238E27FC236}">
                <a16:creationId xmlns:a16="http://schemas.microsoft.com/office/drawing/2014/main" id="{18879675-133C-898A-AB5B-286927352D72}"/>
              </a:ext>
            </a:extLst>
          </p:cNvPr>
          <p:cNvSpPr txBox="1"/>
          <p:nvPr/>
        </p:nvSpPr>
        <p:spPr>
          <a:xfrm>
            <a:off x="7754600" y="5186472"/>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cs typeface="メイリオ"/>
              </a:rPr>
              <a:t>※</a:t>
            </a:r>
          </a:p>
        </p:txBody>
      </p:sp>
      <p:pic>
        <p:nvPicPr>
          <p:cNvPr id="192" name="Picture 191" descr="sunao_lp_firstview.png"/>
          <p:cNvPicPr>
            <a:picLocks noChangeAspect="1"/>
          </p:cNvPicPr>
          <p:nvPr/>
        </p:nvPicPr>
        <p:blipFill>
          <a:blip r:embed="rId4"/>
          <a:stretch>
            <a:fillRect/>
          </a:stretch>
        </p:blipFill>
        <p:spPr>
          <a:xfrm>
            <a:off x="507335" y="2271233"/>
            <a:ext cx="1557206" cy="2637933"/>
          </a:xfrm>
          <a:prstGeom prst="rect">
            <a:avLst/>
          </a:prstGeom>
        </p:spPr>
      </p:pic>
    </p:spTree>
    <p:extLst>
      <p:ext uri="{BB962C8B-B14F-4D97-AF65-F5344CB8AC3E}">
        <p14:creationId xmlns:p14="http://schemas.microsoft.com/office/powerpoint/2010/main" val="23784845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2D860-D20C-DFFA-89EA-A46B82A5DB11}"/>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30ACD85-15EC-FC5A-B63C-42D277C5A6A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1DC17654-F65C-A9D9-21EB-8D05BBE86AC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04DC6DE6-9A8D-0047-2FAE-67250D9E5F4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ニーズ調査（シーズナリティ）</a:t>
            </a:r>
            <a:endParaRPr sz="1600" b="1" dirty="0">
              <a:solidFill>
                <a:srgbClr val="002060"/>
              </a:solidFill>
              <a:latin typeface="メイリオ"/>
              <a:ea typeface="メイリオ"/>
              <a:cs typeface="メイリオ"/>
              <a:sym typeface="Meiryo"/>
            </a:endParaRPr>
          </a:p>
        </p:txBody>
      </p:sp>
      <p:sp>
        <p:nvSpPr>
          <p:cNvPr id="8" name="テキスト ボックス 7">
            <a:extLst>
              <a:ext uri="{FF2B5EF4-FFF2-40B4-BE49-F238E27FC236}">
                <a16:creationId xmlns:a16="http://schemas.microsoft.com/office/drawing/2014/main" id="{AB3D5176-7A86-8B1D-B537-7482C61F2830}"/>
              </a:ext>
            </a:extLst>
          </p:cNvPr>
          <p:cNvSpPr txBox="1"/>
          <p:nvPr/>
        </p:nvSpPr>
        <p:spPr>
          <a:xfrm>
            <a:off x="8133806" y="5351907"/>
            <a:ext cx="1458360" cy="2308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※Google</a:t>
            </a:r>
            <a:r>
              <a:rPr lang="ja-JP" altLang="en-US" sz="900" dirty="0">
                <a:solidFill>
                  <a:schemeClr val="bg1">
                    <a:lumMod val="65000"/>
                  </a:schemeClr>
                </a:solidFill>
                <a:latin typeface="メイリオ" panose="020B0604030504040204" pitchFamily="50" charset="-128"/>
                <a:ea typeface="メイリオ" panose="020B0604030504040204" pitchFamily="50" charset="-128"/>
                <a:cs typeface="メイリオ"/>
              </a:rPr>
              <a:t>トレンドより</a:t>
            </a:r>
            <a:endParaRPr lang="ja-JP" altLang="en-US" sz="1400" dirty="0">
              <a:solidFill>
                <a:schemeClr val="bg1">
                  <a:lumMod val="65000"/>
                </a:schemeClr>
              </a:solidFill>
              <a:latin typeface="メイリオ"/>
              <a:ea typeface="メイリオ"/>
              <a:cs typeface="メイリオ"/>
            </a:endParaRPr>
          </a:p>
        </p:txBody>
      </p:sp>
      <p:sp>
        <p:nvSpPr>
          <p:cNvPr id="5" name="テキスト ボックス 4">
            <a:extLst>
              <a:ext uri="{FF2B5EF4-FFF2-40B4-BE49-F238E27FC236}">
                <a16:creationId xmlns:a16="http://schemas.microsoft.com/office/drawing/2014/main" id="{922D6823-FF2A-C1F7-974B-0F8BF7DDC41B}"/>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「保険営業」の検索は1年中ほぼ同じ水準。イベントの無い月も、平常期の配信でつながりを保つ。</a:t>
            </a:r>
            <a:endParaRPr lang="ja-JP" altLang="ja-JP" sz="1100" dirty="0">
              <a:effectLst/>
              <a:latin typeface="メイリオ" panose="02020603050405020304" pitchFamily="18" charset="0"/>
              <a:ea typeface="メイリオ" panose="02020400000000000000" pitchFamily="18" charset="-128"/>
              <a:cs typeface="メイリオ"/>
            </a:endParaRPr>
          </a:p>
        </p:txBody>
      </p:sp>
      <p:pic>
        <p:nvPicPr>
          <p:cNvPr id="46" name="Picture 45" descr="sunao_trend_hoken_eigyo_5y.png"/>
          <p:cNvPicPr>
            <a:picLocks noChangeAspect="1"/>
          </p:cNvPicPr>
          <p:nvPr/>
        </p:nvPicPr>
        <p:blipFill>
          <a:blip r:embed="rId3"/>
          <a:stretch>
            <a:fillRect/>
          </a:stretch>
        </p:blipFill>
        <p:spPr>
          <a:xfrm>
            <a:off x="894637" y="1688676"/>
            <a:ext cx="8116724" cy="3461599"/>
          </a:xfrm>
          <a:prstGeom prst="rect">
            <a:avLst/>
          </a:prstGeom>
        </p:spPr>
      </p:pic>
    </p:spTree>
    <p:extLst>
      <p:ext uri="{BB962C8B-B14F-4D97-AF65-F5344CB8AC3E}">
        <p14:creationId xmlns:p14="http://schemas.microsoft.com/office/powerpoint/2010/main" val="142908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E4664-0791-AB23-9ACF-A79FA4D2CD1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98A5F44-4DAD-79B8-2CEA-267E86DC8605}"/>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198BB5E6-49E8-E304-2236-96ED9AF800A4}"/>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88303E2C-F4EF-F0AA-1EF9-E0A01EDFC0ED}"/>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513D5E39-C6C9-D6C0-5819-C587AA1C50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21" name="テキスト ボックス 20">
            <a:extLst>
              <a:ext uri="{FF2B5EF4-FFF2-40B4-BE49-F238E27FC236}">
                <a16:creationId xmlns:a16="http://schemas.microsoft.com/office/drawing/2014/main" id="{160D2D1C-9CD0-28D0-3138-8C01E5B887B5}"/>
              </a:ext>
            </a:extLst>
          </p:cNvPr>
          <p:cNvSpPr txBox="1"/>
          <p:nvPr/>
        </p:nvSpPr>
        <p:spPr>
          <a:xfrm>
            <a:off x="2151017" y="1491943"/>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22" name="正方形/長方形 21">
            <a:extLst>
              <a:ext uri="{FF2B5EF4-FFF2-40B4-BE49-F238E27FC236}">
                <a16:creationId xmlns:a16="http://schemas.microsoft.com/office/drawing/2014/main" id="{13B630D1-4FF6-F9C6-E36E-F82FF8BB2858}"/>
              </a:ext>
            </a:extLst>
          </p:cNvPr>
          <p:cNvSpPr/>
          <p:nvPr/>
        </p:nvSpPr>
        <p:spPr>
          <a:xfrm>
            <a:off x="920090" y="1468481"/>
            <a:ext cx="1397216"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キーワード</a:t>
            </a:r>
          </a:p>
        </p:txBody>
      </p:sp>
      <p:sp>
        <p:nvSpPr>
          <p:cNvPr id="11" name="正方形/長方形 10">
            <a:extLst>
              <a:ext uri="{FF2B5EF4-FFF2-40B4-BE49-F238E27FC236}">
                <a16:creationId xmlns:a16="http://schemas.microsoft.com/office/drawing/2014/main" id="{3A99C536-4301-F569-61F1-54067CA4AE75}"/>
              </a:ext>
            </a:extLst>
          </p:cNvPr>
          <p:cNvSpPr/>
          <p:nvPr/>
        </p:nvSpPr>
        <p:spPr>
          <a:xfrm>
            <a:off x="1090344"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前</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3" name="正方形/長方形 12">
            <a:extLst>
              <a:ext uri="{FF2B5EF4-FFF2-40B4-BE49-F238E27FC236}">
                <a16:creationId xmlns:a16="http://schemas.microsoft.com/office/drawing/2014/main" id="{5B08C2C6-BF88-EDFE-9307-526D7AB38942}"/>
              </a:ext>
            </a:extLst>
          </p:cNvPr>
          <p:cNvSpPr/>
          <p:nvPr/>
        </p:nvSpPr>
        <p:spPr>
          <a:xfrm>
            <a:off x="5109349"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後</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cxnSp>
        <p:nvCxnSpPr>
          <p:cNvPr id="15" name="直線矢印コネクタ 14">
            <a:extLst>
              <a:ext uri="{FF2B5EF4-FFF2-40B4-BE49-F238E27FC236}">
                <a16:creationId xmlns:a16="http://schemas.microsoft.com/office/drawing/2014/main" id="{56C657A1-149E-41EE-730E-3EAE4C3BA201}"/>
              </a:ext>
            </a:extLst>
          </p:cNvPr>
          <p:cNvCxnSpPr>
            <a:cxnSpLocks/>
          </p:cNvCxnSpPr>
          <p:nvPr/>
        </p:nvCxnSpPr>
        <p:spPr>
          <a:xfrm flipV="1">
            <a:off x="807709" y="170990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E4FE3AE9-35AF-85CD-C2CC-E0CD16851957}"/>
              </a:ext>
            </a:extLst>
          </p:cNvPr>
          <p:cNvSpPr txBox="1"/>
          <p:nvPr/>
        </p:nvSpPr>
        <p:spPr>
          <a:xfrm>
            <a:off x="736682" y="1847126"/>
            <a:ext cx="1079863" cy="253916"/>
          </a:xfrm>
          <a:prstGeom prst="rect">
            <a:avLst/>
          </a:prstGeom>
          <a:noFill/>
        </p:spPr>
        <p:txBody>
          <a:bodyPr wrap="square">
            <a:spAutoFit/>
          </a:bodyPr>
          <a:lstStyle/>
          <a:p>
            <a:r>
              <a:rPr lang="ja-JP" altLang="en-US" sz="1050" b="1" dirty="0">
                <a:solidFill>
                  <a:srgbClr val="1F2A5C"/>
                </a:solidFill>
                <a:latin typeface="メイリオ" panose="020B0604030504040204" pitchFamily="50" charset="-128"/>
                <a:ea typeface="メイリオ" panose="020B0604030504040204" pitchFamily="50" charset="-128"/>
                <a:cs typeface="メイリオ"/>
              </a:rPr>
              <a:t>検索</a:t>
            </a:r>
            <a:r>
              <a:rPr lang="en-US" altLang="ja-JP" sz="1050" b="1" dirty="0">
                <a:solidFill>
                  <a:srgbClr val="1F2A5C"/>
                </a:solidFill>
                <a:latin typeface="メイリオ" panose="020B0604030504040204" pitchFamily="50" charset="-128"/>
                <a:ea typeface="メイリオ" panose="020B0604030504040204" pitchFamily="50" charset="-128"/>
                <a:cs typeface="メイリオ"/>
              </a:rPr>
              <a:t>Vol:</a:t>
            </a:r>
            <a:r>
              <a:rPr lang="ja-JP" altLang="en-US" sz="1050" b="1" dirty="0">
                <a:solidFill>
                  <a:srgbClr val="1F2A5C"/>
                </a:solidFill>
                <a:latin typeface="メイリオ" panose="020B0604030504040204" pitchFamily="50" charset="-128"/>
                <a:ea typeface="メイリオ" panose="020B0604030504040204" pitchFamily="50" charset="-128"/>
                <a:cs typeface="メイリオ"/>
              </a:rPr>
              <a:t>多</a:t>
            </a:r>
            <a:endParaRPr kumimoji="1" lang="ja-JP" altLang="en-US" sz="105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7F3169DD-B4D2-C3B3-E898-796DA8E0ABBE}"/>
              </a:ext>
            </a:extLst>
          </p:cNvPr>
          <p:cNvSpPr/>
          <p:nvPr/>
        </p:nvSpPr>
        <p:spPr>
          <a:xfrm>
            <a:off x="5182016" y="1536888"/>
            <a:ext cx="1079863"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9" name="図 8" descr="LINE公式アカウントのロゴを活用しよう！注意点やNG例も合わせて解説 - LINEマーケティングツールFANVO">
            <a:extLst>
              <a:ext uri="{FF2B5EF4-FFF2-40B4-BE49-F238E27FC236}">
                <a16:creationId xmlns:a16="http://schemas.microsoft.com/office/drawing/2014/main" id="{7499D9A1-145E-E266-83BC-3570D5C46C13}"/>
              </a:ext>
            </a:extLst>
          </p:cNvPr>
          <p:cNvPicPr>
            <a:picLocks noChangeAspect="1"/>
          </p:cNvPicPr>
          <p:nvPr/>
        </p:nvPicPr>
        <p:blipFill>
          <a:blip r:embed="rId3"/>
          <a:stretch>
            <a:fillRect/>
          </a:stretch>
        </p:blipFill>
        <p:spPr>
          <a:xfrm>
            <a:off x="4972346" y="1415224"/>
            <a:ext cx="419340" cy="418460"/>
          </a:xfrm>
          <a:prstGeom prst="rect">
            <a:avLst/>
          </a:prstGeom>
        </p:spPr>
      </p:pic>
      <p:sp>
        <p:nvSpPr>
          <p:cNvPr id="12" name="テキスト ボックス 11">
            <a:extLst>
              <a:ext uri="{FF2B5EF4-FFF2-40B4-BE49-F238E27FC236}">
                <a16:creationId xmlns:a16="http://schemas.microsoft.com/office/drawing/2014/main" id="{D510765C-D91E-3EF4-4A1A-9BF832DC8A4C}"/>
              </a:ext>
            </a:extLst>
          </p:cNvPr>
          <p:cNvSpPr txBox="1"/>
          <p:nvPr/>
        </p:nvSpPr>
        <p:spPr>
          <a:xfrm>
            <a:off x="5301604" y="1579097"/>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8" name="テキスト ボックス 7">
            <a:extLst>
              <a:ext uri="{FF2B5EF4-FFF2-40B4-BE49-F238E27FC236}">
                <a16:creationId xmlns:a16="http://schemas.microsoft.com/office/drawing/2014/main" id="{2D224931-6ECA-9763-63E9-7DD9B080E440}"/>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短期のステップ配信の配信コンテンツ作成に利用。</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0" name="四角形: 角を丸くする 9">
            <a:extLst>
              <a:ext uri="{FF2B5EF4-FFF2-40B4-BE49-F238E27FC236}">
                <a16:creationId xmlns:a16="http://schemas.microsoft.com/office/drawing/2014/main" id="{F6D71787-DACF-D927-0AC0-7D5E99A64F29}"/>
              </a:ext>
            </a:extLst>
          </p:cNvPr>
          <p:cNvSpPr/>
          <p:nvPr/>
        </p:nvSpPr>
        <p:spPr>
          <a:xfrm>
            <a:off x="8482149" y="1685711"/>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ブランド名</a:t>
            </a:r>
          </a:p>
        </p:txBody>
      </p:sp>
      <p:sp>
        <p:nvSpPr>
          <p:cNvPr id="19" name="四角形: 角を丸くする 18">
            <a:extLst>
              <a:ext uri="{FF2B5EF4-FFF2-40B4-BE49-F238E27FC236}">
                <a16:creationId xmlns:a16="http://schemas.microsoft.com/office/drawing/2014/main" id="{FCA279C4-C296-61EC-C9D3-DAE41B033D78}"/>
              </a:ext>
            </a:extLst>
          </p:cNvPr>
          <p:cNvSpPr/>
          <p:nvPr/>
        </p:nvSpPr>
        <p:spPr>
          <a:xfrm>
            <a:off x="8482149" y="1980746"/>
            <a:ext cx="1185818" cy="253916"/>
          </a:xfrm>
          <a:prstGeom prst="roundRect">
            <a:avLst/>
          </a:prstGeom>
          <a:solidFill>
            <a:srgbClr val="1F2A5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solidFill>
                <a:latin typeface="メイリオ" panose="020B0604030504040204" pitchFamily="50" charset="-128"/>
                <a:ea typeface="メイリオ" panose="020B0604030504040204" pitchFamily="50" charset="-128"/>
                <a:cs typeface="メイリオ"/>
              </a:rPr>
              <a:t>お金周り</a:t>
            </a:r>
          </a:p>
        </p:txBody>
      </p:sp>
      <p:sp>
        <p:nvSpPr>
          <p:cNvPr id="25" name="四角形: 角を丸くする 24">
            <a:extLst>
              <a:ext uri="{FF2B5EF4-FFF2-40B4-BE49-F238E27FC236}">
                <a16:creationId xmlns:a16="http://schemas.microsoft.com/office/drawing/2014/main" id="{F1163350-C485-703A-6504-08D7D75EE71A}"/>
              </a:ext>
            </a:extLst>
          </p:cNvPr>
          <p:cNvSpPr/>
          <p:nvPr/>
        </p:nvSpPr>
        <p:spPr>
          <a:xfrm>
            <a:off x="8482149" y="2269869"/>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ライフイベント</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7" name="四角形: 角を丸くする 26">
            <a:extLst>
              <a:ext uri="{FF2B5EF4-FFF2-40B4-BE49-F238E27FC236}">
                <a16:creationId xmlns:a16="http://schemas.microsoft.com/office/drawing/2014/main" id="{575B5195-33B9-6FF0-63AF-D3B0017CCCC2}"/>
              </a:ext>
            </a:extLst>
          </p:cNvPr>
          <p:cNvSpPr/>
          <p:nvPr/>
        </p:nvSpPr>
        <p:spPr>
          <a:xfrm>
            <a:off x="8482149" y="2564904"/>
            <a:ext cx="1185818" cy="253916"/>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6" name="差し込み 前後検索の画像"/>
          <p:cNvSpPr/>
          <p:nvPr/>
        </p:nvSpPr>
        <p:spPr>
          <a:xfrm>
            <a:off x="1312605" y="1893604"/>
            <a:ext cx="7223640" cy="4213792"/>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前後検索の画像</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438123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33BA2-CF45-0DF9-CBDD-A5830E2CF0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F42532B-D77B-6AC3-A328-689E2FC45F9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5D33EAB5-3104-05B5-E501-BBD7DE6AC9F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6F2AE0B-CB02-A8CD-4FB4-B3F45A0A747C}"/>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BA92233F-6BFD-0359-EEDA-BE51C1C483C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4" name="直線矢印コネクタ 13">
            <a:extLst>
              <a:ext uri="{FF2B5EF4-FFF2-40B4-BE49-F238E27FC236}">
                <a16:creationId xmlns:a16="http://schemas.microsoft.com/office/drawing/2014/main" id="{8F8E1B34-1AC7-E92D-4681-D5F6A71CFBF4}"/>
              </a:ext>
            </a:extLst>
          </p:cNvPr>
          <p:cNvCxnSpPr>
            <a:cxnSpLocks/>
          </p:cNvCxnSpPr>
          <p:nvPr/>
        </p:nvCxnSpPr>
        <p:spPr>
          <a:xfrm flipV="1">
            <a:off x="807709" y="170990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79E5C2B4-5B91-6669-DA9D-9C6100822D80}"/>
              </a:ext>
            </a:extLst>
          </p:cNvPr>
          <p:cNvSpPr txBox="1"/>
          <p:nvPr/>
        </p:nvSpPr>
        <p:spPr>
          <a:xfrm>
            <a:off x="2151017" y="1491943"/>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22" name="正方形/長方形 21">
            <a:extLst>
              <a:ext uri="{FF2B5EF4-FFF2-40B4-BE49-F238E27FC236}">
                <a16:creationId xmlns:a16="http://schemas.microsoft.com/office/drawing/2014/main" id="{F784DCA2-0206-476A-CC2D-15EA1A5F9515}"/>
              </a:ext>
            </a:extLst>
          </p:cNvPr>
          <p:cNvSpPr/>
          <p:nvPr/>
        </p:nvSpPr>
        <p:spPr>
          <a:xfrm>
            <a:off x="920090" y="1468481"/>
            <a:ext cx="1397216"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キーワード</a:t>
            </a:r>
          </a:p>
        </p:txBody>
      </p:sp>
      <p:sp>
        <p:nvSpPr>
          <p:cNvPr id="13" name="正方形/長方形 12">
            <a:extLst>
              <a:ext uri="{FF2B5EF4-FFF2-40B4-BE49-F238E27FC236}">
                <a16:creationId xmlns:a16="http://schemas.microsoft.com/office/drawing/2014/main" id="{61C146B2-09C1-EAF2-AA90-D6921017547B}"/>
              </a:ext>
            </a:extLst>
          </p:cNvPr>
          <p:cNvSpPr/>
          <p:nvPr/>
        </p:nvSpPr>
        <p:spPr>
          <a:xfrm>
            <a:off x="1090344"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前</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6" name="正方形/長方形 15">
            <a:extLst>
              <a:ext uri="{FF2B5EF4-FFF2-40B4-BE49-F238E27FC236}">
                <a16:creationId xmlns:a16="http://schemas.microsoft.com/office/drawing/2014/main" id="{59D3B460-577D-4DA5-3627-A3FE3F8ED9DC}"/>
              </a:ext>
            </a:extLst>
          </p:cNvPr>
          <p:cNvSpPr/>
          <p:nvPr/>
        </p:nvSpPr>
        <p:spPr>
          <a:xfrm>
            <a:off x="5109349"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後</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8" name="テキスト ボックス 17">
            <a:extLst>
              <a:ext uri="{FF2B5EF4-FFF2-40B4-BE49-F238E27FC236}">
                <a16:creationId xmlns:a16="http://schemas.microsoft.com/office/drawing/2014/main" id="{D8D61203-B4E8-EA26-11E7-042F4CC7854D}"/>
              </a:ext>
            </a:extLst>
          </p:cNvPr>
          <p:cNvSpPr txBox="1"/>
          <p:nvPr/>
        </p:nvSpPr>
        <p:spPr>
          <a:xfrm>
            <a:off x="736682" y="1847126"/>
            <a:ext cx="1079863" cy="253916"/>
          </a:xfrm>
          <a:prstGeom prst="rect">
            <a:avLst/>
          </a:prstGeom>
          <a:noFill/>
        </p:spPr>
        <p:txBody>
          <a:bodyPr wrap="square">
            <a:spAutoFit/>
          </a:bodyPr>
          <a:lstStyle/>
          <a:p>
            <a:r>
              <a:rPr lang="ja-JP" altLang="en-US" sz="1050" b="1" dirty="0">
                <a:solidFill>
                  <a:srgbClr val="1F2A5C"/>
                </a:solidFill>
                <a:latin typeface="メイリオ" panose="020B0604030504040204" pitchFamily="50" charset="-128"/>
                <a:ea typeface="メイリオ" panose="020B0604030504040204" pitchFamily="50" charset="-128"/>
                <a:cs typeface="メイリオ"/>
              </a:rPr>
              <a:t>検索</a:t>
            </a:r>
            <a:r>
              <a:rPr lang="en-US" altLang="ja-JP" sz="1050" b="1" dirty="0">
                <a:solidFill>
                  <a:srgbClr val="1F2A5C"/>
                </a:solidFill>
                <a:latin typeface="メイリオ" panose="020B0604030504040204" pitchFamily="50" charset="-128"/>
                <a:ea typeface="メイリオ" panose="020B0604030504040204" pitchFamily="50" charset="-128"/>
                <a:cs typeface="メイリオ"/>
              </a:rPr>
              <a:t>Vol:</a:t>
            </a:r>
            <a:r>
              <a:rPr lang="ja-JP" altLang="en-US" sz="1050" b="1" dirty="0">
                <a:solidFill>
                  <a:srgbClr val="1F2A5C"/>
                </a:solidFill>
                <a:latin typeface="メイリオ" panose="020B0604030504040204" pitchFamily="50" charset="-128"/>
                <a:ea typeface="メイリオ" panose="020B0604030504040204" pitchFamily="50" charset="-128"/>
                <a:cs typeface="メイリオ"/>
              </a:rPr>
              <a:t>多</a:t>
            </a:r>
            <a:endParaRPr kumimoji="1" lang="ja-JP" altLang="en-US" sz="105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63FD9650-CF2E-C04B-71DA-C5C32192D256}"/>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短期のステップ配信の配信コンテンツ作成に利用。</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1" name="四角形: 角を丸くする 10">
            <a:extLst>
              <a:ext uri="{FF2B5EF4-FFF2-40B4-BE49-F238E27FC236}">
                <a16:creationId xmlns:a16="http://schemas.microsoft.com/office/drawing/2014/main" id="{9698CAAA-C7D0-DE8C-1937-135259153DF5}"/>
              </a:ext>
            </a:extLst>
          </p:cNvPr>
          <p:cNvSpPr/>
          <p:nvPr/>
        </p:nvSpPr>
        <p:spPr>
          <a:xfrm>
            <a:off x="8482149" y="1685711"/>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ブランド名</a:t>
            </a:r>
          </a:p>
        </p:txBody>
      </p:sp>
      <p:sp>
        <p:nvSpPr>
          <p:cNvPr id="15" name="四角形: 角を丸くする 14">
            <a:extLst>
              <a:ext uri="{FF2B5EF4-FFF2-40B4-BE49-F238E27FC236}">
                <a16:creationId xmlns:a16="http://schemas.microsoft.com/office/drawing/2014/main" id="{D484CC40-8F93-841D-9C65-D77C9FDB28E9}"/>
              </a:ext>
            </a:extLst>
          </p:cNvPr>
          <p:cNvSpPr/>
          <p:nvPr/>
        </p:nvSpPr>
        <p:spPr>
          <a:xfrm>
            <a:off x="8482149" y="1980746"/>
            <a:ext cx="1185818" cy="253916"/>
          </a:xfrm>
          <a:prstGeom prst="roundRect">
            <a:avLst/>
          </a:prstGeom>
          <a:solidFill>
            <a:srgbClr val="1F2A5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お金周り</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四角形: 角を丸くする 18">
            <a:extLst>
              <a:ext uri="{FF2B5EF4-FFF2-40B4-BE49-F238E27FC236}">
                <a16:creationId xmlns:a16="http://schemas.microsoft.com/office/drawing/2014/main" id="{14477AFE-E2AB-A03A-8102-B7565C7E8967}"/>
              </a:ext>
            </a:extLst>
          </p:cNvPr>
          <p:cNvSpPr/>
          <p:nvPr/>
        </p:nvSpPr>
        <p:spPr>
          <a:xfrm>
            <a:off x="8482149" y="2269869"/>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ライフイベント</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3" name="四角形: 角を丸くする 22">
            <a:extLst>
              <a:ext uri="{FF2B5EF4-FFF2-40B4-BE49-F238E27FC236}">
                <a16:creationId xmlns:a16="http://schemas.microsoft.com/office/drawing/2014/main" id="{9E775032-FD1B-EA57-EF1F-2E939977DBF0}"/>
              </a:ext>
            </a:extLst>
          </p:cNvPr>
          <p:cNvSpPr/>
          <p:nvPr/>
        </p:nvSpPr>
        <p:spPr>
          <a:xfrm>
            <a:off x="8482149" y="2564904"/>
            <a:ext cx="1185818" cy="253916"/>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34" name="正方形/長方形 133">
            <a:extLst>
              <a:ext uri="{FF2B5EF4-FFF2-40B4-BE49-F238E27FC236}">
                <a16:creationId xmlns:a16="http://schemas.microsoft.com/office/drawing/2014/main" id="{E1DBE2B9-1B8A-7D74-6827-B277538B2E74}"/>
              </a:ext>
            </a:extLst>
          </p:cNvPr>
          <p:cNvSpPr/>
          <p:nvPr/>
        </p:nvSpPr>
        <p:spPr>
          <a:xfrm>
            <a:off x="5173309" y="1536888"/>
            <a:ext cx="1079863"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36" name="図 135" descr="LINE公式アカウントのロゴを活用しよう！注意点やNG例も合わせて解説 - LINEマーケティングツールFANVO">
            <a:extLst>
              <a:ext uri="{FF2B5EF4-FFF2-40B4-BE49-F238E27FC236}">
                <a16:creationId xmlns:a16="http://schemas.microsoft.com/office/drawing/2014/main" id="{7292D2B2-006C-20F1-069A-EA07DB9040FF}"/>
              </a:ext>
            </a:extLst>
          </p:cNvPr>
          <p:cNvPicPr>
            <a:picLocks noChangeAspect="1"/>
          </p:cNvPicPr>
          <p:nvPr/>
        </p:nvPicPr>
        <p:blipFill>
          <a:blip r:embed="rId3"/>
          <a:stretch>
            <a:fillRect/>
          </a:stretch>
        </p:blipFill>
        <p:spPr>
          <a:xfrm>
            <a:off x="4963639" y="1415224"/>
            <a:ext cx="419340" cy="418460"/>
          </a:xfrm>
          <a:prstGeom prst="rect">
            <a:avLst/>
          </a:prstGeom>
        </p:spPr>
      </p:pic>
      <p:sp>
        <p:nvSpPr>
          <p:cNvPr id="138" name="テキスト ボックス 137">
            <a:extLst>
              <a:ext uri="{FF2B5EF4-FFF2-40B4-BE49-F238E27FC236}">
                <a16:creationId xmlns:a16="http://schemas.microsoft.com/office/drawing/2014/main" id="{3825EFF3-DD91-80CA-5C34-6956639E0AF6}"/>
              </a:ext>
            </a:extLst>
          </p:cNvPr>
          <p:cNvSpPr txBox="1"/>
          <p:nvPr/>
        </p:nvSpPr>
        <p:spPr>
          <a:xfrm>
            <a:off x="5319022" y="1579097"/>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139" name="差し込み 前後検索の画像"/>
          <p:cNvSpPr/>
          <p:nvPr/>
        </p:nvSpPr>
        <p:spPr>
          <a:xfrm>
            <a:off x="1386465" y="1895415"/>
            <a:ext cx="7152121" cy="4172069"/>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前後検索の画像</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2673468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45661-D170-7F4D-B8A8-8C3B4D5EF476}"/>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0F2A605-8BE9-543D-C379-8ADC172A2B5B}"/>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87FB6EC3-4D6F-6C45-86B8-DAD6CBB0E53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72B83C2C-8DD1-B131-625E-DC1B80BAE95D}"/>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F9E4E4A3-0061-C7DF-4A07-669885EC9040}"/>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 name="Card1_Title">
            <a:extLst>
              <a:ext uri="{FF2B5EF4-FFF2-40B4-BE49-F238E27FC236}">
                <a16:creationId xmlns:a16="http://schemas.microsoft.com/office/drawing/2014/main" id="{8E31DAD6-1621-DBDA-E670-9EC6437B61A2}"/>
              </a:ext>
            </a:extLst>
          </p:cNvPr>
          <p:cNvSpPr txBox="1"/>
          <p:nvPr/>
        </p:nvSpPr>
        <p:spPr>
          <a:xfrm>
            <a:off x="441960" y="1709511"/>
            <a:ext cx="2921000" cy="457200"/>
          </a:xfrm>
          <a:prstGeom prst="rect">
            <a:avLst/>
          </a:prstGeom>
          <a:solidFill>
            <a:srgbClr val="FFFFFF"/>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検索「前」クエリ（</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〜-1</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日）</a:t>
            </a:r>
          </a:p>
        </p:txBody>
      </p:sp>
      <p:sp>
        <p:nvSpPr>
          <p:cNvPr id="7" name="Card1_Body">
            <a:extLst>
              <a:ext uri="{FF2B5EF4-FFF2-40B4-BE49-F238E27FC236}">
                <a16:creationId xmlns:a16="http://schemas.microsoft.com/office/drawing/2014/main" id="{D3A10FAB-A215-96CD-4586-4D95A31E157D}"/>
              </a:ext>
            </a:extLst>
          </p:cNvPr>
          <p:cNvSpPr txBox="1"/>
          <p:nvPr/>
        </p:nvSpPr>
        <p:spPr>
          <a:xfrm>
            <a:off x="4419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1F2A5C"/>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0" name="Card2_Title">
            <a:extLst>
              <a:ext uri="{FF2B5EF4-FFF2-40B4-BE49-F238E27FC236}">
                <a16:creationId xmlns:a16="http://schemas.microsoft.com/office/drawing/2014/main" id="{AF3F627C-CA5A-EA6E-EB31-14D66576A08E}"/>
              </a:ext>
            </a:extLst>
          </p:cNvPr>
          <p:cNvSpPr txBox="1"/>
          <p:nvPr/>
        </p:nvSpPr>
        <p:spPr>
          <a:xfrm>
            <a:off x="3553460" y="1709511"/>
            <a:ext cx="2921000" cy="457200"/>
          </a:xfrm>
          <a:prstGeom prst="rect">
            <a:avLst/>
          </a:prstGeom>
          <a:solidFill>
            <a:srgbClr val="FFFFFF"/>
          </a:solidFill>
          <a:ln w="6350">
            <a:solidFill>
              <a:srgbClr val="4A6FA5"/>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検索「起点」（</a:t>
            </a:r>
            <a:r>
              <a:rPr kumimoji="0" lang="en-US" altLang="ja-JP"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0</a:t>
            </a:r>
            <a:r>
              <a:rPr kumimoji="0" lang="ja-JP" altLang="en-US"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日）</a:t>
            </a:r>
          </a:p>
        </p:txBody>
      </p:sp>
      <p:sp>
        <p:nvSpPr>
          <p:cNvPr id="11" name="Card2_Body">
            <a:extLst>
              <a:ext uri="{FF2B5EF4-FFF2-40B4-BE49-F238E27FC236}">
                <a16:creationId xmlns:a16="http://schemas.microsoft.com/office/drawing/2014/main" id="{071EA822-5DE7-F7FC-CE53-C2441B6BA07A}"/>
              </a:ext>
            </a:extLst>
          </p:cNvPr>
          <p:cNvSpPr txBox="1"/>
          <p:nvPr/>
        </p:nvSpPr>
        <p:spPr>
          <a:xfrm>
            <a:off x="35534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4A6FA5"/>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5" name="Card3_Title">
            <a:extLst>
              <a:ext uri="{FF2B5EF4-FFF2-40B4-BE49-F238E27FC236}">
                <a16:creationId xmlns:a16="http://schemas.microsoft.com/office/drawing/2014/main" id="{8D47B4FA-63E9-2461-A89D-BE48099D1CEF}"/>
              </a:ext>
            </a:extLst>
          </p:cNvPr>
          <p:cNvSpPr txBox="1"/>
          <p:nvPr/>
        </p:nvSpPr>
        <p:spPr>
          <a:xfrm>
            <a:off x="6664960" y="1709511"/>
            <a:ext cx="2921000" cy="457200"/>
          </a:xfrm>
          <a:prstGeom prst="rect">
            <a:avLst/>
          </a:prstGeom>
          <a:solidFill>
            <a:srgbClr val="FFFFFF"/>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検索「後」クエリ（</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1〜15</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日</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7" name="Card3_Body">
            <a:extLst>
              <a:ext uri="{FF2B5EF4-FFF2-40B4-BE49-F238E27FC236}">
                <a16:creationId xmlns:a16="http://schemas.microsoft.com/office/drawing/2014/main" id="{0F35057D-2CE3-9DDA-8E94-282A37275B5F}"/>
              </a:ext>
            </a:extLst>
          </p:cNvPr>
          <p:cNvSpPr txBox="1"/>
          <p:nvPr/>
        </p:nvSpPr>
        <p:spPr>
          <a:xfrm>
            <a:off x="66649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1F2A5C"/>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2" name="テキスト ボックス 11">
            <a:extLst>
              <a:ext uri="{FF2B5EF4-FFF2-40B4-BE49-F238E27FC236}">
                <a16:creationId xmlns:a16="http://schemas.microsoft.com/office/drawing/2014/main" id="{DCF84225-84DA-E8B0-FCCE-46A1376BC209}"/>
              </a:ext>
            </a:extLst>
          </p:cNvPr>
          <p:cNvSpPr txBox="1"/>
          <p:nvPr/>
        </p:nvSpPr>
        <p:spPr>
          <a:xfrm>
            <a:off x="5286079" y="4595204"/>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13" name="矢印: 下 12">
            <a:extLst>
              <a:ext uri="{FF2B5EF4-FFF2-40B4-BE49-F238E27FC236}">
                <a16:creationId xmlns:a16="http://schemas.microsoft.com/office/drawing/2014/main" id="{D61D535A-38C6-7BB0-0D6E-34AB306808A8}"/>
              </a:ext>
            </a:extLst>
          </p:cNvPr>
          <p:cNvSpPr/>
          <p:nvPr/>
        </p:nvSpPr>
        <p:spPr>
          <a:xfrm>
            <a:off x="5036442" y="3737247"/>
            <a:ext cx="1097280" cy="20900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6" name="Card1_Title">
            <a:extLst>
              <a:ext uri="{FF2B5EF4-FFF2-40B4-BE49-F238E27FC236}">
                <a16:creationId xmlns:a16="http://schemas.microsoft.com/office/drawing/2014/main" id="{EA1CCC1E-91FF-5127-259C-24170B827EFB}"/>
              </a:ext>
            </a:extLst>
          </p:cNvPr>
          <p:cNvSpPr txBox="1"/>
          <p:nvPr/>
        </p:nvSpPr>
        <p:spPr>
          <a:xfrm>
            <a:off x="4470369" y="3994007"/>
            <a:ext cx="2194591" cy="457200"/>
          </a:xfrm>
          <a:prstGeom prst="rect">
            <a:avLst/>
          </a:prstGeom>
          <a:solidFill>
            <a:schemeClr val="accent1">
              <a:lumMod val="20000"/>
              <a:lumOff val="80000"/>
            </a:schemeClr>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離脱防止</a:t>
            </a:r>
          </a:p>
        </p:txBody>
      </p:sp>
      <p:cxnSp>
        <p:nvCxnSpPr>
          <p:cNvPr id="20" name="直線コネクタ 19">
            <a:extLst>
              <a:ext uri="{FF2B5EF4-FFF2-40B4-BE49-F238E27FC236}">
                <a16:creationId xmlns:a16="http://schemas.microsoft.com/office/drawing/2014/main" id="{5BE55DA4-D366-93E9-818A-C5CB316D61F6}"/>
              </a:ext>
            </a:extLst>
          </p:cNvPr>
          <p:cNvCxnSpPr/>
          <p:nvPr/>
        </p:nvCxnSpPr>
        <p:spPr>
          <a:xfrm>
            <a:off x="5094517" y="4709762"/>
            <a:ext cx="0" cy="1292023"/>
          </a:xfrm>
          <a:prstGeom prst="line">
            <a:avLst/>
          </a:prstGeom>
          <a:ln>
            <a:solidFill>
              <a:srgbClr val="04FA0A"/>
            </a:solidFill>
          </a:ln>
        </p:spPr>
        <p:style>
          <a:lnRef idx="1">
            <a:schemeClr val="accent1"/>
          </a:lnRef>
          <a:fillRef idx="0">
            <a:schemeClr val="accent1"/>
          </a:fillRef>
          <a:effectRef idx="0">
            <a:schemeClr val="accent1"/>
          </a:effectRef>
          <a:fontRef idx="minor">
            <a:schemeClr val="tx1"/>
          </a:fontRef>
        </p:style>
      </p:cxnSp>
      <p:pic>
        <p:nvPicPr>
          <p:cNvPr id="22" name="図 21" descr="LINE公式アカウントのロゴを活用しよう！注意点やNG例も合わせて解説 - LINEマーケティングツールFANVO">
            <a:extLst>
              <a:ext uri="{FF2B5EF4-FFF2-40B4-BE49-F238E27FC236}">
                <a16:creationId xmlns:a16="http://schemas.microsoft.com/office/drawing/2014/main" id="{4DC60E86-0524-E40F-7236-4D8A38BD333B}"/>
              </a:ext>
            </a:extLst>
          </p:cNvPr>
          <p:cNvPicPr>
            <a:picLocks noChangeAspect="1"/>
          </p:cNvPicPr>
          <p:nvPr/>
        </p:nvPicPr>
        <p:blipFill>
          <a:blip r:embed="rId3"/>
          <a:stretch>
            <a:fillRect/>
          </a:stretch>
        </p:blipFill>
        <p:spPr>
          <a:xfrm>
            <a:off x="4866739" y="4519050"/>
            <a:ext cx="419340" cy="418460"/>
          </a:xfrm>
          <a:prstGeom prst="rect">
            <a:avLst/>
          </a:prstGeom>
        </p:spPr>
      </p:pic>
      <p:sp>
        <p:nvSpPr>
          <p:cNvPr id="24" name="テキスト ボックス 23">
            <a:extLst>
              <a:ext uri="{FF2B5EF4-FFF2-40B4-BE49-F238E27FC236}">
                <a16:creationId xmlns:a16="http://schemas.microsoft.com/office/drawing/2014/main" id="{8F0B071A-7C5B-F060-B690-5A7A3AFEC0DD}"/>
              </a:ext>
            </a:extLst>
          </p:cNvPr>
          <p:cNvSpPr txBox="1"/>
          <p:nvPr/>
        </p:nvSpPr>
        <p:spPr>
          <a:xfrm>
            <a:off x="5268638" y="5094163"/>
            <a:ext cx="3857945" cy="261610"/>
          </a:xfrm>
          <a:prstGeom prst="rect">
            <a:avLst/>
          </a:prstGeom>
          <a:noFill/>
        </p:spPr>
        <p:txBody>
          <a:bodyPr wrap="square">
            <a:spAutoFit/>
          </a:bodyPr>
          <a:lstStyle/>
          <a:p>
            <a:r>
              <a:rPr lang="ja-JP" altLang="en-US" sz="1100" b="1" dirty="0">
                <a:latin typeface="メイリオ"/>
                <a:ea typeface="メイリオ"/>
                <a:cs typeface="メイリオ"/>
                <a:sym typeface="Meiryo"/>
              </a:rPr>
              <a:t>⇨ステップ配信がスタート。</a:t>
            </a:r>
            <a:endParaRPr lang="ja-JP" altLang="en-US" sz="1200" dirty="0">
              <a:latin typeface="メイリオ"/>
              <a:ea typeface="メイリオ"/>
              <a:cs typeface="メイリオ"/>
            </a:endParaRPr>
          </a:p>
        </p:txBody>
      </p:sp>
      <p:sp>
        <p:nvSpPr>
          <p:cNvPr id="26" name="テキスト ボックス 25">
            <a:extLst>
              <a:ext uri="{FF2B5EF4-FFF2-40B4-BE49-F238E27FC236}">
                <a16:creationId xmlns:a16="http://schemas.microsoft.com/office/drawing/2014/main" id="{70592E01-ABF8-E8A1-7E8A-7A1556DFA756}"/>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前後検索を各カテゴリ別</a:t>
            </a: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ニーズ大小別で棲み分け、最適なタイミングで</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ステップ配信のコンテンツ出し分けに活用。</a:t>
            </a:r>
            <a:endParaRPr lang="ja-JP" altLang="ja-JP" sz="1100" dirty="0">
              <a:effectLst/>
              <a:latin typeface="メイリオ" panose="02020603050405020304" pitchFamily="18" charset="0"/>
              <a:ea typeface="メイリオ" panose="02020400000000000000" pitchFamily="18" charset="-128"/>
              <a:cs typeface="メイリオ"/>
            </a:endParaRPr>
          </a:p>
        </p:txBody>
      </p:sp>
    </p:spTree>
    <p:extLst>
      <p:ext uri="{BB962C8B-B14F-4D97-AF65-F5344CB8AC3E}">
        <p14:creationId xmlns:p14="http://schemas.microsoft.com/office/powerpoint/2010/main" val="535646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8DBEE-A033-E538-7B67-FCA6549C3DF9}"/>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88D946F-DA36-B087-C6F8-FF4EC57BC7C4}"/>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ニーズ調査（業界</a:t>
            </a:r>
            <a:r>
              <a:rPr lang="en-US" altLang="ja-JP" sz="1600" b="1" dirty="0">
                <a:solidFill>
                  <a:srgbClr val="002060"/>
                </a:solidFill>
                <a:latin typeface="メイリオ"/>
                <a:ea typeface="メイリオ"/>
                <a:cs typeface="メイリオ"/>
                <a:sym typeface="Meiryo"/>
              </a:rPr>
              <a:t>STUDY</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8" name="テキスト ボックス 7">
            <a:extLst>
              <a:ext uri="{FF2B5EF4-FFF2-40B4-BE49-F238E27FC236}">
                <a16:creationId xmlns:a16="http://schemas.microsoft.com/office/drawing/2014/main" id="{8AC0F8FD-EDCC-5FCF-2FF3-71604C94B29B}"/>
              </a:ext>
            </a:extLst>
          </p:cNvPr>
          <p:cNvSpPr txBox="1"/>
          <p:nvPr/>
        </p:nvSpPr>
        <p:spPr>
          <a:xfrm>
            <a:off x="384048" y="5943600"/>
            <a:ext cx="9098280" cy="384048"/>
          </a:xfrm>
          <a:prstGeom prst="rect">
            <a:avLst/>
          </a:prstGeom>
          <a:noFill/>
        </p:spPr>
        <p:txBody>
          <a:bodyPr wrap="square">
            <a:spAutoFit/>
          </a:bodyPr>
          <a:lstStyle/>
          <a:p>
            <a:pPr algn="r"/>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※営業職員数：生命保険協会「2025年版 生命保険の動向」／加入経路：生命保険文化センター「2024（令和6）年度 生命保険に関する全国実態調査」</a:t>
            </a:r>
            <a:endParaRPr lang="ja-JP" altLang="en-US" sz="1400" dirty="0">
              <a:solidFill>
                <a:schemeClr val="bg1">
                  <a:lumMod val="65000"/>
                </a:schemeClr>
              </a:solidFill>
              <a:latin typeface="メイリオ"/>
              <a:ea typeface="メイリオ"/>
              <a:cs typeface="メイリオ"/>
            </a:endParaRPr>
          </a:p>
          <a:p>
            <a:pPr algn="r"/>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※接触回数：矢野経済研究所「生命保険の営業職員アンケート調査」（2023年4〜6月、生命保険の営業職員400名）</a:t>
            </a:r>
            <a:endParaRPr lang="ja-JP" altLang="en-US" sz="1400" dirty="0">
              <a:solidFill>
                <a:schemeClr val="bg1">
                  <a:lumMod val="65000"/>
                </a:schemeClr>
              </a:solidFill>
              <a:latin typeface="メイリオ"/>
              <a:ea typeface="メイリオ"/>
              <a:cs typeface="メイリオ"/>
            </a:endParaRPr>
          </a:p>
        </p:txBody>
      </p:sp>
      <p:sp>
        <p:nvSpPr>
          <p:cNvPr id="22" name="Card1_Title">
            <a:extLst>
              <a:ext uri="{FF2B5EF4-FFF2-40B4-BE49-F238E27FC236}">
                <a16:creationId xmlns:a16="http://schemas.microsoft.com/office/drawing/2014/main" id="{F09D273B-3EB8-1C59-CFC4-7013E4A1F363}"/>
              </a:ext>
            </a:extLst>
          </p:cNvPr>
          <p:cNvSpPr txBox="1"/>
          <p:nvPr/>
        </p:nvSpPr>
        <p:spPr>
          <a:xfrm>
            <a:off x="381000" y="755465"/>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営業職員数</a:t>
            </a:r>
          </a:p>
        </p:txBody>
      </p:sp>
      <p:sp>
        <p:nvSpPr>
          <p:cNvPr id="24" name="Card1_Body">
            <a:extLst>
              <a:ext uri="{FF2B5EF4-FFF2-40B4-BE49-F238E27FC236}">
                <a16:creationId xmlns:a16="http://schemas.microsoft.com/office/drawing/2014/main" id="{C4D4BD62-2E83-C234-FD58-451256FC8C12}"/>
              </a:ext>
            </a:extLst>
          </p:cNvPr>
          <p:cNvSpPr txBox="1"/>
          <p:nvPr/>
        </p:nvSpPr>
        <p:spPr>
          <a:xfrm>
            <a:off x="381000" y="1247501"/>
            <a:ext cx="2921000" cy="973185"/>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約24万人で横ばい（2020〜2024年度）</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生命保険の営業職員（各年度末）</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26" name="Card2_Title">
            <a:extLst>
              <a:ext uri="{FF2B5EF4-FFF2-40B4-BE49-F238E27FC236}">
                <a16:creationId xmlns:a16="http://schemas.microsoft.com/office/drawing/2014/main" id="{A353F2E6-73D0-7C02-26E1-1B6C2DBCE0B3}"/>
              </a:ext>
            </a:extLst>
          </p:cNvPr>
          <p:cNvSpPr txBox="1"/>
          <p:nvPr/>
        </p:nvSpPr>
        <p:spPr>
          <a:xfrm>
            <a:off x="3492500" y="755465"/>
            <a:ext cx="2921000" cy="457200"/>
          </a:xfrm>
          <a:prstGeom prst="rect">
            <a:avLst/>
          </a:prstGeom>
          <a:solidFill>
            <a:srgbClr val="FFFFFF"/>
          </a:solidFill>
          <a:ln w="6350">
            <a:solidFill>
              <a:srgbClr val="4A6FA5"/>
            </a:solidFill>
          </a:ln>
        </p:spPr>
        <p:txBody>
          <a:bodyPr wrap="square" lIns="177800" tIns="101600" rIns="177800" bIns="101600" anchor="ctr"/>
          <a:lstStyle/>
          <a:p>
            <a:pPr>
              <a:buNone/>
            </a:pPr>
            <a:r>
              <a:rPr lang="ja-JP" sz="1400" b="1" dirty="0">
                <a:solidFill>
                  <a:srgbClr val="4A6FA5"/>
                </a:solidFill>
                <a:latin typeface="メイリオ" panose="020B0604030504040204" pitchFamily="50" charset="-128"/>
                <a:ea typeface="メイリオ" panose="020B0604030504040204" pitchFamily="50" charset="-128"/>
                <a:cs typeface="メイリオ"/>
              </a:rPr>
              <a:t>保険の加入経路</a:t>
            </a:r>
          </a:p>
        </p:txBody>
      </p:sp>
      <p:sp>
        <p:nvSpPr>
          <p:cNvPr id="28" name="Card2_Body">
            <a:extLst>
              <a:ext uri="{FF2B5EF4-FFF2-40B4-BE49-F238E27FC236}">
                <a16:creationId xmlns:a16="http://schemas.microsoft.com/office/drawing/2014/main" id="{E6278C61-2C8E-CFD2-1633-C4571ED6A510}"/>
              </a:ext>
            </a:extLst>
          </p:cNvPr>
          <p:cNvSpPr txBox="1"/>
          <p:nvPr/>
        </p:nvSpPr>
        <p:spPr>
          <a:xfrm>
            <a:off x="3492500" y="1247501"/>
            <a:ext cx="2921000" cy="973185"/>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加入経路のうち「生命保険会社の営業職員」が56.7%（2024年調査）</a:t>
            </a:r>
          </a:p>
          <a:p>
            <a:pPr marL="171450" indent="-171450">
              <a:spcBef>
                <a:spcPts val="200"/>
              </a:spcBef>
              <a:buClr>
                <a:srgbClr val="4A6FA5"/>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0" name="Card3_Title">
            <a:extLst>
              <a:ext uri="{FF2B5EF4-FFF2-40B4-BE49-F238E27FC236}">
                <a16:creationId xmlns:a16="http://schemas.microsoft.com/office/drawing/2014/main" id="{0B941908-3223-5564-217F-FA5805E7C3CC}"/>
              </a:ext>
            </a:extLst>
          </p:cNvPr>
          <p:cNvSpPr txBox="1"/>
          <p:nvPr/>
        </p:nvSpPr>
        <p:spPr>
          <a:xfrm>
            <a:off x="6604000" y="755465"/>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お客様との接触回数</a:t>
            </a:r>
          </a:p>
        </p:txBody>
      </p:sp>
      <p:sp>
        <p:nvSpPr>
          <p:cNvPr id="32" name="Card3_Body">
            <a:extLst>
              <a:ext uri="{FF2B5EF4-FFF2-40B4-BE49-F238E27FC236}">
                <a16:creationId xmlns:a16="http://schemas.microsoft.com/office/drawing/2014/main" id="{3A759964-4FD9-35ED-7557-01B7E8C5068B}"/>
              </a:ext>
            </a:extLst>
          </p:cNvPr>
          <p:cNvSpPr txBox="1"/>
          <p:nvPr/>
        </p:nvSpPr>
        <p:spPr>
          <a:xfrm>
            <a:off x="6604000" y="1247501"/>
            <a:ext cx="2921000" cy="973185"/>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コロナ前と比べ、接触回数が「減少した」営業職員が55.5%（2023年調査）</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4" name="Card1_Body">
            <a:extLst>
              <a:ext uri="{FF2B5EF4-FFF2-40B4-BE49-F238E27FC236}">
                <a16:creationId xmlns:a16="http://schemas.microsoft.com/office/drawing/2014/main" id="{4D793872-6303-5CAB-0032-0CF8F2E827B9}"/>
              </a:ext>
            </a:extLst>
          </p:cNvPr>
          <p:cNvSpPr txBox="1"/>
          <p:nvPr/>
        </p:nvSpPr>
        <p:spPr>
          <a:xfrm>
            <a:off x="381000" y="2309947"/>
            <a:ext cx="2921000" cy="1066800"/>
          </a:xfrm>
          <a:prstGeom prst="rect">
            <a:avLst/>
          </a:prstGeom>
          <a:solidFill>
            <a:schemeClr val="accent1">
              <a:lumMod val="20000"/>
              <a:lumOff val="80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毎年ほぼ同じ規模の方が、営業を続けている</a:t>
            </a:r>
          </a:p>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一度つながった方に、次のイベントも届けられる</a:t>
            </a:r>
          </a:p>
          <a:p>
            <a:pPr marL="171450" indent="-171450">
              <a:spcBef>
                <a:spcPts val="200"/>
              </a:spcBef>
              <a:buClr>
                <a:srgbClr val="1F2A5C"/>
              </a:buClr>
              <a:buFont typeface="Arial"/>
              <a:buChar char="•"/>
            </a:pPr>
            <a:endParaRPr lang="ja-JP" sz="1200" b="1"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6" name="Card2_Body">
            <a:extLst>
              <a:ext uri="{FF2B5EF4-FFF2-40B4-BE49-F238E27FC236}">
                <a16:creationId xmlns:a16="http://schemas.microsoft.com/office/drawing/2014/main" id="{FBD69C87-50C1-1FB7-B8EB-D2F245D2012C}"/>
              </a:ext>
            </a:extLst>
          </p:cNvPr>
          <p:cNvSpPr txBox="1"/>
          <p:nvPr/>
        </p:nvSpPr>
        <p:spPr>
          <a:xfrm>
            <a:off x="3492500" y="2309947"/>
            <a:ext cx="2921000" cy="1066800"/>
          </a:xfrm>
          <a:prstGeom prst="rect">
            <a:avLst/>
          </a:prstGeom>
          <a:solidFill>
            <a:schemeClr val="accent1">
              <a:lumMod val="20000"/>
              <a:lumOff val="80000"/>
            </a:schemeClr>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保険の加入は、今も営業職員が中心</a:t>
            </a:r>
          </a:p>
          <a:p>
            <a:pPr marL="171450" indent="-171450">
              <a:spcBef>
                <a:spcPts val="200"/>
              </a:spcBef>
              <a:buClr>
                <a:srgbClr val="4A6FA5"/>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営業力を上げたいニーズは続く</a:t>
            </a:r>
          </a:p>
          <a:p>
            <a:pPr marL="171450" indent="-171450">
              <a:spcBef>
                <a:spcPts val="200"/>
              </a:spcBef>
              <a:buClr>
                <a:srgbClr val="4A6FA5"/>
              </a:buClr>
              <a:buFont typeface="Arial"/>
              <a:buChar char="•"/>
            </a:pPr>
            <a:endParaRPr lang="ja-JP" sz="1200" b="1"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8" name="Card3_Body">
            <a:extLst>
              <a:ext uri="{FF2B5EF4-FFF2-40B4-BE49-F238E27FC236}">
                <a16:creationId xmlns:a16="http://schemas.microsoft.com/office/drawing/2014/main" id="{A5C634F4-8754-3DE6-64E2-704CF74E07EF}"/>
              </a:ext>
            </a:extLst>
          </p:cNvPr>
          <p:cNvSpPr txBox="1"/>
          <p:nvPr/>
        </p:nvSpPr>
        <p:spPr>
          <a:xfrm>
            <a:off x="6604000" y="2309947"/>
            <a:ext cx="2921000" cy="1066800"/>
          </a:xfrm>
          <a:prstGeom prst="rect">
            <a:avLst/>
          </a:prstGeom>
          <a:solidFill>
            <a:schemeClr val="accent1">
              <a:lumMod val="20000"/>
              <a:lumOff val="80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お客様と会える回数が減っている</a:t>
            </a:r>
          </a:p>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成果を出す営業のやり方が求められている</a:t>
            </a:r>
          </a:p>
          <a:p>
            <a:pPr marL="171450" indent="-171450">
              <a:spcBef>
                <a:spcPts val="200"/>
              </a:spcBef>
              <a:buClr>
                <a:srgbClr val="1F2A5C"/>
              </a:buClr>
              <a:buFont typeface="Arial"/>
              <a:buChar char="•"/>
            </a:pPr>
            <a:endParaRPr lang="ja-JP" sz="1200" b="1"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9" name="矢印: 下 38">
            <a:extLst>
              <a:ext uri="{FF2B5EF4-FFF2-40B4-BE49-F238E27FC236}">
                <a16:creationId xmlns:a16="http://schemas.microsoft.com/office/drawing/2014/main" id="{BA24D6FA-F12D-EEEA-58E0-4E8D7E5B054F}"/>
              </a:ext>
            </a:extLst>
          </p:cNvPr>
          <p:cNvSpPr/>
          <p:nvPr/>
        </p:nvSpPr>
        <p:spPr>
          <a:xfrm>
            <a:off x="1297577" y="2159726"/>
            <a:ext cx="1097280" cy="182880"/>
          </a:xfrm>
          <a:prstGeom prst="downArrow">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1" name="矢印: 下 40">
            <a:extLst>
              <a:ext uri="{FF2B5EF4-FFF2-40B4-BE49-F238E27FC236}">
                <a16:creationId xmlns:a16="http://schemas.microsoft.com/office/drawing/2014/main" id="{142BC3DE-B10E-3A60-51E8-71FB62C8E8FE}"/>
              </a:ext>
            </a:extLst>
          </p:cNvPr>
          <p:cNvSpPr/>
          <p:nvPr/>
        </p:nvSpPr>
        <p:spPr>
          <a:xfrm>
            <a:off x="4404360" y="2159726"/>
            <a:ext cx="1097280" cy="182880"/>
          </a:xfrm>
          <a:prstGeom prst="downArrow">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3" name="矢印: 下 42">
            <a:extLst>
              <a:ext uri="{FF2B5EF4-FFF2-40B4-BE49-F238E27FC236}">
                <a16:creationId xmlns:a16="http://schemas.microsoft.com/office/drawing/2014/main" id="{E8BF74FD-3839-8A1C-870B-B0506D93B9EE}"/>
              </a:ext>
            </a:extLst>
          </p:cNvPr>
          <p:cNvSpPr/>
          <p:nvPr/>
        </p:nvSpPr>
        <p:spPr>
          <a:xfrm>
            <a:off x="7515860" y="2159726"/>
            <a:ext cx="1097280" cy="182880"/>
          </a:xfrm>
          <a:prstGeom prst="downArrow">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6" name="グラフの見出し"/>
          <p:cNvSpPr/>
          <p:nvPr/>
        </p:nvSpPr>
        <p:spPr>
          <a:xfrm>
            <a:off x="640080" y="3566160"/>
            <a:ext cx="8595360" cy="274320"/>
          </a:xfrm>
          <a:prstGeom prst="rect">
            <a:avLst/>
          </a:prstGeom>
          <a:noFill/>
          <a:ln>
            <a:noFill/>
          </a:ln>
        </p:spPr>
        <p:txBody>
          <a:bodyPr wrap="square" lIns="0" tIns="0" rIns="0" bIns="0" rtlCol="0" anchor="ctr">
            <a:noAutofit/>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生命保険の営業職員数（各年度末・名）</a:t>
            </a:r>
            <a:endParaRPr lang="ja-JP" altLang="en-US" sz="1200" dirty="0">
              <a:latin typeface="メイリオ"/>
              <a:ea typeface="メイリオ"/>
              <a:cs typeface="メイリオ"/>
            </a:endParaRPr>
          </a:p>
        </p:txBody>
      </p:sp>
      <p:sp>
        <p:nvSpPr>
          <p:cNvPr id="47" name="棒 2020年度"/>
          <p:cNvSpPr/>
          <p:nvPr/>
        </p:nvSpPr>
        <p:spPr>
          <a:xfrm>
            <a:off x="1051560" y="4168707"/>
            <a:ext cx="1005840" cy="1454852"/>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48" name="値 2020年度"/>
          <p:cNvSpPr/>
          <p:nvPr/>
        </p:nvSpPr>
        <p:spPr>
          <a:xfrm>
            <a:off x="868680" y="3894387"/>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248,601</a:t>
            </a:r>
            <a:endParaRPr lang="ja-JP" altLang="en-US" sz="1200" dirty="0">
              <a:latin typeface="メイリオ"/>
              <a:ea typeface="メイリオ"/>
              <a:cs typeface="メイリオ"/>
            </a:endParaRPr>
          </a:p>
        </p:txBody>
      </p:sp>
      <p:sp>
        <p:nvSpPr>
          <p:cNvPr id="49" name="年度 2020年度"/>
          <p:cNvSpPr/>
          <p:nvPr/>
        </p:nvSpPr>
        <p:spPr>
          <a:xfrm>
            <a:off x="86868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2020年度</a:t>
            </a:r>
            <a:endParaRPr lang="ja-JP" altLang="en-US" sz="1200" dirty="0">
              <a:latin typeface="メイリオ"/>
              <a:ea typeface="メイリオ"/>
              <a:cs typeface="メイリオ"/>
            </a:endParaRPr>
          </a:p>
        </p:txBody>
      </p:sp>
      <p:sp>
        <p:nvSpPr>
          <p:cNvPr id="50" name="棒 2021年度"/>
          <p:cNvSpPr/>
          <p:nvPr/>
        </p:nvSpPr>
        <p:spPr>
          <a:xfrm>
            <a:off x="2743200" y="4201795"/>
            <a:ext cx="1005840" cy="1421764"/>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51" name="値 2021年度"/>
          <p:cNvSpPr/>
          <p:nvPr/>
        </p:nvSpPr>
        <p:spPr>
          <a:xfrm>
            <a:off x="2560320" y="3927475"/>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242,947</a:t>
            </a:r>
            <a:endParaRPr lang="ja-JP" altLang="en-US" sz="1200" dirty="0">
              <a:latin typeface="メイリオ"/>
              <a:ea typeface="メイリオ"/>
              <a:cs typeface="メイリオ"/>
            </a:endParaRPr>
          </a:p>
        </p:txBody>
      </p:sp>
      <p:sp>
        <p:nvSpPr>
          <p:cNvPr id="52" name="年度 2021年度"/>
          <p:cNvSpPr/>
          <p:nvPr/>
        </p:nvSpPr>
        <p:spPr>
          <a:xfrm>
            <a:off x="256032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2021年度</a:t>
            </a:r>
            <a:endParaRPr lang="ja-JP" altLang="en-US" sz="1200" dirty="0">
              <a:latin typeface="メイリオ"/>
              <a:ea typeface="メイリオ"/>
              <a:cs typeface="メイリオ"/>
            </a:endParaRPr>
          </a:p>
        </p:txBody>
      </p:sp>
      <p:sp>
        <p:nvSpPr>
          <p:cNvPr id="53" name="棒 2022年度"/>
          <p:cNvSpPr/>
          <p:nvPr/>
        </p:nvSpPr>
        <p:spPr>
          <a:xfrm>
            <a:off x="4434840" y="4177602"/>
            <a:ext cx="1005840" cy="1445957"/>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54" name="値 2022年度"/>
          <p:cNvSpPr/>
          <p:nvPr/>
        </p:nvSpPr>
        <p:spPr>
          <a:xfrm>
            <a:off x="4251960" y="3903282"/>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247,081</a:t>
            </a:r>
            <a:endParaRPr lang="ja-JP" altLang="en-US" sz="1200" dirty="0">
              <a:latin typeface="メイリオ"/>
              <a:ea typeface="メイリオ"/>
              <a:cs typeface="メイリオ"/>
            </a:endParaRPr>
          </a:p>
        </p:txBody>
      </p:sp>
      <p:sp>
        <p:nvSpPr>
          <p:cNvPr id="55" name="年度 2022年度"/>
          <p:cNvSpPr/>
          <p:nvPr/>
        </p:nvSpPr>
        <p:spPr>
          <a:xfrm>
            <a:off x="425196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2022年度</a:t>
            </a:r>
            <a:endParaRPr lang="ja-JP" altLang="en-US" sz="1200" dirty="0">
              <a:latin typeface="メイリオ"/>
              <a:ea typeface="メイリオ"/>
              <a:cs typeface="メイリオ"/>
            </a:endParaRPr>
          </a:p>
        </p:txBody>
      </p:sp>
      <p:sp>
        <p:nvSpPr>
          <p:cNvPr id="56" name="棒 2023年度"/>
          <p:cNvSpPr/>
          <p:nvPr/>
        </p:nvSpPr>
        <p:spPr>
          <a:xfrm>
            <a:off x="6126480" y="4213757"/>
            <a:ext cx="1005840" cy="1409802"/>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57" name="値 2023年度"/>
          <p:cNvSpPr/>
          <p:nvPr/>
        </p:nvSpPr>
        <p:spPr>
          <a:xfrm>
            <a:off x="5943600" y="3939437"/>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240,903</a:t>
            </a:r>
            <a:endParaRPr lang="ja-JP" altLang="en-US" sz="1200" dirty="0">
              <a:latin typeface="メイリオ"/>
              <a:ea typeface="メイリオ"/>
              <a:cs typeface="メイリオ"/>
            </a:endParaRPr>
          </a:p>
        </p:txBody>
      </p:sp>
      <p:sp>
        <p:nvSpPr>
          <p:cNvPr id="58" name="年度 2023年度"/>
          <p:cNvSpPr/>
          <p:nvPr/>
        </p:nvSpPr>
        <p:spPr>
          <a:xfrm>
            <a:off x="594360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2023年度</a:t>
            </a:r>
            <a:endParaRPr lang="ja-JP" altLang="en-US" sz="1200" dirty="0">
              <a:latin typeface="メイリオ"/>
              <a:ea typeface="メイリオ"/>
              <a:cs typeface="メイリオ"/>
            </a:endParaRPr>
          </a:p>
        </p:txBody>
      </p:sp>
      <p:sp>
        <p:nvSpPr>
          <p:cNvPr id="59" name="棒 2024年度"/>
          <p:cNvSpPr/>
          <p:nvPr/>
        </p:nvSpPr>
        <p:spPr>
          <a:xfrm>
            <a:off x="7818120" y="4210222"/>
            <a:ext cx="1005840" cy="1413337"/>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60" name="値 2024年度"/>
          <p:cNvSpPr/>
          <p:nvPr/>
        </p:nvSpPr>
        <p:spPr>
          <a:xfrm>
            <a:off x="7635240" y="3935902"/>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241,507</a:t>
            </a:r>
            <a:endParaRPr lang="ja-JP" altLang="en-US" sz="1200" dirty="0">
              <a:latin typeface="メイリオ"/>
              <a:ea typeface="メイリオ"/>
              <a:cs typeface="メイリオ"/>
            </a:endParaRPr>
          </a:p>
        </p:txBody>
      </p:sp>
      <p:sp>
        <p:nvSpPr>
          <p:cNvPr id="61" name="年度 2024年度"/>
          <p:cNvSpPr/>
          <p:nvPr/>
        </p:nvSpPr>
        <p:spPr>
          <a:xfrm>
            <a:off x="763524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2024年度</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2544728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E3E23-EB7F-D169-38DE-98B27F305DB6}"/>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C62F92F0-EE46-60C0-E453-43E26B4DBD66}"/>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ニーズ調査（業界</a:t>
            </a:r>
            <a:r>
              <a:rPr lang="en-US" altLang="ja-JP" sz="1600" b="1" dirty="0">
                <a:solidFill>
                  <a:srgbClr val="002060"/>
                </a:solidFill>
                <a:latin typeface="メイリオ"/>
                <a:ea typeface="メイリオ"/>
                <a:cs typeface="メイリオ"/>
                <a:sym typeface="Meiryo"/>
              </a:rPr>
              <a:t>STUDY</a:t>
            </a:r>
            <a:r>
              <a:rPr lang="ja-JP" altLang="en-US" sz="1600" b="1" dirty="0">
                <a:solidFill>
                  <a:srgbClr val="002060"/>
                </a:solidFill>
                <a:latin typeface="メイリオ"/>
                <a:ea typeface="メイリオ"/>
                <a:cs typeface="メイリオ"/>
                <a:sym typeface="Meiryo"/>
              </a:rPr>
              <a:t>）　＞　貴社施策内で検討の訴求軸</a:t>
            </a:r>
            <a:endParaRPr sz="1600" b="1" dirty="0">
              <a:solidFill>
                <a:srgbClr val="002060"/>
              </a:solidFill>
              <a:latin typeface="メイリオ"/>
              <a:ea typeface="メイリオ"/>
              <a:cs typeface="メイリオ"/>
              <a:sym typeface="Meiryo"/>
            </a:endParaRPr>
          </a:p>
        </p:txBody>
      </p:sp>
      <p:sp>
        <p:nvSpPr>
          <p:cNvPr id="7" name="Card1_Title">
            <a:extLst>
              <a:ext uri="{FF2B5EF4-FFF2-40B4-BE49-F238E27FC236}">
                <a16:creationId xmlns:a16="http://schemas.microsoft.com/office/drawing/2014/main" id="{1BFDD1F8-BBF3-4DF7-5884-297BE569EC3E}"/>
              </a:ext>
            </a:extLst>
          </p:cNvPr>
          <p:cNvSpPr txBox="1"/>
          <p:nvPr/>
        </p:nvSpPr>
        <p:spPr>
          <a:xfrm>
            <a:off x="381000" y="677092"/>
            <a:ext cx="2921000" cy="457200"/>
          </a:xfrm>
          <a:prstGeom prst="rect">
            <a:avLst/>
          </a:prstGeom>
          <a:solidFill>
            <a:schemeClr val="accent1">
              <a:lumMod val="20000"/>
              <a:lumOff val="80000"/>
            </a:schemeClr>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野沢塾</a:t>
            </a:r>
          </a:p>
        </p:txBody>
      </p:sp>
      <p:sp>
        <p:nvSpPr>
          <p:cNvPr id="12" name="Card1_Body">
            <a:extLst>
              <a:ext uri="{FF2B5EF4-FFF2-40B4-BE49-F238E27FC236}">
                <a16:creationId xmlns:a16="http://schemas.microsoft.com/office/drawing/2014/main" id="{5B59792A-DE46-0634-56D9-2B8FBF96C379}"/>
              </a:ext>
            </a:extLst>
          </p:cNvPr>
          <p:cNvSpPr txBox="1"/>
          <p:nvPr/>
        </p:nvSpPr>
        <p:spPr>
          <a:xfrm>
            <a:off x="381000" y="1186543"/>
            <a:ext cx="2921000" cy="1066800"/>
          </a:xfrm>
          <a:prstGeom prst="rect">
            <a:avLst/>
          </a:prstGeom>
          <a:solidFill>
            <a:schemeClr val="bg1">
              <a:lumMod val="95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保険営業の方向けの講座（月2回）</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サイトのボタンから友だち追加</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あいさつで特典の動画を届ける</a:t>
            </a:r>
          </a:p>
        </p:txBody>
      </p:sp>
      <p:sp>
        <p:nvSpPr>
          <p:cNvPr id="14" name="Card2_Title">
            <a:extLst>
              <a:ext uri="{FF2B5EF4-FFF2-40B4-BE49-F238E27FC236}">
                <a16:creationId xmlns:a16="http://schemas.microsoft.com/office/drawing/2014/main" id="{B77B5039-F6BC-E3F9-574B-5813CDB633F9}"/>
              </a:ext>
            </a:extLst>
          </p:cNvPr>
          <p:cNvSpPr txBox="1"/>
          <p:nvPr/>
        </p:nvSpPr>
        <p:spPr>
          <a:xfrm>
            <a:off x="3492500" y="677092"/>
            <a:ext cx="2921000" cy="457200"/>
          </a:xfrm>
          <a:prstGeom prst="rect">
            <a:avLst/>
          </a:prstGeom>
          <a:solidFill>
            <a:schemeClr val="accent1">
              <a:lumMod val="20000"/>
              <a:lumOff val="80000"/>
            </a:schemeClr>
          </a:solidFill>
          <a:ln w="6350">
            <a:solidFill>
              <a:srgbClr val="4A6FA5"/>
            </a:solidFill>
          </a:ln>
        </p:spPr>
        <p:txBody>
          <a:bodyPr wrap="square" lIns="177800" tIns="101600" rIns="177800" bIns="101600" anchor="ctr"/>
          <a:lstStyle/>
          <a:p>
            <a:pPr>
              <a:buNone/>
            </a:pPr>
            <a:r>
              <a:rPr lang="ja-JP" sz="1400" b="1" dirty="0">
                <a:solidFill>
                  <a:srgbClr val="4A6FA5"/>
                </a:solidFill>
                <a:latin typeface="メイリオ" panose="020B0604030504040204" pitchFamily="50" charset="-128"/>
                <a:ea typeface="メイリオ" panose="020B0604030504040204" pitchFamily="50" charset="-128"/>
                <a:cs typeface="メイリオ"/>
              </a:rPr>
              <a:t>R&amp;C保険営業ラボ</a:t>
            </a:r>
          </a:p>
        </p:txBody>
      </p:sp>
      <p:sp>
        <p:nvSpPr>
          <p:cNvPr id="16" name="Card2_Body">
            <a:extLst>
              <a:ext uri="{FF2B5EF4-FFF2-40B4-BE49-F238E27FC236}">
                <a16:creationId xmlns:a16="http://schemas.microsoft.com/office/drawing/2014/main" id="{31AB5D72-3A3C-E445-05CF-4BE9AAB4B3C3}"/>
              </a:ext>
            </a:extLst>
          </p:cNvPr>
          <p:cNvSpPr txBox="1"/>
          <p:nvPr/>
        </p:nvSpPr>
        <p:spPr>
          <a:xfrm>
            <a:off x="3492500" y="1186543"/>
            <a:ext cx="2921000" cy="1066800"/>
          </a:xfrm>
          <a:prstGeom prst="rect">
            <a:avLst/>
          </a:prstGeom>
          <a:solidFill>
            <a:schemeClr val="bg1">
              <a:lumMod val="95000"/>
            </a:schemeClr>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保険営業の方向けの無料の学習サービス（2026年9月開始）</a:t>
            </a:r>
          </a:p>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登録時の5問のアンケートに合わせて、資料・動画を段階的に配信</a:t>
            </a:r>
          </a:p>
          <a:p>
            <a:pPr marL="171450" indent="-171450">
              <a:spcBef>
                <a:spcPts val="200"/>
              </a:spcBef>
              <a:buClr>
                <a:srgbClr val="4A6FA5"/>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18" name="Card3_Title">
            <a:extLst>
              <a:ext uri="{FF2B5EF4-FFF2-40B4-BE49-F238E27FC236}">
                <a16:creationId xmlns:a16="http://schemas.microsoft.com/office/drawing/2014/main" id="{8EC5AF78-5D13-EC67-F0AD-F54E096AA397}"/>
              </a:ext>
            </a:extLst>
          </p:cNvPr>
          <p:cNvSpPr txBox="1"/>
          <p:nvPr/>
        </p:nvSpPr>
        <p:spPr>
          <a:xfrm>
            <a:off x="6604000" y="677092"/>
            <a:ext cx="2921000" cy="457200"/>
          </a:xfrm>
          <a:prstGeom prst="rect">
            <a:avLst/>
          </a:prstGeom>
          <a:solidFill>
            <a:schemeClr val="accent1">
              <a:lumMod val="20000"/>
              <a:lumOff val="80000"/>
            </a:schemeClr>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貴社の訴求軸</a:t>
            </a:r>
          </a:p>
        </p:txBody>
      </p:sp>
      <p:sp>
        <p:nvSpPr>
          <p:cNvPr id="20" name="Card3_Body">
            <a:extLst>
              <a:ext uri="{FF2B5EF4-FFF2-40B4-BE49-F238E27FC236}">
                <a16:creationId xmlns:a16="http://schemas.microsoft.com/office/drawing/2014/main" id="{72AF2293-D8B8-25E7-3F3D-40F12C1E03B3}"/>
              </a:ext>
            </a:extLst>
          </p:cNvPr>
          <p:cNvSpPr txBox="1"/>
          <p:nvPr/>
        </p:nvSpPr>
        <p:spPr>
          <a:xfrm>
            <a:off x="6604000" y="1186543"/>
            <a:ext cx="2921000" cy="1066800"/>
          </a:xfrm>
          <a:prstGeom prst="rect">
            <a:avLst/>
          </a:prstGeom>
          <a:solidFill>
            <a:schemeClr val="bg1">
              <a:lumMod val="95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イベントの予約・参加に合わせた案内</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参加後、サロンの入会へつなげる</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22" name="テキスト ボックス 21">
            <a:extLst>
              <a:ext uri="{FF2B5EF4-FFF2-40B4-BE49-F238E27FC236}">
                <a16:creationId xmlns:a16="http://schemas.microsoft.com/office/drawing/2014/main" id="{4CCBCA82-D6DB-24F4-C957-F66DF547D94E}"/>
              </a:ext>
            </a:extLst>
          </p:cNvPr>
          <p:cNvSpPr txBox="1"/>
          <p:nvPr/>
        </p:nvSpPr>
        <p:spPr>
          <a:xfrm>
            <a:off x="384048" y="5943600"/>
            <a:ext cx="9098280" cy="219456"/>
          </a:xfrm>
          <a:prstGeom prst="rect">
            <a:avLst/>
          </a:prstGeom>
          <a:noFill/>
        </p:spPr>
        <p:txBody>
          <a:bodyPr wrap="square">
            <a:spAutoFit/>
          </a:bodyPr>
          <a:lstStyle/>
          <a:p>
            <a:pPr algn="r"/>
            <a:r>
              <a:rPr lang="en-US" altLang="ja-JP" sz="900" b="1" dirty="0">
                <a:solidFill>
                  <a:schemeClr val="bg1">
                    <a:lumMod val="65000"/>
                  </a:schemeClr>
                </a:solidFill>
                <a:latin typeface="メイリオ" panose="020B0604030504040204" pitchFamily="50" charset="-128"/>
                <a:ea typeface="メイリオ" panose="020B0604030504040204" pitchFamily="50" charset="-128"/>
                <a:cs typeface="メイリオ"/>
              </a:rPr>
              <a:t>※野沢塾：LINE公式アカウント（2026年10月19日確認）・公式サイト（2026年10月18日確認）より。画面の名前とパスワードは伏せている</a:t>
            </a:r>
            <a:endParaRPr lang="ja-JP" altLang="en-US" sz="1400" b="1" dirty="0">
              <a:solidFill>
                <a:schemeClr val="bg1">
                  <a:lumMod val="65000"/>
                </a:schemeClr>
              </a:solidFill>
              <a:latin typeface="メイリオ"/>
              <a:ea typeface="メイリオ"/>
              <a:cs typeface="メイリオ"/>
            </a:endParaRPr>
          </a:p>
        </p:txBody>
      </p:sp>
      <p:sp>
        <p:nvSpPr>
          <p:cNvPr id="24" name="テキスト ボックス 23">
            <a:extLst>
              <a:ext uri="{FF2B5EF4-FFF2-40B4-BE49-F238E27FC236}">
                <a16:creationId xmlns:a16="http://schemas.microsoft.com/office/drawing/2014/main" id="{CC601D0D-5305-FCEB-BD05-F88C9C00ADE3}"/>
              </a:ext>
            </a:extLst>
          </p:cNvPr>
          <p:cNvSpPr txBox="1"/>
          <p:nvPr/>
        </p:nvSpPr>
        <p:spPr>
          <a:xfrm>
            <a:off x="384048" y="6163056"/>
            <a:ext cx="9098280" cy="219456"/>
          </a:xfrm>
          <a:prstGeom prst="rect">
            <a:avLst/>
          </a:prstGeom>
          <a:noFill/>
        </p:spPr>
        <p:txBody>
          <a:bodyPr wrap="square">
            <a:spAutoFit/>
          </a:bodyPr>
          <a:lstStyle/>
          <a:p>
            <a:pPr algn="r"/>
            <a:r>
              <a:rPr lang="en-US" altLang="ja-JP" sz="900" b="1" dirty="0">
                <a:solidFill>
                  <a:schemeClr val="bg1">
                    <a:lumMod val="65000"/>
                  </a:schemeClr>
                </a:solidFill>
                <a:latin typeface="メイリオ" panose="020B0604030504040204" pitchFamily="50" charset="-128"/>
                <a:ea typeface="メイリオ" panose="020B0604030504040204" pitchFamily="50" charset="-128"/>
                <a:cs typeface="メイリオ"/>
              </a:rPr>
              <a:t>※R&amp;C保険営業ラボ：R&amp;C株式会社のプレスリリースより。招待制のため、画面は未掲載</a:t>
            </a:r>
            <a:endParaRPr lang="ja-JP" altLang="en-US" sz="1400" b="1" dirty="0">
              <a:solidFill>
                <a:schemeClr val="bg1">
                  <a:lumMod val="65000"/>
                </a:schemeClr>
              </a:solidFill>
              <a:latin typeface="メイリオ"/>
              <a:ea typeface="メイリオ"/>
              <a:cs typeface="メイリオ"/>
            </a:endParaRPr>
          </a:p>
        </p:txBody>
      </p:sp>
      <p:pic>
        <p:nvPicPr>
          <p:cNvPr id="46" name="Picture 45" descr="image.png"/>
          <p:cNvPicPr>
            <a:picLocks noChangeAspect="1"/>
          </p:cNvPicPr>
          <p:nvPr/>
        </p:nvPicPr>
        <p:blipFill>
          <a:blip r:embed="rId3"/>
          <a:stretch>
            <a:fillRect/>
          </a:stretch>
        </p:blipFill>
        <p:spPr>
          <a:xfrm>
            <a:off x="1920845" y="2265155"/>
            <a:ext cx="1449467" cy="3139641"/>
          </a:xfrm>
          <a:prstGeom prst="rect">
            <a:avLst/>
          </a:prstGeom>
        </p:spPr>
      </p:pic>
      <p:sp>
        <p:nvSpPr>
          <p:cNvPr id="47" name="画像の説明"/>
          <p:cNvSpPr/>
          <p:nvPr/>
        </p:nvSpPr>
        <p:spPr>
          <a:xfrm>
            <a:off x="780858" y="5450516"/>
            <a:ext cx="3729441" cy="256032"/>
          </a:xfrm>
          <a:prstGeom prst="rect">
            <a:avLst/>
          </a:prstGeom>
          <a:noFill/>
          <a:ln>
            <a:noFill/>
          </a:ln>
        </p:spPr>
        <p:txBody>
          <a:bodyPr wrap="square" lIns="0" tIns="0" rIns="0" bIns="0" rtlCol="0" anchor="t">
            <a:noAutofit/>
          </a:bodyPr>
          <a:lstStyle/>
          <a:p>
            <a:pPr algn="ctr">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野沢塾のあいさつ（LINE公式アカウント）</a:t>
            </a:r>
            <a:endParaRPr lang="ja-JP" altLang="en-US" sz="1200" dirty="0">
              <a:latin typeface="メイリオ"/>
              <a:ea typeface="メイリオ"/>
              <a:cs typeface="メイリオ"/>
            </a:endParaRPr>
          </a:p>
        </p:txBody>
      </p:sp>
      <p:sp>
        <p:nvSpPr>
          <p:cNvPr id="48" name="他社のまとめ"/>
          <p:cNvSpPr/>
          <p:nvPr/>
        </p:nvSpPr>
        <p:spPr>
          <a:xfrm>
            <a:off x="4800600" y="2377440"/>
            <a:ext cx="4480560" cy="1188720"/>
          </a:xfrm>
          <a:prstGeom prst="rect">
            <a:avLst/>
          </a:prstGeom>
          <a:solidFill>
            <a:srgbClr val="E5E8EE"/>
          </a:solidFill>
          <a:ln>
            <a:noFill/>
          </a:ln>
        </p:spPr>
        <p:txBody>
          <a:bodyPr wrap="square" lIns="73152" tIns="36576" rIns="73152" bIns="36576" rtlCol="0" anchor="ctr">
            <a:noAutofit/>
          </a:bodyPr>
          <a:lstStyle/>
          <a:p>
            <a:pPr algn="ctr">
              <a:lnSpc>
                <a:spcPct val="12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保険営業の方向けの他社も、LINEで特典を渡し、</a:t>
            </a:r>
            <a:endParaRPr lang="ja-JP" altLang="en-US" sz="1200" dirty="0">
              <a:latin typeface="メイリオ"/>
              <a:ea typeface="メイリオ"/>
              <a:cs typeface="メイリオ"/>
            </a:endParaRPr>
          </a:p>
          <a:p>
            <a:pPr algn="ctr">
              <a:lnSpc>
                <a:spcPct val="12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友だちに学びを届けている</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861406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2193285" y="3038203"/>
            <a:ext cx="551946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施策の詳細（配信の効率化）</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52E0E886-3FF7-1177-80B0-EC2CDD9EFAA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要件定義</a:t>
            </a:r>
            <a:endParaRPr sz="1600" b="1" dirty="0">
              <a:solidFill>
                <a:srgbClr val="002060"/>
              </a:solidFill>
              <a:latin typeface="メイリオ"/>
              <a:ea typeface="メイリオ"/>
              <a:cs typeface="メイリオ"/>
              <a:sym typeface="Meiryo"/>
            </a:endParaRPr>
          </a:p>
        </p:txBody>
      </p:sp>
      <p:sp>
        <p:nvSpPr>
          <p:cNvPr id="26" name="正方形/長方形 25">
            <a:extLst>
              <a:ext uri="{FF2B5EF4-FFF2-40B4-BE49-F238E27FC236}">
                <a16:creationId xmlns:a16="http://schemas.microsoft.com/office/drawing/2014/main" id="{C4E20CB5-EE4A-545E-031C-B0FF76AEE517}"/>
              </a:ext>
            </a:extLst>
          </p:cNvPr>
          <p:cNvSpPr/>
          <p:nvPr/>
        </p:nvSpPr>
        <p:spPr>
          <a:xfrm>
            <a:off x="503966" y="775227"/>
            <a:ext cx="8898070" cy="297590"/>
          </a:xfrm>
          <a:prstGeom prst="rect">
            <a:avLst/>
          </a:prstGeom>
          <a:solidFill>
            <a:schemeClr val="tx2">
              <a:lumMod val="75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プロモーション目的</a:t>
            </a:r>
          </a:p>
        </p:txBody>
      </p:sp>
      <p:sp>
        <p:nvSpPr>
          <p:cNvPr id="27" name="正方形/長方形 26">
            <a:extLst>
              <a:ext uri="{FF2B5EF4-FFF2-40B4-BE49-F238E27FC236}">
                <a16:creationId xmlns:a16="http://schemas.microsoft.com/office/drawing/2014/main" id="{A773DE68-F51A-B2B7-A85F-DDEF158DE1E8}"/>
              </a:ext>
            </a:extLst>
          </p:cNvPr>
          <p:cNvSpPr/>
          <p:nvPr/>
        </p:nvSpPr>
        <p:spPr>
          <a:xfrm>
            <a:off x="503967" y="1090870"/>
            <a:ext cx="8898070" cy="525365"/>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1600" b="1" dirty="0">
                <a:solidFill>
                  <a:srgbClr val="333333"/>
                </a:solidFill>
                <a:latin typeface="メイリオ"/>
                <a:ea typeface="メイリオ"/>
                <a:cs typeface="メイリオ"/>
              </a:rPr>
              <a:t>広告で集めた方をLINEにため、次のイベント参加数・入会数を伸ばし、LTVを最大化する</a:t>
            </a:r>
            <a:endParaRPr lang="en-US" altLang="ja-JP" b="1" dirty="0">
              <a:solidFill>
                <a:srgbClr val="1F2A5C"/>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0" name="正方形/長方形 29">
            <a:extLst>
              <a:ext uri="{FF2B5EF4-FFF2-40B4-BE49-F238E27FC236}">
                <a16:creationId xmlns:a16="http://schemas.microsoft.com/office/drawing/2014/main" id="{FAB8E792-C2AE-2097-2C3E-326F4730D6FF}"/>
              </a:ext>
            </a:extLst>
          </p:cNvPr>
          <p:cNvSpPr/>
          <p:nvPr/>
        </p:nvSpPr>
        <p:spPr>
          <a:xfrm>
            <a:off x="503965" y="3316813"/>
            <a:ext cx="8898070" cy="366112"/>
          </a:xfrm>
          <a:prstGeom prst="rect">
            <a:avLst/>
          </a:prstGeom>
          <a:solidFill>
            <a:schemeClr val="accent1">
              <a:lumMod val="20000"/>
              <a:lumOff val="80000"/>
            </a:schemeClr>
          </a:solidFill>
          <a:ln>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indent="173038"/>
            <a:r>
              <a:rPr lang="ja-JP" altLang="en-US" b="1" dirty="0">
                <a:solidFill>
                  <a:schemeClr val="accent1">
                    <a:lumMod val="75000"/>
                  </a:schemeClr>
                </a:solidFill>
                <a:effectLst/>
                <a:latin typeface="メイリオ" panose="020B0604030504040204" pitchFamily="50" charset="-128"/>
                <a:ea typeface="メイリオ" panose="020B0604030504040204" pitchFamily="50" charset="-128"/>
                <a:cs typeface="メイリオ" panose="020B0604030504040204" pitchFamily="50" charset="-128"/>
              </a:rPr>
              <a:t>手法</a:t>
            </a:r>
          </a:p>
        </p:txBody>
      </p:sp>
      <p:sp>
        <p:nvSpPr>
          <p:cNvPr id="32" name="正方形/長方形 31">
            <a:extLst>
              <a:ext uri="{FF2B5EF4-FFF2-40B4-BE49-F238E27FC236}">
                <a16:creationId xmlns:a16="http://schemas.microsoft.com/office/drawing/2014/main" id="{6CB99AAC-0BEA-E7FB-6909-1C7C68EDF323}"/>
              </a:ext>
            </a:extLst>
          </p:cNvPr>
          <p:cNvSpPr/>
          <p:nvPr/>
        </p:nvSpPr>
        <p:spPr>
          <a:xfrm>
            <a:off x="503965" y="3761653"/>
            <a:ext cx="8898070" cy="2704296"/>
          </a:xfrm>
          <a:prstGeom prst="rect">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・ポップアップツールとサンクスLINE誘導で、友だちを集める</a:t>
            </a:r>
            <a:endPar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LPを離れる方と、セミナーを予約した方を、次のイベントまで追える友だちに。</a:t>
            </a:r>
            <a:endParaRPr lang="en-US" altLang="ja-JP" sz="16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・興味あり・予約・参加の段階ごとに、案内を変える</a:t>
            </a:r>
            <a:endPar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見どころ動画・参加特典 → 前日・当日のお知らせ → サロンの申込みフォーム。</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・平常期の配信で、次のイベントまでつながりを保つ</a:t>
            </a:r>
            <a:endPar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イベントの無い時期は月2回に絞り、ブロックを抑えながら追える人数を積み上げる。</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＋α施策として…。</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・過去のセミナー予約者・参加者へのご案内</a:t>
            </a:r>
            <a:r>
              <a:rPr lang="ja-JP" altLang="en-US" sz="1200" b="1" dirty="0">
                <a:solidFill>
                  <a:srgbClr val="1F2A5C"/>
                </a:solidFill>
                <a:latin typeface="メイリオ" panose="020B0604030504040204" pitchFamily="50" charset="-128"/>
                <a:ea typeface="メイリオ" panose="020B0604030504040204" pitchFamily="50" charset="-128"/>
                <a:cs typeface="メイリオ" panose="020B0604030504040204" pitchFamily="50" charset="-128"/>
              </a:rPr>
              <a:t>　※通知メッセージ</a:t>
            </a:r>
            <a:endParaRPr lang="ja-JP" altLang="en-US" sz="12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過去の予約者の情報（電話番号）を保有している場合、リストを活用した配信が可能。</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・サロンの申込み完了ページからのLINE誘導</a:t>
            </a:r>
            <a:r>
              <a:rPr lang="ja-JP" altLang="en-US" sz="1200" b="1" dirty="0">
                <a:solidFill>
                  <a:srgbClr val="1F2A5C"/>
                </a:solidFill>
                <a:latin typeface="メイリオ" panose="020B0604030504040204" pitchFamily="50" charset="-128"/>
                <a:ea typeface="メイリオ" panose="020B0604030504040204" pitchFamily="50" charset="-128"/>
                <a:cs typeface="メイリオ" panose="020B0604030504040204" pitchFamily="50" charset="-128"/>
              </a:rPr>
              <a:t>　※サンクスLINE誘導</a:t>
            </a:r>
          </a:p>
        </p:txBody>
      </p:sp>
      <p:sp>
        <p:nvSpPr>
          <p:cNvPr id="33" name="正方形/長方形 32">
            <a:extLst>
              <a:ext uri="{FF2B5EF4-FFF2-40B4-BE49-F238E27FC236}">
                <a16:creationId xmlns:a16="http://schemas.microsoft.com/office/drawing/2014/main" id="{ADCEEB55-8D79-5D37-18D6-691241A3FC15}"/>
              </a:ext>
            </a:extLst>
          </p:cNvPr>
          <p:cNvSpPr/>
          <p:nvPr/>
        </p:nvSpPr>
        <p:spPr>
          <a:xfrm>
            <a:off x="503965" y="1675570"/>
            <a:ext cx="8898070" cy="386003"/>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配信目標</a:t>
            </a:r>
          </a:p>
        </p:txBody>
      </p:sp>
      <p:sp>
        <p:nvSpPr>
          <p:cNvPr id="46" name="MainMessage">
            <a:extLst>
              <a:ext uri="{FF2B5EF4-FFF2-40B4-BE49-F238E27FC236}">
                <a16:creationId xmlns:a16="http://schemas.microsoft.com/office/drawing/2014/main" id="{B60D9D01-8FD5-9835-8DEB-82316620ED03}"/>
              </a:ext>
            </a:extLst>
          </p:cNvPr>
          <p:cNvSpPr txBox="1"/>
          <p:nvPr/>
        </p:nvSpPr>
        <p:spPr>
          <a:xfrm>
            <a:off x="503965" y="2120908"/>
            <a:ext cx="8898070" cy="750567"/>
          </a:xfrm>
          <a:prstGeom prst="rect">
            <a:avLst/>
          </a:prstGeom>
          <a:solidFill>
            <a:srgbClr val="F0F2F7"/>
          </a:solidFill>
          <a:ln w="9525">
            <a:solidFill>
              <a:srgbClr val="1F2A5C"/>
            </a:solidFill>
          </a:ln>
        </p:spPr>
        <p:txBody>
          <a:bodyPr wrap="square" lIns="91440" tIns="45720" rIns="91440" bIns="45720" anchor="t"/>
          <a:lstStyle/>
          <a:p>
            <a:pPr algn="ctr">
              <a:lnSpc>
                <a:spcPct val="140000"/>
              </a:lnSpc>
            </a:pPr>
            <a:r>
              <a:rPr lang="ja-JP" sz="1400" b="1" dirty="0">
                <a:solidFill>
                  <a:srgbClr val="1F2A5C"/>
                </a:solidFill>
                <a:latin typeface="メイリオ" panose="020B0604030504040204" pitchFamily="50" charset="-128"/>
                <a:ea typeface="メイリオ" panose="020B0604030504040204" pitchFamily="50" charset="-128"/>
                <a:cs typeface="メイリオ"/>
              </a:rPr>
              <a:t>6か月目に追える人数90人（ブロックされずに届く友だち）を目指す。</a:t>
            </a:r>
            <a:endParaRPr lang="en-US" altLang="ja-JP" sz="1400" b="1" dirty="0">
              <a:solidFill>
                <a:srgbClr val="1F2A5C"/>
              </a:solidFill>
              <a:latin typeface="メイリオ" panose="020B0604030504040204" pitchFamily="50" charset="-128"/>
              <a:ea typeface="メイリオ" panose="020B0604030504040204" pitchFamily="50" charset="-128"/>
              <a:cs typeface="メイリオ"/>
            </a:endParaRPr>
          </a:p>
          <a:p>
            <a:pPr algn="ctr">
              <a:lnSpc>
                <a:spcPct val="140000"/>
              </a:lnSpc>
            </a:pPr>
            <a:r>
              <a:rPr lang="ja-JP" sz="1400" b="1">
                <a:solidFill>
                  <a:srgbClr val="1F2A5C"/>
                </a:solidFill>
                <a:latin typeface="メイリオ" panose="020B0604030504040204" pitchFamily="50" charset="-128"/>
                <a:ea typeface="メイリオ" panose="020B0604030504040204" pitchFamily="50" charset="-128"/>
                <a:cs typeface="メイリオ"/>
              </a:rPr>
              <a:t>イベント期はセミナー予約・参加、イベントの後はサロン入会へつなげる。</a:t>
            </a:r>
          </a:p>
        </p:txBody>
      </p:sp>
      <p:sp>
        <p:nvSpPr>
          <p:cNvPr id="62" name="二等辺三角形 61">
            <a:extLst>
              <a:ext uri="{FF2B5EF4-FFF2-40B4-BE49-F238E27FC236}">
                <a16:creationId xmlns:a16="http://schemas.microsoft.com/office/drawing/2014/main" id="{BDCBA122-1D1B-AA97-B52C-2A548E75BE5F}"/>
              </a:ext>
            </a:extLst>
          </p:cNvPr>
          <p:cNvSpPr/>
          <p:nvPr/>
        </p:nvSpPr>
        <p:spPr>
          <a:xfrm rot="10800000">
            <a:off x="1013700" y="2923543"/>
            <a:ext cx="7965031" cy="486852"/>
          </a:xfrm>
          <a:prstGeom prst="triangle">
            <a:avLst>
              <a:gd name="adj" fmla="val 4936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dirty="0">
              <a:latin typeface="メイリオ" panose="020B0604030504040204" pitchFamily="50" charset="-128"/>
              <a:ea typeface="メイリオ" panose="020B0604030504040204" pitchFamily="50" charset="-128"/>
              <a:cs typeface="メイリオ"/>
            </a:endParaRPr>
          </a:p>
        </p:txBody>
      </p:sp>
      <p:sp>
        <p:nvSpPr>
          <p:cNvPr id="64" name="テキスト ボックス 4">
            <a:extLst>
              <a:ext uri="{FF2B5EF4-FFF2-40B4-BE49-F238E27FC236}">
                <a16:creationId xmlns:a16="http://schemas.microsoft.com/office/drawing/2014/main" id="{BF9B56DF-9875-62DA-48F0-98868F99F5FE}"/>
              </a:ext>
            </a:extLst>
          </p:cNvPr>
          <p:cNvSpPr txBox="1"/>
          <p:nvPr/>
        </p:nvSpPr>
        <p:spPr>
          <a:xfrm>
            <a:off x="3893204" y="2960246"/>
            <a:ext cx="2236946" cy="369332"/>
          </a:xfrm>
          <a:prstGeom prst="rect">
            <a:avLst/>
          </a:prstGeom>
          <a:noFill/>
        </p:spPr>
        <p:txBody>
          <a:bodyPr wrap="square" rtlCol="0">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弊社からのご提案</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366202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BE316-B5A0-8BF0-8055-8F5EB8BA81E4}"/>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1E1262C-B08E-666E-F81E-61EAC1407B87}"/>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7D9E611B-4E41-7D55-FDAA-59D5455231E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要件定義</a:t>
            </a:r>
            <a:endParaRPr sz="1600" b="1" dirty="0">
              <a:solidFill>
                <a:srgbClr val="002060"/>
              </a:solidFill>
              <a:latin typeface="メイリオ"/>
              <a:ea typeface="メイリオ"/>
              <a:cs typeface="メイリオ"/>
              <a:sym typeface="Meiryo"/>
            </a:endParaRPr>
          </a:p>
        </p:txBody>
      </p:sp>
      <p:sp>
        <p:nvSpPr>
          <p:cNvPr id="8" name="PointsHeader">
            <a:extLst>
              <a:ext uri="{FF2B5EF4-FFF2-40B4-BE49-F238E27FC236}">
                <a16:creationId xmlns:a16="http://schemas.microsoft.com/office/drawing/2014/main" id="{615C4560-11D3-77B5-6718-3703C15CA5D8}"/>
              </a:ext>
            </a:extLst>
          </p:cNvPr>
          <p:cNvSpPr txBox="1"/>
          <p:nvPr/>
        </p:nvSpPr>
        <p:spPr>
          <a:xfrm>
            <a:off x="522756" y="1009344"/>
            <a:ext cx="9144000" cy="279400"/>
          </a:xfrm>
          <a:prstGeom prst="rect">
            <a:avLst/>
          </a:prstGeom>
          <a:noFill/>
          <a:ln>
            <a:noFill/>
          </a:ln>
        </p:spPr>
        <p:txBody>
          <a:bodyPr wrap="square" lIns="91440" tIns="45720" rIns="91440" bIns="45720" anchor="t"/>
          <a:lstStyle/>
          <a:p>
            <a:r>
              <a:rPr lang="ja-JP" sz="1400" b="1" dirty="0">
                <a:solidFill>
                  <a:srgbClr val="1F2A5C"/>
                </a:solidFill>
                <a:latin typeface="メイリオ" panose="020B0604030504040204" pitchFamily="50" charset="-128"/>
                <a:ea typeface="メイリオ" panose="020B0604030504040204" pitchFamily="50" charset="-128"/>
                <a:cs typeface="メイリオ"/>
              </a:rPr>
              <a:t>本質課題：イベントが終わると、集めた方との接点が切れる</a:t>
            </a:r>
          </a:p>
        </p:txBody>
      </p:sp>
      <p:sp>
        <p:nvSpPr>
          <p:cNvPr id="10" name="PointBar1">
            <a:extLst>
              <a:ext uri="{FF2B5EF4-FFF2-40B4-BE49-F238E27FC236}">
                <a16:creationId xmlns:a16="http://schemas.microsoft.com/office/drawing/2014/main" id="{C7DEC4BE-D769-656F-80D1-A073D7D39B14}"/>
              </a:ext>
            </a:extLst>
          </p:cNvPr>
          <p:cNvSpPr txBox="1"/>
          <p:nvPr/>
        </p:nvSpPr>
        <p:spPr>
          <a:xfrm>
            <a:off x="522756" y="1364944"/>
            <a:ext cx="457200" cy="50800"/>
          </a:xfrm>
          <a:prstGeom prst="rect">
            <a:avLst/>
          </a:prstGeom>
          <a:solidFill>
            <a:srgbClr val="1F2A5C"/>
          </a:solidFill>
          <a:ln>
            <a:noFill/>
          </a:ln>
        </p:spPr>
        <p:txBody>
          <a:bodyPr wrap="square" lIns="91440" tIns="45720" rIns="91440" bIns="45720" anchor="t"/>
          <a:lstStyle/>
          <a:p>
            <a:endParaRPr lang="ja-JP">
              <a:latin typeface="メイリオ" panose="020B0604030504040204" pitchFamily="50" charset="-128"/>
              <a:ea typeface="メイリオ" panose="020B0604030504040204" pitchFamily="50" charset="-128"/>
              <a:cs typeface="メイリオ"/>
            </a:endParaRPr>
          </a:p>
        </p:txBody>
      </p:sp>
      <p:sp>
        <p:nvSpPr>
          <p:cNvPr id="12" name="PointText1">
            <a:extLst>
              <a:ext uri="{FF2B5EF4-FFF2-40B4-BE49-F238E27FC236}">
                <a16:creationId xmlns:a16="http://schemas.microsoft.com/office/drawing/2014/main" id="{2033FE09-931A-0BF7-9C77-FCBD753258FB}"/>
              </a:ext>
            </a:extLst>
          </p:cNvPr>
          <p:cNvSpPr txBox="1"/>
          <p:nvPr/>
        </p:nvSpPr>
        <p:spPr>
          <a:xfrm>
            <a:off x="522756" y="1491944"/>
            <a:ext cx="2921000" cy="1778000"/>
          </a:xfrm>
          <a:prstGeom prst="rect">
            <a:avLst/>
          </a:prstGeom>
          <a:noFill/>
          <a:ln>
            <a:noFill/>
          </a:ln>
        </p:spPr>
        <p:txBody>
          <a:bodyPr wrap="square" lIns="91440" tIns="45720" rIns="91440" bIns="45720" anchor="t"/>
          <a:lstStyle/>
          <a:p>
            <a:pPr>
              <a:lnSpc>
                <a:spcPct val="130000"/>
              </a:lnSpc>
              <a:spcAft>
                <a:spcPts val="600"/>
              </a:spcAft>
            </a:pPr>
            <a:r>
              <a:rPr lang="ja-JP" sz="1400" b="1" dirty="0">
                <a:solidFill>
                  <a:srgbClr val="1F2A5C"/>
                </a:solidFill>
                <a:latin typeface="メイリオ" panose="020B0604030504040204" pitchFamily="50" charset="-128"/>
                <a:ea typeface="メイリオ" panose="020B0604030504040204" pitchFamily="50" charset="-128"/>
                <a:cs typeface="メイリオ"/>
              </a:rPr>
              <a:t>01 集める</a:t>
            </a:r>
          </a:p>
          <a:p>
            <a:pPr>
              <a:lnSpc>
                <a:spcPct val="140000"/>
              </a:lnSpc>
            </a:pPr>
            <a:r>
              <a:rPr lang="ja-JP" sz="1400" dirty="0">
                <a:solidFill>
                  <a:srgbClr val="333333"/>
                </a:solidFill>
                <a:latin typeface="メイリオ" panose="020B0604030504040204" pitchFamily="50" charset="-128"/>
                <a:ea typeface="メイリオ" panose="020B0604030504040204" pitchFamily="50" charset="-128"/>
                <a:cs typeface="メイリオ"/>
              </a:rPr>
              <a:t>離れる方・予約した方を、友だちにする手段が無い。</a:t>
            </a:r>
          </a:p>
        </p:txBody>
      </p:sp>
      <p:sp>
        <p:nvSpPr>
          <p:cNvPr id="14" name="PointBar2">
            <a:extLst>
              <a:ext uri="{FF2B5EF4-FFF2-40B4-BE49-F238E27FC236}">
                <a16:creationId xmlns:a16="http://schemas.microsoft.com/office/drawing/2014/main" id="{DB62AD08-1E7E-F83F-C786-B77729A3E5C3}"/>
              </a:ext>
            </a:extLst>
          </p:cNvPr>
          <p:cNvSpPr txBox="1"/>
          <p:nvPr/>
        </p:nvSpPr>
        <p:spPr>
          <a:xfrm>
            <a:off x="3634256" y="1364944"/>
            <a:ext cx="457200" cy="50800"/>
          </a:xfrm>
          <a:prstGeom prst="rect">
            <a:avLst/>
          </a:prstGeom>
          <a:solidFill>
            <a:srgbClr val="4A6FA5"/>
          </a:solidFill>
          <a:ln>
            <a:noFill/>
          </a:ln>
        </p:spPr>
        <p:txBody>
          <a:bodyPr wrap="square" lIns="91440" tIns="45720" rIns="91440" bIns="45720" anchor="t"/>
          <a:lstStyle/>
          <a:p>
            <a:endParaRPr lang="ja-JP">
              <a:latin typeface="メイリオ" panose="020B0604030504040204" pitchFamily="50" charset="-128"/>
              <a:ea typeface="メイリオ" panose="020B0604030504040204" pitchFamily="50" charset="-128"/>
              <a:cs typeface="メイリオ"/>
            </a:endParaRPr>
          </a:p>
        </p:txBody>
      </p:sp>
      <p:sp>
        <p:nvSpPr>
          <p:cNvPr id="16" name="PointText2">
            <a:extLst>
              <a:ext uri="{FF2B5EF4-FFF2-40B4-BE49-F238E27FC236}">
                <a16:creationId xmlns:a16="http://schemas.microsoft.com/office/drawing/2014/main" id="{42A785C2-DABF-0508-2085-C2DDBECB7EFE}"/>
              </a:ext>
            </a:extLst>
          </p:cNvPr>
          <p:cNvSpPr txBox="1"/>
          <p:nvPr/>
        </p:nvSpPr>
        <p:spPr>
          <a:xfrm>
            <a:off x="3634256" y="1491944"/>
            <a:ext cx="2921000" cy="1778000"/>
          </a:xfrm>
          <a:prstGeom prst="rect">
            <a:avLst/>
          </a:prstGeom>
          <a:noFill/>
          <a:ln>
            <a:noFill/>
          </a:ln>
        </p:spPr>
        <p:txBody>
          <a:bodyPr wrap="square" lIns="91440" tIns="45720" rIns="91440" bIns="45720" anchor="t"/>
          <a:lstStyle/>
          <a:p>
            <a:pPr>
              <a:lnSpc>
                <a:spcPct val="130000"/>
              </a:lnSpc>
              <a:spcAft>
                <a:spcPts val="600"/>
              </a:spcAft>
            </a:pPr>
            <a:r>
              <a:rPr lang="ja-JP" sz="1400" b="1" dirty="0">
                <a:solidFill>
                  <a:srgbClr val="4A6FA5"/>
                </a:solidFill>
                <a:latin typeface="メイリオ" panose="020B0604030504040204" pitchFamily="50" charset="-128"/>
                <a:ea typeface="メイリオ" panose="020B0604030504040204" pitchFamily="50" charset="-128"/>
                <a:cs typeface="メイリオ"/>
              </a:rPr>
              <a:t>02 追う</a:t>
            </a:r>
          </a:p>
          <a:p>
            <a:pPr>
              <a:lnSpc>
                <a:spcPct val="140000"/>
              </a:lnSpc>
            </a:pPr>
            <a:r>
              <a:rPr lang="ja-JP" sz="1400" dirty="0">
                <a:solidFill>
                  <a:srgbClr val="333333"/>
                </a:solidFill>
                <a:latin typeface="メイリオ" panose="020B0604030504040204" pitchFamily="50" charset="-128"/>
                <a:ea typeface="メイリオ" panose="020B0604030504040204" pitchFamily="50" charset="-128"/>
                <a:cs typeface="メイリオ"/>
              </a:rPr>
              <a:t>次のイベントまで、情報を届ける手段が無い。</a:t>
            </a:r>
          </a:p>
        </p:txBody>
      </p:sp>
      <p:sp>
        <p:nvSpPr>
          <p:cNvPr id="18" name="PointBar3">
            <a:extLst>
              <a:ext uri="{FF2B5EF4-FFF2-40B4-BE49-F238E27FC236}">
                <a16:creationId xmlns:a16="http://schemas.microsoft.com/office/drawing/2014/main" id="{1118F87F-BACD-735A-EBEC-11186FDE8BB4}"/>
              </a:ext>
            </a:extLst>
          </p:cNvPr>
          <p:cNvSpPr txBox="1"/>
          <p:nvPr/>
        </p:nvSpPr>
        <p:spPr>
          <a:xfrm>
            <a:off x="6745756" y="1364944"/>
            <a:ext cx="457200" cy="50800"/>
          </a:xfrm>
          <a:prstGeom prst="rect">
            <a:avLst/>
          </a:prstGeom>
          <a:solidFill>
            <a:srgbClr val="F2F2F2"/>
          </a:solidFill>
          <a:ln>
            <a:noFill/>
          </a:ln>
        </p:spPr>
        <p:txBody>
          <a:bodyPr wrap="square" lIns="91440" tIns="45720" rIns="91440" bIns="45720" anchor="t"/>
          <a:lstStyle/>
          <a:p>
            <a:endParaRPr lang="ja-JP">
              <a:latin typeface="メイリオ" panose="020B0604030504040204" pitchFamily="50" charset="-128"/>
              <a:ea typeface="メイリオ" panose="020B0604030504040204" pitchFamily="50" charset="-128"/>
              <a:cs typeface="メイリオ"/>
            </a:endParaRPr>
          </a:p>
        </p:txBody>
      </p:sp>
      <p:sp>
        <p:nvSpPr>
          <p:cNvPr id="20" name="PointText3">
            <a:extLst>
              <a:ext uri="{FF2B5EF4-FFF2-40B4-BE49-F238E27FC236}">
                <a16:creationId xmlns:a16="http://schemas.microsoft.com/office/drawing/2014/main" id="{BCC9596F-D039-3698-8BF4-96F93A100013}"/>
              </a:ext>
            </a:extLst>
          </p:cNvPr>
          <p:cNvSpPr txBox="1"/>
          <p:nvPr/>
        </p:nvSpPr>
        <p:spPr>
          <a:xfrm>
            <a:off x="6745756" y="1491944"/>
            <a:ext cx="2921000" cy="1778000"/>
          </a:xfrm>
          <a:prstGeom prst="rect">
            <a:avLst/>
          </a:prstGeom>
          <a:noFill/>
          <a:ln>
            <a:noFill/>
          </a:ln>
        </p:spPr>
        <p:txBody>
          <a:bodyPr wrap="square" lIns="91440" tIns="45720" rIns="91440" bIns="45720" anchor="t"/>
          <a:lstStyle/>
          <a:p>
            <a:pPr>
              <a:lnSpc>
                <a:spcPct val="130000"/>
              </a:lnSpc>
              <a:spcAft>
                <a:spcPts val="600"/>
              </a:spcAft>
            </a:pPr>
            <a:r>
              <a:rPr lang="ja-JP" sz="1400" b="1" dirty="0">
                <a:solidFill>
                  <a:srgbClr val="1F2A5C"/>
                </a:solidFill>
                <a:latin typeface="メイリオ" panose="020B0604030504040204" pitchFamily="50" charset="-128"/>
                <a:ea typeface="メイリオ" panose="020B0604030504040204" pitchFamily="50" charset="-128"/>
                <a:cs typeface="メイリオ"/>
              </a:rPr>
              <a:t>03 つなげる</a:t>
            </a:r>
          </a:p>
          <a:p>
            <a:pPr>
              <a:lnSpc>
                <a:spcPct val="140000"/>
              </a:lnSpc>
            </a:pPr>
            <a:r>
              <a:rPr lang="ja-JP" sz="1400" dirty="0">
                <a:solidFill>
                  <a:srgbClr val="333333"/>
                </a:solidFill>
                <a:latin typeface="メイリオ" panose="020B0604030504040204" pitchFamily="50" charset="-128"/>
                <a:ea typeface="メイリオ" panose="020B0604030504040204" pitchFamily="50" charset="-128"/>
                <a:cs typeface="メイリオ"/>
              </a:rPr>
              <a:t>参加した方に、入会を案内する手段が無い。</a:t>
            </a:r>
          </a:p>
        </p:txBody>
      </p:sp>
      <p:sp>
        <p:nvSpPr>
          <p:cNvPr id="22" name="Card1_Title">
            <a:extLst>
              <a:ext uri="{FF2B5EF4-FFF2-40B4-BE49-F238E27FC236}">
                <a16:creationId xmlns:a16="http://schemas.microsoft.com/office/drawing/2014/main" id="{158619A4-8A31-BE94-703F-4958B5725C84}"/>
              </a:ext>
            </a:extLst>
          </p:cNvPr>
          <p:cNvSpPr txBox="1"/>
          <p:nvPr/>
        </p:nvSpPr>
        <p:spPr>
          <a:xfrm>
            <a:off x="522756" y="3130857"/>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レバー①友だち獲得</a:t>
            </a:r>
          </a:p>
        </p:txBody>
      </p:sp>
      <p:sp>
        <p:nvSpPr>
          <p:cNvPr id="24" name="Card1_Body">
            <a:extLst>
              <a:ext uri="{FF2B5EF4-FFF2-40B4-BE49-F238E27FC236}">
                <a16:creationId xmlns:a16="http://schemas.microsoft.com/office/drawing/2014/main" id="{0591B75C-4032-FF85-1619-85480346C68B}"/>
              </a:ext>
            </a:extLst>
          </p:cNvPr>
          <p:cNvSpPr txBox="1"/>
          <p:nvPr/>
        </p:nvSpPr>
        <p:spPr>
          <a:xfrm>
            <a:off x="522756" y="3654732"/>
            <a:ext cx="2921000" cy="1183968"/>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ポップアップツールで、LPを離れる方を友だちに</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サンクスLINE誘導で、予約した方を友だちに</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28" name="Card2_Title">
            <a:extLst>
              <a:ext uri="{FF2B5EF4-FFF2-40B4-BE49-F238E27FC236}">
                <a16:creationId xmlns:a16="http://schemas.microsoft.com/office/drawing/2014/main" id="{FBA18ADF-68C9-3C6A-AF9F-C0983A9FA610}"/>
              </a:ext>
            </a:extLst>
          </p:cNvPr>
          <p:cNvSpPr txBox="1"/>
          <p:nvPr/>
        </p:nvSpPr>
        <p:spPr>
          <a:xfrm>
            <a:off x="3634256" y="3130857"/>
            <a:ext cx="2921000" cy="457200"/>
          </a:xfrm>
          <a:prstGeom prst="rect">
            <a:avLst/>
          </a:prstGeom>
          <a:solidFill>
            <a:srgbClr val="FFFFFF"/>
          </a:solidFill>
          <a:ln w="6350">
            <a:solidFill>
              <a:srgbClr val="4A6FA5"/>
            </a:solidFill>
          </a:ln>
        </p:spPr>
        <p:txBody>
          <a:bodyPr wrap="square" lIns="177800" tIns="101600" rIns="177800" bIns="101600" anchor="ctr"/>
          <a:lstStyle/>
          <a:p>
            <a:pPr>
              <a:buNone/>
            </a:pPr>
            <a:r>
              <a:rPr lang="ja-JP" sz="1400" b="1" dirty="0">
                <a:solidFill>
                  <a:srgbClr val="4A6FA5"/>
                </a:solidFill>
                <a:latin typeface="メイリオ" panose="020B0604030504040204" pitchFamily="50" charset="-128"/>
                <a:ea typeface="メイリオ" panose="020B0604030504040204" pitchFamily="50" charset="-128"/>
                <a:cs typeface="メイリオ"/>
              </a:rPr>
              <a:t>レバー②予約・参加の向上</a:t>
            </a:r>
          </a:p>
        </p:txBody>
      </p:sp>
      <p:sp>
        <p:nvSpPr>
          <p:cNvPr id="31" name="Card2_Body">
            <a:extLst>
              <a:ext uri="{FF2B5EF4-FFF2-40B4-BE49-F238E27FC236}">
                <a16:creationId xmlns:a16="http://schemas.microsoft.com/office/drawing/2014/main" id="{C6C8B9B3-D69C-0AD1-CB41-2692B3F564E3}"/>
              </a:ext>
            </a:extLst>
          </p:cNvPr>
          <p:cNvSpPr txBox="1"/>
          <p:nvPr/>
        </p:nvSpPr>
        <p:spPr>
          <a:xfrm>
            <a:off x="3634256" y="3654732"/>
            <a:ext cx="2921000" cy="1183968"/>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見どころ動画・参加特典で、予約へ</a:t>
            </a:r>
          </a:p>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前日・当日のお知らせで、当日の参加へ</a:t>
            </a:r>
          </a:p>
          <a:p>
            <a:pPr marL="171450" indent="-171450">
              <a:spcBef>
                <a:spcPts val="200"/>
              </a:spcBef>
              <a:buClr>
                <a:srgbClr val="4A6FA5"/>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5" name="Card3_Title">
            <a:extLst>
              <a:ext uri="{FF2B5EF4-FFF2-40B4-BE49-F238E27FC236}">
                <a16:creationId xmlns:a16="http://schemas.microsoft.com/office/drawing/2014/main" id="{08BFDF2D-75D7-62F5-F661-0B055C86365E}"/>
              </a:ext>
            </a:extLst>
          </p:cNvPr>
          <p:cNvSpPr txBox="1"/>
          <p:nvPr/>
        </p:nvSpPr>
        <p:spPr>
          <a:xfrm>
            <a:off x="6745756" y="3130857"/>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レバー③入会の向上</a:t>
            </a:r>
          </a:p>
        </p:txBody>
      </p:sp>
      <p:sp>
        <p:nvSpPr>
          <p:cNvPr id="37" name="Card3_Body">
            <a:extLst>
              <a:ext uri="{FF2B5EF4-FFF2-40B4-BE49-F238E27FC236}">
                <a16:creationId xmlns:a16="http://schemas.microsoft.com/office/drawing/2014/main" id="{6FB492E1-4B54-CC21-DF0B-BC7C63ED2C23}"/>
              </a:ext>
            </a:extLst>
          </p:cNvPr>
          <p:cNvSpPr txBox="1"/>
          <p:nvPr/>
        </p:nvSpPr>
        <p:spPr>
          <a:xfrm>
            <a:off x="6745756" y="3654732"/>
            <a:ext cx="2921000" cy="1183968"/>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イベント直後に、サロンの申込みフォームを案内</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平常期の配信で、次のイベントまでつながる</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572955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cs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cs typeface="メイリオ"/>
              </a:rPr>
              <a:t>概算お見積り：6か月で、追える人数90人・セミナー予約11件</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初期</a:t>
            </a:r>
            <a:endParaRPr lang="en-US" sz="1400" b="0" u="none" strike="noStrike">
              <a:solidFill>
                <a:srgbClr val="FFFFFF"/>
              </a:solidFill>
              <a:effectLst/>
              <a:uFillTx/>
              <a:latin typeface="メイリオ"/>
              <a:ea typeface="メイリオ"/>
              <a:cs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月次</a:t>
            </a:r>
            <a:endParaRPr lang="en-US" sz="1400" b="0" u="none" strike="noStrike">
              <a:solidFill>
                <a:srgbClr val="FFFFFF"/>
              </a:solidFill>
              <a:effectLst/>
              <a:uFillTx/>
              <a:latin typeface="メイリオ"/>
              <a:ea typeface="メイリオ"/>
              <a:cs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¥295,000〜</a:t>
            </a:r>
            <a:endParaRPr lang="en-US" sz="1600" b="0" u="none" strike="noStrike">
              <a:solidFill>
                <a:srgbClr val="000000"/>
              </a:solidFill>
              <a:effectLst/>
              <a:uFillTx/>
              <a:latin typeface="メイリオ"/>
              <a:ea typeface="メイリオ"/>
              <a:cs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開催月 ¥365,000</a:t>
            </a:r>
            <a:endParaRPr lang="en-US" sz="1600" b="0" u="none" strike="noStrike">
              <a:solidFill>
                <a:srgbClr val="000000"/>
              </a:solidFill>
              <a:effectLst/>
              <a:uFillTx/>
              <a:latin typeface="メイリオ"/>
              <a:ea typeface="メイリオ"/>
              <a:cs typeface="メイリオ"/>
            </a:endParaRPr>
          </a:p>
          <a:p>
            <a:pPr algn="ctr" defTabSz="914400">
              <a:lnSpc>
                <a:spcPct val="100000"/>
              </a:lnSpc>
            </a:pPr>
            <a:r>
              <a:rPr lang="en-US" sz="1600" b="1" u="none" strike="noStrike">
                <a:solidFill>
                  <a:schemeClr val="dk1"/>
                </a:solidFill>
                <a:effectLst/>
                <a:uFillTx/>
                <a:latin typeface="メイリオ"/>
                <a:ea typeface="メイリオ"/>
                <a:cs typeface="メイリオ"/>
              </a:rPr>
              <a:t>平常期 ¥165,000</a:t>
            </a:r>
            <a:endParaRPr lang="en-US" sz="1600" b="0" u="none" strike="noStrike">
              <a:solidFill>
                <a:srgbClr val="000000"/>
              </a:solidFill>
              <a:effectLst/>
              <a:uFillTx/>
              <a:latin typeface="メイリオ"/>
              <a:ea typeface="メイリオ"/>
              <a:cs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0" u="none" strike="noStrike">
                <a:solidFill>
                  <a:schemeClr val="lt1"/>
                </a:solidFill>
                <a:effectLst/>
                <a:uFillTx/>
                <a:latin typeface="メイリオ"/>
                <a:ea typeface="メイリオ"/>
                <a:cs typeface="メイリオ"/>
              </a:rPr>
              <a:t>6</a:t>
            </a:r>
            <a:r>
              <a:rPr lang="ja-JP" sz="1400" b="0" u="none" strike="noStrike">
                <a:solidFill>
                  <a:schemeClr val="lt1"/>
                </a:solidFill>
                <a:effectLst/>
                <a:uFillTx/>
                <a:latin typeface="メイリオ"/>
                <a:ea typeface="メイリオ"/>
                <a:cs typeface="メイリオ"/>
              </a:rPr>
              <a:t>か月後</a:t>
            </a:r>
            <a:endParaRPr lang="en-US" sz="1400" b="0" u="none" strike="noStrike">
              <a:solidFill>
                <a:srgbClr val="FFFFFF"/>
              </a:solidFill>
              <a:effectLst/>
              <a:uFillTx/>
              <a:latin typeface="メイリオ"/>
              <a:ea typeface="メイリオ"/>
              <a:cs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企画配信</a:t>
            </a:r>
            <a:endParaRPr lang="en-US" sz="1300" b="0" u="none" strike="noStrike">
              <a:solidFill>
                <a:srgbClr val="FFFFFF"/>
              </a:solidFill>
              <a:effectLst/>
              <a:uFillTx/>
              <a:latin typeface="メイリオ"/>
              <a:ea typeface="メイリオ"/>
              <a:cs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200" b="0" u="none" strike="noStrike">
                <a:solidFill>
                  <a:schemeClr val="dk1"/>
                </a:solidFill>
                <a:effectLst/>
                <a:uFillTx/>
                <a:latin typeface="メイリオ"/>
                <a:ea typeface="メイリオ"/>
                <a:cs typeface="メイリオ"/>
              </a:rPr>
              <a:t>開催月 4〜5回</a:t>
            </a:r>
            <a:endParaRPr lang="en-US" sz="1300" b="0" u="none" strike="noStrike">
              <a:solidFill>
                <a:srgbClr val="000000"/>
              </a:solidFill>
              <a:effectLst/>
              <a:uFillTx/>
              <a:latin typeface="メイリオ"/>
              <a:ea typeface="メイリオ"/>
              <a:cs typeface="メイリオ"/>
            </a:endParaRPr>
          </a:p>
          <a:p>
            <a:pPr algn="ctr" defTabSz="914400">
              <a:lnSpc>
                <a:spcPct val="100000"/>
              </a:lnSpc>
            </a:pPr>
            <a:r>
              <a:rPr lang="zh-CN" sz="1200" b="0" u="none" strike="noStrike">
                <a:solidFill>
                  <a:schemeClr val="dk1"/>
                </a:solidFill>
                <a:effectLst/>
                <a:uFillTx/>
                <a:latin typeface="メイリオ"/>
                <a:ea typeface="メイリオ"/>
                <a:cs typeface="メイリオ"/>
              </a:rPr>
              <a:t>平常期 2回</a:t>
            </a:r>
            <a:endParaRPr lang="en-US" sz="1300" b="0" u="none" strike="noStrike">
              <a:solidFill>
                <a:srgbClr val="000000"/>
              </a:solidFill>
              <a:effectLst/>
              <a:uFillTx/>
              <a:latin typeface="メイリオ"/>
              <a:ea typeface="メイリオ"/>
              <a:cs typeface="メイリオ"/>
            </a:endParaRPr>
          </a:p>
        </p:txBody>
      </p:sp>
      <p:sp>
        <p:nvSpPr>
          <p:cNvPr id="351" name="正方形/長方形 32"/>
          <p:cNvSpPr/>
          <p:nvPr/>
        </p:nvSpPr>
        <p:spPr>
          <a:xfrm>
            <a:off x="33832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dirty="0">
                <a:solidFill>
                  <a:schemeClr val="lt1"/>
                </a:solidFill>
                <a:effectLst/>
                <a:uFillTx/>
                <a:latin typeface="メイリオ"/>
                <a:ea typeface="メイリオ"/>
                <a:cs typeface="メイリオ"/>
              </a:rPr>
              <a:t>セミナー前日の</a:t>
            </a:r>
            <a:endParaRPr lang="en-US" sz="1200" b="0" u="none" strike="noStrike" dirty="0">
              <a:solidFill>
                <a:srgbClr val="FFFFFF"/>
              </a:solidFill>
              <a:effectLst/>
              <a:uFillTx/>
              <a:latin typeface="メイリオ"/>
              <a:ea typeface="メイリオ"/>
              <a:cs typeface="メイリオ"/>
            </a:endParaRPr>
          </a:p>
          <a:p>
            <a:pPr algn="ctr" defTabSz="914400">
              <a:lnSpc>
                <a:spcPct val="90000"/>
              </a:lnSpc>
            </a:pPr>
            <a:r>
              <a:rPr lang="ja-JP" sz="1200" b="0" u="none" strike="noStrike" dirty="0">
                <a:solidFill>
                  <a:schemeClr val="lt1"/>
                </a:solidFill>
                <a:effectLst/>
                <a:uFillTx/>
                <a:latin typeface="メイリオ"/>
                <a:ea typeface="メイリオ"/>
                <a:cs typeface="メイリオ"/>
              </a:rPr>
              <a:t>お知らせ</a:t>
            </a:r>
            <a:endParaRPr lang="en-US" sz="1200" b="0" u="none" strike="noStrike" dirty="0">
              <a:solidFill>
                <a:srgbClr val="FFFFFF"/>
              </a:solidFill>
              <a:effectLst/>
              <a:uFillTx/>
              <a:latin typeface="メイリオ"/>
              <a:ea typeface="メイリオ"/>
              <a:cs typeface="メイリオ"/>
            </a:endParaRPr>
          </a:p>
        </p:txBody>
      </p:sp>
      <p:sp>
        <p:nvSpPr>
          <p:cNvPr id="352" name="正方形/長方形 36"/>
          <p:cNvSpPr/>
          <p:nvPr/>
        </p:nvSpPr>
        <p:spPr>
          <a:xfrm>
            <a:off x="48463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予約ごとに配信</a:t>
            </a:r>
            <a:endParaRPr lang="en-US" sz="1200" b="0" u="none" strike="noStrike">
              <a:solidFill>
                <a:srgbClr val="000000"/>
              </a:solidFill>
              <a:effectLst/>
              <a:uFillTx/>
              <a:latin typeface="メイリオ"/>
              <a:ea typeface="メイリオ"/>
              <a:cs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dirty="0">
                <a:solidFill>
                  <a:schemeClr val="lt1"/>
                </a:solidFill>
                <a:effectLst/>
                <a:uFillTx/>
                <a:latin typeface="メイリオ"/>
                <a:ea typeface="メイリオ"/>
                <a:cs typeface="メイリオ"/>
              </a:rPr>
              <a:t>ステップ配信</a:t>
            </a:r>
            <a:endParaRPr lang="en-US" sz="1300" b="0" u="none" strike="noStrike" dirty="0">
              <a:solidFill>
                <a:srgbClr val="FFFFFF"/>
              </a:solidFill>
              <a:effectLst/>
              <a:uFillTx/>
              <a:latin typeface="メイリオ"/>
              <a:ea typeface="メイリオ"/>
              <a:cs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5通の改善</a:t>
            </a:r>
            <a:endParaRPr lang="en-US" sz="1300" b="0" u="none" strike="noStrike">
              <a:solidFill>
                <a:srgbClr val="000000"/>
              </a:solidFill>
              <a:effectLst/>
              <a:uFillTx/>
              <a:latin typeface="メイリオ"/>
              <a:ea typeface="メイリオ"/>
              <a:cs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友だちの入口</a:t>
            </a:r>
            <a:endParaRPr lang="en-US" sz="1300" b="0" u="none" strike="noStrike">
              <a:solidFill>
                <a:srgbClr val="FFFFFF"/>
              </a:solidFill>
              <a:effectLst/>
              <a:uFillTx/>
              <a:latin typeface="メイリオ"/>
              <a:ea typeface="メイリオ"/>
              <a:cs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運用</a:t>
            </a:r>
            <a:endParaRPr lang="en-US" sz="1300" b="0" u="none" strike="noStrike">
              <a:solidFill>
                <a:srgbClr val="000000"/>
              </a:solidFill>
              <a:effectLst/>
              <a:uFillTx/>
              <a:latin typeface="メイリオ"/>
              <a:ea typeface="メイリオ"/>
              <a:cs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dirty="0">
                <a:solidFill>
                  <a:schemeClr val="lt1"/>
                </a:solidFill>
                <a:effectLst/>
                <a:uFillTx/>
                <a:latin typeface="メイリオ"/>
                <a:ea typeface="メイリオ"/>
                <a:cs typeface="メイリオ"/>
              </a:rPr>
              <a:t>個別チャット</a:t>
            </a:r>
            <a:endParaRPr lang="en-US" sz="1300" b="0" u="none" strike="noStrike" dirty="0">
              <a:solidFill>
                <a:srgbClr val="FFFFFF"/>
              </a:solidFill>
              <a:effectLst/>
              <a:uFillTx/>
              <a:latin typeface="メイリオ"/>
              <a:ea typeface="メイリオ"/>
              <a:cs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貴社で対応</a:t>
            </a:r>
            <a:endParaRPr lang="en-US" sz="1300" b="0" u="none" strike="noStrike">
              <a:solidFill>
                <a:srgbClr val="000000"/>
              </a:solidFill>
              <a:effectLst/>
              <a:uFillTx/>
              <a:latin typeface="メイリオ"/>
              <a:ea typeface="メイリオ"/>
              <a:cs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友だち数</a:t>
            </a:r>
            <a:endParaRPr lang="en-US" sz="1400" b="0" u="none" strike="noStrike">
              <a:solidFill>
                <a:srgbClr val="000000"/>
              </a:solidFill>
              <a:effectLst/>
              <a:uFillTx/>
              <a:latin typeface="メイリオ"/>
              <a:ea typeface="メイリオ"/>
              <a:cs typeface="メイリオ"/>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追える人数</a:t>
            </a:r>
            <a:endParaRPr lang="en-US" sz="1400" b="0" u="none" strike="noStrike">
              <a:solidFill>
                <a:srgbClr val="000000"/>
              </a:solidFill>
              <a:effectLst/>
              <a:uFillTx/>
              <a:latin typeface="メイリオ"/>
              <a:ea typeface="メイリオ"/>
              <a:cs typeface="メイリオ"/>
            </a:endParaRPr>
          </a:p>
        </p:txBody>
      </p:sp>
      <p:sp>
        <p:nvSpPr>
          <p:cNvPr id="364" name="正方形/長方形 85"/>
          <p:cNvSpPr/>
          <p:nvPr/>
        </p:nvSpPr>
        <p:spPr>
          <a:xfrm>
            <a:off x="6812280" y="2907792"/>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セミナー予約</a:t>
            </a:r>
            <a:endParaRPr lang="en-US" sz="1400" b="0" u="none" strike="noStrike">
              <a:solidFill>
                <a:srgbClr val="000000"/>
              </a:solidFill>
              <a:effectLst/>
              <a:uFillTx/>
              <a:latin typeface="メイリオ"/>
              <a:ea typeface="メイリオ"/>
              <a:cs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ポップアップ</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ツール</a:t>
            </a:r>
            <a:endParaRPr lang="en-US" sz="1300" b="0" u="none" strike="noStrike">
              <a:solidFill>
                <a:srgbClr val="FFFFFF"/>
              </a:solidFill>
              <a:effectLst/>
              <a:uFillTx/>
              <a:latin typeface="メイリオ"/>
              <a:ea typeface="メイリオ"/>
              <a:cs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cs typeface="メイリオ"/>
              </a:rPr>
              <a:t>導入</a:t>
            </a:r>
            <a:endParaRPr lang="en-US" sz="1300" b="0" u="none" strike="noStrike">
              <a:solidFill>
                <a:srgbClr val="000000"/>
              </a:solidFill>
              <a:effectLst/>
              <a:uFillTx/>
              <a:latin typeface="メイリオ"/>
              <a:ea typeface="メイリオ"/>
              <a:cs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サンクス</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LINE誘導</a:t>
            </a:r>
            <a:endParaRPr lang="en-US" sz="1300" b="0" u="none" strike="noStrike">
              <a:solidFill>
                <a:srgbClr val="FFFFFF"/>
              </a:solidFill>
              <a:effectLst/>
              <a:uFillTx/>
              <a:latin typeface="メイリオ"/>
              <a:ea typeface="メイリオ"/>
              <a:cs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導入</a:t>
            </a:r>
            <a:endParaRPr lang="en-US" sz="1300" b="0" u="none" strike="noStrike">
              <a:solidFill>
                <a:srgbClr val="000000"/>
              </a:solidFill>
              <a:effectLst/>
              <a:uFillTx/>
              <a:latin typeface="メイリオ"/>
              <a:ea typeface="メイリオ"/>
              <a:cs typeface="メイリオ"/>
            </a:endParaRPr>
          </a:p>
        </p:txBody>
      </p:sp>
      <p:sp>
        <p:nvSpPr>
          <p:cNvPr id="369" name="正方形/長方形 25"/>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LINE公式</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アカウント開設</a:t>
            </a:r>
            <a:endParaRPr lang="en-US" sz="1300" b="0" u="none" strike="noStrike">
              <a:solidFill>
                <a:srgbClr val="FFFFFF"/>
              </a:solidFill>
              <a:effectLst/>
              <a:uFillTx/>
              <a:latin typeface="メイリオ"/>
              <a:ea typeface="メイリオ"/>
              <a:cs typeface="メイリオ"/>
            </a:endParaRPr>
          </a:p>
        </p:txBody>
      </p:sp>
      <p:sp>
        <p:nvSpPr>
          <p:cNvPr id="370" name="正方形/長方形 29"/>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対応</a:t>
            </a:r>
            <a:endParaRPr lang="en-US" sz="1300" b="0" u="none" strike="noStrike">
              <a:solidFill>
                <a:srgbClr val="000000"/>
              </a:solidFill>
              <a:effectLst/>
              <a:uFillTx/>
              <a:latin typeface="メイリオ"/>
              <a:ea typeface="メイリオ"/>
              <a:cs typeface="メイリオ"/>
            </a:endParaRPr>
          </a:p>
        </p:txBody>
      </p:sp>
      <p:sp>
        <p:nvSpPr>
          <p:cNvPr id="371" name="正方形/長方形 33"/>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ステップ配信</a:t>
            </a:r>
            <a:endParaRPr lang="en-US" sz="1300" b="0" u="none" strike="noStrike">
              <a:solidFill>
                <a:srgbClr val="FFFFFF"/>
              </a:solidFill>
              <a:effectLst/>
              <a:uFillTx/>
              <a:latin typeface="メイリオ"/>
              <a:ea typeface="メイリオ"/>
              <a:cs typeface="メイリオ"/>
            </a:endParaRPr>
          </a:p>
        </p:txBody>
      </p:sp>
      <p:sp>
        <p:nvSpPr>
          <p:cNvPr id="372" name="正方形/長方形 37"/>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5通を構築</a:t>
            </a:r>
            <a:endParaRPr lang="en-US" sz="1300" b="0" u="none" strike="noStrike">
              <a:solidFill>
                <a:srgbClr val="000000"/>
              </a:solidFill>
              <a:effectLst/>
              <a:uFillTx/>
              <a:latin typeface="メイリオ"/>
              <a:ea typeface="メイリオ"/>
              <a:cs typeface="メイリオ"/>
            </a:endParaRPr>
          </a:p>
        </p:txBody>
      </p:sp>
      <p:sp>
        <p:nvSpPr>
          <p:cNvPr id="373" name="正方形/長方形 41"/>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配信の設計</a:t>
            </a:r>
            <a:endParaRPr lang="en-US" sz="1300" b="0" u="none" strike="noStrike">
              <a:solidFill>
                <a:srgbClr val="FFFFFF"/>
              </a:solidFill>
              <a:effectLst/>
              <a:uFillTx/>
              <a:latin typeface="メイリオ"/>
              <a:ea typeface="メイリオ"/>
              <a:cs typeface="メイリオ"/>
            </a:endParaRPr>
          </a:p>
        </p:txBody>
      </p:sp>
      <p:sp>
        <p:nvSpPr>
          <p:cNvPr id="374" name="正方形/長方形 46"/>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8フェーズで設計</a:t>
            </a:r>
            <a:endParaRPr lang="en-US" sz="1300" b="0" u="none" strike="noStrike">
              <a:solidFill>
                <a:srgbClr val="000000"/>
              </a:solidFill>
              <a:effectLst/>
              <a:uFillTx/>
              <a:latin typeface="メイリオ"/>
              <a:ea typeface="メイリオ"/>
              <a:cs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cs typeface="メイリオ"/>
              </a:rPr>
              <a:t>131人</a:t>
            </a:r>
            <a:endParaRPr lang="en-US" sz="1400" b="0" u="none" strike="noStrike">
              <a:solidFill>
                <a:srgbClr val="000000"/>
              </a:solidFill>
              <a:effectLst/>
              <a:uFillTx/>
              <a:latin typeface="メイリオ"/>
              <a:ea typeface="メイリオ"/>
              <a:cs typeface="メイリオ"/>
            </a:endParaRPr>
          </a:p>
        </p:txBody>
      </p:sp>
      <p:sp>
        <p:nvSpPr>
          <p:cNvPr id="376" name="テキスト ボックス 15"/>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90人</a:t>
            </a:r>
            <a:endParaRPr lang="en-US" sz="1400" b="0" u="none" strike="noStrike">
              <a:solidFill>
                <a:srgbClr val="000000"/>
              </a:solidFill>
              <a:effectLst/>
              <a:uFillTx/>
              <a:latin typeface="メイリオ"/>
              <a:ea typeface="メイリオ"/>
              <a:cs typeface="メイリオ"/>
            </a:endParaRPr>
          </a:p>
        </p:txBody>
      </p:sp>
      <p:sp>
        <p:nvSpPr>
          <p:cNvPr id="378" name="テキスト ボックス 26"/>
          <p:cNvSpPr/>
          <p:nvPr/>
        </p:nvSpPr>
        <p:spPr>
          <a:xfrm>
            <a:off x="8256960" y="2907792"/>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11件/6か月</a:t>
            </a:r>
            <a:endParaRPr lang="en-US" sz="1400" b="0" u="none" strike="noStrike">
              <a:solidFill>
                <a:srgbClr val="000000"/>
              </a:solidFill>
              <a:effectLst/>
              <a:uFillTx/>
              <a:latin typeface="メイリオ"/>
              <a:ea typeface="メイリオ"/>
              <a:cs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cs typeface="メイリオ"/>
              </a:rPr>
              <a:t>プラン②｜イベントに合わせた運用で、集めた方を友だちにし、次のセミナー予約・入会へつなげる</a:t>
            </a:r>
            <a:endParaRPr lang="en-US" sz="1400" b="0" u="none" strike="noStrike">
              <a:solidFill>
                <a:srgbClr val="000000"/>
              </a:solidFill>
              <a:effectLst/>
              <a:uFillTx/>
              <a:latin typeface="メイリオ"/>
              <a:ea typeface="メイリオ"/>
              <a:cs typeface="メイリオ"/>
            </a:endParaRPr>
          </a:p>
        </p:txBody>
      </p:sp>
      <p:sp>
        <p:nvSpPr>
          <p:cNvPr id="382" name="正方形/長方形 85"/>
          <p:cNvSpPr/>
          <p:nvPr/>
        </p:nvSpPr>
        <p:spPr>
          <a:xfrm>
            <a:off x="6812280" y="3383424"/>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サロン入会</a:t>
            </a:r>
            <a:endParaRPr lang="en-US" sz="1400" b="0" u="none" strike="noStrike">
              <a:solidFill>
                <a:srgbClr val="000000"/>
              </a:solidFill>
              <a:effectLst/>
              <a:uFillTx/>
              <a:latin typeface="メイリオ"/>
              <a:ea typeface="メイリオ"/>
              <a:cs typeface="メイリオ"/>
            </a:endParaRPr>
          </a:p>
        </p:txBody>
      </p:sp>
      <p:sp>
        <p:nvSpPr>
          <p:cNvPr id="383" name="テキスト ボックス 26"/>
          <p:cNvSpPr/>
          <p:nvPr/>
        </p:nvSpPr>
        <p:spPr>
          <a:xfrm>
            <a:off x="8256960" y="3383424"/>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4件/6か月</a:t>
            </a:r>
            <a:endParaRPr lang="en-US" sz="1400" b="0" u="none" strike="noStrike">
              <a:solidFill>
                <a:srgbClr val="000000"/>
              </a:solidFill>
              <a:effectLst/>
              <a:uFillTx/>
              <a:latin typeface="メイリオ"/>
              <a:ea typeface="メイリオ"/>
              <a:cs typeface="メイリオ"/>
            </a:endParaRPr>
          </a:p>
        </p:txBody>
      </p:sp>
      <p:sp>
        <p:nvSpPr>
          <p:cNvPr id="3" name="正方形/長方形 57">
            <a:extLst>
              <a:ext uri="{FF2B5EF4-FFF2-40B4-BE49-F238E27FC236}">
                <a16:creationId xmlns:a16="http://schemas.microsoft.com/office/drawing/2014/main" id="{F866D691-36CB-2858-C7C4-274E9BD31295}"/>
              </a:ext>
            </a:extLst>
          </p:cNvPr>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altLang="en-US" sz="1300" b="0" u="none" strike="noStrike" dirty="0">
                <a:solidFill>
                  <a:schemeClr val="lt1"/>
                </a:solidFill>
                <a:effectLst/>
                <a:uFillTx/>
                <a:latin typeface="メイリオ"/>
                <a:ea typeface="メイリオ"/>
                <a:cs typeface="メイリオ"/>
              </a:rPr>
              <a:t>月次レポート</a:t>
            </a:r>
            <a:r>
              <a:rPr lang="ja-JP" altLang="en-US" sz="1300" dirty="0">
                <a:solidFill>
                  <a:srgbClr val="FFFFFF"/>
                </a:solidFill>
                <a:latin typeface="メイリオ"/>
                <a:ea typeface="メイリオ"/>
                <a:cs typeface="メイリオ"/>
              </a:rPr>
              <a:t>・</a:t>
            </a:r>
            <a:endParaRPr lang="en-US" altLang="ja-JP" sz="1300" dirty="0">
              <a:solidFill>
                <a:srgbClr val="FFFFFF"/>
              </a:solidFill>
              <a:latin typeface="メイリオ"/>
              <a:ea typeface="メイリオ"/>
              <a:cs typeface="メイリオ"/>
            </a:endParaRPr>
          </a:p>
          <a:p>
            <a:pPr algn="ctr" defTabSz="914400">
              <a:lnSpc>
                <a:spcPct val="100000"/>
              </a:lnSpc>
            </a:pPr>
            <a:r>
              <a:rPr lang="ja-JP" altLang="en-US" sz="1300" b="0" u="none" strike="noStrike" dirty="0">
                <a:solidFill>
                  <a:srgbClr val="FFFFFF"/>
                </a:solidFill>
                <a:effectLst/>
                <a:uFillTx/>
                <a:latin typeface="メイリオ"/>
                <a:ea typeface="メイリオ"/>
                <a:cs typeface="メイリオ"/>
              </a:rPr>
              <a:t>定例会</a:t>
            </a:r>
            <a:endParaRPr lang="en-US" altLang="ja-JP" sz="1300" b="0" u="none" strike="noStrike" dirty="0">
              <a:solidFill>
                <a:schemeClr val="lt1"/>
              </a:solidFill>
              <a:effectLst/>
              <a:uFillTx/>
              <a:latin typeface="メイリオ"/>
              <a:ea typeface="メイリオ"/>
              <a:cs typeface="メイリオ"/>
            </a:endParaRPr>
          </a:p>
        </p:txBody>
      </p:sp>
      <p:sp>
        <p:nvSpPr>
          <p:cNvPr id="5" name="正方形/長方形 61">
            <a:extLst>
              <a:ext uri="{FF2B5EF4-FFF2-40B4-BE49-F238E27FC236}">
                <a16:creationId xmlns:a16="http://schemas.microsoft.com/office/drawing/2014/main" id="{916B9146-7BB6-4276-D5B6-30DF19D48AA1}"/>
              </a:ext>
            </a:extLst>
          </p:cNvPr>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altLang="en-US" sz="1300" dirty="0">
                <a:solidFill>
                  <a:schemeClr val="dk1"/>
                </a:solidFill>
                <a:latin typeface="メイリオ"/>
                <a:ea typeface="メイリオ"/>
                <a:cs typeface="メイリオ"/>
              </a:rPr>
              <a:t>月１回</a:t>
            </a:r>
            <a:endParaRPr lang="en-US" sz="1300" b="0" u="none" strike="noStrike" dirty="0">
              <a:solidFill>
                <a:srgbClr val="000000"/>
              </a:solidFill>
              <a:effectLst/>
              <a:uFillTx/>
              <a:latin typeface="メイリオ"/>
              <a:ea typeface="メイリオ"/>
              <a:cs typeface="メイリオ"/>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アカウント効果を</a:t>
            </a:r>
            <a:r>
              <a:rPr lang="ja-JP" altLang="en-US" sz="2400" b="1" dirty="0">
                <a:latin typeface="メイリオ" panose="020B0604030504040204" pitchFamily="50" charset="-128"/>
                <a:ea typeface="メイリオ" panose="020B0604030504040204" pitchFamily="50" charset="-128"/>
                <a:cs typeface="メイリオ"/>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spTree>
    <p:extLst>
      <p:ext uri="{BB962C8B-B14F-4D97-AF65-F5344CB8AC3E}">
        <p14:creationId xmlns:p14="http://schemas.microsoft.com/office/powerpoint/2010/main" val="9709585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LINEOA</a:t>
            </a:r>
            <a:r>
              <a:rPr kumimoji="1" lang="ja-JP" altLang="en-US" sz="1400" dirty="0">
                <a:latin typeface="メイリオ" panose="020B0604030504040204" pitchFamily="50" charset="-128"/>
                <a:ea typeface="メイリオ" panose="020B0604030504040204" pitchFamily="50" charset="-128"/>
                <a:cs typeface="メイリオ"/>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LINE友だち追加～15日を境に大きくアクティブ率が下がる（ブロック率が上がる）</a:t>
            </a:r>
          </a:p>
          <a:p>
            <a:r>
              <a:rPr lang="ja-JP" altLang="en-US" sz="1600" b="1" dirty="0">
                <a:latin typeface="メイリオ" panose="020B0604030504040204" pitchFamily="50" charset="-128"/>
                <a:ea typeface="メイリオ" panose="020B0604030504040204" pitchFamily="50" charset="-128"/>
                <a:cs typeface="メイリオ"/>
                <a:sym typeface="Meiryo"/>
              </a:rPr>
              <a:t>為、段階に合わせて配信を変え、イベントの無い時期は回数を絞る。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cs typeface="メイリオ"/>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solidFill>
                  <a:srgbClr val="1F2A5C"/>
                </a:solidFill>
                <a:latin typeface="メイリオ" panose="020B0604030504040204" pitchFamily="50" charset="-128"/>
                <a:ea typeface="メイリオ" panose="020B0604030504040204" pitchFamily="50" charset="-128"/>
                <a:cs typeface="メイリオ"/>
                <a:sym typeface="Meiryo"/>
              </a:rPr>
              <a:t>15</a:t>
            </a:r>
            <a:r>
              <a:rPr lang="ja-JP" altLang="en-US" sz="1200" b="1" dirty="0">
                <a:solidFill>
                  <a:srgbClr val="1F2A5C"/>
                </a:solidFill>
                <a:latin typeface="メイリオ" panose="020B0604030504040204" pitchFamily="50" charset="-128"/>
                <a:ea typeface="メイリオ" panose="020B0604030504040204" pitchFamily="50" charset="-128"/>
                <a:cs typeface="メイリオ"/>
                <a:sym typeface="Meiryo"/>
              </a:rPr>
              <a:t>日後</a:t>
            </a:r>
            <a:endParaRPr lang="ja-JP" altLang="en-US" sz="12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メイリオ"/>
                <a:sym typeface="Meiryo"/>
              </a:rPr>
              <a:t>30</a:t>
            </a:r>
            <a:r>
              <a:rPr lang="ja-JP" altLang="en-US" sz="1200" b="1" dirty="0">
                <a:latin typeface="メイリオ" panose="020B0604030504040204" pitchFamily="50" charset="-128"/>
                <a:ea typeface="メイリオ" panose="020B0604030504040204" pitchFamily="50" charset="-128"/>
                <a:cs typeface="メイリオ"/>
                <a:sym typeface="Meiryo"/>
              </a:rPr>
              <a:t>日後</a:t>
            </a:r>
            <a:endParaRPr lang="ja-JP" altLang="en-US" sz="1200" dirty="0">
              <a:latin typeface="メイリオ"/>
              <a:ea typeface="メイリオ"/>
              <a:cs typeface="メイリオ"/>
            </a:endParaRPr>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1F2A5C"/>
                </a:solidFill>
                <a:latin typeface="メイリオ" panose="020B0604030504040204" pitchFamily="50" charset="-128"/>
                <a:ea typeface="メイリオ" panose="020B0604030504040204" pitchFamily="50" charset="-128"/>
                <a:cs typeface="メイリオ"/>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 name="Google Shape;752;p28">
            <a:extLst>
              <a:ext uri="{FF2B5EF4-FFF2-40B4-BE49-F238E27FC236}">
                <a16:creationId xmlns:a16="http://schemas.microsoft.com/office/drawing/2014/main" id="{A711D9CD-A0E9-90A0-722C-36249BABF896}"/>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1065560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D3B1F-7F7B-6271-9DE8-D3CECB4AEE7A}"/>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8421BF1B-3828-BADE-4033-28B8258FFCB2}"/>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全体設計</a:t>
            </a:r>
          </a:p>
        </p:txBody>
      </p:sp>
      <p:sp>
        <p:nvSpPr>
          <p:cNvPr id="3" name="テキスト ボックス 2">
            <a:extLst>
              <a:ext uri="{FF2B5EF4-FFF2-40B4-BE49-F238E27FC236}">
                <a16:creationId xmlns:a16="http://schemas.microsoft.com/office/drawing/2014/main" id="{EDD3D979-9EEB-6B18-F888-A17F98CFB00B}"/>
              </a:ext>
            </a:extLst>
          </p:cNvPr>
          <p:cNvSpPr txBox="1"/>
          <p:nvPr/>
        </p:nvSpPr>
        <p:spPr>
          <a:xfrm>
            <a:off x="4630780" y="1385918"/>
            <a:ext cx="1285343"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4" name="テキスト ボックス 3">
            <a:extLst>
              <a:ext uri="{FF2B5EF4-FFF2-40B4-BE49-F238E27FC236}">
                <a16:creationId xmlns:a16="http://schemas.microsoft.com/office/drawing/2014/main" id="{74A29E67-E629-D5BB-0BF0-30595AA3A156}"/>
              </a:ext>
            </a:extLst>
          </p:cNvPr>
          <p:cNvSpPr txBox="1"/>
          <p:nvPr/>
        </p:nvSpPr>
        <p:spPr>
          <a:xfrm>
            <a:off x="726950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  </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5" name="テキスト ボックス 4">
            <a:extLst>
              <a:ext uri="{FF2B5EF4-FFF2-40B4-BE49-F238E27FC236}">
                <a16:creationId xmlns:a16="http://schemas.microsoft.com/office/drawing/2014/main" id="{C8FAABE7-2498-0A19-8EFA-AE3DAED1CE38}"/>
              </a:ext>
            </a:extLst>
          </p:cNvPr>
          <p:cNvSpPr txBox="1"/>
          <p:nvPr/>
        </p:nvSpPr>
        <p:spPr>
          <a:xfrm>
            <a:off x="595014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7A77BB20-672A-267B-1278-73B82EFDB35A}"/>
              </a:ext>
            </a:extLst>
          </p:cNvPr>
          <p:cNvSpPr txBox="1"/>
          <p:nvPr/>
        </p:nvSpPr>
        <p:spPr>
          <a:xfrm>
            <a:off x="2435404" y="1385918"/>
            <a:ext cx="1063671" cy="261610"/>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a:t>
            </a:r>
          </a:p>
        </p:txBody>
      </p:sp>
      <p:sp>
        <p:nvSpPr>
          <p:cNvPr id="11" name="テキスト ボックス 10">
            <a:extLst>
              <a:ext uri="{FF2B5EF4-FFF2-40B4-BE49-F238E27FC236}">
                <a16:creationId xmlns:a16="http://schemas.microsoft.com/office/drawing/2014/main" id="{757FA4CB-2B6D-1C58-A1D7-FBC3E968719E}"/>
              </a:ext>
            </a:extLst>
          </p:cNvPr>
          <p:cNvSpPr txBox="1"/>
          <p:nvPr/>
        </p:nvSpPr>
        <p:spPr>
          <a:xfrm>
            <a:off x="3533092" y="1385918"/>
            <a:ext cx="1063671" cy="261610"/>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 リード</a:t>
            </a:r>
            <a:endParaRPr lang="ja-JP" altLang="ja-JP" sz="1050" b="1" dirty="0">
              <a:latin typeface="メイリオ" panose="020B0604030504040204" pitchFamily="50" charset="-128"/>
              <a:ea typeface="メイリオ" panose="020B0604030504040204" pitchFamily="50" charset="-128"/>
              <a:cs typeface="メイリオ"/>
            </a:endParaRPr>
          </a:p>
        </p:txBody>
      </p:sp>
      <p:sp>
        <p:nvSpPr>
          <p:cNvPr id="16" name="正方形/長方形 15">
            <a:extLst>
              <a:ext uri="{FF2B5EF4-FFF2-40B4-BE49-F238E27FC236}">
                <a16:creationId xmlns:a16="http://schemas.microsoft.com/office/drawing/2014/main" id="{9F1496A9-1AA6-8C00-6027-75BA16E87457}"/>
              </a:ext>
            </a:extLst>
          </p:cNvPr>
          <p:cNvSpPr/>
          <p:nvPr/>
        </p:nvSpPr>
        <p:spPr>
          <a:xfrm>
            <a:off x="240028" y="773977"/>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7" name="直線矢印コネクタ 16">
            <a:extLst>
              <a:ext uri="{FF2B5EF4-FFF2-40B4-BE49-F238E27FC236}">
                <a16:creationId xmlns:a16="http://schemas.microsoft.com/office/drawing/2014/main" id="{0B8C27AC-9240-5C32-389B-1F46C1A17D15}"/>
              </a:ext>
            </a:extLst>
          </p:cNvPr>
          <p:cNvCxnSpPr>
            <a:cxnSpLocks/>
          </p:cNvCxnSpPr>
          <p:nvPr/>
        </p:nvCxnSpPr>
        <p:spPr>
          <a:xfrm>
            <a:off x="323367" y="1003861"/>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9BA284C9-F4DC-DB06-4BAF-EC4EB7A246B5}"/>
              </a:ext>
            </a:extLst>
          </p:cNvPr>
          <p:cNvSpPr txBox="1"/>
          <p:nvPr/>
        </p:nvSpPr>
        <p:spPr>
          <a:xfrm>
            <a:off x="3972228" y="875991"/>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5717FF50-BC66-88D1-6E63-63A2832D9840}"/>
              </a:ext>
            </a:extLst>
          </p:cNvPr>
          <p:cNvSpPr txBox="1"/>
          <p:nvPr/>
        </p:nvSpPr>
        <p:spPr>
          <a:xfrm>
            <a:off x="8588858" y="1385918"/>
            <a:ext cx="1339302" cy="2616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 紹介</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46D32A0E-F7DE-9D8C-2548-B53782ECD867}"/>
              </a:ext>
            </a:extLst>
          </p:cNvPr>
          <p:cNvSpPr txBox="1"/>
          <p:nvPr/>
        </p:nvSpPr>
        <p:spPr>
          <a:xfrm>
            <a:off x="240028"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a:t>
            </a:r>
          </a:p>
        </p:txBody>
      </p:sp>
      <p:sp>
        <p:nvSpPr>
          <p:cNvPr id="22" name="テキスト ボックス 21">
            <a:extLst>
              <a:ext uri="{FF2B5EF4-FFF2-40B4-BE49-F238E27FC236}">
                <a16:creationId xmlns:a16="http://schemas.microsoft.com/office/drawing/2014/main" id="{38E909FA-CB5E-B051-BA39-70C6E514BC74}"/>
              </a:ext>
            </a:extLst>
          </p:cNvPr>
          <p:cNvSpPr txBox="1"/>
          <p:nvPr/>
        </p:nvSpPr>
        <p:spPr>
          <a:xfrm>
            <a:off x="1337716"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a:t>
            </a:r>
            <a:r>
              <a:rPr lang="ja-JP" altLang="en-US" sz="1100" dirty="0">
                <a:latin typeface="メイリオ" panose="020B0604030504040204" pitchFamily="50" charset="-128"/>
                <a:ea typeface="メイリオ" panose="020B0604030504040204" pitchFamily="50" charset="-128"/>
                <a:cs typeface="メイリオ"/>
              </a:rPr>
              <a:t>離脱</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39" name="正方形/長方形 38">
            <a:extLst>
              <a:ext uri="{FF2B5EF4-FFF2-40B4-BE49-F238E27FC236}">
                <a16:creationId xmlns:a16="http://schemas.microsoft.com/office/drawing/2014/main" id="{0387F7F8-78A2-5984-62D7-5E0BC6139087}"/>
              </a:ext>
            </a:extLst>
          </p:cNvPr>
          <p:cNvSpPr/>
          <p:nvPr/>
        </p:nvSpPr>
        <p:spPr>
          <a:xfrm>
            <a:off x="1587355" y="2875302"/>
            <a:ext cx="697117" cy="7563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離</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脱</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防</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止</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41" name="正方形/長方形 40">
            <a:extLst>
              <a:ext uri="{FF2B5EF4-FFF2-40B4-BE49-F238E27FC236}">
                <a16:creationId xmlns:a16="http://schemas.microsoft.com/office/drawing/2014/main" id="{4EA0C91B-78C6-BBBB-2C69-9BB0F2452933}"/>
              </a:ext>
            </a:extLst>
          </p:cNvPr>
          <p:cNvSpPr/>
          <p:nvPr/>
        </p:nvSpPr>
        <p:spPr>
          <a:xfrm>
            <a:off x="2618680" y="3637979"/>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16F18994-DA2E-D80B-5B66-954D59885119}"/>
              </a:ext>
            </a:extLst>
          </p:cNvPr>
          <p:cNvSpPr/>
          <p:nvPr/>
        </p:nvSpPr>
        <p:spPr>
          <a:xfrm>
            <a:off x="3554602" y="3544936"/>
            <a:ext cx="1020649"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サンクス</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en-US" altLang="ja-JP" sz="100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1000" b="1" dirty="0">
                <a:solidFill>
                  <a:schemeClr val="tx1"/>
                </a:solidFill>
                <a:latin typeface="メイリオ" panose="020B0604030504040204" pitchFamily="50" charset="-128"/>
                <a:ea typeface="メイリオ" panose="020B0604030504040204" pitchFamily="50" charset="-128"/>
                <a:cs typeface="メイリオ"/>
              </a:rPr>
              <a:t>誘導</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4" name="直線矢印コネクタ 43">
            <a:extLst>
              <a:ext uri="{FF2B5EF4-FFF2-40B4-BE49-F238E27FC236}">
                <a16:creationId xmlns:a16="http://schemas.microsoft.com/office/drawing/2014/main" id="{EB54D42B-999A-C988-8087-353D7313BC5D}"/>
              </a:ext>
            </a:extLst>
          </p:cNvPr>
          <p:cNvCxnSpPr>
            <a:cxnSpLocks/>
          </p:cNvCxnSpPr>
          <p:nvPr/>
        </p:nvCxnSpPr>
        <p:spPr>
          <a:xfrm>
            <a:off x="3332019" y="3790376"/>
            <a:ext cx="198486"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98DC54E6-D786-24C4-0A98-CF27487E94A5}"/>
              </a:ext>
            </a:extLst>
          </p:cNvPr>
          <p:cNvSpPr/>
          <p:nvPr/>
        </p:nvSpPr>
        <p:spPr>
          <a:xfrm>
            <a:off x="2628833" y="4890712"/>
            <a:ext cx="843512"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友だち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追加誘導</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9" name="直線矢印コネクタ 48">
            <a:extLst>
              <a:ext uri="{FF2B5EF4-FFF2-40B4-BE49-F238E27FC236}">
                <a16:creationId xmlns:a16="http://schemas.microsoft.com/office/drawing/2014/main" id="{D6140142-DD1A-809C-DE27-D2CD7D992B51}"/>
              </a:ext>
            </a:extLst>
          </p:cNvPr>
          <p:cNvCxnSpPr>
            <a:cxnSpLocks/>
          </p:cNvCxnSpPr>
          <p:nvPr/>
        </p:nvCxnSpPr>
        <p:spPr>
          <a:xfrm>
            <a:off x="3572613" y="5136153"/>
            <a:ext cx="1974603"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6" name="左中かっこ 55">
            <a:extLst>
              <a:ext uri="{FF2B5EF4-FFF2-40B4-BE49-F238E27FC236}">
                <a16:creationId xmlns:a16="http://schemas.microsoft.com/office/drawing/2014/main" id="{9F7871CB-0948-ED66-262E-E4668DAEA788}"/>
              </a:ext>
            </a:extLst>
          </p:cNvPr>
          <p:cNvSpPr/>
          <p:nvPr/>
        </p:nvSpPr>
        <p:spPr>
          <a:xfrm>
            <a:off x="3306385" y="5445071"/>
            <a:ext cx="165959" cy="752529"/>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524DFC21-9336-5CCC-A46E-6B03A60F8CD8}"/>
              </a:ext>
            </a:extLst>
          </p:cNvPr>
          <p:cNvSpPr txBox="1"/>
          <p:nvPr/>
        </p:nvSpPr>
        <p:spPr>
          <a:xfrm>
            <a:off x="3472344" y="5451968"/>
            <a:ext cx="1307291" cy="553998"/>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・見どころ動画</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latin typeface="メイリオ" panose="020B0604030504040204" pitchFamily="50" charset="-128"/>
                <a:ea typeface="メイリオ" panose="020B0604030504040204" pitchFamily="50" charset="-128"/>
                <a:cs typeface="メイリオ"/>
              </a:rPr>
              <a:t>・参加特典</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solidFill>
                  <a:schemeClr val="tx1"/>
                </a:solidFill>
                <a:latin typeface="メイリオ" panose="020B0604030504040204" pitchFamily="50" charset="-128"/>
                <a:ea typeface="メイリオ" panose="020B0604030504040204" pitchFamily="50" charset="-128"/>
                <a:cs typeface="メイリオ"/>
              </a:rPr>
              <a:t>・ステップ配信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0" name="左中かっこ 59">
            <a:extLst>
              <a:ext uri="{FF2B5EF4-FFF2-40B4-BE49-F238E27FC236}">
                <a16:creationId xmlns:a16="http://schemas.microsoft.com/office/drawing/2014/main" id="{6D1FBEB7-0DA2-6BD0-D8E5-5287AABE463D}"/>
              </a:ext>
            </a:extLst>
          </p:cNvPr>
          <p:cNvSpPr/>
          <p:nvPr/>
        </p:nvSpPr>
        <p:spPr>
          <a:xfrm>
            <a:off x="4341554" y="4064872"/>
            <a:ext cx="165959" cy="681427"/>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62" name="テキスト ボックス 61">
            <a:extLst>
              <a:ext uri="{FF2B5EF4-FFF2-40B4-BE49-F238E27FC236}">
                <a16:creationId xmlns:a16="http://schemas.microsoft.com/office/drawing/2014/main" id="{23E526DD-37E7-611C-2660-347E6E25E45B}"/>
              </a:ext>
            </a:extLst>
          </p:cNvPr>
          <p:cNvSpPr txBox="1"/>
          <p:nvPr/>
        </p:nvSpPr>
        <p:spPr>
          <a:xfrm>
            <a:off x="4507513" y="4071769"/>
            <a:ext cx="1307291" cy="246221"/>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・前日のお知らせ</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65" name="直線矢印コネクタ 64">
            <a:extLst>
              <a:ext uri="{FF2B5EF4-FFF2-40B4-BE49-F238E27FC236}">
                <a16:creationId xmlns:a16="http://schemas.microsoft.com/office/drawing/2014/main" id="{92F8C127-A45A-8F56-9D6E-7D83C0CD059C}"/>
              </a:ext>
            </a:extLst>
          </p:cNvPr>
          <p:cNvCxnSpPr>
            <a:cxnSpLocks/>
          </p:cNvCxnSpPr>
          <p:nvPr/>
        </p:nvCxnSpPr>
        <p:spPr>
          <a:xfrm>
            <a:off x="4702245" y="3762641"/>
            <a:ext cx="761292"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18BC9B61-1AB1-C280-3AB3-0A3065C47874}"/>
              </a:ext>
            </a:extLst>
          </p:cNvPr>
          <p:cNvCxnSpPr>
            <a:cxnSpLocks/>
          </p:cNvCxnSpPr>
          <p:nvPr/>
        </p:nvCxnSpPr>
        <p:spPr>
          <a:xfrm flipV="1">
            <a:off x="879791" y="2657573"/>
            <a:ext cx="4546592"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0C63AA03-27C4-0484-5A97-8C858F657C28}"/>
              </a:ext>
            </a:extLst>
          </p:cNvPr>
          <p:cNvCxnSpPr>
            <a:cxnSpLocks/>
          </p:cNvCxnSpPr>
          <p:nvPr/>
        </p:nvCxnSpPr>
        <p:spPr>
          <a:xfrm flipV="1">
            <a:off x="1120433" y="3147854"/>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7" name="テキスト ボックス 86">
            <a:extLst>
              <a:ext uri="{FF2B5EF4-FFF2-40B4-BE49-F238E27FC236}">
                <a16:creationId xmlns:a16="http://schemas.microsoft.com/office/drawing/2014/main" id="{91706F5F-C2C9-CFA6-A6DA-6320D8935BA3}"/>
              </a:ext>
            </a:extLst>
          </p:cNvPr>
          <p:cNvSpPr txBox="1"/>
          <p:nvPr/>
        </p:nvSpPr>
        <p:spPr>
          <a:xfrm>
            <a:off x="968181" y="2932648"/>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88" name="直線矢印コネクタ 87">
            <a:extLst>
              <a:ext uri="{FF2B5EF4-FFF2-40B4-BE49-F238E27FC236}">
                <a16:creationId xmlns:a16="http://schemas.microsoft.com/office/drawing/2014/main" id="{826F5558-E52E-4955-ECF0-22B6B8A29748}"/>
              </a:ext>
            </a:extLst>
          </p:cNvPr>
          <p:cNvCxnSpPr>
            <a:cxnSpLocks/>
          </p:cNvCxnSpPr>
          <p:nvPr/>
        </p:nvCxnSpPr>
        <p:spPr>
          <a:xfrm flipV="1">
            <a:off x="2290047" y="3020133"/>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9" name="テキスト ボックス 88">
            <a:extLst>
              <a:ext uri="{FF2B5EF4-FFF2-40B4-BE49-F238E27FC236}">
                <a16:creationId xmlns:a16="http://schemas.microsoft.com/office/drawing/2014/main" id="{C87D3212-5CA7-479B-A73E-22643A6E1B0C}"/>
              </a:ext>
            </a:extLst>
          </p:cNvPr>
          <p:cNvSpPr txBox="1"/>
          <p:nvPr/>
        </p:nvSpPr>
        <p:spPr>
          <a:xfrm>
            <a:off x="2137795" y="2804927"/>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91" name="コネクタ: カギ線 90">
            <a:extLst>
              <a:ext uri="{FF2B5EF4-FFF2-40B4-BE49-F238E27FC236}">
                <a16:creationId xmlns:a16="http://schemas.microsoft.com/office/drawing/2014/main" id="{E092BAF5-1123-4B1D-F3A5-6BB3C08065DE}"/>
              </a:ext>
            </a:extLst>
          </p:cNvPr>
          <p:cNvCxnSpPr>
            <a:stCxn id="39" idx="3"/>
            <a:endCxn id="41" idx="1"/>
          </p:cNvCxnSpPr>
          <p:nvPr/>
        </p:nvCxnSpPr>
        <p:spPr>
          <a:xfrm>
            <a:off x="2284472" y="3253466"/>
            <a:ext cx="334208" cy="536912"/>
          </a:xfrm>
          <a:prstGeom prst="bentConnector3">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5" name="コネクタ: カギ線 94">
            <a:extLst>
              <a:ext uri="{FF2B5EF4-FFF2-40B4-BE49-F238E27FC236}">
                <a16:creationId xmlns:a16="http://schemas.microsoft.com/office/drawing/2014/main" id="{368BF7F4-176E-2B84-4610-9F916AC5F605}"/>
              </a:ext>
            </a:extLst>
          </p:cNvPr>
          <p:cNvCxnSpPr>
            <a:cxnSpLocks/>
            <a:stCxn id="39" idx="3"/>
            <a:endCxn id="48" idx="1"/>
          </p:cNvCxnSpPr>
          <p:nvPr/>
        </p:nvCxnSpPr>
        <p:spPr>
          <a:xfrm>
            <a:off x="2284472" y="3253466"/>
            <a:ext cx="344361" cy="1882687"/>
          </a:xfrm>
          <a:prstGeom prst="bentConnector3">
            <a:avLst>
              <a:gd name="adj1" fmla="val 50000"/>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矢印コネクタ 97">
            <a:extLst>
              <a:ext uri="{FF2B5EF4-FFF2-40B4-BE49-F238E27FC236}">
                <a16:creationId xmlns:a16="http://schemas.microsoft.com/office/drawing/2014/main" id="{81E1473F-6265-659C-CC0B-C6FE85BCA3EC}"/>
              </a:ext>
            </a:extLst>
          </p:cNvPr>
          <p:cNvCxnSpPr>
            <a:cxnSpLocks/>
          </p:cNvCxnSpPr>
          <p:nvPr/>
        </p:nvCxnSpPr>
        <p:spPr>
          <a:xfrm>
            <a:off x="1018332" y="2261854"/>
            <a:ext cx="6368884"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99" name="正方形/長方形 98">
            <a:extLst>
              <a:ext uri="{FF2B5EF4-FFF2-40B4-BE49-F238E27FC236}">
                <a16:creationId xmlns:a16="http://schemas.microsoft.com/office/drawing/2014/main" id="{71342B33-5F5E-5ACC-6866-024BDB2FCF99}"/>
              </a:ext>
            </a:extLst>
          </p:cNvPr>
          <p:cNvSpPr/>
          <p:nvPr/>
        </p:nvSpPr>
        <p:spPr>
          <a:xfrm>
            <a:off x="2618679" y="2095601"/>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1" name="正方形/長方形 100">
            <a:extLst>
              <a:ext uri="{FF2B5EF4-FFF2-40B4-BE49-F238E27FC236}">
                <a16:creationId xmlns:a16="http://schemas.microsoft.com/office/drawing/2014/main" id="{47073071-D09C-A372-757E-07EDFC1B4691}"/>
              </a:ext>
            </a:extLst>
          </p:cNvPr>
          <p:cNvSpPr/>
          <p:nvPr/>
        </p:nvSpPr>
        <p:spPr>
          <a:xfrm>
            <a:off x="7490414" y="2123310"/>
            <a:ext cx="843512" cy="277088"/>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3" name="正方形/長方形 102">
            <a:extLst>
              <a:ext uri="{FF2B5EF4-FFF2-40B4-BE49-F238E27FC236}">
                <a16:creationId xmlns:a16="http://schemas.microsoft.com/office/drawing/2014/main" id="{362FF045-6EC3-A2C7-23A8-F82F6C32CA62}"/>
              </a:ext>
            </a:extLst>
          </p:cNvPr>
          <p:cNvSpPr/>
          <p:nvPr/>
        </p:nvSpPr>
        <p:spPr>
          <a:xfrm>
            <a:off x="5151597" y="2099217"/>
            <a:ext cx="843512" cy="304064"/>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参加</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104" name="直線矢印コネクタ 103">
            <a:extLst>
              <a:ext uri="{FF2B5EF4-FFF2-40B4-BE49-F238E27FC236}">
                <a16:creationId xmlns:a16="http://schemas.microsoft.com/office/drawing/2014/main" id="{B2BEB3B0-AB21-E350-31D0-2459E72A227A}"/>
              </a:ext>
            </a:extLst>
          </p:cNvPr>
          <p:cNvCxnSpPr>
            <a:cxnSpLocks/>
          </p:cNvCxnSpPr>
          <p:nvPr/>
        </p:nvCxnSpPr>
        <p:spPr>
          <a:xfrm rot="16200000">
            <a:off x="4316154" y="3825356"/>
            <a:ext cx="2628196" cy="2483"/>
          </a:xfrm>
          <a:prstGeom prst="straightConnector1">
            <a:avLst/>
          </a:prstGeom>
          <a:ln w="57150">
            <a:solidFill>
              <a:srgbClr val="1F2A5C"/>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06" name="正方形/長方形 105">
            <a:extLst>
              <a:ext uri="{FF2B5EF4-FFF2-40B4-BE49-F238E27FC236}">
                <a16:creationId xmlns:a16="http://schemas.microsoft.com/office/drawing/2014/main" id="{294E5883-9E5C-CC39-B584-0348ED134790}"/>
              </a:ext>
            </a:extLst>
          </p:cNvPr>
          <p:cNvSpPr/>
          <p:nvPr/>
        </p:nvSpPr>
        <p:spPr>
          <a:xfrm>
            <a:off x="425513" y="1810959"/>
            <a:ext cx="697117" cy="464415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AD</a:t>
            </a: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8" name="正方形/長方形 107">
            <a:extLst>
              <a:ext uri="{FF2B5EF4-FFF2-40B4-BE49-F238E27FC236}">
                <a16:creationId xmlns:a16="http://schemas.microsoft.com/office/drawing/2014/main" id="{BF61B903-1FDC-8BAE-D2B9-3470F4804967}"/>
              </a:ext>
            </a:extLst>
          </p:cNvPr>
          <p:cNvSpPr/>
          <p:nvPr/>
        </p:nvSpPr>
        <p:spPr>
          <a:xfrm>
            <a:off x="5088255" y="5754882"/>
            <a:ext cx="1135687"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Tx/>
              <a:buChar char="-"/>
            </a:pPr>
            <a:r>
              <a:rPr lang="ja-JP" altLang="en-US" sz="1000" b="1" dirty="0">
                <a:solidFill>
                  <a:schemeClr val="tx1"/>
                </a:solidFill>
                <a:latin typeface="メイリオ" panose="020B0604030504040204" pitchFamily="50" charset="-128"/>
                <a:ea typeface="メイリオ" panose="020B0604030504040204" pitchFamily="50" charset="-128"/>
                <a:cs typeface="メイリオ"/>
              </a:rPr>
              <a:t>平常期の配信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2" name="直線矢印コネクタ 1">
            <a:extLst>
              <a:ext uri="{FF2B5EF4-FFF2-40B4-BE49-F238E27FC236}">
                <a16:creationId xmlns:a16="http://schemas.microsoft.com/office/drawing/2014/main" id="{BE373B3A-392A-272B-09F4-3EDF2F42A980}"/>
              </a:ext>
            </a:extLst>
          </p:cNvPr>
          <p:cNvCxnSpPr>
            <a:cxnSpLocks/>
          </p:cNvCxnSpPr>
          <p:nvPr/>
        </p:nvCxnSpPr>
        <p:spPr>
          <a:xfrm flipV="1">
            <a:off x="5137316" y="5576055"/>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DB9BD1D1-C76F-12F8-B85E-165B4A6C8BFD}"/>
              </a:ext>
            </a:extLst>
          </p:cNvPr>
          <p:cNvSpPr txBox="1"/>
          <p:nvPr/>
        </p:nvSpPr>
        <p:spPr>
          <a:xfrm>
            <a:off x="4985064" y="5360849"/>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 name="正方形/長方形 9">
            <a:extLst>
              <a:ext uri="{FF2B5EF4-FFF2-40B4-BE49-F238E27FC236}">
                <a16:creationId xmlns:a16="http://schemas.microsoft.com/office/drawing/2014/main" id="{452A1327-261D-FFA5-8AB0-FBC92A2407B8}"/>
              </a:ext>
            </a:extLst>
          </p:cNvPr>
          <p:cNvSpPr/>
          <p:nvPr/>
        </p:nvSpPr>
        <p:spPr>
          <a:xfrm>
            <a:off x="5995109" y="2633366"/>
            <a:ext cx="3273814" cy="14024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●イベント直後に、サロンの</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申込みフォームを案内</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（申込みはいつでも可能）</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※個別チャット対応は効率化のみで基本貴社対応</a:t>
            </a:r>
          </a:p>
        </p:txBody>
      </p:sp>
    </p:spTree>
    <p:extLst>
      <p:ext uri="{BB962C8B-B14F-4D97-AF65-F5344CB8AC3E}">
        <p14:creationId xmlns:p14="http://schemas.microsoft.com/office/powerpoint/2010/main" val="39474872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A337D-17CA-E6E5-D505-2573F42DF1AE}"/>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764D8A5C-7B4A-390C-FB5B-FB3131C930AD}"/>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EEFB8B0A-6EC5-1DE8-1B6D-A4065AE6AEA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14EC833-F0FA-AEDA-4F48-B979DDE04109}"/>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C7E6A42B-1136-E29F-50E6-B072A610CB01}"/>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88B8ADE6-2320-90DE-4B5D-0E825050A440}"/>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04B17781-2CE9-1794-B996-D203F2127177}"/>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83D7B48F-F108-1D28-80D9-9B07405A3AF3}"/>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854968D2-9B97-28FB-49F7-CCBD26E2F10D}"/>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次のイベントの案内を、広告より先に届けられる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C13E0556-1137-A003-99B5-1CC8EE085C44}"/>
              </a:ext>
            </a:extLst>
          </p:cNvPr>
          <p:cNvSpPr txBox="1"/>
          <p:nvPr/>
        </p:nvSpPr>
        <p:spPr>
          <a:xfrm>
            <a:off x="381000" y="4554727"/>
            <a:ext cx="9144000" cy="81280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友だちの入口（ポップアップツール／サンクスLINE誘導）で自動で分け、予約した方は当日の参加へ、</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a:t>
            </a:r>
          </a:p>
        </p:txBody>
      </p:sp>
    </p:spTree>
    <p:extLst>
      <p:ext uri="{BB962C8B-B14F-4D97-AF65-F5344CB8AC3E}">
        <p14:creationId xmlns:p14="http://schemas.microsoft.com/office/powerpoint/2010/main" val="3203648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14F9B-288C-F1D2-7B0B-67E191377D0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FF87629C-3642-C49D-F0B1-C713D8B98B2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BF1FF577-F7FC-8D65-AD79-624C8A98E39D}"/>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E6E21DDA-5638-FE3D-5AC9-43FF46984EB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CC2D2B1E-CBEB-3614-77A0-5702C0FFED68}"/>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8B06F5F7-D7C2-4206-459C-6FDD885B9F2C}"/>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F773B430-56E4-0521-D716-A07C918C24AE}"/>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A47125D1-5D5B-577F-CCF0-A99B2F298330}"/>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ECF77B04-EFBD-D6B8-E01D-1461AF2766FF}"/>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次のイベントの案内を、広告より先に届けられる</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A7CDFABA-1683-4E04-F3EC-BFB5175BB3D7}"/>
              </a:ext>
            </a:extLst>
          </p:cNvPr>
          <p:cNvSpPr txBox="1"/>
          <p:nvPr/>
        </p:nvSpPr>
        <p:spPr>
          <a:xfrm>
            <a:off x="381000" y="4554727"/>
            <a:ext cx="9144000" cy="81280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友だちの入口（ポップアップツール／サンクスLINE誘導）で自動で分け、予約した方は当日の参加へ、</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a:t>
            </a:r>
          </a:p>
        </p:txBody>
      </p:sp>
      <p:sp>
        <p:nvSpPr>
          <p:cNvPr id="2" name="正方形/長方形 1">
            <a:extLst>
              <a:ext uri="{FF2B5EF4-FFF2-40B4-BE49-F238E27FC236}">
                <a16:creationId xmlns:a16="http://schemas.microsoft.com/office/drawing/2014/main" id="{2BCDAE55-2DB6-D959-BB7A-FFA05547CCF8}"/>
              </a:ext>
            </a:extLst>
          </p:cNvPr>
          <p:cNvSpPr/>
          <p:nvPr/>
        </p:nvSpPr>
        <p:spPr>
          <a:xfrm>
            <a:off x="4953000" y="1397561"/>
            <a:ext cx="4757057" cy="3149513"/>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 name="正方形/長方形 9">
            <a:extLst>
              <a:ext uri="{FF2B5EF4-FFF2-40B4-BE49-F238E27FC236}">
                <a16:creationId xmlns:a16="http://schemas.microsoft.com/office/drawing/2014/main" id="{62794B8A-D6DE-D702-A17A-E1DE9074FE08}"/>
              </a:ext>
            </a:extLst>
          </p:cNvPr>
          <p:cNvSpPr/>
          <p:nvPr/>
        </p:nvSpPr>
        <p:spPr>
          <a:xfrm>
            <a:off x="379975" y="4547075"/>
            <a:ext cx="9143999" cy="841795"/>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25156139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605D1-944D-0389-D7CD-C5AB8DD983F5}"/>
            </a:ext>
          </a:extLst>
        </p:cNvPr>
        <p:cNvGrpSpPr/>
        <p:nvPr/>
      </p:nvGrpSpPr>
      <p:grpSpPr>
        <a:xfrm>
          <a:off x="0" y="0"/>
          <a:ext cx="0" cy="0"/>
          <a:chOff x="0" y="0"/>
          <a:chExt cx="0" cy="0"/>
        </a:xfrm>
      </p:grpSpPr>
      <p:sp>
        <p:nvSpPr>
          <p:cNvPr id="8" name="テキスト ボックス 47">
            <a:extLst>
              <a:ext uri="{FF2B5EF4-FFF2-40B4-BE49-F238E27FC236}">
                <a16:creationId xmlns:a16="http://schemas.microsoft.com/office/drawing/2014/main" id="{83BB2C20-D0AA-36FF-470A-E7F0DAEAB26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短期ニーズトラック：Day0〜</a:t>
            </a:r>
            <a:r>
              <a:rPr lang="en-US" altLang="ja-JP" sz="1600" b="1" dirty="0">
                <a:solidFill>
                  <a:srgbClr val="1F2A5C"/>
                </a:solidFill>
                <a:latin typeface="メイリオ" panose="020B0604030504040204" pitchFamily="50" charset="-128"/>
                <a:ea typeface="メイリオ" panose="020B0604030504040204" pitchFamily="50" charset="-128"/>
                <a:cs typeface="メイリオ"/>
              </a:rPr>
              <a:t>15</a:t>
            </a:r>
            <a:r>
              <a:rPr lang="ja-JP" altLang="en-US" sz="1600" b="1" dirty="0">
                <a:solidFill>
                  <a:srgbClr val="1F2A5C"/>
                </a:solidFill>
                <a:latin typeface="メイリオ" panose="020B0604030504040204" pitchFamily="50" charset="-128"/>
                <a:ea typeface="メイリオ" panose="020B0604030504040204" pitchFamily="50" charset="-128"/>
                <a:cs typeface="メイリオ"/>
              </a:rPr>
              <a:t>の圧縮設計</a:t>
            </a:r>
          </a:p>
        </p:txBody>
      </p:sp>
      <p:sp>
        <p:nvSpPr>
          <p:cNvPr id="12" name="Lead">
            <a:extLst>
              <a:ext uri="{FF2B5EF4-FFF2-40B4-BE49-F238E27FC236}">
                <a16:creationId xmlns:a16="http://schemas.microsoft.com/office/drawing/2014/main" id="{95FE0356-B15A-D93F-BA83-FD0B43311C26}"/>
              </a:ext>
            </a:extLst>
          </p:cNvPr>
          <p:cNvSpPr txBox="1"/>
          <p:nvPr/>
        </p:nvSpPr>
        <p:spPr>
          <a:xfrm>
            <a:off x="274320" y="847623"/>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検索直後の疑問に即応し、15日以内でセミナー予約へ誘導する</a:t>
            </a:r>
          </a:p>
        </p:txBody>
      </p:sp>
      <p:sp>
        <p:nvSpPr>
          <p:cNvPr id="2" name="Rounded Rectangle 2">
            <a:extLst>
              <a:ext uri="{FF2B5EF4-FFF2-40B4-BE49-F238E27FC236}">
                <a16:creationId xmlns:a16="http://schemas.microsoft.com/office/drawing/2014/main" id="{32D5DB1A-2D31-4285-1013-68B5CBC6F7AA}"/>
              </a:ext>
            </a:extLst>
          </p:cNvPr>
          <p:cNvSpPr/>
          <p:nvPr/>
        </p:nvSpPr>
        <p:spPr>
          <a:xfrm>
            <a:off x="27432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 name="Rounded Rectangle 3">
            <a:extLst>
              <a:ext uri="{FF2B5EF4-FFF2-40B4-BE49-F238E27FC236}">
                <a16:creationId xmlns:a16="http://schemas.microsoft.com/office/drawing/2014/main" id="{4905A8F7-DA37-EDDB-D4A0-A8C338EA048F}"/>
              </a:ext>
            </a:extLst>
          </p:cNvPr>
          <p:cNvSpPr/>
          <p:nvPr/>
        </p:nvSpPr>
        <p:spPr>
          <a:xfrm>
            <a:off x="27432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Day0</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追加直後：診断</a:t>
            </a:r>
          </a:p>
        </p:txBody>
      </p:sp>
      <p:sp>
        <p:nvSpPr>
          <p:cNvPr id="4" name="TextBox 4">
            <a:extLst>
              <a:ext uri="{FF2B5EF4-FFF2-40B4-BE49-F238E27FC236}">
                <a16:creationId xmlns:a16="http://schemas.microsoft.com/office/drawing/2014/main" id="{AF54DDF1-0A58-67B0-D606-FE72C8B6BAD4}"/>
              </a:ext>
            </a:extLst>
          </p:cNvPr>
          <p:cNvSpPr txBox="1"/>
          <p:nvPr/>
        </p:nvSpPr>
        <p:spPr>
          <a:xfrm>
            <a:off x="38404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ご追加ありがとう</a:t>
            </a:r>
          </a:p>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ございます！</a:t>
            </a:r>
          </a:p>
        </p:txBody>
      </p:sp>
      <p:sp>
        <p:nvSpPr>
          <p:cNvPr id="5" name="TextBox 5">
            <a:extLst>
              <a:ext uri="{FF2B5EF4-FFF2-40B4-BE49-F238E27FC236}">
                <a16:creationId xmlns:a16="http://schemas.microsoft.com/office/drawing/2014/main" id="{942DBFF1-8E8E-E0F6-C4D8-936FB7D63294}"/>
              </a:ext>
            </a:extLst>
          </p:cNvPr>
          <p:cNvSpPr txBox="1"/>
          <p:nvPr/>
        </p:nvSpPr>
        <p:spPr>
          <a:xfrm>
            <a:off x="38404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3問タップで検討段階を分岐・タグ付け</a:t>
            </a:r>
          </a:p>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6" name="Rounded Rectangle 6">
            <a:extLst>
              <a:ext uri="{FF2B5EF4-FFF2-40B4-BE49-F238E27FC236}">
                <a16:creationId xmlns:a16="http://schemas.microsoft.com/office/drawing/2014/main" id="{7FF56F22-467D-9E6B-D894-69A2DC8FAD69}"/>
              </a:ext>
            </a:extLst>
          </p:cNvPr>
          <p:cNvSpPr/>
          <p:nvPr/>
        </p:nvSpPr>
        <p:spPr>
          <a:xfrm>
            <a:off x="38404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 3択タップで診断</a:t>
            </a:r>
          </a:p>
        </p:txBody>
      </p:sp>
      <p:sp>
        <p:nvSpPr>
          <p:cNvPr id="7" name="Rounded Rectangle 7">
            <a:extLst>
              <a:ext uri="{FF2B5EF4-FFF2-40B4-BE49-F238E27FC236}">
                <a16:creationId xmlns:a16="http://schemas.microsoft.com/office/drawing/2014/main" id="{8D18F66D-12A2-B97F-13EE-FA13362C28BE}"/>
              </a:ext>
            </a:extLst>
          </p:cNvPr>
          <p:cNvSpPr/>
          <p:nvPr/>
        </p:nvSpPr>
        <p:spPr>
          <a:xfrm>
            <a:off x="217078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9" name="Rounded Rectangle 8">
            <a:extLst>
              <a:ext uri="{FF2B5EF4-FFF2-40B4-BE49-F238E27FC236}">
                <a16:creationId xmlns:a16="http://schemas.microsoft.com/office/drawing/2014/main" id="{FA0D0844-6CF2-A00A-7B79-F4A826D90EEE}"/>
              </a:ext>
            </a:extLst>
          </p:cNvPr>
          <p:cNvSpPr/>
          <p:nvPr/>
        </p:nvSpPr>
        <p:spPr>
          <a:xfrm>
            <a:off x="2170785"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Day1〜2</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0" name="TextBox 9">
            <a:extLst>
              <a:ext uri="{FF2B5EF4-FFF2-40B4-BE49-F238E27FC236}">
                <a16:creationId xmlns:a16="http://schemas.microsoft.com/office/drawing/2014/main" id="{9361AE1C-AC5D-8B9C-86D1-EC657FC3A8B7}"/>
              </a:ext>
            </a:extLst>
          </p:cNvPr>
          <p:cNvSpPr txBox="1"/>
          <p:nvPr/>
        </p:nvSpPr>
        <p:spPr>
          <a:xfrm>
            <a:off x="228051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11" name="TextBox 10">
            <a:extLst>
              <a:ext uri="{FF2B5EF4-FFF2-40B4-BE49-F238E27FC236}">
                <a16:creationId xmlns:a16="http://schemas.microsoft.com/office/drawing/2014/main" id="{2C26C064-3099-1C6E-BD1F-7E4B6508C6C0}"/>
              </a:ext>
            </a:extLst>
          </p:cNvPr>
          <p:cNvSpPr txBox="1"/>
          <p:nvPr/>
        </p:nvSpPr>
        <p:spPr>
          <a:xfrm>
            <a:off x="2280513"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13" name="Rounded Rectangle 11">
            <a:extLst>
              <a:ext uri="{FF2B5EF4-FFF2-40B4-BE49-F238E27FC236}">
                <a16:creationId xmlns:a16="http://schemas.microsoft.com/office/drawing/2014/main" id="{4B3A754B-1435-5A8E-96AE-4037A27AF116}"/>
              </a:ext>
            </a:extLst>
          </p:cNvPr>
          <p:cNvSpPr/>
          <p:nvPr/>
        </p:nvSpPr>
        <p:spPr>
          <a:xfrm>
            <a:off x="2280513"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4" name="Rounded Rectangle 12">
            <a:extLst>
              <a:ext uri="{FF2B5EF4-FFF2-40B4-BE49-F238E27FC236}">
                <a16:creationId xmlns:a16="http://schemas.microsoft.com/office/drawing/2014/main" id="{36C2CEAA-8727-1541-A261-38D2B8EE8479}"/>
              </a:ext>
            </a:extLst>
          </p:cNvPr>
          <p:cNvSpPr/>
          <p:nvPr/>
        </p:nvSpPr>
        <p:spPr>
          <a:xfrm>
            <a:off x="406725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16" name="Rounded Rectangle 13">
            <a:extLst>
              <a:ext uri="{FF2B5EF4-FFF2-40B4-BE49-F238E27FC236}">
                <a16:creationId xmlns:a16="http://schemas.microsoft.com/office/drawing/2014/main" id="{93204242-A97B-3F81-AC83-1DDA22FFC0D0}"/>
              </a:ext>
            </a:extLst>
          </p:cNvPr>
          <p:cNvSpPr/>
          <p:nvPr/>
        </p:nvSpPr>
        <p:spPr>
          <a:xfrm>
            <a:off x="4067250"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Day4〜5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8" name="TextBox 14">
            <a:extLst>
              <a:ext uri="{FF2B5EF4-FFF2-40B4-BE49-F238E27FC236}">
                <a16:creationId xmlns:a16="http://schemas.microsoft.com/office/drawing/2014/main" id="{6AD6AF8B-2C4A-933F-0193-F19C291F13B1}"/>
              </a:ext>
            </a:extLst>
          </p:cNvPr>
          <p:cNvSpPr txBox="1"/>
          <p:nvPr/>
        </p:nvSpPr>
        <p:spPr>
          <a:xfrm>
            <a:off x="417697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20" name="TextBox 15">
            <a:extLst>
              <a:ext uri="{FF2B5EF4-FFF2-40B4-BE49-F238E27FC236}">
                <a16:creationId xmlns:a16="http://schemas.microsoft.com/office/drawing/2014/main" id="{31A7EE41-522A-6587-5E29-2C573127F3C3}"/>
              </a:ext>
            </a:extLst>
          </p:cNvPr>
          <p:cNvSpPr txBox="1"/>
          <p:nvPr/>
        </p:nvSpPr>
        <p:spPr>
          <a:xfrm>
            <a:off x="417697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22" name="Rounded Rectangle 16">
            <a:extLst>
              <a:ext uri="{FF2B5EF4-FFF2-40B4-BE49-F238E27FC236}">
                <a16:creationId xmlns:a16="http://schemas.microsoft.com/office/drawing/2014/main" id="{C7E8BDA3-8CEC-774B-B965-F3AF39B914E4}"/>
              </a:ext>
            </a:extLst>
          </p:cNvPr>
          <p:cNvSpPr/>
          <p:nvPr/>
        </p:nvSpPr>
        <p:spPr>
          <a:xfrm>
            <a:off x="4176978"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4" name="Rounded Rectangle 17">
            <a:extLst>
              <a:ext uri="{FF2B5EF4-FFF2-40B4-BE49-F238E27FC236}">
                <a16:creationId xmlns:a16="http://schemas.microsoft.com/office/drawing/2014/main" id="{E541336C-EC2C-FA47-DF86-0449EEE6EC01}"/>
              </a:ext>
            </a:extLst>
          </p:cNvPr>
          <p:cNvSpPr/>
          <p:nvPr/>
        </p:nvSpPr>
        <p:spPr>
          <a:xfrm>
            <a:off x="596371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26" name="Rounded Rectangle 18">
            <a:extLst>
              <a:ext uri="{FF2B5EF4-FFF2-40B4-BE49-F238E27FC236}">
                <a16:creationId xmlns:a16="http://schemas.microsoft.com/office/drawing/2014/main" id="{BC2869C0-256F-8186-2F32-62ABEBFDB974}"/>
              </a:ext>
            </a:extLst>
          </p:cNvPr>
          <p:cNvSpPr/>
          <p:nvPr/>
        </p:nvSpPr>
        <p:spPr>
          <a:xfrm>
            <a:off x="5963715" y="1560362"/>
            <a:ext cx="1786737" cy="566928"/>
          </a:xfrm>
          <a:prstGeom prst="roundRect">
            <a:avLst>
              <a:gd name="adj" fmla="val 12000"/>
            </a:avLst>
          </a:prstGeom>
          <a:solidFill>
            <a:srgbClr val="5A6378"/>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Day8〜9</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8" name="TextBox 19">
            <a:extLst>
              <a:ext uri="{FF2B5EF4-FFF2-40B4-BE49-F238E27FC236}">
                <a16:creationId xmlns:a16="http://schemas.microsoft.com/office/drawing/2014/main" id="{A3128BAC-3AA2-D6CD-E5B1-139EF73DE7E5}"/>
              </a:ext>
            </a:extLst>
          </p:cNvPr>
          <p:cNvSpPr txBox="1"/>
          <p:nvPr/>
        </p:nvSpPr>
        <p:spPr>
          <a:xfrm>
            <a:off x="607344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0" name="TextBox 20">
            <a:extLst>
              <a:ext uri="{FF2B5EF4-FFF2-40B4-BE49-F238E27FC236}">
                <a16:creationId xmlns:a16="http://schemas.microsoft.com/office/drawing/2014/main" id="{69E0D836-774F-8844-0B7E-FEC8CAEAA930}"/>
              </a:ext>
            </a:extLst>
          </p:cNvPr>
          <p:cNvSpPr txBox="1"/>
          <p:nvPr/>
        </p:nvSpPr>
        <p:spPr>
          <a:xfrm>
            <a:off x="6073443"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32" name="Rounded Rectangle 21">
            <a:extLst>
              <a:ext uri="{FF2B5EF4-FFF2-40B4-BE49-F238E27FC236}">
                <a16:creationId xmlns:a16="http://schemas.microsoft.com/office/drawing/2014/main" id="{3CD9E7C8-AEDB-1B24-169E-B4E2FCC3BF0B}"/>
              </a:ext>
            </a:extLst>
          </p:cNvPr>
          <p:cNvSpPr/>
          <p:nvPr/>
        </p:nvSpPr>
        <p:spPr>
          <a:xfrm>
            <a:off x="6073443" y="5217962"/>
            <a:ext cx="1567281" cy="384048"/>
          </a:xfrm>
          <a:prstGeom prst="roundRect">
            <a:avLst>
              <a:gd name="adj" fmla="val 50000"/>
            </a:avLst>
          </a:prstGeom>
          <a:solidFill>
            <a:srgbClr val="5A6378"/>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34" name="Rounded Rectangle 22">
            <a:extLst>
              <a:ext uri="{FF2B5EF4-FFF2-40B4-BE49-F238E27FC236}">
                <a16:creationId xmlns:a16="http://schemas.microsoft.com/office/drawing/2014/main" id="{F9794684-1FF1-3263-6A5B-55F2FABDADE2}"/>
              </a:ext>
            </a:extLst>
          </p:cNvPr>
          <p:cNvSpPr/>
          <p:nvPr/>
        </p:nvSpPr>
        <p:spPr>
          <a:xfrm>
            <a:off x="786018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6" name="Rounded Rectangle 23">
            <a:extLst>
              <a:ext uri="{FF2B5EF4-FFF2-40B4-BE49-F238E27FC236}">
                <a16:creationId xmlns:a16="http://schemas.microsoft.com/office/drawing/2014/main" id="{5270596D-D709-5039-F2B0-A37C3BC91FB1}"/>
              </a:ext>
            </a:extLst>
          </p:cNvPr>
          <p:cNvSpPr/>
          <p:nvPr/>
        </p:nvSpPr>
        <p:spPr>
          <a:xfrm>
            <a:off x="786018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Day12〜15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オファー</a:t>
            </a:r>
          </a:p>
        </p:txBody>
      </p:sp>
      <p:sp>
        <p:nvSpPr>
          <p:cNvPr id="38" name="TextBox 24">
            <a:extLst>
              <a:ext uri="{FF2B5EF4-FFF2-40B4-BE49-F238E27FC236}">
                <a16:creationId xmlns:a16="http://schemas.microsoft.com/office/drawing/2014/main" id="{BDC9515A-B6AE-4419-9471-C1CACD5E3EC1}"/>
              </a:ext>
            </a:extLst>
          </p:cNvPr>
          <p:cNvSpPr txBox="1"/>
          <p:nvPr/>
        </p:nvSpPr>
        <p:spPr>
          <a:xfrm>
            <a:off x="796990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9" name="TextBox 25">
            <a:extLst>
              <a:ext uri="{FF2B5EF4-FFF2-40B4-BE49-F238E27FC236}">
                <a16:creationId xmlns:a16="http://schemas.microsoft.com/office/drawing/2014/main" id="{77631336-7324-364D-DAFA-3CED8F639C61}"/>
              </a:ext>
            </a:extLst>
          </p:cNvPr>
          <p:cNvSpPr txBox="1"/>
          <p:nvPr/>
        </p:nvSpPr>
        <p:spPr>
          <a:xfrm>
            <a:off x="7969908"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40" name="Rounded Rectangle 26">
            <a:extLst>
              <a:ext uri="{FF2B5EF4-FFF2-40B4-BE49-F238E27FC236}">
                <a16:creationId xmlns:a16="http://schemas.microsoft.com/office/drawing/2014/main" id="{84EB3BAF-CB06-3354-471B-18BB2B84211F}"/>
              </a:ext>
            </a:extLst>
          </p:cNvPr>
          <p:cNvSpPr/>
          <p:nvPr/>
        </p:nvSpPr>
        <p:spPr>
          <a:xfrm>
            <a:off x="796990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41" name="TextBox 27">
            <a:extLst>
              <a:ext uri="{FF2B5EF4-FFF2-40B4-BE49-F238E27FC236}">
                <a16:creationId xmlns:a16="http://schemas.microsoft.com/office/drawing/2014/main" id="{4801341B-D8FB-80D0-9999-2FE19D3EE1E8}"/>
              </a:ext>
            </a:extLst>
          </p:cNvPr>
          <p:cNvSpPr txBox="1"/>
          <p:nvPr/>
        </p:nvSpPr>
        <p:spPr>
          <a:xfrm>
            <a:off x="274320" y="5858042"/>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メイリオ"/>
                <a:sym typeface="Arial"/>
              </a:rPr>
              <a:t>--</a:t>
            </a:r>
            <a:endParaRPr kumimoji="0" lang="en-US" sz="1150" kern="0" dirty="0">
              <a:solidFill>
                <a:srgbClr val="5A6378"/>
              </a:solidFill>
              <a:latin typeface="メイリオ" panose="020B0604030504040204" pitchFamily="50" charset="-128"/>
              <a:ea typeface="メイリオ" panose="020B0604030504040204" pitchFamily="50" charset="-128"/>
              <a:cs typeface="メイリオ"/>
              <a:sym typeface="Arial"/>
            </a:endParaRPr>
          </a:p>
        </p:txBody>
      </p:sp>
      <p:sp>
        <p:nvSpPr>
          <p:cNvPr id="43" name="TextBox 5">
            <a:extLst>
              <a:ext uri="{FF2B5EF4-FFF2-40B4-BE49-F238E27FC236}">
                <a16:creationId xmlns:a16="http://schemas.microsoft.com/office/drawing/2014/main" id="{EA39FE5A-F88E-6BA9-436B-1C7ACA9EFDF7}"/>
              </a:ext>
            </a:extLst>
          </p:cNvPr>
          <p:cNvSpPr txBox="1"/>
          <p:nvPr/>
        </p:nvSpPr>
        <p:spPr>
          <a:xfrm>
            <a:off x="384048" y="3898197"/>
            <a:ext cx="1567281" cy="428579"/>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endParaRPr kumimoji="0"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p:txBody>
      </p:sp>
      <p:sp>
        <p:nvSpPr>
          <p:cNvPr id="45" name="TextBox 10">
            <a:extLst>
              <a:ext uri="{FF2B5EF4-FFF2-40B4-BE49-F238E27FC236}">
                <a16:creationId xmlns:a16="http://schemas.microsoft.com/office/drawing/2014/main" id="{20FC8A71-901A-1650-523A-DB40DB5BE8B2}"/>
              </a:ext>
            </a:extLst>
          </p:cNvPr>
          <p:cNvSpPr txBox="1"/>
          <p:nvPr/>
        </p:nvSpPr>
        <p:spPr>
          <a:xfrm>
            <a:off x="2280513"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endPar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7" name="TextBox 15">
            <a:extLst>
              <a:ext uri="{FF2B5EF4-FFF2-40B4-BE49-F238E27FC236}">
                <a16:creationId xmlns:a16="http://schemas.microsoft.com/office/drawing/2014/main" id="{760B245B-F336-095B-944B-703D8196FB74}"/>
              </a:ext>
            </a:extLst>
          </p:cNvPr>
          <p:cNvSpPr txBox="1"/>
          <p:nvPr/>
        </p:nvSpPr>
        <p:spPr>
          <a:xfrm>
            <a:off x="417697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9" name="TextBox 20">
            <a:extLst>
              <a:ext uri="{FF2B5EF4-FFF2-40B4-BE49-F238E27FC236}">
                <a16:creationId xmlns:a16="http://schemas.microsoft.com/office/drawing/2014/main" id="{DE95B638-E657-FEBB-0117-64BD0F935CE8}"/>
              </a:ext>
            </a:extLst>
          </p:cNvPr>
          <p:cNvSpPr txBox="1"/>
          <p:nvPr/>
        </p:nvSpPr>
        <p:spPr>
          <a:xfrm>
            <a:off x="6073443" y="3898197"/>
            <a:ext cx="1567281" cy="1101071"/>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51" name="TextBox 25">
            <a:extLst>
              <a:ext uri="{FF2B5EF4-FFF2-40B4-BE49-F238E27FC236}">
                <a16:creationId xmlns:a16="http://schemas.microsoft.com/office/drawing/2014/main" id="{9EEAEFD9-8EF2-001C-D44A-2B0332CF7F41}"/>
              </a:ext>
            </a:extLst>
          </p:cNvPr>
          <p:cNvSpPr txBox="1"/>
          <p:nvPr/>
        </p:nvSpPr>
        <p:spPr>
          <a:xfrm>
            <a:off x="796990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15" name="正方形/長方形 14">
            <a:extLst>
              <a:ext uri="{FF2B5EF4-FFF2-40B4-BE49-F238E27FC236}">
                <a16:creationId xmlns:a16="http://schemas.microsoft.com/office/drawing/2014/main" id="{555B77A1-60D1-23C1-F985-F9E05AB9B915}"/>
              </a:ext>
            </a:extLst>
          </p:cNvPr>
          <p:cNvSpPr/>
          <p:nvPr/>
        </p:nvSpPr>
        <p:spPr>
          <a:xfrm>
            <a:off x="2134573" y="1466661"/>
            <a:ext cx="7585863" cy="4327557"/>
          </a:xfrm>
          <a:prstGeom prst="rect">
            <a:avLst/>
          </a:prstGeom>
          <a:solidFill>
            <a:schemeClr val="bg1">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lvl="1">
              <a:lnSpc>
                <a:spcPts val="2000"/>
              </a:lnSpc>
              <a:spcAft>
                <a:spcPts val="200"/>
              </a:spcAft>
              <a:buClr>
                <a:srgbClr val="1F2A5C"/>
              </a:buClr>
            </a:pPr>
            <a:endParaRPr lang="ja-JP" altLang="en-US" sz="1400" dirty="0">
              <a:solidFill>
                <a:srgbClr val="333333"/>
              </a:solidFill>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B2C5803B-DB2E-0AE1-BE31-89D5755B4FE1}"/>
              </a:ext>
            </a:extLst>
          </p:cNvPr>
          <p:cNvSpPr txBox="1"/>
          <p:nvPr/>
        </p:nvSpPr>
        <p:spPr>
          <a:xfrm>
            <a:off x="2234941" y="1921426"/>
            <a:ext cx="4965824" cy="954107"/>
          </a:xfrm>
          <a:prstGeom prst="rect">
            <a:avLst/>
          </a:prstGeom>
          <a:noFill/>
        </p:spPr>
        <p:txBody>
          <a:bodyPr wrap="square">
            <a:spAutoFit/>
          </a:bodyPr>
          <a:lstStyle/>
          <a:p>
            <a:r>
              <a:rPr lang="ja-JP" altLang="en-US" sz="1400" b="1" u="sng" dirty="0">
                <a:solidFill>
                  <a:schemeClr val="tx2"/>
                </a:solidFill>
                <a:latin typeface="メイリオ"/>
                <a:ea typeface="メイリオ"/>
                <a:cs typeface="メイリオ"/>
              </a:rPr>
              <a:t>アンケート回答から「すぐすぐニーズがあるか」を判断</a:t>
            </a:r>
            <a:endParaRPr lang="en-US" altLang="ja-JP" sz="1400" b="1" u="sng" dirty="0">
              <a:solidFill>
                <a:schemeClr val="tx2"/>
              </a:solidFill>
              <a:latin typeface="メイリオ"/>
              <a:ea typeface="メイリオ"/>
              <a:cs typeface="メイリオ"/>
            </a:endParaRPr>
          </a:p>
          <a:p>
            <a:r>
              <a:rPr lang="ja-JP" altLang="en-US" sz="1400" dirty="0">
                <a:solidFill>
                  <a:schemeClr val="tx2"/>
                </a:solidFill>
                <a:latin typeface="メイリオ"/>
                <a:ea typeface="メイリオ"/>
                <a:cs typeface="メイリオ"/>
              </a:rPr>
              <a:t>↓</a:t>
            </a:r>
            <a:endParaRPr lang="en-US" altLang="ja-JP" sz="1400" dirty="0">
              <a:solidFill>
                <a:schemeClr val="tx2"/>
              </a:solidFill>
              <a:latin typeface="メイリオ"/>
              <a:ea typeface="メイリオ"/>
              <a:cs typeface="メイリオ"/>
            </a:endParaRPr>
          </a:p>
          <a:p>
            <a:r>
              <a:rPr lang="ja-JP" altLang="en-US" sz="1400" b="1" dirty="0">
                <a:solidFill>
                  <a:schemeClr val="tx2"/>
                </a:solidFill>
                <a:latin typeface="メイリオ"/>
                <a:ea typeface="メイリオ"/>
                <a:cs typeface="メイリオ"/>
              </a:rPr>
              <a:t>①</a:t>
            </a:r>
            <a:r>
              <a:rPr lang="ja-JP" altLang="en-US" sz="1400" dirty="0">
                <a:solidFill>
                  <a:schemeClr val="tx2"/>
                </a:solidFill>
                <a:latin typeface="メイリオ"/>
                <a:ea typeface="メイリオ"/>
                <a:cs typeface="メイリオ"/>
              </a:rPr>
              <a:t>ニーズあり</a:t>
            </a:r>
            <a:r>
              <a:rPr lang="ja-JP" altLang="en-US" sz="1400" b="1" dirty="0">
                <a:solidFill>
                  <a:schemeClr val="tx2"/>
                </a:solidFill>
                <a:latin typeface="メイリオ"/>
                <a:ea typeface="メイリオ"/>
                <a:cs typeface="メイリオ"/>
              </a:rPr>
              <a:t>（次ページに以降）</a:t>
            </a:r>
            <a:endParaRPr lang="en-US" altLang="ja-JP" sz="1400" b="1" dirty="0">
              <a:solidFill>
                <a:schemeClr val="tx2"/>
              </a:solidFill>
              <a:latin typeface="メイリオ"/>
              <a:ea typeface="メイリオ"/>
              <a:cs typeface="メイリオ"/>
            </a:endParaRPr>
          </a:p>
          <a:p>
            <a:r>
              <a:rPr lang="ja-JP" altLang="en-US" sz="1400" b="1" dirty="0">
                <a:solidFill>
                  <a:schemeClr val="tx2"/>
                </a:solidFill>
                <a:latin typeface="メイリオ"/>
                <a:ea typeface="メイリオ"/>
                <a:cs typeface="メイリオ"/>
              </a:rPr>
              <a:t>②</a:t>
            </a:r>
            <a:r>
              <a:rPr lang="ja-JP" altLang="en-US" sz="1400" dirty="0">
                <a:solidFill>
                  <a:schemeClr val="tx2"/>
                </a:solidFill>
                <a:latin typeface="メイリオ"/>
                <a:ea typeface="メイリオ"/>
                <a:cs typeface="メイリオ"/>
              </a:rPr>
              <a:t>ニーズなし</a:t>
            </a:r>
            <a:r>
              <a:rPr lang="ja-JP" altLang="en-US" sz="1400" b="1" dirty="0">
                <a:solidFill>
                  <a:schemeClr val="tx2"/>
                </a:solidFill>
                <a:latin typeface="メイリオ"/>
                <a:ea typeface="メイリオ"/>
                <a:cs typeface="メイリオ"/>
              </a:rPr>
              <a:t>（長期追客施策に移行）</a:t>
            </a:r>
            <a:endParaRPr lang="ja-JP" altLang="en-US" b="1" dirty="0">
              <a:solidFill>
                <a:schemeClr val="tx2"/>
              </a:solidFill>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0FFF471B-76C5-A9EE-BF1F-9F210906F1DA}"/>
              </a:ext>
            </a:extLst>
          </p:cNvPr>
          <p:cNvSpPr txBox="1"/>
          <p:nvPr/>
        </p:nvSpPr>
        <p:spPr>
          <a:xfrm>
            <a:off x="1951329" y="2985261"/>
            <a:ext cx="7570623" cy="891270"/>
          </a:xfrm>
          <a:prstGeom prst="rect">
            <a:avLst/>
          </a:prstGeom>
          <a:noFill/>
        </p:spPr>
        <p:txBody>
          <a:bodyPr wrap="square">
            <a:spAutoFit/>
          </a:bodyPr>
          <a:lstStyle/>
          <a:p>
            <a:pPr marL="228600" lvl="1">
              <a:lnSpc>
                <a:spcPts val="2000"/>
              </a:lnSpc>
              <a:spcAft>
                <a:spcPts val="200"/>
              </a:spcAft>
              <a:buClr>
                <a:srgbClr val="1F2A5C"/>
              </a:buClr>
            </a:pPr>
            <a:r>
              <a:rPr lang="en-US" altLang="ja-JP" sz="1100" b="1" dirty="0">
                <a:solidFill>
                  <a:srgbClr val="333333"/>
                </a:solidFill>
                <a:latin typeface="メイリオ"/>
                <a:ea typeface="メイリオ"/>
                <a:cs typeface="メイリオ"/>
              </a:rPr>
              <a:t>【その他セグメント配信の活用に関して】</a:t>
            </a:r>
          </a:p>
          <a:p>
            <a:pPr marL="228600" lvl="1">
              <a:lnSpc>
                <a:spcPts val="2000"/>
              </a:lnSpc>
              <a:spcAft>
                <a:spcPts val="200"/>
              </a:spcAft>
              <a:buClr>
                <a:srgbClr val="1F2A5C"/>
              </a:buClr>
            </a:pPr>
            <a:r>
              <a:rPr lang="ja-JP" altLang="en-US" sz="1100" dirty="0">
                <a:solidFill>
                  <a:srgbClr val="333333"/>
                </a:solidFill>
                <a:latin typeface="メイリオ"/>
                <a:ea typeface="メイリオ"/>
                <a:cs typeface="メイリオ"/>
              </a:rPr>
              <a:t>Day0のアンケートの回答に合わせて、配信の中身を出し分ける。</a:t>
            </a:r>
          </a:p>
        </p:txBody>
      </p:sp>
    </p:spTree>
    <p:extLst>
      <p:ext uri="{BB962C8B-B14F-4D97-AF65-F5344CB8AC3E}">
        <p14:creationId xmlns:p14="http://schemas.microsoft.com/office/powerpoint/2010/main" val="42945684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93614-B1C8-8488-6AA6-9C0120B0F016}"/>
            </a:ext>
          </a:extLst>
        </p:cNvPr>
        <p:cNvGrpSpPr/>
        <p:nvPr/>
      </p:nvGrpSpPr>
      <p:grpSpPr>
        <a:xfrm>
          <a:off x="0" y="0"/>
          <a:ext cx="0" cy="0"/>
          <a:chOff x="0" y="0"/>
          <a:chExt cx="0" cy="0"/>
        </a:xfrm>
      </p:grpSpPr>
      <p:sp>
        <p:nvSpPr>
          <p:cNvPr id="8" name="テキスト ボックス 47">
            <a:extLst>
              <a:ext uri="{FF2B5EF4-FFF2-40B4-BE49-F238E27FC236}">
                <a16:creationId xmlns:a16="http://schemas.microsoft.com/office/drawing/2014/main" id="{C1A46CA4-B62C-129C-2265-6EC1BE8C6EFA}"/>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短期ニーズトラック：Day0〜</a:t>
            </a:r>
            <a:r>
              <a:rPr lang="en-US" altLang="ja-JP" sz="1600" b="1" dirty="0">
                <a:solidFill>
                  <a:srgbClr val="1F2A5C"/>
                </a:solidFill>
                <a:latin typeface="メイリオ" panose="020B0604030504040204" pitchFamily="50" charset="-128"/>
                <a:ea typeface="メイリオ" panose="020B0604030504040204" pitchFamily="50" charset="-128"/>
                <a:cs typeface="メイリオ"/>
              </a:rPr>
              <a:t>15</a:t>
            </a:r>
            <a:r>
              <a:rPr lang="ja-JP" altLang="en-US" sz="1600" b="1" dirty="0">
                <a:solidFill>
                  <a:srgbClr val="1F2A5C"/>
                </a:solidFill>
                <a:latin typeface="メイリオ" panose="020B0604030504040204" pitchFamily="50" charset="-128"/>
                <a:ea typeface="メイリオ" panose="020B0604030504040204" pitchFamily="50" charset="-128"/>
                <a:cs typeface="メイリオ"/>
              </a:rPr>
              <a:t>の圧縮設計</a:t>
            </a:r>
          </a:p>
        </p:txBody>
      </p:sp>
      <p:sp>
        <p:nvSpPr>
          <p:cNvPr id="12" name="Lead">
            <a:extLst>
              <a:ext uri="{FF2B5EF4-FFF2-40B4-BE49-F238E27FC236}">
                <a16:creationId xmlns:a16="http://schemas.microsoft.com/office/drawing/2014/main" id="{E15018B3-87F2-6365-2D71-C92B5436710C}"/>
              </a:ext>
            </a:extLst>
          </p:cNvPr>
          <p:cNvSpPr txBox="1"/>
          <p:nvPr/>
        </p:nvSpPr>
        <p:spPr>
          <a:xfrm>
            <a:off x="274320" y="847623"/>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検索直後の疑問に即応し、15日以内でセミナー予約へ誘導する</a:t>
            </a:r>
          </a:p>
        </p:txBody>
      </p:sp>
      <p:sp>
        <p:nvSpPr>
          <p:cNvPr id="2" name="Rounded Rectangle 2">
            <a:extLst>
              <a:ext uri="{FF2B5EF4-FFF2-40B4-BE49-F238E27FC236}">
                <a16:creationId xmlns:a16="http://schemas.microsoft.com/office/drawing/2014/main" id="{325EC11C-A4CA-5313-D5BA-D47635B1A838}"/>
              </a:ext>
            </a:extLst>
          </p:cNvPr>
          <p:cNvSpPr/>
          <p:nvPr/>
        </p:nvSpPr>
        <p:spPr>
          <a:xfrm>
            <a:off x="27432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 name="Rounded Rectangle 3">
            <a:extLst>
              <a:ext uri="{FF2B5EF4-FFF2-40B4-BE49-F238E27FC236}">
                <a16:creationId xmlns:a16="http://schemas.microsoft.com/office/drawing/2014/main" id="{9A057208-E511-9F3B-B133-9BDFEC60A969}"/>
              </a:ext>
            </a:extLst>
          </p:cNvPr>
          <p:cNvSpPr/>
          <p:nvPr/>
        </p:nvSpPr>
        <p:spPr>
          <a:xfrm>
            <a:off x="27432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Day0</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追加直後：診断</a:t>
            </a:r>
          </a:p>
        </p:txBody>
      </p:sp>
      <p:sp>
        <p:nvSpPr>
          <p:cNvPr id="4" name="TextBox 4">
            <a:extLst>
              <a:ext uri="{FF2B5EF4-FFF2-40B4-BE49-F238E27FC236}">
                <a16:creationId xmlns:a16="http://schemas.microsoft.com/office/drawing/2014/main" id="{88CC95EE-B0F1-3644-6F82-76DE8FCEACEC}"/>
              </a:ext>
            </a:extLst>
          </p:cNvPr>
          <p:cNvSpPr txBox="1"/>
          <p:nvPr/>
        </p:nvSpPr>
        <p:spPr>
          <a:xfrm>
            <a:off x="38404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ご追加ありがとう</a:t>
            </a:r>
          </a:p>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ございます！</a:t>
            </a:r>
          </a:p>
        </p:txBody>
      </p:sp>
      <p:sp>
        <p:nvSpPr>
          <p:cNvPr id="5" name="TextBox 5">
            <a:extLst>
              <a:ext uri="{FF2B5EF4-FFF2-40B4-BE49-F238E27FC236}">
                <a16:creationId xmlns:a16="http://schemas.microsoft.com/office/drawing/2014/main" id="{73C4E07D-0DF4-42A9-7298-CE1B2CB8E02C}"/>
              </a:ext>
            </a:extLst>
          </p:cNvPr>
          <p:cNvSpPr txBox="1"/>
          <p:nvPr/>
        </p:nvSpPr>
        <p:spPr>
          <a:xfrm>
            <a:off x="38404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3問タップで検討段階を分岐・タグ付け</a:t>
            </a:r>
          </a:p>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6" name="Rounded Rectangle 6">
            <a:extLst>
              <a:ext uri="{FF2B5EF4-FFF2-40B4-BE49-F238E27FC236}">
                <a16:creationId xmlns:a16="http://schemas.microsoft.com/office/drawing/2014/main" id="{7A93EFB6-EBEF-0F4B-3781-F0E86D241E63}"/>
              </a:ext>
            </a:extLst>
          </p:cNvPr>
          <p:cNvSpPr/>
          <p:nvPr/>
        </p:nvSpPr>
        <p:spPr>
          <a:xfrm>
            <a:off x="38404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 3択タップで診断</a:t>
            </a:r>
          </a:p>
        </p:txBody>
      </p:sp>
      <p:sp>
        <p:nvSpPr>
          <p:cNvPr id="7" name="Rounded Rectangle 7">
            <a:extLst>
              <a:ext uri="{FF2B5EF4-FFF2-40B4-BE49-F238E27FC236}">
                <a16:creationId xmlns:a16="http://schemas.microsoft.com/office/drawing/2014/main" id="{32B3653D-6D1F-20F4-8671-385FAFF851FD}"/>
              </a:ext>
            </a:extLst>
          </p:cNvPr>
          <p:cNvSpPr/>
          <p:nvPr/>
        </p:nvSpPr>
        <p:spPr>
          <a:xfrm>
            <a:off x="217078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9" name="Rounded Rectangle 8">
            <a:extLst>
              <a:ext uri="{FF2B5EF4-FFF2-40B4-BE49-F238E27FC236}">
                <a16:creationId xmlns:a16="http://schemas.microsoft.com/office/drawing/2014/main" id="{8D16CA1B-AEBC-A5FA-8024-3F23496134C9}"/>
              </a:ext>
            </a:extLst>
          </p:cNvPr>
          <p:cNvSpPr/>
          <p:nvPr/>
        </p:nvSpPr>
        <p:spPr>
          <a:xfrm>
            <a:off x="2170785"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Day1〜2</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0" name="TextBox 9">
            <a:extLst>
              <a:ext uri="{FF2B5EF4-FFF2-40B4-BE49-F238E27FC236}">
                <a16:creationId xmlns:a16="http://schemas.microsoft.com/office/drawing/2014/main" id="{ED3C0554-9244-5E70-C3F2-82AD432D9891}"/>
              </a:ext>
            </a:extLst>
          </p:cNvPr>
          <p:cNvSpPr txBox="1"/>
          <p:nvPr/>
        </p:nvSpPr>
        <p:spPr>
          <a:xfrm>
            <a:off x="228051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11" name="TextBox 10">
            <a:extLst>
              <a:ext uri="{FF2B5EF4-FFF2-40B4-BE49-F238E27FC236}">
                <a16:creationId xmlns:a16="http://schemas.microsoft.com/office/drawing/2014/main" id="{731AE54A-29F4-E5A3-1183-48ED689B8ACC}"/>
              </a:ext>
            </a:extLst>
          </p:cNvPr>
          <p:cNvSpPr txBox="1"/>
          <p:nvPr/>
        </p:nvSpPr>
        <p:spPr>
          <a:xfrm>
            <a:off x="2280513"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13" name="Rounded Rectangle 11">
            <a:extLst>
              <a:ext uri="{FF2B5EF4-FFF2-40B4-BE49-F238E27FC236}">
                <a16:creationId xmlns:a16="http://schemas.microsoft.com/office/drawing/2014/main" id="{C26D2D8C-ABF2-0F03-0567-F772D753D0E8}"/>
              </a:ext>
            </a:extLst>
          </p:cNvPr>
          <p:cNvSpPr/>
          <p:nvPr/>
        </p:nvSpPr>
        <p:spPr>
          <a:xfrm>
            <a:off x="2280513"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endParaRPr kumimoji="0" lang="en-US" sz="9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14" name="Rounded Rectangle 12">
            <a:extLst>
              <a:ext uri="{FF2B5EF4-FFF2-40B4-BE49-F238E27FC236}">
                <a16:creationId xmlns:a16="http://schemas.microsoft.com/office/drawing/2014/main" id="{4A1B016C-3BCC-82D6-634C-F49AAE31CA00}"/>
              </a:ext>
            </a:extLst>
          </p:cNvPr>
          <p:cNvSpPr/>
          <p:nvPr/>
        </p:nvSpPr>
        <p:spPr>
          <a:xfrm>
            <a:off x="406725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16" name="Rounded Rectangle 13">
            <a:extLst>
              <a:ext uri="{FF2B5EF4-FFF2-40B4-BE49-F238E27FC236}">
                <a16:creationId xmlns:a16="http://schemas.microsoft.com/office/drawing/2014/main" id="{FEA91215-4671-8F7B-948E-885B87ADC67B}"/>
              </a:ext>
            </a:extLst>
          </p:cNvPr>
          <p:cNvSpPr/>
          <p:nvPr/>
        </p:nvSpPr>
        <p:spPr>
          <a:xfrm>
            <a:off x="4067250"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Day4〜5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8" name="TextBox 14">
            <a:extLst>
              <a:ext uri="{FF2B5EF4-FFF2-40B4-BE49-F238E27FC236}">
                <a16:creationId xmlns:a16="http://schemas.microsoft.com/office/drawing/2014/main" id="{8D211078-EBAD-209F-4F3F-0C349BF4FD82}"/>
              </a:ext>
            </a:extLst>
          </p:cNvPr>
          <p:cNvSpPr txBox="1"/>
          <p:nvPr/>
        </p:nvSpPr>
        <p:spPr>
          <a:xfrm>
            <a:off x="417697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20" name="TextBox 15">
            <a:extLst>
              <a:ext uri="{FF2B5EF4-FFF2-40B4-BE49-F238E27FC236}">
                <a16:creationId xmlns:a16="http://schemas.microsoft.com/office/drawing/2014/main" id="{365832DB-68FC-D672-D52E-8442D3CB553A}"/>
              </a:ext>
            </a:extLst>
          </p:cNvPr>
          <p:cNvSpPr txBox="1"/>
          <p:nvPr/>
        </p:nvSpPr>
        <p:spPr>
          <a:xfrm>
            <a:off x="417697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22" name="Rounded Rectangle 16">
            <a:extLst>
              <a:ext uri="{FF2B5EF4-FFF2-40B4-BE49-F238E27FC236}">
                <a16:creationId xmlns:a16="http://schemas.microsoft.com/office/drawing/2014/main" id="{06C50741-6FE4-CFDC-C843-4251AC11BC48}"/>
              </a:ext>
            </a:extLst>
          </p:cNvPr>
          <p:cNvSpPr/>
          <p:nvPr/>
        </p:nvSpPr>
        <p:spPr>
          <a:xfrm>
            <a:off x="4176978"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4" name="Rounded Rectangle 17">
            <a:extLst>
              <a:ext uri="{FF2B5EF4-FFF2-40B4-BE49-F238E27FC236}">
                <a16:creationId xmlns:a16="http://schemas.microsoft.com/office/drawing/2014/main" id="{5E61CC1A-5313-8BA8-A36D-461E68D47515}"/>
              </a:ext>
            </a:extLst>
          </p:cNvPr>
          <p:cNvSpPr/>
          <p:nvPr/>
        </p:nvSpPr>
        <p:spPr>
          <a:xfrm>
            <a:off x="596371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26" name="Rounded Rectangle 18">
            <a:extLst>
              <a:ext uri="{FF2B5EF4-FFF2-40B4-BE49-F238E27FC236}">
                <a16:creationId xmlns:a16="http://schemas.microsoft.com/office/drawing/2014/main" id="{CF0F0823-8E61-35DF-0019-982187079423}"/>
              </a:ext>
            </a:extLst>
          </p:cNvPr>
          <p:cNvSpPr/>
          <p:nvPr/>
        </p:nvSpPr>
        <p:spPr>
          <a:xfrm>
            <a:off x="5963715" y="1560362"/>
            <a:ext cx="1786737" cy="566928"/>
          </a:xfrm>
          <a:prstGeom prst="roundRect">
            <a:avLst>
              <a:gd name="adj" fmla="val 12000"/>
            </a:avLst>
          </a:prstGeom>
          <a:solidFill>
            <a:srgbClr val="5A6378"/>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Day8〜9</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8" name="TextBox 19">
            <a:extLst>
              <a:ext uri="{FF2B5EF4-FFF2-40B4-BE49-F238E27FC236}">
                <a16:creationId xmlns:a16="http://schemas.microsoft.com/office/drawing/2014/main" id="{1E77E8ED-9C7B-F76F-EC10-4B949FB21FD1}"/>
              </a:ext>
            </a:extLst>
          </p:cNvPr>
          <p:cNvSpPr txBox="1"/>
          <p:nvPr/>
        </p:nvSpPr>
        <p:spPr>
          <a:xfrm>
            <a:off x="607344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0" name="TextBox 20">
            <a:extLst>
              <a:ext uri="{FF2B5EF4-FFF2-40B4-BE49-F238E27FC236}">
                <a16:creationId xmlns:a16="http://schemas.microsoft.com/office/drawing/2014/main" id="{1BD34B43-6F7A-FF6A-770E-72D31542F706}"/>
              </a:ext>
            </a:extLst>
          </p:cNvPr>
          <p:cNvSpPr txBox="1"/>
          <p:nvPr/>
        </p:nvSpPr>
        <p:spPr>
          <a:xfrm>
            <a:off x="6073443"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32" name="Rounded Rectangle 21">
            <a:extLst>
              <a:ext uri="{FF2B5EF4-FFF2-40B4-BE49-F238E27FC236}">
                <a16:creationId xmlns:a16="http://schemas.microsoft.com/office/drawing/2014/main" id="{AF1930A0-66AA-5FA0-A37F-0CABADFA0C3B}"/>
              </a:ext>
            </a:extLst>
          </p:cNvPr>
          <p:cNvSpPr/>
          <p:nvPr/>
        </p:nvSpPr>
        <p:spPr>
          <a:xfrm>
            <a:off x="6073443" y="5217962"/>
            <a:ext cx="1567281" cy="384048"/>
          </a:xfrm>
          <a:prstGeom prst="roundRect">
            <a:avLst>
              <a:gd name="adj" fmla="val 50000"/>
            </a:avLst>
          </a:prstGeom>
          <a:solidFill>
            <a:srgbClr val="5A6378"/>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34" name="Rounded Rectangle 22">
            <a:extLst>
              <a:ext uri="{FF2B5EF4-FFF2-40B4-BE49-F238E27FC236}">
                <a16:creationId xmlns:a16="http://schemas.microsoft.com/office/drawing/2014/main" id="{F2C88914-14C1-0891-4CF0-9944C3A3D969}"/>
              </a:ext>
            </a:extLst>
          </p:cNvPr>
          <p:cNvSpPr/>
          <p:nvPr/>
        </p:nvSpPr>
        <p:spPr>
          <a:xfrm>
            <a:off x="786018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6" name="Rounded Rectangle 23">
            <a:extLst>
              <a:ext uri="{FF2B5EF4-FFF2-40B4-BE49-F238E27FC236}">
                <a16:creationId xmlns:a16="http://schemas.microsoft.com/office/drawing/2014/main" id="{550A2935-2D5F-71AA-03EA-89DCD709158A}"/>
              </a:ext>
            </a:extLst>
          </p:cNvPr>
          <p:cNvSpPr/>
          <p:nvPr/>
        </p:nvSpPr>
        <p:spPr>
          <a:xfrm>
            <a:off x="786018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a:t>
            </a:r>
            <a:r>
              <a:rPr kumimoji="0" lang="en-US" altLang="ja-JP" sz="15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0</a:t>
            </a:r>
            <a:r>
              <a:rPr kumimoji="0" sz="15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〜15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dirty="0" err="1">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オファ</a:t>
            </a:r>
            <a:r>
              <a:rPr kumimoji="0" sz="900" b="0"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ー</a:t>
            </a:r>
          </a:p>
        </p:txBody>
      </p:sp>
      <p:sp>
        <p:nvSpPr>
          <p:cNvPr id="38" name="TextBox 24">
            <a:extLst>
              <a:ext uri="{FF2B5EF4-FFF2-40B4-BE49-F238E27FC236}">
                <a16:creationId xmlns:a16="http://schemas.microsoft.com/office/drawing/2014/main" id="{C6884821-BFCB-BFA3-A7F3-7B83095EE162}"/>
              </a:ext>
            </a:extLst>
          </p:cNvPr>
          <p:cNvSpPr txBox="1"/>
          <p:nvPr/>
        </p:nvSpPr>
        <p:spPr>
          <a:xfrm>
            <a:off x="796990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9" name="TextBox 25">
            <a:extLst>
              <a:ext uri="{FF2B5EF4-FFF2-40B4-BE49-F238E27FC236}">
                <a16:creationId xmlns:a16="http://schemas.microsoft.com/office/drawing/2014/main" id="{C5D41C5B-DA02-D594-6EF3-1CB8B850F14A}"/>
              </a:ext>
            </a:extLst>
          </p:cNvPr>
          <p:cNvSpPr txBox="1"/>
          <p:nvPr/>
        </p:nvSpPr>
        <p:spPr>
          <a:xfrm>
            <a:off x="7969908"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40" name="Rounded Rectangle 26">
            <a:extLst>
              <a:ext uri="{FF2B5EF4-FFF2-40B4-BE49-F238E27FC236}">
                <a16:creationId xmlns:a16="http://schemas.microsoft.com/office/drawing/2014/main" id="{A067CDE1-ED9A-E718-EE0A-DA2AEB873FF1}"/>
              </a:ext>
            </a:extLst>
          </p:cNvPr>
          <p:cNvSpPr/>
          <p:nvPr/>
        </p:nvSpPr>
        <p:spPr>
          <a:xfrm>
            <a:off x="796990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41" name="TextBox 27">
            <a:extLst>
              <a:ext uri="{FF2B5EF4-FFF2-40B4-BE49-F238E27FC236}">
                <a16:creationId xmlns:a16="http://schemas.microsoft.com/office/drawing/2014/main" id="{BFE4A287-10A0-75D3-A1CE-D799E1EFC13D}"/>
              </a:ext>
            </a:extLst>
          </p:cNvPr>
          <p:cNvSpPr txBox="1"/>
          <p:nvPr/>
        </p:nvSpPr>
        <p:spPr>
          <a:xfrm>
            <a:off x="274320" y="5858042"/>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メイリオ"/>
                <a:sym typeface="Arial"/>
              </a:rPr>
              <a:t>--</a:t>
            </a:r>
            <a:endParaRPr kumimoji="0" lang="en-US" sz="1150" kern="0" dirty="0">
              <a:solidFill>
                <a:srgbClr val="5A6378"/>
              </a:solidFill>
              <a:latin typeface="メイリオ" panose="020B0604030504040204" pitchFamily="50" charset="-128"/>
              <a:ea typeface="メイリオ" panose="020B0604030504040204" pitchFamily="50" charset="-128"/>
              <a:cs typeface="メイリオ"/>
              <a:sym typeface="Arial"/>
            </a:endParaRPr>
          </a:p>
        </p:txBody>
      </p:sp>
      <p:sp>
        <p:nvSpPr>
          <p:cNvPr id="43" name="TextBox 5">
            <a:extLst>
              <a:ext uri="{FF2B5EF4-FFF2-40B4-BE49-F238E27FC236}">
                <a16:creationId xmlns:a16="http://schemas.microsoft.com/office/drawing/2014/main" id="{5186B2E3-B6EE-E2B1-37D8-54314195DE6A}"/>
              </a:ext>
            </a:extLst>
          </p:cNvPr>
          <p:cNvSpPr txBox="1"/>
          <p:nvPr/>
        </p:nvSpPr>
        <p:spPr>
          <a:xfrm>
            <a:off x="384048" y="3898197"/>
            <a:ext cx="1567281" cy="428579"/>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endParaRPr kumimoji="0"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p:txBody>
      </p:sp>
      <p:sp>
        <p:nvSpPr>
          <p:cNvPr id="45" name="TextBox 10">
            <a:extLst>
              <a:ext uri="{FF2B5EF4-FFF2-40B4-BE49-F238E27FC236}">
                <a16:creationId xmlns:a16="http://schemas.microsoft.com/office/drawing/2014/main" id="{21407363-BE74-F527-3AD4-32DCABC777CE}"/>
              </a:ext>
            </a:extLst>
          </p:cNvPr>
          <p:cNvSpPr txBox="1"/>
          <p:nvPr/>
        </p:nvSpPr>
        <p:spPr>
          <a:xfrm>
            <a:off x="2280513"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endPar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7" name="TextBox 15">
            <a:extLst>
              <a:ext uri="{FF2B5EF4-FFF2-40B4-BE49-F238E27FC236}">
                <a16:creationId xmlns:a16="http://schemas.microsoft.com/office/drawing/2014/main" id="{C78B27A0-4402-41C9-F91E-C34A734A9324}"/>
              </a:ext>
            </a:extLst>
          </p:cNvPr>
          <p:cNvSpPr txBox="1"/>
          <p:nvPr/>
        </p:nvSpPr>
        <p:spPr>
          <a:xfrm>
            <a:off x="417697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9" name="TextBox 20">
            <a:extLst>
              <a:ext uri="{FF2B5EF4-FFF2-40B4-BE49-F238E27FC236}">
                <a16:creationId xmlns:a16="http://schemas.microsoft.com/office/drawing/2014/main" id="{ED838C3F-CC60-6AF7-B602-BDF9E60442DC}"/>
              </a:ext>
            </a:extLst>
          </p:cNvPr>
          <p:cNvSpPr txBox="1"/>
          <p:nvPr/>
        </p:nvSpPr>
        <p:spPr>
          <a:xfrm>
            <a:off x="6073443" y="3898197"/>
            <a:ext cx="1567281" cy="1101071"/>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51" name="TextBox 25">
            <a:extLst>
              <a:ext uri="{FF2B5EF4-FFF2-40B4-BE49-F238E27FC236}">
                <a16:creationId xmlns:a16="http://schemas.microsoft.com/office/drawing/2014/main" id="{0457EFFA-CEE7-8B18-D5C7-92FBBA486972}"/>
              </a:ext>
            </a:extLst>
          </p:cNvPr>
          <p:cNvSpPr txBox="1"/>
          <p:nvPr/>
        </p:nvSpPr>
        <p:spPr>
          <a:xfrm>
            <a:off x="796990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Tree>
    <p:extLst>
      <p:ext uri="{BB962C8B-B14F-4D97-AF65-F5344CB8AC3E}">
        <p14:creationId xmlns:p14="http://schemas.microsoft.com/office/powerpoint/2010/main" val="1050774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A247A-425B-CA18-88F5-CBC38492F701}"/>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905C2E3-B47A-8C1A-D463-CDA5864BF5B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12B93E0B-3589-44A0-B6C1-7C389DC3B2F5}"/>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B867582A-814C-8A7B-A5C3-39ECB2F2476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6E3DABA0-77D6-C7E1-6372-98872981A825}"/>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A6C62775-6562-D5CC-92F7-DD62EEBC744F}"/>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DD6A368E-576C-29EC-7AEC-6F417FD64F2E}"/>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285534EC-0A05-D7BE-EBC2-EA588B18E931}"/>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27AAF778-ED13-4BF7-35CB-BDA3D2A9FF91}"/>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次のイベントの案内を、広告より先に届けられる</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6D432096-7298-F609-05CC-7A87E38C98F4}"/>
              </a:ext>
            </a:extLst>
          </p:cNvPr>
          <p:cNvSpPr txBox="1"/>
          <p:nvPr/>
        </p:nvSpPr>
        <p:spPr>
          <a:xfrm>
            <a:off x="381000" y="4554727"/>
            <a:ext cx="9144000" cy="81280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友だちの入口（ポップアップツール／サンクスLINE誘導）で自動で分け、予約した方は当日の参加へ、</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a:t>
            </a:r>
          </a:p>
        </p:txBody>
      </p:sp>
      <p:sp>
        <p:nvSpPr>
          <p:cNvPr id="8" name="正方形/長方形 7">
            <a:extLst>
              <a:ext uri="{FF2B5EF4-FFF2-40B4-BE49-F238E27FC236}">
                <a16:creationId xmlns:a16="http://schemas.microsoft.com/office/drawing/2014/main" id="{2B282CB3-BF1E-586C-2C28-1C71F5FCA804}"/>
              </a:ext>
            </a:extLst>
          </p:cNvPr>
          <p:cNvSpPr/>
          <p:nvPr/>
        </p:nvSpPr>
        <p:spPr>
          <a:xfrm>
            <a:off x="224971" y="1549970"/>
            <a:ext cx="4757057" cy="2851149"/>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2" name="正方形/長方形 11">
            <a:extLst>
              <a:ext uri="{FF2B5EF4-FFF2-40B4-BE49-F238E27FC236}">
                <a16:creationId xmlns:a16="http://schemas.microsoft.com/office/drawing/2014/main" id="{1FECCBA2-AC74-A2AF-3521-2B2FF4D4D290}"/>
              </a:ext>
            </a:extLst>
          </p:cNvPr>
          <p:cNvSpPr/>
          <p:nvPr/>
        </p:nvSpPr>
        <p:spPr>
          <a:xfrm>
            <a:off x="379975" y="4547075"/>
            <a:ext cx="9143999" cy="841795"/>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15169176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74F9F-F8CE-54D5-B025-489FE860A6A8}"/>
            </a:ext>
          </a:extLst>
        </p:cNvPr>
        <p:cNvGrpSpPr/>
        <p:nvPr/>
      </p:nvGrpSpPr>
      <p:grpSpPr>
        <a:xfrm>
          <a:off x="0" y="0"/>
          <a:ext cx="0" cy="0"/>
          <a:chOff x="0" y="0"/>
          <a:chExt cx="0" cy="0"/>
        </a:xfrm>
      </p:grpSpPr>
      <p:sp>
        <p:nvSpPr>
          <p:cNvPr id="4" name="テキスト ボックス 47">
            <a:extLst>
              <a:ext uri="{FF2B5EF4-FFF2-40B4-BE49-F238E27FC236}">
                <a16:creationId xmlns:a16="http://schemas.microsoft.com/office/drawing/2014/main" id="{EE4D7325-B8B2-BB52-63C7-88C454517059}"/>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休眠リード開拓と参加後フォローアップ</a:t>
            </a:r>
          </a:p>
        </p:txBody>
      </p:sp>
      <p:sp>
        <p:nvSpPr>
          <p:cNvPr id="8" name="Lead">
            <a:extLst>
              <a:ext uri="{FF2B5EF4-FFF2-40B4-BE49-F238E27FC236}">
                <a16:creationId xmlns:a16="http://schemas.microsoft.com/office/drawing/2014/main" id="{D9FCD3C6-ACF7-5D09-5F1C-DE149D83848E}"/>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検索起点シナリオに乗らない既存リストへの並走施策</a:t>
            </a:r>
          </a:p>
        </p:txBody>
      </p:sp>
      <p:sp>
        <p:nvSpPr>
          <p:cNvPr id="14" name="TextBox 2001">
            <a:extLst>
              <a:ext uri="{FF2B5EF4-FFF2-40B4-BE49-F238E27FC236}">
                <a16:creationId xmlns:a16="http://schemas.microsoft.com/office/drawing/2014/main" id="{1456DACD-3900-B1CF-8DDF-966688299A92}"/>
              </a:ext>
            </a:extLst>
          </p:cNvPr>
          <p:cNvSpPr txBox="1"/>
          <p:nvPr/>
        </p:nvSpPr>
        <p:spPr>
          <a:xfrm>
            <a:off x="456501" y="3879413"/>
            <a:ext cx="9052560" cy="320040"/>
          </a:xfrm>
          <a:prstGeom prst="rect">
            <a:avLst/>
          </a:prstGeom>
          <a:noFill/>
        </p:spPr>
        <p:txBody>
          <a:bodyPr wrap="square">
            <a:spAutoFit/>
          </a:bodyPr>
          <a:lstStyle/>
          <a:p>
            <a:pPr algn="l"/>
            <a:r>
              <a:rPr sz="1400" b="1">
                <a:solidFill>
                  <a:srgbClr val="1F2A5C"/>
                </a:solidFill>
                <a:latin typeface="メイリオ"/>
                <a:ea typeface="メイリオ"/>
                <a:cs typeface="メイリオ"/>
              </a:rPr>
              <a:t>C. 休眠リード開拓施策</a:t>
            </a:r>
          </a:p>
        </p:txBody>
      </p:sp>
      <p:sp>
        <p:nvSpPr>
          <p:cNvPr id="17" name="Chevron 2002">
            <a:extLst>
              <a:ext uri="{FF2B5EF4-FFF2-40B4-BE49-F238E27FC236}">
                <a16:creationId xmlns:a16="http://schemas.microsoft.com/office/drawing/2014/main" id="{D8C58E61-1ED0-F016-1DBE-2E247D5EC8B6}"/>
              </a:ext>
            </a:extLst>
          </p:cNvPr>
          <p:cNvSpPr/>
          <p:nvPr/>
        </p:nvSpPr>
        <p:spPr>
          <a:xfrm>
            <a:off x="456501" y="4245173"/>
            <a:ext cx="2180844"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--件</a:t>
            </a:r>
          </a:p>
          <a:p>
            <a:pPr algn="ctr"/>
            <a:r>
              <a:rPr sz="950">
                <a:solidFill>
                  <a:srgbClr val="FFFFFF"/>
                </a:solidFill>
                <a:latin typeface="メイリオ"/>
                <a:ea typeface="メイリオ"/>
                <a:cs typeface="メイリオ"/>
              </a:rPr>
              <a:t>保有リスト</a:t>
            </a:r>
          </a:p>
        </p:txBody>
      </p:sp>
      <p:sp>
        <p:nvSpPr>
          <p:cNvPr id="19" name="Chevron 2003">
            <a:extLst>
              <a:ext uri="{FF2B5EF4-FFF2-40B4-BE49-F238E27FC236}">
                <a16:creationId xmlns:a16="http://schemas.microsoft.com/office/drawing/2014/main" id="{C25E4C3B-7F41-E2E9-8338-BEA9E51E3B73}"/>
              </a:ext>
            </a:extLst>
          </p:cNvPr>
          <p:cNvSpPr/>
          <p:nvPr/>
        </p:nvSpPr>
        <p:spPr>
          <a:xfrm>
            <a:off x="2747073" y="4245173"/>
            <a:ext cx="2180844" cy="685800"/>
          </a:xfrm>
          <a:prstGeom prst="chevron">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ハッシュ化</a:t>
            </a:r>
          </a:p>
          <a:p>
            <a:pPr algn="ctr"/>
            <a:r>
              <a:rPr sz="950">
                <a:solidFill>
                  <a:srgbClr val="FFFFFF"/>
                </a:solidFill>
                <a:latin typeface="メイリオ"/>
                <a:ea typeface="メイリオ"/>
                <a:cs typeface="メイリオ"/>
              </a:rPr>
              <a:t>LINEヤフーAPI照合</a:t>
            </a:r>
          </a:p>
        </p:txBody>
      </p:sp>
      <p:sp>
        <p:nvSpPr>
          <p:cNvPr id="22" name="Chevron 2004">
            <a:extLst>
              <a:ext uri="{FF2B5EF4-FFF2-40B4-BE49-F238E27FC236}">
                <a16:creationId xmlns:a16="http://schemas.microsoft.com/office/drawing/2014/main" id="{9840FDFC-40F8-2732-4B52-3774EEECF41F}"/>
              </a:ext>
            </a:extLst>
          </p:cNvPr>
          <p:cNvSpPr/>
          <p:nvPr/>
        </p:nvSpPr>
        <p:spPr>
          <a:xfrm>
            <a:off x="5037645" y="4245173"/>
            <a:ext cx="2180844" cy="685800"/>
          </a:xfrm>
          <a:prstGeom prst="chevron">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友だち化</a:t>
            </a:r>
          </a:p>
          <a:p>
            <a:pPr algn="ctr"/>
            <a:r>
              <a:rPr sz="950">
                <a:solidFill>
                  <a:srgbClr val="FFFFFF"/>
                </a:solidFill>
                <a:latin typeface="メイリオ"/>
                <a:ea typeface="メイリオ"/>
                <a:cs typeface="メイリオ"/>
              </a:rPr>
              <a:t>休眠リードをLINE化</a:t>
            </a:r>
          </a:p>
        </p:txBody>
      </p:sp>
      <p:sp>
        <p:nvSpPr>
          <p:cNvPr id="25" name="Chevron 2005">
            <a:extLst>
              <a:ext uri="{FF2B5EF4-FFF2-40B4-BE49-F238E27FC236}">
                <a16:creationId xmlns:a16="http://schemas.microsoft.com/office/drawing/2014/main" id="{E4A2AA24-7F5A-B469-896A-08719D7E75D1}"/>
              </a:ext>
            </a:extLst>
          </p:cNvPr>
          <p:cNvSpPr/>
          <p:nvPr/>
        </p:nvSpPr>
        <p:spPr>
          <a:xfrm>
            <a:off x="7328217" y="4245173"/>
            <a:ext cx="2180844" cy="685800"/>
          </a:xfrm>
          <a:prstGeom prst="chevron">
            <a:avLst/>
          </a:prstGeom>
          <a:solidFill>
            <a:srgbClr val="5A6378"/>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Day0合流</a:t>
            </a:r>
          </a:p>
          <a:p>
            <a:pPr algn="ctr"/>
            <a:r>
              <a:rPr sz="950">
                <a:solidFill>
                  <a:srgbClr val="FFFFFF"/>
                </a:solidFill>
                <a:latin typeface="メイリオ"/>
                <a:ea typeface="メイリオ"/>
                <a:cs typeface="メイリオ"/>
              </a:rPr>
              <a:t>短期／長期へ通常分岐</a:t>
            </a:r>
          </a:p>
        </p:txBody>
      </p:sp>
      <p:sp>
        <p:nvSpPr>
          <p:cNvPr id="24" name="Chevron 2001">
            <a:extLst>
              <a:ext uri="{FF2B5EF4-FFF2-40B4-BE49-F238E27FC236}">
                <a16:creationId xmlns:a16="http://schemas.microsoft.com/office/drawing/2014/main" id="{91FF439D-D4E2-C04E-9A1B-1318FF9A16D9}"/>
              </a:ext>
            </a:extLst>
          </p:cNvPr>
          <p:cNvSpPr/>
          <p:nvPr/>
        </p:nvSpPr>
        <p:spPr>
          <a:xfrm>
            <a:off x="456501" y="1839817"/>
            <a:ext cx="2926080" cy="54864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400" b="1">
                <a:solidFill>
                  <a:srgbClr val="FFFFFF"/>
                </a:solidFill>
                <a:latin typeface="メイリオ"/>
                <a:ea typeface="メイリオ"/>
                <a:cs typeface="メイリオ"/>
              </a:rPr>
              <a:t>Day0</a:t>
            </a:r>
          </a:p>
        </p:txBody>
      </p:sp>
      <p:sp>
        <p:nvSpPr>
          <p:cNvPr id="28" name="TextBox 2002">
            <a:extLst>
              <a:ext uri="{FF2B5EF4-FFF2-40B4-BE49-F238E27FC236}">
                <a16:creationId xmlns:a16="http://schemas.microsoft.com/office/drawing/2014/main" id="{855ED89F-D224-EAF6-03A3-EC8F0E9111F8}"/>
              </a:ext>
            </a:extLst>
          </p:cNvPr>
          <p:cNvSpPr txBox="1"/>
          <p:nvPr/>
        </p:nvSpPr>
        <p:spPr>
          <a:xfrm>
            <a:off x="456501" y="2479897"/>
            <a:ext cx="2926080" cy="640080"/>
          </a:xfrm>
          <a:prstGeom prst="rect">
            <a:avLst/>
          </a:prstGeom>
          <a:noFill/>
        </p:spPr>
        <p:txBody>
          <a:bodyPr wrap="square">
            <a:spAutoFit/>
          </a:bodyPr>
          <a:lstStyle/>
          <a:p>
            <a:pPr algn="ctr"/>
            <a:r>
              <a:rPr sz="1100" b="0">
                <a:solidFill>
                  <a:srgbClr val="333333"/>
                </a:solidFill>
                <a:latin typeface="メイリオ"/>
                <a:ea typeface="メイリオ"/>
                <a:cs typeface="メイリオ"/>
              </a:rPr>
              <a:t>アンケートで長期
ニーズ層と判定</a:t>
            </a:r>
          </a:p>
        </p:txBody>
      </p:sp>
      <p:sp>
        <p:nvSpPr>
          <p:cNvPr id="31" name="Chevron 2003">
            <a:extLst>
              <a:ext uri="{FF2B5EF4-FFF2-40B4-BE49-F238E27FC236}">
                <a16:creationId xmlns:a16="http://schemas.microsoft.com/office/drawing/2014/main" id="{EF9C8636-6B09-9263-5A67-DB781AB0B8A7}"/>
              </a:ext>
            </a:extLst>
          </p:cNvPr>
          <p:cNvSpPr/>
          <p:nvPr/>
        </p:nvSpPr>
        <p:spPr>
          <a:xfrm>
            <a:off x="3519741" y="1839817"/>
            <a:ext cx="2926080" cy="548640"/>
          </a:xfrm>
          <a:prstGeom prst="chevron">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400" b="1">
                <a:solidFill>
                  <a:srgbClr val="FFFFFF"/>
                </a:solidFill>
                <a:latin typeface="メイリオ"/>
                <a:ea typeface="メイリオ"/>
                <a:cs typeface="メイリオ"/>
              </a:rPr>
              <a:t>Day1〜15</a:t>
            </a:r>
          </a:p>
        </p:txBody>
      </p:sp>
      <p:sp>
        <p:nvSpPr>
          <p:cNvPr id="34" name="TextBox 2004">
            <a:extLst>
              <a:ext uri="{FF2B5EF4-FFF2-40B4-BE49-F238E27FC236}">
                <a16:creationId xmlns:a16="http://schemas.microsoft.com/office/drawing/2014/main" id="{7B195B2D-D5DD-A6AF-1787-BE50FD77FA3F}"/>
              </a:ext>
            </a:extLst>
          </p:cNvPr>
          <p:cNvSpPr txBox="1"/>
          <p:nvPr/>
        </p:nvSpPr>
        <p:spPr>
          <a:xfrm>
            <a:off x="3519741" y="2479897"/>
            <a:ext cx="2926080" cy="640080"/>
          </a:xfrm>
          <a:prstGeom prst="rect">
            <a:avLst/>
          </a:prstGeom>
          <a:noFill/>
        </p:spPr>
        <p:txBody>
          <a:bodyPr wrap="square">
            <a:spAutoFit/>
          </a:bodyPr>
          <a:lstStyle/>
          <a:p>
            <a:pPr algn="ctr"/>
            <a:r>
              <a:rPr sz="1100" b="0">
                <a:solidFill>
                  <a:srgbClr val="333333"/>
                </a:solidFill>
                <a:latin typeface="メイリオ"/>
                <a:ea typeface="メイリオ"/>
                <a:cs typeface="メイリオ"/>
              </a:rPr>
              <a:t>隔週ペースで
基礎知識を教育配信</a:t>
            </a:r>
          </a:p>
        </p:txBody>
      </p:sp>
      <p:sp>
        <p:nvSpPr>
          <p:cNvPr id="36" name="Chevron 2005">
            <a:extLst>
              <a:ext uri="{FF2B5EF4-FFF2-40B4-BE49-F238E27FC236}">
                <a16:creationId xmlns:a16="http://schemas.microsoft.com/office/drawing/2014/main" id="{72262D61-75E5-1BAE-CB4A-36BFCB69D825}"/>
              </a:ext>
            </a:extLst>
          </p:cNvPr>
          <p:cNvSpPr/>
          <p:nvPr/>
        </p:nvSpPr>
        <p:spPr>
          <a:xfrm>
            <a:off x="6582981" y="1839817"/>
            <a:ext cx="2926080" cy="548640"/>
          </a:xfrm>
          <a:prstGeom prst="chevron">
            <a:avLst/>
          </a:prstGeom>
          <a:solidFill>
            <a:srgbClr val="5A6378"/>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400" b="1">
                <a:solidFill>
                  <a:srgbClr val="FFFFFF"/>
                </a:solidFill>
                <a:latin typeface="メイリオ"/>
                <a:ea typeface="メイリオ"/>
                <a:cs typeface="メイリオ"/>
              </a:rPr>
              <a:t>反応時</a:t>
            </a:r>
          </a:p>
        </p:txBody>
      </p:sp>
      <p:sp>
        <p:nvSpPr>
          <p:cNvPr id="38" name="TextBox 2006">
            <a:extLst>
              <a:ext uri="{FF2B5EF4-FFF2-40B4-BE49-F238E27FC236}">
                <a16:creationId xmlns:a16="http://schemas.microsoft.com/office/drawing/2014/main" id="{C1A521F2-6CE9-E966-9A4F-48DD8B913AF9}"/>
              </a:ext>
            </a:extLst>
          </p:cNvPr>
          <p:cNvSpPr txBox="1"/>
          <p:nvPr/>
        </p:nvSpPr>
        <p:spPr>
          <a:xfrm>
            <a:off x="6582981" y="2479897"/>
            <a:ext cx="2926080" cy="640080"/>
          </a:xfrm>
          <a:prstGeom prst="rect">
            <a:avLst/>
          </a:prstGeom>
          <a:noFill/>
        </p:spPr>
        <p:txBody>
          <a:bodyPr wrap="square">
            <a:spAutoFit/>
          </a:bodyPr>
          <a:lstStyle/>
          <a:p>
            <a:pPr algn="ctr"/>
            <a:r>
              <a:rPr sz="1100" b="0">
                <a:solidFill>
                  <a:srgbClr val="333333"/>
                </a:solidFill>
                <a:latin typeface="メイリオ"/>
                <a:ea typeface="メイリオ"/>
                <a:cs typeface="メイリオ"/>
              </a:rPr>
              <a:t>短期トラックへ
自動フォールバック</a:t>
            </a:r>
          </a:p>
        </p:txBody>
      </p:sp>
      <p:sp>
        <p:nvSpPr>
          <p:cNvPr id="40" name="TextBox 2001">
            <a:extLst>
              <a:ext uri="{FF2B5EF4-FFF2-40B4-BE49-F238E27FC236}">
                <a16:creationId xmlns:a16="http://schemas.microsoft.com/office/drawing/2014/main" id="{04DDCAB8-88EA-D3FB-5D2A-9C531B903959}"/>
              </a:ext>
            </a:extLst>
          </p:cNvPr>
          <p:cNvSpPr txBox="1"/>
          <p:nvPr/>
        </p:nvSpPr>
        <p:spPr>
          <a:xfrm>
            <a:off x="456501" y="1474057"/>
            <a:ext cx="9052560" cy="320040"/>
          </a:xfrm>
          <a:prstGeom prst="rect">
            <a:avLst/>
          </a:prstGeom>
          <a:noFill/>
        </p:spPr>
        <p:txBody>
          <a:bodyPr wrap="square">
            <a:spAutoFit/>
          </a:bodyPr>
          <a:lstStyle/>
          <a:p>
            <a:pPr algn="l"/>
            <a:r>
              <a:rPr lang="en-US" sz="1400" b="1" dirty="0">
                <a:solidFill>
                  <a:srgbClr val="1F2A5C"/>
                </a:solidFill>
                <a:latin typeface="メイリオ" panose="020B0604030504040204" pitchFamily="50" charset="-128"/>
                <a:ea typeface="メイリオ" panose="020B0604030504040204" pitchFamily="50" charset="-128"/>
                <a:cs typeface="メイリオ"/>
              </a:rPr>
              <a:t>B</a:t>
            </a:r>
            <a:r>
              <a:rPr sz="1400" b="1" dirty="0">
                <a:solidFill>
                  <a:srgbClr val="1F2A5C"/>
                </a:solidFill>
                <a:latin typeface="メイリオ" panose="020B0604030504040204" pitchFamily="50" charset="-128"/>
                <a:ea typeface="メイリオ" panose="020B0604030504040204" pitchFamily="50" charset="-128"/>
                <a:cs typeface="メイリオ"/>
              </a:rPr>
              <a:t>. </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アンケート回答結果に基づく</a:t>
            </a:r>
            <a:endParaRPr sz="1400" b="1" dirty="0">
              <a:solidFill>
                <a:srgbClr val="1F2A5C"/>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4796137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DB548-D486-3EA8-8B0A-6AB1F4024AFD}"/>
            </a:ext>
          </a:extLst>
        </p:cNvPr>
        <p:cNvGrpSpPr/>
        <p:nvPr/>
      </p:nvGrpSpPr>
      <p:grpSpPr>
        <a:xfrm>
          <a:off x="0" y="0"/>
          <a:ext cx="0" cy="0"/>
          <a:chOff x="0" y="0"/>
          <a:chExt cx="0" cy="0"/>
        </a:xfrm>
      </p:grpSpPr>
      <p:sp>
        <p:nvSpPr>
          <p:cNvPr id="4" name="テキスト ボックス 47">
            <a:extLst>
              <a:ext uri="{FF2B5EF4-FFF2-40B4-BE49-F238E27FC236}">
                <a16:creationId xmlns:a16="http://schemas.microsoft.com/office/drawing/2014/main" id="{B5E1738D-F77B-5CA6-8CD0-9A9EC26F9BDC}"/>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休眠リード開拓と参加後フォローアップ</a:t>
            </a:r>
          </a:p>
        </p:txBody>
      </p:sp>
      <p:sp>
        <p:nvSpPr>
          <p:cNvPr id="8" name="Lead">
            <a:extLst>
              <a:ext uri="{FF2B5EF4-FFF2-40B4-BE49-F238E27FC236}">
                <a16:creationId xmlns:a16="http://schemas.microsoft.com/office/drawing/2014/main" id="{AE20F162-D6DD-162B-1177-CA089E539DF1}"/>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検索起点シナリオに乗らない既存リストへの並走施策</a:t>
            </a:r>
          </a:p>
        </p:txBody>
      </p:sp>
      <p:sp>
        <p:nvSpPr>
          <p:cNvPr id="3" name="TextBox 2007">
            <a:extLst>
              <a:ext uri="{FF2B5EF4-FFF2-40B4-BE49-F238E27FC236}">
                <a16:creationId xmlns:a16="http://schemas.microsoft.com/office/drawing/2014/main" id="{E78531AA-9C5C-93A7-DEAB-957B5A74E584}"/>
              </a:ext>
            </a:extLst>
          </p:cNvPr>
          <p:cNvSpPr txBox="1"/>
          <p:nvPr/>
        </p:nvSpPr>
        <p:spPr>
          <a:xfrm>
            <a:off x="365760" y="1226239"/>
            <a:ext cx="9052560" cy="320040"/>
          </a:xfrm>
          <a:prstGeom prst="rect">
            <a:avLst/>
          </a:prstGeom>
          <a:noFill/>
        </p:spPr>
        <p:txBody>
          <a:bodyPr wrap="square">
            <a:spAutoFit/>
          </a:bodyPr>
          <a:lstStyle/>
          <a:p>
            <a:pPr algn="l"/>
            <a:r>
              <a:rPr sz="1300" b="1">
                <a:solidFill>
                  <a:srgbClr val="1F2A5C"/>
                </a:solidFill>
                <a:latin typeface="メイリオ"/>
                <a:ea typeface="メイリオ"/>
                <a:cs typeface="メイリオ"/>
              </a:rPr>
              <a:t>シーズナリティ連動トリガー（検索Volの季節性に合わせて再アプローチ）</a:t>
            </a:r>
          </a:p>
        </p:txBody>
      </p:sp>
      <p:sp>
        <p:nvSpPr>
          <p:cNvPr id="6" name="Rectangle 2008">
            <a:extLst>
              <a:ext uri="{FF2B5EF4-FFF2-40B4-BE49-F238E27FC236}">
                <a16:creationId xmlns:a16="http://schemas.microsoft.com/office/drawing/2014/main" id="{945E129C-F21B-0AE2-657B-28AE81F17F18}"/>
              </a:ext>
            </a:extLst>
          </p:cNvPr>
          <p:cNvSpPr/>
          <p:nvPr/>
        </p:nvSpPr>
        <p:spPr>
          <a:xfrm>
            <a:off x="365760"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1月</a:t>
            </a:r>
          </a:p>
        </p:txBody>
      </p:sp>
      <p:sp>
        <p:nvSpPr>
          <p:cNvPr id="9" name="Rectangle 2009">
            <a:extLst>
              <a:ext uri="{FF2B5EF4-FFF2-40B4-BE49-F238E27FC236}">
                <a16:creationId xmlns:a16="http://schemas.microsoft.com/office/drawing/2014/main" id="{C7632AEE-6947-EFAB-5C48-764A058D5F0C}"/>
              </a:ext>
            </a:extLst>
          </p:cNvPr>
          <p:cNvSpPr/>
          <p:nvPr/>
        </p:nvSpPr>
        <p:spPr>
          <a:xfrm>
            <a:off x="1122256"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2月</a:t>
            </a:r>
          </a:p>
        </p:txBody>
      </p:sp>
      <p:sp>
        <p:nvSpPr>
          <p:cNvPr id="11" name="Rectangle 2010">
            <a:extLst>
              <a:ext uri="{FF2B5EF4-FFF2-40B4-BE49-F238E27FC236}">
                <a16:creationId xmlns:a16="http://schemas.microsoft.com/office/drawing/2014/main" id="{F1F7980F-B34E-8E0A-A779-DEC816D8E76C}"/>
              </a:ext>
            </a:extLst>
          </p:cNvPr>
          <p:cNvSpPr/>
          <p:nvPr/>
        </p:nvSpPr>
        <p:spPr>
          <a:xfrm>
            <a:off x="1878752"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3月</a:t>
            </a:r>
          </a:p>
        </p:txBody>
      </p:sp>
      <p:sp>
        <p:nvSpPr>
          <p:cNvPr id="13" name="Rectangle 2011">
            <a:extLst>
              <a:ext uri="{FF2B5EF4-FFF2-40B4-BE49-F238E27FC236}">
                <a16:creationId xmlns:a16="http://schemas.microsoft.com/office/drawing/2014/main" id="{E063EBB9-78F7-A4D4-F999-4C5AC7691AEC}"/>
              </a:ext>
            </a:extLst>
          </p:cNvPr>
          <p:cNvSpPr/>
          <p:nvPr/>
        </p:nvSpPr>
        <p:spPr>
          <a:xfrm>
            <a:off x="2635248"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4月</a:t>
            </a:r>
          </a:p>
        </p:txBody>
      </p:sp>
      <p:sp>
        <p:nvSpPr>
          <p:cNvPr id="16" name="Rectangle 2012">
            <a:extLst>
              <a:ext uri="{FF2B5EF4-FFF2-40B4-BE49-F238E27FC236}">
                <a16:creationId xmlns:a16="http://schemas.microsoft.com/office/drawing/2014/main" id="{9D5C35C5-AFBD-1E16-34BD-FEA820687F12}"/>
              </a:ext>
            </a:extLst>
          </p:cNvPr>
          <p:cNvSpPr/>
          <p:nvPr/>
        </p:nvSpPr>
        <p:spPr>
          <a:xfrm>
            <a:off x="3391744"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5月</a:t>
            </a:r>
          </a:p>
        </p:txBody>
      </p:sp>
      <p:sp>
        <p:nvSpPr>
          <p:cNvPr id="20" name="Rectangle 2013">
            <a:extLst>
              <a:ext uri="{FF2B5EF4-FFF2-40B4-BE49-F238E27FC236}">
                <a16:creationId xmlns:a16="http://schemas.microsoft.com/office/drawing/2014/main" id="{AF46E364-2991-EF4B-B9B4-F07ED66BFC8E}"/>
              </a:ext>
            </a:extLst>
          </p:cNvPr>
          <p:cNvSpPr/>
          <p:nvPr/>
        </p:nvSpPr>
        <p:spPr>
          <a:xfrm>
            <a:off x="4148240"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6月</a:t>
            </a:r>
          </a:p>
        </p:txBody>
      </p:sp>
      <p:sp>
        <p:nvSpPr>
          <p:cNvPr id="23" name="Rectangle 2014">
            <a:extLst>
              <a:ext uri="{FF2B5EF4-FFF2-40B4-BE49-F238E27FC236}">
                <a16:creationId xmlns:a16="http://schemas.microsoft.com/office/drawing/2014/main" id="{3505044C-9CC2-BDB7-A9BA-96EE69E34EAB}"/>
              </a:ext>
            </a:extLst>
          </p:cNvPr>
          <p:cNvSpPr/>
          <p:nvPr/>
        </p:nvSpPr>
        <p:spPr>
          <a:xfrm>
            <a:off x="4904736"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7月</a:t>
            </a:r>
          </a:p>
        </p:txBody>
      </p:sp>
      <p:sp>
        <p:nvSpPr>
          <p:cNvPr id="27" name="Rectangle 2015">
            <a:extLst>
              <a:ext uri="{FF2B5EF4-FFF2-40B4-BE49-F238E27FC236}">
                <a16:creationId xmlns:a16="http://schemas.microsoft.com/office/drawing/2014/main" id="{8AF5E7F4-5D53-86FD-2BD6-C7542F8A83FD}"/>
              </a:ext>
            </a:extLst>
          </p:cNvPr>
          <p:cNvSpPr/>
          <p:nvPr/>
        </p:nvSpPr>
        <p:spPr>
          <a:xfrm>
            <a:off x="5661232"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8月</a:t>
            </a:r>
          </a:p>
        </p:txBody>
      </p:sp>
      <p:sp>
        <p:nvSpPr>
          <p:cNvPr id="30" name="Rectangle 2016">
            <a:extLst>
              <a:ext uri="{FF2B5EF4-FFF2-40B4-BE49-F238E27FC236}">
                <a16:creationId xmlns:a16="http://schemas.microsoft.com/office/drawing/2014/main" id="{FD72C16D-C4A9-9A7A-6196-9E875CF443CD}"/>
              </a:ext>
            </a:extLst>
          </p:cNvPr>
          <p:cNvSpPr/>
          <p:nvPr/>
        </p:nvSpPr>
        <p:spPr>
          <a:xfrm>
            <a:off x="6417728"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9月</a:t>
            </a:r>
          </a:p>
        </p:txBody>
      </p:sp>
      <p:sp>
        <p:nvSpPr>
          <p:cNvPr id="33" name="Rectangle 2017">
            <a:extLst>
              <a:ext uri="{FF2B5EF4-FFF2-40B4-BE49-F238E27FC236}">
                <a16:creationId xmlns:a16="http://schemas.microsoft.com/office/drawing/2014/main" id="{00C86569-3F53-5888-AFF4-E0BFECCAE588}"/>
              </a:ext>
            </a:extLst>
          </p:cNvPr>
          <p:cNvSpPr/>
          <p:nvPr/>
        </p:nvSpPr>
        <p:spPr>
          <a:xfrm>
            <a:off x="7174224"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10月</a:t>
            </a:r>
          </a:p>
        </p:txBody>
      </p:sp>
      <p:sp>
        <p:nvSpPr>
          <p:cNvPr id="37" name="Rectangle 2018">
            <a:extLst>
              <a:ext uri="{FF2B5EF4-FFF2-40B4-BE49-F238E27FC236}">
                <a16:creationId xmlns:a16="http://schemas.microsoft.com/office/drawing/2014/main" id="{B4B7698F-F5C5-2766-1198-1F1B10650721}"/>
              </a:ext>
            </a:extLst>
          </p:cNvPr>
          <p:cNvSpPr/>
          <p:nvPr/>
        </p:nvSpPr>
        <p:spPr>
          <a:xfrm>
            <a:off x="7930720"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11月</a:t>
            </a:r>
          </a:p>
        </p:txBody>
      </p:sp>
      <p:sp>
        <p:nvSpPr>
          <p:cNvPr id="41" name="Rectangle 2019">
            <a:extLst>
              <a:ext uri="{FF2B5EF4-FFF2-40B4-BE49-F238E27FC236}">
                <a16:creationId xmlns:a16="http://schemas.microsoft.com/office/drawing/2014/main" id="{B9122433-2609-1807-931B-6CFB1FC1612C}"/>
              </a:ext>
            </a:extLst>
          </p:cNvPr>
          <p:cNvSpPr/>
          <p:nvPr/>
        </p:nvSpPr>
        <p:spPr>
          <a:xfrm>
            <a:off x="8687216"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12月</a:t>
            </a:r>
          </a:p>
        </p:txBody>
      </p:sp>
      <p:sp>
        <p:nvSpPr>
          <p:cNvPr id="43" name="TextBox 2020">
            <a:extLst>
              <a:ext uri="{FF2B5EF4-FFF2-40B4-BE49-F238E27FC236}">
                <a16:creationId xmlns:a16="http://schemas.microsoft.com/office/drawing/2014/main" id="{BB0A7A81-025F-493D-383E-8F7CCCFDA607}"/>
              </a:ext>
            </a:extLst>
          </p:cNvPr>
          <p:cNvSpPr txBox="1"/>
          <p:nvPr/>
        </p:nvSpPr>
        <p:spPr>
          <a:xfrm>
            <a:off x="365760" y="2186359"/>
            <a:ext cx="9052560" cy="446276"/>
          </a:xfrm>
          <a:prstGeom prst="rect">
            <a:avLst/>
          </a:prstGeom>
          <a:noFill/>
        </p:spPr>
        <p:txBody>
          <a:bodyPr wrap="square">
            <a:spAutoFit/>
          </a:bodyPr>
          <a:lstStyle/>
          <a:p>
            <a:pPr algn="l"/>
            <a:r>
              <a:rPr lang="ja-JP" altLang="en-US" sz="1150" b="0" dirty="0">
                <a:solidFill>
                  <a:srgbClr val="5A6378"/>
                </a:solidFill>
                <a:latin typeface="メイリオ" panose="020B0604030504040204" pitchFamily="50" charset="-128"/>
                <a:ea typeface="メイリオ" panose="020B0604030504040204" pitchFamily="50" charset="-128"/>
                <a:cs typeface="メイリオ"/>
              </a:rPr>
              <a:t>--</a:t>
            </a:r>
            <a:endParaRPr lang="en-US" altLang="ja-JP" sz="1150" b="0" dirty="0">
              <a:solidFill>
                <a:srgbClr val="5A6378"/>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291321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6D1CC-B1BA-828E-295F-EADD0CDEFAB4}"/>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417026AF-4DDE-BCC5-590F-D8DDBF5664B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長期ニーズトラック：シーズナリティ連動の中長期設計</a:t>
            </a:r>
          </a:p>
        </p:txBody>
      </p:sp>
      <p:sp>
        <p:nvSpPr>
          <p:cNvPr id="5" name="Lead">
            <a:extLst>
              <a:ext uri="{FF2B5EF4-FFF2-40B4-BE49-F238E27FC236}">
                <a16:creationId xmlns:a16="http://schemas.microsoft.com/office/drawing/2014/main" id="{392B90DB-59D9-CA69-BB23-380EC53A1799}"/>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検索Volの季節性に合わせて再アプローチのタイミングを最適化する</a:t>
            </a:r>
          </a:p>
        </p:txBody>
      </p:sp>
      <p:sp>
        <p:nvSpPr>
          <p:cNvPr id="7" name="Body">
            <a:extLst>
              <a:ext uri="{FF2B5EF4-FFF2-40B4-BE49-F238E27FC236}">
                <a16:creationId xmlns:a16="http://schemas.microsoft.com/office/drawing/2014/main" id="{BE3C0D2E-9E33-CCCB-465C-36479CC64146}"/>
              </a:ext>
            </a:extLst>
          </p:cNvPr>
          <p:cNvSpPr txBox="1"/>
          <p:nvPr/>
        </p:nvSpPr>
        <p:spPr>
          <a:xfrm>
            <a:off x="342900" y="3164840"/>
            <a:ext cx="6743700" cy="3810000"/>
          </a:xfrm>
          <a:prstGeom prst="rect">
            <a:avLst/>
          </a:prstGeom>
          <a:noFill/>
        </p:spPr>
        <p:txBody>
          <a:bodyPr wrap="square" lIns="0" tIns="0" rIns="0" bIns="0" anchor="t"/>
          <a:lstStyle/>
          <a:p>
            <a:endParaRPr>
              <a:latin typeface="メイリオ"/>
              <a:ea typeface="メイリオ"/>
              <a:cs typeface="メイリオ"/>
            </a:endParaRPr>
          </a:p>
        </p:txBody>
      </p:sp>
      <p:sp>
        <p:nvSpPr>
          <p:cNvPr id="4" name="TextBox 2006">
            <a:extLst>
              <a:ext uri="{FF2B5EF4-FFF2-40B4-BE49-F238E27FC236}">
                <a16:creationId xmlns:a16="http://schemas.microsoft.com/office/drawing/2014/main" id="{D2F2FC8A-1E7E-57E2-6839-B8D5EF164194}"/>
              </a:ext>
            </a:extLst>
          </p:cNvPr>
          <p:cNvSpPr txBox="1"/>
          <p:nvPr/>
        </p:nvSpPr>
        <p:spPr>
          <a:xfrm>
            <a:off x="456501" y="1403736"/>
            <a:ext cx="9052560" cy="320040"/>
          </a:xfrm>
          <a:prstGeom prst="rect">
            <a:avLst/>
          </a:prstGeom>
          <a:noFill/>
        </p:spPr>
        <p:txBody>
          <a:bodyPr wrap="square">
            <a:spAutoFit/>
          </a:bodyPr>
          <a:lstStyle/>
          <a:p>
            <a:pPr algn="l"/>
            <a:r>
              <a:rPr sz="1400" b="1">
                <a:solidFill>
                  <a:srgbClr val="1F2A5C"/>
                </a:solidFill>
                <a:latin typeface="メイリオ"/>
                <a:ea typeface="メイリオ"/>
                <a:cs typeface="メイリオ"/>
              </a:rPr>
              <a:t>D. 参加後フォローアップ</a:t>
            </a:r>
          </a:p>
        </p:txBody>
      </p:sp>
      <p:sp>
        <p:nvSpPr>
          <p:cNvPr id="8" name="Chevron 2007">
            <a:extLst>
              <a:ext uri="{FF2B5EF4-FFF2-40B4-BE49-F238E27FC236}">
                <a16:creationId xmlns:a16="http://schemas.microsoft.com/office/drawing/2014/main" id="{10212EE1-F4B4-8DDA-CF71-F80F8F6403F8}"/>
              </a:ext>
            </a:extLst>
          </p:cNvPr>
          <p:cNvSpPr/>
          <p:nvPr/>
        </p:nvSpPr>
        <p:spPr>
          <a:xfrm>
            <a:off x="456501" y="1769496"/>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参加直後</a:t>
            </a:r>
          </a:p>
          <a:p>
            <a:pPr algn="ctr"/>
            <a:r>
              <a:rPr sz="1000">
                <a:solidFill>
                  <a:srgbClr val="FFFFFF"/>
                </a:solidFill>
                <a:latin typeface="メイリオ"/>
                <a:ea typeface="メイリオ"/>
                <a:cs typeface="メイリオ"/>
              </a:rPr>
              <a:t>--</a:t>
            </a:r>
          </a:p>
        </p:txBody>
      </p:sp>
      <p:sp>
        <p:nvSpPr>
          <p:cNvPr id="11" name="Chevron 2008">
            <a:extLst>
              <a:ext uri="{FF2B5EF4-FFF2-40B4-BE49-F238E27FC236}">
                <a16:creationId xmlns:a16="http://schemas.microsoft.com/office/drawing/2014/main" id="{785204DB-5C6A-DF80-2A53-F86C50DB8BFE}"/>
              </a:ext>
            </a:extLst>
          </p:cNvPr>
          <p:cNvSpPr/>
          <p:nvPr/>
        </p:nvSpPr>
        <p:spPr>
          <a:xfrm>
            <a:off x="5037645" y="1769496"/>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参加後30〜60日</a:t>
            </a:r>
          </a:p>
          <a:p>
            <a:pPr algn="ctr"/>
            <a:r>
              <a:rPr sz="1000">
                <a:solidFill>
                  <a:srgbClr val="FFFFFF"/>
                </a:solidFill>
                <a:latin typeface="メイリオ"/>
                <a:ea typeface="メイリオ"/>
                <a:cs typeface="メイリオ"/>
              </a:rPr>
              <a:t>--</a:t>
            </a:r>
          </a:p>
        </p:txBody>
      </p:sp>
    </p:spTree>
    <p:extLst>
      <p:ext uri="{BB962C8B-B14F-4D97-AF65-F5344CB8AC3E}">
        <p14:creationId xmlns:p14="http://schemas.microsoft.com/office/powerpoint/2010/main" val="4396800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1988098" y="3038203"/>
            <a:ext cx="5929829"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施策の詳細（新規友だち獲得）</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206017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離脱防止バナー</a:t>
            </a:r>
            <a:endParaRPr lang="en-US" altLang="ja-JP" sz="2000" b="1" dirty="0">
              <a:solidFill>
                <a:srgbClr val="002060"/>
              </a:solidFill>
              <a:latin typeface="メイリオ"/>
              <a:ea typeface="メイリオ"/>
              <a:cs typeface="メイリオ"/>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2000" b="1" dirty="0">
              <a:solidFill>
                <a:srgbClr val="002060"/>
              </a:solidFill>
              <a:latin typeface="メイリオ"/>
              <a:ea typeface="メイリオ"/>
              <a:cs typeface="メイリオ"/>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サンクス</a:t>
            </a: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誘導</a:t>
            </a:r>
            <a:endParaRPr lang="en-US" altLang="ja-JP" sz="2000" b="1" dirty="0">
              <a:solidFill>
                <a:srgbClr val="002060"/>
              </a:solidFill>
              <a:latin typeface="メイリオ"/>
              <a:ea typeface="メイリオ"/>
              <a:cs typeface="メイリオ"/>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事例：車買取</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興味はあるが利用まで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至らなかったユーザーを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友だちとして囲い込む。</a:t>
            </a:r>
            <a:endParaRPr lang="en-US" altLang="ja-JP" sz="1400" dirty="0">
              <a:latin typeface="メイリオ"/>
              <a:ea typeface="メイリオ"/>
              <a:cs typeface="メイリオ"/>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メイリオ"/>
                <a:ea typeface="メイリオ"/>
                <a:cs typeface="メイリオ"/>
                <a:sym typeface="Meiryo"/>
              </a:rPr>
              <a:t>CPF</a:t>
            </a:r>
            <a:r>
              <a:rPr lang="ja-JP" altLang="en-US" sz="1400" dirty="0">
                <a:latin typeface="メイリオ"/>
                <a:ea typeface="メイリオ"/>
                <a:cs typeface="メイリオ"/>
                <a:sym typeface="Meiryo"/>
              </a:rPr>
              <a:t>約</a:t>
            </a:r>
            <a:r>
              <a:rPr lang="en-US" altLang="ja-JP" sz="1400" dirty="0">
                <a:latin typeface="メイリオ"/>
                <a:ea typeface="メイリオ"/>
                <a:cs typeface="メイリオ"/>
                <a:sym typeface="Meiryo"/>
              </a:rPr>
              <a:t>100-200</a:t>
            </a:r>
            <a:r>
              <a:rPr lang="ja-JP" altLang="en-US" sz="1400" dirty="0">
                <a:latin typeface="メイリオ"/>
                <a:ea typeface="メイリオ"/>
                <a:cs typeface="メイリオ"/>
                <a:sym typeface="Meiryo"/>
              </a:rPr>
              <a:t>円台。</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かなり安価かつ成果報酬で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友だちを増やす広告。</a:t>
            </a:r>
            <a:endParaRPr lang="en-US" altLang="ja-JP" sz="1400" dirty="0">
              <a:latin typeface="メイリオ"/>
              <a:ea typeface="メイリオ"/>
              <a:cs typeface="メイリオ"/>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事例：アパレル</a:t>
            </a:r>
            <a:endParaRPr lang="en-US" altLang="ja-JP" sz="1400" dirty="0">
              <a:solidFill>
                <a:schemeClr val="tx1">
                  <a:lumMod val="50000"/>
                  <a:lumOff val="50000"/>
                </a:schemeClr>
              </a:solidFill>
              <a:latin typeface="メイリオ"/>
              <a:ea typeface="メイリオ"/>
              <a:cs typeface="メイリオ"/>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1</a:t>
            </a:r>
            <a:r>
              <a:rPr lang="ja-JP" altLang="en-US" sz="1200" dirty="0">
                <a:solidFill>
                  <a:schemeClr val="tx1">
                    <a:lumMod val="50000"/>
                    <a:lumOff val="50000"/>
                  </a:schemeClr>
                </a:solidFill>
                <a:latin typeface="メイリオ"/>
                <a:ea typeface="メイリオ"/>
                <a:cs typeface="メイリオ"/>
                <a:sym typeface="Meiryo"/>
              </a:rPr>
              <a:t>人あたり</a:t>
            </a:r>
            <a:r>
              <a:rPr lang="en-US" altLang="ja-JP" sz="1200" dirty="0">
                <a:solidFill>
                  <a:schemeClr val="tx1">
                    <a:lumMod val="50000"/>
                    <a:lumOff val="50000"/>
                  </a:schemeClr>
                </a:solidFill>
                <a:latin typeface="メイリオ"/>
                <a:ea typeface="メイリオ"/>
                <a:cs typeface="メイリオ"/>
                <a:sym typeface="Meiryo"/>
              </a:rPr>
              <a:t>50</a:t>
            </a:r>
            <a:r>
              <a:rPr lang="ja-JP" altLang="en-US" sz="1200" dirty="0">
                <a:solidFill>
                  <a:schemeClr val="tx1">
                    <a:lumMod val="50000"/>
                    <a:lumOff val="50000"/>
                  </a:schemeClr>
                </a:solidFill>
                <a:latin typeface="メイリオ"/>
                <a:ea typeface="メイリオ"/>
                <a:cs typeface="メイリオ"/>
                <a:sym typeface="Meiryo"/>
              </a:rPr>
              <a:t>円で友だち獲得</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経由の購入</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サンクスページに到達した</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ユーザーを自動で</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に誘導。</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友だち追加、追客に活用可能。</a:t>
            </a:r>
            <a:endParaRPr lang="en-US" altLang="ja-JP" sz="1400" dirty="0">
              <a:latin typeface="メイリオ"/>
              <a:ea typeface="メイリオ"/>
              <a:cs typeface="メイリオ"/>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事例：美容医療</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LP</a:t>
            </a:r>
            <a:r>
              <a:rPr lang="ja-JP" altLang="en-US" sz="1200" dirty="0">
                <a:solidFill>
                  <a:schemeClr val="tx1">
                    <a:lumMod val="50000"/>
                    <a:lumOff val="50000"/>
                  </a:schemeClr>
                </a:solidFill>
                <a:latin typeface="メイリオ"/>
                <a:ea typeface="メイリオ"/>
                <a:cs typeface="メイリオ"/>
                <a:sym typeface="Meiryo"/>
              </a:rPr>
              <a:t>離脱ユーザーに対して</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誘導を実施。</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追加から</a:t>
            </a:r>
            <a:r>
              <a:rPr lang="en-US" altLang="ja-JP" sz="1200" dirty="0">
                <a:solidFill>
                  <a:schemeClr val="tx1">
                    <a:lumMod val="50000"/>
                    <a:lumOff val="50000"/>
                  </a:schemeClr>
                </a:solidFill>
                <a:latin typeface="メイリオ"/>
                <a:ea typeface="メイリオ"/>
                <a:cs typeface="メイリオ"/>
                <a:sym typeface="Meiryo"/>
              </a:rPr>
              <a:t>20</a:t>
            </a:r>
            <a:r>
              <a:rPr lang="ja-JP" altLang="en-US" sz="1200" dirty="0">
                <a:solidFill>
                  <a:schemeClr val="tx1">
                    <a:lumMod val="50000"/>
                    <a:lumOff val="50000"/>
                  </a:schemeClr>
                </a:solidFill>
                <a:latin typeface="メイリオ"/>
                <a:ea typeface="メイリオ"/>
                <a:cs typeface="メイリオ"/>
                <a:sym typeface="Meiryo"/>
              </a:rPr>
              <a:t>％が</a:t>
            </a:r>
            <a:r>
              <a:rPr lang="en-US" altLang="ja-JP" sz="1200" dirty="0">
                <a:solidFill>
                  <a:schemeClr val="tx1">
                    <a:lumMod val="50000"/>
                    <a:lumOff val="50000"/>
                  </a:schemeClr>
                </a:solidFill>
                <a:latin typeface="メイリオ"/>
                <a:ea typeface="メイリオ"/>
                <a:cs typeface="メイリオ"/>
                <a:sym typeface="Meiryo"/>
              </a:rPr>
              <a:t>CV</a:t>
            </a:r>
          </a:p>
          <a:p>
            <a:pPr lvl="0">
              <a:buClr>
                <a:schemeClr val="dk1"/>
              </a:buClr>
              <a:buSzPts val="1500"/>
            </a:pP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導入後友だち増加数が</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倍に。</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実反響率も</a:t>
            </a:r>
            <a:r>
              <a:rPr lang="en-US" altLang="ja-JP" sz="1200" dirty="0">
                <a:solidFill>
                  <a:schemeClr val="tx1">
                    <a:lumMod val="50000"/>
                    <a:lumOff val="50000"/>
                  </a:schemeClr>
                </a:solidFill>
                <a:latin typeface="メイリオ"/>
                <a:ea typeface="メイリオ"/>
                <a:cs typeface="メイリオ"/>
                <a:sym typeface="Meiryo"/>
              </a:rPr>
              <a:t>40%</a:t>
            </a:r>
            <a:r>
              <a:rPr lang="ja-JP" altLang="en-US" sz="1200" dirty="0">
                <a:solidFill>
                  <a:schemeClr val="tx1">
                    <a:lumMod val="50000"/>
                    <a:lumOff val="50000"/>
                  </a:schemeClr>
                </a:solidFill>
                <a:latin typeface="メイリオ"/>
                <a:ea typeface="メイリオ"/>
                <a:cs typeface="メイリオ"/>
                <a:sym typeface="Meiryo"/>
              </a:rPr>
              <a:t>程度改善。</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通知メッセージ</a:t>
            </a:r>
            <a:endParaRPr lang="en-US" altLang="ja-JP" sz="2000" b="1" dirty="0">
              <a:solidFill>
                <a:srgbClr val="002060"/>
              </a:solidFill>
              <a:latin typeface="メイリオ"/>
              <a:ea typeface="メイリオ"/>
              <a:cs typeface="メイリオ"/>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友だちではないユーザーに</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対して予約完了通知などを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送り友だちを増やす。</a:t>
            </a:r>
            <a:endParaRPr lang="en-US" altLang="ja-JP" sz="1400" dirty="0">
              <a:latin typeface="メイリオ"/>
              <a:ea typeface="メイリオ"/>
              <a:cs typeface="メイリオ"/>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事例：宅配ピザ</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通知メッセージ導入４ヶ月で</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友だち数</a:t>
            </a:r>
            <a:r>
              <a:rPr lang="en-US" altLang="ja-JP" sz="1200" dirty="0">
                <a:solidFill>
                  <a:schemeClr val="tx1">
                    <a:lumMod val="50000"/>
                    <a:lumOff val="50000"/>
                  </a:schemeClr>
                </a:solidFill>
                <a:latin typeface="メイリオ"/>
                <a:ea typeface="メイリオ"/>
                <a:cs typeface="メイリオ"/>
                <a:sym typeface="Meiryo"/>
              </a:rPr>
              <a:t>2</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83059"/>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メイリオ"/>
                <a:ea typeface="メイリオ"/>
                <a:cs typeface="メイリオ"/>
                <a:sym typeface="Meiryo"/>
              </a:rPr>
              <a:t>準顕在（獲得見込みが高い）層の</a:t>
            </a:r>
            <a:r>
              <a:rPr lang="ja-JP" altLang="en-US" sz="1600" b="1" dirty="0">
                <a:latin typeface="メイリオ"/>
                <a:ea typeface="メイリオ"/>
                <a:cs typeface="メイリオ"/>
                <a:sym typeface="Meiryo"/>
              </a:rPr>
              <a:t>独自獲得手法が豊富</a:t>
            </a:r>
            <a:r>
              <a:rPr lang="ja-JP" altLang="en-US" sz="1600" dirty="0">
                <a:latin typeface="メイリオ"/>
                <a:ea typeface="メイリオ"/>
                <a:cs typeface="メイリオ"/>
                <a:sym typeface="Meiryo"/>
              </a:rPr>
              <a:t>で尚且つ</a:t>
            </a:r>
            <a:r>
              <a:rPr lang="ja-JP" altLang="en-US" sz="1600" b="1" dirty="0">
                <a:latin typeface="メイリオ"/>
                <a:ea typeface="メイリオ"/>
                <a:cs typeface="メイリオ"/>
                <a:sym typeface="Meiryo"/>
              </a:rPr>
              <a:t>利用までナーチャリング</a:t>
            </a:r>
            <a:endParaRPr lang="en-US" altLang="ja-JP" sz="1600" b="1" dirty="0">
              <a:latin typeface="メイリオ"/>
              <a:ea typeface="メイリオ"/>
              <a:cs typeface="メイリオ"/>
              <a:sym typeface="Meiryo"/>
            </a:endParaRPr>
          </a:p>
          <a:p>
            <a:pPr lvl="0" algn="ctr">
              <a:buClr>
                <a:schemeClr val="dk1"/>
              </a:buClr>
              <a:buSzPts val="1500"/>
            </a:pPr>
            <a:r>
              <a:rPr lang="en-US" altLang="ja-JP" sz="1100" dirty="0">
                <a:solidFill>
                  <a:srgbClr val="1F2A5C"/>
                </a:solidFill>
                <a:latin typeface="メイリオ"/>
                <a:ea typeface="メイリオ"/>
                <a:cs typeface="メイリオ"/>
                <a:sym typeface="Meiryo"/>
              </a:rPr>
              <a:t>※</a:t>
            </a:r>
            <a:r>
              <a:rPr lang="ja-JP" altLang="en-US" sz="1100" dirty="0">
                <a:solidFill>
                  <a:srgbClr val="1F2A5C"/>
                </a:solidFill>
                <a:latin typeface="メイリオ"/>
                <a:ea typeface="メイリオ"/>
                <a:cs typeface="メイリオ"/>
                <a:sym typeface="Meiryo"/>
              </a:rPr>
              <a:t>実施想定の友だち追加動線について、★を記載しております。</a:t>
            </a:r>
            <a:endParaRPr lang="en-US" altLang="ja-JP" sz="1600" dirty="0">
              <a:solidFill>
                <a:srgbClr val="1F2A5C"/>
              </a:solidFill>
              <a:latin typeface="メイリオ"/>
              <a:ea typeface="メイリオ"/>
              <a:cs typeface="メイリオ"/>
              <a:sym typeface="Meiryo"/>
            </a:endParaRPr>
          </a:p>
        </p:txBody>
      </p:sp>
      <p:sp>
        <p:nvSpPr>
          <p:cNvPr id="6" name="星: 5 pt 5">
            <a:extLst>
              <a:ext uri="{FF2B5EF4-FFF2-40B4-BE49-F238E27FC236}">
                <a16:creationId xmlns:a16="http://schemas.microsoft.com/office/drawing/2014/main" id="{73AA3FF7-ED61-B641-763C-E4940D075F39}"/>
              </a:ext>
            </a:extLst>
          </p:cNvPr>
          <p:cNvSpPr/>
          <p:nvPr/>
        </p:nvSpPr>
        <p:spPr>
          <a:xfrm>
            <a:off x="2749464"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2" name="星: 5 pt 11">
            <a:extLst>
              <a:ext uri="{FF2B5EF4-FFF2-40B4-BE49-F238E27FC236}">
                <a16:creationId xmlns:a16="http://schemas.microsoft.com/office/drawing/2014/main" id="{2C908883-96FE-2C98-5753-AECCC0E66D37}"/>
              </a:ext>
            </a:extLst>
          </p:cNvPr>
          <p:cNvSpPr/>
          <p:nvPr/>
        </p:nvSpPr>
        <p:spPr>
          <a:xfrm>
            <a:off x="9252865"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Tree>
    <p:extLst>
      <p:ext uri="{BB962C8B-B14F-4D97-AF65-F5344CB8AC3E}">
        <p14:creationId xmlns:p14="http://schemas.microsoft.com/office/powerpoint/2010/main" val="30001345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a:t>
            </a:r>
            <a:r>
              <a:rPr lang="ja-JP" altLang="en-US" sz="1050" dirty="0">
                <a:solidFill>
                  <a:srgbClr val="1F2A5C"/>
                </a:solidFill>
                <a:latin typeface="メイリオ"/>
                <a:ea typeface="メイリオ"/>
                <a:cs typeface="メイリオ"/>
                <a:sym typeface="Meiryo"/>
              </a:rPr>
              <a:t>以外の注力動線への誘導も同バナーから実施が可能です。</a:t>
            </a:r>
            <a:endParaRPr lang="ja-JP" altLang="en-US" sz="1050" dirty="0">
              <a:solidFill>
                <a:srgbClr val="1F2A5C"/>
              </a:solidFill>
              <a:latin typeface="メイリオ"/>
              <a:ea typeface="メイリオ"/>
              <a:cs typeface="メイリオ"/>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a:t>
            </a:r>
            <a:r>
              <a:rPr lang="ja-JP" altLang="en-US" sz="1050" dirty="0">
                <a:solidFill>
                  <a:srgbClr val="1F2A5C"/>
                </a:solidFill>
                <a:latin typeface="メイリオ"/>
                <a:ea typeface="メイリオ"/>
                <a:cs typeface="メイリオ"/>
                <a:sym typeface="Meiryo"/>
              </a:rPr>
              <a:t>以外の注力動線への誘導も同バナーから実施が可能です。</a:t>
            </a:r>
            <a:endParaRPr lang="ja-JP" altLang="en-US" sz="1050" dirty="0">
              <a:solidFill>
                <a:srgbClr val="1F2A5C"/>
              </a:solidFill>
              <a:latin typeface="メイリオ"/>
              <a:ea typeface="メイリオ"/>
              <a:cs typeface="メイリオ"/>
            </a:endParaRPr>
          </a:p>
        </p:txBody>
      </p:sp>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2"/>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3"/>
          <a:stretch>
            <a:fillRect/>
          </a:stretch>
        </p:blipFill>
        <p:spPr>
          <a:xfrm>
            <a:off x="579513" y="1977951"/>
            <a:ext cx="5023065" cy="2231287"/>
          </a:xfrm>
          <a:prstGeom prst="rect">
            <a:avLst/>
          </a:prstGeom>
        </p:spPr>
      </p:pic>
      <p:grpSp>
        <p:nvGrpSpPr>
          <p:cNvPr id="2" name="グループ化 1">
            <a:extLst>
              <a:ext uri="{FF2B5EF4-FFF2-40B4-BE49-F238E27FC236}">
                <a16:creationId xmlns:a16="http://schemas.microsoft.com/office/drawing/2014/main" id="{B58110A5-3249-591F-F0D8-9733B5C19419}"/>
              </a:ext>
            </a:extLst>
          </p:cNvPr>
          <p:cNvGrpSpPr/>
          <p:nvPr/>
        </p:nvGrpSpPr>
        <p:grpSpPr>
          <a:xfrm>
            <a:off x="543398" y="777681"/>
            <a:ext cx="3105325" cy="485102"/>
            <a:chOff x="507969" y="928495"/>
            <a:chExt cx="3105325" cy="485102"/>
          </a:xfrm>
          <a:solidFill>
            <a:schemeClr val="tx2"/>
          </a:solidFill>
        </p:grpSpPr>
        <p:sp>
          <p:nvSpPr>
            <p:cNvPr id="10" name="Google Shape;51;p19">
              <a:extLst>
                <a:ext uri="{FF2B5EF4-FFF2-40B4-BE49-F238E27FC236}">
                  <a16:creationId xmlns:a16="http://schemas.microsoft.com/office/drawing/2014/main" id="{2624D4C3-8EE7-C79A-AD39-F7C125FED5C3}"/>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8134CCE0-9B09-BEAB-56F6-583858DE4FFA}"/>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18" name="Google Shape;51;p19">
            <a:extLst>
              <a:ext uri="{FF2B5EF4-FFF2-40B4-BE49-F238E27FC236}">
                <a16:creationId xmlns:a16="http://schemas.microsoft.com/office/drawing/2014/main" id="{ABAC4CA8-0C86-B839-6335-8FB2EF8DA230}"/>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20" name="Google Shape;51;p19">
            <a:extLst>
              <a:ext uri="{FF2B5EF4-FFF2-40B4-BE49-F238E27FC236}">
                <a16:creationId xmlns:a16="http://schemas.microsoft.com/office/drawing/2014/main" id="{54BADA25-EAD6-B857-B5DA-8E7366A2D4D6}"/>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26" name="図 25">
            <a:extLst>
              <a:ext uri="{FF2B5EF4-FFF2-40B4-BE49-F238E27FC236}">
                <a16:creationId xmlns:a16="http://schemas.microsoft.com/office/drawing/2014/main" id="{EDC5B771-42F2-76B0-A6E7-50BC96175819}"/>
              </a:ext>
            </a:extLst>
          </p:cNvPr>
          <p:cNvPicPr>
            <a:picLocks noChangeAspect="1"/>
          </p:cNvPicPr>
          <p:nvPr/>
        </p:nvPicPr>
        <p:blipFill>
          <a:blip r:embed="rId4"/>
          <a:stretch>
            <a:fillRect/>
          </a:stretch>
        </p:blipFill>
        <p:spPr>
          <a:xfrm>
            <a:off x="5743237" y="2258734"/>
            <a:ext cx="1190032" cy="2417060"/>
          </a:xfrm>
          <a:prstGeom prst="rect">
            <a:avLst/>
          </a:prstGeom>
        </p:spPr>
      </p:pic>
      <p:pic>
        <p:nvPicPr>
          <p:cNvPr id="46" name="図 45">
            <a:extLst>
              <a:ext uri="{FF2B5EF4-FFF2-40B4-BE49-F238E27FC236}">
                <a16:creationId xmlns:a16="http://schemas.microsoft.com/office/drawing/2014/main" id="{CDFFD994-B78C-9580-A303-CCE3C06EF4D0}"/>
              </a:ext>
            </a:extLst>
          </p:cNvPr>
          <p:cNvPicPr>
            <a:picLocks noChangeAspect="1"/>
          </p:cNvPicPr>
          <p:nvPr/>
        </p:nvPicPr>
        <p:blipFill>
          <a:blip r:embed="rId4"/>
          <a:stretch>
            <a:fillRect/>
          </a:stretch>
        </p:blipFill>
        <p:spPr>
          <a:xfrm>
            <a:off x="7682503" y="2258734"/>
            <a:ext cx="1190032" cy="2417060"/>
          </a:xfrm>
          <a:prstGeom prst="rect">
            <a:avLst/>
          </a:prstGeom>
        </p:spPr>
      </p:pic>
      <p:pic>
        <p:nvPicPr>
          <p:cNvPr id="48" name="図 47">
            <a:extLst>
              <a:ext uri="{FF2B5EF4-FFF2-40B4-BE49-F238E27FC236}">
                <a16:creationId xmlns:a16="http://schemas.microsoft.com/office/drawing/2014/main" id="{2F2D6E3E-D262-6FC3-26DE-F7F8A36D53EB}"/>
              </a:ext>
            </a:extLst>
          </p:cNvPr>
          <p:cNvPicPr>
            <a:picLocks noChangeAspect="1"/>
          </p:cNvPicPr>
          <p:nvPr/>
        </p:nvPicPr>
        <p:blipFill>
          <a:blip r:embed="rId4"/>
          <a:stretch>
            <a:fillRect/>
          </a:stretch>
        </p:blipFill>
        <p:spPr>
          <a:xfrm>
            <a:off x="8367522" y="4081984"/>
            <a:ext cx="1190032" cy="2417060"/>
          </a:xfrm>
          <a:prstGeom prst="rect">
            <a:avLst/>
          </a:prstGeom>
        </p:spPr>
      </p:pic>
      <p:sp>
        <p:nvSpPr>
          <p:cNvPr id="50" name="正方形/長方形 49">
            <a:extLst>
              <a:ext uri="{FF2B5EF4-FFF2-40B4-BE49-F238E27FC236}">
                <a16:creationId xmlns:a16="http://schemas.microsoft.com/office/drawing/2014/main" id="{C15238B5-4395-F723-0A79-2790FCF7C350}"/>
              </a:ext>
            </a:extLst>
          </p:cNvPr>
          <p:cNvSpPr/>
          <p:nvPr/>
        </p:nvSpPr>
        <p:spPr>
          <a:xfrm>
            <a:off x="8404597"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56" name="図 55">
            <a:extLst>
              <a:ext uri="{FF2B5EF4-FFF2-40B4-BE49-F238E27FC236}">
                <a16:creationId xmlns:a16="http://schemas.microsoft.com/office/drawing/2014/main" id="{EF814CDE-D628-AA7F-3C9D-D1DAF2358FE4}"/>
              </a:ext>
            </a:extLst>
          </p:cNvPr>
          <p:cNvPicPr>
            <a:picLocks noChangeAspect="1"/>
          </p:cNvPicPr>
          <p:nvPr/>
        </p:nvPicPr>
        <p:blipFill>
          <a:blip r:embed="rId4"/>
          <a:stretch>
            <a:fillRect/>
          </a:stretch>
        </p:blipFill>
        <p:spPr>
          <a:xfrm>
            <a:off x="6278620" y="4081984"/>
            <a:ext cx="1190032" cy="2417060"/>
          </a:xfrm>
          <a:prstGeom prst="rect">
            <a:avLst/>
          </a:prstGeom>
        </p:spPr>
      </p:pic>
      <p:sp>
        <p:nvSpPr>
          <p:cNvPr id="58" name="正方形/長方形 57">
            <a:extLst>
              <a:ext uri="{FF2B5EF4-FFF2-40B4-BE49-F238E27FC236}">
                <a16:creationId xmlns:a16="http://schemas.microsoft.com/office/drawing/2014/main" id="{8EAB183B-DD91-4D27-96EA-958B1E359EDF}"/>
              </a:ext>
            </a:extLst>
          </p:cNvPr>
          <p:cNvSpPr/>
          <p:nvPr/>
        </p:nvSpPr>
        <p:spPr>
          <a:xfrm>
            <a:off x="6315695"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66" name="図 65">
            <a:extLst>
              <a:ext uri="{FF2B5EF4-FFF2-40B4-BE49-F238E27FC236}">
                <a16:creationId xmlns:a16="http://schemas.microsoft.com/office/drawing/2014/main" id="{C2855CFF-6E8D-0B73-876F-08A7CAF4119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64783" y="4682317"/>
            <a:ext cx="999311" cy="999311"/>
          </a:xfrm>
          <a:prstGeom prst="rect">
            <a:avLst/>
          </a:prstGeom>
        </p:spPr>
      </p:pic>
      <p:sp>
        <p:nvSpPr>
          <p:cNvPr id="68" name="テキスト ボックス 67">
            <a:extLst>
              <a:ext uri="{FF2B5EF4-FFF2-40B4-BE49-F238E27FC236}">
                <a16:creationId xmlns:a16="http://schemas.microsoft.com/office/drawing/2014/main" id="{A25E8A43-2530-9596-D092-B486168F2683}"/>
              </a:ext>
            </a:extLst>
          </p:cNvPr>
          <p:cNvSpPr txBox="1"/>
          <p:nvPr/>
        </p:nvSpPr>
        <p:spPr>
          <a:xfrm>
            <a:off x="6161730"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ja-JP" altLang="en-US" sz="1000" b="1" dirty="0">
                <a:solidFill>
                  <a:schemeClr val="bg1"/>
                </a:solidFill>
                <a:latin typeface="メイリオ"/>
                <a:ea typeface="メイリオ"/>
                <a:cs typeface="メイリオ"/>
                <a:sym typeface="Meiryo"/>
              </a:rPr>
              <a:t>簡易</a:t>
            </a:r>
            <a:r>
              <a:rPr lang="en-US" altLang="ja-JP" sz="1000" b="1" dirty="0">
                <a:solidFill>
                  <a:schemeClr val="bg1"/>
                </a:solidFill>
                <a:latin typeface="メイリオ"/>
                <a:ea typeface="メイリオ"/>
                <a:cs typeface="メイリオ"/>
                <a:sym typeface="Meiryo"/>
              </a:rPr>
              <a:t>SIM</a:t>
            </a:r>
            <a:r>
              <a:rPr lang="ja-JP" altLang="en-US" sz="1000" b="1" dirty="0">
                <a:solidFill>
                  <a:schemeClr val="bg1"/>
                </a:solidFill>
                <a:latin typeface="メイリオ"/>
                <a:ea typeface="メイリオ"/>
                <a:cs typeface="メイリオ"/>
                <a:sym typeface="Meiryo"/>
              </a:rPr>
              <a:t>へ</a:t>
            </a:r>
            <a:endParaRPr lang="ja-JP" altLang="en-US" sz="1050" b="1" dirty="0">
              <a:solidFill>
                <a:schemeClr val="bg1"/>
              </a:solidFill>
              <a:latin typeface="メイリオ"/>
              <a:ea typeface="メイリオ"/>
              <a:cs typeface="メイリオ"/>
            </a:endParaRPr>
          </a:p>
        </p:txBody>
      </p:sp>
      <p:sp>
        <p:nvSpPr>
          <p:cNvPr id="70" name="テキスト ボックス 69">
            <a:extLst>
              <a:ext uri="{FF2B5EF4-FFF2-40B4-BE49-F238E27FC236}">
                <a16:creationId xmlns:a16="http://schemas.microsoft.com/office/drawing/2014/main" id="{0728AAC8-ACED-DE14-79C2-5D2E1E568CE7}"/>
              </a:ext>
            </a:extLst>
          </p:cNvPr>
          <p:cNvSpPr txBox="1"/>
          <p:nvPr/>
        </p:nvSpPr>
        <p:spPr>
          <a:xfrm>
            <a:off x="8248538"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en-US" altLang="ja-JP" sz="1000" b="1" dirty="0">
                <a:solidFill>
                  <a:schemeClr val="bg1"/>
                </a:solidFill>
                <a:latin typeface="メイリオ"/>
                <a:ea typeface="メイリオ"/>
                <a:cs typeface="メイリオ"/>
                <a:sym typeface="Meiryo"/>
              </a:rPr>
              <a:t>LINE</a:t>
            </a:r>
            <a:r>
              <a:rPr lang="ja-JP" altLang="en-US" sz="1000" b="1" dirty="0">
                <a:solidFill>
                  <a:schemeClr val="bg1"/>
                </a:solidFill>
                <a:latin typeface="メイリオ"/>
                <a:ea typeface="メイリオ"/>
                <a:cs typeface="メイリオ"/>
                <a:sym typeface="Meiryo"/>
              </a:rPr>
              <a:t>追加へ</a:t>
            </a:r>
            <a:endParaRPr lang="ja-JP" altLang="en-US" sz="1050" b="1" dirty="0">
              <a:solidFill>
                <a:schemeClr val="bg1"/>
              </a:solidFill>
              <a:latin typeface="メイリオ"/>
              <a:ea typeface="メイリオ"/>
              <a:cs typeface="メイリオ"/>
            </a:endParaRPr>
          </a:p>
        </p:txBody>
      </p:sp>
      <p:pic>
        <p:nvPicPr>
          <p:cNvPr id="74" name="図 73">
            <a:extLst>
              <a:ext uri="{FF2B5EF4-FFF2-40B4-BE49-F238E27FC236}">
                <a16:creationId xmlns:a16="http://schemas.microsoft.com/office/drawing/2014/main" id="{4C49234A-BFF2-AECE-086F-27D9165ADB4C}"/>
              </a:ext>
            </a:extLst>
          </p:cNvPr>
          <p:cNvPicPr>
            <a:picLocks noChangeAspect="1"/>
          </p:cNvPicPr>
          <p:nvPr/>
        </p:nvPicPr>
        <p:blipFill>
          <a:blip r:embed="rId6"/>
          <a:stretch>
            <a:fillRect/>
          </a:stretch>
        </p:blipFill>
        <p:spPr>
          <a:xfrm>
            <a:off x="8471302" y="4682317"/>
            <a:ext cx="976991" cy="976991"/>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新規友だちの追加（サンクスLINE誘導）</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7"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cs typeface="メイリオ"/>
                </a:rPr>
                <a:t>サンクス</a:t>
              </a:r>
              <a:r>
                <a:rPr lang="en-US" altLang="ja-JP" sz="1200" b="1" dirty="0">
                  <a:solidFill>
                    <a:schemeClr val="bg1"/>
                  </a:solidFill>
                  <a:latin typeface="メイリオ" panose="020B0604030504040204" pitchFamily="34" charset="-128"/>
                  <a:ea typeface="メイリオ" panose="020B0604030504040204" pitchFamily="34" charset="-128"/>
                  <a:cs typeface="メイリオ"/>
                </a:rPr>
                <a:t>LINE</a:t>
              </a:r>
              <a:r>
                <a:rPr lang="ja-JP" altLang="en-US" sz="1200" b="1" dirty="0">
                  <a:solidFill>
                    <a:schemeClr val="bg1"/>
                  </a:solidFill>
                  <a:latin typeface="メイリオ" panose="020B0604030504040204" pitchFamily="34" charset="-128"/>
                  <a:ea typeface="メイリオ" panose="020B0604030504040204" pitchFamily="34" charset="-128"/>
                  <a:cs typeface="メイリオ"/>
                </a:rPr>
                <a:t>誘導</a:t>
              </a:r>
            </a:p>
          </p:txBody>
        </p:sp>
      </p:grpSp>
      <p:sp>
        <p:nvSpPr>
          <p:cNvPr id="9" name="正方形/長方形 8">
            <a:extLst>
              <a:ext uri="{FF2B5EF4-FFF2-40B4-BE49-F238E27FC236}">
                <a16:creationId xmlns:a16="http://schemas.microsoft.com/office/drawing/2014/main" id="{DC4FF56C-47EE-47DB-92F1-3F0EF57613D9}"/>
              </a:ext>
            </a:extLst>
          </p:cNvPr>
          <p:cNvSpPr/>
          <p:nvPr/>
        </p:nvSpPr>
        <p:spPr>
          <a:xfrm>
            <a:off x="3931920" y="1371600"/>
            <a:ext cx="4754880" cy="274320"/>
          </a:xfrm>
          <a:prstGeom prst="rect">
            <a:avLst/>
          </a:prstGeom>
        </p:spPr>
        <p:txBody>
          <a:bodyPr wrap="square" lIns="74295" rIns="74295">
            <a:spAutoFit/>
          </a:bodyPr>
          <a:lstStyle/>
          <a:p>
            <a:pPr lvl="0">
              <a:buClr>
                <a:schemeClr val="dk1"/>
              </a:buClr>
              <a:buSzPts val="1500"/>
            </a:pPr>
            <a:r>
              <a:rPr lang="ja-JP" altLang="en-US" sz="1400" dirty="0">
                <a:latin typeface="メイリオ"/>
                <a:ea typeface="メイリオ"/>
                <a:cs typeface="メイリオ"/>
                <a:sym typeface="Meiryo"/>
              </a:rPr>
              <a:t>フォーム送信後の</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誘導を自動化するツール</a:t>
            </a:r>
            <a:endParaRPr lang="en-US" altLang="ja-JP" sz="1400" dirty="0">
              <a:latin typeface="メイリオ"/>
              <a:ea typeface="メイリオ"/>
              <a:cs typeface="メイリオ"/>
              <a:sym typeface="Meiryo"/>
            </a:endParaRP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3931920" y="1645920"/>
            <a:ext cx="2148840" cy="201168"/>
          </a:xfrm>
          <a:prstGeom prst="rect">
            <a:avLst/>
          </a:prstGeom>
          <a:noFill/>
        </p:spPr>
        <p:txBody>
          <a:bodyPr wrap="square" lIns="74295" rIns="74295">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※既存APIツールとの併用も可能</a:t>
            </a:r>
            <a:endParaRPr lang="ja-JP" altLang="en-US" sz="900" dirty="0">
              <a:solidFill>
                <a:srgbClr val="1F2A5C"/>
              </a:solidFill>
              <a:latin typeface="メイリオ"/>
              <a:ea typeface="メイリオ"/>
              <a:cs typeface="メイリオ"/>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9"/>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9"/>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cs typeface="メイリオ"/>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cs typeface="メイリオ"/>
              </a:rPr>
            </a:br>
            <a:r>
              <a:rPr lang="en-US" altLang="ja-JP" sz="13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300" dirty="0">
                <a:solidFill>
                  <a:schemeClr val="tx1"/>
                </a:solidFill>
                <a:latin typeface="メイリオ" panose="020B0604030504040204" pitchFamily="50" charset="-128"/>
                <a:ea typeface="メイリオ" panose="020B0604030504040204" pitchFamily="50" charset="-128"/>
                <a:cs typeface="メイリオ"/>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cs typeface="メイリオ"/>
              </a:rPr>
              <a:t>CV</a:t>
            </a:r>
            <a:r>
              <a:rPr lang="ja-JP" altLang="en-US" sz="1100" dirty="0">
                <a:solidFill>
                  <a:schemeClr val="tx1"/>
                </a:solidFill>
                <a:latin typeface="メイリオ" panose="020B0604030504040204" pitchFamily="50" charset="-128"/>
                <a:ea typeface="メイリオ" panose="020B0604030504040204" pitchFamily="50" charset="-128"/>
                <a:cs typeface="メイリオ"/>
              </a:rPr>
              <a:t>完了後約</a:t>
            </a:r>
            <a:r>
              <a:rPr lang="en-US" altLang="ja-JP" sz="1100" dirty="0">
                <a:solidFill>
                  <a:schemeClr val="tx1"/>
                </a:solidFill>
                <a:latin typeface="メイリオ" panose="020B0604030504040204" pitchFamily="50" charset="-128"/>
                <a:ea typeface="メイリオ" panose="020B0604030504040204" pitchFamily="50" charset="-128"/>
                <a:cs typeface="メイリオ"/>
              </a:rPr>
              <a:t>2~3</a:t>
            </a:r>
            <a:r>
              <a:rPr lang="ja-JP" altLang="en-US" sz="1100" dirty="0">
                <a:solidFill>
                  <a:schemeClr val="tx1"/>
                </a:solidFill>
                <a:latin typeface="メイリオ" panose="020B0604030504040204" pitchFamily="50" charset="-128"/>
                <a:ea typeface="メイリオ" panose="020B0604030504040204" pitchFamily="50" charset="-128"/>
                <a:cs typeface="メイリオ"/>
              </a:rPr>
              <a:t>秒で</a:t>
            </a:r>
            <a:br>
              <a:rPr lang="en-US" altLang="ja-JP" sz="1100" dirty="0">
                <a:solidFill>
                  <a:schemeClr val="tx1"/>
                </a:solidFill>
                <a:latin typeface="メイリオ" panose="020B0604030504040204" pitchFamily="50" charset="-128"/>
                <a:ea typeface="メイリオ" panose="020B0604030504040204" pitchFamily="50" charset="-128"/>
                <a:cs typeface="メイリオ"/>
              </a:rPr>
            </a:br>
            <a:r>
              <a:rPr lang="en-US" altLang="ja-JP" sz="11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dirty="0">
                <a:solidFill>
                  <a:schemeClr val="tx1"/>
                </a:solidFill>
                <a:latin typeface="メイリオ" panose="020B0604030504040204" pitchFamily="50" charset="-128"/>
                <a:ea typeface="メイリオ" panose="020B0604030504040204" pitchFamily="50" charset="-128"/>
                <a:cs typeface="メイリオ"/>
              </a:rPr>
              <a:t>へ自動遷移</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cs typeface="メイリオ"/>
              </a:rPr>
              <a:t>QRコードを読み取って</a:t>
            </a:r>
            <a:endParaRPr lang="en-US" altLang="ja-JP" sz="1050" b="1" dirty="0">
              <a:latin typeface="メイリオ" panose="020B0604030504040204" pitchFamily="50" charset="-128"/>
              <a:ea typeface="メイリオ" panose="020B0604030504040204" pitchFamily="50" charset="-128"/>
              <a:cs typeface="メイリオ"/>
            </a:endParaRPr>
          </a:p>
          <a:p>
            <a:r>
              <a:rPr lang="ja-JP" altLang="ja-JP" sz="1050" b="1" dirty="0">
                <a:latin typeface="メイリオ" panose="020B0604030504040204" pitchFamily="50" charset="-128"/>
                <a:ea typeface="メイリオ" panose="020B0604030504040204" pitchFamily="50" charset="-128"/>
                <a:cs typeface="メイリオ"/>
              </a:rPr>
              <a:t>動画を見る（約22秒）</a:t>
            </a:r>
            <a:endParaRPr lang="en-US" altLang="ja-JP" sz="1050" b="1" dirty="0">
              <a:latin typeface="メイリオ" panose="020B0604030504040204" pitchFamily="50" charset="-128"/>
              <a:ea typeface="メイリオ" panose="020B0604030504040204" pitchFamily="50" charset="-128"/>
              <a:cs typeface="メイリオ"/>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cs typeface="メイリオ"/>
              </a:rPr>
              <a:t>クリックして再生</a:t>
            </a:r>
            <a:endParaRPr lang="en-US" altLang="ja-JP" sz="1050" b="1" dirty="0">
              <a:latin typeface="メイリオ" panose="020B0604030504040204" pitchFamily="50" charset="-128"/>
              <a:ea typeface="メイリオ" panose="020B0604030504040204" pitchFamily="50" charset="-128"/>
              <a:cs typeface="メイリオ"/>
            </a:endParaRPr>
          </a:p>
        </p:txBody>
      </p:sp>
      <p:sp>
        <p:nvSpPr>
          <p:cNvPr id="1053" name="Google Shape;51;p19">
            <a:extLst>
              <a:ext uri="{FF2B5EF4-FFF2-40B4-BE49-F238E27FC236}">
                <a16:creationId xmlns:a16="http://schemas.microsoft.com/office/drawing/2014/main" id="{A4070FDA-7C99-27DE-6A9C-437C1D5DD3B3}"/>
              </a:ext>
            </a:extLst>
          </p:cNvPr>
          <p:cNvSpPr/>
          <p:nvPr/>
        </p:nvSpPr>
        <p:spPr>
          <a:xfrm>
            <a:off x="3931920" y="841248"/>
            <a:ext cx="1325880" cy="484632"/>
          </a:xfrm>
          <a:prstGeom prst="roundRect">
            <a:avLst>
              <a:gd name="adj" fmla="val 16667"/>
            </a:avLst>
          </a:prstGeom>
          <a:solidFill>
            <a:schemeClr val="tx2"/>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r>
              <a:rPr lang="ja-JP" altLang="en-US" b="1" dirty="0">
                <a:solidFill>
                  <a:schemeClr val="lt1"/>
                </a:solidFill>
                <a:latin typeface="メイリオ"/>
                <a:ea typeface="メイリオ"/>
                <a:cs typeface="メイリオ"/>
                <a:sym typeface="Meiryo"/>
              </a:rPr>
              <a:t>初期：</a:t>
            </a:r>
            <a:r>
              <a:rPr lang="en-US" altLang="ja-JP" b="1" dirty="0">
                <a:solidFill>
                  <a:schemeClr val="lt1"/>
                </a:solidFill>
                <a:latin typeface="メイリオ"/>
                <a:ea typeface="メイリオ"/>
                <a:cs typeface="メイリオ"/>
                <a:sym typeface="Meiryo"/>
              </a:rPr>
              <a:t>15</a:t>
            </a:r>
            <a:r>
              <a:rPr lang="ja-JP" altLang="en-US" b="1" dirty="0">
                <a:solidFill>
                  <a:schemeClr val="lt1"/>
                </a:solidFill>
                <a:latin typeface="メイリオ"/>
                <a:ea typeface="メイリオ"/>
                <a:cs typeface="メイリオ"/>
                <a:sym typeface="Meiryo"/>
              </a:rPr>
              <a:t>万円</a:t>
            </a:r>
            <a:endParaRPr b="1" dirty="0">
              <a:solidFill>
                <a:schemeClr val="lt1"/>
              </a:solidFill>
              <a:latin typeface="メイリオ"/>
              <a:ea typeface="メイリオ"/>
              <a:cs typeface="メイリオ"/>
              <a:sym typeface="Meiryo"/>
            </a:endParaRPr>
          </a:p>
        </p:txBody>
      </p:sp>
      <p:sp>
        <p:nvSpPr>
          <p:cNvPr id="1054" name="Google Shape;51;p19">
            <a:extLst>
              <a:ext uri="{FF2B5EF4-FFF2-40B4-BE49-F238E27FC236}">
                <a16:creationId xmlns:a16="http://schemas.microsoft.com/office/drawing/2014/main" id="{40C4675F-5DCC-DD57-BE14-B3A7697A02CD}"/>
              </a:ext>
            </a:extLst>
          </p:cNvPr>
          <p:cNvSpPr/>
          <p:nvPr/>
        </p:nvSpPr>
        <p:spPr>
          <a:xfrm>
            <a:off x="5349240" y="841248"/>
            <a:ext cx="1783080" cy="484632"/>
          </a:xfrm>
          <a:prstGeom prst="roundRect">
            <a:avLst>
              <a:gd name="adj" fmla="val 16667"/>
            </a:avLst>
          </a:prstGeom>
          <a:solidFill>
            <a:schemeClr val="tx2"/>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r>
              <a:rPr lang="ja-JP" altLang="en-US" b="1" dirty="0">
                <a:solidFill>
                  <a:schemeClr val="lt1"/>
                </a:solidFill>
                <a:latin typeface="メイリオ"/>
                <a:ea typeface="メイリオ"/>
                <a:cs typeface="メイリオ"/>
                <a:sym typeface="Meiryo"/>
              </a:rPr>
              <a:t>月額</a:t>
            </a:r>
            <a:r>
              <a:rPr lang="en-US" altLang="ja-JP" b="1" dirty="0">
                <a:solidFill>
                  <a:schemeClr val="lt1"/>
                </a:solidFill>
                <a:latin typeface="メイリオ"/>
                <a:ea typeface="メイリオ"/>
                <a:cs typeface="メイリオ"/>
                <a:sym typeface="Meiryo"/>
              </a:rPr>
              <a:t>3</a:t>
            </a:r>
            <a:r>
              <a:rPr lang="ja-JP" altLang="en-US" b="1" dirty="0">
                <a:solidFill>
                  <a:schemeClr val="lt1"/>
                </a:solidFill>
                <a:latin typeface="メイリオ"/>
                <a:ea typeface="メイリオ"/>
                <a:cs typeface="メイリオ"/>
                <a:sym typeface="Meiryo"/>
              </a:rPr>
              <a:t>万円～</a:t>
            </a:r>
            <a:endParaRPr lang="en-US" altLang="ja-JP" b="1" dirty="0">
              <a:solidFill>
                <a:schemeClr val="lt1"/>
              </a:solidFill>
              <a:latin typeface="メイリオ"/>
              <a:ea typeface="メイリオ"/>
              <a:cs typeface="メイリオ"/>
              <a:sym typeface="Meiryo"/>
            </a:endParaRPr>
          </a:p>
          <a:p>
            <a:pPr algn="ctr">
              <a:buSzPts val="1400"/>
            </a:pPr>
            <a:r>
              <a:rPr lang="en-US" altLang="ja-JP" sz="850" b="1" dirty="0">
                <a:solidFill>
                  <a:srgbClr val="FFFFFF"/>
                </a:solidFill>
                <a:latin typeface="メイリオ"/>
                <a:ea typeface="メイリオ"/>
                <a:cs typeface="メイリオ"/>
                <a:sym typeface="Meiryo"/>
              </a:rPr>
              <a:t>+</a:t>
            </a:r>
            <a:r>
              <a:rPr lang="ja-JP" altLang="en-US" sz="850" b="1" dirty="0">
                <a:solidFill>
                  <a:srgbClr val="FFFFFF"/>
                </a:solidFill>
                <a:latin typeface="メイリオ"/>
                <a:ea typeface="メイリオ"/>
                <a:cs typeface="メイリオ"/>
                <a:sym typeface="Meiryo"/>
              </a:rPr>
              <a:t>設定地点追加</a:t>
            </a:r>
            <a:endParaRPr sz="850" b="1" dirty="0">
              <a:solidFill>
                <a:srgbClr val="FFFFFF"/>
              </a:solidFill>
              <a:latin typeface="メイリオ"/>
              <a:ea typeface="メイリオ"/>
              <a:cs typeface="メイリオ"/>
              <a:sym typeface="Meiryo"/>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cs typeface="メイリオ"/>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やまや（</a:t>
            </a:r>
            <a:r>
              <a:rPr kumimoji="1" lang="en-US" altLang="ja-JP" sz="1100" dirty="0">
                <a:solidFill>
                  <a:schemeClr val="tx1"/>
                </a:solidFill>
                <a:latin typeface="メイリオ" panose="020B0604030504040204" pitchFamily="50" charset="-128"/>
                <a:ea typeface="メイリオ" panose="020B0604030504040204" pitchFamily="50" charset="-128"/>
                <a:cs typeface="メイリオ"/>
              </a:rPr>
              <a:t>EC</a:t>
            </a: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メイリオ"/>
                <a:ea typeface="メイリオ"/>
                <a:cs typeface="メイリオ"/>
                <a:sym typeface="Meiryo"/>
              </a:rPr>
              <a:t>利用可能なシーン一例</a:t>
            </a:r>
            <a:endParaRPr sz="900" i="0" u="none" strike="noStrike" cap="none" dirty="0">
              <a:solidFill>
                <a:srgbClr val="FFFFFF"/>
              </a:solidFill>
              <a:latin typeface="メイリオ"/>
              <a:ea typeface="メイリオ"/>
              <a:cs typeface="メイリオ"/>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4245125" y="3038203"/>
            <a:ext cx="1415772"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費用感</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A67513FB-FEEF-76F5-5394-A1A2495F04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5CF6CD71-4C48-796A-BD54-E778269A9308}"/>
              </a:ext>
            </a:extLst>
          </p:cNvPr>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成果報酬型プラン</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6C35AEF3-D15B-5805-4919-629E6F4207CC}"/>
              </a:ext>
            </a:extLst>
          </p:cNvPr>
          <p:cNvSpPr txBox="1"/>
          <p:nvPr/>
        </p:nvSpPr>
        <p:spPr>
          <a:xfrm>
            <a:off x="2286000" y="859443"/>
            <a:ext cx="7406640"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施策成果件数に伴う費用発生でリスクを抑えた運用スタートを実現。</a:t>
            </a:r>
          </a:p>
        </p:txBody>
      </p:sp>
      <p:sp>
        <p:nvSpPr>
          <p:cNvPr id="21" name="正方形/長方形 20">
            <a:extLst>
              <a:ext uri="{FF2B5EF4-FFF2-40B4-BE49-F238E27FC236}">
                <a16:creationId xmlns:a16="http://schemas.microsoft.com/office/drawing/2014/main" id="{EEA02B17-0DA2-A3FE-A6E5-243C1724301E}"/>
              </a:ext>
            </a:extLst>
          </p:cNvPr>
          <p:cNvSpPr/>
          <p:nvPr/>
        </p:nvSpPr>
        <p:spPr>
          <a:xfrm>
            <a:off x="548881" y="1405687"/>
            <a:ext cx="4404119" cy="2061098"/>
          </a:xfrm>
          <a:prstGeom prst="rect">
            <a:avLst/>
          </a:prstGeom>
          <a:no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a:extLst>
              <a:ext uri="{FF2B5EF4-FFF2-40B4-BE49-F238E27FC236}">
                <a16:creationId xmlns:a16="http://schemas.microsoft.com/office/drawing/2014/main" id="{CA8AA691-8D48-57D0-BF47-34182D3A6DAC}"/>
              </a:ext>
            </a:extLst>
          </p:cNvPr>
          <p:cNvSpPr/>
          <p:nvPr/>
        </p:nvSpPr>
        <p:spPr>
          <a:xfrm>
            <a:off x="748333" y="1594972"/>
            <a:ext cx="2322527"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メイリオ" panose="020B0604030504040204" pitchFamily="50" charset="-128"/>
                <a:ea typeface="メイリオ" panose="020B0604030504040204" pitchFamily="50" charset="-128"/>
                <a:cs typeface="メイリオ"/>
              </a:rPr>
              <a:t>成果報酬費用</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264193FC-5A1A-667F-A9D5-30C2155A72EB}"/>
              </a:ext>
            </a:extLst>
          </p:cNvPr>
          <p:cNvSpPr/>
          <p:nvPr/>
        </p:nvSpPr>
        <p:spPr>
          <a:xfrm>
            <a:off x="3230275" y="1588966"/>
            <a:ext cx="1494125"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tx1"/>
                </a:solidFill>
                <a:latin typeface="メイリオ" panose="020B0604030504040204" pitchFamily="50" charset="-128"/>
                <a:ea typeface="メイリオ" panose="020B0604030504040204" pitchFamily="50" charset="-128"/>
                <a:cs typeface="メイリオ"/>
              </a:rPr>
              <a:t>固定費用</a:t>
            </a: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692E0C40-273C-2C77-21FF-EC7A2A1C8F8F}"/>
              </a:ext>
            </a:extLst>
          </p:cNvPr>
          <p:cNvSpPr/>
          <p:nvPr/>
        </p:nvSpPr>
        <p:spPr>
          <a:xfrm>
            <a:off x="748333" y="2116483"/>
            <a:ext cx="2322527"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成果件数 </a:t>
            </a:r>
            <a:r>
              <a:rPr lang="en-US" altLang="ja-JP" sz="14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成果報酬単価</a:t>
            </a:r>
            <a:endParaRPr lang="en-US" altLang="ja-JP"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BAC2B063-6DAA-B7D0-0B1D-E5CC879D23FD}"/>
              </a:ext>
            </a:extLst>
          </p:cNvPr>
          <p:cNvSpPr/>
          <p:nvPr/>
        </p:nvSpPr>
        <p:spPr>
          <a:xfrm>
            <a:off x="3230275" y="2116483"/>
            <a:ext cx="1494125"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アカウント費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ツール費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8" name="テキスト ボックス 17">
            <a:extLst>
              <a:ext uri="{FF2B5EF4-FFF2-40B4-BE49-F238E27FC236}">
                <a16:creationId xmlns:a16="http://schemas.microsoft.com/office/drawing/2014/main" id="{0036B929-196A-854E-1925-1967B52BEB27}"/>
              </a:ext>
            </a:extLst>
          </p:cNvPr>
          <p:cNvSpPr txBox="1"/>
          <p:nvPr/>
        </p:nvSpPr>
        <p:spPr>
          <a:xfrm>
            <a:off x="668626" y="1585328"/>
            <a:ext cx="4960620" cy="523220"/>
          </a:xfrm>
          <a:prstGeom prst="rect">
            <a:avLst/>
          </a:prstGeom>
          <a:noFill/>
        </p:spPr>
        <p:txBody>
          <a:bodyPr wrap="square">
            <a:spAutoFit/>
          </a:bodyPr>
          <a:lstStyle/>
          <a:p>
            <a:pPr algn="ctr"/>
            <a:r>
              <a:rPr lang="ja-JP" altLang="en-US" sz="2800" b="1" dirty="0">
                <a:solidFill>
                  <a:schemeClr val="tx1"/>
                </a:solidFill>
                <a:latin typeface="メイリオ" panose="020B0604030504040204" pitchFamily="50" charset="-128"/>
                <a:ea typeface="メイリオ" panose="020B0604030504040204" pitchFamily="50" charset="-128"/>
                <a:cs typeface="メイリオ"/>
              </a:rPr>
              <a:t>＋</a:t>
            </a:r>
            <a:endParaRPr lang="en-US" altLang="ja-JP" sz="28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C94A4AE5-885C-B98E-00A8-77C51FC7BFE1}"/>
              </a:ext>
            </a:extLst>
          </p:cNvPr>
          <p:cNvSpPr/>
          <p:nvPr/>
        </p:nvSpPr>
        <p:spPr>
          <a:xfrm>
            <a:off x="5080364" y="1405605"/>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複数の</a:t>
            </a:r>
            <a:r>
              <a:rPr lang="en-US" altLang="ja-JP" sz="11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dirty="0">
                <a:solidFill>
                  <a:schemeClr val="tx1"/>
                </a:solidFill>
                <a:latin typeface="メイリオ" panose="020B0604030504040204" pitchFamily="50" charset="-128"/>
                <a:ea typeface="メイリオ" panose="020B0604030504040204" pitchFamily="50" charset="-128"/>
                <a:cs typeface="メイリオ"/>
              </a:rPr>
              <a:t>流入経路からステップ配信を構築し、</a:t>
            </a:r>
            <a:r>
              <a:rPr lang="en-US" altLang="ja-JP" sz="1100" dirty="0">
                <a:solidFill>
                  <a:schemeClr val="tx1"/>
                </a:solidFill>
                <a:latin typeface="メイリオ" panose="020B0604030504040204" pitchFamily="50" charset="-128"/>
                <a:ea typeface="メイリオ" panose="020B0604030504040204" pitchFamily="50" charset="-128"/>
                <a:cs typeface="メイリオ"/>
              </a:rPr>
              <a:t>CV</a:t>
            </a:r>
            <a:r>
              <a:rPr lang="ja-JP" altLang="en-US" sz="1100" dirty="0">
                <a:solidFill>
                  <a:schemeClr val="tx1"/>
                </a:solidFill>
                <a:latin typeface="メイリオ" panose="020B0604030504040204" pitchFamily="50" charset="-128"/>
                <a:ea typeface="メイリオ" panose="020B0604030504040204" pitchFamily="50" charset="-128"/>
                <a:cs typeface="メイリオ"/>
              </a:rPr>
              <a:t>数を増加。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4" name="正方形/長方形 23">
            <a:extLst>
              <a:ext uri="{FF2B5EF4-FFF2-40B4-BE49-F238E27FC236}">
                <a16:creationId xmlns:a16="http://schemas.microsoft.com/office/drawing/2014/main" id="{4A2D4AF3-1CC4-4934-0B96-59B465612A8D}"/>
              </a:ext>
            </a:extLst>
          </p:cNvPr>
          <p:cNvSpPr/>
          <p:nvPr/>
        </p:nvSpPr>
        <p:spPr>
          <a:xfrm>
            <a:off x="5080363" y="1783080"/>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現状導入しているツール、計測環境に応じて設計が可能。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6" name="テキスト ボックス 25">
            <a:extLst>
              <a:ext uri="{FF2B5EF4-FFF2-40B4-BE49-F238E27FC236}">
                <a16:creationId xmlns:a16="http://schemas.microsoft.com/office/drawing/2014/main" id="{1981C36B-B3F0-8036-014B-17B1A065A490}"/>
              </a:ext>
            </a:extLst>
          </p:cNvPr>
          <p:cNvSpPr txBox="1"/>
          <p:nvPr/>
        </p:nvSpPr>
        <p:spPr>
          <a:xfrm>
            <a:off x="3230275" y="2856669"/>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導入ツールに応じて費用発生</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7" name="テキスト ボックス 26">
            <a:extLst>
              <a:ext uri="{FF2B5EF4-FFF2-40B4-BE49-F238E27FC236}">
                <a16:creationId xmlns:a16="http://schemas.microsoft.com/office/drawing/2014/main" id="{0F171EE4-EBC4-0A03-9342-8E33CDF25A68}"/>
              </a:ext>
            </a:extLst>
          </p:cNvPr>
          <p:cNvSpPr txBox="1"/>
          <p:nvPr/>
        </p:nvSpPr>
        <p:spPr>
          <a:xfrm>
            <a:off x="3230274" y="3083982"/>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上限通数を設定して運営可能</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テキスト ボックス 27">
            <a:extLst>
              <a:ext uri="{FF2B5EF4-FFF2-40B4-BE49-F238E27FC236}">
                <a16:creationId xmlns:a16="http://schemas.microsoft.com/office/drawing/2014/main" id="{C6B5A64D-6B62-2D6A-1AF5-5EFCEC948063}"/>
              </a:ext>
            </a:extLst>
          </p:cNvPr>
          <p:cNvSpPr txBox="1"/>
          <p:nvPr/>
        </p:nvSpPr>
        <p:spPr>
          <a:xfrm>
            <a:off x="748334" y="2856669"/>
            <a:ext cx="2101546"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成果件数は</a:t>
            </a:r>
            <a:r>
              <a:rPr lang="en-US" altLang="ja-JP" sz="800" dirty="0">
                <a:solidFill>
                  <a:srgbClr val="1F2A5C"/>
                </a:solidFill>
                <a:latin typeface="メイリオ" panose="020B0604030504040204" pitchFamily="50" charset="-128"/>
                <a:ea typeface="メイリオ" panose="020B0604030504040204" pitchFamily="50" charset="-128"/>
                <a:cs typeface="メイリオ"/>
              </a:rPr>
              <a:t>GA</a:t>
            </a:r>
            <a:r>
              <a:rPr lang="ja-JP" altLang="en-US" sz="800" dirty="0">
                <a:solidFill>
                  <a:srgbClr val="1F2A5C"/>
                </a:solidFill>
                <a:latin typeface="メイリオ" panose="020B0604030504040204" pitchFamily="50" charset="-128"/>
                <a:ea typeface="メイリオ" panose="020B0604030504040204" pitchFamily="50" charset="-128"/>
                <a:cs typeface="メイリオ"/>
              </a:rPr>
              <a:t>、他ツールでの計測</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テキスト ボックス 28">
            <a:extLst>
              <a:ext uri="{FF2B5EF4-FFF2-40B4-BE49-F238E27FC236}">
                <a16:creationId xmlns:a16="http://schemas.microsoft.com/office/drawing/2014/main" id="{555B5E5B-7EFA-B5FA-0284-3CD0D3947983}"/>
              </a:ext>
            </a:extLst>
          </p:cNvPr>
          <p:cNvSpPr txBox="1"/>
          <p:nvPr/>
        </p:nvSpPr>
        <p:spPr>
          <a:xfrm>
            <a:off x="748333" y="3083982"/>
            <a:ext cx="2322527"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成果報酬単価は広告</a:t>
            </a:r>
            <a:r>
              <a:rPr lang="en-US" altLang="ja-JP" sz="800" dirty="0">
                <a:solidFill>
                  <a:srgbClr val="1F2A5C"/>
                </a:solidFill>
                <a:latin typeface="メイリオ" panose="020B0604030504040204" pitchFamily="50" charset="-128"/>
                <a:ea typeface="メイリオ" panose="020B0604030504040204" pitchFamily="50" charset="-128"/>
                <a:cs typeface="メイリオ"/>
              </a:rPr>
              <a:t>CPA</a:t>
            </a:r>
            <a:r>
              <a:rPr lang="ja-JP" altLang="en-US" sz="800" dirty="0">
                <a:solidFill>
                  <a:srgbClr val="1F2A5C"/>
                </a:solidFill>
                <a:latin typeface="メイリオ" panose="020B0604030504040204" pitchFamily="50" charset="-128"/>
                <a:ea typeface="メイリオ" panose="020B0604030504040204" pitchFamily="50" charset="-128"/>
                <a:cs typeface="メイリオ"/>
              </a:rPr>
              <a:t>に基づき設定</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3" name="テキスト ボックス 22">
            <a:extLst>
              <a:ext uri="{FF2B5EF4-FFF2-40B4-BE49-F238E27FC236}">
                <a16:creationId xmlns:a16="http://schemas.microsoft.com/office/drawing/2014/main" id="{4C08CE37-3C30-0822-0EDA-FEB4C5F762A4}"/>
              </a:ext>
            </a:extLst>
          </p:cNvPr>
          <p:cNvSpPr txBox="1"/>
          <p:nvPr/>
        </p:nvSpPr>
        <p:spPr>
          <a:xfrm>
            <a:off x="5084483" y="2103120"/>
            <a:ext cx="4324011" cy="415498"/>
          </a:xfrm>
          <a:prstGeom prst="rect">
            <a:avLst/>
          </a:prstGeom>
          <a:noFill/>
        </p:spPr>
        <p:txBody>
          <a:bodyPr wrap="square">
            <a:spAutoFit/>
          </a:bodyPr>
          <a:lstStyle/>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 ✓複数の成果地点とそれに伴う成果単価</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に基づいて、契約における条件の調整が可能です。</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17" name="正方形/長方形 16">
            <a:extLst>
              <a:ext uri="{FF2B5EF4-FFF2-40B4-BE49-F238E27FC236}">
                <a16:creationId xmlns:a16="http://schemas.microsoft.com/office/drawing/2014/main" id="{5D385AB6-97DE-E2AB-6E27-3BFD5D3B3C5D}"/>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0" name="小見出し"/>
          <p:cNvSpPr/>
          <p:nvPr/>
        </p:nvSpPr>
        <p:spPr>
          <a:xfrm>
            <a:off x="548640" y="3749039"/>
            <a:ext cx="8860536" cy="320040"/>
          </a:xfrm>
          <a:prstGeom prst="rect">
            <a:avLst/>
          </a:prstGeom>
          <a:noFill/>
          <a:ln>
            <a:noFill/>
          </a:ln>
        </p:spPr>
        <p:txBody>
          <a:bodyPr wrap="square" lIns="0" tIns="0" rIns="0" bIns="0" rtlCol="0" anchor="ctr">
            <a:noAutofit/>
          </a:bodyPr>
          <a:lstStyle/>
          <a:p>
            <a:pPr algn="l">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今回の成果単価の費用感</a:t>
            </a:r>
            <a:endParaRPr lang="ja-JP" altLang="en-US" sz="1200" dirty="0">
              <a:latin typeface="メイリオ"/>
              <a:ea typeface="メイリオ"/>
              <a:cs typeface="メイリオ"/>
            </a:endParaRPr>
          </a:p>
        </p:txBody>
      </p:sp>
      <p:graphicFrame>
        <p:nvGraphicFramePr>
          <p:cNvPr id="31" name="成果報酬単価 30"/>
          <p:cNvGraphicFramePr>
            <a:graphicFrameLocks noGrp="1"/>
          </p:cNvGraphicFramePr>
          <p:nvPr/>
        </p:nvGraphicFramePr>
        <p:xfrm>
          <a:off x="548640" y="4114800"/>
          <a:ext cx="8860536" cy="1325880"/>
        </p:xfrm>
        <a:graphic>
          <a:graphicData uri="http://schemas.openxmlformats.org/drawingml/2006/table">
            <a:tbl>
              <a:tblPr/>
              <a:tblGrid>
                <a:gridCol w="23774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105656">
                  <a:extLst>
                    <a:ext uri="{9D8B030D-6E8A-4147-A177-3AD203B41FA5}">
                      <a16:colId xmlns:a16="http://schemas.microsoft.com/office/drawing/2014/main" val="20002"/>
                    </a:ext>
                  </a:extLst>
                </a:gridCol>
              </a:tblGrid>
              <a:tr h="4114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成果の地点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成果報酬単価</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成果件数の数え方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リピート予約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LINEのリンクからの2回目以降の予約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サービス内容</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カスタマージャーニー（8フェーズ）</a:t>
            </a:r>
            <a:endParaRPr lang="en-US" sz="1300" dirty="0">
              <a:latin typeface="メイリオ" panose="020B0604030504040204" pitchFamily="50" charset="-128"/>
              <a:ea typeface="メイリオ" panose="020B0604030504040204" pitchFamily="50" charset="-128"/>
              <a:cs typeface="メイリオ"/>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接触〜リピートまでの動線設計</a:t>
            </a:r>
            <a:endParaRPr lang="en-US" sz="10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02</a:t>
            </a:r>
            <a:endParaRPr lang="en-US" sz="1300" dirty="0">
              <a:latin typeface="メイリオ" panose="020B0604030504040204" pitchFamily="50" charset="-128"/>
              <a:ea typeface="メイリオ" panose="020B0604030504040204" pitchFamily="50" charset="-128"/>
              <a:cs typeface="メイリオ"/>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LINEステップ配信シナリオ（</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4</a:t>
            </a: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-8</a:t>
            </a:r>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本</a:t>
            </a: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a:t>
            </a:r>
            <a:endParaRPr lang="en-US" sz="1300" dirty="0">
              <a:latin typeface="メイリオ" panose="020B0604030504040204" pitchFamily="50" charset="-128"/>
              <a:ea typeface="メイリオ" panose="020B0604030504040204" pitchFamily="50" charset="-128"/>
              <a:cs typeface="メイリオ"/>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友だち追加直後〜成約誘導まで</a:t>
            </a:r>
            <a:endParaRPr lang="en-US" sz="1000" dirty="0">
              <a:latin typeface="メイリオ" panose="020B0604030504040204" pitchFamily="50" charset="-128"/>
              <a:ea typeface="メイリオ" panose="020B0604030504040204" pitchFamily="50" charset="-128"/>
              <a:cs typeface="メイリオ"/>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03</a:t>
            </a:r>
            <a:endParaRPr lang="en-US" sz="1300" dirty="0">
              <a:latin typeface="メイリオ" panose="020B0604030504040204" pitchFamily="50" charset="-128"/>
              <a:ea typeface="メイリオ" panose="020B0604030504040204" pitchFamily="50" charset="-128"/>
              <a:cs typeface="メイリオ"/>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04</a:t>
            </a:r>
            <a:endParaRPr lang="en-US" sz="1300" dirty="0">
              <a:latin typeface="メイリオ" panose="020B0604030504040204" pitchFamily="50" charset="-128"/>
              <a:ea typeface="メイリオ" panose="020B0604030504040204" pitchFamily="50" charset="-128"/>
              <a:cs typeface="メイリオ"/>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セグメント設定</a:t>
            </a:r>
            <a:endParaRPr lang="en-US" sz="1300" dirty="0">
              <a:latin typeface="メイリオ" panose="020B0604030504040204" pitchFamily="50" charset="-128"/>
              <a:ea typeface="メイリオ" panose="020B0604030504040204" pitchFamily="50" charset="-128"/>
              <a:cs typeface="メイリオ"/>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endParaRPr lang="en-US" sz="1000" dirty="0">
              <a:latin typeface="メイリオ" panose="020B0604030504040204" pitchFamily="50" charset="-128"/>
              <a:ea typeface="メイリオ" panose="020B0604030504040204" pitchFamily="50" charset="-128"/>
              <a:cs typeface="メイリオ"/>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a:latin typeface="メイリオ" panose="020B0604030504040204" pitchFamily="50" charset="-128"/>
                <a:ea typeface="メイリオ" panose="020B0604030504040204" pitchFamily="50" charset="-128"/>
                <a:cs typeface="メイリオ"/>
              </a:rPr>
              <a:t>WEB</a:t>
            </a:r>
            <a:r>
              <a:rPr lang="ja-JP" altLang="en-US" sz="1000" dirty="0">
                <a:latin typeface="メイリオ" panose="020B0604030504040204" pitchFamily="50" charset="-128"/>
                <a:ea typeface="メイリオ" panose="020B0604030504040204" pitchFamily="50" charset="-128"/>
                <a:cs typeface="メイリオ"/>
              </a:rPr>
              <a:t>サイトアクション、</a:t>
            </a:r>
            <a:r>
              <a:rPr lang="en-US" altLang="ja-JP" sz="1000" dirty="0">
                <a:latin typeface="メイリオ" panose="020B0604030504040204" pitchFamily="50" charset="-128"/>
                <a:ea typeface="メイリオ" panose="020B0604030504040204" pitchFamily="50" charset="-128"/>
                <a:cs typeface="メイリオ"/>
              </a:rPr>
              <a:t>LINE</a:t>
            </a:r>
            <a:r>
              <a:rPr lang="ja-JP" altLang="en-US" sz="1000" dirty="0">
                <a:latin typeface="メイリオ" panose="020B0604030504040204" pitchFamily="50" charset="-128"/>
                <a:ea typeface="メイリオ" panose="020B0604030504040204" pitchFamily="50" charset="-128"/>
                <a:cs typeface="メイリオ"/>
              </a:rPr>
              <a:t>上アクションのスコアリング 等を活用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sz="1300" dirty="0">
              <a:latin typeface="メイリオ" panose="020B0604030504040204" pitchFamily="50" charset="-128"/>
              <a:ea typeface="メイリオ" panose="020B0604030504040204" pitchFamily="50" charset="-128"/>
              <a:cs typeface="メイリオ"/>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06</a:t>
            </a:r>
            <a:endParaRPr lang="en-US" sz="1300" dirty="0">
              <a:latin typeface="メイリオ" panose="020B0604030504040204" pitchFamily="50" charset="-128"/>
              <a:ea typeface="メイリオ" panose="020B0604030504040204" pitchFamily="50" charset="-128"/>
              <a:cs typeface="メイリオ"/>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季節・時期ごとの企画配信</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繁忙期に連動</a:t>
            </a:r>
            <a:r>
              <a:rPr lang="ja-JP" altLang="en-US" sz="1000" dirty="0">
                <a:solidFill>
                  <a:srgbClr val="64748B"/>
                </a:solidFill>
                <a:latin typeface="メイリオ" panose="020B0604030504040204" pitchFamily="50" charset="-128"/>
                <a:ea typeface="メイリオ" panose="020B0604030504040204" pitchFamily="50" charset="-128"/>
                <a:cs typeface="メイリオ" pitchFamily="34" charset="-120"/>
              </a:rPr>
              <a:t>・各ユーザー層をターゲットと</a:t>
            </a:r>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したキャンペーン案</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07</a:t>
            </a:r>
            <a:endParaRPr lang="en-US" sz="1300" dirty="0">
              <a:latin typeface="メイリオ" panose="020B0604030504040204" pitchFamily="50" charset="-128"/>
              <a:ea typeface="メイリオ" panose="020B0604030504040204" pitchFamily="50" charset="-128"/>
              <a:cs typeface="メイリオ"/>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各種設定の更新・改善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000" dirty="0">
                <a:latin typeface="メイリオ" panose="020B0604030504040204" pitchFamily="50" charset="-128"/>
                <a:ea typeface="メイリオ" panose="020B0604030504040204" pitchFamily="50" charset="-128"/>
                <a:cs typeface="メイリオ"/>
              </a:rPr>
              <a:t>あいさつメッセージ、リッチメニュー、</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の改修（</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は別途費用）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初期費用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月額費用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2F2F2"/>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altLang="ja-JP" sz="1400" dirty="0">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cs typeface="メイリオ"/>
              </a:rPr>
              <a:t>～　　　 の修正・調整も</a:t>
            </a:r>
            <a:endParaRPr lang="en-US" altLang="ja-JP" sz="1400" b="1" dirty="0">
              <a:latin typeface="メイリオ" panose="020B0604030504040204" pitchFamily="50" charset="-128"/>
              <a:ea typeface="メイリオ" panose="020B0604030504040204" pitchFamily="50" charset="-128"/>
              <a:cs typeface="メイリオ"/>
            </a:endParaRPr>
          </a:p>
          <a:p>
            <a:endParaRPr kumimoji="1" lang="en-US" altLang="ja-JP" sz="1400" b="1" dirty="0">
              <a:latin typeface="メイリオ" panose="020B0604030504040204" pitchFamily="50" charset="-128"/>
              <a:ea typeface="メイリオ" panose="020B0604030504040204" pitchFamily="50" charset="-128"/>
              <a:cs typeface="メイリオ"/>
            </a:endParaRPr>
          </a:p>
          <a:p>
            <a:r>
              <a:rPr lang="ja-JP" altLang="en-US" sz="1400" b="1" dirty="0">
                <a:latin typeface="メイリオ" panose="020B0604030504040204" pitchFamily="50" charset="-128"/>
                <a:ea typeface="メイリオ" panose="020B0604030504040204" pitchFamily="50" charset="-128"/>
                <a:cs typeface="メイリオ"/>
              </a:rPr>
              <a:t>月次対応内に含んでおります。</a:t>
            </a:r>
            <a:endParaRPr kumimoji="1" lang="en-US" altLang="ja-JP" sz="1400"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3693530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料金プラン：3つのプランの費用</a:t>
            </a:r>
            <a:endParaRPr lang="en-US" sz="1600" b="0" u="none" strike="noStrike">
              <a:solidFill>
                <a:srgbClr val="000000"/>
              </a:solidFill>
              <a:effectLst/>
              <a:uFillTx/>
              <a:latin typeface="メイリオ"/>
              <a:ea typeface="メイリオ"/>
              <a:cs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cs typeface="メイリオ"/>
              </a:rPr>
              <a:t>料金プランの比較</a:t>
            </a:r>
            <a:endParaRPr lang="en-US" sz="1400" b="0" u="none" strike="noStrike" dirty="0">
              <a:solidFill>
                <a:srgbClr val="FFFFFF"/>
              </a:solidFill>
              <a:effectLst/>
              <a:uFillTx/>
              <a:latin typeface="メイリオ"/>
              <a:ea typeface="メイリオ"/>
              <a:cs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ご予算と運用の体制に合わせて、3つのプランをご用意</a:t>
            </a:r>
            <a:endParaRPr lang="en-US" sz="1600" b="0" u="none" strike="noStrike" dirty="0">
              <a:solidFill>
                <a:srgbClr val="000000"/>
              </a:solidFill>
              <a:effectLst/>
              <a:uFillTx/>
              <a:latin typeface="メイリオ"/>
              <a:ea typeface="メイリオ"/>
              <a:cs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2012307853"/>
              </p:ext>
            </p:extLst>
          </p:nvPr>
        </p:nvGraphicFramePr>
        <p:xfrm>
          <a:off x="384048" y="1353312"/>
          <a:ext cx="9144000" cy="3840480"/>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400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通年の運用・改善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初期費用</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295,000円〜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295,000円〜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295,000円〜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（平常期）</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50,000〜100,000円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300,000円程度</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月額ツール・LINE関連費</a:t>
                      </a:r>
                      <a:endParaRPr lang="ja-JP" altLang="en-US" sz="1400" dirty="0">
                        <a:latin typeface="メイリオ"/>
                        <a:ea typeface="メイリオ"/>
                        <a:cs typeface="メイリオ"/>
                      </a:endParaRPr>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65,000円〜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65,000円〜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65,000円〜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（平常期）</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65,000円〜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115,000〜165,000円</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265,000円〜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5"/>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65,000円〜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365,000円程度</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365,000円〜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6"/>
                  </a:ext>
                </a:extLst>
              </a:tr>
            </a:tbl>
          </a:graphicData>
        </a:graphic>
      </p:graphicFrame>
      <p:sp>
        <p:nvSpPr>
          <p:cNvPr id="640" name="注記"/>
          <p:cNvSpPr/>
          <p:nvPr/>
        </p:nvSpPr>
        <p:spPr>
          <a:xfrm>
            <a:off x="384048" y="53035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※初期費用＝運用設計・構築 100,000円〜＋ポップアップツール 15,000円＋サンクスLINE誘導 150,000円＋LINE公式アカウント開設 30,000円</a:t>
            </a:r>
            <a:endParaRPr lang="ja-JP" altLang="en-US" sz="1200" dirty="0">
              <a:latin typeface="メイリオ"/>
              <a:ea typeface="メイリオ"/>
              <a:cs typeface="メイリオ"/>
            </a:endParaRPr>
          </a:p>
        </p:txBody>
      </p:sp>
      <p:sp>
        <p:nvSpPr>
          <p:cNvPr id="641" name="注記"/>
          <p:cNvSpPr/>
          <p:nvPr/>
        </p:nvSpPr>
        <p:spPr>
          <a:xfrm>
            <a:off x="384048" y="55321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※月額ツール・LINE関連費＝ポップアップツール 30,000円＋サンクスLINE誘導 30,000円〜＋LINE公式アカウント利用料 5,000円〜</a:t>
            </a:r>
            <a:endParaRPr lang="ja-JP" altLang="en-US" sz="1200" dirty="0">
              <a:latin typeface="メイリオ"/>
              <a:ea typeface="メイリオ"/>
              <a:cs typeface="メイリオ"/>
            </a:endParaRPr>
          </a:p>
        </p:txBody>
      </p:sp>
      <p:sp>
        <p:nvSpPr>
          <p:cNvPr id="642" name="注記"/>
          <p:cNvSpPr/>
          <p:nvPr/>
        </p:nvSpPr>
        <p:spPr>
          <a:xfrm>
            <a:off x="384048" y="57607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※成果報酬型プラン：初期 295,000円〜／月額 65,000円＋成果報酬（セミナー予約 12,000円／件）</a:t>
            </a:r>
            <a:endParaRPr lang="ja-JP" altLang="en-US" sz="1200" dirty="0">
              <a:latin typeface="メイリオ"/>
              <a:ea typeface="メイリオ"/>
              <a:cs typeface="メイリオ"/>
            </a:endParaRPr>
          </a:p>
        </p:txBody>
      </p:sp>
      <p:sp>
        <p:nvSpPr>
          <p:cNvPr id="643" name="注記"/>
          <p:cNvSpPr/>
          <p:nvPr/>
        </p:nvSpPr>
        <p:spPr>
          <a:xfrm>
            <a:off x="384048" y="59893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※契約期間は6か月〜。広告費は含まない。概算お見積りのページはプラン②の場合（平常期の月額コンサルティング費は100,000円で計算）</a:t>
            </a:r>
            <a:endParaRPr lang="ja-JP" altLang="en-US" sz="1200" dirty="0">
              <a:latin typeface="メイリオ"/>
              <a:ea typeface="メイリオ"/>
              <a:cs typeface="メイリオ"/>
            </a:endParaRPr>
          </a:p>
        </p:txBody>
      </p:sp>
      <p:sp>
        <p:nvSpPr>
          <p:cNvPr id="644" name="注記"/>
          <p:cNvSpPr/>
          <p:nvPr/>
        </p:nvSpPr>
        <p:spPr>
          <a:xfrm>
            <a:off x="384048" y="62179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※施策内容・配信本数・連携範囲等により、費用は個別にお見積もりいたします。</a:t>
            </a:r>
            <a:endParaRPr lang="ja-JP" altLang="en-US" sz="1200" dirty="0">
              <a:latin typeface="メイリオ"/>
              <a:ea typeface="メイリオ"/>
              <a:cs typeface="メイリオ"/>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運用内容：プランごとの対応範囲</a:t>
            </a:r>
            <a:endParaRPr lang="en-US" sz="1600" b="0" u="none" strike="noStrike">
              <a:solidFill>
                <a:srgbClr val="000000"/>
              </a:solidFill>
              <a:effectLst/>
              <a:uFillTx/>
              <a:latin typeface="メイリオ"/>
              <a:ea typeface="メイリオ"/>
              <a:cs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運用内容の比較</a:t>
            </a:r>
            <a:endParaRPr lang="en-US" sz="1400" b="0" u="none" strike="noStrike">
              <a:solidFill>
                <a:srgbClr val="FFFFFF"/>
              </a:solidFill>
              <a:effectLst/>
              <a:uFillTx/>
              <a:latin typeface="メイリオ"/>
              <a:ea typeface="メイリオ"/>
              <a:cs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3つのプランの運用内容の比較</a:t>
            </a:r>
            <a:endParaRPr lang="en-US" sz="1600" b="0" u="none" strike="noStrike" dirty="0">
              <a:solidFill>
                <a:srgbClr val="000000"/>
              </a:solidFill>
              <a:effectLst/>
              <a:uFillTx/>
              <a:latin typeface="メイリオ"/>
              <a:ea typeface="メイリオ"/>
              <a:cs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2955272464"/>
              </p:ext>
            </p:extLst>
          </p:nvPr>
        </p:nvGraphicFramePr>
        <p:xfrm>
          <a:off x="384048" y="1353312"/>
          <a:ext cx="9144000" cy="3642969"/>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通年の運用・改善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ポップアップツール・</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サンクスLINE誘導</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導入・運用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導入・運用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導入・運用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ステップ配信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企画配信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なし（貴社で運用）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月4〜5回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 月2回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 月3回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セミナー前日のお知らせ</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結果の分析・改善</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（月次レポート・定例会）</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dirty="0">
                          <a:latin typeface="メイリオ"/>
                          <a:ea typeface="メイリオ"/>
                          <a:cs typeface="メイリオ"/>
                        </a:rPr>
                        <a:t>対応</a:t>
                      </a:r>
                      <a:endParaRPr lang="en-US" altLang="ja-JP"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個別チャット</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cs typeface="メイリオ"/>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859443"/>
            <a:ext cx="627632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LINEOA</a:t>
            </a:r>
            <a:r>
              <a:rPr lang="ja-JP" altLang="en-US" sz="1600" b="1" dirty="0">
                <a:latin typeface="メイリオ" panose="020B0604030504040204" pitchFamily="50" charset="-128"/>
                <a:ea typeface="メイリオ" panose="020B0604030504040204" pitchFamily="50" charset="-128"/>
                <a:cs typeface="メイリオ"/>
                <a:sym typeface="Meiryo"/>
              </a:rPr>
              <a:t>の運用業務・</a:t>
            </a:r>
            <a:r>
              <a:rPr lang="en-US" altLang="ja-JP" sz="1600" b="1" dirty="0">
                <a:latin typeface="メイリオ" panose="020B0604030504040204" pitchFamily="50" charset="-128"/>
                <a:ea typeface="メイリオ" panose="020B0604030504040204" pitchFamily="50" charset="-128"/>
                <a:cs typeface="メイリオ"/>
                <a:sym typeface="Meiryo"/>
              </a:rPr>
              <a:t>CR</a:t>
            </a:r>
            <a:r>
              <a:rPr lang="ja-JP" altLang="en-US" sz="1600" b="1" dirty="0">
                <a:latin typeface="メイリオ" panose="020B0604030504040204" pitchFamily="50" charset="-128"/>
                <a:ea typeface="メイリオ" panose="020B0604030504040204" pitchFamily="50" charset="-128"/>
                <a:cs typeface="メイリオ"/>
                <a:sym typeface="Meiryo"/>
              </a:rPr>
              <a:t>制作業務を一部外出ししてご依頼依頼も。</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追加作業における費用感　</a:t>
            </a:r>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&gt;</a:t>
            </a:r>
            <a:endParaRPr lang="ja-JP" altLang="en-US" sz="1050" dirty="0">
              <a:solidFill>
                <a:schemeClr val="tx1">
                  <a:lumMod val="65000"/>
                  <a:lumOff val="35000"/>
                </a:schemeClr>
              </a:solidFill>
              <a:latin typeface="メイリオ"/>
              <a:ea typeface="メイリオ"/>
              <a:cs typeface="メイリオ"/>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¥200,000~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チャット対応</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 </a:t>
                      </a:r>
                      <a:r>
                        <a:rPr lang="en-US" altLang="ja-JP"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サポートは可能</a:t>
                      </a:r>
                      <a:endParaRPr lang="ja-JP" altLang="en-US" sz="1100" b="0" i="0" u="none" strike="noStrike" dirty="0">
                        <a:solidFill>
                          <a:srgbClr val="1F2A5C"/>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1F2A5C"/>
                </a:solidFill>
                <a:latin typeface="メイリオ" panose="020B0604030504040204" pitchFamily="50" charset="-128"/>
                <a:ea typeface="メイリオ" panose="020B0604030504040204" pitchFamily="50" charset="-128"/>
                <a:cs typeface="メイリオ"/>
                <a:sym typeface="Meiryo"/>
              </a:rPr>
              <a:t>貴社リソースの状況に応じて都度発注でのご依頼も各単価で受けさせていただきます。</a:t>
            </a:r>
            <a:endParaRPr lang="ja-JP" altLang="en-US" sz="1400" dirty="0">
              <a:latin typeface="メイリオ"/>
              <a:ea typeface="メイリオ"/>
              <a:cs typeface="メイリオ"/>
            </a:endParaRPr>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880881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3629572"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サポート体制</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cs typeface="メイリオ"/>
              </a:rPr>
              <a:t>WEB</a:t>
            </a:r>
            <a:r>
              <a:rPr lang="ja-JP" altLang="en-US" sz="2400" dirty="0">
                <a:solidFill>
                  <a:schemeClr val="bg1"/>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cs typeface="メイリオ"/>
              </a:rPr>
              <a:t>☑</a:t>
            </a:r>
            <a:endParaRPr lang="ja-JP" altLang="en-US" sz="3600" dirty="0">
              <a:latin typeface="メイリオ"/>
              <a:ea typeface="メイリオ"/>
              <a:cs typeface="メイリオ"/>
            </a:endParaRPr>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cs typeface="メイリオ"/>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1400" dirty="0">
                <a:solidFill>
                  <a:schemeClr val="bg1"/>
                </a:solidFill>
                <a:latin typeface="メイリオ" panose="020B0604030504040204" pitchFamily="50" charset="-128"/>
                <a:ea typeface="メイリオ" panose="020B0604030504040204" pitchFamily="50" charset="-128"/>
                <a:cs typeface="メイリオ"/>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cs typeface="メイリオ"/>
              </a:rPr>
              <a:t>効果計測</a:t>
            </a:r>
            <a:endParaRPr kumimoji="1" lang="ja-JP" altLang="en-US" sz="1100" dirty="0">
              <a:latin typeface="メイリオ" panose="020B0604030504040204" pitchFamily="50" charset="-128"/>
              <a:ea typeface="メイリオ" panose="020B0604030504040204" pitchFamily="50" charset="-128"/>
              <a:cs typeface="メイリオ"/>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ツールなし</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kumimoji="1" lang="ja-JP" altLang="en-US" sz="1200" b="1" dirty="0">
                <a:latin typeface="メイリオ" panose="020B0604030504040204" pitchFamily="50" charset="-128"/>
                <a:ea typeface="メイリオ" panose="020B0604030504040204" pitchFamily="50" charset="-128"/>
                <a:cs typeface="メイリオ"/>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cs typeface="メイリオ"/>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ツール有無</a:t>
            </a:r>
            <a:endParaRPr lang="en-US" altLang="ja-JP" sz="1200" b="1" dirty="0">
              <a:latin typeface="メイリオ" panose="020B0604030504040204" pitchFamily="50" charset="-128"/>
              <a:ea typeface="メイリオ" panose="020B0604030504040204" pitchFamily="50" charset="-128"/>
              <a:cs typeface="メイリオ"/>
            </a:endParaRPr>
          </a:p>
          <a:p>
            <a:pPr algn="ctr"/>
            <a:r>
              <a:rPr kumimoji="1" lang="ja-JP" altLang="en-US" sz="1200" b="1" dirty="0">
                <a:latin typeface="メイリオ" panose="020B0604030504040204" pitchFamily="50" charset="-128"/>
                <a:ea typeface="メイリオ" panose="020B0604030504040204" pitchFamily="50" charset="-128"/>
                <a:cs typeface="メイリオ"/>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cs typeface="メイリオ"/>
              </a:rPr>
              <a:t>定期投稿、シナリオ、リッチメニュー等に設定の</a:t>
            </a:r>
            <a:endParaRPr lang="en-US" altLang="ja-JP" sz="1400" dirty="0">
              <a:latin typeface="メイリオ" panose="020B0604030504040204" pitchFamily="50" charset="-128"/>
              <a:ea typeface="メイリオ" panose="020B0604030504040204" pitchFamily="50" charset="-128"/>
              <a:cs typeface="メイリオ"/>
            </a:endParaRPr>
          </a:p>
          <a:p>
            <a:r>
              <a:rPr lang="ja-JP" altLang="en-US" sz="1400" dirty="0">
                <a:latin typeface="メイリオ" panose="020B0604030504040204" pitchFamily="50" charset="-128"/>
                <a:ea typeface="メイリオ" panose="020B0604030504040204" pitchFamily="50" charset="-128"/>
                <a:cs typeface="メイリオ"/>
              </a:rPr>
              <a:t>リンクについて、</a:t>
            </a:r>
            <a:r>
              <a:rPr lang="en-US" altLang="ja-JP" sz="1400" dirty="0">
                <a:solidFill>
                  <a:srgbClr val="1F2A5C"/>
                </a:solidFill>
                <a:latin typeface="メイリオ" panose="020B0604030504040204" pitchFamily="50" charset="-128"/>
                <a:ea typeface="メイリオ" panose="020B0604030504040204" pitchFamily="50" charset="-128"/>
                <a:cs typeface="メイリオ"/>
              </a:rPr>
              <a:t>GA</a:t>
            </a:r>
            <a:r>
              <a:rPr lang="ja-JP" altLang="en-US" sz="1400" dirty="0" err="1">
                <a:solidFill>
                  <a:srgbClr val="1F2A5C"/>
                </a:solidFill>
                <a:latin typeface="メイリオ" panose="020B0604030504040204" pitchFamily="50" charset="-128"/>
                <a:ea typeface="メイリオ" panose="020B0604030504040204" pitchFamily="50" charset="-128"/>
                <a:cs typeface="メイリオ"/>
              </a:rPr>
              <a:t>、</a:t>
            </a:r>
            <a:r>
              <a:rPr lang="en-US" altLang="ja-JP" sz="1400" dirty="0">
                <a:solidFill>
                  <a:srgbClr val="1F2A5C"/>
                </a:solidFill>
                <a:latin typeface="メイリオ" panose="020B0604030504040204" pitchFamily="50" charset="-128"/>
                <a:ea typeface="メイリオ" panose="020B0604030504040204" pitchFamily="50" charset="-128"/>
                <a:cs typeface="メイリオ"/>
              </a:rPr>
              <a:t>MA</a:t>
            </a:r>
            <a:r>
              <a:rPr lang="ja-JP" altLang="en-US" sz="1400" dirty="0">
                <a:solidFill>
                  <a:srgbClr val="1F2A5C"/>
                </a:solidFill>
                <a:latin typeface="メイリオ" panose="020B0604030504040204" pitchFamily="50" charset="-128"/>
                <a:ea typeface="メイリオ" panose="020B0604030504040204" pitchFamily="50" charset="-128"/>
                <a:cs typeface="メイリオ"/>
              </a:rPr>
              <a:t>ツールでの計測可能</a:t>
            </a:r>
            <a:r>
              <a:rPr lang="ja-JP" altLang="en-US" sz="1400" dirty="0">
                <a:latin typeface="メイリオ" panose="020B0604030504040204" pitchFamily="50" charset="-128"/>
                <a:ea typeface="メイリオ" panose="020B0604030504040204" pitchFamily="50" charset="-128"/>
                <a:cs typeface="メイリオ"/>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cs typeface="メイリオ"/>
              </a:rPr>
              <a:t>DYM</a:t>
            </a:r>
            <a:endParaRPr lang="ja-JP" altLang="en-US" dirty="0">
              <a:latin typeface="メイリオ" panose="020B0604030504040204" pitchFamily="50" charset="-128"/>
              <a:ea typeface="メイリオ" panose="020B0604030504040204" pitchFamily="50" charset="-128"/>
              <a:cs typeface="メイリオ"/>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レポート（日次）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kumimoji="1"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レポート（月次）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cs typeface="メイリオ"/>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cs typeface="メイリオ"/>
            </a:endParaRPr>
          </a:p>
          <a:p>
            <a:pPr algn="ctr"/>
            <a:r>
              <a:rPr lang="ja-JP" altLang="en-US" sz="1400" dirty="0">
                <a:latin typeface="メイリオ" panose="020B0604030504040204" pitchFamily="50" charset="-128"/>
                <a:ea typeface="メイリオ" panose="020B0604030504040204" pitchFamily="50" charset="-128"/>
                <a:cs typeface="メイリオ"/>
              </a:rPr>
              <a:t>投稿別</a:t>
            </a:r>
            <a:r>
              <a:rPr lang="en-US" altLang="ja-JP" sz="1400" dirty="0">
                <a:latin typeface="メイリオ" panose="020B0604030504040204" pitchFamily="50" charset="-128"/>
                <a:ea typeface="メイリオ" panose="020B0604030504040204" pitchFamily="50" charset="-128"/>
                <a:cs typeface="メイリオ"/>
              </a:rPr>
              <a:t>×</a:t>
            </a:r>
            <a:r>
              <a:rPr lang="ja-JP" altLang="en-US" sz="1400" dirty="0">
                <a:latin typeface="メイリオ" panose="020B0604030504040204" pitchFamily="50" charset="-128"/>
                <a:ea typeface="メイリオ" panose="020B0604030504040204" pitchFamily="50" charset="-128"/>
                <a:cs typeface="メイリオ"/>
              </a:rPr>
              <a:t>セグメント別でデータ化でき、</a:t>
            </a:r>
            <a:r>
              <a:rPr lang="en-US" altLang="ja-JP" sz="1400" dirty="0">
                <a:latin typeface="メイリオ" panose="020B0604030504040204" pitchFamily="50" charset="-128"/>
                <a:ea typeface="メイリオ" panose="020B0604030504040204" pitchFamily="50" charset="-128"/>
                <a:cs typeface="メイリオ"/>
              </a:rPr>
              <a:t>AB</a:t>
            </a:r>
            <a:r>
              <a:rPr lang="ja-JP" altLang="en-US" sz="1400" dirty="0">
                <a:latin typeface="メイリオ" panose="020B0604030504040204" pitchFamily="50" charset="-128"/>
                <a:ea typeface="メイリオ" panose="020B0604030504040204" pitchFamily="50" charset="-128"/>
                <a:cs typeface="メイリオ"/>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弊社体制図</a:t>
            </a:r>
            <a:endParaRPr kumimoji="1" lang="ja-JP" altLang="en-US" sz="1600" b="1" dirty="0">
              <a:latin typeface="メイリオ" panose="020B0604030504040204" pitchFamily="50" charset="-128"/>
              <a:ea typeface="メイリオ" panose="020B0604030504040204" pitchFamily="50" charset="-128"/>
              <a:cs typeface="メイリオ"/>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メイリオ"/>
                <a:ea typeface="メイリオ"/>
                <a:cs typeface="メイリオ"/>
                <a:sym typeface="Meiryo"/>
              </a:rPr>
              <a:t>GA</a:t>
            </a:r>
            <a:r>
              <a:rPr lang="ja-JP" altLang="en-US" sz="1600" b="1" dirty="0">
                <a:solidFill>
                  <a:schemeClr val="tx1">
                    <a:lumMod val="65000"/>
                    <a:lumOff val="35000"/>
                  </a:schemeClr>
                </a:solidFill>
                <a:latin typeface="メイリオ"/>
                <a:ea typeface="メイリオ"/>
                <a:cs typeface="メイリオ"/>
                <a:sym typeface="Meiryo"/>
              </a:rPr>
              <a:t>及び</a:t>
            </a:r>
            <a:r>
              <a:rPr lang="en-US" altLang="ja-JP" sz="1600" b="1" dirty="0">
                <a:solidFill>
                  <a:schemeClr val="tx1">
                    <a:lumMod val="65000"/>
                    <a:lumOff val="35000"/>
                  </a:schemeClr>
                </a:solidFill>
                <a:latin typeface="メイリオ"/>
                <a:ea typeface="メイリオ"/>
                <a:cs typeface="メイリオ"/>
                <a:sym typeface="Meiryo"/>
              </a:rPr>
              <a:t>MA</a:t>
            </a:r>
            <a:r>
              <a:rPr lang="ja-JP" altLang="en-US" sz="1600" b="1" dirty="0">
                <a:solidFill>
                  <a:schemeClr val="tx1">
                    <a:lumMod val="65000"/>
                    <a:lumOff val="35000"/>
                  </a:schemeClr>
                </a:solidFill>
                <a:latin typeface="メイリオ"/>
                <a:ea typeface="メイリオ"/>
                <a:cs typeface="メイリオ"/>
                <a:sym typeface="Meiryo"/>
              </a:rPr>
              <a:t>ツール両面での計測ができるようパラメータ管理。</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公式アカウントの管理画面には出ない、サイト上の結果を紐づけ。</a:t>
            </a:r>
            <a:endParaRPr sz="1600" b="1" dirty="0">
              <a:solidFill>
                <a:schemeClr val="tx1">
                  <a:lumMod val="65000"/>
                  <a:lumOff val="35000"/>
                </a:schemeClr>
              </a:solidFill>
              <a:latin typeface="メイリオ"/>
              <a:ea typeface="メイリオ"/>
              <a:cs typeface="メイリオ"/>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体制図（イメージ）</a:t>
            </a:r>
            <a:endParaRPr sz="1600" b="1" dirty="0">
              <a:solidFill>
                <a:srgbClr val="002060"/>
              </a:solidFill>
              <a:latin typeface="メイリオ"/>
              <a:ea typeface="メイリオ"/>
              <a:cs typeface="メイリオ"/>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リス・</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SNS運用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入稿作業</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運用サポート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cs typeface="メイリオ"/>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制作</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1F2A5C"/>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LINEOA運用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広告運用統括・コンサル</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　</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latin typeface="メイリオ"/>
              <a:ea typeface="メイリオ"/>
              <a:cs typeface="メイリオ"/>
            </a:endParaRPr>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35440024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運用スケジュール</a:t>
            </a:r>
            <a:endParaRPr sz="1600" b="1" dirty="0">
              <a:solidFill>
                <a:srgbClr val="002060"/>
              </a:solidFill>
              <a:latin typeface="メイリオ"/>
              <a:ea typeface="メイリオ"/>
              <a:cs typeface="メイリオ"/>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連携の設定 </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 </a:t>
            </a: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cs typeface="メイリオ"/>
              </a:rPr>
              <a:t>サイト・LINEへの実装は、初期設計が整い次第、順次進行</a:t>
            </a:r>
            <a:endParaRPr lang="ja-JP" altLang="en-US" sz="2400" dirty="0">
              <a:latin typeface="メイリオ"/>
              <a:ea typeface="メイリオ"/>
              <a:cs typeface="メイリオ"/>
            </a:endParaRPr>
          </a:p>
        </p:txBody>
      </p:sp>
      <p:sp>
        <p:nvSpPr>
          <p:cNvPr id="20" name="正方形/長方形 19"/>
          <p:cNvSpPr/>
          <p:nvPr/>
        </p:nvSpPr>
        <p:spPr>
          <a:xfrm>
            <a:off x="4708989" y="5841409"/>
            <a:ext cx="495520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貴社作業・確認にかかる時間により前後する可能性がございます。</a:t>
            </a:r>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Tree>
    <p:extLst>
      <p:ext uri="{BB962C8B-B14F-4D97-AF65-F5344CB8AC3E}">
        <p14:creationId xmlns:p14="http://schemas.microsoft.com/office/powerpoint/2010/main" val="21214348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1460711" y="3038203"/>
            <a:ext cx="6984604"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公式アカウント運用のメリット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095433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なぜLINEか</a:t>
            </a:r>
          </a:p>
        </p:txBody>
      </p:sp>
      <p:sp>
        <p:nvSpPr>
          <p:cNvPr id="3" name="正方形/長方形 8"/>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LINE公式アカウント</a:t>
            </a:r>
          </a:p>
        </p:txBody>
      </p:sp>
      <p:sp>
        <p:nvSpPr>
          <p:cNvPr id="4" name="Google Shape;752;p28"/>
          <p:cNvSpPr txBox="1"/>
          <p:nvPr/>
        </p:nvSpPr>
        <p:spPr>
          <a:xfrm>
            <a:off x="2286000" y="859536"/>
            <a:ext cx="7406640" cy="338328"/>
          </a:xfrm>
          <a:prstGeom prst="rect">
            <a:avLst/>
          </a:prstGeom>
          <a:noFill/>
          <a:ln>
            <a:noFill/>
          </a:ln>
        </p:spPr>
        <p:txBody>
          <a:bodyPr spcFirstLastPara="1" wrap="square" lIns="91425" tIns="45700" rIns="91425" bIns="45700" anchor="ctr" anchorCtr="0">
            <a:spAutoFit/>
          </a:bodyPr>
          <a:lstStyle/>
          <a:p>
            <a:r>
              <a:rPr lang="en-US" altLang="ja-JP" sz="1600" b="1" dirty="0" err="1">
                <a:latin typeface="メイリオ" panose="020B0604030504040204" pitchFamily="50" charset="-128"/>
                <a:ea typeface="メイリオ" panose="020B0604030504040204" pitchFamily="50" charset="-128"/>
                <a:cs typeface="メイリオ"/>
                <a:sym typeface="Meiryo"/>
              </a:rPr>
              <a:t>LINEは積み上がる</a:t>
            </a:r>
            <a:r>
              <a:rPr lang="ja-JP" altLang="en-US" sz="1600" b="1" dirty="0">
                <a:latin typeface="メイリオ" panose="020B0604030504040204" pitchFamily="50" charset="-128"/>
                <a:ea typeface="メイリオ" panose="020B0604030504040204" pitchFamily="50" charset="-128"/>
                <a:cs typeface="メイリオ"/>
                <a:sym typeface="Meiryo"/>
              </a:rPr>
              <a:t>・追い続けられる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graphicFrame>
        <p:nvGraphicFramePr>
          <p:cNvPr id="5" name="広告とLINE 4"/>
          <p:cNvGraphicFramePr>
            <a:graphicFrameLocks noGrp="1"/>
          </p:cNvGraphicFramePr>
          <p:nvPr/>
        </p:nvGraphicFramePr>
        <p:xfrm>
          <a:off x="502920" y="2110892"/>
          <a:ext cx="8897112" cy="2057400"/>
        </p:xfrm>
        <a:graphic>
          <a:graphicData uri="http://schemas.openxmlformats.org/drawingml/2006/table">
            <a:tbl>
              <a:tblPr/>
              <a:tblGrid>
                <a:gridCol w="182880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959352">
                  <a:extLst>
                    <a:ext uri="{9D8B030D-6E8A-4147-A177-3AD203B41FA5}">
                      <a16:colId xmlns:a16="http://schemas.microsoft.com/office/drawing/2014/main" val="20002"/>
                    </a:ext>
                  </a:extLst>
                </a:gridCol>
              </a:tblGrid>
              <a:tr h="411480">
                <a:tc>
                  <a:txBody>
                    <a:bodyPr/>
                    <a:lstStyle/>
                    <a:p>
                      <a:pPr algn="ctr">
                        <a:buNone/>
                      </a:pP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広告</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LINE公式アカウント</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届く相手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毎回、新しく集める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一度友だちになった方に、何度でも届く</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届き方</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広告を見たときだけ</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通知で届き、見てもらいやすい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イベントの後</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つながりが切れる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友だちとして、毎月積み上がる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示唆"/>
          <p:cNvSpPr/>
          <p:nvPr/>
        </p:nvSpPr>
        <p:spPr>
          <a:xfrm>
            <a:off x="502920" y="4396892"/>
            <a:ext cx="8897112" cy="548640"/>
          </a:xfrm>
          <a:prstGeom prst="rect">
            <a:avLst/>
          </a:prstGeom>
          <a:solidFill>
            <a:srgbClr val="F2F2F2"/>
          </a:solidFill>
          <a:ln>
            <a:noFill/>
          </a:ln>
        </p:spPr>
        <p:txBody>
          <a:bodyPr wrap="square" lIns="73152" tIns="36576" rIns="73152" bIns="36576" rtlCol="0" anchor="ctr">
            <a:noAutofit/>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この仕組みが回れば、今後の広告費を抑えられる可能性もある</a:t>
            </a:r>
            <a:endParaRPr lang="ja-JP" altLang="en-US" sz="1200" dirty="0">
              <a:latin typeface="メイリオ"/>
              <a:ea typeface="メイリオ"/>
              <a:cs typeface="メイリオ"/>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離脱防止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友だち追加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で学習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の動線での</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DYM</a:t>
            </a:r>
            <a:r>
              <a:rPr lang="ja-JP" altLang="en-US" sz="1200" dirty="0">
                <a:solidFill>
                  <a:schemeClr val="bg1"/>
                </a:solidFill>
                <a:latin typeface="メイリオ" panose="020B0604030504040204" pitchFamily="50" charset="-128"/>
                <a:ea typeface="メイリオ" panose="020B0604030504040204" pitchFamily="50" charset="-128"/>
                <a:cs typeface="メイリオ"/>
              </a:rPr>
              <a:t>施策</a:t>
            </a:r>
            <a:endParaRPr lang="ja-JP" altLang="en-US" sz="1200" dirty="0">
              <a:solidFill>
                <a:schemeClr val="bg1"/>
              </a:solidFill>
              <a:latin typeface="メイリオ"/>
              <a:ea typeface="メイリオ"/>
              <a:cs typeface="メイリオ"/>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現状施策</a:t>
            </a:r>
            <a:endParaRPr lang="ja-JP" altLang="en-US" sz="1200" dirty="0">
              <a:solidFill>
                <a:schemeClr val="bg1"/>
              </a:solidFill>
              <a:latin typeface="メイリオ"/>
              <a:ea typeface="メイリオ"/>
              <a:cs typeface="メイリオ"/>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※ID</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ミニアプリ・診断 →</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 </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特典</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1000" dirty="0">
                <a:solidFill>
                  <a:schemeClr val="bg1"/>
                </a:solidFill>
                <a:latin typeface="メイリオ" panose="020B0604030504040204" pitchFamily="50" charset="-128"/>
                <a:ea typeface="メイリオ" panose="020B0604030504040204" pitchFamily="50" charset="-128"/>
                <a:cs typeface="メイリオ"/>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13000" y="2265395"/>
            <a:ext cx="1826395" cy="3929946"/>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 </a:t>
            </a:r>
            <a:r>
              <a:rPr kumimoji="1" lang="ja-JP" altLang="en-US" sz="1200" b="1" dirty="0">
                <a:latin typeface="メイリオ" panose="020B0604030504040204" pitchFamily="50" charset="-128"/>
                <a:ea typeface="メイリオ" panose="020B0604030504040204" pitchFamily="50" charset="-128"/>
                <a:cs typeface="メイリオ"/>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自社</a:t>
            </a:r>
            <a:r>
              <a:rPr kumimoji="1" lang="en-US" altLang="ja-JP" sz="1200" b="1" dirty="0">
                <a:latin typeface="メイリオ" panose="020B0604030504040204" pitchFamily="50" charset="-128"/>
                <a:ea typeface="メイリオ" panose="020B0604030504040204" pitchFamily="50" charset="-128"/>
                <a:cs typeface="メイリオ"/>
              </a:rPr>
              <a:t>App/</a:t>
            </a:r>
            <a:r>
              <a:rPr kumimoji="1" lang="ja-JP" altLang="en-US" sz="1200" b="1" dirty="0">
                <a:latin typeface="メイリオ" panose="020B0604030504040204" pitchFamily="50" charset="-128"/>
                <a:ea typeface="メイリオ" panose="020B0604030504040204" pitchFamily="50" charset="-128"/>
                <a:cs typeface="メイリオ"/>
              </a:rPr>
              <a:t>ネットワーク</a:t>
            </a:r>
            <a:endParaRPr kumimoji="1" lang="en-US" altLang="ja-JP" sz="1200" b="1" dirty="0">
              <a:latin typeface="メイリオ" panose="020B0604030504040204" pitchFamily="50" charset="-128"/>
              <a:ea typeface="メイリオ" panose="020B0604030504040204" pitchFamily="50" charset="-128"/>
              <a:cs typeface="メイリオ"/>
            </a:endParaRPr>
          </a:p>
          <a:p>
            <a:pPr algn="ctr"/>
            <a:r>
              <a:rPr lang="ja-JP" altLang="en-US" sz="1200" b="1" dirty="0">
                <a:latin typeface="メイリオ" panose="020B0604030504040204" pitchFamily="50" charset="-128"/>
                <a:ea typeface="メイリオ" panose="020B0604030504040204" pitchFamily="50" charset="-128"/>
                <a:cs typeface="メイリオ"/>
              </a:rPr>
              <a:t>（</a:t>
            </a:r>
            <a:r>
              <a:rPr lang="en-US" altLang="ja-JP" sz="1200" b="1" dirty="0">
                <a:latin typeface="メイリオ" panose="020B0604030504040204" pitchFamily="50" charset="-128"/>
                <a:ea typeface="メイリオ" panose="020B0604030504040204" pitchFamily="50" charset="-128"/>
                <a:cs typeface="メイリオ"/>
              </a:rPr>
              <a:t>ID</a:t>
            </a:r>
            <a:r>
              <a:rPr lang="ja-JP" altLang="en-US" sz="1200" b="1" dirty="0">
                <a:latin typeface="メイリオ" panose="020B0604030504040204" pitchFamily="50" charset="-128"/>
                <a:ea typeface="メイリオ" panose="020B0604030504040204" pitchFamily="50" charset="-128"/>
                <a:cs typeface="メイリオ"/>
              </a:rPr>
              <a:t>連携等の開発）</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cs typeface="メイリオ"/>
              </a:rPr>
              <a:t>LINE</a:t>
            </a:r>
            <a:r>
              <a:rPr lang="ja-JP" altLang="en-US" sz="1200" b="1" dirty="0">
                <a:latin typeface="メイリオ" panose="020B0604030504040204" pitchFamily="50" charset="-128"/>
                <a:ea typeface="メイリオ" panose="020B0604030504040204" pitchFamily="50" charset="-128"/>
                <a:cs typeface="メイリオ"/>
              </a:rPr>
              <a:t>でログイン</a:t>
            </a:r>
          </a:p>
        </p:txBody>
      </p:sp>
    </p:spTree>
    <p:extLst>
      <p:ext uri="{BB962C8B-B14F-4D97-AF65-F5344CB8AC3E}">
        <p14:creationId xmlns:p14="http://schemas.microsoft.com/office/powerpoint/2010/main" val="42651367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法人</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が</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増加傾向</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cs typeface="メイリオ"/>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cs typeface="メイリオ"/>
                </a:rPr>
                <a:t>　　　　</a:t>
              </a:r>
              <a:r>
                <a:rPr lang="en-US" sz="1400" dirty="0" err="1">
                  <a:solidFill>
                    <a:srgbClr val="040606"/>
                  </a:solidFill>
                  <a:latin typeface="メイリオ" panose="020B0604030504040204" pitchFamily="50" charset="-128"/>
                  <a:ea typeface="メイリオ" panose="020B0604030504040204" pitchFamily="50" charset="-128"/>
                  <a:cs typeface="メイリオ"/>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cs typeface="メイリオ"/>
                </a:rPr>
                <a:t>、</a:t>
              </a:r>
              <a:r>
                <a:rPr lang="ja-JP" altLang="en-US" sz="1400" dirty="0">
                  <a:solidFill>
                    <a:srgbClr val="040606"/>
                  </a:solidFill>
                  <a:latin typeface="メイリオ" panose="020B0604030504040204" pitchFamily="50" charset="-128"/>
                  <a:ea typeface="メイリオ" panose="020B0604030504040204" pitchFamily="50" charset="-128"/>
                  <a:cs typeface="メイリオ"/>
                </a:rPr>
                <a:t>テレマーケティング </a:t>
              </a:r>
              <a:r>
                <a:rPr lang="en-US" sz="1400" dirty="0" err="1">
                  <a:solidFill>
                    <a:srgbClr val="040606"/>
                  </a:solidFill>
                  <a:latin typeface="メイリオ" panose="020B0604030504040204" pitchFamily="50" charset="-128"/>
                  <a:ea typeface="メイリオ" panose="020B0604030504040204" pitchFamily="50" charset="-128"/>
                  <a:cs typeface="メイリオ"/>
                </a:rPr>
                <a:t>が主流</a:t>
              </a:r>
              <a:endParaRPr lang="en-US" sz="1400" dirty="0">
                <a:solidFill>
                  <a:srgbClr val="040606"/>
                </a:solidFill>
                <a:latin typeface="メイリオ" panose="020B0604030504040204" pitchFamily="50" charset="-128"/>
                <a:ea typeface="メイリオ" panose="020B0604030504040204" pitchFamily="50" charset="-128"/>
                <a:cs typeface="メイリオ"/>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b="1" dirty="0">
                  <a:solidFill>
                    <a:srgbClr val="00B900"/>
                  </a:solidFill>
                  <a:latin typeface="メイリオ" panose="020B0604030504040204" pitchFamily="50" charset="-128"/>
                  <a:ea typeface="メイリオ" panose="020B0604030504040204" pitchFamily="50" charset="-128"/>
                  <a:cs typeface="メイリオ"/>
                </a:rPr>
                <a:t>LINE</a:t>
              </a:r>
              <a:r>
                <a:rPr lang="ja-JP" altLang="en-US" sz="1400" b="1" dirty="0">
                  <a:solidFill>
                    <a:srgbClr val="00B900"/>
                  </a:solidFill>
                  <a:latin typeface="メイリオ" panose="020B0604030504040204" pitchFamily="50" charset="-128"/>
                  <a:ea typeface="メイリオ" panose="020B0604030504040204" pitchFamily="50" charset="-128"/>
                  <a:cs typeface="メイリオ"/>
                </a:rPr>
                <a:t>公式アカウント</a:t>
              </a:r>
              <a:r>
                <a:rPr 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dirty="0" err="1">
                  <a:solidFill>
                    <a:srgbClr val="00B900"/>
                  </a:solidFill>
                  <a:latin typeface="メイリオ" panose="020B0604030504040204" pitchFamily="50" charset="-128"/>
                  <a:ea typeface="メイリオ" panose="020B0604030504040204" pitchFamily="50" charset="-128"/>
                  <a:cs typeface="メイリオ"/>
                </a:rPr>
                <a:t>が主流</a:t>
              </a:r>
              <a:endParaRPr lang="en-US" sz="1400" dirty="0">
                <a:solidFill>
                  <a:srgbClr val="00B900"/>
                </a:solidFill>
                <a:latin typeface="メイリオ" panose="020B0604030504040204" pitchFamily="50" charset="-128"/>
                <a:ea typeface="メイリオ" panose="020B0604030504040204" pitchFamily="50" charset="-128"/>
                <a:cs typeface="メイリオ"/>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cs typeface="メイリオ"/>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latin typeface="メイリオ"/>
              <a:ea typeface="メイリオ"/>
              <a:cs typeface="メイリオ"/>
            </a:endParaRPr>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cs typeface="メイリオ"/>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今すぐ客」以外の</a:t>
            </a:r>
            <a:r>
              <a:rPr lang="ja-JP" altLang="en-US" sz="1400" dirty="0">
                <a:solidFill>
                  <a:srgbClr val="343434"/>
                </a:solidFill>
                <a:latin typeface="メイリオ" panose="020B0604030504040204" pitchFamily="50" charset="-128"/>
                <a:ea typeface="メイリオ" panose="020B0604030504040204" pitchFamily="50" charset="-128"/>
                <a:cs typeface="メイリオ"/>
              </a:rPr>
              <a:t>約</a:t>
            </a:r>
            <a:r>
              <a:rPr lang="en-US" altLang="ja-JP" sz="1400" dirty="0">
                <a:solidFill>
                  <a:srgbClr val="343434"/>
                </a:solidFill>
                <a:latin typeface="メイリオ" panose="020B0604030504040204" pitchFamily="50" charset="-128"/>
                <a:ea typeface="メイリオ" panose="020B0604030504040204" pitchFamily="50" charset="-128"/>
                <a:cs typeface="メイリオ"/>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結果として</a:t>
            </a:r>
            <a:r>
              <a:rPr lang="ja-JP" altLang="en-US" sz="1400" dirty="0" err="1">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げ</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cs typeface="メイリオ"/>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cs typeface="メイリオ"/>
              </a:rPr>
              <a:t>9-</a:t>
            </a:r>
            <a:r>
              <a:rPr lang="en-US" sz="1554" dirty="0">
                <a:solidFill>
                  <a:srgbClr val="494848"/>
                </a:solidFill>
                <a:latin typeface="メイリオ" panose="020B0604030504040204" pitchFamily="50" charset="-128"/>
                <a:ea typeface="メイリオ" panose="020B0604030504040204" pitchFamily="50" charset="-128"/>
                <a:cs typeface="メイリオ"/>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cs typeface="メイリオ"/>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en-US" sz="1200" b="1" dirty="0" err="1">
                <a:solidFill>
                  <a:srgbClr val="494848"/>
                </a:solidFill>
                <a:latin typeface="メイリオ" panose="020B0604030504040204" pitchFamily="50" charset="-128"/>
                <a:ea typeface="メイリオ" panose="020B0604030504040204" pitchFamily="50" charset="-128"/>
                <a:cs typeface="メイリオ"/>
              </a:rPr>
              <a:t>今すぐ</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cs typeface="メイリオ"/>
              </a:rPr>
              <a:t>のは</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リスクが大きい。</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cs typeface="メイリオ"/>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将来的な顧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客」教育をLINE</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上で構築し</a:t>
            </a:r>
            <a:r>
              <a:rPr lang="en-US" sz="1200" b="1" dirty="0">
                <a:solidFill>
                  <a:srgbClr val="494848"/>
                </a:solidFill>
                <a:latin typeface="メイリオ" panose="020B0604030504040204" pitchFamily="50" charset="-128"/>
                <a:ea typeface="メイリオ" panose="020B0604030504040204" pitchFamily="50" charset="-128"/>
                <a:cs typeface="メイリオ"/>
              </a:rPr>
              <a:t>行</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う。</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cs typeface="メイリオ"/>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メイリオ"/>
                <a:ea typeface="メイリオ"/>
                <a:cs typeface="メイリオ"/>
                <a:sym typeface="Meiryo"/>
              </a:rPr>
              <a:t>WEB</a:t>
            </a:r>
            <a:r>
              <a:rPr lang="ja-JP" altLang="en-US" sz="1400" dirty="0">
                <a:latin typeface="メイリオ"/>
                <a:ea typeface="メイリオ"/>
                <a:cs typeface="メイリオ"/>
                <a:sym typeface="Meiryo"/>
              </a:rPr>
              <a:t>広告における</a:t>
            </a:r>
            <a:r>
              <a:rPr lang="ja-JP" altLang="en-US" sz="1400" b="1" dirty="0">
                <a:latin typeface="メイリオ"/>
                <a:ea typeface="メイリオ"/>
                <a:cs typeface="メイリオ"/>
                <a:sym typeface="Meiryo"/>
              </a:rPr>
              <a:t>競合性が高</a:t>
            </a:r>
            <a:r>
              <a:rPr lang="ja-JP" altLang="en-US" sz="1400" dirty="0">
                <a:latin typeface="メイリオ"/>
                <a:ea typeface="メイリオ"/>
                <a:cs typeface="メイリオ"/>
                <a:sym typeface="Meiryo"/>
              </a:rPr>
              <a:t>くなり</a:t>
            </a:r>
            <a:endParaRPr lang="en-US" altLang="ja-JP" sz="1400" dirty="0">
              <a:latin typeface="メイリオ"/>
              <a:ea typeface="メイリオ"/>
              <a:cs typeface="メイリオ"/>
              <a:sym typeface="Meiryo"/>
            </a:endParaRPr>
          </a:p>
          <a:p>
            <a:pPr algn="ctr"/>
            <a:r>
              <a:rPr lang="ja-JP" altLang="en-US" sz="1400" b="1" dirty="0">
                <a:solidFill>
                  <a:srgbClr val="1F2A5C"/>
                </a:solidFill>
                <a:latin typeface="メイリオ"/>
                <a:ea typeface="メイリオ"/>
                <a:cs typeface="メイリオ"/>
                <a:sym typeface="Meiryo"/>
              </a:rPr>
              <a:t>単価指標（</a:t>
            </a:r>
            <a:r>
              <a:rPr lang="en-US" altLang="ja-JP" sz="1400" b="1" dirty="0">
                <a:solidFill>
                  <a:srgbClr val="1F2A5C"/>
                </a:solidFill>
                <a:latin typeface="メイリオ"/>
                <a:ea typeface="メイリオ"/>
                <a:cs typeface="メイリオ"/>
                <a:sym typeface="Meiryo"/>
              </a:rPr>
              <a:t>CPC</a:t>
            </a:r>
            <a:r>
              <a:rPr lang="ja-JP" altLang="en-US" sz="1400" b="1" dirty="0">
                <a:solidFill>
                  <a:srgbClr val="1F2A5C"/>
                </a:solidFill>
                <a:latin typeface="メイリオ"/>
                <a:ea typeface="メイリオ"/>
                <a:cs typeface="メイリオ"/>
                <a:sym typeface="Meiryo"/>
              </a:rPr>
              <a:t>及び</a:t>
            </a:r>
            <a:r>
              <a:rPr lang="en-US" altLang="ja-JP" sz="1400" b="1" dirty="0">
                <a:solidFill>
                  <a:srgbClr val="1F2A5C"/>
                </a:solidFill>
                <a:latin typeface="メイリオ"/>
                <a:ea typeface="メイリオ"/>
                <a:cs typeface="メイリオ"/>
                <a:sym typeface="Meiryo"/>
              </a:rPr>
              <a:t>CPA</a:t>
            </a:r>
            <a:r>
              <a:rPr lang="ja-JP" altLang="en-US" sz="1400" b="1" dirty="0">
                <a:solidFill>
                  <a:srgbClr val="1F2A5C"/>
                </a:solidFill>
                <a:latin typeface="メイリオ"/>
                <a:ea typeface="メイリオ"/>
                <a:cs typeface="メイリオ"/>
                <a:sym typeface="Meiryo"/>
              </a:rPr>
              <a:t>）が高騰</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メイリオ"/>
                <a:ea typeface="メイリオ"/>
                <a:cs typeface="メイリオ"/>
                <a:sym typeface="Meiryo"/>
              </a:rPr>
              <a:t>集客施策における</a:t>
            </a:r>
            <a:r>
              <a:rPr lang="en-US" altLang="ja-JP" sz="1400" b="1" dirty="0">
                <a:latin typeface="メイリオ"/>
                <a:ea typeface="メイリオ"/>
                <a:cs typeface="メイリオ"/>
                <a:sym typeface="Meiryo"/>
              </a:rPr>
              <a:t>CVR</a:t>
            </a:r>
            <a:r>
              <a:rPr lang="ja-JP" altLang="en-US" sz="1400" b="1" dirty="0">
                <a:latin typeface="メイリオ"/>
                <a:ea typeface="メイリオ"/>
                <a:cs typeface="メイリオ"/>
                <a:sym typeface="Meiryo"/>
              </a:rPr>
              <a:t>は高くても</a:t>
            </a:r>
            <a:r>
              <a:rPr lang="en-US" altLang="ja-JP" sz="1400" b="1" dirty="0">
                <a:latin typeface="メイリオ"/>
                <a:ea typeface="メイリオ"/>
                <a:cs typeface="メイリオ"/>
                <a:sym typeface="Meiryo"/>
              </a:rPr>
              <a:t>2%</a:t>
            </a:r>
            <a:r>
              <a:rPr lang="ja-JP" altLang="en-US" sz="1400" b="1" dirty="0">
                <a:latin typeface="メイリオ"/>
                <a:ea typeface="メイリオ"/>
                <a:cs typeface="メイリオ"/>
                <a:sym typeface="Meiryo"/>
              </a:rPr>
              <a:t>程度</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a:p>
            <a:pPr algn="ctr"/>
            <a:r>
              <a:rPr lang="en-US" altLang="ja-JP" sz="1400" dirty="0">
                <a:solidFill>
                  <a:srgbClr val="1F2A5C"/>
                </a:solidFill>
                <a:latin typeface="メイリオ"/>
                <a:ea typeface="メイリオ"/>
                <a:cs typeface="メイリオ"/>
                <a:sym typeface="Meiryo"/>
              </a:rPr>
              <a:t>CV</a:t>
            </a:r>
            <a:r>
              <a:rPr lang="ja-JP" altLang="en-US" sz="1400" dirty="0">
                <a:solidFill>
                  <a:srgbClr val="1F2A5C"/>
                </a:solidFill>
                <a:latin typeface="メイリオ"/>
                <a:ea typeface="メイリオ"/>
                <a:cs typeface="メイリオ"/>
                <a:sym typeface="Meiryo"/>
              </a:rPr>
              <a:t>に至らず離脱するユーザーが大部分</a:t>
            </a:r>
            <a:r>
              <a:rPr lang="ja-JP" altLang="en-US" sz="1400" dirty="0">
                <a:latin typeface="メイリオ"/>
                <a:ea typeface="メイリオ"/>
                <a:cs typeface="メイリオ"/>
                <a:sym typeface="Meiryo"/>
              </a:rPr>
              <a:t>。</a:t>
            </a:r>
            <a:endParaRPr lang="ja-JP" altLang="en-US" sz="1400" dirty="0">
              <a:latin typeface="メイリオ"/>
              <a:ea typeface="メイリオ"/>
              <a:cs typeface="メイリオ"/>
            </a:endParaRPr>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CVR</a:t>
            </a:r>
            <a:endParaRPr lang="ja-JP" altLang="en-US" b="1" dirty="0">
              <a:latin typeface="メイリオ" panose="020B0604030504040204" pitchFamily="50" charset="-128"/>
              <a:ea typeface="メイリオ" panose="020B0604030504040204" pitchFamily="50" charset="-128"/>
              <a:cs typeface="メイリオ"/>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CPC</a:t>
            </a:r>
            <a:endParaRPr lang="ja-JP" altLang="en-US"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5621484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cs typeface="メイリオ"/>
              </a:rPr>
              <a:t>10-40</a:t>
            </a:r>
            <a:r>
              <a:rPr lang="ja-JP" altLang="en-US" sz="1400" dirty="0">
                <a:solidFill>
                  <a:srgbClr val="343434"/>
                </a:solidFill>
                <a:latin typeface="メイリオ" panose="020B0604030504040204" pitchFamily="50" charset="-128"/>
                <a:ea typeface="メイリオ" panose="020B0604030504040204" pitchFamily="50" charset="-128"/>
                <a:cs typeface="メイリオ"/>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cs typeface="メイリオ"/>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cs typeface="メイリオ"/>
              </a:rPr>
              <a:t>LINEOA</a:t>
            </a:r>
            <a:r>
              <a:rPr lang="ja-JP" altLang="en-US" sz="1400" b="1" dirty="0">
                <a:solidFill>
                  <a:srgbClr val="343434"/>
                </a:solidFill>
                <a:latin typeface="メイリオ" panose="020B0604030504040204" pitchFamily="50" charset="-128"/>
                <a:ea typeface="メイリオ" panose="020B0604030504040204" pitchFamily="50" charset="-128"/>
                <a:cs typeface="メイリオ"/>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される。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cs typeface="メイリオ"/>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cs typeface="メイリオ"/>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7832798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LINE</a:t>
            </a:r>
            <a:r>
              <a:rPr lang="ja-JP" altLang="en-US" sz="1400" dirty="0">
                <a:latin typeface="メイリオ" panose="020B0604030504040204" pitchFamily="50" charset="-128"/>
                <a:ea typeface="メイリオ" panose="020B0604030504040204" pitchFamily="50" charset="-128"/>
                <a:cs typeface="メイリオ"/>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メイリオ"/>
                <a:sym typeface="Meiryo"/>
              </a:rPr>
              <a:t>CV</a:t>
            </a:r>
            <a:r>
              <a:rPr lang="ja-JP" altLang="en-US" sz="1400" dirty="0">
                <a:latin typeface="メイリオ" panose="020B0604030504040204" pitchFamily="50" charset="-128"/>
                <a:ea typeface="メイリオ" panose="020B0604030504040204" pitchFamily="50" charset="-128"/>
                <a:cs typeface="メイリオ"/>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メイリオ"/>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1F2A5C"/>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endParaRPr kumimoji="1" lang="ja-JP" altLang="en-US" sz="105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1F2A5C"/>
                </a:solidFill>
                <a:latin typeface="メイリオ" panose="020B0604030504040204" pitchFamily="50" charset="-128"/>
                <a:ea typeface="メイリオ" panose="020B0604030504040204" pitchFamily="50" charset="-128"/>
                <a:cs typeface="メイリオ"/>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r>
              <a:rPr kumimoji="1" lang="en-US" altLang="ja-JP" sz="1100" dirty="0">
                <a:solidFill>
                  <a:schemeClr val="tx2"/>
                </a:solidFill>
                <a:latin typeface="メイリオ" panose="020B0604030504040204" pitchFamily="50" charset="-128"/>
                <a:ea typeface="メイリオ" panose="020B0604030504040204" pitchFamily="50" charset="-128"/>
                <a:cs typeface="メイリオ"/>
              </a:rPr>
              <a:t>LINE</a:t>
            </a:r>
            <a:r>
              <a:rPr kumimoji="1" lang="ja-JP" altLang="en-US" sz="1100" dirty="0">
                <a:solidFill>
                  <a:schemeClr val="tx2"/>
                </a:solidFill>
                <a:latin typeface="メイリオ" panose="020B0604030504040204" pitchFamily="50" charset="-128"/>
                <a:ea typeface="メイリオ" panose="020B0604030504040204" pitchFamily="50" charset="-128"/>
                <a:cs typeface="メイリオ"/>
              </a:rPr>
              <a:t>施策内</a:t>
            </a: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endParaRPr kumimoji="1" lang="ja-JP" altLang="en-US" sz="1100" dirty="0">
              <a:solidFill>
                <a:schemeClr val="tx2"/>
              </a:solidFill>
              <a:latin typeface="メイリオ" panose="020B0604030504040204" pitchFamily="50" charset="-128"/>
              <a:ea typeface="メイリオ" panose="020B0604030504040204" pitchFamily="50" charset="-128"/>
              <a:cs typeface="メイリオ"/>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アクティブ数</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kumimoji="1" lang="ja-JP" altLang="en-US" sz="800" dirty="0">
                <a:latin typeface="メイリオ" panose="020B0604030504040204" pitchFamily="50" charset="-128"/>
                <a:ea typeface="メイリオ" panose="020B0604030504040204" pitchFamily="50" charset="-128"/>
                <a:cs typeface="メイリオ"/>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セグメント率</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lang="en-US" altLang="ja-JP" sz="1000" dirty="0">
                <a:latin typeface="メイリオ" panose="020B0604030504040204" pitchFamily="50" charset="-128"/>
                <a:ea typeface="メイリオ" panose="020B0604030504040204" pitchFamily="50" charset="-128"/>
                <a:cs typeface="メイリオ"/>
              </a:rPr>
              <a:t>or</a:t>
            </a:r>
          </a:p>
          <a:p>
            <a:pPr algn="ctr"/>
            <a:r>
              <a:rPr kumimoji="1" lang="ja-JP" altLang="en-US" sz="1000" b="1" dirty="0">
                <a:latin typeface="メイリオ" panose="020B0604030504040204" pitchFamily="50" charset="-128"/>
                <a:ea typeface="メイリオ" panose="020B0604030504040204" pitchFamily="50" charset="-128"/>
                <a:cs typeface="メイリオ"/>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cs typeface="メイリオ"/>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cs typeface="メイリオ"/>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1F2A5C"/>
                </a:solidFill>
                <a:latin typeface="メイリオ" panose="020B0604030504040204" pitchFamily="50" charset="-128"/>
                <a:ea typeface="メイリオ" panose="020B0604030504040204" pitchFamily="50" charset="-128"/>
                <a:cs typeface="メイリオ"/>
              </a:rPr>
              <a:t>85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1F2A5C"/>
                </a:solidFill>
                <a:latin typeface="メイリオ" panose="020B0604030504040204" pitchFamily="50" charset="-128"/>
                <a:ea typeface="メイリオ" panose="020B0604030504040204" pitchFamily="50" charset="-128"/>
                <a:cs typeface="メイリオ"/>
              </a:rPr>
              <a:t>12.5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1F2A5C"/>
                </a:solidFill>
                <a:latin typeface="メイリオ" panose="020B0604030504040204" pitchFamily="50" charset="-128"/>
                <a:ea typeface="メイリオ" panose="020B0604030504040204" pitchFamily="50" charset="-128"/>
                <a:cs typeface="メイリオ"/>
              </a:rPr>
              <a:t>0.5</a:t>
            </a:r>
            <a:r>
              <a:rPr kumimoji="1" lang="en-US" altLang="ja-JP" sz="1400" b="1" dirty="0">
                <a:solidFill>
                  <a:srgbClr val="1F2A5C"/>
                </a:solidFill>
                <a:latin typeface="メイリオ" panose="020B0604030504040204" pitchFamily="50" charset="-128"/>
                <a:ea typeface="メイリオ" panose="020B0604030504040204" pitchFamily="50" charset="-128"/>
                <a:cs typeface="メイリオ"/>
              </a:rPr>
              <a:t> %</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70 %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8.25 %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cs typeface="メイリオ"/>
              </a:rPr>
              <a:t>0.3 %</a:t>
            </a:r>
            <a:endParaRPr kumimoji="1"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cs typeface="メイリオ"/>
              </a:rPr>
              <a:t>DYM</a:t>
            </a:r>
            <a:r>
              <a:rPr kumimoji="1" lang="ja-JP" altLang="en-US" sz="1200" b="1" dirty="0">
                <a:solidFill>
                  <a:srgbClr val="FFFFFF"/>
                </a:solidFill>
                <a:latin typeface="メイリオ" panose="020B0604030504040204" pitchFamily="50" charset="-128"/>
                <a:ea typeface="メイリオ" panose="020B0604030504040204" pitchFamily="50" charset="-128"/>
                <a:cs typeface="メイリオ"/>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cs typeface="メイリオ"/>
              </a:rPr>
              <a:t>業界平均</a:t>
            </a:r>
            <a:endParaRPr lang="en-US" altLang="ja-JP" sz="1200" b="1" dirty="0">
              <a:solidFill>
                <a:schemeClr val="bg1"/>
              </a:solidFill>
              <a:latin typeface="メイリオ" panose="020B0604030504040204" pitchFamily="50" charset="-128"/>
              <a:ea typeface="メイリオ" panose="020B0604030504040204" pitchFamily="50" charset="-128"/>
              <a:cs typeface="メイリオ"/>
            </a:endParaRPr>
          </a:p>
          <a:p>
            <a:pPr algn="ctr"/>
            <a:r>
              <a:rPr lang="en-US" altLang="ja-JP" sz="8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800" b="1" dirty="0">
                <a:solidFill>
                  <a:schemeClr val="bg1"/>
                </a:solidFill>
                <a:latin typeface="メイリオ" panose="020B0604030504040204" pitchFamily="50" charset="-128"/>
                <a:ea typeface="メイリオ" panose="020B0604030504040204" pitchFamily="50" charset="-128"/>
                <a:cs typeface="メイリオ"/>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FFFF"/>
                </a:solidFill>
                <a:latin typeface="メイリオ" panose="020B0604030504040204" pitchFamily="50" charset="-128"/>
                <a:ea typeface="メイリオ" panose="020B0604030504040204" pitchFamily="50" charset="-128"/>
                <a:cs typeface="メイリオ"/>
              </a:rPr>
              <a:t>施策の流れ</a:t>
            </a:r>
          </a:p>
        </p:txBody>
      </p:sp>
    </p:spTree>
    <p:extLst>
      <p:ext uri="{BB962C8B-B14F-4D97-AF65-F5344CB8AC3E}">
        <p14:creationId xmlns:p14="http://schemas.microsoft.com/office/powerpoint/2010/main" val="24218423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業態平均で</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最大３</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のユーザーは有効化</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マネタイズ可能</a:t>
            </a:r>
            <a:r>
              <a:rPr lang="ja-JP" altLang="en-US" sz="1400" dirty="0">
                <a:solidFill>
                  <a:srgbClr val="343434"/>
                </a:solidFill>
                <a:latin typeface="メイリオ" panose="020B0604030504040204" pitchFamily="50" charset="-128"/>
                <a:ea typeface="メイリオ" panose="020B0604030504040204" pitchFamily="50" charset="-128"/>
                <a:cs typeface="メイリオ"/>
              </a:rPr>
              <a:t> とされている。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cs typeface="メイリオ"/>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cs typeface="メイリオ"/>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1F2A5C"/>
                </a:solidFill>
                <a:latin typeface="メイリオ" panose="020B0604030504040204" pitchFamily="50" charset="-128"/>
                <a:ea typeface="メイリオ" panose="020B0604030504040204" pitchFamily="50" charset="-128"/>
                <a:cs typeface="メイリオ"/>
              </a:rPr>
              <a:t>CV</a:t>
            </a: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するユーザー割合</a:t>
            </a:r>
            <a:endParaRPr kumimoji="1" lang="en-US" altLang="ja-JP" sz="1100" b="1" dirty="0">
              <a:solidFill>
                <a:srgbClr val="1F2A5C"/>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ja-JP" altLang="en-US" sz="1000" dirty="0">
                <a:solidFill>
                  <a:srgbClr val="1F2A5C"/>
                </a:solidFill>
                <a:latin typeface="メイリオ" panose="020B0604030504040204" pitchFamily="50" charset="-128"/>
                <a:ea typeface="メイリオ" panose="020B0604030504040204" pitchFamily="50" charset="-128"/>
                <a:cs typeface="メイリオ"/>
              </a:rPr>
              <a:t>平均値</a:t>
            </a:r>
            <a:endParaRPr kumimoji="1" lang="ja-JP" altLang="en-US" sz="10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1F2A5C"/>
                </a:solidFill>
                <a:latin typeface="メイリオ" panose="020B0604030504040204" pitchFamily="50" charset="-128"/>
                <a:ea typeface="メイリオ" panose="020B0604030504040204" pitchFamily="50" charset="-128"/>
                <a:cs typeface="メイリオ"/>
              </a:rPr>
              <a:t>３</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1.5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8883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2808838" y="3038203"/>
            <a:ext cx="4288353"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中長期施策として</a:t>
            </a: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　</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[CRM</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及び</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API</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ツールとの連携</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t>
            </a:r>
            <a:endParaRPr lang="ja-JP" altLang="en-US" sz="1600" b="1" dirty="0">
              <a:solidFill>
                <a:srgbClr val="1F2A5C"/>
              </a:solidFill>
              <a:latin typeface="メイリオ" panose="020B0604030504040204" pitchFamily="50" charset="-128"/>
              <a:ea typeface="メイリオ" panose="020B0604030504040204" pitchFamily="50" charset="-128"/>
              <a:cs typeface="メイリオ"/>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cs typeface="メイリオ"/>
              </a:rPr>
              <a:t>「</a:t>
            </a:r>
            <a:r>
              <a:rPr kumimoji="1" lang="en-US" altLang="ja-JP" sz="1400" dirty="0">
                <a:solidFill>
                  <a:srgbClr val="073763"/>
                </a:solidFill>
                <a:latin typeface="メイリオ" panose="020B0604030504040204" pitchFamily="50" charset="-128"/>
                <a:ea typeface="メイリオ" panose="020B0604030504040204" pitchFamily="50" charset="-128"/>
                <a:cs typeface="メイリオ"/>
              </a:rPr>
              <a:t>CRM</a:t>
            </a:r>
            <a:r>
              <a:rPr kumimoji="1" lang="ja-JP" altLang="en-US" sz="1400" dirty="0">
                <a:solidFill>
                  <a:srgbClr val="073763"/>
                </a:solidFill>
                <a:latin typeface="メイリオ" panose="020B0604030504040204" pitchFamily="50" charset="-128"/>
                <a:ea typeface="メイリオ" panose="020B0604030504040204" pitchFamily="50" charset="-128"/>
                <a:cs typeface="メイリオ"/>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が重要</a:t>
            </a:r>
            <a:br>
              <a:rPr lang="en-US" altLang="ja-JP" sz="1400" dirty="0">
                <a:solidFill>
                  <a:srgbClr val="073763"/>
                </a:solidFill>
                <a:latin typeface="メイリオ" panose="020B0604030504040204" pitchFamily="50" charset="-128"/>
                <a:ea typeface="メイリオ" panose="020B0604030504040204" pitchFamily="50" charset="-128"/>
                <a:cs typeface="メイリオ"/>
              </a:rPr>
            </a:br>
            <a:r>
              <a:rPr lang="ja-JP" altLang="en-US" sz="1400" b="1" dirty="0">
                <a:solidFill>
                  <a:srgbClr val="073763"/>
                </a:solidFill>
                <a:latin typeface="メイリオ" panose="020B0604030504040204" pitchFamily="50" charset="-128"/>
                <a:ea typeface="メイリオ" panose="020B0604030504040204" pitchFamily="50" charset="-128"/>
                <a:cs typeface="メイリオ"/>
              </a:rPr>
              <a:t>要件定義</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cs typeface="メイリオ"/>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latin typeface="メイリオ"/>
              <a:ea typeface="メイリオ"/>
              <a:cs typeface="メイリオ"/>
            </a:endParaRPr>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a:t>
            </a:r>
            <a:r>
              <a:rPr lang="en-US" altLang="ja-JP" sz="1400" dirty="0">
                <a:latin typeface="メイリオ" panose="020B0604030504040204" pitchFamily="50" charset="-128"/>
                <a:ea typeface="メイリオ" panose="020B0604030504040204" pitchFamily="50" charset="-128"/>
                <a:cs typeface="メイリオ"/>
                <a:sym typeface="Meiryo"/>
              </a:rPr>
              <a:t>API</a:t>
            </a:r>
            <a:r>
              <a:rPr lang="ja-JP" altLang="en-US" sz="1400" dirty="0">
                <a:latin typeface="メイリオ" panose="020B0604030504040204" pitchFamily="50" charset="-128"/>
                <a:ea typeface="メイリオ" panose="020B0604030504040204" pitchFamily="50" charset="-128"/>
                <a:cs typeface="メイリオ"/>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貴社内の顧客管理（</a:t>
            </a: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）ツールとの連携の実施も可能です。</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 </a:t>
            </a:r>
            <a:r>
              <a:rPr lang="en-US" altLang="ja-JP" sz="11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開発は別途費用</a:t>
            </a:r>
            <a:endParaRPr lang="en-US" altLang="ja-JP" sz="1400" dirty="0">
              <a:solidFill>
                <a:srgbClr val="1F2A5C"/>
              </a:solidFill>
              <a:latin typeface="メイリオ" panose="020B0604030504040204" pitchFamily="50" charset="-128"/>
              <a:ea typeface="メイリオ" panose="020B0604030504040204" pitchFamily="50" charset="-128"/>
              <a:cs typeface="メイリオ"/>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メッセ送信</a:t>
            </a:r>
          </a:p>
        </p:txBody>
      </p:sp>
    </p:spTree>
    <p:extLst>
      <p:ext uri="{BB962C8B-B14F-4D97-AF65-F5344CB8AC3E}">
        <p14:creationId xmlns:p14="http://schemas.microsoft.com/office/powerpoint/2010/main" val="9826497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その他 代表的な活用機能</a:t>
            </a:r>
            <a:endParaRPr sz="1600" b="1" dirty="0">
              <a:solidFill>
                <a:srgbClr val="002060"/>
              </a:solidFill>
              <a:latin typeface="メイリオ"/>
              <a:ea typeface="メイリオ"/>
              <a:cs typeface="メイリオ"/>
              <a:sym typeface="Meiryo"/>
            </a:endParaRPr>
          </a:p>
        </p:txBody>
      </p:sp>
      <p:sp>
        <p:nvSpPr>
          <p:cNvPr id="8" name="正方形/長方形 7"/>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ミニアプリ</a:t>
            </a:r>
            <a:endParaRPr lang="en-US" altLang="ja-JP" sz="1600" b="1" dirty="0">
              <a:latin typeface="メイリオ" panose="020B0604030504040204" pitchFamily="50" charset="-128"/>
              <a:ea typeface="メイリオ" panose="020B0604030504040204" pitchFamily="50" charset="-128"/>
              <a:cs typeface="メイリオ"/>
            </a:endParaRPr>
          </a:p>
        </p:txBody>
      </p:sp>
      <p:pic>
        <p:nvPicPr>
          <p:cNvPr id="15" name="図 14"/>
          <p:cNvPicPr>
            <a:picLocks noChangeAspect="1"/>
          </p:cNvPicPr>
          <p:nvPr/>
        </p:nvPicPr>
        <p:blipFill>
          <a:blip r:embed="rId2"/>
          <a:stretch>
            <a:fillRect/>
          </a:stretch>
        </p:blipFill>
        <p:spPr>
          <a:xfrm>
            <a:off x="395078" y="4223656"/>
            <a:ext cx="4883652" cy="2255298"/>
          </a:xfrm>
          <a:prstGeom prst="rect">
            <a:avLst/>
          </a:prstGeom>
        </p:spPr>
      </p:pic>
      <p:pic>
        <p:nvPicPr>
          <p:cNvPr id="16" name="図 15"/>
          <p:cNvPicPr>
            <a:picLocks noChangeAspect="1"/>
          </p:cNvPicPr>
          <p:nvPr/>
        </p:nvPicPr>
        <p:blipFill>
          <a:blip r:embed="rId3"/>
          <a:stretch>
            <a:fillRect/>
          </a:stretch>
        </p:blipFill>
        <p:spPr>
          <a:xfrm>
            <a:off x="5447610" y="4291935"/>
            <a:ext cx="4377759" cy="1962444"/>
          </a:xfrm>
          <a:prstGeom prst="rect">
            <a:avLst/>
          </a:prstGeom>
        </p:spPr>
      </p:pic>
      <p:pic>
        <p:nvPicPr>
          <p:cNvPr id="17" name="図 16"/>
          <p:cNvPicPr>
            <a:picLocks noChangeAspect="1"/>
          </p:cNvPicPr>
          <p:nvPr/>
        </p:nvPicPr>
        <p:blipFill>
          <a:blip r:embed="rId4"/>
          <a:stretch>
            <a:fillRect/>
          </a:stretch>
        </p:blipFill>
        <p:spPr>
          <a:xfrm>
            <a:off x="295583" y="1824445"/>
            <a:ext cx="5881033" cy="2266757"/>
          </a:xfrm>
          <a:prstGeom prst="rect">
            <a:avLst/>
          </a:prstGeom>
        </p:spPr>
      </p:pic>
      <p:sp>
        <p:nvSpPr>
          <p:cNvPr id="2" name="正方形/長方形 1"/>
          <p:cNvSpPr/>
          <p:nvPr/>
        </p:nvSpPr>
        <p:spPr>
          <a:xfrm>
            <a:off x="2971109" y="823033"/>
            <a:ext cx="6669279" cy="584775"/>
          </a:xfrm>
          <a:prstGeom prst="rect">
            <a:avLst/>
          </a:prstGeom>
        </p:spPr>
        <p:txBody>
          <a:bodyPr wrap="square">
            <a:spAutoFit/>
          </a:body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内で活用できるミニアプリでは、ゲームや抽選といった機能を</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アプリ開発よりも大幅に格安な価格帯で利用できるサービス。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9399979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チャット</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FAQ</a:t>
            </a:r>
            <a:r>
              <a:rPr lang="ja-JP" altLang="en-US" sz="1600" b="1" dirty="0">
                <a:solidFill>
                  <a:schemeClr val="tx1">
                    <a:lumMod val="65000"/>
                    <a:lumOff val="35000"/>
                  </a:schemeClr>
                </a:solidFill>
                <a:latin typeface="メイリオ"/>
                <a:ea typeface="メイリオ"/>
                <a:cs typeface="メイリオ"/>
                <a:sym typeface="Meiryo"/>
              </a:rPr>
              <a:t>をもとにした</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による自動応答や、</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LINE】Chat</a:t>
            </a:r>
            <a:r>
              <a:rPr lang="en-US" altLang="ja-JP" sz="1600" b="1" dirty="0">
                <a:latin typeface="メイリオ" panose="020B0604030504040204" pitchFamily="50" charset="-128"/>
                <a:ea typeface="メイリオ" panose="020B0604030504040204" pitchFamily="50" charset="-128"/>
                <a:cs typeface="メイリオ"/>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ホームページから気軽にチャットで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問い合わせができるようになり</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資料請求や商品の購入に繋がる。</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公式</a:t>
            </a: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6927665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コール</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公式アカウントの有料オプション機能で、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LINE】Call</a:t>
            </a:r>
            <a:r>
              <a:rPr lang="en-US" altLang="ja-JP" sz="1600" b="1" dirty="0">
                <a:latin typeface="メイリオ" panose="020B0604030504040204" pitchFamily="50" charset="-128"/>
                <a:ea typeface="メイリオ" panose="020B0604030504040204" pitchFamily="50" charset="-128"/>
                <a:cs typeface="メイリオ"/>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さらに「</a:t>
            </a:r>
            <a:r>
              <a:rPr lang="en-US" altLang="ja-JP" sz="1600" b="1" dirty="0">
                <a:solidFill>
                  <a:schemeClr val="tx1">
                    <a:lumMod val="65000"/>
                    <a:lumOff val="35000"/>
                  </a:schemeClr>
                </a:solidFill>
                <a:latin typeface="メイリオ"/>
                <a:ea typeface="メイリオ"/>
                <a:cs typeface="メイリオ"/>
                <a:sym typeface="Meiryo"/>
              </a:rPr>
              <a:t>LINE Ai Call</a:t>
            </a:r>
            <a:r>
              <a:rPr lang="ja-JP" altLang="en-US" sz="1600" b="1" dirty="0">
                <a:solidFill>
                  <a:schemeClr val="tx1">
                    <a:lumMod val="65000"/>
                    <a:lumOff val="35000"/>
                  </a:schemeClr>
                </a:solidFill>
                <a:latin typeface="メイリオ"/>
                <a:ea typeface="メイリオ"/>
                <a:cs typeface="メイリオ"/>
                <a:sym typeface="Meiryo"/>
              </a:rPr>
              <a:t>」を活用するとユーザーの要望に対して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による自然な</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対話応答が可能に。要件に応じて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と有人オペレータの振り分け業務効率化を支援。</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でログイン</a:t>
            </a:r>
            <a:endParaRPr lang="en-US" altLang="ja-JP" sz="1600" b="1" dirty="0">
              <a:latin typeface="メイリオ" panose="020B0604030504040204" pitchFamily="50" charset="-128"/>
              <a:ea typeface="メイリオ" panose="020B0604030504040204" pitchFamily="50" charset="-128"/>
              <a:cs typeface="メイリオ"/>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でログイン」は、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上のユーザー情報を活用して</a:t>
            </a:r>
            <a:r>
              <a:rPr lang="en-US" altLang="ja-JP" sz="1600" b="1" dirty="0">
                <a:solidFill>
                  <a:schemeClr val="tx1">
                    <a:lumMod val="65000"/>
                    <a:lumOff val="35000"/>
                  </a:schemeClr>
                </a:solidFill>
                <a:latin typeface="メイリオ"/>
                <a:ea typeface="メイリオ"/>
                <a:cs typeface="メイリオ"/>
                <a:sym typeface="Meiryo"/>
              </a:rPr>
              <a:t>WEB</a:t>
            </a:r>
            <a:r>
              <a:rPr lang="ja-JP" altLang="en-US" sz="1600" b="1" dirty="0">
                <a:solidFill>
                  <a:schemeClr val="tx1">
                    <a:lumMod val="65000"/>
                    <a:lumOff val="35000"/>
                  </a:schemeClr>
                </a:solidFill>
                <a:latin typeface="メイリオ"/>
                <a:ea typeface="メイリオ"/>
                <a:cs typeface="メイリオ"/>
                <a:sym typeface="Meiryo"/>
              </a:rPr>
              <a:t>サイト登録が出来る仕組み。</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ID</a:t>
            </a:r>
            <a:r>
              <a:rPr lang="ja-JP" altLang="en-US" sz="1600" b="1" dirty="0">
                <a:solidFill>
                  <a:schemeClr val="tx1">
                    <a:lumMod val="65000"/>
                    <a:lumOff val="35000"/>
                  </a:schemeClr>
                </a:solidFill>
                <a:latin typeface="メイリオ"/>
                <a:ea typeface="メイリオ"/>
                <a:cs typeface="メイリオ"/>
                <a:sym typeface="Meiryo"/>
              </a:rPr>
              <a:t>連携を完了することにより、サービス</a:t>
            </a:r>
            <a:r>
              <a:rPr lang="en-US" altLang="ja-JP" sz="1600" b="1" dirty="0">
                <a:solidFill>
                  <a:schemeClr val="tx1">
                    <a:lumMod val="65000"/>
                    <a:lumOff val="35000"/>
                  </a:schemeClr>
                </a:solidFill>
                <a:latin typeface="メイリオ"/>
                <a:ea typeface="メイリオ"/>
                <a:cs typeface="メイリオ"/>
                <a:sym typeface="Meiryo"/>
              </a:rPr>
              <a:t>(WEB) </a:t>
            </a:r>
            <a:r>
              <a:rPr lang="ja-JP" altLang="en-US" sz="1600" b="1" dirty="0">
                <a:solidFill>
                  <a:schemeClr val="tx1">
                    <a:lumMod val="65000"/>
                    <a:lumOff val="35000"/>
                  </a:schemeClr>
                </a:solidFill>
                <a:latin typeface="メイリオ"/>
                <a:ea typeface="メイリオ"/>
                <a:cs typeface="メイリオ"/>
                <a:sym typeface="Meiryo"/>
              </a:rPr>
              <a:t>⇔ </a:t>
            </a:r>
            <a:r>
              <a:rPr lang="en-US" altLang="ja-JP" sz="1600" b="1" dirty="0">
                <a:solidFill>
                  <a:schemeClr val="tx1">
                    <a:lumMod val="65000"/>
                    <a:lumOff val="35000"/>
                  </a:schemeClr>
                </a:solidFill>
                <a:latin typeface="メイリオ"/>
                <a:ea typeface="メイリオ"/>
                <a:cs typeface="メイリオ"/>
                <a:sym typeface="Meiryo"/>
              </a:rPr>
              <a:t>LINE </a:t>
            </a:r>
            <a:r>
              <a:rPr lang="ja-JP" altLang="en-US" sz="1600" b="1" dirty="0">
                <a:solidFill>
                  <a:schemeClr val="tx1">
                    <a:lumMod val="65000"/>
                    <a:lumOff val="35000"/>
                  </a:schemeClr>
                </a:solidFill>
                <a:latin typeface="メイリオ"/>
                <a:ea typeface="メイリオ"/>
                <a:cs typeface="メイリオ"/>
                <a:sym typeface="Meiryo"/>
              </a:rPr>
              <a:t>での効果的なメッセージが可能に。</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オフライン動線</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400" b="1" dirty="0">
                <a:solidFill>
                  <a:srgbClr val="002060"/>
                </a:solidFill>
                <a:latin typeface="メイリオ"/>
                <a:ea typeface="メイリオ"/>
                <a:cs typeface="メイリオ"/>
                <a:sym typeface="Meiryo"/>
              </a:rPr>
              <a:t>ニュースリリース等</a:t>
            </a:r>
            <a:endParaRPr lang="en-US" altLang="ja-JP" sz="1400" b="1" dirty="0">
              <a:solidFill>
                <a:srgbClr val="002060"/>
              </a:solidFill>
              <a:latin typeface="メイリオ"/>
              <a:ea typeface="メイリオ"/>
              <a:cs typeface="メイリオ"/>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WEB</a:t>
            </a:r>
            <a:r>
              <a:rPr lang="ja-JP" altLang="en-US" sz="2000" b="1" dirty="0">
                <a:solidFill>
                  <a:srgbClr val="002060"/>
                </a:solidFill>
                <a:latin typeface="メイリオ"/>
                <a:ea typeface="メイリオ"/>
                <a:cs typeface="メイリオ"/>
                <a:sym typeface="Meiryo"/>
              </a:rPr>
              <a:t>サイト動線整備</a:t>
            </a:r>
            <a:endParaRPr lang="en-US" altLang="ja-JP" sz="2000" b="1" dirty="0">
              <a:solidFill>
                <a:srgbClr val="002060"/>
              </a:solidFill>
              <a:latin typeface="メイリオ"/>
              <a:ea typeface="メイリオ"/>
              <a:cs typeface="メイリオ"/>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友だち紹介</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200" b="1" dirty="0">
                <a:solidFill>
                  <a:srgbClr val="002060"/>
                </a:solidFill>
                <a:latin typeface="メイリオ"/>
                <a:ea typeface="メイリオ"/>
                <a:cs typeface="メイリオ"/>
                <a:sym typeface="Meiryo"/>
              </a:rPr>
              <a:t>（</a:t>
            </a:r>
            <a:r>
              <a:rPr lang="en-US" altLang="ja-JP" sz="1200" b="1" dirty="0">
                <a:solidFill>
                  <a:srgbClr val="002060"/>
                </a:solidFill>
                <a:latin typeface="メイリオ"/>
                <a:ea typeface="メイリオ"/>
                <a:cs typeface="メイリオ"/>
                <a:sym typeface="Meiryo"/>
              </a:rPr>
              <a:t>LINE</a:t>
            </a:r>
            <a:r>
              <a:rPr lang="ja-JP" altLang="en-US" sz="1200" b="1" dirty="0">
                <a:solidFill>
                  <a:srgbClr val="002060"/>
                </a:solidFill>
                <a:latin typeface="メイリオ"/>
                <a:ea typeface="メイリオ"/>
                <a:cs typeface="メイリオ"/>
                <a:sym typeface="Meiryo"/>
              </a:rPr>
              <a:t>ポイントコネクト）</a:t>
            </a:r>
            <a:endParaRPr lang="en-US" altLang="ja-JP" sz="1200" b="1" dirty="0">
              <a:solidFill>
                <a:srgbClr val="002060"/>
              </a:solidFill>
              <a:latin typeface="メイリオ"/>
              <a:ea typeface="メイリオ"/>
              <a:cs typeface="メイリオ"/>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ポイント</a:t>
            </a:r>
            <a:r>
              <a:rPr lang="en-US" altLang="ja-JP" sz="2000" b="1" dirty="0">
                <a:solidFill>
                  <a:srgbClr val="002060"/>
                </a:solidFill>
                <a:latin typeface="メイリオ"/>
                <a:ea typeface="メイリオ"/>
                <a:cs typeface="メイリオ"/>
                <a:sym typeface="Meiryo"/>
              </a:rPr>
              <a:t>Ads</a:t>
            </a:r>
            <a:endParaRPr lang="en-US" altLang="ja-JP" sz="1400" b="1" dirty="0">
              <a:solidFill>
                <a:srgbClr val="002060"/>
              </a:solidFill>
              <a:latin typeface="メイリオ"/>
              <a:ea typeface="メイリオ"/>
              <a:cs typeface="メイリオ"/>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スタンプ施策</a:t>
            </a:r>
            <a:endParaRPr lang="en-US" altLang="ja-JP" sz="2000" b="1" dirty="0">
              <a:solidFill>
                <a:srgbClr val="002060"/>
              </a:solidFill>
              <a:latin typeface="メイリオ"/>
              <a:ea typeface="メイリオ"/>
              <a:cs typeface="メイリオ"/>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1200" b="1" dirty="0">
              <a:solidFill>
                <a:srgbClr val="002060"/>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メイリオ"/>
                <a:ea typeface="メイリオ"/>
                <a:cs typeface="メイリオ"/>
                <a:sym typeface="Meiryo"/>
              </a:rPr>
              <a:t>サービス停止中</a:t>
            </a:r>
            <a:endParaRPr lang="ja-JP" altLang="en-US" b="1" dirty="0">
              <a:solidFill>
                <a:schemeClr val="tx1">
                  <a:lumMod val="50000"/>
                  <a:lumOff val="50000"/>
                </a:schemeClr>
              </a:solidFill>
              <a:latin typeface="メイリオ"/>
              <a:ea typeface="メイリオ"/>
              <a:cs typeface="メイリオ"/>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a:t>
            </a:r>
            <a:r>
              <a:rPr lang="en-US" altLang="ja-JP" sz="1200" dirty="0">
                <a:latin typeface="メイリオ"/>
                <a:ea typeface="メイリオ"/>
                <a:cs typeface="メイリオ"/>
                <a:sym typeface="Meiryo"/>
              </a:rPr>
              <a:t>1</a:t>
            </a:r>
            <a:r>
              <a:rPr lang="ja-JP" altLang="en-US" sz="1200" dirty="0">
                <a:latin typeface="メイリオ"/>
                <a:ea typeface="メイリオ"/>
                <a:cs typeface="メイリオ"/>
                <a:sym typeface="Meiryo"/>
              </a:rPr>
              <a:t>ヶ月</a:t>
            </a:r>
            <a:r>
              <a:rPr lang="en-US" altLang="ja-JP" sz="1200" dirty="0">
                <a:latin typeface="メイリオ"/>
                <a:ea typeface="メイリオ"/>
                <a:cs typeface="メイリオ"/>
                <a:sym typeface="Meiryo"/>
              </a:rPr>
              <a:t>~</a:t>
            </a:r>
            <a:r>
              <a:rPr lang="ja-JP" altLang="en-US" sz="1200" dirty="0">
                <a:latin typeface="メイリオ"/>
                <a:ea typeface="メイリオ"/>
                <a:cs typeface="メイリオ"/>
                <a:sym typeface="Meiryo"/>
              </a:rPr>
              <a:t>）</a:t>
            </a:r>
            <a:endParaRPr lang="ja-JP" altLang="en-US" sz="2000" dirty="0">
              <a:solidFill>
                <a:srgbClr val="1F2A5C"/>
              </a:solidFill>
              <a:latin typeface="メイリオ"/>
              <a:ea typeface="メイリオ"/>
              <a:cs typeface="メイリオ"/>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各拡張施策についても</a:t>
            </a:r>
            <a:r>
              <a:rPr lang="en-US" altLang="ja-JP" sz="1600" b="1" dirty="0">
                <a:solidFill>
                  <a:schemeClr val="tx1">
                    <a:lumMod val="65000"/>
                    <a:lumOff val="35000"/>
                  </a:schemeClr>
                </a:solidFill>
                <a:latin typeface="メイリオ"/>
                <a:ea typeface="メイリオ"/>
                <a:cs typeface="メイリオ"/>
                <a:sym typeface="Meiryo"/>
              </a:rPr>
              <a:t>MIN</a:t>
            </a:r>
            <a:r>
              <a:rPr lang="ja-JP" altLang="en-US" sz="1600" b="1" dirty="0">
                <a:solidFill>
                  <a:schemeClr val="tx1">
                    <a:lumMod val="65000"/>
                    <a:lumOff val="35000"/>
                  </a:schemeClr>
                </a:solidFill>
                <a:latin typeface="メイリオ"/>
                <a:ea typeface="メイリオ"/>
                <a:cs typeface="メイリオ"/>
                <a:sym typeface="Meiryo"/>
              </a:rPr>
              <a:t>金額からの発注、動線設計が可能です。</a:t>
            </a:r>
            <a:endParaRPr lang="en-US" altLang="ja-JP" sz="1600" b="1" dirty="0">
              <a:solidFill>
                <a:schemeClr val="tx1">
                  <a:lumMod val="65000"/>
                  <a:lumOff val="35000"/>
                </a:schemeClr>
              </a:solidFill>
              <a:latin typeface="メイリオ"/>
              <a:ea typeface="メイリオ"/>
              <a:cs typeface="メイリオ"/>
              <a:sym typeface="Meiryo"/>
            </a:endParaRPr>
          </a:p>
          <a:p>
            <a:pPr lvl="0" algn="ctr">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00670347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広告</a:t>
            </a:r>
            <a:r>
              <a:rPr lang="ja-JP" altLang="en-US" sz="1200" b="1" dirty="0">
                <a:latin typeface="メイリオ" panose="020B0604030504040204" pitchFamily="50" charset="-128"/>
                <a:ea typeface="メイリオ" panose="020B0604030504040204" pitchFamily="50" charset="-128"/>
                <a:cs typeface="メイリオ"/>
              </a:rPr>
              <a:t>（友だち追加）</a:t>
            </a:r>
            <a:endParaRPr lang="en-US" altLang="ja-JP" sz="1200" b="1" dirty="0">
              <a:latin typeface="メイリオ" panose="020B0604030504040204" pitchFamily="50" charset="-128"/>
              <a:ea typeface="メイリオ" panose="020B0604030504040204" pitchFamily="50" charset="-128"/>
              <a:cs typeface="メイリオ"/>
            </a:endParaRPr>
          </a:p>
          <a:p>
            <a:pPr algn="ctr"/>
            <a:r>
              <a:rPr lang="en-US" altLang="ja-JP" sz="1200" b="1" dirty="0">
                <a:solidFill>
                  <a:srgbClr val="FFFFFF"/>
                </a:solidFill>
                <a:latin typeface="メイリオ" panose="020B0604030504040204" pitchFamily="50" charset="-128"/>
                <a:ea typeface="メイリオ" panose="020B0604030504040204" pitchFamily="50" charset="-128"/>
                <a:cs typeface="メイリオ"/>
              </a:rPr>
              <a:t>※CPF</a:t>
            </a:r>
            <a:r>
              <a:rPr lang="ja-JP" altLang="en-US" sz="1200" b="1" dirty="0">
                <a:solidFill>
                  <a:srgbClr val="FFFFFF"/>
                </a:solidFill>
                <a:latin typeface="メイリオ" panose="020B0604030504040204" pitchFamily="50" charset="-128"/>
                <a:ea typeface="メイリオ" panose="020B0604030504040204" pitchFamily="50" charset="-128"/>
                <a:cs typeface="メイリオ"/>
              </a:rPr>
              <a:t>広告</a:t>
            </a:r>
            <a:r>
              <a:rPr lang="en-US" altLang="ja-JP" sz="1200" b="1" dirty="0">
                <a:solidFill>
                  <a:srgbClr val="FFFFFF"/>
                </a:solidFill>
                <a:latin typeface="メイリオ" panose="020B0604030504040204" pitchFamily="50" charset="-128"/>
                <a:ea typeface="メイリオ" panose="020B0604030504040204" pitchFamily="50" charset="-128"/>
                <a:cs typeface="メイリオ"/>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公式アカウントの友だちを増やすための広告を、</a:t>
            </a:r>
            <a:br>
              <a:rPr lang="en-US" altLang="ja-JP" sz="1600" b="1" dirty="0">
                <a:solidFill>
                  <a:schemeClr val="tx1">
                    <a:lumMod val="65000"/>
                    <a:lumOff val="35000"/>
                  </a:schemeClr>
                </a:solidFill>
                <a:latin typeface="メイリオ"/>
                <a:ea typeface="メイリオ"/>
                <a:cs typeface="メイリオ"/>
                <a:sym typeface="Meiryo"/>
              </a:rPr>
            </a:b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広告の管理画面より</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アプリ内で掲載できる機能。</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en-US" altLang="ja-JP" sz="1200" b="1" dirty="0">
                  <a:solidFill>
                    <a:srgbClr val="0070C0"/>
                  </a:solidFill>
                  <a:latin typeface="メイリオ"/>
                  <a:ea typeface="メイリオ"/>
                  <a:cs typeface="メイリオ"/>
                  <a:sym typeface="Meiryo"/>
                </a:rPr>
                <a:t>LINE</a:t>
              </a:r>
              <a:r>
                <a:rPr lang="ja-JP" altLang="en-US" sz="1200" b="1" dirty="0">
                  <a:solidFill>
                    <a:srgbClr val="0070C0"/>
                  </a:solidFill>
                  <a:latin typeface="メイリオ"/>
                  <a:ea typeface="メイリオ"/>
                  <a:cs typeface="メイリオ"/>
                  <a:sym typeface="Meiryo"/>
                </a:rPr>
                <a:t>公式アカウントまでの導線</a:t>
              </a:r>
              <a:endParaRPr lang="en-US" altLang="ja-JP" sz="1200" b="1" dirty="0">
                <a:solidFill>
                  <a:srgbClr val="0070C0"/>
                </a:solidFill>
                <a:latin typeface="メイリオ"/>
                <a:ea typeface="メイリオ"/>
                <a:cs typeface="メイリオ"/>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200" b="1" dirty="0">
                  <a:solidFill>
                    <a:srgbClr val="0070C0"/>
                  </a:solidFill>
                  <a:latin typeface="メイリオ"/>
                  <a:ea typeface="メイリオ"/>
                  <a:cs typeface="メイリオ"/>
                  <a:sym typeface="Meiryo"/>
                </a:rPr>
                <a:t>「友だち追加広告」との違い</a:t>
              </a:r>
              <a:endParaRPr lang="en-US" altLang="ja-JP" sz="1200" b="1" dirty="0">
                <a:solidFill>
                  <a:srgbClr val="0070C0"/>
                </a:solidFill>
                <a:latin typeface="メイリオ"/>
                <a:ea typeface="メイリオ"/>
                <a:cs typeface="メイリオ"/>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gn="ctr"/>
            <a:r>
              <a:rPr kumimoji="1" lang="en-US" altLang="ja-JP" sz="1200" dirty="0">
                <a:latin typeface="メイリオ" panose="020B0604030504040204" pitchFamily="50" charset="-128"/>
                <a:ea typeface="メイリオ" panose="020B0604030504040204" pitchFamily="50" charset="-128"/>
                <a:cs typeface="メイリオ"/>
              </a:rPr>
              <a:t>LINE</a:t>
            </a:r>
            <a:r>
              <a:rPr kumimoji="1" lang="ja-JP" altLang="en-US" sz="1200" dirty="0">
                <a:latin typeface="メイリオ" panose="020B0604030504040204" pitchFamily="50" charset="-128"/>
                <a:ea typeface="メイリオ" panose="020B0604030504040204" pitchFamily="50" charset="-128"/>
                <a:cs typeface="メイリオ"/>
              </a:rPr>
              <a:t>アプリ内から</a:t>
            </a:r>
            <a:br>
              <a:rPr kumimoji="1" lang="en-US" altLang="ja-JP" sz="1200" dirty="0">
                <a:latin typeface="メイリオ" panose="020B0604030504040204" pitchFamily="50" charset="-128"/>
                <a:ea typeface="メイリオ" panose="020B0604030504040204" pitchFamily="50" charset="-128"/>
                <a:cs typeface="メイリオ"/>
              </a:rPr>
            </a:br>
            <a:r>
              <a:rPr kumimoji="1" lang="ja-JP" altLang="en-US" sz="1200" dirty="0">
                <a:latin typeface="メイリオ" panose="020B0604030504040204" pitchFamily="50" charset="-128"/>
                <a:ea typeface="メイリオ" panose="020B0604030504040204" pitchFamily="50" charset="-128"/>
                <a:cs typeface="メイリオ"/>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600" b="1" dirty="0">
                <a:solidFill>
                  <a:srgbClr val="33CC33"/>
                </a:solidFill>
                <a:latin typeface="メイリオ" panose="020B0604030504040204" pitchFamily="50" charset="-128"/>
                <a:ea typeface="メイリオ" panose="020B0604030504040204" pitchFamily="50" charset="-128"/>
                <a:cs typeface="メイリオ"/>
              </a:rPr>
              <a:t>直接</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200" dirty="0">
                <a:latin typeface="メイリオ" panose="020B0604030504040204" pitchFamily="50" charset="-128"/>
                <a:ea typeface="メイリオ" panose="020B0604030504040204" pitchFamily="50" charset="-128"/>
                <a:cs typeface="メイリオ"/>
              </a:rPr>
              <a:t>誘導</a:t>
            </a:r>
            <a:endParaRPr kumimoji="1" lang="en-US" altLang="ja-JP" sz="12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70600817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49320-CC43-CC0E-CB2A-2A81BA8880F1}"/>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D032B5A-3DAD-BB45-FCD6-9BD41BA62AE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事例紹介</a:t>
            </a:r>
          </a:p>
        </p:txBody>
      </p:sp>
    </p:spTree>
    <p:extLst>
      <p:ext uri="{BB962C8B-B14F-4D97-AF65-F5344CB8AC3E}">
        <p14:creationId xmlns:p14="http://schemas.microsoft.com/office/powerpoint/2010/main" val="116622827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AA527-0EA1-7A75-453D-963C8B528D5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B6D9B23-C685-E912-4659-E23BCCC23FC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事例紹介</a:t>
            </a:r>
          </a:p>
        </p:txBody>
      </p:sp>
      <p:sp>
        <p:nvSpPr>
          <p:cNvPr id="3" name="Lead">
            <a:extLst>
              <a:ext uri="{FF2B5EF4-FFF2-40B4-BE49-F238E27FC236}">
                <a16:creationId xmlns:a16="http://schemas.microsoft.com/office/drawing/2014/main" id="{F08FF241-FA02-3DB4-F5A0-2846B825B044}"/>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panose="020B0604030504040204" pitchFamily="50" charset="-128"/>
                <a:ea typeface="メイリオ" panose="020B0604030504040204" pitchFamily="50" charset="-128"/>
                <a:cs typeface="メイリオ"/>
              </a:rPr>
              <a:t>保険・イベント集客におけるLINE公式アカウントの活用事例</a:t>
            </a:r>
          </a:p>
        </p:txBody>
      </p:sp>
      <p:sp>
        <p:nvSpPr>
          <p:cNvPr id="6" name="Body">
            <a:extLst>
              <a:ext uri="{FF2B5EF4-FFF2-40B4-BE49-F238E27FC236}">
                <a16:creationId xmlns:a16="http://schemas.microsoft.com/office/drawing/2014/main" id="{82F47B3D-36AC-458C-435D-AA635278C458}"/>
              </a:ext>
            </a:extLst>
          </p:cNvPr>
          <p:cNvSpPr txBox="1"/>
          <p:nvPr/>
        </p:nvSpPr>
        <p:spPr>
          <a:xfrm>
            <a:off x="342900" y="1270000"/>
            <a:ext cx="6743700" cy="3810000"/>
          </a:xfrm>
          <a:prstGeom prst="rect">
            <a:avLst/>
          </a:prstGeom>
          <a:noFill/>
        </p:spPr>
        <p:txBody>
          <a:bodyPr wrap="square" lIns="0" tIns="0" rIns="0" bIns="0" anchor="t"/>
          <a:lstStyle/>
          <a:p>
            <a:endParaRPr>
              <a:latin typeface="メイリオ" panose="020B0604030504040204" pitchFamily="50" charset="-128"/>
              <a:ea typeface="メイリオ" panose="020B0604030504040204" pitchFamily="50" charset="-128"/>
              <a:cs typeface="メイリオ"/>
            </a:endParaRPr>
          </a:p>
        </p:txBody>
      </p:sp>
      <p:sp>
        <p:nvSpPr>
          <p:cNvPr id="8" name="TextBox 2001">
            <a:extLst>
              <a:ext uri="{FF2B5EF4-FFF2-40B4-BE49-F238E27FC236}">
                <a16:creationId xmlns:a16="http://schemas.microsoft.com/office/drawing/2014/main" id="{1266011E-8375-ED18-07F7-0E1E547F7E33}"/>
              </a:ext>
            </a:extLst>
          </p:cNvPr>
          <p:cNvSpPr txBox="1"/>
          <p:nvPr/>
        </p:nvSpPr>
        <p:spPr>
          <a:xfrm>
            <a:off x="365760" y="1371600"/>
            <a:ext cx="9052560" cy="320040"/>
          </a:xfrm>
          <a:prstGeom prst="rect">
            <a:avLst/>
          </a:prstGeom>
          <a:noFill/>
        </p:spPr>
        <p:txBody>
          <a:bodyPr wrap="square">
            <a:spAutoFit/>
          </a:bodyPr>
          <a:lstStyle/>
          <a:p>
            <a:pPr algn="l"/>
            <a:r>
              <a:rPr sz="1400" b="1">
                <a:solidFill>
                  <a:srgbClr val="1F2A5C"/>
                </a:solidFill>
                <a:latin typeface="メイリオ" panose="020B0604030504040204" pitchFamily="50" charset="-128"/>
                <a:ea typeface="メイリオ" panose="020B0604030504040204" pitchFamily="50" charset="-128"/>
                <a:cs typeface="メイリオ"/>
              </a:rPr>
              <a:t>生命保険会社</a:t>
            </a:r>
          </a:p>
        </p:txBody>
      </p:sp>
      <p:sp>
        <p:nvSpPr>
          <p:cNvPr id="10" name="Oval 2002">
            <a:extLst>
              <a:ext uri="{FF2B5EF4-FFF2-40B4-BE49-F238E27FC236}">
                <a16:creationId xmlns:a16="http://schemas.microsoft.com/office/drawing/2014/main" id="{77E596DF-1EAC-1237-A0BF-A8592C3A90C8}"/>
              </a:ext>
            </a:extLst>
          </p:cNvPr>
          <p:cNvSpPr/>
          <p:nvPr/>
        </p:nvSpPr>
        <p:spPr>
          <a:xfrm>
            <a:off x="914400" y="1783080"/>
            <a:ext cx="1466850" cy="1188720"/>
          </a:xfrm>
          <a:prstGeom prst="ellipse">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800" b="1">
                <a:solidFill>
                  <a:srgbClr val="FFFFFF"/>
                </a:solidFill>
                <a:latin typeface="メイリオ" panose="020B0604030504040204" pitchFamily="50" charset="-128"/>
                <a:ea typeface="メイリオ" panose="020B0604030504040204" pitchFamily="50" charset="-128"/>
              </a:rPr>
              <a:t>約8倍</a:t>
            </a:r>
          </a:p>
          <a:p>
            <a:pPr algn="ctr"/>
            <a:r>
              <a:rPr sz="1000">
                <a:solidFill>
                  <a:srgbClr val="FFFFFF"/>
                </a:solidFill>
                <a:latin typeface="メイリオ" panose="020B0604030504040204" pitchFamily="50" charset="-128"/>
                <a:ea typeface="メイリオ" panose="020B0604030504040204" pitchFamily="50" charset="-128"/>
              </a:rPr>
              <a:t>資料請求の</a:t>
            </a:r>
            <a:br>
              <a:rPr sz="1000">
                <a:solidFill>
                  <a:srgbClr val="FFFFFF"/>
                </a:solidFill>
                <a:latin typeface="メイリオ" panose="020B0604030504040204" pitchFamily="50" charset="-128"/>
                <a:ea typeface="メイリオ" panose="020B0604030504040204" pitchFamily="50" charset="-128"/>
              </a:rPr>
            </a:br>
            <a:r>
              <a:rPr sz="1000">
                <a:solidFill>
                  <a:srgbClr val="FFFFFF"/>
                </a:solidFill>
                <a:latin typeface="メイリオ" panose="020B0604030504040204" pitchFamily="50" charset="-128"/>
                <a:ea typeface="メイリオ" panose="020B0604030504040204" pitchFamily="50" charset="-128"/>
              </a:rPr>
              <a:t>CV率</a:t>
            </a:r>
            <a:br>
              <a:rPr sz="1000">
                <a:solidFill>
                  <a:srgbClr val="FFFFFF"/>
                </a:solidFill>
                <a:latin typeface="メイリオ" panose="020B0604030504040204" pitchFamily="50" charset="-128"/>
                <a:ea typeface="メイリオ" panose="020B0604030504040204" pitchFamily="50" charset="-128"/>
              </a:rPr>
            </a:br>
            <a:r>
              <a:rPr sz="1000">
                <a:solidFill>
                  <a:srgbClr val="FFFFFF"/>
                </a:solidFill>
                <a:latin typeface="メイリオ" panose="020B0604030504040204" pitchFamily="50" charset="-128"/>
                <a:ea typeface="メイリオ" panose="020B0604030504040204" pitchFamily="50" charset="-128"/>
              </a:rPr>
              <a:t>（メール比）</a:t>
            </a:r>
          </a:p>
        </p:txBody>
      </p:sp>
      <p:sp>
        <p:nvSpPr>
          <p:cNvPr id="12" name="Oval 2003">
            <a:extLst>
              <a:ext uri="{FF2B5EF4-FFF2-40B4-BE49-F238E27FC236}">
                <a16:creationId xmlns:a16="http://schemas.microsoft.com/office/drawing/2014/main" id="{7F917EDB-4DA5-2D51-DEF9-F1D7DC62A3D0}"/>
              </a:ext>
            </a:extLst>
          </p:cNvPr>
          <p:cNvSpPr/>
          <p:nvPr/>
        </p:nvSpPr>
        <p:spPr>
          <a:xfrm>
            <a:off x="2743200" y="1783080"/>
            <a:ext cx="1466850" cy="1188720"/>
          </a:xfrm>
          <a:prstGeom prst="ellipse">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800" b="1">
                <a:solidFill>
                  <a:srgbClr val="FFFFFF"/>
                </a:solidFill>
                <a:latin typeface="メイリオ" panose="020B0604030504040204" pitchFamily="50" charset="-128"/>
                <a:ea typeface="メイリオ" panose="020B0604030504040204" pitchFamily="50" charset="-128"/>
              </a:rPr>
              <a:t>5.2%</a:t>
            </a:r>
          </a:p>
          <a:p>
            <a:pPr algn="ctr"/>
            <a:r>
              <a:rPr sz="1000">
                <a:solidFill>
                  <a:srgbClr val="FFFFFF"/>
                </a:solidFill>
                <a:latin typeface="メイリオ" panose="020B0604030504040204" pitchFamily="50" charset="-128"/>
                <a:ea typeface="メイリオ" panose="020B0604030504040204" pitchFamily="50" charset="-128"/>
              </a:rPr>
              <a:t>営業職員経由</a:t>
            </a:r>
            <a:br>
              <a:rPr sz="1000">
                <a:solidFill>
                  <a:srgbClr val="FFFFFF"/>
                </a:solidFill>
                <a:latin typeface="メイリオ" panose="020B0604030504040204" pitchFamily="50" charset="-128"/>
                <a:ea typeface="メイリオ" panose="020B0604030504040204" pitchFamily="50" charset="-128"/>
              </a:rPr>
            </a:br>
            <a:r>
              <a:rPr sz="1000">
                <a:solidFill>
                  <a:srgbClr val="FFFFFF"/>
                </a:solidFill>
                <a:latin typeface="メイリオ" panose="020B0604030504040204" pitchFamily="50" charset="-128"/>
                <a:ea typeface="メイリオ" panose="020B0604030504040204" pitchFamily="50" charset="-128"/>
              </a:rPr>
              <a:t>の友だちの</a:t>
            </a:r>
            <a:br>
              <a:rPr sz="1000">
                <a:solidFill>
                  <a:srgbClr val="FFFFFF"/>
                </a:solidFill>
                <a:latin typeface="メイリオ" panose="020B0604030504040204" pitchFamily="50" charset="-128"/>
                <a:ea typeface="メイリオ" panose="020B0604030504040204" pitchFamily="50" charset="-128"/>
              </a:rPr>
            </a:br>
            <a:r>
              <a:rPr sz="1000">
                <a:solidFill>
                  <a:srgbClr val="FFFFFF"/>
                </a:solidFill>
                <a:latin typeface="メイリオ" panose="020B0604030504040204" pitchFamily="50" charset="-128"/>
                <a:ea typeface="メイリオ" panose="020B0604030504040204" pitchFamily="50" charset="-128"/>
              </a:rPr>
              <a:t>ブロック率</a:t>
            </a:r>
          </a:p>
        </p:txBody>
      </p:sp>
      <p:sp>
        <p:nvSpPr>
          <p:cNvPr id="14" name="TextBox 2004">
            <a:extLst>
              <a:ext uri="{FF2B5EF4-FFF2-40B4-BE49-F238E27FC236}">
                <a16:creationId xmlns:a16="http://schemas.microsoft.com/office/drawing/2014/main" id="{2705E967-51E9-64AC-1273-825ACF9CF11D}"/>
              </a:ext>
            </a:extLst>
          </p:cNvPr>
          <p:cNvSpPr txBox="1"/>
          <p:nvPr/>
        </p:nvSpPr>
        <p:spPr>
          <a:xfrm>
            <a:off x="365760" y="3427095"/>
            <a:ext cx="9052560" cy="320040"/>
          </a:xfrm>
          <a:prstGeom prst="rect">
            <a:avLst/>
          </a:prstGeom>
          <a:noFill/>
        </p:spPr>
        <p:txBody>
          <a:bodyPr wrap="square">
            <a:spAutoFit/>
          </a:bodyPr>
          <a:lstStyle/>
          <a:p>
            <a:pPr algn="l"/>
            <a:r>
              <a:rPr sz="1400" b="1">
                <a:solidFill>
                  <a:srgbClr val="1F2A5C"/>
                </a:solidFill>
                <a:latin typeface="メイリオ" panose="020B0604030504040204" pitchFamily="50" charset="-128"/>
                <a:ea typeface="メイリオ" panose="020B0604030504040204" pitchFamily="50" charset="-128"/>
                <a:cs typeface="メイリオ"/>
              </a:rPr>
              <a:t>教室・スクール（見学会などのイベント集客）</a:t>
            </a:r>
          </a:p>
        </p:txBody>
      </p:sp>
      <p:sp>
        <p:nvSpPr>
          <p:cNvPr id="16" name="Rounded Rectangle 2005">
            <a:extLst>
              <a:ext uri="{FF2B5EF4-FFF2-40B4-BE49-F238E27FC236}">
                <a16:creationId xmlns:a16="http://schemas.microsoft.com/office/drawing/2014/main" id="{ABF72EB3-0E58-C4B4-86D5-6D34D9F75C0B}"/>
              </a:ext>
            </a:extLst>
          </p:cNvPr>
          <p:cNvSpPr/>
          <p:nvPr/>
        </p:nvSpPr>
        <p:spPr>
          <a:xfrm>
            <a:off x="914400" y="3838575"/>
            <a:ext cx="1463040" cy="1188720"/>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800" b="1" dirty="0">
                <a:solidFill>
                  <a:srgbClr val="FFFFFF"/>
                </a:solidFill>
                <a:latin typeface="メイリオ" panose="020B0604030504040204" pitchFamily="50" charset="-128"/>
                <a:ea typeface="メイリオ" panose="020B0604030504040204" pitchFamily="50" charset="-128"/>
              </a:rPr>
              <a:t>約7割</a:t>
            </a:r>
          </a:p>
          <a:p>
            <a:pPr algn="ctr"/>
            <a:r>
              <a:rPr sz="1000" dirty="0" err="1">
                <a:solidFill>
                  <a:srgbClr val="FFFFFF"/>
                </a:solidFill>
                <a:latin typeface="メイリオ" panose="020B0604030504040204" pitchFamily="50" charset="-128"/>
                <a:ea typeface="メイリオ" panose="020B0604030504040204" pitchFamily="50" charset="-128"/>
              </a:rPr>
              <a:t>見学会の参加者の</a:t>
            </a:r>
            <a:br>
              <a:rPr sz="1000" dirty="0" err="1">
                <a:solidFill>
                  <a:srgbClr val="FFFFFF"/>
                </a:solidFill>
                <a:latin typeface="メイリオ" panose="020B0604030504040204" pitchFamily="50" charset="-128"/>
                <a:ea typeface="メイリオ" panose="020B0604030504040204" pitchFamily="50" charset="-128"/>
              </a:rPr>
            </a:br>
            <a:r>
              <a:rPr sz="1000" dirty="0" err="1">
                <a:solidFill>
                  <a:srgbClr val="FFFFFF"/>
                </a:solidFill>
                <a:latin typeface="メイリオ" panose="020B0604030504040204" pitchFamily="50" charset="-128"/>
                <a:ea typeface="メイリオ" panose="020B0604030504040204" pitchFamily="50" charset="-128"/>
              </a:rPr>
              <a:t>入会率</a:t>
            </a:r>
            <a:endParaRPr sz="800" dirty="0">
              <a:solidFill>
                <a:srgbClr val="FFFFFF"/>
              </a:solidFill>
              <a:latin typeface="メイリオ" panose="020B0604030504040204" pitchFamily="50" charset="-128"/>
              <a:ea typeface="メイリオ" panose="020B0604030504040204" pitchFamily="50" charset="-128"/>
            </a:endParaRPr>
          </a:p>
        </p:txBody>
      </p:sp>
      <p:sp>
        <p:nvSpPr>
          <p:cNvPr id="17" name="注記"/>
          <p:cNvSpPr/>
          <p:nvPr/>
        </p:nvSpPr>
        <p:spPr>
          <a:xfrm>
            <a:off x="365760" y="52120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※LINEヤフー for Business 掲載の事例（数値は各社調べ）。生命保険会社＝2024年4月・2025年2月公開、教室＝2021年8月公開。5.2%は営業職員経由の友だち（自然に友だちになった方は74.9%）</a:t>
            </a:r>
            <a:endParaRPr lang="ja-JP" altLang="en-US" sz="1200" dirty="0"/>
          </a:p>
        </p:txBody>
      </p:sp>
    </p:spTree>
    <p:extLst>
      <p:ext uri="{BB962C8B-B14F-4D97-AF65-F5344CB8AC3E}">
        <p14:creationId xmlns:p14="http://schemas.microsoft.com/office/powerpoint/2010/main" val="215579828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latin typeface="メイリオ"/>
                <a:ea typeface="メイリオ"/>
                <a:cs typeface="メイリオ"/>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latin typeface="メイリオ"/>
                <a:ea typeface="メイリオ"/>
                <a:cs typeface="メイリオ"/>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latin typeface="メイリオ"/>
                <a:ea typeface="メイリオ"/>
                <a:cs typeface="メイリオ"/>
              </a:defRPr>
            </a:pPr>
            <a:endParaRPr lang="ja-JP" altLang="en-US">
              <a:solidFill>
                <a:prstClr val="black"/>
              </a:solidFill>
              <a:latin typeface="メイリオ" pitchFamily="34" charset="0"/>
              <a:ea typeface="メイリオ" pitchFamily="50" charset="-128"/>
              <a:cs typeface="メイリオ"/>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142217</TotalTime>
  <Words>6659</Words>
  <Application>Microsoft Office PowerPoint</Application>
  <PresentationFormat>A4 210 x 297 mm</PresentationFormat>
  <Paragraphs>1393</Paragraphs>
  <Slides>64</Slides>
  <Notes>29</Notes>
  <HiddenSlides>0</HiddenSlides>
  <MMClips>0</MMClips>
  <ScaleCrop>false</ScaleCrop>
  <HeadingPairs>
    <vt:vector size="6" baseType="variant">
      <vt:variant>
        <vt:lpstr>使用されているフォント</vt:lpstr>
      </vt:variant>
      <vt:variant>
        <vt:i4>4</vt:i4>
      </vt:variant>
      <vt:variant>
        <vt:lpstr>テーマ</vt:lpstr>
      </vt:variant>
      <vt:variant>
        <vt:i4>2</vt:i4>
      </vt:variant>
      <vt:variant>
        <vt:lpstr>スライド タイトル</vt:lpstr>
      </vt:variant>
      <vt:variant>
        <vt:i4>64</vt:i4>
      </vt:variant>
    </vt:vector>
  </HeadingPairs>
  <TitlesOfParts>
    <vt:vector size="70" baseType="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1950</cp:revision>
  <cp:lastPrinted>2022-11-01T11:38:14Z</cp:lastPrinted>
  <dcterms:created xsi:type="dcterms:W3CDTF">2015-09-04T09:21:15Z</dcterms:created>
  <dcterms:modified xsi:type="dcterms:W3CDTF">2026-10-20T06:21:57Z</dcterms:modified>
</cp:coreProperties>
</file>