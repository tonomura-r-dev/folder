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62" r:id="rId24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53" r:id="rId35"/>
    <p:sldId id="2979" r:id="rId10"/>
    <p:sldId id="2990" r:id="rId9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塾を調べているのは40代の母親。選ぶときに一番困っているのは、料金ではなく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8883" y="138137"/>
            <a:ext cx="65160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施策の設計図②　企画配信・満足度・管理側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Meiryo"/>
              <a:sym typeface="Meiryo"/>
            </a:endParaRPr>
          </a:p>
        </p:txBody>
      </p:sp>
      <p:sp>
        <p:nvSpPr>
          <p:cNvPr id="8" name="Pentagon 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9" name="Chevron 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0" name="Chevron 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2" name="Chevron 1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3" name="Chevron 1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5" name="Chevron 1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友だちが貯まってからは、時期に合わせた企画配信で体験予約を取る。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あわせて、保護者の疑問にすぐ答え、教室の手間を減らす仕組みを入れる。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※友だち数は1教室あたりのモデル値（6ヶ月後に累計約1,000人・ブロックを除いて約680人）。開封率・クリック率＝DYM SIMの係数（企画配信 78%×10%）。CVR＝0.3〜1.0%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1475999"/>
            <a:ext cx="9043200" cy="21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効率改善　[企画配信]　月1〜2本（費用：月額費用内）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1728000"/>
            <a:ext cx="820799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5999" y="1728000"/>
            <a:ext cx="1540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0" y="1728000"/>
            <a:ext cx="2584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08000" y="1728000"/>
            <a:ext cx="1720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開封率×クリック率×CVR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2000" y="1728000"/>
            <a:ext cx="1072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88000" y="1728000"/>
            <a:ext cx="10440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19620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新学年・</a:t>
            </a:r>
          </a:p>
          <a:p>
            <a:pPr algn="ctr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講習の前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95999" y="19620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友だち全体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約680人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833200" y="2127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880000" y="19620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講習・新学年の先行案内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61200" y="2127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508000" y="19620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78% × 10% × 1.0%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25200" y="2127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272000" y="1962000"/>
            <a:ext cx="1072800" cy="331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0.5件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体験・講習申込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88000" y="19620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23148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</a:t>
            </a:r>
          </a:p>
          <a:p>
            <a:pPr algn="ctr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の前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95999" y="23148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中学生の保護者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約270人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833200" y="2480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880000" y="23148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テスト対策講座・見直しポイント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61200" y="2480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508000" y="23148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78% × 10% × 0.5%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5200" y="2480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272000" y="2314800"/>
            <a:ext cx="1072800" cy="331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0.1件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8000" y="23148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6676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資料請求の後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95999" y="26676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資料を請求した人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（件数は実績で）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833200" y="2833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880000" y="26676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同じタイプの事例・費用のQ&amp;A・教室紹介（⑤）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461200" y="2833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508000" y="26676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78% × 10% × 1.0%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25200" y="2833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272000" y="2667600"/>
            <a:ext cx="1072800" cy="3312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88000" y="26676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000" y="30204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95999" y="30204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体験に来なかった・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入会しなかった人（実績で）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33200" y="3186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880000" y="30204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講習のご案内（⑥再育成・通知メッセージ）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61200" y="3186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508000" y="30204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225200" y="3186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272000" y="3020400"/>
            <a:ext cx="1072800" cy="3312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88000" y="30204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別途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000" y="3438000"/>
            <a:ext cx="4428000" cy="21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満足度改善（ユーザー）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47200" y="3438000"/>
            <a:ext cx="4428000" cy="21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効率改善（管理側）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3708000"/>
            <a:ext cx="1007999" cy="360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[QA自動化]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75999" y="3708000"/>
            <a:ext cx="3384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料金・コース・対象学年・駐車場などを、キーワード自動応答ですぐ答える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00" y="4111200"/>
            <a:ext cx="1007999" cy="360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[個別チャット]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75999" y="4111200"/>
            <a:ext cx="3384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志望校の相談や日程の調整は、平日14〜21時に教室スタッフが1対1で対応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4514400"/>
            <a:ext cx="1007999" cy="360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[その他]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75999" y="4514400"/>
            <a:ext cx="3384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リッチメニューの右下に「無料体験・教室見学の予約」を常に置く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47200" y="3708000"/>
            <a:ext cx="1007999" cy="360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[自動応答]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1200" y="3708000"/>
            <a:ext cx="3384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体験予約の受付・日程の変更・持ち物の案内を、24時間自動で受け付ける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47200" y="4111200"/>
            <a:ext cx="1007999" cy="360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[その他]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91200" y="4111200"/>
            <a:ext cx="3384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GA4のパラメータで、LINE経由の資料請求・体験予約の数を計測する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2000" y="5040000"/>
            <a:ext cx="9043200" cy="792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設計図①②を合わせると、1教室あたり月に 資料請求 約0.5件・体験予約 約1.0件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100教室なら 資料請求 約50件・体験予約 約100件／月。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広告費を増やさず、サイトから帰る保護者をLINEで拾って育てる。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友だち追加とステップ配信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1教室あたりのモデル値で、友だち追加から資料請求・体験予約までの件数を置いた。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開封率・クリック率はDYMのSIMの係数、CVRは0.3〜1.0%で計算している。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※友だち追加数は1教室あたりのモデル値（例）。開封率・クリック率＝DYM SIMの係数（ステップ配信 72.5%×12%）。CVR＝0.3〜1.0%。件数は小数点第1位まで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1475999"/>
            <a:ext cx="9043200" cy="21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友だち追加の動線（新しい友だち：月250人）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1728000"/>
            <a:ext cx="1540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6000" y="1728000"/>
            <a:ext cx="3304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64000" y="1728000"/>
            <a:ext cx="1468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76000" y="1728000"/>
            <a:ext cx="1468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88000" y="1728000"/>
            <a:ext cx="10440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000" y="1962000"/>
            <a:ext cx="1540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00 サイトの離脱防止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69200" y="2124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016000" y="1962000"/>
            <a:ext cx="3304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「まだ決めなくて大丈夫です」30秒診断と資料をLINEで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営業のお電話はしません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317200" y="2124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5364000" y="1962000"/>
            <a:ext cx="1468800" cy="324000"/>
          </a:xfrm>
          <a:prstGeom prst="rect">
            <a:avLst/>
          </a:prstGeom>
          <a:solidFill>
            <a:srgbClr val="06C755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200人/月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76000" y="1962000"/>
            <a:ext cx="1468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3万円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88000" y="1962000"/>
            <a:ext cx="104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1.5万円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2314800"/>
            <a:ext cx="1540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01 完了画面からの誘導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969200" y="24768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016000" y="2314800"/>
            <a:ext cx="3304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資料請求・体験予約の完了画面で「日程の確認・変更はLINEで」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317200" y="24768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364000" y="2314800"/>
            <a:ext cx="1468800" cy="324000"/>
          </a:xfrm>
          <a:prstGeom prst="rect">
            <a:avLst/>
          </a:prstGeom>
          <a:solidFill>
            <a:srgbClr val="06C755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30人/月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76000" y="2314800"/>
            <a:ext cx="1468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88000" y="2314800"/>
            <a:ext cx="104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2000" y="2667600"/>
            <a:ext cx="1540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02 チラシ・教室のQR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969200" y="2829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016000" y="2667600"/>
            <a:ext cx="3304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LINE限定「学年別テスト対策プリント」プレゼント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317200" y="2829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364000" y="2667600"/>
            <a:ext cx="1468800" cy="324000"/>
          </a:xfrm>
          <a:prstGeom prst="rect">
            <a:avLst/>
          </a:prstGeom>
          <a:solidFill>
            <a:srgbClr val="06C755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20人/月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76000" y="2667600"/>
            <a:ext cx="14688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88000" y="2667600"/>
            <a:ext cx="104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000" y="3078000"/>
            <a:ext cx="9043200" cy="21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効率改善　[ステップ配信]　友だち追加から14日間・自動（費用：月額費用内）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2000" y="3330000"/>
            <a:ext cx="820799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95999" y="3330000"/>
            <a:ext cx="1540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80000" y="3330000"/>
            <a:ext cx="2584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08000" y="3330000"/>
            <a:ext cx="1720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開封率×クリック率×CVR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72000" y="3330000"/>
            <a:ext cx="10728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88000" y="3330000"/>
            <a:ext cx="1044000" cy="19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00" y="35640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95999" y="35640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友だち追加者全員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833200" y="3729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880000" y="35640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461200" y="3729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508000" y="35640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100% × 12% × 1.0%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5200" y="3729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7272000" y="3564000"/>
            <a:ext cx="1072800" cy="331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0.3件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388000" y="35640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2000" y="39168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95999" y="39168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全員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833200" y="4082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880000" y="39168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家でできる勉強のコツ（売り込みなし）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61200" y="4082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5508000" y="39168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225200" y="4082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7272000" y="3916800"/>
            <a:ext cx="1072800" cy="3312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  <a:p>
            <a:pPr algn="ctr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88000" y="39168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42696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95999" y="42696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資料を請求していない人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約250人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833200" y="4435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880000" y="42696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61200" y="4435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5508000" y="42696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 × 1.0%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225200" y="4435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7272000" y="4269600"/>
            <a:ext cx="1072800" cy="331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88000" y="42696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32000" y="46224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95999" y="46224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全員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833200" y="4788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880000" y="46224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461200" y="4788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508000" y="46224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 × 0.8%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225200" y="4788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7272000" y="4622400"/>
            <a:ext cx="1072800" cy="331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88000" y="46224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32000" y="4975200"/>
            <a:ext cx="820799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95999" y="4975200"/>
            <a:ext cx="154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体験を予約していない人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約250人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2833200" y="51408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2880000" y="4975200"/>
            <a:ext cx="2584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461200" y="51408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5508000" y="4975200"/>
            <a:ext cx="17208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 × 1.0%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225200" y="51408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7272000" y="4975200"/>
            <a:ext cx="1072800" cy="331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388000" y="4975200"/>
            <a:ext cx="1044000" cy="33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32000" y="538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ステップ配信だけで、1教室あたり月に 資料請求 約0.5件・体験予約 約0.4件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100教室なら 資料請求 約50件・体験予約 約40件／月（広告費は増やさない）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出典｜各社LINE公式アカウント（page.line.me・実測）・公式サイト・LINEヤフー for Business 導入事例（明光ネットワークジャパン 2024）2026-09-25取得。「確認できず」＝公開情報で確認できなかったもの。★競合の実名掲載は上司確認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35999" y="1494000"/>
            <a:ext cx="1526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本部アカウント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（友だち数）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3999" y="1494000"/>
            <a:ext cx="102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教室別の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28000" y="1494000"/>
            <a:ext cx="806399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誰向け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55999" y="1494000"/>
            <a:ext cx="138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59999" y="1494000"/>
            <a:ext cx="1454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LINEで資料請求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・体験予約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5999" y="1494000"/>
            <a:ext cx="13176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チャット相談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1936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35999" y="1936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308,344人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83999" y="1936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あり（多数）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例：623人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8000" y="1936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保護者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5999" y="1936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タイプ別の勉強法・相性チェック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9999" y="1936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（教室は電話・Web・LINEで予約）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5999" y="1936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AIが回答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2638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35999" y="2638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トライさん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120,131人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999" y="2638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8000" y="2638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（中高生）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5999" y="2638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Webの性格診断あり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LINEでは確認できず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9999" y="2638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5999" y="2638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LINE相談窓口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000" y="3340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35999" y="3340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運営会社名義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（スプリックス）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2,043,233人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999" y="3340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28000" y="3340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55999" y="3340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9999" y="3340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5999" y="3340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2000" y="4042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ナビ個別指導学院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35999" y="4042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999" y="4042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28000" y="4042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55999" y="4042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59999" y="4042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35999" y="4042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20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明光義塾はLINEで成果を出している（LINEヤフー公式事例）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・サイトの離脱時ポップアップから友だち追加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・約5カ月で約20万人の友だち（うち約15万人はスタンプの二次拡散）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・資料請求が前年比120％ほど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472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空いているところ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・保護者向けに「診断 → 資料請求 → 体験予約」を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LINEの中でつないでいる塾は、確認できなかった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・トライは生徒向け。森塾・ナビは公式サイトにLINEの導線がない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32000" y="5850000"/>
            <a:ext cx="9043200" cy="34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保護者向けに、診断から資料請求・体験予約までをLINEでつなぐ。ここはまだ空いている。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⑧紹介は今回の提案には含めない（入会まで）</a:t>
            </a:r>
          </a:p>
        </p:txBody>
      </p:sp>
      <p:sp>
        <p:nvSpPr>
          <p:cNvPr id="61" name="Pentagon 6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2" name="Chevron 6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63" name="Chevron 6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4" name="Chevron 6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65" name="Chevron 6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6" name="Chevron 6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7" name="Chevron 6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8" name="Chevron 6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69" name="Pentagon 68"/>
          <p:cNvSpPr/>
          <p:nvPr/>
        </p:nvSpPr>
        <p:spPr>
          <a:xfrm>
            <a:off x="432000" y="1584000"/>
            <a:ext cx="1092600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0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71" name="Chevron 70"/>
          <p:cNvSpPr/>
          <p:nvPr/>
        </p:nvSpPr>
        <p:spPr>
          <a:xfrm>
            <a:off x="1567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85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73" name="Chevron 72"/>
          <p:cNvSpPr/>
          <p:nvPr/>
        </p:nvSpPr>
        <p:spPr>
          <a:xfrm>
            <a:off x="27036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21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75" name="Chevron 74"/>
          <p:cNvSpPr/>
          <p:nvPr/>
        </p:nvSpPr>
        <p:spPr>
          <a:xfrm>
            <a:off x="3839399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574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30秒診断 →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資料をLINEで</a:t>
            </a:r>
          </a:p>
        </p:txBody>
      </p:sp>
      <p:sp>
        <p:nvSpPr>
          <p:cNvPr id="77" name="Chevron 76"/>
          <p:cNvSpPr/>
          <p:nvPr/>
        </p:nvSpPr>
        <p:spPr>
          <a:xfrm>
            <a:off x="49752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9932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資料を読む人へ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追いの配信→体験予約</a:t>
            </a:r>
          </a:p>
        </p:txBody>
      </p:sp>
      <p:sp>
        <p:nvSpPr>
          <p:cNvPr id="79" name="Chevron 78"/>
          <p:cNvSpPr/>
          <p:nvPr/>
        </p:nvSpPr>
        <p:spPr>
          <a:xfrm>
            <a:off x="61110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29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体験に来なかった・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入会しなかった人へ</a:t>
            </a:r>
          </a:p>
        </p:txBody>
      </p:sp>
      <p:sp>
        <p:nvSpPr>
          <p:cNvPr id="81" name="Chevron 80"/>
          <p:cNvSpPr/>
          <p:nvPr/>
        </p:nvSpPr>
        <p:spPr>
          <a:xfrm>
            <a:off x="7246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64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sp>
        <p:nvSpPr>
          <p:cNvPr id="83" name="Chevron 82"/>
          <p:cNvSpPr/>
          <p:nvPr/>
        </p:nvSpPr>
        <p:spPr>
          <a:xfrm>
            <a:off x="8382600" y="1584000"/>
            <a:ext cx="1092600" cy="36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00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今回は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扱わない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57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38574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5215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49932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793100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72648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731399" y="3643199"/>
            <a:ext cx="2444400" cy="1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↑ この間に「読んで・比べて・迷う」期間がある ↑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76000" y="3870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76000" y="4140000"/>
            <a:ext cx="4248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・名前や学年が分かるので、その後の配信を合わせられる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04000" y="4140000"/>
            <a:ext cx="4320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32000" y="543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離脱防止ポップアップ／チラシ・教室のQR／友だちからの紹介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友だちからの紹介（入会前）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「一緒に体験しよう」をLINEで送ってもらう（P15）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一緒に体験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👫 友だちと一緒に体験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前日リマインドへ（P22）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※事例の数字は貴社の実績に差し替え、学年・期間・通った回数を書く。体験予約の前日のメッセージはP22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つづき：友だちと一緒に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「友だちと一緒なら行ってみたい」を、体験予約のきっかけにする。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保護者どうしの「どこの塾に行ってる？」を、LINEでつなぐ。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2022年（保護者300人）。特典の中身は塾ごとに決める</a:t>
            </a:r>
          </a:p>
        </p:txBody>
      </p:sp>
      <p:sp>
        <p:nvSpPr>
          <p:cNvPr id="17" name="Pentagon 16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8" name="Chevron 17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9" name="Chevron 18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0" name="Chevron 19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1" name="Chevron 20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3" name="Chevron 22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4" name="Chevron 23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「知人・友人の口コミ」47.0%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友だちとの会話を、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体験予約のきっかけにする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友だちと一緒の体験枠をLINEで予約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LINEの転送だけで紹介できる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友だちと一緒に通うメリット（保護者に伝えること）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2862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000" y="2862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通う習慣がつきやすい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一緒に行く友だちがいると、休みにくくなる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000" y="3654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励まし合える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テスト前も「一緒に頑張ろう」がある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4446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000" y="4446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送り迎えを分担できる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保護者どうしで助け合える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LINEでの仕組み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8000" y="2844000"/>
            <a:ext cx="1728000" cy="3060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8000" y="3042000"/>
            <a:ext cx="1548000" cy="27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38000" y="3042000"/>
            <a:ext cx="15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10000" y="3402000"/>
            <a:ext cx="1368000" cy="7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お友だちと一緒の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体験授業も受け付けて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います😊 2人とも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特典があります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10000" y="4194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一緒に体験を予約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10000" y="4482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友だちに送る</a:t>
            </a:r>
          </a:p>
        </p:txBody>
      </p:sp>
      <p:sp>
        <p:nvSpPr>
          <p:cNvPr id="50" name="Oval 49"/>
          <p:cNvSpPr/>
          <p:nvPr/>
        </p:nvSpPr>
        <p:spPr>
          <a:xfrm>
            <a:off x="7056000" y="3024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88000" y="2934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友だちと一緒の体験枠を用意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LINEで2人分をまとめて予約できる</a:t>
            </a:r>
          </a:p>
        </p:txBody>
      </p:sp>
      <p:sp>
        <p:nvSpPr>
          <p:cNvPr id="52" name="Oval 51"/>
          <p:cNvSpPr/>
          <p:nvPr/>
        </p:nvSpPr>
        <p:spPr>
          <a:xfrm>
            <a:off x="7056000" y="3816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88000" y="3726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2人とも特典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例：体験後の学習相談、教材プレゼント</a:t>
            </a:r>
          </a:p>
        </p:txBody>
      </p:sp>
      <p:sp>
        <p:nvSpPr>
          <p:cNvPr id="54" name="Oval 53"/>
          <p:cNvSpPr/>
          <p:nvPr/>
        </p:nvSpPr>
        <p:spPr>
          <a:xfrm>
            <a:off x="7056000" y="4608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8000" y="4518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LINEの転送で紹介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トークを友だちの保護者に送るだけ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友だち追加から入会まで・施策の設計図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P13〜27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P28〜33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塾を知ったきっかけの1位は「知人・友人の口コミ」47.0%。塾の公式サイトより多い。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保護者どうしの「どこの塾に行ってる？」を、LINEの友だち追加につなげる。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1位「知人・友人の口コミ」47.0%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2位「インターネット上の口コミ」28.3%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LINEの友だち追加につなげる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友だちと一緒の体験枠／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塾を知ったきっかけ（上位2つ）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987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96000" y="2951999"/>
            <a:ext cx="23688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00800" y="2987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3563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6000" y="3527999"/>
            <a:ext cx="1426320" cy="36000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8319" y="3563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LINEでの仕掛け（入会前）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200" y="2880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2人まとめてLINEで予約（P15）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47200" y="3546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「うちはこのタイプだった」を共有しやすく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4212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体験に来た保護者へ案内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「お友達も一緒にどうぞ」を翌日のメッセージで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口コミで選ばれる業界だから、口コミが生まれる場所にLINEの入口を置く。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P15・P25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POPER「Comiru」保護者と学習塾の意識調査 2022年 n=300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193999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4000" y="4193999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