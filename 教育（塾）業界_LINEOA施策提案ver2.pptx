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8"/>
  </p:notesMasterIdLst>
  <p:handoutMasterIdLst>
    <p:handoutMasterId r:id="rId39"/>
  </p:handoutMasterIdLst>
  <p:sldIdLst>
    <p:sldId id="2363" r:id="rId3"/>
    <p:sldId id="2967" r:id="rId29"/>
    <p:sldId id="2956" r:id="rId4"/>
    <p:sldId id="2988" r:id="rId5"/>
    <p:sldId id="2972" r:id="rId6"/>
    <p:sldId id="2736" r:id="rId12"/>
    <p:sldId id="2982" r:id="rId11"/>
    <p:sldId id="2986" r:id="rId16"/>
    <p:sldId id="2983" r:id="rId13"/>
    <p:sldId id="2977" r:id="rId7"/>
    <p:sldId id="2984" r:id="rId14"/>
    <p:sldId id="2944" r:id="rId28"/>
    <p:sldId id="2985" r:id="rId15"/>
    <p:sldId id="2987" r:id="rId17"/>
    <p:sldId id="2962" r:id="rId24"/>
    <p:sldId id="2908" r:id="rId18"/>
    <p:sldId id="2950" r:id="rId19"/>
    <p:sldId id="2762" r:id="rId20"/>
    <p:sldId id="2937" r:id="rId21"/>
    <p:sldId id="2939" r:id="rId22"/>
    <p:sldId id="2966" r:id="rId23"/>
    <p:sldId id="2942" r:id="rId25"/>
    <p:sldId id="2943" r:id="rId27"/>
    <p:sldId id="2941" r:id="rId26"/>
    <p:sldId id="2953" r:id="rId35"/>
    <p:sldId id="2979" r:id="rId10"/>
    <p:sldId id="2990" r:id="rId9"/>
    <p:sldId id="2989" r:id="rId8"/>
    <p:sldId id="2991" r:id="rId44"/>
    <p:sldId id="2946" r:id="rId30"/>
    <p:sldId id="2947" r:id="rId31"/>
    <p:sldId id="2948" r:id="rId32"/>
    <p:sldId id="2958" r:id="rId33"/>
    <p:sldId id="2954" r:id="rId34"/>
    <p:sldId id="2955" r:id="rId36"/>
    <p:sldId id="1169" r:id="rId3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0" d="100"/>
          <a:sy n="10" d="100"/>
        </p:scale>
        <p:origin x="6" y="6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10.xml"/><Relationship Id="rId8" Type="http://schemas.openxmlformats.org/officeDocument/2006/relationships/slide" Target="slides/slide28.xml"/><Relationship Id="rId9" Type="http://schemas.openxmlformats.org/officeDocument/2006/relationships/slide" Target="slides/slide27.xml"/><Relationship Id="rId10" Type="http://schemas.openxmlformats.org/officeDocument/2006/relationships/slide" Target="slides/slide26.xml"/><Relationship Id="rId11" Type="http://schemas.openxmlformats.org/officeDocument/2006/relationships/slide" Target="slides/slide7.xml"/><Relationship Id="rId12" Type="http://schemas.openxmlformats.org/officeDocument/2006/relationships/slide" Target="slides/slide6.xml"/><Relationship Id="rId13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3.xml"/><Relationship Id="rId16" Type="http://schemas.openxmlformats.org/officeDocument/2006/relationships/slide" Target="slides/slide8.xml"/><Relationship Id="rId17" Type="http://schemas.openxmlformats.org/officeDocument/2006/relationships/slide" Target="slides/slide14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15.xml"/><Relationship Id="rId25" Type="http://schemas.openxmlformats.org/officeDocument/2006/relationships/slide" Target="slides/slide22.xml"/><Relationship Id="rId26" Type="http://schemas.openxmlformats.org/officeDocument/2006/relationships/slide" Target="slides/slide24.xml"/><Relationship Id="rId27" Type="http://schemas.openxmlformats.org/officeDocument/2006/relationships/slide" Target="slides/slide23.xml"/><Relationship Id="rId28" Type="http://schemas.openxmlformats.org/officeDocument/2006/relationships/slide" Target="slides/slide12.xml"/><Relationship Id="rId29" Type="http://schemas.openxmlformats.org/officeDocument/2006/relationships/slide" Target="slides/slide2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25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openxmlformats.org/officeDocument/2006/relationships/slide" Target="slides/slide2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40A72-79AB-D734-F919-6B5353A0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043DCC9-013F-5916-497A-3173AB3EE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AE4841C-3C6F-F028-ED9E-D25D3936D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806F5D-B3E8-8EF8-D9FF-5F440AE724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632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C596-88E7-2BC9-7631-7B2FF864C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78EA305-DD4B-4755-1A79-3ECAA1BFA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E530CFC-96E0-CB7F-D9F4-B974123A5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657086-8B2C-117D-A7A7-81B2D30759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022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5148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F8CEE-BA77-7F59-159F-47D256C6C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920AAE9-56BE-66E5-82F7-A32C5F5E3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23263BB-84E3-A23F-F50A-22409A9D0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E676F0-0850-6080-8D54-24CC34C00E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1456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B1800-D47D-9623-88C4-F3F1B11ED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B704ED9-0313-110E-A57A-A9A15550F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01CA249-8084-E89C-5484-AD2CD6CA5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B72AE6-8350-35EF-B366-1B6DD9FAA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7630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7D297-594A-D322-AC6D-28FDD0CCC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D47DAF-3395-7EB8-B917-99947107C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5D9425B-51D3-BDCB-545C-23641969B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3D62E5C-A1FD-A187-2F31-A827800A2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1900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CC1BB-A366-B481-D59D-4EB553277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0890F8B-EEFF-D02B-04F0-B8C096E43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1D321AA-CFFF-72F6-A10A-CE135C21D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628A77C-D838-F107-1299-1CFE8BFB2F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361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9A811-371F-8FB3-F066-52767F4E9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0A11C9D-FDA9-6C17-2E4B-B8729DB02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D22E24C-8C3E-B253-1458-19B063283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5308508-22B0-7807-8EBD-1B4BC57F8A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835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2497A-27D1-3FCF-1F91-9D3EAE5F5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F107B2A-3CC9-CDDB-0154-3C6FEEEB7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69E55FE-2D43-AAFB-1E0D-9FE86011A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505F46C-9309-B38B-AEB2-32E50CF0E8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6070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7E86F-A6D1-E87A-0CDF-967B15A6E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EB2A411-33D2-6528-1C93-D186B1984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6218984-9375-B358-47D3-58B36CCF8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1F039DC-7BEC-8764-B0DE-E4A154E5A1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20095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35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emf"/><Relationship Id="rId4" Type="http://schemas.openxmlformats.org/officeDocument/2006/relationships/image" Target="../media/image14.jpeg"/><Relationship Id="rId5" Type="http://schemas.openxmlformats.org/officeDocument/2006/relationships/image" Target="../media/image15.jpeg"/><Relationship Id="rId6" Type="http://schemas.openxmlformats.org/officeDocument/2006/relationships/image" Target="../media/image16.jpeg"/><Relationship Id="rId7" Type="http://schemas.openxmlformats.org/officeDocument/2006/relationships/image" Target="../media/image17.jpeg"/><Relationship Id="rId8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39684" y="2460753"/>
            <a:ext cx="6626632" cy="474509"/>
          </a:xfrm>
          <a:prstGeom prst="rect">
            <a:avLst/>
          </a:prstGeom>
        </p:spPr>
        <p:txBody>
          <a:bodyPr wrap="square" lIns="50400" tIns="21600" rIns="50400" bIns="21600" anchor="ctr">
            <a:spAutoFit/>
          </a:bodyPr>
          <a:lstStyle/>
          <a:p>
            <a:pPr algn="ctr"/>
            <a:r>
              <a:rPr lang="ja-JP" altLang="en-US"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保護者の「迷っている期間」に寄り添い、</a:t>
            </a:r>
            <a:endParaRPr lang="en-US" sz="14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lang="ja-JP" altLang="en-US"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資料請求から体験予約・入会までをつなぐ</a:t>
            </a:r>
            <a:endParaRPr lang="en-US" sz="14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DEE7F4-9CB5-D481-E92E-3941E7AB9B1C}"/>
              </a:ext>
            </a:extLst>
          </p:cNvPr>
          <p:cNvSpPr/>
          <p:nvPr/>
        </p:nvSpPr>
        <p:spPr>
          <a:xfrm>
            <a:off x="3524717" y="3910946"/>
            <a:ext cx="2804160" cy="405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- 2026</a:t>
            </a:r>
            <a:r>
              <a:rPr kumimoji="1"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最新版 </a:t>
            </a:r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6E1B5EC-868B-5787-A5AF-C20671BB3688}"/>
              </a:ext>
            </a:extLst>
          </p:cNvPr>
          <p:cNvSpPr/>
          <p:nvPr/>
        </p:nvSpPr>
        <p:spPr>
          <a:xfrm>
            <a:off x="3524717" y="4341752"/>
            <a:ext cx="2804160" cy="4055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/>
            <a:r>
              <a:rPr sz="12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業界：教育（学習塾）</a:t>
            </a: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6F07D-57DB-D005-AEF4-0353E12BF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アジェンダ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30000"/>
            <a:ext cx="9036000" cy="720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市場と広告の課題から入り、保護者の検索データで「すべきこと」を決め、LINE施策に落とします。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80000" y="1548000"/>
            <a:ext cx="503999" cy="503999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764000" y="1565999"/>
            <a:ext cx="3060000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5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市場の課題</a:t>
            </a:r>
          </a:p>
        </p:txBody>
      </p:sp>
      <p:sp>
        <p:nvSpPr>
          <p:cNvPr id="7" name="Rectangle 6"/>
          <p:cNvSpPr/>
          <p:nvPr/>
        </p:nvSpPr>
        <p:spPr>
          <a:xfrm>
            <a:off x="1764000" y="1835999"/>
            <a:ext cx="522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子どもは減り、大手・中堅で奪い合う</a:t>
            </a:r>
          </a:p>
        </p:txBody>
      </p:sp>
      <p:sp>
        <p:nvSpPr>
          <p:cNvPr id="8" name="Rectangle 7"/>
          <p:cNvSpPr/>
          <p:nvPr/>
        </p:nvSpPr>
        <p:spPr>
          <a:xfrm>
            <a:off x="7740000" y="1673999"/>
            <a:ext cx="1152000" cy="25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r"/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P3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64000" y="2124000"/>
            <a:ext cx="7128000" cy="0"/>
          </a:xfrm>
          <a:prstGeom prst="line">
            <a:avLst/>
          </a:prstGeom>
          <a:ln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80000" y="2188800"/>
            <a:ext cx="503999" cy="503999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64000" y="2206800"/>
            <a:ext cx="3060000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5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広告の課題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64000" y="2476800"/>
            <a:ext cx="522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広告で取れているのは指名検索だけ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40000" y="2314800"/>
            <a:ext cx="1152000" cy="25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r"/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P4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64000" y="2764800"/>
            <a:ext cx="7128000" cy="0"/>
          </a:xfrm>
          <a:prstGeom prst="line">
            <a:avLst/>
          </a:prstGeom>
          <a:ln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80000" y="2829600"/>
            <a:ext cx="503999" cy="503999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64000" y="2847599"/>
            <a:ext cx="3060000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5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検索データ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64000" y="3117600"/>
            <a:ext cx="522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保護者はどう塾を選んでいるか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40000" y="2955599"/>
            <a:ext cx="1152000" cy="25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r"/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P5〜8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64000" y="3405599"/>
            <a:ext cx="7128000" cy="0"/>
          </a:xfrm>
          <a:prstGeom prst="line">
            <a:avLst/>
          </a:prstGeom>
          <a:ln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80000" y="3470400"/>
            <a:ext cx="503999" cy="503999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64000" y="3488400"/>
            <a:ext cx="3060000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5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各社LINEの今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64000" y="3758400"/>
            <a:ext cx="522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大手2社・中堅2社のLINE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40000" y="3596400"/>
            <a:ext cx="1152000" cy="25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r"/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P9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64000" y="4046400"/>
            <a:ext cx="7128000" cy="0"/>
          </a:xfrm>
          <a:prstGeom prst="line">
            <a:avLst/>
          </a:prstGeom>
          <a:ln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80000" y="4111200"/>
            <a:ext cx="503999" cy="503999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64000" y="4129200"/>
            <a:ext cx="3060000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5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考え方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64000" y="4399200"/>
            <a:ext cx="522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LINEでできること・全体設計・導線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40000" y="4237200"/>
            <a:ext cx="1152000" cy="25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r"/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P10〜12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764000" y="4687200"/>
            <a:ext cx="7128000" cy="0"/>
          </a:xfrm>
          <a:prstGeom prst="line">
            <a:avLst/>
          </a:prstGeom>
          <a:ln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80000" y="4752000"/>
            <a:ext cx="503999" cy="503999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64000" y="4770000"/>
            <a:ext cx="3060000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5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64000" y="5040000"/>
            <a:ext cx="522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友だち追加から入会まで・施策の設計図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40000" y="4878000"/>
            <a:ext cx="1152000" cy="25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r"/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P13〜29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764000" y="5328000"/>
            <a:ext cx="7128000" cy="0"/>
          </a:xfrm>
          <a:prstGeom prst="line">
            <a:avLst/>
          </a:prstGeom>
          <a:ln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080000" y="5392800"/>
            <a:ext cx="503999" cy="503999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64000" y="5410800"/>
            <a:ext cx="3060000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5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運用・費用・スケジュール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64000" y="5680800"/>
            <a:ext cx="522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成果の見方・費用・体制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40000" y="5518800"/>
            <a:ext cx="1152000" cy="25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r"/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P30〜35</a:t>
            </a:r>
          </a:p>
        </p:txBody>
      </p:sp>
    </p:spTree>
    <p:extLst>
      <p:ext uri="{BB962C8B-B14F-4D97-AF65-F5344CB8AC3E}">
        <p14:creationId xmlns:p14="http://schemas.microsoft.com/office/powerpoint/2010/main" val="263812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2180-D336-F255-C39D-17584774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市場データ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38286"/>
            <a:ext cx="9036000" cy="503428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ニーズ全体図。出生数は8年で27.7%減った。それなのに学習塾市場は伸びている。</a:t>
            </a:r>
          </a:p>
          <a:p>
            <a:pPr algn="l">
              <a:lnSpc>
                <a:spcPct val="128000"/>
              </a:lnSpc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より少ない子どもから、より多くの売上を取る競争になっている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9424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728000"/>
            <a:ext cx="2942400" cy="324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出生数（2015→2023）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2088000"/>
            <a:ext cx="2942400" cy="576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/>
            <a:r>
              <a:rPr sz="3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▲27.7%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2700000"/>
            <a:ext cx="2942400" cy="468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1,005,677人 → 727,277人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400" y="1620000"/>
            <a:ext cx="29424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82400" y="1728000"/>
            <a:ext cx="2942400" cy="324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学習塾 市場規模（2020→2024）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2400" y="2088000"/>
            <a:ext cx="2942400" cy="576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/>
            <a:r>
              <a:rPr sz="3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+13.5%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2400" y="2700000"/>
            <a:ext cx="2942400" cy="468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4,374億円 → 4,965億円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2800" y="1620000"/>
            <a:ext cx="29424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2800" y="1728000"/>
            <a:ext cx="2942400" cy="324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小学校 児童数（2015→2024）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2800" y="2088000"/>
            <a:ext cx="2942400" cy="576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/>
            <a:r>
              <a:rPr sz="3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▲9.7%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2800" y="2700000"/>
            <a:ext cx="2942400" cy="468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654.3万人 → 591.0万人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3420000"/>
            <a:ext cx="9043200" cy="61200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0000" y="3420000"/>
            <a:ext cx="8827200" cy="612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母数は減り続ける。競争密度が上がるのはこれから。いま必要なのは、取りこぼしを拾う設計。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4176000"/>
            <a:ext cx="90432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0000" y="4230000"/>
            <a:ext cx="8827200" cy="792000"/>
          </a:xfrm>
          <a:prstGeom prst="rect">
            <a:avLst/>
          </a:prstGeom>
          <a:noFill/>
        </p:spPr>
        <p:txBody>
          <a:bodyPr wrap="square" lIns="50400" tIns="21600" rIns="50400" bIns="216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⚠ 市場規模は「定義」で2倍変わる。必ず併記すること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経産省「特定サービス産業動態統計」4,965億円＝受講生500人以上の主要事業者のみ（市場の約4〜5割）。個人塾・中小は含まない。</a:t>
            </a:r>
          </a:p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矢野経済研究所の全体推計＝9,870億円（2023年度）。個人経営の補習塾・中小予備校まで含むため約2倍。どちらも正しく、定義が違うだけ。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出典｜厚生労働省 人口動態統計（確定数）／経済産業省 特定サービス産業動態統計（2025年3月公表・2024年確報）／文部科学省 学校基本調査（令和6年度確報）／矢野経済研究所「教育産業市場に関する調査」2024年。※提案前にe-Statで統計表を開いて数値照合すること</a:t>
            </a:r>
          </a:p>
        </p:txBody>
      </p:sp>
    </p:spTree>
    <p:extLst>
      <p:ext uri="{BB962C8B-B14F-4D97-AF65-F5344CB8AC3E}">
        <p14:creationId xmlns:p14="http://schemas.microsoft.com/office/powerpoint/2010/main" val="676230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673A-9013-9BC2-61FD-9A983905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広告の実態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30000"/>
            <a:ext cx="9036000" cy="720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塾の広告で取れているのは、ほとんどが塾名での検索（指名）。「個別指導 ◯◯駅」のような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一般のキーワードは、1件あたりの広告費が高い。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※広告の実績は取得中（差し替え予定）。LPの離脱率は旧版のモデル値（LP CVR 2.0%）のため、実績に差し替えるか「モデル値」と明記する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1512000"/>
            <a:ext cx="4428000" cy="251999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獲得件数の割合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47200" y="1512000"/>
            <a:ext cx="4428000" cy="251999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1件あたりの広告費（CPA）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1908000"/>
            <a:ext cx="4428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指名キーワード（塾名）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000" y="2142000"/>
            <a:ext cx="4428000" cy="558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587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50" b="1">
                <a:solidFill>
                  <a:srgbClr val="C55A11"/>
                </a:solidFill>
                <a:latin typeface="メイリオ"/>
                <a:ea typeface="メイリオ"/>
                <a:cs typeface="メイリオ"/>
              </a:rPr>
              <a:t>【データ待ち】広告の実績</a:t>
            </a:r>
          </a:p>
          <a:p>
            <a:pPr algn="ctr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棒グラフで入れる（殿村さん取得中）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47200" y="1908000"/>
            <a:ext cx="4428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指名キーワード（塾名）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47200" y="2142000"/>
            <a:ext cx="4428000" cy="558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587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50" b="1">
                <a:solidFill>
                  <a:srgbClr val="C55A11"/>
                </a:solidFill>
                <a:latin typeface="メイリオ"/>
                <a:ea typeface="メイリオ"/>
                <a:cs typeface="メイリオ"/>
              </a:rPr>
              <a:t>【データ待ち】広告の実績</a:t>
            </a:r>
          </a:p>
          <a:p>
            <a:pPr algn="ctr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棒グラフで入れる（殿村さん取得中）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2844000"/>
            <a:ext cx="4428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一般キーワード（個別指導 ◯◯駅 など）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3078000"/>
            <a:ext cx="4428000" cy="558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587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50" b="1">
                <a:solidFill>
                  <a:srgbClr val="C55A11"/>
                </a:solidFill>
                <a:latin typeface="メイリオ"/>
                <a:ea typeface="メイリオ"/>
                <a:cs typeface="メイリオ"/>
              </a:rPr>
              <a:t>【データ待ち】広告の実績</a:t>
            </a:r>
          </a:p>
          <a:p>
            <a:pPr algn="ctr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棒グラフで入れる（殿村さん取得中）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47200" y="2844000"/>
            <a:ext cx="4428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一般キーワード（個別指導 ◯◯駅 など）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7200" y="3078000"/>
            <a:ext cx="4428000" cy="558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587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50" b="1">
                <a:solidFill>
                  <a:srgbClr val="C55A11"/>
                </a:solidFill>
                <a:latin typeface="メイリオ"/>
                <a:ea typeface="メイリオ"/>
                <a:cs typeface="メイリオ"/>
              </a:rPr>
              <a:t>【データ待ち】広告の実績</a:t>
            </a:r>
          </a:p>
          <a:p>
            <a:pPr algn="ctr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棒グラフで入れる（殿村さん取得中）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000" y="3870000"/>
            <a:ext cx="9043200" cy="936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6000" y="3924000"/>
            <a:ext cx="8748000" cy="25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LPに来た保護者の多くは、名前を残さず帰っている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00" y="4194000"/>
            <a:ext cx="8748000" cy="57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広告で連れてきた保護者も、その場で申し込まなければ接点は切れる。</a:t>
            </a:r>
          </a:p>
          <a:p>
            <a:pPr algn="l"/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LPの離脱率：【データ待ち】（実績があれば差し替え。旧版の「100人中98人」はモデル値）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2000" y="4968000"/>
            <a:ext cx="9043200" cy="54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広告費を増やして一般キーワードを取りにいくのは高くつく。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サイトに来て、まだ決めかねている保護者を、LINEで逃がさない仕組みが要る。</a:t>
            </a:r>
          </a:p>
        </p:txBody>
      </p:sp>
    </p:spTree>
    <p:extLst>
      <p:ext uri="{BB962C8B-B14F-4D97-AF65-F5344CB8AC3E}">
        <p14:creationId xmlns:p14="http://schemas.microsoft.com/office/powerpoint/2010/main" val="3509480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58B38-C7A2-1CE4-FDFD-8D6A744BB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誰が調べているか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塾を調べているのは40代の母親。選ぶときに一番困っているのは、料金ではなく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「うちの子に合う塾が分からない」（63.5%）。払う気はある。合うか分からないから決められない。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19999"/>
            <a:ext cx="4176000" cy="278911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999" y="1692000"/>
            <a:ext cx="3960000" cy="288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誰が調べているか（LINEヤフー前後検索・実測）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999" y="2051999"/>
            <a:ext cx="900000" cy="45759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999" y="2051999"/>
            <a:ext cx="900000" cy="378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性別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0000" y="2113199"/>
            <a:ext cx="1080000" cy="378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/>
            <a:r>
              <a:rPr sz="14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女性</a:t>
            </a:r>
            <a:r>
              <a:rPr sz="14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 67.4%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7000" y="2177706"/>
            <a:ext cx="1835999" cy="351014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起点KW「塾</a:t>
            </a:r>
            <a:r>
              <a:rPr sz="8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  <a:endParaRPr lang="en-US" sz="8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</a:pPr>
            <a:r>
              <a:rPr sz="8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「塾 費用」も65.5%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999" y="2623657"/>
            <a:ext cx="900000" cy="45759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999" y="2623657"/>
            <a:ext cx="900000" cy="378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個別クエリ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7000" y="2698858"/>
            <a:ext cx="1080000" cy="378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/>
            <a:r>
              <a:rPr sz="14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女性</a:t>
            </a:r>
            <a:r>
              <a:rPr sz="14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 86〜88%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0000" y="2693691"/>
            <a:ext cx="1835999" cy="378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「塾 いつから通わせる」86.5%／「</a:t>
            </a:r>
            <a:r>
              <a:rPr sz="8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高校受験</a:t>
            </a:r>
            <a:r>
              <a:rPr sz="8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塾 いつから」87.9%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999" y="3210892"/>
            <a:ext cx="900000" cy="45759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999" y="3210892"/>
            <a:ext cx="900000" cy="378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0000" y="3288600"/>
            <a:ext cx="1080000" cy="378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/>
            <a:r>
              <a:rPr sz="14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40代 52.8%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0000" y="3315586"/>
            <a:ext cx="1835999" cy="351014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50代23.5%／30代11.1%</a:t>
            </a:r>
            <a:endParaRPr lang="en-US" sz="8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</a:pPr>
            <a:r>
              <a:rPr sz="8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8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同音異義語ノイズ除外後</a:t>
            </a:r>
            <a:r>
              <a:rPr sz="8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999" y="3811766"/>
            <a:ext cx="900000" cy="45759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7999" y="3811766"/>
            <a:ext cx="900000" cy="378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学年別の違い</a:t>
            </a:r>
            <a:endParaRPr sz="95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30000" y="3909238"/>
            <a:ext cx="1080000" cy="378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/>
            <a:r>
              <a:rPr sz="14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30代 22.1%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6999" y="3912799"/>
            <a:ext cx="1835999" cy="351014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「塾 費用」では30代が上昇</a:t>
            </a:r>
            <a:endParaRPr lang="en-US" sz="8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</a:pPr>
            <a:r>
              <a:rPr sz="8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＝小学生の保護者は30代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23999" y="1619999"/>
            <a:ext cx="4651200" cy="27891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49999" y="1692000"/>
            <a:ext cx="4392000" cy="288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保護者の心の声（データの翻訳）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49999" y="2051999"/>
            <a:ext cx="4392000" cy="4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28800" rIns="72000" bIns="28800" rtlCol="0" anchor="ctr"/>
          <a:lstStyle/>
          <a:p>
            <a:pPr algn="l"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うちの子に合うのか、通ってみるまで分からない</a:t>
            </a: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15000"/>
              </a:lnSpc>
            </a:pPr>
            <a:r>
              <a:rPr sz="8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塾選び最大の苦労</a:t>
            </a:r>
            <a:r>
              <a:rPr sz="8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 63.5%（塾ナラ2025・n=200）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49999" y="2623657"/>
            <a:ext cx="4392000" cy="4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28800" rIns="72000" bIns="28800" rtlCol="0" anchor="ctr"/>
          <a:lstStyle/>
          <a:p>
            <a:pPr algn="l"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集団と個別、どっちが向いてるのか判断できない</a:t>
            </a: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15000"/>
              </a:lnSpc>
            </a:pPr>
            <a:r>
              <a:rPr sz="8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「情報が多すぎる」17.0%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49999" y="3204984"/>
            <a:ext cx="4392000" cy="4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28800" rIns="72000" bIns="28800" rtlCol="0" anchor="ctr"/>
          <a:lstStyle/>
          <a:p>
            <a:pPr algn="l"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月謝の他に講習費がいくら乗るのか読めない</a:t>
            </a: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15000"/>
              </a:lnSpc>
            </a:pPr>
            <a:r>
              <a:rPr sz="8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費用に負担を感じる91.2%／一方で「妥当」57.7%（塾シル2026）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49999" y="3807914"/>
            <a:ext cx="4392000" cy="4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28800" rIns="72000" bIns="28800" rtlCol="0" anchor="ctr"/>
          <a:lstStyle/>
          <a:p>
            <a:pPr algn="l"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「集団と個別、どちらに入れたらいいのか」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/>
            </a: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8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塾を決めるのに関わる人：保護者80.5%（明光2020）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000" y="4896907"/>
            <a:ext cx="9043200" cy="6012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0" rIns="72000" bIns="0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払う気はある。合うかどうかが分からないから決められない</a:t>
            </a:r>
            <a:r>
              <a:rPr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  <a:endParaRPr lang="en-US"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だから「申し込む前に、合う</a:t>
            </a:r>
            <a:r>
              <a:rPr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/</a:t>
            </a: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合わないを見せてしまう</a:t>
            </a:r>
            <a:r>
              <a:rPr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出典｜LINEヤフー前後検索（2022-05〜2023-05・実測）※最新の前後検索で更新予定／塾ナラ2025（n=200）／塾シル・ユナイトプロジェクト2026（n=249）／明光ネットワークジャパン2020</a:t>
            </a:r>
          </a:p>
        </p:txBody>
      </p:sp>
      <p:sp>
        <p:nvSpPr>
          <p:cNvPr id="34" name="Pentagon 33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35" name="Chevron 34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36" name="Chevron 35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37" name="Chevron 36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38" name="Chevron 37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39" name="Chevron 38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40" name="Chevron 39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41" name="Chevron 40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</p:spTree>
    <p:extLst>
      <p:ext uri="{BB962C8B-B14F-4D97-AF65-F5344CB8AC3E}">
        <p14:creationId xmlns:p14="http://schemas.microsoft.com/office/powerpoint/2010/main" val="1187594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501E-4538-865B-06FF-B4530B24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検索の流れ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保護者は、塾の名前を調べる前に何を調べているか。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最初に調べること → 迷っているときに調べること → 塾の名前、の順に並べる。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出典｜LINEヤフー 前後検索（直近1年）起点KW：塾／個別指導／体験授業／高校受験 ※「塾」の結果から「熟」の語（熟年・熟語など）は除外</a:t>
            </a:r>
          </a:p>
        </p:txBody>
      </p:sp>
      <p:sp>
        <p:nvSpPr>
          <p:cNvPr id="29" name="Pentagon 28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30" name="Chevron 29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31" name="Chevron 30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32" name="Chevron 31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33" name="Chevron 32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34" name="Chevron 33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35" name="Chevron 34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36" name="Chevron 35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2000" y="1494000"/>
            <a:ext cx="2908800" cy="251999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最初に調べること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000" y="1800000"/>
            <a:ext cx="2908800" cy="2628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587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50" b="1">
                <a:solidFill>
                  <a:srgbClr val="C55A11"/>
                </a:solidFill>
                <a:latin typeface="メイリオ"/>
                <a:ea typeface="メイリオ"/>
                <a:cs typeface="メイリオ"/>
              </a:rPr>
              <a:t>【データ待ち】前後検索</a:t>
            </a:r>
          </a:p>
          <a:p>
            <a:pPr algn="ctr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クエリを時系列で並べ、4色で色分けする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355199" y="3096000"/>
            <a:ext cx="129601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499199" y="1494000"/>
            <a:ext cx="2908800" cy="251999"/>
          </a:xfrm>
          <a:prstGeom prst="roundRect">
            <a:avLst>
              <a:gd name="adj" fmla="val 20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迷っているときに調べること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99199" y="1800000"/>
            <a:ext cx="2908800" cy="2628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587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50" b="1">
                <a:solidFill>
                  <a:srgbClr val="C55A11"/>
                </a:solidFill>
                <a:latin typeface="メイリオ"/>
                <a:ea typeface="メイリオ"/>
                <a:cs typeface="メイリオ"/>
              </a:rPr>
              <a:t>【データ待ち】前後検索</a:t>
            </a:r>
          </a:p>
          <a:p>
            <a:pPr algn="ctr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クエリを時系列で並べ、4色で色分けする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422399" y="3096000"/>
            <a:ext cx="129601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566399" y="1494000"/>
            <a:ext cx="2908800" cy="251999"/>
          </a:xfrm>
          <a:prstGeom prst="roundRect">
            <a:avLst>
              <a:gd name="adj" fmla="val 20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塾の名前を調べる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66399" y="1800000"/>
            <a:ext cx="2908800" cy="2628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587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50" b="1">
                <a:solidFill>
                  <a:srgbClr val="C55A11"/>
                </a:solidFill>
                <a:latin typeface="メイリオ"/>
                <a:ea typeface="メイリオ"/>
                <a:cs typeface="メイリオ"/>
              </a:rPr>
              <a:t>【データ待ち】前後検索</a:t>
            </a:r>
          </a:p>
          <a:p>
            <a:pPr algn="ctr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クエリを時系列で並べ、4色で色分けする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2000" y="4518000"/>
            <a:ext cx="1080000" cy="198000"/>
          </a:xfrm>
          <a:prstGeom prst="roundRect">
            <a:avLst>
              <a:gd name="adj" fmla="val 20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塾選び・形態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84000" y="4518000"/>
            <a:ext cx="1080000" cy="198000"/>
          </a:xfrm>
          <a:prstGeom prst="roundRect">
            <a:avLst>
              <a:gd name="adj" fmla="val 20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費用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36000" y="4518000"/>
            <a:ext cx="1080000" cy="198000"/>
          </a:xfrm>
          <a:prstGeom prst="roundRect">
            <a:avLst>
              <a:gd name="adj" fmla="val 20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悩み・時期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88000" y="4518000"/>
            <a:ext cx="1080000" cy="198000"/>
          </a:xfrm>
          <a:prstGeom prst="roundRect">
            <a:avLst>
              <a:gd name="adj" fmla="val 20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塾名・口コミ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12000" y="4518000"/>
            <a:ext cx="4356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色分けは仮。データが届いたらクエリに合わせて決める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2000" y="4860000"/>
            <a:ext cx="9043200" cy="576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塾の名前が出てくる前に、保護者はもう調べ始めている。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その間、塾と保護者の接点はない。（データが届いたら確定）</a:t>
            </a:r>
          </a:p>
        </p:txBody>
      </p:sp>
    </p:spTree>
    <p:extLst>
      <p:ext uri="{BB962C8B-B14F-4D97-AF65-F5344CB8AC3E}">
        <p14:creationId xmlns:p14="http://schemas.microsoft.com/office/powerpoint/2010/main" val="3112803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7598A-7489-8F6D-91D8-19CE7F507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季節の動き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「塾」の検索が一番多いのは2月上旬。「夏期講習」は7月中旬で、冬期・春期の3〜5倍。</a:t>
            </a:r>
          </a:p>
          <a:p>
            <a:pPr algn="l">
              <a:lnSpc>
                <a:spcPct val="128000"/>
              </a:lnSpc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検索の山の前から、LINEでつながっておく。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出典｜Googleトレンド（日本・2026年年初来・週次）_data/trends/教育塾/ ※相対値。スケールの違うKWは別のグラフにしている</a:t>
            </a:r>
          </a:p>
        </p:txBody>
      </p:sp>
      <p:sp>
        <p:nvSpPr>
          <p:cNvPr id="25" name="Pentagon 24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26" name="Chevron 25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27" name="Chevron 26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28" name="Chevron 27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29" name="Chevron 28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30" name="Chevron 29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31" name="Chevron 30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32" name="Chevron 31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pic>
        <p:nvPicPr>
          <p:cNvPr id="33" name="Picture 32" descr="juku_v2_trend_juk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00" y="1512000"/>
            <a:ext cx="4464000" cy="1667868"/>
          </a:xfrm>
          <a:prstGeom prst="rect">
            <a:avLst/>
          </a:prstGeom>
        </p:spPr>
      </p:pic>
      <p:pic>
        <p:nvPicPr>
          <p:cNvPr id="34" name="Picture 33" descr="juku_v2_trend_koushu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1200" y="1512000"/>
            <a:ext cx="4464000" cy="1667868"/>
          </a:xfrm>
          <a:prstGeom prst="rect">
            <a:avLst/>
          </a:prstGeom>
        </p:spPr>
      </p:pic>
      <p:pic>
        <p:nvPicPr>
          <p:cNvPr id="35" name="Picture 34" descr="juku_v2_trend_juk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000" y="3311999"/>
            <a:ext cx="4464000" cy="1520703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011200" y="3366000"/>
            <a:ext cx="4464000" cy="1404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48000" y="3420000"/>
            <a:ext cx="4212000" cy="13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読み取れること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・「塾」は2月上旬が山。ただし年間を通して大きくは落ちない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・講習は夏が圧倒的。冬期・春期の3〜5倍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・受験の検索は1月中旬〜2月上旬に集中</a:t>
            </a:r>
          </a:p>
          <a:p>
            <a:pPr algn="l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→ 山の時期だけ広告を増やすより、</a:t>
            </a:r>
          </a:p>
          <a:p>
            <a:pPr algn="l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　 山の前からLINEで接点を持っておく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000" y="5076000"/>
            <a:ext cx="9043200" cy="396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検索の山の前から、LINEでつながっておく。</a:t>
            </a:r>
          </a:p>
        </p:txBody>
      </p:sp>
    </p:spTree>
    <p:extLst>
      <p:ext uri="{BB962C8B-B14F-4D97-AF65-F5344CB8AC3E}">
        <p14:creationId xmlns:p14="http://schemas.microsoft.com/office/powerpoint/2010/main" val="653866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F09D0-C3F8-FF51-9B68-5792A11B6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検索データからわかる「すべきこと」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P4〜P7のデータを、すべきことに置き換える。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塾名を調べる前の保護者と先につながり、申し込む前に「合う・合わない」を見せる。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entagon 4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6" name="Chevron 5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7" name="Chevron 6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8" name="Chevron 7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9" name="Chevron 8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10" name="Chevron 9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11" name="Chevron 10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12" name="Chevron 11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1512000"/>
            <a:ext cx="3060000" cy="251999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データ（事実）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71999" y="1512000"/>
            <a:ext cx="2951999" cy="251999"/>
          </a:xfrm>
          <a:prstGeom prst="roundRect">
            <a:avLst>
              <a:gd name="adj" fmla="val 20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すべきこと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03999" y="1512000"/>
            <a:ext cx="2671200" cy="251999"/>
          </a:xfrm>
          <a:prstGeom prst="roundRect">
            <a:avLst>
              <a:gd name="adj" fmla="val 2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LINE施策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" y="1854000"/>
            <a:ext cx="3060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広告で取れているのは指名検索だけ（P4）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71999" y="1854000"/>
            <a:ext cx="2951999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C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塾名を調べる前の保護者と、先につながる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03999" y="1854000"/>
            <a:ext cx="2671200" cy="72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サイトの離脱防止からLINEへ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10000" y="2214000"/>
            <a:ext cx="143999" cy="0"/>
          </a:xfrm>
          <a:prstGeom prst="line">
            <a:avLst/>
          </a:prstGeom>
          <a:ln w="2540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42000" y="2214000"/>
            <a:ext cx="143999" cy="0"/>
          </a:xfrm>
          <a:prstGeom prst="line">
            <a:avLst/>
          </a:prstGeom>
          <a:ln w="2540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2000" y="2700000"/>
            <a:ext cx="3060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塾名を調べる前から、保護者は調べ始めている（P6）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71999" y="2700000"/>
            <a:ext cx="2951999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C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比べている間、役に立つ情報を届け続ける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03999" y="2700000"/>
            <a:ext cx="2671200" cy="72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14日間の配信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510000" y="3060000"/>
            <a:ext cx="143999" cy="0"/>
          </a:xfrm>
          <a:prstGeom prst="line">
            <a:avLst/>
          </a:prstGeom>
          <a:ln w="2540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642000" y="3060000"/>
            <a:ext cx="143999" cy="0"/>
          </a:xfrm>
          <a:prstGeom prst="line">
            <a:avLst/>
          </a:prstGeom>
          <a:ln w="2540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32000" y="3546000"/>
            <a:ext cx="3060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一番の悩みは「うちの子に合うか分からない」63.5%（P5）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71999" y="3546000"/>
            <a:ext cx="2951999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C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申し込む前に「合う・合わない」を見せる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03999" y="3546000"/>
            <a:ext cx="2671200" cy="72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30秒ぴったり診断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510000" y="3906000"/>
            <a:ext cx="143999" cy="0"/>
          </a:xfrm>
          <a:prstGeom prst="line">
            <a:avLst/>
          </a:prstGeom>
          <a:ln w="2540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642000" y="3906000"/>
            <a:ext cx="143999" cy="0"/>
          </a:xfrm>
          <a:prstGeom prst="line">
            <a:avLst/>
          </a:prstGeom>
          <a:ln w="2540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32000" y="4392000"/>
            <a:ext cx="3060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検索の山は2月と7月（P7）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71999" y="4392000"/>
            <a:ext cx="2951999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C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山の前から接点を持っておく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03999" y="4392000"/>
            <a:ext cx="2671200" cy="72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時期に合わせた企画配信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510000" y="4752000"/>
            <a:ext cx="143999" cy="0"/>
          </a:xfrm>
          <a:prstGeom prst="line">
            <a:avLst/>
          </a:prstGeom>
          <a:ln w="2540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642000" y="4752000"/>
            <a:ext cx="143999" cy="0"/>
          </a:xfrm>
          <a:prstGeom prst="line">
            <a:avLst/>
          </a:prstGeom>
          <a:ln w="2540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32000" y="5292000"/>
            <a:ext cx="9043200" cy="4680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診断と資料をきっかけにLINEの友だちになってもらい、比べている間ずっと情報を届ける。</a:t>
            </a:r>
          </a:p>
        </p:txBody>
      </p:sp>
    </p:spTree>
    <p:extLst>
      <p:ext uri="{BB962C8B-B14F-4D97-AF65-F5344CB8AC3E}">
        <p14:creationId xmlns:p14="http://schemas.microsoft.com/office/powerpoint/2010/main" val="1772806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3B14C-0AEA-B93E-0808-EE37D50F6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各社LINEの今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30000"/>
            <a:ext cx="9036000" cy="720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大手・中堅の塾は、LINEで保護者の迷いにどこまで応えているか。</a:t>
            </a:r>
          </a:p>
          <a:p>
            <a:pPr algn="l">
              <a:lnSpc>
                <a:spcPct val="128000"/>
              </a:lnSpc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大手2社（個別教室のトライ・明光義塾）と中堅2社（森塾・ナビ個別指導学院）を実際に確認した。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出典｜各社LINE公式アカウント（page.line.me・実測）・公式サイト・LINEヤフー for Business 導入事例（明光ネットワークジャパン 2024）2026-09-25取得。「確認できず」＝公開情報で確認できなかったもの。★競合の実名掲載は上司確認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35999" y="1494000"/>
            <a:ext cx="1526400" cy="413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本部アカウント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（友だち数）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83999" y="1494000"/>
            <a:ext cx="1022400" cy="413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教室別の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428000" y="1494000"/>
            <a:ext cx="806399" cy="413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誰向け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55999" y="1494000"/>
            <a:ext cx="1382400" cy="413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診断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59999" y="1494000"/>
            <a:ext cx="1454400" cy="413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LINEで資料請求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・体験予約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35999" y="1494000"/>
            <a:ext cx="1317600" cy="413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チャット相談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2000" y="1936800"/>
            <a:ext cx="1382400" cy="673200"/>
          </a:xfrm>
          <a:prstGeom prst="rect">
            <a:avLst/>
          </a:prstGeom>
          <a:solidFill>
            <a:srgbClr val="F4F7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8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大手</a:t>
            </a:r>
          </a:p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明光義塾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35999" y="1936800"/>
            <a:ext cx="1526400" cy="6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明光義塾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308,344人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383999" y="1936800"/>
            <a:ext cx="1022400" cy="6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あり（多数）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例：623人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28000" y="1936800"/>
            <a:ext cx="806399" cy="6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保護者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55999" y="1936800"/>
            <a:ext cx="1382400" cy="6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あり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タイプ別の勉強法・相性チェック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59999" y="1936800"/>
            <a:ext cx="1454400" cy="6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確認できず</a:t>
            </a:r>
          </a:p>
          <a:p>
            <a:pPr algn="ctr"/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（教室は電話・Web・LINEで予約）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135999" y="1936800"/>
            <a:ext cx="1317600" cy="6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あり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AIが回答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2000" y="2638800"/>
            <a:ext cx="1382400" cy="673200"/>
          </a:xfrm>
          <a:prstGeom prst="rect">
            <a:avLst/>
          </a:prstGeom>
          <a:solidFill>
            <a:srgbClr val="F4F7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8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大手</a:t>
            </a:r>
          </a:p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個別教室のトライ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835999" y="2638800"/>
            <a:ext cx="1526400" cy="67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トライさん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120,131人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383999" y="2638800"/>
            <a:ext cx="1022400" cy="67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確認できず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28000" y="2638800"/>
            <a:ext cx="806399" cy="67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生徒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（中高生）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55999" y="2638800"/>
            <a:ext cx="1382400" cy="67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Webの性格診断あり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LINEでは確認できず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659999" y="2638800"/>
            <a:ext cx="1454400" cy="67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確認できず</a:t>
            </a:r>
          </a:p>
          <a:p>
            <a:pPr algn="ctr"/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（Webフォーム）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135999" y="2638800"/>
            <a:ext cx="1317600" cy="67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あり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LINE相談窓口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32000" y="3340800"/>
            <a:ext cx="1382400" cy="673200"/>
          </a:xfrm>
          <a:prstGeom prst="rect">
            <a:avLst/>
          </a:prstGeom>
          <a:solidFill>
            <a:srgbClr val="F4F7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8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中堅</a:t>
            </a:r>
          </a:p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森塾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35999" y="3340800"/>
            <a:ext cx="1526400" cy="6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運営会社名義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（スプリックス）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2,043,233人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383999" y="3340800"/>
            <a:ext cx="1022400" cy="6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見つからず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428000" y="3340800"/>
            <a:ext cx="806399" cy="6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確認できず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255999" y="3340800"/>
            <a:ext cx="1382400" cy="6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確認できず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659999" y="3340800"/>
            <a:ext cx="1454400" cy="6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サイトに記載なし</a:t>
            </a:r>
          </a:p>
          <a:p>
            <a:pPr algn="ctr"/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（Webフォームのみ）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135999" y="3340800"/>
            <a:ext cx="1317600" cy="6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確認できず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32000" y="4042800"/>
            <a:ext cx="1382400" cy="673200"/>
          </a:xfrm>
          <a:prstGeom prst="rect">
            <a:avLst/>
          </a:prstGeom>
          <a:solidFill>
            <a:srgbClr val="F4F7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8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中堅</a:t>
            </a:r>
          </a:p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ナビ個別指導学院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35999" y="4042800"/>
            <a:ext cx="1526400" cy="67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見つからず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383999" y="4042800"/>
            <a:ext cx="1022400" cy="67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見つからず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428000" y="4042800"/>
            <a:ext cx="806399" cy="67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―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255999" y="4042800"/>
            <a:ext cx="1382400" cy="67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―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659999" y="4042800"/>
            <a:ext cx="1454400" cy="67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サイトに記載なし</a:t>
            </a:r>
          </a:p>
          <a:p>
            <a:pPr algn="ctr"/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（Webフォームのみ）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135999" y="4042800"/>
            <a:ext cx="1317600" cy="67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―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32000" y="4788000"/>
            <a:ext cx="4428000" cy="990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28800" bIns="28800"/>
          <a:lstStyle/>
          <a:p>
            <a:pPr algn="l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明光義塾はLINEで成果を出している（LINEヤフー公式事例）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・サイトの離脱時ポップアップから友だち追加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・約5カ月で約20万人の友だち（うち約15万人はスタンプの二次拡散）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・資料請求が前年比120％ほど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047200" y="4788000"/>
            <a:ext cx="4428000" cy="9900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12700">
            <a:solidFill>
              <a:srgbClr val="E0C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28800" bIns="28800"/>
          <a:lstStyle/>
          <a:p>
            <a:pPr algn="l"/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空いているところ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・保護者向けに「診断 → 資料請求 → 体験予約」を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LINEの中でつないでいる塾は、確認できなかった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・トライは生徒向け。森塾・ナビは公式サイトにLINEの導線がない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32000" y="5850000"/>
            <a:ext cx="9043200" cy="342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保護者向けに、診断から資料請求・体験予約までをLINEでつなぐ。ここはまだ空いている。</a:t>
            </a:r>
          </a:p>
        </p:txBody>
      </p:sp>
    </p:spTree>
    <p:extLst>
      <p:ext uri="{BB962C8B-B14F-4D97-AF65-F5344CB8AC3E}">
        <p14:creationId xmlns:p14="http://schemas.microsoft.com/office/powerpoint/2010/main" val="406932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E587B-DB18-248C-DB39-A170420D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LINEでできること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保護者の「迷っている期間」に、LINEでできることは4つ。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授業の質や合格実績はLINEではつくれない。つくれるのは、接点と、体験・入会までの流れ。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entagon 4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6" name="Chevron 5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7" name="Chevron 6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8" name="Chevron 7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9" name="Chevron 8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10" name="Chevron 9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11" name="Chevron 10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12" name="Chevron 11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5600" y="1800000"/>
            <a:ext cx="1655999" cy="30240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15600" y="1998000"/>
            <a:ext cx="1475999" cy="266400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15600" y="1998000"/>
            <a:ext cx="1475999" cy="2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‹  ◯◯塾 △△教室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9600" y="2340000"/>
            <a:ext cx="1332000" cy="46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28800" bIns="28800"/>
          <a:lstStyle/>
          <a:p>
            <a:pPr algn="l"/>
            <a:r>
              <a:rPr sz="7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30秒で、お子さまに</a:t>
            </a:r>
          </a:p>
          <a:p>
            <a:pPr algn="l"/>
            <a:r>
              <a:rPr sz="7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合う学び方が分かります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7600" y="2898000"/>
            <a:ext cx="1259999" cy="21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診断をはじめる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9600" y="3221999"/>
            <a:ext cx="1332000" cy="39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28800" bIns="28800"/>
          <a:lstStyle/>
          <a:p>
            <a:pPr algn="l"/>
            <a:r>
              <a:rPr sz="7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コースと料金の資料を</a:t>
            </a:r>
          </a:p>
          <a:p>
            <a:pPr algn="l"/>
            <a:r>
              <a:rPr sz="7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お送りしました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69600" y="3690000"/>
            <a:ext cx="1332000" cy="39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28800" bIns="28800"/>
          <a:lstStyle/>
          <a:p>
            <a:pPr algn="l"/>
            <a:r>
              <a:rPr sz="7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明日17時、体験授業で</a:t>
            </a:r>
          </a:p>
          <a:p>
            <a:pPr algn="l"/>
            <a:r>
              <a:rPr sz="7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お待ちしています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1548000"/>
            <a:ext cx="2951999" cy="1655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2000" y="1548000"/>
            <a:ext cx="2951999" cy="360000"/>
          </a:xfrm>
          <a:prstGeom prst="roundRect">
            <a:avLst>
              <a:gd name="adj" fmla="val 1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タイプ別の診断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999" y="1998000"/>
            <a:ext cx="2700000" cy="7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「うちの子に合うのはどれ？」に、申し込む前に答える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999" y="2808000"/>
            <a:ext cx="2700000" cy="251999"/>
          </a:xfrm>
          <a:prstGeom prst="roundRect">
            <a:avLst>
              <a:gd name="adj" fmla="val 2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6000" y="1548000"/>
            <a:ext cx="2951999" cy="1655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16000" y="1548000"/>
            <a:ext cx="2951999" cy="360000"/>
          </a:xfrm>
          <a:prstGeom prst="roundRect">
            <a:avLst>
              <a:gd name="adj" fmla="val 1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LINEで資料請求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2000" y="1998000"/>
            <a:ext cx="2700000" cy="7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電話も来店もなしで、コースと料金の資料が届く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42000" y="2808000"/>
            <a:ext cx="2700000" cy="251999"/>
          </a:xfrm>
          <a:prstGeom prst="roundRect">
            <a:avLst>
              <a:gd name="adj" fmla="val 2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④リード獲得（CV①）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000" y="3708000"/>
            <a:ext cx="2951999" cy="1655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2000" y="3708000"/>
            <a:ext cx="2951999" cy="360000"/>
          </a:xfrm>
          <a:prstGeom prst="roundRect">
            <a:avLst>
              <a:gd name="adj" fmla="val 1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14日間の配信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999" y="4158000"/>
            <a:ext cx="2700000" cy="7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迷っている間に役立つ情報を届けて、体験へ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999" y="4968000"/>
            <a:ext cx="2700000" cy="251999"/>
          </a:xfrm>
          <a:prstGeom prst="roundRect">
            <a:avLst>
              <a:gd name="adj" fmla="val 2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③育成・⑤リード有効化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16000" y="3708000"/>
            <a:ext cx="2951999" cy="1655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16000" y="3708000"/>
            <a:ext cx="2951999" cy="360000"/>
          </a:xfrm>
          <a:prstGeom prst="roundRect">
            <a:avLst>
              <a:gd name="adj" fmla="val 1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体験前のリマインド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42000" y="4158000"/>
            <a:ext cx="2700000" cy="7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日時・持ち物・変更方法を前日に届けて、来てもらう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42000" y="4968000"/>
            <a:ext cx="2700000" cy="251999"/>
          </a:xfrm>
          <a:prstGeom prst="roundRect">
            <a:avLst>
              <a:gd name="adj" fmla="val 2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⑤リード有効化 → ⑦入会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401999" y="2376000"/>
            <a:ext cx="705601" cy="360000"/>
          </a:xfrm>
          <a:prstGeom prst="line">
            <a:avLst/>
          </a:prstGeom>
          <a:ln w="22225">
            <a:solidFill>
              <a:srgbClr val="8EA9D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5799600" y="2376000"/>
            <a:ext cx="698400" cy="360000"/>
          </a:xfrm>
          <a:prstGeom prst="line">
            <a:avLst/>
          </a:prstGeom>
          <a:ln w="22225">
            <a:solidFill>
              <a:srgbClr val="8EA9D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401999" y="4176000"/>
            <a:ext cx="705601" cy="360000"/>
          </a:xfrm>
          <a:prstGeom prst="line">
            <a:avLst/>
          </a:prstGeom>
          <a:ln w="22225">
            <a:solidFill>
              <a:srgbClr val="8EA9D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5799600" y="4176000"/>
            <a:ext cx="698400" cy="360000"/>
          </a:xfrm>
          <a:prstGeom prst="line">
            <a:avLst/>
          </a:prstGeom>
          <a:ln w="22225">
            <a:solidFill>
              <a:srgbClr val="8EA9D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32000" y="5526000"/>
            <a:ext cx="9043200" cy="36000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LINEではできないこと：授業の質を上げる／合格実績をつくる／講師を採用・育成する</a:t>
            </a:r>
          </a:p>
        </p:txBody>
      </p:sp>
    </p:spTree>
    <p:extLst>
      <p:ext uri="{BB962C8B-B14F-4D97-AF65-F5344CB8AC3E}">
        <p14:creationId xmlns:p14="http://schemas.microsoft.com/office/powerpoint/2010/main" val="466478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DB2C5-43E4-382E-3F0A-0B0F5E9F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全体設計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軽い申し込み（資料請求）で先につながり、体験予約、入会へ進んでもらう。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入会は教室で行うため、LINEで計測するのは資料請求（CV①）と体験予約（CV②）の2つ。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entagon 4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6" name="Chevron 5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7" name="Chevron 6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8" name="Chevron 7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9" name="Chevron 8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10" name="Chevron 9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11" name="Chevron 10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12" name="Chevron 11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13" name="Pentagon 12"/>
          <p:cNvSpPr/>
          <p:nvPr/>
        </p:nvSpPr>
        <p:spPr>
          <a:xfrm>
            <a:off x="432000" y="1584000"/>
            <a:ext cx="1254857" cy="360000"/>
          </a:xfrm>
          <a:prstGeom prst="homePlat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28800" bIns="28800"/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000" y="2015999"/>
            <a:ext cx="1218857" cy="86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広告・チラシ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・口コミ</a:t>
            </a:r>
          </a:p>
        </p:txBody>
      </p:sp>
      <p:sp>
        <p:nvSpPr>
          <p:cNvPr id="15" name="Chevron 14"/>
          <p:cNvSpPr/>
          <p:nvPr/>
        </p:nvSpPr>
        <p:spPr>
          <a:xfrm>
            <a:off x="1730057" y="1584000"/>
            <a:ext cx="1254857" cy="36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28800" bIns="28800"/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48057" y="2015999"/>
            <a:ext cx="1218857" cy="86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帰る保護者を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離脱防止でLINEへ</a:t>
            </a:r>
          </a:p>
        </p:txBody>
      </p:sp>
      <p:sp>
        <p:nvSpPr>
          <p:cNvPr id="17" name="Chevron 16"/>
          <p:cNvSpPr/>
          <p:nvPr/>
        </p:nvSpPr>
        <p:spPr>
          <a:xfrm>
            <a:off x="3028114" y="1584000"/>
            <a:ext cx="1254857" cy="36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28800" bIns="28800"/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46114" y="2015999"/>
            <a:ext cx="1218857" cy="86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比べている間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情報を届ける</a:t>
            </a:r>
          </a:p>
        </p:txBody>
      </p:sp>
      <p:sp>
        <p:nvSpPr>
          <p:cNvPr id="19" name="Chevron 18"/>
          <p:cNvSpPr/>
          <p:nvPr/>
        </p:nvSpPr>
        <p:spPr>
          <a:xfrm>
            <a:off x="4326171" y="1584000"/>
            <a:ext cx="1254857" cy="36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28800" bIns="28800"/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4171" y="2015999"/>
            <a:ext cx="1218857" cy="86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30秒診断 →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資料をLINEで</a:t>
            </a:r>
          </a:p>
        </p:txBody>
      </p:sp>
      <p:sp>
        <p:nvSpPr>
          <p:cNvPr id="21" name="Chevron 20"/>
          <p:cNvSpPr/>
          <p:nvPr/>
        </p:nvSpPr>
        <p:spPr>
          <a:xfrm>
            <a:off x="5624228" y="1584000"/>
            <a:ext cx="1254857" cy="36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28800" bIns="28800"/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42228" y="2015999"/>
            <a:ext cx="1218857" cy="86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資料を読む人へ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追いの配信→体験予約</a:t>
            </a:r>
          </a:p>
        </p:txBody>
      </p:sp>
      <p:sp>
        <p:nvSpPr>
          <p:cNvPr id="23" name="Chevron 22"/>
          <p:cNvSpPr/>
          <p:nvPr/>
        </p:nvSpPr>
        <p:spPr>
          <a:xfrm>
            <a:off x="6922285" y="1584000"/>
            <a:ext cx="1254857" cy="36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28800" bIns="28800"/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0285" y="2015999"/>
            <a:ext cx="1218857" cy="86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体験に来なかった・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入会しなかった人へ</a:t>
            </a:r>
          </a:p>
        </p:txBody>
      </p:sp>
      <p:sp>
        <p:nvSpPr>
          <p:cNvPr id="25" name="Chevron 24"/>
          <p:cNvSpPr/>
          <p:nvPr/>
        </p:nvSpPr>
        <p:spPr>
          <a:xfrm>
            <a:off x="8220342" y="1584000"/>
            <a:ext cx="1254857" cy="36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28800" bIns="28800"/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38342" y="2015999"/>
            <a:ext cx="1218857" cy="86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教室で入会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（LINEでは計測しない）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953600" y="2862000"/>
            <a:ext cx="0" cy="34200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344171" y="3204000"/>
            <a:ext cx="1218857" cy="432000"/>
          </a:xfrm>
          <a:prstGeom prst="roundRect">
            <a:avLst>
              <a:gd name="adj" fmla="val 20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CV①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資料請求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51657" y="2862000"/>
            <a:ext cx="0" cy="34200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642228" y="3204000"/>
            <a:ext cx="1218857" cy="432000"/>
          </a:xfrm>
          <a:prstGeom prst="roundRect">
            <a:avLst>
              <a:gd name="adj" fmla="val 20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CV②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体験予約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47771" y="2862000"/>
            <a:ext cx="0" cy="342000"/>
          </a:xfrm>
          <a:prstGeom prst="line">
            <a:avLst/>
          </a:prstGeom>
          <a:ln w="2540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238342" y="3204000"/>
            <a:ext cx="1218857" cy="432000"/>
          </a:xfrm>
          <a:prstGeom prst="roundRect">
            <a:avLst>
              <a:gd name="adj" fmla="val 2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入会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（契約）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18171" y="3643199"/>
            <a:ext cx="2768914" cy="1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ctr"/>
            <a:r>
              <a:rPr sz="8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↑ この間に「読んで・比べて・迷う」期間がある 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2000" y="3816000"/>
            <a:ext cx="9043200" cy="1475999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6000" y="3870000"/>
            <a:ext cx="8748000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CVを2段に分ける理由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00" y="4212000"/>
            <a:ext cx="4248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3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CV① 資料請求（軽い）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・まだ決めていない保護者でも、気軽に申し込める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・学年や悩みが分かり、その後の配信を合わせられる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000" y="4212000"/>
            <a:ext cx="43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3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CV② 体験予約（重い）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・資料を読んで「合いそう」と思った保護者が進む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・体験に来てもらえれば、入会は教室で決まる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000" y="5436000"/>
            <a:ext cx="9043200" cy="468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いきなり体験を迫らず、資料請求 → 体験予約 → 入会の順に進んでもらう。</a:t>
            </a:r>
          </a:p>
        </p:txBody>
      </p:sp>
    </p:spTree>
    <p:extLst>
      <p:ext uri="{BB962C8B-B14F-4D97-AF65-F5344CB8AC3E}">
        <p14:creationId xmlns:p14="http://schemas.microsoft.com/office/powerpoint/2010/main" val="3225074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E2D0F-DE07-83AE-E053-ED6184F31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導線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電話や資料請求フォームに「ハードルが高い」と感じる保護者がいる。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LINEなら、名前も電話番号も入れずに始められる。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※離脱防止ポップアップはSitelead等（別途費用）</a:t>
            </a:r>
          </a:p>
        </p:txBody>
      </p:sp>
      <p:sp>
        <p:nvSpPr>
          <p:cNvPr id="31" name="Pentagon 30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32" name="Chevron 31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33" name="Chevron 32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34" name="Chevron 33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35" name="Chevron 34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36" name="Chevron 35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37" name="Chevron 36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38" name="Chevron 37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2000" y="1800000"/>
            <a:ext cx="1152000" cy="86400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サイトから</a:t>
            </a:r>
          </a:p>
          <a:p>
            <a:pPr algn="ctr"/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帰ろうとする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594800" y="2232000"/>
            <a:ext cx="140400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746000" y="1800000"/>
            <a:ext cx="1152000" cy="86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908800" y="2232000"/>
            <a:ext cx="140400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060000" y="1800000"/>
            <a:ext cx="1152000" cy="86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222799" y="2232000"/>
            <a:ext cx="140401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374000" y="1800000"/>
            <a:ext cx="1152000" cy="86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30秒</a:t>
            </a:r>
          </a:p>
          <a:p>
            <a:pPr algn="ctr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診断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536800" y="2232000"/>
            <a:ext cx="140400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688000" y="1800000"/>
            <a:ext cx="1152000" cy="864000"/>
          </a:xfrm>
          <a:prstGeom prst="roundRect">
            <a:avLst>
              <a:gd name="adj" fmla="val 8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資料請求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（CV①）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850800" y="2232000"/>
            <a:ext cx="140399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7002000" y="1800000"/>
            <a:ext cx="1152000" cy="864000"/>
          </a:xfrm>
          <a:prstGeom prst="roundRect">
            <a:avLst>
              <a:gd name="adj" fmla="val 8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体験予約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（CV②）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164800" y="2232000"/>
            <a:ext cx="140399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8316000" y="1800000"/>
            <a:ext cx="1152000" cy="864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入会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（契約）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46000" y="2736000"/>
            <a:ext cx="1152000" cy="503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ctr"/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「まだ決めなくて</a:t>
            </a:r>
          </a:p>
          <a:p>
            <a:pPr algn="ctr"/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大丈夫です」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60000" y="2736000"/>
            <a:ext cx="1152000" cy="503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ctr"/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名前・電話番号</a:t>
            </a:r>
          </a:p>
          <a:p>
            <a:pPr algn="ctr"/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は不要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74000" y="2736000"/>
            <a:ext cx="1152000" cy="503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ctr"/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学年・悩み・性格</a:t>
            </a:r>
          </a:p>
          <a:p>
            <a:pPr algn="ctr"/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いつから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88000" y="2736000"/>
            <a:ext cx="1152000" cy="503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ctr"/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コース・料金の</a:t>
            </a:r>
          </a:p>
          <a:p>
            <a:pPr algn="ctr"/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資料が届く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02000" y="2736000"/>
            <a:ext cx="1152000" cy="503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ctr"/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LINEで日時を</a:t>
            </a:r>
          </a:p>
          <a:p>
            <a:pPr algn="ctr"/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選ぶだけ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16000" y="2736000"/>
            <a:ext cx="1152000" cy="503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ctr"/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教室で</a:t>
            </a:r>
          </a:p>
          <a:p>
            <a:pPr algn="ctr"/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入会手続き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2000" y="3456000"/>
            <a:ext cx="4428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6000" y="3510000"/>
            <a:ext cx="4176000" cy="15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2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いま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 → 資料請求フォーム／電話 → 体験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・フォームに名前・住所・電話番号を入れる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・電話がかかってくるかもしれない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→ 決めていない保護者は、ここで帰る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47200" y="3456000"/>
            <a:ext cx="4428000" cy="1655999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84000" y="3510000"/>
            <a:ext cx="4176000" cy="15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LINEを入れると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 → LINE → 診断 → 資料 → 体験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・タップ1回で友だち追加。入力はいらない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・資料を読んでから、体験を決められる</a:t>
            </a:r>
          </a:p>
          <a:p>
            <a:pPr algn="l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→ 決めていない保護者とも、つながっておける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32000" y="5256000"/>
            <a:ext cx="9043200" cy="396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入口の敷居を下げて、決めていない保護者ともつながる。</a:t>
            </a:r>
          </a:p>
        </p:txBody>
      </p:sp>
    </p:spTree>
    <p:extLst>
      <p:ext uri="{BB962C8B-B14F-4D97-AF65-F5344CB8AC3E}">
        <p14:creationId xmlns:p14="http://schemas.microsoft.com/office/powerpoint/2010/main" val="2299725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6AB4E-6E86-5642-81B1-3703D9B31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初めの1〜2ヶ月でつくるのは、診断・リッチメニュー・14日間の配信。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あとは毎月、企画配信と出し分け配信を回す。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entagon 4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6" name="Chevron 5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7" name="Chevron 6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8" name="Chevron 7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9" name="Chevron 8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10" name="Chevron 9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11" name="Chevron 10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12" name="Chevron 11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1512000"/>
            <a:ext cx="4428000" cy="288000"/>
          </a:xfrm>
          <a:prstGeom prst="roundRect">
            <a:avLst>
              <a:gd name="adj" fmla="val 1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初めにつくるもの（1〜2ヶ月）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1872000"/>
            <a:ext cx="4428000" cy="3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LINE公式アカウントの設定（未開設の場合）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8000" y="1944000"/>
            <a:ext cx="720000" cy="216000"/>
          </a:xfrm>
          <a:prstGeom prst="roundRect">
            <a:avLst>
              <a:gd name="adj" fmla="val 3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" y="2296800"/>
            <a:ext cx="4428000" cy="3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サイトの離脱防止ポップアップ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8000" y="2368800"/>
            <a:ext cx="720000" cy="216000"/>
          </a:xfrm>
          <a:prstGeom prst="roundRect">
            <a:avLst>
              <a:gd name="adj" fmla="val 3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2721600"/>
            <a:ext cx="4428000" cy="3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8000" y="2793600"/>
            <a:ext cx="720000" cy="216000"/>
          </a:xfrm>
          <a:prstGeom prst="roundRect">
            <a:avLst>
              <a:gd name="adj" fmla="val 3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146400"/>
            <a:ext cx="4428000" cy="3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30秒ぴったり診断（4問）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8000" y="3218400"/>
            <a:ext cx="720000" cy="216000"/>
          </a:xfrm>
          <a:prstGeom prst="roundRect">
            <a:avLst>
              <a:gd name="adj" fmla="val 3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000" y="3571200"/>
            <a:ext cx="4428000" cy="3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LINEで資料請求の仕組み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8000" y="3643199"/>
            <a:ext cx="720000" cy="216000"/>
          </a:xfrm>
          <a:prstGeom prst="roundRect">
            <a:avLst>
              <a:gd name="adj" fmla="val 3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000" y="3996000"/>
            <a:ext cx="4428000" cy="3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リッチメニュー（2タブ）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8000" y="4067999"/>
            <a:ext cx="720000" cy="216000"/>
          </a:xfrm>
          <a:prstGeom prst="roundRect">
            <a:avLst>
              <a:gd name="adj" fmla="val 3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全体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4420800"/>
            <a:ext cx="4428000" cy="3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14日間の配信（未入会の保護者向け）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68000" y="4492800"/>
            <a:ext cx="720000" cy="216000"/>
          </a:xfrm>
          <a:prstGeom prst="roundRect">
            <a:avLst>
              <a:gd name="adj" fmla="val 3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000" y="4845600"/>
            <a:ext cx="4428000" cy="3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キーワード自動応答（料金・体験・持ち物）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68000" y="4917600"/>
            <a:ext cx="720000" cy="216000"/>
          </a:xfrm>
          <a:prstGeom prst="roundRect">
            <a:avLst>
              <a:gd name="adj" fmla="val 3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47200" y="1512000"/>
            <a:ext cx="4428000" cy="288000"/>
          </a:xfrm>
          <a:prstGeom prst="roundRect">
            <a:avLst>
              <a:gd name="adj" fmla="val 15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毎月まわすもの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47200" y="1872000"/>
            <a:ext cx="4428000" cy="3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企画配信（月1〜2本・年間カレンダーに沿って）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76000" y="1944000"/>
            <a:ext cx="720000" cy="216000"/>
          </a:xfrm>
          <a:prstGeom prst="roundRect">
            <a:avLst>
              <a:gd name="adj" fmla="val 3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47200" y="2296800"/>
            <a:ext cx="4428000" cy="3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診断結果に合わせた出し分け配信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76000" y="2368800"/>
            <a:ext cx="720000" cy="216000"/>
          </a:xfrm>
          <a:prstGeom prst="roundRect">
            <a:avLst>
              <a:gd name="adj" fmla="val 3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⑤⑥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47200" y="2721600"/>
            <a:ext cx="4428000" cy="3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体験予約者への前日リマインド（自動）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76000" y="2793600"/>
            <a:ext cx="720000" cy="216000"/>
          </a:xfrm>
          <a:prstGeom prst="roundRect">
            <a:avLst>
              <a:gd name="adj" fmla="val 3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⑤⑦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47200" y="3146400"/>
            <a:ext cx="4428000" cy="3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過去に問い合わせた保護者への再案内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76000" y="3218400"/>
            <a:ext cx="720000" cy="216000"/>
          </a:xfrm>
          <a:prstGeom prst="roundRect">
            <a:avLst>
              <a:gd name="adj" fmla="val 3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47200" y="3571200"/>
            <a:ext cx="4428000" cy="3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月次レポートと定例会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76000" y="3643199"/>
            <a:ext cx="720000" cy="216000"/>
          </a:xfrm>
          <a:prstGeom prst="roundRect">
            <a:avLst>
              <a:gd name="adj" fmla="val 3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全体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47200" y="4068000"/>
            <a:ext cx="4428000" cy="11880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作り込むのは、診断・リッチメニュー・14日間の配信の3つ。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ここが弱いと、あとの配信が全部弱くなる。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2000" y="5328000"/>
            <a:ext cx="90432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右の丸は、8フェーズのどこに効くか（番号）</a:t>
            </a:r>
          </a:p>
        </p:txBody>
      </p:sp>
    </p:spTree>
    <p:extLst>
      <p:ext uri="{BB962C8B-B14F-4D97-AF65-F5344CB8AC3E}">
        <p14:creationId xmlns:p14="http://schemas.microsoft.com/office/powerpoint/2010/main" val="4224870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1590B-7660-E16F-AF1F-C1B09199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構築① 友だち追加の入口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決断を迫らず、「資料と診断を受け取るだけ」でつながる入口をつくる。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ボタンは「今すぐ体験」ではなく「受け取る」。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※ボタン文言の言い換えはDYM見解。離脱防止ポップアップはSitelead等（別途費用）</a:t>
            </a:r>
          </a:p>
        </p:txBody>
      </p:sp>
      <p:sp>
        <p:nvSpPr>
          <p:cNvPr id="18" name="Pentagon 17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19" name="Chevron 18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20" name="Chevron 19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21" name="Chevron 20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22" name="Chevron 21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23" name="Chevron 22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24" name="Chevron 23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25" name="Chevron 24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2000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データ（事実）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2000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サイトに来た保護者の多くは、名前を残さず帰る（P4）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一番の悩みは「合うか分からない」63.5%（P5）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343199" y="1989000"/>
            <a:ext cx="140400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512399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512399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すべきこと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02399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決めていない保護者でも、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気軽につながれる入口をつくる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23599" y="1989000"/>
            <a:ext cx="140401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592800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92800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LINE施策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82800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入口は3つ：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離脱防止ポップアップ／チラシ・教室のQR／友だちからの紹介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2000" y="2610000"/>
            <a:ext cx="450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入口は3つ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000" y="2862000"/>
            <a:ext cx="4500000" cy="7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サイトの離脱防止ポップアップ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帰ろうとした瞬間に表示。広告費を足さずにつながれる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2000" y="3654000"/>
            <a:ext cx="4500000" cy="7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チラシ・教室掲示のQR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今あるチラシにQRを1つ足すだけ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2000" y="4446000"/>
            <a:ext cx="4500000" cy="7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友だちからの紹介（入会前）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「一緒に体験しよう」をLINEで送ってもらう（P15）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48000" y="2610000"/>
            <a:ext cx="432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離脱防止ポップアップの実文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48000" y="2862000"/>
            <a:ext cx="4320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28000" y="2951999"/>
            <a:ext cx="3960000" cy="154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まだ、塾を決めなくて大丈夫です。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30秒の診断で、お子さまに合う学び方（集団／個別／映像）と、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コース・料金の資料をLINEでお届けします。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88000" y="4176000"/>
            <a:ext cx="3240000" cy="396000"/>
          </a:xfrm>
          <a:prstGeom prst="roundRect">
            <a:avLst>
              <a:gd name="adj" fmla="val 4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LINEで資料と診断を受け取る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28000" y="4644000"/>
            <a:ext cx="396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ctr"/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※お名前・お電話番号は不要です</a:t>
            </a:r>
          </a:p>
        </p:txBody>
      </p:sp>
    </p:spTree>
    <p:extLst>
      <p:ext uri="{BB962C8B-B14F-4D97-AF65-F5344CB8AC3E}">
        <p14:creationId xmlns:p14="http://schemas.microsoft.com/office/powerpoint/2010/main" val="4260980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3900D-063E-F973-5EF2-005AE1CA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構築① つづき：友だちと一緒に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「友だちと一緒なら行ってみたい」を、体験予約のきっかけにする。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保護者どうしの「どこの塾に行ってる？」を、LINEでつなぐ。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出典｜POPER「Comiru」保護者と学習塾の意識調査 2022年（保護者300人）。特典の中身は塾ごとに決める</a:t>
            </a:r>
          </a:p>
        </p:txBody>
      </p:sp>
      <p:sp>
        <p:nvSpPr>
          <p:cNvPr id="17" name="Pentagon 16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18" name="Chevron 17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19" name="Chevron 18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20" name="Chevron 19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21" name="Chevron 20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22" name="Chevron 21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23" name="Chevron 22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24" name="Chevron 23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2000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データ（事実）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2000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塾を知ったきっかけの1位は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「知人・友人の口コミ」47.0%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343199" y="1989000"/>
            <a:ext cx="140400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512399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512399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すべきこと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2399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友だちとの会話を、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体験予約のきっかけにする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23599" y="1989000"/>
            <a:ext cx="140401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92800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92800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LINE施策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82800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友だちと一緒の体験枠をLINEで予約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LINEの転送だけで紹介できる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000" y="2610000"/>
            <a:ext cx="450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友だちと一緒に通うメリット（保護者に伝えること）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2000" y="2862000"/>
            <a:ext cx="684000" cy="702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88000" y="2862000"/>
            <a:ext cx="3744000" cy="7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通う習慣がつきやすい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一緒に行く友だちがいると、休みにくくなる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2000" y="3654000"/>
            <a:ext cx="684000" cy="702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8000" y="3654000"/>
            <a:ext cx="3744000" cy="7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励まし合える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テスト前も「一緒に頑張ろう」がある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2000" y="4446000"/>
            <a:ext cx="684000" cy="702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8000" y="4446000"/>
            <a:ext cx="3744000" cy="7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送り迎えを分担できる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保護者どうしで助け合える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48000" y="2610000"/>
            <a:ext cx="432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LINEでの仕組み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48000" y="2844000"/>
            <a:ext cx="1728000" cy="30600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238000" y="3042000"/>
            <a:ext cx="1548000" cy="270000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238000" y="3042000"/>
            <a:ext cx="1548000" cy="2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‹  ◯◯塾 △△教室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10000" y="3402000"/>
            <a:ext cx="1368000" cy="7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28800" bIns="28800"/>
          <a:lstStyle/>
          <a:p>
            <a:pPr algn="l"/>
            <a:r>
              <a:rPr sz="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お友だちと一緒の</a:t>
            </a:r>
          </a:p>
          <a:p>
            <a:pPr algn="l"/>
            <a:r>
              <a:rPr sz="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体験授業も受け付けて</a:t>
            </a:r>
          </a:p>
          <a:p>
            <a:pPr algn="l"/>
            <a:r>
              <a:rPr sz="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います😊 2人とも</a:t>
            </a:r>
          </a:p>
          <a:p>
            <a:pPr algn="l"/>
            <a:r>
              <a:rPr sz="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特典があります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10000" y="4194000"/>
            <a:ext cx="1368000" cy="234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一緒に体験を予約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10000" y="4482000"/>
            <a:ext cx="1368000" cy="23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8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友だちに送る</a:t>
            </a:r>
          </a:p>
        </p:txBody>
      </p:sp>
      <p:sp>
        <p:nvSpPr>
          <p:cNvPr id="50" name="Oval 49"/>
          <p:cNvSpPr/>
          <p:nvPr/>
        </p:nvSpPr>
        <p:spPr>
          <a:xfrm>
            <a:off x="7056000" y="3024000"/>
            <a:ext cx="360000" cy="360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88000" y="2934000"/>
            <a:ext cx="2015999" cy="61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友だちと一緒の体験枠を用意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LINEで2人分をまとめて予約できる</a:t>
            </a:r>
          </a:p>
        </p:txBody>
      </p:sp>
      <p:sp>
        <p:nvSpPr>
          <p:cNvPr id="52" name="Oval 51"/>
          <p:cNvSpPr/>
          <p:nvPr/>
        </p:nvSpPr>
        <p:spPr>
          <a:xfrm>
            <a:off x="7056000" y="3816000"/>
            <a:ext cx="360000" cy="360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88000" y="3726000"/>
            <a:ext cx="2015999" cy="61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2人とも特典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例：体験後の学習相談、教材プレゼント</a:t>
            </a:r>
          </a:p>
        </p:txBody>
      </p:sp>
      <p:sp>
        <p:nvSpPr>
          <p:cNvPr id="54" name="Oval 53"/>
          <p:cNvSpPr/>
          <p:nvPr/>
        </p:nvSpPr>
        <p:spPr>
          <a:xfrm>
            <a:off x="7056000" y="4608000"/>
            <a:ext cx="360000" cy="360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88000" y="4518000"/>
            <a:ext cx="2015999" cy="61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LINEの転送で紹介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トークを友だちの保護者に送るだけ</a:t>
            </a:r>
          </a:p>
        </p:txBody>
      </p:sp>
    </p:spTree>
    <p:extLst>
      <p:ext uri="{BB962C8B-B14F-4D97-AF65-F5344CB8AC3E}">
        <p14:creationId xmlns:p14="http://schemas.microsoft.com/office/powerpoint/2010/main" val="2299358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構築② あいさつメッセージ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友だち追加の直後は、一番メッセージが読まれるタイミング。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最初の1通で安心できることを先に伝え、診断へ進んでもらう。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文面の教室長名・対応時間・配信頻度は貴社の運用に合わせて差し替える</a:t>
            </a:r>
          </a:p>
        </p:txBody>
      </p:sp>
      <p:sp>
        <p:nvSpPr>
          <p:cNvPr id="22" name="Pentagon 21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23" name="Chevron 22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24" name="Chevron 23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25" name="Chevron 24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26" name="Chevron 25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27" name="Chevron 26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28" name="Chevron 27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29" name="Chevron 28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000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2000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データ（事実）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2000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友だち追加の直後は、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一番メッセージが読まれる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43199" y="1989000"/>
            <a:ext cx="140400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512399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512399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すべきこと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02399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安心できることを先に伝えて、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診断へ進んでもらう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23599" y="1989000"/>
            <a:ext cx="140401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592800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92800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LINE施策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82800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あいさつメッセージの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組み立てを決めておく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" y="2610000"/>
            <a:ext cx="468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メッセージの組み立て</a:t>
            </a:r>
          </a:p>
        </p:txBody>
      </p:sp>
      <p:sp>
        <p:nvSpPr>
          <p:cNvPr id="42" name="Oval 41"/>
          <p:cNvSpPr/>
          <p:nvPr/>
        </p:nvSpPr>
        <p:spPr>
          <a:xfrm>
            <a:off x="432000" y="2951999"/>
            <a:ext cx="324000" cy="324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7999" y="2862000"/>
            <a:ext cx="4104000" cy="5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教室長の名前を出す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人の顔が見えると安心できる</a:t>
            </a:r>
          </a:p>
        </p:txBody>
      </p:sp>
      <p:sp>
        <p:nvSpPr>
          <p:cNvPr id="44" name="Oval 43"/>
          <p:cNvSpPr/>
          <p:nvPr/>
        </p:nvSpPr>
        <p:spPr>
          <a:xfrm>
            <a:off x="432000" y="3535200"/>
            <a:ext cx="324000" cy="324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7999" y="3445200"/>
            <a:ext cx="4104000" cy="5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返信できる時間を書く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例：平日14〜21時</a:t>
            </a:r>
          </a:p>
        </p:txBody>
      </p:sp>
      <p:sp>
        <p:nvSpPr>
          <p:cNvPr id="46" name="Oval 45"/>
          <p:cNvSpPr/>
          <p:nvPr/>
        </p:nvSpPr>
        <p:spPr>
          <a:xfrm>
            <a:off x="432000" y="4118400"/>
            <a:ext cx="324000" cy="324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7999" y="4028400"/>
            <a:ext cx="4104000" cy="5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届く頻度を書く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例：週1回</a:t>
            </a:r>
          </a:p>
        </p:txBody>
      </p:sp>
      <p:sp>
        <p:nvSpPr>
          <p:cNvPr id="48" name="Oval 47"/>
          <p:cNvSpPr/>
          <p:nvPr/>
        </p:nvSpPr>
        <p:spPr>
          <a:xfrm>
            <a:off x="432000" y="4701600"/>
            <a:ext cx="324000" cy="324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7999" y="4611600"/>
            <a:ext cx="4104000" cy="5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営業のお電話はしないと書く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連絡先を渡す不安をなくす</a:t>
            </a:r>
          </a:p>
        </p:txBody>
      </p:sp>
      <p:sp>
        <p:nvSpPr>
          <p:cNvPr id="50" name="Oval 49"/>
          <p:cNvSpPr/>
          <p:nvPr/>
        </p:nvSpPr>
        <p:spPr>
          <a:xfrm>
            <a:off x="432000" y="5284800"/>
            <a:ext cx="324000" cy="324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7999" y="5194800"/>
            <a:ext cx="4104000" cy="5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30秒診断へのボタン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そのまま診断へ進める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48000" y="2610000"/>
            <a:ext cx="2592000" cy="34560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38000" y="2808000"/>
            <a:ext cx="2412000" cy="309600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38000" y="2808000"/>
            <a:ext cx="2412000" cy="2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‹  ◯◯塾 △△教室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28000" y="3150000"/>
            <a:ext cx="2088000" cy="226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28800" bIns="28800"/>
          <a:lstStyle/>
          <a:p>
            <a:pPr algn="l"/>
            <a:r>
              <a:rPr sz="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はじめまして、◯◯塾 △△教室の</a:t>
            </a:r>
          </a:p>
          <a:p>
            <a:pPr algn="l"/>
            <a:r>
              <a:rPr sz="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教室長、佐藤です😊</a:t>
            </a:r>
          </a:p>
          <a:p>
            <a:pPr algn="l"/>
            <a:r>
              <a:rPr sz="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友だち追加ありがとうございます。</a:t>
            </a:r>
          </a:p>
          <a:p>
            <a:pPr algn="l"/>
            <a:r>
              <a:rPr sz="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/>
            <a:r>
              <a:rPr sz="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このLINEでは、お子さまの勉強に</a:t>
            </a:r>
          </a:p>
          <a:p>
            <a:pPr algn="l"/>
            <a:r>
              <a:rPr sz="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役立つ情報を週1回お届けします。</a:t>
            </a:r>
          </a:p>
          <a:p>
            <a:pPr algn="l"/>
            <a:r>
              <a:rPr sz="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営業のお電話は一切しません。</a:t>
            </a:r>
          </a:p>
          <a:p>
            <a:pPr algn="l"/>
            <a:r>
              <a:rPr sz="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ご質問は、平日14〜21時に</a:t>
            </a:r>
          </a:p>
          <a:p>
            <a:pPr algn="l"/>
            <a:r>
              <a:rPr sz="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このトークでお返事します。</a:t>
            </a:r>
          </a:p>
          <a:p>
            <a:pPr algn="l"/>
            <a:r>
              <a:rPr sz="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/>
            <a:r>
              <a:rPr sz="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まずは30秒の診断で、お子さまに</a:t>
            </a:r>
          </a:p>
          <a:p>
            <a:pPr algn="l"/>
            <a:r>
              <a:rPr sz="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合う学び方とコース・料金の資料を</a:t>
            </a:r>
          </a:p>
          <a:p>
            <a:pPr algn="l"/>
            <a:r>
              <a:rPr sz="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お受け取りください👇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8000" y="5490000"/>
            <a:ext cx="2088000" cy="270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30秒診断をはじめる</a:t>
            </a:r>
          </a:p>
        </p:txBody>
      </p:sp>
    </p:spTree>
    <p:extLst>
      <p:ext uri="{BB962C8B-B14F-4D97-AF65-F5344CB8AC3E}">
        <p14:creationId xmlns:p14="http://schemas.microsoft.com/office/powerpoint/2010/main" val="970958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EBFBA-F50F-49FF-6262-A65BC71D2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構築③ 30秒ぴったり診断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申し込む前に「集団・個別・映像のどれが合うか」を見せて、納得してから体験へ。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4問すべて選択式。回答はそのまま配信の出し分けに使う。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※競合の診断（トライの性格別学習法診断など）はP9の調査結果を参照</a:t>
            </a:r>
          </a:p>
        </p:txBody>
      </p:sp>
      <p:sp>
        <p:nvSpPr>
          <p:cNvPr id="32" name="Pentagon 31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33" name="Chevron 32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34" name="Chevron 33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35" name="Chevron 34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36" name="Chevron 35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37" name="Chevron 36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38" name="Chevron 37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39" name="Chevron 38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2000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32000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データ（事実）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2000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塾選びで一番困ったこと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「うちの子に合う塾が分からない」63.5%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343199" y="1989000"/>
            <a:ext cx="140400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3512399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512399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すべきこと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02399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申し込む前に、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「合う・合わない」を見せる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23599" y="1989000"/>
            <a:ext cx="140401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592800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592800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LINE施策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82800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30秒診断 → 資料請求（CV①）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→ 体験予約（CV②）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2000" y="2628000"/>
            <a:ext cx="4752000" cy="66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Q1 お子さまの学年は？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小1〜4／小5・6／中1・2／中3／高1・2／高3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256000" y="2826000"/>
            <a:ext cx="648000" cy="270000"/>
          </a:xfrm>
          <a:prstGeom prst="roundRect">
            <a:avLst>
              <a:gd name="adj" fmla="val 3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学年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2000" y="3384000"/>
            <a:ext cx="4752000" cy="66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Q2 いちばん近いお悩みは？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成績が下がってきた／やる気が出ない／受験対策を始めたい／授業についていけない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256000" y="3582000"/>
            <a:ext cx="648000" cy="270000"/>
          </a:xfrm>
          <a:prstGeom prst="roundRect">
            <a:avLst>
              <a:gd name="adj" fmla="val 3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悩み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2000" y="4140000"/>
            <a:ext cx="4752000" cy="66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Q3 お子さまの性格に近いのは？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競争があると燃える／マイペースにコツコツ／質問するのが苦手／集中が続かない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256000" y="4338000"/>
            <a:ext cx="648000" cy="270000"/>
          </a:xfrm>
          <a:prstGeom prst="roundRect">
            <a:avLst>
              <a:gd name="adj" fmla="val 3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性格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2000" y="4896000"/>
            <a:ext cx="4752000" cy="66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Q4 塾はいつから？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今すぐ／今学期中に／次の学年から／情報収集だけ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256000" y="5094000"/>
            <a:ext cx="648000" cy="270000"/>
          </a:xfrm>
          <a:prstGeom prst="roundRect">
            <a:avLst>
              <a:gd name="adj" fmla="val 3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時期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92000" y="2610000"/>
            <a:ext cx="324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診断結果の流れ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92000" y="2862000"/>
            <a:ext cx="3276000" cy="48600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共感</a:t>
            </a:r>
          </a:p>
          <a:p>
            <a:pPr algn="ctr"/>
            <a:r>
              <a:rPr sz="9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「◯◯タイプのお子さまは、こんな所でつまずきやすい」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830000" y="3351600"/>
            <a:ext cx="0" cy="86400"/>
          </a:xfrm>
          <a:prstGeom prst="line">
            <a:avLst/>
          </a:prstGeom>
          <a:ln w="2222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6192000" y="3445200"/>
            <a:ext cx="3276000" cy="48600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合う学び方</a:t>
            </a:r>
          </a:p>
          <a:p>
            <a:pPr algn="ctr"/>
            <a:r>
              <a:rPr sz="9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集団／個別／映像のどれが合うか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830000" y="3934800"/>
            <a:ext cx="0" cy="86400"/>
          </a:xfrm>
          <a:prstGeom prst="line">
            <a:avLst/>
          </a:prstGeom>
          <a:ln w="2222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6192000" y="4028400"/>
            <a:ext cx="3276000" cy="48600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同じタイプの事例</a:t>
            </a:r>
          </a:p>
          <a:p>
            <a:pPr algn="ctr"/>
            <a:r>
              <a:rPr sz="9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同じ悩みだった子の変化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830000" y="4518000"/>
            <a:ext cx="0" cy="86400"/>
          </a:xfrm>
          <a:prstGeom prst="line">
            <a:avLst/>
          </a:prstGeom>
          <a:ln w="2222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6192000" y="4611600"/>
            <a:ext cx="3276000" cy="486000"/>
          </a:xfrm>
          <a:prstGeom prst="roundRect">
            <a:avLst>
              <a:gd name="adj" fmla="val 8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資料を受け取る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CV① 資料請求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830000" y="5101200"/>
            <a:ext cx="0" cy="86400"/>
          </a:xfrm>
          <a:prstGeom prst="line">
            <a:avLst/>
          </a:prstGeom>
          <a:ln w="2222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6192000" y="5194800"/>
            <a:ext cx="3276000" cy="486000"/>
          </a:xfrm>
          <a:prstGeom prst="roundRect">
            <a:avLst>
              <a:gd name="adj" fmla="val 8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無料体験を予約する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CV② 体験予約</a:t>
            </a:r>
          </a:p>
        </p:txBody>
      </p:sp>
    </p:spTree>
    <p:extLst>
      <p:ext uri="{BB962C8B-B14F-4D97-AF65-F5344CB8AC3E}">
        <p14:creationId xmlns:p14="http://schemas.microsoft.com/office/powerpoint/2010/main" val="12511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68898-91A3-9BC1-3966-7771C36E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構築④ リッチメニュー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スマホの親指が一番届きやすいのは、画面の右下。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一番押してほしい行動（無料体験・教室見学の予約）を右下に置く。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※体験予約済みの方には、タブ②（体験当日の流れ・アクセス・日程変更など）を出し分ける</a:t>
            </a:r>
          </a:p>
        </p:txBody>
      </p:sp>
      <p:sp>
        <p:nvSpPr>
          <p:cNvPr id="46" name="Pentagon 45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47" name="Chevron 46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48" name="Chevron 47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49" name="Chevron 48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50" name="Chevron 49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51" name="Chevron 50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52" name="Chevron 51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53" name="Chevron 52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2000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32000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データ（事実）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2000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スマホを片手で持つと、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親指が一番届くのは右下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343199" y="1989000"/>
            <a:ext cx="140400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3512399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512399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すべきこと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02399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一番押してほしい行動を、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右下に置く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423599" y="1989000"/>
            <a:ext cx="140401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6592800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592800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LINE施策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82800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右下＝無料体験・教室見学の予約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（体験予約済みの方は日程の確認・変更）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32000" y="2592000"/>
            <a:ext cx="2880000" cy="35640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2000" y="2790000"/>
            <a:ext cx="2700000" cy="320400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22000" y="2790000"/>
            <a:ext cx="2700000" cy="2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‹  ◯◯塾 △△教室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2000" y="3150000"/>
            <a:ext cx="2268000" cy="43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28800" bIns="28800"/>
          <a:lstStyle/>
          <a:p>
            <a:pPr algn="l"/>
            <a:r>
              <a:rPr sz="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診断結果とコース・料金の</a:t>
            </a:r>
          </a:p>
          <a:p>
            <a:pPr algn="l"/>
            <a:r>
              <a:rPr sz="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資料をお送りしました📄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2000" y="4409999"/>
            <a:ext cx="900000" cy="7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🎯</a:t>
            </a:r>
          </a:p>
          <a:p>
            <a:pPr algn="ctr"/>
            <a:r>
              <a:rPr sz="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30秒</a:t>
            </a:r>
          </a:p>
          <a:p>
            <a:pPr algn="ctr"/>
            <a:r>
              <a:rPr sz="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ぴったり診断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22000" y="4409999"/>
            <a:ext cx="900000" cy="7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💰</a:t>
            </a:r>
          </a:p>
          <a:p>
            <a:pPr algn="ctr"/>
            <a:r>
              <a:rPr sz="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コース・料金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322000" y="4409999"/>
            <a:ext cx="900000" cy="7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🏫</a:t>
            </a:r>
          </a:p>
          <a:p>
            <a:pPr algn="ctr"/>
            <a:r>
              <a:rPr sz="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教室・講師</a:t>
            </a:r>
          </a:p>
          <a:p>
            <a:pPr algn="ctr"/>
            <a:r>
              <a:rPr sz="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紹介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2000" y="5202000"/>
            <a:ext cx="900000" cy="7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📄</a:t>
            </a:r>
          </a:p>
          <a:p>
            <a:pPr algn="ctr"/>
            <a:r>
              <a:rPr sz="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資料を</a:t>
            </a:r>
          </a:p>
          <a:p>
            <a:pPr algn="ctr"/>
            <a:r>
              <a:rPr sz="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受け取る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422000" y="5202000"/>
            <a:ext cx="900000" cy="7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👫</a:t>
            </a:r>
          </a:p>
          <a:p>
            <a:pPr algn="ctr"/>
            <a:r>
              <a:rPr sz="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友だちと</a:t>
            </a:r>
          </a:p>
          <a:p>
            <a:pPr algn="ctr"/>
            <a:r>
              <a:rPr sz="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一緒に体験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322000" y="5202000"/>
            <a:ext cx="900000" cy="792000"/>
          </a:xfrm>
          <a:prstGeom prst="rect">
            <a:avLst/>
          </a:prstGeom>
          <a:solidFill>
            <a:srgbClr val="C00000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📅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無料体験・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教室見学の予約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602000" y="4139999"/>
            <a:ext cx="1620000" cy="216000"/>
          </a:xfrm>
          <a:prstGeom prst="roundRect">
            <a:avLst>
              <a:gd name="adj" fmla="val 3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28800" bIns="2880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右下＝一番押しやすい ↘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71999" y="2610000"/>
            <a:ext cx="576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ボタンの並び（タブ① はじめての方）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71999" y="2862000"/>
            <a:ext cx="1890000" cy="503999"/>
          </a:xfrm>
          <a:prstGeom prst="rect">
            <a:avLst/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🎯 30秒ぴったり診断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16000" y="2862000"/>
            <a:ext cx="1890000" cy="503999"/>
          </a:xfrm>
          <a:prstGeom prst="rect">
            <a:avLst/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💰 コース・料金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560000" y="2862000"/>
            <a:ext cx="1890000" cy="503999"/>
          </a:xfrm>
          <a:prstGeom prst="rect">
            <a:avLst/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🏫 教室・講師紹介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71999" y="3420000"/>
            <a:ext cx="1890000" cy="503999"/>
          </a:xfrm>
          <a:prstGeom prst="rect">
            <a:avLst/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📄 資料を受け取る（CV①）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16000" y="3420000"/>
            <a:ext cx="1890000" cy="503999"/>
          </a:xfrm>
          <a:prstGeom prst="rect">
            <a:avLst/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👫 友だちと一緒に体験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60000" y="3420000"/>
            <a:ext cx="1890000" cy="503999"/>
          </a:xfrm>
          <a:prstGeom prst="rect">
            <a:avLst/>
          </a:prstGeom>
          <a:solidFill>
            <a:srgbClr val="C00000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📅 無料体験・教室見学の予約（CV②）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71999" y="4068000"/>
            <a:ext cx="576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置き方の考え方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71999" y="4302000"/>
            <a:ext cx="5796000" cy="122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・右下：一番押してほしい行動。体験・見学の予約（CV②）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・左下：資料を受け取る（CV①）。体験はまだ早い保護者の受け皿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・上段：比べるときに見たい情報（診断・料金・教室）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・体験予約済みの方には、タブ②に切り替えて右下を「日程の確認・変更」にする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671999" y="5580000"/>
            <a:ext cx="5796000" cy="432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9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タブ②（体験予約済みの方）：体験当日の流れ／アクセス・持ち物／担当講師の紹介／保護者の声／LINEで質問／日程の確認・変更（右下）</a:t>
            </a:r>
          </a:p>
        </p:txBody>
      </p:sp>
    </p:spTree>
    <p:extLst>
      <p:ext uri="{BB962C8B-B14F-4D97-AF65-F5344CB8AC3E}">
        <p14:creationId xmlns:p14="http://schemas.microsoft.com/office/powerpoint/2010/main" val="2034270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6EC7-8BED-7DDA-23DD-316D74FF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構築⑤ 配信の出し分け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同じ内容を全員に送ると、合わない人にはブロックされる。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診断の回答と、LINEでの行動で、保護者ごとに「うちの子の話」になる配信にする。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entagon 4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6" name="Chevron 5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7" name="Chevron 6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8" name="Chevron 7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9" name="Chevron 8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10" name="Chevron 9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11" name="Chevron 10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12" name="Chevron 11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000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データ（事実）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2000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同じ内容を全員に送ると、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合わない人にはブロックされる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43199" y="1989000"/>
            <a:ext cx="140400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512399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12399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すべきこと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2399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保護者ごとに、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「うちの子の話」になる配信にする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23599" y="1989000"/>
            <a:ext cx="140401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92800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92800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LINE施策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82800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診断タグ＋行動タグで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配信を出し分ける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000" y="2628000"/>
            <a:ext cx="2908800" cy="288000"/>
          </a:xfrm>
          <a:prstGeom prst="roundRect">
            <a:avLst>
              <a:gd name="adj" fmla="val 1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診断タグ（友だち追加の直後）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" y="2988000"/>
            <a:ext cx="2908800" cy="3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学年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3438000"/>
            <a:ext cx="2908800" cy="3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悩み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888000"/>
            <a:ext cx="2908800" cy="3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性格（集団／個別の判定）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000" y="4338000"/>
            <a:ext cx="2908800" cy="3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いつから（温度）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99199" y="2628000"/>
            <a:ext cx="2908800" cy="288000"/>
          </a:xfrm>
          <a:prstGeom prst="roundRect">
            <a:avLst>
              <a:gd name="adj" fmla="val 1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行動タグ（LINEでの行動）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99199" y="2988000"/>
            <a:ext cx="2908800" cy="3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どのボタンを押したか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99199" y="3438000"/>
            <a:ext cx="2908800" cy="3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資料請求したか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99199" y="3888000"/>
            <a:ext cx="2908800" cy="3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体験予約したか・来たか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99199" y="4338000"/>
            <a:ext cx="2908800" cy="3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配信を開いているか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66399" y="2628000"/>
            <a:ext cx="2908800" cy="288000"/>
          </a:xfrm>
          <a:prstGeom prst="roundRect">
            <a:avLst>
              <a:gd name="adj" fmla="val 15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何ができるようになるか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66399" y="2988000"/>
            <a:ext cx="2908800" cy="378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中3で「受験対策」→ 高校受験の情報を中心に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66399" y="3438000"/>
            <a:ext cx="2908800" cy="378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「質問するのが苦手」→ 個別指導の事例を中心に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66399" y="3888000"/>
            <a:ext cx="2908800" cy="378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資料請求したが予約なし → 体験の案内を追加で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66399" y="4338000"/>
            <a:ext cx="2908800" cy="378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「情報収集だけ」→ 売り込みは控えて週1の情報だけ</a:t>
            </a:r>
          </a:p>
        </p:txBody>
      </p:sp>
    </p:spTree>
    <p:extLst>
      <p:ext uri="{BB962C8B-B14F-4D97-AF65-F5344CB8AC3E}">
        <p14:creationId xmlns:p14="http://schemas.microsoft.com/office/powerpoint/2010/main" val="1335448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C836A-F13C-1973-53EF-92ADF9F85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配信設計：14日間の配信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比べている間は、売り込みではなく役に立つ情報を届け、体験予約に進んでもらう。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14日のうち、体験の案内は2通だけ（7日後・14日後）。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※保護者が比べている間に何を調べているかは、前後検索（取得中）で確定させ、配信の中身を合わせる</a:t>
            </a:r>
          </a:p>
        </p:txBody>
      </p:sp>
      <p:sp>
        <p:nvSpPr>
          <p:cNvPr id="11" name="Pentagon 10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12" name="Chevron 11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13" name="Chevron 12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14" name="Chevron 13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15" name="Chevron 14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16" name="Chevron 15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17" name="Chevron 16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18" name="Chevron 17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2000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データ（事実）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000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保護者は比べている間に、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費用・時期・口コミを調べている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（前後検索で確定させる）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43199" y="1989000"/>
            <a:ext cx="140400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512399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12399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すべきこと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2399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売り込みより先に、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役に立つ情報を届ける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23599" y="1989000"/>
            <a:ext cx="140401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92800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92800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LINE施策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82800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未入会の保護者向けに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14日間の配信を自動で送る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76000" y="2951999"/>
            <a:ext cx="8748000" cy="0"/>
          </a:xfrm>
          <a:prstGeom prst="line">
            <a:avLst/>
          </a:prstGeom>
          <a:ln w="3810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59599" y="2826000"/>
            <a:ext cx="251999" cy="251999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000" y="2556000"/>
            <a:ext cx="1507200" cy="23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ctr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登録した日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8000" y="3186000"/>
            <a:ext cx="1435200" cy="360000"/>
          </a:xfrm>
          <a:prstGeom prst="roundRect">
            <a:avLst>
              <a:gd name="adj" fmla="val 15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友だち追加の直後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8000" y="3600000"/>
            <a:ext cx="143520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あいさつ＋30秒診断</a:t>
            </a:r>
          </a:p>
        </p:txBody>
      </p:sp>
      <p:sp>
        <p:nvSpPr>
          <p:cNvPr id="35" name="Oval 34"/>
          <p:cNvSpPr/>
          <p:nvPr/>
        </p:nvSpPr>
        <p:spPr>
          <a:xfrm>
            <a:off x="2566800" y="2826000"/>
            <a:ext cx="251999" cy="251999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39200" y="2556000"/>
            <a:ext cx="1507200" cy="23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ctr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3日後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75200" y="3186000"/>
            <a:ext cx="1435200" cy="360000"/>
          </a:xfrm>
          <a:prstGeom prst="roundRect">
            <a:avLst>
              <a:gd name="adj" fmla="val 15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比べ始めたころ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75200" y="3600000"/>
            <a:ext cx="143520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家でできる勉強のコツ</a:t>
            </a:r>
          </a:p>
        </p:txBody>
      </p:sp>
      <p:sp>
        <p:nvSpPr>
          <p:cNvPr id="39" name="Oval 38"/>
          <p:cNvSpPr/>
          <p:nvPr/>
        </p:nvSpPr>
        <p:spPr>
          <a:xfrm>
            <a:off x="4074000" y="2826000"/>
            <a:ext cx="251999" cy="251999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46399" y="2556000"/>
            <a:ext cx="1507200" cy="23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ctr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5日後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82399" y="3186000"/>
            <a:ext cx="1435200" cy="360000"/>
          </a:xfrm>
          <a:prstGeom prst="roundRect">
            <a:avLst>
              <a:gd name="adj" fmla="val 15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費用が気になるころ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82399" y="3600000"/>
            <a:ext cx="143520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月謝＋講習費の年間の目安</a:t>
            </a:r>
          </a:p>
        </p:txBody>
      </p:sp>
      <p:sp>
        <p:nvSpPr>
          <p:cNvPr id="43" name="Oval 42"/>
          <p:cNvSpPr/>
          <p:nvPr/>
        </p:nvSpPr>
        <p:spPr>
          <a:xfrm>
            <a:off x="5581200" y="2826000"/>
            <a:ext cx="251999" cy="251999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53599" y="2556000"/>
            <a:ext cx="1507200" cy="23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ctr"/>
            <a:r>
              <a:rPr sz="11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7日後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89599" y="3186000"/>
            <a:ext cx="1435200" cy="360000"/>
          </a:xfrm>
          <a:prstGeom prst="roundRect">
            <a:avLst>
              <a:gd name="adj" fmla="val 15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候補を絞るころ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9599" y="3600000"/>
            <a:ext cx="1435200" cy="1080000"/>
          </a:xfrm>
          <a:prstGeom prst="roundRect">
            <a:avLst>
              <a:gd name="adj" fmla="val 8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同じタイプの子の事例＋体験のご案内①</a:t>
            </a:r>
          </a:p>
        </p:txBody>
      </p:sp>
      <p:sp>
        <p:nvSpPr>
          <p:cNvPr id="47" name="Oval 46"/>
          <p:cNvSpPr/>
          <p:nvPr/>
        </p:nvSpPr>
        <p:spPr>
          <a:xfrm>
            <a:off x="7088399" y="2826000"/>
            <a:ext cx="251999" cy="251999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60800" y="2556000"/>
            <a:ext cx="1507200" cy="23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ctr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10日後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96800" y="3186000"/>
            <a:ext cx="1435200" cy="360000"/>
          </a:xfrm>
          <a:prstGeom prst="roundRect">
            <a:avLst>
              <a:gd name="adj" fmla="val 15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まだ予約していない人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6800" y="3600000"/>
            <a:ext cx="143520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よくある質問（断ってもいい？総額は？）</a:t>
            </a:r>
          </a:p>
        </p:txBody>
      </p:sp>
      <p:sp>
        <p:nvSpPr>
          <p:cNvPr id="51" name="Oval 50"/>
          <p:cNvSpPr/>
          <p:nvPr/>
        </p:nvSpPr>
        <p:spPr>
          <a:xfrm>
            <a:off x="8595600" y="2826000"/>
            <a:ext cx="251999" cy="251999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68000" y="2556000"/>
            <a:ext cx="1507200" cy="23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ctr"/>
            <a:r>
              <a:rPr sz="11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14日後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04000" y="3186000"/>
            <a:ext cx="1435200" cy="360000"/>
          </a:xfrm>
          <a:prstGeom prst="roundRect">
            <a:avLst>
              <a:gd name="adj" fmla="val 15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決めるころ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04000" y="3600000"/>
            <a:ext cx="1435200" cy="1080000"/>
          </a:xfrm>
          <a:prstGeom prst="roundRect">
            <a:avLst>
              <a:gd name="adj" fmla="val 8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次の定期テストからの逆算＋体験のご案内②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2000" y="4860000"/>
            <a:ext cx="4428000" cy="827999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体験予約した人</a:t>
            </a:r>
          </a:p>
          <a:p>
            <a:pPr algn="ctr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前日リマインドへ（P22）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47200" y="4860000"/>
            <a:ext cx="4428000" cy="827999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予約しなかった人</a:t>
            </a:r>
          </a:p>
          <a:p>
            <a:pPr algn="ctr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週1回の配信へ合流し、講習の時期に再案内（⑥再育成）</a:t>
            </a:r>
          </a:p>
        </p:txBody>
      </p:sp>
    </p:spTree>
    <p:extLst>
      <p:ext uri="{BB962C8B-B14F-4D97-AF65-F5344CB8AC3E}">
        <p14:creationId xmlns:p14="http://schemas.microsoft.com/office/powerpoint/2010/main" val="173865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67DEB-0D7B-8670-6390-E396B1D5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実文面：場面ごとのメッセージ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メッセージごとに「いつ・どの場面で送るか」を決めておく。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通知の冒頭（最初の15文字ほど）で開かれるかが決まるので、冒頭も1通ずつ決める。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※事例の数字は貴社の実績に差し替え、学年・期間・通った回数を書く。体験予約の前日のメッセージはP22</a:t>
            </a:r>
          </a:p>
        </p:txBody>
      </p:sp>
      <p:sp>
        <p:nvSpPr>
          <p:cNvPr id="15" name="Pentagon 14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16" name="Chevron 15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17" name="Chevron 16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18" name="Chevron 17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19" name="Chevron 18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20" name="Chevron 19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21" name="Chevron 20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22" name="Chevron 21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1494000"/>
            <a:ext cx="2908800" cy="432000"/>
          </a:xfrm>
          <a:prstGeom prst="roundRect">
            <a:avLst>
              <a:gd name="adj" fmla="val 1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【登録から3日後】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比べ始めたころ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000" y="1980000"/>
            <a:ext cx="2908800" cy="270000"/>
          </a:xfrm>
          <a:prstGeom prst="roundRect">
            <a:avLst>
              <a:gd name="adj" fmla="val 15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通知の冒頭：テスト後、9割のご家庭がしない事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2304000"/>
            <a:ext cx="2908800" cy="3851999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0000" y="2394000"/>
            <a:ext cx="2664000" cy="19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28800" bIns="28800"/>
          <a:lstStyle/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◯◯塾の佐藤です📚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塾を探す前に、今日からできることを1つ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だけ。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伸びる子の家庭は、テスト返却の日に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これをやっています👇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✅ 間違いを「ケアレスミス」と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「わからなかった」に仕分け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✅ 「わからなかった」だけ付箋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✅ 週末に付箋の問題だけ解き直す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塾はその先、「付箋が多すぎて手に負えな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い」ときの選択肢で大丈夫です😊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99199" y="1494000"/>
            <a:ext cx="2908800" cy="432000"/>
          </a:xfrm>
          <a:prstGeom prst="roundRect">
            <a:avLst>
              <a:gd name="adj" fmla="val 1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【登録から7日後】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候補を絞るころ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99199" y="1980000"/>
            <a:ext cx="2908800" cy="270000"/>
          </a:xfrm>
          <a:prstGeom prst="roundRect">
            <a:avLst>
              <a:gd name="adj" fmla="val 15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通知の冒頭：同じ悩みだった◯年生の話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99199" y="2304000"/>
            <a:ext cx="2908800" cy="3851999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07200" y="2394000"/>
            <a:ext cx="2664000" cy="169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28800" bIns="28800"/>
          <a:lstStyle/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◯◯塾の佐藤です。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診断で「◯◯タイプ」だったお子さまと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同じタイプの、中2のAさんのお話です。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入塾前は「授業についていけない」が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悩みでしたが、分からない所まで戻った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ことで、3ヶ月後の定期テストで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数学が◯点→◯点に。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お子さまに合うかどうかは、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体験で確かめられます。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07200" y="4158000"/>
            <a:ext cx="2664000" cy="270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▶ 無料体験の空き枠を見る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66399" y="1494000"/>
            <a:ext cx="2908800" cy="432000"/>
          </a:xfrm>
          <a:prstGeom prst="roundRect">
            <a:avLst>
              <a:gd name="adj" fmla="val 1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【登録から14日後】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決めるころ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66399" y="1980000"/>
            <a:ext cx="2908800" cy="270000"/>
          </a:xfrm>
          <a:prstGeom prst="roundRect">
            <a:avLst>
              <a:gd name="adj" fmla="val 15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通知の冒頭：次のテストまで、あと◯日です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66399" y="2304000"/>
            <a:ext cx="2908800" cy="3851999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74400" y="2394000"/>
            <a:ext cx="2664000" cy="169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28800" bIns="28800"/>
          <a:lstStyle/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◯◯塾の佐藤です。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次の定期テストまで、あと約◯日。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入塾手続きから授業開始まで約1週間、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テスト対策には3週間ほどかかるため、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ご検討中なら今週がひとつの分かれ目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です。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「まだ迷っている」段階でも大丈夫。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体験だけ受けて、テスト後にゆっくり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決めたご家庭も多いです😊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4400" y="4158000"/>
            <a:ext cx="2664000" cy="270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▶ 今週の体験枠を見る</a:t>
            </a:r>
          </a:p>
        </p:txBody>
      </p:sp>
    </p:spTree>
    <p:extLst>
      <p:ext uri="{BB962C8B-B14F-4D97-AF65-F5344CB8AC3E}">
        <p14:creationId xmlns:p14="http://schemas.microsoft.com/office/powerpoint/2010/main" val="106556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1AF94-39A6-ED70-5918-C4DFB0937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体験予約から入会まで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体験を予約しても、当日来ない人がいる。理由の多くは「忘れた」「持ち物が不安」「変更の仕方が分からない」。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前日までに先回りして、体験に来てもらい、入会につなげる。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※体験に来ない割合・実施率の改善幅は、貴社の実績で確定させる（旧版の「約20%」「80%→92%」は出典未確認のため載せていない）</a:t>
            </a:r>
          </a:p>
        </p:txBody>
      </p:sp>
      <p:sp>
        <p:nvSpPr>
          <p:cNvPr id="32" name="Pentagon 31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33" name="Chevron 32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34" name="Chevron 33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35" name="Chevron 34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36" name="Chevron 35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37" name="Chevron 36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38" name="Chevron 37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39" name="Chevron 38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2000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32000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データ（事実）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2000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体験を予約しても、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当日来ない人がいる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（割合は貴社の実績で確定）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343199" y="1989000"/>
            <a:ext cx="140400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3512399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512399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すべきこと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02399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来ない理由を、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前日までに先回りしてなくす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23599" y="1989000"/>
            <a:ext cx="140401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592800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592800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LINE施策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82800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予約の直後から翌日まで、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LINEで5回自動で届ける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76000" y="2880000"/>
            <a:ext cx="8748000" cy="0"/>
          </a:xfrm>
          <a:prstGeom prst="line">
            <a:avLst/>
          </a:prstGeom>
          <a:ln w="3810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210319" y="2754000"/>
            <a:ext cx="251999" cy="251999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2000" y="2520000"/>
            <a:ext cx="180864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予約した直後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5999" y="3096000"/>
            <a:ext cx="1700640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予約内容の確認</a:t>
            </a:r>
          </a:p>
          <a:p>
            <a:pPr algn="ctr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カレンダー登録</a:t>
            </a:r>
          </a:p>
        </p:txBody>
      </p:sp>
      <p:sp>
        <p:nvSpPr>
          <p:cNvPr id="55" name="Oval 54"/>
          <p:cNvSpPr/>
          <p:nvPr/>
        </p:nvSpPr>
        <p:spPr>
          <a:xfrm>
            <a:off x="3018960" y="2754000"/>
            <a:ext cx="251999" cy="251999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40640" y="2520000"/>
            <a:ext cx="180864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2日前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294640" y="3096000"/>
            <a:ext cx="1700640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担当講師の紹介</a:t>
            </a:r>
          </a:p>
          <a:p>
            <a:pPr algn="ctr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顔写真とひとこと</a:t>
            </a:r>
          </a:p>
        </p:txBody>
      </p:sp>
      <p:sp>
        <p:nvSpPr>
          <p:cNvPr id="58" name="Oval 57"/>
          <p:cNvSpPr/>
          <p:nvPr/>
        </p:nvSpPr>
        <p:spPr>
          <a:xfrm>
            <a:off x="4827600" y="2754000"/>
            <a:ext cx="251999" cy="251999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049279" y="2520000"/>
            <a:ext cx="180864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103280" y="3096000"/>
            <a:ext cx="1700640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持ち物・アクセス</a:t>
            </a:r>
          </a:p>
          <a:p>
            <a:pPr algn="ctr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日程の変更方法</a:t>
            </a:r>
          </a:p>
        </p:txBody>
      </p:sp>
      <p:sp>
        <p:nvSpPr>
          <p:cNvPr id="61" name="Oval 60"/>
          <p:cNvSpPr/>
          <p:nvPr/>
        </p:nvSpPr>
        <p:spPr>
          <a:xfrm>
            <a:off x="6636239" y="2754000"/>
            <a:ext cx="251999" cy="251999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57919" y="2520000"/>
            <a:ext cx="180864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当日2時間前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11919" y="3096000"/>
            <a:ext cx="1700640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「お待ちしています」</a:t>
            </a:r>
          </a:p>
          <a:p>
            <a:pPr algn="ctr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短い一言</a:t>
            </a:r>
          </a:p>
        </p:txBody>
      </p:sp>
      <p:sp>
        <p:nvSpPr>
          <p:cNvPr id="64" name="Oval 63"/>
          <p:cNvSpPr/>
          <p:nvPr/>
        </p:nvSpPr>
        <p:spPr>
          <a:xfrm>
            <a:off x="8444880" y="2754000"/>
            <a:ext cx="251999" cy="251999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66560" y="2520000"/>
            <a:ext cx="180864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ctr"/>
            <a:r>
              <a:rPr sz="105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翌日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720559" y="3096000"/>
            <a:ext cx="1700640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お礼＋診断結果</a:t>
            </a:r>
          </a:p>
          <a:p>
            <a:pPr algn="ctr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入会のご相談はこちら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2000" y="3761999"/>
            <a:ext cx="432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前日のメッセージ（実文）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2000" y="3996000"/>
            <a:ext cx="5040000" cy="212400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40000" y="4068000"/>
            <a:ext cx="4824000" cy="19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28800" bIns="28800"/>
          <a:lstStyle/>
          <a:p>
            <a:pPr algn="l"/>
            <a:r>
              <a:rPr sz="9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【明日◯時〜】体験授業のご確認です😊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◯◯塾 △△教室（地図はこちら▼）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✏️ 持ち物：筆記用具だけでOK（教材はご用意します）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🚲 駐輪場：教室裏にあります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👪 保護者さまは「見学」でも「面談だけ」でも大丈夫です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/>
            <a:r>
              <a:rPr sz="9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ご都合が変わったら、このトークに「変更」と送って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ください。別の日程をご案内します。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（キャンセル料はありません）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652000" y="3996000"/>
            <a:ext cx="3823199" cy="1007999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「キャンセル料はありません」を必ず書く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変更・キャンセルの自由を先に伝えたほうが、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体験に来てもらいやすい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652000" y="5112000"/>
            <a:ext cx="3823199" cy="1007999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翌日のメッセージで入会へ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お礼と診断結果を送り、入会の相談は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LINEで受け付けて教室へつなぐ</a:t>
            </a:r>
          </a:p>
        </p:txBody>
      </p:sp>
    </p:spTree>
    <p:extLst>
      <p:ext uri="{BB962C8B-B14F-4D97-AF65-F5344CB8AC3E}">
        <p14:creationId xmlns:p14="http://schemas.microsoft.com/office/powerpoint/2010/main" val="2957158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5F51C-1549-19C8-A509-C77C3C8B9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過去に問い合わせた保護者へ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塾には、資料請求や体験だけで止まった保護者の連絡先が残っている。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講習の時期に合わせて、もう一度声をかける。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通知メッセージは別途費用。利用条件・単価はLINEヤフーの規定で変わるため、要件定義で最新の条件を確認する</a:t>
            </a:r>
          </a:p>
        </p:txBody>
      </p:sp>
      <p:sp>
        <p:nvSpPr>
          <p:cNvPr id="28" name="Pentagon 27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29" name="Chevron 28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30" name="Chevron 29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31" name="Chevron 30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32" name="Chevron 31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33" name="Chevron 32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34" name="Chevron 33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35" name="Chevron 34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2000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2000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データ（事実）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2000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資料請求や体験だけで止まった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保護者の電話番号が残っている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343199" y="1989000"/>
            <a:ext cx="140400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512399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512399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すべきこと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02399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講習の時期に合わせて、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もう一度声をかける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23599" y="1989000"/>
            <a:ext cx="140401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592800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92800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LINE施策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82800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通知メッセージ（電話番号で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LINEに届く機能）で再案内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2000" y="2664000"/>
            <a:ext cx="4428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資料請求だけで止まっている保護者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資料は読んだが、体験に進まなかった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2000" y="3491999"/>
            <a:ext cx="4428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体験に来たが、入会しなかった保護者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時期が合わなかった・迷っていた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47200" y="2628000"/>
            <a:ext cx="4428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送るタイミング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47200" y="2880000"/>
            <a:ext cx="1404000" cy="432000"/>
          </a:xfrm>
          <a:prstGeom prst="roundRect">
            <a:avLst>
              <a:gd name="adj" fmla="val 8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夏期講習の前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59200" y="2880000"/>
            <a:ext cx="1404000" cy="432000"/>
          </a:xfrm>
          <a:prstGeom prst="roundRect">
            <a:avLst>
              <a:gd name="adj" fmla="val 8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冬期講習の前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71200" y="2880000"/>
            <a:ext cx="1404000" cy="432000"/>
          </a:xfrm>
          <a:prstGeom prst="roundRect">
            <a:avLst>
              <a:gd name="adj" fmla="val 8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新学年の前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47200" y="3456000"/>
            <a:ext cx="4428000" cy="756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例：「夏期講習のご案内です。以前いただいた資料請求の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内容をもとに、お子さまの学年に合うコースをお送りします」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2000" y="4428000"/>
            <a:ext cx="9043200" cy="864000"/>
          </a:xfrm>
          <a:prstGeom prst="roundRect">
            <a:avLst>
              <a:gd name="adj" fmla="val 8000"/>
            </a:avLst>
          </a:prstGeom>
          <a:solidFill>
            <a:srgbClr val="FFF7F0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1">
                <a:solidFill>
                  <a:srgbClr val="C55A11"/>
                </a:solidFill>
                <a:latin typeface="メイリオ"/>
                <a:ea typeface="メイリオ"/>
                <a:cs typeface="メイリオ"/>
              </a:rPr>
              <a:t>注意すること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・関係がはっきりしている相手だけに送る（資料請求・体験をした保護者）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・「知らないのに届いた」と思われない文面にする（いつ・何で接点があったかを書く）</a:t>
            </a:r>
          </a:p>
        </p:txBody>
      </p:sp>
    </p:spTree>
    <p:extLst>
      <p:ext uri="{BB962C8B-B14F-4D97-AF65-F5344CB8AC3E}">
        <p14:creationId xmlns:p14="http://schemas.microsoft.com/office/powerpoint/2010/main" val="774396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1E7E9-7412-46E6-C9BD-3E3A30E4E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年間の配信カレンダー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検索の山（2月・7月）の前から、その時期に保護者が考えていることを届ける。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企画配信は月1〜2本。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38000"/>
            <a:ext cx="9043200" cy="52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432000" y="1638000"/>
            <a:ext cx="936000" cy="522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5999" y="1784279"/>
            <a:ext cx="1944000" cy="229442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新学年の準備が動き出す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1999" y="1785818"/>
            <a:ext cx="2951999" cy="226364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「塾」の検索は2月上旬が山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2000" y="1785818"/>
            <a:ext cx="2880000" cy="226364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小5・中2の保護者へ「次学年で変わること」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2221200"/>
            <a:ext cx="9043200" cy="52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ounded Rectangle 10"/>
          <p:cNvSpPr/>
          <p:nvPr/>
        </p:nvSpPr>
        <p:spPr>
          <a:xfrm>
            <a:off x="432000" y="2221200"/>
            <a:ext cx="936000" cy="522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2-3月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5999" y="2367479"/>
            <a:ext cx="1944000" cy="229442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入会の最大期／春期講習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1999" y="2369018"/>
            <a:ext cx="2951999" cy="226364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受験3種のピークも1月中旬〜2月上旬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2000" y="2369018"/>
            <a:ext cx="2880000" cy="226364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新学年スタート応援。春期講習は夏の1/3規模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2804400"/>
            <a:ext cx="9043200" cy="52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Rounded Rectangle 15"/>
          <p:cNvSpPr/>
          <p:nvPr/>
        </p:nvSpPr>
        <p:spPr>
          <a:xfrm>
            <a:off x="432000" y="2804400"/>
            <a:ext cx="936000" cy="52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4-5月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5999" y="2950679"/>
            <a:ext cx="1944000" cy="229442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最初の定期テスト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1999" y="2952218"/>
            <a:ext cx="2951999" cy="226364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中間テストで成績不安が顕在化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2000" y="2856037"/>
            <a:ext cx="2880000" cy="418725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「テスト後、9割の家庭がしない事」（P21）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387600"/>
            <a:ext cx="9043200" cy="52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Rounded Rectangle 20"/>
          <p:cNvSpPr/>
          <p:nvPr/>
        </p:nvSpPr>
        <p:spPr>
          <a:xfrm>
            <a:off x="432000" y="3387600"/>
            <a:ext cx="936000" cy="522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5999" y="3533879"/>
            <a:ext cx="1944000" cy="229442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夏期講習の配信の準備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1999" y="3535418"/>
            <a:ext cx="2951999" cy="226364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夏期講習の検索は7月中旬が山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2000" y="3535418"/>
            <a:ext cx="2880000" cy="226364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年間最大の商戦。ここを外すと1年が変わる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" y="3970800"/>
            <a:ext cx="9043200" cy="52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Rounded Rectangle 25"/>
          <p:cNvSpPr/>
          <p:nvPr/>
        </p:nvSpPr>
        <p:spPr>
          <a:xfrm>
            <a:off x="432000" y="3970800"/>
            <a:ext cx="936000" cy="522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7-8月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75999" y="4117079"/>
            <a:ext cx="1944000" cy="229442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夏期講習ピーク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1999" y="4118618"/>
            <a:ext cx="2951999" cy="226364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冬期・春期の3〜5倍の規模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2000" y="4118618"/>
            <a:ext cx="2880000" cy="226364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夏の学習計画・自由研究・受験生の夏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000" y="4554000"/>
            <a:ext cx="9043200" cy="52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Rounded Rectangle 30"/>
          <p:cNvSpPr/>
          <p:nvPr/>
        </p:nvSpPr>
        <p:spPr>
          <a:xfrm>
            <a:off x="432000" y="4554000"/>
            <a:ext cx="936000" cy="52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9-10月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75999" y="4700279"/>
            <a:ext cx="1944000" cy="229442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2学期の定期テスト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1999" y="4701818"/>
            <a:ext cx="2951999" cy="226364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中間・期末テストで成績の不安が出やすい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2000" y="4701818"/>
            <a:ext cx="2880000" cy="226364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テスト返却週に「点数の見方」を配信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2000" y="5137200"/>
            <a:ext cx="9043200" cy="52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Rounded Rectangle 35"/>
          <p:cNvSpPr/>
          <p:nvPr/>
        </p:nvSpPr>
        <p:spPr>
          <a:xfrm>
            <a:off x="432000" y="5137200"/>
            <a:ext cx="936000" cy="52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11-12月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75999" y="5283479"/>
            <a:ext cx="1944000" cy="229442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冬期講習・受験直前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91999" y="5285018"/>
            <a:ext cx="2951999" cy="226364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冬期講習は12月下旬がピーク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52000" y="5285018"/>
            <a:ext cx="2880000" cy="226364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受験生は直前期、非受験生は「来年こそ」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出典｜Googleトレンド（日本・2026年年初来・週次／_data/trends/教育塾/）。各月の内容はDYM見解。★貴社の月別の入会実績があれば、この表を合わせる</a:t>
            </a:r>
          </a:p>
        </p:txBody>
      </p:sp>
      <p:sp>
        <p:nvSpPr>
          <p:cNvPr id="41" name="Pentagon 40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42" name="Chevron 41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43" name="Chevron 42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44" name="Chevron 43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45" name="Chevron 44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46" name="Chevron 45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47" name="Chevron 46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48" name="Chevron 47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</p:spTree>
    <p:extLst>
      <p:ext uri="{BB962C8B-B14F-4D97-AF65-F5344CB8AC3E}">
        <p14:creationId xmlns:p14="http://schemas.microsoft.com/office/powerpoint/2010/main" val="2756826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3825-9171-A79A-31F7-FBB36FFE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第2の提案軸：友だちと一緒に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塾を知ったきっかけの1位は「知人・友人の口コミ」47.0%。塾の公式サイトより多い。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保護者どうしの「どこの塾に行ってる？」を、LINEの友だち追加につなげる。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出典｜POPER「Comiru」保護者と学習塾の意識調査 2022年（保護者300人）</a:t>
            </a:r>
          </a:p>
        </p:txBody>
      </p:sp>
      <p:sp>
        <p:nvSpPr>
          <p:cNvPr id="24" name="Pentagon 23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25" name="Chevron 24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26" name="Chevron 25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27" name="Chevron 26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28" name="Chevron 27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29" name="Chevron 28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30" name="Chevron 29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31" name="Chevron 30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2000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2000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データ（事実）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2000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塾を知ったきっかけ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1位「知人・友人の口コミ」47.0%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2位「インターネット上の口コミ」28.3%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343199" y="1989000"/>
            <a:ext cx="140400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512399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512399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すべきこと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02399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保護者どうしの会話を、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LINEの友だち追加につなげる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23599" y="1989000"/>
            <a:ext cx="140401" cy="0"/>
          </a:xfrm>
          <a:prstGeom prst="line">
            <a:avLst/>
          </a:prstGeom>
          <a:ln w="28575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592800" y="1494000"/>
            <a:ext cx="2882399" cy="99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592800" y="1494000"/>
            <a:ext cx="2882399" cy="223200"/>
          </a:xfrm>
          <a:prstGeom prst="roundRect">
            <a:avLst>
              <a:gd name="adj" fmla="val 2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LINE施策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82800" y="1753200"/>
            <a:ext cx="2702399" cy="70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友だちと一緒の体験枠／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診断結果を友だちに送れる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2000" y="2628000"/>
            <a:ext cx="4428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塾を知ったきっかけ（上位2つ）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000" y="2987999"/>
            <a:ext cx="1728000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知人・友人の口コミ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6000" y="2951999"/>
            <a:ext cx="2368800" cy="36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00800" y="2987999"/>
            <a:ext cx="648000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47.0%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000" y="3563999"/>
            <a:ext cx="1728000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インターネット上の口コミ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96000" y="3527999"/>
            <a:ext cx="1426320" cy="360000"/>
          </a:xfrm>
          <a:prstGeom prst="rect">
            <a:avLst/>
          </a:prstGeom>
          <a:solidFill>
            <a:srgbClr val="8EA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8319" y="3563999"/>
            <a:ext cx="648000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28.3%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47200" y="2628000"/>
            <a:ext cx="4428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28800" bIns="28800"/>
          <a:lstStyle/>
          <a:p>
            <a:pPr algn="l"/>
            <a:r>
              <a:rPr sz="11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LINEでの仕掛け（入会前）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47200" y="2880000"/>
            <a:ext cx="4428000" cy="57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友だちと一緒の体験枠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2人まとめてLINEで予約（P15）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47200" y="3546000"/>
            <a:ext cx="4428000" cy="57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診断結果を友だちに送れる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「うちはこのタイプだった」を共有しやすく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47200" y="4212000"/>
            <a:ext cx="4428000" cy="57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体験に来た保護者へ案内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「お友達も一緒にどうぞ」を翌日のメッセージで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2000" y="5004000"/>
            <a:ext cx="9043200" cy="432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口コミで選ばれる業界だから、口コミが生まれる場所にLINEの入口を置く。</a:t>
            </a:r>
          </a:p>
        </p:txBody>
      </p:sp>
    </p:spTree>
    <p:extLst>
      <p:ext uri="{BB962C8B-B14F-4D97-AF65-F5344CB8AC3E}">
        <p14:creationId xmlns:p14="http://schemas.microsoft.com/office/powerpoint/2010/main" val="2185305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1887" y="108000"/>
            <a:ext cx="8046062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施策の設計図①　友だち追加の動線</a:t>
            </a:r>
          </a:p>
        </p:txBody>
      </p:sp>
      <p:sp>
        <p:nvSpPr>
          <p:cNvPr id="3" name="Pentagon 2"/>
          <p:cNvSpPr/>
          <p:nvPr/>
        </p:nvSpPr>
        <p:spPr>
          <a:xfrm>
            <a:off x="432000" y="612000"/>
            <a:ext cx="1115313" cy="198000"/>
          </a:xfrm>
          <a:prstGeom prst="homePlat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4" name="Chevron 3"/>
          <p:cNvSpPr/>
          <p:nvPr/>
        </p:nvSpPr>
        <p:spPr>
          <a:xfrm>
            <a:off x="1564555" y="612000"/>
            <a:ext cx="1115313" cy="198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5" name="Chevron 4"/>
          <p:cNvSpPr/>
          <p:nvPr/>
        </p:nvSpPr>
        <p:spPr>
          <a:xfrm>
            <a:off x="2697110" y="612000"/>
            <a:ext cx="1115313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6" name="Chevron 5"/>
          <p:cNvSpPr/>
          <p:nvPr/>
        </p:nvSpPr>
        <p:spPr>
          <a:xfrm>
            <a:off x="3829665" y="612000"/>
            <a:ext cx="1115313" cy="198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7" name="Chevron 6"/>
          <p:cNvSpPr/>
          <p:nvPr/>
        </p:nvSpPr>
        <p:spPr>
          <a:xfrm>
            <a:off x="4962220" y="612000"/>
            <a:ext cx="1115313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8" name="Chevron 7"/>
          <p:cNvSpPr/>
          <p:nvPr/>
        </p:nvSpPr>
        <p:spPr>
          <a:xfrm>
            <a:off x="6094775" y="612000"/>
            <a:ext cx="1115313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9" name="Chevron 8"/>
          <p:cNvSpPr/>
          <p:nvPr/>
        </p:nvSpPr>
        <p:spPr>
          <a:xfrm>
            <a:off x="7227331" y="612000"/>
            <a:ext cx="1115313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10" name="Chevron 9"/>
          <p:cNvSpPr/>
          <p:nvPr/>
        </p:nvSpPr>
        <p:spPr>
          <a:xfrm>
            <a:off x="8359886" y="612000"/>
            <a:ext cx="1115313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882000"/>
            <a:ext cx="9043200" cy="4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l"/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どこで、何を訴求して、月に何人がLINEの友だちになるか（大手1社・サイトUU 約28万／月のモデル値）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1386000"/>
            <a:ext cx="9906000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32000" y="6226926"/>
            <a:ext cx="9043200" cy="2031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l"/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※サイトUUは大手の有名塾の実数（SimilarWeb）を参考にしたモデル値。係数はDYM SIMの型。チラシ・教室のQRは計測できないため数えていない。費用は税抜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538336"/>
            <a:ext cx="2241403" cy="270821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箇所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30875" y="1538336"/>
            <a:ext cx="3563256" cy="270821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1603" y="1538336"/>
            <a:ext cx="1436796" cy="270821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45872" y="1538336"/>
            <a:ext cx="1571855" cy="270821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1910715"/>
            <a:ext cx="2241403" cy="1184842"/>
          </a:xfrm>
          <a:prstGeom prst="rect">
            <a:avLst/>
          </a:prstGeom>
          <a:solidFill>
            <a:srgbClr val="FFFFFF"/>
          </a:solidFill>
          <a:ln w="1587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8207" y="2293250"/>
            <a:ext cx="402303" cy="423157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7982" y="1910715"/>
            <a:ext cx="1681052" cy="11848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87771" y="2503136"/>
            <a:ext cx="172415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874554" y="1910715"/>
            <a:ext cx="3477048" cy="1184842"/>
          </a:xfrm>
          <a:prstGeom prst="rect">
            <a:avLst/>
          </a:prstGeom>
          <a:solidFill>
            <a:srgbClr val="FFFFFF"/>
          </a:solidFill>
          <a:ln w="1587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" bIns="18000"/>
          <a:lstStyle/>
          <a:p>
            <a:pPr algn="l"/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「まだ決めなくて大丈夫です」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65971" y="2503136"/>
            <a:ext cx="158048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538387" y="1910715"/>
            <a:ext cx="1250013" cy="1184842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2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2,200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人／月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03290" y="2841663"/>
            <a:ext cx="3419576" cy="2031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l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28.4万UU×表示55%×クリック12%×追加12%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45872" y="1910715"/>
            <a:ext cx="1571855" cy="1184842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月3万円</a:t>
            </a:r>
          </a:p>
          <a:p>
            <a:pPr algn="ctr"/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初期1.5万円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" y="3230968"/>
            <a:ext cx="2241403" cy="1184842"/>
          </a:xfrm>
          <a:prstGeom prst="rect">
            <a:avLst/>
          </a:prstGeom>
          <a:solidFill>
            <a:srgbClr val="FFFFFF"/>
          </a:solidFill>
          <a:ln w="1587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8207" y="3613503"/>
            <a:ext cx="402303" cy="423157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982" y="3230968"/>
            <a:ext cx="1681052" cy="11848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完了画面からの誘導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687771" y="3823389"/>
            <a:ext cx="172415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874554" y="3230968"/>
            <a:ext cx="3477048" cy="1184842"/>
          </a:xfrm>
          <a:prstGeom prst="rect">
            <a:avLst/>
          </a:prstGeom>
          <a:solidFill>
            <a:srgbClr val="FFFFFF"/>
          </a:solidFill>
          <a:ln w="1587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" bIns="18000"/>
          <a:lstStyle/>
          <a:p>
            <a:pPr algn="l"/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「日程の確認・変更はLINEで」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65971" y="3823389"/>
            <a:ext cx="158048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538387" y="3230968"/>
            <a:ext cx="1250013" cy="1184842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2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300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人／月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03290" y="4161915"/>
            <a:ext cx="3419576" cy="2031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l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資料請求・体験予約の完了 月2,000件×15%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45872" y="3230968"/>
            <a:ext cx="1571855" cy="1184842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月5万円</a:t>
            </a:r>
          </a:p>
          <a:p>
            <a:pPr algn="ctr"/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初期10万円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2000" y="4618926"/>
            <a:ext cx="9043200" cy="575494"/>
          </a:xfrm>
          <a:prstGeom prst="roundRect">
            <a:avLst>
              <a:gd name="adj" fmla="val 1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2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新しい友だち　合計 月2,500人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2000" y="5363684"/>
            <a:ext cx="9043200" cy="5416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一番大きいのは、サイトから帰ろうとする保護者を拾う「離脱防止ポップアップ」。</a:t>
            </a:r>
          </a:p>
          <a:p>
            <a:pPr algn="l"/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広告費を足さずに、すでにサイトに来ている保護者とつながれる。</a:t>
            </a:r>
          </a:p>
        </p:txBody>
      </p:sp>
    </p:spTree>
    <p:extLst>
      <p:ext uri="{BB962C8B-B14F-4D97-AF65-F5344CB8AC3E}">
        <p14:creationId xmlns:p14="http://schemas.microsoft.com/office/powerpoint/2010/main" val="26877791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61887" y="108000"/>
            <a:ext cx="8046062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施策の設計図②　効率改善（ステップ配信・企画配信）</a:t>
            </a:r>
          </a:p>
        </p:txBody>
      </p:sp>
      <p:sp>
        <p:nvSpPr>
          <p:cNvPr id="9" name="Pentagon 8"/>
          <p:cNvSpPr/>
          <p:nvPr/>
        </p:nvSpPr>
        <p:spPr>
          <a:xfrm>
            <a:off x="432000" y="612000"/>
            <a:ext cx="1115313" cy="198000"/>
          </a:xfrm>
          <a:prstGeom prst="homePlate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10" name="Chevron 9"/>
          <p:cNvSpPr/>
          <p:nvPr/>
        </p:nvSpPr>
        <p:spPr>
          <a:xfrm>
            <a:off x="1564555" y="612000"/>
            <a:ext cx="1115313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11" name="Chevron 10"/>
          <p:cNvSpPr/>
          <p:nvPr/>
        </p:nvSpPr>
        <p:spPr>
          <a:xfrm>
            <a:off x="2697110" y="612000"/>
            <a:ext cx="1115313" cy="198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12" name="Chevron 11"/>
          <p:cNvSpPr/>
          <p:nvPr/>
        </p:nvSpPr>
        <p:spPr>
          <a:xfrm>
            <a:off x="3829665" y="612000"/>
            <a:ext cx="1115313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13" name="Chevron 12"/>
          <p:cNvSpPr/>
          <p:nvPr/>
        </p:nvSpPr>
        <p:spPr>
          <a:xfrm>
            <a:off x="4962220" y="612000"/>
            <a:ext cx="1115313" cy="198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14" name="Chevron 13"/>
          <p:cNvSpPr/>
          <p:nvPr/>
        </p:nvSpPr>
        <p:spPr>
          <a:xfrm>
            <a:off x="6094775" y="612000"/>
            <a:ext cx="1115313" cy="198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15" name="Chevron 14"/>
          <p:cNvSpPr/>
          <p:nvPr/>
        </p:nvSpPr>
        <p:spPr>
          <a:xfrm>
            <a:off x="7227331" y="612000"/>
            <a:ext cx="1115313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16" name="Chevron 15"/>
          <p:cNvSpPr/>
          <p:nvPr/>
        </p:nvSpPr>
        <p:spPr>
          <a:xfrm>
            <a:off x="8359886" y="612000"/>
            <a:ext cx="1115313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882000"/>
            <a:ext cx="9043200" cy="4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l"/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14日間のステップ配信と、時期に合わせた企画配信で、資料請求（CV①）と体験予約（CV②）を取る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0" y="1386000"/>
            <a:ext cx="9906000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32000" y="6226926"/>
            <a:ext cx="9043200" cy="2031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l"/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※大手1社（サイトUU約28万／月）のモデル値。開封率・クリック率＝DYM SIMの係数、CVR＝0.3〜1.0%、件数は四捨五入。通知メッセージのみ別途費用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1538336"/>
            <a:ext cx="4406656" cy="304673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8000" bIns="18000"/>
          <a:lstStyle/>
          <a:p>
            <a:pPr algn="l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[ステップ配信]　友だち追加から14日間・自動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1859936"/>
            <a:ext cx="4406656" cy="2031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l"/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対象：新しい友だち 月2,500人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2096905"/>
            <a:ext cx="741387" cy="592421"/>
          </a:xfrm>
          <a:prstGeom prst="rect">
            <a:avLst/>
          </a:prstGeom>
          <a:solidFill>
            <a:srgbClr val="F4F7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0日後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07870" y="2096905"/>
            <a:ext cx="2389393" cy="592421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/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あいさつ＋30秒診断 → 資料を受け取る</a:t>
            </a:r>
          </a:p>
          <a:p>
            <a:pPr algn="l"/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2,500人×100%×12%×1.0%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31746" y="2096905"/>
            <a:ext cx="1206909" cy="592421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3件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CV① 資料請求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2757031"/>
            <a:ext cx="741387" cy="592421"/>
          </a:xfrm>
          <a:prstGeom prst="rect">
            <a:avLst/>
          </a:prstGeom>
          <a:solidFill>
            <a:srgbClr val="F4F7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3日後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07870" y="2757031"/>
            <a:ext cx="2389393" cy="592421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/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家でできる勉強のコツ</a:t>
            </a:r>
          </a:p>
          <a:p>
            <a:pPr algn="l"/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2,500人×72.5%×12%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1746" y="2757031"/>
            <a:ext cx="1206909" cy="59242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1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信頼づくり</a:t>
            </a:r>
          </a:p>
          <a:p>
            <a:pPr algn="ctr"/>
            <a:r>
              <a:rPr sz="9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CVは狙わない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3417157"/>
            <a:ext cx="741387" cy="592421"/>
          </a:xfrm>
          <a:prstGeom prst="rect">
            <a:avLst/>
          </a:prstGeom>
          <a:solidFill>
            <a:srgbClr val="F4F7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5日後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07870" y="3417157"/>
            <a:ext cx="2389393" cy="592421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/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月謝＋講習費の年間の目安</a:t>
            </a:r>
          </a:p>
          <a:p>
            <a:pPr algn="l"/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2,500人×72.5%×12%×1.0%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31746" y="3417157"/>
            <a:ext cx="1206909" cy="592421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2件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CV① 資料請求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4077284"/>
            <a:ext cx="741387" cy="592421"/>
          </a:xfrm>
          <a:prstGeom prst="rect">
            <a:avLst/>
          </a:prstGeom>
          <a:solidFill>
            <a:srgbClr val="F4F7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7日後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07870" y="4077284"/>
            <a:ext cx="2389393" cy="592421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/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同じタイプの子の事例＋体験のご案内</a:t>
            </a:r>
          </a:p>
          <a:p>
            <a:pPr algn="l"/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2,500人×72.5%×12%×0.8%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31746" y="4077284"/>
            <a:ext cx="1206909" cy="592421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2件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CV② 体験予約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000" y="4737410"/>
            <a:ext cx="741387" cy="592421"/>
          </a:xfrm>
          <a:prstGeom prst="rect">
            <a:avLst/>
          </a:prstGeom>
          <a:solidFill>
            <a:srgbClr val="F4F7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14日後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7870" y="4737410"/>
            <a:ext cx="2389393" cy="592421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/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次のテストから逆算＋体験のご案内</a:t>
            </a:r>
          </a:p>
          <a:p>
            <a:pPr algn="l"/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2,500人×72.5%×12%×1.0%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31746" y="4737410"/>
            <a:ext cx="1206909" cy="592421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2件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CV② 体験予約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68543" y="1538336"/>
            <a:ext cx="4406656" cy="304673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8000" bIns="18000"/>
          <a:lstStyle/>
          <a:p>
            <a:pPr algn="l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[企画配信]　時期に合わせて月1〜2本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68543" y="1859936"/>
            <a:ext cx="4406656" cy="2031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l"/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対象：友だち 累計約10,000人（ブロックを除いて約6,800人）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68543" y="2096905"/>
            <a:ext cx="741387" cy="592421"/>
          </a:xfrm>
          <a:prstGeom prst="rect">
            <a:avLst/>
          </a:prstGeom>
          <a:solidFill>
            <a:srgbClr val="F4F7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1〜2月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44414" y="2096905"/>
            <a:ext cx="2389393" cy="592421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/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新学年で変わること（学年別）＋体験のご案内</a:t>
            </a:r>
          </a:p>
          <a:p>
            <a:pPr algn="l"/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6,800人×78%×10%×1.0%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68290" y="2096905"/>
            <a:ext cx="1206909" cy="592421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5件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CV② 体験予約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68543" y="2757031"/>
            <a:ext cx="741387" cy="592421"/>
          </a:xfrm>
          <a:prstGeom prst="rect">
            <a:avLst/>
          </a:prstGeom>
          <a:solidFill>
            <a:srgbClr val="F4F7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44414" y="2757031"/>
            <a:ext cx="2389393" cy="592421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/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中間テスト後：苦手単元チェック（中学生の保護者）</a:t>
            </a:r>
          </a:p>
          <a:p>
            <a:pPr algn="l"/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2,700人×78%×10%×0.8%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68290" y="2757031"/>
            <a:ext cx="1206909" cy="592421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2件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CV② 体験予約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68543" y="3417157"/>
            <a:ext cx="741387" cy="592421"/>
          </a:xfrm>
          <a:prstGeom prst="rect">
            <a:avLst/>
          </a:prstGeom>
          <a:solidFill>
            <a:srgbClr val="F4F7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44414" y="3417157"/>
            <a:ext cx="2389393" cy="592421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/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夏期講習の早期申込特典＋無料体験</a:t>
            </a:r>
          </a:p>
          <a:p>
            <a:pPr algn="l"/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6,800人×78%×10%×1.0%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68290" y="3417157"/>
            <a:ext cx="1206909" cy="592421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5件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CV② 体験予約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68543" y="4077284"/>
            <a:ext cx="741387" cy="592421"/>
          </a:xfrm>
          <a:prstGeom prst="rect">
            <a:avLst/>
          </a:prstGeom>
          <a:solidFill>
            <a:srgbClr val="F4F7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44414" y="4077284"/>
            <a:ext cx="2389393" cy="592421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/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2学期の中間テスト後＋冬期講習の早期案内</a:t>
            </a:r>
          </a:p>
          <a:p>
            <a:pPr algn="l"/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6,800人×78%×10%×0.6%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68290" y="4077284"/>
            <a:ext cx="1206909" cy="592421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3件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CV② 体験予約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68543" y="4737410"/>
            <a:ext cx="741387" cy="592421"/>
          </a:xfrm>
          <a:prstGeom prst="rect">
            <a:avLst/>
          </a:prstGeom>
          <a:solidFill>
            <a:srgbClr val="F4F7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11月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4414" y="4737410"/>
            <a:ext cx="2389393" cy="592421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/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冬期講習の前：体験・入会に至らなかった人へ再案内</a:t>
            </a:r>
          </a:p>
          <a:p>
            <a:pPr algn="l"/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通知メッセージ・別途費用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68290" y="4737410"/>
            <a:ext cx="1206909" cy="59242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1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実績で計算</a:t>
            </a:r>
          </a:p>
          <a:p>
            <a:pPr algn="ctr"/>
            <a:r>
              <a:rPr sz="9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2000" y="5482168"/>
            <a:ext cx="9043200" cy="643199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6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ステップ配信で毎月　資料請求 約5件・体験予約 約4件</a:t>
            </a:r>
          </a:p>
          <a:p>
            <a:pPr algn="ctr"/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企画配信は1回あたり　体験予約 2〜5件（年間の全体は別ページ）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16000" y="6580800"/>
            <a:ext cx="5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61887" y="108000"/>
            <a:ext cx="8046062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施策の設計図③　満足度改善（保護者）</a:t>
            </a:r>
          </a:p>
        </p:txBody>
      </p:sp>
      <p:sp>
        <p:nvSpPr>
          <p:cNvPr id="9" name="Pentagon 8"/>
          <p:cNvSpPr/>
          <p:nvPr/>
        </p:nvSpPr>
        <p:spPr>
          <a:xfrm>
            <a:off x="432000" y="612000"/>
            <a:ext cx="1115313" cy="198000"/>
          </a:xfrm>
          <a:prstGeom prst="homePlate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10" name="Chevron 9"/>
          <p:cNvSpPr/>
          <p:nvPr/>
        </p:nvSpPr>
        <p:spPr>
          <a:xfrm>
            <a:off x="1564555" y="612000"/>
            <a:ext cx="1115313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11" name="Chevron 10"/>
          <p:cNvSpPr/>
          <p:nvPr/>
        </p:nvSpPr>
        <p:spPr>
          <a:xfrm>
            <a:off x="2697110" y="612000"/>
            <a:ext cx="1115313" cy="198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12" name="Chevron 11"/>
          <p:cNvSpPr/>
          <p:nvPr/>
        </p:nvSpPr>
        <p:spPr>
          <a:xfrm>
            <a:off x="3829665" y="612000"/>
            <a:ext cx="1115313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13" name="Chevron 12"/>
          <p:cNvSpPr/>
          <p:nvPr/>
        </p:nvSpPr>
        <p:spPr>
          <a:xfrm>
            <a:off x="4962220" y="612000"/>
            <a:ext cx="1115313" cy="198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14" name="Chevron 13"/>
          <p:cNvSpPr/>
          <p:nvPr/>
        </p:nvSpPr>
        <p:spPr>
          <a:xfrm>
            <a:off x="6094775" y="612000"/>
            <a:ext cx="1115313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15" name="Chevron 14"/>
          <p:cNvSpPr/>
          <p:nvPr/>
        </p:nvSpPr>
        <p:spPr>
          <a:xfrm>
            <a:off x="7227331" y="612000"/>
            <a:ext cx="1115313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16" name="Chevron 15"/>
          <p:cNvSpPr/>
          <p:nvPr/>
        </p:nvSpPr>
        <p:spPr>
          <a:xfrm>
            <a:off x="8359886" y="612000"/>
            <a:ext cx="1115313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882000"/>
            <a:ext cx="9043200" cy="4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l"/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保護者の疑問に、待たせずに答える。すぐ答えられることは自動で、相談は人が答える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0" y="1386000"/>
            <a:ext cx="9906000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32000" y="6226926"/>
            <a:ext cx="9043200" cy="2031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l"/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※有人対応の時間帯（平日14〜21時）は例。教室の運用に合わせて決める。いずれも月額費用内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1572189"/>
            <a:ext cx="1379325" cy="981726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QA自動化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40061" y="1572189"/>
            <a:ext cx="4396598" cy="981726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" bIns="18000"/>
          <a:lstStyle/>
          <a:p>
            <a:pPr algn="l"/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料金・コース・対象学年などは、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自動応答ですぐ答える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2672400"/>
            <a:ext cx="1379325" cy="981726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個別チャット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40061" y="2672400"/>
            <a:ext cx="4396598" cy="981726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" bIns="18000"/>
          <a:lstStyle/>
          <a:p>
            <a:pPr algn="l"/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志望校の相談・日程の調整は、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平日14〜21時にスタッフが1対1で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3772610"/>
            <a:ext cx="1379325" cy="981726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その他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40061" y="3772610"/>
            <a:ext cx="4396598" cy="981726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" bIns="18000"/>
          <a:lstStyle/>
          <a:p>
            <a:pPr algn="l"/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リッチメニューの右下に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「無料体験・見学の予約」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4957452"/>
            <a:ext cx="5804659" cy="677052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すぐ答える仕組みが、</a:t>
            </a:r>
          </a:p>
          <a:p>
            <a:pPr algn="ctr"/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資料請求・体験予約の取りこぼしを減らす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1490" y="1538336"/>
            <a:ext cx="2873593" cy="4603957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67698" y="1741452"/>
            <a:ext cx="2701178" cy="4231578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67698" y="1741452"/>
            <a:ext cx="2701178" cy="2708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l"/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‹  ◯◯塾 △△教室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7023" y="2147684"/>
            <a:ext cx="1235645" cy="338526"/>
          </a:xfrm>
          <a:prstGeom prst="roundRect">
            <a:avLst>
              <a:gd name="adj" fmla="val 30000"/>
            </a:avLst>
          </a:prstGeom>
          <a:solidFill>
            <a:srgbClr val="A6E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料金はいくら？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53906" y="2553915"/>
            <a:ext cx="2241403" cy="880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（自動応答）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コース別の月謝の目安です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・小学生　◯◯円〜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・中学生　◯◯円〜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59664" y="3535642"/>
            <a:ext cx="1523004" cy="338526"/>
          </a:xfrm>
          <a:prstGeom prst="roundRect">
            <a:avLst>
              <a:gd name="adj" fmla="val 30000"/>
            </a:avLst>
          </a:prstGeom>
          <a:solidFill>
            <a:srgbClr val="A6E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志望校の相談をしたい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53906" y="3941873"/>
            <a:ext cx="2241403" cy="6431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（教室長の佐藤です）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お子さまの学年を教えて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いただけますか？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67698" y="4754336"/>
            <a:ext cx="900392" cy="609347"/>
          </a:xfrm>
          <a:prstGeom prst="rect">
            <a:avLst/>
          </a:prstGeom>
          <a:solidFill>
            <a:srgbClr val="FFFFFF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" rIns="10800" tIns="18000" bIns="180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30秒診断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68091" y="4754336"/>
            <a:ext cx="900392" cy="609347"/>
          </a:xfrm>
          <a:prstGeom prst="rect">
            <a:avLst/>
          </a:prstGeom>
          <a:solidFill>
            <a:srgbClr val="FFFFFF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" rIns="10800" tIns="18000" bIns="180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コース・料金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68484" y="4754336"/>
            <a:ext cx="900392" cy="609347"/>
          </a:xfrm>
          <a:prstGeom prst="rect">
            <a:avLst/>
          </a:prstGeom>
          <a:solidFill>
            <a:srgbClr val="FFFFFF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" rIns="10800" tIns="18000" bIns="180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教室・講師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67698" y="5363684"/>
            <a:ext cx="900392" cy="609347"/>
          </a:xfrm>
          <a:prstGeom prst="rect">
            <a:avLst/>
          </a:prstGeom>
          <a:solidFill>
            <a:srgbClr val="FFFFFF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" rIns="10800" tIns="18000" bIns="180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資料を</a:t>
            </a:r>
          </a:p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受け取る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68091" y="5363684"/>
            <a:ext cx="900392" cy="609347"/>
          </a:xfrm>
          <a:prstGeom prst="rect">
            <a:avLst/>
          </a:prstGeom>
          <a:solidFill>
            <a:srgbClr val="FFFFFF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" rIns="10800" tIns="18000" bIns="18000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友だちと</a:t>
            </a:r>
          </a:p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68484" y="5363684"/>
            <a:ext cx="900392" cy="609347"/>
          </a:xfrm>
          <a:prstGeom prst="rect">
            <a:avLst/>
          </a:prstGeom>
          <a:solidFill>
            <a:srgbClr val="C00000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" rIns="108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無料体験・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見学の予約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6000" y="6580800"/>
            <a:ext cx="5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1887" y="108000"/>
            <a:ext cx="8046062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施策の設計図④　効率改善（教室・運用側）</a:t>
            </a:r>
          </a:p>
        </p:txBody>
      </p:sp>
      <p:sp>
        <p:nvSpPr>
          <p:cNvPr id="3" name="Pentagon 2"/>
          <p:cNvSpPr/>
          <p:nvPr/>
        </p:nvSpPr>
        <p:spPr>
          <a:xfrm>
            <a:off x="432000" y="612000"/>
            <a:ext cx="1115313" cy="198000"/>
          </a:xfrm>
          <a:prstGeom prst="homePlate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4" name="Chevron 3"/>
          <p:cNvSpPr/>
          <p:nvPr/>
        </p:nvSpPr>
        <p:spPr>
          <a:xfrm>
            <a:off x="1564555" y="612000"/>
            <a:ext cx="1115313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5" name="Chevron 4"/>
          <p:cNvSpPr/>
          <p:nvPr/>
        </p:nvSpPr>
        <p:spPr>
          <a:xfrm>
            <a:off x="2697110" y="612000"/>
            <a:ext cx="1115313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6" name="Chevron 5"/>
          <p:cNvSpPr/>
          <p:nvPr/>
        </p:nvSpPr>
        <p:spPr>
          <a:xfrm>
            <a:off x="3829665" y="612000"/>
            <a:ext cx="1115313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7" name="Chevron 6"/>
          <p:cNvSpPr/>
          <p:nvPr/>
        </p:nvSpPr>
        <p:spPr>
          <a:xfrm>
            <a:off x="4962220" y="612000"/>
            <a:ext cx="1115313" cy="198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8" name="Chevron 7"/>
          <p:cNvSpPr/>
          <p:nvPr/>
        </p:nvSpPr>
        <p:spPr>
          <a:xfrm>
            <a:off x="6094775" y="612000"/>
            <a:ext cx="1115313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9" name="Chevron 8"/>
          <p:cNvSpPr/>
          <p:nvPr/>
        </p:nvSpPr>
        <p:spPr>
          <a:xfrm>
            <a:off x="7227331" y="612000"/>
            <a:ext cx="1115313" cy="198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10" name="Chevron 9"/>
          <p:cNvSpPr/>
          <p:nvPr/>
        </p:nvSpPr>
        <p:spPr>
          <a:xfrm>
            <a:off x="8359886" y="612000"/>
            <a:ext cx="1115313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882000"/>
            <a:ext cx="9043200" cy="4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l"/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予約の受付・日程変更・持ち物の案内はLINEで自動に。LINE経由の成果も毎月数字で見える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1386000"/>
            <a:ext cx="9906000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32000" y="6226926"/>
            <a:ext cx="9043200" cy="2031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l"/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※GA4のパラメータ（utm）でLINE経由の流入と資料請求・体験予約を計測。いずれも月額費用内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555263"/>
            <a:ext cx="9043200" cy="304673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8000" bIns="18000"/>
          <a:lstStyle/>
          <a:p>
            <a:pPr algn="l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[自動応答]　体験予約の流れ（教室は当日迎えるだけ）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1978421"/>
            <a:ext cx="1327600" cy="10155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8000" bIns="18000"/>
          <a:lstStyle/>
          <a:p>
            <a:pPr algn="ctr"/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</a:t>
            </a:r>
          </a:p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体験予約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73968" y="2486210"/>
            <a:ext cx="186783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975119" y="1978421"/>
            <a:ext cx="1327600" cy="10155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8000" bIns="18000"/>
          <a:lstStyle/>
          <a:p>
            <a:pPr algn="ctr"/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日時を選ぶ</a:t>
            </a:r>
          </a:p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空き枠から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17088" y="2486210"/>
            <a:ext cx="186783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518239" y="1978421"/>
            <a:ext cx="1327600" cy="10155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8000" bIns="18000"/>
          <a:lstStyle/>
          <a:p>
            <a:pPr algn="ctr"/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予約完了を</a:t>
            </a:r>
          </a:p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自動で送る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0208" y="2486210"/>
            <a:ext cx="186783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61359" y="1978421"/>
            <a:ext cx="1327600" cy="10155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8000" bIns="18000"/>
          <a:lstStyle/>
          <a:p>
            <a:pPr algn="ctr"/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前日に</a:t>
            </a:r>
          </a:p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持ち物・地図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3328" y="2486210"/>
            <a:ext cx="186783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604479" y="1978421"/>
            <a:ext cx="1327600" cy="10155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8000" bIns="18000"/>
          <a:lstStyle/>
          <a:p>
            <a:pPr algn="ctr"/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日程の変更も</a:t>
            </a:r>
          </a:p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LINEで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46448" y="2486210"/>
            <a:ext cx="186783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47599" y="1978421"/>
            <a:ext cx="1327600" cy="1015578"/>
          </a:xfrm>
          <a:prstGeom prst="roundRect">
            <a:avLst>
              <a:gd name="adj" fmla="val 8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8000" bIns="18000"/>
          <a:lstStyle/>
          <a:p>
            <a:pPr algn="ctr"/>
            <a:r>
              <a:rPr sz="13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教室は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迎えるだけ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3264821"/>
            <a:ext cx="9043200" cy="304673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8000" bIns="18000"/>
          <a:lstStyle/>
          <a:p>
            <a:pPr algn="l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[その他]　LINE経由の成果を数える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687978"/>
            <a:ext cx="1636224" cy="10155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LINEの配信</a:t>
            </a:r>
          </a:p>
          <a:p>
            <a:pPr algn="ctr"/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リンクに目印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082592" y="4195768"/>
            <a:ext cx="186783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283743" y="3687978"/>
            <a:ext cx="1636224" cy="10155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</a:t>
            </a:r>
          </a:p>
          <a:p>
            <a:pPr algn="ctr"/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GA4で見分ける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934336" y="4195768"/>
            <a:ext cx="186783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135487" y="3687978"/>
            <a:ext cx="1636224" cy="10155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5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資料請求</a:t>
            </a:r>
          </a:p>
          <a:p>
            <a:pPr algn="ctr"/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CV①を計測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786080" y="4195768"/>
            <a:ext cx="186783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987231" y="3687978"/>
            <a:ext cx="1636224" cy="10155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5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体験予約</a:t>
            </a:r>
          </a:p>
          <a:p>
            <a:pPr algn="ctr"/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CV②を計測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637824" y="4195768"/>
            <a:ext cx="186783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838975" y="3687978"/>
            <a:ext cx="1636224" cy="10155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月次レポート</a:t>
            </a:r>
          </a:p>
          <a:p>
            <a:pPr algn="ctr"/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定例会で共有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2000" y="5025157"/>
            <a:ext cx="9043200" cy="643199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6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教室の手間を増やさずに、LINE経由の成果が毎月数字で見える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F5926-064C-E9E2-1BF7-7405461E3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友だちの数は成果にしない。見るのは、資料請求・体験予約・入会の3つ。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入会は教室で決まるので、3ヶ月ごとに教室から報告をもらって確認する。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レポートは月次の定例会で共有（費用内）</a:t>
            </a:r>
          </a:p>
        </p:txBody>
      </p:sp>
      <p:sp>
        <p:nvSpPr>
          <p:cNvPr id="13" name="Pentagon 12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14" name="Chevron 13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15" name="Chevron 14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16" name="Chevron 15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17" name="Chevron 16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18" name="Chevron 17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19" name="Chevron 18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20" name="Chevron 19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1548000"/>
            <a:ext cx="4428000" cy="324000"/>
          </a:xfrm>
          <a:prstGeom prst="roundRect">
            <a:avLst>
              <a:gd name="adj" fmla="val 1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毎月見る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000" y="1944000"/>
            <a:ext cx="4428000" cy="3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2412000"/>
            <a:ext cx="4428000" cy="3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診断の回答数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000" y="2880000"/>
            <a:ext cx="4428000" cy="3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資料請求数（CV①）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" y="3348000"/>
            <a:ext cx="4428000" cy="3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体験予約数（CV②）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3816000"/>
            <a:ext cx="4428000" cy="3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体験に来た数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4284000"/>
            <a:ext cx="4428000" cy="3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7200" y="1548000"/>
            <a:ext cx="4428000" cy="324000"/>
          </a:xfrm>
          <a:prstGeom prst="roundRect">
            <a:avLst>
              <a:gd name="adj" fmla="val 15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3ヶ月ごとに見る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47200" y="1944000"/>
            <a:ext cx="4428000" cy="3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入会数（教室から報告をもらう）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47200" y="2412000"/>
            <a:ext cx="4428000" cy="3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 → 入会の割合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47200" y="2880000"/>
            <a:ext cx="4428000" cy="3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資料請求 → 体験予約の割合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2000" y="4896000"/>
            <a:ext cx="9043200" cy="4680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友だちの数ではなく、資料請求・体験予約・入会で見る。</a:t>
            </a:r>
          </a:p>
        </p:txBody>
      </p:sp>
    </p:spTree>
    <p:extLst>
      <p:ext uri="{BB962C8B-B14F-4D97-AF65-F5344CB8AC3E}">
        <p14:creationId xmlns:p14="http://schemas.microsoft.com/office/powerpoint/2010/main" val="35561967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0F9E9-3239-4F30-04FA-62A41B302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費用プラン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6ヶ月〜・税抜。ターゲット数・ステップ本数・企画投稿数は貴社の商材数とリスト規模に合わせて確定します。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アカウント構築から配信の実務まで、費用内（無償付帯）で対応します。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50000" y="1560000"/>
            <a:ext cx="4300000" cy="378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0000" rIns="70000" bIns="30000" rtlCol="0" anchor="t"/>
          <a:lstStyle/>
          <a:p>
            <a:pPr algn="l"/>
            <a:r>
              <a:rPr sz="1400" b="1" dirty="0" err="1">
                <a:solidFill>
                  <a:srgbClr val="1F3A5F"/>
                </a:solidFill>
                <a:latin typeface="メイリオ"/>
                <a:ea typeface="メイリオ"/>
              </a:rPr>
              <a:t>運用構成（貴社に合わせて確定</a:t>
            </a:r>
            <a:r>
              <a:rPr sz="1400" b="1" dirty="0">
                <a:solidFill>
                  <a:srgbClr val="1F3A5F"/>
                </a:solidFill>
                <a:latin typeface="メイリオ"/>
                <a:ea typeface="メイリオ"/>
              </a:rPr>
              <a:t>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0000" y="1929999"/>
            <a:ext cx="4300000" cy="1299529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7F8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0000" rIns="70000" bIns="30000" rtlCol="0" anchor="t"/>
          <a:lstStyle/>
          <a:p>
            <a:pPr algn="l"/>
            <a:r>
              <a:rPr sz="1400" b="1" dirty="0" err="1">
                <a:solidFill>
                  <a:srgbClr val="1F3A5F"/>
                </a:solidFill>
                <a:latin typeface="メイリオ"/>
                <a:ea typeface="メイリオ"/>
              </a:rPr>
              <a:t>ターゲット：◯ 個</a:t>
            </a:r>
            <a:endParaRPr lang="en-US" sz="1400" b="1" dirty="0">
              <a:solidFill>
                <a:srgbClr val="1F3A5F"/>
              </a:solidFill>
              <a:latin typeface="メイリオ"/>
              <a:ea typeface="メイリオ"/>
            </a:endParaRPr>
          </a:p>
          <a:p>
            <a:pPr algn="l"/>
            <a:endParaRPr sz="800" b="1" dirty="0">
              <a:solidFill>
                <a:srgbClr val="1F3A5F"/>
              </a:solidFill>
              <a:latin typeface="メイリオ"/>
              <a:ea typeface="メイリオ"/>
            </a:endParaRPr>
          </a:p>
          <a:p>
            <a:pPr algn="l"/>
            <a:r>
              <a:rPr sz="1200" b="0" dirty="0" err="1">
                <a:solidFill>
                  <a:srgbClr val="333333"/>
                </a:solidFill>
                <a:latin typeface="メイリオ"/>
                <a:ea typeface="メイリオ"/>
              </a:rPr>
              <a:t>二軸アンケート（入塾検討時期×学年）で分類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</a:endParaRPr>
          </a:p>
          <a:p>
            <a:pPr algn="l"/>
            <a:r>
              <a:rPr sz="1200" b="0" dirty="0">
                <a:solidFill>
                  <a:srgbClr val="555555"/>
                </a:solidFill>
                <a:latin typeface="メイリオ"/>
                <a:ea typeface="メイリオ"/>
              </a:rPr>
              <a:t>例：3個｜「今すぐ/今学期中に/次の学年から・情報収集だけ」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0857" y="3388642"/>
            <a:ext cx="4300000" cy="1299529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7F8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0000" rIns="70000" bIns="30000" rtlCol="0" anchor="t"/>
          <a:lstStyle/>
          <a:p>
            <a:pPr algn="l"/>
            <a:r>
              <a:rPr sz="1400" b="1" dirty="0" err="1">
                <a:solidFill>
                  <a:srgbClr val="1F3A5F"/>
                </a:solidFill>
                <a:latin typeface="メイリオ"/>
                <a:ea typeface="メイリオ"/>
              </a:rPr>
              <a:t>ステップ配信：各◯ 通 × ◯ セット</a:t>
            </a:r>
            <a:endParaRPr lang="en-US" sz="1400" b="1" dirty="0">
              <a:solidFill>
                <a:srgbClr val="1F3A5F"/>
              </a:solidFill>
              <a:latin typeface="メイリオ"/>
              <a:ea typeface="メイリオ"/>
            </a:endParaRPr>
          </a:p>
          <a:p>
            <a:pPr algn="l"/>
            <a:endParaRPr sz="800" b="1" dirty="0">
              <a:solidFill>
                <a:srgbClr val="1F3A5F"/>
              </a:solidFill>
              <a:latin typeface="メイリオ"/>
              <a:ea typeface="メイリオ"/>
            </a:endParaRPr>
          </a:p>
          <a:p>
            <a:pPr algn="l"/>
            <a:r>
              <a:rPr sz="1200" b="0" dirty="0" err="1">
                <a:solidFill>
                  <a:srgbClr val="333333"/>
                </a:solidFill>
                <a:latin typeface="メイリオ"/>
                <a:ea typeface="メイリオ"/>
              </a:rPr>
              <a:t>ターゲット別シナリオを全自動で稼働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</a:endParaRPr>
          </a:p>
          <a:p>
            <a:pPr algn="l"/>
            <a:r>
              <a:rPr sz="1200" b="0" dirty="0">
                <a:solidFill>
                  <a:srgbClr val="555555"/>
                </a:solidFill>
                <a:latin typeface="メイリオ"/>
                <a:ea typeface="メイリオ"/>
              </a:rPr>
              <a:t>例：6通×1セット（未入会の保護者向け）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0000" y="4847286"/>
            <a:ext cx="4300000" cy="1299529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7F8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0000" rIns="70000" bIns="30000" rtlCol="0" anchor="t"/>
          <a:lstStyle/>
          <a:p>
            <a:pPr algn="l"/>
            <a:r>
              <a:rPr sz="1400" b="1" dirty="0" err="1">
                <a:solidFill>
                  <a:srgbClr val="1F3A5F"/>
                </a:solidFill>
                <a:latin typeface="メイリオ"/>
                <a:ea typeface="メイリオ"/>
              </a:rPr>
              <a:t>企画投稿：月◯ 本</a:t>
            </a:r>
            <a:endParaRPr lang="en-US" sz="1400" b="1" dirty="0">
              <a:solidFill>
                <a:srgbClr val="1F3A5F"/>
              </a:solidFill>
              <a:latin typeface="メイリオ"/>
              <a:ea typeface="メイリオ"/>
            </a:endParaRPr>
          </a:p>
          <a:p>
            <a:pPr algn="l"/>
            <a:endParaRPr sz="800" b="1" dirty="0">
              <a:solidFill>
                <a:srgbClr val="1F3A5F"/>
              </a:solidFill>
              <a:latin typeface="メイリオ"/>
              <a:ea typeface="メイリオ"/>
            </a:endParaRPr>
          </a:p>
          <a:p>
            <a:pPr algn="l"/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</a:rPr>
              <a:t>年間カレンダーに沿った定期投稿＋時期の特別配信</a:t>
            </a:r>
          </a:p>
          <a:p>
            <a:pPr algn="l"/>
            <a:r>
              <a:rPr sz="1200" b="0" dirty="0">
                <a:solidFill>
                  <a:srgbClr val="555555"/>
                </a:solidFill>
                <a:latin typeface="メイリオ"/>
                <a:ea typeface="メイリオ"/>
              </a:rPr>
              <a:t>例：月2本（月1〜2回のペース）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50000" y="1560000"/>
            <a:ext cx="4700000" cy="378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0000" rIns="70000" bIns="30000" rtlCol="0" anchor="t"/>
          <a:lstStyle/>
          <a:p>
            <a:pPr algn="l"/>
            <a:r>
              <a:rPr sz="1400" b="1">
                <a:solidFill>
                  <a:srgbClr val="1F3A5F"/>
                </a:solidFill>
                <a:latin typeface="メイリオ"/>
                <a:ea typeface="メイリオ"/>
              </a:rPr>
              <a:t>費用・ツール・運営（標準）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50000" y="1929999"/>
            <a:ext cx="4700000" cy="1299529"/>
          </a:xfrm>
          <a:prstGeom prst="roundRect">
            <a:avLst/>
          </a:prstGeom>
          <a:solidFill>
            <a:srgbClr val="243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0000" rIns="70000" bIns="30000" rtlCol="0" anchor="t"/>
          <a:lstStyle/>
          <a:p>
            <a:pPr algn="l"/>
            <a:r>
              <a:rPr sz="1600" b="1" dirty="0" err="1">
                <a:solidFill>
                  <a:srgbClr val="FFFFFF"/>
                </a:solidFill>
                <a:latin typeface="メイリオ"/>
                <a:ea typeface="メイリオ"/>
              </a:rPr>
              <a:t>月額</a:t>
            </a:r>
            <a:r>
              <a:rPr sz="1600" b="1" dirty="0">
                <a:solidFill>
                  <a:srgbClr val="FFFFFF"/>
                </a:solidFill>
                <a:latin typeface="メイリオ"/>
                <a:ea typeface="メイリオ"/>
              </a:rPr>
              <a:t> 20万円〜（3投稿）</a:t>
            </a:r>
            <a:endParaRPr lang="en-US" sz="1600" b="1" dirty="0">
              <a:solidFill>
                <a:srgbClr val="FFFFFF"/>
              </a:solidFill>
              <a:latin typeface="メイリオ"/>
              <a:ea typeface="メイリオ"/>
            </a:endParaRPr>
          </a:p>
          <a:p>
            <a:pPr algn="l"/>
            <a:endParaRPr sz="800" b="1" dirty="0">
              <a:solidFill>
                <a:srgbClr val="FFFFFF"/>
              </a:solidFill>
              <a:latin typeface="メイリオ"/>
              <a:ea typeface="メイリオ"/>
            </a:endParaRPr>
          </a:p>
          <a:p>
            <a:pPr algn="l"/>
            <a:r>
              <a:rPr sz="1400" dirty="0" err="1">
                <a:solidFill>
                  <a:srgbClr val="FFFFFF"/>
                </a:solidFill>
                <a:latin typeface="メイリオ"/>
                <a:ea typeface="メイリオ"/>
              </a:rPr>
              <a:t>初期費用</a:t>
            </a:r>
            <a:r>
              <a:rPr sz="1400" dirty="0">
                <a:solidFill>
                  <a:srgbClr val="FFFFFF"/>
                </a:solidFill>
                <a:latin typeface="メイリオ"/>
                <a:ea typeface="メイリオ"/>
              </a:rPr>
              <a:t> 10万円〜 ／ 6か月〜契約</a:t>
            </a:r>
          </a:p>
          <a:p>
            <a:pPr algn="l"/>
            <a:r>
              <a:rPr sz="1200" dirty="0">
                <a:solidFill>
                  <a:srgbClr val="FFFFFF"/>
                </a:solidFill>
                <a:latin typeface="メイリオ"/>
                <a:ea typeface="メイリオ"/>
              </a:rPr>
              <a:t>※5投稿=30万円／9投稿=50万円（投稿数により変動）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50000" y="4847286"/>
            <a:ext cx="4700000" cy="1347473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7F8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0000" rIns="70000" bIns="30000" rtlCol="0" anchor="t"/>
          <a:lstStyle/>
          <a:p>
            <a:pPr algn="l"/>
            <a:r>
              <a:rPr sz="1200" b="1" dirty="0" err="1">
                <a:solidFill>
                  <a:srgbClr val="1F3A5F"/>
                </a:solidFill>
                <a:latin typeface="メイリオ"/>
                <a:ea typeface="メイリオ"/>
              </a:rPr>
              <a:t>個別チャット運営</a:t>
            </a:r>
            <a:endParaRPr lang="en-US" sz="1200" b="1" dirty="0">
              <a:solidFill>
                <a:srgbClr val="1F3A5F"/>
              </a:solidFill>
              <a:latin typeface="メイリオ"/>
              <a:ea typeface="メイリオ"/>
            </a:endParaRPr>
          </a:p>
          <a:p>
            <a:pPr algn="l"/>
            <a:endParaRPr sz="800" b="1" dirty="0">
              <a:solidFill>
                <a:srgbClr val="1F3A5F"/>
              </a:solidFill>
              <a:latin typeface="メイリオ"/>
              <a:ea typeface="メイリオ"/>
            </a:endParaRPr>
          </a:p>
          <a:p>
            <a:pPr algn="l"/>
            <a:r>
              <a:rPr sz="1200" b="0" dirty="0" err="1">
                <a:solidFill>
                  <a:srgbClr val="333333"/>
                </a:solidFill>
                <a:latin typeface="メイリオ"/>
                <a:ea typeface="メイリオ"/>
              </a:rPr>
              <a:t>よくある質問＝KW自動応答／平日14〜21時は有人対応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</a:endParaRPr>
          </a:p>
          <a:p>
            <a:pPr algn="l"/>
            <a:r>
              <a:rPr sz="1200" b="0" dirty="0" err="1">
                <a:solidFill>
                  <a:srgbClr val="333333"/>
                </a:solidFill>
                <a:latin typeface="メイリオ"/>
                <a:ea typeface="メイリオ"/>
              </a:rPr>
              <a:t>体験希望はチャット受付 → 教室スタッフへトスアップ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4840857" y="3388642"/>
            <a:ext cx="4700000" cy="1299529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7F8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40000" rIns="70000" rtlCol="0" anchor="t"/>
          <a:lstStyle/>
          <a:p>
            <a:r>
              <a:rPr sz="1200" b="1" dirty="0" err="1">
                <a:solidFill>
                  <a:srgbClr val="1F3A5F"/>
                </a:solidFill>
                <a:latin typeface="メイリオ"/>
                <a:ea typeface="メイリオ"/>
              </a:rPr>
              <a:t>導入ツール：役割別に選定</a:t>
            </a:r>
            <a:endParaRPr lang="en-US" sz="1200" b="1" dirty="0">
              <a:solidFill>
                <a:srgbClr val="1F3A5F"/>
              </a:solidFill>
              <a:latin typeface="メイリオ"/>
              <a:ea typeface="メイリオ"/>
            </a:endParaRPr>
          </a:p>
          <a:p>
            <a:endParaRPr sz="800" b="1" dirty="0">
              <a:solidFill>
                <a:srgbClr val="1F3A5F"/>
              </a:solidFill>
              <a:latin typeface="メイリオ"/>
              <a:ea typeface="メイリオ"/>
            </a:endParaRPr>
          </a:p>
          <a:p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</a:rPr>
              <a:t>入口＝Sitelead（LP離脱防止ポップアップ）※別途費用</a:t>
            </a:r>
            <a:endParaRPr sz="1200" b="1" dirty="0">
              <a:solidFill>
                <a:srgbClr val="333333"/>
              </a:solidFill>
              <a:latin typeface="メイリオ"/>
              <a:ea typeface="メイリオ"/>
            </a:endParaRPr>
          </a:p>
          <a:p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</a:rPr>
              <a:t>配信＝Lstepまたはhachidoriのどちらか一方を要件で選定</a:t>
            </a:r>
            <a:endParaRPr sz="1200" b="1" dirty="0">
              <a:solidFill>
                <a:srgbClr val="333333"/>
              </a:solidFill>
              <a:latin typeface="メイリオ"/>
              <a:ea typeface="メイリオ"/>
            </a:endParaRPr>
          </a:p>
          <a:p>
            <a:r>
              <a:rPr sz="1100" b="0" dirty="0" err="1">
                <a:solidFill>
                  <a:srgbClr val="333333"/>
                </a:solidFill>
                <a:latin typeface="メイリオ"/>
                <a:ea typeface="メイリオ"/>
              </a:rPr>
              <a:t>Lstep＝タグ・セグメント・ステップ自動化／Hachidori</a:t>
            </a:r>
            <a:endParaRPr lang="en-US" sz="1100" b="0" dirty="0">
              <a:solidFill>
                <a:srgbClr val="333333"/>
              </a:solidFill>
              <a:latin typeface="メイリオ"/>
              <a:ea typeface="メイリオ"/>
            </a:endParaRPr>
          </a:p>
          <a:p>
            <a:r>
              <a:rPr lang="ja-JP" altLang="en-US" sz="1100" b="0" dirty="0">
                <a:solidFill>
                  <a:srgbClr val="333333"/>
                </a:solidFill>
                <a:latin typeface="メイリオ"/>
                <a:ea typeface="メイリオ"/>
              </a:rPr>
              <a:t>＝通知メッセージ・過去に問い合わせた保護者への再案内</a:t>
            </a:r>
            <a:endParaRPr sz="1100" b="0" dirty="0">
              <a:solidFill>
                <a:srgbClr val="333333"/>
              </a:solidFill>
              <a:latin typeface="メイリオ"/>
              <a:ea typeface="メイリオ"/>
            </a:endParaRPr>
          </a:p>
          <a:p>
            <a:r>
              <a:rPr sz="1100" b="0" dirty="0" err="1">
                <a:solidFill>
                  <a:srgbClr val="555555"/>
                </a:solidFill>
                <a:latin typeface="メイリオ"/>
                <a:ea typeface="メイリオ"/>
              </a:rPr>
              <a:t>既存CRMとのAPI連携も対応（特定ツールに依存しない）</a:t>
            </a:r>
          </a:p>
        </p:txBody>
      </p:sp>
      <p:sp>
        <p:nvSpPr>
          <p:cNvPr id="55" name="Pentagon 54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56" name="Chevron 55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57" name="Chevron 56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58" name="Chevron 57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59" name="Chevron 58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60" name="Chevron 59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61" name="Chevron 60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62" name="Chevron 61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</p:spTree>
    <p:extLst>
      <p:ext uri="{BB962C8B-B14F-4D97-AF65-F5344CB8AC3E}">
        <p14:creationId xmlns:p14="http://schemas.microsoft.com/office/powerpoint/2010/main" val="20125450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4B6A2-11F2-64AD-4DDE-1248419C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導入スケジュール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次の商戦から逆算して着手する。構築に約1.5ヶ月。そこから14日ステップが一周して、ようやく数字が動き出す。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2月の入会期なら12月着手、夏期講習なら5月着手が目安。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evron 4"/>
          <p:cNvSpPr/>
          <p:nvPr/>
        </p:nvSpPr>
        <p:spPr>
          <a:xfrm>
            <a:off x="432000" y="1655999"/>
            <a:ext cx="2179800" cy="54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0" rIns="72000" bIns="0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Phase 1</a:t>
            </a:r>
          </a:p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要件定義・設計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2250000"/>
            <a:ext cx="2179800" cy="216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/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2週間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501999"/>
            <a:ext cx="2179800" cy="18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2574000"/>
            <a:ext cx="1963800" cy="1728000"/>
          </a:xfrm>
          <a:prstGeom prst="rect">
            <a:avLst/>
          </a:prstGeom>
          <a:noFill/>
        </p:spPr>
        <p:txBody>
          <a:bodyPr wrap="square" lIns="50400" tIns="21600" rIns="504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・現状ヒアリング（月謝・広告実績・資料請求と体験予約の件数）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・CV（資料請求・体験予約）とタグ設計の確定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・LINEで資料請求の仕組みの決定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・配信ツールの選定（Lstep / Hachidori）</a:t>
            </a:r>
          </a:p>
        </p:txBody>
      </p:sp>
      <p:sp>
        <p:nvSpPr>
          <p:cNvPr id="9" name="Chevron 8"/>
          <p:cNvSpPr/>
          <p:nvPr/>
        </p:nvSpPr>
        <p:spPr>
          <a:xfrm>
            <a:off x="2719800" y="1655999"/>
            <a:ext cx="2179800" cy="54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0" rIns="72000" bIns="0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Phase 2</a:t>
            </a:r>
          </a:p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構築・制作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9800" y="2250000"/>
            <a:ext cx="2179800" cy="216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/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3〜4週間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19800" y="2501999"/>
            <a:ext cx="2179800" cy="18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27800" y="2574000"/>
            <a:ext cx="1963800" cy="1728000"/>
          </a:xfrm>
          <a:prstGeom prst="rect">
            <a:avLst/>
          </a:prstGeom>
          <a:noFill/>
        </p:spPr>
        <p:txBody>
          <a:bodyPr wrap="square" lIns="50400" tIns="21600" rIns="504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・アカウント開設・プロフィール（未開設の場合）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・30秒診断（4問）の設計と実装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・リッチメニュー3タブ×6枠の制作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・14日ステップ（14通）の原稿・実装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・LP離脱防止の設置</a:t>
            </a:r>
          </a:p>
        </p:txBody>
      </p:sp>
      <p:sp>
        <p:nvSpPr>
          <p:cNvPr id="13" name="Chevron 12"/>
          <p:cNvSpPr/>
          <p:nvPr/>
        </p:nvSpPr>
        <p:spPr>
          <a:xfrm>
            <a:off x="5007600" y="1655999"/>
            <a:ext cx="2179800" cy="540000"/>
          </a:xfrm>
          <a:prstGeom prst="chevron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0" rIns="72000" bIns="0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Phase 3</a:t>
            </a:r>
          </a:p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テスト配信・調整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7600" y="2250000"/>
            <a:ext cx="2179800" cy="216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/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1〜2週間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7600" y="2501999"/>
            <a:ext cx="2179800" cy="18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15600" y="2574000"/>
            <a:ext cx="1963800" cy="1728000"/>
          </a:xfrm>
          <a:prstGeom prst="rect">
            <a:avLst/>
          </a:prstGeom>
          <a:noFill/>
        </p:spPr>
        <p:txBody>
          <a:bodyPr wrap="square" lIns="50400" tIns="21600" rIns="504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・社内テスト配信（文面・分岐の確認）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・表現の確認（成果の断定・最上級表現がないか）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・教室スタッフへの運用説明</a:t>
            </a:r>
          </a:p>
        </p:txBody>
      </p:sp>
      <p:sp>
        <p:nvSpPr>
          <p:cNvPr id="17" name="Chevron 16"/>
          <p:cNvSpPr/>
          <p:nvPr/>
        </p:nvSpPr>
        <p:spPr>
          <a:xfrm>
            <a:off x="7295400" y="1655999"/>
            <a:ext cx="2179800" cy="540000"/>
          </a:xfrm>
          <a:prstGeom prst="chevron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0" rIns="72000" bIns="0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Phase 4</a:t>
            </a:r>
          </a:p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本格運用・改善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5400" y="2250000"/>
            <a:ext cx="2179800" cy="216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/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継続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5400" y="2501999"/>
            <a:ext cx="2179800" cy="18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3400" y="2574000"/>
            <a:ext cx="1963800" cy="1728000"/>
          </a:xfrm>
          <a:prstGeom prst="rect">
            <a:avLst/>
          </a:prstGeom>
          <a:noFill/>
        </p:spPr>
        <p:txBody>
          <a:bodyPr wrap="square" lIns="50400" tIns="21600" rIns="504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・企画配信（月1〜2本）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・出し分け配信・前日リマインドの稼働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・月次レポート＋定例会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・3ヶ月ごとに体験→入会の割合を確認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4536000"/>
            <a:ext cx="9043200" cy="234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逆算のしかた（検索の山から）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000" y="4823999"/>
            <a:ext cx="9043200" cy="43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0" rIns="108000" bIns="0" rtlCol="0" anchor="ctr"/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2〜3月の入会期を取りにいく　→　</a:t>
            </a: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12月着手 → 1月中旬に配信開始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5309999"/>
            <a:ext cx="9043200" cy="43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0" rIns="108000" bIns="0" rtlCol="0" anchor="ctr"/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7〜8月の夏期講習を取りにいく　→　</a:t>
            </a: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5月着手 → 6月中旬に配信開始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構築に約1.5ヶ月。14日間の配信が一周してから数字が動き出す</a:t>
            </a:r>
          </a:p>
        </p:txBody>
      </p:sp>
      <p:sp>
        <p:nvSpPr>
          <p:cNvPr id="25" name="Pentagon 24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26" name="Chevron 25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27" name="Chevron 26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28" name="Chevron 27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29" name="Chevron 28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30" name="Chevron 29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31" name="Chevron 30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32" name="Chevron 31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</p:spTree>
    <p:extLst>
      <p:ext uri="{BB962C8B-B14F-4D97-AF65-F5344CB8AC3E}">
        <p14:creationId xmlns:p14="http://schemas.microsoft.com/office/powerpoint/2010/main" val="38455432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CBDC7-BB8D-566B-5273-6DCD8BE03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誰が何をやるか。配信の実務（原稿・制作・設定・分析）は弊社が持ちます。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貴社にお願いするのは、教室の情報と、月1回の定例会だけです。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21798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2000" y="1655999"/>
            <a:ext cx="2179800" cy="36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0" rIns="288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DYM｜運用統括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106000"/>
            <a:ext cx="1963800" cy="786133"/>
          </a:xfrm>
          <a:prstGeom prst="rect">
            <a:avLst/>
          </a:prstGeom>
          <a:noFill/>
        </p:spPr>
        <p:txBody>
          <a:bodyPr wrap="square" lIns="50400" tIns="21600" rIns="504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・全体設計・KPI管理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・月次レポートと改善提案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・定例会の進行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19800" y="1655999"/>
            <a:ext cx="21798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19800" y="1655999"/>
            <a:ext cx="2179800" cy="36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0" rIns="288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DYM｜配信担当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7800" y="2106000"/>
            <a:ext cx="1963800" cy="786133"/>
          </a:xfrm>
          <a:prstGeom prst="rect">
            <a:avLst/>
          </a:prstGeom>
          <a:noFill/>
        </p:spPr>
        <p:txBody>
          <a:bodyPr wrap="square" lIns="50400" tIns="21600" rIns="504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・配信原稿の作成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・セグメント・ステップの設定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・前日リマインドの管理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7600" y="1655999"/>
            <a:ext cx="21798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07600" y="1655999"/>
            <a:ext cx="2179800" cy="36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0" rIns="288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DYM｜クリエイティブ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5600" y="2106000"/>
            <a:ext cx="1963800" cy="786133"/>
          </a:xfrm>
          <a:prstGeom prst="rect">
            <a:avLst/>
          </a:prstGeom>
          <a:noFill/>
        </p:spPr>
        <p:txBody>
          <a:bodyPr wrap="square" lIns="50400" tIns="21600" rIns="504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・リッチメニュー制作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・配信画像・バナー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・LP離脱防止の設置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5400" y="1655999"/>
            <a:ext cx="21798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295400" y="1655999"/>
            <a:ext cx="2179800" cy="360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0" rIns="288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貴社｜教室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3400" y="2106000"/>
            <a:ext cx="2064600" cy="786133"/>
          </a:xfrm>
          <a:prstGeom prst="rect">
            <a:avLst/>
          </a:prstGeom>
          <a:noFill/>
        </p:spPr>
        <p:txBody>
          <a:bodyPr wrap="square" lIns="50400" tIns="21600" rIns="504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教室の情報提供（実績・講師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体験・面談の実施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・月1回の定例会にご参加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3456000"/>
            <a:ext cx="9043200" cy="234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進め方のリズム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743999"/>
            <a:ext cx="9043200" cy="4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3999" y="3815999"/>
            <a:ext cx="9360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毎月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4000" y="3743999"/>
            <a:ext cx="7776000" cy="432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配信企画の提案（弊社）→ 貴社confirm → 配信 → レポート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4229999"/>
            <a:ext cx="90432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3999" y="4301999"/>
            <a:ext cx="9360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毎月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4000" y="4229999"/>
            <a:ext cx="7776000" cy="432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定例会（30〜60分）：先月の数字の振り返りと翌月の企画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000" y="4715999"/>
            <a:ext cx="9043200" cy="4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03999" y="4787999"/>
            <a:ext cx="9360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四半期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4000" y="4715999"/>
            <a:ext cx="7776000" cy="432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体験→入会の割合の確認と、施策の組み替え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5202000"/>
            <a:ext cx="90432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03999" y="5273999"/>
            <a:ext cx="9360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随時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84000" y="5202000"/>
            <a:ext cx="7776000" cy="432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LINEトークで質問・相談（専用グループ）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000" y="5723999"/>
            <a:ext cx="9043200" cy="3096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0" rIns="72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貴社の負担は「教室の情報」と「月1回の定例会」だけ。配信の実務は弊社が持ちます。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体制の人数・担当者名は契約時に確定します。定例会はオンライン可</a:t>
            </a:r>
          </a:p>
        </p:txBody>
      </p:sp>
      <p:sp>
        <p:nvSpPr>
          <p:cNvPr id="32" name="Pentagon 31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33" name="Chevron 32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34" name="Chevron 33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35" name="Chevron 34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36" name="Chevron 35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37" name="Chevron 36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38" name="Chevron 37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39" name="Chevron 38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</p:spTree>
    <p:extLst>
      <p:ext uri="{BB962C8B-B14F-4D97-AF65-F5344CB8AC3E}">
        <p14:creationId xmlns:p14="http://schemas.microsoft.com/office/powerpoint/2010/main" val="14827790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4070-0F2B-474C-0AD3-89D288BF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企画のご参考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9036000" cy="576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他塾がやっていない企画（ご参考）。他塾がまだやっていない企画の例。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以下は地域で最初の1社になれる企画案です。優先度はDYM見解。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90432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3999" y="1781999"/>
            <a:ext cx="432000" cy="432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4000" y="1728000"/>
            <a:ext cx="2664000" cy="540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学年別・逆算カレンダー配信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0000" y="1728000"/>
            <a:ext cx="5616000" cy="540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小3〜中2の保護者へ、学年ごとに「この時期にやるべきこと」を毎月配信。入塾学年の山（中受小4／他小5-6）の1学年前から接点を持つ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2430000"/>
            <a:ext cx="90432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3999" y="2556000"/>
            <a:ext cx="432000" cy="432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4000" y="2502000"/>
            <a:ext cx="2664000" cy="540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テスト返却週のピンポイント配信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0000" y="2502000"/>
            <a:ext cx="5616000" cy="540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定期テストの返却時期に合わせて「点数の見方」を配信。中学生の入塾きっかけ1位は「成績が不安」52.4%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3203999"/>
            <a:ext cx="90432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3999" y="3329999"/>
            <a:ext cx="432000" cy="43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4000" y="3275999"/>
            <a:ext cx="2664000" cy="540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保護者向け「進路のきほん」ミニ講座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0000" y="3275999"/>
            <a:ext cx="5616000" cy="540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LINEで完結する3分×5回の配信講座。決定関与は保護者80.5%。保護者自身の知識不足を埋める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978000"/>
            <a:ext cx="90432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3999" y="4104000"/>
            <a:ext cx="432000" cy="432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4000" y="4049999"/>
            <a:ext cx="2664000" cy="540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AIによる学習相談ボット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0000" y="4049999"/>
            <a:ext cx="5616000" cy="540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24時間の質問対応。ただし塾は「先生」で選ばれる業界なので、有人対応の価値を下げないよう設計が要る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" y="5580000"/>
            <a:ext cx="9043200" cy="3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6000" y="5598000"/>
            <a:ext cx="8755200" cy="324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◎＝根拠データあり・すぐ実行できる　／　○＝条件付きで有効　／　△＝この業界では優先度低（DYM見解）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優先度の判定はDYM見解。根拠は巻末の出典一覧を参照</a:t>
            </a:r>
          </a:p>
        </p:txBody>
      </p:sp>
      <p:sp>
        <p:nvSpPr>
          <p:cNvPr id="28" name="Pentagon 27"/>
          <p:cNvSpPr/>
          <p:nvPr/>
        </p:nvSpPr>
        <p:spPr>
          <a:xfrm>
            <a:off x="432000" y="590400"/>
            <a:ext cx="1111500" cy="180000"/>
          </a:xfrm>
          <a:prstGeom prst="homePlate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29" name="Chevron 28"/>
          <p:cNvSpPr/>
          <p:nvPr/>
        </p:nvSpPr>
        <p:spPr>
          <a:xfrm>
            <a:off x="15651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30" name="Chevron 29"/>
          <p:cNvSpPr/>
          <p:nvPr/>
        </p:nvSpPr>
        <p:spPr>
          <a:xfrm>
            <a:off x="26982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31" name="Chevron 30"/>
          <p:cNvSpPr/>
          <p:nvPr/>
        </p:nvSpPr>
        <p:spPr>
          <a:xfrm>
            <a:off x="38312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32" name="Chevron 31"/>
          <p:cNvSpPr/>
          <p:nvPr/>
        </p:nvSpPr>
        <p:spPr>
          <a:xfrm>
            <a:off x="49644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33" name="Chevron 32"/>
          <p:cNvSpPr/>
          <p:nvPr/>
        </p:nvSpPr>
        <p:spPr>
          <a:xfrm>
            <a:off x="6097500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34" name="Chevron 33"/>
          <p:cNvSpPr/>
          <p:nvPr/>
        </p:nvSpPr>
        <p:spPr>
          <a:xfrm>
            <a:off x="72305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35" name="Chevron 34"/>
          <p:cNvSpPr/>
          <p:nvPr/>
        </p:nvSpPr>
        <p:spPr>
          <a:xfrm>
            <a:off x="8363699" y="590400"/>
            <a:ext cx="1111500" cy="18000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</p:spTree>
    <p:extLst>
      <p:ext uri="{BB962C8B-B14F-4D97-AF65-F5344CB8AC3E}">
        <p14:creationId xmlns:p14="http://schemas.microsoft.com/office/powerpoint/2010/main" val="9010635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AE1A8-B06F-74B4-1E2A-7416EDA4E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この資料の出典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30000"/>
            <a:ext cx="9036000" cy="720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この資料で使った数値の出所を、すべて並べます。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出典のない数値は書きません。取得中のデータは、届き次第差し替えます。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業界指標／自社実績／業界推計値／モデル値は、ラベルを分けて表記している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1512000"/>
            <a:ext cx="1296000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ページ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64000" y="1512000"/>
            <a:ext cx="7711200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出典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1800000"/>
            <a:ext cx="1296000" cy="31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P3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64000" y="1800000"/>
            <a:ext cx="7711200" cy="31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厚労省 人口動態統計／経産省 特定サービス産業動態統計／文科省 学校基本調査／矢野経済研究所 2024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142000"/>
            <a:ext cx="1296000" cy="316800"/>
          </a:xfrm>
          <a:prstGeom prst="rect">
            <a:avLst/>
          </a:prstGeom>
          <a:solidFill>
            <a:srgbClr val="F4F7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P4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64000" y="2142000"/>
            <a:ext cx="7711200" cy="316800"/>
          </a:xfrm>
          <a:prstGeom prst="rect">
            <a:avLst/>
          </a:prstGeom>
          <a:solidFill>
            <a:srgbClr val="F4F7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広告の実績（取得中）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2484000"/>
            <a:ext cx="1296000" cy="31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P5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64000" y="2484000"/>
            <a:ext cx="7711200" cy="31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LINEヤフー前後検索（実測）／塾ナラ 2025 n=200／塾シル・ユナイトプロジェクト 2026 n=249／明光ネットワークジャパン 2020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2826000"/>
            <a:ext cx="1296000" cy="316800"/>
          </a:xfrm>
          <a:prstGeom prst="rect">
            <a:avLst/>
          </a:prstGeom>
          <a:solidFill>
            <a:srgbClr val="F4F7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P6・P8・P20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64000" y="2826000"/>
            <a:ext cx="7711200" cy="316800"/>
          </a:xfrm>
          <a:prstGeom prst="rect">
            <a:avLst/>
          </a:prstGeom>
          <a:solidFill>
            <a:srgbClr val="F4F7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LINEヤフー前後検索 直近1年（取得中）KW：塾／個別指導／体験授業／高校受験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3168000"/>
            <a:ext cx="1296000" cy="31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P7・P24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64000" y="3168000"/>
            <a:ext cx="7711200" cy="31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Googleトレンド 日本 2026年年初来（実測）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3510000"/>
            <a:ext cx="1296000" cy="316800"/>
          </a:xfrm>
          <a:prstGeom prst="rect">
            <a:avLst/>
          </a:prstGeom>
          <a:solidFill>
            <a:srgbClr val="F4F7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P9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64000" y="3510000"/>
            <a:ext cx="7711200" cy="316800"/>
          </a:xfrm>
          <a:prstGeom prst="rect">
            <a:avLst/>
          </a:prstGeom>
          <a:solidFill>
            <a:srgbClr val="F4F7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各社LINE公式アカウント（page.line.me）・公式サイト 2026-09-25取得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" y="3851999"/>
            <a:ext cx="1296000" cy="31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P15・P25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64000" y="3851999"/>
            <a:ext cx="7711200" cy="31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POPER「Comiru」保護者と学習塾の意識調査 2022年 n=300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4193999"/>
            <a:ext cx="1296000" cy="316800"/>
          </a:xfrm>
          <a:prstGeom prst="rect">
            <a:avLst/>
          </a:prstGeom>
          <a:solidFill>
            <a:srgbClr val="F4F7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ctr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P34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64000" y="4193999"/>
            <a:ext cx="7711200" cy="316800"/>
          </a:xfrm>
          <a:prstGeom prst="rect">
            <a:avLst/>
          </a:prstGeom>
          <a:solidFill>
            <a:srgbClr val="F4F7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28800" bIns="28800"/>
          <a:lstStyle/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オリコンME 2025 学習塾 利用実態データ／インタースペース「ママスタ」2021年 n=1,037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000" y="4644000"/>
            <a:ext cx="4428000" cy="10800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28800" bIns="28800"/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LINEヤフー公式データ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・LINE 国内月間利用者数：1億人突破（2025年12月末時点）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・メッセージの開封：受信直後 約2割／3〜6時間で約5割／当日中に約8割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47200" y="4644000"/>
            <a:ext cx="4428000" cy="108000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28800" bIns="28800"/>
          <a:lstStyle/>
          <a:p>
            <a:pPr algn="l"/>
            <a:r>
              <a:rPr sz="11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提出前に確認すること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・公表統計（P3）はe-Statで統計表を開いて数値を照合する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・競合の実名掲載（P9）と、民間調査の引用可否は上司に確認する</a:t>
            </a:r>
          </a:p>
        </p:txBody>
      </p:sp>
    </p:spTree>
    <p:extLst>
      <p:ext uri="{BB962C8B-B14F-4D97-AF65-F5344CB8AC3E}">
        <p14:creationId xmlns:p14="http://schemas.microsoft.com/office/powerpoint/2010/main" val="19326644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141724</TotalTime>
  <Words>5627</Words>
  <Application>Microsoft Office PowerPoint</Application>
  <PresentationFormat>A4 210 x 297 mm</PresentationFormat>
  <Paragraphs>1064</Paragraphs>
  <Slides>35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35</vt:i4>
      </vt:variant>
    </vt:vector>
  </HeadingPairs>
  <TitlesOfParts>
    <vt:vector size="42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1923</cp:revision>
  <cp:lastPrinted>2022-11-01T11:38:14Z</cp:lastPrinted>
  <dcterms:created xsi:type="dcterms:W3CDTF">2015-09-04T09:21:15Z</dcterms:created>
  <dcterms:modified xsi:type="dcterms:W3CDTF">2026-09-17T01:02:07Z</dcterms:modified>
</cp:coreProperties>
</file>