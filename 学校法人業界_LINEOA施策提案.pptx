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9"/>
  </p:notesMasterIdLst>
  <p:handoutMasterIdLst>
    <p:handoutMasterId r:id="rId50"/>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2983" r:id="rId24"/>
    <p:sldId id="2996" r:id="rId25"/>
    <p:sldId id="3143" r:id="rId26"/>
    <p:sldId id="3153" r:id="rId27"/>
    <p:sldId id="3144" r:id="rId28"/>
    <p:sldId id="3149" r:id="rId29"/>
    <p:sldId id="3145" r:id="rId30"/>
    <p:sldId id="3150" r:id="rId31"/>
    <p:sldId id="2984" r:id="rId32"/>
    <p:sldId id="2985" r:id="rId33"/>
    <p:sldId id="2962" r:id="rId34"/>
    <p:sldId id="2942" r:id="rId35"/>
    <p:sldId id="2941" r:id="rId36"/>
    <p:sldId id="2943" r:id="rId37"/>
    <p:sldId id="2944" r:id="rId38"/>
    <p:sldId id="3146" r:id="rId39"/>
    <p:sldId id="3154" r:id="rId55"/>
    <p:sldId id="3155" r:id="rId56"/>
    <p:sldId id="3156" r:id="rId57"/>
    <p:sldId id="3157" r:id="rId58"/>
    <p:sldId id="2990" r:id="rId40"/>
    <p:sldId id="2991" r:id="rId41"/>
    <p:sldId id="2967" r:id="rId42"/>
    <p:sldId id="3152" r:id="rId43"/>
    <p:sldId id="2946" r:id="rId44"/>
    <p:sldId id="2947" r:id="rId45"/>
    <p:sldId id="2948" r:id="rId46"/>
    <p:sldId id="2958" r:id="rId47"/>
    <p:sldId id="1169" r:id="rId4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424" autoAdjust="0"/>
  </p:normalViewPr>
  <p:slideViewPr>
    <p:cSldViewPr snapToGrid="0">
      <p:cViewPr>
        <p:scale>
          <a:sx n="100" d="100"/>
          <a:sy n="100" d="100"/>
        </p:scale>
        <p:origin x="1830" y="318"/>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notesMaster" Target="notesMasters/notesMaster1.xml"/><Relationship Id="rId50" Type="http://schemas.openxmlformats.org/officeDocument/2006/relationships/handoutMaster" Target="handoutMasters/handout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46</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30.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2.png"/><Relationship Id="rId5"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emf"/><Relationship Id="rId4" Type="http://schemas.openxmlformats.org/officeDocument/2006/relationships/image" Target="../media/image25.jpeg"/><Relationship Id="rId5" Type="http://schemas.openxmlformats.org/officeDocument/2006/relationships/image" Target="../media/image26.jpeg"/><Relationship Id="rId6" Type="http://schemas.openxmlformats.org/officeDocument/2006/relationships/image" Target="../media/image27.jpeg"/><Relationship Id="rId7" Type="http://schemas.openxmlformats.org/officeDocument/2006/relationships/image" Target="../media/image28.jpeg"/><Relationship Id="rId8" Type="http://schemas.openxmlformats.org/officeDocument/2006/relationships/image" Target="../media/image29.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業界：学校法人（大学・専門学校）</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mj-ea"/>
                <a:ea typeface="+mj-ea"/>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t>1. LINE公式アカウントを検討する背景</a:t>
            </a:r>
            <a:endParaRPr lang="en-US" altLang="ja-JP" sz="2400" dirty="0"/>
          </a:p>
          <a:p>
            <a:r>
              <a:rPr lang="en-US" altLang="ja-JP" sz="2400" dirty="0"/>
              <a:t>2. 配信の考え方 ── 市場・需要の実態</a:t>
            </a:r>
            <a:endParaRPr lang="en-US" altLang="ja-JP" sz="2400" dirty="0"/>
          </a:p>
          <a:p>
            <a:r>
              <a:rPr lang="en-US" altLang="ja-JP" sz="2400" dirty="0"/>
              <a:t>3. 施策の詳細（配信の効率化）── 設計と改善モデル</a:t>
            </a:r>
            <a:endParaRPr lang="en-US" altLang="ja-JP" sz="2400" dirty="0"/>
          </a:p>
          <a:p>
            <a:r>
              <a:rPr lang="en-US" altLang="ja-JP" sz="2400" dirty="0"/>
              <a:t>4. 具体プラン提示</a:t>
            </a:r>
            <a:endParaRPr lang="en-US" altLang="ja-JP" sz="2400" dirty="0"/>
          </a:p>
          <a:p>
            <a:r>
              <a:rPr lang="en-US" altLang="ja-JP" sz="2400" dirty="0"/>
              <a:t>5. ご提案にあたり（施策紹介・企画案）</a:t>
            </a:r>
            <a:endParaRPr lang="en-US" altLang="ja-JP"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資料請求・オープンキャンパス予約に対して、”ハードルが高く感じる”高校生が増えている状況。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LINEで学部学科診断・OC予約 &gt;&gt; 出願 の導線設計でハードルを抑える。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「LINE学部診断・OC予約」にてLINEリードを獲得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入学後の定着・中退防止</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在学生／保護者／卒業生へ</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志望領域・通学圏</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
        <p:nvSpPr>
          <p:cNvPr id="59" name="TextBox 58"/>
          <p:cNvSpPr txBox="1"/>
          <p:nvPr/>
        </p:nvSpPr>
        <p:spPr>
          <a:xfrm>
            <a:off x="360000" y="6426000"/>
            <a:ext cx="7128000" cy="180000"/>
          </a:xfrm>
          <a:prstGeom prst="rect">
            <a:avLst/>
          </a:prstGeom>
          <a:noFill/>
        </p:spPr>
        <p:txBody>
          <a:bodyPr wrap="square" lIns="18000" tIns="0" rIns="18000" bIns="0">
            <a:spAutoFit/>
          </a:bodyPr>
          <a:lstStyle/>
          <a:p>
            <a:r>
              <a:rPr sz="800">
                <a:solidFill>
                  <a:srgbClr val="646C82"/>
                </a:solidFill>
                <a:latin typeface="メイリオ"/>
                <a:ea typeface="メイリオ"/>
              </a:rPr>
              <a:t>※ 高校生の進路検討は約18ヶ月（高2春〜高3秋）。募集のチャンスは年1回で、取りこぼした1人は翌年戻らない（1名の入学＝4年間で約400万円）</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30秒 学部学科診断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ステップ配信（7〜14通）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オープンキャンパス予約への誘導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BF4E0E"/>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BF4E0E"/>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BF4E0E"/>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（4問）→ 学年・志望度で分類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サンクス自動MSG＋</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OC当日の流れ・持ち物案内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前日リマインド配信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出願スケジュール案内</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スクリーニング（4問）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志望度・通学圏の把握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OC参加・出願への誘導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アンケートで学年・志望把握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入試方式別・時期別の企画配信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(資料請求者・OC参加者を友だち化)</a:t>
            </a: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入学後もLINEで接点維持</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中退防止・在学生・卒業生へ</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◯LINE友だち追加によるメリット提示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✓デジタルパンフ　✓OC優先予約</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✓LINEで学部診断　✓LINEでOC予約</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現状分析｜大学・専門学校のLINE公式アカウント実態</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友だち数は page.line.me（LINEヤフー社公式ページ）で実測する。取得日を必ず併記する。</a:t>
            </a:r>
          </a:p>
        </p:txBody>
      </p:sp>
      <p:graphicFrame>
        <p:nvGraphicFramePr>
          <p:cNvPr id="4" name="Table 3"/>
          <p:cNvGraphicFramePr>
            <a:graphicFrameLocks noGrp="1"/>
          </p:cNvGraphicFramePr>
          <p:nvPr/>
        </p:nvGraphicFramePr>
        <p:xfrm>
          <a:off x="396000" y="1224000"/>
          <a:ext cx="9143998" cy="2721600"/>
        </p:xfrm>
        <a:graphic>
          <a:graphicData uri="http://schemas.openxmlformats.org/drawingml/2006/table">
            <a:tbl>
              <a:tblPr firstRow="1" bandRow="1">
                <a:tableStyleId>{5C22544A-7EE6-4342-B048-85BDC9FD1C3A}</a:tableStyleId>
              </a:tblPr>
              <a:tblGrid>
                <a:gridCol w="2304000"/>
                <a:gridCol w="792000"/>
                <a:gridCol w="1296000"/>
                <a:gridCol w="1655999"/>
                <a:gridCol w="1655999"/>
                <a:gridCol w="1440000"/>
              </a:tblGrid>
              <a:tr h="302400">
                <a:tc>
                  <a:txBody>
                    <a:bodyPr wrap="square" lIns="50400" rIns="50400" tIns="10800" bIns="10800" anchor="ctr"/>
                    <a:lstStyle/>
                    <a:p>
                      <a:pPr algn="l"/>
                      <a:r>
                        <a:rPr sz="1200" b="1">
                          <a:solidFill>
                            <a:srgbClr val="FFFFFF"/>
                          </a:solidFill>
                          <a:latin typeface="メイリオ"/>
                          <a:ea typeface="メイリオ"/>
                          <a:cs typeface="メイリオ"/>
                        </a:rPr>
                        <a:t>調査対象</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受験生向けか</a:t>
                      </a:r>
                    </a:p>
                  </a:txBody>
                  <a:tcPr anchor="ctr">
                    <a:solidFill>
                      <a:srgbClr val="1F285A"/>
                    </a:solidFill>
                  </a:tcPr>
                </a:tc>
                <a:tc>
                  <a:txBody>
                    <a:bodyPr wrap="square" lIns="50400" rIns="50400" tIns="10800" bIns="10800" anchor="ctr"/>
                    <a:lstStyle/>
                    <a:p>
                      <a:pPr algn="r"/>
                      <a:r>
                        <a:rPr sz="1200" b="1">
                          <a:solidFill>
                            <a:srgbClr val="FFFFFF"/>
                          </a:solidFill>
                          <a:latin typeface="メイリオ"/>
                          <a:ea typeface="メイリオ"/>
                          <a:cs typeface="メイリオ"/>
                        </a:rPr>
                        <a:t>友だち数 実測</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リッチメニュー</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診断の有無</a:t>
                      </a:r>
                    </a:p>
                  </a:txBody>
                  <a:tcPr anchor="ctr">
                    <a:solidFill>
                      <a:srgbClr val="1F285A"/>
                    </a:solidFill>
                  </a:tcPr>
                </a:tc>
              </a:tr>
              <a:tr h="302400">
                <a:tc>
                  <a:txBody>
                    <a:bodyPr wrap="square" lIns="50400" rIns="50400" tIns="10800" bIns="10800" anchor="ctr"/>
                    <a:lstStyle/>
                    <a:p>
                      <a:pPr algn="l"/>
                      <a:r>
                        <a:rPr sz="1100">
                          <a:solidFill>
                            <a:srgbClr val="1C2233"/>
                          </a:solidFill>
                          <a:latin typeface="メイリオ"/>
                          <a:ea typeface="メイリオ"/>
                          <a:cs typeface="メイリオ"/>
                        </a:rPr>
                        <a:t>大規模総合大（首都圏）</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大学</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r>
              <a:tr h="302400">
                <a:tc>
                  <a:txBody>
                    <a:bodyPr wrap="square" lIns="50400" rIns="50400" tIns="10800" bIns="10800" anchor="ctr"/>
                    <a:lstStyle/>
                    <a:p>
                      <a:pPr algn="l"/>
                      <a:r>
                        <a:rPr sz="1100">
                          <a:solidFill>
                            <a:srgbClr val="1C2233"/>
                          </a:solidFill>
                          <a:latin typeface="メイリオ"/>
                          <a:ea typeface="メイリオ"/>
                          <a:cs typeface="メイリオ"/>
                        </a:rPr>
                        <a:t>大規模総合大（関西）</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大学</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r>
              <a:tr h="302400">
                <a:tc>
                  <a:txBody>
                    <a:bodyPr wrap="square" lIns="50400" rIns="50400" tIns="10800" bIns="10800" anchor="ctr"/>
                    <a:lstStyle/>
                    <a:p>
                      <a:pPr algn="l"/>
                      <a:r>
                        <a:rPr sz="1100">
                          <a:solidFill>
                            <a:srgbClr val="1C2233"/>
                          </a:solidFill>
                          <a:latin typeface="メイリオ"/>
                          <a:ea typeface="メイリオ"/>
                          <a:cs typeface="メイリオ"/>
                        </a:rPr>
                        <a:t>中規模私立大（地方）</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大学</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r>
              <a:tr h="302400">
                <a:tc>
                  <a:txBody>
                    <a:bodyPr wrap="square" lIns="50400" rIns="50400" tIns="10800" bIns="10800" anchor="ctr"/>
                    <a:lstStyle/>
                    <a:p>
                      <a:pPr algn="l"/>
                      <a:r>
                        <a:rPr sz="1100">
                          <a:solidFill>
                            <a:srgbClr val="1C2233"/>
                          </a:solidFill>
                          <a:latin typeface="メイリオ"/>
                          <a:ea typeface="メイリオ"/>
                          <a:cs typeface="メイリオ"/>
                        </a:rPr>
                        <a:t>女子大</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大学</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r>
              <a:tr h="302400">
                <a:tc>
                  <a:txBody>
                    <a:bodyPr wrap="square" lIns="50400" rIns="50400" tIns="10800" bIns="10800" anchor="ctr"/>
                    <a:lstStyle/>
                    <a:p>
                      <a:pPr algn="l"/>
                      <a:r>
                        <a:rPr sz="1100">
                          <a:solidFill>
                            <a:srgbClr val="1C2233"/>
                          </a:solidFill>
                          <a:latin typeface="メイリオ"/>
                          <a:ea typeface="メイリオ"/>
                          <a:cs typeface="メイリオ"/>
                        </a:rPr>
                        <a:t>大手専門学校（ビジネス系）</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専門</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r>
              <a:tr h="302400">
                <a:tc>
                  <a:txBody>
                    <a:bodyPr wrap="square" lIns="50400" rIns="50400" tIns="10800" bIns="10800" anchor="ctr"/>
                    <a:lstStyle/>
                    <a:p>
                      <a:pPr algn="l"/>
                      <a:r>
                        <a:rPr sz="1100">
                          <a:solidFill>
                            <a:srgbClr val="1C2233"/>
                          </a:solidFill>
                          <a:latin typeface="メイリオ"/>
                          <a:ea typeface="メイリオ"/>
                          <a:cs typeface="メイリオ"/>
                        </a:rPr>
                        <a:t>大手専門学校（IT・クリエイティブ）</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専門</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r>
              <a:tr h="302400">
                <a:tc>
                  <a:txBody>
                    <a:bodyPr wrap="square" lIns="50400" rIns="50400" tIns="10800" bIns="10800" anchor="ctr"/>
                    <a:lstStyle/>
                    <a:p>
                      <a:pPr algn="l"/>
                      <a:r>
                        <a:rPr sz="1100">
                          <a:solidFill>
                            <a:srgbClr val="1C2233"/>
                          </a:solidFill>
                          <a:latin typeface="メイリオ"/>
                          <a:ea typeface="メイリオ"/>
                          <a:cs typeface="メイリオ"/>
                        </a:rPr>
                        <a:t>医療・看護系専門学校</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専門</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r>
              <a:tr h="302400">
                <a:tc>
                  <a:txBody>
                    <a:bodyPr wrap="square" lIns="50400" rIns="50400" tIns="10800" bIns="10800" anchor="ctr"/>
                    <a:lstStyle/>
                    <a:p>
                      <a:pPr algn="l"/>
                      <a:r>
                        <a:rPr sz="1100">
                          <a:solidFill>
                            <a:srgbClr val="1C2233"/>
                          </a:solidFill>
                          <a:latin typeface="メイリオ"/>
                          <a:ea typeface="メイリオ"/>
                          <a:cs typeface="メイリオ"/>
                        </a:rPr>
                        <a:t>通信制高校グループ</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高校</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r>
            </a:tbl>
          </a:graphicData>
        </a:graphic>
      </p:graphicFrame>
      <p:sp>
        <p:nvSpPr>
          <p:cNvPr id="5" name="Rounded Rectangle 4"/>
          <p:cNvSpPr/>
          <p:nvPr/>
        </p:nvSpPr>
        <p:spPr>
          <a:xfrm>
            <a:off x="396000" y="4068000"/>
            <a:ext cx="2951999" cy="13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① 大学は「在学生向け」が多い</a:t>
            </a:r>
          </a:p>
          <a:p>
            <a:pPr algn="l">
              <a:lnSpc>
                <a:spcPct val="120000"/>
              </a:lnSpc>
              <a:spcAft>
                <a:spcPts val="200"/>
              </a:spcAft>
            </a:pPr>
            <a:r>
              <a:rPr sz="1100">
                <a:solidFill>
                  <a:srgbClr val="1C2233"/>
                </a:solidFill>
                <a:latin typeface="メイリオ"/>
                <a:ea typeface="メイリオ"/>
                <a:cs typeface="メイリオ"/>
              </a:rPr>
              <a:t>受験生向けと在学生向けを分けているか、</a:t>
            </a:r>
          </a:p>
          <a:p>
            <a:pPr algn="l">
              <a:lnSpc>
                <a:spcPct val="120000"/>
              </a:lnSpc>
              <a:spcAft>
                <a:spcPts val="200"/>
              </a:spcAft>
            </a:pPr>
            <a:r>
              <a:rPr sz="1100">
                <a:solidFill>
                  <a:srgbClr val="1C2233"/>
                </a:solidFill>
                <a:latin typeface="メイリオ"/>
                <a:ea typeface="メイリオ"/>
                <a:cs typeface="メイリオ"/>
              </a:rPr>
              <a:t>タグで出し分けているかを必ず確認する。</a:t>
            </a:r>
          </a:p>
          <a:p>
            <a:pPr algn="l">
              <a:lnSpc>
                <a:spcPct val="120000"/>
              </a:lnSpc>
              <a:spcAft>
                <a:spcPts val="200"/>
              </a:spcAft>
            </a:pPr>
            <a:r>
              <a:rPr sz="1100">
                <a:solidFill>
                  <a:srgbClr val="1C2233"/>
                </a:solidFill>
                <a:latin typeface="メイリオ"/>
                <a:ea typeface="メイリオ"/>
                <a:cs typeface="メイリオ"/>
              </a:rPr>
              <a:t>混在していると配信精度が落ちる。</a:t>
            </a:r>
          </a:p>
        </p:txBody>
      </p:sp>
      <p:sp>
        <p:nvSpPr>
          <p:cNvPr id="6" name="Rounded Rectangle 5"/>
          <p:cNvSpPr/>
          <p:nvPr/>
        </p:nvSpPr>
        <p:spPr>
          <a:xfrm>
            <a:off x="3491999" y="4068000"/>
            <a:ext cx="2951999" cy="13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② 見るのは友だち数ではない</a:t>
            </a:r>
          </a:p>
          <a:p>
            <a:pPr algn="l">
              <a:lnSpc>
                <a:spcPct val="120000"/>
              </a:lnSpc>
              <a:spcAft>
                <a:spcPts val="200"/>
              </a:spcAft>
            </a:pPr>
            <a:r>
              <a:rPr sz="1100">
                <a:solidFill>
                  <a:srgbClr val="1C2233"/>
                </a:solidFill>
                <a:latin typeface="メイリオ"/>
                <a:ea typeface="メイリオ"/>
                <a:cs typeface="メイリオ"/>
              </a:rPr>
              <a:t>学部数が多いほど「出し分け」の必要が高い。</a:t>
            </a:r>
          </a:p>
          <a:p>
            <a:pPr algn="l">
              <a:lnSpc>
                <a:spcPct val="120000"/>
              </a:lnSpc>
              <a:spcAft>
                <a:spcPts val="200"/>
              </a:spcAft>
            </a:pPr>
            <a:r>
              <a:rPr sz="1100">
                <a:solidFill>
                  <a:srgbClr val="1C2233"/>
                </a:solidFill>
                <a:latin typeface="メイリオ"/>
                <a:ea typeface="メイリオ"/>
                <a:cs typeface="メイリオ"/>
              </a:rPr>
              <a:t>リッチメニューが学部別か機能別かで、</a:t>
            </a:r>
          </a:p>
          <a:p>
            <a:pPr algn="l">
              <a:lnSpc>
                <a:spcPct val="120000"/>
              </a:lnSpc>
              <a:spcAft>
                <a:spcPts val="200"/>
              </a:spcAft>
            </a:pPr>
            <a:r>
              <a:rPr sz="1100">
                <a:solidFill>
                  <a:srgbClr val="1C2233"/>
                </a:solidFill>
                <a:latin typeface="メイリオ"/>
                <a:ea typeface="メイリオ"/>
                <a:cs typeface="メイリオ"/>
              </a:rPr>
              <a:t>その学校の設計思想が分かる。</a:t>
            </a:r>
          </a:p>
        </p:txBody>
      </p:sp>
      <p:sp>
        <p:nvSpPr>
          <p:cNvPr id="7" name="Rounded Rectangle 6"/>
          <p:cNvSpPr/>
          <p:nvPr/>
        </p:nvSpPr>
        <p:spPr>
          <a:xfrm>
            <a:off x="6588000" y="4068000"/>
            <a:ext cx="2951999" cy="133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③ 空白は「診断」</a:t>
            </a:r>
          </a:p>
          <a:p>
            <a:pPr algn="l">
              <a:lnSpc>
                <a:spcPct val="120000"/>
              </a:lnSpc>
              <a:spcAft>
                <a:spcPts val="200"/>
              </a:spcAft>
            </a:pPr>
            <a:r>
              <a:rPr sz="1100">
                <a:solidFill>
                  <a:srgbClr val="1C2233"/>
                </a:solidFill>
                <a:latin typeface="メイリオ"/>
                <a:ea typeface="メイリオ"/>
                <a:cs typeface="メイリオ"/>
              </a:rPr>
              <a:t>塾業界の実測では、大手8社すべてが</a:t>
            </a:r>
          </a:p>
          <a:p>
            <a:pPr algn="l">
              <a:lnSpc>
                <a:spcPct val="120000"/>
              </a:lnSpc>
              <a:spcAft>
                <a:spcPts val="200"/>
              </a:spcAft>
            </a:pPr>
            <a:r>
              <a:rPr sz="1100">
                <a:solidFill>
                  <a:srgbClr val="1C2233"/>
                </a:solidFill>
                <a:latin typeface="メイリオ"/>
                <a:ea typeface="メイリオ"/>
                <a:cs typeface="メイリオ"/>
              </a:rPr>
              <a:t>LINEを新規集客に使っていた。差がつくのは</a:t>
            </a:r>
          </a:p>
          <a:p>
            <a:pPr algn="l">
              <a:lnSpc>
                <a:spcPct val="120000"/>
              </a:lnSpc>
              <a:spcAft>
                <a:spcPts val="200"/>
              </a:spcAft>
            </a:pPr>
            <a:r>
              <a:rPr sz="1100">
                <a:solidFill>
                  <a:srgbClr val="1C2233"/>
                </a:solidFill>
                <a:latin typeface="メイリオ"/>
                <a:ea typeface="メイリオ"/>
                <a:cs typeface="メイリオ"/>
              </a:rPr>
              <a:t>「診断で適合を見せているか」だけだった。</a:t>
            </a:r>
          </a:p>
        </p:txBody>
      </p:sp>
      <p:sp>
        <p:nvSpPr>
          <p:cNvPr id="8" name="Rectangle 7"/>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友だちは広告で買える。でも運用設計がなければ、リストは資産にならない。</a:t>
            </a:r>
          </a:p>
        </p:txBody>
      </p:sp>
      <p:sp>
        <p:nvSpPr>
          <p:cNvPr id="11" name="TextBox 10"/>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友だち数は未実測（2026-09-16時点）。page.line.me（公式）または実機で取得し、取得日を併記する。</a:t>
            </a:r>
          </a:p>
          <a:p>
            <a:pPr algn="l">
              <a:lnSpc>
                <a:spcPct val="120000"/>
              </a:lnSpc>
            </a:pPr>
            <a:r>
              <a:rPr sz="900">
                <a:solidFill>
                  <a:srgbClr val="646C82"/>
                </a:solidFill>
                <a:latin typeface="メイリオ"/>
                <a:ea typeface="メイリオ"/>
                <a:cs typeface="メイリオ"/>
              </a:rPr>
              <a:t>※ 第三者サイト（lineoa.jp）の数値は当たり付け専用。本資料には載せない。実名掲載の最終可否は学内確認事項。</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現状分析｜LINE運用は4つの型に分類できる</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「集めている学校」と「育てている学校」に、はっきり分かれる。</a:t>
            </a:r>
          </a:p>
        </p:txBody>
      </p:sp>
      <p:graphicFrame>
        <p:nvGraphicFramePr>
          <p:cNvPr id="4" name="Table 3"/>
          <p:cNvGraphicFramePr>
            <a:graphicFrameLocks noGrp="1"/>
          </p:cNvGraphicFramePr>
          <p:nvPr/>
        </p:nvGraphicFramePr>
        <p:xfrm>
          <a:off x="396000" y="1224000"/>
          <a:ext cx="9143999" cy="3960000"/>
        </p:xfrm>
        <a:graphic>
          <a:graphicData uri="http://schemas.openxmlformats.org/drawingml/2006/table">
            <a:tbl>
              <a:tblPr firstRow="1" bandRow="1">
                <a:tableStyleId>{5C22544A-7EE6-4342-B048-85BDC9FD1C3A}</a:tableStyleId>
              </a:tblPr>
              <a:tblGrid>
                <a:gridCol w="1872000"/>
                <a:gridCol w="4320000"/>
                <a:gridCol w="2951999"/>
              </a:tblGrid>
              <a:tr h="792000">
                <a:tc>
                  <a:txBody>
                    <a:bodyPr wrap="square" lIns="50400" rIns="50400" tIns="10800" bIns="10800" anchor="ctr"/>
                    <a:lstStyle/>
                    <a:p>
                      <a:pPr algn="l"/>
                      <a:r>
                        <a:rPr sz="1200" b="1">
                          <a:solidFill>
                            <a:srgbClr val="FFFFFF"/>
                          </a:solidFill>
                          <a:latin typeface="メイリオ"/>
                          <a:ea typeface="メイリオ"/>
                          <a:cs typeface="メイリオ"/>
                        </a:rPr>
                        <a:t>型</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運用の中身</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強み／弱み</a:t>
                      </a:r>
                    </a:p>
                  </a:txBody>
                  <a:tcPr anchor="ctr">
                    <a:solidFill>
                      <a:srgbClr val="1F285A"/>
                    </a:solidFill>
                  </a:tcPr>
                </a:tc>
              </a:tr>
              <a:tr h="792000">
                <a:tc>
                  <a:txBody>
                    <a:bodyPr wrap="square" lIns="50400" rIns="50400" tIns="10800" bIns="10800" anchor="ctr"/>
                    <a:lstStyle/>
                    <a:p>
                      <a:pPr algn="l"/>
                      <a:r>
                        <a:rPr sz="1100">
                          <a:solidFill>
                            <a:srgbClr val="1C2233"/>
                          </a:solidFill>
                          <a:latin typeface="メイリオ"/>
                          <a:ea typeface="メイリオ"/>
                          <a:cs typeface="メイリオ"/>
                        </a:rPr>
                        <a:t>① 診断ドリブン型</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学部学科診断・適性診断で属性を取得し、学年・志望度別に配信を出し分ける</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本提案の型。実装している学校が少なく、空白地帯</a:t>
                      </a:r>
                    </a:p>
                  </a:txBody>
                  <a:tcPr anchor="ctr">
                    <a:solidFill>
                      <a:srgbClr val="FFFFFF"/>
                    </a:solidFill>
                  </a:tcPr>
                </a:tc>
              </a:tr>
              <a:tr h="792000">
                <a:tc>
                  <a:txBody>
                    <a:bodyPr wrap="square" lIns="50400" rIns="50400" tIns="10800" bIns="10800" anchor="ctr"/>
                    <a:lstStyle/>
                    <a:p>
                      <a:pPr algn="l"/>
                      <a:r>
                        <a:rPr sz="1100">
                          <a:solidFill>
                            <a:srgbClr val="1C2233"/>
                          </a:solidFill>
                          <a:latin typeface="メイリオ"/>
                          <a:ea typeface="メイリオ"/>
                          <a:cs typeface="メイリオ"/>
                        </a:rPr>
                        <a:t>② 相談カウンター型</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有人チャットでの個別相談が中心。配信はほとんどしない</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相談に来た子には強い。来ない子は拾えない</a:t>
                      </a:r>
                    </a:p>
                  </a:txBody>
                  <a:tcPr anchor="ctr">
                    <a:solidFill>
                      <a:srgbClr val="F4F7FF"/>
                    </a:solidFill>
                  </a:tcPr>
                </a:tc>
              </a:tr>
              <a:tr h="792000">
                <a:tc>
                  <a:txBody>
                    <a:bodyPr wrap="square" lIns="50400" rIns="50400" tIns="10800" bIns="10800" anchor="ctr"/>
                    <a:lstStyle/>
                    <a:p>
                      <a:pPr algn="l"/>
                      <a:r>
                        <a:rPr sz="1100">
                          <a:solidFill>
                            <a:srgbClr val="1C2233"/>
                          </a:solidFill>
                          <a:latin typeface="メイリオ"/>
                          <a:ea typeface="メイリオ"/>
                          <a:cs typeface="メイリオ"/>
                        </a:rPr>
                        <a:t>③ カタログ型</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学部一覧・OC日程・資料請求のリンクを並べただけ。押すとWebへ飛ぶ</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最も多い。LINEを使っているのではなくリンク集にしている</a:t>
                      </a:r>
                    </a:p>
                  </a:txBody>
                  <a:tcPr anchor="ctr">
                    <a:solidFill>
                      <a:srgbClr val="FFFFFF"/>
                    </a:solidFill>
                  </a:tcPr>
                </a:tc>
              </a:tr>
              <a:tr h="792000">
                <a:tc>
                  <a:txBody>
                    <a:bodyPr wrap="square" lIns="50400" rIns="50400" tIns="10800" bIns="10800" anchor="ctr"/>
                    <a:lstStyle/>
                    <a:p>
                      <a:pPr algn="l"/>
                      <a:r>
                        <a:rPr sz="1100">
                          <a:solidFill>
                            <a:srgbClr val="1C2233"/>
                          </a:solidFill>
                          <a:latin typeface="メイリオ"/>
                          <a:ea typeface="メイリオ"/>
                          <a:cs typeface="メイリオ"/>
                        </a:rPr>
                        <a:t>④ 連絡網型</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在学生への休講連絡・事務連絡が中心。受験生向けには使っていない</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友だち数は多いが、募集には一切効いていない</a:t>
                      </a:r>
                    </a:p>
                  </a:txBody>
                  <a:tcPr anchor="ctr">
                    <a:solidFill>
                      <a:srgbClr val="F4F7FF"/>
                    </a:solidFill>
                  </a:tcPr>
                </a:tc>
              </a:tr>
            </a:tbl>
          </a:graphicData>
        </a:graphic>
      </p:graphicFrame>
      <p:sp>
        <p:nvSpPr>
          <p:cNvPr id="5" name="Rectangle 4"/>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目指すのは ①診断 × 出し分け × 入学後まで の三点セット。どれか1つだけでは必ず頭打ちになる。</a:t>
            </a:r>
          </a:p>
        </p:txBody>
      </p:sp>
      <p:sp>
        <p:nvSpPr>
          <p:cNvPr id="8" name="TextBox 7"/>
          <p:cNvSpPr txBox="1"/>
          <p:nvPr/>
        </p:nvSpPr>
        <p:spPr>
          <a:xfrm>
            <a:off x="396000" y="6138000"/>
            <a:ext cx="9144000" cy="3312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型分類は塾業界（2026-09-15実測）で検証したフレーム。学校法人での各校の当てはめは実機調査（page.line.me・PC実査）で確定する。</a:t>
            </a:r>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現状分析｜各校のリッチメニュー・あいさつメッセージ</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実機の画面を並べると、型の違いが一目で伝わる。</a:t>
            </a:r>
          </a:p>
        </p:txBody>
      </p:sp>
      <p:sp>
        <p:nvSpPr>
          <p:cNvPr id="4" name="Rounded Rectangle 3"/>
          <p:cNvSpPr/>
          <p:nvPr/>
        </p:nvSpPr>
        <p:spPr>
          <a:xfrm>
            <a:off x="396000"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F285A"/>
                </a:solidFill>
                <a:latin typeface="メイリオ"/>
                <a:ea typeface="メイリオ"/>
                <a:cs typeface="メイリオ"/>
              </a:rPr>
              <a:t>大規模総合大（首都圏）</a:t>
            </a:r>
          </a:p>
        </p:txBody>
      </p:sp>
      <p:sp>
        <p:nvSpPr>
          <p:cNvPr id="5" name="Rounded Rectangle 4"/>
          <p:cNvSpPr/>
          <p:nvPr/>
        </p:nvSpPr>
        <p:spPr>
          <a:xfrm>
            <a:off x="396000" y="1655999"/>
            <a:ext cx="1692000" cy="3096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500"/>
              </a:spcAft>
            </a:pPr>
            <a:r>
              <a:rPr sz="1200" b="1">
                <a:solidFill>
                  <a:srgbClr val="7F7F7F"/>
                </a:solidFill>
                <a:latin typeface="メイリオ"/>
                <a:ea typeface="メイリオ"/>
                <a:cs typeface="メイリオ"/>
              </a:rPr>
              <a:t>▧ 実機トーク画面
差込予定</a:t>
            </a:r>
          </a:p>
          <a:p>
            <a:pPr algn="ctr">
              <a:lnSpc>
                <a:spcPct val="125000"/>
              </a:lnSpc>
            </a:pPr>
            <a:r>
              <a:rPr sz="1000">
                <a:solidFill>
                  <a:srgbClr val="7F7F7F"/>
                </a:solidFill>
                <a:latin typeface="メイリオ"/>
                <a:ea typeface="メイリオ"/>
                <a:cs typeface="メイリオ"/>
              </a:rPr>
              <a:t>・リッチメニュー全体</a:t>
            </a:r>
          </a:p>
          <a:p>
            <a:pPr algn="ctr">
              <a:lnSpc>
                <a:spcPct val="125000"/>
              </a:lnSpc>
            </a:pPr>
            <a:r>
              <a:rPr sz="1000">
                <a:solidFill>
                  <a:srgbClr val="7F7F7F"/>
                </a:solidFill>
                <a:latin typeface="メイリオ"/>
                <a:ea typeface="メイリオ"/>
                <a:cs typeface="メイリオ"/>
              </a:rPr>
              <a:t>・あいさつメッセージ</a:t>
            </a:r>
          </a:p>
          <a:p>
            <a:pPr algn="ctr">
              <a:lnSpc>
                <a:spcPct val="125000"/>
              </a:lnSpc>
            </a:pPr>
            <a:r>
              <a:rPr sz="1000">
                <a:solidFill>
                  <a:srgbClr val="7F7F7F"/>
                </a:solidFill>
                <a:latin typeface="メイリオ"/>
                <a:ea typeface="メイリオ"/>
                <a:cs typeface="メイリオ"/>
              </a:rPr>
              <a:t>・2週間分の配信</a:t>
            </a:r>
          </a:p>
        </p:txBody>
      </p:sp>
      <p:sp>
        <p:nvSpPr>
          <p:cNvPr id="6" name="Rounded Rectangle 5"/>
          <p:cNvSpPr/>
          <p:nvPr/>
        </p:nvSpPr>
        <p:spPr>
          <a:xfrm>
            <a:off x="396000"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C2233"/>
                </a:solidFill>
                <a:latin typeface="メイリオ"/>
                <a:ea typeface="メイリオ"/>
                <a:cs typeface="メイリオ"/>
              </a:rPr>
              <a:t>学部別か機能別か</a:t>
            </a:r>
          </a:p>
        </p:txBody>
      </p:sp>
      <p:sp>
        <p:nvSpPr>
          <p:cNvPr id="7" name="Rounded Rectangle 6"/>
          <p:cNvSpPr/>
          <p:nvPr/>
        </p:nvSpPr>
        <p:spPr>
          <a:xfrm>
            <a:off x="2231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F285A"/>
                </a:solidFill>
                <a:latin typeface="メイリオ"/>
                <a:ea typeface="メイリオ"/>
                <a:cs typeface="メイリオ"/>
              </a:rPr>
              <a:t>大規模総合大（関西）</a:t>
            </a:r>
          </a:p>
        </p:txBody>
      </p:sp>
      <p:sp>
        <p:nvSpPr>
          <p:cNvPr id="8" name="Rounded Rectangle 7"/>
          <p:cNvSpPr/>
          <p:nvPr/>
        </p:nvSpPr>
        <p:spPr>
          <a:xfrm>
            <a:off x="2231999" y="1655999"/>
            <a:ext cx="1692000" cy="3096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500"/>
              </a:spcAft>
            </a:pPr>
            <a:r>
              <a:rPr sz="1200" b="1">
                <a:solidFill>
                  <a:srgbClr val="7F7F7F"/>
                </a:solidFill>
                <a:latin typeface="メイリオ"/>
                <a:ea typeface="メイリオ"/>
                <a:cs typeface="メイリオ"/>
              </a:rPr>
              <a:t>▧ 実機トーク画面
差込予定</a:t>
            </a:r>
          </a:p>
          <a:p>
            <a:pPr algn="ctr">
              <a:lnSpc>
                <a:spcPct val="125000"/>
              </a:lnSpc>
            </a:pPr>
            <a:r>
              <a:rPr sz="1000">
                <a:solidFill>
                  <a:srgbClr val="7F7F7F"/>
                </a:solidFill>
                <a:latin typeface="メイリオ"/>
                <a:ea typeface="メイリオ"/>
                <a:cs typeface="メイリオ"/>
              </a:rPr>
              <a:t>・リッチメニュー全体</a:t>
            </a:r>
          </a:p>
          <a:p>
            <a:pPr algn="ctr">
              <a:lnSpc>
                <a:spcPct val="125000"/>
              </a:lnSpc>
            </a:pPr>
            <a:r>
              <a:rPr sz="1000">
                <a:solidFill>
                  <a:srgbClr val="7F7F7F"/>
                </a:solidFill>
                <a:latin typeface="メイリオ"/>
                <a:ea typeface="メイリオ"/>
                <a:cs typeface="メイリオ"/>
              </a:rPr>
              <a:t>・あいさつメッセージ</a:t>
            </a:r>
          </a:p>
          <a:p>
            <a:pPr algn="ctr">
              <a:lnSpc>
                <a:spcPct val="125000"/>
              </a:lnSpc>
            </a:pPr>
            <a:r>
              <a:rPr sz="1000">
                <a:solidFill>
                  <a:srgbClr val="7F7F7F"/>
                </a:solidFill>
                <a:latin typeface="メイリオ"/>
                <a:ea typeface="メイリオ"/>
                <a:cs typeface="メイリオ"/>
              </a:rPr>
              <a:t>・2週間分の配信</a:t>
            </a:r>
          </a:p>
        </p:txBody>
      </p:sp>
      <p:sp>
        <p:nvSpPr>
          <p:cNvPr id="9" name="Rounded Rectangle 8"/>
          <p:cNvSpPr/>
          <p:nvPr/>
        </p:nvSpPr>
        <p:spPr>
          <a:xfrm>
            <a:off x="2231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C2233"/>
                </a:solidFill>
                <a:latin typeface="メイリオ"/>
                <a:ea typeface="メイリオ"/>
                <a:cs typeface="メイリオ"/>
              </a:rPr>
              <a:t>受験生／在学生の分離</a:t>
            </a:r>
          </a:p>
        </p:txBody>
      </p:sp>
      <p:sp>
        <p:nvSpPr>
          <p:cNvPr id="10" name="Rounded Rectangle 9"/>
          <p:cNvSpPr/>
          <p:nvPr/>
        </p:nvSpPr>
        <p:spPr>
          <a:xfrm>
            <a:off x="4067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F285A"/>
                </a:solidFill>
                <a:latin typeface="メイリオ"/>
                <a:ea typeface="メイリオ"/>
                <a:cs typeface="メイリオ"/>
              </a:rPr>
              <a:t>中規模私立大（地方）</a:t>
            </a:r>
          </a:p>
        </p:txBody>
      </p:sp>
      <p:sp>
        <p:nvSpPr>
          <p:cNvPr id="11" name="Rounded Rectangle 10"/>
          <p:cNvSpPr/>
          <p:nvPr/>
        </p:nvSpPr>
        <p:spPr>
          <a:xfrm>
            <a:off x="4067999" y="1655999"/>
            <a:ext cx="1692000" cy="3096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500"/>
              </a:spcAft>
            </a:pPr>
            <a:r>
              <a:rPr sz="1200" b="1">
                <a:solidFill>
                  <a:srgbClr val="7F7F7F"/>
                </a:solidFill>
                <a:latin typeface="メイリオ"/>
                <a:ea typeface="メイリオ"/>
                <a:cs typeface="メイリオ"/>
              </a:rPr>
              <a:t>▧ 実機トーク画面
差込予定</a:t>
            </a:r>
          </a:p>
          <a:p>
            <a:pPr algn="ctr">
              <a:lnSpc>
                <a:spcPct val="125000"/>
              </a:lnSpc>
            </a:pPr>
            <a:r>
              <a:rPr sz="1000">
                <a:solidFill>
                  <a:srgbClr val="7F7F7F"/>
                </a:solidFill>
                <a:latin typeface="メイリオ"/>
                <a:ea typeface="メイリオ"/>
                <a:cs typeface="メイリオ"/>
              </a:rPr>
              <a:t>・リッチメニュー全体</a:t>
            </a:r>
          </a:p>
          <a:p>
            <a:pPr algn="ctr">
              <a:lnSpc>
                <a:spcPct val="125000"/>
              </a:lnSpc>
            </a:pPr>
            <a:r>
              <a:rPr sz="1000">
                <a:solidFill>
                  <a:srgbClr val="7F7F7F"/>
                </a:solidFill>
                <a:latin typeface="メイリオ"/>
                <a:ea typeface="メイリオ"/>
                <a:cs typeface="メイリオ"/>
              </a:rPr>
              <a:t>・あいさつメッセージ</a:t>
            </a:r>
          </a:p>
          <a:p>
            <a:pPr algn="ctr">
              <a:lnSpc>
                <a:spcPct val="125000"/>
              </a:lnSpc>
            </a:pPr>
            <a:r>
              <a:rPr sz="1000">
                <a:solidFill>
                  <a:srgbClr val="7F7F7F"/>
                </a:solidFill>
                <a:latin typeface="メイリオ"/>
                <a:ea typeface="メイリオ"/>
                <a:cs typeface="メイリオ"/>
              </a:rPr>
              <a:t>・2週間分の配信</a:t>
            </a:r>
          </a:p>
        </p:txBody>
      </p:sp>
      <p:sp>
        <p:nvSpPr>
          <p:cNvPr id="12" name="Rounded Rectangle 11"/>
          <p:cNvSpPr/>
          <p:nvPr/>
        </p:nvSpPr>
        <p:spPr>
          <a:xfrm>
            <a:off x="4067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C2233"/>
                </a:solidFill>
                <a:latin typeface="メイリオ"/>
                <a:ea typeface="メイリオ"/>
                <a:cs typeface="メイリオ"/>
              </a:rPr>
              <a:t>本モデル校に最も近い</a:t>
            </a:r>
          </a:p>
        </p:txBody>
      </p:sp>
      <p:sp>
        <p:nvSpPr>
          <p:cNvPr id="13" name="Rounded Rectangle 12"/>
          <p:cNvSpPr/>
          <p:nvPr/>
        </p:nvSpPr>
        <p:spPr>
          <a:xfrm>
            <a:off x="5903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F285A"/>
                </a:solidFill>
                <a:latin typeface="メイリオ"/>
                <a:ea typeface="メイリオ"/>
                <a:cs typeface="メイリオ"/>
              </a:rPr>
              <a:t>大手専門学校</a:t>
            </a:r>
          </a:p>
        </p:txBody>
      </p:sp>
      <p:sp>
        <p:nvSpPr>
          <p:cNvPr id="14" name="Rounded Rectangle 13"/>
          <p:cNvSpPr/>
          <p:nvPr/>
        </p:nvSpPr>
        <p:spPr>
          <a:xfrm>
            <a:off x="5903999" y="1655999"/>
            <a:ext cx="1692000" cy="3096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500"/>
              </a:spcAft>
            </a:pPr>
            <a:r>
              <a:rPr sz="1200" b="1">
                <a:solidFill>
                  <a:srgbClr val="7F7F7F"/>
                </a:solidFill>
                <a:latin typeface="メイリオ"/>
                <a:ea typeface="メイリオ"/>
                <a:cs typeface="メイリオ"/>
              </a:rPr>
              <a:t>▧ 実機トーク画面
差込予定</a:t>
            </a:r>
          </a:p>
          <a:p>
            <a:pPr algn="ctr">
              <a:lnSpc>
                <a:spcPct val="125000"/>
              </a:lnSpc>
            </a:pPr>
            <a:r>
              <a:rPr sz="1000">
                <a:solidFill>
                  <a:srgbClr val="7F7F7F"/>
                </a:solidFill>
                <a:latin typeface="メイリオ"/>
                <a:ea typeface="メイリオ"/>
                <a:cs typeface="メイリオ"/>
              </a:rPr>
              <a:t>・リッチメニュー全体</a:t>
            </a:r>
          </a:p>
          <a:p>
            <a:pPr algn="ctr">
              <a:lnSpc>
                <a:spcPct val="125000"/>
              </a:lnSpc>
            </a:pPr>
            <a:r>
              <a:rPr sz="1000">
                <a:solidFill>
                  <a:srgbClr val="7F7F7F"/>
                </a:solidFill>
                <a:latin typeface="メイリオ"/>
                <a:ea typeface="メイリオ"/>
                <a:cs typeface="メイリオ"/>
              </a:rPr>
              <a:t>・あいさつメッセージ</a:t>
            </a:r>
          </a:p>
          <a:p>
            <a:pPr algn="ctr">
              <a:lnSpc>
                <a:spcPct val="125000"/>
              </a:lnSpc>
            </a:pPr>
            <a:r>
              <a:rPr sz="1000">
                <a:solidFill>
                  <a:srgbClr val="7F7F7F"/>
                </a:solidFill>
                <a:latin typeface="メイリオ"/>
                <a:ea typeface="メイリオ"/>
                <a:cs typeface="メイリオ"/>
              </a:rPr>
              <a:t>・2週間分の配信</a:t>
            </a:r>
          </a:p>
        </p:txBody>
      </p:sp>
      <p:sp>
        <p:nvSpPr>
          <p:cNvPr id="15" name="Rounded Rectangle 14"/>
          <p:cNvSpPr/>
          <p:nvPr/>
        </p:nvSpPr>
        <p:spPr>
          <a:xfrm>
            <a:off x="5903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C2233"/>
                </a:solidFill>
                <a:latin typeface="メイリオ"/>
                <a:ea typeface="メイリオ"/>
                <a:cs typeface="メイリオ"/>
              </a:rPr>
              <a:t>体験入学の予約導線</a:t>
            </a:r>
          </a:p>
        </p:txBody>
      </p:sp>
      <p:sp>
        <p:nvSpPr>
          <p:cNvPr id="16" name="Rounded Rectangle 15"/>
          <p:cNvSpPr/>
          <p:nvPr/>
        </p:nvSpPr>
        <p:spPr>
          <a:xfrm>
            <a:off x="7740000"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F285A"/>
                </a:solidFill>
                <a:latin typeface="メイリオ"/>
                <a:ea typeface="メイリオ"/>
                <a:cs typeface="メイリオ"/>
              </a:rPr>
              <a:t>医療・看護系専門</a:t>
            </a:r>
          </a:p>
        </p:txBody>
      </p:sp>
      <p:sp>
        <p:nvSpPr>
          <p:cNvPr id="17" name="Rounded Rectangle 16"/>
          <p:cNvSpPr/>
          <p:nvPr/>
        </p:nvSpPr>
        <p:spPr>
          <a:xfrm>
            <a:off x="7740000" y="1655999"/>
            <a:ext cx="1692000" cy="3096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500"/>
              </a:spcAft>
            </a:pPr>
            <a:r>
              <a:rPr sz="1200" b="1">
                <a:solidFill>
                  <a:srgbClr val="7F7F7F"/>
                </a:solidFill>
                <a:latin typeface="メイリオ"/>
                <a:ea typeface="メイリオ"/>
                <a:cs typeface="メイリオ"/>
              </a:rPr>
              <a:t>▧ 実機トーク画面
差込予定</a:t>
            </a:r>
          </a:p>
          <a:p>
            <a:pPr algn="ctr">
              <a:lnSpc>
                <a:spcPct val="125000"/>
              </a:lnSpc>
            </a:pPr>
            <a:r>
              <a:rPr sz="1000">
                <a:solidFill>
                  <a:srgbClr val="7F7F7F"/>
                </a:solidFill>
                <a:latin typeface="メイリオ"/>
                <a:ea typeface="メイリオ"/>
                <a:cs typeface="メイリオ"/>
              </a:rPr>
              <a:t>・リッチメニュー全体</a:t>
            </a:r>
          </a:p>
          <a:p>
            <a:pPr algn="ctr">
              <a:lnSpc>
                <a:spcPct val="125000"/>
              </a:lnSpc>
            </a:pPr>
            <a:r>
              <a:rPr sz="1000">
                <a:solidFill>
                  <a:srgbClr val="7F7F7F"/>
                </a:solidFill>
                <a:latin typeface="メイリオ"/>
                <a:ea typeface="メイリオ"/>
                <a:cs typeface="メイリオ"/>
              </a:rPr>
              <a:t>・あいさつメッセージ</a:t>
            </a:r>
          </a:p>
          <a:p>
            <a:pPr algn="ctr">
              <a:lnSpc>
                <a:spcPct val="125000"/>
              </a:lnSpc>
            </a:pPr>
            <a:r>
              <a:rPr sz="1000">
                <a:solidFill>
                  <a:srgbClr val="7F7F7F"/>
                </a:solidFill>
                <a:latin typeface="メイリオ"/>
                <a:ea typeface="メイリオ"/>
                <a:cs typeface="メイリオ"/>
              </a:rPr>
              <a:t>・2週間分の配信</a:t>
            </a:r>
          </a:p>
        </p:txBody>
      </p:sp>
      <p:sp>
        <p:nvSpPr>
          <p:cNvPr id="18" name="Rounded Rectangle 17"/>
          <p:cNvSpPr/>
          <p:nvPr/>
        </p:nvSpPr>
        <p:spPr>
          <a:xfrm>
            <a:off x="7740000"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1C2233"/>
                </a:solidFill>
                <a:latin typeface="メイリオ"/>
                <a:ea typeface="メイリオ"/>
                <a:cs typeface="メイリオ"/>
              </a:rPr>
              <a:t>保護者向け情報の出し方</a:t>
            </a:r>
          </a:p>
        </p:txBody>
      </p:sp>
      <p:sp>
        <p:nvSpPr>
          <p:cNvPr id="19" name="Rectangle 18"/>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撮影は調査用の捨てアカウントで。取得日を画面ごとに記録する。</a:t>
            </a:r>
          </a:p>
        </p:txBody>
      </p:sp>
      <p:sp>
        <p:nvSpPr>
          <p:cNvPr id="22" name="TextBox 21"/>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撮影対象：リッチメニュー全体／友だち追加直後のあいさつメッセージ／2週間分の配信トーク画面。</a:t>
            </a:r>
          </a:p>
          <a:p>
            <a:pPr algn="l">
              <a:lnSpc>
                <a:spcPct val="120000"/>
              </a:lnSpc>
            </a:pPr>
            <a:r>
              <a:rPr sz="900">
                <a:solidFill>
                  <a:srgbClr val="646C82"/>
                </a:solidFill>
                <a:latin typeface="メイリオ"/>
                <a:ea typeface="メイリオ"/>
                <a:cs typeface="メイリオ"/>
              </a:rPr>
              <a:t>※ クラウド環境からは page.line.me が参照できないため、PC側で取得する。</a:t>
            </a:r>
          </a:p>
        </p:txBody>
      </p:sp>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カスタマージャーニーマップにあわせてLINE投稿を配置。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※一般的な8フェーズを、学校法人（大学・専門学校）に置き換えます。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④資料請求・友だち追加(web/LINE)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学校法人（大学・専門学校）の場合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2544451" y="6031135"/>
            <a:ext cx="5359159" cy="461665"/>
          </a:xfrm>
          <a:prstGeom prst="rect">
            <a:avLst/>
          </a:prstGeom>
          <a:noFill/>
        </p:spPr>
        <p:txBody>
          <a:bodyPr wrap="none" rtlCol="0">
            <a:spAutoFit/>
          </a:bodyPr>
          <a:lstStyle/>
          <a:p>
            <a:r>
              <a:rPr lang="ja-JP" altLang="en-US" sz="1200" dirty="0">
                <a:latin typeface="+mn-ea"/>
              </a:rPr>
              <a:t>一般的な8フェーズを、学校法人（大学・専門学校）に置き換えるとこうなります。</a:t>
            </a:r>
          </a:p>
          <a:p>
            <a:r>
              <a:rPr lang="ja-JP" altLang="en-US" sz="1200" dirty="0">
                <a:latin typeface="+mn-ea"/>
              </a:rPr>
              <a:t>④資料請求・友だち追加 → ⑤オープンキャンパス参加 → ⑦出願・入学手続 が、この業界のCV地点です。</a:t>
            </a: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市場の構造｜18歳人口は30年で半減。私立大の6割が定員割れ</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母数が減っても学校は減らない。＝1人を取り合う競争だけが激化する構造。</a:t>
            </a:r>
          </a:p>
          <a:p>
            <a:pPr algn="l">
              <a:lnSpc>
                <a:spcPct val="122000"/>
              </a:lnSpc>
            </a:pPr>
            <a:r>
              <a:rPr sz="1500">
                <a:solidFill>
                  <a:srgbClr val="646C82"/>
                </a:solidFill>
                <a:latin typeface="メイリオ"/>
                <a:ea typeface="メイリオ"/>
                <a:cs typeface="メイリオ"/>
              </a:rPr>
              <a:t>だから入札で勝つ設計ではなく、取りこぼしを拾う設計に寄せる。</a:t>
            </a:r>
          </a:p>
        </p:txBody>
      </p:sp>
      <p:sp>
        <p:nvSpPr>
          <p:cNvPr id="4" name="Rounded Rectangle 3"/>
          <p:cNvSpPr/>
          <p:nvPr/>
        </p:nvSpPr>
        <p:spPr>
          <a:xfrm>
            <a:off x="396000" y="1332000"/>
            <a:ext cx="2160000" cy="2304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43200" bIns="43200"/>
          <a:lstStyle/>
          <a:p>
            <a:pPr algn="ctr">
              <a:lnSpc>
                <a:spcPct val="130000"/>
              </a:lnSpc>
            </a:pPr>
            <a:r>
              <a:rPr sz="1250" b="1">
                <a:solidFill>
                  <a:srgbClr val="C00000"/>
                </a:solidFill>
                <a:latin typeface="メイリオ"/>
                <a:ea typeface="メイリオ"/>
                <a:cs typeface="メイリオ"/>
              </a:rPr>
              <a:t>【18歳人口】</a:t>
            </a:r>
          </a:p>
          <a:p>
            <a:pPr algn="ctr">
              <a:lnSpc>
                <a:spcPct val="130000"/>
              </a:lnSpc>
            </a:pPr>
            <a:r>
              <a:rPr sz="1250" b="1">
                <a:solidFill>
                  <a:srgbClr val="C00000"/>
                </a:solidFill>
                <a:latin typeface="メイリオ"/>
                <a:ea typeface="メイリオ"/>
                <a:cs typeface="メイリオ"/>
              </a:rPr>
              <a:t>205万人 → 106万人</a:t>
            </a:r>
          </a:p>
          <a:p>
            <a:pPr algn="ctr">
              <a:lnSpc>
                <a:spcPct val="130000"/>
              </a:lnSpc>
            </a:pPr>
            <a:r>
              <a:rPr sz="1250" b="1">
                <a:solidFill>
                  <a:srgbClr val="C00000"/>
                </a:solidFill>
                <a:latin typeface="メイリオ"/>
                <a:ea typeface="メイリオ"/>
                <a:cs typeface="メイリオ"/>
              </a:rPr>
              <a:t>（1992年 → 2024年）</a:t>
            </a:r>
          </a:p>
          <a:p>
            <a:pPr algn="ctr">
              <a:lnSpc>
                <a:spcPct val="130000"/>
              </a:lnSpc>
            </a:pPr>
            <a:r>
              <a:rPr sz="1250" b="1">
                <a:solidFill>
                  <a:srgbClr val="C00000"/>
                </a:solidFill>
                <a:latin typeface="メイリオ"/>
                <a:ea typeface="メイリオ"/>
                <a:cs typeface="メイリオ"/>
              </a:rPr>
              <a:t>⇊</a:t>
            </a:r>
          </a:p>
          <a:p>
            <a:pPr algn="ctr">
              <a:lnSpc>
                <a:spcPct val="130000"/>
              </a:lnSpc>
            </a:pPr>
            <a:r>
              <a:rPr sz="1250" b="1">
                <a:solidFill>
                  <a:srgbClr val="C00000"/>
                </a:solidFill>
                <a:latin typeface="メイリオ"/>
                <a:ea typeface="メイリオ"/>
                <a:cs typeface="メイリオ"/>
              </a:rPr>
              <a:t>30年で ▲48%</a:t>
            </a:r>
          </a:p>
        </p:txBody>
      </p:sp>
      <p:sp>
        <p:nvSpPr>
          <p:cNvPr id="5" name="Rounded Rectangle 4"/>
          <p:cNvSpPr/>
          <p:nvPr/>
        </p:nvSpPr>
        <p:spPr>
          <a:xfrm>
            <a:off x="2707200" y="1332000"/>
            <a:ext cx="2160000" cy="2304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43200" bIns="43200"/>
          <a:lstStyle/>
          <a:p>
            <a:pPr algn="ctr">
              <a:lnSpc>
                <a:spcPct val="130000"/>
              </a:lnSpc>
            </a:pPr>
            <a:r>
              <a:rPr sz="1250" b="1">
                <a:solidFill>
                  <a:srgbClr val="C00000"/>
                </a:solidFill>
                <a:latin typeface="メイリオ"/>
                <a:ea typeface="メイリオ"/>
                <a:cs typeface="メイリオ"/>
              </a:rPr>
              <a:t>【私立大の定員割れ】</a:t>
            </a:r>
          </a:p>
          <a:p>
            <a:pPr algn="ctr">
              <a:lnSpc>
                <a:spcPct val="130000"/>
              </a:lnSpc>
            </a:pPr>
            <a:r>
              <a:rPr sz="1250" b="1">
                <a:solidFill>
                  <a:srgbClr val="C00000"/>
                </a:solidFill>
                <a:latin typeface="メイリオ"/>
                <a:ea typeface="メイリオ"/>
                <a:cs typeface="メイリオ"/>
              </a:rPr>
              <a:t>59.2%（354校／598校）</a:t>
            </a:r>
          </a:p>
          <a:p>
            <a:pPr algn="ctr">
              <a:lnSpc>
                <a:spcPct val="130000"/>
              </a:lnSpc>
            </a:pPr>
            <a:r>
              <a:rPr sz="1250" b="1">
                <a:solidFill>
                  <a:srgbClr val="C00000"/>
                </a:solidFill>
                <a:latin typeface="メイリオ"/>
                <a:ea typeface="メイリオ"/>
                <a:cs typeface="メイリオ"/>
              </a:rPr>
              <a:t>（2024年度）</a:t>
            </a:r>
          </a:p>
          <a:p>
            <a:pPr algn="ctr">
              <a:lnSpc>
                <a:spcPct val="130000"/>
              </a:lnSpc>
            </a:pPr>
            <a:r>
              <a:rPr sz="1250" b="1">
                <a:solidFill>
                  <a:srgbClr val="C00000"/>
                </a:solidFill>
                <a:latin typeface="メイリオ"/>
                <a:ea typeface="メイリオ"/>
                <a:cs typeface="メイリオ"/>
              </a:rPr>
              <a:t>⇊</a:t>
            </a:r>
          </a:p>
          <a:p>
            <a:pPr algn="ctr">
              <a:lnSpc>
                <a:spcPct val="130000"/>
              </a:lnSpc>
            </a:pPr>
            <a:r>
              <a:rPr sz="1250" b="1">
                <a:solidFill>
                  <a:srgbClr val="C00000"/>
                </a:solidFill>
                <a:latin typeface="メイリオ"/>
                <a:ea typeface="メイリオ"/>
                <a:cs typeface="メイリオ"/>
              </a:rPr>
              <a:t>6割が定員を埋められない</a:t>
            </a:r>
          </a:p>
        </p:txBody>
      </p:sp>
      <p:sp>
        <p:nvSpPr>
          <p:cNvPr id="6" name="Rounded Rectangle 5"/>
          <p:cNvSpPr/>
          <p:nvPr/>
        </p:nvSpPr>
        <p:spPr>
          <a:xfrm>
            <a:off x="5018400" y="1332000"/>
            <a:ext cx="2160000" cy="2304000"/>
          </a:xfrm>
          <a:prstGeom prst="roundRect">
            <a:avLst>
              <a:gd name="adj" fmla="val 6000"/>
            </a:avLst>
          </a:prstGeom>
          <a:solidFill>
            <a:srgbClr val="F2F2F2"/>
          </a:solidFill>
          <a:ln w="15875">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43200" bIns="43200"/>
          <a:lstStyle/>
          <a:p>
            <a:pPr algn="ctr">
              <a:lnSpc>
                <a:spcPct val="130000"/>
              </a:lnSpc>
            </a:pPr>
            <a:r>
              <a:rPr sz="1250" b="1">
                <a:solidFill>
                  <a:srgbClr val="1C2233"/>
                </a:solidFill>
                <a:latin typeface="メイリオ"/>
                <a:ea typeface="メイリオ"/>
                <a:cs typeface="メイリオ"/>
              </a:rPr>
              <a:t>【大学進学率】</a:t>
            </a:r>
          </a:p>
          <a:p>
            <a:pPr algn="ctr">
              <a:lnSpc>
                <a:spcPct val="130000"/>
              </a:lnSpc>
            </a:pPr>
            <a:r>
              <a:rPr sz="1250" b="1">
                <a:solidFill>
                  <a:srgbClr val="1C2233"/>
                </a:solidFill>
                <a:latin typeface="メイリオ"/>
                <a:ea typeface="メイリオ"/>
                <a:cs typeface="メイリオ"/>
              </a:rPr>
              <a:t>約59%（過去最高圏）</a:t>
            </a:r>
          </a:p>
          <a:p>
            <a:pPr algn="ctr">
              <a:lnSpc>
                <a:spcPct val="130000"/>
              </a:lnSpc>
            </a:pPr>
            <a:r>
              <a:rPr sz="1250" b="1">
                <a:solidFill>
                  <a:srgbClr val="1C2233"/>
                </a:solidFill>
                <a:latin typeface="メイリオ"/>
                <a:ea typeface="メイリオ"/>
                <a:cs typeface="メイリオ"/>
              </a:rPr>
              <a:t>⇊</a:t>
            </a:r>
          </a:p>
          <a:p>
            <a:pPr algn="ctr">
              <a:lnSpc>
                <a:spcPct val="130000"/>
              </a:lnSpc>
            </a:pPr>
            <a:r>
              <a:rPr sz="1250" b="1">
                <a:solidFill>
                  <a:srgbClr val="1C2233"/>
                </a:solidFill>
                <a:latin typeface="メイリオ"/>
                <a:ea typeface="メイリオ"/>
                <a:cs typeface="メイリオ"/>
              </a:rPr>
              <a:t>進学率の伸びで</a:t>
            </a:r>
          </a:p>
          <a:p>
            <a:pPr algn="ctr">
              <a:lnSpc>
                <a:spcPct val="130000"/>
              </a:lnSpc>
            </a:pPr>
            <a:r>
              <a:rPr sz="1250" b="1">
                <a:solidFill>
                  <a:srgbClr val="1C2233"/>
                </a:solidFill>
                <a:latin typeface="メイリオ"/>
                <a:ea typeface="メイリオ"/>
                <a:cs typeface="メイリオ"/>
              </a:rPr>
              <a:t>母数減を吸収する余地はない</a:t>
            </a:r>
          </a:p>
        </p:txBody>
      </p:sp>
      <p:sp>
        <p:nvSpPr>
          <p:cNvPr id="7" name="Rounded Rectangle 6"/>
          <p:cNvSpPr/>
          <p:nvPr/>
        </p:nvSpPr>
        <p:spPr>
          <a:xfrm>
            <a:off x="7329600" y="1332000"/>
            <a:ext cx="2160000" cy="2304000"/>
          </a:xfrm>
          <a:prstGeom prst="roundRect">
            <a:avLst>
              <a:gd name="adj" fmla="val 6000"/>
            </a:avLst>
          </a:prstGeom>
          <a:solidFill>
            <a:srgbClr val="FCE4D6"/>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64800" rIns="64800" tIns="43200" bIns="43200"/>
          <a:lstStyle/>
          <a:p>
            <a:pPr algn="ctr">
              <a:lnSpc>
                <a:spcPct val="130000"/>
              </a:lnSpc>
            </a:pPr>
            <a:r>
              <a:rPr sz="1250" b="1">
                <a:solidFill>
                  <a:srgbClr val="ED7D31"/>
                </a:solidFill>
                <a:latin typeface="メイリオ"/>
                <a:ea typeface="メイリオ"/>
                <a:cs typeface="メイリオ"/>
              </a:rPr>
              <a:t>【1名の入学の重さ】</a:t>
            </a:r>
          </a:p>
          <a:p>
            <a:pPr algn="ctr">
              <a:lnSpc>
                <a:spcPct val="130000"/>
              </a:lnSpc>
            </a:pPr>
            <a:r>
              <a:rPr sz="1250" b="1">
                <a:solidFill>
                  <a:srgbClr val="ED7D31"/>
                </a:solidFill>
                <a:latin typeface="メイリオ"/>
                <a:ea typeface="メイリオ"/>
                <a:cs typeface="メイリオ"/>
              </a:rPr>
              <a:t>初年度納付金 約136万円</a:t>
            </a:r>
          </a:p>
          <a:p>
            <a:pPr algn="ctr">
              <a:lnSpc>
                <a:spcPct val="130000"/>
              </a:lnSpc>
            </a:pPr>
            <a:r>
              <a:rPr sz="1250" b="1">
                <a:solidFill>
                  <a:srgbClr val="ED7D31"/>
                </a:solidFill>
                <a:latin typeface="メイリオ"/>
                <a:ea typeface="メイリオ"/>
                <a:cs typeface="メイリオ"/>
              </a:rPr>
              <a:t>4年間で 約400万円</a:t>
            </a:r>
          </a:p>
          <a:p>
            <a:pPr algn="ctr">
              <a:lnSpc>
                <a:spcPct val="130000"/>
              </a:lnSpc>
            </a:pPr>
            <a:r>
              <a:rPr sz="1250" b="1">
                <a:solidFill>
                  <a:srgbClr val="ED7D31"/>
                </a:solidFill>
                <a:latin typeface="メイリオ"/>
                <a:ea typeface="メイリオ"/>
                <a:cs typeface="メイリオ"/>
              </a:rPr>
              <a:t>⇊</a:t>
            </a:r>
          </a:p>
          <a:p>
            <a:pPr algn="ctr">
              <a:lnSpc>
                <a:spcPct val="130000"/>
              </a:lnSpc>
            </a:pPr>
            <a:r>
              <a:rPr sz="1250" b="1">
                <a:solidFill>
                  <a:srgbClr val="ED7D31"/>
                </a:solidFill>
                <a:latin typeface="メイリオ"/>
                <a:ea typeface="メイリオ"/>
                <a:cs typeface="メイリオ"/>
              </a:rPr>
              <a:t>取りこぼしの単価が桁違い</a:t>
            </a:r>
          </a:p>
        </p:txBody>
      </p:sp>
      <p:sp>
        <p:nvSpPr>
          <p:cNvPr id="8" name="Rounded Rectangle 7"/>
          <p:cNvSpPr/>
          <p:nvPr/>
        </p:nvSpPr>
        <p:spPr>
          <a:xfrm>
            <a:off x="396000" y="3816000"/>
            <a:ext cx="4464000" cy="154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母数の減り方は、これから加速する</a:t>
            </a:r>
          </a:p>
          <a:p>
            <a:pPr algn="l">
              <a:lnSpc>
                <a:spcPct val="120000"/>
              </a:lnSpc>
              <a:spcAft>
                <a:spcPts val="200"/>
              </a:spcAft>
            </a:pPr>
            <a:r>
              <a:rPr sz="1100">
                <a:solidFill>
                  <a:srgbClr val="1C2233"/>
                </a:solidFill>
                <a:latin typeface="メイリオ"/>
                <a:ea typeface="メイリオ"/>
                <a:cs typeface="メイリオ"/>
              </a:rPr>
              <a:t>2040年の18歳人口は80万人台まで減る見通し（中央教育審議会の推計）。</a:t>
            </a:r>
          </a:p>
          <a:p>
            <a:pPr algn="l">
              <a:lnSpc>
                <a:spcPct val="120000"/>
              </a:lnSpc>
              <a:spcAft>
                <a:spcPts val="200"/>
              </a:spcAft>
            </a:pPr>
            <a:r>
              <a:rPr sz="1100">
                <a:solidFill>
                  <a:srgbClr val="1C2233"/>
                </a:solidFill>
                <a:latin typeface="メイリオ"/>
                <a:ea typeface="メイリオ"/>
                <a:cs typeface="メイリオ"/>
              </a:rPr>
              <a:t>いま在籍している小中高生の数がそのまま波及するため、</a:t>
            </a:r>
          </a:p>
          <a:p>
            <a:pPr algn="l">
              <a:lnSpc>
                <a:spcPct val="120000"/>
              </a:lnSpc>
              <a:spcAft>
                <a:spcPts val="200"/>
              </a:spcAft>
            </a:pPr>
            <a:r>
              <a:rPr sz="1100">
                <a:solidFill>
                  <a:srgbClr val="1C2233"/>
                </a:solidFill>
                <a:latin typeface="メイリオ"/>
                <a:ea typeface="メイリオ"/>
                <a:cs typeface="メイリオ"/>
              </a:rPr>
              <a:t>競争密度は今がピークではない。</a:t>
            </a:r>
          </a:p>
        </p:txBody>
      </p:sp>
      <p:sp>
        <p:nvSpPr>
          <p:cNvPr id="9" name="Rounded Rectangle 8"/>
          <p:cNvSpPr/>
          <p:nvPr/>
        </p:nvSpPr>
        <p:spPr>
          <a:xfrm>
            <a:off x="5076000" y="3816000"/>
            <a:ext cx="4464000" cy="154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だから「取りこぼしを拾う」が最も効く</a:t>
            </a:r>
          </a:p>
          <a:p>
            <a:pPr algn="l">
              <a:lnSpc>
                <a:spcPct val="120000"/>
              </a:lnSpc>
              <a:spcAft>
                <a:spcPts val="200"/>
              </a:spcAft>
            </a:pPr>
            <a:r>
              <a:rPr sz="1100">
                <a:solidFill>
                  <a:srgbClr val="1C2233"/>
                </a:solidFill>
                <a:latin typeface="メイリオ"/>
                <a:ea typeface="メイリオ"/>
                <a:cs typeface="メイリオ"/>
              </a:rPr>
              <a:t>広告の入札を強めても、母数が半分の市場では単価が上がるだけ。</a:t>
            </a:r>
          </a:p>
          <a:p>
            <a:pPr algn="l">
              <a:lnSpc>
                <a:spcPct val="120000"/>
              </a:lnSpc>
              <a:spcAft>
                <a:spcPts val="200"/>
              </a:spcAft>
            </a:pPr>
            <a:r>
              <a:rPr sz="1100">
                <a:solidFill>
                  <a:srgbClr val="1C2233"/>
                </a:solidFill>
                <a:latin typeface="メイリオ"/>
                <a:ea typeface="メイリオ"/>
                <a:cs typeface="メイリオ"/>
              </a:rPr>
              <a:t>一度でも手を挙げた高校生（資料請求者・OC参加者）を</a:t>
            </a:r>
          </a:p>
          <a:p>
            <a:pPr algn="l">
              <a:lnSpc>
                <a:spcPct val="120000"/>
              </a:lnSpc>
              <a:spcAft>
                <a:spcPts val="200"/>
              </a:spcAft>
            </a:pPr>
            <a:r>
              <a:rPr sz="1100">
                <a:solidFill>
                  <a:srgbClr val="1C2233"/>
                </a:solidFill>
                <a:latin typeface="メイリオ"/>
                <a:ea typeface="メイリオ"/>
                <a:cs typeface="メイリオ"/>
              </a:rPr>
              <a:t>出願まで落とさない仕組みのほうが、費用対効果が高い。</a:t>
            </a:r>
          </a:p>
        </p:txBody>
      </p:sp>
      <p:sp>
        <p:nvSpPr>
          <p:cNvPr id="10" name="Rectangle 9"/>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入札で勝つ設計ではなく、取りこぼしを拾う設計へ。</a:t>
            </a:r>
          </a:p>
        </p:txBody>
      </p:sp>
      <p:sp>
        <p:nvSpPr>
          <p:cNvPr id="13" name="TextBox 12"/>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出典：文部科学省「学校基本調査」／日本私立学校振興・共済事業団「私立大学・短期大学等入学志願動向」／文部科学省「私立大学等入学者に係る初年度学生納付金等調査」。【提出前に最新年度で原典照合すること】</a:t>
            </a:r>
          </a:p>
          <a:p>
            <a:pPr algn="l">
              <a:lnSpc>
                <a:spcPct val="120000"/>
              </a:lnSpc>
            </a:pPr>
            <a:r>
              <a:rPr sz="900">
                <a:solidFill>
                  <a:srgbClr val="646C82"/>
                </a:solidFill>
                <a:latin typeface="メイリオ"/>
                <a:ea typeface="メイリオ"/>
                <a:cs typeface="メイリオ"/>
              </a:rPr>
              <a:t>※ 2040年推計は中央教育審議会の答申の版によって82万人／88万人と異なる。引用する版を確定してから提出する。</a:t>
            </a:r>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ニーズ調査（シーズナリティ）｜OCは7月末、総合型選抜は8月末</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オープンキャンパスのピークと、総合型選抜の出願準備のピークは1ヶ月しか離れていない。</a:t>
            </a:r>
          </a:p>
          <a:p>
            <a:pPr algn="l">
              <a:lnSpc>
                <a:spcPct val="122000"/>
              </a:lnSpc>
            </a:pPr>
            <a:r>
              <a:rPr sz="1500">
                <a:solidFill>
                  <a:srgbClr val="646C82"/>
                </a:solidFill>
                <a:latin typeface="メイリオ"/>
                <a:ea typeface="メイリオ"/>
                <a:cs typeface="メイリオ"/>
              </a:rPr>
              <a:t>＝ 夏のOCで接点を持てなかった学校は、8月末には候補から消えている。</a:t>
            </a:r>
          </a:p>
        </p:txBody>
      </p:sp>
      <p:pic>
        <p:nvPicPr>
          <p:cNvPr id="4" name="Picture 3" descr="gakkou_trend_oc_weekly.png"/>
          <p:cNvPicPr>
            <a:picLocks noChangeAspect="1"/>
          </p:cNvPicPr>
          <p:nvPr/>
        </p:nvPicPr>
        <p:blipFill>
          <a:blip r:embed="rId3"/>
          <a:stretch>
            <a:fillRect/>
          </a:stretch>
        </p:blipFill>
        <p:spPr>
          <a:xfrm>
            <a:off x="396000" y="1224000"/>
            <a:ext cx="4464000" cy="1595293"/>
          </a:xfrm>
          <a:prstGeom prst="rect">
            <a:avLst/>
          </a:prstGeom>
        </p:spPr>
      </p:pic>
      <p:pic>
        <p:nvPicPr>
          <p:cNvPr id="5" name="Picture 4" descr="gakkou_trend_nyushi_weekly.png"/>
          <p:cNvPicPr>
            <a:picLocks noChangeAspect="1"/>
          </p:cNvPicPr>
          <p:nvPr/>
        </p:nvPicPr>
        <p:blipFill>
          <a:blip r:embed="rId4"/>
          <a:stretch>
            <a:fillRect/>
          </a:stretch>
        </p:blipFill>
        <p:spPr>
          <a:xfrm>
            <a:off x="5040000" y="1224000"/>
            <a:ext cx="4464000" cy="1595293"/>
          </a:xfrm>
          <a:prstGeom prst="rect">
            <a:avLst/>
          </a:prstGeom>
        </p:spPr>
      </p:pic>
      <p:sp>
        <p:nvSpPr>
          <p:cNvPr id="6" name="Rounded Rectangle 5"/>
          <p:cNvSpPr/>
          <p:nvPr/>
        </p:nvSpPr>
        <p:spPr>
          <a:xfrm>
            <a:off x="396000"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① 動き出しは5月下旬</a:t>
            </a:r>
          </a:p>
          <a:p>
            <a:pPr algn="l">
              <a:lnSpc>
                <a:spcPct val="120000"/>
              </a:lnSpc>
              <a:spcAft>
                <a:spcPts val="200"/>
              </a:spcAft>
            </a:pPr>
            <a:r>
              <a:rPr sz="1100">
                <a:solidFill>
                  <a:srgbClr val="1C2233"/>
                </a:solidFill>
                <a:latin typeface="メイリオ"/>
                <a:ea typeface="メイリオ"/>
                <a:cs typeface="メイリオ"/>
              </a:rPr>
              <a:t>「オープンキャンパス」の検索が20を超えるのが5/25週。</a:t>
            </a:r>
          </a:p>
          <a:p>
            <a:pPr algn="l">
              <a:lnSpc>
                <a:spcPct val="120000"/>
              </a:lnSpc>
              <a:spcAft>
                <a:spcPts val="200"/>
              </a:spcAft>
            </a:pPr>
            <a:r>
              <a:rPr sz="1100">
                <a:solidFill>
                  <a:srgbClr val="1C2233"/>
                </a:solidFill>
                <a:latin typeface="メイリオ"/>
                <a:ea typeface="メイリオ"/>
                <a:cs typeface="メイリオ"/>
              </a:rPr>
              <a:t>6/29週にはもう年間ピークの半分（51）。</a:t>
            </a:r>
          </a:p>
          <a:p>
            <a:pPr algn="l">
              <a:lnSpc>
                <a:spcPct val="120000"/>
              </a:lnSpc>
              <a:spcAft>
                <a:spcPts val="200"/>
              </a:spcAft>
            </a:pPr>
            <a:r>
              <a:rPr sz="1100">
                <a:solidFill>
                  <a:srgbClr val="1C2233"/>
                </a:solidFill>
                <a:latin typeface="メイリオ"/>
                <a:ea typeface="メイリオ"/>
                <a:cs typeface="メイリオ"/>
              </a:rPr>
              <a:t>6月に広報を始めたら、もう遅い。</a:t>
            </a:r>
          </a:p>
        </p:txBody>
      </p:sp>
      <p:sp>
        <p:nvSpPr>
          <p:cNvPr id="7" name="Rounded Rectangle 6"/>
          <p:cNvSpPr/>
          <p:nvPr/>
        </p:nvSpPr>
        <p:spPr>
          <a:xfrm>
            <a:off x="3491999"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② 総合型のピークは8/31週</a:t>
            </a:r>
          </a:p>
          <a:p>
            <a:pPr algn="l">
              <a:lnSpc>
                <a:spcPct val="120000"/>
              </a:lnSpc>
              <a:spcAft>
                <a:spcPts val="200"/>
              </a:spcAft>
            </a:pPr>
            <a:r>
              <a:rPr sz="1100">
                <a:solidFill>
                  <a:srgbClr val="1C2233"/>
                </a:solidFill>
                <a:latin typeface="メイリオ"/>
                <a:ea typeface="メイリオ"/>
                <a:cs typeface="メイリオ"/>
              </a:rPr>
              <a:t>9/1の出願解禁を含む週が年間最大（100）。</a:t>
            </a:r>
          </a:p>
          <a:p>
            <a:pPr algn="l">
              <a:lnSpc>
                <a:spcPct val="120000"/>
              </a:lnSpc>
              <a:spcAft>
                <a:spcPts val="200"/>
              </a:spcAft>
            </a:pPr>
            <a:r>
              <a:rPr sz="1100">
                <a:solidFill>
                  <a:srgbClr val="1C2233"/>
                </a:solidFill>
                <a:latin typeface="メイリオ"/>
                <a:ea typeface="メイリオ"/>
                <a:cs typeface="メイリオ"/>
              </a:rPr>
              <a:t>指定校推薦は8月末と11月中旬の二山、</a:t>
            </a:r>
          </a:p>
          <a:p>
            <a:pPr algn="l">
              <a:lnSpc>
                <a:spcPct val="120000"/>
              </a:lnSpc>
              <a:spcAft>
                <a:spcPts val="200"/>
              </a:spcAft>
            </a:pPr>
            <a:r>
              <a:rPr sz="1100">
                <a:solidFill>
                  <a:srgbClr val="1C2233"/>
                </a:solidFill>
                <a:latin typeface="メイリオ"/>
                <a:ea typeface="メイリオ"/>
                <a:cs typeface="メイリオ"/>
              </a:rPr>
              <a:t>学校推薦型は11月の単峰。3方式で時期が違う。</a:t>
            </a:r>
          </a:p>
        </p:txBody>
      </p:sp>
      <p:sp>
        <p:nvSpPr>
          <p:cNvPr id="8" name="Rounded Rectangle 7"/>
          <p:cNvSpPr/>
          <p:nvPr/>
        </p:nvSpPr>
        <p:spPr>
          <a:xfrm>
            <a:off x="6588000" y="3168000"/>
            <a:ext cx="2951999"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③ 仕込みの窓は5週間</a:t>
            </a:r>
          </a:p>
          <a:p>
            <a:pPr algn="l">
              <a:lnSpc>
                <a:spcPct val="120000"/>
              </a:lnSpc>
              <a:spcAft>
                <a:spcPts val="200"/>
              </a:spcAft>
            </a:pPr>
            <a:r>
              <a:rPr sz="1100">
                <a:solidFill>
                  <a:srgbClr val="1C2233"/>
                </a:solidFill>
                <a:latin typeface="メイリオ"/>
                <a:ea typeface="メイリオ"/>
                <a:cs typeface="メイリオ"/>
              </a:rPr>
              <a:t>5/25週〜6/29週の5週間が、友だち化の窓。</a:t>
            </a:r>
          </a:p>
          <a:p>
            <a:pPr algn="l">
              <a:lnSpc>
                <a:spcPct val="120000"/>
              </a:lnSpc>
              <a:spcAft>
                <a:spcPts val="200"/>
              </a:spcAft>
            </a:pPr>
            <a:r>
              <a:rPr sz="1100">
                <a:solidFill>
                  <a:srgbClr val="1C2233"/>
                </a:solidFill>
                <a:latin typeface="メイリオ"/>
                <a:ea typeface="メイリオ"/>
                <a:cs typeface="メイリオ"/>
              </a:rPr>
              <a:t>ここまでに友だちになっていない高校生は、</a:t>
            </a:r>
          </a:p>
          <a:p>
            <a:pPr algn="l">
              <a:lnSpc>
                <a:spcPct val="120000"/>
              </a:lnSpc>
              <a:spcAft>
                <a:spcPts val="200"/>
              </a:spcAft>
            </a:pPr>
            <a:r>
              <a:rPr sz="1100">
                <a:solidFill>
                  <a:srgbClr val="1C2233"/>
                </a:solidFill>
                <a:latin typeface="メイリオ"/>
                <a:ea typeface="メイリオ"/>
                <a:cs typeface="メイリオ"/>
              </a:rPr>
              <a:t>夏のOCの候補リストに入らない。</a:t>
            </a:r>
          </a:p>
        </p:txBody>
      </p:sp>
      <p:sp>
        <p:nvSpPr>
          <p:cNvPr id="9" name="TextBox 8"/>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出典：Googleトレンド（日本・ウェブ検索・2026-09-15取得）。週次データは2025年（2024-12-29〜2025-12-28）の実測。</a:t>
            </a:r>
          </a:p>
          <a:p>
            <a:pPr algn="l">
              <a:lnSpc>
                <a:spcPct val="120000"/>
              </a:lnSpc>
            </a:pPr>
            <a:r>
              <a:rPr sz="900">
                <a:solidFill>
                  <a:srgbClr val="646C82"/>
                </a:solidFill>
                <a:latin typeface="メイリオ"/>
                <a:ea typeface="メイリオ"/>
                <a:cs typeface="メイリオ"/>
              </a:rPr>
              <a:t>※ 入試日程は文部科学省「大学入学者選抜実施要項」（総合型＝9/1出願・11/1発表／学校推薦型＝11/1出願・12/1発表／一般＝2/1〜）。</a:t>
            </a:r>
          </a:p>
        </p:txBody>
      </p:sp>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ニーズ調査（5年トレンド）｜総合型選抜は5年で3.3倍</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オープンキャンパスの形は5年間まったく変わらない＝予定を立てられる需要。</a:t>
            </a:r>
          </a:p>
          <a:p>
            <a:pPr algn="l">
              <a:lnSpc>
                <a:spcPct val="122000"/>
              </a:lnSpc>
            </a:pPr>
            <a:r>
              <a:rPr sz="1500">
                <a:solidFill>
                  <a:srgbClr val="646C82"/>
                </a:solidFill>
                <a:latin typeface="メイリオ"/>
                <a:ea typeface="メイリオ"/>
                <a:cs typeface="メイリオ"/>
              </a:rPr>
              <a:t>一方で入試方式の主役は入れ替わっており、2023年9月に総合型が指定校推薦を抜いた。</a:t>
            </a:r>
          </a:p>
        </p:txBody>
      </p:sp>
      <p:pic>
        <p:nvPicPr>
          <p:cNvPr id="4" name="Picture 3" descr="gakkou_trend_oc_5y.png"/>
          <p:cNvPicPr>
            <a:picLocks noChangeAspect="1"/>
          </p:cNvPicPr>
          <p:nvPr/>
        </p:nvPicPr>
        <p:blipFill>
          <a:blip r:embed="rId4"/>
          <a:stretch>
            <a:fillRect/>
          </a:stretch>
        </p:blipFill>
        <p:spPr>
          <a:xfrm>
            <a:off x="396000" y="1224000"/>
            <a:ext cx="4464000" cy="1545954"/>
          </a:xfrm>
          <a:prstGeom prst="rect">
            <a:avLst/>
          </a:prstGeom>
        </p:spPr>
      </p:pic>
      <p:pic>
        <p:nvPicPr>
          <p:cNvPr id="5" name="Picture 4" descr="gakkou_trend_nyushi_5y.png"/>
          <p:cNvPicPr>
            <a:picLocks noChangeAspect="1"/>
          </p:cNvPicPr>
          <p:nvPr/>
        </p:nvPicPr>
        <p:blipFill>
          <a:blip r:embed="rId5"/>
          <a:stretch>
            <a:fillRect/>
          </a:stretch>
        </p:blipFill>
        <p:spPr>
          <a:xfrm>
            <a:off x="5040000" y="1224000"/>
            <a:ext cx="4464000" cy="1595293"/>
          </a:xfrm>
          <a:prstGeom prst="rect">
            <a:avLst/>
          </a:prstGeom>
        </p:spPr>
      </p:pic>
      <p:sp>
        <p:nvSpPr>
          <p:cNvPr id="6" name="Rounded Rectangle 5"/>
          <p:cNvSpPr/>
          <p:nvPr/>
        </p:nvSpPr>
        <p:spPr>
          <a:xfrm>
            <a:off x="396000"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① OCは5年連続で7月ピーク</a:t>
            </a:r>
          </a:p>
          <a:p>
            <a:pPr algn="l">
              <a:lnSpc>
                <a:spcPct val="120000"/>
              </a:lnSpc>
              <a:spcAft>
                <a:spcPts val="200"/>
              </a:spcAft>
            </a:pPr>
            <a:r>
              <a:rPr sz="1100">
                <a:solidFill>
                  <a:srgbClr val="1C2233"/>
                </a:solidFill>
                <a:latin typeface="メイリオ"/>
                <a:ea typeface="メイリオ"/>
                <a:cs typeface="メイリオ"/>
              </a:rPr>
              <a:t>2022→2026年の7月値は 100 / 94 / 80 / 85 / 90。</a:t>
            </a:r>
          </a:p>
          <a:p>
            <a:pPr algn="l">
              <a:lnSpc>
                <a:spcPct val="120000"/>
              </a:lnSpc>
              <a:spcAft>
                <a:spcPts val="200"/>
              </a:spcAft>
            </a:pPr>
            <a:r>
              <a:rPr sz="1100">
                <a:solidFill>
                  <a:srgbClr val="1C2233"/>
                </a:solidFill>
                <a:latin typeface="メイリオ"/>
                <a:ea typeface="メイリオ"/>
                <a:cs typeface="メイリオ"/>
              </a:rPr>
              <a:t>谷は12〜1月（3〜5）でピークの約1/20。</a:t>
            </a:r>
          </a:p>
          <a:p>
            <a:pPr algn="l">
              <a:lnSpc>
                <a:spcPct val="120000"/>
              </a:lnSpc>
              <a:spcAft>
                <a:spcPts val="200"/>
              </a:spcAft>
            </a:pPr>
            <a:r>
              <a:rPr sz="1100">
                <a:solidFill>
                  <a:srgbClr val="1C2233"/>
                </a:solidFill>
                <a:latin typeface="メイリオ"/>
                <a:ea typeface="メイリオ"/>
                <a:cs typeface="メイリオ"/>
              </a:rPr>
              <a:t>形が変わらない＝毎年同じ日程で仕込める。</a:t>
            </a:r>
          </a:p>
        </p:txBody>
      </p:sp>
      <p:sp>
        <p:nvSpPr>
          <p:cNvPr id="7" name="Rounded Rectangle 6"/>
          <p:cNvSpPr/>
          <p:nvPr/>
        </p:nvSpPr>
        <p:spPr>
          <a:xfrm>
            <a:off x="3491999" y="3168000"/>
            <a:ext cx="2951999"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② 総合型選抜 5年で3.3倍</a:t>
            </a:r>
          </a:p>
          <a:p>
            <a:pPr algn="l">
              <a:lnSpc>
                <a:spcPct val="120000"/>
              </a:lnSpc>
              <a:spcAft>
                <a:spcPts val="200"/>
              </a:spcAft>
            </a:pPr>
            <a:r>
              <a:rPr sz="1100">
                <a:solidFill>
                  <a:srgbClr val="1C2233"/>
                </a:solidFill>
                <a:latin typeface="メイリオ"/>
                <a:ea typeface="メイリオ"/>
                <a:cs typeface="メイリオ"/>
              </a:rPr>
              <a:t>9月値の比較：総合型 30 → 100（3.3倍・5年連続増）。</a:t>
            </a:r>
          </a:p>
          <a:p>
            <a:pPr algn="l">
              <a:lnSpc>
                <a:spcPct val="120000"/>
              </a:lnSpc>
              <a:spcAft>
                <a:spcPts val="200"/>
              </a:spcAft>
            </a:pPr>
            <a:r>
              <a:rPr sz="1100">
                <a:solidFill>
                  <a:srgbClr val="1C2233"/>
                </a:solidFill>
                <a:latin typeface="メイリオ"/>
                <a:ea typeface="メイリオ"/>
                <a:cs typeface="メイリオ"/>
              </a:rPr>
              <a:t>指定校推薦は 64 → 57（▲11%）で横ばい。</a:t>
            </a:r>
          </a:p>
          <a:p>
            <a:pPr algn="l">
              <a:lnSpc>
                <a:spcPct val="120000"/>
              </a:lnSpc>
              <a:spcAft>
                <a:spcPts val="200"/>
              </a:spcAft>
            </a:pPr>
            <a:r>
              <a:rPr sz="1100">
                <a:solidFill>
                  <a:srgbClr val="1C2233"/>
                </a:solidFill>
                <a:latin typeface="メイリオ"/>
                <a:ea typeface="メイリオ"/>
                <a:cs typeface="メイリオ"/>
              </a:rPr>
              <a:t>2023年9月に逆転し、いまは総合型が1.75倍。</a:t>
            </a:r>
          </a:p>
        </p:txBody>
      </p:sp>
      <p:sp>
        <p:nvSpPr>
          <p:cNvPr id="8" name="Rounded Rectangle 7"/>
          <p:cNvSpPr/>
          <p:nvPr/>
        </p:nvSpPr>
        <p:spPr>
          <a:xfrm>
            <a:off x="6588000"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③ 専門学校は年中フラット</a:t>
            </a:r>
          </a:p>
          <a:p>
            <a:pPr algn="l">
              <a:lnSpc>
                <a:spcPct val="120000"/>
              </a:lnSpc>
              <a:spcAft>
                <a:spcPts val="200"/>
              </a:spcAft>
            </a:pPr>
            <a:r>
              <a:rPr sz="1100">
                <a:solidFill>
                  <a:srgbClr val="1C2233"/>
                </a:solidFill>
                <a:latin typeface="メイリオ"/>
                <a:ea typeface="メイリオ"/>
                <a:cs typeface="メイリオ"/>
              </a:rPr>
              <a:t>「専門学校」は5年間ずっと22〜40のレンジ。</a:t>
            </a:r>
          </a:p>
          <a:p>
            <a:pPr algn="l">
              <a:lnSpc>
                <a:spcPct val="120000"/>
              </a:lnSpc>
              <a:spcAft>
                <a:spcPts val="200"/>
              </a:spcAft>
            </a:pPr>
            <a:r>
              <a:rPr sz="1100">
                <a:solidFill>
                  <a:srgbClr val="1C2233"/>
                </a:solidFill>
                <a:latin typeface="メイリオ"/>
                <a:ea typeface="メイリオ"/>
                <a:cs typeface="メイリオ"/>
              </a:rPr>
              <a:t>大学（夏に集中）とは需要曲線がまったく違う。</a:t>
            </a:r>
          </a:p>
          <a:p>
            <a:pPr algn="l">
              <a:lnSpc>
                <a:spcPct val="120000"/>
              </a:lnSpc>
              <a:spcAft>
                <a:spcPts val="200"/>
              </a:spcAft>
            </a:pPr>
            <a:r>
              <a:rPr sz="1100">
                <a:solidFill>
                  <a:srgbClr val="1C2233"/>
                </a:solidFill>
                <a:latin typeface="メイリオ"/>
                <a:ea typeface="メイリオ"/>
                <a:cs typeface="メイリオ"/>
              </a:rPr>
              <a:t>→ 大学と専門学校は別の配信設計が要る。</a:t>
            </a:r>
          </a:p>
        </p:txBody>
      </p:sp>
      <p:sp>
        <p:nvSpPr>
          <p:cNvPr id="9" name="TextBox 8"/>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出典：Googleトレンド（日本・ウェブ検索・2021/9〜2026/9・2026-09-15取得）。2026年9月は月途中（9/15まで）の参考値。</a:t>
            </a:r>
          </a:p>
          <a:p>
            <a:pPr algn="l">
              <a:lnSpc>
                <a:spcPct val="120000"/>
              </a:lnSpc>
            </a:pPr>
            <a:r>
              <a:rPr sz="900">
                <a:solidFill>
                  <a:srgbClr val="646C82"/>
                </a:solidFill>
                <a:latin typeface="メイリオ"/>
                <a:ea typeface="メイリオ"/>
                <a:cs typeface="メイリオ"/>
              </a:rPr>
              <a:t>※ 「共通テスト」は1月に100・他月は10以下と桁が違うため、同一グラフに混ぜていない（混ぜると小さい方が潰れる）。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年間の配信設計マトリクス（時期 × 対象 × 訴求 × CV）</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需要の波と入試日程が動かせない業界。時期ごとに「誰に・何を言い・どこへ着地させるか」を先に決める。</a:t>
            </a:r>
          </a:p>
        </p:txBody>
      </p:sp>
      <p:graphicFrame>
        <p:nvGraphicFramePr>
          <p:cNvPr id="4" name="Table 3"/>
          <p:cNvGraphicFramePr>
            <a:graphicFrameLocks noGrp="1"/>
          </p:cNvGraphicFramePr>
          <p:nvPr/>
        </p:nvGraphicFramePr>
        <p:xfrm>
          <a:off x="396000" y="1224000"/>
          <a:ext cx="9143999" cy="3780000"/>
        </p:xfrm>
        <a:graphic>
          <a:graphicData uri="http://schemas.openxmlformats.org/drawingml/2006/table">
            <a:tbl>
              <a:tblPr firstRow="1" bandRow="1">
                <a:tableStyleId>{5C22544A-7EE6-4342-B048-85BDC9FD1C3A}</a:tableStyleId>
              </a:tblPr>
              <a:tblGrid>
                <a:gridCol w="1080000"/>
                <a:gridCol w="2664000"/>
                <a:gridCol w="3384000"/>
                <a:gridCol w="2015999"/>
              </a:tblGrid>
              <a:tr h="540000">
                <a:tc>
                  <a:txBody>
                    <a:bodyPr wrap="square" lIns="50400" rIns="50400" tIns="10800" bIns="10800" anchor="ctr"/>
                    <a:lstStyle/>
                    <a:p>
                      <a:pPr algn="ctr"/>
                      <a:r>
                        <a:rPr sz="1200" b="1">
                          <a:solidFill>
                            <a:srgbClr val="FFFFFF"/>
                          </a:solidFill>
                          <a:latin typeface="メイリオ"/>
                          <a:ea typeface="メイリオ"/>
                          <a:cs typeface="メイリオ"/>
                        </a:rPr>
                        <a:t>時期</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対象（学年・状態）</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着地させるCV</a:t>
                      </a:r>
                    </a:p>
                  </a:txBody>
                  <a:tcPr anchor="ctr">
                    <a:solidFill>
                      <a:srgbClr val="1F285A"/>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3〜4月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新高2・新高3／進路意識が立ち上がる層</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「まだ決まっていなくていい」30秒 学部学科診断</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友だち追加・診断完了【CV①】</a:t>
                      </a:r>
                    </a:p>
                  </a:txBody>
                  <a:tcPr anchor="ctr">
                    <a:solidFill>
                      <a:srgbClr val="FFFFFF"/>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5月下旬〜6月</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高3／OC検索が動き出す層　※検索実測：5/25週</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OC日程の先行案内・1人参加OK・当日の流れ</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オープンキャンパス予約【CV②】</a:t>
                      </a:r>
                    </a:p>
                  </a:txBody>
                  <a:tcPr anchor="ctr">
                    <a:solidFill>
                      <a:srgbClr val="F4F7FF"/>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7〜8月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OC予約者・参加者</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前日リマインド／参加後アンケート／学部の深掘り</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OC参加・再訪【CV②】</a:t>
                      </a:r>
                    </a:p>
                  </a:txBody>
                  <a:tcPr anchor="ctr">
                    <a:solidFill>
                      <a:srgbClr val="FFFFFF"/>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9〜11月</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OC参加者・年内入試層　※総合型9/1・学校推薦型11/1</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志望理由書の書き方・面接10問・締切カウントダウン</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出願【CV③】</a:t>
                      </a:r>
                    </a:p>
                  </a:txBody>
                  <a:tcPr anchor="ctr">
                    <a:solidFill>
                      <a:srgbClr val="F4F7FF"/>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12〜2月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一般選抜層・併願検討層　※共通テスト1月中旬</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入試方式の違い・過去問・入試説明会</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出願【CV③】</a:t>
                      </a:r>
                    </a:p>
                  </a:txBody>
                  <a:tcPr anchor="ctr">
                    <a:solidFill>
                      <a:srgbClr val="FFFFFF"/>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2〜3月</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合格者・入学手続前</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入学前オリエンテーション・先輩との交流・一人暮らし準備</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入学手続【CV③】・定着</a:t>
                      </a:r>
                    </a:p>
                  </a:txBody>
                  <a:tcPr anchor="ctr">
                    <a:solidFill>
                      <a:srgbClr val="F4F7FF"/>
                    </a:solidFill>
                  </a:tcPr>
                </a:tc>
              </a:tr>
            </a:tbl>
          </a:graphicData>
        </a:graphic>
      </p:graphicFrame>
      <p:sp>
        <p:nvSpPr>
          <p:cNvPr id="5" name="TextBox 4"/>
          <p:cNvSpPr txBox="1"/>
          <p:nvPr/>
        </p:nvSpPr>
        <p:spPr>
          <a:xfrm>
            <a:off x="396000" y="5950800"/>
            <a:ext cx="9144000" cy="7056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時期の根拠：Googleトレンド実測（2026-09-15取得）＋文部科学省「大学入学者選抜実施要項」。</a:t>
            </a:r>
          </a:p>
          <a:p>
            <a:pPr algn="l">
              <a:lnSpc>
                <a:spcPct val="120000"/>
              </a:lnSpc>
            </a:pPr>
            <a:r>
              <a:rPr sz="900">
                <a:solidFill>
                  <a:srgbClr val="646C82"/>
                </a:solidFill>
                <a:latin typeface="メイリオ"/>
                <a:ea typeface="メイリオ"/>
                <a:cs typeface="メイリオ"/>
              </a:rPr>
              <a:t>※ 専門学校はAOエントリー6/1・出願10/1解禁（全国専修学校各種学校総連合会の申し合わせ・要確認）のため、上記より前倒しになる。</a:t>
            </a:r>
          </a:p>
          <a:p>
            <a:pPr algn="l">
              <a:lnSpc>
                <a:spcPct val="120000"/>
              </a:lnSpc>
            </a:pPr>
            <a:r>
              <a:rPr sz="900">
                <a:solidFill>
                  <a:srgbClr val="646C82"/>
                </a:solidFill>
                <a:latin typeface="メイリオ"/>
                <a:ea typeface="メイリオ"/>
                <a:cs typeface="メイリオ"/>
              </a:rPr>
              <a:t>※ 各時期の広告単価・CVRは貴学の実績値で埋める（進学領域の公開統計は存在しない）。</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前後検索｜検討は「偏差値」で動く。オープンキャンパスは「後」に来る</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LINEヤフー media Journey の実データ。0日前後の密集帯は、ほぼ全部「大学名＋偏差値」だった。</a:t>
            </a:r>
          </a:p>
          <a:p>
            <a:pPr algn="l">
              <a:lnSpc>
                <a:spcPct val="122000"/>
              </a:lnSpc>
            </a:pPr>
            <a:r>
              <a:rPr sz="1500">
                <a:solidFill>
                  <a:srgbClr val="646C82"/>
                </a:solidFill>
                <a:latin typeface="メイリオ"/>
                <a:ea typeface="メイリオ"/>
                <a:cs typeface="メイリオ"/>
              </a:rPr>
              <a:t>学部でも、やりたいことでもない。</a:t>
            </a:r>
          </a:p>
        </p:txBody>
      </p:sp>
      <p:sp>
        <p:nvSpPr>
          <p:cNvPr id="4" name="Rounded Rectangle 3"/>
          <p:cNvSpPr/>
          <p:nvPr/>
        </p:nvSpPr>
        <p:spPr>
          <a:xfrm>
            <a:off x="396000" y="1224000"/>
            <a:ext cx="2951999" cy="2736000"/>
          </a:xfrm>
          <a:prstGeom prst="roundRect">
            <a:avLst>
              <a:gd name="adj" fmla="val 6000"/>
            </a:avLst>
          </a:prstGeom>
          <a:solidFill>
            <a:srgbClr val="F2F2F2"/>
          </a:solidFill>
          <a:ln w="15875">
            <a:solidFill>
              <a:srgbClr val="1C2233"/>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2000" bIns="43200"/>
          <a:lstStyle/>
          <a:p>
            <a:pPr algn="ctr">
              <a:spcAft>
                <a:spcPts val="300"/>
              </a:spcAft>
            </a:pPr>
            <a:r>
              <a:rPr sz="1200" b="1">
                <a:solidFill>
                  <a:srgbClr val="1C2233"/>
                </a:solidFill>
                <a:latin typeface="メイリオ"/>
                <a:ea typeface="メイリオ"/>
                <a:cs typeface="メイリオ"/>
              </a:rPr>
              <a:t>検索前（−15〜−4日）</a:t>
            </a:r>
          </a:p>
          <a:p>
            <a:pPr algn="ctr">
              <a:spcAft>
                <a:spcPts val="700"/>
              </a:spcAft>
            </a:pPr>
            <a:r>
              <a:rPr sz="1100" b="1">
                <a:solidFill>
                  <a:srgbClr val="1C2233"/>
                </a:solidFill>
                <a:latin typeface="メイリオ"/>
                <a:ea typeface="メイリオ"/>
                <a:cs typeface="メイリオ"/>
              </a:rPr>
              <a:t>上位〜中位の大学名</a:t>
            </a:r>
          </a:p>
          <a:p>
            <a:pPr algn="l">
              <a:lnSpc>
                <a:spcPct val="130000"/>
              </a:lnSpc>
              <a:spcAft>
                <a:spcPts val="200"/>
              </a:spcAft>
            </a:pPr>
            <a:r>
              <a:rPr sz="1050">
                <a:solidFill>
                  <a:srgbClr val="1C2233"/>
                </a:solidFill>
                <a:latin typeface="メイリオ"/>
                <a:ea typeface="メイリオ"/>
                <a:cs typeface="メイリオ"/>
              </a:rPr>
              <a:t>・東洋大学／立教大学／中央大学／明治大学</a:t>
            </a:r>
          </a:p>
          <a:p>
            <a:pPr algn="l">
              <a:lnSpc>
                <a:spcPct val="130000"/>
              </a:lnSpc>
              <a:spcAft>
                <a:spcPts val="200"/>
              </a:spcAft>
            </a:pPr>
            <a:r>
              <a:rPr sz="1050">
                <a:solidFill>
                  <a:srgbClr val="1C2233"/>
                </a:solidFill>
                <a:latin typeface="メイリオ"/>
                <a:ea typeface="メイリオ"/>
                <a:cs typeface="メイリオ"/>
              </a:rPr>
              <a:t>・明治学院大学／學習院大學／成蹊大学</a:t>
            </a:r>
          </a:p>
          <a:p>
            <a:pPr algn="l">
              <a:lnSpc>
                <a:spcPct val="130000"/>
              </a:lnSpc>
              <a:spcAft>
                <a:spcPts val="200"/>
              </a:spcAft>
            </a:pPr>
            <a:r>
              <a:rPr sz="1050">
                <a:solidFill>
                  <a:srgbClr val="1C2233"/>
                </a:solidFill>
                <a:latin typeface="メイリオ"/>
                <a:ea typeface="メイリオ"/>
                <a:cs typeface="メイリオ"/>
              </a:rPr>
              <a:t>・日東駒専／法政大学 偏差値／駒澤大学 偏差値</a:t>
            </a:r>
          </a:p>
          <a:p>
            <a:pPr algn="l">
              <a:lnSpc>
                <a:spcPct val="130000"/>
              </a:lnSpc>
              <a:spcAft>
                <a:spcPts val="200"/>
              </a:spcAft>
            </a:pPr>
            <a:r>
              <a:rPr sz="1050">
                <a:solidFill>
                  <a:srgbClr val="1C2233"/>
                </a:solidFill>
                <a:latin typeface="メイリオ"/>
                <a:ea typeface="メイリオ"/>
                <a:cs typeface="メイリオ"/>
              </a:rPr>
              <a:t>・成成明学 序列／オープンキャンパス 東京</a:t>
            </a:r>
          </a:p>
        </p:txBody>
      </p:sp>
      <p:sp>
        <p:nvSpPr>
          <p:cNvPr id="5" name="Rounded Rectangle 4"/>
          <p:cNvSpPr/>
          <p:nvPr/>
        </p:nvSpPr>
        <p:spPr>
          <a:xfrm>
            <a:off x="3491999" y="1224000"/>
            <a:ext cx="2951999" cy="2736000"/>
          </a:xfrm>
          <a:prstGeom prst="roundRect">
            <a:avLst>
              <a:gd name="adj" fmla="val 6000"/>
            </a:avLst>
          </a:prstGeom>
          <a:solidFill>
            <a:srgbClr val="FCE4D6"/>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2000" bIns="43200"/>
          <a:lstStyle/>
          <a:p>
            <a:pPr algn="ctr">
              <a:spcAft>
                <a:spcPts val="300"/>
              </a:spcAft>
            </a:pPr>
            <a:r>
              <a:rPr sz="1200" b="1">
                <a:solidFill>
                  <a:srgbClr val="ED7D31"/>
                </a:solidFill>
                <a:latin typeface="メイリオ"/>
                <a:ea typeface="メイリオ"/>
                <a:cs typeface="メイリオ"/>
              </a:rPr>
              <a:t>0日（起点付近）</a:t>
            </a:r>
          </a:p>
          <a:p>
            <a:pPr algn="ctr">
              <a:spcAft>
                <a:spcPts val="700"/>
              </a:spcAft>
            </a:pPr>
            <a:r>
              <a:rPr sz="1100" b="1">
                <a:solidFill>
                  <a:srgbClr val="1C2233"/>
                </a:solidFill>
                <a:latin typeface="メイリオ"/>
                <a:ea typeface="メイリオ"/>
                <a:cs typeface="メイリオ"/>
              </a:rPr>
              <a:t>中堅〜下位の大学名＋偏差値</a:t>
            </a:r>
          </a:p>
          <a:p>
            <a:pPr algn="l">
              <a:lnSpc>
                <a:spcPct val="130000"/>
              </a:lnSpc>
              <a:spcAft>
                <a:spcPts val="200"/>
              </a:spcAft>
            </a:pPr>
            <a:r>
              <a:rPr sz="1050">
                <a:solidFill>
                  <a:srgbClr val="1C2233"/>
                </a:solidFill>
                <a:latin typeface="メイリオ"/>
                <a:ea typeface="メイリオ"/>
                <a:cs typeface="メイリオ"/>
              </a:rPr>
              <a:t>・東京国際大学 偏差値／亜細亜大学</a:t>
            </a:r>
          </a:p>
          <a:p>
            <a:pPr algn="l">
              <a:lnSpc>
                <a:spcPct val="130000"/>
              </a:lnSpc>
              <a:spcAft>
                <a:spcPts val="200"/>
              </a:spcAft>
            </a:pPr>
            <a:r>
              <a:rPr sz="1050">
                <a:solidFill>
                  <a:srgbClr val="1C2233"/>
                </a:solidFill>
                <a:latin typeface="メイリオ"/>
                <a:ea typeface="メイリオ"/>
                <a:cs typeface="メイリオ"/>
              </a:rPr>
              <a:t>・帝京平成大学／東京経済大学／駿河台大学</a:t>
            </a:r>
          </a:p>
          <a:p>
            <a:pPr algn="l">
              <a:lnSpc>
                <a:spcPct val="130000"/>
              </a:lnSpc>
              <a:spcAft>
                <a:spcPts val="200"/>
              </a:spcAft>
            </a:pPr>
            <a:r>
              <a:rPr sz="1050">
                <a:solidFill>
                  <a:srgbClr val="1C2233"/>
                </a:solidFill>
                <a:latin typeface="メイリオ"/>
                <a:ea typeface="メイリオ"/>
                <a:cs typeface="メイリオ"/>
              </a:rPr>
              <a:t>・大東亜帝国／共栄大学／聖学院大学</a:t>
            </a:r>
          </a:p>
          <a:p>
            <a:pPr algn="l">
              <a:lnSpc>
                <a:spcPct val="130000"/>
              </a:lnSpc>
              <a:spcAft>
                <a:spcPts val="200"/>
              </a:spcAft>
            </a:pPr>
            <a:r>
              <a:rPr sz="1050">
                <a:solidFill>
                  <a:srgbClr val="1C2233"/>
                </a:solidFill>
                <a:latin typeface="メイリオ"/>
                <a:ea typeface="メイリオ"/>
                <a:cs typeface="メイリオ"/>
              </a:rPr>
              <a:t>・定員割れの大学一覧（−2日）</a:t>
            </a:r>
          </a:p>
        </p:txBody>
      </p:sp>
      <p:sp>
        <p:nvSpPr>
          <p:cNvPr id="6" name="Rounded Rectangle 5"/>
          <p:cNvSpPr/>
          <p:nvPr/>
        </p:nvSpPr>
        <p:spPr>
          <a:xfrm>
            <a:off x="6588000" y="1224000"/>
            <a:ext cx="2951999" cy="2736000"/>
          </a:xfrm>
          <a:prstGeom prst="roundRect">
            <a:avLst>
              <a:gd name="adj" fmla="val 6000"/>
            </a:avLst>
          </a:prstGeom>
          <a:solidFill>
            <a:srgbClr val="F4F7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2000" bIns="43200"/>
          <a:lstStyle/>
          <a:p>
            <a:pPr algn="ctr">
              <a:spcAft>
                <a:spcPts val="300"/>
              </a:spcAft>
            </a:pPr>
            <a:r>
              <a:rPr sz="1200" b="1">
                <a:solidFill>
                  <a:srgbClr val="1F285A"/>
                </a:solidFill>
                <a:latin typeface="メイリオ"/>
                <a:ea typeface="メイリオ"/>
                <a:cs typeface="メイリオ"/>
              </a:rPr>
              <a:t>検索後（+1〜+15日）</a:t>
            </a:r>
          </a:p>
          <a:p>
            <a:pPr algn="ctr">
              <a:spcAft>
                <a:spcPts val="700"/>
              </a:spcAft>
            </a:pPr>
            <a:r>
              <a:rPr sz="1100" b="1">
                <a:solidFill>
                  <a:srgbClr val="1C2233"/>
                </a:solidFill>
                <a:latin typeface="メイリオ"/>
                <a:ea typeface="メイリオ"/>
                <a:cs typeface="メイリオ"/>
              </a:rPr>
              <a:t>オープンキャンパス・学部・キャンパス</a:t>
            </a:r>
          </a:p>
          <a:p>
            <a:pPr algn="l">
              <a:lnSpc>
                <a:spcPct val="130000"/>
              </a:lnSpc>
              <a:spcAft>
                <a:spcPts val="200"/>
              </a:spcAft>
            </a:pPr>
            <a:r>
              <a:rPr sz="1050">
                <a:solidFill>
                  <a:srgbClr val="1C2233"/>
                </a:solidFill>
                <a:latin typeface="メイリオ"/>
                <a:ea typeface="メイリオ"/>
                <a:cs typeface="メイリオ"/>
              </a:rPr>
              <a:t>・東洋大学 オープンキャンパス2025</a:t>
            </a:r>
          </a:p>
          <a:p>
            <a:pPr algn="l">
              <a:lnSpc>
                <a:spcPct val="130000"/>
              </a:lnSpc>
              <a:spcAft>
                <a:spcPts val="200"/>
              </a:spcAft>
            </a:pPr>
            <a:r>
              <a:rPr sz="1050">
                <a:solidFill>
                  <a:srgbClr val="1C2233"/>
                </a:solidFill>
                <a:latin typeface="メイリオ"/>
                <a:ea typeface="メイリオ"/>
                <a:cs typeface="メイリオ"/>
              </a:rPr>
              <a:t>・成蹊大学・日本大学 オープンキャンパス</a:t>
            </a:r>
          </a:p>
          <a:p>
            <a:pPr algn="l">
              <a:lnSpc>
                <a:spcPct val="130000"/>
              </a:lnSpc>
              <a:spcAft>
                <a:spcPts val="200"/>
              </a:spcAft>
            </a:pPr>
            <a:r>
              <a:rPr sz="1050">
                <a:solidFill>
                  <a:srgbClr val="1C2233"/>
                </a:solidFill>
                <a:latin typeface="メイリオ"/>
                <a:ea typeface="メイリオ"/>
                <a:cs typeface="メイリオ"/>
              </a:rPr>
              <a:t>・東洋大学 学部／専修大学 生田キャンパス</a:t>
            </a:r>
          </a:p>
          <a:p>
            <a:pPr algn="l">
              <a:lnSpc>
                <a:spcPct val="130000"/>
              </a:lnSpc>
              <a:spcAft>
                <a:spcPts val="200"/>
              </a:spcAft>
            </a:pPr>
            <a:r>
              <a:rPr sz="1050">
                <a:solidFill>
                  <a:srgbClr val="1C2233"/>
                </a:solidFill>
                <a:latin typeface="メイリオ"/>
                <a:ea typeface="メイリオ"/>
                <a:cs typeface="メイリオ"/>
              </a:rPr>
              <a:t>・城西大学駅伝部／国士舘大学 野球部（スポーツ推薦の導線）</a:t>
            </a:r>
          </a:p>
        </p:txBody>
      </p:sp>
      <p:sp>
        <p:nvSpPr>
          <p:cNvPr id="7" name="Rounded Rectangle 6"/>
          <p:cNvSpPr/>
          <p:nvPr/>
        </p:nvSpPr>
        <p:spPr>
          <a:xfrm>
            <a:off x="522000" y="3491999"/>
            <a:ext cx="2700000" cy="36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2000" y="3491999"/>
            <a:ext cx="2700000" cy="360000"/>
          </a:xfrm>
          <a:prstGeom prst="rect">
            <a:avLst/>
          </a:prstGeom>
          <a:noFill/>
        </p:spPr>
        <p:txBody>
          <a:bodyPr wrap="square" lIns="0" rIns="0" tIns="21600" bIns="21600" anchor="ctr">
            <a:spAutoFit/>
          </a:bodyPr>
          <a:lstStyle/>
          <a:p>
            <a:pPr algn="ctr"/>
            <a:r>
              <a:rPr sz="1200" b="1">
                <a:solidFill>
                  <a:srgbClr val="FFFFFF"/>
                </a:solidFill>
                <a:latin typeface="メイリオ"/>
                <a:ea typeface="メイリオ"/>
                <a:cs typeface="メイリオ"/>
              </a:rPr>
              <a:t>▶ 仕掛けるのはここ（友だち化）</a:t>
            </a:r>
          </a:p>
        </p:txBody>
      </p:sp>
      <p:sp>
        <p:nvSpPr>
          <p:cNvPr id="9" name="Rounded Rectangle 8"/>
          <p:cNvSpPr/>
          <p:nvPr/>
        </p:nvSpPr>
        <p:spPr>
          <a:xfrm>
            <a:off x="396000" y="4104000"/>
            <a:ext cx="4464000" cy="129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① 志望校は「下方修正の過程」で決まる</a:t>
            </a:r>
          </a:p>
          <a:p>
            <a:pPr algn="l">
              <a:lnSpc>
                <a:spcPct val="120000"/>
              </a:lnSpc>
              <a:spcAft>
                <a:spcPts val="200"/>
              </a:spcAft>
            </a:pPr>
            <a:r>
              <a:rPr sz="1100">
                <a:solidFill>
                  <a:srgbClr val="1C2233"/>
                </a:solidFill>
                <a:latin typeface="メイリオ"/>
                <a:ea typeface="メイリオ"/>
                <a:cs typeface="メイリオ"/>
              </a:rPr>
              <a:t>−7日＝MARCH・成成明学 → 0日＝大東亜帝国・地方中小私大。</a:t>
            </a:r>
          </a:p>
          <a:p>
            <a:pPr algn="l">
              <a:lnSpc>
                <a:spcPct val="120000"/>
              </a:lnSpc>
              <a:spcAft>
                <a:spcPts val="200"/>
              </a:spcAft>
            </a:pPr>
            <a:r>
              <a:rPr sz="1100">
                <a:solidFill>
                  <a:srgbClr val="1C2233"/>
                </a:solidFill>
                <a:latin typeface="メイリオ"/>
                <a:ea typeface="メイリオ"/>
                <a:cs typeface="メイリオ"/>
              </a:rPr>
              <a:t>時間が経つほど偏差値帯が下がっていく。上から順に降りてきている。</a:t>
            </a:r>
          </a:p>
        </p:txBody>
      </p:sp>
      <p:sp>
        <p:nvSpPr>
          <p:cNvPr id="10" name="Rounded Rectangle 9"/>
          <p:cNvSpPr/>
          <p:nvPr/>
        </p:nvSpPr>
        <p:spPr>
          <a:xfrm>
            <a:off x="5076000" y="4104000"/>
            <a:ext cx="4464000" cy="129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② OCは入口ではなく「絞り込み後の確認」</a:t>
            </a:r>
          </a:p>
          <a:p>
            <a:pPr algn="l">
              <a:lnSpc>
                <a:spcPct val="120000"/>
              </a:lnSpc>
              <a:spcAft>
                <a:spcPts val="200"/>
              </a:spcAft>
            </a:pPr>
            <a:r>
              <a:rPr sz="1100">
                <a:solidFill>
                  <a:srgbClr val="1C2233"/>
                </a:solidFill>
                <a:latin typeface="メイリオ"/>
                <a:ea typeface="メイリオ"/>
                <a:cs typeface="メイリオ"/>
              </a:rPr>
              <a:t>大学名のOC検索が立つのは +1〜+7日。</a:t>
            </a:r>
          </a:p>
          <a:p>
            <a:pPr algn="l">
              <a:lnSpc>
                <a:spcPct val="120000"/>
              </a:lnSpc>
              <a:spcAft>
                <a:spcPts val="200"/>
              </a:spcAft>
            </a:pPr>
            <a:r>
              <a:rPr sz="1100">
                <a:solidFill>
                  <a:srgbClr val="1C2233"/>
                </a:solidFill>
                <a:latin typeface="メイリオ"/>
                <a:ea typeface="メイリオ"/>
                <a:cs typeface="メイリオ"/>
              </a:rPr>
              <a:t>＝ OC予約を取る勝負は、偏差値で群に仕分けられる「前」に始まっている。</a:t>
            </a:r>
          </a:p>
        </p:txBody>
      </p:sp>
      <p:sp>
        <p:nvSpPr>
          <p:cNvPr id="11" name="TextBox 10"/>
          <p:cNvSpPr txBox="1"/>
          <p:nvPr/>
        </p:nvSpPr>
        <p:spPr>
          <a:xfrm>
            <a:off x="396000" y="5950800"/>
            <a:ext cx="9144000" cy="7056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出典：LINEヤフー media Journey（2026-09-15取得）。【起点KWが未確認。確定後に本ページを更新する】</a:t>
            </a:r>
          </a:p>
          <a:p>
            <a:pPr algn="l">
              <a:lnSpc>
                <a:spcPct val="120000"/>
              </a:lnSpc>
            </a:pPr>
            <a:r>
              <a:rPr sz="900">
                <a:solidFill>
                  <a:srgbClr val="646C82"/>
                </a:solidFill>
                <a:latin typeface="メイリオ"/>
                <a:ea typeface="メイリオ"/>
                <a:cs typeface="メイリオ"/>
              </a:rPr>
              <a:t>※ 地域は埼玉西部〜北部の高校生が中心（川越・所沢・大宮・春日部・熊谷・坂戸・東松山）＝通学圏が検討の主軸であることの裏付け。</a:t>
            </a:r>
          </a:p>
          <a:p>
            <a:pPr algn="l">
              <a:lnSpc>
                <a:spcPct val="120000"/>
              </a:lnSpc>
            </a:pPr>
            <a:r>
              <a:rPr sz="900">
                <a:solidFill>
                  <a:srgbClr val="646C82"/>
                </a:solidFill>
                <a:latin typeface="メイリオ"/>
                <a:ea typeface="メイリオ"/>
                <a:cs typeface="メイリオ"/>
              </a:rPr>
              <a:t>※ 競合実名を含むため、社外提示は学内確認のうえ。</a:t>
            </a: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前後検索（補足）｜学費・奨学金の検索は、決めた「後」に来る</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教育3業界（塾・通信制高校・大学）の前後検索で、同じ構造が確認できた。</a:t>
            </a:r>
          </a:p>
          <a:p>
            <a:pPr algn="l">
              <a:lnSpc>
                <a:spcPct val="122000"/>
              </a:lnSpc>
            </a:pPr>
            <a:r>
              <a:rPr sz="1500">
                <a:solidFill>
                  <a:srgbClr val="646C82"/>
                </a:solidFill>
                <a:latin typeface="メイリオ"/>
                <a:ea typeface="メイリオ"/>
                <a:cs typeface="メイリオ"/>
              </a:rPr>
              <a:t>＝ 入口の訴求を「安さ・学費」に置くと、届く前に終わる。</a:t>
            </a:r>
          </a:p>
        </p:txBody>
      </p:sp>
      <p:graphicFrame>
        <p:nvGraphicFramePr>
          <p:cNvPr id="4" name="Table 3"/>
          <p:cNvGraphicFramePr>
            <a:graphicFrameLocks noGrp="1"/>
          </p:cNvGraphicFramePr>
          <p:nvPr/>
        </p:nvGraphicFramePr>
        <p:xfrm>
          <a:off x="396000" y="1224000"/>
          <a:ext cx="9144000" cy="2448000"/>
        </p:xfrm>
        <a:graphic>
          <a:graphicData uri="http://schemas.openxmlformats.org/drawingml/2006/table">
            <a:tbl>
              <a:tblPr firstRow="1" bandRow="1">
                <a:tableStyleId>{5C22544A-7EE6-4342-B048-85BDC9FD1C3A}</a:tableStyleId>
              </a:tblPr>
              <a:tblGrid>
                <a:gridCol w="1296000"/>
                <a:gridCol w="1584000"/>
                <a:gridCol w="1944000"/>
                <a:gridCol w="4320000"/>
              </a:tblGrid>
              <a:tr h="612000">
                <a:tc>
                  <a:txBody>
                    <a:bodyPr wrap="square" lIns="50400" rIns="50400" tIns="10800" bIns="10800" anchor="ctr"/>
                    <a:lstStyle/>
                    <a:p>
                      <a:pPr algn="ctr"/>
                      <a:r>
                        <a:rPr sz="1200" b="1">
                          <a:solidFill>
                            <a:srgbClr val="FFFFFF"/>
                          </a:solidFill>
                          <a:latin typeface="メイリオ"/>
                          <a:ea typeface="メイリオ"/>
                          <a:cs typeface="メイリオ"/>
                        </a:rPr>
                        <a:t>業界</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起点KW</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お金の検索が立つ位置</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示唆</a:t>
                      </a:r>
                    </a:p>
                  </a:txBody>
                  <a:tcPr anchor="ctr">
                    <a:solidFill>
                      <a:srgbClr val="1F285A"/>
                    </a:solidFill>
                  </a:tcPr>
                </a:tc>
              </a:tr>
              <a:tr h="612000">
                <a:tc>
                  <a:txBody>
                    <a:bodyPr wrap="square" lIns="50400" rIns="50400" tIns="10800" bIns="10800" anchor="ctr"/>
                    <a:lstStyle/>
                    <a:p>
                      <a:pPr algn="ctr"/>
                      <a:r>
                        <a:rPr sz="1100">
                          <a:solidFill>
                            <a:srgbClr val="1C2233"/>
                          </a:solidFill>
                          <a:latin typeface="メイリオ"/>
                          <a:ea typeface="メイリオ"/>
                          <a:cs typeface="メイリオ"/>
                        </a:rPr>
                        <a:t>教育（塾）</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塾 費用</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+1.6日（決断の後）</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最初の問いは「いくら」ではなく「いつから」。関連度1位は「塾 いつから通わせる」4.98</a:t>
                      </a:r>
                    </a:p>
                  </a:txBody>
                  <a:tcPr anchor="ctr">
                    <a:solidFill>
                      <a:srgbClr val="FFFFFF"/>
                    </a:solidFill>
                  </a:tcPr>
                </a:tc>
              </a:tr>
              <a:tr h="612000">
                <a:tc>
                  <a:txBody>
                    <a:bodyPr wrap="square" lIns="50400" rIns="50400" tIns="10800" bIns="10800" anchor="ctr"/>
                    <a:lstStyle/>
                    <a:p>
                      <a:pPr algn="ctr"/>
                      <a:r>
                        <a:rPr sz="1100">
                          <a:solidFill>
                            <a:srgbClr val="1C2233"/>
                          </a:solidFill>
                          <a:latin typeface="メイリオ"/>
                          <a:ea typeface="メイリオ"/>
                          <a:cs typeface="メイリオ"/>
                        </a:rPr>
                        <a:t>通信制高校</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通信制高校</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学校名の直後（+1日以降）</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前半15日は学校選びですらない（不登校・起立性調節障害＝医療と心理の悩み）</a:t>
                      </a:r>
                    </a:p>
                  </a:txBody>
                  <a:tcPr anchor="ctr">
                    <a:solidFill>
                      <a:srgbClr val="F4F7FF"/>
                    </a:solidFill>
                  </a:tcPr>
                </a:tc>
              </a:tr>
              <a:tr h="612000">
                <a:tc>
                  <a:txBody>
                    <a:bodyPr wrap="square" lIns="50400" rIns="50400" tIns="10800" bIns="10800" anchor="ctr"/>
                    <a:lstStyle/>
                    <a:p>
                      <a:pPr algn="ctr"/>
                      <a:r>
                        <a:rPr sz="1100">
                          <a:solidFill>
                            <a:srgbClr val="1C2233"/>
                          </a:solidFill>
                          <a:latin typeface="メイリオ"/>
                          <a:ea typeface="メイリオ"/>
                          <a:cs typeface="メイリオ"/>
                        </a:rPr>
                        <a:t>大学</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（起点KW確認中）</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学校名を調べた後</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0日前後は「大学名＋偏差値」。学費は絞り込みの後に確認される</a:t>
                      </a:r>
                    </a:p>
                  </a:txBody>
                  <a:tcPr anchor="ctr">
                    <a:solidFill>
                      <a:srgbClr val="FFFFFF"/>
                    </a:solidFill>
                  </a:tcPr>
                </a:tc>
              </a:tr>
            </a:tbl>
          </a:graphicData>
        </a:graphic>
      </p:graphicFrame>
      <p:sp>
        <p:nvSpPr>
          <p:cNvPr id="5" name="Rounded Rectangle 4"/>
          <p:cNvSpPr/>
          <p:nvPr/>
        </p:nvSpPr>
        <p:spPr>
          <a:xfrm>
            <a:off x="396000" y="3528000"/>
            <a:ext cx="4464000" cy="180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打ち手：入口は「いつ・自分に合うか」で開く</a:t>
            </a:r>
          </a:p>
          <a:p>
            <a:pPr algn="l">
              <a:lnSpc>
                <a:spcPct val="120000"/>
              </a:lnSpc>
              <a:spcAft>
                <a:spcPts val="200"/>
              </a:spcAft>
            </a:pPr>
            <a:r>
              <a:rPr sz="1100">
                <a:solidFill>
                  <a:srgbClr val="1C2233"/>
                </a:solidFill>
                <a:latin typeface="メイリオ"/>
                <a:ea typeface="メイリオ"/>
                <a:cs typeface="メイリオ"/>
              </a:rPr>
              <a:t>入口＝30秒の学部学科診断（名前も電話番号も入力しない）。</a:t>
            </a:r>
          </a:p>
          <a:p>
            <a:pPr algn="l">
              <a:lnSpc>
                <a:spcPct val="120000"/>
              </a:lnSpc>
              <a:spcAft>
                <a:spcPts val="200"/>
              </a:spcAft>
            </a:pPr>
            <a:r>
              <a:rPr sz="1100">
                <a:solidFill>
                  <a:srgbClr val="1C2233"/>
                </a:solidFill>
                <a:latin typeface="メイリオ"/>
                <a:ea typeface="メイリオ"/>
                <a:cs typeface="メイリオ"/>
              </a:rPr>
              <a:t>学費・奨学金は、診断結果の「後半」に置く。</a:t>
            </a:r>
          </a:p>
          <a:p>
            <a:pPr algn="l">
              <a:lnSpc>
                <a:spcPct val="120000"/>
              </a:lnSpc>
              <a:spcAft>
                <a:spcPts val="200"/>
              </a:spcAft>
            </a:pPr>
            <a:r>
              <a:rPr sz="1100">
                <a:solidFill>
                  <a:srgbClr val="1C2233"/>
                </a:solidFill>
                <a:latin typeface="メイリオ"/>
                <a:ea typeface="メイリオ"/>
                <a:cs typeface="メイリオ"/>
              </a:rPr>
              <a:t>先に費用を出すと、比較の土俵に乗る前に離脱する。</a:t>
            </a:r>
          </a:p>
        </p:txBody>
      </p:sp>
      <p:sp>
        <p:nvSpPr>
          <p:cNvPr id="6" name="Rounded Rectangle 5"/>
          <p:cNvSpPr/>
          <p:nvPr/>
        </p:nvSpPr>
        <p:spPr>
          <a:xfrm>
            <a:off x="5076000" y="3528000"/>
            <a:ext cx="4464000" cy="18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ただし保護者には「先に」出す</a:t>
            </a:r>
          </a:p>
          <a:p>
            <a:pPr algn="l">
              <a:lnSpc>
                <a:spcPct val="120000"/>
              </a:lnSpc>
              <a:spcAft>
                <a:spcPts val="200"/>
              </a:spcAft>
            </a:pPr>
            <a:r>
              <a:rPr sz="1100">
                <a:solidFill>
                  <a:srgbClr val="1C2233"/>
                </a:solidFill>
                <a:latin typeface="メイリオ"/>
                <a:ea typeface="メイリオ"/>
                <a:cs typeface="メイリオ"/>
              </a:rPr>
              <a:t>この業界は決める人（高校生）と払う人（保護者）が違う。</a:t>
            </a:r>
          </a:p>
          <a:p>
            <a:pPr algn="l">
              <a:lnSpc>
                <a:spcPct val="120000"/>
              </a:lnSpc>
              <a:spcAft>
                <a:spcPts val="200"/>
              </a:spcAft>
            </a:pPr>
            <a:r>
              <a:rPr sz="1100">
                <a:solidFill>
                  <a:srgbClr val="1C2233"/>
                </a:solidFill>
                <a:latin typeface="メイリオ"/>
                <a:ea typeface="メイリオ"/>
                <a:cs typeface="メイリオ"/>
              </a:rPr>
              <a:t>リッチメニューの保護者タブは、左上に</a:t>
            </a:r>
          </a:p>
          <a:p>
            <a:pPr algn="l">
              <a:lnSpc>
                <a:spcPct val="120000"/>
              </a:lnSpc>
              <a:spcAft>
                <a:spcPts val="200"/>
              </a:spcAft>
            </a:pPr>
            <a:r>
              <a:rPr sz="1100">
                <a:solidFill>
                  <a:srgbClr val="1C2233"/>
                </a:solidFill>
                <a:latin typeface="メイリオ"/>
                <a:ea typeface="メイリオ"/>
                <a:cs typeface="メイリオ"/>
              </a:rPr>
              <a:t>「4年間の学費シミュレーション」を置く。順番が逆になる。</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本人には「合うか」を、保護者には「総額」を。同じアカウントで、出し分ける。</a:t>
            </a:r>
          </a:p>
        </p:txBody>
      </p:sp>
      <p:sp>
        <p:nvSpPr>
          <p:cNvPr id="10" name="TextBox 9"/>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出典：LINEヤフー media Journey（塾＝2026-09-15取得・起点「塾 費用」／通信制高校・大学＝2026-09-15取得）。</a:t>
            </a:r>
          </a:p>
          <a:p>
            <a:pPr algn="l">
              <a:lnSpc>
                <a:spcPct val="120000"/>
              </a:lnSpc>
            </a:pPr>
            <a:r>
              <a:rPr sz="900">
                <a:solidFill>
                  <a:srgbClr val="646C82"/>
                </a:solidFill>
                <a:latin typeface="メイリオ"/>
                <a:ea typeface="メイリオ"/>
                <a:cs typeface="メイリオ"/>
              </a:rPr>
              <a:t>※ 大学は起点KWが未確認。確定後に本ページの数値を更新する。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一般的な8フェーズを、学校法人（大学・専門学校）に当てはめるとこうなる。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④資料請求と⑤オープンキャンパス参加の間が最も落ちる。ここに「匿名で聞ける」入口を置く。</a:t>
            </a: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a:t>
            </a:r>
            <a:r>
              <a:rPr lang="ja-JP" altLang="en-US" sz="1100" b="1" dirty="0">
                <a:solidFill/>
                <a:latin typeface="メイリオ" panose="020B0604030504040204" pitchFamily="50" charset="-128"/>
                <a:ea typeface="メイリオ" panose="020B0604030504040204" pitchFamily="50" charset="-128"/>
              </a:rPr>
              <a:t>広告</a:t>
            </a:r>
            <a:r>
              <a:rPr lang="ja-JP" altLang="ja-JP" sz="1100" b="1" dirty="0">
                <a:solidFill/>
                <a:latin typeface="メイリオ" panose="020B0604030504040204" pitchFamily="50" charset="-128"/>
                <a:ea typeface="メイリオ" panose="020B0604030504040204" pitchFamily="50" charset="-128"/>
              </a:rPr>
              <a:t>接触</a:t>
            </a:r>
            <a:r>
              <a:rPr lang="ja-JP" altLang="ja-JP" sz="1050" b="1" dirty="0">
                <a:solidFill/>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050" b="1" dirty="0">
                <a:solidFill/>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a:t>
            </a:r>
            <a:r>
              <a:rPr lang="ja-JP" altLang="ja-JP" sz="1050" b="1" dirty="0">
                <a:solidFill/>
                <a:latin typeface="メイリオ" panose="020B0604030504040204" pitchFamily="50" charset="-128"/>
                <a:ea typeface="メイリオ" panose="020B0604030504040204" pitchFamily="50" charset="-128"/>
              </a:rPr>
              <a:t>（興味</a:t>
            </a:r>
            <a:r>
              <a:rPr lang="ja-JP" altLang="en-US" sz="1050" b="1" dirty="0">
                <a:solidFill/>
                <a:latin typeface="メイリオ" panose="020B0604030504040204" pitchFamily="50" charset="-128"/>
                <a:ea typeface="メイリオ" panose="020B0604030504040204" pitchFamily="50" charset="-128"/>
              </a:rPr>
              <a:t>喚起</a:t>
            </a:r>
            <a:r>
              <a:rPr lang="ja-JP" altLang="ja-JP" sz="1050" b="1" dirty="0">
                <a:solidFill/>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④資料請求・友だち追加(web/LINE)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学校法人（大学・専門学校）の場合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どの学校が自分に合うか分からない</a:t>
            </a:r>
          </a:p>
          <a:p>
            <a:r>
              <a:rPr sz="1200">
                <a:solidFill>
                  <a:srgbClr val="1C2233"/>
                </a:solidFill>
                <a:latin typeface="メイリオ"/>
                <a:ea typeface="メイリオ"/>
              </a:rPr>
              <a:t>まだ漠然。偏差値で調べている</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電話がかかってこないか不安</a:t>
            </a:r>
          </a:p>
          <a:p>
            <a:r>
              <a:rPr sz="1200">
                <a:solidFill>
                  <a:srgbClr val="1C2233"/>
                </a:solidFill>
                <a:latin typeface="メイリオ"/>
                <a:ea typeface="メイリオ"/>
              </a:rPr>
              <a:t>1人で行って大丈夫か知りたい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続かなかった過去がある</a:t>
            </a:r>
          </a:p>
          <a:p>
            <a:r>
              <a:rPr sz="1200">
                <a:solidFill>
                  <a:srgbClr val="BF4E0E"/>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匿名で聞けるなら動ける</a:t>
            </a:r>
          </a:p>
          <a:p>
            <a:r>
              <a:rPr sz="1200">
                <a:solidFill>
                  <a:srgbClr val="BF4E0E"/>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「迫りません」の一言で</a:t>
            </a:r>
          </a:p>
          <a:p>
            <a:r>
              <a:rPr sz="1200">
                <a:solidFill>
                  <a:srgbClr val="BF4E0E"/>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「見てもらえている感」が</a:t>
            </a:r>
          </a:p>
          <a:p>
            <a:r>
              <a:rPr sz="1200">
                <a:solidFill>
                  <a:srgbClr val="BF4E0E"/>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前後検索から導いた仕掛けどころ｜名前を調べられる前に友だちになる</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高校生が学校名を検索し始めた時点で、もう比較の土俵。そこで広告に出ても1校にしかなれない。</a:t>
            </a:r>
          </a:p>
          <a:p>
            <a:pPr algn="l">
              <a:lnSpc>
                <a:spcPct val="122000"/>
              </a:lnSpc>
            </a:pPr>
            <a:r>
              <a:rPr sz="1500">
                <a:solidFill>
                  <a:srgbClr val="646C82"/>
                </a:solidFill>
                <a:latin typeface="メイリオ"/>
                <a:ea typeface="メイリオ"/>
                <a:cs typeface="メイリオ"/>
              </a:rPr>
              <a:t>仕掛けるのは、偏差値で群に仕分けられる手前。</a:t>
            </a:r>
          </a:p>
        </p:txBody>
      </p:sp>
      <p:sp>
        <p:nvSpPr>
          <p:cNvPr id="4" name="Rectangle 3"/>
          <p:cNvSpPr/>
          <p:nvPr/>
        </p:nvSpPr>
        <p:spPr>
          <a:xfrm>
            <a:off x="612000" y="1908000"/>
            <a:ext cx="8712000" cy="39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2000" y="1908000"/>
            <a:ext cx="4007520" cy="396000"/>
          </a:xfrm>
          <a:prstGeom prst="rect">
            <a:avLst/>
          </a:prstGeom>
          <a:solidFill>
            <a:srgbClr val="F4F7FF"/>
          </a:solidFill>
          <a:ln w="15875">
            <a:solidFill>
              <a:srgbClr val="1F28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13440" y="1908000"/>
            <a:ext cx="3310560" cy="396000"/>
          </a:xfrm>
          <a:prstGeom prst="rect">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000" y="1972799"/>
            <a:ext cx="4007520" cy="288000"/>
          </a:xfrm>
          <a:prstGeom prst="rect">
            <a:avLst/>
          </a:prstGeom>
          <a:noFill/>
        </p:spPr>
        <p:txBody>
          <a:bodyPr wrap="square" lIns="0" rIns="0" tIns="21600" bIns="21600" anchor="ctr">
            <a:spAutoFit/>
          </a:bodyPr>
          <a:lstStyle/>
          <a:p>
            <a:pPr algn="ctr"/>
            <a:r>
              <a:rPr sz="1150" b="1">
                <a:solidFill>
                  <a:srgbClr val="1F285A"/>
                </a:solidFill>
                <a:latin typeface="メイリオ"/>
                <a:ea typeface="メイリオ"/>
                <a:cs typeface="メイリオ"/>
              </a:rPr>
              <a:t>学校名がまだ出てこない期間（＝ここが空白）</a:t>
            </a:r>
          </a:p>
        </p:txBody>
      </p:sp>
      <p:sp>
        <p:nvSpPr>
          <p:cNvPr id="8" name="TextBox 7"/>
          <p:cNvSpPr txBox="1"/>
          <p:nvPr/>
        </p:nvSpPr>
        <p:spPr>
          <a:xfrm>
            <a:off x="6013440" y="1972799"/>
            <a:ext cx="3310560" cy="288000"/>
          </a:xfrm>
          <a:prstGeom prst="rect">
            <a:avLst/>
          </a:prstGeom>
          <a:noFill/>
        </p:spPr>
        <p:txBody>
          <a:bodyPr wrap="square" lIns="0" rIns="0" tIns="21600" bIns="21600" anchor="ctr">
            <a:spAutoFit/>
          </a:bodyPr>
          <a:lstStyle/>
          <a:p>
            <a:pPr algn="ctr"/>
            <a:r>
              <a:rPr sz="1150" b="1">
                <a:solidFill>
                  <a:srgbClr val="ED7D31"/>
                </a:solidFill>
                <a:latin typeface="メイリオ"/>
                <a:ea typeface="メイリオ"/>
                <a:cs typeface="メイリオ"/>
              </a:rPr>
              <a:t>比較の土俵（もう1校にしかなれない）</a:t>
            </a:r>
          </a:p>
        </p:txBody>
      </p:sp>
      <p:sp>
        <p:nvSpPr>
          <p:cNvPr id="9" name="TextBox 8"/>
          <p:cNvSpPr txBox="1"/>
          <p:nvPr/>
        </p:nvSpPr>
        <p:spPr>
          <a:xfrm>
            <a:off x="216000" y="2347200"/>
            <a:ext cx="792000" cy="216000"/>
          </a:xfrm>
          <a:prstGeom prst="rect">
            <a:avLst/>
          </a:prstGeom>
          <a:noFill/>
        </p:spPr>
        <p:txBody>
          <a:bodyPr wrap="square" lIns="0" rIns="0" tIns="21600" bIns="21600" anchor="ctr">
            <a:spAutoFit/>
          </a:bodyPr>
          <a:lstStyle/>
          <a:p>
            <a:pPr algn="ctr"/>
            <a:r>
              <a:rPr sz="1050" b="1">
                <a:solidFill>
                  <a:srgbClr val="7F7F7F"/>
                </a:solidFill>
                <a:latin typeface="メイリオ"/>
                <a:ea typeface="メイリオ"/>
                <a:cs typeface="メイリオ"/>
              </a:rPr>
              <a:t>−15日</a:t>
            </a:r>
          </a:p>
        </p:txBody>
      </p:sp>
      <p:sp>
        <p:nvSpPr>
          <p:cNvPr id="10" name="TextBox 9"/>
          <p:cNvSpPr txBox="1"/>
          <p:nvPr/>
        </p:nvSpPr>
        <p:spPr>
          <a:xfrm>
            <a:off x="4223520" y="2347200"/>
            <a:ext cx="792000" cy="216000"/>
          </a:xfrm>
          <a:prstGeom prst="rect">
            <a:avLst/>
          </a:prstGeom>
          <a:noFill/>
        </p:spPr>
        <p:txBody>
          <a:bodyPr wrap="square" lIns="0" rIns="0" tIns="21600" bIns="21600" anchor="ctr">
            <a:spAutoFit/>
          </a:bodyPr>
          <a:lstStyle/>
          <a:p>
            <a:pPr algn="ctr"/>
            <a:r>
              <a:rPr sz="1050" b="1">
                <a:solidFill>
                  <a:srgbClr val="7F7F7F"/>
                </a:solidFill>
                <a:latin typeface="メイリオ"/>
                <a:ea typeface="メイリオ"/>
                <a:cs typeface="メイリオ"/>
              </a:rPr>
              <a:t>0日</a:t>
            </a:r>
          </a:p>
        </p:txBody>
      </p:sp>
      <p:sp>
        <p:nvSpPr>
          <p:cNvPr id="11" name="TextBox 10"/>
          <p:cNvSpPr txBox="1"/>
          <p:nvPr/>
        </p:nvSpPr>
        <p:spPr>
          <a:xfrm>
            <a:off x="5617440" y="2347200"/>
            <a:ext cx="792000" cy="216000"/>
          </a:xfrm>
          <a:prstGeom prst="rect">
            <a:avLst/>
          </a:prstGeom>
          <a:noFill/>
        </p:spPr>
        <p:txBody>
          <a:bodyPr wrap="square" lIns="0" rIns="0" tIns="21600" bIns="21600" anchor="ctr">
            <a:spAutoFit/>
          </a:bodyPr>
          <a:lstStyle/>
          <a:p>
            <a:pPr algn="ctr"/>
            <a:r>
              <a:rPr sz="1050" b="1">
                <a:solidFill>
                  <a:srgbClr val="7F7F7F"/>
                </a:solidFill>
                <a:latin typeface="メイリオ"/>
                <a:ea typeface="メイリオ"/>
                <a:cs typeface="メイリオ"/>
              </a:rPr>
              <a:t>+2日</a:t>
            </a:r>
          </a:p>
        </p:txBody>
      </p:sp>
      <p:sp>
        <p:nvSpPr>
          <p:cNvPr id="12" name="TextBox 11"/>
          <p:cNvSpPr txBox="1"/>
          <p:nvPr/>
        </p:nvSpPr>
        <p:spPr>
          <a:xfrm>
            <a:off x="8927999" y="2347200"/>
            <a:ext cx="792000" cy="216000"/>
          </a:xfrm>
          <a:prstGeom prst="rect">
            <a:avLst/>
          </a:prstGeom>
          <a:noFill/>
        </p:spPr>
        <p:txBody>
          <a:bodyPr wrap="square" lIns="0" rIns="0" tIns="21600" bIns="21600" anchor="ctr">
            <a:spAutoFit/>
          </a:bodyPr>
          <a:lstStyle/>
          <a:p>
            <a:pPr algn="ctr"/>
            <a:r>
              <a:rPr sz="1050" b="1">
                <a:solidFill>
                  <a:srgbClr val="7F7F7F"/>
                </a:solidFill>
                <a:latin typeface="メイリオ"/>
                <a:ea typeface="メイリオ"/>
                <a:cs typeface="メイリオ"/>
              </a:rPr>
              <a:t>+15日</a:t>
            </a:r>
          </a:p>
        </p:txBody>
      </p:sp>
      <p:sp>
        <p:nvSpPr>
          <p:cNvPr id="13" name="Rounded Rectangle 12"/>
          <p:cNvSpPr/>
          <p:nvPr/>
        </p:nvSpPr>
        <p:spPr>
          <a:xfrm>
            <a:off x="3574080" y="1404000"/>
            <a:ext cx="1800000" cy="413999"/>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4080" y="1404000"/>
            <a:ext cx="1800000" cy="413999"/>
          </a:xfrm>
          <a:prstGeom prst="rect">
            <a:avLst/>
          </a:prstGeom>
          <a:noFill/>
        </p:spPr>
        <p:txBody>
          <a:bodyPr wrap="square" lIns="0" rIns="0" tIns="21600" bIns="21600" anchor="ctr">
            <a:spAutoFit/>
          </a:bodyPr>
          <a:lstStyle/>
          <a:p>
            <a:pPr algn="ctr"/>
            <a:r>
              <a:rPr sz="1200" b="1">
                <a:solidFill>
                  <a:srgbClr val="FFFFFF"/>
                </a:solidFill>
                <a:latin typeface="メイリオ"/>
                <a:ea typeface="メイリオ"/>
                <a:cs typeface="メイリオ"/>
              </a:rPr>
              <a:t>▶ ここで友だち化</a:t>
            </a:r>
          </a:p>
        </p:txBody>
      </p:sp>
      <p:sp>
        <p:nvSpPr>
          <p:cNvPr id="15" name="Rounded Rectangle 14"/>
          <p:cNvSpPr/>
          <p:nvPr/>
        </p:nvSpPr>
        <p:spPr>
          <a:xfrm>
            <a:off x="396000" y="3456000"/>
            <a:ext cx="2951999"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① 離脱防止ポップアップの文言</a:t>
            </a:r>
          </a:p>
          <a:p>
            <a:pPr algn="l">
              <a:lnSpc>
                <a:spcPct val="120000"/>
              </a:lnSpc>
              <a:spcAft>
                <a:spcPts val="200"/>
              </a:spcAft>
            </a:pPr>
            <a:r>
              <a:rPr sz="1100">
                <a:solidFill>
                  <a:srgbClr val="1C2233"/>
                </a:solidFill>
                <a:latin typeface="メイリオ"/>
                <a:ea typeface="メイリオ"/>
                <a:cs typeface="メイリオ"/>
              </a:rPr>
              <a:t>まだ、学部で迷っていませんか？</a:t>
            </a:r>
          </a:p>
          <a:p>
            <a:pPr algn="l">
              <a:lnSpc>
                <a:spcPct val="120000"/>
              </a:lnSpc>
              <a:spcAft>
                <a:spcPts val="200"/>
              </a:spcAft>
            </a:pPr>
            <a:r>
              <a:rPr sz="1100">
                <a:solidFill>
                  <a:srgbClr val="1C2233"/>
                </a:solidFill>
                <a:latin typeface="メイリオ"/>
                <a:ea typeface="メイリオ"/>
                <a:cs typeface="メイリオ"/>
              </a:rPr>
              <a:t>30秒の質問に答えるだけで、あなたに向いている</a:t>
            </a:r>
          </a:p>
          <a:p>
            <a:pPr algn="l">
              <a:lnSpc>
                <a:spcPct val="120000"/>
              </a:lnSpc>
              <a:spcAft>
                <a:spcPts val="200"/>
              </a:spcAft>
            </a:pPr>
            <a:r>
              <a:rPr sz="1100">
                <a:solidFill>
                  <a:srgbClr val="1C2233"/>
                </a:solidFill>
                <a:latin typeface="メイリオ"/>
                <a:ea typeface="メイリオ"/>
                <a:cs typeface="メイリオ"/>
              </a:rPr>
              <a:t>学部と、その学部の1日が分かります。</a:t>
            </a:r>
          </a:p>
          <a:p>
            <a:pPr algn="l">
              <a:lnSpc>
                <a:spcPct val="120000"/>
              </a:lnSpc>
              <a:spcAft>
                <a:spcPts val="200"/>
              </a:spcAft>
            </a:pPr>
            <a:r>
              <a:rPr sz="1100">
                <a:solidFill>
                  <a:srgbClr val="1C2233"/>
                </a:solidFill>
                <a:latin typeface="メイリオ"/>
                <a:ea typeface="メイリオ"/>
                <a:cs typeface="メイリオ"/>
              </a:rPr>
              <a:t>＃名前も電話番号も入力しません</a:t>
            </a:r>
          </a:p>
        </p:txBody>
      </p:sp>
      <p:sp>
        <p:nvSpPr>
          <p:cNvPr id="16" name="Rounded Rectangle 15"/>
          <p:cNvSpPr/>
          <p:nvPr/>
        </p:nvSpPr>
        <p:spPr>
          <a:xfrm>
            <a:off x="3491999" y="3456000"/>
            <a:ext cx="2951999"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② LINE広告（CPF）の文言</a:t>
            </a:r>
          </a:p>
          <a:p>
            <a:pPr algn="l">
              <a:lnSpc>
                <a:spcPct val="120000"/>
              </a:lnSpc>
              <a:spcAft>
                <a:spcPts val="200"/>
              </a:spcAft>
            </a:pPr>
            <a:r>
              <a:rPr sz="1100">
                <a:solidFill>
                  <a:srgbClr val="1C2233"/>
                </a:solidFill>
                <a:latin typeface="メイリオ"/>
                <a:ea typeface="メイリオ"/>
                <a:cs typeface="メイリオ"/>
              </a:rPr>
              <a:t>やりたいこと、まだ決まってなくていい。</a:t>
            </a:r>
          </a:p>
          <a:p>
            <a:pPr algn="l">
              <a:lnSpc>
                <a:spcPct val="120000"/>
              </a:lnSpc>
              <a:spcAft>
                <a:spcPts val="200"/>
              </a:spcAft>
            </a:pPr>
            <a:r>
              <a:rPr sz="1100">
                <a:solidFill>
                  <a:srgbClr val="1C2233"/>
                </a:solidFill>
                <a:latin typeface="メイリオ"/>
                <a:ea typeface="メイリオ"/>
                <a:cs typeface="メイリオ"/>
              </a:rPr>
              <a:t>文系・理系すら迷っている人向けの30秒診断。</a:t>
            </a:r>
          </a:p>
          <a:p>
            <a:pPr algn="l">
              <a:lnSpc>
                <a:spcPct val="120000"/>
              </a:lnSpc>
              <a:spcAft>
                <a:spcPts val="200"/>
              </a:spcAft>
            </a:pPr>
            <a:r>
              <a:rPr sz="1100">
                <a:solidFill>
                  <a:srgbClr val="1C2233"/>
                </a:solidFill>
                <a:latin typeface="メイリオ"/>
                <a:ea typeface="メイリオ"/>
                <a:cs typeface="メイリオ"/>
              </a:rPr>
              <a:t>あなたの「向いてる学び方」から学部を提案します。</a:t>
            </a:r>
          </a:p>
          <a:p>
            <a:pPr algn="l">
              <a:lnSpc>
                <a:spcPct val="120000"/>
              </a:lnSpc>
              <a:spcAft>
                <a:spcPts val="200"/>
              </a:spcAft>
            </a:pPr>
            <a:r>
              <a:rPr sz="1100">
                <a:solidFill>
                  <a:srgbClr val="1C2233"/>
                </a:solidFill>
                <a:latin typeface="メイリオ"/>
                <a:ea typeface="メイリオ"/>
                <a:cs typeface="メイリオ"/>
              </a:rPr>
              <a:t>→ タップ1回で友だち追加（入力ゼロ）</a:t>
            </a:r>
          </a:p>
        </p:txBody>
      </p:sp>
      <p:sp>
        <p:nvSpPr>
          <p:cNvPr id="17" name="Rounded Rectangle 16"/>
          <p:cNvSpPr/>
          <p:nvPr/>
        </p:nvSpPr>
        <p:spPr>
          <a:xfrm>
            <a:off x="6588000" y="3456000"/>
            <a:ext cx="2951999" cy="187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③ コストゼロで一番効く導線</a:t>
            </a:r>
          </a:p>
          <a:p>
            <a:pPr algn="l">
              <a:lnSpc>
                <a:spcPct val="120000"/>
              </a:lnSpc>
              <a:spcAft>
                <a:spcPts val="200"/>
              </a:spcAft>
            </a:pPr>
            <a:r>
              <a:rPr sz="1100">
                <a:solidFill>
                  <a:srgbClr val="1C2233"/>
                </a:solidFill>
                <a:latin typeface="メイリオ"/>
                <a:ea typeface="メイリオ"/>
                <a:cs typeface="メイリオ"/>
              </a:rPr>
              <a:t>オープンキャンパス当日の受付にQRコードを1枚。</a:t>
            </a:r>
          </a:p>
          <a:p>
            <a:pPr algn="l">
              <a:lnSpc>
                <a:spcPct val="120000"/>
              </a:lnSpc>
              <a:spcAft>
                <a:spcPts val="200"/>
              </a:spcAft>
            </a:pPr>
            <a:r>
              <a:rPr sz="1100">
                <a:solidFill>
                  <a:srgbClr val="1C2233"/>
                </a:solidFill>
                <a:latin typeface="メイリオ"/>
                <a:ea typeface="メイリオ"/>
                <a:cs typeface="メイリオ"/>
              </a:rPr>
              <a:t>最も志望度が高い層が、その場で友だちになる。</a:t>
            </a:r>
          </a:p>
          <a:p>
            <a:pPr algn="l">
              <a:lnSpc>
                <a:spcPct val="120000"/>
              </a:lnSpc>
              <a:spcAft>
                <a:spcPts val="200"/>
              </a:spcAft>
            </a:pPr>
            <a:r>
              <a:rPr sz="1100">
                <a:solidFill>
                  <a:srgbClr val="1C2233"/>
                </a:solidFill>
                <a:latin typeface="メイリオ"/>
                <a:ea typeface="メイリオ"/>
                <a:cs typeface="メイリオ"/>
              </a:rPr>
              <a:t>資料請求の完了画面・パンフ裏表紙・高校での説明会資料も同じ。</a:t>
            </a:r>
          </a:p>
          <a:p>
            <a:pPr algn="l">
              <a:lnSpc>
                <a:spcPct val="120000"/>
              </a:lnSpc>
              <a:spcAft>
                <a:spcPts val="200"/>
              </a:spcAft>
            </a:pPr>
            <a:r>
              <a:rPr sz="1100">
                <a:solidFill>
                  <a:srgbClr val="1C2233"/>
                </a:solidFill>
                <a:latin typeface="メイリオ"/>
                <a:ea typeface="メイリオ"/>
                <a:cs typeface="メイリオ"/>
              </a:rPr>
              <a:t>→ 来週から実施できる</a:t>
            </a:r>
          </a:p>
        </p:txBody>
      </p:sp>
      <p:sp>
        <p:nvSpPr>
          <p:cNvPr id="18" name="TextBox 17"/>
          <p:cNvSpPr txBox="1"/>
          <p:nvPr/>
        </p:nvSpPr>
        <p:spPr>
          <a:xfrm>
            <a:off x="396000" y="6138000"/>
            <a:ext cx="9144000" cy="3312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出典：LINEヤフー media Journey（2026-09-15取得）。起点KWの確定後に日数の目盛りを更新する。</a:t>
            </a:r>
          </a:p>
        </p:txBody>
      </p:sp>
    </p:spTree>
    <p:extLst>
      <p:ext uri="{BB962C8B-B14F-4D97-AF65-F5344CB8AC3E}">
        <p14:creationId xmlns:p14="http://schemas.microsoft.com/office/powerpoint/2010/main" val="373746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ステップ配信｜追加から14日でオープンキャンパス予約を取り切る</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友だち追加から15日でアクティブ率が急落する。起点KW検索の後15日で他校の指名検索が立つ。</a:t>
            </a:r>
          </a:p>
          <a:p>
            <a:pPr algn="l">
              <a:lnSpc>
                <a:spcPct val="122000"/>
              </a:lnSpc>
            </a:pPr>
            <a:r>
              <a:rPr sz="1500">
                <a:solidFill>
                  <a:srgbClr val="646C82"/>
                </a:solidFill>
                <a:latin typeface="メイリオ"/>
                <a:ea typeface="メイリオ"/>
                <a:cs typeface="メイリオ"/>
              </a:rPr>
              <a:t>読まれる15日と、候補が決まる15日が重なるのが最初の14日。</a:t>
            </a:r>
          </a:p>
        </p:txBody>
      </p:sp>
      <p:graphicFrame>
        <p:nvGraphicFramePr>
          <p:cNvPr id="4" name="Table 3"/>
          <p:cNvGraphicFramePr>
            <a:graphicFrameLocks noGrp="1"/>
          </p:cNvGraphicFramePr>
          <p:nvPr/>
        </p:nvGraphicFramePr>
        <p:xfrm>
          <a:off x="396000" y="1224000"/>
          <a:ext cx="9144000" cy="3600000"/>
        </p:xfrm>
        <a:graphic>
          <a:graphicData uri="http://schemas.openxmlformats.org/drawingml/2006/table">
            <a:tbl>
              <a:tblPr firstRow="1" bandRow="1">
                <a:tableStyleId>{5C22544A-7EE6-4342-B048-85BDC9FD1C3A}</a:tableStyleId>
              </a:tblPr>
              <a:tblGrid>
                <a:gridCol w="576000"/>
                <a:gridCol w="1944000"/>
                <a:gridCol w="3384000"/>
                <a:gridCol w="1944000"/>
                <a:gridCol w="1296000"/>
              </a:tblGrid>
              <a:tr h="450000">
                <a:tc>
                  <a:txBody>
                    <a:bodyPr wrap="square" lIns="50400" rIns="50400" tIns="10800" bIns="10800" anchor="ctr"/>
                    <a:lstStyle/>
                    <a:p>
                      <a:pPr algn="ctr"/>
                      <a:r>
                        <a:rPr sz="1200" b="1">
                          <a:solidFill>
                            <a:srgbClr val="FFFFFF"/>
                          </a:solidFill>
                          <a:latin typeface="メイリオ"/>
                          <a:ea typeface="メイリオ"/>
                          <a:cs typeface="メイリオ"/>
                        </a:rPr>
                        <a:t>Day</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対象</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内容</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通知プレビュー（15字）</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CV</a:t>
                      </a:r>
                    </a:p>
                  </a:txBody>
                  <a:tcPr anchor="ctr">
                    <a:solidFill>
                      <a:srgbClr val="1F285A"/>
                    </a:solidFill>
                  </a:tcPr>
                </a:tc>
              </a:tr>
              <a:tr h="450000">
                <a:tc>
                  <a:txBody>
                    <a:bodyPr wrap="square" lIns="50400" rIns="50400" tIns="10800" bIns="10800" anchor="ctr"/>
                    <a:lstStyle/>
                    <a:p>
                      <a:pPr algn="ctr"/>
                      <a:r>
                        <a:rPr sz="1100">
                          <a:solidFill>
                            <a:srgbClr val="1C2233"/>
                          </a:solidFill>
                          <a:latin typeface="メイリオ"/>
                          <a:ea typeface="メイリオ"/>
                          <a:cs typeface="メイリオ"/>
                        </a:rPr>
                        <a:t>0</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診断回答直後の全員</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診断結果＋在学生の1日（動画3分）。売らない</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診断結果が出ました📋あな</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r>
              <a:tr h="450000">
                <a:tc>
                  <a:txBody>
                    <a:bodyPr wrap="square" lIns="50400" rIns="50400" tIns="10800" bIns="10800" anchor="ctr"/>
                    <a:lstStyle/>
                    <a:p>
                      <a:pPr algn="ctr"/>
                      <a:r>
                        <a:rPr sz="1100">
                          <a:solidFill>
                            <a:srgbClr val="1C2233"/>
                          </a:solidFill>
                          <a:latin typeface="メイリオ"/>
                          <a:ea typeface="メイリオ"/>
                          <a:cs typeface="メイリオ"/>
                        </a:rPr>
                        <a:t>2</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Q2「全然決まっていない」層</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やりたいことが決まっていない人の進路の決め方</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やりたいこと、まだ決ま</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r>
              <a:tr h="450000">
                <a:tc>
                  <a:txBody>
                    <a:bodyPr wrap="square" lIns="50400" rIns="50400" tIns="10800" bIns="10800" anchor="ctr"/>
                    <a:lstStyle/>
                    <a:p>
                      <a:pPr algn="ctr"/>
                      <a:r>
                        <a:rPr sz="1100">
                          <a:solidFill>
                            <a:srgbClr val="1C2233"/>
                          </a:solidFill>
                          <a:latin typeface="メイリオ"/>
                          <a:ea typeface="メイリオ"/>
                          <a:cs typeface="メイリオ"/>
                        </a:rPr>
                        <a:t>3</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全員</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在学生インタビュー（高校時代の成績・迷い・いま）</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高2の冬、模試D判定だ</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r>
              <a:tr h="450000">
                <a:tc>
                  <a:txBody>
                    <a:bodyPr wrap="square" lIns="50400" rIns="50400" tIns="10800" bIns="10800" anchor="ctr"/>
                    <a:lstStyle/>
                    <a:p>
                      <a:pPr algn="ctr"/>
                      <a:r>
                        <a:rPr sz="1100">
                          <a:solidFill>
                            <a:srgbClr val="1C2233"/>
                          </a:solidFill>
                          <a:latin typeface="メイリオ"/>
                          <a:ea typeface="メイリオ"/>
                          <a:cs typeface="メイリオ"/>
                        </a:rPr>
                        <a:t>6</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全員</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OCの日程と当日の流れ。1人参加OKを明記</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オープンキャンパスの日程</a:t>
                      </a:r>
                    </a:p>
                  </a:txBody>
                  <a:tcPr anchor="ctr">
                    <a:solidFill>
                      <a:srgbClr val="F4F7FF"/>
                    </a:solidFill>
                  </a:tcPr>
                </a:tc>
                <a:tc>
                  <a:txBody>
                    <a:bodyPr wrap="square" lIns="50400" rIns="50400" tIns="10800" bIns="10800" anchor="ctr"/>
                    <a:lstStyle/>
                    <a:p>
                      <a:pPr algn="ctr"/>
                      <a:r>
                        <a:rPr sz="1100" b="1">
                          <a:solidFill>
                            <a:srgbClr val="ED7D31"/>
                          </a:solidFill>
                          <a:latin typeface="メイリオ"/>
                          <a:ea typeface="メイリオ"/>
                          <a:cs typeface="メイリオ"/>
                        </a:rPr>
                        <a:t>OC予約【CV②】</a:t>
                      </a:r>
                    </a:p>
                  </a:txBody>
                  <a:tcPr anchor="ctr">
                    <a:solidFill>
                      <a:srgbClr val="F4F7FF"/>
                    </a:solidFill>
                  </a:tcPr>
                </a:tc>
              </a:tr>
              <a:tr h="450000">
                <a:tc>
                  <a:txBody>
                    <a:bodyPr wrap="square" lIns="50400" rIns="50400" tIns="10800" bIns="10800" anchor="ctr"/>
                    <a:lstStyle/>
                    <a:p>
                      <a:pPr algn="ctr"/>
                      <a:r>
                        <a:rPr sz="1100">
                          <a:solidFill>
                            <a:srgbClr val="1C2233"/>
                          </a:solidFill>
                          <a:latin typeface="メイリオ"/>
                          <a:ea typeface="メイリオ"/>
                          <a:cs typeface="メイリオ"/>
                        </a:rPr>
                        <a:t>9</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全員（保護者にも転送を明記）</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4年間の学費と奨学金</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4年間でいくらかかるの</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FFFFF"/>
                    </a:solidFill>
                  </a:tcPr>
                </a:tc>
              </a:tr>
              <a:tr h="450000">
                <a:tc>
                  <a:txBody>
                    <a:bodyPr wrap="square" lIns="50400" rIns="50400" tIns="10800" bIns="10800" anchor="ctr"/>
                    <a:lstStyle/>
                    <a:p>
                      <a:pPr algn="ctr"/>
                      <a:r>
                        <a:rPr sz="1100">
                          <a:solidFill>
                            <a:srgbClr val="1C2233"/>
                          </a:solidFill>
                          <a:latin typeface="メイリオ"/>
                          <a:ea typeface="メイリオ"/>
                          <a:cs typeface="メイリオ"/>
                        </a:rPr>
                        <a:t>11</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全員</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就職・進路データ（学部別の実績）</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卒業生はどこに行ったの</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a:t>
                      </a:r>
                    </a:p>
                  </a:txBody>
                  <a:tcPr anchor="ctr">
                    <a:solidFill>
                      <a:srgbClr val="F4F7FF"/>
                    </a:solidFill>
                  </a:tcPr>
                </a:tc>
              </a:tr>
              <a:tr h="450000">
                <a:tc>
                  <a:txBody>
                    <a:bodyPr wrap="square" lIns="50400" rIns="50400" tIns="10800" bIns="10800" anchor="ctr"/>
                    <a:lstStyle/>
                    <a:p>
                      <a:pPr algn="ctr"/>
                      <a:r>
                        <a:rPr sz="1100">
                          <a:solidFill>
                            <a:srgbClr val="1C2233"/>
                          </a:solidFill>
                          <a:latin typeface="メイリオ"/>
                          <a:ea typeface="メイリオ"/>
                          <a:cs typeface="メイリオ"/>
                        </a:rPr>
                        <a:t>14</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未CV者</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残席状況＋オンライン相談も選べる（出口を3つ）</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8/3の残席が少なくなっ</a:t>
                      </a:r>
                    </a:p>
                  </a:txBody>
                  <a:tcPr anchor="ctr">
                    <a:solidFill>
                      <a:srgbClr val="FFFFFF"/>
                    </a:solidFill>
                  </a:tcPr>
                </a:tc>
                <a:tc>
                  <a:txBody>
                    <a:bodyPr wrap="square" lIns="50400" rIns="50400" tIns="10800" bIns="10800" anchor="ctr"/>
                    <a:lstStyle/>
                    <a:p>
                      <a:pPr algn="ctr"/>
                      <a:r>
                        <a:rPr sz="1100" b="1">
                          <a:solidFill>
                            <a:srgbClr val="ED7D31"/>
                          </a:solidFill>
                          <a:latin typeface="メイリオ"/>
                          <a:ea typeface="メイリオ"/>
                          <a:cs typeface="メイリオ"/>
                        </a:rPr>
                        <a:t>OC予約【CV②】</a:t>
                      </a:r>
                    </a:p>
                  </a:txBody>
                  <a:tcPr anchor="ctr">
                    <a:solidFill>
                      <a:srgbClr val="FFFFFF"/>
                    </a:solidFill>
                  </a:tcPr>
                </a:tc>
              </a:tr>
            </a:tbl>
          </a:graphicData>
        </a:graphic>
      </p:graphicFrame>
      <p:sp>
        <p:nvSpPr>
          <p:cNvPr id="5" name="Rectangle 4"/>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CVオファーは2回置く（Day6・Day14）。1回で終わらせない。出口は3つ用意する。</a:t>
            </a:r>
          </a:p>
        </p:txBody>
      </p:sp>
      <p:sp>
        <p:nvSpPr>
          <p:cNvPr id="8" name="TextBox 7"/>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14日の根拠：①友だち追加から15日前後でアクティブ率が急落する　②起点KW検索の後15日で他校の指名検索が立つ（前後検索）。</a:t>
            </a:r>
          </a:p>
          <a:p>
            <a:pPr algn="l">
              <a:lnSpc>
                <a:spcPct val="120000"/>
              </a:lnSpc>
            </a:pPr>
            <a:r>
              <a:rPr sz="900">
                <a:solidFill>
                  <a:srgbClr val="646C82"/>
                </a:solidFill>
                <a:latin typeface="メイリオ"/>
                <a:ea typeface="メイリオ"/>
                <a:cs typeface="メイリオ"/>
              </a:rPr>
              <a:t>※ Day14の出口3つ＝①OCに行く　②オンラインで在学生に聞く（20分）　③学部診断をもう一度やる。行けない子を落とさないため。</a:t>
            </a:r>
          </a:p>
        </p:txBody>
      </p:sp>
    </p:spTree>
    <p:extLst>
      <p:ext uri="{BB962C8B-B14F-4D97-AF65-F5344CB8AC3E}">
        <p14:creationId xmlns:p14="http://schemas.microsoft.com/office/powerpoint/2010/main" val="1098718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ステップ配信｜入学後14日で「辞めない形」を作る（第2の提案軸）</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中退の予兆は行動に出る。履修登録の遅れ・ガイダンス欠席・配信への無反応。</a:t>
            </a:r>
          </a:p>
          <a:p>
            <a:pPr algn="l">
              <a:lnSpc>
                <a:spcPct val="122000"/>
              </a:lnSpc>
            </a:pPr>
            <a:r>
              <a:rPr sz="1500">
                <a:solidFill>
                  <a:srgbClr val="646C82"/>
                </a:solidFill>
                <a:latin typeface="メイリオ"/>
                <a:ea typeface="メイリオ"/>
                <a:cs typeface="メイリオ"/>
              </a:rPr>
              <a:t>募集で1人増やすのと、中退を1人止めるのは、経営上まったく同じ価値。</a:t>
            </a:r>
          </a:p>
        </p:txBody>
      </p:sp>
      <p:graphicFrame>
        <p:nvGraphicFramePr>
          <p:cNvPr id="4" name="Table 3"/>
          <p:cNvGraphicFramePr>
            <a:graphicFrameLocks noGrp="1"/>
          </p:cNvGraphicFramePr>
          <p:nvPr/>
        </p:nvGraphicFramePr>
        <p:xfrm>
          <a:off x="396000" y="1224000"/>
          <a:ext cx="9144000" cy="2700000"/>
        </p:xfrm>
        <a:graphic>
          <a:graphicData uri="http://schemas.openxmlformats.org/drawingml/2006/table">
            <a:tbl>
              <a:tblPr firstRow="1" bandRow="1">
                <a:tableStyleId>{5C22544A-7EE6-4342-B048-85BDC9FD1C3A}</a:tableStyleId>
              </a:tblPr>
              <a:tblGrid>
                <a:gridCol w="1296000"/>
                <a:gridCol w="1944000"/>
                <a:gridCol w="3456000"/>
                <a:gridCol w="2448000"/>
              </a:tblGrid>
              <a:tr h="540000">
                <a:tc>
                  <a:txBody>
                    <a:bodyPr wrap="square" lIns="50400" rIns="50400" tIns="10800" bIns="10800" anchor="ctr"/>
                    <a:lstStyle/>
                    <a:p>
                      <a:pPr algn="ctr"/>
                      <a:r>
                        <a:rPr sz="1200" b="1">
                          <a:solidFill>
                            <a:srgbClr val="FFFFFF"/>
                          </a:solidFill>
                          <a:latin typeface="メイリオ"/>
                          <a:ea typeface="メイリオ"/>
                          <a:cs typeface="メイリオ"/>
                        </a:rPr>
                        <a:t>Day</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対象</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内容</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狙い</a:t>
                      </a:r>
                    </a:p>
                  </a:txBody>
                  <a:tcPr anchor="ctr">
                    <a:solidFill>
                      <a:srgbClr val="1F285A"/>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0（入学手続後）</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入学予定者</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入学前オリエンテーション案内／同じ学部の先輩の1日</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「ついていけるか」の不安を先に潰す</a:t>
                      </a:r>
                    </a:p>
                  </a:txBody>
                  <a:tcPr anchor="ctr">
                    <a:solidFill>
                      <a:srgbClr val="FFFFFF"/>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7</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入学予定者</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履修登録の仕方（3ステップ・つまずきやすい点つき）</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履修登録の遅れ＝中退の第1予兆を防ぐ</a:t>
                      </a:r>
                    </a:p>
                  </a:txBody>
                  <a:tcPr anchor="ctr">
                    <a:solidFill>
                      <a:srgbClr val="F4F7FF"/>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14</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入学予定者・保護者</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一人暮らし準備／奨学金の手続き期限／学生相談窓口の案内</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保護者の不安も同時に外す</a:t>
                      </a:r>
                    </a:p>
                  </a:txBody>
                  <a:tcPr anchor="ctr">
                    <a:solidFill>
                      <a:srgbClr val="FFFFFF"/>
                    </a:solidFill>
                  </a:tcPr>
                </a:tc>
              </a:tr>
              <a:tr h="540000">
                <a:tc>
                  <a:txBody>
                    <a:bodyPr wrap="square" lIns="50400" rIns="50400" tIns="10800" bIns="10800" anchor="ctr"/>
                    <a:lstStyle/>
                    <a:p>
                      <a:pPr algn="ctr"/>
                      <a:r>
                        <a:rPr sz="1100">
                          <a:solidFill>
                            <a:srgbClr val="1C2233"/>
                          </a:solidFill>
                          <a:latin typeface="メイリオ"/>
                          <a:ea typeface="メイリオ"/>
                          <a:cs typeface="メイリオ"/>
                        </a:rPr>
                        <a:t>以降・常時</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在学生（無反応が続く層）</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「最近どう？」の自動声かけ→学生相談へトスアップ</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離脱予兆検知。幽霊化する前に止める</a:t>
                      </a:r>
                    </a:p>
                  </a:txBody>
                  <a:tcPr anchor="ctr">
                    <a:solidFill>
                      <a:srgbClr val="F4F7FF"/>
                    </a:solidFill>
                  </a:tcPr>
                </a:tc>
              </a:tr>
            </a:tbl>
          </a:graphicData>
        </a:graphic>
      </p:graphicFrame>
      <p:sp>
        <p:nvSpPr>
          <p:cNvPr id="5" name="Rounded Rectangle 4"/>
          <p:cNvSpPr/>
          <p:nvPr/>
        </p:nvSpPr>
        <p:spPr>
          <a:xfrm>
            <a:off x="396000" y="3744000"/>
            <a:ext cx="4464000" cy="15840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C00000"/>
                </a:solidFill>
                <a:latin typeface="メイリオ"/>
                <a:ea typeface="メイリオ"/>
                <a:cs typeface="メイリオ"/>
              </a:rPr>
              <a:t>中退1人の損失＝残存年数分の学費</a:t>
            </a:r>
          </a:p>
          <a:p>
            <a:pPr algn="l">
              <a:lnSpc>
                <a:spcPct val="120000"/>
              </a:lnSpc>
              <a:spcAft>
                <a:spcPts val="200"/>
              </a:spcAft>
            </a:pPr>
            <a:r>
              <a:rPr sz="1100">
                <a:solidFill>
                  <a:srgbClr val="1C2233"/>
                </a:solidFill>
                <a:latin typeface="メイリオ"/>
                <a:ea typeface="メイリオ"/>
                <a:cs typeface="メイリオ"/>
              </a:rPr>
              <a:t>大学の年間中退率は約2%。4年間では入学者の約8%（12人に1人）。</a:t>
            </a:r>
          </a:p>
          <a:p>
            <a:pPr algn="l">
              <a:lnSpc>
                <a:spcPct val="120000"/>
              </a:lnSpc>
              <a:spcAft>
                <a:spcPts val="200"/>
              </a:spcAft>
            </a:pPr>
            <a:r>
              <a:rPr sz="1100">
                <a:solidFill>
                  <a:srgbClr val="1C2233"/>
                </a:solidFill>
                <a:latin typeface="メイリオ"/>
                <a:ea typeface="メイリオ"/>
                <a:cs typeface="メイリオ"/>
              </a:rPr>
              <a:t>2年次で中退なら、残り2年分＝約200〜300万円が消える。</a:t>
            </a:r>
          </a:p>
          <a:p>
            <a:pPr algn="l">
              <a:lnSpc>
                <a:spcPct val="120000"/>
              </a:lnSpc>
              <a:spcAft>
                <a:spcPts val="200"/>
              </a:spcAft>
            </a:pPr>
            <a:r>
              <a:rPr sz="1100">
                <a:solidFill>
                  <a:srgbClr val="1C2233"/>
                </a:solidFill>
                <a:latin typeface="メイリオ"/>
                <a:ea typeface="メイリオ"/>
                <a:cs typeface="メイリオ"/>
              </a:rPr>
              <a:t>＝ 中退を1人止めることは、入学者を1人増やすのと同じ。</a:t>
            </a:r>
          </a:p>
        </p:txBody>
      </p:sp>
      <p:sp>
        <p:nvSpPr>
          <p:cNvPr id="6" name="Rounded Rectangle 5"/>
          <p:cNvSpPr/>
          <p:nvPr/>
        </p:nvSpPr>
        <p:spPr>
          <a:xfrm>
            <a:off x="5076000" y="3744000"/>
            <a:ext cx="44640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同じアカウントで、入学後もそのまま使える</a:t>
            </a:r>
          </a:p>
          <a:p>
            <a:pPr algn="l">
              <a:lnSpc>
                <a:spcPct val="120000"/>
              </a:lnSpc>
              <a:spcAft>
                <a:spcPts val="200"/>
              </a:spcAft>
            </a:pPr>
            <a:r>
              <a:rPr sz="1100">
                <a:solidFill>
                  <a:srgbClr val="1C2233"/>
                </a:solidFill>
                <a:latin typeface="メイリオ"/>
                <a:ea typeface="メイリオ"/>
                <a:cs typeface="メイリオ"/>
              </a:rPr>
              <a:t>入学前教育／休講・災害時の一斉連絡／保護者向け通知／</a:t>
            </a:r>
          </a:p>
          <a:p>
            <a:pPr algn="l">
              <a:lnSpc>
                <a:spcPct val="120000"/>
              </a:lnSpc>
              <a:spcAft>
                <a:spcPts val="200"/>
              </a:spcAft>
            </a:pPr>
            <a:r>
              <a:rPr sz="1100">
                <a:solidFill>
                  <a:srgbClr val="1C2233"/>
                </a:solidFill>
                <a:latin typeface="メイリオ"/>
                <a:ea typeface="メイリオ"/>
                <a:cs typeface="メイリオ"/>
              </a:rPr>
              <a:t>就職支援／卒業生・寄付の案内まで1本で回せる。</a:t>
            </a:r>
          </a:p>
          <a:p>
            <a:pPr algn="l">
              <a:lnSpc>
                <a:spcPct val="120000"/>
              </a:lnSpc>
              <a:spcAft>
                <a:spcPts val="200"/>
              </a:spcAft>
            </a:pPr>
            <a:r>
              <a:rPr sz="1100">
                <a:solidFill>
                  <a:srgbClr val="1C2233"/>
                </a:solidFill>
                <a:latin typeface="メイリオ"/>
                <a:ea typeface="メイリオ"/>
                <a:cs typeface="メイリオ"/>
              </a:rPr>
              <a:t>※受験生向けと在学生向けは、タグで分離する設計にする。</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入学前の14日でOC予約を取り、入学後の14日で「辞めない形」を作る。この2本で1セット。</a:t>
            </a:r>
          </a:p>
        </p:txBody>
      </p:sp>
      <p:sp>
        <p:nvSpPr>
          <p:cNvPr id="10" name="TextBox 9"/>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中退率は文部科学省の調査に基づく概数。【提出前に最新調査で原典照合すること】</a:t>
            </a:r>
          </a:p>
          <a:p>
            <a:pPr algn="l">
              <a:lnSpc>
                <a:spcPct val="120000"/>
              </a:lnSpc>
            </a:pPr>
            <a:r>
              <a:rPr sz="900">
                <a:solidFill>
                  <a:srgbClr val="646C82"/>
                </a:solidFill>
                <a:latin typeface="メイリオ"/>
                <a:ea typeface="メイリオ"/>
                <a:cs typeface="メイリオ"/>
              </a:rPr>
              <a:t>※ 中退率・在籍年数はLINE側では計測できない。貴学の学務システムの数値と突き合わせて効果を見る。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リッチメニュー設計案｜3タブ × 6枠（18ボタン）</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「受験生」「OC・入試」「保護者」で、見せる画面を変える。</a:t>
            </a:r>
          </a:p>
          <a:p>
            <a:pPr algn="l">
              <a:lnSpc>
                <a:spcPct val="122000"/>
              </a:lnSpc>
            </a:pPr>
            <a:r>
              <a:rPr sz="1500">
                <a:solidFill>
                  <a:srgbClr val="646C82"/>
                </a:solidFill>
                <a:latin typeface="メイリオ"/>
                <a:ea typeface="メイリオ"/>
                <a:cs typeface="メイリオ"/>
              </a:rPr>
              <a:t>左上に置くのは資料請求ではない。まだ決めていない人が押せる場所。</a:t>
            </a:r>
          </a:p>
        </p:txBody>
      </p:sp>
      <p:graphicFrame>
        <p:nvGraphicFramePr>
          <p:cNvPr id="4" name="Table 3"/>
          <p:cNvGraphicFramePr>
            <a:graphicFrameLocks noGrp="1"/>
          </p:cNvGraphicFramePr>
          <p:nvPr/>
        </p:nvGraphicFramePr>
        <p:xfrm>
          <a:off x="396000" y="1224000"/>
          <a:ext cx="9144000" cy="3654000"/>
        </p:xfrm>
        <a:graphic>
          <a:graphicData uri="http://schemas.openxmlformats.org/drawingml/2006/table">
            <a:tbl>
              <a:tblPr firstRow="1" bandRow="1">
                <a:tableStyleId>{5C22544A-7EE6-4342-B048-85BDC9FD1C3A}</a:tableStyleId>
              </a:tblPr>
              <a:tblGrid>
                <a:gridCol w="1440000"/>
                <a:gridCol w="2592000"/>
                <a:gridCol w="2592000"/>
                <a:gridCol w="2520000"/>
              </a:tblGrid>
              <a:tr h="522000">
                <a:tc>
                  <a:txBody>
                    <a:bodyPr wrap="square" lIns="50400" rIns="50400" tIns="10800" bIns="10800" anchor="ctr"/>
                    <a:lstStyle/>
                    <a:p>
                      <a:pPr algn="ctr"/>
                      <a:r>
                        <a:rPr sz="1200" b="1">
                          <a:solidFill>
                            <a:srgbClr val="FFFFFF"/>
                          </a:solidFill>
                          <a:latin typeface="メイリオ"/>
                          <a:ea typeface="メイリオ"/>
                          <a:cs typeface="メイリオ"/>
                        </a:rPr>
                        <a:t>位置</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① 受験生・はじめての方</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② オープンキャンパス・入試</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③ 保護者の方へ</a:t>
                      </a:r>
                    </a:p>
                  </a:txBody>
                  <a:tcPr anchor="ctr">
                    <a:solidFill>
                      <a:srgbClr val="1F285A"/>
                    </a:solidFill>
                  </a:tcPr>
                </a:tc>
              </a:tr>
              <a:tr h="522000">
                <a:tc>
                  <a:txBody>
                    <a:bodyPr wrap="square" lIns="50400" rIns="50400" tIns="10800" bIns="10800" anchor="ctr"/>
                    <a:lstStyle/>
                    <a:p>
                      <a:pPr algn="ctr"/>
                      <a:r>
                        <a:rPr sz="1100">
                          <a:solidFill>
                            <a:srgbClr val="1C2233"/>
                          </a:solidFill>
                          <a:latin typeface="メイリオ"/>
                          <a:ea typeface="メイリオ"/>
                          <a:cs typeface="メイリオ"/>
                        </a:rPr>
                        <a:t>左上（最重要）</a:t>
                      </a:r>
                    </a:p>
                  </a:txBody>
                  <a:tcPr anchor="ctr">
                    <a:solidFill>
                      <a:srgbClr val="FFFFFF"/>
                    </a:solidFill>
                  </a:tcPr>
                </a:tc>
                <a:tc>
                  <a:txBody>
                    <a:bodyPr wrap="square" lIns="50400" rIns="50400" tIns="10800" bIns="10800" anchor="ctr"/>
                    <a:lstStyle/>
                    <a:p>
                      <a:pPr algn="l"/>
                      <a:r>
                        <a:rPr sz="1100" b="1">
                          <a:solidFill>
                            <a:srgbClr val="ED7D31"/>
                          </a:solidFill>
                          <a:latin typeface="メイリオ"/>
                          <a:ea typeface="メイリオ"/>
                          <a:cs typeface="メイリオ"/>
                        </a:rPr>
                        <a:t>30秒 学部学科診断</a:t>
                      </a:r>
                    </a:p>
                  </a:txBody>
                  <a:tcPr anchor="ctr">
                    <a:solidFill>
                      <a:srgbClr val="FFFFFF"/>
                    </a:solidFill>
                  </a:tcPr>
                </a:tc>
                <a:tc>
                  <a:txBody>
                    <a:bodyPr wrap="square" lIns="50400" rIns="50400" tIns="10800" bIns="10800" anchor="ctr"/>
                    <a:lstStyle/>
                    <a:p>
                      <a:pPr algn="l"/>
                      <a:r>
                        <a:rPr sz="1100" b="1">
                          <a:solidFill>
                            <a:srgbClr val="ED7D31"/>
                          </a:solidFill>
                          <a:latin typeface="メイリオ"/>
                          <a:ea typeface="メイリオ"/>
                          <a:cs typeface="メイリオ"/>
                        </a:rPr>
                        <a:t>次回OCの日程・予約</a:t>
                      </a:r>
                    </a:p>
                  </a:txBody>
                  <a:tcPr anchor="ctr">
                    <a:solidFill>
                      <a:srgbClr val="FFFFFF"/>
                    </a:solidFill>
                  </a:tcPr>
                </a:tc>
                <a:tc>
                  <a:txBody>
                    <a:bodyPr wrap="square" lIns="50400" rIns="50400" tIns="10800" bIns="10800" anchor="ctr"/>
                    <a:lstStyle/>
                    <a:p>
                      <a:pPr algn="l"/>
                      <a:r>
                        <a:rPr sz="1100" b="1">
                          <a:solidFill>
                            <a:srgbClr val="ED7D31"/>
                          </a:solidFill>
                          <a:latin typeface="メイリオ"/>
                          <a:ea typeface="メイリオ"/>
                          <a:cs typeface="メイリオ"/>
                        </a:rPr>
                        <a:t>4年間の学費シミュレーション</a:t>
                      </a:r>
                    </a:p>
                  </a:txBody>
                  <a:tcPr anchor="ctr">
                    <a:solidFill>
                      <a:srgbClr val="FFFFFF"/>
                    </a:solidFill>
                  </a:tcPr>
                </a:tc>
              </a:tr>
              <a:tr h="522000">
                <a:tc>
                  <a:txBody>
                    <a:bodyPr wrap="square" lIns="50400" rIns="50400" tIns="10800" bIns="10800" anchor="ctr"/>
                    <a:lstStyle/>
                    <a:p>
                      <a:pPr algn="ctr"/>
                      <a:r>
                        <a:rPr sz="1100">
                          <a:solidFill>
                            <a:srgbClr val="1C2233"/>
                          </a:solidFill>
                          <a:latin typeface="メイリオ"/>
                          <a:ea typeface="メイリオ"/>
                          <a:cs typeface="メイリオ"/>
                        </a:rPr>
                        <a:t>右上</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オープンキャンパス予約</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当日の流れ・持ち物</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奨学金・学費支援制度</a:t>
                      </a:r>
                    </a:p>
                  </a:txBody>
                  <a:tcPr anchor="ctr">
                    <a:solidFill>
                      <a:srgbClr val="F4F7FF"/>
                    </a:solidFill>
                  </a:tcPr>
                </a:tc>
              </a:tr>
              <a:tr h="522000">
                <a:tc>
                  <a:txBody>
                    <a:bodyPr wrap="square" lIns="50400" rIns="50400" tIns="10800" bIns="10800" anchor="ctr"/>
                    <a:lstStyle/>
                    <a:p>
                      <a:pPr algn="ctr"/>
                      <a:r>
                        <a:rPr sz="1100">
                          <a:solidFill>
                            <a:srgbClr val="1C2233"/>
                          </a:solidFill>
                          <a:latin typeface="メイリオ"/>
                          <a:ea typeface="メイリオ"/>
                          <a:cs typeface="メイリオ"/>
                        </a:rPr>
                        <a:t>左中</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学部・学科を見る</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アクセス・キャンパスマップ</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就職実績・進路データ</a:t>
                      </a:r>
                    </a:p>
                  </a:txBody>
                  <a:tcPr anchor="ctr">
                    <a:solidFill>
                      <a:srgbClr val="FFFFFF"/>
                    </a:solidFill>
                  </a:tcPr>
                </a:tc>
              </a:tr>
              <a:tr h="522000">
                <a:tc>
                  <a:txBody>
                    <a:bodyPr wrap="square" lIns="50400" rIns="50400" tIns="10800" bIns="10800" anchor="ctr"/>
                    <a:lstStyle/>
                    <a:p>
                      <a:pPr algn="ctr"/>
                      <a:r>
                        <a:rPr sz="1100">
                          <a:solidFill>
                            <a:srgbClr val="1C2233"/>
                          </a:solidFill>
                          <a:latin typeface="メイリオ"/>
                          <a:ea typeface="メイリオ"/>
                          <a:cs typeface="メイリオ"/>
                        </a:rPr>
                        <a:t>右中</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資料（デジタルパンフ）をもらう</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入試方式を調べる</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保護者向け説明会</a:t>
                      </a:r>
                    </a:p>
                  </a:txBody>
                  <a:tcPr anchor="ctr">
                    <a:solidFill>
                      <a:srgbClr val="F4F7FF"/>
                    </a:solidFill>
                  </a:tcPr>
                </a:tc>
              </a:tr>
              <a:tr h="522000">
                <a:tc>
                  <a:txBody>
                    <a:bodyPr wrap="square" lIns="50400" rIns="50400" tIns="10800" bIns="10800" anchor="ctr"/>
                    <a:lstStyle/>
                    <a:p>
                      <a:pPr algn="ctr"/>
                      <a:r>
                        <a:rPr sz="1100">
                          <a:solidFill>
                            <a:srgbClr val="1C2233"/>
                          </a:solidFill>
                          <a:latin typeface="メイリオ"/>
                          <a:ea typeface="メイリオ"/>
                          <a:cs typeface="メイリオ"/>
                        </a:rPr>
                        <a:t>左下</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まだ決まっていない人へ</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出願スケジュール</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一人暮らしの費用の目安</a:t>
                      </a:r>
                    </a:p>
                  </a:txBody>
                  <a:tcPr anchor="ctr">
                    <a:solidFill>
                      <a:srgbClr val="FFFFFF"/>
                    </a:solidFill>
                  </a:tcPr>
                </a:tc>
              </a:tr>
              <a:tr h="522000">
                <a:tc>
                  <a:txBody>
                    <a:bodyPr wrap="square" lIns="50400" rIns="50400" tIns="10800" bIns="10800" anchor="ctr"/>
                    <a:lstStyle/>
                    <a:p>
                      <a:pPr algn="ctr"/>
                      <a:r>
                        <a:rPr sz="1100">
                          <a:solidFill>
                            <a:srgbClr val="1C2233"/>
                          </a:solidFill>
                          <a:latin typeface="メイリオ"/>
                          <a:ea typeface="メイリオ"/>
                          <a:cs typeface="メイリオ"/>
                        </a:rPr>
                        <a:t>右下</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在学生に質問する</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過去問・入試説明会</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個別相談を申し込む</a:t>
                      </a:r>
                    </a:p>
                  </a:txBody>
                  <a:tcPr anchor="ctr">
                    <a:solidFill>
                      <a:srgbClr val="F4F7FF"/>
                    </a:solidFill>
                  </a:tcPr>
                </a:tc>
              </a:tr>
            </a:tbl>
          </a:graphicData>
        </a:graphic>
      </p:graphicFrame>
      <p:sp>
        <p:nvSpPr>
          <p:cNvPr id="5" name="Rounded Rectangle 4"/>
          <p:cNvSpPr/>
          <p:nvPr/>
        </p:nvSpPr>
        <p:spPr>
          <a:xfrm>
            <a:off x="396000" y="4824000"/>
            <a:ext cx="2951999" cy="118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決めていない子の逃げ道を2つ</a:t>
            </a:r>
          </a:p>
          <a:p>
            <a:pPr algn="l">
              <a:lnSpc>
                <a:spcPct val="120000"/>
              </a:lnSpc>
              <a:spcAft>
                <a:spcPts val="200"/>
              </a:spcAft>
            </a:pPr>
            <a:r>
              <a:rPr sz="1100">
                <a:solidFill>
                  <a:srgbClr val="1C2233"/>
                </a:solidFill>
                <a:latin typeface="メイリオ"/>
                <a:ea typeface="メイリオ"/>
                <a:cs typeface="メイリオ"/>
              </a:rPr>
              <a:t>「30秒 学部学科診断」と「まだ決まっていない人へ」。</a:t>
            </a:r>
          </a:p>
          <a:p>
            <a:pPr algn="l">
              <a:lnSpc>
                <a:spcPct val="120000"/>
              </a:lnSpc>
              <a:spcAft>
                <a:spcPts val="200"/>
              </a:spcAft>
            </a:pPr>
            <a:r>
              <a:rPr sz="1100">
                <a:solidFill>
                  <a:srgbClr val="1C2233"/>
                </a:solidFill>
                <a:latin typeface="メイリオ"/>
                <a:ea typeface="メイリオ"/>
                <a:cs typeface="メイリオ"/>
              </a:rPr>
              <a:t>学部が決まっていない子は資料請求を押せない。</a:t>
            </a:r>
          </a:p>
        </p:txBody>
      </p:sp>
      <p:sp>
        <p:nvSpPr>
          <p:cNvPr id="6" name="Rounded Rectangle 5"/>
          <p:cNvSpPr/>
          <p:nvPr/>
        </p:nvSpPr>
        <p:spPr>
          <a:xfrm>
            <a:off x="3491999" y="4824000"/>
            <a:ext cx="2951999" cy="118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タブ③は「払う人」専用</a:t>
            </a:r>
          </a:p>
          <a:p>
            <a:pPr algn="l">
              <a:lnSpc>
                <a:spcPct val="120000"/>
              </a:lnSpc>
              <a:spcAft>
                <a:spcPts val="200"/>
              </a:spcAft>
            </a:pPr>
            <a:r>
              <a:rPr sz="1100">
                <a:solidFill>
                  <a:srgbClr val="1C2233"/>
                </a:solidFill>
                <a:latin typeface="メイリオ"/>
                <a:ea typeface="メイリオ"/>
                <a:cs typeface="メイリオ"/>
              </a:rPr>
              <a:t>決める人（高校生）と払う人（保護者）が違う業界。</a:t>
            </a:r>
          </a:p>
          <a:p>
            <a:pPr algn="l">
              <a:lnSpc>
                <a:spcPct val="120000"/>
              </a:lnSpc>
              <a:spcAft>
                <a:spcPts val="200"/>
              </a:spcAft>
            </a:pPr>
            <a:r>
              <a:rPr sz="1100">
                <a:solidFill>
                  <a:srgbClr val="1C2233"/>
                </a:solidFill>
                <a:latin typeface="メイリオ"/>
                <a:ea typeface="メイリオ"/>
                <a:cs typeface="メイリオ"/>
              </a:rPr>
              <a:t>保護者が一番知りたい総額を、左上に置く。</a:t>
            </a:r>
          </a:p>
        </p:txBody>
      </p:sp>
      <p:sp>
        <p:nvSpPr>
          <p:cNvPr id="7" name="Rounded Rectangle 6"/>
          <p:cNvSpPr/>
          <p:nvPr/>
        </p:nvSpPr>
        <p:spPr>
          <a:xfrm>
            <a:off x="6588000" y="4824000"/>
            <a:ext cx="2951999" cy="118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年3回、差し替える前提</a:t>
            </a:r>
          </a:p>
          <a:p>
            <a:pPr algn="l">
              <a:lnSpc>
                <a:spcPct val="120000"/>
              </a:lnSpc>
              <a:spcAft>
                <a:spcPts val="200"/>
              </a:spcAft>
            </a:pPr>
            <a:r>
              <a:rPr sz="1100">
                <a:solidFill>
                  <a:srgbClr val="1C2233"/>
                </a:solidFill>
                <a:latin typeface="メイリオ"/>
                <a:ea typeface="メイリオ"/>
                <a:cs typeface="メイリオ"/>
              </a:rPr>
              <a:t>OC期（6〜8月）はタブ②を、出願期（9〜11月）は</a:t>
            </a:r>
          </a:p>
          <a:p>
            <a:pPr algn="l">
              <a:lnSpc>
                <a:spcPct val="120000"/>
              </a:lnSpc>
              <a:spcAft>
                <a:spcPts val="200"/>
              </a:spcAft>
            </a:pPr>
            <a:r>
              <a:rPr sz="1100">
                <a:solidFill>
                  <a:srgbClr val="1C2233"/>
                </a:solidFill>
                <a:latin typeface="メイリオ"/>
                <a:ea typeface="メイリオ"/>
                <a:cs typeface="メイリオ"/>
              </a:rPr>
              <a:t>出願スケジュールをデフォルト表示に切り替える。</a:t>
            </a:r>
          </a:p>
        </p:txBody>
      </p:sp>
    </p:spTree>
    <p:extLst>
      <p:ext uri="{BB962C8B-B14F-4D97-AF65-F5344CB8AC3E}">
        <p14:creationId xmlns:p14="http://schemas.microsoft.com/office/powerpoint/2010/main" val="82790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リッチメニュー実装イメージ｜3タブの実物</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同じLINEでも、受験生・入試期・保護者で見える画面が切り替わる。</a:t>
            </a:r>
          </a:p>
        </p:txBody>
      </p:sp>
      <p:sp>
        <p:nvSpPr>
          <p:cNvPr id="4" name="Rounded Rectangle 3"/>
          <p:cNvSpPr/>
          <p:nvPr/>
        </p:nvSpPr>
        <p:spPr>
          <a:xfrm>
            <a:off x="396000"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200" b="1">
                <a:solidFill>
                  <a:srgbClr val="1F285A"/>
                </a:solidFill>
                <a:latin typeface="メイリオ"/>
                <a:ea typeface="メイリオ"/>
                <a:cs typeface="メイリオ"/>
              </a:rPr>
              <a:t>① 受験生</a:t>
            </a:r>
          </a:p>
        </p:txBody>
      </p:sp>
      <p:sp>
        <p:nvSpPr>
          <p:cNvPr id="5" name="Rounded Rectangle 4"/>
          <p:cNvSpPr/>
          <p:nvPr/>
        </p:nvSpPr>
        <p:spPr>
          <a:xfrm>
            <a:off x="396000"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1200"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受験生</a:t>
            </a:r>
          </a:p>
        </p:txBody>
      </p:sp>
      <p:sp>
        <p:nvSpPr>
          <p:cNvPr id="7" name="Rectangle 6"/>
          <p:cNvSpPr/>
          <p:nvPr/>
        </p:nvSpPr>
        <p:spPr>
          <a:xfrm>
            <a:off x="13884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OC・入試</a:t>
            </a:r>
          </a:p>
        </p:txBody>
      </p:sp>
      <p:sp>
        <p:nvSpPr>
          <p:cNvPr id="8" name="Rectangle 7"/>
          <p:cNvSpPr/>
          <p:nvPr/>
        </p:nvSpPr>
        <p:spPr>
          <a:xfrm>
            <a:off x="2355599"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保護者の方へ</a:t>
            </a:r>
          </a:p>
        </p:txBody>
      </p:sp>
      <p:sp>
        <p:nvSpPr>
          <p:cNvPr id="9" name="Rounded Rectangle 8"/>
          <p:cNvSpPr/>
          <p:nvPr/>
        </p:nvSpPr>
        <p:spPr>
          <a:xfrm>
            <a:off x="421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ED7D31"/>
                </a:solidFill>
                <a:latin typeface="メイリオ"/>
                <a:ea typeface="メイリオ"/>
                <a:cs typeface="メイリオ"/>
              </a:rPr>
              <a:t>30秒</a:t>
            </a:r>
          </a:p>
          <a:p>
            <a:pPr algn="ctr">
              <a:lnSpc>
                <a:spcPct val="110000"/>
              </a:lnSpc>
            </a:pPr>
            <a:r>
              <a:rPr sz="850" b="1">
                <a:solidFill>
                  <a:srgbClr val="ED7D31"/>
                </a:solidFill>
                <a:latin typeface="メイリオ"/>
                <a:ea typeface="メイリオ"/>
                <a:cs typeface="メイリオ"/>
              </a:rPr>
              <a:t>学部学科診断</a:t>
            </a:r>
          </a:p>
        </p:txBody>
      </p:sp>
      <p:sp>
        <p:nvSpPr>
          <p:cNvPr id="10" name="Rounded Rectangle 9"/>
          <p:cNvSpPr/>
          <p:nvPr/>
        </p:nvSpPr>
        <p:spPr>
          <a:xfrm>
            <a:off x="13968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オープン</a:t>
            </a:r>
          </a:p>
          <a:p>
            <a:pPr algn="ctr">
              <a:lnSpc>
                <a:spcPct val="110000"/>
              </a:lnSpc>
            </a:pPr>
            <a:r>
              <a:rPr sz="850" b="1">
                <a:solidFill>
                  <a:srgbClr val="1F285A"/>
                </a:solidFill>
                <a:latin typeface="メイリオ"/>
                <a:ea typeface="メイリオ"/>
                <a:cs typeface="メイリオ"/>
              </a:rPr>
              <a:t>キャンパス予約</a:t>
            </a:r>
          </a:p>
        </p:txBody>
      </p:sp>
      <p:sp>
        <p:nvSpPr>
          <p:cNvPr id="11" name="Rounded Rectangle 10"/>
          <p:cNvSpPr/>
          <p:nvPr/>
        </p:nvSpPr>
        <p:spPr>
          <a:xfrm>
            <a:off x="23723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学部・学科を見る</a:t>
            </a:r>
          </a:p>
        </p:txBody>
      </p:sp>
      <p:sp>
        <p:nvSpPr>
          <p:cNvPr id="12" name="Rounded Rectangle 11"/>
          <p:cNvSpPr/>
          <p:nvPr/>
        </p:nvSpPr>
        <p:spPr>
          <a:xfrm>
            <a:off x="421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資料（デジタル</a:t>
            </a:r>
          </a:p>
          <a:p>
            <a:pPr algn="ctr">
              <a:lnSpc>
                <a:spcPct val="110000"/>
              </a:lnSpc>
            </a:pPr>
            <a:r>
              <a:rPr sz="850" b="1">
                <a:solidFill>
                  <a:srgbClr val="1F285A"/>
                </a:solidFill>
                <a:latin typeface="メイリオ"/>
                <a:ea typeface="メイリオ"/>
                <a:cs typeface="メイリオ"/>
              </a:rPr>
              <a:t>パンフ）をもらう</a:t>
            </a:r>
          </a:p>
        </p:txBody>
      </p:sp>
      <p:sp>
        <p:nvSpPr>
          <p:cNvPr id="13" name="Rounded Rectangle 12"/>
          <p:cNvSpPr/>
          <p:nvPr/>
        </p:nvSpPr>
        <p:spPr>
          <a:xfrm>
            <a:off x="13968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まだ決まって</a:t>
            </a:r>
          </a:p>
          <a:p>
            <a:pPr algn="ctr">
              <a:lnSpc>
                <a:spcPct val="110000"/>
              </a:lnSpc>
            </a:pPr>
            <a:r>
              <a:rPr sz="850" b="1">
                <a:solidFill>
                  <a:srgbClr val="1F285A"/>
                </a:solidFill>
                <a:latin typeface="メイリオ"/>
                <a:ea typeface="メイリオ"/>
                <a:cs typeface="メイリオ"/>
              </a:rPr>
              <a:t>いない人へ</a:t>
            </a:r>
          </a:p>
        </p:txBody>
      </p:sp>
      <p:sp>
        <p:nvSpPr>
          <p:cNvPr id="14" name="Rounded Rectangle 13"/>
          <p:cNvSpPr/>
          <p:nvPr/>
        </p:nvSpPr>
        <p:spPr>
          <a:xfrm>
            <a:off x="23723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在学生に質問する</a:t>
            </a:r>
          </a:p>
        </p:txBody>
      </p:sp>
      <p:sp>
        <p:nvSpPr>
          <p:cNvPr id="15" name="Rounded Rectangle 14"/>
          <p:cNvSpPr/>
          <p:nvPr/>
        </p:nvSpPr>
        <p:spPr>
          <a:xfrm>
            <a:off x="396000"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50" b="1">
                <a:solidFill>
                  <a:srgbClr val="1C2233"/>
                </a:solidFill>
                <a:latin typeface="メイリオ"/>
                <a:ea typeface="メイリオ"/>
                <a:cs typeface="メイリオ"/>
              </a:rPr>
              <a:t>受験生のデフォルト表示</a:t>
            </a:r>
          </a:p>
        </p:txBody>
      </p:sp>
      <p:sp>
        <p:nvSpPr>
          <p:cNvPr id="16" name="Rounded Rectangle 15"/>
          <p:cNvSpPr/>
          <p:nvPr/>
        </p:nvSpPr>
        <p:spPr>
          <a:xfrm>
            <a:off x="3491999"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200" b="1">
                <a:solidFill>
                  <a:srgbClr val="1F285A"/>
                </a:solidFill>
                <a:latin typeface="メイリオ"/>
                <a:ea typeface="メイリオ"/>
                <a:cs typeface="メイリオ"/>
              </a:rPr>
              <a:t>② OC・入試</a:t>
            </a:r>
          </a:p>
        </p:txBody>
      </p:sp>
      <p:sp>
        <p:nvSpPr>
          <p:cNvPr id="17" name="Rounded Rectangle 16"/>
          <p:cNvSpPr/>
          <p:nvPr/>
        </p:nvSpPr>
        <p:spPr>
          <a:xfrm>
            <a:off x="3491999"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172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受験生</a:t>
            </a:r>
          </a:p>
        </p:txBody>
      </p:sp>
      <p:sp>
        <p:nvSpPr>
          <p:cNvPr id="19" name="Rectangle 18"/>
          <p:cNvSpPr/>
          <p:nvPr/>
        </p:nvSpPr>
        <p:spPr>
          <a:xfrm>
            <a:off x="4484399"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OC・入試</a:t>
            </a:r>
          </a:p>
        </p:txBody>
      </p:sp>
      <p:sp>
        <p:nvSpPr>
          <p:cNvPr id="20" name="Rectangle 19"/>
          <p:cNvSpPr/>
          <p:nvPr/>
        </p:nvSpPr>
        <p:spPr>
          <a:xfrm>
            <a:off x="5451599"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保護者の方へ</a:t>
            </a:r>
          </a:p>
        </p:txBody>
      </p:sp>
      <p:sp>
        <p:nvSpPr>
          <p:cNvPr id="21" name="Rounded Rectangle 20"/>
          <p:cNvSpPr/>
          <p:nvPr/>
        </p:nvSpPr>
        <p:spPr>
          <a:xfrm>
            <a:off x="3517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ED7D31"/>
                </a:solidFill>
                <a:latin typeface="メイリオ"/>
                <a:ea typeface="メイリオ"/>
                <a:cs typeface="メイリオ"/>
              </a:rPr>
              <a:t>次回OCの</a:t>
            </a:r>
          </a:p>
          <a:p>
            <a:pPr algn="ctr">
              <a:lnSpc>
                <a:spcPct val="110000"/>
              </a:lnSpc>
            </a:pPr>
            <a:r>
              <a:rPr sz="850" b="1">
                <a:solidFill>
                  <a:srgbClr val="ED7D31"/>
                </a:solidFill>
                <a:latin typeface="メイリオ"/>
                <a:ea typeface="メイリオ"/>
                <a:cs typeface="メイリオ"/>
              </a:rPr>
              <a:t>日程・予約</a:t>
            </a:r>
          </a:p>
        </p:txBody>
      </p:sp>
      <p:sp>
        <p:nvSpPr>
          <p:cNvPr id="22" name="Rounded Rectangle 21"/>
          <p:cNvSpPr/>
          <p:nvPr/>
        </p:nvSpPr>
        <p:spPr>
          <a:xfrm>
            <a:off x="44927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当日の流れ・</a:t>
            </a:r>
          </a:p>
          <a:p>
            <a:pPr algn="ctr">
              <a:lnSpc>
                <a:spcPct val="110000"/>
              </a:lnSpc>
            </a:pPr>
            <a:r>
              <a:rPr sz="850" b="1">
                <a:solidFill>
                  <a:srgbClr val="1F285A"/>
                </a:solidFill>
                <a:latin typeface="メイリオ"/>
                <a:ea typeface="メイリオ"/>
                <a:cs typeface="メイリオ"/>
              </a:rPr>
              <a:t>持ち物</a:t>
            </a:r>
          </a:p>
        </p:txBody>
      </p:sp>
      <p:sp>
        <p:nvSpPr>
          <p:cNvPr id="23" name="Rounded Rectangle 22"/>
          <p:cNvSpPr/>
          <p:nvPr/>
        </p:nvSpPr>
        <p:spPr>
          <a:xfrm>
            <a:off x="54683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アクセス・</a:t>
            </a:r>
          </a:p>
          <a:p>
            <a:pPr algn="ctr">
              <a:lnSpc>
                <a:spcPct val="110000"/>
              </a:lnSpc>
            </a:pPr>
            <a:r>
              <a:rPr sz="850" b="1">
                <a:solidFill>
                  <a:srgbClr val="1F285A"/>
                </a:solidFill>
                <a:latin typeface="メイリオ"/>
                <a:ea typeface="メイリオ"/>
                <a:cs typeface="メイリオ"/>
              </a:rPr>
              <a:t>キャンパスマップ</a:t>
            </a:r>
          </a:p>
        </p:txBody>
      </p:sp>
      <p:sp>
        <p:nvSpPr>
          <p:cNvPr id="24" name="Rounded Rectangle 23"/>
          <p:cNvSpPr/>
          <p:nvPr/>
        </p:nvSpPr>
        <p:spPr>
          <a:xfrm>
            <a:off x="3517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入試方式を調べる</a:t>
            </a:r>
          </a:p>
        </p:txBody>
      </p:sp>
      <p:sp>
        <p:nvSpPr>
          <p:cNvPr id="25" name="Rounded Rectangle 24"/>
          <p:cNvSpPr/>
          <p:nvPr/>
        </p:nvSpPr>
        <p:spPr>
          <a:xfrm>
            <a:off x="44927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出願スケジュール</a:t>
            </a:r>
          </a:p>
        </p:txBody>
      </p:sp>
      <p:sp>
        <p:nvSpPr>
          <p:cNvPr id="26" name="Rounded Rectangle 25"/>
          <p:cNvSpPr/>
          <p:nvPr/>
        </p:nvSpPr>
        <p:spPr>
          <a:xfrm>
            <a:off x="54683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過去問・</a:t>
            </a:r>
          </a:p>
          <a:p>
            <a:pPr algn="ctr">
              <a:lnSpc>
                <a:spcPct val="110000"/>
              </a:lnSpc>
            </a:pPr>
            <a:r>
              <a:rPr sz="850" b="1">
                <a:solidFill>
                  <a:srgbClr val="1F285A"/>
                </a:solidFill>
                <a:latin typeface="メイリオ"/>
                <a:ea typeface="メイリオ"/>
                <a:cs typeface="メイリオ"/>
              </a:rPr>
              <a:t>入試説明会</a:t>
            </a:r>
          </a:p>
        </p:txBody>
      </p:sp>
      <p:sp>
        <p:nvSpPr>
          <p:cNvPr id="27" name="Rounded Rectangle 26"/>
          <p:cNvSpPr/>
          <p:nvPr/>
        </p:nvSpPr>
        <p:spPr>
          <a:xfrm>
            <a:off x="3491999"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50" b="1">
                <a:solidFill>
                  <a:srgbClr val="1C2233"/>
                </a:solidFill>
                <a:latin typeface="メイリオ"/>
                <a:ea typeface="メイリオ"/>
                <a:cs typeface="メイリオ"/>
              </a:rPr>
              <a:t>OC期（6〜8月）に切替</a:t>
            </a:r>
          </a:p>
        </p:txBody>
      </p:sp>
      <p:sp>
        <p:nvSpPr>
          <p:cNvPr id="28" name="Rounded Rectangle 27"/>
          <p:cNvSpPr/>
          <p:nvPr/>
        </p:nvSpPr>
        <p:spPr>
          <a:xfrm>
            <a:off x="6588000"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200" b="1">
                <a:solidFill>
                  <a:srgbClr val="1F285A"/>
                </a:solidFill>
                <a:latin typeface="メイリオ"/>
                <a:ea typeface="メイリオ"/>
                <a:cs typeface="メイリオ"/>
              </a:rPr>
              <a:t>③ 保護者の方へ</a:t>
            </a:r>
          </a:p>
        </p:txBody>
      </p:sp>
      <p:sp>
        <p:nvSpPr>
          <p:cNvPr id="29" name="Rounded Rectangle 28"/>
          <p:cNvSpPr/>
          <p:nvPr/>
        </p:nvSpPr>
        <p:spPr>
          <a:xfrm>
            <a:off x="6588000"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132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受験生</a:t>
            </a:r>
          </a:p>
        </p:txBody>
      </p:sp>
      <p:sp>
        <p:nvSpPr>
          <p:cNvPr id="31" name="Rectangle 30"/>
          <p:cNvSpPr/>
          <p:nvPr/>
        </p:nvSpPr>
        <p:spPr>
          <a:xfrm>
            <a:off x="75804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OC・入試</a:t>
            </a:r>
          </a:p>
        </p:txBody>
      </p:sp>
      <p:sp>
        <p:nvSpPr>
          <p:cNvPr id="32" name="Rectangle 31"/>
          <p:cNvSpPr/>
          <p:nvPr/>
        </p:nvSpPr>
        <p:spPr>
          <a:xfrm>
            <a:off x="8547600"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FFFFF"/>
                </a:solidFill>
                <a:latin typeface="メイリオ"/>
                <a:ea typeface="メイリオ"/>
                <a:cs typeface="メイリオ"/>
              </a:rPr>
              <a:t>保護者の方へ</a:t>
            </a:r>
          </a:p>
        </p:txBody>
      </p:sp>
      <p:sp>
        <p:nvSpPr>
          <p:cNvPr id="33" name="Rounded Rectangle 32"/>
          <p:cNvSpPr/>
          <p:nvPr/>
        </p:nvSpPr>
        <p:spPr>
          <a:xfrm>
            <a:off x="6613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ED7D31"/>
                </a:solidFill>
                <a:latin typeface="メイリオ"/>
                <a:ea typeface="メイリオ"/>
                <a:cs typeface="メイリオ"/>
              </a:rPr>
              <a:t>4年間の学費</a:t>
            </a:r>
          </a:p>
          <a:p>
            <a:pPr algn="ctr">
              <a:lnSpc>
                <a:spcPct val="110000"/>
              </a:lnSpc>
            </a:pPr>
            <a:r>
              <a:rPr sz="850" b="1">
                <a:solidFill>
                  <a:srgbClr val="ED7D31"/>
                </a:solidFill>
                <a:latin typeface="メイリオ"/>
                <a:ea typeface="メイリオ"/>
                <a:cs typeface="メイリオ"/>
              </a:rPr>
              <a:t>シミュレーション</a:t>
            </a:r>
          </a:p>
        </p:txBody>
      </p:sp>
      <p:sp>
        <p:nvSpPr>
          <p:cNvPr id="34" name="Rounded Rectangle 33"/>
          <p:cNvSpPr/>
          <p:nvPr/>
        </p:nvSpPr>
        <p:spPr>
          <a:xfrm>
            <a:off x="75888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奨学金・</a:t>
            </a:r>
          </a:p>
          <a:p>
            <a:pPr algn="ctr">
              <a:lnSpc>
                <a:spcPct val="110000"/>
              </a:lnSpc>
            </a:pPr>
            <a:r>
              <a:rPr sz="850" b="1">
                <a:solidFill>
                  <a:srgbClr val="1F285A"/>
                </a:solidFill>
                <a:latin typeface="メイリオ"/>
                <a:ea typeface="メイリオ"/>
                <a:cs typeface="メイリオ"/>
              </a:rPr>
              <a:t>学費支援制度</a:t>
            </a:r>
          </a:p>
        </p:txBody>
      </p:sp>
      <p:sp>
        <p:nvSpPr>
          <p:cNvPr id="35" name="Rounded Rectangle 34"/>
          <p:cNvSpPr/>
          <p:nvPr/>
        </p:nvSpPr>
        <p:spPr>
          <a:xfrm>
            <a:off x="85644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就職実績・</a:t>
            </a:r>
          </a:p>
          <a:p>
            <a:pPr algn="ctr">
              <a:lnSpc>
                <a:spcPct val="110000"/>
              </a:lnSpc>
            </a:pPr>
            <a:r>
              <a:rPr sz="850" b="1">
                <a:solidFill>
                  <a:srgbClr val="1F285A"/>
                </a:solidFill>
                <a:latin typeface="メイリオ"/>
                <a:ea typeface="メイリオ"/>
                <a:cs typeface="メイリオ"/>
              </a:rPr>
              <a:t>進路データ</a:t>
            </a:r>
          </a:p>
        </p:txBody>
      </p:sp>
      <p:sp>
        <p:nvSpPr>
          <p:cNvPr id="36" name="Rounded Rectangle 35"/>
          <p:cNvSpPr/>
          <p:nvPr/>
        </p:nvSpPr>
        <p:spPr>
          <a:xfrm>
            <a:off x="6613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保護者向け説明会</a:t>
            </a:r>
          </a:p>
        </p:txBody>
      </p:sp>
      <p:sp>
        <p:nvSpPr>
          <p:cNvPr id="37" name="Rounded Rectangle 36"/>
          <p:cNvSpPr/>
          <p:nvPr/>
        </p:nvSpPr>
        <p:spPr>
          <a:xfrm>
            <a:off x="75888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一人暮らしの</a:t>
            </a:r>
          </a:p>
          <a:p>
            <a:pPr algn="ctr">
              <a:lnSpc>
                <a:spcPct val="110000"/>
              </a:lnSpc>
            </a:pPr>
            <a:r>
              <a:rPr sz="850" b="1">
                <a:solidFill>
                  <a:srgbClr val="1F285A"/>
                </a:solidFill>
                <a:latin typeface="メイリオ"/>
                <a:ea typeface="メイリオ"/>
                <a:cs typeface="メイリオ"/>
              </a:rPr>
              <a:t>費用の目安</a:t>
            </a:r>
          </a:p>
        </p:txBody>
      </p:sp>
      <p:sp>
        <p:nvSpPr>
          <p:cNvPr id="38" name="Rounded Rectangle 37"/>
          <p:cNvSpPr/>
          <p:nvPr/>
        </p:nvSpPr>
        <p:spPr>
          <a:xfrm>
            <a:off x="85644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850" b="1">
                <a:solidFill>
                  <a:srgbClr val="1F285A"/>
                </a:solidFill>
                <a:latin typeface="メイリオ"/>
                <a:ea typeface="メイリオ"/>
                <a:cs typeface="メイリオ"/>
              </a:rPr>
              <a:t>個別相談を</a:t>
            </a:r>
          </a:p>
          <a:p>
            <a:pPr algn="ctr">
              <a:lnSpc>
                <a:spcPct val="110000"/>
              </a:lnSpc>
            </a:pPr>
            <a:r>
              <a:rPr sz="850" b="1">
                <a:solidFill>
                  <a:srgbClr val="1F285A"/>
                </a:solidFill>
                <a:latin typeface="メイリオ"/>
                <a:ea typeface="メイリオ"/>
                <a:cs typeface="メイリオ"/>
              </a:rPr>
              <a:t>申し込む</a:t>
            </a:r>
          </a:p>
        </p:txBody>
      </p:sp>
      <p:sp>
        <p:nvSpPr>
          <p:cNvPr id="39" name="Rounded Rectangle 38"/>
          <p:cNvSpPr/>
          <p:nvPr/>
        </p:nvSpPr>
        <p:spPr>
          <a:xfrm>
            <a:off x="6588000"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50" b="1">
                <a:solidFill>
                  <a:srgbClr val="1C2233"/>
                </a:solidFill>
                <a:latin typeface="メイリオ"/>
                <a:ea typeface="メイリオ"/>
                <a:cs typeface="メイリオ"/>
              </a:rPr>
              <a:t>保護者タブ（常設）</a:t>
            </a:r>
          </a:p>
        </p:txBody>
      </p:sp>
      <p:sp>
        <p:nvSpPr>
          <p:cNvPr id="40" name="Rectangle 39"/>
          <p:cNvSpPr/>
          <p:nvPr/>
        </p:nvSpPr>
        <p:spPr>
          <a:xfrm>
            <a:off x="396000" y="4680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2000" y="4680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6000" y="4759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大サイズ 2500×1686px／3列×2行（1マス 833×843px）。学年・志望度タグで自動切替。</a:t>
            </a:r>
          </a:p>
        </p:txBody>
      </p:sp>
      <p:sp>
        <p:nvSpPr>
          <p:cNvPr id="43" name="TextBox 42"/>
          <p:cNvSpPr txBox="1"/>
          <p:nvPr/>
        </p:nvSpPr>
        <p:spPr>
          <a:xfrm>
            <a:off x="396000" y="5292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画像はイメージです。実装時はキャンパス写真・スクールカラー・アイコンを貴学仕様に差し替えます。</a:t>
            </a:r>
          </a:p>
          <a:p>
            <a:pPr algn="l">
              <a:lnSpc>
                <a:spcPct val="120000"/>
              </a:lnSpc>
            </a:pPr>
            <a:r>
              <a:rPr sz="900">
                <a:solidFill>
                  <a:srgbClr val="646C82"/>
                </a:solidFill>
                <a:latin typeface="メイリオ"/>
                <a:ea typeface="メイリオ"/>
                <a:cs typeface="メイリオ"/>
              </a:rPr>
              <a:t>※ 左上（オレンジ）が最重要CTA。親指が最初に届く位置に「まだ決めていない人が押せるもの」を置く。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トーク画面設計案｜あいさつメッセージと30秒 学部学科診断</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1通目で資料請求は求めない。求めるのは診断への回答だけ。</a:t>
            </a:r>
          </a:p>
          <a:p>
            <a:pPr algn="l">
              <a:lnSpc>
                <a:spcPct val="122000"/>
              </a:lnSpc>
            </a:pPr>
            <a:r>
              <a:rPr sz="1500">
                <a:solidFill>
                  <a:srgbClr val="646C82"/>
                </a:solidFill>
                <a:latin typeface="メイリオ"/>
                <a:ea typeface="メイリオ"/>
                <a:cs typeface="メイリオ"/>
              </a:rPr>
              <a:t>設問は、そのまま配信セグメントになるものだけにする。</a:t>
            </a:r>
          </a:p>
        </p:txBody>
      </p:sp>
      <p:sp>
        <p:nvSpPr>
          <p:cNvPr id="4" name="Rounded Rectangle 3"/>
          <p:cNvSpPr/>
          <p:nvPr/>
        </p:nvSpPr>
        <p:spPr>
          <a:xfrm>
            <a:off x="396000" y="1224000"/>
            <a:ext cx="4464000" cy="3096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08000" rIns="86400" tIns="86400" bIns="57600"/>
          <a:lstStyle/>
          <a:p>
            <a:pPr algn="l">
              <a:spcAft>
                <a:spcPts val="600"/>
              </a:spcAft>
            </a:pPr>
            <a:r>
              <a:rPr sz="1200" b="1">
                <a:solidFill>
                  <a:srgbClr val="1F285A"/>
                </a:solidFill>
                <a:latin typeface="メイリオ"/>
                <a:ea typeface="メイリオ"/>
                <a:cs typeface="メイリオ"/>
              </a:rPr>
              <a:t>■ 友だち追加直後のあいさつメッセージ（自動）</a:t>
            </a:r>
          </a:p>
          <a:p>
            <a:pPr algn="l">
              <a:lnSpc>
                <a:spcPct val="134000"/>
              </a:lnSpc>
              <a:spcAft>
                <a:spcPts val="100"/>
              </a:spcAft>
            </a:pPr>
            <a:r>
              <a:rPr sz="1100">
                <a:solidFill>
                  <a:srgbClr val="1C2233"/>
                </a:solidFill>
                <a:latin typeface="メイリオ"/>
                <a:ea typeface="メイリオ"/>
                <a:cs typeface="メイリオ"/>
              </a:rPr>
              <a:t>◯◯大学 受験生応援アカウントへ</a:t>
            </a:r>
          </a:p>
          <a:p>
            <a:pPr algn="l">
              <a:lnSpc>
                <a:spcPct val="134000"/>
              </a:lnSpc>
              <a:spcAft>
                <a:spcPts val="100"/>
              </a:spcAft>
            </a:pPr>
            <a:r>
              <a:rPr sz="1100">
                <a:solidFill>
                  <a:srgbClr val="1C2233"/>
                </a:solidFill>
                <a:latin typeface="メイリオ"/>
                <a:ea typeface="メイリオ"/>
                <a:cs typeface="メイリオ"/>
              </a:rPr>
              <a:t>友だち追加ありがとうございます🌸</a:t>
            </a:r>
          </a:p>
          <a:p>
            <a:pPr algn="l">
              <a:lnSpc>
                <a:spcPct val="134000"/>
              </a:lnSpc>
              <a:spcAft>
                <a:spcPts val="100"/>
              </a:spcAft>
            </a:pPr>
            <a:r>
              <a:rPr sz="1100">
                <a:solidFill>
                  <a:srgbClr val="1C2233"/>
                </a:solidFill>
                <a:latin typeface="メイリオ"/>
                <a:ea typeface="メイリオ"/>
                <a:cs typeface="メイリオ"/>
              </a:rPr>
              <a:t/>
            </a:r>
          </a:p>
          <a:p>
            <a:pPr algn="l">
              <a:lnSpc>
                <a:spcPct val="134000"/>
              </a:lnSpc>
              <a:spcAft>
                <a:spcPts val="100"/>
              </a:spcAft>
            </a:pPr>
            <a:r>
              <a:rPr sz="1100">
                <a:solidFill>
                  <a:srgbClr val="1C2233"/>
                </a:solidFill>
                <a:latin typeface="メイリオ"/>
                <a:ea typeface="メイリオ"/>
                <a:cs typeface="メイリオ"/>
              </a:rPr>
              <a:t>入試広報課の[担当者名]です。</a:t>
            </a:r>
          </a:p>
          <a:p>
            <a:pPr algn="l">
              <a:lnSpc>
                <a:spcPct val="134000"/>
              </a:lnSpc>
              <a:spcAft>
                <a:spcPts val="100"/>
              </a:spcAft>
            </a:pPr>
            <a:r>
              <a:rPr sz="1100">
                <a:solidFill>
                  <a:srgbClr val="1C2233"/>
                </a:solidFill>
                <a:latin typeface="メイリオ"/>
                <a:ea typeface="メイリオ"/>
                <a:cs typeface="メイリオ"/>
              </a:rPr>
              <a:t>進路のこと、気軽に相談してください。</a:t>
            </a:r>
          </a:p>
          <a:p>
            <a:pPr algn="l">
              <a:lnSpc>
                <a:spcPct val="134000"/>
              </a:lnSpc>
              <a:spcAft>
                <a:spcPts val="100"/>
              </a:spcAft>
            </a:pPr>
            <a:r>
              <a:rPr sz="1100">
                <a:solidFill>
                  <a:srgbClr val="1C2233"/>
                </a:solidFill>
                <a:latin typeface="メイリオ"/>
                <a:ea typeface="メイリオ"/>
                <a:cs typeface="メイリオ"/>
              </a:rPr>
              <a:t/>
            </a:r>
          </a:p>
          <a:p>
            <a:pPr algn="l">
              <a:lnSpc>
                <a:spcPct val="134000"/>
              </a:lnSpc>
              <a:spcAft>
                <a:spcPts val="100"/>
              </a:spcAft>
            </a:pPr>
            <a:r>
              <a:rPr sz="1100">
                <a:solidFill>
                  <a:srgbClr val="1C2233"/>
                </a:solidFill>
                <a:latin typeface="メイリオ"/>
                <a:ea typeface="メイリオ"/>
                <a:cs typeface="メイリオ"/>
              </a:rPr>
              <a:t>📌 このアカウントについて</a:t>
            </a:r>
          </a:p>
          <a:p>
            <a:pPr algn="l">
              <a:lnSpc>
                <a:spcPct val="134000"/>
              </a:lnSpc>
              <a:spcAft>
                <a:spcPts val="100"/>
              </a:spcAft>
            </a:pPr>
            <a:r>
              <a:rPr sz="1100">
                <a:solidFill>
                  <a:srgbClr val="1C2233"/>
                </a:solidFill>
                <a:latin typeface="メイリオ"/>
                <a:ea typeface="メイリオ"/>
                <a:cs typeface="メイリオ"/>
              </a:rPr>
              <a:t>・こちらから確認のお電話をすることはありません</a:t>
            </a:r>
          </a:p>
          <a:p>
            <a:pPr algn="l">
              <a:lnSpc>
                <a:spcPct val="134000"/>
              </a:lnSpc>
              <a:spcAft>
                <a:spcPts val="100"/>
              </a:spcAft>
            </a:pPr>
            <a:r>
              <a:rPr sz="1100">
                <a:solidFill>
                  <a:srgbClr val="1C2233"/>
                </a:solidFill>
                <a:latin typeface="メイリオ"/>
                <a:ea typeface="メイリオ"/>
                <a:cs typeface="メイリオ"/>
              </a:rPr>
              <a:t>・有人でのご返信：平日 9:00-17:00</a:t>
            </a:r>
          </a:p>
          <a:p>
            <a:pPr algn="l">
              <a:lnSpc>
                <a:spcPct val="134000"/>
              </a:lnSpc>
              <a:spcAft>
                <a:spcPts val="100"/>
              </a:spcAft>
            </a:pPr>
            <a:r>
              <a:rPr sz="1100">
                <a:solidFill>
                  <a:srgbClr val="1C2233"/>
                </a:solidFill>
                <a:latin typeface="メイリオ"/>
                <a:ea typeface="メイリオ"/>
                <a:cs typeface="メイリオ"/>
              </a:rPr>
              <a:t>・保護者の方も、このままご覧いただけます</a:t>
            </a:r>
          </a:p>
          <a:p>
            <a:pPr algn="l">
              <a:lnSpc>
                <a:spcPct val="134000"/>
              </a:lnSpc>
              <a:spcAft>
                <a:spcPts val="100"/>
              </a:spcAft>
            </a:pPr>
            <a:r>
              <a:rPr sz="1100">
                <a:solidFill>
                  <a:srgbClr val="1C2233"/>
                </a:solidFill>
                <a:latin typeface="メイリオ"/>
                <a:ea typeface="メイリオ"/>
                <a:cs typeface="メイリオ"/>
              </a:rPr>
              <a:t/>
            </a:r>
          </a:p>
          <a:p>
            <a:pPr algn="l">
              <a:lnSpc>
                <a:spcPct val="134000"/>
              </a:lnSpc>
              <a:spcAft>
                <a:spcPts val="100"/>
              </a:spcAft>
            </a:pPr>
            <a:r>
              <a:rPr sz="1100">
                <a:solidFill>
                  <a:srgbClr val="1C2233"/>
                </a:solidFill>
                <a:latin typeface="メイリオ"/>
                <a:ea typeface="メイリオ"/>
                <a:cs typeface="メイリオ"/>
              </a:rPr>
              <a:t>まずはこちらから👇</a:t>
            </a:r>
          </a:p>
          <a:p>
            <a:pPr algn="l">
              <a:lnSpc>
                <a:spcPct val="134000"/>
              </a:lnSpc>
              <a:spcAft>
                <a:spcPts val="100"/>
              </a:spcAft>
            </a:pPr>
            <a:r>
              <a:rPr sz="1100">
                <a:solidFill>
                  <a:srgbClr val="1C2233"/>
                </a:solidFill>
                <a:latin typeface="メイリオ"/>
                <a:ea typeface="メイリオ"/>
                <a:cs typeface="メイリオ"/>
              </a:rPr>
              <a:t>あなたに向いている学部が30秒で分かります。</a:t>
            </a:r>
          </a:p>
        </p:txBody>
      </p:sp>
      <p:sp>
        <p:nvSpPr>
          <p:cNvPr id="5" name="Rounded Rectangle 4"/>
          <p:cNvSpPr/>
          <p:nvPr/>
        </p:nvSpPr>
        <p:spPr>
          <a:xfrm>
            <a:off x="540000" y="3924000"/>
            <a:ext cx="4176000" cy="324000"/>
          </a:xfrm>
          <a:prstGeom prst="roundRect">
            <a:avLst>
              <a:gd name="adj" fmla="val 6000"/>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150" b="1">
                <a:solidFill>
                  <a:srgbClr val="06C755"/>
                </a:solidFill>
                <a:latin typeface="メイリオ"/>
                <a:ea typeface="メイリオ"/>
                <a:cs typeface="メイリオ"/>
              </a:rPr>
              <a:t>▶ 30秒 学部学科診断をはじめる</a:t>
            </a:r>
          </a:p>
        </p:txBody>
      </p:sp>
      <p:sp>
        <p:nvSpPr>
          <p:cNvPr id="6" name="TextBox 5"/>
          <p:cNvSpPr txBox="1"/>
          <p:nvPr/>
        </p:nvSpPr>
        <p:spPr>
          <a:xfrm>
            <a:off x="540000" y="3924000"/>
            <a:ext cx="4176000" cy="324000"/>
          </a:xfrm>
          <a:prstGeom prst="rect">
            <a:avLst/>
          </a:prstGeom>
          <a:noFill/>
        </p:spPr>
        <p:txBody>
          <a:bodyPr wrap="square" lIns="0" rIns="0" tIns="21600" bIns="21600" anchor="ctr">
            <a:spAutoFit/>
          </a:bodyPr>
          <a:lstStyle/>
          <a:p>
            <a:pPr algn="ctr"/>
            <a:r>
              <a:rPr sz="1150" b="1">
                <a:solidFill>
                  <a:srgbClr val="FFFFFF"/>
                </a:solidFill>
                <a:latin typeface="メイリオ"/>
                <a:ea typeface="メイリオ"/>
                <a:cs typeface="メイリオ"/>
              </a:rPr>
              <a:t>▶ 30秒 学部学科診断をはじめる</a:t>
            </a:r>
          </a:p>
        </p:txBody>
      </p:sp>
      <p:sp>
        <p:nvSpPr>
          <p:cNvPr id="7" name="Rounded Rectangle 6"/>
          <p:cNvSpPr/>
          <p:nvPr/>
        </p:nvSpPr>
        <p:spPr>
          <a:xfrm>
            <a:off x="5076000" y="1224000"/>
            <a:ext cx="4464000" cy="3096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08000" rIns="86400" tIns="86400" bIns="57600"/>
          <a:lstStyle/>
          <a:p>
            <a:pPr algn="l">
              <a:spcAft>
                <a:spcPts val="600"/>
              </a:spcAft>
            </a:pPr>
            <a:r>
              <a:rPr sz="1200" b="1">
                <a:solidFill>
                  <a:srgbClr val="1F285A"/>
                </a:solidFill>
                <a:latin typeface="メイリオ"/>
                <a:ea typeface="メイリオ"/>
                <a:cs typeface="メイリオ"/>
              </a:rPr>
              <a:t>■ 30秒 学部学科診断（4問すべて選択式・自由入力ゼロ）</a:t>
            </a:r>
          </a:p>
          <a:p>
            <a:pPr algn="l">
              <a:lnSpc>
                <a:spcPct val="134000"/>
              </a:lnSpc>
              <a:spcAft>
                <a:spcPts val="100"/>
              </a:spcAft>
            </a:pPr>
            <a:r>
              <a:rPr sz="1100">
                <a:solidFill>
                  <a:srgbClr val="1C2233"/>
                </a:solidFill>
                <a:latin typeface="メイリオ"/>
                <a:ea typeface="メイリオ"/>
                <a:cs typeface="メイリオ"/>
              </a:rPr>
              <a:t>Q1 いまの学年　→ タグ：高1／高2／高3／既卒</a:t>
            </a:r>
          </a:p>
          <a:p>
            <a:pPr algn="l">
              <a:lnSpc>
                <a:spcPct val="134000"/>
              </a:lnSpc>
              <a:spcAft>
                <a:spcPts val="100"/>
              </a:spcAft>
            </a:pPr>
            <a:r>
              <a:rPr sz="1100">
                <a:solidFill>
                  <a:srgbClr val="1C2233"/>
                </a:solidFill>
                <a:latin typeface="メイリオ"/>
                <a:ea typeface="メイリオ"/>
                <a:cs typeface="メイリオ"/>
              </a:rPr>
              <a:t>　　配信の内容と頻度を学年で変える</a:t>
            </a:r>
          </a:p>
          <a:p>
            <a:pPr algn="l">
              <a:lnSpc>
                <a:spcPct val="134000"/>
              </a:lnSpc>
              <a:spcAft>
                <a:spcPts val="100"/>
              </a:spcAft>
            </a:pPr>
            <a:r>
              <a:rPr sz="1100">
                <a:solidFill>
                  <a:srgbClr val="1C2233"/>
                </a:solidFill>
                <a:latin typeface="メイリオ"/>
                <a:ea typeface="メイリオ"/>
                <a:cs typeface="メイリオ"/>
              </a:rPr>
              <a:t/>
            </a:r>
          </a:p>
          <a:p>
            <a:pPr algn="l">
              <a:lnSpc>
                <a:spcPct val="134000"/>
              </a:lnSpc>
              <a:spcAft>
                <a:spcPts val="100"/>
              </a:spcAft>
            </a:pPr>
            <a:r>
              <a:rPr sz="1100">
                <a:solidFill>
                  <a:srgbClr val="1C2233"/>
                </a:solidFill>
                <a:latin typeface="メイリオ"/>
                <a:ea typeface="メイリオ"/>
                <a:cs typeface="メイリオ"/>
              </a:rPr>
              <a:t>Q2 学部は決まっていますか？</a:t>
            </a:r>
          </a:p>
          <a:p>
            <a:pPr algn="l">
              <a:lnSpc>
                <a:spcPct val="134000"/>
              </a:lnSpc>
              <a:spcAft>
                <a:spcPts val="100"/>
              </a:spcAft>
            </a:pPr>
            <a:r>
              <a:rPr sz="1100">
                <a:solidFill>
                  <a:srgbClr val="1C2233"/>
                </a:solidFill>
                <a:latin typeface="メイリオ"/>
                <a:ea typeface="メイリオ"/>
                <a:cs typeface="メイリオ"/>
              </a:rPr>
              <a:t>　　① だいたい決まっている　② 2〜3個に絞れた</a:t>
            </a:r>
          </a:p>
          <a:p>
            <a:pPr algn="l">
              <a:lnSpc>
                <a:spcPct val="134000"/>
              </a:lnSpc>
              <a:spcAft>
                <a:spcPts val="100"/>
              </a:spcAft>
            </a:pPr>
            <a:r>
              <a:rPr sz="1100">
                <a:solidFill>
                  <a:srgbClr val="1C2233"/>
                </a:solidFill>
                <a:latin typeface="メイリオ"/>
                <a:ea typeface="メイリオ"/>
                <a:cs typeface="メイリオ"/>
              </a:rPr>
              <a:t>　　③ 全然決まっていない ←ここが一番多くて大丈夫です</a:t>
            </a:r>
          </a:p>
          <a:p>
            <a:pPr algn="l">
              <a:lnSpc>
                <a:spcPct val="134000"/>
              </a:lnSpc>
              <a:spcAft>
                <a:spcPts val="100"/>
              </a:spcAft>
            </a:pPr>
            <a:r>
              <a:rPr sz="1100">
                <a:solidFill>
                  <a:srgbClr val="1C2233"/>
                </a:solidFill>
                <a:latin typeface="メイリオ"/>
                <a:ea typeface="メイリオ"/>
                <a:cs typeface="メイリオ"/>
              </a:rPr>
              <a:t/>
            </a:r>
          </a:p>
          <a:p>
            <a:pPr algn="l">
              <a:lnSpc>
                <a:spcPct val="134000"/>
              </a:lnSpc>
              <a:spcAft>
                <a:spcPts val="100"/>
              </a:spcAft>
            </a:pPr>
            <a:r>
              <a:rPr sz="1100">
                <a:solidFill>
                  <a:srgbClr val="1C2233"/>
                </a:solidFill>
                <a:latin typeface="メイリオ"/>
                <a:ea typeface="メイリオ"/>
                <a:cs typeface="メイリオ"/>
              </a:rPr>
              <a:t>Q3 学校を選ぶとき、いちばん大事にしたいことは？</a:t>
            </a:r>
          </a:p>
          <a:p>
            <a:pPr algn="l">
              <a:lnSpc>
                <a:spcPct val="134000"/>
              </a:lnSpc>
              <a:spcAft>
                <a:spcPts val="100"/>
              </a:spcAft>
            </a:pPr>
            <a:r>
              <a:rPr sz="1100">
                <a:solidFill>
                  <a:srgbClr val="1C2233"/>
                </a:solidFill>
                <a:latin typeface="メイリオ"/>
                <a:ea typeface="メイリオ"/>
                <a:cs typeface="メイリオ"/>
              </a:rPr>
              <a:t>　　学びたいこと／就職・資格／通いやすさ／学費・奨学金</a:t>
            </a:r>
          </a:p>
          <a:p>
            <a:pPr algn="l">
              <a:lnSpc>
                <a:spcPct val="134000"/>
              </a:lnSpc>
              <a:spcAft>
                <a:spcPts val="100"/>
              </a:spcAft>
            </a:pPr>
            <a:r>
              <a:rPr sz="1100">
                <a:solidFill>
                  <a:srgbClr val="1C2233"/>
                </a:solidFill>
                <a:latin typeface="メイリオ"/>
                <a:ea typeface="メイリオ"/>
                <a:cs typeface="メイリオ"/>
              </a:rPr>
              <a:t/>
            </a:r>
          </a:p>
          <a:p>
            <a:pPr algn="l">
              <a:lnSpc>
                <a:spcPct val="134000"/>
              </a:lnSpc>
              <a:spcAft>
                <a:spcPts val="100"/>
              </a:spcAft>
            </a:pPr>
            <a:r>
              <a:rPr sz="1100">
                <a:solidFill>
                  <a:srgbClr val="1C2233"/>
                </a:solidFill>
                <a:latin typeface="メイリオ"/>
                <a:ea typeface="メイリオ"/>
                <a:cs typeface="メイリオ"/>
              </a:rPr>
              <a:t>Q4 通学はどうなりそうですか？</a:t>
            </a:r>
          </a:p>
          <a:p>
            <a:pPr algn="l">
              <a:lnSpc>
                <a:spcPct val="134000"/>
              </a:lnSpc>
              <a:spcAft>
                <a:spcPts val="100"/>
              </a:spcAft>
            </a:pPr>
            <a:r>
              <a:rPr sz="1100">
                <a:solidFill>
                  <a:srgbClr val="1C2233"/>
                </a:solidFill>
                <a:latin typeface="メイリオ"/>
                <a:ea typeface="メイリオ"/>
                <a:cs typeface="メイリオ"/>
              </a:rPr>
              <a:t>　　自宅から通う／一人暮らしもできる／まだ分からない</a:t>
            </a:r>
          </a:p>
        </p:txBody>
      </p:sp>
      <p:sp>
        <p:nvSpPr>
          <p:cNvPr id="8" name="Rounded Rectangle 7"/>
          <p:cNvSpPr/>
          <p:nvPr/>
        </p:nvSpPr>
        <p:spPr>
          <a:xfrm>
            <a:off x="396000" y="4464000"/>
            <a:ext cx="4464000" cy="151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この1行に一番時間をかけた</a:t>
            </a:r>
          </a:p>
          <a:p>
            <a:pPr algn="l">
              <a:lnSpc>
                <a:spcPct val="120000"/>
              </a:lnSpc>
              <a:spcAft>
                <a:spcPts val="200"/>
              </a:spcAft>
            </a:pPr>
            <a:r>
              <a:rPr sz="1100">
                <a:solidFill>
                  <a:srgbClr val="1C2233"/>
                </a:solidFill>
                <a:latin typeface="メイリオ"/>
                <a:ea typeface="メイリオ"/>
                <a:cs typeface="メイリオ"/>
              </a:rPr>
              <a:t>Q2の③に「←ここが一番多くて大丈夫です」と書いてある。</a:t>
            </a:r>
          </a:p>
          <a:p>
            <a:pPr algn="l">
              <a:lnSpc>
                <a:spcPct val="120000"/>
              </a:lnSpc>
              <a:spcAft>
                <a:spcPts val="200"/>
              </a:spcAft>
            </a:pPr>
            <a:r>
              <a:rPr sz="1100">
                <a:solidFill>
                  <a:srgbClr val="1C2233"/>
                </a:solidFill>
                <a:latin typeface="メイリオ"/>
                <a:ea typeface="メイリオ"/>
                <a:cs typeface="メイリオ"/>
              </a:rPr>
              <a:t>これがあるだけで、迷っている子が正直に答える。</a:t>
            </a:r>
          </a:p>
          <a:p>
            <a:pPr algn="l">
              <a:lnSpc>
                <a:spcPct val="120000"/>
              </a:lnSpc>
              <a:spcAft>
                <a:spcPts val="200"/>
              </a:spcAft>
            </a:pPr>
            <a:r>
              <a:rPr sz="1100">
                <a:solidFill>
                  <a:srgbClr val="1C2233"/>
                </a:solidFill>
                <a:latin typeface="メイリオ"/>
                <a:ea typeface="メイリオ"/>
                <a:cs typeface="メイリオ"/>
              </a:rPr>
              <a:t>正直に答えてくれれば、その子に必要なものを送れる。</a:t>
            </a:r>
          </a:p>
        </p:txBody>
      </p:sp>
      <p:sp>
        <p:nvSpPr>
          <p:cNvPr id="9" name="Rounded Rectangle 8"/>
          <p:cNvSpPr/>
          <p:nvPr/>
        </p:nvSpPr>
        <p:spPr>
          <a:xfrm>
            <a:off x="5076000" y="4464000"/>
            <a:ext cx="44640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取れるセグメントが、そのまま配信設計になる</a:t>
            </a:r>
          </a:p>
          <a:p>
            <a:pPr algn="l">
              <a:lnSpc>
                <a:spcPct val="120000"/>
              </a:lnSpc>
              <a:spcAft>
                <a:spcPts val="200"/>
              </a:spcAft>
            </a:pPr>
            <a:r>
              <a:rPr sz="1100">
                <a:solidFill>
                  <a:srgbClr val="1C2233"/>
                </a:solidFill>
                <a:latin typeface="メイリオ"/>
                <a:ea typeface="メイリオ"/>
                <a:cs typeface="メイリオ"/>
              </a:rPr>
              <a:t>学年 × 決まり具合 × 重視する軸 × 通学圏 の4象限。</a:t>
            </a:r>
          </a:p>
          <a:p>
            <a:pPr algn="l">
              <a:lnSpc>
                <a:spcPct val="120000"/>
              </a:lnSpc>
              <a:spcAft>
                <a:spcPts val="200"/>
              </a:spcAft>
            </a:pPr>
            <a:r>
              <a:rPr sz="1100">
                <a:solidFill>
                  <a:srgbClr val="1C2233"/>
                </a:solidFill>
                <a:latin typeface="メイリオ"/>
                <a:ea typeface="メイリオ"/>
                <a:cs typeface="メイリオ"/>
              </a:rPr>
              <a:t>「学費」を選んだ子には、保護者向けコンテンツも同時に送る。</a:t>
            </a:r>
          </a:p>
          <a:p>
            <a:pPr algn="l">
              <a:lnSpc>
                <a:spcPct val="120000"/>
              </a:lnSpc>
              <a:spcAft>
                <a:spcPts val="200"/>
              </a:spcAft>
            </a:pPr>
            <a:r>
              <a:rPr sz="1100">
                <a:solidFill>
                  <a:srgbClr val="1C2233"/>
                </a:solidFill>
                <a:latin typeface="メイリオ"/>
                <a:ea typeface="メイリオ"/>
                <a:cs typeface="メイリオ"/>
              </a:rPr>
              <a:t>「一人暮らし可」なら遠方＝オンライン相談を案内する。</a:t>
            </a:r>
          </a:p>
        </p:txBody>
      </p:sp>
    </p:spTree>
    <p:extLst>
      <p:ext uri="{BB962C8B-B14F-4D97-AF65-F5344CB8AC3E}">
        <p14:creationId xmlns:p14="http://schemas.microsoft.com/office/powerpoint/2010/main" val="188939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トーク画面イメージ｜友だち追加の直後に届く1通目</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この1通で「誰か」「何をくれるか」「売り込まないか」の3つに答える。</a:t>
            </a:r>
          </a:p>
          <a:p>
            <a:pPr algn="l">
              <a:lnSpc>
                <a:spcPct val="122000"/>
              </a:lnSpc>
            </a:pPr>
            <a:r>
              <a:rPr sz="1500">
                <a:solidFill>
                  <a:srgbClr val="646C82"/>
                </a:solidFill>
                <a:latin typeface="メイリオ"/>
                <a:ea typeface="メイリオ"/>
                <a:cs typeface="メイリオ"/>
              </a:rPr>
              <a:t>ここで離脱すると、以降の配信はすべて届かない。</a:t>
            </a:r>
          </a:p>
        </p:txBody>
      </p:sp>
      <p:sp>
        <p:nvSpPr>
          <p:cNvPr id="4" name="Rounded Rectangle 3"/>
          <p:cNvSpPr/>
          <p:nvPr/>
        </p:nvSpPr>
        <p:spPr>
          <a:xfrm>
            <a:off x="612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69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69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800" b="1">
                <a:solidFill>
                  <a:srgbClr val="FFFFFF"/>
                </a:solidFill>
                <a:latin typeface="メイリオ"/>
                <a:ea typeface="メイリオ"/>
                <a:cs typeface="メイリオ"/>
              </a:rPr>
              <a:t>◯◯大学 受験生応援</a:t>
            </a:r>
          </a:p>
        </p:txBody>
      </p:sp>
      <p:sp>
        <p:nvSpPr>
          <p:cNvPr id="7" name="Rounded Rectangle 6"/>
          <p:cNvSpPr/>
          <p:nvPr/>
        </p:nvSpPr>
        <p:spPr>
          <a:xfrm>
            <a:off x="738000" y="1641599"/>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43200" tIns="18000" bIns="18000"/>
          <a:lstStyle/>
          <a:p>
            <a:pPr algn="l">
              <a:lnSpc>
                <a:spcPct val="116000"/>
              </a:lnSpc>
            </a:pPr>
            <a:r>
              <a:rPr sz="800">
                <a:solidFill>
                  <a:srgbClr val="1C2233"/>
                </a:solidFill>
                <a:latin typeface="メイリオ"/>
                <a:ea typeface="メイリオ"/>
                <a:cs typeface="メイリオ"/>
              </a:rPr>
              <a:t>友だち追加ありがとうございます🌸</a:t>
            </a:r>
          </a:p>
          <a:p>
            <a:pPr algn="l">
              <a:lnSpc>
                <a:spcPct val="116000"/>
              </a:lnSpc>
            </a:pPr>
            <a:r>
              <a:rPr sz="800">
                <a:solidFill>
                  <a:srgbClr val="1C2233"/>
                </a:solidFill>
                <a:latin typeface="メイリオ"/>
                <a:ea typeface="メイリオ"/>
                <a:cs typeface="メイリオ"/>
              </a:rPr>
              <a:t>入試広報課の[担当者名]です。</a:t>
            </a:r>
          </a:p>
        </p:txBody>
      </p:sp>
      <p:sp>
        <p:nvSpPr>
          <p:cNvPr id="8" name="Rounded Rectangle 7"/>
          <p:cNvSpPr/>
          <p:nvPr/>
        </p:nvSpPr>
        <p:spPr>
          <a:xfrm>
            <a:off x="738000" y="2026800"/>
            <a:ext cx="2412000" cy="4608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43200" tIns="18000" bIns="18000"/>
          <a:lstStyle/>
          <a:p>
            <a:pPr algn="l">
              <a:lnSpc>
                <a:spcPct val="116000"/>
              </a:lnSpc>
            </a:pPr>
            <a:r>
              <a:rPr sz="800">
                <a:solidFill>
                  <a:srgbClr val="1C2233"/>
                </a:solidFill>
                <a:latin typeface="メイリオ"/>
                <a:ea typeface="メイリオ"/>
                <a:cs typeface="メイリオ"/>
              </a:rPr>
              <a:t>こちらから確認のお電話を</a:t>
            </a:r>
          </a:p>
          <a:p>
            <a:pPr algn="l">
              <a:lnSpc>
                <a:spcPct val="116000"/>
              </a:lnSpc>
            </a:pPr>
            <a:r>
              <a:rPr sz="800">
                <a:solidFill>
                  <a:srgbClr val="1C2233"/>
                </a:solidFill>
                <a:latin typeface="メイリオ"/>
                <a:ea typeface="メイリオ"/>
                <a:cs typeface="メイリオ"/>
              </a:rPr>
              <a:t>することはありません。</a:t>
            </a:r>
          </a:p>
          <a:p>
            <a:pPr algn="l">
              <a:lnSpc>
                <a:spcPct val="116000"/>
              </a:lnSpc>
            </a:pPr>
            <a:r>
              <a:rPr sz="800">
                <a:solidFill>
                  <a:srgbClr val="1C2233"/>
                </a:solidFill>
                <a:latin typeface="メイリオ"/>
                <a:ea typeface="メイリオ"/>
                <a:cs typeface="メイリオ"/>
              </a:rPr>
              <a:t>保護者の方もご覧いただけます。</a:t>
            </a:r>
          </a:p>
        </p:txBody>
      </p:sp>
      <p:sp>
        <p:nvSpPr>
          <p:cNvPr id="9" name="Rounded Rectangle 8"/>
          <p:cNvSpPr/>
          <p:nvPr/>
        </p:nvSpPr>
        <p:spPr>
          <a:xfrm>
            <a:off x="738000" y="2534400"/>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43200" tIns="18000" bIns="18000"/>
          <a:lstStyle/>
          <a:p>
            <a:pPr algn="l">
              <a:lnSpc>
                <a:spcPct val="116000"/>
              </a:lnSpc>
            </a:pPr>
            <a:r>
              <a:rPr sz="800">
                <a:solidFill>
                  <a:srgbClr val="1C2233"/>
                </a:solidFill>
                <a:latin typeface="メイリオ"/>
                <a:ea typeface="メイリオ"/>
                <a:cs typeface="メイリオ"/>
              </a:rPr>
              <a:t>まずは、あなたに向いている</a:t>
            </a:r>
          </a:p>
          <a:p>
            <a:pPr algn="l">
              <a:lnSpc>
                <a:spcPct val="116000"/>
              </a:lnSpc>
            </a:pPr>
            <a:r>
              <a:rPr sz="800">
                <a:solidFill>
                  <a:srgbClr val="1C2233"/>
                </a:solidFill>
                <a:latin typeface="メイリオ"/>
                <a:ea typeface="メイリオ"/>
                <a:cs typeface="メイリオ"/>
              </a:rPr>
              <a:t>学部を30秒で診断しませんか？</a:t>
            </a:r>
          </a:p>
        </p:txBody>
      </p:sp>
      <p:sp>
        <p:nvSpPr>
          <p:cNvPr id="10" name="Rounded Rectangle 9"/>
          <p:cNvSpPr/>
          <p:nvPr/>
        </p:nvSpPr>
        <p:spPr>
          <a:xfrm>
            <a:off x="738000" y="2919600"/>
            <a:ext cx="24120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4000"/>
              </a:lnSpc>
            </a:pPr>
            <a:r>
              <a:rPr sz="850" b="1">
                <a:solidFill>
                  <a:srgbClr val="FFFFFF"/>
                </a:solidFill>
                <a:latin typeface="メイリオ"/>
                <a:ea typeface="メイリオ"/>
                <a:cs typeface="メイリオ"/>
              </a:rPr>
              <a:t>▶ 30秒 学部学科診断をはじめる</a:t>
            </a:r>
          </a:p>
        </p:txBody>
      </p:sp>
      <p:sp>
        <p:nvSpPr>
          <p:cNvPr id="11" name="TextBox 10"/>
          <p:cNvSpPr txBox="1"/>
          <p:nvPr/>
        </p:nvSpPr>
        <p:spPr>
          <a:xfrm>
            <a:off x="738000" y="3182400"/>
            <a:ext cx="2412000" cy="216000"/>
          </a:xfrm>
          <a:prstGeom prst="rect">
            <a:avLst/>
          </a:prstGeom>
          <a:noFill/>
        </p:spPr>
        <p:txBody>
          <a:bodyPr wrap="square" lIns="18000" rIns="18000" tIns="0" bIns="0" anchor="ctr">
            <a:spAutoFit/>
          </a:bodyPr>
          <a:lstStyle/>
          <a:p>
            <a:pPr algn="l">
              <a:lnSpc>
                <a:spcPct val="114000"/>
              </a:lnSpc>
            </a:pPr>
            <a:r>
              <a:rPr sz="750">
                <a:solidFill>
                  <a:srgbClr val="7F7F7F"/>
                </a:solidFill>
                <a:latin typeface="メイリオ"/>
                <a:ea typeface="メイリオ"/>
                <a:cs typeface="メイリオ"/>
              </a:rPr>
              <a:t>既読 9:02</a:t>
            </a:r>
          </a:p>
        </p:txBody>
      </p:sp>
      <p:sp>
        <p:nvSpPr>
          <p:cNvPr id="12" name="Rounded Rectangle 11"/>
          <p:cNvSpPr/>
          <p:nvPr/>
        </p:nvSpPr>
        <p:spPr>
          <a:xfrm>
            <a:off x="3780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37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37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800" b="1">
                <a:solidFill>
                  <a:srgbClr val="FFFFFF"/>
                </a:solidFill>
                <a:latin typeface="メイリオ"/>
                <a:ea typeface="メイリオ"/>
                <a:cs typeface="メイリオ"/>
              </a:rPr>
              <a:t>◯◯大学 受験生応援</a:t>
            </a:r>
          </a:p>
        </p:txBody>
      </p:sp>
      <p:sp>
        <p:nvSpPr>
          <p:cNvPr id="15" name="Rounded Rectangle 14"/>
          <p:cNvSpPr/>
          <p:nvPr/>
        </p:nvSpPr>
        <p:spPr>
          <a:xfrm>
            <a:off x="3906000" y="1641599"/>
            <a:ext cx="2412000" cy="216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43200" tIns="18000" bIns="18000"/>
          <a:lstStyle/>
          <a:p>
            <a:pPr algn="l">
              <a:lnSpc>
                <a:spcPct val="116000"/>
              </a:lnSpc>
            </a:pPr>
            <a:r>
              <a:rPr sz="800">
                <a:solidFill>
                  <a:srgbClr val="1C2233"/>
                </a:solidFill>
                <a:latin typeface="メイリオ"/>
                <a:ea typeface="メイリオ"/>
                <a:cs typeface="メイリオ"/>
              </a:rPr>
              <a:t>Q2 学部は決まっていますか？</a:t>
            </a:r>
          </a:p>
        </p:txBody>
      </p:sp>
      <p:sp>
        <p:nvSpPr>
          <p:cNvPr id="16" name="Rounded Rectangle 15"/>
          <p:cNvSpPr/>
          <p:nvPr/>
        </p:nvSpPr>
        <p:spPr>
          <a:xfrm>
            <a:off x="3906000" y="1904400"/>
            <a:ext cx="24120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4000"/>
              </a:lnSpc>
            </a:pPr>
            <a:r>
              <a:rPr sz="800">
                <a:solidFill>
                  <a:srgbClr val="0B7A3B"/>
                </a:solidFill>
                <a:latin typeface="メイリオ"/>
                <a:ea typeface="メイリオ"/>
                <a:cs typeface="メイリオ"/>
              </a:rPr>
              <a:t>だいたい決まっている</a:t>
            </a:r>
          </a:p>
        </p:txBody>
      </p:sp>
      <p:sp>
        <p:nvSpPr>
          <p:cNvPr id="17" name="Rounded Rectangle 16"/>
          <p:cNvSpPr/>
          <p:nvPr/>
        </p:nvSpPr>
        <p:spPr>
          <a:xfrm>
            <a:off x="3906000" y="2167200"/>
            <a:ext cx="24120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4000"/>
              </a:lnSpc>
            </a:pPr>
            <a:r>
              <a:rPr sz="800">
                <a:solidFill>
                  <a:srgbClr val="0B7A3B"/>
                </a:solidFill>
                <a:latin typeface="メイリオ"/>
                <a:ea typeface="メイリオ"/>
                <a:cs typeface="メイリオ"/>
              </a:rPr>
              <a:t>2〜3個に絞れた</a:t>
            </a:r>
          </a:p>
        </p:txBody>
      </p:sp>
      <p:sp>
        <p:nvSpPr>
          <p:cNvPr id="18" name="Rounded Rectangle 17"/>
          <p:cNvSpPr/>
          <p:nvPr/>
        </p:nvSpPr>
        <p:spPr>
          <a:xfrm>
            <a:off x="3906000" y="2430000"/>
            <a:ext cx="2412000" cy="3384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4000"/>
              </a:lnSpc>
            </a:pPr>
            <a:r>
              <a:rPr sz="800">
                <a:solidFill>
                  <a:srgbClr val="0B7A3B"/>
                </a:solidFill>
                <a:latin typeface="メイリオ"/>
                <a:ea typeface="メイリオ"/>
                <a:cs typeface="メイリオ"/>
              </a:rPr>
              <a:t>全然決まっていない</a:t>
            </a:r>
          </a:p>
          <a:p>
            <a:pPr algn="ctr">
              <a:lnSpc>
                <a:spcPct val="114000"/>
              </a:lnSpc>
            </a:pPr>
            <a:r>
              <a:rPr sz="800">
                <a:solidFill>
                  <a:srgbClr val="0B7A3B"/>
                </a:solidFill>
                <a:latin typeface="メイリオ"/>
                <a:ea typeface="メイリオ"/>
                <a:cs typeface="メイリオ"/>
              </a:rPr>
              <a:t>←ここが一番多くて大丈夫です</a:t>
            </a:r>
          </a:p>
        </p:txBody>
      </p:sp>
      <p:sp>
        <p:nvSpPr>
          <p:cNvPr id="19" name="TextBox 18"/>
          <p:cNvSpPr txBox="1"/>
          <p:nvPr/>
        </p:nvSpPr>
        <p:spPr>
          <a:xfrm>
            <a:off x="3906000" y="2815200"/>
            <a:ext cx="2412000" cy="216000"/>
          </a:xfrm>
          <a:prstGeom prst="rect">
            <a:avLst/>
          </a:prstGeom>
          <a:noFill/>
        </p:spPr>
        <p:txBody>
          <a:bodyPr wrap="square" lIns="18000" rIns="18000" tIns="0" bIns="0" anchor="ctr">
            <a:spAutoFit/>
          </a:bodyPr>
          <a:lstStyle/>
          <a:p>
            <a:pPr algn="l">
              <a:lnSpc>
                <a:spcPct val="114000"/>
              </a:lnSpc>
            </a:pPr>
            <a:r>
              <a:rPr sz="750">
                <a:solidFill>
                  <a:srgbClr val="7F7F7F"/>
                </a:solidFill>
                <a:latin typeface="メイリオ"/>
                <a:ea typeface="メイリオ"/>
                <a:cs typeface="メイリオ"/>
              </a:rPr>
              <a:t>※ 4問すべて選択式。入力はゼロ</a:t>
            </a:r>
          </a:p>
        </p:txBody>
      </p:sp>
      <p:sp>
        <p:nvSpPr>
          <p:cNvPr id="20" name="Rounded Rectangle 19"/>
          <p:cNvSpPr/>
          <p:nvPr/>
        </p:nvSpPr>
        <p:spPr>
          <a:xfrm>
            <a:off x="6948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05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05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800" b="1">
                <a:solidFill>
                  <a:srgbClr val="FFFFFF"/>
                </a:solidFill>
                <a:latin typeface="メイリオ"/>
                <a:ea typeface="メイリオ"/>
                <a:cs typeface="メイリオ"/>
              </a:rPr>
              <a:t>◯◯大学 受験生応援</a:t>
            </a:r>
          </a:p>
        </p:txBody>
      </p:sp>
      <p:sp>
        <p:nvSpPr>
          <p:cNvPr id="23" name="Rounded Rectangle 22"/>
          <p:cNvSpPr/>
          <p:nvPr/>
        </p:nvSpPr>
        <p:spPr>
          <a:xfrm>
            <a:off x="7074000" y="1641599"/>
            <a:ext cx="2412000" cy="216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43200" tIns="18000" bIns="18000"/>
          <a:lstStyle/>
          <a:p>
            <a:pPr algn="l">
              <a:lnSpc>
                <a:spcPct val="116000"/>
              </a:lnSpc>
            </a:pPr>
            <a:r>
              <a:rPr sz="800">
                <a:solidFill>
                  <a:srgbClr val="1C2233"/>
                </a:solidFill>
                <a:latin typeface="メイリオ"/>
                <a:ea typeface="メイリオ"/>
                <a:cs typeface="メイリオ"/>
              </a:rPr>
              <a:t>診断結果が出ました📋</a:t>
            </a:r>
          </a:p>
        </p:txBody>
      </p:sp>
      <p:sp>
        <p:nvSpPr>
          <p:cNvPr id="24" name="Rounded Rectangle 23"/>
          <p:cNvSpPr/>
          <p:nvPr/>
        </p:nvSpPr>
        <p:spPr>
          <a:xfrm>
            <a:off x="7074000" y="1904400"/>
            <a:ext cx="2412000" cy="4608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43200" tIns="18000" bIns="18000"/>
          <a:lstStyle/>
          <a:p>
            <a:pPr algn="l">
              <a:lnSpc>
                <a:spcPct val="116000"/>
              </a:lnSpc>
            </a:pPr>
            <a:r>
              <a:rPr sz="800">
                <a:solidFill>
                  <a:srgbClr val="1C2233"/>
                </a:solidFill>
                <a:latin typeface="メイリオ"/>
                <a:ea typeface="メイリオ"/>
                <a:cs typeface="メイリオ"/>
              </a:rPr>
              <a:t>「やりたいことが決まっていない」</a:t>
            </a:r>
          </a:p>
          <a:p>
            <a:pPr algn="l">
              <a:lnSpc>
                <a:spcPct val="116000"/>
              </a:lnSpc>
            </a:pPr>
            <a:r>
              <a:rPr sz="800">
                <a:solidFill>
                  <a:srgbClr val="1C2233"/>
                </a:solidFill>
                <a:latin typeface="メイリオ"/>
                <a:ea typeface="メイリオ"/>
                <a:cs typeface="メイリオ"/>
              </a:rPr>
              <a:t>——実は、いま在学している学生の</a:t>
            </a:r>
          </a:p>
          <a:p>
            <a:pPr algn="l">
              <a:lnSpc>
                <a:spcPct val="116000"/>
              </a:lnSpc>
            </a:pPr>
            <a:r>
              <a:rPr sz="800">
                <a:solidFill>
                  <a:srgbClr val="1C2233"/>
                </a:solidFill>
                <a:latin typeface="メイリオ"/>
                <a:ea typeface="メイリオ"/>
                <a:cs typeface="メイリオ"/>
              </a:rPr>
              <a:t>多くが高2のこの時期は同じでした。</a:t>
            </a:r>
          </a:p>
        </p:txBody>
      </p:sp>
      <p:sp>
        <p:nvSpPr>
          <p:cNvPr id="25" name="Rounded Rectangle 24"/>
          <p:cNvSpPr/>
          <p:nvPr/>
        </p:nvSpPr>
        <p:spPr>
          <a:xfrm>
            <a:off x="7074000" y="2412000"/>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43200" tIns="18000" bIns="18000"/>
          <a:lstStyle/>
          <a:p>
            <a:pPr algn="l">
              <a:lnSpc>
                <a:spcPct val="116000"/>
              </a:lnSpc>
            </a:pPr>
            <a:r>
              <a:rPr sz="800">
                <a:solidFill>
                  <a:srgbClr val="1C2233"/>
                </a:solidFill>
                <a:latin typeface="メイリオ"/>
                <a:ea typeface="メイリオ"/>
                <a:cs typeface="メイリオ"/>
              </a:rPr>
              <a:t>あなたに向いていそうなのは</a:t>
            </a:r>
          </a:p>
          <a:p>
            <a:pPr algn="l">
              <a:lnSpc>
                <a:spcPct val="116000"/>
              </a:lnSpc>
            </a:pPr>
            <a:r>
              <a:rPr sz="800">
                <a:solidFill>
                  <a:srgbClr val="1C2233"/>
                </a:solidFill>
                <a:latin typeface="メイリオ"/>
                <a:ea typeface="メイリオ"/>
                <a:cs typeface="メイリオ"/>
              </a:rPr>
              <a:t>“入ってから選べる”学び方です。</a:t>
            </a:r>
          </a:p>
        </p:txBody>
      </p:sp>
      <p:sp>
        <p:nvSpPr>
          <p:cNvPr id="26" name="Rounded Rectangle 25"/>
          <p:cNvSpPr/>
          <p:nvPr/>
        </p:nvSpPr>
        <p:spPr>
          <a:xfrm>
            <a:off x="7074000" y="2797200"/>
            <a:ext cx="24120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4000"/>
              </a:lnSpc>
            </a:pPr>
            <a:r>
              <a:rPr sz="850" b="1">
                <a:solidFill>
                  <a:srgbClr val="FFFFFF"/>
                </a:solidFill>
                <a:latin typeface="メイリオ"/>
                <a:ea typeface="メイリオ"/>
                <a:cs typeface="メイリオ"/>
              </a:rPr>
              <a:t>▶ 在学生Aさんの1日を見る（3分）</a:t>
            </a:r>
          </a:p>
        </p:txBody>
      </p:sp>
      <p:sp>
        <p:nvSpPr>
          <p:cNvPr id="27" name="TextBox 26"/>
          <p:cNvSpPr txBox="1"/>
          <p:nvPr/>
        </p:nvSpPr>
        <p:spPr>
          <a:xfrm>
            <a:off x="7074000" y="3060000"/>
            <a:ext cx="2412000" cy="216000"/>
          </a:xfrm>
          <a:prstGeom prst="rect">
            <a:avLst/>
          </a:prstGeom>
          <a:noFill/>
        </p:spPr>
        <p:txBody>
          <a:bodyPr wrap="square" lIns="18000" rIns="18000" tIns="0" bIns="0" anchor="ctr">
            <a:spAutoFit/>
          </a:bodyPr>
          <a:lstStyle/>
          <a:p>
            <a:pPr algn="l">
              <a:lnSpc>
                <a:spcPct val="114000"/>
              </a:lnSpc>
            </a:pPr>
            <a:r>
              <a:rPr sz="750">
                <a:solidFill>
                  <a:srgbClr val="7F7F7F"/>
                </a:solidFill>
                <a:latin typeface="メイリオ"/>
                <a:ea typeface="メイリオ"/>
                <a:cs typeface="メイリオ"/>
              </a:rPr>
              <a:t>費用の話は、この後に出す</a:t>
            </a:r>
          </a:p>
        </p:txBody>
      </p:sp>
      <p:sp>
        <p:nvSpPr>
          <p:cNvPr id="28" name="Rounded Rectangle 27"/>
          <p:cNvSpPr/>
          <p:nvPr/>
        </p:nvSpPr>
        <p:spPr>
          <a:xfrm>
            <a:off x="612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50" b="1">
                <a:solidFill>
                  <a:srgbClr val="1F285A"/>
                </a:solidFill>
                <a:latin typeface="メイリオ"/>
                <a:ea typeface="メイリオ"/>
                <a:cs typeface="メイリオ"/>
              </a:rPr>
              <a:t>① 追加直後：売らない。電話しないと明記する</a:t>
            </a:r>
          </a:p>
        </p:txBody>
      </p:sp>
      <p:sp>
        <p:nvSpPr>
          <p:cNvPr id="29" name="Rounded Rectangle 28"/>
          <p:cNvSpPr/>
          <p:nvPr/>
        </p:nvSpPr>
        <p:spPr>
          <a:xfrm>
            <a:off x="3780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50" b="1">
                <a:solidFill>
                  <a:srgbClr val="1F285A"/>
                </a:solidFill>
                <a:latin typeface="メイリオ"/>
                <a:ea typeface="メイリオ"/>
                <a:cs typeface="メイリオ"/>
              </a:rPr>
              <a:t>② 診断：4問すべて選択式・入力はゼロ</a:t>
            </a:r>
          </a:p>
        </p:txBody>
      </p:sp>
      <p:sp>
        <p:nvSpPr>
          <p:cNvPr id="30" name="Rounded Rectangle 29"/>
          <p:cNvSpPr/>
          <p:nvPr/>
        </p:nvSpPr>
        <p:spPr>
          <a:xfrm>
            <a:off x="6948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50" b="1">
                <a:solidFill>
                  <a:srgbClr val="1F285A"/>
                </a:solidFill>
                <a:latin typeface="メイリオ"/>
                <a:ea typeface="メイリオ"/>
                <a:cs typeface="メイリオ"/>
              </a:rPr>
              <a:t>③ 結果：共感 → 実例 → 費用 → CTA の順</a:t>
            </a:r>
          </a:p>
        </p:txBody>
      </p:sp>
      <p:sp>
        <p:nvSpPr>
          <p:cNvPr id="31" name="Rectangle 30"/>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1通目で予約は求めない。求めるのは診断への回答だけ。</a:t>
            </a:r>
          </a:p>
        </p:txBody>
      </p:sp>
      <p:sp>
        <p:nvSpPr>
          <p:cNvPr id="34" name="TextBox 33"/>
          <p:cNvSpPr txBox="1"/>
          <p:nvPr/>
        </p:nvSpPr>
        <p:spPr>
          <a:xfrm>
            <a:off x="396000" y="6138000"/>
            <a:ext cx="9144000" cy="3312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診断結果は「共感 → 実例 → 学べること → 費用 → CTA」の順。費用を先に出すと逃げられる（前後検索で検証済み）。</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企画配信カレンダー｜入試日程は動かせない。だから逆算で組む</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検索の山（実測）と入試日程（文科省）を重ねて、配信する月を先に決めてしまう。</a:t>
            </a:r>
          </a:p>
        </p:txBody>
      </p:sp>
      <p:graphicFrame>
        <p:nvGraphicFramePr>
          <p:cNvPr id="4" name="Table 3"/>
          <p:cNvGraphicFramePr>
            <a:graphicFrameLocks noGrp="1"/>
          </p:cNvGraphicFramePr>
          <p:nvPr/>
        </p:nvGraphicFramePr>
        <p:xfrm>
          <a:off x="396000" y="1224000"/>
          <a:ext cx="9144000" cy="4464000"/>
        </p:xfrm>
        <a:graphic>
          <a:graphicData uri="http://schemas.openxmlformats.org/drawingml/2006/table">
            <a:tbl>
              <a:tblPr firstRow="1" bandRow="1">
                <a:tableStyleId>{5C22544A-7EE6-4342-B048-85BDC9FD1C3A}</a:tableStyleId>
              </a:tblPr>
              <a:tblGrid>
                <a:gridCol w="1224000"/>
                <a:gridCol w="4680000"/>
                <a:gridCol w="3240000"/>
              </a:tblGrid>
              <a:tr h="558000">
                <a:tc>
                  <a:txBody>
                    <a:bodyPr wrap="square" lIns="50400" rIns="50400" tIns="10800" bIns="10800" anchor="ctr"/>
                    <a:lstStyle/>
                    <a:p>
                      <a:pPr algn="ctr"/>
                      <a:r>
                        <a:rPr sz="1200" b="1">
                          <a:solidFill>
                            <a:srgbClr val="FFFFFF"/>
                          </a:solidFill>
                          <a:latin typeface="メイリオ"/>
                          <a:ea typeface="メイリオ"/>
                          <a:cs typeface="メイリオ"/>
                        </a:rPr>
                        <a:t>時期</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企画</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参照データ</a:t>
                      </a:r>
                    </a:p>
                  </a:txBody>
                  <a:tcPr anchor="ctr">
                    <a:solidFill>
                      <a:srgbClr val="1F285A"/>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3〜4月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新学年スタート企画：「まだ決まっていなくていい」学部学科診断キャンペーン</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入塾・進路検討の立ち上がり（高2春〜）</a:t>
                      </a:r>
                    </a:p>
                  </a:txBody>
                  <a:tcPr anchor="ctr">
                    <a:solidFill>
                      <a:srgbClr val="FFFF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5月下旬〜6月</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OC先行案内：日程公開＋1人参加OK＋当日の流れを先に送る　★仕込みの本番</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検索が動き出すのは5/25週。6/29週で既に年間ピークの半分（トレンド実測）</a:t>
                      </a:r>
                    </a:p>
                  </a:txBody>
                  <a:tcPr anchor="ctr">
                    <a:solidFill>
                      <a:srgbClr val="F4F7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7〜8月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OC直前・当日・参加後の3点セット：前日リマインド／受付QR／参加後アンケート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「オープンキャンパス」ピーク＝7/27週（5年連続で7月ピーク）</a:t>
                      </a:r>
                    </a:p>
                  </a:txBody>
                  <a:tcPr anchor="ctr">
                    <a:solidFill>
                      <a:srgbClr val="FFFF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9月</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総合型選抜の出願支援：志望理由書の書き方・面接10問・締切カウントダウン</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「総合型選抜」ピーク＝8/31週（9/1出願解禁を含む週）。5年で3.3倍</a:t>
                      </a:r>
                    </a:p>
                  </a:txBody>
                  <a:tcPr anchor="ctr">
                    <a:solidFill>
                      <a:srgbClr val="F4F7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10〜11月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学校推薦型・指定校推薦の出願支援／保護者向け説明会の案内</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「学校推薦型選抜」は11月単峰。「指定校推薦」は11月中旬に第2の山</a:t>
                      </a:r>
                    </a:p>
                  </a:txBody>
                  <a:tcPr anchor="ctr">
                    <a:solidFill>
                      <a:srgbClr val="FFFF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12〜1月</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一般選抜層の受け皿：入試方式の違い・過去問・入試説明会</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「共通テスト」は1月中旬の2週間だけ動く（他月は10以下）</a:t>
                      </a:r>
                    </a:p>
                  </a:txBody>
                  <a:tcPr anchor="ctr">
                    <a:solidFill>
                      <a:srgbClr val="F4F7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2〜3月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入学手続期の離脱防止：入学前オリエン・先輩との交流・一人暮らし準備</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一般選抜 2/1〜。併願による流出が起きる区間</a:t>
                      </a:r>
                    </a:p>
                  </a:txBody>
                  <a:tcPr anchor="ctr">
                    <a:solidFill>
                      <a:srgbClr val="FFFFFF"/>
                    </a:solidFill>
                  </a:tcPr>
                </a:tc>
              </a:tr>
            </a:tbl>
          </a:graphicData>
        </a:graphic>
      </p:graphicFrame>
      <p:sp>
        <p:nvSpPr>
          <p:cNvPr id="5" name="TextBox 4"/>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参照データ：Googleトレンド（2026-09-15取得・日本・ウェブ検索）／文部科学省「大学入学者選抜実施要項」。</a:t>
            </a:r>
          </a:p>
          <a:p>
            <a:pPr algn="l">
              <a:lnSpc>
                <a:spcPct val="120000"/>
              </a:lnSpc>
            </a:pPr>
            <a:r>
              <a:rPr sz="900">
                <a:solidFill>
                  <a:srgbClr val="646C82"/>
                </a:solidFill>
                <a:latin typeface="メイリオ"/>
                <a:ea typeface="メイリオ"/>
                <a:cs typeface="メイリオ"/>
              </a:rPr>
              <a:t>※ 専門学校はAOエントリー6/1・出願10/1解禁（全国専修学校各種学校総連合会の申し合わせ・要確認）のため、全体が前倒しになる。</a:t>
            </a:r>
          </a:p>
        </p:txBody>
      </p:sp>
    </p:spTree>
    <p:extLst>
      <p:ext uri="{BB962C8B-B14F-4D97-AF65-F5344CB8AC3E}">
        <p14:creationId xmlns:p14="http://schemas.microsoft.com/office/powerpoint/2010/main" val="3225074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通知メッセージ・飛び道具｜友だちでない高校生にも届かせる</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電話番号があれば、友だちでなくてもLINEに届く。資料請求者・OC予約者の取りこぼしを拾う。</a:t>
            </a:r>
          </a:p>
        </p:txBody>
      </p:sp>
      <p:sp>
        <p:nvSpPr>
          <p:cNvPr id="4" name="TextBox 3"/>
          <p:cNvSpPr txBox="1"/>
          <p:nvPr/>
        </p:nvSpPr>
        <p:spPr>
          <a:xfrm>
            <a:off x="396000" y="1224000"/>
            <a:ext cx="4464000" cy="324000"/>
          </a:xfrm>
          <a:prstGeom prst="rect">
            <a:avLst/>
          </a:prstGeom>
          <a:noFill/>
        </p:spPr>
        <p:txBody>
          <a:bodyPr wrap="square" lIns="0" rIns="0" tIns="21600" bIns="21600" anchor="t">
            <a:spAutoFit/>
          </a:bodyPr>
          <a:lstStyle/>
          <a:p>
            <a:pPr algn="l"/>
            <a:r>
              <a:rPr sz="1250" b="1">
                <a:solidFill>
                  <a:srgbClr val="1F285A"/>
                </a:solidFill>
                <a:latin typeface="メイリオ"/>
                <a:ea typeface="メイリオ"/>
                <a:cs typeface="メイリオ"/>
              </a:rPr>
              <a:t>■ 通知メッセージ 利用シーン</a:t>
            </a:r>
          </a:p>
        </p:txBody>
      </p:sp>
      <p:sp>
        <p:nvSpPr>
          <p:cNvPr id="5" name="Rounded Rectangle 4"/>
          <p:cNvSpPr/>
          <p:nvPr/>
        </p:nvSpPr>
        <p:spPr>
          <a:xfrm>
            <a:off x="396000" y="1620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150" b="1">
                <a:solidFill>
                  <a:srgbClr val="1F285A"/>
                </a:solidFill>
                <a:latin typeface="メイリオ"/>
                <a:ea typeface="メイリオ"/>
                <a:cs typeface="メイリオ"/>
              </a:rPr>
              <a:t>OC予約確定のお知らせ</a:t>
            </a:r>
          </a:p>
          <a:p>
            <a:pPr algn="l">
              <a:lnSpc>
                <a:spcPct val="120000"/>
              </a:lnSpc>
              <a:spcAft>
                <a:spcPts val="200"/>
              </a:spcAft>
            </a:pPr>
            <a:r>
              <a:rPr sz="1050">
                <a:solidFill>
                  <a:srgbClr val="1C2233"/>
                </a:solidFill>
                <a:latin typeface="メイリオ"/>
                <a:ea typeface="メイリオ"/>
                <a:cs typeface="メイリオ"/>
              </a:rPr>
              <a:t>持ち物・アクセス・当日の流れ → 参加（CV②）へ</a:t>
            </a:r>
          </a:p>
        </p:txBody>
      </p:sp>
      <p:sp>
        <p:nvSpPr>
          <p:cNvPr id="6" name="Rounded Rectangle 5"/>
          <p:cNvSpPr/>
          <p:nvPr/>
        </p:nvSpPr>
        <p:spPr>
          <a:xfrm>
            <a:off x="396000" y="2538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150" b="1">
                <a:solidFill>
                  <a:srgbClr val="1F285A"/>
                </a:solidFill>
                <a:latin typeface="メイリオ"/>
                <a:ea typeface="メイリオ"/>
                <a:cs typeface="メイリオ"/>
              </a:rPr>
              <a:t>OC前日リマインド</a:t>
            </a:r>
          </a:p>
          <a:p>
            <a:pPr algn="l">
              <a:lnSpc>
                <a:spcPct val="120000"/>
              </a:lnSpc>
              <a:spcAft>
                <a:spcPts val="200"/>
              </a:spcAft>
            </a:pPr>
            <a:r>
              <a:rPr sz="1050">
                <a:solidFill>
                  <a:srgbClr val="1C2233"/>
                </a:solidFill>
                <a:latin typeface="メイリオ"/>
                <a:ea typeface="メイリオ"/>
                <a:cs typeface="メイリオ"/>
              </a:rPr>
              <a:t>「来られなくなっても大丈夫」を先に書く → 無断キャンセルを連絡ありに変える</a:t>
            </a:r>
          </a:p>
        </p:txBody>
      </p:sp>
      <p:sp>
        <p:nvSpPr>
          <p:cNvPr id="7" name="Rounded Rectangle 6"/>
          <p:cNvSpPr/>
          <p:nvPr/>
        </p:nvSpPr>
        <p:spPr>
          <a:xfrm>
            <a:off x="396000" y="3456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150" b="1">
                <a:solidFill>
                  <a:srgbClr val="1F285A"/>
                </a:solidFill>
                <a:latin typeface="メイリオ"/>
                <a:ea typeface="メイリオ"/>
                <a:cs typeface="メイリオ"/>
              </a:rPr>
              <a:t>出願受付・書類到着のお知らせ</a:t>
            </a:r>
          </a:p>
          <a:p>
            <a:pPr algn="l">
              <a:lnSpc>
                <a:spcPct val="120000"/>
              </a:lnSpc>
              <a:spcAft>
                <a:spcPts val="200"/>
              </a:spcAft>
            </a:pPr>
            <a:r>
              <a:rPr sz="1050">
                <a:solidFill>
                  <a:srgbClr val="1C2233"/>
                </a:solidFill>
                <a:latin typeface="メイリオ"/>
                <a:ea typeface="メイリオ"/>
                <a:cs typeface="メイリオ"/>
              </a:rPr>
              <a:t>次の手続きの期限を同時に案内 → 出願完了（CV③）へ</a:t>
            </a:r>
          </a:p>
        </p:txBody>
      </p:sp>
      <p:sp>
        <p:nvSpPr>
          <p:cNvPr id="8" name="Rounded Rectangle 7"/>
          <p:cNvSpPr/>
          <p:nvPr/>
        </p:nvSpPr>
        <p:spPr>
          <a:xfrm>
            <a:off x="396000" y="4373999"/>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150" b="1">
                <a:solidFill>
                  <a:srgbClr val="1F285A"/>
                </a:solidFill>
                <a:latin typeface="メイリオ"/>
                <a:ea typeface="メイリオ"/>
                <a:cs typeface="メイリオ"/>
              </a:rPr>
              <a:t>入学手続の期限リマインド</a:t>
            </a:r>
          </a:p>
          <a:p>
            <a:pPr algn="l">
              <a:lnSpc>
                <a:spcPct val="120000"/>
              </a:lnSpc>
              <a:spcAft>
                <a:spcPts val="200"/>
              </a:spcAft>
            </a:pPr>
            <a:r>
              <a:rPr sz="1050">
                <a:solidFill>
                  <a:srgbClr val="1C2233"/>
                </a:solidFill>
                <a:latin typeface="メイリオ"/>
                <a:ea typeface="メイリオ"/>
                <a:cs typeface="メイリオ"/>
              </a:rPr>
              <a:t>併願による流出が起きる区間を守る</a:t>
            </a:r>
          </a:p>
        </p:txBody>
      </p:sp>
      <p:sp>
        <p:nvSpPr>
          <p:cNvPr id="9" name="TextBox 8"/>
          <p:cNvSpPr txBox="1"/>
          <p:nvPr/>
        </p:nvSpPr>
        <p:spPr>
          <a:xfrm>
            <a:off x="5076000" y="1224000"/>
            <a:ext cx="4464000" cy="324000"/>
          </a:xfrm>
          <a:prstGeom prst="rect">
            <a:avLst/>
          </a:prstGeom>
          <a:noFill/>
        </p:spPr>
        <p:txBody>
          <a:bodyPr wrap="square" lIns="0" rIns="0" tIns="21600" bIns="21600" anchor="t">
            <a:spAutoFit/>
          </a:bodyPr>
          <a:lstStyle/>
          <a:p>
            <a:pPr algn="l"/>
            <a:r>
              <a:rPr sz="1250" b="1">
                <a:solidFill>
                  <a:srgbClr val="ED7D31"/>
                </a:solidFill>
                <a:latin typeface="メイリオ"/>
                <a:ea typeface="メイリオ"/>
                <a:cs typeface="メイリオ"/>
              </a:rPr>
              <a:t>■ 飛び道具（この業界ならではの企画軸）</a:t>
            </a:r>
          </a:p>
        </p:txBody>
      </p:sp>
      <p:sp>
        <p:nvSpPr>
          <p:cNvPr id="10" name="Rounded Rectangle 9"/>
          <p:cNvSpPr/>
          <p:nvPr/>
        </p:nvSpPr>
        <p:spPr>
          <a:xfrm>
            <a:off x="5076000" y="1620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150" b="1">
                <a:solidFill>
                  <a:srgbClr val="ED7D31"/>
                </a:solidFill>
                <a:latin typeface="メイリオ"/>
                <a:ea typeface="メイリオ"/>
                <a:cs typeface="メイリオ"/>
              </a:rPr>
              <a:t>① 30秒 学部学科診断</a:t>
            </a:r>
          </a:p>
          <a:p>
            <a:pPr algn="l">
              <a:lnSpc>
                <a:spcPct val="120000"/>
              </a:lnSpc>
              <a:spcAft>
                <a:spcPts val="200"/>
              </a:spcAft>
            </a:pPr>
            <a:r>
              <a:rPr sz="1050">
                <a:solidFill>
                  <a:srgbClr val="1C2233"/>
                </a:solidFill>
                <a:latin typeface="メイリオ"/>
                <a:ea typeface="メイリオ"/>
                <a:cs typeface="メイリオ"/>
              </a:rPr>
              <a:t>匿名・入力ゼロ。決まっていない子が押せる唯一の入口</a:t>
            </a:r>
          </a:p>
        </p:txBody>
      </p:sp>
      <p:sp>
        <p:nvSpPr>
          <p:cNvPr id="11" name="Rounded Rectangle 10"/>
          <p:cNvSpPr/>
          <p:nvPr/>
        </p:nvSpPr>
        <p:spPr>
          <a:xfrm>
            <a:off x="5076000" y="2538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150" b="1">
                <a:solidFill>
                  <a:srgbClr val="ED7D31"/>
                </a:solidFill>
                <a:latin typeface="メイリオ"/>
                <a:ea typeface="メイリオ"/>
                <a:cs typeface="メイリオ"/>
              </a:rPr>
              <a:t>② 4年間の学費シミュレーター</a:t>
            </a:r>
          </a:p>
          <a:p>
            <a:pPr algn="l">
              <a:lnSpc>
                <a:spcPct val="120000"/>
              </a:lnSpc>
              <a:spcAft>
                <a:spcPts val="200"/>
              </a:spcAft>
            </a:pPr>
            <a:r>
              <a:rPr sz="1050">
                <a:solidFill>
                  <a:srgbClr val="1C2233"/>
                </a:solidFill>
                <a:latin typeface="メイリオ"/>
                <a:ea typeface="メイリオ"/>
                <a:cs typeface="メイリオ"/>
              </a:rPr>
              <a:t>入力3項目・1分。保護者の最大の不安に、先に答える</a:t>
            </a:r>
          </a:p>
        </p:txBody>
      </p:sp>
      <p:sp>
        <p:nvSpPr>
          <p:cNvPr id="12" name="Rounded Rectangle 11"/>
          <p:cNvSpPr/>
          <p:nvPr/>
        </p:nvSpPr>
        <p:spPr>
          <a:xfrm>
            <a:off x="5076000" y="3456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150" b="1">
                <a:solidFill>
                  <a:srgbClr val="ED7D31"/>
                </a:solidFill>
                <a:latin typeface="メイリオ"/>
                <a:ea typeface="メイリオ"/>
                <a:cs typeface="メイリオ"/>
              </a:rPr>
              <a:t>③ 志望理由書の下書き支援</a:t>
            </a:r>
          </a:p>
          <a:p>
            <a:pPr algn="l">
              <a:lnSpc>
                <a:spcPct val="120000"/>
              </a:lnSpc>
              <a:spcAft>
                <a:spcPts val="200"/>
              </a:spcAft>
            </a:pPr>
            <a:r>
              <a:rPr sz="1050">
                <a:solidFill>
                  <a:srgbClr val="1C2233"/>
                </a:solidFill>
                <a:latin typeface="メイリオ"/>
                <a:ea typeface="メイリオ"/>
                <a:cs typeface="メイリオ"/>
              </a:rPr>
              <a:t>出願直前に立つのは「書き方」検索。情報ではなく手伝いを渡す</a:t>
            </a:r>
          </a:p>
        </p:txBody>
      </p:sp>
      <p:sp>
        <p:nvSpPr>
          <p:cNvPr id="13" name="Rounded Rectangle 12"/>
          <p:cNvSpPr/>
          <p:nvPr/>
        </p:nvSpPr>
        <p:spPr>
          <a:xfrm>
            <a:off x="5076000" y="4373999"/>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150" b="1">
                <a:solidFill>
                  <a:srgbClr val="ED7D31"/>
                </a:solidFill>
                <a:latin typeface="メイリオ"/>
                <a:ea typeface="メイリオ"/>
                <a:cs typeface="メイリオ"/>
              </a:rPr>
              <a:t>④ 中退予兆検知（入学後）</a:t>
            </a:r>
          </a:p>
          <a:p>
            <a:pPr algn="l">
              <a:lnSpc>
                <a:spcPct val="120000"/>
              </a:lnSpc>
              <a:spcAft>
                <a:spcPts val="200"/>
              </a:spcAft>
            </a:pPr>
            <a:r>
              <a:rPr sz="1050">
                <a:solidFill>
                  <a:srgbClr val="1C2233"/>
                </a:solidFill>
                <a:latin typeface="メイリオ"/>
                <a:ea typeface="メイリオ"/>
                <a:cs typeface="メイリオ"/>
              </a:rPr>
              <a:t>一定期間アクションのない在学生に自動で声かけ</a:t>
            </a:r>
          </a:p>
        </p:txBody>
      </p:sp>
      <p:sp>
        <p:nvSpPr>
          <p:cNvPr id="14" name="TextBox 13"/>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通知メッセージは Sales Partner／Tech Partner 限定公開のAPIを使用する機能（初期10万円／月額8万円〜＋通数単価7円）。</a:t>
            </a:r>
          </a:p>
          <a:p>
            <a:pPr algn="l">
              <a:lnSpc>
                <a:spcPct val="120000"/>
              </a:lnSpc>
            </a:pPr>
            <a:r>
              <a:rPr sz="900">
                <a:solidFill>
                  <a:srgbClr val="646C82"/>
                </a:solidFill>
                <a:latin typeface="メイリオ"/>
                <a:ea typeface="メイリオ"/>
                <a:cs typeface="メイリオ"/>
              </a:rPr>
              <a:t>※ 送信対象は貴学が保有する電話番号リスト。利用にあたっては個人情報の取得同意の範囲を確認する。</a:t>
            </a:r>
          </a:p>
        </p:txBody>
      </p:sp>
    </p:spTree>
    <p:extLst>
      <p:ext uri="{BB962C8B-B14F-4D97-AF65-F5344CB8AC3E}">
        <p14:creationId xmlns:p14="http://schemas.microsoft.com/office/powerpoint/2010/main" val="4224870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④資料請求・友だち追加(LINE)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[LINEで学部学科診断]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資料請求／OC予約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Web予約の完了率が低い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検討初期の迷い層を逃す</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電話折返しの工数が重い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Web予約は既に回っている</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無断キャンセルが課題</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通知メッセを使いたい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誕生日・入学記念日を記念日タグとして登録し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。「自分のことを覚えてくれている」体験がロイヤリティを高め在学中の接点が途切れにくくなる。</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誕生日・入学日等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導入成果シミュレーション（Before / After）</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デジタル募集広報費 年1,000万円は据え置き。追加するのはLINE運用費 年360万円のみ。</a:t>
            </a:r>
          </a:p>
          <a:p>
            <a:pPr algn="l">
              <a:lnSpc>
                <a:spcPct val="122000"/>
              </a:lnSpc>
            </a:pPr>
            <a:r>
              <a:rPr sz="1500">
                <a:solidFill>
                  <a:srgbClr val="646C82"/>
                </a:solidFill>
                <a:latin typeface="メイリオ"/>
                <a:ea typeface="メイリオ"/>
                <a:cs typeface="メイリオ"/>
              </a:rPr>
              <a:t>モデル校＝私立大学・入学定員600名・現在の入学者480名（充足率80%）。</a:t>
            </a:r>
          </a:p>
        </p:txBody>
      </p:sp>
      <p:graphicFrame>
        <p:nvGraphicFramePr>
          <p:cNvPr id="4" name="Table 3"/>
          <p:cNvGraphicFramePr>
            <a:graphicFrameLocks noGrp="1"/>
          </p:cNvGraphicFramePr>
          <p:nvPr/>
        </p:nvGraphicFramePr>
        <p:xfrm>
          <a:off x="396000" y="1224000"/>
          <a:ext cx="9144000" cy="3830400"/>
        </p:xfrm>
        <a:graphic>
          <a:graphicData uri="http://schemas.openxmlformats.org/drawingml/2006/table">
            <a:tbl>
              <a:tblPr firstRow="1" bandRow="1">
                <a:tableStyleId>{5C22544A-7EE6-4342-B048-85BDC9FD1C3A}</a:tableStyleId>
              </a:tblPr>
              <a:tblGrid>
                <a:gridCol w="3024000"/>
                <a:gridCol w="2880000"/>
                <a:gridCol w="3240000"/>
              </a:tblGrid>
              <a:tr h="273600">
                <a:tc>
                  <a:txBody>
                    <a:bodyPr wrap="square" lIns="50400" rIns="50400" tIns="10800" bIns="10800" anchor="ctr"/>
                    <a:lstStyle/>
                    <a:p>
                      <a:pPr algn="l"/>
                      <a:r>
                        <a:rPr sz="1200" b="1">
                          <a:solidFill>
                            <a:srgbClr val="FFFFFF"/>
                          </a:solidFill>
                          <a:latin typeface="メイリオ"/>
                          <a:ea typeface="メイリオ"/>
                          <a:cs typeface="メイリオ"/>
                        </a:rPr>
                        <a:t>指標</a:t>
                      </a:r>
                    </a:p>
                  </a:txBody>
                  <a:tcPr anchor="ctr">
                    <a:solidFill>
                      <a:srgbClr val="1F285A"/>
                    </a:solidFill>
                  </a:tcPr>
                </a:tc>
                <a:tc>
                  <a:txBody>
                    <a:bodyPr wrap="square" lIns="50400" rIns="50400" tIns="10800" bIns="10800" anchor="ctr"/>
                    <a:lstStyle/>
                    <a:p>
                      <a:pPr algn="r"/>
                      <a:r>
                        <a:rPr sz="1200" b="1">
                          <a:solidFill>
                            <a:srgbClr val="FFFFFF"/>
                          </a:solidFill>
                          <a:latin typeface="メイリオ"/>
                          <a:ea typeface="メイリオ"/>
                          <a:cs typeface="メイリオ"/>
                        </a:rPr>
                        <a:t>Before（Web広告のみ）</a:t>
                      </a:r>
                    </a:p>
                  </a:txBody>
                  <a:tcPr anchor="ctr">
                    <a:solidFill>
                      <a:srgbClr val="1F285A"/>
                    </a:solidFill>
                  </a:tcPr>
                </a:tc>
                <a:tc>
                  <a:txBody>
                    <a:bodyPr wrap="square" lIns="50400" rIns="50400" tIns="10800" bIns="10800" anchor="ctr"/>
                    <a:lstStyle/>
                    <a:p>
                      <a:pPr algn="r"/>
                      <a:r>
                        <a:rPr sz="1200" b="1">
                          <a:solidFill>
                            <a:srgbClr val="FFFFFF"/>
                          </a:solidFill>
                          <a:latin typeface="メイリオ"/>
                          <a:ea typeface="メイリオ"/>
                          <a:cs typeface="メイリオ"/>
                        </a:rPr>
                        <a:t>After（Web広告 × LINE OA）</a:t>
                      </a:r>
                    </a:p>
                  </a:txBody>
                  <a:tcPr anchor="ctr">
                    <a:solidFill>
                      <a:srgbClr val="1F285A"/>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投下計（広告費＋LINE運用費）</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1,000万円</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1,360万円（＋LINE運用費360万円）</a:t>
                      </a:r>
                    </a:p>
                  </a:txBody>
                  <a:tcPr anchor="ctr">
                    <a:solidFill>
                      <a:srgbClr val="FFFF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LP流入</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100,000セッション</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100,000セッション（変えない）</a:t>
                      </a:r>
                    </a:p>
                  </a:txBody>
                  <a:tcPr anchor="ctr">
                    <a:solidFill>
                      <a:srgbClr val="F4F7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LP CVR（資料請求）</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2.5%</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2.5%（変えない）</a:t>
                      </a:r>
                    </a:p>
                  </a:txBody>
                  <a:tcPr anchor="ctr">
                    <a:solidFill>
                      <a:srgbClr val="FFFF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広告経由のCV①（資料請求）</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2,500件</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2,500件</a:t>
                      </a:r>
                    </a:p>
                  </a:txBody>
                  <a:tcPr anchor="ctr">
                    <a:solidFill>
                      <a:srgbClr val="F4F7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LINE友だち化（離脱防止）</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2,925人（離脱97,500 ×★3%）</a:t>
                      </a:r>
                    </a:p>
                  </a:txBody>
                  <a:tcPr anchor="ctr">
                    <a:solidFill>
                      <a:srgbClr val="FFFF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LINE経由のCV①</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585件（友だち ×★20%）</a:t>
                      </a:r>
                    </a:p>
                  </a:txBody>
                  <a:tcPr anchor="ctr">
                    <a:solidFill>
                      <a:srgbClr val="F4F7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CV①合計 ／ CPA</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2,500件 ／ 4,000円</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3,085件 ／ 4,408円</a:t>
                      </a:r>
                    </a:p>
                  </a:txBody>
                  <a:tcPr anchor="ctr">
                    <a:solidFill>
                      <a:srgbClr val="FFFF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 OC予約率</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30%（750件）</a:t>
                      </a:r>
                    </a:p>
                  </a:txBody>
                  <a:tcPr anchor="ctr">
                    <a:solidFill>
                      <a:srgbClr val="F4F7FF"/>
                    </a:solidFill>
                  </a:tcPr>
                </a:tc>
                <a:tc>
                  <a:txBody>
                    <a:bodyPr wrap="square" lIns="50400" rIns="50400" tIns="10800" bIns="10800" anchor="ctr"/>
                    <a:lstStyle/>
                    <a:p>
                      <a:pPr algn="r"/>
                      <a:r>
                        <a:rPr sz="1100">
                          <a:solidFill>
                            <a:srgbClr val="1C2233"/>
                          </a:solidFill>
                          <a:latin typeface="メイリオ"/>
                          <a:ea typeface="メイリオ"/>
                          <a:cs typeface="メイリオ"/>
                        </a:rPr>
                        <a:t>30%（926件）※率は変えない</a:t>
                      </a:r>
                    </a:p>
                  </a:txBody>
                  <a:tcPr anchor="ctr">
                    <a:solidFill>
                      <a:srgbClr val="F4F7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 OC参加率</a:t>
                      </a:r>
                    </a:p>
                  </a:txBody>
                  <a:tcPr anchor="ctr">
                    <a:solidFill>
                      <a:srgbClr val="FFFFFF"/>
                    </a:solidFill>
                  </a:tcPr>
                </a:tc>
                <a:tc>
                  <a:txBody>
                    <a:bodyPr wrap="square" lIns="50400" rIns="50400" tIns="10800" bIns="10800" anchor="ctr"/>
                    <a:lstStyle/>
                    <a:p>
                      <a:pPr algn="r"/>
                      <a:r>
                        <a:rPr sz="1100" b="1">
                          <a:solidFill>
                            <a:srgbClr val="ED7D31"/>
                          </a:solidFill>
                          <a:latin typeface="メイリオ"/>
                          <a:ea typeface="メイリオ"/>
                          <a:cs typeface="メイリオ"/>
                        </a:rPr>
                        <a:t>70%（525名）</a:t>
                      </a:r>
                    </a:p>
                  </a:txBody>
                  <a:tcPr anchor="ctr">
                    <a:solidFill>
                      <a:srgbClr val="FFFFFF"/>
                    </a:solidFill>
                  </a:tcPr>
                </a:tc>
                <a:tc>
                  <a:txBody>
                    <a:bodyPr wrap="square" lIns="50400" rIns="50400" tIns="10800" bIns="10800" anchor="ctr"/>
                    <a:lstStyle/>
                    <a:p>
                      <a:pPr algn="r"/>
                      <a:r>
                        <a:rPr sz="1100" b="1">
                          <a:solidFill>
                            <a:srgbClr val="ED7D31"/>
                          </a:solidFill>
                          <a:latin typeface="メイリオ"/>
                          <a:ea typeface="メイリオ"/>
                          <a:cs typeface="メイリオ"/>
                        </a:rPr>
                        <a:t>80%（741名）※前日リマインド</a:t>
                      </a:r>
                    </a:p>
                  </a:txBody>
                  <a:tcPr anchor="ctr">
                    <a:solidFill>
                      <a:srgbClr val="FFFF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 出願率</a:t>
                      </a:r>
                    </a:p>
                  </a:txBody>
                  <a:tcPr anchor="ctr">
                    <a:solidFill>
                      <a:srgbClr val="F4F7FF"/>
                    </a:solidFill>
                  </a:tcPr>
                </a:tc>
                <a:tc>
                  <a:txBody>
                    <a:bodyPr wrap="square" lIns="50400" rIns="50400" tIns="10800" bIns="10800" anchor="ctr"/>
                    <a:lstStyle/>
                    <a:p>
                      <a:pPr algn="r"/>
                      <a:r>
                        <a:rPr sz="1100" b="1">
                          <a:solidFill>
                            <a:srgbClr val="ED7D31"/>
                          </a:solidFill>
                          <a:latin typeface="メイリオ"/>
                          <a:ea typeface="メイリオ"/>
                          <a:cs typeface="メイリオ"/>
                        </a:rPr>
                        <a:t>40%（210名）</a:t>
                      </a:r>
                    </a:p>
                  </a:txBody>
                  <a:tcPr anchor="ctr">
                    <a:solidFill>
                      <a:srgbClr val="F4F7FF"/>
                    </a:solidFill>
                  </a:tcPr>
                </a:tc>
                <a:tc>
                  <a:txBody>
                    <a:bodyPr wrap="square" lIns="50400" rIns="50400" tIns="10800" bIns="10800" anchor="ctr"/>
                    <a:lstStyle/>
                    <a:p>
                      <a:pPr algn="r"/>
                      <a:r>
                        <a:rPr sz="1100" b="1">
                          <a:solidFill>
                            <a:srgbClr val="ED7D31"/>
                          </a:solidFill>
                          <a:latin typeface="メイリオ"/>
                          <a:ea typeface="メイリオ"/>
                          <a:cs typeface="メイリオ"/>
                        </a:rPr>
                        <a:t>43%（319名）★</a:t>
                      </a:r>
                    </a:p>
                  </a:txBody>
                  <a:tcPr anchor="ctr">
                    <a:solidFill>
                      <a:srgbClr val="F4F7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 入学手続率</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57%（120名）</a:t>
                      </a:r>
                    </a:p>
                  </a:txBody>
                  <a:tcPr anchor="ctr">
                    <a:solidFill>
                      <a:srgbClr val="FFFFFF"/>
                    </a:solidFill>
                  </a:tcPr>
                </a:tc>
                <a:tc>
                  <a:txBody>
                    <a:bodyPr wrap="square" lIns="50400" rIns="50400" tIns="10800" bIns="10800" anchor="ctr"/>
                    <a:lstStyle/>
                    <a:p>
                      <a:pPr algn="r"/>
                      <a:r>
                        <a:rPr sz="1100">
                          <a:solidFill>
                            <a:srgbClr val="1C2233"/>
                          </a:solidFill>
                          <a:latin typeface="メイリオ"/>
                          <a:ea typeface="メイリオ"/>
                          <a:cs typeface="メイリオ"/>
                        </a:rPr>
                        <a:t>57%（182名）</a:t>
                      </a:r>
                    </a:p>
                  </a:txBody>
                  <a:tcPr anchor="ctr">
                    <a:solidFill>
                      <a:srgbClr val="FFFF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入学者（Web経由）</a:t>
                      </a:r>
                    </a:p>
                  </a:txBody>
                  <a:tcPr anchor="ctr">
                    <a:solidFill>
                      <a:srgbClr val="F4F7FF"/>
                    </a:solidFill>
                  </a:tcPr>
                </a:tc>
                <a:tc>
                  <a:txBody>
                    <a:bodyPr wrap="square" lIns="50400" rIns="50400" tIns="10800" bIns="10800" anchor="ctr"/>
                    <a:lstStyle/>
                    <a:p>
                      <a:pPr algn="r"/>
                      <a:r>
                        <a:rPr sz="1100" b="1">
                          <a:solidFill>
                            <a:srgbClr val="C00000"/>
                          </a:solidFill>
                          <a:latin typeface="メイリオ"/>
                          <a:ea typeface="メイリオ"/>
                          <a:cs typeface="メイリオ"/>
                        </a:rPr>
                        <a:t>120名</a:t>
                      </a:r>
                    </a:p>
                  </a:txBody>
                  <a:tcPr anchor="ctr">
                    <a:solidFill>
                      <a:srgbClr val="F4F7FF"/>
                    </a:solidFill>
                  </a:tcPr>
                </a:tc>
                <a:tc>
                  <a:txBody>
                    <a:bodyPr wrap="square" lIns="50400" rIns="50400" tIns="10800" bIns="10800" anchor="ctr"/>
                    <a:lstStyle/>
                    <a:p>
                      <a:pPr algn="r"/>
                      <a:r>
                        <a:rPr sz="1100" b="1">
                          <a:solidFill>
                            <a:srgbClr val="C00000"/>
                          </a:solidFill>
                          <a:latin typeface="メイリオ"/>
                          <a:ea typeface="メイリオ"/>
                          <a:cs typeface="メイリオ"/>
                        </a:rPr>
                        <a:t>182名（＋62名）</a:t>
                      </a:r>
                    </a:p>
                  </a:txBody>
                  <a:tcPr anchor="ctr">
                    <a:solidFill>
                      <a:srgbClr val="F4F7FF"/>
                    </a:solidFill>
                  </a:tcPr>
                </a:tc>
              </a:tr>
              <a:tr h="273600">
                <a:tc>
                  <a:txBody>
                    <a:bodyPr wrap="square" lIns="50400" rIns="50400" tIns="10800" bIns="10800" anchor="ctr"/>
                    <a:lstStyle/>
                    <a:p>
                      <a:pPr algn="l"/>
                      <a:r>
                        <a:rPr sz="1100">
                          <a:solidFill>
                            <a:srgbClr val="1C2233"/>
                          </a:solidFill>
                          <a:latin typeface="メイリオ"/>
                          <a:ea typeface="メイリオ"/>
                          <a:cs typeface="メイリオ"/>
                        </a:rPr>
                        <a:t>入学1名あたりの獲得コスト</a:t>
                      </a:r>
                    </a:p>
                  </a:txBody>
                  <a:tcPr anchor="ctr">
                    <a:solidFill>
                      <a:srgbClr val="FFFFFF"/>
                    </a:solidFill>
                  </a:tcPr>
                </a:tc>
                <a:tc>
                  <a:txBody>
                    <a:bodyPr wrap="square" lIns="50400" rIns="50400" tIns="10800" bIns="10800" anchor="ctr"/>
                    <a:lstStyle/>
                    <a:p>
                      <a:pPr algn="r"/>
                      <a:r>
                        <a:rPr sz="1100" b="1">
                          <a:solidFill>
                            <a:srgbClr val="1F285A"/>
                          </a:solidFill>
                          <a:latin typeface="メイリオ"/>
                          <a:ea typeface="メイリオ"/>
                          <a:cs typeface="メイリオ"/>
                        </a:rPr>
                        <a:t>83,333円</a:t>
                      </a:r>
                    </a:p>
                  </a:txBody>
                  <a:tcPr anchor="ctr">
                    <a:solidFill>
                      <a:srgbClr val="FFFFFF"/>
                    </a:solidFill>
                  </a:tcPr>
                </a:tc>
                <a:tc>
                  <a:txBody>
                    <a:bodyPr wrap="square" lIns="50400" rIns="50400" tIns="10800" bIns="10800" anchor="ctr"/>
                    <a:lstStyle/>
                    <a:p>
                      <a:pPr algn="r"/>
                      <a:r>
                        <a:rPr sz="1100" b="1">
                          <a:solidFill>
                            <a:srgbClr val="1F285A"/>
                          </a:solidFill>
                          <a:latin typeface="メイリオ"/>
                          <a:ea typeface="メイリオ"/>
                          <a:cs typeface="メイリオ"/>
                        </a:rPr>
                        <a:t>74,725円（▲10.3%）</a:t>
                      </a:r>
                    </a:p>
                  </a:txBody>
                  <a:tcPr anchor="ctr">
                    <a:solidFill>
                      <a:srgbClr val="FFFFFF"/>
                    </a:solidFill>
                  </a:tcPr>
                </a:tc>
              </a:tr>
            </a:tbl>
          </a:graphicData>
        </a:graphic>
      </p:graphicFrame>
      <p:sp>
        <p:nvSpPr>
          <p:cNvPr id="5" name="Rounded Rectangle 4"/>
          <p:cNvSpPr/>
          <p:nvPr/>
        </p:nvSpPr>
        <p:spPr>
          <a:xfrm>
            <a:off x="396000" y="5166000"/>
            <a:ext cx="2951999"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① LP CVRは動かしていない</a:t>
            </a:r>
          </a:p>
          <a:p>
            <a:pPr algn="l">
              <a:lnSpc>
                <a:spcPct val="120000"/>
              </a:lnSpc>
              <a:spcAft>
                <a:spcPts val="200"/>
              </a:spcAft>
            </a:pPr>
            <a:r>
              <a:rPr sz="1050">
                <a:solidFill>
                  <a:srgbClr val="1C2233"/>
                </a:solidFill>
                <a:latin typeface="メイリオ"/>
                <a:ea typeface="メイリオ"/>
                <a:cs typeface="メイリオ"/>
              </a:rPr>
              <a:t>触るのは「LPから落ちた後」と「予約が入った後」の2箇所だけ。</a:t>
            </a:r>
          </a:p>
        </p:txBody>
      </p:sp>
      <p:sp>
        <p:nvSpPr>
          <p:cNvPr id="6" name="Rounded Rectangle 5"/>
          <p:cNvSpPr/>
          <p:nvPr/>
        </p:nvSpPr>
        <p:spPr>
          <a:xfrm>
            <a:off x="3491999" y="5166000"/>
            <a:ext cx="2951999"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② 効くのは母数ではなく率</a:t>
            </a:r>
          </a:p>
          <a:p>
            <a:pPr algn="l">
              <a:lnSpc>
                <a:spcPct val="120000"/>
              </a:lnSpc>
              <a:spcAft>
                <a:spcPts val="200"/>
              </a:spcAft>
            </a:pPr>
            <a:r>
              <a:rPr sz="1050">
                <a:solidFill>
                  <a:srgbClr val="1C2233"/>
                </a:solidFill>
                <a:latin typeface="メイリオ"/>
                <a:ea typeface="メイリオ"/>
                <a:cs typeface="メイリオ"/>
              </a:rPr>
              <a:t>CV①は＋23%。でも入学者は＋52%。歩留まりが掛け算で効く。</a:t>
            </a:r>
          </a:p>
        </p:txBody>
      </p:sp>
      <p:sp>
        <p:nvSpPr>
          <p:cNvPr id="7" name="Rounded Rectangle 6"/>
          <p:cNvSpPr/>
          <p:nvPr/>
        </p:nvSpPr>
        <p:spPr>
          <a:xfrm>
            <a:off x="6588000" y="5166000"/>
            <a:ext cx="2951999"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③ CPA単体は悪化して見える</a:t>
            </a:r>
          </a:p>
          <a:p>
            <a:pPr algn="l">
              <a:lnSpc>
                <a:spcPct val="120000"/>
              </a:lnSpc>
              <a:spcAft>
                <a:spcPts val="200"/>
              </a:spcAft>
            </a:pPr>
            <a:r>
              <a:rPr sz="1050">
                <a:solidFill>
                  <a:srgbClr val="1C2233"/>
                </a:solidFill>
                <a:latin typeface="メイリオ"/>
                <a:ea typeface="メイリオ"/>
                <a:cs typeface="メイリオ"/>
              </a:rPr>
              <a:t>見るのは入学1名あたり。83,333円→74,725円（▲10.3%）。</a:t>
            </a:r>
          </a:p>
        </p:txBody>
      </p:sp>
      <p:sp>
        <p:nvSpPr>
          <p:cNvPr id="8" name="TextBox 7"/>
          <p:cNvSpPr txBox="1"/>
          <p:nvPr/>
        </p:nvSpPr>
        <p:spPr>
          <a:xfrm>
            <a:off x="396000" y="6083999"/>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★＝仮置き（①友だち化率3%　②友だち→CV①転換率20%　③出願率40→43%）。貴学の実績値で置き換える。</a:t>
            </a:r>
          </a:p>
          <a:p>
            <a:pPr algn="l">
              <a:lnSpc>
                <a:spcPct val="120000"/>
              </a:lnSpc>
            </a:pPr>
            <a:r>
              <a:rPr sz="900">
                <a:solidFill>
                  <a:srgbClr val="646C82"/>
                </a:solidFill>
                <a:latin typeface="メイリオ"/>
                <a:ea typeface="メイリオ"/>
                <a:cs typeface="メイリオ"/>
              </a:rPr>
              <a:t>※ 本試算はWeb経由の募集だけを切り出したもの。他経路と重複するため純増は試算より小さくなる。定員充足済みの学校では「歩留まり改善によるコスト削減」として読む。</a:t>
            </a:r>
          </a:p>
        </p:txBody>
      </p:sp>
    </p:spTree>
    <p:extLst>
      <p:ext uri="{BB962C8B-B14F-4D97-AF65-F5344CB8AC3E}">
        <p14:creationId xmlns:p14="http://schemas.microsoft.com/office/powerpoint/2010/main" val="4112226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panose="020B0604030504040204" pitchFamily="50" charset="-128"/>
              </a:rPr>
              <a:t>流入</a:t>
            </a:r>
            <a:r>
              <a:rPr lang="en-US" altLang="ja-JP" sz="900" b="1" dirty="0">
                <a:solidFill>
                  <a:srgbClr val="FDFDFD"/>
                </a:solidFill>
                <a:latin typeface="メイリオ" panose="020B0604030504040204" pitchFamily="50" charset="-128"/>
              </a:rPr>
              <a:t>/</a:t>
            </a:r>
            <a:r>
              <a:rPr lang="ja-JP" altLang="en-US" sz="900" b="1" dirty="0">
                <a:solidFill>
                  <a:srgbClr val="FDFDFD"/>
                </a:solidFill>
                <a:latin typeface="メイリオ" panose="020B0604030504040204" pitchFamily="50" charset="-128"/>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panose="020B0604030504040204" pitchFamily="50" charset="-128"/>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施策設計①｜友だち追加の動線</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新しく集めるのではなく、いま取れている資料請求者・OC参加者をLINEに載せ替える。</a:t>
            </a:r>
          </a:p>
        </p:txBody>
      </p:sp>
      <p:graphicFrame>
        <p:nvGraphicFramePr>
          <p:cNvPr id="4" name="Table 3"/>
          <p:cNvGraphicFramePr>
            <a:graphicFrameLocks noGrp="1"/>
          </p:cNvGraphicFramePr>
          <p:nvPr/>
        </p:nvGraphicFramePr>
        <p:xfrm>
          <a:off x="396000" y="1224000"/>
          <a:ext cx="9144000" cy="3225600"/>
        </p:xfrm>
        <a:graphic>
          <a:graphicData uri="http://schemas.openxmlformats.org/drawingml/2006/table">
            <a:tbl>
              <a:tblPr firstRow="1" bandRow="1">
                <a:tableStyleId>{5C22544A-7EE6-4342-B048-85BDC9FD1C3A}</a:tableStyleId>
              </a:tblPr>
              <a:tblGrid>
                <a:gridCol w="2376000"/>
                <a:gridCol w="3744000"/>
                <a:gridCol w="1080000"/>
                <a:gridCol w="1944000"/>
              </a:tblGrid>
              <a:tr h="460800">
                <a:tc>
                  <a:txBody>
                    <a:bodyPr wrap="square" lIns="50400" rIns="50400" tIns="10800" bIns="10800" anchor="ctr"/>
                    <a:lstStyle/>
                    <a:p>
                      <a:pPr algn="l"/>
                      <a:r>
                        <a:rPr sz="1200" b="1">
                          <a:solidFill>
                            <a:srgbClr val="FFFFFF"/>
                          </a:solidFill>
                          <a:latin typeface="メイリオ"/>
                          <a:ea typeface="メイリオ"/>
                          <a:cs typeface="メイリオ"/>
                        </a:rPr>
                        <a:t>箇所</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到達点</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費用（税抜）</a:t>
                      </a:r>
                    </a:p>
                  </a:txBody>
                  <a:tcPr anchor="ctr">
                    <a:solidFill>
                      <a:srgbClr val="1F285A"/>
                    </a:solidFill>
                  </a:tcPr>
                </a:tc>
              </a:tr>
              <a:tr h="460800">
                <a:tc>
                  <a:txBody>
                    <a:bodyPr wrap="square" lIns="50400" rIns="50400" tIns="10800" bIns="10800" anchor="ctr"/>
                    <a:lstStyle/>
                    <a:p>
                      <a:pPr algn="l"/>
                      <a:r>
                        <a:rPr sz="1100">
                          <a:solidFill>
                            <a:srgbClr val="1C2233"/>
                          </a:solidFill>
                          <a:latin typeface="メイリオ"/>
                          <a:ea typeface="メイリオ"/>
                          <a:cs typeface="メイリオ"/>
                        </a:rPr>
                        <a:t>資料請求の完了画面</a:t>
                      </a:r>
                    </a:p>
                    <a:p>
                      <a:pPr algn="l"/>
                      <a:r>
                        <a:rPr sz="1100">
                          <a:solidFill>
                            <a:srgbClr val="1C2233"/>
                          </a:solidFill>
                          <a:latin typeface="メイリオ"/>
                          <a:ea typeface="メイリオ"/>
                          <a:cs typeface="メイリオ"/>
                        </a:rPr>
                        <a:t>（サンクスLINE誘導）</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学部学科診断で、自分に合う学部が30秒でわかる</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wrap="square" lIns="50400" rIns="50400" tIns="10800" bIns="10800" anchor="ctr"/>
                    <a:lstStyle/>
                    <a:p>
                      <a:pPr algn="l"/>
                      <a:r>
                        <a:rPr sz="1100" b="1">
                          <a:solidFill>
                            <a:srgbClr val="1F285A"/>
                          </a:solidFill>
                          <a:latin typeface="メイリオ"/>
                          <a:ea typeface="メイリオ"/>
                          <a:cs typeface="メイリオ"/>
                        </a:rPr>
                        <a:t>コンサル発注なら無償</a:t>
                      </a:r>
                    </a:p>
                  </a:txBody>
                  <a:tcPr anchor="ctr">
                    <a:solidFill>
                      <a:srgbClr val="FFFFFF"/>
                    </a:solidFill>
                  </a:tcPr>
                </a:tc>
              </a:tr>
              <a:tr h="460800">
                <a:tc>
                  <a:txBody>
                    <a:bodyPr wrap="square" lIns="50400" rIns="50400" tIns="10800" bIns="10800" anchor="ctr"/>
                    <a:lstStyle/>
                    <a:p>
                      <a:pPr algn="l"/>
                      <a:r>
                        <a:rPr sz="1100">
                          <a:solidFill>
                            <a:srgbClr val="1C2233"/>
                          </a:solidFill>
                          <a:latin typeface="メイリオ"/>
                          <a:ea typeface="メイリオ"/>
                          <a:cs typeface="メイリオ"/>
                        </a:rPr>
                        <a:t>オープンキャンパス受付のQR</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当日の流れ・持ち物を先に送る／受付はLINE画面を見せるだけ</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wrap="square" lIns="50400" rIns="50400" tIns="10800" bIns="10800" anchor="ctr"/>
                    <a:lstStyle/>
                    <a:p>
                      <a:pPr algn="l"/>
                      <a:r>
                        <a:rPr sz="1100" b="1">
                          <a:solidFill>
                            <a:srgbClr val="1F285A"/>
                          </a:solidFill>
                          <a:latin typeface="メイリオ"/>
                          <a:ea typeface="メイリオ"/>
                          <a:cs typeface="メイリオ"/>
                        </a:rPr>
                        <a:t>無償</a:t>
                      </a:r>
                    </a:p>
                  </a:txBody>
                  <a:tcPr anchor="ctr">
                    <a:solidFill>
                      <a:srgbClr val="F4F7FF"/>
                    </a:solidFill>
                  </a:tcPr>
                </a:tc>
              </a:tr>
              <a:tr h="460800">
                <a:tc>
                  <a:txBody>
                    <a:bodyPr wrap="square" lIns="50400" rIns="50400" tIns="10800" bIns="10800" anchor="ctr"/>
                    <a:lstStyle/>
                    <a:p>
                      <a:pPr algn="l"/>
                      <a:r>
                        <a:rPr sz="1100">
                          <a:solidFill>
                            <a:srgbClr val="1C2233"/>
                          </a:solidFill>
                          <a:latin typeface="メイリオ"/>
                          <a:ea typeface="メイリオ"/>
                          <a:cs typeface="メイリオ"/>
                        </a:rPr>
                        <a:t>LP離脱防止ポップアップ</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30秒の学部診断／名前も電話番号も入力しません</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初期 1.5万円 ／ 月 3万円</a:t>
                      </a:r>
                    </a:p>
                  </a:txBody>
                  <a:tcPr anchor="ctr">
                    <a:solidFill>
                      <a:srgbClr val="FFFFFF"/>
                    </a:solidFill>
                  </a:tcPr>
                </a:tc>
              </a:tr>
              <a:tr h="460800">
                <a:tc>
                  <a:txBody>
                    <a:bodyPr wrap="square" lIns="50400" rIns="50400" tIns="10800" bIns="10800" anchor="ctr"/>
                    <a:lstStyle/>
                    <a:p>
                      <a:pPr algn="l"/>
                      <a:r>
                        <a:rPr sz="1100">
                          <a:solidFill>
                            <a:srgbClr val="1C2233"/>
                          </a:solidFill>
                          <a:latin typeface="メイリオ"/>
                          <a:ea typeface="メイリオ"/>
                          <a:cs typeface="メイリオ"/>
                        </a:rPr>
                        <a:t>LINE広告（CPF）</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タップ1回で友だち追加・フォーム入力ゼロ</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20万円〜（1ヶ月〜）</a:t>
                      </a:r>
                    </a:p>
                  </a:txBody>
                  <a:tcPr anchor="ctr">
                    <a:solidFill>
                      <a:srgbClr val="F4F7FF"/>
                    </a:solidFill>
                  </a:tcPr>
                </a:tc>
              </a:tr>
              <a:tr h="460800">
                <a:tc>
                  <a:txBody>
                    <a:bodyPr wrap="square" lIns="50400" rIns="50400" tIns="10800" bIns="10800" anchor="ctr"/>
                    <a:lstStyle/>
                    <a:p>
                      <a:pPr algn="l"/>
                      <a:r>
                        <a:rPr sz="1100">
                          <a:solidFill>
                            <a:srgbClr val="1C2233"/>
                          </a:solidFill>
                          <a:latin typeface="メイリオ"/>
                          <a:ea typeface="メイリオ"/>
                          <a:cs typeface="メイリオ"/>
                        </a:rPr>
                        <a:t>通知メッセージ（保有リスト）</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資料請求者・OC予約者へ、友だちでなくても直接届く</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初期 10万円 ／ 月 8万円〜＋通数 7円</a:t>
                      </a:r>
                    </a:p>
                  </a:txBody>
                  <a:tcPr anchor="ctr">
                    <a:solidFill>
                      <a:srgbClr val="FFFFFF"/>
                    </a:solidFill>
                  </a:tcPr>
                </a:tc>
              </a:tr>
              <a:tr h="460800">
                <a:tc>
                  <a:txBody>
                    <a:bodyPr wrap="square" lIns="50400" rIns="50400" tIns="10800" bIns="10800" anchor="ctr"/>
                    <a:lstStyle/>
                    <a:p>
                      <a:pPr algn="l"/>
                      <a:r>
                        <a:rPr sz="1100">
                          <a:solidFill>
                            <a:srgbClr val="1C2233"/>
                          </a:solidFill>
                          <a:latin typeface="メイリオ"/>
                          <a:ea typeface="メイリオ"/>
                          <a:cs typeface="メイリオ"/>
                        </a:rPr>
                        <a:t>パンフ裏表紙・高校での説明会資料</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デジタルパンフをLINEで受け取れる</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wrap="square" lIns="50400" rIns="50400" tIns="10800" bIns="10800" anchor="ctr"/>
                    <a:lstStyle/>
                    <a:p>
                      <a:pPr algn="l"/>
                      <a:r>
                        <a:rPr sz="1100" b="1">
                          <a:solidFill>
                            <a:srgbClr val="1F285A"/>
                          </a:solidFill>
                          <a:latin typeface="メイリオ"/>
                          <a:ea typeface="メイリオ"/>
                          <a:cs typeface="メイリオ"/>
                        </a:rPr>
                        <a:t>無償</a:t>
                      </a:r>
                    </a:p>
                  </a:txBody>
                  <a:tcPr anchor="ctr">
                    <a:solidFill>
                      <a:srgbClr val="F4F7FF"/>
                    </a:solidFill>
                  </a:tcPr>
                </a:tc>
              </a:tr>
            </a:tbl>
          </a:graphicData>
        </a:graphic>
      </p:graphicFrame>
      <p:sp>
        <p:nvSpPr>
          <p:cNvPr id="5" name="Rectangle 4"/>
          <p:cNvSpPr/>
          <p:nvPr/>
        </p:nvSpPr>
        <p:spPr>
          <a:xfrm>
            <a:off x="396000" y="4716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2000" y="4716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00" y="4795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最も志望度が高いのは「OCに来てくれた高校生」。受付のQR1枚が、コストゼロで一番効く。</a:t>
            </a:r>
          </a:p>
        </p:txBody>
      </p:sp>
      <p:sp>
        <p:nvSpPr>
          <p:cNvPr id="8" name="TextBox 7"/>
          <p:cNvSpPr txBox="1"/>
          <p:nvPr/>
        </p:nvSpPr>
        <p:spPr>
          <a:xfrm>
            <a:off x="396000" y="5292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費用は DYM 標準（税抜・6ヶ月〜）。オフライン動線・WEBサイト動線整備はコンサル発注時は無償で付帯。</a:t>
            </a:r>
          </a:p>
          <a:p>
            <a:pPr algn="l">
              <a:lnSpc>
                <a:spcPct val="120000"/>
              </a:lnSpc>
            </a:pPr>
            <a:r>
              <a:rPr sz="900">
                <a:solidFill>
                  <a:srgbClr val="646C82"/>
                </a:solidFill>
                <a:latin typeface="メイリオ"/>
                <a:ea typeface="メイリオ"/>
                <a:cs typeface="メイリオ"/>
              </a:rPr>
              <a:t>※ 通知メッセージは Sales Partner／Tech Partner 限定公開のAPIを使用する機能。料金プランにより通数単価・利用可能機能が異なる。</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施策設計②｜効率改善（配信の効果算出）</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配信ごとに「対象 → 訴求 → 開封率×クリック率×CVR → 件数」を一本の式で示す。</a:t>
            </a:r>
          </a:p>
          <a:p>
            <a:pPr algn="l">
              <a:lnSpc>
                <a:spcPct val="122000"/>
              </a:lnSpc>
            </a:pPr>
            <a:r>
              <a:rPr sz="1500">
                <a:solidFill>
                  <a:srgbClr val="646C82"/>
                </a:solidFill>
                <a:latin typeface="メイリオ"/>
                <a:ea typeface="メイリオ"/>
                <a:cs typeface="メイリオ"/>
              </a:rPr>
              <a:t>率は貴学の実績値を入れて確定する（進学領域の公開統計は存在しない）。</a:t>
            </a:r>
          </a:p>
        </p:txBody>
      </p:sp>
      <p:graphicFrame>
        <p:nvGraphicFramePr>
          <p:cNvPr id="4" name="Table 3"/>
          <p:cNvGraphicFramePr>
            <a:graphicFrameLocks noGrp="1"/>
          </p:cNvGraphicFramePr>
          <p:nvPr/>
        </p:nvGraphicFramePr>
        <p:xfrm>
          <a:off x="396000" y="1224000"/>
          <a:ext cx="9143999" cy="4464000"/>
        </p:xfrm>
        <a:graphic>
          <a:graphicData uri="http://schemas.openxmlformats.org/drawingml/2006/table">
            <a:tbl>
              <a:tblPr firstRow="1" bandRow="1">
                <a:tableStyleId>{5C22544A-7EE6-4342-B048-85BDC9FD1C3A}</a:tableStyleId>
              </a:tblPr>
              <a:tblGrid>
                <a:gridCol w="1224000"/>
                <a:gridCol w="2304000"/>
                <a:gridCol w="2951999"/>
                <a:gridCol w="1800000"/>
                <a:gridCol w="864000"/>
              </a:tblGrid>
              <a:tr h="558000">
                <a:tc>
                  <a:txBody>
                    <a:bodyPr wrap="square" lIns="50400" rIns="50400" tIns="10800" bIns="10800" anchor="ct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対象（想定数）</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計算式</a:t>
                      </a:r>
                    </a:p>
                  </a:txBody>
                  <a:tcPr anchor="ctr">
                    <a:solidFill>
                      <a:srgbClr val="1F285A"/>
                    </a:solidFill>
                  </a:tcPr>
                </a:tc>
                <a:tc>
                  <a:txBody>
                    <a:bodyPr wrap="square" lIns="50400" rIns="50400" tIns="10800" bIns="10800" anchor="ctr"/>
                    <a:lstStyle/>
                    <a:p>
                      <a:pPr algn="ctr"/>
                      <a:r>
                        <a:rPr sz="1200" b="1">
                          <a:solidFill>
                            <a:srgbClr val="FFFFFF"/>
                          </a:solidFill>
                          <a:latin typeface="メイリオ"/>
                          <a:ea typeface="メイリオ"/>
                          <a:cs typeface="メイリオ"/>
                        </a:rPr>
                        <a:t>件数</a:t>
                      </a:r>
                    </a:p>
                  </a:txBody>
                  <a:tcPr anchor="ctr">
                    <a:solidFill>
                      <a:srgbClr val="1F285A"/>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ステップ配信</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Day0｜診断に回答した全員（○人）</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診断結果＋在学生の1日（動画3分）</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○件</a:t>
                      </a:r>
                    </a:p>
                  </a:txBody>
                  <a:tcPr anchor="ctr">
                    <a:solidFill>
                      <a:srgbClr val="FFFF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Day6｜Day0未反応者（○人）</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OC日程＋当日の流れ＋1人参加OK</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○件</a:t>
                      </a:r>
                    </a:p>
                  </a:txBody>
                  <a:tcPr anchor="ctr">
                    <a:solidFill>
                      <a:srgbClr val="F4F7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Day14｜未CV者（○人）</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残席状況＋オンライン相談も選べる</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○件</a:t>
                      </a:r>
                    </a:p>
                  </a:txBody>
                  <a:tcPr anchor="ctr">
                    <a:solidFill>
                      <a:srgbClr val="FFFF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企画配信</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高2の友だち（○人）</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学部の選び方／文系理系の決め方</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○件</a:t>
                      </a:r>
                    </a:p>
                  </a:txBody>
                  <a:tcPr anchor="ctr">
                    <a:solidFill>
                      <a:srgbClr val="F4F7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9月｜OC参加者（○人）</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志望理由書の書き方（3ステップ・記入例つき）</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○件</a:t>
                      </a:r>
                    </a:p>
                  </a:txBody>
                  <a:tcPr anchor="ctr">
                    <a:solidFill>
                      <a:srgbClr val="FFFF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11月｜出願検討層（○人）</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学校推薦型の締切カウントダウン</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wrap="square" lIns="50400" rIns="50400" tIns="10800" bIns="10800" anchor="ctr"/>
                    <a:lstStyle/>
                    <a:p>
                      <a:pPr algn="ctr"/>
                      <a:r>
                        <a:rPr sz="1100">
                          <a:solidFill>
                            <a:srgbClr val="1C2233"/>
                          </a:solidFill>
                          <a:latin typeface="メイリオ"/>
                          <a:ea typeface="メイリオ"/>
                          <a:cs typeface="メイリオ"/>
                        </a:rPr>
                        <a:t>○件</a:t>
                      </a:r>
                    </a:p>
                  </a:txBody>
                  <a:tcPr anchor="ctr">
                    <a:solidFill>
                      <a:srgbClr val="F4F7FF"/>
                    </a:solidFill>
                  </a:tcPr>
                </a:tc>
              </a:tr>
              <a:tr h="558000">
                <a:tc>
                  <a:txBody>
                    <a:bodyPr wrap="square" lIns="50400" rIns="50400" tIns="10800" bIns="10800" anchor="ctr"/>
                    <a:lstStyle/>
                    <a:p>
                      <a:pPr algn="ctr"/>
                      <a:r>
                        <a:rPr sz="1100">
                          <a:solidFill>
                            <a:srgbClr val="1C2233"/>
                          </a:solidFill>
                          <a:latin typeface="メイリオ"/>
                          <a:ea typeface="メイリオ"/>
                          <a:cs typeface="メイリオ"/>
                        </a:rPr>
                        <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2月｜合格者（○人）</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入学前オリエン・先輩との交流・一人暮らし準備</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wrap="square" lIns="50400" rIns="50400" tIns="10800" bIns="10800" anchor="ctr"/>
                    <a:lstStyle/>
                    <a:p>
                      <a:pPr algn="ctr"/>
                      <a:r>
                        <a:rPr sz="1100">
                          <a:solidFill>
                            <a:srgbClr val="1C2233"/>
                          </a:solidFill>
                          <a:latin typeface="メイリオ"/>
                          <a:ea typeface="メイリオ"/>
                          <a:cs typeface="メイリオ"/>
                        </a:rPr>
                        <a:t>○件</a:t>
                      </a:r>
                    </a:p>
                  </a:txBody>
                  <a:tcPr anchor="ctr">
                    <a:solidFill>
                      <a:srgbClr val="FFFFFF"/>
                    </a:solidFill>
                  </a:tcPr>
                </a:tc>
              </a:tr>
            </a:tbl>
          </a:graphicData>
        </a:graphic>
      </p:graphicFrame>
      <p:sp>
        <p:nvSpPr>
          <p:cNvPr id="5" name="TextBox 4"/>
          <p:cNvSpPr txBox="1"/>
          <p:nvPr/>
        </p:nvSpPr>
        <p:spPr>
          <a:xfrm>
            <a:off x="396000" y="6138000"/>
            <a:ext cx="9144000" cy="518400"/>
          </a:xfrm>
          <a:prstGeom prst="rect">
            <a:avLst/>
          </a:prstGeom>
          <a:noFill/>
        </p:spPr>
        <p:txBody>
          <a:bodyPr wrap="square" lIns="0" rIns="0" tIns="21600" bIns="21600" anchor="t">
            <a:spAutoFit/>
          </a:bodyPr>
          <a:lstStyle/>
          <a:p>
            <a:pPr algn="l">
              <a:lnSpc>
                <a:spcPct val="120000"/>
              </a:lnSpc>
            </a:pPr>
            <a:r>
              <a:rPr sz="900">
                <a:solidFill>
                  <a:srgbClr val="646C82"/>
                </a:solidFill>
                <a:latin typeface="メイリオ"/>
                <a:ea typeface="メイリオ"/>
                <a:cs typeface="メイリオ"/>
              </a:rPr>
              <a:t>※ 配信の時期は Googleトレンド実測（2026-09-15取得）と文部科学省「大学入学者選抜実施要項」から逆算。</a:t>
            </a:r>
          </a:p>
          <a:p>
            <a:pPr algn="l">
              <a:lnSpc>
                <a:spcPct val="120000"/>
              </a:lnSpc>
            </a:pPr>
            <a:r>
              <a:rPr sz="900">
                <a:solidFill>
                  <a:srgbClr val="646C82"/>
                </a:solidFill>
                <a:latin typeface="メイリオ"/>
                <a:ea typeface="メイリオ"/>
                <a:cs typeface="メイリオ"/>
              </a:rPr>
              <a:t>※ 開封率・クリック率・CVR は貴学の実績で埋める。運用費は「施策設計①」の表を参照。</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施策設計③｜満足度改善（ユーザー）</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情報を届けるだけでなく、困ったときに自分で解決できる導線も用意する。</a:t>
            </a:r>
          </a:p>
        </p:txBody>
      </p:sp>
      <p:graphicFrame>
        <p:nvGraphicFramePr>
          <p:cNvPr id="4" name="Table 3"/>
          <p:cNvGraphicFramePr>
            <a:graphicFrameLocks noGrp="1"/>
          </p:cNvGraphicFramePr>
          <p:nvPr/>
        </p:nvGraphicFramePr>
        <p:xfrm>
          <a:off x="396000" y="1224000"/>
          <a:ext cx="9144000" cy="3024000"/>
        </p:xfrm>
        <a:graphic>
          <a:graphicData uri="http://schemas.openxmlformats.org/drawingml/2006/table">
            <a:tbl>
              <a:tblPr firstRow="1" bandRow="1">
                <a:tableStyleId>{5C22544A-7EE6-4342-B048-85BDC9FD1C3A}</a:tableStyleId>
              </a:tblPr>
              <a:tblGrid>
                <a:gridCol w="1944000"/>
                <a:gridCol w="7200000"/>
              </a:tblGrid>
              <a:tr h="756000">
                <a:tc>
                  <a:txBody>
                    <a:bodyPr wrap="square" lIns="50400" rIns="50400" tIns="10800" bIns="10800" anchor="ct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内容</a:t>
                      </a:r>
                    </a:p>
                  </a:txBody>
                  <a:tcPr anchor="ctr">
                    <a:solidFill>
                      <a:srgbClr val="1F285A"/>
                    </a:solidFill>
                  </a:tcPr>
                </a:tc>
              </a:tr>
              <a:tr h="756000">
                <a:tc>
                  <a:txBody>
                    <a:bodyPr wrap="square" lIns="50400" rIns="50400" tIns="10800" bIns="10800" anchor="ctr"/>
                    <a:lstStyle/>
                    <a:p>
                      <a:pPr algn="ctr"/>
                      <a:r>
                        <a:rPr sz="1100">
                          <a:solidFill>
                            <a:srgbClr val="1C2233"/>
                          </a:solidFill>
                          <a:latin typeface="メイリオ"/>
                          <a:ea typeface="メイリオ"/>
                          <a:cs typeface="メイリオ"/>
                        </a:rPr>
                        <a:t>QA自動化</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リッチメニュー「よくある質問」＋KW自動応答（学費／奨学金／アクセス／OC／出願締切）。24時間、待たせない</a:t>
                      </a:r>
                    </a:p>
                  </a:txBody>
                  <a:tcPr anchor="ctr">
                    <a:solidFill>
                      <a:srgbClr val="FFFFFF"/>
                    </a:solidFill>
                  </a:tcPr>
                </a:tc>
              </a:tr>
              <a:tr h="756000">
                <a:tc>
                  <a:txBody>
                    <a:bodyPr wrap="square" lIns="50400" rIns="50400" tIns="10800" bIns="10800" anchor="ctr"/>
                    <a:lstStyle/>
                    <a:p>
                      <a:pPr algn="ctr"/>
                      <a:r>
                        <a:rPr sz="1100">
                          <a:solidFill>
                            <a:srgbClr val="1C2233"/>
                          </a:solidFill>
                          <a:latin typeface="メイリオ"/>
                          <a:ea typeface="メイリオ"/>
                          <a:cs typeface="メイリオ"/>
                        </a:rPr>
                        <a:t>個別チャット</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自動応答で解決しない相談は有人対応（Chat Plus／Call Plus・別途費用）。対応時間を必ず画面に明記する</a:t>
                      </a:r>
                    </a:p>
                  </a:txBody>
                  <a:tcPr anchor="ctr">
                    <a:solidFill>
                      <a:srgbClr val="F4F7FF"/>
                    </a:solidFill>
                  </a:tcPr>
                </a:tc>
              </a:tr>
              <a:tr h="756000">
                <a:tc>
                  <a:txBody>
                    <a:bodyPr wrap="square" lIns="50400" rIns="50400" tIns="10800" bIns="10800" anchor="ctr"/>
                    <a:lstStyle/>
                    <a:p>
                      <a:pPr algn="ctr"/>
                      <a:r>
                        <a:rPr sz="1100">
                          <a:solidFill>
                            <a:srgbClr val="1C2233"/>
                          </a:solidFill>
                          <a:latin typeface="メイリオ"/>
                          <a:ea typeface="メイリオ"/>
                          <a:cs typeface="メイリオ"/>
                        </a:rPr>
                        <a:t>その他</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「診断をやり直す」「配信を止める」で自己解決。ブロックさせないための出口を、隠さず置く</a:t>
                      </a:r>
                    </a:p>
                  </a:txBody>
                  <a:tcPr anchor="ctr">
                    <a:solidFill>
                      <a:srgbClr val="FFFFFF"/>
                    </a:solidFill>
                  </a:tcPr>
                </a:tc>
              </a:tr>
            </a:tbl>
          </a:graphicData>
        </a:graphic>
      </p:graphicFrame>
      <p:sp>
        <p:nvSpPr>
          <p:cNvPr id="5" name="Rounded Rectangle 4"/>
          <p:cNvSpPr/>
          <p:nvPr/>
        </p:nvSpPr>
        <p:spPr>
          <a:xfrm>
            <a:off x="396000" y="3816000"/>
            <a:ext cx="4464000" cy="151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この業界で最大の恐怖に、先回りする</a:t>
            </a:r>
          </a:p>
          <a:p>
            <a:pPr algn="l">
              <a:lnSpc>
                <a:spcPct val="120000"/>
              </a:lnSpc>
              <a:spcAft>
                <a:spcPts val="200"/>
              </a:spcAft>
            </a:pPr>
            <a:r>
              <a:rPr sz="1100">
                <a:solidFill>
                  <a:srgbClr val="1C2233"/>
                </a:solidFill>
                <a:latin typeface="メイリオ"/>
                <a:ea typeface="メイリオ"/>
                <a:cs typeface="メイリオ"/>
              </a:rPr>
              <a:t>高校生が資料請求をためらう最大の理由は「そのあと電話がかかってくること」。</a:t>
            </a:r>
          </a:p>
          <a:p>
            <a:pPr algn="l">
              <a:lnSpc>
                <a:spcPct val="120000"/>
              </a:lnSpc>
              <a:spcAft>
                <a:spcPts val="200"/>
              </a:spcAft>
            </a:pPr>
            <a:r>
              <a:rPr sz="1100">
                <a:solidFill>
                  <a:srgbClr val="1C2233"/>
                </a:solidFill>
                <a:latin typeface="メイリオ"/>
                <a:ea typeface="メイリオ"/>
                <a:cs typeface="メイリオ"/>
              </a:rPr>
              <a:t>あいさつメッセージの1行目に</a:t>
            </a:r>
          </a:p>
          <a:p>
            <a:pPr algn="l">
              <a:lnSpc>
                <a:spcPct val="120000"/>
              </a:lnSpc>
              <a:spcAft>
                <a:spcPts val="200"/>
              </a:spcAft>
            </a:pPr>
            <a:r>
              <a:rPr sz="1100">
                <a:solidFill>
                  <a:srgbClr val="1C2233"/>
                </a:solidFill>
                <a:latin typeface="メイリオ"/>
                <a:ea typeface="メイリオ"/>
                <a:cs typeface="メイリオ"/>
              </a:rPr>
              <a:t>「こちらから確認のお電話をすることはありません」と書く。コストはゼロ。</a:t>
            </a:r>
          </a:p>
        </p:txBody>
      </p:sp>
      <p:sp>
        <p:nvSpPr>
          <p:cNvPr id="6" name="Rounded Rectangle 5"/>
          <p:cNvSpPr/>
          <p:nvPr/>
        </p:nvSpPr>
        <p:spPr>
          <a:xfrm>
            <a:off x="5076000" y="3816000"/>
            <a:ext cx="44640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保護者も同じアカウントで受け止める</a:t>
            </a:r>
          </a:p>
          <a:p>
            <a:pPr algn="l">
              <a:lnSpc>
                <a:spcPct val="120000"/>
              </a:lnSpc>
              <a:spcAft>
                <a:spcPts val="200"/>
              </a:spcAft>
            </a:pPr>
            <a:r>
              <a:rPr sz="1100">
                <a:solidFill>
                  <a:srgbClr val="1C2233"/>
                </a:solidFill>
                <a:latin typeface="メイリオ"/>
                <a:ea typeface="メイリオ"/>
                <a:cs typeface="メイリオ"/>
              </a:rPr>
              <a:t>決める人（高校生）と払う人（保護者）が違う業界。</a:t>
            </a:r>
          </a:p>
          <a:p>
            <a:pPr algn="l">
              <a:lnSpc>
                <a:spcPct val="120000"/>
              </a:lnSpc>
              <a:spcAft>
                <a:spcPts val="200"/>
              </a:spcAft>
            </a:pPr>
            <a:r>
              <a:rPr sz="1100">
                <a:solidFill>
                  <a:srgbClr val="1C2233"/>
                </a:solidFill>
                <a:latin typeface="メイリオ"/>
                <a:ea typeface="メイリオ"/>
                <a:cs typeface="メイリオ"/>
              </a:rPr>
              <a:t>「保護者の方も、このままご覧いただけます」を明記し、</a:t>
            </a:r>
          </a:p>
          <a:p>
            <a:pPr algn="l">
              <a:lnSpc>
                <a:spcPct val="120000"/>
              </a:lnSpc>
              <a:spcAft>
                <a:spcPts val="200"/>
              </a:spcAft>
            </a:pPr>
            <a:r>
              <a:rPr sz="1100">
                <a:solidFill>
                  <a:srgbClr val="1C2233"/>
                </a:solidFill>
                <a:latin typeface="メイリオ"/>
                <a:ea typeface="メイリオ"/>
                <a:cs typeface="メイリオ"/>
              </a:rPr>
              <a:t>リッチメニュー③に学費・奨学金・就職実績をまとめて置く。</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困ったときに自分で解決できるほど、ブロックされずに残る。</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108000"/>
            <a:ext cx="7523999" cy="360000"/>
          </a:xfrm>
          <a:prstGeom prst="rect">
            <a:avLst/>
          </a:prstGeom>
          <a:noFill/>
        </p:spPr>
        <p:txBody>
          <a:bodyPr wrap="square" lIns="0" rIns="0" tIns="21600" bIns="21600" anchor="ctr">
            <a:spAutoFit/>
          </a:bodyPr>
          <a:lstStyle/>
          <a:p>
            <a:pPr algn="l"/>
            <a:r>
              <a:rPr sz="1600" b="1">
                <a:solidFill>
                  <a:srgbClr val="1F2A5C"/>
                </a:solidFill>
                <a:latin typeface="メイリオ"/>
                <a:ea typeface="メイリオ"/>
                <a:cs typeface="メイリオ"/>
              </a:rPr>
              <a:t>施策設計④｜効率改善（管理側）</a:t>
            </a:r>
          </a:p>
        </p:txBody>
      </p:sp>
      <p:sp>
        <p:nvSpPr>
          <p:cNvPr id="3" name="TextBox 2"/>
          <p:cNvSpPr txBox="1"/>
          <p:nvPr/>
        </p:nvSpPr>
        <p:spPr>
          <a:xfrm>
            <a:off x="396000" y="720000"/>
            <a:ext cx="9144000" cy="396000"/>
          </a:xfrm>
          <a:prstGeom prst="rect">
            <a:avLst/>
          </a:prstGeom>
          <a:noFill/>
        </p:spPr>
        <p:txBody>
          <a:bodyPr wrap="square" lIns="0" rIns="0" tIns="21600" bIns="21600" anchor="ctr">
            <a:spAutoFit/>
          </a:bodyPr>
          <a:lstStyle/>
          <a:p>
            <a:pPr algn="l">
              <a:lnSpc>
                <a:spcPct val="122000"/>
              </a:lnSpc>
            </a:pPr>
            <a:r>
              <a:rPr sz="1500">
                <a:solidFill>
                  <a:srgbClr val="646C82"/>
                </a:solidFill>
                <a:latin typeface="メイリオ"/>
                <a:ea typeface="メイリオ"/>
                <a:cs typeface="メイリオ"/>
              </a:rPr>
              <a:t>人手を増やさずに、資料請求直後の初動と、募集ピーク期の問い合わせ対応を回す。</a:t>
            </a:r>
          </a:p>
        </p:txBody>
      </p:sp>
      <p:graphicFrame>
        <p:nvGraphicFramePr>
          <p:cNvPr id="4" name="Table 3"/>
          <p:cNvGraphicFramePr>
            <a:graphicFrameLocks noGrp="1"/>
          </p:cNvGraphicFramePr>
          <p:nvPr/>
        </p:nvGraphicFramePr>
        <p:xfrm>
          <a:off x="396000" y="1224000"/>
          <a:ext cx="9144000" cy="2268000"/>
        </p:xfrm>
        <a:graphic>
          <a:graphicData uri="http://schemas.openxmlformats.org/drawingml/2006/table">
            <a:tbl>
              <a:tblPr firstRow="1" bandRow="1">
                <a:tableStyleId>{5C22544A-7EE6-4342-B048-85BDC9FD1C3A}</a:tableStyleId>
              </a:tblPr>
              <a:tblGrid>
                <a:gridCol w="1944000"/>
                <a:gridCol w="7200000"/>
              </a:tblGrid>
              <a:tr h="756000">
                <a:tc>
                  <a:txBody>
                    <a:bodyPr wrap="square" lIns="50400" rIns="50400" tIns="10800" bIns="10800" anchor="ct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wrap="square" lIns="50400" rIns="50400" tIns="10800" bIns="10800" anchor="ctr"/>
                    <a:lstStyle/>
                    <a:p>
                      <a:pPr algn="l"/>
                      <a:r>
                        <a:rPr sz="1200" b="1">
                          <a:solidFill>
                            <a:srgbClr val="FFFFFF"/>
                          </a:solidFill>
                          <a:latin typeface="メイリオ"/>
                          <a:ea typeface="メイリオ"/>
                          <a:cs typeface="メイリオ"/>
                        </a:rPr>
                        <a:t>内容</a:t>
                      </a:r>
                    </a:p>
                  </a:txBody>
                  <a:tcPr anchor="ctr">
                    <a:solidFill>
                      <a:srgbClr val="1F285A"/>
                    </a:solidFill>
                  </a:tcPr>
                </a:tc>
              </a:tr>
              <a:tr h="756000">
                <a:tc>
                  <a:txBody>
                    <a:bodyPr wrap="square" lIns="50400" rIns="50400" tIns="10800" bIns="10800" anchor="ctr"/>
                    <a:lstStyle/>
                    <a:p>
                      <a:pPr algn="ctr"/>
                      <a:r>
                        <a:rPr sz="1100">
                          <a:solidFill>
                            <a:srgbClr val="1C2233"/>
                          </a:solidFill>
                          <a:latin typeface="メイリオ"/>
                          <a:ea typeface="メイリオ"/>
                          <a:cs typeface="メイリオ"/>
                        </a:rPr>
                        <a:t>自動応答</a:t>
                      </a:r>
                    </a:p>
                  </a:txBody>
                  <a:tcPr anchor="ctr">
                    <a:solidFill>
                      <a:srgbClr val="FFFFFF"/>
                    </a:solidFill>
                  </a:tcPr>
                </a:tc>
                <a:tc>
                  <a:txBody>
                    <a:bodyPr wrap="square" lIns="50400" rIns="50400" tIns="10800" bIns="10800" anchor="ctr"/>
                    <a:lstStyle/>
                    <a:p>
                      <a:pPr algn="l"/>
                      <a:r>
                        <a:rPr sz="1100">
                          <a:solidFill>
                            <a:srgbClr val="1C2233"/>
                          </a:solidFill>
                          <a:latin typeface="メイリオ"/>
                          <a:ea typeface="メイリオ"/>
                          <a:cs typeface="メイリオ"/>
                        </a:rPr>
                        <a:t>資料請求の直後にあいさつ＋診断4問を自動送信。夜間でも初動の速度が落ちない</a:t>
                      </a:r>
                    </a:p>
                  </a:txBody>
                  <a:tcPr anchor="ctr">
                    <a:solidFill>
                      <a:srgbClr val="FFFFFF"/>
                    </a:solidFill>
                  </a:tcPr>
                </a:tc>
              </a:tr>
              <a:tr h="756000">
                <a:tc>
                  <a:txBody>
                    <a:bodyPr wrap="square" lIns="50400" rIns="50400" tIns="10800" bIns="10800" anchor="ctr"/>
                    <a:lstStyle/>
                    <a:p>
                      <a:pPr algn="ctr"/>
                      <a:r>
                        <a:rPr sz="1100">
                          <a:solidFill>
                            <a:srgbClr val="1C2233"/>
                          </a:solidFill>
                          <a:latin typeface="メイリオ"/>
                          <a:ea typeface="メイリオ"/>
                          <a:cs typeface="メイリオ"/>
                        </a:rPr>
                        <a:t>その他</a:t>
                      </a:r>
                    </a:p>
                  </a:txBody>
                  <a:tcPr anchor="ctr">
                    <a:solidFill>
                      <a:srgbClr val="F4F7FF"/>
                    </a:solidFill>
                  </a:tcPr>
                </a:tc>
                <a:tc>
                  <a:txBody>
                    <a:bodyPr wrap="square" lIns="50400" rIns="50400" tIns="10800" bIns="10800" anchor="ctr"/>
                    <a:lstStyle/>
                    <a:p>
                      <a:pPr algn="l"/>
                      <a:r>
                        <a:rPr sz="1100">
                          <a:solidFill>
                            <a:srgbClr val="1C2233"/>
                          </a:solidFill>
                          <a:latin typeface="メイリオ"/>
                          <a:ea typeface="メイリオ"/>
                          <a:cs typeface="メイリオ"/>
                        </a:rPr>
                        <a:t>GAレポート連携で、友だち数・OC予約率・OC参加率・出願率を毎月数値で振り返る</a:t>
                      </a:r>
                    </a:p>
                  </a:txBody>
                  <a:tcPr anchor="ctr">
                    <a:solidFill>
                      <a:srgbClr val="F4F7FF"/>
                    </a:solidFill>
                  </a:tcPr>
                </a:tc>
              </a:tr>
            </a:tbl>
          </a:graphicData>
        </a:graphic>
      </p:graphicFrame>
      <p:sp>
        <p:nvSpPr>
          <p:cNvPr id="5" name="Rounded Rectangle 4"/>
          <p:cNvSpPr/>
          <p:nvPr/>
        </p:nvSpPr>
        <p:spPr>
          <a:xfrm>
            <a:off x="396000" y="3168000"/>
            <a:ext cx="4464000"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1F285A"/>
                </a:solidFill>
                <a:latin typeface="メイリオ"/>
                <a:ea typeface="メイリオ"/>
                <a:cs typeface="メイリオ"/>
              </a:rPr>
              <a:t>電話が鳴り続けるのは7〜8月と1〜2月</a:t>
            </a:r>
          </a:p>
          <a:p>
            <a:pPr algn="l">
              <a:lnSpc>
                <a:spcPct val="120000"/>
              </a:lnSpc>
              <a:spcAft>
                <a:spcPts val="200"/>
              </a:spcAft>
            </a:pPr>
            <a:r>
              <a:rPr sz="1100">
                <a:solidFill>
                  <a:srgbClr val="1C2233"/>
                </a:solidFill>
                <a:latin typeface="メイリオ"/>
                <a:ea typeface="メイリオ"/>
                <a:cs typeface="メイリオ"/>
              </a:rPr>
              <a:t>「学費は」「アクセスは」「締切は」——入試広報課の電話が集中する時期は、</a:t>
            </a:r>
          </a:p>
          <a:p>
            <a:pPr algn="l">
              <a:lnSpc>
                <a:spcPct val="120000"/>
              </a:lnSpc>
              <a:spcAft>
                <a:spcPts val="200"/>
              </a:spcAft>
            </a:pPr>
            <a:r>
              <a:rPr sz="1100">
                <a:solidFill>
                  <a:srgbClr val="1C2233"/>
                </a:solidFill>
                <a:latin typeface="メイリオ"/>
                <a:ea typeface="メイリオ"/>
                <a:cs typeface="メイリオ"/>
              </a:rPr>
              <a:t>そのまま募集のピークと重なる。</a:t>
            </a:r>
          </a:p>
          <a:p>
            <a:pPr algn="l">
              <a:lnSpc>
                <a:spcPct val="120000"/>
              </a:lnSpc>
              <a:spcAft>
                <a:spcPts val="200"/>
              </a:spcAft>
            </a:pPr>
            <a:r>
              <a:rPr sz="1100">
                <a:solidFill>
                  <a:srgbClr val="1C2233"/>
                </a:solidFill>
                <a:latin typeface="メイリオ"/>
                <a:ea typeface="メイリオ"/>
                <a:cs typeface="メイリオ"/>
              </a:rPr>
              <a:t>この問い合わせをKW自動応答に逃がすと、</a:t>
            </a:r>
          </a:p>
          <a:p>
            <a:pPr algn="l">
              <a:lnSpc>
                <a:spcPct val="120000"/>
              </a:lnSpc>
              <a:spcAft>
                <a:spcPts val="200"/>
              </a:spcAft>
            </a:pPr>
            <a:r>
              <a:rPr sz="1100">
                <a:solidFill>
                  <a:srgbClr val="1C2233"/>
                </a:solidFill>
                <a:latin typeface="メイリオ"/>
                <a:ea typeface="メイリオ"/>
                <a:cs typeface="メイリオ"/>
              </a:rPr>
              <a:t>その時間が募集活動そのものに戻る。</a:t>
            </a:r>
          </a:p>
          <a:p>
            <a:pPr algn="l">
              <a:lnSpc>
                <a:spcPct val="120000"/>
              </a:lnSpc>
              <a:spcAft>
                <a:spcPts val="200"/>
              </a:spcAft>
            </a:pPr>
            <a:r>
              <a:rPr sz="1100">
                <a:solidFill>
                  <a:srgbClr val="1C2233"/>
                </a:solidFill>
                <a:latin typeface="メイリオ"/>
                <a:ea typeface="メイリオ"/>
                <a:cs typeface="メイリオ"/>
              </a:rPr>
              <a:t>※ 工数削減は時給換算で語らない。「ピーク期に募集の手が止まる」で語る。</a:t>
            </a:r>
          </a:p>
        </p:txBody>
      </p:sp>
      <p:sp>
        <p:nvSpPr>
          <p:cNvPr id="6" name="Rounded Rectangle 5"/>
          <p:cNvSpPr/>
          <p:nvPr/>
        </p:nvSpPr>
        <p:spPr>
          <a:xfrm>
            <a:off x="5076000" y="3168000"/>
            <a:ext cx="4464000"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57600" bIns="43200"/>
          <a:lstStyle/>
          <a:p>
            <a:pPr algn="l">
              <a:spcAft>
                <a:spcPts val="400"/>
              </a:spcAft>
            </a:pPr>
            <a:r>
              <a:rPr sz="1200" b="1">
                <a:solidFill>
                  <a:srgbClr val="ED7D31"/>
                </a:solidFill>
                <a:latin typeface="メイリオ"/>
                <a:ea typeface="メイリオ"/>
                <a:cs typeface="メイリオ"/>
              </a:rPr>
              <a:t>紙とメールのコストも落ちる</a:t>
            </a:r>
          </a:p>
          <a:p>
            <a:pPr algn="l">
              <a:lnSpc>
                <a:spcPct val="120000"/>
              </a:lnSpc>
              <a:spcAft>
                <a:spcPts val="200"/>
              </a:spcAft>
            </a:pPr>
            <a:r>
              <a:rPr sz="1100">
                <a:solidFill>
                  <a:srgbClr val="1C2233"/>
                </a:solidFill>
                <a:latin typeface="メイリオ"/>
                <a:ea typeface="メイリオ"/>
                <a:cs typeface="メイリオ"/>
              </a:rPr>
              <a:t>デジタルパンフをLINEで配信すれば、</a:t>
            </a:r>
          </a:p>
          <a:p>
            <a:pPr algn="l">
              <a:lnSpc>
                <a:spcPct val="120000"/>
              </a:lnSpc>
              <a:spcAft>
                <a:spcPts val="200"/>
              </a:spcAft>
            </a:pPr>
            <a:r>
              <a:rPr sz="1100">
                <a:solidFill>
                  <a:srgbClr val="1C2233"/>
                </a:solidFill>
                <a:latin typeface="メイリオ"/>
                <a:ea typeface="メイリオ"/>
                <a:cs typeface="メイリオ"/>
              </a:rPr>
              <a:t>印刷費・郵送費・封入作業がゼロになる。</a:t>
            </a:r>
          </a:p>
          <a:p>
            <a:pPr algn="l">
              <a:lnSpc>
                <a:spcPct val="120000"/>
              </a:lnSpc>
              <a:spcAft>
                <a:spcPts val="200"/>
              </a:spcAft>
            </a:pPr>
            <a:r>
              <a:rPr sz="1100">
                <a:solidFill>
                  <a:srgbClr val="1C2233"/>
                </a:solidFill>
                <a:latin typeface="メイリオ"/>
                <a:ea typeface="メイリオ"/>
                <a:cs typeface="メイリオ"/>
              </a:rPr>
              <a:t>しかも資料請求で取ったメールアドレスは、</a:t>
            </a:r>
          </a:p>
          <a:p>
            <a:pPr algn="l">
              <a:lnSpc>
                <a:spcPct val="120000"/>
              </a:lnSpc>
              <a:spcAft>
                <a:spcPts val="200"/>
              </a:spcAft>
            </a:pPr>
            <a:r>
              <a:rPr sz="1100">
                <a:solidFill>
                  <a:srgbClr val="1C2233"/>
                </a:solidFill>
                <a:latin typeface="メイリオ"/>
                <a:ea typeface="メイリオ"/>
                <a:cs typeface="メイリオ"/>
              </a:rPr>
              <a:t>高校生が最も見ない経路。</a:t>
            </a:r>
          </a:p>
          <a:p>
            <a:pPr algn="l">
              <a:lnSpc>
                <a:spcPct val="120000"/>
              </a:lnSpc>
              <a:spcAft>
                <a:spcPts val="200"/>
              </a:spcAft>
            </a:pPr>
            <a:r>
              <a:rPr sz="1100">
                <a:solidFill>
                  <a:srgbClr val="1C2233"/>
                </a:solidFill>
                <a:latin typeface="メイリオ"/>
                <a:ea typeface="メイリオ"/>
                <a:cs typeface="メイリオ"/>
              </a:rPr>
              <a:t>LINEなら当日中に約8割が開封される（LINEヤフー社公開値）。</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5623200"/>
            <a:ext cx="8820000" cy="324000"/>
          </a:xfrm>
          <a:prstGeom prst="rect">
            <a:avLst/>
          </a:prstGeom>
          <a:noFill/>
        </p:spPr>
        <p:txBody>
          <a:bodyPr wrap="square" lIns="0" rIns="0" tIns="21600" bIns="21600" anchor="ctr">
            <a:spAutoFit/>
          </a:bodyPr>
          <a:lstStyle/>
          <a:p>
            <a:pPr algn="l"/>
            <a:r>
              <a:rPr sz="1400" b="1">
                <a:solidFill>
                  <a:srgbClr val="1C2233"/>
                </a:solidFill>
                <a:latin typeface="メイリオ"/>
                <a:ea typeface="メイリオ"/>
                <a:cs typeface="メイリオ"/>
              </a:rPr>
              <a:t>増員ではなく自動化で、募集ピーク期の初動速度を守る。</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146282</TotalTime>
  <Words>7633</Words>
  <Application>Microsoft Office PowerPoint</Application>
  <PresentationFormat>A4 210 x 297 mm</PresentationFormat>
  <Paragraphs>1711</Paragraphs>
  <Slides>46</Slides>
  <Notes>9</Notes>
  <HiddenSlides>5</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46</vt:i4>
      </vt:variant>
    </vt:vector>
  </HeadingPairs>
  <TitlesOfParts>
    <vt:vector size="51"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1962</cp:revision>
  <cp:lastPrinted>2022-11-01T11:38:14Z</cp:lastPrinted>
  <dcterms:created xsi:type="dcterms:W3CDTF">2015-09-04T09:21:15Z</dcterms:created>
  <dcterms:modified xsi:type="dcterms:W3CDTF">2026-09-09T01:49:52Z</dcterms:modified>
</cp:coreProperties>
</file>