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35" r:id="rId69"/>
    <p:sldId id="3015" r:id="rId20"/>
    <p:sldId id="2957" r:id="rId22"/>
    <p:sldId id="3022" r:id="rId23"/>
    <p:sldId id="3031" r:id="rId24"/>
    <p:sldId id="3023" r:id="rId25"/>
    <p:sldId id="3024" r:id="rId26"/>
    <p:sldId id="3019" r:id="rId27"/>
    <p:sldId id="3032" r:id="rId28"/>
    <p:sldId id="3028" r:id="rId29"/>
    <p:sldId id="2970" r:id="rId30"/>
    <p:sldId id="2959" r:id="rId31"/>
    <p:sldId id="3025" r:id="rId32"/>
    <p:sldId id="3034" r:id="rId68"/>
    <p:sldId id="2966" r:id="rId33"/>
    <p:sldId id="3013" r:id="rId21"/>
    <p:sldId id="3029" r:id="rId34"/>
    <p:sldId id="3011" r:id="rId35"/>
    <p:sldId id="2734" r:id="rId36"/>
    <p:sldId id="2595" r:id="rId37"/>
    <p:sldId id="2566" r:id="rId38"/>
    <p:sldId id="2915" r:id="rId39"/>
    <p:sldId id="2619" r:id="rId40"/>
    <p:sldId id="1169" r:id="rId41"/>
    <p:sldId id="2961" r:id="rId42"/>
    <p:sldId id="2908" r:id="rId43"/>
    <p:sldId id="2935" r:id="rId44"/>
    <p:sldId id="2919" r:id="rId45"/>
    <p:sldId id="2519" r:id="rId46"/>
    <p:sldId id="2931" r:id="rId47"/>
    <p:sldId id="2749" r:id="rId48"/>
    <p:sldId id="2950" r:id="rId49"/>
    <p:sldId id="2563" r:id="rId50"/>
    <p:sldId id="2968" r:id="rId51"/>
    <p:sldId id="2969" r:id="rId52"/>
    <p:sldId id="2951" r:id="rId53"/>
    <p:sldId id="2841" r:id="rId54"/>
    <p:sldId id="2849" r:id="rId55"/>
    <p:sldId id="2904" r:id="rId56"/>
    <p:sldId id="2905" r:id="rId57"/>
    <p:sldId id="2906" r:id="rId58"/>
    <p:sldId id="2907" r:id="rId59"/>
    <p:sldId id="2575" r:id="rId60"/>
    <p:sldId id="2910"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56"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32.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1.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30.xml"/><Relationship Id="rId69"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
        <p:nvSpPr>
          <p:cNvPr id="8" name="Rectangle 7"/>
          <p:cNvSpPr/>
          <p:nvPr/>
        </p:nvSpPr>
        <p:spPr>
          <a:xfrm>
            <a:off x="502920" y="1828800"/>
            <a:ext cx="3520440" cy="192024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9" name="Rectangle 8"/>
          <p:cNvSpPr/>
          <p:nvPr/>
        </p:nvSpPr>
        <p:spPr>
          <a:xfrm>
            <a:off x="502920" y="1463040"/>
            <a:ext cx="3520440" cy="365760"/>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広告</a:t>
            </a:r>
          </a:p>
        </p:txBody>
      </p:sp>
      <p:sp>
        <p:nvSpPr>
          <p:cNvPr id="10" name="TextBox 9"/>
          <p:cNvSpPr txBox="1"/>
          <p:nvPr/>
        </p:nvSpPr>
        <p:spPr>
          <a:xfrm>
            <a:off x="594360" y="19019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0">
                <a:solidFill>
                  <a:srgbClr val="333333"/>
                </a:solidFill>
                <a:latin typeface="メイリオ"/>
                <a:ea typeface="メイリオ"/>
                <a:cs typeface="メイリオ"/>
              </a:rPr>
              <a:t>新しい見込み客との接点を獲得する</a:t>
            </a:r>
          </a:p>
        </p:txBody>
      </p:sp>
      <p:cxnSp>
        <p:nvCxnSpPr>
          <p:cNvPr id="11" name="Connector 10"/>
          <p:cNvCxnSpPr/>
          <p:nvPr/>
        </p:nvCxnSpPr>
        <p:spPr>
          <a:xfrm>
            <a:off x="640080" y="23317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23591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0">
                <a:solidFill>
                  <a:srgbClr val="333333"/>
                </a:solidFill>
                <a:latin typeface="メイリオ"/>
                <a:ea typeface="メイリオ"/>
                <a:cs typeface="メイリオ"/>
              </a:rPr>
              <a:t>まだつながっていない方</a:t>
            </a:r>
          </a:p>
        </p:txBody>
      </p:sp>
      <p:cxnSp>
        <p:nvCxnSpPr>
          <p:cNvPr id="13" name="Connector 12"/>
          <p:cNvCxnSpPr/>
          <p:nvPr/>
        </p:nvCxnSpPr>
        <p:spPr>
          <a:xfrm>
            <a:off x="640080" y="27889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28163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0">
                <a:solidFill>
                  <a:srgbClr val="333333"/>
                </a:solidFill>
                <a:latin typeface="メイリオ"/>
                <a:ea typeface="メイリオ"/>
                <a:cs typeface="メイリオ"/>
              </a:rPr>
              <a:t>広告を配信している期間</a:t>
            </a:r>
          </a:p>
        </p:txBody>
      </p:sp>
      <p:cxnSp>
        <p:nvCxnSpPr>
          <p:cNvPr id="15" name="Connector 14"/>
          <p:cNvCxnSpPr/>
          <p:nvPr/>
        </p:nvCxnSpPr>
        <p:spPr>
          <a:xfrm>
            <a:off x="640080" y="32461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32735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0">
                <a:solidFill>
                  <a:srgbClr val="333333"/>
                </a:solidFill>
                <a:latin typeface="メイリオ"/>
                <a:ea typeface="メイリオ"/>
                <a:cs typeface="メイリオ"/>
              </a:rPr>
              <a:t>セミナー予約などの反響</a:t>
            </a:r>
          </a:p>
        </p:txBody>
      </p:sp>
      <p:sp>
        <p:nvSpPr>
          <p:cNvPr id="17" name="Rectangle 16"/>
          <p:cNvSpPr/>
          <p:nvPr/>
        </p:nvSpPr>
        <p:spPr>
          <a:xfrm>
            <a:off x="4846320" y="1828800"/>
            <a:ext cx="4553712" cy="1920240"/>
          </a:xfrm>
          <a:prstGeom prst="rect">
            <a:avLst/>
          </a:prstGeom>
          <a:solidFill>
            <a:srgbClr val="F4F7FF"/>
          </a:solidFill>
          <a:ln w="1587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4846320" y="1463040"/>
            <a:ext cx="4553712" cy="36576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LINE公式アカウント</a:t>
            </a:r>
          </a:p>
        </p:txBody>
      </p:sp>
      <p:sp>
        <p:nvSpPr>
          <p:cNvPr id="19" name="TextBox 18"/>
          <p:cNvSpPr txBox="1"/>
          <p:nvPr/>
        </p:nvSpPr>
        <p:spPr>
          <a:xfrm>
            <a:off x="4937760" y="19019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1">
                <a:solidFill>
                  <a:srgbClr val="1F285A"/>
                </a:solidFill>
                <a:latin typeface="メイリオ"/>
                <a:ea typeface="メイリオ"/>
                <a:cs typeface="メイリオ"/>
              </a:rPr>
              <a:t>一度つながった見込み客に、継続して情報を届ける</a:t>
            </a:r>
          </a:p>
        </p:txBody>
      </p:sp>
      <p:cxnSp>
        <p:nvCxnSpPr>
          <p:cNvPr id="20" name="Connector 19"/>
          <p:cNvCxnSpPr/>
          <p:nvPr/>
        </p:nvCxnSpPr>
        <p:spPr>
          <a:xfrm>
            <a:off x="4983480" y="23317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937760" y="23591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1">
                <a:solidFill>
                  <a:srgbClr val="1F285A"/>
                </a:solidFill>
                <a:latin typeface="メイリオ"/>
                <a:ea typeface="メイリオ"/>
                <a:cs typeface="メイリオ"/>
              </a:rPr>
              <a:t>友だち追加した方</a:t>
            </a:r>
          </a:p>
        </p:txBody>
      </p:sp>
      <p:cxnSp>
        <p:nvCxnSpPr>
          <p:cNvPr id="22" name="Connector 21"/>
          <p:cNvCxnSpPr/>
          <p:nvPr/>
        </p:nvCxnSpPr>
        <p:spPr>
          <a:xfrm>
            <a:off x="4983480" y="27889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937760" y="28163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1">
                <a:solidFill>
                  <a:srgbClr val="1F285A"/>
                </a:solidFill>
                <a:latin typeface="メイリオ"/>
                <a:ea typeface="メイリオ"/>
                <a:cs typeface="メイリオ"/>
              </a:rPr>
              <a:t>開催月も、開催のない月も</a:t>
            </a:r>
          </a:p>
        </p:txBody>
      </p:sp>
      <p:cxnSp>
        <p:nvCxnSpPr>
          <p:cNvPr id="24" name="Connector 23"/>
          <p:cNvCxnSpPr/>
          <p:nvPr/>
        </p:nvCxnSpPr>
        <p:spPr>
          <a:xfrm>
            <a:off x="4983480" y="32461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937760" y="32735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1">
                <a:solidFill>
                  <a:srgbClr val="1F285A"/>
                </a:solidFill>
                <a:latin typeface="メイリオ"/>
                <a:ea typeface="メイリオ"/>
                <a:cs typeface="メイリオ"/>
              </a:rPr>
              <a:t>友だち（次回以降も案内できる相手）</a:t>
            </a:r>
          </a:p>
        </p:txBody>
      </p:sp>
      <p:sp>
        <p:nvSpPr>
          <p:cNvPr id="26" name="TextBox 25"/>
          <p:cNvSpPr txBox="1"/>
          <p:nvPr/>
        </p:nvSpPr>
        <p:spPr>
          <a:xfrm>
            <a:off x="4023360" y="2286000"/>
            <a:ext cx="822960" cy="274320"/>
          </a:xfrm>
          <a:prstGeom prst="rect">
            <a:avLst/>
          </a:prstGeom>
          <a:noFill/>
        </p:spPr>
        <p:txBody>
          <a:bodyPr wrap="square" anchor="b" lIns="36000" rIns="36000" tIns="10800" bIns="10800">
            <a:spAutoFit/>
          </a:bodyPr>
          <a:lstStyle/>
          <a:p>
            <a:pPr algn="ctr">
              <a:lnSpc>
                <a:spcPct val="105000"/>
              </a:lnSpc>
              <a:spcAft>
                <a:spcPts val="200"/>
              </a:spcAft>
            </a:pPr>
            <a:r>
              <a:rPr sz="1000" b="1">
                <a:solidFill>
                  <a:srgbClr val="1F285A"/>
                </a:solidFill>
                <a:latin typeface="メイリオ"/>
                <a:ea typeface="メイリオ"/>
                <a:cs typeface="メイリオ"/>
              </a:rPr>
              <a:t>友だち追加</a:t>
            </a:r>
          </a:p>
        </p:txBody>
      </p:sp>
      <p:sp>
        <p:nvSpPr>
          <p:cNvPr id="27" name="Right Arrow 26"/>
          <p:cNvSpPr/>
          <p:nvPr/>
        </p:nvSpPr>
        <p:spPr>
          <a:xfrm>
            <a:off x="4133088" y="2606039"/>
            <a:ext cx="603504" cy="365760"/>
          </a:xfrm>
          <a:prstGeom prst="rightArrow">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425815105"/>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427087837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6か月（セミナー開催月と開催のない月で、配信内容と工数が変わる）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開催のない月は月1〜2回、開催月は月4〜5回の企画配信で、つながりを保つ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開催月・開催のない月</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それぞれに合わせて届ける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想定動線（フェーズごとのLINEの役割）①〜④</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⑦マネタイズ</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成約</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購入</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solidFill>
                  <a:srgbClr val="BFBFBF"/>
                </a:solidFill>
                <a:latin typeface="メイリオ" panose="020B0604030504040204" pitchFamily="50" charset="-128"/>
                <a:ea typeface="メイリオ" panose="020B0604030504040204" pitchFamily="50" charset="-128"/>
                <a:cs typeface="メイリオ"/>
              </a:rPr>
              <a:t>⑧</a:t>
            </a:r>
            <a:r>
              <a:rPr lang="en-US" altLang="ja-JP" sz="1100" dirty="0">
                <a:solidFill>
                  <a:srgbClr val="BFBFBF"/>
                </a:solidFill>
                <a:latin typeface="メイリオ" panose="020B0604030504040204" pitchFamily="50" charset="-128"/>
                <a:ea typeface="メイリオ" panose="020B0604030504040204" pitchFamily="50" charset="-128"/>
                <a:cs typeface="メイリオ"/>
              </a:rPr>
              <a:t>LTV</a:t>
            </a:r>
            <a:r>
              <a:rPr lang="ja-JP" altLang="en-US" sz="1100" dirty="0">
                <a:solidFill>
                  <a:srgbClr val="BFBFBF"/>
                </a:solidFill>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LPを離れる方を友だちにし、セミナーの予約・参加までつなげる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① 接触</a:t>
            </a:r>
          </a:p>
          <a:p>
            <a:pPr algn="ctr">
              <a:lnSpc>
                <a:spcPct val="110000"/>
              </a:lnSpc>
              <a:spcAft>
                <a:spcPts val="0"/>
              </a:spcAft>
            </a:pPr>
            <a:r>
              <a:rPr sz="1050" b="1">
                <a:solidFill>
                  <a:srgbClr val="1F285A"/>
                </a:solidFill>
                <a:latin typeface="メイリオ"/>
                <a:ea typeface="メイリオ"/>
                <a:cs typeface="メイリオ"/>
              </a:rPr>
              <a:t>（認知・流入）</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営業力を上げたい・</a:t>
            </a:r>
          </a:p>
          <a:p>
            <a:pPr algn="l">
              <a:lnSpc>
                <a:spcPct val="105000"/>
              </a:lnSpc>
              <a:spcAft>
                <a:spcPts val="200"/>
              </a:spcAft>
            </a:pPr>
            <a:r>
              <a:rPr sz="1300" b="0">
                <a:solidFill>
                  <a:srgbClr val="333333"/>
                </a:solidFill>
                <a:latin typeface="メイリオ"/>
                <a:ea typeface="メイリオ"/>
                <a:cs typeface="メイリオ"/>
              </a:rPr>
              <a:t>情報収集中</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384048"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52" name="TextBox 51"/>
          <p:cNvSpPr txBox="1"/>
          <p:nvPr/>
        </p:nvSpPr>
        <p:spPr>
          <a:xfrm>
            <a:off x="384048"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日程が合わず、</a:t>
            </a:r>
          </a:p>
          <a:p>
            <a:pPr algn="l">
              <a:lnSpc>
                <a:spcPct val="105000"/>
              </a:lnSpc>
              <a:spcAft>
                <a:spcPts val="200"/>
              </a:spcAft>
            </a:pPr>
            <a:r>
              <a:rPr sz="1300" b="0">
                <a:solidFill>
                  <a:srgbClr val="333333"/>
                </a:solidFill>
                <a:latin typeface="メイリオ"/>
                <a:ea typeface="メイリオ"/>
                <a:cs typeface="メイリオ"/>
              </a:rPr>
              <a:t>申し込まない</a:t>
            </a:r>
          </a:p>
        </p:txBody>
      </p:sp>
      <p:cxnSp>
        <p:nvCxnSpPr>
          <p:cNvPr id="53" name="Connector 52"/>
          <p:cNvCxnSpPr/>
          <p:nvPr/>
        </p:nvCxnSpPr>
        <p:spPr>
          <a:xfrm>
            <a:off x="429768"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4" name="Rectangle 53"/>
          <p:cNvSpPr/>
          <p:nvPr/>
        </p:nvSpPr>
        <p:spPr>
          <a:xfrm>
            <a:off x="384048"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離脱防止ポップアップ</a:t>
            </a:r>
          </a:p>
          <a:p>
            <a:pPr algn="l">
              <a:lnSpc>
                <a:spcPct val="110000"/>
              </a:lnSpc>
              <a:spcAft>
                <a:spcPts val="0"/>
              </a:spcAft>
            </a:pPr>
            <a:r>
              <a:rPr sz="1300" b="1">
                <a:solidFill>
                  <a:srgbClr val="1F285A"/>
                </a:solidFill>
                <a:latin typeface="メイリオ"/>
                <a:ea typeface="メイリオ"/>
                <a:cs typeface="メイリオ"/>
              </a:rPr>
              <a:t>（推奨）</a:t>
            </a:r>
          </a:p>
        </p:txBody>
      </p:sp>
      <p:sp>
        <p:nvSpPr>
          <p:cNvPr id="55" name="Rectangle 54"/>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② サイト離脱</a:t>
            </a:r>
          </a:p>
          <a:p>
            <a:pPr algn="ctr">
              <a:lnSpc>
                <a:spcPct val="110000"/>
              </a:lnSpc>
              <a:spcAft>
                <a:spcPts val="0"/>
              </a:spcAft>
            </a:pPr>
            <a:r>
              <a:rPr sz="1050" b="1">
                <a:solidFill>
                  <a:srgbClr val="1F285A"/>
                </a:solidFill>
                <a:latin typeface="メイリオ"/>
                <a:ea typeface="メイリオ"/>
                <a:cs typeface="メイリオ"/>
              </a:rPr>
              <a:t>（対策）</a:t>
            </a:r>
          </a:p>
        </p:txBody>
      </p:sp>
      <p:sp>
        <p:nvSpPr>
          <p:cNvPr id="56" name="Isosceles Triangle 55"/>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7" name="TextBox 56"/>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8" name="TextBox 57"/>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今回は申し込まない</a:t>
            </a:r>
          </a:p>
        </p:txBody>
      </p:sp>
      <p:cxnSp>
        <p:nvCxnSpPr>
          <p:cNvPr id="59" name="Connector 58"/>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0" name="TextBox 59"/>
          <p:cNvSpPr txBox="1"/>
          <p:nvPr/>
        </p:nvSpPr>
        <p:spPr>
          <a:xfrm>
            <a:off x="2798063"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61" name="TextBox 60"/>
          <p:cNvSpPr txBox="1"/>
          <p:nvPr/>
        </p:nvSpPr>
        <p:spPr>
          <a:xfrm>
            <a:off x="2798063"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次の開催まで</a:t>
            </a:r>
          </a:p>
          <a:p>
            <a:pPr algn="l">
              <a:lnSpc>
                <a:spcPct val="105000"/>
              </a:lnSpc>
              <a:spcAft>
                <a:spcPts val="200"/>
              </a:spcAft>
            </a:pPr>
            <a:r>
              <a:rPr sz="1300" b="0">
                <a:solidFill>
                  <a:srgbClr val="333333"/>
                </a:solidFill>
                <a:latin typeface="メイリオ"/>
                <a:ea typeface="メイリオ"/>
                <a:cs typeface="メイリオ"/>
              </a:rPr>
              <a:t>関心が続きにくい</a:t>
            </a:r>
          </a:p>
        </p:txBody>
      </p:sp>
      <p:cxnSp>
        <p:nvCxnSpPr>
          <p:cNvPr id="62" name="Connector 61"/>
          <p:cNvCxnSpPr/>
          <p:nvPr/>
        </p:nvCxnSpPr>
        <p:spPr>
          <a:xfrm>
            <a:off x="2843783"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2798063"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ポップアップから</a:t>
            </a:r>
          </a:p>
          <a:p>
            <a:pPr algn="l">
              <a:lnSpc>
                <a:spcPct val="110000"/>
              </a:lnSpc>
              <a:spcAft>
                <a:spcPts val="0"/>
              </a:spcAft>
            </a:pPr>
            <a:r>
              <a:rPr sz="1300" b="1">
                <a:solidFill>
                  <a:srgbClr val="1F285A"/>
                </a:solidFill>
                <a:latin typeface="メイリオ"/>
                <a:ea typeface="メイリオ"/>
                <a:cs typeface="メイリオ"/>
              </a:rPr>
              <a:t>LINE友だち化</a:t>
            </a:r>
          </a:p>
        </p:txBody>
      </p:sp>
      <p:sp>
        <p:nvSpPr>
          <p:cNvPr id="64" name="Rectangle 63"/>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③ 育成</a:t>
            </a:r>
          </a:p>
          <a:p>
            <a:pPr algn="ctr">
              <a:lnSpc>
                <a:spcPct val="110000"/>
              </a:lnSpc>
              <a:spcAft>
                <a:spcPts val="0"/>
              </a:spcAft>
            </a:pPr>
            <a:r>
              <a:rPr sz="1050" b="1">
                <a:solidFill>
                  <a:srgbClr val="1F285A"/>
                </a:solidFill>
                <a:latin typeface="メイリオ"/>
                <a:ea typeface="メイリオ"/>
                <a:cs typeface="メイリオ"/>
              </a:rPr>
              <a:t>（興味喚起）</a:t>
            </a:r>
          </a:p>
        </p:txBody>
      </p:sp>
      <p:sp>
        <p:nvSpPr>
          <p:cNvPr id="65" name="Isosceles Triangle 64"/>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6" name="TextBox 65"/>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7" name="TextBox 66"/>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どんなセミナーか</a:t>
            </a:r>
          </a:p>
          <a:p>
            <a:pPr algn="l">
              <a:lnSpc>
                <a:spcPct val="105000"/>
              </a:lnSpc>
              <a:spcAft>
                <a:spcPts val="200"/>
              </a:spcAft>
            </a:pPr>
            <a:r>
              <a:rPr sz="1300" b="0">
                <a:solidFill>
                  <a:srgbClr val="333333"/>
                </a:solidFill>
                <a:latin typeface="メイリオ"/>
                <a:ea typeface="メイリオ"/>
                <a:cs typeface="メイリオ"/>
              </a:rPr>
              <a:t>分からない</a:t>
            </a:r>
          </a:p>
        </p:txBody>
      </p:sp>
      <p:cxnSp>
        <p:nvCxnSpPr>
          <p:cNvPr id="68" name="Connector 67"/>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5212079"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0" name="TextBox 69"/>
          <p:cNvSpPr txBox="1"/>
          <p:nvPr/>
        </p:nvSpPr>
        <p:spPr>
          <a:xfrm>
            <a:off x="5212079"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中身が見えず、</a:t>
            </a:r>
          </a:p>
          <a:p>
            <a:pPr algn="l">
              <a:lnSpc>
                <a:spcPct val="105000"/>
              </a:lnSpc>
              <a:spcAft>
                <a:spcPts val="200"/>
              </a:spcAft>
            </a:pPr>
            <a:r>
              <a:rPr sz="1300" b="0">
                <a:solidFill>
                  <a:srgbClr val="333333"/>
                </a:solidFill>
                <a:latin typeface="メイリオ"/>
                <a:ea typeface="メイリオ"/>
                <a:cs typeface="メイリオ"/>
              </a:rPr>
              <a:t>予約に進まない</a:t>
            </a:r>
          </a:p>
        </p:txBody>
      </p:sp>
      <p:cxnSp>
        <p:nvCxnSpPr>
          <p:cNvPr id="71" name="Connector 70"/>
          <p:cNvCxnSpPr/>
          <p:nvPr/>
        </p:nvCxnSpPr>
        <p:spPr>
          <a:xfrm>
            <a:off x="5257799" y="5321808"/>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2" name="Rectangle 71"/>
          <p:cNvSpPr/>
          <p:nvPr/>
        </p:nvSpPr>
        <p:spPr>
          <a:xfrm>
            <a:off x="5212079"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見どころ・特典を</a:t>
            </a:r>
          </a:p>
          <a:p>
            <a:pPr algn="l">
              <a:lnSpc>
                <a:spcPct val="110000"/>
              </a:lnSpc>
              <a:spcAft>
                <a:spcPts val="0"/>
              </a:spcAft>
            </a:pPr>
            <a:r>
              <a:rPr sz="1300" b="1">
                <a:solidFill>
                  <a:srgbClr val="1F285A"/>
                </a:solidFill>
                <a:latin typeface="メイリオ"/>
                <a:ea typeface="メイリオ"/>
                <a:cs typeface="メイリオ"/>
              </a:rPr>
              <a:t>ステップ配信</a:t>
            </a:r>
          </a:p>
        </p:txBody>
      </p:sp>
      <p:sp>
        <p:nvSpPr>
          <p:cNvPr id="73" name="Rectangle 72"/>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④ リード獲得</a:t>
            </a:r>
          </a:p>
          <a:p>
            <a:pPr algn="ctr">
              <a:lnSpc>
                <a:spcPct val="110000"/>
              </a:lnSpc>
              <a:spcAft>
                <a:spcPts val="0"/>
              </a:spcAft>
            </a:pPr>
            <a:r>
              <a:rPr sz="1050" b="1">
                <a:solidFill>
                  <a:srgbClr val="1F285A"/>
                </a:solidFill>
                <a:latin typeface="メイリオ"/>
                <a:ea typeface="メイリオ"/>
                <a:cs typeface="メイリオ"/>
              </a:rPr>
              <a:t>(web/LINE)</a:t>
            </a:r>
          </a:p>
        </p:txBody>
      </p:sp>
      <p:sp>
        <p:nvSpPr>
          <p:cNvPr id="74" name="TextBox 73"/>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75" name="TextBox 74"/>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セミナーを予約した</a:t>
            </a:r>
          </a:p>
        </p:txBody>
      </p:sp>
      <p:cxnSp>
        <p:nvCxnSpPr>
          <p:cNvPr id="76" name="Connector 75"/>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7626095"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8" name="TextBox 77"/>
          <p:cNvSpPr txBox="1"/>
          <p:nvPr/>
        </p:nvSpPr>
        <p:spPr>
          <a:xfrm>
            <a:off x="7626095"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日が空き、参加を忘れる</a:t>
            </a:r>
          </a:p>
        </p:txBody>
      </p:sp>
      <p:cxnSp>
        <p:nvCxnSpPr>
          <p:cNvPr id="79" name="Connector 78"/>
          <p:cNvCxnSpPr/>
          <p:nvPr/>
        </p:nvCxnSpPr>
        <p:spPr>
          <a:xfrm>
            <a:off x="7671816"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80" name="Rectangle 79"/>
          <p:cNvSpPr/>
          <p:nvPr/>
        </p:nvSpPr>
        <p:spPr>
          <a:xfrm>
            <a:off x="7626095"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予約後の友だち追加・</a:t>
            </a:r>
          </a:p>
          <a:p>
            <a:pPr algn="l">
              <a:lnSpc>
                <a:spcPct val="110000"/>
              </a:lnSpc>
              <a:spcAft>
                <a:spcPts val="0"/>
              </a:spcAft>
            </a:pPr>
            <a:r>
              <a:rPr sz="1300" b="1">
                <a:solidFill>
                  <a:srgbClr val="1F285A"/>
                </a:solidFill>
                <a:latin typeface="メイリオ"/>
                <a:ea typeface="メイリオ"/>
                <a:cs typeface="メイリオ"/>
              </a:rPr>
              <a:t>前日の案内</a:t>
            </a: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開催のない月の配信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開催のない月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開催のない月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¥365,000程度／開催のない月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※月額費用＝コンサルティング費（開催のない月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130,000円〜／開催のない月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※開催のない月の配信は、次のイベントまで関係を保つためのもの（配信の回数を増やすこと自体は目的にしない）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開催のない月の層（予約していない方）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開催のない月の配信で、次回までつながりを保てる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予約していない方は開催のない月の配信で次のイベントへつなげる。流入経路だけでは予約・参加・入会の状況をすべて把握できないため、状況に応じた出し分けは、連携の仕様を確認のうえ設計。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セミナー開催月・開催のない月の企画配信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開催月は月4〜5回、開催のない月は月1〜2回の配信案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想定動線（フェーズごとのLINEの役割）⑤〜⑧</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② サイト離脱</a:t>
            </a:r>
            <a:r>
              <a:rPr lang="ja-JP" altLang="en-US" sz="1100" dirty="0">
                <a:solidFill>
                  <a:srgbClr val="BFBFBF"/>
                </a:solidFill>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solidFill>
                  <a:srgbClr val="BFBFBF"/>
                </a:solidFill>
                <a:latin typeface="メイリオ" panose="020B0604030504040204" pitchFamily="50" charset="-128"/>
                <a:ea typeface="メイリオ" panose="020B0604030504040204" pitchFamily="50" charset="-128"/>
                <a:cs typeface="メイリオ"/>
              </a:rPr>
              <a:t>③ 育成（興味</a:t>
            </a:r>
            <a:r>
              <a:rPr lang="ja-JP" altLang="en-US" sz="1100" b="1" dirty="0">
                <a:solidFill>
                  <a:srgbClr val="BFBFBF"/>
                </a:solidFill>
                <a:latin typeface="メイリオ" panose="020B0604030504040204" pitchFamily="50" charset="-128"/>
                <a:ea typeface="メイリオ" panose="020B0604030504040204" pitchFamily="50" charset="-128"/>
                <a:cs typeface="メイリオ"/>
              </a:rPr>
              <a:t>喚起</a:t>
            </a:r>
            <a:r>
              <a:rPr lang="ja-JP" altLang="ja-JP" sz="1100" b="1" dirty="0">
                <a:solidFill>
                  <a:srgbClr val="BFBFBF"/>
                </a:solidFill>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④リード獲得 </a:t>
            </a:r>
            <a:r>
              <a:rPr lang="en-US" altLang="ja-JP" sz="900" b="1" dirty="0">
                <a:solidFill>
                  <a:srgbClr val="BFBFBF"/>
                </a:solidFill>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参加後の関心が高いうちにサロン入会を案内し、次のイベント・紹介までつなげる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⑤ リード有効化</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参加して</a:t>
            </a:r>
          </a:p>
          <a:p>
            <a:pPr algn="l">
              <a:lnSpc>
                <a:spcPct val="105000"/>
              </a:lnSpc>
              <a:spcAft>
                <a:spcPts val="200"/>
              </a:spcAft>
            </a:pPr>
            <a:r>
              <a:rPr sz="1300" b="0">
                <a:solidFill>
                  <a:srgbClr val="333333"/>
                </a:solidFill>
                <a:latin typeface="メイリオ"/>
                <a:ea typeface="メイリオ"/>
                <a:cs typeface="メイリオ"/>
              </a:rPr>
              <a:t>関心が高まっている</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384048"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52" name="TextBox 51"/>
          <p:cNvSpPr txBox="1"/>
          <p:nvPr/>
        </p:nvSpPr>
        <p:spPr>
          <a:xfrm>
            <a:off x="384048"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入会を迷ったまま</a:t>
            </a:r>
          </a:p>
          <a:p>
            <a:pPr algn="l">
              <a:lnSpc>
                <a:spcPct val="105000"/>
              </a:lnSpc>
              <a:spcAft>
                <a:spcPts val="200"/>
              </a:spcAft>
            </a:pPr>
            <a:r>
              <a:rPr sz="1300" b="0">
                <a:solidFill>
                  <a:srgbClr val="333333"/>
                </a:solidFill>
                <a:latin typeface="メイリオ"/>
                <a:ea typeface="メイリオ"/>
                <a:cs typeface="メイリオ"/>
              </a:rPr>
              <a:t>時間が経つ</a:t>
            </a:r>
          </a:p>
        </p:txBody>
      </p:sp>
      <p:cxnSp>
        <p:nvCxnSpPr>
          <p:cNvPr id="53" name="Connector 52"/>
          <p:cNvCxnSpPr/>
          <p:nvPr/>
        </p:nvCxnSpPr>
        <p:spPr>
          <a:xfrm>
            <a:off x="429768"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4" name="Rectangle 53"/>
          <p:cNvSpPr/>
          <p:nvPr/>
        </p:nvSpPr>
        <p:spPr>
          <a:xfrm>
            <a:off x="384048"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参加直後にサロンを案内</a:t>
            </a:r>
          </a:p>
        </p:txBody>
      </p:sp>
      <p:sp>
        <p:nvSpPr>
          <p:cNvPr id="55" name="Rectangle 54"/>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⑥ 有効リードの再育成</a:t>
            </a:r>
          </a:p>
        </p:txBody>
      </p:sp>
      <p:sp>
        <p:nvSpPr>
          <p:cNvPr id="56" name="Isosceles Triangle 55"/>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7" name="TextBox 56"/>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8" name="TextBox 57"/>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未入会／予約したが不参加</a:t>
            </a:r>
          </a:p>
        </p:txBody>
      </p:sp>
      <p:cxnSp>
        <p:nvCxnSpPr>
          <p:cNvPr id="59" name="Connector 58"/>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0" name="TextBox 59"/>
          <p:cNvSpPr txBox="1"/>
          <p:nvPr/>
        </p:nvSpPr>
        <p:spPr>
          <a:xfrm>
            <a:off x="2798063"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61" name="TextBox 60"/>
          <p:cNvSpPr txBox="1"/>
          <p:nvPr/>
        </p:nvSpPr>
        <p:spPr>
          <a:xfrm>
            <a:off x="2798063"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次のイベントまで</a:t>
            </a:r>
          </a:p>
          <a:p>
            <a:pPr algn="l">
              <a:lnSpc>
                <a:spcPct val="105000"/>
              </a:lnSpc>
              <a:spcAft>
                <a:spcPts val="200"/>
              </a:spcAft>
            </a:pPr>
            <a:r>
              <a:rPr sz="1300" b="0">
                <a:solidFill>
                  <a:srgbClr val="333333"/>
                </a:solidFill>
                <a:latin typeface="メイリオ"/>
                <a:ea typeface="メイリオ"/>
                <a:cs typeface="メイリオ"/>
              </a:rPr>
              <a:t>期間が空く</a:t>
            </a:r>
          </a:p>
        </p:txBody>
      </p:sp>
      <p:cxnSp>
        <p:nvCxnSpPr>
          <p:cNvPr id="62" name="Connector 61"/>
          <p:cNvCxnSpPr/>
          <p:nvPr/>
        </p:nvCxnSpPr>
        <p:spPr>
          <a:xfrm>
            <a:off x="2843783"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2798063"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月1〜2回の配信で次回へ</a:t>
            </a:r>
          </a:p>
        </p:txBody>
      </p:sp>
      <p:sp>
        <p:nvSpPr>
          <p:cNvPr id="64" name="Rectangle 63"/>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⑦ マネタイズ</a:t>
            </a:r>
          </a:p>
          <a:p>
            <a:pPr algn="ctr">
              <a:lnSpc>
                <a:spcPct val="110000"/>
              </a:lnSpc>
              <a:spcAft>
                <a:spcPts val="0"/>
              </a:spcAft>
            </a:pPr>
            <a:r>
              <a:rPr sz="1050" b="1">
                <a:solidFill>
                  <a:srgbClr val="1F285A"/>
                </a:solidFill>
                <a:latin typeface="メイリオ"/>
                <a:ea typeface="メイリオ"/>
                <a:cs typeface="メイリオ"/>
              </a:rPr>
              <a:t>(成約/購入)</a:t>
            </a:r>
          </a:p>
        </p:txBody>
      </p:sp>
      <p:sp>
        <p:nvSpPr>
          <p:cNvPr id="65" name="Isosceles Triangle 64"/>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6" name="TextBox 65"/>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7" name="TextBox 66"/>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サロンの入会を検討</a:t>
            </a:r>
          </a:p>
        </p:txBody>
      </p:sp>
      <p:cxnSp>
        <p:nvCxnSpPr>
          <p:cNvPr id="68" name="Connector 67"/>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5212079"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0" name="TextBox 69"/>
          <p:cNvSpPr txBox="1"/>
          <p:nvPr/>
        </p:nvSpPr>
        <p:spPr>
          <a:xfrm>
            <a:off x="5212079"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入会後の中身・</a:t>
            </a:r>
          </a:p>
          <a:p>
            <a:pPr algn="l">
              <a:lnSpc>
                <a:spcPct val="105000"/>
              </a:lnSpc>
              <a:spcAft>
                <a:spcPts val="200"/>
              </a:spcAft>
            </a:pPr>
            <a:r>
              <a:rPr sz="1300" b="0">
                <a:solidFill>
                  <a:srgbClr val="333333"/>
                </a:solidFill>
                <a:latin typeface="メイリオ"/>
                <a:ea typeface="メイリオ"/>
                <a:cs typeface="メイリオ"/>
              </a:rPr>
              <a:t>成果が見えない</a:t>
            </a:r>
          </a:p>
        </p:txBody>
      </p:sp>
      <p:cxnSp>
        <p:nvCxnSpPr>
          <p:cNvPr id="71" name="Connector 70"/>
          <p:cNvCxnSpPr/>
          <p:nvPr/>
        </p:nvCxnSpPr>
        <p:spPr>
          <a:xfrm>
            <a:off x="5257799" y="5321808"/>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2" name="Rectangle 71"/>
          <p:cNvSpPr/>
          <p:nvPr/>
        </p:nvSpPr>
        <p:spPr>
          <a:xfrm>
            <a:off x="5212079"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入会した方の声を配信</a:t>
            </a:r>
          </a:p>
        </p:txBody>
      </p:sp>
      <p:sp>
        <p:nvSpPr>
          <p:cNvPr id="73" name="Rectangle 72"/>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⑧ LTV最大化・紹介</a:t>
            </a:r>
          </a:p>
        </p:txBody>
      </p:sp>
      <p:sp>
        <p:nvSpPr>
          <p:cNvPr id="74" name="TextBox 73"/>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75" name="TextBox 74"/>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サロンに入会</a:t>
            </a:r>
          </a:p>
        </p:txBody>
      </p:sp>
      <p:cxnSp>
        <p:nvCxnSpPr>
          <p:cNvPr id="76" name="Connector 75"/>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7626095"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8" name="TextBox 77"/>
          <p:cNvSpPr txBox="1"/>
          <p:nvPr/>
        </p:nvSpPr>
        <p:spPr>
          <a:xfrm>
            <a:off x="7626095"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継続利用・紹介まで</a:t>
            </a:r>
          </a:p>
          <a:p>
            <a:pPr algn="l">
              <a:lnSpc>
                <a:spcPct val="105000"/>
              </a:lnSpc>
              <a:spcAft>
                <a:spcPts val="200"/>
              </a:spcAft>
            </a:pPr>
            <a:r>
              <a:rPr sz="1300" b="0">
                <a:solidFill>
                  <a:srgbClr val="333333"/>
                </a:solidFill>
                <a:latin typeface="メイリオ"/>
                <a:ea typeface="メイリオ"/>
                <a:cs typeface="メイリオ"/>
              </a:rPr>
              <a:t>届きにくい</a:t>
            </a:r>
          </a:p>
        </p:txBody>
      </p:sp>
      <p:cxnSp>
        <p:nvCxnSpPr>
          <p:cNvPr id="79" name="Connector 78"/>
          <p:cNvCxnSpPr/>
          <p:nvPr/>
        </p:nvCxnSpPr>
        <p:spPr>
          <a:xfrm>
            <a:off x="7671816"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80" name="Rectangle 79"/>
          <p:cNvSpPr/>
          <p:nvPr/>
        </p:nvSpPr>
        <p:spPr>
          <a:xfrm>
            <a:off x="7626095"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イベント案内・紹介</a:t>
            </a:r>
          </a:p>
          <a:p>
            <a:pPr algn="l">
              <a:lnSpc>
                <a:spcPct val="110000"/>
              </a:lnSpc>
              <a:spcAft>
                <a:spcPts val="0"/>
              </a:spcAft>
            </a:pPr>
            <a:r>
              <a:rPr sz="1300" b="1">
                <a:solidFill>
                  <a:srgbClr val="1F285A"/>
                </a:solidFill>
                <a:latin typeface="メイリオ"/>
                <a:ea typeface="メイリオ"/>
                <a:cs typeface="メイリオ"/>
              </a:rPr>
              <a:t>（中長期）</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142313</TotalTime>
  <Words>7860</Words>
  <Application>Microsoft Office PowerPoint</Application>
  <PresentationFormat>A4 210 x 297 mm</PresentationFormat>
  <Paragraphs>1329</Paragraphs>
  <Slides>59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59</vt:i4>
      </vt:variant>
    </vt:vector>
  </HeadingPairs>
  <TitlesOfParts>
    <vt:vector size="65"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1955</cp:revision>
  <cp:lastPrinted>2022-11-01T11:38:14Z</cp:lastPrinted>
  <dcterms:created xsi:type="dcterms:W3CDTF">2015-09-04T09:21:15Z</dcterms:created>
  <dcterms:modified xsi:type="dcterms:W3CDTF">2026-10-22T00:32:51Z</dcterms:modified>
</cp:coreProperties>
</file>