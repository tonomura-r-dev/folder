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  <p:sldId id="2982" r:id="rId12"/>
    <p:sldId id="2736" r:id="rId13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8CEE-BA77-7F59-159F-47D256C6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20AAE9-56BE-66E5-82F7-A32C5F5E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3263BB-84E3-A23F-F50A-22409A9D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E676F0-0850-6080-8D54-24CC34C00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4560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資料請求は取れているのに、営業が追いきれず来場に繋がっていない。LINEで追い切る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678382" y="4341752"/>
            <a:ext cx="2549236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小林住宅株式会社 御中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144000"/>
            <a:ext cx="1872000" cy="23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ラフ版（データ収集前）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336000"/>
            <a:ext cx="9043200" cy="288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代理店：株式会社プロモ／営業担当：髙橋駿太様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現状｜いま起きていること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資料請求は取れているが、来場に繋がっていない。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結果として、来場予約1件のCPAが高騰している。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692000"/>
            <a:ext cx="29424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来場予約CPA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944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448000"/>
            <a:ext cx="29424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管理画面ベース。実反響では</a:t>
            </a:r>
          </a:p>
          <a:p>
            <a:pPr algn="ctr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もう少し良い数値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4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400" y="1692000"/>
            <a:ext cx="29424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来場目標に対する実績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400" y="1944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70 / 100件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400" y="2448000"/>
            <a:ext cx="29424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達成率70%（全展示場合計）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28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2800" y="1692000"/>
            <a:ext cx="29424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1施設あたりの来場数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2800" y="1944000"/>
            <a:ext cx="29424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 → 14件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2800" y="2448000"/>
            <a:ext cx="29424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月4件の上積みが必要（7施設）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98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3041999"/>
            <a:ext cx="8755200" cy="72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資料請求は取れている。問題は、そこから来場までの間。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展示場7施設（京都1・大阪5・兵庫1）、広告予算は月100〜150万円（Meta比重やや高め）。媒体はGoogle・Yahoo・Meta、CV地点は来場予約／カタログ請求／オンライン相談／間取りプラン請求／お問い合わせの5つ。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業界水準｜殿村さんヒアリングによる確定値（2026年8月時点・代理店提供の管理画面数値）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この商材で、いま何が起きているか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追客ができていないのではなく、追える手段がない。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02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顧客が動く時間に、営業は架電できない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30〜40代・共働きの子育て世帯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平日日中は仕事と育児 → 電話に出られない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検討するのは夜21時以降と週末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5600" y="1620000"/>
            <a:ext cx="4449600" cy="102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検討8〜12か月に対して、接点は資料請求の1回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 → 8〜12か月ほぼ無接触 → 来場 or 他社決定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その間に3〜5社を比較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736000"/>
            <a:ext cx="4449600" cy="102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高性能住宅は、一度では伝わらない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断熱等級6・7／C値／全館空調は理解に時間がかかる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「外断熱供給実績No.1」も、伝える機会が1回では届かない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2736000"/>
            <a:ext cx="4449600" cy="102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だから来場予約を直接買うことになる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資料請求からの引き上げができない → 来場予約を広告で買う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CPA15万円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923999"/>
            <a:ext cx="9043200" cy="54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3923999"/>
            <a:ext cx="87552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CPAが高いのは結果です。原因は、8か月間の接点がないことです。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意見｜商談ヒアリングに基づく整理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市場のシーズナリティ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ゴールデンウィークをピークに、検索関心は落ち込んでいる。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★詳細はGoogleトレンド取得後に反映する。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692000"/>
            <a:ext cx="8755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既知の1点（Googleトレンド・相対指標）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000" y="1944000"/>
            <a:ext cx="16200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000" y="1980000"/>
            <a:ext cx="1620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ゴールデンウィーク</a:t>
            </a:r>
          </a:p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000" y="2106000"/>
            <a:ext cx="3600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2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1944000"/>
            <a:ext cx="16200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000" y="1980000"/>
            <a:ext cx="1620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直近</a:t>
            </a:r>
          </a:p>
          <a:p>
            <a:pPr algn="ctr"/>
            <a:r>
              <a:rPr sz="2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556000"/>
            <a:ext cx="9043200" cy="15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★差込枠｜Googleトレンド実データ（未取得）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対象KWの5年＋1年推移を取得後、折れ線グラフを差し込む。
スケールの異なるKWは混ぜず別グラフにする（他案件での既知の事故）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業界水準｜GWピーク・直近値は殿村さん提供の既知情報。それ以外はGoogleトレンド取得後に反映（未取得）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前後検索で見る検討の流れ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★前後検索データ取得後、検討前後で検索KWがどう変わるかを反映する。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検索“前”15〜7日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51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検索KWを取得後に記入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24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起点0日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400" y="2051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検索KWを取得後に記入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検索“後”7〜15日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2800" y="2051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検索KWを取得後に記入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★未取得｜出典：LINEヤフー媒体資料（要取得）。起点KWは施策URL・商材名から要検討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競合のLINE運用状況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同価格帯メーカー3社を実査する。競合の実名は、実データが取れるまで出さない。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688"/>
                <a:gridCol w="1627776"/>
                <a:gridCol w="1989504"/>
                <a:gridCol w="2351232"/>
              </a:tblGrid>
              <a:tr h="251999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アカウント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友だち数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運用の型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あいさつMSG／リッチメニュー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51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★同価格帯メーカー1（社名未定）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★同価格帯メーカー2（社名未定）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51999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★同価格帯メーカー3（社名未定）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736000"/>
            <a:ext cx="90432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★差込枠｜競合3社の実査（未取得）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page.line.meから取得日つきで実測。断熱等級・C値を訴求する同価格帯の
住宅メーカーから選定（社名は実査時に確定・上長確認要）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★未取得｜対象3社は実査時に選定。実名掲載は社内確認のうえ判断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いま、どこで落ちているか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落ちているのは「資料請求→来場」の間。7展示場すべてで、月4件の上積みが必要。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612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655999"/>
            <a:ext cx="87552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</a:t>
            </a:r>
            <a:r>
              <a:rPr sz="1300" b="1">
                <a:solidFill>
                  <a:srgbClr val="FCE4D6"/>
                </a:solidFill>
                <a:latin typeface="メイリオ"/>
                <a:ea typeface="メイリオ"/>
                <a:cs typeface="メイリオ"/>
              </a:rPr>
              <a:t>　→　★ここで落ちている　→　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304000"/>
            <a:ext cx="9043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7展示場の内訳（1施設あたり平均）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199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京都・四条（総合住宅展示場）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199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1885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7085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ABCハウジングウェルビーみのお 第1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7085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3771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8971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ABCハウジングウェルビーみのお 第2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8971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657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0857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中百舌鳥住宅公園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0857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7542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2742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ショールーム（本社）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2742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9428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4628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箕面森町モデルハウス（宿泊体験型）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628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1314" y="2556000"/>
            <a:ext cx="1255885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6514" y="2591999"/>
            <a:ext cx="1205485" cy="68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ABCハウジング伊丹・昆陽の里住宅公園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6514" y="3203999"/>
            <a:ext cx="1205485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10→14件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業界水準｜殿村さん提供の確定値。展示場ごとの内訳は「1施設あたり平均」を7施設に適用したモデル値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LINE導入後の導線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LINEは、その日のうちに約8割が開封します。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夜でも週末でも、相手の都合のいい時間に届きます。（出典：LINEヤフー for Business）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資料請求者を自動追客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資料請求の直後にLINE友だち化。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営業が追いきれていない間を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LINEが自動で埋める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20000"/>
            <a:ext cx="29424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エリアで展示場を出し分け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希望エリアに応じて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7展示場の中から最寄りを提案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（京都1／大阪5／兵庫1）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20000"/>
            <a:ext cx="29424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宿泊体験を来場動機に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箕面森町モデルハウスの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宿泊体験型を来場のきっかけに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（他展示場にはない特徴）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951999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951999"/>
            <a:ext cx="8755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触るのは「資料請求のあと」から「来場」までの区間だけ。広告の設計は変えない。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業界水準｜LINE開封率「当日中に約8割」はLINEヤフー公式値。他の施策は意見（DYM提案）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施策・解決する課題・想定KPIの対応表。すべて「資料請求→来場」の区間に効く施策。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688"/>
                <a:gridCol w="3436416"/>
                <a:gridCol w="2532096"/>
              </a:tblGrid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施策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解決する課題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想定KPI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資料請求者への自動追客（LINE誘導）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資料請求を営業サイドが最後まで追えていない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資料請求→来場 転換率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あいさつMSG＋来場予約への誘導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検討8〜12か月に対し接点が資料請求の1回のみ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友だち化率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エリア別リッチメニュー（7展示場の出し分け）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展示場が7施設に分散し情報が届きにくい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展示場別・来場数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高性能住宅の理解を深める継続配信
（断熱等級・C値・全館空調の解説）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高性能住宅は一度の接触では伝わらない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来場予約 CVR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36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宿泊体験（箕面森町）への送客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来場の動機づけが弱い層への一手が無い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宿泊体験 申込数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意見｜P3の診断（①〜④）に対応する施策案。想定KPIは方向性であり、目標値はSIM作成後に確定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98A-7489-8F6D-91D8-19CE7F5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想定シミュレーション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★SIM未作成。ここでは測る構造だけを示す。数値は御社実績をいただき次第、反映する。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232"/>
                <a:gridCol w="3345984"/>
                <a:gridCol w="3345984"/>
              </a:tblGrid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Before（広告のみ）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After（LINE導入後）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資料請求数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現状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同左（広告費は据え置き）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資料請求→来場 転換率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★改善想定（感度分析で提示）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来場数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★向上想定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来場CPA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★低下想定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664000"/>
            <a:ext cx="90432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★差込枠｜感度分析（未取得）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資料請求数・転換率の実績値をいただき次第、転換率を◯pt改善した場合の
来場数・CPAの変化を複数シナリオで試算する（lineoa-simスキル相当の作業）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意見｜数値は御社実績（資料請求数・現状CPA・転換率）をいただき次第、確定</a:t>
            </a:r>
          </a:p>
        </p:txBody>
      </p:sp>
    </p:spTree>
    <p:extLst>
      <p:ext uri="{BB962C8B-B14F-4D97-AF65-F5344CB8AC3E}">
        <p14:creationId xmlns:p14="http://schemas.microsoft.com/office/powerpoint/2010/main" val="6538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費用プラン ＋ まず90日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無償付帯と別途費用を分けて示す（6ヶ月〜・税抜）。導入初月から90日の進め方。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655999"/>
            <a:ext cx="2798400" cy="251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コンサル基本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1908000"/>
            <a:ext cx="2798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088000"/>
            <a:ext cx="2798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月20万（3投稿）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月30万（5投稿）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月50万（9投稿）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400" y="16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4400" y="1655999"/>
            <a:ext cx="2798400" cy="251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初動設計＋運用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4400" y="1908000"/>
            <a:ext cx="2798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4400" y="2088000"/>
            <a:ext cx="2798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月5万〜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2800" y="16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800" y="1655999"/>
            <a:ext cx="2798400" cy="251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運用代行・効率改善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800" y="1908000"/>
            <a:ext cx="2798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800" y="2088000"/>
            <a:ext cx="2798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月0万〜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（アカウント費のみ）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556000"/>
            <a:ext cx="9043200" cy="23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まず90日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844000"/>
            <a:ext cx="2942400" cy="251999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Day1〜30｜構築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3131999"/>
            <a:ext cx="2942400" cy="68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あいさつMSG・友だち追加動線・
エリア別リッチメニュー設計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2400" y="2844000"/>
            <a:ext cx="2942400" cy="251999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Day31〜60｜稼働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2400" y="3131999"/>
            <a:ext cx="2942400" cy="68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資料請求者への自動追客を開始。
7展示場への出し分け稼働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2800" y="2844000"/>
            <a:ext cx="2942400" cy="251999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Day61〜90｜計測・改善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2800" y="3131999"/>
            <a:ext cx="2942400" cy="68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資料請求→来場の転換率を計測。
次フェーズ（データ収集・SIM）へ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意見｜DYM標準プラン（6ヶ月〜・税抜）。無償付帯：アカウント開設／プロフィール／リッチメニュー／あいさつ／初期アンケート／KW自動応答／定例会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