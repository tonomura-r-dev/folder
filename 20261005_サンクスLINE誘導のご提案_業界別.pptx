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7"/>
  </p:notesMasterIdLst>
  <p:handoutMasterIdLst>
    <p:handoutMasterId r:id="rId8"/>
  </p:handoutMasterIdLst>
  <p:sldIdLst>
    <p:sldId id="3039" r:id="rId3"/>
    <p:sldId id="3040" r:id="rId4"/>
    <p:sldId id="3041" r:id="rId5"/>
    <p:sldId id="3042" r:id="rId6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450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119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476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474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12192119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9880719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CV後の接点をLINEに残す｜サンクスLINE誘導とは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CVの完了画面から、LINEの友だち追加へ案内する機能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6000" y="3849296"/>
            <a:ext cx="2988000" cy="79740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altLang="ja-JP" sz="18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  <a:r>
              <a:rPr lang="ja-JP" altLang="en-US" sz="18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：</a:t>
            </a:r>
            <a:r>
              <a:rPr sz="4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100</a:t>
            </a:r>
            <a:r>
              <a:rPr lang="ja-JP" altLang="en-US" sz="42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</a:t>
            </a:r>
            <a:endParaRPr sz="20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8000" y="3816000"/>
            <a:ext cx="2988000" cy="864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2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60</a:t>
            </a:r>
            <a:r>
              <a:rPr sz="18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000" y="4644000"/>
            <a:ext cx="2988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サンクスLINE誘導の対象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3999" y="3816000"/>
            <a:ext cx="2988000" cy="864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30</a:t>
            </a:r>
            <a:r>
              <a:rPr sz="18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3999" y="4644000"/>
            <a:ext cx="2988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LINE友だち追加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23999" y="4248000"/>
            <a:ext cx="7920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20000" y="4428000"/>
            <a:ext cx="18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× 誘導可能率 60%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60000" y="4248000"/>
            <a:ext cx="792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56000" y="4428000"/>
            <a:ext cx="1800000" cy="251999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× 友だち追加率 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000" y="6192000"/>
            <a:ext cx="10608119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※誘導可能率・友だち追加率は想定値</a:t>
            </a:r>
          </a:p>
        </p:txBody>
      </p:sp>
      <p:sp>
        <p:nvSpPr>
          <p:cNvPr id="31" name="Pentagon 30"/>
          <p:cNvSpPr/>
          <p:nvPr/>
        </p:nvSpPr>
        <p:spPr>
          <a:xfrm>
            <a:off x="792000" y="1764000"/>
            <a:ext cx="2222400" cy="936000"/>
          </a:xfrm>
          <a:prstGeom prst="homePlate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000" y="1764000"/>
            <a:ext cx="1898400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サイト・LP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来訪</a:t>
            </a:r>
          </a:p>
        </p:txBody>
      </p:sp>
      <p:sp>
        <p:nvSpPr>
          <p:cNvPr id="33" name="Chevron 32"/>
          <p:cNvSpPr/>
          <p:nvPr/>
        </p:nvSpPr>
        <p:spPr>
          <a:xfrm>
            <a:off x="2888400" y="1764000"/>
            <a:ext cx="2222400" cy="936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40400" y="1764000"/>
            <a:ext cx="1754400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35" name="Chevron 34"/>
          <p:cNvSpPr/>
          <p:nvPr/>
        </p:nvSpPr>
        <p:spPr>
          <a:xfrm>
            <a:off x="4984800" y="1764000"/>
            <a:ext cx="2222400" cy="936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6800" y="1764000"/>
            <a:ext cx="1754400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完了画面</a:t>
            </a:r>
          </a:p>
        </p:txBody>
      </p:sp>
      <p:sp>
        <p:nvSpPr>
          <p:cNvPr id="37" name="Chevron 36"/>
          <p:cNvSpPr/>
          <p:nvPr/>
        </p:nvSpPr>
        <p:spPr>
          <a:xfrm>
            <a:off x="7081200" y="1764000"/>
            <a:ext cx="2222400" cy="936000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33200" y="1764000"/>
            <a:ext cx="1754400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LINE誘導</a:t>
            </a:r>
          </a:p>
        </p:txBody>
      </p:sp>
      <p:sp>
        <p:nvSpPr>
          <p:cNvPr id="39" name="Chevron 38"/>
          <p:cNvSpPr/>
          <p:nvPr/>
        </p:nvSpPr>
        <p:spPr>
          <a:xfrm>
            <a:off x="9177600" y="1764000"/>
            <a:ext cx="2222400" cy="936000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29600" y="1764000"/>
            <a:ext cx="1754400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28400" y="2736000"/>
            <a:ext cx="29424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予約・申込・問い合わせ・会員登録など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CVはゴールではなく、売上化のスタート地点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CVで接点が終わると、面談・商談・購入・継続利用につながらない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944000"/>
            <a:ext cx="1655999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なし</a:t>
            </a:r>
          </a:p>
        </p:txBody>
      </p:sp>
      <p:sp>
        <p:nvSpPr>
          <p:cNvPr id="7" name="Pentagon 6"/>
          <p:cNvSpPr/>
          <p:nvPr/>
        </p:nvSpPr>
        <p:spPr>
          <a:xfrm>
            <a:off x="2556000" y="1944000"/>
            <a:ext cx="2305500" cy="1080000"/>
          </a:xfrm>
          <a:prstGeom prst="homePlate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64000" y="1944000"/>
            <a:ext cx="1981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サイト・LP</a:t>
            </a:r>
          </a:p>
        </p:txBody>
      </p:sp>
      <p:sp>
        <p:nvSpPr>
          <p:cNvPr id="9" name="Chevron 8"/>
          <p:cNvSpPr/>
          <p:nvPr/>
        </p:nvSpPr>
        <p:spPr>
          <a:xfrm>
            <a:off x="4735500" y="19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7500" y="1944000"/>
            <a:ext cx="1837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1" name="Chevron 10"/>
          <p:cNvSpPr/>
          <p:nvPr/>
        </p:nvSpPr>
        <p:spPr>
          <a:xfrm>
            <a:off x="6915000" y="19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67000" y="1944000"/>
            <a:ext cx="1837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接点終了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2000" y="3294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2000" y="3744000"/>
            <a:ext cx="1655999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サンクスLINE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</p:txBody>
      </p:sp>
      <p:sp>
        <p:nvSpPr>
          <p:cNvPr id="15" name="Pentagon 14"/>
          <p:cNvSpPr/>
          <p:nvPr/>
        </p:nvSpPr>
        <p:spPr>
          <a:xfrm>
            <a:off x="2556000" y="3744000"/>
            <a:ext cx="2305500" cy="1080000"/>
          </a:xfrm>
          <a:prstGeom prst="homePlate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64000" y="3744000"/>
            <a:ext cx="1981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サイト・LP</a:t>
            </a:r>
          </a:p>
        </p:txBody>
      </p:sp>
      <p:sp>
        <p:nvSpPr>
          <p:cNvPr id="17" name="Chevron 16"/>
          <p:cNvSpPr/>
          <p:nvPr/>
        </p:nvSpPr>
        <p:spPr>
          <a:xfrm>
            <a:off x="4735500" y="37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7500" y="3744000"/>
            <a:ext cx="1837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9" name="Chevron 18"/>
          <p:cNvSpPr/>
          <p:nvPr/>
        </p:nvSpPr>
        <p:spPr>
          <a:xfrm>
            <a:off x="6915000" y="37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67000" y="3744000"/>
            <a:ext cx="1837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LINE誘導</a:t>
            </a:r>
          </a:p>
        </p:txBody>
      </p:sp>
      <p:sp>
        <p:nvSpPr>
          <p:cNvPr id="21" name="Chevron 20"/>
          <p:cNvSpPr/>
          <p:nvPr/>
        </p:nvSpPr>
        <p:spPr>
          <a:xfrm>
            <a:off x="9094500" y="3744000"/>
            <a:ext cx="2305500" cy="1080000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46500" y="3744000"/>
            <a:ext cx="1837500" cy="108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LINE上で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継続接点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4500" y="4896000"/>
            <a:ext cx="23055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その後のご案内・やり取りができる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ターゲット業界別｜サンクスLINE活用イメージ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CVの後にLINEで送る内容は、業界ごとに変わる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500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92000" y="3978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hanks_sce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168" y="1692000"/>
            <a:ext cx="1771831" cy="2214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9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1746000"/>
            <a:ext cx="2520000" cy="41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7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4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21999" y="2700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2000" y="3221999"/>
            <a:ext cx="3244168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420000"/>
            <a:ext cx="3244168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前日リマインド／求人紹介／選考のご案内</a:t>
            </a:r>
          </a:p>
        </p:txBody>
      </p:sp>
      <p:pic>
        <p:nvPicPr>
          <p:cNvPr id="17" name="Picture 16" descr="thanks_sce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168" y="1692000"/>
            <a:ext cx="1771831" cy="221400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631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4000" y="1746000"/>
            <a:ext cx="2520000" cy="41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不動産投資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相談予約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9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96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2000" y="2700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12000" y="3221999"/>
            <a:ext cx="3244168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2000" y="3420000"/>
            <a:ext cx="3244168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面談リマインド／セミナー案内／物件情報</a:t>
            </a:r>
          </a:p>
        </p:txBody>
      </p:sp>
      <p:pic>
        <p:nvPicPr>
          <p:cNvPr id="26" name="Picture 25" descr="thanks_scen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168" y="4050000"/>
            <a:ext cx="1771831" cy="22140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79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4000" y="4104000"/>
            <a:ext cx="2520000" cy="41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ホビー（toC）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7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44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21999" y="5058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2000" y="5580000"/>
            <a:ext cx="3244168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778000"/>
            <a:ext cx="3244168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限定商品の案内／キャンペーン・クーポン</a:t>
            </a:r>
          </a:p>
        </p:txBody>
      </p:sp>
      <p:pic>
        <p:nvPicPr>
          <p:cNvPr id="35" name="Picture 34" descr="thanks_scen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168" y="4050000"/>
            <a:ext cx="1771831" cy="221400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31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4000" y="4104000"/>
            <a:ext cx="2520000" cy="41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ハウスメーカー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来場予約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9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96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742000" y="5058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12000" y="5580000"/>
            <a:ext cx="3244168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2000" y="5778000"/>
            <a:ext cx="3244168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見学会の案内／土地情報／個別相談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000" y="6318000"/>
            <a:ext cx="10608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※利用シーンは想定例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LINEヤフー活用事例｜旅行・クリニック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予約後・友だち追加後のLINE配信が、友だち化・予約の増加につながった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175999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92000" y="1620000"/>
            <a:ext cx="508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旅行（観光バス）</a:t>
            </a:r>
          </a:p>
        </p:txBody>
      </p:sp>
      <p:sp>
        <p:nvSpPr>
          <p:cNvPr id="8" name="Pentagon 7"/>
          <p:cNvSpPr/>
          <p:nvPr/>
        </p:nvSpPr>
        <p:spPr>
          <a:xfrm>
            <a:off x="792000" y="2070000"/>
            <a:ext cx="1780000" cy="827999"/>
          </a:xfrm>
          <a:prstGeom prst="homePlate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070000"/>
            <a:ext cx="1456000" cy="827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高速バス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の予約</a:t>
            </a:r>
          </a:p>
        </p:txBody>
      </p:sp>
      <p:sp>
        <p:nvSpPr>
          <p:cNvPr id="10" name="Chevron 9"/>
          <p:cNvSpPr/>
          <p:nvPr/>
        </p:nvSpPr>
        <p:spPr>
          <a:xfrm>
            <a:off x="2446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8000" y="2070000"/>
            <a:ext cx="1312000" cy="827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乗車前日の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案内をLINEで</a:t>
            </a:r>
          </a:p>
        </p:txBody>
      </p:sp>
      <p:sp>
        <p:nvSpPr>
          <p:cNvPr id="12" name="Chevron 11"/>
          <p:cNvSpPr/>
          <p:nvPr/>
        </p:nvSpPr>
        <p:spPr>
          <a:xfrm>
            <a:off x="4100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2000" y="2070000"/>
            <a:ext cx="1312000" cy="827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2951999"/>
            <a:ext cx="5088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予約番号・便名・乗車場所を、乗車前日の夕方に配信（LINE通知メッセージ）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401999"/>
            <a:ext cx="5088000" cy="28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案内を受け取った方の友だち追加率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671999"/>
            <a:ext cx="5088000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680000"/>
            <a:ext cx="5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導入から約2か月で、4,398人が友だち追加（2021年10月〜）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予約忘れ・乗車前の問い合わせも減少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5436000"/>
            <a:ext cx="5088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導入事例（琴平バス／2022年6月公開・取材先調べ）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2000" y="1620000"/>
            <a:ext cx="5088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クリニック（皮膚科）</a:t>
            </a:r>
          </a:p>
        </p:txBody>
      </p:sp>
      <p:sp>
        <p:nvSpPr>
          <p:cNvPr id="20" name="Pentagon 19"/>
          <p:cNvSpPr/>
          <p:nvPr/>
        </p:nvSpPr>
        <p:spPr>
          <a:xfrm>
            <a:off x="6312000" y="2070000"/>
            <a:ext cx="1780000" cy="827999"/>
          </a:xfrm>
          <a:prstGeom prst="homePlate">
            <a:avLst>
              <a:gd name="adj" fmla="val 2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0000" y="2070000"/>
            <a:ext cx="1456000" cy="827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22" name="Chevron 21"/>
          <p:cNvSpPr/>
          <p:nvPr/>
        </p:nvSpPr>
        <p:spPr>
          <a:xfrm>
            <a:off x="7966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8000" y="2070000"/>
            <a:ext cx="1312000" cy="827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全5通</a:t>
            </a:r>
          </a:p>
        </p:txBody>
      </p:sp>
      <p:sp>
        <p:nvSpPr>
          <p:cNvPr id="24" name="Chevron 23"/>
          <p:cNvSpPr/>
          <p:nvPr/>
        </p:nvSpPr>
        <p:spPr>
          <a:xfrm>
            <a:off x="9620000" y="2070000"/>
            <a:ext cx="1780000" cy="827999"/>
          </a:xfrm>
          <a:prstGeom prst="chevron">
            <a:avLst>
              <a:gd name="adj" fmla="val 2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2000" y="2070000"/>
            <a:ext cx="1312000" cy="827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2000" y="2951999"/>
            <a:ext cx="5088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ニキビ・治療法の解説 → 患者の声 → 無料カウンセリングのクーポン、の順に自動配信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2000" y="3401999"/>
            <a:ext cx="5088000" cy="28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2000" y="3671999"/>
            <a:ext cx="5088000" cy="93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約20%増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2000" y="4680000"/>
            <a:ext cx="5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友だち追加広告による友だち数の増加も含む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2000" y="5436000"/>
            <a:ext cx="5088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導入事例（アクネクリニック／2022年4月公開・取材先調べ）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000" y="6192000"/>
            <a:ext cx="10608000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※どちらもサンクスLINE誘導そのものではなく、LINEでつながった後の活用事例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143257</TotalTime>
  <Words>305</Words>
  <Application>Microsoft Office PowerPoint</Application>
  <PresentationFormat>ワイド画面</PresentationFormat>
  <Paragraphs>103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1966</cp:revision>
  <cp:lastPrinted>2022-11-01T11:38:14Z</cp:lastPrinted>
  <dcterms:created xsi:type="dcterms:W3CDTF">2015-09-04T09:21:15Z</dcterms:created>
  <dcterms:modified xsi:type="dcterms:W3CDTF">2026-10-05T09:49:46Z</dcterms:modified>
</cp:coreProperties>
</file>