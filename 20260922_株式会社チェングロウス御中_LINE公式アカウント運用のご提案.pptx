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1"/>
  </p:notesMasterIdLst>
  <p:handoutMasterIdLst>
    <p:handoutMasterId r:id="rId62"/>
  </p:handoutMasterIdLst>
  <p:sldIdLst>
    <p:sldId id="2363" r:id="rId3"/>
    <p:sldId id="2971" r:id="rId4"/>
    <p:sldId id="2972" r:id="rId6"/>
    <p:sldId id="3007" r:id="rId67"/>
    <p:sldId id="2994" r:id="rId7"/>
    <p:sldId id="2995" r:id="rId8"/>
    <p:sldId id="3001" r:id="rId11"/>
    <p:sldId id="2999" r:id="rId12"/>
    <p:sldId id="2736" r:id="rId14"/>
    <p:sldId id="2987" r:id="rId15"/>
    <p:sldId id="2997" r:id="rId16"/>
    <p:sldId id="2996" r:id="rId17"/>
    <p:sldId id="2973" r:id="rId18"/>
    <p:sldId id="2977" r:id="rId19"/>
    <p:sldId id="2979" r:id="rId20"/>
    <p:sldId id="3000" r:id="rId21"/>
    <p:sldId id="2908" r:id="rId22"/>
    <p:sldId id="2998" r:id="rId23"/>
    <p:sldId id="2990" r:id="rId24"/>
    <p:sldId id="2986" r:id="rId26"/>
    <p:sldId id="2991" r:id="rId28"/>
    <p:sldId id="2737" r:id="rId29"/>
    <p:sldId id="2989" r:id="rId30"/>
    <p:sldId id="2563" r:id="rId31"/>
    <p:sldId id="2959" r:id="rId32"/>
    <p:sldId id="2970" r:id="rId33"/>
    <p:sldId id="2639" r:id="rId36"/>
    <p:sldId id="2957" r:id="rId37"/>
    <p:sldId id="2951" r:id="rId38"/>
    <p:sldId id="2841" r:id="rId39"/>
    <p:sldId id="2734" r:id="rId40"/>
    <p:sldId id="2595" r:id="rId41"/>
    <p:sldId id="2566" r:id="rId42"/>
    <p:sldId id="2915" r:id="rId43"/>
    <p:sldId id="2619" r:id="rId44"/>
    <p:sldId id="2761" r:id="rId45"/>
    <p:sldId id="2935" r:id="rId46"/>
    <p:sldId id="2919" r:id="rId47"/>
    <p:sldId id="2519" r:id="rId48"/>
    <p:sldId id="2931" r:id="rId49"/>
    <p:sldId id="2749" r:id="rId50"/>
    <p:sldId id="2950" r:id="rId51"/>
    <p:sldId id="2961" r:id="rId52"/>
    <p:sldId id="2849" r:id="rId53"/>
    <p:sldId id="2904" r:id="rId54"/>
    <p:sldId id="2905" r:id="rId55"/>
    <p:sldId id="2906" r:id="rId56"/>
    <p:sldId id="2907" r:id="rId57"/>
    <p:sldId id="2575" r:id="rId58"/>
    <p:sldId id="2910" r:id="rId59"/>
    <p:sldId id="1169" r:id="rId60"/>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6" Type="http://schemas.openxmlformats.org/officeDocument/2006/relationships/slide" Target="slides/slide25.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handoutMaster" Target="handoutMasters/handout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2026/9/19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58</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jpe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5.svg"/><Relationship Id="rId4" Type="http://schemas.openxmlformats.org/officeDocument/2006/relationships/image" Target="../media/image56.svg"/><Relationship Id="rId5" Type="http://schemas.openxmlformats.org/officeDocument/2006/relationships/image" Target="../media/image57.svg"/><Relationship Id="rId6" Type="http://schemas.openxmlformats.org/officeDocument/2006/relationships/image" Target="../media/image58.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emf"/><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image" Target="../media/image76.jpeg"/><Relationship Id="rId7" Type="http://schemas.openxmlformats.org/officeDocument/2006/relationships/image" Target="../media/image77.jpeg"/><Relationship Id="rId8" Type="http://schemas.openxmlformats.org/officeDocument/2006/relationships/image" Target="../media/image7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株式会社チェングロウス 御中</a:t>
            </a:r>
          </a:p>
        </p:txBody>
      </p:sp>
      <p:pic>
        <p:nvPicPr>
          <p:cNvPr id="16" name="図 15">
            <a:extLst>
              <a:ext uri="{FF2B5EF4-FFF2-40B4-BE49-F238E27FC236}">
                <a16:creationId xmlns:a16="http://schemas.microsoft.com/office/drawing/2014/main" id="{F5FA6CC7-CA8F-92E6-C244-18831D0C0295}"/>
              </a:ext>
            </a:extLst>
          </p:cNvPr>
          <p:cNvPicPr>
            <a:picLocks noChangeAspect="1"/>
          </p:cNvPicPr>
          <p:nvPr/>
        </p:nvPicPr>
        <p:blipFill>
          <a:blip r:embed="rId3"/>
          <a:stretch>
            <a:fillRect/>
          </a:stretch>
        </p:blipFill>
        <p:spPr>
          <a:xfrm>
            <a:off x="5297860" y="3402512"/>
            <a:ext cx="1763918" cy="511042"/>
          </a:xfrm>
          <a:prstGeom prst="rect">
            <a:avLst/>
          </a:prstGeom>
        </p:spPr>
      </p:pic>
      <p:pic>
        <p:nvPicPr>
          <p:cNvPr id="18" name="図 17">
            <a:extLst>
              <a:ext uri="{FF2B5EF4-FFF2-40B4-BE49-F238E27FC236}">
                <a16:creationId xmlns:a16="http://schemas.microsoft.com/office/drawing/2014/main" id="{A18567FA-559F-28F3-12A5-872E80F869D3}"/>
              </a:ext>
            </a:extLst>
          </p:cNvPr>
          <p:cNvPicPr>
            <a:picLocks noChangeAspect="1"/>
          </p:cNvPicPr>
          <p:nvPr/>
        </p:nvPicPr>
        <p:blipFill>
          <a:blip r:embed="rId4"/>
          <a:stretch>
            <a:fillRect/>
          </a:stretch>
        </p:blipFill>
        <p:spPr>
          <a:xfrm>
            <a:off x="3099814" y="3370502"/>
            <a:ext cx="1694693" cy="575063"/>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現状把握【自動車 求人Navi】</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広告は動いている。しかし、応募につながっていない。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1728000"/>
            <a:ext cx="2942400" cy="251999"/>
          </a:xfrm>
          <a:prstGeom prst="rect">
            <a:avLst/>
          </a:prstGeom>
          <a:noFill/>
        </p:spPr>
        <p:txBody>
          <a:bodyPr wrap="square" lIns="50400" rIns="50400" tIns="21600" bIns="21600" anchor="ctr">
            <a:spAutoFit/>
          </a:bodyPr>
          <a:lstStyle/>
          <a:p>
            <a:pPr algn="ctr"/>
            <a:r>
              <a:rPr sz="1150" b="1">
                <a:solidFill>
                  <a:srgbClr val="1F285A"/>
                </a:solidFill>
                <a:latin typeface="メイリオ"/>
                <a:ea typeface="メイリオ"/>
                <a:cs typeface="メイリオ"/>
              </a:rPr>
              <a:t>Meta広告の応募単価</a:t>
            </a:r>
          </a:p>
        </p:txBody>
      </p:sp>
      <p:sp>
        <p:nvSpPr>
          <p:cNvPr id="7" name="TextBox 6"/>
          <p:cNvSpPr txBox="1"/>
          <p:nvPr/>
        </p:nvSpPr>
        <p:spPr>
          <a:xfrm>
            <a:off x="432000" y="2051999"/>
            <a:ext cx="2942400" cy="540000"/>
          </a:xfrm>
          <a:prstGeom prst="rect">
            <a:avLst/>
          </a:prstGeom>
          <a:noFill/>
        </p:spPr>
        <p:txBody>
          <a:bodyPr wrap="square" lIns="50400" rIns="50400" tIns="21600" bIns="21600" anchor="ctr">
            <a:spAutoFit/>
          </a:bodyPr>
          <a:lstStyle/>
          <a:p>
            <a:pPr algn="ctr"/>
            <a:r>
              <a:rPr sz="2600" b="1">
                <a:solidFill>
                  <a:srgbClr val="ED7D31"/>
                </a:solidFill>
                <a:latin typeface="メイリオ"/>
                <a:ea typeface="メイリオ"/>
                <a:cs typeface="メイリオ"/>
              </a:rPr>
              <a:t>約70万円/件</a:t>
            </a:r>
          </a:p>
        </p:txBody>
      </p:sp>
      <p:sp>
        <p:nvSpPr>
          <p:cNvPr id="8" name="TextBox 7"/>
          <p:cNvSpPr txBox="1"/>
          <p:nvPr/>
        </p:nvSpPr>
        <p:spPr>
          <a:xfrm>
            <a:off x="432000" y="2628000"/>
            <a:ext cx="2942400" cy="503999"/>
          </a:xfrm>
          <a:prstGeom prst="rect">
            <a:avLst/>
          </a:prstGeom>
          <a:noFill/>
        </p:spPr>
        <p:txBody>
          <a:bodyPr wrap="square" lIns="50400" rIns="50400" tIns="21600" bIns="21600" anchor="ctr">
            <a:spAutoFit/>
          </a:bodyPr>
          <a:lstStyle/>
          <a:p>
            <a:pPr algn="ctr">
              <a:lnSpc>
                <a:spcPct val="130000"/>
              </a:lnSpc>
            </a:pPr>
            <a:r>
              <a:rPr sz="950">
                <a:solidFill>
                  <a:srgbClr val="333333"/>
                </a:solidFill>
                <a:latin typeface="メイリオ"/>
                <a:ea typeface="メイリオ"/>
                <a:cs typeface="メイリオ"/>
              </a:rPr>
              <a:t>年250万円の投下で</a:t>
            </a:r>
          </a:p>
          <a:p>
            <a:pPr algn="ctr">
              <a:lnSpc>
                <a:spcPct val="130000"/>
              </a:lnSpc>
            </a:pPr>
            <a:r>
              <a:rPr sz="950">
                <a:solidFill>
                  <a:srgbClr val="333333"/>
                </a:solidFill>
                <a:latin typeface="メイリオ"/>
                <a:ea typeface="メイリオ"/>
                <a:cs typeface="メイリオ"/>
              </a:rPr>
              <a:t>応募は年3〜4件</a:t>
            </a:r>
          </a:p>
        </p:txBody>
      </p:sp>
      <p:sp>
        <p:nvSpPr>
          <p:cNvPr id="9" name="Rounded Rectangle 8"/>
          <p:cNvSpPr/>
          <p:nvPr/>
        </p:nvSpPr>
        <p:spPr>
          <a:xfrm>
            <a:off x="34824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2400" y="1728000"/>
            <a:ext cx="2942400" cy="251999"/>
          </a:xfrm>
          <a:prstGeom prst="rect">
            <a:avLst/>
          </a:prstGeom>
          <a:noFill/>
        </p:spPr>
        <p:txBody>
          <a:bodyPr wrap="square" lIns="50400" rIns="50400" tIns="21600" bIns="21600" anchor="ctr">
            <a:spAutoFit/>
          </a:bodyPr>
          <a:lstStyle/>
          <a:p>
            <a:pPr algn="ctr"/>
            <a:r>
              <a:rPr sz="1150" b="1">
                <a:solidFill>
                  <a:srgbClr val="1F285A"/>
                </a:solidFill>
                <a:latin typeface="メイリオ"/>
                <a:ea typeface="メイリオ"/>
                <a:cs typeface="メイリオ"/>
              </a:rPr>
              <a:t>整備士の応募単価（Google）</a:t>
            </a:r>
          </a:p>
        </p:txBody>
      </p:sp>
      <p:sp>
        <p:nvSpPr>
          <p:cNvPr id="11" name="TextBox 10"/>
          <p:cNvSpPr txBox="1"/>
          <p:nvPr/>
        </p:nvSpPr>
        <p:spPr>
          <a:xfrm>
            <a:off x="3482400" y="2051999"/>
            <a:ext cx="2942400" cy="540000"/>
          </a:xfrm>
          <a:prstGeom prst="rect">
            <a:avLst/>
          </a:prstGeom>
          <a:noFill/>
        </p:spPr>
        <p:txBody>
          <a:bodyPr wrap="square" lIns="50400" rIns="50400" tIns="21600" bIns="21600" anchor="ctr">
            <a:spAutoFit/>
          </a:bodyPr>
          <a:lstStyle/>
          <a:p>
            <a:pPr algn="ctr"/>
            <a:r>
              <a:rPr sz="2600" b="1">
                <a:solidFill>
                  <a:srgbClr val="ED7D31"/>
                </a:solidFill>
                <a:latin typeface="メイリオ"/>
                <a:ea typeface="メイリオ"/>
                <a:cs typeface="メイリオ"/>
              </a:rPr>
              <a:t>6万円</a:t>
            </a:r>
          </a:p>
        </p:txBody>
      </p:sp>
      <p:sp>
        <p:nvSpPr>
          <p:cNvPr id="12" name="TextBox 11"/>
          <p:cNvSpPr txBox="1"/>
          <p:nvPr/>
        </p:nvSpPr>
        <p:spPr>
          <a:xfrm>
            <a:off x="3482400" y="2628000"/>
            <a:ext cx="2942400" cy="503999"/>
          </a:xfrm>
          <a:prstGeom prst="rect">
            <a:avLst/>
          </a:prstGeom>
          <a:noFill/>
        </p:spPr>
        <p:txBody>
          <a:bodyPr wrap="square" lIns="50400" rIns="50400" tIns="21600" bIns="21600" anchor="ctr">
            <a:spAutoFit/>
          </a:bodyPr>
          <a:lstStyle/>
          <a:p>
            <a:pPr algn="ctr">
              <a:lnSpc>
                <a:spcPct val="130000"/>
              </a:lnSpc>
            </a:pPr>
            <a:r>
              <a:rPr sz="950">
                <a:solidFill>
                  <a:srgbClr val="333333"/>
                </a:solidFill>
                <a:latin typeface="メイリオ"/>
                <a:ea typeface="メイリオ"/>
                <a:cs typeface="メイリオ"/>
              </a:rPr>
              <a:t>目標は2〜2.5万円</a:t>
            </a:r>
          </a:p>
          <a:p>
            <a:pPr algn="ctr">
              <a:lnSpc>
                <a:spcPct val="130000"/>
              </a:lnSpc>
            </a:pPr>
            <a:r>
              <a:rPr sz="950">
                <a:solidFill>
                  <a:srgbClr val="333333"/>
                </a:solidFill>
                <a:latin typeface="メイリオ"/>
                <a:ea typeface="メイリオ"/>
                <a:cs typeface="メイリオ"/>
              </a:rPr>
              <a:t>＝2.4〜3倍の乖離</a:t>
            </a:r>
          </a:p>
        </p:txBody>
      </p:sp>
      <p:sp>
        <p:nvSpPr>
          <p:cNvPr id="13" name="Rounded Rectangle 12"/>
          <p:cNvSpPr/>
          <p:nvPr/>
        </p:nvSpPr>
        <p:spPr>
          <a:xfrm>
            <a:off x="65328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2800" y="1728000"/>
            <a:ext cx="2942400" cy="251999"/>
          </a:xfrm>
          <a:prstGeom prst="rect">
            <a:avLst/>
          </a:prstGeom>
          <a:noFill/>
        </p:spPr>
        <p:txBody>
          <a:bodyPr wrap="square" lIns="50400" rIns="50400" tIns="21600" bIns="21600" anchor="ctr">
            <a:spAutoFit/>
          </a:bodyPr>
          <a:lstStyle/>
          <a:p>
            <a:pPr algn="ctr"/>
            <a:r>
              <a:rPr sz="1150" b="1">
                <a:solidFill>
                  <a:srgbClr val="1F285A"/>
                </a:solidFill>
                <a:latin typeface="メイリオ"/>
                <a:ea typeface="メイリオ"/>
                <a:cs typeface="メイリオ"/>
              </a:rPr>
              <a:t>月間サイト訪問</a:t>
            </a:r>
          </a:p>
        </p:txBody>
      </p:sp>
      <p:sp>
        <p:nvSpPr>
          <p:cNvPr id="15" name="TextBox 14"/>
          <p:cNvSpPr txBox="1"/>
          <p:nvPr/>
        </p:nvSpPr>
        <p:spPr>
          <a:xfrm>
            <a:off x="6532800" y="2051999"/>
            <a:ext cx="2942400" cy="540000"/>
          </a:xfrm>
          <a:prstGeom prst="rect">
            <a:avLst/>
          </a:prstGeom>
          <a:noFill/>
        </p:spPr>
        <p:txBody>
          <a:bodyPr wrap="square" lIns="50400" rIns="50400" tIns="21600" bIns="21600" anchor="ctr">
            <a:spAutoFit/>
          </a:bodyPr>
          <a:lstStyle/>
          <a:p>
            <a:pPr algn="ctr"/>
            <a:r>
              <a:rPr sz="2600" b="1">
                <a:solidFill>
                  <a:srgbClr val="ED7D31"/>
                </a:solidFill>
                <a:latin typeface="メイリオ"/>
                <a:ea typeface="メイリオ"/>
                <a:cs typeface="メイリオ"/>
              </a:rPr>
              <a:t>3,215 UU</a:t>
            </a:r>
          </a:p>
        </p:txBody>
      </p:sp>
      <p:sp>
        <p:nvSpPr>
          <p:cNvPr id="16" name="TextBox 15"/>
          <p:cNvSpPr txBox="1"/>
          <p:nvPr/>
        </p:nvSpPr>
        <p:spPr>
          <a:xfrm>
            <a:off x="6532800" y="2628000"/>
            <a:ext cx="2942400" cy="503999"/>
          </a:xfrm>
          <a:prstGeom prst="rect">
            <a:avLst/>
          </a:prstGeom>
          <a:noFill/>
        </p:spPr>
        <p:txBody>
          <a:bodyPr wrap="square" lIns="50400" rIns="50400" tIns="21600" bIns="21600" anchor="ctr">
            <a:spAutoFit/>
          </a:bodyPr>
          <a:lstStyle/>
          <a:p>
            <a:pPr algn="ctr">
              <a:lnSpc>
                <a:spcPct val="130000"/>
              </a:lnSpc>
            </a:pPr>
            <a:r>
              <a:rPr sz="950">
                <a:solidFill>
                  <a:srgbClr val="333333"/>
                </a:solidFill>
                <a:latin typeface="メイリオ"/>
                <a:ea typeface="メイリオ"/>
                <a:cs typeface="メイリオ"/>
              </a:rPr>
              <a:t>SimilarWeb推計</a:t>
            </a:r>
          </a:p>
          <a:p>
            <a:pPr algn="ctr">
              <a:lnSpc>
                <a:spcPct val="130000"/>
              </a:lnSpc>
            </a:pPr>
            <a:r>
              <a:rPr sz="950">
                <a:solidFill>
                  <a:srgbClr val="333333"/>
                </a:solidFill>
                <a:latin typeface="メイリオ"/>
                <a:ea typeface="メイリオ"/>
                <a:cs typeface="メイリオ"/>
              </a:rPr>
              <a:t>応募まで進むのはごく一部</a:t>
            </a:r>
          </a:p>
        </p:txBody>
      </p:sp>
      <p:sp>
        <p:nvSpPr>
          <p:cNvPr id="17" name="Rounded Rectangle 16"/>
          <p:cNvSpPr/>
          <p:nvPr/>
        </p:nvSpPr>
        <p:spPr>
          <a:xfrm>
            <a:off x="432000" y="3348000"/>
            <a:ext cx="9043200" cy="792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000" y="3401999"/>
            <a:ext cx="8683200" cy="684000"/>
          </a:xfrm>
          <a:prstGeom prst="rect">
            <a:avLst/>
          </a:prstGeom>
          <a:noFill/>
        </p:spPr>
        <p:txBody>
          <a:bodyPr wrap="square" lIns="50400" rIns="50400" tIns="21600" bIns="21600" anchor="ctr">
            <a:spAutoFit/>
          </a:bodyPr>
          <a:lstStyle/>
          <a:p>
            <a:pPr algn="l">
              <a:spcAft>
                <a:spcPts val="400"/>
              </a:spcAft>
            </a:pPr>
            <a:r>
              <a:rPr sz="1200" b="1">
                <a:solidFill>
                  <a:srgbClr val="C00000"/>
                </a:solidFill>
                <a:latin typeface="メイリオ"/>
                <a:ea typeface="メイリオ"/>
                <a:cs typeface="メイリオ"/>
              </a:rPr>
              <a:t>あわせて2点、すぐに直せる改善点があります。</a:t>
            </a:r>
          </a:p>
          <a:p>
            <a:pPr algn="l">
              <a:lnSpc>
                <a:spcPct val="130000"/>
              </a:lnSpc>
            </a:pPr>
            <a:r>
              <a:rPr sz="1050">
                <a:solidFill>
                  <a:srgbClr val="333333"/>
                </a:solidFill>
                <a:latin typeface="メイリオ"/>
                <a:ea typeface="メイリオ"/>
                <a:cs typeface="メイリオ"/>
              </a:rPr>
              <a:t>① トップページの「転職支援サービス申込」ボタンが現在リンク切れ（押した先が非公開の求人ページ）</a:t>
            </a:r>
          </a:p>
          <a:p>
            <a:pPr algn="l">
              <a:lnSpc>
                <a:spcPct val="130000"/>
              </a:lnSpc>
            </a:pPr>
            <a:r>
              <a:rPr sz="1050">
                <a:solidFill>
                  <a:srgbClr val="333333"/>
                </a:solidFill>
                <a:latin typeface="メイリオ"/>
                <a:ea typeface="メイリオ"/>
                <a:cs typeface="メイリオ"/>
              </a:rPr>
              <a:t>② 電話相談の受付が平日10:00〜18:00のみ ＝ 整備士の方が働いている時間帯</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出典：与件ヒアリング（2026-09）／サイト実査 2026-09-21。UUはSimilarWeb推計のため、GA実測値をいただき次第置き換え</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想定動線【自動車 求人Navi】</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現状は「今すぐ応募する」の一段のみ。迷っている段階の受け皿をLINEでつくる。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2000" y="1602000"/>
            <a:ext cx="1440000" cy="216000"/>
          </a:xfrm>
          <a:prstGeom prst="rect">
            <a:avLst/>
          </a:prstGeom>
          <a:noFill/>
        </p:spPr>
        <p:txBody>
          <a:bodyPr wrap="square" lIns="50400" rIns="50400" tIns="21600" bIns="21600" anchor="ctr">
            <a:spAutoFit/>
          </a:bodyPr>
          <a:lstStyle/>
          <a:p>
            <a:pPr algn="l"/>
            <a:r>
              <a:rPr sz="1100" b="1">
                <a:solidFill>
                  <a:srgbClr val="7F7F7F"/>
                </a:solidFill>
                <a:latin typeface="メイリオ"/>
                <a:ea typeface="メイリオ"/>
                <a:cs typeface="メイリオ"/>
              </a:rPr>
              <a:t>現状</a:t>
            </a:r>
          </a:p>
        </p:txBody>
      </p:sp>
      <p:sp>
        <p:nvSpPr>
          <p:cNvPr id="6" name="Rounded Rectangle 5"/>
          <p:cNvSpPr/>
          <p:nvPr/>
        </p:nvSpPr>
        <p:spPr>
          <a:xfrm>
            <a:off x="432000" y="1835999"/>
            <a:ext cx="2098800" cy="396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21600" bIns="21600"/>
          <a:lstStyle/>
          <a:p>
            <a:pPr algn="ctr"/>
            <a:r>
              <a:rPr sz="1100" b="1">
                <a:solidFill>
                  <a:srgbClr val="FFFFFF"/>
                </a:solidFill>
                <a:latin typeface="メイリオ"/>
                <a:ea typeface="メイリオ"/>
                <a:cs typeface="メイリオ"/>
              </a:rPr>
              <a:t>流入</a:t>
            </a:r>
          </a:p>
        </p:txBody>
      </p:sp>
      <p:sp>
        <p:nvSpPr>
          <p:cNvPr id="7" name="TextBox 6"/>
          <p:cNvSpPr txBox="1"/>
          <p:nvPr/>
        </p:nvSpPr>
        <p:spPr>
          <a:xfrm>
            <a:off x="2548800" y="1890000"/>
            <a:ext cx="180000" cy="288000"/>
          </a:xfrm>
          <a:prstGeom prst="rect">
            <a:avLst/>
          </a:prstGeom>
          <a:noFill/>
        </p:spPr>
        <p:txBody>
          <a:bodyPr wrap="square" lIns="50400" rIns="50400" tIns="21600" bIns="21600" anchor="ctr">
            <a:spAutoFit/>
          </a:bodyPr>
          <a:lstStyle/>
          <a:p>
            <a:pPr algn="ctr"/>
            <a:r>
              <a:rPr sz="1400" b="1">
                <a:solidFill>
                  <a:srgbClr val="7F7F7F"/>
                </a:solidFill>
                <a:latin typeface="メイリオ"/>
                <a:ea typeface="メイリオ"/>
                <a:cs typeface="メイリオ"/>
              </a:rPr>
              <a:t>→</a:t>
            </a:r>
          </a:p>
        </p:txBody>
      </p:sp>
      <p:sp>
        <p:nvSpPr>
          <p:cNvPr id="8" name="Rounded Rectangle 7"/>
          <p:cNvSpPr/>
          <p:nvPr/>
        </p:nvSpPr>
        <p:spPr>
          <a:xfrm>
            <a:off x="2746800" y="1835999"/>
            <a:ext cx="2098800" cy="396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21600" bIns="21600"/>
          <a:lstStyle/>
          <a:p>
            <a:pPr algn="ctr"/>
            <a:r>
              <a:rPr sz="1100" b="1">
                <a:solidFill>
                  <a:srgbClr val="FFFFFF"/>
                </a:solidFill>
                <a:latin typeface="メイリオ"/>
                <a:ea typeface="メイリオ"/>
                <a:cs typeface="メイリオ"/>
              </a:rPr>
              <a:t>求人を見る</a:t>
            </a:r>
          </a:p>
        </p:txBody>
      </p:sp>
      <p:sp>
        <p:nvSpPr>
          <p:cNvPr id="9" name="TextBox 8"/>
          <p:cNvSpPr txBox="1"/>
          <p:nvPr/>
        </p:nvSpPr>
        <p:spPr>
          <a:xfrm>
            <a:off x="4863600" y="1890000"/>
            <a:ext cx="180000" cy="288000"/>
          </a:xfrm>
          <a:prstGeom prst="rect">
            <a:avLst/>
          </a:prstGeom>
          <a:noFill/>
        </p:spPr>
        <p:txBody>
          <a:bodyPr wrap="square" lIns="50400" rIns="50400" tIns="21600" bIns="21600" anchor="ctr">
            <a:spAutoFit/>
          </a:bodyPr>
          <a:lstStyle/>
          <a:p>
            <a:pPr algn="ctr"/>
            <a:r>
              <a:rPr sz="1400" b="1">
                <a:solidFill>
                  <a:srgbClr val="7F7F7F"/>
                </a:solidFill>
                <a:latin typeface="メイリオ"/>
                <a:ea typeface="メイリオ"/>
                <a:cs typeface="メイリオ"/>
              </a:rPr>
              <a:t>→</a:t>
            </a:r>
          </a:p>
        </p:txBody>
      </p:sp>
      <p:sp>
        <p:nvSpPr>
          <p:cNvPr id="10" name="Rounded Rectangle 9"/>
          <p:cNvSpPr/>
          <p:nvPr/>
        </p:nvSpPr>
        <p:spPr>
          <a:xfrm>
            <a:off x="5061600" y="1835999"/>
            <a:ext cx="2098800" cy="396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21600" bIns="21600"/>
          <a:lstStyle/>
          <a:p>
            <a:pPr algn="ctr"/>
            <a:r>
              <a:rPr sz="1100" b="1">
                <a:solidFill>
                  <a:srgbClr val="FFFFFF"/>
                </a:solidFill>
                <a:latin typeface="メイリオ"/>
                <a:ea typeface="メイリオ"/>
                <a:cs typeface="メイリオ"/>
              </a:rPr>
              <a:t>今すぐ応募する</a:t>
            </a:r>
          </a:p>
        </p:txBody>
      </p:sp>
      <p:sp>
        <p:nvSpPr>
          <p:cNvPr id="11" name="TextBox 10"/>
          <p:cNvSpPr txBox="1"/>
          <p:nvPr/>
        </p:nvSpPr>
        <p:spPr>
          <a:xfrm>
            <a:off x="7178400" y="1890000"/>
            <a:ext cx="180000" cy="288000"/>
          </a:xfrm>
          <a:prstGeom prst="rect">
            <a:avLst/>
          </a:prstGeom>
          <a:noFill/>
        </p:spPr>
        <p:txBody>
          <a:bodyPr wrap="square" lIns="50400" rIns="50400" tIns="21600" bIns="21600" anchor="ctr">
            <a:spAutoFit/>
          </a:bodyPr>
          <a:lstStyle/>
          <a:p>
            <a:pPr algn="ctr"/>
            <a:r>
              <a:rPr sz="1400" b="1">
                <a:solidFill>
                  <a:srgbClr val="7F7F7F"/>
                </a:solidFill>
                <a:latin typeface="メイリオ"/>
                <a:ea typeface="メイリオ"/>
                <a:cs typeface="メイリオ"/>
              </a:rPr>
              <a:t>→</a:t>
            </a:r>
          </a:p>
        </p:txBody>
      </p:sp>
      <p:sp>
        <p:nvSpPr>
          <p:cNvPr id="12" name="Rounded Rectangle 11"/>
          <p:cNvSpPr/>
          <p:nvPr/>
        </p:nvSpPr>
        <p:spPr>
          <a:xfrm>
            <a:off x="7376399" y="1835999"/>
            <a:ext cx="2098800" cy="396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21600" bIns="21600"/>
          <a:lstStyle/>
          <a:p>
            <a:pPr algn="ctr"/>
            <a:r>
              <a:rPr sz="1100" b="1">
                <a:solidFill>
                  <a:srgbClr val="C00000"/>
                </a:solidFill>
                <a:latin typeface="メイリオ"/>
                <a:ea typeface="メイリオ"/>
                <a:cs typeface="メイリオ"/>
              </a:rPr>
              <a:t>迷った人は離脱</a:t>
            </a:r>
          </a:p>
        </p:txBody>
      </p:sp>
      <p:sp>
        <p:nvSpPr>
          <p:cNvPr id="13" name="TextBox 12"/>
          <p:cNvSpPr txBox="1"/>
          <p:nvPr/>
        </p:nvSpPr>
        <p:spPr>
          <a:xfrm>
            <a:off x="432000" y="2376000"/>
            <a:ext cx="2160000" cy="216000"/>
          </a:xfrm>
          <a:prstGeom prst="rect">
            <a:avLst/>
          </a:prstGeom>
          <a:noFill/>
        </p:spPr>
        <p:txBody>
          <a:bodyPr wrap="square" lIns="50400" rIns="50400" tIns="21600" bIns="21600" anchor="ctr">
            <a:spAutoFit/>
          </a:bodyPr>
          <a:lstStyle/>
          <a:p>
            <a:pPr algn="l"/>
            <a:r>
              <a:rPr sz="1100" b="1">
                <a:solidFill>
                  <a:srgbClr val="06C755"/>
                </a:solidFill>
                <a:latin typeface="メイリオ"/>
                <a:ea typeface="メイリオ"/>
                <a:cs typeface="メイリオ"/>
              </a:rPr>
              <a:t>LINE導入後</a:t>
            </a:r>
          </a:p>
        </p:txBody>
      </p:sp>
      <p:sp>
        <p:nvSpPr>
          <p:cNvPr id="14" name="Rounded Rectangle 13"/>
          <p:cNvSpPr/>
          <p:nvPr/>
        </p:nvSpPr>
        <p:spPr>
          <a:xfrm>
            <a:off x="432000" y="2610000"/>
            <a:ext cx="1357200" cy="54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1600" bIns="21600"/>
          <a:lstStyle/>
          <a:p>
            <a:pPr algn="ctr">
              <a:lnSpc>
                <a:spcPct val="115000"/>
              </a:lnSpc>
            </a:pPr>
            <a:r>
              <a:rPr sz="900" b="1">
                <a:solidFill>
                  <a:srgbClr val="FFFFFF"/>
                </a:solidFill>
                <a:latin typeface="メイリオ"/>
                <a:ea typeface="メイリオ"/>
                <a:cs typeface="メイリオ"/>
              </a:rPr>
              <a:t>流入</a:t>
            </a:r>
          </a:p>
        </p:txBody>
      </p:sp>
      <p:sp>
        <p:nvSpPr>
          <p:cNvPr id="15" name="TextBox 14"/>
          <p:cNvSpPr txBox="1"/>
          <p:nvPr/>
        </p:nvSpPr>
        <p:spPr>
          <a:xfrm>
            <a:off x="1796399" y="2718000"/>
            <a:ext cx="165600" cy="288000"/>
          </a:xfrm>
          <a:prstGeom prst="rect">
            <a:avLst/>
          </a:prstGeom>
          <a:noFill/>
        </p:spPr>
        <p:txBody>
          <a:bodyPr wrap="square" lIns="50400" rIns="50400" tIns="21600" bIns="21600" anchor="ctr">
            <a:spAutoFit/>
          </a:bodyPr>
          <a:lstStyle/>
          <a:p>
            <a:pPr algn="ctr"/>
            <a:r>
              <a:rPr sz="1200" b="1">
                <a:solidFill>
                  <a:srgbClr val="7F7F7F"/>
                </a:solidFill>
                <a:latin typeface="メイリオ"/>
                <a:ea typeface="メイリオ"/>
                <a:cs typeface="メイリオ"/>
              </a:rPr>
              <a:t>→</a:t>
            </a:r>
          </a:p>
        </p:txBody>
      </p:sp>
      <p:sp>
        <p:nvSpPr>
          <p:cNvPr id="16" name="Rounded Rectangle 15"/>
          <p:cNvSpPr/>
          <p:nvPr/>
        </p:nvSpPr>
        <p:spPr>
          <a:xfrm>
            <a:off x="1969200" y="2610000"/>
            <a:ext cx="1357200" cy="540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1600" bIns="21600"/>
          <a:lstStyle/>
          <a:p>
            <a:pPr algn="ctr">
              <a:lnSpc>
                <a:spcPct val="115000"/>
              </a:lnSpc>
            </a:pPr>
            <a:r>
              <a:rPr sz="900" b="1">
                <a:solidFill>
                  <a:srgbClr val="FFFFFF"/>
                </a:solidFill>
                <a:latin typeface="メイリオ"/>
                <a:ea typeface="メイリオ"/>
                <a:cs typeface="メイリオ"/>
              </a:rPr>
              <a:t>LINE友だち化</a:t>
            </a:r>
          </a:p>
          <a:p>
            <a:pPr algn="ctr">
              <a:lnSpc>
                <a:spcPct val="115000"/>
              </a:lnSpc>
            </a:pPr>
            <a:r>
              <a:rPr sz="900" b="1">
                <a:solidFill>
                  <a:srgbClr val="FFFFFF"/>
                </a:solidFill>
                <a:latin typeface="メイリオ"/>
                <a:ea typeface="メイリオ"/>
                <a:cs typeface="メイリオ"/>
              </a:rPr>
              <a:t>（離脱防止・CPF）</a:t>
            </a:r>
          </a:p>
        </p:txBody>
      </p:sp>
      <p:sp>
        <p:nvSpPr>
          <p:cNvPr id="17" name="TextBox 16"/>
          <p:cNvSpPr txBox="1"/>
          <p:nvPr/>
        </p:nvSpPr>
        <p:spPr>
          <a:xfrm>
            <a:off x="3333600" y="2718000"/>
            <a:ext cx="165600" cy="288000"/>
          </a:xfrm>
          <a:prstGeom prst="rect">
            <a:avLst/>
          </a:prstGeom>
          <a:noFill/>
        </p:spPr>
        <p:txBody>
          <a:bodyPr wrap="square" lIns="50400" rIns="50400" tIns="21600" bIns="21600" anchor="ctr">
            <a:spAutoFit/>
          </a:bodyPr>
          <a:lstStyle/>
          <a:p>
            <a:pPr algn="ctr"/>
            <a:r>
              <a:rPr sz="1200" b="1">
                <a:solidFill>
                  <a:srgbClr val="7F7F7F"/>
                </a:solidFill>
                <a:latin typeface="メイリオ"/>
                <a:ea typeface="メイリオ"/>
                <a:cs typeface="メイリオ"/>
              </a:rPr>
              <a:t>→</a:t>
            </a:r>
          </a:p>
        </p:txBody>
      </p:sp>
      <p:sp>
        <p:nvSpPr>
          <p:cNvPr id="18" name="Rounded Rectangle 17"/>
          <p:cNvSpPr/>
          <p:nvPr/>
        </p:nvSpPr>
        <p:spPr>
          <a:xfrm>
            <a:off x="3506399" y="2610000"/>
            <a:ext cx="1357200" cy="540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1600" bIns="21600"/>
          <a:lstStyle/>
          <a:p>
            <a:pPr algn="ctr">
              <a:lnSpc>
                <a:spcPct val="115000"/>
              </a:lnSpc>
            </a:pPr>
            <a:r>
              <a:rPr sz="900" b="1">
                <a:solidFill>
                  <a:srgbClr val="FFFFFF"/>
                </a:solidFill>
                <a:latin typeface="メイリオ"/>
                <a:ea typeface="メイリオ"/>
                <a:cs typeface="メイリオ"/>
              </a:rPr>
              <a:t>30秒診断</a:t>
            </a:r>
          </a:p>
          <a:p>
            <a:pPr algn="ctr">
              <a:lnSpc>
                <a:spcPct val="115000"/>
              </a:lnSpc>
            </a:pPr>
            <a:r>
              <a:rPr sz="900" b="1">
                <a:solidFill>
                  <a:srgbClr val="FFFFFF"/>
                </a:solidFill>
                <a:latin typeface="メイリオ"/>
                <a:ea typeface="メイリオ"/>
                <a:cs typeface="メイリオ"/>
              </a:rPr>
              <a:t>（職種・資格・温度感）</a:t>
            </a:r>
          </a:p>
        </p:txBody>
      </p:sp>
      <p:sp>
        <p:nvSpPr>
          <p:cNvPr id="19" name="TextBox 18"/>
          <p:cNvSpPr txBox="1"/>
          <p:nvPr/>
        </p:nvSpPr>
        <p:spPr>
          <a:xfrm>
            <a:off x="4870799" y="2718000"/>
            <a:ext cx="165600" cy="288000"/>
          </a:xfrm>
          <a:prstGeom prst="rect">
            <a:avLst/>
          </a:prstGeom>
          <a:noFill/>
        </p:spPr>
        <p:txBody>
          <a:bodyPr wrap="square" lIns="50400" rIns="50400" tIns="21600" bIns="21600" anchor="ctr">
            <a:spAutoFit/>
          </a:bodyPr>
          <a:lstStyle/>
          <a:p>
            <a:pPr algn="ctr"/>
            <a:r>
              <a:rPr sz="1200" b="1">
                <a:solidFill>
                  <a:srgbClr val="7F7F7F"/>
                </a:solidFill>
                <a:latin typeface="メイリオ"/>
                <a:ea typeface="メイリオ"/>
                <a:cs typeface="メイリオ"/>
              </a:rPr>
              <a:t>→</a:t>
            </a:r>
          </a:p>
        </p:txBody>
      </p:sp>
      <p:sp>
        <p:nvSpPr>
          <p:cNvPr id="20" name="Rounded Rectangle 19"/>
          <p:cNvSpPr/>
          <p:nvPr/>
        </p:nvSpPr>
        <p:spPr>
          <a:xfrm>
            <a:off x="5043599" y="2610000"/>
            <a:ext cx="1357200" cy="540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1600" bIns="21600"/>
          <a:lstStyle/>
          <a:p>
            <a:pPr algn="ctr">
              <a:lnSpc>
                <a:spcPct val="115000"/>
              </a:lnSpc>
            </a:pPr>
            <a:r>
              <a:rPr sz="900" b="1">
                <a:solidFill>
                  <a:srgbClr val="FFFFFF"/>
                </a:solidFill>
                <a:latin typeface="メイリオ"/>
                <a:ea typeface="メイリオ"/>
                <a:cs typeface="メイリオ"/>
              </a:rPr>
              <a:t>14日間の情報配信</a:t>
            </a:r>
          </a:p>
          <a:p>
            <a:pPr algn="ctr">
              <a:lnSpc>
                <a:spcPct val="115000"/>
              </a:lnSpc>
            </a:pPr>
            <a:r>
              <a:rPr sz="900" b="1">
                <a:solidFill>
                  <a:srgbClr val="FFFFFF"/>
                </a:solidFill>
                <a:latin typeface="メイリオ"/>
                <a:ea typeface="メイリオ"/>
                <a:cs typeface="メイリオ"/>
              </a:rPr>
              <a:t>（年収相場・体験談）</a:t>
            </a:r>
          </a:p>
        </p:txBody>
      </p:sp>
      <p:sp>
        <p:nvSpPr>
          <p:cNvPr id="21" name="TextBox 20"/>
          <p:cNvSpPr txBox="1"/>
          <p:nvPr/>
        </p:nvSpPr>
        <p:spPr>
          <a:xfrm>
            <a:off x="6407999" y="2718000"/>
            <a:ext cx="165600" cy="288000"/>
          </a:xfrm>
          <a:prstGeom prst="rect">
            <a:avLst/>
          </a:prstGeom>
          <a:noFill/>
        </p:spPr>
        <p:txBody>
          <a:bodyPr wrap="square" lIns="50400" rIns="50400" tIns="21600" bIns="21600" anchor="ctr">
            <a:spAutoFit/>
          </a:bodyPr>
          <a:lstStyle/>
          <a:p>
            <a:pPr algn="ctr"/>
            <a:r>
              <a:rPr sz="1200" b="1">
                <a:solidFill>
                  <a:srgbClr val="7F7F7F"/>
                </a:solidFill>
                <a:latin typeface="メイリオ"/>
                <a:ea typeface="メイリオ"/>
                <a:cs typeface="メイリオ"/>
              </a:rPr>
              <a:t>→</a:t>
            </a:r>
          </a:p>
        </p:txBody>
      </p:sp>
      <p:sp>
        <p:nvSpPr>
          <p:cNvPr id="22" name="Rounded Rectangle 21"/>
          <p:cNvSpPr/>
          <p:nvPr/>
        </p:nvSpPr>
        <p:spPr>
          <a:xfrm>
            <a:off x="6580799" y="2610000"/>
            <a:ext cx="1357200" cy="54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1600" bIns="21600"/>
          <a:lstStyle/>
          <a:p>
            <a:pPr algn="ctr">
              <a:lnSpc>
                <a:spcPct val="115000"/>
              </a:lnSpc>
            </a:pPr>
            <a:r>
              <a:rPr sz="900" b="1">
                <a:solidFill>
                  <a:srgbClr val="FFFFFF"/>
                </a:solidFill>
                <a:latin typeface="メイリオ"/>
                <a:ea typeface="メイリオ"/>
                <a:cs typeface="メイリオ"/>
              </a:rPr>
              <a:t>面談・応募</a:t>
            </a:r>
          </a:p>
        </p:txBody>
      </p:sp>
      <p:sp>
        <p:nvSpPr>
          <p:cNvPr id="23" name="TextBox 22"/>
          <p:cNvSpPr txBox="1"/>
          <p:nvPr/>
        </p:nvSpPr>
        <p:spPr>
          <a:xfrm>
            <a:off x="7945199" y="2718000"/>
            <a:ext cx="165600" cy="288000"/>
          </a:xfrm>
          <a:prstGeom prst="rect">
            <a:avLst/>
          </a:prstGeom>
          <a:noFill/>
        </p:spPr>
        <p:txBody>
          <a:bodyPr wrap="square" lIns="50400" rIns="50400" tIns="21600" bIns="21600" anchor="ctr">
            <a:spAutoFit/>
          </a:bodyPr>
          <a:lstStyle/>
          <a:p>
            <a:pPr algn="ctr"/>
            <a:r>
              <a:rPr sz="1200" b="1">
                <a:solidFill>
                  <a:srgbClr val="7F7F7F"/>
                </a:solidFill>
                <a:latin typeface="メイリオ"/>
                <a:ea typeface="メイリオ"/>
                <a:cs typeface="メイリオ"/>
              </a:rPr>
              <a:t>→</a:t>
            </a:r>
          </a:p>
        </p:txBody>
      </p:sp>
      <p:sp>
        <p:nvSpPr>
          <p:cNvPr id="24" name="Rounded Rectangle 23"/>
          <p:cNvSpPr/>
          <p:nvPr/>
        </p:nvSpPr>
        <p:spPr>
          <a:xfrm>
            <a:off x="8117999" y="2610000"/>
            <a:ext cx="1357200" cy="54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1600" bIns="21600"/>
          <a:lstStyle/>
          <a:p>
            <a:pPr algn="ctr">
              <a:lnSpc>
                <a:spcPct val="115000"/>
              </a:lnSpc>
            </a:pPr>
            <a:r>
              <a:rPr sz="900" b="1">
                <a:solidFill>
                  <a:srgbClr val="FFFFFF"/>
                </a:solidFill>
                <a:latin typeface="メイリオ"/>
                <a:ea typeface="メイリオ"/>
                <a:cs typeface="メイリオ"/>
              </a:rPr>
              <a:t>就業</a:t>
            </a:r>
          </a:p>
        </p:txBody>
      </p:sp>
      <p:sp>
        <p:nvSpPr>
          <p:cNvPr id="25" name="Rounded Rectangle 24"/>
          <p:cNvSpPr/>
          <p:nvPr/>
        </p:nvSpPr>
        <p:spPr>
          <a:xfrm>
            <a:off x="432000" y="3383999"/>
            <a:ext cx="9043200" cy="39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300" b="1">
                <a:solidFill>
                  <a:srgbClr val="FFFFFF"/>
                </a:solidFill>
                <a:latin typeface="メイリオ"/>
                <a:ea typeface="メイリオ"/>
                <a:cs typeface="メイリオ"/>
              </a:rPr>
              <a:t>広告・サイトは変えない。「応募の手前」に、相談の階段を1段足すだけ。</a:t>
            </a:r>
          </a:p>
        </p:txBody>
      </p:sp>
      <p:sp>
        <p:nvSpPr>
          <p:cNvPr id="26" name="TextBox 25"/>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意見｜DYM提案。CV地点＝求人応募・転職支援サービス登録（面談）</a:t>
            </a: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
            <a:ext cx="6858000" cy="365760"/>
          </a:xfrm>
          <a:prstGeom prst="rect">
            <a:avLst/>
          </a:prstGeom>
          <a:noFill/>
        </p:spPr>
        <p:txBody>
          <a:bodyPr wrap="square">
            <a:spAutoFit/>
          </a:bodyPr>
          <a:lstStyle/>
          <a:p>
            <a:pPr algn="l"/>
            <a:r>
              <a:rPr sz="1400" b="1">
                <a:solidFill>
                  <a:srgbClr val="002060"/>
                </a:solidFill>
                <a:latin typeface="メイリオ"/>
                <a:ea typeface="メイリオ"/>
                <a:cs typeface="メイリオ"/>
              </a:rPr>
              <a:t>本提案の考え方</a:t>
            </a:r>
          </a:p>
        </p:txBody>
      </p:sp>
      <p:sp>
        <p:nvSpPr>
          <p:cNvPr id="3" name="TextBox 2"/>
          <p:cNvSpPr txBox="1"/>
          <p:nvPr/>
        </p:nvSpPr>
        <p:spPr>
          <a:xfrm>
            <a:off x="548640" y="1234440"/>
            <a:ext cx="8805672" cy="548640"/>
          </a:xfrm>
          <a:prstGeom prst="rect">
            <a:avLst/>
          </a:prstGeom>
          <a:noFill/>
        </p:spPr>
        <p:txBody>
          <a:bodyPr wrap="square">
            <a:spAutoFit/>
          </a:bodyPr>
          <a:lstStyle/>
          <a:p>
            <a:pPr algn="ctr"/>
            <a:r>
              <a:rPr sz="2400" b="1">
                <a:solidFill>
                  <a:srgbClr val="333333"/>
                </a:solidFill>
                <a:latin typeface="メイリオ"/>
                <a:ea typeface="メイリオ"/>
                <a:cs typeface="メイリオ"/>
              </a:rPr>
              <a:t>広告は、CVの瞬間で接点が終わる。</a:t>
            </a:r>
          </a:p>
        </p:txBody>
      </p:sp>
      <p:sp>
        <p:nvSpPr>
          <p:cNvPr id="4" name="TextBox 3"/>
          <p:cNvSpPr txBox="1"/>
          <p:nvPr/>
        </p:nvSpPr>
        <p:spPr>
          <a:xfrm>
            <a:off x="548640" y="1828800"/>
            <a:ext cx="8805672" cy="640080"/>
          </a:xfrm>
          <a:prstGeom prst="rect">
            <a:avLst/>
          </a:prstGeom>
          <a:noFill/>
        </p:spPr>
        <p:txBody>
          <a:bodyPr wrap="square">
            <a:spAutoFit/>
          </a:bodyPr>
          <a:lstStyle/>
          <a:p>
            <a:pPr algn="ctr"/>
            <a:r>
              <a:rPr sz="3000" b="1">
                <a:solidFill>
                  <a:srgbClr val="BF4E0E"/>
                </a:solidFill>
                <a:latin typeface="メイリオ"/>
                <a:ea typeface="メイリオ"/>
                <a:cs typeface="メイリオ"/>
              </a:rPr>
              <a:t>LINEは、CVの先まで追いきれる。</a:t>
            </a:r>
          </a:p>
        </p:txBody>
      </p:sp>
      <p:sp>
        <p:nvSpPr>
          <p:cNvPr id="5" name="TextBox 4"/>
          <p:cNvSpPr txBox="1"/>
          <p:nvPr/>
        </p:nvSpPr>
        <p:spPr>
          <a:xfrm>
            <a:off x="548640" y="2788920"/>
            <a:ext cx="8805672" cy="822960"/>
          </a:xfrm>
          <a:prstGeom prst="rect">
            <a:avLst/>
          </a:prstGeom>
          <a:noFill/>
        </p:spPr>
        <p:txBody>
          <a:bodyPr wrap="square">
            <a:spAutoFit/>
          </a:bodyPr>
          <a:lstStyle/>
          <a:p>
            <a:pPr algn="ctr"/>
            <a:r>
              <a:rPr sz="1400" b="0">
                <a:solidFill>
                  <a:srgbClr val="333333"/>
                </a:solidFill>
                <a:latin typeface="メイリオ"/>
                <a:ea typeface="メイリオ"/>
                <a:cs typeface="メイリオ"/>
              </a:rPr>
              <a:t>一度つながれば、接点を持ち続けられる。情報を渡し続けられる。</a:t>
            </a:r>
          </a:p>
          <a:p>
            <a:pPr algn="ctr"/>
            <a:r>
              <a:rPr sz="1400" b="0">
                <a:solidFill>
                  <a:srgbClr val="333333"/>
                </a:solidFill>
                <a:latin typeface="メイリオ"/>
                <a:ea typeface="メイリオ"/>
                <a:cs typeface="メイリオ"/>
              </a:rPr>
              <a:t>応募で終わらず、面談 → 就業 → 定着まで並走できる——これがLINE最大の魅力です。</a:t>
            </a:r>
          </a:p>
        </p:txBody>
      </p:sp>
      <p:sp>
        <p:nvSpPr>
          <p:cNvPr id="6" name="TextBox 5"/>
          <p:cNvSpPr txBox="1"/>
          <p:nvPr/>
        </p:nvSpPr>
        <p:spPr>
          <a:xfrm>
            <a:off x="640080" y="4206240"/>
            <a:ext cx="822960" cy="365760"/>
          </a:xfrm>
          <a:prstGeom prst="rect">
            <a:avLst/>
          </a:prstGeom>
          <a:noFill/>
        </p:spPr>
        <p:txBody>
          <a:bodyPr wrap="square">
            <a:spAutoFit/>
          </a:bodyPr>
          <a:lstStyle/>
          <a:p>
            <a:pPr algn="l"/>
            <a:r>
              <a:rPr sz="1400" b="1">
                <a:solidFill>
                  <a:srgbClr val="333333"/>
                </a:solidFill>
                <a:latin typeface="メイリオ"/>
                <a:ea typeface="メイリオ"/>
                <a:cs typeface="メイリオ"/>
              </a:rPr>
              <a:t>広告</a:t>
            </a:r>
          </a:p>
        </p:txBody>
      </p:sp>
      <p:sp>
        <p:nvSpPr>
          <p:cNvPr id="7" name="Rounded Rectangle 6"/>
          <p:cNvSpPr/>
          <p:nvPr/>
        </p:nvSpPr>
        <p:spPr>
          <a:xfrm>
            <a:off x="1554480" y="4160520"/>
            <a:ext cx="132588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333333"/>
                </a:solidFill>
                <a:latin typeface="メイリオ"/>
                <a:ea typeface="メイリオ"/>
                <a:cs typeface="メイリオ"/>
              </a:rPr>
              <a:t>接触</a:t>
            </a:r>
          </a:p>
        </p:txBody>
      </p:sp>
      <p:sp>
        <p:nvSpPr>
          <p:cNvPr id="8" name="TextBox 7"/>
          <p:cNvSpPr txBox="1"/>
          <p:nvPr/>
        </p:nvSpPr>
        <p:spPr>
          <a:xfrm>
            <a:off x="2907792" y="4233672"/>
            <a:ext cx="274320" cy="365760"/>
          </a:xfrm>
          <a:prstGeom prst="rect">
            <a:avLst/>
          </a:prstGeom>
          <a:noFill/>
        </p:spPr>
        <p:txBody>
          <a:bodyPr wrap="square">
            <a:spAutoFit/>
          </a:bodyPr>
          <a:lstStyle/>
          <a:p>
            <a:pPr algn="ctr"/>
            <a:r>
              <a:rPr sz="1400" b="1">
                <a:solidFill>
                  <a:srgbClr val="1F285A"/>
                </a:solidFill>
                <a:latin typeface="メイリオ"/>
                <a:ea typeface="メイリオ"/>
                <a:cs typeface="メイリオ"/>
              </a:rPr>
              <a:t>→</a:t>
            </a:r>
          </a:p>
        </p:txBody>
      </p:sp>
      <p:sp>
        <p:nvSpPr>
          <p:cNvPr id="9" name="Rounded Rectangle 8"/>
          <p:cNvSpPr/>
          <p:nvPr/>
        </p:nvSpPr>
        <p:spPr>
          <a:xfrm>
            <a:off x="3218688" y="4160520"/>
            <a:ext cx="173736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333333"/>
                </a:solidFill>
                <a:latin typeface="メイリオ"/>
                <a:ea typeface="メイリオ"/>
                <a:cs typeface="メイリオ"/>
              </a:rPr>
              <a:t>応募・相談（CV）</a:t>
            </a:r>
          </a:p>
        </p:txBody>
      </p:sp>
      <p:sp>
        <p:nvSpPr>
          <p:cNvPr id="10" name="TextBox 9"/>
          <p:cNvSpPr txBox="1"/>
          <p:nvPr/>
        </p:nvSpPr>
        <p:spPr>
          <a:xfrm>
            <a:off x="5166360" y="4224528"/>
            <a:ext cx="3108960" cy="365760"/>
          </a:xfrm>
          <a:prstGeom prst="rect">
            <a:avLst/>
          </a:prstGeom>
          <a:noFill/>
        </p:spPr>
        <p:txBody>
          <a:bodyPr wrap="square">
            <a:spAutoFit/>
          </a:bodyPr>
          <a:lstStyle/>
          <a:p>
            <a:pPr algn="l"/>
            <a:r>
              <a:rPr sz="1300" b="1">
                <a:solidFill>
                  <a:srgbClr val="C00000"/>
                </a:solidFill>
                <a:latin typeface="メイリオ"/>
                <a:ea typeface="メイリオ"/>
                <a:cs typeface="メイリオ"/>
              </a:rPr>
              <a:t>✕ ここで接点が途切れる</a:t>
            </a:r>
          </a:p>
        </p:txBody>
      </p:sp>
      <p:sp>
        <p:nvSpPr>
          <p:cNvPr id="11" name="TextBox 10"/>
          <p:cNvSpPr txBox="1"/>
          <p:nvPr/>
        </p:nvSpPr>
        <p:spPr>
          <a:xfrm>
            <a:off x="640080" y="5212080"/>
            <a:ext cx="822960" cy="365760"/>
          </a:xfrm>
          <a:prstGeom prst="rect">
            <a:avLst/>
          </a:prstGeom>
          <a:noFill/>
        </p:spPr>
        <p:txBody>
          <a:bodyPr wrap="square">
            <a:spAutoFit/>
          </a:bodyPr>
          <a:lstStyle/>
          <a:p>
            <a:pPr algn="l"/>
            <a:r>
              <a:rPr sz="1400" b="1">
                <a:solidFill>
                  <a:srgbClr val="1F285A"/>
                </a:solidFill>
                <a:latin typeface="メイリオ"/>
                <a:ea typeface="メイリオ"/>
                <a:cs typeface="メイリオ"/>
              </a:rPr>
              <a:t>LINE</a:t>
            </a:r>
          </a:p>
        </p:txBody>
      </p:sp>
      <p:sp>
        <p:nvSpPr>
          <p:cNvPr id="12" name="Rounded Rectangle 11"/>
          <p:cNvSpPr/>
          <p:nvPr/>
        </p:nvSpPr>
        <p:spPr>
          <a:xfrm>
            <a:off x="1554480" y="5166360"/>
            <a:ext cx="13258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1F285A"/>
                </a:solidFill>
                <a:latin typeface="メイリオ"/>
                <a:ea typeface="メイリオ"/>
                <a:cs typeface="メイリオ"/>
              </a:rPr>
              <a:t>接触</a:t>
            </a:r>
          </a:p>
        </p:txBody>
      </p:sp>
      <p:sp>
        <p:nvSpPr>
          <p:cNvPr id="13" name="TextBox 12"/>
          <p:cNvSpPr txBox="1"/>
          <p:nvPr/>
        </p:nvSpPr>
        <p:spPr>
          <a:xfrm>
            <a:off x="2907792" y="5239512"/>
            <a:ext cx="274320" cy="365760"/>
          </a:xfrm>
          <a:prstGeom prst="rect">
            <a:avLst/>
          </a:prstGeom>
          <a:noFill/>
        </p:spPr>
        <p:txBody>
          <a:bodyPr wrap="square">
            <a:spAutoFit/>
          </a:bodyPr>
          <a:lstStyle/>
          <a:p>
            <a:pPr algn="ctr"/>
            <a:r>
              <a:rPr sz="1400" b="1">
                <a:solidFill>
                  <a:srgbClr val="1F285A"/>
                </a:solidFill>
                <a:latin typeface="メイリオ"/>
                <a:ea typeface="メイリオ"/>
                <a:cs typeface="メイリオ"/>
              </a:rPr>
              <a:t>→</a:t>
            </a:r>
          </a:p>
        </p:txBody>
      </p:sp>
      <p:sp>
        <p:nvSpPr>
          <p:cNvPr id="14" name="Rounded Rectangle 13"/>
          <p:cNvSpPr/>
          <p:nvPr/>
        </p:nvSpPr>
        <p:spPr>
          <a:xfrm>
            <a:off x="3218688" y="5166360"/>
            <a:ext cx="173736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1F285A"/>
                </a:solidFill>
                <a:latin typeface="メイリオ"/>
                <a:ea typeface="メイリオ"/>
                <a:cs typeface="メイリオ"/>
              </a:rPr>
              <a:t>応募・相談（CV）</a:t>
            </a:r>
          </a:p>
        </p:txBody>
      </p:sp>
      <p:sp>
        <p:nvSpPr>
          <p:cNvPr id="15" name="TextBox 14"/>
          <p:cNvSpPr txBox="1"/>
          <p:nvPr/>
        </p:nvSpPr>
        <p:spPr>
          <a:xfrm>
            <a:off x="4983480" y="5239512"/>
            <a:ext cx="274320" cy="365760"/>
          </a:xfrm>
          <a:prstGeom prst="rect">
            <a:avLst/>
          </a:prstGeom>
          <a:noFill/>
        </p:spPr>
        <p:txBody>
          <a:bodyPr wrap="square">
            <a:spAutoFit/>
          </a:bodyPr>
          <a:lstStyle/>
          <a:p>
            <a:pPr algn="ctr"/>
            <a:r>
              <a:rPr sz="1400" b="1">
                <a:solidFill>
                  <a:srgbClr val="1F285A"/>
                </a:solidFill>
                <a:latin typeface="メイリオ"/>
                <a:ea typeface="メイリオ"/>
                <a:cs typeface="メイリオ"/>
              </a:rPr>
              <a:t>→</a:t>
            </a:r>
          </a:p>
        </p:txBody>
      </p:sp>
      <p:sp>
        <p:nvSpPr>
          <p:cNvPr id="16" name="Rounded Rectangle 15"/>
          <p:cNvSpPr/>
          <p:nvPr/>
        </p:nvSpPr>
        <p:spPr>
          <a:xfrm>
            <a:off x="5294376" y="5166360"/>
            <a:ext cx="10972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1F285A"/>
                </a:solidFill>
                <a:latin typeface="メイリオ"/>
                <a:ea typeface="メイリオ"/>
                <a:cs typeface="メイリオ"/>
              </a:rPr>
              <a:t>面談</a:t>
            </a:r>
          </a:p>
        </p:txBody>
      </p:sp>
      <p:sp>
        <p:nvSpPr>
          <p:cNvPr id="17" name="TextBox 16"/>
          <p:cNvSpPr txBox="1"/>
          <p:nvPr/>
        </p:nvSpPr>
        <p:spPr>
          <a:xfrm>
            <a:off x="6419088" y="5239512"/>
            <a:ext cx="274320" cy="365760"/>
          </a:xfrm>
          <a:prstGeom prst="rect">
            <a:avLst/>
          </a:prstGeom>
          <a:noFill/>
        </p:spPr>
        <p:txBody>
          <a:bodyPr wrap="square">
            <a:spAutoFit/>
          </a:bodyPr>
          <a:lstStyle/>
          <a:p>
            <a:pPr algn="ctr"/>
            <a:r>
              <a:rPr sz="1400" b="1">
                <a:solidFill>
                  <a:srgbClr val="1F285A"/>
                </a:solidFill>
                <a:latin typeface="メイリオ"/>
                <a:ea typeface="メイリオ"/>
                <a:cs typeface="メイリオ"/>
              </a:rPr>
              <a:t>→</a:t>
            </a:r>
          </a:p>
        </p:txBody>
      </p:sp>
      <p:sp>
        <p:nvSpPr>
          <p:cNvPr id="18" name="Rounded Rectangle 17"/>
          <p:cNvSpPr/>
          <p:nvPr/>
        </p:nvSpPr>
        <p:spPr>
          <a:xfrm>
            <a:off x="6729984" y="5166360"/>
            <a:ext cx="1097280" cy="475488"/>
          </a:xfrm>
          <a:prstGeom prst="roundRect">
            <a:avLst>
              <a:gd name="adj" fmla="val 12000"/>
            </a:avLst>
          </a:prstGeom>
          <a:solidFill>
            <a:srgbClr val="1F285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メイリオ"/>
                <a:ea typeface="メイリオ"/>
                <a:cs typeface="メイリオ"/>
              </a:rPr>
              <a:t>就業</a:t>
            </a:r>
          </a:p>
        </p:txBody>
      </p:sp>
      <p:sp>
        <p:nvSpPr>
          <p:cNvPr id="19" name="TextBox 18"/>
          <p:cNvSpPr txBox="1"/>
          <p:nvPr/>
        </p:nvSpPr>
        <p:spPr>
          <a:xfrm>
            <a:off x="7854696" y="5239512"/>
            <a:ext cx="274320" cy="365760"/>
          </a:xfrm>
          <a:prstGeom prst="rect">
            <a:avLst/>
          </a:prstGeom>
          <a:noFill/>
        </p:spPr>
        <p:txBody>
          <a:bodyPr wrap="square">
            <a:spAutoFit/>
          </a:bodyPr>
          <a:lstStyle/>
          <a:p>
            <a:pPr algn="ctr"/>
            <a:r>
              <a:rPr sz="1400" b="1">
                <a:solidFill>
                  <a:srgbClr val="1F285A"/>
                </a:solidFill>
                <a:latin typeface="メイリオ"/>
                <a:ea typeface="メイリオ"/>
                <a:cs typeface="メイリオ"/>
              </a:rPr>
              <a:t>→</a:t>
            </a:r>
          </a:p>
        </p:txBody>
      </p:sp>
      <p:sp>
        <p:nvSpPr>
          <p:cNvPr id="20" name="Rounded Rectangle 19"/>
          <p:cNvSpPr/>
          <p:nvPr/>
        </p:nvSpPr>
        <p:spPr>
          <a:xfrm>
            <a:off x="8165592" y="5166360"/>
            <a:ext cx="123444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1F285A"/>
                </a:solidFill>
                <a:latin typeface="メイリオ"/>
                <a:ea typeface="メイリオ"/>
                <a:cs typeface="メイリオ"/>
              </a:rPr>
              <a:t>定着・紹介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市場分析（前後検索クエリ）</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★LINEヤフー社提供の前後検索クエリを取得後、検討の流れを反映する。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360000"/>
          </a:xfrm>
          <a:prstGeom prst="roundRect">
            <a:avLst>
              <a:gd name="adj" fmla="val 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21600" bIns="21600"/>
          <a:lstStyle/>
          <a:p>
            <a:pPr algn="ctr"/>
            <a:r>
              <a:rPr sz="1150" b="1">
                <a:solidFill>
                  <a:srgbClr val="FFFFFF"/>
                </a:solidFill>
                <a:latin typeface="メイリオ"/>
                <a:ea typeface="メイリオ"/>
                <a:cs typeface="メイリオ"/>
              </a:rPr>
              <a:t>検索“前”</a:t>
            </a:r>
          </a:p>
        </p:txBody>
      </p:sp>
      <p:sp>
        <p:nvSpPr>
          <p:cNvPr id="6" name="Rounded Rectangle 5"/>
          <p:cNvSpPr/>
          <p:nvPr/>
        </p:nvSpPr>
        <p:spPr>
          <a:xfrm>
            <a:off x="3482400" y="1620000"/>
            <a:ext cx="29424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21600" bIns="21600"/>
          <a:lstStyle/>
          <a:p>
            <a:pPr algn="ctr"/>
            <a:r>
              <a:rPr sz="1150" b="1">
                <a:solidFill>
                  <a:srgbClr val="FFFFFF"/>
                </a:solidFill>
                <a:latin typeface="メイリオ"/>
                <a:ea typeface="メイリオ"/>
                <a:cs typeface="メイリオ"/>
              </a:rPr>
              <a:t>起点KW（整備士 ほか）</a:t>
            </a:r>
          </a:p>
        </p:txBody>
      </p:sp>
      <p:sp>
        <p:nvSpPr>
          <p:cNvPr id="7" name="Rounded Rectangle 6"/>
          <p:cNvSpPr/>
          <p:nvPr/>
        </p:nvSpPr>
        <p:spPr>
          <a:xfrm>
            <a:off x="6532800" y="1620000"/>
            <a:ext cx="2942400" cy="36000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21600" bIns="21600"/>
          <a:lstStyle/>
          <a:p>
            <a:pPr algn="ctr"/>
            <a:r>
              <a:rPr sz="1150" b="1">
                <a:solidFill>
                  <a:srgbClr val="FFFFFF"/>
                </a:solidFill>
                <a:latin typeface="メイリオ"/>
                <a:ea typeface="メイリオ"/>
                <a:cs typeface="メイリオ"/>
              </a:rPr>
              <a:t>検索“後”</a:t>
            </a:r>
          </a:p>
        </p:txBody>
      </p:sp>
      <p:sp>
        <p:nvSpPr>
          <p:cNvPr id="8" name="Rounded Rectangle 7"/>
          <p:cNvSpPr/>
          <p:nvPr/>
        </p:nvSpPr>
        <p:spPr>
          <a:xfrm>
            <a:off x="432000" y="2088000"/>
            <a:ext cx="9043200" cy="1908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400"/>
              </a:spcAft>
            </a:pPr>
            <a:r>
              <a:rPr sz="1100" b="1">
                <a:solidFill>
                  <a:srgbClr val="7F7F7F"/>
                </a:solidFill>
                <a:latin typeface="メイリオ"/>
                <a:ea typeface="メイリオ"/>
                <a:cs typeface="メイリオ"/>
              </a:rPr>
              <a:t>★差込枠｜前後検索データ（取得中）</a:t>
            </a:r>
          </a:p>
          <a:p>
            <a:pPr algn="ctr">
              <a:lnSpc>
                <a:spcPct val="125000"/>
              </a:lnSpc>
            </a:pPr>
            <a:r>
              <a:rPr sz="850">
                <a:solidFill>
                  <a:srgbClr val="7F7F7F"/>
                </a:solidFill>
                <a:latin typeface="メイリオ"/>
                <a:ea typeface="メイリオ"/>
                <a:cs typeface="メイリオ"/>
              </a:rPr>
              <a:t>対象KWを一語で選定して取得後、検索前後のクエリ変化と
「LINE追加を仕掛けるタイミング」をこのページに反映する</a:t>
            </a:r>
          </a:p>
        </p:txBody>
      </p:sp>
      <p:sp>
        <p:nvSpPr>
          <p:cNvPr id="9" name="TextBox 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★取得中｜出典：LINEヤフー社 管理ツール</a:t>
            </a:r>
          </a:p>
        </p:txBody>
      </p:sp>
    </p:spTree>
    <p:extLst>
      <p:ext uri="{BB962C8B-B14F-4D97-AF65-F5344CB8AC3E}">
        <p14:creationId xmlns:p14="http://schemas.microsoft.com/office/powerpoint/2010/main" val="2053170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市場分析（検索トレンド）</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「整備士」の検索は一年中ほぼフラット。転職検討は季節を選ばず続いている。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pic>
        <p:nvPicPr>
          <p:cNvPr id="5" name="Picture 4" descr="chengrowth_trend_seibishi_5y.png"/>
          <p:cNvPicPr>
            <a:picLocks noChangeAspect="1"/>
          </p:cNvPicPr>
          <p:nvPr/>
        </p:nvPicPr>
        <p:blipFill>
          <a:blip r:embed="rId3"/>
          <a:stretch>
            <a:fillRect/>
          </a:stretch>
        </p:blipFill>
        <p:spPr>
          <a:xfrm>
            <a:off x="1533600" y="1620000"/>
            <a:ext cx="6840000" cy="2304000"/>
          </a:xfrm>
          <a:prstGeom prst="rect">
            <a:avLst/>
          </a:prstGeom>
        </p:spPr>
      </p:pic>
      <p:sp>
        <p:nvSpPr>
          <p:cNvPr id="6" name="Rounded Rectangle 5"/>
          <p:cNvSpPr/>
          <p:nvPr/>
        </p:nvSpPr>
        <p:spPr>
          <a:xfrm>
            <a:off x="432000" y="406800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2000" y="4121999"/>
            <a:ext cx="2942400" cy="180000"/>
          </a:xfrm>
          <a:prstGeom prst="rect">
            <a:avLst/>
          </a:prstGeom>
          <a:noFill/>
        </p:spPr>
        <p:txBody>
          <a:bodyPr wrap="square" lIns="50400" rIns="50400" tIns="21600" bIns="21600" anchor="ctr">
            <a:spAutoFit/>
          </a:bodyPr>
          <a:lstStyle/>
          <a:p>
            <a:pPr algn="ctr"/>
            <a:r>
              <a:rPr sz="950" b="1">
                <a:solidFill>
                  <a:srgbClr val="7F7F7F"/>
                </a:solidFill>
                <a:latin typeface="メイリオ"/>
                <a:ea typeface="メイリオ"/>
                <a:cs typeface="メイリオ"/>
              </a:rPr>
              <a:t>山</a:t>
            </a:r>
          </a:p>
        </p:txBody>
      </p:sp>
      <p:sp>
        <p:nvSpPr>
          <p:cNvPr id="8" name="TextBox 7"/>
          <p:cNvSpPr txBox="1"/>
          <p:nvPr/>
        </p:nvSpPr>
        <p:spPr>
          <a:xfrm>
            <a:off x="432000" y="4283999"/>
            <a:ext cx="2942400" cy="288000"/>
          </a:xfrm>
          <a:prstGeom prst="rect">
            <a:avLst/>
          </a:prstGeom>
          <a:noFill/>
        </p:spPr>
        <p:txBody>
          <a:bodyPr wrap="square" lIns="50400" rIns="50400" tIns="21600" bIns="21600" anchor="ctr">
            <a:spAutoFit/>
          </a:bodyPr>
          <a:lstStyle/>
          <a:p>
            <a:pPr algn="ctr"/>
            <a:r>
              <a:rPr sz="1600" b="1">
                <a:solidFill>
                  <a:srgbClr val="ED7D31"/>
                </a:solidFill>
                <a:latin typeface="メイリオ"/>
                <a:ea typeface="メイリオ"/>
                <a:cs typeface="メイリオ"/>
              </a:rPr>
              <a:t>3月</a:t>
            </a:r>
          </a:p>
        </p:txBody>
      </p:sp>
      <p:sp>
        <p:nvSpPr>
          <p:cNvPr id="9" name="TextBox 8"/>
          <p:cNvSpPr txBox="1"/>
          <p:nvPr/>
        </p:nvSpPr>
        <p:spPr>
          <a:xfrm>
            <a:off x="432000" y="4572000"/>
            <a:ext cx="2942400" cy="216000"/>
          </a:xfrm>
          <a:prstGeom prst="rect">
            <a:avLst/>
          </a:prstGeom>
          <a:noFill/>
        </p:spPr>
        <p:txBody>
          <a:bodyPr wrap="square" lIns="50400" rIns="50400" tIns="21600" bIns="21600" anchor="ctr">
            <a:spAutoFit/>
          </a:bodyPr>
          <a:lstStyle/>
          <a:p>
            <a:pPr algn="ctr"/>
            <a:r>
              <a:rPr sz="850">
                <a:solidFill>
                  <a:srgbClr val="333333"/>
                </a:solidFill>
                <a:latin typeface="メイリオ"/>
                <a:ea typeface="メイリオ"/>
                <a:cs typeface="メイリオ"/>
              </a:rPr>
              <a:t>年度替わり・転職の動きが最大</a:t>
            </a:r>
          </a:p>
        </p:txBody>
      </p:sp>
      <p:sp>
        <p:nvSpPr>
          <p:cNvPr id="10" name="Rounded Rectangle 9"/>
          <p:cNvSpPr/>
          <p:nvPr/>
        </p:nvSpPr>
        <p:spPr>
          <a:xfrm>
            <a:off x="3482400" y="406800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2400" y="4121999"/>
            <a:ext cx="2942400" cy="180000"/>
          </a:xfrm>
          <a:prstGeom prst="rect">
            <a:avLst/>
          </a:prstGeom>
          <a:noFill/>
        </p:spPr>
        <p:txBody>
          <a:bodyPr wrap="square" lIns="50400" rIns="50400" tIns="21600" bIns="21600" anchor="ctr">
            <a:spAutoFit/>
          </a:bodyPr>
          <a:lstStyle/>
          <a:p>
            <a:pPr algn="ctr"/>
            <a:r>
              <a:rPr sz="950" b="1">
                <a:solidFill>
                  <a:srgbClr val="7F7F7F"/>
                </a:solidFill>
                <a:latin typeface="メイリオ"/>
                <a:ea typeface="メイリオ"/>
                <a:cs typeface="メイリオ"/>
              </a:rPr>
              <a:t>谷</a:t>
            </a:r>
          </a:p>
        </p:txBody>
      </p:sp>
      <p:sp>
        <p:nvSpPr>
          <p:cNvPr id="12" name="TextBox 11"/>
          <p:cNvSpPr txBox="1"/>
          <p:nvPr/>
        </p:nvSpPr>
        <p:spPr>
          <a:xfrm>
            <a:off x="3482400" y="4283999"/>
            <a:ext cx="2942400" cy="288000"/>
          </a:xfrm>
          <a:prstGeom prst="rect">
            <a:avLst/>
          </a:prstGeom>
          <a:noFill/>
        </p:spPr>
        <p:txBody>
          <a:bodyPr wrap="square" lIns="50400" rIns="50400" tIns="21600" bIns="21600" anchor="ctr">
            <a:spAutoFit/>
          </a:bodyPr>
          <a:lstStyle/>
          <a:p>
            <a:pPr algn="ctr"/>
            <a:r>
              <a:rPr sz="1600" b="1">
                <a:solidFill>
                  <a:srgbClr val="ED7D31"/>
                </a:solidFill>
                <a:latin typeface="メイリオ"/>
                <a:ea typeface="メイリオ"/>
                <a:cs typeface="メイリオ"/>
              </a:rPr>
              <a:t>12月</a:t>
            </a:r>
          </a:p>
        </p:txBody>
      </p:sp>
      <p:sp>
        <p:nvSpPr>
          <p:cNvPr id="13" name="TextBox 12"/>
          <p:cNvSpPr txBox="1"/>
          <p:nvPr/>
        </p:nvSpPr>
        <p:spPr>
          <a:xfrm>
            <a:off x="3482400" y="4572000"/>
            <a:ext cx="2942400" cy="216000"/>
          </a:xfrm>
          <a:prstGeom prst="rect">
            <a:avLst/>
          </a:prstGeom>
          <a:noFill/>
        </p:spPr>
        <p:txBody>
          <a:bodyPr wrap="square" lIns="50400" rIns="50400" tIns="21600" bIns="21600" anchor="ctr">
            <a:spAutoFit/>
          </a:bodyPr>
          <a:lstStyle/>
          <a:p>
            <a:pPr algn="ctr"/>
            <a:r>
              <a:rPr sz="850">
                <a:solidFill>
                  <a:srgbClr val="333333"/>
                </a:solidFill>
                <a:latin typeface="メイリオ"/>
                <a:ea typeface="メイリオ"/>
                <a:cs typeface="メイリオ"/>
              </a:rPr>
              <a:t>それでも山との差は約1.4倍</a:t>
            </a:r>
          </a:p>
        </p:txBody>
      </p:sp>
      <p:sp>
        <p:nvSpPr>
          <p:cNvPr id="14" name="Rounded Rectangle 13"/>
          <p:cNvSpPr/>
          <p:nvPr/>
        </p:nvSpPr>
        <p:spPr>
          <a:xfrm>
            <a:off x="6532800" y="406800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2800" y="4121999"/>
            <a:ext cx="2942400" cy="180000"/>
          </a:xfrm>
          <a:prstGeom prst="rect">
            <a:avLst/>
          </a:prstGeom>
          <a:noFill/>
        </p:spPr>
        <p:txBody>
          <a:bodyPr wrap="square" lIns="50400" rIns="50400" tIns="21600" bIns="21600" anchor="ctr">
            <a:spAutoFit/>
          </a:bodyPr>
          <a:lstStyle/>
          <a:p>
            <a:pPr algn="ctr"/>
            <a:r>
              <a:rPr sz="950" b="1">
                <a:solidFill>
                  <a:srgbClr val="7F7F7F"/>
                </a:solidFill>
                <a:latin typeface="メイリオ"/>
                <a:ea typeface="メイリオ"/>
                <a:cs typeface="メイリオ"/>
              </a:rPr>
              <a:t>含意</a:t>
            </a:r>
          </a:p>
        </p:txBody>
      </p:sp>
      <p:sp>
        <p:nvSpPr>
          <p:cNvPr id="16" name="TextBox 15"/>
          <p:cNvSpPr txBox="1"/>
          <p:nvPr/>
        </p:nvSpPr>
        <p:spPr>
          <a:xfrm>
            <a:off x="6532800" y="4283999"/>
            <a:ext cx="2942400" cy="288000"/>
          </a:xfrm>
          <a:prstGeom prst="rect">
            <a:avLst/>
          </a:prstGeom>
          <a:noFill/>
        </p:spPr>
        <p:txBody>
          <a:bodyPr wrap="square" lIns="50400" rIns="50400" tIns="21600" bIns="21600" anchor="ctr">
            <a:spAutoFit/>
          </a:bodyPr>
          <a:lstStyle/>
          <a:p>
            <a:pPr algn="ctr"/>
            <a:r>
              <a:rPr sz="1600" b="1">
                <a:solidFill>
                  <a:srgbClr val="ED7D31"/>
                </a:solidFill>
                <a:latin typeface="メイリオ"/>
                <a:ea typeface="メイリオ"/>
                <a:cs typeface="メイリオ"/>
              </a:rPr>
              <a:t>通年</a:t>
            </a:r>
          </a:p>
        </p:txBody>
      </p:sp>
      <p:sp>
        <p:nvSpPr>
          <p:cNvPr id="17" name="TextBox 16"/>
          <p:cNvSpPr txBox="1"/>
          <p:nvPr/>
        </p:nvSpPr>
        <p:spPr>
          <a:xfrm>
            <a:off x="6532800" y="4572000"/>
            <a:ext cx="2942400" cy="216000"/>
          </a:xfrm>
          <a:prstGeom prst="rect">
            <a:avLst/>
          </a:prstGeom>
          <a:noFill/>
        </p:spPr>
        <p:txBody>
          <a:bodyPr wrap="square" lIns="50400" rIns="50400" tIns="21600" bIns="21600" anchor="ctr">
            <a:spAutoFit/>
          </a:bodyPr>
          <a:lstStyle/>
          <a:p>
            <a:pPr algn="ctr"/>
            <a:r>
              <a:rPr sz="850">
                <a:solidFill>
                  <a:srgbClr val="333333"/>
                </a:solidFill>
                <a:latin typeface="メイリオ"/>
                <a:ea typeface="メイリオ"/>
                <a:cs typeface="メイリオ"/>
              </a:rPr>
              <a:t>検討は一年中。接点は3月に集中</a:t>
            </a:r>
          </a:p>
        </p:txBody>
      </p:sp>
      <p:sp>
        <p:nvSpPr>
          <p:cNvPr id="18" name="Rounded Rectangle 17"/>
          <p:cNvSpPr/>
          <p:nvPr/>
        </p:nvSpPr>
        <p:spPr>
          <a:xfrm>
            <a:off x="432000" y="4932000"/>
            <a:ext cx="9043200" cy="36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250" b="1">
                <a:solidFill>
                  <a:srgbClr val="FFFFFF"/>
                </a:solidFill>
                <a:latin typeface="メイリオ"/>
                <a:ea typeface="メイリオ"/>
                <a:cs typeface="メイリオ"/>
              </a:rPr>
              <a:t>業界の接点は3月に集中。通年で検討層を受け止める先は、空いている。</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出典：Googleトレンド（日本・過去5年・2026-09-21取得）。相対指標のため他KWとの数値比較は不可</a:t>
            </a:r>
          </a:p>
        </p:txBody>
      </p:sp>
    </p:spTree>
    <p:extLst>
      <p:ext uri="{BB962C8B-B14F-4D97-AF65-F5344CB8AC3E}">
        <p14:creationId xmlns:p14="http://schemas.microsoft.com/office/powerpoint/2010/main" val="99519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競合分析（求人サービスのLINE活用状況）</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総合大手はLINEが標準装備。一方、自動車・整備士特化は空白地帯。</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200" cy="1890000"/>
        </p:xfrm>
        <a:graphic>
          <a:graphicData uri="http://schemas.openxmlformats.org/drawingml/2006/table">
            <a:tbl>
              <a:tblPr firstRow="1" bandRow="1">
                <a:tableStyleId>{5C22544A-7EE6-4342-B048-85BDC9FD1C3A}</a:tableStyleId>
              </a:tblPr>
              <a:tblGrid>
                <a:gridCol w="3255552"/>
                <a:gridCol w="2532096"/>
                <a:gridCol w="3255552"/>
              </a:tblGrid>
              <a:tr h="270000">
                <a:tc>
                  <a:txBody>
                    <a:bodyPr wrap="square" lIns="43200" rIns="43200" tIns="7200" bIns="7200" anchor="ctr"/>
                    <a:lstStyle/>
                    <a:p>
                      <a:pPr algn="ctr"/>
                      <a:r>
                        <a:rPr sz="950" b="1">
                          <a:solidFill>
                            <a:srgbClr val="FFFFFF"/>
                          </a:solidFill>
                          <a:latin typeface="メイリオ"/>
                          <a:ea typeface="メイリオ"/>
                          <a:cs typeface="メイリオ"/>
                        </a:rPr>
                        <a:t>サービス</a:t>
                      </a:r>
                    </a:p>
                  </a:txBody>
                  <a:tcPr anchor="ctr">
                    <a:solidFill>
                      <a:srgbClr val="1F285A"/>
                    </a:solidFill>
                  </a:tcPr>
                </a:tc>
                <a:tc>
                  <a:txBody>
                    <a:bodyPr wrap="square" lIns="43200" rIns="43200" tIns="7200" bIns="7200" anchor="ctr"/>
                    <a:lstStyle/>
                    <a:p>
                      <a:pPr algn="ctr"/>
                      <a:r>
                        <a:rPr sz="950" b="1">
                          <a:solidFill>
                            <a:srgbClr val="FFFFFF"/>
                          </a:solidFill>
                          <a:latin typeface="メイリオ"/>
                          <a:ea typeface="メイリオ"/>
                          <a:cs typeface="メイリオ"/>
                        </a:rPr>
                        <a:t>種別</a:t>
                      </a:r>
                    </a:p>
                  </a:txBody>
                  <a:tcPr anchor="ctr">
                    <a:solidFill>
                      <a:srgbClr val="1F285A"/>
                    </a:solidFill>
                  </a:tcPr>
                </a:tc>
                <a:tc>
                  <a:txBody>
                    <a:bodyPr wrap="square" lIns="43200" rIns="43200" tIns="7200" bIns="7200" anchor="ctr"/>
                    <a:lstStyle/>
                    <a:p>
                      <a:pPr algn="ctr"/>
                      <a:r>
                        <a:rPr sz="950" b="1">
                          <a:solidFill>
                            <a:srgbClr val="FFFFFF"/>
                          </a:solidFill>
                          <a:latin typeface="メイリオ"/>
                          <a:ea typeface="メイリオ"/>
                          <a:cs typeface="メイリオ"/>
                        </a:rPr>
                        <a:t>LINE友だち数</a:t>
                      </a:r>
                    </a:p>
                  </a:txBody>
                  <a:tcPr anchor="ctr">
                    <a:solidFill>
                      <a:srgbClr val="1F285A"/>
                    </a:solidFill>
                  </a:tcPr>
                </a:tc>
              </a:tr>
              <a:tr h="270000">
                <a:tc>
                  <a:txBody>
                    <a:bodyPr wrap="square" lIns="43200" rIns="43200" tIns="7200" bIns="7200" anchor="ctr"/>
                    <a:lstStyle/>
                    <a:p>
                      <a:pPr algn="l"/>
                      <a:r>
                        <a:rPr sz="950">
                          <a:solidFill>
                            <a:srgbClr val="333333"/>
                          </a:solidFill>
                          <a:latin typeface="メイリオ"/>
                          <a:ea typeface="メイリオ"/>
                          <a:cs typeface="メイリオ"/>
                        </a:rPr>
                        <a:t>リクナビNEXT</a:t>
                      </a:r>
                    </a:p>
                  </a:txBody>
                  <a:tcPr anchor="ctr">
                    <a:solidFill>
                      <a:srgbClr val="FFFFFF"/>
                    </a:solidFill>
                  </a:tcPr>
                </a:tc>
                <a:tc>
                  <a:txBody>
                    <a:bodyPr wrap="square" lIns="43200" rIns="43200" tIns="7200" bIns="7200" anchor="ctr"/>
                    <a:lstStyle/>
                    <a:p>
                      <a:pPr algn="l"/>
                      <a:r>
                        <a:rPr sz="950">
                          <a:solidFill>
                            <a:srgbClr val="333333"/>
                          </a:solidFill>
                          <a:latin typeface="メイリオ"/>
                          <a:ea typeface="メイリオ"/>
                          <a:cs typeface="メイリオ"/>
                        </a:rPr>
                        <a:t>総合・転職サイト</a:t>
                      </a:r>
                    </a:p>
                  </a:txBody>
                  <a:tcPr anchor="ctr">
                    <a:solidFill>
                      <a:srgbClr val="FFFFFF"/>
                    </a:solidFill>
                  </a:tcPr>
                </a:tc>
                <a:tc>
                  <a:txBody>
                    <a:bodyPr wrap="square" lIns="43200" rIns="43200" tIns="7200" bIns="7200" anchor="ctr"/>
                    <a:lstStyle/>
                    <a:p>
                      <a:pPr algn="l"/>
                      <a:r>
                        <a:rPr sz="950">
                          <a:solidFill>
                            <a:srgbClr val="333333"/>
                          </a:solidFill>
                          <a:latin typeface="メイリオ"/>
                          <a:ea typeface="メイリオ"/>
                          <a:cs typeface="メイリオ"/>
                        </a:rPr>
                        <a:t>3,235,678人</a:t>
                      </a:r>
                    </a:p>
                  </a:txBody>
                  <a:tcPr anchor="ctr">
                    <a:solidFill>
                      <a:srgbClr val="FFFFFF"/>
                    </a:solidFill>
                  </a:tcPr>
                </a:tc>
              </a:tr>
              <a:tr h="270000">
                <a:tc>
                  <a:txBody>
                    <a:bodyPr wrap="square" lIns="43200" rIns="43200" tIns="7200" bIns="7200" anchor="ctr"/>
                    <a:lstStyle/>
                    <a:p>
                      <a:pPr algn="l"/>
                      <a:r>
                        <a:rPr sz="950">
                          <a:solidFill>
                            <a:srgbClr val="333333"/>
                          </a:solidFill>
                          <a:latin typeface="メイリオ"/>
                          <a:ea typeface="メイリオ"/>
                          <a:cs typeface="メイリオ"/>
                        </a:rPr>
                        <a:t>求人ボックス</a:t>
                      </a:r>
                    </a:p>
                  </a:txBody>
                  <a:tcPr anchor="ctr">
                    <a:solidFill>
                      <a:srgbClr val="F4F7FF"/>
                    </a:solidFill>
                  </a:tcPr>
                </a:tc>
                <a:tc>
                  <a:txBody>
                    <a:bodyPr wrap="square" lIns="43200" rIns="43200" tIns="7200" bIns="7200" anchor="ctr"/>
                    <a:lstStyle/>
                    <a:p>
                      <a:pPr algn="l"/>
                      <a:r>
                        <a:rPr sz="950">
                          <a:solidFill>
                            <a:srgbClr val="333333"/>
                          </a:solidFill>
                          <a:latin typeface="メイリオ"/>
                          <a:ea typeface="メイリオ"/>
                          <a:cs typeface="メイリオ"/>
                        </a:rPr>
                        <a:t>総合・アグリゲーション</a:t>
                      </a:r>
                    </a:p>
                  </a:txBody>
                  <a:tcPr anchor="ctr">
                    <a:solidFill>
                      <a:srgbClr val="F4F7FF"/>
                    </a:solidFill>
                  </a:tcPr>
                </a:tc>
                <a:tc>
                  <a:txBody>
                    <a:bodyPr wrap="square" lIns="43200" rIns="43200" tIns="7200" bIns="7200" anchor="ctr"/>
                    <a:lstStyle/>
                    <a:p>
                      <a:pPr algn="l"/>
                      <a:r>
                        <a:rPr sz="950">
                          <a:solidFill>
                            <a:srgbClr val="333333"/>
                          </a:solidFill>
                          <a:latin typeface="メイリオ"/>
                          <a:ea typeface="メイリオ"/>
                          <a:cs typeface="メイリオ"/>
                        </a:rPr>
                        <a:t>1,862,866人</a:t>
                      </a:r>
                    </a:p>
                  </a:txBody>
                  <a:tcPr anchor="ctr">
                    <a:solidFill>
                      <a:srgbClr val="F4F7FF"/>
                    </a:solidFill>
                  </a:tcPr>
                </a:tc>
              </a:tr>
              <a:tr h="270000">
                <a:tc>
                  <a:txBody>
                    <a:bodyPr wrap="square" lIns="43200" rIns="43200" tIns="7200" bIns="7200" anchor="ctr"/>
                    <a:lstStyle/>
                    <a:p>
                      <a:pPr algn="l"/>
                      <a:r>
                        <a:rPr sz="950">
                          <a:solidFill>
                            <a:srgbClr val="333333"/>
                          </a:solidFill>
                          <a:latin typeface="メイリオ"/>
                          <a:ea typeface="メイリオ"/>
                          <a:cs typeface="メイリオ"/>
                        </a:rPr>
                        <a:t>マイナビ転職</a:t>
                      </a:r>
                    </a:p>
                  </a:txBody>
                  <a:tcPr anchor="ctr">
                    <a:solidFill>
                      <a:srgbClr val="FFFFFF"/>
                    </a:solidFill>
                  </a:tcPr>
                </a:tc>
                <a:tc>
                  <a:txBody>
                    <a:bodyPr wrap="square" lIns="43200" rIns="43200" tIns="7200" bIns="7200" anchor="ctr"/>
                    <a:lstStyle/>
                    <a:p>
                      <a:pPr algn="l"/>
                      <a:r>
                        <a:rPr sz="950">
                          <a:solidFill>
                            <a:srgbClr val="333333"/>
                          </a:solidFill>
                          <a:latin typeface="メイリオ"/>
                          <a:ea typeface="メイリオ"/>
                          <a:cs typeface="メイリオ"/>
                        </a:rPr>
                        <a:t>総合・転職サイト</a:t>
                      </a:r>
                    </a:p>
                  </a:txBody>
                  <a:tcPr anchor="ctr">
                    <a:solidFill>
                      <a:srgbClr val="FFFFFF"/>
                    </a:solidFill>
                  </a:tcPr>
                </a:tc>
                <a:tc>
                  <a:txBody>
                    <a:bodyPr wrap="square" lIns="43200" rIns="43200" tIns="7200" bIns="7200" anchor="ctr"/>
                    <a:lstStyle/>
                    <a:p>
                      <a:pPr algn="l"/>
                      <a:r>
                        <a:rPr sz="950">
                          <a:solidFill>
                            <a:srgbClr val="333333"/>
                          </a:solidFill>
                          <a:latin typeface="メイリオ"/>
                          <a:ea typeface="メイリオ"/>
                          <a:cs typeface="メイリオ"/>
                        </a:rPr>
                        <a:t>754,302人</a:t>
                      </a:r>
                    </a:p>
                  </a:txBody>
                  <a:tcPr anchor="ctr">
                    <a:solidFill>
                      <a:srgbClr val="FFFFFF"/>
                    </a:solidFill>
                  </a:tcPr>
                </a:tc>
              </a:tr>
              <a:tr h="270000">
                <a:tc>
                  <a:txBody>
                    <a:bodyPr wrap="square" lIns="43200" rIns="43200" tIns="7200" bIns="7200" anchor="ctr"/>
                    <a:lstStyle/>
                    <a:p>
                      <a:pPr algn="l"/>
                      <a:r>
                        <a:rPr sz="950">
                          <a:solidFill>
                            <a:srgbClr val="333333"/>
                          </a:solidFill>
                          <a:latin typeface="メイリオ"/>
                          <a:ea typeface="メイリオ"/>
                          <a:cs typeface="メイリオ"/>
                        </a:rPr>
                        <a:t>doda</a:t>
                      </a:r>
                    </a:p>
                  </a:txBody>
                  <a:tcPr anchor="ctr">
                    <a:solidFill>
                      <a:srgbClr val="F4F7FF"/>
                    </a:solidFill>
                  </a:tcPr>
                </a:tc>
                <a:tc>
                  <a:txBody>
                    <a:bodyPr wrap="square" lIns="43200" rIns="43200" tIns="7200" bIns="7200" anchor="ctr"/>
                    <a:lstStyle/>
                    <a:p>
                      <a:pPr algn="l"/>
                      <a:r>
                        <a:rPr sz="950">
                          <a:solidFill>
                            <a:srgbClr val="333333"/>
                          </a:solidFill>
                          <a:latin typeface="メイリオ"/>
                          <a:ea typeface="メイリオ"/>
                          <a:cs typeface="メイリオ"/>
                        </a:rPr>
                        <a:t>総合・エージェント</a:t>
                      </a:r>
                    </a:p>
                  </a:txBody>
                  <a:tcPr anchor="ctr">
                    <a:solidFill>
                      <a:srgbClr val="F4F7FF"/>
                    </a:solidFill>
                  </a:tcPr>
                </a:tc>
                <a:tc>
                  <a:txBody>
                    <a:bodyPr wrap="square" lIns="43200" rIns="43200" tIns="7200" bIns="7200" anchor="ctr"/>
                    <a:lstStyle/>
                    <a:p>
                      <a:pPr algn="l"/>
                      <a:r>
                        <a:rPr sz="950">
                          <a:solidFill>
                            <a:srgbClr val="333333"/>
                          </a:solidFill>
                          <a:latin typeface="メイリオ"/>
                          <a:ea typeface="メイリオ"/>
                          <a:cs typeface="メイリオ"/>
                        </a:rPr>
                        <a:t>公開アカウントなし（会員登録後に1:1連携）</a:t>
                      </a:r>
                    </a:p>
                  </a:txBody>
                  <a:tcPr anchor="ctr">
                    <a:solidFill>
                      <a:srgbClr val="F4F7FF"/>
                    </a:solidFill>
                  </a:tcPr>
                </a:tc>
              </a:tr>
              <a:tr h="270000">
                <a:tc>
                  <a:txBody>
                    <a:bodyPr wrap="square" lIns="43200" rIns="43200" tIns="7200" bIns="7200" anchor="ctr"/>
                    <a:lstStyle/>
                    <a:p>
                      <a:pPr algn="l"/>
                      <a:r>
                        <a:rPr sz="950">
                          <a:solidFill>
                            <a:srgbClr val="333333"/>
                          </a:solidFill>
                          <a:latin typeface="メイリオ"/>
                          <a:ea typeface="メイリオ"/>
                          <a:cs typeface="メイリオ"/>
                        </a:rPr>
                        <a:t>プレックスジョブ【整備士】</a:t>
                      </a:r>
                    </a:p>
                  </a:txBody>
                  <a:tcPr anchor="ctr">
                    <a:solidFill>
                      <a:srgbClr val="FFFFFF"/>
                    </a:solidFill>
                  </a:tcPr>
                </a:tc>
                <a:tc>
                  <a:txBody>
                    <a:bodyPr wrap="square" lIns="43200" rIns="43200" tIns="7200" bIns="7200" anchor="ctr"/>
                    <a:lstStyle/>
                    <a:p>
                      <a:pPr algn="l"/>
                      <a:r>
                        <a:rPr sz="950">
                          <a:solidFill>
                            <a:srgbClr val="333333"/>
                          </a:solidFill>
                          <a:latin typeface="メイリオ"/>
                          <a:ea typeface="メイリオ"/>
                          <a:cs typeface="メイリオ"/>
                        </a:rPr>
                        <a:t>整備士特化</a:t>
                      </a:r>
                    </a:p>
                  </a:txBody>
                  <a:tcPr anchor="ctr">
                    <a:solidFill>
                      <a:srgbClr val="FFFFFF"/>
                    </a:solidFill>
                  </a:tcPr>
                </a:tc>
                <a:tc>
                  <a:txBody>
                    <a:bodyPr wrap="square" lIns="43200" rIns="43200" tIns="7200" bIns="7200" anchor="ctr"/>
                    <a:lstStyle/>
                    <a:p>
                      <a:pPr algn="l"/>
                      <a:r>
                        <a:rPr sz="950">
                          <a:solidFill>
                            <a:srgbClr val="333333"/>
                          </a:solidFill>
                          <a:latin typeface="メイリオ"/>
                          <a:ea typeface="メイリオ"/>
                          <a:cs typeface="メイリオ"/>
                        </a:rPr>
                        <a:t>6,288人</a:t>
                      </a:r>
                    </a:p>
                  </a:txBody>
                  <a:tcPr anchor="ctr">
                    <a:solidFill>
                      <a:srgbClr val="FFFFFF"/>
                    </a:solidFill>
                  </a:tcPr>
                </a:tc>
              </a:tr>
              <a:tr h="270000">
                <a:tc>
                  <a:txBody>
                    <a:bodyPr wrap="square" lIns="43200" rIns="43200" tIns="7200" bIns="7200" anchor="ctr"/>
                    <a:lstStyle/>
                    <a:p>
                      <a:pPr algn="l"/>
                      <a:r>
                        <a:rPr sz="950">
                          <a:solidFill>
                            <a:srgbClr val="333333"/>
                          </a:solidFill>
                          <a:latin typeface="メイリオ"/>
                          <a:ea typeface="メイリオ"/>
                          <a:cs typeface="メイリオ"/>
                        </a:rPr>
                        <a:t>整備士の求人・転職｜カンパネル</a:t>
                      </a:r>
                    </a:p>
                  </a:txBody>
                  <a:tcPr anchor="ctr">
                    <a:solidFill>
                      <a:srgbClr val="F4F7FF"/>
                    </a:solidFill>
                  </a:tcPr>
                </a:tc>
                <a:tc>
                  <a:txBody>
                    <a:bodyPr wrap="square" lIns="43200" rIns="43200" tIns="7200" bIns="7200" anchor="ctr"/>
                    <a:lstStyle/>
                    <a:p>
                      <a:pPr algn="l"/>
                      <a:r>
                        <a:rPr sz="950">
                          <a:solidFill>
                            <a:srgbClr val="333333"/>
                          </a:solidFill>
                          <a:latin typeface="メイリオ"/>
                          <a:ea typeface="メイリオ"/>
                          <a:cs typeface="メイリオ"/>
                        </a:rPr>
                        <a:t>整備士特化</a:t>
                      </a:r>
                    </a:p>
                  </a:txBody>
                  <a:tcPr anchor="ctr">
                    <a:solidFill>
                      <a:srgbClr val="F4F7FF"/>
                    </a:solidFill>
                  </a:tcPr>
                </a:tc>
                <a:tc>
                  <a:txBody>
                    <a:bodyPr wrap="square" lIns="43200" rIns="43200" tIns="7200" bIns="7200" anchor="ctr"/>
                    <a:lstStyle/>
                    <a:p>
                      <a:pPr algn="l"/>
                      <a:r>
                        <a:rPr sz="950">
                          <a:solidFill>
                            <a:srgbClr val="333333"/>
                          </a:solidFill>
                          <a:latin typeface="メイリオ"/>
                          <a:ea typeface="メイリオ"/>
                          <a:cs typeface="メイリオ"/>
                        </a:rPr>
                        <a:t>196人</a:t>
                      </a:r>
                    </a:p>
                  </a:txBody>
                  <a:tcPr anchor="ctr">
                    <a:solidFill>
                      <a:srgbClr val="F4F7FF"/>
                    </a:solidFill>
                  </a:tcPr>
                </a:tc>
              </a:tr>
            </a:tbl>
          </a:graphicData>
        </a:graphic>
      </p:graphicFrame>
      <p:sp>
        <p:nvSpPr>
          <p:cNvPr id="6" name="Rounded Rectangle 5"/>
          <p:cNvSpPr/>
          <p:nvPr/>
        </p:nvSpPr>
        <p:spPr>
          <a:xfrm>
            <a:off x="432000" y="3563999"/>
            <a:ext cx="9043200" cy="39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250" b="1">
                <a:solidFill>
                  <a:srgbClr val="FFFFFF"/>
                </a:solidFill>
                <a:latin typeface="メイリオ"/>
                <a:ea typeface="メイリオ"/>
                <a:cs typeface="メイリオ"/>
              </a:rPr>
              <a:t>「整備士 × LINE」はまだ誰も取っていない。総合大手の型を持ち込むだけで先行者になれる。</a:t>
            </a:r>
          </a:p>
        </p:txBody>
      </p:sp>
      <p:sp>
        <p:nvSpPr>
          <p:cNvPr id="7" name="TextBox 6"/>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出典：page.line.me（公式）2026-09-21実測。友だち数は取得日時点の公表値</a:t>
            </a:r>
          </a:p>
        </p:txBody>
      </p:sp>
    </p:spTree>
    <p:extLst>
      <p:ext uri="{BB962C8B-B14F-4D97-AF65-F5344CB8AC3E}">
        <p14:creationId xmlns:p14="http://schemas.microsoft.com/office/powerpoint/2010/main" val="1405796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39" name="Shape 3">
            <a:extLst>
              <a:ext uri="{FF2B5EF4-FFF2-40B4-BE49-F238E27FC236}">
                <a16:creationId xmlns:a16="http://schemas.microsoft.com/office/drawing/2014/main" id="{2C0CE6CF-CF29-4F13-E14D-6FE57E16D201}"/>
              </a:ext>
            </a:extLst>
          </p:cNvPr>
          <p:cNvSpPr/>
          <p:nvPr/>
        </p:nvSpPr>
        <p:spPr>
          <a:xfrm>
            <a:off x="972158" y="178003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Text 4">
            <a:extLst>
              <a:ext uri="{FF2B5EF4-FFF2-40B4-BE49-F238E27FC236}">
                <a16:creationId xmlns:a16="http://schemas.microsoft.com/office/drawing/2014/main" id="{4B15C96A-F0B8-F18C-6254-B162AFC457A6}"/>
              </a:ext>
            </a:extLst>
          </p:cNvPr>
          <p:cNvSpPr txBox="1"/>
          <p:nvPr/>
        </p:nvSpPr>
        <p:spPr>
          <a:xfrm>
            <a:off x="972158" y="178003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3" name="Text 5">
            <a:extLst>
              <a:ext uri="{FF2B5EF4-FFF2-40B4-BE49-F238E27FC236}">
                <a16:creationId xmlns:a16="http://schemas.microsoft.com/office/drawing/2014/main" id="{1AB7025E-6AD2-DE33-BC65-0B02037301DF}"/>
              </a:ext>
            </a:extLst>
          </p:cNvPr>
          <p:cNvSpPr txBox="1"/>
          <p:nvPr/>
        </p:nvSpPr>
        <p:spPr>
          <a:xfrm>
            <a:off x="1539086" y="190718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対象範囲</a:t>
            </a:r>
            <a:endParaRPr lang="en-US" sz="1400" dirty="0">
              <a:latin typeface="メイリオ" panose="020B0604030504040204" pitchFamily="50" charset="-128"/>
              <a:ea typeface="メイリオ" panose="020B0604030504040204" pitchFamily="50" charset="-128"/>
            </a:endParaRPr>
          </a:p>
        </p:txBody>
      </p:sp>
      <p:sp>
        <p:nvSpPr>
          <p:cNvPr id="46" name="Text 6">
            <a:extLst>
              <a:ext uri="{FF2B5EF4-FFF2-40B4-BE49-F238E27FC236}">
                <a16:creationId xmlns:a16="http://schemas.microsoft.com/office/drawing/2014/main" id="{EE17545A-2363-AE72-B300-AAA28328E975}"/>
              </a:ext>
            </a:extLst>
          </p:cNvPr>
          <p:cNvSpPr txBox="1"/>
          <p:nvPr/>
        </p:nvSpPr>
        <p:spPr>
          <a:xfrm>
            <a:off x="3120996" y="1907182"/>
            <a:ext cx="6841609" cy="548643"/>
          </a:xfrm>
          <a:prstGeom prst="rect">
            <a:avLst/>
          </a:prstGeom>
          <a:noFill/>
          <a:ln/>
        </p:spPr>
        <p:txBody>
          <a:bodyPr wrap="square" lIns="0" tIns="0" rIns="0" bIns="0" rtlCol="0" anchor="t"/>
          <a:lstStyle/>
          <a:p>
            <a:pPr marL="0" indent="0">
              <a:lnSpc>
                <a:spcPts val="1700"/>
              </a:lnSpc>
              <a:buNone/>
            </a:pP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LINE公式アカウントにおける</a:t>
            </a:r>
            <a:r>
              <a:rPr lang="en-US" sz="1200" b="1" dirty="0">
                <a:solidFill>
                  <a:srgbClr val="1F2937"/>
                </a:solidFill>
                <a:latin typeface="メイリオ" panose="020B0604030504040204" pitchFamily="50" charset="-128"/>
                <a:ea typeface="メイリオ" panose="020B0604030504040204" pitchFamily="50" charset="-128"/>
                <a:cs typeface="Calibri" pitchFamily="34" charset="-120"/>
              </a:rPr>
              <a:t>「① 友だち追加」「② </a:t>
            </a:r>
            <a:r>
              <a:rPr lang="en-US" sz="1200" b="1" dirty="0" err="1">
                <a:solidFill>
                  <a:srgbClr val="1F2937"/>
                </a:solidFill>
                <a:latin typeface="メイリオ" panose="020B0604030504040204" pitchFamily="50" charset="-128"/>
                <a:ea typeface="メイリオ" panose="020B0604030504040204" pitchFamily="50" charset="-128"/>
                <a:cs typeface="Calibri" pitchFamily="34" charset="-120"/>
              </a:rPr>
              <a:t>配信の効率改善</a:t>
            </a:r>
            <a:r>
              <a:rPr lang="en-US" sz="1200" b="1"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200" b="1" dirty="0">
                <a:solidFill>
                  <a:srgbClr val="1F2937"/>
                </a:solidFill>
                <a:latin typeface="メイリオ" panose="020B0604030504040204" pitchFamily="50" charset="-128"/>
                <a:ea typeface="メイリオ" panose="020B0604030504040204" pitchFamily="50" charset="-128"/>
                <a:cs typeface="Calibri" pitchFamily="34" charset="-120"/>
              </a:rPr>
              <a:t>「③ ユーザー満足度改善」「④ 管理側の業務効率化」の4領域</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を対象に施策を設計。</a:t>
            </a: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48" name="Shape 7">
            <a:extLst>
              <a:ext uri="{FF2B5EF4-FFF2-40B4-BE49-F238E27FC236}">
                <a16:creationId xmlns:a16="http://schemas.microsoft.com/office/drawing/2014/main" id="{821FB137-60FE-5372-085D-B747D9EC59DC}"/>
              </a:ext>
            </a:extLst>
          </p:cNvPr>
          <p:cNvSpPr/>
          <p:nvPr/>
        </p:nvSpPr>
        <p:spPr>
          <a:xfrm>
            <a:off x="641683" y="271272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0" name="Shape 8">
            <a:extLst>
              <a:ext uri="{FF2B5EF4-FFF2-40B4-BE49-F238E27FC236}">
                <a16:creationId xmlns:a16="http://schemas.microsoft.com/office/drawing/2014/main" id="{DC9A3D51-C45E-51F8-860D-57ECD88D6555}"/>
              </a:ext>
            </a:extLst>
          </p:cNvPr>
          <p:cNvSpPr/>
          <p:nvPr/>
        </p:nvSpPr>
        <p:spPr>
          <a:xfrm>
            <a:off x="972158" y="283159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9">
            <a:extLst>
              <a:ext uri="{FF2B5EF4-FFF2-40B4-BE49-F238E27FC236}">
                <a16:creationId xmlns:a16="http://schemas.microsoft.com/office/drawing/2014/main" id="{669B4352-D816-9A0C-A8DD-7BC84307D168}"/>
              </a:ext>
            </a:extLst>
          </p:cNvPr>
          <p:cNvSpPr txBox="1"/>
          <p:nvPr/>
        </p:nvSpPr>
        <p:spPr>
          <a:xfrm>
            <a:off x="972158" y="283159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4" name="Text 10">
            <a:extLst>
              <a:ext uri="{FF2B5EF4-FFF2-40B4-BE49-F238E27FC236}">
                <a16:creationId xmlns:a16="http://schemas.microsoft.com/office/drawing/2014/main" id="{75F48AE9-A6FD-422C-ACDF-7B652462C746}"/>
              </a:ext>
            </a:extLst>
          </p:cNvPr>
          <p:cNvSpPr txBox="1"/>
          <p:nvPr/>
        </p:nvSpPr>
        <p:spPr>
          <a:xfrm>
            <a:off x="1539086" y="295874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想定UU規模</a:t>
            </a:r>
            <a:endParaRPr lang="en-US" sz="1400" dirty="0">
              <a:latin typeface="メイリオ" panose="020B0604030504040204" pitchFamily="50" charset="-128"/>
              <a:ea typeface="メイリオ" panose="020B0604030504040204" pitchFamily="50" charset="-128"/>
            </a:endParaRPr>
          </a:p>
        </p:txBody>
      </p:sp>
      <p:sp>
        <p:nvSpPr>
          <p:cNvPr id="56" name="Text 11">
            <a:extLst>
              <a:ext uri="{FF2B5EF4-FFF2-40B4-BE49-F238E27FC236}">
                <a16:creationId xmlns:a16="http://schemas.microsoft.com/office/drawing/2014/main" id="{61156CBF-D9B3-DD3C-8ACD-8372D9D326A2}"/>
              </a:ext>
            </a:extLst>
          </p:cNvPr>
          <p:cNvSpPr txBox="1"/>
          <p:nvPr/>
        </p:nvSpPr>
        <p:spPr>
          <a:xfrm>
            <a:off x="3120996" y="2958742"/>
            <a:ext cx="6841609" cy="548643"/>
          </a:xfrm>
          <a:prstGeom prst="rect">
            <a:avLst/>
          </a:prstGeom>
          <a:noFill/>
          <a:ln/>
        </p:spPr>
        <p:txBody>
          <a:bodyPr wrap="square" lIns="0" tIns="0" rIns="0" bIns="0" rtlCol="0" anchor="t"/>
          <a:lstStyle/>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友だち数（登録ユーザー数）は</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 </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導入できる 動線の本数、整備の進捗により変動</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数値はこのレンジの中間帯を基準とした試算例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58" name="Shape 12">
            <a:extLst>
              <a:ext uri="{FF2B5EF4-FFF2-40B4-BE49-F238E27FC236}">
                <a16:creationId xmlns:a16="http://schemas.microsoft.com/office/drawing/2014/main" id="{B7E37F63-4443-61AC-C507-6249BCEA8B03}"/>
              </a:ext>
            </a:extLst>
          </p:cNvPr>
          <p:cNvSpPr/>
          <p:nvPr/>
        </p:nvSpPr>
        <p:spPr>
          <a:xfrm>
            <a:off x="641683" y="376428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BC3F4295-B343-9929-79BF-0E90AC24E637}"/>
              </a:ext>
            </a:extLst>
          </p:cNvPr>
          <p:cNvSpPr/>
          <p:nvPr/>
        </p:nvSpPr>
        <p:spPr>
          <a:xfrm>
            <a:off x="972158" y="388315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2" name="Text 14">
            <a:extLst>
              <a:ext uri="{FF2B5EF4-FFF2-40B4-BE49-F238E27FC236}">
                <a16:creationId xmlns:a16="http://schemas.microsoft.com/office/drawing/2014/main" id="{4F7035AD-D7AD-4365-9CE5-C9A141A3387A}"/>
              </a:ext>
            </a:extLst>
          </p:cNvPr>
          <p:cNvSpPr txBox="1"/>
          <p:nvPr/>
        </p:nvSpPr>
        <p:spPr>
          <a:xfrm>
            <a:off x="972158" y="388315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4" name="Text 15">
            <a:extLst>
              <a:ext uri="{FF2B5EF4-FFF2-40B4-BE49-F238E27FC236}">
                <a16:creationId xmlns:a16="http://schemas.microsoft.com/office/drawing/2014/main" id="{86468759-90EC-B496-2A22-F5CEEF26BB6D}"/>
              </a:ext>
            </a:extLst>
          </p:cNvPr>
          <p:cNvSpPr txBox="1"/>
          <p:nvPr/>
        </p:nvSpPr>
        <p:spPr>
          <a:xfrm>
            <a:off x="1539086" y="401030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数値の位置づけ</a:t>
            </a:r>
            <a:endParaRPr lang="en-US" sz="1400" dirty="0">
              <a:latin typeface="メイリオ" panose="020B0604030504040204" pitchFamily="50" charset="-128"/>
              <a:ea typeface="メイリオ" panose="020B0604030504040204" pitchFamily="50" charset="-128"/>
            </a:endParaRPr>
          </a:p>
        </p:txBody>
      </p:sp>
      <p:sp>
        <p:nvSpPr>
          <p:cNvPr id="66" name="Text 16">
            <a:extLst>
              <a:ext uri="{FF2B5EF4-FFF2-40B4-BE49-F238E27FC236}">
                <a16:creationId xmlns:a16="http://schemas.microsoft.com/office/drawing/2014/main" id="{904F2FF7-14A1-F39C-A8CB-E14A07B717DD}"/>
              </a:ext>
            </a:extLst>
          </p:cNvPr>
          <p:cNvSpPr txBox="1"/>
          <p:nvPr/>
        </p:nvSpPr>
        <p:spPr>
          <a:xfrm>
            <a:off x="3120996" y="4010302"/>
            <a:ext cx="6841609" cy="548643"/>
          </a:xfrm>
          <a:prstGeom prst="rect">
            <a:avLst/>
          </a:prstGeom>
          <a:noFill/>
          <a:ln/>
        </p:spPr>
        <p:txBody>
          <a:bodyPr wrap="square" lIns="0" tIns="0" rIns="0" bIns="0" rtlCol="0" anchor="t"/>
          <a:lstStyle/>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開封率・クリック率・CVR・獲得件数は、業界一般値</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・弊社実績に基づく数値</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実際の実装可能領域</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で</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によって変動する為、すり合わせの上で</a:t>
            </a: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精緻化する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68" name="Shape 17">
            <a:extLst>
              <a:ext uri="{FF2B5EF4-FFF2-40B4-BE49-F238E27FC236}">
                <a16:creationId xmlns:a16="http://schemas.microsoft.com/office/drawing/2014/main" id="{D7D046F7-16D5-8951-536B-10884484DE02}"/>
              </a:ext>
            </a:extLst>
          </p:cNvPr>
          <p:cNvSpPr/>
          <p:nvPr/>
        </p:nvSpPr>
        <p:spPr>
          <a:xfrm>
            <a:off x="641683" y="481584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Shape 18">
            <a:extLst>
              <a:ext uri="{FF2B5EF4-FFF2-40B4-BE49-F238E27FC236}">
                <a16:creationId xmlns:a16="http://schemas.microsoft.com/office/drawing/2014/main" id="{0D1FC647-1BC2-58C5-04C4-BE8B359A6F8D}"/>
              </a:ext>
            </a:extLst>
          </p:cNvPr>
          <p:cNvSpPr/>
          <p:nvPr/>
        </p:nvSpPr>
        <p:spPr>
          <a:xfrm>
            <a:off x="972158" y="493471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Text 19">
            <a:extLst>
              <a:ext uri="{FF2B5EF4-FFF2-40B4-BE49-F238E27FC236}">
                <a16:creationId xmlns:a16="http://schemas.microsoft.com/office/drawing/2014/main" id="{C7DA095C-5CED-C617-CCA7-2F5D20F16832}"/>
              </a:ext>
            </a:extLst>
          </p:cNvPr>
          <p:cNvSpPr txBox="1"/>
          <p:nvPr/>
        </p:nvSpPr>
        <p:spPr>
          <a:xfrm>
            <a:off x="972158" y="493471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74" name="Text 20">
            <a:extLst>
              <a:ext uri="{FF2B5EF4-FFF2-40B4-BE49-F238E27FC236}">
                <a16:creationId xmlns:a16="http://schemas.microsoft.com/office/drawing/2014/main" id="{4C2E6E88-6123-B50A-ED01-1E64CDAD3404}"/>
              </a:ext>
            </a:extLst>
          </p:cNvPr>
          <p:cNvSpPr txBox="1"/>
          <p:nvPr/>
        </p:nvSpPr>
        <p:spPr>
          <a:xfrm>
            <a:off x="1539086" y="506186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費用について</a:t>
            </a:r>
            <a:endParaRPr lang="en-US" sz="1400" dirty="0">
              <a:latin typeface="メイリオ" panose="020B0604030504040204" pitchFamily="50" charset="-128"/>
              <a:ea typeface="メイリオ" panose="020B0604030504040204" pitchFamily="50" charset="-128"/>
            </a:endParaRPr>
          </a:p>
        </p:txBody>
      </p:sp>
      <p:sp>
        <p:nvSpPr>
          <p:cNvPr id="76" name="Text 21">
            <a:extLst>
              <a:ext uri="{FF2B5EF4-FFF2-40B4-BE49-F238E27FC236}">
                <a16:creationId xmlns:a16="http://schemas.microsoft.com/office/drawing/2014/main" id="{F5F82988-82B4-B2FE-6595-2DA583169883}"/>
              </a:ext>
            </a:extLst>
          </p:cNvPr>
          <p:cNvSpPr txBox="1"/>
          <p:nvPr/>
        </p:nvSpPr>
        <p:spPr>
          <a:xfrm>
            <a:off x="3120996" y="5061862"/>
            <a:ext cx="6841609" cy="548643"/>
          </a:xfrm>
          <a:prstGeom prst="rect">
            <a:avLst/>
          </a:prstGeom>
          <a:noFill/>
          <a:ln/>
        </p:spPr>
        <p:txBody>
          <a:bodyPr wrap="square" lIns="0" tIns="0" rIns="0" bIns="0" rtlCol="0" anchor="t"/>
          <a:lstStyle/>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本資料</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内</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で</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記載の</a:t>
            </a:r>
            <a:r>
              <a:rPr lang="en-US" sz="1200" b="1" dirty="0" err="1">
                <a:solidFill>
                  <a:srgbClr val="1F2937"/>
                </a:solidFill>
                <a:latin typeface="メイリオ" panose="020B0604030504040204" pitchFamily="50" charset="-128"/>
                <a:ea typeface="メイリオ" panose="020B0604030504040204" pitchFamily="50" charset="-128"/>
                <a:cs typeface="Calibri" pitchFamily="34" charset="-120"/>
              </a:rPr>
              <a:t>費用（初期費用・月額費用）は</a:t>
            </a:r>
            <a:r>
              <a:rPr lang="ja-JP" altLang="en-US" sz="1200" b="1" dirty="0">
                <a:solidFill>
                  <a:srgbClr val="1F2937"/>
                </a:solidFill>
                <a:latin typeface="メイリオ" panose="020B0604030504040204" pitchFamily="50" charset="-128"/>
                <a:ea typeface="メイリオ" panose="020B0604030504040204" pitchFamily="50" charset="-128"/>
                <a:cs typeface="Calibri" pitchFamily="34" charset="-120"/>
              </a:rPr>
              <a:t>前提参考値</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施策範囲の合意後、別途お見積りをご案内</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施策切り出しでのご依頼、複数機能の導入によるディスカウント等の調整もご相談ください。</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8554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1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1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420235" cy="1051560"/>
          </a:xfrm>
          <a:prstGeom prst="rect">
            <a:avLst/>
          </a:prstGeom>
          <a:noFill/>
          <a:ln/>
        </p:spPr>
        <p:txBody>
          <a:bodyPr wrap="square" lIns="0" tIns="0" rIns="0" bIns="0" rtlCol="0" anchor="t"/>
          <a:lstStyle/>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訴求とセットでLINE友だち登録へ誘導する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1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1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登録後の自動ステップ配信と、セグメント別の</a:t>
            </a: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企画配信で、開封〜CVまでの導線を最適化する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1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1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a:t>
            </a: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個別チャット対応でユーザー体験を向上させる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1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1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自動応答の仕組み化や運用フローの整備により、管理側の対応工数を削減する。</a:t>
            </a:r>
            <a:endParaRPr lang="en-US" sz="12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では基本的に①②の施策を中心に展開をさせていただきながら、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なし </a:t>
            </a:r>
            <a:r>
              <a:rPr lang="en-US" altLang="ja-JP" sz="1000" dirty="0">
                <a:solidFill>
                  <a:srgbClr val="FFFFFF"/>
                </a:solidFill>
                <a:latin typeface="メイリオ" panose="020B0604030504040204" pitchFamily="50" charset="-128"/>
                <a:ea typeface="メイリオ" panose="020B0604030504040204" pitchFamily="50" charset="-128"/>
              </a:rPr>
              <a:t>※OAM</a:t>
            </a:r>
            <a:r>
              <a:rPr lang="ja-JP" altLang="en-US" sz="1000" dirty="0">
                <a:solidFill>
                  <a:srgbClr val="FFFFFF"/>
                </a:solidFill>
                <a:latin typeface="メイリオ" panose="020B0604030504040204" pitchFamily="50" charset="-128"/>
                <a:ea typeface="メイリオ" panose="020B0604030504040204" pitchFamily="50" charset="-128"/>
              </a:rPr>
              <a:t>にて運用する</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あり</a:t>
            </a:r>
            <a:r>
              <a:rPr lang="ja-JP" altLang="en-US" sz="1400" dirty="0">
                <a:solidFill>
                  <a:srgbClr val="FFFFFF"/>
                </a:solidFill>
                <a:latin typeface="メイリオ" panose="020B0604030504040204" pitchFamily="50" charset="-128"/>
                <a:ea typeface="メイリオ" panose="020B0604030504040204" pitchFamily="50" charset="-128"/>
              </a:rPr>
              <a:t> </a:t>
            </a:r>
            <a:r>
              <a:rPr lang="en-US" altLang="ja-JP" sz="1100" dirty="0">
                <a:solidFill>
                  <a:srgbClr val="FFFFFF"/>
                </a:solidFill>
                <a:latin typeface="メイリオ" panose="020B0604030504040204" pitchFamily="50" charset="-128"/>
                <a:ea typeface="メイリオ" panose="020B0604030504040204" pitchFamily="50" charset="-128"/>
              </a:rPr>
              <a:t>※</a:t>
            </a:r>
            <a:r>
              <a:rPr lang="en-US" altLang="ja-JP" sz="1100" dirty="0" err="1">
                <a:solidFill>
                  <a:srgbClr val="FFFFFF"/>
                </a:solidFill>
                <a:latin typeface="メイリオ" panose="020B0604030504040204" pitchFamily="50" charset="-128"/>
                <a:ea typeface="メイリオ" panose="020B0604030504040204" pitchFamily="50" charset="-128"/>
              </a:rPr>
              <a:t>Lstep</a:t>
            </a:r>
            <a:r>
              <a:rPr lang="ja-JP" altLang="en-US" sz="1100" dirty="0">
                <a:solidFill>
                  <a:srgbClr val="FFFFFF"/>
                </a:solidFill>
                <a:latin typeface="メイリオ" panose="020B0604030504040204" pitchFamily="50" charset="-128"/>
                <a:ea typeface="メイリオ" panose="020B0604030504040204" pitchFamily="50" charset="-128"/>
              </a:rPr>
              <a:t>など汎用的なもの</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812800"/>
          </a:xfrm>
          <a:prstGeom prst="rect">
            <a:avLst/>
          </a:prstGeom>
          <a:solidFill>
            <a:srgbClr val="F0F2F7"/>
          </a:solidFill>
          <a:ln>
            <a:noFill/>
          </a:ln>
        </p:spPr>
        <p:txBody>
          <a:bodyPr wrap="square" lIns="177800" tIns="127000" rIns="177800" bIns="1270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2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200" dirty="0">
                <a:solidFill>
                  <a:srgbClr val="333333"/>
                </a:solidFill>
                <a:latin typeface="メイリオ" panose="020B0604030504040204" pitchFamily="50" charset="-128"/>
                <a:ea typeface="メイリオ" panose="020B0604030504040204" pitchFamily="50" charset="-128"/>
              </a:rPr>
              <a:t>。詳細なセグメント設定</a:t>
            </a:r>
            <a:r>
              <a:rPr lang="ja-JP" sz="1200" dirty="0">
                <a:solidFill>
                  <a:srgbClr val="333333"/>
                </a:solidFill>
                <a:latin typeface="メイリオ" panose="020B0604030504040204" pitchFamily="50" charset="-128"/>
                <a:ea typeface="メイリオ" panose="020B0604030504040204" pitchFamily="50" charset="-128"/>
              </a:rPr>
              <a:t>を左右する</a:t>
            </a:r>
            <a:r>
              <a:rPr lang="ja-JP" altLang="en-US" sz="1200" dirty="0">
                <a:solidFill>
                  <a:srgbClr val="333333"/>
                </a:solidFill>
                <a:latin typeface="メイリオ" panose="020B0604030504040204" pitchFamily="50" charset="-128"/>
                <a:ea typeface="メイリオ" panose="020B0604030504040204" pitchFamily="50" charset="-128"/>
              </a:rPr>
              <a:t>。</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2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ユーザーアンケートを活用して、利用ステータスやユーザー情報の回収→配信に活用といったフローを踏みたいところ。</a:t>
            </a: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2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2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2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2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2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2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200" b="1" dirty="0">
                <a:solidFill>
                  <a:srgbClr val="00B050"/>
                </a:solidFill>
                <a:latin typeface="メイリオ" panose="020B0604030504040204" pitchFamily="50" charset="-128"/>
                <a:ea typeface="メイリオ" panose="020B0604030504040204" pitchFamily="50" charset="-128"/>
              </a:rPr>
              <a:t>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2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200" dirty="0">
                <a:solidFill>
                  <a:srgbClr val="333333"/>
                </a:solidFill>
                <a:latin typeface="メイリオ" panose="020B0604030504040204" pitchFamily="50" charset="-128"/>
                <a:ea typeface="メイリオ" panose="020B0604030504040204" pitchFamily="50" charset="-128"/>
              </a:rPr>
              <a:t>現状LINEとAPI連携ができておらず、データ活用が限定的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200" b="1" dirty="0">
                <a:solidFill>
                  <a:srgbClr val="00B050"/>
                </a:solidFill>
                <a:latin typeface="メイリオ" panose="020B0604030504040204" pitchFamily="50" charset="-128"/>
                <a:ea typeface="メイリオ" panose="020B0604030504040204" pitchFamily="50" charset="-128"/>
              </a:rPr>
              <a:t>デメリット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507335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50AF59C-8025-B190-6ED3-B311D27BA69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業界平均値</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b="1"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 </a:t>
            </a:r>
            <a:r>
              <a:rPr lang="en-US" altLang="ja-JP" sz="1000" dirty="0">
                <a:solidFill>
                  <a:srgbClr val="FF0000"/>
                </a:solidFill>
                <a:highlight>
                  <a:srgbClr val="FFFF00"/>
                </a:highlight>
                <a:latin typeface="メイリオ" panose="020B0604030504040204" pitchFamily="50" charset="-128"/>
                <a:ea typeface="メイリオ" panose="020B0604030504040204" pitchFamily="50" charset="-128"/>
              </a:rPr>
              <a:t>※CVR</a:t>
            </a:r>
            <a:r>
              <a:rPr lang="ja-JP" altLang="en-US" sz="1000" dirty="0">
                <a:solidFill>
                  <a:srgbClr val="FF0000"/>
                </a:solidFill>
                <a:highlight>
                  <a:srgbClr val="FFFF00"/>
                </a:highlight>
                <a:latin typeface="メイリオ" panose="020B0604030504040204" pitchFamily="50" charset="-128"/>
                <a:ea typeface="メイリオ" panose="020B0604030504040204" pitchFamily="50" charset="-128"/>
              </a:rPr>
              <a:t>ではない</a:t>
            </a:r>
            <a:endParaRPr kumimoji="1" lang="ja-JP" altLang="en-US" sz="1000" dirty="0">
              <a:solidFill>
                <a:srgbClr val="FF0000"/>
              </a:solidFill>
              <a:highlight>
                <a:srgbClr val="FFFF00"/>
              </a:highlight>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795459" y="230210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781456" y="3247026"/>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82CD4DCC-2C80-6383-8368-FB0A87EC66CA}"/>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公式</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の友だち追加ユーザーが成果地点（</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 </a:t>
            </a:r>
            <a:r>
              <a:rPr lang="en-US" altLang="ja-JP" sz="800" b="1" dirty="0">
                <a:solidFill>
                  <a:srgbClr val="FF0000"/>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業界業態・地点により変動   </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に到達する割合は</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通算で３</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前後と言われており、</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動線を最適化することはマーケティングにおける重要度が高い。</a:t>
            </a:r>
            <a:endParaRPr lang="en-US" altLang="ja-JP" sz="1400" b="1" dirty="0">
              <a:solidFill>
                <a:srgbClr val="FF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51825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また、職種・年収コンテンツの展開でサービス理解度を引き上げ、来店意欲</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を狙う。</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6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①離脱ユーザーの再学習による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②応募に至らない検討ユーザーの面談化 → 就業サポート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想定の費用対効果</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Meta広告の目的を「応募獲得」から「友だち獲得」へ切り替える（広告費は据え置き）。</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3798144" cy="201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00" y="1710000"/>
            <a:ext cx="3510143" cy="216000"/>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費用（税抜）</a:t>
            </a:r>
          </a:p>
        </p:txBody>
      </p:sp>
      <p:sp>
        <p:nvSpPr>
          <p:cNvPr id="7" name="TextBox 6"/>
          <p:cNvSpPr txBox="1"/>
          <p:nvPr/>
        </p:nvSpPr>
        <p:spPr>
          <a:xfrm>
            <a:off x="576000" y="1961999"/>
            <a:ext cx="3510143" cy="1584000"/>
          </a:xfrm>
          <a:prstGeom prst="rect">
            <a:avLst/>
          </a:prstGeom>
          <a:noFill/>
        </p:spPr>
        <p:txBody>
          <a:bodyPr wrap="square" lIns="50400" rIns="50400" tIns="21600" bIns="21600" anchor="t">
            <a:spAutoFit/>
          </a:bodyPr>
          <a:lstStyle/>
          <a:p>
            <a:pPr algn="l">
              <a:spcAft>
                <a:spcPts val="200"/>
              </a:spcAft>
            </a:pPr>
            <a:r>
              <a:rPr sz="1100" b="1">
                <a:solidFill>
                  <a:srgbClr val="333333"/>
                </a:solidFill>
                <a:latin typeface="メイリオ"/>
                <a:ea typeface="メイリオ"/>
                <a:cs typeface="メイリオ"/>
              </a:rPr>
              <a:t>初期　</a:t>
            </a:r>
            <a:r>
              <a:rPr sz="1600" b="1">
                <a:solidFill>
                  <a:srgbClr val="ED7D31"/>
                </a:solidFill>
                <a:latin typeface="メイリオ"/>
                <a:ea typeface="メイリオ"/>
                <a:cs typeface="メイリオ"/>
              </a:rPr>
              <a:t>24.5万円</a:t>
            </a:r>
          </a:p>
          <a:p>
            <a:pPr algn="l">
              <a:spcAft>
                <a:spcPts val="800"/>
              </a:spcAft>
            </a:pPr>
            <a:r>
              <a:rPr sz="900">
                <a:solidFill>
                  <a:srgbClr val="7F7F7F"/>
                </a:solidFill>
                <a:latin typeface="メイリオ"/>
                <a:ea typeface="メイリオ"/>
                <a:cs typeface="メイリオ"/>
              </a:rPr>
              <a:t>　構築20万＋離脱防止1.5万＋アカウント3万</a:t>
            </a:r>
          </a:p>
          <a:p>
            <a:pPr algn="l">
              <a:spcAft>
                <a:spcPts val="200"/>
              </a:spcAft>
            </a:pPr>
            <a:r>
              <a:rPr sz="1100" b="1">
                <a:solidFill>
                  <a:srgbClr val="333333"/>
                </a:solidFill>
                <a:latin typeface="メイリオ"/>
                <a:ea typeface="メイリオ"/>
                <a:cs typeface="メイリオ"/>
              </a:rPr>
              <a:t>月次　</a:t>
            </a:r>
            <a:r>
              <a:rPr sz="1600" b="1">
                <a:solidFill>
                  <a:srgbClr val="ED7D31"/>
                </a:solidFill>
                <a:latin typeface="メイリオ"/>
                <a:ea typeface="メイリオ"/>
                <a:cs typeface="メイリオ"/>
              </a:rPr>
              <a:t>10.5万円</a:t>
            </a:r>
          </a:p>
          <a:p>
            <a:pPr algn="l">
              <a:spcAft>
                <a:spcPts val="800"/>
              </a:spcAft>
            </a:pPr>
            <a:r>
              <a:rPr sz="900">
                <a:solidFill>
                  <a:srgbClr val="7F7F7F"/>
                </a:solidFill>
                <a:latin typeface="メイリオ"/>
                <a:ea typeface="メイリオ"/>
                <a:cs typeface="メイリオ"/>
              </a:rPr>
              <a:t>　コンサル7万＋離脱防止3万＋アカウント費5千</a:t>
            </a:r>
          </a:p>
          <a:p>
            <a:pPr algn="l">
              <a:spcAft>
                <a:spcPts val="200"/>
              </a:spcAft>
            </a:pPr>
            <a:r>
              <a:rPr sz="1100" b="1">
                <a:solidFill>
                  <a:srgbClr val="333333"/>
                </a:solidFill>
                <a:latin typeface="メイリオ"/>
                <a:ea typeface="メイリオ"/>
                <a:cs typeface="メイリオ"/>
              </a:rPr>
              <a:t>CPF広告費　</a:t>
            </a:r>
            <a:r>
              <a:rPr sz="1300" b="1">
                <a:solidFill>
                  <a:srgbClr val="333333"/>
                </a:solidFill>
                <a:latin typeface="メイリオ"/>
                <a:ea typeface="メイリオ"/>
                <a:cs typeface="メイリオ"/>
              </a:rPr>
              <a:t>月20.8万円</a:t>
            </a:r>
          </a:p>
          <a:p>
            <a:pPr algn="l"/>
            <a:r>
              <a:rPr sz="900">
                <a:solidFill>
                  <a:srgbClr val="7F7F7F"/>
                </a:solidFill>
                <a:latin typeface="メイリオ"/>
                <a:ea typeface="メイリオ"/>
                <a:cs typeface="メイリオ"/>
              </a:rPr>
              <a:t>　既存Meta予算（年250万）の転用＝追加出費ゼロ</a:t>
            </a:r>
          </a:p>
        </p:txBody>
      </p:sp>
      <p:sp>
        <p:nvSpPr>
          <p:cNvPr id="8" name="Rounded Rectangle 7"/>
          <p:cNvSpPr/>
          <p:nvPr/>
        </p:nvSpPr>
        <p:spPr>
          <a:xfrm>
            <a:off x="4374144" y="1620000"/>
            <a:ext cx="5101056" cy="201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8144" y="1710000"/>
            <a:ext cx="4813056" cy="216000"/>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効果（6ヶ月・シミュレーション）</a:t>
            </a:r>
          </a:p>
        </p:txBody>
      </p:sp>
      <p:sp>
        <p:nvSpPr>
          <p:cNvPr id="10" name="TextBox 9"/>
          <p:cNvSpPr txBox="1"/>
          <p:nvPr/>
        </p:nvSpPr>
        <p:spPr>
          <a:xfrm>
            <a:off x="4518144" y="2015999"/>
            <a:ext cx="2334528" cy="216000"/>
          </a:xfrm>
          <a:prstGeom prst="rect">
            <a:avLst/>
          </a:prstGeom>
          <a:noFill/>
        </p:spPr>
        <p:txBody>
          <a:bodyPr wrap="square" lIns="50400" rIns="50400" tIns="21600" bIns="21600" anchor="ctr">
            <a:spAutoFit/>
          </a:bodyPr>
          <a:lstStyle/>
          <a:p>
            <a:pPr algn="ctr"/>
            <a:r>
              <a:rPr sz="1050" b="1">
                <a:solidFill>
                  <a:srgbClr val="333333"/>
                </a:solidFill>
                <a:latin typeface="メイリオ"/>
                <a:ea typeface="メイリオ"/>
                <a:cs typeface="メイリオ"/>
              </a:rPr>
              <a:t>面談・応募</a:t>
            </a:r>
          </a:p>
        </p:txBody>
      </p:sp>
      <p:sp>
        <p:nvSpPr>
          <p:cNvPr id="11" name="TextBox 10"/>
          <p:cNvSpPr txBox="1"/>
          <p:nvPr/>
        </p:nvSpPr>
        <p:spPr>
          <a:xfrm>
            <a:off x="4518144" y="2231999"/>
            <a:ext cx="2334528" cy="468000"/>
          </a:xfrm>
          <a:prstGeom prst="rect">
            <a:avLst/>
          </a:prstGeom>
          <a:noFill/>
        </p:spPr>
        <p:txBody>
          <a:bodyPr wrap="square" lIns="50400" rIns="50400" tIns="21600" bIns="21600" anchor="ctr">
            <a:spAutoFit/>
          </a:bodyPr>
          <a:lstStyle/>
          <a:p>
            <a:pPr algn="ctr"/>
            <a:r>
              <a:rPr sz="3000" b="1">
                <a:solidFill>
                  <a:srgbClr val="ED7D31"/>
                </a:solidFill>
                <a:latin typeface="メイリオ"/>
                <a:ea typeface="メイリオ"/>
                <a:cs typeface="メイリオ"/>
              </a:rPr>
              <a:t>196件</a:t>
            </a:r>
          </a:p>
        </p:txBody>
      </p:sp>
      <p:sp>
        <p:nvSpPr>
          <p:cNvPr id="12" name="TextBox 11"/>
          <p:cNvSpPr txBox="1"/>
          <p:nvPr/>
        </p:nvSpPr>
        <p:spPr>
          <a:xfrm>
            <a:off x="6996671" y="2015999"/>
            <a:ext cx="2334528" cy="216000"/>
          </a:xfrm>
          <a:prstGeom prst="rect">
            <a:avLst/>
          </a:prstGeom>
          <a:noFill/>
        </p:spPr>
        <p:txBody>
          <a:bodyPr wrap="square" lIns="50400" rIns="50400" tIns="21600" bIns="21600" anchor="ctr">
            <a:spAutoFit/>
          </a:bodyPr>
          <a:lstStyle/>
          <a:p>
            <a:pPr algn="ctr"/>
            <a:r>
              <a:rPr sz="1050" b="1">
                <a:solidFill>
                  <a:srgbClr val="333333"/>
                </a:solidFill>
                <a:latin typeface="メイリオ"/>
                <a:ea typeface="メイリオ"/>
                <a:cs typeface="メイリオ"/>
              </a:rPr>
              <a:t>獲得単価（累計CPA）</a:t>
            </a:r>
          </a:p>
        </p:txBody>
      </p:sp>
      <p:sp>
        <p:nvSpPr>
          <p:cNvPr id="13" name="TextBox 12"/>
          <p:cNvSpPr txBox="1"/>
          <p:nvPr/>
        </p:nvSpPr>
        <p:spPr>
          <a:xfrm>
            <a:off x="6996671" y="2231999"/>
            <a:ext cx="2334528" cy="468000"/>
          </a:xfrm>
          <a:prstGeom prst="rect">
            <a:avLst/>
          </a:prstGeom>
          <a:noFill/>
        </p:spPr>
        <p:txBody>
          <a:bodyPr wrap="square" lIns="50400" rIns="50400" tIns="21600" bIns="21600" anchor="ctr">
            <a:spAutoFit/>
          </a:bodyPr>
          <a:lstStyle/>
          <a:p>
            <a:pPr algn="ctr"/>
            <a:r>
              <a:rPr sz="2600" b="1">
                <a:solidFill>
                  <a:srgbClr val="ED7D31"/>
                </a:solidFill>
                <a:latin typeface="メイリオ"/>
                <a:ea typeface="メイリオ"/>
                <a:cs typeface="メイリオ"/>
              </a:rPr>
              <a:t>11,036円</a:t>
            </a:r>
          </a:p>
        </p:txBody>
      </p:sp>
      <p:sp>
        <p:nvSpPr>
          <p:cNvPr id="14" name="TextBox 13"/>
          <p:cNvSpPr txBox="1"/>
          <p:nvPr/>
        </p:nvSpPr>
        <p:spPr>
          <a:xfrm>
            <a:off x="4518144" y="2808000"/>
            <a:ext cx="4813056" cy="756000"/>
          </a:xfrm>
          <a:prstGeom prst="rect">
            <a:avLst/>
          </a:prstGeom>
          <a:noFill/>
        </p:spPr>
        <p:txBody>
          <a:bodyPr wrap="square" lIns="50400" rIns="50400" tIns="21600" bIns="21600" anchor="t">
            <a:spAutoFit/>
          </a:bodyPr>
          <a:lstStyle/>
          <a:p>
            <a:pPr algn="l">
              <a:lnSpc>
                <a:spcPct val="130000"/>
              </a:lnSpc>
              <a:spcAft>
                <a:spcPts val="300"/>
              </a:spcAft>
            </a:pPr>
            <a:r>
              <a:rPr sz="1050" b="1">
                <a:solidFill>
                  <a:srgbClr val="333333"/>
                </a:solidFill>
                <a:latin typeface="メイリオ"/>
                <a:ea typeface="メイリオ"/>
                <a:cs typeface="メイリオ"/>
              </a:rPr>
              <a:t>現状の整備士CPA 6万円・目標2〜2.5万円に対し、大幅に下回る水準。</a:t>
            </a:r>
          </a:p>
          <a:p>
            <a:pPr algn="l">
              <a:lnSpc>
                <a:spcPct val="130000"/>
              </a:lnSpc>
              <a:spcAft>
                <a:spcPts val="300"/>
              </a:spcAft>
            </a:pPr>
            <a:r>
              <a:rPr sz="950">
                <a:solidFill>
                  <a:srgbClr val="333333"/>
                </a:solidFill>
                <a:latin typeface="メイリオ"/>
                <a:ea typeface="メイリオ"/>
                <a:cs typeface="メイリオ"/>
              </a:rPr>
              <a:t>6ヶ月目の単月CPAは8,730円まで低下（友だち資産の積み上がりによる）。</a:t>
            </a:r>
          </a:p>
          <a:p>
            <a:pPr algn="l">
              <a:lnSpc>
                <a:spcPct val="130000"/>
              </a:lnSpc>
            </a:pPr>
            <a:r>
              <a:rPr sz="850">
                <a:solidFill>
                  <a:srgbClr val="7F7F7F"/>
                </a:solidFill>
                <a:latin typeface="メイリオ"/>
                <a:ea typeface="メイリオ"/>
                <a:cs typeface="メイリオ"/>
              </a:rPr>
              <a:t>参考：CPFを使わない場合＝6ヶ月42件・累計CPA 20,833円</a:t>
            </a:r>
          </a:p>
        </p:txBody>
      </p:sp>
      <p:sp>
        <p:nvSpPr>
          <p:cNvPr id="15" name="TextBox 14"/>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SIM①（CPFあり・コンサル運営）より。前提：UU3,215（SimilarWeb推計）・CPF単価280円ほか仮置き値を含む。実績値をいただき次第、再試算</a:t>
            </a:r>
          </a:p>
        </p:txBody>
      </p:sp>
    </p:spTree>
    <p:extLst>
      <p:ext uri="{BB962C8B-B14F-4D97-AF65-F5344CB8AC3E}">
        <p14:creationId xmlns:p14="http://schemas.microsoft.com/office/powerpoint/2010/main" val="2658526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72401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実施施策【14日間ステップ配信】</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友だち追加後14日間で、診断結果をもとに内容を出し分けながら面談へご案内する。</a:t>
            </a:r>
          </a:p>
          <a:p>
            <a:pPr algn="l">
              <a:lnSpc>
                <a:spcPct val="128000"/>
              </a:lnSpc>
            </a:pPr>
            <a:r>
              <a:rPr sz="1200">
                <a:solidFill>
                  <a:srgbClr val="333333"/>
                </a:solidFill>
                <a:latin typeface="メイリオ"/>
                <a:ea typeface="メイリオ"/>
                <a:cs typeface="メイリオ"/>
              </a:rPr>
              <a:t>売り込みは14日間で2回だけ。残りは「不安に先回りして答える」情報配信。</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179800" cy="251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ctr"/>
            <a:r>
              <a:rPr sz="950" b="1">
                <a:solidFill>
                  <a:srgbClr val="FFFFFF"/>
                </a:solidFill>
                <a:latin typeface="メイリオ"/>
                <a:ea typeface="メイリオ"/>
                <a:cs typeface="メイリオ"/>
              </a:rPr>
              <a:t>Day 0｜あいさつ＋30秒診断</a:t>
            </a:r>
          </a:p>
        </p:txBody>
      </p:sp>
      <p:sp>
        <p:nvSpPr>
          <p:cNvPr id="6" name="Rounded Rectangle 5"/>
          <p:cNvSpPr/>
          <p:nvPr/>
        </p:nvSpPr>
        <p:spPr>
          <a:xfrm>
            <a:off x="432000" y="1908000"/>
            <a:ext cx="21798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9200" rIns="64800" tIns="50400" bIns="36000"/>
          <a:lstStyle/>
          <a:p>
            <a:pPr algn="l">
              <a:spcAft>
                <a:spcPts val="300"/>
              </a:spcAft>
            </a:pPr>
            <a:r>
              <a:rPr sz="100" b="1">
                <a:solidFill>
                  <a:srgbClr val="1F285A"/>
                </a:solidFill>
                <a:latin typeface="メイリオ"/>
                <a:ea typeface="メイリオ"/>
                <a:cs typeface="メイリオ"/>
              </a:rPr>
              <a:t/>
            </a:r>
          </a:p>
          <a:p>
            <a:pPr algn="l">
              <a:lnSpc>
                <a:spcPct val="135000"/>
              </a:lnSpc>
              <a:spcAft>
                <a:spcPts val="100"/>
              </a:spcAft>
            </a:pPr>
            <a:r>
              <a:rPr sz="900">
                <a:solidFill>
                  <a:srgbClr val="333333"/>
                </a:solidFill>
                <a:latin typeface="メイリオ"/>
                <a:ea typeface="メイリオ"/>
                <a:cs typeface="メイリオ"/>
              </a:rPr>
              <a:t>「こちらから電話をかけることは</a:t>
            </a:r>
          </a:p>
          <a:p>
            <a:pPr algn="l">
              <a:lnSpc>
                <a:spcPct val="135000"/>
              </a:lnSpc>
              <a:spcAft>
                <a:spcPts val="100"/>
              </a:spcAft>
            </a:pPr>
            <a:r>
              <a:rPr sz="900">
                <a:solidFill>
                  <a:srgbClr val="333333"/>
                </a:solidFill>
                <a:latin typeface="メイリオ"/>
                <a:ea typeface="メイリオ"/>
                <a:cs typeface="メイリオ"/>
              </a:rPr>
              <a:t>ありません」を明言。</a:t>
            </a:r>
          </a:p>
          <a:p>
            <a:pPr algn="l">
              <a:lnSpc>
                <a:spcPct val="135000"/>
              </a:lnSpc>
              <a:spcAft>
                <a:spcPts val="100"/>
              </a:spcAft>
            </a:pPr>
            <a:r>
              <a:rPr sz="900">
                <a:solidFill>
                  <a:srgbClr val="333333"/>
                </a:solidFill>
                <a:latin typeface="メイリオ"/>
                <a:ea typeface="メイリオ"/>
                <a:cs typeface="メイリオ"/>
              </a:rPr>
              <a:t>職種・資格・温度感を4問で取得</a:t>
            </a:r>
          </a:p>
        </p:txBody>
      </p:sp>
      <p:sp>
        <p:nvSpPr>
          <p:cNvPr id="7" name="TextBox 6"/>
          <p:cNvSpPr txBox="1"/>
          <p:nvPr/>
        </p:nvSpPr>
        <p:spPr>
          <a:xfrm>
            <a:off x="2619000" y="2196000"/>
            <a:ext cx="108000" cy="288000"/>
          </a:xfrm>
          <a:prstGeom prst="rect">
            <a:avLst/>
          </a:prstGeom>
          <a:noFill/>
        </p:spPr>
        <p:txBody>
          <a:bodyPr wrap="square" lIns="50400" rIns="50400" tIns="21600" bIns="21600" anchor="ctr">
            <a:spAutoFit/>
          </a:bodyPr>
          <a:lstStyle/>
          <a:p>
            <a:pPr algn="ctr"/>
            <a:r>
              <a:rPr sz="1100" b="1">
                <a:solidFill>
                  <a:srgbClr val="7F7F7F"/>
                </a:solidFill>
                <a:latin typeface="メイリオ"/>
                <a:ea typeface="メイリオ"/>
                <a:cs typeface="メイリオ"/>
              </a:rPr>
              <a:t>→</a:t>
            </a:r>
          </a:p>
        </p:txBody>
      </p:sp>
      <p:sp>
        <p:nvSpPr>
          <p:cNvPr id="8" name="Rounded Rectangle 7"/>
          <p:cNvSpPr/>
          <p:nvPr/>
        </p:nvSpPr>
        <p:spPr>
          <a:xfrm>
            <a:off x="2719800" y="1620000"/>
            <a:ext cx="2179800" cy="251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ctr"/>
            <a:r>
              <a:rPr sz="950" b="1">
                <a:solidFill>
                  <a:srgbClr val="FFFFFF"/>
                </a:solidFill>
                <a:latin typeface="メイリオ"/>
                <a:ea typeface="メイリオ"/>
                <a:cs typeface="メイリオ"/>
              </a:rPr>
              <a:t>Day 3｜年収相場コンテンツ</a:t>
            </a:r>
          </a:p>
        </p:txBody>
      </p:sp>
      <p:sp>
        <p:nvSpPr>
          <p:cNvPr id="9" name="Rounded Rectangle 8"/>
          <p:cNvSpPr/>
          <p:nvPr/>
        </p:nvSpPr>
        <p:spPr>
          <a:xfrm>
            <a:off x="2719800" y="1908000"/>
            <a:ext cx="21798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9200" rIns="64800" tIns="50400" bIns="36000"/>
          <a:lstStyle/>
          <a:p>
            <a:pPr algn="l">
              <a:spcAft>
                <a:spcPts val="300"/>
              </a:spcAft>
            </a:pPr>
            <a:r>
              <a:rPr sz="100" b="1">
                <a:solidFill>
                  <a:srgbClr val="1F285A"/>
                </a:solidFill>
                <a:latin typeface="メイリオ"/>
                <a:ea typeface="メイリオ"/>
                <a:cs typeface="メイリオ"/>
              </a:rPr>
              <a:t/>
            </a:r>
          </a:p>
          <a:p>
            <a:pPr algn="l">
              <a:lnSpc>
                <a:spcPct val="135000"/>
              </a:lnSpc>
              <a:spcAft>
                <a:spcPts val="100"/>
              </a:spcAft>
            </a:pPr>
            <a:r>
              <a:rPr sz="900">
                <a:solidFill>
                  <a:srgbClr val="333333"/>
                </a:solidFill>
                <a:latin typeface="メイリオ"/>
                <a:ea typeface="メイリオ"/>
                <a:cs typeface="メイリオ"/>
              </a:rPr>
              <a:t>資格タグ別に出し分け。</a:t>
            </a:r>
          </a:p>
          <a:p>
            <a:pPr algn="l">
              <a:lnSpc>
                <a:spcPct val="135000"/>
              </a:lnSpc>
              <a:spcAft>
                <a:spcPts val="100"/>
              </a:spcAft>
            </a:pPr>
            <a:r>
              <a:rPr sz="900">
                <a:solidFill>
                  <a:srgbClr val="333333"/>
                </a:solidFill>
                <a:latin typeface="メイリオ"/>
                <a:ea typeface="メイリオ"/>
                <a:cs typeface="メイリオ"/>
              </a:rPr>
              <a:t>「2級整備士の年収には</a:t>
            </a:r>
          </a:p>
          <a:p>
            <a:pPr algn="l">
              <a:lnSpc>
                <a:spcPct val="135000"/>
              </a:lnSpc>
              <a:spcAft>
                <a:spcPts val="100"/>
              </a:spcAft>
            </a:pPr>
            <a:r>
              <a:rPr sz="900">
                <a:solidFill>
                  <a:srgbClr val="333333"/>
                </a:solidFill>
                <a:latin typeface="メイリオ"/>
                <a:ea typeface="メイリオ"/>
                <a:cs typeface="メイリオ"/>
              </a:rPr>
              <a:t>100万円以上の幅がある」</a:t>
            </a:r>
          </a:p>
        </p:txBody>
      </p:sp>
      <p:sp>
        <p:nvSpPr>
          <p:cNvPr id="10" name="TextBox 9"/>
          <p:cNvSpPr txBox="1"/>
          <p:nvPr/>
        </p:nvSpPr>
        <p:spPr>
          <a:xfrm>
            <a:off x="4906800" y="2196000"/>
            <a:ext cx="108000" cy="288000"/>
          </a:xfrm>
          <a:prstGeom prst="rect">
            <a:avLst/>
          </a:prstGeom>
          <a:noFill/>
        </p:spPr>
        <p:txBody>
          <a:bodyPr wrap="square" lIns="50400" rIns="50400" tIns="21600" bIns="21600" anchor="ctr">
            <a:spAutoFit/>
          </a:bodyPr>
          <a:lstStyle/>
          <a:p>
            <a:pPr algn="ctr"/>
            <a:r>
              <a:rPr sz="1100" b="1">
                <a:solidFill>
                  <a:srgbClr val="7F7F7F"/>
                </a:solidFill>
                <a:latin typeface="メイリオ"/>
                <a:ea typeface="メイリオ"/>
                <a:cs typeface="メイリオ"/>
              </a:rPr>
              <a:t>→</a:t>
            </a:r>
          </a:p>
        </p:txBody>
      </p:sp>
      <p:sp>
        <p:nvSpPr>
          <p:cNvPr id="11" name="Rounded Rectangle 10"/>
          <p:cNvSpPr/>
          <p:nvPr/>
        </p:nvSpPr>
        <p:spPr>
          <a:xfrm>
            <a:off x="5007600" y="1620000"/>
            <a:ext cx="2179800" cy="251999"/>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ctr"/>
            <a:r>
              <a:rPr sz="950" b="1">
                <a:solidFill>
                  <a:srgbClr val="FFFFFF"/>
                </a:solidFill>
                <a:latin typeface="メイリオ"/>
                <a:ea typeface="メイリオ"/>
                <a:cs typeface="メイリオ"/>
              </a:rPr>
              <a:t>Day 7｜面談のご案内 ①</a:t>
            </a:r>
          </a:p>
        </p:txBody>
      </p:sp>
      <p:sp>
        <p:nvSpPr>
          <p:cNvPr id="12" name="Rounded Rectangle 11"/>
          <p:cNvSpPr/>
          <p:nvPr/>
        </p:nvSpPr>
        <p:spPr>
          <a:xfrm>
            <a:off x="5007600" y="1908000"/>
            <a:ext cx="21798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9200" rIns="64800" tIns="50400" bIns="36000"/>
          <a:lstStyle/>
          <a:p>
            <a:pPr algn="l">
              <a:spcAft>
                <a:spcPts val="300"/>
              </a:spcAft>
            </a:pPr>
            <a:r>
              <a:rPr sz="100" b="1">
                <a:solidFill>
                  <a:srgbClr val="1F285A"/>
                </a:solidFill>
                <a:latin typeface="メイリオ"/>
                <a:ea typeface="メイリオ"/>
                <a:cs typeface="メイリオ"/>
              </a:rPr>
              <a:t/>
            </a:r>
          </a:p>
          <a:p>
            <a:pPr algn="l">
              <a:lnSpc>
                <a:spcPct val="135000"/>
              </a:lnSpc>
              <a:spcAft>
                <a:spcPts val="100"/>
              </a:spcAft>
            </a:pPr>
            <a:r>
              <a:rPr sz="900">
                <a:solidFill>
                  <a:srgbClr val="333333"/>
                </a:solidFill>
                <a:latin typeface="メイリオ"/>
                <a:ea typeface="メイリオ"/>
                <a:cs typeface="メイリオ"/>
              </a:rPr>
              <a:t>「履歴書、まだ要りません」</a:t>
            </a:r>
          </a:p>
          <a:p>
            <a:pPr algn="l">
              <a:lnSpc>
                <a:spcPct val="135000"/>
              </a:lnSpc>
              <a:spcAft>
                <a:spcPts val="100"/>
              </a:spcAft>
            </a:pPr>
            <a:r>
              <a:rPr sz="900">
                <a:solidFill>
                  <a:srgbClr val="333333"/>
                </a:solidFill>
                <a:latin typeface="メイリオ"/>
                <a:ea typeface="メイリオ"/>
                <a:cs typeface="メイリオ"/>
              </a:rPr>
              <a:t>在職中は夜の面談OK・</a:t>
            </a:r>
          </a:p>
          <a:p>
            <a:pPr algn="l">
              <a:lnSpc>
                <a:spcPct val="135000"/>
              </a:lnSpc>
              <a:spcAft>
                <a:spcPts val="100"/>
              </a:spcAft>
            </a:pPr>
            <a:r>
              <a:rPr sz="900">
                <a:solidFill>
                  <a:srgbClr val="333333"/>
                </a:solidFill>
                <a:latin typeface="メイリオ"/>
                <a:ea typeface="メイリオ"/>
                <a:cs typeface="メイリオ"/>
              </a:rPr>
              <a:t>紹介は自動車業界のみを明記</a:t>
            </a:r>
          </a:p>
        </p:txBody>
      </p:sp>
      <p:sp>
        <p:nvSpPr>
          <p:cNvPr id="13" name="TextBox 12"/>
          <p:cNvSpPr txBox="1"/>
          <p:nvPr/>
        </p:nvSpPr>
        <p:spPr>
          <a:xfrm>
            <a:off x="7194600" y="2196000"/>
            <a:ext cx="108000" cy="288000"/>
          </a:xfrm>
          <a:prstGeom prst="rect">
            <a:avLst/>
          </a:prstGeom>
          <a:noFill/>
        </p:spPr>
        <p:txBody>
          <a:bodyPr wrap="square" lIns="50400" rIns="50400" tIns="21600" bIns="21600" anchor="ctr">
            <a:spAutoFit/>
          </a:bodyPr>
          <a:lstStyle/>
          <a:p>
            <a:pPr algn="ctr"/>
            <a:r>
              <a:rPr sz="1100" b="1">
                <a:solidFill>
                  <a:srgbClr val="7F7F7F"/>
                </a:solidFill>
                <a:latin typeface="メイリオ"/>
                <a:ea typeface="メイリオ"/>
                <a:cs typeface="メイリオ"/>
              </a:rPr>
              <a:t>→</a:t>
            </a:r>
          </a:p>
        </p:txBody>
      </p:sp>
      <p:sp>
        <p:nvSpPr>
          <p:cNvPr id="14" name="Rounded Rectangle 13"/>
          <p:cNvSpPr/>
          <p:nvPr/>
        </p:nvSpPr>
        <p:spPr>
          <a:xfrm>
            <a:off x="7295400" y="1620000"/>
            <a:ext cx="2179800" cy="251999"/>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1600" bIns="21600"/>
          <a:lstStyle/>
          <a:p>
            <a:pPr algn="ctr"/>
            <a:r>
              <a:rPr sz="950" b="1">
                <a:solidFill>
                  <a:srgbClr val="FFFFFF"/>
                </a:solidFill>
                <a:latin typeface="メイリオ"/>
                <a:ea typeface="メイリオ"/>
                <a:cs typeface="メイリオ"/>
              </a:rPr>
              <a:t>Day 14｜面談のご案内 ②</a:t>
            </a:r>
          </a:p>
        </p:txBody>
      </p:sp>
      <p:sp>
        <p:nvSpPr>
          <p:cNvPr id="15" name="Rounded Rectangle 14"/>
          <p:cNvSpPr/>
          <p:nvPr/>
        </p:nvSpPr>
        <p:spPr>
          <a:xfrm>
            <a:off x="7295400" y="1908000"/>
            <a:ext cx="21798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9200" rIns="64800" tIns="50400" bIns="36000"/>
          <a:lstStyle/>
          <a:p>
            <a:pPr algn="l">
              <a:spcAft>
                <a:spcPts val="300"/>
              </a:spcAft>
            </a:pPr>
            <a:r>
              <a:rPr sz="100" b="1">
                <a:solidFill>
                  <a:srgbClr val="1F285A"/>
                </a:solidFill>
                <a:latin typeface="メイリオ"/>
                <a:ea typeface="メイリオ"/>
                <a:cs typeface="メイリオ"/>
              </a:rPr>
              <a:t/>
            </a:r>
          </a:p>
          <a:p>
            <a:pPr algn="l">
              <a:lnSpc>
                <a:spcPct val="135000"/>
              </a:lnSpc>
              <a:spcAft>
                <a:spcPts val="100"/>
              </a:spcAft>
            </a:pPr>
            <a:r>
              <a:rPr sz="900">
                <a:solidFill>
                  <a:srgbClr val="333333"/>
                </a:solidFill>
                <a:latin typeface="メイリオ"/>
                <a:ea typeface="メイリオ"/>
                <a:cs typeface="メイリオ"/>
              </a:rPr>
              <a:t>毎日の配信はここで終了。</a:t>
            </a:r>
          </a:p>
          <a:p>
            <a:pPr algn="l">
              <a:lnSpc>
                <a:spcPct val="135000"/>
              </a:lnSpc>
              <a:spcAft>
                <a:spcPts val="100"/>
              </a:spcAft>
            </a:pPr>
            <a:r>
              <a:rPr sz="900">
                <a:solidFill>
                  <a:srgbClr val="333333"/>
                </a:solidFill>
                <a:latin typeface="メイリオ"/>
                <a:ea typeface="メイリオ"/>
                <a:cs typeface="メイリオ"/>
              </a:rPr>
              <a:t>以後は月数回、新着求人と</a:t>
            </a:r>
          </a:p>
          <a:p>
            <a:pPr algn="l">
              <a:lnSpc>
                <a:spcPct val="135000"/>
              </a:lnSpc>
              <a:spcAft>
                <a:spcPts val="100"/>
              </a:spcAft>
            </a:pPr>
            <a:r>
              <a:rPr sz="900">
                <a:solidFill>
                  <a:srgbClr val="333333"/>
                </a:solidFill>
                <a:latin typeface="メイリオ"/>
                <a:ea typeface="メイリオ"/>
                <a:cs typeface="メイリオ"/>
              </a:rPr>
              <a:t>相場情報だけに切り替え</a:t>
            </a:r>
          </a:p>
        </p:txBody>
      </p:sp>
      <p:sp>
        <p:nvSpPr>
          <p:cNvPr id="16" name="Rounded Rectangle 15"/>
          <p:cNvSpPr/>
          <p:nvPr/>
        </p:nvSpPr>
        <p:spPr>
          <a:xfrm>
            <a:off x="432000" y="3203999"/>
            <a:ext cx="9043200" cy="36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200" b="1">
                <a:solidFill>
                  <a:srgbClr val="FFFFFF"/>
                </a:solidFill>
                <a:latin typeface="メイリオ"/>
                <a:ea typeface="メイリオ"/>
                <a:cs typeface="メイリオ"/>
              </a:rPr>
              <a:t>面談・応募 196件（6ヶ月累計・SIM①）。未予約の方は月数回の定常配信で通年フォロー。</a:t>
            </a:r>
          </a:p>
        </p:txBody>
      </p:sp>
      <p:sp>
        <p:nvSpPr>
          <p:cNvPr id="17" name="TextBox 16"/>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意見｜配信文面の実物はコンテンツ案v1（別紙）に全文記載。Day7・Day14がCVオファー</a:t>
            </a:r>
          </a:p>
        </p:txBody>
      </p:sp>
    </p:spTree>
    <p:extLst>
      <p:ext uri="{BB962C8B-B14F-4D97-AF65-F5344CB8AC3E}">
        <p14:creationId xmlns:p14="http://schemas.microsoft.com/office/powerpoint/2010/main" val="1451945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想定企画【年間】</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検索の山（3月）に向けて1〜2月から前倒しで仕込む。谷（12月）も検討は続くため配信は止めない。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1月</a:t>
            </a:r>
          </a:p>
          <a:p>
            <a:pPr algn="l">
              <a:lnSpc>
                <a:spcPct val="115000"/>
              </a:lnSpc>
            </a:pPr>
            <a:r>
              <a:rPr sz="900">
                <a:solidFill>
                  <a:srgbClr val="333333"/>
                </a:solidFill>
                <a:latin typeface="メイリオ"/>
                <a:ea typeface="メイリオ"/>
                <a:cs typeface="メイリオ"/>
              </a:rPr>
              <a:t>新生活前の転職相談</a:t>
            </a:r>
          </a:p>
        </p:txBody>
      </p:sp>
      <p:sp>
        <p:nvSpPr>
          <p:cNvPr id="6" name="Rounded Rectangle 5"/>
          <p:cNvSpPr/>
          <p:nvPr/>
        </p:nvSpPr>
        <p:spPr>
          <a:xfrm>
            <a:off x="2719800" y="162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2月</a:t>
            </a:r>
          </a:p>
          <a:p>
            <a:pPr algn="l">
              <a:lnSpc>
                <a:spcPct val="115000"/>
              </a:lnSpc>
            </a:pPr>
            <a:r>
              <a:rPr sz="900">
                <a:solidFill>
                  <a:srgbClr val="333333"/>
                </a:solidFill>
                <a:latin typeface="メイリオ"/>
                <a:ea typeface="メイリオ"/>
                <a:cs typeface="メイリオ"/>
              </a:rPr>
              <a:t>3月転職の準備特集</a:t>
            </a:r>
          </a:p>
        </p:txBody>
      </p:sp>
      <p:sp>
        <p:nvSpPr>
          <p:cNvPr id="7" name="Rounded Rectangle 6"/>
          <p:cNvSpPr/>
          <p:nvPr/>
        </p:nvSpPr>
        <p:spPr>
          <a:xfrm>
            <a:off x="5007600" y="1620000"/>
            <a:ext cx="2179800" cy="55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ED7D31"/>
                </a:solidFill>
                <a:latin typeface="メイリオ"/>
                <a:ea typeface="メイリオ"/>
                <a:cs typeface="メイリオ"/>
              </a:rPr>
              <a:t>3月</a:t>
            </a:r>
          </a:p>
          <a:p>
            <a:pPr algn="l">
              <a:lnSpc>
                <a:spcPct val="115000"/>
              </a:lnSpc>
            </a:pPr>
            <a:r>
              <a:rPr sz="900">
                <a:solidFill>
                  <a:srgbClr val="333333"/>
                </a:solidFill>
                <a:latin typeface="メイリオ"/>
                <a:ea typeface="メイリオ"/>
                <a:cs typeface="メイリオ"/>
              </a:rPr>
              <a:t>★年度替わり・求人最大化</a:t>
            </a:r>
          </a:p>
        </p:txBody>
      </p:sp>
      <p:sp>
        <p:nvSpPr>
          <p:cNvPr id="8" name="Rounded Rectangle 7"/>
          <p:cNvSpPr/>
          <p:nvPr/>
        </p:nvSpPr>
        <p:spPr>
          <a:xfrm>
            <a:off x="7295400" y="162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4月</a:t>
            </a:r>
          </a:p>
          <a:p>
            <a:pPr algn="l">
              <a:lnSpc>
                <a:spcPct val="115000"/>
              </a:lnSpc>
            </a:pPr>
            <a:r>
              <a:rPr sz="900">
                <a:solidFill>
                  <a:srgbClr val="333333"/>
                </a:solidFill>
                <a:latin typeface="メイリオ"/>
                <a:ea typeface="メイリオ"/>
                <a:cs typeface="メイリオ"/>
              </a:rPr>
              <a:t>新年度スタート応援</a:t>
            </a:r>
          </a:p>
        </p:txBody>
      </p:sp>
      <p:sp>
        <p:nvSpPr>
          <p:cNvPr id="9" name="Rounded Rectangle 8"/>
          <p:cNvSpPr/>
          <p:nvPr/>
        </p:nvSpPr>
        <p:spPr>
          <a:xfrm>
            <a:off x="432000" y="225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5月</a:t>
            </a:r>
          </a:p>
          <a:p>
            <a:pPr algn="l">
              <a:lnSpc>
                <a:spcPct val="115000"/>
              </a:lnSpc>
            </a:pPr>
            <a:r>
              <a:rPr sz="900">
                <a:solidFill>
                  <a:srgbClr val="333333"/>
                </a:solidFill>
                <a:latin typeface="メイリオ"/>
                <a:ea typeface="メイリオ"/>
                <a:cs typeface="メイリオ"/>
              </a:rPr>
              <a:t>連休明けの見直し訴求</a:t>
            </a:r>
          </a:p>
        </p:txBody>
      </p:sp>
      <p:sp>
        <p:nvSpPr>
          <p:cNvPr id="10" name="Rounded Rectangle 9"/>
          <p:cNvSpPr/>
          <p:nvPr/>
        </p:nvSpPr>
        <p:spPr>
          <a:xfrm>
            <a:off x="2719800" y="225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6月</a:t>
            </a:r>
          </a:p>
          <a:p>
            <a:pPr algn="l">
              <a:lnSpc>
                <a:spcPct val="115000"/>
              </a:lnSpc>
            </a:pPr>
            <a:r>
              <a:rPr sz="900">
                <a:solidFill>
                  <a:srgbClr val="333333"/>
                </a:solidFill>
                <a:latin typeface="メイリオ"/>
                <a:ea typeface="メイリオ"/>
                <a:cs typeface="メイリオ"/>
              </a:rPr>
              <a:t>夏賞与前の情報提供</a:t>
            </a:r>
          </a:p>
        </p:txBody>
      </p:sp>
      <p:sp>
        <p:nvSpPr>
          <p:cNvPr id="11" name="Rounded Rectangle 10"/>
          <p:cNvSpPr/>
          <p:nvPr/>
        </p:nvSpPr>
        <p:spPr>
          <a:xfrm>
            <a:off x="5007600" y="225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7月</a:t>
            </a:r>
          </a:p>
          <a:p>
            <a:pPr algn="l">
              <a:lnSpc>
                <a:spcPct val="115000"/>
              </a:lnSpc>
            </a:pPr>
            <a:r>
              <a:rPr sz="900">
                <a:solidFill>
                  <a:srgbClr val="333333"/>
                </a:solidFill>
                <a:latin typeface="メイリオ"/>
                <a:ea typeface="メイリオ"/>
                <a:cs typeface="メイリオ"/>
              </a:rPr>
              <a:t>賞与後の転職検討期</a:t>
            </a:r>
          </a:p>
        </p:txBody>
      </p:sp>
      <p:sp>
        <p:nvSpPr>
          <p:cNvPr id="12" name="Rounded Rectangle 11"/>
          <p:cNvSpPr/>
          <p:nvPr/>
        </p:nvSpPr>
        <p:spPr>
          <a:xfrm>
            <a:off x="7295400" y="225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8月</a:t>
            </a:r>
          </a:p>
          <a:p>
            <a:pPr algn="l">
              <a:lnSpc>
                <a:spcPct val="115000"/>
              </a:lnSpc>
            </a:pPr>
            <a:r>
              <a:rPr sz="900">
                <a:solidFill>
                  <a:srgbClr val="333333"/>
                </a:solidFill>
                <a:latin typeface="メイリオ"/>
                <a:ea typeface="メイリオ"/>
                <a:cs typeface="メイリオ"/>
              </a:rPr>
              <a:t>資格取得・キャリア特集</a:t>
            </a:r>
          </a:p>
        </p:txBody>
      </p:sp>
      <p:sp>
        <p:nvSpPr>
          <p:cNvPr id="13" name="Rounded Rectangle 12"/>
          <p:cNvSpPr/>
          <p:nvPr/>
        </p:nvSpPr>
        <p:spPr>
          <a:xfrm>
            <a:off x="432000" y="288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9月</a:t>
            </a:r>
          </a:p>
          <a:p>
            <a:pPr algn="l">
              <a:lnSpc>
                <a:spcPct val="115000"/>
              </a:lnSpc>
            </a:pPr>
            <a:r>
              <a:rPr sz="900">
                <a:solidFill>
                  <a:srgbClr val="333333"/>
                </a:solidFill>
                <a:latin typeface="メイリオ"/>
                <a:ea typeface="メイリオ"/>
                <a:cs typeface="メイリオ"/>
              </a:rPr>
              <a:t>下期スタート求人</a:t>
            </a:r>
          </a:p>
        </p:txBody>
      </p:sp>
      <p:sp>
        <p:nvSpPr>
          <p:cNvPr id="14" name="Rounded Rectangle 13"/>
          <p:cNvSpPr/>
          <p:nvPr/>
        </p:nvSpPr>
        <p:spPr>
          <a:xfrm>
            <a:off x="2719800" y="288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10月</a:t>
            </a:r>
          </a:p>
          <a:p>
            <a:pPr algn="l">
              <a:lnSpc>
                <a:spcPct val="115000"/>
              </a:lnSpc>
            </a:pPr>
            <a:r>
              <a:rPr sz="900">
                <a:solidFill>
                  <a:srgbClr val="333333"/>
                </a:solidFill>
                <a:latin typeface="メイリオ"/>
                <a:ea typeface="メイリオ"/>
                <a:cs typeface="メイリオ"/>
              </a:rPr>
              <a:t>年内転職ラストコール</a:t>
            </a:r>
          </a:p>
        </p:txBody>
      </p:sp>
      <p:sp>
        <p:nvSpPr>
          <p:cNvPr id="15" name="Rounded Rectangle 14"/>
          <p:cNvSpPr/>
          <p:nvPr/>
        </p:nvSpPr>
        <p:spPr>
          <a:xfrm>
            <a:off x="5007600" y="288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11月</a:t>
            </a:r>
          </a:p>
          <a:p>
            <a:pPr algn="l">
              <a:lnSpc>
                <a:spcPct val="115000"/>
              </a:lnSpc>
            </a:pPr>
            <a:r>
              <a:rPr sz="900">
                <a:solidFill>
                  <a:srgbClr val="333333"/>
                </a:solidFill>
                <a:latin typeface="メイリオ"/>
                <a:ea typeface="メイリオ"/>
                <a:cs typeface="メイリオ"/>
              </a:rPr>
              <a:t>年末年始の働き方特集</a:t>
            </a:r>
          </a:p>
        </p:txBody>
      </p:sp>
      <p:sp>
        <p:nvSpPr>
          <p:cNvPr id="16" name="Rounded Rectangle 15"/>
          <p:cNvSpPr/>
          <p:nvPr/>
        </p:nvSpPr>
        <p:spPr>
          <a:xfrm>
            <a:off x="7295400" y="2880000"/>
            <a:ext cx="2179800" cy="55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54000" tIns="28800" bIns="21600"/>
          <a:lstStyle/>
          <a:p>
            <a:pPr algn="l">
              <a:spcAft>
                <a:spcPts val="200"/>
              </a:spcAft>
            </a:pPr>
            <a:r>
              <a:rPr sz="1000" b="1">
                <a:solidFill>
                  <a:srgbClr val="1F285A"/>
                </a:solidFill>
                <a:latin typeface="メイリオ"/>
                <a:ea typeface="メイリオ"/>
                <a:cs typeface="メイリオ"/>
              </a:rPr>
              <a:t>12月</a:t>
            </a:r>
          </a:p>
          <a:p>
            <a:pPr algn="l">
              <a:lnSpc>
                <a:spcPct val="115000"/>
              </a:lnSpc>
            </a:pPr>
            <a:r>
              <a:rPr sz="900">
                <a:solidFill>
                  <a:srgbClr val="333333"/>
                </a:solidFill>
                <a:latin typeface="メイリオ"/>
                <a:ea typeface="メイリオ"/>
                <a:cs typeface="メイリオ"/>
              </a:rPr>
              <a:t>冬も相談だけOK訴求</a:t>
            </a:r>
          </a:p>
        </p:txBody>
      </p:sp>
      <p:sp>
        <p:nvSpPr>
          <p:cNvPr id="17" name="Rounded Rectangle 16"/>
          <p:cNvSpPr/>
          <p:nvPr/>
        </p:nvSpPr>
        <p:spPr>
          <a:xfrm>
            <a:off x="432000" y="3600000"/>
            <a:ext cx="9043200" cy="36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0" bIns="0"/>
          <a:lstStyle/>
          <a:p>
            <a:pPr algn="ctr">
              <a:lnSpc>
                <a:spcPct val="125000"/>
              </a:lnSpc>
            </a:pPr>
            <a:r>
              <a:rPr sz="1200" b="1">
                <a:solidFill>
                  <a:srgbClr val="FFFFFF"/>
                </a:solidFill>
                <a:latin typeface="メイリオ"/>
                <a:ea typeface="メイリオ"/>
                <a:cs typeface="メイリオ"/>
              </a:rPr>
              <a:t>配信は月2〜4本。クリックした人でオーディエンスを育て、配信のたびに精度が上がる設計。</a:t>
            </a:r>
          </a:p>
        </p:txBody>
      </p:sp>
      <p:sp>
        <p:nvSpPr>
          <p:cNvPr id="18" name="TextBox 1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出典：GoogleトレンドKW「整備士」（山3月・谷12月）／企画の詳細文面は個別に作成</a:t>
            </a:r>
          </a:p>
        </p:txBody>
      </p:sp>
    </p:spTree>
    <p:extLst>
      <p:ext uri="{BB962C8B-B14F-4D97-AF65-F5344CB8AC3E}">
        <p14:creationId xmlns:p14="http://schemas.microsoft.com/office/powerpoint/2010/main" val="1269822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a:t>
            </a:r>
            <a:r>
              <a:rPr kumimoji="1" lang="en-US" altLang="zh-CN"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3</a:t>
            </a: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つの施策カテゴリ（診断コンテンツを前提に整理）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QA</a:t>
            </a: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自動化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・料金・使用量等のよくある質問にLINEチャットボットで自動回答</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・診断結果に応じたQ&amp;Aパターンも自動化候補</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・契約内容等の複雑な問い合わせは有人チャットで個別対応</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・タグ管理で乗り換え検討等、優先度の高い問い合わせを可視化</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・求職者アンケートをLINEリサーチ機能で実施</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・回答特典を付けて回収率を高める</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・キーワード応答＋タグ付けで一次対応を自動化</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・よくある質問（応募方法・年収・勤務地 等）の対応を効率化</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・配信ログの自動集計（API連携）でレポーティング工数を削減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・診断結果送付〜ステップ配信までをGAS等で自動化</a:t>
            </a:r>
          </a:p>
        </p:txBody>
      </p:sp>
      <p:sp>
        <p:nvSpPr>
          <p:cNvPr id="25" name="Rounded Rectangle 3">
            <a:extLst>
              <a:ext uri="{FF2B5EF4-FFF2-40B4-BE49-F238E27FC236}">
                <a16:creationId xmlns:a16="http://schemas.microsoft.com/office/drawing/2014/main" id="{C7F21D87-4A15-CE7E-773C-B513888D6575}"/>
              </a:ext>
            </a:extLst>
          </p:cNvPr>
          <p:cNvSpPr/>
          <p:nvPr/>
        </p:nvSpPr>
        <p:spPr>
          <a:xfrm>
            <a:off x="243659" y="4020903"/>
            <a:ext cx="9425441" cy="2497059"/>
          </a:xfrm>
          <a:prstGeom prst="roundRect">
            <a:avLst>
              <a:gd name="adj" fmla="val 10000"/>
            </a:avLst>
          </a:prstGeom>
          <a:solidFill>
            <a:schemeClr val="bg1">
              <a:alpha val="63000"/>
            </a:schemeClr>
          </a:solidFill>
          <a:ln w="12700">
            <a:noFill/>
            <a:round/>
          </a:ln>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400" b="0" strike="noStrike" spc="-1"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料金プラン診断コンテンツ</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マイサーラ会員登録案内</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料金確定通知もLINEで受け取れる</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地域別WEB申込キャンペーン</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※「料金プラン診断」はサイト上に簡易診断フォームを設置し、結果をLINEで送付する動線を想定（要開発）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月額固定のコンサル運営で、費用を抑えた運用スタートを実現。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求職者（整備士）のカスタマージャーニー（8フェーズ）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接触〜面談・就業までの動線設計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143129</TotalTime>
  <Words>6329</Words>
  <Application>Microsoft Office PowerPoint</Application>
  <PresentationFormat>A4 210 x 297 mm</PresentationFormat>
  <Paragraphs>1593</Paragraphs>
  <Slides>58</Slides>
  <Notes>28</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58</vt:i4>
      </vt:variant>
    </vt:vector>
  </HeadingPairs>
  <TitlesOfParts>
    <vt:vector size="65"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1954</cp:revision>
  <cp:lastPrinted>2022-11-01T11:38:14Z</cp:lastPrinted>
  <dcterms:created xsi:type="dcterms:W3CDTF">2015-09-04T09:21:15Z</dcterms:created>
  <dcterms:modified xsi:type="dcterms:W3CDTF">2026-09-19T04:08:40Z</dcterms:modified>
</cp:coreProperties>
</file>