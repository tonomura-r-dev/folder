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9"/>
  </p:notesMasterIdLst>
  <p:handoutMasterIdLst>
    <p:handoutMasterId r:id="rId60"/>
  </p:handoutMasterIdLst>
  <p:sldIdLst>
    <p:sldId id="2363" r:id="rId3"/>
    <p:sldId id="2726" r:id="rId4"/>
    <p:sldId id="2721" r:id="rId5"/>
    <p:sldId id="2723" r:id="rId6"/>
    <p:sldId id="2724" r:id="rId7"/>
    <p:sldId id="2364" r:id="rId8"/>
    <p:sldId id="2365" r:id="rId9"/>
    <p:sldId id="2725" r:id="rId10"/>
    <p:sldId id="3152" r:id="rId11"/>
    <p:sldId id="3153" r:id="rId12"/>
    <p:sldId id="3154" r:id="rId13"/>
    <p:sldId id="3155" r:id="rId14"/>
    <p:sldId id="3156" r:id="rId15"/>
    <p:sldId id="3157" r:id="rId16"/>
    <p:sldId id="3158" r:id="rId17"/>
    <p:sldId id="3159" r:id="rId18"/>
    <p:sldId id="2727" r:id="rId19"/>
    <p:sldId id="3131" r:id="rId20"/>
    <p:sldId id="3132" r:id="rId21"/>
    <p:sldId id="3150" r:id="rId22"/>
    <p:sldId id="2732" r:id="rId23"/>
    <p:sldId id="2733" r:id="rId24"/>
    <p:sldId id="3174" r:id="rId65"/>
    <p:sldId id="3175" r:id="rId66"/>
    <p:sldId id="3176" r:id="rId67"/>
    <p:sldId id="2728" r:id="rId28"/>
    <p:sldId id="3160" r:id="rId29"/>
    <p:sldId id="3161" r:id="rId30"/>
    <p:sldId id="3162" r:id="rId31"/>
    <p:sldId id="3163" r:id="rId32"/>
    <p:sldId id="3164" r:id="rId33"/>
    <p:sldId id="3165" r:id="rId34"/>
    <p:sldId id="3166" r:id="rId35"/>
    <p:sldId id="3167" r:id="rId36"/>
    <p:sldId id="2729" r:id="rId37"/>
    <p:sldId id="3168" r:id="rId38"/>
    <p:sldId id="3169" r:id="rId39"/>
    <p:sldId id="3170" r:id="rId40"/>
    <p:sldId id="2730" r:id="rId41"/>
    <p:sldId id="2563" r:id="rId42"/>
    <p:sldId id="2959" r:id="rId43"/>
    <p:sldId id="2970" r:id="rId44"/>
    <p:sldId id="2968" r:id="rId45"/>
    <p:sldId id="2969" r:id="rId46"/>
    <p:sldId id="3151" r:id="rId47"/>
    <p:sldId id="2575" r:id="rId48"/>
    <p:sldId id="2910" r:id="rId49"/>
    <p:sldId id="3171" r:id="rId50"/>
    <p:sldId id="3172" r:id="rId51"/>
    <p:sldId id="3173" r:id="rId52"/>
    <p:sldId id="3136" r:id="rId53"/>
    <p:sldId id="3137" r:id="rId54"/>
    <p:sldId id="3138" r:id="rId55"/>
    <p:sldId id="3139" r:id="rId56"/>
    <p:sldId id="3140" r:id="rId57"/>
    <p:sldId id="1169" r:id="rId5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notesMaster" Target="notesMasters/notesMaster1.xml"/><Relationship Id="rId60" Type="http://schemas.openxmlformats.org/officeDocument/2006/relationships/handoutMaster" Target="handoutMasters/handout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 Id="rId65" Type="http://schemas.openxmlformats.org/officeDocument/2006/relationships/slide" Target="slides/slide23.xml"/><Relationship Id="rId66" Type="http://schemas.openxmlformats.org/officeDocument/2006/relationships/slide" Target="slides/slide24.xml"/><Relationship Id="rId67" Type="http://schemas.openxmlformats.org/officeDocument/2006/relationships/slide" Target="slides/slide2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2026/10/26</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56</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image" Target="../media/image2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image" Target="../media/image2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g"/><Relationship Id="rId3" Type="http://schemas.openxmlformats.org/officeDocument/2006/relationships/image" Target="../media/image2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g"/><Relationship Id="rId3" Type="http://schemas.openxmlformats.org/officeDocument/2006/relationships/image" Target="../media/image3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image" Target="../media/image3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image" Target="../media/image36.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70.png"/><Relationship Id="rId4" Type="http://schemas.openxmlformats.org/officeDocument/2006/relationships/image" Target="../media/image71.jpg"/><Relationship Id="rId5" Type="http://schemas.openxmlformats.org/officeDocument/2006/relationships/image" Target="../media/image7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7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jpeg"/><Relationship Id="rId8" Type="http://schemas.openxmlformats.org/officeDocument/2006/relationships/image" Target="../media/image58.jpg"/><Relationship Id="rId9" Type="http://schemas.openxmlformats.org/officeDocument/2006/relationships/image" Target="../media/image59.png"/><Relationship Id="rId10" Type="http://schemas.openxmlformats.org/officeDocument/2006/relationships/image" Target="../media/image60.png"/><Relationship Id="rId11" Type="http://schemas.openxmlformats.org/officeDocument/2006/relationships/hyperlink" Target="https://youtube.com/shorts/0qI4QgrOppQ"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64.jpeg"/><Relationship Id="rId5" Type="http://schemas.openxmlformats.org/officeDocument/2006/relationships/image" Target="../media/image65.jpeg"/><Relationship Id="rId6" Type="http://schemas.openxmlformats.org/officeDocument/2006/relationships/image" Target="../media/image66.jpeg"/><Relationship Id="rId7" Type="http://schemas.openxmlformats.org/officeDocument/2006/relationships/image" Target="../media/image67.jpeg"/><Relationship Id="rId8" Type="http://schemas.openxmlformats.org/officeDocument/2006/relationships/image" Target="../media/image6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追客・ファン化を再構築する、LINE公式アカウントの設計見直し</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株式会社ワクトリ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リゾートバイト業界のLINE活用</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主要5社のLINEを比べると、友だち追加の直後から、登録・相談へつなぐ配信が当たり前になっている。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10512"/>
            <a:ext cx="1737359"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会社</a:t>
            </a:r>
          </a:p>
        </p:txBody>
      </p:sp>
      <p:sp>
        <p:nvSpPr>
          <p:cNvPr id="60" name="Rectangle 59"/>
          <p:cNvSpPr/>
          <p:nvPr/>
        </p:nvSpPr>
        <p:spPr>
          <a:xfrm>
            <a:off x="2148840" y="1810512"/>
            <a:ext cx="960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友だち数</a:t>
            </a:r>
          </a:p>
        </p:txBody>
      </p:sp>
      <p:sp>
        <p:nvSpPr>
          <p:cNvPr id="61" name="Rectangle 60"/>
          <p:cNvSpPr/>
          <p:nvPr/>
        </p:nvSpPr>
        <p:spPr>
          <a:xfrm>
            <a:off x="3136391" y="1810512"/>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追加の直後</a:t>
            </a:r>
          </a:p>
        </p:txBody>
      </p:sp>
      <p:sp>
        <p:nvSpPr>
          <p:cNvPr id="62" name="Rectangle 61"/>
          <p:cNvSpPr/>
          <p:nvPr/>
        </p:nvSpPr>
        <p:spPr>
          <a:xfrm>
            <a:off x="4992624" y="1810512"/>
            <a:ext cx="13258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配信の頻度</a:t>
            </a:r>
          </a:p>
        </p:txBody>
      </p:sp>
      <p:sp>
        <p:nvSpPr>
          <p:cNvPr id="63" name="Rectangle 62"/>
          <p:cNvSpPr/>
          <p:nvPr/>
        </p:nvSpPr>
        <p:spPr>
          <a:xfrm>
            <a:off x="6345936" y="1810512"/>
            <a:ext cx="1783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相談の入口</a:t>
            </a:r>
          </a:p>
        </p:txBody>
      </p:sp>
      <p:sp>
        <p:nvSpPr>
          <p:cNvPr id="64" name="Rectangle 63"/>
          <p:cNvSpPr/>
          <p:nvPr/>
        </p:nvSpPr>
        <p:spPr>
          <a:xfrm>
            <a:off x="8156448" y="1810512"/>
            <a:ext cx="1371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リッチメニュー</a:t>
            </a:r>
          </a:p>
        </p:txBody>
      </p:sp>
      <p:sp>
        <p:nvSpPr>
          <p:cNvPr id="65" name="Rectangle 64"/>
          <p:cNvSpPr/>
          <p:nvPr/>
        </p:nvSpPr>
        <p:spPr>
          <a:xfrm>
            <a:off x="384048" y="2212848"/>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ワクトリ</a:t>
            </a:r>
          </a:p>
        </p:txBody>
      </p:sp>
      <p:sp>
        <p:nvSpPr>
          <p:cNvPr id="66" name="Rectangle 65"/>
          <p:cNvSpPr/>
          <p:nvPr/>
        </p:nvSpPr>
        <p:spPr>
          <a:xfrm>
            <a:off x="2148840" y="2212848"/>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79,904</a:t>
            </a:r>
          </a:p>
        </p:txBody>
      </p:sp>
      <p:sp>
        <p:nvSpPr>
          <p:cNvPr id="67" name="Rectangle 66"/>
          <p:cNvSpPr/>
          <p:nvPr/>
        </p:nvSpPr>
        <p:spPr>
          <a:xfrm>
            <a:off x="3136391" y="2212848"/>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アンケート3問</a:t>
            </a:r>
          </a:p>
          <a:p>
            <a:pPr algn="l">
              <a:lnSpc>
                <a:spcPct val="110000"/>
              </a:lnSpc>
              <a:spcAft>
                <a:spcPts val="0"/>
              </a:spcAft>
            </a:pPr>
            <a:r>
              <a:rPr sz="1100" b="0">
                <a:solidFill>
                  <a:srgbClr val="333333"/>
                </a:solidFill>
                <a:latin typeface="メイリオ"/>
                <a:ea typeface="メイリオ"/>
                <a:cs typeface="メイリオ"/>
              </a:rPr>
              <a:t>（エントリー・開始時期・エリア）</a:t>
            </a:r>
          </a:p>
        </p:txBody>
      </p:sp>
      <p:sp>
        <p:nvSpPr>
          <p:cNvPr id="68" name="Rectangle 67"/>
          <p:cNvSpPr/>
          <p:nvPr/>
        </p:nvSpPr>
        <p:spPr>
          <a:xfrm>
            <a:off x="4992624" y="2212848"/>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翌日にENTRY</a:t>
            </a:r>
          </a:p>
          <a:p>
            <a:pPr algn="l">
              <a:lnSpc>
                <a:spcPct val="110000"/>
              </a:lnSpc>
              <a:spcAft>
                <a:spcPts val="0"/>
              </a:spcAft>
            </a:pPr>
            <a:r>
              <a:rPr sz="1100" b="0">
                <a:solidFill>
                  <a:srgbClr val="333333"/>
                </a:solidFill>
                <a:latin typeface="メイリオ"/>
                <a:ea typeface="メイリオ"/>
                <a:cs typeface="メイリオ"/>
              </a:rPr>
              <a:t>その後は週1回</a:t>
            </a:r>
          </a:p>
        </p:txBody>
      </p:sp>
      <p:sp>
        <p:nvSpPr>
          <p:cNvPr id="69" name="Rectangle 68"/>
          <p:cNvSpPr/>
          <p:nvPr/>
        </p:nvSpPr>
        <p:spPr>
          <a:xfrm>
            <a:off x="6345936" y="2212848"/>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a:t>
            </a:r>
          </a:p>
          <a:p>
            <a:pPr algn="l">
              <a:lnSpc>
                <a:spcPct val="110000"/>
              </a:lnSpc>
              <a:spcAft>
                <a:spcPts val="0"/>
              </a:spcAft>
            </a:pPr>
            <a:r>
              <a:rPr sz="1100" b="0">
                <a:solidFill>
                  <a:srgbClr val="333333"/>
                </a:solidFill>
                <a:latin typeface="メイリオ"/>
                <a:ea typeface="メイリオ"/>
                <a:cs typeface="メイリオ"/>
              </a:rPr>
              <a:t>（ENTRY）</a:t>
            </a:r>
          </a:p>
        </p:txBody>
      </p:sp>
      <p:sp>
        <p:nvSpPr>
          <p:cNvPr id="70" name="Rectangle 69"/>
          <p:cNvSpPr/>
          <p:nvPr/>
        </p:nvSpPr>
        <p:spPr>
          <a:xfrm>
            <a:off x="8156448" y="2212848"/>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お仕事探し</a:t>
            </a:r>
          </a:p>
        </p:txBody>
      </p:sp>
      <p:sp>
        <p:nvSpPr>
          <p:cNvPr id="71" name="Rectangle 70"/>
          <p:cNvSpPr/>
          <p:nvPr/>
        </p:nvSpPr>
        <p:spPr>
          <a:xfrm>
            <a:off x="384048" y="2962656"/>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リゾートバイトダイブ</a:t>
            </a:r>
          </a:p>
        </p:txBody>
      </p:sp>
      <p:sp>
        <p:nvSpPr>
          <p:cNvPr id="72" name="Rectangle 71"/>
          <p:cNvSpPr/>
          <p:nvPr/>
        </p:nvSpPr>
        <p:spPr>
          <a:xfrm>
            <a:off x="2148840" y="2962656"/>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256,680</a:t>
            </a:r>
          </a:p>
        </p:txBody>
      </p:sp>
      <p:sp>
        <p:nvSpPr>
          <p:cNvPr id="73" name="Rectangle 72"/>
          <p:cNvSpPr/>
          <p:nvPr/>
        </p:nvSpPr>
        <p:spPr>
          <a:xfrm>
            <a:off x="3136391" y="2962656"/>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マイページ登録のURL</a:t>
            </a:r>
          </a:p>
          <a:p>
            <a:pPr algn="l">
              <a:lnSpc>
                <a:spcPct val="110000"/>
              </a:lnSpc>
              <a:spcAft>
                <a:spcPts val="0"/>
              </a:spcAft>
            </a:pPr>
            <a:r>
              <a:rPr sz="1100" b="0">
                <a:solidFill>
                  <a:srgbClr val="333333"/>
                </a:solidFill>
                <a:latin typeface="メイリオ"/>
                <a:ea typeface="メイリオ"/>
                <a:cs typeface="メイリオ"/>
              </a:rPr>
              <a:t>＋LINEでできること</a:t>
            </a:r>
          </a:p>
        </p:txBody>
      </p:sp>
      <p:sp>
        <p:nvSpPr>
          <p:cNvPr id="74" name="Rectangle 73"/>
          <p:cNvSpPr/>
          <p:nvPr/>
        </p:nvSpPr>
        <p:spPr>
          <a:xfrm>
            <a:off x="4992624" y="2962656"/>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毎日1通</a:t>
            </a:r>
          </a:p>
        </p:txBody>
      </p:sp>
      <p:sp>
        <p:nvSpPr>
          <p:cNvPr id="75" name="Rectangle 74"/>
          <p:cNvSpPr/>
          <p:nvPr/>
        </p:nvSpPr>
        <p:spPr>
          <a:xfrm>
            <a:off x="6345936" y="2962656"/>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初回カウンセリングの予約</a:t>
            </a:r>
          </a:p>
          <a:p>
            <a:pPr algn="l">
              <a:lnSpc>
                <a:spcPct val="110000"/>
              </a:lnSpc>
              <a:spcAft>
                <a:spcPts val="0"/>
              </a:spcAft>
            </a:pPr>
            <a:r>
              <a:rPr sz="1100" b="0">
                <a:solidFill>
                  <a:srgbClr val="333333"/>
                </a:solidFill>
                <a:latin typeface="メイリオ"/>
                <a:ea typeface="メイリオ"/>
                <a:cs typeface="メイリオ"/>
              </a:rPr>
              <a:t>（電話15分）</a:t>
            </a:r>
          </a:p>
        </p:txBody>
      </p:sp>
      <p:sp>
        <p:nvSpPr>
          <p:cNvPr id="76" name="Rectangle 75"/>
          <p:cNvSpPr/>
          <p:nvPr/>
        </p:nvSpPr>
        <p:spPr>
          <a:xfrm>
            <a:off x="8156448" y="2962656"/>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77" name="Rectangle 76"/>
          <p:cNvSpPr/>
          <p:nvPr/>
        </p:nvSpPr>
        <p:spPr>
          <a:xfrm>
            <a:off x="384048" y="3712464"/>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リゾバ.com</a:t>
            </a:r>
          </a:p>
        </p:txBody>
      </p:sp>
      <p:sp>
        <p:nvSpPr>
          <p:cNvPr id="78" name="Rectangle 77"/>
          <p:cNvSpPr/>
          <p:nvPr/>
        </p:nvSpPr>
        <p:spPr>
          <a:xfrm>
            <a:off x="2148840" y="3712464"/>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156,010</a:t>
            </a:r>
          </a:p>
        </p:txBody>
      </p:sp>
      <p:sp>
        <p:nvSpPr>
          <p:cNvPr id="79" name="Rectangle 78"/>
          <p:cNvSpPr/>
          <p:nvPr/>
        </p:nvSpPr>
        <p:spPr>
          <a:xfrm>
            <a:off x="3136391" y="3712464"/>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リゾートバイト経験の</a:t>
            </a:r>
          </a:p>
          <a:p>
            <a:pPr algn="l">
              <a:lnSpc>
                <a:spcPct val="110000"/>
              </a:lnSpc>
              <a:spcAft>
                <a:spcPts val="0"/>
              </a:spcAft>
            </a:pPr>
            <a:r>
              <a:rPr sz="1100" b="0">
                <a:solidFill>
                  <a:srgbClr val="333333"/>
                </a:solidFill>
                <a:latin typeface="メイリオ"/>
                <a:ea typeface="メイリオ"/>
                <a:cs typeface="メイリオ"/>
              </a:rPr>
              <a:t>有無を質問</a:t>
            </a:r>
          </a:p>
        </p:txBody>
      </p:sp>
      <p:sp>
        <p:nvSpPr>
          <p:cNvPr id="80" name="Rectangle 79"/>
          <p:cNvSpPr/>
          <p:nvPr/>
        </p:nvSpPr>
        <p:spPr>
          <a:xfrm>
            <a:off x="4992624" y="3712464"/>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1日2通</a:t>
            </a:r>
          </a:p>
        </p:txBody>
      </p:sp>
      <p:sp>
        <p:nvSpPr>
          <p:cNvPr id="81" name="Rectangle 80"/>
          <p:cNvSpPr/>
          <p:nvPr/>
        </p:nvSpPr>
        <p:spPr>
          <a:xfrm>
            <a:off x="6345936" y="3712464"/>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まずは相談する</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82" name="Rectangle 81"/>
          <p:cNvSpPr/>
          <p:nvPr/>
        </p:nvSpPr>
        <p:spPr>
          <a:xfrm>
            <a:off x="8156448" y="3712464"/>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3" name="Rectangle 82"/>
          <p:cNvSpPr/>
          <p:nvPr/>
        </p:nvSpPr>
        <p:spPr>
          <a:xfrm>
            <a:off x="384048" y="4462272"/>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リゾートバイト.com</a:t>
            </a:r>
          </a:p>
        </p:txBody>
      </p:sp>
      <p:sp>
        <p:nvSpPr>
          <p:cNvPr id="84" name="Rectangle 83"/>
          <p:cNvSpPr/>
          <p:nvPr/>
        </p:nvSpPr>
        <p:spPr>
          <a:xfrm>
            <a:off x="2148840" y="4462272"/>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32,225</a:t>
            </a:r>
          </a:p>
        </p:txBody>
      </p:sp>
      <p:sp>
        <p:nvSpPr>
          <p:cNvPr id="85" name="Rectangle 84"/>
          <p:cNvSpPr/>
          <p:nvPr/>
        </p:nvSpPr>
        <p:spPr>
          <a:xfrm>
            <a:off x="3136391" y="4462272"/>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a:t>
            </a:r>
          </a:p>
          <a:p>
            <a:pPr algn="l">
              <a:lnSpc>
                <a:spcPct val="110000"/>
              </a:lnSpc>
              <a:spcAft>
                <a:spcPts val="0"/>
              </a:spcAft>
            </a:pPr>
            <a:r>
              <a:rPr sz="1100" b="0">
                <a:solidFill>
                  <a:srgbClr val="333333"/>
                </a:solidFill>
                <a:latin typeface="メイリオ"/>
                <a:ea typeface="メイリオ"/>
                <a:cs typeface="メイリオ"/>
              </a:rPr>
              <a:t>（性別から）</a:t>
            </a:r>
          </a:p>
        </p:txBody>
      </p:sp>
      <p:sp>
        <p:nvSpPr>
          <p:cNvPr id="86" name="Rectangle 85"/>
          <p:cNvSpPr/>
          <p:nvPr/>
        </p:nvSpPr>
        <p:spPr>
          <a:xfrm>
            <a:off x="4992624" y="4462272"/>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87" name="Rectangle 86"/>
          <p:cNvSpPr/>
          <p:nvPr/>
        </p:nvSpPr>
        <p:spPr>
          <a:xfrm>
            <a:off x="6345936" y="4462272"/>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お問い合わせ</a:t>
            </a:r>
          </a:p>
          <a:p>
            <a:pPr algn="l">
              <a:lnSpc>
                <a:spcPct val="110000"/>
              </a:lnSpc>
              <a:spcAft>
                <a:spcPts val="0"/>
              </a:spcAft>
            </a:pPr>
            <a:r>
              <a:rPr sz="1100" b="0">
                <a:solidFill>
                  <a:srgbClr val="333333"/>
                </a:solidFill>
                <a:latin typeface="メイリオ"/>
                <a:ea typeface="メイリオ"/>
                <a:cs typeface="メイリオ"/>
              </a:rPr>
              <a:t>（メニュー）</a:t>
            </a:r>
          </a:p>
        </p:txBody>
      </p:sp>
      <p:sp>
        <p:nvSpPr>
          <p:cNvPr id="88" name="Rectangle 87"/>
          <p:cNvSpPr/>
          <p:nvPr/>
        </p:nvSpPr>
        <p:spPr>
          <a:xfrm>
            <a:off x="8156448" y="4462272"/>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9" name="Rectangle 88"/>
          <p:cNvSpPr/>
          <p:nvPr/>
        </p:nvSpPr>
        <p:spPr>
          <a:xfrm>
            <a:off x="384048" y="5212080"/>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アルファリゾート</a:t>
            </a:r>
          </a:p>
        </p:txBody>
      </p:sp>
      <p:sp>
        <p:nvSpPr>
          <p:cNvPr id="90" name="Rectangle 89"/>
          <p:cNvSpPr/>
          <p:nvPr/>
        </p:nvSpPr>
        <p:spPr>
          <a:xfrm>
            <a:off x="2148840" y="5212080"/>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26,846</a:t>
            </a:r>
          </a:p>
        </p:txBody>
      </p:sp>
      <p:sp>
        <p:nvSpPr>
          <p:cNvPr id="91" name="Rectangle 90"/>
          <p:cNvSpPr/>
          <p:nvPr/>
        </p:nvSpPr>
        <p:spPr>
          <a:xfrm>
            <a:off x="3136391" y="5212080"/>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会員登録と</a:t>
            </a:r>
          </a:p>
          <a:p>
            <a:pPr algn="l">
              <a:lnSpc>
                <a:spcPct val="110000"/>
              </a:lnSpc>
              <a:spcAft>
                <a:spcPts val="0"/>
              </a:spcAft>
            </a:pPr>
            <a:r>
              <a:rPr sz="1100" b="0">
                <a:solidFill>
                  <a:srgbClr val="333333"/>
                </a:solidFill>
                <a:latin typeface="メイリオ"/>
                <a:ea typeface="メイリオ"/>
                <a:cs typeface="メイリオ"/>
              </a:rPr>
              <a:t>カウンセリング予約のURL</a:t>
            </a:r>
          </a:p>
        </p:txBody>
      </p:sp>
      <p:sp>
        <p:nvSpPr>
          <p:cNvPr id="92" name="Rectangle 91"/>
          <p:cNvSpPr/>
          <p:nvPr/>
        </p:nvSpPr>
        <p:spPr>
          <a:xfrm>
            <a:off x="4992624" y="5212080"/>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93" name="Rectangle 92"/>
          <p:cNvSpPr/>
          <p:nvPr/>
        </p:nvSpPr>
        <p:spPr>
          <a:xfrm>
            <a:off x="6345936" y="5212080"/>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初回カウンセリング必須</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94" name="Rectangle 93"/>
          <p:cNvSpPr/>
          <p:nvPr/>
        </p:nvSpPr>
        <p:spPr>
          <a:xfrm>
            <a:off x="8156448" y="5212080"/>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95" name="TextBox 94"/>
          <p:cNvSpPr txBox="1"/>
          <p:nvPr/>
        </p:nvSpPr>
        <p:spPr>
          <a:xfrm>
            <a:off x="384048" y="6385762"/>
            <a:ext cx="9144000" cy="167235"/>
          </a:xfrm>
          <a:prstGeom prst="rect">
            <a:avLst/>
          </a:prstGeom>
          <a:noFill/>
        </p:spPr>
        <p:txBody>
          <a:bodyPr wrap="square" lIns="36000" tIns="10800" rIns="36000" bIns="10800" anchor="ctr">
            <a:spAutoFit/>
          </a:bodyPr>
          <a:lstStyle/>
          <a:p>
            <a:pPr algn="l">
              <a:lnSpc>
                <a:spcPct val="105000"/>
              </a:lnSpc>
              <a:spcAft>
                <a:spcPts val="200"/>
              </a:spcAft>
            </a:pPr>
            <a:r>
              <a:rPr sz="900" b="0" dirty="0">
                <a:solidFill>
                  <a:srgbClr val="777777"/>
                </a:solidFill>
                <a:latin typeface="メイリオ"/>
                <a:ea typeface="メイリオ"/>
                <a:cs typeface="メイリオ"/>
              </a:rPr>
              <a:t>出典｜各社のLINE公式アカウント（2026年10月に確認）。</a:t>
            </a:r>
            <a:r>
              <a:rPr sz="900" b="0" dirty="0" err="1">
                <a:solidFill>
                  <a:srgbClr val="777777"/>
                </a:solidFill>
                <a:latin typeface="メイリオ"/>
                <a:ea typeface="メイリオ"/>
                <a:cs typeface="メイリオ"/>
              </a:rPr>
              <a:t>友だち数はプロフィールの表示</a:t>
            </a:r>
            <a:r>
              <a:rPr sz="900" b="0" dirty="0">
                <a:solidFill>
                  <a:srgbClr val="777777"/>
                </a:solidFill>
                <a:latin typeface="メイリオ"/>
                <a:ea typeface="メイリオ"/>
                <a:cs typeface="メイリオ"/>
              </a:rPr>
              <a:t>。</a:t>
            </a:r>
            <a:endParaRPr lang="en-US" sz="900" b="0" dirty="0">
              <a:solidFill>
                <a:srgbClr val="777777"/>
              </a:solidFill>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297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各社の取り組み｜リゾートバイトダイブ</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追加の直後から毎日1通。登録 → 流れ → カウンセリング → 稼げる額の順に、不安を消して登録・相談へつなぐ。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ダイブ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ダイブ_03.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ダイブ_04.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マイページ登録のURLを最初に置き、LINEでできること（求人を探す・探してもらう・相談）を案内</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追加後の配信（毎日1通）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開始までの5ステップ → 初回カウンセリング（電話15分・履歴書不要）→ 稼げる額（平均月収 約25万円）→ 口コミ・SNS</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求人を探す／会員登録／ログイン／11月・12月開始のお仕事／よくある質問</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出典｜リゾートバイトダイブ LINE公式アカウント（2026年10月20〜24日の配信）</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6118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各社の取り組み｜リゾバ.com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追加の直後に経験の有無を聞き、1日2通、相談・タイプ別・条件別・エリア別の特集で求人へつなぐ。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バ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バ_02.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リゾバ_05.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採用コーディネーターがサポートすると伝え、会員登録（まずは相談する）へ。続けて「リゾートバイト経験はありますか？」</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追加後の配信（1日2通）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「話を聞いてみませんか？」／「あなたはどのタイプ？」（タイプ別の求人）／条件特集・エリア特集・レア求人</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探したい・働きたい（新着・条件検索・応募・11〜1月開始）／知りたい（はじめての方へ・体験談・特典）</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出典｜リゾバ.com LINE公式アカウント（2026年10月20〜22日の配信）</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526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追加の直後にアンケートから始め、リッチメニューで開始月別の求人と登録へつなぐ。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ートバイトcom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ートバイトcom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アンケート「Q1.性別を教えてください」から始める</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リッチメニュー（おしごと探し）</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リゾートバイト検索／10月・11月勤務開始／スキー場バイト／かんたんWEB登録（約50秒）</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リッチメニュー（サポートナビ）</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はじめての方へ／質問はこちら／体験談／お問い合わせ／マイページ／配信設定</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出典｜リゾートバイト.com LINE公式アカウント（2026年10月20日の画面）</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各社の取り組み｜アルファリゾート</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あいさつで会員登録と初回カウンセリングの予約を案内し、担当者がチャットで相談に乗る。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アルファ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アルファ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まずは無料で会員登録（URL）／初回カウンセリングの予約（URL・必須）／気になることは担当者が返信</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 ログイン／求人検索／お役立ち情報／マイページ作成／よくある質問／10月・11月スタートのお仕事</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ねらい</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LINEを、登録とカウンセリングの受付の窓口にしている</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出典｜リゾートバイトならアルファリゾート LINE公式アカウント（2026年10月20日の画面）</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154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他社のLINE活用のまとめ</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他社は、友だち追加の直後から毎日つないでいる。リゾートバイトの集客で、LINEは必須の接点になっている。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28800"/>
            <a:ext cx="32918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他社がやっていること</a:t>
            </a:r>
          </a:p>
        </p:txBody>
      </p:sp>
      <p:sp>
        <p:nvSpPr>
          <p:cNvPr id="60" name="Rectangle 59"/>
          <p:cNvSpPr/>
          <p:nvPr/>
        </p:nvSpPr>
        <p:spPr>
          <a:xfrm>
            <a:off x="3703320" y="1828800"/>
            <a:ext cx="58247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どこがやっているか</a:t>
            </a:r>
          </a:p>
        </p:txBody>
      </p:sp>
      <p:sp>
        <p:nvSpPr>
          <p:cNvPr id="61" name="Rectangle 60"/>
          <p:cNvSpPr/>
          <p:nvPr/>
        </p:nvSpPr>
        <p:spPr>
          <a:xfrm>
            <a:off x="384048" y="2231136"/>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1. 追加の直後に、登録・相談へ誘導する</a:t>
            </a:r>
          </a:p>
        </p:txBody>
      </p:sp>
      <p:sp>
        <p:nvSpPr>
          <p:cNvPr id="62" name="Rectangle 61"/>
          <p:cNvSpPr/>
          <p:nvPr/>
        </p:nvSpPr>
        <p:spPr>
          <a:xfrm>
            <a:off x="3703320" y="2231136"/>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リゾートバイトダイブ／リゾバ.com／アルファリゾート</a:t>
            </a:r>
          </a:p>
        </p:txBody>
      </p:sp>
      <p:sp>
        <p:nvSpPr>
          <p:cNvPr id="63" name="Rectangle 62"/>
          <p:cNvSpPr/>
          <p:nvPr/>
        </p:nvSpPr>
        <p:spPr>
          <a:xfrm>
            <a:off x="384048" y="2907792"/>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2. 追加の後も、毎日配信する</a:t>
            </a:r>
          </a:p>
        </p:txBody>
      </p:sp>
      <p:sp>
        <p:nvSpPr>
          <p:cNvPr id="64" name="Rectangle 63"/>
          <p:cNvSpPr/>
          <p:nvPr/>
        </p:nvSpPr>
        <p:spPr>
          <a:xfrm>
            <a:off x="3703320" y="2907792"/>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リゾートバイトダイブ（毎日1通）／リゾバ.com（1日2通）</a:t>
            </a:r>
          </a:p>
        </p:txBody>
      </p:sp>
      <p:sp>
        <p:nvSpPr>
          <p:cNvPr id="65" name="Rectangle 64"/>
          <p:cNvSpPr/>
          <p:nvPr/>
        </p:nvSpPr>
        <p:spPr>
          <a:xfrm>
            <a:off x="384048" y="3584448"/>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3. 経験・タイプを聞き、合う求人を出し分ける</a:t>
            </a:r>
          </a:p>
        </p:txBody>
      </p:sp>
      <p:sp>
        <p:nvSpPr>
          <p:cNvPr id="66" name="Rectangle 65"/>
          <p:cNvSpPr/>
          <p:nvPr/>
        </p:nvSpPr>
        <p:spPr>
          <a:xfrm>
            <a:off x="3703320" y="3584448"/>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リゾバ.com（経験の有無・タイプ別）／リゾートバイト.com（アンケート）</a:t>
            </a:r>
          </a:p>
        </p:txBody>
      </p:sp>
      <p:sp>
        <p:nvSpPr>
          <p:cNvPr id="67" name="Rectangle 66"/>
          <p:cNvSpPr/>
          <p:nvPr/>
        </p:nvSpPr>
        <p:spPr>
          <a:xfrm>
            <a:off x="384048" y="4261104"/>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4. リッチメニューに、開始月別の求人を置く</a:t>
            </a:r>
          </a:p>
        </p:txBody>
      </p:sp>
      <p:sp>
        <p:nvSpPr>
          <p:cNvPr id="68" name="Rectangle 67"/>
          <p:cNvSpPr/>
          <p:nvPr/>
        </p:nvSpPr>
        <p:spPr>
          <a:xfrm>
            <a:off x="3703320" y="4261104"/>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4社とも</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29260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ワクトリの現状のLINE</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今の流れは、あいさつ → アンケート3問 → 翌日のENTRY → 週1回の企画配信。絵と文面は見やすく整っている。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ワクトリ_01.jpg"/>
          <p:cNvPicPr>
            <a:picLocks noChangeAspect="1"/>
          </p:cNvPicPr>
          <p:nvPr/>
        </p:nvPicPr>
        <p:blipFill>
          <a:blip r:embed="rId2"/>
          <a:stretch>
            <a:fillRect/>
          </a:stretch>
        </p:blipFill>
        <p:spPr>
          <a:xfrm>
            <a:off x="685800" y="1783080"/>
            <a:ext cx="1393088" cy="3017520"/>
          </a:xfrm>
          <a:prstGeom prst="rect">
            <a:avLst/>
          </a:prstGeom>
        </p:spPr>
      </p:pic>
      <p:sp>
        <p:nvSpPr>
          <p:cNvPr id="60" name="TextBox 59"/>
          <p:cNvSpPr txBox="1"/>
          <p:nvPr/>
        </p:nvSpPr>
        <p:spPr>
          <a:xfrm>
            <a:off x="640079"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あいさつ</a:t>
            </a:r>
          </a:p>
        </p:txBody>
      </p:sp>
      <p:pic>
        <p:nvPicPr>
          <p:cNvPr id="61" name="Picture 60" descr="ワクトリ_02.jpg"/>
          <p:cNvPicPr>
            <a:picLocks noChangeAspect="1"/>
          </p:cNvPicPr>
          <p:nvPr/>
        </p:nvPicPr>
        <p:blipFill>
          <a:blip r:embed="rId3"/>
          <a:stretch>
            <a:fillRect/>
          </a:stretch>
        </p:blipFill>
        <p:spPr>
          <a:xfrm>
            <a:off x="2764688" y="1783080"/>
            <a:ext cx="1393088" cy="3017520"/>
          </a:xfrm>
          <a:prstGeom prst="rect">
            <a:avLst/>
          </a:prstGeom>
        </p:spPr>
      </p:pic>
      <p:sp>
        <p:nvSpPr>
          <p:cNvPr id="62" name="TextBox 61"/>
          <p:cNvSpPr txBox="1"/>
          <p:nvPr/>
        </p:nvSpPr>
        <p:spPr>
          <a:xfrm>
            <a:off x="2718968"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アンケート3問</a:t>
            </a:r>
          </a:p>
        </p:txBody>
      </p:sp>
      <p:pic>
        <p:nvPicPr>
          <p:cNvPr id="63" name="Picture 62" descr="ワクトリ_04.jpg"/>
          <p:cNvPicPr>
            <a:picLocks noChangeAspect="1"/>
          </p:cNvPicPr>
          <p:nvPr/>
        </p:nvPicPr>
        <p:blipFill>
          <a:blip r:embed="rId4"/>
          <a:stretch>
            <a:fillRect/>
          </a:stretch>
        </p:blipFill>
        <p:spPr>
          <a:xfrm>
            <a:off x="4843576" y="1783080"/>
            <a:ext cx="1393088" cy="3017520"/>
          </a:xfrm>
          <a:prstGeom prst="rect">
            <a:avLst/>
          </a:prstGeom>
        </p:spPr>
      </p:pic>
      <p:sp>
        <p:nvSpPr>
          <p:cNvPr id="64" name="TextBox 63"/>
          <p:cNvSpPr txBox="1"/>
          <p:nvPr/>
        </p:nvSpPr>
        <p:spPr>
          <a:xfrm>
            <a:off x="4797856"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翌日のENTRY</a:t>
            </a:r>
          </a:p>
        </p:txBody>
      </p:sp>
      <p:pic>
        <p:nvPicPr>
          <p:cNvPr id="65" name="Picture 64" descr="ワクトリ_07.jpg"/>
          <p:cNvPicPr>
            <a:picLocks noChangeAspect="1"/>
          </p:cNvPicPr>
          <p:nvPr/>
        </p:nvPicPr>
        <p:blipFill>
          <a:blip r:embed="rId5"/>
          <a:stretch>
            <a:fillRect/>
          </a:stretch>
        </p:blipFill>
        <p:spPr>
          <a:xfrm>
            <a:off x="6922465" y="1783080"/>
            <a:ext cx="1393088" cy="3017520"/>
          </a:xfrm>
          <a:prstGeom prst="rect">
            <a:avLst/>
          </a:prstGeom>
        </p:spPr>
      </p:pic>
      <p:sp>
        <p:nvSpPr>
          <p:cNvPr id="66" name="TextBox 65"/>
          <p:cNvSpPr txBox="1"/>
          <p:nvPr/>
        </p:nvSpPr>
        <p:spPr>
          <a:xfrm>
            <a:off x="6876745"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企画配信（毎週火曜）</a:t>
            </a:r>
          </a:p>
        </p:txBody>
      </p:sp>
      <p:sp>
        <p:nvSpPr>
          <p:cNvPr id="67" name="Rectangle 66"/>
          <p:cNvSpPr/>
          <p:nvPr/>
        </p:nvSpPr>
        <p:spPr>
          <a:xfrm>
            <a:off x="384048" y="5193792"/>
            <a:ext cx="237744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企画投稿の2種</a:t>
            </a:r>
          </a:p>
        </p:txBody>
      </p:sp>
      <p:sp>
        <p:nvSpPr>
          <p:cNvPr id="68" name="Rectangle 67"/>
          <p:cNvSpPr/>
          <p:nvPr/>
        </p:nvSpPr>
        <p:spPr>
          <a:xfrm>
            <a:off x="2788920" y="5193792"/>
            <a:ext cx="6739128"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69" name="Rectangle 68"/>
          <p:cNvSpPr/>
          <p:nvPr/>
        </p:nvSpPr>
        <p:spPr>
          <a:xfrm>
            <a:off x="384048" y="5522976"/>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直接応募</a:t>
            </a:r>
          </a:p>
        </p:txBody>
      </p:sp>
      <p:sp>
        <p:nvSpPr>
          <p:cNvPr id="70" name="Rectangle 69"/>
          <p:cNvSpPr/>
          <p:nvPr/>
        </p:nvSpPr>
        <p:spPr>
          <a:xfrm>
            <a:off x="2788920" y="5522976"/>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悩み3つ → 条件の特集10選 → 求人カード → 今すぐチェック</a:t>
            </a:r>
          </a:p>
        </p:txBody>
      </p:sp>
      <p:sp>
        <p:nvSpPr>
          <p:cNvPr id="71" name="Rectangle 70"/>
          <p:cNvSpPr/>
          <p:nvPr/>
        </p:nvSpPr>
        <p:spPr>
          <a:xfrm>
            <a:off x="384048" y="5925312"/>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会員登録の引き上げ</a:t>
            </a:r>
          </a:p>
        </p:txBody>
      </p:sp>
      <p:sp>
        <p:nvSpPr>
          <p:cNvPr id="72" name="Rectangle 71"/>
          <p:cNvSpPr/>
          <p:nvPr/>
        </p:nvSpPr>
        <p:spPr>
          <a:xfrm>
            <a:off x="2788920" y="5925312"/>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専属エージェントがサポート → 重視したいポイント（立地・稼げる など）→ ENTRY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これまでの運用について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これまでの運用の課題感と、これからやりたい施策を伺う。</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これまでの運用の課題感</a:t>
            </a:r>
          </a:p>
        </p:txBody>
      </p:sp>
      <p:sp>
        <p:nvSpPr>
          <p:cNvPr id="55" name="Rectangle 54"/>
          <p:cNvSpPr/>
          <p:nvPr/>
        </p:nvSpPr>
        <p:spPr>
          <a:xfrm>
            <a:off x="384048"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Rectangle 55"/>
          <p:cNvSpPr/>
          <p:nvPr/>
        </p:nvSpPr>
        <p:spPr>
          <a:xfrm>
            <a:off x="4992624"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これからやりたい施策</a:t>
            </a:r>
          </a:p>
        </p:txBody>
      </p:sp>
      <p:sp>
        <p:nvSpPr>
          <p:cNvPr id="57" name="Rectangle 56"/>
          <p:cNvSpPr/>
          <p:nvPr/>
        </p:nvSpPr>
        <p:spPr>
          <a:xfrm>
            <a:off x="4992624"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WEB</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前後検索 派遣 登録（色分け）">
            <a:extLst>
              <a:ext uri="{FF2B5EF4-FFF2-40B4-BE49-F238E27FC236}">
                <a16:creationId xmlns:a16="http://schemas.microsoft.com/office/drawing/2014/main" id="{B2125166-5E25-29DA-D966-FEA0209E7D2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1141763" y="6219402"/>
            <a:ext cx="3202899"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54391" y="6219402"/>
            <a:ext cx="3400636"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454391" y="1702353"/>
            <a:ext cx="841358"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1723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46415"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463040" cy="253916"/>
          </a:xfrm>
          <a:prstGeom prst="roundRect">
            <a:avLst/>
          </a:prstGeom>
          <a:solidFill>
            <a:srgbClr val="3467B2">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働き方・会社を比べる</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463040" cy="253916"/>
          </a:xfrm>
          <a:prstGeom prst="roundRect">
            <a:avLst/>
          </a:prstGeom>
          <a:solidFill>
            <a:srgbClr val="8E4EC6">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登録・応募の準備</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463040" cy="253916"/>
          </a:xfrm>
          <a:prstGeom prst="roundRect">
            <a:avLst/>
          </a:prstGeom>
          <a:solidFill>
            <a:srgbClr val="00897B">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お金・保険を調べる</a:t>
            </a: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5870448" y="254203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5623560" y="224028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派遣 登録</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検索当日の働き方の比較（Day1〜2）→ お金・保険の不安の解消（Day3〜4）→ 会社選び（Day6〜7）</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ENTRYの案内</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（Day10〜15）と、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段階的に信頼を積み上げながらENTRYへつなげる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重視したいポイントを分岐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（今のアンケートを発展）</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（追加直後は検索データなし。アンケートの回答で配信を出し分け）</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おすすめ求人</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働き方の比較</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リゾートバイトの</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働き方がわかる</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住み込みで働く流れと、</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食費無料・Wi-Fi完備など</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寮・生活の条件を紹介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派遣・単発と比べて</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選ばれる理由を伝える</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検索の直前・当日に「派遣会社」「単発バイト」「リゾートバイト」などを検索。働き方を比べている</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お役立ち情報</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Day3〜4</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お金・保険の不安</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働く前の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お金の疑問Q&amp;A</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保険料・年金はどうなる？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扶養内で働ける金額は？</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など、働く前に気になる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お金の疑問に</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先回りして答える</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検索の当日〜1日後に「扶養内で働ける金額 2025」「国民健康保険料」など、お金・保険の検索が続く</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解決したいQ&amp;A</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Day6〜7</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会社の比較・選び方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お仕事探しの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会社の選び方</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サポートを、他社との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違いとして伝える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体験談で信頼を積み上げる</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当日〜3日後に「派遣会社 おすすめ企業」「バイトル」「スタッフサービス」「エン派遣」など、会社・サービスを比べる検索が続く</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体験談</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Day10〜15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ENTRYの案内</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かんたん1分</a:t>
            </a:r>
            <a:endParaRPr lang="en-US" sz="1200" dirty="0">
              <a:solidFill>
                <a:srgbClr val="FF0000"/>
              </a:solidFill>
              <a:latin typeface="メイリオ" panose="020B0604030504040204" pitchFamily="50" charset="-128"/>
              <a:ea typeface="メイリオ" panose="020B0604030504040204" pitchFamily="50" charset="-128"/>
            </a:endParaRPr>
          </a:p>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ENTRYへ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面接・履歴書作成ナシ</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専属エージェントが</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お仕事中も終了後も</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開始時期・エリアに合う求人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2〜7日後に「派遣 職場見学 落ちる確率」「履歴書 書き方」など、応募・面接の準備の検索が増える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会員登録</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Googleトレンド リゾートバイト・スキー場バイト（月ごと）">
            <a:extLst>
              <a:ext uri="{FF2B5EF4-FFF2-40B4-BE49-F238E27FC236}">
                <a16:creationId xmlns:a16="http://schemas.microsoft.com/office/drawing/2014/main" id="{6E74B780-0053-8D9C-7393-EEF0666D1B29}"/>
              </a:ext>
            </a:extLst>
          </p:cNvPr>
          <p:cNvPicPr>
            <a:picLocks noChangeAspect="1"/>
          </p:cNvPicPr>
          <p:nvPr/>
        </p:nvPicPr>
        <p:blipFill>
          <a:blip r:embed="rId3"/>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リゾートバイト</a:t>
            </a: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6437376" y="3465576"/>
            <a:ext cx="914400" cy="566928"/>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6181344" y="1856231"/>
            <a:ext cx="512064" cy="1591056"/>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12">
            <a:extLst>
              <a:ext uri="{FF2B5EF4-FFF2-40B4-BE49-F238E27FC236}">
                <a16:creationId xmlns:a16="http://schemas.microsoft.com/office/drawing/2014/main" id="{38D4CCB3-6A52-E243-EBF3-4D9F3E0779B3}"/>
              </a:ext>
            </a:extLst>
          </p:cNvPr>
          <p:cNvSpPr/>
          <p:nvPr/>
        </p:nvSpPr>
        <p:spPr>
          <a:xfrm>
            <a:off x="46155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1月</a:t>
            </a:r>
          </a:p>
        </p:txBody>
      </p:sp>
      <p:sp>
        <p:nvSpPr>
          <p:cNvPr id="7" name="Rectangle 2011">
            <a:extLst>
              <a:ext uri="{FF2B5EF4-FFF2-40B4-BE49-F238E27FC236}">
                <a16:creationId xmlns:a16="http://schemas.microsoft.com/office/drawing/2014/main" id="{523206B0-A248-EDFA-FDF7-111D4BDD0015}"/>
              </a:ext>
            </a:extLst>
          </p:cNvPr>
          <p:cNvSpPr/>
          <p:nvPr/>
        </p:nvSpPr>
        <p:spPr>
          <a:xfrm>
            <a:off x="121805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2月</a:t>
            </a:r>
          </a:p>
        </p:txBody>
      </p:sp>
      <p:sp>
        <p:nvSpPr>
          <p:cNvPr id="13" name="Rectangle 2011">
            <a:extLst>
              <a:ext uri="{FF2B5EF4-FFF2-40B4-BE49-F238E27FC236}">
                <a16:creationId xmlns:a16="http://schemas.microsoft.com/office/drawing/2014/main" id="{523206B0-A248-EDFA-FDF7-111D4BDD0015}"/>
              </a:ext>
            </a:extLst>
          </p:cNvPr>
          <p:cNvSpPr/>
          <p:nvPr/>
        </p:nvSpPr>
        <p:spPr>
          <a:xfrm>
            <a:off x="197454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1">
            <a:extLst>
              <a:ext uri="{FF2B5EF4-FFF2-40B4-BE49-F238E27FC236}">
                <a16:creationId xmlns:a16="http://schemas.microsoft.com/office/drawing/2014/main" id="{523206B0-A248-EDFA-FDF7-111D4BDD0015}"/>
              </a:ext>
            </a:extLst>
          </p:cNvPr>
          <p:cNvSpPr/>
          <p:nvPr/>
        </p:nvSpPr>
        <p:spPr>
          <a:xfrm>
            <a:off x="3487538"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5月</a:t>
            </a:r>
          </a:p>
        </p:txBody>
      </p:sp>
      <p:sp>
        <p:nvSpPr>
          <p:cNvPr id="24" name="Rectangle 2012">
            <a:extLst>
              <a:ext uri="{FF2B5EF4-FFF2-40B4-BE49-F238E27FC236}">
                <a16:creationId xmlns:a16="http://schemas.microsoft.com/office/drawing/2014/main" id="{38D4CCB3-6A52-E243-EBF3-4D9F3E0779B3}"/>
              </a:ext>
            </a:extLst>
          </p:cNvPr>
          <p:cNvSpPr/>
          <p:nvPr/>
        </p:nvSpPr>
        <p:spPr>
          <a:xfrm>
            <a:off x="424403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6月</a:t>
            </a:r>
          </a:p>
        </p:txBody>
      </p:sp>
      <p:sp>
        <p:nvSpPr>
          <p:cNvPr id="27" name="Rectangle 2012">
            <a:extLst>
              <a:ext uri="{FF2B5EF4-FFF2-40B4-BE49-F238E27FC236}">
                <a16:creationId xmlns:a16="http://schemas.microsoft.com/office/drawing/2014/main" id="{38D4CCB3-6A52-E243-EBF3-4D9F3E0779B3}"/>
              </a:ext>
            </a:extLst>
          </p:cNvPr>
          <p:cNvSpPr/>
          <p:nvPr/>
        </p:nvSpPr>
        <p:spPr>
          <a:xfrm>
            <a:off x="500053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7月</a:t>
            </a:r>
          </a:p>
        </p:txBody>
      </p:sp>
      <p:sp>
        <p:nvSpPr>
          <p:cNvPr id="31" name="Rectangle 2011">
            <a:extLst>
              <a:ext uri="{FF2B5EF4-FFF2-40B4-BE49-F238E27FC236}">
                <a16:creationId xmlns:a16="http://schemas.microsoft.com/office/drawing/2014/main" id="{523206B0-A248-EDFA-FDF7-111D4BDD0015}"/>
              </a:ext>
            </a:extLst>
          </p:cNvPr>
          <p:cNvSpPr/>
          <p:nvPr/>
        </p:nvSpPr>
        <p:spPr>
          <a:xfrm>
            <a:off x="575702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8月</a:t>
            </a:r>
          </a:p>
        </p:txBody>
      </p:sp>
      <p:sp>
        <p:nvSpPr>
          <p:cNvPr id="41" name="Rectangle 2011">
            <a:extLst>
              <a:ext uri="{FF2B5EF4-FFF2-40B4-BE49-F238E27FC236}">
                <a16:creationId xmlns:a16="http://schemas.microsoft.com/office/drawing/2014/main" id="{523206B0-A248-EDFA-FDF7-111D4BDD0015}"/>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11月</a:t>
            </a:r>
          </a:p>
        </p:txBody>
      </p:sp>
      <p:sp>
        <p:nvSpPr>
          <p:cNvPr id="49" name="Rectangle 2008">
            <a:extLst>
              <a:ext uri="{FF2B5EF4-FFF2-40B4-BE49-F238E27FC236}">
                <a16:creationId xmlns:a16="http://schemas.microsoft.com/office/drawing/2014/main" id="{82B3CC5E-6187-AF51-5435-202392E72C80}"/>
              </a:ext>
            </a:extLst>
          </p:cNvPr>
          <p:cNvSpPr/>
          <p:nvPr/>
        </p:nvSpPr>
        <p:spPr>
          <a:xfrm>
            <a:off x="651207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9月</a:t>
            </a:r>
          </a:p>
        </p:txBody>
      </p:sp>
      <p:sp>
        <p:nvSpPr>
          <p:cNvPr id="51" name="Rectangle 2011">
            <a:extLst>
              <a:ext uri="{FF2B5EF4-FFF2-40B4-BE49-F238E27FC236}">
                <a16:creationId xmlns:a16="http://schemas.microsoft.com/office/drawing/2014/main" id="{523206B0-A248-EDFA-FDF7-111D4BDD0015}"/>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10月</a:t>
            </a:r>
          </a:p>
        </p:txBody>
      </p:sp>
      <p:sp>
        <p:nvSpPr>
          <p:cNvPr id="55" name="Rectangle 2012">
            <a:extLst>
              <a:ext uri="{FF2B5EF4-FFF2-40B4-BE49-F238E27FC236}">
                <a16:creationId xmlns:a16="http://schemas.microsoft.com/office/drawing/2014/main" id="{38D4CCB3-6A52-E243-EBF3-4D9F3E0779B3}"/>
              </a:ext>
            </a:extLst>
          </p:cNvPr>
          <p:cNvSpPr/>
          <p:nvPr/>
        </p:nvSpPr>
        <p:spPr>
          <a:xfrm>
            <a:off x="880841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12月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・10〜11月：「12月・1月開始のスキー場の求人」特集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・「2026-2027 winter SKI Resort」の求人を、開始時期・エリアの答えで出し分け</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・冬の終わりに、春からの次のお仕事を案内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夏（6〜7月）は「リゾートバイト」の検索が最も多い。</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海・離島・高原など、夏のエリアの求人特集。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・9月：冬の求人の先行案内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・4〜5月：夏の求人の先行案内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・契約満了の前：次のお仕事の案内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・「LINE友だち限定・先行公開」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希望のエリア・開始時期の答えで出し分け。</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集客</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友だちの入口</a:t>
            </a:r>
          </a:p>
          <a:p>
            <a:pPr algn="l">
              <a:lnSpc>
                <a:spcPct val="105000"/>
              </a:lnSpc>
              <a:spcAft>
                <a:spcPts val="200"/>
              </a:spcAft>
            </a:pPr>
            <a:r>
              <a:rPr sz="1200" b="0">
                <a:solidFill>
                  <a:srgbClr val="333333"/>
                </a:solidFill>
                <a:latin typeface="メイリオ"/>
                <a:ea typeface="メイリオ"/>
                <a:cs typeface="メイリオ"/>
              </a:rPr>
              <a:t>サイトのLINEボタン・広告の受け皿</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集客</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ポップアップ</a:t>
            </a:r>
          </a:p>
          <a:p>
            <a:pPr algn="l">
              <a:lnSpc>
                <a:spcPct val="105000"/>
              </a:lnSpc>
              <a:spcAft>
                <a:spcPts val="200"/>
              </a:spcAft>
            </a:pPr>
            <a:r>
              <a:rPr sz="1200" b="0">
                <a:solidFill>
                  <a:srgbClr val="333333"/>
                </a:solidFill>
                <a:latin typeface="メイリオ"/>
                <a:ea typeface="メイリオ"/>
                <a:cs typeface="メイリオ"/>
              </a:rPr>
              <a:t>サイトを離れる方をLINEへ</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即時分類</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7F5C7CD-143E-D046-95E0-587BA9375C6D}"/>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TextBox 107"/>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適正バイト診断</a:t>
            </a:r>
          </a:p>
          <a:p>
            <a:pPr algn="l">
              <a:lnSpc>
                <a:spcPct val="105000"/>
              </a:lnSpc>
              <a:spcAft>
                <a:spcPts val="200"/>
              </a:spcAft>
            </a:pPr>
            <a:r>
              <a:rPr sz="1200" b="0">
                <a:solidFill>
                  <a:srgbClr val="333333"/>
                </a:solidFill>
                <a:latin typeface="メイリオ"/>
                <a:ea typeface="メイリオ"/>
                <a:cs typeface="メイリオ"/>
              </a:rPr>
              <a:t>今のアンケートと「重視したいポイント」を発展</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分岐育成</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EC9AAED-0E7E-3F8D-0A4E-056B8E955E7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ステップ配信</a:t>
            </a:r>
          </a:p>
          <a:p>
            <a:pPr algn="l">
              <a:lnSpc>
                <a:spcPct val="105000"/>
              </a:lnSpc>
              <a:spcAft>
                <a:spcPts val="200"/>
              </a:spcAft>
            </a:pPr>
            <a:r>
              <a:rPr sz="1200" b="0">
                <a:solidFill>
                  <a:srgbClr val="333333"/>
                </a:solidFill>
                <a:latin typeface="メイリオ"/>
                <a:ea typeface="メイリオ"/>
                <a:cs typeface="メイリオ"/>
              </a:rPr>
              <a:t>追加後15日で、ENTRY・カウンセリングへ</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分岐育成</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870C123-133D-9CF1-6418-078AA9217B26}"/>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開始時期・エリア別の配信</a:t>
            </a:r>
          </a:p>
          <a:p>
            <a:pPr algn="l">
              <a:lnSpc>
                <a:spcPct val="105000"/>
              </a:lnSpc>
              <a:spcAft>
                <a:spcPts val="200"/>
              </a:spcAft>
            </a:pPr>
            <a:r>
              <a:rPr sz="1200" b="0">
                <a:solidFill>
                  <a:srgbClr val="333333"/>
                </a:solidFill>
                <a:latin typeface="メイリオ"/>
                <a:ea typeface="メイリオ"/>
                <a:cs typeface="メイリオ"/>
              </a:rPr>
              <a:t>診断の答えで、配信を出し分ける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分岐育成</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F459B5A5-8632-46A3-40F1-E4DEBFD1FCA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TextBox 88"/>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リッチメニュー</a:t>
            </a:r>
          </a:p>
          <a:p>
            <a:pPr algn="l">
              <a:lnSpc>
                <a:spcPct val="105000"/>
              </a:lnSpc>
              <a:spcAft>
                <a:spcPts val="200"/>
              </a:spcAft>
            </a:pPr>
            <a:r>
              <a:rPr sz="1200" b="0">
                <a:solidFill>
                  <a:srgbClr val="333333"/>
                </a:solidFill>
                <a:latin typeface="メイリオ"/>
                <a:ea typeface="メイリオ"/>
                <a:cs typeface="メイリオ"/>
              </a:rPr>
              <a:t>開始月別の求人・相談・ENTRY</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成果回収</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2E40065-F00C-4873-7138-F81C1E4B9727}"/>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サンクスLINE</a:t>
            </a:r>
          </a:p>
          <a:p>
            <a:pPr algn="l">
              <a:lnSpc>
                <a:spcPct val="105000"/>
              </a:lnSpc>
              <a:spcAft>
                <a:spcPts val="200"/>
              </a:spcAft>
            </a:pPr>
            <a:r>
              <a:rPr sz="1200" b="0">
                <a:solidFill>
                  <a:srgbClr val="333333"/>
                </a:solidFill>
                <a:latin typeface="メイリオ"/>
                <a:ea typeface="メイリオ"/>
                <a:cs typeface="メイリオ"/>
              </a:rPr>
              <a:t>マイページ登録の完了画面からLINEへ、カウンセリング・応募まで</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70CBF08D-A75A-0470-2FBB-3028F9D942F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3C7D88F4-3C3C-3E2E-C03F-2CCC867D89EC}"/>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成果回収</a:t>
            </a:r>
          </a:p>
        </p:txBody>
      </p:sp>
      <p:sp>
        <p:nvSpPr>
          <p:cNvPr id="51" name="Chevron 13">
            <a:extLst>
              <a:ext uri="{FF2B5EF4-FFF2-40B4-BE49-F238E27FC236}">
                <a16:creationId xmlns:a16="http://schemas.microsoft.com/office/drawing/2014/main" id="{759E7DA1-B0BF-83B4-5B22-46858D37029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E1C272E5-75EC-C617-4703-013CF3754F63}"/>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E9DA71D7-9C78-CD2C-7714-F3A95FFC1731}"/>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8CCD9A2E-65D9-A3A7-1F9E-9F339A653484}"/>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A3BB58FC-6C79-950E-F1BC-61DF96A00F4B}"/>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CF6FF1B6-0073-1D5C-E7B4-9CD1A7C404F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F755585F-9990-C994-AFCB-6B55869BB11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1A586438-3489-526C-D969-F3D159B19FC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20A32186-62A1-3BBF-CED6-D509ABE569B8}"/>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29F4C005-9928-FAAC-6A92-971D5F0B969B}"/>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48B7705-5A53-CB64-8318-08FA7AC165A4}"/>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9F8A8E43-9950-E3F2-F3FE-9C9B3CFBF78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B125C3F7-8289-EA3D-F9C3-E4122A1EF6CC}"/>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C4497524-AB39-B15B-217D-366289997E7B}"/>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C49ED30C-CEC0-2E49-5CC6-AB9E06E1664C}"/>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7095497-8A9F-3AE5-CF43-E456608BFED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1DE68DC3-7D7A-9CDB-56F3-E6921DE8DBAD}"/>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1C592B4B-F240-144A-4EC6-877E40B5DA24}"/>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A6208BB2-3F77-CF64-CB2E-3FF447A9F5F7}"/>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4FD2BF1B-521D-CC1A-7BFD-A22AA1142DA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C915B36-4012-C279-83CB-222ABE1F6039}"/>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9E5CE7E-1D8F-576F-9D97-DFF65D6EF007}"/>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3D248B8A-3417-C9D7-9DE8-CF0AAB168222}"/>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契約満了前の次のお仕事案内</a:t>
            </a:r>
          </a:p>
          <a:p>
            <a:pPr algn="l">
              <a:lnSpc>
                <a:spcPct val="105000"/>
              </a:lnSpc>
              <a:spcAft>
                <a:spcPts val="200"/>
              </a:spcAft>
            </a:pPr>
            <a:r>
              <a:rPr sz="1200" b="0">
                <a:solidFill>
                  <a:srgbClr val="333333"/>
                </a:solidFill>
                <a:latin typeface="メイリオ"/>
                <a:ea typeface="メイリオ"/>
                <a:cs typeface="メイリオ"/>
              </a:rPr>
              <a:t>稼働中・満了前に、次のお仕事をご案内</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概算お見積り：月33万円で、6か月目に友だち 86,631人・応募 月232件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¥330,000〜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月3回</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開始時期・エリア別</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4" name="正方形/長方形 85"/>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応募</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ポップアップ</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86,631人</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232件/月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プラン①（月3投稿）で、友だちの入口を増やし、検討の順番に沿った配信で応募を増やす</a:t>
            </a:r>
            <a:endParaRPr lang="en-US" sz="1400" b="0" u="none" strike="noStrike">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適正バイト</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診断</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料金プラン：2つのプランの費用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運用範囲に合わせて、2つのプランをご用意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380,000円〜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200,000円〜／プラン② 250,000円〜）＋ポップアップ 15,000円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※月額ツール・LINE関連費＝ポップアップ 30,000円。サンクスLINE誘導はオプション（初期150,000円・月額30,000円〜）。LINE公式アカウント利用料は別</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2つのプランの運用内容の比較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適正バイト診断・</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月3回程度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月5回程度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開始時期・エリア別の配信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384048" y="530352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※サンクスLINE誘導はオプション（初期150,000円・月額30,000円〜）</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効果が悪いときの改善例</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数字が伸びないときは、どこで止まっているかを見て、配信の中身・順番・対象を直す。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止まっているところ</a:t>
            </a:r>
          </a:p>
        </p:txBody>
      </p:sp>
      <p:sp>
        <p:nvSpPr>
          <p:cNvPr id="55" name="Rectangle 54"/>
          <p:cNvSpPr/>
          <p:nvPr/>
        </p:nvSpPr>
        <p:spPr>
          <a:xfrm>
            <a:off x="2788920"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見る数字</a:t>
            </a:r>
          </a:p>
        </p:txBody>
      </p:sp>
      <p:sp>
        <p:nvSpPr>
          <p:cNvPr id="56" name="Rectangle 55"/>
          <p:cNvSpPr/>
          <p:nvPr/>
        </p:nvSpPr>
        <p:spPr>
          <a:xfrm>
            <a:off x="5193792" y="1828800"/>
            <a:ext cx="4361687"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直し方</a:t>
            </a:r>
          </a:p>
        </p:txBody>
      </p:sp>
      <p:sp>
        <p:nvSpPr>
          <p:cNvPr id="57" name="Rectangle 56"/>
          <p:cNvSpPr/>
          <p:nvPr/>
        </p:nvSpPr>
        <p:spPr>
          <a:xfrm>
            <a:off x="384048" y="223113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友だちが増えない</a:t>
            </a:r>
          </a:p>
        </p:txBody>
      </p:sp>
      <p:sp>
        <p:nvSpPr>
          <p:cNvPr id="58" name="Rectangle 57"/>
          <p:cNvSpPr/>
          <p:nvPr/>
        </p:nvSpPr>
        <p:spPr>
          <a:xfrm>
            <a:off x="2788920" y="223113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友だち追加数・ポップアップの表示回数</a:t>
            </a:r>
          </a:p>
        </p:txBody>
      </p:sp>
      <p:sp>
        <p:nvSpPr>
          <p:cNvPr id="59" name="Rectangle 58"/>
          <p:cNvSpPr/>
          <p:nvPr/>
        </p:nvSpPr>
        <p:spPr>
          <a:xfrm>
            <a:off x="5193792" y="223113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ポップアップの出し方と訴求、広告の着地ページの導線を見直す</a:t>
            </a:r>
          </a:p>
        </p:txBody>
      </p:sp>
      <p:sp>
        <p:nvSpPr>
          <p:cNvPr id="60" name="Rectangle 59"/>
          <p:cNvSpPr/>
          <p:nvPr/>
        </p:nvSpPr>
        <p:spPr>
          <a:xfrm>
            <a:off x="384048" y="287121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ブロックが多い</a:t>
            </a:r>
          </a:p>
        </p:txBody>
      </p:sp>
      <p:sp>
        <p:nvSpPr>
          <p:cNvPr id="61" name="Rectangle 60"/>
          <p:cNvSpPr/>
          <p:nvPr/>
        </p:nvSpPr>
        <p:spPr>
          <a:xfrm>
            <a:off x="2788920" y="287121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ブロック率（配信ごと）</a:t>
            </a:r>
          </a:p>
        </p:txBody>
      </p:sp>
      <p:sp>
        <p:nvSpPr>
          <p:cNvPr id="62" name="Rectangle 61"/>
          <p:cNvSpPr/>
          <p:nvPr/>
        </p:nvSpPr>
        <p:spPr>
          <a:xfrm>
            <a:off x="5193792" y="287121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配信の頻度と対象を絞る。診断の答えに合わない配信を止める</a:t>
            </a:r>
          </a:p>
        </p:txBody>
      </p:sp>
      <p:sp>
        <p:nvSpPr>
          <p:cNvPr id="63" name="Rectangle 62"/>
          <p:cNvSpPr/>
          <p:nvPr/>
        </p:nvSpPr>
        <p:spPr>
          <a:xfrm>
            <a:off x="384048" y="351129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開封・クリックが低い</a:t>
            </a:r>
          </a:p>
        </p:txBody>
      </p:sp>
      <p:sp>
        <p:nvSpPr>
          <p:cNvPr id="64" name="Rectangle 63"/>
          <p:cNvSpPr/>
          <p:nvPr/>
        </p:nvSpPr>
        <p:spPr>
          <a:xfrm>
            <a:off x="2788920" y="351129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開封率・クリック率</a:t>
            </a:r>
          </a:p>
        </p:txBody>
      </p:sp>
      <p:sp>
        <p:nvSpPr>
          <p:cNvPr id="65" name="Rectangle 64"/>
          <p:cNvSpPr/>
          <p:nvPr/>
        </p:nvSpPr>
        <p:spPr>
          <a:xfrm>
            <a:off x="5193792" y="351129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見出し・画像・送る時間を変えて比べる</a:t>
            </a:r>
          </a:p>
        </p:txBody>
      </p:sp>
      <p:sp>
        <p:nvSpPr>
          <p:cNvPr id="66" name="Rectangle 65"/>
          <p:cNvSpPr/>
          <p:nvPr/>
        </p:nvSpPr>
        <p:spPr>
          <a:xfrm>
            <a:off x="384048" y="415137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ENTRYにつながらない</a:t>
            </a:r>
          </a:p>
        </p:txBody>
      </p:sp>
      <p:sp>
        <p:nvSpPr>
          <p:cNvPr id="67" name="Rectangle 66"/>
          <p:cNvSpPr/>
          <p:nvPr/>
        </p:nvSpPr>
        <p:spPr>
          <a:xfrm>
            <a:off x="2788920" y="415137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ENTRY数・ENTRY率</a:t>
            </a:r>
          </a:p>
        </p:txBody>
      </p:sp>
      <p:sp>
        <p:nvSpPr>
          <p:cNvPr id="68" name="Rectangle 67"/>
          <p:cNvSpPr/>
          <p:nvPr/>
        </p:nvSpPr>
        <p:spPr>
          <a:xfrm>
            <a:off x="5193792" y="415137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診断の結果に合う求人と、ステップ配信の順番を見直す</a:t>
            </a:r>
          </a:p>
        </p:txBody>
      </p:sp>
      <p:sp>
        <p:nvSpPr>
          <p:cNvPr id="69" name="Rectangle 68"/>
          <p:cNvSpPr/>
          <p:nvPr/>
        </p:nvSpPr>
        <p:spPr>
          <a:xfrm>
            <a:off x="384048" y="479145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登録後に応募が進まない</a:t>
            </a:r>
          </a:p>
        </p:txBody>
      </p:sp>
      <p:sp>
        <p:nvSpPr>
          <p:cNvPr id="70" name="Rectangle 69"/>
          <p:cNvSpPr/>
          <p:nvPr/>
        </p:nvSpPr>
        <p:spPr>
          <a:xfrm>
            <a:off x="2788920" y="479145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カウンセリング・応募の数</a:t>
            </a:r>
          </a:p>
        </p:txBody>
      </p:sp>
      <p:sp>
        <p:nvSpPr>
          <p:cNvPr id="71" name="Rectangle 70"/>
          <p:cNvSpPr/>
          <p:nvPr/>
        </p:nvSpPr>
        <p:spPr>
          <a:xfrm>
            <a:off x="5193792" y="479145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サンクスLINEの後の案内と、カウンセリングの予約の導線を見直す</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報告の粒度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毎月のレポートと定例会で、数字と次の打ち手を共有する。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4630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頻度</a:t>
            </a:r>
          </a:p>
        </p:txBody>
      </p:sp>
      <p:sp>
        <p:nvSpPr>
          <p:cNvPr id="55" name="Rectangle 54"/>
          <p:cNvSpPr/>
          <p:nvPr/>
        </p:nvSpPr>
        <p:spPr>
          <a:xfrm>
            <a:off x="1874520" y="1828800"/>
            <a:ext cx="2926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4828032" y="1828800"/>
            <a:ext cx="472744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57" name="Rectangle 56"/>
          <p:cNvSpPr/>
          <p:nvPr/>
        </p:nvSpPr>
        <p:spPr>
          <a:xfrm>
            <a:off x="384048" y="2231136"/>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58" name="Rectangle 57"/>
          <p:cNvSpPr/>
          <p:nvPr/>
        </p:nvSpPr>
        <p:spPr>
          <a:xfrm>
            <a:off x="1874520" y="2231136"/>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a:t>
            </a:r>
          </a:p>
        </p:txBody>
      </p:sp>
      <p:sp>
        <p:nvSpPr>
          <p:cNvPr id="59" name="Rectangle 58"/>
          <p:cNvSpPr/>
          <p:nvPr/>
        </p:nvSpPr>
        <p:spPr>
          <a:xfrm>
            <a:off x="4828032" y="2231136"/>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友だち数・ブロック率、配信ごとの開封・クリック、ENTRY・応募</a:t>
            </a:r>
          </a:p>
        </p:txBody>
      </p:sp>
      <p:sp>
        <p:nvSpPr>
          <p:cNvPr id="60" name="Rectangle 59"/>
          <p:cNvSpPr/>
          <p:nvPr/>
        </p:nvSpPr>
        <p:spPr>
          <a:xfrm>
            <a:off x="384048" y="2834640"/>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61" name="Rectangle 60"/>
          <p:cNvSpPr/>
          <p:nvPr/>
        </p:nvSpPr>
        <p:spPr>
          <a:xfrm>
            <a:off x="1874520" y="2834640"/>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定例会</a:t>
            </a:r>
          </a:p>
        </p:txBody>
      </p:sp>
      <p:sp>
        <p:nvSpPr>
          <p:cNvPr id="62" name="Rectangle 61"/>
          <p:cNvSpPr/>
          <p:nvPr/>
        </p:nvSpPr>
        <p:spPr>
          <a:xfrm>
            <a:off x="4828032" y="2834640"/>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先月の振り返りと、翌月の企画配信の内容</a:t>
            </a:r>
          </a:p>
        </p:txBody>
      </p:sp>
      <p:sp>
        <p:nvSpPr>
          <p:cNvPr id="63" name="Rectangle 62"/>
          <p:cNvSpPr/>
          <p:nvPr/>
        </p:nvSpPr>
        <p:spPr>
          <a:xfrm>
            <a:off x="384048" y="3438144"/>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四半期</a:t>
            </a:r>
          </a:p>
        </p:txBody>
      </p:sp>
      <p:sp>
        <p:nvSpPr>
          <p:cNvPr id="64" name="Rectangle 63"/>
          <p:cNvSpPr/>
          <p:nvPr/>
        </p:nvSpPr>
        <p:spPr>
          <a:xfrm>
            <a:off x="1874520" y="3438144"/>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設計の見直し</a:t>
            </a:r>
          </a:p>
        </p:txBody>
      </p:sp>
      <p:sp>
        <p:nvSpPr>
          <p:cNvPr id="65" name="Rectangle 64"/>
          <p:cNvSpPr/>
          <p:nvPr/>
        </p:nvSpPr>
        <p:spPr>
          <a:xfrm>
            <a:off x="4828032" y="3438144"/>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診断の項目、ステップ配信の順番、リッチメニューの並び</a:t>
            </a:r>
          </a:p>
        </p:txBody>
      </p:sp>
      <p:sp>
        <p:nvSpPr>
          <p:cNvPr id="66" name="Rectangle 65"/>
          <p:cNvSpPr/>
          <p:nvPr/>
        </p:nvSpPr>
        <p:spPr>
          <a:xfrm>
            <a:off x="384048" y="4160520"/>
            <a:ext cx="9116568" cy="1965959"/>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差し込み：月次レポートの見本</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体制・スケジュール</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設計 → 構築 → 運用開始 → 改善の順に進める。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段階</a:t>
            </a:r>
          </a:p>
        </p:txBody>
      </p:sp>
      <p:sp>
        <p:nvSpPr>
          <p:cNvPr id="55" name="Rectangle 54"/>
          <p:cNvSpPr/>
          <p:nvPr/>
        </p:nvSpPr>
        <p:spPr>
          <a:xfrm>
            <a:off x="2240279" y="1828800"/>
            <a:ext cx="72877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384048" y="2231136"/>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設計</a:t>
            </a:r>
          </a:p>
        </p:txBody>
      </p:sp>
      <p:sp>
        <p:nvSpPr>
          <p:cNvPr id="57" name="Rectangle 56"/>
          <p:cNvSpPr/>
          <p:nvPr/>
        </p:nvSpPr>
        <p:spPr>
          <a:xfrm>
            <a:off x="2240279" y="2231136"/>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友だちの入口、適正バイト診断の項目、ステップ配信の内容と順番</a:t>
            </a:r>
          </a:p>
        </p:txBody>
      </p:sp>
      <p:sp>
        <p:nvSpPr>
          <p:cNvPr id="58" name="Rectangle 57"/>
          <p:cNvSpPr/>
          <p:nvPr/>
        </p:nvSpPr>
        <p:spPr>
          <a:xfrm>
            <a:off x="384048" y="2816352"/>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構築</a:t>
            </a:r>
          </a:p>
        </p:txBody>
      </p:sp>
      <p:sp>
        <p:nvSpPr>
          <p:cNvPr id="59" name="Rectangle 58"/>
          <p:cNvSpPr/>
          <p:nvPr/>
        </p:nvSpPr>
        <p:spPr>
          <a:xfrm>
            <a:off x="2240279" y="2816352"/>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ポップアップ・サンクスLINE誘導、診断、ステップ配信、リッチメニュー</a:t>
            </a:r>
          </a:p>
        </p:txBody>
      </p:sp>
      <p:sp>
        <p:nvSpPr>
          <p:cNvPr id="60" name="Rectangle 59"/>
          <p:cNvSpPr/>
          <p:nvPr/>
        </p:nvSpPr>
        <p:spPr>
          <a:xfrm>
            <a:off x="384048" y="3401568"/>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運用開始</a:t>
            </a:r>
          </a:p>
        </p:txBody>
      </p:sp>
      <p:sp>
        <p:nvSpPr>
          <p:cNvPr id="61" name="Rectangle 60"/>
          <p:cNvSpPr/>
          <p:nvPr/>
        </p:nvSpPr>
        <p:spPr>
          <a:xfrm>
            <a:off x="2240279" y="3401568"/>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企画配信と、開始時期・エリア別の配信</a:t>
            </a:r>
          </a:p>
        </p:txBody>
      </p:sp>
      <p:sp>
        <p:nvSpPr>
          <p:cNvPr id="62" name="Rectangle 61"/>
          <p:cNvSpPr/>
          <p:nvPr/>
        </p:nvSpPr>
        <p:spPr>
          <a:xfrm>
            <a:off x="384048" y="3986783"/>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改善</a:t>
            </a:r>
          </a:p>
        </p:txBody>
      </p:sp>
      <p:sp>
        <p:nvSpPr>
          <p:cNvPr id="63" name="Rectangle 62"/>
          <p:cNvSpPr/>
          <p:nvPr/>
        </p:nvSpPr>
        <p:spPr>
          <a:xfrm>
            <a:off x="2240279" y="3986783"/>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月次レポート・定例会で、配信の中身・順番・対象を見直す</a:t>
            </a:r>
          </a:p>
        </p:txBody>
      </p:sp>
      <p:sp>
        <p:nvSpPr>
          <p:cNvPr id="64" name="Rectangle 63"/>
          <p:cNvSpPr/>
          <p:nvPr/>
        </p:nvSpPr>
        <p:spPr>
          <a:xfrm>
            <a:off x="384048" y="4526280"/>
            <a:ext cx="9116568" cy="1600200"/>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差し込み：体制図（弊社と貴社の役割）</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1632204"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2912363"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6935724"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1632204"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2912363"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6935724"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1632204"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2912363"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6935724"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1632204"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2912363"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6935724"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1632204"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2912363"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6935724"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1860804"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4055364"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1860804"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4055364"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1860804"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4055364"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1860804"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4055364"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1860804"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4055364"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1860804"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4055364"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1860804"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4055364"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1860804"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4055364"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1860804"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4055364"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1860804"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4055364"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1860804"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4055364"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1860804"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4055364"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1860804"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4055364"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1860804" y="2811744"/>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4055364" y="2811744"/>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1860804" y="3419820"/>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4055364" y="3419820"/>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1860804" y="4027896"/>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4055364" y="4027896"/>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1860804" y="463597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4055364" y="463597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145396</TotalTime>
  <Words>4402</Words>
  <Application>Microsoft Office PowerPoint</Application>
  <PresentationFormat>A4 210 x 297 mm</PresentationFormat>
  <Paragraphs>1027</Paragraphs>
  <Slides>56</Slides>
  <Notes>1</Notes>
  <HiddenSlides>1</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56</vt:i4>
      </vt:variant>
    </vt:vector>
  </HeadingPairs>
  <TitlesOfParts>
    <vt:vector size="63"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1983</cp:revision>
  <cp:lastPrinted>2022-11-01T11:38:14Z</cp:lastPrinted>
  <dcterms:created xsi:type="dcterms:W3CDTF">2015-09-04T09:21:15Z</dcterms:created>
  <dcterms:modified xsi:type="dcterms:W3CDTF">2026-10-26T04:36:09Z</dcterms:modified>
</cp:coreProperties>
</file>