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9"/>
  </p:notesMasterIdLst>
  <p:handoutMasterIdLst>
    <p:handoutMasterId r:id="rId60"/>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3174" r:id="rId65"/>
    <p:sldId id="3175" r:id="rId66"/>
    <p:sldId id="3176" r:id="rId67"/>
    <p:sldId id="2728" r:id="rId28"/>
    <p:sldId id="3160" r:id="rId29"/>
    <p:sldId id="3161" r:id="rId30"/>
    <p:sldId id="3162" r:id="rId31"/>
    <p:sldId id="3163" r:id="rId32"/>
    <p:sldId id="3164" r:id="rId33"/>
    <p:sldId id="3165" r:id="rId34"/>
    <p:sldId id="3166" r:id="rId35"/>
    <p:sldId id="3167" r:id="rId36"/>
    <p:sldId id="2729" r:id="rId37"/>
    <p:sldId id="3168" r:id="rId38"/>
    <p:sldId id="3169" r:id="rId39"/>
    <p:sldId id="3170" r:id="rId40"/>
    <p:sldId id="2730" r:id="rId41"/>
    <p:sldId id="2563" r:id="rId42"/>
    <p:sldId id="2959" r:id="rId43"/>
    <p:sldId id="2970" r:id="rId44"/>
    <p:sldId id="2968" r:id="rId45"/>
    <p:sldId id="2969" r:id="rId46"/>
    <p:sldId id="3151" r:id="rId47"/>
    <p:sldId id="2575" r:id="rId48"/>
    <p:sldId id="2910" r:id="rId49"/>
    <p:sldId id="3171" r:id="rId50"/>
    <p:sldId id="3172" r:id="rId51"/>
    <p:sldId id="3173" r:id="rId52"/>
    <p:sldId id="3136" r:id="rId53"/>
    <p:sldId id="3137" r:id="rId54"/>
    <p:sldId id="3138" r:id="rId55"/>
    <p:sldId id="3139" r:id="rId56"/>
    <p:sldId id="3140" r:id="rId57"/>
    <p:sldId id="1169" r:id="rId5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notesMaster" Target="notesMasters/notesMaster1.xml"/><Relationship Id="rId60" Type="http://schemas.openxmlformats.org/officeDocument/2006/relationships/handoutMaster" Target="handoutMasters/handout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 Id="rId4" Type="http://schemas.openxmlformats.org/officeDocument/2006/relationships/image" Target="../media/image71.jpg"/><Relationship Id="rId5" Type="http://schemas.openxmlformats.org/officeDocument/2006/relationships/image" Target="../media/image7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jpeg"/><Relationship Id="rId8" Type="http://schemas.openxmlformats.org/officeDocument/2006/relationships/image" Target="../media/image58.jp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hyperlink" Target="https://youtube.com/shorts/0qI4QgrOppQ"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4.jpeg"/><Relationship Id="rId5" Type="http://schemas.openxmlformats.org/officeDocument/2006/relationships/image" Target="../media/image65.jpeg"/><Relationship Id="rId6" Type="http://schemas.openxmlformats.org/officeDocument/2006/relationships/image" Target="../media/image66.jpeg"/><Relationship Id="rId7" Type="http://schemas.openxmlformats.org/officeDocument/2006/relationships/image" Target="../media/image67.jpeg"/><Relationship Id="rId8" Type="http://schemas.openxmlformats.org/officeDocument/2006/relationships/image" Target="../media/image6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他社は、友だち追加の直後から毎日つないでいる。リゾートバイトの集客で、LINEは必須の接点になっている。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28800"/>
            <a:ext cx="32918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60" name="Rectangle 59"/>
          <p:cNvSpPr/>
          <p:nvPr/>
        </p:nvSpPr>
        <p:spPr>
          <a:xfrm>
            <a:off x="3703320" y="1828800"/>
            <a:ext cx="58247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61" name="Rectangle 60"/>
          <p:cNvSpPr/>
          <p:nvPr/>
        </p:nvSpPr>
        <p:spPr>
          <a:xfrm>
            <a:off x="384048" y="2231136"/>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追加の直後に、登録・相談へ誘導する</a:t>
            </a:r>
          </a:p>
        </p:txBody>
      </p:sp>
      <p:sp>
        <p:nvSpPr>
          <p:cNvPr id="62" name="Rectangle 61"/>
          <p:cNvSpPr/>
          <p:nvPr/>
        </p:nvSpPr>
        <p:spPr>
          <a:xfrm>
            <a:off x="3703320" y="2231136"/>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リゾートバイトダイブ／リゾバ.com／アルファリゾート</a:t>
            </a:r>
          </a:p>
        </p:txBody>
      </p:sp>
      <p:sp>
        <p:nvSpPr>
          <p:cNvPr id="63" name="Rectangle 62"/>
          <p:cNvSpPr/>
          <p:nvPr/>
        </p:nvSpPr>
        <p:spPr>
          <a:xfrm>
            <a:off x="384048" y="2907792"/>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追加の後も、毎日配信する</a:t>
            </a:r>
          </a:p>
        </p:txBody>
      </p:sp>
      <p:sp>
        <p:nvSpPr>
          <p:cNvPr id="64" name="Rectangle 63"/>
          <p:cNvSpPr/>
          <p:nvPr/>
        </p:nvSpPr>
        <p:spPr>
          <a:xfrm>
            <a:off x="3703320" y="2907792"/>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リゾートバイトダイブ（毎日1通）／リゾバ.com（1日2通）</a:t>
            </a:r>
          </a:p>
        </p:txBody>
      </p:sp>
      <p:sp>
        <p:nvSpPr>
          <p:cNvPr id="65" name="Rectangle 64"/>
          <p:cNvSpPr/>
          <p:nvPr/>
        </p:nvSpPr>
        <p:spPr>
          <a:xfrm>
            <a:off x="384048" y="3584448"/>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経験・タイプを聞き、合う求人を出し分ける</a:t>
            </a:r>
          </a:p>
        </p:txBody>
      </p:sp>
      <p:sp>
        <p:nvSpPr>
          <p:cNvPr id="66" name="Rectangle 65"/>
          <p:cNvSpPr/>
          <p:nvPr/>
        </p:nvSpPr>
        <p:spPr>
          <a:xfrm>
            <a:off x="3703320" y="3584448"/>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リゾバ.com（経験の有無・タイプ別）／リゾートバイト.com（アンケート）</a:t>
            </a:r>
          </a:p>
        </p:txBody>
      </p:sp>
      <p:sp>
        <p:nvSpPr>
          <p:cNvPr id="67" name="Rectangle 66"/>
          <p:cNvSpPr/>
          <p:nvPr/>
        </p:nvSpPr>
        <p:spPr>
          <a:xfrm>
            <a:off x="384048" y="4261104"/>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リッチメニューに、開始月別の求人を置く</a:t>
            </a:r>
          </a:p>
        </p:txBody>
      </p:sp>
      <p:sp>
        <p:nvSpPr>
          <p:cNvPr id="68" name="Rectangle 67"/>
          <p:cNvSpPr/>
          <p:nvPr/>
        </p:nvSpPr>
        <p:spPr>
          <a:xfrm>
            <a:off x="3703320" y="4261104"/>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2"/>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重視したいポイントを分岐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（今のアンケートを発展）</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検索の直前・当日に「派遣会社」「単発バイト」「リゾートバイト」などを検索。働き方を比べている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検索の当日〜1日後に「扶養内で働ける金額 2025」「国民健康保険料」など、お金・保険の検索が続く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当日〜3日後に「派遣会社 おすすめ企業」「バイトル」「スタッフサービス」「エン派遣」など、会社・サービスを比べる検索が続く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2〜7日後に「派遣 職場見学 落ちる確率」「履歴書 書き方」など、応募・面接の準備の検索が増える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3"/>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Resort」の求人を、開始時期・エリアの答えで出し分け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・契約満了の前：次のお仕事の案内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友だちの入口</a:t>
            </a:r>
          </a:p>
          <a:p>
            <a:pPr algn="l">
              <a:lnSpc>
                <a:spcPct val="105000"/>
              </a:lnSpc>
              <a:spcAft>
                <a:spcPts val="200"/>
              </a:spcAft>
            </a:pPr>
            <a:r>
              <a:rPr sz="1200" b="0">
                <a:solidFill>
                  <a:srgbClr val="333333"/>
                </a:solidFill>
                <a:latin typeface="メイリオ"/>
                <a:ea typeface="メイリオ"/>
                <a:cs typeface="メイリオ"/>
              </a:rPr>
              <a:t>サイトのLINEボタン・広告の受け皿</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サイトを離れる方をLINEへ</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即時分類</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適正バイト診断</a:t>
            </a:r>
          </a:p>
          <a:p>
            <a:pPr algn="l">
              <a:lnSpc>
                <a:spcPct val="105000"/>
              </a:lnSpc>
              <a:spcAft>
                <a:spcPts val="200"/>
              </a:spcAft>
            </a:pPr>
            <a:r>
              <a:rPr sz="1200" b="0">
                <a:solidFill>
                  <a:srgbClr val="333333"/>
                </a:solidFill>
                <a:latin typeface="メイリオ"/>
                <a:ea typeface="メイリオ"/>
                <a:cs typeface="メイリオ"/>
              </a:rPr>
              <a:t>今のアンケートと「重視したいポイント」を発展</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追加後15日で、ENTRY・カウンセリングへ</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診断の答えで、配信を出し分ける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分岐育成</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リッチメニュー</a:t>
            </a:r>
          </a:p>
          <a:p>
            <a:pPr algn="l">
              <a:lnSpc>
                <a:spcPct val="105000"/>
              </a:lnSpc>
              <a:spcAft>
                <a:spcPts val="200"/>
              </a:spcAft>
            </a:pPr>
            <a:r>
              <a:rPr sz="1200" b="0">
                <a:solidFill>
                  <a:srgbClr val="333333"/>
                </a:solidFill>
                <a:latin typeface="メイリオ"/>
                <a:ea typeface="メイリオ"/>
                <a:cs typeface="メイリオ"/>
              </a:rPr>
              <a:t>開始月別の求人・相談・ENTRY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a:t>
            </a:r>
          </a:p>
          <a:p>
            <a:pPr algn="l">
              <a:lnSpc>
                <a:spcPct val="105000"/>
              </a:lnSpc>
              <a:spcAft>
                <a:spcPts val="200"/>
              </a:spcAft>
            </a:pPr>
            <a:r>
              <a:rPr sz="1200" b="0">
                <a:solidFill>
                  <a:srgbClr val="333333"/>
                </a:solidFill>
                <a:latin typeface="メイリオ"/>
                <a:ea typeface="メイリオ"/>
                <a:cs typeface="メイリオ"/>
              </a:rPr>
              <a:t>マイページ登録の完了画面からLINEへ、カウンセリング・応募まで</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D248B8A-3417-C9D7-9DE8-CF0AAB168222}"/>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契約満了前の次のお仕事案内</a:t>
            </a:r>
          </a:p>
          <a:p>
            <a:pPr algn="l">
              <a:lnSpc>
                <a:spcPct val="105000"/>
              </a:lnSpc>
              <a:spcAft>
                <a:spcPts val="200"/>
              </a:spcAft>
            </a:pPr>
            <a:r>
              <a:rPr sz="1200" b="0">
                <a:solidFill>
                  <a:srgbClr val="333333"/>
                </a:solidFill>
                <a:latin typeface="メイリオ"/>
                <a:ea typeface="メイリオ"/>
                <a:cs typeface="メイリオ"/>
              </a:rPr>
              <a:t>稼働中・満了前に、次のお仕事をご案内</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概算お見積り：月36万円で、6か月目に友だち 87,495人・応募 月234件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¥365,000〜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¥360,000〜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月3回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87,495人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234件/月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プラン①（月3投稿）で、友だちの入口を増やし、検討の順番に沿った配信で応募を増やす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4" name="正方形/長方形 11"/>
          <p:cNvSpPr/>
          <p:nvPr/>
        </p:nvSpPr>
        <p:spPr>
          <a:xfrm>
            <a:off x="3070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サンクスLINE誘導</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85" name="正方形/長方形 13"/>
          <p:cNvSpPr/>
          <p:nvPr/>
        </p:nvSpPr>
        <p:spPr>
          <a:xfrm>
            <a:off x="17701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380,000円〜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200,000円〜／プラン② 250,000円〜）＋ポップアップ 15,000円。プラン①はサンクスLINE誘導 150,000円を含む</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30,000円。プラン①はサンクスLINE誘導 30,000円〜を含む（プラン②はオプション）。LINE公式アカウント利用料は別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月3回程度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384048" y="530352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※プラン②のサンクスLINE誘導はオプション（初期150,000円・月額30,000円〜）</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145396</TotalTime>
  <Words>4402</Words>
  <Application>Microsoft Office PowerPoint</Application>
  <PresentationFormat>A4 210 x 297 mm</PresentationFormat>
  <Paragraphs>1027</Paragraphs>
  <Slides>56</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1983</cp:revision>
  <cp:lastPrinted>2022-11-01T11:38:14Z</cp:lastPrinted>
  <dcterms:created xsi:type="dcterms:W3CDTF">2015-09-04T09:21:15Z</dcterms:created>
  <dcterms:modified xsi:type="dcterms:W3CDTF">2026-10-26T04:36:09Z</dcterms:modified>
</cp:coreProperties>
</file>