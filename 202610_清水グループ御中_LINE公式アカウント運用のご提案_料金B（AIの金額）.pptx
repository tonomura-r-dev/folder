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363" r:id="rId3"/>
    <p:sldId id="2736" r:id="rId4"/>
    <p:sldId id="3009" r:id="rId45"/>
    <p:sldId id="3010" r:id="rId46"/>
    <p:sldId id="2996" r:id="rId11"/>
    <p:sldId id="2998" r:id="rId14"/>
    <p:sldId id="3003" r:id="rId20"/>
    <p:sldId id="3011" r:id="rId47"/>
    <p:sldId id="3008" r:id="rId24"/>
    <p:sldId id="2908" r:id="rId22"/>
    <p:sldId id="1169" r:id="rId2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74" d="100"/>
          <a:sy n="74" d="100"/>
        </p:scale>
        <p:origin x="784" y="44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11" Type="http://schemas.openxmlformats.org/officeDocument/2006/relationships/slide" Target="slides/slide9.xml"/><Relationship Id="rId14" Type="http://schemas.openxmlformats.org/officeDocument/2006/relationships/slide" Target="slides/slide12.xml"/><Relationship Id="rId20" Type="http://schemas.openxmlformats.org/officeDocument/2006/relationships/slide" Target="slides/slide18.xml"/><Relationship Id="rId22" Type="http://schemas.openxmlformats.org/officeDocument/2006/relationships/slide" Target="slides/slide20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jpeg"/><Relationship Id="rId8" Type="http://schemas.openxmlformats.org/officeDocument/2006/relationships/image" Target="../media/image17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09344" y="2103120"/>
            <a:ext cx="6629400" cy="868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グループ全体の求人に対応する、</a:t>
            </a:r>
          </a:p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職種分岐型のLINE採用の仕組み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11" name="テキスト ボックス 6"/>
          <p:cNvSpPr/>
          <p:nvPr/>
        </p:nvSpPr>
        <p:spPr>
          <a:xfrm>
            <a:off x="291960" y="263520"/>
            <a:ext cx="496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清水グループ 御中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677829" y="118686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687600"/>
            <a:ext cx="9043200" cy="684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サイトに来ている方・応募した方を、LINEでつなぎ止める。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飲食・イベント・警備・正社員まで、グループ全体の求人に職種を分けて案内する提案。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09304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22000" y="215064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2000" y="215064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209304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第1章｜現状と課題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225348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応募の前後で、求職者とのつながりが切れている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273384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2000" y="279144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2000" y="279144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73384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第2章｜解決策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89428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希望条件で職種を分け、グループ全体の求人につなぐ</a:t>
            </a:r>
            <a:endParaRPr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2000" y="337464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22000" y="343224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2000" y="343224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337464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第3章｜施策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353508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友だちの入口・リッチメニュー・面接に来る方を増やす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401544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22000" y="407304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2000" y="407304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401544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第4章｜費用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417588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概算お見積り・運用プラン・運用サポート体制</a:t>
            </a:r>
            <a:endParaRPr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［第3章］施策｜友だちの入口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908002"/>
            <a:ext cx="9331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広告を増やさずに、いまサイトに来ている方・応募した方をLINEにつなぐ。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2000" y="1719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719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応募した直後に友だち追加を案内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6000" y="1736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最も確実。すでに応募した方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000" y="2421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999" y="2421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求人サイトを離れようとした方にLINEを案内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2438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応募フォームより軽い入口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2000" y="3123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サイトのLINEボタン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3123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求人ページにLINEの入口を置く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3140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まだ応募を決めていない方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2000" y="3825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店舗・現場のQRコード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1999" y="3825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店舗・現場のポスターやチラシから直接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3842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すでにある接点を使う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4526209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32000" y="4566361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職種が決まっていない方も、LINEに残しておける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［第3章］施策｜リッチメニュー（3タブ × 6枠）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「条件を変える」「通知を止める」を、隠さずに置く。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出口を塞ぐと、二度と戻ってこない。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3577" y="10800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61577" y="10784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今すぐ探す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1577" y="13301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最重要CTA。常に左上に置く</a:t>
            </a:r>
            <a:endParaRPr sz="1200" b="0" dirty="0">
              <a:solidFill>
                <a:srgbClr val="64748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53577" y="16632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61577" y="16616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条件に合う新着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1577" y="19133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希望条件から一覧へ送る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3577" y="22464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1577" y="22448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希望条件を変える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1577" y="24965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職種を変えて、別の求人へ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3577" y="28296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61577" y="28280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よくある質問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1577" y="30797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面接・持ち物に先回り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3577" y="3412801"/>
            <a:ext cx="2988000" cy="503999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61577" y="34112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通知を止める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577" y="36629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ブロックの代わりになる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3577" y="3996001"/>
            <a:ext cx="2988000" cy="503999"/>
          </a:xfrm>
          <a:prstGeom prst="rect">
            <a:avLst/>
          </a:prstGeom>
          <a:solidFill>
            <a:srgbClr val="FDF2F2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61577" y="3994451"/>
            <a:ext cx="27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今は働いている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577" y="4246148"/>
            <a:ext cx="277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★ 働いている間は配信を止める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84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2000" y="5224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「通知を止める」「今は働いている」を置くから、ブロックされずにつながり続ける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画面はイメージ。タブ構成とボタン名は運用しながら調整する</a:t>
            </a:r>
          </a:p>
        </p:txBody>
      </p:sp>
      <p:pic>
        <p:nvPicPr>
          <p:cNvPr id="27" name="Picture 26" descr="人材A_リッチメニュ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84" y="1512000"/>
            <a:ext cx="4292830" cy="286188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［第3章］施策｜面接に来る方を増やす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応募数も広告費も増やさずに、面接に来る方を増やす。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前日にお知らせ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無断欠席が減る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不安に先回り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面接の流れ・職場の様子を送る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面接前の不安を消す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LINEで候補日を選んでもらう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電話の往復で冷めるのを防ぐ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合わなければ別の職種へ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不採用・辞退の翌日に、グループ内の別の求人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気持ちが高いうちに次の応募へ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目指すのは、応募した方がグループのどこかで働き始めること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前日のお知らせは、個別チャットか通知メッセージ（別途費用）で送る。友だち追加の翌日以降に届くステップ配信では、面接日に合わせられないため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800" tIns="7200" rIns="28800" bIns="72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  <a:sym typeface="Meiryo"/>
              </a:rPr>
              <a:t>［第4章］運用サポート体制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GAレポート連携で、応募率・面接実施率を毎月確認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年間カレンダーに沿った配信を、貴社に代わって作成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3756183" y="751045"/>
            <a:ext cx="2022158" cy="58976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構築だけでなく、運用しながら改善する体制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>
                <a:latin typeface="メイリオ"/>
                <a:ea typeface="メイリオ"/>
                <a:cs typeface="メイリオ"/>
              </a:defRPr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メイリオ"/>
                <a:ea typeface="メイリオ"/>
                <a:cs typeface="メイリオ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［第4章］運用プラン（6か月〜／税抜）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体制と予算に合わせて、3つのプランから選択可能。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初期費用は初月のみ。2か月目以降は月額のみ。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松：D 運用代行フルサポート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50万円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35万円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配信の作成・画像制作・月次の分析と改善まで代行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竹：A コンサル基本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30万円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20万円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月次レポート・改善のご提案・運用のレクチャー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梅：C 初期設計・構築のみ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60万円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初期構築・職種別の自動応答・リッチメニュー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DF1E9"/>
          </a:solidFill>
          <a:ln w="127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FF0000"/>
                </a:solidFill>
                <a:latin typeface="メイリオ"/>
                <a:ea typeface="メイリオ"/>
                <a:cs typeface="メイリオ"/>
              </a:rPr>
              <a:t>★通知メッセージ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初期15万＋月3万〜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1万〜／ID連携 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まずは梅（初期設計・構築のみ・月額0円）から始めることも可能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すべて税抜・6か月〜の契約。開発やツールの導入は、別途費用がかかる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［第1章］現状と課題｜応募の前後で、求職者とのつながりが切れている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求人サイトには月約9,000人が来ている。それでも、応募の前・応募の後・不採用の後でつながりが切れている。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応募の前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548000"/>
            <a:ext cx="6089903" cy="77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他社と並べて検討し、「あとで応募しよう」と離れる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応募フォーム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430000"/>
            <a:ext cx="6089903" cy="77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入力の手間で、途中で離れる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応募の後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311999"/>
            <a:ext cx="6089903" cy="77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日程の連絡に時間がかかり、面接に来ない方が出る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不採用・辞退の後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194000"/>
            <a:ext cx="6089903" cy="77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その職種で合わなかった方との接点が切れる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広告を増やさずに、すでにサイトに来ている方をLINEでつなぎ止める</a:t>
            </a:r>
          </a:p>
        </p:txBody>
      </p:sp>
      <p:sp>
        <p:nvSpPr>
          <p:cNvPr id="26" name="注記"/>
          <p:cNvSpPr/>
          <p:nvPr/>
        </p:nvSpPr>
        <p:spPr>
          <a:xfrm>
            <a:off x="429768" y="6245352"/>
            <a:ext cx="904341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求人サイトの月間UU（8,947）は、貴社からいただいた数値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［第2章］解決策｜希望条件で職種を分け、グループ全体の求人につなぐ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飲食店だけでなく、イベント・警備・施設・正社員まで、ひとつのLINEで職種ごとに案内を分ける。</a:t>
            </a:r>
          </a:p>
        </p:txBody>
      </p:sp>
      <p:sp>
        <p:nvSpPr>
          <p:cNvPr id="4" name="求人サイト"/>
          <p:cNvSpPr/>
          <p:nvPr/>
        </p:nvSpPr>
        <p:spPr>
          <a:xfrm>
            <a:off x="429768" y="2103120"/>
            <a:ext cx="2055114" cy="73152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求人サイト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月約9,000人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5" name="矢印"/>
          <p:cNvSpPr/>
          <p:nvPr/>
        </p:nvSpPr>
        <p:spPr>
          <a:xfrm>
            <a:off x="2484882" y="210312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LINE"/>
          <p:cNvSpPr/>
          <p:nvPr/>
        </p:nvSpPr>
        <p:spPr>
          <a:xfrm>
            <a:off x="2759202" y="2103120"/>
            <a:ext cx="2055114" cy="73152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友だち追加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矢印"/>
          <p:cNvSpPr/>
          <p:nvPr/>
        </p:nvSpPr>
        <p:spPr>
          <a:xfrm>
            <a:off x="4814316" y="210312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希望条件を選ぶ"/>
          <p:cNvSpPr/>
          <p:nvPr/>
        </p:nvSpPr>
        <p:spPr>
          <a:xfrm>
            <a:off x="5088636" y="2103120"/>
            <a:ext cx="2055114" cy="73152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希望条件を選ぶ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働き方・職種・エリア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矢印"/>
          <p:cNvSpPr/>
          <p:nvPr/>
        </p:nvSpPr>
        <p:spPr>
          <a:xfrm>
            <a:off x="7143750" y="2103120"/>
            <a:ext cx="2743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▶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職種ごとに"/>
          <p:cNvSpPr/>
          <p:nvPr/>
        </p:nvSpPr>
        <p:spPr>
          <a:xfrm>
            <a:off x="7418070" y="2103120"/>
            <a:ext cx="2055114" cy="731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職種ごとに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案内を分ける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矢印"/>
          <p:cNvSpPr/>
          <p:nvPr/>
        </p:nvSpPr>
        <p:spPr>
          <a:xfrm>
            <a:off x="7418070" y="2834640"/>
            <a:ext cx="205511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0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▼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飲食店スタッフ"/>
          <p:cNvSpPr/>
          <p:nvPr/>
        </p:nvSpPr>
        <p:spPr>
          <a:xfrm>
            <a:off x="429768" y="3200400"/>
            <a:ext cx="2831592" cy="6858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飲食店スタッフ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イベント設営・警備・"/>
          <p:cNvSpPr/>
          <p:nvPr/>
        </p:nvSpPr>
        <p:spPr>
          <a:xfrm>
            <a:off x="3535680" y="3200400"/>
            <a:ext cx="2831592" cy="6858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イベント設営・警備・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施設スタッフ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正社員・総合職"/>
          <p:cNvSpPr/>
          <p:nvPr/>
        </p:nvSpPr>
        <p:spPr>
          <a:xfrm>
            <a:off x="6641592" y="3200400"/>
            <a:ext cx="2831592" cy="6858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54864" tIns="36576" rIns="54864" bIns="36576" rtlCol="0" anchor="ctr">
            <a:no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正社員・総合職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補足"/>
          <p:cNvSpPr/>
          <p:nvPr/>
        </p:nvSpPr>
        <p:spPr>
          <a:xfrm>
            <a:off x="429768" y="3931920"/>
            <a:ext cx="904341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職種ごとに、新着の求人・面接のお知らせ・よくある質問を届ける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示唆"/>
          <p:cNvSpPr/>
          <p:nvPr/>
        </p:nvSpPr>
        <p:spPr>
          <a:xfrm>
            <a:off x="429768" y="4434840"/>
            <a:ext cx="9043416" cy="411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6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不採用・辞退でも、グループ内の別の職種を案内できる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［第4章］概算お見積り：6か月目に追える人数662人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竹（コンサル基本）で運用した場合の費用と、6か月後の見込み。</a:t>
            </a:r>
          </a:p>
        </p:txBody>
      </p:sp>
      <p:sp>
        <p:nvSpPr>
          <p:cNvPr id="341" name="正方形/長方形 4"/>
          <p:cNvSpPr/>
          <p:nvPr/>
        </p:nvSpPr>
        <p:spPr>
          <a:xfrm>
            <a:off x="261360" y="1517760"/>
            <a:ext cx="2899440" cy="383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初期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2" name="正方形/長方形 6"/>
          <p:cNvSpPr/>
          <p:nvPr/>
        </p:nvSpPr>
        <p:spPr>
          <a:xfrm>
            <a:off x="3337560" y="1517760"/>
            <a:ext cx="2899440" cy="3837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月次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3" name="正方形/長方形 7"/>
          <p:cNvSpPr/>
          <p:nvPr/>
        </p:nvSpPr>
        <p:spPr>
          <a:xfrm>
            <a:off x="261360" y="1956960"/>
            <a:ext cx="2899440" cy="676440"/>
          </a:xfrm>
          <a:prstGeom prst="rect">
            <a:avLst/>
          </a:prstGeom>
          <a:noFill/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¥495,000〜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4" name="正方形/長方形 9"/>
          <p:cNvSpPr/>
          <p:nvPr/>
        </p:nvSpPr>
        <p:spPr>
          <a:xfrm>
            <a:off x="3337560" y="1956960"/>
            <a:ext cx="2899440" cy="676440"/>
          </a:xfrm>
          <a:prstGeom prst="rect">
            <a:avLst/>
          </a:prstGeom>
          <a:noFill/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¥265,000〜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5" name="矢印: 右 14"/>
          <p:cNvSpPr/>
          <p:nvPr/>
        </p:nvSpPr>
        <p:spPr>
          <a:xfrm>
            <a:off x="6379200" y="1956960"/>
            <a:ext cx="365400" cy="2797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6" name="正方形/長方形 16"/>
          <p:cNvSpPr/>
          <p:nvPr/>
        </p:nvSpPr>
        <p:spPr>
          <a:xfrm>
            <a:off x="6744960" y="1517760"/>
            <a:ext cx="2899440" cy="383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6</a:t>
            </a:r>
            <a:r>
              <a:rPr lang="ja-JP" sz="14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か月後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7" name="テキスト ボックス 18"/>
          <p:cNvSpPr/>
          <p:nvPr/>
        </p:nvSpPr>
        <p:spPr>
          <a:xfrm>
            <a:off x="261360" y="2688480"/>
            <a:ext cx="2899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&lt;</a:t>
            </a:r>
            <a:r>
              <a:rPr lang="ja-JP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実施内容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8" name="テキスト ボックス 20"/>
          <p:cNvSpPr/>
          <p:nvPr/>
        </p:nvSpPr>
        <p:spPr>
          <a:xfrm>
            <a:off x="3337560" y="2688480"/>
            <a:ext cx="2899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&lt;</a:t>
            </a:r>
            <a:r>
              <a:rPr lang="ja-JP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実施内容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49" name="正方形/長方形 24"/>
          <p:cNvSpPr/>
          <p:nvPr/>
        </p:nvSpPr>
        <p:spPr>
          <a:xfrm>
            <a:off x="3383280" y="30906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企画配信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0" name="正方形/長方形 28"/>
          <p:cNvSpPr/>
          <p:nvPr/>
        </p:nvSpPr>
        <p:spPr>
          <a:xfrm>
            <a:off x="4846320" y="30906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月3回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1" name="正方形/長方形 32"/>
          <p:cNvSpPr/>
          <p:nvPr/>
        </p:nvSpPr>
        <p:spPr>
          <a:xfrm>
            <a:off x="3383280" y="3579840"/>
            <a:ext cx="1425960" cy="484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" tIns="0" rIns="36576" bIns="0" anchor="ctr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ja-JP" sz="12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ステップ配信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2" name="正方形/長方形 36"/>
          <p:cNvSpPr/>
          <p:nvPr/>
        </p:nvSpPr>
        <p:spPr>
          <a:xfrm>
            <a:off x="4846320" y="3579840"/>
            <a:ext cx="1343880" cy="484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576" tIns="0" rIns="36576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2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3通の改善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3" name="正方形/長方形 40"/>
          <p:cNvSpPr/>
          <p:nvPr/>
        </p:nvSpPr>
        <p:spPr>
          <a:xfrm>
            <a:off x="3383280" y="406908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職種ごとの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4" name="正方形/長方形 45"/>
          <p:cNvSpPr/>
          <p:nvPr/>
        </p:nvSpPr>
        <p:spPr>
          <a:xfrm>
            <a:off x="4846320" y="406908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新着の案内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5" name="正方形/長方形 49"/>
          <p:cNvSpPr/>
          <p:nvPr/>
        </p:nvSpPr>
        <p:spPr>
          <a:xfrm>
            <a:off x="3383280" y="455832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友だちの入口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6" name="正方形/長方形 53"/>
          <p:cNvSpPr/>
          <p:nvPr/>
        </p:nvSpPr>
        <p:spPr>
          <a:xfrm>
            <a:off x="4846320" y="455832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運用・改善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7" name="正方形/長方形 57"/>
          <p:cNvSpPr/>
          <p:nvPr/>
        </p:nvSpPr>
        <p:spPr>
          <a:xfrm>
            <a:off x="3383280" y="504756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定例会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8" name="正方形/長方形 61"/>
          <p:cNvSpPr/>
          <p:nvPr/>
        </p:nvSpPr>
        <p:spPr>
          <a:xfrm>
            <a:off x="4846320" y="504756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月1回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59" name="正方形/長方形 65"/>
          <p:cNvSpPr/>
          <p:nvPr/>
        </p:nvSpPr>
        <p:spPr>
          <a:xfrm>
            <a:off x="3383280" y="55368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効果の確認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0" name="正方形/長方形 69"/>
          <p:cNvSpPr/>
          <p:nvPr/>
        </p:nvSpPr>
        <p:spPr>
          <a:xfrm>
            <a:off x="4846320" y="55368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応募率・面接率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1" name="正方形/長方形 79"/>
          <p:cNvSpPr/>
          <p:nvPr/>
        </p:nvSpPr>
        <p:spPr>
          <a:xfrm>
            <a:off x="6812280" y="1956960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追える人数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2" name="正方形/長方形 81"/>
          <p:cNvSpPr/>
          <p:nvPr/>
        </p:nvSpPr>
        <p:spPr>
          <a:xfrm>
            <a:off x="6812280" y="2432160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友だちの数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4" name="正方形/長方形 85"/>
          <p:cNvSpPr/>
          <p:nvPr/>
        </p:nvSpPr>
        <p:spPr>
          <a:xfrm>
            <a:off x="6812280" y="2907792"/>
            <a:ext cx="1425960" cy="402120"/>
          </a:xfrm>
          <a:prstGeom prst="rect">
            <a:avLst/>
          </a:prstGeom>
          <a:solidFill>
            <a:srgbClr val="04FA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45000" rIns="4572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400" b="1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応募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5" name="正方形/長方形 11"/>
          <p:cNvSpPr/>
          <p:nvPr/>
        </p:nvSpPr>
        <p:spPr>
          <a:xfrm>
            <a:off x="307080" y="309060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離脱防止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ポップアップ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6" name="正方形/長方形 13"/>
          <p:cNvSpPr/>
          <p:nvPr/>
        </p:nvSpPr>
        <p:spPr>
          <a:xfrm>
            <a:off x="1770120" y="309060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導入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7" name="正方形/長方形 17"/>
          <p:cNvSpPr/>
          <p:nvPr/>
        </p:nvSpPr>
        <p:spPr>
          <a:xfrm>
            <a:off x="307080" y="357984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サンクス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LINE誘導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8" name="正方形/長方形 21"/>
          <p:cNvSpPr/>
          <p:nvPr/>
        </p:nvSpPr>
        <p:spPr>
          <a:xfrm>
            <a:off x="1770120" y="357984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導入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69" name="正方形/長方形 25"/>
          <p:cNvSpPr/>
          <p:nvPr/>
        </p:nvSpPr>
        <p:spPr>
          <a:xfrm>
            <a:off x="307080" y="406908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ステップ配信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0" name="正方形/長方形 29"/>
          <p:cNvSpPr/>
          <p:nvPr/>
        </p:nvSpPr>
        <p:spPr>
          <a:xfrm>
            <a:off x="1770120" y="406908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3通を構築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1" name="正方形/長方形 33"/>
          <p:cNvSpPr/>
          <p:nvPr/>
        </p:nvSpPr>
        <p:spPr>
          <a:xfrm>
            <a:off x="307080" y="455832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職種ごとの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配信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2" name="正方形/長方形 37"/>
          <p:cNvSpPr/>
          <p:nvPr/>
        </p:nvSpPr>
        <p:spPr>
          <a:xfrm>
            <a:off x="1770120" y="455832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希望条件で設計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3" name="正方形/長方形 41"/>
          <p:cNvSpPr/>
          <p:nvPr/>
        </p:nvSpPr>
        <p:spPr>
          <a:xfrm>
            <a:off x="307080" y="5047560"/>
            <a:ext cx="1425960" cy="4478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LINE公式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lt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アカウント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4" name="正方形/長方形 46"/>
          <p:cNvSpPr/>
          <p:nvPr/>
        </p:nvSpPr>
        <p:spPr>
          <a:xfrm>
            <a:off x="1770120" y="5047560"/>
            <a:ext cx="1343880" cy="4478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720" tIns="18360" rIns="45720" bIns="1836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300" b="0" u="none" strike="noStrike">
                <a:solidFill>
                  <a:schemeClr val="dk1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開設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5" name="テキスト ボックス 10"/>
          <p:cNvSpPr/>
          <p:nvPr/>
        </p:nvSpPr>
        <p:spPr>
          <a:xfrm>
            <a:off x="8256960" y="195696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400" b="1" u="none" strike="noStrike">
                <a:solidFill>
                  <a:srgbClr val="002060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662人</a:t>
            </a:r>
            <a:endParaRPr lang="en-US" sz="1400" b="0" u="none" strike="noStrike">
              <a:solidFill>
                <a:srgbClr val="00206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6" name="テキスト ボックス 15"/>
          <p:cNvSpPr/>
          <p:nvPr/>
        </p:nvSpPr>
        <p:spPr>
          <a:xfrm>
            <a:off x="8256960" y="2432160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2060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1,103人</a:t>
            </a:r>
            <a:endParaRPr lang="en-US" sz="1400" b="0" u="none" strike="noStrike">
              <a:solidFill>
                <a:srgbClr val="00206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8" name="テキスト ボックス 26"/>
          <p:cNvSpPr/>
          <p:nvPr/>
        </p:nvSpPr>
        <p:spPr>
          <a:xfrm>
            <a:off x="8256960" y="2907792"/>
            <a:ext cx="13255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2060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12件/6か月</a:t>
            </a:r>
            <a:endParaRPr lang="en-US" sz="1400" b="0" u="none" strike="noStrike">
              <a:solidFill>
                <a:srgbClr val="00206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79" name="注記"/>
          <p:cNvSpPr/>
          <p:nvPr/>
        </p:nvSpPr>
        <p:spPr>
          <a:xfrm>
            <a:off x="429768" y="6245352"/>
            <a:ext cx="90434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 求人サイトの月間UU（8,947）をもとに、友だちの入口ごとの一般的な割合で計算。サイトからの応募は仮に月134件。追える人数＝ブロックされずに届く友だちの数。費用は税抜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141784</TotalTime>
  <Words>4425</Words>
  <Application>Microsoft Office PowerPoint</Application>
  <PresentationFormat>A4 210 x 297 mm</PresentationFormat>
  <Paragraphs>906</Paragraphs>
  <Slides>36</Slides>
  <Notes>3</Notes>
  <HiddenSlides>17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1927</cp:revision>
  <cp:lastPrinted>2022-11-01T11:38:14Z</cp:lastPrinted>
  <dcterms:created xsi:type="dcterms:W3CDTF">2015-09-04T09:21:15Z</dcterms:created>
  <dcterms:modified xsi:type="dcterms:W3CDTF">2026-10-07T06:05:07Z</dcterms:modified>
</cp:coreProperties>
</file>