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1.svg" ContentType="image/svg+xml"/>
  <Override PartName="/ppt/media/image12.svg" ContentType="image/svg+xml"/>
  <Override PartName="/ppt/media/image13.svg" ContentType="image/svg+xml"/>
  <Override PartName="/ppt/media/image1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4"/>
  </p:notesMasterIdLst>
  <p:handoutMasterIdLst>
    <p:handoutMasterId r:id="rId35"/>
  </p:handoutMasterIdLst>
  <p:sldIdLst>
    <p:sldId id="2363" r:id="rId3"/>
    <p:sldId id="2971" r:id="rId4"/>
    <p:sldId id="2972" r:id="rId5"/>
    <p:sldId id="2973" r:id="rId6"/>
    <p:sldId id="2974" r:id="rId7"/>
    <p:sldId id="2975" r:id="rId8"/>
    <p:sldId id="2976" r:id="rId9"/>
    <p:sldId id="2977" r:id="rId10"/>
    <p:sldId id="2978" r:id="rId11"/>
    <p:sldId id="2979" r:id="rId12"/>
    <p:sldId id="2980" r:id="rId13"/>
    <p:sldId id="2981" r:id="rId14"/>
    <p:sldId id="2982" r:id="rId15"/>
    <p:sldId id="2983" r:id="rId16"/>
    <p:sldId id="2984" r:id="rId17"/>
    <p:sldId id="612" r:id="rId18"/>
    <p:sldId id="2985" r:id="rId19"/>
    <p:sldId id="2986" r:id="rId20"/>
    <p:sldId id="2987" r:id="rId21"/>
    <p:sldId id="2988" r:id="rId22"/>
    <p:sldId id="2989" r:id="rId23"/>
    <p:sldId id="2990" r:id="rId24"/>
    <p:sldId id="2991" r:id="rId25"/>
    <p:sldId id="2992" r:id="rId26"/>
    <p:sldId id="2993" r:id="rId27"/>
    <p:sldId id="2994" r:id="rId28"/>
    <p:sldId id="2995" r:id="rId29"/>
    <p:sldId id="2996" r:id="rId30"/>
    <p:sldId id="2997" r:id="rId31"/>
    <p:sldId id="2998" r:id="rId32"/>
    <p:sldId id="2999" r:id="rId33"/>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notesMaster" Target="notesMasters/notesMaster1.xml"/><Relationship Id="rId35" Type="http://schemas.openxmlformats.org/officeDocument/2006/relationships/handoutMaster" Target="handoutMasters/handout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a:defRPr/>
            </a:pPr>
            <a:endParaRPr lang="ja-JP" altLang="en-US"/>
          </a:p>
        </p:txBody>
      </p:sp>
      <p:sp>
        <p:nvSpPr>
          <p:cNvPr id="5" name="スライド番号プレースホルダー 4"/>
          <p:cNvSpPr>
            <a:spLocks noGrp="1"/>
          </p:cNvSpPr>
          <p:nvPr>
            <p:ph type="sldNum" sz="quarter" idx="11"/>
          </p:nvPr>
        </p:nvSpPr>
        <p:spPr/>
        <p:txBody>
          <a:bodyPr/>
          <a:lstStyle/>
          <a:p>
            <a:pPr>
              <a:defRPr/>
            </a:pPr>
            <a:fld id="{929202D6-C1F5-472A-A72F-285F233F82C2}" type="slidenum">
              <a:rPr lang="ja-JP" altLang="en-US" smtClean="0"/>
              <a:pPr>
                <a:defRPr/>
              </a:pPr>
              <a:t>16</a:t>
            </a:fld>
            <a:endParaRPr lang="ja-JP" altLang="en-US"/>
          </a:p>
        </p:txBody>
      </p:sp>
    </p:spTree>
    <p:extLst>
      <p:ext uri="{BB962C8B-B14F-4D97-AF65-F5344CB8AC3E}">
        <p14:creationId xmlns:p14="http://schemas.microsoft.com/office/powerpoint/2010/main" val="1671872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6.jpeg"/><Relationship Id="rId5" Type="http://schemas.openxmlformats.org/officeDocument/2006/relationships/image" Target="../media/image7.jpeg"/><Relationship Id="rId6" Type="http://schemas.openxmlformats.org/officeDocument/2006/relationships/image" Target="../media/image8.jpeg"/><Relationship Id="rId7" Type="http://schemas.openxmlformats.org/officeDocument/2006/relationships/image" Target="../media/image9.jpeg"/><Relationship Id="rId8" Type="http://schemas.openxmlformats.org/officeDocument/2006/relationships/image" Target="../media/image10.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svg"/><Relationship Id="rId3" Type="http://schemas.openxmlformats.org/officeDocument/2006/relationships/image" Target="../media/image12.svg"/><Relationship Id="rId4" Type="http://schemas.openxmlformats.org/officeDocument/2006/relationships/image" Target="../media/image13.svg"/><Relationship Id="rId5" Type="http://schemas.openxmlformats.org/officeDocument/2006/relationships/image" Target="../media/image14.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jpeg"/><Relationship Id="rId3" Type="http://schemas.openxmlformats.org/officeDocument/2006/relationships/image" Target="../media/image35.jpe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jpe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011680"/>
            <a:ext cx="7232904" cy="914400"/>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広告で集めた方をLINEでナーチャリングをし、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セミナー参加・入会へ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cs typeface="メイリオ"/>
              </a:rPr>
              <a:t>株式会社すなおコンサルティング 御中</a:t>
            </a:r>
            <a:endParaRPr lang="en-US" sz="1600" b="0" u="none" strike="noStrike">
              <a:solidFill>
                <a:srgbClr val="000000"/>
              </a:solidFill>
              <a:effectLst/>
              <a:uFillTx/>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サマリー</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提案の要旨</a:t>
            </a:r>
          </a:p>
        </p:txBody>
      </p:sp>
      <p:sp>
        <p:nvSpPr>
          <p:cNvPr id="4" name="Google Shape;752;p28"/>
          <p:cNvSpPr txBox="1"/>
          <p:nvPr/>
        </p:nvSpPr>
        <p:spPr>
          <a:xfrm>
            <a:off x="2286000" y="740664"/>
            <a:ext cx="7406640"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広告で集めた方をLINEにため、</a:t>
            </a:r>
          </a:p>
          <a:p>
            <a:r>
              <a:rPr lang="en-US" altLang="ja-JP" sz="1600" b="1" dirty="0">
                <a:latin typeface="メイリオ" panose="020B0604030504040204" pitchFamily="50" charset="-128"/>
                <a:ea typeface="メイリオ" panose="020B0604030504040204" pitchFamily="50" charset="-128"/>
                <a:cs typeface="メイリオ"/>
                <a:sym typeface="Meiryo"/>
              </a:rPr>
              <a:t>次のイベント参加数・入会数を伸ばし、LTVを最大化する</a:t>
            </a:r>
          </a:p>
        </p:txBody>
      </p:sp>
      <p:sp>
        <p:nvSpPr>
          <p:cNvPr id="5" name="小見出し"/>
          <p:cNvSpPr/>
          <p:nvPr/>
        </p:nvSpPr>
        <p:spPr>
          <a:xfrm>
            <a:off x="502920" y="2080717"/>
            <a:ext cx="3657600"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構築する仕組み</a:t>
            </a:r>
            <a:endParaRPr lang="ja-JP" altLang="en-US" sz="1200" dirty="0">
              <a:latin typeface="メイリオ"/>
              <a:ea typeface="メイリオ"/>
              <a:cs typeface="メイリオ"/>
            </a:endParaRPr>
          </a:p>
        </p:txBody>
      </p:sp>
      <p:sp>
        <p:nvSpPr>
          <p:cNvPr id="6" name="流れ1"/>
          <p:cNvSpPr/>
          <p:nvPr/>
        </p:nvSpPr>
        <p:spPr>
          <a:xfrm>
            <a:off x="502920"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7" name="矢印"/>
          <p:cNvSpPr/>
          <p:nvPr/>
        </p:nvSpPr>
        <p:spPr>
          <a:xfrm>
            <a:off x="2494026"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流れ2"/>
          <p:cNvSpPr/>
          <p:nvPr/>
        </p:nvSpPr>
        <p:spPr>
          <a:xfrm>
            <a:off x="2804922"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＋LINEにたまる</a:t>
            </a:r>
            <a:endParaRPr lang="ja-JP" altLang="en-US" sz="1200" dirty="0">
              <a:latin typeface="メイリオ"/>
              <a:ea typeface="メイリオ"/>
              <a:cs typeface="メイリオ"/>
            </a:endParaRPr>
          </a:p>
        </p:txBody>
      </p:sp>
      <p:sp>
        <p:nvSpPr>
          <p:cNvPr id="9" name="矢印"/>
          <p:cNvSpPr/>
          <p:nvPr/>
        </p:nvSpPr>
        <p:spPr>
          <a:xfrm>
            <a:off x="4796028"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0" name="流れ3"/>
          <p:cNvSpPr/>
          <p:nvPr/>
        </p:nvSpPr>
        <p:spPr>
          <a:xfrm>
            <a:off x="5106924" y="2400757"/>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ナーチャリング</a:t>
            </a:r>
            <a:endParaRPr lang="ja-JP" altLang="en-US" sz="1200" dirty="0">
              <a:latin typeface="メイリオ"/>
              <a:ea typeface="メイリオ"/>
              <a:cs typeface="メイリオ"/>
            </a:endParaRPr>
          </a:p>
        </p:txBody>
      </p:sp>
      <p:sp>
        <p:nvSpPr>
          <p:cNvPr id="11" name="矢印"/>
          <p:cNvSpPr/>
          <p:nvPr/>
        </p:nvSpPr>
        <p:spPr>
          <a:xfrm>
            <a:off x="7098030" y="2400757"/>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流れ4"/>
          <p:cNvSpPr/>
          <p:nvPr/>
        </p:nvSpPr>
        <p:spPr>
          <a:xfrm>
            <a:off x="7408926" y="2400757"/>
            <a:ext cx="1991106" cy="77724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次のイベント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・入会</a:t>
            </a:r>
            <a:endParaRPr lang="ja-JP" altLang="en-US" sz="1200" dirty="0">
              <a:latin typeface="メイリオ"/>
              <a:ea typeface="メイリオ"/>
              <a:cs typeface="メイリオ"/>
            </a:endParaRPr>
          </a:p>
        </p:txBody>
      </p:sp>
      <p:sp>
        <p:nvSpPr>
          <p:cNvPr id="13" name="見出し 現状と課題"/>
          <p:cNvSpPr/>
          <p:nvPr/>
        </p:nvSpPr>
        <p:spPr>
          <a:xfrm>
            <a:off x="502920"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現状と課題</a:t>
            </a:r>
            <a:endParaRPr lang="ja-JP" altLang="en-US" sz="1200" dirty="0">
              <a:latin typeface="メイリオ"/>
              <a:ea typeface="メイリオ"/>
              <a:cs typeface="メイリオ"/>
            </a:endParaRPr>
          </a:p>
        </p:txBody>
      </p:sp>
      <p:sp>
        <p:nvSpPr>
          <p:cNvPr id="14" name="補足1"/>
          <p:cNvSpPr/>
          <p:nvPr/>
        </p:nvSpPr>
        <p:spPr>
          <a:xfrm>
            <a:off x="502920"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申し込まずに離れた方・入会していない方を、次のイベントまで追う場所が無い</a:t>
            </a:r>
            <a:endParaRPr lang="ja-JP" altLang="en-US" sz="1200" dirty="0">
              <a:latin typeface="メイリオ"/>
              <a:ea typeface="メイリオ"/>
              <a:cs typeface="メイリオ"/>
            </a:endParaRPr>
          </a:p>
        </p:txBody>
      </p:sp>
      <p:sp>
        <p:nvSpPr>
          <p:cNvPr id="15" name="見出し 施策"/>
          <p:cNvSpPr/>
          <p:nvPr/>
        </p:nvSpPr>
        <p:spPr>
          <a:xfrm>
            <a:off x="3560064"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施策</a:t>
            </a:r>
            <a:endParaRPr lang="ja-JP" altLang="en-US" sz="1200" dirty="0">
              <a:latin typeface="メイリオ"/>
              <a:ea typeface="メイリオ"/>
              <a:cs typeface="メイリオ"/>
            </a:endParaRPr>
          </a:p>
        </p:txBody>
      </p:sp>
      <p:sp>
        <p:nvSpPr>
          <p:cNvPr id="16" name="補足2"/>
          <p:cNvSpPr/>
          <p:nvPr/>
        </p:nvSpPr>
        <p:spPr>
          <a:xfrm>
            <a:off x="3560064"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ポップアップツールとサンクスLINE誘導で友だちにし、興味あり・予約・参加の段階ごとに配信する</a:t>
            </a:r>
            <a:endParaRPr lang="ja-JP" altLang="en-US" sz="1200" dirty="0">
              <a:latin typeface="メイリオ"/>
              <a:ea typeface="メイリオ"/>
              <a:cs typeface="メイリオ"/>
            </a:endParaRPr>
          </a:p>
        </p:txBody>
      </p:sp>
      <p:sp>
        <p:nvSpPr>
          <p:cNvPr id="17" name="見出し 目標と費用"/>
          <p:cNvSpPr/>
          <p:nvPr/>
        </p:nvSpPr>
        <p:spPr>
          <a:xfrm>
            <a:off x="6617208" y="3452317"/>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目標と費用</a:t>
            </a:r>
            <a:endParaRPr lang="ja-JP" altLang="en-US" sz="1200" dirty="0">
              <a:latin typeface="メイリオ"/>
              <a:ea typeface="メイリオ"/>
              <a:cs typeface="メイリオ"/>
            </a:endParaRPr>
          </a:p>
        </p:txBody>
      </p:sp>
      <p:sp>
        <p:nvSpPr>
          <p:cNvPr id="18" name="補足3"/>
          <p:cNvSpPr/>
          <p:nvPr/>
        </p:nvSpPr>
        <p:spPr>
          <a:xfrm>
            <a:off x="6617208" y="3863797"/>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追える人数を増やし・減らさず、入会へ。</a:t>
            </a:r>
            <a:endParaRPr lang="ja-JP" altLang="en-US" sz="1200" dirty="0">
              <a:latin typeface="メイリオ"/>
              <a:ea typeface="メイリオ"/>
              <a:cs typeface="メイリオ"/>
            </a:endParaRPr>
          </a:p>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費用は、3つのプランから選択可能</a:t>
            </a:r>
            <a:endParaRPr lang="ja-JP" altLang="en-US" sz="12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保険営業の方の環境</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市場環境</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保険の加入は今も営業職員が中心。一方で、お客様と会う回数は減っている</a:t>
            </a:r>
          </a:p>
        </p:txBody>
      </p:sp>
      <p:sp>
        <p:nvSpPr>
          <p:cNvPr id="5" name="見出し 生命保険の営業職員数（各年度末・名）"/>
          <p:cNvSpPr/>
          <p:nvPr/>
        </p:nvSpPr>
        <p:spPr>
          <a:xfrm>
            <a:off x="502920" y="1600200"/>
            <a:ext cx="4343400"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生命保険の営業職員数（各年度末・名）</a:t>
            </a:r>
            <a:endParaRPr lang="ja-JP" altLang="en-US" sz="1200" dirty="0">
              <a:latin typeface="メイリオ"/>
              <a:ea typeface="メイリオ"/>
              <a:cs typeface="メイリオ"/>
            </a:endParaRPr>
          </a:p>
        </p:txBody>
      </p:sp>
      <p:sp>
        <p:nvSpPr>
          <p:cNvPr id="6" name="棒 2020"/>
          <p:cNvSpPr/>
          <p:nvPr/>
        </p:nvSpPr>
        <p:spPr>
          <a:xfrm>
            <a:off x="653796" y="2662249"/>
            <a:ext cx="566928" cy="1864030"/>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7" name="値 2020"/>
          <p:cNvSpPr/>
          <p:nvPr/>
        </p:nvSpPr>
        <p:spPr>
          <a:xfrm>
            <a:off x="502920" y="2369641"/>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248,601</a:t>
            </a:r>
            <a:endParaRPr lang="ja-JP" altLang="en-US" sz="1200" dirty="0">
              <a:latin typeface="メイリオ"/>
              <a:ea typeface="メイリオ"/>
              <a:cs typeface="メイリオ"/>
            </a:endParaRPr>
          </a:p>
        </p:txBody>
      </p:sp>
      <p:sp>
        <p:nvSpPr>
          <p:cNvPr id="8" name="年度 2020"/>
          <p:cNvSpPr/>
          <p:nvPr/>
        </p:nvSpPr>
        <p:spPr>
          <a:xfrm>
            <a:off x="50292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2020年度</a:t>
            </a:r>
            <a:endParaRPr lang="ja-JP" altLang="en-US" sz="1200" dirty="0">
              <a:latin typeface="メイリオ"/>
              <a:ea typeface="メイリオ"/>
              <a:cs typeface="メイリオ"/>
            </a:endParaRPr>
          </a:p>
        </p:txBody>
      </p:sp>
      <p:sp>
        <p:nvSpPr>
          <p:cNvPr id="9" name="棒 2021"/>
          <p:cNvSpPr/>
          <p:nvPr/>
        </p:nvSpPr>
        <p:spPr>
          <a:xfrm>
            <a:off x="1522476" y="2704643"/>
            <a:ext cx="566928" cy="1821636"/>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0" name="値 2021"/>
          <p:cNvSpPr/>
          <p:nvPr/>
        </p:nvSpPr>
        <p:spPr>
          <a:xfrm>
            <a:off x="1371600" y="2412035"/>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242,947</a:t>
            </a:r>
            <a:endParaRPr lang="ja-JP" altLang="en-US" sz="1200" dirty="0">
              <a:latin typeface="メイリオ"/>
              <a:ea typeface="メイリオ"/>
              <a:cs typeface="メイリオ"/>
            </a:endParaRPr>
          </a:p>
        </p:txBody>
      </p:sp>
      <p:sp>
        <p:nvSpPr>
          <p:cNvPr id="11" name="年度 2021"/>
          <p:cNvSpPr/>
          <p:nvPr/>
        </p:nvSpPr>
        <p:spPr>
          <a:xfrm>
            <a:off x="137160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2021年度</a:t>
            </a:r>
            <a:endParaRPr lang="ja-JP" altLang="en-US" sz="1200" dirty="0">
              <a:latin typeface="メイリオ"/>
              <a:ea typeface="メイリオ"/>
              <a:cs typeface="メイリオ"/>
            </a:endParaRPr>
          </a:p>
        </p:txBody>
      </p:sp>
      <p:sp>
        <p:nvSpPr>
          <p:cNvPr id="12" name="棒 2022"/>
          <p:cNvSpPr/>
          <p:nvPr/>
        </p:nvSpPr>
        <p:spPr>
          <a:xfrm>
            <a:off x="2391156" y="2673646"/>
            <a:ext cx="566928" cy="1852633"/>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3" name="値 2022"/>
          <p:cNvSpPr/>
          <p:nvPr/>
        </p:nvSpPr>
        <p:spPr>
          <a:xfrm>
            <a:off x="2240280" y="2381038"/>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247,081</a:t>
            </a:r>
            <a:endParaRPr lang="ja-JP" altLang="en-US" sz="1200" dirty="0">
              <a:latin typeface="メイリオ"/>
              <a:ea typeface="メイリオ"/>
              <a:cs typeface="メイリオ"/>
            </a:endParaRPr>
          </a:p>
        </p:txBody>
      </p:sp>
      <p:sp>
        <p:nvSpPr>
          <p:cNvPr id="14" name="年度 2022"/>
          <p:cNvSpPr/>
          <p:nvPr/>
        </p:nvSpPr>
        <p:spPr>
          <a:xfrm>
            <a:off x="224028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2022年度</a:t>
            </a:r>
            <a:endParaRPr lang="ja-JP" altLang="en-US" sz="1200" dirty="0">
              <a:latin typeface="メイリオ"/>
              <a:ea typeface="メイリオ"/>
              <a:cs typeface="メイリオ"/>
            </a:endParaRPr>
          </a:p>
        </p:txBody>
      </p:sp>
      <p:sp>
        <p:nvSpPr>
          <p:cNvPr id="15" name="棒 2023"/>
          <p:cNvSpPr/>
          <p:nvPr/>
        </p:nvSpPr>
        <p:spPr>
          <a:xfrm>
            <a:off x="3259835" y="2719970"/>
            <a:ext cx="566928" cy="1806309"/>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6" name="値 2023"/>
          <p:cNvSpPr/>
          <p:nvPr/>
        </p:nvSpPr>
        <p:spPr>
          <a:xfrm>
            <a:off x="3108959" y="2427362"/>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240,903</a:t>
            </a:r>
            <a:endParaRPr lang="ja-JP" altLang="en-US" sz="1200" dirty="0">
              <a:latin typeface="メイリオ"/>
              <a:ea typeface="メイリオ"/>
              <a:cs typeface="メイリオ"/>
            </a:endParaRPr>
          </a:p>
        </p:txBody>
      </p:sp>
      <p:sp>
        <p:nvSpPr>
          <p:cNvPr id="17" name="年度 2023"/>
          <p:cNvSpPr/>
          <p:nvPr/>
        </p:nvSpPr>
        <p:spPr>
          <a:xfrm>
            <a:off x="310895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2023年度</a:t>
            </a:r>
            <a:endParaRPr lang="ja-JP" altLang="en-US" sz="1200" dirty="0">
              <a:latin typeface="メイリオ"/>
              <a:ea typeface="メイリオ"/>
              <a:cs typeface="メイリオ"/>
            </a:endParaRPr>
          </a:p>
        </p:txBody>
      </p:sp>
      <p:sp>
        <p:nvSpPr>
          <p:cNvPr id="18" name="棒 2024"/>
          <p:cNvSpPr/>
          <p:nvPr/>
        </p:nvSpPr>
        <p:spPr>
          <a:xfrm>
            <a:off x="4128515" y="2715441"/>
            <a:ext cx="566928" cy="1810838"/>
          </a:xfrm>
          <a:prstGeom prst="rect">
            <a:avLst/>
          </a:prstGeom>
          <a:solidFill>
            <a:srgbClr val="002060"/>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9" name="値 2024"/>
          <p:cNvSpPr/>
          <p:nvPr/>
        </p:nvSpPr>
        <p:spPr>
          <a:xfrm>
            <a:off x="3977639" y="2422833"/>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241,507</a:t>
            </a:r>
            <a:endParaRPr lang="ja-JP" altLang="en-US" sz="1200" dirty="0">
              <a:latin typeface="メイリオ"/>
              <a:ea typeface="メイリオ"/>
              <a:cs typeface="メイリオ"/>
            </a:endParaRPr>
          </a:p>
        </p:txBody>
      </p:sp>
      <p:sp>
        <p:nvSpPr>
          <p:cNvPr id="20" name="年度 2024"/>
          <p:cNvSpPr/>
          <p:nvPr/>
        </p:nvSpPr>
        <p:spPr>
          <a:xfrm>
            <a:off x="397763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2024年度</a:t>
            </a:r>
            <a:endParaRPr lang="ja-JP" altLang="en-US" sz="1200" dirty="0">
              <a:latin typeface="メイリオ"/>
              <a:ea typeface="メイリオ"/>
              <a:cs typeface="メイリオ"/>
            </a:endParaRPr>
          </a:p>
        </p:txBody>
      </p:sp>
      <p:sp>
        <p:nvSpPr>
          <p:cNvPr id="21" name="基線"/>
          <p:cNvSpPr/>
          <p:nvPr/>
        </p:nvSpPr>
        <p:spPr>
          <a:xfrm>
            <a:off x="502920" y="4526280"/>
            <a:ext cx="4343400" cy="9144"/>
          </a:xfrm>
          <a:prstGeom prst="rect">
            <a:avLst/>
          </a:prstGeom>
          <a:solidFill>
            <a:srgbClr val="7F7F7F"/>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2" name="棒の示唆"/>
          <p:cNvSpPr/>
          <p:nvPr/>
        </p:nvSpPr>
        <p:spPr>
          <a:xfrm>
            <a:off x="502920" y="4937760"/>
            <a:ext cx="4343400" cy="365760"/>
          </a:xfrm>
          <a:prstGeom prst="rect">
            <a:avLst/>
          </a:prstGeom>
          <a:noFill/>
          <a:ln>
            <a:noFill/>
          </a:ln>
        </p:spPr>
        <p:txBody>
          <a:bodyPr wrap="square" lIns="0" tIns="0" rIns="0" bIns="0"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約24万人で横ばい</a:t>
            </a:r>
            <a:endParaRPr lang="ja-JP" altLang="en-US" sz="1200" dirty="0">
              <a:latin typeface="メイリオ"/>
              <a:ea typeface="メイリオ"/>
              <a:cs typeface="メイリオ"/>
            </a:endParaRPr>
          </a:p>
        </p:txBody>
      </p:sp>
      <p:sp>
        <p:nvSpPr>
          <p:cNvPr id="23" name="見出し 保険の加入経路"/>
          <p:cNvSpPr/>
          <p:nvPr/>
        </p:nvSpPr>
        <p:spPr>
          <a:xfrm>
            <a:off x="5074920" y="16002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保険の加入経路</a:t>
            </a:r>
            <a:endParaRPr lang="ja-JP" altLang="en-US" sz="1200" dirty="0">
              <a:latin typeface="メイリオ"/>
              <a:ea typeface="メイリオ"/>
              <a:cs typeface="メイリオ"/>
            </a:endParaRPr>
          </a:p>
        </p:txBody>
      </p:sp>
      <p:sp>
        <p:nvSpPr>
          <p:cNvPr id="24" name="数字 56.7%"/>
          <p:cNvSpPr/>
          <p:nvPr/>
        </p:nvSpPr>
        <p:spPr>
          <a:xfrm>
            <a:off x="5074920" y="2057400"/>
            <a:ext cx="1600200" cy="1143000"/>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56.7%</a:t>
            </a:r>
            <a:endParaRPr lang="ja-JP" altLang="en-US" sz="1200" dirty="0">
              <a:latin typeface="メイリオ"/>
              <a:ea typeface="メイリオ"/>
              <a:cs typeface="メイリオ"/>
            </a:endParaRPr>
          </a:p>
        </p:txBody>
      </p:sp>
      <p:sp>
        <p:nvSpPr>
          <p:cNvPr id="25" name="説明 56.7%"/>
          <p:cNvSpPr/>
          <p:nvPr/>
        </p:nvSpPr>
        <p:spPr>
          <a:xfrm>
            <a:off x="6675120" y="2057400"/>
            <a:ext cx="2724912" cy="1143000"/>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生命保険の加入経路のうち</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「生命保険会社の営業職員」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（2024年調査）</a:t>
            </a:r>
            <a:endParaRPr lang="ja-JP" altLang="en-US" sz="1200" dirty="0">
              <a:latin typeface="メイリオ"/>
              <a:ea typeface="メイリオ"/>
              <a:cs typeface="メイリオ"/>
            </a:endParaRPr>
          </a:p>
        </p:txBody>
      </p:sp>
      <p:sp>
        <p:nvSpPr>
          <p:cNvPr id="26" name="見出し お客様との接触回数"/>
          <p:cNvSpPr/>
          <p:nvPr/>
        </p:nvSpPr>
        <p:spPr>
          <a:xfrm>
            <a:off x="5074920" y="34290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お客様との接触回数</a:t>
            </a:r>
            <a:endParaRPr lang="ja-JP" altLang="en-US" sz="1200" dirty="0">
              <a:latin typeface="メイリオ"/>
              <a:ea typeface="メイリオ"/>
              <a:cs typeface="メイリオ"/>
            </a:endParaRPr>
          </a:p>
        </p:txBody>
      </p:sp>
      <p:sp>
        <p:nvSpPr>
          <p:cNvPr id="27" name="数字 55.5%"/>
          <p:cNvSpPr/>
          <p:nvPr/>
        </p:nvSpPr>
        <p:spPr>
          <a:xfrm>
            <a:off x="5074920" y="3886200"/>
            <a:ext cx="1600200" cy="1417319"/>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55.5%</a:t>
            </a:r>
            <a:endParaRPr lang="ja-JP" altLang="en-US" sz="1200" dirty="0">
              <a:latin typeface="メイリオ"/>
              <a:ea typeface="メイリオ"/>
              <a:cs typeface="メイリオ"/>
            </a:endParaRPr>
          </a:p>
        </p:txBody>
      </p:sp>
      <p:sp>
        <p:nvSpPr>
          <p:cNvPr id="28" name="説明 55.5%"/>
          <p:cNvSpPr/>
          <p:nvPr/>
        </p:nvSpPr>
        <p:spPr>
          <a:xfrm>
            <a:off x="6675120" y="3886200"/>
            <a:ext cx="2724912" cy="1417319"/>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コロナ前と比べ、お客様との</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接触回数が「減少した」営業職員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（2023年調査）</a:t>
            </a:r>
            <a:endParaRPr lang="ja-JP" altLang="en-US" sz="1200" dirty="0">
              <a:latin typeface="メイリオ"/>
              <a:ea typeface="メイリオ"/>
              <a:cs typeface="メイリオ"/>
            </a:endParaRPr>
          </a:p>
        </p:txBody>
      </p:sp>
      <p:sp>
        <p:nvSpPr>
          <p:cNvPr id="29" name="示唆"/>
          <p:cNvSpPr/>
          <p:nvPr/>
        </p:nvSpPr>
        <p:spPr>
          <a:xfrm>
            <a:off x="502920" y="5440680"/>
            <a:ext cx="8897112" cy="45720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会える回数が減る中で、成果を出す営業のやり方が求められている</a:t>
            </a:r>
            <a:endParaRPr lang="ja-JP" altLang="en-US" sz="1200" dirty="0">
              <a:latin typeface="メイリオ"/>
              <a:ea typeface="メイリオ"/>
              <a:cs typeface="メイリオ"/>
            </a:endParaRPr>
          </a:p>
        </p:txBody>
      </p:sp>
      <p:sp>
        <p:nvSpPr>
          <p:cNvPr id="30" name="注記"/>
          <p:cNvSpPr/>
          <p:nvPr/>
        </p:nvSpPr>
        <p:spPr>
          <a:xfrm>
            <a:off x="502920" y="596188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※営業職員数：生命保険協会「2025年版 生命保険の動向」（加盟会社の年度末登録営業職員数）</a:t>
            </a:r>
            <a:endParaRPr lang="ja-JP" altLang="en-US" sz="1200" dirty="0">
              <a:latin typeface="メイリオ"/>
              <a:ea typeface="メイリオ"/>
              <a:cs typeface="メイリオ"/>
            </a:endParaRPr>
          </a:p>
        </p:txBody>
      </p:sp>
      <p:sp>
        <p:nvSpPr>
          <p:cNvPr id="31" name="注記"/>
          <p:cNvSpPr/>
          <p:nvPr/>
        </p:nvSpPr>
        <p:spPr>
          <a:xfrm>
            <a:off x="502920" y="609904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※加入経路：生命保険文化センター「2024（令和6）年度 生命保険に関する全国実態調査」（直近の加入が2019年以降の世帯）</a:t>
            </a:r>
            <a:endParaRPr lang="ja-JP" altLang="en-US" sz="1200" dirty="0">
              <a:latin typeface="メイリオ"/>
              <a:ea typeface="メイリオ"/>
              <a:cs typeface="メイリオ"/>
            </a:endParaRPr>
          </a:p>
        </p:txBody>
      </p:sp>
      <p:sp>
        <p:nvSpPr>
          <p:cNvPr id="32" name="注記"/>
          <p:cNvSpPr/>
          <p:nvPr/>
        </p:nvSpPr>
        <p:spPr>
          <a:xfrm>
            <a:off x="502920" y="6236207"/>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※接触回数：矢野経済研究所「生命保険の営業職員アンケート調査」（2023年4〜6月、生命保険の営業職員400名）</a:t>
            </a:r>
            <a:endParaRPr lang="ja-JP" altLang="en-US" sz="1200" dirty="0">
              <a:latin typeface="メイリオ"/>
              <a:ea typeface="メイリオ"/>
              <a:cs typeface="メイリオ"/>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現状と課題</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現状</a:t>
            </a:r>
          </a:p>
        </p:txBody>
      </p:sp>
      <p:sp>
        <p:nvSpPr>
          <p:cNvPr id="4" name="Google Shape;752;p28"/>
          <p:cNvSpPr txBox="1"/>
          <p:nvPr/>
        </p:nvSpPr>
        <p:spPr>
          <a:xfrm>
            <a:off x="2286000" y="736333"/>
            <a:ext cx="7406640" cy="584735"/>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イベントの後、離れた方・未入会の方とのつながりが切れる</a:t>
            </a:r>
            <a:br>
              <a:rPr lang="en-US" altLang="ja-JP" sz="1600" b="1" dirty="0">
                <a:latin typeface="メイリオ" panose="020B0604030504040204" pitchFamily="50" charset="-128"/>
                <a:ea typeface="メイリオ" panose="020B0604030504040204" pitchFamily="50" charset="-128"/>
                <a:cs typeface="メイリオ"/>
                <a:sym typeface="Meiryo"/>
              </a:rPr>
            </a:br>
            <a:r>
              <a:rPr lang="ja-JP" altLang="en-US" sz="1600" b="1" dirty="0">
                <a:latin typeface="メイリオ" panose="020B0604030504040204" pitchFamily="50" charset="-128"/>
                <a:ea typeface="メイリオ" panose="020B0604030504040204" pitchFamily="50" charset="-128"/>
                <a:cs typeface="メイリオ"/>
                <a:sym typeface="Meiryo"/>
              </a:rPr>
              <a:t>サロン入会者とはつながりが持てる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6" name="矢印"/>
          <p:cNvSpPr/>
          <p:nvPr/>
        </p:nvSpPr>
        <p:spPr>
          <a:xfrm>
            <a:off x="2033625"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344521"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LP</a:t>
            </a:r>
            <a:endParaRPr lang="ja-JP" altLang="en-US" sz="1200" dirty="0">
              <a:latin typeface="メイリオ"/>
              <a:ea typeface="メイリオ"/>
              <a:cs typeface="メイリオ"/>
            </a:endParaRPr>
          </a:p>
        </p:txBody>
      </p:sp>
      <p:sp>
        <p:nvSpPr>
          <p:cNvPr id="8" name="矢印"/>
          <p:cNvSpPr/>
          <p:nvPr/>
        </p:nvSpPr>
        <p:spPr>
          <a:xfrm>
            <a:off x="3875227"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4186123"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10" name="矢印"/>
          <p:cNvSpPr/>
          <p:nvPr/>
        </p:nvSpPr>
        <p:spPr>
          <a:xfrm>
            <a:off x="5716828"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6027724" y="2141067"/>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イベント参加</a:t>
            </a:r>
            <a:endParaRPr lang="ja-JP" altLang="en-US" sz="1200" dirty="0">
              <a:latin typeface="メイリオ"/>
              <a:ea typeface="メイリオ"/>
              <a:cs typeface="メイリオ"/>
            </a:endParaRPr>
          </a:p>
        </p:txBody>
      </p:sp>
      <p:sp>
        <p:nvSpPr>
          <p:cNvPr id="12" name="矢印"/>
          <p:cNvSpPr/>
          <p:nvPr/>
        </p:nvSpPr>
        <p:spPr>
          <a:xfrm>
            <a:off x="7558430" y="2141067"/>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3" name="流れ5"/>
          <p:cNvSpPr/>
          <p:nvPr/>
        </p:nvSpPr>
        <p:spPr>
          <a:xfrm>
            <a:off x="7869326" y="2141067"/>
            <a:ext cx="1530705" cy="68580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14" name="矢印下"/>
          <p:cNvSpPr/>
          <p:nvPr/>
        </p:nvSpPr>
        <p:spPr>
          <a:xfrm>
            <a:off x="2926994" y="2872587"/>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5" name="切れる1"/>
          <p:cNvSpPr/>
          <p:nvPr/>
        </p:nvSpPr>
        <p:spPr>
          <a:xfrm>
            <a:off x="1418234" y="3174339"/>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申し込まずに離れた方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次のイベントまで案内する手段が無い</a:t>
            </a:r>
            <a:endParaRPr lang="ja-JP" altLang="en-US" sz="1200" dirty="0">
              <a:latin typeface="メイリオ"/>
              <a:ea typeface="メイリオ"/>
              <a:cs typeface="メイリオ"/>
            </a:endParaRPr>
          </a:p>
        </p:txBody>
      </p:sp>
      <p:sp>
        <p:nvSpPr>
          <p:cNvPr id="16" name="矢印下"/>
          <p:cNvSpPr/>
          <p:nvPr/>
        </p:nvSpPr>
        <p:spPr>
          <a:xfrm>
            <a:off x="6610197" y="2872587"/>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7" name="切れる3"/>
          <p:cNvSpPr/>
          <p:nvPr/>
        </p:nvSpPr>
        <p:spPr>
          <a:xfrm>
            <a:off x="5101437" y="3174339"/>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参加して入会していない方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入会まで案内を続ける手段が無い</a:t>
            </a:r>
            <a:endParaRPr lang="ja-JP" altLang="en-US" sz="1200" dirty="0">
              <a:latin typeface="メイリオ"/>
              <a:ea typeface="メイリオ"/>
              <a:cs typeface="メイリオ"/>
            </a:endParaRPr>
          </a:p>
        </p:txBody>
      </p:sp>
      <p:sp>
        <p:nvSpPr>
          <p:cNvPr id="18" name="示唆"/>
          <p:cNvSpPr/>
          <p:nvPr/>
        </p:nvSpPr>
        <p:spPr>
          <a:xfrm>
            <a:off x="502920" y="4335627"/>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集めた方を、次のイベントの集客・サロン入会に</a:t>
            </a:r>
            <a:r>
              <a:rPr lang="ja-JP" altLang="en-US" sz="1600" b="1" dirty="0">
                <a:solidFill>
                  <a:srgbClr val="C00000"/>
                </a:solidFill>
                <a:latin typeface="メイリオ" panose="020B0604030504040204" pitchFamily="50" charset="-128"/>
                <a:ea typeface="メイリオ" panose="020B0604030504040204" pitchFamily="50" charset="-128"/>
                <a:cs typeface="メイリオ"/>
              </a:rPr>
              <a:t>活かしきれていない</a:t>
            </a:r>
            <a:endParaRPr lang="ja-JP" altLang="en-US" sz="1200" dirty="0">
              <a:latin typeface="メイリオ"/>
              <a:ea typeface="メイリオ"/>
              <a:cs typeface="メイリオ"/>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本質課題</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本質課題</a:t>
            </a:r>
          </a:p>
        </p:txBody>
      </p:sp>
      <p:sp>
        <p:nvSpPr>
          <p:cNvPr id="4" name="Google Shape;752;p28"/>
          <p:cNvSpPr txBox="1"/>
          <p:nvPr/>
        </p:nvSpPr>
        <p:spPr>
          <a:xfrm>
            <a:off x="2286000" y="736333"/>
            <a:ext cx="7406640"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イベントが終わると、集めた方との接点が切れる。</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en-US" altLang="ja-JP" sz="1600" b="1" dirty="0" err="1">
                <a:latin typeface="メイリオ" panose="020B0604030504040204" pitchFamily="50" charset="-128"/>
                <a:ea typeface="メイリオ" panose="020B0604030504040204" pitchFamily="50" charset="-128"/>
                <a:cs typeface="メイリオ"/>
                <a:sym typeface="Meiryo"/>
              </a:rPr>
              <a:t>この場所を、LINE公式アカウントでつくる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01 集める"/>
          <p:cNvSpPr/>
          <p:nvPr/>
        </p:nvSpPr>
        <p:spPr>
          <a:xfrm>
            <a:off x="502920"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01 集める</a:t>
            </a:r>
            <a:endParaRPr lang="ja-JP" altLang="en-US" sz="1200" dirty="0">
              <a:latin typeface="メイリオ"/>
              <a:ea typeface="メイリオ"/>
              <a:cs typeface="メイリオ"/>
            </a:endParaRPr>
          </a:p>
        </p:txBody>
      </p:sp>
      <p:sp>
        <p:nvSpPr>
          <p:cNvPr id="6" name="課題1"/>
          <p:cNvSpPr/>
          <p:nvPr/>
        </p:nvSpPr>
        <p:spPr>
          <a:xfrm>
            <a:off x="502920"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離れる方・予約した方を、</a:t>
            </a:r>
            <a:endParaRPr lang="en-US" altLang="ja-JP" sz="1500" b="0" dirty="0">
              <a:solidFill>
                <a:srgbClr val="333333"/>
              </a:solidFill>
              <a:latin typeface="メイリオ" panose="020B0604030504040204" pitchFamily="50" charset="-128"/>
              <a:ea typeface="メイリオ" panose="020B0604030504040204" pitchFamily="50" charset="-128"/>
              <a:cs typeface="メイリオ"/>
            </a:endParaRPr>
          </a:p>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友だちにする手段が無い</a:t>
            </a:r>
            <a:endParaRPr lang="ja-JP" altLang="en-US" sz="1200" dirty="0">
              <a:latin typeface="メイリオ"/>
              <a:ea typeface="メイリオ"/>
              <a:cs typeface="メイリオ"/>
            </a:endParaRPr>
          </a:p>
        </p:txBody>
      </p:sp>
      <p:sp>
        <p:nvSpPr>
          <p:cNvPr id="7" name="矢印下"/>
          <p:cNvSpPr/>
          <p:nvPr/>
        </p:nvSpPr>
        <p:spPr>
          <a:xfrm>
            <a:off x="1665732"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打ち手1"/>
          <p:cNvSpPr/>
          <p:nvPr/>
        </p:nvSpPr>
        <p:spPr>
          <a:xfrm>
            <a:off x="502920"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ポップアップツール</a:t>
            </a:r>
            <a:endParaRPr lang="ja-JP" altLang="en-US" sz="1200" dirty="0">
              <a:latin typeface="メイリオ"/>
              <a:ea typeface="メイリオ"/>
              <a:cs typeface="メイリオ"/>
            </a:endParaRPr>
          </a:p>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sp>
        <p:nvSpPr>
          <p:cNvPr id="9" name="見出し 02 追う"/>
          <p:cNvSpPr/>
          <p:nvPr/>
        </p:nvSpPr>
        <p:spPr>
          <a:xfrm>
            <a:off x="3560064"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02 追う</a:t>
            </a:r>
            <a:endParaRPr lang="ja-JP" altLang="en-US" sz="1200" dirty="0">
              <a:latin typeface="メイリオ"/>
              <a:ea typeface="メイリオ"/>
              <a:cs typeface="メイリオ"/>
            </a:endParaRPr>
          </a:p>
        </p:txBody>
      </p:sp>
      <p:sp>
        <p:nvSpPr>
          <p:cNvPr id="10" name="課題2"/>
          <p:cNvSpPr/>
          <p:nvPr/>
        </p:nvSpPr>
        <p:spPr>
          <a:xfrm>
            <a:off x="3560064"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次のイベントまで、情報を</a:t>
            </a:r>
            <a:endParaRPr lang="en-US" altLang="ja-JP" sz="1500" b="0" dirty="0">
              <a:solidFill>
                <a:srgbClr val="333333"/>
              </a:solidFill>
              <a:latin typeface="メイリオ" panose="020B0604030504040204" pitchFamily="50" charset="-128"/>
              <a:ea typeface="メイリオ" panose="020B0604030504040204" pitchFamily="50" charset="-128"/>
              <a:cs typeface="メイリオ"/>
            </a:endParaRPr>
          </a:p>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届ける手段が無い</a:t>
            </a:r>
            <a:endParaRPr lang="ja-JP" altLang="en-US" sz="1200" dirty="0">
              <a:latin typeface="メイリオ"/>
              <a:ea typeface="メイリオ"/>
              <a:cs typeface="メイリオ"/>
            </a:endParaRPr>
          </a:p>
        </p:txBody>
      </p:sp>
      <p:sp>
        <p:nvSpPr>
          <p:cNvPr id="11" name="矢印下"/>
          <p:cNvSpPr/>
          <p:nvPr/>
        </p:nvSpPr>
        <p:spPr>
          <a:xfrm>
            <a:off x="4722876"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打ち手2"/>
          <p:cNvSpPr/>
          <p:nvPr/>
        </p:nvSpPr>
        <p:spPr>
          <a:xfrm>
            <a:off x="3560064"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平常期の配信</a:t>
            </a:r>
            <a:endParaRPr lang="ja-JP" altLang="en-US" sz="1200" dirty="0">
              <a:latin typeface="メイリオ"/>
              <a:ea typeface="メイリオ"/>
              <a:cs typeface="メイリオ"/>
            </a:endParaRPr>
          </a:p>
        </p:txBody>
      </p:sp>
      <p:sp>
        <p:nvSpPr>
          <p:cNvPr id="13" name="見出し 03 つなげる"/>
          <p:cNvSpPr/>
          <p:nvPr/>
        </p:nvSpPr>
        <p:spPr>
          <a:xfrm>
            <a:off x="6617208" y="218633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03 つなげる</a:t>
            </a:r>
            <a:endParaRPr lang="ja-JP" altLang="en-US" sz="1200" dirty="0">
              <a:latin typeface="メイリオ"/>
              <a:ea typeface="メイリオ"/>
              <a:cs typeface="メイリオ"/>
            </a:endParaRPr>
          </a:p>
        </p:txBody>
      </p:sp>
      <p:sp>
        <p:nvSpPr>
          <p:cNvPr id="14" name="課題3"/>
          <p:cNvSpPr/>
          <p:nvPr/>
        </p:nvSpPr>
        <p:spPr>
          <a:xfrm>
            <a:off x="6617208" y="259781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参加した方に、入会を案内する手段が無い</a:t>
            </a:r>
            <a:endParaRPr lang="ja-JP" altLang="en-US" sz="1200" dirty="0">
              <a:latin typeface="メイリオ"/>
              <a:ea typeface="メイリオ"/>
              <a:cs typeface="メイリオ"/>
            </a:endParaRPr>
          </a:p>
        </p:txBody>
      </p:sp>
      <p:sp>
        <p:nvSpPr>
          <p:cNvPr id="15" name="矢印下"/>
          <p:cNvSpPr/>
          <p:nvPr/>
        </p:nvSpPr>
        <p:spPr>
          <a:xfrm>
            <a:off x="7780020" y="351221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6" name="打ち手3"/>
          <p:cNvSpPr/>
          <p:nvPr/>
        </p:nvSpPr>
        <p:spPr>
          <a:xfrm>
            <a:off x="6617208" y="392369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参加後の入会の案内</a:t>
            </a:r>
            <a:endParaRPr lang="ja-JP" altLang="en-US" sz="1200" dirty="0">
              <a:latin typeface="メイリオ"/>
              <a:ea typeface="メイリオ"/>
              <a:cs typeface="メイリオ"/>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LINEは積み上がる</a:t>
            </a:r>
            <a:r>
              <a:rPr lang="ja-JP" altLang="en-US" sz="1600" b="1" dirty="0">
                <a:latin typeface="メイリオ" panose="020B0604030504040204" pitchFamily="50" charset="-128"/>
                <a:ea typeface="メイリオ" panose="020B0604030504040204" pitchFamily="50" charset="-128"/>
                <a:cs typeface="メイリオ"/>
                <a:sym typeface="Meiryo"/>
              </a:rPr>
              <a:t>・追い続けられる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 4"/>
          <p:cNvGraphicFramePr>
            <a:graphicFrameLocks noGrp="1"/>
          </p:cNvGraphicFramePr>
          <p:nvPr/>
        </p:nvGraphicFramePr>
        <p:xfrm>
          <a:off x="502920" y="2110892"/>
          <a:ext cx="8897112" cy="2057400"/>
        </p:xfrm>
        <a:graphic>
          <a:graphicData uri="http://schemas.openxmlformats.org/drawingml/2006/table">
            <a:tbl>
              <a:tblPr/>
              <a:tblGrid>
                <a:gridCol w="18288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41148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届く相手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毎回、新しく集める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一度友だちになった方に、何度でも届く</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届き方</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広告を見たときだけ</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通知で届き、見てもらいやすい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つながりが切れる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友だちとして、毎月積み上がる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示唆"/>
          <p:cNvSpPr/>
          <p:nvPr/>
        </p:nvSpPr>
        <p:spPr>
          <a:xfrm>
            <a:off x="502920" y="4396892"/>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この仕組みが回れば、今後の広告費を抑えられる可能性もある</a:t>
            </a:r>
            <a:endParaRPr lang="ja-JP" altLang="en-US" sz="1200" dirty="0">
              <a:latin typeface="メイリオ"/>
              <a:ea typeface="メイリオ"/>
              <a:cs typeface="メイリオ"/>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LINEで気をつける点</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気をつける点と対策</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気をつける点は、運用の設計で抑える</a:t>
            </a:r>
          </a:p>
        </p:txBody>
      </p:sp>
      <p:graphicFrame>
        <p:nvGraphicFramePr>
          <p:cNvPr id="5" name="気をつける点 4"/>
          <p:cNvGraphicFramePr>
            <a:graphicFrameLocks noGrp="1"/>
          </p:cNvGraphicFramePr>
          <p:nvPr/>
        </p:nvGraphicFramePr>
        <p:xfrm>
          <a:off x="502920" y="2231593"/>
          <a:ext cx="8897112" cy="2468880"/>
        </p:xfrm>
        <a:graphic>
          <a:graphicData uri="http://schemas.openxmlformats.org/drawingml/2006/table">
            <a:tbl>
              <a:tblPr/>
              <a:tblGrid>
                <a:gridCol w="18288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776472">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気をつける点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対策</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ブロック</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配信が多い・合わない内容だと、ブロックされる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段階に合わせて、配信の中身と回数を変える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配信費</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配信の数に応じて、LINEの費用がかかる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イベントの無い時期は、配信の回数を絞る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時間</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友だちがたまるまで、時間がかかる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次のイベントから入口を置き、イベントごとに積み上げる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他社のLINE運用</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他社の運用</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保険営業の方向けの他社も、LINEで特典を渡し、友だちに学びを届けている</a:t>
            </a:r>
          </a:p>
        </p:txBody>
      </p:sp>
      <p:sp>
        <p:nvSpPr>
          <p:cNvPr id="5" name="見出し 画面"/>
          <p:cNvSpPr/>
          <p:nvPr/>
        </p:nvSpPr>
        <p:spPr>
          <a:xfrm>
            <a:off x="502920" y="1572768"/>
            <a:ext cx="1481328" cy="310896"/>
          </a:xfrm>
          <a:prstGeom prst="rect">
            <a:avLst/>
          </a:prstGeom>
          <a:noFill/>
          <a:ln>
            <a:noFill/>
          </a:ln>
        </p:spPr>
        <p:txBody>
          <a:bodyPr wrap="square" lIns="0" tIns="0" rIns="0" bIns="18288"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野沢塾のあいさつ</a:t>
            </a:r>
            <a:endParaRPr lang="ja-JP" altLang="en-US" sz="1200" dirty="0">
              <a:latin typeface="メイリオ"/>
              <a:ea typeface="メイリオ"/>
              <a:cs typeface="メイリオ"/>
            </a:endParaRPr>
          </a:p>
        </p:txBody>
      </p:sp>
      <p:pic>
        <p:nvPicPr>
          <p:cNvPr id="6" name="Picture 5" descr="sunao_line_nozawa_aisatsu.png"/>
          <p:cNvPicPr>
            <a:picLocks noChangeAspect="1"/>
          </p:cNvPicPr>
          <p:nvPr/>
        </p:nvPicPr>
        <p:blipFill>
          <a:blip r:embed="rId2"/>
          <a:stretch>
            <a:fillRect/>
          </a:stretch>
        </p:blipFill>
        <p:spPr>
          <a:xfrm>
            <a:off x="502920" y="1920240"/>
            <a:ext cx="1481328" cy="3208652"/>
          </a:xfrm>
          <a:prstGeom prst="rect">
            <a:avLst/>
          </a:prstGeom>
          <a:ln w="9525">
            <a:solidFill>
              <a:srgbClr val="BFBFBF"/>
            </a:solidFill>
          </a:ln>
        </p:spPr>
      </p:pic>
      <p:graphicFrame>
        <p:nvGraphicFramePr>
          <p:cNvPr id="7" name="他社のLINE運用 6"/>
          <p:cNvGraphicFramePr>
            <a:graphicFrameLocks noGrp="1"/>
          </p:cNvGraphicFramePr>
          <p:nvPr/>
        </p:nvGraphicFramePr>
        <p:xfrm>
          <a:off x="2258568" y="1572768"/>
          <a:ext cx="7141464" cy="3520440"/>
        </p:xfrm>
        <a:graphic>
          <a:graphicData uri="http://schemas.openxmlformats.org/drawingml/2006/table">
            <a:tbl>
              <a:tblPr/>
              <a:tblGrid>
                <a:gridCol w="1143000">
                  <a:extLst>
                    <a:ext uri="{9D8B030D-6E8A-4147-A177-3AD203B41FA5}">
                      <a16:colId xmlns:a16="http://schemas.microsoft.com/office/drawing/2014/main" val="20000"/>
                    </a:ext>
                  </a:extLst>
                </a:gridCol>
                <a:gridCol w="2999232">
                  <a:extLst>
                    <a:ext uri="{9D8B030D-6E8A-4147-A177-3AD203B41FA5}">
                      <a16:colId xmlns:a16="http://schemas.microsoft.com/office/drawing/2014/main" val="20001"/>
                    </a:ext>
                  </a:extLst>
                </a:gridCol>
                <a:gridCol w="2999232">
                  <a:extLst>
                    <a:ext uri="{9D8B030D-6E8A-4147-A177-3AD203B41FA5}">
                      <a16:colId xmlns:a16="http://schemas.microsoft.com/office/drawing/2014/main" val="20002"/>
                    </a:ext>
                  </a:extLst>
                </a:gridCol>
              </a:tblGrid>
              <a:tr h="411480">
                <a:tc>
                  <a:txBody>
                    <a:bodyPr/>
                    <a:lstStyle/>
                    <a:p>
                      <a:pPr algn="ctr">
                        <a:buNone/>
                      </a:pP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野沢塾</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R&amp;C保険営業ラボ</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73152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サービス</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保険営業の方向けの講座</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オンラインサロン（月2回）</a:t>
                      </a:r>
                      <a:endParaRPr lang="ja-JP" altLang="en-US" sz="12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保険営業の方向けの無料の学習サービス</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（2026年9月開始）</a:t>
                      </a:r>
                      <a:endParaRPr lang="ja-JP" altLang="en-US" sz="12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入口</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サイトの「公式LINE登録」ボタン</a:t>
                      </a:r>
                      <a:endParaRPr lang="ja-JP" altLang="en-US" sz="12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社員の紹介URLから</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友だち追加（招待制）</a:t>
                      </a:r>
                      <a:endParaRPr lang="ja-JP" altLang="en-US" sz="12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特典</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「営業力向上トークスクリプト3本」</a:t>
                      </a:r>
                      <a:br>
                        <a:rPr lang="ja-JP" altLang="en-US" sz="1200" b="1" dirty="0">
                          <a:solidFill>
                            <a:srgbClr val="002060"/>
                          </a:solidFill>
                          <a:latin typeface="メイリオ" panose="020B0604030504040204" pitchFamily="50" charset="-128"/>
                          <a:ea typeface="メイリオ" panose="020B0604030504040204" pitchFamily="50" charset="-128"/>
                          <a:cs typeface="メイリオ"/>
                        </a:rPr>
                      </a:br>
                      <a:r>
                        <a:rPr lang="ja-JP" altLang="en-US" sz="1200" b="1" dirty="0">
                          <a:solidFill>
                            <a:srgbClr val="002060"/>
                          </a:solidFill>
                          <a:latin typeface="メイリオ" panose="020B0604030504040204" pitchFamily="50" charset="-128"/>
                          <a:ea typeface="メイリオ" panose="020B0604030504040204" pitchFamily="50" charset="-128"/>
                          <a:cs typeface="メイリオ"/>
                        </a:rPr>
                        <a:t>の動画</a:t>
                      </a:r>
                      <a:endParaRPr lang="ja-JP" altLang="en-US" sz="12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LINEそのものが、無料の学習サービス</a:t>
                      </a:r>
                      <a:endParaRPr lang="ja-JP" altLang="en-US" sz="12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0972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追加後の</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配信</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あいさつで、特典のURLとパスワードを届ける。「最新情報を定期的に配信」と案内</a:t>
                      </a:r>
                      <a:endParaRPr lang="ja-JP" altLang="en-US" sz="12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登録時に5問のアンケート。答えに合わせて、資料・動画・セミナーのアーカイブ・トークスクリプトを段階的に配信</a:t>
                      </a:r>
                      <a:endParaRPr lang="ja-JP" altLang="en-US" sz="12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示唆"/>
          <p:cNvSpPr/>
          <p:nvPr/>
        </p:nvSpPr>
        <p:spPr>
          <a:xfrm>
            <a:off x="502920" y="5349240"/>
            <a:ext cx="8897112" cy="50292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すなおコンサルティング様は、イベントの予約・参加に合わせた案内で、入会へつなげる</a:t>
            </a:r>
            <a:endParaRPr lang="ja-JP" altLang="en-US" sz="1200" dirty="0">
              <a:latin typeface="メイリオ"/>
              <a:ea typeface="メイリオ"/>
              <a:cs typeface="メイリオ"/>
            </a:endParaRPr>
          </a:p>
        </p:txBody>
      </p:sp>
      <p:sp>
        <p:nvSpPr>
          <p:cNvPr id="9" name="注記"/>
          <p:cNvSpPr/>
          <p:nvPr/>
        </p:nvSpPr>
        <p:spPr>
          <a:xfrm>
            <a:off x="502920" y="5943600"/>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※野沢塾：LINE公式アカウント（2026年10月19日確認）・公式サイト（2026年10月18日確認）より。画面の名前とパスワードは伏せている</a:t>
            </a:r>
            <a:endParaRPr lang="ja-JP" altLang="en-US" sz="1200" dirty="0">
              <a:latin typeface="メイリオ"/>
              <a:ea typeface="メイリオ"/>
              <a:cs typeface="メイリオ"/>
            </a:endParaRPr>
          </a:p>
        </p:txBody>
      </p:sp>
      <p:sp>
        <p:nvSpPr>
          <p:cNvPr id="10" name="注記"/>
          <p:cNvSpPr/>
          <p:nvPr/>
        </p:nvSpPr>
        <p:spPr>
          <a:xfrm>
            <a:off x="502920" y="6089904"/>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※R&amp;C保険営業ラボ：R&amp;C株式会社のプレスリリースより。招待制のため、画面は未掲載</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友だちの入口</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新規友だち追加</a:t>
            </a:r>
          </a:p>
        </p:txBody>
      </p:sp>
      <p:sp>
        <p:nvSpPr>
          <p:cNvPr id="4" name="Google Shape;752;p28"/>
          <p:cNvSpPr txBox="1"/>
          <p:nvPr/>
        </p:nvSpPr>
        <p:spPr>
          <a:xfrm>
            <a:off x="2286000" y="740664"/>
            <a:ext cx="7406640" cy="585216"/>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ポップアップツールとサンクスLINE誘導で</a:t>
            </a:r>
            <a:r>
              <a:rPr lang="en-US" altLang="ja-JP" sz="1600" b="1" dirty="0">
                <a:latin typeface="メイリオ" panose="020B0604030504040204" pitchFamily="50" charset="-128"/>
                <a:ea typeface="メイリオ" panose="020B0604030504040204" pitchFamily="50" charset="-128"/>
                <a:cs typeface="メイリオ"/>
                <a:sym typeface="Meiryo"/>
              </a:rPr>
              <a:t>、</a:t>
            </a:r>
          </a:p>
          <a:p>
            <a:r>
              <a:rPr lang="en-US" altLang="ja-JP" sz="1600" b="1" dirty="0" err="1">
                <a:latin typeface="メイリオ" panose="020B0604030504040204" pitchFamily="50" charset="-128"/>
                <a:ea typeface="メイリオ" panose="020B0604030504040204" pitchFamily="50" charset="-128"/>
                <a:cs typeface="メイリオ"/>
                <a:sym typeface="Meiryo"/>
              </a:rPr>
              <a:t>離れる方と予約した方の両方を友だちにする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ポップアップツール（離脱防止）"/>
          <p:cNvSpPr/>
          <p:nvPr/>
        </p:nvSpPr>
        <p:spPr>
          <a:xfrm>
            <a:off x="502920" y="2095804"/>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ポップアップツール（離脱防止）</a:t>
            </a:r>
            <a:endParaRPr lang="ja-JP" altLang="en-US" sz="1200" dirty="0">
              <a:latin typeface="メイリオ"/>
              <a:ea typeface="メイリオ"/>
              <a:cs typeface="メイリオ"/>
            </a:endParaRPr>
          </a:p>
        </p:txBody>
      </p:sp>
      <p:graphicFrame>
        <p:nvGraphicFramePr>
          <p:cNvPr id="6" name="入口1 5"/>
          <p:cNvGraphicFramePr>
            <a:graphicFrameLocks noGrp="1"/>
          </p:cNvGraphicFramePr>
          <p:nvPr/>
        </p:nvGraphicFramePr>
        <p:xfrm>
          <a:off x="502920" y="2507284"/>
          <a:ext cx="4311396" cy="1700784"/>
        </p:xfrm>
        <a:graphic>
          <a:graphicData uri="http://schemas.openxmlformats.org/drawingml/2006/table">
            <a:tbl>
              <a:tblPr/>
              <a:tblGrid>
                <a:gridCol w="1280160">
                  <a:extLst>
                    <a:ext uri="{9D8B030D-6E8A-4147-A177-3AD203B41FA5}">
                      <a16:colId xmlns:a16="http://schemas.microsoft.com/office/drawing/2014/main" val="20000"/>
                    </a:ext>
                  </a:extLst>
                </a:gridCol>
                <a:gridCol w="3031236">
                  <a:extLst>
                    <a:ext uri="{9D8B030D-6E8A-4147-A177-3AD203B41FA5}">
                      <a16:colId xmlns:a16="http://schemas.microsoft.com/office/drawing/2014/main" val="20001"/>
                    </a:ext>
                  </a:extLst>
                </a:gridCol>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LPで申し込まずに離れる方</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LPを離れようとしたとき</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次のセミナーの案内を、LINEで受け取れる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7" name="見出し サンクスLINE誘導"/>
          <p:cNvSpPr/>
          <p:nvPr/>
        </p:nvSpPr>
        <p:spPr>
          <a:xfrm>
            <a:off x="5088636" y="2095804"/>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graphicFrame>
        <p:nvGraphicFramePr>
          <p:cNvPr id="8" name="入口2 7"/>
          <p:cNvGraphicFramePr>
            <a:graphicFrameLocks noGrp="1"/>
          </p:cNvGraphicFramePr>
          <p:nvPr/>
        </p:nvGraphicFramePr>
        <p:xfrm>
          <a:off x="5088636" y="2507284"/>
          <a:ext cx="4311396" cy="1700784"/>
        </p:xfrm>
        <a:graphic>
          <a:graphicData uri="http://schemas.openxmlformats.org/drawingml/2006/table">
            <a:tbl>
              <a:tblPr/>
              <a:tblGrid>
                <a:gridCol w="1280160">
                  <a:extLst>
                    <a:ext uri="{9D8B030D-6E8A-4147-A177-3AD203B41FA5}">
                      <a16:colId xmlns:a16="http://schemas.microsoft.com/office/drawing/2014/main" val="20000"/>
                    </a:ext>
                  </a:extLst>
                </a:gridCol>
                <a:gridCol w="3031236">
                  <a:extLst>
                    <a:ext uri="{9D8B030D-6E8A-4147-A177-3AD203B41FA5}">
                      <a16:colId xmlns:a16="http://schemas.microsoft.com/office/drawing/2014/main" val="20001"/>
                    </a:ext>
                  </a:extLst>
                </a:gridCol>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セミナーを予約した方</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予約完了の画面</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当日の案内・リマインドを、LINEで届ける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9" name="示唆"/>
          <p:cNvSpPr/>
          <p:nvPr/>
        </p:nvSpPr>
        <p:spPr>
          <a:xfrm>
            <a:off x="502920" y="4427524"/>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どちらも、次のイベントまで追える友だちになる</a:t>
            </a:r>
            <a:endParaRPr lang="ja-JP" altLang="en-US" sz="1200" dirty="0">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配信の設計</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段階ごとの配信</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興味あり・予約・参加の段階ごとに、案内を変える</a:t>
            </a:r>
          </a:p>
        </p:txBody>
      </p:sp>
      <p:sp>
        <p:nvSpPr>
          <p:cNvPr id="5" name="流れ1"/>
          <p:cNvSpPr/>
          <p:nvPr/>
        </p:nvSpPr>
        <p:spPr>
          <a:xfrm>
            <a:off x="502920"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200" dirty="0">
              <a:latin typeface="メイリオ"/>
              <a:ea typeface="メイリオ"/>
              <a:cs typeface="メイリオ"/>
            </a:endParaRPr>
          </a:p>
        </p:txBody>
      </p:sp>
      <p:sp>
        <p:nvSpPr>
          <p:cNvPr id="6" name="矢印"/>
          <p:cNvSpPr/>
          <p:nvPr/>
        </p:nvSpPr>
        <p:spPr>
          <a:xfrm>
            <a:off x="2494026"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804922"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8" name="矢印"/>
          <p:cNvSpPr/>
          <p:nvPr/>
        </p:nvSpPr>
        <p:spPr>
          <a:xfrm>
            <a:off x="4796028"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5106924" y="1890613"/>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200" dirty="0">
              <a:latin typeface="メイリオ"/>
              <a:ea typeface="メイリオ"/>
              <a:cs typeface="メイリオ"/>
            </a:endParaRPr>
          </a:p>
        </p:txBody>
      </p:sp>
      <p:sp>
        <p:nvSpPr>
          <p:cNvPr id="10" name="矢印"/>
          <p:cNvSpPr/>
          <p:nvPr/>
        </p:nvSpPr>
        <p:spPr>
          <a:xfrm>
            <a:off x="7098030" y="1890613"/>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7408926" y="1890613"/>
            <a:ext cx="1991106"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2" name="段階ごとの配信 11"/>
          <p:cNvGraphicFramePr>
            <a:graphicFrameLocks noGrp="1"/>
          </p:cNvGraphicFramePr>
          <p:nvPr/>
        </p:nvGraphicFramePr>
        <p:xfrm>
          <a:off x="502920" y="2713573"/>
          <a:ext cx="8897112" cy="2322576"/>
        </p:xfrm>
        <a:graphic>
          <a:graphicData uri="http://schemas.openxmlformats.org/drawingml/2006/table">
            <a:tbl>
              <a:tblPr/>
              <a:tblGrid>
                <a:gridCol w="13716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3639312">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届ける内容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予約していない方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（ポップアップツールから）</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セミナーの見どころ動画・参加特典</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予約へ</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予約した方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（サンクスLINE誘導から）</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日程ごとに、前日・当日のお知らせ</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当日の参加へ</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イベントに参加した方</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イベント直後に、</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サロンの申込みフォームを直接案内</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（申込みはいつでも可能）</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入会へ</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3" name="注記"/>
          <p:cNvSpPr/>
          <p:nvPr/>
        </p:nvSpPr>
        <p:spPr>
          <a:xfrm>
            <a:off x="502920" y="5136733"/>
            <a:ext cx="8897112" cy="256032"/>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※配信の内容は、イベントの内容に合わせて設計</a:t>
            </a:r>
            <a:endParaRPr lang="ja-JP" altLang="en-US" sz="1200" dirty="0">
              <a:latin typeface="メイリオ"/>
              <a:ea typeface="メイリオ"/>
              <a:cs typeface="メイリオ"/>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目標</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指標</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追える人数を増やし・減らさず、次のイベント参加・入会へ</a:t>
            </a:r>
          </a:p>
        </p:txBody>
      </p:sp>
      <p:sp>
        <p:nvSpPr>
          <p:cNvPr id="5" name="流れ1"/>
          <p:cNvSpPr/>
          <p:nvPr/>
        </p:nvSpPr>
        <p:spPr>
          <a:xfrm>
            <a:off x="502920" y="2095804"/>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200" dirty="0">
              <a:latin typeface="メイリオ"/>
              <a:ea typeface="メイリオ"/>
              <a:cs typeface="メイリオ"/>
            </a:endParaRPr>
          </a:p>
        </p:txBody>
      </p:sp>
      <p:sp>
        <p:nvSpPr>
          <p:cNvPr id="6" name="矢印"/>
          <p:cNvSpPr/>
          <p:nvPr/>
        </p:nvSpPr>
        <p:spPr>
          <a:xfrm>
            <a:off x="3261360" y="209580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3572256" y="2095804"/>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次のイベントの予約・参加</a:t>
            </a:r>
            <a:endParaRPr lang="ja-JP" altLang="en-US" sz="1200" dirty="0">
              <a:latin typeface="メイリオ"/>
              <a:ea typeface="メイリオ"/>
              <a:cs typeface="メイリオ"/>
            </a:endParaRPr>
          </a:p>
        </p:txBody>
      </p:sp>
      <p:sp>
        <p:nvSpPr>
          <p:cNvPr id="8" name="矢印"/>
          <p:cNvSpPr/>
          <p:nvPr/>
        </p:nvSpPr>
        <p:spPr>
          <a:xfrm>
            <a:off x="6330696" y="209580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6641592" y="2095804"/>
            <a:ext cx="2758440"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0" name="指標 9"/>
          <p:cNvGraphicFramePr>
            <a:graphicFrameLocks noGrp="1"/>
          </p:cNvGraphicFramePr>
          <p:nvPr/>
        </p:nvGraphicFramePr>
        <p:xfrm>
          <a:off x="502920" y="2918764"/>
          <a:ext cx="8897112" cy="2057400"/>
        </p:xfrm>
        <a:graphic>
          <a:graphicData uri="http://schemas.openxmlformats.org/drawingml/2006/table">
            <a:tbl>
              <a:tblPr/>
              <a:tblGrid>
                <a:gridCol w="20116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5148072">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指標</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見る時期</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ブロックされずに届く友だちの数。増やし、減らさない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予約・参加</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イベント期</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LINEからの予約と、当日の参加</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参加した方のうち、入会した方</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概算お見積り：6か月目に追える人数86人</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プラン②</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イベントに合わせた運用で、セミナー予約・サロン入会へつなげる</a:t>
            </a:r>
          </a:p>
        </p:txBody>
      </p: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¥295,000〜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イベント期 ¥365,000〜</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¥165,000〜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cs typeface="メイリオ"/>
              </a:rPr>
              <a:t>6</a:t>
            </a:r>
            <a:r>
              <a:rPr lang="ja-JP" sz="1400" b="0" u="none" strike="noStrike">
                <a:solidFill>
                  <a:schemeClr val="lt1"/>
                </a:solidFill>
                <a:effectLst/>
                <a:uFillTx/>
                <a:latin typeface="メイリオ"/>
                <a:ea typeface="メイリオ"/>
                <a:cs typeface="メイリオ"/>
              </a:rPr>
              <a:t>か月後</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イベント期の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月4〜5回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cs typeface="メイリオ"/>
              </a:rPr>
              <a:t>平常期の</a:t>
            </a:r>
            <a:endParaRPr lang="en-US" sz="1200" b="0" u="none" strike="noStrike">
              <a:solidFill>
                <a:srgbClr val="FFFFFF"/>
              </a:solidFill>
              <a:effectLst/>
              <a:uFillTx/>
              <a:latin typeface="メイリオ"/>
              <a:ea typeface="メイリオ"/>
              <a:cs typeface="メイリオ"/>
            </a:endParaRPr>
          </a:p>
          <a:p>
            <a:pPr algn="ctr" defTabSz="914400">
              <a:lnSpc>
                <a:spcPct val="90000"/>
              </a:lnSpc>
            </a:pPr>
            <a:r>
              <a:rPr lang="ja-JP" sz="1200" b="0" u="none" strike="noStrike">
                <a:solidFill>
                  <a:schemeClr val="lt1"/>
                </a:solidFill>
                <a:effectLst/>
                <a:uFillTx/>
                <a:latin typeface="メイリオ"/>
                <a:ea typeface="メイリオ"/>
                <a:cs typeface="メイリオ"/>
              </a:rPr>
              <a:t>企画配信</a:t>
            </a:r>
            <a:endParaRPr lang="en-US" sz="1200" b="0" u="none" strike="noStrike">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月2回</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前日・当日の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お知らせ</a:t>
            </a:r>
            <a:endParaRPr lang="en-US" sz="1300" b="0" u="none" strike="noStrike">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日程ごとに配信</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申込み</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フォームの案内</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イベント直後</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追える人数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段階ごとに設計</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開設</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002060"/>
                </a:solidFill>
                <a:effectLst/>
                <a:uFillTx/>
                <a:latin typeface="メイリオ"/>
                <a:ea typeface="メイリオ"/>
                <a:cs typeface="メイリオ"/>
              </a:rPr>
              <a:t>86人</a:t>
            </a:r>
            <a:endParaRPr lang="en-US" sz="1400" b="0" u="none" strike="noStrike">
              <a:solidFill>
                <a:srgbClr val="00206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2件/6か月</a:t>
            </a:r>
            <a:endParaRPr lang="en-US" sz="1400" b="0" u="none" strike="noStrike">
              <a:solidFill>
                <a:srgbClr val="00206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0件/6か月</a:t>
            </a:r>
            <a:endParaRPr lang="en-US" sz="1400" b="0" u="none" strike="noStrike">
              <a:solidFill>
                <a:srgbClr val="002060"/>
              </a:solidFill>
              <a:effectLst/>
              <a:uFillTx/>
              <a:latin typeface="メイリオ"/>
              <a:ea typeface="メイリオ"/>
              <a:cs typeface="メイリオ"/>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料金</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DYMプラン</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ご予算と運用の体制に合わせて、3つのプランから選択可能</a:t>
            </a:r>
          </a:p>
        </p:txBody>
      </p:sp>
      <p:graphicFrame>
        <p:nvGraphicFramePr>
          <p:cNvPr id="5" name="料金 4"/>
          <p:cNvGraphicFramePr>
            <a:graphicFrameLocks noGrp="1"/>
          </p:cNvGraphicFramePr>
          <p:nvPr/>
        </p:nvGraphicFramePr>
        <p:xfrm>
          <a:off x="502920" y="1860438"/>
          <a:ext cx="8897112" cy="3063240"/>
        </p:xfrm>
        <a:graphic>
          <a:graphicData uri="http://schemas.openxmlformats.org/drawingml/2006/table">
            <a:tbl>
              <a:tblPr/>
              <a:tblGrid>
                <a:gridCol w="1463040">
                  <a:extLst>
                    <a:ext uri="{9D8B030D-6E8A-4147-A177-3AD203B41FA5}">
                      <a16:colId xmlns:a16="http://schemas.microsoft.com/office/drawing/2014/main" val="20000"/>
                    </a:ext>
                  </a:extLst>
                </a:gridCol>
                <a:gridCol w="2478024">
                  <a:extLst>
                    <a:ext uri="{9D8B030D-6E8A-4147-A177-3AD203B41FA5}">
                      <a16:colId xmlns:a16="http://schemas.microsoft.com/office/drawing/2014/main" val="20001"/>
                    </a:ext>
                  </a:extLst>
                </a:gridCol>
                <a:gridCol w="2478024">
                  <a:extLst>
                    <a:ext uri="{9D8B030D-6E8A-4147-A177-3AD203B41FA5}">
                      <a16:colId xmlns:a16="http://schemas.microsoft.com/office/drawing/2014/main" val="20002"/>
                    </a:ext>
                  </a:extLst>
                </a:gridCol>
                <a:gridCol w="2478024">
                  <a:extLst>
                    <a:ext uri="{9D8B030D-6E8A-4147-A177-3AD203B41FA5}">
                      <a16:colId xmlns:a16="http://schemas.microsoft.com/office/drawing/2014/main" val="20003"/>
                    </a:ext>
                  </a:extLst>
                </a:gridCol>
              </a:tblGrid>
              <a:tr h="59436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82296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内容</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入口と配信の仕組みを構築</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配信は貴社で運用</a:t>
                      </a:r>
                      <a:endParaRPr lang="ja-JP" altLang="en-US" sz="125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月2回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月4〜5回</a:t>
                      </a:r>
                      <a:endParaRPr lang="ja-JP" altLang="en-US" sz="125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弊社で配信＋レポート・定例会</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月3回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月5回</a:t>
                      </a:r>
                      <a:endParaRPr lang="ja-JP" altLang="en-US" sz="125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平常期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5〜10万円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20万円〜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イベント期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30万円程度</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a:t>
                      </a:r>
                      <a:endParaRPr lang="ja-JP" altLang="en-US" sz="17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注記"/>
          <p:cNvSpPr/>
          <p:nvPr/>
        </p:nvSpPr>
        <p:spPr>
          <a:xfrm>
            <a:off x="502920" y="5015118"/>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※広告費・ツール費・LINE公式アカウントの利用料は含まない。いずれも6か月〜の契約</a:t>
            </a:r>
            <a:endParaRPr lang="ja-JP" altLang="en-US" sz="1200" dirty="0">
              <a:latin typeface="メイリオ"/>
              <a:ea typeface="メイリオ"/>
              <a:cs typeface="メイリオ"/>
            </a:endParaRPr>
          </a:p>
        </p:txBody>
      </p:sp>
      <p:sp>
        <p:nvSpPr>
          <p:cNvPr id="7" name="注記"/>
          <p:cNvSpPr/>
          <p:nvPr/>
        </p:nvSpPr>
        <p:spPr>
          <a:xfrm>
            <a:off x="502920" y="5234574"/>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※施策内容・配信本数・連携範囲等により、費用は個別にお見積り</a:t>
            </a:r>
            <a:endParaRPr lang="ja-JP" altLang="en-US" sz="1200" dirty="0">
              <a:latin typeface="メイリオ"/>
              <a:ea typeface="メイリオ"/>
              <a:cs typeface="メイリオ"/>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※貴社の作業・確認にかかる時間により、前後する可能性あり</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複数の</a:t>
            </a: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数を増加。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FF0000"/>
                </a:solidFill>
                <a:latin typeface="メイリオ" panose="020B0604030504040204" pitchFamily="50" charset="-128"/>
                <a:ea typeface="メイリオ" panose="020B0604030504040204" pitchFamily="50" charset="-128"/>
                <a:cs typeface="メイリオ"/>
              </a:rPr>
              <a:t>GA</a:t>
            </a:r>
            <a:r>
              <a:rPr lang="ja-JP" altLang="en-US" sz="800" dirty="0">
                <a:solidFill>
                  <a:srgbClr val="FF0000"/>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cs typeface="メイリオ"/>
              </a:rPr>
              <a:t>CPA</a:t>
            </a:r>
            <a:r>
              <a:rPr lang="ja-JP" altLang="en-US" sz="800" dirty="0">
                <a:solidFill>
                  <a:srgbClr val="FF0000"/>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25,000円／件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LINEのリンクからのサロン入会</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5"/>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1">
              <a:spcBef>
                <a:spcPct val="20000"/>
              </a:spcBef>
            </a:pPr>
            <a:r>
              <a:rPr lang="ja-JP" altLang="en-US" sz="831" b="1" dirty="0">
                <a:latin typeface="メイリオ"/>
                <a:ea typeface="メイリオ"/>
                <a:cs typeface="メイリオ"/>
              </a:rPr>
              <a:t>株式会社</a:t>
            </a:r>
            <a:r>
              <a:rPr lang="en-US" altLang="ja-JP" sz="831" b="1" dirty="0">
                <a:latin typeface="メイリオ"/>
                <a:ea typeface="メイリオ"/>
                <a:cs typeface="メイリオ"/>
              </a:rPr>
              <a:t>DYM</a:t>
            </a:r>
            <a:r>
              <a:rPr lang="ja-JP" altLang="en-US" sz="831" b="1" dirty="0">
                <a:latin typeface="メイリオ"/>
                <a:ea typeface="メイリオ"/>
                <a:cs typeface="メイリオ"/>
              </a:rPr>
              <a:t>　〒</a:t>
            </a:r>
            <a:r>
              <a:rPr lang="en-US" altLang="ja-JP" sz="831" b="1" dirty="0">
                <a:latin typeface="メイリオ"/>
                <a:ea typeface="メイリオ"/>
                <a:cs typeface="メイリオ"/>
              </a:rPr>
              <a:t>141-0032</a:t>
            </a:r>
            <a:r>
              <a:rPr lang="ja-JP" altLang="en-US" sz="831" b="1" dirty="0">
                <a:latin typeface="メイリオ"/>
                <a:ea typeface="メイリオ"/>
                <a:cs typeface="メイリオ"/>
              </a:rPr>
              <a:t>　東京都品川区大崎</a:t>
            </a:r>
            <a:r>
              <a:rPr lang="en-US" altLang="ja-JP" sz="831" b="1" dirty="0">
                <a:latin typeface="メイリオ"/>
                <a:ea typeface="メイリオ"/>
                <a:cs typeface="メイリオ"/>
              </a:rPr>
              <a:t>1-11-2</a:t>
            </a:r>
            <a:r>
              <a:rPr lang="ja-JP" altLang="en-US" sz="831" b="1" dirty="0">
                <a:latin typeface="メイリオ"/>
                <a:ea typeface="メイリオ"/>
                <a:cs typeface="メイリオ"/>
              </a:rPr>
              <a:t>　ゲートシティ大崎イーストタワー</a:t>
            </a:r>
            <a:r>
              <a:rPr lang="en-US" altLang="ja-JP" sz="831" b="1" dirty="0">
                <a:latin typeface="メイリオ"/>
                <a:ea typeface="メイリオ"/>
                <a:cs typeface="メイリオ"/>
              </a:rPr>
              <a:t>10</a:t>
            </a:r>
            <a:r>
              <a:rPr lang="ja-JP" altLang="en-US" sz="831" b="1" dirty="0">
                <a:latin typeface="メイリオ"/>
                <a:ea typeface="メイリオ"/>
                <a:cs typeface="メイリオ"/>
              </a:rPr>
              <a:t>階</a:t>
            </a:r>
            <a:endParaRPr lang="en-US" altLang="ja-JP" sz="831" b="1" dirty="0">
              <a:latin typeface="メイリオ"/>
              <a:ea typeface="メイリオ"/>
              <a:cs typeface="メイリオ"/>
            </a:endParaRPr>
          </a:p>
          <a:p>
            <a:pPr lvl="1">
              <a:spcBef>
                <a:spcPct val="20000"/>
              </a:spcBef>
            </a:pPr>
            <a:r>
              <a:rPr lang="en-US" altLang="ja-JP" sz="831" b="1" dirty="0">
                <a:latin typeface="メイリオ"/>
                <a:ea typeface="メイリオ"/>
                <a:cs typeface="メイリオ"/>
              </a:rPr>
              <a:t>TEL: 03-5745-0200</a:t>
            </a:r>
            <a:r>
              <a:rPr lang="ja-JP" altLang="en-US" sz="831" b="1" dirty="0">
                <a:latin typeface="メイリオ"/>
                <a:ea typeface="メイリオ"/>
                <a:cs typeface="メイリオ"/>
              </a:rPr>
              <a:t>　</a:t>
            </a:r>
            <a:r>
              <a:rPr lang="en-US" altLang="ja-JP" sz="831" b="1" dirty="0">
                <a:latin typeface="メイリオ"/>
                <a:ea typeface="メイリオ"/>
                <a:cs typeface="メイリオ"/>
              </a:rPr>
              <a:t>FAX: 03-3779-8720 </a:t>
            </a:r>
            <a:r>
              <a:rPr lang="ja-JP" altLang="en-US" sz="831" b="1" dirty="0">
                <a:latin typeface="メイリオ"/>
                <a:ea typeface="メイリオ"/>
                <a:cs typeface="メイリオ"/>
              </a:rPr>
              <a:t>　</a:t>
            </a:r>
            <a:r>
              <a:rPr lang="en-US" altLang="ja-JP" sz="831" b="1" dirty="0">
                <a:latin typeface="メイリオ"/>
                <a:ea typeface="メイリオ"/>
                <a:cs typeface="メイリオ"/>
              </a:rPr>
              <a:t>http://dym.asia   </a:t>
            </a:r>
            <a:r>
              <a:rPr lang="ja-JP" altLang="en-US" sz="831" b="1" dirty="0">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6" y="5888351"/>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1" y="5597769"/>
            <a:ext cx="184731" cy="237116"/>
          </a:xfrm>
          <a:prstGeom prst="rect">
            <a:avLst/>
          </a:prstGeom>
          <a:noFill/>
        </p:spPr>
        <p:txBody>
          <a:bodyPr wrap="none" rtlCol="0">
            <a:spAutoFit/>
          </a:bodyPr>
          <a:lstStyle/>
          <a:p>
            <a:endParaRPr lang="ja-JP" altLang="en-US" sz="941">
              <a:latin typeface="メイリオ"/>
              <a:ea typeface="メイリオ"/>
              <a:cs typeface="メイリオ"/>
            </a:endParaRPr>
          </a:p>
        </p:txBody>
      </p:sp>
      <p:sp>
        <p:nvSpPr>
          <p:cNvPr id="18" name="正方形/長方形 17"/>
          <p:cNvSpPr/>
          <p:nvPr/>
        </p:nvSpPr>
        <p:spPr>
          <a:xfrm>
            <a:off x="2170038" y="989685"/>
            <a:ext cx="5565924" cy="400110"/>
          </a:xfrm>
          <a:prstGeom prst="rect">
            <a:avLst/>
          </a:prstGeom>
        </p:spPr>
        <p:txBody>
          <a:bodyPr wrap="square">
            <a:spAutoFit/>
          </a:bodyPr>
          <a:lstStyle/>
          <a:p>
            <a:pPr algn="ctr">
              <a:spcBef>
                <a:spcPct val="20000"/>
              </a:spcBef>
            </a:pPr>
            <a:r>
              <a:rPr lang="ja-JP" altLang="en-US" sz="2000" b="1" dirty="0">
                <a:latin typeface="メイリオ" charset="0"/>
                <a:ea typeface="メイリオ" charset="0"/>
                <a:cs typeface="メイリオ" charset="0"/>
              </a:rPr>
              <a:t>貴社の明るい未来に必ず貢献いたします。</a:t>
            </a:r>
          </a:p>
        </p:txBody>
      </p:sp>
      <p:pic>
        <p:nvPicPr>
          <p:cNvPr id="4" name="図 3">
            <a:extLst>
              <a:ext uri="{FF2B5EF4-FFF2-40B4-BE49-F238E27FC236}">
                <a16:creationId xmlns:a16="http://schemas.microsoft.com/office/drawing/2014/main" id="{73E0B742-FF70-F384-96EE-87A574CE828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1520" y="1988426"/>
            <a:ext cx="4274042" cy="2849361"/>
          </a:xfrm>
          <a:prstGeom prst="rect">
            <a:avLst/>
          </a:prstGeom>
        </p:spPr>
      </p:pic>
      <p:pic>
        <p:nvPicPr>
          <p:cNvPr id="8" name="図 7">
            <a:extLst>
              <a:ext uri="{FF2B5EF4-FFF2-40B4-BE49-F238E27FC236}">
                <a16:creationId xmlns:a16="http://schemas.microsoft.com/office/drawing/2014/main" id="{CBB7E89C-70F0-E399-7C21-45FBF93562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198076" y="1988426"/>
            <a:ext cx="2326924" cy="1551282"/>
          </a:xfrm>
          <a:prstGeom prst="rect">
            <a:avLst/>
          </a:prstGeom>
        </p:spPr>
      </p:pic>
      <p:pic>
        <p:nvPicPr>
          <p:cNvPr id="6" name="図 5" descr="スーツを着た男性と文字&#10;&#10;低い精度で自動的に生成された説明">
            <a:extLst>
              <a:ext uri="{FF2B5EF4-FFF2-40B4-BE49-F238E27FC236}">
                <a16:creationId xmlns:a16="http://schemas.microsoft.com/office/drawing/2014/main" id="{DCA0A1E3-BE99-513C-E589-1E8C035070E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7512" r="10622" b="20845"/>
          <a:stretch/>
        </p:blipFill>
        <p:spPr>
          <a:xfrm>
            <a:off x="7413236" y="3287967"/>
            <a:ext cx="2111765" cy="1551282"/>
          </a:xfrm>
          <a:prstGeom prst="rect">
            <a:avLst/>
          </a:prstGeom>
        </p:spPr>
      </p:pic>
      <p:pic>
        <p:nvPicPr>
          <p:cNvPr id="17" name="図 16" descr="白い壁の前に立っている子供たち&#10;&#10;AI によって生成されたコンテンツは間違っている可能性があります。">
            <a:extLst>
              <a:ext uri="{FF2B5EF4-FFF2-40B4-BE49-F238E27FC236}">
                <a16:creationId xmlns:a16="http://schemas.microsoft.com/office/drawing/2014/main" id="{3F5A2749-D4AC-2F37-FC68-2734BC439C6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644097" y="1988426"/>
            <a:ext cx="2615823" cy="1471836"/>
          </a:xfrm>
          <a:prstGeom prst="rect">
            <a:avLst/>
          </a:prstGeom>
        </p:spPr>
      </p:pic>
      <p:pic>
        <p:nvPicPr>
          <p:cNvPr id="7" name="図 6">
            <a:extLst>
              <a:ext uri="{FF2B5EF4-FFF2-40B4-BE49-F238E27FC236}">
                <a16:creationId xmlns:a16="http://schemas.microsoft.com/office/drawing/2014/main" id="{30C14A8F-514C-87B6-098E-D307672976B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643655" y="3286280"/>
            <a:ext cx="2769580" cy="1554659"/>
          </a:xfrm>
          <a:prstGeom prst="rect">
            <a:avLst/>
          </a:prstGeom>
        </p:spPr>
      </p:pic>
    </p:spTree>
    <p:extLst>
      <p:ext uri="{BB962C8B-B14F-4D97-AF65-F5344CB8AC3E}">
        <p14:creationId xmlns:p14="http://schemas.microsoft.com/office/powerpoint/2010/main" val="3074123847"/>
      </p:ext>
    </p:extLst>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Appendix</a:t>
            </a:r>
            <a:endParaRPr lang="en-US" sz="1600" b="0" u="none" strike="noStrike">
              <a:solidFill>
                <a:srgbClr val="000000"/>
              </a:solidFill>
              <a:effectLst/>
              <a:uFillTx/>
              <a:latin typeface="メイリオ"/>
              <a:ea typeface="メイリオ"/>
              <a:cs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cs typeface="メイリオ"/>
              </a:rPr>
              <a:t>参考資料</a:t>
            </a:r>
            <a:endParaRPr lang="en-US" sz="3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ユーザーコミュニケーションに、</a:t>
            </a:r>
            <a:r>
              <a:rPr lang="en-US" sz="1400" b="0" u="none" strike="noStrike">
                <a:solidFill>
                  <a:srgbClr val="343434"/>
                </a:solidFill>
                <a:effectLst/>
                <a:uFillTx/>
                <a:latin typeface="メイリオ"/>
                <a:ea typeface="メイリオ"/>
                <a:cs typeface="メイリオ"/>
              </a:rPr>
              <a:t>LINE</a:t>
            </a:r>
            <a:r>
              <a:rPr lang="ja-JP" sz="1400" b="0" u="none" strike="noStrike">
                <a:solidFill>
                  <a:srgbClr val="343434"/>
                </a:solidFill>
                <a:effectLst/>
                <a:uFillTx/>
                <a:latin typeface="メイリオ"/>
                <a:ea typeface="メイリオ"/>
                <a:cs typeface="メイリオ"/>
              </a:rPr>
              <a:t>公式アカウントを導入する法人が増加傾向。</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開封率に関してはメールマガジンの</a:t>
            </a:r>
            <a:r>
              <a:rPr lang="en-US" sz="1400" b="1" u="none" strike="noStrike">
                <a:solidFill>
                  <a:srgbClr val="343434"/>
                </a:solidFill>
                <a:effectLst/>
                <a:uFillTx/>
                <a:latin typeface="メイリオ"/>
                <a:ea typeface="メイリオ"/>
                <a:cs typeface="メイリオ"/>
              </a:rPr>
              <a:t>6</a:t>
            </a:r>
            <a:r>
              <a:rPr lang="ja-JP" sz="1400" b="1" u="none" strike="noStrike">
                <a:solidFill>
                  <a:srgbClr val="343434"/>
                </a:solidFill>
                <a:effectLst/>
                <a:uFillTx/>
                <a:latin typeface="メイリオ"/>
                <a:ea typeface="メイリオ"/>
                <a:cs typeface="メイリオ"/>
              </a:rPr>
              <a:t>倍を誇る</a:t>
            </a:r>
            <a:r>
              <a:rPr lang="ja-JP" sz="1400" b="0" u="none" strike="noStrike">
                <a:solidFill>
                  <a:srgbClr val="343434"/>
                </a:solidFill>
                <a:effectLst/>
                <a:uFillTx/>
                <a:latin typeface="メイリオ"/>
                <a:ea typeface="メイリオ"/>
                <a:cs typeface="メイリオ"/>
              </a:rPr>
              <a:t>と言われています。</a:t>
            </a:r>
            <a:endParaRPr lang="en-US" sz="1400" b="0" u="none" strike="noStrike">
              <a:solidFill>
                <a:srgbClr val="000000"/>
              </a:solidFill>
              <a:effectLst/>
              <a:uFillTx/>
              <a:latin typeface="メイリオ"/>
              <a:ea typeface="メイリオ"/>
              <a:cs typeface="メイリオ"/>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cs typeface="メイリオ"/>
                </a:rPr>
                <a:t>　　　　メールマガジン、テレマーケティング が主流</a:t>
              </a:r>
              <a:endParaRPr lang="en-US" sz="1400" b="0" u="none" strike="noStrike">
                <a:solidFill>
                  <a:srgbClr val="000000"/>
                </a:solidFill>
                <a:effectLst/>
                <a:uFillTx/>
                <a:latin typeface="メイリオ"/>
                <a:ea typeface="メイリオ"/>
                <a:cs typeface="メイリオ"/>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cs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cs typeface="メイリオ"/>
                </a:rPr>
                <a:t>　　　　＋</a:t>
              </a:r>
              <a:r>
                <a:rPr lang="en-US" sz="1400" b="1" u="none" strike="noStrike">
                  <a:solidFill>
                    <a:srgbClr val="00B900"/>
                  </a:solidFill>
                  <a:effectLst/>
                  <a:uFillTx/>
                  <a:latin typeface="メイリオ"/>
                  <a:ea typeface="メイリオ"/>
                  <a:cs typeface="メイリオ"/>
                </a:rPr>
                <a:t>LINE</a:t>
              </a:r>
              <a:r>
                <a:rPr lang="ja-JP" sz="1400" b="1" u="none" strike="noStrike">
                  <a:solidFill>
                    <a:srgbClr val="00B900"/>
                  </a:solidFill>
                  <a:effectLst/>
                  <a:uFillTx/>
                  <a:latin typeface="メイリオ"/>
                  <a:ea typeface="メイリオ"/>
                  <a:cs typeface="メイリオ"/>
                </a:rPr>
                <a:t>公式アカウント </a:t>
              </a:r>
              <a:r>
                <a:rPr lang="ja-JP" sz="1400" b="0" u="none" strike="noStrike">
                  <a:solidFill>
                    <a:srgbClr val="00B900"/>
                  </a:solidFill>
                  <a:effectLst/>
                  <a:uFillTx/>
                  <a:latin typeface="メイリオ"/>
                  <a:ea typeface="メイリオ"/>
                  <a:cs typeface="メイリオ"/>
                </a:rPr>
                <a:t>が主流</a:t>
              </a:r>
              <a:endParaRPr lang="en-US" sz="1400" b="0" u="none" strike="noStrike">
                <a:solidFill>
                  <a:srgbClr val="000000"/>
                </a:solidFill>
                <a:effectLst/>
                <a:uFillTx/>
                <a:latin typeface="メイリオ"/>
                <a:ea typeface="メイリオ"/>
                <a:cs typeface="メイリオ"/>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cs typeface="メイリオ"/>
              </a:rPr>
              <a:t>メールマガジン</a:t>
            </a:r>
            <a:endParaRPr lang="en-US" sz="1400" b="0" u="none" strike="noStrike">
              <a:solidFill>
                <a:srgbClr val="000000"/>
              </a:solidFill>
              <a:effectLst/>
              <a:uFillTx/>
              <a:latin typeface="メイリオ"/>
              <a:ea typeface="メイリオ"/>
              <a:cs typeface="メイリオ"/>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cs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入力が面倒・間違いが発生</a:t>
            </a:r>
            <a:endParaRPr lang="en-US" sz="1400" b="0" u="none" strike="noStrike">
              <a:solidFill>
                <a:srgbClr val="000000"/>
              </a:solidFill>
              <a:effectLst/>
              <a:uFillTx/>
              <a:latin typeface="メイリオ"/>
              <a:ea typeface="メイリオ"/>
              <a:cs typeface="メイリオ"/>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迷惑メールなどに入る</a:t>
            </a:r>
            <a:endParaRPr lang="en-US" sz="1400" b="0" u="none" strike="noStrike">
              <a:solidFill>
                <a:srgbClr val="000000"/>
              </a:solidFill>
              <a:effectLst/>
              <a:uFillTx/>
              <a:latin typeface="メイリオ"/>
              <a:ea typeface="メイリオ"/>
              <a:cs typeface="メイリオ"/>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10</a:t>
            </a:r>
            <a:r>
              <a:rPr lang="zh-CN" sz="1400" b="0" u="none" strike="noStrike">
                <a:solidFill>
                  <a:srgbClr val="040606"/>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a:t>
            </a:r>
            <a:r>
              <a:rPr lang="zh-CN" sz="1400" b="0" u="none" strike="noStrike">
                <a:solidFill>
                  <a:srgbClr val="040606"/>
                </a:solidFill>
                <a:effectLst/>
                <a:uFillTx/>
                <a:latin typeface="メイリオ"/>
                <a:ea typeface="メイリオ"/>
                <a:cs typeface="メイリオ"/>
              </a:rPr>
              <a:t>時間</a:t>
            </a:r>
            <a:endParaRPr lang="en-US" sz="1400" b="0" u="none" strike="noStrike">
              <a:solidFill>
                <a:srgbClr val="000000"/>
              </a:solidFill>
              <a:effectLst/>
              <a:uFillTx/>
              <a:latin typeface="メイリオ"/>
              <a:ea typeface="メイリオ"/>
              <a:cs typeface="メイリオ"/>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到達</a:t>
            </a:r>
            <a:endParaRPr lang="en-US" sz="1400" b="0" u="none" strike="noStrike">
              <a:solidFill>
                <a:srgbClr val="000000"/>
              </a:solidFill>
              <a:effectLst/>
              <a:uFillTx/>
              <a:latin typeface="メイリオ"/>
              <a:ea typeface="メイリオ"/>
              <a:cs typeface="メイリオ"/>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開封率</a:t>
            </a:r>
            <a:endParaRPr lang="en-US" sz="1400" b="0" u="none" strike="noStrike">
              <a:solidFill>
                <a:srgbClr val="000000"/>
              </a:solidFill>
              <a:effectLst/>
              <a:uFillTx/>
              <a:latin typeface="メイリオ"/>
              <a:ea typeface="メイリオ"/>
              <a:cs typeface="メイリオ"/>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開封まで</a:t>
            </a:r>
            <a:endParaRPr lang="en-US" sz="1400" b="0" u="none" strike="noStrike">
              <a:solidFill>
                <a:srgbClr val="000000"/>
              </a:solidFill>
              <a:effectLst/>
              <a:uFillTx/>
              <a:latin typeface="メイリオ"/>
              <a:ea typeface="メイリオ"/>
              <a:cs typeface="メイリオ"/>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メイリオ"/>
              <a:ea typeface="メイリオ"/>
              <a:cs typeface="メイリオ"/>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cs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cs typeface="メイリオ"/>
              </a:rPr>
              <a:t>LINE</a:t>
            </a:r>
            <a:endParaRPr lang="en-US" sz="1400" b="0" u="none" strike="noStrike">
              <a:solidFill>
                <a:srgbClr val="000000"/>
              </a:solidFill>
              <a:effectLst/>
              <a:uFillTx/>
              <a:latin typeface="メイリオ"/>
              <a:ea typeface="メイリオ"/>
              <a:cs typeface="メイリオ"/>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cs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cs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確実に届く</a:t>
            </a:r>
            <a:endParaRPr lang="en-US" sz="1400" b="0" u="none" strike="noStrike">
              <a:solidFill>
                <a:srgbClr val="000000"/>
              </a:solidFill>
              <a:effectLst/>
              <a:uFillTx/>
              <a:latin typeface="メイリオ"/>
              <a:ea typeface="メイリオ"/>
              <a:cs typeface="メイリオ"/>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60</a:t>
            </a:r>
            <a:r>
              <a:rPr lang="zh-CN" sz="1400" b="1" u="none" strike="noStrike">
                <a:solidFill>
                  <a:srgbClr val="00B449"/>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15</a:t>
            </a:r>
            <a:r>
              <a:rPr lang="zh-CN" sz="1400" b="1" u="none" strike="noStrike">
                <a:solidFill>
                  <a:srgbClr val="00B449"/>
                </a:solidFill>
                <a:effectLst/>
                <a:uFillTx/>
                <a:latin typeface="メイリオ"/>
                <a:ea typeface="メイリオ"/>
                <a:cs typeface="メイリオ"/>
              </a:rPr>
              <a:t>分</a:t>
            </a:r>
            <a:endParaRPr lang="en-US" sz="1400" b="0" u="none" strike="noStrike">
              <a:solidFill>
                <a:srgbClr val="000000"/>
              </a:solidFill>
              <a:effectLst/>
              <a:uFillTx/>
              <a:latin typeface="メイリオ"/>
              <a:ea typeface="メイリオ"/>
              <a:cs typeface="メイリオ"/>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ワンタップで追加</a:t>
            </a:r>
            <a:endParaRPr lang="en-US" sz="14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cs typeface="メイリオ"/>
              </a:rPr>
              <a:t>「今すぐ客」以外の</a:t>
            </a:r>
            <a:r>
              <a:rPr lang="ja-JP" sz="1400" b="0" u="none" strike="noStrike">
                <a:solidFill>
                  <a:srgbClr val="343434"/>
                </a:solidFill>
                <a:effectLst/>
                <a:uFillTx/>
                <a:latin typeface="メイリオ"/>
                <a:ea typeface="メイリオ"/>
                <a:cs typeface="メイリオ"/>
              </a:rPr>
              <a:t>約</a:t>
            </a:r>
            <a:r>
              <a:rPr lang="en-US" sz="1400" b="0" u="none" strike="noStrike">
                <a:solidFill>
                  <a:srgbClr val="343434"/>
                </a:solidFill>
                <a:effectLst/>
                <a:uFillTx/>
                <a:latin typeface="メイリオ"/>
                <a:ea typeface="メイリオ"/>
                <a:cs typeface="メイリオ"/>
              </a:rPr>
              <a:t>99</a:t>
            </a:r>
            <a:r>
              <a:rPr lang="ja-JP" sz="1400" b="0" u="none" strike="noStrike">
                <a:solidFill>
                  <a:srgbClr val="343434"/>
                </a:solidFill>
                <a:effectLst/>
                <a:uFillTx/>
                <a:latin typeface="メイリオ"/>
                <a:ea typeface="メイリオ"/>
                <a:cs typeface="メイリオ"/>
              </a:rPr>
              <a:t>％の層をリストマーケティングで顧客に引き上げることが重要。</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0" u="none" strike="noStrike">
                <a:solidFill>
                  <a:srgbClr val="343434"/>
                </a:solidFill>
                <a:effectLst/>
                <a:uFillTx/>
                <a:latin typeface="メイリオ"/>
                <a:ea typeface="メイリオ"/>
                <a:cs typeface="メイリオ"/>
              </a:rPr>
              <a:t>結果として、リード獲得率向上、リピート率向上、売上向上に繋げる。</a:t>
            </a:r>
            <a:endParaRPr lang="en-US" sz="1400" b="0" u="none" strike="noStrike">
              <a:solidFill>
                <a:srgbClr val="000000"/>
              </a:solidFill>
              <a:effectLst/>
              <a:uFillTx/>
              <a:latin typeface="メイリオ"/>
              <a:ea typeface="メイリオ"/>
              <a:cs typeface="メイリオ"/>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必要性</a:t>
            </a:r>
            <a:endParaRPr lang="en-US" sz="1240" b="0" u="none" strike="noStrike">
              <a:solidFill>
                <a:srgbClr val="000000"/>
              </a:solidFill>
              <a:effectLst/>
              <a:uFillTx/>
              <a:latin typeface="メイリオ"/>
              <a:ea typeface="メイリオ"/>
              <a:cs typeface="メイリオ"/>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緊急性</a:t>
            </a:r>
            <a:endParaRPr lang="en-US" sz="1240" b="0" u="none" strike="noStrike">
              <a:solidFill>
                <a:srgbClr val="000000"/>
              </a:solidFill>
              <a:effectLst/>
              <a:uFillTx/>
              <a:latin typeface="メイリオ"/>
              <a:ea typeface="メイリオ"/>
              <a:cs typeface="メイリオ"/>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今すぐ客</a:t>
            </a:r>
            <a:endParaRPr lang="en-US" sz="1240" b="0" u="none" strike="noStrike">
              <a:solidFill>
                <a:srgbClr val="000000"/>
              </a:solidFill>
              <a:effectLst/>
              <a:uFillTx/>
              <a:latin typeface="メイリオ"/>
              <a:ea typeface="メイリオ"/>
              <a:cs typeface="メイリオ"/>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そのうち客</a:t>
            </a:r>
            <a:endParaRPr lang="en-US" sz="1240" b="0" u="none" strike="noStrike">
              <a:solidFill>
                <a:srgbClr val="000000"/>
              </a:solidFill>
              <a:effectLst/>
              <a:uFillTx/>
              <a:latin typeface="メイリオ"/>
              <a:ea typeface="メイリオ"/>
              <a:cs typeface="メイリオ"/>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cs typeface="メイリオ"/>
              </a:rPr>
              <a:t>まだまだ客</a:t>
            </a:r>
            <a:endParaRPr lang="en-US" sz="1240" b="0" u="none" strike="noStrike">
              <a:solidFill>
                <a:srgbClr val="000000"/>
              </a:solidFill>
              <a:effectLst/>
              <a:uFillTx/>
              <a:latin typeface="メイリオ"/>
              <a:ea typeface="メイリオ"/>
              <a:cs typeface="メイリオ"/>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お悩み客</a:t>
            </a:r>
            <a:endParaRPr lang="en-US" sz="1240" b="0" u="none" strike="noStrike">
              <a:solidFill>
                <a:srgbClr val="000000"/>
              </a:solidFill>
              <a:effectLst/>
              <a:uFillTx/>
              <a:latin typeface="メイリオ"/>
              <a:ea typeface="メイリオ"/>
              <a:cs typeface="メイリオ"/>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1-2</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cs typeface="メイリオ"/>
              </a:rPr>
              <a:t>80</a:t>
            </a:r>
            <a:r>
              <a:rPr lang="zh-CN" sz="1560" b="0" u="none" strike="noStrike">
                <a:solidFill>
                  <a:srgbClr val="FFFFFF"/>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「今すぐ</a:t>
            </a:r>
            <a:r>
              <a:rPr lang="ja-JP" sz="1200" b="1" u="none" strike="noStrike">
                <a:solidFill>
                  <a:srgbClr val="494848"/>
                </a:solidFill>
                <a:effectLst/>
                <a:uFillTx/>
                <a:latin typeface="メイリオ"/>
                <a:ea typeface="メイリオ"/>
                <a:cs typeface="メイリオ"/>
              </a:rPr>
              <a:t>顧客」を高い広告費を投資して獲得するのはリスクが大きい。</a:t>
            </a:r>
            <a:endParaRPr lang="en-US" sz="1200" b="0" u="none" strike="noStrike">
              <a:solidFill>
                <a:srgbClr val="000000"/>
              </a:solidFill>
              <a:effectLst/>
              <a:uFillTx/>
              <a:latin typeface="メイリオ"/>
              <a:ea typeface="メイリオ"/>
              <a:cs typeface="メイリオ"/>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リストとして獲得するだけでなく</a:t>
            </a:r>
            <a:endParaRPr lang="en-US" sz="1200" b="0" u="none" strike="noStrike">
              <a:solidFill>
                <a:srgbClr val="000000"/>
              </a:solidFill>
              <a:effectLst/>
              <a:uFillTx/>
              <a:latin typeface="メイリオ"/>
              <a:ea typeface="メイリオ"/>
              <a:cs typeface="メイリオ"/>
            </a:endParaRPr>
          </a:p>
          <a:p>
            <a:pPr defTabSz="914400">
              <a:lnSpc>
                <a:spcPts val="2177"/>
              </a:lnSpc>
            </a:pPr>
            <a:r>
              <a:rPr lang="zh-CN" sz="1200" b="1" u="none" strike="noStrike">
                <a:solidFill>
                  <a:srgbClr val="494848"/>
                </a:solidFill>
                <a:effectLst/>
                <a:uFillTx/>
                <a:latin typeface="メイリオ"/>
                <a:ea typeface="メイリオ"/>
                <a:cs typeface="メイリオ"/>
              </a:rPr>
              <a:t>「</a:t>
            </a:r>
            <a:r>
              <a:rPr lang="ja-JP" sz="1200" b="1" u="none" strike="noStrike">
                <a:solidFill>
                  <a:srgbClr val="494848"/>
                </a:solidFill>
                <a:effectLst/>
                <a:uFillTx/>
                <a:latin typeface="メイリオ"/>
                <a:ea typeface="メイリオ"/>
                <a:cs typeface="メイリオ"/>
              </a:rPr>
              <a:t>将来的な顧客」教育を</a:t>
            </a:r>
            <a:r>
              <a:rPr lang="en-US" sz="1200" b="1" u="none" strike="noStrike">
                <a:solidFill>
                  <a:srgbClr val="494848"/>
                </a:solidFill>
                <a:effectLst/>
                <a:uFillTx/>
                <a:latin typeface="メイリオ"/>
                <a:ea typeface="メイリオ"/>
                <a:cs typeface="メイリオ"/>
              </a:rPr>
              <a:t>LINE</a:t>
            </a:r>
            <a:r>
              <a:rPr lang="ja-JP" sz="1200" b="1" u="none" strike="noStrike">
                <a:solidFill>
                  <a:srgbClr val="494848"/>
                </a:solidFill>
                <a:effectLst/>
                <a:uFillTx/>
                <a:latin typeface="メイリオ"/>
                <a:ea typeface="メイリオ"/>
                <a:cs typeface="メイリオ"/>
              </a:rPr>
              <a:t>上で構築し行う。</a:t>
            </a:r>
            <a:endParaRPr lang="en-US" sz="1200" b="0" u="none" strike="noStrike">
              <a:solidFill>
                <a:srgbClr val="000000"/>
              </a:solidFill>
              <a:effectLst/>
              <a:uFillTx/>
              <a:latin typeface="メイリオ"/>
              <a:ea typeface="メイリオ"/>
              <a:cs typeface="メイリオ"/>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cs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メイリオ"/>
              <a:ea typeface="メイリオ"/>
              <a:cs typeface="メイリオ"/>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WEB</a:t>
            </a:r>
            <a:r>
              <a:rPr lang="ja-JP" sz="1400" b="0" u="none" strike="noStrike">
                <a:solidFill>
                  <a:schemeClr val="dk1"/>
                </a:solidFill>
                <a:effectLst/>
                <a:uFillTx/>
                <a:latin typeface="メイリオ"/>
                <a:ea typeface="メイリオ"/>
                <a:cs typeface="メイリオ"/>
              </a:rPr>
              <a:t>広告における</a:t>
            </a:r>
            <a:r>
              <a:rPr lang="ja-JP" sz="1400" b="1" u="none" strike="noStrike">
                <a:solidFill>
                  <a:schemeClr val="dk1"/>
                </a:solidFill>
                <a:effectLst/>
                <a:uFillTx/>
                <a:latin typeface="メイリオ"/>
                <a:ea typeface="メイリオ"/>
                <a:cs typeface="メイリオ"/>
              </a:rPr>
              <a:t>競合性が高</a:t>
            </a:r>
            <a:r>
              <a:rPr lang="ja-JP" sz="1400" b="0" u="none" strike="noStrike">
                <a:solidFill>
                  <a:schemeClr val="dk1"/>
                </a:solidFill>
                <a:effectLst/>
                <a:uFillTx/>
                <a:latin typeface="メイリオ"/>
                <a:ea typeface="メイリオ"/>
                <a:cs typeface="メイリオ"/>
              </a:rPr>
              <a:t>くなり</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FF0000"/>
                </a:solidFill>
                <a:effectLst/>
                <a:uFillTx/>
                <a:latin typeface="メイリオ"/>
                <a:ea typeface="メイリオ"/>
                <a:cs typeface="メイリオ"/>
              </a:rPr>
              <a:t>単価指標（</a:t>
            </a:r>
            <a:r>
              <a:rPr lang="en-US" sz="1400" b="1" u="none" strike="noStrike">
                <a:solidFill>
                  <a:srgbClr val="FF0000"/>
                </a:solidFill>
                <a:effectLst/>
                <a:uFillTx/>
                <a:latin typeface="メイリオ"/>
                <a:ea typeface="メイリオ"/>
                <a:cs typeface="メイリオ"/>
              </a:rPr>
              <a:t>CPC</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CPA</a:t>
            </a:r>
            <a:r>
              <a:rPr lang="ja-JP" sz="1400" b="1" u="none" strike="noStrike">
                <a:solidFill>
                  <a:srgbClr val="FF0000"/>
                </a:solidFill>
                <a:effectLst/>
                <a:uFillTx/>
                <a:latin typeface="メイリオ"/>
                <a:ea typeface="メイリオ"/>
                <a:cs typeface="メイリオ"/>
              </a:rPr>
              <a:t>）が高騰</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メイリオ"/>
                <a:ea typeface="メイリオ"/>
                <a:cs typeface="メイリオ"/>
              </a:rPr>
              <a:t>集客施策における</a:t>
            </a:r>
            <a:r>
              <a:rPr lang="en-US" sz="1400" b="1" u="none" strike="noStrike">
                <a:solidFill>
                  <a:schemeClr val="dk1"/>
                </a:solidFill>
                <a:effectLst/>
                <a:uFillTx/>
                <a:latin typeface="メイリオ"/>
                <a:ea typeface="メイリオ"/>
                <a:cs typeface="メイリオ"/>
              </a:rPr>
              <a:t>CVR</a:t>
            </a:r>
            <a:r>
              <a:rPr lang="ja-JP" sz="1400" b="1" u="none" strike="noStrike">
                <a:solidFill>
                  <a:schemeClr val="dk1"/>
                </a:solidFill>
                <a:effectLst/>
                <a:uFillTx/>
                <a:latin typeface="メイリオ"/>
                <a:ea typeface="メイリオ"/>
                <a:cs typeface="メイリオ"/>
              </a:rPr>
              <a:t>は高くても</a:t>
            </a:r>
            <a:r>
              <a:rPr lang="en-US" sz="1400" b="1" u="none" strike="noStrike">
                <a:solidFill>
                  <a:schemeClr val="dk1"/>
                </a:solidFill>
                <a:effectLst/>
                <a:uFillTx/>
                <a:latin typeface="メイリオ"/>
                <a:ea typeface="メイリオ"/>
                <a:cs typeface="メイリオ"/>
              </a:rPr>
              <a:t>2%</a:t>
            </a:r>
            <a:r>
              <a:rPr lang="ja-JP" sz="1400" b="1" u="none" strike="noStrike">
                <a:solidFill>
                  <a:schemeClr val="dk1"/>
                </a:solidFill>
                <a:effectLst/>
                <a:uFillTx/>
                <a:latin typeface="メイリオ"/>
                <a:ea typeface="メイリオ"/>
                <a:cs typeface="メイリオ"/>
              </a:rPr>
              <a:t>程度</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en-US" sz="1400" b="0" u="none" strike="noStrike">
                <a:solidFill>
                  <a:srgbClr val="FF0000"/>
                </a:solidFill>
                <a:effectLst/>
                <a:uFillTx/>
                <a:latin typeface="メイリオ"/>
                <a:ea typeface="メイリオ"/>
                <a:cs typeface="メイリオ"/>
              </a:rPr>
              <a:t>CV</a:t>
            </a:r>
            <a:r>
              <a:rPr lang="ja-JP" sz="1400" b="0" u="none" strike="noStrike">
                <a:solidFill>
                  <a:srgbClr val="FF0000"/>
                </a:solidFill>
                <a:effectLst/>
                <a:uFillTx/>
                <a:latin typeface="メイリオ"/>
                <a:ea typeface="メイリオ"/>
                <a:cs typeface="メイリオ"/>
              </a:rPr>
              <a:t>に至らず離脱するユーザーが大部分</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CVR</a:t>
            </a:r>
            <a:endParaRPr lang="en-US" sz="1800" b="0" u="none" strike="noStrike">
              <a:solidFill>
                <a:srgbClr val="000000"/>
              </a:solidFill>
              <a:effectLst/>
              <a:uFillTx/>
              <a:latin typeface="メイリオ"/>
              <a:ea typeface="メイリオ"/>
              <a:cs typeface="メイリオ"/>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CPC</a:t>
            </a:r>
            <a:endParaRPr lang="en-US" sz="18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利用年齢層により変動はするものの、</a:t>
            </a:r>
            <a:r>
              <a:rPr lang="en-US" sz="1400" b="0" u="none" strike="noStrike">
                <a:solidFill>
                  <a:srgbClr val="343434"/>
                </a:solidFill>
                <a:effectLst/>
                <a:uFillTx/>
                <a:latin typeface="メイリオ"/>
                <a:ea typeface="メイリオ"/>
                <a:cs typeface="メイリオ"/>
              </a:rPr>
              <a:t>10-40</a:t>
            </a:r>
            <a:r>
              <a:rPr lang="ja-JP" sz="1400" b="0" u="none" strike="noStrike">
                <a:solidFill>
                  <a:srgbClr val="343434"/>
                </a:solidFill>
                <a:effectLst/>
                <a:uFillTx/>
                <a:latin typeface="メイリオ"/>
                <a:ea typeface="メイリオ"/>
                <a:cs typeface="メイリオ"/>
              </a:rPr>
              <a:t>代を中心に電話、メールを忌避する動きが強まっている。</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既存ユーザー以外の年齢層の獲得にあたって、利用率の高い</a:t>
            </a:r>
            <a:r>
              <a:rPr lang="en-US" sz="1400" b="1" u="none" strike="noStrike">
                <a:solidFill>
                  <a:srgbClr val="343434"/>
                </a:solidFill>
                <a:effectLst/>
                <a:uFillTx/>
                <a:latin typeface="メイリオ"/>
                <a:ea typeface="メイリオ"/>
                <a:cs typeface="メイリオ"/>
              </a:rPr>
              <a:t>LINEOA</a:t>
            </a:r>
            <a:r>
              <a:rPr lang="ja-JP" sz="1400" b="1" u="none" strike="noStrike">
                <a:solidFill>
                  <a:srgbClr val="343434"/>
                </a:solidFill>
                <a:effectLst/>
                <a:uFillTx/>
                <a:latin typeface="メイリオ"/>
                <a:ea typeface="メイリオ"/>
                <a:cs typeface="メイリオ"/>
              </a:rPr>
              <a:t>施策が非常に重要と想定</a:t>
            </a:r>
            <a:r>
              <a:rPr lang="ja-JP" sz="1400" b="0" u="none" strike="noStrike">
                <a:solidFill>
                  <a:srgbClr val="343434"/>
                </a:solidFill>
                <a:effectLst/>
                <a:uFillTx/>
                <a:latin typeface="メイリオ"/>
                <a:ea typeface="メイリオ"/>
                <a:cs typeface="メイリオ"/>
              </a:rPr>
              <a:t>される。</a:t>
            </a:r>
            <a:endParaRPr lang="en-US" sz="1400" b="0" u="none" strike="noStrike">
              <a:solidFill>
                <a:srgbClr val="000000"/>
              </a:solidFill>
              <a:effectLst/>
              <a:uFillTx/>
              <a:latin typeface="メイリオ"/>
              <a:ea typeface="メイリオ"/>
              <a:cs typeface="メイリオ"/>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cs typeface="メイリオ"/>
                        </a:rPr>
                        <a:t>年齢層</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LINE</a:t>
                      </a:r>
                      <a:r>
                        <a:rPr lang="ja-JP" sz="1000" b="0" u="none" strike="noStrike">
                          <a:solidFill>
                            <a:srgbClr val="000000"/>
                          </a:solidFill>
                          <a:effectLst/>
                          <a:uFillTx/>
                          <a:latin typeface="メイリオ"/>
                          <a:ea typeface="メイリオ"/>
                          <a:cs typeface="メイリオ"/>
                        </a:rPr>
                        <a:t>・チャット系</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メール・メルマガ</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電話</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主要な特徴・</a:t>
                      </a:r>
                      <a:r>
                        <a:rPr lang="en-US" sz="1000" b="0" u="none" strike="noStrike">
                          <a:solidFill>
                            <a:srgbClr val="000000"/>
                          </a:solidFill>
                          <a:effectLst/>
                          <a:uFillTx/>
                          <a:latin typeface="メイリオ"/>
                          <a:ea typeface="メイリオ"/>
                          <a:cs typeface="メイリオ"/>
                        </a:rPr>
                        <a:t>SNS</a:t>
                      </a: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10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20</a:t>
                      </a:r>
                      <a:r>
                        <a:rPr lang="ja-JP" sz="1050" b="1" u="none" strike="noStrike">
                          <a:solidFill>
                            <a:srgbClr val="000000"/>
                          </a:solidFill>
                          <a:effectLst/>
                          <a:uFillTx/>
                          <a:latin typeface="メイリオ"/>
                          <a:ea typeface="メイリオ"/>
                          <a:cs typeface="メイリオ"/>
                        </a:rPr>
                        <a:t>代　</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利用率：極めて低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Tiktok YouTube</a:t>
                      </a:r>
                      <a:r>
                        <a:rPr lang="ja-JP" sz="800" b="0" u="none" strike="noStrike">
                          <a:solidFill>
                            <a:srgbClr val="000000"/>
                          </a:solidFill>
                          <a:effectLst/>
                          <a:uFillTx/>
                          <a:latin typeface="メイリオ"/>
                          <a:ea typeface="メイリオ"/>
                          <a:cs typeface="メイリオ"/>
                        </a:rPr>
                        <a:t>が情報収集の起点。</a:t>
                      </a:r>
                      <a:br>
                        <a:rPr sz="800">
                          <a:latin typeface="メイリオ"/>
                          <a:ea typeface="メイリオ"/>
                          <a:cs typeface="メイリオ"/>
                        </a:rPr>
                      </a:br>
                      <a:r>
                        <a:rPr lang="en-US" sz="800" b="0" u="none" strike="noStrike">
                          <a:solidFill>
                            <a:srgbClr val="000000"/>
                          </a:solidFill>
                          <a:effectLst/>
                          <a:uFillTx/>
                          <a:latin typeface="メイリオ"/>
                          <a:ea typeface="メイリオ"/>
                          <a:cs typeface="メイリオ"/>
                        </a:rPr>
                        <a:t>Instagram</a:t>
                      </a:r>
                      <a:r>
                        <a:rPr lang="ja-JP" sz="800" b="0" u="none" strike="noStrike">
                          <a:solidFill>
                            <a:srgbClr val="000000"/>
                          </a:solidFill>
                          <a:effectLst/>
                          <a:uFillTx/>
                          <a:latin typeface="メイリオ"/>
                          <a:ea typeface="メイリオ"/>
                          <a:cs typeface="メイリオ"/>
                        </a:rPr>
                        <a:t>、</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の</a:t>
                      </a:r>
                      <a:r>
                        <a:rPr lang="en-US" sz="800" b="0" u="none" strike="noStrike">
                          <a:solidFill>
                            <a:srgbClr val="000000"/>
                          </a:solidFill>
                          <a:effectLst/>
                          <a:uFillTx/>
                          <a:latin typeface="メイリオ"/>
                          <a:ea typeface="メイリオ"/>
                          <a:cs typeface="メイリオ"/>
                        </a:rPr>
                        <a:t>DM</a:t>
                      </a:r>
                      <a:r>
                        <a:rPr lang="ja-JP" sz="800" b="0" u="none" strike="noStrike">
                          <a:solidFill>
                            <a:srgbClr val="000000"/>
                          </a:solidFill>
                          <a:effectLst/>
                          <a:uFillTx/>
                          <a:latin typeface="メイリオ"/>
                          <a:ea typeface="メイリオ"/>
                          <a:cs typeface="メイリオ"/>
                        </a:rPr>
                        <a:t>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連絡網として活用。</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日常連絡の絶対的インフラ。</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企業や公式からの連絡は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読まれない傾向。</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「電話恐怖症」を持つ人も。</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30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40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利用率：中〜高</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Facebook</a:t>
                      </a:r>
                      <a:r>
                        <a:rPr lang="ja-JP" sz="800" b="0" u="none" strike="noStrike">
                          <a:solidFill>
                            <a:srgbClr val="000000"/>
                          </a:solidFill>
                          <a:effectLst/>
                          <a:uFillTx/>
                          <a:latin typeface="メイリオ"/>
                          <a:ea typeface="メイリオ"/>
                          <a:cs typeface="メイリオ"/>
                        </a:rPr>
                        <a:t>や</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での情報収集が活発。</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プライベートの連絡網。</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仕事や、メルマガでの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セールス情報に抵抗なし。</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プライベートでは減少傾向も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仕事では必須。</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50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60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80%</a:t>
                      </a:r>
                      <a:r>
                        <a:rPr lang="ja-JP" sz="1000" b="1" u="none" strike="noStrike">
                          <a:solidFill>
                            <a:srgbClr val="000000"/>
                          </a:solidFill>
                          <a:effectLst/>
                          <a:uFillTx/>
                          <a:latin typeface="メイリオ"/>
                          <a:ea typeface="メイリオ"/>
                          <a:cs typeface="メイリオ"/>
                        </a:rPr>
                        <a:t>〜</a:t>
                      </a:r>
                      <a:r>
                        <a:rPr lang="en-US" sz="1000" b="1" u="none" strike="noStrike">
                          <a:solidFill>
                            <a:srgbClr val="000000"/>
                          </a:solidFill>
                          <a:effectLst/>
                          <a:uFillTx/>
                          <a:latin typeface="メイリオ"/>
                          <a:ea typeface="メイリオ"/>
                          <a:cs typeface="メイリオ"/>
                        </a:rPr>
                        <a:t>90%</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YouTube</a:t>
                      </a:r>
                      <a:r>
                        <a:rPr lang="ja-JP" sz="800" b="0" u="none" strike="noStrike">
                          <a:solidFill>
                            <a:srgbClr val="000000"/>
                          </a:solidFill>
                          <a:effectLst/>
                          <a:uFillTx/>
                          <a:latin typeface="メイリオ"/>
                          <a:ea typeface="メイリオ"/>
                          <a:cs typeface="メイリオ"/>
                        </a:rPr>
                        <a:t>での趣味動画視聴も普及。</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家族や友人との連絡で定着。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最も好まれる企業からの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情報受取ツール。</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予約や急ぎの用件で信頼性が高い。</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cs typeface="メイリオ"/>
                        </a:rPr>
                        <a:t>70</a:t>
                      </a:r>
                      <a:r>
                        <a:rPr lang="ja-JP" sz="1050" b="1" u="none" strike="noStrike">
                          <a:solidFill>
                            <a:srgbClr val="000000"/>
                          </a:solidFill>
                          <a:effectLst/>
                          <a:uFillTx/>
                          <a:latin typeface="メイリオ"/>
                          <a:ea typeface="メイリオ"/>
                          <a:cs typeface="メイリオ"/>
                        </a:rPr>
                        <a:t>代以上</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70%</a:t>
                      </a:r>
                      <a:r>
                        <a:rPr lang="ja-JP" sz="1000" b="1" u="none" strike="noStrike">
                          <a:solidFill>
                            <a:srgbClr val="000000"/>
                          </a:solidFill>
                          <a:effectLst/>
                          <a:uFillTx/>
                          <a:latin typeface="メイリオ"/>
                          <a:ea typeface="メイリオ"/>
                          <a:cs typeface="メイリオ"/>
                        </a:rPr>
                        <a:t>前後</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利用率：最も高い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連絡手段としての電話が</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最優先される層。</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高齢者層にも普及が進む。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操作に不慣れで到達率が下がる。</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重要な連絡や問い合わせは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電話がメイン。</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LINE</a:t>
            </a:r>
            <a:r>
              <a:rPr lang="ja-JP" sz="1400" b="0" u="none" strike="noStrike">
                <a:solidFill>
                  <a:schemeClr val="dk1"/>
                </a:solidFill>
                <a:effectLst/>
                <a:uFillTx/>
                <a:latin typeface="メイリオ"/>
                <a:ea typeface="メイリオ"/>
                <a:cs typeface="メイリオ"/>
              </a:rPr>
              <a:t>公式アカウントの施策内（開封率、クリック率、</a:t>
            </a:r>
            <a:r>
              <a:rPr lang="en-US" sz="1400" b="0" u="none" strike="noStrike">
                <a:solidFill>
                  <a:schemeClr val="dk1"/>
                </a:solidFill>
                <a:effectLst/>
                <a:uFillTx/>
                <a:latin typeface="メイリオ"/>
                <a:ea typeface="メイリオ"/>
                <a:cs typeface="メイリオ"/>
              </a:rPr>
              <a:t>CV</a:t>
            </a:r>
            <a:r>
              <a:rPr lang="ja-JP" sz="1400" b="0" u="none" strike="noStrike">
                <a:solidFill>
                  <a:schemeClr val="dk1"/>
                </a:solidFill>
                <a:effectLst/>
                <a:uFillTx/>
                <a:latin typeface="メイリオ"/>
                <a:ea typeface="メイリオ"/>
                <a:cs typeface="メイリオ"/>
              </a:rPr>
              <a:t>率）で高い水準の施策をご提供。</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初期設計のみのご依頼でも、大きく数値改善できるポイントの導入支援が可能です。</a:t>
            </a:r>
            <a:endParaRPr lang="en-US" sz="1400" b="0" u="none" strike="noStrike">
              <a:solidFill>
                <a:srgbClr val="000000"/>
              </a:solidFill>
              <a:effectLst/>
              <a:uFillTx/>
              <a:latin typeface="メイリオ"/>
              <a:ea typeface="メイリオ"/>
              <a:cs typeface="メイリオ"/>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endParaRPr lang="en-US" sz="1050" b="0" u="none" strike="noStrike">
              <a:solidFill>
                <a:srgbClr val="FFFFFF"/>
              </a:solidFill>
              <a:effectLst/>
              <a:uFillTx/>
              <a:latin typeface="メイリオ"/>
              <a:ea typeface="メイリオ"/>
              <a:cs typeface="メイリオ"/>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営業トスアップ</a:t>
            </a:r>
            <a:endParaRPr lang="en-US" sz="1050" b="0" u="none" strike="noStrike">
              <a:solidFill>
                <a:srgbClr val="000000"/>
              </a:solidFill>
              <a:effectLst/>
              <a:uFillTx/>
              <a:latin typeface="メイリオ"/>
              <a:ea typeface="メイリオ"/>
              <a:cs typeface="メイリオ"/>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cs typeface="メイリオ"/>
              </a:rPr>
              <a:t>（成果地点）</a:t>
            </a:r>
            <a:endParaRPr lang="en-US" sz="1100" b="0" u="none" strike="noStrike">
              <a:solidFill>
                <a:srgbClr val="000000"/>
              </a:solidFill>
              <a:effectLst/>
              <a:uFillTx/>
              <a:latin typeface="メイリオ"/>
              <a:ea typeface="メイリオ"/>
              <a:cs typeface="メイリオ"/>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通常メッセージ（企画投稿）</a:t>
            </a:r>
            <a:endParaRPr lang="en-US" sz="1050" b="0" u="none" strike="noStrike">
              <a:solidFill>
                <a:srgbClr val="FFFFFF"/>
              </a:solidFill>
              <a:effectLst/>
              <a:uFillTx/>
              <a:latin typeface="メイリオ"/>
              <a:ea typeface="メイリオ"/>
              <a:cs typeface="メイリオ"/>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通常メッセージ（ステップ配信投稿）</a:t>
            </a:r>
            <a:endParaRPr lang="en-US" sz="1050" b="0" u="none" strike="noStrike">
              <a:solidFill>
                <a:srgbClr val="FFFFFF"/>
              </a:solidFill>
              <a:effectLst/>
              <a:uFillTx/>
              <a:latin typeface="メイリオ"/>
              <a:ea typeface="メイリオ"/>
              <a:cs typeface="メイリオ"/>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その他指標（リッチメニュー、プロフ、挨拶メッセ）</a:t>
            </a:r>
            <a:endParaRPr lang="en-US" sz="1050" b="0" u="none" strike="noStrike">
              <a:solidFill>
                <a:srgbClr val="FFFFFF"/>
              </a:solidFill>
              <a:effectLst/>
              <a:uFillTx/>
              <a:latin typeface="メイリオ"/>
              <a:ea typeface="メイリオ"/>
              <a:cs typeface="メイリオ"/>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cs typeface="メイリオ"/>
              </a:rPr>
              <a:t>（</a:t>
            </a:r>
            <a:r>
              <a:rPr lang="en-US" sz="1100" b="0" u="none" strike="noStrike">
                <a:solidFill>
                  <a:schemeClr val="dk2"/>
                </a:solidFill>
                <a:effectLst/>
                <a:uFillTx/>
                <a:latin typeface="メイリオ"/>
                <a:ea typeface="メイリオ"/>
                <a:cs typeface="メイリオ"/>
              </a:rPr>
              <a:t>LINE</a:t>
            </a:r>
            <a:r>
              <a:rPr lang="ja-JP" sz="1100" b="0" u="none" strike="noStrike">
                <a:solidFill>
                  <a:schemeClr val="dk2"/>
                </a:solidFill>
                <a:effectLst/>
                <a:uFillTx/>
                <a:latin typeface="メイリオ"/>
                <a:ea typeface="メイリオ"/>
                <a:cs typeface="メイリオ"/>
              </a:rPr>
              <a:t>施策内）</a:t>
            </a:r>
            <a:endParaRPr lang="en-US" sz="1100" b="0" u="none" strike="noStrike">
              <a:solidFill>
                <a:srgbClr val="000000"/>
              </a:solidFill>
              <a:effectLst/>
              <a:uFillTx/>
              <a:latin typeface="メイリオ"/>
              <a:ea typeface="メイリオ"/>
              <a:cs typeface="メイリオ"/>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友だち追加</a:t>
            </a:r>
            <a:endParaRPr lang="en-US" sz="1050" b="0" u="none" strike="noStrike">
              <a:solidFill>
                <a:srgbClr val="FFFFFF"/>
              </a:solidFill>
              <a:effectLst/>
              <a:uFillTx/>
              <a:latin typeface="メイリオ"/>
              <a:ea typeface="メイリオ"/>
              <a:cs typeface="メイリオ"/>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アクティブ数</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chemeClr val="dk1"/>
                </a:solidFill>
                <a:effectLst/>
                <a:uFillTx/>
                <a:latin typeface="メイリオ"/>
                <a:ea typeface="メイリオ"/>
                <a:cs typeface="メイリオ"/>
              </a:rPr>
              <a:t>（非ブロック率）</a:t>
            </a:r>
            <a:endParaRPr lang="en-US" sz="800" b="0" u="none" strike="noStrike">
              <a:solidFill>
                <a:srgbClr val="000000"/>
              </a:solidFill>
              <a:effectLst/>
              <a:uFillTx/>
              <a:latin typeface="メイリオ"/>
              <a:ea typeface="メイリオ"/>
              <a:cs typeface="メイリオ"/>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セグメント率</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en-US" sz="1000" b="0" u="none" strike="noStrike">
                <a:solidFill>
                  <a:schemeClr val="dk1"/>
                </a:solidFill>
                <a:effectLst/>
                <a:uFillTx/>
                <a:latin typeface="メイリオ"/>
                <a:ea typeface="メイリオ"/>
                <a:cs typeface="メイリオ"/>
              </a:rPr>
              <a:t>or</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1000" b="1" u="none" strike="noStrike">
                <a:solidFill>
                  <a:schemeClr val="dk1"/>
                </a:solidFill>
                <a:effectLst/>
                <a:uFillTx/>
                <a:latin typeface="メイリオ"/>
                <a:ea typeface="メイリオ"/>
                <a:cs typeface="メイリオ"/>
              </a:rPr>
              <a:t>ステップ配信設定数</a:t>
            </a:r>
            <a:endParaRPr lang="en-US" sz="1000" b="0" u="none" strike="noStrike">
              <a:solidFill>
                <a:srgbClr val="000000"/>
              </a:solidFill>
              <a:effectLst/>
              <a:uFillTx/>
              <a:latin typeface="メイリオ"/>
              <a:ea typeface="メイリオ"/>
              <a:cs typeface="メイリオ"/>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cs typeface="メイリオ"/>
              </a:rPr>
              <a:t>（ターゲット戦略）</a:t>
            </a:r>
            <a:endParaRPr lang="en-US" sz="1100" b="0" u="none" strike="noStrike">
              <a:solidFill>
                <a:srgbClr val="000000"/>
              </a:solidFill>
              <a:effectLst/>
              <a:uFillTx/>
              <a:latin typeface="メイリオ"/>
              <a:ea typeface="メイリオ"/>
              <a:cs typeface="メイリオ"/>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月間通数</a:t>
            </a:r>
            <a:endParaRPr lang="en-US" sz="1050" b="0" u="none" strike="noStrike">
              <a:solidFill>
                <a:srgbClr val="FFFFFF"/>
              </a:solidFill>
              <a:effectLst/>
              <a:uFillTx/>
              <a:latin typeface="メイリオ"/>
              <a:ea typeface="メイリオ"/>
              <a:cs typeface="メイリオ"/>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000000"/>
              </a:solidFill>
              <a:effectLst/>
              <a:uFillTx/>
              <a:latin typeface="メイリオ"/>
              <a:ea typeface="メイリオ"/>
              <a:cs typeface="メイリオ"/>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000000"/>
              </a:solidFill>
              <a:effectLst/>
              <a:uFillTx/>
              <a:latin typeface="メイリオ"/>
              <a:ea typeface="メイリオ"/>
              <a:cs typeface="メイリオ"/>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000000"/>
              </a:solidFill>
              <a:effectLst/>
              <a:uFillTx/>
              <a:latin typeface="メイリオ"/>
              <a:ea typeface="メイリオ"/>
              <a:cs typeface="メイリオ"/>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85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cs typeface="メイリオ"/>
              </a:rPr>
              <a:t>12.5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0.5</a:t>
            </a:r>
            <a:r>
              <a:rPr lang="en-US" sz="1400" b="1" u="none" strike="noStrike">
                <a:solidFill>
                  <a:srgbClr val="FF0000"/>
                </a:solidFill>
                <a:effectLst/>
                <a:uFillTx/>
                <a:latin typeface="メイリオ"/>
                <a:ea typeface="メイリオ"/>
                <a:cs typeface="メイリオ"/>
              </a:rPr>
              <a:t> %</a:t>
            </a:r>
            <a:endParaRPr lang="en-US" sz="1400" b="0" u="none" strike="noStrike">
              <a:solidFill>
                <a:srgbClr val="000000"/>
              </a:solidFill>
              <a:effectLst/>
              <a:uFillTx/>
              <a:latin typeface="メイリオ"/>
              <a:ea typeface="メイリオ"/>
              <a:cs typeface="メイリオ"/>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70 %</a:t>
            </a:r>
            <a:endParaRPr lang="en-US" sz="1400" b="0" u="none" strike="noStrike">
              <a:solidFill>
                <a:srgbClr val="000000"/>
              </a:solidFill>
              <a:effectLst/>
              <a:uFillTx/>
              <a:latin typeface="メイリオ"/>
              <a:ea typeface="メイリオ"/>
              <a:cs typeface="メイリオ"/>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8.25 %</a:t>
            </a:r>
            <a:endParaRPr lang="en-US" sz="1400" b="0" u="none" strike="noStrike">
              <a:solidFill>
                <a:srgbClr val="000000"/>
              </a:solidFill>
              <a:effectLst/>
              <a:uFillTx/>
              <a:latin typeface="メイリオ"/>
              <a:ea typeface="メイリオ"/>
              <a:cs typeface="メイリオ"/>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0.3 %</a:t>
            </a:r>
            <a:endParaRPr lang="en-US" sz="1400" b="0" u="none" strike="noStrike">
              <a:solidFill>
                <a:srgbClr val="000000"/>
              </a:solidFill>
              <a:effectLst/>
              <a:uFillTx/>
              <a:latin typeface="メイリオ"/>
              <a:ea typeface="メイリオ"/>
              <a:cs typeface="メイリオ"/>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cs typeface="メイリオ"/>
              </a:rPr>
              <a:t>DYM</a:t>
            </a:r>
            <a:r>
              <a:rPr lang="ja-JP" sz="1200" b="1" u="none" strike="noStrike">
                <a:solidFill>
                  <a:srgbClr val="FFC000"/>
                </a:solidFill>
                <a:effectLst/>
                <a:uFillTx/>
                <a:latin typeface="メイリオ"/>
                <a:ea typeface="メイリオ"/>
                <a:cs typeface="メイリオ"/>
              </a:rPr>
              <a:t>実績</a:t>
            </a:r>
            <a:endParaRPr lang="en-US" sz="1200" b="0" u="none" strike="noStrike">
              <a:solidFill>
                <a:srgbClr val="FFFFFF"/>
              </a:solidFill>
              <a:effectLst/>
              <a:uFillTx/>
              <a:latin typeface="メイリオ"/>
              <a:ea typeface="メイリオ"/>
              <a:cs typeface="メイリオ"/>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cs typeface="メイリオ"/>
              </a:rPr>
              <a:t>業界平均</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800" b="1" u="none" strike="noStrike">
                <a:solidFill>
                  <a:schemeClr val="lt1"/>
                </a:solidFill>
                <a:effectLst/>
                <a:uFillTx/>
                <a:latin typeface="メイリオ"/>
                <a:ea typeface="メイリオ"/>
                <a:cs typeface="メイリオ"/>
              </a:rPr>
              <a:t>(LINE</a:t>
            </a:r>
            <a:r>
              <a:rPr lang="ja-JP" sz="800" b="1" u="none" strike="noStrike">
                <a:solidFill>
                  <a:schemeClr val="lt1"/>
                </a:solidFill>
                <a:effectLst/>
                <a:uFillTx/>
                <a:latin typeface="メイリオ"/>
                <a:ea typeface="メイリオ"/>
                <a:cs typeface="メイリオ"/>
              </a:rPr>
              <a:t>ヤフー社より共有）</a:t>
            </a:r>
            <a:endParaRPr lang="en-US" sz="800" b="0" u="none" strike="noStrike">
              <a:solidFill>
                <a:srgbClr val="FFFFFF"/>
              </a:solidFill>
              <a:effectLst/>
              <a:uFillTx/>
              <a:latin typeface="メイリオ"/>
              <a:ea typeface="メイリオ"/>
              <a:cs typeface="メイリオ"/>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cs typeface="メイリオ"/>
              </a:rPr>
              <a:t>施策の流れ</a:t>
            </a:r>
            <a:endParaRPr lang="en-US" sz="1400" b="0" u="none" strike="noStrike">
              <a:solidFill>
                <a:srgbClr val="FFFFFF"/>
              </a:solidFill>
              <a:effectLst/>
              <a:uFillTx/>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　</a:t>
            </a:r>
            <a:r>
              <a:rPr lang="en-US" sz="1400" b="1" u="none" strike="noStrike">
                <a:solidFill>
                  <a:srgbClr val="FF0000"/>
                </a:solidFill>
                <a:effectLst/>
                <a:uFillTx/>
                <a:latin typeface="メイリオ"/>
                <a:ea typeface="メイリオ"/>
                <a:cs typeface="メイリオ"/>
              </a:rPr>
              <a:t>[CRM</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API</a:t>
            </a:r>
            <a:r>
              <a:rPr lang="ja-JP" sz="1400" b="1" u="none" strike="noStrike">
                <a:solidFill>
                  <a:srgbClr val="FF0000"/>
                </a:solidFill>
                <a:effectLst/>
                <a:uFillTx/>
                <a:latin typeface="メイリオ"/>
                <a:ea typeface="メイリオ"/>
                <a:cs typeface="メイリオ"/>
              </a:rPr>
              <a:t>ツールとの連携</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cs typeface="メイリオ"/>
              </a:rPr>
              <a:t>「</a:t>
            </a:r>
            <a:r>
              <a:rPr lang="en-US" sz="1400" b="0" u="none" strike="noStrike">
                <a:solidFill>
                  <a:srgbClr val="073763"/>
                </a:solidFill>
                <a:effectLst/>
                <a:uFillTx/>
                <a:latin typeface="メイリオ"/>
                <a:ea typeface="メイリオ"/>
                <a:cs typeface="メイリオ"/>
              </a:rPr>
              <a:t>CRM</a:t>
            </a:r>
            <a:r>
              <a:rPr lang="ja-JP" sz="1400" b="0" u="none" strike="noStrike">
                <a:solidFill>
                  <a:srgbClr val="073763"/>
                </a:solidFill>
                <a:effectLst/>
                <a:uFillTx/>
                <a:latin typeface="メイリオ"/>
                <a:ea typeface="メイリオ"/>
                <a:cs typeface="メイリオ"/>
              </a:rPr>
              <a:t>側でどんな情報を取りたいか」が重要</a:t>
            </a:r>
            <a:br>
              <a:rPr sz="1400">
                <a:latin typeface="メイリオ"/>
                <a:ea typeface="メイリオ"/>
                <a:cs typeface="メイリオ"/>
              </a:rPr>
            </a:br>
            <a:r>
              <a:rPr lang="ja-JP" sz="1400" b="1" u="none" strike="noStrike">
                <a:solidFill>
                  <a:srgbClr val="073763"/>
                </a:solidFill>
                <a:effectLst/>
                <a:uFillTx/>
                <a:latin typeface="メイリオ"/>
                <a:ea typeface="メイリオ"/>
                <a:cs typeface="メイリオ"/>
              </a:rPr>
              <a:t>要件定義</a:t>
            </a:r>
            <a:r>
              <a:rPr lang="ja-JP" sz="1400" b="0" u="none" strike="noStrike">
                <a:solidFill>
                  <a:srgbClr val="073763"/>
                </a:solidFill>
                <a:effectLst/>
                <a:uFillTx/>
                <a:latin typeface="メイリオ"/>
                <a:ea typeface="メイリオ"/>
                <a:cs typeface="メイリオ"/>
              </a:rPr>
              <a:t>を先にする必要がある</a:t>
            </a:r>
            <a:endParaRPr lang="en-US" sz="1400" b="0" u="none" strike="noStrike">
              <a:solidFill>
                <a:srgbClr val="000000"/>
              </a:solidFill>
              <a:effectLst/>
              <a:uFillTx/>
              <a:latin typeface="メイリオ"/>
              <a:ea typeface="メイリオ"/>
              <a:cs typeface="メイリオ"/>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▼CRM</a:t>
            </a:r>
            <a:r>
              <a:rPr lang="ja-JP" sz="1200" b="0" u="none" strike="noStrike">
                <a:solidFill>
                  <a:schemeClr val="dk1">
                    <a:lumMod val="75000"/>
                    <a:lumOff val="25000"/>
                  </a:schemeClr>
                </a:solidFill>
                <a:effectLst/>
                <a:uFillTx/>
                <a:latin typeface="メイリオ"/>
                <a:ea typeface="メイリオ"/>
                <a:cs typeface="メイリオ"/>
              </a:rPr>
              <a:t>によるセグメント配信の違い</a:t>
            </a:r>
            <a:endParaRPr lang="en-US" sz="1200" b="0" u="none" strike="noStrike">
              <a:solidFill>
                <a:srgbClr val="000000"/>
              </a:solidFill>
              <a:effectLst/>
              <a:uFillTx/>
              <a:latin typeface="メイリオ"/>
              <a:ea typeface="メイリオ"/>
              <a:cs typeface="メイリオ"/>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cs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▼参考：L</a:t>
            </a:r>
            <a:r>
              <a:rPr lang="ja-JP" sz="1200" b="0" u="none" strike="noStrike">
                <a:solidFill>
                  <a:schemeClr val="dk1">
                    <a:lumMod val="75000"/>
                    <a:lumOff val="25000"/>
                  </a:schemeClr>
                </a:solidFill>
                <a:effectLst/>
                <a:uFillTx/>
                <a:latin typeface="メイリオ"/>
                <a:ea typeface="メイリオ"/>
                <a:cs typeface="メイリオ"/>
              </a:rPr>
              <a:t>ステップ</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連携機能</a:t>
            </a:r>
            <a:endParaRPr lang="en-US" sz="1200" b="0" u="none" strike="noStrike">
              <a:solidFill>
                <a:srgbClr val="000000"/>
              </a:solidFill>
              <a:effectLst/>
              <a:uFillTx/>
              <a:latin typeface="メイリオ"/>
              <a:ea typeface="メイリオ"/>
              <a:cs typeface="メイリオ"/>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a:t>
            </a:r>
            <a:r>
              <a:rPr lang="en-US" sz="1400" b="0" u="none" strike="noStrike">
                <a:solidFill>
                  <a:schemeClr val="dk1"/>
                </a:solidFill>
                <a:effectLst/>
                <a:uFillTx/>
                <a:latin typeface="メイリオ"/>
                <a:ea typeface="メイリオ"/>
                <a:cs typeface="メイリオ"/>
              </a:rPr>
              <a:t>API</a:t>
            </a:r>
            <a:r>
              <a:rPr lang="ja-JP" sz="1400" b="0" u="none" strike="noStrike">
                <a:solidFill>
                  <a:schemeClr val="dk1"/>
                </a:solidFill>
                <a:effectLst/>
                <a:uFillTx/>
                <a:latin typeface="メイリオ"/>
                <a:ea typeface="メイリオ"/>
                <a:cs typeface="メイリオ"/>
              </a:rPr>
              <a:t>ツールで要件定義を行いつつ、効率化及び詳細なセグメント設計を目的として、</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貴社内の顧客管理（</a:t>
            </a: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）ツールとの連携の実施も可能です。</a:t>
            </a:r>
            <a:r>
              <a:rPr lang="en-US" sz="1100" b="0" u="none" strike="noStrike">
                <a:solidFill>
                  <a:srgbClr val="FF0000"/>
                </a:solidFill>
                <a:effectLst/>
                <a:uFillTx/>
                <a:latin typeface="メイリオ"/>
                <a:ea typeface="メイリオ"/>
                <a:cs typeface="メイリオ"/>
              </a:rPr>
              <a:t> ※開発は別途費用</a:t>
            </a:r>
            <a:endParaRPr lang="en-US" sz="1100" b="0" u="none" strike="noStrike">
              <a:solidFill>
                <a:srgbClr val="000000"/>
              </a:solidFill>
              <a:effectLst/>
              <a:uFillTx/>
              <a:latin typeface="メイリオ"/>
              <a:ea typeface="メイリオ"/>
              <a:cs typeface="メイリオ"/>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LINE</a:t>
            </a:r>
            <a:r>
              <a:rPr lang="ja-JP" sz="1200" b="0" u="none" strike="noStrike">
                <a:solidFill>
                  <a:schemeClr val="dk1">
                    <a:lumMod val="75000"/>
                    <a:lumOff val="25000"/>
                  </a:schemeClr>
                </a:solidFill>
                <a:effectLst/>
                <a:uFillTx/>
                <a:latin typeface="メイリオ"/>
                <a:ea typeface="メイリオ"/>
                <a:cs typeface="メイリオ"/>
              </a:rPr>
              <a:t>公式と</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ツール間の</a:t>
            </a:r>
            <a:endParaRPr lang="en-US" sz="1200" b="0" u="none" strike="noStrike">
              <a:solidFill>
                <a:srgbClr val="000000"/>
              </a:solidFill>
              <a:effectLst/>
              <a:uFillTx/>
              <a:latin typeface="メイリオ"/>
              <a:ea typeface="メイリオ"/>
              <a:cs typeface="メイリオ"/>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情報連携</a:t>
            </a:r>
            <a:endParaRPr lang="en-US" sz="1200" b="0" u="none" strike="noStrike">
              <a:solidFill>
                <a:srgbClr val="000000"/>
              </a:solidFill>
              <a:effectLst/>
              <a:uFillTx/>
              <a:latin typeface="メイリオ"/>
              <a:ea typeface="メイリオ"/>
              <a:cs typeface="メイリオ"/>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メッセ送信</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cs typeface="メイリオ"/>
              </a:rPr>
              <a:t>ミニアプリ</a:t>
            </a:r>
            <a:endParaRPr lang="en-US" sz="1600" b="0" u="none" strike="noStrike">
              <a:solidFill>
                <a:srgbClr val="FFFFFF"/>
              </a:solidFill>
              <a:effectLst/>
              <a:uFillTx/>
              <a:latin typeface="メイリオ"/>
              <a:ea typeface="メイリオ"/>
              <a:cs typeface="メイリオ"/>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内で活用できるミニアプリでは、ゲームや抽選といった機能を</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アプリ開発よりも大幅に格安な価格帯で利用できるサービス。</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チャット</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FAQ</a:t>
            </a:r>
            <a:r>
              <a:rPr lang="ja-JP" sz="1600" b="1" u="none" strike="noStrike">
                <a:solidFill>
                  <a:schemeClr val="dk1">
                    <a:lumMod val="65000"/>
                    <a:lumOff val="35000"/>
                  </a:schemeClr>
                </a:solidFill>
                <a:effectLst/>
                <a:uFillTx/>
                <a:latin typeface="メイリオ"/>
                <a:ea typeface="メイリオ"/>
                <a:cs typeface="メイリオ"/>
              </a:rPr>
              <a:t>をもとにした</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による自動応答や、</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有人でのチャット対応による細かなサポートを可能にするオプション機能。</a:t>
            </a:r>
            <a:endParaRPr lang="en-US" sz="1600" b="0" u="none" strike="noStrike">
              <a:solidFill>
                <a:srgbClr val="000000"/>
              </a:solidFill>
              <a:effectLst/>
              <a:uFillTx/>
              <a:latin typeface="メイリオ"/>
              <a:ea typeface="メイリオ"/>
              <a:cs typeface="メイリオ"/>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Chat Plus</a:t>
            </a:r>
            <a:endParaRPr lang="en-US" sz="1600" b="0" u="none" strike="noStrike">
              <a:solidFill>
                <a:srgbClr val="FFFFFF"/>
              </a:solidFill>
              <a:effectLst/>
              <a:uFillTx/>
              <a:latin typeface="メイリオ"/>
              <a:ea typeface="メイリオ"/>
              <a:cs typeface="メイリオ"/>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ホームページから気軽にチャットで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問い合わせができるようになり</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資料請求や商品の購入に繋がる。</a:t>
            </a:r>
            <a:endParaRPr lang="en-US" sz="1600" b="0" u="none" strike="noStrike">
              <a:solidFill>
                <a:srgbClr val="000000"/>
              </a:solidFill>
              <a:effectLst/>
              <a:uFillTx/>
              <a:latin typeface="メイリオ"/>
              <a:ea typeface="メイリオ"/>
              <a:cs typeface="メイリオ"/>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自動応答と有人応答を使い分けることが</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「訪問者管理機能」により、ホームページに訪れたユーザーを一覧で見ることが可能</a:t>
            </a:r>
            <a:endParaRPr lang="en-US" sz="1560" b="0" u="none" strike="noStrike">
              <a:solidFill>
                <a:srgbClr val="000000"/>
              </a:solidFill>
              <a:effectLst/>
              <a:uFillTx/>
              <a:latin typeface="メイリオ"/>
              <a:ea typeface="メイリオ"/>
              <a:cs typeface="メイリオ"/>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公式</a:t>
            </a: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とチャットボットを連携し</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上でも同じチャットボットを活用</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コール</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公式アカウントの有料オプション機能で、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公式アカウントからユーザーがカスタマーサポートに電話できるサービス。</a:t>
            </a:r>
            <a:endParaRPr lang="en-US" sz="1600" b="0" u="none" strike="noStrike">
              <a:solidFill>
                <a:srgbClr val="000000"/>
              </a:solidFill>
              <a:effectLst/>
              <a:uFillTx/>
              <a:latin typeface="メイリオ"/>
              <a:ea typeface="メイリオ"/>
              <a:cs typeface="メイリオ"/>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Call Plus</a:t>
            </a:r>
            <a:endParaRPr lang="en-US" sz="1600" b="0" u="none" strike="noStrike">
              <a:solidFill>
                <a:srgbClr val="FFFFFF"/>
              </a:solidFill>
              <a:effectLst/>
              <a:uFillTx/>
              <a:latin typeface="メイリオ"/>
              <a:ea typeface="メイリオ"/>
              <a:cs typeface="メイリオ"/>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さらに「</a:t>
            </a:r>
            <a:r>
              <a:rPr lang="en-US" sz="1600" b="1" u="none" strike="noStrike">
                <a:solidFill>
                  <a:schemeClr val="dk1">
                    <a:lumMod val="65000"/>
                    <a:lumOff val="35000"/>
                  </a:schemeClr>
                </a:solidFill>
                <a:effectLst/>
                <a:uFillTx/>
                <a:latin typeface="メイリオ"/>
                <a:ea typeface="メイリオ"/>
                <a:cs typeface="メイリオ"/>
              </a:rPr>
              <a:t>LINE Ai Call</a:t>
            </a:r>
            <a:r>
              <a:rPr lang="ja-JP" sz="1600" b="1" u="none" strike="noStrike">
                <a:solidFill>
                  <a:schemeClr val="dk1">
                    <a:lumMod val="65000"/>
                    <a:lumOff val="35000"/>
                  </a:schemeClr>
                </a:solidFill>
                <a:effectLst/>
                <a:uFillTx/>
                <a:latin typeface="メイリオ"/>
                <a:ea typeface="メイリオ"/>
                <a:cs typeface="メイリオ"/>
              </a:rPr>
              <a:t>」を活用するとユーザーの要望に対して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による自然な</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対話応答が可能に。要件に応じて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と有人オペレータの振り分け業務効率化を支援。</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でログイン</a:t>
            </a:r>
            <a:endParaRPr lang="en-US" sz="1600" b="0" u="none" strike="noStrike">
              <a:solidFill>
                <a:srgbClr val="FFFFFF"/>
              </a:solidFill>
              <a:effectLst/>
              <a:uFillTx/>
              <a:latin typeface="メイリオ"/>
              <a:ea typeface="メイリオ"/>
              <a:cs typeface="メイリオ"/>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でログイン」は、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上のユーザー情報を活用して</a:t>
            </a:r>
            <a:r>
              <a:rPr lang="en-US" sz="1600" b="1" u="none" strike="noStrike">
                <a:solidFill>
                  <a:schemeClr val="dk1">
                    <a:lumMod val="65000"/>
                    <a:lumOff val="35000"/>
                  </a:schemeClr>
                </a:solidFill>
                <a:effectLst/>
                <a:uFillTx/>
                <a:latin typeface="メイリオ"/>
                <a:ea typeface="メイリオ"/>
                <a:cs typeface="メイリオ"/>
              </a:rPr>
              <a:t>WEB</a:t>
            </a:r>
            <a:r>
              <a:rPr lang="ja-JP" sz="1600" b="1" u="none" strike="noStrike">
                <a:solidFill>
                  <a:schemeClr val="dk1">
                    <a:lumMod val="65000"/>
                    <a:lumOff val="35000"/>
                  </a:schemeClr>
                </a:solidFill>
                <a:effectLst/>
                <a:uFillTx/>
                <a:latin typeface="メイリオ"/>
                <a:ea typeface="メイリオ"/>
                <a:cs typeface="メイリオ"/>
              </a:rPr>
              <a:t>サイト登録が出来る仕組み。</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ID</a:t>
            </a:r>
            <a:r>
              <a:rPr lang="ja-JP" sz="1600" b="1" u="none" strike="noStrike">
                <a:solidFill>
                  <a:schemeClr val="dk1">
                    <a:lumMod val="65000"/>
                    <a:lumOff val="35000"/>
                  </a:schemeClr>
                </a:solidFill>
                <a:effectLst/>
                <a:uFillTx/>
                <a:latin typeface="メイリオ"/>
                <a:ea typeface="メイリオ"/>
                <a:cs typeface="メイリオ"/>
              </a:rPr>
              <a:t>連携を完了することにより、サービス</a:t>
            </a:r>
            <a:r>
              <a:rPr lang="en-US" sz="1600" b="1" u="none" strike="noStrike">
                <a:solidFill>
                  <a:schemeClr val="dk1">
                    <a:lumMod val="65000"/>
                    <a:lumOff val="35000"/>
                  </a:schemeClr>
                </a:solidFill>
                <a:effectLst/>
                <a:uFillTx/>
                <a:latin typeface="メイリオ"/>
                <a:ea typeface="メイリオ"/>
                <a:cs typeface="メイリオ"/>
              </a:rPr>
              <a:t>(WEB) ⇔ LINE </a:t>
            </a:r>
            <a:r>
              <a:rPr lang="ja-JP" sz="1600" b="1" u="none" strike="noStrike">
                <a:solidFill>
                  <a:schemeClr val="dk1">
                    <a:lumMod val="65000"/>
                    <a:lumOff val="35000"/>
                  </a:schemeClr>
                </a:solidFill>
                <a:effectLst/>
                <a:uFillTx/>
                <a:latin typeface="メイリオ"/>
                <a:ea typeface="メイリオ"/>
                <a:cs typeface="メイリオ"/>
              </a:rPr>
              <a:t>での効果的なメッセージが可能に。</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オフライン動線</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002060"/>
                </a:solidFill>
                <a:effectLst/>
                <a:uFillTx/>
                <a:latin typeface="メイリオ"/>
                <a:ea typeface="メイリオ"/>
                <a:cs typeface="メイリオ"/>
              </a:rPr>
              <a:t>ニュースリリース等</a:t>
            </a:r>
            <a:endParaRPr lang="en-US" sz="1400" b="0" u="none" strike="noStrike">
              <a:solidFill>
                <a:srgbClr val="000000"/>
              </a:solidFill>
              <a:effectLst/>
              <a:uFillTx/>
              <a:latin typeface="メイリオ"/>
              <a:ea typeface="メイリオ"/>
              <a:cs typeface="メイリオ"/>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WEB</a:t>
            </a:r>
            <a:r>
              <a:rPr lang="ja-JP" sz="2000" b="1" u="none" strike="noStrike">
                <a:solidFill>
                  <a:srgbClr val="002060"/>
                </a:solidFill>
                <a:effectLst/>
                <a:uFillTx/>
                <a:latin typeface="メイリオ"/>
                <a:ea typeface="メイリオ"/>
                <a:cs typeface="メイリオ"/>
              </a:rPr>
              <a:t>サイト動線整備</a:t>
            </a:r>
            <a:endParaRPr lang="en-US" sz="2000" b="0" u="none" strike="noStrike">
              <a:solidFill>
                <a:srgbClr val="000000"/>
              </a:solidFill>
              <a:effectLst/>
              <a:uFillTx/>
              <a:latin typeface="メイリオ"/>
              <a:ea typeface="メイリオ"/>
              <a:cs typeface="メイリオ"/>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友だち紹介</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200" b="1" u="none" strike="noStrike">
                <a:solidFill>
                  <a:srgbClr val="002060"/>
                </a:solidFill>
                <a:effectLst/>
                <a:uFillTx/>
                <a:latin typeface="メイリオ"/>
                <a:ea typeface="メイリオ"/>
                <a:cs typeface="メイリオ"/>
              </a:rPr>
              <a:t>（</a:t>
            </a:r>
            <a:r>
              <a:rPr lang="en-US" sz="1200" b="1" u="none" strike="noStrike">
                <a:solidFill>
                  <a:srgbClr val="002060"/>
                </a:solidFill>
                <a:effectLst/>
                <a:uFillTx/>
                <a:latin typeface="メイリオ"/>
                <a:ea typeface="メイリオ"/>
                <a:cs typeface="メイリオ"/>
              </a:rPr>
              <a:t>LINE</a:t>
            </a:r>
            <a:r>
              <a:rPr lang="ja-JP" sz="1200" b="1" u="none" strike="noStrike">
                <a:solidFill>
                  <a:srgbClr val="002060"/>
                </a:solidFill>
                <a:effectLst/>
                <a:uFillTx/>
                <a:latin typeface="メイリオ"/>
                <a:ea typeface="メイリオ"/>
                <a:cs typeface="メイリオ"/>
              </a:rPr>
              <a:t>ポイントコネクト）</a:t>
            </a:r>
            <a:endParaRPr lang="en-US" sz="1200" b="0" u="none" strike="noStrike">
              <a:solidFill>
                <a:srgbClr val="000000"/>
              </a:solidFill>
              <a:effectLst/>
              <a:uFillTx/>
              <a:latin typeface="メイリオ"/>
              <a:ea typeface="メイリオ"/>
              <a:cs typeface="メイリオ"/>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LINE</a:t>
            </a:r>
            <a:r>
              <a:rPr lang="ja-JP" sz="2000" b="1" u="none" strike="noStrike">
                <a:solidFill>
                  <a:srgbClr val="002060"/>
                </a:solidFill>
                <a:effectLst/>
                <a:uFillTx/>
                <a:latin typeface="メイリオ"/>
                <a:ea typeface="メイリオ"/>
                <a:cs typeface="メイリオ"/>
              </a:rPr>
              <a:t>ポイント</a:t>
            </a:r>
            <a:r>
              <a:rPr lang="en-US" sz="2000" b="1" u="none" strike="noStrike">
                <a:solidFill>
                  <a:srgbClr val="002060"/>
                </a:solidFill>
                <a:effectLst/>
                <a:uFillTx/>
                <a:latin typeface="メイリオ"/>
                <a:ea typeface="メイリオ"/>
                <a:cs typeface="メイリオ"/>
              </a:rPr>
              <a:t>Ads</a:t>
            </a:r>
            <a:endParaRPr lang="en-US" sz="2000" b="0" u="none" strike="noStrike">
              <a:solidFill>
                <a:srgbClr val="000000"/>
              </a:solidFill>
              <a:effectLst/>
              <a:uFillTx/>
              <a:latin typeface="メイリオ"/>
              <a:ea typeface="メイリオ"/>
              <a:cs typeface="メイリオ"/>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スタンプ施策</a:t>
            </a:r>
            <a:endParaRPr lang="en-US" sz="2000" b="0" u="none" strike="noStrike">
              <a:solidFill>
                <a:srgbClr val="000000"/>
              </a:solidFill>
              <a:effectLst/>
              <a:uFillTx/>
              <a:latin typeface="メイリオ"/>
              <a:ea typeface="メイリオ"/>
              <a:cs typeface="メイリオ"/>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CPF</a:t>
            </a:r>
            <a:r>
              <a:rPr lang="ja-JP" sz="2000" b="1" u="none" strike="noStrike">
                <a:solidFill>
                  <a:srgbClr val="002060"/>
                </a:solidFill>
                <a:effectLst/>
                <a:uFillTx/>
                <a:latin typeface="メイリオ"/>
                <a:ea typeface="メイリオ"/>
                <a:cs typeface="メイリオ"/>
              </a:rPr>
              <a:t>広告</a:t>
            </a:r>
            <a:endParaRPr lang="en-US" sz="2000" b="0" u="none" strike="noStrike">
              <a:solidFill>
                <a:srgbClr val="000000"/>
              </a:solidFill>
              <a:effectLst/>
              <a:uFillTx/>
              <a:latin typeface="メイリオ"/>
              <a:ea typeface="メイリオ"/>
              <a:cs typeface="メイリオ"/>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メイリオ"/>
                <a:ea typeface="メイリオ"/>
                <a:cs typeface="メイリオ"/>
              </a:rPr>
              <a:t>サービス停止中</a:t>
            </a:r>
            <a:endParaRPr lang="en-US" sz="1800" b="0" u="none" strike="noStrike">
              <a:solidFill>
                <a:srgbClr val="000000"/>
              </a:solidFill>
              <a:effectLst/>
              <a:uFillTx/>
              <a:latin typeface="メイリオ"/>
              <a:ea typeface="メイリオ"/>
              <a:cs typeface="メイリオ"/>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r>
              <a:rPr lang="en-US" sz="1200" b="0" u="none" strike="noStrike">
                <a:solidFill>
                  <a:schemeClr val="dk1"/>
                </a:solidFill>
                <a:effectLst/>
                <a:uFillTx/>
                <a:latin typeface="メイリオ"/>
                <a:ea typeface="メイリオ"/>
                <a:cs typeface="メイリオ"/>
              </a:rPr>
              <a:t>1</a:t>
            </a:r>
            <a:r>
              <a:rPr lang="ja-JP" sz="1200" b="0" u="none" strike="noStrike">
                <a:solidFill>
                  <a:schemeClr val="dk1"/>
                </a:solidFill>
                <a:effectLst/>
                <a:uFillTx/>
                <a:latin typeface="メイリオ"/>
                <a:ea typeface="メイリオ"/>
                <a:cs typeface="メイリオ"/>
              </a:rPr>
              <a:t>ヶ月</a:t>
            </a:r>
            <a:r>
              <a:rPr lang="en-US" sz="1200" b="0" u="none" strike="noStrike">
                <a:solidFill>
                  <a:schemeClr val="dk1"/>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endParaRPr lang="en-US" sz="1200" b="0" u="none" strike="noStrike">
              <a:solidFill>
                <a:srgbClr val="000000"/>
              </a:solidFill>
              <a:effectLst/>
              <a:uFillTx/>
              <a:latin typeface="メイリオ"/>
              <a:ea typeface="メイリオ"/>
              <a:cs typeface="メイリオ"/>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各拡張施策についても</a:t>
            </a:r>
            <a:r>
              <a:rPr lang="en-US" sz="1600" b="1" u="none" strike="noStrike">
                <a:solidFill>
                  <a:schemeClr val="dk1">
                    <a:lumMod val="65000"/>
                    <a:lumOff val="35000"/>
                  </a:schemeClr>
                </a:solidFill>
                <a:effectLst/>
                <a:uFillTx/>
                <a:latin typeface="メイリオ"/>
                <a:ea typeface="メイリオ"/>
                <a:cs typeface="メイリオ"/>
              </a:rPr>
              <a:t>MIN</a:t>
            </a:r>
            <a:r>
              <a:rPr lang="ja-JP" sz="1600" b="1" u="none" strike="noStrike">
                <a:solidFill>
                  <a:schemeClr val="dk1">
                    <a:lumMod val="65000"/>
                    <a:lumOff val="35000"/>
                  </a:schemeClr>
                </a:solidFill>
                <a:effectLst/>
                <a:uFillTx/>
                <a:latin typeface="メイリオ"/>
                <a:ea typeface="メイリオ"/>
                <a:cs typeface="メイリオ"/>
              </a:rPr>
              <a:t>金額からの発注、動線設計が可能です。</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友だち追加後の動線設計（特に友だち追加後すぐ）の検証後の拡大施策として用意。</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広告</a:t>
            </a:r>
            <a:r>
              <a:rPr lang="ja-JP" sz="1200" b="1" u="none" strike="noStrike">
                <a:solidFill>
                  <a:schemeClr val="lt1"/>
                </a:solidFill>
                <a:effectLst/>
                <a:uFillTx/>
                <a:latin typeface="メイリオ"/>
                <a:ea typeface="メイリオ"/>
                <a:cs typeface="メイリオ"/>
              </a:rPr>
              <a:t>（友だち追加）</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1200" b="1" u="none" strike="noStrike">
                <a:solidFill>
                  <a:srgbClr val="FFFF00"/>
                </a:solidFill>
                <a:effectLst/>
                <a:uFillTx/>
                <a:latin typeface="メイリオ"/>
                <a:ea typeface="メイリオ"/>
                <a:cs typeface="メイリオ"/>
              </a:rPr>
              <a:t>※CPF</a:t>
            </a:r>
            <a:r>
              <a:rPr lang="ja-JP" sz="1200" b="1" u="none" strike="noStrike">
                <a:solidFill>
                  <a:srgbClr val="FFFF00"/>
                </a:solidFill>
                <a:effectLst/>
                <a:uFillTx/>
                <a:latin typeface="メイリオ"/>
                <a:ea typeface="メイリオ"/>
                <a:cs typeface="メイリオ"/>
              </a:rPr>
              <a:t>広告※</a:t>
            </a:r>
            <a:endParaRPr lang="en-US" sz="1200" b="0" u="none" strike="noStrike">
              <a:solidFill>
                <a:srgbClr val="FFFFFF"/>
              </a:solidFill>
              <a:effectLst/>
              <a:uFillTx/>
              <a:latin typeface="メイリオ"/>
              <a:ea typeface="メイリオ"/>
              <a:cs typeface="メイリオ"/>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公式アカウントの友だちを増やすための広告を、</a:t>
            </a:r>
            <a:br>
              <a:rPr sz="1600">
                <a:latin typeface="メイリオ"/>
                <a:ea typeface="メイリオ"/>
                <a:cs typeface="メイリオ"/>
              </a:rPr>
            </a:b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広告の管理画面より</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アプリ内で掲載できる機能。</a:t>
            </a:r>
            <a:endParaRPr lang="en-US" sz="1600" b="0" u="none" strike="noStrike">
              <a:solidFill>
                <a:srgbClr val="000000"/>
              </a:solidFill>
              <a:effectLst/>
              <a:uFillTx/>
              <a:latin typeface="メイリオ"/>
              <a:ea typeface="メイリオ"/>
              <a:cs typeface="メイリオ"/>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メイリオ"/>
                  <a:ea typeface="メイリオ"/>
                  <a:cs typeface="メイリオ"/>
                </a:rPr>
                <a:t>LINE</a:t>
              </a:r>
              <a:r>
                <a:rPr lang="ja-JP" sz="1200" b="1" u="none" strike="noStrike">
                  <a:solidFill>
                    <a:srgbClr val="0070C0"/>
                  </a:solidFill>
                  <a:effectLst/>
                  <a:uFillTx/>
                  <a:latin typeface="メイリオ"/>
                  <a:ea typeface="メイリオ"/>
                  <a:cs typeface="メイリオ"/>
                </a:rPr>
                <a:t>公式アカウントまでの導線</a:t>
              </a:r>
              <a:endParaRPr lang="en-US" sz="1200" b="0" u="none" strike="noStrike">
                <a:solidFill>
                  <a:srgbClr val="000000"/>
                </a:solidFill>
                <a:effectLst/>
                <a:uFillTx/>
                <a:latin typeface="メイリオ"/>
                <a:ea typeface="メイリオ"/>
                <a:cs typeface="メイリオ"/>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メイリオ"/>
                  <a:ea typeface="メイリオ"/>
                  <a:cs typeface="メイリオ"/>
                </a:rPr>
                <a:t>「友だち追加広告」との違い</a:t>
              </a:r>
              <a:endParaRPr lang="en-US" sz="1200" b="0" u="none" strike="noStrike">
                <a:solidFill>
                  <a:srgbClr val="000000"/>
                </a:solidFill>
                <a:effectLst/>
                <a:uFillTx/>
                <a:latin typeface="メイリオ"/>
                <a:ea typeface="メイリオ"/>
                <a:cs typeface="メイリオ"/>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cs typeface="メイリオ"/>
              </a:rPr>
              <a:t>LINE</a:t>
            </a:r>
            <a:r>
              <a:rPr lang="ja-JP" sz="1200" b="0" u="none" strike="noStrike">
                <a:solidFill>
                  <a:srgbClr val="000000"/>
                </a:solidFill>
                <a:effectLst/>
                <a:uFillTx/>
                <a:latin typeface="メイリオ"/>
                <a:ea typeface="メイリオ"/>
                <a:cs typeface="メイリオ"/>
              </a:rPr>
              <a:t>アプリ内から</a:t>
            </a:r>
            <a:br>
              <a:rPr sz="1200">
                <a:latin typeface="メイリオ"/>
                <a:ea typeface="メイリオ"/>
                <a:cs typeface="メイリオ"/>
              </a:rPr>
            </a:br>
            <a:r>
              <a:rPr lang="ja-JP" sz="1200" b="0" u="none" strike="noStrike">
                <a:solidFill>
                  <a:srgbClr val="000000"/>
                </a:solidFill>
                <a:effectLst/>
                <a:uFillTx/>
                <a:latin typeface="メイリオ"/>
                <a:ea typeface="メイリオ"/>
                <a:cs typeface="メイリオ"/>
              </a:rPr>
              <a:t>自社アカウントに</a:t>
            </a:r>
            <a:r>
              <a:rPr lang="en-US" sz="1600" b="1" u="none" strike="noStrike">
                <a:solidFill>
                  <a:srgbClr val="33CC33"/>
                </a:solidFill>
                <a:effectLst/>
                <a:uFillTx/>
                <a:latin typeface="メイリオ"/>
                <a:ea typeface="メイリオ"/>
                <a:cs typeface="メイリオ"/>
              </a:rPr>
              <a:t>“直接”</a:t>
            </a:r>
            <a:r>
              <a:rPr lang="ja-JP" sz="1200" b="0" u="none" strike="noStrike">
                <a:solidFill>
                  <a:srgbClr val="000000"/>
                </a:solidFill>
                <a:effectLst/>
                <a:uFillTx/>
                <a:latin typeface="メイリオ"/>
                <a:ea typeface="メイリオ"/>
                <a:cs typeface="メイリオ"/>
              </a:rPr>
              <a:t>誘導</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弊社からご提供できる運用プラン</a:t>
            </a:r>
            <a:endParaRPr lang="en-US" sz="1600" b="0" u="none" strike="noStrike">
              <a:solidFill>
                <a:srgbClr val="000000"/>
              </a:solidFill>
              <a:effectLst/>
              <a:uFillTx/>
              <a:latin typeface="メイリオ"/>
              <a:ea typeface="メイリオ"/>
              <a:cs typeface="メイリオ"/>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都度発注プラン</a:t>
            </a:r>
            <a:endParaRPr lang="en-US" sz="1400" b="0" u="none" strike="noStrike">
              <a:solidFill>
                <a:srgbClr val="FFFFFF"/>
              </a:solidFill>
              <a:effectLst/>
              <a:uFillTx/>
              <a:latin typeface="メイリオ"/>
              <a:ea typeface="メイリオ"/>
              <a:cs typeface="メイリオ"/>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cs typeface="メイリオ"/>
              </a:rPr>
              <a:t>LINEOA</a:t>
            </a:r>
            <a:r>
              <a:rPr lang="ja-JP" sz="1600" b="1" u="none" strike="noStrike" dirty="0">
                <a:solidFill>
                  <a:schemeClr val="dk1"/>
                </a:solidFill>
                <a:effectLst/>
                <a:uFillTx/>
                <a:latin typeface="メイリオ"/>
                <a:ea typeface="メイリオ"/>
                <a:cs typeface="メイリオ"/>
              </a:rPr>
              <a:t>の運用業務・</a:t>
            </a:r>
            <a:r>
              <a:rPr lang="en-US" sz="1600" b="1" u="none" strike="noStrike" dirty="0">
                <a:solidFill>
                  <a:schemeClr val="dk1"/>
                </a:solidFill>
                <a:effectLst/>
                <a:uFillTx/>
                <a:latin typeface="メイリオ"/>
                <a:ea typeface="メイリオ"/>
                <a:cs typeface="メイリオ"/>
              </a:rPr>
              <a:t>CR</a:t>
            </a:r>
            <a:r>
              <a:rPr lang="ja-JP" sz="1600" b="1" u="none" strike="noStrike" dirty="0">
                <a:solidFill>
                  <a:schemeClr val="dk1"/>
                </a:solidFill>
                <a:effectLst/>
                <a:uFillTx/>
                <a:latin typeface="メイリオ"/>
                <a:ea typeface="メイリオ"/>
                <a:cs typeface="メイリオ"/>
              </a:rPr>
              <a:t>制作業務を一部外出ししてご依頼も。</a:t>
            </a:r>
            <a:endParaRPr lang="en-US" sz="1600" b="0" u="none" strike="noStrike" dirty="0">
              <a:solidFill>
                <a:srgbClr val="000000"/>
              </a:solidFill>
              <a:effectLst/>
              <a:uFillTx/>
              <a:latin typeface="メイリオ"/>
              <a:ea typeface="メイリオ"/>
              <a:cs typeface="メイリオ"/>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cs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&lt;</a:t>
            </a:r>
            <a:r>
              <a:rPr lang="ja-JP" sz="1050" b="0" u="none" strike="noStrike">
                <a:solidFill>
                  <a:schemeClr val="dk1">
                    <a:lumMod val="65000"/>
                    <a:lumOff val="35000"/>
                  </a:schemeClr>
                </a:solidFill>
                <a:effectLst/>
                <a:uFillTx/>
                <a:latin typeface="メイリオ"/>
                <a:ea typeface="メイリオ"/>
                <a:cs typeface="メイリオ"/>
              </a:rPr>
              <a:t>追加作業における費用感　</a:t>
            </a:r>
            <a:r>
              <a:rPr lang="en-US" sz="900" b="0" u="none" strike="noStrike">
                <a:solidFill>
                  <a:srgbClr val="FF0000"/>
                </a:solidFill>
                <a:effectLst/>
                <a:uFillTx/>
                <a:latin typeface="メイリオ"/>
                <a:ea typeface="メイリオ"/>
                <a:cs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cs typeface="メイリオ"/>
              </a:rPr>
              <a:t>&gt;</a:t>
            </a:r>
            <a:endParaRPr lang="en-US" sz="1050" b="0" u="none" strike="noStrike">
              <a:solidFill>
                <a:srgbClr val="000000"/>
              </a:solidFill>
              <a:effectLst/>
              <a:uFillTx/>
              <a:latin typeface="メイリオ"/>
              <a:ea typeface="メイリオ"/>
              <a:cs typeface="メイリオ"/>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内容</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月額</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アカウント開設</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API</a:t>
                      </a:r>
                      <a:r>
                        <a:rPr lang="ja-JP" sz="1100" b="0" u="none" strike="noStrike">
                          <a:solidFill>
                            <a:srgbClr val="000000"/>
                          </a:solidFill>
                          <a:effectLst/>
                          <a:uFillTx/>
                          <a:latin typeface="メイリオ"/>
                          <a:ea typeface="メイリオ"/>
                          <a:cs typeface="メイリオ"/>
                        </a:rPr>
                        <a:t>ツール導入</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プロフィール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ID</a:t>
                      </a:r>
                      <a:r>
                        <a:rPr lang="ja-JP" sz="1100" b="0" u="none" strike="noStrike">
                          <a:solidFill>
                            <a:srgbClr val="000000"/>
                          </a:solidFill>
                          <a:effectLst/>
                          <a:uFillTx/>
                          <a:latin typeface="メイリオ"/>
                          <a:ea typeface="メイリオ"/>
                          <a:cs typeface="メイリオ"/>
                        </a:rPr>
                        <a:t>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リッチメニュー</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ログイン</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あいさつメッセージ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通知メッセージ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初期アンケート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チャットボット機能</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KW</a:t>
                      </a:r>
                      <a:r>
                        <a:rPr lang="ja-JP" sz="1100" b="0" u="none" strike="noStrike">
                          <a:solidFill>
                            <a:srgbClr val="000000"/>
                          </a:solidFill>
                          <a:effectLst/>
                          <a:uFillTx/>
                          <a:latin typeface="メイリオ"/>
                          <a:ea typeface="メイリオ"/>
                          <a:cs typeface="メイリオ"/>
                        </a:rPr>
                        <a:t>の自動応答</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Chat Plus</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ステップ配信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Call Plus</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セグメント配信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決済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チャットタグ管理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予約管理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チャット対応</a:t>
                      </a:r>
                      <a:r>
                        <a:rPr lang="en-US" sz="700" b="0" u="none" strike="noStrike">
                          <a:solidFill>
                            <a:srgbClr val="FF0000"/>
                          </a:solidFill>
                          <a:effectLst/>
                          <a:uFillTx/>
                          <a:latin typeface="メイリオ"/>
                          <a:ea typeface="メイリオ"/>
                          <a:cs typeface="メイリオ"/>
                        </a:rPr>
                        <a:t> ※サポートは可能</a:t>
                      </a:r>
                      <a:endParaRPr lang="en-US" sz="7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¥100,000</a:t>
                      </a:r>
                      <a:r>
                        <a:rPr lang="ja-JP"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cs typeface="メイリオ"/>
                        </a:rPr>
                        <a:t>件数により変動</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GA(CRM)</a:t>
                      </a:r>
                      <a:r>
                        <a:rPr lang="ja-JP" sz="1100" b="0" u="none" strike="noStrike">
                          <a:solidFill>
                            <a:srgbClr val="000000"/>
                          </a:solidFill>
                          <a:effectLst/>
                          <a:uFillTx/>
                          <a:latin typeface="メイリオ"/>
                          <a:ea typeface="メイリオ"/>
                          <a:cs typeface="メイリオ"/>
                        </a:rPr>
                        <a:t>レポート連携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クリエイティブ</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¥15,000</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cs typeface="メイリオ"/>
                        </a:rPr>
                        <a:t>画像</a:t>
                      </a:r>
                      <a:r>
                        <a:rPr lang="en-US" sz="600" b="0" u="none" strike="noStrike">
                          <a:solidFill>
                            <a:srgbClr val="000000"/>
                          </a:solidFill>
                          <a:effectLst/>
                          <a:uFillTx/>
                          <a:latin typeface="メイリオ"/>
                          <a:ea typeface="メイリオ"/>
                          <a:cs typeface="メイリオ"/>
                        </a:rPr>
                        <a:t>1</a:t>
                      </a:r>
                      <a:r>
                        <a:rPr lang="ja-JP" sz="600" b="0" u="none" strike="noStrike">
                          <a:solidFill>
                            <a:srgbClr val="000000"/>
                          </a:solidFill>
                          <a:effectLst/>
                          <a:uFillTx/>
                          <a:latin typeface="メイリオ"/>
                          <a:ea typeface="メイリオ"/>
                          <a:cs typeface="メイリオ"/>
                        </a:rPr>
                        <a:t>枚での想定</a:t>
                      </a:r>
                      <a:endParaRPr lang="en-US" sz="600" b="0" u="none" strike="noStrike">
                        <a:solidFill>
                          <a:srgbClr val="000000"/>
                        </a:solidFill>
                        <a:effectLst/>
                        <a:uFillTx/>
                        <a:latin typeface="メイリオ"/>
                        <a:ea typeface="メイリオ"/>
                        <a:cs typeface="メイリオ"/>
                      </a:endParaRPr>
                    </a:p>
                    <a:p>
                      <a:pPr algn="ctr" defTabSz="914400">
                        <a:lnSpc>
                          <a:spcPct val="100000"/>
                        </a:lnSpc>
                        <a:tabLst>
                          <a:tab pos="0" algn="l"/>
                        </a:tabLst>
                      </a:pPr>
                      <a:r>
                        <a:rPr lang="en-US" sz="600" b="0" u="none" strike="noStrike">
                          <a:solidFill>
                            <a:srgbClr val="000000"/>
                          </a:solidFill>
                          <a:effectLst/>
                          <a:uFillTx/>
                          <a:latin typeface="メイリオ"/>
                          <a:ea typeface="メイリオ"/>
                          <a:cs typeface="メイリオ"/>
                        </a:rPr>
                        <a:t>※バナー、HTML</a:t>
                      </a:r>
                      <a:r>
                        <a:rPr lang="ja-JP" sz="600" b="0" u="none" strike="noStrike">
                          <a:solidFill>
                            <a:srgbClr val="000000"/>
                          </a:solidFill>
                          <a:effectLst/>
                          <a:uFillTx/>
                          <a:latin typeface="メイリオ"/>
                          <a:ea typeface="メイリオ"/>
                          <a:cs typeface="メイリオ"/>
                        </a:rPr>
                        <a:t>メール等</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離脱防止ツール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投稿作成</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サンクス</a:t>
                      </a: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誘導ツール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cs typeface="メイリオ"/>
              </a:rPr>
              <a:t>貴社リソースの状況に応じて、都度発注でのご依頼も各単価で対応可能</a:t>
            </a:r>
            <a:endParaRPr lang="en-US" sz="1400" b="0" u="none" strike="noStrike">
              <a:solidFill>
                <a:srgbClr val="000000"/>
              </a:solidFill>
              <a:effectLst/>
              <a:uFillTx/>
              <a:latin typeface="メイリオ"/>
              <a:ea typeface="メイリオ"/>
              <a:cs typeface="メイリオ"/>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メイリオ"/>
                <a:ea typeface="メイリオ"/>
                <a:cs typeface="メイリオ"/>
                <a:sym typeface="Meiryo"/>
              </a:rPr>
              <a:t>LINE</a:t>
            </a:r>
            <a:r>
              <a:rPr lang="ja-JP" altLang="en-US" sz="1050" dirty="0">
                <a:solidFill>
                  <a:srgbClr val="FF0000"/>
                </a:solidFill>
                <a:latin typeface="メイリオ"/>
                <a:ea typeface="メイリオ"/>
                <a:cs typeface="メイリオ"/>
                <a:sym typeface="Meiryo"/>
              </a:rPr>
              <a:t>以外の注力動線への誘導も同バナーから実施が可能です。</a:t>
            </a:r>
            <a:endParaRPr lang="ja-JP" altLang="en-US" sz="1050" dirty="0">
              <a:solidFill>
                <a:srgbClr val="FF0000"/>
              </a:solidFill>
              <a:latin typeface="メイリオ"/>
              <a:ea typeface="メイリオ"/>
              <a:cs typeface="メイリオ"/>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非</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Y</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M</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ツ</a:t>
            </a:r>
            <a:endParaRPr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｜ルで</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L</a:t>
            </a:r>
            <a:b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b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I</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N</a:t>
            </a:r>
            <a:br>
              <a:rPr lang="en-US" altLang="ja-JP" sz="1100" b="1" dirty="0">
                <a:solidFill>
                  <a:schemeClr val="tx1"/>
                </a:solidFill>
                <a:latin typeface="メイリオ" panose="020B0604030504040204" pitchFamily="50" charset="-128"/>
                <a:ea typeface="メイリオ" panose="020B0604030504040204" pitchFamily="50" charset="-128"/>
                <a:cs typeface="メイリオ"/>
              </a:rPr>
            </a:br>
            <a:r>
              <a:rPr lang="en-US" altLang="ja-JP" sz="1100" b="1" dirty="0">
                <a:solidFill>
                  <a:schemeClr val="tx1"/>
                </a:solidFill>
                <a:latin typeface="メイリオ" panose="020B0604030504040204" pitchFamily="50" charset="-128"/>
                <a:ea typeface="メイリオ" panose="020B0604030504040204" pitchFamily="50" charset="-128"/>
                <a:cs typeface="メイリオ"/>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動線</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に</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友だち</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登録ページ</a:t>
            </a:r>
            <a:r>
              <a:rPr lang="ja-JP" altLang="en-US" sz="1100" dirty="0">
                <a:latin typeface="メイリオ" panose="020B0604030504040204" pitchFamily="50" charset="-128"/>
                <a:ea typeface="メイリオ" panose="020B0604030504040204" pitchFamily="50" charset="-128"/>
                <a:cs typeface="メイリオ"/>
              </a:rPr>
              <a:t>へ遷移する。</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FF0000"/>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000" dirty="0">
                <a:solidFill>
                  <a:srgbClr val="FF0000"/>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a:t>
            </a:r>
            <a:endParaRPr lang="en-US" altLang="ja-JP" sz="1100" b="1" dirty="0">
              <a:latin typeface="メイリオ" panose="020B0604030504040204" pitchFamily="50" charset="-128"/>
              <a:ea typeface="メイリオ" panose="020B0604030504040204" pitchFamily="50" charset="-128"/>
              <a:cs typeface="メイリオ"/>
            </a:endParaRPr>
          </a:p>
          <a:p>
            <a:r>
              <a:rPr kumimoji="1" lang="ja-JP" altLang="en-US" sz="1100" b="1" dirty="0">
                <a:latin typeface="メイリオ" panose="020B0604030504040204" pitchFamily="50" charset="-128"/>
                <a:ea typeface="メイリオ" panose="020B0604030504040204" pitchFamily="50" charset="-128"/>
                <a:cs typeface="メイリオ"/>
              </a:rPr>
              <a:t>配信セグメントに利用可</a:t>
            </a:r>
            <a:endParaRPr kumimoji="1" lang="ja-JP" altLang="en-US" sz="11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cs typeface="メイリオ"/>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cs typeface="メイリオ"/>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cs typeface="メイリオ"/>
              </a:rPr>
              <a:t>CV</a:t>
            </a:r>
            <a:endParaRPr kumimoji="1" lang="ja-JP" altLang="en-US" sz="1100" b="1" dirty="0">
              <a:latin typeface="メイリオ" panose="020B0604030504040204" pitchFamily="50" charset="-128"/>
              <a:ea typeface="メイリオ" panose="020B0604030504040204" pitchFamily="50" charset="-128"/>
              <a:cs typeface="メイリオ"/>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cs typeface="メイリオ"/>
              </a:rPr>
              <a:t>友だち追加後</a:t>
            </a:r>
            <a:endParaRPr lang="ja-JP" altLang="en-US" sz="1100" dirty="0">
              <a:solidFill>
                <a:srgbClr val="00C057"/>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メイリオ"/>
                <a:ea typeface="メイリオ"/>
                <a:cs typeface="メイリオ"/>
                <a:sym typeface="Meiryo"/>
              </a:rPr>
              <a:t>+</a:t>
            </a:r>
            <a:r>
              <a:rPr lang="ja-JP" altLang="en-US" sz="1050" b="1" dirty="0">
                <a:solidFill>
                  <a:srgbClr val="FFFF00"/>
                </a:solidFill>
                <a:latin typeface="メイリオ"/>
                <a:ea typeface="メイリオ"/>
                <a:cs typeface="メイリオ"/>
                <a:sym typeface="Meiryo"/>
              </a:rPr>
              <a:t>設定地点追加</a:t>
            </a:r>
            <a:endParaRPr sz="1050" b="1" i="0" u="none" strike="noStrike" cap="none" dirty="0">
              <a:solidFill>
                <a:srgbClr val="FFFF00"/>
              </a:solidFill>
              <a:latin typeface="メイリオ"/>
              <a:ea typeface="メイリオ"/>
              <a:cs typeface="メイリオ"/>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cs typeface="メイリオ"/>
              </a:rPr>
              <a:t>高開封率のLINEに誘導</a:t>
            </a:r>
            <a:r>
              <a:rPr lang="ja-JP" altLang="en-US" sz="1200" dirty="0">
                <a:latin typeface="メイリオ" panose="020B0604030504040204" pitchFamily="50" charset="-128"/>
                <a:ea typeface="メイリオ" panose="020B0604030504040204" pitchFamily="50" charset="-128"/>
                <a:cs typeface="メイリオ"/>
              </a:rPr>
              <a:t>して</a:t>
            </a:r>
            <a:r>
              <a:rPr lang="ja-JP" altLang="ja-JP" sz="1200" dirty="0">
                <a:latin typeface="メイリオ" panose="020B0604030504040204" pitchFamily="50" charset="-128"/>
                <a:ea typeface="メイリオ" panose="020B0604030504040204" pitchFamily="50" charset="-128"/>
                <a:cs typeface="メイリオ"/>
              </a:rPr>
              <a:t>反響→実売上への引上げ率、リピート率改善。</a:t>
            </a:r>
            <a:endParaRPr lang="en-US" altLang="ja-JP" sz="1200" dirty="0">
              <a:latin typeface="メイリオ" panose="020B0604030504040204" pitchFamily="50" charset="-128"/>
              <a:ea typeface="メイリオ" panose="020B0604030504040204" pitchFamily="50" charset="-128"/>
              <a:cs typeface="メイリオ"/>
            </a:endParaRPr>
          </a:p>
          <a:p>
            <a:pPr algn="ctr"/>
            <a:r>
              <a:rPr lang="ja-JP" altLang="ja-JP" sz="1200" dirty="0">
                <a:latin typeface="メイリオ" panose="020B0604030504040204" pitchFamily="50" charset="-128"/>
                <a:ea typeface="メイリオ" panose="020B0604030504040204" pitchFamily="50" charset="-128"/>
                <a:cs typeface="メイリオ"/>
              </a:rPr>
              <a:t> </a:t>
            </a:r>
            <a:r>
              <a:rPr lang="ja-JP" altLang="ja-JP" sz="1200" b="1" dirty="0">
                <a:solidFill>
                  <a:srgbClr val="002060"/>
                </a:solidFill>
                <a:latin typeface="メイリオ" panose="020B0604030504040204" pitchFamily="50" charset="-128"/>
                <a:ea typeface="メイリオ" panose="020B0604030504040204" pitchFamily="50" charset="-128"/>
                <a:cs typeface="メイリオ"/>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cs typeface="メイリオ"/>
              </a:rPr>
              <a:t>。</a:t>
            </a:r>
            <a:endParaRPr lang="ja-JP" altLang="en-US" sz="1200" dirty="0">
              <a:latin typeface="メイリオ" panose="020B0604030504040204" pitchFamily="50" charset="-128"/>
              <a:ea typeface="メイリオ" panose="020B0604030504040204" pitchFamily="50" charset="-128"/>
              <a:cs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144904</TotalTime>
  <Words>3371</Words>
  <Application>Microsoft Office PowerPoint</Application>
  <PresentationFormat>A4 210 x 297 mm</PresentationFormat>
  <Paragraphs>647</Paragraphs>
  <Slides>31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31</vt:i4>
      </vt:variant>
    </vt:vector>
  </HeadingPairs>
  <TitlesOfParts>
    <vt:vector size="37"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1916</cp:revision>
  <cp:lastPrinted>2022-11-01T11:38:14Z</cp:lastPrinted>
  <dcterms:created xsi:type="dcterms:W3CDTF">2015-09-04T09:21:15Z</dcterms:created>
  <dcterms:modified xsi:type="dcterms:W3CDTF">2026-10-19T07:56:56Z</dcterms:modified>
</cp:coreProperties>
</file>