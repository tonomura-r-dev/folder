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media/image11.svg" ContentType="image/svg+xml"/>
  <Override PartName="/ppt/media/image12.svg" ContentType="image/svg+xml"/>
  <Override PartName="/ppt/media/image13.svg" ContentType="image/svg+xml"/>
  <Override PartName="/ppt/media/image1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34"/>
  </p:notesMasterIdLst>
  <p:handoutMasterIdLst>
    <p:handoutMasterId r:id="rId35"/>
  </p:handoutMasterIdLst>
  <p:sldIdLst>
    <p:sldId id="2363" r:id="rId3"/>
    <p:sldId id="2971" r:id="rId4"/>
    <p:sldId id="2972" r:id="rId5"/>
    <p:sldId id="2973" r:id="rId6"/>
    <p:sldId id="2974" r:id="rId7"/>
    <p:sldId id="2975" r:id="rId8"/>
    <p:sldId id="2976" r:id="rId9"/>
    <p:sldId id="2977" r:id="rId10"/>
    <p:sldId id="2978" r:id="rId11"/>
    <p:sldId id="2979" r:id="rId12"/>
    <p:sldId id="2980" r:id="rId13"/>
    <p:sldId id="2981" r:id="rId14"/>
    <p:sldId id="2982" r:id="rId15"/>
    <p:sldId id="2983" r:id="rId16"/>
    <p:sldId id="2984" r:id="rId17"/>
    <p:sldId id="612" r:id="rId18"/>
    <p:sldId id="2985" r:id="rId19"/>
    <p:sldId id="2986" r:id="rId20"/>
    <p:sldId id="2987" r:id="rId21"/>
    <p:sldId id="2988" r:id="rId22"/>
    <p:sldId id="2989" r:id="rId23"/>
    <p:sldId id="2990" r:id="rId24"/>
    <p:sldId id="2991" r:id="rId25"/>
    <p:sldId id="2992" r:id="rId26"/>
    <p:sldId id="2993" r:id="rId27"/>
    <p:sldId id="2994" r:id="rId28"/>
    <p:sldId id="2995" r:id="rId29"/>
    <p:sldId id="2996" r:id="rId30"/>
    <p:sldId id="2997" r:id="rId31"/>
    <p:sldId id="2998" r:id="rId32"/>
    <p:sldId id="2999" r:id="rId33"/>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DFD"/>
    <a:srgbClr val="173559"/>
    <a:srgbClr val="04FA0A"/>
    <a:srgbClr val="2080FF"/>
    <a:srgbClr val="1D8DFF"/>
    <a:srgbClr val="515457"/>
    <a:srgbClr val="F6A454"/>
    <a:srgbClr val="EAEEF4"/>
    <a:srgbClr val="2D6CB9"/>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157" autoAdjust="0"/>
    <p:restoredTop sz="94424" autoAdjust="0"/>
  </p:normalViewPr>
  <p:slideViewPr>
    <p:cSldViewPr snapToGrid="0">
      <p:cViewPr varScale="1">
        <p:scale>
          <a:sx n="110" d="100"/>
          <a:sy n="110" d="100"/>
        </p:scale>
        <p:origin x="1236" y="102"/>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notesMaster" Target="notesMasters/notesMaster1.xml"/><Relationship Id="rId35" Type="http://schemas.openxmlformats.org/officeDocument/2006/relationships/handoutMaster" Target="handoutMasters/handout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2026/10/19</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a:defRPr/>
            </a:pPr>
            <a:endParaRPr lang="ja-JP" altLang="en-US"/>
          </a:p>
        </p:txBody>
      </p:sp>
      <p:sp>
        <p:nvSpPr>
          <p:cNvPr id="5" name="スライド番号プレースホルダー 4"/>
          <p:cNvSpPr>
            <a:spLocks noGrp="1"/>
          </p:cNvSpPr>
          <p:nvPr>
            <p:ph type="sldNum" sz="quarter" idx="11"/>
          </p:nvPr>
        </p:nvSpPr>
        <p:spPr/>
        <p:txBody>
          <a:bodyPr/>
          <a:lstStyle/>
          <a:p>
            <a:pPr>
              <a:defRPr/>
            </a:pPr>
            <a:fld id="{929202D6-C1F5-472A-A72F-285F233F82C2}" type="slidenum">
              <a:rPr lang="ja-JP" altLang="en-US" smtClean="0"/>
              <a:pPr>
                <a:defRPr/>
              </a:pPr>
              <a:t>16</a:t>
            </a:fld>
            <a:endParaRPr lang="ja-JP" altLang="en-US"/>
          </a:p>
        </p:txBody>
      </p:sp>
    </p:spTree>
    <p:extLst>
      <p:ext uri="{BB962C8B-B14F-4D97-AF65-F5344CB8AC3E}">
        <p14:creationId xmlns:p14="http://schemas.microsoft.com/office/powerpoint/2010/main" val="16718722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 Id="rId6"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2pPr>
      <a:lvl3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3pPr>
      <a:lvl4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4pPr>
      <a:lvl5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5pPr>
      <a:lvl6pPr marL="4572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6pPr>
      <a:lvl7pPr marL="9144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7pPr>
      <a:lvl8pPr marL="13716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8pPr>
      <a:lvl9pPr marL="18288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i="1" smtClean="0">
                <a:solidFill>
                  <a:prstClr val="white"/>
                </a:solidFill>
                <a:latin typeface="Century Gothic" panose="020B0502020202020204" pitchFamily="34" charset="0"/>
              </a:rPr>
              <a:pPr algn="r"/>
              <a:t>‹#›</a:t>
            </a:fld>
            <a:endParaRPr lang="ja-JP" altLang="en-US" sz="1400" i="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mj-lt"/>
          <a:ea typeface="+mj-ea"/>
          <a:cs typeface="ＭＳ Ｐゴシック" charset="0"/>
        </a:defRPr>
      </a:lvl1pPr>
      <a:lvl2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mn-lt"/>
          <a:ea typeface="+mn-ea"/>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3.emf"/><Relationship Id="rId4" Type="http://schemas.openxmlformats.org/officeDocument/2006/relationships/image" Target="../media/image6.jpeg"/><Relationship Id="rId5" Type="http://schemas.openxmlformats.org/officeDocument/2006/relationships/image" Target="../media/image7.jpeg"/><Relationship Id="rId6" Type="http://schemas.openxmlformats.org/officeDocument/2006/relationships/image" Target="../media/image8.jpeg"/><Relationship Id="rId7" Type="http://schemas.openxmlformats.org/officeDocument/2006/relationships/image" Target="../media/image9.jpeg"/><Relationship Id="rId8" Type="http://schemas.openxmlformats.org/officeDocument/2006/relationships/image" Target="../media/image10.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svg"/><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9.png"/><Relationship Id="rId7" Type="http://schemas.openxmlformats.org/officeDocument/2006/relationships/image" Target="../media/image2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image" Target="../media/image2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0.png"/><Relationship Id="rId3" Type="http://schemas.openxmlformats.org/officeDocument/2006/relationships/image" Target="../media/image31.png"/><Relationship Id="rId4" Type="http://schemas.openxmlformats.org/officeDocument/2006/relationships/image" Target="../media/image32.png"/><Relationship Id="rId5" Type="http://schemas.openxmlformats.org/officeDocument/2006/relationships/image" Target="../media/image3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4.jpeg"/><Relationship Id="rId3" Type="http://schemas.openxmlformats.org/officeDocument/2006/relationships/image" Target="../media/image35.jpeg"/><Relationship Id="rId4" Type="http://schemas.openxmlformats.org/officeDocument/2006/relationships/image" Target="../media/image36.png"/><Relationship Id="rId5" Type="http://schemas.openxmlformats.org/officeDocument/2006/relationships/image" Target="../media/image37.png"/><Relationship Id="rId6" Type="http://schemas.openxmlformats.org/officeDocument/2006/relationships/image" Target="../media/image38.jpeg"/><Relationship Id="rId7" Type="http://schemas.openxmlformats.org/officeDocument/2006/relationships/image" Target="../media/image39.png"/><Relationship Id="rId8" Type="http://schemas.openxmlformats.org/officeDocument/2006/relationships/image" Target="../media/image40.png"/><Relationship Id="rId9" Type="http://schemas.openxmlformats.org/officeDocument/2006/relationships/image" Target="../media/image41.png"/><Relationship Id="rId10" Type="http://schemas.openxmlformats.org/officeDocument/2006/relationships/image" Target="../media/image4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3038203"/>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335024" y="2011680"/>
            <a:ext cx="7232904" cy="914400"/>
          </a:xfrm>
          <a:prstGeom prst="rect">
            <a:avLst/>
          </a:prstGeom>
        </p:spPr>
        <p:txBody>
          <a:bodyPr wrap="square">
            <a:spAutoFit/>
          </a:bodyPr>
          <a:lstStyle/>
          <a:p>
            <a:pPr algn="ctr"/>
            <a:r>
              <a:rPr lang="ja-JP" altLang="en-US" sz="1600" dirty="0">
                <a:solidFill>
                  <a:schemeClr val="tx1">
                    <a:lumMod val="50000"/>
                    <a:lumOff val="50000"/>
                  </a:schemeClr>
                </a:solidFill>
                <a:latin typeface="メイリオ" panose="020B0604030504040204" pitchFamily="34" charset="-128"/>
                <a:ea typeface="メイリオ" panose="020B0604030504040204" pitchFamily="34" charset="-128"/>
                <a:cs typeface="メイリオ"/>
              </a:rPr>
              <a:t>広告で集めた方をLINEでナーチャリングをし、</a:t>
            </a:r>
          </a:p>
          <a:p>
            <a:pPr algn="ctr"/>
            <a:r>
              <a:rPr lang="ja-JP" altLang="en-US" sz="1600" dirty="0">
                <a:solidFill>
                  <a:schemeClr val="tx1">
                    <a:lumMod val="50000"/>
                    <a:lumOff val="50000"/>
                  </a:schemeClr>
                </a:solidFill>
                <a:latin typeface="メイリオ" panose="020B0604030504040204" pitchFamily="34" charset="-128"/>
                <a:ea typeface="メイリオ" panose="020B0604030504040204" pitchFamily="34" charset="-128"/>
                <a:cs typeface="メイリオ"/>
              </a:rPr>
              <a:t>セミナー参加・入会へ</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705064"/>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11" name="テキスト ボックス 6"/>
          <p:cNvSpPr/>
          <p:nvPr/>
        </p:nvSpPr>
        <p:spPr>
          <a:xfrm>
            <a:off x="291960" y="263520"/>
            <a:ext cx="4965480" cy="338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ja-JP" sz="1600" b="1" u="none" strike="noStrike">
                <a:solidFill>
                  <a:schemeClr val="dk1">
                    <a:lumMod val="50000"/>
                    <a:lumOff val="50000"/>
                  </a:schemeClr>
                </a:solidFill>
                <a:effectLst/>
                <a:uFillTx/>
                <a:latin typeface="メイリオ"/>
                <a:ea typeface="メイリオ"/>
                <a:cs typeface="メイリオ"/>
              </a:rPr>
              <a:t>株式会社すなおコンサルティング 御中</a:t>
            </a:r>
            <a:endParaRPr lang="en-US" sz="1600" b="0" u="none" strike="noStrike">
              <a:solidFill>
                <a:srgbClr val="000000"/>
              </a:solidFill>
              <a:effectLst/>
              <a:uFillTx/>
              <a:latin typeface="メイリオ"/>
              <a:ea typeface="メイリオ"/>
              <a:cs typeface="メイリオ"/>
            </a:endParaRPr>
          </a:p>
        </p:txBody>
      </p:sp>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サマリー</a:t>
            </a:r>
          </a:p>
        </p:txBody>
      </p:sp>
      <p:sp>
        <p:nvSpPr>
          <p:cNvPr id="3" name="正方形/長方形 8"/>
          <p:cNvSpPr/>
          <p:nvPr/>
        </p:nvSpPr>
        <p:spPr>
          <a:xfrm>
            <a:off x="0" y="777240"/>
            <a:ext cx="210312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提案の要旨</a:t>
            </a:r>
          </a:p>
        </p:txBody>
      </p:sp>
      <p:sp>
        <p:nvSpPr>
          <p:cNvPr id="4" name="Google Shape;752;p28"/>
          <p:cNvSpPr txBox="1"/>
          <p:nvPr/>
        </p:nvSpPr>
        <p:spPr>
          <a:xfrm>
            <a:off x="2286000" y="740664"/>
            <a:ext cx="7406640" cy="585216"/>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メイリオ"/>
                <a:sym typeface="Meiryo"/>
              </a:rPr>
              <a:t>広告で集めた方をLINEにため、</a:t>
            </a:r>
          </a:p>
          <a:p>
            <a:r>
              <a:rPr lang="en-US" altLang="ja-JP" sz="1600" b="1" dirty="0">
                <a:latin typeface="メイリオ" panose="020B0604030504040204" pitchFamily="50" charset="-128"/>
                <a:ea typeface="メイリオ" panose="020B0604030504040204" pitchFamily="50" charset="-128"/>
                <a:cs typeface="メイリオ"/>
                <a:sym typeface="Meiryo"/>
              </a:rPr>
              <a:t>次のイベント参加数・入会数を伸ばし、LTVを最大化する</a:t>
            </a:r>
          </a:p>
        </p:txBody>
      </p:sp>
      <p:sp>
        <p:nvSpPr>
          <p:cNvPr id="5" name="小見出し"/>
          <p:cNvSpPr/>
          <p:nvPr/>
        </p:nvSpPr>
        <p:spPr>
          <a:xfrm>
            <a:off x="502920" y="2080717"/>
            <a:ext cx="3657600" cy="320040"/>
          </a:xfrm>
          <a:prstGeom prst="rect">
            <a:avLst/>
          </a:prstGeom>
          <a:noFill/>
          <a:ln>
            <a:noFill/>
          </a:ln>
        </p:spPr>
        <p:txBody>
          <a:bodyPr wrap="square" lIns="0" tIns="0" rIns="0" bIns="0" rtlCol="0" anchor="ctr">
            <a:noAutofit/>
          </a:bodyPr>
          <a:lstStyle/>
          <a:p>
            <a:pPr algn="l">
              <a:buNone/>
            </a:pPr>
            <a:r>
              <a:rPr lang="ja-JP" altLang="en-US" sz="1300" b="1" dirty="0">
                <a:solidFill>
                  <a:srgbClr val="002060"/>
                </a:solidFill>
                <a:latin typeface="メイリオ" panose="020B0604030504040204" pitchFamily="50" charset="-128"/>
                <a:ea typeface="メイリオ" panose="020B0604030504040204" pitchFamily="50" charset="-128"/>
                <a:cs typeface="メイリオ"/>
              </a:rPr>
              <a:t>構築する仕組み</a:t>
            </a:r>
            <a:endParaRPr lang="ja-JP" altLang="en-US" sz="1200" dirty="0">
              <a:latin typeface="メイリオ"/>
              <a:ea typeface="メイリオ"/>
              <a:cs typeface="メイリオ"/>
            </a:endParaRPr>
          </a:p>
        </p:txBody>
      </p:sp>
      <p:sp>
        <p:nvSpPr>
          <p:cNvPr id="6" name="流れ1"/>
          <p:cNvSpPr/>
          <p:nvPr/>
        </p:nvSpPr>
        <p:spPr>
          <a:xfrm>
            <a:off x="502920" y="2400757"/>
            <a:ext cx="1991106" cy="777240"/>
          </a:xfrm>
          <a:prstGeom prst="rect">
            <a:avLst/>
          </a:prstGeom>
          <a:solidFill>
            <a:srgbClr val="DCE6F2"/>
          </a:solidFill>
          <a:ln>
            <a:noFill/>
          </a:ln>
        </p:spPr>
        <p:txBody>
          <a:bodyPr wrap="square" lIns="54864" tIns="36576" rIns="54864" bIns="36576" rtlCol="0" anchor="ctr">
            <a:noAutofit/>
          </a:bodyPr>
          <a:lstStyle/>
          <a:p>
            <a:pPr algn="ctr">
              <a:lnSpc>
                <a:spcPct val="115000"/>
              </a:lnSpc>
              <a:buNone/>
            </a:pPr>
            <a:r>
              <a:rPr lang="ja-JP" altLang="en-US" sz="1500" b="1" dirty="0">
                <a:solidFill>
                  <a:srgbClr val="002060"/>
                </a:solidFill>
                <a:latin typeface="メイリオ" panose="020B0604030504040204" pitchFamily="50" charset="-128"/>
                <a:ea typeface="メイリオ" panose="020B0604030504040204" pitchFamily="50" charset="-128"/>
                <a:cs typeface="メイリオ"/>
              </a:rPr>
              <a:t>広告</a:t>
            </a:r>
            <a:endParaRPr lang="ja-JP" altLang="en-US" sz="1200" dirty="0">
              <a:latin typeface="メイリオ"/>
              <a:ea typeface="メイリオ"/>
              <a:cs typeface="メイリオ"/>
            </a:endParaRPr>
          </a:p>
        </p:txBody>
      </p:sp>
      <p:sp>
        <p:nvSpPr>
          <p:cNvPr id="7" name="矢印"/>
          <p:cNvSpPr/>
          <p:nvPr/>
        </p:nvSpPr>
        <p:spPr>
          <a:xfrm>
            <a:off x="2494026" y="2400757"/>
            <a:ext cx="310896" cy="777240"/>
          </a:xfrm>
          <a:prstGeom prst="rect">
            <a:avLst/>
          </a:prstGeom>
          <a:noFill/>
          <a:ln>
            <a:noFill/>
          </a:ln>
        </p:spPr>
        <p:txBody>
          <a:bodyPr wrap="square" lIns="0" tIns="0" rIns="0" bIns="0" rtlCol="0" anchor="ctr">
            <a:noAutofit/>
          </a:bodyPr>
          <a:lstStyle/>
          <a:p>
            <a:pPr algn="ctr">
              <a:buNone/>
            </a:pPr>
            <a:r>
              <a:rPr lang="ja-JP" altLang="en-US" sz="1400" b="0" dirty="0">
                <a:solidFill>
                  <a:srgbClr val="002060"/>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p:txBody>
      </p:sp>
      <p:sp>
        <p:nvSpPr>
          <p:cNvPr id="8" name="流れ2"/>
          <p:cNvSpPr/>
          <p:nvPr/>
        </p:nvSpPr>
        <p:spPr>
          <a:xfrm>
            <a:off x="2804922" y="2400757"/>
            <a:ext cx="1991106" cy="777240"/>
          </a:xfrm>
          <a:prstGeom prst="rect">
            <a:avLst/>
          </a:prstGeom>
          <a:solidFill>
            <a:srgbClr val="DCE6F2"/>
          </a:solidFill>
          <a:ln>
            <a:noFill/>
          </a:ln>
        </p:spPr>
        <p:txBody>
          <a:bodyPr wrap="square" lIns="54864" tIns="36576" rIns="54864" bIns="36576" rtlCol="0" anchor="ctr">
            <a:noAutofit/>
          </a:bodyPr>
          <a:lstStyle/>
          <a:p>
            <a:pPr algn="ctr">
              <a:lnSpc>
                <a:spcPct val="115000"/>
              </a:lnSpc>
              <a:buNone/>
            </a:pPr>
            <a:r>
              <a:rPr lang="ja-JP" altLang="en-US" sz="1500" b="1" dirty="0">
                <a:solidFill>
                  <a:srgbClr val="002060"/>
                </a:solidFill>
                <a:latin typeface="メイリオ" panose="020B0604030504040204" pitchFamily="50" charset="-128"/>
                <a:ea typeface="メイリオ" panose="020B0604030504040204" pitchFamily="50" charset="-128"/>
                <a:cs typeface="メイリオ"/>
              </a:rPr>
              <a:t>イベント</a:t>
            </a:r>
            <a:endParaRPr lang="ja-JP" altLang="en-US" sz="1200" dirty="0">
              <a:latin typeface="メイリオ"/>
              <a:ea typeface="メイリオ"/>
              <a:cs typeface="メイリオ"/>
            </a:endParaRPr>
          </a:p>
          <a:p>
            <a:pPr algn="ctr">
              <a:lnSpc>
                <a:spcPct val="115000"/>
              </a:lnSpc>
              <a:buNone/>
            </a:pPr>
            <a:r>
              <a:rPr lang="ja-JP" altLang="en-US" sz="1500" b="1" dirty="0">
                <a:solidFill>
                  <a:srgbClr val="002060"/>
                </a:solidFill>
                <a:latin typeface="メイリオ" panose="020B0604030504040204" pitchFamily="50" charset="-128"/>
                <a:ea typeface="メイリオ" panose="020B0604030504040204" pitchFamily="50" charset="-128"/>
                <a:cs typeface="メイリオ"/>
              </a:rPr>
              <a:t>＋LINEにたまる</a:t>
            </a:r>
            <a:endParaRPr lang="ja-JP" altLang="en-US" sz="1200" dirty="0">
              <a:latin typeface="メイリオ"/>
              <a:ea typeface="メイリオ"/>
              <a:cs typeface="メイリオ"/>
            </a:endParaRPr>
          </a:p>
        </p:txBody>
      </p:sp>
      <p:sp>
        <p:nvSpPr>
          <p:cNvPr id="9" name="矢印"/>
          <p:cNvSpPr/>
          <p:nvPr/>
        </p:nvSpPr>
        <p:spPr>
          <a:xfrm>
            <a:off x="4796028" y="2400757"/>
            <a:ext cx="310896" cy="777240"/>
          </a:xfrm>
          <a:prstGeom prst="rect">
            <a:avLst/>
          </a:prstGeom>
          <a:noFill/>
          <a:ln>
            <a:noFill/>
          </a:ln>
        </p:spPr>
        <p:txBody>
          <a:bodyPr wrap="square" lIns="0" tIns="0" rIns="0" bIns="0" rtlCol="0" anchor="ctr">
            <a:noAutofit/>
          </a:bodyPr>
          <a:lstStyle/>
          <a:p>
            <a:pPr algn="ctr">
              <a:buNone/>
            </a:pPr>
            <a:r>
              <a:rPr lang="ja-JP" altLang="en-US" sz="1400" b="0" dirty="0">
                <a:solidFill>
                  <a:srgbClr val="002060"/>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p:txBody>
      </p:sp>
      <p:sp>
        <p:nvSpPr>
          <p:cNvPr id="10" name="流れ3"/>
          <p:cNvSpPr/>
          <p:nvPr/>
        </p:nvSpPr>
        <p:spPr>
          <a:xfrm>
            <a:off x="5106924" y="2400757"/>
            <a:ext cx="1991106" cy="777240"/>
          </a:xfrm>
          <a:prstGeom prst="rect">
            <a:avLst/>
          </a:prstGeom>
          <a:solidFill>
            <a:srgbClr val="DCE6F2"/>
          </a:solidFill>
          <a:ln>
            <a:noFill/>
          </a:ln>
        </p:spPr>
        <p:txBody>
          <a:bodyPr wrap="square" lIns="54864" tIns="36576" rIns="54864" bIns="36576" rtlCol="0" anchor="ctr">
            <a:noAutofit/>
          </a:bodyPr>
          <a:lstStyle/>
          <a:p>
            <a:pPr algn="ctr">
              <a:lnSpc>
                <a:spcPct val="115000"/>
              </a:lnSpc>
              <a:buNone/>
            </a:pPr>
            <a:r>
              <a:rPr lang="ja-JP" altLang="en-US" sz="1500" b="1" dirty="0">
                <a:solidFill>
                  <a:srgbClr val="002060"/>
                </a:solidFill>
                <a:latin typeface="メイリオ" panose="020B0604030504040204" pitchFamily="50" charset="-128"/>
                <a:ea typeface="メイリオ" panose="020B0604030504040204" pitchFamily="50" charset="-128"/>
                <a:cs typeface="メイリオ"/>
              </a:rPr>
              <a:t>ナーチャリング</a:t>
            </a:r>
            <a:endParaRPr lang="ja-JP" altLang="en-US" sz="1200" dirty="0">
              <a:latin typeface="メイリオ"/>
              <a:ea typeface="メイリオ"/>
              <a:cs typeface="メイリオ"/>
            </a:endParaRPr>
          </a:p>
        </p:txBody>
      </p:sp>
      <p:sp>
        <p:nvSpPr>
          <p:cNvPr id="11" name="矢印"/>
          <p:cNvSpPr/>
          <p:nvPr/>
        </p:nvSpPr>
        <p:spPr>
          <a:xfrm>
            <a:off x="7098030" y="2400757"/>
            <a:ext cx="310896" cy="777240"/>
          </a:xfrm>
          <a:prstGeom prst="rect">
            <a:avLst/>
          </a:prstGeom>
          <a:noFill/>
          <a:ln>
            <a:noFill/>
          </a:ln>
        </p:spPr>
        <p:txBody>
          <a:bodyPr wrap="square" lIns="0" tIns="0" rIns="0" bIns="0" rtlCol="0" anchor="ctr">
            <a:noAutofit/>
          </a:bodyPr>
          <a:lstStyle/>
          <a:p>
            <a:pPr algn="ctr">
              <a:buNone/>
            </a:pPr>
            <a:r>
              <a:rPr lang="ja-JP" altLang="en-US" sz="1400" b="0" dirty="0">
                <a:solidFill>
                  <a:srgbClr val="002060"/>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p:txBody>
      </p:sp>
      <p:sp>
        <p:nvSpPr>
          <p:cNvPr id="12" name="流れ4"/>
          <p:cNvSpPr/>
          <p:nvPr/>
        </p:nvSpPr>
        <p:spPr>
          <a:xfrm>
            <a:off x="7408926" y="2400757"/>
            <a:ext cx="1991106" cy="777240"/>
          </a:xfrm>
          <a:prstGeom prst="rect">
            <a:avLst/>
          </a:prstGeom>
          <a:solidFill>
            <a:srgbClr val="002060"/>
          </a:solidFill>
          <a:ln>
            <a:noFill/>
          </a:ln>
        </p:spPr>
        <p:txBody>
          <a:bodyPr wrap="square" lIns="54864" tIns="36576" rIns="54864" bIns="36576" rtlCol="0" anchor="ctr">
            <a:noAutofit/>
          </a:bodyPr>
          <a:lstStyle/>
          <a:p>
            <a:pPr algn="ctr">
              <a:lnSpc>
                <a:spcPct val="115000"/>
              </a:lnSpc>
              <a:buNone/>
            </a:pPr>
            <a:r>
              <a:rPr lang="ja-JP" altLang="en-US" sz="1500" b="1" dirty="0">
                <a:solidFill>
                  <a:srgbClr val="FFFFFF"/>
                </a:solidFill>
                <a:latin typeface="メイリオ" panose="020B0604030504040204" pitchFamily="50" charset="-128"/>
                <a:ea typeface="メイリオ" panose="020B0604030504040204" pitchFamily="50" charset="-128"/>
                <a:cs typeface="メイリオ"/>
              </a:rPr>
              <a:t>次のイベント</a:t>
            </a:r>
            <a:endParaRPr lang="ja-JP" altLang="en-US" sz="1200" dirty="0">
              <a:latin typeface="メイリオ"/>
              <a:ea typeface="メイリオ"/>
              <a:cs typeface="メイリオ"/>
            </a:endParaRPr>
          </a:p>
          <a:p>
            <a:pPr algn="ctr">
              <a:lnSpc>
                <a:spcPct val="115000"/>
              </a:lnSpc>
              <a:buNone/>
            </a:pPr>
            <a:r>
              <a:rPr lang="ja-JP" altLang="en-US" sz="1500" b="1" dirty="0">
                <a:solidFill>
                  <a:srgbClr val="FFFFFF"/>
                </a:solidFill>
                <a:latin typeface="メイリオ" panose="020B0604030504040204" pitchFamily="50" charset="-128"/>
                <a:ea typeface="メイリオ" panose="020B0604030504040204" pitchFamily="50" charset="-128"/>
                <a:cs typeface="メイリオ"/>
              </a:rPr>
              <a:t>・入会</a:t>
            </a:r>
            <a:endParaRPr lang="ja-JP" altLang="en-US" sz="1200" dirty="0">
              <a:latin typeface="メイリオ"/>
              <a:ea typeface="メイリオ"/>
              <a:cs typeface="メイリオ"/>
            </a:endParaRPr>
          </a:p>
        </p:txBody>
      </p:sp>
      <p:sp>
        <p:nvSpPr>
          <p:cNvPr id="13" name="見出し 現状と課題"/>
          <p:cNvSpPr/>
          <p:nvPr/>
        </p:nvSpPr>
        <p:spPr>
          <a:xfrm>
            <a:off x="502920" y="3452317"/>
            <a:ext cx="2782824" cy="411480"/>
          </a:xfrm>
          <a:prstGeom prst="rect">
            <a:avLst/>
          </a:prstGeom>
          <a:solidFill>
            <a:srgbClr val="002060"/>
          </a:solidFill>
          <a:ln>
            <a:noFill/>
          </a:ln>
        </p:spPr>
        <p:txBody>
          <a:bodyPr wrap="square" lIns="73152" tIns="36576" rIns="73152" bIns="36576" rtlCol="0" anchor="ctr">
            <a:noAutofit/>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現状と課題</a:t>
            </a:r>
            <a:endParaRPr lang="ja-JP" altLang="en-US" sz="1200" dirty="0">
              <a:latin typeface="メイリオ"/>
              <a:ea typeface="メイリオ"/>
              <a:cs typeface="メイリオ"/>
            </a:endParaRPr>
          </a:p>
        </p:txBody>
      </p:sp>
      <p:sp>
        <p:nvSpPr>
          <p:cNvPr id="14" name="補足1"/>
          <p:cNvSpPr/>
          <p:nvPr/>
        </p:nvSpPr>
        <p:spPr>
          <a:xfrm>
            <a:off x="502920" y="3863797"/>
            <a:ext cx="2782824" cy="1143000"/>
          </a:xfrm>
          <a:prstGeom prst="rect">
            <a:avLst/>
          </a:prstGeom>
          <a:solidFill>
            <a:srgbClr val="F2F2F2"/>
          </a:solidFill>
          <a:ln>
            <a:noFill/>
          </a:ln>
        </p:spPr>
        <p:txBody>
          <a:bodyPr wrap="square" lIns="91440" tIns="45720" rIns="91440" bIns="45720" rtlCol="0" anchor="ctr">
            <a:noAutofit/>
          </a:bodyPr>
          <a:lstStyle/>
          <a:p>
            <a:pPr algn="l">
              <a:lnSpc>
                <a:spcPct val="125000"/>
              </a:lnSpc>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申し込まずに離れた方・入会していない方を、次のイベントまで追う場所が無い</a:t>
            </a:r>
            <a:endParaRPr lang="ja-JP" altLang="en-US" sz="1200" dirty="0">
              <a:latin typeface="メイリオ"/>
              <a:ea typeface="メイリオ"/>
              <a:cs typeface="メイリオ"/>
            </a:endParaRPr>
          </a:p>
        </p:txBody>
      </p:sp>
      <p:sp>
        <p:nvSpPr>
          <p:cNvPr id="15" name="見出し 施策"/>
          <p:cNvSpPr/>
          <p:nvPr/>
        </p:nvSpPr>
        <p:spPr>
          <a:xfrm>
            <a:off x="3560064" y="3452317"/>
            <a:ext cx="2782824" cy="411480"/>
          </a:xfrm>
          <a:prstGeom prst="rect">
            <a:avLst/>
          </a:prstGeom>
          <a:solidFill>
            <a:srgbClr val="002060"/>
          </a:solidFill>
          <a:ln>
            <a:noFill/>
          </a:ln>
        </p:spPr>
        <p:txBody>
          <a:bodyPr wrap="square" lIns="73152" tIns="36576" rIns="73152" bIns="36576" rtlCol="0" anchor="ctr">
            <a:noAutofit/>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施策</a:t>
            </a:r>
            <a:endParaRPr lang="ja-JP" altLang="en-US" sz="1200" dirty="0">
              <a:latin typeface="メイリオ"/>
              <a:ea typeface="メイリオ"/>
              <a:cs typeface="メイリオ"/>
            </a:endParaRPr>
          </a:p>
        </p:txBody>
      </p:sp>
      <p:sp>
        <p:nvSpPr>
          <p:cNvPr id="16" name="補足2"/>
          <p:cNvSpPr/>
          <p:nvPr/>
        </p:nvSpPr>
        <p:spPr>
          <a:xfrm>
            <a:off x="3560064" y="3863797"/>
            <a:ext cx="2782824" cy="1143000"/>
          </a:xfrm>
          <a:prstGeom prst="rect">
            <a:avLst/>
          </a:prstGeom>
          <a:solidFill>
            <a:srgbClr val="F2F2F2"/>
          </a:solidFill>
          <a:ln>
            <a:noFill/>
          </a:ln>
        </p:spPr>
        <p:txBody>
          <a:bodyPr wrap="square" lIns="91440" tIns="45720" rIns="91440" bIns="45720" rtlCol="0" anchor="ctr">
            <a:noAutofit/>
          </a:bodyPr>
          <a:lstStyle/>
          <a:p>
            <a:pPr algn="l">
              <a:lnSpc>
                <a:spcPct val="125000"/>
              </a:lnSpc>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ポップアップツールとサンクスLINE誘導で友だちにし、興味あり・予約・参加の段階ごとに配信する</a:t>
            </a:r>
            <a:endParaRPr lang="ja-JP" altLang="en-US" sz="1200" dirty="0">
              <a:latin typeface="メイリオ"/>
              <a:ea typeface="メイリオ"/>
              <a:cs typeface="メイリオ"/>
            </a:endParaRPr>
          </a:p>
        </p:txBody>
      </p:sp>
      <p:sp>
        <p:nvSpPr>
          <p:cNvPr id="17" name="見出し 目標と費用"/>
          <p:cNvSpPr/>
          <p:nvPr/>
        </p:nvSpPr>
        <p:spPr>
          <a:xfrm>
            <a:off x="6617208" y="3452317"/>
            <a:ext cx="2782824" cy="411480"/>
          </a:xfrm>
          <a:prstGeom prst="rect">
            <a:avLst/>
          </a:prstGeom>
          <a:solidFill>
            <a:srgbClr val="002060"/>
          </a:solidFill>
          <a:ln>
            <a:noFill/>
          </a:ln>
        </p:spPr>
        <p:txBody>
          <a:bodyPr wrap="square" lIns="73152" tIns="36576" rIns="73152" bIns="36576" rtlCol="0" anchor="ctr">
            <a:noAutofit/>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目標と費用</a:t>
            </a:r>
            <a:endParaRPr lang="ja-JP" altLang="en-US" sz="1200" dirty="0">
              <a:latin typeface="メイリオ"/>
              <a:ea typeface="メイリオ"/>
              <a:cs typeface="メイリオ"/>
            </a:endParaRPr>
          </a:p>
        </p:txBody>
      </p:sp>
      <p:sp>
        <p:nvSpPr>
          <p:cNvPr id="18" name="補足3"/>
          <p:cNvSpPr/>
          <p:nvPr/>
        </p:nvSpPr>
        <p:spPr>
          <a:xfrm>
            <a:off x="6617208" y="3863797"/>
            <a:ext cx="2782824" cy="1143000"/>
          </a:xfrm>
          <a:prstGeom prst="rect">
            <a:avLst/>
          </a:prstGeom>
          <a:solidFill>
            <a:srgbClr val="F2F2F2"/>
          </a:solidFill>
          <a:ln>
            <a:noFill/>
          </a:ln>
        </p:spPr>
        <p:txBody>
          <a:bodyPr wrap="square" lIns="91440" tIns="45720" rIns="91440" bIns="45720" rtlCol="0" anchor="ctr">
            <a:noAutofit/>
          </a:bodyPr>
          <a:lstStyle/>
          <a:p>
            <a:pPr algn="l">
              <a:lnSpc>
                <a:spcPct val="125000"/>
              </a:lnSpc>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追える人数を増やし・減らさず、入会へ。</a:t>
            </a:r>
            <a:endParaRPr lang="ja-JP" altLang="en-US" sz="1200" dirty="0">
              <a:latin typeface="メイリオ"/>
              <a:ea typeface="メイリオ"/>
              <a:cs typeface="メイリオ"/>
            </a:endParaRPr>
          </a:p>
          <a:p>
            <a:pPr algn="l">
              <a:lnSpc>
                <a:spcPct val="125000"/>
              </a:lnSpc>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費用は、3つのプランから選択可能</a:t>
            </a:r>
            <a:endParaRPr lang="ja-JP" altLang="en-US" sz="1200" dirty="0">
              <a:latin typeface="メイリオ"/>
              <a:ea typeface="メイリオ"/>
              <a:cs typeface="メイリオ"/>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保険営業の方の環境</a:t>
            </a:r>
          </a:p>
        </p:txBody>
      </p:sp>
      <p:sp>
        <p:nvSpPr>
          <p:cNvPr id="3" name="正方形/長方形 8"/>
          <p:cNvSpPr/>
          <p:nvPr/>
        </p:nvSpPr>
        <p:spPr>
          <a:xfrm>
            <a:off x="0" y="777240"/>
            <a:ext cx="210312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市場環境</a:t>
            </a:r>
          </a:p>
        </p:txBody>
      </p:sp>
      <p:sp>
        <p:nvSpPr>
          <p:cNvPr id="4" name="Google Shape;752;p28"/>
          <p:cNvSpPr txBox="1"/>
          <p:nvPr/>
        </p:nvSpPr>
        <p:spPr>
          <a:xfrm>
            <a:off x="2286000" y="859536"/>
            <a:ext cx="7406640" cy="338328"/>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メイリオ"/>
                <a:sym typeface="Meiryo"/>
              </a:rPr>
              <a:t>保険の加入は今も営業職員が中心。一方で、お客様と会う回数は減っている</a:t>
            </a:r>
          </a:p>
        </p:txBody>
      </p:sp>
      <p:sp>
        <p:nvSpPr>
          <p:cNvPr id="5" name="見出し 生命保険の営業職員数（各年度末・名）"/>
          <p:cNvSpPr/>
          <p:nvPr/>
        </p:nvSpPr>
        <p:spPr>
          <a:xfrm>
            <a:off x="502920" y="1600200"/>
            <a:ext cx="4343400" cy="411480"/>
          </a:xfrm>
          <a:prstGeom prst="rect">
            <a:avLst/>
          </a:prstGeom>
          <a:solidFill>
            <a:srgbClr val="002060"/>
          </a:solidFill>
          <a:ln>
            <a:noFill/>
          </a:ln>
        </p:spPr>
        <p:txBody>
          <a:bodyPr wrap="square" lIns="73152" tIns="36576" rIns="73152" bIns="36576" rtlCol="0" anchor="ctr">
            <a:noAutofit/>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生命保険の営業職員数（各年度末・名）</a:t>
            </a:r>
            <a:endParaRPr lang="ja-JP" altLang="en-US" sz="1200" dirty="0">
              <a:latin typeface="メイリオ"/>
              <a:ea typeface="メイリオ"/>
              <a:cs typeface="メイリオ"/>
            </a:endParaRPr>
          </a:p>
        </p:txBody>
      </p:sp>
      <p:sp>
        <p:nvSpPr>
          <p:cNvPr id="6" name="棒 2020"/>
          <p:cNvSpPr/>
          <p:nvPr/>
        </p:nvSpPr>
        <p:spPr>
          <a:xfrm>
            <a:off x="653796" y="2662249"/>
            <a:ext cx="566928" cy="1864030"/>
          </a:xfrm>
          <a:prstGeom prst="rect">
            <a:avLst/>
          </a:prstGeom>
          <a:solidFill>
            <a:srgbClr val="8E9BC4"/>
          </a:solidFill>
          <a:ln>
            <a:noFill/>
          </a:ln>
        </p:spPr>
        <p:txBody>
          <a:bodyPr wrap="square" lIns="73152" tIns="36576" rIns="73152" bIns="36576" rtlCol="0" anchor="ctr">
            <a:noAutofit/>
          </a:bodyPr>
          <a:lstStyle/>
          <a:p>
            <a:pPr algn="l">
              <a:buNone/>
            </a:pPr>
            <a:endParaRPr lang="ja-JP" altLang="en-US" sz="1200" dirty="0">
              <a:latin typeface="メイリオ"/>
              <a:ea typeface="メイリオ"/>
              <a:cs typeface="メイリオ"/>
            </a:endParaRPr>
          </a:p>
        </p:txBody>
      </p:sp>
      <p:sp>
        <p:nvSpPr>
          <p:cNvPr id="7" name="値 2020"/>
          <p:cNvSpPr/>
          <p:nvPr/>
        </p:nvSpPr>
        <p:spPr>
          <a:xfrm>
            <a:off x="502920" y="2369641"/>
            <a:ext cx="868680" cy="274320"/>
          </a:xfrm>
          <a:prstGeom prst="rect">
            <a:avLst/>
          </a:prstGeom>
          <a:noFill/>
          <a:ln>
            <a:noFill/>
          </a:ln>
        </p:spPr>
        <p:txBody>
          <a:bodyPr wrap="square" lIns="0" tIns="0" rIns="0" bIns="0" rtlCol="0" anchor="b">
            <a:noAutofit/>
          </a:bodyPr>
          <a:lstStyle/>
          <a:p>
            <a:pPr algn="ctr">
              <a:buNone/>
            </a:pPr>
            <a:r>
              <a:rPr lang="ja-JP" altLang="en-US" sz="1200" b="1" dirty="0">
                <a:solidFill>
                  <a:srgbClr val="002060"/>
                </a:solidFill>
                <a:latin typeface="メイリオ" panose="020B0604030504040204" pitchFamily="50" charset="-128"/>
                <a:ea typeface="メイリオ" panose="020B0604030504040204" pitchFamily="50" charset="-128"/>
                <a:cs typeface="メイリオ"/>
              </a:rPr>
              <a:t>248,601</a:t>
            </a:r>
            <a:endParaRPr lang="ja-JP" altLang="en-US" sz="1200" dirty="0">
              <a:latin typeface="メイリオ"/>
              <a:ea typeface="メイリオ"/>
              <a:cs typeface="メイリオ"/>
            </a:endParaRPr>
          </a:p>
        </p:txBody>
      </p:sp>
      <p:sp>
        <p:nvSpPr>
          <p:cNvPr id="8" name="年度 2020"/>
          <p:cNvSpPr/>
          <p:nvPr/>
        </p:nvSpPr>
        <p:spPr>
          <a:xfrm>
            <a:off x="502920" y="4572000"/>
            <a:ext cx="868680" cy="274320"/>
          </a:xfrm>
          <a:prstGeom prst="rect">
            <a:avLst/>
          </a:prstGeom>
          <a:noFill/>
          <a:ln>
            <a:noFill/>
          </a:ln>
        </p:spPr>
        <p:txBody>
          <a:bodyPr wrap="square" lIns="0" tIns="0" rIns="0" bIns="0" rtlCol="0" anchor="t">
            <a:noAutofit/>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2020年度</a:t>
            </a:r>
            <a:endParaRPr lang="ja-JP" altLang="en-US" sz="1200" dirty="0">
              <a:latin typeface="メイリオ"/>
              <a:ea typeface="メイリオ"/>
              <a:cs typeface="メイリオ"/>
            </a:endParaRPr>
          </a:p>
        </p:txBody>
      </p:sp>
      <p:sp>
        <p:nvSpPr>
          <p:cNvPr id="9" name="棒 2021"/>
          <p:cNvSpPr/>
          <p:nvPr/>
        </p:nvSpPr>
        <p:spPr>
          <a:xfrm>
            <a:off x="1522476" y="2704643"/>
            <a:ext cx="566928" cy="1821636"/>
          </a:xfrm>
          <a:prstGeom prst="rect">
            <a:avLst/>
          </a:prstGeom>
          <a:solidFill>
            <a:srgbClr val="8E9BC4"/>
          </a:solidFill>
          <a:ln>
            <a:noFill/>
          </a:ln>
        </p:spPr>
        <p:txBody>
          <a:bodyPr wrap="square" lIns="73152" tIns="36576" rIns="73152" bIns="36576" rtlCol="0" anchor="ctr">
            <a:noAutofit/>
          </a:bodyPr>
          <a:lstStyle/>
          <a:p>
            <a:pPr algn="l">
              <a:buNone/>
            </a:pPr>
            <a:endParaRPr lang="ja-JP" altLang="en-US" sz="1200" dirty="0">
              <a:latin typeface="メイリオ"/>
              <a:ea typeface="メイリオ"/>
              <a:cs typeface="メイリオ"/>
            </a:endParaRPr>
          </a:p>
        </p:txBody>
      </p:sp>
      <p:sp>
        <p:nvSpPr>
          <p:cNvPr id="10" name="値 2021"/>
          <p:cNvSpPr/>
          <p:nvPr/>
        </p:nvSpPr>
        <p:spPr>
          <a:xfrm>
            <a:off x="1371600" y="2412035"/>
            <a:ext cx="868680" cy="274320"/>
          </a:xfrm>
          <a:prstGeom prst="rect">
            <a:avLst/>
          </a:prstGeom>
          <a:noFill/>
          <a:ln>
            <a:noFill/>
          </a:ln>
        </p:spPr>
        <p:txBody>
          <a:bodyPr wrap="square" lIns="0" tIns="0" rIns="0" bIns="0" rtlCol="0" anchor="b">
            <a:noAutofit/>
          </a:bodyPr>
          <a:lstStyle/>
          <a:p>
            <a:pPr algn="ctr">
              <a:buNone/>
            </a:pPr>
            <a:r>
              <a:rPr lang="ja-JP" altLang="en-US" sz="1200" b="1" dirty="0">
                <a:solidFill>
                  <a:srgbClr val="002060"/>
                </a:solidFill>
                <a:latin typeface="メイリオ" panose="020B0604030504040204" pitchFamily="50" charset="-128"/>
                <a:ea typeface="メイリオ" panose="020B0604030504040204" pitchFamily="50" charset="-128"/>
                <a:cs typeface="メイリオ"/>
              </a:rPr>
              <a:t>242,947</a:t>
            </a:r>
            <a:endParaRPr lang="ja-JP" altLang="en-US" sz="1200" dirty="0">
              <a:latin typeface="メイリオ"/>
              <a:ea typeface="メイリオ"/>
              <a:cs typeface="メイリオ"/>
            </a:endParaRPr>
          </a:p>
        </p:txBody>
      </p:sp>
      <p:sp>
        <p:nvSpPr>
          <p:cNvPr id="11" name="年度 2021"/>
          <p:cNvSpPr/>
          <p:nvPr/>
        </p:nvSpPr>
        <p:spPr>
          <a:xfrm>
            <a:off x="1371600" y="4572000"/>
            <a:ext cx="868680" cy="274320"/>
          </a:xfrm>
          <a:prstGeom prst="rect">
            <a:avLst/>
          </a:prstGeom>
          <a:noFill/>
          <a:ln>
            <a:noFill/>
          </a:ln>
        </p:spPr>
        <p:txBody>
          <a:bodyPr wrap="square" lIns="0" tIns="0" rIns="0" bIns="0" rtlCol="0" anchor="t">
            <a:noAutofit/>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2021年度</a:t>
            </a:r>
            <a:endParaRPr lang="ja-JP" altLang="en-US" sz="1200" dirty="0">
              <a:latin typeface="メイリオ"/>
              <a:ea typeface="メイリオ"/>
              <a:cs typeface="メイリオ"/>
            </a:endParaRPr>
          </a:p>
        </p:txBody>
      </p:sp>
      <p:sp>
        <p:nvSpPr>
          <p:cNvPr id="12" name="棒 2022"/>
          <p:cNvSpPr/>
          <p:nvPr/>
        </p:nvSpPr>
        <p:spPr>
          <a:xfrm>
            <a:off x="2391156" y="2673646"/>
            <a:ext cx="566928" cy="1852633"/>
          </a:xfrm>
          <a:prstGeom prst="rect">
            <a:avLst/>
          </a:prstGeom>
          <a:solidFill>
            <a:srgbClr val="8E9BC4"/>
          </a:solidFill>
          <a:ln>
            <a:noFill/>
          </a:ln>
        </p:spPr>
        <p:txBody>
          <a:bodyPr wrap="square" lIns="73152" tIns="36576" rIns="73152" bIns="36576" rtlCol="0" anchor="ctr">
            <a:noAutofit/>
          </a:bodyPr>
          <a:lstStyle/>
          <a:p>
            <a:pPr algn="l">
              <a:buNone/>
            </a:pPr>
            <a:endParaRPr lang="ja-JP" altLang="en-US" sz="1200" dirty="0">
              <a:latin typeface="メイリオ"/>
              <a:ea typeface="メイリオ"/>
              <a:cs typeface="メイリオ"/>
            </a:endParaRPr>
          </a:p>
        </p:txBody>
      </p:sp>
      <p:sp>
        <p:nvSpPr>
          <p:cNvPr id="13" name="値 2022"/>
          <p:cNvSpPr/>
          <p:nvPr/>
        </p:nvSpPr>
        <p:spPr>
          <a:xfrm>
            <a:off x="2240280" y="2381038"/>
            <a:ext cx="868680" cy="274320"/>
          </a:xfrm>
          <a:prstGeom prst="rect">
            <a:avLst/>
          </a:prstGeom>
          <a:noFill/>
          <a:ln>
            <a:noFill/>
          </a:ln>
        </p:spPr>
        <p:txBody>
          <a:bodyPr wrap="square" lIns="0" tIns="0" rIns="0" bIns="0" rtlCol="0" anchor="b">
            <a:noAutofit/>
          </a:bodyPr>
          <a:lstStyle/>
          <a:p>
            <a:pPr algn="ctr">
              <a:buNone/>
            </a:pPr>
            <a:r>
              <a:rPr lang="ja-JP" altLang="en-US" sz="1200" b="1" dirty="0">
                <a:solidFill>
                  <a:srgbClr val="002060"/>
                </a:solidFill>
                <a:latin typeface="メイリオ" panose="020B0604030504040204" pitchFamily="50" charset="-128"/>
                <a:ea typeface="メイリオ" panose="020B0604030504040204" pitchFamily="50" charset="-128"/>
                <a:cs typeface="メイリオ"/>
              </a:rPr>
              <a:t>247,081</a:t>
            </a:r>
            <a:endParaRPr lang="ja-JP" altLang="en-US" sz="1200" dirty="0">
              <a:latin typeface="メイリオ"/>
              <a:ea typeface="メイリオ"/>
              <a:cs typeface="メイリオ"/>
            </a:endParaRPr>
          </a:p>
        </p:txBody>
      </p:sp>
      <p:sp>
        <p:nvSpPr>
          <p:cNvPr id="14" name="年度 2022"/>
          <p:cNvSpPr/>
          <p:nvPr/>
        </p:nvSpPr>
        <p:spPr>
          <a:xfrm>
            <a:off x="2240280" y="4572000"/>
            <a:ext cx="868680" cy="274320"/>
          </a:xfrm>
          <a:prstGeom prst="rect">
            <a:avLst/>
          </a:prstGeom>
          <a:noFill/>
          <a:ln>
            <a:noFill/>
          </a:ln>
        </p:spPr>
        <p:txBody>
          <a:bodyPr wrap="square" lIns="0" tIns="0" rIns="0" bIns="0" rtlCol="0" anchor="t">
            <a:noAutofit/>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2022年度</a:t>
            </a:r>
            <a:endParaRPr lang="ja-JP" altLang="en-US" sz="1200" dirty="0">
              <a:latin typeface="メイリオ"/>
              <a:ea typeface="メイリオ"/>
              <a:cs typeface="メイリオ"/>
            </a:endParaRPr>
          </a:p>
        </p:txBody>
      </p:sp>
      <p:sp>
        <p:nvSpPr>
          <p:cNvPr id="15" name="棒 2023"/>
          <p:cNvSpPr/>
          <p:nvPr/>
        </p:nvSpPr>
        <p:spPr>
          <a:xfrm>
            <a:off x="3259835" y="2719970"/>
            <a:ext cx="566928" cy="1806309"/>
          </a:xfrm>
          <a:prstGeom prst="rect">
            <a:avLst/>
          </a:prstGeom>
          <a:solidFill>
            <a:srgbClr val="8E9BC4"/>
          </a:solidFill>
          <a:ln>
            <a:noFill/>
          </a:ln>
        </p:spPr>
        <p:txBody>
          <a:bodyPr wrap="square" lIns="73152" tIns="36576" rIns="73152" bIns="36576" rtlCol="0" anchor="ctr">
            <a:noAutofit/>
          </a:bodyPr>
          <a:lstStyle/>
          <a:p>
            <a:pPr algn="l">
              <a:buNone/>
            </a:pPr>
            <a:endParaRPr lang="ja-JP" altLang="en-US" sz="1200" dirty="0">
              <a:latin typeface="メイリオ"/>
              <a:ea typeface="メイリオ"/>
              <a:cs typeface="メイリオ"/>
            </a:endParaRPr>
          </a:p>
        </p:txBody>
      </p:sp>
      <p:sp>
        <p:nvSpPr>
          <p:cNvPr id="16" name="値 2023"/>
          <p:cNvSpPr/>
          <p:nvPr/>
        </p:nvSpPr>
        <p:spPr>
          <a:xfrm>
            <a:off x="3108959" y="2427362"/>
            <a:ext cx="868680" cy="274320"/>
          </a:xfrm>
          <a:prstGeom prst="rect">
            <a:avLst/>
          </a:prstGeom>
          <a:noFill/>
          <a:ln>
            <a:noFill/>
          </a:ln>
        </p:spPr>
        <p:txBody>
          <a:bodyPr wrap="square" lIns="0" tIns="0" rIns="0" bIns="0" rtlCol="0" anchor="b">
            <a:noAutofit/>
          </a:bodyPr>
          <a:lstStyle/>
          <a:p>
            <a:pPr algn="ctr">
              <a:buNone/>
            </a:pPr>
            <a:r>
              <a:rPr lang="ja-JP" altLang="en-US" sz="1200" b="1" dirty="0">
                <a:solidFill>
                  <a:srgbClr val="002060"/>
                </a:solidFill>
                <a:latin typeface="メイリオ" panose="020B0604030504040204" pitchFamily="50" charset="-128"/>
                <a:ea typeface="メイリオ" panose="020B0604030504040204" pitchFamily="50" charset="-128"/>
                <a:cs typeface="メイリオ"/>
              </a:rPr>
              <a:t>240,903</a:t>
            </a:r>
            <a:endParaRPr lang="ja-JP" altLang="en-US" sz="1200" dirty="0">
              <a:latin typeface="メイリオ"/>
              <a:ea typeface="メイリオ"/>
              <a:cs typeface="メイリオ"/>
            </a:endParaRPr>
          </a:p>
        </p:txBody>
      </p:sp>
      <p:sp>
        <p:nvSpPr>
          <p:cNvPr id="17" name="年度 2023"/>
          <p:cNvSpPr/>
          <p:nvPr/>
        </p:nvSpPr>
        <p:spPr>
          <a:xfrm>
            <a:off x="3108959" y="4572000"/>
            <a:ext cx="868680" cy="274320"/>
          </a:xfrm>
          <a:prstGeom prst="rect">
            <a:avLst/>
          </a:prstGeom>
          <a:noFill/>
          <a:ln>
            <a:noFill/>
          </a:ln>
        </p:spPr>
        <p:txBody>
          <a:bodyPr wrap="square" lIns="0" tIns="0" rIns="0" bIns="0" rtlCol="0" anchor="t">
            <a:noAutofit/>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2023年度</a:t>
            </a:r>
            <a:endParaRPr lang="ja-JP" altLang="en-US" sz="1200" dirty="0">
              <a:latin typeface="メイリオ"/>
              <a:ea typeface="メイリオ"/>
              <a:cs typeface="メイリオ"/>
            </a:endParaRPr>
          </a:p>
        </p:txBody>
      </p:sp>
      <p:sp>
        <p:nvSpPr>
          <p:cNvPr id="18" name="棒 2024"/>
          <p:cNvSpPr/>
          <p:nvPr/>
        </p:nvSpPr>
        <p:spPr>
          <a:xfrm>
            <a:off x="4128515" y="2715441"/>
            <a:ext cx="566928" cy="1810838"/>
          </a:xfrm>
          <a:prstGeom prst="rect">
            <a:avLst/>
          </a:prstGeom>
          <a:solidFill>
            <a:srgbClr val="002060"/>
          </a:solidFill>
          <a:ln>
            <a:noFill/>
          </a:ln>
        </p:spPr>
        <p:txBody>
          <a:bodyPr wrap="square" lIns="73152" tIns="36576" rIns="73152" bIns="36576" rtlCol="0" anchor="ctr">
            <a:noAutofit/>
          </a:bodyPr>
          <a:lstStyle/>
          <a:p>
            <a:pPr algn="l">
              <a:buNone/>
            </a:pPr>
            <a:endParaRPr lang="ja-JP" altLang="en-US" sz="1200" dirty="0">
              <a:latin typeface="メイリオ"/>
              <a:ea typeface="メイリオ"/>
              <a:cs typeface="メイリオ"/>
            </a:endParaRPr>
          </a:p>
        </p:txBody>
      </p:sp>
      <p:sp>
        <p:nvSpPr>
          <p:cNvPr id="19" name="値 2024"/>
          <p:cNvSpPr/>
          <p:nvPr/>
        </p:nvSpPr>
        <p:spPr>
          <a:xfrm>
            <a:off x="3977639" y="2422833"/>
            <a:ext cx="868680" cy="274320"/>
          </a:xfrm>
          <a:prstGeom prst="rect">
            <a:avLst/>
          </a:prstGeom>
          <a:noFill/>
          <a:ln>
            <a:noFill/>
          </a:ln>
        </p:spPr>
        <p:txBody>
          <a:bodyPr wrap="square" lIns="0" tIns="0" rIns="0" bIns="0" rtlCol="0" anchor="b">
            <a:noAutofit/>
          </a:bodyPr>
          <a:lstStyle/>
          <a:p>
            <a:pPr algn="ctr">
              <a:buNone/>
            </a:pPr>
            <a:r>
              <a:rPr lang="ja-JP" altLang="en-US" sz="1200" b="1" dirty="0">
                <a:solidFill>
                  <a:srgbClr val="002060"/>
                </a:solidFill>
                <a:latin typeface="メイリオ" panose="020B0604030504040204" pitchFamily="50" charset="-128"/>
                <a:ea typeface="メイリオ" panose="020B0604030504040204" pitchFamily="50" charset="-128"/>
                <a:cs typeface="メイリオ"/>
              </a:rPr>
              <a:t>241,507</a:t>
            </a:r>
            <a:endParaRPr lang="ja-JP" altLang="en-US" sz="1200" dirty="0">
              <a:latin typeface="メイリオ"/>
              <a:ea typeface="メイリオ"/>
              <a:cs typeface="メイリオ"/>
            </a:endParaRPr>
          </a:p>
        </p:txBody>
      </p:sp>
      <p:sp>
        <p:nvSpPr>
          <p:cNvPr id="20" name="年度 2024"/>
          <p:cNvSpPr/>
          <p:nvPr/>
        </p:nvSpPr>
        <p:spPr>
          <a:xfrm>
            <a:off x="3977639" y="4572000"/>
            <a:ext cx="868680" cy="274320"/>
          </a:xfrm>
          <a:prstGeom prst="rect">
            <a:avLst/>
          </a:prstGeom>
          <a:noFill/>
          <a:ln>
            <a:noFill/>
          </a:ln>
        </p:spPr>
        <p:txBody>
          <a:bodyPr wrap="square" lIns="0" tIns="0" rIns="0" bIns="0" rtlCol="0" anchor="t">
            <a:noAutofit/>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2024年度</a:t>
            </a:r>
            <a:endParaRPr lang="ja-JP" altLang="en-US" sz="1200" dirty="0">
              <a:latin typeface="メイリオ"/>
              <a:ea typeface="メイリオ"/>
              <a:cs typeface="メイリオ"/>
            </a:endParaRPr>
          </a:p>
        </p:txBody>
      </p:sp>
      <p:sp>
        <p:nvSpPr>
          <p:cNvPr id="21" name="基線"/>
          <p:cNvSpPr/>
          <p:nvPr/>
        </p:nvSpPr>
        <p:spPr>
          <a:xfrm>
            <a:off x="502920" y="4526280"/>
            <a:ext cx="4343400" cy="9144"/>
          </a:xfrm>
          <a:prstGeom prst="rect">
            <a:avLst/>
          </a:prstGeom>
          <a:solidFill>
            <a:srgbClr val="7F7F7F"/>
          </a:solidFill>
          <a:ln>
            <a:noFill/>
          </a:ln>
        </p:spPr>
        <p:txBody>
          <a:bodyPr wrap="square" lIns="73152" tIns="36576" rIns="73152" bIns="36576" rtlCol="0" anchor="ctr">
            <a:noAutofit/>
          </a:bodyPr>
          <a:lstStyle/>
          <a:p>
            <a:pPr algn="l">
              <a:buNone/>
            </a:pPr>
            <a:endParaRPr lang="ja-JP" altLang="en-US" sz="1200" dirty="0">
              <a:latin typeface="メイリオ"/>
              <a:ea typeface="メイリオ"/>
              <a:cs typeface="メイリオ"/>
            </a:endParaRPr>
          </a:p>
        </p:txBody>
      </p:sp>
      <p:sp>
        <p:nvSpPr>
          <p:cNvPr id="22" name="棒の示唆"/>
          <p:cNvSpPr/>
          <p:nvPr/>
        </p:nvSpPr>
        <p:spPr>
          <a:xfrm>
            <a:off x="502920" y="4937760"/>
            <a:ext cx="4343400" cy="365760"/>
          </a:xfrm>
          <a:prstGeom prst="rect">
            <a:avLst/>
          </a:prstGeom>
          <a:noFill/>
          <a:ln>
            <a:noFill/>
          </a:ln>
        </p:spPr>
        <p:txBody>
          <a:bodyPr wrap="square" lIns="0" tIns="0" rIns="0" bIns="0" rtlCol="0" anchor="ctr">
            <a:noAutofit/>
          </a:bodyPr>
          <a:lstStyle/>
          <a:p>
            <a:pPr algn="ctr">
              <a:buNone/>
            </a:pPr>
            <a:r>
              <a:rPr lang="ja-JP" altLang="en-US" sz="1500" b="1" dirty="0">
                <a:solidFill>
                  <a:srgbClr val="002060"/>
                </a:solidFill>
                <a:latin typeface="メイリオ" panose="020B0604030504040204" pitchFamily="50" charset="-128"/>
                <a:ea typeface="メイリオ" panose="020B0604030504040204" pitchFamily="50" charset="-128"/>
                <a:cs typeface="メイリオ"/>
              </a:rPr>
              <a:t>約24万人で横ばい</a:t>
            </a:r>
            <a:endParaRPr lang="ja-JP" altLang="en-US" sz="1200" dirty="0">
              <a:latin typeface="メイリオ"/>
              <a:ea typeface="メイリオ"/>
              <a:cs typeface="メイリオ"/>
            </a:endParaRPr>
          </a:p>
        </p:txBody>
      </p:sp>
      <p:sp>
        <p:nvSpPr>
          <p:cNvPr id="23" name="見出し 保険の加入経路"/>
          <p:cNvSpPr/>
          <p:nvPr/>
        </p:nvSpPr>
        <p:spPr>
          <a:xfrm>
            <a:off x="5074920" y="1600200"/>
            <a:ext cx="4325112" cy="411480"/>
          </a:xfrm>
          <a:prstGeom prst="rect">
            <a:avLst/>
          </a:prstGeom>
          <a:solidFill>
            <a:srgbClr val="002060"/>
          </a:solidFill>
          <a:ln>
            <a:noFill/>
          </a:ln>
        </p:spPr>
        <p:txBody>
          <a:bodyPr wrap="square" lIns="73152" tIns="36576" rIns="73152" bIns="36576" rtlCol="0" anchor="ctr">
            <a:noAutofit/>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保険の加入経路</a:t>
            </a:r>
            <a:endParaRPr lang="ja-JP" altLang="en-US" sz="1200" dirty="0">
              <a:latin typeface="メイリオ"/>
              <a:ea typeface="メイリオ"/>
              <a:cs typeface="メイリオ"/>
            </a:endParaRPr>
          </a:p>
        </p:txBody>
      </p:sp>
      <p:sp>
        <p:nvSpPr>
          <p:cNvPr id="24" name="数字 56.7%"/>
          <p:cNvSpPr/>
          <p:nvPr/>
        </p:nvSpPr>
        <p:spPr>
          <a:xfrm>
            <a:off x="5074920" y="2057400"/>
            <a:ext cx="1600200" cy="1143000"/>
          </a:xfrm>
          <a:prstGeom prst="rect">
            <a:avLst/>
          </a:prstGeom>
          <a:noFill/>
          <a:ln>
            <a:noFill/>
          </a:ln>
        </p:spPr>
        <p:txBody>
          <a:bodyPr wrap="square" lIns="0" tIns="0" rIns="0" bIns="0" rtlCol="0" anchor="ctr">
            <a:noAutofit/>
          </a:bodyPr>
          <a:lstStyle/>
          <a:p>
            <a:pPr algn="ctr">
              <a:buNone/>
            </a:pPr>
            <a:r>
              <a:rPr lang="ja-JP" altLang="en-US" sz="3200" b="1" dirty="0">
                <a:solidFill>
                  <a:srgbClr val="002060"/>
                </a:solidFill>
                <a:latin typeface="メイリオ" panose="020B0604030504040204" pitchFamily="50" charset="-128"/>
                <a:ea typeface="メイリオ" panose="020B0604030504040204" pitchFamily="50" charset="-128"/>
                <a:cs typeface="メイリオ"/>
              </a:rPr>
              <a:t>56.7%</a:t>
            </a:r>
            <a:endParaRPr lang="ja-JP" altLang="en-US" sz="1200" dirty="0">
              <a:latin typeface="メイリオ"/>
              <a:ea typeface="メイリオ"/>
              <a:cs typeface="メイリオ"/>
            </a:endParaRPr>
          </a:p>
        </p:txBody>
      </p:sp>
      <p:sp>
        <p:nvSpPr>
          <p:cNvPr id="25" name="説明 56.7%"/>
          <p:cNvSpPr/>
          <p:nvPr/>
        </p:nvSpPr>
        <p:spPr>
          <a:xfrm>
            <a:off x="6675120" y="2057400"/>
            <a:ext cx="2724912" cy="1143000"/>
          </a:xfrm>
          <a:prstGeom prst="rect">
            <a:avLst/>
          </a:prstGeom>
          <a:noFill/>
          <a:ln>
            <a:noFill/>
          </a:ln>
        </p:spPr>
        <p:txBody>
          <a:bodyPr wrap="square" lIns="45720" tIns="0" rIns="0" bIns="0" rtlCol="0" anchor="ctr">
            <a:noAutofit/>
          </a:bodyPr>
          <a:lstStyle/>
          <a:p>
            <a:pPr algn="l">
              <a:lnSpc>
                <a:spcPct val="125000"/>
              </a:lnSpc>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生命保険の加入経路のうち</a:t>
            </a:r>
            <a:endParaRPr lang="ja-JP" altLang="en-US" sz="1200" dirty="0">
              <a:latin typeface="メイリオ"/>
              <a:ea typeface="メイリオ"/>
              <a:cs typeface="メイリオ"/>
            </a:endParaRPr>
          </a:p>
          <a:p>
            <a:pPr algn="l">
              <a:lnSpc>
                <a:spcPct val="125000"/>
              </a:lnSpc>
              <a:buNone/>
            </a:pPr>
            <a:r>
              <a:rPr lang="ja-JP" altLang="en-US" sz="1300" b="1" dirty="0">
                <a:solidFill>
                  <a:srgbClr val="002060"/>
                </a:solidFill>
                <a:latin typeface="メイリオ" panose="020B0604030504040204" pitchFamily="50" charset="-128"/>
                <a:ea typeface="メイリオ" panose="020B0604030504040204" pitchFamily="50" charset="-128"/>
                <a:cs typeface="メイリオ"/>
              </a:rPr>
              <a:t>「生命保険会社の営業職員」</a:t>
            </a:r>
            <a:endParaRPr lang="ja-JP" altLang="en-US" sz="1200" dirty="0">
              <a:latin typeface="メイリオ"/>
              <a:ea typeface="メイリオ"/>
              <a:cs typeface="メイリオ"/>
            </a:endParaRPr>
          </a:p>
          <a:p>
            <a:pPr algn="l">
              <a:lnSpc>
                <a:spcPct val="125000"/>
              </a:lnSpc>
              <a:buNone/>
            </a:pPr>
            <a:r>
              <a:rPr lang="ja-JP" altLang="en-US" sz="1200" b="0" dirty="0">
                <a:solidFill>
                  <a:srgbClr val="7F7F7F"/>
                </a:solidFill>
                <a:latin typeface="メイリオ" panose="020B0604030504040204" pitchFamily="50" charset="-128"/>
                <a:ea typeface="メイリオ" panose="020B0604030504040204" pitchFamily="50" charset="-128"/>
                <a:cs typeface="メイリオ"/>
              </a:rPr>
              <a:t>（2024年調査）</a:t>
            </a:r>
            <a:endParaRPr lang="ja-JP" altLang="en-US" sz="1200" dirty="0">
              <a:latin typeface="メイリオ"/>
              <a:ea typeface="メイリオ"/>
              <a:cs typeface="メイリオ"/>
            </a:endParaRPr>
          </a:p>
        </p:txBody>
      </p:sp>
      <p:sp>
        <p:nvSpPr>
          <p:cNvPr id="26" name="見出し お客様との接触回数"/>
          <p:cNvSpPr/>
          <p:nvPr/>
        </p:nvSpPr>
        <p:spPr>
          <a:xfrm>
            <a:off x="5074920" y="3429000"/>
            <a:ext cx="4325112" cy="411480"/>
          </a:xfrm>
          <a:prstGeom prst="rect">
            <a:avLst/>
          </a:prstGeom>
          <a:solidFill>
            <a:srgbClr val="002060"/>
          </a:solidFill>
          <a:ln>
            <a:noFill/>
          </a:ln>
        </p:spPr>
        <p:txBody>
          <a:bodyPr wrap="square" lIns="73152" tIns="36576" rIns="73152" bIns="36576" rtlCol="0" anchor="ctr">
            <a:noAutofit/>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お客様との接触回数</a:t>
            </a:r>
            <a:endParaRPr lang="ja-JP" altLang="en-US" sz="1200" dirty="0">
              <a:latin typeface="メイリオ"/>
              <a:ea typeface="メイリオ"/>
              <a:cs typeface="メイリオ"/>
            </a:endParaRPr>
          </a:p>
        </p:txBody>
      </p:sp>
      <p:sp>
        <p:nvSpPr>
          <p:cNvPr id="27" name="数字 55.5%"/>
          <p:cNvSpPr/>
          <p:nvPr/>
        </p:nvSpPr>
        <p:spPr>
          <a:xfrm>
            <a:off x="5074920" y="3886200"/>
            <a:ext cx="1600200" cy="1417319"/>
          </a:xfrm>
          <a:prstGeom prst="rect">
            <a:avLst/>
          </a:prstGeom>
          <a:noFill/>
          <a:ln>
            <a:noFill/>
          </a:ln>
        </p:spPr>
        <p:txBody>
          <a:bodyPr wrap="square" lIns="0" tIns="0" rIns="0" bIns="0" rtlCol="0" anchor="ctr">
            <a:noAutofit/>
          </a:bodyPr>
          <a:lstStyle/>
          <a:p>
            <a:pPr algn="ctr">
              <a:buNone/>
            </a:pPr>
            <a:r>
              <a:rPr lang="ja-JP" altLang="en-US" sz="3200" b="1" dirty="0">
                <a:solidFill>
                  <a:srgbClr val="002060"/>
                </a:solidFill>
                <a:latin typeface="メイリオ" panose="020B0604030504040204" pitchFamily="50" charset="-128"/>
                <a:ea typeface="メイリオ" panose="020B0604030504040204" pitchFamily="50" charset="-128"/>
                <a:cs typeface="メイリオ"/>
              </a:rPr>
              <a:t>55.5%</a:t>
            </a:r>
            <a:endParaRPr lang="ja-JP" altLang="en-US" sz="1200" dirty="0">
              <a:latin typeface="メイリオ"/>
              <a:ea typeface="メイリオ"/>
              <a:cs typeface="メイリオ"/>
            </a:endParaRPr>
          </a:p>
        </p:txBody>
      </p:sp>
      <p:sp>
        <p:nvSpPr>
          <p:cNvPr id="28" name="説明 55.5%"/>
          <p:cNvSpPr/>
          <p:nvPr/>
        </p:nvSpPr>
        <p:spPr>
          <a:xfrm>
            <a:off x="6675120" y="3886200"/>
            <a:ext cx="2724912" cy="1417319"/>
          </a:xfrm>
          <a:prstGeom prst="rect">
            <a:avLst/>
          </a:prstGeom>
          <a:noFill/>
          <a:ln>
            <a:noFill/>
          </a:ln>
        </p:spPr>
        <p:txBody>
          <a:bodyPr wrap="square" lIns="45720" tIns="0" rIns="0" bIns="0" rtlCol="0" anchor="ctr">
            <a:noAutofit/>
          </a:bodyPr>
          <a:lstStyle/>
          <a:p>
            <a:pPr algn="l">
              <a:lnSpc>
                <a:spcPct val="125000"/>
              </a:lnSpc>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コロナ前と比べ、お客様との</a:t>
            </a:r>
            <a:endParaRPr lang="ja-JP" altLang="en-US" sz="1200" dirty="0">
              <a:latin typeface="メイリオ"/>
              <a:ea typeface="メイリオ"/>
              <a:cs typeface="メイリオ"/>
            </a:endParaRPr>
          </a:p>
          <a:p>
            <a:pPr algn="l">
              <a:lnSpc>
                <a:spcPct val="125000"/>
              </a:lnSpc>
              <a:buNone/>
            </a:pPr>
            <a:r>
              <a:rPr lang="ja-JP" altLang="en-US" sz="1300" b="1" dirty="0">
                <a:solidFill>
                  <a:srgbClr val="002060"/>
                </a:solidFill>
                <a:latin typeface="メイリオ" panose="020B0604030504040204" pitchFamily="50" charset="-128"/>
                <a:ea typeface="メイリオ" panose="020B0604030504040204" pitchFamily="50" charset="-128"/>
                <a:cs typeface="メイリオ"/>
              </a:rPr>
              <a:t>接触回数が「減少した」営業職員</a:t>
            </a:r>
            <a:endParaRPr lang="ja-JP" altLang="en-US" sz="1200" dirty="0">
              <a:latin typeface="メイリオ"/>
              <a:ea typeface="メイリオ"/>
              <a:cs typeface="メイリオ"/>
            </a:endParaRPr>
          </a:p>
          <a:p>
            <a:pPr algn="l">
              <a:lnSpc>
                <a:spcPct val="125000"/>
              </a:lnSpc>
              <a:buNone/>
            </a:pPr>
            <a:r>
              <a:rPr lang="ja-JP" altLang="en-US" sz="1200" b="0" dirty="0">
                <a:solidFill>
                  <a:srgbClr val="7F7F7F"/>
                </a:solidFill>
                <a:latin typeface="メイリオ" panose="020B0604030504040204" pitchFamily="50" charset="-128"/>
                <a:ea typeface="メイリオ" panose="020B0604030504040204" pitchFamily="50" charset="-128"/>
                <a:cs typeface="メイリオ"/>
              </a:rPr>
              <a:t>（2023年調査）</a:t>
            </a:r>
            <a:endParaRPr lang="ja-JP" altLang="en-US" sz="1200" dirty="0">
              <a:latin typeface="メイリオ"/>
              <a:ea typeface="メイリオ"/>
              <a:cs typeface="メイリオ"/>
            </a:endParaRPr>
          </a:p>
        </p:txBody>
      </p:sp>
      <p:sp>
        <p:nvSpPr>
          <p:cNvPr id="29" name="示唆"/>
          <p:cNvSpPr/>
          <p:nvPr/>
        </p:nvSpPr>
        <p:spPr>
          <a:xfrm>
            <a:off x="502920" y="5440680"/>
            <a:ext cx="8897112" cy="457200"/>
          </a:xfrm>
          <a:prstGeom prst="rect">
            <a:avLst/>
          </a:prstGeom>
          <a:solidFill>
            <a:srgbClr val="F2F2F2"/>
          </a:solidFill>
          <a:ln>
            <a:noFill/>
          </a:ln>
        </p:spPr>
        <p:txBody>
          <a:bodyPr wrap="square" lIns="73152" tIns="36576" rIns="73152" bIns="36576" rtlCol="0" anchor="ctr">
            <a:noAutofit/>
          </a:bodyPr>
          <a:lstStyle/>
          <a:p>
            <a:pPr algn="ctr">
              <a:buNone/>
            </a:pPr>
            <a:r>
              <a:rPr lang="ja-JP" altLang="en-US" sz="1500" b="1" dirty="0">
                <a:solidFill>
                  <a:srgbClr val="002060"/>
                </a:solidFill>
                <a:latin typeface="メイリオ" panose="020B0604030504040204" pitchFamily="50" charset="-128"/>
                <a:ea typeface="メイリオ" panose="020B0604030504040204" pitchFamily="50" charset="-128"/>
                <a:cs typeface="メイリオ"/>
              </a:rPr>
              <a:t>会える回数が減る中で、成果を出す営業のやり方が求められている</a:t>
            </a:r>
            <a:endParaRPr lang="ja-JP" altLang="en-US" sz="1200" dirty="0">
              <a:latin typeface="メイリオ"/>
              <a:ea typeface="メイリオ"/>
              <a:cs typeface="メイリオ"/>
            </a:endParaRPr>
          </a:p>
        </p:txBody>
      </p:sp>
      <p:sp>
        <p:nvSpPr>
          <p:cNvPr id="30" name="注記"/>
          <p:cNvSpPr/>
          <p:nvPr/>
        </p:nvSpPr>
        <p:spPr>
          <a:xfrm>
            <a:off x="502920" y="5961888"/>
            <a:ext cx="8897112" cy="13716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※営業職員数：生命保険協会「2025年版 生命保険の動向」（加盟会社の年度末登録営業職員数）</a:t>
            </a:r>
            <a:endParaRPr lang="ja-JP" altLang="en-US" sz="1200" dirty="0">
              <a:latin typeface="メイリオ"/>
              <a:ea typeface="メイリオ"/>
              <a:cs typeface="メイリオ"/>
            </a:endParaRPr>
          </a:p>
        </p:txBody>
      </p:sp>
      <p:sp>
        <p:nvSpPr>
          <p:cNvPr id="31" name="注記"/>
          <p:cNvSpPr/>
          <p:nvPr/>
        </p:nvSpPr>
        <p:spPr>
          <a:xfrm>
            <a:off x="502920" y="6099048"/>
            <a:ext cx="8897112" cy="13716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※加入経路：生命保険文化センター「2024（令和6）年度 生命保険に関する全国実態調査」（直近の加入が2019年以降の世帯）</a:t>
            </a:r>
            <a:endParaRPr lang="ja-JP" altLang="en-US" sz="1200" dirty="0">
              <a:latin typeface="メイリオ"/>
              <a:ea typeface="メイリオ"/>
              <a:cs typeface="メイリオ"/>
            </a:endParaRPr>
          </a:p>
        </p:txBody>
      </p:sp>
      <p:sp>
        <p:nvSpPr>
          <p:cNvPr id="32" name="注記"/>
          <p:cNvSpPr/>
          <p:nvPr/>
        </p:nvSpPr>
        <p:spPr>
          <a:xfrm>
            <a:off x="502920" y="6236207"/>
            <a:ext cx="8897112" cy="13716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※接触回数：矢野経済研究所「生命保険の営業職員アンケート調査」（2023年4〜6月、生命保険の営業職員400名）</a:t>
            </a:r>
            <a:endParaRPr lang="ja-JP" altLang="en-US" sz="1200" dirty="0">
              <a:latin typeface="メイリオ"/>
              <a:ea typeface="メイリオ"/>
              <a:cs typeface="メイリオ"/>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現状と課題</a:t>
            </a:r>
          </a:p>
        </p:txBody>
      </p:sp>
      <p:sp>
        <p:nvSpPr>
          <p:cNvPr id="3" name="正方形/長方形 8"/>
          <p:cNvSpPr/>
          <p:nvPr/>
        </p:nvSpPr>
        <p:spPr>
          <a:xfrm>
            <a:off x="0" y="777240"/>
            <a:ext cx="210312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現状</a:t>
            </a:r>
          </a:p>
        </p:txBody>
      </p:sp>
      <p:sp>
        <p:nvSpPr>
          <p:cNvPr id="4" name="Google Shape;752;p28"/>
          <p:cNvSpPr txBox="1"/>
          <p:nvPr/>
        </p:nvSpPr>
        <p:spPr>
          <a:xfrm>
            <a:off x="2286000" y="736333"/>
            <a:ext cx="7406640" cy="584735"/>
          </a:xfrm>
          <a:prstGeom prst="rect">
            <a:avLst/>
          </a:prstGeom>
          <a:noFill/>
          <a:ln>
            <a:noFill/>
          </a:ln>
        </p:spPr>
        <p:txBody>
          <a:bodyPr spcFirstLastPara="1" wrap="square" lIns="91425" tIns="45700" rIns="91425" bIns="45700" anchor="ctr" anchorCtr="0">
            <a:spAutoFit/>
          </a:bodyPr>
          <a:lstStyle/>
          <a:p>
            <a:r>
              <a:rPr lang="en-US" altLang="ja-JP" sz="1600" b="1" dirty="0" err="1">
                <a:latin typeface="メイリオ" panose="020B0604030504040204" pitchFamily="50" charset="-128"/>
                <a:ea typeface="メイリオ" panose="020B0604030504040204" pitchFamily="50" charset="-128"/>
                <a:cs typeface="メイリオ"/>
                <a:sym typeface="Meiryo"/>
              </a:rPr>
              <a:t>イベントの後、離れた方・未入会の方とのつながりが切れる</a:t>
            </a:r>
            <a:br>
              <a:rPr lang="en-US" altLang="ja-JP" sz="1600" b="1" dirty="0">
                <a:latin typeface="メイリオ" panose="020B0604030504040204" pitchFamily="50" charset="-128"/>
                <a:ea typeface="メイリオ" panose="020B0604030504040204" pitchFamily="50" charset="-128"/>
                <a:cs typeface="メイリオ"/>
                <a:sym typeface="Meiryo"/>
              </a:rPr>
            </a:br>
            <a:r>
              <a:rPr lang="ja-JP" altLang="en-US" sz="1600" b="1" dirty="0">
                <a:latin typeface="メイリオ" panose="020B0604030504040204" pitchFamily="50" charset="-128"/>
                <a:ea typeface="メイリオ" panose="020B0604030504040204" pitchFamily="50" charset="-128"/>
                <a:cs typeface="メイリオ"/>
                <a:sym typeface="Meiryo"/>
              </a:rPr>
              <a:t>サロン入会者とはつながりが持てる</a:t>
            </a:r>
            <a:endParaRPr lang="en-US" altLang="ja-JP" sz="1600" b="1" dirty="0">
              <a:latin typeface="メイリオ" panose="020B0604030504040204" pitchFamily="50" charset="-128"/>
              <a:ea typeface="メイリオ" panose="020B0604030504040204" pitchFamily="50" charset="-128"/>
              <a:cs typeface="メイリオ"/>
              <a:sym typeface="Meiryo"/>
            </a:endParaRPr>
          </a:p>
        </p:txBody>
      </p:sp>
      <p:sp>
        <p:nvSpPr>
          <p:cNvPr id="5" name="流れ1"/>
          <p:cNvSpPr/>
          <p:nvPr/>
        </p:nvSpPr>
        <p:spPr>
          <a:xfrm>
            <a:off x="502920" y="2141067"/>
            <a:ext cx="1530705" cy="685800"/>
          </a:xfrm>
          <a:prstGeom prst="rect">
            <a:avLst/>
          </a:prstGeom>
          <a:solidFill>
            <a:srgbClr val="DCE6F2"/>
          </a:solidFill>
          <a:ln>
            <a:noFill/>
          </a:ln>
        </p:spPr>
        <p:txBody>
          <a:bodyPr wrap="square" lIns="54864" tIns="36576" rIns="54864" bIns="36576" rtlCol="0" anchor="ctr">
            <a:noAutofit/>
          </a:bodyPr>
          <a:lstStyle/>
          <a:p>
            <a:pPr algn="ctr">
              <a:lnSpc>
                <a:spcPct val="115000"/>
              </a:lnSpc>
              <a:buNone/>
            </a:pPr>
            <a:r>
              <a:rPr lang="ja-JP" altLang="en-US" sz="1500" b="1" dirty="0">
                <a:solidFill>
                  <a:srgbClr val="002060"/>
                </a:solidFill>
                <a:latin typeface="メイリオ" panose="020B0604030504040204" pitchFamily="50" charset="-128"/>
                <a:ea typeface="メイリオ" panose="020B0604030504040204" pitchFamily="50" charset="-128"/>
                <a:cs typeface="メイリオ"/>
              </a:rPr>
              <a:t>広告</a:t>
            </a:r>
            <a:endParaRPr lang="ja-JP" altLang="en-US" sz="1200" dirty="0">
              <a:latin typeface="メイリオ"/>
              <a:ea typeface="メイリオ"/>
              <a:cs typeface="メイリオ"/>
            </a:endParaRPr>
          </a:p>
        </p:txBody>
      </p:sp>
      <p:sp>
        <p:nvSpPr>
          <p:cNvPr id="6" name="矢印"/>
          <p:cNvSpPr/>
          <p:nvPr/>
        </p:nvSpPr>
        <p:spPr>
          <a:xfrm>
            <a:off x="2033625" y="2141067"/>
            <a:ext cx="310896" cy="685800"/>
          </a:xfrm>
          <a:prstGeom prst="rect">
            <a:avLst/>
          </a:prstGeom>
          <a:noFill/>
          <a:ln>
            <a:noFill/>
          </a:ln>
        </p:spPr>
        <p:txBody>
          <a:bodyPr wrap="square" lIns="0" tIns="0" rIns="0" bIns="0" rtlCol="0" anchor="ctr">
            <a:noAutofit/>
          </a:bodyPr>
          <a:lstStyle/>
          <a:p>
            <a:pPr algn="ctr">
              <a:buNone/>
            </a:pPr>
            <a:r>
              <a:rPr lang="ja-JP" altLang="en-US" sz="1400" b="0" dirty="0">
                <a:solidFill>
                  <a:srgbClr val="002060"/>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p:txBody>
      </p:sp>
      <p:sp>
        <p:nvSpPr>
          <p:cNvPr id="7" name="流れ2"/>
          <p:cNvSpPr/>
          <p:nvPr/>
        </p:nvSpPr>
        <p:spPr>
          <a:xfrm>
            <a:off x="2344521" y="2141067"/>
            <a:ext cx="1530705" cy="685800"/>
          </a:xfrm>
          <a:prstGeom prst="rect">
            <a:avLst/>
          </a:prstGeom>
          <a:solidFill>
            <a:srgbClr val="DCE6F2"/>
          </a:solidFill>
          <a:ln>
            <a:noFill/>
          </a:ln>
        </p:spPr>
        <p:txBody>
          <a:bodyPr wrap="square" lIns="54864" tIns="36576" rIns="54864" bIns="36576" rtlCol="0" anchor="ctr">
            <a:noAutofit/>
          </a:bodyPr>
          <a:lstStyle/>
          <a:p>
            <a:pPr algn="ctr">
              <a:lnSpc>
                <a:spcPct val="115000"/>
              </a:lnSpc>
              <a:buNone/>
            </a:pPr>
            <a:r>
              <a:rPr lang="ja-JP" altLang="en-US" sz="1500" b="1" dirty="0">
                <a:solidFill>
                  <a:srgbClr val="002060"/>
                </a:solidFill>
                <a:latin typeface="メイリオ" panose="020B0604030504040204" pitchFamily="50" charset="-128"/>
                <a:ea typeface="メイリオ" panose="020B0604030504040204" pitchFamily="50" charset="-128"/>
                <a:cs typeface="メイリオ"/>
              </a:rPr>
              <a:t>LP</a:t>
            </a:r>
            <a:endParaRPr lang="ja-JP" altLang="en-US" sz="1200" dirty="0">
              <a:latin typeface="メイリオ"/>
              <a:ea typeface="メイリオ"/>
              <a:cs typeface="メイリオ"/>
            </a:endParaRPr>
          </a:p>
        </p:txBody>
      </p:sp>
      <p:sp>
        <p:nvSpPr>
          <p:cNvPr id="8" name="矢印"/>
          <p:cNvSpPr/>
          <p:nvPr/>
        </p:nvSpPr>
        <p:spPr>
          <a:xfrm>
            <a:off x="3875227" y="2141067"/>
            <a:ext cx="310896" cy="685800"/>
          </a:xfrm>
          <a:prstGeom prst="rect">
            <a:avLst/>
          </a:prstGeom>
          <a:noFill/>
          <a:ln>
            <a:noFill/>
          </a:ln>
        </p:spPr>
        <p:txBody>
          <a:bodyPr wrap="square" lIns="0" tIns="0" rIns="0" bIns="0" rtlCol="0" anchor="ctr">
            <a:noAutofit/>
          </a:bodyPr>
          <a:lstStyle/>
          <a:p>
            <a:pPr algn="ctr">
              <a:buNone/>
            </a:pPr>
            <a:r>
              <a:rPr lang="ja-JP" altLang="en-US" sz="1400" b="0" dirty="0">
                <a:solidFill>
                  <a:srgbClr val="002060"/>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p:txBody>
      </p:sp>
      <p:sp>
        <p:nvSpPr>
          <p:cNvPr id="9" name="流れ3"/>
          <p:cNvSpPr/>
          <p:nvPr/>
        </p:nvSpPr>
        <p:spPr>
          <a:xfrm>
            <a:off x="4186123" y="2141067"/>
            <a:ext cx="1530705" cy="685800"/>
          </a:xfrm>
          <a:prstGeom prst="rect">
            <a:avLst/>
          </a:prstGeom>
          <a:solidFill>
            <a:srgbClr val="DCE6F2"/>
          </a:solidFill>
          <a:ln>
            <a:noFill/>
          </a:ln>
        </p:spPr>
        <p:txBody>
          <a:bodyPr wrap="square" lIns="54864" tIns="36576" rIns="54864" bIns="36576" rtlCol="0" anchor="ctr">
            <a:noAutofit/>
          </a:bodyPr>
          <a:lstStyle/>
          <a:p>
            <a:pPr algn="ctr">
              <a:lnSpc>
                <a:spcPct val="115000"/>
              </a:lnSpc>
              <a:buNone/>
            </a:pPr>
            <a:r>
              <a:rPr lang="ja-JP" altLang="en-US" sz="1500" b="1" dirty="0">
                <a:solidFill>
                  <a:srgbClr val="002060"/>
                </a:solidFill>
                <a:latin typeface="メイリオ" panose="020B0604030504040204" pitchFamily="50" charset="-128"/>
                <a:ea typeface="メイリオ" panose="020B0604030504040204" pitchFamily="50" charset="-128"/>
                <a:cs typeface="メイリオ"/>
              </a:rPr>
              <a:t>予約</a:t>
            </a:r>
            <a:endParaRPr lang="ja-JP" altLang="en-US" sz="1200" dirty="0">
              <a:latin typeface="メイリオ"/>
              <a:ea typeface="メイリオ"/>
              <a:cs typeface="メイリオ"/>
            </a:endParaRPr>
          </a:p>
        </p:txBody>
      </p:sp>
      <p:sp>
        <p:nvSpPr>
          <p:cNvPr id="10" name="矢印"/>
          <p:cNvSpPr/>
          <p:nvPr/>
        </p:nvSpPr>
        <p:spPr>
          <a:xfrm>
            <a:off x="5716828" y="2141067"/>
            <a:ext cx="310896" cy="685800"/>
          </a:xfrm>
          <a:prstGeom prst="rect">
            <a:avLst/>
          </a:prstGeom>
          <a:noFill/>
          <a:ln>
            <a:noFill/>
          </a:ln>
        </p:spPr>
        <p:txBody>
          <a:bodyPr wrap="square" lIns="0" tIns="0" rIns="0" bIns="0" rtlCol="0" anchor="ctr">
            <a:noAutofit/>
          </a:bodyPr>
          <a:lstStyle/>
          <a:p>
            <a:pPr algn="ctr">
              <a:buNone/>
            </a:pPr>
            <a:r>
              <a:rPr lang="ja-JP" altLang="en-US" sz="1400" b="0" dirty="0">
                <a:solidFill>
                  <a:srgbClr val="002060"/>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p:txBody>
      </p:sp>
      <p:sp>
        <p:nvSpPr>
          <p:cNvPr id="11" name="流れ4"/>
          <p:cNvSpPr/>
          <p:nvPr/>
        </p:nvSpPr>
        <p:spPr>
          <a:xfrm>
            <a:off x="6027724" y="2141067"/>
            <a:ext cx="1530705" cy="685800"/>
          </a:xfrm>
          <a:prstGeom prst="rect">
            <a:avLst/>
          </a:prstGeom>
          <a:solidFill>
            <a:srgbClr val="DCE6F2"/>
          </a:solidFill>
          <a:ln>
            <a:noFill/>
          </a:ln>
        </p:spPr>
        <p:txBody>
          <a:bodyPr wrap="square" lIns="54864" tIns="36576" rIns="54864" bIns="36576" rtlCol="0" anchor="ctr">
            <a:noAutofit/>
          </a:bodyPr>
          <a:lstStyle/>
          <a:p>
            <a:pPr algn="ctr">
              <a:lnSpc>
                <a:spcPct val="115000"/>
              </a:lnSpc>
              <a:buNone/>
            </a:pPr>
            <a:r>
              <a:rPr lang="ja-JP" altLang="en-US" sz="1500" b="1" dirty="0">
                <a:solidFill>
                  <a:srgbClr val="002060"/>
                </a:solidFill>
                <a:latin typeface="メイリオ" panose="020B0604030504040204" pitchFamily="50" charset="-128"/>
                <a:ea typeface="メイリオ" panose="020B0604030504040204" pitchFamily="50" charset="-128"/>
                <a:cs typeface="メイリオ"/>
              </a:rPr>
              <a:t>イベント参加</a:t>
            </a:r>
            <a:endParaRPr lang="ja-JP" altLang="en-US" sz="1200" dirty="0">
              <a:latin typeface="メイリオ"/>
              <a:ea typeface="メイリオ"/>
              <a:cs typeface="メイリオ"/>
            </a:endParaRPr>
          </a:p>
        </p:txBody>
      </p:sp>
      <p:sp>
        <p:nvSpPr>
          <p:cNvPr id="12" name="矢印"/>
          <p:cNvSpPr/>
          <p:nvPr/>
        </p:nvSpPr>
        <p:spPr>
          <a:xfrm>
            <a:off x="7558430" y="2141067"/>
            <a:ext cx="310896" cy="685800"/>
          </a:xfrm>
          <a:prstGeom prst="rect">
            <a:avLst/>
          </a:prstGeom>
          <a:noFill/>
          <a:ln>
            <a:noFill/>
          </a:ln>
        </p:spPr>
        <p:txBody>
          <a:bodyPr wrap="square" lIns="0" tIns="0" rIns="0" bIns="0" rtlCol="0" anchor="ctr">
            <a:noAutofit/>
          </a:bodyPr>
          <a:lstStyle/>
          <a:p>
            <a:pPr algn="ctr">
              <a:buNone/>
            </a:pPr>
            <a:r>
              <a:rPr lang="ja-JP" altLang="en-US" sz="1400" b="0" dirty="0">
                <a:solidFill>
                  <a:srgbClr val="002060"/>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p:txBody>
      </p:sp>
      <p:sp>
        <p:nvSpPr>
          <p:cNvPr id="13" name="流れ5"/>
          <p:cNvSpPr/>
          <p:nvPr/>
        </p:nvSpPr>
        <p:spPr>
          <a:xfrm>
            <a:off x="7869326" y="2141067"/>
            <a:ext cx="1530705" cy="685800"/>
          </a:xfrm>
          <a:prstGeom prst="rect">
            <a:avLst/>
          </a:prstGeom>
          <a:solidFill>
            <a:srgbClr val="002060"/>
          </a:solidFill>
          <a:ln>
            <a:noFill/>
          </a:ln>
        </p:spPr>
        <p:txBody>
          <a:bodyPr wrap="square" lIns="54864" tIns="36576" rIns="54864" bIns="36576" rtlCol="0" anchor="ctr">
            <a:noAutofit/>
          </a:bodyPr>
          <a:lstStyle/>
          <a:p>
            <a:pPr algn="ctr">
              <a:lnSpc>
                <a:spcPct val="115000"/>
              </a:lnSpc>
              <a:buNone/>
            </a:pPr>
            <a:r>
              <a:rPr lang="ja-JP" altLang="en-US" sz="1500" b="1" dirty="0">
                <a:solidFill>
                  <a:srgbClr val="FFFFFF"/>
                </a:solidFill>
                <a:latin typeface="メイリオ" panose="020B0604030504040204" pitchFamily="50" charset="-128"/>
                <a:ea typeface="メイリオ" panose="020B0604030504040204" pitchFamily="50" charset="-128"/>
                <a:cs typeface="メイリオ"/>
              </a:rPr>
              <a:t>サロン入会</a:t>
            </a:r>
            <a:endParaRPr lang="ja-JP" altLang="en-US" sz="1200" dirty="0">
              <a:latin typeface="メイリオ"/>
              <a:ea typeface="メイリオ"/>
              <a:cs typeface="メイリオ"/>
            </a:endParaRPr>
          </a:p>
        </p:txBody>
      </p:sp>
      <p:sp>
        <p:nvSpPr>
          <p:cNvPr id="14" name="矢印下"/>
          <p:cNvSpPr/>
          <p:nvPr/>
        </p:nvSpPr>
        <p:spPr>
          <a:xfrm>
            <a:off x="2926994" y="2872587"/>
            <a:ext cx="365760" cy="274320"/>
          </a:xfrm>
          <a:prstGeom prst="rect">
            <a:avLst/>
          </a:prstGeom>
          <a:noFill/>
          <a:ln>
            <a:noFill/>
          </a:ln>
        </p:spPr>
        <p:txBody>
          <a:bodyPr wrap="square" lIns="0" tIns="0" rIns="0" bIns="0" rtlCol="0" anchor="ctr">
            <a:noAutofit/>
          </a:bodyPr>
          <a:lstStyle/>
          <a:p>
            <a:pPr algn="ctr">
              <a:buNone/>
            </a:pPr>
            <a:r>
              <a:rPr lang="ja-JP" altLang="en-US" sz="1300" b="0" dirty="0">
                <a:solidFill>
                  <a:srgbClr val="C00000"/>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p:txBody>
      </p:sp>
      <p:sp>
        <p:nvSpPr>
          <p:cNvPr id="15" name="切れる1"/>
          <p:cNvSpPr/>
          <p:nvPr/>
        </p:nvSpPr>
        <p:spPr>
          <a:xfrm>
            <a:off x="1418234" y="3174339"/>
            <a:ext cx="3383280" cy="868680"/>
          </a:xfrm>
          <a:prstGeom prst="rect">
            <a:avLst/>
          </a:prstGeom>
          <a:noFill/>
          <a:ln w="9525">
            <a:solidFill>
              <a:srgbClr val="C00000"/>
            </a:solidFill>
          </a:ln>
        </p:spPr>
        <p:txBody>
          <a:bodyPr wrap="square" lIns="73152" tIns="36576" rIns="73152" bIns="36576" rtlCol="0" anchor="ctr">
            <a:noAutofit/>
          </a:bodyPr>
          <a:lstStyle/>
          <a:p>
            <a:pPr algn="ctr">
              <a:lnSpc>
                <a:spcPct val="120000"/>
              </a:lnSpc>
              <a:buNone/>
            </a:pPr>
            <a:r>
              <a:rPr lang="ja-JP" altLang="en-US" sz="1500" b="1" dirty="0">
                <a:solidFill>
                  <a:srgbClr val="C00000"/>
                </a:solidFill>
                <a:latin typeface="メイリオ" panose="020B0604030504040204" pitchFamily="50" charset="-128"/>
                <a:ea typeface="メイリオ" panose="020B0604030504040204" pitchFamily="50" charset="-128"/>
                <a:cs typeface="メイリオ"/>
              </a:rPr>
              <a:t>申し込まずに離れた方</a:t>
            </a:r>
            <a:endParaRPr lang="ja-JP" altLang="en-US" sz="1200" dirty="0">
              <a:latin typeface="メイリオ"/>
              <a:ea typeface="メイリオ"/>
              <a:cs typeface="メイリオ"/>
            </a:endParaRPr>
          </a:p>
          <a:p>
            <a:pPr algn="ctr">
              <a:lnSpc>
                <a:spcPct val="120000"/>
              </a:lnSpc>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次のイベントまで案内する手段が無い</a:t>
            </a:r>
            <a:endParaRPr lang="ja-JP" altLang="en-US" sz="1200" dirty="0">
              <a:latin typeface="メイリオ"/>
              <a:ea typeface="メイリオ"/>
              <a:cs typeface="メイリオ"/>
            </a:endParaRPr>
          </a:p>
        </p:txBody>
      </p:sp>
      <p:sp>
        <p:nvSpPr>
          <p:cNvPr id="16" name="矢印下"/>
          <p:cNvSpPr/>
          <p:nvPr/>
        </p:nvSpPr>
        <p:spPr>
          <a:xfrm>
            <a:off x="6610197" y="2872587"/>
            <a:ext cx="365760" cy="274320"/>
          </a:xfrm>
          <a:prstGeom prst="rect">
            <a:avLst/>
          </a:prstGeom>
          <a:noFill/>
          <a:ln>
            <a:noFill/>
          </a:ln>
        </p:spPr>
        <p:txBody>
          <a:bodyPr wrap="square" lIns="0" tIns="0" rIns="0" bIns="0" rtlCol="0" anchor="ctr">
            <a:noAutofit/>
          </a:bodyPr>
          <a:lstStyle/>
          <a:p>
            <a:pPr algn="ctr">
              <a:buNone/>
            </a:pPr>
            <a:r>
              <a:rPr lang="ja-JP" altLang="en-US" sz="1300" b="0" dirty="0">
                <a:solidFill>
                  <a:srgbClr val="C00000"/>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p:txBody>
      </p:sp>
      <p:sp>
        <p:nvSpPr>
          <p:cNvPr id="17" name="切れる3"/>
          <p:cNvSpPr/>
          <p:nvPr/>
        </p:nvSpPr>
        <p:spPr>
          <a:xfrm>
            <a:off x="5101437" y="3174339"/>
            <a:ext cx="3383280" cy="868680"/>
          </a:xfrm>
          <a:prstGeom prst="rect">
            <a:avLst/>
          </a:prstGeom>
          <a:noFill/>
          <a:ln w="9525">
            <a:solidFill>
              <a:srgbClr val="C00000"/>
            </a:solidFill>
          </a:ln>
        </p:spPr>
        <p:txBody>
          <a:bodyPr wrap="square" lIns="73152" tIns="36576" rIns="73152" bIns="36576" rtlCol="0" anchor="ctr">
            <a:noAutofit/>
          </a:bodyPr>
          <a:lstStyle/>
          <a:p>
            <a:pPr algn="ctr">
              <a:lnSpc>
                <a:spcPct val="120000"/>
              </a:lnSpc>
              <a:buNone/>
            </a:pPr>
            <a:r>
              <a:rPr lang="ja-JP" altLang="en-US" sz="1500" b="1" dirty="0">
                <a:solidFill>
                  <a:srgbClr val="C00000"/>
                </a:solidFill>
                <a:latin typeface="メイリオ" panose="020B0604030504040204" pitchFamily="50" charset="-128"/>
                <a:ea typeface="メイリオ" panose="020B0604030504040204" pitchFamily="50" charset="-128"/>
                <a:cs typeface="メイリオ"/>
              </a:rPr>
              <a:t>参加して入会していない方</a:t>
            </a:r>
            <a:endParaRPr lang="ja-JP" altLang="en-US" sz="1200" dirty="0">
              <a:latin typeface="メイリオ"/>
              <a:ea typeface="メイリオ"/>
              <a:cs typeface="メイリオ"/>
            </a:endParaRPr>
          </a:p>
          <a:p>
            <a:pPr algn="ctr">
              <a:lnSpc>
                <a:spcPct val="120000"/>
              </a:lnSpc>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入会まで案内を続ける手段が無い</a:t>
            </a:r>
            <a:endParaRPr lang="ja-JP" altLang="en-US" sz="1200" dirty="0">
              <a:latin typeface="メイリオ"/>
              <a:ea typeface="メイリオ"/>
              <a:cs typeface="メイリオ"/>
            </a:endParaRPr>
          </a:p>
        </p:txBody>
      </p:sp>
      <p:sp>
        <p:nvSpPr>
          <p:cNvPr id="18" name="示唆"/>
          <p:cNvSpPr/>
          <p:nvPr/>
        </p:nvSpPr>
        <p:spPr>
          <a:xfrm>
            <a:off x="502920" y="4335627"/>
            <a:ext cx="8897112" cy="548640"/>
          </a:xfrm>
          <a:prstGeom prst="rect">
            <a:avLst/>
          </a:prstGeom>
          <a:solidFill>
            <a:srgbClr val="F2F2F2"/>
          </a:solidFill>
          <a:ln>
            <a:noFill/>
          </a:ln>
        </p:spPr>
        <p:txBody>
          <a:bodyPr wrap="square" lIns="73152" tIns="36576" rIns="73152" bIns="36576" rtlCol="0" anchor="ctr">
            <a:noAutofit/>
          </a:bodyPr>
          <a:lstStyle/>
          <a:p>
            <a:pPr algn="ctr">
              <a:buNone/>
            </a:pPr>
            <a:r>
              <a:rPr lang="ja-JP" altLang="en-US" sz="1600" b="1" dirty="0">
                <a:solidFill>
                  <a:srgbClr val="002060"/>
                </a:solidFill>
                <a:latin typeface="メイリオ" panose="020B0604030504040204" pitchFamily="50" charset="-128"/>
                <a:ea typeface="メイリオ" panose="020B0604030504040204" pitchFamily="50" charset="-128"/>
                <a:cs typeface="メイリオ"/>
              </a:rPr>
              <a:t>集めた方を、次のイベントの集客・サロン入会に</a:t>
            </a:r>
            <a:r>
              <a:rPr lang="ja-JP" altLang="en-US" sz="1600" b="1" dirty="0">
                <a:solidFill>
                  <a:srgbClr val="C00000"/>
                </a:solidFill>
                <a:latin typeface="メイリオ" panose="020B0604030504040204" pitchFamily="50" charset="-128"/>
                <a:ea typeface="メイリオ" panose="020B0604030504040204" pitchFamily="50" charset="-128"/>
                <a:cs typeface="メイリオ"/>
              </a:rPr>
              <a:t>活かしきれていない</a:t>
            </a:r>
            <a:endParaRPr lang="ja-JP" altLang="en-US" sz="1200" dirty="0">
              <a:latin typeface="メイリオ"/>
              <a:ea typeface="メイリオ"/>
              <a:cs typeface="メイリオ"/>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本質課題</a:t>
            </a:r>
          </a:p>
        </p:txBody>
      </p:sp>
      <p:sp>
        <p:nvSpPr>
          <p:cNvPr id="3" name="正方形/長方形 8"/>
          <p:cNvSpPr/>
          <p:nvPr/>
        </p:nvSpPr>
        <p:spPr>
          <a:xfrm>
            <a:off x="0" y="777240"/>
            <a:ext cx="210312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本質課題</a:t>
            </a:r>
          </a:p>
        </p:txBody>
      </p:sp>
      <p:sp>
        <p:nvSpPr>
          <p:cNvPr id="4" name="Google Shape;752;p28"/>
          <p:cNvSpPr txBox="1"/>
          <p:nvPr/>
        </p:nvSpPr>
        <p:spPr>
          <a:xfrm>
            <a:off x="2286000" y="736333"/>
            <a:ext cx="7406640"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メイリオ"/>
                <a:sym typeface="Meiryo"/>
              </a:rPr>
              <a:t>イベントが終わると、集めた方との接点が切れる。</a:t>
            </a:r>
            <a:endParaRPr lang="en-US" altLang="ja-JP" sz="1600" b="1" dirty="0">
              <a:latin typeface="メイリオ" panose="020B0604030504040204" pitchFamily="50" charset="-128"/>
              <a:ea typeface="メイリオ" panose="020B0604030504040204" pitchFamily="50" charset="-128"/>
              <a:cs typeface="メイリオ"/>
              <a:sym typeface="Meiryo"/>
            </a:endParaRPr>
          </a:p>
          <a:p>
            <a:r>
              <a:rPr lang="en-US" altLang="ja-JP" sz="1600" b="1" dirty="0" err="1">
                <a:latin typeface="メイリオ" panose="020B0604030504040204" pitchFamily="50" charset="-128"/>
                <a:ea typeface="メイリオ" panose="020B0604030504040204" pitchFamily="50" charset="-128"/>
                <a:cs typeface="メイリオ"/>
                <a:sym typeface="Meiryo"/>
              </a:rPr>
              <a:t>この場所を、LINE公式アカウントでつくる</a:t>
            </a:r>
            <a:endParaRPr lang="en-US" altLang="ja-JP" sz="1600" b="1" dirty="0">
              <a:latin typeface="メイリオ" panose="020B0604030504040204" pitchFamily="50" charset="-128"/>
              <a:ea typeface="メイリオ" panose="020B0604030504040204" pitchFamily="50" charset="-128"/>
              <a:cs typeface="メイリオ"/>
              <a:sym typeface="Meiryo"/>
            </a:endParaRPr>
          </a:p>
        </p:txBody>
      </p:sp>
      <p:sp>
        <p:nvSpPr>
          <p:cNvPr id="5" name="見出し 01 集める"/>
          <p:cNvSpPr/>
          <p:nvPr/>
        </p:nvSpPr>
        <p:spPr>
          <a:xfrm>
            <a:off x="502920" y="2186330"/>
            <a:ext cx="2782824" cy="411480"/>
          </a:xfrm>
          <a:prstGeom prst="rect">
            <a:avLst/>
          </a:prstGeom>
          <a:solidFill>
            <a:srgbClr val="002060"/>
          </a:solidFill>
          <a:ln>
            <a:noFill/>
          </a:ln>
        </p:spPr>
        <p:txBody>
          <a:bodyPr wrap="square" lIns="73152" tIns="36576" rIns="73152" bIns="36576" rtlCol="0" anchor="ctr">
            <a:noAutofit/>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01 集める</a:t>
            </a:r>
            <a:endParaRPr lang="ja-JP" altLang="en-US" sz="1200" dirty="0">
              <a:latin typeface="メイリオ"/>
              <a:ea typeface="メイリオ"/>
              <a:cs typeface="メイリオ"/>
            </a:endParaRPr>
          </a:p>
        </p:txBody>
      </p:sp>
      <p:sp>
        <p:nvSpPr>
          <p:cNvPr id="6" name="課題1"/>
          <p:cNvSpPr/>
          <p:nvPr/>
        </p:nvSpPr>
        <p:spPr>
          <a:xfrm>
            <a:off x="502920" y="2597810"/>
            <a:ext cx="2782824" cy="868680"/>
          </a:xfrm>
          <a:prstGeom prst="rect">
            <a:avLst/>
          </a:prstGeom>
          <a:solidFill>
            <a:srgbClr val="F2F2F2"/>
          </a:solidFill>
          <a:ln>
            <a:noFill/>
          </a:ln>
        </p:spPr>
        <p:txBody>
          <a:bodyPr wrap="square" lIns="91440" tIns="36576" rIns="91440" bIns="36576" rtlCol="0" anchor="ctr">
            <a:noAutofit/>
          </a:bodyPr>
          <a:lstStyle/>
          <a:p>
            <a:pPr algn="ctr">
              <a:lnSpc>
                <a:spcPct val="120000"/>
              </a:lnSpc>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離れる方・予約した方を、</a:t>
            </a:r>
            <a:endParaRPr lang="en-US" altLang="ja-JP" sz="1500" b="0" dirty="0">
              <a:solidFill>
                <a:srgbClr val="333333"/>
              </a:solidFill>
              <a:latin typeface="メイリオ" panose="020B0604030504040204" pitchFamily="50" charset="-128"/>
              <a:ea typeface="メイリオ" panose="020B0604030504040204" pitchFamily="50" charset="-128"/>
              <a:cs typeface="メイリオ"/>
            </a:endParaRPr>
          </a:p>
          <a:p>
            <a:pPr algn="ctr">
              <a:lnSpc>
                <a:spcPct val="120000"/>
              </a:lnSpc>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友だちにする手段が無い</a:t>
            </a:r>
            <a:endParaRPr lang="ja-JP" altLang="en-US" sz="1200" dirty="0">
              <a:latin typeface="メイリオ"/>
              <a:ea typeface="メイリオ"/>
              <a:cs typeface="メイリオ"/>
            </a:endParaRPr>
          </a:p>
        </p:txBody>
      </p:sp>
      <p:sp>
        <p:nvSpPr>
          <p:cNvPr id="7" name="矢印下"/>
          <p:cNvSpPr/>
          <p:nvPr/>
        </p:nvSpPr>
        <p:spPr>
          <a:xfrm>
            <a:off x="1665732" y="3512210"/>
            <a:ext cx="457200" cy="365760"/>
          </a:xfrm>
          <a:prstGeom prst="rect">
            <a:avLst/>
          </a:prstGeom>
          <a:noFill/>
          <a:ln>
            <a:noFill/>
          </a:ln>
        </p:spPr>
        <p:txBody>
          <a:bodyPr wrap="square" lIns="0" tIns="0" rIns="0" bIns="0" rtlCol="0" anchor="ctr">
            <a:noAutofit/>
          </a:bodyPr>
          <a:lstStyle/>
          <a:p>
            <a:pPr algn="ctr">
              <a:buNone/>
            </a:pPr>
            <a:r>
              <a:rPr lang="ja-JP" altLang="en-US" sz="1600" b="0" dirty="0">
                <a:solidFill>
                  <a:srgbClr val="002060"/>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p:txBody>
      </p:sp>
      <p:sp>
        <p:nvSpPr>
          <p:cNvPr id="8" name="打ち手1"/>
          <p:cNvSpPr/>
          <p:nvPr/>
        </p:nvSpPr>
        <p:spPr>
          <a:xfrm>
            <a:off x="502920" y="3923690"/>
            <a:ext cx="2782824" cy="868680"/>
          </a:xfrm>
          <a:prstGeom prst="rect">
            <a:avLst/>
          </a:prstGeom>
          <a:solidFill>
            <a:srgbClr val="DCE6F2"/>
          </a:solidFill>
          <a:ln>
            <a:noFill/>
          </a:ln>
        </p:spPr>
        <p:txBody>
          <a:bodyPr wrap="square" lIns="73152" tIns="36576" rIns="73152" bIns="36576" rtlCol="0" anchor="ctr">
            <a:noAutofit/>
          </a:bodyPr>
          <a:lstStyle/>
          <a:p>
            <a:pPr algn="ctr">
              <a:lnSpc>
                <a:spcPct val="130000"/>
              </a:lnSpc>
              <a:buNone/>
            </a:pPr>
            <a:r>
              <a:rPr lang="ja-JP" altLang="en-US" sz="1600" b="1" dirty="0">
                <a:solidFill>
                  <a:srgbClr val="002060"/>
                </a:solidFill>
                <a:latin typeface="メイリオ" panose="020B0604030504040204" pitchFamily="50" charset="-128"/>
                <a:ea typeface="メイリオ" panose="020B0604030504040204" pitchFamily="50" charset="-128"/>
                <a:cs typeface="メイリオ"/>
              </a:rPr>
              <a:t>ポップアップツール</a:t>
            </a:r>
            <a:endParaRPr lang="ja-JP" altLang="en-US" sz="1200" dirty="0">
              <a:latin typeface="メイリオ"/>
              <a:ea typeface="メイリオ"/>
              <a:cs typeface="メイリオ"/>
            </a:endParaRPr>
          </a:p>
          <a:p>
            <a:pPr algn="ctr">
              <a:lnSpc>
                <a:spcPct val="130000"/>
              </a:lnSpc>
              <a:buNone/>
            </a:pPr>
            <a:r>
              <a:rPr lang="ja-JP" altLang="en-US" sz="1600" b="1" dirty="0">
                <a:solidFill>
                  <a:srgbClr val="002060"/>
                </a:solidFill>
                <a:latin typeface="メイリオ" panose="020B0604030504040204" pitchFamily="50" charset="-128"/>
                <a:ea typeface="メイリオ" panose="020B0604030504040204" pitchFamily="50" charset="-128"/>
                <a:cs typeface="メイリオ"/>
              </a:rPr>
              <a:t>サンクスLINE誘導</a:t>
            </a:r>
            <a:endParaRPr lang="ja-JP" altLang="en-US" sz="1200" dirty="0">
              <a:latin typeface="メイリオ"/>
              <a:ea typeface="メイリオ"/>
              <a:cs typeface="メイリオ"/>
            </a:endParaRPr>
          </a:p>
        </p:txBody>
      </p:sp>
      <p:sp>
        <p:nvSpPr>
          <p:cNvPr id="9" name="見出し 02 追う"/>
          <p:cNvSpPr/>
          <p:nvPr/>
        </p:nvSpPr>
        <p:spPr>
          <a:xfrm>
            <a:off x="3560064" y="2186330"/>
            <a:ext cx="2782824" cy="411480"/>
          </a:xfrm>
          <a:prstGeom prst="rect">
            <a:avLst/>
          </a:prstGeom>
          <a:solidFill>
            <a:srgbClr val="002060"/>
          </a:solidFill>
          <a:ln>
            <a:noFill/>
          </a:ln>
        </p:spPr>
        <p:txBody>
          <a:bodyPr wrap="square" lIns="73152" tIns="36576" rIns="73152" bIns="36576" rtlCol="0" anchor="ctr">
            <a:noAutofit/>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02 追う</a:t>
            </a:r>
            <a:endParaRPr lang="ja-JP" altLang="en-US" sz="1200" dirty="0">
              <a:latin typeface="メイリオ"/>
              <a:ea typeface="メイリオ"/>
              <a:cs typeface="メイリオ"/>
            </a:endParaRPr>
          </a:p>
        </p:txBody>
      </p:sp>
      <p:sp>
        <p:nvSpPr>
          <p:cNvPr id="10" name="課題2"/>
          <p:cNvSpPr/>
          <p:nvPr/>
        </p:nvSpPr>
        <p:spPr>
          <a:xfrm>
            <a:off x="3560064" y="2597810"/>
            <a:ext cx="2782824" cy="868680"/>
          </a:xfrm>
          <a:prstGeom prst="rect">
            <a:avLst/>
          </a:prstGeom>
          <a:solidFill>
            <a:srgbClr val="F2F2F2"/>
          </a:solidFill>
          <a:ln>
            <a:noFill/>
          </a:ln>
        </p:spPr>
        <p:txBody>
          <a:bodyPr wrap="square" lIns="91440" tIns="36576" rIns="91440" bIns="36576" rtlCol="0" anchor="ctr">
            <a:noAutofit/>
          </a:bodyPr>
          <a:lstStyle/>
          <a:p>
            <a:pPr algn="ctr">
              <a:lnSpc>
                <a:spcPct val="120000"/>
              </a:lnSpc>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次のイベントまで、情報を</a:t>
            </a:r>
            <a:endParaRPr lang="en-US" altLang="ja-JP" sz="1500" b="0" dirty="0">
              <a:solidFill>
                <a:srgbClr val="333333"/>
              </a:solidFill>
              <a:latin typeface="メイリオ" panose="020B0604030504040204" pitchFamily="50" charset="-128"/>
              <a:ea typeface="メイリオ" panose="020B0604030504040204" pitchFamily="50" charset="-128"/>
              <a:cs typeface="メイリオ"/>
            </a:endParaRPr>
          </a:p>
          <a:p>
            <a:pPr algn="ctr">
              <a:lnSpc>
                <a:spcPct val="120000"/>
              </a:lnSpc>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届ける手段が無い</a:t>
            </a:r>
            <a:endParaRPr lang="ja-JP" altLang="en-US" sz="1200" dirty="0">
              <a:latin typeface="メイリオ"/>
              <a:ea typeface="メイリオ"/>
              <a:cs typeface="メイリオ"/>
            </a:endParaRPr>
          </a:p>
        </p:txBody>
      </p:sp>
      <p:sp>
        <p:nvSpPr>
          <p:cNvPr id="11" name="矢印下"/>
          <p:cNvSpPr/>
          <p:nvPr/>
        </p:nvSpPr>
        <p:spPr>
          <a:xfrm>
            <a:off x="4722876" y="3512210"/>
            <a:ext cx="457200" cy="365760"/>
          </a:xfrm>
          <a:prstGeom prst="rect">
            <a:avLst/>
          </a:prstGeom>
          <a:noFill/>
          <a:ln>
            <a:noFill/>
          </a:ln>
        </p:spPr>
        <p:txBody>
          <a:bodyPr wrap="square" lIns="0" tIns="0" rIns="0" bIns="0" rtlCol="0" anchor="ctr">
            <a:noAutofit/>
          </a:bodyPr>
          <a:lstStyle/>
          <a:p>
            <a:pPr algn="ctr">
              <a:buNone/>
            </a:pPr>
            <a:r>
              <a:rPr lang="ja-JP" altLang="en-US" sz="1600" b="0" dirty="0">
                <a:solidFill>
                  <a:srgbClr val="002060"/>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p:txBody>
      </p:sp>
      <p:sp>
        <p:nvSpPr>
          <p:cNvPr id="12" name="打ち手2"/>
          <p:cNvSpPr/>
          <p:nvPr/>
        </p:nvSpPr>
        <p:spPr>
          <a:xfrm>
            <a:off x="3560064" y="3923690"/>
            <a:ext cx="2782824" cy="868680"/>
          </a:xfrm>
          <a:prstGeom prst="rect">
            <a:avLst/>
          </a:prstGeom>
          <a:solidFill>
            <a:srgbClr val="DCE6F2"/>
          </a:solidFill>
          <a:ln>
            <a:noFill/>
          </a:ln>
        </p:spPr>
        <p:txBody>
          <a:bodyPr wrap="square" lIns="73152" tIns="36576" rIns="73152" bIns="36576" rtlCol="0" anchor="ctr">
            <a:noAutofit/>
          </a:bodyPr>
          <a:lstStyle/>
          <a:p>
            <a:pPr algn="ctr">
              <a:lnSpc>
                <a:spcPct val="130000"/>
              </a:lnSpc>
              <a:buNone/>
            </a:pPr>
            <a:r>
              <a:rPr lang="ja-JP" altLang="en-US" sz="1600" b="1" dirty="0">
                <a:solidFill>
                  <a:srgbClr val="002060"/>
                </a:solidFill>
                <a:latin typeface="メイリオ" panose="020B0604030504040204" pitchFamily="50" charset="-128"/>
                <a:ea typeface="メイリオ" panose="020B0604030504040204" pitchFamily="50" charset="-128"/>
                <a:cs typeface="メイリオ"/>
              </a:rPr>
              <a:t>平常期の配信</a:t>
            </a:r>
            <a:endParaRPr lang="ja-JP" altLang="en-US" sz="1200" dirty="0">
              <a:latin typeface="メイリオ"/>
              <a:ea typeface="メイリオ"/>
              <a:cs typeface="メイリオ"/>
            </a:endParaRPr>
          </a:p>
        </p:txBody>
      </p:sp>
      <p:sp>
        <p:nvSpPr>
          <p:cNvPr id="13" name="見出し 03 つなげる"/>
          <p:cNvSpPr/>
          <p:nvPr/>
        </p:nvSpPr>
        <p:spPr>
          <a:xfrm>
            <a:off x="6617208" y="2186330"/>
            <a:ext cx="2782824" cy="411480"/>
          </a:xfrm>
          <a:prstGeom prst="rect">
            <a:avLst/>
          </a:prstGeom>
          <a:solidFill>
            <a:srgbClr val="002060"/>
          </a:solidFill>
          <a:ln>
            <a:noFill/>
          </a:ln>
        </p:spPr>
        <p:txBody>
          <a:bodyPr wrap="square" lIns="73152" tIns="36576" rIns="73152" bIns="36576" rtlCol="0" anchor="ctr">
            <a:noAutofit/>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03 つなげる</a:t>
            </a:r>
            <a:endParaRPr lang="ja-JP" altLang="en-US" sz="1200" dirty="0">
              <a:latin typeface="メイリオ"/>
              <a:ea typeface="メイリオ"/>
              <a:cs typeface="メイリオ"/>
            </a:endParaRPr>
          </a:p>
        </p:txBody>
      </p:sp>
      <p:sp>
        <p:nvSpPr>
          <p:cNvPr id="14" name="課題3"/>
          <p:cNvSpPr/>
          <p:nvPr/>
        </p:nvSpPr>
        <p:spPr>
          <a:xfrm>
            <a:off x="6617208" y="2597810"/>
            <a:ext cx="2782824" cy="868680"/>
          </a:xfrm>
          <a:prstGeom prst="rect">
            <a:avLst/>
          </a:prstGeom>
          <a:solidFill>
            <a:srgbClr val="F2F2F2"/>
          </a:solidFill>
          <a:ln>
            <a:noFill/>
          </a:ln>
        </p:spPr>
        <p:txBody>
          <a:bodyPr wrap="square" lIns="91440" tIns="36576" rIns="91440" bIns="36576" rtlCol="0" anchor="ctr">
            <a:noAutofit/>
          </a:bodyPr>
          <a:lstStyle/>
          <a:p>
            <a:pPr algn="ctr">
              <a:lnSpc>
                <a:spcPct val="120000"/>
              </a:lnSpc>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参加した方に、入会を案内する手段が無い</a:t>
            </a:r>
            <a:endParaRPr lang="ja-JP" altLang="en-US" sz="1200" dirty="0">
              <a:latin typeface="メイリオ"/>
              <a:ea typeface="メイリオ"/>
              <a:cs typeface="メイリオ"/>
            </a:endParaRPr>
          </a:p>
        </p:txBody>
      </p:sp>
      <p:sp>
        <p:nvSpPr>
          <p:cNvPr id="15" name="矢印下"/>
          <p:cNvSpPr/>
          <p:nvPr/>
        </p:nvSpPr>
        <p:spPr>
          <a:xfrm>
            <a:off x="7780020" y="3512210"/>
            <a:ext cx="457200" cy="365760"/>
          </a:xfrm>
          <a:prstGeom prst="rect">
            <a:avLst/>
          </a:prstGeom>
          <a:noFill/>
          <a:ln>
            <a:noFill/>
          </a:ln>
        </p:spPr>
        <p:txBody>
          <a:bodyPr wrap="square" lIns="0" tIns="0" rIns="0" bIns="0" rtlCol="0" anchor="ctr">
            <a:noAutofit/>
          </a:bodyPr>
          <a:lstStyle/>
          <a:p>
            <a:pPr algn="ctr">
              <a:buNone/>
            </a:pPr>
            <a:r>
              <a:rPr lang="ja-JP" altLang="en-US" sz="1600" b="0" dirty="0">
                <a:solidFill>
                  <a:srgbClr val="002060"/>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p:txBody>
      </p:sp>
      <p:sp>
        <p:nvSpPr>
          <p:cNvPr id="16" name="打ち手3"/>
          <p:cNvSpPr/>
          <p:nvPr/>
        </p:nvSpPr>
        <p:spPr>
          <a:xfrm>
            <a:off x="6617208" y="3923690"/>
            <a:ext cx="2782824" cy="868680"/>
          </a:xfrm>
          <a:prstGeom prst="rect">
            <a:avLst/>
          </a:prstGeom>
          <a:solidFill>
            <a:srgbClr val="DCE6F2"/>
          </a:solidFill>
          <a:ln>
            <a:noFill/>
          </a:ln>
        </p:spPr>
        <p:txBody>
          <a:bodyPr wrap="square" lIns="73152" tIns="36576" rIns="73152" bIns="36576" rtlCol="0" anchor="ctr">
            <a:noAutofit/>
          </a:bodyPr>
          <a:lstStyle/>
          <a:p>
            <a:pPr algn="ctr">
              <a:lnSpc>
                <a:spcPct val="130000"/>
              </a:lnSpc>
              <a:buNone/>
            </a:pPr>
            <a:r>
              <a:rPr lang="ja-JP" altLang="en-US" sz="1600" b="1" dirty="0">
                <a:solidFill>
                  <a:srgbClr val="002060"/>
                </a:solidFill>
                <a:latin typeface="メイリオ" panose="020B0604030504040204" pitchFamily="50" charset="-128"/>
                <a:ea typeface="メイリオ" panose="020B0604030504040204" pitchFamily="50" charset="-128"/>
                <a:cs typeface="メイリオ"/>
              </a:rPr>
              <a:t>参加後の入会の案内</a:t>
            </a:r>
            <a:endParaRPr lang="ja-JP" altLang="en-US" sz="1200" dirty="0">
              <a:latin typeface="メイリオ"/>
              <a:ea typeface="メイリオ"/>
              <a:cs typeface="メイリオ"/>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なぜLINEか</a:t>
            </a:r>
          </a:p>
        </p:txBody>
      </p:sp>
      <p:sp>
        <p:nvSpPr>
          <p:cNvPr id="3" name="正方形/長方形 8"/>
          <p:cNvSpPr/>
          <p:nvPr/>
        </p:nvSpPr>
        <p:spPr>
          <a:xfrm>
            <a:off x="0" y="777240"/>
            <a:ext cx="210312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LINE公式アカウント</a:t>
            </a:r>
          </a:p>
        </p:txBody>
      </p:sp>
      <p:sp>
        <p:nvSpPr>
          <p:cNvPr id="4" name="Google Shape;752;p28"/>
          <p:cNvSpPr txBox="1"/>
          <p:nvPr/>
        </p:nvSpPr>
        <p:spPr>
          <a:xfrm>
            <a:off x="2286000" y="859536"/>
            <a:ext cx="7406640" cy="338328"/>
          </a:xfrm>
          <a:prstGeom prst="rect">
            <a:avLst/>
          </a:prstGeom>
          <a:noFill/>
          <a:ln>
            <a:noFill/>
          </a:ln>
        </p:spPr>
        <p:txBody>
          <a:bodyPr spcFirstLastPara="1" wrap="square" lIns="91425" tIns="45700" rIns="91425" bIns="45700" anchor="ctr" anchorCtr="0">
            <a:spAutoFit/>
          </a:bodyPr>
          <a:lstStyle/>
          <a:p>
            <a:r>
              <a:rPr lang="en-US" altLang="ja-JP" sz="1600" b="1" dirty="0" err="1">
                <a:latin typeface="メイリオ" panose="020B0604030504040204" pitchFamily="50" charset="-128"/>
                <a:ea typeface="メイリオ" panose="020B0604030504040204" pitchFamily="50" charset="-128"/>
                <a:cs typeface="メイリオ"/>
                <a:sym typeface="Meiryo"/>
              </a:rPr>
              <a:t>LINEは積み上がる</a:t>
            </a:r>
            <a:r>
              <a:rPr lang="ja-JP" altLang="en-US" sz="1600" b="1" dirty="0">
                <a:latin typeface="メイリオ" panose="020B0604030504040204" pitchFamily="50" charset="-128"/>
                <a:ea typeface="メイリオ" panose="020B0604030504040204" pitchFamily="50" charset="-128"/>
                <a:cs typeface="メイリオ"/>
                <a:sym typeface="Meiryo"/>
              </a:rPr>
              <a:t>・追い続けられる</a:t>
            </a:r>
            <a:endParaRPr lang="en-US" altLang="ja-JP" sz="1600" b="1" dirty="0">
              <a:latin typeface="メイリオ" panose="020B0604030504040204" pitchFamily="50" charset="-128"/>
              <a:ea typeface="メイリオ" panose="020B0604030504040204" pitchFamily="50" charset="-128"/>
              <a:cs typeface="メイリオ"/>
              <a:sym typeface="Meiryo"/>
            </a:endParaRPr>
          </a:p>
        </p:txBody>
      </p:sp>
      <p:graphicFrame>
        <p:nvGraphicFramePr>
          <p:cNvPr id="5" name="広告とLINE 4"/>
          <p:cNvGraphicFramePr>
            <a:graphicFrameLocks noGrp="1"/>
          </p:cNvGraphicFramePr>
          <p:nvPr/>
        </p:nvGraphicFramePr>
        <p:xfrm>
          <a:off x="502920" y="2110892"/>
          <a:ext cx="8897112" cy="2057400"/>
        </p:xfrm>
        <a:graphic>
          <a:graphicData uri="http://schemas.openxmlformats.org/drawingml/2006/table">
            <a:tbl>
              <a:tblPr/>
              <a:tblGrid>
                <a:gridCol w="182880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3959352">
                  <a:extLst>
                    <a:ext uri="{9D8B030D-6E8A-4147-A177-3AD203B41FA5}">
                      <a16:colId xmlns:a16="http://schemas.microsoft.com/office/drawing/2014/main" val="20002"/>
                    </a:ext>
                  </a:extLst>
                </a:gridCol>
              </a:tblGrid>
              <a:tr h="411480">
                <a:tc>
                  <a:txBody>
                    <a:bodyPr/>
                    <a:lstStyle/>
                    <a:p>
                      <a:pPr algn="ctr">
                        <a:buNone/>
                      </a:pP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広告</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LINE公式アカウント</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extLst>
                  <a:ext uri="{0D108BD9-81ED-4DB2-BD59-A6C34878D82A}">
                    <a16:rowId xmlns:a16="http://schemas.microsoft.com/office/drawing/2014/main" val="10000"/>
                  </a:ext>
                </a:extLst>
              </a:tr>
              <a:tr h="54864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届く相手</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毎回、新しく集める</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一度友だちになった方に、何度でも届く</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届き方</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広告を見たときだけ</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通知で届き、見てもらいやすい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イベントの後</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つながりが切れる</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友だちとして、毎月積み上がる</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示唆"/>
          <p:cNvSpPr/>
          <p:nvPr/>
        </p:nvSpPr>
        <p:spPr>
          <a:xfrm>
            <a:off x="502920" y="4396892"/>
            <a:ext cx="8897112" cy="548640"/>
          </a:xfrm>
          <a:prstGeom prst="rect">
            <a:avLst/>
          </a:prstGeom>
          <a:solidFill>
            <a:srgbClr val="F2F2F2"/>
          </a:solidFill>
          <a:ln>
            <a:noFill/>
          </a:ln>
        </p:spPr>
        <p:txBody>
          <a:bodyPr wrap="square" lIns="73152" tIns="36576" rIns="73152" bIns="36576" rtlCol="0" anchor="ctr">
            <a:noAutofit/>
          </a:bodyPr>
          <a:lstStyle/>
          <a:p>
            <a:pPr algn="ctr">
              <a:buNone/>
            </a:pPr>
            <a:r>
              <a:rPr lang="ja-JP" altLang="en-US" sz="1600" b="1" dirty="0">
                <a:solidFill>
                  <a:srgbClr val="002060"/>
                </a:solidFill>
                <a:latin typeface="メイリオ" panose="020B0604030504040204" pitchFamily="50" charset="-128"/>
                <a:ea typeface="メイリオ" panose="020B0604030504040204" pitchFamily="50" charset="-128"/>
                <a:cs typeface="メイリオ"/>
              </a:rPr>
              <a:t>この仕組みが回れば、今後の広告費を抑えられる可能性もある</a:t>
            </a:r>
            <a:endParaRPr lang="ja-JP" altLang="en-US" sz="1200" dirty="0">
              <a:latin typeface="メイリオ"/>
              <a:ea typeface="メイリオ"/>
              <a:cs typeface="メイリオ"/>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LINEで気をつける点</a:t>
            </a:r>
          </a:p>
        </p:txBody>
      </p:sp>
      <p:sp>
        <p:nvSpPr>
          <p:cNvPr id="3" name="正方形/長方形 8"/>
          <p:cNvSpPr/>
          <p:nvPr/>
        </p:nvSpPr>
        <p:spPr>
          <a:xfrm>
            <a:off x="0" y="777240"/>
            <a:ext cx="210312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気をつける点と対策</a:t>
            </a:r>
          </a:p>
        </p:txBody>
      </p:sp>
      <p:sp>
        <p:nvSpPr>
          <p:cNvPr id="4" name="Google Shape;752;p28"/>
          <p:cNvSpPr txBox="1"/>
          <p:nvPr/>
        </p:nvSpPr>
        <p:spPr>
          <a:xfrm>
            <a:off x="2286000" y="859536"/>
            <a:ext cx="7406640" cy="338328"/>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メイリオ"/>
                <a:sym typeface="Meiryo"/>
              </a:rPr>
              <a:t>気をつける点は、運用の設計で抑える</a:t>
            </a:r>
          </a:p>
        </p:txBody>
      </p:sp>
      <p:graphicFrame>
        <p:nvGraphicFramePr>
          <p:cNvPr id="5" name="気をつける点 4"/>
          <p:cNvGraphicFramePr>
            <a:graphicFrameLocks noGrp="1"/>
          </p:cNvGraphicFramePr>
          <p:nvPr/>
        </p:nvGraphicFramePr>
        <p:xfrm>
          <a:off x="502920" y="2231593"/>
          <a:ext cx="8897112" cy="2468880"/>
        </p:xfrm>
        <a:graphic>
          <a:graphicData uri="http://schemas.openxmlformats.org/drawingml/2006/table">
            <a:tbl>
              <a:tblPr/>
              <a:tblGrid>
                <a:gridCol w="182880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3776472">
                  <a:extLst>
                    <a:ext uri="{9D8B030D-6E8A-4147-A177-3AD203B41FA5}">
                      <a16:colId xmlns:a16="http://schemas.microsoft.com/office/drawing/2014/main" val="20002"/>
                    </a:ext>
                  </a:extLst>
                </a:gridCol>
              </a:tblGrid>
              <a:tr h="41148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気をつける点</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内容</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対策</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extLst>
                  <a:ext uri="{0D108BD9-81ED-4DB2-BD59-A6C34878D82A}">
                    <a16:rowId xmlns:a16="http://schemas.microsoft.com/office/drawing/2014/main" val="10000"/>
                  </a:ext>
                </a:extLst>
              </a:tr>
              <a:tr h="68580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ブロック</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配信が多い・合わない内容だと、ブロックされる</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段階に合わせて、配信の中身と回数を変える</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8580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配信費</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配信の数に応じて、LINEの費用がかかる</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イベントの無い時期は、配信の回数を絞る</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8580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時間</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友だちがたまるまで、時間がかかる</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次のイベントから入口を置き、イベントごとに積み上げる</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他社のLINE運用</a:t>
            </a:r>
          </a:p>
        </p:txBody>
      </p:sp>
      <p:sp>
        <p:nvSpPr>
          <p:cNvPr id="3" name="正方形/長方形 8"/>
          <p:cNvSpPr/>
          <p:nvPr/>
        </p:nvSpPr>
        <p:spPr>
          <a:xfrm>
            <a:off x="0" y="777240"/>
            <a:ext cx="210312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他社の運用</a:t>
            </a:r>
          </a:p>
        </p:txBody>
      </p:sp>
      <p:sp>
        <p:nvSpPr>
          <p:cNvPr id="4" name="Google Shape;752;p28"/>
          <p:cNvSpPr txBox="1"/>
          <p:nvPr/>
        </p:nvSpPr>
        <p:spPr>
          <a:xfrm>
            <a:off x="2286000" y="859536"/>
            <a:ext cx="7406640" cy="338328"/>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メイリオ"/>
                <a:sym typeface="Meiryo"/>
              </a:rPr>
              <a:t>保険営業の方向けの他社も、LINEで特典を渡し、友だちに学びを届けている</a:t>
            </a:r>
          </a:p>
        </p:txBody>
      </p:sp>
      <p:sp>
        <p:nvSpPr>
          <p:cNvPr id="5" name="見出し 画面"/>
          <p:cNvSpPr/>
          <p:nvPr/>
        </p:nvSpPr>
        <p:spPr>
          <a:xfrm>
            <a:off x="502920" y="1572768"/>
            <a:ext cx="1481328" cy="310896"/>
          </a:xfrm>
          <a:prstGeom prst="rect">
            <a:avLst/>
          </a:prstGeom>
          <a:noFill/>
          <a:ln>
            <a:noFill/>
          </a:ln>
        </p:spPr>
        <p:txBody>
          <a:bodyPr wrap="square" lIns="0" tIns="0" rIns="0" bIns="18288" rtlCol="0" anchor="b">
            <a:noAutofit/>
          </a:bodyPr>
          <a:lstStyle/>
          <a:p>
            <a:pPr algn="ctr">
              <a:buNone/>
            </a:pPr>
            <a:r>
              <a:rPr lang="ja-JP" altLang="en-US" sz="1200" b="1" dirty="0">
                <a:solidFill>
                  <a:srgbClr val="002060"/>
                </a:solidFill>
                <a:latin typeface="メイリオ" panose="020B0604030504040204" pitchFamily="50" charset="-128"/>
                <a:ea typeface="メイリオ" panose="020B0604030504040204" pitchFamily="50" charset="-128"/>
                <a:cs typeface="メイリオ"/>
              </a:rPr>
              <a:t>野沢塾のあいさつ</a:t>
            </a:r>
            <a:endParaRPr lang="ja-JP" altLang="en-US" sz="1200" dirty="0">
              <a:latin typeface="メイリオ"/>
              <a:ea typeface="メイリオ"/>
              <a:cs typeface="メイリオ"/>
            </a:endParaRPr>
          </a:p>
        </p:txBody>
      </p:sp>
      <p:pic>
        <p:nvPicPr>
          <p:cNvPr id="6" name="Picture 5" descr="sunao_line_nozawa_aisatsu.png"/>
          <p:cNvPicPr>
            <a:picLocks noChangeAspect="1"/>
          </p:cNvPicPr>
          <p:nvPr/>
        </p:nvPicPr>
        <p:blipFill>
          <a:blip r:embed="rId2"/>
          <a:stretch>
            <a:fillRect/>
          </a:stretch>
        </p:blipFill>
        <p:spPr>
          <a:xfrm>
            <a:off x="502920" y="1920240"/>
            <a:ext cx="1481328" cy="3208652"/>
          </a:xfrm>
          <a:prstGeom prst="rect">
            <a:avLst/>
          </a:prstGeom>
          <a:ln w="9525">
            <a:solidFill>
              <a:srgbClr val="BFBFBF"/>
            </a:solidFill>
          </a:ln>
        </p:spPr>
      </p:pic>
      <p:graphicFrame>
        <p:nvGraphicFramePr>
          <p:cNvPr id="7" name="他社のLINE運用 6"/>
          <p:cNvGraphicFramePr>
            <a:graphicFrameLocks noGrp="1"/>
          </p:cNvGraphicFramePr>
          <p:nvPr/>
        </p:nvGraphicFramePr>
        <p:xfrm>
          <a:off x="2258568" y="1572768"/>
          <a:ext cx="7141464" cy="3520440"/>
        </p:xfrm>
        <a:graphic>
          <a:graphicData uri="http://schemas.openxmlformats.org/drawingml/2006/table">
            <a:tbl>
              <a:tblPr/>
              <a:tblGrid>
                <a:gridCol w="1143000">
                  <a:extLst>
                    <a:ext uri="{9D8B030D-6E8A-4147-A177-3AD203B41FA5}">
                      <a16:colId xmlns:a16="http://schemas.microsoft.com/office/drawing/2014/main" val="20000"/>
                    </a:ext>
                  </a:extLst>
                </a:gridCol>
                <a:gridCol w="2999232">
                  <a:extLst>
                    <a:ext uri="{9D8B030D-6E8A-4147-A177-3AD203B41FA5}">
                      <a16:colId xmlns:a16="http://schemas.microsoft.com/office/drawing/2014/main" val="20001"/>
                    </a:ext>
                  </a:extLst>
                </a:gridCol>
                <a:gridCol w="2999232">
                  <a:extLst>
                    <a:ext uri="{9D8B030D-6E8A-4147-A177-3AD203B41FA5}">
                      <a16:colId xmlns:a16="http://schemas.microsoft.com/office/drawing/2014/main" val="20002"/>
                    </a:ext>
                  </a:extLst>
                </a:gridCol>
              </a:tblGrid>
              <a:tr h="411480">
                <a:tc>
                  <a:txBody>
                    <a:bodyPr/>
                    <a:lstStyle/>
                    <a:p>
                      <a:pPr algn="ctr">
                        <a:buNone/>
                      </a:pPr>
                      <a:endParaRPr lang="ja-JP" altLang="en-US" sz="13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野沢塾</a:t>
                      </a:r>
                      <a:endParaRPr lang="ja-JP" altLang="en-US" sz="13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R&amp;C保険営業ラボ</a:t>
                      </a:r>
                      <a:endParaRPr lang="ja-JP" altLang="en-US" sz="13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extLst>
                  <a:ext uri="{0D108BD9-81ED-4DB2-BD59-A6C34878D82A}">
                    <a16:rowId xmlns:a16="http://schemas.microsoft.com/office/drawing/2014/main" val="10000"/>
                  </a:ext>
                </a:extLst>
              </a:tr>
              <a:tr h="731520">
                <a:tc>
                  <a:txBody>
                    <a:bodyPr/>
                    <a:lstStyle/>
                    <a:p>
                      <a:pPr algn="ctr">
                        <a:buNone/>
                      </a:pPr>
                      <a:r>
                        <a:rPr lang="ja-JP" altLang="en-US" sz="1300" b="1" dirty="0">
                          <a:solidFill>
                            <a:srgbClr val="002060"/>
                          </a:solidFill>
                          <a:latin typeface="メイリオ" panose="020B0604030504040204" pitchFamily="50" charset="-128"/>
                          <a:ea typeface="メイリオ" panose="020B0604030504040204" pitchFamily="50" charset="-128"/>
                          <a:cs typeface="メイリオ"/>
                        </a:rPr>
                        <a:t>サービス</a:t>
                      </a:r>
                      <a:endParaRPr lang="ja-JP" altLang="en-US" sz="13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保険営業の方向けの講座</a:t>
                      </a:r>
                      <a:br>
                        <a:rPr lang="ja-JP" altLang="en-US" sz="1200" b="0" dirty="0">
                          <a:solidFill>
                            <a:srgbClr val="333333"/>
                          </a:solidFill>
                          <a:latin typeface="メイリオ" panose="020B0604030504040204" pitchFamily="50" charset="-128"/>
                          <a:ea typeface="メイリオ" panose="020B0604030504040204" pitchFamily="50" charset="-128"/>
                          <a:cs typeface="メイリオ"/>
                        </a:rPr>
                      </a:b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オンラインサロン（月2回）</a:t>
                      </a:r>
                      <a:endParaRPr lang="ja-JP" altLang="en-US" sz="12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保険営業の方向けの無料の学習サービス</a:t>
                      </a:r>
                      <a:br>
                        <a:rPr lang="ja-JP" altLang="en-US" sz="1200" b="0" dirty="0">
                          <a:solidFill>
                            <a:srgbClr val="333333"/>
                          </a:solidFill>
                          <a:latin typeface="メイリオ" panose="020B0604030504040204" pitchFamily="50" charset="-128"/>
                          <a:ea typeface="メイリオ" panose="020B0604030504040204" pitchFamily="50" charset="-128"/>
                          <a:cs typeface="メイリオ"/>
                        </a:rPr>
                      </a:br>
                      <a:r>
                        <a:rPr lang="ja-JP" altLang="en-US" sz="1200" b="0" dirty="0">
                          <a:solidFill>
                            <a:srgbClr val="333333"/>
                          </a:solidFill>
                          <a:latin typeface="メイリオ" panose="020B0604030504040204" pitchFamily="50" charset="-128"/>
                          <a:ea typeface="メイリオ" panose="020B0604030504040204" pitchFamily="50" charset="-128"/>
                          <a:cs typeface="メイリオ"/>
                        </a:rPr>
                        <a:t>（2026年9月開始）</a:t>
                      </a:r>
                      <a:endParaRPr lang="ja-JP" altLang="en-US" sz="12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0080">
                <a:tc>
                  <a:txBody>
                    <a:bodyPr/>
                    <a:lstStyle/>
                    <a:p>
                      <a:pPr algn="ctr">
                        <a:buNone/>
                      </a:pPr>
                      <a:r>
                        <a:rPr lang="ja-JP" altLang="en-US" sz="1300" b="1" dirty="0">
                          <a:solidFill>
                            <a:srgbClr val="002060"/>
                          </a:solidFill>
                          <a:latin typeface="メイリオ" panose="020B0604030504040204" pitchFamily="50" charset="-128"/>
                          <a:ea typeface="メイリオ" panose="020B0604030504040204" pitchFamily="50" charset="-128"/>
                          <a:cs typeface="メイリオ"/>
                        </a:rPr>
                        <a:t>入口</a:t>
                      </a:r>
                      <a:endParaRPr lang="ja-JP" altLang="en-US" sz="13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サイトの「公式LINE登録」ボタン</a:t>
                      </a:r>
                      <a:endParaRPr lang="ja-JP" altLang="en-US" sz="12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社員の紹介URLから</a:t>
                      </a:r>
                      <a:br>
                        <a:rPr lang="ja-JP" altLang="en-US" sz="1200" b="0" dirty="0">
                          <a:solidFill>
                            <a:srgbClr val="333333"/>
                          </a:solidFill>
                          <a:latin typeface="メイリオ" panose="020B0604030504040204" pitchFamily="50" charset="-128"/>
                          <a:ea typeface="メイリオ" panose="020B0604030504040204" pitchFamily="50" charset="-128"/>
                          <a:cs typeface="メイリオ"/>
                        </a:rPr>
                      </a:br>
                      <a:r>
                        <a:rPr lang="ja-JP" altLang="en-US" sz="1200" b="0" dirty="0">
                          <a:solidFill>
                            <a:srgbClr val="333333"/>
                          </a:solidFill>
                          <a:latin typeface="メイリオ" panose="020B0604030504040204" pitchFamily="50" charset="-128"/>
                          <a:ea typeface="メイリオ" panose="020B0604030504040204" pitchFamily="50" charset="-128"/>
                          <a:cs typeface="メイリオ"/>
                        </a:rPr>
                        <a:t>友だち追加（招待制）</a:t>
                      </a:r>
                      <a:endParaRPr lang="ja-JP" altLang="en-US" sz="12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40080">
                <a:tc>
                  <a:txBody>
                    <a:bodyPr/>
                    <a:lstStyle/>
                    <a:p>
                      <a:pPr algn="ctr">
                        <a:buNone/>
                      </a:pPr>
                      <a:r>
                        <a:rPr lang="ja-JP" altLang="en-US" sz="1300" b="1" dirty="0">
                          <a:solidFill>
                            <a:srgbClr val="002060"/>
                          </a:solidFill>
                          <a:latin typeface="メイリオ" panose="020B0604030504040204" pitchFamily="50" charset="-128"/>
                          <a:ea typeface="メイリオ" panose="020B0604030504040204" pitchFamily="50" charset="-128"/>
                          <a:cs typeface="メイリオ"/>
                        </a:rPr>
                        <a:t>特典</a:t>
                      </a:r>
                      <a:endParaRPr lang="ja-JP" altLang="en-US" sz="13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l">
                        <a:buNone/>
                      </a:pPr>
                      <a:r>
                        <a:rPr lang="ja-JP" altLang="en-US" sz="1200" b="1" dirty="0">
                          <a:solidFill>
                            <a:srgbClr val="002060"/>
                          </a:solidFill>
                          <a:latin typeface="メイリオ" panose="020B0604030504040204" pitchFamily="50" charset="-128"/>
                          <a:ea typeface="メイリオ" panose="020B0604030504040204" pitchFamily="50" charset="-128"/>
                          <a:cs typeface="メイリオ"/>
                        </a:rPr>
                        <a:t>「営業力向上トークスクリプト3本」</a:t>
                      </a:r>
                      <a:br>
                        <a:rPr lang="ja-JP" altLang="en-US" sz="1200" b="1" dirty="0">
                          <a:solidFill>
                            <a:srgbClr val="002060"/>
                          </a:solidFill>
                          <a:latin typeface="メイリオ" panose="020B0604030504040204" pitchFamily="50" charset="-128"/>
                          <a:ea typeface="メイリオ" panose="020B0604030504040204" pitchFamily="50" charset="-128"/>
                          <a:cs typeface="メイリオ"/>
                        </a:rPr>
                      </a:br>
                      <a:r>
                        <a:rPr lang="ja-JP" altLang="en-US" sz="1200" b="1" dirty="0">
                          <a:solidFill>
                            <a:srgbClr val="002060"/>
                          </a:solidFill>
                          <a:latin typeface="メイリオ" panose="020B0604030504040204" pitchFamily="50" charset="-128"/>
                          <a:ea typeface="メイリオ" panose="020B0604030504040204" pitchFamily="50" charset="-128"/>
                          <a:cs typeface="メイリオ"/>
                        </a:rPr>
                        <a:t>の動画</a:t>
                      </a:r>
                      <a:endParaRPr lang="ja-JP" altLang="en-US" sz="12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200" b="1" dirty="0">
                          <a:solidFill>
                            <a:srgbClr val="002060"/>
                          </a:solidFill>
                          <a:latin typeface="メイリオ" panose="020B0604030504040204" pitchFamily="50" charset="-128"/>
                          <a:ea typeface="メイリオ" panose="020B0604030504040204" pitchFamily="50" charset="-128"/>
                          <a:cs typeface="メイリオ"/>
                        </a:rPr>
                        <a:t>LINEそのものが、無料の学習サービス</a:t>
                      </a:r>
                      <a:endParaRPr lang="ja-JP" altLang="en-US" sz="12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097280">
                <a:tc>
                  <a:txBody>
                    <a:bodyPr/>
                    <a:lstStyle/>
                    <a:p>
                      <a:pPr algn="ctr">
                        <a:buNone/>
                      </a:pPr>
                      <a:r>
                        <a:rPr lang="ja-JP" altLang="en-US" sz="1300" b="1" dirty="0">
                          <a:solidFill>
                            <a:srgbClr val="002060"/>
                          </a:solidFill>
                          <a:latin typeface="メイリオ" panose="020B0604030504040204" pitchFamily="50" charset="-128"/>
                          <a:ea typeface="メイリオ" panose="020B0604030504040204" pitchFamily="50" charset="-128"/>
                          <a:cs typeface="メイリオ"/>
                        </a:rPr>
                        <a:t>追加後の</a:t>
                      </a:r>
                      <a:br>
                        <a:rPr lang="ja-JP" altLang="en-US" sz="1300" b="1" dirty="0">
                          <a:solidFill>
                            <a:srgbClr val="002060"/>
                          </a:solidFill>
                          <a:latin typeface="メイリオ" panose="020B0604030504040204" pitchFamily="50" charset="-128"/>
                          <a:ea typeface="メイリオ" panose="020B0604030504040204" pitchFamily="50" charset="-128"/>
                          <a:cs typeface="メイリオ"/>
                        </a:rPr>
                      </a:br>
                      <a:r>
                        <a:rPr lang="ja-JP" altLang="en-US" sz="1300" b="1" dirty="0">
                          <a:solidFill>
                            <a:srgbClr val="002060"/>
                          </a:solidFill>
                          <a:latin typeface="メイリオ" panose="020B0604030504040204" pitchFamily="50" charset="-128"/>
                          <a:ea typeface="メイリオ" panose="020B0604030504040204" pitchFamily="50" charset="-128"/>
                          <a:cs typeface="メイリオ"/>
                        </a:rPr>
                        <a:t>配信</a:t>
                      </a:r>
                      <a:endParaRPr lang="ja-JP" altLang="en-US" sz="13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あいさつで、特典のURLとパスワードを届ける。「最新情報を定期的に配信」と案内</a:t>
                      </a:r>
                      <a:endParaRPr lang="ja-JP" altLang="en-US" sz="12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登録時に5問のアンケート。答えに合わせて、資料・動画・セミナーのアーカイブ・トークスクリプトを段階的に配信</a:t>
                      </a:r>
                      <a:endParaRPr lang="ja-JP" altLang="en-US" sz="12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8" name="示唆"/>
          <p:cNvSpPr/>
          <p:nvPr/>
        </p:nvSpPr>
        <p:spPr>
          <a:xfrm>
            <a:off x="502920" y="5349240"/>
            <a:ext cx="8897112" cy="502920"/>
          </a:xfrm>
          <a:prstGeom prst="rect">
            <a:avLst/>
          </a:prstGeom>
          <a:solidFill>
            <a:srgbClr val="F2F2F2"/>
          </a:solidFill>
          <a:ln>
            <a:noFill/>
          </a:ln>
        </p:spPr>
        <p:txBody>
          <a:bodyPr wrap="square" lIns="73152" tIns="36576" rIns="73152" bIns="36576" rtlCol="0" anchor="ctr">
            <a:noAutofit/>
          </a:bodyPr>
          <a:lstStyle/>
          <a:p>
            <a:pPr algn="ctr">
              <a:buNone/>
            </a:pPr>
            <a:r>
              <a:rPr lang="ja-JP" altLang="en-US" sz="1500" b="1" dirty="0">
                <a:solidFill>
                  <a:srgbClr val="002060"/>
                </a:solidFill>
                <a:latin typeface="メイリオ" panose="020B0604030504040204" pitchFamily="50" charset="-128"/>
                <a:ea typeface="メイリオ" panose="020B0604030504040204" pitchFamily="50" charset="-128"/>
                <a:cs typeface="メイリオ"/>
              </a:rPr>
              <a:t>すなおコンサルティング様は、イベントの予約・参加に合わせた案内で、入会へつなげる</a:t>
            </a:r>
            <a:endParaRPr lang="ja-JP" altLang="en-US" sz="1200" dirty="0">
              <a:latin typeface="メイリオ"/>
              <a:ea typeface="メイリオ"/>
              <a:cs typeface="メイリオ"/>
            </a:endParaRPr>
          </a:p>
        </p:txBody>
      </p:sp>
      <p:sp>
        <p:nvSpPr>
          <p:cNvPr id="9" name="注記"/>
          <p:cNvSpPr/>
          <p:nvPr/>
        </p:nvSpPr>
        <p:spPr>
          <a:xfrm>
            <a:off x="502920" y="5943600"/>
            <a:ext cx="8897112" cy="146304"/>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※野沢塾：LINE公式アカウント（2026年10月19日確認）・公式サイト（2026年10月18日確認）より。画面の名前とパスワードは伏せている</a:t>
            </a:r>
            <a:endParaRPr lang="ja-JP" altLang="en-US" sz="1200" dirty="0">
              <a:latin typeface="メイリオ"/>
              <a:ea typeface="メイリオ"/>
              <a:cs typeface="メイリオ"/>
            </a:endParaRPr>
          </a:p>
        </p:txBody>
      </p:sp>
      <p:sp>
        <p:nvSpPr>
          <p:cNvPr id="10" name="注記"/>
          <p:cNvSpPr/>
          <p:nvPr/>
        </p:nvSpPr>
        <p:spPr>
          <a:xfrm>
            <a:off x="502920" y="6089904"/>
            <a:ext cx="8897112" cy="146304"/>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※R&amp;C保険営業ラボ：R&amp;C株式会社のプレスリリースより。招待制のため、画面は未掲載</a:t>
            </a:r>
            <a:endParaRPr lang="ja-JP" altLang="en-US" sz="1200" dirty="0">
              <a:latin typeface="メイリオ"/>
              <a:ea typeface="メイリオ"/>
              <a:cs typeface="メイリオ"/>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友だちの入口</a:t>
            </a:r>
          </a:p>
        </p:txBody>
      </p:sp>
      <p:sp>
        <p:nvSpPr>
          <p:cNvPr id="3" name="正方形/長方形 8"/>
          <p:cNvSpPr/>
          <p:nvPr/>
        </p:nvSpPr>
        <p:spPr>
          <a:xfrm>
            <a:off x="0" y="777240"/>
            <a:ext cx="210312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新規友だち追加</a:t>
            </a:r>
          </a:p>
        </p:txBody>
      </p:sp>
      <p:sp>
        <p:nvSpPr>
          <p:cNvPr id="4" name="Google Shape;752;p28"/>
          <p:cNvSpPr txBox="1"/>
          <p:nvPr/>
        </p:nvSpPr>
        <p:spPr>
          <a:xfrm>
            <a:off x="2286000" y="740664"/>
            <a:ext cx="7406640" cy="585216"/>
          </a:xfrm>
          <a:prstGeom prst="rect">
            <a:avLst/>
          </a:prstGeom>
          <a:noFill/>
          <a:ln>
            <a:noFill/>
          </a:ln>
        </p:spPr>
        <p:txBody>
          <a:bodyPr spcFirstLastPara="1" wrap="square" lIns="91425" tIns="45700" rIns="91425" bIns="45700" anchor="ctr" anchorCtr="0">
            <a:spAutoFit/>
          </a:bodyPr>
          <a:lstStyle/>
          <a:p>
            <a:r>
              <a:rPr lang="en-US" altLang="ja-JP" sz="1600" b="1" dirty="0" err="1">
                <a:latin typeface="メイリオ" panose="020B0604030504040204" pitchFamily="50" charset="-128"/>
                <a:ea typeface="メイリオ" panose="020B0604030504040204" pitchFamily="50" charset="-128"/>
                <a:cs typeface="メイリオ"/>
                <a:sym typeface="Meiryo"/>
              </a:rPr>
              <a:t>ポップアップツールとサンクスLINE誘導で</a:t>
            </a:r>
            <a:r>
              <a:rPr lang="en-US" altLang="ja-JP" sz="1600" b="1" dirty="0">
                <a:latin typeface="メイリオ" panose="020B0604030504040204" pitchFamily="50" charset="-128"/>
                <a:ea typeface="メイリオ" panose="020B0604030504040204" pitchFamily="50" charset="-128"/>
                <a:cs typeface="メイリオ"/>
                <a:sym typeface="Meiryo"/>
              </a:rPr>
              <a:t>、</a:t>
            </a:r>
          </a:p>
          <a:p>
            <a:r>
              <a:rPr lang="en-US" altLang="ja-JP" sz="1600" b="1" dirty="0" err="1">
                <a:latin typeface="メイリオ" panose="020B0604030504040204" pitchFamily="50" charset="-128"/>
                <a:ea typeface="メイリオ" panose="020B0604030504040204" pitchFamily="50" charset="-128"/>
                <a:cs typeface="メイリオ"/>
                <a:sym typeface="Meiryo"/>
              </a:rPr>
              <a:t>離れる方と予約した方の両方を友だちにする</a:t>
            </a:r>
            <a:endParaRPr lang="en-US" altLang="ja-JP" sz="1600" b="1" dirty="0">
              <a:latin typeface="メイリオ" panose="020B0604030504040204" pitchFamily="50" charset="-128"/>
              <a:ea typeface="メイリオ" panose="020B0604030504040204" pitchFamily="50" charset="-128"/>
              <a:cs typeface="メイリオ"/>
              <a:sym typeface="Meiryo"/>
            </a:endParaRPr>
          </a:p>
        </p:txBody>
      </p:sp>
      <p:sp>
        <p:nvSpPr>
          <p:cNvPr id="5" name="見出し ポップアップツール（離脱防止）"/>
          <p:cNvSpPr/>
          <p:nvPr/>
        </p:nvSpPr>
        <p:spPr>
          <a:xfrm>
            <a:off x="502920" y="2095804"/>
            <a:ext cx="4311396" cy="411480"/>
          </a:xfrm>
          <a:prstGeom prst="rect">
            <a:avLst/>
          </a:prstGeom>
          <a:solidFill>
            <a:srgbClr val="002060"/>
          </a:solidFill>
          <a:ln>
            <a:noFill/>
          </a:ln>
        </p:spPr>
        <p:txBody>
          <a:bodyPr wrap="square" lIns="73152" tIns="36576" rIns="73152" bIns="36576" rtlCol="0" anchor="ctr">
            <a:noAutofit/>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ポップアップツール（離脱防止）</a:t>
            </a:r>
            <a:endParaRPr lang="ja-JP" altLang="en-US" sz="1200" dirty="0">
              <a:latin typeface="メイリオ"/>
              <a:ea typeface="メイリオ"/>
              <a:cs typeface="メイリオ"/>
            </a:endParaRPr>
          </a:p>
        </p:txBody>
      </p:sp>
      <p:graphicFrame>
        <p:nvGraphicFramePr>
          <p:cNvPr id="6" name="入口1 5"/>
          <p:cNvGraphicFramePr>
            <a:graphicFrameLocks noGrp="1"/>
          </p:cNvGraphicFramePr>
          <p:nvPr/>
        </p:nvGraphicFramePr>
        <p:xfrm>
          <a:off x="502920" y="2507284"/>
          <a:ext cx="4311396" cy="1700784"/>
        </p:xfrm>
        <a:graphic>
          <a:graphicData uri="http://schemas.openxmlformats.org/drawingml/2006/table">
            <a:tbl>
              <a:tblPr/>
              <a:tblGrid>
                <a:gridCol w="1280160">
                  <a:extLst>
                    <a:ext uri="{9D8B030D-6E8A-4147-A177-3AD203B41FA5}">
                      <a16:colId xmlns:a16="http://schemas.microsoft.com/office/drawing/2014/main" val="20000"/>
                    </a:ext>
                  </a:extLst>
                </a:gridCol>
                <a:gridCol w="3031236">
                  <a:extLst>
                    <a:ext uri="{9D8B030D-6E8A-4147-A177-3AD203B41FA5}">
                      <a16:colId xmlns:a16="http://schemas.microsoft.com/office/drawing/2014/main" val="20001"/>
                    </a:ext>
                  </a:extLst>
                </a:gridCol>
              </a:tblGrid>
              <a:tr h="566928">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対象</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LPで申し込まずに離れる方</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566928">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タイミング</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LPを離れようとしたとき</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案内</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次のセミナーの案内を、LINEで受け取れる</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7" name="見出し サンクスLINE誘導"/>
          <p:cNvSpPr/>
          <p:nvPr/>
        </p:nvSpPr>
        <p:spPr>
          <a:xfrm>
            <a:off x="5088636" y="2095804"/>
            <a:ext cx="4311396" cy="411480"/>
          </a:xfrm>
          <a:prstGeom prst="rect">
            <a:avLst/>
          </a:prstGeom>
          <a:solidFill>
            <a:srgbClr val="002060"/>
          </a:solidFill>
          <a:ln>
            <a:noFill/>
          </a:ln>
        </p:spPr>
        <p:txBody>
          <a:bodyPr wrap="square" lIns="73152" tIns="36576" rIns="73152" bIns="36576" rtlCol="0" anchor="ctr">
            <a:noAutofit/>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サンクスLINE誘導</a:t>
            </a:r>
            <a:endParaRPr lang="ja-JP" altLang="en-US" sz="1200" dirty="0">
              <a:latin typeface="メイリオ"/>
              <a:ea typeface="メイリオ"/>
              <a:cs typeface="メイリオ"/>
            </a:endParaRPr>
          </a:p>
        </p:txBody>
      </p:sp>
      <p:graphicFrame>
        <p:nvGraphicFramePr>
          <p:cNvPr id="8" name="入口2 7"/>
          <p:cNvGraphicFramePr>
            <a:graphicFrameLocks noGrp="1"/>
          </p:cNvGraphicFramePr>
          <p:nvPr/>
        </p:nvGraphicFramePr>
        <p:xfrm>
          <a:off x="5088636" y="2507284"/>
          <a:ext cx="4311396" cy="1700784"/>
        </p:xfrm>
        <a:graphic>
          <a:graphicData uri="http://schemas.openxmlformats.org/drawingml/2006/table">
            <a:tbl>
              <a:tblPr/>
              <a:tblGrid>
                <a:gridCol w="1280160">
                  <a:extLst>
                    <a:ext uri="{9D8B030D-6E8A-4147-A177-3AD203B41FA5}">
                      <a16:colId xmlns:a16="http://schemas.microsoft.com/office/drawing/2014/main" val="20000"/>
                    </a:ext>
                  </a:extLst>
                </a:gridCol>
                <a:gridCol w="3031236">
                  <a:extLst>
                    <a:ext uri="{9D8B030D-6E8A-4147-A177-3AD203B41FA5}">
                      <a16:colId xmlns:a16="http://schemas.microsoft.com/office/drawing/2014/main" val="20001"/>
                    </a:ext>
                  </a:extLst>
                </a:gridCol>
              </a:tblGrid>
              <a:tr h="566928">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対象</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セミナーを予約した方</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566928">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タイミング</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予約完了の画面</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案内</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当日の案内・リマインドを、LINEで届ける</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9" name="示唆"/>
          <p:cNvSpPr/>
          <p:nvPr/>
        </p:nvSpPr>
        <p:spPr>
          <a:xfrm>
            <a:off x="502920" y="4427524"/>
            <a:ext cx="8897112" cy="548640"/>
          </a:xfrm>
          <a:prstGeom prst="rect">
            <a:avLst/>
          </a:prstGeom>
          <a:solidFill>
            <a:srgbClr val="F2F2F2"/>
          </a:solidFill>
          <a:ln>
            <a:noFill/>
          </a:ln>
        </p:spPr>
        <p:txBody>
          <a:bodyPr wrap="square" lIns="73152" tIns="36576" rIns="73152" bIns="36576" rtlCol="0" anchor="ctr">
            <a:noAutofit/>
          </a:bodyPr>
          <a:lstStyle/>
          <a:p>
            <a:pPr algn="ctr">
              <a:buNone/>
            </a:pPr>
            <a:r>
              <a:rPr lang="ja-JP" altLang="en-US" sz="1600" b="1" dirty="0">
                <a:solidFill>
                  <a:srgbClr val="002060"/>
                </a:solidFill>
                <a:latin typeface="メイリオ" panose="020B0604030504040204" pitchFamily="50" charset="-128"/>
                <a:ea typeface="メイリオ" panose="020B0604030504040204" pitchFamily="50" charset="-128"/>
                <a:cs typeface="メイリオ"/>
              </a:rPr>
              <a:t>どちらも、次のイベントまで追える友だちになる</a:t>
            </a:r>
            <a:endParaRPr lang="ja-JP" altLang="en-US" sz="1200" dirty="0">
              <a:latin typeface="メイリオ"/>
              <a:ea typeface="メイリオ"/>
              <a:cs typeface="メイリオ"/>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配信の設計</a:t>
            </a:r>
          </a:p>
        </p:txBody>
      </p:sp>
      <p:sp>
        <p:nvSpPr>
          <p:cNvPr id="3" name="正方形/長方形 8"/>
          <p:cNvSpPr/>
          <p:nvPr/>
        </p:nvSpPr>
        <p:spPr>
          <a:xfrm>
            <a:off x="0" y="777240"/>
            <a:ext cx="210312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段階ごとの配信</a:t>
            </a:r>
          </a:p>
        </p:txBody>
      </p:sp>
      <p:sp>
        <p:nvSpPr>
          <p:cNvPr id="4" name="Google Shape;752;p28"/>
          <p:cNvSpPr txBox="1"/>
          <p:nvPr/>
        </p:nvSpPr>
        <p:spPr>
          <a:xfrm>
            <a:off x="2286000" y="859536"/>
            <a:ext cx="7406640" cy="338328"/>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メイリオ"/>
                <a:sym typeface="Meiryo"/>
              </a:rPr>
              <a:t>興味あり・予約・参加の段階ごとに、案内を変える</a:t>
            </a:r>
          </a:p>
        </p:txBody>
      </p:sp>
      <p:sp>
        <p:nvSpPr>
          <p:cNvPr id="5" name="流れ1"/>
          <p:cNvSpPr/>
          <p:nvPr/>
        </p:nvSpPr>
        <p:spPr>
          <a:xfrm>
            <a:off x="502920" y="1890613"/>
            <a:ext cx="1991106" cy="594360"/>
          </a:xfrm>
          <a:prstGeom prst="rect">
            <a:avLst/>
          </a:prstGeom>
          <a:solidFill>
            <a:srgbClr val="DCE6F2"/>
          </a:solidFill>
          <a:ln>
            <a:noFill/>
          </a:ln>
        </p:spPr>
        <p:txBody>
          <a:bodyPr wrap="square" lIns="54864" tIns="36576" rIns="54864" bIns="36576" rtlCol="0" anchor="ctr">
            <a:noAutofit/>
          </a:bodyPr>
          <a:lstStyle/>
          <a:p>
            <a:pPr algn="ctr">
              <a:lnSpc>
                <a:spcPct val="115000"/>
              </a:lnSpc>
              <a:buNone/>
            </a:pPr>
            <a:r>
              <a:rPr lang="ja-JP" altLang="en-US" sz="1500" b="1" dirty="0">
                <a:solidFill>
                  <a:srgbClr val="002060"/>
                </a:solidFill>
                <a:latin typeface="メイリオ" panose="020B0604030504040204" pitchFamily="50" charset="-128"/>
                <a:ea typeface="メイリオ" panose="020B0604030504040204" pitchFamily="50" charset="-128"/>
                <a:cs typeface="メイリオ"/>
              </a:rPr>
              <a:t>興味あり</a:t>
            </a:r>
            <a:endParaRPr lang="ja-JP" altLang="en-US" sz="1200" dirty="0">
              <a:latin typeface="メイリオ"/>
              <a:ea typeface="メイリオ"/>
              <a:cs typeface="メイリオ"/>
            </a:endParaRPr>
          </a:p>
        </p:txBody>
      </p:sp>
      <p:sp>
        <p:nvSpPr>
          <p:cNvPr id="6" name="矢印"/>
          <p:cNvSpPr/>
          <p:nvPr/>
        </p:nvSpPr>
        <p:spPr>
          <a:xfrm>
            <a:off x="2494026" y="1890613"/>
            <a:ext cx="310896" cy="594360"/>
          </a:xfrm>
          <a:prstGeom prst="rect">
            <a:avLst/>
          </a:prstGeom>
          <a:noFill/>
          <a:ln>
            <a:noFill/>
          </a:ln>
        </p:spPr>
        <p:txBody>
          <a:bodyPr wrap="square" lIns="0" tIns="0" rIns="0" bIns="0" rtlCol="0" anchor="ctr">
            <a:noAutofit/>
          </a:bodyPr>
          <a:lstStyle/>
          <a:p>
            <a:pPr algn="ctr">
              <a:buNone/>
            </a:pPr>
            <a:r>
              <a:rPr lang="ja-JP" altLang="en-US" sz="1400" b="0" dirty="0">
                <a:solidFill>
                  <a:srgbClr val="002060"/>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p:txBody>
      </p:sp>
      <p:sp>
        <p:nvSpPr>
          <p:cNvPr id="7" name="流れ2"/>
          <p:cNvSpPr/>
          <p:nvPr/>
        </p:nvSpPr>
        <p:spPr>
          <a:xfrm>
            <a:off x="2804922" y="1890613"/>
            <a:ext cx="1991106" cy="594360"/>
          </a:xfrm>
          <a:prstGeom prst="rect">
            <a:avLst/>
          </a:prstGeom>
          <a:solidFill>
            <a:srgbClr val="DCE6F2"/>
          </a:solidFill>
          <a:ln>
            <a:noFill/>
          </a:ln>
        </p:spPr>
        <p:txBody>
          <a:bodyPr wrap="square" lIns="54864" tIns="36576" rIns="54864" bIns="36576" rtlCol="0" anchor="ctr">
            <a:noAutofit/>
          </a:bodyPr>
          <a:lstStyle/>
          <a:p>
            <a:pPr algn="ctr">
              <a:lnSpc>
                <a:spcPct val="115000"/>
              </a:lnSpc>
              <a:buNone/>
            </a:pPr>
            <a:r>
              <a:rPr lang="ja-JP" altLang="en-US" sz="1500" b="1" dirty="0">
                <a:solidFill>
                  <a:srgbClr val="002060"/>
                </a:solidFill>
                <a:latin typeface="メイリオ" panose="020B0604030504040204" pitchFamily="50" charset="-128"/>
                <a:ea typeface="メイリオ" panose="020B0604030504040204" pitchFamily="50" charset="-128"/>
                <a:cs typeface="メイリオ"/>
              </a:rPr>
              <a:t>予約</a:t>
            </a:r>
            <a:endParaRPr lang="ja-JP" altLang="en-US" sz="1200" dirty="0">
              <a:latin typeface="メイリオ"/>
              <a:ea typeface="メイリオ"/>
              <a:cs typeface="メイリオ"/>
            </a:endParaRPr>
          </a:p>
        </p:txBody>
      </p:sp>
      <p:sp>
        <p:nvSpPr>
          <p:cNvPr id="8" name="矢印"/>
          <p:cNvSpPr/>
          <p:nvPr/>
        </p:nvSpPr>
        <p:spPr>
          <a:xfrm>
            <a:off x="4796028" y="1890613"/>
            <a:ext cx="310896" cy="594360"/>
          </a:xfrm>
          <a:prstGeom prst="rect">
            <a:avLst/>
          </a:prstGeom>
          <a:noFill/>
          <a:ln>
            <a:noFill/>
          </a:ln>
        </p:spPr>
        <p:txBody>
          <a:bodyPr wrap="square" lIns="0" tIns="0" rIns="0" bIns="0" rtlCol="0" anchor="ctr">
            <a:noAutofit/>
          </a:bodyPr>
          <a:lstStyle/>
          <a:p>
            <a:pPr algn="ctr">
              <a:buNone/>
            </a:pPr>
            <a:r>
              <a:rPr lang="ja-JP" altLang="en-US" sz="1400" b="0" dirty="0">
                <a:solidFill>
                  <a:srgbClr val="002060"/>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p:txBody>
      </p:sp>
      <p:sp>
        <p:nvSpPr>
          <p:cNvPr id="9" name="流れ3"/>
          <p:cNvSpPr/>
          <p:nvPr/>
        </p:nvSpPr>
        <p:spPr>
          <a:xfrm>
            <a:off x="5106924" y="1890613"/>
            <a:ext cx="1991106" cy="594360"/>
          </a:xfrm>
          <a:prstGeom prst="rect">
            <a:avLst/>
          </a:prstGeom>
          <a:solidFill>
            <a:srgbClr val="DCE6F2"/>
          </a:solidFill>
          <a:ln>
            <a:noFill/>
          </a:ln>
        </p:spPr>
        <p:txBody>
          <a:bodyPr wrap="square" lIns="54864" tIns="36576" rIns="54864" bIns="36576" rtlCol="0" anchor="ctr">
            <a:noAutofit/>
          </a:bodyPr>
          <a:lstStyle/>
          <a:p>
            <a:pPr algn="ctr">
              <a:lnSpc>
                <a:spcPct val="115000"/>
              </a:lnSpc>
              <a:buNone/>
            </a:pPr>
            <a:r>
              <a:rPr lang="ja-JP" altLang="en-US" sz="1500" b="1" dirty="0">
                <a:solidFill>
                  <a:srgbClr val="002060"/>
                </a:solidFill>
                <a:latin typeface="メイリオ" panose="020B0604030504040204" pitchFamily="50" charset="-128"/>
                <a:ea typeface="メイリオ" panose="020B0604030504040204" pitchFamily="50" charset="-128"/>
                <a:cs typeface="メイリオ"/>
              </a:rPr>
              <a:t>参加</a:t>
            </a:r>
            <a:endParaRPr lang="ja-JP" altLang="en-US" sz="1200" dirty="0">
              <a:latin typeface="メイリオ"/>
              <a:ea typeface="メイリオ"/>
              <a:cs typeface="メイリオ"/>
            </a:endParaRPr>
          </a:p>
        </p:txBody>
      </p:sp>
      <p:sp>
        <p:nvSpPr>
          <p:cNvPr id="10" name="矢印"/>
          <p:cNvSpPr/>
          <p:nvPr/>
        </p:nvSpPr>
        <p:spPr>
          <a:xfrm>
            <a:off x="7098030" y="1890613"/>
            <a:ext cx="310896" cy="594360"/>
          </a:xfrm>
          <a:prstGeom prst="rect">
            <a:avLst/>
          </a:prstGeom>
          <a:noFill/>
          <a:ln>
            <a:noFill/>
          </a:ln>
        </p:spPr>
        <p:txBody>
          <a:bodyPr wrap="square" lIns="0" tIns="0" rIns="0" bIns="0" rtlCol="0" anchor="ctr">
            <a:noAutofit/>
          </a:bodyPr>
          <a:lstStyle/>
          <a:p>
            <a:pPr algn="ctr">
              <a:buNone/>
            </a:pPr>
            <a:r>
              <a:rPr lang="ja-JP" altLang="en-US" sz="1400" b="0" dirty="0">
                <a:solidFill>
                  <a:srgbClr val="002060"/>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p:txBody>
      </p:sp>
      <p:sp>
        <p:nvSpPr>
          <p:cNvPr id="11" name="流れ4"/>
          <p:cNvSpPr/>
          <p:nvPr/>
        </p:nvSpPr>
        <p:spPr>
          <a:xfrm>
            <a:off x="7408926" y="1890613"/>
            <a:ext cx="1991106" cy="594360"/>
          </a:xfrm>
          <a:prstGeom prst="rect">
            <a:avLst/>
          </a:prstGeom>
          <a:solidFill>
            <a:srgbClr val="002060"/>
          </a:solidFill>
          <a:ln>
            <a:noFill/>
          </a:ln>
        </p:spPr>
        <p:txBody>
          <a:bodyPr wrap="square" lIns="54864" tIns="36576" rIns="54864" bIns="36576" rtlCol="0" anchor="ctr">
            <a:noAutofit/>
          </a:bodyPr>
          <a:lstStyle/>
          <a:p>
            <a:pPr algn="ctr">
              <a:lnSpc>
                <a:spcPct val="115000"/>
              </a:lnSpc>
              <a:buNone/>
            </a:pPr>
            <a:r>
              <a:rPr lang="ja-JP" altLang="en-US" sz="1500" b="1" dirty="0">
                <a:solidFill>
                  <a:srgbClr val="FFFFFF"/>
                </a:solidFill>
                <a:latin typeface="メイリオ" panose="020B0604030504040204" pitchFamily="50" charset="-128"/>
                <a:ea typeface="メイリオ" panose="020B0604030504040204" pitchFamily="50" charset="-128"/>
                <a:cs typeface="メイリオ"/>
              </a:rPr>
              <a:t>サロン入会</a:t>
            </a:r>
            <a:endParaRPr lang="ja-JP" altLang="en-US" sz="1200" dirty="0">
              <a:latin typeface="メイリオ"/>
              <a:ea typeface="メイリオ"/>
              <a:cs typeface="メイリオ"/>
            </a:endParaRPr>
          </a:p>
        </p:txBody>
      </p:sp>
      <p:graphicFrame>
        <p:nvGraphicFramePr>
          <p:cNvPr id="12" name="段階ごとの配信 11"/>
          <p:cNvGraphicFramePr>
            <a:graphicFrameLocks noGrp="1"/>
          </p:cNvGraphicFramePr>
          <p:nvPr/>
        </p:nvGraphicFramePr>
        <p:xfrm>
          <a:off x="502920" y="2713573"/>
          <a:ext cx="8897112" cy="2322576"/>
        </p:xfrm>
        <a:graphic>
          <a:graphicData uri="http://schemas.openxmlformats.org/drawingml/2006/table">
            <a:tbl>
              <a:tblPr/>
              <a:tblGrid>
                <a:gridCol w="137160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3639312">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41148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段階</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対象</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届ける内容</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ねらい</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extLst>
                  <a:ext uri="{0D108BD9-81ED-4DB2-BD59-A6C34878D82A}">
                    <a16:rowId xmlns:a16="http://schemas.microsoft.com/office/drawing/2014/main" val="10000"/>
                  </a:ext>
                </a:extLst>
              </a:tr>
              <a:tr h="566928">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興味あり</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予約していない方</a:t>
                      </a:r>
                      <a:br>
                        <a:rPr lang="ja-JP" altLang="en-US" sz="1300" b="0" dirty="0">
                          <a:solidFill>
                            <a:srgbClr val="333333"/>
                          </a:solidFill>
                          <a:latin typeface="メイリオ" panose="020B0604030504040204" pitchFamily="50" charset="-128"/>
                          <a:ea typeface="メイリオ" panose="020B0604030504040204" pitchFamily="50" charset="-128"/>
                          <a:cs typeface="メイリオ"/>
                        </a:rPr>
                      </a:br>
                      <a:r>
                        <a:rPr lang="ja-JP" altLang="en-US" sz="1300" b="0" dirty="0">
                          <a:solidFill>
                            <a:srgbClr val="333333"/>
                          </a:solidFill>
                          <a:latin typeface="メイリオ" panose="020B0604030504040204" pitchFamily="50" charset="-128"/>
                          <a:ea typeface="メイリオ" panose="020B0604030504040204" pitchFamily="50" charset="-128"/>
                          <a:cs typeface="メイリオ"/>
                        </a:rPr>
                        <a:t>（ポップアップツールから）</a:t>
                      </a:r>
                      <a:endParaRPr lang="ja-JP" altLang="en-US" sz="13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セミナーの見どころ動画・参加特典</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予約へ</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予約した方</a:t>
                      </a:r>
                      <a:br>
                        <a:rPr lang="ja-JP" altLang="en-US" sz="1300" b="0" dirty="0">
                          <a:solidFill>
                            <a:srgbClr val="333333"/>
                          </a:solidFill>
                          <a:latin typeface="メイリオ" panose="020B0604030504040204" pitchFamily="50" charset="-128"/>
                          <a:ea typeface="メイリオ" panose="020B0604030504040204" pitchFamily="50" charset="-128"/>
                          <a:cs typeface="メイリオ"/>
                        </a:rPr>
                      </a:br>
                      <a:r>
                        <a:rPr lang="ja-JP" altLang="en-US" sz="1300" b="0" dirty="0">
                          <a:solidFill>
                            <a:srgbClr val="333333"/>
                          </a:solidFill>
                          <a:latin typeface="メイリオ" panose="020B0604030504040204" pitchFamily="50" charset="-128"/>
                          <a:ea typeface="メイリオ" panose="020B0604030504040204" pitchFamily="50" charset="-128"/>
                          <a:cs typeface="メイリオ"/>
                        </a:rPr>
                        <a:t>（サンクスLINE誘導から）</a:t>
                      </a:r>
                      <a:endParaRPr lang="ja-JP" altLang="en-US" sz="13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日程ごとに、前日・当日のお知らせ</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当日の参加へ</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7724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参加</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イベントに参加した方</a:t>
                      </a:r>
                      <a:endParaRPr lang="ja-JP" altLang="en-US" sz="13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イベント直後に、</a:t>
                      </a:r>
                      <a:br>
                        <a:rPr lang="ja-JP" altLang="en-US" sz="1400" b="0" dirty="0">
                          <a:solidFill>
                            <a:srgbClr val="333333"/>
                          </a:solidFill>
                          <a:latin typeface="メイリオ" panose="020B0604030504040204" pitchFamily="50" charset="-128"/>
                          <a:ea typeface="メイリオ" panose="020B0604030504040204" pitchFamily="50" charset="-128"/>
                          <a:cs typeface="メイリオ"/>
                        </a:rPr>
                      </a:br>
                      <a:r>
                        <a:rPr lang="ja-JP" altLang="en-US" sz="1400" b="0" dirty="0">
                          <a:solidFill>
                            <a:srgbClr val="333333"/>
                          </a:solidFill>
                          <a:latin typeface="メイリオ" panose="020B0604030504040204" pitchFamily="50" charset="-128"/>
                          <a:ea typeface="メイリオ" panose="020B0604030504040204" pitchFamily="50" charset="-128"/>
                          <a:cs typeface="メイリオ"/>
                        </a:rPr>
                        <a:t>サロンの申込みフォームを直接案内</a:t>
                      </a:r>
                      <a:br>
                        <a:rPr lang="ja-JP" altLang="en-US" sz="1400" b="0" dirty="0">
                          <a:solidFill>
                            <a:srgbClr val="333333"/>
                          </a:solidFill>
                          <a:latin typeface="メイリオ" panose="020B0604030504040204" pitchFamily="50" charset="-128"/>
                          <a:ea typeface="メイリオ" panose="020B0604030504040204" pitchFamily="50" charset="-128"/>
                          <a:cs typeface="メイリオ"/>
                        </a:rPr>
                      </a:br>
                      <a:r>
                        <a:rPr lang="ja-JP" altLang="en-US" sz="1400" b="0" dirty="0">
                          <a:solidFill>
                            <a:srgbClr val="333333"/>
                          </a:solidFill>
                          <a:latin typeface="メイリオ" panose="020B0604030504040204" pitchFamily="50" charset="-128"/>
                          <a:ea typeface="メイリオ" panose="020B0604030504040204" pitchFamily="50" charset="-128"/>
                          <a:cs typeface="メイリオ"/>
                        </a:rPr>
                        <a:t>（申込みはいつでも可能）</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入会へ</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3" name="注記"/>
          <p:cNvSpPr/>
          <p:nvPr/>
        </p:nvSpPr>
        <p:spPr>
          <a:xfrm>
            <a:off x="502920" y="5136733"/>
            <a:ext cx="8897112" cy="256032"/>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※配信の内容は、イベントの内容に合わせて設計</a:t>
            </a:r>
            <a:endParaRPr lang="ja-JP" altLang="en-US" sz="1200" dirty="0">
              <a:latin typeface="メイリオ"/>
              <a:ea typeface="メイリオ"/>
              <a:cs typeface="メイリオ"/>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目標</a:t>
            </a:r>
          </a:p>
        </p:txBody>
      </p:sp>
      <p:sp>
        <p:nvSpPr>
          <p:cNvPr id="3" name="正方形/長方形 8"/>
          <p:cNvSpPr/>
          <p:nvPr/>
        </p:nvSpPr>
        <p:spPr>
          <a:xfrm>
            <a:off x="0" y="777240"/>
            <a:ext cx="210312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指標</a:t>
            </a:r>
          </a:p>
        </p:txBody>
      </p:sp>
      <p:sp>
        <p:nvSpPr>
          <p:cNvPr id="4" name="Google Shape;752;p28"/>
          <p:cNvSpPr txBox="1"/>
          <p:nvPr/>
        </p:nvSpPr>
        <p:spPr>
          <a:xfrm>
            <a:off x="2286000" y="859536"/>
            <a:ext cx="7406640" cy="338328"/>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メイリオ"/>
                <a:sym typeface="Meiryo"/>
              </a:rPr>
              <a:t>追える人数を増やし・減らさず、次のイベント参加・入会へ</a:t>
            </a:r>
          </a:p>
        </p:txBody>
      </p:sp>
      <p:sp>
        <p:nvSpPr>
          <p:cNvPr id="5" name="流れ1"/>
          <p:cNvSpPr/>
          <p:nvPr/>
        </p:nvSpPr>
        <p:spPr>
          <a:xfrm>
            <a:off x="502920" y="2095804"/>
            <a:ext cx="2758440" cy="594360"/>
          </a:xfrm>
          <a:prstGeom prst="rect">
            <a:avLst/>
          </a:prstGeom>
          <a:solidFill>
            <a:srgbClr val="DCE6F2"/>
          </a:solidFill>
          <a:ln>
            <a:noFill/>
          </a:ln>
        </p:spPr>
        <p:txBody>
          <a:bodyPr wrap="square" lIns="54864" tIns="36576" rIns="54864" bIns="36576" rtlCol="0" anchor="ctr">
            <a:noAutofit/>
          </a:bodyPr>
          <a:lstStyle/>
          <a:p>
            <a:pPr algn="ctr">
              <a:lnSpc>
                <a:spcPct val="115000"/>
              </a:lnSpc>
              <a:buNone/>
            </a:pPr>
            <a:r>
              <a:rPr lang="ja-JP" altLang="en-US" sz="1500" b="1" dirty="0">
                <a:solidFill>
                  <a:srgbClr val="002060"/>
                </a:solidFill>
                <a:latin typeface="メイリオ" panose="020B0604030504040204" pitchFamily="50" charset="-128"/>
                <a:ea typeface="メイリオ" panose="020B0604030504040204" pitchFamily="50" charset="-128"/>
                <a:cs typeface="メイリオ"/>
              </a:rPr>
              <a:t>追える人数</a:t>
            </a:r>
            <a:endParaRPr lang="ja-JP" altLang="en-US" sz="1200" dirty="0">
              <a:latin typeface="メイリオ"/>
              <a:ea typeface="メイリオ"/>
              <a:cs typeface="メイリオ"/>
            </a:endParaRPr>
          </a:p>
        </p:txBody>
      </p:sp>
      <p:sp>
        <p:nvSpPr>
          <p:cNvPr id="6" name="矢印"/>
          <p:cNvSpPr/>
          <p:nvPr/>
        </p:nvSpPr>
        <p:spPr>
          <a:xfrm>
            <a:off x="3261360" y="2095804"/>
            <a:ext cx="310896" cy="594360"/>
          </a:xfrm>
          <a:prstGeom prst="rect">
            <a:avLst/>
          </a:prstGeom>
          <a:noFill/>
          <a:ln>
            <a:noFill/>
          </a:ln>
        </p:spPr>
        <p:txBody>
          <a:bodyPr wrap="square" lIns="0" tIns="0" rIns="0" bIns="0" rtlCol="0" anchor="ctr">
            <a:noAutofit/>
          </a:bodyPr>
          <a:lstStyle/>
          <a:p>
            <a:pPr algn="ctr">
              <a:buNone/>
            </a:pPr>
            <a:r>
              <a:rPr lang="ja-JP" altLang="en-US" sz="1400" b="0" dirty="0">
                <a:solidFill>
                  <a:srgbClr val="002060"/>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p:txBody>
      </p:sp>
      <p:sp>
        <p:nvSpPr>
          <p:cNvPr id="7" name="流れ2"/>
          <p:cNvSpPr/>
          <p:nvPr/>
        </p:nvSpPr>
        <p:spPr>
          <a:xfrm>
            <a:off x="3572256" y="2095804"/>
            <a:ext cx="2758440" cy="594360"/>
          </a:xfrm>
          <a:prstGeom prst="rect">
            <a:avLst/>
          </a:prstGeom>
          <a:solidFill>
            <a:srgbClr val="DCE6F2"/>
          </a:solidFill>
          <a:ln>
            <a:noFill/>
          </a:ln>
        </p:spPr>
        <p:txBody>
          <a:bodyPr wrap="square" lIns="54864" tIns="36576" rIns="54864" bIns="36576" rtlCol="0" anchor="ctr">
            <a:noAutofit/>
          </a:bodyPr>
          <a:lstStyle/>
          <a:p>
            <a:pPr algn="ctr">
              <a:lnSpc>
                <a:spcPct val="115000"/>
              </a:lnSpc>
              <a:buNone/>
            </a:pPr>
            <a:r>
              <a:rPr lang="ja-JP" altLang="en-US" sz="1500" b="1" dirty="0">
                <a:solidFill>
                  <a:srgbClr val="002060"/>
                </a:solidFill>
                <a:latin typeface="メイリオ" panose="020B0604030504040204" pitchFamily="50" charset="-128"/>
                <a:ea typeface="メイリオ" panose="020B0604030504040204" pitchFamily="50" charset="-128"/>
                <a:cs typeface="メイリオ"/>
              </a:rPr>
              <a:t>次のイベントの予約・参加</a:t>
            </a:r>
            <a:endParaRPr lang="ja-JP" altLang="en-US" sz="1200" dirty="0">
              <a:latin typeface="メイリオ"/>
              <a:ea typeface="メイリオ"/>
              <a:cs typeface="メイリオ"/>
            </a:endParaRPr>
          </a:p>
        </p:txBody>
      </p:sp>
      <p:sp>
        <p:nvSpPr>
          <p:cNvPr id="8" name="矢印"/>
          <p:cNvSpPr/>
          <p:nvPr/>
        </p:nvSpPr>
        <p:spPr>
          <a:xfrm>
            <a:off x="6330696" y="2095804"/>
            <a:ext cx="310896" cy="594360"/>
          </a:xfrm>
          <a:prstGeom prst="rect">
            <a:avLst/>
          </a:prstGeom>
          <a:noFill/>
          <a:ln>
            <a:noFill/>
          </a:ln>
        </p:spPr>
        <p:txBody>
          <a:bodyPr wrap="square" lIns="0" tIns="0" rIns="0" bIns="0" rtlCol="0" anchor="ctr">
            <a:noAutofit/>
          </a:bodyPr>
          <a:lstStyle/>
          <a:p>
            <a:pPr algn="ctr">
              <a:buNone/>
            </a:pPr>
            <a:r>
              <a:rPr lang="ja-JP" altLang="en-US" sz="1400" b="0" dirty="0">
                <a:solidFill>
                  <a:srgbClr val="002060"/>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p:txBody>
      </p:sp>
      <p:sp>
        <p:nvSpPr>
          <p:cNvPr id="9" name="流れ3"/>
          <p:cNvSpPr/>
          <p:nvPr/>
        </p:nvSpPr>
        <p:spPr>
          <a:xfrm>
            <a:off x="6641592" y="2095804"/>
            <a:ext cx="2758440" cy="594360"/>
          </a:xfrm>
          <a:prstGeom prst="rect">
            <a:avLst/>
          </a:prstGeom>
          <a:solidFill>
            <a:srgbClr val="002060"/>
          </a:solidFill>
          <a:ln>
            <a:noFill/>
          </a:ln>
        </p:spPr>
        <p:txBody>
          <a:bodyPr wrap="square" lIns="54864" tIns="36576" rIns="54864" bIns="36576" rtlCol="0" anchor="ctr">
            <a:noAutofit/>
          </a:bodyPr>
          <a:lstStyle/>
          <a:p>
            <a:pPr algn="ctr">
              <a:lnSpc>
                <a:spcPct val="115000"/>
              </a:lnSpc>
              <a:buNone/>
            </a:pPr>
            <a:r>
              <a:rPr lang="ja-JP" altLang="en-US" sz="1500" b="1" dirty="0">
                <a:solidFill>
                  <a:srgbClr val="FFFFFF"/>
                </a:solidFill>
                <a:latin typeface="メイリオ" panose="020B0604030504040204" pitchFamily="50" charset="-128"/>
                <a:ea typeface="メイリオ" panose="020B0604030504040204" pitchFamily="50" charset="-128"/>
                <a:cs typeface="メイリオ"/>
              </a:rPr>
              <a:t>サロン入会</a:t>
            </a:r>
            <a:endParaRPr lang="ja-JP" altLang="en-US" sz="1200" dirty="0">
              <a:latin typeface="メイリオ"/>
              <a:ea typeface="メイリオ"/>
              <a:cs typeface="メイリオ"/>
            </a:endParaRPr>
          </a:p>
        </p:txBody>
      </p:sp>
      <p:graphicFrame>
        <p:nvGraphicFramePr>
          <p:cNvPr id="10" name="指標 9"/>
          <p:cNvGraphicFramePr>
            <a:graphicFrameLocks noGrp="1"/>
          </p:cNvGraphicFramePr>
          <p:nvPr/>
        </p:nvGraphicFramePr>
        <p:xfrm>
          <a:off x="502920" y="2918764"/>
          <a:ext cx="8897112" cy="2057400"/>
        </p:xfrm>
        <a:graphic>
          <a:graphicData uri="http://schemas.openxmlformats.org/drawingml/2006/table">
            <a:tbl>
              <a:tblPr/>
              <a:tblGrid>
                <a:gridCol w="201168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5148072">
                  <a:extLst>
                    <a:ext uri="{9D8B030D-6E8A-4147-A177-3AD203B41FA5}">
                      <a16:colId xmlns:a16="http://schemas.microsoft.com/office/drawing/2014/main" val="20002"/>
                    </a:ext>
                  </a:extLst>
                </a:gridCol>
              </a:tblGrid>
              <a:tr h="41148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指標</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見る時期</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内容</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extLst>
                  <a:ext uri="{0D108BD9-81ED-4DB2-BD59-A6C34878D82A}">
                    <a16:rowId xmlns:a16="http://schemas.microsoft.com/office/drawing/2014/main" val="10000"/>
                  </a:ext>
                </a:extLst>
              </a:tr>
              <a:tr h="54864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追える人数</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ctr">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平常期</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ブロックされずに届く友だちの数。増やし、減らさない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予約・参加</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ctr">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イベント期</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LINEからの予約と、当日の参加</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サロン入会</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ctr">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イベントの後</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参加した方のうち、入会した方</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概算お見積り：6か月目に追える人数554人</a:t>
            </a:r>
          </a:p>
        </p:txBody>
      </p:sp>
      <p:sp>
        <p:nvSpPr>
          <p:cNvPr id="3" name="正方形/長方形 8"/>
          <p:cNvSpPr/>
          <p:nvPr/>
        </p:nvSpPr>
        <p:spPr>
          <a:xfrm>
            <a:off x="0" y="777240"/>
            <a:ext cx="210312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プラン②</a:t>
            </a:r>
          </a:p>
        </p:txBody>
      </p:sp>
      <p:sp>
        <p:nvSpPr>
          <p:cNvPr id="4" name="Google Shape;752;p28"/>
          <p:cNvSpPr txBox="1"/>
          <p:nvPr/>
        </p:nvSpPr>
        <p:spPr>
          <a:xfrm>
            <a:off x="2286000" y="859536"/>
            <a:ext cx="7406640" cy="338328"/>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メイリオ"/>
                <a:sym typeface="Meiryo"/>
              </a:rPr>
              <a:t>イベントに合わせた運用で、セミナー予約・サロン入会へつなげる</a:t>
            </a:r>
          </a:p>
        </p:txBody>
      </p:sp>
      <p:sp>
        <p:nvSpPr>
          <p:cNvPr id="341" name="正方形/長方形 4"/>
          <p:cNvSpPr/>
          <p:nvPr/>
        </p:nvSpPr>
        <p:spPr>
          <a:xfrm>
            <a:off x="2613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cs typeface="メイリオ"/>
              </a:rPr>
              <a:t>初期</a:t>
            </a:r>
            <a:endParaRPr lang="en-US" sz="1400" b="0" u="none" strike="noStrike">
              <a:solidFill>
                <a:srgbClr val="FFFFFF"/>
              </a:solidFill>
              <a:effectLst/>
              <a:uFillTx/>
              <a:latin typeface="メイリオ"/>
              <a:ea typeface="メイリオ"/>
              <a:cs typeface="メイリオ"/>
            </a:endParaRPr>
          </a:p>
        </p:txBody>
      </p:sp>
      <p:sp>
        <p:nvSpPr>
          <p:cNvPr id="342" name="正方形/長方形 6"/>
          <p:cNvSpPr/>
          <p:nvPr/>
        </p:nvSpPr>
        <p:spPr>
          <a:xfrm>
            <a:off x="33375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cs typeface="メイリオ"/>
              </a:rPr>
              <a:t>月次</a:t>
            </a:r>
            <a:endParaRPr lang="en-US" sz="1400" b="0" u="none" strike="noStrike">
              <a:solidFill>
                <a:srgbClr val="FFFFFF"/>
              </a:solidFill>
              <a:effectLst/>
              <a:uFillTx/>
              <a:latin typeface="メイリオ"/>
              <a:ea typeface="メイリオ"/>
              <a:cs typeface="メイリオ"/>
            </a:endParaRPr>
          </a:p>
        </p:txBody>
      </p:sp>
      <p:sp>
        <p:nvSpPr>
          <p:cNvPr id="343" name="正方形/長方形 7"/>
          <p:cNvSpPr/>
          <p:nvPr/>
        </p:nvSpPr>
        <p:spPr>
          <a:xfrm>
            <a:off x="2613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cs typeface="メイリオ"/>
              </a:rPr>
              <a:t>¥295,000〜</a:t>
            </a:r>
            <a:endParaRPr lang="en-US" sz="1600" b="0" u="none" strike="noStrike">
              <a:solidFill>
                <a:srgbClr val="000000"/>
              </a:solidFill>
              <a:effectLst/>
              <a:uFillTx/>
              <a:latin typeface="メイリオ"/>
              <a:ea typeface="メイリオ"/>
              <a:cs typeface="メイリオ"/>
            </a:endParaRPr>
          </a:p>
        </p:txBody>
      </p:sp>
      <p:sp>
        <p:nvSpPr>
          <p:cNvPr id="344" name="正方形/長方形 9"/>
          <p:cNvSpPr/>
          <p:nvPr/>
        </p:nvSpPr>
        <p:spPr>
          <a:xfrm>
            <a:off x="33375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cs typeface="メイリオ"/>
              </a:rPr>
              <a:t>イベント期 ¥365,000〜</a:t>
            </a:r>
            <a:endParaRPr lang="en-US" sz="1600" b="0" u="none" strike="noStrike">
              <a:solidFill>
                <a:srgbClr val="000000"/>
              </a:solidFill>
              <a:effectLst/>
              <a:uFillTx/>
              <a:latin typeface="メイリオ"/>
              <a:ea typeface="メイリオ"/>
              <a:cs typeface="メイリオ"/>
            </a:endParaRPr>
          </a:p>
          <a:p>
            <a:pPr algn="ctr" defTabSz="914400">
              <a:lnSpc>
                <a:spcPct val="100000"/>
              </a:lnSpc>
            </a:pPr>
            <a:r>
              <a:rPr lang="en-US" sz="1600" b="1" u="none" strike="noStrike">
                <a:solidFill>
                  <a:schemeClr val="dk1"/>
                </a:solidFill>
                <a:effectLst/>
                <a:uFillTx/>
                <a:latin typeface="メイリオ"/>
                <a:ea typeface="メイリオ"/>
                <a:cs typeface="メイリオ"/>
              </a:rPr>
              <a:t>平常期 ¥165,000〜</a:t>
            </a:r>
            <a:endParaRPr lang="en-US" sz="1600" b="0" u="none" strike="noStrike">
              <a:solidFill>
                <a:srgbClr val="000000"/>
              </a:solidFill>
              <a:effectLst/>
              <a:uFillTx/>
              <a:latin typeface="メイリオ"/>
              <a:ea typeface="メイリオ"/>
              <a:cs typeface="メイリオ"/>
            </a:endParaRPr>
          </a:p>
        </p:txBody>
      </p:sp>
      <p:sp>
        <p:nvSpPr>
          <p:cNvPr id="345" name="矢印: 右 14"/>
          <p:cNvSpPr/>
          <p:nvPr/>
        </p:nvSpPr>
        <p:spPr>
          <a:xfrm>
            <a:off x="6379200" y="1956960"/>
            <a:ext cx="365400" cy="2797560"/>
          </a:xfrm>
          <a:prstGeom prst="rightArrow">
            <a:avLst>
              <a:gd name="adj1" fmla="val 50000"/>
              <a:gd name="adj2" fmla="val 50000"/>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cs typeface="メイリオ"/>
            </a:endParaRPr>
          </a:p>
        </p:txBody>
      </p:sp>
      <p:sp>
        <p:nvSpPr>
          <p:cNvPr id="346" name="正方形/長方形 16"/>
          <p:cNvSpPr/>
          <p:nvPr/>
        </p:nvSpPr>
        <p:spPr>
          <a:xfrm>
            <a:off x="6744960" y="1517760"/>
            <a:ext cx="2899440" cy="38376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0" u="none" strike="noStrike">
                <a:solidFill>
                  <a:schemeClr val="lt1"/>
                </a:solidFill>
                <a:effectLst/>
                <a:uFillTx/>
                <a:latin typeface="メイリオ"/>
                <a:ea typeface="メイリオ"/>
                <a:cs typeface="メイリオ"/>
              </a:rPr>
              <a:t>6</a:t>
            </a:r>
            <a:r>
              <a:rPr lang="ja-JP" sz="1400" b="0" u="none" strike="noStrike">
                <a:solidFill>
                  <a:schemeClr val="lt1"/>
                </a:solidFill>
                <a:effectLst/>
                <a:uFillTx/>
                <a:latin typeface="メイリオ"/>
                <a:ea typeface="メイリオ"/>
                <a:cs typeface="メイリオ"/>
              </a:rPr>
              <a:t>か月後</a:t>
            </a:r>
            <a:endParaRPr lang="en-US" sz="1400" b="0" u="none" strike="noStrike">
              <a:solidFill>
                <a:srgbClr val="FFFFFF"/>
              </a:solidFill>
              <a:effectLst/>
              <a:uFillTx/>
              <a:latin typeface="メイリオ"/>
              <a:ea typeface="メイリオ"/>
              <a:cs typeface="メイリオ"/>
            </a:endParaRPr>
          </a:p>
        </p:txBody>
      </p:sp>
      <p:sp>
        <p:nvSpPr>
          <p:cNvPr id="347" name="テキスト ボックス 18"/>
          <p:cNvSpPr/>
          <p:nvPr/>
        </p:nvSpPr>
        <p:spPr>
          <a:xfrm>
            <a:off x="2613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cs typeface="メイリオ"/>
              </a:rPr>
              <a:t>&lt;</a:t>
            </a:r>
            <a:r>
              <a:rPr lang="ja-JP" sz="1400" b="0" u="none" strike="noStrike">
                <a:solidFill>
                  <a:schemeClr val="dk1"/>
                </a:solidFill>
                <a:effectLst/>
                <a:uFillTx/>
                <a:latin typeface="メイリオ"/>
                <a:ea typeface="メイリオ"/>
                <a:cs typeface="メイリオ"/>
              </a:rPr>
              <a:t>実施内容</a:t>
            </a:r>
            <a:r>
              <a:rPr lang="en-US" sz="1400" b="0" u="none" strike="noStrike">
                <a:solidFill>
                  <a:schemeClr val="dk1"/>
                </a:solidFill>
                <a:effectLst/>
                <a:uFillTx/>
                <a:latin typeface="メイリオ"/>
                <a:ea typeface="メイリオ"/>
                <a:cs typeface="メイリオ"/>
              </a:rPr>
              <a:t>&gt;</a:t>
            </a:r>
            <a:endParaRPr lang="en-US" sz="1400" b="0" u="none" strike="noStrike">
              <a:solidFill>
                <a:srgbClr val="000000"/>
              </a:solidFill>
              <a:effectLst/>
              <a:uFillTx/>
              <a:latin typeface="メイリオ"/>
              <a:ea typeface="メイリオ"/>
              <a:cs typeface="メイリオ"/>
            </a:endParaRPr>
          </a:p>
        </p:txBody>
      </p:sp>
      <p:sp>
        <p:nvSpPr>
          <p:cNvPr id="348" name="テキスト ボックス 20"/>
          <p:cNvSpPr/>
          <p:nvPr/>
        </p:nvSpPr>
        <p:spPr>
          <a:xfrm>
            <a:off x="33375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cs typeface="メイリオ"/>
              </a:rPr>
              <a:t>&lt;</a:t>
            </a:r>
            <a:r>
              <a:rPr lang="ja-JP" sz="1400" b="0" u="none" strike="noStrike">
                <a:solidFill>
                  <a:schemeClr val="dk1"/>
                </a:solidFill>
                <a:effectLst/>
                <a:uFillTx/>
                <a:latin typeface="メイリオ"/>
                <a:ea typeface="メイリオ"/>
                <a:cs typeface="メイリオ"/>
              </a:rPr>
              <a:t>実施内容</a:t>
            </a:r>
            <a:r>
              <a:rPr lang="en-US" sz="1400" b="0" u="none" strike="noStrike">
                <a:solidFill>
                  <a:schemeClr val="dk1"/>
                </a:solidFill>
                <a:effectLst/>
                <a:uFillTx/>
                <a:latin typeface="メイリオ"/>
                <a:ea typeface="メイリオ"/>
                <a:cs typeface="メイリオ"/>
              </a:rPr>
              <a:t>&gt;</a:t>
            </a:r>
            <a:endParaRPr lang="en-US" sz="1400" b="0" u="none" strike="noStrike">
              <a:solidFill>
                <a:srgbClr val="000000"/>
              </a:solidFill>
              <a:effectLst/>
              <a:uFillTx/>
              <a:latin typeface="メイリオ"/>
              <a:ea typeface="メイリオ"/>
              <a:cs typeface="メイリオ"/>
            </a:endParaRPr>
          </a:p>
        </p:txBody>
      </p:sp>
      <p:sp>
        <p:nvSpPr>
          <p:cNvPr id="349" name="正方形/長方形 24"/>
          <p:cNvSpPr/>
          <p:nvPr/>
        </p:nvSpPr>
        <p:spPr>
          <a:xfrm>
            <a:off x="33832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イベント期の</a:t>
            </a:r>
            <a:endParaRPr lang="en-US" sz="1300" b="0" u="none" strike="noStrike">
              <a:solidFill>
                <a:srgbClr val="FFFFFF"/>
              </a:solidFill>
              <a:effectLst/>
              <a:uFillTx/>
              <a:latin typeface="メイリオ"/>
              <a:ea typeface="メイリオ"/>
              <a:cs typeface="メイリオ"/>
            </a:endParaRPr>
          </a:p>
          <a:p>
            <a:pPr algn="ctr" defTabSz="914400">
              <a:lnSpc>
                <a:spcPct val="100000"/>
              </a:lnSpc>
            </a:pPr>
            <a:r>
              <a:rPr lang="ja-JP" sz="1300" b="0" u="none" strike="noStrike">
                <a:solidFill>
                  <a:schemeClr val="lt1"/>
                </a:solidFill>
                <a:effectLst/>
                <a:uFillTx/>
                <a:latin typeface="メイリオ"/>
                <a:ea typeface="メイリオ"/>
                <a:cs typeface="メイリオ"/>
              </a:rPr>
              <a:t>企画配信</a:t>
            </a:r>
            <a:endParaRPr lang="en-US" sz="1300" b="0" u="none" strike="noStrike">
              <a:solidFill>
                <a:srgbClr val="FFFFFF"/>
              </a:solidFill>
              <a:effectLst/>
              <a:uFillTx/>
              <a:latin typeface="メイリオ"/>
              <a:ea typeface="メイリオ"/>
              <a:cs typeface="メイリオ"/>
            </a:endParaRPr>
          </a:p>
        </p:txBody>
      </p:sp>
      <p:sp>
        <p:nvSpPr>
          <p:cNvPr id="350" name="正方形/長方形 28"/>
          <p:cNvSpPr/>
          <p:nvPr/>
        </p:nvSpPr>
        <p:spPr>
          <a:xfrm>
            <a:off x="48463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300" b="0" u="none" strike="noStrike">
                <a:solidFill>
                  <a:schemeClr val="dk1"/>
                </a:solidFill>
                <a:effectLst/>
                <a:uFillTx/>
                <a:latin typeface="メイリオ"/>
                <a:ea typeface="メイリオ"/>
                <a:cs typeface="メイリオ"/>
              </a:rPr>
              <a:t>月4〜5回</a:t>
            </a:r>
            <a:endParaRPr lang="en-US" sz="1300" b="0" u="none" strike="noStrike">
              <a:solidFill>
                <a:srgbClr val="000000"/>
              </a:solidFill>
              <a:effectLst/>
              <a:uFillTx/>
              <a:latin typeface="メイリオ"/>
              <a:ea typeface="メイリオ"/>
              <a:cs typeface="メイリオ"/>
            </a:endParaRPr>
          </a:p>
        </p:txBody>
      </p:sp>
      <p:sp>
        <p:nvSpPr>
          <p:cNvPr id="351" name="正方形/長方形 32"/>
          <p:cNvSpPr/>
          <p:nvPr/>
        </p:nvSpPr>
        <p:spPr>
          <a:xfrm>
            <a:off x="3383280" y="3579840"/>
            <a:ext cx="1425960" cy="48420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90000"/>
              </a:lnSpc>
            </a:pPr>
            <a:r>
              <a:rPr lang="ja-JP" sz="1200" b="0" u="none" strike="noStrike">
                <a:solidFill>
                  <a:schemeClr val="lt1"/>
                </a:solidFill>
                <a:effectLst/>
                <a:uFillTx/>
                <a:latin typeface="メイリオ"/>
                <a:ea typeface="メイリオ"/>
                <a:cs typeface="メイリオ"/>
              </a:rPr>
              <a:t>平常期の</a:t>
            </a:r>
            <a:endParaRPr lang="en-US" sz="1200" b="0" u="none" strike="noStrike">
              <a:solidFill>
                <a:srgbClr val="FFFFFF"/>
              </a:solidFill>
              <a:effectLst/>
              <a:uFillTx/>
              <a:latin typeface="メイリオ"/>
              <a:ea typeface="メイリオ"/>
              <a:cs typeface="メイリオ"/>
            </a:endParaRPr>
          </a:p>
          <a:p>
            <a:pPr algn="ctr" defTabSz="914400">
              <a:lnSpc>
                <a:spcPct val="90000"/>
              </a:lnSpc>
            </a:pPr>
            <a:r>
              <a:rPr lang="ja-JP" sz="1200" b="0" u="none" strike="noStrike">
                <a:solidFill>
                  <a:schemeClr val="lt1"/>
                </a:solidFill>
                <a:effectLst/>
                <a:uFillTx/>
                <a:latin typeface="メイリオ"/>
                <a:ea typeface="メイリオ"/>
                <a:cs typeface="メイリオ"/>
              </a:rPr>
              <a:t>企画配信</a:t>
            </a:r>
            <a:endParaRPr lang="en-US" sz="1200" b="0" u="none" strike="noStrike">
              <a:solidFill>
                <a:srgbClr val="FFFFFF"/>
              </a:solidFill>
              <a:effectLst/>
              <a:uFillTx/>
              <a:latin typeface="メイリオ"/>
              <a:ea typeface="メイリオ"/>
              <a:cs typeface="メイリオ"/>
            </a:endParaRPr>
          </a:p>
        </p:txBody>
      </p:sp>
      <p:sp>
        <p:nvSpPr>
          <p:cNvPr id="352" name="正方形/長方形 36"/>
          <p:cNvSpPr/>
          <p:nvPr/>
        </p:nvSpPr>
        <p:spPr>
          <a:xfrm>
            <a:off x="4846320" y="3579840"/>
            <a:ext cx="1343880" cy="4842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100000"/>
              </a:lnSpc>
            </a:pPr>
            <a:r>
              <a:rPr lang="ja-JP" sz="1200" b="0" u="none" strike="noStrike">
                <a:solidFill>
                  <a:schemeClr val="dk1"/>
                </a:solidFill>
                <a:effectLst/>
                <a:uFillTx/>
                <a:latin typeface="メイリオ"/>
                <a:ea typeface="メイリオ"/>
                <a:cs typeface="メイリオ"/>
              </a:rPr>
              <a:t>月2回</a:t>
            </a:r>
            <a:endParaRPr lang="en-US" sz="1200" b="0" u="none" strike="noStrike">
              <a:solidFill>
                <a:srgbClr val="000000"/>
              </a:solidFill>
              <a:effectLst/>
              <a:uFillTx/>
              <a:latin typeface="メイリオ"/>
              <a:ea typeface="メイリオ"/>
              <a:cs typeface="メイリオ"/>
            </a:endParaRPr>
          </a:p>
        </p:txBody>
      </p:sp>
      <p:sp>
        <p:nvSpPr>
          <p:cNvPr id="353" name="正方形/長方形 40"/>
          <p:cNvSpPr/>
          <p:nvPr/>
        </p:nvSpPr>
        <p:spPr>
          <a:xfrm>
            <a:off x="33832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前日・当日の</a:t>
            </a:r>
            <a:endParaRPr lang="en-US" sz="1300" b="0" u="none" strike="noStrike">
              <a:solidFill>
                <a:srgbClr val="FFFFFF"/>
              </a:solidFill>
              <a:effectLst/>
              <a:uFillTx/>
              <a:latin typeface="メイリオ"/>
              <a:ea typeface="メイリオ"/>
              <a:cs typeface="メイリオ"/>
            </a:endParaRPr>
          </a:p>
          <a:p>
            <a:pPr algn="ctr" defTabSz="914400">
              <a:lnSpc>
                <a:spcPct val="100000"/>
              </a:lnSpc>
            </a:pPr>
            <a:r>
              <a:rPr lang="ja-JP" sz="1300" b="0" u="none" strike="noStrike">
                <a:solidFill>
                  <a:schemeClr val="lt1"/>
                </a:solidFill>
                <a:effectLst/>
                <a:uFillTx/>
                <a:latin typeface="メイリオ"/>
                <a:ea typeface="メイリオ"/>
                <a:cs typeface="メイリオ"/>
              </a:rPr>
              <a:t>お知らせ</a:t>
            </a:r>
            <a:endParaRPr lang="en-US" sz="1300" b="0" u="none" strike="noStrike">
              <a:solidFill>
                <a:srgbClr val="FFFFFF"/>
              </a:solidFill>
              <a:effectLst/>
              <a:uFillTx/>
              <a:latin typeface="メイリオ"/>
              <a:ea typeface="メイリオ"/>
              <a:cs typeface="メイリオ"/>
            </a:endParaRPr>
          </a:p>
        </p:txBody>
      </p:sp>
      <p:sp>
        <p:nvSpPr>
          <p:cNvPr id="354" name="正方形/長方形 45"/>
          <p:cNvSpPr/>
          <p:nvPr/>
        </p:nvSpPr>
        <p:spPr>
          <a:xfrm>
            <a:off x="48463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cs typeface="メイリオ"/>
              </a:rPr>
              <a:t>日程ごとに配信</a:t>
            </a:r>
            <a:endParaRPr lang="en-US" sz="1300" b="0" u="none" strike="noStrike">
              <a:solidFill>
                <a:srgbClr val="000000"/>
              </a:solidFill>
              <a:effectLst/>
              <a:uFillTx/>
              <a:latin typeface="メイリオ"/>
              <a:ea typeface="メイリオ"/>
              <a:cs typeface="メイリオ"/>
            </a:endParaRPr>
          </a:p>
        </p:txBody>
      </p:sp>
      <p:sp>
        <p:nvSpPr>
          <p:cNvPr id="355" name="正方形/長方形 49"/>
          <p:cNvSpPr/>
          <p:nvPr/>
        </p:nvSpPr>
        <p:spPr>
          <a:xfrm>
            <a:off x="33832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申込み</a:t>
            </a:r>
            <a:endParaRPr lang="en-US" sz="1300" b="0" u="none" strike="noStrike">
              <a:solidFill>
                <a:srgbClr val="FFFFFF"/>
              </a:solidFill>
              <a:effectLst/>
              <a:uFillTx/>
              <a:latin typeface="メイリオ"/>
              <a:ea typeface="メイリオ"/>
              <a:cs typeface="メイリオ"/>
            </a:endParaRPr>
          </a:p>
          <a:p>
            <a:pPr algn="ctr" defTabSz="914400">
              <a:lnSpc>
                <a:spcPct val="100000"/>
              </a:lnSpc>
            </a:pPr>
            <a:r>
              <a:rPr lang="ja-JP" sz="1300" b="0" u="none" strike="noStrike">
                <a:solidFill>
                  <a:schemeClr val="lt1"/>
                </a:solidFill>
                <a:effectLst/>
                <a:uFillTx/>
                <a:latin typeface="メイリオ"/>
                <a:ea typeface="メイリオ"/>
                <a:cs typeface="メイリオ"/>
              </a:rPr>
              <a:t>フォームの案内</a:t>
            </a:r>
            <a:endParaRPr lang="en-US" sz="1300" b="0" u="none" strike="noStrike">
              <a:solidFill>
                <a:srgbClr val="FFFFFF"/>
              </a:solidFill>
              <a:effectLst/>
              <a:uFillTx/>
              <a:latin typeface="メイリオ"/>
              <a:ea typeface="メイリオ"/>
              <a:cs typeface="メイリオ"/>
            </a:endParaRPr>
          </a:p>
        </p:txBody>
      </p:sp>
      <p:sp>
        <p:nvSpPr>
          <p:cNvPr id="356" name="正方形/長方形 53"/>
          <p:cNvSpPr/>
          <p:nvPr/>
        </p:nvSpPr>
        <p:spPr>
          <a:xfrm>
            <a:off x="48463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cs typeface="メイリオ"/>
              </a:rPr>
              <a:t>イベント直後</a:t>
            </a:r>
            <a:endParaRPr lang="en-US" sz="1300" b="0" u="none" strike="noStrike">
              <a:solidFill>
                <a:srgbClr val="000000"/>
              </a:solidFill>
              <a:effectLst/>
              <a:uFillTx/>
              <a:latin typeface="メイリオ"/>
              <a:ea typeface="メイリオ"/>
              <a:cs typeface="メイリオ"/>
            </a:endParaRPr>
          </a:p>
        </p:txBody>
      </p:sp>
      <p:sp>
        <p:nvSpPr>
          <p:cNvPr id="357" name="正方形/長方形 57"/>
          <p:cNvSpPr/>
          <p:nvPr/>
        </p:nvSpPr>
        <p:spPr>
          <a:xfrm>
            <a:off x="33832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ステップ配信</a:t>
            </a:r>
            <a:endParaRPr lang="en-US" sz="1300" b="0" u="none" strike="noStrike">
              <a:solidFill>
                <a:srgbClr val="FFFFFF"/>
              </a:solidFill>
              <a:effectLst/>
              <a:uFillTx/>
              <a:latin typeface="メイリオ"/>
              <a:ea typeface="メイリオ"/>
              <a:cs typeface="メイリオ"/>
            </a:endParaRPr>
          </a:p>
        </p:txBody>
      </p:sp>
      <p:sp>
        <p:nvSpPr>
          <p:cNvPr id="358" name="正方形/長方形 61"/>
          <p:cNvSpPr/>
          <p:nvPr/>
        </p:nvSpPr>
        <p:spPr>
          <a:xfrm>
            <a:off x="48463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cs typeface="メイリオ"/>
              </a:rPr>
              <a:t>5通の改善</a:t>
            </a:r>
            <a:endParaRPr lang="en-US" sz="1300" b="0" u="none" strike="noStrike">
              <a:solidFill>
                <a:srgbClr val="000000"/>
              </a:solidFill>
              <a:effectLst/>
              <a:uFillTx/>
              <a:latin typeface="メイリオ"/>
              <a:ea typeface="メイリオ"/>
              <a:cs typeface="メイリオ"/>
            </a:endParaRPr>
          </a:p>
        </p:txBody>
      </p:sp>
      <p:sp>
        <p:nvSpPr>
          <p:cNvPr id="359" name="正方形/長方形 65"/>
          <p:cNvSpPr/>
          <p:nvPr/>
        </p:nvSpPr>
        <p:spPr>
          <a:xfrm>
            <a:off x="3383280" y="55368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友だちの入口</a:t>
            </a:r>
            <a:endParaRPr lang="en-US" sz="1300" b="0" u="none" strike="noStrike">
              <a:solidFill>
                <a:srgbClr val="FFFFFF"/>
              </a:solidFill>
              <a:effectLst/>
              <a:uFillTx/>
              <a:latin typeface="メイリオ"/>
              <a:ea typeface="メイリオ"/>
              <a:cs typeface="メイリオ"/>
            </a:endParaRPr>
          </a:p>
        </p:txBody>
      </p:sp>
      <p:sp>
        <p:nvSpPr>
          <p:cNvPr id="360" name="正方形/長方形 69"/>
          <p:cNvSpPr/>
          <p:nvPr/>
        </p:nvSpPr>
        <p:spPr>
          <a:xfrm>
            <a:off x="4846320" y="55368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cs typeface="メイリオ"/>
              </a:rPr>
              <a:t>運用</a:t>
            </a:r>
            <a:endParaRPr lang="en-US" sz="1300" b="0" u="none" strike="noStrike">
              <a:solidFill>
                <a:srgbClr val="000000"/>
              </a:solidFill>
              <a:effectLst/>
              <a:uFillTx/>
              <a:latin typeface="メイリオ"/>
              <a:ea typeface="メイリオ"/>
              <a:cs typeface="メイリオ"/>
            </a:endParaRPr>
          </a:p>
        </p:txBody>
      </p:sp>
      <p:sp>
        <p:nvSpPr>
          <p:cNvPr id="361" name="正方形/長方形 79"/>
          <p:cNvSpPr/>
          <p:nvPr/>
        </p:nvSpPr>
        <p:spPr>
          <a:xfrm>
            <a:off x="6812280" y="19569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cs typeface="メイリオ"/>
              </a:rPr>
              <a:t>追える人数</a:t>
            </a:r>
            <a:endParaRPr lang="en-US" sz="1400" b="0" u="none" strike="noStrike">
              <a:solidFill>
                <a:srgbClr val="000000"/>
              </a:solidFill>
              <a:effectLst/>
              <a:uFillTx/>
              <a:latin typeface="メイリオ"/>
              <a:ea typeface="メイリオ"/>
              <a:cs typeface="メイリオ"/>
            </a:endParaRPr>
          </a:p>
        </p:txBody>
      </p:sp>
      <p:sp>
        <p:nvSpPr>
          <p:cNvPr id="362" name="正方形/長方形 81"/>
          <p:cNvSpPr/>
          <p:nvPr/>
        </p:nvSpPr>
        <p:spPr>
          <a:xfrm>
            <a:off x="6812280" y="24321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cs typeface="メイリオ"/>
              </a:rPr>
              <a:t>セミナー予約</a:t>
            </a:r>
            <a:endParaRPr lang="en-US" sz="1400" b="0" u="none" strike="noStrike">
              <a:solidFill>
                <a:srgbClr val="000000"/>
              </a:solidFill>
              <a:effectLst/>
              <a:uFillTx/>
              <a:latin typeface="メイリオ"/>
              <a:ea typeface="メイリオ"/>
              <a:cs typeface="メイリオ"/>
            </a:endParaRPr>
          </a:p>
        </p:txBody>
      </p:sp>
      <p:sp>
        <p:nvSpPr>
          <p:cNvPr id="364" name="正方形/長方形 85"/>
          <p:cNvSpPr/>
          <p:nvPr/>
        </p:nvSpPr>
        <p:spPr>
          <a:xfrm>
            <a:off x="6812280" y="2907792"/>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zh-CN" sz="1400" b="1" u="none" strike="noStrike">
                <a:solidFill>
                  <a:schemeClr val="lt1"/>
                </a:solidFill>
                <a:effectLst/>
                <a:uFillTx/>
                <a:latin typeface="メイリオ"/>
                <a:ea typeface="メイリオ"/>
                <a:cs typeface="メイリオ"/>
              </a:rPr>
              <a:t>サロン入会</a:t>
            </a:r>
            <a:endParaRPr lang="en-US" sz="1400" b="0" u="none" strike="noStrike">
              <a:solidFill>
                <a:srgbClr val="000000"/>
              </a:solidFill>
              <a:effectLst/>
              <a:uFillTx/>
              <a:latin typeface="メイリオ"/>
              <a:ea typeface="メイリオ"/>
              <a:cs typeface="メイリオ"/>
            </a:endParaRPr>
          </a:p>
        </p:txBody>
      </p:sp>
      <p:sp>
        <p:nvSpPr>
          <p:cNvPr id="365" name="正方形/長方形 11"/>
          <p:cNvSpPr/>
          <p:nvPr/>
        </p:nvSpPr>
        <p:spPr>
          <a:xfrm>
            <a:off x="3070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ポップアップ</a:t>
            </a:r>
            <a:endParaRPr lang="en-US" sz="1300" b="0" u="none" strike="noStrike">
              <a:solidFill>
                <a:srgbClr val="FFFFFF"/>
              </a:solidFill>
              <a:effectLst/>
              <a:uFillTx/>
              <a:latin typeface="メイリオ"/>
              <a:ea typeface="メイリオ"/>
              <a:cs typeface="メイリオ"/>
            </a:endParaRPr>
          </a:p>
          <a:p>
            <a:pPr algn="ctr" defTabSz="914400">
              <a:lnSpc>
                <a:spcPct val="100000"/>
              </a:lnSpc>
            </a:pPr>
            <a:r>
              <a:rPr lang="ja-JP" sz="1300" b="0" u="none" strike="noStrike">
                <a:solidFill>
                  <a:schemeClr val="lt1"/>
                </a:solidFill>
                <a:effectLst/>
                <a:uFillTx/>
                <a:latin typeface="メイリオ"/>
                <a:ea typeface="メイリオ"/>
                <a:cs typeface="メイリオ"/>
              </a:rPr>
              <a:t>ツール</a:t>
            </a:r>
            <a:endParaRPr lang="en-US" sz="1300" b="0" u="none" strike="noStrike">
              <a:solidFill>
                <a:srgbClr val="FFFFFF"/>
              </a:solidFill>
              <a:effectLst/>
              <a:uFillTx/>
              <a:latin typeface="メイリオ"/>
              <a:ea typeface="メイリオ"/>
              <a:cs typeface="メイリオ"/>
            </a:endParaRPr>
          </a:p>
        </p:txBody>
      </p:sp>
      <p:sp>
        <p:nvSpPr>
          <p:cNvPr id="366" name="正方形/長方形 13"/>
          <p:cNvSpPr/>
          <p:nvPr/>
        </p:nvSpPr>
        <p:spPr>
          <a:xfrm>
            <a:off x="17701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300" b="0" u="none" strike="noStrike">
                <a:solidFill>
                  <a:schemeClr val="dk1"/>
                </a:solidFill>
                <a:effectLst/>
                <a:uFillTx/>
                <a:latin typeface="メイリオ"/>
                <a:ea typeface="メイリオ"/>
                <a:cs typeface="メイリオ"/>
              </a:rPr>
              <a:t>導入</a:t>
            </a:r>
            <a:endParaRPr lang="en-US" sz="1300" b="0" u="none" strike="noStrike">
              <a:solidFill>
                <a:srgbClr val="000000"/>
              </a:solidFill>
              <a:effectLst/>
              <a:uFillTx/>
              <a:latin typeface="メイリオ"/>
              <a:ea typeface="メイリオ"/>
              <a:cs typeface="メイリオ"/>
            </a:endParaRPr>
          </a:p>
        </p:txBody>
      </p:sp>
      <p:sp>
        <p:nvSpPr>
          <p:cNvPr id="367" name="正方形/長方形 17"/>
          <p:cNvSpPr/>
          <p:nvPr/>
        </p:nvSpPr>
        <p:spPr>
          <a:xfrm>
            <a:off x="307080" y="357984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サンクス</a:t>
            </a:r>
            <a:endParaRPr lang="en-US" sz="1300" b="0" u="none" strike="noStrike">
              <a:solidFill>
                <a:srgbClr val="FFFFFF"/>
              </a:solidFill>
              <a:effectLst/>
              <a:uFillTx/>
              <a:latin typeface="メイリオ"/>
              <a:ea typeface="メイリオ"/>
              <a:cs typeface="メイリオ"/>
            </a:endParaRPr>
          </a:p>
          <a:p>
            <a:pPr algn="ctr" defTabSz="914400">
              <a:lnSpc>
                <a:spcPct val="100000"/>
              </a:lnSpc>
            </a:pPr>
            <a:r>
              <a:rPr lang="ja-JP" sz="1300" b="0" u="none" strike="noStrike">
                <a:solidFill>
                  <a:schemeClr val="lt1"/>
                </a:solidFill>
                <a:effectLst/>
                <a:uFillTx/>
                <a:latin typeface="メイリオ"/>
                <a:ea typeface="メイリオ"/>
                <a:cs typeface="メイリオ"/>
              </a:rPr>
              <a:t>LINE誘導</a:t>
            </a:r>
            <a:endParaRPr lang="en-US" sz="1300" b="0" u="none" strike="noStrike">
              <a:solidFill>
                <a:srgbClr val="FFFFFF"/>
              </a:solidFill>
              <a:effectLst/>
              <a:uFillTx/>
              <a:latin typeface="メイリオ"/>
              <a:ea typeface="メイリオ"/>
              <a:cs typeface="メイリオ"/>
            </a:endParaRPr>
          </a:p>
        </p:txBody>
      </p:sp>
      <p:sp>
        <p:nvSpPr>
          <p:cNvPr id="368" name="正方形/長方形 21"/>
          <p:cNvSpPr/>
          <p:nvPr/>
        </p:nvSpPr>
        <p:spPr>
          <a:xfrm>
            <a:off x="1770120" y="357984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cs typeface="メイリオ"/>
              </a:rPr>
              <a:t>導入</a:t>
            </a:r>
            <a:endParaRPr lang="en-US" sz="1300" b="0" u="none" strike="noStrike">
              <a:solidFill>
                <a:srgbClr val="000000"/>
              </a:solidFill>
              <a:effectLst/>
              <a:uFillTx/>
              <a:latin typeface="メイリオ"/>
              <a:ea typeface="メイリオ"/>
              <a:cs typeface="メイリオ"/>
            </a:endParaRPr>
          </a:p>
        </p:txBody>
      </p:sp>
      <p:sp>
        <p:nvSpPr>
          <p:cNvPr id="369" name="正方形/長方形 25"/>
          <p:cNvSpPr/>
          <p:nvPr/>
        </p:nvSpPr>
        <p:spPr>
          <a:xfrm>
            <a:off x="3070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ステップ配信</a:t>
            </a:r>
            <a:endParaRPr lang="en-US" sz="1300" b="0" u="none" strike="noStrike">
              <a:solidFill>
                <a:srgbClr val="FFFFFF"/>
              </a:solidFill>
              <a:effectLst/>
              <a:uFillTx/>
              <a:latin typeface="メイリオ"/>
              <a:ea typeface="メイリオ"/>
              <a:cs typeface="メイリオ"/>
            </a:endParaRPr>
          </a:p>
        </p:txBody>
      </p:sp>
      <p:sp>
        <p:nvSpPr>
          <p:cNvPr id="370" name="正方形/長方形 29"/>
          <p:cNvSpPr/>
          <p:nvPr/>
        </p:nvSpPr>
        <p:spPr>
          <a:xfrm>
            <a:off x="17701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cs typeface="メイリオ"/>
              </a:rPr>
              <a:t>5通を構築</a:t>
            </a:r>
            <a:endParaRPr lang="en-US" sz="1300" b="0" u="none" strike="noStrike">
              <a:solidFill>
                <a:srgbClr val="000000"/>
              </a:solidFill>
              <a:effectLst/>
              <a:uFillTx/>
              <a:latin typeface="メイリオ"/>
              <a:ea typeface="メイリオ"/>
              <a:cs typeface="メイリオ"/>
            </a:endParaRPr>
          </a:p>
        </p:txBody>
      </p:sp>
      <p:sp>
        <p:nvSpPr>
          <p:cNvPr id="371" name="正方形/長方形 33"/>
          <p:cNvSpPr/>
          <p:nvPr/>
        </p:nvSpPr>
        <p:spPr>
          <a:xfrm>
            <a:off x="3070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配信の設計</a:t>
            </a:r>
            <a:endParaRPr lang="en-US" sz="1300" b="0" u="none" strike="noStrike">
              <a:solidFill>
                <a:srgbClr val="FFFFFF"/>
              </a:solidFill>
              <a:effectLst/>
              <a:uFillTx/>
              <a:latin typeface="メイリオ"/>
              <a:ea typeface="メイリオ"/>
              <a:cs typeface="メイリオ"/>
            </a:endParaRPr>
          </a:p>
        </p:txBody>
      </p:sp>
      <p:sp>
        <p:nvSpPr>
          <p:cNvPr id="372" name="正方形/長方形 37"/>
          <p:cNvSpPr/>
          <p:nvPr/>
        </p:nvSpPr>
        <p:spPr>
          <a:xfrm>
            <a:off x="17701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cs typeface="メイリオ"/>
              </a:rPr>
              <a:t>段階ごとに設計</a:t>
            </a:r>
            <a:endParaRPr lang="en-US" sz="1300" b="0" u="none" strike="noStrike">
              <a:solidFill>
                <a:srgbClr val="000000"/>
              </a:solidFill>
              <a:effectLst/>
              <a:uFillTx/>
              <a:latin typeface="メイリオ"/>
              <a:ea typeface="メイリオ"/>
              <a:cs typeface="メイリオ"/>
            </a:endParaRPr>
          </a:p>
        </p:txBody>
      </p:sp>
      <p:sp>
        <p:nvSpPr>
          <p:cNvPr id="373" name="正方形/長方形 41"/>
          <p:cNvSpPr/>
          <p:nvPr/>
        </p:nvSpPr>
        <p:spPr>
          <a:xfrm>
            <a:off x="3070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LINE公式</a:t>
            </a:r>
            <a:endParaRPr lang="en-US" sz="1300" b="0" u="none" strike="noStrike">
              <a:solidFill>
                <a:srgbClr val="FFFFFF"/>
              </a:solidFill>
              <a:effectLst/>
              <a:uFillTx/>
              <a:latin typeface="メイリオ"/>
              <a:ea typeface="メイリオ"/>
              <a:cs typeface="メイリオ"/>
            </a:endParaRPr>
          </a:p>
          <a:p>
            <a:pPr algn="ctr" defTabSz="914400">
              <a:lnSpc>
                <a:spcPct val="100000"/>
              </a:lnSpc>
            </a:pPr>
            <a:r>
              <a:rPr lang="ja-JP" sz="1300" b="0" u="none" strike="noStrike">
                <a:solidFill>
                  <a:schemeClr val="lt1"/>
                </a:solidFill>
                <a:effectLst/>
                <a:uFillTx/>
                <a:latin typeface="メイリオ"/>
                <a:ea typeface="メイリオ"/>
                <a:cs typeface="メイリオ"/>
              </a:rPr>
              <a:t>アカウント</a:t>
            </a:r>
            <a:endParaRPr lang="en-US" sz="1300" b="0" u="none" strike="noStrike">
              <a:solidFill>
                <a:srgbClr val="FFFFFF"/>
              </a:solidFill>
              <a:effectLst/>
              <a:uFillTx/>
              <a:latin typeface="メイリオ"/>
              <a:ea typeface="メイリオ"/>
              <a:cs typeface="メイリオ"/>
            </a:endParaRPr>
          </a:p>
        </p:txBody>
      </p:sp>
      <p:sp>
        <p:nvSpPr>
          <p:cNvPr id="374" name="正方形/長方形 46"/>
          <p:cNvSpPr/>
          <p:nvPr/>
        </p:nvSpPr>
        <p:spPr>
          <a:xfrm>
            <a:off x="17701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cs typeface="メイリオ"/>
              </a:rPr>
              <a:t>開設</a:t>
            </a:r>
            <a:endParaRPr lang="en-US" sz="1300" b="0" u="none" strike="noStrike">
              <a:solidFill>
                <a:srgbClr val="000000"/>
              </a:solidFill>
              <a:effectLst/>
              <a:uFillTx/>
              <a:latin typeface="メイリオ"/>
              <a:ea typeface="メイリオ"/>
              <a:cs typeface="メイリオ"/>
            </a:endParaRPr>
          </a:p>
        </p:txBody>
      </p:sp>
      <p:sp>
        <p:nvSpPr>
          <p:cNvPr id="375" name="テキスト ボックス 10"/>
          <p:cNvSpPr/>
          <p:nvPr/>
        </p:nvSpPr>
        <p:spPr>
          <a:xfrm>
            <a:off x="8256960" y="19569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zh-CN" sz="1400" b="1" u="none" strike="noStrike">
                <a:solidFill>
                  <a:srgbClr val="002060"/>
                </a:solidFill>
                <a:effectLst/>
                <a:uFillTx/>
                <a:latin typeface="メイリオ"/>
                <a:ea typeface="メイリオ"/>
                <a:cs typeface="メイリオ"/>
              </a:rPr>
              <a:t>554人</a:t>
            </a:r>
            <a:endParaRPr lang="en-US" sz="1400" b="0" u="none" strike="noStrike">
              <a:solidFill>
                <a:srgbClr val="002060"/>
              </a:solidFill>
              <a:effectLst/>
              <a:uFillTx/>
              <a:latin typeface="メイリオ"/>
              <a:ea typeface="メイリオ"/>
              <a:cs typeface="メイリオ"/>
            </a:endParaRPr>
          </a:p>
        </p:txBody>
      </p:sp>
      <p:sp>
        <p:nvSpPr>
          <p:cNvPr id="376" name="テキスト ボックス 15"/>
          <p:cNvSpPr/>
          <p:nvPr/>
        </p:nvSpPr>
        <p:spPr>
          <a:xfrm>
            <a:off x="8256960" y="24321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002060"/>
                </a:solidFill>
                <a:effectLst/>
                <a:uFillTx/>
                <a:latin typeface="メイリオ"/>
                <a:ea typeface="メイリオ"/>
                <a:cs typeface="メイリオ"/>
              </a:rPr>
              <a:t>12件/6か月</a:t>
            </a:r>
            <a:endParaRPr lang="en-US" sz="1400" b="0" u="none" strike="noStrike">
              <a:solidFill>
                <a:srgbClr val="002060"/>
              </a:solidFill>
              <a:effectLst/>
              <a:uFillTx/>
              <a:latin typeface="メイリオ"/>
              <a:ea typeface="メイリオ"/>
              <a:cs typeface="メイリオ"/>
            </a:endParaRPr>
          </a:p>
        </p:txBody>
      </p:sp>
      <p:sp>
        <p:nvSpPr>
          <p:cNvPr id="378" name="テキスト ボックス 26"/>
          <p:cNvSpPr/>
          <p:nvPr/>
        </p:nvSpPr>
        <p:spPr>
          <a:xfrm>
            <a:off x="8256960" y="2907792"/>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002060"/>
                </a:solidFill>
                <a:effectLst/>
                <a:uFillTx/>
                <a:latin typeface="メイリオ"/>
                <a:ea typeface="メイリオ"/>
                <a:cs typeface="メイリオ"/>
              </a:rPr>
              <a:t>6件/6か月</a:t>
            </a:r>
            <a:endParaRPr lang="en-US" sz="1400" b="0" u="none" strike="noStrike">
              <a:solidFill>
                <a:srgbClr val="002060"/>
              </a:solidFill>
              <a:effectLst/>
              <a:uFillTx/>
              <a:latin typeface="メイリオ"/>
              <a:ea typeface="メイリオ"/>
              <a:cs typeface="メイリオ"/>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料金</a:t>
            </a:r>
          </a:p>
        </p:txBody>
      </p:sp>
      <p:sp>
        <p:nvSpPr>
          <p:cNvPr id="3" name="正方形/長方形 8"/>
          <p:cNvSpPr/>
          <p:nvPr/>
        </p:nvSpPr>
        <p:spPr>
          <a:xfrm>
            <a:off x="0" y="777240"/>
            <a:ext cx="210312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DYMプラン</a:t>
            </a:r>
          </a:p>
        </p:txBody>
      </p:sp>
      <p:sp>
        <p:nvSpPr>
          <p:cNvPr id="4" name="Google Shape;752;p28"/>
          <p:cNvSpPr txBox="1"/>
          <p:nvPr/>
        </p:nvSpPr>
        <p:spPr>
          <a:xfrm>
            <a:off x="2286000" y="859536"/>
            <a:ext cx="7406640" cy="338328"/>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メイリオ"/>
                <a:sym typeface="Meiryo"/>
              </a:rPr>
              <a:t>ご予算と運用の体制に合わせて、3つのプランから選択可能</a:t>
            </a:r>
          </a:p>
        </p:txBody>
      </p:sp>
      <p:graphicFrame>
        <p:nvGraphicFramePr>
          <p:cNvPr id="5" name="料金 4"/>
          <p:cNvGraphicFramePr>
            <a:graphicFrameLocks noGrp="1"/>
          </p:cNvGraphicFramePr>
          <p:nvPr/>
        </p:nvGraphicFramePr>
        <p:xfrm>
          <a:off x="502920" y="1860438"/>
          <a:ext cx="8897112" cy="3063240"/>
        </p:xfrm>
        <a:graphic>
          <a:graphicData uri="http://schemas.openxmlformats.org/drawingml/2006/table">
            <a:tbl>
              <a:tblPr/>
              <a:tblGrid>
                <a:gridCol w="1463040">
                  <a:extLst>
                    <a:ext uri="{9D8B030D-6E8A-4147-A177-3AD203B41FA5}">
                      <a16:colId xmlns:a16="http://schemas.microsoft.com/office/drawing/2014/main" val="20000"/>
                    </a:ext>
                  </a:extLst>
                </a:gridCol>
                <a:gridCol w="2478024">
                  <a:extLst>
                    <a:ext uri="{9D8B030D-6E8A-4147-A177-3AD203B41FA5}">
                      <a16:colId xmlns:a16="http://schemas.microsoft.com/office/drawing/2014/main" val="20001"/>
                    </a:ext>
                  </a:extLst>
                </a:gridCol>
                <a:gridCol w="2478024">
                  <a:extLst>
                    <a:ext uri="{9D8B030D-6E8A-4147-A177-3AD203B41FA5}">
                      <a16:colId xmlns:a16="http://schemas.microsoft.com/office/drawing/2014/main" val="20002"/>
                    </a:ext>
                  </a:extLst>
                </a:gridCol>
                <a:gridCol w="2478024">
                  <a:extLst>
                    <a:ext uri="{9D8B030D-6E8A-4147-A177-3AD203B41FA5}">
                      <a16:colId xmlns:a16="http://schemas.microsoft.com/office/drawing/2014/main" val="20003"/>
                    </a:ext>
                  </a:extLst>
                </a:gridCol>
              </a:tblGrid>
              <a:tr h="594360">
                <a:tc>
                  <a:txBody>
                    <a:bodyPr/>
                    <a:lstStyle/>
                    <a:p>
                      <a:pPr algn="ctr">
                        <a:buNone/>
                      </a:pP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プラン①</a:t>
                      </a:r>
                      <a:br>
                        <a:rPr lang="ja-JP" altLang="en-US" sz="1400" b="1" dirty="0">
                          <a:solidFill>
                            <a:srgbClr val="FFFFFF"/>
                          </a:solidFill>
                          <a:latin typeface="メイリオ" panose="020B0604030504040204" pitchFamily="50" charset="-128"/>
                          <a:ea typeface="メイリオ" panose="020B0604030504040204" pitchFamily="50" charset="-128"/>
                          <a:cs typeface="メイリオ"/>
                        </a:rPr>
                      </a:br>
                      <a:r>
                        <a:rPr lang="ja-JP" altLang="en-US" sz="1400" b="1" dirty="0">
                          <a:solidFill>
                            <a:srgbClr val="FFFFFF"/>
                          </a:solidFill>
                          <a:latin typeface="メイリオ" panose="020B0604030504040204" pitchFamily="50" charset="-128"/>
                          <a:ea typeface="メイリオ" panose="020B0604030504040204" pitchFamily="50" charset="-128"/>
                          <a:cs typeface="メイリオ"/>
                        </a:rPr>
                        <a:t>初期設計のみ</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プラン②</a:t>
                      </a:r>
                      <a:br>
                        <a:rPr lang="ja-JP" altLang="en-US" sz="1400" b="1" dirty="0">
                          <a:solidFill>
                            <a:srgbClr val="FFFFFF"/>
                          </a:solidFill>
                          <a:latin typeface="メイリオ" panose="020B0604030504040204" pitchFamily="50" charset="-128"/>
                          <a:ea typeface="メイリオ" panose="020B0604030504040204" pitchFamily="50" charset="-128"/>
                          <a:cs typeface="メイリオ"/>
                        </a:rPr>
                      </a:br>
                      <a:r>
                        <a:rPr lang="ja-JP" altLang="en-US" sz="1400" b="1" dirty="0">
                          <a:solidFill>
                            <a:srgbClr val="FFFFFF"/>
                          </a:solidFill>
                          <a:latin typeface="メイリオ" panose="020B0604030504040204" pitchFamily="50" charset="-128"/>
                          <a:ea typeface="メイリオ" panose="020B0604030504040204" pitchFamily="50" charset="-128"/>
                          <a:cs typeface="メイリオ"/>
                        </a:rPr>
                        <a:t>イベントに合わせた運用</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プラン③</a:t>
                      </a:r>
                      <a:br>
                        <a:rPr lang="ja-JP" altLang="en-US" sz="1400" b="1" dirty="0">
                          <a:solidFill>
                            <a:srgbClr val="FFFFFF"/>
                          </a:solidFill>
                          <a:latin typeface="メイリオ" panose="020B0604030504040204" pitchFamily="50" charset="-128"/>
                          <a:ea typeface="メイリオ" panose="020B0604030504040204" pitchFamily="50" charset="-128"/>
                          <a:cs typeface="メイリオ"/>
                        </a:rPr>
                      </a:br>
                      <a:r>
                        <a:rPr lang="ja-JP" altLang="en-US" sz="1400" b="1" dirty="0">
                          <a:solidFill>
                            <a:srgbClr val="FFFFFF"/>
                          </a:solidFill>
                          <a:latin typeface="メイリオ" panose="020B0604030504040204" pitchFamily="50" charset="-128"/>
                          <a:ea typeface="メイリオ" panose="020B0604030504040204" pitchFamily="50" charset="-128"/>
                          <a:cs typeface="メイリオ"/>
                        </a:rPr>
                        <a:t>通年の運用・改善</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extLst>
                  <a:ext uri="{0D108BD9-81ED-4DB2-BD59-A6C34878D82A}">
                    <a16:rowId xmlns:a16="http://schemas.microsoft.com/office/drawing/2014/main" val="10000"/>
                  </a:ext>
                </a:extLst>
              </a:tr>
              <a:tr h="822960">
                <a:tc>
                  <a:txBody>
                    <a:bodyPr/>
                    <a:lstStyle/>
                    <a:p>
                      <a:pPr algn="ctr">
                        <a:buNone/>
                      </a:pPr>
                      <a:r>
                        <a:rPr lang="ja-JP" altLang="en-US" sz="1300" b="1" dirty="0">
                          <a:solidFill>
                            <a:srgbClr val="002060"/>
                          </a:solidFill>
                          <a:latin typeface="メイリオ" panose="020B0604030504040204" pitchFamily="50" charset="-128"/>
                          <a:ea typeface="メイリオ" panose="020B0604030504040204" pitchFamily="50" charset="-128"/>
                          <a:cs typeface="メイリオ"/>
                        </a:rPr>
                        <a:t>内容</a:t>
                      </a:r>
                      <a:endParaRPr lang="ja-JP" altLang="en-US" sz="13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cs typeface="メイリオ"/>
                        </a:rPr>
                        <a:t>入口と配信の仕組みを構築</a:t>
                      </a:r>
                      <a:br>
                        <a:rPr lang="ja-JP" altLang="en-US" sz="1250" b="0" dirty="0">
                          <a:solidFill>
                            <a:srgbClr val="333333"/>
                          </a:solidFill>
                          <a:latin typeface="メイリオ" panose="020B0604030504040204" pitchFamily="50" charset="-128"/>
                          <a:ea typeface="メイリオ" panose="020B0604030504040204" pitchFamily="50" charset="-128"/>
                          <a:cs typeface="メイリオ"/>
                        </a:rPr>
                      </a:br>
                      <a:r>
                        <a:rPr lang="ja-JP" altLang="en-US" sz="1250" b="0" dirty="0">
                          <a:solidFill>
                            <a:srgbClr val="333333"/>
                          </a:solidFill>
                          <a:latin typeface="メイリオ" panose="020B0604030504040204" pitchFamily="50" charset="-128"/>
                          <a:ea typeface="メイリオ" panose="020B0604030504040204" pitchFamily="50" charset="-128"/>
                          <a:cs typeface="メイリオ"/>
                        </a:rPr>
                        <a:t>配信は貴社で運用</a:t>
                      </a:r>
                      <a:endParaRPr lang="ja-JP" altLang="en-US" sz="125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cs typeface="メイリオ"/>
                        </a:rPr>
                        <a:t>弊社で配信</a:t>
                      </a:r>
                      <a:br>
                        <a:rPr lang="ja-JP" altLang="en-US" sz="1250" b="0" dirty="0">
                          <a:solidFill>
                            <a:srgbClr val="333333"/>
                          </a:solidFill>
                          <a:latin typeface="メイリオ" panose="020B0604030504040204" pitchFamily="50" charset="-128"/>
                          <a:ea typeface="メイリオ" panose="020B0604030504040204" pitchFamily="50" charset="-128"/>
                          <a:cs typeface="メイリオ"/>
                        </a:rPr>
                      </a:br>
                      <a:r>
                        <a:rPr lang="ja-JP" altLang="en-US" sz="1250" b="0" dirty="0">
                          <a:solidFill>
                            <a:srgbClr val="333333"/>
                          </a:solidFill>
                          <a:latin typeface="メイリオ" panose="020B0604030504040204" pitchFamily="50" charset="-128"/>
                          <a:ea typeface="メイリオ" panose="020B0604030504040204" pitchFamily="50" charset="-128"/>
                          <a:cs typeface="メイリオ"/>
                        </a:rPr>
                        <a:t>平常期 月2回</a:t>
                      </a:r>
                      <a:br>
                        <a:rPr lang="ja-JP" altLang="en-US" sz="1250" b="0" dirty="0">
                          <a:solidFill>
                            <a:srgbClr val="333333"/>
                          </a:solidFill>
                          <a:latin typeface="メイリオ" panose="020B0604030504040204" pitchFamily="50" charset="-128"/>
                          <a:ea typeface="メイリオ" panose="020B0604030504040204" pitchFamily="50" charset="-128"/>
                          <a:cs typeface="メイリオ"/>
                        </a:rPr>
                      </a:br>
                      <a:r>
                        <a:rPr lang="ja-JP" altLang="en-US" sz="1250" b="0" dirty="0">
                          <a:solidFill>
                            <a:srgbClr val="333333"/>
                          </a:solidFill>
                          <a:latin typeface="メイリオ" panose="020B0604030504040204" pitchFamily="50" charset="-128"/>
                          <a:ea typeface="メイリオ" panose="020B0604030504040204" pitchFamily="50" charset="-128"/>
                          <a:cs typeface="メイリオ"/>
                        </a:rPr>
                        <a:t>イベント期 月4〜5回</a:t>
                      </a:r>
                      <a:endParaRPr lang="ja-JP" altLang="en-US" sz="125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cs typeface="メイリオ"/>
                        </a:rPr>
                        <a:t>弊社で配信＋レポート・定例会</a:t>
                      </a:r>
                      <a:br>
                        <a:rPr lang="ja-JP" altLang="en-US" sz="1250" b="0" dirty="0">
                          <a:solidFill>
                            <a:srgbClr val="333333"/>
                          </a:solidFill>
                          <a:latin typeface="メイリオ" panose="020B0604030504040204" pitchFamily="50" charset="-128"/>
                          <a:ea typeface="メイリオ" panose="020B0604030504040204" pitchFamily="50" charset="-128"/>
                          <a:cs typeface="メイリオ"/>
                        </a:rPr>
                      </a:br>
                      <a:r>
                        <a:rPr lang="ja-JP" altLang="en-US" sz="1250" b="0" dirty="0">
                          <a:solidFill>
                            <a:srgbClr val="333333"/>
                          </a:solidFill>
                          <a:latin typeface="メイリオ" panose="020B0604030504040204" pitchFamily="50" charset="-128"/>
                          <a:ea typeface="メイリオ" panose="020B0604030504040204" pitchFamily="50" charset="-128"/>
                          <a:cs typeface="メイリオ"/>
                        </a:rPr>
                        <a:t>平常期 月3回</a:t>
                      </a:r>
                      <a:br>
                        <a:rPr lang="ja-JP" altLang="en-US" sz="1250" b="0" dirty="0">
                          <a:solidFill>
                            <a:srgbClr val="333333"/>
                          </a:solidFill>
                          <a:latin typeface="メイリオ" panose="020B0604030504040204" pitchFamily="50" charset="-128"/>
                          <a:ea typeface="メイリオ" panose="020B0604030504040204" pitchFamily="50" charset="-128"/>
                          <a:cs typeface="メイリオ"/>
                        </a:rPr>
                      </a:br>
                      <a:r>
                        <a:rPr lang="ja-JP" altLang="en-US" sz="1250" b="0" dirty="0">
                          <a:solidFill>
                            <a:srgbClr val="333333"/>
                          </a:solidFill>
                          <a:latin typeface="メイリオ" panose="020B0604030504040204" pitchFamily="50" charset="-128"/>
                          <a:ea typeface="メイリオ" panose="020B0604030504040204" pitchFamily="50" charset="-128"/>
                          <a:cs typeface="メイリオ"/>
                        </a:rPr>
                        <a:t>イベント期 月5回</a:t>
                      </a:r>
                      <a:endParaRPr lang="ja-JP" altLang="en-US" sz="125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algn="ctr">
                        <a:buNone/>
                      </a:pPr>
                      <a:r>
                        <a:rPr lang="ja-JP" altLang="en-US" sz="1300" b="1" dirty="0">
                          <a:solidFill>
                            <a:srgbClr val="002060"/>
                          </a:solidFill>
                          <a:latin typeface="メイリオ" panose="020B0604030504040204" pitchFamily="50" charset="-128"/>
                          <a:ea typeface="メイリオ" panose="020B0604030504040204" pitchFamily="50" charset="-128"/>
                          <a:cs typeface="メイリオ"/>
                        </a:rPr>
                        <a:t>初期費用</a:t>
                      </a:r>
                      <a:endParaRPr lang="ja-JP" altLang="en-US" sz="13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ctr">
                        <a:buNone/>
                      </a:pPr>
                      <a:r>
                        <a:rPr lang="ja-JP" altLang="en-US" sz="1700" b="1" dirty="0">
                          <a:solidFill>
                            <a:srgbClr val="002060"/>
                          </a:solidFill>
                          <a:latin typeface="メイリオ" panose="020B0604030504040204" pitchFamily="50" charset="-128"/>
                          <a:ea typeface="メイリオ" panose="020B0604030504040204" pitchFamily="50" charset="-128"/>
                          <a:cs typeface="メイリオ"/>
                        </a:rPr>
                        <a:t>10万円〜</a:t>
                      </a:r>
                      <a:endParaRPr lang="ja-JP" altLang="en-US" sz="17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a:buNone/>
                      </a:pPr>
                      <a:r>
                        <a:rPr lang="ja-JP" altLang="en-US" sz="1700" b="1" dirty="0">
                          <a:solidFill>
                            <a:srgbClr val="002060"/>
                          </a:solidFill>
                          <a:latin typeface="メイリオ" panose="020B0604030504040204" pitchFamily="50" charset="-128"/>
                          <a:ea typeface="メイリオ" panose="020B0604030504040204" pitchFamily="50" charset="-128"/>
                          <a:cs typeface="メイリオ"/>
                        </a:rPr>
                        <a:t>10万円〜</a:t>
                      </a:r>
                      <a:endParaRPr lang="ja-JP" altLang="en-US" sz="17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a:buNone/>
                      </a:pPr>
                      <a:r>
                        <a:rPr lang="ja-JP" altLang="en-US" sz="1700" b="1" dirty="0">
                          <a:solidFill>
                            <a:srgbClr val="002060"/>
                          </a:solidFill>
                          <a:latin typeface="メイリオ" panose="020B0604030504040204" pitchFamily="50" charset="-128"/>
                          <a:ea typeface="メイリオ" panose="020B0604030504040204" pitchFamily="50" charset="-128"/>
                          <a:cs typeface="メイリオ"/>
                        </a:rPr>
                        <a:t>10万円〜</a:t>
                      </a:r>
                      <a:endParaRPr lang="ja-JP" altLang="en-US" sz="17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algn="ctr">
                        <a:buNone/>
                      </a:pPr>
                      <a:r>
                        <a:rPr lang="ja-JP" altLang="en-US" sz="1300" b="1" dirty="0">
                          <a:solidFill>
                            <a:srgbClr val="002060"/>
                          </a:solidFill>
                          <a:latin typeface="メイリオ" panose="020B0604030504040204" pitchFamily="50" charset="-128"/>
                          <a:ea typeface="メイリオ" panose="020B0604030504040204" pitchFamily="50" charset="-128"/>
                          <a:cs typeface="メイリオ"/>
                        </a:rPr>
                        <a:t>平常期</a:t>
                      </a:r>
                      <a:br>
                        <a:rPr lang="ja-JP" altLang="en-US" sz="1300" b="1" dirty="0">
                          <a:solidFill>
                            <a:srgbClr val="002060"/>
                          </a:solidFill>
                          <a:latin typeface="メイリオ" panose="020B0604030504040204" pitchFamily="50" charset="-128"/>
                          <a:ea typeface="メイリオ" panose="020B0604030504040204" pitchFamily="50" charset="-128"/>
                          <a:cs typeface="メイリオ"/>
                        </a:rPr>
                      </a:br>
                      <a:r>
                        <a:rPr lang="ja-JP" altLang="en-US" sz="1300" b="1" dirty="0">
                          <a:solidFill>
                            <a:srgbClr val="002060"/>
                          </a:solidFill>
                          <a:latin typeface="メイリオ" panose="020B0604030504040204" pitchFamily="50" charset="-128"/>
                          <a:ea typeface="メイリオ" panose="020B0604030504040204" pitchFamily="50" charset="-128"/>
                          <a:cs typeface="メイリオ"/>
                        </a:rPr>
                        <a:t>（月額）</a:t>
                      </a:r>
                      <a:endParaRPr lang="ja-JP" altLang="en-US" sz="13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ctr">
                        <a:buNone/>
                      </a:pPr>
                      <a:r>
                        <a:rPr lang="ja-JP" altLang="en-US" sz="1700" b="1" dirty="0">
                          <a:solidFill>
                            <a:srgbClr val="002060"/>
                          </a:solidFill>
                          <a:latin typeface="メイリオ" panose="020B0604030504040204" pitchFamily="50" charset="-128"/>
                          <a:ea typeface="メイリオ" panose="020B0604030504040204" pitchFamily="50" charset="-128"/>
                          <a:cs typeface="メイリオ"/>
                        </a:rPr>
                        <a:t>0円</a:t>
                      </a:r>
                      <a:endParaRPr lang="ja-JP" altLang="en-US" sz="17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a:buNone/>
                      </a:pPr>
                      <a:r>
                        <a:rPr lang="ja-JP" altLang="en-US" sz="1700" b="1" dirty="0">
                          <a:solidFill>
                            <a:srgbClr val="002060"/>
                          </a:solidFill>
                          <a:latin typeface="メイリオ" panose="020B0604030504040204" pitchFamily="50" charset="-128"/>
                          <a:ea typeface="メイリオ" panose="020B0604030504040204" pitchFamily="50" charset="-128"/>
                          <a:cs typeface="メイリオ"/>
                        </a:rPr>
                        <a:t>5〜10万円</a:t>
                      </a:r>
                      <a:endParaRPr lang="ja-JP" altLang="en-US" sz="17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a:buNone/>
                      </a:pPr>
                      <a:r>
                        <a:rPr lang="ja-JP" altLang="en-US" sz="1700" b="1" dirty="0">
                          <a:solidFill>
                            <a:srgbClr val="002060"/>
                          </a:solidFill>
                          <a:latin typeface="メイリオ" panose="020B0604030504040204" pitchFamily="50" charset="-128"/>
                          <a:ea typeface="メイリオ" panose="020B0604030504040204" pitchFamily="50" charset="-128"/>
                          <a:cs typeface="メイリオ"/>
                        </a:rPr>
                        <a:t>20万円〜</a:t>
                      </a:r>
                      <a:endParaRPr lang="ja-JP" altLang="en-US" sz="17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algn="ctr">
                        <a:buNone/>
                      </a:pPr>
                      <a:r>
                        <a:rPr lang="ja-JP" altLang="en-US" sz="1300" b="1" dirty="0">
                          <a:solidFill>
                            <a:srgbClr val="002060"/>
                          </a:solidFill>
                          <a:latin typeface="メイリオ" panose="020B0604030504040204" pitchFamily="50" charset="-128"/>
                          <a:ea typeface="メイリオ" panose="020B0604030504040204" pitchFamily="50" charset="-128"/>
                          <a:cs typeface="メイリオ"/>
                        </a:rPr>
                        <a:t>イベント期</a:t>
                      </a:r>
                      <a:br>
                        <a:rPr lang="ja-JP" altLang="en-US" sz="1300" b="1" dirty="0">
                          <a:solidFill>
                            <a:srgbClr val="002060"/>
                          </a:solidFill>
                          <a:latin typeface="メイリオ" panose="020B0604030504040204" pitchFamily="50" charset="-128"/>
                          <a:ea typeface="メイリオ" panose="020B0604030504040204" pitchFamily="50" charset="-128"/>
                          <a:cs typeface="メイリオ"/>
                        </a:rPr>
                      </a:br>
                      <a:r>
                        <a:rPr lang="ja-JP" altLang="en-US" sz="1300" b="1" dirty="0">
                          <a:solidFill>
                            <a:srgbClr val="002060"/>
                          </a:solidFill>
                          <a:latin typeface="メイリオ" panose="020B0604030504040204" pitchFamily="50" charset="-128"/>
                          <a:ea typeface="メイリオ" panose="020B0604030504040204" pitchFamily="50" charset="-128"/>
                          <a:cs typeface="メイリオ"/>
                        </a:rPr>
                        <a:t>（月額）</a:t>
                      </a:r>
                      <a:endParaRPr lang="ja-JP" altLang="en-US" sz="13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ctr">
                        <a:buNone/>
                      </a:pPr>
                      <a:r>
                        <a:rPr lang="ja-JP" altLang="en-US" sz="1700" b="1" dirty="0">
                          <a:solidFill>
                            <a:srgbClr val="002060"/>
                          </a:solidFill>
                          <a:latin typeface="メイリオ" panose="020B0604030504040204" pitchFamily="50" charset="-128"/>
                          <a:ea typeface="メイリオ" panose="020B0604030504040204" pitchFamily="50" charset="-128"/>
                          <a:cs typeface="メイリオ"/>
                        </a:rPr>
                        <a:t>0円</a:t>
                      </a:r>
                      <a:endParaRPr lang="ja-JP" altLang="en-US" sz="17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a:buNone/>
                      </a:pPr>
                      <a:r>
                        <a:rPr lang="ja-JP" altLang="en-US" sz="1700" b="1" dirty="0">
                          <a:solidFill>
                            <a:srgbClr val="002060"/>
                          </a:solidFill>
                          <a:latin typeface="メイリオ" panose="020B0604030504040204" pitchFamily="50" charset="-128"/>
                          <a:ea typeface="メイリオ" panose="020B0604030504040204" pitchFamily="50" charset="-128"/>
                          <a:cs typeface="メイリオ"/>
                        </a:rPr>
                        <a:t>30万円程度</a:t>
                      </a:r>
                      <a:endParaRPr lang="ja-JP" altLang="en-US" sz="17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a:buNone/>
                      </a:pPr>
                      <a:r>
                        <a:rPr lang="ja-JP" altLang="en-US" sz="1700" b="1" dirty="0">
                          <a:solidFill>
                            <a:srgbClr val="002060"/>
                          </a:solidFill>
                          <a:latin typeface="メイリオ" panose="020B0604030504040204" pitchFamily="50" charset="-128"/>
                          <a:ea typeface="メイリオ" panose="020B0604030504040204" pitchFamily="50" charset="-128"/>
                          <a:cs typeface="メイリオ"/>
                        </a:rPr>
                        <a:t>30万円〜</a:t>
                      </a:r>
                      <a:endParaRPr lang="ja-JP" altLang="en-US" sz="17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注記"/>
          <p:cNvSpPr/>
          <p:nvPr/>
        </p:nvSpPr>
        <p:spPr>
          <a:xfrm>
            <a:off x="502920" y="5015118"/>
            <a:ext cx="8897112" cy="219456"/>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※広告費・ツール費・LINE公式アカウントの利用料は含まない。いずれも6か月〜の契約</a:t>
            </a:r>
            <a:endParaRPr lang="ja-JP" altLang="en-US" sz="1200" dirty="0">
              <a:latin typeface="メイリオ"/>
              <a:ea typeface="メイリオ"/>
              <a:cs typeface="メイリオ"/>
            </a:endParaRPr>
          </a:p>
        </p:txBody>
      </p:sp>
      <p:sp>
        <p:nvSpPr>
          <p:cNvPr id="7" name="注記"/>
          <p:cNvSpPr/>
          <p:nvPr/>
        </p:nvSpPr>
        <p:spPr>
          <a:xfrm>
            <a:off x="502920" y="5234574"/>
            <a:ext cx="8897112" cy="219456"/>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※施策内容・配信本数・連携範囲等により、費用は個別にお見積り</a:t>
            </a:r>
            <a:endParaRPr lang="ja-JP" altLang="en-US" sz="1200" dirty="0">
              <a:latin typeface="メイリオ"/>
              <a:ea typeface="メイリオ"/>
              <a:cs typeface="メイリオ"/>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運用スケジュール</a:t>
            </a:r>
            <a:endParaRPr sz="1600" b="1" dirty="0">
              <a:solidFill>
                <a:srgbClr val="002060"/>
              </a:solidFill>
              <a:latin typeface="メイリオ"/>
              <a:ea typeface="メイリオ"/>
              <a:cs typeface="メイリオ"/>
              <a:sym typeface="Meiryo"/>
            </a:endParaRPr>
          </a:p>
        </p:txBody>
      </p:sp>
      <p:sp>
        <p:nvSpPr>
          <p:cNvPr id="28" name="角丸四角形 27"/>
          <p:cNvSpPr/>
          <p:nvPr/>
        </p:nvSpPr>
        <p:spPr>
          <a:xfrm>
            <a:off x="910833" y="19940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STEP1</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29" name="角丸四角形 28"/>
          <p:cNvSpPr/>
          <p:nvPr/>
        </p:nvSpPr>
        <p:spPr>
          <a:xfrm>
            <a:off x="910833" y="353713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STEP3</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31" name="角丸四角形 30"/>
          <p:cNvSpPr/>
          <p:nvPr/>
        </p:nvSpPr>
        <p:spPr>
          <a:xfrm>
            <a:off x="910833" y="276560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STEP2</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32" name="角丸四角形 31"/>
          <p:cNvSpPr/>
          <p:nvPr/>
        </p:nvSpPr>
        <p:spPr>
          <a:xfrm>
            <a:off x="910833" y="430865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STEP4</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33" name="角丸四角形 32"/>
          <p:cNvSpPr/>
          <p:nvPr/>
        </p:nvSpPr>
        <p:spPr>
          <a:xfrm>
            <a:off x="910833" y="50801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STEP5</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2" name="正方形/長方形 1"/>
          <p:cNvSpPr/>
          <p:nvPr/>
        </p:nvSpPr>
        <p:spPr>
          <a:xfrm>
            <a:off x="4600923" y="2266950"/>
            <a:ext cx="1638300" cy="391649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0" name="角丸四角形 39"/>
          <p:cNvSpPr/>
          <p:nvPr/>
        </p:nvSpPr>
        <p:spPr>
          <a:xfrm>
            <a:off x="3133924" y="19940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お申込み（書類締結）</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endParaRPr>
          </a:p>
        </p:txBody>
      </p:sp>
      <p:sp>
        <p:nvSpPr>
          <p:cNvPr id="41" name="角丸四角形 40"/>
          <p:cNvSpPr/>
          <p:nvPr/>
        </p:nvSpPr>
        <p:spPr>
          <a:xfrm>
            <a:off x="3133924" y="353713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連携の設定 </a:t>
            </a:r>
            <a:r>
              <a:rPr kumimoji="1" lang="en-US" altLang="ja-JP" dirty="0">
                <a:solidFill>
                  <a:schemeClr val="bg1">
                    <a:lumMod val="50000"/>
                  </a:schemeClr>
                </a:solidFill>
                <a:latin typeface="メイリオ" panose="020B0604030504040204" pitchFamily="50" charset="-128"/>
                <a:ea typeface="メイリオ" panose="020B0604030504040204" pitchFamily="50" charset="-128"/>
                <a:cs typeface="メイリオ"/>
              </a:rPr>
              <a:t>/ </a:t>
            </a: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タグ確認</a:t>
            </a:r>
          </a:p>
        </p:txBody>
      </p:sp>
      <p:sp>
        <p:nvSpPr>
          <p:cNvPr id="42" name="角丸四角形 41"/>
          <p:cNvSpPr/>
          <p:nvPr/>
        </p:nvSpPr>
        <p:spPr>
          <a:xfrm>
            <a:off x="3133924" y="276560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キックオフ</a:t>
            </a:r>
            <a:r>
              <a:rPr kumimoji="1" lang="en-US" altLang="ja-JP" dirty="0">
                <a:solidFill>
                  <a:schemeClr val="bg1">
                    <a:lumMod val="50000"/>
                  </a:schemeClr>
                </a:solidFill>
                <a:latin typeface="メイリオ" panose="020B0604030504040204" pitchFamily="50" charset="-128"/>
                <a:ea typeface="メイリオ" panose="020B0604030504040204" pitchFamily="50" charset="-128"/>
                <a:cs typeface="メイリオ"/>
              </a:rPr>
              <a:t>MTG</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endParaRPr>
          </a:p>
        </p:txBody>
      </p:sp>
      <p:sp>
        <p:nvSpPr>
          <p:cNvPr id="44" name="角丸四角形 43"/>
          <p:cNvSpPr/>
          <p:nvPr/>
        </p:nvSpPr>
        <p:spPr>
          <a:xfrm>
            <a:off x="3133924" y="430865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初期設計の構築</a:t>
            </a:r>
          </a:p>
        </p:txBody>
      </p:sp>
      <p:sp>
        <p:nvSpPr>
          <p:cNvPr id="45" name="角丸四角形 44"/>
          <p:cNvSpPr/>
          <p:nvPr/>
        </p:nvSpPr>
        <p:spPr>
          <a:xfrm>
            <a:off x="3133924" y="50801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運用開始</a:t>
            </a:r>
          </a:p>
        </p:txBody>
      </p:sp>
      <p:sp>
        <p:nvSpPr>
          <p:cNvPr id="19" name="正方形/長方形 18"/>
          <p:cNvSpPr/>
          <p:nvPr/>
        </p:nvSpPr>
        <p:spPr>
          <a:xfrm>
            <a:off x="548883" y="1033120"/>
            <a:ext cx="8921032" cy="461665"/>
          </a:xfrm>
          <a:prstGeom prst="rect">
            <a:avLst/>
          </a:prstGeom>
        </p:spPr>
        <p:txBody>
          <a:bodyPr wrap="none">
            <a:spAutoFit/>
          </a:bodyPr>
          <a:lstStyle/>
          <a:p>
            <a:r>
              <a:rPr lang="ja-JP" altLang="en-US" sz="2400" dirty="0">
                <a:latin typeface="メイリオ" panose="020B0604030504040204" pitchFamily="50" charset="-128"/>
                <a:ea typeface="メイリオ" panose="020B0604030504040204" pitchFamily="50" charset="-128"/>
                <a:cs typeface="メイリオ"/>
              </a:rPr>
              <a:t>サイト・LINEへの実装は、初期設計が整い次第、順次進行</a:t>
            </a:r>
            <a:endParaRPr lang="ja-JP" altLang="en-US" sz="2400" dirty="0">
              <a:latin typeface="メイリオ"/>
              <a:ea typeface="メイリオ"/>
              <a:cs typeface="メイリオ"/>
            </a:endParaRPr>
          </a:p>
        </p:txBody>
      </p:sp>
      <p:sp>
        <p:nvSpPr>
          <p:cNvPr id="20" name="正方形/長方形 19"/>
          <p:cNvSpPr/>
          <p:nvPr/>
        </p:nvSpPr>
        <p:spPr>
          <a:xfrm>
            <a:off x="4708989" y="5841409"/>
            <a:ext cx="4955203" cy="276999"/>
          </a:xfrm>
          <a:prstGeom prst="rect">
            <a:avLst/>
          </a:prstGeom>
        </p:spPr>
        <p:txBody>
          <a:bodyPr wrap="none">
            <a:spAutoFit/>
          </a:bodyPr>
          <a:lstStyle/>
          <a:p>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※貴社の作業・確認にかかる時間により、前後する可能性あり</a:t>
            </a:r>
          </a:p>
        </p:txBody>
      </p:sp>
      <p:sp>
        <p:nvSpPr>
          <p:cNvPr id="3" name="正方形/長方形 2"/>
          <p:cNvSpPr/>
          <p:nvPr/>
        </p:nvSpPr>
        <p:spPr>
          <a:xfrm>
            <a:off x="7902506" y="3514209"/>
            <a:ext cx="1415772"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オーディエンスリスト作成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タグ設定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rPr>
              <a:t>GA</a:t>
            </a:r>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rPr>
              <a:t>etc...</a:t>
            </a:r>
          </a:p>
        </p:txBody>
      </p:sp>
      <p:sp>
        <p:nvSpPr>
          <p:cNvPr id="24" name="正方形/長方形 23"/>
          <p:cNvSpPr/>
          <p:nvPr/>
        </p:nvSpPr>
        <p:spPr>
          <a:xfrm>
            <a:off x="7897281" y="4276528"/>
            <a:ext cx="1107996"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リッチメニュー作成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アンケート設計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シナリオ設計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rPr>
              <a:t>etc...</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A67513FB-FEEF-76F5-5394-A1A2495F0489}"/>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弊社からご提供できる運用プラン</a:t>
            </a:r>
          </a:p>
        </p:txBody>
      </p:sp>
      <p:sp>
        <p:nvSpPr>
          <p:cNvPr id="9" name="正方形/長方形 8">
            <a:extLst>
              <a:ext uri="{FF2B5EF4-FFF2-40B4-BE49-F238E27FC236}">
                <a16:creationId xmlns:a16="http://schemas.microsoft.com/office/drawing/2014/main" id="{5CF6CD71-4C48-796A-BD54-E778269A9308}"/>
              </a:ext>
            </a:extLst>
          </p:cNvPr>
          <p:cNvSpPr/>
          <p:nvPr/>
        </p:nvSpPr>
        <p:spPr>
          <a:xfrm>
            <a:off x="0" y="777240"/>
            <a:ext cx="210312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cs typeface="メイリオ"/>
              </a:rPr>
              <a:t>成果報酬型プラン</a:t>
            </a:r>
            <a:endParaRPr kumimoji="1" lang="ja-JP" altLang="en-US" sz="1400" dirty="0">
              <a:latin typeface="メイリオ" panose="020B0604030504040204" pitchFamily="50" charset="-128"/>
              <a:ea typeface="メイリオ" panose="020B0604030504040204" pitchFamily="50" charset="-128"/>
              <a:cs typeface="メイリオ"/>
            </a:endParaRPr>
          </a:p>
        </p:txBody>
      </p:sp>
      <p:sp>
        <p:nvSpPr>
          <p:cNvPr id="5" name="Google Shape;752;p28">
            <a:extLst>
              <a:ext uri="{FF2B5EF4-FFF2-40B4-BE49-F238E27FC236}">
                <a16:creationId xmlns:a16="http://schemas.microsoft.com/office/drawing/2014/main" id="{6C35AEF3-D15B-5805-4919-629E6F4207CC}"/>
              </a:ext>
            </a:extLst>
          </p:cNvPr>
          <p:cNvSpPr txBox="1"/>
          <p:nvPr/>
        </p:nvSpPr>
        <p:spPr>
          <a:xfrm>
            <a:off x="2286000" y="859443"/>
            <a:ext cx="7406640"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メイリオ"/>
                <a:sym typeface="Meiryo"/>
              </a:rPr>
              <a:t>施策成果件数に伴う費用発生でリスクを抑えた運用スタートを実現。</a:t>
            </a:r>
          </a:p>
        </p:txBody>
      </p:sp>
      <p:sp>
        <p:nvSpPr>
          <p:cNvPr id="21" name="正方形/長方形 20">
            <a:extLst>
              <a:ext uri="{FF2B5EF4-FFF2-40B4-BE49-F238E27FC236}">
                <a16:creationId xmlns:a16="http://schemas.microsoft.com/office/drawing/2014/main" id="{EEA02B17-0DA2-A3FE-A6E5-243C1724301E}"/>
              </a:ext>
            </a:extLst>
          </p:cNvPr>
          <p:cNvSpPr/>
          <p:nvPr/>
        </p:nvSpPr>
        <p:spPr>
          <a:xfrm>
            <a:off x="548881" y="1405687"/>
            <a:ext cx="4404119" cy="2061098"/>
          </a:xfrm>
          <a:prstGeom prst="rect">
            <a:avLst/>
          </a:prstGeom>
          <a:no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2" name="正方形/長方形 1">
            <a:extLst>
              <a:ext uri="{FF2B5EF4-FFF2-40B4-BE49-F238E27FC236}">
                <a16:creationId xmlns:a16="http://schemas.microsoft.com/office/drawing/2014/main" id="{CA8AA691-8D48-57D0-BF47-34182D3A6DAC}"/>
              </a:ext>
            </a:extLst>
          </p:cNvPr>
          <p:cNvSpPr/>
          <p:nvPr/>
        </p:nvSpPr>
        <p:spPr>
          <a:xfrm>
            <a:off x="748333" y="1594972"/>
            <a:ext cx="2322527"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b="1" dirty="0">
                <a:solidFill>
                  <a:schemeClr val="tx1"/>
                </a:solidFill>
                <a:latin typeface="メイリオ" panose="020B0604030504040204" pitchFamily="50" charset="-128"/>
                <a:ea typeface="メイリオ" panose="020B0604030504040204" pitchFamily="50" charset="-128"/>
                <a:cs typeface="メイリオ"/>
              </a:rPr>
              <a:t>成果報酬費用</a:t>
            </a:r>
            <a:endParaRPr kumimoji="1" lang="ja-JP" altLang="en-US" sz="10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6" name="正方形/長方形 5">
            <a:extLst>
              <a:ext uri="{FF2B5EF4-FFF2-40B4-BE49-F238E27FC236}">
                <a16:creationId xmlns:a16="http://schemas.microsoft.com/office/drawing/2014/main" id="{264193FC-5A1A-667F-A9D5-30C2155A72EB}"/>
              </a:ext>
            </a:extLst>
          </p:cNvPr>
          <p:cNvSpPr/>
          <p:nvPr/>
        </p:nvSpPr>
        <p:spPr>
          <a:xfrm>
            <a:off x="3230275" y="1588966"/>
            <a:ext cx="1494125"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tx1"/>
                </a:solidFill>
                <a:latin typeface="メイリオ" panose="020B0604030504040204" pitchFamily="50" charset="-128"/>
                <a:ea typeface="メイリオ" panose="020B0604030504040204" pitchFamily="50" charset="-128"/>
                <a:cs typeface="メイリオ"/>
              </a:rPr>
              <a:t>固定費用</a:t>
            </a:r>
            <a:endParaRPr kumimoji="1" lang="ja-JP" altLang="en-US"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7" name="正方形/長方形 6">
            <a:extLst>
              <a:ext uri="{FF2B5EF4-FFF2-40B4-BE49-F238E27FC236}">
                <a16:creationId xmlns:a16="http://schemas.microsoft.com/office/drawing/2014/main" id="{692E0C40-273C-2C77-21FF-EC7A2A1C8F8F}"/>
              </a:ext>
            </a:extLst>
          </p:cNvPr>
          <p:cNvSpPr/>
          <p:nvPr/>
        </p:nvSpPr>
        <p:spPr>
          <a:xfrm>
            <a:off x="748333" y="2116483"/>
            <a:ext cx="2322527" cy="687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b="1" dirty="0">
                <a:solidFill>
                  <a:schemeClr val="tx1"/>
                </a:solidFill>
                <a:latin typeface="メイリオ" panose="020B0604030504040204" pitchFamily="50" charset="-128"/>
                <a:ea typeface="メイリオ" panose="020B0604030504040204" pitchFamily="50" charset="-128"/>
                <a:cs typeface="メイリオ"/>
              </a:rPr>
              <a:t>成果件数 </a:t>
            </a:r>
            <a:r>
              <a:rPr lang="en-US" altLang="ja-JP" sz="1400" b="1" dirty="0">
                <a:solidFill>
                  <a:schemeClr val="tx1"/>
                </a:solidFill>
                <a:latin typeface="メイリオ" panose="020B0604030504040204" pitchFamily="50" charset="-128"/>
                <a:ea typeface="メイリオ" panose="020B0604030504040204" pitchFamily="50" charset="-128"/>
                <a:cs typeface="メイリオ"/>
              </a:rPr>
              <a:t>× </a:t>
            </a:r>
            <a:r>
              <a:rPr lang="ja-JP" altLang="en-US" sz="1400" b="1" dirty="0">
                <a:solidFill>
                  <a:schemeClr val="tx1"/>
                </a:solidFill>
                <a:latin typeface="メイリオ" panose="020B0604030504040204" pitchFamily="50" charset="-128"/>
                <a:ea typeface="メイリオ" panose="020B0604030504040204" pitchFamily="50" charset="-128"/>
                <a:cs typeface="メイリオ"/>
              </a:rPr>
              <a:t>成果報酬単価</a:t>
            </a:r>
            <a:endParaRPr lang="en-US" altLang="ja-JP"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5" name="正方形/長方形 14">
            <a:extLst>
              <a:ext uri="{FF2B5EF4-FFF2-40B4-BE49-F238E27FC236}">
                <a16:creationId xmlns:a16="http://schemas.microsoft.com/office/drawing/2014/main" id="{BAC2B063-6DAA-B7D0-0B1D-E5CC879D23FD}"/>
              </a:ext>
            </a:extLst>
          </p:cNvPr>
          <p:cNvSpPr/>
          <p:nvPr/>
        </p:nvSpPr>
        <p:spPr>
          <a:xfrm>
            <a:off x="3230275" y="2116483"/>
            <a:ext cx="1494125" cy="687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メイリオ" panose="020B0604030504040204" pitchFamily="50" charset="-128"/>
                <a:ea typeface="メイリオ" panose="020B0604030504040204" pitchFamily="50" charset="-128"/>
                <a:cs typeface="メイリオ"/>
              </a:rPr>
              <a:t>アカウント費</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200" dirty="0">
                <a:solidFill>
                  <a:schemeClr val="tx1"/>
                </a:solidFill>
                <a:latin typeface="メイリオ" panose="020B0604030504040204" pitchFamily="50" charset="-128"/>
                <a:ea typeface="メイリオ" panose="020B0604030504040204" pitchFamily="50" charset="-128"/>
                <a:cs typeface="メイリオ"/>
              </a:rPr>
              <a:t>＋</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200" dirty="0">
                <a:solidFill>
                  <a:schemeClr val="tx1"/>
                </a:solidFill>
                <a:latin typeface="メイリオ" panose="020B0604030504040204" pitchFamily="50" charset="-128"/>
                <a:ea typeface="メイリオ" panose="020B0604030504040204" pitchFamily="50" charset="-128"/>
                <a:cs typeface="メイリオ"/>
              </a:rPr>
              <a:t>ツール費</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8" name="テキスト ボックス 17">
            <a:extLst>
              <a:ext uri="{FF2B5EF4-FFF2-40B4-BE49-F238E27FC236}">
                <a16:creationId xmlns:a16="http://schemas.microsoft.com/office/drawing/2014/main" id="{0036B929-196A-854E-1925-1967B52BEB27}"/>
              </a:ext>
            </a:extLst>
          </p:cNvPr>
          <p:cNvSpPr txBox="1"/>
          <p:nvPr/>
        </p:nvSpPr>
        <p:spPr>
          <a:xfrm>
            <a:off x="668626" y="1585328"/>
            <a:ext cx="4960620" cy="523220"/>
          </a:xfrm>
          <a:prstGeom prst="rect">
            <a:avLst/>
          </a:prstGeom>
          <a:noFill/>
        </p:spPr>
        <p:txBody>
          <a:bodyPr wrap="square">
            <a:spAutoFit/>
          </a:bodyPr>
          <a:lstStyle/>
          <a:p>
            <a:pPr algn="ctr"/>
            <a:r>
              <a:rPr lang="ja-JP" altLang="en-US" sz="2800" b="1" dirty="0">
                <a:solidFill>
                  <a:schemeClr val="tx1"/>
                </a:solidFill>
                <a:latin typeface="メイリオ" panose="020B0604030504040204" pitchFamily="50" charset="-128"/>
                <a:ea typeface="メイリオ" panose="020B0604030504040204" pitchFamily="50" charset="-128"/>
                <a:cs typeface="メイリオ"/>
              </a:rPr>
              <a:t>＋</a:t>
            </a:r>
            <a:endParaRPr lang="en-US" altLang="ja-JP" sz="28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9" name="正方形/長方形 18">
            <a:extLst>
              <a:ext uri="{FF2B5EF4-FFF2-40B4-BE49-F238E27FC236}">
                <a16:creationId xmlns:a16="http://schemas.microsoft.com/office/drawing/2014/main" id="{C94A4AE5-885C-B98E-00A8-77C51FC7BFE1}"/>
              </a:ext>
            </a:extLst>
          </p:cNvPr>
          <p:cNvSpPr/>
          <p:nvPr/>
        </p:nvSpPr>
        <p:spPr>
          <a:xfrm>
            <a:off x="5080364" y="1405605"/>
            <a:ext cx="4328131" cy="23235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100" dirty="0">
                <a:solidFill>
                  <a:schemeClr val="tx1"/>
                </a:solidFill>
                <a:latin typeface="メイリオ" panose="020B0604030504040204" pitchFamily="50" charset="-128"/>
                <a:ea typeface="メイリオ" panose="020B0604030504040204" pitchFamily="50" charset="-128"/>
                <a:cs typeface="メイリオ"/>
              </a:rPr>
              <a:t> ☑ 複数の</a:t>
            </a:r>
            <a:r>
              <a:rPr lang="en-US" altLang="ja-JP" sz="1100" dirty="0">
                <a:solidFill>
                  <a:schemeClr val="tx1"/>
                </a:solidFill>
                <a:latin typeface="メイリオ" panose="020B0604030504040204" pitchFamily="50" charset="-128"/>
                <a:ea typeface="メイリオ" panose="020B0604030504040204" pitchFamily="50" charset="-128"/>
                <a:cs typeface="メイリオ"/>
              </a:rPr>
              <a:t>LINE</a:t>
            </a:r>
            <a:r>
              <a:rPr lang="ja-JP" altLang="en-US" sz="1100" dirty="0">
                <a:solidFill>
                  <a:schemeClr val="tx1"/>
                </a:solidFill>
                <a:latin typeface="メイリオ" panose="020B0604030504040204" pitchFamily="50" charset="-128"/>
                <a:ea typeface="メイリオ" panose="020B0604030504040204" pitchFamily="50" charset="-128"/>
                <a:cs typeface="メイリオ"/>
              </a:rPr>
              <a:t>流入経路からステップ配信を構築し、</a:t>
            </a:r>
            <a:r>
              <a:rPr lang="en-US" altLang="ja-JP" sz="1100" dirty="0">
                <a:solidFill>
                  <a:schemeClr val="tx1"/>
                </a:solidFill>
                <a:latin typeface="メイリオ" panose="020B0604030504040204" pitchFamily="50" charset="-128"/>
                <a:ea typeface="メイリオ" panose="020B0604030504040204" pitchFamily="50" charset="-128"/>
                <a:cs typeface="メイリオ"/>
              </a:rPr>
              <a:t>CV</a:t>
            </a:r>
            <a:r>
              <a:rPr lang="ja-JP" altLang="en-US" sz="1100" dirty="0">
                <a:solidFill>
                  <a:schemeClr val="tx1"/>
                </a:solidFill>
                <a:latin typeface="メイリオ" panose="020B0604030504040204" pitchFamily="50" charset="-128"/>
                <a:ea typeface="メイリオ" panose="020B0604030504040204" pitchFamily="50" charset="-128"/>
                <a:cs typeface="メイリオ"/>
              </a:rPr>
              <a:t>数を増加。 </a:t>
            </a:r>
            <a:endParaRPr lang="en-US" altLang="ja-JP" sz="11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4" name="正方形/長方形 23">
            <a:extLst>
              <a:ext uri="{FF2B5EF4-FFF2-40B4-BE49-F238E27FC236}">
                <a16:creationId xmlns:a16="http://schemas.microsoft.com/office/drawing/2014/main" id="{4A2D4AF3-1CC4-4934-0B96-59B465612A8D}"/>
              </a:ext>
            </a:extLst>
          </p:cNvPr>
          <p:cNvSpPr/>
          <p:nvPr/>
        </p:nvSpPr>
        <p:spPr>
          <a:xfrm>
            <a:off x="5080363" y="1783080"/>
            <a:ext cx="4328131" cy="23235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100" dirty="0">
                <a:solidFill>
                  <a:schemeClr val="tx1"/>
                </a:solidFill>
                <a:latin typeface="メイリオ" panose="020B0604030504040204" pitchFamily="50" charset="-128"/>
                <a:ea typeface="メイリオ" panose="020B0604030504040204" pitchFamily="50" charset="-128"/>
                <a:cs typeface="メイリオ"/>
              </a:rPr>
              <a:t> ☑ 現状導入しているツール、計測環境に応じて設計が可能。 </a:t>
            </a:r>
            <a:endParaRPr lang="en-US" altLang="ja-JP" sz="11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6" name="テキスト ボックス 25">
            <a:extLst>
              <a:ext uri="{FF2B5EF4-FFF2-40B4-BE49-F238E27FC236}">
                <a16:creationId xmlns:a16="http://schemas.microsoft.com/office/drawing/2014/main" id="{1981C36B-B3F0-8036-014B-17B1A065A490}"/>
              </a:ext>
            </a:extLst>
          </p:cNvPr>
          <p:cNvSpPr txBox="1"/>
          <p:nvPr/>
        </p:nvSpPr>
        <p:spPr>
          <a:xfrm>
            <a:off x="3230275" y="2856669"/>
            <a:ext cx="1715105"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cs typeface="メイリオ"/>
              </a:rPr>
              <a:t>※ </a:t>
            </a:r>
            <a:r>
              <a:rPr lang="ja-JP" altLang="en-US" sz="800" dirty="0">
                <a:solidFill>
                  <a:srgbClr val="FF0000"/>
                </a:solidFill>
                <a:latin typeface="メイリオ" panose="020B0604030504040204" pitchFamily="50" charset="-128"/>
                <a:ea typeface="メイリオ" panose="020B0604030504040204" pitchFamily="50" charset="-128"/>
                <a:cs typeface="メイリオ"/>
              </a:rPr>
              <a:t>導入ツールに応じて費用発生</a:t>
            </a:r>
            <a:endParaRPr lang="en-US" altLang="ja-JP" sz="800" dirty="0">
              <a:solidFill>
                <a:srgbClr val="FF0000"/>
              </a:solidFill>
              <a:latin typeface="メイリオ" panose="020B0604030504040204" pitchFamily="50" charset="-128"/>
              <a:ea typeface="メイリオ" panose="020B0604030504040204" pitchFamily="50" charset="-128"/>
              <a:cs typeface="メイリオ"/>
            </a:endParaRPr>
          </a:p>
        </p:txBody>
      </p:sp>
      <p:sp>
        <p:nvSpPr>
          <p:cNvPr id="27" name="テキスト ボックス 26">
            <a:extLst>
              <a:ext uri="{FF2B5EF4-FFF2-40B4-BE49-F238E27FC236}">
                <a16:creationId xmlns:a16="http://schemas.microsoft.com/office/drawing/2014/main" id="{0F171EE4-EBC4-0A03-9342-8E33CDF25A68}"/>
              </a:ext>
            </a:extLst>
          </p:cNvPr>
          <p:cNvSpPr txBox="1"/>
          <p:nvPr/>
        </p:nvSpPr>
        <p:spPr>
          <a:xfrm>
            <a:off x="3230274" y="3083982"/>
            <a:ext cx="1715105"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cs typeface="メイリオ"/>
              </a:rPr>
              <a:t>※ </a:t>
            </a:r>
            <a:r>
              <a:rPr lang="ja-JP" altLang="en-US" sz="800" dirty="0">
                <a:solidFill>
                  <a:srgbClr val="FF0000"/>
                </a:solidFill>
                <a:latin typeface="メイリオ" panose="020B0604030504040204" pitchFamily="50" charset="-128"/>
                <a:ea typeface="メイリオ" panose="020B0604030504040204" pitchFamily="50" charset="-128"/>
                <a:cs typeface="メイリオ"/>
              </a:rPr>
              <a:t>上限通数を設定して運営可能</a:t>
            </a:r>
            <a:endParaRPr lang="en-US" altLang="ja-JP" sz="800" dirty="0">
              <a:solidFill>
                <a:srgbClr val="FF0000"/>
              </a:solidFill>
              <a:latin typeface="メイリオ" panose="020B0604030504040204" pitchFamily="50" charset="-128"/>
              <a:ea typeface="メイリオ" panose="020B0604030504040204" pitchFamily="50" charset="-128"/>
              <a:cs typeface="メイリオ"/>
            </a:endParaRPr>
          </a:p>
        </p:txBody>
      </p:sp>
      <p:sp>
        <p:nvSpPr>
          <p:cNvPr id="28" name="テキスト ボックス 27">
            <a:extLst>
              <a:ext uri="{FF2B5EF4-FFF2-40B4-BE49-F238E27FC236}">
                <a16:creationId xmlns:a16="http://schemas.microsoft.com/office/drawing/2014/main" id="{C6B5A64D-6B62-2D6A-1AF5-5EFCEC948063}"/>
              </a:ext>
            </a:extLst>
          </p:cNvPr>
          <p:cNvSpPr txBox="1"/>
          <p:nvPr/>
        </p:nvSpPr>
        <p:spPr>
          <a:xfrm>
            <a:off x="748334" y="2856669"/>
            <a:ext cx="2101546"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cs typeface="メイリオ"/>
              </a:rPr>
              <a:t>※ </a:t>
            </a:r>
            <a:r>
              <a:rPr lang="ja-JP" altLang="en-US" sz="800" dirty="0">
                <a:solidFill>
                  <a:srgbClr val="FF0000"/>
                </a:solidFill>
                <a:latin typeface="メイリオ" panose="020B0604030504040204" pitchFamily="50" charset="-128"/>
                <a:ea typeface="メイリオ" panose="020B0604030504040204" pitchFamily="50" charset="-128"/>
                <a:cs typeface="メイリオ"/>
              </a:rPr>
              <a:t>成果件数は</a:t>
            </a:r>
            <a:r>
              <a:rPr lang="en-US" altLang="ja-JP" sz="800" dirty="0">
                <a:solidFill>
                  <a:srgbClr val="FF0000"/>
                </a:solidFill>
                <a:latin typeface="メイリオ" panose="020B0604030504040204" pitchFamily="50" charset="-128"/>
                <a:ea typeface="メイリオ" panose="020B0604030504040204" pitchFamily="50" charset="-128"/>
                <a:cs typeface="メイリオ"/>
              </a:rPr>
              <a:t>GA</a:t>
            </a:r>
            <a:r>
              <a:rPr lang="ja-JP" altLang="en-US" sz="800" dirty="0">
                <a:solidFill>
                  <a:srgbClr val="FF0000"/>
                </a:solidFill>
                <a:latin typeface="メイリオ" panose="020B0604030504040204" pitchFamily="50" charset="-128"/>
                <a:ea typeface="メイリオ" panose="020B0604030504040204" pitchFamily="50" charset="-128"/>
                <a:cs typeface="メイリオ"/>
              </a:rPr>
              <a:t>、他ツールでの計測</a:t>
            </a:r>
            <a:endParaRPr lang="en-US" altLang="ja-JP" sz="800" dirty="0">
              <a:solidFill>
                <a:srgbClr val="FF0000"/>
              </a:solidFill>
              <a:latin typeface="メイリオ" panose="020B0604030504040204" pitchFamily="50" charset="-128"/>
              <a:ea typeface="メイリオ" panose="020B0604030504040204" pitchFamily="50" charset="-128"/>
              <a:cs typeface="メイリオ"/>
            </a:endParaRPr>
          </a:p>
        </p:txBody>
      </p:sp>
      <p:sp>
        <p:nvSpPr>
          <p:cNvPr id="29" name="テキスト ボックス 28">
            <a:extLst>
              <a:ext uri="{FF2B5EF4-FFF2-40B4-BE49-F238E27FC236}">
                <a16:creationId xmlns:a16="http://schemas.microsoft.com/office/drawing/2014/main" id="{555B5E5B-7EFA-B5FA-0284-3CD0D3947983}"/>
              </a:ext>
            </a:extLst>
          </p:cNvPr>
          <p:cNvSpPr txBox="1"/>
          <p:nvPr/>
        </p:nvSpPr>
        <p:spPr>
          <a:xfrm>
            <a:off x="748333" y="3083982"/>
            <a:ext cx="2322527"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cs typeface="メイリオ"/>
              </a:rPr>
              <a:t>※ </a:t>
            </a:r>
            <a:r>
              <a:rPr lang="ja-JP" altLang="en-US" sz="800" dirty="0">
                <a:solidFill>
                  <a:srgbClr val="FF0000"/>
                </a:solidFill>
                <a:latin typeface="メイリオ" panose="020B0604030504040204" pitchFamily="50" charset="-128"/>
                <a:ea typeface="メイリオ" panose="020B0604030504040204" pitchFamily="50" charset="-128"/>
                <a:cs typeface="メイリオ"/>
              </a:rPr>
              <a:t>成果報酬単価は広告</a:t>
            </a:r>
            <a:r>
              <a:rPr lang="en-US" altLang="ja-JP" sz="800" dirty="0">
                <a:solidFill>
                  <a:srgbClr val="FF0000"/>
                </a:solidFill>
                <a:latin typeface="メイリオ" panose="020B0604030504040204" pitchFamily="50" charset="-128"/>
                <a:ea typeface="メイリオ" panose="020B0604030504040204" pitchFamily="50" charset="-128"/>
                <a:cs typeface="メイリオ"/>
              </a:rPr>
              <a:t>CPA</a:t>
            </a:r>
            <a:r>
              <a:rPr lang="ja-JP" altLang="en-US" sz="800" dirty="0">
                <a:solidFill>
                  <a:srgbClr val="FF0000"/>
                </a:solidFill>
                <a:latin typeface="メイリオ" panose="020B0604030504040204" pitchFamily="50" charset="-128"/>
                <a:ea typeface="メイリオ" panose="020B0604030504040204" pitchFamily="50" charset="-128"/>
                <a:cs typeface="メイリオ"/>
              </a:rPr>
              <a:t>に基づき設定</a:t>
            </a:r>
            <a:endParaRPr lang="en-US" altLang="ja-JP" sz="800" dirty="0">
              <a:solidFill>
                <a:srgbClr val="FF0000"/>
              </a:solidFill>
              <a:latin typeface="メイリオ" panose="020B0604030504040204" pitchFamily="50" charset="-128"/>
              <a:ea typeface="メイリオ" panose="020B0604030504040204" pitchFamily="50" charset="-128"/>
              <a:cs typeface="メイリオ"/>
            </a:endParaRPr>
          </a:p>
        </p:txBody>
      </p:sp>
      <p:sp>
        <p:nvSpPr>
          <p:cNvPr id="23" name="テキスト ボックス 22">
            <a:extLst>
              <a:ext uri="{FF2B5EF4-FFF2-40B4-BE49-F238E27FC236}">
                <a16:creationId xmlns:a16="http://schemas.microsoft.com/office/drawing/2014/main" id="{4C08CE37-3C30-0822-0EDA-FEB4C5F762A4}"/>
              </a:ext>
            </a:extLst>
          </p:cNvPr>
          <p:cNvSpPr txBox="1"/>
          <p:nvPr/>
        </p:nvSpPr>
        <p:spPr>
          <a:xfrm>
            <a:off x="5084483" y="2103120"/>
            <a:ext cx="4324011" cy="415498"/>
          </a:xfrm>
          <a:prstGeom prst="rect">
            <a:avLst/>
          </a:prstGeom>
          <a:noFill/>
        </p:spPr>
        <p:txBody>
          <a:bodyPr wrap="square">
            <a:spAutoFit/>
          </a:bodyPr>
          <a:lstStyle/>
          <a:p>
            <a:r>
              <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 </a:t>
            </a:r>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 </a:t>
            </a:r>
            <a:r>
              <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API</a:t>
            </a:r>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ツール ✓複数の成果地点とそれに伴う成果単価</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 に基づいて、契約における条件の調整が可能です。</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17" name="正方形/長方形 16">
            <a:extLst>
              <a:ext uri="{FF2B5EF4-FFF2-40B4-BE49-F238E27FC236}">
                <a16:creationId xmlns:a16="http://schemas.microsoft.com/office/drawing/2014/main" id="{5D385AB6-97DE-E2AB-6E27-3BFD5D3B3C5D}"/>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DYM</a:t>
            </a:r>
            <a:r>
              <a:rPr kumimoji="1" lang="ja-JP" altLang="en-US" sz="1400" dirty="0">
                <a:latin typeface="メイリオ" panose="020B0604030504040204" pitchFamily="50" charset="-128"/>
                <a:ea typeface="メイリオ" panose="020B0604030504040204" pitchFamily="50" charset="-128"/>
                <a:cs typeface="メイリオ"/>
              </a:rPr>
              <a:t>プラン</a:t>
            </a:r>
          </a:p>
        </p:txBody>
      </p:sp>
      <p:sp>
        <p:nvSpPr>
          <p:cNvPr id="30" name="小見出し"/>
          <p:cNvSpPr/>
          <p:nvPr/>
        </p:nvSpPr>
        <p:spPr>
          <a:xfrm>
            <a:off x="548640" y="3749039"/>
            <a:ext cx="8860536" cy="320040"/>
          </a:xfrm>
          <a:prstGeom prst="rect">
            <a:avLst/>
          </a:prstGeom>
          <a:noFill/>
          <a:ln>
            <a:noFill/>
          </a:ln>
        </p:spPr>
        <p:txBody>
          <a:bodyPr wrap="square" lIns="0" tIns="0" rIns="0" bIns="0" rtlCol="0" anchor="ctr">
            <a:noAutofit/>
          </a:bodyPr>
          <a:lstStyle/>
          <a:p>
            <a:pPr algn="l">
              <a:buNone/>
            </a:pPr>
            <a:r>
              <a:rPr lang="ja-JP" altLang="en-US" sz="1300" b="1" dirty="0">
                <a:solidFill>
                  <a:srgbClr val="002060"/>
                </a:solidFill>
                <a:latin typeface="メイリオ" panose="020B0604030504040204" pitchFamily="50" charset="-128"/>
                <a:ea typeface="メイリオ" panose="020B0604030504040204" pitchFamily="50" charset="-128"/>
                <a:cs typeface="メイリオ"/>
              </a:rPr>
              <a:t>今回の成果単価の費用感</a:t>
            </a:r>
            <a:endParaRPr lang="ja-JP" altLang="en-US" sz="1200" dirty="0">
              <a:latin typeface="メイリオ"/>
              <a:ea typeface="メイリオ"/>
              <a:cs typeface="メイリオ"/>
            </a:endParaRPr>
          </a:p>
        </p:txBody>
      </p:sp>
      <p:graphicFrame>
        <p:nvGraphicFramePr>
          <p:cNvPr id="31" name="成果報酬単価 30"/>
          <p:cNvGraphicFramePr>
            <a:graphicFrameLocks noGrp="1"/>
          </p:cNvGraphicFramePr>
          <p:nvPr/>
        </p:nvGraphicFramePr>
        <p:xfrm>
          <a:off x="548640" y="4114800"/>
          <a:ext cx="8860536" cy="1325880"/>
        </p:xfrm>
        <a:graphic>
          <a:graphicData uri="http://schemas.openxmlformats.org/drawingml/2006/table">
            <a:tbl>
              <a:tblPr/>
              <a:tblGrid>
                <a:gridCol w="237744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4105656">
                  <a:extLst>
                    <a:ext uri="{9D8B030D-6E8A-4147-A177-3AD203B41FA5}">
                      <a16:colId xmlns:a16="http://schemas.microsoft.com/office/drawing/2014/main" val="20002"/>
                    </a:ext>
                  </a:extLst>
                </a:gridCol>
              </a:tblGrid>
              <a:tr h="41148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成果の地点</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成果報酬単価</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成果件数の数え方</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extLst>
                  <a:ext uri="{0D108BD9-81ED-4DB2-BD59-A6C34878D82A}">
                    <a16:rowId xmlns:a16="http://schemas.microsoft.com/office/drawing/2014/main" val="10000"/>
                  </a:ext>
                </a:extLst>
              </a:tr>
              <a:tr h="45720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セミナー予約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ctr">
                        <a:buNone/>
                      </a:pPr>
                      <a:r>
                        <a:rPr lang="ja-JP" altLang="en-US" sz="1600" b="1" dirty="0">
                          <a:solidFill>
                            <a:srgbClr val="002060"/>
                          </a:solidFill>
                          <a:latin typeface="メイリオ" panose="020B0604030504040204" pitchFamily="50" charset="-128"/>
                          <a:ea typeface="メイリオ" panose="020B0604030504040204" pitchFamily="50" charset="-128"/>
                          <a:cs typeface="メイリオ"/>
                        </a:rPr>
                        <a:t>12,000円／件</a:t>
                      </a:r>
                      <a:endParaRPr lang="ja-JP" altLang="en-US" sz="16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LINEのリンクからのセミナー予約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サロン入会</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ctr">
                        <a:buNone/>
                      </a:pPr>
                      <a:r>
                        <a:rPr lang="ja-JP" altLang="en-US" sz="1600" b="1" dirty="0">
                          <a:solidFill>
                            <a:srgbClr val="002060"/>
                          </a:solidFill>
                          <a:latin typeface="メイリオ" panose="020B0604030504040204" pitchFamily="50" charset="-128"/>
                          <a:ea typeface="メイリオ" panose="020B0604030504040204" pitchFamily="50" charset="-128"/>
                          <a:cs typeface="メイリオ"/>
                        </a:rPr>
                        <a:t>25,000円／件</a:t>
                      </a:r>
                      <a:endParaRPr lang="ja-JP" altLang="en-US" sz="16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LINEのリンクからのサロン入会</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5"/>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lvl="1">
              <a:spcBef>
                <a:spcPct val="20000"/>
              </a:spcBef>
            </a:pPr>
            <a:r>
              <a:rPr lang="ja-JP" altLang="en-US" sz="831" b="1" dirty="0">
                <a:latin typeface="メイリオ"/>
                <a:ea typeface="メイリオ"/>
                <a:cs typeface="メイリオ"/>
              </a:rPr>
              <a:t>株式会社</a:t>
            </a:r>
            <a:r>
              <a:rPr lang="en-US" altLang="ja-JP" sz="831" b="1" dirty="0">
                <a:latin typeface="メイリオ"/>
                <a:ea typeface="メイリオ"/>
                <a:cs typeface="メイリオ"/>
              </a:rPr>
              <a:t>DYM</a:t>
            </a:r>
            <a:r>
              <a:rPr lang="ja-JP" altLang="en-US" sz="831" b="1" dirty="0">
                <a:latin typeface="メイリオ"/>
                <a:ea typeface="メイリオ"/>
                <a:cs typeface="メイリオ"/>
              </a:rPr>
              <a:t>　〒</a:t>
            </a:r>
            <a:r>
              <a:rPr lang="en-US" altLang="ja-JP" sz="831" b="1" dirty="0">
                <a:latin typeface="メイリオ"/>
                <a:ea typeface="メイリオ"/>
                <a:cs typeface="メイリオ"/>
              </a:rPr>
              <a:t>141-0032</a:t>
            </a:r>
            <a:r>
              <a:rPr lang="ja-JP" altLang="en-US" sz="831" b="1" dirty="0">
                <a:latin typeface="メイリオ"/>
                <a:ea typeface="メイリオ"/>
                <a:cs typeface="メイリオ"/>
              </a:rPr>
              <a:t>　東京都品川区大崎</a:t>
            </a:r>
            <a:r>
              <a:rPr lang="en-US" altLang="ja-JP" sz="831" b="1" dirty="0">
                <a:latin typeface="メイリオ"/>
                <a:ea typeface="メイリオ"/>
                <a:cs typeface="メイリオ"/>
              </a:rPr>
              <a:t>1-11-2</a:t>
            </a:r>
            <a:r>
              <a:rPr lang="ja-JP" altLang="en-US" sz="831" b="1" dirty="0">
                <a:latin typeface="メイリオ"/>
                <a:ea typeface="メイリオ"/>
                <a:cs typeface="メイリオ"/>
              </a:rPr>
              <a:t>　ゲートシティ大崎イーストタワー</a:t>
            </a:r>
            <a:r>
              <a:rPr lang="en-US" altLang="ja-JP" sz="831" b="1" dirty="0">
                <a:latin typeface="メイリオ"/>
                <a:ea typeface="メイリオ"/>
                <a:cs typeface="メイリオ"/>
              </a:rPr>
              <a:t>10</a:t>
            </a:r>
            <a:r>
              <a:rPr lang="ja-JP" altLang="en-US" sz="831" b="1" dirty="0">
                <a:latin typeface="メイリオ"/>
                <a:ea typeface="メイリオ"/>
                <a:cs typeface="メイリオ"/>
              </a:rPr>
              <a:t>階</a:t>
            </a:r>
            <a:endParaRPr lang="en-US" altLang="ja-JP" sz="831" b="1" dirty="0">
              <a:latin typeface="メイリオ"/>
              <a:ea typeface="メイリオ"/>
              <a:cs typeface="メイリオ"/>
            </a:endParaRPr>
          </a:p>
          <a:p>
            <a:pPr lvl="1">
              <a:spcBef>
                <a:spcPct val="20000"/>
              </a:spcBef>
            </a:pPr>
            <a:r>
              <a:rPr lang="en-US" altLang="ja-JP" sz="831" b="1" dirty="0">
                <a:latin typeface="メイリオ"/>
                <a:ea typeface="メイリオ"/>
                <a:cs typeface="メイリオ"/>
              </a:rPr>
              <a:t>TEL: 03-5745-0200</a:t>
            </a:r>
            <a:r>
              <a:rPr lang="ja-JP" altLang="en-US" sz="831" b="1" dirty="0">
                <a:latin typeface="メイリオ"/>
                <a:ea typeface="メイリオ"/>
                <a:cs typeface="メイリオ"/>
              </a:rPr>
              <a:t>　</a:t>
            </a:r>
            <a:r>
              <a:rPr lang="en-US" altLang="ja-JP" sz="831" b="1" dirty="0">
                <a:latin typeface="メイリオ"/>
                <a:ea typeface="メイリオ"/>
                <a:cs typeface="メイリオ"/>
              </a:rPr>
              <a:t>FAX: 03-3779-8720 </a:t>
            </a:r>
            <a:r>
              <a:rPr lang="ja-JP" altLang="en-US" sz="831" b="1" dirty="0">
                <a:latin typeface="メイリオ"/>
                <a:ea typeface="メイリオ"/>
                <a:cs typeface="メイリオ"/>
              </a:rPr>
              <a:t>　</a:t>
            </a:r>
            <a:r>
              <a:rPr lang="en-US" altLang="ja-JP" sz="831" b="1" dirty="0">
                <a:latin typeface="メイリオ"/>
                <a:ea typeface="メイリオ"/>
                <a:cs typeface="メイリオ"/>
              </a:rPr>
              <a:t>http://dym.asia   </a:t>
            </a:r>
            <a:r>
              <a:rPr lang="ja-JP" altLang="en-US" sz="831" b="1" dirty="0">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6" y="5888351"/>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1" y="5597769"/>
            <a:ext cx="184731" cy="237116"/>
          </a:xfrm>
          <a:prstGeom prst="rect">
            <a:avLst/>
          </a:prstGeom>
          <a:noFill/>
        </p:spPr>
        <p:txBody>
          <a:bodyPr wrap="none" rtlCol="0">
            <a:spAutoFit/>
          </a:bodyPr>
          <a:lstStyle/>
          <a:p>
            <a:endParaRPr lang="ja-JP" altLang="en-US" sz="941">
              <a:latin typeface="メイリオ"/>
              <a:ea typeface="メイリオ"/>
              <a:cs typeface="メイリオ"/>
            </a:endParaRPr>
          </a:p>
        </p:txBody>
      </p:sp>
      <p:sp>
        <p:nvSpPr>
          <p:cNvPr id="18" name="正方形/長方形 17"/>
          <p:cNvSpPr/>
          <p:nvPr/>
        </p:nvSpPr>
        <p:spPr>
          <a:xfrm>
            <a:off x="2170038" y="989685"/>
            <a:ext cx="5565924" cy="400110"/>
          </a:xfrm>
          <a:prstGeom prst="rect">
            <a:avLst/>
          </a:prstGeom>
        </p:spPr>
        <p:txBody>
          <a:bodyPr wrap="square">
            <a:spAutoFit/>
          </a:bodyPr>
          <a:lstStyle/>
          <a:p>
            <a:pPr algn="ctr">
              <a:spcBef>
                <a:spcPct val="20000"/>
              </a:spcBef>
            </a:pPr>
            <a:r>
              <a:rPr lang="ja-JP" altLang="en-US" sz="2000" b="1" dirty="0">
                <a:latin typeface="メイリオ" charset="0"/>
                <a:ea typeface="メイリオ" charset="0"/>
                <a:cs typeface="メイリオ" charset="0"/>
              </a:rPr>
              <a:t>貴社の明るい未来に必ず貢献いたします。</a:t>
            </a:r>
          </a:p>
        </p:txBody>
      </p:sp>
      <p:pic>
        <p:nvPicPr>
          <p:cNvPr id="4" name="図 3">
            <a:extLst>
              <a:ext uri="{FF2B5EF4-FFF2-40B4-BE49-F238E27FC236}">
                <a16:creationId xmlns:a16="http://schemas.microsoft.com/office/drawing/2014/main" id="{73E0B742-FF70-F384-96EE-87A574CE828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71520" y="1988426"/>
            <a:ext cx="4274042" cy="2849361"/>
          </a:xfrm>
          <a:prstGeom prst="rect">
            <a:avLst/>
          </a:prstGeom>
        </p:spPr>
      </p:pic>
      <p:pic>
        <p:nvPicPr>
          <p:cNvPr id="8" name="図 7">
            <a:extLst>
              <a:ext uri="{FF2B5EF4-FFF2-40B4-BE49-F238E27FC236}">
                <a16:creationId xmlns:a16="http://schemas.microsoft.com/office/drawing/2014/main" id="{CBB7E89C-70F0-E399-7C21-45FBF93562E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198076" y="1988426"/>
            <a:ext cx="2326924" cy="1551282"/>
          </a:xfrm>
          <a:prstGeom prst="rect">
            <a:avLst/>
          </a:prstGeom>
        </p:spPr>
      </p:pic>
      <p:pic>
        <p:nvPicPr>
          <p:cNvPr id="6" name="図 5" descr="スーツを着た男性と文字&#10;&#10;低い精度で自動的に生成された説明">
            <a:extLst>
              <a:ext uri="{FF2B5EF4-FFF2-40B4-BE49-F238E27FC236}">
                <a16:creationId xmlns:a16="http://schemas.microsoft.com/office/drawing/2014/main" id="{DCA0A1E3-BE99-513C-E589-1E8C035070E8}"/>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7512" r="10622" b="20845"/>
          <a:stretch/>
        </p:blipFill>
        <p:spPr>
          <a:xfrm>
            <a:off x="7413236" y="3287967"/>
            <a:ext cx="2111765" cy="1551282"/>
          </a:xfrm>
          <a:prstGeom prst="rect">
            <a:avLst/>
          </a:prstGeom>
        </p:spPr>
      </p:pic>
      <p:pic>
        <p:nvPicPr>
          <p:cNvPr id="17" name="図 16" descr="白い壁の前に立っている子供たち&#10;&#10;AI によって生成されたコンテンツは間違っている可能性があります。">
            <a:extLst>
              <a:ext uri="{FF2B5EF4-FFF2-40B4-BE49-F238E27FC236}">
                <a16:creationId xmlns:a16="http://schemas.microsoft.com/office/drawing/2014/main" id="{3F5A2749-D4AC-2F37-FC68-2734BC439C61}"/>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644097" y="1988426"/>
            <a:ext cx="2615823" cy="1471836"/>
          </a:xfrm>
          <a:prstGeom prst="rect">
            <a:avLst/>
          </a:prstGeom>
        </p:spPr>
      </p:pic>
      <p:pic>
        <p:nvPicPr>
          <p:cNvPr id="7" name="図 6">
            <a:extLst>
              <a:ext uri="{FF2B5EF4-FFF2-40B4-BE49-F238E27FC236}">
                <a16:creationId xmlns:a16="http://schemas.microsoft.com/office/drawing/2014/main" id="{30C14A8F-514C-87B6-098E-D307672976B0}"/>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643655" y="3286280"/>
            <a:ext cx="2769580" cy="1554659"/>
          </a:xfrm>
          <a:prstGeom prst="rect">
            <a:avLst/>
          </a:prstGeom>
        </p:spPr>
      </p:pic>
    </p:spTree>
    <p:extLst>
      <p:ext uri="{BB962C8B-B14F-4D97-AF65-F5344CB8AC3E}">
        <p14:creationId xmlns:p14="http://schemas.microsoft.com/office/powerpoint/2010/main" val="3074123847"/>
      </p:ext>
    </p:extLst>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0"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cs typeface="メイリオ"/>
              </a:rPr>
              <a:t>Appendix</a:t>
            </a:r>
            <a:endParaRPr lang="en-US" sz="1600" b="0" u="none" strike="noStrike">
              <a:solidFill>
                <a:srgbClr val="000000"/>
              </a:solidFill>
              <a:effectLst/>
              <a:uFillTx/>
              <a:latin typeface="メイリオ"/>
              <a:ea typeface="メイリオ"/>
              <a:cs typeface="メイリオ"/>
            </a:endParaRPr>
          </a:p>
        </p:txBody>
      </p:sp>
      <p:sp>
        <p:nvSpPr>
          <p:cNvPr id="981" name="正方形/長方形 1"/>
          <p:cNvSpPr/>
          <p:nvPr/>
        </p:nvSpPr>
        <p:spPr>
          <a:xfrm>
            <a:off x="2808720" y="3038040"/>
            <a:ext cx="428796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ja-JP" sz="3200" b="1" u="none" strike="noStrike">
                <a:solidFill>
                  <a:schemeClr val="dk1">
                    <a:lumMod val="75000"/>
                    <a:lumOff val="25000"/>
                  </a:schemeClr>
                </a:solidFill>
                <a:effectLst/>
                <a:uFillTx/>
                <a:latin typeface="メイリオ"/>
                <a:ea typeface="メイリオ"/>
                <a:cs typeface="メイリオ"/>
              </a:rPr>
              <a:t>参考資料</a:t>
            </a:r>
            <a:endParaRPr lang="en-US" sz="3200" b="0" u="none" strike="noStrike">
              <a:solidFill>
                <a:srgbClr val="000000"/>
              </a:solidFill>
              <a:effectLst/>
              <a:uFillTx/>
              <a:latin typeface="メイリオ"/>
              <a:ea typeface="メイリオ"/>
              <a:cs typeface="メイリオ"/>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1" name="正方形/長方形 7"/>
          <p:cNvSpPr/>
          <p:nvPr/>
        </p:nvSpPr>
        <p:spPr>
          <a:xfrm>
            <a:off x="789120" y="824760"/>
            <a:ext cx="8327880" cy="3812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r>
              <a:rPr lang="ja-JP" sz="1400" b="0" u="none" strike="noStrike">
                <a:solidFill>
                  <a:srgbClr val="343434"/>
                </a:solidFill>
                <a:effectLst/>
                <a:uFillTx/>
                <a:latin typeface="メイリオ"/>
                <a:ea typeface="メイリオ"/>
                <a:cs typeface="メイリオ"/>
              </a:rPr>
              <a:t>ユーザーコミュニケーションに、</a:t>
            </a:r>
            <a:r>
              <a:rPr lang="en-US" sz="1400" b="0" u="none" strike="noStrike">
                <a:solidFill>
                  <a:srgbClr val="343434"/>
                </a:solidFill>
                <a:effectLst/>
                <a:uFillTx/>
                <a:latin typeface="メイリオ"/>
                <a:ea typeface="メイリオ"/>
                <a:cs typeface="メイリオ"/>
              </a:rPr>
              <a:t>LINE</a:t>
            </a:r>
            <a:r>
              <a:rPr lang="ja-JP" sz="1400" b="0" u="none" strike="noStrike">
                <a:solidFill>
                  <a:srgbClr val="343434"/>
                </a:solidFill>
                <a:effectLst/>
                <a:uFillTx/>
                <a:latin typeface="メイリオ"/>
                <a:ea typeface="メイリオ"/>
                <a:cs typeface="メイリオ"/>
              </a:rPr>
              <a:t>公式アカウントを導入する法人が増加傾向。</a:t>
            </a:r>
            <a:endParaRPr lang="en-US" sz="1400" b="0" u="none" strike="noStrike">
              <a:solidFill>
                <a:srgbClr val="000000"/>
              </a:solidFill>
              <a:effectLst/>
              <a:uFillTx/>
              <a:latin typeface="メイリオ"/>
              <a:ea typeface="メイリオ"/>
              <a:cs typeface="メイリオ"/>
            </a:endParaRPr>
          </a:p>
          <a:p>
            <a:pPr algn="ctr" defTabSz="914400">
              <a:lnSpc>
                <a:spcPts val="2455"/>
              </a:lnSpc>
            </a:pPr>
            <a:r>
              <a:rPr lang="ja-JP" sz="1400" b="1" u="none" strike="noStrike">
                <a:solidFill>
                  <a:srgbClr val="343434"/>
                </a:solidFill>
                <a:effectLst/>
                <a:uFillTx/>
                <a:latin typeface="メイリオ"/>
                <a:ea typeface="メイリオ"/>
                <a:cs typeface="メイリオ"/>
              </a:rPr>
              <a:t>開封率に関してはメールマガジンの</a:t>
            </a:r>
            <a:r>
              <a:rPr lang="en-US" sz="1400" b="1" u="none" strike="noStrike">
                <a:solidFill>
                  <a:srgbClr val="343434"/>
                </a:solidFill>
                <a:effectLst/>
                <a:uFillTx/>
                <a:latin typeface="メイリオ"/>
                <a:ea typeface="メイリオ"/>
                <a:cs typeface="メイリオ"/>
              </a:rPr>
              <a:t>6</a:t>
            </a:r>
            <a:r>
              <a:rPr lang="ja-JP" sz="1400" b="1" u="none" strike="noStrike">
                <a:solidFill>
                  <a:srgbClr val="343434"/>
                </a:solidFill>
                <a:effectLst/>
                <a:uFillTx/>
                <a:latin typeface="メイリオ"/>
                <a:ea typeface="メイリオ"/>
                <a:cs typeface="メイリオ"/>
              </a:rPr>
              <a:t>倍を誇る</a:t>
            </a:r>
            <a:r>
              <a:rPr lang="ja-JP" sz="1400" b="0" u="none" strike="noStrike">
                <a:solidFill>
                  <a:srgbClr val="343434"/>
                </a:solidFill>
                <a:effectLst/>
                <a:uFillTx/>
                <a:latin typeface="メイリオ"/>
                <a:ea typeface="メイリオ"/>
                <a:cs typeface="メイリオ"/>
              </a:rPr>
              <a:t>と言われています。</a:t>
            </a:r>
            <a:endParaRPr lang="en-US" sz="1400" b="0" u="none" strike="noStrike">
              <a:solidFill>
                <a:srgbClr val="000000"/>
              </a:solidFill>
              <a:effectLst/>
              <a:uFillTx/>
              <a:latin typeface="メイリオ"/>
              <a:ea typeface="メイリオ"/>
              <a:cs typeface="メイリオ"/>
            </a:endParaRPr>
          </a:p>
        </p:txBody>
      </p:sp>
      <p:cxnSp>
        <p:nvCxnSpPr>
          <p:cNvPr id="782" name="直線コネクタ 8"/>
          <p:cNvCxnSpPr/>
          <p:nvPr/>
        </p:nvCxnSpPr>
        <p:spPr>
          <a:xfrm>
            <a:off x="0" y="1390320"/>
            <a:ext cx="9906120" cy="360"/>
          </a:xfrm>
          <a:prstGeom prst="straightConnector1">
            <a:avLst/>
          </a:prstGeom>
          <a:ln w="19050">
            <a:solidFill>
              <a:schemeClr val="lt1">
                <a:lumMod val="85000"/>
                <a:alpha val="60000"/>
              </a:schemeClr>
            </a:solidFill>
            <a:round/>
          </a:ln>
        </p:spPr>
      </p:cxnSp>
      <p:grpSp>
        <p:nvGrpSpPr>
          <p:cNvPr id="783" name="Group 2"/>
          <p:cNvGrpSpPr/>
          <p:nvPr/>
        </p:nvGrpSpPr>
        <p:grpSpPr>
          <a:xfrm>
            <a:off x="789120" y="1526040"/>
            <a:ext cx="8365680" cy="858960"/>
            <a:chOff x="789120" y="1526040"/>
            <a:chExt cx="8365680" cy="858960"/>
          </a:xfrm>
        </p:grpSpPr>
        <p:sp>
          <p:nvSpPr>
            <p:cNvPr id="784" name="Freeform 3"/>
            <p:cNvSpPr/>
            <p:nvPr/>
          </p:nvSpPr>
          <p:spPr>
            <a:xfrm>
              <a:off x="789120" y="1653480"/>
              <a:ext cx="8365680" cy="731520"/>
            </a:xfrm>
            <a:custGeom>
              <a:avLst/>
              <a:gdLst>
                <a:gd name="textAreaLeft" fmla="*/ 0 w 8365680"/>
                <a:gd name="textAreaRight" fmla="*/ 8366040 w 8365680"/>
                <a:gd name="textAreaTop" fmla="*/ 0 h 731520"/>
                <a:gd name="textAreaBottom" fmla="*/ 731880 h 731520"/>
              </a:gdLst>
              <a:ahLst/>
              <a:cxnLst/>
              <a:rect l="textAreaLeft" t="textAreaTop" r="textAreaRight" b="textAreaBottom"/>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400" b="0" u="none" strike="noStrike">
                <a:solidFill>
                  <a:schemeClr val="dk1"/>
                </a:solidFill>
                <a:effectLst/>
                <a:uFillTx/>
                <a:latin typeface="メイリオ"/>
                <a:ea typeface="メイリオ"/>
                <a:cs typeface="メイリオ"/>
              </a:endParaRPr>
            </a:p>
          </p:txBody>
        </p:sp>
        <p:sp>
          <p:nvSpPr>
            <p:cNvPr id="785" name="TextBox 4"/>
            <p:cNvSpPr/>
            <p:nvPr/>
          </p:nvSpPr>
          <p:spPr>
            <a:xfrm>
              <a:off x="789120" y="1526040"/>
              <a:ext cx="8365680" cy="858600"/>
            </a:xfrm>
            <a:prstGeom prst="rect">
              <a:avLst/>
            </a:prstGeom>
            <a:noFill/>
            <a:ln w="0">
              <a:noFill/>
            </a:ln>
          </p:spPr>
          <p:style>
            <a:lnRef idx="0">
              <a:scrgbClr r="0" g="0" b="0"/>
            </a:lnRef>
            <a:fillRef idx="0">
              <a:scrgbClr r="0" g="0" b="0"/>
            </a:fillRef>
            <a:effectRef idx="0">
              <a:scrgbClr r="0" g="0" b="0"/>
            </a:effectRef>
            <a:fontRef idx="minor"/>
          </p:style>
          <p:txBody>
            <a:bodyPr lIns="29880" tIns="29880" rIns="29880" bIns="29880" anchor="ctr">
              <a:noAutofit/>
            </a:bodyPr>
            <a:lstStyle/>
            <a:p>
              <a:pPr algn="ctr" defTabSz="914400">
                <a:lnSpc>
                  <a:spcPts val="2455"/>
                </a:lnSpc>
              </a:pPr>
              <a:r>
                <a:rPr lang="ja-JP" sz="1400" b="0" u="none" strike="noStrike">
                  <a:solidFill>
                    <a:srgbClr val="040606"/>
                  </a:solidFill>
                  <a:effectLst/>
                  <a:uFillTx/>
                  <a:latin typeface="メイリオ"/>
                  <a:ea typeface="メイリオ"/>
                  <a:cs typeface="メイリオ"/>
                </a:rPr>
                <a:t>　　　　メールマガジン、テレマーケティング が主流</a:t>
              </a:r>
              <a:endParaRPr lang="en-US" sz="1400" b="0" u="none" strike="noStrike">
                <a:solidFill>
                  <a:srgbClr val="000000"/>
                </a:solidFill>
                <a:effectLst/>
                <a:uFillTx/>
                <a:latin typeface="メイリオ"/>
                <a:ea typeface="メイリオ"/>
                <a:cs typeface="メイリオ"/>
              </a:endParaRPr>
            </a:p>
          </p:txBody>
        </p:sp>
      </p:grpSp>
      <p:sp>
        <p:nvSpPr>
          <p:cNvPr id="786" name="Freeform 5"/>
          <p:cNvSpPr/>
          <p:nvPr/>
        </p:nvSpPr>
        <p:spPr>
          <a:xfrm>
            <a:off x="1045080" y="1864080"/>
            <a:ext cx="586080" cy="415440"/>
          </a:xfrm>
          <a:custGeom>
            <a:avLst/>
            <a:gdLst>
              <a:gd name="textAreaLeft" fmla="*/ 0 w 586080"/>
              <a:gd name="textAreaRight" fmla="*/ 586440 w 586080"/>
              <a:gd name="textAreaTop" fmla="*/ 0 h 415440"/>
              <a:gd name="textAreaBottom" fmla="*/ 415800 h 415440"/>
            </a:gdLst>
            <a:ahLst/>
            <a:cxnLst/>
            <a:rect l="textAreaLeft" t="textAreaTop" r="textAreaRight" b="textAreaBottom"/>
            <a:pathLst>
              <a:path w="586512" h="415690">
                <a:moveTo>
                  <a:pt x="0" y="0"/>
                </a:moveTo>
                <a:lnTo>
                  <a:pt x="586512" y="0"/>
                </a:lnTo>
                <a:lnTo>
                  <a:pt x="586512" y="415691"/>
                </a:lnTo>
                <a:lnTo>
                  <a:pt x="0" y="415691"/>
                </a:lnTo>
                <a:lnTo>
                  <a:pt x="0" y="0"/>
                </a:lnTo>
                <a:close/>
              </a:path>
            </a:pathLst>
          </a:custGeom>
          <a:blipFill rotWithShape="0">
            <a:blip>
              <a:extLst>
                <a:ext uri="{96DAC541-7B7A-43D3-8B79-37D633B846F1}">
                  <asvg:svgBlip xmlns:asvg="http://schemas.microsoft.com/office/drawing/2016/SVG/main" r:embed="rId2"/>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cs typeface="メイリオ"/>
            </a:endParaRPr>
          </a:p>
        </p:txBody>
      </p:sp>
      <p:sp>
        <p:nvSpPr>
          <p:cNvPr id="787" name="Freeform 6"/>
          <p:cNvSpPr/>
          <p:nvPr/>
        </p:nvSpPr>
        <p:spPr>
          <a:xfrm>
            <a:off x="1828440" y="1769040"/>
            <a:ext cx="384840" cy="302400"/>
          </a:xfrm>
          <a:custGeom>
            <a:avLst/>
            <a:gdLst>
              <a:gd name="textAreaLeft" fmla="*/ 0 w 384840"/>
              <a:gd name="textAreaRight" fmla="*/ 385200 w 384840"/>
              <a:gd name="textAreaTop" fmla="*/ 0 h 302400"/>
              <a:gd name="textAreaBottom" fmla="*/ 302760 h 302400"/>
            </a:gdLst>
            <a:ahLst/>
            <a:cxnLst/>
            <a:rect l="textAreaLeft" t="textAreaTop" r="textAreaRight" b="textAreaBottom"/>
            <a:pathLst>
              <a:path w="385149" h="302824">
                <a:moveTo>
                  <a:pt x="0" y="0"/>
                </a:moveTo>
                <a:lnTo>
                  <a:pt x="385150" y="0"/>
                </a:lnTo>
                <a:lnTo>
                  <a:pt x="385150" y="302824"/>
                </a:lnTo>
                <a:lnTo>
                  <a:pt x="0" y="302824"/>
                </a:lnTo>
                <a:lnTo>
                  <a:pt x="0" y="0"/>
                </a:lnTo>
                <a:close/>
              </a:path>
            </a:pathLst>
          </a:custGeom>
          <a:blipFill rotWithShape="0">
            <a:blip>
              <a:extLst>
                <a:ext uri="{96DAC541-7B7A-43D3-8B79-37D633B846F1}">
                  <asvg:svgBlip xmlns:asvg="http://schemas.microsoft.com/office/drawing/2016/SVG/main" r:embed="rId3"/>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cs typeface="メイリオ"/>
            </a:endParaRPr>
          </a:p>
        </p:txBody>
      </p:sp>
      <p:grpSp>
        <p:nvGrpSpPr>
          <p:cNvPr id="788" name="Group 7"/>
          <p:cNvGrpSpPr/>
          <p:nvPr/>
        </p:nvGrpSpPr>
        <p:grpSpPr>
          <a:xfrm>
            <a:off x="4762440" y="2439720"/>
            <a:ext cx="418320" cy="207720"/>
            <a:chOff x="4762440" y="2439720"/>
            <a:chExt cx="418320" cy="207720"/>
          </a:xfrm>
        </p:grpSpPr>
        <p:sp>
          <p:nvSpPr>
            <p:cNvPr id="789" name="Freeform 8"/>
            <p:cNvSpPr/>
            <p:nvPr/>
          </p:nvSpPr>
          <p:spPr>
            <a:xfrm>
              <a:off x="4762440" y="2450160"/>
              <a:ext cx="418320" cy="197280"/>
            </a:xfrm>
            <a:custGeom>
              <a:avLst/>
              <a:gdLst>
                <a:gd name="textAreaLeft" fmla="*/ 0 w 418320"/>
                <a:gd name="textAreaRight" fmla="*/ 418680 w 418320"/>
                <a:gd name="textAreaTop" fmla="*/ 0 h 197280"/>
                <a:gd name="textAreaBottom" fmla="*/ 197640 h 197280"/>
              </a:gdLst>
              <a:ahLst/>
              <a:cxnLst/>
              <a:rect l="textAreaLeft" t="textAreaTop" r="textAreaRight" b="textAreaBottom"/>
              <a:pathLst>
                <a:path w="812800" h="383922">
                  <a:moveTo>
                    <a:pt x="406400" y="383922"/>
                  </a:moveTo>
                  <a:lnTo>
                    <a:pt x="812800" y="0"/>
                  </a:lnTo>
                  <a:lnTo>
                    <a:pt x="0" y="0"/>
                  </a:lnTo>
                  <a:lnTo>
                    <a:pt x="406400" y="383922"/>
                  </a:lnTo>
                  <a:close/>
                </a:path>
              </a:pathLst>
            </a:custGeom>
            <a:solidFill>
              <a:srgbClr val="00B44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cs typeface="メイリオ"/>
              </a:endParaRPr>
            </a:p>
          </p:txBody>
        </p:sp>
        <p:sp>
          <p:nvSpPr>
            <p:cNvPr id="790" name="TextBox 9"/>
            <p:cNvSpPr/>
            <p:nvPr/>
          </p:nvSpPr>
          <p:spPr>
            <a:xfrm>
              <a:off x="4827960" y="2439720"/>
              <a:ext cx="287640" cy="115920"/>
            </a:xfrm>
            <a:prstGeom prst="rect">
              <a:avLst/>
            </a:prstGeom>
            <a:noFill/>
            <a:ln w="0">
              <a:noFill/>
            </a:ln>
          </p:spPr>
          <p:style>
            <a:lnRef idx="0">
              <a:scrgbClr r="0" g="0" b="0"/>
            </a:lnRef>
            <a:fillRef idx="0">
              <a:scrgbClr r="0" g="0" b="0"/>
            </a:fillRef>
            <a:effectRef idx="0">
              <a:scrgbClr r="0" g="0" b="0"/>
            </a:effectRef>
            <a:fontRef idx="minor"/>
          </p:style>
          <p:txBody>
            <a:bodyPr lIns="29880" tIns="29880" rIns="29880" bIns="29880" anchor="ctr">
              <a:noAutofit/>
            </a:bodyPr>
            <a:lstStyle/>
            <a:p>
              <a:pPr algn="ctr" defTabSz="914400">
                <a:lnSpc>
                  <a:spcPts val="2047"/>
                </a:lnSpc>
              </a:pPr>
              <a:endParaRPr lang="en-US" sz="1800" b="0" u="none" strike="noStrike">
                <a:solidFill>
                  <a:schemeClr val="dk1"/>
                </a:solidFill>
                <a:effectLst/>
                <a:uFillTx/>
                <a:latin typeface="メイリオ"/>
                <a:ea typeface="メイリオ"/>
                <a:cs typeface="メイリオ"/>
              </a:endParaRPr>
            </a:p>
          </p:txBody>
        </p:sp>
      </p:grpSp>
      <p:grpSp>
        <p:nvGrpSpPr>
          <p:cNvPr id="791" name="Group 10"/>
          <p:cNvGrpSpPr/>
          <p:nvPr/>
        </p:nvGrpSpPr>
        <p:grpSpPr>
          <a:xfrm>
            <a:off x="789120" y="2595240"/>
            <a:ext cx="8365680" cy="858600"/>
            <a:chOff x="789120" y="2595240"/>
            <a:chExt cx="8365680" cy="858600"/>
          </a:xfrm>
        </p:grpSpPr>
        <p:sp>
          <p:nvSpPr>
            <p:cNvPr id="792" name="Freeform 11"/>
            <p:cNvSpPr/>
            <p:nvPr/>
          </p:nvSpPr>
          <p:spPr>
            <a:xfrm>
              <a:off x="789120" y="2722320"/>
              <a:ext cx="8365680" cy="731520"/>
            </a:xfrm>
            <a:custGeom>
              <a:avLst/>
              <a:gdLst>
                <a:gd name="textAreaLeft" fmla="*/ 0 w 8365680"/>
                <a:gd name="textAreaRight" fmla="*/ 8366040 w 8365680"/>
                <a:gd name="textAreaTop" fmla="*/ 0 h 731520"/>
                <a:gd name="textAreaBottom" fmla="*/ 731880 h 731520"/>
              </a:gdLst>
              <a:ahLst/>
              <a:cxnLst/>
              <a:rect l="textAreaLeft" t="textAreaTop" r="textAreaRight" b="textAreaBottom"/>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4F4E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400" b="0" u="none" strike="noStrike">
                <a:solidFill>
                  <a:schemeClr val="dk1"/>
                </a:solidFill>
                <a:effectLst/>
                <a:uFillTx/>
                <a:latin typeface="メイリオ"/>
                <a:ea typeface="メイリオ"/>
                <a:cs typeface="メイリオ"/>
              </a:endParaRPr>
            </a:p>
          </p:txBody>
        </p:sp>
        <p:sp>
          <p:nvSpPr>
            <p:cNvPr id="793" name="TextBox 12"/>
            <p:cNvSpPr/>
            <p:nvPr/>
          </p:nvSpPr>
          <p:spPr>
            <a:xfrm>
              <a:off x="789120" y="2595240"/>
              <a:ext cx="8365680" cy="858600"/>
            </a:xfrm>
            <a:prstGeom prst="rect">
              <a:avLst/>
            </a:prstGeom>
            <a:noFill/>
            <a:ln w="0">
              <a:noFill/>
            </a:ln>
          </p:spPr>
          <p:style>
            <a:lnRef idx="0">
              <a:scrgbClr r="0" g="0" b="0"/>
            </a:lnRef>
            <a:fillRef idx="0">
              <a:scrgbClr r="0" g="0" b="0"/>
            </a:fillRef>
            <a:effectRef idx="0">
              <a:scrgbClr r="0" g="0" b="0"/>
            </a:effectRef>
            <a:fontRef idx="minor"/>
          </p:style>
          <p:txBody>
            <a:bodyPr lIns="29880" tIns="29880" rIns="29880" bIns="29880" anchor="ctr">
              <a:noAutofit/>
            </a:bodyPr>
            <a:lstStyle/>
            <a:p>
              <a:pPr algn="ctr" defTabSz="914400">
                <a:lnSpc>
                  <a:spcPts val="2455"/>
                </a:lnSpc>
              </a:pPr>
              <a:r>
                <a:rPr lang="ja-JP" sz="1400" b="1" u="none" strike="noStrike">
                  <a:solidFill>
                    <a:srgbClr val="00B900"/>
                  </a:solidFill>
                  <a:effectLst/>
                  <a:uFillTx/>
                  <a:latin typeface="メイリオ"/>
                  <a:ea typeface="メイリオ"/>
                  <a:cs typeface="メイリオ"/>
                </a:rPr>
                <a:t>　　　　＋</a:t>
              </a:r>
              <a:r>
                <a:rPr lang="en-US" sz="1400" b="1" u="none" strike="noStrike">
                  <a:solidFill>
                    <a:srgbClr val="00B900"/>
                  </a:solidFill>
                  <a:effectLst/>
                  <a:uFillTx/>
                  <a:latin typeface="メイリオ"/>
                  <a:ea typeface="メイリオ"/>
                  <a:cs typeface="メイリオ"/>
                </a:rPr>
                <a:t>LINE</a:t>
              </a:r>
              <a:r>
                <a:rPr lang="ja-JP" sz="1400" b="1" u="none" strike="noStrike">
                  <a:solidFill>
                    <a:srgbClr val="00B900"/>
                  </a:solidFill>
                  <a:effectLst/>
                  <a:uFillTx/>
                  <a:latin typeface="メイリオ"/>
                  <a:ea typeface="メイリオ"/>
                  <a:cs typeface="メイリオ"/>
                </a:rPr>
                <a:t>公式アカウント </a:t>
              </a:r>
              <a:r>
                <a:rPr lang="ja-JP" sz="1400" b="0" u="none" strike="noStrike">
                  <a:solidFill>
                    <a:srgbClr val="00B900"/>
                  </a:solidFill>
                  <a:effectLst/>
                  <a:uFillTx/>
                  <a:latin typeface="メイリオ"/>
                  <a:ea typeface="メイリオ"/>
                  <a:cs typeface="メイリオ"/>
                </a:rPr>
                <a:t>が主流</a:t>
              </a:r>
              <a:endParaRPr lang="en-US" sz="1400" b="0" u="none" strike="noStrike">
                <a:solidFill>
                  <a:srgbClr val="000000"/>
                </a:solidFill>
                <a:effectLst/>
                <a:uFillTx/>
                <a:latin typeface="メイリオ"/>
                <a:ea typeface="メイリオ"/>
                <a:cs typeface="メイリオ"/>
              </a:endParaRPr>
            </a:p>
          </p:txBody>
        </p:sp>
      </p:grpSp>
      <p:sp>
        <p:nvSpPr>
          <p:cNvPr id="794" name="Freeform 13"/>
          <p:cNvSpPr/>
          <p:nvPr/>
        </p:nvSpPr>
        <p:spPr>
          <a:xfrm>
            <a:off x="1184760" y="2810520"/>
            <a:ext cx="306720" cy="555480"/>
          </a:xfrm>
          <a:custGeom>
            <a:avLst/>
            <a:gdLst>
              <a:gd name="textAreaLeft" fmla="*/ 0 w 306720"/>
              <a:gd name="textAreaRight" fmla="*/ 307080 w 306720"/>
              <a:gd name="textAreaTop" fmla="*/ 0 h 555480"/>
              <a:gd name="textAreaBottom" fmla="*/ 555840 h 555480"/>
            </a:gdLst>
            <a:ahLst/>
            <a:cxnLst/>
            <a:rect l="textAreaLeft" t="textAreaTop" r="textAreaRight" b="textAreaBottom"/>
            <a:pathLst>
              <a:path w="307084" h="555808">
                <a:moveTo>
                  <a:pt x="0" y="0"/>
                </a:moveTo>
                <a:lnTo>
                  <a:pt x="307084" y="0"/>
                </a:lnTo>
                <a:lnTo>
                  <a:pt x="307084" y="555808"/>
                </a:lnTo>
                <a:lnTo>
                  <a:pt x="0" y="555808"/>
                </a:lnTo>
                <a:lnTo>
                  <a:pt x="0" y="0"/>
                </a:lnTo>
                <a:close/>
              </a:path>
            </a:pathLst>
          </a:custGeom>
          <a:blipFill rotWithShape="0">
            <a:blip>
              <a:extLst>
                <a:ext uri="{96DAC541-7B7A-43D3-8B79-37D633B846F1}">
                  <asvg:svgBlip xmlns:asvg="http://schemas.microsoft.com/office/drawing/2016/SVG/main" r:embed="rId4"/>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cs typeface="メイリオ"/>
            </a:endParaRPr>
          </a:p>
        </p:txBody>
      </p:sp>
      <p:sp>
        <p:nvSpPr>
          <p:cNvPr id="795" name="Freeform 14"/>
          <p:cNvSpPr/>
          <p:nvPr/>
        </p:nvSpPr>
        <p:spPr>
          <a:xfrm>
            <a:off x="1815840" y="2807280"/>
            <a:ext cx="397440" cy="397440"/>
          </a:xfrm>
          <a:custGeom>
            <a:avLst/>
            <a:gdLst>
              <a:gd name="textAreaLeft" fmla="*/ 0 w 397440"/>
              <a:gd name="textAreaRight" fmla="*/ 397800 w 397440"/>
              <a:gd name="textAreaTop" fmla="*/ 0 h 397440"/>
              <a:gd name="textAreaBottom" fmla="*/ 397800 h 397440"/>
            </a:gdLst>
            <a:ahLst/>
            <a:cxnLst/>
            <a:rect l="textAreaLeft" t="textAreaTop" r="textAreaRight" b="textAreaBottom"/>
            <a:pathLst>
              <a:path w="397893" h="397893">
                <a:moveTo>
                  <a:pt x="0" y="0"/>
                </a:moveTo>
                <a:lnTo>
                  <a:pt x="397893" y="0"/>
                </a:lnTo>
                <a:lnTo>
                  <a:pt x="397893" y="397892"/>
                </a:lnTo>
                <a:lnTo>
                  <a:pt x="0" y="397892"/>
                </a:lnTo>
                <a:lnTo>
                  <a:pt x="0" y="0"/>
                </a:lnTo>
                <a:close/>
              </a:path>
            </a:pathLst>
          </a:custGeom>
          <a:blipFill rotWithShape="0">
            <a:blip>
              <a:extLst>
                <a:ext uri="{96DAC541-7B7A-43D3-8B79-37D633B846F1}">
                  <asvg:svgBlip xmlns:asvg="http://schemas.microsoft.com/office/drawing/2016/SVG/main" r:embed="rId5"/>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cs typeface="メイリオ"/>
            </a:endParaRPr>
          </a:p>
        </p:txBody>
      </p:sp>
      <p:sp>
        <p:nvSpPr>
          <p:cNvPr id="796" name="TextBox 16"/>
          <p:cNvSpPr/>
          <p:nvPr/>
        </p:nvSpPr>
        <p:spPr>
          <a:xfrm>
            <a:off x="2903760" y="3579480"/>
            <a:ext cx="2520360" cy="301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455"/>
              </a:lnSpc>
            </a:pPr>
            <a:r>
              <a:rPr lang="zh-CN" sz="1400" b="0" u="none" strike="noStrike">
                <a:solidFill>
                  <a:srgbClr val="040606"/>
                </a:solidFill>
                <a:effectLst/>
                <a:uFillTx/>
                <a:latin typeface="メイリオ"/>
                <a:ea typeface="メイリオ"/>
                <a:cs typeface="メイリオ"/>
              </a:rPr>
              <a:t>メールマガジン</a:t>
            </a:r>
            <a:endParaRPr lang="en-US" sz="1400" b="0" u="none" strike="noStrike">
              <a:solidFill>
                <a:srgbClr val="000000"/>
              </a:solidFill>
              <a:effectLst/>
              <a:uFillTx/>
              <a:latin typeface="メイリオ"/>
              <a:ea typeface="メイリオ"/>
              <a:cs typeface="メイリオ"/>
            </a:endParaRPr>
          </a:p>
        </p:txBody>
      </p:sp>
      <p:grpSp>
        <p:nvGrpSpPr>
          <p:cNvPr id="797" name="Group 18"/>
          <p:cNvGrpSpPr/>
          <p:nvPr/>
        </p:nvGrpSpPr>
        <p:grpSpPr>
          <a:xfrm>
            <a:off x="4026600" y="3965760"/>
            <a:ext cx="274680" cy="136440"/>
            <a:chOff x="4026600" y="3965760"/>
            <a:chExt cx="274680" cy="136440"/>
          </a:xfrm>
        </p:grpSpPr>
        <p:sp>
          <p:nvSpPr>
            <p:cNvPr id="798" name="Freeform 19"/>
            <p:cNvSpPr/>
            <p:nvPr/>
          </p:nvSpPr>
          <p:spPr>
            <a:xfrm>
              <a:off x="4026600" y="3972600"/>
              <a:ext cx="274680" cy="129600"/>
            </a:xfrm>
            <a:custGeom>
              <a:avLst/>
              <a:gdLst>
                <a:gd name="textAreaLeft" fmla="*/ 0 w 274680"/>
                <a:gd name="textAreaRight" fmla="*/ 275040 w 274680"/>
                <a:gd name="textAreaTop" fmla="*/ 0 h 129600"/>
                <a:gd name="textAreaBottom" fmla="*/ 129960 h 129600"/>
              </a:gdLst>
              <a:ahLst/>
              <a:cxnLst/>
              <a:rect l="textAreaLeft" t="textAreaTop" r="textAreaRight" b="textAreaBottom"/>
              <a:pathLst>
                <a:path w="812800" h="383922">
                  <a:moveTo>
                    <a:pt x="406400" y="383922"/>
                  </a:moveTo>
                  <a:lnTo>
                    <a:pt x="812800" y="0"/>
                  </a:lnTo>
                  <a:lnTo>
                    <a:pt x="0" y="0"/>
                  </a:lnTo>
                  <a:lnTo>
                    <a:pt x="406400" y="383922"/>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400" b="0" u="none" strike="noStrike">
                <a:solidFill>
                  <a:schemeClr val="dk1"/>
                </a:solidFill>
                <a:effectLst/>
                <a:uFillTx/>
                <a:latin typeface="メイリオ"/>
                <a:ea typeface="メイリオ"/>
                <a:cs typeface="メイリオ"/>
              </a:endParaRPr>
            </a:p>
          </p:txBody>
        </p:sp>
        <p:sp>
          <p:nvSpPr>
            <p:cNvPr id="799" name="TextBox 20"/>
            <p:cNvSpPr/>
            <p:nvPr/>
          </p:nvSpPr>
          <p:spPr>
            <a:xfrm>
              <a:off x="4069440" y="3965760"/>
              <a:ext cx="188640" cy="75960"/>
            </a:xfrm>
            <a:prstGeom prst="rect">
              <a:avLst/>
            </a:prstGeom>
            <a:noFill/>
            <a:ln w="0">
              <a:noFill/>
            </a:ln>
          </p:spPr>
          <p:style>
            <a:lnRef idx="0">
              <a:scrgbClr r="0" g="0" b="0"/>
            </a:lnRef>
            <a:fillRef idx="0">
              <a:scrgbClr r="0" g="0" b="0"/>
            </a:fillRef>
            <a:effectRef idx="0">
              <a:scrgbClr r="0" g="0" b="0"/>
            </a:effectRef>
            <a:fontRef idx="minor"/>
          </p:style>
          <p:txBody>
            <a:bodyPr lIns="29880" tIns="29880" rIns="29880" bIns="29880" anchor="ctr">
              <a:noAutofit/>
            </a:bodyPr>
            <a:lstStyle/>
            <a:p>
              <a:pPr algn="ctr" defTabSz="914400">
                <a:lnSpc>
                  <a:spcPts val="2047"/>
                </a:lnSpc>
              </a:pPr>
              <a:endParaRPr lang="en-US" sz="1400" b="0" u="none" strike="noStrike">
                <a:solidFill>
                  <a:schemeClr val="dk1"/>
                </a:solidFill>
                <a:effectLst/>
                <a:uFillTx/>
                <a:latin typeface="メイリオ"/>
                <a:ea typeface="メイリオ"/>
                <a:cs typeface="メイリオ"/>
              </a:endParaRPr>
            </a:p>
          </p:txBody>
        </p:sp>
      </p:grpSp>
      <p:sp>
        <p:nvSpPr>
          <p:cNvPr id="800" name="AutoShape 24"/>
          <p:cNvSpPr/>
          <p:nvPr/>
        </p:nvSpPr>
        <p:spPr>
          <a:xfrm>
            <a:off x="1044720" y="4660200"/>
            <a:ext cx="7854120" cy="6840"/>
          </a:xfrm>
          <a:prstGeom prst="line">
            <a:avLst/>
          </a:prstGeom>
          <a:ln w="19050">
            <a:solidFill>
              <a:srgbClr val="000000"/>
            </a:solidFill>
            <a:prstDash val="sysDot"/>
            <a:round/>
          </a:ln>
        </p:spPr>
        <p:style>
          <a:lnRef idx="0">
            <a:scrgbClr r="0" g="0" b="0"/>
          </a:lnRef>
          <a:fillRef idx="0">
            <a:scrgbClr r="0" g="0" b="0"/>
          </a:fillRef>
          <a:effectRef idx="0">
            <a:scrgbClr r="0" g="0" b="0"/>
          </a:effectRef>
          <a:fontRef idx="minor"/>
        </p:style>
        <p:txBody>
          <a:bodyPr lIns="90000" tIns="-38160" rIns="90000" bIns="-38160" anchor="t">
            <a:noAutofit/>
          </a:bodyPr>
          <a:lstStyle/>
          <a:p>
            <a:endParaRPr lang="en-US" sz="1400" b="0" u="none" strike="noStrike">
              <a:solidFill>
                <a:schemeClr val="dk1"/>
              </a:solidFill>
              <a:effectLst/>
              <a:uFillTx/>
              <a:latin typeface="メイリオ"/>
              <a:ea typeface="メイリオ"/>
              <a:cs typeface="メイリオ"/>
            </a:endParaRPr>
          </a:p>
        </p:txBody>
      </p:sp>
      <p:sp>
        <p:nvSpPr>
          <p:cNvPr id="801" name="TextBox 25"/>
          <p:cNvSpPr/>
          <p:nvPr/>
        </p:nvSpPr>
        <p:spPr>
          <a:xfrm>
            <a:off x="2752200" y="4197240"/>
            <a:ext cx="2936880" cy="301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0" u="none" strike="noStrike">
                <a:solidFill>
                  <a:srgbClr val="040606"/>
                </a:solidFill>
                <a:effectLst/>
                <a:uFillTx/>
                <a:latin typeface="メイリオ"/>
                <a:ea typeface="メイリオ"/>
                <a:cs typeface="メイリオ"/>
              </a:rPr>
              <a:t>入力が面倒・間違いが発生</a:t>
            </a:r>
            <a:endParaRPr lang="en-US" sz="1400" b="0" u="none" strike="noStrike">
              <a:solidFill>
                <a:srgbClr val="000000"/>
              </a:solidFill>
              <a:effectLst/>
              <a:uFillTx/>
              <a:latin typeface="メイリオ"/>
              <a:ea typeface="メイリオ"/>
              <a:cs typeface="メイリオ"/>
            </a:endParaRPr>
          </a:p>
        </p:txBody>
      </p:sp>
      <p:sp>
        <p:nvSpPr>
          <p:cNvPr id="802" name="AutoShape 26"/>
          <p:cNvSpPr/>
          <p:nvPr/>
        </p:nvSpPr>
        <p:spPr>
          <a:xfrm>
            <a:off x="2751840" y="3966840"/>
            <a:ext cx="2952720" cy="11160"/>
          </a:xfrm>
          <a:prstGeom prst="line">
            <a:avLst/>
          </a:prstGeom>
          <a:ln w="19050">
            <a:solidFill>
              <a:srgbClr val="000000"/>
            </a:solidFill>
            <a:round/>
          </a:ln>
        </p:spPr>
        <p:style>
          <a:lnRef idx="0">
            <a:scrgbClr r="0" g="0" b="0"/>
          </a:lnRef>
          <a:fillRef idx="0">
            <a:scrgbClr r="0" g="0" b="0"/>
          </a:fillRef>
          <a:effectRef idx="0">
            <a:scrgbClr r="0" g="0" b="0"/>
          </a:effectRef>
          <a:fontRef idx="minor"/>
        </p:style>
        <p:txBody>
          <a:bodyPr lIns="90000" tIns="-33840" rIns="90000" bIns="-33840" anchor="t">
            <a:noAutofit/>
          </a:bodyPr>
          <a:lstStyle/>
          <a:p>
            <a:endParaRPr lang="en-US" sz="1400" b="0" u="none" strike="noStrike">
              <a:solidFill>
                <a:schemeClr val="dk1"/>
              </a:solidFill>
              <a:effectLst/>
              <a:uFillTx/>
              <a:latin typeface="メイリオ"/>
              <a:ea typeface="メイリオ"/>
              <a:cs typeface="メイリオ"/>
            </a:endParaRPr>
          </a:p>
        </p:txBody>
      </p:sp>
      <p:sp>
        <p:nvSpPr>
          <p:cNvPr id="803" name="TextBox 27"/>
          <p:cNvSpPr/>
          <p:nvPr/>
        </p:nvSpPr>
        <p:spPr>
          <a:xfrm>
            <a:off x="2752200" y="477576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0" u="none" strike="noStrike">
                <a:solidFill>
                  <a:srgbClr val="040606"/>
                </a:solidFill>
                <a:effectLst/>
                <a:uFillTx/>
                <a:latin typeface="メイリオ"/>
                <a:ea typeface="メイリオ"/>
                <a:cs typeface="メイリオ"/>
              </a:rPr>
              <a:t>迷惑メールなどに入る</a:t>
            </a:r>
            <a:endParaRPr lang="en-US" sz="1400" b="0" u="none" strike="noStrike">
              <a:solidFill>
                <a:srgbClr val="000000"/>
              </a:solidFill>
              <a:effectLst/>
              <a:uFillTx/>
              <a:latin typeface="メイリオ"/>
              <a:ea typeface="メイリオ"/>
              <a:cs typeface="メイリオ"/>
            </a:endParaRPr>
          </a:p>
        </p:txBody>
      </p:sp>
      <p:sp>
        <p:nvSpPr>
          <p:cNvPr id="804" name="TextBox 28"/>
          <p:cNvSpPr/>
          <p:nvPr/>
        </p:nvSpPr>
        <p:spPr>
          <a:xfrm>
            <a:off x="2752200" y="535464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en-US" sz="1400" b="0" u="none" strike="noStrike">
                <a:solidFill>
                  <a:srgbClr val="040606"/>
                </a:solidFill>
                <a:effectLst/>
                <a:uFillTx/>
                <a:latin typeface="メイリオ"/>
                <a:ea typeface="メイリオ"/>
                <a:cs typeface="メイリオ"/>
              </a:rPr>
              <a:t>10</a:t>
            </a:r>
            <a:r>
              <a:rPr lang="zh-CN" sz="1400" b="0" u="none" strike="noStrike">
                <a:solidFill>
                  <a:srgbClr val="040606"/>
                </a:solidFill>
                <a:effectLst/>
                <a:uFillTx/>
                <a:latin typeface="メイリオ"/>
                <a:ea typeface="メイリオ"/>
                <a:cs typeface="メイリオ"/>
              </a:rPr>
              <a:t>％</a:t>
            </a:r>
            <a:endParaRPr lang="en-US" sz="1400" b="0" u="none" strike="noStrike">
              <a:solidFill>
                <a:srgbClr val="000000"/>
              </a:solidFill>
              <a:effectLst/>
              <a:uFillTx/>
              <a:latin typeface="メイリオ"/>
              <a:ea typeface="メイリオ"/>
              <a:cs typeface="メイリオ"/>
            </a:endParaRPr>
          </a:p>
        </p:txBody>
      </p:sp>
      <p:sp>
        <p:nvSpPr>
          <p:cNvPr id="805" name="TextBox 29"/>
          <p:cNvSpPr/>
          <p:nvPr/>
        </p:nvSpPr>
        <p:spPr>
          <a:xfrm>
            <a:off x="2752200" y="593388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en-US" sz="1400" b="0" u="none" strike="noStrike">
                <a:solidFill>
                  <a:srgbClr val="040606"/>
                </a:solidFill>
                <a:effectLst/>
                <a:uFillTx/>
                <a:latin typeface="メイリオ"/>
                <a:ea typeface="メイリオ"/>
                <a:cs typeface="メイリオ"/>
              </a:rPr>
              <a:t>1</a:t>
            </a:r>
            <a:r>
              <a:rPr lang="zh-CN" sz="1400" b="0" u="none" strike="noStrike">
                <a:solidFill>
                  <a:srgbClr val="040606"/>
                </a:solidFill>
                <a:effectLst/>
                <a:uFillTx/>
                <a:latin typeface="メイリオ"/>
                <a:ea typeface="メイリオ"/>
                <a:cs typeface="メイリオ"/>
              </a:rPr>
              <a:t>時間</a:t>
            </a:r>
            <a:endParaRPr lang="en-US" sz="1400" b="0" u="none" strike="noStrike">
              <a:solidFill>
                <a:srgbClr val="000000"/>
              </a:solidFill>
              <a:effectLst/>
              <a:uFillTx/>
              <a:latin typeface="メイリオ"/>
              <a:ea typeface="メイリオ"/>
              <a:cs typeface="メイリオ"/>
            </a:endParaRPr>
          </a:p>
        </p:txBody>
      </p:sp>
      <p:sp>
        <p:nvSpPr>
          <p:cNvPr id="806" name="AutoShape 30"/>
          <p:cNvSpPr/>
          <p:nvPr/>
        </p:nvSpPr>
        <p:spPr>
          <a:xfrm>
            <a:off x="1044720" y="5247720"/>
            <a:ext cx="7854120" cy="7200"/>
          </a:xfrm>
          <a:prstGeom prst="line">
            <a:avLst/>
          </a:prstGeom>
          <a:ln w="19050">
            <a:solidFill>
              <a:srgbClr val="000000"/>
            </a:solidFill>
            <a:prstDash val="sysDot"/>
            <a:round/>
          </a:ln>
        </p:spPr>
        <p:style>
          <a:lnRef idx="0">
            <a:scrgbClr r="0" g="0" b="0"/>
          </a:lnRef>
          <a:fillRef idx="0">
            <a:scrgbClr r="0" g="0" b="0"/>
          </a:fillRef>
          <a:effectRef idx="0">
            <a:scrgbClr r="0" g="0" b="0"/>
          </a:effectRef>
          <a:fontRef idx="minor"/>
        </p:style>
        <p:txBody>
          <a:bodyPr lIns="90000" tIns="-37800" rIns="90000" bIns="-37800" anchor="t">
            <a:noAutofit/>
          </a:bodyPr>
          <a:lstStyle/>
          <a:p>
            <a:endParaRPr lang="en-US" sz="1400" b="0" u="none" strike="noStrike">
              <a:solidFill>
                <a:schemeClr val="dk1"/>
              </a:solidFill>
              <a:effectLst/>
              <a:uFillTx/>
              <a:latin typeface="メイリオ"/>
              <a:ea typeface="メイリオ"/>
              <a:cs typeface="メイリオ"/>
            </a:endParaRPr>
          </a:p>
        </p:txBody>
      </p:sp>
      <p:sp>
        <p:nvSpPr>
          <p:cNvPr id="807" name="AutoShape 31"/>
          <p:cNvSpPr/>
          <p:nvPr/>
        </p:nvSpPr>
        <p:spPr>
          <a:xfrm>
            <a:off x="1044720" y="5806080"/>
            <a:ext cx="7854120" cy="6840"/>
          </a:xfrm>
          <a:prstGeom prst="line">
            <a:avLst/>
          </a:prstGeom>
          <a:ln w="19050">
            <a:solidFill>
              <a:srgbClr val="000000"/>
            </a:solidFill>
            <a:prstDash val="sysDot"/>
            <a:round/>
          </a:ln>
        </p:spPr>
        <p:style>
          <a:lnRef idx="0">
            <a:scrgbClr r="0" g="0" b="0"/>
          </a:lnRef>
          <a:fillRef idx="0">
            <a:scrgbClr r="0" g="0" b="0"/>
          </a:fillRef>
          <a:effectRef idx="0">
            <a:scrgbClr r="0" g="0" b="0"/>
          </a:effectRef>
          <a:fontRef idx="minor"/>
        </p:style>
        <p:txBody>
          <a:bodyPr lIns="90000" tIns="-38160" rIns="90000" bIns="-38160" anchor="t">
            <a:noAutofit/>
          </a:bodyPr>
          <a:lstStyle/>
          <a:p>
            <a:endParaRPr lang="en-US" sz="1400" b="0" u="none" strike="noStrike">
              <a:solidFill>
                <a:schemeClr val="dk1"/>
              </a:solidFill>
              <a:effectLst/>
              <a:uFillTx/>
              <a:latin typeface="メイリオ"/>
              <a:ea typeface="メイリオ"/>
              <a:cs typeface="メイリオ"/>
            </a:endParaRPr>
          </a:p>
        </p:txBody>
      </p:sp>
      <p:sp>
        <p:nvSpPr>
          <p:cNvPr id="808" name="TextBox 32"/>
          <p:cNvSpPr/>
          <p:nvPr/>
        </p:nvSpPr>
        <p:spPr>
          <a:xfrm>
            <a:off x="1184760" y="477900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0" u="none" strike="noStrike">
                <a:solidFill>
                  <a:srgbClr val="040606"/>
                </a:solidFill>
                <a:effectLst/>
                <a:uFillTx/>
                <a:latin typeface="メイリオ"/>
                <a:ea typeface="メイリオ"/>
                <a:cs typeface="メイリオ"/>
              </a:rPr>
              <a:t>到達</a:t>
            </a:r>
            <a:endParaRPr lang="en-US" sz="1400" b="0" u="none" strike="noStrike">
              <a:solidFill>
                <a:srgbClr val="000000"/>
              </a:solidFill>
              <a:effectLst/>
              <a:uFillTx/>
              <a:latin typeface="メイリオ"/>
              <a:ea typeface="メイリオ"/>
              <a:cs typeface="メイリオ"/>
            </a:endParaRPr>
          </a:p>
        </p:txBody>
      </p:sp>
      <p:sp>
        <p:nvSpPr>
          <p:cNvPr id="809" name="TextBox 33"/>
          <p:cNvSpPr/>
          <p:nvPr/>
        </p:nvSpPr>
        <p:spPr>
          <a:xfrm>
            <a:off x="1184760" y="535212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0" u="none" strike="noStrike">
                <a:solidFill>
                  <a:srgbClr val="040606"/>
                </a:solidFill>
                <a:effectLst/>
                <a:uFillTx/>
                <a:latin typeface="メイリオ"/>
                <a:ea typeface="メイリオ"/>
                <a:cs typeface="メイリオ"/>
              </a:rPr>
              <a:t>開封率</a:t>
            </a:r>
            <a:endParaRPr lang="en-US" sz="1400" b="0" u="none" strike="noStrike">
              <a:solidFill>
                <a:srgbClr val="000000"/>
              </a:solidFill>
              <a:effectLst/>
              <a:uFillTx/>
              <a:latin typeface="メイリオ"/>
              <a:ea typeface="メイリオ"/>
              <a:cs typeface="メイリオ"/>
            </a:endParaRPr>
          </a:p>
        </p:txBody>
      </p:sp>
      <p:sp>
        <p:nvSpPr>
          <p:cNvPr id="810" name="TextBox 34"/>
          <p:cNvSpPr/>
          <p:nvPr/>
        </p:nvSpPr>
        <p:spPr>
          <a:xfrm>
            <a:off x="1184760" y="593388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0" u="none" strike="noStrike">
                <a:solidFill>
                  <a:srgbClr val="040606"/>
                </a:solidFill>
                <a:effectLst/>
                <a:uFillTx/>
                <a:latin typeface="メイリオ"/>
                <a:ea typeface="メイリオ"/>
                <a:cs typeface="メイリオ"/>
              </a:rPr>
              <a:t>開封まで</a:t>
            </a:r>
            <a:endParaRPr lang="en-US" sz="1400" b="0" u="none" strike="noStrike">
              <a:solidFill>
                <a:srgbClr val="000000"/>
              </a:solidFill>
              <a:effectLst/>
              <a:uFillTx/>
              <a:latin typeface="メイリオ"/>
              <a:ea typeface="メイリオ"/>
              <a:cs typeface="メイリオ"/>
            </a:endParaRPr>
          </a:p>
        </p:txBody>
      </p:sp>
      <p:sp>
        <p:nvSpPr>
          <p:cNvPr id="811"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en-US" sz="1600" b="1" u="none" strike="noStrike">
                <a:solidFill>
                  <a:srgbClr val="002060"/>
                </a:solidFill>
                <a:effectLst/>
                <a:uFillTx/>
                <a:latin typeface="メイリオ"/>
                <a:ea typeface="メイリオ"/>
                <a:cs typeface="メイリオ"/>
              </a:rPr>
              <a:t>LINE</a:t>
            </a:r>
            <a:r>
              <a:rPr lang="ja-JP" sz="1600" b="1" u="none" strike="noStrike">
                <a:solidFill>
                  <a:srgbClr val="002060"/>
                </a:solidFill>
                <a:effectLst/>
                <a:uFillTx/>
                <a:latin typeface="メイリオ"/>
                <a:ea typeface="メイリオ"/>
                <a:cs typeface="メイリオ"/>
              </a:rPr>
              <a:t>公式アカウントを検討する背景</a:t>
            </a:r>
            <a:endParaRPr lang="en-US" sz="1600" b="0" u="none" strike="noStrike">
              <a:solidFill>
                <a:srgbClr val="000000"/>
              </a:solidFill>
              <a:effectLst/>
              <a:uFillTx/>
              <a:latin typeface="メイリオ"/>
              <a:ea typeface="メイリオ"/>
              <a:cs typeface="メイリオ"/>
            </a:endParaRPr>
          </a:p>
        </p:txBody>
      </p:sp>
      <p:sp>
        <p:nvSpPr>
          <p:cNvPr id="812" name="正方形/長方形 1"/>
          <p:cNvSpPr/>
          <p:nvPr/>
        </p:nvSpPr>
        <p:spPr>
          <a:xfrm>
            <a:off x="5784120" y="3545640"/>
            <a:ext cx="3332520" cy="2822040"/>
          </a:xfrm>
          <a:prstGeom prst="rect">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600" b="1" u="none" strike="noStrike">
              <a:solidFill>
                <a:schemeClr val="lt1"/>
              </a:solidFill>
              <a:effectLst/>
              <a:uFillTx/>
              <a:latin typeface="メイリオ"/>
              <a:ea typeface="メイリオ"/>
              <a:cs typeface="メイリオ"/>
            </a:endParaRPr>
          </a:p>
        </p:txBody>
      </p:sp>
      <p:sp>
        <p:nvSpPr>
          <p:cNvPr id="813" name="AutoShape 15"/>
          <p:cNvSpPr/>
          <p:nvPr/>
        </p:nvSpPr>
        <p:spPr>
          <a:xfrm>
            <a:off x="5946480" y="3983760"/>
            <a:ext cx="2952360" cy="11160"/>
          </a:xfrm>
          <a:prstGeom prst="line">
            <a:avLst/>
          </a:prstGeom>
          <a:ln w="19050">
            <a:solidFill>
              <a:srgbClr val="00B900"/>
            </a:solidFill>
            <a:round/>
          </a:ln>
        </p:spPr>
        <p:style>
          <a:lnRef idx="0">
            <a:scrgbClr r="0" g="0" b="0"/>
          </a:lnRef>
          <a:fillRef idx="0">
            <a:scrgbClr r="0" g="0" b="0"/>
          </a:fillRef>
          <a:effectRef idx="0">
            <a:scrgbClr r="0" g="0" b="0"/>
          </a:effectRef>
          <a:fontRef idx="minor"/>
        </p:style>
        <p:txBody>
          <a:bodyPr lIns="90000" tIns="-33840" rIns="90000" bIns="-33840" anchor="t">
            <a:noAutofit/>
          </a:bodyPr>
          <a:lstStyle/>
          <a:p>
            <a:endParaRPr lang="en-US" sz="1400" b="1" u="none" strike="noStrike">
              <a:solidFill>
                <a:schemeClr val="dk1"/>
              </a:solidFill>
              <a:effectLst/>
              <a:uFillTx/>
              <a:latin typeface="メイリオ"/>
              <a:ea typeface="メイリオ"/>
              <a:cs typeface="メイリオ"/>
            </a:endParaRPr>
          </a:p>
        </p:txBody>
      </p:sp>
      <p:sp>
        <p:nvSpPr>
          <p:cNvPr id="814" name="TextBox 17"/>
          <p:cNvSpPr/>
          <p:nvPr/>
        </p:nvSpPr>
        <p:spPr>
          <a:xfrm>
            <a:off x="6162480" y="3579480"/>
            <a:ext cx="252036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455"/>
              </a:lnSpc>
            </a:pPr>
            <a:r>
              <a:rPr lang="en-US" sz="1400" b="1" u="none" strike="noStrike">
                <a:solidFill>
                  <a:srgbClr val="00B449"/>
                </a:solidFill>
                <a:effectLst/>
                <a:uFillTx/>
                <a:latin typeface="メイリオ"/>
                <a:ea typeface="メイリオ"/>
                <a:cs typeface="メイリオ"/>
              </a:rPr>
              <a:t>LINE</a:t>
            </a:r>
            <a:endParaRPr lang="en-US" sz="1400" b="0" u="none" strike="noStrike">
              <a:solidFill>
                <a:srgbClr val="000000"/>
              </a:solidFill>
              <a:effectLst/>
              <a:uFillTx/>
              <a:latin typeface="メイリオ"/>
              <a:ea typeface="メイリオ"/>
              <a:cs typeface="メイリオ"/>
            </a:endParaRPr>
          </a:p>
        </p:txBody>
      </p:sp>
      <p:grpSp>
        <p:nvGrpSpPr>
          <p:cNvPr id="815" name="Group 21"/>
          <p:cNvGrpSpPr/>
          <p:nvPr/>
        </p:nvGrpSpPr>
        <p:grpSpPr>
          <a:xfrm>
            <a:off x="7261560" y="3975840"/>
            <a:ext cx="321840" cy="159840"/>
            <a:chOff x="7261560" y="3975840"/>
            <a:chExt cx="321840" cy="159840"/>
          </a:xfrm>
        </p:grpSpPr>
        <p:sp>
          <p:nvSpPr>
            <p:cNvPr id="816" name="Freeform 22"/>
            <p:cNvSpPr/>
            <p:nvPr/>
          </p:nvSpPr>
          <p:spPr>
            <a:xfrm>
              <a:off x="7261560" y="3983760"/>
              <a:ext cx="321840" cy="151920"/>
            </a:xfrm>
            <a:custGeom>
              <a:avLst/>
              <a:gdLst>
                <a:gd name="textAreaLeft" fmla="*/ 0 w 321840"/>
                <a:gd name="textAreaRight" fmla="*/ 322200 w 321840"/>
                <a:gd name="textAreaTop" fmla="*/ 0 h 151920"/>
                <a:gd name="textAreaBottom" fmla="*/ 152280 h 151920"/>
              </a:gdLst>
              <a:ahLst/>
              <a:cxnLst/>
              <a:rect l="textAreaLeft" t="textAreaTop" r="textAreaRight" b="textAreaBottom"/>
              <a:pathLst>
                <a:path w="812800" h="383922">
                  <a:moveTo>
                    <a:pt x="406400" y="383922"/>
                  </a:moveTo>
                  <a:lnTo>
                    <a:pt x="812800" y="0"/>
                  </a:lnTo>
                  <a:lnTo>
                    <a:pt x="0" y="0"/>
                  </a:lnTo>
                  <a:lnTo>
                    <a:pt x="406400" y="383922"/>
                  </a:lnTo>
                  <a:close/>
                </a:path>
              </a:pathLst>
            </a:custGeom>
            <a:solidFill>
              <a:srgbClr val="00B44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400" b="1" u="none" strike="noStrike">
                <a:solidFill>
                  <a:schemeClr val="dk1"/>
                </a:solidFill>
                <a:effectLst/>
                <a:uFillTx/>
                <a:latin typeface="メイリオ"/>
                <a:ea typeface="メイリオ"/>
                <a:cs typeface="メイリオ"/>
              </a:endParaRPr>
            </a:p>
          </p:txBody>
        </p:sp>
        <p:sp>
          <p:nvSpPr>
            <p:cNvPr id="817" name="TextBox 23"/>
            <p:cNvSpPr/>
            <p:nvPr/>
          </p:nvSpPr>
          <p:spPr>
            <a:xfrm>
              <a:off x="7311960" y="3975840"/>
              <a:ext cx="221040" cy="89280"/>
            </a:xfrm>
            <a:prstGeom prst="rect">
              <a:avLst/>
            </a:prstGeom>
            <a:noFill/>
            <a:ln w="0">
              <a:noFill/>
            </a:ln>
          </p:spPr>
          <p:style>
            <a:lnRef idx="0">
              <a:scrgbClr r="0" g="0" b="0"/>
            </a:lnRef>
            <a:fillRef idx="0">
              <a:scrgbClr r="0" g="0" b="0"/>
            </a:fillRef>
            <a:effectRef idx="0">
              <a:scrgbClr r="0" g="0" b="0"/>
            </a:effectRef>
            <a:fontRef idx="minor"/>
          </p:style>
          <p:txBody>
            <a:bodyPr lIns="29880" tIns="29880" rIns="29880" bIns="29880" anchor="ctr">
              <a:noAutofit/>
            </a:bodyPr>
            <a:lstStyle/>
            <a:p>
              <a:pPr algn="ctr" defTabSz="914400">
                <a:lnSpc>
                  <a:spcPts val="2047"/>
                </a:lnSpc>
              </a:pPr>
              <a:endParaRPr lang="en-US" sz="1400" b="1" u="none" strike="noStrike">
                <a:solidFill>
                  <a:schemeClr val="dk1"/>
                </a:solidFill>
                <a:effectLst/>
                <a:uFillTx/>
                <a:latin typeface="メイリオ"/>
                <a:ea typeface="メイリオ"/>
                <a:cs typeface="メイリオ"/>
              </a:endParaRPr>
            </a:p>
          </p:txBody>
        </p:sp>
      </p:grpSp>
      <p:sp>
        <p:nvSpPr>
          <p:cNvPr id="818" name="TextBox 35"/>
          <p:cNvSpPr/>
          <p:nvPr/>
        </p:nvSpPr>
        <p:spPr>
          <a:xfrm>
            <a:off x="5961600" y="477288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1" u="none" strike="noStrike">
                <a:solidFill>
                  <a:srgbClr val="00B449"/>
                </a:solidFill>
                <a:effectLst/>
                <a:uFillTx/>
                <a:latin typeface="メイリオ"/>
                <a:ea typeface="メイリオ"/>
                <a:cs typeface="メイリオ"/>
              </a:rPr>
              <a:t>確実に届く</a:t>
            </a:r>
            <a:endParaRPr lang="en-US" sz="1400" b="0" u="none" strike="noStrike">
              <a:solidFill>
                <a:srgbClr val="000000"/>
              </a:solidFill>
              <a:effectLst/>
              <a:uFillTx/>
              <a:latin typeface="メイリオ"/>
              <a:ea typeface="メイリオ"/>
              <a:cs typeface="メイリオ"/>
            </a:endParaRPr>
          </a:p>
        </p:txBody>
      </p:sp>
      <p:sp>
        <p:nvSpPr>
          <p:cNvPr id="819" name="TextBox 36"/>
          <p:cNvSpPr/>
          <p:nvPr/>
        </p:nvSpPr>
        <p:spPr>
          <a:xfrm>
            <a:off x="5961600" y="535212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en-US" sz="1400" b="1" u="none" strike="noStrike">
                <a:solidFill>
                  <a:srgbClr val="00B449"/>
                </a:solidFill>
                <a:effectLst/>
                <a:uFillTx/>
                <a:latin typeface="メイリオ"/>
                <a:ea typeface="メイリオ"/>
                <a:cs typeface="メイリオ"/>
              </a:rPr>
              <a:t>60</a:t>
            </a:r>
            <a:r>
              <a:rPr lang="zh-CN" sz="1400" b="1" u="none" strike="noStrike">
                <a:solidFill>
                  <a:srgbClr val="00B449"/>
                </a:solidFill>
                <a:effectLst/>
                <a:uFillTx/>
                <a:latin typeface="メイリオ"/>
                <a:ea typeface="メイリオ"/>
                <a:cs typeface="メイリオ"/>
              </a:rPr>
              <a:t>％</a:t>
            </a:r>
            <a:endParaRPr lang="en-US" sz="1400" b="0" u="none" strike="noStrike">
              <a:solidFill>
                <a:srgbClr val="000000"/>
              </a:solidFill>
              <a:effectLst/>
              <a:uFillTx/>
              <a:latin typeface="メイリオ"/>
              <a:ea typeface="メイリオ"/>
              <a:cs typeface="メイリオ"/>
            </a:endParaRPr>
          </a:p>
        </p:txBody>
      </p:sp>
      <p:sp>
        <p:nvSpPr>
          <p:cNvPr id="820" name="TextBox 37"/>
          <p:cNvSpPr/>
          <p:nvPr/>
        </p:nvSpPr>
        <p:spPr>
          <a:xfrm>
            <a:off x="5961600" y="593136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en-US" sz="1400" b="1" u="none" strike="noStrike">
                <a:solidFill>
                  <a:srgbClr val="00B449"/>
                </a:solidFill>
                <a:effectLst/>
                <a:uFillTx/>
                <a:latin typeface="メイリオ"/>
                <a:ea typeface="メイリオ"/>
                <a:cs typeface="メイリオ"/>
              </a:rPr>
              <a:t>15</a:t>
            </a:r>
            <a:r>
              <a:rPr lang="zh-CN" sz="1400" b="1" u="none" strike="noStrike">
                <a:solidFill>
                  <a:srgbClr val="00B449"/>
                </a:solidFill>
                <a:effectLst/>
                <a:uFillTx/>
                <a:latin typeface="メイリオ"/>
                <a:ea typeface="メイリオ"/>
                <a:cs typeface="メイリオ"/>
              </a:rPr>
              <a:t>分</a:t>
            </a:r>
            <a:endParaRPr lang="en-US" sz="1400" b="0" u="none" strike="noStrike">
              <a:solidFill>
                <a:srgbClr val="000000"/>
              </a:solidFill>
              <a:effectLst/>
              <a:uFillTx/>
              <a:latin typeface="メイリオ"/>
              <a:ea typeface="メイリオ"/>
              <a:cs typeface="メイリオ"/>
            </a:endParaRPr>
          </a:p>
        </p:txBody>
      </p:sp>
      <p:sp>
        <p:nvSpPr>
          <p:cNvPr id="821" name="TextBox 38"/>
          <p:cNvSpPr/>
          <p:nvPr/>
        </p:nvSpPr>
        <p:spPr>
          <a:xfrm>
            <a:off x="5961600" y="420624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1" u="none" strike="noStrike">
                <a:solidFill>
                  <a:srgbClr val="00B449"/>
                </a:solidFill>
                <a:effectLst/>
                <a:uFillTx/>
                <a:latin typeface="メイリオ"/>
                <a:ea typeface="メイリオ"/>
                <a:cs typeface="メイリオ"/>
              </a:rPr>
              <a:t>ワンタップで追加</a:t>
            </a:r>
            <a:endParaRPr lang="en-US" sz="1400" b="0" u="none" strike="noStrike">
              <a:solidFill>
                <a:srgbClr val="000000"/>
              </a:solidFill>
              <a:effectLst/>
              <a:uFillTx/>
              <a:latin typeface="メイリオ"/>
              <a:ea typeface="メイリオ"/>
              <a:cs typeface="メイリオ"/>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2"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cs typeface="メイリオ"/>
            </a:endParaRPr>
          </a:p>
        </p:txBody>
      </p:sp>
      <p:sp>
        <p:nvSpPr>
          <p:cNvPr id="823" name="正方形/長方形 3"/>
          <p:cNvSpPr/>
          <p:nvPr/>
        </p:nvSpPr>
        <p:spPr>
          <a:xfrm>
            <a:off x="789120" y="793440"/>
            <a:ext cx="8327880" cy="3812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r>
              <a:rPr lang="zh-CN" sz="1400" b="0" u="none" strike="noStrike">
                <a:solidFill>
                  <a:srgbClr val="343434"/>
                </a:solidFill>
                <a:effectLst/>
                <a:uFillTx/>
                <a:latin typeface="メイリオ"/>
                <a:ea typeface="メイリオ"/>
                <a:cs typeface="メイリオ"/>
              </a:rPr>
              <a:t>「今すぐ客」以外の</a:t>
            </a:r>
            <a:r>
              <a:rPr lang="ja-JP" sz="1400" b="0" u="none" strike="noStrike">
                <a:solidFill>
                  <a:srgbClr val="343434"/>
                </a:solidFill>
                <a:effectLst/>
                <a:uFillTx/>
                <a:latin typeface="メイリオ"/>
                <a:ea typeface="メイリオ"/>
                <a:cs typeface="メイリオ"/>
              </a:rPr>
              <a:t>約</a:t>
            </a:r>
            <a:r>
              <a:rPr lang="en-US" sz="1400" b="0" u="none" strike="noStrike">
                <a:solidFill>
                  <a:srgbClr val="343434"/>
                </a:solidFill>
                <a:effectLst/>
                <a:uFillTx/>
                <a:latin typeface="メイリオ"/>
                <a:ea typeface="メイリオ"/>
                <a:cs typeface="メイリオ"/>
              </a:rPr>
              <a:t>99</a:t>
            </a:r>
            <a:r>
              <a:rPr lang="ja-JP" sz="1400" b="0" u="none" strike="noStrike">
                <a:solidFill>
                  <a:srgbClr val="343434"/>
                </a:solidFill>
                <a:effectLst/>
                <a:uFillTx/>
                <a:latin typeface="メイリオ"/>
                <a:ea typeface="メイリオ"/>
                <a:cs typeface="メイリオ"/>
              </a:rPr>
              <a:t>％の層をリストマーケティングで顧客に引き上げることが重要。</a:t>
            </a:r>
            <a:endParaRPr lang="en-US" sz="1400" b="0" u="none" strike="noStrike">
              <a:solidFill>
                <a:srgbClr val="000000"/>
              </a:solidFill>
              <a:effectLst/>
              <a:uFillTx/>
              <a:latin typeface="メイリオ"/>
              <a:ea typeface="メイリオ"/>
              <a:cs typeface="メイリオ"/>
            </a:endParaRPr>
          </a:p>
          <a:p>
            <a:pPr algn="ctr" defTabSz="914400">
              <a:lnSpc>
                <a:spcPts val="2455"/>
              </a:lnSpc>
            </a:pPr>
            <a:r>
              <a:rPr lang="ja-JP" sz="1400" b="0" u="none" strike="noStrike">
                <a:solidFill>
                  <a:srgbClr val="343434"/>
                </a:solidFill>
                <a:effectLst/>
                <a:uFillTx/>
                <a:latin typeface="メイリオ"/>
                <a:ea typeface="メイリオ"/>
                <a:cs typeface="メイリオ"/>
              </a:rPr>
              <a:t>結果として、リード獲得率向上、リピート率向上、売上向上に繋げる。</a:t>
            </a:r>
            <a:endParaRPr lang="en-US" sz="1400" b="0" u="none" strike="noStrike">
              <a:solidFill>
                <a:srgbClr val="000000"/>
              </a:solidFill>
              <a:effectLst/>
              <a:uFillTx/>
              <a:latin typeface="メイリオ"/>
              <a:ea typeface="メイリオ"/>
              <a:cs typeface="メイリオ"/>
            </a:endParaRPr>
          </a:p>
        </p:txBody>
      </p:sp>
      <p:cxnSp>
        <p:nvCxnSpPr>
          <p:cNvPr id="824" name="直線コネクタ 4"/>
          <p:cNvCxnSpPr/>
          <p:nvPr/>
        </p:nvCxnSpPr>
        <p:spPr>
          <a:xfrm>
            <a:off x="0" y="1390320"/>
            <a:ext cx="9906120" cy="360"/>
          </a:xfrm>
          <a:prstGeom prst="straightConnector1">
            <a:avLst/>
          </a:prstGeom>
          <a:ln w="19050">
            <a:solidFill>
              <a:schemeClr val="lt1">
                <a:lumMod val="85000"/>
                <a:alpha val="60000"/>
              </a:schemeClr>
            </a:solidFill>
            <a:round/>
          </a:ln>
        </p:spPr>
      </p:cxnSp>
      <p:grpSp>
        <p:nvGrpSpPr>
          <p:cNvPr id="825" name="Group 11"/>
          <p:cNvGrpSpPr/>
          <p:nvPr/>
        </p:nvGrpSpPr>
        <p:grpSpPr>
          <a:xfrm>
            <a:off x="3049560" y="2885400"/>
            <a:ext cx="1458720" cy="1003320"/>
            <a:chOff x="3049560" y="2885400"/>
            <a:chExt cx="1458720" cy="1003320"/>
          </a:xfrm>
        </p:grpSpPr>
        <p:sp>
          <p:nvSpPr>
            <p:cNvPr id="826" name="Freeform 12"/>
            <p:cNvSpPr/>
            <p:nvPr/>
          </p:nvSpPr>
          <p:spPr>
            <a:xfrm>
              <a:off x="3049560" y="2975040"/>
              <a:ext cx="1458720" cy="913320"/>
            </a:xfrm>
            <a:custGeom>
              <a:avLst/>
              <a:gdLst>
                <a:gd name="textAreaLeft" fmla="*/ 0 w 1458720"/>
                <a:gd name="textAreaRight" fmla="*/ 1459080 w 1458720"/>
                <a:gd name="textAreaTop" fmla="*/ 0 h 913320"/>
                <a:gd name="textAreaBottom" fmla="*/ 913680 h 913320"/>
              </a:gdLst>
              <a:ahLst/>
              <a:cxnLst/>
              <a:rect l="textAreaLeft" t="textAreaTop" r="textAreaRight" b="textAreaBottom"/>
              <a:pathLst>
                <a:path w="617887" h="387031">
                  <a:moveTo>
                    <a:pt x="0" y="0"/>
                  </a:moveTo>
                  <a:lnTo>
                    <a:pt x="617887" y="0"/>
                  </a:lnTo>
                  <a:lnTo>
                    <a:pt x="617887" y="387031"/>
                  </a:lnTo>
                  <a:lnTo>
                    <a:pt x="0" y="387031"/>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cs typeface="メイリオ"/>
              </a:endParaRPr>
            </a:p>
          </p:txBody>
        </p:sp>
        <p:sp>
          <p:nvSpPr>
            <p:cNvPr id="827" name="TextBox 13"/>
            <p:cNvSpPr/>
            <p:nvPr/>
          </p:nvSpPr>
          <p:spPr>
            <a:xfrm>
              <a:off x="3049560" y="2885400"/>
              <a:ext cx="1458720" cy="100332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cs typeface="メイリオ"/>
              </a:endParaRPr>
            </a:p>
          </p:txBody>
        </p:sp>
      </p:grpSp>
      <p:sp>
        <p:nvSpPr>
          <p:cNvPr id="828" name="AutoShape 14"/>
          <p:cNvSpPr/>
          <p:nvPr/>
        </p:nvSpPr>
        <p:spPr>
          <a:xfrm flipV="1">
            <a:off x="637560" y="2862000"/>
            <a:ext cx="360" cy="3496320"/>
          </a:xfrm>
          <a:prstGeom prst="line">
            <a:avLst/>
          </a:prstGeom>
          <a:ln w="19050">
            <a:solidFill>
              <a:srgbClr val="737373"/>
            </a:solidFill>
            <a:round/>
            <a:tailEnd type="arrow" w="med" len="sm"/>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メイリオ"/>
              <a:ea typeface="メイリオ"/>
              <a:cs typeface="メイリオ"/>
            </a:endParaRPr>
          </a:p>
        </p:txBody>
      </p:sp>
      <p:sp>
        <p:nvSpPr>
          <p:cNvPr id="829" name="AutoShape 15"/>
          <p:cNvSpPr/>
          <p:nvPr/>
        </p:nvSpPr>
        <p:spPr>
          <a:xfrm>
            <a:off x="272160" y="6045480"/>
            <a:ext cx="4516920" cy="360"/>
          </a:xfrm>
          <a:prstGeom prst="line">
            <a:avLst/>
          </a:prstGeom>
          <a:ln w="19050">
            <a:solidFill>
              <a:srgbClr val="737373"/>
            </a:solidFill>
            <a:round/>
            <a:tailEnd type="arrow" w="med" len="sm"/>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メイリオ"/>
              <a:ea typeface="メイリオ"/>
              <a:cs typeface="メイリオ"/>
            </a:endParaRPr>
          </a:p>
        </p:txBody>
      </p:sp>
      <p:grpSp>
        <p:nvGrpSpPr>
          <p:cNvPr id="830" name="Group 16"/>
          <p:cNvGrpSpPr/>
          <p:nvPr/>
        </p:nvGrpSpPr>
        <p:grpSpPr>
          <a:xfrm>
            <a:off x="964080" y="2885400"/>
            <a:ext cx="1770480" cy="1003320"/>
            <a:chOff x="964080" y="2885400"/>
            <a:chExt cx="1770480" cy="1003320"/>
          </a:xfrm>
        </p:grpSpPr>
        <p:sp>
          <p:nvSpPr>
            <p:cNvPr id="831" name="Freeform 17"/>
            <p:cNvSpPr/>
            <p:nvPr/>
          </p:nvSpPr>
          <p:spPr>
            <a:xfrm>
              <a:off x="964080" y="2975040"/>
              <a:ext cx="1770480" cy="913320"/>
            </a:xfrm>
            <a:custGeom>
              <a:avLst/>
              <a:gdLst>
                <a:gd name="textAreaLeft" fmla="*/ 0 w 1770480"/>
                <a:gd name="textAreaRight" fmla="*/ 1770840 w 1770480"/>
                <a:gd name="textAreaTop" fmla="*/ 0 h 913320"/>
                <a:gd name="textAreaBottom" fmla="*/ 913680 h 913320"/>
              </a:gdLst>
              <a:ahLst/>
              <a:cxnLst/>
              <a:rect l="textAreaLeft" t="textAreaTop" r="textAreaRight" b="textAreaBottom"/>
              <a:pathLst>
                <a:path w="749990" h="387031">
                  <a:moveTo>
                    <a:pt x="0" y="0"/>
                  </a:moveTo>
                  <a:lnTo>
                    <a:pt x="749990" y="0"/>
                  </a:lnTo>
                  <a:lnTo>
                    <a:pt x="749990" y="387031"/>
                  </a:lnTo>
                  <a:lnTo>
                    <a:pt x="0" y="387031"/>
                  </a:lnTo>
                  <a:close/>
                </a:path>
              </a:pathLst>
            </a:custGeom>
            <a:solidFill>
              <a:srgbClr val="7BD47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cs typeface="メイリオ"/>
              </a:endParaRPr>
            </a:p>
          </p:txBody>
        </p:sp>
        <p:sp>
          <p:nvSpPr>
            <p:cNvPr id="832" name="TextBox 18"/>
            <p:cNvSpPr/>
            <p:nvPr/>
          </p:nvSpPr>
          <p:spPr>
            <a:xfrm>
              <a:off x="964080" y="2885400"/>
              <a:ext cx="1770480" cy="100332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cs typeface="メイリオ"/>
              </a:endParaRPr>
            </a:p>
          </p:txBody>
        </p:sp>
      </p:grpSp>
      <p:grpSp>
        <p:nvGrpSpPr>
          <p:cNvPr id="833" name="Group 19"/>
          <p:cNvGrpSpPr/>
          <p:nvPr/>
        </p:nvGrpSpPr>
        <p:grpSpPr>
          <a:xfrm>
            <a:off x="964080" y="4113000"/>
            <a:ext cx="1770480" cy="1634040"/>
            <a:chOff x="964080" y="4113000"/>
            <a:chExt cx="1770480" cy="1634040"/>
          </a:xfrm>
        </p:grpSpPr>
        <p:sp>
          <p:nvSpPr>
            <p:cNvPr id="834" name="Freeform 20"/>
            <p:cNvSpPr/>
            <p:nvPr/>
          </p:nvSpPr>
          <p:spPr>
            <a:xfrm>
              <a:off x="964080" y="4203000"/>
              <a:ext cx="1770480" cy="1544040"/>
            </a:xfrm>
            <a:custGeom>
              <a:avLst/>
              <a:gdLst>
                <a:gd name="textAreaLeft" fmla="*/ 0 w 1770480"/>
                <a:gd name="textAreaRight" fmla="*/ 1770840 w 1770480"/>
                <a:gd name="textAreaTop" fmla="*/ 0 h 1544040"/>
                <a:gd name="textAreaBottom" fmla="*/ 1544400 h 1544040"/>
              </a:gdLst>
              <a:ahLst/>
              <a:cxnLst/>
              <a:rect l="textAreaLeft" t="textAreaTop" r="textAreaRight" b="textAreaBottom"/>
              <a:pathLst>
                <a:path w="749990" h="654108">
                  <a:moveTo>
                    <a:pt x="0" y="0"/>
                  </a:moveTo>
                  <a:lnTo>
                    <a:pt x="749990" y="0"/>
                  </a:lnTo>
                  <a:lnTo>
                    <a:pt x="749990" y="654108"/>
                  </a:lnTo>
                  <a:lnTo>
                    <a:pt x="0" y="654108"/>
                  </a:lnTo>
                  <a:close/>
                </a:path>
              </a:pathLst>
            </a:custGeom>
            <a:solidFill>
              <a:srgbClr val="025D2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cs typeface="メイリオ"/>
              </a:endParaRPr>
            </a:p>
          </p:txBody>
        </p:sp>
        <p:sp>
          <p:nvSpPr>
            <p:cNvPr id="835" name="TextBox 21"/>
            <p:cNvSpPr/>
            <p:nvPr/>
          </p:nvSpPr>
          <p:spPr>
            <a:xfrm>
              <a:off x="964080" y="4113000"/>
              <a:ext cx="1770480" cy="163404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cs typeface="メイリオ"/>
              </a:endParaRPr>
            </a:p>
          </p:txBody>
        </p:sp>
      </p:grpSp>
      <p:grpSp>
        <p:nvGrpSpPr>
          <p:cNvPr id="836" name="Group 22"/>
          <p:cNvGrpSpPr/>
          <p:nvPr/>
        </p:nvGrpSpPr>
        <p:grpSpPr>
          <a:xfrm>
            <a:off x="3049560" y="4113000"/>
            <a:ext cx="1458720" cy="1634040"/>
            <a:chOff x="3049560" y="4113000"/>
            <a:chExt cx="1458720" cy="1634040"/>
          </a:xfrm>
        </p:grpSpPr>
        <p:sp>
          <p:nvSpPr>
            <p:cNvPr id="837" name="Freeform 23"/>
            <p:cNvSpPr/>
            <p:nvPr/>
          </p:nvSpPr>
          <p:spPr>
            <a:xfrm>
              <a:off x="3049560" y="4203000"/>
              <a:ext cx="1458720" cy="1544040"/>
            </a:xfrm>
            <a:custGeom>
              <a:avLst/>
              <a:gdLst>
                <a:gd name="textAreaLeft" fmla="*/ 0 w 1458720"/>
                <a:gd name="textAreaRight" fmla="*/ 1459080 w 1458720"/>
                <a:gd name="textAreaTop" fmla="*/ 0 h 1544040"/>
                <a:gd name="textAreaBottom" fmla="*/ 1544400 h 1544040"/>
              </a:gdLst>
              <a:ahLst/>
              <a:cxnLst/>
              <a:rect l="textAreaLeft" t="textAreaTop" r="textAreaRight" b="textAreaBottom"/>
              <a:pathLst>
                <a:path w="617887" h="654108">
                  <a:moveTo>
                    <a:pt x="0" y="0"/>
                  </a:moveTo>
                  <a:lnTo>
                    <a:pt x="617887" y="0"/>
                  </a:lnTo>
                  <a:lnTo>
                    <a:pt x="617887" y="654108"/>
                  </a:lnTo>
                  <a:lnTo>
                    <a:pt x="0" y="654108"/>
                  </a:lnTo>
                  <a:close/>
                </a:path>
              </a:pathLst>
            </a:custGeom>
            <a:solidFill>
              <a:srgbClr val="7BD47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cs typeface="メイリオ"/>
              </a:endParaRPr>
            </a:p>
          </p:txBody>
        </p:sp>
        <p:sp>
          <p:nvSpPr>
            <p:cNvPr id="838" name="TextBox 24"/>
            <p:cNvSpPr/>
            <p:nvPr/>
          </p:nvSpPr>
          <p:spPr>
            <a:xfrm>
              <a:off x="3049560" y="4113000"/>
              <a:ext cx="1458720" cy="163404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cs typeface="メイリオ"/>
              </a:endParaRPr>
            </a:p>
          </p:txBody>
        </p:sp>
      </p:grpSp>
      <p:grpSp>
        <p:nvGrpSpPr>
          <p:cNvPr id="839" name="Group 25"/>
          <p:cNvGrpSpPr/>
          <p:nvPr/>
        </p:nvGrpSpPr>
        <p:grpSpPr>
          <a:xfrm>
            <a:off x="4996440" y="3281400"/>
            <a:ext cx="600840" cy="300960"/>
            <a:chOff x="4996440" y="3281400"/>
            <a:chExt cx="600840" cy="300960"/>
          </a:xfrm>
        </p:grpSpPr>
        <p:sp>
          <p:nvSpPr>
            <p:cNvPr id="840" name="Freeform 26"/>
            <p:cNvSpPr/>
            <p:nvPr/>
          </p:nvSpPr>
          <p:spPr>
            <a:xfrm rot="5400000">
              <a:off x="5146200" y="313128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cs typeface="メイリオ"/>
              </a:endParaRPr>
            </a:p>
          </p:txBody>
        </p:sp>
        <p:sp>
          <p:nvSpPr>
            <p:cNvPr id="841" name="TextBox 27"/>
            <p:cNvSpPr/>
            <p:nvPr/>
          </p:nvSpPr>
          <p:spPr>
            <a:xfrm rot="5400000">
              <a:off x="5087880" y="3279960"/>
              <a:ext cx="207000" cy="30420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cs typeface="メイリオ"/>
              </a:endParaRPr>
            </a:p>
          </p:txBody>
        </p:sp>
      </p:grpSp>
      <p:sp>
        <p:nvSpPr>
          <p:cNvPr id="842" name="TextBox 28"/>
          <p:cNvSpPr/>
          <p:nvPr/>
        </p:nvSpPr>
        <p:spPr>
          <a:xfrm>
            <a:off x="239760" y="4103640"/>
            <a:ext cx="187200" cy="65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1740"/>
              </a:lnSpc>
            </a:pPr>
            <a:r>
              <a:rPr lang="zh-CN" sz="1240" b="1" u="none" strike="noStrike">
                <a:solidFill>
                  <a:srgbClr val="494848"/>
                </a:solidFill>
                <a:effectLst/>
                <a:uFillTx/>
                <a:latin typeface="メイリオ"/>
                <a:ea typeface="メイリオ"/>
                <a:cs typeface="メイリオ"/>
              </a:rPr>
              <a:t>必要性</a:t>
            </a:r>
            <a:endParaRPr lang="en-US" sz="1240" b="0" u="none" strike="noStrike">
              <a:solidFill>
                <a:srgbClr val="000000"/>
              </a:solidFill>
              <a:effectLst/>
              <a:uFillTx/>
              <a:latin typeface="メイリオ"/>
              <a:ea typeface="メイリオ"/>
              <a:cs typeface="メイリオ"/>
            </a:endParaRPr>
          </a:p>
        </p:txBody>
      </p:sp>
      <p:sp>
        <p:nvSpPr>
          <p:cNvPr id="843" name="TextBox 29"/>
          <p:cNvSpPr/>
          <p:nvPr/>
        </p:nvSpPr>
        <p:spPr>
          <a:xfrm>
            <a:off x="2530800" y="6132600"/>
            <a:ext cx="633240" cy="21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1740"/>
              </a:lnSpc>
            </a:pPr>
            <a:r>
              <a:rPr lang="zh-CN" sz="1240" b="1" u="none" strike="noStrike">
                <a:solidFill>
                  <a:srgbClr val="494848"/>
                </a:solidFill>
                <a:effectLst/>
                <a:uFillTx/>
                <a:latin typeface="メイリオ"/>
                <a:ea typeface="メイリオ"/>
                <a:cs typeface="メイリオ"/>
              </a:rPr>
              <a:t>緊急性</a:t>
            </a:r>
            <a:endParaRPr lang="en-US" sz="1240" b="0" u="none" strike="noStrike">
              <a:solidFill>
                <a:srgbClr val="000000"/>
              </a:solidFill>
              <a:effectLst/>
              <a:uFillTx/>
              <a:latin typeface="メイリオ"/>
              <a:ea typeface="メイリオ"/>
              <a:cs typeface="メイリオ"/>
            </a:endParaRPr>
          </a:p>
        </p:txBody>
      </p:sp>
      <p:sp>
        <p:nvSpPr>
          <p:cNvPr id="844" name="TextBox 30"/>
          <p:cNvSpPr/>
          <p:nvPr/>
        </p:nvSpPr>
        <p:spPr>
          <a:xfrm>
            <a:off x="3462480" y="3120120"/>
            <a:ext cx="633240" cy="21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1740"/>
              </a:lnSpc>
            </a:pPr>
            <a:r>
              <a:rPr lang="zh-CN" sz="1240" b="0" u="none" strike="noStrike">
                <a:solidFill>
                  <a:srgbClr val="494848"/>
                </a:solidFill>
                <a:effectLst/>
                <a:uFillTx/>
                <a:latin typeface="メイリオ"/>
                <a:ea typeface="メイリオ"/>
                <a:cs typeface="メイリオ"/>
              </a:rPr>
              <a:t>今すぐ客</a:t>
            </a:r>
            <a:endParaRPr lang="en-US" sz="1240" b="0" u="none" strike="noStrike">
              <a:solidFill>
                <a:srgbClr val="000000"/>
              </a:solidFill>
              <a:effectLst/>
              <a:uFillTx/>
              <a:latin typeface="メイリオ"/>
              <a:ea typeface="メイリオ"/>
              <a:cs typeface="メイリオ"/>
            </a:endParaRPr>
          </a:p>
        </p:txBody>
      </p:sp>
      <p:sp>
        <p:nvSpPr>
          <p:cNvPr id="845" name="TextBox 31"/>
          <p:cNvSpPr/>
          <p:nvPr/>
        </p:nvSpPr>
        <p:spPr>
          <a:xfrm>
            <a:off x="1381680" y="3115440"/>
            <a:ext cx="868680" cy="21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1740"/>
              </a:lnSpc>
            </a:pPr>
            <a:r>
              <a:rPr lang="zh-CN" sz="1240" b="0" u="none" strike="noStrike">
                <a:solidFill>
                  <a:srgbClr val="494848"/>
                </a:solidFill>
                <a:effectLst/>
                <a:uFillTx/>
                <a:latin typeface="メイリオ"/>
                <a:ea typeface="メイリオ"/>
                <a:cs typeface="メイリオ"/>
              </a:rPr>
              <a:t>そのうち客</a:t>
            </a:r>
            <a:endParaRPr lang="en-US" sz="1240" b="0" u="none" strike="noStrike">
              <a:solidFill>
                <a:srgbClr val="000000"/>
              </a:solidFill>
              <a:effectLst/>
              <a:uFillTx/>
              <a:latin typeface="メイリオ"/>
              <a:ea typeface="メイリオ"/>
              <a:cs typeface="メイリオ"/>
            </a:endParaRPr>
          </a:p>
        </p:txBody>
      </p:sp>
      <p:sp>
        <p:nvSpPr>
          <p:cNvPr id="846" name="TextBox 32"/>
          <p:cNvSpPr/>
          <p:nvPr/>
        </p:nvSpPr>
        <p:spPr>
          <a:xfrm>
            <a:off x="1415160" y="4384800"/>
            <a:ext cx="868680" cy="21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1740"/>
              </a:lnSpc>
            </a:pPr>
            <a:r>
              <a:rPr lang="zh-CN" sz="1240" b="0" u="none" strike="noStrike">
                <a:solidFill>
                  <a:srgbClr val="FFFFFF"/>
                </a:solidFill>
                <a:effectLst/>
                <a:uFillTx/>
                <a:latin typeface="メイリオ"/>
                <a:ea typeface="メイリオ"/>
                <a:cs typeface="メイリオ"/>
              </a:rPr>
              <a:t>まだまだ客</a:t>
            </a:r>
            <a:endParaRPr lang="en-US" sz="1240" b="0" u="none" strike="noStrike">
              <a:solidFill>
                <a:srgbClr val="000000"/>
              </a:solidFill>
              <a:effectLst/>
              <a:uFillTx/>
              <a:latin typeface="メイリオ"/>
              <a:ea typeface="メイリオ"/>
              <a:cs typeface="メイリオ"/>
            </a:endParaRPr>
          </a:p>
        </p:txBody>
      </p:sp>
      <p:sp>
        <p:nvSpPr>
          <p:cNvPr id="847" name="TextBox 33"/>
          <p:cNvSpPr/>
          <p:nvPr/>
        </p:nvSpPr>
        <p:spPr>
          <a:xfrm>
            <a:off x="3344760" y="4384800"/>
            <a:ext cx="868680" cy="21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1740"/>
              </a:lnSpc>
            </a:pPr>
            <a:r>
              <a:rPr lang="zh-CN" sz="1240" b="0" u="none" strike="noStrike">
                <a:solidFill>
                  <a:srgbClr val="494848"/>
                </a:solidFill>
                <a:effectLst/>
                <a:uFillTx/>
                <a:latin typeface="メイリオ"/>
                <a:ea typeface="メイリオ"/>
                <a:cs typeface="メイリオ"/>
              </a:rPr>
              <a:t>お悩み客</a:t>
            </a:r>
            <a:endParaRPr lang="en-US" sz="1240" b="0" u="none" strike="noStrike">
              <a:solidFill>
                <a:srgbClr val="000000"/>
              </a:solidFill>
              <a:effectLst/>
              <a:uFillTx/>
              <a:latin typeface="メイリオ"/>
              <a:ea typeface="メイリオ"/>
              <a:cs typeface="メイリオ"/>
            </a:endParaRPr>
          </a:p>
        </p:txBody>
      </p:sp>
      <p:sp>
        <p:nvSpPr>
          <p:cNvPr id="848" name="TextBox 34"/>
          <p:cNvSpPr/>
          <p:nvPr/>
        </p:nvSpPr>
        <p:spPr>
          <a:xfrm>
            <a:off x="3462480" y="3384360"/>
            <a:ext cx="633240" cy="281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177"/>
              </a:lnSpc>
            </a:pPr>
            <a:r>
              <a:rPr lang="en-US" sz="1560" b="0" u="none" strike="noStrike">
                <a:solidFill>
                  <a:srgbClr val="494848"/>
                </a:solidFill>
                <a:effectLst/>
                <a:uFillTx/>
                <a:latin typeface="メイリオ"/>
                <a:ea typeface="メイリオ"/>
                <a:cs typeface="メイリオ"/>
              </a:rPr>
              <a:t>1-2</a:t>
            </a:r>
            <a:r>
              <a:rPr lang="zh-CN" sz="1560" b="0" u="none" strike="noStrike">
                <a:solidFill>
                  <a:srgbClr val="494848"/>
                </a:solidFill>
                <a:effectLst/>
                <a:uFillTx/>
                <a:latin typeface="メイリオ"/>
                <a:ea typeface="メイリオ"/>
                <a:cs typeface="メイリオ"/>
              </a:rPr>
              <a:t>％</a:t>
            </a:r>
            <a:endParaRPr lang="en-US" sz="1560" b="0" u="none" strike="noStrike">
              <a:solidFill>
                <a:srgbClr val="000000"/>
              </a:solidFill>
              <a:effectLst/>
              <a:uFillTx/>
              <a:latin typeface="メイリオ"/>
              <a:ea typeface="メイリオ"/>
              <a:cs typeface="メイリオ"/>
            </a:endParaRPr>
          </a:p>
        </p:txBody>
      </p:sp>
      <p:sp>
        <p:nvSpPr>
          <p:cNvPr id="849" name="TextBox 35"/>
          <p:cNvSpPr/>
          <p:nvPr/>
        </p:nvSpPr>
        <p:spPr>
          <a:xfrm>
            <a:off x="1385640" y="3384360"/>
            <a:ext cx="927360" cy="56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177"/>
              </a:lnSpc>
            </a:pPr>
            <a:r>
              <a:rPr lang="en-US" sz="1560" b="0" u="none" strike="noStrike">
                <a:solidFill>
                  <a:srgbClr val="494848"/>
                </a:solidFill>
                <a:effectLst/>
                <a:uFillTx/>
                <a:latin typeface="メイリオ"/>
                <a:ea typeface="メイリオ"/>
                <a:cs typeface="メイリオ"/>
              </a:rPr>
              <a:t>9-9.5</a:t>
            </a:r>
            <a:r>
              <a:rPr lang="zh-CN" sz="1560" b="0" u="none" strike="noStrike">
                <a:solidFill>
                  <a:srgbClr val="494848"/>
                </a:solidFill>
                <a:effectLst/>
                <a:uFillTx/>
                <a:latin typeface="メイリオ"/>
                <a:ea typeface="メイリオ"/>
                <a:cs typeface="メイリオ"/>
              </a:rPr>
              <a:t>％</a:t>
            </a:r>
            <a:endParaRPr lang="en-US" sz="1560" b="0" u="none" strike="noStrike">
              <a:solidFill>
                <a:srgbClr val="000000"/>
              </a:solidFill>
              <a:effectLst/>
              <a:uFillTx/>
              <a:latin typeface="メイリオ"/>
              <a:ea typeface="メイリオ"/>
              <a:cs typeface="メイリオ"/>
            </a:endParaRPr>
          </a:p>
        </p:txBody>
      </p:sp>
      <p:sp>
        <p:nvSpPr>
          <p:cNvPr id="850" name="TextBox 36"/>
          <p:cNvSpPr/>
          <p:nvPr/>
        </p:nvSpPr>
        <p:spPr>
          <a:xfrm>
            <a:off x="3315240" y="4823280"/>
            <a:ext cx="927360" cy="56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177"/>
              </a:lnSpc>
            </a:pPr>
            <a:r>
              <a:rPr lang="en-US" sz="1560" b="0" u="none" strike="noStrike">
                <a:solidFill>
                  <a:srgbClr val="494848"/>
                </a:solidFill>
                <a:effectLst/>
                <a:uFillTx/>
                <a:latin typeface="メイリオ"/>
                <a:ea typeface="メイリオ"/>
                <a:cs typeface="メイリオ"/>
              </a:rPr>
              <a:t>9-9.5</a:t>
            </a:r>
            <a:r>
              <a:rPr lang="zh-CN" sz="1560" b="0" u="none" strike="noStrike">
                <a:solidFill>
                  <a:srgbClr val="494848"/>
                </a:solidFill>
                <a:effectLst/>
                <a:uFillTx/>
                <a:latin typeface="メイリオ"/>
                <a:ea typeface="メイリオ"/>
                <a:cs typeface="メイリオ"/>
              </a:rPr>
              <a:t>％</a:t>
            </a:r>
            <a:endParaRPr lang="en-US" sz="1560" b="0" u="none" strike="noStrike">
              <a:solidFill>
                <a:srgbClr val="000000"/>
              </a:solidFill>
              <a:effectLst/>
              <a:uFillTx/>
              <a:latin typeface="メイリオ"/>
              <a:ea typeface="メイリオ"/>
              <a:cs typeface="メイリオ"/>
            </a:endParaRPr>
          </a:p>
        </p:txBody>
      </p:sp>
      <p:sp>
        <p:nvSpPr>
          <p:cNvPr id="851" name="TextBox 37"/>
          <p:cNvSpPr/>
          <p:nvPr/>
        </p:nvSpPr>
        <p:spPr>
          <a:xfrm>
            <a:off x="1532880" y="4823280"/>
            <a:ext cx="633240" cy="281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177"/>
              </a:lnSpc>
            </a:pPr>
            <a:r>
              <a:rPr lang="en-US" sz="1560" b="0" u="none" strike="noStrike">
                <a:solidFill>
                  <a:srgbClr val="FFFFFF"/>
                </a:solidFill>
                <a:effectLst/>
                <a:uFillTx/>
                <a:latin typeface="メイリオ"/>
                <a:ea typeface="メイリオ"/>
                <a:cs typeface="メイリオ"/>
              </a:rPr>
              <a:t>80</a:t>
            </a:r>
            <a:r>
              <a:rPr lang="zh-CN" sz="1560" b="0" u="none" strike="noStrike">
                <a:solidFill>
                  <a:srgbClr val="FFFFFF"/>
                </a:solidFill>
                <a:effectLst/>
                <a:uFillTx/>
                <a:latin typeface="メイリオ"/>
                <a:ea typeface="メイリオ"/>
                <a:cs typeface="メイリオ"/>
              </a:rPr>
              <a:t>％</a:t>
            </a:r>
            <a:endParaRPr lang="en-US" sz="1560" b="0" u="none" strike="noStrike">
              <a:solidFill>
                <a:srgbClr val="000000"/>
              </a:solidFill>
              <a:effectLst/>
              <a:uFillTx/>
              <a:latin typeface="メイリオ"/>
              <a:ea typeface="メイリオ"/>
              <a:cs typeface="メイリオ"/>
            </a:endParaRPr>
          </a:p>
        </p:txBody>
      </p:sp>
      <p:sp>
        <p:nvSpPr>
          <p:cNvPr id="852" name="TextBox 38"/>
          <p:cNvSpPr/>
          <p:nvPr/>
        </p:nvSpPr>
        <p:spPr>
          <a:xfrm>
            <a:off x="5800680" y="3159720"/>
            <a:ext cx="3788640" cy="53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zh-CN" sz="1200" b="1" u="none" strike="noStrike">
                <a:solidFill>
                  <a:srgbClr val="494848"/>
                </a:solidFill>
                <a:effectLst/>
                <a:uFillTx/>
                <a:latin typeface="メイリオ"/>
                <a:ea typeface="メイリオ"/>
                <a:cs typeface="メイリオ"/>
              </a:rPr>
              <a:t>「今すぐ</a:t>
            </a:r>
            <a:r>
              <a:rPr lang="ja-JP" sz="1200" b="1" u="none" strike="noStrike">
                <a:solidFill>
                  <a:srgbClr val="494848"/>
                </a:solidFill>
                <a:effectLst/>
                <a:uFillTx/>
                <a:latin typeface="メイリオ"/>
                <a:ea typeface="メイリオ"/>
                <a:cs typeface="メイリオ"/>
              </a:rPr>
              <a:t>顧客」を高い広告費を投資して獲得するのはリスクが大きい。</a:t>
            </a:r>
            <a:endParaRPr lang="en-US" sz="1200" b="0" u="none" strike="noStrike">
              <a:solidFill>
                <a:srgbClr val="000000"/>
              </a:solidFill>
              <a:effectLst/>
              <a:uFillTx/>
              <a:latin typeface="メイリオ"/>
              <a:ea typeface="メイリオ"/>
              <a:cs typeface="メイリオ"/>
            </a:endParaRPr>
          </a:p>
        </p:txBody>
      </p:sp>
      <p:sp>
        <p:nvSpPr>
          <p:cNvPr id="853" name="Freeform 40"/>
          <p:cNvSpPr/>
          <p:nvPr/>
        </p:nvSpPr>
        <p:spPr>
          <a:xfrm rot="5400000">
            <a:off x="5146200" y="420660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00FF0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cs typeface="メイリオ"/>
            </a:endParaRPr>
          </a:p>
        </p:txBody>
      </p:sp>
      <p:sp>
        <p:nvSpPr>
          <p:cNvPr id="854" name="TextBox 42"/>
          <p:cNvSpPr/>
          <p:nvPr/>
        </p:nvSpPr>
        <p:spPr>
          <a:xfrm>
            <a:off x="5800680" y="4237560"/>
            <a:ext cx="3889080" cy="53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zh-CN" sz="1200" b="1" u="none" strike="noStrike">
                <a:solidFill>
                  <a:srgbClr val="494848"/>
                </a:solidFill>
                <a:effectLst/>
                <a:uFillTx/>
                <a:latin typeface="メイリオ"/>
                <a:ea typeface="メイリオ"/>
                <a:cs typeface="メイリオ"/>
              </a:rPr>
              <a:t>リストとして獲得するだけでなく</a:t>
            </a:r>
            <a:endParaRPr lang="en-US" sz="1200" b="0" u="none" strike="noStrike">
              <a:solidFill>
                <a:srgbClr val="000000"/>
              </a:solidFill>
              <a:effectLst/>
              <a:uFillTx/>
              <a:latin typeface="メイリオ"/>
              <a:ea typeface="メイリオ"/>
              <a:cs typeface="メイリオ"/>
            </a:endParaRPr>
          </a:p>
          <a:p>
            <a:pPr defTabSz="914400">
              <a:lnSpc>
                <a:spcPts val="2177"/>
              </a:lnSpc>
            </a:pPr>
            <a:r>
              <a:rPr lang="zh-CN" sz="1200" b="1" u="none" strike="noStrike">
                <a:solidFill>
                  <a:srgbClr val="494848"/>
                </a:solidFill>
                <a:effectLst/>
                <a:uFillTx/>
                <a:latin typeface="メイリオ"/>
                <a:ea typeface="メイリオ"/>
                <a:cs typeface="メイリオ"/>
              </a:rPr>
              <a:t>「</a:t>
            </a:r>
            <a:r>
              <a:rPr lang="ja-JP" sz="1200" b="1" u="none" strike="noStrike">
                <a:solidFill>
                  <a:srgbClr val="494848"/>
                </a:solidFill>
                <a:effectLst/>
                <a:uFillTx/>
                <a:latin typeface="メイリオ"/>
                <a:ea typeface="メイリオ"/>
                <a:cs typeface="メイリオ"/>
              </a:rPr>
              <a:t>将来的な顧客」教育を</a:t>
            </a:r>
            <a:r>
              <a:rPr lang="en-US" sz="1200" b="1" u="none" strike="noStrike">
                <a:solidFill>
                  <a:srgbClr val="494848"/>
                </a:solidFill>
                <a:effectLst/>
                <a:uFillTx/>
                <a:latin typeface="メイリオ"/>
                <a:ea typeface="メイリオ"/>
                <a:cs typeface="メイリオ"/>
              </a:rPr>
              <a:t>LINE</a:t>
            </a:r>
            <a:r>
              <a:rPr lang="ja-JP" sz="1200" b="1" u="none" strike="noStrike">
                <a:solidFill>
                  <a:srgbClr val="494848"/>
                </a:solidFill>
                <a:effectLst/>
                <a:uFillTx/>
                <a:latin typeface="メイリオ"/>
                <a:ea typeface="メイリオ"/>
                <a:cs typeface="メイリオ"/>
              </a:rPr>
              <a:t>上で構築し行う。</a:t>
            </a:r>
            <a:endParaRPr lang="en-US" sz="1200" b="0" u="none" strike="noStrike">
              <a:solidFill>
                <a:srgbClr val="000000"/>
              </a:solidFill>
              <a:effectLst/>
              <a:uFillTx/>
              <a:latin typeface="メイリオ"/>
              <a:ea typeface="メイリオ"/>
              <a:cs typeface="メイリオ"/>
            </a:endParaRPr>
          </a:p>
        </p:txBody>
      </p:sp>
      <p:sp>
        <p:nvSpPr>
          <p:cNvPr id="855" name="AutoShape 43"/>
          <p:cNvSpPr/>
          <p:nvPr/>
        </p:nvSpPr>
        <p:spPr>
          <a:xfrm>
            <a:off x="837360" y="2858760"/>
            <a:ext cx="2060640" cy="36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メイリオ"/>
              <a:ea typeface="メイリオ"/>
              <a:cs typeface="メイリオ"/>
            </a:endParaRPr>
          </a:p>
        </p:txBody>
      </p:sp>
      <p:sp>
        <p:nvSpPr>
          <p:cNvPr id="856" name="AutoShape 44"/>
          <p:cNvSpPr/>
          <p:nvPr/>
        </p:nvSpPr>
        <p:spPr>
          <a:xfrm>
            <a:off x="828720" y="5877000"/>
            <a:ext cx="3810960" cy="36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メイリオ"/>
              <a:ea typeface="メイリオ"/>
              <a:cs typeface="メイリオ"/>
            </a:endParaRPr>
          </a:p>
        </p:txBody>
      </p:sp>
      <p:sp>
        <p:nvSpPr>
          <p:cNvPr id="857" name="AutoShape 45"/>
          <p:cNvSpPr/>
          <p:nvPr/>
        </p:nvSpPr>
        <p:spPr>
          <a:xfrm>
            <a:off x="2889360" y="4056480"/>
            <a:ext cx="1750320" cy="36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メイリオ"/>
              <a:ea typeface="メイリオ"/>
              <a:cs typeface="メイリオ"/>
            </a:endParaRPr>
          </a:p>
        </p:txBody>
      </p:sp>
      <p:sp>
        <p:nvSpPr>
          <p:cNvPr id="858" name="AutoShape 46"/>
          <p:cNvSpPr/>
          <p:nvPr/>
        </p:nvSpPr>
        <p:spPr>
          <a:xfrm>
            <a:off x="4639680" y="4062600"/>
            <a:ext cx="360" cy="182592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メイリオ"/>
              <a:ea typeface="メイリオ"/>
              <a:cs typeface="メイリオ"/>
            </a:endParaRPr>
          </a:p>
        </p:txBody>
      </p:sp>
      <p:sp>
        <p:nvSpPr>
          <p:cNvPr id="859" name="AutoShape 47"/>
          <p:cNvSpPr/>
          <p:nvPr/>
        </p:nvSpPr>
        <p:spPr>
          <a:xfrm>
            <a:off x="2901240" y="2853000"/>
            <a:ext cx="360" cy="121788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メイリオ"/>
              <a:ea typeface="メイリオ"/>
              <a:cs typeface="メイリオ"/>
            </a:endParaRPr>
          </a:p>
        </p:txBody>
      </p:sp>
      <p:sp>
        <p:nvSpPr>
          <p:cNvPr id="860" name="AutoShape 48"/>
          <p:cNvSpPr/>
          <p:nvPr/>
        </p:nvSpPr>
        <p:spPr>
          <a:xfrm>
            <a:off x="840600" y="2862000"/>
            <a:ext cx="360" cy="301500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メイリオ"/>
              <a:ea typeface="メイリオ"/>
              <a:cs typeface="メイリオ"/>
            </a:endParaRPr>
          </a:p>
        </p:txBody>
      </p:sp>
      <p:sp>
        <p:nvSpPr>
          <p:cNvPr id="861"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en-US" sz="1600" b="1" u="none" strike="noStrike">
                <a:solidFill>
                  <a:srgbClr val="002060"/>
                </a:solidFill>
                <a:effectLst/>
                <a:uFillTx/>
                <a:latin typeface="メイリオ"/>
                <a:ea typeface="メイリオ"/>
                <a:cs typeface="メイリオ"/>
              </a:rPr>
              <a:t>LINE</a:t>
            </a:r>
            <a:r>
              <a:rPr lang="ja-JP" sz="1600" b="1" u="none" strike="noStrike">
                <a:solidFill>
                  <a:srgbClr val="002060"/>
                </a:solidFill>
                <a:effectLst/>
                <a:uFillTx/>
                <a:latin typeface="メイリオ"/>
                <a:ea typeface="メイリオ"/>
                <a:cs typeface="メイリオ"/>
              </a:rPr>
              <a:t>公式アカウントを検討する背景</a:t>
            </a:r>
            <a:endParaRPr lang="en-US" sz="1600" b="0" u="none" strike="noStrike">
              <a:solidFill>
                <a:srgbClr val="000000"/>
              </a:solidFill>
              <a:effectLst/>
              <a:uFillTx/>
              <a:latin typeface="メイリオ"/>
              <a:ea typeface="メイリオ"/>
              <a:cs typeface="メイリオ"/>
            </a:endParaRPr>
          </a:p>
        </p:txBody>
      </p:sp>
      <p:grpSp>
        <p:nvGrpSpPr>
          <p:cNvPr id="862" name="Group 25"/>
          <p:cNvGrpSpPr/>
          <p:nvPr/>
        </p:nvGrpSpPr>
        <p:grpSpPr>
          <a:xfrm>
            <a:off x="4996440" y="5467320"/>
            <a:ext cx="600840" cy="300960"/>
            <a:chOff x="4996440" y="5467320"/>
            <a:chExt cx="600840" cy="300960"/>
          </a:xfrm>
        </p:grpSpPr>
        <p:sp>
          <p:nvSpPr>
            <p:cNvPr id="863" name="Freeform 26"/>
            <p:cNvSpPr/>
            <p:nvPr/>
          </p:nvSpPr>
          <p:spPr>
            <a:xfrm rot="5400000">
              <a:off x="5146200" y="531720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cs typeface="メイリオ"/>
              </a:endParaRPr>
            </a:p>
          </p:txBody>
        </p:sp>
        <p:sp>
          <p:nvSpPr>
            <p:cNvPr id="864" name="TextBox 27"/>
            <p:cNvSpPr/>
            <p:nvPr/>
          </p:nvSpPr>
          <p:spPr>
            <a:xfrm rot="5400000">
              <a:off x="5087880" y="5465880"/>
              <a:ext cx="207000" cy="30420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cs typeface="メイリオ"/>
              </a:endParaRPr>
            </a:p>
          </p:txBody>
        </p:sp>
      </p:grpSp>
      <p:sp>
        <p:nvSpPr>
          <p:cNvPr id="865" name="TextBox 38"/>
          <p:cNvSpPr/>
          <p:nvPr/>
        </p:nvSpPr>
        <p:spPr>
          <a:xfrm>
            <a:off x="5800680" y="5349240"/>
            <a:ext cx="3788640" cy="53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ja-JP" sz="1200" b="1" u="none" strike="noStrike">
                <a:solidFill>
                  <a:srgbClr val="494848"/>
                </a:solidFill>
                <a:effectLst/>
                <a:uFillTx/>
                <a:latin typeface="メイリオ"/>
                <a:ea typeface="メイリオ"/>
                <a:cs typeface="メイリオ"/>
              </a:rPr>
              <a:t>広告審査がないうえに、ユーザー接点を早めることで大量かつ高効率での獲得を見込むことが出来る。</a:t>
            </a:r>
            <a:endParaRPr lang="en-US" sz="1200" b="0" u="none" strike="noStrike">
              <a:solidFill>
                <a:srgbClr val="000000"/>
              </a:solidFill>
              <a:effectLst/>
              <a:uFillTx/>
              <a:latin typeface="メイリオ"/>
              <a:ea typeface="メイリオ"/>
              <a:cs typeface="メイリオ"/>
            </a:endParaRPr>
          </a:p>
        </p:txBody>
      </p:sp>
      <p:sp>
        <p:nvSpPr>
          <p:cNvPr id="866" name="正方形/長方形 66"/>
          <p:cNvSpPr/>
          <p:nvPr/>
        </p:nvSpPr>
        <p:spPr>
          <a:xfrm>
            <a:off x="0" y="1550160"/>
            <a:ext cx="9905760" cy="9979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cs typeface="メイリオ"/>
            </a:endParaRPr>
          </a:p>
        </p:txBody>
      </p:sp>
      <p:sp>
        <p:nvSpPr>
          <p:cNvPr id="867" name="正方形/長方形 68"/>
          <p:cNvSpPr/>
          <p:nvPr/>
        </p:nvSpPr>
        <p:spPr>
          <a:xfrm>
            <a:off x="1415160" y="1777680"/>
            <a:ext cx="3135600" cy="5227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en-US" sz="1400" b="0" u="none" strike="noStrike">
                <a:solidFill>
                  <a:schemeClr val="dk1"/>
                </a:solidFill>
                <a:effectLst/>
                <a:uFillTx/>
                <a:latin typeface="メイリオ"/>
                <a:ea typeface="メイリオ"/>
                <a:cs typeface="メイリオ"/>
              </a:rPr>
              <a:t>WEB</a:t>
            </a:r>
            <a:r>
              <a:rPr lang="ja-JP" sz="1400" b="0" u="none" strike="noStrike">
                <a:solidFill>
                  <a:schemeClr val="dk1"/>
                </a:solidFill>
                <a:effectLst/>
                <a:uFillTx/>
                <a:latin typeface="メイリオ"/>
                <a:ea typeface="メイリオ"/>
                <a:cs typeface="メイリオ"/>
              </a:rPr>
              <a:t>広告における</a:t>
            </a:r>
            <a:r>
              <a:rPr lang="ja-JP" sz="1400" b="1" u="none" strike="noStrike">
                <a:solidFill>
                  <a:schemeClr val="dk1"/>
                </a:solidFill>
                <a:effectLst/>
                <a:uFillTx/>
                <a:latin typeface="メイリオ"/>
                <a:ea typeface="メイリオ"/>
                <a:cs typeface="メイリオ"/>
              </a:rPr>
              <a:t>競合性が高</a:t>
            </a:r>
            <a:r>
              <a:rPr lang="ja-JP" sz="1400" b="0" u="none" strike="noStrike">
                <a:solidFill>
                  <a:schemeClr val="dk1"/>
                </a:solidFill>
                <a:effectLst/>
                <a:uFillTx/>
                <a:latin typeface="メイリオ"/>
                <a:ea typeface="メイリオ"/>
                <a:cs typeface="メイリオ"/>
              </a:rPr>
              <a:t>くなり</a:t>
            </a:r>
            <a:endParaRPr lang="en-US" sz="1400" b="0" u="none" strike="noStrike">
              <a:solidFill>
                <a:srgbClr val="000000"/>
              </a:solidFill>
              <a:effectLst/>
              <a:uFillTx/>
              <a:latin typeface="メイリオ"/>
              <a:ea typeface="メイリオ"/>
              <a:cs typeface="メイリオ"/>
            </a:endParaRPr>
          </a:p>
          <a:p>
            <a:pPr algn="ctr" defTabSz="914400">
              <a:lnSpc>
                <a:spcPct val="100000"/>
              </a:lnSpc>
            </a:pPr>
            <a:r>
              <a:rPr lang="ja-JP" sz="1400" b="1" u="none" strike="noStrike">
                <a:solidFill>
                  <a:srgbClr val="FF0000"/>
                </a:solidFill>
                <a:effectLst/>
                <a:uFillTx/>
                <a:latin typeface="メイリオ"/>
                <a:ea typeface="メイリオ"/>
                <a:cs typeface="メイリオ"/>
              </a:rPr>
              <a:t>単価指標（</a:t>
            </a:r>
            <a:r>
              <a:rPr lang="en-US" sz="1400" b="1" u="none" strike="noStrike">
                <a:solidFill>
                  <a:srgbClr val="FF0000"/>
                </a:solidFill>
                <a:effectLst/>
                <a:uFillTx/>
                <a:latin typeface="メイリオ"/>
                <a:ea typeface="メイリオ"/>
                <a:cs typeface="メイリオ"/>
              </a:rPr>
              <a:t>CPC</a:t>
            </a:r>
            <a:r>
              <a:rPr lang="ja-JP" sz="1400" b="1" u="none" strike="noStrike">
                <a:solidFill>
                  <a:srgbClr val="FF0000"/>
                </a:solidFill>
                <a:effectLst/>
                <a:uFillTx/>
                <a:latin typeface="メイリオ"/>
                <a:ea typeface="メイリオ"/>
                <a:cs typeface="メイリオ"/>
              </a:rPr>
              <a:t>及び</a:t>
            </a:r>
            <a:r>
              <a:rPr lang="en-US" sz="1400" b="1" u="none" strike="noStrike">
                <a:solidFill>
                  <a:srgbClr val="FF0000"/>
                </a:solidFill>
                <a:effectLst/>
                <a:uFillTx/>
                <a:latin typeface="メイリオ"/>
                <a:ea typeface="メイリオ"/>
                <a:cs typeface="メイリオ"/>
              </a:rPr>
              <a:t>CPA</a:t>
            </a:r>
            <a:r>
              <a:rPr lang="ja-JP" sz="1400" b="1" u="none" strike="noStrike">
                <a:solidFill>
                  <a:srgbClr val="FF0000"/>
                </a:solidFill>
                <a:effectLst/>
                <a:uFillTx/>
                <a:latin typeface="メイリオ"/>
                <a:ea typeface="メイリオ"/>
                <a:cs typeface="メイリオ"/>
              </a:rPr>
              <a:t>）が高騰</a:t>
            </a:r>
            <a:r>
              <a:rPr lang="ja-JP" sz="1400" b="0" u="none" strike="noStrike">
                <a:solidFill>
                  <a:schemeClr val="dk1"/>
                </a:solidFill>
                <a:effectLst/>
                <a:uFillTx/>
                <a:latin typeface="メイリオ"/>
                <a:ea typeface="メイリオ"/>
                <a:cs typeface="メイリオ"/>
              </a:rPr>
              <a:t>。</a:t>
            </a:r>
            <a:endParaRPr lang="en-US" sz="1400" b="0" u="none" strike="noStrike">
              <a:solidFill>
                <a:srgbClr val="000000"/>
              </a:solidFill>
              <a:effectLst/>
              <a:uFillTx/>
              <a:latin typeface="メイリオ"/>
              <a:ea typeface="メイリオ"/>
              <a:cs typeface="メイリオ"/>
            </a:endParaRPr>
          </a:p>
        </p:txBody>
      </p:sp>
      <p:sp>
        <p:nvSpPr>
          <p:cNvPr id="868" name="正方形/長方形 70"/>
          <p:cNvSpPr/>
          <p:nvPr/>
        </p:nvSpPr>
        <p:spPr>
          <a:xfrm>
            <a:off x="5717880" y="1781640"/>
            <a:ext cx="3773520" cy="5227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ja-JP" sz="1400" b="0" u="none" strike="noStrike">
                <a:solidFill>
                  <a:schemeClr val="dk1"/>
                </a:solidFill>
                <a:effectLst/>
                <a:uFillTx/>
                <a:latin typeface="メイリオ"/>
                <a:ea typeface="メイリオ"/>
                <a:cs typeface="メイリオ"/>
              </a:rPr>
              <a:t>集客施策における</a:t>
            </a:r>
            <a:r>
              <a:rPr lang="en-US" sz="1400" b="1" u="none" strike="noStrike">
                <a:solidFill>
                  <a:schemeClr val="dk1"/>
                </a:solidFill>
                <a:effectLst/>
                <a:uFillTx/>
                <a:latin typeface="メイリオ"/>
                <a:ea typeface="メイリオ"/>
                <a:cs typeface="メイリオ"/>
              </a:rPr>
              <a:t>CVR</a:t>
            </a:r>
            <a:r>
              <a:rPr lang="ja-JP" sz="1400" b="1" u="none" strike="noStrike">
                <a:solidFill>
                  <a:schemeClr val="dk1"/>
                </a:solidFill>
                <a:effectLst/>
                <a:uFillTx/>
                <a:latin typeface="メイリオ"/>
                <a:ea typeface="メイリオ"/>
                <a:cs typeface="メイリオ"/>
              </a:rPr>
              <a:t>は高くても</a:t>
            </a:r>
            <a:r>
              <a:rPr lang="en-US" sz="1400" b="1" u="none" strike="noStrike">
                <a:solidFill>
                  <a:schemeClr val="dk1"/>
                </a:solidFill>
                <a:effectLst/>
                <a:uFillTx/>
                <a:latin typeface="メイリオ"/>
                <a:ea typeface="メイリオ"/>
                <a:cs typeface="メイリオ"/>
              </a:rPr>
              <a:t>2%</a:t>
            </a:r>
            <a:r>
              <a:rPr lang="ja-JP" sz="1400" b="1" u="none" strike="noStrike">
                <a:solidFill>
                  <a:schemeClr val="dk1"/>
                </a:solidFill>
                <a:effectLst/>
                <a:uFillTx/>
                <a:latin typeface="メイリオ"/>
                <a:ea typeface="メイリオ"/>
                <a:cs typeface="メイリオ"/>
              </a:rPr>
              <a:t>程度</a:t>
            </a:r>
            <a:r>
              <a:rPr lang="ja-JP" sz="1400" b="0" u="none" strike="noStrike">
                <a:solidFill>
                  <a:schemeClr val="dk1"/>
                </a:solidFill>
                <a:effectLst/>
                <a:uFillTx/>
                <a:latin typeface="メイリオ"/>
                <a:ea typeface="メイリオ"/>
                <a:cs typeface="メイリオ"/>
              </a:rPr>
              <a:t>。</a:t>
            </a:r>
            <a:endParaRPr lang="en-US" sz="1400" b="0" u="none" strike="noStrike">
              <a:solidFill>
                <a:srgbClr val="000000"/>
              </a:solidFill>
              <a:effectLst/>
              <a:uFillTx/>
              <a:latin typeface="メイリオ"/>
              <a:ea typeface="メイリオ"/>
              <a:cs typeface="メイリオ"/>
            </a:endParaRPr>
          </a:p>
          <a:p>
            <a:pPr algn="ctr" defTabSz="914400">
              <a:lnSpc>
                <a:spcPct val="100000"/>
              </a:lnSpc>
            </a:pPr>
            <a:r>
              <a:rPr lang="en-US" sz="1400" b="0" u="none" strike="noStrike">
                <a:solidFill>
                  <a:srgbClr val="FF0000"/>
                </a:solidFill>
                <a:effectLst/>
                <a:uFillTx/>
                <a:latin typeface="メイリオ"/>
                <a:ea typeface="メイリオ"/>
                <a:cs typeface="メイリオ"/>
              </a:rPr>
              <a:t>CV</a:t>
            </a:r>
            <a:r>
              <a:rPr lang="ja-JP" sz="1400" b="0" u="none" strike="noStrike">
                <a:solidFill>
                  <a:srgbClr val="FF0000"/>
                </a:solidFill>
                <a:effectLst/>
                <a:uFillTx/>
                <a:latin typeface="メイリオ"/>
                <a:ea typeface="メイリオ"/>
                <a:cs typeface="メイリオ"/>
              </a:rPr>
              <a:t>に至らず離脱するユーザーが大部分</a:t>
            </a:r>
            <a:r>
              <a:rPr lang="ja-JP" sz="1400" b="0" u="none" strike="noStrike">
                <a:solidFill>
                  <a:schemeClr val="dk1"/>
                </a:solidFill>
                <a:effectLst/>
                <a:uFillTx/>
                <a:latin typeface="メイリオ"/>
                <a:ea typeface="メイリオ"/>
                <a:cs typeface="メイリオ"/>
              </a:rPr>
              <a:t>。</a:t>
            </a:r>
            <a:endParaRPr lang="en-US" sz="1400" b="0" u="none" strike="noStrike">
              <a:solidFill>
                <a:srgbClr val="000000"/>
              </a:solidFill>
              <a:effectLst/>
              <a:uFillTx/>
              <a:latin typeface="メイリオ"/>
              <a:ea typeface="メイリオ"/>
              <a:cs typeface="メイリオ"/>
            </a:endParaRPr>
          </a:p>
        </p:txBody>
      </p:sp>
      <p:sp>
        <p:nvSpPr>
          <p:cNvPr id="869" name="Freeform 12"/>
          <p:cNvSpPr/>
          <p:nvPr/>
        </p:nvSpPr>
        <p:spPr>
          <a:xfrm>
            <a:off x="4853160" y="1823040"/>
            <a:ext cx="823320" cy="425880"/>
          </a:xfrm>
          <a:custGeom>
            <a:avLst/>
            <a:gdLst>
              <a:gd name="textAreaLeft" fmla="*/ 0 w 823320"/>
              <a:gd name="textAreaRight" fmla="*/ 823680 w 823320"/>
              <a:gd name="textAreaTop" fmla="*/ 0 h 425880"/>
              <a:gd name="textAreaBottom" fmla="*/ 426240 h 425880"/>
            </a:gdLst>
            <a:ahLst/>
            <a:cxnLst/>
            <a:rect l="textAreaLeft" t="textAreaTop" r="textAreaRight" b="textAreaBottom"/>
            <a:pathLst>
              <a:path w="617887" h="387031">
                <a:moveTo>
                  <a:pt x="0" y="0"/>
                </a:moveTo>
                <a:lnTo>
                  <a:pt x="617887" y="0"/>
                </a:lnTo>
                <a:lnTo>
                  <a:pt x="617887" y="387031"/>
                </a:lnTo>
                <a:lnTo>
                  <a:pt x="0" y="387031"/>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800" b="1" u="none" strike="noStrike">
                <a:solidFill>
                  <a:schemeClr val="dk1"/>
                </a:solidFill>
                <a:effectLst/>
                <a:uFillTx/>
                <a:latin typeface="メイリオ"/>
                <a:ea typeface="メイリオ"/>
                <a:cs typeface="メイリオ"/>
              </a:rPr>
              <a:t>CVR</a:t>
            </a:r>
            <a:endParaRPr lang="en-US" sz="1800" b="0" u="none" strike="noStrike">
              <a:solidFill>
                <a:srgbClr val="000000"/>
              </a:solidFill>
              <a:effectLst/>
              <a:uFillTx/>
              <a:latin typeface="メイリオ"/>
              <a:ea typeface="メイリオ"/>
              <a:cs typeface="メイリオ"/>
            </a:endParaRPr>
          </a:p>
        </p:txBody>
      </p:sp>
      <p:sp>
        <p:nvSpPr>
          <p:cNvPr id="870" name="Freeform 12"/>
          <p:cNvSpPr/>
          <p:nvPr/>
        </p:nvSpPr>
        <p:spPr>
          <a:xfrm>
            <a:off x="555120" y="1809000"/>
            <a:ext cx="823320" cy="425880"/>
          </a:xfrm>
          <a:custGeom>
            <a:avLst/>
            <a:gdLst>
              <a:gd name="textAreaLeft" fmla="*/ 0 w 823320"/>
              <a:gd name="textAreaRight" fmla="*/ 823680 w 823320"/>
              <a:gd name="textAreaTop" fmla="*/ 0 h 425880"/>
              <a:gd name="textAreaBottom" fmla="*/ 426240 h 425880"/>
            </a:gdLst>
            <a:ahLst/>
            <a:cxnLst/>
            <a:rect l="textAreaLeft" t="textAreaTop" r="textAreaRight" b="textAreaBottom"/>
            <a:pathLst>
              <a:path w="617887" h="387031">
                <a:moveTo>
                  <a:pt x="0" y="0"/>
                </a:moveTo>
                <a:lnTo>
                  <a:pt x="617887" y="0"/>
                </a:lnTo>
                <a:lnTo>
                  <a:pt x="617887" y="387031"/>
                </a:lnTo>
                <a:lnTo>
                  <a:pt x="0" y="387031"/>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800" b="1" u="none" strike="noStrike">
                <a:solidFill>
                  <a:schemeClr val="dk1"/>
                </a:solidFill>
                <a:effectLst/>
                <a:uFillTx/>
                <a:latin typeface="メイリオ"/>
                <a:ea typeface="メイリオ"/>
                <a:cs typeface="メイリオ"/>
              </a:rPr>
              <a:t>CPC</a:t>
            </a:r>
            <a:endParaRPr lang="en-US" sz="1800" b="0" u="none" strike="noStrike">
              <a:solidFill>
                <a:srgbClr val="000000"/>
              </a:solidFill>
              <a:effectLst/>
              <a:uFillTx/>
              <a:latin typeface="メイリオ"/>
              <a:ea typeface="メイリオ"/>
              <a:cs typeface="メイリオ"/>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1"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cs typeface="メイリオ"/>
            </a:endParaRPr>
          </a:p>
        </p:txBody>
      </p:sp>
      <p:sp>
        <p:nvSpPr>
          <p:cNvPr id="872" name="正方形/長方形 3"/>
          <p:cNvSpPr/>
          <p:nvPr/>
        </p:nvSpPr>
        <p:spPr>
          <a:xfrm>
            <a:off x="796320" y="635040"/>
            <a:ext cx="832788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r>
              <a:rPr lang="ja-JP" sz="1400" b="0" u="none" strike="noStrike">
                <a:solidFill>
                  <a:srgbClr val="343434"/>
                </a:solidFill>
                <a:effectLst/>
                <a:uFillTx/>
                <a:latin typeface="メイリオ"/>
                <a:ea typeface="メイリオ"/>
                <a:cs typeface="メイリオ"/>
              </a:rPr>
              <a:t>利用年齢層により変動はするものの、</a:t>
            </a:r>
            <a:r>
              <a:rPr lang="en-US" sz="1400" b="0" u="none" strike="noStrike">
                <a:solidFill>
                  <a:srgbClr val="343434"/>
                </a:solidFill>
                <a:effectLst/>
                <a:uFillTx/>
                <a:latin typeface="メイリオ"/>
                <a:ea typeface="メイリオ"/>
                <a:cs typeface="メイリオ"/>
              </a:rPr>
              <a:t>10-40</a:t>
            </a:r>
            <a:r>
              <a:rPr lang="ja-JP" sz="1400" b="0" u="none" strike="noStrike">
                <a:solidFill>
                  <a:srgbClr val="343434"/>
                </a:solidFill>
                <a:effectLst/>
                <a:uFillTx/>
                <a:latin typeface="メイリオ"/>
                <a:ea typeface="メイリオ"/>
                <a:cs typeface="メイリオ"/>
              </a:rPr>
              <a:t>代を中心に電話、メールを忌避する動きが強まっている。</a:t>
            </a:r>
            <a:endParaRPr lang="en-US" sz="1400" b="0" u="none" strike="noStrike">
              <a:solidFill>
                <a:srgbClr val="000000"/>
              </a:solidFill>
              <a:effectLst/>
              <a:uFillTx/>
              <a:latin typeface="メイリオ"/>
              <a:ea typeface="メイリオ"/>
              <a:cs typeface="メイリオ"/>
            </a:endParaRPr>
          </a:p>
          <a:p>
            <a:pPr algn="ctr" defTabSz="914400">
              <a:lnSpc>
                <a:spcPts val="2455"/>
              </a:lnSpc>
            </a:pPr>
            <a:r>
              <a:rPr lang="ja-JP" sz="1400" b="1" u="none" strike="noStrike">
                <a:solidFill>
                  <a:srgbClr val="343434"/>
                </a:solidFill>
                <a:effectLst/>
                <a:uFillTx/>
                <a:latin typeface="メイリオ"/>
                <a:ea typeface="メイリオ"/>
                <a:cs typeface="メイリオ"/>
              </a:rPr>
              <a:t>既存ユーザー以外の年齢層の獲得にあたって、利用率の高い</a:t>
            </a:r>
            <a:r>
              <a:rPr lang="en-US" sz="1400" b="1" u="none" strike="noStrike">
                <a:solidFill>
                  <a:srgbClr val="343434"/>
                </a:solidFill>
                <a:effectLst/>
                <a:uFillTx/>
                <a:latin typeface="メイリオ"/>
                <a:ea typeface="メイリオ"/>
                <a:cs typeface="メイリオ"/>
              </a:rPr>
              <a:t>LINEOA</a:t>
            </a:r>
            <a:r>
              <a:rPr lang="ja-JP" sz="1400" b="1" u="none" strike="noStrike">
                <a:solidFill>
                  <a:srgbClr val="343434"/>
                </a:solidFill>
                <a:effectLst/>
                <a:uFillTx/>
                <a:latin typeface="メイリオ"/>
                <a:ea typeface="メイリオ"/>
                <a:cs typeface="メイリオ"/>
              </a:rPr>
              <a:t>施策が非常に重要と想定</a:t>
            </a:r>
            <a:r>
              <a:rPr lang="ja-JP" sz="1400" b="0" u="none" strike="noStrike">
                <a:solidFill>
                  <a:srgbClr val="343434"/>
                </a:solidFill>
                <a:effectLst/>
                <a:uFillTx/>
                <a:latin typeface="メイリオ"/>
                <a:ea typeface="メイリオ"/>
                <a:cs typeface="メイリオ"/>
              </a:rPr>
              <a:t>される。</a:t>
            </a:r>
            <a:endParaRPr lang="en-US" sz="1400" b="0" u="none" strike="noStrike">
              <a:solidFill>
                <a:srgbClr val="000000"/>
              </a:solidFill>
              <a:effectLst/>
              <a:uFillTx/>
              <a:latin typeface="メイリオ"/>
              <a:ea typeface="メイリオ"/>
              <a:cs typeface="メイリオ"/>
            </a:endParaRPr>
          </a:p>
        </p:txBody>
      </p:sp>
      <p:cxnSp>
        <p:nvCxnSpPr>
          <p:cNvPr id="873" name="直線コネクタ 4"/>
          <p:cNvCxnSpPr/>
          <p:nvPr/>
        </p:nvCxnSpPr>
        <p:spPr>
          <a:xfrm>
            <a:off x="0" y="1390320"/>
            <a:ext cx="9906120" cy="360"/>
          </a:xfrm>
          <a:prstGeom prst="straightConnector1">
            <a:avLst/>
          </a:prstGeom>
          <a:ln w="19050">
            <a:solidFill>
              <a:schemeClr val="lt1">
                <a:lumMod val="85000"/>
                <a:alpha val="60000"/>
              </a:schemeClr>
            </a:solidFill>
            <a:round/>
          </a:ln>
        </p:spPr>
      </p:cxnSp>
      <p:sp>
        <p:nvSpPr>
          <p:cNvPr id="874"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en-US" sz="1600" b="1" u="none" strike="noStrike">
                <a:solidFill>
                  <a:srgbClr val="002060"/>
                </a:solidFill>
                <a:effectLst/>
                <a:uFillTx/>
                <a:latin typeface="メイリオ"/>
                <a:ea typeface="メイリオ"/>
                <a:cs typeface="メイリオ"/>
              </a:rPr>
              <a:t>LINE</a:t>
            </a:r>
            <a:r>
              <a:rPr lang="ja-JP" sz="1600" b="1" u="none" strike="noStrike">
                <a:solidFill>
                  <a:srgbClr val="002060"/>
                </a:solidFill>
                <a:effectLst/>
                <a:uFillTx/>
                <a:latin typeface="メイリオ"/>
                <a:ea typeface="メイリオ"/>
                <a:cs typeface="メイリオ"/>
              </a:rPr>
              <a:t>公式アカウントを検討する背景</a:t>
            </a:r>
            <a:endParaRPr lang="en-US" sz="1600" b="0" u="none" strike="noStrike">
              <a:solidFill>
                <a:srgbClr val="000000"/>
              </a:solidFill>
              <a:effectLst/>
              <a:uFillTx/>
              <a:latin typeface="メイリオ"/>
              <a:ea typeface="メイリオ"/>
              <a:cs typeface="メイリオ"/>
            </a:endParaRPr>
          </a:p>
        </p:txBody>
      </p:sp>
      <p:graphicFrame>
        <p:nvGraphicFramePr>
          <p:cNvPr id="875" name="表 49"/>
          <p:cNvGraphicFramePr/>
          <p:nvPr/>
        </p:nvGraphicFramePr>
        <p:xfrm>
          <a:off x="367560" y="1662840"/>
          <a:ext cx="9167400" cy="4493880"/>
        </p:xfrm>
        <a:graphic>
          <a:graphicData uri="http://schemas.openxmlformats.org/drawingml/2006/table">
            <a:tbl>
              <a:tblPr/>
              <a:tblGrid>
                <a:gridCol w="1833480">
                  <a:extLst>
                    <a:ext uri="{9D8B030D-6E8A-4147-A177-3AD203B41FA5}">
                      <a16:colId xmlns:a16="http://schemas.microsoft.com/office/drawing/2014/main" val="20000"/>
                    </a:ext>
                  </a:extLst>
                </a:gridCol>
                <a:gridCol w="1833480">
                  <a:extLst>
                    <a:ext uri="{9D8B030D-6E8A-4147-A177-3AD203B41FA5}">
                      <a16:colId xmlns:a16="http://schemas.microsoft.com/office/drawing/2014/main" val="20001"/>
                    </a:ext>
                  </a:extLst>
                </a:gridCol>
                <a:gridCol w="1833480">
                  <a:extLst>
                    <a:ext uri="{9D8B030D-6E8A-4147-A177-3AD203B41FA5}">
                      <a16:colId xmlns:a16="http://schemas.microsoft.com/office/drawing/2014/main" val="20002"/>
                    </a:ext>
                  </a:extLst>
                </a:gridCol>
                <a:gridCol w="1833480">
                  <a:extLst>
                    <a:ext uri="{9D8B030D-6E8A-4147-A177-3AD203B41FA5}">
                      <a16:colId xmlns:a16="http://schemas.microsoft.com/office/drawing/2014/main" val="20003"/>
                    </a:ext>
                  </a:extLst>
                </a:gridCol>
                <a:gridCol w="1833480">
                  <a:extLst>
                    <a:ext uri="{9D8B030D-6E8A-4147-A177-3AD203B41FA5}">
                      <a16:colId xmlns:a16="http://schemas.microsoft.com/office/drawing/2014/main" val="20004"/>
                    </a:ext>
                  </a:extLst>
                </a:gridCol>
              </a:tblGrid>
              <a:tr h="499320">
                <a:tc>
                  <a:txBody>
                    <a:bodyPr/>
                    <a:lstStyle/>
                    <a:p>
                      <a:pPr algn="ctr" defTabSz="914400">
                        <a:lnSpc>
                          <a:spcPct val="100000"/>
                        </a:lnSpc>
                      </a:pPr>
                      <a:r>
                        <a:rPr lang="ja-JP" sz="1050" b="1" u="none" strike="noStrike">
                          <a:solidFill>
                            <a:srgbClr val="000000"/>
                          </a:solidFill>
                          <a:effectLst/>
                          <a:uFillTx/>
                          <a:latin typeface="メイリオ"/>
                          <a:ea typeface="メイリオ"/>
                          <a:cs typeface="メイリオ"/>
                        </a:rPr>
                        <a:t>年齢層</a:t>
                      </a:r>
                      <a:endParaRPr lang="en-US" sz="1050" b="0" u="none" strike="noStrike">
                        <a:solidFill>
                          <a:srgbClr val="000000"/>
                        </a:solidFill>
                        <a:effectLst/>
                        <a:uFillTx/>
                        <a:latin typeface="メイリオ"/>
                        <a:ea typeface="メイリオ"/>
                        <a:cs typeface="メイリオ"/>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en-US" sz="1000" b="0" u="none" strike="noStrike">
                          <a:solidFill>
                            <a:srgbClr val="000000"/>
                          </a:solidFill>
                          <a:effectLst/>
                          <a:uFillTx/>
                          <a:latin typeface="メイリオ"/>
                          <a:ea typeface="メイリオ"/>
                          <a:cs typeface="メイリオ"/>
                        </a:rPr>
                        <a:t>LINE</a:t>
                      </a:r>
                      <a:r>
                        <a:rPr lang="ja-JP" sz="1000" b="0" u="none" strike="noStrike">
                          <a:solidFill>
                            <a:srgbClr val="000000"/>
                          </a:solidFill>
                          <a:effectLst/>
                          <a:uFillTx/>
                          <a:latin typeface="メイリオ"/>
                          <a:ea typeface="メイリオ"/>
                          <a:cs typeface="メイリオ"/>
                        </a:rPr>
                        <a:t>・チャット系</a:t>
                      </a:r>
                      <a:endParaRPr lang="en-US" sz="1000" b="0" u="none" strike="noStrike">
                        <a:solidFill>
                          <a:srgbClr val="000000"/>
                        </a:solidFill>
                        <a:effectLst/>
                        <a:uFillTx/>
                        <a:latin typeface="メイリオ"/>
                        <a:ea typeface="メイリオ"/>
                        <a:cs typeface="メイリオ"/>
                      </a:endParaRPr>
                    </a:p>
                    <a:p>
                      <a:pPr algn="ctr" defTabSz="914400">
                        <a:lnSpc>
                          <a:spcPct val="100000"/>
                        </a:lnSpc>
                      </a:pPr>
                      <a:endParaRPr lang="en-US" sz="1000" b="0" u="none" strike="noStrike">
                        <a:solidFill>
                          <a:srgbClr val="000000"/>
                        </a:solidFill>
                        <a:effectLst/>
                        <a:uFillTx/>
                        <a:latin typeface="メイリオ"/>
                        <a:ea typeface="メイリオ"/>
                        <a:cs typeface="メイリオ"/>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0" u="none" strike="noStrike">
                          <a:solidFill>
                            <a:srgbClr val="000000"/>
                          </a:solidFill>
                          <a:effectLst/>
                          <a:uFillTx/>
                          <a:latin typeface="メイリオ"/>
                          <a:ea typeface="メイリオ"/>
                          <a:cs typeface="メイリオ"/>
                        </a:rPr>
                        <a:t>メール・メルマガ</a:t>
                      </a:r>
                      <a:endParaRPr lang="en-US" sz="1000" b="0" u="none" strike="noStrike">
                        <a:solidFill>
                          <a:srgbClr val="000000"/>
                        </a:solidFill>
                        <a:effectLst/>
                        <a:uFillTx/>
                        <a:latin typeface="メイリオ"/>
                        <a:ea typeface="メイリオ"/>
                        <a:cs typeface="メイリオ"/>
                      </a:endParaRPr>
                    </a:p>
                    <a:p>
                      <a:pPr algn="ctr" defTabSz="914400">
                        <a:lnSpc>
                          <a:spcPct val="100000"/>
                        </a:lnSpc>
                      </a:pPr>
                      <a:endParaRPr lang="en-US" sz="1000" b="0" u="none" strike="noStrike">
                        <a:solidFill>
                          <a:srgbClr val="000000"/>
                        </a:solidFill>
                        <a:effectLst/>
                        <a:uFillTx/>
                        <a:latin typeface="メイリオ"/>
                        <a:ea typeface="メイリオ"/>
                        <a:cs typeface="メイリオ"/>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0" u="none" strike="noStrike">
                          <a:solidFill>
                            <a:srgbClr val="000000"/>
                          </a:solidFill>
                          <a:effectLst/>
                          <a:uFillTx/>
                          <a:latin typeface="メイリオ"/>
                          <a:ea typeface="メイリオ"/>
                          <a:cs typeface="メイリオ"/>
                        </a:rPr>
                        <a:t>電話</a:t>
                      </a:r>
                      <a:endParaRPr lang="en-US" sz="1000" b="0" u="none" strike="noStrike">
                        <a:solidFill>
                          <a:srgbClr val="000000"/>
                        </a:solidFill>
                        <a:effectLst/>
                        <a:uFillTx/>
                        <a:latin typeface="メイリオ"/>
                        <a:ea typeface="メイリオ"/>
                        <a:cs typeface="メイリオ"/>
                      </a:endParaRPr>
                    </a:p>
                    <a:p>
                      <a:pPr algn="ctr" defTabSz="914400">
                        <a:lnSpc>
                          <a:spcPct val="100000"/>
                        </a:lnSpc>
                      </a:pPr>
                      <a:endParaRPr lang="en-US" sz="1000" b="0" u="none" strike="noStrike">
                        <a:solidFill>
                          <a:srgbClr val="000000"/>
                        </a:solidFill>
                        <a:effectLst/>
                        <a:uFillTx/>
                        <a:latin typeface="メイリオ"/>
                        <a:ea typeface="メイリオ"/>
                        <a:cs typeface="メイリオ"/>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0" u="none" strike="noStrike">
                          <a:solidFill>
                            <a:srgbClr val="000000"/>
                          </a:solidFill>
                          <a:effectLst/>
                          <a:uFillTx/>
                          <a:latin typeface="メイリオ"/>
                          <a:ea typeface="メイリオ"/>
                          <a:cs typeface="メイリオ"/>
                        </a:rPr>
                        <a:t>主要な特徴・</a:t>
                      </a:r>
                      <a:r>
                        <a:rPr lang="en-US" sz="1000" b="0" u="none" strike="noStrike">
                          <a:solidFill>
                            <a:srgbClr val="000000"/>
                          </a:solidFill>
                          <a:effectLst/>
                          <a:uFillTx/>
                          <a:latin typeface="メイリオ"/>
                          <a:ea typeface="メイリオ"/>
                          <a:cs typeface="メイリオ"/>
                        </a:rPr>
                        <a:t>SNS</a:t>
                      </a:r>
                    </a:p>
                    <a:p>
                      <a:pPr algn="ctr" defTabSz="914400">
                        <a:lnSpc>
                          <a:spcPct val="100000"/>
                        </a:lnSpc>
                      </a:pPr>
                      <a:endParaRPr lang="en-US" sz="1000" b="0" u="none" strike="noStrike">
                        <a:solidFill>
                          <a:srgbClr val="000000"/>
                        </a:solidFill>
                        <a:effectLst/>
                        <a:uFillTx/>
                        <a:latin typeface="メイリオ"/>
                        <a:ea typeface="メイリオ"/>
                        <a:cs typeface="メイリオ"/>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extLst>
                  <a:ext uri="{0D108BD9-81ED-4DB2-BD59-A6C34878D82A}">
                    <a16:rowId xmlns:a16="http://schemas.microsoft.com/office/drawing/2014/main" val="10000"/>
                  </a:ext>
                </a:extLst>
              </a:tr>
              <a:tr h="499320">
                <a:tc rowSpan="2">
                  <a:txBody>
                    <a:bodyPr/>
                    <a:lstStyle/>
                    <a:p>
                      <a:pPr defTabSz="914400">
                        <a:lnSpc>
                          <a:spcPct val="100000"/>
                        </a:lnSpc>
                      </a:pPr>
                      <a:r>
                        <a:rPr lang="ja-JP" sz="1050" b="1" u="none" strike="noStrike">
                          <a:solidFill>
                            <a:srgbClr val="000000"/>
                          </a:solidFill>
                          <a:effectLst/>
                          <a:uFillTx/>
                          <a:latin typeface="メイリオ"/>
                          <a:ea typeface="メイリオ"/>
                          <a:cs typeface="メイリオ"/>
                        </a:rPr>
                        <a:t>　　　</a:t>
                      </a:r>
                      <a:r>
                        <a:rPr lang="en-US" sz="1050" b="1" u="none" strike="noStrike">
                          <a:solidFill>
                            <a:srgbClr val="000000"/>
                          </a:solidFill>
                          <a:effectLst/>
                          <a:uFillTx/>
                          <a:latin typeface="メイリオ"/>
                          <a:ea typeface="メイリオ"/>
                          <a:cs typeface="メイリオ"/>
                        </a:rPr>
                        <a:t>10</a:t>
                      </a:r>
                      <a:r>
                        <a:rPr lang="ja-JP" sz="1050" b="1" u="none" strike="noStrike">
                          <a:solidFill>
                            <a:srgbClr val="000000"/>
                          </a:solidFill>
                          <a:effectLst/>
                          <a:uFillTx/>
                          <a:latin typeface="メイリオ"/>
                          <a:ea typeface="メイリオ"/>
                          <a:cs typeface="メイリオ"/>
                        </a:rPr>
                        <a:t>代〜</a:t>
                      </a:r>
                      <a:r>
                        <a:rPr lang="en-US" sz="1050" b="1" u="none" strike="noStrike">
                          <a:solidFill>
                            <a:srgbClr val="000000"/>
                          </a:solidFill>
                          <a:effectLst/>
                          <a:uFillTx/>
                          <a:latin typeface="メイリオ"/>
                          <a:ea typeface="メイリオ"/>
                          <a:cs typeface="メイリオ"/>
                        </a:rPr>
                        <a:t>20</a:t>
                      </a:r>
                      <a:r>
                        <a:rPr lang="ja-JP" sz="1050" b="1" u="none" strike="noStrike">
                          <a:solidFill>
                            <a:srgbClr val="000000"/>
                          </a:solidFill>
                          <a:effectLst/>
                          <a:uFillTx/>
                          <a:latin typeface="メイリオ"/>
                          <a:ea typeface="メイリオ"/>
                          <a:cs typeface="メイリオ"/>
                        </a:rPr>
                        <a:t>代　</a:t>
                      </a:r>
                      <a:endParaRPr lang="en-US" sz="1050" b="0" u="none" strike="noStrike">
                        <a:solidFill>
                          <a:srgbClr val="000000"/>
                        </a:solidFill>
                        <a:effectLst/>
                        <a:uFillTx/>
                        <a:latin typeface="メイリオ"/>
                        <a:ea typeface="メイリオ"/>
                        <a:cs typeface="メイリオ"/>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cs typeface="メイリオ"/>
                        </a:rPr>
                        <a:t>利用率：</a:t>
                      </a:r>
                      <a:r>
                        <a:rPr lang="en-US" sz="1000" b="1" u="none" strike="noStrike">
                          <a:solidFill>
                            <a:srgbClr val="000000"/>
                          </a:solidFill>
                          <a:effectLst/>
                          <a:uFillTx/>
                          <a:latin typeface="メイリオ"/>
                          <a:ea typeface="メイリオ"/>
                          <a:cs typeface="メイリオ"/>
                        </a:rPr>
                        <a:t>90%</a:t>
                      </a:r>
                      <a:r>
                        <a:rPr lang="ja-JP" sz="1000" b="1" u="none" strike="noStrike">
                          <a:solidFill>
                            <a:srgbClr val="000000"/>
                          </a:solidFill>
                          <a:effectLst/>
                          <a:uFillTx/>
                          <a:latin typeface="メイリオ"/>
                          <a:ea typeface="メイリオ"/>
                          <a:cs typeface="メイリオ"/>
                        </a:rPr>
                        <a:t>以上</a:t>
                      </a:r>
                      <a:endParaRPr lang="en-US" sz="1000" b="0" u="none" strike="noStrike">
                        <a:solidFill>
                          <a:srgbClr val="000000"/>
                        </a:solidFill>
                        <a:effectLst/>
                        <a:uFillTx/>
                        <a:latin typeface="メイリオ"/>
                        <a:ea typeface="メイリオ"/>
                        <a:cs typeface="メイリオ"/>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rgbClr val="FFFF99"/>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cs typeface="メイリオ"/>
                        </a:rPr>
                        <a:t>利用率：低</a:t>
                      </a:r>
                      <a:endParaRPr lang="en-US" sz="1000" b="0" u="none" strike="noStrike">
                        <a:solidFill>
                          <a:srgbClr val="000000"/>
                        </a:solidFill>
                        <a:effectLst/>
                        <a:uFillTx/>
                        <a:latin typeface="メイリオ"/>
                        <a:ea typeface="メイリオ"/>
                        <a:cs typeface="メイリオ"/>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cs typeface="メイリオ"/>
                        </a:rPr>
                        <a:t>利用率：極めて低</a:t>
                      </a:r>
                      <a:endParaRPr lang="en-US" sz="1000" b="0" u="none" strike="noStrike">
                        <a:solidFill>
                          <a:srgbClr val="000000"/>
                        </a:solidFill>
                        <a:effectLst/>
                        <a:uFillTx/>
                        <a:latin typeface="メイリオ"/>
                        <a:ea typeface="メイリオ"/>
                        <a:cs typeface="メイリオ"/>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rowSpan="2">
                  <a:txBody>
                    <a:bodyPr/>
                    <a:lstStyle/>
                    <a:p>
                      <a:pPr algn="ctr" defTabSz="914400">
                        <a:lnSpc>
                          <a:spcPct val="100000"/>
                        </a:lnSpc>
                      </a:pPr>
                      <a:r>
                        <a:rPr lang="en-US" sz="800" b="0" u="none" strike="noStrike">
                          <a:solidFill>
                            <a:srgbClr val="000000"/>
                          </a:solidFill>
                          <a:effectLst/>
                          <a:uFillTx/>
                          <a:latin typeface="メイリオ"/>
                          <a:ea typeface="メイリオ"/>
                          <a:cs typeface="メイリオ"/>
                        </a:rPr>
                        <a:t>Tiktok YouTube</a:t>
                      </a:r>
                      <a:r>
                        <a:rPr lang="ja-JP" sz="800" b="0" u="none" strike="noStrike">
                          <a:solidFill>
                            <a:srgbClr val="000000"/>
                          </a:solidFill>
                          <a:effectLst/>
                          <a:uFillTx/>
                          <a:latin typeface="メイリオ"/>
                          <a:ea typeface="メイリオ"/>
                          <a:cs typeface="メイリオ"/>
                        </a:rPr>
                        <a:t>が情報収集の起点。</a:t>
                      </a:r>
                      <a:br>
                        <a:rPr sz="800">
                          <a:latin typeface="メイリオ"/>
                          <a:ea typeface="メイリオ"/>
                          <a:cs typeface="メイリオ"/>
                        </a:rPr>
                      </a:br>
                      <a:r>
                        <a:rPr lang="en-US" sz="800" b="0" u="none" strike="noStrike">
                          <a:solidFill>
                            <a:srgbClr val="000000"/>
                          </a:solidFill>
                          <a:effectLst/>
                          <a:uFillTx/>
                          <a:latin typeface="メイリオ"/>
                          <a:ea typeface="メイリオ"/>
                          <a:cs typeface="メイリオ"/>
                        </a:rPr>
                        <a:t>Instagram</a:t>
                      </a:r>
                      <a:r>
                        <a:rPr lang="ja-JP" sz="800" b="0" u="none" strike="noStrike">
                          <a:solidFill>
                            <a:srgbClr val="000000"/>
                          </a:solidFill>
                          <a:effectLst/>
                          <a:uFillTx/>
                          <a:latin typeface="メイリオ"/>
                          <a:ea typeface="メイリオ"/>
                          <a:cs typeface="メイリオ"/>
                        </a:rPr>
                        <a:t>、</a:t>
                      </a:r>
                      <a:r>
                        <a:rPr lang="en-US" sz="800" b="0" u="none" strike="noStrike">
                          <a:solidFill>
                            <a:srgbClr val="000000"/>
                          </a:solidFill>
                          <a:effectLst/>
                          <a:uFillTx/>
                          <a:latin typeface="メイリオ"/>
                          <a:ea typeface="メイリオ"/>
                          <a:cs typeface="メイリオ"/>
                        </a:rPr>
                        <a:t>X</a:t>
                      </a:r>
                      <a:r>
                        <a:rPr lang="ja-JP" sz="800" b="0" u="none" strike="noStrike">
                          <a:solidFill>
                            <a:srgbClr val="000000"/>
                          </a:solidFill>
                          <a:effectLst/>
                          <a:uFillTx/>
                          <a:latin typeface="メイリオ"/>
                          <a:ea typeface="メイリオ"/>
                          <a:cs typeface="メイリオ"/>
                        </a:rPr>
                        <a:t>の</a:t>
                      </a:r>
                      <a:r>
                        <a:rPr lang="en-US" sz="800" b="0" u="none" strike="noStrike">
                          <a:solidFill>
                            <a:srgbClr val="000000"/>
                          </a:solidFill>
                          <a:effectLst/>
                          <a:uFillTx/>
                          <a:latin typeface="メイリオ"/>
                          <a:ea typeface="メイリオ"/>
                          <a:cs typeface="メイリオ"/>
                        </a:rPr>
                        <a:t>DM</a:t>
                      </a:r>
                      <a:r>
                        <a:rPr lang="ja-JP" sz="800" b="0" u="none" strike="noStrike">
                          <a:solidFill>
                            <a:srgbClr val="000000"/>
                          </a:solidFill>
                          <a:effectLst/>
                          <a:uFillTx/>
                          <a:latin typeface="メイリオ"/>
                          <a:ea typeface="メイリオ"/>
                          <a:cs typeface="メイリオ"/>
                        </a:rPr>
                        <a:t>も</a:t>
                      </a:r>
                      <a:endParaRPr lang="en-US" sz="800" b="0" u="none" strike="noStrike">
                        <a:solidFill>
                          <a:srgbClr val="000000"/>
                        </a:solidFill>
                        <a:effectLst/>
                        <a:uFillTx/>
                        <a:latin typeface="メイリオ"/>
                        <a:ea typeface="メイリオ"/>
                        <a:cs typeface="メイリオ"/>
                      </a:endParaRPr>
                    </a:p>
                    <a:p>
                      <a:pPr algn="ctr" defTabSz="914400">
                        <a:lnSpc>
                          <a:spcPct val="100000"/>
                        </a:lnSpc>
                      </a:pPr>
                      <a:r>
                        <a:rPr lang="ja-JP" sz="800" b="0" u="none" strike="noStrike">
                          <a:solidFill>
                            <a:srgbClr val="000000"/>
                          </a:solidFill>
                          <a:effectLst/>
                          <a:uFillTx/>
                          <a:latin typeface="メイリオ"/>
                          <a:ea typeface="メイリオ"/>
                          <a:cs typeface="メイリオ"/>
                        </a:rPr>
                        <a:t>連絡網として活用。</a:t>
                      </a:r>
                      <a:endParaRPr lang="en-US" sz="800" b="0" u="none" strike="noStrike">
                        <a:solidFill>
                          <a:srgbClr val="000000"/>
                        </a:solidFill>
                        <a:effectLst/>
                        <a:uFillTx/>
                        <a:latin typeface="メイリオ"/>
                        <a:ea typeface="メイリオ"/>
                        <a:cs typeface="メイリオ"/>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extLst>
                  <a:ext uri="{0D108BD9-81ED-4DB2-BD59-A6C34878D82A}">
                    <a16:rowId xmlns:a16="http://schemas.microsoft.com/office/drawing/2014/main" val="10001"/>
                  </a:ext>
                </a:extLst>
              </a:tr>
              <a:tr h="499320">
                <a:tc vMerge="1">
                  <a:txBody>
                    <a:bodyPr/>
                    <a:lstStyle/>
                    <a:p>
                      <a:endParaRPr lang="en-US" sz="1800" b="0" u="none" strike="noStrike">
                        <a:solidFill>
                          <a:srgbClr val="000000"/>
                        </a:solidFill>
                        <a:effectLst/>
                        <a:uFillTx/>
                        <a:latin typeface="メイリオ"/>
                        <a:ea typeface="メイリオ"/>
                        <a:cs typeface="メイリオ"/>
                      </a:endParaRPr>
                    </a:p>
                  </a:txBody>
                  <a:tcPr marL="90000" marR="90000">
                    <a:lnL>
                      <a:noFill/>
                    </a:lnL>
                    <a:lnR>
                      <a:noFill/>
                    </a:lnR>
                    <a:lnT>
                      <a:noFill/>
                    </a:lnT>
                    <a:lnB>
                      <a:noFill/>
                    </a:lnB>
                    <a:solidFill>
                      <a:srgbClr val="729FCF"/>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cs typeface="メイリオ"/>
                        </a:rPr>
                        <a:t>日常連絡の絶対的インフラ。</a:t>
                      </a:r>
                      <a:endParaRPr lang="en-US" sz="800" b="0" u="none" strike="noStrike">
                        <a:solidFill>
                          <a:srgbClr val="000000"/>
                        </a:solidFill>
                        <a:effectLst/>
                        <a:uFillTx/>
                        <a:latin typeface="メイリオ"/>
                        <a:ea typeface="メイリオ"/>
                        <a:cs typeface="メイリオ"/>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rgbClr val="FFFF99"/>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cs typeface="メイリオ"/>
                        </a:rPr>
                        <a:t>企業や公式からの連絡は</a:t>
                      </a:r>
                      <a:endParaRPr lang="en-US" sz="800" b="0" u="none" strike="noStrike">
                        <a:solidFill>
                          <a:srgbClr val="000000"/>
                        </a:solidFill>
                        <a:effectLst/>
                        <a:uFillTx/>
                        <a:latin typeface="メイリオ"/>
                        <a:ea typeface="メイリオ"/>
                        <a:cs typeface="メイリオ"/>
                      </a:endParaRPr>
                    </a:p>
                    <a:p>
                      <a:pPr algn="ctr" defTabSz="914400">
                        <a:lnSpc>
                          <a:spcPct val="100000"/>
                        </a:lnSpc>
                      </a:pPr>
                      <a:r>
                        <a:rPr lang="ja-JP" sz="800" b="0" u="none" strike="noStrike">
                          <a:solidFill>
                            <a:srgbClr val="000000"/>
                          </a:solidFill>
                          <a:effectLst/>
                          <a:uFillTx/>
                          <a:latin typeface="メイリオ"/>
                          <a:ea typeface="メイリオ"/>
                          <a:cs typeface="メイリオ"/>
                        </a:rPr>
                        <a:t>読まれない傾向。</a:t>
                      </a:r>
                      <a:endParaRPr lang="en-US" sz="800" b="0" u="none" strike="noStrike">
                        <a:solidFill>
                          <a:srgbClr val="000000"/>
                        </a:solidFill>
                        <a:effectLst/>
                        <a:uFillTx/>
                        <a:latin typeface="メイリオ"/>
                        <a:ea typeface="メイリオ"/>
                        <a:cs typeface="メイリオ"/>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cs typeface="メイリオ"/>
                        </a:rPr>
                        <a:t>「電話恐怖症」を持つ人も。</a:t>
                      </a:r>
                      <a:endParaRPr lang="en-US" sz="800" b="0" u="none" strike="noStrike">
                        <a:solidFill>
                          <a:srgbClr val="000000"/>
                        </a:solidFill>
                        <a:effectLst/>
                        <a:uFillTx/>
                        <a:latin typeface="メイリオ"/>
                        <a:ea typeface="メイリオ"/>
                        <a:cs typeface="メイリオ"/>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vMerge="1">
                  <a:txBody>
                    <a:bodyPr/>
                    <a:lstStyle/>
                    <a:p>
                      <a:endParaRPr lang="en-US" sz="1800" b="0" u="none" strike="noStrike">
                        <a:solidFill>
                          <a:srgbClr val="000000"/>
                        </a:solidFill>
                        <a:effectLst/>
                        <a:uFillTx/>
                        <a:latin typeface="メイリオ"/>
                        <a:ea typeface="メイリオ"/>
                        <a:cs typeface="メイリオ"/>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2"/>
                  </a:ext>
                </a:extLst>
              </a:tr>
              <a:tr h="499320">
                <a:tc rowSpan="2">
                  <a:txBody>
                    <a:bodyPr/>
                    <a:lstStyle/>
                    <a:p>
                      <a:pPr defTabSz="914400">
                        <a:lnSpc>
                          <a:spcPct val="100000"/>
                        </a:lnSpc>
                      </a:pPr>
                      <a:r>
                        <a:rPr lang="ja-JP" sz="1050" b="1" u="none" strike="noStrike">
                          <a:solidFill>
                            <a:srgbClr val="000000"/>
                          </a:solidFill>
                          <a:effectLst/>
                          <a:uFillTx/>
                          <a:latin typeface="メイリオ"/>
                          <a:ea typeface="メイリオ"/>
                          <a:cs typeface="メイリオ"/>
                        </a:rPr>
                        <a:t>　　　</a:t>
                      </a:r>
                      <a:r>
                        <a:rPr lang="en-US" sz="1050" b="1" u="none" strike="noStrike">
                          <a:solidFill>
                            <a:srgbClr val="000000"/>
                          </a:solidFill>
                          <a:effectLst/>
                          <a:uFillTx/>
                          <a:latin typeface="メイリオ"/>
                          <a:ea typeface="メイリオ"/>
                          <a:cs typeface="メイリオ"/>
                        </a:rPr>
                        <a:t>30</a:t>
                      </a:r>
                      <a:r>
                        <a:rPr lang="ja-JP" sz="1050" b="1" u="none" strike="noStrike">
                          <a:solidFill>
                            <a:srgbClr val="000000"/>
                          </a:solidFill>
                          <a:effectLst/>
                          <a:uFillTx/>
                          <a:latin typeface="メイリオ"/>
                          <a:ea typeface="メイリオ"/>
                          <a:cs typeface="メイリオ"/>
                        </a:rPr>
                        <a:t>代〜</a:t>
                      </a:r>
                      <a:r>
                        <a:rPr lang="en-US" sz="1050" b="1" u="none" strike="noStrike">
                          <a:solidFill>
                            <a:srgbClr val="000000"/>
                          </a:solidFill>
                          <a:effectLst/>
                          <a:uFillTx/>
                          <a:latin typeface="メイリオ"/>
                          <a:ea typeface="メイリオ"/>
                          <a:cs typeface="メイリオ"/>
                        </a:rPr>
                        <a:t>40</a:t>
                      </a:r>
                      <a:r>
                        <a:rPr lang="ja-JP" sz="1050" b="1" u="none" strike="noStrike">
                          <a:solidFill>
                            <a:srgbClr val="000000"/>
                          </a:solidFill>
                          <a:effectLst/>
                          <a:uFillTx/>
                          <a:latin typeface="メイリオ"/>
                          <a:ea typeface="メイリオ"/>
                          <a:cs typeface="メイリオ"/>
                        </a:rPr>
                        <a:t>代</a:t>
                      </a:r>
                      <a:endParaRPr lang="en-US" sz="1050" b="0" u="none" strike="noStrike">
                        <a:solidFill>
                          <a:srgbClr val="000000"/>
                        </a:solidFill>
                        <a:effectLst/>
                        <a:uFillTx/>
                        <a:latin typeface="メイリオ"/>
                        <a:ea typeface="メイリオ"/>
                        <a:cs typeface="メイリオ"/>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cs typeface="メイリオ"/>
                        </a:rPr>
                        <a:t>利用率：</a:t>
                      </a:r>
                      <a:r>
                        <a:rPr lang="en-US" sz="1000" b="1" u="none" strike="noStrike">
                          <a:solidFill>
                            <a:srgbClr val="000000"/>
                          </a:solidFill>
                          <a:effectLst/>
                          <a:uFillTx/>
                          <a:latin typeface="メイリオ"/>
                          <a:ea typeface="メイリオ"/>
                          <a:cs typeface="メイリオ"/>
                        </a:rPr>
                        <a:t>90%</a:t>
                      </a:r>
                      <a:r>
                        <a:rPr lang="ja-JP" sz="1000" b="1" u="none" strike="noStrike">
                          <a:solidFill>
                            <a:srgbClr val="000000"/>
                          </a:solidFill>
                          <a:effectLst/>
                          <a:uFillTx/>
                          <a:latin typeface="メイリオ"/>
                          <a:ea typeface="メイリオ"/>
                          <a:cs typeface="メイリオ"/>
                        </a:rPr>
                        <a:t>以上</a:t>
                      </a:r>
                      <a:endParaRPr lang="en-US" sz="1000" b="0" u="none" strike="noStrike">
                        <a:solidFill>
                          <a:srgbClr val="000000"/>
                        </a:solidFill>
                        <a:effectLst/>
                        <a:uFillTx/>
                        <a:latin typeface="メイリオ"/>
                        <a:ea typeface="メイリオ"/>
                        <a:cs typeface="メイリオ"/>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rgbClr val="FFFF99"/>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cs typeface="メイリオ"/>
                        </a:rPr>
                        <a:t>利用率：中〜高</a:t>
                      </a:r>
                      <a:endParaRPr lang="en-US" sz="1000" b="0" u="none" strike="noStrike">
                        <a:solidFill>
                          <a:srgbClr val="000000"/>
                        </a:solidFill>
                        <a:effectLst/>
                        <a:uFillTx/>
                        <a:latin typeface="メイリオ"/>
                        <a:ea typeface="メイリオ"/>
                        <a:cs typeface="メイリオ"/>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cs typeface="メイリオ"/>
                        </a:rPr>
                        <a:t>利用率：中</a:t>
                      </a:r>
                      <a:endParaRPr lang="en-US" sz="1000" b="0" u="none" strike="noStrike">
                        <a:solidFill>
                          <a:srgbClr val="000000"/>
                        </a:solidFill>
                        <a:effectLst/>
                        <a:uFillTx/>
                        <a:latin typeface="メイリオ"/>
                        <a:ea typeface="メイリオ"/>
                        <a:cs typeface="メイリオ"/>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rowSpan="2">
                  <a:txBody>
                    <a:bodyPr/>
                    <a:lstStyle/>
                    <a:p>
                      <a:pPr algn="ctr" defTabSz="914400">
                        <a:lnSpc>
                          <a:spcPct val="100000"/>
                        </a:lnSpc>
                      </a:pPr>
                      <a:r>
                        <a:rPr lang="en-US" sz="800" b="0" u="none" strike="noStrike">
                          <a:solidFill>
                            <a:srgbClr val="000000"/>
                          </a:solidFill>
                          <a:effectLst/>
                          <a:uFillTx/>
                          <a:latin typeface="メイリオ"/>
                          <a:ea typeface="メイリオ"/>
                          <a:cs typeface="メイリオ"/>
                        </a:rPr>
                        <a:t>Facebook</a:t>
                      </a:r>
                      <a:r>
                        <a:rPr lang="ja-JP" sz="800" b="0" u="none" strike="noStrike">
                          <a:solidFill>
                            <a:srgbClr val="000000"/>
                          </a:solidFill>
                          <a:effectLst/>
                          <a:uFillTx/>
                          <a:latin typeface="メイリオ"/>
                          <a:ea typeface="メイリオ"/>
                          <a:cs typeface="メイリオ"/>
                        </a:rPr>
                        <a:t>や</a:t>
                      </a:r>
                      <a:r>
                        <a:rPr lang="en-US" sz="800" b="0" u="none" strike="noStrike">
                          <a:solidFill>
                            <a:srgbClr val="000000"/>
                          </a:solidFill>
                          <a:effectLst/>
                          <a:uFillTx/>
                          <a:latin typeface="メイリオ"/>
                          <a:ea typeface="メイリオ"/>
                          <a:cs typeface="メイリオ"/>
                        </a:rPr>
                        <a:t>X</a:t>
                      </a:r>
                      <a:r>
                        <a:rPr lang="ja-JP" sz="800" b="0" u="none" strike="noStrike">
                          <a:solidFill>
                            <a:srgbClr val="000000"/>
                          </a:solidFill>
                          <a:effectLst/>
                          <a:uFillTx/>
                          <a:latin typeface="メイリオ"/>
                          <a:ea typeface="メイリオ"/>
                          <a:cs typeface="メイリオ"/>
                        </a:rPr>
                        <a:t>での情報収集が活発。</a:t>
                      </a:r>
                      <a:endParaRPr lang="en-US" sz="800" b="0" u="none" strike="noStrike">
                        <a:solidFill>
                          <a:srgbClr val="000000"/>
                        </a:solidFill>
                        <a:effectLst/>
                        <a:uFillTx/>
                        <a:latin typeface="メイリオ"/>
                        <a:ea typeface="メイリオ"/>
                        <a:cs typeface="メイリオ"/>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extLst>
                  <a:ext uri="{0D108BD9-81ED-4DB2-BD59-A6C34878D82A}">
                    <a16:rowId xmlns:a16="http://schemas.microsoft.com/office/drawing/2014/main" val="10003"/>
                  </a:ext>
                </a:extLst>
              </a:tr>
              <a:tr h="499320">
                <a:tc vMerge="1">
                  <a:txBody>
                    <a:bodyPr/>
                    <a:lstStyle/>
                    <a:p>
                      <a:endParaRPr lang="en-US" sz="1800" b="0" u="none" strike="noStrike">
                        <a:solidFill>
                          <a:srgbClr val="000000"/>
                        </a:solidFill>
                        <a:effectLst/>
                        <a:uFillTx/>
                        <a:latin typeface="メイリオ"/>
                        <a:ea typeface="メイリオ"/>
                        <a:cs typeface="メイリオ"/>
                      </a:endParaRPr>
                    </a:p>
                  </a:txBody>
                  <a:tcPr marL="90000" marR="90000">
                    <a:lnL>
                      <a:noFill/>
                    </a:lnL>
                    <a:lnR>
                      <a:noFill/>
                    </a:lnR>
                    <a:lnT>
                      <a:noFill/>
                    </a:lnT>
                    <a:lnB>
                      <a:noFill/>
                    </a:lnB>
                    <a:solidFill>
                      <a:srgbClr val="729FCF"/>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cs typeface="メイリオ"/>
                        </a:rPr>
                        <a:t>プライベートの連絡網。</a:t>
                      </a:r>
                      <a:endParaRPr lang="en-US" sz="800" b="0" u="none" strike="noStrike">
                        <a:solidFill>
                          <a:srgbClr val="000000"/>
                        </a:solidFill>
                        <a:effectLst/>
                        <a:uFillTx/>
                        <a:latin typeface="メイリオ"/>
                        <a:ea typeface="メイリオ"/>
                        <a:cs typeface="メイリオ"/>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rgbClr val="FFFF99"/>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cs typeface="メイリオ"/>
                        </a:rPr>
                        <a:t>仕事や、メルマガでの</a:t>
                      </a:r>
                      <a:endParaRPr lang="en-US" sz="800" b="0" u="none" strike="noStrike">
                        <a:solidFill>
                          <a:srgbClr val="000000"/>
                        </a:solidFill>
                        <a:effectLst/>
                        <a:uFillTx/>
                        <a:latin typeface="メイリオ"/>
                        <a:ea typeface="メイリオ"/>
                        <a:cs typeface="メイリオ"/>
                      </a:endParaRPr>
                    </a:p>
                    <a:p>
                      <a:pPr algn="ctr" defTabSz="914400">
                        <a:lnSpc>
                          <a:spcPct val="100000"/>
                        </a:lnSpc>
                      </a:pPr>
                      <a:r>
                        <a:rPr lang="ja-JP" sz="800" b="0" u="none" strike="noStrike">
                          <a:solidFill>
                            <a:srgbClr val="000000"/>
                          </a:solidFill>
                          <a:effectLst/>
                          <a:uFillTx/>
                          <a:latin typeface="メイリオ"/>
                          <a:ea typeface="メイリオ"/>
                          <a:cs typeface="メイリオ"/>
                        </a:rPr>
                        <a:t>セールス情報に抵抗なし。</a:t>
                      </a:r>
                      <a:endParaRPr lang="en-US" sz="800" b="0" u="none" strike="noStrike">
                        <a:solidFill>
                          <a:srgbClr val="000000"/>
                        </a:solidFill>
                        <a:effectLst/>
                        <a:uFillTx/>
                        <a:latin typeface="メイリオ"/>
                        <a:ea typeface="メイリオ"/>
                        <a:cs typeface="メイリオ"/>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cs typeface="メイリオ"/>
                        </a:rPr>
                        <a:t>プライベートでは減少傾向も</a:t>
                      </a:r>
                      <a:endParaRPr lang="en-US" sz="800" b="0" u="none" strike="noStrike">
                        <a:solidFill>
                          <a:srgbClr val="000000"/>
                        </a:solidFill>
                        <a:effectLst/>
                        <a:uFillTx/>
                        <a:latin typeface="メイリオ"/>
                        <a:ea typeface="メイリオ"/>
                        <a:cs typeface="メイリオ"/>
                      </a:endParaRPr>
                    </a:p>
                    <a:p>
                      <a:pPr algn="ctr" defTabSz="914400">
                        <a:lnSpc>
                          <a:spcPct val="100000"/>
                        </a:lnSpc>
                      </a:pPr>
                      <a:r>
                        <a:rPr lang="ja-JP" sz="800" b="0" u="none" strike="noStrike">
                          <a:solidFill>
                            <a:srgbClr val="000000"/>
                          </a:solidFill>
                          <a:effectLst/>
                          <a:uFillTx/>
                          <a:latin typeface="メイリオ"/>
                          <a:ea typeface="メイリオ"/>
                          <a:cs typeface="メイリオ"/>
                        </a:rPr>
                        <a:t>仕事では必須。</a:t>
                      </a:r>
                      <a:endParaRPr lang="en-US" sz="800" b="0" u="none" strike="noStrike">
                        <a:solidFill>
                          <a:srgbClr val="000000"/>
                        </a:solidFill>
                        <a:effectLst/>
                        <a:uFillTx/>
                        <a:latin typeface="メイリオ"/>
                        <a:ea typeface="メイリオ"/>
                        <a:cs typeface="メイリオ"/>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vMerge="1">
                  <a:txBody>
                    <a:bodyPr/>
                    <a:lstStyle/>
                    <a:p>
                      <a:endParaRPr lang="en-US" sz="1800" b="0" u="none" strike="noStrike">
                        <a:solidFill>
                          <a:srgbClr val="000000"/>
                        </a:solidFill>
                        <a:effectLst/>
                        <a:uFillTx/>
                        <a:latin typeface="メイリオ"/>
                        <a:ea typeface="メイリオ"/>
                        <a:cs typeface="メイリオ"/>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4"/>
                  </a:ext>
                </a:extLst>
              </a:tr>
              <a:tr h="499320">
                <a:tc rowSpan="2">
                  <a:txBody>
                    <a:bodyPr/>
                    <a:lstStyle/>
                    <a:p>
                      <a:pPr defTabSz="914400">
                        <a:lnSpc>
                          <a:spcPct val="100000"/>
                        </a:lnSpc>
                      </a:pPr>
                      <a:r>
                        <a:rPr lang="ja-JP" sz="1050" b="1" u="none" strike="noStrike">
                          <a:solidFill>
                            <a:srgbClr val="000000"/>
                          </a:solidFill>
                          <a:effectLst/>
                          <a:uFillTx/>
                          <a:latin typeface="メイリオ"/>
                          <a:ea typeface="メイリオ"/>
                          <a:cs typeface="メイリオ"/>
                        </a:rPr>
                        <a:t>　　　</a:t>
                      </a:r>
                      <a:r>
                        <a:rPr lang="en-US" sz="1050" b="1" u="none" strike="noStrike">
                          <a:solidFill>
                            <a:srgbClr val="000000"/>
                          </a:solidFill>
                          <a:effectLst/>
                          <a:uFillTx/>
                          <a:latin typeface="メイリオ"/>
                          <a:ea typeface="メイリオ"/>
                          <a:cs typeface="メイリオ"/>
                        </a:rPr>
                        <a:t>50</a:t>
                      </a:r>
                      <a:r>
                        <a:rPr lang="ja-JP" sz="1050" b="1" u="none" strike="noStrike">
                          <a:solidFill>
                            <a:srgbClr val="000000"/>
                          </a:solidFill>
                          <a:effectLst/>
                          <a:uFillTx/>
                          <a:latin typeface="メイリオ"/>
                          <a:ea typeface="メイリオ"/>
                          <a:cs typeface="メイリオ"/>
                        </a:rPr>
                        <a:t>代〜</a:t>
                      </a:r>
                      <a:r>
                        <a:rPr lang="en-US" sz="1050" b="1" u="none" strike="noStrike">
                          <a:solidFill>
                            <a:srgbClr val="000000"/>
                          </a:solidFill>
                          <a:effectLst/>
                          <a:uFillTx/>
                          <a:latin typeface="メイリオ"/>
                          <a:ea typeface="メイリオ"/>
                          <a:cs typeface="メイリオ"/>
                        </a:rPr>
                        <a:t>60</a:t>
                      </a:r>
                      <a:r>
                        <a:rPr lang="ja-JP" sz="1050" b="1" u="none" strike="noStrike">
                          <a:solidFill>
                            <a:srgbClr val="000000"/>
                          </a:solidFill>
                          <a:effectLst/>
                          <a:uFillTx/>
                          <a:latin typeface="メイリオ"/>
                          <a:ea typeface="メイリオ"/>
                          <a:cs typeface="メイリオ"/>
                        </a:rPr>
                        <a:t>代</a:t>
                      </a:r>
                      <a:endParaRPr lang="en-US" sz="1050" b="0" u="none" strike="noStrike">
                        <a:solidFill>
                          <a:srgbClr val="000000"/>
                        </a:solidFill>
                        <a:effectLst/>
                        <a:uFillTx/>
                        <a:latin typeface="メイリオ"/>
                        <a:ea typeface="メイリオ"/>
                        <a:cs typeface="メイリオ"/>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cs typeface="メイリオ"/>
                        </a:rPr>
                        <a:t>利用率：</a:t>
                      </a:r>
                      <a:r>
                        <a:rPr lang="en-US" sz="1000" b="1" u="none" strike="noStrike">
                          <a:solidFill>
                            <a:srgbClr val="000000"/>
                          </a:solidFill>
                          <a:effectLst/>
                          <a:uFillTx/>
                          <a:latin typeface="メイリオ"/>
                          <a:ea typeface="メイリオ"/>
                          <a:cs typeface="メイリオ"/>
                        </a:rPr>
                        <a:t>80%</a:t>
                      </a:r>
                      <a:r>
                        <a:rPr lang="ja-JP" sz="1000" b="1" u="none" strike="noStrike">
                          <a:solidFill>
                            <a:srgbClr val="000000"/>
                          </a:solidFill>
                          <a:effectLst/>
                          <a:uFillTx/>
                          <a:latin typeface="メイリオ"/>
                          <a:ea typeface="メイリオ"/>
                          <a:cs typeface="メイリオ"/>
                        </a:rPr>
                        <a:t>〜</a:t>
                      </a:r>
                      <a:r>
                        <a:rPr lang="en-US" sz="1000" b="1" u="none" strike="noStrike">
                          <a:solidFill>
                            <a:srgbClr val="000000"/>
                          </a:solidFill>
                          <a:effectLst/>
                          <a:uFillTx/>
                          <a:latin typeface="メイリオ"/>
                          <a:ea typeface="メイリオ"/>
                          <a:cs typeface="メイリオ"/>
                        </a:rPr>
                        <a:t>90%</a:t>
                      </a:r>
                      <a:endParaRPr lang="en-US" sz="1000" b="0" u="none" strike="noStrike">
                        <a:solidFill>
                          <a:srgbClr val="000000"/>
                        </a:solidFill>
                        <a:effectLst/>
                        <a:uFillTx/>
                        <a:latin typeface="メイリオ"/>
                        <a:ea typeface="メイリオ"/>
                        <a:cs typeface="メイリオ"/>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rgbClr val="FFFF99"/>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cs typeface="メイリオ"/>
                        </a:rPr>
                        <a:t>利用率：高い</a:t>
                      </a:r>
                      <a:endParaRPr lang="en-US" sz="1000" b="0" u="none" strike="noStrike">
                        <a:solidFill>
                          <a:srgbClr val="000000"/>
                        </a:solidFill>
                        <a:effectLst/>
                        <a:uFillTx/>
                        <a:latin typeface="メイリオ"/>
                        <a:ea typeface="メイリオ"/>
                        <a:cs typeface="メイリオ"/>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cs typeface="メイリオ"/>
                        </a:rPr>
                        <a:t>利用率：高い</a:t>
                      </a:r>
                      <a:endParaRPr lang="en-US" sz="1000" b="0" u="none" strike="noStrike">
                        <a:solidFill>
                          <a:srgbClr val="000000"/>
                        </a:solidFill>
                        <a:effectLst/>
                        <a:uFillTx/>
                        <a:latin typeface="メイリオ"/>
                        <a:ea typeface="メイリオ"/>
                        <a:cs typeface="メイリオ"/>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rowSpan="2">
                  <a:txBody>
                    <a:bodyPr/>
                    <a:lstStyle/>
                    <a:p>
                      <a:pPr algn="ctr" defTabSz="914400">
                        <a:lnSpc>
                          <a:spcPct val="100000"/>
                        </a:lnSpc>
                      </a:pPr>
                      <a:r>
                        <a:rPr lang="en-US" sz="800" b="0" u="none" strike="noStrike">
                          <a:solidFill>
                            <a:srgbClr val="000000"/>
                          </a:solidFill>
                          <a:effectLst/>
                          <a:uFillTx/>
                          <a:latin typeface="メイリオ"/>
                          <a:ea typeface="メイリオ"/>
                          <a:cs typeface="メイリオ"/>
                        </a:rPr>
                        <a:t>YouTube</a:t>
                      </a:r>
                      <a:r>
                        <a:rPr lang="ja-JP" sz="800" b="0" u="none" strike="noStrike">
                          <a:solidFill>
                            <a:srgbClr val="000000"/>
                          </a:solidFill>
                          <a:effectLst/>
                          <a:uFillTx/>
                          <a:latin typeface="メイリオ"/>
                          <a:ea typeface="メイリオ"/>
                          <a:cs typeface="メイリオ"/>
                        </a:rPr>
                        <a:t>での趣味動画視聴も普及。</a:t>
                      </a:r>
                      <a:endParaRPr lang="en-US" sz="800" b="0" u="none" strike="noStrike">
                        <a:solidFill>
                          <a:srgbClr val="000000"/>
                        </a:solidFill>
                        <a:effectLst/>
                        <a:uFillTx/>
                        <a:latin typeface="メイリオ"/>
                        <a:ea typeface="メイリオ"/>
                        <a:cs typeface="メイリオ"/>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extLst>
                  <a:ext uri="{0D108BD9-81ED-4DB2-BD59-A6C34878D82A}">
                    <a16:rowId xmlns:a16="http://schemas.microsoft.com/office/drawing/2014/main" val="10005"/>
                  </a:ext>
                </a:extLst>
              </a:tr>
              <a:tr h="499320">
                <a:tc vMerge="1">
                  <a:txBody>
                    <a:bodyPr/>
                    <a:lstStyle/>
                    <a:p>
                      <a:endParaRPr lang="en-US" sz="1800" b="0" u="none" strike="noStrike">
                        <a:solidFill>
                          <a:srgbClr val="000000"/>
                        </a:solidFill>
                        <a:effectLst/>
                        <a:uFillTx/>
                        <a:latin typeface="メイリオ"/>
                        <a:ea typeface="メイリオ"/>
                        <a:cs typeface="メイリオ"/>
                      </a:endParaRPr>
                    </a:p>
                  </a:txBody>
                  <a:tcPr marL="90000" marR="90000">
                    <a:lnL>
                      <a:noFill/>
                    </a:lnL>
                    <a:lnR>
                      <a:noFill/>
                    </a:lnR>
                    <a:lnT>
                      <a:noFill/>
                    </a:lnT>
                    <a:lnB>
                      <a:noFill/>
                    </a:lnB>
                    <a:solidFill>
                      <a:srgbClr val="729FCF"/>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cs typeface="メイリオ"/>
                        </a:rPr>
                        <a:t>家族や友人との連絡で定着。</a:t>
                      </a:r>
                      <a:endParaRPr lang="en-US" sz="800" b="0" u="none" strike="noStrike">
                        <a:solidFill>
                          <a:srgbClr val="000000"/>
                        </a:solidFill>
                        <a:effectLst/>
                        <a:uFillTx/>
                        <a:latin typeface="メイリオ"/>
                        <a:ea typeface="メイリオ"/>
                        <a:cs typeface="メイリオ"/>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rgbClr val="FFFF99"/>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cs typeface="メイリオ"/>
                        </a:rPr>
                        <a:t>最も好まれる企業からの</a:t>
                      </a:r>
                      <a:endParaRPr lang="en-US" sz="800" b="0" u="none" strike="noStrike">
                        <a:solidFill>
                          <a:srgbClr val="000000"/>
                        </a:solidFill>
                        <a:effectLst/>
                        <a:uFillTx/>
                        <a:latin typeface="メイリオ"/>
                        <a:ea typeface="メイリオ"/>
                        <a:cs typeface="メイリオ"/>
                      </a:endParaRPr>
                    </a:p>
                    <a:p>
                      <a:pPr algn="ctr" defTabSz="914400">
                        <a:lnSpc>
                          <a:spcPct val="100000"/>
                        </a:lnSpc>
                      </a:pPr>
                      <a:r>
                        <a:rPr lang="ja-JP" sz="800" b="0" u="none" strike="noStrike">
                          <a:solidFill>
                            <a:srgbClr val="000000"/>
                          </a:solidFill>
                          <a:effectLst/>
                          <a:uFillTx/>
                          <a:latin typeface="メイリオ"/>
                          <a:ea typeface="メイリオ"/>
                          <a:cs typeface="メイリオ"/>
                        </a:rPr>
                        <a:t>情報受取ツール。</a:t>
                      </a:r>
                      <a:endParaRPr lang="en-US" sz="800" b="0" u="none" strike="noStrike">
                        <a:solidFill>
                          <a:srgbClr val="000000"/>
                        </a:solidFill>
                        <a:effectLst/>
                        <a:uFillTx/>
                        <a:latin typeface="メイリオ"/>
                        <a:ea typeface="メイリオ"/>
                        <a:cs typeface="メイリオ"/>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cs typeface="メイリオ"/>
                        </a:rPr>
                        <a:t>予約や急ぎの用件で信頼性が高い。</a:t>
                      </a:r>
                      <a:endParaRPr lang="en-US" sz="800" b="0" u="none" strike="noStrike">
                        <a:solidFill>
                          <a:srgbClr val="000000"/>
                        </a:solidFill>
                        <a:effectLst/>
                        <a:uFillTx/>
                        <a:latin typeface="メイリオ"/>
                        <a:ea typeface="メイリオ"/>
                        <a:cs typeface="メイリオ"/>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vMerge="1">
                  <a:txBody>
                    <a:bodyPr/>
                    <a:lstStyle/>
                    <a:p>
                      <a:endParaRPr lang="en-US" sz="1800" b="0" u="none" strike="noStrike">
                        <a:solidFill>
                          <a:srgbClr val="000000"/>
                        </a:solidFill>
                        <a:effectLst/>
                        <a:uFillTx/>
                        <a:latin typeface="メイリオ"/>
                        <a:ea typeface="メイリオ"/>
                        <a:cs typeface="メイリオ"/>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6"/>
                  </a:ext>
                </a:extLst>
              </a:tr>
              <a:tr h="499320">
                <a:tc rowSpan="2">
                  <a:txBody>
                    <a:bodyPr/>
                    <a:lstStyle/>
                    <a:p>
                      <a:pPr algn="ctr" defTabSz="914400">
                        <a:lnSpc>
                          <a:spcPct val="100000"/>
                        </a:lnSpc>
                      </a:pPr>
                      <a:r>
                        <a:rPr lang="en-US" sz="1050" b="1" u="none" strike="noStrike">
                          <a:solidFill>
                            <a:srgbClr val="000000"/>
                          </a:solidFill>
                          <a:effectLst/>
                          <a:uFillTx/>
                          <a:latin typeface="メイリオ"/>
                          <a:ea typeface="メイリオ"/>
                          <a:cs typeface="メイリオ"/>
                        </a:rPr>
                        <a:t>70</a:t>
                      </a:r>
                      <a:r>
                        <a:rPr lang="ja-JP" sz="1050" b="1" u="none" strike="noStrike">
                          <a:solidFill>
                            <a:srgbClr val="000000"/>
                          </a:solidFill>
                          <a:effectLst/>
                          <a:uFillTx/>
                          <a:latin typeface="メイリオ"/>
                          <a:ea typeface="メイリオ"/>
                          <a:cs typeface="メイリオ"/>
                        </a:rPr>
                        <a:t>代以上</a:t>
                      </a:r>
                      <a:endParaRPr lang="en-US" sz="1050" b="0" u="none" strike="noStrike">
                        <a:solidFill>
                          <a:srgbClr val="000000"/>
                        </a:solidFill>
                        <a:effectLst/>
                        <a:uFillTx/>
                        <a:latin typeface="メイリオ"/>
                        <a:ea typeface="メイリオ"/>
                        <a:cs typeface="メイリオ"/>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cs typeface="メイリオ"/>
                        </a:rPr>
                        <a:t>利用率：</a:t>
                      </a:r>
                      <a:r>
                        <a:rPr lang="en-US" sz="1000" b="1" u="none" strike="noStrike">
                          <a:solidFill>
                            <a:srgbClr val="000000"/>
                          </a:solidFill>
                          <a:effectLst/>
                          <a:uFillTx/>
                          <a:latin typeface="メイリオ"/>
                          <a:ea typeface="メイリオ"/>
                          <a:cs typeface="メイリオ"/>
                        </a:rPr>
                        <a:t>70%</a:t>
                      </a:r>
                      <a:r>
                        <a:rPr lang="ja-JP" sz="1000" b="1" u="none" strike="noStrike">
                          <a:solidFill>
                            <a:srgbClr val="000000"/>
                          </a:solidFill>
                          <a:effectLst/>
                          <a:uFillTx/>
                          <a:latin typeface="メイリオ"/>
                          <a:ea typeface="メイリオ"/>
                          <a:cs typeface="メイリオ"/>
                        </a:rPr>
                        <a:t>前後</a:t>
                      </a:r>
                      <a:endParaRPr lang="en-US" sz="1000" b="0" u="none" strike="noStrike">
                        <a:solidFill>
                          <a:srgbClr val="000000"/>
                        </a:solidFill>
                        <a:effectLst/>
                        <a:uFillTx/>
                        <a:latin typeface="メイリオ"/>
                        <a:ea typeface="メイリオ"/>
                        <a:cs typeface="メイリオ"/>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rgbClr val="FFFF99"/>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cs typeface="メイリオ"/>
                        </a:rPr>
                        <a:t>利用率：低い</a:t>
                      </a:r>
                      <a:endParaRPr lang="en-US" sz="1000" b="0" u="none" strike="noStrike">
                        <a:solidFill>
                          <a:srgbClr val="000000"/>
                        </a:solidFill>
                        <a:effectLst/>
                        <a:uFillTx/>
                        <a:latin typeface="メイリオ"/>
                        <a:ea typeface="メイリオ"/>
                        <a:cs typeface="メイリオ"/>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cs typeface="メイリオ"/>
                        </a:rPr>
                        <a:t>利用率：最も高い</a:t>
                      </a:r>
                      <a:endParaRPr lang="en-US" sz="1000" b="0" u="none" strike="noStrike">
                        <a:solidFill>
                          <a:srgbClr val="000000"/>
                        </a:solidFill>
                        <a:effectLst/>
                        <a:uFillTx/>
                        <a:latin typeface="メイリオ"/>
                        <a:ea typeface="メイリオ"/>
                        <a:cs typeface="メイリオ"/>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rowSpan="2">
                  <a:txBody>
                    <a:bodyPr/>
                    <a:lstStyle/>
                    <a:p>
                      <a:pPr algn="ctr" defTabSz="914400">
                        <a:lnSpc>
                          <a:spcPct val="100000"/>
                        </a:lnSpc>
                      </a:pPr>
                      <a:r>
                        <a:rPr lang="ja-JP" sz="800" b="0" u="none" strike="noStrike">
                          <a:solidFill>
                            <a:srgbClr val="000000"/>
                          </a:solidFill>
                          <a:effectLst/>
                          <a:uFillTx/>
                          <a:latin typeface="メイリオ"/>
                          <a:ea typeface="メイリオ"/>
                          <a:cs typeface="メイリオ"/>
                        </a:rPr>
                        <a:t>連絡手段としての電話が</a:t>
                      </a:r>
                      <a:endParaRPr lang="en-US" sz="800" b="0" u="none" strike="noStrike">
                        <a:solidFill>
                          <a:srgbClr val="000000"/>
                        </a:solidFill>
                        <a:effectLst/>
                        <a:uFillTx/>
                        <a:latin typeface="メイリオ"/>
                        <a:ea typeface="メイリオ"/>
                        <a:cs typeface="メイリオ"/>
                      </a:endParaRPr>
                    </a:p>
                    <a:p>
                      <a:pPr algn="ctr" defTabSz="914400">
                        <a:lnSpc>
                          <a:spcPct val="100000"/>
                        </a:lnSpc>
                      </a:pPr>
                      <a:r>
                        <a:rPr lang="ja-JP" sz="800" b="0" u="none" strike="noStrike">
                          <a:solidFill>
                            <a:srgbClr val="000000"/>
                          </a:solidFill>
                          <a:effectLst/>
                          <a:uFillTx/>
                          <a:latin typeface="メイリオ"/>
                          <a:ea typeface="メイリオ"/>
                          <a:cs typeface="メイリオ"/>
                        </a:rPr>
                        <a:t>最優先される層。</a:t>
                      </a:r>
                      <a:endParaRPr lang="en-US" sz="800" b="0" u="none" strike="noStrike">
                        <a:solidFill>
                          <a:srgbClr val="000000"/>
                        </a:solidFill>
                        <a:effectLst/>
                        <a:uFillTx/>
                        <a:latin typeface="メイリオ"/>
                        <a:ea typeface="メイリオ"/>
                        <a:cs typeface="メイリオ"/>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extLst>
                  <a:ext uri="{0D108BD9-81ED-4DB2-BD59-A6C34878D82A}">
                    <a16:rowId xmlns:a16="http://schemas.microsoft.com/office/drawing/2014/main" val="10007"/>
                  </a:ext>
                </a:extLst>
              </a:tr>
              <a:tr h="499320">
                <a:tc vMerge="1">
                  <a:txBody>
                    <a:bodyPr/>
                    <a:lstStyle/>
                    <a:p>
                      <a:endParaRPr lang="en-US" sz="1800" b="0" u="none" strike="noStrike">
                        <a:solidFill>
                          <a:srgbClr val="000000"/>
                        </a:solidFill>
                        <a:effectLst/>
                        <a:uFillTx/>
                        <a:latin typeface="メイリオ"/>
                        <a:ea typeface="メイリオ"/>
                        <a:cs typeface="メイリオ"/>
                      </a:endParaRPr>
                    </a:p>
                  </a:txBody>
                  <a:tcPr marL="90000" marR="90000">
                    <a:lnL>
                      <a:noFill/>
                    </a:lnL>
                    <a:lnR>
                      <a:noFill/>
                    </a:lnR>
                    <a:lnT>
                      <a:noFill/>
                    </a:lnT>
                    <a:lnB>
                      <a:noFill/>
                    </a:lnB>
                    <a:solidFill>
                      <a:srgbClr val="729FCF"/>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cs typeface="メイリオ"/>
                        </a:rPr>
                        <a:t>高齢者層にも普及が進む。</a:t>
                      </a:r>
                      <a:endParaRPr lang="en-US" sz="800" b="0" u="none" strike="noStrike">
                        <a:solidFill>
                          <a:srgbClr val="000000"/>
                        </a:solidFill>
                        <a:effectLst/>
                        <a:uFillTx/>
                        <a:latin typeface="メイリオ"/>
                        <a:ea typeface="メイリオ"/>
                        <a:cs typeface="メイリオ"/>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rgbClr val="FFFF99"/>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cs typeface="メイリオ"/>
                        </a:rPr>
                        <a:t>操作に不慣れで到達率が下がる。</a:t>
                      </a:r>
                      <a:endParaRPr lang="en-US" sz="800" b="0" u="none" strike="noStrike">
                        <a:solidFill>
                          <a:srgbClr val="000000"/>
                        </a:solidFill>
                        <a:effectLst/>
                        <a:uFillTx/>
                        <a:latin typeface="メイリオ"/>
                        <a:ea typeface="メイリオ"/>
                        <a:cs typeface="メイリオ"/>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cs typeface="メイリオ"/>
                        </a:rPr>
                        <a:t>重要な連絡や問い合わせは</a:t>
                      </a:r>
                      <a:endParaRPr lang="en-US" sz="800" b="0" u="none" strike="noStrike">
                        <a:solidFill>
                          <a:srgbClr val="000000"/>
                        </a:solidFill>
                        <a:effectLst/>
                        <a:uFillTx/>
                        <a:latin typeface="メイリオ"/>
                        <a:ea typeface="メイリオ"/>
                        <a:cs typeface="メイリオ"/>
                      </a:endParaRPr>
                    </a:p>
                    <a:p>
                      <a:pPr algn="ctr" defTabSz="914400">
                        <a:lnSpc>
                          <a:spcPct val="100000"/>
                        </a:lnSpc>
                      </a:pPr>
                      <a:r>
                        <a:rPr lang="ja-JP" sz="800" b="0" u="none" strike="noStrike">
                          <a:solidFill>
                            <a:srgbClr val="000000"/>
                          </a:solidFill>
                          <a:effectLst/>
                          <a:uFillTx/>
                          <a:latin typeface="メイリオ"/>
                          <a:ea typeface="メイリオ"/>
                          <a:cs typeface="メイリオ"/>
                        </a:rPr>
                        <a:t>電話がメイン。</a:t>
                      </a:r>
                      <a:endParaRPr lang="en-US" sz="800" b="0" u="none" strike="noStrike">
                        <a:solidFill>
                          <a:srgbClr val="000000"/>
                        </a:solidFill>
                        <a:effectLst/>
                        <a:uFillTx/>
                        <a:latin typeface="メイリオ"/>
                        <a:ea typeface="メイリオ"/>
                        <a:cs typeface="メイリオ"/>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vMerge="1">
                  <a:txBody>
                    <a:bodyPr/>
                    <a:lstStyle/>
                    <a:p>
                      <a:endParaRPr lang="en-US" sz="1800" b="0" u="none" strike="noStrike">
                        <a:solidFill>
                          <a:srgbClr val="000000"/>
                        </a:solidFill>
                        <a:effectLst/>
                        <a:uFillTx/>
                        <a:latin typeface="メイリオ"/>
                        <a:ea typeface="メイリオ"/>
                        <a:cs typeface="メイリオ"/>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6"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en-US" sz="1600" b="1" u="none" strike="noStrike">
                <a:solidFill>
                  <a:srgbClr val="002060"/>
                </a:solidFill>
                <a:effectLst/>
                <a:uFillTx/>
                <a:latin typeface="メイリオ"/>
                <a:ea typeface="メイリオ"/>
                <a:cs typeface="メイリオ"/>
              </a:rPr>
              <a:t>LINE</a:t>
            </a:r>
            <a:r>
              <a:rPr lang="ja-JP" sz="1600" b="1" u="none" strike="noStrike">
                <a:solidFill>
                  <a:srgbClr val="002060"/>
                </a:solidFill>
                <a:effectLst/>
                <a:uFillTx/>
                <a:latin typeface="メイリオ"/>
                <a:ea typeface="メイリオ"/>
                <a:cs typeface="メイリオ"/>
              </a:rPr>
              <a:t>公式アカウントを検討する背景</a:t>
            </a:r>
            <a:endParaRPr lang="en-US" sz="1600" b="0" u="none" strike="noStrike">
              <a:solidFill>
                <a:srgbClr val="000000"/>
              </a:solidFill>
              <a:effectLst/>
              <a:uFillTx/>
              <a:latin typeface="メイリオ"/>
              <a:ea typeface="メイリオ"/>
              <a:cs typeface="メイリオ"/>
            </a:endParaRPr>
          </a:p>
        </p:txBody>
      </p:sp>
      <p:sp>
        <p:nvSpPr>
          <p:cNvPr id="877" name="Google Shape;752;p28"/>
          <p:cNvSpPr/>
          <p:nvPr/>
        </p:nvSpPr>
        <p:spPr>
          <a:xfrm>
            <a:off x="711360" y="969480"/>
            <a:ext cx="8353440" cy="52272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algn="ctr" defTabSz="914400">
              <a:lnSpc>
                <a:spcPct val="100000"/>
              </a:lnSpc>
            </a:pPr>
            <a:r>
              <a:rPr lang="en-US" sz="1400" b="0" u="none" strike="noStrike">
                <a:solidFill>
                  <a:schemeClr val="dk1"/>
                </a:solidFill>
                <a:effectLst/>
                <a:uFillTx/>
                <a:latin typeface="メイリオ"/>
                <a:ea typeface="メイリオ"/>
                <a:cs typeface="メイリオ"/>
              </a:rPr>
              <a:t>LINE</a:t>
            </a:r>
            <a:r>
              <a:rPr lang="ja-JP" sz="1400" b="0" u="none" strike="noStrike">
                <a:solidFill>
                  <a:schemeClr val="dk1"/>
                </a:solidFill>
                <a:effectLst/>
                <a:uFillTx/>
                <a:latin typeface="メイリオ"/>
                <a:ea typeface="メイリオ"/>
                <a:cs typeface="メイリオ"/>
              </a:rPr>
              <a:t>公式アカウントの施策内（開封率、クリック率、</a:t>
            </a:r>
            <a:r>
              <a:rPr lang="en-US" sz="1400" b="0" u="none" strike="noStrike">
                <a:solidFill>
                  <a:schemeClr val="dk1"/>
                </a:solidFill>
                <a:effectLst/>
                <a:uFillTx/>
                <a:latin typeface="メイリオ"/>
                <a:ea typeface="メイリオ"/>
                <a:cs typeface="メイリオ"/>
              </a:rPr>
              <a:t>CV</a:t>
            </a:r>
            <a:r>
              <a:rPr lang="ja-JP" sz="1400" b="0" u="none" strike="noStrike">
                <a:solidFill>
                  <a:schemeClr val="dk1"/>
                </a:solidFill>
                <a:effectLst/>
                <a:uFillTx/>
                <a:latin typeface="メイリオ"/>
                <a:ea typeface="メイリオ"/>
                <a:cs typeface="メイリオ"/>
              </a:rPr>
              <a:t>率）で高い水準の施策をご提供。</a:t>
            </a:r>
            <a:endParaRPr lang="en-US" sz="1400" b="0" u="none" strike="noStrike">
              <a:solidFill>
                <a:srgbClr val="000000"/>
              </a:solidFill>
              <a:effectLst/>
              <a:uFillTx/>
              <a:latin typeface="メイリオ"/>
              <a:ea typeface="メイリオ"/>
              <a:cs typeface="メイリオ"/>
            </a:endParaRPr>
          </a:p>
          <a:p>
            <a:pPr algn="ctr" defTabSz="914400">
              <a:lnSpc>
                <a:spcPct val="100000"/>
              </a:lnSpc>
            </a:pPr>
            <a:r>
              <a:rPr lang="ja-JP" sz="1400" b="0" u="none" strike="noStrike">
                <a:solidFill>
                  <a:schemeClr val="dk1"/>
                </a:solidFill>
                <a:effectLst/>
                <a:uFillTx/>
                <a:latin typeface="メイリオ"/>
                <a:ea typeface="メイリオ"/>
                <a:cs typeface="メイリオ"/>
              </a:rPr>
              <a:t>初期設計のみのご依頼でも、大きく数値改善できるポイントの導入支援が可能です。</a:t>
            </a:r>
            <a:endParaRPr lang="en-US" sz="1400" b="0" u="none" strike="noStrike">
              <a:solidFill>
                <a:srgbClr val="000000"/>
              </a:solidFill>
              <a:effectLst/>
              <a:uFillTx/>
              <a:latin typeface="メイリオ"/>
              <a:ea typeface="メイリオ"/>
              <a:cs typeface="メイリオ"/>
            </a:endParaRPr>
          </a:p>
        </p:txBody>
      </p:sp>
      <p:sp>
        <p:nvSpPr>
          <p:cNvPr id="878" name="正方形/長方形 4"/>
          <p:cNvSpPr/>
          <p:nvPr/>
        </p:nvSpPr>
        <p:spPr>
          <a:xfrm>
            <a:off x="7833600" y="2844720"/>
            <a:ext cx="1438200" cy="267840"/>
          </a:xfrm>
          <a:prstGeom prst="rect">
            <a:avLst/>
          </a:prstGeom>
          <a:solidFill>
            <a:srgbClr val="FF0000"/>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50" b="1" u="none" strike="noStrike">
                <a:solidFill>
                  <a:schemeClr val="lt1"/>
                </a:solidFill>
                <a:effectLst/>
                <a:uFillTx/>
                <a:latin typeface="メイリオ"/>
                <a:ea typeface="メイリオ"/>
                <a:cs typeface="メイリオ"/>
              </a:rPr>
              <a:t>CV</a:t>
            </a:r>
            <a:endParaRPr lang="en-US" sz="1050" b="0" u="none" strike="noStrike">
              <a:solidFill>
                <a:srgbClr val="FFFFFF"/>
              </a:solidFill>
              <a:effectLst/>
              <a:uFillTx/>
              <a:latin typeface="メイリオ"/>
              <a:ea typeface="メイリオ"/>
              <a:cs typeface="メイリオ"/>
            </a:endParaRPr>
          </a:p>
        </p:txBody>
      </p:sp>
      <p:sp>
        <p:nvSpPr>
          <p:cNvPr id="879" name="正方形/長方形 5"/>
          <p:cNvSpPr/>
          <p:nvPr/>
        </p:nvSpPr>
        <p:spPr>
          <a:xfrm>
            <a:off x="7833600" y="2532960"/>
            <a:ext cx="1438200" cy="267840"/>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cs typeface="メイリオ"/>
              </a:rPr>
              <a:t>営業トスアップ</a:t>
            </a:r>
            <a:endParaRPr lang="en-US" sz="1050" b="0" u="none" strike="noStrike">
              <a:solidFill>
                <a:srgbClr val="000000"/>
              </a:solidFill>
              <a:effectLst/>
              <a:uFillTx/>
              <a:latin typeface="メイリオ"/>
              <a:ea typeface="メイリオ"/>
              <a:cs typeface="メイリオ"/>
            </a:endParaRPr>
          </a:p>
        </p:txBody>
      </p:sp>
      <p:cxnSp>
        <p:nvCxnSpPr>
          <p:cNvPr id="880" name="直線矢印コネクタ 15"/>
          <p:cNvCxnSpPr/>
          <p:nvPr/>
        </p:nvCxnSpPr>
        <p:spPr>
          <a:xfrm>
            <a:off x="387720" y="2801160"/>
            <a:ext cx="7251120" cy="360"/>
          </a:xfrm>
          <a:prstGeom prst="straightConnector1">
            <a:avLst/>
          </a:prstGeom>
          <a:ln w="28575">
            <a:solidFill>
              <a:srgbClr val="1F497D"/>
            </a:solidFill>
            <a:prstDash val="sysDash"/>
            <a:round/>
            <a:tailEnd type="triangle" w="med" len="med"/>
          </a:ln>
        </p:spPr>
      </p:cxnSp>
      <p:sp>
        <p:nvSpPr>
          <p:cNvPr id="881" name="正方形/長方形 20"/>
          <p:cNvSpPr/>
          <p:nvPr/>
        </p:nvSpPr>
        <p:spPr>
          <a:xfrm>
            <a:off x="7663320" y="2057760"/>
            <a:ext cx="1819800" cy="1127880"/>
          </a:xfrm>
          <a:prstGeom prst="rect">
            <a:avLst/>
          </a:prstGeom>
          <a:noFill/>
          <a:ln w="9525">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cs typeface="メイリオ"/>
            </a:endParaRPr>
          </a:p>
        </p:txBody>
      </p:sp>
      <p:sp>
        <p:nvSpPr>
          <p:cNvPr id="882" name="テキスト ボックス 22"/>
          <p:cNvSpPr/>
          <p:nvPr/>
        </p:nvSpPr>
        <p:spPr>
          <a:xfrm>
            <a:off x="8033040" y="2122560"/>
            <a:ext cx="1080000" cy="261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100" b="0" u="none" strike="noStrike">
                <a:solidFill>
                  <a:srgbClr val="FF0000"/>
                </a:solidFill>
                <a:effectLst/>
                <a:uFillTx/>
                <a:latin typeface="メイリオ"/>
                <a:ea typeface="メイリオ"/>
                <a:cs typeface="メイリオ"/>
              </a:rPr>
              <a:t>（成果地点）</a:t>
            </a:r>
            <a:endParaRPr lang="en-US" sz="1100" b="0" u="none" strike="noStrike">
              <a:solidFill>
                <a:srgbClr val="000000"/>
              </a:solidFill>
              <a:effectLst/>
              <a:uFillTx/>
              <a:latin typeface="メイリオ"/>
              <a:ea typeface="メイリオ"/>
              <a:cs typeface="メイリオ"/>
            </a:endParaRPr>
          </a:p>
        </p:txBody>
      </p:sp>
      <p:sp>
        <p:nvSpPr>
          <p:cNvPr id="883" name="正方形/長方形 45"/>
          <p:cNvSpPr/>
          <p:nvPr/>
        </p:nvSpPr>
        <p:spPr>
          <a:xfrm>
            <a:off x="2496240" y="2062800"/>
            <a:ext cx="4887720" cy="2483280"/>
          </a:xfrm>
          <a:prstGeom prst="rect">
            <a:avLst/>
          </a:prstGeom>
          <a:solidFill>
            <a:schemeClr val="bg1"/>
          </a:solidFill>
          <a:ln w="9525">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cs typeface="メイリオ"/>
            </a:endParaRPr>
          </a:p>
        </p:txBody>
      </p:sp>
      <p:sp>
        <p:nvSpPr>
          <p:cNvPr id="884" name="正方形/長方形 46"/>
          <p:cNvSpPr/>
          <p:nvPr/>
        </p:nvSpPr>
        <p:spPr>
          <a:xfrm>
            <a:off x="2727720" y="2844000"/>
            <a:ext cx="1438200" cy="267840"/>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cs typeface="メイリオ"/>
              </a:rPr>
              <a:t>開封率</a:t>
            </a:r>
            <a:endParaRPr lang="en-US" sz="1050" b="0" u="none" strike="noStrike">
              <a:solidFill>
                <a:srgbClr val="FFFFFF"/>
              </a:solidFill>
              <a:effectLst/>
              <a:uFillTx/>
              <a:latin typeface="メイリオ"/>
              <a:ea typeface="メイリオ"/>
              <a:cs typeface="メイリオ"/>
            </a:endParaRPr>
          </a:p>
        </p:txBody>
      </p:sp>
      <p:sp>
        <p:nvSpPr>
          <p:cNvPr id="885" name="正方形/長方形 47"/>
          <p:cNvSpPr/>
          <p:nvPr/>
        </p:nvSpPr>
        <p:spPr>
          <a:xfrm>
            <a:off x="4236120" y="2844000"/>
            <a:ext cx="1438200" cy="267840"/>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cs typeface="メイリオ"/>
              </a:rPr>
              <a:t>クリック率</a:t>
            </a:r>
            <a:endParaRPr lang="en-US" sz="1050" b="0" u="none" strike="noStrike">
              <a:solidFill>
                <a:srgbClr val="FFFFFF"/>
              </a:solidFill>
              <a:effectLst/>
              <a:uFillTx/>
              <a:latin typeface="メイリオ"/>
              <a:ea typeface="メイリオ"/>
              <a:cs typeface="メイリオ"/>
            </a:endParaRPr>
          </a:p>
        </p:txBody>
      </p:sp>
      <p:sp>
        <p:nvSpPr>
          <p:cNvPr id="886" name="正方形/長方形 48"/>
          <p:cNvSpPr/>
          <p:nvPr/>
        </p:nvSpPr>
        <p:spPr>
          <a:xfrm>
            <a:off x="5744520" y="2844000"/>
            <a:ext cx="1438200" cy="267840"/>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50" b="1" u="none" strike="noStrike">
                <a:solidFill>
                  <a:schemeClr val="lt1"/>
                </a:solidFill>
                <a:effectLst/>
                <a:uFillTx/>
                <a:latin typeface="メイリオ"/>
                <a:ea typeface="メイリオ"/>
                <a:cs typeface="メイリオ"/>
              </a:rPr>
              <a:t>CV</a:t>
            </a:r>
            <a:r>
              <a:rPr lang="ja-JP" sz="1050" b="1" u="none" strike="noStrike">
                <a:solidFill>
                  <a:schemeClr val="lt1"/>
                </a:solidFill>
                <a:effectLst/>
                <a:uFillTx/>
                <a:latin typeface="メイリオ"/>
                <a:ea typeface="メイリオ"/>
                <a:cs typeface="メイリオ"/>
              </a:rPr>
              <a:t>率</a:t>
            </a:r>
            <a:endParaRPr lang="en-US" sz="1050" b="0" u="none" strike="noStrike">
              <a:solidFill>
                <a:srgbClr val="FFFFFF"/>
              </a:solidFill>
              <a:effectLst/>
              <a:uFillTx/>
              <a:latin typeface="メイリオ"/>
              <a:ea typeface="メイリオ"/>
              <a:cs typeface="メイリオ"/>
            </a:endParaRPr>
          </a:p>
        </p:txBody>
      </p:sp>
      <p:sp>
        <p:nvSpPr>
          <p:cNvPr id="887" name="正方形/長方形 49"/>
          <p:cNvSpPr/>
          <p:nvPr/>
        </p:nvSpPr>
        <p:spPr>
          <a:xfrm>
            <a:off x="2635560" y="2541960"/>
            <a:ext cx="4617360" cy="267840"/>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cs typeface="メイリオ"/>
              </a:rPr>
              <a:t>通常メッセージ（企画投稿）</a:t>
            </a:r>
            <a:endParaRPr lang="en-US" sz="1050" b="0" u="none" strike="noStrike">
              <a:solidFill>
                <a:srgbClr val="FFFFFF"/>
              </a:solidFill>
              <a:effectLst/>
              <a:uFillTx/>
              <a:latin typeface="メイリオ"/>
              <a:ea typeface="メイリオ"/>
              <a:cs typeface="メイリオ"/>
            </a:endParaRPr>
          </a:p>
        </p:txBody>
      </p:sp>
      <p:sp>
        <p:nvSpPr>
          <p:cNvPr id="888" name="正方形/長方形 50"/>
          <p:cNvSpPr/>
          <p:nvPr/>
        </p:nvSpPr>
        <p:spPr>
          <a:xfrm>
            <a:off x="2727720" y="3513600"/>
            <a:ext cx="1438200" cy="267840"/>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cs typeface="メイリオ"/>
              </a:rPr>
              <a:t>開封率</a:t>
            </a:r>
            <a:endParaRPr lang="en-US" sz="1050" b="0" u="none" strike="noStrike">
              <a:solidFill>
                <a:srgbClr val="FFFFFF"/>
              </a:solidFill>
              <a:effectLst/>
              <a:uFillTx/>
              <a:latin typeface="メイリオ"/>
              <a:ea typeface="メイリオ"/>
              <a:cs typeface="メイリオ"/>
            </a:endParaRPr>
          </a:p>
        </p:txBody>
      </p:sp>
      <p:sp>
        <p:nvSpPr>
          <p:cNvPr id="889" name="正方形/長方形 51"/>
          <p:cNvSpPr/>
          <p:nvPr/>
        </p:nvSpPr>
        <p:spPr>
          <a:xfrm>
            <a:off x="4236120" y="3513600"/>
            <a:ext cx="1438200" cy="267840"/>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cs typeface="メイリオ"/>
              </a:rPr>
              <a:t>クリック率</a:t>
            </a:r>
            <a:endParaRPr lang="en-US" sz="1050" b="0" u="none" strike="noStrike">
              <a:solidFill>
                <a:srgbClr val="FFFFFF"/>
              </a:solidFill>
              <a:effectLst/>
              <a:uFillTx/>
              <a:latin typeface="メイリオ"/>
              <a:ea typeface="メイリオ"/>
              <a:cs typeface="メイリオ"/>
            </a:endParaRPr>
          </a:p>
        </p:txBody>
      </p:sp>
      <p:sp>
        <p:nvSpPr>
          <p:cNvPr id="890" name="正方形/長方形 52"/>
          <p:cNvSpPr/>
          <p:nvPr/>
        </p:nvSpPr>
        <p:spPr>
          <a:xfrm>
            <a:off x="5744520" y="3513600"/>
            <a:ext cx="1438200" cy="267840"/>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50" b="1" u="none" strike="noStrike">
                <a:solidFill>
                  <a:schemeClr val="lt1"/>
                </a:solidFill>
                <a:effectLst/>
                <a:uFillTx/>
                <a:latin typeface="メイリオ"/>
                <a:ea typeface="メイリオ"/>
                <a:cs typeface="メイリオ"/>
              </a:rPr>
              <a:t>CV</a:t>
            </a:r>
            <a:r>
              <a:rPr lang="ja-JP" sz="1050" b="1" u="none" strike="noStrike">
                <a:solidFill>
                  <a:schemeClr val="lt1"/>
                </a:solidFill>
                <a:effectLst/>
                <a:uFillTx/>
                <a:latin typeface="メイリオ"/>
                <a:ea typeface="メイリオ"/>
                <a:cs typeface="メイリオ"/>
              </a:rPr>
              <a:t>率</a:t>
            </a:r>
            <a:endParaRPr lang="en-US" sz="1050" b="0" u="none" strike="noStrike">
              <a:solidFill>
                <a:srgbClr val="FFFFFF"/>
              </a:solidFill>
              <a:effectLst/>
              <a:uFillTx/>
              <a:latin typeface="メイリオ"/>
              <a:ea typeface="メイリオ"/>
              <a:cs typeface="メイリオ"/>
            </a:endParaRPr>
          </a:p>
        </p:txBody>
      </p:sp>
      <p:sp>
        <p:nvSpPr>
          <p:cNvPr id="891" name="正方形/長方形 53"/>
          <p:cNvSpPr/>
          <p:nvPr/>
        </p:nvSpPr>
        <p:spPr>
          <a:xfrm>
            <a:off x="2635560" y="3211200"/>
            <a:ext cx="4617360" cy="267840"/>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cs typeface="メイリオ"/>
              </a:rPr>
              <a:t>通常メッセージ（ステップ配信投稿）</a:t>
            </a:r>
            <a:endParaRPr lang="en-US" sz="1050" b="0" u="none" strike="noStrike">
              <a:solidFill>
                <a:srgbClr val="FFFFFF"/>
              </a:solidFill>
              <a:effectLst/>
              <a:uFillTx/>
              <a:latin typeface="メイリオ"/>
              <a:ea typeface="メイリオ"/>
              <a:cs typeface="メイリオ"/>
            </a:endParaRPr>
          </a:p>
        </p:txBody>
      </p:sp>
      <p:sp>
        <p:nvSpPr>
          <p:cNvPr id="892" name="正方形/長方形 54"/>
          <p:cNvSpPr/>
          <p:nvPr/>
        </p:nvSpPr>
        <p:spPr>
          <a:xfrm>
            <a:off x="2727720" y="4167720"/>
            <a:ext cx="1438200" cy="267840"/>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cs typeface="メイリオ"/>
              </a:rPr>
              <a:t>開封率</a:t>
            </a:r>
            <a:endParaRPr lang="en-US" sz="1050" b="0" u="none" strike="noStrike">
              <a:solidFill>
                <a:srgbClr val="FFFFFF"/>
              </a:solidFill>
              <a:effectLst/>
              <a:uFillTx/>
              <a:latin typeface="メイリオ"/>
              <a:ea typeface="メイリオ"/>
              <a:cs typeface="メイリオ"/>
            </a:endParaRPr>
          </a:p>
        </p:txBody>
      </p:sp>
      <p:sp>
        <p:nvSpPr>
          <p:cNvPr id="893" name="正方形/長方形 55"/>
          <p:cNvSpPr/>
          <p:nvPr/>
        </p:nvSpPr>
        <p:spPr>
          <a:xfrm>
            <a:off x="4236120" y="4167720"/>
            <a:ext cx="1438200" cy="267840"/>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cs typeface="メイリオ"/>
              </a:rPr>
              <a:t>クリック率</a:t>
            </a:r>
            <a:endParaRPr lang="en-US" sz="1050" b="0" u="none" strike="noStrike">
              <a:solidFill>
                <a:srgbClr val="FFFFFF"/>
              </a:solidFill>
              <a:effectLst/>
              <a:uFillTx/>
              <a:latin typeface="メイリオ"/>
              <a:ea typeface="メイリオ"/>
              <a:cs typeface="メイリオ"/>
            </a:endParaRPr>
          </a:p>
        </p:txBody>
      </p:sp>
      <p:sp>
        <p:nvSpPr>
          <p:cNvPr id="894" name="正方形/長方形 56"/>
          <p:cNvSpPr/>
          <p:nvPr/>
        </p:nvSpPr>
        <p:spPr>
          <a:xfrm>
            <a:off x="5744520" y="4167720"/>
            <a:ext cx="1438200" cy="267840"/>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50" b="1" u="none" strike="noStrike">
                <a:solidFill>
                  <a:schemeClr val="lt1"/>
                </a:solidFill>
                <a:effectLst/>
                <a:uFillTx/>
                <a:latin typeface="メイリオ"/>
                <a:ea typeface="メイリオ"/>
                <a:cs typeface="メイリオ"/>
              </a:rPr>
              <a:t>CV</a:t>
            </a:r>
            <a:r>
              <a:rPr lang="ja-JP" sz="1050" b="1" u="none" strike="noStrike">
                <a:solidFill>
                  <a:schemeClr val="lt1"/>
                </a:solidFill>
                <a:effectLst/>
                <a:uFillTx/>
                <a:latin typeface="メイリオ"/>
                <a:ea typeface="メイリオ"/>
                <a:cs typeface="メイリオ"/>
              </a:rPr>
              <a:t>率</a:t>
            </a:r>
            <a:endParaRPr lang="en-US" sz="1050" b="0" u="none" strike="noStrike">
              <a:solidFill>
                <a:srgbClr val="FFFFFF"/>
              </a:solidFill>
              <a:effectLst/>
              <a:uFillTx/>
              <a:latin typeface="メイリオ"/>
              <a:ea typeface="メイリオ"/>
              <a:cs typeface="メイリオ"/>
            </a:endParaRPr>
          </a:p>
        </p:txBody>
      </p:sp>
      <p:sp>
        <p:nvSpPr>
          <p:cNvPr id="895" name="正方形/長方形 57"/>
          <p:cNvSpPr/>
          <p:nvPr/>
        </p:nvSpPr>
        <p:spPr>
          <a:xfrm>
            <a:off x="2635560" y="3865320"/>
            <a:ext cx="4617360" cy="267840"/>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cs typeface="メイリオ"/>
              </a:rPr>
              <a:t>その他指標（リッチメニュー、プロフ、挨拶メッセ）</a:t>
            </a:r>
            <a:endParaRPr lang="en-US" sz="1050" b="0" u="none" strike="noStrike">
              <a:solidFill>
                <a:srgbClr val="FFFFFF"/>
              </a:solidFill>
              <a:effectLst/>
              <a:uFillTx/>
              <a:latin typeface="メイリオ"/>
              <a:ea typeface="メイリオ"/>
              <a:cs typeface="メイリオ"/>
            </a:endParaRPr>
          </a:p>
        </p:txBody>
      </p:sp>
      <p:sp>
        <p:nvSpPr>
          <p:cNvPr id="896" name="テキスト ボックス 58"/>
          <p:cNvSpPr/>
          <p:nvPr/>
        </p:nvSpPr>
        <p:spPr>
          <a:xfrm>
            <a:off x="4152600" y="2126520"/>
            <a:ext cx="1581120" cy="261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100" b="0" u="none" strike="noStrike">
                <a:solidFill>
                  <a:schemeClr val="dk2"/>
                </a:solidFill>
                <a:effectLst/>
                <a:uFillTx/>
                <a:latin typeface="メイリオ"/>
                <a:ea typeface="メイリオ"/>
                <a:cs typeface="メイリオ"/>
              </a:rPr>
              <a:t>（</a:t>
            </a:r>
            <a:r>
              <a:rPr lang="en-US" sz="1100" b="0" u="none" strike="noStrike">
                <a:solidFill>
                  <a:schemeClr val="dk2"/>
                </a:solidFill>
                <a:effectLst/>
                <a:uFillTx/>
                <a:latin typeface="メイリオ"/>
                <a:ea typeface="メイリオ"/>
                <a:cs typeface="メイリオ"/>
              </a:rPr>
              <a:t>LINE</a:t>
            </a:r>
            <a:r>
              <a:rPr lang="ja-JP" sz="1100" b="0" u="none" strike="noStrike">
                <a:solidFill>
                  <a:schemeClr val="dk2"/>
                </a:solidFill>
                <a:effectLst/>
                <a:uFillTx/>
                <a:latin typeface="メイリオ"/>
                <a:ea typeface="メイリオ"/>
                <a:cs typeface="メイリオ"/>
              </a:rPr>
              <a:t>施策内）</a:t>
            </a:r>
            <a:endParaRPr lang="en-US" sz="1100" b="0" u="none" strike="noStrike">
              <a:solidFill>
                <a:srgbClr val="000000"/>
              </a:solidFill>
              <a:effectLst/>
              <a:uFillTx/>
              <a:latin typeface="メイリオ"/>
              <a:ea typeface="メイリオ"/>
              <a:cs typeface="メイリオ"/>
            </a:endParaRPr>
          </a:p>
        </p:txBody>
      </p:sp>
      <p:sp>
        <p:nvSpPr>
          <p:cNvPr id="897" name="正方形/長方形 64"/>
          <p:cNvSpPr/>
          <p:nvPr/>
        </p:nvSpPr>
        <p:spPr>
          <a:xfrm>
            <a:off x="632160" y="2062800"/>
            <a:ext cx="1581120" cy="2483280"/>
          </a:xfrm>
          <a:prstGeom prst="rect">
            <a:avLst/>
          </a:prstGeom>
          <a:solidFill>
            <a:schemeClr val="bg1"/>
          </a:solidFill>
          <a:ln w="9525">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cs typeface="メイリオ"/>
            </a:endParaRPr>
          </a:p>
        </p:txBody>
      </p:sp>
      <p:sp>
        <p:nvSpPr>
          <p:cNvPr id="898" name="正方形/長方形 65"/>
          <p:cNvSpPr/>
          <p:nvPr/>
        </p:nvSpPr>
        <p:spPr>
          <a:xfrm>
            <a:off x="703440" y="2666880"/>
            <a:ext cx="1438200" cy="267840"/>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cs typeface="メイリオ"/>
              </a:rPr>
              <a:t>友だち追加</a:t>
            </a:r>
            <a:endParaRPr lang="en-US" sz="1050" b="0" u="none" strike="noStrike">
              <a:solidFill>
                <a:srgbClr val="FFFFFF"/>
              </a:solidFill>
              <a:effectLst/>
              <a:uFillTx/>
              <a:latin typeface="メイリオ"/>
              <a:ea typeface="メイリオ"/>
              <a:cs typeface="メイリオ"/>
            </a:endParaRPr>
          </a:p>
        </p:txBody>
      </p:sp>
      <p:sp>
        <p:nvSpPr>
          <p:cNvPr id="899" name="テキスト ボックス 66"/>
          <p:cNvSpPr/>
          <p:nvPr/>
        </p:nvSpPr>
        <p:spPr>
          <a:xfrm>
            <a:off x="632160" y="3030840"/>
            <a:ext cx="158112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000" b="1" u="none" strike="noStrike">
                <a:solidFill>
                  <a:schemeClr val="dk1"/>
                </a:solidFill>
                <a:effectLst/>
                <a:uFillTx/>
                <a:latin typeface="メイリオ"/>
                <a:ea typeface="メイリオ"/>
                <a:cs typeface="メイリオ"/>
              </a:rPr>
              <a:t>アクティブ数</a:t>
            </a:r>
            <a:endParaRPr lang="en-US" sz="1000" b="0" u="none" strike="noStrike">
              <a:solidFill>
                <a:srgbClr val="000000"/>
              </a:solidFill>
              <a:effectLst/>
              <a:uFillTx/>
              <a:latin typeface="メイリオ"/>
              <a:ea typeface="メイリオ"/>
              <a:cs typeface="メイリオ"/>
            </a:endParaRPr>
          </a:p>
          <a:p>
            <a:pPr algn="ctr" defTabSz="914400">
              <a:lnSpc>
                <a:spcPct val="100000"/>
              </a:lnSpc>
            </a:pPr>
            <a:r>
              <a:rPr lang="ja-JP" sz="800" b="0" u="none" strike="noStrike">
                <a:solidFill>
                  <a:schemeClr val="dk1"/>
                </a:solidFill>
                <a:effectLst/>
                <a:uFillTx/>
                <a:latin typeface="メイリオ"/>
                <a:ea typeface="メイリオ"/>
                <a:cs typeface="メイリオ"/>
              </a:rPr>
              <a:t>（非ブロック率）</a:t>
            </a:r>
            <a:endParaRPr lang="en-US" sz="800" b="0" u="none" strike="noStrike">
              <a:solidFill>
                <a:srgbClr val="000000"/>
              </a:solidFill>
              <a:effectLst/>
              <a:uFillTx/>
              <a:latin typeface="メイリオ"/>
              <a:ea typeface="メイリオ"/>
              <a:cs typeface="メイリオ"/>
            </a:endParaRPr>
          </a:p>
        </p:txBody>
      </p:sp>
      <p:sp>
        <p:nvSpPr>
          <p:cNvPr id="900" name="テキスト ボックス 67"/>
          <p:cNvSpPr/>
          <p:nvPr/>
        </p:nvSpPr>
        <p:spPr>
          <a:xfrm>
            <a:off x="632160" y="3492360"/>
            <a:ext cx="1581120" cy="553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000" b="1" u="none" strike="noStrike">
                <a:solidFill>
                  <a:schemeClr val="dk1"/>
                </a:solidFill>
                <a:effectLst/>
                <a:uFillTx/>
                <a:latin typeface="メイリオ"/>
                <a:ea typeface="メイリオ"/>
                <a:cs typeface="メイリオ"/>
              </a:rPr>
              <a:t>セグメント率</a:t>
            </a:r>
            <a:endParaRPr lang="en-US" sz="1000" b="0" u="none" strike="noStrike">
              <a:solidFill>
                <a:srgbClr val="000000"/>
              </a:solidFill>
              <a:effectLst/>
              <a:uFillTx/>
              <a:latin typeface="メイリオ"/>
              <a:ea typeface="メイリオ"/>
              <a:cs typeface="メイリオ"/>
            </a:endParaRPr>
          </a:p>
          <a:p>
            <a:pPr algn="ctr" defTabSz="914400">
              <a:lnSpc>
                <a:spcPct val="100000"/>
              </a:lnSpc>
            </a:pPr>
            <a:r>
              <a:rPr lang="en-US" sz="1000" b="0" u="none" strike="noStrike">
                <a:solidFill>
                  <a:schemeClr val="dk1"/>
                </a:solidFill>
                <a:effectLst/>
                <a:uFillTx/>
                <a:latin typeface="メイリオ"/>
                <a:ea typeface="メイリオ"/>
                <a:cs typeface="メイリオ"/>
              </a:rPr>
              <a:t>or</a:t>
            </a:r>
            <a:endParaRPr lang="en-US" sz="1000" b="0" u="none" strike="noStrike">
              <a:solidFill>
                <a:srgbClr val="000000"/>
              </a:solidFill>
              <a:effectLst/>
              <a:uFillTx/>
              <a:latin typeface="メイリオ"/>
              <a:ea typeface="メイリオ"/>
              <a:cs typeface="メイリオ"/>
            </a:endParaRPr>
          </a:p>
          <a:p>
            <a:pPr algn="ctr" defTabSz="914400">
              <a:lnSpc>
                <a:spcPct val="100000"/>
              </a:lnSpc>
            </a:pPr>
            <a:r>
              <a:rPr lang="ja-JP" sz="1000" b="1" u="none" strike="noStrike">
                <a:solidFill>
                  <a:schemeClr val="dk1"/>
                </a:solidFill>
                <a:effectLst/>
                <a:uFillTx/>
                <a:latin typeface="メイリオ"/>
                <a:ea typeface="メイリオ"/>
                <a:cs typeface="メイリオ"/>
              </a:rPr>
              <a:t>ステップ配信設定数</a:t>
            </a:r>
            <a:endParaRPr lang="en-US" sz="1000" b="0" u="none" strike="noStrike">
              <a:solidFill>
                <a:srgbClr val="000000"/>
              </a:solidFill>
              <a:effectLst/>
              <a:uFillTx/>
              <a:latin typeface="メイリオ"/>
              <a:ea typeface="メイリオ"/>
              <a:cs typeface="メイリオ"/>
            </a:endParaRPr>
          </a:p>
        </p:txBody>
      </p:sp>
      <p:sp>
        <p:nvSpPr>
          <p:cNvPr id="901" name="テキスト ボックス 68"/>
          <p:cNvSpPr/>
          <p:nvPr/>
        </p:nvSpPr>
        <p:spPr>
          <a:xfrm>
            <a:off x="632160" y="2122560"/>
            <a:ext cx="1581120" cy="261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100" b="0" u="none" strike="noStrike">
                <a:solidFill>
                  <a:srgbClr val="00B050"/>
                </a:solidFill>
                <a:effectLst/>
                <a:uFillTx/>
                <a:latin typeface="メイリオ"/>
                <a:ea typeface="メイリオ"/>
                <a:cs typeface="メイリオ"/>
              </a:rPr>
              <a:t>（ターゲット戦略）</a:t>
            </a:r>
            <a:endParaRPr lang="en-US" sz="1100" b="0" u="none" strike="noStrike">
              <a:solidFill>
                <a:srgbClr val="000000"/>
              </a:solidFill>
              <a:effectLst/>
              <a:uFillTx/>
              <a:latin typeface="メイリオ"/>
              <a:ea typeface="メイリオ"/>
              <a:cs typeface="メイリオ"/>
            </a:endParaRPr>
          </a:p>
        </p:txBody>
      </p:sp>
      <p:sp>
        <p:nvSpPr>
          <p:cNvPr id="902" name="正方形/長方形 69"/>
          <p:cNvSpPr/>
          <p:nvPr/>
        </p:nvSpPr>
        <p:spPr>
          <a:xfrm>
            <a:off x="828360" y="4167720"/>
            <a:ext cx="1188720" cy="267840"/>
          </a:xfrm>
          <a:prstGeom prst="rect">
            <a:avLst/>
          </a:prstGeom>
          <a:solidFill>
            <a:srgbClr val="00B050"/>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cs typeface="メイリオ"/>
              </a:rPr>
              <a:t>月間通数</a:t>
            </a:r>
            <a:endParaRPr lang="en-US" sz="1050" b="0" u="none" strike="noStrike">
              <a:solidFill>
                <a:srgbClr val="FFFFFF"/>
              </a:solidFill>
              <a:effectLst/>
              <a:uFillTx/>
              <a:latin typeface="メイリオ"/>
              <a:ea typeface="メイリオ"/>
              <a:cs typeface="メイリオ"/>
            </a:endParaRPr>
          </a:p>
        </p:txBody>
      </p:sp>
      <p:sp>
        <p:nvSpPr>
          <p:cNvPr id="903" name="正方形/長方形 2"/>
          <p:cNvSpPr/>
          <p:nvPr/>
        </p:nvSpPr>
        <p:spPr>
          <a:xfrm>
            <a:off x="619560" y="2054880"/>
            <a:ext cx="1613160" cy="2508120"/>
          </a:xfrm>
          <a:prstGeom prst="rect">
            <a:avLst/>
          </a:prstGeom>
          <a:solidFill>
            <a:schemeClr val="lt1">
              <a:alpha val="65000"/>
            </a:schemeClr>
          </a:solidFill>
          <a:ln w="9525">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cs typeface="メイリオ"/>
            </a:endParaRPr>
          </a:p>
        </p:txBody>
      </p:sp>
      <p:sp>
        <p:nvSpPr>
          <p:cNvPr id="904" name="吹き出し: 角を丸めた四角形 21"/>
          <p:cNvSpPr/>
          <p:nvPr/>
        </p:nvSpPr>
        <p:spPr>
          <a:xfrm>
            <a:off x="1422720" y="4756680"/>
            <a:ext cx="6797520" cy="1723320"/>
          </a:xfrm>
          <a:prstGeom prst="wedgeRoundRectCallout">
            <a:avLst>
              <a:gd name="adj1" fmla="val -8535"/>
              <a:gd name="adj2" fmla="val -65828"/>
              <a:gd name="adj3" fmla="val 16667"/>
            </a:avLst>
          </a:prstGeom>
          <a:solidFill>
            <a:schemeClr val="bg1">
              <a:lumMod val="95000"/>
            </a:schemeClr>
          </a:solidFill>
          <a:ln w="6350">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cs typeface="メイリオ"/>
            </a:endParaRPr>
          </a:p>
        </p:txBody>
      </p:sp>
      <p:sp>
        <p:nvSpPr>
          <p:cNvPr id="905" name="正方形/長方形 23"/>
          <p:cNvSpPr/>
          <p:nvPr/>
        </p:nvSpPr>
        <p:spPr>
          <a:xfrm>
            <a:off x="3144960" y="4892400"/>
            <a:ext cx="1438200" cy="267840"/>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cs typeface="メイリオ"/>
              </a:rPr>
              <a:t>開封率</a:t>
            </a:r>
            <a:endParaRPr lang="en-US" sz="1050" b="0" u="none" strike="noStrike">
              <a:solidFill>
                <a:srgbClr val="000000"/>
              </a:solidFill>
              <a:effectLst/>
              <a:uFillTx/>
              <a:latin typeface="メイリオ"/>
              <a:ea typeface="メイリオ"/>
              <a:cs typeface="メイリオ"/>
            </a:endParaRPr>
          </a:p>
        </p:txBody>
      </p:sp>
      <p:sp>
        <p:nvSpPr>
          <p:cNvPr id="906" name="正方形/長方形 24"/>
          <p:cNvSpPr/>
          <p:nvPr/>
        </p:nvSpPr>
        <p:spPr>
          <a:xfrm>
            <a:off x="4882320" y="4892400"/>
            <a:ext cx="1438200" cy="267840"/>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cs typeface="メイリオ"/>
              </a:rPr>
              <a:t>クリック率</a:t>
            </a:r>
            <a:endParaRPr lang="en-US" sz="1050" b="0" u="none" strike="noStrike">
              <a:solidFill>
                <a:srgbClr val="000000"/>
              </a:solidFill>
              <a:effectLst/>
              <a:uFillTx/>
              <a:latin typeface="メイリオ"/>
              <a:ea typeface="メイリオ"/>
              <a:cs typeface="メイリオ"/>
            </a:endParaRPr>
          </a:p>
        </p:txBody>
      </p:sp>
      <p:sp>
        <p:nvSpPr>
          <p:cNvPr id="907" name="正方形/長方形 25"/>
          <p:cNvSpPr/>
          <p:nvPr/>
        </p:nvSpPr>
        <p:spPr>
          <a:xfrm>
            <a:off x="6594480" y="4892400"/>
            <a:ext cx="1438200" cy="267840"/>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50" b="1" u="none" strike="noStrike">
                <a:solidFill>
                  <a:schemeClr val="lt1"/>
                </a:solidFill>
                <a:effectLst/>
                <a:uFillTx/>
                <a:latin typeface="メイリオ"/>
                <a:ea typeface="メイリオ"/>
                <a:cs typeface="メイリオ"/>
              </a:rPr>
              <a:t>CV</a:t>
            </a:r>
            <a:r>
              <a:rPr lang="ja-JP" sz="1050" b="1" u="none" strike="noStrike">
                <a:solidFill>
                  <a:schemeClr val="lt1"/>
                </a:solidFill>
                <a:effectLst/>
                <a:uFillTx/>
                <a:latin typeface="メイリオ"/>
                <a:ea typeface="メイリオ"/>
                <a:cs typeface="メイリオ"/>
              </a:rPr>
              <a:t>率</a:t>
            </a:r>
            <a:endParaRPr lang="en-US" sz="1050" b="0" u="none" strike="noStrike">
              <a:solidFill>
                <a:srgbClr val="000000"/>
              </a:solidFill>
              <a:effectLst/>
              <a:uFillTx/>
              <a:latin typeface="メイリオ"/>
              <a:ea typeface="メイリオ"/>
              <a:cs typeface="メイリオ"/>
            </a:endParaRPr>
          </a:p>
        </p:txBody>
      </p:sp>
      <p:sp>
        <p:nvSpPr>
          <p:cNvPr id="908" name="正方形/長方形 26"/>
          <p:cNvSpPr/>
          <p:nvPr/>
        </p:nvSpPr>
        <p:spPr>
          <a:xfrm>
            <a:off x="3144960" y="5229000"/>
            <a:ext cx="1438200" cy="522720"/>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rgbClr val="FF0000"/>
                </a:solidFill>
                <a:effectLst/>
                <a:uFillTx/>
                <a:latin typeface="メイリオ"/>
                <a:ea typeface="メイリオ"/>
                <a:cs typeface="メイリオ"/>
              </a:rPr>
              <a:t>85 </a:t>
            </a:r>
            <a:r>
              <a:rPr lang="en-US" sz="1400" b="1" u="none" strike="noStrike">
                <a:solidFill>
                  <a:srgbClr val="FF0000"/>
                </a:solidFill>
                <a:effectLst/>
                <a:uFillTx/>
                <a:latin typeface="メイリオ"/>
                <a:ea typeface="メイリオ"/>
                <a:cs typeface="メイリオ"/>
              </a:rPr>
              <a:t>%</a:t>
            </a:r>
            <a:endParaRPr lang="en-US" sz="1400" b="0" u="none" strike="noStrike">
              <a:solidFill>
                <a:srgbClr val="000000"/>
              </a:solidFill>
              <a:effectLst/>
              <a:uFillTx/>
              <a:latin typeface="メイリオ"/>
              <a:ea typeface="メイリオ"/>
              <a:cs typeface="メイリオ"/>
            </a:endParaRPr>
          </a:p>
        </p:txBody>
      </p:sp>
      <p:sp>
        <p:nvSpPr>
          <p:cNvPr id="909" name="正方形/長方形 27"/>
          <p:cNvSpPr/>
          <p:nvPr/>
        </p:nvSpPr>
        <p:spPr>
          <a:xfrm>
            <a:off x="4882320" y="5229000"/>
            <a:ext cx="1438200" cy="522720"/>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800" b="1" u="none" strike="noStrike">
                <a:solidFill>
                  <a:srgbClr val="FF0000"/>
                </a:solidFill>
                <a:effectLst/>
                <a:uFillTx/>
                <a:latin typeface="メイリオ"/>
                <a:ea typeface="メイリオ"/>
                <a:cs typeface="メイリオ"/>
              </a:rPr>
              <a:t>12.5 </a:t>
            </a:r>
            <a:r>
              <a:rPr lang="en-US" sz="1400" b="1" u="none" strike="noStrike">
                <a:solidFill>
                  <a:srgbClr val="FF0000"/>
                </a:solidFill>
                <a:effectLst/>
                <a:uFillTx/>
                <a:latin typeface="メイリオ"/>
                <a:ea typeface="メイリオ"/>
                <a:cs typeface="メイリオ"/>
              </a:rPr>
              <a:t>%</a:t>
            </a:r>
            <a:endParaRPr lang="en-US" sz="1400" b="0" u="none" strike="noStrike">
              <a:solidFill>
                <a:srgbClr val="000000"/>
              </a:solidFill>
              <a:effectLst/>
              <a:uFillTx/>
              <a:latin typeface="メイリオ"/>
              <a:ea typeface="メイリオ"/>
              <a:cs typeface="メイリオ"/>
            </a:endParaRPr>
          </a:p>
        </p:txBody>
      </p:sp>
      <p:sp>
        <p:nvSpPr>
          <p:cNvPr id="910" name="正方形/長方形 28"/>
          <p:cNvSpPr/>
          <p:nvPr/>
        </p:nvSpPr>
        <p:spPr>
          <a:xfrm>
            <a:off x="6594480" y="5229000"/>
            <a:ext cx="1438200" cy="522720"/>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rgbClr val="FF0000"/>
                </a:solidFill>
                <a:effectLst/>
                <a:uFillTx/>
                <a:latin typeface="メイリオ"/>
                <a:ea typeface="メイリオ"/>
                <a:cs typeface="メイリオ"/>
              </a:rPr>
              <a:t>0.5</a:t>
            </a:r>
            <a:r>
              <a:rPr lang="en-US" sz="1400" b="1" u="none" strike="noStrike">
                <a:solidFill>
                  <a:srgbClr val="FF0000"/>
                </a:solidFill>
                <a:effectLst/>
                <a:uFillTx/>
                <a:latin typeface="メイリオ"/>
                <a:ea typeface="メイリオ"/>
                <a:cs typeface="メイリオ"/>
              </a:rPr>
              <a:t> %</a:t>
            </a:r>
            <a:endParaRPr lang="en-US" sz="1400" b="0" u="none" strike="noStrike">
              <a:solidFill>
                <a:srgbClr val="000000"/>
              </a:solidFill>
              <a:effectLst/>
              <a:uFillTx/>
              <a:latin typeface="メイリオ"/>
              <a:ea typeface="メイリオ"/>
              <a:cs typeface="メイリオ"/>
            </a:endParaRPr>
          </a:p>
        </p:txBody>
      </p:sp>
      <p:sp>
        <p:nvSpPr>
          <p:cNvPr id="911" name="正方形/長方形 29"/>
          <p:cNvSpPr/>
          <p:nvPr/>
        </p:nvSpPr>
        <p:spPr>
          <a:xfrm>
            <a:off x="3144960" y="5811120"/>
            <a:ext cx="1438200" cy="522720"/>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1" u="none" strike="noStrike">
                <a:solidFill>
                  <a:schemeClr val="dk1"/>
                </a:solidFill>
                <a:effectLst/>
                <a:uFillTx/>
                <a:latin typeface="メイリオ"/>
                <a:ea typeface="メイリオ"/>
                <a:cs typeface="メイリオ"/>
              </a:rPr>
              <a:t>70 %</a:t>
            </a:r>
            <a:endParaRPr lang="en-US" sz="1400" b="0" u="none" strike="noStrike">
              <a:solidFill>
                <a:srgbClr val="000000"/>
              </a:solidFill>
              <a:effectLst/>
              <a:uFillTx/>
              <a:latin typeface="メイリオ"/>
              <a:ea typeface="メイリオ"/>
              <a:cs typeface="メイリオ"/>
            </a:endParaRPr>
          </a:p>
        </p:txBody>
      </p:sp>
      <p:sp>
        <p:nvSpPr>
          <p:cNvPr id="912" name="正方形/長方形 30"/>
          <p:cNvSpPr/>
          <p:nvPr/>
        </p:nvSpPr>
        <p:spPr>
          <a:xfrm>
            <a:off x="4882320" y="5811120"/>
            <a:ext cx="1438200" cy="522720"/>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1" u="none" strike="noStrike">
                <a:solidFill>
                  <a:schemeClr val="dk1"/>
                </a:solidFill>
                <a:effectLst/>
                <a:uFillTx/>
                <a:latin typeface="メイリオ"/>
                <a:ea typeface="メイリオ"/>
                <a:cs typeface="メイリオ"/>
              </a:rPr>
              <a:t>8.25 %</a:t>
            </a:r>
            <a:endParaRPr lang="en-US" sz="1400" b="0" u="none" strike="noStrike">
              <a:solidFill>
                <a:srgbClr val="000000"/>
              </a:solidFill>
              <a:effectLst/>
              <a:uFillTx/>
              <a:latin typeface="メイリオ"/>
              <a:ea typeface="メイリオ"/>
              <a:cs typeface="メイリオ"/>
            </a:endParaRPr>
          </a:p>
        </p:txBody>
      </p:sp>
      <p:sp>
        <p:nvSpPr>
          <p:cNvPr id="913" name="正方形/長方形 31"/>
          <p:cNvSpPr/>
          <p:nvPr/>
        </p:nvSpPr>
        <p:spPr>
          <a:xfrm>
            <a:off x="6594480" y="5811120"/>
            <a:ext cx="1438200" cy="522720"/>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1" u="none" strike="noStrike">
                <a:solidFill>
                  <a:schemeClr val="dk1"/>
                </a:solidFill>
                <a:effectLst/>
                <a:uFillTx/>
                <a:latin typeface="メイリオ"/>
                <a:ea typeface="メイリオ"/>
                <a:cs typeface="メイリオ"/>
              </a:rPr>
              <a:t>0.3 %</a:t>
            </a:r>
            <a:endParaRPr lang="en-US" sz="1400" b="0" u="none" strike="noStrike">
              <a:solidFill>
                <a:srgbClr val="000000"/>
              </a:solidFill>
              <a:effectLst/>
              <a:uFillTx/>
              <a:latin typeface="メイリオ"/>
              <a:ea typeface="メイリオ"/>
              <a:cs typeface="メイリオ"/>
            </a:endParaRPr>
          </a:p>
        </p:txBody>
      </p:sp>
      <p:sp>
        <p:nvSpPr>
          <p:cNvPr id="914" name="正方形/長方形 32"/>
          <p:cNvSpPr/>
          <p:nvPr/>
        </p:nvSpPr>
        <p:spPr>
          <a:xfrm>
            <a:off x="1569600" y="5226840"/>
            <a:ext cx="1438200" cy="522720"/>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200" b="1" u="none" strike="noStrike">
                <a:solidFill>
                  <a:srgbClr val="FFC000"/>
                </a:solidFill>
                <a:effectLst/>
                <a:uFillTx/>
                <a:latin typeface="メイリオ"/>
                <a:ea typeface="メイリオ"/>
                <a:cs typeface="メイリオ"/>
              </a:rPr>
              <a:t>DYM</a:t>
            </a:r>
            <a:r>
              <a:rPr lang="ja-JP" sz="1200" b="1" u="none" strike="noStrike">
                <a:solidFill>
                  <a:srgbClr val="FFC000"/>
                </a:solidFill>
                <a:effectLst/>
                <a:uFillTx/>
                <a:latin typeface="メイリオ"/>
                <a:ea typeface="メイリオ"/>
                <a:cs typeface="メイリオ"/>
              </a:rPr>
              <a:t>実績</a:t>
            </a:r>
            <a:endParaRPr lang="en-US" sz="1200" b="0" u="none" strike="noStrike">
              <a:solidFill>
                <a:srgbClr val="FFFFFF"/>
              </a:solidFill>
              <a:effectLst/>
              <a:uFillTx/>
              <a:latin typeface="メイリオ"/>
              <a:ea typeface="メイリオ"/>
              <a:cs typeface="メイリオ"/>
            </a:endParaRPr>
          </a:p>
        </p:txBody>
      </p:sp>
      <p:sp>
        <p:nvSpPr>
          <p:cNvPr id="915" name="正方形/長方形 33"/>
          <p:cNvSpPr/>
          <p:nvPr/>
        </p:nvSpPr>
        <p:spPr>
          <a:xfrm>
            <a:off x="1569600" y="5808960"/>
            <a:ext cx="1438200" cy="522720"/>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200" b="1" u="none" strike="noStrike">
                <a:solidFill>
                  <a:schemeClr val="lt1"/>
                </a:solidFill>
                <a:effectLst/>
                <a:uFillTx/>
                <a:latin typeface="メイリオ"/>
                <a:ea typeface="メイリオ"/>
                <a:cs typeface="メイリオ"/>
              </a:rPr>
              <a:t>業界平均</a:t>
            </a:r>
            <a:endParaRPr lang="en-US" sz="1200" b="0" u="none" strike="noStrike">
              <a:solidFill>
                <a:srgbClr val="FFFFFF"/>
              </a:solidFill>
              <a:effectLst/>
              <a:uFillTx/>
              <a:latin typeface="メイリオ"/>
              <a:ea typeface="メイリオ"/>
              <a:cs typeface="メイリオ"/>
            </a:endParaRPr>
          </a:p>
          <a:p>
            <a:pPr algn="ctr" defTabSz="914400">
              <a:lnSpc>
                <a:spcPct val="100000"/>
              </a:lnSpc>
            </a:pPr>
            <a:r>
              <a:rPr lang="en-US" sz="800" b="1" u="none" strike="noStrike">
                <a:solidFill>
                  <a:schemeClr val="lt1"/>
                </a:solidFill>
                <a:effectLst/>
                <a:uFillTx/>
                <a:latin typeface="メイリオ"/>
                <a:ea typeface="メイリオ"/>
                <a:cs typeface="メイリオ"/>
              </a:rPr>
              <a:t>(LINE</a:t>
            </a:r>
            <a:r>
              <a:rPr lang="ja-JP" sz="800" b="1" u="none" strike="noStrike">
                <a:solidFill>
                  <a:schemeClr val="lt1"/>
                </a:solidFill>
                <a:effectLst/>
                <a:uFillTx/>
                <a:latin typeface="メイリオ"/>
                <a:ea typeface="メイリオ"/>
                <a:cs typeface="メイリオ"/>
              </a:rPr>
              <a:t>ヤフー社より共有）</a:t>
            </a:r>
            <a:endParaRPr lang="en-US" sz="800" b="0" u="none" strike="noStrike">
              <a:solidFill>
                <a:srgbClr val="FFFFFF"/>
              </a:solidFill>
              <a:effectLst/>
              <a:uFillTx/>
              <a:latin typeface="メイリオ"/>
              <a:ea typeface="メイリオ"/>
              <a:cs typeface="メイリオ"/>
            </a:endParaRPr>
          </a:p>
        </p:txBody>
      </p:sp>
      <p:sp>
        <p:nvSpPr>
          <p:cNvPr id="916" name="正方形/長方形 34"/>
          <p:cNvSpPr/>
          <p:nvPr/>
        </p:nvSpPr>
        <p:spPr>
          <a:xfrm>
            <a:off x="564120" y="1666800"/>
            <a:ext cx="8988840" cy="327600"/>
          </a:xfrm>
          <a:prstGeom prst="rect">
            <a:avLst/>
          </a:prstGeom>
          <a:solidFill>
            <a:schemeClr val="tx1"/>
          </a:solidFill>
          <a:ln w="9525">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1" u="none" strike="noStrike">
                <a:solidFill>
                  <a:srgbClr val="FFC000"/>
                </a:solidFill>
                <a:effectLst/>
                <a:uFillTx/>
                <a:latin typeface="メイリオ"/>
                <a:ea typeface="メイリオ"/>
                <a:cs typeface="メイリオ"/>
              </a:rPr>
              <a:t>施策の流れ</a:t>
            </a:r>
            <a:endParaRPr lang="en-US" sz="1400" b="0" u="none" strike="noStrike">
              <a:solidFill>
                <a:srgbClr val="FFFFFF"/>
              </a:solidFill>
              <a:effectLst/>
              <a:uFillTx/>
              <a:latin typeface="メイリオ"/>
              <a:ea typeface="メイリオ"/>
              <a:cs typeface="メイリオ"/>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2"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cs typeface="メイリオ"/>
              </a:rPr>
              <a:t>提供施策について　</a:t>
            </a:r>
            <a:r>
              <a:rPr lang="en-US" sz="1400" b="1" u="none" strike="noStrike">
                <a:solidFill>
                  <a:srgbClr val="FF0000"/>
                </a:solidFill>
                <a:effectLst/>
                <a:uFillTx/>
                <a:latin typeface="メイリオ"/>
                <a:ea typeface="メイリオ"/>
                <a:cs typeface="メイリオ"/>
              </a:rPr>
              <a:t>[CRM</a:t>
            </a:r>
            <a:r>
              <a:rPr lang="ja-JP" sz="1400" b="1" u="none" strike="noStrike">
                <a:solidFill>
                  <a:srgbClr val="FF0000"/>
                </a:solidFill>
                <a:effectLst/>
                <a:uFillTx/>
                <a:latin typeface="メイリオ"/>
                <a:ea typeface="メイリオ"/>
                <a:cs typeface="メイリオ"/>
              </a:rPr>
              <a:t>及び</a:t>
            </a:r>
            <a:r>
              <a:rPr lang="en-US" sz="1400" b="1" u="none" strike="noStrike">
                <a:solidFill>
                  <a:srgbClr val="FF0000"/>
                </a:solidFill>
                <a:effectLst/>
                <a:uFillTx/>
                <a:latin typeface="メイリオ"/>
                <a:ea typeface="メイリオ"/>
                <a:cs typeface="メイリオ"/>
              </a:rPr>
              <a:t>API</a:t>
            </a:r>
            <a:r>
              <a:rPr lang="ja-JP" sz="1400" b="1" u="none" strike="noStrike">
                <a:solidFill>
                  <a:srgbClr val="FF0000"/>
                </a:solidFill>
                <a:effectLst/>
                <a:uFillTx/>
                <a:latin typeface="メイリオ"/>
                <a:ea typeface="メイリオ"/>
                <a:cs typeface="メイリオ"/>
              </a:rPr>
              <a:t>ツールとの連携</a:t>
            </a:r>
            <a:r>
              <a:rPr lang="en-US" sz="1400" b="1" u="none" strike="noStrike">
                <a:solidFill>
                  <a:srgbClr val="FF0000"/>
                </a:solidFill>
                <a:effectLst/>
                <a:uFillTx/>
                <a:latin typeface="メイリオ"/>
                <a:ea typeface="メイリオ"/>
                <a:cs typeface="メイリオ"/>
              </a:rPr>
              <a:t>]</a:t>
            </a:r>
            <a:endParaRPr lang="en-US" sz="1400" b="0" u="none" strike="noStrike">
              <a:solidFill>
                <a:srgbClr val="000000"/>
              </a:solidFill>
              <a:effectLst/>
              <a:uFillTx/>
              <a:latin typeface="メイリオ"/>
              <a:ea typeface="メイリオ"/>
              <a:cs typeface="メイリオ"/>
            </a:endParaRPr>
          </a:p>
        </p:txBody>
      </p:sp>
      <p:sp>
        <p:nvSpPr>
          <p:cNvPr id="983" name="正方形/長方形 1"/>
          <p:cNvSpPr/>
          <p:nvPr/>
        </p:nvSpPr>
        <p:spPr>
          <a:xfrm>
            <a:off x="804960" y="5113440"/>
            <a:ext cx="3833640" cy="824760"/>
          </a:xfrm>
          <a:prstGeom prst="rect">
            <a:avLst/>
          </a:prstGeom>
          <a:solidFill>
            <a:schemeClr val="accent1">
              <a:lumMod val="20000"/>
              <a:lumOff val="80000"/>
            </a:schemeClr>
          </a:solidFill>
          <a:ln>
            <a:solidFill>
              <a:srgbClr val="1F497D">
                <a:lumMod val="20000"/>
                <a:lumOff val="80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rgbClr val="073763"/>
                </a:solidFill>
                <a:effectLst/>
                <a:uFillTx/>
                <a:latin typeface="メイリオ"/>
                <a:ea typeface="メイリオ"/>
                <a:cs typeface="メイリオ"/>
              </a:rPr>
              <a:t>「</a:t>
            </a:r>
            <a:r>
              <a:rPr lang="en-US" sz="1400" b="0" u="none" strike="noStrike">
                <a:solidFill>
                  <a:srgbClr val="073763"/>
                </a:solidFill>
                <a:effectLst/>
                <a:uFillTx/>
                <a:latin typeface="メイリオ"/>
                <a:ea typeface="メイリオ"/>
                <a:cs typeface="メイリオ"/>
              </a:rPr>
              <a:t>CRM</a:t>
            </a:r>
            <a:r>
              <a:rPr lang="ja-JP" sz="1400" b="0" u="none" strike="noStrike">
                <a:solidFill>
                  <a:srgbClr val="073763"/>
                </a:solidFill>
                <a:effectLst/>
                <a:uFillTx/>
                <a:latin typeface="メイリオ"/>
                <a:ea typeface="メイリオ"/>
                <a:cs typeface="メイリオ"/>
              </a:rPr>
              <a:t>側でどんな情報を取りたいか」が重要</a:t>
            </a:r>
            <a:br>
              <a:rPr sz="1400">
                <a:latin typeface="メイリオ"/>
                <a:ea typeface="メイリオ"/>
                <a:cs typeface="メイリオ"/>
              </a:rPr>
            </a:br>
            <a:r>
              <a:rPr lang="ja-JP" sz="1400" b="1" u="none" strike="noStrike">
                <a:solidFill>
                  <a:srgbClr val="073763"/>
                </a:solidFill>
                <a:effectLst/>
                <a:uFillTx/>
                <a:latin typeface="メイリオ"/>
                <a:ea typeface="メイリオ"/>
                <a:cs typeface="メイリオ"/>
              </a:rPr>
              <a:t>要件定義</a:t>
            </a:r>
            <a:r>
              <a:rPr lang="ja-JP" sz="1400" b="0" u="none" strike="noStrike">
                <a:solidFill>
                  <a:srgbClr val="073763"/>
                </a:solidFill>
                <a:effectLst/>
                <a:uFillTx/>
                <a:latin typeface="メイリオ"/>
                <a:ea typeface="メイリオ"/>
                <a:cs typeface="メイリオ"/>
              </a:rPr>
              <a:t>を先にする必要がある</a:t>
            </a:r>
            <a:endParaRPr lang="en-US" sz="1400" b="0" u="none" strike="noStrike">
              <a:solidFill>
                <a:srgbClr val="000000"/>
              </a:solidFill>
              <a:effectLst/>
              <a:uFillTx/>
              <a:latin typeface="メイリオ"/>
              <a:ea typeface="メイリオ"/>
              <a:cs typeface="メイリオ"/>
            </a:endParaRPr>
          </a:p>
        </p:txBody>
      </p:sp>
      <p:sp>
        <p:nvSpPr>
          <p:cNvPr id="984" name="正方形/長方形 2"/>
          <p:cNvSpPr/>
          <p:nvPr/>
        </p:nvSpPr>
        <p:spPr>
          <a:xfrm>
            <a:off x="549000" y="1746720"/>
            <a:ext cx="2808720" cy="25452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defTabSz="914400">
              <a:lnSpc>
                <a:spcPct val="100000"/>
              </a:lnSpc>
            </a:pPr>
            <a:r>
              <a:rPr lang="en-US" sz="1200" b="0" u="none" strike="noStrike">
                <a:solidFill>
                  <a:schemeClr val="dk1">
                    <a:lumMod val="75000"/>
                    <a:lumOff val="25000"/>
                  </a:schemeClr>
                </a:solidFill>
                <a:effectLst/>
                <a:uFillTx/>
                <a:latin typeface="メイリオ"/>
                <a:ea typeface="メイリオ"/>
                <a:cs typeface="メイリオ"/>
              </a:rPr>
              <a:t>▼CRM</a:t>
            </a:r>
            <a:r>
              <a:rPr lang="ja-JP" sz="1200" b="0" u="none" strike="noStrike">
                <a:solidFill>
                  <a:schemeClr val="dk1">
                    <a:lumMod val="75000"/>
                    <a:lumOff val="25000"/>
                  </a:schemeClr>
                </a:solidFill>
                <a:effectLst/>
                <a:uFillTx/>
                <a:latin typeface="メイリオ"/>
                <a:ea typeface="メイリオ"/>
                <a:cs typeface="メイリオ"/>
              </a:rPr>
              <a:t>によるセグメント配信の違い</a:t>
            </a:r>
            <a:endParaRPr lang="en-US" sz="1200" b="0" u="none" strike="noStrike">
              <a:solidFill>
                <a:srgbClr val="000000"/>
              </a:solidFill>
              <a:effectLst/>
              <a:uFillTx/>
              <a:latin typeface="メイリオ"/>
              <a:ea typeface="メイリオ"/>
              <a:cs typeface="メイリオ"/>
            </a:endParaRPr>
          </a:p>
        </p:txBody>
      </p:sp>
      <p:sp>
        <p:nvSpPr>
          <p:cNvPr id="985" name="正方形/長方形 4"/>
          <p:cNvSpPr/>
          <p:nvPr/>
        </p:nvSpPr>
        <p:spPr>
          <a:xfrm>
            <a:off x="4855320" y="1681920"/>
            <a:ext cx="1636920" cy="25452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200" b="0" u="none" strike="noStrike">
              <a:solidFill>
                <a:schemeClr val="dk1">
                  <a:lumMod val="75000"/>
                  <a:lumOff val="25000"/>
                </a:schemeClr>
              </a:solidFill>
              <a:effectLst/>
              <a:uFillTx/>
              <a:latin typeface="メイリオ"/>
              <a:ea typeface="メイリオ"/>
              <a:cs typeface="メイリオ"/>
            </a:endParaRPr>
          </a:p>
        </p:txBody>
      </p:sp>
      <p:pic>
        <p:nvPicPr>
          <p:cNvPr id="986" name="図 5"/>
          <p:cNvPicPr/>
          <p:nvPr/>
        </p:nvPicPr>
        <p:blipFill>
          <a:blip r:embed="rId2"/>
          <a:stretch/>
        </p:blipFill>
        <p:spPr>
          <a:xfrm>
            <a:off x="767880" y="2097720"/>
            <a:ext cx="1748520" cy="1226520"/>
          </a:xfrm>
          <a:prstGeom prst="rect">
            <a:avLst/>
          </a:prstGeom>
          <a:noFill/>
          <a:ln w="0">
            <a:noFill/>
          </a:ln>
        </p:spPr>
      </p:pic>
      <p:pic>
        <p:nvPicPr>
          <p:cNvPr id="987" name="図 6"/>
          <p:cNvPicPr/>
          <p:nvPr/>
        </p:nvPicPr>
        <p:blipFill>
          <a:blip r:embed="rId3"/>
          <a:stretch/>
        </p:blipFill>
        <p:spPr>
          <a:xfrm>
            <a:off x="2629440" y="2290320"/>
            <a:ext cx="2165760" cy="762120"/>
          </a:xfrm>
          <a:prstGeom prst="rect">
            <a:avLst/>
          </a:prstGeom>
          <a:noFill/>
          <a:ln w="0">
            <a:noFill/>
          </a:ln>
        </p:spPr>
      </p:pic>
      <p:pic>
        <p:nvPicPr>
          <p:cNvPr id="988" name="図 7"/>
          <p:cNvPicPr/>
          <p:nvPr/>
        </p:nvPicPr>
        <p:blipFill>
          <a:blip r:embed="rId4"/>
          <a:stretch/>
        </p:blipFill>
        <p:spPr>
          <a:xfrm>
            <a:off x="732600" y="3382560"/>
            <a:ext cx="1896480" cy="592560"/>
          </a:xfrm>
          <a:prstGeom prst="rect">
            <a:avLst/>
          </a:prstGeom>
          <a:noFill/>
          <a:ln w="0">
            <a:noFill/>
          </a:ln>
        </p:spPr>
      </p:pic>
      <p:pic>
        <p:nvPicPr>
          <p:cNvPr id="989" name="図 9"/>
          <p:cNvPicPr/>
          <p:nvPr/>
        </p:nvPicPr>
        <p:blipFill>
          <a:blip r:embed="rId5"/>
          <a:stretch/>
        </p:blipFill>
        <p:spPr>
          <a:xfrm>
            <a:off x="2774880" y="3271680"/>
            <a:ext cx="1980360" cy="824760"/>
          </a:xfrm>
          <a:prstGeom prst="rect">
            <a:avLst/>
          </a:prstGeom>
          <a:noFill/>
          <a:ln w="0">
            <a:noFill/>
          </a:ln>
        </p:spPr>
      </p:pic>
      <p:sp>
        <p:nvSpPr>
          <p:cNvPr id="990" name="二等辺三角形 10"/>
          <p:cNvSpPr/>
          <p:nvPr/>
        </p:nvSpPr>
        <p:spPr>
          <a:xfrm flipV="1">
            <a:off x="2404440" y="4662000"/>
            <a:ext cx="634680" cy="242640"/>
          </a:xfrm>
          <a:prstGeom prst="triangle">
            <a:avLst>
              <a:gd name="adj" fmla="val 50000"/>
            </a:avLst>
          </a:prstGeom>
          <a:solidFill>
            <a:srgbClr val="4F81BD"/>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cs typeface="メイリオ"/>
            </a:endParaRPr>
          </a:p>
        </p:txBody>
      </p:sp>
      <p:sp>
        <p:nvSpPr>
          <p:cNvPr id="991" name="正方形/長方形 11"/>
          <p:cNvSpPr/>
          <p:nvPr/>
        </p:nvSpPr>
        <p:spPr>
          <a:xfrm>
            <a:off x="5088240" y="1746720"/>
            <a:ext cx="2808720" cy="25452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defTabSz="914400">
              <a:lnSpc>
                <a:spcPct val="100000"/>
              </a:lnSpc>
            </a:pPr>
            <a:r>
              <a:rPr lang="en-US" sz="1200" b="0" u="none" strike="noStrike">
                <a:solidFill>
                  <a:schemeClr val="dk1">
                    <a:lumMod val="75000"/>
                    <a:lumOff val="25000"/>
                  </a:schemeClr>
                </a:solidFill>
                <a:effectLst/>
                <a:uFillTx/>
                <a:latin typeface="メイリオ"/>
                <a:ea typeface="メイリオ"/>
                <a:cs typeface="メイリオ"/>
              </a:rPr>
              <a:t>▼参考：L</a:t>
            </a:r>
            <a:r>
              <a:rPr lang="ja-JP" sz="1200" b="0" u="none" strike="noStrike">
                <a:solidFill>
                  <a:schemeClr val="dk1">
                    <a:lumMod val="75000"/>
                    <a:lumOff val="25000"/>
                  </a:schemeClr>
                </a:solidFill>
                <a:effectLst/>
                <a:uFillTx/>
                <a:latin typeface="メイリオ"/>
                <a:ea typeface="メイリオ"/>
                <a:cs typeface="メイリオ"/>
              </a:rPr>
              <a:t>ステップ</a:t>
            </a:r>
            <a:r>
              <a:rPr lang="en-US" sz="1200" b="0" u="none" strike="noStrike">
                <a:solidFill>
                  <a:schemeClr val="dk1">
                    <a:lumMod val="75000"/>
                    <a:lumOff val="25000"/>
                  </a:schemeClr>
                </a:solidFill>
                <a:effectLst/>
                <a:uFillTx/>
                <a:latin typeface="メイリオ"/>
                <a:ea typeface="メイリオ"/>
                <a:cs typeface="メイリオ"/>
              </a:rPr>
              <a:t>API</a:t>
            </a:r>
            <a:r>
              <a:rPr lang="ja-JP" sz="1200" b="0" u="none" strike="noStrike">
                <a:solidFill>
                  <a:schemeClr val="dk1">
                    <a:lumMod val="75000"/>
                    <a:lumOff val="25000"/>
                  </a:schemeClr>
                </a:solidFill>
                <a:effectLst/>
                <a:uFillTx/>
                <a:latin typeface="メイリオ"/>
                <a:ea typeface="メイリオ"/>
                <a:cs typeface="メイリオ"/>
              </a:rPr>
              <a:t>連携機能</a:t>
            </a:r>
            <a:endParaRPr lang="en-US" sz="1200" b="0" u="none" strike="noStrike">
              <a:solidFill>
                <a:srgbClr val="000000"/>
              </a:solidFill>
              <a:effectLst/>
              <a:uFillTx/>
              <a:latin typeface="メイリオ"/>
              <a:ea typeface="メイリオ"/>
              <a:cs typeface="メイリオ"/>
            </a:endParaRPr>
          </a:p>
        </p:txBody>
      </p:sp>
      <p:pic>
        <p:nvPicPr>
          <p:cNvPr id="992" name="図 12"/>
          <p:cNvPicPr/>
          <p:nvPr/>
        </p:nvPicPr>
        <p:blipFill>
          <a:blip r:embed="rId6"/>
          <a:stretch/>
        </p:blipFill>
        <p:spPr>
          <a:xfrm>
            <a:off x="5088240" y="2053800"/>
            <a:ext cx="4493520" cy="4306320"/>
          </a:xfrm>
          <a:prstGeom prst="rect">
            <a:avLst/>
          </a:prstGeom>
          <a:noFill/>
          <a:ln w="0">
            <a:noFill/>
          </a:ln>
        </p:spPr>
      </p:pic>
      <p:sp>
        <p:nvSpPr>
          <p:cNvPr id="993" name="Google Shape;752;p28"/>
          <p:cNvSpPr/>
          <p:nvPr/>
        </p:nvSpPr>
        <p:spPr>
          <a:xfrm>
            <a:off x="776160" y="864360"/>
            <a:ext cx="8353440" cy="52272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algn="ctr" defTabSz="914400">
              <a:lnSpc>
                <a:spcPct val="100000"/>
              </a:lnSpc>
            </a:pPr>
            <a:r>
              <a:rPr lang="en-US" sz="1400" b="0" u="none" strike="noStrike">
                <a:solidFill>
                  <a:schemeClr val="dk1"/>
                </a:solidFill>
                <a:effectLst/>
                <a:uFillTx/>
                <a:latin typeface="メイリオ"/>
                <a:ea typeface="メイリオ"/>
                <a:cs typeface="メイリオ"/>
              </a:rPr>
              <a:t>CRM</a:t>
            </a:r>
            <a:r>
              <a:rPr lang="ja-JP" sz="1400" b="0" u="none" strike="noStrike">
                <a:solidFill>
                  <a:schemeClr val="dk1"/>
                </a:solidFill>
                <a:effectLst/>
                <a:uFillTx/>
                <a:latin typeface="メイリオ"/>
                <a:ea typeface="メイリオ"/>
                <a:cs typeface="メイリオ"/>
              </a:rPr>
              <a:t>、</a:t>
            </a:r>
            <a:r>
              <a:rPr lang="en-US" sz="1400" b="0" u="none" strike="noStrike">
                <a:solidFill>
                  <a:schemeClr val="dk1"/>
                </a:solidFill>
                <a:effectLst/>
                <a:uFillTx/>
                <a:latin typeface="メイリオ"/>
                <a:ea typeface="メイリオ"/>
                <a:cs typeface="メイリオ"/>
              </a:rPr>
              <a:t>API</a:t>
            </a:r>
            <a:r>
              <a:rPr lang="ja-JP" sz="1400" b="0" u="none" strike="noStrike">
                <a:solidFill>
                  <a:schemeClr val="dk1"/>
                </a:solidFill>
                <a:effectLst/>
                <a:uFillTx/>
                <a:latin typeface="メイリオ"/>
                <a:ea typeface="メイリオ"/>
                <a:cs typeface="メイリオ"/>
              </a:rPr>
              <a:t>ツールで要件定義を行いつつ、効率化及び詳細なセグメント設計を目的として、</a:t>
            </a:r>
            <a:endParaRPr lang="en-US" sz="1400" b="0" u="none" strike="noStrike">
              <a:solidFill>
                <a:srgbClr val="000000"/>
              </a:solidFill>
              <a:effectLst/>
              <a:uFillTx/>
              <a:latin typeface="メイリオ"/>
              <a:ea typeface="メイリオ"/>
              <a:cs typeface="メイリオ"/>
            </a:endParaRPr>
          </a:p>
          <a:p>
            <a:pPr algn="ctr" defTabSz="914400">
              <a:lnSpc>
                <a:spcPct val="100000"/>
              </a:lnSpc>
            </a:pPr>
            <a:r>
              <a:rPr lang="ja-JP" sz="1400" b="0" u="none" strike="noStrike">
                <a:solidFill>
                  <a:schemeClr val="dk1"/>
                </a:solidFill>
                <a:effectLst/>
                <a:uFillTx/>
                <a:latin typeface="メイリオ"/>
                <a:ea typeface="メイリオ"/>
                <a:cs typeface="メイリオ"/>
              </a:rPr>
              <a:t>貴社内の顧客管理（</a:t>
            </a:r>
            <a:r>
              <a:rPr lang="en-US" sz="1400" b="0" u="none" strike="noStrike">
                <a:solidFill>
                  <a:schemeClr val="dk1"/>
                </a:solidFill>
                <a:effectLst/>
                <a:uFillTx/>
                <a:latin typeface="メイリオ"/>
                <a:ea typeface="メイリオ"/>
                <a:cs typeface="メイリオ"/>
              </a:rPr>
              <a:t>CRM</a:t>
            </a:r>
            <a:r>
              <a:rPr lang="ja-JP" sz="1400" b="0" u="none" strike="noStrike">
                <a:solidFill>
                  <a:schemeClr val="dk1"/>
                </a:solidFill>
                <a:effectLst/>
                <a:uFillTx/>
                <a:latin typeface="メイリオ"/>
                <a:ea typeface="メイリオ"/>
                <a:cs typeface="メイリオ"/>
              </a:rPr>
              <a:t>）ツールとの連携の実施も可能です。</a:t>
            </a:r>
            <a:r>
              <a:rPr lang="en-US" sz="1100" b="0" u="none" strike="noStrike">
                <a:solidFill>
                  <a:srgbClr val="FF0000"/>
                </a:solidFill>
                <a:effectLst/>
                <a:uFillTx/>
                <a:latin typeface="メイリオ"/>
                <a:ea typeface="メイリオ"/>
                <a:cs typeface="メイリオ"/>
              </a:rPr>
              <a:t> ※開発は別途費用</a:t>
            </a:r>
            <a:endParaRPr lang="en-US" sz="1100" b="0" u="none" strike="noStrike">
              <a:solidFill>
                <a:srgbClr val="000000"/>
              </a:solidFill>
              <a:effectLst/>
              <a:uFillTx/>
              <a:latin typeface="メイリオ"/>
              <a:ea typeface="メイリオ"/>
              <a:cs typeface="メイリオ"/>
            </a:endParaRPr>
          </a:p>
        </p:txBody>
      </p:sp>
      <p:pic>
        <p:nvPicPr>
          <p:cNvPr id="994" name="図 15"/>
          <p:cNvPicPr/>
          <p:nvPr/>
        </p:nvPicPr>
        <p:blipFill>
          <a:blip r:embed="rId7"/>
          <a:stretch/>
        </p:blipFill>
        <p:spPr>
          <a:xfrm>
            <a:off x="8357040" y="3138840"/>
            <a:ext cx="1224720" cy="371160"/>
          </a:xfrm>
          <a:prstGeom prst="rect">
            <a:avLst/>
          </a:prstGeom>
          <a:noFill/>
          <a:ln w="0">
            <a:noFill/>
          </a:ln>
        </p:spPr>
      </p:pic>
      <p:sp>
        <p:nvSpPr>
          <p:cNvPr id="995" name="正方形/長方形 17"/>
          <p:cNvSpPr/>
          <p:nvPr/>
        </p:nvSpPr>
        <p:spPr>
          <a:xfrm>
            <a:off x="7392960" y="2667960"/>
            <a:ext cx="1404000" cy="70416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defTabSz="914400">
              <a:lnSpc>
                <a:spcPct val="100000"/>
              </a:lnSpc>
            </a:pPr>
            <a:r>
              <a:rPr lang="en-US" sz="1200" b="0" u="none" strike="noStrike">
                <a:solidFill>
                  <a:schemeClr val="dk1">
                    <a:lumMod val="75000"/>
                    <a:lumOff val="25000"/>
                  </a:schemeClr>
                </a:solidFill>
                <a:effectLst/>
                <a:uFillTx/>
                <a:latin typeface="メイリオ"/>
                <a:ea typeface="メイリオ"/>
                <a:cs typeface="メイリオ"/>
              </a:rPr>
              <a:t>LINE</a:t>
            </a:r>
            <a:r>
              <a:rPr lang="ja-JP" sz="1200" b="0" u="none" strike="noStrike">
                <a:solidFill>
                  <a:schemeClr val="dk1">
                    <a:lumMod val="75000"/>
                    <a:lumOff val="25000"/>
                  </a:schemeClr>
                </a:solidFill>
                <a:effectLst/>
                <a:uFillTx/>
                <a:latin typeface="メイリオ"/>
                <a:ea typeface="メイリオ"/>
                <a:cs typeface="メイリオ"/>
              </a:rPr>
              <a:t>公式と</a:t>
            </a:r>
            <a:r>
              <a:rPr lang="en-US" sz="1200" b="0" u="none" strike="noStrike">
                <a:solidFill>
                  <a:schemeClr val="dk1">
                    <a:lumMod val="75000"/>
                    <a:lumOff val="25000"/>
                  </a:schemeClr>
                </a:solidFill>
                <a:effectLst/>
                <a:uFillTx/>
                <a:latin typeface="メイリオ"/>
                <a:ea typeface="メイリオ"/>
                <a:cs typeface="メイリオ"/>
              </a:rPr>
              <a:t>API</a:t>
            </a:r>
            <a:r>
              <a:rPr lang="ja-JP" sz="1200" b="0" u="none" strike="noStrike">
                <a:solidFill>
                  <a:schemeClr val="dk1">
                    <a:lumMod val="75000"/>
                    <a:lumOff val="25000"/>
                  </a:schemeClr>
                </a:solidFill>
                <a:effectLst/>
                <a:uFillTx/>
                <a:latin typeface="メイリオ"/>
                <a:ea typeface="メイリオ"/>
                <a:cs typeface="メイリオ"/>
              </a:rPr>
              <a:t>ツール間の</a:t>
            </a:r>
            <a:endParaRPr lang="en-US" sz="1200" b="0" u="none" strike="noStrike">
              <a:solidFill>
                <a:srgbClr val="000000"/>
              </a:solidFill>
              <a:effectLst/>
              <a:uFillTx/>
              <a:latin typeface="メイリオ"/>
              <a:ea typeface="メイリオ"/>
              <a:cs typeface="メイリオ"/>
            </a:endParaRPr>
          </a:p>
          <a:p>
            <a:pPr defTabSz="914400">
              <a:lnSpc>
                <a:spcPct val="100000"/>
              </a:lnSpc>
            </a:pPr>
            <a:r>
              <a:rPr lang="ja-JP" sz="1200" b="0" u="none" strike="noStrike">
                <a:solidFill>
                  <a:schemeClr val="dk1">
                    <a:lumMod val="75000"/>
                    <a:lumOff val="25000"/>
                  </a:schemeClr>
                </a:solidFill>
                <a:effectLst/>
                <a:uFillTx/>
                <a:latin typeface="メイリオ"/>
                <a:ea typeface="メイリオ"/>
                <a:cs typeface="メイリオ"/>
              </a:rPr>
              <a:t>情報連携</a:t>
            </a:r>
            <a:endParaRPr lang="en-US" sz="1200" b="0" u="none" strike="noStrike">
              <a:solidFill>
                <a:srgbClr val="000000"/>
              </a:solidFill>
              <a:effectLst/>
              <a:uFillTx/>
              <a:latin typeface="メイリオ"/>
              <a:ea typeface="メイリオ"/>
              <a:cs typeface="メイリオ"/>
            </a:endParaRPr>
          </a:p>
        </p:txBody>
      </p:sp>
      <p:sp>
        <p:nvSpPr>
          <p:cNvPr id="996" name="正方形/長方形 18"/>
          <p:cNvSpPr/>
          <p:nvPr/>
        </p:nvSpPr>
        <p:spPr>
          <a:xfrm>
            <a:off x="5873760" y="2711520"/>
            <a:ext cx="988920" cy="42336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defTabSz="914400">
              <a:lnSpc>
                <a:spcPct val="100000"/>
              </a:lnSpc>
            </a:pPr>
            <a:r>
              <a:rPr lang="ja-JP" sz="1200" b="0" u="none" strike="noStrike">
                <a:solidFill>
                  <a:schemeClr val="dk1">
                    <a:lumMod val="75000"/>
                    <a:lumOff val="25000"/>
                  </a:schemeClr>
                </a:solidFill>
                <a:effectLst/>
                <a:uFillTx/>
                <a:latin typeface="メイリオ"/>
                <a:ea typeface="メイリオ"/>
                <a:cs typeface="メイリオ"/>
              </a:rPr>
              <a:t>メッセ送信</a:t>
            </a:r>
            <a:endParaRPr lang="en-US" sz="1200" b="0" u="none" strike="noStrike">
              <a:solidFill>
                <a:srgbClr val="000000"/>
              </a:solidFill>
              <a:effectLst/>
              <a:uFillTx/>
              <a:latin typeface="メイリオ"/>
              <a:ea typeface="メイリオ"/>
              <a:cs typeface="メイリオ"/>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7" name="Google Shape;156;p7"/>
          <p:cNvSpPr/>
          <p:nvPr/>
        </p:nvSpPr>
        <p:spPr>
          <a:xfrm>
            <a:off x="549000" y="138240"/>
            <a:ext cx="65145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ja-JP" sz="1600" b="1" u="none" strike="noStrike">
                <a:solidFill>
                  <a:srgbClr val="002060"/>
                </a:solidFill>
                <a:effectLst/>
                <a:uFillTx/>
                <a:latin typeface="メイリオ"/>
                <a:ea typeface="メイリオ"/>
                <a:cs typeface="メイリオ"/>
              </a:rPr>
              <a:t>その他 代表的な活用機能</a:t>
            </a:r>
            <a:endParaRPr lang="en-US" sz="1600" b="0" u="none" strike="noStrike">
              <a:solidFill>
                <a:srgbClr val="000000"/>
              </a:solidFill>
              <a:effectLst/>
              <a:uFillTx/>
              <a:latin typeface="メイリオ"/>
              <a:ea typeface="メイリオ"/>
              <a:cs typeface="メイリオ"/>
            </a:endParaRPr>
          </a:p>
        </p:txBody>
      </p:sp>
      <p:sp>
        <p:nvSpPr>
          <p:cNvPr id="998" name="正方形/長方形 7"/>
          <p:cNvSpPr/>
          <p:nvPr/>
        </p:nvSpPr>
        <p:spPr>
          <a:xfrm>
            <a:off x="295560" y="822960"/>
            <a:ext cx="2540880" cy="48528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600" b="1" u="none" strike="noStrike">
                <a:solidFill>
                  <a:schemeClr val="lt1"/>
                </a:solidFill>
                <a:effectLst/>
                <a:uFillTx/>
                <a:latin typeface="メイリオ"/>
                <a:ea typeface="メイリオ"/>
                <a:cs typeface="メイリオ"/>
              </a:rPr>
              <a:t>ミニアプリ</a:t>
            </a:r>
            <a:endParaRPr lang="en-US" sz="1600" b="0" u="none" strike="noStrike">
              <a:solidFill>
                <a:srgbClr val="FFFFFF"/>
              </a:solidFill>
              <a:effectLst/>
              <a:uFillTx/>
              <a:latin typeface="メイリオ"/>
              <a:ea typeface="メイリオ"/>
              <a:cs typeface="メイリオ"/>
            </a:endParaRPr>
          </a:p>
        </p:txBody>
      </p:sp>
      <p:pic>
        <p:nvPicPr>
          <p:cNvPr id="999" name="図 14"/>
          <p:cNvPicPr/>
          <p:nvPr/>
        </p:nvPicPr>
        <p:blipFill>
          <a:blip r:embed="rId2"/>
          <a:stretch/>
        </p:blipFill>
        <p:spPr>
          <a:xfrm>
            <a:off x="394920" y="4223520"/>
            <a:ext cx="4883400" cy="2255040"/>
          </a:xfrm>
          <a:prstGeom prst="rect">
            <a:avLst/>
          </a:prstGeom>
          <a:noFill/>
          <a:ln w="0">
            <a:noFill/>
          </a:ln>
        </p:spPr>
      </p:pic>
      <p:pic>
        <p:nvPicPr>
          <p:cNvPr id="1000" name="図 15"/>
          <p:cNvPicPr/>
          <p:nvPr/>
        </p:nvPicPr>
        <p:blipFill>
          <a:blip r:embed="rId3"/>
          <a:stretch/>
        </p:blipFill>
        <p:spPr>
          <a:xfrm>
            <a:off x="5447520" y="4291920"/>
            <a:ext cx="4377240" cy="1962000"/>
          </a:xfrm>
          <a:prstGeom prst="rect">
            <a:avLst/>
          </a:prstGeom>
          <a:noFill/>
          <a:ln w="0">
            <a:noFill/>
          </a:ln>
        </p:spPr>
      </p:pic>
      <p:pic>
        <p:nvPicPr>
          <p:cNvPr id="1001" name="図 16"/>
          <p:cNvPicPr/>
          <p:nvPr/>
        </p:nvPicPr>
        <p:blipFill>
          <a:blip r:embed="rId4"/>
          <a:stretch/>
        </p:blipFill>
        <p:spPr>
          <a:xfrm>
            <a:off x="295560" y="1824480"/>
            <a:ext cx="5880600" cy="2266560"/>
          </a:xfrm>
          <a:prstGeom prst="rect">
            <a:avLst/>
          </a:prstGeom>
          <a:noFill/>
          <a:ln w="0">
            <a:noFill/>
          </a:ln>
        </p:spPr>
      </p:pic>
      <p:sp>
        <p:nvSpPr>
          <p:cNvPr id="1002" name="正方形/長方形 1"/>
          <p:cNvSpPr/>
          <p:nvPr/>
        </p:nvSpPr>
        <p:spPr>
          <a:xfrm>
            <a:off x="2971080" y="822960"/>
            <a:ext cx="6669000" cy="584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600" b="1" u="none" strike="noStrike">
                <a:solidFill>
                  <a:schemeClr val="dk1">
                    <a:lumMod val="65000"/>
                    <a:lumOff val="35000"/>
                  </a:schemeClr>
                </a:solidFill>
                <a:effectLst/>
                <a:uFillTx/>
                <a:latin typeface="メイリオ"/>
                <a:ea typeface="メイリオ"/>
                <a:cs typeface="メイリオ"/>
              </a:rPr>
              <a:t>LINE</a:t>
            </a:r>
            <a:r>
              <a:rPr lang="ja-JP" sz="1600" b="1" u="none" strike="noStrike">
                <a:solidFill>
                  <a:schemeClr val="dk1">
                    <a:lumMod val="65000"/>
                    <a:lumOff val="35000"/>
                  </a:schemeClr>
                </a:solidFill>
                <a:effectLst/>
                <a:uFillTx/>
                <a:latin typeface="メイリオ"/>
                <a:ea typeface="メイリオ"/>
                <a:cs typeface="メイリオ"/>
              </a:rPr>
              <a:t>内で活用できるミニアプリでは、ゲームや抽選といった機能を</a:t>
            </a:r>
            <a:endParaRPr lang="en-US" sz="1600" b="0" u="none" strike="noStrike">
              <a:solidFill>
                <a:srgbClr val="000000"/>
              </a:solidFill>
              <a:effectLst/>
              <a:uFillTx/>
              <a:latin typeface="メイリオ"/>
              <a:ea typeface="メイリオ"/>
              <a:cs typeface="メイリオ"/>
            </a:endParaRPr>
          </a:p>
          <a:p>
            <a:pPr defTabSz="914400">
              <a:lnSpc>
                <a:spcPct val="100000"/>
              </a:lnSpc>
            </a:pPr>
            <a:r>
              <a:rPr lang="ja-JP" sz="1600" b="1" u="none" strike="noStrike">
                <a:solidFill>
                  <a:schemeClr val="dk1">
                    <a:lumMod val="65000"/>
                    <a:lumOff val="35000"/>
                  </a:schemeClr>
                </a:solidFill>
                <a:effectLst/>
                <a:uFillTx/>
                <a:latin typeface="メイリオ"/>
                <a:ea typeface="メイリオ"/>
                <a:cs typeface="メイリオ"/>
              </a:rPr>
              <a:t>アプリ開発よりも大幅に格安な価格帯で利用できるサービス。</a:t>
            </a:r>
            <a:endParaRPr lang="en-US" sz="1600" b="0" u="none" strike="noStrike">
              <a:solidFill>
                <a:srgbClr val="000000"/>
              </a:solidFill>
              <a:effectLst/>
              <a:uFillTx/>
              <a:latin typeface="メイリオ"/>
              <a:ea typeface="メイリオ"/>
              <a:cs typeface="メイリオ"/>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 name="Google Shape;156;p7"/>
          <p:cNvSpPr/>
          <p:nvPr/>
        </p:nvSpPr>
        <p:spPr>
          <a:xfrm>
            <a:off x="549000" y="138240"/>
            <a:ext cx="65145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002060"/>
                </a:solidFill>
                <a:effectLst/>
                <a:uFillTx/>
                <a:latin typeface="メイリオ"/>
                <a:ea typeface="メイリオ"/>
                <a:cs typeface="メイリオ"/>
              </a:rPr>
              <a:t>その他 代表的な活用機能</a:t>
            </a:r>
            <a:endParaRPr lang="en-US" sz="1600" b="0" u="none" strike="noStrike">
              <a:solidFill>
                <a:srgbClr val="000000"/>
              </a:solidFill>
              <a:effectLst/>
              <a:uFillTx/>
              <a:latin typeface="メイリオ"/>
              <a:ea typeface="メイリオ"/>
              <a:cs typeface="メイリオ"/>
            </a:endParaRPr>
          </a:p>
        </p:txBody>
      </p:sp>
      <p:sp>
        <p:nvSpPr>
          <p:cNvPr id="1004" name="正方形/長方形 27"/>
          <p:cNvSpPr/>
          <p:nvPr/>
        </p:nvSpPr>
        <p:spPr>
          <a:xfrm>
            <a:off x="209520" y="1455480"/>
            <a:ext cx="716040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600" b="1" u="none" strike="noStrike">
                <a:solidFill>
                  <a:schemeClr val="dk1">
                    <a:lumMod val="65000"/>
                    <a:lumOff val="35000"/>
                  </a:schemeClr>
                </a:solidFill>
                <a:effectLst/>
                <a:uFillTx/>
                <a:latin typeface="メイリオ"/>
                <a:ea typeface="メイリオ"/>
                <a:cs typeface="メイリオ"/>
              </a:rPr>
              <a:t>「</a:t>
            </a:r>
            <a:r>
              <a:rPr lang="en-US" sz="1600" b="1" u="none" strike="noStrike">
                <a:solidFill>
                  <a:schemeClr val="dk1">
                    <a:lumMod val="65000"/>
                    <a:lumOff val="35000"/>
                  </a:schemeClr>
                </a:solidFill>
                <a:effectLst/>
                <a:uFillTx/>
                <a:latin typeface="メイリオ"/>
                <a:ea typeface="メイリオ"/>
                <a:cs typeface="メイリオ"/>
              </a:rPr>
              <a:t>LINE</a:t>
            </a:r>
            <a:r>
              <a:rPr lang="ja-JP" sz="1600" b="1" u="none" strike="noStrike">
                <a:solidFill>
                  <a:schemeClr val="dk1">
                    <a:lumMod val="65000"/>
                    <a:lumOff val="35000"/>
                  </a:schemeClr>
                </a:solidFill>
                <a:effectLst/>
                <a:uFillTx/>
                <a:latin typeface="メイリオ"/>
                <a:ea typeface="メイリオ"/>
                <a:cs typeface="メイリオ"/>
              </a:rPr>
              <a:t>チャット</a:t>
            </a:r>
            <a:r>
              <a:rPr lang="en-US" sz="1600" b="1" u="none" strike="noStrike">
                <a:solidFill>
                  <a:schemeClr val="dk1">
                    <a:lumMod val="65000"/>
                    <a:lumOff val="35000"/>
                  </a:schemeClr>
                </a:solidFill>
                <a:effectLst/>
                <a:uFillTx/>
                <a:latin typeface="メイリオ"/>
                <a:ea typeface="メイリオ"/>
                <a:cs typeface="メイリオ"/>
              </a:rPr>
              <a:t>Plus</a:t>
            </a:r>
            <a:r>
              <a:rPr lang="ja-JP" sz="1600" b="1" u="none" strike="noStrike">
                <a:solidFill>
                  <a:schemeClr val="dk1">
                    <a:lumMod val="65000"/>
                    <a:lumOff val="35000"/>
                  </a:schemeClr>
                </a:solidFill>
                <a:effectLst/>
                <a:uFillTx/>
                <a:latin typeface="メイリオ"/>
                <a:ea typeface="メイリオ"/>
                <a:cs typeface="メイリオ"/>
              </a:rPr>
              <a:t>」は、</a:t>
            </a:r>
            <a:r>
              <a:rPr lang="en-US" sz="1600" b="1" u="none" strike="noStrike">
                <a:solidFill>
                  <a:schemeClr val="dk1">
                    <a:lumMod val="65000"/>
                    <a:lumOff val="35000"/>
                  </a:schemeClr>
                </a:solidFill>
                <a:effectLst/>
                <a:uFillTx/>
                <a:latin typeface="メイリオ"/>
                <a:ea typeface="メイリオ"/>
                <a:cs typeface="メイリオ"/>
              </a:rPr>
              <a:t>FAQ</a:t>
            </a:r>
            <a:r>
              <a:rPr lang="ja-JP" sz="1600" b="1" u="none" strike="noStrike">
                <a:solidFill>
                  <a:schemeClr val="dk1">
                    <a:lumMod val="65000"/>
                    <a:lumOff val="35000"/>
                  </a:schemeClr>
                </a:solidFill>
                <a:effectLst/>
                <a:uFillTx/>
                <a:latin typeface="メイリオ"/>
                <a:ea typeface="メイリオ"/>
                <a:cs typeface="メイリオ"/>
              </a:rPr>
              <a:t>をもとにした</a:t>
            </a:r>
            <a:r>
              <a:rPr lang="en-US" sz="1600" b="1" u="none" strike="noStrike">
                <a:solidFill>
                  <a:schemeClr val="dk1">
                    <a:lumMod val="65000"/>
                    <a:lumOff val="35000"/>
                  </a:schemeClr>
                </a:solidFill>
                <a:effectLst/>
                <a:uFillTx/>
                <a:latin typeface="メイリオ"/>
                <a:ea typeface="メイリオ"/>
                <a:cs typeface="メイリオ"/>
              </a:rPr>
              <a:t>AI</a:t>
            </a:r>
            <a:r>
              <a:rPr lang="ja-JP" sz="1600" b="1" u="none" strike="noStrike">
                <a:solidFill>
                  <a:schemeClr val="dk1">
                    <a:lumMod val="65000"/>
                    <a:lumOff val="35000"/>
                  </a:schemeClr>
                </a:solidFill>
                <a:effectLst/>
                <a:uFillTx/>
                <a:latin typeface="メイリオ"/>
                <a:ea typeface="メイリオ"/>
                <a:cs typeface="メイリオ"/>
              </a:rPr>
              <a:t>による自動応答や、</a:t>
            </a:r>
            <a:endParaRPr lang="en-US" sz="1600" b="0" u="none" strike="noStrike">
              <a:solidFill>
                <a:srgbClr val="000000"/>
              </a:solidFill>
              <a:effectLst/>
              <a:uFillTx/>
              <a:latin typeface="メイリオ"/>
              <a:ea typeface="メイリオ"/>
              <a:cs typeface="メイリオ"/>
            </a:endParaRPr>
          </a:p>
          <a:p>
            <a:pPr defTabSz="914400">
              <a:lnSpc>
                <a:spcPct val="100000"/>
              </a:lnSpc>
            </a:pPr>
            <a:r>
              <a:rPr lang="ja-JP" sz="1600" b="1" u="none" strike="noStrike">
                <a:solidFill>
                  <a:schemeClr val="dk1">
                    <a:lumMod val="65000"/>
                    <a:lumOff val="35000"/>
                  </a:schemeClr>
                </a:solidFill>
                <a:effectLst/>
                <a:uFillTx/>
                <a:latin typeface="メイリオ"/>
                <a:ea typeface="メイリオ"/>
                <a:cs typeface="メイリオ"/>
              </a:rPr>
              <a:t>有人でのチャット対応による細かなサポートを可能にするオプション機能。</a:t>
            </a:r>
            <a:endParaRPr lang="en-US" sz="1600" b="0" u="none" strike="noStrike">
              <a:solidFill>
                <a:srgbClr val="000000"/>
              </a:solidFill>
              <a:effectLst/>
              <a:uFillTx/>
              <a:latin typeface="メイリオ"/>
              <a:ea typeface="メイリオ"/>
              <a:cs typeface="メイリオ"/>
            </a:endParaRPr>
          </a:p>
        </p:txBody>
      </p:sp>
      <p:sp>
        <p:nvSpPr>
          <p:cNvPr id="1005" name="正方形/長方形 28"/>
          <p:cNvSpPr/>
          <p:nvPr/>
        </p:nvSpPr>
        <p:spPr>
          <a:xfrm>
            <a:off x="295560" y="822960"/>
            <a:ext cx="2540880" cy="48528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zh-CN" sz="1600" b="1" u="none" strike="noStrike">
                <a:solidFill>
                  <a:schemeClr val="lt1"/>
                </a:solidFill>
                <a:effectLst/>
                <a:uFillTx/>
                <a:latin typeface="メイリオ"/>
                <a:ea typeface="メイリオ"/>
                <a:cs typeface="メイリオ"/>
              </a:rPr>
              <a:t>【</a:t>
            </a:r>
            <a:r>
              <a:rPr lang="en-US" sz="1600" b="1" u="none" strike="noStrike">
                <a:solidFill>
                  <a:schemeClr val="lt1"/>
                </a:solidFill>
                <a:effectLst/>
                <a:uFillTx/>
                <a:latin typeface="メイリオ"/>
                <a:ea typeface="メイリオ"/>
                <a:cs typeface="メイリオ"/>
              </a:rPr>
              <a:t>LINE</a:t>
            </a:r>
            <a:r>
              <a:rPr lang="zh-CN" sz="1600" b="1" u="none" strike="noStrike">
                <a:solidFill>
                  <a:schemeClr val="lt1"/>
                </a:solidFill>
                <a:effectLst/>
                <a:uFillTx/>
                <a:latin typeface="メイリオ"/>
                <a:ea typeface="メイリオ"/>
                <a:cs typeface="メイリオ"/>
              </a:rPr>
              <a:t>】</a:t>
            </a:r>
            <a:r>
              <a:rPr lang="en-US" sz="1600" b="1" u="none" strike="noStrike">
                <a:solidFill>
                  <a:schemeClr val="lt1"/>
                </a:solidFill>
                <a:effectLst/>
                <a:uFillTx/>
                <a:latin typeface="メイリオ"/>
                <a:ea typeface="メイリオ"/>
                <a:cs typeface="メイリオ"/>
              </a:rPr>
              <a:t>Chat Plus</a:t>
            </a:r>
            <a:endParaRPr lang="en-US" sz="1600" b="0" u="none" strike="noStrike">
              <a:solidFill>
                <a:srgbClr val="FFFFFF"/>
              </a:solidFill>
              <a:effectLst/>
              <a:uFillTx/>
              <a:latin typeface="メイリオ"/>
              <a:ea typeface="メイリオ"/>
              <a:cs typeface="メイリオ"/>
            </a:endParaRPr>
          </a:p>
        </p:txBody>
      </p:sp>
      <p:sp>
        <p:nvSpPr>
          <p:cNvPr id="1006" name="角丸四角形 29"/>
          <p:cNvSpPr/>
          <p:nvPr/>
        </p:nvSpPr>
        <p:spPr>
          <a:xfrm>
            <a:off x="549000" y="2287440"/>
            <a:ext cx="4031280" cy="419868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cs typeface="メイリオ"/>
            </a:endParaRPr>
          </a:p>
        </p:txBody>
      </p:sp>
      <p:pic>
        <p:nvPicPr>
          <p:cNvPr id="1007" name="図 2"/>
          <p:cNvPicPr/>
          <p:nvPr/>
        </p:nvPicPr>
        <p:blipFill>
          <a:blip r:embed="rId2"/>
          <a:srcRect t="34311" b="34333"/>
          <a:stretch/>
        </p:blipFill>
        <p:spPr>
          <a:xfrm>
            <a:off x="683640" y="2611440"/>
            <a:ext cx="3762000" cy="2097000"/>
          </a:xfrm>
          <a:prstGeom prst="rect">
            <a:avLst/>
          </a:prstGeom>
          <a:noFill/>
          <a:ln w="0">
            <a:noFill/>
          </a:ln>
        </p:spPr>
      </p:pic>
      <p:sp>
        <p:nvSpPr>
          <p:cNvPr id="1008" name="正方形/長方形 32"/>
          <p:cNvSpPr/>
          <p:nvPr/>
        </p:nvSpPr>
        <p:spPr>
          <a:xfrm>
            <a:off x="830880" y="5032800"/>
            <a:ext cx="3467160" cy="8305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600" b="1" u="none" strike="noStrike">
                <a:solidFill>
                  <a:schemeClr val="dk1">
                    <a:lumMod val="65000"/>
                    <a:lumOff val="35000"/>
                  </a:schemeClr>
                </a:solidFill>
                <a:effectLst/>
                <a:uFillTx/>
                <a:latin typeface="メイリオ"/>
                <a:ea typeface="メイリオ"/>
                <a:cs typeface="メイリオ"/>
              </a:rPr>
              <a:t>ホームページから気軽にチャットで</a:t>
            </a:r>
            <a:endParaRPr lang="en-US" sz="1600" b="0" u="none" strike="noStrike">
              <a:solidFill>
                <a:srgbClr val="000000"/>
              </a:solidFill>
              <a:effectLst/>
              <a:uFillTx/>
              <a:latin typeface="メイリオ"/>
              <a:ea typeface="メイリオ"/>
              <a:cs typeface="メイリオ"/>
            </a:endParaRPr>
          </a:p>
          <a:p>
            <a:pPr defTabSz="914400">
              <a:lnSpc>
                <a:spcPct val="100000"/>
              </a:lnSpc>
            </a:pPr>
            <a:r>
              <a:rPr lang="ja-JP" sz="1600" b="1" u="none" strike="noStrike">
                <a:solidFill>
                  <a:schemeClr val="dk1">
                    <a:lumMod val="65000"/>
                    <a:lumOff val="35000"/>
                  </a:schemeClr>
                </a:solidFill>
                <a:effectLst/>
                <a:uFillTx/>
                <a:latin typeface="メイリオ"/>
                <a:ea typeface="メイリオ"/>
                <a:cs typeface="メイリオ"/>
              </a:rPr>
              <a:t>問い合わせができるようになり</a:t>
            </a:r>
            <a:endParaRPr lang="en-US" sz="1600" b="0" u="none" strike="noStrike">
              <a:solidFill>
                <a:srgbClr val="000000"/>
              </a:solidFill>
              <a:effectLst/>
              <a:uFillTx/>
              <a:latin typeface="メイリオ"/>
              <a:ea typeface="メイリオ"/>
              <a:cs typeface="メイリオ"/>
            </a:endParaRPr>
          </a:p>
          <a:p>
            <a:pPr defTabSz="914400">
              <a:lnSpc>
                <a:spcPct val="100000"/>
              </a:lnSpc>
            </a:pPr>
            <a:r>
              <a:rPr lang="ja-JP" sz="1600" b="1" u="none" strike="noStrike">
                <a:solidFill>
                  <a:schemeClr val="dk1">
                    <a:lumMod val="65000"/>
                    <a:lumOff val="35000"/>
                  </a:schemeClr>
                </a:solidFill>
                <a:effectLst/>
                <a:uFillTx/>
                <a:latin typeface="メイリオ"/>
                <a:ea typeface="メイリオ"/>
                <a:cs typeface="メイリオ"/>
              </a:rPr>
              <a:t>資料請求や商品の購入に繋がる。</a:t>
            </a:r>
            <a:endParaRPr lang="en-US" sz="1600" b="0" u="none" strike="noStrike">
              <a:solidFill>
                <a:srgbClr val="000000"/>
              </a:solidFill>
              <a:effectLst/>
              <a:uFillTx/>
              <a:latin typeface="メイリオ"/>
              <a:ea typeface="メイリオ"/>
              <a:cs typeface="メイリオ"/>
            </a:endParaRPr>
          </a:p>
        </p:txBody>
      </p:sp>
      <p:grpSp>
        <p:nvGrpSpPr>
          <p:cNvPr id="1009" name="Group 25"/>
          <p:cNvGrpSpPr/>
          <p:nvPr/>
        </p:nvGrpSpPr>
        <p:grpSpPr>
          <a:xfrm>
            <a:off x="4971240" y="3147120"/>
            <a:ext cx="600840" cy="300960"/>
            <a:chOff x="4971240" y="3147120"/>
            <a:chExt cx="600840" cy="300960"/>
          </a:xfrm>
        </p:grpSpPr>
        <p:sp>
          <p:nvSpPr>
            <p:cNvPr id="1010" name="Freeform 26"/>
            <p:cNvSpPr/>
            <p:nvPr/>
          </p:nvSpPr>
          <p:spPr>
            <a:xfrm rot="5400000">
              <a:off x="5121000" y="299700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cs typeface="メイリオ"/>
              </a:endParaRPr>
            </a:p>
          </p:txBody>
        </p:sp>
        <p:sp>
          <p:nvSpPr>
            <p:cNvPr id="1011" name="TextBox 27"/>
            <p:cNvSpPr/>
            <p:nvPr/>
          </p:nvSpPr>
          <p:spPr>
            <a:xfrm rot="5400000">
              <a:off x="5062680" y="3145680"/>
              <a:ext cx="207000" cy="30420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cs typeface="メイリオ"/>
              </a:endParaRPr>
            </a:p>
          </p:txBody>
        </p:sp>
      </p:grpSp>
      <p:sp>
        <p:nvSpPr>
          <p:cNvPr id="1012" name="TextBox 38"/>
          <p:cNvSpPr/>
          <p:nvPr/>
        </p:nvSpPr>
        <p:spPr>
          <a:xfrm>
            <a:off x="5836680" y="3018960"/>
            <a:ext cx="3788640" cy="56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ja-JP" sz="1560" b="1" u="none" strike="noStrike">
                <a:solidFill>
                  <a:srgbClr val="494848"/>
                </a:solidFill>
                <a:effectLst/>
                <a:uFillTx/>
                <a:latin typeface="メイリオ"/>
                <a:ea typeface="メイリオ"/>
                <a:cs typeface="メイリオ"/>
              </a:rPr>
              <a:t>自動応答と有人応答を使い分けることが</a:t>
            </a:r>
            <a:endParaRPr lang="en-US" sz="1560" b="0" u="none" strike="noStrike">
              <a:solidFill>
                <a:srgbClr val="000000"/>
              </a:solidFill>
              <a:effectLst/>
              <a:uFillTx/>
              <a:latin typeface="メイリオ"/>
              <a:ea typeface="メイリオ"/>
              <a:cs typeface="メイリオ"/>
            </a:endParaRPr>
          </a:p>
          <a:p>
            <a:pPr defTabSz="914400">
              <a:lnSpc>
                <a:spcPts val="2177"/>
              </a:lnSpc>
            </a:pPr>
            <a:r>
              <a:rPr lang="ja-JP" sz="1560" b="1" u="none" strike="noStrike">
                <a:solidFill>
                  <a:srgbClr val="494848"/>
                </a:solidFill>
                <a:effectLst/>
                <a:uFillTx/>
                <a:latin typeface="メイリオ"/>
                <a:ea typeface="メイリオ"/>
                <a:cs typeface="メイリオ"/>
              </a:rPr>
              <a:t>できる</a:t>
            </a:r>
            <a:endParaRPr lang="en-US" sz="1560" b="0" u="none" strike="noStrike">
              <a:solidFill>
                <a:srgbClr val="000000"/>
              </a:solidFill>
              <a:effectLst/>
              <a:uFillTx/>
              <a:latin typeface="メイリオ"/>
              <a:ea typeface="メイリオ"/>
              <a:cs typeface="メイリオ"/>
            </a:endParaRPr>
          </a:p>
        </p:txBody>
      </p:sp>
      <p:grpSp>
        <p:nvGrpSpPr>
          <p:cNvPr id="1013" name="Group 25"/>
          <p:cNvGrpSpPr/>
          <p:nvPr/>
        </p:nvGrpSpPr>
        <p:grpSpPr>
          <a:xfrm>
            <a:off x="4971240" y="4145400"/>
            <a:ext cx="600840" cy="300960"/>
            <a:chOff x="4971240" y="4145400"/>
            <a:chExt cx="600840" cy="300960"/>
          </a:xfrm>
        </p:grpSpPr>
        <p:sp>
          <p:nvSpPr>
            <p:cNvPr id="1014" name="Freeform 26"/>
            <p:cNvSpPr/>
            <p:nvPr/>
          </p:nvSpPr>
          <p:spPr>
            <a:xfrm rot="5400000">
              <a:off x="5121000" y="399528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cs typeface="メイリオ"/>
              </a:endParaRPr>
            </a:p>
          </p:txBody>
        </p:sp>
        <p:sp>
          <p:nvSpPr>
            <p:cNvPr id="1015" name="TextBox 27"/>
            <p:cNvSpPr/>
            <p:nvPr/>
          </p:nvSpPr>
          <p:spPr>
            <a:xfrm rot="5400000">
              <a:off x="5062680" y="4143960"/>
              <a:ext cx="207000" cy="30420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cs typeface="メイリオ"/>
              </a:endParaRPr>
            </a:p>
          </p:txBody>
        </p:sp>
      </p:grpSp>
      <p:sp>
        <p:nvSpPr>
          <p:cNvPr id="1016" name="TextBox 38"/>
          <p:cNvSpPr/>
          <p:nvPr/>
        </p:nvSpPr>
        <p:spPr>
          <a:xfrm>
            <a:off x="5836680" y="4017240"/>
            <a:ext cx="3788640" cy="56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ja-JP" sz="1560" b="1" u="none" strike="noStrike">
                <a:solidFill>
                  <a:srgbClr val="494848"/>
                </a:solidFill>
                <a:effectLst/>
                <a:uFillTx/>
                <a:latin typeface="メイリオ"/>
                <a:ea typeface="メイリオ"/>
                <a:cs typeface="メイリオ"/>
              </a:rPr>
              <a:t>「訪問者管理機能」により、ホームページに訪れたユーザーを一覧で見ることが可能</a:t>
            </a:r>
            <a:endParaRPr lang="en-US" sz="1560" b="0" u="none" strike="noStrike">
              <a:solidFill>
                <a:srgbClr val="000000"/>
              </a:solidFill>
              <a:effectLst/>
              <a:uFillTx/>
              <a:latin typeface="メイリオ"/>
              <a:ea typeface="メイリオ"/>
              <a:cs typeface="メイリオ"/>
            </a:endParaRPr>
          </a:p>
        </p:txBody>
      </p:sp>
      <p:grpSp>
        <p:nvGrpSpPr>
          <p:cNvPr id="1017" name="Group 25"/>
          <p:cNvGrpSpPr/>
          <p:nvPr/>
        </p:nvGrpSpPr>
        <p:grpSpPr>
          <a:xfrm>
            <a:off x="4971240" y="5144040"/>
            <a:ext cx="600840" cy="300960"/>
            <a:chOff x="4971240" y="5144040"/>
            <a:chExt cx="600840" cy="300960"/>
          </a:xfrm>
        </p:grpSpPr>
        <p:sp>
          <p:nvSpPr>
            <p:cNvPr id="1018" name="Freeform 26"/>
            <p:cNvSpPr/>
            <p:nvPr/>
          </p:nvSpPr>
          <p:spPr>
            <a:xfrm rot="5400000">
              <a:off x="5121000" y="499392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cs typeface="メイリオ"/>
              </a:endParaRPr>
            </a:p>
          </p:txBody>
        </p:sp>
        <p:sp>
          <p:nvSpPr>
            <p:cNvPr id="1019" name="TextBox 27"/>
            <p:cNvSpPr/>
            <p:nvPr/>
          </p:nvSpPr>
          <p:spPr>
            <a:xfrm rot="5400000">
              <a:off x="5062680" y="5142600"/>
              <a:ext cx="207000" cy="30420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cs typeface="メイリオ"/>
              </a:endParaRPr>
            </a:p>
          </p:txBody>
        </p:sp>
      </p:grpSp>
      <p:sp>
        <p:nvSpPr>
          <p:cNvPr id="1020" name="TextBox 38"/>
          <p:cNvSpPr/>
          <p:nvPr/>
        </p:nvSpPr>
        <p:spPr>
          <a:xfrm>
            <a:off x="5836680" y="5015880"/>
            <a:ext cx="3788640" cy="846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ja-JP" sz="1560" b="1" u="none" strike="noStrike">
                <a:solidFill>
                  <a:srgbClr val="494848"/>
                </a:solidFill>
                <a:effectLst/>
                <a:uFillTx/>
                <a:latin typeface="メイリオ"/>
                <a:ea typeface="メイリオ"/>
                <a:cs typeface="メイリオ"/>
              </a:rPr>
              <a:t>公式</a:t>
            </a:r>
            <a:r>
              <a:rPr lang="en-US" sz="1560" b="1" u="none" strike="noStrike">
                <a:solidFill>
                  <a:srgbClr val="494848"/>
                </a:solidFill>
                <a:effectLst/>
                <a:uFillTx/>
                <a:latin typeface="メイリオ"/>
                <a:ea typeface="メイリオ"/>
                <a:cs typeface="メイリオ"/>
              </a:rPr>
              <a:t>LINE</a:t>
            </a:r>
            <a:r>
              <a:rPr lang="ja-JP" sz="1560" b="1" u="none" strike="noStrike">
                <a:solidFill>
                  <a:srgbClr val="494848"/>
                </a:solidFill>
                <a:effectLst/>
                <a:uFillTx/>
                <a:latin typeface="メイリオ"/>
                <a:ea typeface="メイリオ"/>
                <a:cs typeface="メイリオ"/>
              </a:rPr>
              <a:t>とチャットボットを連携し</a:t>
            </a:r>
            <a:endParaRPr lang="en-US" sz="1560" b="0" u="none" strike="noStrike">
              <a:solidFill>
                <a:srgbClr val="000000"/>
              </a:solidFill>
              <a:effectLst/>
              <a:uFillTx/>
              <a:latin typeface="メイリオ"/>
              <a:ea typeface="メイリオ"/>
              <a:cs typeface="メイリオ"/>
            </a:endParaRPr>
          </a:p>
          <a:p>
            <a:pPr defTabSz="914400">
              <a:lnSpc>
                <a:spcPts val="2177"/>
              </a:lnSpc>
            </a:pPr>
            <a:r>
              <a:rPr lang="en-US" sz="1560" b="1" u="none" strike="noStrike">
                <a:solidFill>
                  <a:srgbClr val="494848"/>
                </a:solidFill>
                <a:effectLst/>
                <a:uFillTx/>
                <a:latin typeface="メイリオ"/>
                <a:ea typeface="メイリオ"/>
                <a:cs typeface="メイリオ"/>
              </a:rPr>
              <a:t>LINE</a:t>
            </a:r>
            <a:r>
              <a:rPr lang="ja-JP" sz="1560" b="1" u="none" strike="noStrike">
                <a:solidFill>
                  <a:srgbClr val="494848"/>
                </a:solidFill>
                <a:effectLst/>
                <a:uFillTx/>
                <a:latin typeface="メイリオ"/>
                <a:ea typeface="メイリオ"/>
                <a:cs typeface="メイリオ"/>
              </a:rPr>
              <a:t>上でも同じチャットボットを活用</a:t>
            </a:r>
            <a:endParaRPr lang="en-US" sz="1560" b="0" u="none" strike="noStrike">
              <a:solidFill>
                <a:srgbClr val="000000"/>
              </a:solidFill>
              <a:effectLst/>
              <a:uFillTx/>
              <a:latin typeface="メイリオ"/>
              <a:ea typeface="メイリオ"/>
              <a:cs typeface="メイリオ"/>
            </a:endParaRPr>
          </a:p>
          <a:p>
            <a:pPr defTabSz="914400">
              <a:lnSpc>
                <a:spcPts val="2177"/>
              </a:lnSpc>
            </a:pPr>
            <a:r>
              <a:rPr lang="ja-JP" sz="1560" b="1" u="none" strike="noStrike">
                <a:solidFill>
                  <a:srgbClr val="494848"/>
                </a:solidFill>
                <a:effectLst/>
                <a:uFillTx/>
                <a:latin typeface="メイリオ"/>
                <a:ea typeface="メイリオ"/>
                <a:cs typeface="メイリオ"/>
              </a:rPr>
              <a:t>できる</a:t>
            </a:r>
            <a:endParaRPr lang="en-US" sz="1560" b="0" u="none" strike="noStrike">
              <a:solidFill>
                <a:srgbClr val="000000"/>
              </a:solidFill>
              <a:effectLst/>
              <a:uFillTx/>
              <a:latin typeface="メイリオ"/>
              <a:ea typeface="メイリオ"/>
              <a:cs typeface="メイリオ"/>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1" name="Google Shape;156;p7"/>
          <p:cNvSpPr/>
          <p:nvPr/>
        </p:nvSpPr>
        <p:spPr>
          <a:xfrm>
            <a:off x="549000" y="138240"/>
            <a:ext cx="65145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002060"/>
                </a:solidFill>
                <a:effectLst/>
                <a:uFillTx/>
                <a:latin typeface="メイリオ"/>
                <a:ea typeface="メイリオ"/>
                <a:cs typeface="メイリオ"/>
              </a:rPr>
              <a:t>その他 代表的な活用機能</a:t>
            </a:r>
            <a:endParaRPr lang="en-US" sz="1600" b="0" u="none" strike="noStrike">
              <a:solidFill>
                <a:srgbClr val="000000"/>
              </a:solidFill>
              <a:effectLst/>
              <a:uFillTx/>
              <a:latin typeface="メイリオ"/>
              <a:ea typeface="メイリオ"/>
              <a:cs typeface="メイリオ"/>
            </a:endParaRPr>
          </a:p>
        </p:txBody>
      </p:sp>
      <p:sp>
        <p:nvSpPr>
          <p:cNvPr id="1022" name="正方形/長方形 3"/>
          <p:cNvSpPr/>
          <p:nvPr/>
        </p:nvSpPr>
        <p:spPr>
          <a:xfrm>
            <a:off x="209520" y="1455480"/>
            <a:ext cx="768960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600" b="1" u="none" strike="noStrike">
                <a:solidFill>
                  <a:schemeClr val="dk1">
                    <a:lumMod val="65000"/>
                    <a:lumOff val="35000"/>
                  </a:schemeClr>
                </a:solidFill>
                <a:effectLst/>
                <a:uFillTx/>
                <a:latin typeface="メイリオ"/>
                <a:ea typeface="メイリオ"/>
                <a:cs typeface="メイリオ"/>
              </a:rPr>
              <a:t>「</a:t>
            </a:r>
            <a:r>
              <a:rPr lang="en-US" sz="1600" b="1" u="none" strike="noStrike">
                <a:solidFill>
                  <a:schemeClr val="dk1">
                    <a:lumMod val="65000"/>
                    <a:lumOff val="35000"/>
                  </a:schemeClr>
                </a:solidFill>
                <a:effectLst/>
                <a:uFillTx/>
                <a:latin typeface="メイリオ"/>
                <a:ea typeface="メイリオ"/>
                <a:cs typeface="メイリオ"/>
              </a:rPr>
              <a:t>LINE</a:t>
            </a:r>
            <a:r>
              <a:rPr lang="ja-JP" sz="1600" b="1" u="none" strike="noStrike">
                <a:solidFill>
                  <a:schemeClr val="dk1">
                    <a:lumMod val="65000"/>
                    <a:lumOff val="35000"/>
                  </a:schemeClr>
                </a:solidFill>
                <a:effectLst/>
                <a:uFillTx/>
                <a:latin typeface="メイリオ"/>
                <a:ea typeface="メイリオ"/>
                <a:cs typeface="メイリオ"/>
              </a:rPr>
              <a:t>コール</a:t>
            </a:r>
            <a:r>
              <a:rPr lang="en-US" sz="1600" b="1" u="none" strike="noStrike">
                <a:solidFill>
                  <a:schemeClr val="dk1">
                    <a:lumMod val="65000"/>
                    <a:lumOff val="35000"/>
                  </a:schemeClr>
                </a:solidFill>
                <a:effectLst/>
                <a:uFillTx/>
                <a:latin typeface="メイリオ"/>
                <a:ea typeface="メイリオ"/>
                <a:cs typeface="メイリオ"/>
              </a:rPr>
              <a:t>Plus</a:t>
            </a:r>
            <a:r>
              <a:rPr lang="ja-JP" sz="1600" b="1" u="none" strike="noStrike">
                <a:solidFill>
                  <a:schemeClr val="dk1">
                    <a:lumMod val="65000"/>
                    <a:lumOff val="35000"/>
                  </a:schemeClr>
                </a:solidFill>
                <a:effectLst/>
                <a:uFillTx/>
                <a:latin typeface="メイリオ"/>
                <a:ea typeface="メイリオ"/>
                <a:cs typeface="メイリオ"/>
              </a:rPr>
              <a:t>」は、</a:t>
            </a:r>
            <a:r>
              <a:rPr lang="en-US" sz="1600" b="1" u="none" strike="noStrike">
                <a:solidFill>
                  <a:schemeClr val="dk1">
                    <a:lumMod val="65000"/>
                    <a:lumOff val="35000"/>
                  </a:schemeClr>
                </a:solidFill>
                <a:effectLst/>
                <a:uFillTx/>
                <a:latin typeface="メイリオ"/>
                <a:ea typeface="メイリオ"/>
                <a:cs typeface="メイリオ"/>
              </a:rPr>
              <a:t>LINE</a:t>
            </a:r>
            <a:r>
              <a:rPr lang="ja-JP" sz="1600" b="1" u="none" strike="noStrike">
                <a:solidFill>
                  <a:schemeClr val="dk1">
                    <a:lumMod val="65000"/>
                    <a:lumOff val="35000"/>
                  </a:schemeClr>
                </a:solidFill>
                <a:effectLst/>
                <a:uFillTx/>
                <a:latin typeface="メイリオ"/>
                <a:ea typeface="メイリオ"/>
                <a:cs typeface="メイリオ"/>
              </a:rPr>
              <a:t>公式アカウントの有料オプション機能で、</a:t>
            </a:r>
            <a:endParaRPr lang="en-US" sz="1600" b="0" u="none" strike="noStrike">
              <a:solidFill>
                <a:srgbClr val="000000"/>
              </a:solidFill>
              <a:effectLst/>
              <a:uFillTx/>
              <a:latin typeface="メイリオ"/>
              <a:ea typeface="メイリオ"/>
              <a:cs typeface="メイリオ"/>
            </a:endParaRPr>
          </a:p>
          <a:p>
            <a:pPr defTabSz="914400">
              <a:lnSpc>
                <a:spcPct val="100000"/>
              </a:lnSpc>
            </a:pPr>
            <a:r>
              <a:rPr lang="en-US" sz="1600" b="1" u="none" strike="noStrike">
                <a:solidFill>
                  <a:schemeClr val="dk1">
                    <a:lumMod val="65000"/>
                    <a:lumOff val="35000"/>
                  </a:schemeClr>
                </a:solidFill>
                <a:effectLst/>
                <a:uFillTx/>
                <a:latin typeface="メイリオ"/>
                <a:ea typeface="メイリオ"/>
                <a:cs typeface="メイリオ"/>
              </a:rPr>
              <a:t>LINE</a:t>
            </a:r>
            <a:r>
              <a:rPr lang="ja-JP" sz="1600" b="1" u="none" strike="noStrike">
                <a:solidFill>
                  <a:schemeClr val="dk1">
                    <a:lumMod val="65000"/>
                    <a:lumOff val="35000"/>
                  </a:schemeClr>
                </a:solidFill>
                <a:effectLst/>
                <a:uFillTx/>
                <a:latin typeface="メイリオ"/>
                <a:ea typeface="メイリオ"/>
                <a:cs typeface="メイリオ"/>
              </a:rPr>
              <a:t>公式アカウントからユーザーがカスタマーサポートに電話できるサービス。</a:t>
            </a:r>
            <a:endParaRPr lang="en-US" sz="1600" b="0" u="none" strike="noStrike">
              <a:solidFill>
                <a:srgbClr val="000000"/>
              </a:solidFill>
              <a:effectLst/>
              <a:uFillTx/>
              <a:latin typeface="メイリオ"/>
              <a:ea typeface="メイリオ"/>
              <a:cs typeface="メイリオ"/>
            </a:endParaRPr>
          </a:p>
        </p:txBody>
      </p:sp>
      <p:sp>
        <p:nvSpPr>
          <p:cNvPr id="1023" name="正方形/長方形 4"/>
          <p:cNvSpPr/>
          <p:nvPr/>
        </p:nvSpPr>
        <p:spPr>
          <a:xfrm>
            <a:off x="295560" y="822960"/>
            <a:ext cx="2540880" cy="48528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zh-CN" sz="1600" b="1" u="none" strike="noStrike">
                <a:solidFill>
                  <a:schemeClr val="lt1"/>
                </a:solidFill>
                <a:effectLst/>
                <a:uFillTx/>
                <a:latin typeface="メイリオ"/>
                <a:ea typeface="メイリオ"/>
                <a:cs typeface="メイリオ"/>
              </a:rPr>
              <a:t>【</a:t>
            </a:r>
            <a:r>
              <a:rPr lang="en-US" sz="1600" b="1" u="none" strike="noStrike">
                <a:solidFill>
                  <a:schemeClr val="lt1"/>
                </a:solidFill>
                <a:effectLst/>
                <a:uFillTx/>
                <a:latin typeface="メイリオ"/>
                <a:ea typeface="メイリオ"/>
                <a:cs typeface="メイリオ"/>
              </a:rPr>
              <a:t>LINE</a:t>
            </a:r>
            <a:r>
              <a:rPr lang="zh-CN" sz="1600" b="1" u="none" strike="noStrike">
                <a:solidFill>
                  <a:schemeClr val="lt1"/>
                </a:solidFill>
                <a:effectLst/>
                <a:uFillTx/>
                <a:latin typeface="メイリオ"/>
                <a:ea typeface="メイリオ"/>
                <a:cs typeface="メイリオ"/>
              </a:rPr>
              <a:t>】</a:t>
            </a:r>
            <a:r>
              <a:rPr lang="en-US" sz="1600" b="1" u="none" strike="noStrike">
                <a:solidFill>
                  <a:schemeClr val="lt1"/>
                </a:solidFill>
                <a:effectLst/>
                <a:uFillTx/>
                <a:latin typeface="メイリオ"/>
                <a:ea typeface="メイリオ"/>
                <a:cs typeface="メイリオ"/>
              </a:rPr>
              <a:t>Call Plus</a:t>
            </a:r>
            <a:endParaRPr lang="en-US" sz="1600" b="0" u="none" strike="noStrike">
              <a:solidFill>
                <a:srgbClr val="FFFFFF"/>
              </a:solidFill>
              <a:effectLst/>
              <a:uFillTx/>
              <a:latin typeface="メイリオ"/>
              <a:ea typeface="メイリオ"/>
              <a:cs typeface="メイリオ"/>
            </a:endParaRPr>
          </a:p>
        </p:txBody>
      </p:sp>
      <p:pic>
        <p:nvPicPr>
          <p:cNvPr id="1024" name="図 5"/>
          <p:cNvPicPr/>
          <p:nvPr/>
        </p:nvPicPr>
        <p:blipFill>
          <a:blip r:embed="rId2"/>
          <a:stretch/>
        </p:blipFill>
        <p:spPr>
          <a:xfrm>
            <a:off x="668520" y="2287440"/>
            <a:ext cx="8331480" cy="2953080"/>
          </a:xfrm>
          <a:prstGeom prst="rect">
            <a:avLst/>
          </a:prstGeom>
          <a:noFill/>
          <a:ln w="0">
            <a:noFill/>
          </a:ln>
        </p:spPr>
      </p:pic>
      <p:sp>
        <p:nvSpPr>
          <p:cNvPr id="1025" name="角丸四角形 7"/>
          <p:cNvSpPr/>
          <p:nvPr/>
        </p:nvSpPr>
        <p:spPr>
          <a:xfrm>
            <a:off x="549000" y="5240880"/>
            <a:ext cx="8720640" cy="1245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cs typeface="メイリオ"/>
            </a:endParaRPr>
          </a:p>
        </p:txBody>
      </p:sp>
      <p:sp>
        <p:nvSpPr>
          <p:cNvPr id="1026" name="正方形/長方形 7"/>
          <p:cNvSpPr/>
          <p:nvPr/>
        </p:nvSpPr>
        <p:spPr>
          <a:xfrm>
            <a:off x="4642560" y="6545520"/>
            <a:ext cx="5046120" cy="2458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000" b="1" u="none" strike="noStrike">
                <a:solidFill>
                  <a:schemeClr val="dk1">
                    <a:lumMod val="65000"/>
                    <a:lumOff val="35000"/>
                  </a:schemeClr>
                </a:solidFill>
                <a:effectLst/>
                <a:uFillTx/>
                <a:latin typeface="メイリオ"/>
                <a:ea typeface="メイリオ"/>
                <a:cs typeface="メイリオ"/>
              </a:rPr>
              <a:t>引用：</a:t>
            </a:r>
            <a:r>
              <a:rPr lang="en-US" sz="1000" b="1" u="none" strike="noStrike">
                <a:solidFill>
                  <a:schemeClr val="dk1">
                    <a:lumMod val="65000"/>
                    <a:lumOff val="35000"/>
                  </a:schemeClr>
                </a:solidFill>
                <a:effectLst/>
                <a:uFillTx/>
                <a:latin typeface="メイリオ"/>
                <a:ea typeface="メイリオ"/>
                <a:cs typeface="メイリオ"/>
              </a:rPr>
              <a:t>https://prtimes.jp/main/html/rd/p/000003920.000001594.html</a:t>
            </a:r>
            <a:endParaRPr lang="en-US" sz="1000" b="0" u="none" strike="noStrike">
              <a:solidFill>
                <a:srgbClr val="000000"/>
              </a:solidFill>
              <a:effectLst/>
              <a:uFillTx/>
              <a:latin typeface="メイリオ"/>
              <a:ea typeface="メイリオ"/>
              <a:cs typeface="メイリオ"/>
            </a:endParaRPr>
          </a:p>
        </p:txBody>
      </p:sp>
      <p:sp>
        <p:nvSpPr>
          <p:cNvPr id="1027" name="正方形/長方形 8"/>
          <p:cNvSpPr/>
          <p:nvPr/>
        </p:nvSpPr>
        <p:spPr>
          <a:xfrm>
            <a:off x="859320" y="5571360"/>
            <a:ext cx="798912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600" b="1" u="none" strike="noStrike">
                <a:solidFill>
                  <a:schemeClr val="dk1">
                    <a:lumMod val="65000"/>
                    <a:lumOff val="35000"/>
                  </a:schemeClr>
                </a:solidFill>
                <a:effectLst/>
                <a:uFillTx/>
                <a:latin typeface="メイリオ"/>
                <a:ea typeface="メイリオ"/>
                <a:cs typeface="メイリオ"/>
              </a:rPr>
              <a:t>さらに「</a:t>
            </a:r>
            <a:r>
              <a:rPr lang="en-US" sz="1600" b="1" u="none" strike="noStrike">
                <a:solidFill>
                  <a:schemeClr val="dk1">
                    <a:lumMod val="65000"/>
                    <a:lumOff val="35000"/>
                  </a:schemeClr>
                </a:solidFill>
                <a:effectLst/>
                <a:uFillTx/>
                <a:latin typeface="メイリオ"/>
                <a:ea typeface="メイリオ"/>
                <a:cs typeface="メイリオ"/>
              </a:rPr>
              <a:t>LINE Ai Call</a:t>
            </a:r>
            <a:r>
              <a:rPr lang="ja-JP" sz="1600" b="1" u="none" strike="noStrike">
                <a:solidFill>
                  <a:schemeClr val="dk1">
                    <a:lumMod val="65000"/>
                    <a:lumOff val="35000"/>
                  </a:schemeClr>
                </a:solidFill>
                <a:effectLst/>
                <a:uFillTx/>
                <a:latin typeface="メイリオ"/>
                <a:ea typeface="メイリオ"/>
                <a:cs typeface="メイリオ"/>
              </a:rPr>
              <a:t>」を活用するとユーザーの要望に対して</a:t>
            </a:r>
            <a:r>
              <a:rPr lang="en-US" sz="1600" b="1" u="none" strike="noStrike">
                <a:solidFill>
                  <a:schemeClr val="dk1">
                    <a:lumMod val="65000"/>
                    <a:lumOff val="35000"/>
                  </a:schemeClr>
                </a:solidFill>
                <a:effectLst/>
                <a:uFillTx/>
                <a:latin typeface="メイリオ"/>
                <a:ea typeface="メイリオ"/>
                <a:cs typeface="メイリオ"/>
              </a:rPr>
              <a:t>AI</a:t>
            </a:r>
            <a:r>
              <a:rPr lang="ja-JP" sz="1600" b="1" u="none" strike="noStrike">
                <a:solidFill>
                  <a:schemeClr val="dk1">
                    <a:lumMod val="65000"/>
                    <a:lumOff val="35000"/>
                  </a:schemeClr>
                </a:solidFill>
                <a:effectLst/>
                <a:uFillTx/>
                <a:latin typeface="メイリオ"/>
                <a:ea typeface="メイリオ"/>
                <a:cs typeface="メイリオ"/>
              </a:rPr>
              <a:t>による自然な</a:t>
            </a:r>
            <a:endParaRPr lang="en-US" sz="1600" b="0" u="none" strike="noStrike">
              <a:solidFill>
                <a:srgbClr val="000000"/>
              </a:solidFill>
              <a:effectLst/>
              <a:uFillTx/>
              <a:latin typeface="メイリオ"/>
              <a:ea typeface="メイリオ"/>
              <a:cs typeface="メイリオ"/>
            </a:endParaRPr>
          </a:p>
          <a:p>
            <a:pPr defTabSz="914400">
              <a:lnSpc>
                <a:spcPct val="100000"/>
              </a:lnSpc>
            </a:pPr>
            <a:r>
              <a:rPr lang="ja-JP" sz="1600" b="1" u="none" strike="noStrike">
                <a:solidFill>
                  <a:schemeClr val="dk1">
                    <a:lumMod val="65000"/>
                    <a:lumOff val="35000"/>
                  </a:schemeClr>
                </a:solidFill>
                <a:effectLst/>
                <a:uFillTx/>
                <a:latin typeface="メイリオ"/>
                <a:ea typeface="メイリオ"/>
                <a:cs typeface="メイリオ"/>
              </a:rPr>
              <a:t>対話応答が可能に。要件に応じて</a:t>
            </a:r>
            <a:r>
              <a:rPr lang="en-US" sz="1600" b="1" u="none" strike="noStrike">
                <a:solidFill>
                  <a:schemeClr val="dk1">
                    <a:lumMod val="65000"/>
                    <a:lumOff val="35000"/>
                  </a:schemeClr>
                </a:solidFill>
                <a:effectLst/>
                <a:uFillTx/>
                <a:latin typeface="メイリオ"/>
                <a:ea typeface="メイリオ"/>
                <a:cs typeface="メイリオ"/>
              </a:rPr>
              <a:t>Ai</a:t>
            </a:r>
            <a:r>
              <a:rPr lang="ja-JP" sz="1600" b="1" u="none" strike="noStrike">
                <a:solidFill>
                  <a:schemeClr val="dk1">
                    <a:lumMod val="65000"/>
                    <a:lumOff val="35000"/>
                  </a:schemeClr>
                </a:solidFill>
                <a:effectLst/>
                <a:uFillTx/>
                <a:latin typeface="メイリオ"/>
                <a:ea typeface="メイリオ"/>
                <a:cs typeface="メイリオ"/>
              </a:rPr>
              <a:t>と有人オペレータの振り分け業務効率化を支援。</a:t>
            </a:r>
            <a:endParaRPr lang="en-US" sz="1600" b="0" u="none" strike="noStrike">
              <a:solidFill>
                <a:srgbClr val="000000"/>
              </a:solidFill>
              <a:effectLst/>
              <a:uFillTx/>
              <a:latin typeface="メイリオ"/>
              <a:ea typeface="メイリオ"/>
              <a:cs typeface="メイリオ"/>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Google Shape;156;p7"/>
          <p:cNvSpPr/>
          <p:nvPr/>
        </p:nvSpPr>
        <p:spPr>
          <a:xfrm>
            <a:off x="549000" y="138240"/>
            <a:ext cx="65145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002060"/>
                </a:solidFill>
                <a:effectLst/>
                <a:uFillTx/>
                <a:latin typeface="メイリオ"/>
                <a:ea typeface="メイリオ"/>
                <a:cs typeface="メイリオ"/>
              </a:rPr>
              <a:t>その他 代表的な活用機能</a:t>
            </a:r>
            <a:endParaRPr lang="en-US" sz="1600" b="0" u="none" strike="noStrike">
              <a:solidFill>
                <a:srgbClr val="000000"/>
              </a:solidFill>
              <a:effectLst/>
              <a:uFillTx/>
              <a:latin typeface="メイリオ"/>
              <a:ea typeface="メイリオ"/>
              <a:cs typeface="メイリオ"/>
            </a:endParaRPr>
          </a:p>
        </p:txBody>
      </p:sp>
      <p:sp>
        <p:nvSpPr>
          <p:cNvPr id="1029" name="正方形/長方形 4"/>
          <p:cNvSpPr/>
          <p:nvPr/>
        </p:nvSpPr>
        <p:spPr>
          <a:xfrm>
            <a:off x="295560" y="822960"/>
            <a:ext cx="2540880" cy="48528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lt1"/>
                </a:solidFill>
                <a:effectLst/>
                <a:uFillTx/>
                <a:latin typeface="メイリオ"/>
                <a:ea typeface="メイリオ"/>
                <a:cs typeface="メイリオ"/>
              </a:rPr>
              <a:t>LINE</a:t>
            </a:r>
            <a:r>
              <a:rPr lang="ja-JP" sz="1600" b="1" u="none" strike="noStrike">
                <a:solidFill>
                  <a:schemeClr val="lt1"/>
                </a:solidFill>
                <a:effectLst/>
                <a:uFillTx/>
                <a:latin typeface="メイリオ"/>
                <a:ea typeface="メイリオ"/>
                <a:cs typeface="メイリオ"/>
              </a:rPr>
              <a:t>でログイン</a:t>
            </a:r>
            <a:endParaRPr lang="en-US" sz="1600" b="0" u="none" strike="noStrike">
              <a:solidFill>
                <a:srgbClr val="FFFFFF"/>
              </a:solidFill>
              <a:effectLst/>
              <a:uFillTx/>
              <a:latin typeface="メイリオ"/>
              <a:ea typeface="メイリオ"/>
              <a:cs typeface="メイリオ"/>
            </a:endParaRPr>
          </a:p>
        </p:txBody>
      </p:sp>
      <p:sp>
        <p:nvSpPr>
          <p:cNvPr id="1030" name="正方形/長方形 7"/>
          <p:cNvSpPr/>
          <p:nvPr/>
        </p:nvSpPr>
        <p:spPr>
          <a:xfrm>
            <a:off x="4642560" y="6545520"/>
            <a:ext cx="5046120" cy="2458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000" b="1" u="none" strike="noStrike">
                <a:solidFill>
                  <a:schemeClr val="dk1">
                    <a:lumMod val="65000"/>
                    <a:lumOff val="35000"/>
                  </a:schemeClr>
                </a:solidFill>
                <a:effectLst/>
                <a:uFillTx/>
                <a:latin typeface="メイリオ"/>
                <a:ea typeface="メイリオ"/>
                <a:cs typeface="メイリオ"/>
              </a:rPr>
              <a:t>引用：</a:t>
            </a:r>
            <a:r>
              <a:rPr lang="en-US" sz="1000" b="1" u="none" strike="noStrike">
                <a:solidFill>
                  <a:schemeClr val="dk1">
                    <a:lumMod val="65000"/>
                    <a:lumOff val="35000"/>
                  </a:schemeClr>
                </a:solidFill>
                <a:effectLst/>
                <a:uFillTx/>
                <a:latin typeface="メイリオ"/>
                <a:ea typeface="メイリオ"/>
                <a:cs typeface="メイリオ"/>
              </a:rPr>
              <a:t>https://prtimes.jp/main/html/rd/p/000003920.000001594.html</a:t>
            </a:r>
            <a:endParaRPr lang="en-US" sz="1000" b="0" u="none" strike="noStrike">
              <a:solidFill>
                <a:srgbClr val="000000"/>
              </a:solidFill>
              <a:effectLst/>
              <a:uFillTx/>
              <a:latin typeface="メイリオ"/>
              <a:ea typeface="メイリオ"/>
              <a:cs typeface="メイリオ"/>
            </a:endParaRPr>
          </a:p>
        </p:txBody>
      </p:sp>
      <p:pic>
        <p:nvPicPr>
          <p:cNvPr id="1031" name="図 2"/>
          <p:cNvPicPr/>
          <p:nvPr/>
        </p:nvPicPr>
        <p:blipFill>
          <a:blip r:embed="rId2"/>
          <a:stretch/>
        </p:blipFill>
        <p:spPr>
          <a:xfrm>
            <a:off x="414000" y="1995120"/>
            <a:ext cx="9077760" cy="4550040"/>
          </a:xfrm>
          <a:prstGeom prst="rect">
            <a:avLst/>
          </a:prstGeom>
          <a:noFill/>
          <a:ln w="0">
            <a:noFill/>
          </a:ln>
        </p:spPr>
      </p:pic>
      <p:sp>
        <p:nvSpPr>
          <p:cNvPr id="1032" name="正方形/長方形 3"/>
          <p:cNvSpPr/>
          <p:nvPr/>
        </p:nvSpPr>
        <p:spPr>
          <a:xfrm>
            <a:off x="209520" y="1455480"/>
            <a:ext cx="892548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600" b="1" u="none" strike="noStrike">
                <a:solidFill>
                  <a:schemeClr val="dk1">
                    <a:lumMod val="65000"/>
                    <a:lumOff val="35000"/>
                  </a:schemeClr>
                </a:solidFill>
                <a:effectLst/>
                <a:uFillTx/>
                <a:latin typeface="メイリオ"/>
                <a:ea typeface="メイリオ"/>
                <a:cs typeface="メイリオ"/>
              </a:rPr>
              <a:t>「</a:t>
            </a:r>
            <a:r>
              <a:rPr lang="en-US" sz="1600" b="1" u="none" strike="noStrike">
                <a:solidFill>
                  <a:schemeClr val="dk1">
                    <a:lumMod val="65000"/>
                    <a:lumOff val="35000"/>
                  </a:schemeClr>
                </a:solidFill>
                <a:effectLst/>
                <a:uFillTx/>
                <a:latin typeface="メイリオ"/>
                <a:ea typeface="メイリオ"/>
                <a:cs typeface="メイリオ"/>
              </a:rPr>
              <a:t>LINE</a:t>
            </a:r>
            <a:r>
              <a:rPr lang="ja-JP" sz="1600" b="1" u="none" strike="noStrike">
                <a:solidFill>
                  <a:schemeClr val="dk1">
                    <a:lumMod val="65000"/>
                    <a:lumOff val="35000"/>
                  </a:schemeClr>
                </a:solidFill>
                <a:effectLst/>
                <a:uFillTx/>
                <a:latin typeface="メイリオ"/>
                <a:ea typeface="メイリオ"/>
                <a:cs typeface="メイリオ"/>
              </a:rPr>
              <a:t>でログイン」は、</a:t>
            </a:r>
            <a:r>
              <a:rPr lang="en-US" sz="1600" b="1" u="none" strike="noStrike">
                <a:solidFill>
                  <a:schemeClr val="dk1">
                    <a:lumMod val="65000"/>
                    <a:lumOff val="35000"/>
                  </a:schemeClr>
                </a:solidFill>
                <a:effectLst/>
                <a:uFillTx/>
                <a:latin typeface="メイリオ"/>
                <a:ea typeface="メイリオ"/>
                <a:cs typeface="メイリオ"/>
              </a:rPr>
              <a:t>LINE</a:t>
            </a:r>
            <a:r>
              <a:rPr lang="ja-JP" sz="1600" b="1" u="none" strike="noStrike">
                <a:solidFill>
                  <a:schemeClr val="dk1">
                    <a:lumMod val="65000"/>
                    <a:lumOff val="35000"/>
                  </a:schemeClr>
                </a:solidFill>
                <a:effectLst/>
                <a:uFillTx/>
                <a:latin typeface="メイリオ"/>
                <a:ea typeface="メイリオ"/>
                <a:cs typeface="メイリオ"/>
              </a:rPr>
              <a:t>上のユーザー情報を活用して</a:t>
            </a:r>
            <a:r>
              <a:rPr lang="en-US" sz="1600" b="1" u="none" strike="noStrike">
                <a:solidFill>
                  <a:schemeClr val="dk1">
                    <a:lumMod val="65000"/>
                    <a:lumOff val="35000"/>
                  </a:schemeClr>
                </a:solidFill>
                <a:effectLst/>
                <a:uFillTx/>
                <a:latin typeface="メイリオ"/>
                <a:ea typeface="メイリオ"/>
                <a:cs typeface="メイリオ"/>
              </a:rPr>
              <a:t>WEB</a:t>
            </a:r>
            <a:r>
              <a:rPr lang="ja-JP" sz="1600" b="1" u="none" strike="noStrike">
                <a:solidFill>
                  <a:schemeClr val="dk1">
                    <a:lumMod val="65000"/>
                    <a:lumOff val="35000"/>
                  </a:schemeClr>
                </a:solidFill>
                <a:effectLst/>
                <a:uFillTx/>
                <a:latin typeface="メイリオ"/>
                <a:ea typeface="メイリオ"/>
                <a:cs typeface="メイリオ"/>
              </a:rPr>
              <a:t>サイト登録が出来る仕組み。</a:t>
            </a:r>
            <a:endParaRPr lang="en-US" sz="1600" b="0" u="none" strike="noStrike">
              <a:solidFill>
                <a:srgbClr val="000000"/>
              </a:solidFill>
              <a:effectLst/>
              <a:uFillTx/>
              <a:latin typeface="メイリオ"/>
              <a:ea typeface="メイリオ"/>
              <a:cs typeface="メイリオ"/>
            </a:endParaRPr>
          </a:p>
          <a:p>
            <a:pPr defTabSz="914400">
              <a:lnSpc>
                <a:spcPct val="100000"/>
              </a:lnSpc>
            </a:pPr>
            <a:r>
              <a:rPr lang="en-US" sz="1600" b="1" u="none" strike="noStrike">
                <a:solidFill>
                  <a:schemeClr val="dk1">
                    <a:lumMod val="65000"/>
                    <a:lumOff val="35000"/>
                  </a:schemeClr>
                </a:solidFill>
                <a:effectLst/>
                <a:uFillTx/>
                <a:latin typeface="メイリオ"/>
                <a:ea typeface="メイリオ"/>
                <a:cs typeface="メイリオ"/>
              </a:rPr>
              <a:t>ID</a:t>
            </a:r>
            <a:r>
              <a:rPr lang="ja-JP" sz="1600" b="1" u="none" strike="noStrike">
                <a:solidFill>
                  <a:schemeClr val="dk1">
                    <a:lumMod val="65000"/>
                    <a:lumOff val="35000"/>
                  </a:schemeClr>
                </a:solidFill>
                <a:effectLst/>
                <a:uFillTx/>
                <a:latin typeface="メイリオ"/>
                <a:ea typeface="メイリオ"/>
                <a:cs typeface="メイリオ"/>
              </a:rPr>
              <a:t>連携を完了することにより、サービス</a:t>
            </a:r>
            <a:r>
              <a:rPr lang="en-US" sz="1600" b="1" u="none" strike="noStrike">
                <a:solidFill>
                  <a:schemeClr val="dk1">
                    <a:lumMod val="65000"/>
                    <a:lumOff val="35000"/>
                  </a:schemeClr>
                </a:solidFill>
                <a:effectLst/>
                <a:uFillTx/>
                <a:latin typeface="メイリオ"/>
                <a:ea typeface="メイリオ"/>
                <a:cs typeface="メイリオ"/>
              </a:rPr>
              <a:t>(WEB) ⇔ LINE </a:t>
            </a:r>
            <a:r>
              <a:rPr lang="ja-JP" sz="1600" b="1" u="none" strike="noStrike">
                <a:solidFill>
                  <a:schemeClr val="dk1">
                    <a:lumMod val="65000"/>
                    <a:lumOff val="35000"/>
                  </a:schemeClr>
                </a:solidFill>
                <a:effectLst/>
                <a:uFillTx/>
                <a:latin typeface="メイリオ"/>
                <a:ea typeface="メイリオ"/>
                <a:cs typeface="メイリオ"/>
              </a:rPr>
              <a:t>での効果的なメッセージが可能に。</a:t>
            </a:r>
            <a:endParaRPr lang="en-US" sz="1600" b="0" u="none" strike="noStrike">
              <a:solidFill>
                <a:srgbClr val="000000"/>
              </a:solidFill>
              <a:effectLst/>
              <a:uFillTx/>
              <a:latin typeface="メイリオ"/>
              <a:ea typeface="メイリオ"/>
              <a:cs typeface="メイリオ"/>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3"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cs typeface="メイリオ"/>
              </a:rPr>
              <a:t>提供施策について</a:t>
            </a:r>
            <a:endParaRPr lang="en-US" sz="1600" b="0" u="none" strike="noStrike">
              <a:solidFill>
                <a:srgbClr val="000000"/>
              </a:solidFill>
              <a:effectLst/>
              <a:uFillTx/>
              <a:latin typeface="メイリオ"/>
              <a:ea typeface="メイリオ"/>
              <a:cs typeface="メイリオ"/>
            </a:endParaRPr>
          </a:p>
        </p:txBody>
      </p:sp>
      <p:sp>
        <p:nvSpPr>
          <p:cNvPr id="1034" name="角丸四角形 8"/>
          <p:cNvSpPr/>
          <p:nvPr/>
        </p:nvSpPr>
        <p:spPr>
          <a:xfrm>
            <a:off x="6662880" y="409320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cs typeface="メイリオ"/>
            </a:endParaRPr>
          </a:p>
        </p:txBody>
      </p:sp>
      <p:sp>
        <p:nvSpPr>
          <p:cNvPr id="1035" name="Google Shape;178;p7"/>
          <p:cNvSpPr/>
          <p:nvPr/>
        </p:nvSpPr>
        <p:spPr>
          <a:xfrm>
            <a:off x="6756120" y="4153320"/>
            <a:ext cx="2800080" cy="67500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2000" b="1" u="none" strike="noStrike">
                <a:solidFill>
                  <a:srgbClr val="002060"/>
                </a:solidFill>
                <a:effectLst/>
                <a:uFillTx/>
                <a:latin typeface="メイリオ"/>
                <a:ea typeface="メイリオ"/>
                <a:cs typeface="メイリオ"/>
              </a:rPr>
              <a:t>オフライン動線</a:t>
            </a:r>
            <a:endParaRPr lang="en-US" sz="2000" b="0" u="none" strike="noStrike">
              <a:solidFill>
                <a:srgbClr val="000000"/>
              </a:solidFill>
              <a:effectLst/>
              <a:uFillTx/>
              <a:latin typeface="メイリオ"/>
              <a:ea typeface="メイリオ"/>
              <a:cs typeface="メイリオ"/>
            </a:endParaRPr>
          </a:p>
          <a:p>
            <a:pPr algn="ctr" defTabSz="914400">
              <a:lnSpc>
                <a:spcPct val="100000"/>
              </a:lnSpc>
            </a:pPr>
            <a:r>
              <a:rPr lang="ja-JP" sz="1400" b="1" u="none" strike="noStrike">
                <a:solidFill>
                  <a:srgbClr val="002060"/>
                </a:solidFill>
                <a:effectLst/>
                <a:uFillTx/>
                <a:latin typeface="メイリオ"/>
                <a:ea typeface="メイリオ"/>
                <a:cs typeface="メイリオ"/>
              </a:rPr>
              <a:t>ニュースリリース等</a:t>
            </a:r>
            <a:endParaRPr lang="en-US" sz="1400" b="0" u="none" strike="noStrike">
              <a:solidFill>
                <a:srgbClr val="000000"/>
              </a:solidFill>
              <a:effectLst/>
              <a:uFillTx/>
              <a:latin typeface="メイリオ"/>
              <a:ea typeface="メイリオ"/>
              <a:cs typeface="メイリオ"/>
            </a:endParaRPr>
          </a:p>
        </p:txBody>
      </p:sp>
      <p:sp>
        <p:nvSpPr>
          <p:cNvPr id="1036" name="角丸四角形 7"/>
          <p:cNvSpPr/>
          <p:nvPr/>
        </p:nvSpPr>
        <p:spPr>
          <a:xfrm>
            <a:off x="3462840" y="409032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cs typeface="メイリオ"/>
            </a:endParaRPr>
          </a:p>
        </p:txBody>
      </p:sp>
      <p:sp>
        <p:nvSpPr>
          <p:cNvPr id="1037" name="Google Shape;178;p7"/>
          <p:cNvSpPr/>
          <p:nvPr/>
        </p:nvSpPr>
        <p:spPr>
          <a:xfrm>
            <a:off x="3562920" y="4245480"/>
            <a:ext cx="2800080" cy="4597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en-US" sz="2000" b="1" u="none" strike="noStrike">
                <a:solidFill>
                  <a:srgbClr val="002060"/>
                </a:solidFill>
                <a:effectLst/>
                <a:uFillTx/>
                <a:latin typeface="メイリオ"/>
                <a:ea typeface="メイリオ"/>
                <a:cs typeface="メイリオ"/>
              </a:rPr>
              <a:t>WEB</a:t>
            </a:r>
            <a:r>
              <a:rPr lang="ja-JP" sz="2000" b="1" u="none" strike="noStrike">
                <a:solidFill>
                  <a:srgbClr val="002060"/>
                </a:solidFill>
                <a:effectLst/>
                <a:uFillTx/>
                <a:latin typeface="メイリオ"/>
                <a:ea typeface="メイリオ"/>
                <a:cs typeface="メイリオ"/>
              </a:rPr>
              <a:t>サイト動線整備</a:t>
            </a:r>
            <a:endParaRPr lang="en-US" sz="2000" b="0" u="none" strike="noStrike">
              <a:solidFill>
                <a:srgbClr val="000000"/>
              </a:solidFill>
              <a:effectLst/>
              <a:uFillTx/>
              <a:latin typeface="メイリオ"/>
              <a:ea typeface="メイリオ"/>
              <a:cs typeface="メイリオ"/>
            </a:endParaRPr>
          </a:p>
        </p:txBody>
      </p:sp>
      <p:sp>
        <p:nvSpPr>
          <p:cNvPr id="1038" name="角丸四角形 8"/>
          <p:cNvSpPr/>
          <p:nvPr/>
        </p:nvSpPr>
        <p:spPr>
          <a:xfrm>
            <a:off x="262080" y="409320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cs typeface="メイリオ"/>
            </a:endParaRPr>
          </a:p>
        </p:txBody>
      </p:sp>
      <p:sp>
        <p:nvSpPr>
          <p:cNvPr id="1039" name="Google Shape;178;p7"/>
          <p:cNvSpPr/>
          <p:nvPr/>
        </p:nvSpPr>
        <p:spPr>
          <a:xfrm>
            <a:off x="598320" y="4153320"/>
            <a:ext cx="2314080" cy="64440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2000" b="1" u="none" strike="noStrike">
                <a:solidFill>
                  <a:srgbClr val="002060"/>
                </a:solidFill>
                <a:effectLst/>
                <a:uFillTx/>
                <a:latin typeface="メイリオ"/>
                <a:ea typeface="メイリオ"/>
                <a:cs typeface="メイリオ"/>
              </a:rPr>
              <a:t>友だち紹介</a:t>
            </a:r>
            <a:endParaRPr lang="en-US" sz="2000" b="0" u="none" strike="noStrike">
              <a:solidFill>
                <a:srgbClr val="000000"/>
              </a:solidFill>
              <a:effectLst/>
              <a:uFillTx/>
              <a:latin typeface="メイリオ"/>
              <a:ea typeface="メイリオ"/>
              <a:cs typeface="メイリオ"/>
            </a:endParaRPr>
          </a:p>
          <a:p>
            <a:pPr algn="ctr" defTabSz="914400">
              <a:lnSpc>
                <a:spcPct val="100000"/>
              </a:lnSpc>
            </a:pPr>
            <a:r>
              <a:rPr lang="ja-JP" sz="1200" b="1" u="none" strike="noStrike">
                <a:solidFill>
                  <a:srgbClr val="002060"/>
                </a:solidFill>
                <a:effectLst/>
                <a:uFillTx/>
                <a:latin typeface="メイリオ"/>
                <a:ea typeface="メイリオ"/>
                <a:cs typeface="メイリオ"/>
              </a:rPr>
              <a:t>（</a:t>
            </a:r>
            <a:r>
              <a:rPr lang="en-US" sz="1200" b="1" u="none" strike="noStrike">
                <a:solidFill>
                  <a:srgbClr val="002060"/>
                </a:solidFill>
                <a:effectLst/>
                <a:uFillTx/>
                <a:latin typeface="メイリオ"/>
                <a:ea typeface="メイリオ"/>
                <a:cs typeface="メイリオ"/>
              </a:rPr>
              <a:t>LINE</a:t>
            </a:r>
            <a:r>
              <a:rPr lang="ja-JP" sz="1200" b="1" u="none" strike="noStrike">
                <a:solidFill>
                  <a:srgbClr val="002060"/>
                </a:solidFill>
                <a:effectLst/>
                <a:uFillTx/>
                <a:latin typeface="メイリオ"/>
                <a:ea typeface="メイリオ"/>
                <a:cs typeface="メイリオ"/>
              </a:rPr>
              <a:t>ポイントコネクト）</a:t>
            </a:r>
            <a:endParaRPr lang="en-US" sz="1200" b="0" u="none" strike="noStrike">
              <a:solidFill>
                <a:srgbClr val="000000"/>
              </a:solidFill>
              <a:effectLst/>
              <a:uFillTx/>
              <a:latin typeface="メイリオ"/>
              <a:ea typeface="メイリオ"/>
              <a:cs typeface="メイリオ"/>
            </a:endParaRPr>
          </a:p>
        </p:txBody>
      </p:sp>
      <p:sp>
        <p:nvSpPr>
          <p:cNvPr id="1040" name="角丸四角形 8"/>
          <p:cNvSpPr/>
          <p:nvPr/>
        </p:nvSpPr>
        <p:spPr>
          <a:xfrm>
            <a:off x="6662880" y="185940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cs typeface="メイリオ"/>
            </a:endParaRPr>
          </a:p>
        </p:txBody>
      </p:sp>
      <p:sp>
        <p:nvSpPr>
          <p:cNvPr id="1041" name="Google Shape;178;p7"/>
          <p:cNvSpPr/>
          <p:nvPr/>
        </p:nvSpPr>
        <p:spPr>
          <a:xfrm>
            <a:off x="6756120" y="2012040"/>
            <a:ext cx="2800080" cy="4597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en-US" sz="2000" b="1" u="none" strike="noStrike">
                <a:solidFill>
                  <a:srgbClr val="002060"/>
                </a:solidFill>
                <a:effectLst/>
                <a:uFillTx/>
                <a:latin typeface="メイリオ"/>
                <a:ea typeface="メイリオ"/>
                <a:cs typeface="メイリオ"/>
              </a:rPr>
              <a:t>LINE</a:t>
            </a:r>
            <a:r>
              <a:rPr lang="ja-JP" sz="2000" b="1" u="none" strike="noStrike">
                <a:solidFill>
                  <a:srgbClr val="002060"/>
                </a:solidFill>
                <a:effectLst/>
                <a:uFillTx/>
                <a:latin typeface="メイリオ"/>
                <a:ea typeface="メイリオ"/>
                <a:cs typeface="メイリオ"/>
              </a:rPr>
              <a:t>ポイント</a:t>
            </a:r>
            <a:r>
              <a:rPr lang="en-US" sz="2000" b="1" u="none" strike="noStrike">
                <a:solidFill>
                  <a:srgbClr val="002060"/>
                </a:solidFill>
                <a:effectLst/>
                <a:uFillTx/>
                <a:latin typeface="メイリオ"/>
                <a:ea typeface="メイリオ"/>
                <a:cs typeface="メイリオ"/>
              </a:rPr>
              <a:t>Ads</a:t>
            </a:r>
            <a:endParaRPr lang="en-US" sz="2000" b="0" u="none" strike="noStrike">
              <a:solidFill>
                <a:srgbClr val="000000"/>
              </a:solidFill>
              <a:effectLst/>
              <a:uFillTx/>
              <a:latin typeface="メイリオ"/>
              <a:ea typeface="メイリオ"/>
              <a:cs typeface="メイリオ"/>
            </a:endParaRPr>
          </a:p>
        </p:txBody>
      </p:sp>
      <p:sp>
        <p:nvSpPr>
          <p:cNvPr id="1042" name="角丸四角形 7"/>
          <p:cNvSpPr/>
          <p:nvPr/>
        </p:nvSpPr>
        <p:spPr>
          <a:xfrm>
            <a:off x="3462840" y="185652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cs typeface="メイリオ"/>
            </a:endParaRPr>
          </a:p>
        </p:txBody>
      </p:sp>
      <p:sp>
        <p:nvSpPr>
          <p:cNvPr id="1043" name="Google Shape;178;p7"/>
          <p:cNvSpPr/>
          <p:nvPr/>
        </p:nvSpPr>
        <p:spPr>
          <a:xfrm>
            <a:off x="3562920" y="2012040"/>
            <a:ext cx="2800080" cy="4597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2000" b="1" u="none" strike="noStrike">
                <a:solidFill>
                  <a:srgbClr val="002060"/>
                </a:solidFill>
                <a:effectLst/>
                <a:uFillTx/>
                <a:latin typeface="メイリオ"/>
                <a:ea typeface="メイリオ"/>
                <a:cs typeface="メイリオ"/>
              </a:rPr>
              <a:t>スタンプ施策</a:t>
            </a:r>
            <a:endParaRPr lang="en-US" sz="2000" b="0" u="none" strike="noStrike">
              <a:solidFill>
                <a:srgbClr val="000000"/>
              </a:solidFill>
              <a:effectLst/>
              <a:uFillTx/>
              <a:latin typeface="メイリオ"/>
              <a:ea typeface="メイリオ"/>
              <a:cs typeface="メイリオ"/>
            </a:endParaRPr>
          </a:p>
        </p:txBody>
      </p:sp>
      <p:sp>
        <p:nvSpPr>
          <p:cNvPr id="1044" name="角丸四角形 8"/>
          <p:cNvSpPr/>
          <p:nvPr/>
        </p:nvSpPr>
        <p:spPr>
          <a:xfrm>
            <a:off x="262080" y="185940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cs typeface="メイリオ"/>
            </a:endParaRPr>
          </a:p>
        </p:txBody>
      </p:sp>
      <p:sp>
        <p:nvSpPr>
          <p:cNvPr id="1045" name="Google Shape;178;p7"/>
          <p:cNvSpPr/>
          <p:nvPr/>
        </p:nvSpPr>
        <p:spPr>
          <a:xfrm>
            <a:off x="598320" y="2012040"/>
            <a:ext cx="2314080" cy="4597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en-US" sz="2000" b="1" u="none" strike="noStrike">
                <a:solidFill>
                  <a:srgbClr val="002060"/>
                </a:solidFill>
                <a:effectLst/>
                <a:uFillTx/>
                <a:latin typeface="メイリオ"/>
                <a:ea typeface="メイリオ"/>
                <a:cs typeface="メイリオ"/>
              </a:rPr>
              <a:t>CPF</a:t>
            </a:r>
            <a:r>
              <a:rPr lang="ja-JP" sz="2000" b="1" u="none" strike="noStrike">
                <a:solidFill>
                  <a:srgbClr val="002060"/>
                </a:solidFill>
                <a:effectLst/>
                <a:uFillTx/>
                <a:latin typeface="メイリオ"/>
                <a:ea typeface="メイリオ"/>
                <a:cs typeface="メイリオ"/>
              </a:rPr>
              <a:t>広告</a:t>
            </a:r>
            <a:endParaRPr lang="en-US" sz="2000" b="0" u="none" strike="noStrike">
              <a:solidFill>
                <a:srgbClr val="000000"/>
              </a:solidFill>
              <a:effectLst/>
              <a:uFillTx/>
              <a:latin typeface="メイリオ"/>
              <a:ea typeface="メイリオ"/>
              <a:cs typeface="メイリオ"/>
            </a:endParaRPr>
          </a:p>
        </p:txBody>
      </p:sp>
      <p:sp>
        <p:nvSpPr>
          <p:cNvPr id="1046" name="テキスト ボックス 15"/>
          <p:cNvSpPr/>
          <p:nvPr/>
        </p:nvSpPr>
        <p:spPr>
          <a:xfrm>
            <a:off x="6662880" y="5212080"/>
            <a:ext cx="298044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600" b="0" u="none" strike="noStrike">
                <a:solidFill>
                  <a:schemeClr val="dk1"/>
                </a:solidFill>
                <a:effectLst/>
                <a:uFillTx/>
                <a:latin typeface="メイリオ"/>
                <a:ea typeface="メイリオ"/>
                <a:cs typeface="メイリオ"/>
              </a:rPr>
              <a:t>コンサル発注</a:t>
            </a:r>
            <a:r>
              <a:rPr lang="ja-JP" sz="1200" b="0" u="none" strike="noStrike">
                <a:solidFill>
                  <a:schemeClr val="dk1"/>
                </a:solidFill>
                <a:effectLst/>
                <a:uFillTx/>
                <a:latin typeface="メイリオ"/>
                <a:ea typeface="メイリオ"/>
                <a:cs typeface="メイリオ"/>
              </a:rPr>
              <a:t>であれば </a:t>
            </a:r>
            <a:r>
              <a:rPr lang="ja-JP" sz="1800" b="1" u="none" strike="noStrike">
                <a:solidFill>
                  <a:srgbClr val="FF0000"/>
                </a:solidFill>
                <a:effectLst/>
                <a:uFillTx/>
                <a:latin typeface="メイリオ"/>
                <a:ea typeface="メイリオ"/>
                <a:cs typeface="メイリオ"/>
              </a:rPr>
              <a:t>無償</a:t>
            </a:r>
            <a:endParaRPr lang="en-US" sz="1800" b="0" u="none" strike="noStrike">
              <a:solidFill>
                <a:srgbClr val="000000"/>
              </a:solidFill>
              <a:effectLst/>
              <a:uFillTx/>
              <a:latin typeface="メイリオ"/>
              <a:ea typeface="メイリオ"/>
              <a:cs typeface="メイリオ"/>
            </a:endParaRPr>
          </a:p>
        </p:txBody>
      </p:sp>
      <p:sp>
        <p:nvSpPr>
          <p:cNvPr id="1047" name="正方形/長方形 17"/>
          <p:cNvSpPr/>
          <p:nvPr/>
        </p:nvSpPr>
        <p:spPr>
          <a:xfrm>
            <a:off x="519840" y="4164120"/>
            <a:ext cx="245376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cs typeface="メイリオ"/>
            </a:endParaRPr>
          </a:p>
        </p:txBody>
      </p:sp>
      <p:sp>
        <p:nvSpPr>
          <p:cNvPr id="1048" name="正方形/長方形 18"/>
          <p:cNvSpPr/>
          <p:nvPr/>
        </p:nvSpPr>
        <p:spPr>
          <a:xfrm>
            <a:off x="3613680" y="416232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cs typeface="メイリオ"/>
            </a:endParaRPr>
          </a:p>
        </p:txBody>
      </p:sp>
      <p:sp>
        <p:nvSpPr>
          <p:cNvPr id="1049" name="正方形/長方形 19"/>
          <p:cNvSpPr/>
          <p:nvPr/>
        </p:nvSpPr>
        <p:spPr>
          <a:xfrm>
            <a:off x="6825240" y="415332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cs typeface="メイリオ"/>
            </a:endParaRPr>
          </a:p>
        </p:txBody>
      </p:sp>
      <p:sp>
        <p:nvSpPr>
          <p:cNvPr id="1050" name="正方形/長方形 20"/>
          <p:cNvSpPr/>
          <p:nvPr/>
        </p:nvSpPr>
        <p:spPr>
          <a:xfrm>
            <a:off x="6825240" y="193644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cs typeface="メイリオ"/>
            </a:endParaRPr>
          </a:p>
        </p:txBody>
      </p:sp>
      <p:sp>
        <p:nvSpPr>
          <p:cNvPr id="1051" name="正方形/長方形 21"/>
          <p:cNvSpPr/>
          <p:nvPr/>
        </p:nvSpPr>
        <p:spPr>
          <a:xfrm>
            <a:off x="405720" y="193896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cs typeface="メイリオ"/>
            </a:endParaRPr>
          </a:p>
        </p:txBody>
      </p:sp>
      <p:sp>
        <p:nvSpPr>
          <p:cNvPr id="1052" name="正方形/長方形 22"/>
          <p:cNvSpPr/>
          <p:nvPr/>
        </p:nvSpPr>
        <p:spPr>
          <a:xfrm>
            <a:off x="3627720" y="193644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cs typeface="メイリオ"/>
            </a:endParaRPr>
          </a:p>
        </p:txBody>
      </p:sp>
      <p:sp>
        <p:nvSpPr>
          <p:cNvPr id="1053" name="テキスト ボックス 24"/>
          <p:cNvSpPr/>
          <p:nvPr/>
        </p:nvSpPr>
        <p:spPr>
          <a:xfrm>
            <a:off x="3457080" y="5206320"/>
            <a:ext cx="298044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600" b="0" u="none" strike="noStrike">
                <a:solidFill>
                  <a:schemeClr val="dk1"/>
                </a:solidFill>
                <a:effectLst/>
                <a:uFillTx/>
                <a:latin typeface="メイリオ"/>
                <a:ea typeface="メイリオ"/>
                <a:cs typeface="メイリオ"/>
              </a:rPr>
              <a:t>コンサル発注</a:t>
            </a:r>
            <a:r>
              <a:rPr lang="ja-JP" sz="1200" b="0" u="none" strike="noStrike">
                <a:solidFill>
                  <a:schemeClr val="dk1"/>
                </a:solidFill>
                <a:effectLst/>
                <a:uFillTx/>
                <a:latin typeface="メイリオ"/>
                <a:ea typeface="メイリオ"/>
                <a:cs typeface="メイリオ"/>
              </a:rPr>
              <a:t>であれば </a:t>
            </a:r>
            <a:r>
              <a:rPr lang="ja-JP" sz="1800" b="1" u="none" strike="noStrike">
                <a:solidFill>
                  <a:srgbClr val="FF0000"/>
                </a:solidFill>
                <a:effectLst/>
                <a:uFillTx/>
                <a:latin typeface="メイリオ"/>
                <a:ea typeface="メイリオ"/>
                <a:cs typeface="メイリオ"/>
              </a:rPr>
              <a:t>無償</a:t>
            </a:r>
            <a:endParaRPr lang="en-US" sz="1800" b="0" u="none" strike="noStrike">
              <a:solidFill>
                <a:srgbClr val="000000"/>
              </a:solidFill>
              <a:effectLst/>
              <a:uFillTx/>
              <a:latin typeface="メイリオ"/>
              <a:ea typeface="メイリオ"/>
              <a:cs typeface="メイリオ"/>
            </a:endParaRPr>
          </a:p>
        </p:txBody>
      </p:sp>
      <p:sp>
        <p:nvSpPr>
          <p:cNvPr id="1054" name="テキスト ボックス 26"/>
          <p:cNvSpPr/>
          <p:nvPr/>
        </p:nvSpPr>
        <p:spPr>
          <a:xfrm>
            <a:off x="250920" y="5206320"/>
            <a:ext cx="298044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800" b="1" u="none" strike="noStrike">
                <a:solidFill>
                  <a:schemeClr val="dk1">
                    <a:lumMod val="50000"/>
                    <a:lumOff val="50000"/>
                  </a:schemeClr>
                </a:solidFill>
                <a:effectLst/>
                <a:uFillTx/>
                <a:latin typeface="メイリオ"/>
                <a:ea typeface="メイリオ"/>
                <a:cs typeface="メイリオ"/>
              </a:rPr>
              <a:t>サービス停止中</a:t>
            </a:r>
            <a:endParaRPr lang="en-US" sz="1800" b="0" u="none" strike="noStrike">
              <a:solidFill>
                <a:srgbClr val="000000"/>
              </a:solidFill>
              <a:effectLst/>
              <a:uFillTx/>
              <a:latin typeface="メイリオ"/>
              <a:ea typeface="メイリオ"/>
              <a:cs typeface="メイリオ"/>
            </a:endParaRPr>
          </a:p>
        </p:txBody>
      </p:sp>
      <p:sp>
        <p:nvSpPr>
          <p:cNvPr id="1055" name="テキスト ボックス 27"/>
          <p:cNvSpPr/>
          <p:nvPr/>
        </p:nvSpPr>
        <p:spPr>
          <a:xfrm>
            <a:off x="6680520" y="2978280"/>
            <a:ext cx="2980440" cy="399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2000" b="1" u="none" strike="noStrike">
                <a:solidFill>
                  <a:srgbClr val="FF0000"/>
                </a:solidFill>
                <a:effectLst/>
                <a:uFillTx/>
                <a:latin typeface="メイリオ"/>
                <a:ea typeface="メイリオ"/>
                <a:cs typeface="メイリオ"/>
              </a:rPr>
              <a:t>200</a:t>
            </a:r>
            <a:r>
              <a:rPr lang="ja-JP" sz="2000" b="1" u="none" strike="noStrike">
                <a:solidFill>
                  <a:srgbClr val="FF0000"/>
                </a:solidFill>
                <a:effectLst/>
                <a:uFillTx/>
                <a:latin typeface="メイリオ"/>
                <a:ea typeface="メイリオ"/>
                <a:cs typeface="メイリオ"/>
              </a:rPr>
              <a:t>万円</a:t>
            </a:r>
            <a:r>
              <a:rPr lang="en-US" sz="2000" b="1" u="none" strike="noStrike">
                <a:solidFill>
                  <a:srgbClr val="FF0000"/>
                </a:solidFill>
                <a:effectLst/>
                <a:uFillTx/>
                <a:latin typeface="メイリオ"/>
                <a:ea typeface="メイリオ"/>
                <a:cs typeface="メイリオ"/>
              </a:rPr>
              <a:t>~</a:t>
            </a:r>
            <a:r>
              <a:rPr lang="ja-JP" sz="1200" b="0" u="none" strike="noStrike">
                <a:solidFill>
                  <a:schemeClr val="dk1"/>
                </a:solidFill>
                <a:effectLst/>
                <a:uFillTx/>
                <a:latin typeface="メイリオ"/>
                <a:ea typeface="メイリオ"/>
                <a:cs typeface="メイリオ"/>
              </a:rPr>
              <a:t>（期間合計）</a:t>
            </a:r>
            <a:endParaRPr lang="en-US" sz="1200" b="0" u="none" strike="noStrike">
              <a:solidFill>
                <a:srgbClr val="000000"/>
              </a:solidFill>
              <a:effectLst/>
              <a:uFillTx/>
              <a:latin typeface="メイリオ"/>
              <a:ea typeface="メイリオ"/>
              <a:cs typeface="メイリオ"/>
            </a:endParaRPr>
          </a:p>
        </p:txBody>
      </p:sp>
      <p:sp>
        <p:nvSpPr>
          <p:cNvPr id="1056" name="テキスト ボックス 28"/>
          <p:cNvSpPr/>
          <p:nvPr/>
        </p:nvSpPr>
        <p:spPr>
          <a:xfrm>
            <a:off x="3474720" y="2972520"/>
            <a:ext cx="2980440" cy="399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2000" b="1" u="none" strike="noStrike">
                <a:solidFill>
                  <a:srgbClr val="FF0000"/>
                </a:solidFill>
                <a:effectLst/>
                <a:uFillTx/>
                <a:latin typeface="メイリオ"/>
                <a:ea typeface="メイリオ"/>
                <a:cs typeface="メイリオ"/>
              </a:rPr>
              <a:t>200</a:t>
            </a:r>
            <a:r>
              <a:rPr lang="ja-JP" sz="2000" b="1" u="none" strike="noStrike">
                <a:solidFill>
                  <a:srgbClr val="FF0000"/>
                </a:solidFill>
                <a:effectLst/>
                <a:uFillTx/>
                <a:latin typeface="メイリオ"/>
                <a:ea typeface="メイリオ"/>
                <a:cs typeface="メイリオ"/>
              </a:rPr>
              <a:t>万円</a:t>
            </a:r>
            <a:r>
              <a:rPr lang="en-US" sz="2000" b="1" u="none" strike="noStrike">
                <a:solidFill>
                  <a:srgbClr val="FF0000"/>
                </a:solidFill>
                <a:effectLst/>
                <a:uFillTx/>
                <a:latin typeface="メイリオ"/>
                <a:ea typeface="メイリオ"/>
                <a:cs typeface="メイリオ"/>
              </a:rPr>
              <a:t>~</a:t>
            </a:r>
            <a:r>
              <a:rPr lang="ja-JP" sz="1200" b="0" u="none" strike="noStrike">
                <a:solidFill>
                  <a:schemeClr val="dk1"/>
                </a:solidFill>
                <a:effectLst/>
                <a:uFillTx/>
                <a:latin typeface="メイリオ"/>
                <a:ea typeface="メイリオ"/>
                <a:cs typeface="メイリオ"/>
              </a:rPr>
              <a:t>（期間合計）</a:t>
            </a:r>
            <a:endParaRPr lang="en-US" sz="1200" b="0" u="none" strike="noStrike">
              <a:solidFill>
                <a:srgbClr val="000000"/>
              </a:solidFill>
              <a:effectLst/>
              <a:uFillTx/>
              <a:latin typeface="メイリオ"/>
              <a:ea typeface="メイリオ"/>
              <a:cs typeface="メイリオ"/>
            </a:endParaRPr>
          </a:p>
        </p:txBody>
      </p:sp>
      <p:sp>
        <p:nvSpPr>
          <p:cNvPr id="1057" name="テキスト ボックス 29"/>
          <p:cNvSpPr/>
          <p:nvPr/>
        </p:nvSpPr>
        <p:spPr>
          <a:xfrm>
            <a:off x="268560" y="2972520"/>
            <a:ext cx="2980440" cy="399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2000" b="1" u="none" strike="noStrike">
                <a:solidFill>
                  <a:srgbClr val="FF0000"/>
                </a:solidFill>
                <a:effectLst/>
                <a:uFillTx/>
                <a:latin typeface="メイリオ"/>
                <a:ea typeface="メイリオ"/>
                <a:cs typeface="メイリオ"/>
              </a:rPr>
              <a:t>20</a:t>
            </a:r>
            <a:r>
              <a:rPr lang="ja-JP" sz="2000" b="1" u="none" strike="noStrike">
                <a:solidFill>
                  <a:srgbClr val="FF0000"/>
                </a:solidFill>
                <a:effectLst/>
                <a:uFillTx/>
                <a:latin typeface="メイリオ"/>
                <a:ea typeface="メイリオ"/>
                <a:cs typeface="メイリオ"/>
              </a:rPr>
              <a:t>万円</a:t>
            </a:r>
            <a:r>
              <a:rPr lang="en-US" sz="2000" b="1" u="none" strike="noStrike">
                <a:solidFill>
                  <a:srgbClr val="FF0000"/>
                </a:solidFill>
                <a:effectLst/>
                <a:uFillTx/>
                <a:latin typeface="メイリオ"/>
                <a:ea typeface="メイリオ"/>
                <a:cs typeface="メイリオ"/>
              </a:rPr>
              <a:t>~</a:t>
            </a:r>
            <a:r>
              <a:rPr lang="ja-JP" sz="1200" b="0" u="none" strike="noStrike">
                <a:solidFill>
                  <a:schemeClr val="dk1"/>
                </a:solidFill>
                <a:effectLst/>
                <a:uFillTx/>
                <a:latin typeface="メイリオ"/>
                <a:ea typeface="メイリオ"/>
                <a:cs typeface="メイリオ"/>
              </a:rPr>
              <a:t>（</a:t>
            </a:r>
            <a:r>
              <a:rPr lang="en-US" sz="1200" b="0" u="none" strike="noStrike">
                <a:solidFill>
                  <a:schemeClr val="dk1"/>
                </a:solidFill>
                <a:effectLst/>
                <a:uFillTx/>
                <a:latin typeface="メイリオ"/>
                <a:ea typeface="メイリオ"/>
                <a:cs typeface="メイリオ"/>
              </a:rPr>
              <a:t>1</a:t>
            </a:r>
            <a:r>
              <a:rPr lang="ja-JP" sz="1200" b="0" u="none" strike="noStrike">
                <a:solidFill>
                  <a:schemeClr val="dk1"/>
                </a:solidFill>
                <a:effectLst/>
                <a:uFillTx/>
                <a:latin typeface="メイリオ"/>
                <a:ea typeface="メイリオ"/>
                <a:cs typeface="メイリオ"/>
              </a:rPr>
              <a:t>ヶ月</a:t>
            </a:r>
            <a:r>
              <a:rPr lang="en-US" sz="1200" b="0" u="none" strike="noStrike">
                <a:solidFill>
                  <a:schemeClr val="dk1"/>
                </a:solidFill>
                <a:effectLst/>
                <a:uFillTx/>
                <a:latin typeface="メイリオ"/>
                <a:ea typeface="メイリオ"/>
                <a:cs typeface="メイリオ"/>
              </a:rPr>
              <a:t>~</a:t>
            </a:r>
            <a:r>
              <a:rPr lang="ja-JP" sz="1200" b="0" u="none" strike="noStrike">
                <a:solidFill>
                  <a:schemeClr val="dk1"/>
                </a:solidFill>
                <a:effectLst/>
                <a:uFillTx/>
                <a:latin typeface="メイリオ"/>
                <a:ea typeface="メイリオ"/>
                <a:cs typeface="メイリオ"/>
              </a:rPr>
              <a:t>）</a:t>
            </a:r>
            <a:endParaRPr lang="en-US" sz="1200" b="0" u="none" strike="noStrike">
              <a:solidFill>
                <a:srgbClr val="000000"/>
              </a:solidFill>
              <a:effectLst/>
              <a:uFillTx/>
              <a:latin typeface="メイリオ"/>
              <a:ea typeface="メイリオ"/>
              <a:cs typeface="メイリオ"/>
            </a:endParaRPr>
          </a:p>
        </p:txBody>
      </p:sp>
      <p:sp>
        <p:nvSpPr>
          <p:cNvPr id="1058" name="正方形/長方形 30"/>
          <p:cNvSpPr/>
          <p:nvPr/>
        </p:nvSpPr>
        <p:spPr>
          <a:xfrm>
            <a:off x="663480" y="899280"/>
            <a:ext cx="8627760" cy="584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600" b="1" u="none" strike="noStrike">
                <a:solidFill>
                  <a:schemeClr val="dk1">
                    <a:lumMod val="65000"/>
                    <a:lumOff val="35000"/>
                  </a:schemeClr>
                </a:solidFill>
                <a:effectLst/>
                <a:uFillTx/>
                <a:latin typeface="メイリオ"/>
                <a:ea typeface="メイリオ"/>
                <a:cs typeface="メイリオ"/>
              </a:rPr>
              <a:t>各拡張施策についても</a:t>
            </a:r>
            <a:r>
              <a:rPr lang="en-US" sz="1600" b="1" u="none" strike="noStrike">
                <a:solidFill>
                  <a:schemeClr val="dk1">
                    <a:lumMod val="65000"/>
                    <a:lumOff val="35000"/>
                  </a:schemeClr>
                </a:solidFill>
                <a:effectLst/>
                <a:uFillTx/>
                <a:latin typeface="メイリオ"/>
                <a:ea typeface="メイリオ"/>
                <a:cs typeface="メイリオ"/>
              </a:rPr>
              <a:t>MIN</a:t>
            </a:r>
            <a:r>
              <a:rPr lang="ja-JP" sz="1600" b="1" u="none" strike="noStrike">
                <a:solidFill>
                  <a:schemeClr val="dk1">
                    <a:lumMod val="65000"/>
                    <a:lumOff val="35000"/>
                  </a:schemeClr>
                </a:solidFill>
                <a:effectLst/>
                <a:uFillTx/>
                <a:latin typeface="メイリオ"/>
                <a:ea typeface="メイリオ"/>
                <a:cs typeface="メイリオ"/>
              </a:rPr>
              <a:t>金額からの発注、動線設計が可能です。</a:t>
            </a:r>
            <a:endParaRPr lang="en-US" sz="1600" b="0" u="none" strike="noStrike">
              <a:solidFill>
                <a:srgbClr val="000000"/>
              </a:solidFill>
              <a:effectLst/>
              <a:uFillTx/>
              <a:latin typeface="メイリオ"/>
              <a:ea typeface="メイリオ"/>
              <a:cs typeface="メイリオ"/>
            </a:endParaRPr>
          </a:p>
          <a:p>
            <a:pPr algn="ctr" defTabSz="914400">
              <a:lnSpc>
                <a:spcPct val="100000"/>
              </a:lnSpc>
            </a:pPr>
            <a:r>
              <a:rPr lang="en-US" sz="1600" b="1" u="none" strike="noStrike">
                <a:solidFill>
                  <a:schemeClr val="dk1">
                    <a:lumMod val="65000"/>
                    <a:lumOff val="35000"/>
                  </a:schemeClr>
                </a:solidFill>
                <a:effectLst/>
                <a:uFillTx/>
                <a:latin typeface="メイリオ"/>
                <a:ea typeface="メイリオ"/>
                <a:cs typeface="メイリオ"/>
              </a:rPr>
              <a:t>LINE</a:t>
            </a:r>
            <a:r>
              <a:rPr lang="ja-JP" sz="1600" b="1" u="none" strike="noStrike">
                <a:solidFill>
                  <a:schemeClr val="dk1">
                    <a:lumMod val="65000"/>
                    <a:lumOff val="35000"/>
                  </a:schemeClr>
                </a:solidFill>
                <a:effectLst/>
                <a:uFillTx/>
                <a:latin typeface="メイリオ"/>
                <a:ea typeface="メイリオ"/>
                <a:cs typeface="メイリオ"/>
              </a:rPr>
              <a:t>友だち追加後の動線設計（特に友だち追加後すぐ）の検証後の拡大施策として用意。</a:t>
            </a:r>
            <a:endParaRPr lang="en-US" sz="1600" b="0" u="none" strike="noStrike">
              <a:solidFill>
                <a:srgbClr val="000000"/>
              </a:solidFill>
              <a:effectLst/>
              <a:uFillTx/>
              <a:latin typeface="メイリオ"/>
              <a:ea typeface="メイリオ"/>
              <a:cs typeface="メイリオ"/>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9"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cs typeface="メイリオ"/>
              </a:rPr>
              <a:t>提供施策について</a:t>
            </a:r>
            <a:endParaRPr lang="en-US" sz="1600" b="0" u="none" strike="noStrike">
              <a:solidFill>
                <a:srgbClr val="000000"/>
              </a:solidFill>
              <a:effectLst/>
              <a:uFillTx/>
              <a:latin typeface="メイリオ"/>
              <a:ea typeface="メイリオ"/>
              <a:cs typeface="メイリオ"/>
            </a:endParaRPr>
          </a:p>
        </p:txBody>
      </p:sp>
      <p:pic>
        <p:nvPicPr>
          <p:cNvPr id="1060" name="図 51"/>
          <p:cNvPicPr/>
          <p:nvPr/>
        </p:nvPicPr>
        <p:blipFill>
          <a:blip r:embed="rId2"/>
          <a:stretch/>
        </p:blipFill>
        <p:spPr>
          <a:xfrm>
            <a:off x="554400" y="1857960"/>
            <a:ext cx="4461120" cy="1873440"/>
          </a:xfrm>
          <a:prstGeom prst="rect">
            <a:avLst/>
          </a:prstGeom>
          <a:noFill/>
          <a:ln w="0">
            <a:noFill/>
          </a:ln>
        </p:spPr>
      </p:pic>
      <p:sp>
        <p:nvSpPr>
          <p:cNvPr id="1061" name="正方形/長方形 52"/>
          <p:cNvSpPr/>
          <p:nvPr/>
        </p:nvSpPr>
        <p:spPr>
          <a:xfrm>
            <a:off x="419760" y="732600"/>
            <a:ext cx="2365200" cy="67284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lt1"/>
                </a:solidFill>
                <a:effectLst/>
                <a:uFillTx/>
                <a:latin typeface="メイリオ"/>
                <a:ea typeface="メイリオ"/>
                <a:cs typeface="メイリオ"/>
              </a:rPr>
              <a:t>LINE</a:t>
            </a:r>
            <a:r>
              <a:rPr lang="ja-JP" sz="1600" b="1" u="none" strike="noStrike">
                <a:solidFill>
                  <a:schemeClr val="lt1"/>
                </a:solidFill>
                <a:effectLst/>
                <a:uFillTx/>
                <a:latin typeface="メイリオ"/>
                <a:ea typeface="メイリオ"/>
                <a:cs typeface="メイリオ"/>
              </a:rPr>
              <a:t>広告</a:t>
            </a:r>
            <a:r>
              <a:rPr lang="ja-JP" sz="1200" b="1" u="none" strike="noStrike">
                <a:solidFill>
                  <a:schemeClr val="lt1"/>
                </a:solidFill>
                <a:effectLst/>
                <a:uFillTx/>
                <a:latin typeface="メイリオ"/>
                <a:ea typeface="メイリオ"/>
                <a:cs typeface="メイリオ"/>
              </a:rPr>
              <a:t>（友だち追加）</a:t>
            </a:r>
            <a:endParaRPr lang="en-US" sz="1200" b="0" u="none" strike="noStrike">
              <a:solidFill>
                <a:srgbClr val="FFFFFF"/>
              </a:solidFill>
              <a:effectLst/>
              <a:uFillTx/>
              <a:latin typeface="メイリオ"/>
              <a:ea typeface="メイリオ"/>
              <a:cs typeface="メイリオ"/>
            </a:endParaRPr>
          </a:p>
          <a:p>
            <a:pPr algn="ctr" defTabSz="914400">
              <a:lnSpc>
                <a:spcPct val="100000"/>
              </a:lnSpc>
            </a:pPr>
            <a:r>
              <a:rPr lang="en-US" sz="1200" b="1" u="none" strike="noStrike">
                <a:solidFill>
                  <a:srgbClr val="FFFF00"/>
                </a:solidFill>
                <a:effectLst/>
                <a:uFillTx/>
                <a:latin typeface="メイリオ"/>
                <a:ea typeface="メイリオ"/>
                <a:cs typeface="メイリオ"/>
              </a:rPr>
              <a:t>※CPF</a:t>
            </a:r>
            <a:r>
              <a:rPr lang="ja-JP" sz="1200" b="1" u="none" strike="noStrike">
                <a:solidFill>
                  <a:srgbClr val="FFFF00"/>
                </a:solidFill>
                <a:effectLst/>
                <a:uFillTx/>
                <a:latin typeface="メイリオ"/>
                <a:ea typeface="メイリオ"/>
                <a:cs typeface="メイリオ"/>
              </a:rPr>
              <a:t>広告※</a:t>
            </a:r>
            <a:endParaRPr lang="en-US" sz="1200" b="0" u="none" strike="noStrike">
              <a:solidFill>
                <a:srgbClr val="FFFFFF"/>
              </a:solidFill>
              <a:effectLst/>
              <a:uFillTx/>
              <a:latin typeface="メイリオ"/>
              <a:ea typeface="メイリオ"/>
              <a:cs typeface="メイリオ"/>
            </a:endParaRPr>
          </a:p>
        </p:txBody>
      </p:sp>
      <p:sp>
        <p:nvSpPr>
          <p:cNvPr id="1062" name="正方形/長方形 53"/>
          <p:cNvSpPr/>
          <p:nvPr/>
        </p:nvSpPr>
        <p:spPr>
          <a:xfrm>
            <a:off x="2938320" y="776880"/>
            <a:ext cx="6482160" cy="584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600" b="1" u="none" strike="noStrike">
                <a:solidFill>
                  <a:schemeClr val="dk1">
                    <a:lumMod val="65000"/>
                    <a:lumOff val="35000"/>
                  </a:schemeClr>
                </a:solidFill>
                <a:effectLst/>
                <a:uFillTx/>
                <a:latin typeface="メイリオ"/>
                <a:ea typeface="メイリオ"/>
                <a:cs typeface="メイリオ"/>
              </a:rPr>
              <a:t>LINE</a:t>
            </a:r>
            <a:r>
              <a:rPr lang="ja-JP" sz="1600" b="1" u="none" strike="noStrike">
                <a:solidFill>
                  <a:schemeClr val="dk1">
                    <a:lumMod val="65000"/>
                    <a:lumOff val="35000"/>
                  </a:schemeClr>
                </a:solidFill>
                <a:effectLst/>
                <a:uFillTx/>
                <a:latin typeface="メイリオ"/>
                <a:ea typeface="メイリオ"/>
                <a:cs typeface="メイリオ"/>
              </a:rPr>
              <a:t>公式アカウントの友だちを増やすための広告を、</a:t>
            </a:r>
            <a:br>
              <a:rPr sz="1600">
                <a:latin typeface="メイリオ"/>
                <a:ea typeface="メイリオ"/>
                <a:cs typeface="メイリオ"/>
              </a:rPr>
            </a:br>
            <a:r>
              <a:rPr lang="en-US" sz="1600" b="1" u="none" strike="noStrike">
                <a:solidFill>
                  <a:schemeClr val="dk1">
                    <a:lumMod val="65000"/>
                    <a:lumOff val="35000"/>
                  </a:schemeClr>
                </a:solidFill>
                <a:effectLst/>
                <a:uFillTx/>
                <a:latin typeface="メイリオ"/>
                <a:ea typeface="メイリオ"/>
                <a:cs typeface="メイリオ"/>
              </a:rPr>
              <a:t>LINE</a:t>
            </a:r>
            <a:r>
              <a:rPr lang="ja-JP" sz="1600" b="1" u="none" strike="noStrike">
                <a:solidFill>
                  <a:schemeClr val="dk1">
                    <a:lumMod val="65000"/>
                    <a:lumOff val="35000"/>
                  </a:schemeClr>
                </a:solidFill>
                <a:effectLst/>
                <a:uFillTx/>
                <a:latin typeface="メイリオ"/>
                <a:ea typeface="メイリオ"/>
                <a:cs typeface="メイリオ"/>
              </a:rPr>
              <a:t>広告の管理画面より</a:t>
            </a:r>
            <a:r>
              <a:rPr lang="en-US" sz="1600" b="1" u="none" strike="noStrike">
                <a:solidFill>
                  <a:schemeClr val="dk1">
                    <a:lumMod val="65000"/>
                    <a:lumOff val="35000"/>
                  </a:schemeClr>
                </a:solidFill>
                <a:effectLst/>
                <a:uFillTx/>
                <a:latin typeface="メイリオ"/>
                <a:ea typeface="メイリオ"/>
                <a:cs typeface="メイリオ"/>
              </a:rPr>
              <a:t>LINE</a:t>
            </a:r>
            <a:r>
              <a:rPr lang="ja-JP" sz="1600" b="1" u="none" strike="noStrike">
                <a:solidFill>
                  <a:schemeClr val="dk1">
                    <a:lumMod val="65000"/>
                    <a:lumOff val="35000"/>
                  </a:schemeClr>
                </a:solidFill>
                <a:effectLst/>
                <a:uFillTx/>
                <a:latin typeface="メイリオ"/>
                <a:ea typeface="メイリオ"/>
                <a:cs typeface="メイリオ"/>
              </a:rPr>
              <a:t>アプリ内で掲載できる機能。</a:t>
            </a:r>
            <a:endParaRPr lang="en-US" sz="1600" b="0" u="none" strike="noStrike">
              <a:solidFill>
                <a:srgbClr val="000000"/>
              </a:solidFill>
              <a:effectLst/>
              <a:uFillTx/>
              <a:latin typeface="メイリオ"/>
              <a:ea typeface="メイリオ"/>
              <a:cs typeface="メイリオ"/>
            </a:endParaRPr>
          </a:p>
        </p:txBody>
      </p:sp>
      <p:grpSp>
        <p:nvGrpSpPr>
          <p:cNvPr id="1063" name="グループ化 54"/>
          <p:cNvGrpSpPr/>
          <p:nvPr/>
        </p:nvGrpSpPr>
        <p:grpSpPr>
          <a:xfrm>
            <a:off x="516240" y="1563480"/>
            <a:ext cx="2696040" cy="311760"/>
            <a:chOff x="516240" y="1563480"/>
            <a:chExt cx="2696040" cy="311760"/>
          </a:xfrm>
        </p:grpSpPr>
        <p:sp>
          <p:nvSpPr>
            <p:cNvPr id="1064" name="四角形: 角を丸くする 55"/>
            <p:cNvSpPr/>
            <p:nvPr/>
          </p:nvSpPr>
          <p:spPr>
            <a:xfrm>
              <a:off x="516240" y="1563480"/>
              <a:ext cx="2696040" cy="302400"/>
            </a:xfrm>
            <a:prstGeom prst="roundRect">
              <a:avLst>
                <a:gd name="adj" fmla="val 16667"/>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400" b="0" u="none" strike="noStrike">
                <a:solidFill>
                  <a:schemeClr val="lt1"/>
                </a:solidFill>
                <a:effectLst/>
                <a:uFillTx/>
                <a:latin typeface="メイリオ"/>
                <a:ea typeface="メイリオ"/>
                <a:cs typeface="メイリオ"/>
              </a:endParaRPr>
            </a:p>
          </p:txBody>
        </p:sp>
        <p:sp>
          <p:nvSpPr>
            <p:cNvPr id="1065" name="正方形/長方形 56"/>
            <p:cNvSpPr/>
            <p:nvPr/>
          </p:nvSpPr>
          <p:spPr>
            <a:xfrm>
              <a:off x="516240" y="1598760"/>
              <a:ext cx="2696040" cy="27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200" b="1" u="none" strike="noStrike">
                  <a:solidFill>
                    <a:srgbClr val="0070C0"/>
                  </a:solidFill>
                  <a:effectLst/>
                  <a:uFillTx/>
                  <a:latin typeface="メイリオ"/>
                  <a:ea typeface="メイリオ"/>
                  <a:cs typeface="メイリオ"/>
                </a:rPr>
                <a:t>LINE</a:t>
              </a:r>
              <a:r>
                <a:rPr lang="ja-JP" sz="1200" b="1" u="none" strike="noStrike">
                  <a:solidFill>
                    <a:srgbClr val="0070C0"/>
                  </a:solidFill>
                  <a:effectLst/>
                  <a:uFillTx/>
                  <a:latin typeface="メイリオ"/>
                  <a:ea typeface="メイリオ"/>
                  <a:cs typeface="メイリオ"/>
                </a:rPr>
                <a:t>公式アカウントまでの導線</a:t>
              </a:r>
              <a:endParaRPr lang="en-US" sz="1200" b="0" u="none" strike="noStrike">
                <a:solidFill>
                  <a:srgbClr val="000000"/>
                </a:solidFill>
                <a:effectLst/>
                <a:uFillTx/>
                <a:latin typeface="メイリオ"/>
                <a:ea typeface="メイリオ"/>
                <a:cs typeface="メイリオ"/>
              </a:endParaRPr>
            </a:p>
          </p:txBody>
        </p:sp>
      </p:grpSp>
      <p:grpSp>
        <p:nvGrpSpPr>
          <p:cNvPr id="1066" name="グループ化 57"/>
          <p:cNvGrpSpPr/>
          <p:nvPr/>
        </p:nvGrpSpPr>
        <p:grpSpPr>
          <a:xfrm>
            <a:off x="516240" y="3819600"/>
            <a:ext cx="2696040" cy="311760"/>
            <a:chOff x="516240" y="3819600"/>
            <a:chExt cx="2696040" cy="311760"/>
          </a:xfrm>
        </p:grpSpPr>
        <p:sp>
          <p:nvSpPr>
            <p:cNvPr id="1067" name="四角形: 角を丸くする 58"/>
            <p:cNvSpPr/>
            <p:nvPr/>
          </p:nvSpPr>
          <p:spPr>
            <a:xfrm>
              <a:off x="516240" y="3819600"/>
              <a:ext cx="2696040" cy="302400"/>
            </a:xfrm>
            <a:prstGeom prst="roundRect">
              <a:avLst>
                <a:gd name="adj" fmla="val 16667"/>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400" b="0" u="none" strike="noStrike">
                <a:solidFill>
                  <a:schemeClr val="lt1"/>
                </a:solidFill>
                <a:effectLst/>
                <a:uFillTx/>
                <a:latin typeface="メイリオ"/>
                <a:ea typeface="メイリオ"/>
                <a:cs typeface="メイリオ"/>
              </a:endParaRPr>
            </a:p>
          </p:txBody>
        </p:sp>
        <p:sp>
          <p:nvSpPr>
            <p:cNvPr id="1068" name="正方形/長方形 59"/>
            <p:cNvSpPr/>
            <p:nvPr/>
          </p:nvSpPr>
          <p:spPr>
            <a:xfrm>
              <a:off x="516240" y="3854880"/>
              <a:ext cx="2696040" cy="27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200" b="1" u="none" strike="noStrike">
                  <a:solidFill>
                    <a:srgbClr val="0070C0"/>
                  </a:solidFill>
                  <a:effectLst/>
                  <a:uFillTx/>
                  <a:latin typeface="メイリオ"/>
                  <a:ea typeface="メイリオ"/>
                  <a:cs typeface="メイリオ"/>
                </a:rPr>
                <a:t>「友だち追加広告」との違い</a:t>
              </a:r>
              <a:endParaRPr lang="en-US" sz="1200" b="0" u="none" strike="noStrike">
                <a:solidFill>
                  <a:srgbClr val="000000"/>
                </a:solidFill>
                <a:effectLst/>
                <a:uFillTx/>
                <a:latin typeface="メイリオ"/>
                <a:ea typeface="メイリオ"/>
                <a:cs typeface="メイリオ"/>
              </a:endParaRPr>
            </a:p>
          </p:txBody>
        </p:sp>
      </p:grpSp>
      <p:pic>
        <p:nvPicPr>
          <p:cNvPr id="1069" name="table"/>
          <p:cNvPicPr/>
          <p:nvPr/>
        </p:nvPicPr>
        <p:blipFill>
          <a:blip r:embed="rId3"/>
          <a:stretch/>
        </p:blipFill>
        <p:spPr>
          <a:xfrm>
            <a:off x="787680" y="4201920"/>
            <a:ext cx="8671680" cy="2201760"/>
          </a:xfrm>
          <a:prstGeom prst="rect">
            <a:avLst/>
          </a:prstGeom>
          <a:noFill/>
          <a:ln w="0">
            <a:noFill/>
          </a:ln>
        </p:spPr>
      </p:pic>
      <p:sp>
        <p:nvSpPr>
          <p:cNvPr id="1070" name="矢印: 右 61"/>
          <p:cNvSpPr/>
          <p:nvPr/>
        </p:nvSpPr>
        <p:spPr>
          <a:xfrm>
            <a:off x="5232600" y="2618640"/>
            <a:ext cx="429840" cy="352080"/>
          </a:xfrm>
          <a:prstGeom prst="rightArrow">
            <a:avLst>
              <a:gd name="adj1" fmla="val 50000"/>
              <a:gd name="adj2" fmla="val 50000"/>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400" b="0" u="none" strike="noStrike">
              <a:solidFill>
                <a:schemeClr val="lt1"/>
              </a:solidFill>
              <a:effectLst/>
              <a:uFillTx/>
              <a:latin typeface="メイリオ"/>
              <a:ea typeface="メイリオ"/>
              <a:cs typeface="メイリオ"/>
            </a:endParaRPr>
          </a:p>
        </p:txBody>
      </p:sp>
      <p:pic>
        <p:nvPicPr>
          <p:cNvPr id="1071" name="図 62"/>
          <p:cNvPicPr/>
          <p:nvPr/>
        </p:nvPicPr>
        <p:blipFill>
          <a:blip r:embed="rId4"/>
          <a:srcRect l="35512" r="35510"/>
          <a:stretch/>
        </p:blipFill>
        <p:spPr>
          <a:xfrm>
            <a:off x="6038640" y="1875960"/>
            <a:ext cx="917280" cy="1779120"/>
          </a:xfrm>
          <a:prstGeom prst="rect">
            <a:avLst/>
          </a:prstGeom>
          <a:noFill/>
          <a:ln w="0">
            <a:noFill/>
          </a:ln>
        </p:spPr>
      </p:pic>
      <p:sp>
        <p:nvSpPr>
          <p:cNvPr id="1072" name="テキスト ボックス 34"/>
          <p:cNvSpPr/>
          <p:nvPr/>
        </p:nvSpPr>
        <p:spPr>
          <a:xfrm>
            <a:off x="6868440" y="2618640"/>
            <a:ext cx="2704680" cy="52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200" b="0" u="none" strike="noStrike">
                <a:solidFill>
                  <a:srgbClr val="000000"/>
                </a:solidFill>
                <a:effectLst/>
                <a:uFillTx/>
                <a:latin typeface="メイリオ"/>
                <a:ea typeface="メイリオ"/>
                <a:cs typeface="メイリオ"/>
              </a:rPr>
              <a:t>LINE</a:t>
            </a:r>
            <a:r>
              <a:rPr lang="ja-JP" sz="1200" b="0" u="none" strike="noStrike">
                <a:solidFill>
                  <a:srgbClr val="000000"/>
                </a:solidFill>
                <a:effectLst/>
                <a:uFillTx/>
                <a:latin typeface="メイリオ"/>
                <a:ea typeface="メイリオ"/>
                <a:cs typeface="メイリオ"/>
              </a:rPr>
              <a:t>アプリ内から</a:t>
            </a:r>
            <a:br>
              <a:rPr sz="1200">
                <a:latin typeface="メイリオ"/>
                <a:ea typeface="メイリオ"/>
                <a:cs typeface="メイリオ"/>
              </a:rPr>
            </a:br>
            <a:r>
              <a:rPr lang="ja-JP" sz="1200" b="0" u="none" strike="noStrike">
                <a:solidFill>
                  <a:srgbClr val="000000"/>
                </a:solidFill>
                <a:effectLst/>
                <a:uFillTx/>
                <a:latin typeface="メイリオ"/>
                <a:ea typeface="メイリオ"/>
                <a:cs typeface="メイリオ"/>
              </a:rPr>
              <a:t>自社アカウントに</a:t>
            </a:r>
            <a:r>
              <a:rPr lang="en-US" sz="1600" b="1" u="none" strike="noStrike">
                <a:solidFill>
                  <a:srgbClr val="33CC33"/>
                </a:solidFill>
                <a:effectLst/>
                <a:uFillTx/>
                <a:latin typeface="メイリオ"/>
                <a:ea typeface="メイリオ"/>
                <a:cs typeface="メイリオ"/>
              </a:rPr>
              <a:t>“直接”</a:t>
            </a:r>
            <a:r>
              <a:rPr lang="ja-JP" sz="1200" b="0" u="none" strike="noStrike">
                <a:solidFill>
                  <a:srgbClr val="000000"/>
                </a:solidFill>
                <a:effectLst/>
                <a:uFillTx/>
                <a:latin typeface="メイリオ"/>
                <a:ea typeface="メイリオ"/>
                <a:cs typeface="メイリオ"/>
              </a:rPr>
              <a:t>誘導</a:t>
            </a:r>
            <a:endParaRPr lang="en-US" sz="1200" b="0" u="none" strike="noStrike">
              <a:solidFill>
                <a:srgbClr val="000000"/>
              </a:solidFill>
              <a:effectLst/>
              <a:uFillTx/>
              <a:latin typeface="メイリオ"/>
              <a:ea typeface="メイリオ"/>
              <a:cs typeface="メイリオ"/>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1"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cs typeface="メイリオ"/>
              </a:rPr>
              <a:t>弊社からご提供できる運用プラン</a:t>
            </a:r>
            <a:endParaRPr lang="en-US" sz="1600" b="0" u="none" strike="noStrike">
              <a:solidFill>
                <a:srgbClr val="000000"/>
              </a:solidFill>
              <a:effectLst/>
              <a:uFillTx/>
              <a:latin typeface="メイリオ"/>
              <a:ea typeface="メイリオ"/>
              <a:cs typeface="メイリオ"/>
            </a:endParaRPr>
          </a:p>
        </p:txBody>
      </p:sp>
      <p:sp>
        <p:nvSpPr>
          <p:cNvPr id="642" name="正方形/長方形 8"/>
          <p:cNvSpPr/>
          <p:nvPr/>
        </p:nvSpPr>
        <p:spPr>
          <a:xfrm>
            <a:off x="0" y="77724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cs typeface="メイリオ"/>
              </a:rPr>
              <a:t>都度発注プラン</a:t>
            </a:r>
            <a:endParaRPr lang="en-US" sz="1400" b="0" u="none" strike="noStrike">
              <a:solidFill>
                <a:srgbClr val="FFFFFF"/>
              </a:solidFill>
              <a:effectLst/>
              <a:uFillTx/>
              <a:latin typeface="メイリオ"/>
              <a:ea typeface="メイリオ"/>
              <a:cs typeface="メイリオ"/>
            </a:endParaRPr>
          </a:p>
        </p:txBody>
      </p:sp>
      <p:sp>
        <p:nvSpPr>
          <p:cNvPr id="643" name="Google Shape;752;p28"/>
          <p:cNvSpPr/>
          <p:nvPr/>
        </p:nvSpPr>
        <p:spPr>
          <a:xfrm>
            <a:off x="3036600" y="85932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en-US" sz="1600" b="1" u="none" strike="noStrike" dirty="0">
                <a:solidFill>
                  <a:schemeClr val="dk1"/>
                </a:solidFill>
                <a:effectLst/>
                <a:uFillTx/>
                <a:latin typeface="メイリオ"/>
                <a:ea typeface="メイリオ"/>
                <a:cs typeface="メイリオ"/>
              </a:rPr>
              <a:t>LINEOA</a:t>
            </a:r>
            <a:r>
              <a:rPr lang="ja-JP" sz="1600" b="1" u="none" strike="noStrike" dirty="0">
                <a:solidFill>
                  <a:schemeClr val="dk1"/>
                </a:solidFill>
                <a:effectLst/>
                <a:uFillTx/>
                <a:latin typeface="メイリオ"/>
                <a:ea typeface="メイリオ"/>
                <a:cs typeface="メイリオ"/>
              </a:rPr>
              <a:t>の運用業務・</a:t>
            </a:r>
            <a:r>
              <a:rPr lang="en-US" sz="1600" b="1" u="none" strike="noStrike" dirty="0">
                <a:solidFill>
                  <a:schemeClr val="dk1"/>
                </a:solidFill>
                <a:effectLst/>
                <a:uFillTx/>
                <a:latin typeface="メイリオ"/>
                <a:ea typeface="メイリオ"/>
                <a:cs typeface="メイリオ"/>
              </a:rPr>
              <a:t>CR</a:t>
            </a:r>
            <a:r>
              <a:rPr lang="ja-JP" sz="1600" b="1" u="none" strike="noStrike" dirty="0">
                <a:solidFill>
                  <a:schemeClr val="dk1"/>
                </a:solidFill>
                <a:effectLst/>
                <a:uFillTx/>
                <a:latin typeface="メイリオ"/>
                <a:ea typeface="メイリオ"/>
                <a:cs typeface="メイリオ"/>
              </a:rPr>
              <a:t>制作業務を一部外出ししてご依頼も。</a:t>
            </a:r>
            <a:endParaRPr lang="en-US" sz="1600" b="0" u="none" strike="noStrike" dirty="0">
              <a:solidFill>
                <a:srgbClr val="000000"/>
              </a:solidFill>
              <a:effectLst/>
              <a:uFillTx/>
              <a:latin typeface="メイリオ"/>
              <a:ea typeface="メイリオ"/>
              <a:cs typeface="メイリオ"/>
            </a:endParaRPr>
          </a:p>
        </p:txBody>
      </p:sp>
      <p:sp>
        <p:nvSpPr>
          <p:cNvPr id="644" name="正方形/長方形 11"/>
          <p:cNvSpPr/>
          <p:nvPr/>
        </p:nvSpPr>
        <p:spPr>
          <a:xfrm>
            <a:off x="549000" y="1380240"/>
            <a:ext cx="8859240" cy="50810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050" b="0" u="none" strike="noStrike">
              <a:solidFill>
                <a:schemeClr val="dk1">
                  <a:lumMod val="65000"/>
                  <a:lumOff val="35000"/>
                </a:schemeClr>
              </a:solidFill>
              <a:effectLst/>
              <a:uFillTx/>
              <a:latin typeface="メイリオ"/>
              <a:ea typeface="メイリオ"/>
              <a:cs typeface="メイリオ"/>
            </a:endParaRPr>
          </a:p>
        </p:txBody>
      </p:sp>
      <p:sp>
        <p:nvSpPr>
          <p:cNvPr id="645" name="テキスト ボックス 12"/>
          <p:cNvSpPr/>
          <p:nvPr/>
        </p:nvSpPr>
        <p:spPr>
          <a:xfrm>
            <a:off x="706680" y="1569600"/>
            <a:ext cx="4963680" cy="253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050" b="0" u="none" strike="noStrike">
                <a:solidFill>
                  <a:schemeClr val="dk1">
                    <a:lumMod val="65000"/>
                    <a:lumOff val="35000"/>
                  </a:schemeClr>
                </a:solidFill>
                <a:effectLst/>
                <a:uFillTx/>
                <a:latin typeface="メイリオ"/>
                <a:ea typeface="メイリオ"/>
                <a:cs typeface="メイリオ"/>
              </a:rPr>
              <a:t>&lt;</a:t>
            </a:r>
            <a:r>
              <a:rPr lang="ja-JP" sz="1050" b="0" u="none" strike="noStrike">
                <a:solidFill>
                  <a:schemeClr val="dk1">
                    <a:lumMod val="65000"/>
                    <a:lumOff val="35000"/>
                  </a:schemeClr>
                </a:solidFill>
                <a:effectLst/>
                <a:uFillTx/>
                <a:latin typeface="メイリオ"/>
                <a:ea typeface="メイリオ"/>
                <a:cs typeface="メイリオ"/>
              </a:rPr>
              <a:t>追加作業における費用感　</a:t>
            </a:r>
            <a:r>
              <a:rPr lang="en-US" sz="900" b="0" u="none" strike="noStrike">
                <a:solidFill>
                  <a:srgbClr val="FF0000"/>
                </a:solidFill>
                <a:effectLst/>
                <a:uFillTx/>
                <a:latin typeface="メイリオ"/>
                <a:ea typeface="メイリオ"/>
                <a:cs typeface="メイリオ"/>
              </a:rPr>
              <a:t>※作業量により変動する可能性がございます</a:t>
            </a:r>
            <a:r>
              <a:rPr lang="en-US" sz="1050" b="0" u="none" strike="noStrike">
                <a:solidFill>
                  <a:schemeClr val="dk1">
                    <a:lumMod val="65000"/>
                    <a:lumOff val="35000"/>
                  </a:schemeClr>
                </a:solidFill>
                <a:effectLst/>
                <a:uFillTx/>
                <a:latin typeface="メイリオ"/>
                <a:ea typeface="メイリオ"/>
                <a:cs typeface="メイリオ"/>
              </a:rPr>
              <a:t>&gt;</a:t>
            </a:r>
            <a:endParaRPr lang="en-US" sz="1050" b="0" u="none" strike="noStrike">
              <a:solidFill>
                <a:srgbClr val="000000"/>
              </a:solidFill>
              <a:effectLst/>
              <a:uFillTx/>
              <a:latin typeface="メイリオ"/>
              <a:ea typeface="メイリオ"/>
              <a:cs typeface="メイリオ"/>
            </a:endParaRPr>
          </a:p>
        </p:txBody>
      </p:sp>
      <p:graphicFrame>
        <p:nvGraphicFramePr>
          <p:cNvPr id="646" name="表 13"/>
          <p:cNvGraphicFramePr/>
          <p:nvPr/>
        </p:nvGraphicFramePr>
        <p:xfrm>
          <a:off x="706680" y="1862640"/>
          <a:ext cx="8542080" cy="4067280"/>
        </p:xfrm>
        <a:graphic>
          <a:graphicData uri="http://schemas.openxmlformats.org/drawingml/2006/table">
            <a:tbl>
              <a:tblPr/>
              <a:tblGrid>
                <a:gridCol w="1832400">
                  <a:extLst>
                    <a:ext uri="{9D8B030D-6E8A-4147-A177-3AD203B41FA5}">
                      <a16:colId xmlns:a16="http://schemas.microsoft.com/office/drawing/2014/main" val="20000"/>
                    </a:ext>
                  </a:extLst>
                </a:gridCol>
                <a:gridCol w="1140480">
                  <a:extLst>
                    <a:ext uri="{9D8B030D-6E8A-4147-A177-3AD203B41FA5}">
                      <a16:colId xmlns:a16="http://schemas.microsoft.com/office/drawing/2014/main" val="20001"/>
                    </a:ext>
                  </a:extLst>
                </a:gridCol>
                <a:gridCol w="1140480">
                  <a:extLst>
                    <a:ext uri="{9D8B030D-6E8A-4147-A177-3AD203B41FA5}">
                      <a16:colId xmlns:a16="http://schemas.microsoft.com/office/drawing/2014/main" val="20002"/>
                    </a:ext>
                  </a:extLst>
                </a:gridCol>
                <a:gridCol w="315360">
                  <a:extLst>
                    <a:ext uri="{9D8B030D-6E8A-4147-A177-3AD203B41FA5}">
                      <a16:colId xmlns:a16="http://schemas.microsoft.com/office/drawing/2014/main" val="20003"/>
                    </a:ext>
                  </a:extLst>
                </a:gridCol>
                <a:gridCol w="1832400">
                  <a:extLst>
                    <a:ext uri="{9D8B030D-6E8A-4147-A177-3AD203B41FA5}">
                      <a16:colId xmlns:a16="http://schemas.microsoft.com/office/drawing/2014/main" val="20004"/>
                    </a:ext>
                  </a:extLst>
                </a:gridCol>
                <a:gridCol w="1140480">
                  <a:extLst>
                    <a:ext uri="{9D8B030D-6E8A-4147-A177-3AD203B41FA5}">
                      <a16:colId xmlns:a16="http://schemas.microsoft.com/office/drawing/2014/main" val="20005"/>
                    </a:ext>
                  </a:extLst>
                </a:gridCol>
                <a:gridCol w="1140480">
                  <a:extLst>
                    <a:ext uri="{9D8B030D-6E8A-4147-A177-3AD203B41FA5}">
                      <a16:colId xmlns:a16="http://schemas.microsoft.com/office/drawing/2014/main" val="20006"/>
                    </a:ext>
                  </a:extLst>
                </a:gridCol>
              </a:tblGrid>
              <a:tr h="290520">
                <a:tc>
                  <a:txBody>
                    <a:bodyPr/>
                    <a:lstStyle/>
                    <a:p>
                      <a:pPr algn="ctr" defTabSz="914400">
                        <a:lnSpc>
                          <a:spcPct val="100000"/>
                        </a:lnSpc>
                      </a:pPr>
                      <a:r>
                        <a:rPr lang="ja-JP" sz="1100" b="1" u="none" strike="noStrike">
                          <a:solidFill>
                            <a:srgbClr val="FFFFFF"/>
                          </a:solidFill>
                          <a:effectLst/>
                          <a:uFillTx/>
                          <a:latin typeface="メイリオ"/>
                          <a:ea typeface="メイリオ"/>
                          <a:cs typeface="メイリオ"/>
                        </a:rPr>
                        <a:t>対応項目</a:t>
                      </a:r>
                      <a:endParaRPr lang="en-US" sz="1100" b="0" u="none" strike="noStrike">
                        <a:solidFill>
                          <a:srgbClr val="FFFFFF"/>
                        </a:solidFill>
                        <a:effectLst/>
                        <a:uFillTx/>
                        <a:latin typeface="メイリオ"/>
                        <a:ea typeface="メイリオ"/>
                        <a:cs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a:lstStyle/>
                    <a:p>
                      <a:pPr algn="ctr" defTabSz="914400">
                        <a:lnSpc>
                          <a:spcPct val="100000"/>
                        </a:lnSpc>
                      </a:pPr>
                      <a:r>
                        <a:rPr lang="ja-JP" sz="1100" b="1" u="none" strike="noStrike">
                          <a:solidFill>
                            <a:srgbClr val="FFFFFF"/>
                          </a:solidFill>
                          <a:effectLst/>
                          <a:uFillTx/>
                          <a:latin typeface="メイリオ"/>
                          <a:ea typeface="メイリオ"/>
                          <a:cs typeface="メイリオ"/>
                        </a:rPr>
                        <a:t>初期</a:t>
                      </a:r>
                      <a:endParaRPr lang="en-US" sz="1100" b="0" u="none" strike="noStrike">
                        <a:solidFill>
                          <a:srgbClr val="FFFFFF"/>
                        </a:solidFill>
                        <a:effectLst/>
                        <a:uFillTx/>
                        <a:latin typeface="メイリオ"/>
                        <a:ea typeface="メイリオ"/>
                        <a:cs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a:lstStyle/>
                    <a:p>
                      <a:pPr algn="ctr" defTabSz="914400">
                        <a:lnSpc>
                          <a:spcPct val="100000"/>
                        </a:lnSpc>
                      </a:pPr>
                      <a:r>
                        <a:rPr lang="ja-JP" sz="1100" b="1" u="none" strike="noStrike">
                          <a:solidFill>
                            <a:srgbClr val="FFFFFF"/>
                          </a:solidFill>
                          <a:effectLst/>
                          <a:uFillTx/>
                          <a:latin typeface="メイリオ"/>
                          <a:ea typeface="メイリオ"/>
                          <a:cs typeface="メイリオ"/>
                        </a:rPr>
                        <a:t>内容</a:t>
                      </a:r>
                      <a:endParaRPr lang="en-US" sz="1100" b="0" u="none" strike="noStrike">
                        <a:solidFill>
                          <a:srgbClr val="FFFFFF"/>
                        </a:solidFill>
                        <a:effectLst/>
                        <a:uFillTx/>
                        <a:latin typeface="メイリオ"/>
                        <a:ea typeface="メイリオ"/>
                        <a:cs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a:lstStyle/>
                    <a:p>
                      <a:endParaRPr lang="en-US" sz="1100" b="1" u="none" strike="noStrike">
                        <a:solidFill>
                          <a:srgbClr val="000000"/>
                        </a:solidFill>
                        <a:effectLst/>
                        <a:uFillTx/>
                        <a:latin typeface="メイリオ"/>
                        <a:ea typeface="メイリオ"/>
                        <a:cs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1" u="none" strike="noStrike">
                          <a:solidFill>
                            <a:srgbClr val="FFFFFF"/>
                          </a:solidFill>
                          <a:effectLst/>
                          <a:uFillTx/>
                          <a:latin typeface="メイリオ"/>
                          <a:ea typeface="メイリオ"/>
                          <a:cs typeface="メイリオ"/>
                        </a:rPr>
                        <a:t>対応項目</a:t>
                      </a:r>
                      <a:endParaRPr lang="en-US" sz="1100" b="0" u="none" strike="noStrike">
                        <a:solidFill>
                          <a:srgbClr val="FFFFFF"/>
                        </a:solidFill>
                        <a:effectLst/>
                        <a:uFillTx/>
                        <a:latin typeface="メイリオ"/>
                        <a:ea typeface="メイリオ"/>
                        <a:cs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a:lstStyle/>
                    <a:p>
                      <a:pPr algn="ctr" defTabSz="914400">
                        <a:lnSpc>
                          <a:spcPct val="100000"/>
                        </a:lnSpc>
                      </a:pPr>
                      <a:r>
                        <a:rPr lang="ja-JP" sz="1100" b="1" u="none" strike="noStrike">
                          <a:solidFill>
                            <a:srgbClr val="FFFFFF"/>
                          </a:solidFill>
                          <a:effectLst/>
                          <a:uFillTx/>
                          <a:latin typeface="メイリオ"/>
                          <a:ea typeface="メイリオ"/>
                          <a:cs typeface="メイリオ"/>
                        </a:rPr>
                        <a:t>初期</a:t>
                      </a:r>
                      <a:endParaRPr lang="en-US" sz="1100" b="0" u="none" strike="noStrike">
                        <a:solidFill>
                          <a:srgbClr val="FFFFFF"/>
                        </a:solidFill>
                        <a:effectLst/>
                        <a:uFillTx/>
                        <a:latin typeface="メイリオ"/>
                        <a:ea typeface="メイリオ"/>
                        <a:cs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a:lstStyle/>
                    <a:p>
                      <a:pPr algn="ctr" defTabSz="914400">
                        <a:lnSpc>
                          <a:spcPct val="100000"/>
                        </a:lnSpc>
                      </a:pPr>
                      <a:r>
                        <a:rPr lang="ja-JP" sz="1100" b="1" u="none" strike="noStrike">
                          <a:solidFill>
                            <a:srgbClr val="FFFFFF"/>
                          </a:solidFill>
                          <a:effectLst/>
                          <a:uFillTx/>
                          <a:latin typeface="メイリオ"/>
                          <a:ea typeface="メイリオ"/>
                          <a:cs typeface="メイリオ"/>
                        </a:rPr>
                        <a:t>月額</a:t>
                      </a:r>
                      <a:endParaRPr lang="en-US" sz="1100" b="0" u="none" strike="noStrike">
                        <a:solidFill>
                          <a:srgbClr val="FFFFFF"/>
                        </a:solidFill>
                        <a:effectLst/>
                        <a:uFillTx/>
                        <a:latin typeface="メイリオ"/>
                        <a:ea typeface="メイリオ"/>
                        <a:cs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extLst>
                  <a:ext uri="{0D108BD9-81ED-4DB2-BD59-A6C34878D82A}">
                    <a16:rowId xmlns:a16="http://schemas.microsoft.com/office/drawing/2014/main" val="10000"/>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cs typeface="メイリオ"/>
                        </a:rPr>
                        <a:t>アカウント開設</a:t>
                      </a:r>
                      <a:endParaRPr lang="en-US" sz="1100" b="0" u="none" strike="noStrike">
                        <a:solidFill>
                          <a:srgbClr val="000000"/>
                        </a:solidFill>
                        <a:effectLst/>
                        <a:uFillTx/>
                        <a:latin typeface="メイリオ"/>
                        <a:ea typeface="メイリオ"/>
                        <a:cs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cs typeface="メイリオ"/>
                        </a:rPr>
                        <a:t>¥30,000</a:t>
                      </a: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cs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cs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cs typeface="メイリオ"/>
                        </a:rPr>
                        <a:t>API</a:t>
                      </a:r>
                      <a:r>
                        <a:rPr lang="ja-JP" sz="1100" b="0" u="none" strike="noStrike">
                          <a:solidFill>
                            <a:srgbClr val="000000"/>
                          </a:solidFill>
                          <a:effectLst/>
                          <a:uFillTx/>
                          <a:latin typeface="メイリオ"/>
                          <a:ea typeface="メイリオ"/>
                          <a:cs typeface="メイリオ"/>
                        </a:rPr>
                        <a:t>ツール導入</a:t>
                      </a:r>
                      <a:endParaRPr lang="en-US" sz="1100" b="0" u="none" strike="noStrike">
                        <a:solidFill>
                          <a:srgbClr val="000000"/>
                        </a:solidFill>
                        <a:effectLst/>
                        <a:uFillTx/>
                        <a:latin typeface="メイリオ"/>
                        <a:ea typeface="メイリオ"/>
                        <a:cs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cs typeface="メイリオ"/>
                        </a:rPr>
                        <a:t>¥50,000~</a:t>
                      </a:r>
                      <a:endParaRPr lang="en-US" sz="1050" b="0" u="none" strike="noStrike">
                        <a:solidFill>
                          <a:srgbClr val="000000"/>
                        </a:solidFill>
                        <a:effectLst/>
                        <a:uFillTx/>
                        <a:latin typeface="メイリオ"/>
                        <a:ea typeface="メイリオ"/>
                        <a:cs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cs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1"/>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cs typeface="メイリオ"/>
                        </a:rPr>
                        <a:t>プロフィール</a:t>
                      </a:r>
                      <a:endParaRPr lang="en-US" sz="1100" b="0" u="none" strike="noStrike">
                        <a:solidFill>
                          <a:srgbClr val="000000"/>
                        </a:solidFill>
                        <a:effectLst/>
                        <a:uFillTx/>
                        <a:latin typeface="メイリオ"/>
                        <a:ea typeface="メイリオ"/>
                        <a:cs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cs typeface="メイリオ"/>
                        </a:rPr>
                        <a:t>¥30,000</a:t>
                      </a: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cs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cs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cs typeface="メイリオ"/>
                        </a:rPr>
                        <a:t>ID</a:t>
                      </a:r>
                      <a:r>
                        <a:rPr lang="ja-JP" sz="1100" b="0" u="none" strike="noStrike">
                          <a:solidFill>
                            <a:srgbClr val="000000"/>
                          </a:solidFill>
                          <a:effectLst/>
                          <a:uFillTx/>
                          <a:latin typeface="メイリオ"/>
                          <a:ea typeface="メイリオ"/>
                          <a:cs typeface="メイリオ"/>
                        </a:rPr>
                        <a:t>連携</a:t>
                      </a:r>
                      <a:endParaRPr lang="en-US" sz="1100" b="0" u="none" strike="noStrike">
                        <a:solidFill>
                          <a:srgbClr val="000000"/>
                        </a:solidFill>
                        <a:effectLst/>
                        <a:uFillTx/>
                        <a:latin typeface="メイリオ"/>
                        <a:ea typeface="メイリオ"/>
                        <a:cs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50000"/>
                              <a:lumOff val="50000"/>
                            </a:schemeClr>
                          </a:solidFill>
                          <a:effectLst/>
                          <a:uFillTx/>
                          <a:latin typeface="メイリオ"/>
                          <a:ea typeface="メイリオ"/>
                          <a:cs typeface="メイリオ"/>
                        </a:rPr>
                        <a:t>¥200,000~</a:t>
                      </a:r>
                      <a:endParaRPr lang="en-US" sz="1050" b="0" u="none" strike="noStrike">
                        <a:solidFill>
                          <a:srgbClr val="000000"/>
                        </a:solidFill>
                        <a:effectLst/>
                        <a:uFillTx/>
                        <a:latin typeface="メイリオ"/>
                        <a:ea typeface="メイリオ"/>
                        <a:cs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cs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2"/>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cs typeface="メイリオ"/>
                        </a:rPr>
                        <a:t>リッチメニュー</a:t>
                      </a:r>
                      <a:endParaRPr lang="en-US" sz="1100" b="0" u="none" strike="noStrike">
                        <a:solidFill>
                          <a:srgbClr val="000000"/>
                        </a:solidFill>
                        <a:effectLst/>
                        <a:uFillTx/>
                        <a:latin typeface="メイリオ"/>
                        <a:ea typeface="メイリオ"/>
                        <a:cs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cs typeface="メイリオ"/>
                        </a:rPr>
                        <a:t>¥30,000</a:t>
                      </a: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cs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cs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cs typeface="メイリオ"/>
                        </a:rPr>
                        <a:t>LINE</a:t>
                      </a:r>
                      <a:r>
                        <a:rPr lang="ja-JP" sz="1100" b="0" u="none" strike="noStrike">
                          <a:solidFill>
                            <a:srgbClr val="000000"/>
                          </a:solidFill>
                          <a:effectLst/>
                          <a:uFillTx/>
                          <a:latin typeface="メイリオ"/>
                          <a:ea typeface="メイリオ"/>
                          <a:cs typeface="メイリオ"/>
                        </a:rPr>
                        <a:t>ログイン</a:t>
                      </a:r>
                      <a:endParaRPr lang="en-US" sz="1100" b="0" u="none" strike="noStrike">
                        <a:solidFill>
                          <a:srgbClr val="000000"/>
                        </a:solidFill>
                        <a:effectLst/>
                        <a:uFillTx/>
                        <a:latin typeface="メイリオ"/>
                        <a:ea typeface="メイリオ"/>
                        <a:cs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50000"/>
                              <a:lumOff val="50000"/>
                            </a:schemeClr>
                          </a:solidFill>
                          <a:effectLst/>
                          <a:uFillTx/>
                          <a:latin typeface="メイリオ"/>
                          <a:ea typeface="メイリオ"/>
                          <a:cs typeface="メイリオ"/>
                        </a:rPr>
                        <a:t>¥0</a:t>
                      </a:r>
                      <a:endParaRPr lang="en-US" sz="1050" b="0" u="none" strike="noStrike">
                        <a:solidFill>
                          <a:srgbClr val="000000"/>
                        </a:solidFill>
                        <a:effectLst/>
                        <a:uFillTx/>
                        <a:latin typeface="メイリオ"/>
                        <a:ea typeface="メイリオ"/>
                        <a:cs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cs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3"/>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cs typeface="メイリオ"/>
                        </a:rPr>
                        <a:t>あいさつメッセージ</a:t>
                      </a:r>
                      <a:endParaRPr lang="en-US" sz="1100" b="0" u="none" strike="noStrike">
                        <a:solidFill>
                          <a:srgbClr val="000000"/>
                        </a:solidFill>
                        <a:effectLst/>
                        <a:uFillTx/>
                        <a:latin typeface="メイリオ"/>
                        <a:ea typeface="メイリオ"/>
                        <a:cs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cs typeface="メイリオ"/>
                        </a:rPr>
                        <a:t>¥30,000</a:t>
                      </a: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cs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cs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0" u="none" strike="noStrike">
                          <a:solidFill>
                            <a:srgbClr val="000000"/>
                          </a:solidFill>
                          <a:effectLst/>
                          <a:uFillTx/>
                          <a:latin typeface="メイリオ"/>
                          <a:ea typeface="メイリオ"/>
                          <a:cs typeface="メイリオ"/>
                        </a:rPr>
                        <a:t>通知メッセージ</a:t>
                      </a:r>
                      <a:endParaRPr lang="en-US" sz="1100" b="0" u="none" strike="noStrike">
                        <a:solidFill>
                          <a:srgbClr val="000000"/>
                        </a:solidFill>
                        <a:effectLst/>
                        <a:uFillTx/>
                        <a:latin typeface="メイリオ"/>
                        <a:ea typeface="メイリオ"/>
                        <a:cs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cs typeface="メイリオ"/>
                        </a:rPr>
                        <a:t>¥200,000~</a:t>
                      </a:r>
                      <a:endParaRPr lang="en-US" sz="1050" b="0" u="none" strike="noStrike">
                        <a:solidFill>
                          <a:srgbClr val="000000"/>
                        </a:solidFill>
                        <a:effectLst/>
                        <a:uFillTx/>
                        <a:latin typeface="メイリオ"/>
                        <a:ea typeface="メイリオ"/>
                        <a:cs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cs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4"/>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cs typeface="メイリオ"/>
                        </a:rPr>
                        <a:t>初期アンケート</a:t>
                      </a:r>
                      <a:endParaRPr lang="en-US" sz="1100" b="0" u="none" strike="noStrike">
                        <a:solidFill>
                          <a:srgbClr val="000000"/>
                        </a:solidFill>
                        <a:effectLst/>
                        <a:uFillTx/>
                        <a:latin typeface="メイリオ"/>
                        <a:ea typeface="メイリオ"/>
                        <a:cs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cs typeface="メイリオ"/>
                        </a:rPr>
                        <a:t>¥50,000</a:t>
                      </a: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cs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cs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0" u="none" strike="noStrike">
                          <a:solidFill>
                            <a:srgbClr val="000000"/>
                          </a:solidFill>
                          <a:effectLst/>
                          <a:uFillTx/>
                          <a:latin typeface="メイリオ"/>
                          <a:ea typeface="メイリオ"/>
                          <a:cs typeface="メイリオ"/>
                        </a:rPr>
                        <a:t>チャットボット機能</a:t>
                      </a:r>
                      <a:endParaRPr lang="en-US" sz="1100" b="0" u="none" strike="noStrike">
                        <a:solidFill>
                          <a:srgbClr val="000000"/>
                        </a:solidFill>
                        <a:effectLst/>
                        <a:uFillTx/>
                        <a:latin typeface="メイリオ"/>
                        <a:ea typeface="メイリオ"/>
                        <a:cs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cs typeface="メイリオ"/>
                        </a:rPr>
                        <a:t>¥50,000~</a:t>
                      </a:r>
                      <a:endParaRPr lang="en-US" sz="1050" b="0" u="none" strike="noStrike">
                        <a:solidFill>
                          <a:srgbClr val="000000"/>
                        </a:solidFill>
                        <a:effectLst/>
                        <a:uFillTx/>
                        <a:latin typeface="メイリオ"/>
                        <a:ea typeface="メイリオ"/>
                        <a:cs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cs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5"/>
                  </a:ext>
                </a:extLst>
              </a:tr>
              <a:tr h="290520">
                <a:tc>
                  <a:txBody>
                    <a:bodyPr/>
                    <a:lstStyle/>
                    <a:p>
                      <a:pPr algn="ctr" defTabSz="914400">
                        <a:lnSpc>
                          <a:spcPct val="100000"/>
                        </a:lnSpc>
                      </a:pPr>
                      <a:r>
                        <a:rPr lang="en-US" sz="1100" b="0" u="none" strike="noStrike">
                          <a:solidFill>
                            <a:srgbClr val="000000"/>
                          </a:solidFill>
                          <a:effectLst/>
                          <a:uFillTx/>
                          <a:latin typeface="メイリオ"/>
                          <a:ea typeface="メイリオ"/>
                          <a:cs typeface="メイリオ"/>
                        </a:rPr>
                        <a:t>KW</a:t>
                      </a:r>
                      <a:r>
                        <a:rPr lang="ja-JP" sz="1100" b="0" u="none" strike="noStrike">
                          <a:solidFill>
                            <a:srgbClr val="000000"/>
                          </a:solidFill>
                          <a:effectLst/>
                          <a:uFillTx/>
                          <a:latin typeface="メイリオ"/>
                          <a:ea typeface="メイリオ"/>
                          <a:cs typeface="メイリオ"/>
                        </a:rPr>
                        <a:t>の自動応答</a:t>
                      </a:r>
                      <a:endParaRPr lang="en-US" sz="1100" b="0" u="none" strike="noStrike">
                        <a:solidFill>
                          <a:srgbClr val="000000"/>
                        </a:solidFill>
                        <a:effectLst/>
                        <a:uFillTx/>
                        <a:latin typeface="メイリオ"/>
                        <a:ea typeface="メイリオ"/>
                        <a:cs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cs typeface="メイリオ"/>
                        </a:rPr>
                        <a:t>¥30,000</a:t>
                      </a: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cs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cs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cs typeface="メイリオ"/>
                        </a:rPr>
                        <a:t>Chat Plus</a:t>
                      </a: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cs typeface="メイリオ"/>
                        </a:rPr>
                        <a:t>¥30,000~</a:t>
                      </a:r>
                      <a:endParaRPr lang="en-US" sz="1050" b="0" u="none" strike="noStrike">
                        <a:solidFill>
                          <a:srgbClr val="000000"/>
                        </a:solidFill>
                        <a:effectLst/>
                        <a:uFillTx/>
                        <a:latin typeface="メイリオ"/>
                        <a:ea typeface="メイリオ"/>
                        <a:cs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cs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6"/>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cs typeface="メイリオ"/>
                        </a:rPr>
                        <a:t>ステップ配信</a:t>
                      </a:r>
                      <a:endParaRPr lang="en-US" sz="1100" b="0" u="none" strike="noStrike">
                        <a:solidFill>
                          <a:srgbClr val="000000"/>
                        </a:solidFill>
                        <a:effectLst/>
                        <a:uFillTx/>
                        <a:latin typeface="メイリオ"/>
                        <a:ea typeface="メイリオ"/>
                        <a:cs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cs typeface="メイリオ"/>
                        </a:rPr>
                        <a:t>¥50,000</a:t>
                      </a: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cs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cs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cs typeface="メイリオ"/>
                        </a:rPr>
                        <a:t>Call Plus</a:t>
                      </a: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cs typeface="メイリオ"/>
                        </a:rPr>
                        <a:t>¥200,000</a:t>
                      </a:r>
                      <a:endParaRPr lang="en-US" sz="1050" b="0" u="none" strike="noStrike">
                        <a:solidFill>
                          <a:srgbClr val="000000"/>
                        </a:solidFill>
                        <a:effectLst/>
                        <a:uFillTx/>
                        <a:latin typeface="メイリオ"/>
                        <a:ea typeface="メイリオ"/>
                        <a:cs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cs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7"/>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cs typeface="メイリオ"/>
                        </a:rPr>
                        <a:t>セグメント配信</a:t>
                      </a:r>
                      <a:endParaRPr lang="en-US" sz="1100" b="0" u="none" strike="noStrike">
                        <a:solidFill>
                          <a:srgbClr val="000000"/>
                        </a:solidFill>
                        <a:effectLst/>
                        <a:uFillTx/>
                        <a:latin typeface="メイリオ"/>
                        <a:ea typeface="メイリオ"/>
                        <a:cs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cs typeface="メイリオ"/>
                        </a:rPr>
                        <a:t>--</a:t>
                      </a: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cs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cs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cs typeface="メイリオ"/>
                        </a:rPr>
                        <a:t>LINE</a:t>
                      </a:r>
                      <a:r>
                        <a:rPr lang="ja-JP" sz="1100" b="0" u="none" strike="noStrike">
                          <a:solidFill>
                            <a:srgbClr val="000000"/>
                          </a:solidFill>
                          <a:effectLst/>
                          <a:uFillTx/>
                          <a:latin typeface="メイリオ"/>
                          <a:ea typeface="メイリオ"/>
                          <a:cs typeface="メイリオ"/>
                        </a:rPr>
                        <a:t>決済</a:t>
                      </a:r>
                      <a:endParaRPr lang="en-US" sz="1100" b="0" u="none" strike="noStrike">
                        <a:solidFill>
                          <a:srgbClr val="000000"/>
                        </a:solidFill>
                        <a:effectLst/>
                        <a:uFillTx/>
                        <a:latin typeface="メイリオ"/>
                        <a:ea typeface="メイリオ"/>
                        <a:cs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cs typeface="メイリオ"/>
                        </a:rPr>
                        <a:t>¥50,000~</a:t>
                      </a:r>
                      <a:endParaRPr lang="en-US" sz="1050" b="0" u="none" strike="noStrike">
                        <a:solidFill>
                          <a:srgbClr val="000000"/>
                        </a:solidFill>
                        <a:effectLst/>
                        <a:uFillTx/>
                        <a:latin typeface="メイリオ"/>
                        <a:ea typeface="メイリオ"/>
                        <a:cs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cs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8"/>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cs typeface="メイリオ"/>
                        </a:rPr>
                        <a:t>チャットタグ管理</a:t>
                      </a:r>
                      <a:endParaRPr lang="en-US" sz="1100" b="0" u="none" strike="noStrike">
                        <a:solidFill>
                          <a:srgbClr val="000000"/>
                        </a:solidFill>
                        <a:effectLst/>
                        <a:uFillTx/>
                        <a:latin typeface="メイリオ"/>
                        <a:ea typeface="メイリオ"/>
                        <a:cs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cs typeface="メイリオ"/>
                        </a:rPr>
                        <a:t>¥30,000</a:t>
                      </a: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cs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cs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0" u="none" strike="noStrike">
                          <a:solidFill>
                            <a:srgbClr val="000000"/>
                          </a:solidFill>
                          <a:effectLst/>
                          <a:uFillTx/>
                          <a:latin typeface="メイリオ"/>
                          <a:ea typeface="メイリオ"/>
                          <a:cs typeface="メイリオ"/>
                        </a:rPr>
                        <a:t>予約管理</a:t>
                      </a:r>
                      <a:endParaRPr lang="en-US" sz="1100" b="0" u="none" strike="noStrike">
                        <a:solidFill>
                          <a:srgbClr val="000000"/>
                        </a:solidFill>
                        <a:effectLst/>
                        <a:uFillTx/>
                        <a:latin typeface="メイリオ"/>
                        <a:ea typeface="メイリオ"/>
                        <a:cs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cs typeface="メイリオ"/>
                        </a:rPr>
                        <a:t>¥20,000~</a:t>
                      </a:r>
                      <a:endParaRPr lang="en-US" sz="1050" b="0" u="none" strike="noStrike">
                        <a:solidFill>
                          <a:srgbClr val="000000"/>
                        </a:solidFill>
                        <a:effectLst/>
                        <a:uFillTx/>
                        <a:latin typeface="メイリオ"/>
                        <a:ea typeface="メイリオ"/>
                        <a:cs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cs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9"/>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cs typeface="メイリオ"/>
                        </a:rPr>
                        <a:t>チャット対応</a:t>
                      </a:r>
                      <a:r>
                        <a:rPr lang="en-US" sz="700" b="0" u="none" strike="noStrike">
                          <a:solidFill>
                            <a:srgbClr val="FF0000"/>
                          </a:solidFill>
                          <a:effectLst/>
                          <a:uFillTx/>
                          <a:latin typeface="メイリオ"/>
                          <a:ea typeface="メイリオ"/>
                          <a:cs typeface="メイリオ"/>
                        </a:rPr>
                        <a:t> ※サポートは可能</a:t>
                      </a:r>
                      <a:endParaRPr lang="en-US" sz="700" b="0" u="none" strike="noStrike">
                        <a:solidFill>
                          <a:srgbClr val="000000"/>
                        </a:solidFill>
                        <a:effectLst/>
                        <a:uFillTx/>
                        <a:latin typeface="メイリオ"/>
                        <a:ea typeface="メイリオ"/>
                        <a:cs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cs typeface="メイリオ"/>
                        </a:rPr>
                        <a:t>¥100,000</a:t>
                      </a:r>
                      <a:r>
                        <a:rPr lang="ja-JP" sz="1000" b="0" u="none" strike="noStrike">
                          <a:solidFill>
                            <a:srgbClr val="000000"/>
                          </a:solidFill>
                          <a:effectLst/>
                          <a:uFillTx/>
                          <a:latin typeface="メイリオ"/>
                          <a:ea typeface="メイリオ"/>
                          <a:cs typeface="メイリオ"/>
                        </a:rPr>
                        <a:t>～</a:t>
                      </a:r>
                      <a:endParaRPr lang="en-US" sz="1000" b="0" u="none" strike="noStrike">
                        <a:solidFill>
                          <a:srgbClr val="000000"/>
                        </a:solidFill>
                        <a:effectLst/>
                        <a:uFillTx/>
                        <a:latin typeface="メイリオ"/>
                        <a:ea typeface="メイリオ"/>
                        <a:cs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ja-JP" sz="600" b="0" u="none" strike="noStrike">
                          <a:solidFill>
                            <a:srgbClr val="000000"/>
                          </a:solidFill>
                          <a:effectLst/>
                          <a:uFillTx/>
                          <a:latin typeface="メイリオ"/>
                          <a:ea typeface="メイリオ"/>
                          <a:cs typeface="メイリオ"/>
                        </a:rPr>
                        <a:t>件数により変動</a:t>
                      </a:r>
                      <a:endParaRPr lang="en-US" sz="600" b="0" u="none" strike="noStrike">
                        <a:solidFill>
                          <a:srgbClr val="000000"/>
                        </a:solidFill>
                        <a:effectLst/>
                        <a:uFillTx/>
                        <a:latin typeface="メイリオ"/>
                        <a:ea typeface="メイリオ"/>
                        <a:cs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cs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cs typeface="メイリオ"/>
                        </a:rPr>
                        <a:t>-----</a:t>
                      </a: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cs typeface="メイリオ"/>
                        </a:rPr>
                        <a:t>-----</a:t>
                      </a:r>
                      <a:endParaRPr lang="en-US" sz="1050" b="0" u="none" strike="noStrike">
                        <a:solidFill>
                          <a:srgbClr val="000000"/>
                        </a:solidFill>
                        <a:effectLst/>
                        <a:uFillTx/>
                        <a:latin typeface="メイリオ"/>
                        <a:ea typeface="メイリオ"/>
                        <a:cs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cs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10"/>
                  </a:ext>
                </a:extLst>
              </a:tr>
              <a:tr h="290520">
                <a:tc>
                  <a:txBody>
                    <a:bodyPr/>
                    <a:lstStyle/>
                    <a:p>
                      <a:pPr algn="ctr" defTabSz="914400">
                        <a:lnSpc>
                          <a:spcPct val="100000"/>
                        </a:lnSpc>
                      </a:pPr>
                      <a:r>
                        <a:rPr lang="en-US" sz="1100" b="0" u="none" strike="noStrike">
                          <a:solidFill>
                            <a:srgbClr val="000000"/>
                          </a:solidFill>
                          <a:effectLst/>
                          <a:uFillTx/>
                          <a:latin typeface="メイリオ"/>
                          <a:ea typeface="メイリオ"/>
                          <a:cs typeface="メイリオ"/>
                        </a:rPr>
                        <a:t>GA(CRM)</a:t>
                      </a:r>
                      <a:r>
                        <a:rPr lang="ja-JP" sz="1100" b="0" u="none" strike="noStrike">
                          <a:solidFill>
                            <a:srgbClr val="000000"/>
                          </a:solidFill>
                          <a:effectLst/>
                          <a:uFillTx/>
                          <a:latin typeface="メイリオ"/>
                          <a:ea typeface="メイリオ"/>
                          <a:cs typeface="メイリオ"/>
                        </a:rPr>
                        <a:t>レポート連携</a:t>
                      </a:r>
                      <a:endParaRPr lang="en-US" sz="1100" b="0" u="none" strike="noStrike">
                        <a:solidFill>
                          <a:srgbClr val="000000"/>
                        </a:solidFill>
                        <a:effectLst/>
                        <a:uFillTx/>
                        <a:latin typeface="メイリオ"/>
                        <a:ea typeface="メイリオ"/>
                        <a:cs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cs typeface="メイリオ"/>
                        </a:rPr>
                        <a:t>¥30,000</a:t>
                      </a: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cs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cs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cs typeface="メイリオ"/>
                        </a:rPr>
                        <a:t>-----</a:t>
                      </a: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cs typeface="メイリオ"/>
                        </a:rPr>
                        <a:t>-----</a:t>
                      </a:r>
                      <a:endParaRPr lang="en-US" sz="1050" b="0" u="none" strike="noStrike">
                        <a:solidFill>
                          <a:srgbClr val="000000"/>
                        </a:solidFill>
                        <a:effectLst/>
                        <a:uFillTx/>
                        <a:latin typeface="メイリオ"/>
                        <a:ea typeface="メイリオ"/>
                        <a:cs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cs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11"/>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cs typeface="メイリオ"/>
                        </a:rPr>
                        <a:t>クリエイティブ</a:t>
                      </a:r>
                      <a:endParaRPr lang="en-US" sz="1100" b="0" u="none" strike="noStrike">
                        <a:solidFill>
                          <a:srgbClr val="000000"/>
                        </a:solidFill>
                        <a:effectLst/>
                        <a:uFillTx/>
                        <a:latin typeface="メイリオ"/>
                        <a:ea typeface="メイリオ"/>
                        <a:cs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cs typeface="メイリオ"/>
                        </a:rPr>
                        <a:t>¥15,000</a:t>
                      </a: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tabLst>
                          <a:tab pos="0" algn="l"/>
                        </a:tabLst>
                      </a:pPr>
                      <a:r>
                        <a:rPr lang="ja-JP" sz="600" b="0" u="none" strike="noStrike">
                          <a:solidFill>
                            <a:srgbClr val="000000"/>
                          </a:solidFill>
                          <a:effectLst/>
                          <a:uFillTx/>
                          <a:latin typeface="メイリオ"/>
                          <a:ea typeface="メイリオ"/>
                          <a:cs typeface="メイリオ"/>
                        </a:rPr>
                        <a:t>画像</a:t>
                      </a:r>
                      <a:r>
                        <a:rPr lang="en-US" sz="600" b="0" u="none" strike="noStrike">
                          <a:solidFill>
                            <a:srgbClr val="000000"/>
                          </a:solidFill>
                          <a:effectLst/>
                          <a:uFillTx/>
                          <a:latin typeface="メイリオ"/>
                          <a:ea typeface="メイリオ"/>
                          <a:cs typeface="メイリオ"/>
                        </a:rPr>
                        <a:t>1</a:t>
                      </a:r>
                      <a:r>
                        <a:rPr lang="ja-JP" sz="600" b="0" u="none" strike="noStrike">
                          <a:solidFill>
                            <a:srgbClr val="000000"/>
                          </a:solidFill>
                          <a:effectLst/>
                          <a:uFillTx/>
                          <a:latin typeface="メイリオ"/>
                          <a:ea typeface="メイリオ"/>
                          <a:cs typeface="メイリオ"/>
                        </a:rPr>
                        <a:t>枚での想定</a:t>
                      </a:r>
                      <a:endParaRPr lang="en-US" sz="600" b="0" u="none" strike="noStrike">
                        <a:solidFill>
                          <a:srgbClr val="000000"/>
                        </a:solidFill>
                        <a:effectLst/>
                        <a:uFillTx/>
                        <a:latin typeface="メイリオ"/>
                        <a:ea typeface="メイリオ"/>
                        <a:cs typeface="メイリオ"/>
                      </a:endParaRPr>
                    </a:p>
                    <a:p>
                      <a:pPr algn="ctr" defTabSz="914400">
                        <a:lnSpc>
                          <a:spcPct val="100000"/>
                        </a:lnSpc>
                        <a:tabLst>
                          <a:tab pos="0" algn="l"/>
                        </a:tabLst>
                      </a:pPr>
                      <a:r>
                        <a:rPr lang="en-US" sz="600" b="0" u="none" strike="noStrike">
                          <a:solidFill>
                            <a:srgbClr val="000000"/>
                          </a:solidFill>
                          <a:effectLst/>
                          <a:uFillTx/>
                          <a:latin typeface="メイリオ"/>
                          <a:ea typeface="メイリオ"/>
                          <a:cs typeface="メイリオ"/>
                        </a:rPr>
                        <a:t>※バナー、HTML</a:t>
                      </a:r>
                      <a:r>
                        <a:rPr lang="ja-JP" sz="600" b="0" u="none" strike="noStrike">
                          <a:solidFill>
                            <a:srgbClr val="000000"/>
                          </a:solidFill>
                          <a:effectLst/>
                          <a:uFillTx/>
                          <a:latin typeface="メイリオ"/>
                          <a:ea typeface="メイリオ"/>
                          <a:cs typeface="メイリオ"/>
                        </a:rPr>
                        <a:t>メール等</a:t>
                      </a:r>
                      <a:endParaRPr lang="en-US" sz="600" b="0" u="none" strike="noStrike">
                        <a:solidFill>
                          <a:srgbClr val="000000"/>
                        </a:solidFill>
                        <a:effectLst/>
                        <a:uFillTx/>
                        <a:latin typeface="メイリオ"/>
                        <a:ea typeface="メイリオ"/>
                        <a:cs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cs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0" u="none" strike="noStrike">
                          <a:solidFill>
                            <a:srgbClr val="000000"/>
                          </a:solidFill>
                          <a:effectLst/>
                          <a:uFillTx/>
                          <a:latin typeface="メイリオ"/>
                          <a:ea typeface="メイリオ"/>
                          <a:cs typeface="メイリオ"/>
                        </a:rPr>
                        <a:t>離脱防止ツール</a:t>
                      </a:r>
                      <a:endParaRPr lang="en-US" sz="1100" b="0" u="none" strike="noStrike">
                        <a:solidFill>
                          <a:srgbClr val="000000"/>
                        </a:solidFill>
                        <a:effectLst/>
                        <a:uFillTx/>
                        <a:latin typeface="メイリオ"/>
                        <a:ea typeface="メイリオ"/>
                        <a:cs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cs typeface="メイリオ"/>
                        </a:rPr>
                        <a:t>¥15,000</a:t>
                      </a:r>
                      <a:endParaRPr lang="en-US" sz="1050" b="0" u="none" strike="noStrike">
                        <a:solidFill>
                          <a:srgbClr val="000000"/>
                        </a:solidFill>
                        <a:effectLst/>
                        <a:uFillTx/>
                        <a:latin typeface="メイリオ"/>
                        <a:ea typeface="メイリオ"/>
                        <a:cs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cs typeface="メイリオ"/>
                        </a:rPr>
                        <a:t>¥30,000</a:t>
                      </a:r>
                      <a:endParaRPr lang="en-US" sz="600" b="0" u="none" strike="noStrike">
                        <a:solidFill>
                          <a:srgbClr val="000000"/>
                        </a:solidFill>
                        <a:effectLst/>
                        <a:uFillTx/>
                        <a:latin typeface="メイリオ"/>
                        <a:ea typeface="メイリオ"/>
                        <a:cs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12"/>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cs typeface="メイリオ"/>
                        </a:rPr>
                        <a:t>投稿作成</a:t>
                      </a:r>
                      <a:endParaRPr lang="en-US" sz="1100" b="0" u="none" strike="noStrike">
                        <a:solidFill>
                          <a:srgbClr val="000000"/>
                        </a:solidFill>
                        <a:effectLst/>
                        <a:uFillTx/>
                        <a:latin typeface="メイリオ"/>
                        <a:ea typeface="メイリオ"/>
                        <a:cs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cs typeface="メイリオ"/>
                        </a:rPr>
                        <a:t>¥30,000</a:t>
                      </a: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cs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cs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0" u="none" strike="noStrike">
                          <a:solidFill>
                            <a:srgbClr val="000000"/>
                          </a:solidFill>
                          <a:effectLst/>
                          <a:uFillTx/>
                          <a:latin typeface="メイリオ"/>
                          <a:ea typeface="メイリオ"/>
                          <a:cs typeface="メイリオ"/>
                        </a:rPr>
                        <a:t>サンクス</a:t>
                      </a:r>
                      <a:r>
                        <a:rPr lang="en-US" sz="1100" b="0" u="none" strike="noStrike">
                          <a:solidFill>
                            <a:srgbClr val="000000"/>
                          </a:solidFill>
                          <a:effectLst/>
                          <a:uFillTx/>
                          <a:latin typeface="メイリオ"/>
                          <a:ea typeface="メイリオ"/>
                          <a:cs typeface="メイリオ"/>
                        </a:rPr>
                        <a:t>LINE</a:t>
                      </a:r>
                      <a:r>
                        <a:rPr lang="ja-JP" sz="1100" b="0" u="none" strike="noStrike">
                          <a:solidFill>
                            <a:srgbClr val="000000"/>
                          </a:solidFill>
                          <a:effectLst/>
                          <a:uFillTx/>
                          <a:latin typeface="メイリオ"/>
                          <a:ea typeface="メイリオ"/>
                          <a:cs typeface="メイリオ"/>
                        </a:rPr>
                        <a:t>誘導ツール</a:t>
                      </a:r>
                      <a:endParaRPr lang="en-US" sz="1100" b="0" u="none" strike="noStrike">
                        <a:solidFill>
                          <a:srgbClr val="000000"/>
                        </a:solidFill>
                        <a:effectLst/>
                        <a:uFillTx/>
                        <a:latin typeface="メイリオ"/>
                        <a:ea typeface="メイリオ"/>
                        <a:cs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cs typeface="メイリオ"/>
                        </a:rPr>
                        <a:t>¥150,000</a:t>
                      </a:r>
                      <a:endParaRPr lang="en-US" sz="1050" b="0" u="none" strike="noStrike">
                        <a:solidFill>
                          <a:srgbClr val="000000"/>
                        </a:solidFill>
                        <a:effectLst/>
                        <a:uFillTx/>
                        <a:latin typeface="メイリオ"/>
                        <a:ea typeface="メイリオ"/>
                        <a:cs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cs typeface="メイリオ"/>
                        </a:rPr>
                        <a:t>¥30,000~</a:t>
                      </a:r>
                      <a:endParaRPr lang="en-US" sz="600" b="0" u="none" strike="noStrike">
                        <a:solidFill>
                          <a:srgbClr val="000000"/>
                        </a:solidFill>
                        <a:effectLst/>
                        <a:uFillTx/>
                        <a:latin typeface="メイリオ"/>
                        <a:ea typeface="メイリオ"/>
                        <a:cs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13"/>
                  </a:ext>
                </a:extLst>
              </a:tr>
            </a:tbl>
          </a:graphicData>
        </a:graphic>
      </p:graphicFrame>
      <p:sp>
        <p:nvSpPr>
          <p:cNvPr id="647" name="テキスト ボックス 4"/>
          <p:cNvSpPr/>
          <p:nvPr/>
        </p:nvSpPr>
        <p:spPr>
          <a:xfrm>
            <a:off x="1344960" y="6045120"/>
            <a:ext cx="7267320" cy="307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400" b="0" u="none" strike="noStrike">
                <a:solidFill>
                  <a:srgbClr val="FF0000"/>
                </a:solidFill>
                <a:effectLst/>
                <a:uFillTx/>
                <a:latin typeface="メイリオ"/>
                <a:ea typeface="メイリオ"/>
                <a:cs typeface="メイリオ"/>
              </a:rPr>
              <a:t>貴社リソースの状況に応じて、都度発注でのご依頼も各単価で対応可能</a:t>
            </a:r>
            <a:endParaRPr lang="en-US" sz="1400" b="0" u="none" strike="noStrike">
              <a:solidFill>
                <a:srgbClr val="000000"/>
              </a:solidFill>
              <a:effectLst/>
              <a:uFillTx/>
              <a:latin typeface="メイリオ"/>
              <a:ea typeface="メイリオ"/>
              <a:cs typeface="メイリオ"/>
            </a:endParaRPr>
          </a:p>
        </p:txBody>
      </p:sp>
      <p:sp>
        <p:nvSpPr>
          <p:cNvPr id="648" name="正方形/長方形 1"/>
          <p:cNvSpPr/>
          <p:nvPr/>
        </p:nvSpPr>
        <p:spPr>
          <a:xfrm>
            <a:off x="378720" y="1329120"/>
            <a:ext cx="9182880" cy="5219280"/>
          </a:xfrm>
          <a:prstGeom prst="rect">
            <a:avLst/>
          </a:prstGeom>
          <a:solidFill>
            <a:schemeClr val="lt1">
              <a:alpha val="4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400" b="0" u="none" strike="noStrike">
              <a:solidFill>
                <a:schemeClr val="lt1"/>
              </a:solidFill>
              <a:effectLst/>
              <a:uFillTx/>
              <a:latin typeface="メイリオ"/>
              <a:ea typeface="メイリオ"/>
              <a:cs typeface="メイリオ"/>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Google Shape;752;p28">
            <a:extLst>
              <a:ext uri="{FF2B5EF4-FFF2-40B4-BE49-F238E27FC236}">
                <a16:creationId xmlns:a16="http://schemas.microsoft.com/office/drawing/2014/main" id="{AB249BA1-EB38-DDA6-8221-FC109239C49F}"/>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メイリオ"/>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離脱防止）</a:t>
            </a:r>
          </a:p>
        </p:txBody>
      </p:sp>
      <p:grpSp>
        <p:nvGrpSpPr>
          <p:cNvPr id="3" name="グループ化 2">
            <a:extLst>
              <a:ext uri="{FF2B5EF4-FFF2-40B4-BE49-F238E27FC236}">
                <a16:creationId xmlns:a16="http://schemas.microsoft.com/office/drawing/2014/main" id="{EA805D6F-0719-17C7-4E97-2705F1D9A93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0895EF17-7734-EE92-7BF3-5B0ADCDC65B8}"/>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23AD98A9-882F-05AA-BB4E-3FB88AAA7C20}"/>
                </a:ext>
              </a:extLst>
            </p:cNvPr>
            <p:cNvSpPr txBox="1"/>
            <p:nvPr/>
          </p:nvSpPr>
          <p:spPr>
            <a:xfrm>
              <a:off x="687498" y="938979"/>
              <a:ext cx="2746265"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ポップアップ</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離脱防止 など</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endParaRPr kumimoji="1" lang="ja-JP" altLang="en-US" sz="1500" b="1" dirty="0">
                <a:solidFill>
                  <a:schemeClr val="bg1"/>
                </a:solidFill>
                <a:latin typeface="メイリオ" panose="020B0604030504040204" pitchFamily="34" charset="-128"/>
                <a:ea typeface="メイリオ" panose="020B0604030504040204" pitchFamily="34" charset="-128"/>
                <a:cs typeface="メイリオ"/>
              </a:endParaRPr>
            </a:p>
          </p:txBody>
        </p:sp>
      </p:grpSp>
      <p:sp>
        <p:nvSpPr>
          <p:cNvPr id="8" name="正方形/長方形 7">
            <a:extLst>
              <a:ext uri="{FF2B5EF4-FFF2-40B4-BE49-F238E27FC236}">
                <a16:creationId xmlns:a16="http://schemas.microsoft.com/office/drawing/2014/main" id="{EB668975-CA29-64DD-88DF-17EAAC94AE3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サイト上の特定アクションを起こしたユーザーに対して</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ポップアップの形で</a:t>
            </a:r>
            <a:r>
              <a:rPr lang="en-US" altLang="ja-JP" sz="1600" dirty="0">
                <a:latin typeface="メイリオ"/>
                <a:ea typeface="メイリオ"/>
                <a:cs typeface="メイリオ"/>
                <a:sym typeface="Meiryo"/>
              </a:rPr>
              <a:t>LINE</a:t>
            </a:r>
            <a:r>
              <a:rPr lang="ja-JP" altLang="en-US" sz="1600" dirty="0">
                <a:latin typeface="メイリオ"/>
                <a:ea typeface="メイリオ"/>
                <a:cs typeface="メイリオ"/>
                <a:sym typeface="Meiryo"/>
              </a:rPr>
              <a:t>誘導の動線を提示。</a:t>
            </a:r>
          </a:p>
        </p:txBody>
      </p:sp>
      <p:pic>
        <p:nvPicPr>
          <p:cNvPr id="6" name="図 5">
            <a:extLst>
              <a:ext uri="{FF2B5EF4-FFF2-40B4-BE49-F238E27FC236}">
                <a16:creationId xmlns:a16="http://schemas.microsoft.com/office/drawing/2014/main" id="{4BC18E84-0DF3-01E6-D82D-0A9DCD2D5F30}"/>
              </a:ext>
            </a:extLst>
          </p:cNvPr>
          <p:cNvPicPr>
            <a:picLocks noChangeAspect="1"/>
          </p:cNvPicPr>
          <p:nvPr/>
        </p:nvPicPr>
        <p:blipFill>
          <a:blip r:embed="rId2"/>
          <a:stretch>
            <a:fillRect/>
          </a:stretch>
        </p:blipFill>
        <p:spPr>
          <a:xfrm>
            <a:off x="5764329" y="2258734"/>
            <a:ext cx="1524677" cy="3096752"/>
          </a:xfrm>
          <a:prstGeom prst="rect">
            <a:avLst/>
          </a:prstGeom>
        </p:spPr>
      </p:pic>
      <p:sp>
        <p:nvSpPr>
          <p:cNvPr id="9" name="テキスト ボックス 8">
            <a:extLst>
              <a:ext uri="{FF2B5EF4-FFF2-40B4-BE49-F238E27FC236}">
                <a16:creationId xmlns:a16="http://schemas.microsoft.com/office/drawing/2014/main" id="{10FACA28-BE3D-80E4-091C-39F6141694C7}"/>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FF0000"/>
                </a:solidFill>
                <a:latin typeface="メイリオ"/>
                <a:ea typeface="メイリオ"/>
                <a:cs typeface="メイリオ"/>
                <a:sym typeface="Meiryo"/>
              </a:rPr>
              <a:t>LINE</a:t>
            </a:r>
            <a:r>
              <a:rPr lang="ja-JP" altLang="en-US" sz="1050" dirty="0">
                <a:solidFill>
                  <a:srgbClr val="FF0000"/>
                </a:solidFill>
                <a:latin typeface="メイリオ"/>
                <a:ea typeface="メイリオ"/>
                <a:cs typeface="メイリオ"/>
                <a:sym typeface="Meiryo"/>
              </a:rPr>
              <a:t>以外の注力動線への誘導も同バナーから実施が可能です。</a:t>
            </a:r>
            <a:endParaRPr lang="ja-JP" altLang="en-US" sz="1050" dirty="0">
              <a:solidFill>
                <a:srgbClr val="FF0000"/>
              </a:solidFill>
              <a:latin typeface="メイリオ"/>
              <a:ea typeface="メイリオ"/>
              <a:cs typeface="メイリオ"/>
            </a:endParaRPr>
          </a:p>
        </p:txBody>
      </p:sp>
      <p:pic>
        <p:nvPicPr>
          <p:cNvPr id="11" name="図 10">
            <a:extLst>
              <a:ext uri="{FF2B5EF4-FFF2-40B4-BE49-F238E27FC236}">
                <a16:creationId xmlns:a16="http://schemas.microsoft.com/office/drawing/2014/main" id="{FC908A63-1EE8-A605-1D4F-460FED9442AA}"/>
              </a:ext>
            </a:extLst>
          </p:cNvPr>
          <p:cNvPicPr>
            <a:picLocks noChangeAspect="1"/>
          </p:cNvPicPr>
          <p:nvPr/>
        </p:nvPicPr>
        <p:blipFill>
          <a:blip r:embed="rId2"/>
          <a:stretch>
            <a:fillRect/>
          </a:stretch>
        </p:blipFill>
        <p:spPr>
          <a:xfrm>
            <a:off x="8032877" y="2846109"/>
            <a:ext cx="1524677" cy="3096752"/>
          </a:xfrm>
          <a:prstGeom prst="rect">
            <a:avLst/>
          </a:prstGeom>
        </p:spPr>
      </p:pic>
      <p:sp>
        <p:nvSpPr>
          <p:cNvPr id="12" name="矢印: 右 11">
            <a:extLst>
              <a:ext uri="{FF2B5EF4-FFF2-40B4-BE49-F238E27FC236}">
                <a16:creationId xmlns:a16="http://schemas.microsoft.com/office/drawing/2014/main" id="{C5B2A6E8-796B-963F-0A04-9B9D1A36ADF0}"/>
              </a:ext>
            </a:extLst>
          </p:cNvPr>
          <p:cNvSpPr/>
          <p:nvPr/>
        </p:nvSpPr>
        <p:spPr>
          <a:xfrm>
            <a:off x="7373222" y="3359435"/>
            <a:ext cx="571500" cy="619125"/>
          </a:xfrm>
          <a:prstGeom prst="rightArrow">
            <a:avLst>
              <a:gd name="adj1" fmla="val 64359"/>
              <a:gd name="adj2" fmla="val 50000"/>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3" name="正方形/長方形 12">
            <a:extLst>
              <a:ext uri="{FF2B5EF4-FFF2-40B4-BE49-F238E27FC236}">
                <a16:creationId xmlns:a16="http://schemas.microsoft.com/office/drawing/2014/main" id="{DB49FAB7-0FB8-4D5F-CF13-A19BBA28C8C7}"/>
              </a:ext>
            </a:extLst>
          </p:cNvPr>
          <p:cNvSpPr/>
          <p:nvPr/>
        </p:nvSpPr>
        <p:spPr>
          <a:xfrm>
            <a:off x="8117093" y="3057525"/>
            <a:ext cx="1371145" cy="2585494"/>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5" name="Google Shape;51;p19">
            <a:extLst>
              <a:ext uri="{FF2B5EF4-FFF2-40B4-BE49-F238E27FC236}">
                <a16:creationId xmlns:a16="http://schemas.microsoft.com/office/drawing/2014/main" id="{1B34220E-1DA3-AC59-C2DE-15AB3320AC1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1.5</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17" name="Google Shape;51;p19">
            <a:extLst>
              <a:ext uri="{FF2B5EF4-FFF2-40B4-BE49-F238E27FC236}">
                <a16:creationId xmlns:a16="http://schemas.microsoft.com/office/drawing/2014/main" id="{EBA2E7AC-5299-C000-0A43-CCF8CE458AAF}"/>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3</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pic>
        <p:nvPicPr>
          <p:cNvPr id="19" name="図 18">
            <a:extLst>
              <a:ext uri="{FF2B5EF4-FFF2-40B4-BE49-F238E27FC236}">
                <a16:creationId xmlns:a16="http://schemas.microsoft.com/office/drawing/2014/main" id="{98FF8283-5B2F-5018-9D25-736A384B4D23}"/>
              </a:ext>
            </a:extLst>
          </p:cNvPr>
          <p:cNvPicPr>
            <a:picLocks noChangeAspect="1"/>
          </p:cNvPicPr>
          <p:nvPr/>
        </p:nvPicPr>
        <p:blipFill>
          <a:blip r:embed="rId3"/>
          <a:stretch>
            <a:fillRect/>
          </a:stretch>
        </p:blipFill>
        <p:spPr>
          <a:xfrm>
            <a:off x="8263942" y="3752836"/>
            <a:ext cx="1062545" cy="1115066"/>
          </a:xfrm>
          <a:prstGeom prst="rect">
            <a:avLst/>
          </a:prstGeom>
        </p:spPr>
      </p:pic>
      <p:sp>
        <p:nvSpPr>
          <p:cNvPr id="24" name="正方形/長方形 23">
            <a:extLst>
              <a:ext uri="{FF2B5EF4-FFF2-40B4-BE49-F238E27FC236}">
                <a16:creationId xmlns:a16="http://schemas.microsoft.com/office/drawing/2014/main" id="{E4AE5F6C-0BA5-6768-64B9-9CD156133552}"/>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cs typeface="メイリオ"/>
            </a:endParaRPr>
          </a:p>
        </p:txBody>
      </p:sp>
      <p:pic>
        <p:nvPicPr>
          <p:cNvPr id="7" name="図 6">
            <a:extLst>
              <a:ext uri="{FF2B5EF4-FFF2-40B4-BE49-F238E27FC236}">
                <a16:creationId xmlns:a16="http://schemas.microsoft.com/office/drawing/2014/main" id="{669C67AE-8870-AB99-9BB8-030F3AB8CB3B}"/>
              </a:ext>
            </a:extLst>
          </p:cNvPr>
          <p:cNvPicPr>
            <a:picLocks noChangeAspect="1"/>
          </p:cNvPicPr>
          <p:nvPr/>
        </p:nvPicPr>
        <p:blipFill>
          <a:blip r:embed="rId4"/>
          <a:stretch>
            <a:fillRect/>
          </a:stretch>
        </p:blipFill>
        <p:spPr>
          <a:xfrm>
            <a:off x="543398" y="4259719"/>
            <a:ext cx="5059180" cy="2191534"/>
          </a:xfrm>
          <a:prstGeom prst="rect">
            <a:avLst/>
          </a:prstGeom>
        </p:spPr>
      </p:pic>
      <p:pic>
        <p:nvPicPr>
          <p:cNvPr id="14" name="図 13">
            <a:extLst>
              <a:ext uri="{FF2B5EF4-FFF2-40B4-BE49-F238E27FC236}">
                <a16:creationId xmlns:a16="http://schemas.microsoft.com/office/drawing/2014/main" id="{CFFD213E-DE33-0075-6E07-F24DBD7A9441}"/>
              </a:ext>
            </a:extLst>
          </p:cNvPr>
          <p:cNvPicPr>
            <a:picLocks noChangeAspect="1"/>
          </p:cNvPicPr>
          <p:nvPr/>
        </p:nvPicPr>
        <p:blipFill>
          <a:blip r:embed="rId5"/>
          <a:stretch>
            <a:fillRect/>
          </a:stretch>
        </p:blipFill>
        <p:spPr>
          <a:xfrm>
            <a:off x="579513" y="1977951"/>
            <a:ext cx="5023065" cy="2231287"/>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Google Shape;752;p28">
            <a:extLst>
              <a:ext uri="{FF2B5EF4-FFF2-40B4-BE49-F238E27FC236}">
                <a16:creationId xmlns:a16="http://schemas.microsoft.com/office/drawing/2014/main" id="{AA80CD04-9456-70DB-2E44-D3EDB146193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（サンクス</a:t>
            </a:r>
            <a:r>
              <a:rPr lang="en-US" altLang="ja-JP" sz="1600" b="1" dirty="0">
                <a:solidFill>
                  <a:srgbClr val="323366"/>
                </a:solidFill>
                <a:latin typeface="メイリオ" panose="020B0604030504040204" pitchFamily="50" charset="-128"/>
                <a:ea typeface="メイリオ" panose="020B0604030504040204" pitchFamily="50" charset="-128"/>
                <a:cs typeface="メイリオ"/>
                <a:sym typeface="Meiryo"/>
              </a:rPr>
              <a:t>LINE</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誘導）</a:t>
            </a:r>
          </a:p>
        </p:txBody>
      </p:sp>
      <p:sp>
        <p:nvSpPr>
          <p:cNvPr id="11" name="正方形/長方形 10">
            <a:extLst>
              <a:ext uri="{FF2B5EF4-FFF2-40B4-BE49-F238E27FC236}">
                <a16:creationId xmlns:a16="http://schemas.microsoft.com/office/drawing/2014/main" id="{189A6A4C-E34E-E7CF-D6DD-C175E600A94D}"/>
              </a:ext>
            </a:extLst>
          </p:cNvPr>
          <p:cNvSpPr/>
          <p:nvPr/>
        </p:nvSpPr>
        <p:spPr>
          <a:xfrm>
            <a:off x="1404798" y="1938056"/>
            <a:ext cx="1859036"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WEB</a:t>
            </a: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サイト</a:t>
            </a:r>
          </a:p>
        </p:txBody>
      </p:sp>
      <p:sp>
        <p:nvSpPr>
          <p:cNvPr id="16" name="正方形/長方形 15">
            <a:extLst>
              <a:ext uri="{FF2B5EF4-FFF2-40B4-BE49-F238E27FC236}">
                <a16:creationId xmlns:a16="http://schemas.microsoft.com/office/drawing/2014/main" id="{32BBF438-B1EF-A61A-EE3D-69CD39766C7E}"/>
              </a:ext>
            </a:extLst>
          </p:cNvPr>
          <p:cNvSpPr/>
          <p:nvPr/>
        </p:nvSpPr>
        <p:spPr>
          <a:xfrm>
            <a:off x="5808682" y="2415743"/>
            <a:ext cx="3748873"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7" name="正方形/長方形 16">
            <a:extLst>
              <a:ext uri="{FF2B5EF4-FFF2-40B4-BE49-F238E27FC236}">
                <a16:creationId xmlns:a16="http://schemas.microsoft.com/office/drawing/2014/main" id="{1A1E4128-77DC-C871-EE20-5BD43326E078}"/>
              </a:ext>
            </a:extLst>
          </p:cNvPr>
          <p:cNvSpPr/>
          <p:nvPr/>
        </p:nvSpPr>
        <p:spPr>
          <a:xfrm>
            <a:off x="5808681" y="4588963"/>
            <a:ext cx="3748873"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0" name="正方形/長方形 19">
            <a:extLst>
              <a:ext uri="{FF2B5EF4-FFF2-40B4-BE49-F238E27FC236}">
                <a16:creationId xmlns:a16="http://schemas.microsoft.com/office/drawing/2014/main" id="{F37BB268-660A-FEE4-BB39-0E338F1DDC23}"/>
              </a:ext>
            </a:extLst>
          </p:cNvPr>
          <p:cNvSpPr/>
          <p:nvPr/>
        </p:nvSpPr>
        <p:spPr>
          <a:xfrm>
            <a:off x="5974632" y="2304788"/>
            <a:ext cx="1859036"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cs typeface="メイリオ"/>
              </a:rPr>
              <a:t>非</a:t>
            </a:r>
            <a:r>
              <a:rPr lang="en-US" altLang="ja-JP" sz="110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1100" b="1" dirty="0">
                <a:solidFill>
                  <a:schemeClr val="tx1"/>
                </a:solidFill>
                <a:latin typeface="メイリオ" panose="020B0604030504040204" pitchFamily="50" charset="-128"/>
                <a:ea typeface="メイリオ" panose="020B0604030504040204" pitchFamily="50" charset="-128"/>
                <a:cs typeface="メイリオ"/>
              </a:rPr>
              <a:t>友だちの場合</a:t>
            </a:r>
          </a:p>
        </p:txBody>
      </p:sp>
      <p:sp>
        <p:nvSpPr>
          <p:cNvPr id="21" name="正方形/長方形 20">
            <a:extLst>
              <a:ext uri="{FF2B5EF4-FFF2-40B4-BE49-F238E27FC236}">
                <a16:creationId xmlns:a16="http://schemas.microsoft.com/office/drawing/2014/main" id="{C9FF4626-FD17-CA1C-8064-F46606D0BCCE}"/>
              </a:ext>
            </a:extLst>
          </p:cNvPr>
          <p:cNvSpPr/>
          <p:nvPr/>
        </p:nvSpPr>
        <p:spPr>
          <a:xfrm>
            <a:off x="5974632" y="4466888"/>
            <a:ext cx="1859036"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cs typeface="メイリオ"/>
              </a:rPr>
              <a:t>既存の</a:t>
            </a:r>
            <a:r>
              <a:rPr lang="en-US" altLang="ja-JP" sz="110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1100" b="1" dirty="0">
                <a:solidFill>
                  <a:schemeClr val="tx1"/>
                </a:solidFill>
                <a:latin typeface="メイリオ" panose="020B0604030504040204" pitchFamily="50" charset="-128"/>
                <a:ea typeface="メイリオ" panose="020B0604030504040204" pitchFamily="50" charset="-128"/>
                <a:cs typeface="メイリオ"/>
              </a:rPr>
              <a:t>友だちの場合</a:t>
            </a:r>
          </a:p>
        </p:txBody>
      </p:sp>
      <p:cxnSp>
        <p:nvCxnSpPr>
          <p:cNvPr id="23" name="直線矢印コネクタ 22">
            <a:extLst>
              <a:ext uri="{FF2B5EF4-FFF2-40B4-BE49-F238E27FC236}">
                <a16:creationId xmlns:a16="http://schemas.microsoft.com/office/drawing/2014/main" id="{8F202453-7FF9-8AE7-D10D-66F74A74A2F4}"/>
              </a:ext>
            </a:extLst>
          </p:cNvPr>
          <p:cNvCxnSpPr/>
          <p:nvPr/>
        </p:nvCxnSpPr>
        <p:spPr>
          <a:xfrm>
            <a:off x="4361857" y="3239708"/>
            <a:ext cx="1407469" cy="0"/>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C92F6E28-BBFF-1A56-AC22-CA16D2F1B1EA}"/>
              </a:ext>
            </a:extLst>
          </p:cNvPr>
          <p:cNvCxnSpPr>
            <a:cxnSpLocks/>
          </p:cNvCxnSpPr>
          <p:nvPr/>
        </p:nvCxnSpPr>
        <p:spPr>
          <a:xfrm>
            <a:off x="4361857" y="3392108"/>
            <a:ext cx="1407469" cy="1358385"/>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1D29A9C3-A3E8-0780-A758-0C8E7E376668}"/>
              </a:ext>
            </a:extLst>
          </p:cNvPr>
          <p:cNvSpPr/>
          <p:nvPr/>
        </p:nvSpPr>
        <p:spPr>
          <a:xfrm>
            <a:off x="4867227" y="2304788"/>
            <a:ext cx="374449" cy="3205847"/>
          </a:xfrm>
          <a:prstGeom prst="rect">
            <a:avLst/>
          </a:prstGeom>
          <a:solidFill>
            <a:srgbClr val="00FF00">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cs typeface="メイリオ"/>
              </a:rPr>
              <a:t>｜</a:t>
            </a:r>
            <a:r>
              <a:rPr lang="en-US" altLang="ja-JP" sz="1100" b="1" dirty="0">
                <a:solidFill>
                  <a:schemeClr val="tx1"/>
                </a:solidFill>
                <a:latin typeface="メイリオ" panose="020B0604030504040204" pitchFamily="50" charset="-128"/>
                <a:ea typeface="メイリオ" panose="020B0604030504040204" pitchFamily="50" charset="-128"/>
                <a:cs typeface="メイリオ"/>
              </a:rPr>
              <a:t>D</a:t>
            </a:r>
          </a:p>
          <a:p>
            <a:pPr algn="ctr"/>
            <a:r>
              <a:rPr kumimoji="1" lang="en-US" altLang="ja-JP" sz="1100" b="1" dirty="0">
                <a:solidFill>
                  <a:schemeClr val="tx1"/>
                </a:solidFill>
                <a:latin typeface="メイリオ" panose="020B0604030504040204" pitchFamily="50" charset="-128"/>
                <a:ea typeface="メイリオ" panose="020B0604030504040204" pitchFamily="50" charset="-128"/>
                <a:cs typeface="メイリオ"/>
              </a:rPr>
              <a:t>Y</a:t>
            </a:r>
          </a:p>
          <a:p>
            <a:pPr algn="ctr"/>
            <a:r>
              <a:rPr lang="en-US" altLang="ja-JP" sz="1100" b="1" dirty="0">
                <a:solidFill>
                  <a:schemeClr val="tx1"/>
                </a:solidFill>
                <a:latin typeface="メイリオ" panose="020B0604030504040204" pitchFamily="50" charset="-128"/>
                <a:ea typeface="メイリオ" panose="020B0604030504040204" pitchFamily="50" charset="-128"/>
                <a:cs typeface="メイリオ"/>
              </a:rPr>
              <a:t>M</a:t>
            </a:r>
            <a:r>
              <a:rPr lang="ja-JP" altLang="en-US" sz="1100" b="1" dirty="0">
                <a:solidFill>
                  <a:schemeClr val="tx1"/>
                </a:solidFill>
                <a:latin typeface="メイリオ" panose="020B0604030504040204" pitchFamily="50" charset="-128"/>
                <a:ea typeface="メイリオ" panose="020B0604030504040204" pitchFamily="50" charset="-128"/>
                <a:cs typeface="メイリオ"/>
              </a:rPr>
              <a:t>ツ</a:t>
            </a:r>
            <a:endParaRPr lang="en-US" altLang="ja-JP" sz="11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100" b="1" dirty="0">
                <a:solidFill>
                  <a:schemeClr val="tx1"/>
                </a:solidFill>
                <a:latin typeface="メイリオ" panose="020B0604030504040204" pitchFamily="50" charset="-128"/>
                <a:ea typeface="メイリオ" panose="020B0604030504040204" pitchFamily="50" charset="-128"/>
                <a:cs typeface="メイリオ"/>
              </a:rPr>
              <a:t>｜ルで</a:t>
            </a:r>
            <a:endParaRPr kumimoji="1" lang="en-US" altLang="ja-JP" sz="11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en-US" altLang="ja-JP" sz="1100" b="1" dirty="0">
                <a:solidFill>
                  <a:schemeClr val="tx1"/>
                </a:solidFill>
                <a:latin typeface="メイリオ" panose="020B0604030504040204" pitchFamily="50" charset="-128"/>
                <a:ea typeface="メイリオ" panose="020B0604030504040204" pitchFamily="50" charset="-128"/>
                <a:cs typeface="メイリオ"/>
              </a:rPr>
              <a:t>L</a:t>
            </a:r>
            <a:br>
              <a:rPr kumimoji="1" lang="en-US" altLang="ja-JP" sz="1100" b="1" dirty="0">
                <a:solidFill>
                  <a:schemeClr val="tx1"/>
                </a:solidFill>
                <a:latin typeface="メイリオ" panose="020B0604030504040204" pitchFamily="50" charset="-128"/>
                <a:ea typeface="メイリオ" panose="020B0604030504040204" pitchFamily="50" charset="-128"/>
                <a:cs typeface="メイリオ"/>
              </a:rPr>
            </a:br>
            <a:r>
              <a:rPr kumimoji="1" lang="en-US" altLang="ja-JP" sz="1100" b="1" dirty="0">
                <a:solidFill>
                  <a:schemeClr val="tx1"/>
                </a:solidFill>
                <a:latin typeface="メイリオ" panose="020B0604030504040204" pitchFamily="50" charset="-128"/>
                <a:ea typeface="メイリオ" panose="020B0604030504040204" pitchFamily="50" charset="-128"/>
                <a:cs typeface="メイリオ"/>
              </a:rPr>
              <a:t>I</a:t>
            </a:r>
          </a:p>
          <a:p>
            <a:pPr algn="ctr"/>
            <a:r>
              <a:rPr lang="en-US" altLang="ja-JP" sz="1100" b="1" dirty="0">
                <a:solidFill>
                  <a:schemeClr val="tx1"/>
                </a:solidFill>
                <a:latin typeface="メイリオ" panose="020B0604030504040204" pitchFamily="50" charset="-128"/>
                <a:ea typeface="メイリオ" panose="020B0604030504040204" pitchFamily="50" charset="-128"/>
                <a:cs typeface="メイリオ"/>
              </a:rPr>
              <a:t>N</a:t>
            </a:r>
            <a:br>
              <a:rPr lang="en-US" altLang="ja-JP" sz="1100" b="1" dirty="0">
                <a:solidFill>
                  <a:schemeClr val="tx1"/>
                </a:solidFill>
                <a:latin typeface="メイリオ" panose="020B0604030504040204" pitchFamily="50" charset="-128"/>
                <a:ea typeface="メイリオ" panose="020B0604030504040204" pitchFamily="50" charset="-128"/>
                <a:cs typeface="メイリオ"/>
              </a:rPr>
            </a:br>
            <a:r>
              <a:rPr lang="en-US" altLang="ja-JP" sz="1100" b="1" dirty="0">
                <a:solidFill>
                  <a:schemeClr val="tx1"/>
                </a:solidFill>
                <a:latin typeface="メイリオ" panose="020B0604030504040204" pitchFamily="50" charset="-128"/>
                <a:ea typeface="メイリオ" panose="020B0604030504040204" pitchFamily="50" charset="-128"/>
                <a:cs typeface="メイリオ"/>
              </a:rPr>
              <a:t>E</a:t>
            </a:r>
          </a:p>
          <a:p>
            <a:pPr algn="ctr"/>
            <a:r>
              <a:rPr kumimoji="1" lang="ja-JP" altLang="en-US" sz="1100" b="1" dirty="0">
                <a:solidFill>
                  <a:schemeClr val="tx1"/>
                </a:solidFill>
                <a:latin typeface="メイリオ" panose="020B0604030504040204" pitchFamily="50" charset="-128"/>
                <a:ea typeface="メイリオ" panose="020B0604030504040204" pitchFamily="50" charset="-128"/>
                <a:cs typeface="メイリオ"/>
              </a:rPr>
              <a:t>動線</a:t>
            </a:r>
            <a:endParaRPr kumimoji="1" lang="en-US" altLang="ja-JP" sz="110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100" b="1" dirty="0">
                <a:solidFill>
                  <a:schemeClr val="tx1"/>
                </a:solidFill>
                <a:latin typeface="メイリオ" panose="020B0604030504040204" pitchFamily="50" charset="-128"/>
                <a:ea typeface="メイリオ" panose="020B0604030504040204" pitchFamily="50" charset="-128"/>
                <a:cs typeface="メイリオ"/>
              </a:rPr>
              <a:t>に</a:t>
            </a:r>
            <a:endParaRPr kumimoji="1" lang="en-US" altLang="ja-JP" sz="11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100" b="1" dirty="0">
                <a:solidFill>
                  <a:schemeClr val="tx1"/>
                </a:solidFill>
                <a:latin typeface="メイリオ" panose="020B0604030504040204" pitchFamily="50" charset="-128"/>
                <a:ea typeface="メイリオ" panose="020B0604030504040204" pitchFamily="50" charset="-128"/>
                <a:cs typeface="メイリオ"/>
              </a:rPr>
              <a:t>｜</a:t>
            </a:r>
          </a:p>
        </p:txBody>
      </p:sp>
      <p:pic>
        <p:nvPicPr>
          <p:cNvPr id="45" name="図 44" descr="グラフィカル ユーザー インターフェイス, アプリケーション, Teams&#10;&#10;AI 生成コンテンツは誤りを含む可能性があります。">
            <a:extLst>
              <a:ext uri="{FF2B5EF4-FFF2-40B4-BE49-F238E27FC236}">
                <a16:creationId xmlns:a16="http://schemas.microsoft.com/office/drawing/2014/main" id="{E91CA7A5-62B3-F1F8-38C3-DDCE33E1CC3D}"/>
              </a:ext>
            </a:extLst>
          </p:cNvPr>
          <p:cNvPicPr>
            <a:picLocks noChangeAspect="1"/>
          </p:cNvPicPr>
          <p:nvPr/>
        </p:nvPicPr>
        <p:blipFill>
          <a:blip r:embed="rId2" cstate="print">
            <a:extLst>
              <a:ext uri="{28A0092B-C50C-407E-A947-70E740481C1C}">
                <a14:useLocalDpi xmlns:a14="http://schemas.microsoft.com/office/drawing/2010/main" val="0"/>
              </a:ext>
            </a:extLst>
          </a:blip>
          <a:srcRect t="4580"/>
          <a:stretch>
            <a:fillRect/>
          </a:stretch>
        </p:blipFill>
        <p:spPr>
          <a:xfrm>
            <a:off x="7999618" y="2128994"/>
            <a:ext cx="1231081" cy="2085097"/>
          </a:xfrm>
          <a:prstGeom prst="rect">
            <a:avLst/>
          </a:prstGeom>
        </p:spPr>
      </p:pic>
      <p:pic>
        <p:nvPicPr>
          <p:cNvPr id="46" name="図 45" descr="電卓の写真のスマートフォンのスクリーンショット&#10;&#10;AI 生成コンテンツは誤りを含む可能性があります。">
            <a:extLst>
              <a:ext uri="{FF2B5EF4-FFF2-40B4-BE49-F238E27FC236}">
                <a16:creationId xmlns:a16="http://schemas.microsoft.com/office/drawing/2014/main" id="{31EEAD2C-3BE8-0210-FD8E-46D52B30A0AE}"/>
              </a:ext>
            </a:extLst>
          </p:cNvPr>
          <p:cNvPicPr>
            <a:picLocks noChangeAspect="1"/>
          </p:cNvPicPr>
          <p:nvPr/>
        </p:nvPicPr>
        <p:blipFill>
          <a:blip r:embed="rId3" cstate="print">
            <a:extLst>
              <a:ext uri="{28A0092B-C50C-407E-A947-70E740481C1C}">
                <a14:useLocalDpi xmlns:a14="http://schemas.microsoft.com/office/drawing/2010/main" val="0"/>
              </a:ext>
            </a:extLst>
          </a:blip>
          <a:srcRect t="4580"/>
          <a:stretch>
            <a:fillRect/>
          </a:stretch>
        </p:blipFill>
        <p:spPr>
          <a:xfrm>
            <a:off x="7999618" y="4325046"/>
            <a:ext cx="1231081" cy="2085098"/>
          </a:xfrm>
          <a:prstGeom prst="rect">
            <a:avLst/>
          </a:prstGeom>
        </p:spPr>
      </p:pic>
      <p:sp>
        <p:nvSpPr>
          <p:cNvPr id="48" name="テキスト ボックス 47">
            <a:extLst>
              <a:ext uri="{FF2B5EF4-FFF2-40B4-BE49-F238E27FC236}">
                <a16:creationId xmlns:a16="http://schemas.microsoft.com/office/drawing/2014/main" id="{E989AEB3-EF0E-8885-B426-8B6A5E01F40A}"/>
              </a:ext>
            </a:extLst>
          </p:cNvPr>
          <p:cNvSpPr txBox="1"/>
          <p:nvPr/>
        </p:nvSpPr>
        <p:spPr>
          <a:xfrm>
            <a:off x="5974631" y="2701376"/>
            <a:ext cx="1859035" cy="430887"/>
          </a:xfrm>
          <a:prstGeom prst="rect">
            <a:avLst/>
          </a:prstGeom>
          <a:noFill/>
        </p:spPr>
        <p:txBody>
          <a:bodyPr wrap="square">
            <a:spAutoFit/>
          </a:bodyPr>
          <a:lstStyle/>
          <a:p>
            <a:r>
              <a:rPr kumimoji="1" lang="ja-JP" altLang="en-US" sz="1100" b="1" dirty="0">
                <a:latin typeface="メイリオ" panose="020B0604030504040204" pitchFamily="50" charset="-128"/>
                <a:ea typeface="メイリオ" panose="020B0604030504040204" pitchFamily="50" charset="-128"/>
                <a:cs typeface="メイリオ"/>
              </a:rPr>
              <a:t>公式アカウントの</a:t>
            </a:r>
            <a:r>
              <a:rPr lang="ja-JP" altLang="en-US" sz="1100" b="1" dirty="0">
                <a:latin typeface="メイリオ" panose="020B0604030504040204" pitchFamily="50" charset="-128"/>
                <a:ea typeface="メイリオ" panose="020B0604030504040204" pitchFamily="50" charset="-128"/>
                <a:cs typeface="メイリオ"/>
              </a:rPr>
              <a:t>友だち</a:t>
            </a:r>
            <a:endParaRPr lang="en-US" altLang="ja-JP" sz="1100" b="1" dirty="0">
              <a:latin typeface="メイリオ" panose="020B0604030504040204" pitchFamily="50" charset="-128"/>
              <a:ea typeface="メイリオ" panose="020B0604030504040204" pitchFamily="50" charset="-128"/>
              <a:cs typeface="メイリオ"/>
            </a:endParaRPr>
          </a:p>
          <a:p>
            <a:r>
              <a:rPr lang="ja-JP" altLang="en-US" sz="1100" b="1" dirty="0">
                <a:latin typeface="メイリオ" panose="020B0604030504040204" pitchFamily="50" charset="-128"/>
                <a:ea typeface="メイリオ" panose="020B0604030504040204" pitchFamily="50" charset="-128"/>
                <a:cs typeface="メイリオ"/>
              </a:rPr>
              <a:t>登録ページ</a:t>
            </a:r>
            <a:r>
              <a:rPr lang="ja-JP" altLang="en-US" sz="1100" dirty="0">
                <a:latin typeface="メイリオ" panose="020B0604030504040204" pitchFamily="50" charset="-128"/>
                <a:ea typeface="メイリオ" panose="020B0604030504040204" pitchFamily="50" charset="-128"/>
                <a:cs typeface="メイリオ"/>
              </a:rPr>
              <a:t>へ遷移する。</a:t>
            </a:r>
            <a:endParaRPr kumimoji="1" lang="ja-JP" altLang="en-US" sz="1100" dirty="0">
              <a:latin typeface="メイリオ" panose="020B0604030504040204" pitchFamily="50" charset="-128"/>
              <a:ea typeface="メイリオ" panose="020B0604030504040204" pitchFamily="50" charset="-128"/>
              <a:cs typeface="メイリオ"/>
            </a:endParaRPr>
          </a:p>
        </p:txBody>
      </p:sp>
      <p:sp>
        <p:nvSpPr>
          <p:cNvPr id="49" name="テキスト ボックス 48">
            <a:extLst>
              <a:ext uri="{FF2B5EF4-FFF2-40B4-BE49-F238E27FC236}">
                <a16:creationId xmlns:a16="http://schemas.microsoft.com/office/drawing/2014/main" id="{4E6D08E3-E0B3-1DF4-0533-E4EE67240415}"/>
              </a:ext>
            </a:extLst>
          </p:cNvPr>
          <p:cNvSpPr txBox="1"/>
          <p:nvPr/>
        </p:nvSpPr>
        <p:spPr>
          <a:xfrm>
            <a:off x="5971905" y="4914274"/>
            <a:ext cx="1859035" cy="1384995"/>
          </a:xfrm>
          <a:prstGeom prst="rect">
            <a:avLst/>
          </a:prstGeom>
          <a:noFill/>
        </p:spPr>
        <p:txBody>
          <a:bodyPr wrap="square">
            <a:spAutoFit/>
          </a:bodyPr>
          <a:lstStyle/>
          <a:p>
            <a:r>
              <a:rPr kumimoji="1" lang="ja-JP" altLang="en-US" sz="1100" b="1" dirty="0">
                <a:latin typeface="メイリオ" panose="020B0604030504040204" pitchFamily="50" charset="-128"/>
                <a:ea typeface="メイリオ" panose="020B0604030504040204" pitchFamily="50" charset="-128"/>
                <a:cs typeface="メイリオ"/>
              </a:rPr>
              <a:t>公式アカウントの</a:t>
            </a:r>
            <a:r>
              <a:rPr lang="ja-JP" altLang="en-US" sz="1100" b="1" dirty="0">
                <a:latin typeface="メイリオ" panose="020B0604030504040204" pitchFamily="50" charset="-128"/>
                <a:ea typeface="メイリオ" panose="020B0604030504040204" pitchFamily="50" charset="-128"/>
                <a:cs typeface="メイリオ"/>
              </a:rPr>
              <a:t>トーク</a:t>
            </a:r>
            <a:endParaRPr lang="en-US" altLang="ja-JP" sz="1100" b="1" dirty="0">
              <a:latin typeface="メイリオ" panose="020B0604030504040204" pitchFamily="50" charset="-128"/>
              <a:ea typeface="メイリオ" panose="020B0604030504040204" pitchFamily="50" charset="-128"/>
              <a:cs typeface="メイリオ"/>
            </a:endParaRPr>
          </a:p>
          <a:p>
            <a:r>
              <a:rPr lang="ja-JP" altLang="en-US" sz="1100" b="1" dirty="0">
                <a:latin typeface="メイリオ" panose="020B0604030504040204" pitchFamily="50" charset="-128"/>
                <a:ea typeface="メイリオ" panose="020B0604030504040204" pitchFamily="50" charset="-128"/>
                <a:cs typeface="メイリオ"/>
              </a:rPr>
              <a:t>画面</a:t>
            </a:r>
            <a:r>
              <a:rPr lang="ja-JP" altLang="en-US" sz="1100" dirty="0">
                <a:latin typeface="メイリオ" panose="020B0604030504040204" pitchFamily="50" charset="-128"/>
                <a:ea typeface="メイリオ" panose="020B0604030504040204" pitchFamily="50" charset="-128"/>
                <a:cs typeface="メイリオ"/>
              </a:rPr>
              <a:t>へ遷移する。</a:t>
            </a:r>
            <a:endParaRPr lang="en-US" altLang="ja-JP" sz="1100" dirty="0">
              <a:latin typeface="メイリオ" panose="020B0604030504040204" pitchFamily="50" charset="-128"/>
              <a:ea typeface="メイリオ" panose="020B0604030504040204" pitchFamily="50" charset="-128"/>
              <a:cs typeface="メイリオ"/>
            </a:endParaRPr>
          </a:p>
          <a:p>
            <a:r>
              <a:rPr kumimoji="1" lang="en-US" altLang="ja-JP" sz="1000" dirty="0">
                <a:solidFill>
                  <a:srgbClr val="FF0000"/>
                </a:solidFill>
                <a:latin typeface="メイリオ" panose="020B0604030504040204" pitchFamily="50" charset="-128"/>
                <a:ea typeface="メイリオ" panose="020B0604030504040204" pitchFamily="50" charset="-128"/>
                <a:cs typeface="メイリオ"/>
              </a:rPr>
              <a:t>※</a:t>
            </a:r>
            <a:r>
              <a:rPr kumimoji="1" lang="ja-JP" altLang="en-US" sz="1000" dirty="0">
                <a:solidFill>
                  <a:srgbClr val="FF0000"/>
                </a:solidFill>
                <a:latin typeface="メイリオ" panose="020B0604030504040204" pitchFamily="50" charset="-128"/>
                <a:ea typeface="メイリオ" panose="020B0604030504040204" pitchFamily="50" charset="-128"/>
                <a:cs typeface="メイリオ"/>
              </a:rPr>
              <a:t>設定によりフォーム入力</a:t>
            </a:r>
            <a:endParaRPr kumimoji="1" lang="en-US" altLang="ja-JP" sz="1000" dirty="0">
              <a:solidFill>
                <a:srgbClr val="FF0000"/>
              </a:solidFill>
              <a:latin typeface="メイリオ" panose="020B0604030504040204" pitchFamily="50" charset="-128"/>
              <a:ea typeface="メイリオ" panose="020B0604030504040204" pitchFamily="50" charset="-128"/>
              <a:cs typeface="メイリオ"/>
            </a:endParaRPr>
          </a:p>
          <a:p>
            <a:r>
              <a:rPr lang="ja-JP" altLang="en-US" sz="1000" dirty="0">
                <a:solidFill>
                  <a:srgbClr val="FF0000"/>
                </a:solidFill>
                <a:latin typeface="メイリオ" panose="020B0604030504040204" pitchFamily="50" charset="-128"/>
                <a:ea typeface="メイリオ" panose="020B0604030504040204" pitchFamily="50" charset="-128"/>
                <a:cs typeface="メイリオ"/>
              </a:rPr>
              <a:t>　内容を踏襲した入力画面</a:t>
            </a:r>
            <a:endParaRPr lang="en-US" altLang="ja-JP" sz="1000" dirty="0">
              <a:solidFill>
                <a:srgbClr val="FF0000"/>
              </a:solidFill>
              <a:latin typeface="メイリオ" panose="020B0604030504040204" pitchFamily="50" charset="-128"/>
              <a:ea typeface="メイリオ" panose="020B0604030504040204" pitchFamily="50" charset="-128"/>
              <a:cs typeface="メイリオ"/>
            </a:endParaRPr>
          </a:p>
          <a:p>
            <a:r>
              <a:rPr kumimoji="1" lang="ja-JP" altLang="en-US" sz="1000" dirty="0">
                <a:solidFill>
                  <a:srgbClr val="FF0000"/>
                </a:solidFill>
                <a:latin typeface="メイリオ" panose="020B0604030504040204" pitchFamily="50" charset="-128"/>
                <a:ea typeface="メイリオ" panose="020B0604030504040204" pitchFamily="50" charset="-128"/>
                <a:cs typeface="メイリオ"/>
              </a:rPr>
              <a:t>　を表示させることが可能。</a:t>
            </a:r>
            <a:endParaRPr kumimoji="1" lang="en-US" altLang="ja-JP" sz="1000" dirty="0">
              <a:solidFill>
                <a:srgbClr val="FF0000"/>
              </a:solidFill>
              <a:latin typeface="メイリオ" panose="020B0604030504040204" pitchFamily="50" charset="-128"/>
              <a:ea typeface="メイリオ" panose="020B0604030504040204" pitchFamily="50" charset="-128"/>
              <a:cs typeface="メイリオ"/>
            </a:endParaRPr>
          </a:p>
          <a:p>
            <a:endParaRPr lang="en-US" altLang="ja-JP" sz="1000" dirty="0">
              <a:solidFill>
                <a:srgbClr val="FF0000"/>
              </a:solidFill>
              <a:latin typeface="メイリオ" panose="020B0604030504040204" pitchFamily="50" charset="-128"/>
              <a:ea typeface="メイリオ" panose="020B0604030504040204" pitchFamily="50" charset="-128"/>
              <a:cs typeface="メイリオ"/>
            </a:endParaRPr>
          </a:p>
          <a:p>
            <a:r>
              <a:rPr lang="ja-JP" altLang="en-US" sz="1100" b="1" dirty="0">
                <a:latin typeface="メイリオ" panose="020B0604030504040204" pitchFamily="50" charset="-128"/>
                <a:ea typeface="メイリオ" panose="020B0604030504040204" pitchFamily="50" charset="-128"/>
                <a:cs typeface="メイリオ"/>
              </a:rPr>
              <a:t>↓</a:t>
            </a:r>
            <a:endParaRPr lang="en-US" altLang="ja-JP" sz="1100" b="1" dirty="0">
              <a:latin typeface="メイリオ" panose="020B0604030504040204" pitchFamily="50" charset="-128"/>
              <a:ea typeface="メイリオ" panose="020B0604030504040204" pitchFamily="50" charset="-128"/>
              <a:cs typeface="メイリオ"/>
            </a:endParaRPr>
          </a:p>
          <a:p>
            <a:r>
              <a:rPr kumimoji="1" lang="ja-JP" altLang="en-US" sz="1100" b="1" dirty="0">
                <a:latin typeface="メイリオ" panose="020B0604030504040204" pitchFamily="50" charset="-128"/>
                <a:ea typeface="メイリオ" panose="020B0604030504040204" pitchFamily="50" charset="-128"/>
                <a:cs typeface="メイリオ"/>
              </a:rPr>
              <a:t>配信セグメントに利用可</a:t>
            </a:r>
            <a:endParaRPr kumimoji="1" lang="ja-JP" altLang="en-US" sz="1100" dirty="0">
              <a:latin typeface="メイリオ" panose="020B0604030504040204" pitchFamily="50" charset="-128"/>
              <a:ea typeface="メイリオ" panose="020B0604030504040204" pitchFamily="50" charset="-128"/>
              <a:cs typeface="メイリオ"/>
            </a:endParaRPr>
          </a:p>
        </p:txBody>
      </p:sp>
      <p:pic>
        <p:nvPicPr>
          <p:cNvPr id="56" name="図 55">
            <a:extLst>
              <a:ext uri="{FF2B5EF4-FFF2-40B4-BE49-F238E27FC236}">
                <a16:creationId xmlns:a16="http://schemas.microsoft.com/office/drawing/2014/main" id="{0B7B313D-7D5F-4357-9B38-DFC3DBC5FCF6}"/>
              </a:ext>
            </a:extLst>
          </p:cNvPr>
          <p:cNvPicPr>
            <a:picLocks noChangeAspect="1"/>
          </p:cNvPicPr>
          <p:nvPr/>
        </p:nvPicPr>
        <p:blipFill>
          <a:blip r:embed="rId4"/>
          <a:stretch>
            <a:fillRect/>
          </a:stretch>
        </p:blipFill>
        <p:spPr>
          <a:xfrm>
            <a:off x="8048301" y="3085325"/>
            <a:ext cx="1133712" cy="110223"/>
          </a:xfrm>
          <a:prstGeom prst="rect">
            <a:avLst/>
          </a:prstGeom>
        </p:spPr>
      </p:pic>
      <p:pic>
        <p:nvPicPr>
          <p:cNvPr id="57" name="図 56">
            <a:extLst>
              <a:ext uri="{FF2B5EF4-FFF2-40B4-BE49-F238E27FC236}">
                <a16:creationId xmlns:a16="http://schemas.microsoft.com/office/drawing/2014/main" id="{A8EA42C4-338F-850B-B276-B83DC2A73148}"/>
              </a:ext>
            </a:extLst>
          </p:cNvPr>
          <p:cNvPicPr>
            <a:picLocks noChangeAspect="1"/>
          </p:cNvPicPr>
          <p:nvPr/>
        </p:nvPicPr>
        <p:blipFill>
          <a:blip r:embed="rId5"/>
          <a:stretch>
            <a:fillRect/>
          </a:stretch>
        </p:blipFill>
        <p:spPr>
          <a:xfrm>
            <a:off x="8378027" y="3091633"/>
            <a:ext cx="479964" cy="106659"/>
          </a:xfrm>
          <a:prstGeom prst="rect">
            <a:avLst/>
          </a:prstGeom>
        </p:spPr>
      </p:pic>
      <p:pic>
        <p:nvPicPr>
          <p:cNvPr id="58" name="図 57">
            <a:extLst>
              <a:ext uri="{FF2B5EF4-FFF2-40B4-BE49-F238E27FC236}">
                <a16:creationId xmlns:a16="http://schemas.microsoft.com/office/drawing/2014/main" id="{CCB04072-A708-EEE7-1345-D4C9E9FA9C1D}"/>
              </a:ext>
            </a:extLst>
          </p:cNvPr>
          <p:cNvPicPr>
            <a:picLocks noChangeAspect="1"/>
          </p:cNvPicPr>
          <p:nvPr/>
        </p:nvPicPr>
        <p:blipFill>
          <a:blip r:embed="rId5"/>
          <a:stretch>
            <a:fillRect/>
          </a:stretch>
        </p:blipFill>
        <p:spPr>
          <a:xfrm>
            <a:off x="8395919" y="4322141"/>
            <a:ext cx="334412" cy="74315"/>
          </a:xfrm>
          <a:prstGeom prst="rect">
            <a:avLst/>
          </a:prstGeom>
        </p:spPr>
      </p:pic>
      <p:pic>
        <p:nvPicPr>
          <p:cNvPr id="59" name="図 58">
            <a:extLst>
              <a:ext uri="{FF2B5EF4-FFF2-40B4-BE49-F238E27FC236}">
                <a16:creationId xmlns:a16="http://schemas.microsoft.com/office/drawing/2014/main" id="{EDED354B-362F-AAF7-76A6-52D8547EDC91}"/>
              </a:ext>
            </a:extLst>
          </p:cNvPr>
          <p:cNvPicPr>
            <a:picLocks noChangeAspect="1"/>
          </p:cNvPicPr>
          <p:nvPr/>
        </p:nvPicPr>
        <p:blipFill>
          <a:blip r:embed="rId5"/>
          <a:stretch>
            <a:fillRect/>
          </a:stretch>
        </p:blipFill>
        <p:spPr>
          <a:xfrm>
            <a:off x="8548319" y="4474541"/>
            <a:ext cx="334412" cy="74315"/>
          </a:xfrm>
          <a:prstGeom prst="rect">
            <a:avLst/>
          </a:prstGeom>
        </p:spPr>
      </p:pic>
      <p:sp>
        <p:nvSpPr>
          <p:cNvPr id="1030" name="楕円 1029">
            <a:extLst>
              <a:ext uri="{FF2B5EF4-FFF2-40B4-BE49-F238E27FC236}">
                <a16:creationId xmlns:a16="http://schemas.microsoft.com/office/drawing/2014/main" id="{A0934BB8-8F8D-D4F0-8D59-8F32A6A6E03A}"/>
              </a:ext>
            </a:extLst>
          </p:cNvPr>
          <p:cNvSpPr/>
          <p:nvPr/>
        </p:nvSpPr>
        <p:spPr>
          <a:xfrm>
            <a:off x="8414131" y="2644225"/>
            <a:ext cx="396000" cy="396000"/>
          </a:xfrm>
          <a:prstGeom prst="ellipse">
            <a:avLst/>
          </a:prstGeom>
          <a:solidFill>
            <a:schemeClr val="bg1">
              <a:lumMod val="95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chemeClr val="tx1"/>
                </a:solidFill>
                <a:latin typeface="メイリオ" panose="020B0604030504040204" pitchFamily="50" charset="-128"/>
                <a:ea typeface="メイリオ" panose="020B0604030504040204" pitchFamily="50" charset="-128"/>
                <a:cs typeface="メイリオ"/>
              </a:rPr>
              <a:t>ロゴ</a:t>
            </a:r>
          </a:p>
        </p:txBody>
      </p:sp>
      <p:sp>
        <p:nvSpPr>
          <p:cNvPr id="34" name="正方形/長方形 33">
            <a:extLst>
              <a:ext uri="{FF2B5EF4-FFF2-40B4-BE49-F238E27FC236}">
                <a16:creationId xmlns:a16="http://schemas.microsoft.com/office/drawing/2014/main" id="{A593FC72-954C-48DC-E845-1A5FCE4C9E00}"/>
              </a:ext>
            </a:extLst>
          </p:cNvPr>
          <p:cNvSpPr/>
          <p:nvPr/>
        </p:nvSpPr>
        <p:spPr>
          <a:xfrm>
            <a:off x="315283" y="2196668"/>
            <a:ext cx="1778402" cy="3994401"/>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5" name="二等辺三角形 34">
            <a:extLst>
              <a:ext uri="{FF2B5EF4-FFF2-40B4-BE49-F238E27FC236}">
                <a16:creationId xmlns:a16="http://schemas.microsoft.com/office/drawing/2014/main" id="{D9FB7255-AF30-7B82-6180-D447A3754744}"/>
              </a:ext>
            </a:extLst>
          </p:cNvPr>
          <p:cNvSpPr/>
          <p:nvPr/>
        </p:nvSpPr>
        <p:spPr>
          <a:xfrm rot="5400000">
            <a:off x="2108593"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6" name="二等辺三角形 35">
            <a:extLst>
              <a:ext uri="{FF2B5EF4-FFF2-40B4-BE49-F238E27FC236}">
                <a16:creationId xmlns:a16="http://schemas.microsoft.com/office/drawing/2014/main" id="{626832A8-575E-5E2B-73F4-BE5567514E57}"/>
              </a:ext>
            </a:extLst>
          </p:cNvPr>
          <p:cNvSpPr/>
          <p:nvPr/>
        </p:nvSpPr>
        <p:spPr>
          <a:xfrm rot="5400000">
            <a:off x="2225165"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7" name="二等辺三角形 36">
            <a:extLst>
              <a:ext uri="{FF2B5EF4-FFF2-40B4-BE49-F238E27FC236}">
                <a16:creationId xmlns:a16="http://schemas.microsoft.com/office/drawing/2014/main" id="{9D8E2C96-1207-00B8-6FC3-23370EFD7A03}"/>
              </a:ext>
            </a:extLst>
          </p:cNvPr>
          <p:cNvSpPr/>
          <p:nvPr/>
        </p:nvSpPr>
        <p:spPr>
          <a:xfrm rot="5400000">
            <a:off x="2341737"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8" name="正方形/長方形 37">
            <a:extLst>
              <a:ext uri="{FF2B5EF4-FFF2-40B4-BE49-F238E27FC236}">
                <a16:creationId xmlns:a16="http://schemas.microsoft.com/office/drawing/2014/main" id="{28671F13-F479-AFF6-9832-C7C00D2D05EE}"/>
              </a:ext>
            </a:extLst>
          </p:cNvPr>
          <p:cNvSpPr/>
          <p:nvPr/>
        </p:nvSpPr>
        <p:spPr>
          <a:xfrm>
            <a:off x="614547" y="4198381"/>
            <a:ext cx="1154315" cy="24415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latin typeface="メイリオ" panose="020B0604030504040204" pitchFamily="50" charset="-128"/>
                <a:ea typeface="メイリオ" panose="020B0604030504040204" pitchFamily="50" charset="-128"/>
                <a:cs typeface="メイリオ"/>
              </a:rPr>
              <a:t>フォーム</a:t>
            </a:r>
          </a:p>
        </p:txBody>
      </p:sp>
      <p:pic>
        <p:nvPicPr>
          <p:cNvPr id="40" name="図 39" descr="テキスト, 手紙&#10;&#10;AI 生成コンテンツは誤りを含む可能性があります。">
            <a:extLst>
              <a:ext uri="{FF2B5EF4-FFF2-40B4-BE49-F238E27FC236}">
                <a16:creationId xmlns:a16="http://schemas.microsoft.com/office/drawing/2014/main" id="{2B8DDCE0-83B3-5BAA-0FFE-3D329FBE2D94}"/>
              </a:ext>
            </a:extLst>
          </p:cNvPr>
          <p:cNvPicPr>
            <a:picLocks noChangeAspect="1"/>
          </p:cNvPicPr>
          <p:nvPr/>
        </p:nvPicPr>
        <p:blipFill>
          <a:blip r:embed="rId6" cstate="print">
            <a:extLst>
              <a:ext uri="{28A0092B-C50C-407E-A947-70E740481C1C}">
                <a14:useLocalDpi xmlns:a14="http://schemas.microsoft.com/office/drawing/2010/main" val="0"/>
              </a:ext>
            </a:extLst>
          </a:blip>
          <a:srcRect t="4580"/>
          <a:stretch>
            <a:fillRect/>
          </a:stretch>
        </p:blipFill>
        <p:spPr>
          <a:xfrm>
            <a:off x="663353" y="2289246"/>
            <a:ext cx="1048252" cy="1775437"/>
          </a:xfrm>
          <a:prstGeom prst="rect">
            <a:avLst/>
          </a:prstGeom>
        </p:spPr>
      </p:pic>
      <p:pic>
        <p:nvPicPr>
          <p:cNvPr id="41" name="図 40">
            <a:extLst>
              <a:ext uri="{FF2B5EF4-FFF2-40B4-BE49-F238E27FC236}">
                <a16:creationId xmlns:a16="http://schemas.microsoft.com/office/drawing/2014/main" id="{EE7C7FD3-78CB-4D67-F96A-D6F8017FE224}"/>
              </a:ext>
            </a:extLst>
          </p:cNvPr>
          <p:cNvPicPr>
            <a:picLocks noChangeAspect="1"/>
          </p:cNvPicPr>
          <p:nvPr/>
        </p:nvPicPr>
        <p:blipFill>
          <a:blip r:embed="rId7"/>
          <a:stretch>
            <a:fillRect/>
          </a:stretch>
        </p:blipFill>
        <p:spPr>
          <a:xfrm>
            <a:off x="641171" y="2325575"/>
            <a:ext cx="494484" cy="86136"/>
          </a:xfrm>
          <a:prstGeom prst="rect">
            <a:avLst/>
          </a:prstGeom>
        </p:spPr>
      </p:pic>
      <p:pic>
        <p:nvPicPr>
          <p:cNvPr id="42" name="図 41">
            <a:extLst>
              <a:ext uri="{FF2B5EF4-FFF2-40B4-BE49-F238E27FC236}">
                <a16:creationId xmlns:a16="http://schemas.microsoft.com/office/drawing/2014/main" id="{2E6CA8C2-2D04-CD9A-C431-4766768BBF3D}"/>
              </a:ext>
            </a:extLst>
          </p:cNvPr>
          <p:cNvPicPr>
            <a:picLocks noChangeAspect="1"/>
          </p:cNvPicPr>
          <p:nvPr/>
        </p:nvPicPr>
        <p:blipFill>
          <a:blip r:embed="rId7"/>
          <a:stretch>
            <a:fillRect/>
          </a:stretch>
        </p:blipFill>
        <p:spPr>
          <a:xfrm>
            <a:off x="630233" y="2328011"/>
            <a:ext cx="494484" cy="86136"/>
          </a:xfrm>
          <a:prstGeom prst="rect">
            <a:avLst/>
          </a:prstGeom>
        </p:spPr>
      </p:pic>
      <p:pic>
        <p:nvPicPr>
          <p:cNvPr id="47" name="図 46">
            <a:extLst>
              <a:ext uri="{FF2B5EF4-FFF2-40B4-BE49-F238E27FC236}">
                <a16:creationId xmlns:a16="http://schemas.microsoft.com/office/drawing/2014/main" id="{E5BE860E-2799-E5F4-ADCA-4ADBD44E0D0C}"/>
              </a:ext>
            </a:extLst>
          </p:cNvPr>
          <p:cNvPicPr>
            <a:picLocks noChangeAspect="1"/>
          </p:cNvPicPr>
          <p:nvPr/>
        </p:nvPicPr>
        <p:blipFill>
          <a:blip r:embed="rId7"/>
          <a:stretch>
            <a:fillRect/>
          </a:stretch>
        </p:blipFill>
        <p:spPr>
          <a:xfrm>
            <a:off x="810116" y="3773334"/>
            <a:ext cx="494484" cy="86136"/>
          </a:xfrm>
          <a:prstGeom prst="rect">
            <a:avLst/>
          </a:prstGeom>
        </p:spPr>
      </p:pic>
      <p:pic>
        <p:nvPicPr>
          <p:cNvPr id="55" name="図 54">
            <a:extLst>
              <a:ext uri="{FF2B5EF4-FFF2-40B4-BE49-F238E27FC236}">
                <a16:creationId xmlns:a16="http://schemas.microsoft.com/office/drawing/2014/main" id="{8AF12F67-4C9A-867F-4608-8FE9DA811630}"/>
              </a:ext>
            </a:extLst>
          </p:cNvPr>
          <p:cNvPicPr>
            <a:picLocks noChangeAspect="1"/>
          </p:cNvPicPr>
          <p:nvPr/>
        </p:nvPicPr>
        <p:blipFill>
          <a:blip r:embed="rId8"/>
          <a:stretch>
            <a:fillRect/>
          </a:stretch>
        </p:blipFill>
        <p:spPr>
          <a:xfrm>
            <a:off x="647157" y="2445202"/>
            <a:ext cx="1076073" cy="1468487"/>
          </a:xfrm>
          <a:prstGeom prst="rect">
            <a:avLst/>
          </a:prstGeom>
        </p:spPr>
      </p:pic>
      <p:pic>
        <p:nvPicPr>
          <p:cNvPr id="1024" name="図 1023">
            <a:extLst>
              <a:ext uri="{FF2B5EF4-FFF2-40B4-BE49-F238E27FC236}">
                <a16:creationId xmlns:a16="http://schemas.microsoft.com/office/drawing/2014/main" id="{E5E4719A-E6F5-34E0-F2FD-37322E2A76AA}"/>
              </a:ext>
            </a:extLst>
          </p:cNvPr>
          <p:cNvPicPr>
            <a:picLocks noChangeAspect="1"/>
          </p:cNvPicPr>
          <p:nvPr/>
        </p:nvPicPr>
        <p:blipFill>
          <a:blip r:embed="rId9"/>
          <a:stretch>
            <a:fillRect/>
          </a:stretch>
        </p:blipFill>
        <p:spPr>
          <a:xfrm>
            <a:off x="1125324" y="2303179"/>
            <a:ext cx="560995" cy="133465"/>
          </a:xfrm>
          <a:prstGeom prst="rect">
            <a:avLst/>
          </a:prstGeom>
        </p:spPr>
      </p:pic>
      <p:sp>
        <p:nvSpPr>
          <p:cNvPr id="1026" name="テキスト ボックス 1025">
            <a:extLst>
              <a:ext uri="{FF2B5EF4-FFF2-40B4-BE49-F238E27FC236}">
                <a16:creationId xmlns:a16="http://schemas.microsoft.com/office/drawing/2014/main" id="{1B57767B-4EA3-C247-B88C-4D505A95BD20}"/>
              </a:ext>
            </a:extLst>
          </p:cNvPr>
          <p:cNvSpPr txBox="1"/>
          <p:nvPr/>
        </p:nvSpPr>
        <p:spPr>
          <a:xfrm>
            <a:off x="-490844" y="4711039"/>
            <a:ext cx="3405553" cy="400110"/>
          </a:xfrm>
          <a:prstGeom prst="rect">
            <a:avLst/>
          </a:prstGeom>
          <a:noFill/>
        </p:spPr>
        <p:txBody>
          <a:bodyPr wrap="square">
            <a:spAutoFit/>
          </a:bodyPr>
          <a:lstStyle/>
          <a:p>
            <a:pPr algn="ctr"/>
            <a:r>
              <a:rPr lang="en-US" altLang="ja-JP" sz="1000" b="1" dirty="0">
                <a:solidFill>
                  <a:srgbClr val="FF0000"/>
                </a:solidFill>
                <a:latin typeface="メイリオ" panose="020B0604030504040204" pitchFamily="50" charset="-128"/>
                <a:ea typeface="メイリオ" panose="020B0604030504040204" pitchFamily="50" charset="-128"/>
                <a:cs typeface="メイリオ"/>
              </a:rPr>
              <a:t>※</a:t>
            </a:r>
            <a:r>
              <a:rPr lang="ja-JP" altLang="en-US" sz="1000" b="1" dirty="0">
                <a:solidFill>
                  <a:srgbClr val="FF0000"/>
                </a:solidFill>
                <a:latin typeface="メイリオ" panose="020B0604030504040204" pitchFamily="50" charset="-128"/>
                <a:ea typeface="メイリオ" panose="020B0604030504040204" pitchFamily="50" charset="-128"/>
                <a:cs typeface="メイリオ"/>
              </a:rPr>
              <a:t>入力した内容を</a:t>
            </a:r>
            <a:endParaRPr lang="en-US" altLang="ja-JP" sz="1000" b="1" dirty="0">
              <a:solidFill>
                <a:srgbClr val="FF0000"/>
              </a:solidFill>
              <a:latin typeface="メイリオ" panose="020B0604030504040204" pitchFamily="50" charset="-128"/>
              <a:ea typeface="メイリオ" panose="020B0604030504040204" pitchFamily="50" charset="-128"/>
              <a:cs typeface="メイリオ"/>
            </a:endParaRPr>
          </a:p>
          <a:p>
            <a:pPr algn="ctr"/>
            <a:r>
              <a:rPr lang="ja-JP" altLang="en-US" sz="1000" b="1" dirty="0">
                <a:solidFill>
                  <a:srgbClr val="FF0000"/>
                </a:solidFill>
                <a:latin typeface="メイリオ" panose="020B0604030504040204" pitchFamily="50" charset="-128"/>
                <a:ea typeface="メイリオ" panose="020B0604030504040204" pitchFamily="50" charset="-128"/>
                <a:cs typeface="メイリオ"/>
              </a:rPr>
              <a:t>トークに反映が可能。</a:t>
            </a:r>
            <a:endParaRPr lang="en-US" altLang="ja-JP" sz="1000" b="1" dirty="0">
              <a:solidFill>
                <a:srgbClr val="FF0000"/>
              </a:solidFill>
              <a:latin typeface="メイリオ" panose="020B0604030504040204" pitchFamily="50" charset="-128"/>
              <a:ea typeface="メイリオ" panose="020B0604030504040204" pitchFamily="50" charset="-128"/>
              <a:cs typeface="メイリオ"/>
            </a:endParaRPr>
          </a:p>
        </p:txBody>
      </p:sp>
      <p:sp>
        <p:nvSpPr>
          <p:cNvPr id="1032" name="正方形/長方形 1031">
            <a:extLst>
              <a:ext uri="{FF2B5EF4-FFF2-40B4-BE49-F238E27FC236}">
                <a16:creationId xmlns:a16="http://schemas.microsoft.com/office/drawing/2014/main" id="{D1D96D42-255C-636E-49E5-2CDA95DD6764}"/>
              </a:ext>
            </a:extLst>
          </p:cNvPr>
          <p:cNvSpPr/>
          <p:nvPr/>
        </p:nvSpPr>
        <p:spPr>
          <a:xfrm>
            <a:off x="2584156" y="2196668"/>
            <a:ext cx="1778402" cy="3994401"/>
          </a:xfrm>
          <a:prstGeom prst="rect">
            <a:avLst/>
          </a:prstGeom>
          <a:solidFill>
            <a:schemeClr val="bg1"/>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034" name="正方形/長方形 1033">
            <a:extLst>
              <a:ext uri="{FF2B5EF4-FFF2-40B4-BE49-F238E27FC236}">
                <a16:creationId xmlns:a16="http://schemas.microsoft.com/office/drawing/2014/main" id="{8693E451-BCB1-207B-6B73-131F2A8588BF}"/>
              </a:ext>
            </a:extLst>
          </p:cNvPr>
          <p:cNvSpPr/>
          <p:nvPr/>
        </p:nvSpPr>
        <p:spPr>
          <a:xfrm>
            <a:off x="2909322" y="4198381"/>
            <a:ext cx="1154315" cy="244151"/>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b="1" dirty="0">
                <a:latin typeface="メイリオ" panose="020B0604030504040204" pitchFamily="50" charset="-128"/>
                <a:ea typeface="メイリオ" panose="020B0604030504040204" pitchFamily="50" charset="-128"/>
                <a:cs typeface="メイリオ"/>
              </a:rPr>
              <a:t>CV</a:t>
            </a:r>
            <a:endParaRPr kumimoji="1" lang="ja-JP" altLang="en-US" sz="1100" b="1" dirty="0">
              <a:latin typeface="メイリオ" panose="020B0604030504040204" pitchFamily="50" charset="-128"/>
              <a:ea typeface="メイリオ" panose="020B0604030504040204" pitchFamily="50" charset="-128"/>
              <a:cs typeface="メイリオ"/>
            </a:endParaRPr>
          </a:p>
        </p:txBody>
      </p:sp>
      <p:sp>
        <p:nvSpPr>
          <p:cNvPr id="1036" name="正方形/長方形 1035">
            <a:extLst>
              <a:ext uri="{FF2B5EF4-FFF2-40B4-BE49-F238E27FC236}">
                <a16:creationId xmlns:a16="http://schemas.microsoft.com/office/drawing/2014/main" id="{43EEA9CC-C52C-B219-FF18-6E6EA44E4D24}"/>
              </a:ext>
            </a:extLst>
          </p:cNvPr>
          <p:cNvSpPr/>
          <p:nvPr/>
        </p:nvSpPr>
        <p:spPr>
          <a:xfrm>
            <a:off x="2692868" y="4436119"/>
            <a:ext cx="1396722" cy="10450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・購入完了</a:t>
            </a:r>
            <a:endPar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・セミナー予約</a:t>
            </a:r>
            <a:endPar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・登録完了</a:t>
            </a:r>
            <a:endPar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・メルマガ登録</a:t>
            </a:r>
            <a:endParaRPr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・その他</a:t>
            </a:r>
          </a:p>
        </p:txBody>
      </p:sp>
      <p:pic>
        <p:nvPicPr>
          <p:cNvPr id="1038" name="図 1037" descr="テキスト, 手紙&#10;&#10;AI 生成コンテンツは誤りを含む可能性があります。">
            <a:extLst>
              <a:ext uri="{FF2B5EF4-FFF2-40B4-BE49-F238E27FC236}">
                <a16:creationId xmlns:a16="http://schemas.microsoft.com/office/drawing/2014/main" id="{85260668-6C66-A032-FFE0-0276021F9433}"/>
              </a:ext>
            </a:extLst>
          </p:cNvPr>
          <p:cNvPicPr>
            <a:picLocks noChangeAspect="1"/>
          </p:cNvPicPr>
          <p:nvPr/>
        </p:nvPicPr>
        <p:blipFill>
          <a:blip r:embed="rId6" cstate="print">
            <a:extLst>
              <a:ext uri="{28A0092B-C50C-407E-A947-70E740481C1C}">
                <a14:useLocalDpi xmlns:a14="http://schemas.microsoft.com/office/drawing/2010/main" val="0"/>
              </a:ext>
            </a:extLst>
          </a:blip>
          <a:srcRect t="4580"/>
          <a:stretch>
            <a:fillRect/>
          </a:stretch>
        </p:blipFill>
        <p:spPr>
          <a:xfrm>
            <a:off x="2977448" y="2296209"/>
            <a:ext cx="1048252" cy="1775437"/>
          </a:xfrm>
          <a:prstGeom prst="rect">
            <a:avLst/>
          </a:prstGeom>
        </p:spPr>
      </p:pic>
      <p:pic>
        <p:nvPicPr>
          <p:cNvPr id="1039" name="Picture 2" descr="買い物完了！イラスト｜無料イラスト・フリー素材なら「イラストAC」">
            <a:extLst>
              <a:ext uri="{FF2B5EF4-FFF2-40B4-BE49-F238E27FC236}">
                <a16:creationId xmlns:a16="http://schemas.microsoft.com/office/drawing/2014/main" id="{23D05307-D6FE-6284-27D3-3433EE0122E2}"/>
              </a:ext>
            </a:extLst>
          </p:cNvPr>
          <p:cNvPicPr>
            <a:picLocks noChangeAspect="1" noChangeArrowheads="1"/>
          </p:cNvPicPr>
          <p:nvPr/>
        </p:nvPicPr>
        <p:blipFill rotWithShape="1">
          <a:blip r:embed="rId10" cstate="print">
            <a:extLst>
              <a:ext uri="{28A0092B-C50C-407E-A947-70E740481C1C}">
                <a14:useLocalDpi xmlns:a14="http://schemas.microsoft.com/office/drawing/2010/main" val="0"/>
              </a:ext>
            </a:extLst>
          </a:blip>
          <a:srcRect l="20270" r="23682"/>
          <a:stretch>
            <a:fillRect/>
          </a:stretch>
        </p:blipFill>
        <p:spPr bwMode="auto">
          <a:xfrm>
            <a:off x="3866329" y="4627146"/>
            <a:ext cx="395417" cy="529521"/>
          </a:xfrm>
          <a:prstGeom prst="rect">
            <a:avLst/>
          </a:prstGeom>
          <a:noFill/>
          <a:extLst>
            <a:ext uri="{909E8E84-426E-40DD-AFC4-6F175D3DCCD1}">
              <a14:hiddenFill xmlns:a14="http://schemas.microsoft.com/office/drawing/2010/main">
                <a:solidFill>
                  <a:srgbClr val="FFFFFF"/>
                </a:solidFill>
              </a14:hiddenFill>
            </a:ext>
          </a:extLst>
        </p:spPr>
      </p:pic>
      <p:pic>
        <p:nvPicPr>
          <p:cNvPr id="1040" name="図 1039">
            <a:extLst>
              <a:ext uri="{FF2B5EF4-FFF2-40B4-BE49-F238E27FC236}">
                <a16:creationId xmlns:a16="http://schemas.microsoft.com/office/drawing/2014/main" id="{D40EFC68-F8C8-CACE-392A-C804A102B410}"/>
              </a:ext>
            </a:extLst>
          </p:cNvPr>
          <p:cNvPicPr>
            <a:picLocks noChangeAspect="1"/>
          </p:cNvPicPr>
          <p:nvPr/>
        </p:nvPicPr>
        <p:blipFill>
          <a:blip r:embed="rId7"/>
          <a:stretch>
            <a:fillRect/>
          </a:stretch>
        </p:blipFill>
        <p:spPr>
          <a:xfrm>
            <a:off x="2955266" y="2332538"/>
            <a:ext cx="494484" cy="86136"/>
          </a:xfrm>
          <a:prstGeom prst="rect">
            <a:avLst/>
          </a:prstGeom>
        </p:spPr>
      </p:pic>
      <p:pic>
        <p:nvPicPr>
          <p:cNvPr id="1041" name="図 1040">
            <a:extLst>
              <a:ext uri="{FF2B5EF4-FFF2-40B4-BE49-F238E27FC236}">
                <a16:creationId xmlns:a16="http://schemas.microsoft.com/office/drawing/2014/main" id="{BA9B0596-4197-6BA5-B58D-7E67FD1379B1}"/>
              </a:ext>
            </a:extLst>
          </p:cNvPr>
          <p:cNvPicPr>
            <a:picLocks noChangeAspect="1"/>
          </p:cNvPicPr>
          <p:nvPr/>
        </p:nvPicPr>
        <p:blipFill>
          <a:blip r:embed="rId7"/>
          <a:stretch>
            <a:fillRect/>
          </a:stretch>
        </p:blipFill>
        <p:spPr>
          <a:xfrm>
            <a:off x="2944328" y="2334974"/>
            <a:ext cx="494484" cy="86136"/>
          </a:xfrm>
          <a:prstGeom prst="rect">
            <a:avLst/>
          </a:prstGeom>
        </p:spPr>
      </p:pic>
      <p:pic>
        <p:nvPicPr>
          <p:cNvPr id="1042" name="図 1041">
            <a:extLst>
              <a:ext uri="{FF2B5EF4-FFF2-40B4-BE49-F238E27FC236}">
                <a16:creationId xmlns:a16="http://schemas.microsoft.com/office/drawing/2014/main" id="{A3D5D1CE-703D-3244-20B5-0CBB6C5EB467}"/>
              </a:ext>
            </a:extLst>
          </p:cNvPr>
          <p:cNvPicPr>
            <a:picLocks noChangeAspect="1"/>
          </p:cNvPicPr>
          <p:nvPr/>
        </p:nvPicPr>
        <p:blipFill>
          <a:blip r:embed="rId7"/>
          <a:stretch>
            <a:fillRect/>
          </a:stretch>
        </p:blipFill>
        <p:spPr>
          <a:xfrm>
            <a:off x="3124211" y="3780297"/>
            <a:ext cx="494484" cy="86136"/>
          </a:xfrm>
          <a:prstGeom prst="rect">
            <a:avLst/>
          </a:prstGeom>
        </p:spPr>
      </p:pic>
      <p:sp>
        <p:nvSpPr>
          <p:cNvPr id="1043" name="テキスト ボックス 1042">
            <a:extLst>
              <a:ext uri="{FF2B5EF4-FFF2-40B4-BE49-F238E27FC236}">
                <a16:creationId xmlns:a16="http://schemas.microsoft.com/office/drawing/2014/main" id="{434489DF-76E5-B08D-AB93-7A020A3C23F0}"/>
              </a:ext>
            </a:extLst>
          </p:cNvPr>
          <p:cNvSpPr txBox="1"/>
          <p:nvPr/>
        </p:nvSpPr>
        <p:spPr>
          <a:xfrm>
            <a:off x="1254839" y="5195928"/>
            <a:ext cx="1679395" cy="338554"/>
          </a:xfrm>
          <a:prstGeom prst="rect">
            <a:avLst/>
          </a:prstGeom>
          <a:solidFill>
            <a:schemeClr val="bg1">
              <a:alpha val="56000"/>
            </a:schemeClr>
          </a:solidFill>
        </p:spPr>
        <p:txBody>
          <a:bodyPr wrap="square">
            <a:spAutoFit/>
          </a:bodyPr>
          <a:lstStyle/>
          <a:p>
            <a:pPr algn="ctr"/>
            <a:r>
              <a:rPr lang="en-US" altLang="ja-JP" sz="800" b="1" dirty="0">
                <a:solidFill>
                  <a:schemeClr val="bg1">
                    <a:lumMod val="85000"/>
                  </a:schemeClr>
                </a:solidFill>
                <a:latin typeface="メイリオ" panose="020B0604030504040204" pitchFamily="50" charset="-128"/>
                <a:ea typeface="メイリオ" panose="020B0604030504040204" pitchFamily="50" charset="-128"/>
                <a:cs typeface="メイリオ"/>
              </a:rPr>
              <a:t>※</a:t>
            </a:r>
            <a:r>
              <a:rPr lang="ja-JP" altLang="en-US" sz="800" b="1" dirty="0">
                <a:solidFill>
                  <a:schemeClr val="bg1">
                    <a:lumMod val="85000"/>
                  </a:schemeClr>
                </a:solidFill>
                <a:latin typeface="メイリオ" panose="020B0604030504040204" pitchFamily="50" charset="-128"/>
                <a:ea typeface="メイリオ" panose="020B0604030504040204" pitchFamily="50" charset="-128"/>
                <a:cs typeface="メイリオ"/>
              </a:rPr>
              <a:t>ユーザーの個人情報収集が</a:t>
            </a:r>
            <a:endParaRPr lang="en-US" altLang="ja-JP" sz="800" b="1" dirty="0">
              <a:solidFill>
                <a:schemeClr val="bg1">
                  <a:lumMod val="85000"/>
                </a:schemeClr>
              </a:solidFill>
              <a:latin typeface="メイリオ" panose="020B0604030504040204" pitchFamily="50" charset="-128"/>
              <a:ea typeface="メイリオ" panose="020B0604030504040204" pitchFamily="50" charset="-128"/>
              <a:cs typeface="メイリオ"/>
            </a:endParaRPr>
          </a:p>
          <a:p>
            <a:pPr algn="ctr"/>
            <a:r>
              <a:rPr lang="ja-JP" altLang="en-US" sz="800" b="1" dirty="0">
                <a:solidFill>
                  <a:schemeClr val="bg1">
                    <a:lumMod val="85000"/>
                  </a:schemeClr>
                </a:solidFill>
                <a:latin typeface="メイリオ" panose="020B0604030504040204" pitchFamily="50" charset="-128"/>
                <a:ea typeface="メイリオ" panose="020B0604030504040204" pitchFamily="50" charset="-128"/>
                <a:cs typeface="メイリオ"/>
              </a:rPr>
              <a:t>完了したタイミング</a:t>
            </a:r>
            <a:endParaRPr kumimoji="1" lang="ja-JP" altLang="en-US" sz="800" b="1" dirty="0">
              <a:solidFill>
                <a:schemeClr val="bg1">
                  <a:lumMod val="85000"/>
                </a:schemeClr>
              </a:solidFill>
              <a:latin typeface="メイリオ" panose="020B0604030504040204" pitchFamily="50" charset="-128"/>
              <a:ea typeface="メイリオ" panose="020B0604030504040204" pitchFamily="50" charset="-128"/>
              <a:cs typeface="メイリオ"/>
            </a:endParaRPr>
          </a:p>
        </p:txBody>
      </p:sp>
      <p:grpSp>
        <p:nvGrpSpPr>
          <p:cNvPr id="3" name="グループ化 2">
            <a:extLst>
              <a:ext uri="{FF2B5EF4-FFF2-40B4-BE49-F238E27FC236}">
                <a16:creationId xmlns:a16="http://schemas.microsoft.com/office/drawing/2014/main" id="{E76D8F54-2926-2D56-7238-F66ACCBC4F20}"/>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98F6BB16-EFC6-9846-2A11-E624E876E64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560EDF30-5F09-B70A-2993-8CD4F9E40EFA}"/>
                </a:ext>
              </a:extLst>
            </p:cNvPr>
            <p:cNvSpPr txBox="1"/>
            <p:nvPr/>
          </p:nvSpPr>
          <p:spPr>
            <a:xfrm>
              <a:off x="1140096" y="988192"/>
              <a:ext cx="1832553"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サンクス</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LINE</a:t>
              </a: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誘導</a:t>
              </a:r>
            </a:p>
          </p:txBody>
        </p:sp>
      </p:grpSp>
      <p:sp>
        <p:nvSpPr>
          <p:cNvPr id="6" name="正方形/長方形 5">
            <a:extLst>
              <a:ext uri="{FF2B5EF4-FFF2-40B4-BE49-F238E27FC236}">
                <a16:creationId xmlns:a16="http://schemas.microsoft.com/office/drawing/2014/main" id="{8B20BFF3-9D3E-A4D7-FF5A-70927F78FC9D}"/>
              </a:ext>
            </a:extLst>
          </p:cNvPr>
          <p:cNvSpPr/>
          <p:nvPr/>
        </p:nvSpPr>
        <p:spPr>
          <a:xfrm>
            <a:off x="8247347" y="4702330"/>
            <a:ext cx="899499" cy="79959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7" name="コネクタ: カギ線 6">
            <a:extLst>
              <a:ext uri="{FF2B5EF4-FFF2-40B4-BE49-F238E27FC236}">
                <a16:creationId xmlns:a16="http://schemas.microsoft.com/office/drawing/2014/main" id="{C5EB654A-0759-70F8-6BA7-95CA3A0F983F}"/>
              </a:ext>
            </a:extLst>
          </p:cNvPr>
          <p:cNvCxnSpPr>
            <a:cxnSpLocks/>
          </p:cNvCxnSpPr>
          <p:nvPr/>
        </p:nvCxnSpPr>
        <p:spPr>
          <a:xfrm flipV="1">
            <a:off x="7672763" y="5102505"/>
            <a:ext cx="574585" cy="332494"/>
          </a:xfrm>
          <a:prstGeom prst="bentConnector3">
            <a:avLst>
              <a:gd name="adj1" fmla="val 50000"/>
            </a:avLst>
          </a:prstGeom>
          <a:ln w="15875">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3" name="直線矢印コネクタ 12">
            <a:extLst>
              <a:ext uri="{FF2B5EF4-FFF2-40B4-BE49-F238E27FC236}">
                <a16:creationId xmlns:a16="http://schemas.microsoft.com/office/drawing/2014/main" id="{218E3FE3-7B20-5966-421F-4ECB81603538}"/>
              </a:ext>
            </a:extLst>
          </p:cNvPr>
          <p:cNvCxnSpPr>
            <a:cxnSpLocks/>
            <a:stCxn id="48" idx="2"/>
            <a:endCxn id="21" idx="0"/>
          </p:cNvCxnSpPr>
          <p:nvPr/>
        </p:nvCxnSpPr>
        <p:spPr>
          <a:xfrm>
            <a:off x="6904149" y="3132263"/>
            <a:ext cx="1" cy="1334625"/>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9" name="テキスト ボックス 18">
            <a:extLst>
              <a:ext uri="{FF2B5EF4-FFF2-40B4-BE49-F238E27FC236}">
                <a16:creationId xmlns:a16="http://schemas.microsoft.com/office/drawing/2014/main" id="{DBDB9444-3A0E-B235-58FC-9F8C81BAEA44}"/>
              </a:ext>
            </a:extLst>
          </p:cNvPr>
          <p:cNvSpPr txBox="1"/>
          <p:nvPr/>
        </p:nvSpPr>
        <p:spPr>
          <a:xfrm>
            <a:off x="6323825" y="3523709"/>
            <a:ext cx="1161782" cy="261610"/>
          </a:xfrm>
          <a:prstGeom prst="rect">
            <a:avLst/>
          </a:prstGeom>
          <a:solidFill>
            <a:schemeClr val="bg1">
              <a:alpha val="70000"/>
            </a:schemeClr>
          </a:solidFill>
        </p:spPr>
        <p:txBody>
          <a:bodyPr wrap="square">
            <a:spAutoFit/>
          </a:bodyPr>
          <a:lstStyle/>
          <a:p>
            <a:pPr algn="ctr"/>
            <a:r>
              <a:rPr kumimoji="1" lang="ja-JP" altLang="en-US" sz="1100" b="1" dirty="0">
                <a:solidFill>
                  <a:srgbClr val="00C057"/>
                </a:solidFill>
                <a:latin typeface="メイリオ" panose="020B0604030504040204" pitchFamily="50" charset="-128"/>
                <a:ea typeface="メイリオ" panose="020B0604030504040204" pitchFamily="50" charset="-128"/>
                <a:cs typeface="メイリオ"/>
              </a:rPr>
              <a:t>友だち追加後</a:t>
            </a:r>
            <a:endParaRPr lang="ja-JP" altLang="en-US" sz="1100" dirty="0">
              <a:solidFill>
                <a:srgbClr val="00C057"/>
              </a:solidFill>
              <a:latin typeface="メイリオ"/>
              <a:ea typeface="メイリオ"/>
              <a:cs typeface="メイリオ"/>
            </a:endParaRPr>
          </a:p>
        </p:txBody>
      </p:sp>
      <p:sp>
        <p:nvSpPr>
          <p:cNvPr id="9" name="正方形/長方形 8">
            <a:extLst>
              <a:ext uri="{FF2B5EF4-FFF2-40B4-BE49-F238E27FC236}">
                <a16:creationId xmlns:a16="http://schemas.microsoft.com/office/drawing/2014/main" id="{DC4FF56C-47EE-47DB-92F1-3F0EF57613D9}"/>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ja-JP" altLang="en-US" sz="1600" dirty="0">
                <a:latin typeface="メイリオ"/>
                <a:ea typeface="メイリオ"/>
                <a:cs typeface="メイリオ"/>
                <a:sym typeface="Meiryo"/>
              </a:rPr>
              <a:t>サンクス到達時の</a:t>
            </a:r>
            <a:r>
              <a:rPr lang="en-US" altLang="ja-JP" sz="1600" dirty="0">
                <a:latin typeface="メイリオ"/>
                <a:ea typeface="メイリオ"/>
                <a:cs typeface="メイリオ"/>
                <a:sym typeface="Meiryo"/>
              </a:rPr>
              <a:t>LINE</a:t>
            </a:r>
            <a:r>
              <a:rPr lang="ja-JP" altLang="en-US" sz="1600" dirty="0">
                <a:latin typeface="メイリオ"/>
                <a:ea typeface="メイリオ"/>
                <a:cs typeface="メイリオ"/>
                <a:sym typeface="Meiryo"/>
              </a:rPr>
              <a:t>動線が弊社開発により可能に。</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費用を抑えての導入が可能で、新規反響の質改善に寄与。</a:t>
            </a:r>
          </a:p>
        </p:txBody>
      </p:sp>
      <p:sp>
        <p:nvSpPr>
          <p:cNvPr id="14" name="テキスト ボックス 13">
            <a:extLst>
              <a:ext uri="{FF2B5EF4-FFF2-40B4-BE49-F238E27FC236}">
                <a16:creationId xmlns:a16="http://schemas.microsoft.com/office/drawing/2014/main" id="{5ED6F7D2-546D-BF9F-9805-58455D7E2831}"/>
              </a:ext>
            </a:extLst>
          </p:cNvPr>
          <p:cNvSpPr txBox="1"/>
          <p:nvPr/>
        </p:nvSpPr>
        <p:spPr>
          <a:xfrm>
            <a:off x="4091506" y="1549623"/>
            <a:ext cx="4718625"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cs typeface="メイリオ"/>
                <a:sym typeface="Meiryo"/>
              </a:rPr>
              <a:t>※</a:t>
            </a:r>
            <a:r>
              <a:rPr lang="ja-JP" altLang="en-US" sz="900" dirty="0">
                <a:solidFill>
                  <a:srgbClr val="FF0000"/>
                </a:solidFill>
                <a:latin typeface="メイリオ" panose="020B0604030504040204" pitchFamily="50" charset="-128"/>
                <a:ea typeface="メイリオ" panose="020B0604030504040204" pitchFamily="50" charset="-128"/>
                <a:cs typeface="メイリオ"/>
                <a:sym typeface="Meiryo"/>
              </a:rPr>
              <a:t>既存</a:t>
            </a:r>
            <a:r>
              <a:rPr lang="en-US" altLang="ja-JP" sz="900" dirty="0">
                <a:solidFill>
                  <a:srgbClr val="FF0000"/>
                </a:solidFill>
                <a:latin typeface="メイリオ" panose="020B0604030504040204" pitchFamily="50" charset="-128"/>
                <a:ea typeface="メイリオ" panose="020B0604030504040204" pitchFamily="50" charset="-128"/>
                <a:cs typeface="メイリオ"/>
                <a:sym typeface="Meiryo"/>
              </a:rPr>
              <a:t>API</a:t>
            </a:r>
            <a:r>
              <a:rPr lang="ja-JP" altLang="en-US" sz="900" dirty="0">
                <a:solidFill>
                  <a:srgbClr val="FF0000"/>
                </a:solidFill>
                <a:latin typeface="メイリオ" panose="020B0604030504040204" pitchFamily="50" charset="-128"/>
                <a:ea typeface="メイリオ" panose="020B0604030504040204" pitchFamily="50" charset="-128"/>
                <a:cs typeface="メイリオ"/>
                <a:sym typeface="Meiryo"/>
              </a:rPr>
              <a:t>ツールとの併用についても、問題なく稼働が可能。</a:t>
            </a:r>
            <a:endParaRPr lang="ja-JP" altLang="en-US" sz="900" dirty="0">
              <a:solidFill>
                <a:srgbClr val="FF0000"/>
              </a:solidFill>
              <a:latin typeface="メイリオ"/>
              <a:ea typeface="メイリオ"/>
              <a:cs typeface="メイリオ"/>
            </a:endParaRPr>
          </a:p>
        </p:txBody>
      </p:sp>
      <p:sp>
        <p:nvSpPr>
          <p:cNvPr id="8" name="正方形/長方形 7">
            <a:extLst>
              <a:ext uri="{FF2B5EF4-FFF2-40B4-BE49-F238E27FC236}">
                <a16:creationId xmlns:a16="http://schemas.microsoft.com/office/drawing/2014/main" id="{F5B8C83A-7191-D772-EF88-AE268D007E6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26" name="Google Shape;51;p19">
            <a:extLst>
              <a:ext uri="{FF2B5EF4-FFF2-40B4-BE49-F238E27FC236}">
                <a16:creationId xmlns:a16="http://schemas.microsoft.com/office/drawing/2014/main" id="{A4070FDA-7C99-27DE-6A9C-437C1D5DD3B3}"/>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初期：15万円</a:t>
            </a:r>
            <a:endParaRPr sz="1400" b="1" i="0" u="none" strike="noStrike" cap="none" dirty="0">
              <a:solidFill>
                <a:schemeClr val="lt1"/>
              </a:solidFill>
              <a:latin typeface="メイリオ"/>
              <a:ea typeface="メイリオ"/>
              <a:cs typeface="メイリオ"/>
              <a:sym typeface="Meiryo"/>
            </a:endParaRPr>
          </a:p>
        </p:txBody>
      </p:sp>
      <p:sp>
        <p:nvSpPr>
          <p:cNvPr id="28" name="Google Shape;51;p19">
            <a:extLst>
              <a:ext uri="{FF2B5EF4-FFF2-40B4-BE49-F238E27FC236}">
                <a16:creationId xmlns:a16="http://schemas.microsoft.com/office/drawing/2014/main" id="{40C4675F-5DCC-DD57-BE14-B3A7697A02CD}"/>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3</a:t>
            </a:r>
            <a:r>
              <a:rPr lang="ja-JP" altLang="en-US" sz="1400" b="1" i="0" u="none" strike="noStrike" cap="none" dirty="0">
                <a:solidFill>
                  <a:schemeClr val="lt1"/>
                </a:solidFill>
                <a:latin typeface="メイリオ"/>
                <a:ea typeface="メイリオ"/>
                <a:cs typeface="メイリオ"/>
                <a:sym typeface="Meiryo"/>
              </a:rPr>
              <a:t>万円～</a:t>
            </a:r>
            <a:endParaRPr lang="en-US" altLang="ja-JP" sz="1400" b="1" i="0" u="none" strike="noStrike" cap="none" dirty="0">
              <a:solidFill>
                <a:schemeClr val="lt1"/>
              </a:solidFill>
              <a:latin typeface="メイリオ"/>
              <a:ea typeface="メイリオ"/>
              <a:cs typeface="メイリオ"/>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00"/>
                </a:solidFill>
                <a:latin typeface="メイリオ"/>
                <a:ea typeface="メイリオ"/>
                <a:cs typeface="メイリオ"/>
                <a:sym typeface="Meiryo"/>
              </a:rPr>
              <a:t>+</a:t>
            </a:r>
            <a:r>
              <a:rPr lang="ja-JP" altLang="en-US" sz="1050" b="1" dirty="0">
                <a:solidFill>
                  <a:srgbClr val="FFFF00"/>
                </a:solidFill>
                <a:latin typeface="メイリオ"/>
                <a:ea typeface="メイリオ"/>
                <a:cs typeface="メイリオ"/>
                <a:sym typeface="Meiryo"/>
              </a:rPr>
              <a:t>設定地点追加</a:t>
            </a:r>
            <a:endParaRPr sz="1050" b="1" i="0" u="none" strike="noStrike" cap="none" dirty="0">
              <a:solidFill>
                <a:srgbClr val="FFFF00"/>
              </a:solidFill>
              <a:latin typeface="メイリオ"/>
              <a:ea typeface="メイリオ"/>
              <a:cs typeface="メイリオ"/>
              <a:sym typeface="Meiryo"/>
            </a:endParaRPr>
          </a:p>
        </p:txBody>
      </p:sp>
      <p:cxnSp>
        <p:nvCxnSpPr>
          <p:cNvPr id="30" name="コネクタ: カギ線 29">
            <a:extLst>
              <a:ext uri="{FF2B5EF4-FFF2-40B4-BE49-F238E27FC236}">
                <a16:creationId xmlns:a16="http://schemas.microsoft.com/office/drawing/2014/main" id="{D9706AF3-2C8D-6646-76C8-7802A4F734FC}"/>
              </a:ext>
            </a:extLst>
          </p:cNvPr>
          <p:cNvCxnSpPr>
            <a:cxnSpLocks/>
          </p:cNvCxnSpPr>
          <p:nvPr/>
        </p:nvCxnSpPr>
        <p:spPr>
          <a:xfrm rot="16200000" flipH="1">
            <a:off x="3294819" y="3047336"/>
            <a:ext cx="430977" cy="4596748"/>
          </a:xfrm>
          <a:prstGeom prst="bentConnector2">
            <a:avLst/>
          </a:prstGeom>
          <a:ln w="15875">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0" name="テキスト ボックス 49">
            <a:extLst>
              <a:ext uri="{FF2B5EF4-FFF2-40B4-BE49-F238E27FC236}">
                <a16:creationId xmlns:a16="http://schemas.microsoft.com/office/drawing/2014/main" id="{97C92C6B-4F06-7ED3-0627-D0C168299913}"/>
              </a:ext>
            </a:extLst>
          </p:cNvPr>
          <p:cNvSpPr txBox="1"/>
          <p:nvPr/>
        </p:nvSpPr>
        <p:spPr>
          <a:xfrm>
            <a:off x="115187" y="5639542"/>
            <a:ext cx="5785781" cy="461665"/>
          </a:xfrm>
          <a:prstGeom prst="rect">
            <a:avLst/>
          </a:prstGeom>
          <a:solidFill>
            <a:schemeClr val="bg1">
              <a:alpha val="62000"/>
            </a:schemeClr>
          </a:solidFill>
        </p:spPr>
        <p:txBody>
          <a:bodyPr wrap="square">
            <a:spAutoFit/>
          </a:bodyPr>
          <a:lstStyle/>
          <a:p>
            <a:pPr algn="ctr"/>
            <a:r>
              <a:rPr lang="ja-JP" altLang="ja-JP" sz="1200" dirty="0">
                <a:latin typeface="メイリオ" panose="020B0604030504040204" pitchFamily="50" charset="-128"/>
                <a:ea typeface="メイリオ" panose="020B0604030504040204" pitchFamily="50" charset="-128"/>
                <a:cs typeface="メイリオ"/>
              </a:rPr>
              <a:t>高開封率のLINEに誘導</a:t>
            </a:r>
            <a:r>
              <a:rPr lang="ja-JP" altLang="en-US" sz="1200" dirty="0">
                <a:latin typeface="メイリオ" panose="020B0604030504040204" pitchFamily="50" charset="-128"/>
                <a:ea typeface="メイリオ" panose="020B0604030504040204" pitchFamily="50" charset="-128"/>
                <a:cs typeface="メイリオ"/>
              </a:rPr>
              <a:t>して</a:t>
            </a:r>
            <a:r>
              <a:rPr lang="ja-JP" altLang="ja-JP" sz="1200" dirty="0">
                <a:latin typeface="メイリオ" panose="020B0604030504040204" pitchFamily="50" charset="-128"/>
                <a:ea typeface="メイリオ" panose="020B0604030504040204" pitchFamily="50" charset="-128"/>
                <a:cs typeface="メイリオ"/>
              </a:rPr>
              <a:t>反響→実売上への引上げ率、リピート率改善。</a:t>
            </a:r>
            <a:endParaRPr lang="en-US" altLang="ja-JP" sz="1200" dirty="0">
              <a:latin typeface="メイリオ" panose="020B0604030504040204" pitchFamily="50" charset="-128"/>
              <a:ea typeface="メイリオ" panose="020B0604030504040204" pitchFamily="50" charset="-128"/>
              <a:cs typeface="メイリオ"/>
            </a:endParaRPr>
          </a:p>
          <a:p>
            <a:pPr algn="ctr"/>
            <a:r>
              <a:rPr lang="ja-JP" altLang="ja-JP" sz="1200" dirty="0">
                <a:latin typeface="メイリオ" panose="020B0604030504040204" pitchFamily="50" charset="-128"/>
                <a:ea typeface="メイリオ" panose="020B0604030504040204" pitchFamily="50" charset="-128"/>
                <a:cs typeface="メイリオ"/>
              </a:rPr>
              <a:t> </a:t>
            </a:r>
            <a:r>
              <a:rPr lang="ja-JP" altLang="ja-JP" sz="1200" b="1" dirty="0">
                <a:solidFill>
                  <a:srgbClr val="002060"/>
                </a:solidFill>
                <a:latin typeface="メイリオ" panose="020B0604030504040204" pitchFamily="50" charset="-128"/>
                <a:ea typeface="メイリオ" panose="020B0604030504040204" pitchFamily="50" charset="-128"/>
                <a:cs typeface="メイリオ"/>
              </a:rPr>
              <a:t>弊社運用の美容クリニック様では、予約後来院率にて40-50%程度の改善を実現</a:t>
            </a:r>
            <a:r>
              <a:rPr lang="ja-JP" altLang="ja-JP" sz="1200" dirty="0">
                <a:latin typeface="メイリオ" panose="020B0604030504040204" pitchFamily="50" charset="-128"/>
                <a:ea typeface="メイリオ" panose="020B0604030504040204" pitchFamily="50" charset="-128"/>
                <a:cs typeface="メイリオ"/>
              </a:rPr>
              <a:t>。</a:t>
            </a:r>
            <a:endParaRPr lang="ja-JP" altLang="en-US" sz="1200" dirty="0">
              <a:latin typeface="メイリオ" panose="020B0604030504040204" pitchFamily="50" charset="-128"/>
              <a:ea typeface="メイリオ" panose="020B0604030504040204" pitchFamily="50" charset="-128"/>
              <a:cs typeface="メイリオ"/>
            </a:endParaRPr>
          </a:p>
        </p:txBody>
      </p:sp>
    </p:spTree>
  </p:cSld>
  <p:clrMapOvr>
    <a:masterClrMapping/>
  </p:clrMapOvr>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144904</TotalTime>
  <Words>3371</Words>
  <Application>Microsoft Office PowerPoint</Application>
  <PresentationFormat>A4 210 x 297 mm</PresentationFormat>
  <Paragraphs>647</Paragraphs>
  <Slides>31</Slides>
  <Notes>1</Notes>
  <HiddenSlides>0</HiddenSlides>
  <MMClips>0</MMClips>
  <ScaleCrop>false</ScaleCrop>
  <HeadingPairs>
    <vt:vector size="6" baseType="variant">
      <vt:variant>
        <vt:lpstr>使用されているフォント</vt:lpstr>
      </vt:variant>
      <vt:variant>
        <vt:i4>4</vt:i4>
      </vt:variant>
      <vt:variant>
        <vt:lpstr>テーマ</vt:lpstr>
      </vt:variant>
      <vt:variant>
        <vt:i4>2</vt:i4>
      </vt:variant>
      <vt:variant>
        <vt:lpstr>スライド タイトル</vt:lpstr>
      </vt:variant>
      <vt:variant>
        <vt:i4>31</vt:i4>
      </vt:variant>
    </vt:vector>
  </HeadingPairs>
  <TitlesOfParts>
    <vt:vector size="37" baseType="lpstr">
      <vt:lpstr>メイリオ</vt:lpstr>
      <vt:lpstr>Arial</vt:lpstr>
      <vt:lpstr>Calibri</vt:lpstr>
      <vt:lpstr>Century Gothic</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殿村 亮太</cp:lastModifiedBy>
  <cp:revision>1916</cp:revision>
  <cp:lastPrinted>2022-11-01T11:38:14Z</cp:lastPrinted>
  <dcterms:created xsi:type="dcterms:W3CDTF">2015-09-04T09:21:15Z</dcterms:created>
  <dcterms:modified xsi:type="dcterms:W3CDTF">2026-10-19T07:56:56Z</dcterms:modified>
</cp:coreProperties>
</file>