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73"/>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3.jpeg"/><Relationship Id="rId8" Type="http://schemas.openxmlformats.org/officeDocument/2006/relationships/image" Target="../media/image78.jpg"/><Relationship Id="rId9" Type="http://schemas.openxmlformats.org/officeDocument/2006/relationships/image" Target="../media/image24.png"/><Relationship Id="rId10" Type="http://schemas.openxmlformats.org/officeDocument/2006/relationships/image" Target="../media/image79.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入会後、LINEの接点が切れる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gridCol w="3566160"/>
                <a:gridCol w="35661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イベントのたびに集め直すのではなく、一度つながった方をLINEで次のイベントまで追い続ける。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gridCol w="2148840"/>
                <a:gridCol w="274320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nvGraphicFramePr>
        <p:xfrm>
          <a:off x="420624" y="1295399"/>
          <a:ext cx="9052560" cy="3794760"/>
        </p:xfrm>
        <a:graphic>
          <a:graphicData uri="http://schemas.openxmlformats.org/drawingml/2006/table">
            <a:tbl>
              <a:tblPr/>
              <a:tblGrid>
                <a:gridCol w="2011680"/>
                <a:gridCol w="7040880"/>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プロモーション目的</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500" b="1" dirty="0">
                          <a:solidFill>
                            <a:srgbClr val="1F2A5C"/>
                          </a:solidFill>
                          <a:latin typeface="メイリオ" panose="020B0604030504040204" pitchFamily="50" charset="-128"/>
                          <a:ea typeface="メイリオ" panose="020B0604030504040204" pitchFamily="50" charset="-128"/>
                        </a:rPr>
                        <a:t>広告で集めた方をLINEにため、次のイベント参加数・入会数を伸ばし、LTVを最大化する</a:t>
                      </a:r>
                      <a:endParaRPr lang="ja-JP" altLang="en-US" sz="15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686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配信目標</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6か月目に追える人数90人（ブロックされずに届く友だち）</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イベント期はセミナー予約・参加、イベントの後はサロン入会へつなげる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1887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手法（ご提案）</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① ポップアップツールとサンクスLINE誘導で、友だちを集める</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② 興味あり・予約・参加の段階ごとに、案内を変える</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③ 平常期の配信で、次のイベントまでつながりを保つ</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00584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＋αの施策</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過去のセミナー予約者・参加者へのご案内（通知メッセージ）</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サロンの申込み完了ページからのLINE誘導（サンクスLINE誘導）</a:t>
                      </a:r>
                      <a:endParaRPr lang="ja-JP" altLang="en-US" sz="1300" dirty="0"/>
                    </a:p>
                    <a:p>
                      <a:pPr algn="l">
                        <a:buNone/>
                      </a:pPr>
                      <a:r>
                        <a:rPr lang="ja-JP" altLang="en-US" sz="1100" b="0" dirty="0">
                          <a:solidFill>
                            <a:srgbClr val="7F7F7F"/>
                          </a:solidFill>
                          <a:latin typeface="メイリオ" panose="020B0604030504040204" pitchFamily="50" charset="-128"/>
                          <a:ea typeface="メイリオ" panose="020B0604030504040204" pitchFamily="50" charset="-128"/>
                        </a:rPr>
                        <a:t>※通知メッセージは、予約時の電話番号がある場合</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本質課題</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3つの課題は、ひとつの課題につながっている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KEY TAKEAWAY</a:t>
            </a:r>
            <a:endParaRPr lang="ja-JP" altLang="en-US" sz="1200" dirty="0"/>
          </a:p>
        </p:txBody>
      </p:sp>
      <p:sp>
        <p:nvSpPr>
          <p:cNvPr id="51" name="KEY TAKEAWAY"/>
          <p:cNvSpPr/>
          <p:nvPr/>
        </p:nvSpPr>
        <p:spPr>
          <a:xfrm>
            <a:off x="420624" y="1911095"/>
            <a:ext cx="9052560"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rPr>
              <a:t>イベントが終わると、集めた方との接点が切れる</a:t>
            </a:r>
            <a:endParaRPr lang="ja-JP" altLang="en-US" sz="1200" dirty="0"/>
          </a:p>
        </p:txBody>
      </p:sp>
      <p:graphicFrame>
        <p:nvGraphicFramePr>
          <p:cNvPr id="52" name="3つの課題と打ち手 51"/>
          <p:cNvGraphicFramePr>
            <a:graphicFrameLocks noGrp="1"/>
          </p:cNvGraphicFramePr>
          <p:nvPr/>
        </p:nvGraphicFramePr>
        <p:xfrm>
          <a:off x="420624" y="2926080"/>
          <a:ext cx="9052560" cy="2834640"/>
        </p:xfrm>
        <a:graphic>
          <a:graphicData uri="http://schemas.openxmlformats.org/drawingml/2006/table">
            <a:tbl>
              <a:tblPr/>
              <a:tblGrid>
                <a:gridCol w="1234440"/>
                <a:gridCol w="2606040"/>
                <a:gridCol w="4023360"/>
                <a:gridCol w="11887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段階</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いま起きていること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打ち手</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伸ばす数字</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01 集める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LPを離れる方・予約した方を、友だちにする手段が無い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・ポップアップツールで、離れる方を友だちに</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・サンクスLINE誘導で、予約した方を友だちに</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友だち数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02 追う</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次のイベントまで、情報を届ける手段が無い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・平常期の配信（月2回）で、つながりを保つ</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・見どころ動画・前日のお知らせで、予約・参加へ</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予約・参加数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03 つなげる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参加した方に、入会を案内する手段が無い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・イベント直後に、サロンの申込みを案内</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・入会した方の声を、迷っている方へ届ける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入会数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セミナーの振り返り</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両想い営業・ライフプランブロックの要点をおさらい</a:t>
            </a:r>
            <a:endParaRPr lang="ja-JP" altLang="en-US" sz="1200" dirty="0"/>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「契約で頭がいっぱい」だった方が、個人保険でTOT</a:t>
            </a:r>
            <a:endParaRPr lang="ja-JP" altLang="en-US" sz="1200" dirty="0"/>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サロンのご案内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ライフプランブロックは、サロンの方だけが使える</a:t>
            </a:r>
            <a:endParaRPr lang="ja-JP" altLang="en-US" sz="1200" dirty="0"/>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ロープレ動画で面談を振り返り、TOTを達成</a:t>
            </a:r>
            <a:endParaRPr lang="ja-JP" altLang="en-US" sz="1200" dirty="0"/>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講師メッセージ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毎日遅くまで働いた頃から、働く時間を半分以下に</a:t>
            </a:r>
            <a:endParaRPr lang="ja-JP" altLang="en-US" sz="1200" dirty="0"/>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次のセミナーのご案内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次回の日程と、サロン入会のお申込み方法</a:t>
            </a:r>
            <a:endParaRPr lang="ja-JP" altLang="en-US" sz="1200" dirty="0"/>
          </a:p>
        </p:txBody>
      </p:sp>
      <p:sp>
        <p:nvSpPr>
          <p:cNvPr id="22" name="注記"/>
          <p:cNvSpPr/>
          <p:nvPr/>
        </p:nvSpPr>
        <p:spPr>
          <a:xfrm>
            <a:off x="457200" y="6047231"/>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※配信内容は、貴社LPの「受講生の声」「講師メッセージ」「よくある質問」「講師紹介」をもとにした例</a:t>
            </a:r>
            <a:endParaRPr lang="ja-JP" altLang="en-US" sz="1200" dirty="0"/>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他の案</a:t>
            </a:r>
            <a:endParaRPr lang="ja-JP" altLang="en-US" sz="1200" dirty="0"/>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よくある質問</a:t>
            </a:r>
            <a:endParaRPr lang="ja-JP" altLang="en-US" sz="1200" dirty="0"/>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次のセミナーの案内に添える</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地方からも参加できる・録画はない・初心者でも分かる・参加は無料</a:t>
            </a:r>
            <a:endParaRPr lang="ja-JP" altLang="en-US" sz="1200" dirty="0"/>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講師紹介</a:t>
            </a:r>
            <a:endParaRPr lang="ja-JP" altLang="en-US" sz="1200" dirty="0"/>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入会を迷っている方へ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谷岡さんの経歴：契約件数全国1位で表彰・週2日の営業で毎年TOT</a:t>
            </a:r>
            <a:endParaRPr lang="ja-JP" altLang="en-US" sz="1200" dirty="0"/>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