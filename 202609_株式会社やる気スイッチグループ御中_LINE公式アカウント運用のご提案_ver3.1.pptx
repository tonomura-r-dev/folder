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71" r:id="rId4"/>
    <p:sldId id="2993" r:id="rId5"/>
    <p:sldId id="2972" r:id="rId6"/>
    <p:sldId id="3007" r:id="rId7"/>
    <p:sldId id="2994" r:id="rId8"/>
    <p:sldId id="2995" r:id="rId9"/>
    <p:sldId id="3003" r:id="rId10"/>
    <p:sldId id="3002" r:id="rId11"/>
    <p:sldId id="3001" r:id="rId12"/>
    <p:sldId id="2999" r:id="rId13"/>
    <p:sldId id="3004" r:id="rId14"/>
    <p:sldId id="2736" r:id="rId15"/>
    <p:sldId id="2987" r:id="rId16"/>
    <p:sldId id="2997" r:id="rId17"/>
    <p:sldId id="2996" r:id="rId18"/>
    <p:sldId id="2973" r:id="rId19"/>
    <p:sldId id="2977" r:id="rId20"/>
    <p:sldId id="2979" r:id="rId21"/>
    <p:sldId id="3000" r:id="rId22"/>
    <p:sldId id="3008" r:id="rId23"/>
    <p:sldId id="2908" r:id="rId24"/>
    <p:sldId id="2998" r:id="rId25"/>
    <p:sldId id="3009" r:id="rId26"/>
    <p:sldId id="2990" r:id="rId27"/>
    <p:sldId id="3005" r:id="rId28"/>
    <p:sldId id="2986" r:id="rId29"/>
    <p:sldId id="3006" r:id="rId30"/>
    <p:sldId id="2991" r:id="rId31"/>
    <p:sldId id="2737" r:id="rId32"/>
    <p:sldId id="3010" r:id="rId33"/>
    <p:sldId id="2989" r:id="rId34"/>
    <p:sldId id="2563" r:id="rId35"/>
    <p:sldId id="2959" r:id="rId36"/>
    <p:sldId id="2970" r:id="rId37"/>
    <p:sldId id="2968" r:id="rId38"/>
    <p:sldId id="2969" r:id="rId39"/>
    <p:sldId id="2639" r:id="rId40"/>
    <p:sldId id="2957" r:id="rId41"/>
    <p:sldId id="2951" r:id="rId42"/>
    <p:sldId id="2841" r:id="rId43"/>
    <p:sldId id="3012" r:id="rId44"/>
    <p:sldId id="2734" r:id="rId45"/>
    <p:sldId id="2595" r:id="rId46"/>
    <p:sldId id="2566" r:id="rId47"/>
    <p:sldId id="2915" r:id="rId48"/>
    <p:sldId id="2619" r:id="rId49"/>
    <p:sldId id="2761" r:id="rId50"/>
    <p:sldId id="2935" r:id="rId51"/>
    <p:sldId id="2919" r:id="rId52"/>
    <p:sldId id="2519" r:id="rId53"/>
    <p:sldId id="2931" r:id="rId54"/>
    <p:sldId id="2749" r:id="rId55"/>
    <p:sldId id="2950" r:id="rId56"/>
    <p:sldId id="2961" r:id="rId57"/>
    <p:sldId id="2849" r:id="rId58"/>
    <p:sldId id="2904" r:id="rId59"/>
    <p:sldId id="2905" r:id="rId60"/>
    <p:sldId id="2906" r:id="rId61"/>
    <p:sldId id="2907" r:id="rId62"/>
    <p:sldId id="2575" r:id="rId63"/>
    <p:sldId id="2910"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54</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33.png"/><Relationship Id="rId10" Type="http://schemas.openxmlformats.org/officeDocument/2006/relationships/image" Target="../media/image38.jpeg"/><Relationship Id="rId4" Type="http://schemas.openxmlformats.org/officeDocument/2006/relationships/image" Target="../media/image32.png"/><Relationship Id="rId9"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3.xml.rels><?xml version="1.0" encoding="UTF-8" standalone="yes"?>
<Relationships xmlns="http://schemas.openxmlformats.org/package/2006/relationships"><Relationship Id="rId8" Type="http://schemas.openxmlformats.org/officeDocument/2006/relationships/image" Target="../media/image78.jpeg"/><Relationship Id="rId3" Type="http://schemas.openxmlformats.org/officeDocument/2006/relationships/image" Target="../media/image3.emf"/><Relationship Id="rId7" Type="http://schemas.openxmlformats.org/officeDocument/2006/relationships/image" Target="../media/image77.jpe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を図る</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を図る</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を行うことが重要</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を行う必要もある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37160"/>
            <a:ext cx="6858000" cy="365760"/>
          </a:xfrm>
          <a:prstGeom prst="rect">
            <a:avLst/>
          </a:prstGeom>
          <a:noFill/>
        </p:spPr>
        <p:txBody>
          <a:bodyPr wrap="square">
            <a:spAutoFit/>
          </a:bodyPr>
          <a:lstStyle/>
          <a:p>
            <a:pPr algn="l"/>
            <a:r>
              <a:rPr sz="1400" b="1">
                <a:solidFill>
                  <a:srgbClr val="002060"/>
                </a:solidFill>
                <a:latin typeface="メイリオ"/>
                <a:ea typeface="メイリオ"/>
                <a:cs typeface="メイリオ"/>
              </a:rPr>
              <a:t>本提案の考え方</a:t>
            </a:r>
          </a:p>
        </p:txBody>
      </p:sp>
      <p:sp>
        <p:nvSpPr>
          <p:cNvPr id="3" name="TextBox 2"/>
          <p:cNvSpPr txBox="1"/>
          <p:nvPr/>
        </p:nvSpPr>
        <p:spPr>
          <a:xfrm>
            <a:off x="548640" y="720000"/>
            <a:ext cx="8805672" cy="548640"/>
          </a:xfrm>
          <a:prstGeom prst="rect">
            <a:avLst/>
          </a:prstGeom>
          <a:noFill/>
        </p:spPr>
        <p:txBody>
          <a:bodyPr wrap="square">
            <a:spAutoFit/>
          </a:bodyPr>
          <a:lstStyle/>
          <a:p>
            <a:pPr algn="ctr"/>
            <a:r>
              <a:rPr sz="2400" b="1">
                <a:solidFill>
                  <a:srgbClr val="333333"/>
                </a:solidFill>
                <a:latin typeface="メイリオ"/>
                <a:ea typeface="メイリオ"/>
                <a:cs typeface="メイリオ"/>
              </a:rPr>
              <a:t>広告は、CVの瞬間で接点が終わる。</a:t>
            </a:r>
          </a:p>
        </p:txBody>
      </p:sp>
      <p:sp>
        <p:nvSpPr>
          <p:cNvPr id="4" name="TextBox 3"/>
          <p:cNvSpPr txBox="1"/>
          <p:nvPr/>
        </p:nvSpPr>
        <p:spPr>
          <a:xfrm>
            <a:off x="548640" y="1242000"/>
            <a:ext cx="8805672" cy="553998"/>
          </a:xfrm>
          <a:prstGeom prst="rect">
            <a:avLst/>
          </a:prstGeom>
          <a:noFill/>
        </p:spPr>
        <p:txBody>
          <a:bodyPr wrap="square">
            <a:spAutoFit/>
          </a:bodyPr>
          <a:lstStyle/>
          <a:p>
            <a:pPr algn="ctr"/>
            <a:r>
              <a:rPr sz="3000" b="1" dirty="0" err="1">
                <a:solidFill>
                  <a:srgbClr val="BF4E0E"/>
                </a:solidFill>
                <a:latin typeface="メイリオ"/>
                <a:ea typeface="メイリオ"/>
                <a:cs typeface="メイリオ"/>
              </a:rPr>
              <a:t>LINEは、CVの先まで追いきれる</a:t>
            </a:r>
            <a:r>
              <a:rPr lang="ja-JP" altLang="en-US" sz="3000" b="1" dirty="0">
                <a:solidFill>
                  <a:srgbClr val="BF4E0E"/>
                </a:solidFill>
                <a:latin typeface="メイリオ"/>
                <a:ea typeface="メイリオ"/>
                <a:cs typeface="メイリオ"/>
              </a:rPr>
              <a:t>。</a:t>
            </a:r>
            <a:endParaRPr sz="3000" b="1" dirty="0">
              <a:solidFill>
                <a:srgbClr val="BF4E0E"/>
              </a:solidFill>
              <a:latin typeface="メイリオ"/>
              <a:ea typeface="メイリオ"/>
              <a:cs typeface="メイリオ"/>
            </a:endParaRPr>
          </a:p>
        </p:txBody>
      </p:sp>
      <p:sp>
        <p:nvSpPr>
          <p:cNvPr id="5" name="TextBox 4"/>
          <p:cNvSpPr txBox="1"/>
          <p:nvPr/>
        </p:nvSpPr>
        <p:spPr>
          <a:xfrm>
            <a:off x="548640" y="1908000"/>
            <a:ext cx="8805672" cy="523220"/>
          </a:xfrm>
          <a:prstGeom prst="rect">
            <a:avLst/>
          </a:prstGeom>
          <a:noFill/>
        </p:spPr>
        <p:txBody>
          <a:bodyPr wrap="square">
            <a:spAutoFit/>
          </a:bodyPr>
          <a:lstStyle/>
          <a:p>
            <a:pPr algn="ctr"/>
            <a:r>
              <a:rPr sz="1400" b="0" dirty="0" err="1">
                <a:solidFill>
                  <a:srgbClr val="333333"/>
                </a:solidFill>
                <a:latin typeface="メイリオ"/>
                <a:ea typeface="メイリオ"/>
                <a:cs typeface="メイリオ"/>
              </a:rPr>
              <a:t>一度つながれば、接点を持ち続けられる。情報を渡し続けられる。</a:t>
            </a:r>
          </a:p>
          <a:p>
            <a:pPr algn="ctr"/>
            <a:r>
              <a:rPr sz="1400" b="0" dirty="0" err="1">
                <a:solidFill>
                  <a:srgbClr val="333333"/>
                </a:solidFill>
                <a:latin typeface="メイリオ"/>
                <a:ea typeface="メイリオ"/>
                <a:cs typeface="メイリオ"/>
              </a:rPr>
              <a:t>体験予約で終わらず、来場</a:t>
            </a:r>
            <a:r>
              <a:rPr sz="1400" b="0" dirty="0">
                <a:solidFill>
                  <a:srgbClr val="333333"/>
                </a:solidFill>
                <a:latin typeface="メイリオ"/>
                <a:ea typeface="メイリオ"/>
                <a:cs typeface="メイリオ"/>
              </a:rPr>
              <a:t> → </a:t>
            </a:r>
            <a:r>
              <a:rPr sz="1400" b="0" dirty="0" err="1">
                <a:solidFill>
                  <a:srgbClr val="333333"/>
                </a:solidFill>
                <a:latin typeface="メイリオ"/>
                <a:ea typeface="メイリオ"/>
                <a:cs typeface="メイリオ"/>
              </a:rPr>
              <a:t>入会</a:t>
            </a:r>
            <a:r>
              <a:rPr sz="1400" b="0" dirty="0">
                <a:solidFill>
                  <a:srgbClr val="333333"/>
                </a:solidFill>
                <a:latin typeface="メイリオ"/>
                <a:ea typeface="メイリオ"/>
                <a:cs typeface="メイリオ"/>
              </a:rPr>
              <a:t> → </a:t>
            </a:r>
            <a:r>
              <a:rPr sz="1400" b="0" dirty="0" err="1">
                <a:solidFill>
                  <a:srgbClr val="333333"/>
                </a:solidFill>
                <a:latin typeface="メイリオ"/>
                <a:ea typeface="メイリオ"/>
                <a:cs typeface="メイリオ"/>
              </a:rPr>
              <a:t>継続まで並走できる</a:t>
            </a:r>
            <a:r>
              <a:rPr sz="1400" b="0" dirty="0">
                <a:solidFill>
                  <a:srgbClr val="333333"/>
                </a:solidFill>
                <a:latin typeface="メイリオ"/>
                <a:ea typeface="メイリオ"/>
                <a:cs typeface="メイリオ"/>
              </a:rPr>
              <a:t>——</a:t>
            </a:r>
            <a:r>
              <a:rPr sz="1400" b="0" dirty="0" err="1">
                <a:solidFill>
                  <a:srgbClr val="333333"/>
                </a:solidFill>
                <a:latin typeface="メイリオ"/>
                <a:ea typeface="メイリオ"/>
                <a:cs typeface="メイリオ"/>
              </a:rPr>
              <a:t>これがLINE最大の魅力</a:t>
            </a:r>
            <a:endParaRPr sz="1400" b="0" dirty="0">
              <a:solidFill>
                <a:srgbClr val="333333"/>
              </a:solidFill>
              <a:latin typeface="メイリオ"/>
              <a:ea typeface="メイリオ"/>
              <a:cs typeface="メイリオ"/>
            </a:endParaRPr>
          </a:p>
        </p:txBody>
      </p:sp>
      <p:sp>
        <p:nvSpPr>
          <p:cNvPr id="6" name="TextBox 5"/>
          <p:cNvSpPr txBox="1"/>
          <p:nvPr/>
        </p:nvSpPr>
        <p:spPr>
          <a:xfrm>
            <a:off x="251999" y="2690640"/>
            <a:ext cx="1278000" cy="365760"/>
          </a:xfrm>
          <a:prstGeom prst="rect">
            <a:avLst/>
          </a:prstGeom>
          <a:noFill/>
        </p:spPr>
        <p:txBody>
          <a:bodyPr wrap="square">
            <a:spAutoFit/>
          </a:bodyPr>
          <a:lstStyle/>
          <a:p>
            <a:pPr algn="l"/>
            <a:r>
              <a:rPr sz="1100" b="1">
                <a:solidFill>
                  <a:srgbClr val="333333"/>
                </a:solidFill>
                <a:latin typeface="メイリオ"/>
                <a:ea typeface="メイリオ"/>
                <a:cs typeface="メイリオ"/>
              </a:rPr>
              <a:t>広告・</a:t>
            </a:r>
          </a:p>
          <a:p>
            <a:pPr algn="l"/>
            <a:r>
              <a:rPr sz="1100" b="1">
                <a:solidFill>
                  <a:srgbClr val="333333"/>
                </a:solidFill>
                <a:latin typeface="メイリオ"/>
                <a:ea typeface="メイリオ"/>
                <a:cs typeface="メイリオ"/>
              </a:rPr>
              <a:t>アフィリエイト</a:t>
            </a:r>
          </a:p>
        </p:txBody>
      </p:sp>
      <p:sp>
        <p:nvSpPr>
          <p:cNvPr id="7" name="Rounded Rectangle 6"/>
          <p:cNvSpPr/>
          <p:nvPr/>
        </p:nvSpPr>
        <p:spPr>
          <a:xfrm>
            <a:off x="1554480" y="2644920"/>
            <a:ext cx="132588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接触</a:t>
            </a:r>
          </a:p>
        </p:txBody>
      </p:sp>
      <p:sp>
        <p:nvSpPr>
          <p:cNvPr id="8" name="TextBox 7"/>
          <p:cNvSpPr txBox="1"/>
          <p:nvPr/>
        </p:nvSpPr>
        <p:spPr>
          <a:xfrm>
            <a:off x="2907792" y="271807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9" name="Rounded Rectangle 8"/>
          <p:cNvSpPr/>
          <p:nvPr/>
        </p:nvSpPr>
        <p:spPr>
          <a:xfrm>
            <a:off x="3218688" y="2644920"/>
            <a:ext cx="1737360" cy="475488"/>
          </a:xfrm>
          <a:prstGeom prst="roundRect">
            <a:avLst>
              <a:gd name="adj" fmla="val 12000"/>
            </a:avLst>
          </a:prstGeom>
          <a:solidFill>
            <a:srgbClr val="F0F0F0"/>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333333"/>
                </a:solidFill>
                <a:latin typeface="メイリオ"/>
                <a:ea typeface="メイリオ"/>
                <a:cs typeface="メイリオ"/>
              </a:rPr>
              <a:t>体験予約（CV）</a:t>
            </a:r>
          </a:p>
        </p:txBody>
      </p:sp>
      <p:sp>
        <p:nvSpPr>
          <p:cNvPr id="10" name="TextBox 9"/>
          <p:cNvSpPr txBox="1"/>
          <p:nvPr/>
        </p:nvSpPr>
        <p:spPr>
          <a:xfrm>
            <a:off x="5166360" y="2708928"/>
            <a:ext cx="3108960" cy="307777"/>
          </a:xfrm>
          <a:prstGeom prst="rect">
            <a:avLst/>
          </a:prstGeom>
          <a:noFill/>
        </p:spPr>
        <p:txBody>
          <a:bodyPr wrap="square">
            <a:spAutoFit/>
          </a:bodyPr>
          <a:lstStyle/>
          <a:p>
            <a:pPr algn="l"/>
            <a:r>
              <a:rPr sz="1400" b="1">
                <a:solidFill>
                  <a:srgbClr val="C00000"/>
                </a:solidFill>
                <a:latin typeface="メイリオ"/>
                <a:ea typeface="メイリオ"/>
                <a:cs typeface="メイリオ"/>
              </a:rPr>
              <a:t>✕ ここで接点が途切れる</a:t>
            </a:r>
          </a:p>
        </p:txBody>
      </p:sp>
      <p:sp>
        <p:nvSpPr>
          <p:cNvPr id="11" name="TextBox 10"/>
          <p:cNvSpPr txBox="1"/>
          <p:nvPr/>
        </p:nvSpPr>
        <p:spPr>
          <a:xfrm>
            <a:off x="640080" y="3412080"/>
            <a:ext cx="822960" cy="365760"/>
          </a:xfrm>
          <a:prstGeom prst="rect">
            <a:avLst/>
          </a:prstGeom>
          <a:noFill/>
        </p:spPr>
        <p:txBody>
          <a:bodyPr wrap="square">
            <a:spAutoFit/>
          </a:bodyPr>
          <a:lstStyle/>
          <a:p>
            <a:pPr algn="l"/>
            <a:r>
              <a:rPr sz="1400" b="1">
                <a:solidFill>
                  <a:srgbClr val="1F285A"/>
                </a:solidFill>
                <a:latin typeface="メイリオ"/>
                <a:ea typeface="メイリオ"/>
                <a:cs typeface="メイリオ"/>
              </a:rPr>
              <a:t>LINE</a:t>
            </a:r>
          </a:p>
        </p:txBody>
      </p:sp>
      <p:sp>
        <p:nvSpPr>
          <p:cNvPr id="12" name="Rounded Rectangle 11"/>
          <p:cNvSpPr/>
          <p:nvPr/>
        </p:nvSpPr>
        <p:spPr>
          <a:xfrm>
            <a:off x="1554480" y="3366360"/>
            <a:ext cx="13258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接触</a:t>
            </a:r>
          </a:p>
        </p:txBody>
      </p:sp>
      <p:sp>
        <p:nvSpPr>
          <p:cNvPr id="13" name="TextBox 12"/>
          <p:cNvSpPr txBox="1"/>
          <p:nvPr/>
        </p:nvSpPr>
        <p:spPr>
          <a:xfrm>
            <a:off x="2907792"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4" name="Rounded Rectangle 13"/>
          <p:cNvSpPr/>
          <p:nvPr/>
        </p:nvSpPr>
        <p:spPr>
          <a:xfrm>
            <a:off x="3218688" y="3366360"/>
            <a:ext cx="173736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体験予約（CV）</a:t>
            </a:r>
          </a:p>
        </p:txBody>
      </p:sp>
      <p:sp>
        <p:nvSpPr>
          <p:cNvPr id="15" name="TextBox 14"/>
          <p:cNvSpPr txBox="1"/>
          <p:nvPr/>
        </p:nvSpPr>
        <p:spPr>
          <a:xfrm>
            <a:off x="4983480"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6" name="Rounded Rectangle 15"/>
          <p:cNvSpPr/>
          <p:nvPr/>
        </p:nvSpPr>
        <p:spPr>
          <a:xfrm>
            <a:off x="5294376" y="3366360"/>
            <a:ext cx="109728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来場</a:t>
            </a:r>
          </a:p>
        </p:txBody>
      </p:sp>
      <p:sp>
        <p:nvSpPr>
          <p:cNvPr id="17" name="TextBox 16"/>
          <p:cNvSpPr txBox="1"/>
          <p:nvPr/>
        </p:nvSpPr>
        <p:spPr>
          <a:xfrm>
            <a:off x="6419088"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18" name="Rounded Rectangle 17"/>
          <p:cNvSpPr/>
          <p:nvPr/>
        </p:nvSpPr>
        <p:spPr>
          <a:xfrm>
            <a:off x="6729984" y="3366360"/>
            <a:ext cx="1097280" cy="475488"/>
          </a:xfrm>
          <a:prstGeom prst="roundRect">
            <a:avLst>
              <a:gd name="adj" fmla="val 12000"/>
            </a:avLst>
          </a:prstGeom>
          <a:solidFill>
            <a:srgbClr val="1F285A"/>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FFFFFF"/>
                </a:solidFill>
                <a:latin typeface="メイリオ"/>
                <a:ea typeface="メイリオ"/>
                <a:cs typeface="メイリオ"/>
              </a:rPr>
              <a:t>入会</a:t>
            </a:r>
          </a:p>
        </p:txBody>
      </p:sp>
      <p:sp>
        <p:nvSpPr>
          <p:cNvPr id="19" name="TextBox 18"/>
          <p:cNvSpPr txBox="1"/>
          <p:nvPr/>
        </p:nvSpPr>
        <p:spPr>
          <a:xfrm>
            <a:off x="7854696" y="3439512"/>
            <a:ext cx="274320" cy="338554"/>
          </a:xfrm>
          <a:prstGeom prst="rect">
            <a:avLst/>
          </a:prstGeom>
          <a:noFill/>
        </p:spPr>
        <p:txBody>
          <a:bodyPr wrap="square">
            <a:spAutoFit/>
          </a:bodyPr>
          <a:lstStyle/>
          <a:p>
            <a:pPr algn="ctr"/>
            <a:r>
              <a:rPr sz="1600" b="1">
                <a:solidFill>
                  <a:srgbClr val="1F285A"/>
                </a:solidFill>
                <a:latin typeface="メイリオ"/>
                <a:ea typeface="メイリオ"/>
                <a:cs typeface="メイリオ"/>
              </a:rPr>
              <a:t>→</a:t>
            </a:r>
          </a:p>
        </p:txBody>
      </p:sp>
      <p:sp>
        <p:nvSpPr>
          <p:cNvPr id="20" name="Rounded Rectangle 19"/>
          <p:cNvSpPr/>
          <p:nvPr/>
        </p:nvSpPr>
        <p:spPr>
          <a:xfrm>
            <a:off x="8165592" y="3366360"/>
            <a:ext cx="1234440" cy="475488"/>
          </a:xfrm>
          <a:prstGeom prst="roundRect">
            <a:avLst>
              <a:gd name="adj" fmla="val 12000"/>
            </a:avLst>
          </a:prstGeom>
          <a:solidFill>
            <a:srgbClr val="F4F7FF"/>
          </a:solidFill>
          <a:ln w="12700">
            <a:solidFill>
              <a:srgbClr val="1F285A"/>
            </a:solid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1F285A"/>
                </a:solidFill>
                <a:latin typeface="メイリオ"/>
                <a:ea typeface="メイリオ"/>
                <a:cs typeface="メイリオ"/>
              </a:rPr>
              <a:t>継続・紹介</a:t>
            </a:r>
          </a:p>
        </p:txBody>
      </p:sp>
      <p:sp>
        <p:nvSpPr>
          <p:cNvPr id="21" name="Rounded Rectangle 20"/>
          <p:cNvSpPr/>
          <p:nvPr/>
        </p:nvSpPr>
        <p:spPr>
          <a:xfrm>
            <a:off x="1555200" y="4050000"/>
            <a:ext cx="3401999"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1600" rIns="72000" bIns="21600" rtlCol="0" anchor="ctr"/>
          <a:lstStyle/>
          <a:p>
            <a:pPr algn="ctr">
              <a:spcAft>
                <a:spcPts val="300"/>
              </a:spcAft>
            </a:pPr>
            <a:r>
              <a:rPr sz="1400" b="1" dirty="0">
                <a:solidFill>
                  <a:srgbClr val="1F285A"/>
                </a:solidFill>
                <a:latin typeface="メイリオ"/>
                <a:ea typeface="メイリオ"/>
                <a:cs typeface="メイリオ"/>
              </a:rPr>
              <a:t>① </a:t>
            </a:r>
            <a:r>
              <a:rPr sz="1400" b="1" dirty="0" err="1">
                <a:solidFill>
                  <a:srgbClr val="1F285A"/>
                </a:solidFill>
                <a:latin typeface="メイリオ"/>
                <a:ea typeface="メイリオ"/>
                <a:cs typeface="メイリオ"/>
              </a:rPr>
              <a:t>CPAの改善</a:t>
            </a:r>
            <a:endParaRPr sz="1400" b="1" dirty="0">
              <a:solidFill>
                <a:srgbClr val="1F285A"/>
              </a:solidFill>
              <a:latin typeface="メイリオ"/>
              <a:ea typeface="メイリオ"/>
              <a:cs typeface="メイリオ"/>
            </a:endParaRPr>
          </a:p>
          <a:p>
            <a:pPr algn="ctr">
              <a:lnSpc>
                <a:spcPct val="120000"/>
              </a:lnSpc>
            </a:pPr>
            <a:r>
              <a:rPr sz="1150" dirty="0" err="1">
                <a:solidFill>
                  <a:srgbClr val="333333"/>
                </a:solidFill>
                <a:latin typeface="メイリオ"/>
                <a:ea typeface="メイリオ"/>
                <a:cs typeface="メイリオ"/>
              </a:rPr>
              <a:t>LPで離脱した</a:t>
            </a:r>
            <a:r>
              <a:rPr lang="ja-JP" altLang="en-US" sz="1150" dirty="0">
                <a:solidFill>
                  <a:srgbClr val="333333"/>
                </a:solidFill>
                <a:latin typeface="メイリオ"/>
                <a:ea typeface="メイリオ"/>
                <a:cs typeface="メイリオ"/>
              </a:rPr>
              <a:t>層</a:t>
            </a:r>
            <a:r>
              <a:rPr sz="1150" dirty="0" err="1">
                <a:solidFill>
                  <a:srgbClr val="333333"/>
                </a:solidFill>
                <a:latin typeface="メイリオ"/>
                <a:ea typeface="メイリオ"/>
                <a:cs typeface="メイリオ"/>
              </a:rPr>
              <a:t>をLINEで回収し</a:t>
            </a:r>
            <a:r>
              <a:rPr sz="1150" dirty="0">
                <a:solidFill>
                  <a:srgbClr val="333333"/>
                </a:solidFill>
                <a:latin typeface="メイリオ"/>
                <a:ea typeface="メイリオ"/>
                <a:cs typeface="メイリオ"/>
              </a:rPr>
              <a:t>、</a:t>
            </a:r>
          </a:p>
          <a:p>
            <a:pPr algn="ctr">
              <a:lnSpc>
                <a:spcPct val="120000"/>
              </a:lnSpc>
            </a:pPr>
            <a:r>
              <a:rPr sz="1150" dirty="0" err="1">
                <a:solidFill>
                  <a:srgbClr val="333333"/>
                </a:solidFill>
                <a:latin typeface="メイリオ"/>
                <a:ea typeface="メイリオ"/>
                <a:cs typeface="メイリオ"/>
              </a:rPr>
              <a:t>同じ広告費で体験予約を増やす</a:t>
            </a:r>
            <a:endParaRPr sz="1150" dirty="0">
              <a:solidFill>
                <a:srgbClr val="333333"/>
              </a:solidFill>
              <a:latin typeface="メイリオ"/>
              <a:ea typeface="メイリオ"/>
              <a:cs typeface="メイリオ"/>
            </a:endParaRPr>
          </a:p>
        </p:txBody>
      </p:sp>
      <p:sp>
        <p:nvSpPr>
          <p:cNvPr id="22" name="Rounded Rectangle 21"/>
          <p:cNvSpPr/>
          <p:nvPr/>
        </p:nvSpPr>
        <p:spPr>
          <a:xfrm>
            <a:off x="5166000" y="4050000"/>
            <a:ext cx="4233600" cy="846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1600" rIns="72000" bIns="21600" rtlCol="0" anchor="ctr"/>
          <a:lstStyle/>
          <a:p>
            <a:pPr algn="ctr">
              <a:spcAft>
                <a:spcPts val="300"/>
              </a:spcAft>
            </a:pPr>
            <a:r>
              <a:rPr sz="1400" b="1" dirty="0">
                <a:solidFill>
                  <a:srgbClr val="1F285A"/>
                </a:solidFill>
                <a:latin typeface="メイリオ"/>
                <a:ea typeface="メイリオ"/>
                <a:cs typeface="メイリオ"/>
              </a:rPr>
              <a:t>② </a:t>
            </a:r>
            <a:r>
              <a:rPr sz="1400" b="1" dirty="0" err="1">
                <a:solidFill>
                  <a:srgbClr val="1F285A"/>
                </a:solidFill>
                <a:latin typeface="メイリオ"/>
                <a:ea typeface="メイリオ"/>
                <a:cs typeface="メイリオ"/>
              </a:rPr>
              <a:t>CPOの改善</a:t>
            </a:r>
            <a:endParaRPr sz="1400" b="1" dirty="0">
              <a:solidFill>
                <a:srgbClr val="1F285A"/>
              </a:solidFill>
              <a:latin typeface="メイリオ"/>
              <a:ea typeface="メイリオ"/>
              <a:cs typeface="メイリオ"/>
            </a:endParaRPr>
          </a:p>
          <a:p>
            <a:pPr algn="ctr">
              <a:lnSpc>
                <a:spcPct val="120000"/>
              </a:lnSpc>
            </a:pPr>
            <a:r>
              <a:rPr sz="1150" dirty="0" err="1">
                <a:solidFill>
                  <a:srgbClr val="333333"/>
                </a:solidFill>
                <a:latin typeface="メイリオ"/>
                <a:ea typeface="メイリオ"/>
                <a:cs typeface="メイリオ"/>
              </a:rPr>
              <a:t>体験予約から来場・入会までLINEで後押し</a:t>
            </a:r>
            <a:endParaRPr sz="1150" dirty="0">
              <a:solidFill>
                <a:srgbClr val="333333"/>
              </a:solidFill>
              <a:latin typeface="メイリオ"/>
              <a:ea typeface="メイリオ"/>
              <a:cs typeface="メイリオ"/>
            </a:endParaRPr>
          </a:p>
          <a:p>
            <a:pPr algn="ctr">
              <a:lnSpc>
                <a:spcPct val="120000"/>
              </a:lnSpc>
            </a:pPr>
            <a:r>
              <a:rPr lang="ja-JP" altLang="en-US" sz="1150" dirty="0">
                <a:solidFill>
                  <a:srgbClr val="333333"/>
                </a:solidFill>
                <a:latin typeface="メイリオ"/>
                <a:ea typeface="メイリオ"/>
                <a:cs typeface="メイリオ"/>
              </a:rPr>
              <a:t>⇒</a:t>
            </a:r>
            <a:r>
              <a:rPr sz="1150" dirty="0" err="1">
                <a:solidFill>
                  <a:srgbClr val="333333"/>
                </a:solidFill>
                <a:latin typeface="メイリオ"/>
                <a:ea typeface="メイリオ"/>
                <a:cs typeface="メイリオ"/>
              </a:rPr>
              <a:t>入会率を上げる</a:t>
            </a:r>
            <a:endParaRPr sz="1150" dirty="0">
              <a:solidFill>
                <a:srgbClr val="333333"/>
              </a:solidFill>
              <a:latin typeface="メイリオ"/>
              <a:ea typeface="メイリオ"/>
              <a:cs typeface="メイリオ"/>
            </a:endParaRPr>
          </a:p>
        </p:txBody>
      </p:sp>
      <p:sp>
        <p:nvSpPr>
          <p:cNvPr id="23" name="Down Arrow 22"/>
          <p:cNvSpPr/>
          <p:nvPr/>
        </p:nvSpPr>
        <p:spPr>
          <a:xfrm>
            <a:off x="30402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23"/>
          <p:cNvSpPr/>
          <p:nvPr/>
        </p:nvSpPr>
        <p:spPr>
          <a:xfrm>
            <a:off x="7066800" y="4950000"/>
            <a:ext cx="432000" cy="216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47200" y="5220000"/>
            <a:ext cx="88524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500" b="1">
                <a:solidFill>
                  <a:srgbClr val="FFFFFF"/>
                </a:solidFill>
                <a:latin typeface="メイリオ"/>
                <a:ea typeface="メイリオ"/>
                <a:cs typeface="メイリオ"/>
              </a:rPr>
              <a:t>①＋②で、許容CPAを引き上げられる ＝ 広告費を増やしても採算が合う</a:t>
            </a:r>
          </a:p>
        </p:txBody>
      </p:sp>
      <p:sp>
        <p:nvSpPr>
          <p:cNvPr id="26" name="TextBox 25"/>
          <p:cNvSpPr txBox="1"/>
          <p:nvPr/>
        </p:nvSpPr>
        <p:spPr>
          <a:xfrm>
            <a:off x="547200" y="5760000"/>
            <a:ext cx="8852400" cy="324000"/>
          </a:xfrm>
          <a:prstGeom prst="rect">
            <a:avLst/>
          </a:prstGeom>
          <a:noFill/>
        </p:spPr>
        <p:txBody>
          <a:bodyPr wrap="square" lIns="0" tIns="21600" rIns="0" bIns="21600" anchor="ctr">
            <a:spAutoFit/>
          </a:bodyPr>
          <a:lstStyle/>
          <a:p>
            <a:pPr algn="ctr"/>
            <a:r>
              <a:rPr sz="1000">
                <a:solidFill>
                  <a:srgbClr val="7F7F7F"/>
                </a:solidFill>
                <a:latin typeface="メイリオ"/>
                <a:ea typeface="メイリオ"/>
                <a:cs typeface="メイリオ"/>
              </a:rPr>
              <a:t>※許容CPA＝入会1件にかけられる費用（許容CPO）×入会率。入会率が上がるほど、体験予約1件にかけられる広告費が増えます。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習い事は「3〜5歳」で始める家庭が最も多く、</a:t>
            </a:r>
          </a:p>
          <a:p>
            <a:pPr algn="ctr"/>
            <a:r>
              <a:rPr lang="en-US" altLang="ja-JP" sz="1700" dirty="0">
                <a:solidFill>
                  <a:schemeClr val="tx1"/>
                </a:solidFill>
              </a:rPr>
              <a:t>未就学児の保護者の87.5%が「させたい」と考え</a:t>
            </a:r>
            <a:r>
              <a:rPr lang="ja-JP" altLang="en-US" sz="1700" dirty="0">
                <a:solidFill>
                  <a:schemeClr val="tx1"/>
                </a:solidFill>
              </a:rPr>
              <a:t>る</a:t>
            </a:r>
            <a:endParaRPr lang="en-US" altLang="ja-JP" sz="1700" dirty="0">
              <a:solidFill>
                <a:schemeClr val="tx1"/>
              </a:solidFill>
            </a:endParaRP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5861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2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200" b="0" dirty="0" err="1">
                <a:solidFill>
                  <a:srgbClr val="5A6378"/>
                </a:solidFill>
                <a:latin typeface="メイリオ" panose="020B0604030504040204" pitchFamily="50" charset="-128"/>
                <a:ea typeface="メイリオ" panose="020B0604030504040204" pitchFamily="50" charset="-128"/>
              </a:rPr>
              <a:t>が中心だが</a:t>
            </a:r>
            <a:r>
              <a:rPr sz="1200" b="0" dirty="0">
                <a:solidFill>
                  <a:srgbClr val="5A6378"/>
                </a:solidFill>
                <a:latin typeface="メイリオ" panose="020B0604030504040204" pitchFamily="50" charset="-128"/>
                <a:ea typeface="メイリオ" panose="020B0604030504040204" pitchFamily="50" charset="-128"/>
              </a:rPr>
              <a:t>、</a:t>
            </a:r>
            <a:endParaRPr lang="en-US" sz="12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200" dirty="0">
                <a:solidFill>
                  <a:srgbClr val="5A6378"/>
                </a:solidFill>
                <a:latin typeface="メイリオ" panose="020B0604030504040204" pitchFamily="50" charset="-128"/>
                <a:ea typeface="メイリオ" panose="020B0604030504040204" pitchFamily="50" charset="-128"/>
              </a:rPr>
              <a:t>　</a:t>
            </a:r>
            <a:r>
              <a:rPr sz="12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dirty="0" err="1">
                <a:solidFill>
                  <a:srgbClr val="9AA1AE"/>
                </a:solidFill>
                <a:latin typeface="メイリオ" panose="020B0604030504040204" pitchFamily="50" charset="-128"/>
                <a:ea typeface="メイリオ" panose="020B0604030504040204" pitchFamily="50" charset="-128"/>
              </a:rPr>
              <a:t>出典</a:t>
            </a:r>
            <a:r>
              <a:rPr sz="850" b="0" dirty="0">
                <a:solidFill>
                  <a:srgbClr val="9AA1AE"/>
                </a:solidFill>
                <a:latin typeface="メイリオ" panose="020B0604030504040204" pitchFamily="50" charset="-128"/>
                <a:ea typeface="メイリオ" panose="020B0604030504040204" pitchFamily="50" charset="-128"/>
              </a:rPr>
              <a:t>：①np-labo.com（2023年10月, N=300）　②統計データ（4〜6歳 回答者数103）　③マイナビウーマン（2022年8月, N=300）</a:t>
            </a:r>
          </a:p>
          <a:p>
            <a:pPr algn="l">
              <a:lnSpc>
                <a:spcPct val="120000"/>
              </a:lnSpc>
            </a:pPr>
            <a:r>
              <a:rPr sz="850" b="0" dirty="0">
                <a:solidFill>
                  <a:srgbClr val="9AA1AE"/>
                </a:solidFill>
                <a:latin typeface="メイリオ" panose="020B0604030504040204" pitchFamily="50" charset="-128"/>
                <a:ea typeface="メイリオ" panose="020B0604030504040204" pitchFamily="50" charset="-128"/>
              </a:rPr>
              <a:t>④babytech.jp「未就学児の習い事事情2025」（N=1,436）　⑤PR </a:t>
            </a:r>
            <a:r>
              <a:rPr sz="850" b="0" dirty="0" err="1">
                <a:solidFill>
                  <a:srgbClr val="9AA1AE"/>
                </a:solidFill>
                <a:latin typeface="メイリオ" panose="020B0604030504040204" pitchFamily="50" charset="-128"/>
                <a:ea typeface="メイリオ" panose="020B0604030504040204" pitchFamily="50" charset="-128"/>
              </a:rPr>
              <a:t>TIMES（学年別</a:t>
            </a:r>
            <a:r>
              <a:rPr sz="850" b="0" dirty="0">
                <a:solidFill>
                  <a:srgbClr val="9AA1AE"/>
                </a:solidFill>
                <a:latin typeface="メイリオ" panose="020B0604030504040204" pitchFamily="50" charset="-128"/>
                <a:ea typeface="メイリオ" panose="020B0604030504040204" pitchFamily="50" charset="-128"/>
              </a:rPr>
              <a:t> </a:t>
            </a:r>
            <a:r>
              <a:rPr sz="850" b="0" dirty="0" err="1">
                <a:solidFill>
                  <a:srgbClr val="9AA1AE"/>
                </a:solidFill>
                <a:latin typeface="メイリオ" panose="020B0604030504040204" pitchFamily="50" charset="-128"/>
                <a:ea typeface="メイリオ" panose="020B0604030504040204" pitchFamily="50" charset="-128"/>
              </a:rPr>
              <a:t>週あたり実施日数</a:t>
            </a:r>
            <a:r>
              <a:rPr sz="850" b="0" dirty="0">
                <a:solidFill>
                  <a:srgbClr val="9AA1AE"/>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05317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前後検索「子ども 習い事」</a:t>
            </a:r>
          </a:p>
        </p:txBody>
      </p:sp>
      <p:sp>
        <p:nvSpPr>
          <p:cNvPr id="5" name="Text 7">
            <a:extLst>
              <a:ext uri="{FF2B5EF4-FFF2-40B4-BE49-F238E27FC236}">
                <a16:creationId xmlns:a16="http://schemas.microsoft.com/office/drawing/2014/main" id="{2CA316B7-4505-4337-6433-44B8AC8C958C}"/>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400" dirty="0">
                <a:solidFill>
                  <a:schemeClr val="tx1"/>
                </a:solidFill>
                <a:latin typeface="メイリオ" panose="020B0604030504040204" pitchFamily="50" charset="-128"/>
                <a:ea typeface="メイリオ" panose="020B0604030504040204" pitchFamily="50" charset="-128"/>
              </a:rPr>
              <a:t>「子ども 習い事」の検索前後15日間。友だち追加の機会は、比較が集中する検索当日〜翌日</a:t>
            </a:r>
          </a:p>
        </p:txBody>
      </p:sp>
      <p:pic>
        <p:nvPicPr>
          <p:cNvPr id="46" name="Picture 45" descr="image.png"/>
          <p:cNvPicPr>
            <a:picLocks noChangeAspect="1"/>
          </p:cNvPicPr>
          <p:nvPr/>
        </p:nvPicPr>
        <p:blipFill>
          <a:blip r:embed="rId3"/>
          <a:stretch>
            <a:fillRect/>
          </a:stretch>
        </p:blipFill>
        <p:spPr>
          <a:xfrm>
            <a:off x="432000" y="1458000"/>
            <a:ext cx="5112000" cy="2981524"/>
          </a:xfrm>
          <a:prstGeom prst="rect">
            <a:avLst/>
          </a:prstGeom>
        </p:spPr>
      </p:pic>
      <p:sp>
        <p:nvSpPr>
          <p:cNvPr id="47" name="Rectangle 46"/>
          <p:cNvSpPr/>
          <p:nvPr/>
        </p:nvSpPr>
        <p:spPr>
          <a:xfrm>
            <a:off x="3050829" y="1458000"/>
            <a:ext cx="611155" cy="2945524"/>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888406" y="4457524"/>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49" name="Rounded Rectangle 48"/>
          <p:cNvSpPr/>
          <p:nvPr/>
        </p:nvSpPr>
        <p:spPr>
          <a:xfrm>
            <a:off x="5724000" y="1458000"/>
            <a:ext cx="18576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2B5797"/>
                </a:solidFill>
                <a:latin typeface="メイリオ"/>
                <a:ea typeface="メイリオ"/>
                <a:cs typeface="メイリオ"/>
              </a:rPr>
              <a:t>習い事の比較・検討</a:t>
            </a:r>
          </a:p>
        </p:txBody>
      </p:sp>
      <p:sp>
        <p:nvSpPr>
          <p:cNvPr id="50" name="Rounded Rectangle 49"/>
          <p:cNvSpPr/>
          <p:nvPr/>
        </p:nvSpPr>
        <p:spPr>
          <a:xfrm>
            <a:off x="7617600" y="1458000"/>
            <a:ext cx="18576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C0561A"/>
                </a:solidFill>
                <a:latin typeface="メイリオ"/>
                <a:ea typeface="メイリオ"/>
                <a:cs typeface="メイリオ"/>
              </a:rPr>
              <a:t>子育て・学び</a:t>
            </a:r>
          </a:p>
        </p:txBody>
      </p:sp>
      <p:sp>
        <p:nvSpPr>
          <p:cNvPr id="51" name="Rounded Rectangle 50"/>
          <p:cNvSpPr/>
          <p:nvPr/>
        </p:nvSpPr>
        <p:spPr>
          <a:xfrm>
            <a:off x="5724000" y="1717199"/>
            <a:ext cx="18576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7440A8"/>
                </a:solidFill>
                <a:latin typeface="メイリオ"/>
                <a:ea typeface="メイリオ"/>
                <a:cs typeface="メイリオ"/>
              </a:rPr>
              <a:t>家族のお出かけ・楽しみ</a:t>
            </a:r>
          </a:p>
        </p:txBody>
      </p:sp>
      <p:sp>
        <p:nvSpPr>
          <p:cNvPr id="52" name="TextBox 51"/>
          <p:cNvSpPr txBox="1"/>
          <p:nvPr/>
        </p:nvSpPr>
        <p:spPr>
          <a:xfrm>
            <a:off x="7653599" y="1717199"/>
            <a:ext cx="1821599" cy="223200"/>
          </a:xfrm>
          <a:prstGeom prst="rect">
            <a:avLst/>
          </a:prstGeom>
          <a:noFill/>
        </p:spPr>
        <p:txBody>
          <a:bodyPr wrap="square" lIns="0" tIns="21600" rIns="0" bIns="21600" anchor="ctr">
            <a:spAutoFit/>
          </a:bodyPr>
          <a:lstStyle/>
          <a:p>
            <a:pPr algn="l"/>
            <a:r>
              <a:rPr sz="900">
                <a:solidFill>
                  <a:srgbClr val="7F7F7F"/>
                </a:solidFill>
                <a:latin typeface="メイリオ"/>
                <a:ea typeface="メイリオ"/>
                <a:cs typeface="メイリオ"/>
              </a:rPr>
              <a:t>色なし：その他</a:t>
            </a:r>
          </a:p>
        </p:txBody>
      </p:sp>
      <p:sp>
        <p:nvSpPr>
          <p:cNvPr id="53" name="Rounded Rectangle 52"/>
          <p:cNvSpPr/>
          <p:nvPr/>
        </p:nvSpPr>
        <p:spPr>
          <a:xfrm>
            <a:off x="5724000" y="2052000"/>
            <a:ext cx="3751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LINE追加率を上げるコンテンツ（検索当日〜翌日）</a:t>
            </a:r>
          </a:p>
        </p:txBody>
      </p:sp>
      <p:sp>
        <p:nvSpPr>
          <p:cNvPr id="54" name="Rounded Rectangle 53"/>
          <p:cNvSpPr/>
          <p:nvPr/>
        </p:nvSpPr>
        <p:spPr>
          <a:xfrm>
            <a:off x="57240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離脱防止で…</a:t>
            </a:r>
          </a:p>
          <a:p>
            <a:pPr algn="ctr">
              <a:lnSpc>
                <a:spcPct val="115000"/>
              </a:lnSpc>
            </a:pPr>
            <a:r>
              <a:rPr sz="1100" b="1">
                <a:solidFill>
                  <a:srgbClr val="FFFFFF"/>
                </a:solidFill>
                <a:latin typeface="メイリオ"/>
                <a:ea typeface="メイリオ"/>
                <a:cs typeface="メイリオ"/>
              </a:rPr>
              <a:t>「習い事ランキング」</a:t>
            </a:r>
          </a:p>
          <a:p>
            <a:pPr algn="ctr">
              <a:lnSpc>
                <a:spcPct val="115000"/>
              </a:lnSpc>
            </a:pPr>
            <a:r>
              <a:rPr sz="1050" b="1">
                <a:solidFill>
                  <a:srgbClr val="FFFFFF"/>
                </a:solidFill>
                <a:latin typeface="メイリオ"/>
                <a:ea typeface="メイリオ"/>
                <a:cs typeface="メイリオ"/>
              </a:rPr>
              <a:t>をLINEで見られます</a:t>
            </a:r>
          </a:p>
        </p:txBody>
      </p:sp>
      <p:sp>
        <p:nvSpPr>
          <p:cNvPr id="55" name="Rounded Rectangle 54"/>
          <p:cNvSpPr/>
          <p:nvPr/>
        </p:nvSpPr>
        <p:spPr>
          <a:xfrm>
            <a:off x="7635600" y="2322000"/>
            <a:ext cx="1839600" cy="917999"/>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0">
                <a:solidFill>
                  <a:srgbClr val="FFFFFF"/>
                </a:solidFill>
                <a:latin typeface="メイリオ"/>
                <a:ea typeface="メイリオ"/>
                <a:cs typeface="メイリオ"/>
              </a:rPr>
              <a:t>この機会に</a:t>
            </a:r>
          </a:p>
          <a:p>
            <a:pPr algn="ctr">
              <a:lnSpc>
                <a:spcPct val="115000"/>
              </a:lnSpc>
            </a:pPr>
            <a:r>
              <a:rPr sz="1100" b="1">
                <a:solidFill>
                  <a:srgbClr val="FFFFFF"/>
                </a:solidFill>
                <a:latin typeface="メイリオ"/>
                <a:ea typeface="メイリオ"/>
                <a:cs typeface="メイリオ"/>
              </a:rPr>
              <a:t>LINEで30秒</a:t>
            </a:r>
          </a:p>
          <a:p>
            <a:pPr algn="ctr">
              <a:lnSpc>
                <a:spcPct val="115000"/>
              </a:lnSpc>
            </a:pPr>
            <a:r>
              <a:rPr sz="1050" b="1">
                <a:solidFill>
                  <a:srgbClr val="FFFFFF"/>
                </a:solidFill>
                <a:latin typeface="メイリオ"/>
                <a:ea typeface="メイリオ"/>
                <a:cs typeface="メイリオ"/>
              </a:rPr>
              <a:t>適性診断しませんか？</a:t>
            </a:r>
          </a:p>
        </p:txBody>
      </p:sp>
      <p:sp>
        <p:nvSpPr>
          <p:cNvPr id="56" name="Rounded Rectangle 55"/>
          <p:cNvSpPr/>
          <p:nvPr/>
        </p:nvSpPr>
        <p:spPr>
          <a:xfrm>
            <a:off x="57240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当日の検索は「ランキング」</a:t>
            </a:r>
          </a:p>
          <a:p>
            <a:pPr algn="ctr">
              <a:lnSpc>
                <a:spcPct val="115000"/>
              </a:lnSpc>
            </a:pPr>
            <a:r>
              <a:rPr sz="1000" b="0">
                <a:solidFill>
                  <a:srgbClr val="1F285A"/>
                </a:solidFill>
                <a:latin typeface="メイリオ"/>
                <a:ea typeface="メイリオ"/>
                <a:cs typeface="メイリオ"/>
              </a:rPr>
              <a:t>その場で比べる材料を示す</a:t>
            </a:r>
          </a:p>
        </p:txBody>
      </p:sp>
      <p:sp>
        <p:nvSpPr>
          <p:cNvPr id="57" name="Rounded Rectangle 56"/>
          <p:cNvSpPr/>
          <p:nvPr/>
        </p:nvSpPr>
        <p:spPr>
          <a:xfrm>
            <a:off x="7635600" y="3276000"/>
            <a:ext cx="1839600" cy="702000"/>
          </a:xfrm>
          <a:prstGeom prst="roundRect">
            <a:avLst>
              <a:gd name="adj" fmla="val 8000"/>
            </a:avLst>
          </a:prstGeom>
          <a:solidFill>
            <a:srgbClr val="DDEBF7"/>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1F285A"/>
                </a:solidFill>
                <a:latin typeface="メイリオ"/>
                <a:ea typeface="メイリオ"/>
                <a:cs typeface="メイリオ"/>
              </a:rPr>
              <a:t>電話なし・すぐ結果がわかる</a:t>
            </a:r>
          </a:p>
          <a:p>
            <a:pPr algn="ctr">
              <a:lnSpc>
                <a:spcPct val="115000"/>
              </a:lnSpc>
            </a:pPr>
            <a:r>
              <a:rPr sz="1000" b="0">
                <a:solidFill>
                  <a:srgbClr val="1F285A"/>
                </a:solidFill>
                <a:latin typeface="メイリオ"/>
                <a:ea typeface="メイリオ"/>
                <a:cs typeface="メイリオ"/>
              </a:rPr>
              <a:t>保護者の方も気軽に登録</a:t>
            </a:r>
          </a:p>
        </p:txBody>
      </p:sp>
      <p:cxnSp>
        <p:nvCxnSpPr>
          <p:cNvPr id="58" name="Connector 57"/>
          <p:cNvCxnSpPr/>
          <p:nvPr/>
        </p:nvCxnSpPr>
        <p:spPr>
          <a:xfrm flipV="1">
            <a:off x="3356406" y="2772000"/>
            <a:ext cx="2331594" cy="685106"/>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432000" y="4745524"/>
            <a:ext cx="9043200" cy="22320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50" b="1">
                <a:solidFill>
                  <a:srgbClr val="333333"/>
                </a:solidFill>
                <a:latin typeface="メイリオ"/>
                <a:ea typeface="メイリオ"/>
                <a:cs typeface="メイリオ"/>
              </a:rPr>
              <a:t>登録後に体験予約へつなげるコンテンツ（翌日〜14日・「習い事」の検索後に多い「評判」「月謝」の確認に合わせる）</a:t>
            </a:r>
          </a:p>
        </p:txBody>
      </p:sp>
      <p:sp>
        <p:nvSpPr>
          <p:cNvPr id="60" name="Rounded Rectangle 59"/>
          <p:cNvSpPr/>
          <p:nvPr/>
        </p:nvSpPr>
        <p:spPr>
          <a:xfrm>
            <a:off x="432000"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1日目</a:t>
            </a:r>
          </a:p>
          <a:p>
            <a:pPr algn="ctr">
              <a:lnSpc>
                <a:spcPct val="115000"/>
              </a:lnSpc>
            </a:pPr>
            <a:r>
              <a:rPr sz="1050" b="1">
                <a:solidFill>
                  <a:srgbClr val="FFFFFF"/>
                </a:solidFill>
                <a:latin typeface="メイリオ"/>
                <a:ea typeface="メイリオ"/>
                <a:cs typeface="メイリオ"/>
              </a:rPr>
              <a:t>診断リマインド</a:t>
            </a:r>
          </a:p>
          <a:p>
            <a:pPr algn="ctr">
              <a:lnSpc>
                <a:spcPct val="115000"/>
              </a:lnSpc>
            </a:pPr>
            <a:r>
              <a:rPr sz="950" b="0">
                <a:solidFill>
                  <a:srgbClr val="FFFFFF"/>
                </a:solidFill>
                <a:latin typeface="メイリオ"/>
                <a:ea typeface="メイリオ"/>
                <a:cs typeface="メイリオ"/>
              </a:rPr>
              <a:t>まだの方へ</a:t>
            </a:r>
          </a:p>
        </p:txBody>
      </p:sp>
      <p:sp>
        <p:nvSpPr>
          <p:cNvPr id="61" name="Rounded Rectangle 60"/>
          <p:cNvSpPr/>
          <p:nvPr/>
        </p:nvSpPr>
        <p:spPr>
          <a:xfrm>
            <a:off x="1734171"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2日目</a:t>
            </a:r>
          </a:p>
          <a:p>
            <a:pPr algn="ctr">
              <a:lnSpc>
                <a:spcPct val="115000"/>
              </a:lnSpc>
            </a:pPr>
            <a:r>
              <a:rPr sz="1050" b="1">
                <a:solidFill>
                  <a:srgbClr val="FFFFFF"/>
                </a:solidFill>
                <a:latin typeface="メイリオ"/>
                <a:ea typeface="メイリオ"/>
                <a:cs typeface="メイリオ"/>
              </a:rPr>
              <a:t>診断結果</a:t>
            </a:r>
          </a:p>
          <a:p>
            <a:pPr algn="ctr">
              <a:lnSpc>
                <a:spcPct val="115000"/>
              </a:lnSpc>
            </a:pPr>
            <a:r>
              <a:rPr sz="950" b="0">
                <a:solidFill>
                  <a:srgbClr val="FFFFFF"/>
                </a:solidFill>
                <a:latin typeface="メイリオ"/>
                <a:ea typeface="メイリオ"/>
                <a:cs typeface="メイリオ"/>
              </a:rPr>
              <a:t>タイプ別おすすめ</a:t>
            </a:r>
          </a:p>
        </p:txBody>
      </p:sp>
      <p:sp>
        <p:nvSpPr>
          <p:cNvPr id="62" name="Rounded Rectangle 61"/>
          <p:cNvSpPr/>
          <p:nvPr/>
        </p:nvSpPr>
        <p:spPr>
          <a:xfrm>
            <a:off x="3036342"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4日目</a:t>
            </a:r>
          </a:p>
          <a:p>
            <a:pPr algn="ctr">
              <a:lnSpc>
                <a:spcPct val="115000"/>
              </a:lnSpc>
            </a:pPr>
            <a:r>
              <a:rPr sz="1050" b="1">
                <a:solidFill>
                  <a:srgbClr val="FFFFFF"/>
                </a:solidFill>
                <a:latin typeface="メイリオ"/>
                <a:ea typeface="メイリオ"/>
                <a:cs typeface="メイリオ"/>
              </a:rPr>
              <a:t>在籍生の声</a:t>
            </a:r>
          </a:p>
          <a:p>
            <a:pPr algn="ctr">
              <a:lnSpc>
                <a:spcPct val="115000"/>
              </a:lnSpc>
            </a:pPr>
            <a:r>
              <a:rPr sz="950" b="0">
                <a:solidFill>
                  <a:srgbClr val="FFFFFF"/>
                </a:solidFill>
                <a:latin typeface="メイリオ"/>
                <a:ea typeface="メイリオ"/>
                <a:cs typeface="メイリオ"/>
              </a:rPr>
              <a:t>成長エピソード</a:t>
            </a:r>
          </a:p>
        </p:txBody>
      </p:sp>
      <p:sp>
        <p:nvSpPr>
          <p:cNvPr id="63" name="Rounded Rectangle 62"/>
          <p:cNvSpPr/>
          <p:nvPr/>
        </p:nvSpPr>
        <p:spPr>
          <a:xfrm>
            <a:off x="4338514"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6日目</a:t>
            </a:r>
          </a:p>
          <a:p>
            <a:pPr algn="ctr">
              <a:lnSpc>
                <a:spcPct val="115000"/>
              </a:lnSpc>
            </a:pPr>
            <a:r>
              <a:rPr sz="1050" b="1">
                <a:solidFill>
                  <a:srgbClr val="FFFFFF"/>
                </a:solidFill>
                <a:latin typeface="メイリオ"/>
                <a:ea typeface="メイリオ"/>
                <a:cs typeface="メイリオ"/>
              </a:rPr>
              <a:t>体験のご案内①</a:t>
            </a:r>
          </a:p>
          <a:p>
            <a:pPr algn="ctr">
              <a:lnSpc>
                <a:spcPct val="115000"/>
              </a:lnSpc>
            </a:pPr>
            <a:r>
              <a:rPr sz="950" b="0">
                <a:solidFill>
                  <a:srgbClr val="FFFFFF"/>
                </a:solidFill>
                <a:latin typeface="メイリオ"/>
                <a:ea typeface="メイリオ"/>
                <a:cs typeface="メイリオ"/>
              </a:rPr>
              <a:t>（CV）</a:t>
            </a:r>
          </a:p>
        </p:txBody>
      </p:sp>
      <p:sp>
        <p:nvSpPr>
          <p:cNvPr id="64" name="Rounded Rectangle 63"/>
          <p:cNvSpPr/>
          <p:nvPr/>
        </p:nvSpPr>
        <p:spPr>
          <a:xfrm>
            <a:off x="5640685"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9日目</a:t>
            </a:r>
          </a:p>
          <a:p>
            <a:pPr algn="ctr">
              <a:lnSpc>
                <a:spcPct val="115000"/>
              </a:lnSpc>
            </a:pPr>
            <a:r>
              <a:rPr sz="1050" b="1">
                <a:solidFill>
                  <a:srgbClr val="FFFFFF"/>
                </a:solidFill>
                <a:latin typeface="メイリオ"/>
                <a:ea typeface="メイリオ"/>
                <a:cs typeface="メイリオ"/>
              </a:rPr>
              <a:t>伸びる力</a:t>
            </a:r>
          </a:p>
          <a:p>
            <a:pPr algn="ctr">
              <a:lnSpc>
                <a:spcPct val="115000"/>
              </a:lnSpc>
            </a:pPr>
            <a:r>
              <a:rPr sz="950" b="0">
                <a:solidFill>
                  <a:srgbClr val="FFFFFF"/>
                </a:solidFill>
                <a:latin typeface="メイリオ"/>
                <a:ea typeface="メイリオ"/>
                <a:cs typeface="メイリオ"/>
              </a:rPr>
              <a:t>非認知能力・知育</a:t>
            </a:r>
          </a:p>
        </p:txBody>
      </p:sp>
      <p:sp>
        <p:nvSpPr>
          <p:cNvPr id="65" name="Rounded Rectangle 64"/>
          <p:cNvSpPr/>
          <p:nvPr/>
        </p:nvSpPr>
        <p:spPr>
          <a:xfrm>
            <a:off x="6942857" y="5015524"/>
            <a:ext cx="1230171" cy="1176475"/>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12日目</a:t>
            </a:r>
          </a:p>
          <a:p>
            <a:pPr algn="ctr">
              <a:lnSpc>
                <a:spcPct val="115000"/>
              </a:lnSpc>
            </a:pPr>
            <a:r>
              <a:rPr sz="1050" b="1">
                <a:solidFill>
                  <a:srgbClr val="FFFFFF"/>
                </a:solidFill>
                <a:latin typeface="メイリオ"/>
                <a:ea typeface="メイリオ"/>
                <a:cs typeface="メイリオ"/>
              </a:rPr>
              <a:t>よくある疑問</a:t>
            </a:r>
          </a:p>
          <a:p>
            <a:pPr algn="ctr">
              <a:lnSpc>
                <a:spcPct val="115000"/>
              </a:lnSpc>
            </a:pPr>
            <a:r>
              <a:rPr sz="950" b="0">
                <a:solidFill>
                  <a:srgbClr val="FFFFFF"/>
                </a:solidFill>
                <a:latin typeface="メイリオ"/>
                <a:ea typeface="メイリオ"/>
                <a:cs typeface="メイリオ"/>
              </a:rPr>
              <a:t>月謝・送迎・振替</a:t>
            </a:r>
          </a:p>
        </p:txBody>
      </p:sp>
      <p:sp>
        <p:nvSpPr>
          <p:cNvPr id="66" name="Rounded Rectangle 65"/>
          <p:cNvSpPr/>
          <p:nvPr/>
        </p:nvSpPr>
        <p:spPr>
          <a:xfrm>
            <a:off x="8245028" y="5015524"/>
            <a:ext cx="1230171" cy="1176475"/>
          </a:xfrm>
          <a:prstGeom prst="roundRect">
            <a:avLst>
              <a:gd name="adj" fmla="val 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100" b="1">
                <a:solidFill>
                  <a:srgbClr val="FFFFFF"/>
                </a:solidFill>
                <a:latin typeface="メイリオ"/>
                <a:ea typeface="メイリオ"/>
                <a:cs typeface="メイリオ"/>
              </a:rPr>
              <a:t>14日目</a:t>
            </a:r>
          </a:p>
          <a:p>
            <a:pPr algn="ctr">
              <a:lnSpc>
                <a:spcPct val="115000"/>
              </a:lnSpc>
            </a:pPr>
            <a:r>
              <a:rPr sz="1050" b="1">
                <a:solidFill>
                  <a:srgbClr val="FFFFFF"/>
                </a:solidFill>
                <a:latin typeface="メイリオ"/>
                <a:ea typeface="メイリオ"/>
                <a:cs typeface="メイリオ"/>
              </a:rPr>
              <a:t>体験のご案内②</a:t>
            </a:r>
          </a:p>
          <a:p>
            <a:pPr algn="ctr">
              <a:lnSpc>
                <a:spcPct val="115000"/>
              </a:lnSpc>
            </a:pPr>
            <a:r>
              <a:rPr sz="950" b="0">
                <a:solidFill>
                  <a:srgbClr val="FFFFFF"/>
                </a:solidFill>
                <a:latin typeface="メイリオ"/>
                <a:ea typeface="メイリオ"/>
                <a:cs typeface="メイリオ"/>
              </a:rPr>
              <a:t>（CV）</a:t>
            </a:r>
          </a:p>
        </p:txBody>
      </p:sp>
      <p:cxnSp>
        <p:nvCxnSpPr>
          <p:cNvPr id="67" name="Connector 66"/>
          <p:cNvCxnSpPr/>
          <p:nvPr/>
        </p:nvCxnSpPr>
        <p:spPr>
          <a:xfrm>
            <a:off x="4573005" y="4313865"/>
            <a:ext cx="314145" cy="413659"/>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a:t>
            </a:r>
          </a:p>
        </p:txBody>
      </p:sp>
    </p:spTree>
    <p:extLst>
      <p:ext uri="{BB962C8B-B14F-4D97-AF65-F5344CB8AC3E}">
        <p14:creationId xmlns:p14="http://schemas.microsoft.com/office/powerpoint/2010/main" val="143933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前後検索「習い事」</a:t>
            </a:r>
          </a:p>
        </p:txBody>
      </p:sp>
      <p:sp>
        <p:nvSpPr>
          <p:cNvPr id="5" name="Text 7">
            <a:extLst>
              <a:ext uri="{FF2B5EF4-FFF2-40B4-BE49-F238E27FC236}">
                <a16:creationId xmlns:a16="http://schemas.microsoft.com/office/drawing/2014/main" id="{BD6FF840-BD2A-C9D2-6742-4C0E533AE4B4}"/>
              </a:ext>
            </a:extLst>
          </p:cNvPr>
          <p:cNvSpPr txBox="1"/>
          <p:nvPr/>
        </p:nvSpPr>
        <p:spPr>
          <a:xfrm>
            <a:off x="385572" y="648000"/>
            <a:ext cx="9134856" cy="666000"/>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400" dirty="0">
                <a:solidFill>
                  <a:schemeClr val="tx1"/>
                </a:solidFill>
                <a:latin typeface="メイリオ" panose="020B0604030504040204" pitchFamily="50" charset="-128"/>
                <a:ea typeface="メイリオ" panose="020B0604030504040204" pitchFamily="50" charset="-128"/>
              </a:rPr>
              <a:t>「</a:t>
            </a:r>
            <a:r>
              <a:rPr lang="en-US" altLang="ja-JP" sz="1400" dirty="0" err="1">
                <a:solidFill>
                  <a:schemeClr val="tx1"/>
                </a:solidFill>
                <a:latin typeface="メイリオ" panose="020B0604030504040204" pitchFamily="50" charset="-128"/>
                <a:ea typeface="メイリオ" panose="020B0604030504040204" pitchFamily="50" charset="-128"/>
              </a:rPr>
              <a:t>習い事」で探す保護者の動き方には、一定の型が</a:t>
            </a:r>
            <a:r>
              <a:rPr lang="ja-JP" altLang="en-US" sz="1400" dirty="0">
                <a:solidFill>
                  <a:schemeClr val="tx1"/>
                </a:solidFill>
                <a:latin typeface="メイリオ" panose="020B0604030504040204" pitchFamily="50" charset="-128"/>
                <a:ea typeface="メイリオ" panose="020B0604030504040204" pitchFamily="50" charset="-128"/>
              </a:rPr>
              <a:t>存在</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46" name="Rounded Rectangle 45"/>
          <p:cNvSpPr/>
          <p:nvPr/>
        </p:nvSpPr>
        <p:spPr>
          <a:xfrm>
            <a:off x="432000" y="1584000"/>
            <a:ext cx="1848000" cy="223200"/>
          </a:xfrm>
          <a:prstGeom prst="roundRect">
            <a:avLst>
              <a:gd name="adj" fmla="val 8000"/>
            </a:avLst>
          </a:prstGeom>
          <a:solidFill>
            <a:srgbClr val="D6E2F3"/>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2B5797"/>
                </a:solidFill>
                <a:latin typeface="メイリオ"/>
                <a:ea typeface="メイリオ"/>
                <a:cs typeface="メイリオ"/>
              </a:rPr>
              <a:t>習い事の比較・検討</a:t>
            </a:r>
          </a:p>
        </p:txBody>
      </p:sp>
      <p:sp>
        <p:nvSpPr>
          <p:cNvPr id="47" name="Rounded Rectangle 46"/>
          <p:cNvSpPr/>
          <p:nvPr/>
        </p:nvSpPr>
        <p:spPr>
          <a:xfrm>
            <a:off x="2352000" y="1584000"/>
            <a:ext cx="1848000" cy="223200"/>
          </a:xfrm>
          <a:prstGeom prst="roundRect">
            <a:avLst>
              <a:gd name="adj" fmla="val 8000"/>
            </a:avLst>
          </a:prstGeom>
          <a:solidFill>
            <a:srgbClr val="FBE0CF"/>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C0561A"/>
                </a:solidFill>
                <a:latin typeface="メイリオ"/>
                <a:ea typeface="メイリオ"/>
                <a:cs typeface="メイリオ"/>
              </a:rPr>
              <a:t>子育て・学び</a:t>
            </a:r>
          </a:p>
        </p:txBody>
      </p:sp>
      <p:sp>
        <p:nvSpPr>
          <p:cNvPr id="48" name="Rounded Rectangle 47"/>
          <p:cNvSpPr/>
          <p:nvPr/>
        </p:nvSpPr>
        <p:spPr>
          <a:xfrm>
            <a:off x="4272000" y="1584000"/>
            <a:ext cx="1848000" cy="223200"/>
          </a:xfrm>
          <a:prstGeom prst="roundRect">
            <a:avLst>
              <a:gd name="adj" fmla="val 8000"/>
            </a:avLst>
          </a:prstGeom>
          <a:solidFill>
            <a:srgbClr val="E8DAF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1000" b="1">
                <a:solidFill>
                  <a:srgbClr val="7440A8"/>
                </a:solidFill>
                <a:latin typeface="メイリオ"/>
                <a:ea typeface="メイリオ"/>
                <a:cs typeface="メイリオ"/>
              </a:rPr>
              <a:t>家族のお出かけ・楽しみ</a:t>
            </a:r>
          </a:p>
        </p:txBody>
      </p:sp>
      <p:pic>
        <p:nvPicPr>
          <p:cNvPr id="49" name="Picture 48" descr="image.png"/>
          <p:cNvPicPr>
            <a:picLocks noChangeAspect="1"/>
          </p:cNvPicPr>
          <p:nvPr/>
        </p:nvPicPr>
        <p:blipFill>
          <a:blip r:embed="rId3"/>
          <a:stretch>
            <a:fillRect/>
          </a:stretch>
        </p:blipFill>
        <p:spPr>
          <a:xfrm>
            <a:off x="432000" y="1861200"/>
            <a:ext cx="5688000" cy="3317470"/>
          </a:xfrm>
          <a:prstGeom prst="rect">
            <a:avLst/>
          </a:prstGeom>
        </p:spPr>
      </p:pic>
      <p:sp>
        <p:nvSpPr>
          <p:cNvPr id="50" name="Rectangle 49"/>
          <p:cNvSpPr/>
          <p:nvPr/>
        </p:nvSpPr>
        <p:spPr>
          <a:xfrm>
            <a:off x="3358618" y="1861200"/>
            <a:ext cx="676840" cy="3281470"/>
          </a:xfrm>
          <a:prstGeom prst="rect">
            <a:avLst/>
          </a:prstGeom>
          <a:solidFill>
            <a:srgbClr val="06C755">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3229039" y="5196670"/>
            <a:ext cx="936000" cy="223200"/>
          </a:xfrm>
          <a:prstGeom prst="rect">
            <a:avLst/>
          </a:prstGeom>
          <a:solidFill>
            <a:srgbClr val="C6EFCE"/>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28800" rIns="54000" bIns="28800" rtlCol="0" anchor="ctr"/>
          <a:lstStyle/>
          <a:p>
            <a:pPr algn="ctr">
              <a:lnSpc>
                <a:spcPct val="115000"/>
              </a:lnSpc>
            </a:pPr>
            <a:r>
              <a:rPr sz="950" b="1">
                <a:solidFill>
                  <a:srgbClr val="00873C"/>
                </a:solidFill>
                <a:latin typeface="メイリオ"/>
                <a:ea typeface="メイリオ"/>
                <a:cs typeface="メイリオ"/>
              </a:rPr>
              <a:t>LINE追加</a:t>
            </a:r>
          </a:p>
        </p:txBody>
      </p:sp>
      <p:sp>
        <p:nvSpPr>
          <p:cNvPr id="52" name="TextBox 51"/>
          <p:cNvSpPr txBox="1"/>
          <p:nvPr/>
        </p:nvSpPr>
        <p:spPr>
          <a:xfrm>
            <a:off x="4140000" y="5214670"/>
            <a:ext cx="1980000" cy="180000"/>
          </a:xfrm>
          <a:prstGeom prst="rect">
            <a:avLst/>
          </a:prstGeom>
          <a:noFill/>
        </p:spPr>
        <p:txBody>
          <a:bodyPr wrap="square" lIns="0" tIns="21600" rIns="0" bIns="21600" anchor="ctr">
            <a:spAutoFit/>
          </a:bodyPr>
          <a:lstStyle/>
          <a:p>
            <a:pPr algn="r"/>
            <a:r>
              <a:rPr sz="850">
                <a:solidFill>
                  <a:srgbClr val="7F7F7F"/>
                </a:solidFill>
                <a:latin typeface="メイリオ"/>
                <a:ea typeface="メイリオ"/>
                <a:cs typeface="メイリオ"/>
              </a:rPr>
              <a:t>色なし：大人の習い事・趣味、その他</a:t>
            </a:r>
          </a:p>
        </p:txBody>
      </p:sp>
      <p:sp>
        <p:nvSpPr>
          <p:cNvPr id="53" name="Rounded Rectangle 52"/>
          <p:cNvSpPr/>
          <p:nvPr/>
        </p:nvSpPr>
        <p:spPr>
          <a:xfrm>
            <a:off x="6228000" y="1584000"/>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検索前（〜前日）：子どもの悩み・習い事の効果</a:t>
            </a:r>
          </a:p>
          <a:p>
            <a:pPr algn="l">
              <a:lnSpc>
                <a:spcPct val="125000"/>
              </a:lnSpc>
              <a:spcAft>
                <a:spcPts val="200"/>
              </a:spcAft>
            </a:pPr>
            <a:r>
              <a:rPr sz="1050">
                <a:solidFill>
                  <a:srgbClr val="333333"/>
                </a:solidFill>
                <a:latin typeface="メイリオ"/>
                <a:ea typeface="メイリオ"/>
                <a:cs typeface="メイリオ"/>
              </a:rPr>
              <a:t>療育／集団行動が苦手な子供／子供 イライラする／9歳の壁／そろばん 効果</a:t>
            </a:r>
          </a:p>
        </p:txBody>
      </p:sp>
      <p:sp>
        <p:nvSpPr>
          <p:cNvPr id="54" name="Rounded Rectangle 53"/>
          <p:cNvSpPr/>
          <p:nvPr/>
        </p:nvSpPr>
        <p:spPr>
          <a:xfrm>
            <a:off x="6228000" y="2808000"/>
            <a:ext cx="3247200" cy="115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ED7D31"/>
                </a:solidFill>
                <a:latin typeface="メイリオ"/>
                <a:ea typeface="メイリオ"/>
                <a:cs typeface="メイリオ"/>
              </a:rPr>
              <a:t>検索当日：習い事の種類・ランキング</a:t>
            </a:r>
          </a:p>
          <a:p>
            <a:pPr algn="l">
              <a:lnSpc>
                <a:spcPct val="125000"/>
              </a:lnSpc>
              <a:spcAft>
                <a:spcPts val="200"/>
              </a:spcAft>
            </a:pPr>
            <a:r>
              <a:rPr sz="1050">
                <a:solidFill>
                  <a:srgbClr val="333333"/>
                </a:solidFill>
                <a:latin typeface="メイリオ"/>
                <a:ea typeface="メイリオ"/>
                <a:cs typeface="メイリオ"/>
              </a:rPr>
              <a:t>習い事 ランキング／子供の習い事／体操教室／そろばん／スポーツ 習い事</a:t>
            </a:r>
          </a:p>
        </p:txBody>
      </p:sp>
      <p:sp>
        <p:nvSpPr>
          <p:cNvPr id="55" name="Rounded Rectangle 54"/>
          <p:cNvSpPr/>
          <p:nvPr/>
        </p:nvSpPr>
        <p:spPr>
          <a:xfrm>
            <a:off x="6228000" y="4031999"/>
            <a:ext cx="3247200" cy="115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t"/>
          <a:lstStyle/>
          <a:p>
            <a:pPr algn="l">
              <a:spcAft>
                <a:spcPts val="500"/>
              </a:spcAft>
            </a:pPr>
            <a:r>
              <a:rPr sz="1200" b="1">
                <a:solidFill>
                  <a:srgbClr val="1F285A"/>
                </a:solidFill>
                <a:latin typeface="メイリオ"/>
                <a:ea typeface="メイリオ"/>
                <a:cs typeface="メイリオ"/>
              </a:rPr>
              <a:t>検索後（翌日〜15日）：教室名・評判・月謝の確認</a:t>
            </a:r>
          </a:p>
          <a:p>
            <a:pPr algn="l">
              <a:lnSpc>
                <a:spcPct val="125000"/>
              </a:lnSpc>
              <a:spcAft>
                <a:spcPts val="200"/>
              </a:spcAft>
            </a:pPr>
            <a:r>
              <a:rPr sz="1050">
                <a:solidFill>
                  <a:srgbClr val="333333"/>
                </a:solidFill>
                <a:latin typeface="メイリオ"/>
                <a:ea typeface="メイリオ"/>
                <a:cs typeface="メイリオ"/>
              </a:rPr>
              <a:t>忍者ナイン 評判／くもん 月謝／小学生 習い事 いくつ／幼児教室／小学校一年生</a:t>
            </a:r>
          </a:p>
        </p:txBody>
      </p:sp>
      <p:sp>
        <p:nvSpPr>
          <p:cNvPr id="56" name="Rounded Rectangle 55"/>
          <p:cNvSpPr/>
          <p:nvPr/>
        </p:nvSpPr>
        <p:spPr>
          <a:xfrm>
            <a:off x="432000" y="5526000"/>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dirty="0" err="1">
                <a:solidFill>
                  <a:srgbClr val="FFFFFF"/>
                </a:solidFill>
                <a:latin typeface="メイリオ"/>
                <a:ea typeface="メイリオ"/>
                <a:cs typeface="メイリオ"/>
              </a:rPr>
              <a:t>登録した後の配信</a:t>
            </a:r>
            <a:r>
              <a:rPr lang="ja-JP" altLang="en-US" sz="1400" b="1" dirty="0">
                <a:solidFill>
                  <a:srgbClr val="FFFFFF"/>
                </a:solidFill>
                <a:latin typeface="メイリオ"/>
                <a:ea typeface="メイリオ"/>
                <a:cs typeface="メイリオ"/>
              </a:rPr>
              <a:t>に</a:t>
            </a:r>
            <a:r>
              <a:rPr sz="1400" b="1" dirty="0" err="1">
                <a:solidFill>
                  <a:srgbClr val="FFFFFF"/>
                </a:solidFill>
                <a:latin typeface="メイリオ"/>
                <a:ea typeface="メイリオ"/>
                <a:cs typeface="メイリオ"/>
              </a:rPr>
              <a:t>は「子どもの悩み</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習い事の比べ方</a:t>
            </a:r>
            <a:r>
              <a:rPr sz="1400" b="1" dirty="0">
                <a:solidFill>
                  <a:srgbClr val="FFFFFF"/>
                </a:solidFill>
                <a:latin typeface="メイリオ"/>
                <a:ea typeface="メイリオ"/>
                <a:cs typeface="メイリオ"/>
              </a:rPr>
              <a:t> → </a:t>
            </a:r>
            <a:r>
              <a:rPr sz="1400" b="1" dirty="0" err="1">
                <a:solidFill>
                  <a:srgbClr val="FFFFFF"/>
                </a:solidFill>
                <a:latin typeface="メイリオ"/>
                <a:ea typeface="メイリオ"/>
                <a:cs typeface="メイリオ"/>
              </a:rPr>
              <a:t>評判・月謝」の順番が最適</a:t>
            </a:r>
            <a:endParaRPr sz="1400" b="1" dirty="0">
              <a:solidFill>
                <a:srgbClr val="FFFFFF"/>
              </a:solidFill>
              <a:latin typeface="メイリオ"/>
              <a:ea typeface="メイリオ"/>
              <a:cs typeface="メイリオ"/>
            </a:endParaRPr>
          </a:p>
        </p:txBody>
      </p:sp>
      <p:sp>
        <p:nvSpPr>
          <p:cNvPr id="57" name="TextBox 56"/>
          <p:cNvSpPr txBox="1"/>
          <p:nvPr/>
        </p:nvSpPr>
        <p:spPr>
          <a:xfrm>
            <a:off x="432000" y="6282000"/>
            <a:ext cx="72000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出典：LINEヤフー社提供の前後検索データ（検索起点：「習い事」）</a:t>
            </a:r>
          </a:p>
        </p:txBody>
      </p:sp>
    </p:spTree>
    <p:extLst>
      <p:ext uri="{BB962C8B-B14F-4D97-AF65-F5344CB8AC3E}">
        <p14:creationId xmlns:p14="http://schemas.microsoft.com/office/powerpoint/2010/main" val="3154136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前後検索のまとめ（項目別）</a:t>
            </a: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400" b="1" dirty="0">
                <a:solidFill>
                  <a:schemeClr val="tx1"/>
                </a:solidFill>
                <a:latin typeface="Meiryo" pitchFamily="34" charset="0"/>
                <a:ea typeface="Meiryo" pitchFamily="34" charset="-122"/>
                <a:cs typeface="Meiryo" pitchFamily="34" charset="-120"/>
              </a:rPr>
              <a:t>習い事の比較は検索の当日から後まで続き、その前後に子育て・家族のお出かけへの関心</a:t>
            </a:r>
          </a:p>
          <a:p>
            <a:pPr marL="0" indent="0" algn="ctr">
              <a:buNone/>
            </a:pPr>
            <a:r>
              <a:rPr lang="ja-JP" altLang="en-US" sz="1400" b="1" dirty="0">
                <a:solidFill>
                  <a:schemeClr val="tx1"/>
                </a:solidFill>
                <a:latin typeface="Meiryo" pitchFamily="34" charset="0"/>
                <a:ea typeface="Meiryo" pitchFamily="34" charset="-122"/>
                <a:cs typeface="Meiryo" pitchFamily="34" charset="-120"/>
              </a:rPr>
              <a:t>項目ごとに、LINEでの打ち手を用意</a:t>
            </a:r>
            <a:r>
              <a:rPr lang="ja-JP" altLang="en-US" b="1" dirty="0">
                <a:solidFill>
                  <a:schemeClr val="tx1"/>
                </a:solidFill>
                <a:latin typeface="Meiryo" pitchFamily="34" charset="0"/>
                <a:ea typeface="Meiryo" pitchFamily="34" charset="-122"/>
                <a:cs typeface="Meiryo" pitchFamily="34" charset="-120"/>
              </a:rPr>
              <a:t>する</a:t>
            </a:r>
            <a:endParaRPr lang="ja-JP" altLang="en-US" sz="1400" b="1" dirty="0">
              <a:solidFill>
                <a:schemeClr val="tx1"/>
              </a:solidFill>
              <a:latin typeface="Meiryo" pitchFamily="34" charset="0"/>
              <a:ea typeface="Meiryo" pitchFamily="34" charset="-122"/>
              <a:cs typeface="Meiryo" pitchFamily="34" charset="-120"/>
            </a:endParaRPr>
          </a:p>
        </p:txBody>
      </p:sp>
      <p:sp>
        <p:nvSpPr>
          <p:cNvPr id="46" name="Rounded Rectangle 45"/>
          <p:cNvSpPr/>
          <p:nvPr/>
        </p:nvSpPr>
        <p:spPr>
          <a:xfrm>
            <a:off x="1763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検索前（-15〜-1日）</a:t>
            </a:r>
          </a:p>
        </p:txBody>
      </p:sp>
      <p:sp>
        <p:nvSpPr>
          <p:cNvPr id="47" name="Rounded Rectangle 46"/>
          <p:cNvSpPr/>
          <p:nvPr/>
        </p:nvSpPr>
        <p:spPr>
          <a:xfrm>
            <a:off x="3761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検索当日</a:t>
            </a:r>
          </a:p>
        </p:txBody>
      </p:sp>
      <p:sp>
        <p:nvSpPr>
          <p:cNvPr id="48" name="Rounded Rectangle 47"/>
          <p:cNvSpPr/>
          <p:nvPr/>
        </p:nvSpPr>
        <p:spPr>
          <a:xfrm>
            <a:off x="5759999" y="15300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検索後（+1〜15日）</a:t>
            </a:r>
          </a:p>
        </p:txBody>
      </p:sp>
      <p:sp>
        <p:nvSpPr>
          <p:cNvPr id="49" name="Rounded Rectangle 48"/>
          <p:cNvSpPr/>
          <p:nvPr/>
        </p:nvSpPr>
        <p:spPr>
          <a:xfrm>
            <a:off x="7758000" y="1530000"/>
            <a:ext cx="1807199"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50" b="1">
                <a:solidFill>
                  <a:srgbClr val="FFFFFF"/>
                </a:solidFill>
                <a:latin typeface="メイリオ"/>
                <a:ea typeface="メイリオ"/>
                <a:cs typeface="メイリオ"/>
              </a:rPr>
              <a:t>LINEでの打ち手</a:t>
            </a:r>
          </a:p>
        </p:txBody>
      </p:sp>
      <p:sp>
        <p:nvSpPr>
          <p:cNvPr id="50" name="Rounded Rectangle 49"/>
          <p:cNvSpPr/>
          <p:nvPr/>
        </p:nvSpPr>
        <p:spPr>
          <a:xfrm>
            <a:off x="432000" y="1908000"/>
            <a:ext cx="1296000" cy="1242000"/>
          </a:xfrm>
          <a:prstGeom prst="roundRect">
            <a:avLst>
              <a:gd name="adj" fmla="val 6000"/>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習い事の</a:t>
            </a:r>
          </a:p>
          <a:p>
            <a:pPr algn="ctr">
              <a:lnSpc>
                <a:spcPct val="115000"/>
              </a:lnSpc>
            </a:pPr>
            <a:r>
              <a:rPr sz="1450" b="1">
                <a:solidFill>
                  <a:srgbClr val="FFFFFF"/>
                </a:solidFill>
                <a:latin typeface="メイリオ"/>
                <a:ea typeface="メイリオ"/>
                <a:cs typeface="メイリオ"/>
              </a:rPr>
              <a:t>比較・検討</a:t>
            </a:r>
          </a:p>
        </p:txBody>
      </p:sp>
      <p:sp>
        <p:nvSpPr>
          <p:cNvPr id="51" name="Rounded Rectangle 50"/>
          <p:cNvSpPr/>
          <p:nvPr/>
        </p:nvSpPr>
        <p:spPr>
          <a:xfrm>
            <a:off x="1763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「公文式教室」</a:t>
            </a:r>
          </a:p>
          <a:p>
            <a:pPr algn="ctr">
              <a:spcAft>
                <a:spcPts val="100"/>
              </a:spcAft>
            </a:pPr>
            <a:r>
              <a:rPr sz="1250">
                <a:solidFill>
                  <a:srgbClr val="333333"/>
                </a:solidFill>
                <a:latin typeface="メイリオ"/>
                <a:ea typeface="メイリオ"/>
                <a:cs typeface="メイリオ"/>
              </a:rPr>
              <a:t>「ピアノ 習い事」</a:t>
            </a:r>
          </a:p>
          <a:p>
            <a:pPr algn="ctr">
              <a:spcAft>
                <a:spcPts val="100"/>
              </a:spcAft>
            </a:pPr>
            <a:r>
              <a:rPr sz="1250">
                <a:solidFill>
                  <a:srgbClr val="333333"/>
                </a:solidFill>
                <a:latin typeface="メイリオ"/>
                <a:ea typeface="メイリオ"/>
                <a:cs typeface="メイリオ"/>
              </a:rPr>
              <a:t>「そろばん 効果」</a:t>
            </a:r>
          </a:p>
          <a:p>
            <a:pPr algn="ctr">
              <a:spcAft>
                <a:spcPts val="100"/>
              </a:spcAft>
            </a:pPr>
            <a:r>
              <a:rPr sz="1250">
                <a:solidFill>
                  <a:srgbClr val="333333"/>
                </a:solidFill>
                <a:latin typeface="メイリオ"/>
                <a:ea typeface="メイリオ"/>
                <a:cs typeface="メイリオ"/>
              </a:rPr>
              <a:t>「くもん 英語」</a:t>
            </a:r>
          </a:p>
        </p:txBody>
      </p:sp>
      <p:sp>
        <p:nvSpPr>
          <p:cNvPr id="52" name="Rounded Rectangle 51"/>
          <p:cNvSpPr/>
          <p:nvPr/>
        </p:nvSpPr>
        <p:spPr>
          <a:xfrm>
            <a:off x="3761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「習い事 ランキング」</a:t>
            </a:r>
          </a:p>
          <a:p>
            <a:pPr algn="ctr">
              <a:spcAft>
                <a:spcPts val="100"/>
              </a:spcAft>
            </a:pPr>
            <a:r>
              <a:rPr sz="1250">
                <a:solidFill>
                  <a:srgbClr val="333333"/>
                </a:solidFill>
                <a:latin typeface="メイリオ"/>
                <a:ea typeface="メイリオ"/>
                <a:cs typeface="メイリオ"/>
              </a:rPr>
              <a:t>「ヤマハ音楽教室」</a:t>
            </a:r>
          </a:p>
          <a:p>
            <a:pPr algn="ctr">
              <a:spcAft>
                <a:spcPts val="100"/>
              </a:spcAft>
            </a:pPr>
            <a:r>
              <a:rPr sz="1250">
                <a:solidFill>
                  <a:srgbClr val="333333"/>
                </a:solidFill>
                <a:latin typeface="メイリオ"/>
                <a:ea typeface="メイリオ"/>
                <a:cs typeface="メイリオ"/>
              </a:rPr>
              <a:t>「そろばん」</a:t>
            </a:r>
          </a:p>
          <a:p>
            <a:pPr algn="ctr">
              <a:spcAft>
                <a:spcPts val="100"/>
              </a:spcAft>
            </a:pPr>
            <a:r>
              <a:rPr sz="1250">
                <a:solidFill>
                  <a:srgbClr val="333333"/>
                </a:solidFill>
                <a:latin typeface="メイリオ"/>
                <a:ea typeface="メイリオ"/>
                <a:cs typeface="メイリオ"/>
              </a:rPr>
              <a:t>「体操教室」</a:t>
            </a:r>
          </a:p>
        </p:txBody>
      </p:sp>
      <p:sp>
        <p:nvSpPr>
          <p:cNvPr id="53" name="Rounded Rectangle 52"/>
          <p:cNvSpPr/>
          <p:nvPr/>
        </p:nvSpPr>
        <p:spPr>
          <a:xfrm>
            <a:off x="5759999" y="1908000"/>
            <a:ext cx="1962000" cy="1242000"/>
          </a:xfrm>
          <a:prstGeom prst="roundRect">
            <a:avLst>
              <a:gd name="adj" fmla="val 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「忍者ナイン 評判」</a:t>
            </a:r>
          </a:p>
          <a:p>
            <a:pPr algn="ctr">
              <a:spcAft>
                <a:spcPts val="100"/>
              </a:spcAft>
            </a:pPr>
            <a:r>
              <a:rPr sz="1250">
                <a:solidFill>
                  <a:srgbClr val="333333"/>
                </a:solidFill>
                <a:latin typeface="メイリオ"/>
                <a:ea typeface="メイリオ"/>
                <a:cs typeface="メイリオ"/>
              </a:rPr>
              <a:t>「くもん 月謝」</a:t>
            </a:r>
          </a:p>
          <a:p>
            <a:pPr algn="ctr">
              <a:spcAft>
                <a:spcPts val="100"/>
              </a:spcAft>
            </a:pPr>
            <a:r>
              <a:rPr sz="1250">
                <a:solidFill>
                  <a:srgbClr val="333333"/>
                </a:solidFill>
                <a:latin typeface="メイリオ"/>
                <a:ea typeface="メイリオ"/>
                <a:cs typeface="メイリオ"/>
              </a:rPr>
              <a:t>「小学生 習い事 いくつ」</a:t>
            </a:r>
          </a:p>
          <a:p>
            <a:pPr algn="ctr">
              <a:spcAft>
                <a:spcPts val="100"/>
              </a:spcAft>
            </a:pPr>
            <a:r>
              <a:rPr sz="1250">
                <a:solidFill>
                  <a:srgbClr val="333333"/>
                </a:solidFill>
                <a:latin typeface="メイリオ"/>
                <a:ea typeface="メイリオ"/>
                <a:cs typeface="メイリオ"/>
              </a:rPr>
              <a:t>「幼児教室」</a:t>
            </a:r>
          </a:p>
        </p:txBody>
      </p:sp>
      <p:sp>
        <p:nvSpPr>
          <p:cNvPr id="54" name="Rounded Rectangle 53"/>
          <p:cNvSpPr/>
          <p:nvPr/>
        </p:nvSpPr>
        <p:spPr>
          <a:xfrm>
            <a:off x="7758000" y="19080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比較の最中に友だち追加。評判・月謝の疑問にお答えし、体験予約へ</a:t>
            </a:r>
          </a:p>
        </p:txBody>
      </p:sp>
      <p:sp>
        <p:nvSpPr>
          <p:cNvPr id="55" name="Rounded Rectangle 54"/>
          <p:cNvSpPr/>
          <p:nvPr/>
        </p:nvSpPr>
        <p:spPr>
          <a:xfrm>
            <a:off x="432000" y="3193200"/>
            <a:ext cx="1296000" cy="1242000"/>
          </a:xfrm>
          <a:prstGeom prst="roundRect">
            <a:avLst>
              <a:gd name="adj" fmla="val 6000"/>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子育て・</a:t>
            </a:r>
          </a:p>
          <a:p>
            <a:pPr algn="ctr">
              <a:lnSpc>
                <a:spcPct val="115000"/>
              </a:lnSpc>
            </a:pPr>
            <a:r>
              <a:rPr sz="1450" b="1">
                <a:solidFill>
                  <a:srgbClr val="FFFFFF"/>
                </a:solidFill>
                <a:latin typeface="メイリオ"/>
                <a:ea typeface="メイリオ"/>
                <a:cs typeface="メイリオ"/>
              </a:rPr>
              <a:t>学び</a:t>
            </a:r>
          </a:p>
        </p:txBody>
      </p:sp>
      <p:sp>
        <p:nvSpPr>
          <p:cNvPr id="56" name="Rounded Rectangle 55"/>
          <p:cNvSpPr/>
          <p:nvPr/>
        </p:nvSpPr>
        <p:spPr>
          <a:xfrm>
            <a:off x="1763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「こどもちゃれんじ」</a:t>
            </a:r>
          </a:p>
          <a:p>
            <a:pPr algn="ctr">
              <a:spcAft>
                <a:spcPts val="100"/>
              </a:spcAft>
            </a:pPr>
            <a:r>
              <a:rPr sz="1250">
                <a:solidFill>
                  <a:srgbClr val="333333"/>
                </a:solidFill>
                <a:latin typeface="メイリオ"/>
                <a:ea typeface="メイリオ"/>
                <a:cs typeface="メイリオ"/>
              </a:rPr>
              <a:t>「スマイルゼミ」</a:t>
            </a:r>
          </a:p>
          <a:p>
            <a:pPr algn="ctr">
              <a:spcAft>
                <a:spcPts val="100"/>
              </a:spcAft>
            </a:pPr>
            <a:r>
              <a:rPr sz="1250">
                <a:solidFill>
                  <a:srgbClr val="333333"/>
                </a:solidFill>
                <a:latin typeface="メイリオ"/>
                <a:ea typeface="メイリオ"/>
                <a:cs typeface="メイリオ"/>
              </a:rPr>
              <a:t>「子供 イライラする」</a:t>
            </a:r>
          </a:p>
          <a:p>
            <a:pPr algn="ctr">
              <a:spcAft>
                <a:spcPts val="100"/>
              </a:spcAft>
            </a:pPr>
            <a:r>
              <a:rPr sz="1250">
                <a:solidFill>
                  <a:srgbClr val="333333"/>
                </a:solidFill>
                <a:latin typeface="メイリオ"/>
                <a:ea typeface="メイリオ"/>
                <a:cs typeface="メイリオ"/>
              </a:rPr>
              <a:t>「9歳の壁」</a:t>
            </a:r>
          </a:p>
        </p:txBody>
      </p:sp>
      <p:sp>
        <p:nvSpPr>
          <p:cNvPr id="57" name="Rounded Rectangle 56"/>
          <p:cNvSpPr/>
          <p:nvPr/>
        </p:nvSpPr>
        <p:spPr>
          <a:xfrm>
            <a:off x="3761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「rsウイルス」</a:t>
            </a:r>
          </a:p>
        </p:txBody>
      </p:sp>
      <p:sp>
        <p:nvSpPr>
          <p:cNvPr id="58" name="Rounded Rectangle 57"/>
          <p:cNvSpPr/>
          <p:nvPr/>
        </p:nvSpPr>
        <p:spPr>
          <a:xfrm>
            <a:off x="5759999" y="3193200"/>
            <a:ext cx="1962000" cy="1242000"/>
          </a:xfrm>
          <a:prstGeom prst="roundRect">
            <a:avLst>
              <a:gd name="adj" fmla="val 4000"/>
            </a:avLst>
          </a:prstGeom>
          <a:solidFill>
            <a:srgbClr val="FBEBDD"/>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「小学校受験」</a:t>
            </a:r>
          </a:p>
          <a:p>
            <a:pPr algn="ctr">
              <a:spcAft>
                <a:spcPts val="100"/>
              </a:spcAft>
            </a:pPr>
            <a:r>
              <a:rPr sz="1250">
                <a:solidFill>
                  <a:srgbClr val="333333"/>
                </a:solidFill>
                <a:latin typeface="メイリオ"/>
                <a:ea typeface="メイリオ"/>
                <a:cs typeface="メイリオ"/>
              </a:rPr>
              <a:t>「小学校一年生」</a:t>
            </a:r>
          </a:p>
          <a:p>
            <a:pPr algn="ctr">
              <a:spcAft>
                <a:spcPts val="100"/>
              </a:spcAft>
            </a:pPr>
            <a:r>
              <a:rPr sz="1250">
                <a:solidFill>
                  <a:srgbClr val="333333"/>
                </a:solidFill>
                <a:latin typeface="メイリオ"/>
                <a:ea typeface="メイリオ"/>
                <a:cs typeface="メイリオ"/>
              </a:rPr>
              <a:t>「ポピー 教材」</a:t>
            </a:r>
          </a:p>
          <a:p>
            <a:pPr algn="ctr">
              <a:spcAft>
                <a:spcPts val="100"/>
              </a:spcAft>
            </a:pPr>
            <a:r>
              <a:rPr sz="1250">
                <a:solidFill>
                  <a:srgbClr val="333333"/>
                </a:solidFill>
                <a:latin typeface="メイリオ"/>
                <a:ea typeface="メイリオ"/>
                <a:cs typeface="メイリオ"/>
              </a:rPr>
              <a:t>「児童手当」</a:t>
            </a:r>
          </a:p>
        </p:txBody>
      </p:sp>
      <p:sp>
        <p:nvSpPr>
          <p:cNvPr id="59" name="Rounded Rectangle 58"/>
          <p:cNvSpPr/>
          <p:nvPr/>
        </p:nvSpPr>
        <p:spPr>
          <a:xfrm>
            <a:off x="7758000" y="31932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子どもの成長・悩みに寄り添う情報をお届けし、接点を保つ</a:t>
            </a:r>
          </a:p>
        </p:txBody>
      </p:sp>
      <p:sp>
        <p:nvSpPr>
          <p:cNvPr id="60" name="Rounded Rectangle 59"/>
          <p:cNvSpPr/>
          <p:nvPr/>
        </p:nvSpPr>
        <p:spPr>
          <a:xfrm>
            <a:off x="432000" y="4478400"/>
            <a:ext cx="1296000" cy="1242000"/>
          </a:xfrm>
          <a:prstGeom prst="roundRect">
            <a:avLst>
              <a:gd name="adj" fmla="val 6000"/>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lnSpc>
                <a:spcPct val="115000"/>
              </a:lnSpc>
            </a:pPr>
            <a:r>
              <a:rPr sz="1450" b="1">
                <a:solidFill>
                  <a:srgbClr val="FFFFFF"/>
                </a:solidFill>
                <a:latin typeface="メイリオ"/>
                <a:ea typeface="メイリオ"/>
                <a:cs typeface="メイリオ"/>
              </a:rPr>
              <a:t>家族の</a:t>
            </a:r>
          </a:p>
          <a:p>
            <a:pPr algn="ctr">
              <a:lnSpc>
                <a:spcPct val="115000"/>
              </a:lnSpc>
            </a:pPr>
            <a:r>
              <a:rPr sz="1450" b="1">
                <a:solidFill>
                  <a:srgbClr val="FFFFFF"/>
                </a:solidFill>
                <a:latin typeface="メイリオ"/>
                <a:ea typeface="メイリオ"/>
                <a:cs typeface="メイリオ"/>
              </a:rPr>
              <a:t>お出かけ・</a:t>
            </a:r>
          </a:p>
          <a:p>
            <a:pPr algn="ctr">
              <a:lnSpc>
                <a:spcPct val="115000"/>
              </a:lnSpc>
            </a:pPr>
            <a:r>
              <a:rPr sz="1450" b="1">
                <a:solidFill>
                  <a:srgbClr val="FFFFFF"/>
                </a:solidFill>
                <a:latin typeface="メイリオ"/>
                <a:ea typeface="メイリオ"/>
                <a:cs typeface="メイリオ"/>
              </a:rPr>
              <a:t>楽しみ</a:t>
            </a:r>
          </a:p>
        </p:txBody>
      </p:sp>
      <p:sp>
        <p:nvSpPr>
          <p:cNvPr id="61" name="Rounded Rectangle 60"/>
          <p:cNvSpPr/>
          <p:nvPr/>
        </p:nvSpPr>
        <p:spPr>
          <a:xfrm>
            <a:off x="1763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「キッザニア」</a:t>
            </a:r>
          </a:p>
          <a:p>
            <a:pPr algn="ctr">
              <a:spcAft>
                <a:spcPts val="100"/>
              </a:spcAft>
            </a:pPr>
            <a:r>
              <a:rPr sz="1250">
                <a:solidFill>
                  <a:srgbClr val="333333"/>
                </a:solidFill>
                <a:latin typeface="メイリオ"/>
                <a:ea typeface="メイリオ"/>
                <a:cs typeface="メイリオ"/>
              </a:rPr>
              <a:t>「スタジオアリス」</a:t>
            </a:r>
          </a:p>
          <a:p>
            <a:pPr algn="ctr">
              <a:spcAft>
                <a:spcPts val="100"/>
              </a:spcAft>
            </a:pPr>
            <a:r>
              <a:rPr sz="1250">
                <a:solidFill>
                  <a:srgbClr val="333333"/>
                </a:solidFill>
                <a:latin typeface="メイリオ"/>
                <a:ea typeface="メイリオ"/>
                <a:cs typeface="メイリオ"/>
              </a:rPr>
              <a:t>「夏休み 子供 過ごし方」</a:t>
            </a:r>
          </a:p>
        </p:txBody>
      </p:sp>
      <p:sp>
        <p:nvSpPr>
          <p:cNvPr id="62" name="Rounded Rectangle 61"/>
          <p:cNvSpPr/>
          <p:nvPr/>
        </p:nvSpPr>
        <p:spPr>
          <a:xfrm>
            <a:off x="3761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a:t>
            </a:r>
          </a:p>
        </p:txBody>
      </p:sp>
      <p:sp>
        <p:nvSpPr>
          <p:cNvPr id="63" name="Rounded Rectangle 62"/>
          <p:cNvSpPr/>
          <p:nvPr/>
        </p:nvSpPr>
        <p:spPr>
          <a:xfrm>
            <a:off x="5759999" y="4478400"/>
            <a:ext cx="1962000" cy="1242000"/>
          </a:xfrm>
          <a:prstGeom prst="roundRect">
            <a:avLst>
              <a:gd name="adj" fmla="val 4000"/>
            </a:avLst>
          </a:prstGeom>
          <a:solidFill>
            <a:srgbClr val="F1E9F8"/>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100"/>
              </a:spcAft>
            </a:pPr>
            <a:r>
              <a:rPr sz="1250">
                <a:solidFill>
                  <a:srgbClr val="333333"/>
                </a:solidFill>
                <a:latin typeface="メイリオ"/>
                <a:ea typeface="メイリオ"/>
                <a:cs typeface="メイリオ"/>
              </a:rPr>
              <a:t>「ポケモンセンター」</a:t>
            </a:r>
          </a:p>
          <a:p>
            <a:pPr algn="ctr">
              <a:spcAft>
                <a:spcPts val="100"/>
              </a:spcAft>
            </a:pPr>
            <a:r>
              <a:rPr sz="1250">
                <a:solidFill>
                  <a:srgbClr val="333333"/>
                </a:solidFill>
                <a:latin typeface="メイリオ"/>
                <a:ea typeface="メイリオ"/>
                <a:cs typeface="メイリオ"/>
              </a:rPr>
              <a:t>「七五三」</a:t>
            </a:r>
          </a:p>
          <a:p>
            <a:pPr algn="ctr">
              <a:spcAft>
                <a:spcPts val="100"/>
              </a:spcAft>
            </a:pPr>
            <a:r>
              <a:rPr sz="1250">
                <a:solidFill>
                  <a:srgbClr val="333333"/>
                </a:solidFill>
                <a:latin typeface="メイリオ"/>
                <a:ea typeface="メイリオ"/>
                <a:cs typeface="メイリオ"/>
              </a:rPr>
              <a:t>「ハーモニーランド」</a:t>
            </a:r>
          </a:p>
        </p:txBody>
      </p:sp>
      <p:sp>
        <p:nvSpPr>
          <p:cNvPr id="64" name="Rounded Rectangle 63"/>
          <p:cNvSpPr/>
          <p:nvPr/>
        </p:nvSpPr>
        <p:spPr>
          <a:xfrm>
            <a:off x="7758000" y="4478400"/>
            <a:ext cx="1807199" cy="1242000"/>
          </a:xfrm>
          <a:prstGeom prst="roundRect">
            <a:avLst>
              <a:gd name="adj" fmla="val 6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108000" tIns="21600" rIns="90000" bIns="21600" rtlCol="0" anchor="ctr"/>
          <a:lstStyle/>
          <a:p>
            <a:pPr algn="l">
              <a:lnSpc>
                <a:spcPct val="125000"/>
              </a:lnSpc>
            </a:pPr>
            <a:r>
              <a:rPr sz="1250" b="1">
                <a:solidFill>
                  <a:srgbClr val="0B7A3B"/>
                </a:solidFill>
                <a:latin typeface="メイリオ"/>
                <a:ea typeface="メイリオ"/>
                <a:cs typeface="メイリオ"/>
              </a:rPr>
              <a:t>季節の行事（七五三・夏休みなど）に合わせた企画配信</a:t>
            </a:r>
          </a:p>
        </p:txBody>
      </p:sp>
      <p:sp>
        <p:nvSpPr>
          <p:cNvPr id="65" name="TextBox 64"/>
          <p:cNvSpPr txBox="1"/>
          <p:nvPr/>
        </p:nvSpPr>
        <p:spPr>
          <a:xfrm>
            <a:off x="432000" y="5806800"/>
            <a:ext cx="1296000" cy="342000"/>
          </a:xfrm>
          <a:prstGeom prst="rect">
            <a:avLst/>
          </a:prstGeom>
          <a:noFill/>
        </p:spPr>
        <p:txBody>
          <a:bodyPr wrap="square" lIns="0" tIns="21600" rIns="0" bIns="21600" anchor="ctr">
            <a:spAutoFit/>
          </a:bodyPr>
          <a:lstStyle/>
          <a:p>
            <a:pPr algn="ctr"/>
            <a:r>
              <a:rPr sz="1200" b="1">
                <a:solidFill>
                  <a:srgbClr val="1F285A"/>
                </a:solidFill>
                <a:latin typeface="メイリオ"/>
                <a:ea typeface="メイリオ"/>
                <a:cs typeface="メイリオ"/>
              </a:rPr>
              <a:t>LINEへの動線</a:t>
            </a:r>
          </a:p>
        </p:txBody>
      </p:sp>
      <p:sp>
        <p:nvSpPr>
          <p:cNvPr id="66" name="Rounded Rectangle 65"/>
          <p:cNvSpPr/>
          <p:nvPr/>
        </p:nvSpPr>
        <p:spPr>
          <a:xfrm>
            <a:off x="1763999" y="5806800"/>
            <a:ext cx="1962000" cy="342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離脱防止バナーの掲載</a:t>
            </a:r>
          </a:p>
        </p:txBody>
      </p:sp>
      <p:sp>
        <p:nvSpPr>
          <p:cNvPr id="67" name="Rounded Rectangle 66"/>
          <p:cNvSpPr/>
          <p:nvPr/>
        </p:nvSpPr>
        <p:spPr>
          <a:xfrm>
            <a:off x="3761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LINE友だち追加</a:t>
            </a:r>
          </a:p>
        </p:txBody>
      </p:sp>
      <p:sp>
        <p:nvSpPr>
          <p:cNvPr id="68" name="Rounded Rectangle 67"/>
          <p:cNvSpPr/>
          <p:nvPr/>
        </p:nvSpPr>
        <p:spPr>
          <a:xfrm>
            <a:off x="5759999" y="5806800"/>
            <a:ext cx="1962000" cy="342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300" b="1">
                <a:solidFill>
                  <a:srgbClr val="FFFFFF"/>
                </a:solidFill>
                <a:latin typeface="メイリオ"/>
                <a:ea typeface="メイリオ"/>
                <a:cs typeface="メイリオ"/>
              </a:rPr>
              <a:t>LINE施策（投稿）</a:t>
            </a:r>
          </a:p>
        </p:txBody>
      </p:sp>
      <p:sp>
        <p:nvSpPr>
          <p:cNvPr id="69" name="TextBox 68"/>
          <p:cNvSpPr txBox="1"/>
          <p:nvPr/>
        </p:nvSpPr>
        <p:spPr>
          <a:xfrm>
            <a:off x="432000" y="6202800"/>
            <a:ext cx="9043200" cy="180000"/>
          </a:xfrm>
          <a:prstGeom prst="rect">
            <a:avLst/>
          </a:prstGeom>
          <a:noFill/>
        </p:spPr>
        <p:txBody>
          <a:bodyPr wrap="square" lIns="0" tIns="21600" rIns="0" bIns="21600" anchor="ctr">
            <a:spAutoFit/>
          </a:bodyPr>
          <a:lstStyle/>
          <a:p>
            <a:pPr algn="l"/>
            <a:r>
              <a:rPr sz="800">
                <a:solidFill>
                  <a:srgbClr val="7F7F7F"/>
                </a:solidFill>
                <a:latin typeface="メイリオ"/>
                <a:ea typeface="メイリオ"/>
                <a:cs typeface="メイリオ"/>
              </a:rPr>
              <a:t>出典：LINEヤフー社提供の前後検索データ（検索起点：「子ども 習い事」「習い事」）</a:t>
            </a:r>
          </a:p>
        </p:txBody>
      </p:sp>
    </p:spTree>
    <p:extLst>
      <p:ext uri="{BB962C8B-B14F-4D97-AF65-F5344CB8AC3E}">
        <p14:creationId xmlns:p14="http://schemas.microsoft.com/office/powerpoint/2010/main" val="99519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主要競合5社中、LINE公式アカウントを運用しているのは1社のみ</a:t>
            </a:r>
            <a:endParaRPr lang="en-US" altLang="ja-JP" b="0" dirty="0">
              <a:solidFill>
                <a:srgbClr val="333333"/>
              </a:solidFill>
              <a:latin typeface="メイリオ" panose="020B0604030504040204" pitchFamily="50" charset="-128"/>
              <a:ea typeface="メイリオ" panose="020B0604030504040204" pitchFamily="50" charset="-128"/>
              <a:cs typeface="Meiryo" pitchFamily="34" charset="-120"/>
            </a:endParaRPr>
          </a:p>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多くの競合がLINEに未着手のため、先行者優位を取りやすい</a:t>
            </a:r>
            <a:endParaRPr lang="en-US" altLang="ja-JP" sz="1800" b="1" dirty="0">
              <a:solidFill>
                <a:schemeClr val="tx1"/>
              </a:solidFill>
              <a:latin typeface="メイリオ" panose="020B0604030504040204" pitchFamily="50" charset="-128"/>
              <a:ea typeface="メイリオ" panose="020B0604030504040204" pitchFamily="50" charset="-128"/>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01898837"/>
              </p:ext>
            </p:extLst>
          </p:nvPr>
        </p:nvGraphicFramePr>
        <p:xfrm>
          <a:off x="384048" y="1600199"/>
          <a:ext cx="9134854" cy="3192348"/>
        </p:xfrm>
        <a:graphic>
          <a:graphicData uri="http://schemas.openxmlformats.org/drawingml/2006/table">
            <a:tbl>
              <a:tblPr firstRow="1" bandRow="1">
                <a:tableStyleId>{5C22544A-7EE6-4342-B048-85BDC9FD1C3A}</a:tableStyleId>
              </a:tblPr>
              <a:tblGrid>
                <a:gridCol w="2298767">
                  <a:extLst>
                    <a:ext uri="{9D8B030D-6E8A-4147-A177-3AD203B41FA5}">
                      <a16:colId xmlns:a16="http://schemas.microsoft.com/office/drawing/2014/main" val="20000"/>
                    </a:ext>
                  </a:extLst>
                </a:gridCol>
                <a:gridCol w="2027208">
                  <a:extLst>
                    <a:ext uri="{9D8B030D-6E8A-4147-A177-3AD203B41FA5}">
                      <a16:colId xmlns:a16="http://schemas.microsoft.com/office/drawing/2014/main" val="20001"/>
                    </a:ext>
                  </a:extLst>
                </a:gridCol>
                <a:gridCol w="2311879">
                  <a:extLst>
                    <a:ext uri="{9D8B030D-6E8A-4147-A177-3AD203B41FA5}">
                      <a16:colId xmlns:a16="http://schemas.microsoft.com/office/drawing/2014/main" val="20002"/>
                    </a:ext>
                  </a:extLst>
                </a:gridCol>
                <a:gridCol w="2497000">
                  <a:extLst>
                    <a:ext uri="{9D8B030D-6E8A-4147-A177-3AD203B41FA5}">
                      <a16:colId xmlns:a16="http://schemas.microsoft.com/office/drawing/2014/main" val="20003"/>
                    </a:ext>
                  </a:extLst>
                </a:gridCol>
              </a:tblGrid>
              <a:tr h="478047">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dirty="0" err="1">
                          <a:solidFill>
                            <a:srgbClr val="FFFFFF"/>
                          </a:solidFill>
                          <a:latin typeface="Meiryo"/>
                          <a:ea typeface="メイリオ"/>
                          <a:cs typeface="Meiryo"/>
                        </a:rPr>
                        <a:t>LINE公式アカウント</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訴求</a:t>
                      </a:r>
                      <a:endParaRPr sz="1100" b="1" dirty="0">
                        <a:solidFill>
                          <a:srgbClr val="FFFFFF"/>
                        </a:solidFill>
                        <a:latin typeface="Meiryo"/>
                        <a:ea typeface="メイリオ"/>
                        <a:cs typeface="Meiryo"/>
                      </a:endParaRPr>
                    </a:p>
                  </a:txBody>
                  <a:tcPr>
                    <a:solidFill>
                      <a:srgbClr val="1F2A5C"/>
                    </a:solidFill>
                  </a:tcPr>
                </a:tc>
                <a:tc>
                  <a:txBody>
                    <a:bodyPr/>
                    <a:lstStyle/>
                    <a:p>
                      <a:r>
                        <a:rPr sz="1100" b="1" dirty="0" err="1">
                          <a:solidFill>
                            <a:srgbClr val="FFFFFF"/>
                          </a:solidFill>
                          <a:latin typeface="Meiryo"/>
                          <a:ea typeface="メイリオ"/>
                          <a:cs typeface="Meiryo"/>
                        </a:rPr>
                        <a:t>忍者ナインとの比較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78047">
                <a:tc>
                  <a:txBody>
                    <a:bodyPr/>
                    <a:lstStyle/>
                    <a:p>
                      <a:r>
                        <a:rPr sz="1200" b="0" dirty="0" err="1">
                          <a:solidFill>
                            <a:srgbClr val="333333"/>
                          </a:solidFill>
                          <a:latin typeface="Meiryo"/>
                          <a:ea typeface="メイリオ"/>
                          <a:cs typeface="Meiryo"/>
                        </a:rPr>
                        <a:t>biima</a:t>
                      </a:r>
                      <a:r>
                        <a:rPr sz="1200" b="0" dirty="0">
                          <a:solidFill>
                            <a:srgbClr val="333333"/>
                          </a:solidFill>
                          <a:latin typeface="Meiryo"/>
                          <a:ea typeface="メイリオ"/>
                          <a:cs typeface="Meiryo"/>
                        </a:rPr>
                        <a:t> sports</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非認知能力×複合種目</a:t>
                      </a:r>
                    </a:p>
                  </a:txBody>
                  <a:tcPr>
                    <a:solidFill>
                      <a:srgbClr val="FFFFFF"/>
                    </a:solidFill>
                  </a:tcPr>
                </a:tc>
                <a:tc>
                  <a:txBody>
                    <a:bodyPr/>
                    <a:lstStyle/>
                    <a:p>
                      <a:r>
                        <a:rPr sz="1200" b="0" dirty="0" err="1">
                          <a:solidFill>
                            <a:srgbClr val="333333"/>
                          </a:solidFill>
                          <a:latin typeface="Meiryo"/>
                          <a:ea typeface="メイリオ"/>
                          <a:cs typeface="Meiryo"/>
                        </a:rPr>
                        <a:t>最も近いポジションだが</a:t>
                      </a:r>
                      <a:r>
                        <a:rPr lang="ja-JP" altLang="en-US"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LINE未活用</a:t>
                      </a:r>
                      <a:r>
                        <a:rPr sz="1200" b="0" dirty="0">
                          <a:solidFill>
                            <a:srgbClr val="333333"/>
                          </a:solidFill>
                          <a:latin typeface="Meiryo"/>
                          <a:ea typeface="メイリオ"/>
                          <a:cs typeface="Meiryo"/>
                        </a:rPr>
                        <a:t>。</a:t>
                      </a:r>
                      <a:endParaRPr lang="en-US"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先行できる</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78047">
                <a:tc>
                  <a:txBody>
                    <a:bodyPr/>
                    <a:lstStyle/>
                    <a:p>
                      <a:r>
                        <a:rPr sz="1200" b="0">
                          <a:solidFill>
                            <a:srgbClr val="333333"/>
                          </a:solidFill>
                          <a:latin typeface="Meiryo"/>
                          <a:ea typeface="メイリオ"/>
                          <a:cs typeface="Meiryo"/>
                        </a:rPr>
                        <a:t>ジャクパ</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a:solidFill>
                            <a:srgbClr val="333333"/>
                          </a:solidFill>
                          <a:latin typeface="Meiryo"/>
                          <a:ea typeface="メイリオ"/>
                          <a:cs typeface="Meiryo"/>
                        </a:rPr>
                        <a:t>園内開催・体操/サッカー中心</a:t>
                      </a:r>
                    </a:p>
                  </a:txBody>
                  <a:tcPr>
                    <a:solidFill>
                      <a:srgbClr val="FFFFFF"/>
                    </a:solidFill>
                  </a:tcPr>
                </a:tc>
                <a:tc>
                  <a:txBody>
                    <a:bodyPr/>
                    <a:lstStyle/>
                    <a:p>
                      <a:r>
                        <a:rPr sz="1200" b="0" dirty="0" err="1">
                          <a:solidFill>
                            <a:srgbClr val="333333"/>
                          </a:solidFill>
                          <a:latin typeface="Meiryo"/>
                          <a:ea typeface="メイリオ"/>
                          <a:cs typeface="Meiryo"/>
                        </a:rPr>
                        <a:t>低コストが強みだが</a:t>
                      </a:r>
                      <a:r>
                        <a:rPr lang="ja-JP" altLang="en-US" sz="1200" b="0" dirty="0">
                          <a:solidFill>
                            <a:srgbClr val="333333"/>
                          </a:solidFill>
                          <a:latin typeface="Meiryo"/>
                          <a:ea typeface="メイリオ"/>
                          <a:cs typeface="Meiryo"/>
                        </a:rPr>
                        <a:t>、</a:t>
                      </a:r>
                      <a:endParaRPr lang="en-US" altLang="ja-JP" sz="1200" b="0" dirty="0">
                        <a:solidFill>
                          <a:srgbClr val="333333"/>
                        </a:solidFill>
                        <a:latin typeface="Meiryo"/>
                        <a:ea typeface="メイリオ"/>
                        <a:cs typeface="Meiryo"/>
                      </a:endParaRPr>
                    </a:p>
                    <a:p>
                      <a:r>
                        <a:rPr sz="1200" b="0" dirty="0" err="1">
                          <a:solidFill>
                            <a:srgbClr val="333333"/>
                          </a:solidFill>
                          <a:latin typeface="Meiryo"/>
                          <a:ea typeface="メイリオ"/>
                          <a:cs typeface="Meiryo"/>
                        </a:rPr>
                        <a:t>デジタル接点は薄い</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78047">
                <a:tc>
                  <a:txBody>
                    <a:bodyPr/>
                    <a:lstStyle/>
                    <a:p>
                      <a:r>
                        <a:rPr sz="1200" b="0" dirty="0" err="1">
                          <a:solidFill>
                            <a:srgbClr val="333333"/>
                          </a:solidFill>
                          <a:latin typeface="Meiryo"/>
                          <a:ea typeface="メイリオ"/>
                          <a:cs typeface="Meiryo"/>
                        </a:rPr>
                        <a:t>コナミスポーツクラブ</a:t>
                      </a:r>
                      <a:r>
                        <a:rPr sz="1200" b="0" dirty="0">
                          <a:solidFill>
                            <a:srgbClr val="333333"/>
                          </a:solidFill>
                          <a:latin typeface="Meiryo"/>
                          <a:ea typeface="メイリオ"/>
                          <a:cs typeface="Meiryo"/>
                        </a:rPr>
                        <a:t> </a:t>
                      </a:r>
                      <a:r>
                        <a:rPr sz="1200" b="0" dirty="0" err="1">
                          <a:solidFill>
                            <a:srgbClr val="333333"/>
                          </a:solidFill>
                          <a:latin typeface="Meiryo"/>
                          <a:ea typeface="メイリオ"/>
                          <a:cs typeface="Meiryo"/>
                        </a:rPr>
                        <a:t>運動塾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大手施設・進級テスト制度</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施設力はあるが</a:t>
                      </a:r>
                      <a:r>
                        <a:rPr lang="ja-JP" altLang="en-US" sz="1200" b="0" dirty="0">
                          <a:solidFill>
                            <a:srgbClr val="333333"/>
                          </a:solidFill>
                          <a:latin typeface="Meiryo"/>
                          <a:ea typeface="メイリオ"/>
                          <a:cs typeface="Meiryo"/>
                        </a:rPr>
                        <a:t>、</a:t>
                      </a:r>
                      <a:r>
                        <a:rPr sz="1200" b="0" dirty="0" err="1">
                          <a:solidFill>
                            <a:srgbClr val="333333"/>
                          </a:solidFill>
                          <a:latin typeface="Meiryo"/>
                          <a:ea typeface="メイリオ"/>
                          <a:cs typeface="Meiryo"/>
                        </a:rPr>
                        <a:t>LINE未運用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78047">
                <a:tc>
                  <a:txBody>
                    <a:bodyPr/>
                    <a:lstStyle/>
                    <a:p>
                      <a:r>
                        <a:rPr sz="1200" b="0">
                          <a:solidFill>
                            <a:srgbClr val="333333"/>
                          </a:solidFill>
                          <a:latin typeface="Meiryo"/>
                          <a:ea typeface="メイリオ"/>
                          <a:cs typeface="Meiryo"/>
                        </a:rPr>
                        <a:t>スポーツクラブ ルネサンス</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エンジョイ重視・生きる力</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78047">
                <a:tc>
                  <a:txBody>
                    <a:bodyPr/>
                    <a:lstStyle/>
                    <a:p>
                      <a:r>
                        <a:rPr sz="1200" b="0" dirty="0" err="1">
                          <a:solidFill>
                            <a:srgbClr val="1F2A5C"/>
                          </a:solidFill>
                          <a:latin typeface="Meiryo"/>
                          <a:ea typeface="メイリオ"/>
                          <a:cs typeface="Meiryo"/>
                        </a:rPr>
                        <a:t>セントラルスポーツ</a:t>
                      </a:r>
                      <a:r>
                        <a:rPr sz="1200" b="0" dirty="0">
                          <a:solidFill>
                            <a:srgbClr val="1F2A5C"/>
                          </a:solidFill>
                          <a:latin typeface="Meiryo"/>
                          <a:ea typeface="メイリオ"/>
                          <a:cs typeface="Meiryo"/>
                        </a:rPr>
                        <a:t> </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キッズスクール</a:t>
                      </a:r>
                      <a:endParaRPr sz="1200" b="0" dirty="0">
                        <a:solidFill>
                          <a:srgbClr val="1F2A5C"/>
                        </a:solidFill>
                        <a:latin typeface="Meiryo"/>
                        <a:ea typeface="メイリオ"/>
                        <a:cs typeface="Meiryo"/>
                      </a:endParaRPr>
                    </a:p>
                  </a:txBody>
                  <a:tcPr>
                    <a:solidFill>
                      <a:srgbClr val="FFF3E0"/>
                    </a:solidFill>
                  </a:tcPr>
                </a:tc>
                <a:tc>
                  <a:txBody>
                    <a:bodyPr/>
                    <a:lstStyle/>
                    <a:p>
                      <a:r>
                        <a:rPr sz="1200" b="1" dirty="0">
                          <a:solidFill>
                            <a:srgbClr val="1F2A5C"/>
                          </a:solidFill>
                          <a:latin typeface="Meiryo"/>
                          <a:ea typeface="メイリオ"/>
                          <a:cs typeface="Meiryo"/>
                        </a:rPr>
                        <a:t>あり（友だち82,953人）</a:t>
                      </a:r>
                    </a:p>
                  </a:txBody>
                  <a:tcPr>
                    <a:solidFill>
                      <a:srgbClr val="FFF3E0"/>
                    </a:solidFill>
                  </a:tcPr>
                </a:tc>
                <a:tc>
                  <a:txBody>
                    <a:bodyPr/>
                    <a:lstStyle/>
                    <a:p>
                      <a:r>
                        <a:rPr sz="1200" b="0">
                          <a:solidFill>
                            <a:srgbClr val="1F2A5C"/>
                          </a:solidFill>
                          <a:latin typeface="Meiryo"/>
                          <a:ea typeface="メイリオ"/>
                          <a:cs typeface="Meiryo"/>
                        </a:rPr>
                        <a:t>体育補完・進級チェック制度</a:t>
                      </a:r>
                    </a:p>
                  </a:txBody>
                  <a:tcPr>
                    <a:solidFill>
                      <a:srgbClr val="FFF3E0"/>
                    </a:solidFill>
                  </a:tcPr>
                </a:tc>
                <a:tc>
                  <a:txBody>
                    <a:bodyPr/>
                    <a:lstStyle/>
                    <a:p>
                      <a:r>
                        <a:rPr sz="1200" b="0" dirty="0" err="1">
                          <a:solidFill>
                            <a:srgbClr val="1F2A5C"/>
                          </a:solidFill>
                          <a:latin typeface="Meiryo"/>
                          <a:ea typeface="メイリオ"/>
                          <a:cs typeface="Meiryo"/>
                        </a:rPr>
                        <a:t>業界内で唯一LINEを大規模運用</a:t>
                      </a:r>
                      <a:r>
                        <a:rPr sz="1200" b="0" dirty="0">
                          <a:solidFill>
                            <a:srgbClr val="1F2A5C"/>
                          </a:solidFill>
                          <a:latin typeface="Meiryo"/>
                          <a:ea typeface="メイリオ"/>
                          <a:cs typeface="Meiryo"/>
                        </a:rPr>
                        <a:t>。</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水準のベンチマーク</a:t>
                      </a:r>
                      <a:endParaRPr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5006659"/>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a:t>
            </a:r>
            <a:endParaRPr lang="en-US" sz="1600" b="1" dirty="0">
              <a:solidFill>
                <a:srgbClr val="BF4E0E"/>
              </a:solidFill>
              <a:latin typeface="Meiryo"/>
              <a:ea typeface="メイリオ"/>
              <a:cs typeface="Meiryo"/>
            </a:endParaRPr>
          </a:p>
          <a:p>
            <a:r>
              <a:rPr lang="ja-JP" altLang="en-US" sz="1600" b="1" dirty="0">
                <a:solidFill>
                  <a:srgbClr val="BF4E0E"/>
                </a:solidFill>
                <a:latin typeface="Meiryo"/>
                <a:ea typeface="メイリオ"/>
                <a:cs typeface="Meiryo"/>
              </a:rPr>
              <a:t>　⇒</a:t>
            </a:r>
            <a:r>
              <a:rPr sz="1600" b="1" dirty="0" err="1">
                <a:solidFill>
                  <a:srgbClr val="BF4E0E"/>
                </a:solidFill>
                <a:latin typeface="Meiryo"/>
                <a:ea typeface="メイリオ"/>
                <a:cs typeface="Meiryo"/>
              </a:rPr>
              <a:t>LINE運用を始めるだけで業界内の先行者</a:t>
            </a:r>
            <a:r>
              <a:rPr lang="ja-JP" altLang="en-US" sz="1600" b="1" dirty="0">
                <a:solidFill>
                  <a:srgbClr val="BF4E0E"/>
                </a:solidFill>
                <a:latin typeface="Meiryo"/>
                <a:ea typeface="メイリオ"/>
                <a:cs typeface="Meiryo"/>
              </a:rPr>
              <a:t>へ</a:t>
            </a:r>
            <a:endParaRPr sz="1600" b="1" dirty="0">
              <a:solidFill>
                <a:srgbClr val="BF4E0E"/>
              </a:solidFill>
              <a:latin typeface="Meiryo"/>
              <a:ea typeface="メイリオ"/>
              <a:cs typeface="Meiryo"/>
            </a:endParaRP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直接競合4社中、LINE公式アカウントを運用しているのは2社</a:t>
            </a:r>
            <a:endParaRPr lang="en-US" altLang="ja-JP" b="0" dirty="0">
              <a:solidFill>
                <a:srgbClr val="333333"/>
              </a:solidFill>
              <a:latin typeface="メイリオ" panose="020B0604030504040204" pitchFamily="50" charset="-128"/>
              <a:ea typeface="メイリオ" panose="020B0604030504040204" pitchFamily="50" charset="-128"/>
              <a:cs typeface="Meiryo" pitchFamily="34" charset="-120"/>
            </a:endParaRPr>
          </a:p>
          <a:p>
            <a:pPr marL="0" indent="0" algn="ctr">
              <a:buNone/>
            </a:pPr>
            <a:r>
              <a:rPr lang="ja-JP" altLang="en-US" b="0" dirty="0">
                <a:solidFill>
                  <a:srgbClr val="333333"/>
                </a:solidFill>
                <a:latin typeface="メイリオ" panose="020B0604030504040204" pitchFamily="50" charset="-128"/>
                <a:ea typeface="メイリオ" panose="020B0604030504040204" pitchFamily="50" charset="-128"/>
                <a:cs typeface="Meiryo" pitchFamily="34" charset="-120"/>
              </a:rPr>
              <a:t>知育→受験の2段構成という同じ設計で、すでに先行されて</a:t>
            </a:r>
            <a:r>
              <a:rPr lang="ja-JP" altLang="en-US" dirty="0">
                <a:solidFill>
                  <a:srgbClr val="333333"/>
                </a:solidFill>
                <a:latin typeface="メイリオ" panose="020B0604030504040204" pitchFamily="50" charset="-128"/>
                <a:ea typeface="メイリオ" panose="020B0604030504040204" pitchFamily="50" charset="-128"/>
                <a:cs typeface="Meiryo" pitchFamily="34" charset="-120"/>
              </a:rPr>
              <a:t>いる</a:t>
            </a:r>
            <a:endParaRPr lang="en-US" altLang="ja-JP" sz="1800" b="1" dirty="0">
              <a:solidFill>
                <a:schemeClr val="tx1"/>
              </a:solidFill>
              <a:latin typeface="メイリオ" panose="020B0604030504040204" pitchFamily="50" charset="-128"/>
              <a:ea typeface="メイリオ" panose="020B0604030504040204" pitchFamily="50" charset="-128"/>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2833546804"/>
              </p:ext>
            </p:extLst>
          </p:nvPr>
        </p:nvGraphicFramePr>
        <p:xfrm>
          <a:off x="384048" y="1600200"/>
          <a:ext cx="9134854" cy="2480095"/>
        </p:xfrm>
        <a:graphic>
          <a:graphicData uri="http://schemas.openxmlformats.org/drawingml/2006/table">
            <a:tbl>
              <a:tblPr firstRow="1" bandRow="1">
                <a:tableStyleId>{5C22544A-7EE6-4342-B048-85BDC9FD1C3A}</a:tableStyleId>
              </a:tblPr>
              <a:tblGrid>
                <a:gridCol w="1979590">
                  <a:extLst>
                    <a:ext uri="{9D8B030D-6E8A-4147-A177-3AD203B41FA5}">
                      <a16:colId xmlns:a16="http://schemas.microsoft.com/office/drawing/2014/main" val="20000"/>
                    </a:ext>
                  </a:extLst>
                </a:gridCol>
                <a:gridCol w="1871932">
                  <a:extLst>
                    <a:ext uri="{9D8B030D-6E8A-4147-A177-3AD203B41FA5}">
                      <a16:colId xmlns:a16="http://schemas.microsoft.com/office/drawing/2014/main" val="20001"/>
                    </a:ext>
                  </a:extLst>
                </a:gridCol>
                <a:gridCol w="2355011">
                  <a:extLst>
                    <a:ext uri="{9D8B030D-6E8A-4147-A177-3AD203B41FA5}">
                      <a16:colId xmlns:a16="http://schemas.microsoft.com/office/drawing/2014/main" val="20002"/>
                    </a:ext>
                  </a:extLst>
                </a:gridCol>
                <a:gridCol w="2928321">
                  <a:extLst>
                    <a:ext uri="{9D8B030D-6E8A-4147-A177-3AD203B41FA5}">
                      <a16:colId xmlns:a16="http://schemas.microsoft.com/office/drawing/2014/main" val="20003"/>
                    </a:ext>
                  </a:extLst>
                </a:gridCol>
              </a:tblGrid>
              <a:tr h="496019">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dirty="0" err="1">
                          <a:solidFill>
                            <a:srgbClr val="FFFFFF"/>
                          </a:solidFill>
                          <a:latin typeface="Meiryo"/>
                          <a:ea typeface="メイリオ"/>
                          <a:cs typeface="Meiryo"/>
                        </a:rPr>
                        <a:t>チャイルドアイズとの比較</a:t>
                      </a:r>
                      <a:endParaRPr sz="1100" b="1" dirty="0">
                        <a:solidFill>
                          <a:srgbClr val="FFFFFF"/>
                        </a:solidFill>
                        <a:latin typeface="Meiryo"/>
                        <a:ea typeface="メイリオ"/>
                        <a:cs typeface="Meiryo"/>
                      </a:endParaRPr>
                    </a:p>
                  </a:txBody>
                  <a:tcPr>
                    <a:solidFill>
                      <a:srgbClr val="1F2A5C"/>
                    </a:solidFill>
                  </a:tcPr>
                </a:tc>
                <a:extLst>
                  <a:ext uri="{0D108BD9-81ED-4DB2-BD59-A6C34878D82A}">
                    <a16:rowId xmlns:a16="http://schemas.microsoft.com/office/drawing/2014/main" val="10000"/>
                  </a:ext>
                </a:extLst>
              </a:tr>
              <a:tr h="496019">
                <a:tc>
                  <a:txBody>
                    <a:bodyPr/>
                    <a:lstStyle/>
                    <a:p>
                      <a:r>
                        <a:rPr sz="1200" b="0" dirty="0" err="1">
                          <a:solidFill>
                            <a:srgbClr val="333333"/>
                          </a:solidFill>
                          <a:latin typeface="Meiryo"/>
                          <a:ea typeface="メイリオ"/>
                          <a:cs typeface="Meiryo"/>
                        </a:rPr>
                        <a:t>ベビーパーク</a:t>
                      </a:r>
                      <a:endParaRPr lang="en-US" sz="1200" b="0" dirty="0">
                        <a:solidFill>
                          <a:srgbClr val="333333"/>
                        </a:solidFill>
                        <a:latin typeface="Meiryo"/>
                        <a:ea typeface="メイリオ"/>
                        <a:cs typeface="Meiryo"/>
                      </a:endParaRPr>
                    </a:p>
                    <a:p>
                      <a:r>
                        <a:rPr lang="ja-JP" altLang="en-US" sz="1200" b="0" dirty="0">
                          <a:solidFill>
                            <a:srgbClr val="333333"/>
                          </a:solidFill>
                          <a:latin typeface="Meiryo"/>
                          <a:ea typeface="メイリオ"/>
                          <a:cs typeface="Meiryo"/>
                        </a:rPr>
                        <a:t>キ</a:t>
                      </a:r>
                      <a:r>
                        <a:rPr sz="1200" b="0" dirty="0" err="1">
                          <a:solidFill>
                            <a:srgbClr val="333333"/>
                          </a:solidFill>
                          <a:latin typeface="Meiryo"/>
                          <a:ea typeface="メイリオ"/>
                          <a:cs typeface="Meiryo"/>
                        </a:rPr>
                        <a:t>ッズアカデミ</a:t>
                      </a:r>
                      <a:r>
                        <a:rPr sz="1200" b="0" dirty="0">
                          <a:solidFill>
                            <a:srgbClr val="333333"/>
                          </a:solidFill>
                          <a:latin typeface="Meiryo"/>
                          <a:ea typeface="メイリオ"/>
                          <a:cs typeface="Meiryo"/>
                        </a:rPr>
                        <a:t>ー</a:t>
                      </a:r>
                    </a:p>
                  </a:txBody>
                  <a:tcPr>
                    <a:solidFill>
                      <a:srgbClr val="FFFFFF"/>
                    </a:solidFill>
                  </a:tcPr>
                </a:tc>
                <a:tc>
                  <a:txBody>
                    <a:bodyPr/>
                    <a:lstStyle/>
                    <a:p>
                      <a:r>
                        <a:rPr sz="1200" b="0" dirty="0" err="1">
                          <a:solidFill>
                            <a:srgbClr val="333333"/>
                          </a:solidFill>
                          <a:latin typeface="Meiryo"/>
                          <a:ea typeface="メイリオ"/>
                          <a:cs typeface="Meiryo"/>
                        </a:rPr>
                        <a:t>なし</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a:solidFill>
                            <a:srgbClr val="333333"/>
                          </a:solidFill>
                          <a:latin typeface="Meiryo"/>
                          <a:ea typeface="メイリオ"/>
                          <a:cs typeface="Meiryo"/>
                        </a:rPr>
                        <a:t>知育特化・超早期（0歳〜）</a:t>
                      </a:r>
                    </a:p>
                  </a:txBody>
                  <a:tcPr>
                    <a:solidFill>
                      <a:srgbClr val="FFFFFF"/>
                    </a:solidFill>
                  </a:tcPr>
                </a:tc>
                <a:tc>
                  <a:txBody>
                    <a:bodyPr/>
                    <a:lstStyle/>
                    <a:p>
                      <a:r>
                        <a:rPr sz="12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96019">
                <a:tc>
                  <a:txBody>
                    <a:bodyPr/>
                    <a:lstStyle/>
                    <a:p>
                      <a:r>
                        <a:rPr sz="1200" b="0">
                          <a:solidFill>
                            <a:srgbClr val="333333"/>
                          </a:solidFill>
                          <a:latin typeface="Meiryo"/>
                          <a:ea typeface="メイリオ"/>
                          <a:cs typeface="Meiryo"/>
                        </a:rPr>
                        <a:t>伸芽会</a:t>
                      </a:r>
                    </a:p>
                  </a:txBody>
                  <a:tcPr>
                    <a:solidFill>
                      <a:srgbClr val="FFFFFF"/>
                    </a:solidFill>
                  </a:tcPr>
                </a:tc>
                <a:tc>
                  <a:txBody>
                    <a:bodyPr/>
                    <a:lstStyle/>
                    <a:p>
                      <a:r>
                        <a:rPr sz="1200" b="0">
                          <a:solidFill>
                            <a:srgbClr val="333333"/>
                          </a:solidFill>
                          <a:latin typeface="Meiryo"/>
                          <a:ea typeface="メイリオ"/>
                          <a:cs typeface="Meiryo"/>
                        </a:rPr>
                        <a:t>なし</a:t>
                      </a:r>
                    </a:p>
                  </a:txBody>
                  <a:tcPr>
                    <a:solidFill>
                      <a:srgbClr val="FFFFFF"/>
                    </a:solidFill>
                  </a:tcPr>
                </a:tc>
                <a:tc>
                  <a:txBody>
                    <a:bodyPr/>
                    <a:lstStyle/>
                    <a:p>
                      <a:r>
                        <a:rPr sz="1200" b="0" dirty="0" err="1">
                          <a:solidFill>
                            <a:srgbClr val="333333"/>
                          </a:solidFill>
                          <a:latin typeface="Meiryo"/>
                          <a:ea typeface="メイリオ"/>
                          <a:cs typeface="Meiryo"/>
                        </a:rPr>
                        <a:t>受験対策特化・名門校実績</a:t>
                      </a:r>
                      <a:endParaRPr sz="1200" b="0" dirty="0">
                        <a:solidFill>
                          <a:srgbClr val="333333"/>
                        </a:solidFill>
                        <a:latin typeface="Meiryo"/>
                        <a:ea typeface="メイリオ"/>
                        <a:cs typeface="Meiryo"/>
                      </a:endParaRPr>
                    </a:p>
                  </a:txBody>
                  <a:tcPr>
                    <a:solidFill>
                      <a:srgbClr val="FFFFFF"/>
                    </a:solidFill>
                  </a:tcPr>
                </a:tc>
                <a:tc>
                  <a:txBody>
                    <a:bodyPr/>
                    <a:lstStyle/>
                    <a:p>
                      <a:r>
                        <a:rPr sz="1200" b="0" dirty="0" err="1">
                          <a:solidFill>
                            <a:srgbClr val="333333"/>
                          </a:solidFill>
                          <a:latin typeface="Meiryo"/>
                          <a:ea typeface="メイリオ"/>
                          <a:cs typeface="Meiryo"/>
                        </a:rPr>
                        <a:t>LINE未活用。ブランド力で先行</a:t>
                      </a:r>
                      <a:endParaRPr sz="12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96019">
                <a:tc>
                  <a:txBody>
                    <a:bodyPr/>
                    <a:lstStyle/>
                    <a:p>
                      <a:r>
                        <a:rPr sz="1200" b="0">
                          <a:solidFill>
                            <a:srgbClr val="1F2A5C"/>
                          </a:solidFill>
                          <a:latin typeface="Meiryo"/>
                          <a:ea typeface="メイリオ"/>
                          <a:cs typeface="Meiryo"/>
                        </a:rPr>
                        <a:t>理英会</a:t>
                      </a:r>
                    </a:p>
                  </a:txBody>
                  <a:tcPr>
                    <a:solidFill>
                      <a:srgbClr val="FFF3E0"/>
                    </a:solidFill>
                  </a:tcPr>
                </a:tc>
                <a:tc>
                  <a:txBody>
                    <a:bodyPr/>
                    <a:lstStyle/>
                    <a:p>
                      <a:r>
                        <a:rPr sz="1200" b="1">
                          <a:solidFill>
                            <a:srgbClr val="1F2A5C"/>
                          </a:solidFill>
                          <a:latin typeface="Meiryo"/>
                          <a:ea typeface="メイリオ"/>
                          <a:cs typeface="Meiryo"/>
                        </a:rPr>
                        <a:t>あり（友だち4,475人）</a:t>
                      </a:r>
                    </a:p>
                  </a:txBody>
                  <a:tcPr>
                    <a:solidFill>
                      <a:srgbClr val="FFF3E0"/>
                    </a:solidFill>
                  </a:tcPr>
                </a:tc>
                <a:tc>
                  <a:txBody>
                    <a:bodyPr/>
                    <a:lstStyle/>
                    <a:p>
                      <a:r>
                        <a:rPr sz="1200" b="0">
                          <a:solidFill>
                            <a:srgbClr val="1F2A5C"/>
                          </a:solidFill>
                          <a:latin typeface="Meiryo"/>
                          <a:ea typeface="メイリオ"/>
                          <a:cs typeface="Meiryo"/>
                        </a:rPr>
                        <a:t>受験ノウハウ配信・体験会案内</a:t>
                      </a:r>
                    </a:p>
                  </a:txBody>
                  <a:tcPr>
                    <a:solidFill>
                      <a:srgbClr val="FFF3E0"/>
                    </a:solidFill>
                  </a:tcPr>
                </a:tc>
                <a:tc>
                  <a:txBody>
                    <a:bodyPr/>
                    <a:lstStyle/>
                    <a:p>
                      <a:r>
                        <a:rPr sz="12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96019">
                <a:tc>
                  <a:txBody>
                    <a:bodyPr/>
                    <a:lstStyle/>
                    <a:p>
                      <a:r>
                        <a:rPr sz="1200" b="0">
                          <a:solidFill>
                            <a:srgbClr val="1F2A5C"/>
                          </a:solidFill>
                          <a:latin typeface="Meiryo"/>
                          <a:ea typeface="メイリオ"/>
                          <a:cs typeface="Meiryo"/>
                        </a:rPr>
                        <a:t>どんちゃか幼児教室</a:t>
                      </a:r>
                    </a:p>
                  </a:txBody>
                  <a:tcPr>
                    <a:solidFill>
                      <a:srgbClr val="FFF3E0"/>
                    </a:solidFill>
                  </a:tcPr>
                </a:tc>
                <a:tc>
                  <a:txBody>
                    <a:bodyPr/>
                    <a:lstStyle/>
                    <a:p>
                      <a:r>
                        <a:rPr sz="1200" b="1">
                          <a:solidFill>
                            <a:srgbClr val="1F2A5C"/>
                          </a:solidFill>
                          <a:latin typeface="Meiryo"/>
                          <a:ea typeface="メイリオ"/>
                          <a:cs typeface="Meiryo"/>
                        </a:rPr>
                        <a:t>あり（友だち2,550人）</a:t>
                      </a:r>
                    </a:p>
                  </a:txBody>
                  <a:tcPr>
                    <a:solidFill>
                      <a:srgbClr val="FFF3E0"/>
                    </a:solidFill>
                  </a:tcPr>
                </a:tc>
                <a:tc>
                  <a:txBody>
                    <a:bodyPr/>
                    <a:lstStyle/>
                    <a:p>
                      <a:r>
                        <a:rPr sz="1200" b="0" dirty="0" err="1">
                          <a:solidFill>
                            <a:srgbClr val="1F2A5C"/>
                          </a:solidFill>
                          <a:latin typeface="Meiryo"/>
                          <a:ea typeface="メイリオ"/>
                          <a:cs typeface="Meiryo"/>
                        </a:rPr>
                        <a:t>育児コラム・季節講習案内</a:t>
                      </a:r>
                      <a:endParaRPr sz="1200" b="0" dirty="0">
                        <a:solidFill>
                          <a:srgbClr val="1F2A5C"/>
                        </a:solidFill>
                        <a:latin typeface="Meiryo"/>
                        <a:ea typeface="メイリオ"/>
                        <a:cs typeface="Meiryo"/>
                      </a:endParaRPr>
                    </a:p>
                  </a:txBody>
                  <a:tcPr>
                    <a:solidFill>
                      <a:srgbClr val="FFF3E0"/>
                    </a:solidFill>
                  </a:tcPr>
                </a:tc>
                <a:tc>
                  <a:txBody>
                    <a:bodyPr/>
                    <a:lstStyle/>
                    <a:p>
                      <a:r>
                        <a:rPr sz="1200" b="0" dirty="0" err="1">
                          <a:solidFill>
                            <a:srgbClr val="1F2A5C"/>
                          </a:solidFill>
                          <a:latin typeface="Meiryo"/>
                          <a:ea typeface="メイリオ"/>
                          <a:cs typeface="Meiryo"/>
                        </a:rPr>
                        <a:t>理英会と同一グループ</a:t>
                      </a:r>
                      <a:endParaRPr lang="en-US" sz="1200" b="0" dirty="0">
                        <a:solidFill>
                          <a:srgbClr val="1F2A5C"/>
                        </a:solidFill>
                        <a:latin typeface="Meiryo"/>
                        <a:ea typeface="メイリオ"/>
                        <a:cs typeface="Meiryo"/>
                      </a:endParaRPr>
                    </a:p>
                    <a:p>
                      <a:r>
                        <a:rPr sz="1200" b="0" dirty="0" err="1">
                          <a:solidFill>
                            <a:srgbClr val="1F2A5C"/>
                          </a:solidFill>
                          <a:latin typeface="Meiryo"/>
                          <a:ea typeface="メイリオ"/>
                          <a:cs typeface="Meiryo"/>
                        </a:rPr>
                        <a:t>乳幼児期の入口として運用</a:t>
                      </a:r>
                      <a:endParaRPr lang="en-US" sz="12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525417"/>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a:t>
            </a:r>
            <a:endParaRPr sz="1600" b="1" dirty="0">
              <a:solidFill>
                <a:srgbClr val="BF4E0E"/>
              </a:solidFill>
              <a:latin typeface="Meiryo"/>
              <a:ea typeface="メイリオ"/>
              <a:cs typeface="Meiryo"/>
            </a:endParaRP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79" name="Rounded Rectangle 78"/>
          <p:cNvSpPr/>
          <p:nvPr/>
        </p:nvSpPr>
        <p:spPr>
          <a:xfrm>
            <a:off x="432000" y="1639800"/>
            <a:ext cx="30960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1　対象範囲（4つの領域）</a:t>
            </a:r>
          </a:p>
        </p:txBody>
      </p:sp>
      <p:sp>
        <p:nvSpPr>
          <p:cNvPr id="80" name="Rounded Rectangle 79"/>
          <p:cNvSpPr/>
          <p:nvPr/>
        </p:nvSpPr>
        <p:spPr>
          <a:xfrm>
            <a:off x="4320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①</a:t>
            </a:r>
          </a:p>
          <a:p>
            <a:pPr algn="ctr"/>
            <a:r>
              <a:rPr sz="1600" b="1">
                <a:solidFill>
                  <a:srgbClr val="FFFFFF"/>
                </a:solidFill>
                <a:latin typeface="メイリオ"/>
                <a:ea typeface="メイリオ"/>
                <a:cs typeface="メイリオ"/>
              </a:rPr>
              <a:t>友だち追加</a:t>
            </a:r>
          </a:p>
        </p:txBody>
      </p:sp>
      <p:sp>
        <p:nvSpPr>
          <p:cNvPr id="81" name="Rounded Rectangle 80"/>
          <p:cNvSpPr/>
          <p:nvPr/>
        </p:nvSpPr>
        <p:spPr>
          <a:xfrm>
            <a:off x="27288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②</a:t>
            </a:r>
          </a:p>
          <a:p>
            <a:pPr algn="ctr"/>
            <a:r>
              <a:rPr sz="1600" b="1">
                <a:solidFill>
                  <a:srgbClr val="FFFFFF"/>
                </a:solidFill>
                <a:latin typeface="メイリオ"/>
                <a:ea typeface="メイリオ"/>
                <a:cs typeface="メイリオ"/>
              </a:rPr>
              <a:t>配信の効率改善</a:t>
            </a:r>
          </a:p>
        </p:txBody>
      </p:sp>
      <p:sp>
        <p:nvSpPr>
          <p:cNvPr id="82" name="Rounded Rectangle 81"/>
          <p:cNvSpPr/>
          <p:nvPr/>
        </p:nvSpPr>
        <p:spPr>
          <a:xfrm>
            <a:off x="50256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③</a:t>
            </a:r>
          </a:p>
          <a:p>
            <a:pPr algn="ctr"/>
            <a:r>
              <a:rPr sz="1600" b="1">
                <a:solidFill>
                  <a:srgbClr val="FFFFFF"/>
                </a:solidFill>
                <a:latin typeface="メイリオ"/>
                <a:ea typeface="メイリオ"/>
                <a:cs typeface="メイリオ"/>
              </a:rPr>
              <a:t>ユーザー満足度改善</a:t>
            </a:r>
          </a:p>
        </p:txBody>
      </p:sp>
      <p:sp>
        <p:nvSpPr>
          <p:cNvPr id="83" name="Rounded Rectangle 82"/>
          <p:cNvSpPr/>
          <p:nvPr/>
        </p:nvSpPr>
        <p:spPr>
          <a:xfrm>
            <a:off x="7322400" y="2071799"/>
            <a:ext cx="2152800" cy="900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21600" rIns="36000" bIns="21600" rtlCol="0" anchor="ctr"/>
          <a:lstStyle/>
          <a:p>
            <a:pPr algn="ctr">
              <a:spcAft>
                <a:spcPts val="200"/>
              </a:spcAft>
            </a:pPr>
            <a:r>
              <a:rPr sz="1600" b="1">
                <a:solidFill>
                  <a:srgbClr val="FFFFFF"/>
                </a:solidFill>
                <a:latin typeface="メイリオ"/>
                <a:ea typeface="メイリオ"/>
                <a:cs typeface="メイリオ"/>
              </a:rPr>
              <a:t>④</a:t>
            </a:r>
          </a:p>
          <a:p>
            <a:pPr algn="ctr"/>
            <a:r>
              <a:rPr sz="1600" b="1">
                <a:solidFill>
                  <a:srgbClr val="FFFFFF"/>
                </a:solidFill>
                <a:latin typeface="メイリオ"/>
                <a:ea typeface="メイリオ"/>
                <a:cs typeface="メイリオ"/>
              </a:rPr>
              <a:t>管理側の業務効率化</a:t>
            </a:r>
          </a:p>
        </p:txBody>
      </p:sp>
      <p:sp>
        <p:nvSpPr>
          <p:cNvPr id="84" name="TextBox 83"/>
          <p:cNvSpPr txBox="1"/>
          <p:nvPr/>
        </p:nvSpPr>
        <p:spPr>
          <a:xfrm>
            <a:off x="432000" y="3040266"/>
            <a:ext cx="9043200" cy="259065"/>
          </a:xfrm>
          <a:prstGeom prst="rect">
            <a:avLst/>
          </a:prstGeom>
          <a:noFill/>
        </p:spPr>
        <p:txBody>
          <a:bodyPr wrap="square" lIns="0" tIns="21600" rIns="0" bIns="21600" anchor="ctr">
            <a:spAutoFit/>
          </a:bodyPr>
          <a:lstStyle/>
          <a:p>
            <a:pPr algn="ctr"/>
            <a:r>
              <a:rPr sz="1400" dirty="0">
                <a:solidFill>
                  <a:srgbClr val="333333"/>
                </a:solidFill>
                <a:latin typeface="メイリオ"/>
                <a:ea typeface="メイリオ"/>
                <a:cs typeface="メイリオ"/>
              </a:rPr>
              <a:t>LINE公式アカウントの4つの領域を対象に、施策を設計</a:t>
            </a:r>
          </a:p>
        </p:txBody>
      </p:sp>
      <p:sp>
        <p:nvSpPr>
          <p:cNvPr id="85" name="Rounded Rectangle 84"/>
          <p:cNvSpPr/>
          <p:nvPr/>
        </p:nvSpPr>
        <p:spPr>
          <a:xfrm>
            <a:off x="4320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2　想定UU規模</a:t>
            </a:r>
          </a:p>
        </p:txBody>
      </p:sp>
      <p:sp>
        <p:nvSpPr>
          <p:cNvPr id="86" name="Rounded Rectangle 85"/>
          <p:cNvSpPr/>
          <p:nvPr/>
        </p:nvSpPr>
        <p:spPr>
          <a:xfrm>
            <a:off x="4320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友だち数は、導入できる動線の本数と整備の進み具合</a:t>
            </a:r>
            <a:r>
              <a:rPr lang="ja-JP" altLang="en-US" sz="1400" dirty="0">
                <a:solidFill>
                  <a:srgbClr val="333333"/>
                </a:solidFill>
                <a:latin typeface="メイリオ"/>
                <a:ea typeface="メイリオ"/>
                <a:cs typeface="メイリオ"/>
              </a:rPr>
              <a:t>により変動する</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数値はレンジの中間を基準にした試算例</a:t>
            </a:r>
            <a:endParaRPr sz="1400" dirty="0">
              <a:solidFill>
                <a:srgbClr val="333333"/>
              </a:solidFill>
              <a:latin typeface="メイリオ"/>
              <a:ea typeface="メイリオ"/>
              <a:cs typeface="メイリオ"/>
            </a:endParaRPr>
          </a:p>
        </p:txBody>
      </p:sp>
      <p:sp>
        <p:nvSpPr>
          <p:cNvPr id="87" name="Rounded Rectangle 86"/>
          <p:cNvSpPr/>
          <p:nvPr/>
        </p:nvSpPr>
        <p:spPr>
          <a:xfrm>
            <a:off x="34944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3　数値の位置づけ</a:t>
            </a:r>
          </a:p>
        </p:txBody>
      </p:sp>
      <p:sp>
        <p:nvSpPr>
          <p:cNvPr id="88" name="Rounded Rectangle 87"/>
          <p:cNvSpPr/>
          <p:nvPr/>
        </p:nvSpPr>
        <p:spPr>
          <a:xfrm>
            <a:off x="34944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開封率・クリック率・CVR・獲得件数は、業界一般値・弊社実績にもとづく数値</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実装できる範囲に合わせ、すり合わせのうえ精緻化</a:t>
            </a:r>
            <a:endParaRPr sz="1400" dirty="0">
              <a:solidFill>
                <a:srgbClr val="333333"/>
              </a:solidFill>
              <a:latin typeface="メイリオ"/>
              <a:ea typeface="メイリオ"/>
              <a:cs typeface="メイリオ"/>
            </a:endParaRPr>
          </a:p>
        </p:txBody>
      </p:sp>
      <p:sp>
        <p:nvSpPr>
          <p:cNvPr id="89" name="Rounded Rectangle 88"/>
          <p:cNvSpPr/>
          <p:nvPr/>
        </p:nvSpPr>
        <p:spPr>
          <a:xfrm>
            <a:off x="6556800" y="3475800"/>
            <a:ext cx="2918400" cy="360000"/>
          </a:xfrm>
          <a:prstGeom prst="roundRect">
            <a:avLst>
              <a:gd name="adj" fmla="val 18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400" b="1">
                <a:solidFill>
                  <a:srgbClr val="FFFFFF"/>
                </a:solidFill>
                <a:latin typeface="メイリオ"/>
                <a:ea typeface="メイリオ"/>
                <a:cs typeface="メイリオ"/>
              </a:rPr>
              <a:t>4　費用について</a:t>
            </a:r>
          </a:p>
        </p:txBody>
      </p:sp>
      <p:sp>
        <p:nvSpPr>
          <p:cNvPr id="90" name="Rounded Rectangle 89"/>
          <p:cNvSpPr/>
          <p:nvPr/>
        </p:nvSpPr>
        <p:spPr>
          <a:xfrm>
            <a:off x="6556800" y="3871800"/>
            <a:ext cx="2918400" cy="2160000"/>
          </a:xfrm>
          <a:prstGeom prst="roundRect">
            <a:avLst>
              <a:gd name="adj" fmla="val 5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44000" tIns="21600" rIns="125999" bIns="21600" rtlCol="0" anchor="ctr"/>
          <a:lstStyle/>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記載の費用（初期費用・月額費用）は前提の参考値</a:t>
            </a:r>
            <a:endParaRPr sz="1400" dirty="0">
              <a:solidFill>
                <a:srgbClr val="333333"/>
              </a:solidFill>
              <a:latin typeface="メイリオ"/>
              <a:ea typeface="メイリオ"/>
              <a:cs typeface="メイリオ"/>
            </a:endParaRPr>
          </a:p>
          <a:p>
            <a:pPr algn="l">
              <a:lnSpc>
                <a:spcPct val="135000"/>
              </a:lnSpc>
              <a:spcAft>
                <a:spcPts val="1000"/>
              </a:spcAft>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施策の範囲が決まったのち、別途お見積りをご案内します</a:t>
            </a:r>
            <a:endParaRPr sz="1400" dirty="0">
              <a:solidFill>
                <a:srgbClr val="333333"/>
              </a:solidFill>
              <a:latin typeface="メイリオ"/>
              <a:ea typeface="メイリオ"/>
              <a:cs typeface="メイリオ"/>
            </a:endParaRPr>
          </a:p>
        </p:txBody>
      </p:sp>
    </p:spTree>
    <p:extLst>
      <p:ext uri="{BB962C8B-B14F-4D97-AF65-F5344CB8AC3E}">
        <p14:creationId xmlns:p14="http://schemas.microsoft.com/office/powerpoint/2010/main" val="198554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2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2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616121"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a:t>
            </a:r>
            <a:endParaRPr lang="en-US" sz="14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2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2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a:t>
            </a:r>
            <a:r>
              <a:rPr lang="en-US" sz="14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セグメント別の企画配信で、開封〜CV</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までの導線を最適化</a:t>
            </a:r>
            <a:endParaRPr lang="en-US" sz="14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よくある質問への自動応答と、必要な場面での個別チャット対応でユーザー体験を</a:t>
            </a:r>
            <a:endParaRPr lang="en-US" sz="14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向上</a:t>
            </a:r>
            <a:endParaRPr lang="en-US" sz="14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2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2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400" dirty="0" err="1">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a:t>
            </a:r>
            <a:endParaRPr lang="en-US" sz="14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なし </a:t>
            </a:r>
            <a:r>
              <a:rPr lang="en-US" altLang="ja-JP" sz="1050" dirty="0">
                <a:solidFill>
                  <a:srgbClr val="FFFFFF"/>
                </a:solidFill>
                <a:latin typeface="メイリオ" panose="020B0604030504040204" pitchFamily="50" charset="-128"/>
                <a:ea typeface="メイリオ" panose="020B0604030504040204" pitchFamily="50" charset="-128"/>
              </a:rPr>
              <a:t>※OAM</a:t>
            </a:r>
            <a:r>
              <a:rPr lang="ja-JP" altLang="en-US" sz="1050" dirty="0">
                <a:solidFill>
                  <a:srgbClr val="FFFFFF"/>
                </a:solidFill>
                <a:latin typeface="メイリオ" panose="020B0604030504040204" pitchFamily="50" charset="-128"/>
                <a:ea typeface="メイリオ" panose="020B0604030504040204" pitchFamily="50" charset="-128"/>
              </a:rPr>
              <a:t>にて運用する</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600" b="1" dirty="0">
                <a:solidFill>
                  <a:srgbClr val="FFFFFF"/>
                </a:solidFill>
                <a:latin typeface="メイリオ" panose="020B0604030504040204" pitchFamily="50" charset="-128"/>
                <a:ea typeface="メイリオ" panose="020B0604030504040204" pitchFamily="50" charset="-128"/>
              </a:rPr>
              <a:t>あり</a:t>
            </a:r>
            <a:r>
              <a:rPr lang="ja-JP" altLang="en-US" sz="1600" dirty="0">
                <a:solidFill>
                  <a:srgbClr val="FFFFFF"/>
                </a:solidFill>
                <a:latin typeface="メイリオ" panose="020B0604030504040204" pitchFamily="50" charset="-128"/>
                <a:ea typeface="メイリオ" panose="020B0604030504040204" pitchFamily="50" charset="-128"/>
              </a:rPr>
              <a:t> </a:t>
            </a:r>
            <a:r>
              <a:rPr lang="en-US" altLang="ja-JP" sz="1200" dirty="0">
                <a:solidFill>
                  <a:srgbClr val="FFFFFF"/>
                </a:solidFill>
                <a:latin typeface="メイリオ" panose="020B0604030504040204" pitchFamily="50" charset="-128"/>
                <a:ea typeface="メイリオ" panose="020B0604030504040204" pitchFamily="50" charset="-128"/>
              </a:rPr>
              <a:t>※</a:t>
            </a:r>
            <a:r>
              <a:rPr lang="en-US" altLang="ja-JP" sz="1200" dirty="0" err="1">
                <a:solidFill>
                  <a:srgbClr val="FFFFFF"/>
                </a:solidFill>
                <a:latin typeface="メイリオ" panose="020B0604030504040204" pitchFamily="50" charset="-128"/>
                <a:ea typeface="メイリオ" panose="020B0604030504040204" pitchFamily="50" charset="-128"/>
              </a:rPr>
              <a:t>Lstep</a:t>
            </a:r>
            <a:r>
              <a:rPr lang="ja-JP" altLang="en-US" sz="1200" dirty="0">
                <a:solidFill>
                  <a:srgbClr val="FFFFFF"/>
                </a:solidFill>
                <a:latin typeface="メイリオ" panose="020B0604030504040204" pitchFamily="50" charset="-128"/>
                <a:ea typeface="メイリオ" panose="020B0604030504040204" pitchFamily="50" charset="-128"/>
              </a:rPr>
              <a:t>など汎用的なもの</a:t>
            </a:r>
            <a:endParaRPr lang="ja-JP" sz="16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1244600"/>
          </a:xfrm>
          <a:prstGeom prst="rect">
            <a:avLst/>
          </a:prstGeom>
          <a:solidFill>
            <a:srgbClr val="F0F2F7"/>
          </a:solidFill>
          <a:ln>
            <a:noFill/>
          </a:ln>
        </p:spPr>
        <p:txBody>
          <a:bodyPr wrap="square" lIns="177800" tIns="127000" rIns="177800" bIns="1270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4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400" dirty="0">
                <a:solidFill>
                  <a:srgbClr val="333333"/>
                </a:solidFill>
                <a:latin typeface="メイリオ" panose="020B0604030504040204" pitchFamily="50" charset="-128"/>
                <a:ea typeface="メイリオ" panose="020B0604030504040204" pitchFamily="50" charset="-128"/>
              </a:rPr>
              <a:t>や、詳細なセグメント設定</a:t>
            </a:r>
            <a:r>
              <a:rPr lang="ja-JP" sz="1400" dirty="0">
                <a:solidFill>
                  <a:srgbClr val="333333"/>
                </a:solidFill>
                <a:latin typeface="メイリオ" panose="020B0604030504040204" pitchFamily="50" charset="-128"/>
                <a:ea typeface="メイリオ" panose="020B0604030504040204" pitchFamily="50" charset="-128"/>
              </a:rPr>
              <a:t>を左右する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400" dirty="0">
                <a:solidFill>
                  <a:srgbClr val="333333"/>
                </a:solidFill>
                <a:latin typeface="メイリオ" panose="020B0604030504040204" pitchFamily="50" charset="-128"/>
                <a:ea typeface="メイリオ" panose="020B0604030504040204" pitchFamily="50" charset="-128"/>
              </a:rPr>
              <a:t>フローを踏むのが最適</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4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4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4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4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4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現状LINEとAPI連携ができておらず、</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400" dirty="0">
                <a:solidFill>
                  <a:srgbClr val="333333"/>
                </a:solidFill>
                <a:latin typeface="メイリオ" panose="020B0604030504040204" pitchFamily="50" charset="-128"/>
                <a:ea typeface="メイリオ" panose="020B0604030504040204" pitchFamily="50" charset="-128"/>
              </a:rPr>
              <a:t>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400" b="1" dirty="0">
                <a:solidFill>
                  <a:srgbClr val="00B050"/>
                </a:solidFill>
                <a:latin typeface="メイリオ" panose="020B0604030504040204" pitchFamily="50" charset="-128"/>
                <a:ea typeface="メイリオ" panose="020B0604030504040204" pitchFamily="50" charset="-128"/>
              </a:rPr>
              <a:t>デメリット</a:t>
            </a:r>
            <a:endParaRPr lang="en-US" altLang="ja-JP" sz="14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4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①離脱ユーザーの再育成による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（CVR：約2%／半年累計44件）</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6" name="正方形/長方形 85">
            <a:extLst>
              <a:ext uri="{FF2B5EF4-FFF2-40B4-BE49-F238E27FC236}">
                <a16:creationId xmlns:a16="http://schemas.microsoft.com/office/drawing/2014/main" id="{38F3E569-103C-B3AD-15E9-E0BB6026E36F}"/>
              </a:ext>
            </a:extLst>
          </p:cNvPr>
          <p:cNvSpPr/>
          <p:nvPr/>
        </p:nvSpPr>
        <p:spPr>
          <a:xfrm>
            <a:off x="6886308" y="44100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CPA</a:t>
            </a:r>
          </a:p>
        </p:txBody>
      </p:sp>
      <p:sp>
        <p:nvSpPr>
          <p:cNvPr id="13" name="テキスト ボックス 26">
            <a:extLst>
              <a:ext uri="{FF2B5EF4-FFF2-40B4-BE49-F238E27FC236}">
                <a16:creationId xmlns:a16="http://schemas.microsoft.com/office/drawing/2014/main" id="{8AD9CF0C-6AE4-2654-E1CB-1BB84E7C6E83}"/>
              </a:ext>
            </a:extLst>
          </p:cNvPr>
          <p:cNvSpPr txBox="1"/>
          <p:nvPr/>
        </p:nvSpPr>
        <p:spPr>
          <a:xfrm>
            <a:off x="8082000" y="44460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5,077〜5,333円</a:t>
            </a:r>
          </a:p>
        </p:txBody>
      </p:sp>
      <p:sp>
        <p:nvSpPr>
          <p:cNvPr id="20" name="正方形/長方形 85">
            <a:extLst>
              <a:ext uri="{FF2B5EF4-FFF2-40B4-BE49-F238E27FC236}">
                <a16:creationId xmlns:a16="http://schemas.microsoft.com/office/drawing/2014/main" id="{38F3E569-103C-B3AD-15E9-E0BB6026E36F}"/>
              </a:ext>
            </a:extLst>
          </p:cNvPr>
          <p:cNvSpPr/>
          <p:nvPr/>
        </p:nvSpPr>
        <p:spPr>
          <a:xfrm>
            <a:off x="6886308" y="4834800"/>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CPO</a:t>
            </a:r>
          </a:p>
        </p:txBody>
      </p:sp>
      <p:sp>
        <p:nvSpPr>
          <p:cNvPr id="24" name="テキスト ボックス 26">
            <a:extLst>
              <a:ext uri="{FF2B5EF4-FFF2-40B4-BE49-F238E27FC236}">
                <a16:creationId xmlns:a16="http://schemas.microsoft.com/office/drawing/2014/main" id="{8AD9CF0C-6AE4-2654-E1CB-1BB84E7C6E83}"/>
              </a:ext>
            </a:extLst>
          </p:cNvPr>
          <p:cNvSpPr txBox="1"/>
          <p:nvPr/>
        </p:nvSpPr>
        <p:spPr>
          <a:xfrm>
            <a:off x="8082000" y="4870800"/>
            <a:ext cx="1710000" cy="276999"/>
          </a:xfrm>
          <a:prstGeom prst="rect">
            <a:avLst/>
          </a:prstGeom>
          <a:noFill/>
        </p:spPr>
        <p:txBody>
          <a:bodyPr wrap="square">
            <a:spAutoFit/>
          </a:bodyPr>
          <a:lstStyle/>
          <a:p>
            <a:pPr algn="ctr"/>
            <a:r>
              <a:rPr lang="en-US" altLang="ja-JP" sz="1100" b="1" dirty="0">
                <a:solidFill>
                  <a:srgbClr val="1F285A"/>
                </a:solidFill>
                <a:latin typeface="メイリオ" panose="020B0604030504040204" pitchFamily="50" charset="-128"/>
                <a:ea typeface="メイリオ" panose="020B0604030504040204" pitchFamily="50" charset="-128"/>
              </a:rPr>
              <a:t>23,200〜38,000円</a:t>
            </a:r>
          </a:p>
        </p:txBody>
      </p:sp>
      <p:sp>
        <p:nvSpPr>
          <p:cNvPr id="87" name="TextBox 86"/>
          <p:cNvSpPr txBox="1"/>
          <p:nvPr/>
        </p:nvSpPr>
        <p:spPr>
          <a:xfrm>
            <a:off x="6840000" y="5292000"/>
            <a:ext cx="2880000" cy="216000"/>
          </a:xfrm>
          <a:prstGeom prst="rect">
            <a:avLst/>
          </a:prstGeom>
          <a:noFill/>
        </p:spPr>
        <p:txBody>
          <a:bodyPr wrap="square" lIns="0" tIns="21600" rIns="0" bIns="21600" anchor="t">
            <a:spAutoFit/>
          </a:bodyPr>
          <a:lstStyle/>
          <a:p>
            <a:pPr algn="l"/>
            <a:r>
              <a:rPr sz="900">
                <a:solidFill>
                  <a:srgbClr val="7F7F7F"/>
                </a:solidFill>
                <a:latin typeface="メイリオ"/>
                <a:ea typeface="メイリオ"/>
                <a:cs typeface="メイリオ"/>
              </a:rPr>
              <a:t>※6か月目の1か月分。月ごとの推移は次ページ</a:t>
            </a:r>
          </a:p>
        </p:txBody>
      </p:sp>
    </p:spTree>
    <p:extLst>
      <p:ext uri="{BB962C8B-B14F-4D97-AF65-F5344CB8AC3E}">
        <p14:creationId xmlns:p14="http://schemas.microsoft.com/office/powerpoint/2010/main" val="2658526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想定の費用対効果（CPA・CPOの推移）</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運用が育つにつれて体験予約・入会が増え、6か月目のCPA・CPOは1か月目より大きく下がる</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（4か月目は固定費が上がるため、一時的に上がる）</a:t>
            </a:r>
          </a:p>
        </p:txBody>
      </p:sp>
      <p:sp>
        <p:nvSpPr>
          <p:cNvPr id="46" name="Rounded Rectangle 45"/>
          <p:cNvSpPr/>
          <p:nvPr/>
        </p:nvSpPr>
        <p:spPr>
          <a:xfrm>
            <a:off x="432000" y="1565999"/>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00" b="1">
                <a:solidFill>
                  <a:srgbClr val="FFFFFF"/>
                </a:solidFill>
                <a:latin typeface="メイリオ"/>
                <a:ea typeface="メイリオ"/>
                <a:cs typeface="メイリオ"/>
              </a:rPr>
              <a:t>忍者ナイン</a:t>
            </a:r>
          </a:p>
        </p:txBody>
      </p:sp>
      <p:graphicFrame>
        <p:nvGraphicFramePr>
          <p:cNvPr id="47" name="Table 46"/>
          <p:cNvGraphicFramePr>
            <a:graphicFrameLocks noGrp="1"/>
          </p:cNvGraphicFramePr>
          <p:nvPr/>
        </p:nvGraphicFramePr>
        <p:xfrm>
          <a:off x="432000" y="1908000"/>
          <a:ext cx="9043200" cy="1517760"/>
        </p:xfrm>
        <a:graphic>
          <a:graphicData uri="http://schemas.openxmlformats.org/drawingml/2006/table">
            <a:tbl>
              <a:tblPr firstRow="1" bandRow="1">
                <a:tableStyleId>{5C22544A-7EE6-4342-B048-85BDC9FD1C3A}</a:tableStyleId>
              </a:tblPr>
              <a:tblGrid>
                <a:gridCol w="202320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1170000">
                  <a:extLst>
                    <a:ext uri="{9D8B030D-6E8A-4147-A177-3AD203B41FA5}">
                      <a16:colId xmlns:a16="http://schemas.microsoft.com/office/drawing/2014/main" val="20002"/>
                    </a:ext>
                  </a:extLst>
                </a:gridCol>
                <a:gridCol w="1170000">
                  <a:extLst>
                    <a:ext uri="{9D8B030D-6E8A-4147-A177-3AD203B41FA5}">
                      <a16:colId xmlns:a16="http://schemas.microsoft.com/office/drawing/2014/main" val="20003"/>
                    </a:ext>
                  </a:extLst>
                </a:gridCol>
                <a:gridCol w="1170000">
                  <a:extLst>
                    <a:ext uri="{9D8B030D-6E8A-4147-A177-3AD203B41FA5}">
                      <a16:colId xmlns:a16="http://schemas.microsoft.com/office/drawing/2014/main" val="20004"/>
                    </a:ext>
                  </a:extLst>
                </a:gridCol>
                <a:gridCol w="1170000">
                  <a:extLst>
                    <a:ext uri="{9D8B030D-6E8A-4147-A177-3AD203B41FA5}">
                      <a16:colId xmlns:a16="http://schemas.microsoft.com/office/drawing/2014/main" val="20005"/>
                    </a:ext>
                  </a:extLst>
                </a:gridCol>
                <a:gridCol w="1170000">
                  <a:extLst>
                    <a:ext uri="{9D8B030D-6E8A-4147-A177-3AD203B41FA5}">
                      <a16:colId xmlns:a16="http://schemas.microsoft.com/office/drawing/2014/main" val="20006"/>
                    </a:ext>
                  </a:extLst>
                </a:gridCol>
              </a:tblGrid>
              <a:tr h="288000">
                <a:tc>
                  <a:txBody>
                    <a:bodyPr/>
                    <a:lstStyle/>
                    <a:p>
                      <a:pPr algn="ctr"/>
                      <a:endParaRPr/>
                    </a:p>
                  </a:txBody>
                  <a:tcPr anchor="ctr">
                    <a:solidFill>
                      <a:srgbClr val="1F285A"/>
                    </a:solidFill>
                  </a:tcPr>
                </a:tc>
                <a:tc>
                  <a:txBody>
                    <a:bodyP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6か月目</a:t>
                      </a:r>
                    </a:p>
                  </a:txBody>
                  <a:tcPr anchor="ctr">
                    <a:solidFill>
                      <a:srgbClr val="1F285A"/>
                    </a:solidFill>
                  </a:tcPr>
                </a:tc>
                <a:extLst>
                  <a:ext uri="{0D108BD9-81ED-4DB2-BD59-A6C34878D82A}">
                    <a16:rowId xmlns:a16="http://schemas.microsoft.com/office/drawing/2014/main" val="10000"/>
                  </a:ext>
                </a:extLst>
              </a:tr>
              <a:tr h="288000">
                <a:tc>
                  <a:txBody>
                    <a:bodyP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6件</a:t>
                      </a:r>
                    </a:p>
                  </a:txBody>
                  <a:tcPr anchor="ctr">
                    <a:solidFill>
                      <a:srgbClr val="FFFFFF"/>
                    </a:solidFill>
                  </a:tcPr>
                </a:tc>
                <a:tc>
                  <a:txBody>
                    <a:bodyPr/>
                    <a:lstStyle/>
                    <a:p>
                      <a:pPr algn="r"/>
                      <a:r>
                        <a:rPr sz="1100" b="0">
                          <a:solidFill>
                            <a:srgbClr val="333333"/>
                          </a:solidFill>
                          <a:latin typeface="メイリオ"/>
                          <a:ea typeface="メイリオ"/>
                          <a:cs typeface="メイリオ"/>
                        </a:rPr>
                        <a:t>8件</a:t>
                      </a:r>
                    </a:p>
                  </a:txBody>
                  <a:tcPr anchor="ctr">
                    <a:solidFill>
                      <a:srgbClr val="FFFFFF"/>
                    </a:solidFill>
                  </a:tcPr>
                </a:tc>
                <a:tc>
                  <a:txBody>
                    <a:bodyPr/>
                    <a:lstStyle/>
                    <a:p>
                      <a:pPr algn="r"/>
                      <a:r>
                        <a:rPr sz="1100" b="0">
                          <a:solidFill>
                            <a:srgbClr val="333333"/>
                          </a:solidFill>
                          <a:latin typeface="メイリオ"/>
                          <a:ea typeface="メイリオ"/>
                          <a:cs typeface="メイリオ"/>
                        </a:rPr>
                        <a:t>11件</a:t>
                      </a:r>
                    </a:p>
                  </a:txBody>
                  <a:tcPr anchor="ctr">
                    <a:solidFill>
                      <a:srgbClr val="FFFFFF"/>
                    </a:solidFill>
                  </a:tcPr>
                </a:tc>
                <a:tc>
                  <a:txBody>
                    <a:bodyPr/>
                    <a:lstStyle/>
                    <a:p>
                      <a:pPr algn="r"/>
                      <a:r>
                        <a:rPr sz="1100" b="0">
                          <a:solidFill>
                            <a:srgbClr val="333333"/>
                          </a:solidFill>
                          <a:latin typeface="メイリオ"/>
                          <a:ea typeface="メイリオ"/>
                          <a:cs typeface="メイリオ"/>
                        </a:rPr>
                        <a:t>13件</a:t>
                      </a:r>
                    </a:p>
                  </a:txBody>
                  <a:tcPr anchor="ctr">
                    <a:solidFill>
                      <a:srgbClr val="FFFFFF"/>
                    </a:solidFill>
                  </a:tcPr>
                </a:tc>
                <a:extLst>
                  <a:ext uri="{0D108BD9-81ED-4DB2-BD59-A6C34878D82A}">
                    <a16:rowId xmlns:a16="http://schemas.microsoft.com/office/drawing/2014/main" val="10001"/>
                  </a:ext>
                </a:extLst>
              </a:tr>
              <a:tr h="288000">
                <a:tc>
                  <a:txBody>
                    <a:bodyP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5,333円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5,636円</a:t>
                      </a:r>
                    </a:p>
                  </a:txBody>
                  <a:tcPr anchor="ctr">
                    <a:solidFill>
                      <a:srgbClr val="F4F7FF"/>
                    </a:solidFill>
                  </a:tcPr>
                </a:tc>
                <a:tc>
                  <a:txBody>
                    <a:bodyPr/>
                    <a:lstStyle/>
                    <a:p>
                      <a:pPr algn="r"/>
                      <a:r>
                        <a:rPr sz="1100" b="1">
                          <a:solidFill>
                            <a:srgbClr val="333333"/>
                          </a:solidFill>
                          <a:latin typeface="メイリオ"/>
                          <a:ea typeface="メイリオ"/>
                          <a:cs typeface="メイリオ"/>
                        </a:rPr>
                        <a:t>5,077円</a:t>
                      </a:r>
                    </a:p>
                  </a:txBody>
                  <a:tcPr anchor="ctr">
                    <a:solidFill>
                      <a:srgbClr val="F4F7FF"/>
                    </a:solidFill>
                  </a:tcPr>
                </a:tc>
                <a:extLst>
                  <a:ext uri="{0D108BD9-81ED-4DB2-BD59-A6C34878D82A}">
                    <a16:rowId xmlns:a16="http://schemas.microsoft.com/office/drawing/2014/main" val="10002"/>
                  </a:ext>
                </a:extLst>
              </a:tr>
              <a:tr h="288000">
                <a:tc>
                  <a:txBody>
                    <a:bodyP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3件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5件</a:t>
                      </a:r>
                    </a:p>
                  </a:txBody>
                  <a:tcPr anchor="ctr">
                    <a:solidFill>
                      <a:srgbClr val="FFFFFF"/>
                    </a:solidFill>
                  </a:tcPr>
                </a:tc>
                <a:extLst>
                  <a:ext uri="{0D108BD9-81ED-4DB2-BD59-A6C34878D82A}">
                    <a16:rowId xmlns:a16="http://schemas.microsoft.com/office/drawing/2014/main" val="10003"/>
                  </a:ext>
                </a:extLst>
              </a:tr>
              <a:tr h="288000">
                <a:tc>
                  <a:txBody>
                    <a:bodyP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a:lstStyle/>
                    <a:p>
                      <a:pPr algn="r"/>
                      <a:r>
                        <a:rPr sz="1100" b="1">
                          <a:solidFill>
                            <a:srgbClr val="333333"/>
                          </a:solidFill>
                          <a:latin typeface="メイリオ"/>
                          <a:ea typeface="メイリオ"/>
                          <a:cs typeface="メイリオ"/>
                        </a:rPr>
                        <a:t>39,000円</a:t>
                      </a:r>
                    </a:p>
                  </a:txBody>
                  <a:tcPr anchor="ctr">
                    <a:solidFill>
                      <a:srgbClr val="F4F7FF"/>
                    </a:solidFill>
                  </a:tcPr>
                </a:tc>
                <a:tc>
                  <a:txBody>
                    <a:bodyPr/>
                    <a:lstStyle/>
                    <a:p>
                      <a:pPr algn="r"/>
                      <a:r>
                        <a:rPr sz="1100" b="1">
                          <a:solidFill>
                            <a:srgbClr val="333333"/>
                          </a:solidFill>
                          <a:latin typeface="メイリオ"/>
                          <a:ea typeface="メイリオ"/>
                          <a:cs typeface="メイリオ"/>
                        </a:rPr>
                        <a:t>41,000円</a:t>
                      </a:r>
                    </a:p>
                  </a:txBody>
                  <a:tcPr anchor="ctr">
                    <a:solidFill>
                      <a:srgbClr val="F4F7FF"/>
                    </a:solidFill>
                  </a:tcPr>
                </a:tc>
                <a:tc>
                  <a:txBody>
                    <a:bodyPr/>
                    <a:lstStyle/>
                    <a:p>
                      <a:pPr algn="r"/>
                      <a:r>
                        <a:rPr sz="1100" b="1">
                          <a:solidFill>
                            <a:srgbClr val="333333"/>
                          </a:solidFill>
                          <a:latin typeface="メイリオ"/>
                          <a:ea typeface="メイリオ"/>
                          <a:cs typeface="メイリオ"/>
                        </a:rPr>
                        <a:t>35,333円</a:t>
                      </a:r>
                    </a:p>
                  </a:txBody>
                  <a:tcPr anchor="ctr">
                    <a:solidFill>
                      <a:srgbClr val="F4F7FF"/>
                    </a:solidFill>
                  </a:tcPr>
                </a:tc>
                <a:tc>
                  <a:txBody>
                    <a:bodyPr/>
                    <a:lstStyle/>
                    <a:p>
                      <a:pPr algn="r"/>
                      <a:r>
                        <a:rPr sz="1100" b="1">
                          <a:solidFill>
                            <a:srgbClr val="333333"/>
                          </a:solidFill>
                          <a:latin typeface="メイリオ"/>
                          <a:ea typeface="メイリオ"/>
                          <a:cs typeface="メイリオ"/>
                        </a:rPr>
                        <a:t>28,000円</a:t>
                      </a:r>
                    </a:p>
                  </a:txBody>
                  <a:tcPr anchor="ctr">
                    <a:solidFill>
                      <a:srgbClr val="F4F7FF"/>
                    </a:solidFill>
                  </a:tcPr>
                </a:tc>
                <a:tc>
                  <a:txBody>
                    <a:bodyPr/>
                    <a:lstStyle/>
                    <a:p>
                      <a:pPr algn="r"/>
                      <a:r>
                        <a:rPr sz="1100" b="1">
                          <a:solidFill>
                            <a:srgbClr val="333333"/>
                          </a:solidFill>
                          <a:latin typeface="メイリオ"/>
                          <a:ea typeface="メイリオ"/>
                          <a:cs typeface="メイリオ"/>
                        </a:rPr>
                        <a:t>23,200円</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48" name="Rounded Rectangle 47"/>
          <p:cNvSpPr/>
          <p:nvPr/>
        </p:nvSpPr>
        <p:spPr>
          <a:xfrm>
            <a:off x="432000" y="3636000"/>
            <a:ext cx="1800000" cy="28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200" b="1">
                <a:solidFill>
                  <a:srgbClr val="FFFFFF"/>
                </a:solidFill>
                <a:latin typeface="メイリオ"/>
                <a:ea typeface="メイリオ"/>
                <a:cs typeface="メイリオ"/>
              </a:rPr>
              <a:t>チャイルドアイズ</a:t>
            </a:r>
          </a:p>
        </p:txBody>
      </p:sp>
      <p:graphicFrame>
        <p:nvGraphicFramePr>
          <p:cNvPr id="49" name="Table 48"/>
          <p:cNvGraphicFramePr>
            <a:graphicFrameLocks noGrp="1"/>
          </p:cNvGraphicFramePr>
          <p:nvPr/>
        </p:nvGraphicFramePr>
        <p:xfrm>
          <a:off x="432000" y="3977999"/>
          <a:ext cx="9043200" cy="1517760"/>
        </p:xfrm>
        <a:graphic>
          <a:graphicData uri="http://schemas.openxmlformats.org/drawingml/2006/table">
            <a:tbl>
              <a:tblPr firstRow="1" bandRow="1">
                <a:tableStyleId>{5C22544A-7EE6-4342-B048-85BDC9FD1C3A}</a:tableStyleId>
              </a:tblPr>
              <a:tblGrid>
                <a:gridCol w="2023200">
                  <a:extLst>
                    <a:ext uri="{9D8B030D-6E8A-4147-A177-3AD203B41FA5}">
                      <a16:colId xmlns:a16="http://schemas.microsoft.com/office/drawing/2014/main" val="20000"/>
                    </a:ext>
                  </a:extLst>
                </a:gridCol>
                <a:gridCol w="1170000">
                  <a:extLst>
                    <a:ext uri="{9D8B030D-6E8A-4147-A177-3AD203B41FA5}">
                      <a16:colId xmlns:a16="http://schemas.microsoft.com/office/drawing/2014/main" val="20001"/>
                    </a:ext>
                  </a:extLst>
                </a:gridCol>
                <a:gridCol w="1170000">
                  <a:extLst>
                    <a:ext uri="{9D8B030D-6E8A-4147-A177-3AD203B41FA5}">
                      <a16:colId xmlns:a16="http://schemas.microsoft.com/office/drawing/2014/main" val="20002"/>
                    </a:ext>
                  </a:extLst>
                </a:gridCol>
                <a:gridCol w="1170000">
                  <a:extLst>
                    <a:ext uri="{9D8B030D-6E8A-4147-A177-3AD203B41FA5}">
                      <a16:colId xmlns:a16="http://schemas.microsoft.com/office/drawing/2014/main" val="20003"/>
                    </a:ext>
                  </a:extLst>
                </a:gridCol>
                <a:gridCol w="1170000">
                  <a:extLst>
                    <a:ext uri="{9D8B030D-6E8A-4147-A177-3AD203B41FA5}">
                      <a16:colId xmlns:a16="http://schemas.microsoft.com/office/drawing/2014/main" val="20004"/>
                    </a:ext>
                  </a:extLst>
                </a:gridCol>
                <a:gridCol w="1170000">
                  <a:extLst>
                    <a:ext uri="{9D8B030D-6E8A-4147-A177-3AD203B41FA5}">
                      <a16:colId xmlns:a16="http://schemas.microsoft.com/office/drawing/2014/main" val="20005"/>
                    </a:ext>
                  </a:extLst>
                </a:gridCol>
                <a:gridCol w="1170000">
                  <a:extLst>
                    <a:ext uri="{9D8B030D-6E8A-4147-A177-3AD203B41FA5}">
                      <a16:colId xmlns:a16="http://schemas.microsoft.com/office/drawing/2014/main" val="20006"/>
                    </a:ext>
                  </a:extLst>
                </a:gridCol>
              </a:tblGrid>
              <a:tr h="288000">
                <a:tc>
                  <a:txBody>
                    <a:bodyPr/>
                    <a:lstStyle/>
                    <a:p>
                      <a:pPr algn="ctr"/>
                      <a:endParaRPr/>
                    </a:p>
                  </a:txBody>
                  <a:tcPr anchor="ctr">
                    <a:solidFill>
                      <a:srgbClr val="1F285A"/>
                    </a:solidFill>
                  </a:tcPr>
                </a:tc>
                <a:tc>
                  <a:txBody>
                    <a:bodyPr/>
                    <a:lstStyle/>
                    <a:p>
                      <a:pPr algn="ctr"/>
                      <a:r>
                        <a:rPr sz="1100" b="1">
                          <a:solidFill>
                            <a:srgbClr val="FFFFFF"/>
                          </a:solidFill>
                          <a:latin typeface="メイリオ"/>
                          <a:ea typeface="メイリオ"/>
                          <a:cs typeface="メイリオ"/>
                        </a:rPr>
                        <a:t>1か月目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2か月目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3か月目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4か月目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5か月目</a:t>
                      </a:r>
                    </a:p>
                  </a:txBody>
                  <a:tcPr anchor="ctr">
                    <a:solidFill>
                      <a:srgbClr val="1F285A"/>
                    </a:solidFill>
                  </a:tcPr>
                </a:tc>
                <a:tc>
                  <a:txBody>
                    <a:bodyPr/>
                    <a:lstStyle/>
                    <a:p>
                      <a:pPr algn="ctr"/>
                      <a:r>
                        <a:rPr sz="1100" b="1">
                          <a:solidFill>
                            <a:srgbClr val="FFFFFF"/>
                          </a:solidFill>
                          <a:latin typeface="メイリオ"/>
                          <a:ea typeface="メイリオ"/>
                          <a:cs typeface="メイリオ"/>
                        </a:rPr>
                        <a:t>6か月目</a:t>
                      </a:r>
                    </a:p>
                  </a:txBody>
                  <a:tcPr anchor="ctr">
                    <a:solidFill>
                      <a:srgbClr val="1F285A"/>
                    </a:solidFill>
                  </a:tcPr>
                </a:tc>
                <a:extLst>
                  <a:ext uri="{0D108BD9-81ED-4DB2-BD59-A6C34878D82A}">
                    <a16:rowId xmlns:a16="http://schemas.microsoft.com/office/drawing/2014/main" val="10000"/>
                  </a:ext>
                </a:extLst>
              </a:tr>
              <a:tr h="288000">
                <a:tc>
                  <a:txBody>
                    <a:bodyPr/>
                    <a:lstStyle/>
                    <a:p>
                      <a:pPr algn="l"/>
                      <a:r>
                        <a:rPr sz="1100" b="0">
                          <a:solidFill>
                            <a:srgbClr val="333333"/>
                          </a:solidFill>
                          <a:latin typeface="メイリオ"/>
                          <a:ea typeface="メイリオ"/>
                          <a:cs typeface="メイリオ"/>
                        </a:rPr>
                        <a:t>体験予約</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4件</a:t>
                      </a:r>
                    </a:p>
                  </a:txBody>
                  <a:tcPr anchor="ctr">
                    <a:solidFill>
                      <a:srgbClr val="FFFFFF"/>
                    </a:solidFill>
                  </a:tcPr>
                </a:tc>
                <a:tc>
                  <a:txBody>
                    <a:bodyPr/>
                    <a:lstStyle/>
                    <a:p>
                      <a:pPr algn="r"/>
                      <a:r>
                        <a:rPr sz="1100" b="0">
                          <a:solidFill>
                            <a:srgbClr val="333333"/>
                          </a:solidFill>
                          <a:latin typeface="メイリオ"/>
                          <a:ea typeface="メイリオ"/>
                          <a:cs typeface="メイリオ"/>
                        </a:rPr>
                        <a:t>7件</a:t>
                      </a:r>
                    </a:p>
                  </a:txBody>
                  <a:tcPr anchor="ctr">
                    <a:solidFill>
                      <a:srgbClr val="FFFFFF"/>
                    </a:solidFill>
                  </a:tcPr>
                </a:tc>
                <a:tc>
                  <a:txBody>
                    <a:bodyPr/>
                    <a:lstStyle/>
                    <a:p>
                      <a:pPr algn="r"/>
                      <a:r>
                        <a:rPr sz="1100" b="0">
                          <a:solidFill>
                            <a:srgbClr val="333333"/>
                          </a:solidFill>
                          <a:latin typeface="メイリオ"/>
                          <a:ea typeface="メイリオ"/>
                          <a:cs typeface="メイリオ"/>
                        </a:rPr>
                        <a:t>9件</a:t>
                      </a:r>
                    </a:p>
                  </a:txBody>
                  <a:tcPr anchor="ctr">
                    <a:solidFill>
                      <a:srgbClr val="FFFFFF"/>
                    </a:solidFill>
                  </a:tcPr>
                </a:tc>
                <a:tc>
                  <a:txBody>
                    <a:bodyPr/>
                    <a:lstStyle/>
                    <a:p>
                      <a:pPr algn="r"/>
                      <a:r>
                        <a:rPr sz="1100" b="0">
                          <a:solidFill>
                            <a:srgbClr val="333333"/>
                          </a:solidFill>
                          <a:latin typeface="メイリオ"/>
                          <a:ea typeface="メイリオ"/>
                          <a:cs typeface="メイリオ"/>
                        </a:rPr>
                        <a:t>10件</a:t>
                      </a:r>
                    </a:p>
                  </a:txBody>
                  <a:tcPr anchor="ctr">
                    <a:solidFill>
                      <a:srgbClr val="FFFFFF"/>
                    </a:solidFill>
                  </a:tcPr>
                </a:tc>
                <a:tc>
                  <a:txBody>
                    <a:bodyPr/>
                    <a:lstStyle/>
                    <a:p>
                      <a:pPr algn="r"/>
                      <a:r>
                        <a:rPr sz="1100" b="0">
                          <a:solidFill>
                            <a:srgbClr val="333333"/>
                          </a:solidFill>
                          <a:latin typeface="メイリオ"/>
                          <a:ea typeface="メイリオ"/>
                          <a:cs typeface="メイリオ"/>
                        </a:rPr>
                        <a:t>12件</a:t>
                      </a:r>
                    </a:p>
                  </a:txBody>
                  <a:tcPr anchor="ctr">
                    <a:solidFill>
                      <a:srgbClr val="FFFFFF"/>
                    </a:solidFill>
                  </a:tcPr>
                </a:tc>
                <a:extLst>
                  <a:ext uri="{0D108BD9-81ED-4DB2-BD59-A6C34878D82A}">
                    <a16:rowId xmlns:a16="http://schemas.microsoft.com/office/drawing/2014/main" val="10001"/>
                  </a:ext>
                </a:extLst>
              </a:tr>
              <a:tr h="288000">
                <a:tc>
                  <a:txBody>
                    <a:bodyPr/>
                    <a:lstStyle/>
                    <a:p>
                      <a:pPr algn="l"/>
                      <a:r>
                        <a:rPr sz="1100" b="1">
                          <a:solidFill>
                            <a:srgbClr val="333333"/>
                          </a:solidFill>
                          <a:latin typeface="メイリオ"/>
                          <a:ea typeface="メイリオ"/>
                          <a:cs typeface="メイリオ"/>
                        </a:rPr>
                        <a:t>CPA（体験予約1件）</a:t>
                      </a:r>
                    </a:p>
                  </a:txBody>
                  <a:tcPr anchor="ctr">
                    <a:solidFill>
                      <a:srgbClr val="F4F7FF"/>
                    </a:solidFill>
                  </a:tcPr>
                </a:tc>
                <a:tc>
                  <a:txBody>
                    <a:bodyPr/>
                    <a:lstStyle/>
                    <a:p>
                      <a:pPr algn="r"/>
                      <a:r>
                        <a:rPr sz="1100" b="1">
                          <a:solidFill>
                            <a:srgbClr val="333333"/>
                          </a:solidFill>
                          <a:latin typeface="メイリオ"/>
                          <a:ea typeface="メイリオ"/>
                          <a:cs typeface="メイリオ"/>
                        </a:rPr>
                        <a:t>12,000円</a:t>
                      </a:r>
                    </a:p>
                  </a:txBody>
                  <a:tcPr anchor="ctr">
                    <a:solidFill>
                      <a:srgbClr val="F4F7FF"/>
                    </a:solidFill>
                  </a:tcPr>
                </a:tc>
                <a:tc>
                  <a:txBody>
                    <a:bodyPr/>
                    <a:lstStyle/>
                    <a:p>
                      <a:pPr algn="r"/>
                      <a:r>
                        <a:rPr sz="1100" b="1">
                          <a:solidFill>
                            <a:srgbClr val="333333"/>
                          </a:solidFill>
                          <a:latin typeface="メイリオ"/>
                          <a:ea typeface="メイリオ"/>
                          <a:cs typeface="メイリオ"/>
                        </a:rPr>
                        <a:t>7,000円</a:t>
                      </a:r>
                    </a:p>
                  </a:txBody>
                  <a:tcPr anchor="ctr">
                    <a:solidFill>
                      <a:srgbClr val="F4F7FF"/>
                    </a:solidFill>
                  </a:tcPr>
                </a:tc>
                <a:tc>
                  <a:txBody>
                    <a:bodyPr/>
                    <a:lstStyle/>
                    <a:p>
                      <a:pPr algn="r"/>
                      <a:r>
                        <a:rPr sz="1100" b="1">
                          <a:solidFill>
                            <a:srgbClr val="333333"/>
                          </a:solidFill>
                          <a:latin typeface="メイリオ"/>
                          <a:ea typeface="メイリオ"/>
                          <a:cs typeface="メイリオ"/>
                        </a:rPr>
                        <a:t>4,857円</a:t>
                      </a:r>
                    </a:p>
                  </a:txBody>
                  <a:tcPr anchor="ctr">
                    <a:solidFill>
                      <a:srgbClr val="F4F7FF"/>
                    </a:solidFill>
                  </a:tcPr>
                </a:tc>
                <a:tc>
                  <a:txBody>
                    <a:bodyPr/>
                    <a:lstStyle/>
                    <a:p>
                      <a:pPr algn="r"/>
                      <a:r>
                        <a:rPr sz="1100" b="1">
                          <a:solidFill>
                            <a:srgbClr val="333333"/>
                          </a:solidFill>
                          <a:latin typeface="メイリオ"/>
                          <a:ea typeface="メイリオ"/>
                          <a:cs typeface="メイリオ"/>
                        </a:rPr>
                        <a:t>6,444円</a:t>
                      </a:r>
                    </a:p>
                  </a:txBody>
                  <a:tcPr anchor="ctr">
                    <a:solidFill>
                      <a:srgbClr val="F4F7FF"/>
                    </a:solidFill>
                  </a:tcPr>
                </a:tc>
                <a:tc>
                  <a:txBody>
                    <a:bodyPr/>
                    <a:lstStyle/>
                    <a:p>
                      <a:pPr algn="r"/>
                      <a:r>
                        <a:rPr sz="1100" b="1">
                          <a:solidFill>
                            <a:srgbClr val="333333"/>
                          </a:solidFill>
                          <a:latin typeface="メイリオ"/>
                          <a:ea typeface="メイリオ"/>
                          <a:cs typeface="メイリオ"/>
                        </a:rPr>
                        <a:t>6,000円</a:t>
                      </a:r>
                    </a:p>
                  </a:txBody>
                  <a:tcPr anchor="ctr">
                    <a:solidFill>
                      <a:srgbClr val="F4F7FF"/>
                    </a:solidFill>
                  </a:tcPr>
                </a:tc>
                <a:tc>
                  <a:txBody>
                    <a:bodyPr/>
                    <a:lstStyle/>
                    <a:p>
                      <a:pPr algn="r"/>
                      <a:r>
                        <a:rPr sz="1100" b="1">
                          <a:solidFill>
                            <a:srgbClr val="333333"/>
                          </a:solidFill>
                          <a:latin typeface="メイリオ"/>
                          <a:ea typeface="メイリオ"/>
                          <a:cs typeface="メイリオ"/>
                        </a:rPr>
                        <a:t>5,333円</a:t>
                      </a:r>
                    </a:p>
                  </a:txBody>
                  <a:tcPr anchor="ctr">
                    <a:solidFill>
                      <a:srgbClr val="F4F7FF"/>
                    </a:solidFill>
                  </a:tcPr>
                </a:tc>
                <a:extLst>
                  <a:ext uri="{0D108BD9-81ED-4DB2-BD59-A6C34878D82A}">
                    <a16:rowId xmlns:a16="http://schemas.microsoft.com/office/drawing/2014/main" val="10002"/>
                  </a:ext>
                </a:extLst>
              </a:tr>
              <a:tr h="288000">
                <a:tc>
                  <a:txBody>
                    <a:bodyPr/>
                    <a:lstStyle/>
                    <a:p>
                      <a:pPr algn="l"/>
                      <a:r>
                        <a:rPr sz="1100" b="0">
                          <a:solidFill>
                            <a:srgbClr val="333333"/>
                          </a:solidFill>
                          <a:latin typeface="メイリオ"/>
                          <a:ea typeface="メイリオ"/>
                          <a:cs typeface="メイリオ"/>
                        </a:rPr>
                        <a:t>入会</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1件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2件</a:t>
                      </a:r>
                    </a:p>
                  </a:txBody>
                  <a:tcPr anchor="ctr">
                    <a:solidFill>
                      <a:srgbClr val="FFFFFF"/>
                    </a:solidFill>
                  </a:tcPr>
                </a:tc>
                <a:tc>
                  <a:txBody>
                    <a:bodyPr/>
                    <a:lstStyle/>
                    <a:p>
                      <a:pPr algn="r"/>
                      <a:r>
                        <a:rPr sz="1100" b="0">
                          <a:solidFill>
                            <a:srgbClr val="333333"/>
                          </a:solidFill>
                          <a:latin typeface="メイリオ"/>
                          <a:ea typeface="メイリオ"/>
                          <a:cs typeface="メイリオ"/>
                        </a:rPr>
                        <a:t>3件</a:t>
                      </a:r>
                    </a:p>
                  </a:txBody>
                  <a:tcPr anchor="ctr">
                    <a:solidFill>
                      <a:srgbClr val="FFFFFF"/>
                    </a:solidFill>
                  </a:tcPr>
                </a:tc>
                <a:extLst>
                  <a:ext uri="{0D108BD9-81ED-4DB2-BD59-A6C34878D82A}">
                    <a16:rowId xmlns:a16="http://schemas.microsoft.com/office/drawing/2014/main" val="10003"/>
                  </a:ext>
                </a:extLst>
              </a:tr>
              <a:tr h="288000">
                <a:tc>
                  <a:txBody>
                    <a:bodyPr/>
                    <a:lstStyle/>
                    <a:p>
                      <a:pPr algn="l"/>
                      <a:r>
                        <a:rPr sz="1100" b="1">
                          <a:solidFill>
                            <a:srgbClr val="333333"/>
                          </a:solidFill>
                          <a:latin typeface="メイリオ"/>
                          <a:ea typeface="メイリオ"/>
                          <a:cs typeface="メイリオ"/>
                        </a:rPr>
                        <a:t>CPO（入会1件）</a:t>
                      </a:r>
                    </a:p>
                  </a:txBody>
                  <a:tcPr anchor="ctr">
                    <a:solidFill>
                      <a:srgbClr val="F4F7FF"/>
                    </a:solidFill>
                  </a:tcPr>
                </a:tc>
                <a:tc>
                  <a:txBody>
                    <a:bodyPr/>
                    <a:lstStyle/>
                    <a:p>
                      <a:pPr algn="r"/>
                      <a:r>
                        <a:rPr sz="1100" b="1">
                          <a:solidFill>
                            <a:srgbClr val="333333"/>
                          </a:solidFill>
                          <a:latin typeface="メイリオ"/>
                          <a:ea typeface="メイリオ"/>
                          <a:cs typeface="メイリオ"/>
                        </a:rPr>
                        <a:t>74,000円</a:t>
                      </a:r>
                    </a:p>
                  </a:txBody>
                  <a:tcPr anchor="ctr">
                    <a:solidFill>
                      <a:srgbClr val="F4F7FF"/>
                    </a:solidFill>
                  </a:tcPr>
                </a:tc>
                <a:tc>
                  <a:txBody>
                    <a:bodyPr/>
                    <a:lstStyle/>
                    <a:p>
                      <a:pPr algn="r"/>
                      <a:r>
                        <a:rPr sz="1100" b="1">
                          <a:solidFill>
                            <a:srgbClr val="333333"/>
                          </a:solidFill>
                          <a:latin typeface="メイリオ"/>
                          <a:ea typeface="メイリオ"/>
                          <a:cs typeface="メイリオ"/>
                        </a:rPr>
                        <a:t>78,000円</a:t>
                      </a:r>
                    </a:p>
                  </a:txBody>
                  <a:tcPr anchor="ctr">
                    <a:solidFill>
                      <a:srgbClr val="F4F7FF"/>
                    </a:solidFill>
                  </a:tcPr>
                </a:tc>
                <a:tc>
                  <a:txBody>
                    <a:bodyPr/>
                    <a:lstStyle/>
                    <a:p>
                      <a:pPr algn="r"/>
                      <a:r>
                        <a:rPr sz="1100" b="1">
                          <a:solidFill>
                            <a:srgbClr val="333333"/>
                          </a:solidFill>
                          <a:latin typeface="メイリオ"/>
                          <a:ea typeface="メイリオ"/>
                          <a:cs typeface="メイリオ"/>
                        </a:rPr>
                        <a:t>42,000円</a:t>
                      </a:r>
                    </a:p>
                  </a:txBody>
                  <a:tcPr anchor="ctr">
                    <a:solidFill>
                      <a:srgbClr val="F4F7FF"/>
                    </a:solidFill>
                  </a:tcPr>
                </a:tc>
                <a:tc>
                  <a:txBody>
                    <a:bodyPr/>
                    <a:lstStyle/>
                    <a:p>
                      <a:pPr algn="r"/>
                      <a:r>
                        <a:rPr sz="1100" b="1">
                          <a:solidFill>
                            <a:srgbClr val="333333"/>
                          </a:solidFill>
                          <a:latin typeface="メイリオ"/>
                          <a:ea typeface="メイリオ"/>
                          <a:cs typeface="メイリオ"/>
                        </a:rPr>
                        <a:t>54,000円</a:t>
                      </a:r>
                    </a:p>
                  </a:txBody>
                  <a:tcPr anchor="ctr">
                    <a:solidFill>
                      <a:srgbClr val="F4F7FF"/>
                    </a:solidFill>
                  </a:tcPr>
                </a:tc>
                <a:tc>
                  <a:txBody>
                    <a:bodyPr/>
                    <a:lstStyle/>
                    <a:p>
                      <a:pPr algn="r"/>
                      <a:r>
                        <a:rPr sz="1100" b="1">
                          <a:solidFill>
                            <a:srgbClr val="333333"/>
                          </a:solidFill>
                          <a:latin typeface="メイリオ"/>
                          <a:ea typeface="メイリオ"/>
                          <a:cs typeface="メイリオ"/>
                        </a:rPr>
                        <a:t>55,000円</a:t>
                      </a:r>
                    </a:p>
                  </a:txBody>
                  <a:tcPr anchor="ctr">
                    <a:solidFill>
                      <a:srgbClr val="F4F7FF"/>
                    </a:solidFill>
                  </a:tcPr>
                </a:tc>
                <a:tc>
                  <a:txBody>
                    <a:bodyPr/>
                    <a:lstStyle/>
                    <a:p>
                      <a:pPr algn="r"/>
                      <a:r>
                        <a:rPr sz="1100" b="1">
                          <a:solidFill>
                            <a:srgbClr val="333333"/>
                          </a:solidFill>
                          <a:latin typeface="メイリオ"/>
                          <a:ea typeface="メイリオ"/>
                          <a:cs typeface="メイリオ"/>
                        </a:rPr>
                        <a:t>38,000円</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0" name="TextBox 49"/>
          <p:cNvSpPr txBox="1"/>
          <p:nvPr/>
        </p:nvSpPr>
        <p:spPr>
          <a:xfrm>
            <a:off x="432000" y="5724000"/>
            <a:ext cx="9043200" cy="503999"/>
          </a:xfrm>
          <a:prstGeom prst="rect">
            <a:avLst/>
          </a:prstGeom>
          <a:noFill/>
        </p:spPr>
        <p:txBody>
          <a:bodyPr wrap="square" lIns="0" tIns="21600" rIns="0" bIns="21600" anchor="t">
            <a:spAutoFit/>
          </a:bodyPr>
          <a:lstStyle/>
          <a:p>
            <a:pPr algn="l">
              <a:lnSpc>
                <a:spcPct val="120000"/>
              </a:lnSpc>
            </a:pPr>
            <a:r>
              <a:rPr sz="900">
                <a:solidFill>
                  <a:srgbClr val="7F7F7F"/>
                </a:solidFill>
                <a:latin typeface="メイリオ"/>
                <a:ea typeface="メイリオ"/>
                <a:cs typeface="メイリオ"/>
              </a:rPr>
              <a:t>※CPA＝（固定費＋成果報酬 体験予約1件2,000円）÷体験予約。CPO＝（固定費＋成果報酬＋入会案内のコンサル費 50,000円）÷入会。初期費用は含みません。固定費は1〜3か月目20,000円、4か月目から40,000円。入会＝体験予約×入会引き上げ率（忍者ナイン40%・チャイルドアイズ25%）。各月の入会は整数にし、6か月の合計（17件・11件）に合わせています。サンクスLINE誘導（オプション）の費用は含みません。</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施策の詳細（既存の効率化）</a:t>
            </a:r>
          </a:p>
        </p:txBody>
      </p:sp>
    </p:spTree>
    <p:extLst>
      <p:ext uri="{BB962C8B-B14F-4D97-AF65-F5344CB8AC3E}">
        <p14:creationId xmlns:p14="http://schemas.microsoft.com/office/powerpoint/2010/main" val="172401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想定動線（既存の効率化）</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このパートでは、友だち追加後の配信と、ユーザー対応・管理側の効率化をご説明します。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（薄く表示している部分は、新規友だち獲得のパートでご説明します）</a:t>
            </a:r>
          </a:p>
        </p:txBody>
      </p:sp>
      <p:sp>
        <p:nvSpPr>
          <p:cNvPr id="71" name="Rectangle 70"/>
          <p:cNvSpPr/>
          <p:nvPr/>
        </p:nvSpPr>
        <p:spPr>
          <a:xfrm>
            <a:off x="468000" y="1890000"/>
            <a:ext cx="3150000" cy="214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58000" y="5813999"/>
            <a:ext cx="2628000" cy="594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84974798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dirty="0" err="1">
                          <a:solidFill>
                            <a:srgbClr val="333333"/>
                          </a:solidFill>
                          <a:latin typeface="Meiryo"/>
                          <a:ea typeface="メイリオ"/>
                          <a:cs typeface="Meiryo"/>
                        </a:rPr>
                        <a:t>全員</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dirty="0" err="1">
                          <a:solidFill>
                            <a:srgbClr val="333333"/>
                          </a:solidFill>
                          <a:latin typeface="Meiryo"/>
                          <a:ea typeface="メイリオ"/>
                          <a:cs typeface="Meiryo"/>
                        </a:rPr>
                        <a:t>診断未回答者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診断リマインド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診断結果配信＋タイプ別おすすめ種目紹介</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同タイプの在籍生の声・成長エピソード</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a:t>
                      </a:r>
                      <a:r>
                        <a:rPr sz="1400" b="0" dirty="0" err="1">
                          <a:solidFill>
                            <a:srgbClr val="333333"/>
                          </a:solidFill>
                          <a:latin typeface="Meiryo"/>
                          <a:ea typeface="メイリオ"/>
                          <a:cs typeface="Meiryo"/>
                        </a:rPr>
                        <a:t>非認知能力」訴求コンテンツ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保護者の疑問Q&amp;A（月謝・送迎・振替等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入会引き上げ率40% ＝ 入会17件として算出</a:t>
            </a:r>
          </a:p>
          <a:p>
            <a:r>
              <a:rPr sz="1400" b="1" dirty="0" err="1">
                <a:solidFill>
                  <a:srgbClr val="BF4E0E"/>
                </a:solidFill>
                <a:latin typeface="Meiryo"/>
                <a:ea typeface="メイリオ"/>
                <a:cs typeface="Meiryo"/>
              </a:rPr>
              <a:t>予約で止めず、入会までLINEで追いきります</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460211"/>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a:t>
            </a:r>
            <a:endParaRPr kumimoji="1" lang="en-US" altLang="zh-CN"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1" normalizeH="0" baseline="0" noProof="0" dirty="0">
                <a:ln>
                  <a:noFill/>
                </a:ln>
                <a:solidFill>
                  <a:srgbClr val="333333"/>
                </a:solidFill>
                <a:effectLst/>
                <a:uLnTx/>
                <a:uFillTx/>
                <a:latin typeface="Meiryo" panose="020B0604030504040204" pitchFamily="50" charset="-128"/>
                <a:ea typeface="メイリオ" panose="020B0604030504040204" pitchFamily="50" charset="-128"/>
                <a:cs typeface="Meiryo"/>
              </a:rPr>
              <a:t>（未予約者には再アプローチ、体験予約完了者は別シナリオへ分岐）</a:t>
            </a:r>
            <a:endParaRPr kumimoji="1" lang="en-US" sz="140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extLst>
              <p:ext uri="{D42A27DB-BD31-4B8C-83A1-F6EECF244321}">
                <p14:modId xmlns:p14="http://schemas.microsoft.com/office/powerpoint/2010/main" val="239461261"/>
              </p:ext>
            </p:extLst>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0日後</a:t>
                      </a:r>
                    </a:p>
                  </a:txBody>
                  <a:tcPr>
                    <a:solidFill>
                      <a:srgbClr val="FFFFFF"/>
                    </a:solidFill>
                  </a:tcPr>
                </a:tc>
                <a:tc>
                  <a:txBody>
                    <a:bodyPr/>
                    <a:lstStyle/>
                    <a:p>
                      <a:r>
                        <a:rPr sz="1400" b="0">
                          <a:solidFill>
                            <a:srgbClr val="333333"/>
                          </a:solidFill>
                          <a:latin typeface="Meiryo"/>
                          <a:ea typeface="メイリオ"/>
                          <a:cs typeface="Meiryo"/>
                        </a:rPr>
                        <a:t>全員</a:t>
                      </a:r>
                    </a:p>
                  </a:txBody>
                  <a:tcPr>
                    <a:solidFill>
                      <a:srgbClr val="FFFFFF"/>
                    </a:solidFill>
                  </a:tcPr>
                </a:tc>
                <a:tc>
                  <a:txBody>
                    <a:bodyPr/>
                    <a:lstStyle/>
                    <a:p>
                      <a:r>
                        <a:rPr sz="140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1日後</a:t>
                      </a:r>
                    </a:p>
                  </a:txBody>
                  <a:tcPr>
                    <a:solidFill>
                      <a:srgbClr val="FFFFFF"/>
                    </a:solidFill>
                  </a:tcPr>
                </a:tc>
                <a:tc>
                  <a:txBody>
                    <a:bodyPr/>
                    <a:lstStyle/>
                    <a:p>
                      <a:r>
                        <a:rPr sz="1400" b="0">
                          <a:solidFill>
                            <a:srgbClr val="333333"/>
                          </a:solidFill>
                          <a:latin typeface="Meiryo"/>
                          <a:ea typeface="メイリオ"/>
                          <a:cs typeface="Meiryo"/>
                        </a:rPr>
                        <a:t>診断未回答者</a:t>
                      </a:r>
                    </a:p>
                  </a:txBody>
                  <a:tcPr>
                    <a:solidFill>
                      <a:srgbClr val="FFFFFF"/>
                    </a:solidFill>
                  </a:tcPr>
                </a:tc>
                <a:tc>
                  <a:txBody>
                    <a:bodyPr/>
                    <a:lstStyle/>
                    <a:p>
                      <a:r>
                        <a:rPr sz="140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2日後</a:t>
                      </a:r>
                    </a:p>
                  </a:txBody>
                  <a:tcPr>
                    <a:solidFill>
                      <a:srgbClr val="FFFFFF"/>
                    </a:solidFill>
                  </a:tcPr>
                </a:tc>
                <a:tc>
                  <a:txBody>
                    <a:bodyPr/>
                    <a:lstStyle/>
                    <a:p>
                      <a:r>
                        <a:rPr sz="1400" b="0" dirty="0" err="1">
                          <a:solidFill>
                            <a:srgbClr val="333333"/>
                          </a:solidFill>
                          <a:latin typeface="Meiryo"/>
                          <a:ea typeface="メイリオ"/>
                          <a:cs typeface="Meiryo"/>
                        </a:rPr>
                        <a:t>診断回答者</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4日後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同タイプの卒業生・在籍生の声</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6日後</a:t>
                      </a:r>
                    </a:p>
                  </a:txBody>
                  <a:tcPr>
                    <a:solidFill>
                      <a:srgbClr val="FFFFFF"/>
                    </a:solidFill>
                  </a:tcPr>
                </a:tc>
                <a:tc>
                  <a:txBody>
                    <a:bodyPr/>
                    <a:lstStyle/>
                    <a:p>
                      <a:r>
                        <a:rPr sz="1400" b="0">
                          <a:solidFill>
                            <a:srgbClr val="333333"/>
                          </a:solidFill>
                          <a:latin typeface="Meiryo"/>
                          <a:ea typeface="メイリオ"/>
                          <a:cs typeface="Meiryo"/>
                        </a:rPr>
                        <a:t>同上</a:t>
                      </a:r>
                    </a:p>
                  </a:txBody>
                  <a:tcPr>
                    <a:solidFill>
                      <a:srgbClr val="FFFFFF"/>
                    </a:solidFill>
                  </a:tcPr>
                </a:tc>
                <a:tc>
                  <a:txBody>
                    <a:bodyPr/>
                    <a:lstStyle/>
                    <a:p>
                      <a:r>
                        <a:rPr sz="1400" b="0" dirty="0" err="1">
                          <a:solidFill>
                            <a:srgbClr val="333333"/>
                          </a:solidFill>
                          <a:latin typeface="Meiryo"/>
                          <a:ea typeface="メイリオ"/>
                          <a:cs typeface="Meiryo"/>
                        </a:rPr>
                        <a:t>体験予約への案内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12日後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保護者の疑問Q&amp;A（費用・年齢・通塾頻度等</a:t>
                      </a:r>
                      <a:r>
                        <a:rPr sz="1400" b="0" dirty="0">
                          <a:solidFill>
                            <a:srgbClr val="333333"/>
                          </a:solidFill>
                          <a:latin typeface="Meiryo"/>
                          <a:ea typeface="メイリオ"/>
                          <a:cs typeface="Meiryo"/>
                        </a:rPr>
                        <a:t>）</a:t>
                      </a: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14日後</a:t>
                      </a:r>
                    </a:p>
                  </a:txBody>
                  <a:tcPr>
                    <a:solidFill>
                      <a:srgbClr val="FFFFFF"/>
                    </a:solidFill>
                  </a:tcPr>
                </a:tc>
                <a:tc>
                  <a:txBody>
                    <a:bodyPr/>
                    <a:lstStyle/>
                    <a:p>
                      <a:r>
                        <a:rPr sz="1400" b="0">
                          <a:solidFill>
                            <a:srgbClr val="333333"/>
                          </a:solidFill>
                          <a:latin typeface="Meiryo"/>
                          <a:ea typeface="メイリオ"/>
                          <a:cs typeface="Meiryo"/>
                        </a:rPr>
                        <a:t>未予約者</a:t>
                      </a:r>
                    </a:p>
                  </a:txBody>
                  <a:tcPr>
                    <a:solidFill>
                      <a:srgbClr val="FFFFFF"/>
                    </a:solidFill>
                  </a:tcPr>
                </a:tc>
                <a:tc>
                  <a:txBody>
                    <a:bodyPr/>
                    <a:lstStyle/>
                    <a:p>
                      <a:r>
                        <a:rPr sz="1400" b="0" dirty="0" err="1">
                          <a:solidFill>
                            <a:srgbClr val="333333"/>
                          </a:solidFill>
                          <a:latin typeface="Meiryo"/>
                          <a:ea typeface="メイリオ"/>
                          <a:cs typeface="Meiryo"/>
                        </a:rPr>
                        <a:t>体験予約の最終案内</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738664"/>
          </a:xfrm>
          <a:prstGeom prst="rect">
            <a:avLst/>
          </a:prstGeom>
          <a:noFill/>
        </p:spPr>
        <p:txBody>
          <a:bodyPr wrap="square">
            <a:spAutoFit/>
          </a:bodyPr>
          <a:lstStyle/>
          <a:p>
            <a:r>
              <a:rPr sz="1400" b="1" dirty="0">
                <a:solidFill>
                  <a:srgbClr val="BF4E0E"/>
                </a:solidFill>
                <a:latin typeface="Meiryo"/>
                <a:ea typeface="メイリオ"/>
                <a:cs typeface="Meiryo"/>
              </a:rPr>
              <a:t>体験予約44件（6ヶ月累計）× 入会引き上げ率25% ＝ 入会11件として算出</a:t>
            </a:r>
          </a:p>
          <a:p>
            <a:r>
              <a:rPr sz="1400" b="1" dirty="0" err="1">
                <a:solidFill>
                  <a:srgbClr val="BF4E0E"/>
                </a:solidFill>
                <a:latin typeface="Meiryo"/>
                <a:ea typeface="メイリオ"/>
                <a:cs typeface="Meiryo"/>
              </a:rPr>
              <a:t>予約で止めず、入会までLINEで追いきります</a:t>
            </a:r>
            <a:endParaRPr lang="en-US" sz="1400" b="1" dirty="0">
              <a:solidFill>
                <a:srgbClr val="BF4E0E"/>
              </a:solidFill>
              <a:latin typeface="Meiryo"/>
              <a:ea typeface="メイリオ"/>
              <a:cs typeface="Meiryo"/>
            </a:endParaRPr>
          </a:p>
          <a:p>
            <a:r>
              <a:rPr sz="1400" b="1" dirty="0">
                <a:solidFill>
                  <a:srgbClr val="BF4E0E"/>
                </a:solidFill>
                <a:latin typeface="Meiryo"/>
                <a:ea typeface="メイリオ"/>
                <a:cs typeface="Meiryo"/>
              </a:rPr>
              <a:t>（</a:t>
            </a:r>
            <a:r>
              <a:rPr sz="1400" b="1" dirty="0" err="1">
                <a:solidFill>
                  <a:srgbClr val="BF4E0E"/>
                </a:solidFill>
                <a:latin typeface="Meiryo"/>
                <a:ea typeface="メイリオ"/>
                <a:cs typeface="Meiryo"/>
              </a:rPr>
              <a:t>体験前リマインド→当日案内→体験後フォロ</a:t>
            </a:r>
            <a:r>
              <a:rPr sz="1400" b="1" dirty="0">
                <a:solidFill>
                  <a:srgbClr val="BF4E0E"/>
                </a:solidFill>
                <a:latin typeface="Meiryo"/>
                <a:ea typeface="メイリオ"/>
                <a:cs typeface="Meiryo"/>
              </a:rPr>
              <a:t>ー→</a:t>
            </a:r>
            <a:r>
              <a:rPr sz="1400" b="1" dirty="0" err="1">
                <a:solidFill>
                  <a:srgbClr val="BF4E0E"/>
                </a:solidFill>
                <a:latin typeface="Meiryo"/>
                <a:ea typeface="メイリオ"/>
                <a:cs typeface="Meiryo"/>
              </a:rPr>
              <a:t>入会のご案内を別シナリオで配信</a:t>
            </a:r>
            <a:r>
              <a:rPr sz="1400" b="1" dirty="0">
                <a:solidFill>
                  <a:srgbClr val="BF4E0E"/>
                </a:solidFill>
                <a:latin typeface="Meiryo"/>
                <a:ea typeface="メイリオ"/>
                <a:cs typeface="Meiryo"/>
              </a:rPr>
              <a:t>）</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87126696"/>
              </p:ext>
            </p:extLst>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新学年スタート訴求</a:t>
                      </a:r>
                    </a:p>
                  </a:txBody>
                  <a:tcPr>
                    <a:solidFill>
                      <a:srgbClr val="FFFFFF"/>
                    </a:solidFill>
                  </a:tcPr>
                </a:tc>
                <a:tc>
                  <a:txBody>
                    <a:bodyPr/>
                    <a:lstStyle/>
                    <a:p>
                      <a:r>
                        <a:rPr sz="140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1-3月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4-5月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6月</a:t>
                      </a:r>
                    </a:p>
                  </a:txBody>
                  <a:tcPr>
                    <a:solidFill>
                      <a:srgbClr val="FFFFFF"/>
                    </a:solidFill>
                  </a:tcPr>
                </a:tc>
                <a:tc>
                  <a:txBody>
                    <a:bodyPr/>
                    <a:lstStyle/>
                    <a:p>
                      <a:r>
                        <a:rPr sz="1400" b="0" dirty="0" err="1">
                          <a:solidFill>
                            <a:srgbClr val="333333"/>
                          </a:solidFill>
                          <a:latin typeface="Meiryo"/>
                          <a:ea typeface="メイリオ"/>
                          <a:cs typeface="Meiryo"/>
                        </a:rPr>
                        <a:t>LINEリサーチでニーズ収集</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複合種目デー投稿</a:t>
                      </a:r>
                    </a:p>
                  </a:txBody>
                  <a:tcPr>
                    <a:solidFill>
                      <a:srgbClr val="FFFFFF"/>
                    </a:solidFill>
                  </a:tcPr>
                </a:tc>
                <a:tc>
                  <a:txBody>
                    <a:bodyPr/>
                    <a:lstStyle/>
                    <a:p>
                      <a:r>
                        <a:rPr sz="140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400" b="0">
                          <a:solidFill>
                            <a:srgbClr val="333333"/>
                          </a:solidFill>
                          <a:latin typeface="Meiryo"/>
                          <a:ea typeface="メイリオ"/>
                          <a:cs typeface="Meiryo"/>
                        </a:rPr>
                        <a:t>8月</a:t>
                      </a:r>
                    </a:p>
                  </a:txBody>
                  <a:tcPr>
                    <a:solidFill>
                      <a:srgbClr val="FFFFFF"/>
                    </a:solidFill>
                  </a:tcPr>
                </a:tc>
                <a:tc>
                  <a:txBody>
                    <a:bodyPr/>
                    <a:lstStyle/>
                    <a:p>
                      <a:r>
                        <a:rPr sz="1400" b="0" dirty="0" err="1">
                          <a:solidFill>
                            <a:srgbClr val="333333"/>
                          </a:solidFill>
                          <a:latin typeface="Meiryo"/>
                          <a:ea typeface="メイリオ"/>
                          <a:cs typeface="Meiryo"/>
                        </a:rPr>
                        <a:t>短期集中イベント＋先着特典</a:t>
                      </a:r>
                      <a:endParaRPr sz="1400" b="0" dirty="0">
                        <a:solidFill>
                          <a:srgbClr val="333333"/>
                        </a:solidFill>
                        <a:latin typeface="Meiryo"/>
                        <a:ea typeface="メイリオ"/>
                        <a:cs typeface="Meiryo"/>
                      </a:endParaRPr>
                    </a:p>
                  </a:txBody>
                  <a:tcPr>
                    <a:solidFill>
                      <a:srgbClr val="FFFFFF"/>
                    </a:solidFill>
                  </a:tcPr>
                </a:tc>
                <a:tc>
                  <a:txBody>
                    <a:bodyPr/>
                    <a:lstStyle/>
                    <a:p>
                      <a:r>
                        <a:rPr sz="1400" b="0" dirty="0" err="1">
                          <a:solidFill>
                            <a:srgbClr val="333333"/>
                          </a:solidFill>
                          <a:latin typeface="Meiryo"/>
                          <a:ea typeface="メイリオ"/>
                          <a:cs typeface="Meiryo"/>
                        </a:rPr>
                        <a:t>夏休み短期教室の告知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運動会シーズン訴求</a:t>
                      </a:r>
                    </a:p>
                  </a:txBody>
                  <a:tcPr>
                    <a:solidFill>
                      <a:srgbClr val="FFFFFF"/>
                    </a:solidFill>
                  </a:tcPr>
                </a:tc>
                <a:tc>
                  <a:txBody>
                    <a:bodyPr/>
                    <a:lstStyle/>
                    <a:p>
                      <a:r>
                        <a:rPr sz="1400" b="0" dirty="0" err="1">
                          <a:solidFill>
                            <a:srgbClr val="333333"/>
                          </a:solidFill>
                          <a:latin typeface="Meiryo"/>
                          <a:ea typeface="メイリオ"/>
                          <a:cs typeface="Meiryo"/>
                        </a:rPr>
                        <a:t>運動会に向けた訴求コンテンツ</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7"/>
                  </a:ext>
                </a:extLst>
              </a:tr>
              <a:tr h="411480">
                <a:tc>
                  <a:txBody>
                    <a:bodyPr/>
                    <a:lstStyle/>
                    <a:p>
                      <a:r>
                        <a:rPr sz="1400" b="0">
                          <a:solidFill>
                            <a:srgbClr val="333333"/>
                          </a:solidFill>
                          <a:latin typeface="Meiryo"/>
                          <a:ea typeface="メイリオ"/>
                          <a:cs typeface="Meiryo"/>
                        </a:rPr>
                        <a:t>9-10月</a:t>
                      </a:r>
                    </a:p>
                  </a:txBody>
                  <a:tcPr>
                    <a:solidFill>
                      <a:srgbClr val="FFFFFF"/>
                    </a:solidFill>
                  </a:tcPr>
                </a:tc>
                <a:tc>
                  <a:txBody>
                    <a:bodyPr/>
                    <a:lstStyle/>
                    <a:p>
                      <a:r>
                        <a:rPr sz="1400" b="0">
                          <a:solidFill>
                            <a:srgbClr val="333333"/>
                          </a:solidFill>
                          <a:latin typeface="Meiryo"/>
                          <a:ea typeface="メイリオ"/>
                          <a:cs typeface="Meiryo"/>
                        </a:rPr>
                        <a:t>運動能力の見える化企画</a:t>
                      </a:r>
                    </a:p>
                  </a:txBody>
                  <a:tcPr>
                    <a:solidFill>
                      <a:srgbClr val="FFFFFF"/>
                    </a:solidFill>
                  </a:tcPr>
                </a:tc>
                <a:tc>
                  <a:txBody>
                    <a:bodyPr/>
                    <a:lstStyle/>
                    <a:p>
                      <a:r>
                        <a:rPr sz="1400" b="0" dirty="0" err="1">
                          <a:solidFill>
                            <a:srgbClr val="333333"/>
                          </a:solidFill>
                          <a:latin typeface="Meiryo"/>
                          <a:ea typeface="メイリオ"/>
                          <a:cs typeface="Meiryo"/>
                        </a:rPr>
                        <a:t>入会時と現在の適性診断結果を比較</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8"/>
                  </a:ext>
                </a:extLst>
              </a:tr>
              <a:tr h="411480">
                <a:tc>
                  <a:txBody>
                    <a:bodyPr/>
                    <a:lstStyle/>
                    <a:p>
                      <a:r>
                        <a:rPr sz="1400" b="0">
                          <a:solidFill>
                            <a:srgbClr val="333333"/>
                          </a:solidFill>
                          <a:latin typeface="Meiryo"/>
                          <a:ea typeface="メイリオ"/>
                          <a:cs typeface="Meiryo"/>
                        </a:rPr>
                        <a:t>11-12月</a:t>
                      </a:r>
                    </a:p>
                  </a:txBody>
                  <a:tcPr>
                    <a:solidFill>
                      <a:srgbClr val="FFFFFF"/>
                    </a:solidFill>
                  </a:tcPr>
                </a:tc>
                <a:tc>
                  <a:txBody>
                    <a:bodyPr/>
                    <a:lstStyle/>
                    <a:p>
                      <a:r>
                        <a:rPr sz="1400" b="0">
                          <a:solidFill>
                            <a:srgbClr val="333333"/>
                          </a:solidFill>
                          <a:latin typeface="Meiryo"/>
                          <a:ea typeface="メイリオ"/>
                          <a:cs typeface="Meiryo"/>
                        </a:rPr>
                        <a:t>短期集中イベント＋先着特典</a:t>
                      </a:r>
                    </a:p>
                  </a:txBody>
                  <a:tcPr>
                    <a:solidFill>
                      <a:srgbClr val="FFFFFF"/>
                    </a:solidFill>
                  </a:tcPr>
                </a:tc>
                <a:tc>
                  <a:txBody>
                    <a:bodyPr/>
                    <a:lstStyle/>
                    <a:p>
                      <a:r>
                        <a:rPr sz="1400" b="0" dirty="0" err="1">
                          <a:solidFill>
                            <a:srgbClr val="333333"/>
                          </a:solidFill>
                          <a:latin typeface="Meiryo"/>
                          <a:ea typeface="メイリオ"/>
                          <a:cs typeface="Meiryo"/>
                        </a:rPr>
                        <a:t>冬休み短期教室の告知</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07777"/>
          </a:xfrm>
          <a:prstGeom prst="rect">
            <a:avLst/>
          </a:prstGeom>
          <a:noFill/>
        </p:spPr>
        <p:txBody>
          <a:bodyPr wrap="square">
            <a:spAutoFit/>
          </a:bodyPr>
          <a:lstStyle/>
          <a:p>
            <a:pPr algn="l"/>
            <a:r>
              <a:rPr sz="1400" b="0" i="0" dirty="0" err="1">
                <a:solidFill>
                  <a:srgbClr val="333333"/>
                </a:solidFill>
                <a:latin typeface="Meiryo"/>
                <a:ea typeface="メイリオ"/>
                <a:cs typeface="Meiryo"/>
              </a:rPr>
              <a:t>年間を通じて、新規獲得・友だち増加・満足度向上を狙う企画投稿を月別に配置する</a:t>
            </a:r>
            <a:endParaRPr sz="1400" b="0" i="0" dirty="0">
              <a:solidFill>
                <a:srgbClr val="333333"/>
              </a:solidFill>
              <a:latin typeface="Meiryo"/>
              <a:ea typeface="メイリオ"/>
              <a:cs typeface="Meiryo"/>
            </a:endParaRPr>
          </a:p>
        </p:txBody>
      </p:sp>
      <p:graphicFrame>
        <p:nvGraphicFramePr>
          <p:cNvPr id="46" name="Table 45"/>
          <p:cNvGraphicFramePr>
            <a:graphicFrameLocks noGrp="1"/>
          </p:cNvGraphicFramePr>
          <p:nvPr>
            <p:extLst>
              <p:ext uri="{D42A27DB-BD31-4B8C-83A1-F6EECF244321}">
                <p14:modId xmlns:p14="http://schemas.microsoft.com/office/powerpoint/2010/main" val="2733379206"/>
              </p:ext>
            </p:extLst>
          </p:nvPr>
        </p:nvGraphicFramePr>
        <p:xfrm>
          <a:off x="457200" y="1371600"/>
          <a:ext cx="8988551" cy="2987040"/>
        </p:xfrm>
        <a:graphic>
          <a:graphicData uri="http://schemas.openxmlformats.org/drawingml/2006/table">
            <a:tbl>
              <a:tblPr firstRow="1" bandRow="1">
                <a:tableStyleId>{5C22544A-7EE6-4342-B048-85BDC9FD1C3A}</a:tableStyleId>
              </a:tblPr>
              <a:tblGrid>
                <a:gridCol w="1345721">
                  <a:extLst>
                    <a:ext uri="{9D8B030D-6E8A-4147-A177-3AD203B41FA5}">
                      <a16:colId xmlns:a16="http://schemas.microsoft.com/office/drawing/2014/main" val="20000"/>
                    </a:ext>
                  </a:extLst>
                </a:gridCol>
                <a:gridCol w="2898475">
                  <a:extLst>
                    <a:ext uri="{9D8B030D-6E8A-4147-A177-3AD203B41FA5}">
                      <a16:colId xmlns:a16="http://schemas.microsoft.com/office/drawing/2014/main" val="20001"/>
                    </a:ext>
                  </a:extLst>
                </a:gridCol>
                <a:gridCol w="4744355">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400" b="0" dirty="0">
                          <a:solidFill>
                            <a:srgbClr val="333333"/>
                          </a:solidFill>
                          <a:latin typeface="Meiryo"/>
                          <a:ea typeface="メイリオ"/>
                          <a:cs typeface="Meiryo"/>
                        </a:rPr>
                        <a:t>1-2月</a:t>
                      </a:r>
                    </a:p>
                  </a:txBody>
                  <a:tcPr>
                    <a:solidFill>
                      <a:srgbClr val="FFFFFF"/>
                    </a:solidFill>
                  </a:tcPr>
                </a:tc>
                <a:tc>
                  <a:txBody>
                    <a:bodyPr/>
                    <a:lstStyle/>
                    <a:p>
                      <a:r>
                        <a:rPr sz="1400" b="0">
                          <a:solidFill>
                            <a:srgbClr val="333333"/>
                          </a:solidFill>
                          <a:latin typeface="Meiryo"/>
                          <a:ea typeface="メイリオ"/>
                          <a:cs typeface="Meiryo"/>
                        </a:rPr>
                        <a:t>合格実績・成長エピソード配信</a:t>
                      </a:r>
                    </a:p>
                  </a:txBody>
                  <a:tcPr>
                    <a:solidFill>
                      <a:srgbClr val="FFFFFF"/>
                    </a:solidFill>
                  </a:tcPr>
                </a:tc>
                <a:tc>
                  <a:txBody>
                    <a:bodyPr/>
                    <a:lstStyle/>
                    <a:p>
                      <a:r>
                        <a:rPr sz="140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400" b="0">
                          <a:solidFill>
                            <a:srgbClr val="333333"/>
                          </a:solidFill>
                          <a:latin typeface="Meiryo"/>
                          <a:ea typeface="メイリオ"/>
                          <a:cs typeface="Meiryo"/>
                        </a:rPr>
                        <a:t>2-3月</a:t>
                      </a:r>
                    </a:p>
                  </a:txBody>
                  <a:tcPr>
                    <a:solidFill>
                      <a:srgbClr val="FFFFFF"/>
                    </a:solidFill>
                  </a:tcPr>
                </a:tc>
                <a:tc>
                  <a:txBody>
                    <a:bodyPr/>
                    <a:lstStyle/>
                    <a:p>
                      <a:r>
                        <a:rPr sz="1400" b="0">
                          <a:solidFill>
                            <a:srgbClr val="333333"/>
                          </a:solidFill>
                          <a:latin typeface="Meiryo"/>
                          <a:ea typeface="メイリオ"/>
                          <a:cs typeface="Meiryo"/>
                        </a:rPr>
                        <a:t>入会金半額キャンペーン</a:t>
                      </a:r>
                    </a:p>
                  </a:txBody>
                  <a:tcPr>
                    <a:solidFill>
                      <a:srgbClr val="FFFFFF"/>
                    </a:solidFill>
                  </a:tcPr>
                </a:tc>
                <a:tc>
                  <a:txBody>
                    <a:bodyPr/>
                    <a:lstStyle/>
                    <a:p>
                      <a:r>
                        <a:rPr sz="140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400" b="0">
                          <a:solidFill>
                            <a:srgbClr val="333333"/>
                          </a:solidFill>
                          <a:latin typeface="Meiryo"/>
                          <a:ea typeface="メイリオ"/>
                          <a:cs typeface="Meiryo"/>
                        </a:rPr>
                        <a:t>4月</a:t>
                      </a:r>
                    </a:p>
                  </a:txBody>
                  <a:tcPr>
                    <a:solidFill>
                      <a:srgbClr val="FFFFFF"/>
                    </a:solidFill>
                  </a:tcPr>
                </a:tc>
                <a:tc>
                  <a:txBody>
                    <a:bodyPr/>
                    <a:lstStyle/>
                    <a:p>
                      <a:r>
                        <a:rPr sz="1400" b="0" dirty="0" err="1">
                          <a:solidFill>
                            <a:srgbClr val="333333"/>
                          </a:solidFill>
                          <a:latin typeface="Meiryo"/>
                          <a:ea typeface="メイリオ"/>
                          <a:cs typeface="Meiryo"/>
                        </a:rPr>
                        <a:t>ショップカード機能の継続特典</a:t>
                      </a:r>
                      <a:endParaRPr lang="en-US" sz="1400" b="0" dirty="0">
                        <a:solidFill>
                          <a:srgbClr val="333333"/>
                        </a:solidFill>
                        <a:latin typeface="Meiryo"/>
                        <a:ea typeface="メイリオ"/>
                        <a:cs typeface="Meiryo"/>
                      </a:endParaRPr>
                    </a:p>
                    <a:p>
                      <a:r>
                        <a:rPr sz="1400" b="0" dirty="0" err="1">
                          <a:solidFill>
                            <a:srgbClr val="333333"/>
                          </a:solidFill>
                          <a:latin typeface="Meiryo"/>
                          <a:ea typeface="メイリオ"/>
                          <a:cs typeface="Meiryo"/>
                        </a:rPr>
                        <a:t>スタート告知</a:t>
                      </a:r>
                      <a:endParaRPr sz="1400" b="0" dirty="0">
                        <a:solidFill>
                          <a:srgbClr val="333333"/>
                        </a:solidFill>
                        <a:latin typeface="Meiryo"/>
                        <a:ea typeface="メイリオ"/>
                        <a:cs typeface="Meiryo"/>
                      </a:endParaRPr>
                    </a:p>
                  </a:txBody>
                  <a:tcPr>
                    <a:solidFill>
                      <a:srgbClr val="FFFFFF"/>
                    </a:solidFill>
                  </a:tcPr>
                </a:tc>
                <a:tc>
                  <a:txBody>
                    <a:bodyPr/>
                    <a:lstStyle/>
                    <a:p>
                      <a:r>
                        <a:rPr sz="140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400" b="0">
                          <a:solidFill>
                            <a:srgbClr val="333333"/>
                          </a:solidFill>
                          <a:latin typeface="Meiryo"/>
                          <a:ea typeface="メイリオ"/>
                          <a:cs typeface="Meiryo"/>
                        </a:rPr>
                        <a:t>5-6月</a:t>
                      </a:r>
                    </a:p>
                  </a:txBody>
                  <a:tcPr>
                    <a:solidFill>
                      <a:srgbClr val="FFFFFF"/>
                    </a:solidFill>
                  </a:tcPr>
                </a:tc>
                <a:tc>
                  <a:txBody>
                    <a:bodyPr/>
                    <a:lstStyle/>
                    <a:p>
                      <a:r>
                        <a:rPr sz="140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40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400" b="0">
                          <a:solidFill>
                            <a:srgbClr val="333333"/>
                          </a:solidFill>
                          <a:latin typeface="Meiryo"/>
                          <a:ea typeface="メイリオ"/>
                          <a:cs typeface="Meiryo"/>
                        </a:rPr>
                        <a:t>7-8月</a:t>
                      </a:r>
                    </a:p>
                  </a:txBody>
                  <a:tcPr>
                    <a:solidFill>
                      <a:srgbClr val="FFFFFF"/>
                    </a:solidFill>
                  </a:tcPr>
                </a:tc>
                <a:tc>
                  <a:txBody>
                    <a:bodyPr/>
                    <a:lstStyle/>
                    <a:p>
                      <a:r>
                        <a:rPr sz="140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400" b="0" dirty="0" err="1">
                          <a:solidFill>
                            <a:srgbClr val="333333"/>
                          </a:solidFill>
                          <a:latin typeface="Meiryo"/>
                          <a:ea typeface="メイリオ"/>
                          <a:cs typeface="Meiryo"/>
                        </a:rPr>
                        <a:t>受験直前期の相談会導線</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5"/>
                  </a:ext>
                </a:extLst>
              </a:tr>
              <a:tr h="411480">
                <a:tc>
                  <a:txBody>
                    <a:bodyPr/>
                    <a:lstStyle/>
                    <a:p>
                      <a:r>
                        <a:rPr sz="1400" b="0" dirty="0">
                          <a:solidFill>
                            <a:srgbClr val="333333"/>
                          </a:solidFill>
                          <a:latin typeface="Meiryo"/>
                          <a:ea typeface="メイリオ"/>
                          <a:cs typeface="Meiryo"/>
                        </a:rPr>
                        <a:t>9-11月</a:t>
                      </a:r>
                    </a:p>
                  </a:txBody>
                  <a:tcPr>
                    <a:solidFill>
                      <a:srgbClr val="FFFFFF"/>
                    </a:solidFill>
                  </a:tcPr>
                </a:tc>
                <a:tc>
                  <a:txBody>
                    <a:bodyPr/>
                    <a:lstStyle/>
                    <a:p>
                      <a:r>
                        <a:rPr sz="1400" b="0">
                          <a:solidFill>
                            <a:srgbClr val="333333"/>
                          </a:solidFill>
                          <a:latin typeface="Meiryo"/>
                          <a:ea typeface="メイリオ"/>
                          <a:cs typeface="Meiryo"/>
                        </a:rPr>
                        <a:t>お友だち紹介キャンペーン強化</a:t>
                      </a:r>
                    </a:p>
                  </a:txBody>
                  <a:tcPr>
                    <a:solidFill>
                      <a:srgbClr val="FFFFFF"/>
                    </a:solidFill>
                  </a:tcPr>
                </a:tc>
                <a:tc>
                  <a:txBody>
                    <a:bodyPr/>
                    <a:lstStyle/>
                    <a:p>
                      <a:r>
                        <a:rPr sz="1400" b="0" dirty="0" err="1">
                          <a:solidFill>
                            <a:srgbClr val="333333"/>
                          </a:solidFill>
                          <a:latin typeface="Meiryo"/>
                          <a:ea typeface="メイリオ"/>
                          <a:cs typeface="Meiryo"/>
                        </a:rPr>
                        <a:t>受験本番に向け母数を増やす</a:t>
                      </a:r>
                      <a:endParaRPr sz="14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・よくある質問（月謝・送迎・振替など）にLINEで自動回答</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・営業時間外の疑問も解消し、体験予約前の離脱を防ぐ</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・入会手続きなど個別のご相談は有人チャットで対応</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・タグ管理で、入会検討中の方のお問い合わせを優先</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・保護者アンケートをLINEリサーチ機能で実施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想定動線（新規友だち獲得）</a:t>
            </a: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rgbClr val="D9D9D9"/>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rgbClr val="D9D9D9"/>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このパートでは、友だち追加までの動線（離脱防止バナー・サンクスLINE誘導など）をご説明します。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（薄く表示している部分は、既存の効率化のパートでご説明します）</a:t>
            </a:r>
          </a:p>
        </p:txBody>
      </p:sp>
      <p:sp>
        <p:nvSpPr>
          <p:cNvPr id="71" name="Rectangle 70"/>
          <p:cNvSpPr/>
          <p:nvPr/>
        </p:nvSpPr>
        <p:spPr>
          <a:xfrm>
            <a:off x="5238000" y="1530000"/>
            <a:ext cx="4428000" cy="2520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726000" y="2718000"/>
            <a:ext cx="1494000" cy="133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3581999" y="4446000"/>
            <a:ext cx="6083999" cy="2015999"/>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58000" y="4644000"/>
            <a:ext cx="1655999" cy="1152000"/>
          </a:xfrm>
          <a:prstGeom prst="rect">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会員・保護者向けマイページ登録案内</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dirty="0" err="1">
                <a:solidFill>
                  <a:srgbClr val="333333"/>
                </a:solidFill>
                <a:latin typeface="メイリオ" panose="020B0604030504040204" pitchFamily="50" charset="-128"/>
                <a:ea typeface="メイリオ" panose="020B0604030504040204" pitchFamily="50" charset="-128"/>
              </a:rPr>
              <a:t>地域別・体験レッスン</a:t>
            </a:r>
            <a:r>
              <a:rPr lang="ja-JP" altLang="en-US" sz="1200" b="0" strike="noStrike" spc="-1" dirty="0">
                <a:solidFill>
                  <a:srgbClr val="333333"/>
                </a:solidFill>
                <a:latin typeface="メイリオ" panose="020B0604030504040204" pitchFamily="50" charset="-128"/>
                <a:ea typeface="メイリオ" panose="020B0604030504040204" pitchFamily="50" charset="-128"/>
              </a:rPr>
              <a:t>の</a:t>
            </a:r>
            <a:endParaRPr lang="en-US" altLang="ja-JP" sz="1200" b="0" strike="noStrike" spc="-1" dirty="0">
              <a:solidFill>
                <a:srgbClr val="333333"/>
              </a:solidFill>
              <a:latin typeface="メイリオ" panose="020B0604030504040204" pitchFamily="50" charset="-128"/>
              <a:ea typeface="メイリオ" panose="020B0604030504040204" pitchFamily="50" charset="-128"/>
            </a:endParaRPr>
          </a:p>
          <a:p>
            <a:pPr algn="ctr">
              <a:lnSpc>
                <a:spcPct val="100000"/>
              </a:lnSpc>
            </a:pPr>
            <a:r>
              <a:rPr lang="en-US" sz="1200" b="0" strike="noStrike" spc="-1" dirty="0" err="1">
                <a:solidFill>
                  <a:srgbClr val="333333"/>
                </a:solidFill>
                <a:latin typeface="メイリオ" panose="020B0604030504040204" pitchFamily="50" charset="-128"/>
                <a:ea typeface="メイリオ" panose="020B0604030504040204" pitchFamily="50" charset="-128"/>
              </a:rPr>
              <a:t>WEB申込キャンペーン</a:t>
            </a:r>
            <a:endParaRPr lang="en-US" sz="1200" b="0" strike="noStrike" spc="-1" dirty="0">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2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24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200" b="1" strike="noStrike" spc="-1">
                <a:solidFill>
                  <a:srgbClr val="FFFFFF"/>
                </a:solidFill>
                <a:latin typeface="メイリオ" panose="020B0604030504040204" pitchFamily="50" charset="-128"/>
                <a:ea typeface="メイリオ" panose="020B0604030504040204" pitchFamily="50" charset="-128"/>
              </a:rPr>
              <a:t>LINE</a:t>
            </a:r>
            <a:r>
              <a:rPr lang="zh-CN" sz="1200" b="1" strike="noStrike" spc="-1">
                <a:solidFill>
                  <a:srgbClr val="FFFFFF"/>
                </a:solidFill>
                <a:latin typeface="メイリオ" panose="020B0604030504040204" pitchFamily="50" charset="-128"/>
                <a:ea typeface="メイリオ" panose="020B0604030504040204" pitchFamily="50" charset="-128"/>
              </a:rPr>
              <a:t>追加</a:t>
            </a:r>
            <a:endParaRPr lang="en-US" sz="12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利用に至るまでナーチャリングが可能</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830997"/>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p>
          <a:p>
            <a:pPr lvl="0" algn="ctr">
              <a:buClr>
                <a:schemeClr val="dk1"/>
              </a:buClr>
              <a:buSzPts val="1500"/>
            </a:pPr>
            <a:r>
              <a:rPr lang="ja-JP" altLang="en-US" sz="1600" dirty="0">
                <a:latin typeface="Meiryo"/>
                <a:ea typeface="Meiryo"/>
                <a:cs typeface="Meiryo"/>
                <a:sym typeface="Meiryo"/>
              </a:rPr>
              <a:t>体験予約の後も来場・入会まで追えるため、</a:t>
            </a:r>
            <a:endParaRPr lang="en-US" altLang="ja-JP" sz="1600" dirty="0">
              <a:latin typeface="Meiryo"/>
              <a:ea typeface="Meiryo"/>
              <a:cs typeface="Meiryo"/>
              <a:sym typeface="Meiryo"/>
            </a:endParaRPr>
          </a:p>
          <a:p>
            <a:pPr lvl="0" algn="ctr">
              <a:buClr>
                <a:schemeClr val="dk1"/>
              </a:buClr>
              <a:buSzPts val="1500"/>
            </a:pPr>
            <a:r>
              <a:rPr lang="en-US" altLang="ja-JP" sz="1600" dirty="0">
                <a:latin typeface="Meiryo"/>
                <a:ea typeface="Meiryo"/>
                <a:cs typeface="Meiryo"/>
                <a:sym typeface="Meiryo"/>
              </a:rPr>
              <a:t>CPO</a:t>
            </a:r>
            <a:r>
              <a:rPr lang="ja-JP" altLang="en-US" sz="1600" dirty="0">
                <a:latin typeface="Meiryo"/>
                <a:ea typeface="Meiryo"/>
                <a:cs typeface="Meiryo"/>
                <a:sym typeface="Meiryo"/>
              </a:rPr>
              <a:t>の改善に最適なオプションです。</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603120"/>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月額5万円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400" b="1" dirty="0">
                <a:latin typeface="メイリオ" panose="020B0604030504040204" pitchFamily="50" charset="-128"/>
                <a:ea typeface="メイリオ" panose="020B0604030504040204" pitchFamily="50" charset="-128"/>
                <a:cs typeface="Meiryo"/>
                <a:sym typeface="Meiryo"/>
              </a:rPr>
              <a:t>成果報酬型：成果件数に応じた費用で、リスクを抑えて運用を始められます。</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628000"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DYMプラン（成果報酬型）</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736333"/>
            <a:ext cx="627632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制作業務を一部抽出してご依頼いただくことも可能です。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【オプション】CPO改善のご提案｜サンクスLINE誘導</a:t>
            </a: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体験予約の完了画面からLINEへつなげ、来場・入会までを後押しします。</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入会率が上がるほど、入会1件あたりの費用（CPO）が下がります。</a:t>
            </a:r>
          </a:p>
        </p:txBody>
      </p:sp>
      <p:sp>
        <p:nvSpPr>
          <p:cNvPr id="46" name="Rounded Rectangle 45"/>
          <p:cNvSpPr/>
          <p:nvPr/>
        </p:nvSpPr>
        <p:spPr>
          <a:xfrm>
            <a:off x="43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体験予約</a:t>
            </a:r>
          </a:p>
          <a:p>
            <a:pPr algn="ctr">
              <a:lnSpc>
                <a:spcPct val="120000"/>
              </a:lnSpc>
            </a:pPr>
            <a:r>
              <a:rPr sz="1100" b="0">
                <a:solidFill>
                  <a:srgbClr val="1F285A"/>
                </a:solidFill>
                <a:latin typeface="メイリオ"/>
                <a:ea typeface="メイリオ"/>
                <a:cs typeface="メイリオ"/>
              </a:rPr>
              <a:t>フォーム</a:t>
            </a:r>
          </a:p>
        </p:txBody>
      </p:sp>
      <p:sp>
        <p:nvSpPr>
          <p:cNvPr id="47" name="Right Arrow 46"/>
          <p:cNvSpPr/>
          <p:nvPr/>
        </p:nvSpPr>
        <p:spPr>
          <a:xfrm>
            <a:off x="2052000" y="2359800"/>
            <a:ext cx="288000" cy="3240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412000" y="2071800"/>
            <a:ext cx="1548000" cy="900000"/>
          </a:xfrm>
          <a:prstGeom prst="roundRect">
            <a:avLst>
              <a:gd name="adj" fmla="val 10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1F285A"/>
                </a:solidFill>
                <a:latin typeface="メイリオ"/>
                <a:ea typeface="メイリオ"/>
                <a:cs typeface="メイリオ"/>
              </a:rPr>
              <a:t>予約完了</a:t>
            </a:r>
          </a:p>
          <a:p>
            <a:pPr algn="ctr">
              <a:lnSpc>
                <a:spcPct val="120000"/>
              </a:lnSpc>
            </a:pPr>
            <a:r>
              <a:rPr sz="1100" b="0">
                <a:solidFill>
                  <a:srgbClr val="1F285A"/>
                </a:solidFill>
                <a:latin typeface="メイリオ"/>
                <a:ea typeface="メイリオ"/>
                <a:cs typeface="メイリオ"/>
              </a:rPr>
              <a:t>の画面</a:t>
            </a:r>
          </a:p>
        </p:txBody>
      </p:sp>
      <p:sp>
        <p:nvSpPr>
          <p:cNvPr id="49" name="Right Arrow 48"/>
          <p:cNvSpPr/>
          <p:nvPr/>
        </p:nvSpPr>
        <p:spPr>
          <a:xfrm>
            <a:off x="4031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392000" y="2071800"/>
            <a:ext cx="14400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300" b="1">
                <a:solidFill>
                  <a:srgbClr val="FFFFFF"/>
                </a:solidFill>
                <a:latin typeface="メイリオ"/>
                <a:ea typeface="メイリオ"/>
                <a:cs typeface="メイリオ"/>
              </a:rPr>
              <a:t>DYMの</a:t>
            </a:r>
          </a:p>
          <a:p>
            <a:pPr algn="ctr">
              <a:lnSpc>
                <a:spcPct val="120000"/>
              </a:lnSpc>
            </a:pPr>
            <a:r>
              <a:rPr sz="1100" b="0">
                <a:solidFill>
                  <a:srgbClr val="FFFFFF"/>
                </a:solidFill>
                <a:latin typeface="メイリオ"/>
                <a:ea typeface="メイリオ"/>
                <a:cs typeface="メイリオ"/>
              </a:rPr>
              <a:t>ツールで</a:t>
            </a:r>
          </a:p>
          <a:p>
            <a:pPr algn="ctr">
              <a:lnSpc>
                <a:spcPct val="120000"/>
              </a:lnSpc>
            </a:pPr>
            <a:r>
              <a:rPr sz="1100" b="0">
                <a:solidFill>
                  <a:srgbClr val="FFFFFF"/>
                </a:solidFill>
                <a:latin typeface="メイリオ"/>
                <a:ea typeface="メイリオ"/>
                <a:cs typeface="メイリオ"/>
              </a:rPr>
              <a:t>LINEへ</a:t>
            </a:r>
          </a:p>
        </p:txBody>
      </p:sp>
      <p:sp>
        <p:nvSpPr>
          <p:cNvPr id="51" name="Right Arrow 50"/>
          <p:cNvSpPr/>
          <p:nvPr/>
        </p:nvSpPr>
        <p:spPr>
          <a:xfrm>
            <a:off x="5903999"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263999" y="2071800"/>
            <a:ext cx="1584000" cy="900000"/>
          </a:xfrm>
          <a:prstGeom prst="roundRect">
            <a:avLst>
              <a:gd name="adj" fmla="val 10000"/>
            </a:avLst>
          </a:prstGeom>
          <a:solidFill>
            <a:srgbClr val="E8F8EE"/>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200" b="1">
                <a:solidFill>
                  <a:srgbClr val="0B7A3B"/>
                </a:solidFill>
                <a:latin typeface="メイリオ"/>
                <a:ea typeface="メイリオ"/>
                <a:cs typeface="メイリオ"/>
              </a:rPr>
              <a:t>体験前の案内</a:t>
            </a:r>
          </a:p>
          <a:p>
            <a:pPr algn="ctr">
              <a:lnSpc>
                <a:spcPct val="120000"/>
              </a:lnSpc>
            </a:pPr>
            <a:r>
              <a:rPr sz="1000" b="0">
                <a:solidFill>
                  <a:srgbClr val="0B7A3B"/>
                </a:solidFill>
                <a:latin typeface="メイリオ"/>
                <a:ea typeface="メイリオ"/>
                <a:cs typeface="メイリオ"/>
              </a:rPr>
              <a:t>体験後のフォロー</a:t>
            </a:r>
          </a:p>
        </p:txBody>
      </p:sp>
      <p:sp>
        <p:nvSpPr>
          <p:cNvPr id="53" name="Right Arrow 52"/>
          <p:cNvSpPr/>
          <p:nvPr/>
        </p:nvSpPr>
        <p:spPr>
          <a:xfrm>
            <a:off x="7920000" y="2359800"/>
            <a:ext cx="288000" cy="324000"/>
          </a:xfrm>
          <a:prstGeom prst="rightArrow">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280000" y="2071800"/>
            <a:ext cx="1195200" cy="90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lnSpc>
                <a:spcPct val="120000"/>
              </a:lnSpc>
            </a:pPr>
            <a:r>
              <a:rPr sz="1500" b="1">
                <a:solidFill>
                  <a:srgbClr val="FFFFFF"/>
                </a:solidFill>
                <a:latin typeface="メイリオ"/>
                <a:ea typeface="メイリオ"/>
                <a:cs typeface="メイリオ"/>
              </a:rPr>
              <a:t>入会</a:t>
            </a:r>
          </a:p>
        </p:txBody>
      </p:sp>
      <p:sp>
        <p:nvSpPr>
          <p:cNvPr id="55" name="Rounded Rectangle 54"/>
          <p:cNvSpPr/>
          <p:nvPr/>
        </p:nvSpPr>
        <p:spPr>
          <a:xfrm>
            <a:off x="4320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予約の直後に案内</a:t>
            </a:r>
          </a:p>
          <a:p>
            <a:pPr algn="l">
              <a:lnSpc>
                <a:spcPct val="125000"/>
              </a:lnSpc>
              <a:spcAft>
                <a:spcPts val="200"/>
              </a:spcAft>
            </a:pPr>
            <a:r>
              <a:rPr sz="1050">
                <a:solidFill>
                  <a:srgbClr val="333333"/>
                </a:solidFill>
                <a:latin typeface="メイリオ"/>
                <a:ea typeface="メイリオ"/>
                <a:cs typeface="メイリオ"/>
              </a:rPr>
              <a:t>関心が一番高いタイミングなので、友だちになっていただきやすい</a:t>
            </a:r>
          </a:p>
        </p:txBody>
      </p:sp>
      <p:sp>
        <p:nvSpPr>
          <p:cNvPr id="56" name="Rounded Rectangle 55"/>
          <p:cNvSpPr/>
          <p:nvPr/>
        </p:nvSpPr>
        <p:spPr>
          <a:xfrm>
            <a:off x="34776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予約内容をトークに反映</a:t>
            </a:r>
          </a:p>
          <a:p>
            <a:pPr algn="l">
              <a:lnSpc>
                <a:spcPct val="125000"/>
              </a:lnSpc>
              <a:spcAft>
                <a:spcPts val="200"/>
              </a:spcAft>
            </a:pPr>
            <a:r>
              <a:rPr sz="1050">
                <a:solidFill>
                  <a:srgbClr val="333333"/>
                </a:solidFill>
                <a:latin typeface="メイリオ"/>
                <a:ea typeface="メイリオ"/>
                <a:cs typeface="メイリオ"/>
              </a:rPr>
              <a:t>体験内容に合わせて、案内を出し分けます</a:t>
            </a:r>
          </a:p>
        </p:txBody>
      </p:sp>
      <p:sp>
        <p:nvSpPr>
          <p:cNvPr id="57" name="Rounded Rectangle 56"/>
          <p:cNvSpPr/>
          <p:nvPr/>
        </p:nvSpPr>
        <p:spPr>
          <a:xfrm>
            <a:off x="6523200" y="3151801"/>
            <a:ext cx="2952000" cy="9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25999" tIns="90000" rIns="108000" bIns="54000" rtlCol="0" anchor="ctr"/>
          <a:lstStyle/>
          <a:p>
            <a:pPr algn="l">
              <a:spcAft>
                <a:spcPts val="500"/>
              </a:spcAft>
            </a:pPr>
            <a:r>
              <a:rPr sz="1250" b="1">
                <a:solidFill>
                  <a:srgbClr val="1F285A"/>
                </a:solidFill>
                <a:latin typeface="メイリオ"/>
                <a:ea typeface="メイリオ"/>
                <a:cs typeface="メイリオ"/>
              </a:rPr>
              <a:t>体験前後のフォロー</a:t>
            </a:r>
          </a:p>
          <a:p>
            <a:pPr algn="l">
              <a:lnSpc>
                <a:spcPct val="125000"/>
              </a:lnSpc>
              <a:spcAft>
                <a:spcPts val="200"/>
              </a:spcAft>
            </a:pPr>
            <a:r>
              <a:rPr sz="1050">
                <a:solidFill>
                  <a:srgbClr val="333333"/>
                </a:solidFill>
                <a:latin typeface="メイリオ"/>
                <a:ea typeface="メイリオ"/>
                <a:cs typeface="メイリオ"/>
              </a:rPr>
              <a:t>体験前の案内で来場を、体験後のフォローで入会を後押しします</a:t>
            </a:r>
          </a:p>
        </p:txBody>
      </p:sp>
      <p:sp>
        <p:nvSpPr>
          <p:cNvPr id="58" name="Rounded Rectangle 57"/>
          <p:cNvSpPr/>
          <p:nvPr/>
        </p:nvSpPr>
        <p:spPr>
          <a:xfrm>
            <a:off x="432000" y="4195801"/>
            <a:ext cx="9043200" cy="468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0" rIns="108000" bIns="0" rtlCol="0" anchor="ctr"/>
          <a:lstStyle/>
          <a:p>
            <a:pPr algn="ctr">
              <a:lnSpc>
                <a:spcPct val="125000"/>
              </a:lnSpc>
            </a:pPr>
            <a:r>
              <a:rPr sz="1400" b="1">
                <a:solidFill>
                  <a:srgbClr val="FFFFFF"/>
                </a:solidFill>
                <a:latin typeface="メイリオ"/>
                <a:ea typeface="メイリオ"/>
                <a:cs typeface="メイリオ"/>
              </a:rPr>
              <a:t>弊社実績：美容クリニックで、予約後の来院率が40〜50%改善</a:t>
            </a:r>
          </a:p>
        </p:txBody>
      </p:sp>
      <p:sp>
        <p:nvSpPr>
          <p:cNvPr id="59" name="Rounded Rectangle 58"/>
          <p:cNvSpPr/>
          <p:nvPr/>
        </p:nvSpPr>
        <p:spPr>
          <a:xfrm>
            <a:off x="2559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a:solidFill>
                  <a:srgbClr val="FFFFFF"/>
                </a:solidFill>
                <a:latin typeface="メイリオ"/>
                <a:ea typeface="メイリオ"/>
                <a:cs typeface="メイリオ"/>
              </a:rPr>
              <a:t>初期 15万円</a:t>
            </a:r>
          </a:p>
        </p:txBody>
      </p:sp>
      <p:sp>
        <p:nvSpPr>
          <p:cNvPr id="60" name="Rounded Rectangle 59"/>
          <p:cNvSpPr/>
          <p:nvPr/>
        </p:nvSpPr>
        <p:spPr>
          <a:xfrm>
            <a:off x="5007600" y="4825801"/>
            <a:ext cx="2340000" cy="468000"/>
          </a:xfrm>
          <a:prstGeom prst="roundRect">
            <a:avLst>
              <a:gd name="adj" fmla="val 1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0" rIns="36000" bIns="0" rtlCol="0" anchor="ctr"/>
          <a:lstStyle/>
          <a:p>
            <a:pPr algn="ctr"/>
            <a:r>
              <a:rPr sz="1600" b="1">
                <a:solidFill>
                  <a:srgbClr val="FFFFFF"/>
                </a:solidFill>
                <a:latin typeface="メイリオ"/>
                <a:ea typeface="メイリオ"/>
                <a:cs typeface="メイリオ"/>
              </a:rPr>
              <a:t>月額 5万円</a:t>
            </a:r>
          </a:p>
        </p:txBody>
      </p:sp>
      <p:sp>
        <p:nvSpPr>
          <p:cNvPr id="61" name="TextBox 60"/>
          <p:cNvSpPr txBox="1"/>
          <p:nvPr/>
        </p:nvSpPr>
        <p:spPr>
          <a:xfrm>
            <a:off x="432000" y="5347801"/>
            <a:ext cx="9043200" cy="396000"/>
          </a:xfrm>
          <a:prstGeom prst="rect">
            <a:avLst/>
          </a:prstGeom>
          <a:noFill/>
        </p:spPr>
        <p:txBody>
          <a:bodyPr wrap="square" lIns="0" tIns="21600" rIns="0" bIns="21600" anchor="ctr">
            <a:spAutoFit/>
          </a:bodyPr>
          <a:lstStyle/>
          <a:p>
            <a:pPr algn="ctr"/>
            <a:r>
              <a:rPr sz="1000">
                <a:solidFill>
                  <a:srgbClr val="7F7F7F"/>
                </a:solidFill>
                <a:latin typeface="メイリオ"/>
                <a:ea typeface="メイリオ"/>
                <a:cs typeface="メイリオ"/>
              </a:rPr>
              <a:t>※APIツール（Lステップ等）と併用可／完了画面を増やす場合は追加費用</a:t>
            </a:r>
          </a:p>
          <a:p>
            <a:pPr algn="ctr"/>
            <a:r>
              <a:rPr sz="1000">
                <a:solidFill>
                  <a:srgbClr val="7F7F7F"/>
                </a:solidFill>
                <a:latin typeface="メイリオ"/>
                <a:ea typeface="メイリオ"/>
                <a:cs typeface="メイリオ"/>
              </a:rPr>
              <a:t>※「想定の費用対効果」には含まれない、追加のご提案です</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テキスト ボックス 5">
            <a:extLst>
              <a:ext uri="{FF2B5EF4-FFF2-40B4-BE49-F238E27FC236}">
                <a16:creationId xmlns:a16="http://schemas.microsoft.com/office/drawing/2014/main" id="{5596DE8E-ACCE-014A-70C9-C3E723DD7EAE}"/>
              </a:ext>
            </a:extLst>
          </p:cNvPr>
          <p:cNvSpPr txBox="1"/>
          <p:nvPr/>
        </p:nvSpPr>
        <p:spPr>
          <a:xfrm>
            <a:off x="4091225" y="3622978"/>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補足資料①</a:t>
            </a: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の導線設計でハードルを抑えつつ運用することが可能。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3219190" y="3038429"/>
            <a:ext cx="346761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テキスト ボックス 2">
            <a:extLst>
              <a:ext uri="{FF2B5EF4-FFF2-40B4-BE49-F238E27FC236}">
                <a16:creationId xmlns:a16="http://schemas.microsoft.com/office/drawing/2014/main" id="{DC9A0B48-8F30-4D79-84B9-5021E0F3C9A5}"/>
              </a:ext>
            </a:extLst>
          </p:cNvPr>
          <p:cNvSpPr txBox="1"/>
          <p:nvPr/>
        </p:nvSpPr>
        <p:spPr>
          <a:xfrm>
            <a:off x="4091223" y="3562017"/>
            <a:ext cx="1723549" cy="461665"/>
          </a:xfrm>
          <a:prstGeom prst="rect">
            <a:avLst/>
          </a:prstGeom>
          <a:noFill/>
        </p:spPr>
        <p:txBody>
          <a:bodyPr wrap="none" rtlCol="0">
            <a:spAutoFit/>
          </a:bodyPr>
          <a:lstStyle/>
          <a:p>
            <a:r>
              <a:rPr kumimoji="1" lang="ja-JP" altLang="en-US" sz="2400" dirty="0">
                <a:latin typeface="メイリオ" panose="020B0604030504040204" pitchFamily="50" charset="-128"/>
                <a:ea typeface="メイリオ" panose="020B0604030504040204" pitchFamily="50" charset="-128"/>
              </a:rPr>
              <a:t>補足資料</a:t>
            </a:r>
            <a:r>
              <a:rPr lang="ja-JP" altLang="en-US" sz="2400" dirty="0">
                <a:latin typeface="メイリオ" panose="020B0604030504040204" pitchFamily="50" charset="-128"/>
                <a:ea typeface="メイリオ" panose="020B0604030504040204" pitchFamily="50" charset="-128"/>
              </a:rPr>
              <a:t>②</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143185</TotalTime>
  <Words>7234</Words>
  <Application>Microsoft Office PowerPoint</Application>
  <PresentationFormat>A4 210 x 297 mm</PresentationFormat>
  <Paragraphs>1909</Paragraphs>
  <Slides>63</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63</vt:i4>
      </vt:variant>
    </vt:vector>
  </HeadingPairs>
  <TitlesOfParts>
    <vt:vector size="70"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1958</cp:revision>
  <cp:lastPrinted>2022-11-01T11:38:14Z</cp:lastPrinted>
  <dcterms:created xsi:type="dcterms:W3CDTF">2015-09-04T09:21:15Z</dcterms:created>
  <dcterms:modified xsi:type="dcterms:W3CDTF">2026-09-30T11:45:49Z</dcterms:modified>
</cp:coreProperties>
</file>