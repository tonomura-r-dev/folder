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7"/>
  </p:notesMasterIdLst>
  <p:handoutMasterIdLst>
    <p:handoutMasterId r:id="rId68"/>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3022" r:id="rId17"/>
    <p:sldId id="2908" r:id="rId18"/>
    <p:sldId id="2966" r:id="rId19"/>
    <p:sldId id="3015" r:id="rId20"/>
    <p:sldId id="3013" r:id="rId21"/>
    <p:sldId id="3009" r:id="rId22"/>
    <p:sldId id="3018" r:id="rId23"/>
    <p:sldId id="3010" r:id="rId24"/>
    <p:sldId id="3014" r:id="rId25"/>
    <p:sldId id="3012" r:id="rId26"/>
    <p:sldId id="3017" r:id="rId27"/>
    <p:sldId id="3011" r:id="rId28"/>
    <p:sldId id="2737" r:id="rId29"/>
    <p:sldId id="2563" r:id="rId30"/>
    <p:sldId id="2970" r:id="rId31"/>
    <p:sldId id="2959" r:id="rId32"/>
    <p:sldId id="3025" r:id="rId73"/>
    <p:sldId id="2968" r:id="rId35"/>
    <p:sldId id="2969" r:id="rId36"/>
    <p:sldId id="2957" r:id="rId37"/>
    <p:sldId id="3019" r:id="rId38"/>
    <p:sldId id="2951" r:id="rId39"/>
    <p:sldId id="3023" r:id="rId40"/>
    <p:sldId id="3024" r:id="rId41"/>
    <p:sldId id="2841" r:id="rId42"/>
    <p:sldId id="2734" r:id="rId43"/>
    <p:sldId id="2595" r:id="rId44"/>
    <p:sldId id="2566" r:id="rId45"/>
    <p:sldId id="2915" r:id="rId46"/>
    <p:sldId id="2619" r:id="rId47"/>
    <p:sldId id="2761" r:id="rId48"/>
    <p:sldId id="3021" r:id="rId49"/>
    <p:sldId id="2935" r:id="rId50"/>
    <p:sldId id="2919" r:id="rId51"/>
    <p:sldId id="2519" r:id="rId52"/>
    <p:sldId id="2931" r:id="rId53"/>
    <p:sldId id="2749" r:id="rId54"/>
    <p:sldId id="2950" r:id="rId55"/>
    <p:sldId id="2961" r:id="rId56"/>
    <p:sldId id="2849" r:id="rId57"/>
    <p:sldId id="2904" r:id="rId58"/>
    <p:sldId id="2905" r:id="rId59"/>
    <p:sldId id="2906" r:id="rId60"/>
    <p:sldId id="2907" r:id="rId61"/>
    <p:sldId id="2575" r:id="rId62"/>
    <p:sldId id="2910" r:id="rId63"/>
    <p:sldId id="3007" r:id="rId64"/>
    <p:sldId id="3008" r:id="rId65"/>
    <p:sldId id="1169" r:id="rId6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notesMaster" Target="notesMasters/notesMaster1.xml"/><Relationship Id="rId68" Type="http://schemas.openxmlformats.org/officeDocument/2006/relationships/handoutMaster" Target="handoutMasters/handout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51</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53</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64</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jpg"/><Relationship Id="rId3" Type="http://schemas.openxmlformats.org/officeDocument/2006/relationships/image" Target="../media/image77.jp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23.jpeg"/><Relationship Id="rId8" Type="http://schemas.openxmlformats.org/officeDocument/2006/relationships/image" Target="../media/image78.jpg"/><Relationship Id="rId9" Type="http://schemas.openxmlformats.org/officeDocument/2006/relationships/image" Target="../media/image24.png"/><Relationship Id="rId10" Type="http://schemas.openxmlformats.org/officeDocument/2006/relationships/image" Target="../media/image79.png"/><Relationship Id="rId11" Type="http://schemas.openxmlformats.org/officeDocument/2006/relationships/hyperlink" Target="https://youtube.com/shorts/0qI4QgrOppQ"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2.png"/><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svg"/><Relationship Id="rId8"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0.svg"/><Relationship Id="rId4" Type="http://schemas.openxmlformats.org/officeDocument/2006/relationships/image" Target="../media/image51.svg"/><Relationship Id="rId5" Type="http://schemas.openxmlformats.org/officeDocument/2006/relationships/image" Target="../media/image52.svg"/><Relationship Id="rId6" Type="http://schemas.openxmlformats.org/officeDocument/2006/relationships/image" Target="../media/image53.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emf"/><Relationship Id="rId4" Type="http://schemas.openxmlformats.org/officeDocument/2006/relationships/image" Target="../media/image69.jpeg"/><Relationship Id="rId5" Type="http://schemas.openxmlformats.org/officeDocument/2006/relationships/image" Target="../media/image70.jpeg"/><Relationship Id="rId6" Type="http://schemas.openxmlformats.org/officeDocument/2006/relationships/image" Target="../media/image71.jpeg"/><Relationship Id="rId7" Type="http://schemas.openxmlformats.org/officeDocument/2006/relationships/image" Target="../media/image72.jpeg"/><Relationship Id="rId8" Type="http://schemas.openxmlformats.org/officeDocument/2006/relationships/image" Target="../media/image7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入会後、LINEの接点が切れる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「保険営業」の検索は1年中ほぼ同じ水準。イベントの無い月も、平常期の配信でつながりを保つ。</a:t>
            </a:r>
            <a:endParaRPr lang="ja-JP" altLang="ja-JP" sz="1100" dirty="0">
              <a:effectLst/>
              <a:latin typeface="メイリオ" panose="02020603050405020304" pitchFamily="18" charset="0"/>
              <a:ea typeface="メイリオ" panose="02020400000000000000" pitchFamily="18" charset="-128"/>
              <a:cs typeface="メイリオ"/>
            </a:endParaRPr>
          </a:p>
        </p:txBody>
      </p:sp>
      <p:pic>
        <p:nvPicPr>
          <p:cNvPr id="46" name="Picture 45" descr="sunao_trend_hoken_eigyo_5y.png"/>
          <p:cNvPicPr>
            <a:picLocks noChangeAspect="1"/>
          </p:cNvPicPr>
          <p:nvPr/>
        </p:nvPicPr>
        <p:blipFill>
          <a:blip r:embed="rId3"/>
          <a:stretch>
            <a:fillRect/>
          </a:stretch>
        </p:blipFill>
        <p:spPr>
          <a:xfrm>
            <a:off x="894637" y="1688676"/>
            <a:ext cx="8116724" cy="3461599"/>
          </a:xfrm>
          <a:prstGeom prst="rect">
            <a:avLst/>
          </a:prstGeom>
        </p:spPr>
      </p:pic>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3"/>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3"/>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3"/>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600" b="1" dirty="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6か月目に追える人数90人（ブロックされずに届く友だち）を目指す。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F2F2F2"/>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概算お見積り：6か月で、追える人数90人・セミナー予約11件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a:t>
            </a:r>
            <a:r>
              <a:rPr lang="ja-JP" sz="1400" b="0" u="none" strike="noStrike">
                <a:solidFill>
                  <a:schemeClr val="lt1"/>
                </a:solidFill>
                <a:effectLst/>
                <a:uFillTx/>
                <a:latin typeface="メイリオ"/>
                <a:ea typeface="メイリオ"/>
                <a:cs typeface="メイリオ"/>
              </a:rPr>
              <a:t>か月後</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セミナー前日の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お知らせ</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追える人数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Tree>
    <p:extLst>
      <p:ext uri="{BB962C8B-B14F-4D97-AF65-F5344CB8AC3E}">
        <p14:creationId xmlns:p14="http://schemas.microsoft.com/office/powerpoint/2010/main" val="320364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熱が高いうちに、サロンをご案内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セミナーの振り返り</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両想い営業・ライフプランブロックの要点をおさらい</a:t>
            </a:r>
            <a:endParaRPr lang="ja-JP" altLang="en-US" sz="1200" dirty="0"/>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受講生の声</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「契約で頭がいっぱい」だった方が、個人保険でTOT</a:t>
            </a:r>
            <a:endParaRPr lang="ja-JP" altLang="en-US" sz="1200" dirty="0"/>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サロンのご案内</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ライフプランブロックは、サロンの方だけが使える</a:t>
            </a:r>
            <a:endParaRPr lang="ja-JP" altLang="en-US" sz="1200" dirty="0"/>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受講生の声</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ロープレ動画で面談を振り返り、TOTを達成</a:t>
            </a:r>
            <a:endParaRPr lang="ja-JP" altLang="en-US" sz="1200" dirty="0"/>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講師メッセージ</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毎日遅くまで働いた頃から、働く時間を半分以下に</a:t>
            </a:r>
            <a:endParaRPr lang="ja-JP" altLang="en-US" sz="1200" dirty="0"/>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次のセミナーのご案内</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次回の日程と、サロン入会のお申込み方法</a:t>
            </a:r>
            <a:endParaRPr lang="ja-JP" altLang="en-US" sz="1200" dirty="0"/>
          </a:p>
        </p:txBody>
      </p:sp>
      <p:sp>
        <p:nvSpPr>
          <p:cNvPr id="22" name="注記"/>
          <p:cNvSpPr/>
          <p:nvPr/>
        </p:nvSpPr>
        <p:spPr>
          <a:xfrm>
            <a:off x="457200" y="6047231"/>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※配信内容は、貴社LPの「受講生の声」「講師メッセージ」「よくある質問」「講師紹介」をもとにした例</a:t>
            </a:r>
            <a:endParaRPr lang="ja-JP" altLang="en-US" sz="1200" dirty="0"/>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他の案</a:t>
            </a:r>
            <a:endParaRPr lang="ja-JP" altLang="en-US" sz="1200" dirty="0"/>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よくある質問</a:t>
            </a:r>
            <a:endParaRPr lang="ja-JP" altLang="en-US" sz="1200" dirty="0"/>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rPr>
              <a:t>次のセミナーの案内に添える</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地方からも参加できる・録画はない・初心者でも分かる・参加は無料</a:t>
            </a:r>
            <a:endParaRPr lang="ja-JP" altLang="en-US" sz="1200" dirty="0"/>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講師紹介</a:t>
            </a:r>
            <a:endParaRPr lang="ja-JP" altLang="en-US" sz="1200" dirty="0"/>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rPr>
              <a:t>入会を迷っている方へ</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谷岡さんの経歴：契約件数全国1位で表彰・週2日の営業で毎年TOT</a:t>
            </a:r>
            <a:endParaRPr lang="ja-JP" altLang="en-US" sz="1200" dirty="0"/>
          </a:p>
        </p:txBody>
      </p:sp>
    </p:spTree>
    <p:extLst>
      <p:ext uri="{BB962C8B-B14F-4D97-AF65-F5344CB8AC3E}">
        <p14:creationId xmlns:p14="http://schemas.microsoft.com/office/powerpoint/2010/main" val="439680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50,000〜100,000円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115,000〜165,000円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100,000円〜＋ポップアップツール 15,000円＋サンクスLINE誘導 150,000円＋LINE公式アカウント開設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※月額ツール・LINE関連費＝ポップアップツール 30,000円＋サンクスLINE誘導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295,000円〜／月額 65,000円＋成果報酬（セミナー予約 12,000円／件）</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※契約期間は6か月〜。広告費は含まない。概算お見積りのページはプラン②の場合（平常期の月額コンサルティング費は100,000円で計算）</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ポップアップツール・</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セミナー前日のお知らせ</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保険・イベント集客におけるLINE公式アカウントの活用事例</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生命保険会社</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約8倍</a:t>
            </a:r>
          </a:p>
          <a:p>
            <a:pPr algn="ctr"/>
            <a:r>
              <a:rPr sz="1000">
                <a:solidFill>
                  <a:srgbClr val="FFFFFF"/>
                </a:solidFill>
                <a:latin typeface="メイリオ" panose="020B0604030504040204" pitchFamily="50" charset="-128"/>
                <a:ea typeface="メイリオ" panose="020B0604030504040204" pitchFamily="50" charset="-128"/>
              </a:rPr>
              <a:t>資料請求の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CV率</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（メール比）</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5.2%</a:t>
            </a:r>
          </a:p>
          <a:p>
            <a:pPr algn="ctr"/>
            <a:r>
              <a:rPr sz="1000">
                <a:solidFill>
                  <a:srgbClr val="FFFFFF"/>
                </a:solidFill>
                <a:latin typeface="メイリオ" panose="020B0604030504040204" pitchFamily="50" charset="-128"/>
                <a:ea typeface="メイリオ" panose="020B0604030504040204" pitchFamily="50" charset="-128"/>
              </a:rPr>
              <a:t>営業職員経由</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の友だちの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ブロック率</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教室・スクール（見学会などのイベント集客）</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914400" y="3838575"/>
            <a:ext cx="14630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dirty="0">
                <a:solidFill>
                  <a:srgbClr val="FFFFFF"/>
                </a:solidFill>
                <a:latin typeface="メイリオ" panose="020B0604030504040204" pitchFamily="50" charset="-128"/>
                <a:ea typeface="メイリオ" panose="020B0604030504040204" pitchFamily="50" charset="-128"/>
              </a:rPr>
              <a:t>約7割</a:t>
            </a:r>
          </a:p>
          <a:p>
            <a:pPr algn="ctr"/>
            <a:r>
              <a:rPr sz="1000" dirty="0" err="1">
                <a:solidFill>
                  <a:srgbClr val="FFFFFF"/>
                </a:solidFill>
                <a:latin typeface="メイリオ" panose="020B0604030504040204" pitchFamily="50" charset="-128"/>
                <a:ea typeface="メイリオ" panose="020B0604030504040204" pitchFamily="50" charset="-128"/>
              </a:rPr>
              <a:t>見学会の参加者の</a:t>
            </a:r>
            <a:br>
              <a:rPr sz="1000" dirty="0" err="1">
                <a:solidFill>
                  <a:srgbClr val="FFFFFF"/>
                </a:solidFill>
                <a:latin typeface="メイリオ" panose="020B0604030504040204" pitchFamily="50" charset="-128"/>
                <a:ea typeface="メイリオ" panose="020B0604030504040204" pitchFamily="50" charset="-128"/>
              </a:rPr>
            </a:br>
            <a:r>
              <a:rPr sz="1000" dirty="0" err="1">
                <a:solidFill>
                  <a:srgbClr val="FFFFFF"/>
                </a:solidFill>
                <a:latin typeface="メイリオ" panose="020B0604030504040204" pitchFamily="50" charset="-128"/>
                <a:ea typeface="メイリオ" panose="020B0604030504040204" pitchFamily="50" charset="-128"/>
              </a:rPr>
              <a:t>入会率</a:t>
            </a:r>
            <a:endParaRPr sz="800" dirty="0">
              <a:solidFill>
                <a:srgbClr val="FFFFFF"/>
              </a:solidFill>
              <a:latin typeface="メイリオ" panose="020B0604030504040204" pitchFamily="50" charset="-128"/>
              <a:ea typeface="メイリオ" panose="020B0604030504040204" pitchFamily="50" charset="-128"/>
            </a:endParaRPr>
          </a:p>
        </p:txBody>
      </p:sp>
      <p:sp>
        <p:nvSpPr>
          <p:cNvPr id="17" name="注記"/>
          <p:cNvSpPr/>
          <p:nvPr/>
        </p:nvSpPr>
        <p:spPr>
          <a:xfrm>
            <a:off x="365760" y="52120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※LINEヤフー for Business 掲載の事例（数値は各社調べ）。生命保険会社＝2024年4月・2025年2月公開、教室＝2021年8月公開。5.2%は営業職員経由の友だち（自然に友だちになった方は74.9%）</a:t>
            </a:r>
            <a:endParaRPr lang="ja-JP" altLang="en-US" sz="1200" dirty="0"/>
          </a:p>
        </p:txBody>
      </p:sp>
    </p:spTree>
    <p:extLst>
      <p:ext uri="{BB962C8B-B14F-4D97-AF65-F5344CB8AC3E}">
        <p14:creationId xmlns:p14="http://schemas.microsoft.com/office/powerpoint/2010/main" val="21557982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142217</TotalTime>
  <Words>6659</Words>
  <Application>Microsoft Office PowerPoint</Application>
  <PresentationFormat>A4 210 x 297 mm</PresentationFormat>
  <Paragraphs>1393</Paragraphs>
  <Slides>64</Slides>
  <Notes>29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64</vt:i4>
      </vt:variant>
    </vt:vector>
  </HeadingPairs>
  <TitlesOfParts>
    <vt:vector size="70"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1950</cp:revision>
  <cp:lastPrinted>2022-11-01T11:38:14Z</cp:lastPrinted>
  <dcterms:created xsi:type="dcterms:W3CDTF">2015-09-04T09:21:15Z</dcterms:created>
  <dcterms:modified xsi:type="dcterms:W3CDTF">2026-10-20T06:21:57Z</dcterms:modified>
</cp:coreProperties>
</file>