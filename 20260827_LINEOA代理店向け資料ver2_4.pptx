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9"/>
  </p:notesMasterIdLst>
  <p:handoutMasterIdLst>
    <p:handoutMasterId r:id="rId10"/>
  </p:handoutMasterIdLst>
  <p:sldIdLst>
    <p:sldId id="2363" r:id="rId3"/>
    <p:sldId id="2996" r:id="rId4"/>
    <p:sldId id="2913" r:id="rId5"/>
    <p:sldId id="2988" r:id="rId6"/>
    <p:sldId id="2974" r:id="rId7"/>
    <p:sldId id="2995" r:id="rId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56448" cy="768096"/>
          </a:xfrm>
          <a:prstGeom prst="rect">
            <a:avLst/>
          </a:prstGeom>
          <a:ln/>
        </p:spPr>
      </p:pic>
      <p:pic>
        <p:nvPicPr>
          <p:cNvPr id="3" name="Picture 2" descr="cov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3776"/>
            <a:ext cx="2039112" cy="274320"/>
          </a:xfrm>
          <a:prstGeom prst="rect">
            <a:avLst/>
          </a:prstGeom>
          <a:ln/>
        </p:spPr>
      </p:pic>
      <p:sp>
        <p:nvSpPr>
          <p:cNvPr id="4" name="TextBox 3"/>
          <p:cNvSpPr txBox="1"/>
          <p:nvPr/>
        </p:nvSpPr>
        <p:spPr>
          <a:xfrm>
            <a:off x="979615" y="2567366"/>
            <a:ext cx="8156447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dirty="0" err="1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最上位パートナーの知見を活用し、獲得に強い動線を構築する</a:t>
            </a:r>
            <a:endParaRPr sz="2000" b="0" dirty="0">
              <a:solidFill>
                <a:srgbClr val="7F7F7F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64208" y="3082195"/>
            <a:ext cx="6574536" cy="492443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LINE公式アカウント運用のご提案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5024" y="3703320"/>
            <a:ext cx="7232904" cy="1097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19272" y="3781690"/>
            <a:ext cx="3264408" cy="53427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19272" y="3898597"/>
            <a:ext cx="3264408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- 2026最新版 -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4343400"/>
            <a:ext cx="3264408" cy="402336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9272" y="4390679"/>
            <a:ext cx="3264408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代理店パートナー様</a:t>
            </a:r>
            <a:r>
              <a:rPr sz="2000" b="1" dirty="0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</a:t>
            </a:r>
            <a:r>
              <a:rPr sz="2000" b="1" dirty="0" err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向け</a:t>
            </a:r>
            <a:endParaRPr sz="2000" b="1" dirty="0">
              <a:solidFill>
                <a:srgbClr val="40404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22749"/>
            <a:ext cx="62763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Sales Partner Premier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082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6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7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9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0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2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3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4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5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6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8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9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101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2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3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4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</a:p>
        </p:txBody>
      </p:sp>
      <p:sp>
        <p:nvSpPr>
          <p:cNvPr id="2105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10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</a:p>
        </p:txBody>
      </p:sp>
      <p:sp>
        <p:nvSpPr>
          <p:cNvPr id="2111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ja-JP" sz="700">
                <a:solidFill>
                  <a:schemeClr val="bg1"/>
                </a:solidFill>
              </a:rPr>
              <a:t>※</a:t>
            </a:r>
            <a:r>
              <a:rPr lang="ja-JP" altLang="en-US" sz="700">
                <a:solidFill>
                  <a:schemeClr val="bg1"/>
                </a:solidFill>
              </a:rPr>
              <a:t>受賞時の</a:t>
            </a:r>
            <a:r>
              <a:rPr lang="en-US" altLang="ja-JP" sz="700">
                <a:solidFill>
                  <a:schemeClr val="bg1"/>
                </a:solidFill>
              </a:rPr>
              <a:t>1</a:t>
            </a:r>
            <a:r>
              <a:rPr lang="ja-JP" altLang="en-US" sz="700">
                <a:solidFill>
                  <a:schemeClr val="bg1"/>
                </a:solidFill>
              </a:rPr>
              <a:t>枚</a:t>
            </a:r>
            <a:endParaRPr lang="en-US" altLang="ja-JP" sz="700" dirty="0">
              <a:solidFill>
                <a:schemeClr val="bg1"/>
              </a:solidFill>
            </a:endParaRPr>
          </a:p>
        </p:txBody>
      </p:sp>
      <p:pic>
        <p:nvPicPr>
          <p:cNvPr id="7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ja-JP" altLang="en-US" sz="9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7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E371F4F6-3F93-7830-595E-799AA69EA971}"/>
              </a:ext>
            </a:extLst>
          </p:cNvPr>
          <p:cNvSpPr txBox="1"/>
          <p:nvPr/>
        </p:nvSpPr>
        <p:spPr>
          <a:xfrm>
            <a:off x="548883" y="107360"/>
            <a:ext cx="62763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実例紹介 </a:t>
            </a:r>
            <a:r>
              <a:rPr lang="en-US" altLang="ja-JP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- </a:t>
            </a: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弊社実績について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A6B81D2-7F85-D98D-ED15-FD61A8068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38014"/>
              </p:ext>
            </p:extLst>
          </p:nvPr>
        </p:nvGraphicFramePr>
        <p:xfrm>
          <a:off x="381000" y="809625"/>
          <a:ext cx="9191625" cy="5485142"/>
        </p:xfrm>
        <a:graphic>
          <a:graphicData uri="http://schemas.openxmlformats.org/drawingml/2006/table">
            <a:tbl>
              <a:tblPr/>
              <a:tblGrid>
                <a:gridCol w="1819275">
                  <a:extLst>
                    <a:ext uri="{9D8B030D-6E8A-4147-A177-3AD203B41FA5}">
                      <a16:colId xmlns:a16="http://schemas.microsoft.com/office/drawing/2014/main" val="185607723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505763101"/>
                    </a:ext>
                  </a:extLst>
                </a:gridCol>
                <a:gridCol w="2856379">
                  <a:extLst>
                    <a:ext uri="{9D8B030D-6E8A-4147-A177-3AD203B41FA5}">
                      <a16:colId xmlns:a16="http://schemas.microsoft.com/office/drawing/2014/main" val="415261329"/>
                    </a:ext>
                  </a:extLst>
                </a:gridCol>
                <a:gridCol w="3687296">
                  <a:extLst>
                    <a:ext uri="{9D8B030D-6E8A-4147-A177-3AD203B41FA5}">
                      <a16:colId xmlns:a16="http://schemas.microsoft.com/office/drawing/2014/main" val="299197543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業界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運用期間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施策インパクト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施策内容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3423"/>
                  </a:ext>
                </a:extLst>
              </a:tr>
              <a:tr h="10281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人材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（資格職・専門職転職）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■月間求人応募数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→ 4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br>
                        <a:rPr lang="en-US" altLang="ja-JP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¥145,000 → ¥102,000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・アンケートによる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ユーザーセグメントの取得</a:t>
                      </a:r>
                      <a:br>
                        <a:rPr lang="en-US" altLang="ja-JP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・セグメント配信による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パーソナライズされた追客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378025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不動産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（住宅メーカー）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■月間来場・資料請求件数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¥150,000 → ¥12,500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離脱防止バナー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による友だち増加促進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ペルソナに合わせた動線・クリエイティブ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の設計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117311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EC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総合</a:t>
                      </a: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EC）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4.3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520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¥150,000 → ¥12,500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離脱防止バナーと</a:t>
                      </a:r>
                      <a:r>
                        <a:rPr lang="en-US" altLang="ja-JP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CPF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を活用した友だち増加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・アンケートを実施し、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カゴ落ちユーザーを中心に</a:t>
                      </a:r>
                      <a:b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期間限定商品・高単価商品の情報を配信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009258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美容クリニック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（美肌治療）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63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¥32,000 → ¥12,000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ビフォーアフターがわかるクリエイティブ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を配信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個別メッセージを利用したユーザー個々への追客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15858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美容クリニック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（痩身）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開設から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45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N/A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開設から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万円台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N/A → ¥10,700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ビフォーアフターがわかるクリエイティブ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を配信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・アンケート動線を設定し、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悩み別のシナリオを用意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929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839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7863"/>
            <a:ext cx="8229600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なぜDYMか</a:t>
            </a:r>
            <a:endParaRPr sz="2000" b="1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10731"/>
            <a:ext cx="8869680" cy="51706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ja-JP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LINEヤフー社より Sales Partner の最上位認定（Premier）を頂いています。</a:t>
            </a:r>
            <a:r>
              <a:rPr lang="ja-JP" altLang="en-US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en-US" altLang="ja-JP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ja-JP" altLang="en-US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en-US" altLang="ja-JP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ja-JP" altLang="en-US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en-US" altLang="ja-JP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ja-JP" altLang="en-US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endParaRPr lang="en-US" altLang="ja-JP" sz="1200" b="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>
              <a:lnSpc>
                <a:spcPct val="105000"/>
              </a:lnSpc>
            </a:pPr>
            <a:r>
              <a:rPr lang="ja-JP" altLang="en-US" sz="16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en-US" altLang="ja-JP" sz="16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ja-JP" altLang="en-US" sz="16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endParaRPr sz="1200" b="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737359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548640" y="1737359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1984247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最上位認定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03037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LINEヤフー Sales Partner Premier。媒体担当が専任で直接つき、認定枠限定の機能（広告・通知・API）もご提供できます。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63239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548640" y="3063239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3310127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データ起点の運用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128917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媒体担当からの最新情報に、前後検索データとクリエイティブ検証を掛け合わせて運用します。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389120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548640" y="4389120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4636008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設計から運用まで対応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454798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LINE公式アカウントの設計・構築から日々の運用まで、まとめてお任せいただけます。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97879"/>
            <a:ext cx="8924544" cy="58521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786384" y="6067376"/>
            <a:ext cx="8449056" cy="246221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LINE案件は、安心してDYMにお任せください。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3800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6304"/>
            <a:ext cx="87782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DYMとの協業パターン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0664"/>
            <a:ext cx="886968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紹介だけでも、実務ごとでも構いません。貴社の体制に合わせて決められます。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5468112"/>
            <a:ext cx="8924544" cy="58521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786384" y="5637609"/>
            <a:ext cx="8449056" cy="246221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提案・設計・構築・運用まで、必要な範囲のみご依頼可能です。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600200"/>
            <a:ext cx="285292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600200"/>
            <a:ext cx="2852928" cy="420624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A｜紹介のみ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240280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貴社がやること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496312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案件をつなぐ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118104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DYMがやること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374136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提案から運用まですべて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297680"/>
            <a:ext cx="2670048" cy="54864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★ 貴社の収益：紹介Fee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1600200"/>
            <a:ext cx="285292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11880" y="1600200"/>
            <a:ext cx="2852928" cy="420624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B｜共同提案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2240280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貴社がやること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2496312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提案・折衝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3118104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DYMがやること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3374136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設計以降すべて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4297680"/>
            <a:ext cx="2670048" cy="54864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★ 貴社の収益：運用費の分散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1600200"/>
            <a:ext cx="285292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1600200"/>
            <a:ext cx="2852928" cy="420624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C｜フル委託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2240280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貴社がやること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2496312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受注・請求（貴社名義）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118104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DYMがやること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374136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実務すべて（DYMは非表示）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59" y="4297680"/>
            <a:ext cx="2670048" cy="54864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★ 貴社の収益：代行費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6304"/>
            <a:ext cx="87782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lang="ja-JP" altLang="en-US" sz="20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ご費用のパターン</a:t>
            </a:r>
            <a:r>
              <a:rPr sz="20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/>
            </a:r>
            <a:endParaRPr sz="20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40664"/>
            <a:ext cx="886968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3つのプランからお選びいただけます。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85292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852928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パターン1｜初期構築のみ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2160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846320"/>
            <a:ext cx="2633472" cy="54864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設計・構築のみを委託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600200"/>
            <a:ext cx="285292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600200"/>
            <a:ext cx="2852928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パターン2｜コンサル・伴走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37744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67004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2900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72160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21608" y="4846320"/>
            <a:ext cx="2633472" cy="54864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戦略設計から運用改善まで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600200"/>
            <a:ext cx="285292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1600200"/>
            <a:ext cx="2852928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パターン3｜成果報酬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37744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7004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2900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72160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成果単価×成果数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84848" y="4846320"/>
            <a:ext cx="2633472" cy="54864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固定費を抑えた成果連動型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8979408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※費用は設定内容・投稿数・成果地点等により変動します。アカウント費・ツール費等は別途発生する場合があります。／いずれも6か月〜のご契約です。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141667</TotalTime>
  <Words>1051</Words>
  <Application>Microsoft Office PowerPoint</Application>
  <PresentationFormat>A4 210 x 297 mm</PresentationFormat>
  <Paragraphs>178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1939</cp:revision>
  <cp:lastPrinted>2022-11-01T11:38:14Z</cp:lastPrinted>
  <dcterms:created xsi:type="dcterms:W3CDTF">2015-09-04T09:21:15Z</dcterms:created>
  <dcterms:modified xsi:type="dcterms:W3CDTF">2026-10-05T02:43:24Z</dcterms:modified>
</cp:coreProperties>
</file>