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67"/>
  </p:notesMasterIdLst>
  <p:handoutMasterIdLst>
    <p:handoutMasterId r:id="rId68"/>
  </p:handout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>
        <p:scale>
          <a:sx n="83" d="100"/>
          <a:sy n="83" d="100"/>
        </p:scale>
        <p:origin x="2070" y="69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888000"/>
            <a:ext cx="3861000" cy="50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CVの取りこぼしを減らし、獲得チャネルを増やすことで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施策全体のCPAを改善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購入・契約などの最終成果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5750" y="3888000"/>
            <a:ext cx="3861000" cy="50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0500" y="4536000"/>
            <a:ext cx="2583749" cy="68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1件の最終成果あたりの広告費を抑えられる</a:t>
            </a: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53750" y="4536000"/>
            <a:ext cx="2437499" cy="68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1件の最終成果にかけられる広告費が増える</a:t>
            </a: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0749" y="4536000"/>
            <a:ext cx="2437499" cy="68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入札・予算・配信対象を広げやすくなる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87780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20331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216626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552900"/>
            <a:ext cx="1227667" cy="430887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8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85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38617" y="4735255"/>
            <a:ext cx="1338278" cy="2616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8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lang="en-US" altLang="ja-JP" sz="85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93645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92938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635250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1227370" y="2027927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403221" y="3262734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1227370" y="4624810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592" y="2426061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636579" y="2000983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634349" y="4603503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729673" y="2467099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827019" y="1842964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370199" y="777681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 lIns="74295" rIns="74295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38554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3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3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3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53916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85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137688" y="1518664"/>
            <a:ext cx="2473721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1370199" y="1321261"/>
            <a:ext cx="122754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74282" tIns="45700" rIns="74282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初期：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15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</a:t>
            </a:r>
            <a:endParaRPr b="1" dirty="0">
              <a:solidFill>
                <a:schemeClr val="lt1"/>
              </a:solidFill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2665729" y="1321261"/>
            <a:ext cx="122754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74282" tIns="45700" rIns="74282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月額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3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万円～</a:t>
            </a:r>
            <a:endParaRPr lang="en-US" altLang="ja-JP" b="1" dirty="0">
              <a:solidFill>
                <a:schemeClr val="lt1"/>
              </a:solidFill>
              <a:sym typeface="Meiryo"/>
            </a:endParaRPr>
          </a:p>
          <a:p>
            <a:pPr algn="ctr">
              <a:buSzPts val="1400"/>
            </a:pPr>
            <a:r>
              <a:rPr lang="en-US" altLang="ja-JP" sz="850" b="1" dirty="0">
                <a:solidFill>
                  <a:srgbClr val="FFFF00"/>
                </a:solidFill>
                <a:sym typeface="Meiryo"/>
              </a:rPr>
              <a:t>+</a:t>
            </a:r>
            <a:r>
              <a:rPr lang="ja-JP" altLang="en-US" sz="850" b="1" dirty="0">
                <a:solidFill>
                  <a:srgbClr val="FFFF00"/>
                </a:solidFill>
                <a:sym typeface="Meiryo"/>
              </a:rPr>
              <a:t>設定地点追加</a:t>
            </a:r>
            <a:endParaRPr sz="850" b="1" dirty="0">
              <a:solidFill>
                <a:srgbClr val="FFFF00"/>
              </a:solidFill>
              <a:sym typeface="Meiryo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743681" y="1909406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6639" y="3973990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8820" y="2495006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913186" y="5205027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1679377" y="4868960"/>
            <a:ext cx="233808" cy="66604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916109" y="3203047"/>
            <a:ext cx="132678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925424" y="2187781"/>
            <a:ext cx="1288661" cy="948384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 flipV="1">
            <a:off x="5864346" y="4971540"/>
            <a:ext cx="1781554" cy="59904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798527"/>
            <a:ext cx="9111472" cy="38294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友だち追加直後で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率が高い時に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ユーザーの検討行動に合わせた配信を設計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481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500" y="1987330"/>
            <a:ext cx="251550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1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</a:t>
            </a:r>
            <a:r>
              <a:rPr sz="11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索</a:t>
            </a:r>
            <a:r>
              <a:rPr lang="ja-JP" altLang="en-US" sz="11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⇒ユーザーの</a:t>
            </a: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ニーズを把握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3500" y="2304000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5206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750" y="1962000"/>
            <a:ext cx="2515500" cy="32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0750" y="2304000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9312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7999" y="1987330"/>
            <a:ext cx="295425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1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追加直後で</a:t>
            </a: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1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率高め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317999" y="2304000"/>
            <a:ext cx="295425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202875" y="3456000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6040124" y="3456000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48250" y="4032000"/>
            <a:ext cx="22815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250" y="2520000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9000" y="2520000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250" y="2700000"/>
            <a:ext cx="234000" cy="180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UU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500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-15日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55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-7日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9395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7250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(検索起点)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5105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3日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0145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0" y="4039200"/>
            <a:ext cx="643500" cy="288000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15日</a:t>
            </a:r>
          </a:p>
        </p:txBody>
      </p:sp>
      <p:sp>
        <p:nvSpPr>
          <p:cNvPr id="31" name="Oval 30"/>
          <p:cNvSpPr/>
          <p:nvPr/>
        </p:nvSpPr>
        <p:spPr>
          <a:xfrm>
            <a:off x="2174974" y="26054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35274" y="2605492"/>
            <a:ext cx="218467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73582" y="26614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35968" y="29093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7339" y="293180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66087" y="293267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626387" y="2932673"/>
            <a:ext cx="14908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24222" y="293427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32481" y="296105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75299" y="297493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8154" y="29986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08454" y="2998660"/>
            <a:ext cx="15143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43256" y="30704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195314" y="307791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01768" y="316092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2965" y="32694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23265" y="3269407"/>
            <a:ext cx="9905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64070" y="333060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012988" y="336643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4709" y="337436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695035" y="338847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755335" y="3388477"/>
            <a:ext cx="10120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754402" y="338928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22114" y="33967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870393" y="342085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490680" y="342767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50980" y="3427671"/>
            <a:ext cx="13284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03295" y="34789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07748" y="352568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79031" y="353134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798546" y="354027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858846" y="3540270"/>
            <a:ext cx="12259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346384" y="35446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708212" y="35889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85936" y="364524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973201" y="36693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033501" y="3669338"/>
            <a:ext cx="19684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434276" y="368795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02102" y="370944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103102" y="371297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431684" y="371760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491984" y="3717605"/>
            <a:ext cx="10899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57112" y="37519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071759" y="37715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27210" y="377388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094264" y="378450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154564" y="3784508"/>
            <a:ext cx="9079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09761" y="379709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344056" y="37999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61964" y="380506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896624" y="38093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956924" y="3809355"/>
            <a:ext cx="212923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47040" y="381881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489551" y="384600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382012" y="38805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606119" y="388670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666419" y="3886708"/>
            <a:ext cx="157281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189770" y="38893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581579" y="38913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908993" y="389784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276001" y="390228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336301" y="3902289"/>
            <a:ext cx="10704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866016" y="390921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081942" y="391049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2175240" y="392106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2165289" y="392278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2225589" y="3922781"/>
            <a:ext cx="15924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365996" y="39257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318492" y="393218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2545675" y="393759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355620" y="393899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415920" y="3938993"/>
            <a:ext cx="9130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764247" y="39392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722435" y="394036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2021203" y="394058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615776" y="39434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1676076" y="3943482"/>
            <a:ext cx="157262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2054659" y="394583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391304" y="39474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2150492" y="394855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2342302" y="394887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2402602" y="3948879"/>
            <a:ext cx="21654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876813" y="39491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624306" y="39501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2138041" y="395070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2101194" y="39523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2161494" y="3952372"/>
            <a:ext cx="20138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247349" y="39527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31250" y="4392000"/>
            <a:ext cx="2340000" cy="951474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検討前に何を検索しているか</a:t>
            </a:r>
            <a:endParaRPr sz="9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検討後に何を検索しているか</a:t>
            </a:r>
            <a:endParaRPr sz="9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ユーザーの不安・比較軸・関心テーマを把握</a:t>
            </a:r>
            <a:endParaRPr sz="9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3480750" y="2376000"/>
            <a:ext cx="102375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72500" y="2376000"/>
            <a:ext cx="102375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80750" y="2808000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63000" y="3006000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972500" y="2808000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80750" y="340199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63000" y="3600000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972500" y="340199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80750" y="3996000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63000" y="4194000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4972500" y="3996000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80749" y="4662000"/>
            <a:ext cx="2559374" cy="697045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</a:t>
            </a:r>
            <a:r>
              <a:rPr sz="9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9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配信内容・順番・タイミングを</a:t>
            </a:r>
            <a:endParaRPr sz="9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  <a:endParaRPr sz="9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7166249" y="2484000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058249" y="2376000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317999" y="2304000"/>
            <a:ext cx="731250" cy="36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37" name="Oval 136"/>
          <p:cNvSpPr/>
          <p:nvPr/>
        </p:nvSpPr>
        <p:spPr>
          <a:xfrm>
            <a:off x="7058249" y="2783828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317999" y="2711828"/>
            <a:ext cx="731250" cy="36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70999" y="2729307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140" name="Oval 139"/>
          <p:cNvSpPr/>
          <p:nvPr/>
        </p:nvSpPr>
        <p:spPr>
          <a:xfrm>
            <a:off x="7058249" y="3422382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317999" y="3350383"/>
            <a:ext cx="731250" cy="36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70999" y="3367862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  <a:endParaRPr sz="8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058249" y="4111200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317999" y="4039200"/>
            <a:ext cx="731250" cy="36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70999" y="4056679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CVオファー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3500" y="5841474"/>
            <a:ext cx="8628750" cy="34105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b="1" dirty="0" err="1" sz="14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  <a:endParaRPr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0" name="二等辺三角形 149">
            <a:extLst>
              <a:ext uri="{FF2B5EF4-FFF2-40B4-BE49-F238E27FC236}">
                <a16:creationId xmlns:a16="http://schemas.microsoft.com/office/drawing/2014/main" id="{45749858-75C5-B795-5AA4-35BD51777768}"/>
              </a:ext>
            </a:extLst>
          </p:cNvPr>
          <p:cNvSpPr/>
          <p:nvPr/>
        </p:nvSpPr>
        <p:spPr>
          <a:xfrm rot="10800000">
            <a:off x="7082247" y="4937761"/>
            <a:ext cx="171834" cy="290396"/>
          </a:xfrm>
          <a:prstGeom prst="triangle">
            <a:avLst/>
          </a:prstGeom>
          <a:solidFill>
            <a:srgbClr val="00B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kumimoji="1" lang="ja-JP" altLang="en-US"/>
          </a:p>
        </p:txBody>
      </p:sp>
      <p:sp>
        <p:nvSpPr>
          <p:cNvPr id="152" name="Rounded Rectangle 144">
            <a:extLst>
              <a:ext uri="{FF2B5EF4-FFF2-40B4-BE49-F238E27FC236}">
                <a16:creationId xmlns:a16="http://schemas.microsoft.com/office/drawing/2014/main" id="{9271364C-3269-6287-1367-C96CC9B7B278}"/>
              </a:ext>
            </a:extLst>
          </p:cNvPr>
          <p:cNvSpPr/>
          <p:nvPr/>
        </p:nvSpPr>
        <p:spPr>
          <a:xfrm>
            <a:off x="7370999" y="4886412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8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以降もナーチャリング対象</a:t>
            </a:r>
            <a:endParaRPr sz="8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3500" y="1620000"/>
            <a:ext cx="2925000" cy="32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500" y="2052000"/>
            <a:ext cx="2223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500" y="2358000"/>
            <a:ext cx="2223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925000" y="3600000"/>
            <a:ext cx="1755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159000" y="2052000"/>
            <a:ext cx="3393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9000" y="2358000"/>
            <a:ext cx="3393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610499" y="3600000"/>
            <a:ext cx="1755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44500" y="2052000"/>
            <a:ext cx="242775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4500" y="2358000"/>
            <a:ext cx="242775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750" y="2556000"/>
            <a:ext cx="1930500" cy="2376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予約から来院日まで、接点がない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予約後に来院しない方が一定数いる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3000" y="2538000"/>
            <a:ext cx="2925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55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393000" y="3172500"/>
            <a:ext cx="2925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5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93000" y="3806999"/>
            <a:ext cx="2925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555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93000" y="4441500"/>
            <a:ext cx="2925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予約確認・前日のお知らせをLINEで配信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4500" y="2520000"/>
            <a:ext cx="2427750" cy="32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4500" y="2916000"/>
            <a:ext cx="2427750" cy="122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4500" y="4140000"/>
            <a:ext cx="2427750" cy="432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3500" y="5400000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3500" y="5472000"/>
            <a:ext cx="8628750" cy="216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00" y="5706000"/>
            <a:ext cx="4226625" cy="36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</a:t>
            </a:r>
            <a:r>
              <a:rPr sz="8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7875" y="5706000"/>
            <a:ext cx="4314375" cy="36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</a:t>
            </a:r>
            <a:r>
              <a:rPr sz="8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53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3500" y="3978000"/>
            <a:ext cx="8619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86" y="1899562"/>
            <a:ext cx="1439613" cy="17988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11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500" y="1746000"/>
            <a:ext cx="2047500" cy="41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81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1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7874" y="2700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500" y="3221999"/>
            <a:ext cx="2635886" cy="216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00" y="3420000"/>
            <a:ext cx="2635886" cy="324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86" y="1899562"/>
            <a:ext cx="1439613" cy="179887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096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9500" y="1746000"/>
            <a:ext cx="2047500" cy="41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8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66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6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2875" y="2700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28500" y="3221999"/>
            <a:ext cx="2635886" cy="216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8500" y="3420000"/>
            <a:ext cx="2635886" cy="324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886" y="4257562"/>
            <a:ext cx="1439613" cy="179887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11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ja-JP" sz="13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81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21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17874" y="5058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500" y="5580000"/>
            <a:ext cx="2635886" cy="216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778000"/>
            <a:ext cx="2635886" cy="324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86" y="4257562"/>
            <a:ext cx="1439613" cy="1798875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6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9500" y="4104000"/>
            <a:ext cx="2047500" cy="41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8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66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6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2875" y="5058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8500" y="5580000"/>
            <a:ext cx="2635886" cy="216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8500" y="5778000"/>
            <a:ext cx="2635886" cy="324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250" y="1800000"/>
            <a:ext cx="1985344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65219" y="1800000"/>
            <a:ext cx="1882969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96812" y="1800000"/>
            <a:ext cx="1882969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8406" y="1800000"/>
            <a:ext cx="1882969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870000"/>
            <a:ext cx="1941469" cy="288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2000"/>
            <a:ext cx="2925000" cy="216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4878000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029200"/>
            <a:ext cx="5265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875" y="4986000"/>
            <a:ext cx="4095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292000"/>
            <a:ext cx="2098688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42188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292000"/>
            <a:ext cx="2098688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875" y="5029200"/>
            <a:ext cx="5265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77250" y="4986000"/>
            <a:ext cx="4095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875" y="5292000"/>
            <a:ext cx="1399125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74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74000" y="5292000"/>
            <a:ext cx="1399125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73125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873125" y="5292000"/>
            <a:ext cx="1399125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957875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3500" y="5814000"/>
            <a:ext cx="8628750" cy="198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143172</TotalTime>
  <Words>7311</Words>
  <Application>Microsoft Office PowerPoint</Application>
  <PresentationFormat>A4 210 x 297 mm</PresentationFormat>
  <Paragraphs>1884</Paragraphs>
  <Slides>64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64</vt:i4>
      </vt:variant>
    </vt:vector>
  </HeadingPairs>
  <TitlesOfParts>
    <vt:vector size="71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1957</cp:revision>
  <cp:lastPrinted>2022-11-01T11:38:14Z</cp:lastPrinted>
  <dcterms:created xsi:type="dcterms:W3CDTF">2015-09-04T09:21:15Z</dcterms:created>
  <dcterms:modified xsi:type="dcterms:W3CDTF">2026-09-30T11:23:44Z</dcterms:modified>
</cp:coreProperties>
</file>