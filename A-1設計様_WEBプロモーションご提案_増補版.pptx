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7.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売上高</c:v>
                </c:pt>
              </c:strCache>
            </c:strRef>
          </c:tx>
          <c:spPr>
            <a:solidFill>
              <a:srgbClr val="1A2A5E"/>
            </a:solidFill>
            <a:effectLst/>
          </c:spPr>
          <c:invertIfNegative val="0"/>
          <c:dLbls>
            <c:numFmt formatCode="#,##0" sourceLinked="0"/>
            <c:txPr>
              <a:bodyPr/>
              <a:lstStyle/>
              <a:p>
                <a:pPr>
                  <a:defRPr b="0" i="0" strike="noStrike" sz="900" u="none">
                    <a:solidFill>
                      <a:srgbClr val="1A2A5E"/>
                    </a:solidFill>
                    <a:latin typeface="Meiryo"/>
                  </a:defRPr>
                </a:pPr>
              </a:p>
            </c:txPr>
            <c:showLegendKey val="0"/>
            <c:showVal val="1"/>
            <c:showCatName val="0"/>
            <c:showSerName val="0"/>
            <c:showPercent val="0"/>
            <c:showBubbleSize val="0"/>
            <c:showLeaderLines val="0"/>
          </c:dLbls>
          <c:cat>
            <c:multiLvlStrRef>
              <c:f>Sheet1!$A$2:$A$7</c:f>
              <c:multiLvlStrCache>
                <c:ptCount val="6"/>
                <c:lvl>
                  <c:pt idx="0">
                    <c:v>第18期</c:v>
                  </c:pt>
                  <c:pt idx="1">
                    <c:v>第19期</c:v>
                  </c:pt>
                  <c:pt idx="2">
                    <c:v>第20期</c:v>
                  </c:pt>
                  <c:pt idx="3">
                    <c:v>第21期</c:v>
                  </c:pt>
                  <c:pt idx="4">
                    <c:v>第22期</c:v>
                  </c:pt>
                  <c:pt idx="5">
                    <c:v>第23期</c:v>
                  </c:pt>
                </c:lvl>
              </c:multiLvlStrCache>
            </c:multiLvlStrRef>
          </c:cat>
          <c:val>
            <c:numRef>
              <c:f>Sheet1!$B$2:$B$7</c:f>
              <c:numCache>
                <c:formatCode>General</c:formatCode>
                <c:ptCount val="6"/>
                <c:pt idx="0">
                  <c:v>134.2</c:v>
                </c:pt>
                <c:pt idx="1">
                  <c:v>161.1</c:v>
                </c:pt>
                <c:pt idx="2">
                  <c:v>212.6</c:v>
                </c:pt>
                <c:pt idx="3">
                  <c:v>258</c:v>
                </c:pt>
                <c:pt idx="4">
                  <c:v>318.7</c:v>
                </c:pt>
                <c:pt idx="5">
                  <c:v>462.4</c:v>
                </c:pt>
              </c:numCache>
            </c:numRef>
          </c:val>
        </c:ser>
        <c:dLbls>
          <c:numFmt formatCode="#,##0" sourceLinked="0"/>
          <c:txPr>
            <a:bodyPr/>
            <a:lstStyle/>
            <a:p>
              <a:pPr>
                <a:defRPr b="0" i="0" strike="noStrike" sz="900" u="none">
                  <a:solidFill>
                    <a:srgbClr val="1A2A5E"/>
                  </a:solidFill>
                  <a:latin typeface="Meiryo"/>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22222"/>
                </a:solidFill>
                <a:latin typeface="Meiryo"/>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比率</c:v>
                </c:pt>
              </c:strCache>
            </c:strRef>
          </c:tx>
          <c:spPr>
            <a:solidFill>
              <a:schemeClr val="accent1"/>
            </a:solidFill>
            <a:ln w="9525" cap="flat">
              <a:solidFill>
                <a:srgbClr val="F9F9F9"/>
              </a:solidFill>
              <a:prstDash val="solid"/>
              <a:round/>
            </a:ln>
            <a:effectLst/>
          </c:spPr>
          <c:dPt>
            <c:idx val="0"/>
            <c:bubble3D val="0"/>
            <c:spPr>
              <a:solidFill>
                <a:srgbClr val="F39800"/>
              </a:solidFill>
              <a:effectLst/>
            </c:spPr>
          </c:dPt>
          <c:dPt>
            <c:idx val="1"/>
            <c:bubble3D val="0"/>
            <c:spPr>
              <a:solidFill>
                <a:srgbClr val="1A2A5E"/>
              </a:solidFill>
              <a:effectLst/>
            </c:spPr>
          </c:dPt>
          <c:dPt>
            <c:idx val="2"/>
            <c:bubble3D val="0"/>
            <c:spPr>
              <a:solidFill>
                <a:srgbClr val="3D4E86"/>
              </a:solidFill>
              <a:effectLst/>
            </c:spPr>
          </c:dPt>
          <c:dPt>
            <c:idx val="3"/>
            <c:bubble3D val="0"/>
            <c:spPr>
              <a:solidFill>
                <a:srgbClr val="8A93B8"/>
              </a:solidFill>
              <a:effectLst/>
            </c:spPr>
          </c:dPt>
          <c:dLbls>
            <c:dLbl>
              <c:idx val="0"/>
              <c:numFmt formatCode="0%" sourceLinked="0"/>
              <c:spPr/>
              <c:txPr>
                <a:bodyPr/>
                <a:lstStyle/>
                <a:p>
                  <a:pPr>
                    <a:defRPr sz="1100" b="1" i="0" u="none" strike="noStrike">
                      <a:solidFill>
                        <a:srgbClr val="FFFFFF"/>
                      </a:solidFill>
                      <a:latin typeface="Meiryo"/>
                    </a:defRPr>
                  </a:pPr>
                </a:p>
              </c:txPr>
              <c:showLegendKey val="0"/>
              <c:showVal val="0"/>
              <c:showCatName val="0"/>
              <c:showSerName val="0"/>
              <c:showPercent val="1"/>
              <c:showBubbleSize val="0"/>
            </c:dLbl>
            <c:dLbl>
              <c:idx val="1"/>
              <c:numFmt formatCode="0%" sourceLinked="0"/>
              <c:spPr/>
              <c:txPr>
                <a:bodyPr/>
                <a:lstStyle/>
                <a:p>
                  <a:pPr>
                    <a:defRPr sz="1100" b="1" i="0" u="none" strike="noStrike">
                      <a:solidFill>
                        <a:srgbClr val="FFFFFF"/>
                      </a:solidFill>
                      <a:latin typeface="Meiryo"/>
                    </a:defRPr>
                  </a:pPr>
                </a:p>
              </c:txPr>
              <c:showLegendKey val="0"/>
              <c:showVal val="0"/>
              <c:showCatName val="0"/>
              <c:showSerName val="0"/>
              <c:showPercent val="1"/>
              <c:showBubbleSize val="0"/>
            </c:dLbl>
            <c:dLbl>
              <c:idx val="2"/>
              <c:numFmt formatCode="0%" sourceLinked="0"/>
              <c:spPr/>
              <c:txPr>
                <a:bodyPr/>
                <a:lstStyle/>
                <a:p>
                  <a:pPr>
                    <a:defRPr sz="1100" b="1" i="0" u="none" strike="noStrike">
                      <a:solidFill>
                        <a:srgbClr val="FFFFFF"/>
                      </a:solidFill>
                      <a:latin typeface="Meiryo"/>
                    </a:defRPr>
                  </a:pPr>
                </a:p>
              </c:txPr>
              <c:showLegendKey val="0"/>
              <c:showVal val="0"/>
              <c:showCatName val="0"/>
              <c:showSerName val="0"/>
              <c:showPercent val="1"/>
              <c:showBubbleSize val="0"/>
            </c:dLbl>
            <c:dLbl>
              <c:idx val="3"/>
              <c:numFmt formatCode="0%" sourceLinked="0"/>
              <c:spPr/>
              <c:txPr>
                <a:bodyPr/>
                <a:lstStyle/>
                <a:p>
                  <a:pPr>
                    <a:defRPr sz="1100" b="1" i="0" u="none" strike="noStrike">
                      <a:solidFill>
                        <a:srgbClr val="FFFFFF"/>
                      </a:solidFill>
                      <a:latin typeface="Meiryo"/>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リスティング</c:v>
                </c:pt>
                <c:pt idx="1">
                  <c:v>SNS</c:v>
                </c:pt>
                <c:pt idx="2">
                  <c:v>アフィリエイト</c:v>
                </c:pt>
                <c:pt idx="3">
                  <c:v>その他</c:v>
                </c:pt>
              </c:strCache>
            </c:strRef>
          </c:cat>
          <c:val>
            <c:numRef>
              <c:f>Sheet1!$B$2:$B$5</c:f>
              <c:numCache>
                <c:ptCount val="4"/>
                <c:pt idx="0">
                  <c:v>72</c:v>
                </c:pt>
                <c:pt idx="1">
                  <c:v>13</c:v>
                </c:pt>
                <c:pt idx="2">
                  <c:v>8</c:v>
                </c:pt>
                <c:pt idx="3">
                  <c:v>7</c:v>
                </c:pt>
              </c:numCache>
            </c:numRef>
          </c:val>
        </c:ser>
        <c:firstSliceAng val="0"/>
        <c:holeSize val="55"/>
      </c:doughnutChart>
      <c:spPr>
        <a:noFill/>
        <a:ln>
          <a:noFill/>
        </a:ln>
        <a:effectLst/>
      </c:spPr>
    </c:plotArea>
    <c:legend>
      <c:legendPos val="b"/>
      <c:overlay val="0"/>
      <c:txPr>
        <a:bodyPr/>
        <a:lstStyle/>
        <a:p>
          <a:pPr>
            <a:defRPr sz="1000">
              <a:latin typeface="Meiryo"/>
              <a:cs typeface="Meiryo"/>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レンジ</c:v>
                </c:pt>
              </c:strCache>
            </c:strRef>
          </c:tx>
          <c:spPr>
            <a:solidFill>
              <a:schemeClr val="accent1"/>
            </a:solidFill>
            <a:ln w="9525" cap="flat">
              <a:solidFill>
                <a:srgbClr val="F9F9F9"/>
              </a:solidFill>
              <a:prstDash val="solid"/>
              <a:round/>
            </a:ln>
            <a:effectLst/>
          </c:spPr>
          <c:dPt>
            <c:idx val="0"/>
            <c:bubble3D val="0"/>
            <c:spPr>
              <a:solidFill>
                <a:srgbClr val="3D4E86"/>
              </a:solidFill>
              <a:effectLst/>
            </c:spPr>
          </c:dPt>
          <c:dPt>
            <c:idx val="1"/>
            <c:bubble3D val="0"/>
            <c:spPr>
              <a:solidFill>
                <a:srgbClr val="F39800"/>
              </a:solidFill>
              <a:effectLst/>
            </c:spPr>
          </c:dPt>
          <c:dPt>
            <c:idx val="2"/>
            <c:bubble3D val="0"/>
            <c:spPr>
              <a:solidFill>
                <a:srgbClr val="C7CDE0"/>
              </a:solidFill>
              <a:effectLst/>
            </c:spPr>
          </c:dPt>
          <c:dPt>
            <c:idx val="3"/>
            <c:bubble3D val="0"/>
            <c:spPr>
              <a:solidFill>
                <a:srgbClr val="1A2A5E"/>
              </a:solidFill>
              <a:effectLst/>
            </c:spPr>
          </c:dPt>
          <c:dLbls>
            <c:dLbl>
              <c:idx val="0"/>
              <c:numFmt formatCode="0%" sourceLinked="0"/>
              <c:spPr/>
              <c:txPr>
                <a:bodyPr/>
                <a:lstStyle/>
                <a:p>
                  <a:pPr>
                    <a:defRPr sz="1100" b="1" i="0" u="none" strike="noStrike">
                      <a:solidFill>
                        <a:srgbClr val="FFFFFF"/>
                      </a:solidFill>
                      <a:latin typeface="Meiryo"/>
                    </a:defRPr>
                  </a:pPr>
                </a:p>
              </c:txPr>
              <c:showLegendKey val="0"/>
              <c:showVal val="0"/>
              <c:showCatName val="0"/>
              <c:showSerName val="0"/>
              <c:showPercent val="1"/>
              <c:showBubbleSize val="0"/>
            </c:dLbl>
            <c:dLbl>
              <c:idx val="1"/>
              <c:numFmt formatCode="0%" sourceLinked="0"/>
              <c:spPr/>
              <c:txPr>
                <a:bodyPr/>
                <a:lstStyle/>
                <a:p>
                  <a:pPr>
                    <a:defRPr sz="1100" b="1" i="0" u="none" strike="noStrike">
                      <a:solidFill>
                        <a:srgbClr val="FFFFFF"/>
                      </a:solidFill>
                      <a:latin typeface="Meiryo"/>
                    </a:defRPr>
                  </a:pPr>
                </a:p>
              </c:txPr>
              <c:showLegendKey val="0"/>
              <c:showVal val="0"/>
              <c:showCatName val="0"/>
              <c:showSerName val="0"/>
              <c:showPercent val="1"/>
              <c:showBubbleSize val="0"/>
            </c:dLbl>
            <c:dLbl>
              <c:idx val="2"/>
              <c:numFmt formatCode="0%" sourceLinked="0"/>
              <c:spPr/>
              <c:txPr>
                <a:bodyPr/>
                <a:lstStyle/>
                <a:p>
                  <a:pPr>
                    <a:defRPr sz="1100" b="1" i="0" u="none" strike="noStrike">
                      <a:solidFill>
                        <a:srgbClr val="FFFFFF"/>
                      </a:solidFill>
                      <a:latin typeface="Meiryo"/>
                    </a:defRPr>
                  </a:pPr>
                </a:p>
              </c:txPr>
              <c:showLegendKey val="0"/>
              <c:showVal val="0"/>
              <c:showCatName val="0"/>
              <c:showSerName val="0"/>
              <c:showPercent val="1"/>
              <c:showBubbleSize val="0"/>
            </c:dLbl>
            <c:dLbl>
              <c:idx val="3"/>
              <c:numFmt formatCode="0%" sourceLinked="0"/>
              <c:spPr/>
              <c:txPr>
                <a:bodyPr/>
                <a:lstStyle/>
                <a:p>
                  <a:pPr>
                    <a:defRPr sz="1100" b="1" i="0" u="none" strike="noStrike">
                      <a:solidFill>
                        <a:srgbClr val="FFFFFF"/>
                      </a:solidFill>
                      <a:latin typeface="Meiryo"/>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〜100万円</c:v>
                </c:pt>
                <c:pt idx="1">
                  <c:v>100〜500万円</c:v>
                </c:pt>
                <c:pt idx="2">
                  <c:v>500〜1,000万円</c:v>
                </c:pt>
                <c:pt idx="3">
                  <c:v>1,000万円〜</c:v>
                </c:pt>
              </c:strCache>
            </c:strRef>
          </c:cat>
          <c:val>
            <c:numRef>
              <c:f>Sheet1!$B$2:$B$5</c:f>
              <c:numCache>
                <c:ptCount val="4"/>
                <c:pt idx="0">
                  <c:v>36</c:v>
                </c:pt>
                <c:pt idx="1">
                  <c:v>42</c:v>
                </c:pt>
                <c:pt idx="2">
                  <c:v>8</c:v>
                </c:pt>
                <c:pt idx="3">
                  <c:v>14</c:v>
                </c:pt>
              </c:numCache>
            </c:numRef>
          </c:val>
        </c:ser>
        <c:firstSliceAng val="0"/>
      </c:pieChart>
      <c:spPr>
        <a:noFill/>
        <a:ln>
          <a:noFill/>
        </a:ln>
        <a:effectLst/>
      </c:spPr>
    </c:plotArea>
    <c:legend>
      <c:legendPos val="b"/>
      <c:overlay val="0"/>
      <c:txPr>
        <a:bodyPr/>
        <a:lstStyle/>
        <a:p>
          <a:pPr>
            <a:defRPr sz="900">
              <a:latin typeface="Meiryo"/>
              <a:cs typeface="Meiryo"/>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業界</c:v>
                </c:pt>
              </c:strCache>
            </c:strRef>
          </c:tx>
          <c:spPr>
            <a:solidFill>
              <a:schemeClr val="accent1"/>
            </a:solidFill>
            <a:ln w="9525" cap="flat">
              <a:solidFill>
                <a:srgbClr val="F9F9F9"/>
              </a:solidFill>
              <a:prstDash val="solid"/>
              <a:round/>
            </a:ln>
            <a:effectLst/>
          </c:spPr>
          <c:dPt>
            <c:idx val="0"/>
            <c:bubble3D val="0"/>
            <c:spPr>
              <a:solidFill>
                <a:srgbClr val="1A2A5E"/>
              </a:solidFill>
              <a:effectLst/>
            </c:spPr>
          </c:dPt>
          <c:dPt>
            <c:idx val="1"/>
            <c:bubble3D val="0"/>
            <c:spPr>
              <a:solidFill>
                <a:srgbClr val="3D4E86"/>
              </a:solidFill>
              <a:effectLst/>
            </c:spPr>
          </c:dPt>
          <c:dPt>
            <c:idx val="2"/>
            <c:bubble3D val="0"/>
            <c:spPr>
              <a:solidFill>
                <a:srgbClr val="8A93B8"/>
              </a:solidFill>
              <a:effectLst/>
            </c:spPr>
          </c:dPt>
          <c:dPt>
            <c:idx val="3"/>
            <c:bubble3D val="0"/>
            <c:spPr>
              <a:solidFill>
                <a:srgbClr val="F39800"/>
              </a:solidFill>
              <a:effectLst/>
            </c:spPr>
          </c:dPt>
          <c:dPt>
            <c:idx val="4"/>
            <c:bubble3D val="0"/>
            <c:spPr>
              <a:solidFill>
                <a:srgbClr val="B7413A"/>
              </a:solidFill>
              <a:effectLst/>
            </c:spPr>
          </c:dPt>
          <c:dPt>
            <c:idx val="5"/>
            <c:bubble3D val="0"/>
            <c:spPr>
              <a:solidFill>
                <a:srgbClr val="C7CDE0"/>
              </a:solidFill>
              <a:effectLst/>
            </c:spPr>
          </c:dPt>
          <c:dPt>
            <c:idx val="6"/>
            <c:bubble3D val="0"/>
            <c:spPr>
              <a:solidFill>
                <a:srgbClr val="E7E9F0"/>
              </a:solidFill>
              <a:effectLst/>
            </c:spPr>
          </c:dPt>
          <c:dLbls>
            <c:dLbl>
              <c:idx val="0"/>
              <c:numFmt formatCode="0%" sourceLinked="0"/>
              <c:spPr/>
              <c:txPr>
                <a:bodyPr/>
                <a:lstStyle/>
                <a:p>
                  <a:pPr>
                    <a:defRPr sz="900" b="1" i="0" u="none" strike="noStrike">
                      <a:solidFill>
                        <a:srgbClr val="FFFFFF"/>
                      </a:solidFill>
                      <a:latin typeface="Meiryo"/>
                    </a:defRPr>
                  </a:pPr>
                </a:p>
              </c:txPr>
              <c:showLegendKey val="0"/>
              <c:showVal val="0"/>
              <c:showCatName val="0"/>
              <c:showSerName val="0"/>
              <c:showPercent val="1"/>
              <c:showBubbleSize val="0"/>
            </c:dLbl>
            <c:dLbl>
              <c:idx val="1"/>
              <c:numFmt formatCode="0%" sourceLinked="0"/>
              <c:spPr/>
              <c:txPr>
                <a:bodyPr/>
                <a:lstStyle/>
                <a:p>
                  <a:pPr>
                    <a:defRPr sz="900" b="1" i="0" u="none" strike="noStrike">
                      <a:solidFill>
                        <a:srgbClr val="FFFFFF"/>
                      </a:solidFill>
                      <a:latin typeface="Meiryo"/>
                    </a:defRPr>
                  </a:pPr>
                </a:p>
              </c:txPr>
              <c:showLegendKey val="0"/>
              <c:showVal val="0"/>
              <c:showCatName val="0"/>
              <c:showSerName val="0"/>
              <c:showPercent val="1"/>
              <c:showBubbleSize val="0"/>
            </c:dLbl>
            <c:dLbl>
              <c:idx val="2"/>
              <c:numFmt formatCode="0%" sourceLinked="0"/>
              <c:spPr/>
              <c:txPr>
                <a:bodyPr/>
                <a:lstStyle/>
                <a:p>
                  <a:pPr>
                    <a:defRPr sz="900" b="1" i="0" u="none" strike="noStrike">
                      <a:solidFill>
                        <a:srgbClr val="FFFFFF"/>
                      </a:solidFill>
                      <a:latin typeface="Meiryo"/>
                    </a:defRPr>
                  </a:pPr>
                </a:p>
              </c:txPr>
              <c:showLegendKey val="0"/>
              <c:showVal val="0"/>
              <c:showCatName val="0"/>
              <c:showSerName val="0"/>
              <c:showPercent val="1"/>
              <c:showBubbleSize val="0"/>
            </c:dLbl>
            <c:dLbl>
              <c:idx val="3"/>
              <c:numFmt formatCode="0%" sourceLinked="0"/>
              <c:spPr/>
              <c:txPr>
                <a:bodyPr/>
                <a:lstStyle/>
                <a:p>
                  <a:pPr>
                    <a:defRPr sz="900" b="1" i="0" u="none" strike="noStrike">
                      <a:solidFill>
                        <a:srgbClr val="FFFFFF"/>
                      </a:solidFill>
                      <a:latin typeface="Meiryo"/>
                    </a:defRPr>
                  </a:pPr>
                </a:p>
              </c:txPr>
              <c:showLegendKey val="0"/>
              <c:showVal val="0"/>
              <c:showCatName val="0"/>
              <c:showSerName val="0"/>
              <c:showPercent val="1"/>
              <c:showBubbleSize val="0"/>
            </c:dLbl>
            <c:dLbl>
              <c:idx val="4"/>
              <c:numFmt formatCode="0%" sourceLinked="0"/>
              <c:spPr/>
              <c:txPr>
                <a:bodyPr/>
                <a:lstStyle/>
                <a:p>
                  <a:pPr>
                    <a:defRPr sz="900" b="1" i="0" u="none" strike="noStrike">
                      <a:solidFill>
                        <a:srgbClr val="FFFFFF"/>
                      </a:solidFill>
                      <a:latin typeface="Meiryo"/>
                    </a:defRPr>
                  </a:pPr>
                </a:p>
              </c:txPr>
              <c:showLegendKey val="0"/>
              <c:showVal val="0"/>
              <c:showCatName val="0"/>
              <c:showSerName val="0"/>
              <c:showPercent val="1"/>
              <c:showBubbleSize val="0"/>
            </c:dLbl>
            <c:dLbl>
              <c:idx val="5"/>
              <c:numFmt formatCode="0%" sourceLinked="0"/>
              <c:spPr/>
              <c:txPr>
                <a:bodyPr/>
                <a:lstStyle/>
                <a:p>
                  <a:pPr>
                    <a:defRPr sz="900" b="1" i="0" u="none" strike="noStrike">
                      <a:solidFill>
                        <a:srgbClr val="FFFFFF"/>
                      </a:solidFill>
                      <a:latin typeface="Meiryo"/>
                    </a:defRPr>
                  </a:pPr>
                </a:p>
              </c:txPr>
              <c:showLegendKey val="0"/>
              <c:showVal val="0"/>
              <c:showCatName val="0"/>
              <c:showSerName val="0"/>
              <c:showPercent val="1"/>
              <c:showBubbleSize val="0"/>
            </c:dLbl>
            <c:dLbl>
              <c:idx val="6"/>
              <c:numFmt formatCode="0%" sourceLinked="0"/>
              <c:spPr/>
              <c:txPr>
                <a:bodyPr/>
                <a:lstStyle/>
                <a:p>
                  <a:pPr>
                    <a:defRPr sz="900" b="1" i="0" u="none" strike="noStrike">
                      <a:solidFill>
                        <a:srgbClr val="FFFFFF"/>
                      </a:solidFill>
                      <a:latin typeface="Meiryo"/>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Sheet1!$A$2:$A$8</c:f>
              <c:strCache>
                <c:ptCount val="7"/>
                <c:pt idx="0">
                  <c:v>BtoB</c:v>
                </c:pt>
                <c:pt idx="1">
                  <c:v>生活トラブル</c:v>
                </c:pt>
                <c:pt idx="2">
                  <c:v>買取</c:v>
                </c:pt>
                <c:pt idx="3">
                  <c:v>金融</c:v>
                </c:pt>
                <c:pt idx="4">
                  <c:v>小売・通販</c:v>
                </c:pt>
                <c:pt idx="5">
                  <c:v>美容・医療</c:v>
                </c:pt>
                <c:pt idx="6">
                  <c:v>その他</c:v>
                </c:pt>
              </c:strCache>
            </c:strRef>
          </c:cat>
          <c:val>
            <c:numRef>
              <c:f>Sheet1!$B$2:$B$8</c:f>
              <c:numCache>
                <c:ptCount val="7"/>
                <c:pt idx="0">
                  <c:v>14</c:v>
                </c:pt>
                <c:pt idx="1">
                  <c:v>9</c:v>
                </c:pt>
                <c:pt idx="2">
                  <c:v>9</c:v>
                </c:pt>
                <c:pt idx="3">
                  <c:v>7</c:v>
                </c:pt>
                <c:pt idx="4">
                  <c:v>7</c:v>
                </c:pt>
                <c:pt idx="5">
                  <c:v>10</c:v>
                </c:pt>
                <c:pt idx="6">
                  <c:v>44</c:v>
                </c:pt>
              </c:numCache>
            </c:numRef>
          </c:val>
        </c:ser>
        <c:firstSliceAng val="0"/>
      </c:pieChart>
      <c:spPr>
        <a:noFill/>
        <a:ln>
          <a:noFill/>
        </a:ln>
        <a:effectLst/>
      </c:spPr>
    </c:plotArea>
    <c:legend>
      <c:legendPos val="b"/>
      <c:overlay val="0"/>
      <c:txPr>
        <a:bodyPr/>
        <a:lstStyle/>
        <a:p>
          <a:pPr>
            <a:defRPr sz="800">
              <a:latin typeface="Meiryo"/>
              <a:cs typeface="Meiryo"/>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築40年以上</c:v>
                </c:pt>
              </c:strCache>
            </c:strRef>
          </c:tx>
          <c:spPr>
            <a:solidFill>
              <a:srgbClr val="1A2A5E"/>
            </a:solidFill>
            <a:effectLst/>
          </c:spPr>
          <c:invertIfNegative val="0"/>
          <c:dLbls>
            <c:numFmt formatCode="#,##0" sourceLinked="0"/>
            <c:txPr>
              <a:bodyPr/>
              <a:lstStyle/>
              <a:p>
                <a:pPr>
                  <a:defRPr b="1" i="0" strike="noStrike" sz="1200" u="none">
                    <a:solidFill>
                      <a:srgbClr val="222222"/>
                    </a:solidFill>
                    <a:latin typeface="Meiryo"/>
                  </a:defRPr>
                </a:pPr>
              </a:p>
            </c:txPr>
            <c:showLegendKey val="0"/>
            <c:showVal val="1"/>
            <c:showCatName val="0"/>
            <c:showSerName val="0"/>
            <c:showPercent val="0"/>
            <c:showBubbleSize val="0"/>
            <c:showLeaderLines val="0"/>
          </c:dLbls>
          <c:dPt>
            <c:idx val="0"/>
            <c:invertIfNegative val="0"/>
            <c:bubble3D val="0"/>
            <c:spPr>
              <a:solidFill>
                <a:srgbClr val="1A2A5E"/>
              </a:solidFill>
              <a:effectLst/>
            </c:spPr>
          </c:dPt>
          <c:dPt>
            <c:idx val="1"/>
            <c:invertIfNegative val="0"/>
            <c:bubble3D val="0"/>
            <c:spPr>
              <a:solidFill>
                <a:srgbClr val="3D4E86"/>
              </a:solidFill>
              <a:effectLst/>
            </c:spPr>
          </c:dPt>
          <c:dPt>
            <c:idx val="2"/>
            <c:invertIfNegative val="0"/>
            <c:bubble3D val="0"/>
            <c:spPr>
              <a:solidFill>
                <a:srgbClr val="F39800"/>
              </a:solidFill>
              <a:effectLst/>
            </c:spPr>
          </c:dPt>
          <c:cat>
            <c:multiLvlStrRef>
              <c:f>Sheet1!$A$2:$A$4</c:f>
              <c:multiLvlStrCache>
                <c:ptCount val="3"/>
                <c:lvl>
                  <c:pt idx="0">
                    <c:v>2023年末</c:v>
                  </c:pt>
                  <c:pt idx="1">
                    <c:v>2033年末(予測)</c:v>
                  </c:pt>
                  <c:pt idx="2">
                    <c:v>2043年末(予測)</c:v>
                  </c:pt>
                </c:lvl>
              </c:multiLvlStrCache>
            </c:multiLvlStrRef>
          </c:cat>
          <c:val>
            <c:numRef>
              <c:f>Sheet1!$B$2:$B$4</c:f>
              <c:numCache>
                <c:formatCode>General</c:formatCode>
                <c:ptCount val="3"/>
                <c:pt idx="0">
                  <c:v>137</c:v>
                </c:pt>
                <c:pt idx="1">
                  <c:v>274</c:v>
                </c:pt>
                <c:pt idx="2">
                  <c:v>464</c:v>
                </c:pt>
              </c:numCache>
            </c:numRef>
          </c:val>
        </c:ser>
        <c:dLbls>
          <c:numFmt formatCode="#,##0" sourceLinked="0"/>
          <c:txPr>
            <a:bodyPr/>
            <a:lstStyle/>
            <a:p>
              <a:pPr>
                <a:defRPr b="1" i="0" strike="noStrike" sz="1200" u="none">
                  <a:solidFill>
                    <a:srgbClr val="222222"/>
                  </a:solidFill>
                  <a:latin typeface="Meiryo"/>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22222"/>
                </a:solidFill>
                <a:latin typeface="Meiryo"/>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積立金</c:v>
                </c:pt>
              </c:strCache>
            </c:strRef>
          </c:tx>
          <c:spPr>
            <a:solidFill>
              <a:schemeClr val="accent1"/>
            </a:solidFill>
            <a:ln w="9525" cap="flat">
              <a:solidFill>
                <a:srgbClr val="F9F9F9"/>
              </a:solidFill>
              <a:prstDash val="solid"/>
              <a:round/>
            </a:ln>
            <a:effectLst/>
          </c:spPr>
          <c:dPt>
            <c:idx val="0"/>
            <c:bubble3D val="0"/>
            <c:spPr>
              <a:solidFill>
                <a:srgbClr val="F39800"/>
              </a:solidFill>
              <a:effectLst/>
            </c:spPr>
          </c:dPt>
          <c:dPt>
            <c:idx val="1"/>
            <c:bubble3D val="0"/>
            <c:spPr>
              <a:solidFill>
                <a:srgbClr val="8A93B8"/>
              </a:solidFill>
              <a:effectLst/>
            </c:spPr>
          </c:dPt>
          <c:dLbls>
            <c:dLbl>
              <c:idx val="0"/>
              <c:numFmt formatCode="0%" sourceLinked="0"/>
              <c:spPr/>
              <c:txPr>
                <a:bodyPr/>
                <a:lstStyle/>
                <a:p>
                  <a:pPr>
                    <a:defRPr sz="1100" b="1" i="0" u="none" strike="noStrike">
                      <a:solidFill>
                        <a:srgbClr val="FFFFFF"/>
                      </a:solidFill>
                      <a:latin typeface="Meiryo"/>
                    </a:defRPr>
                  </a:pPr>
                </a:p>
              </c:txPr>
              <c:showLegendKey val="0"/>
              <c:showVal val="0"/>
              <c:showCatName val="0"/>
              <c:showSerName val="0"/>
              <c:showPercent val="1"/>
              <c:showBubbleSize val="0"/>
            </c:dLbl>
            <c:dLbl>
              <c:idx val="1"/>
              <c:numFmt formatCode="0%" sourceLinked="0"/>
              <c:spPr/>
              <c:txPr>
                <a:bodyPr/>
                <a:lstStyle/>
                <a:p>
                  <a:pPr>
                    <a:defRPr sz="1100" b="1" i="0" u="none" strike="noStrike">
                      <a:solidFill>
                        <a:srgbClr val="FFFFFF"/>
                      </a:solidFill>
                      <a:latin typeface="Meiryo"/>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計画に対し不足</c:v>
                </c:pt>
                <c:pt idx="1">
                  <c:v>計画どおり／以上</c:v>
                </c:pt>
              </c:strCache>
            </c:strRef>
          </c:cat>
          <c:val>
            <c:numRef>
              <c:f>Sheet1!$B$2:$B$3</c:f>
              <c:numCache>
                <c:ptCount val="2"/>
                <c:pt idx="0">
                  <c:v>36.6</c:v>
                </c:pt>
                <c:pt idx="1">
                  <c:v>63.4</c:v>
                </c:pt>
              </c:numCache>
            </c:numRef>
          </c:val>
        </c:ser>
        <c:firstSliceAng val="0"/>
        <c:holeSize val="58"/>
      </c:doughnutChart>
      <c:spPr>
        <a:noFill/>
        <a:ln>
          <a:noFill/>
        </a:ln>
        <a:effectLst/>
      </c:spPr>
    </c:plotArea>
    <c:legend>
      <c:legendPos val="b"/>
      <c:overlay val="0"/>
      <c:txPr>
        <a:bodyPr/>
        <a:lstStyle/>
        <a:p>
          <a:pPr>
            <a:defRPr sz="900">
              <a:latin typeface="Meiryo"/>
              <a:cs typeface="Meiryo"/>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実績</c:v>
                </c:pt>
              </c:strCache>
            </c:strRef>
          </c:tx>
          <c:spPr>
            <a:solidFill>
              <a:srgbClr val="F39800"/>
            </a:solidFill>
            <a:effectLst/>
          </c:spPr>
          <c:invertIfNegative val="0"/>
          <c:dLbls>
            <c:numFmt formatCode="#,##0" sourceLinked="0"/>
            <c:txPr>
              <a:bodyPr/>
              <a:lstStyle/>
              <a:p>
                <a:pPr>
                  <a:defRPr b="1" i="0" strike="noStrike" sz="1100" u="none">
                    <a:solidFill>
                      <a:srgbClr val="222222"/>
                    </a:solidFill>
                    <a:latin typeface="Meiryo"/>
                  </a:defRPr>
                </a:pPr>
              </a:p>
            </c:txPr>
            <c:showLegendKey val="0"/>
            <c:showVal val="1"/>
            <c:showCatName val="0"/>
            <c:showSerName val="0"/>
            <c:showPercent val="0"/>
            <c:showBubbleSize val="0"/>
            <c:showLeaderLines val="0"/>
          </c:dLbls>
          <c:cat>
            <c:multiLvlStrRef>
              <c:f>Sheet1!$A$2:$A$8</c:f>
              <c:multiLvlStrCache>
                <c:ptCount val="7"/>
                <c:lvl>
                  <c:pt idx="0">
                    <c:v>関西</c:v>
                  </c:pt>
                  <c:pt idx="1">
                    <c:v>九州</c:v>
                  </c:pt>
                  <c:pt idx="2">
                    <c:v>中部</c:v>
                  </c:pt>
                  <c:pt idx="3">
                    <c:v>関東</c:v>
                  </c:pt>
                  <c:pt idx="4">
                    <c:v>中国</c:v>
                  </c:pt>
                  <c:pt idx="5">
                    <c:v>四国</c:v>
                  </c:pt>
                  <c:pt idx="6">
                    <c:v>北海道・東北</c:v>
                  </c:pt>
                </c:lvl>
              </c:multiLvlStrCache>
            </c:multiLvlStrRef>
          </c:cat>
          <c:val>
            <c:numRef>
              <c:f>Sheet1!$B$2:$B$8</c:f>
              <c:numCache>
                <c:formatCode>General</c:formatCode>
                <c:ptCount val="7"/>
                <c:pt idx="0">
                  <c:v>459</c:v>
                </c:pt>
                <c:pt idx="1">
                  <c:v>156</c:v>
                </c:pt>
                <c:pt idx="2">
                  <c:v>81</c:v>
                </c:pt>
                <c:pt idx="3">
                  <c:v>72</c:v>
                </c:pt>
                <c:pt idx="4">
                  <c:v>39</c:v>
                </c:pt>
                <c:pt idx="5">
                  <c:v>27</c:v>
                </c:pt>
                <c:pt idx="6">
                  <c:v>1</c:v>
                </c:pt>
              </c:numCache>
            </c:numRef>
          </c:val>
        </c:ser>
        <c:dLbls>
          <c:numFmt formatCode="#,##0" sourceLinked="0"/>
          <c:txPr>
            <a:bodyPr/>
            <a:lstStyle/>
            <a:p>
              <a:pPr>
                <a:defRPr b="1" i="0" strike="noStrike" sz="1100" u="none">
                  <a:solidFill>
                    <a:srgbClr val="222222"/>
                  </a:solidFill>
                  <a:latin typeface="Meiryo"/>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22222"/>
                </a:solidFill>
                <a:latin typeface="Meiryo"/>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772400" cy="548640"/>
          </a:xfrm>
          <a:prstGeom prst="rect">
            <a:avLst/>
          </a:prstGeom>
          <a:noFill/>
          <a:ln/>
        </p:spPr>
        <p:txBody>
          <a:bodyPr wrap="square" lIns="0" tIns="0" rIns="0" bIns="0" rtlCol="0" anchor="ctr"/>
          <a:lstStyle/>
          <a:p>
            <a:pPr indent="0" marL="0">
              <a:buNone/>
            </a:pPr>
            <a:r>
              <a:rPr lang="en-US" sz="2600" b="1" dirty="0">
                <a:solidFill>
                  <a:srgbClr val="222222"/>
                </a:solidFill>
                <a:latin typeface="Meiryo" pitchFamily="34" charset="0"/>
                <a:ea typeface="Meiryo" pitchFamily="34" charset="-122"/>
                <a:cs typeface="Meiryo" pitchFamily="34" charset="-120"/>
              </a:rPr>
              <a:t>株式会社A-1設計 御中</a:t>
            </a:r>
            <a:endParaRPr lang="en-US" sz="2600" dirty="0"/>
          </a:p>
        </p:txBody>
      </p:sp>
      <p:sp>
        <p:nvSpPr>
          <p:cNvPr id="3" name="Text 1"/>
          <p:cNvSpPr/>
          <p:nvPr/>
        </p:nvSpPr>
        <p:spPr>
          <a:xfrm>
            <a:off x="9784080" y="457200"/>
            <a:ext cx="1947672" cy="548640"/>
          </a:xfrm>
          <a:prstGeom prst="rect">
            <a:avLst/>
          </a:prstGeom>
          <a:noFill/>
          <a:ln/>
        </p:spPr>
        <p:txBody>
          <a:bodyPr wrap="square" lIns="0" tIns="0" rIns="0" bIns="0" rtlCol="0" anchor="ctr"/>
          <a:lstStyle/>
          <a:p>
            <a:pPr algn="r" indent="0" marL="0">
              <a:buNone/>
            </a:pPr>
            <a:r>
              <a:rPr lang="en-US" sz="2600" b="1" spc="500" kern="0" dirty="0">
                <a:solidFill>
                  <a:srgbClr val="1A2A5E"/>
                </a:solidFill>
                <a:latin typeface="Meiryo" pitchFamily="34" charset="0"/>
                <a:ea typeface="Meiryo" pitchFamily="34" charset="-122"/>
                <a:cs typeface="Meiryo" pitchFamily="34" charset="-120"/>
              </a:rPr>
              <a:t>DYM</a:t>
            </a:r>
            <a:endParaRPr lang="en-US" sz="2600" dirty="0"/>
          </a:p>
        </p:txBody>
      </p:sp>
      <p:sp>
        <p:nvSpPr>
          <p:cNvPr id="4" name="Text 2"/>
          <p:cNvSpPr/>
          <p:nvPr/>
        </p:nvSpPr>
        <p:spPr>
          <a:xfrm>
            <a:off x="1371600" y="2468880"/>
            <a:ext cx="9445752" cy="868680"/>
          </a:xfrm>
          <a:prstGeom prst="rect">
            <a:avLst/>
          </a:prstGeom>
          <a:noFill/>
          <a:ln/>
        </p:spPr>
        <p:txBody>
          <a:bodyPr wrap="square" lIns="0" tIns="0" rIns="0" bIns="0" rtlCol="0" anchor="ctr"/>
          <a:lstStyle/>
          <a:p>
            <a:pPr algn="ctr" indent="0" marL="0">
              <a:buNone/>
            </a:pPr>
            <a:r>
              <a:rPr lang="en-US" sz="4000" b="1" dirty="0">
                <a:solidFill>
                  <a:srgbClr val="222222"/>
                </a:solidFill>
                <a:latin typeface="Meiryo" pitchFamily="34" charset="0"/>
                <a:ea typeface="Meiryo" pitchFamily="34" charset="-122"/>
                <a:cs typeface="Meiryo" pitchFamily="34" charset="-120"/>
              </a:rPr>
              <a:t>WEBプロモーションのご提案</a:t>
            </a:r>
            <a:endParaRPr lang="en-US" sz="4000" dirty="0"/>
          </a:p>
        </p:txBody>
      </p:sp>
      <p:sp>
        <p:nvSpPr>
          <p:cNvPr id="5" name="Shape 3"/>
          <p:cNvSpPr/>
          <p:nvPr/>
        </p:nvSpPr>
        <p:spPr>
          <a:xfrm>
            <a:off x="1984248" y="3456432"/>
            <a:ext cx="8229600" cy="0"/>
          </a:xfrm>
          <a:prstGeom prst="line">
            <a:avLst/>
          </a:prstGeom>
          <a:noFill/>
          <a:ln w="28575">
            <a:solidFill>
              <a:srgbClr val="1A2A5E"/>
            </a:solidFill>
            <a:prstDash val="solid"/>
          </a:ln>
        </p:spPr>
      </p:sp>
      <p:sp>
        <p:nvSpPr>
          <p:cNvPr id="6" name="Text 4"/>
          <p:cNvSpPr/>
          <p:nvPr/>
        </p:nvSpPr>
        <p:spPr>
          <a:xfrm>
            <a:off x="1371600" y="3611880"/>
            <a:ext cx="9445752" cy="457200"/>
          </a:xfrm>
          <a:prstGeom prst="rect">
            <a:avLst/>
          </a:prstGeom>
          <a:noFill/>
          <a:ln/>
        </p:spPr>
        <p:txBody>
          <a:bodyPr wrap="square" lIns="0" tIns="0" rIns="0" bIns="0" rtlCol="0" anchor="ctr"/>
          <a:lstStyle/>
          <a:p>
            <a:pPr algn="ctr" indent="0" marL="0">
              <a:buNone/>
            </a:pPr>
            <a:r>
              <a:rPr lang="en-US" sz="1500" dirty="0">
                <a:solidFill>
                  <a:srgbClr val="555B66"/>
                </a:solidFill>
                <a:latin typeface="Meiryo" pitchFamily="34" charset="0"/>
                <a:ea typeface="Meiryo" pitchFamily="34" charset="-122"/>
                <a:cs typeface="Meiryo" pitchFamily="34" charset="-120"/>
              </a:rPr>
              <a:t>リスティング広告再開による マンション大規模修繕 設計監理業務の受注最大化</a:t>
            </a:r>
            <a:endParaRPr lang="en-US" sz="1500" dirty="0"/>
          </a:p>
        </p:txBody>
      </p:sp>
      <p:sp>
        <p:nvSpPr>
          <p:cNvPr id="7" name="Text 5"/>
          <p:cNvSpPr/>
          <p:nvPr/>
        </p:nvSpPr>
        <p:spPr>
          <a:xfrm>
            <a:off x="2286000" y="4800600"/>
            <a:ext cx="3474720" cy="640080"/>
          </a:xfrm>
          <a:prstGeom prst="rect">
            <a:avLst/>
          </a:prstGeom>
          <a:noFill/>
          <a:ln/>
        </p:spPr>
        <p:txBody>
          <a:bodyPr wrap="square" lIns="0" tIns="0" rIns="0" bIns="0" rtlCol="0" anchor="ctr"/>
          <a:lstStyle/>
          <a:p>
            <a:pPr algn="r" indent="0" marL="0">
              <a:buNone/>
            </a:pPr>
            <a:r>
              <a:rPr lang="en-US" sz="2100" b="1" dirty="0">
                <a:solidFill>
                  <a:srgbClr val="2E9E5B"/>
                </a:solidFill>
                <a:latin typeface="Meiryo" pitchFamily="34" charset="0"/>
                <a:ea typeface="Meiryo" pitchFamily="34" charset="-122"/>
                <a:cs typeface="Meiryo" pitchFamily="34" charset="-120"/>
              </a:rPr>
              <a:t>株式会社A-1設計</a:t>
            </a:r>
            <a:endParaRPr lang="en-US" sz="2100" dirty="0"/>
          </a:p>
        </p:txBody>
      </p:sp>
      <p:sp>
        <p:nvSpPr>
          <p:cNvPr id="8" name="Text 6"/>
          <p:cNvSpPr/>
          <p:nvPr/>
        </p:nvSpPr>
        <p:spPr>
          <a:xfrm>
            <a:off x="5897880" y="4800600"/>
            <a:ext cx="548640" cy="640080"/>
          </a:xfrm>
          <a:prstGeom prst="rect">
            <a:avLst/>
          </a:prstGeom>
          <a:noFill/>
          <a:ln/>
        </p:spPr>
        <p:txBody>
          <a:bodyPr wrap="square" lIns="0" tIns="0" rIns="0" bIns="0" rtlCol="0" anchor="ctr"/>
          <a:lstStyle/>
          <a:p>
            <a:pPr algn="ctr" indent="0" marL="0">
              <a:buNone/>
            </a:pPr>
            <a:r>
              <a:rPr lang="en-US" sz="2000" dirty="0">
                <a:solidFill>
                  <a:srgbClr val="9AA0AA"/>
                </a:solidFill>
                <a:latin typeface="Meiryo" pitchFamily="34" charset="0"/>
                <a:ea typeface="Meiryo" pitchFamily="34" charset="-122"/>
                <a:cs typeface="Meiryo" pitchFamily="34" charset="-120"/>
              </a:rPr>
              <a:t>×</a:t>
            </a:r>
            <a:endParaRPr lang="en-US" sz="2000" dirty="0"/>
          </a:p>
        </p:txBody>
      </p:sp>
      <p:sp>
        <p:nvSpPr>
          <p:cNvPr id="9" name="Text 7"/>
          <p:cNvSpPr/>
          <p:nvPr/>
        </p:nvSpPr>
        <p:spPr>
          <a:xfrm>
            <a:off x="6583680" y="4800600"/>
            <a:ext cx="3474720" cy="640080"/>
          </a:xfrm>
          <a:prstGeom prst="rect">
            <a:avLst/>
          </a:prstGeom>
          <a:noFill/>
          <a:ln/>
        </p:spPr>
        <p:txBody>
          <a:bodyPr wrap="square" lIns="0" tIns="0" rIns="0" bIns="0" rtlCol="0" anchor="ctr"/>
          <a:lstStyle/>
          <a:p>
            <a:pPr algn="l" indent="0" marL="0">
              <a:buNone/>
            </a:pPr>
            <a:r>
              <a:rPr lang="en-US" sz="3000" b="1" spc="600" kern="0" dirty="0">
                <a:solidFill>
                  <a:srgbClr val="1A2A5E"/>
                </a:solidFill>
                <a:latin typeface="Meiryo" pitchFamily="34" charset="0"/>
                <a:ea typeface="Meiryo" pitchFamily="34" charset="-122"/>
                <a:cs typeface="Meiryo" pitchFamily="34" charset="-120"/>
              </a:rPr>
              <a:t>DYM</a:t>
            </a:r>
            <a:endParaRPr lang="en-US" sz="3000" dirty="0"/>
          </a:p>
        </p:txBody>
      </p:sp>
      <p:sp>
        <p:nvSpPr>
          <p:cNvPr id="10" name="Shape 8"/>
          <p:cNvSpPr/>
          <p:nvPr/>
        </p:nvSpPr>
        <p:spPr>
          <a:xfrm>
            <a:off x="0" y="6510528"/>
            <a:ext cx="12188952" cy="347472"/>
          </a:xfrm>
          <a:prstGeom prst="rect">
            <a:avLst/>
          </a:prstGeom>
          <a:solidFill>
            <a:srgbClr val="1A2A5E"/>
          </a:solidFill>
          <a:ln/>
        </p:spPr>
      </p:sp>
      <p:sp>
        <p:nvSpPr>
          <p:cNvPr id="11" name="Text 9"/>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778240" cy="6858000"/>
          </a:xfrm>
          <a:prstGeom prst="rect">
            <a:avLst/>
          </a:prstGeom>
          <a:solidFill>
            <a:srgbClr val="1A2A5E"/>
          </a:solidFill>
          <a:ln/>
        </p:spPr>
      </p:sp>
      <p:sp>
        <p:nvSpPr>
          <p:cNvPr id="3" name="Shape 1"/>
          <p:cNvSpPr/>
          <p:nvPr/>
        </p:nvSpPr>
        <p:spPr>
          <a:xfrm flipH="1" flipV="1">
            <a:off x="4754880" y="-18288"/>
            <a:ext cx="4069080" cy="6894576"/>
          </a:xfrm>
          <a:prstGeom prst="rtTriangle">
            <a:avLst/>
          </a:prstGeom>
          <a:solidFill>
            <a:srgbClr val="FFFFFF"/>
          </a:solidFill>
          <a:ln/>
        </p:spPr>
      </p:sp>
      <p:sp>
        <p:nvSpPr>
          <p:cNvPr id="4" name="Text 2"/>
          <p:cNvSpPr/>
          <p:nvPr/>
        </p:nvSpPr>
        <p:spPr>
          <a:xfrm>
            <a:off x="9784080" y="457200"/>
            <a:ext cx="1947672" cy="548640"/>
          </a:xfrm>
          <a:prstGeom prst="rect">
            <a:avLst/>
          </a:prstGeom>
          <a:noFill/>
          <a:ln/>
        </p:spPr>
        <p:txBody>
          <a:bodyPr wrap="square" lIns="0" tIns="0" rIns="0" bIns="0" rtlCol="0" anchor="ctr"/>
          <a:lstStyle/>
          <a:p>
            <a:pPr algn="r" indent="0" marL="0">
              <a:buNone/>
            </a:pPr>
            <a:r>
              <a:rPr lang="en-US" sz="2600" b="1" spc="5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Text 3"/>
          <p:cNvSpPr/>
          <p:nvPr/>
        </p:nvSpPr>
        <p:spPr>
          <a:xfrm>
            <a:off x="7863840" y="2788920"/>
            <a:ext cx="3840480" cy="914400"/>
          </a:xfrm>
          <a:prstGeom prst="rect">
            <a:avLst/>
          </a:prstGeom>
          <a:noFill/>
          <a:ln/>
        </p:spPr>
        <p:txBody>
          <a:bodyPr wrap="square" lIns="0" tIns="0" rIns="0" bIns="0" rtlCol="0" anchor="ctr"/>
          <a:lstStyle/>
          <a:p>
            <a:pPr algn="ctr" indent="0" marL="0">
              <a:buNone/>
            </a:pPr>
            <a:r>
              <a:rPr lang="en-US" sz="4000" b="1" spc="300" kern="0" dirty="0">
                <a:solidFill>
                  <a:srgbClr val="1A2A5E"/>
                </a:solidFill>
                <a:latin typeface="Meiryo" pitchFamily="34" charset="0"/>
                <a:ea typeface="Meiryo" pitchFamily="34" charset="-122"/>
                <a:cs typeface="Meiryo" pitchFamily="34" charset="-120"/>
              </a:rPr>
              <a:t>INDEX</a:t>
            </a:r>
            <a:endParaRPr lang="en-US" sz="4000" dirty="0"/>
          </a:p>
        </p:txBody>
      </p:sp>
      <p:sp>
        <p:nvSpPr>
          <p:cNvPr id="6" name="Text 4"/>
          <p:cNvSpPr/>
          <p:nvPr/>
        </p:nvSpPr>
        <p:spPr>
          <a:xfrm>
            <a:off x="640080" y="914400"/>
            <a:ext cx="4389120" cy="36576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Part 1</a:t>
            </a:r>
            <a:endParaRPr lang="en-US" sz="1900" dirty="0"/>
          </a:p>
        </p:txBody>
      </p:sp>
      <p:sp>
        <p:nvSpPr>
          <p:cNvPr id="7" name="Text 5"/>
          <p:cNvSpPr/>
          <p:nvPr/>
        </p:nvSpPr>
        <p:spPr>
          <a:xfrm>
            <a:off x="960120" y="1298448"/>
            <a:ext cx="5029200" cy="411480"/>
          </a:xfrm>
          <a:prstGeom prst="rect">
            <a:avLst/>
          </a:prstGeom>
          <a:noFill/>
          <a:ln/>
        </p:spPr>
        <p:txBody>
          <a:bodyPr wrap="square" lIns="0" tIns="0" rIns="0" bIns="0" rtlCol="0" anchor="ctr"/>
          <a:lstStyle/>
          <a:p>
            <a:pPr indent="0" marL="0">
              <a:buNone/>
            </a:pPr>
            <a:r>
              <a:rPr lang="en-US" sz="1700" b="1" dirty="0">
                <a:solidFill>
                  <a:srgbClr val="E5E9F2"/>
                </a:solidFill>
                <a:latin typeface="Meiryo" pitchFamily="34" charset="0"/>
                <a:ea typeface="Meiryo" pitchFamily="34" charset="-122"/>
                <a:cs typeface="Meiryo" pitchFamily="34" charset="-120"/>
              </a:rPr>
              <a:t>会社概要</a:t>
            </a:r>
            <a:endParaRPr lang="en-US" sz="1700" dirty="0"/>
          </a:p>
        </p:txBody>
      </p:sp>
      <p:sp>
        <p:nvSpPr>
          <p:cNvPr id="8" name="Text 6"/>
          <p:cNvSpPr/>
          <p:nvPr/>
        </p:nvSpPr>
        <p:spPr>
          <a:xfrm>
            <a:off x="640080" y="1965960"/>
            <a:ext cx="4389120" cy="36576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Part 2</a:t>
            </a:r>
            <a:endParaRPr lang="en-US" sz="1900" dirty="0"/>
          </a:p>
        </p:txBody>
      </p:sp>
      <p:sp>
        <p:nvSpPr>
          <p:cNvPr id="9" name="Text 7"/>
          <p:cNvSpPr/>
          <p:nvPr/>
        </p:nvSpPr>
        <p:spPr>
          <a:xfrm>
            <a:off x="960120" y="2350008"/>
            <a:ext cx="5029200" cy="411480"/>
          </a:xfrm>
          <a:prstGeom prst="rect">
            <a:avLst/>
          </a:prstGeom>
          <a:noFill/>
          <a:ln/>
        </p:spPr>
        <p:txBody>
          <a:bodyPr wrap="square" lIns="0" tIns="0" rIns="0" bIns="0" rtlCol="0" anchor="ctr"/>
          <a:lstStyle/>
          <a:p>
            <a:pPr indent="0" marL="0">
              <a:buNone/>
            </a:pPr>
            <a:r>
              <a:rPr lang="en-US" sz="1700" b="1" dirty="0">
                <a:solidFill>
                  <a:srgbClr val="E5E9F2"/>
                </a:solidFill>
                <a:latin typeface="Meiryo" pitchFamily="34" charset="0"/>
                <a:ea typeface="Meiryo" pitchFamily="34" charset="-122"/>
                <a:cs typeface="Meiryo" pitchFamily="34" charset="-120"/>
              </a:rPr>
              <a:t>与件整理</a:t>
            </a:r>
            <a:endParaRPr lang="en-US" sz="1700" dirty="0"/>
          </a:p>
        </p:txBody>
      </p:sp>
      <p:sp>
        <p:nvSpPr>
          <p:cNvPr id="10" name="Text 8"/>
          <p:cNvSpPr/>
          <p:nvPr/>
        </p:nvSpPr>
        <p:spPr>
          <a:xfrm>
            <a:off x="640080" y="3017520"/>
            <a:ext cx="4389120" cy="36576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Part 3</a:t>
            </a:r>
            <a:endParaRPr lang="en-US" sz="1900" dirty="0"/>
          </a:p>
        </p:txBody>
      </p:sp>
      <p:sp>
        <p:nvSpPr>
          <p:cNvPr id="11" name="Text 9"/>
          <p:cNvSpPr/>
          <p:nvPr/>
        </p:nvSpPr>
        <p:spPr>
          <a:xfrm>
            <a:off x="960120" y="3401568"/>
            <a:ext cx="5029200" cy="411480"/>
          </a:xfrm>
          <a:prstGeom prst="rect">
            <a:avLst/>
          </a:prstGeom>
          <a:noFill/>
          <a:ln/>
        </p:spPr>
        <p:txBody>
          <a:bodyPr wrap="square" lIns="0" tIns="0" rIns="0" bIns="0" rtlCol="0" anchor="ctr"/>
          <a:lstStyle/>
          <a:p>
            <a:pPr indent="0" marL="0">
              <a:buNone/>
            </a:pPr>
            <a:r>
              <a:rPr lang="en-US" sz="1700" b="1" dirty="0">
                <a:solidFill>
                  <a:srgbClr val="E5E9F2"/>
                </a:solidFill>
                <a:latin typeface="Meiryo" pitchFamily="34" charset="0"/>
                <a:ea typeface="Meiryo" pitchFamily="34" charset="-122"/>
                <a:cs typeface="Meiryo" pitchFamily="34" charset="-120"/>
              </a:rPr>
              <a:t>市場調査・競合調査</a:t>
            </a:r>
            <a:endParaRPr lang="en-US" sz="1700" dirty="0"/>
          </a:p>
        </p:txBody>
      </p:sp>
      <p:sp>
        <p:nvSpPr>
          <p:cNvPr id="12" name="Text 10"/>
          <p:cNvSpPr/>
          <p:nvPr/>
        </p:nvSpPr>
        <p:spPr>
          <a:xfrm>
            <a:off x="640080" y="4069080"/>
            <a:ext cx="4389120" cy="36576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Part 4</a:t>
            </a:r>
            <a:endParaRPr lang="en-US" sz="1900" dirty="0"/>
          </a:p>
        </p:txBody>
      </p:sp>
      <p:sp>
        <p:nvSpPr>
          <p:cNvPr id="13" name="Text 11"/>
          <p:cNvSpPr/>
          <p:nvPr/>
        </p:nvSpPr>
        <p:spPr>
          <a:xfrm>
            <a:off x="960120" y="4453128"/>
            <a:ext cx="5029200" cy="411480"/>
          </a:xfrm>
          <a:prstGeom prst="rect">
            <a:avLst/>
          </a:prstGeom>
          <a:noFill/>
          <a:ln/>
        </p:spPr>
        <p:txBody>
          <a:bodyPr wrap="square" lIns="0" tIns="0" rIns="0" bIns="0" rtlCol="0" anchor="ctr"/>
          <a:lstStyle/>
          <a:p>
            <a:pPr indent="0" marL="0">
              <a:buNone/>
            </a:pPr>
            <a:r>
              <a:rPr lang="en-US" sz="1700" b="1" dirty="0">
                <a:solidFill>
                  <a:srgbClr val="E5E9F2"/>
                </a:solidFill>
                <a:latin typeface="Meiryo" pitchFamily="34" charset="0"/>
                <a:ea typeface="Meiryo" pitchFamily="34" charset="-122"/>
                <a:cs typeface="Meiryo" pitchFamily="34" charset="-120"/>
              </a:rPr>
              <a:t>ターゲット理解・現状分析</a:t>
            </a:r>
            <a:endParaRPr lang="en-US" sz="1700" dirty="0"/>
          </a:p>
        </p:txBody>
      </p:sp>
      <p:sp>
        <p:nvSpPr>
          <p:cNvPr id="14" name="Text 12"/>
          <p:cNvSpPr/>
          <p:nvPr/>
        </p:nvSpPr>
        <p:spPr>
          <a:xfrm>
            <a:off x="640080" y="5120640"/>
            <a:ext cx="4389120" cy="36576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Part 5</a:t>
            </a:r>
            <a:endParaRPr lang="en-US" sz="1900" dirty="0"/>
          </a:p>
        </p:txBody>
      </p:sp>
      <p:sp>
        <p:nvSpPr>
          <p:cNvPr id="15" name="Text 13"/>
          <p:cNvSpPr/>
          <p:nvPr/>
        </p:nvSpPr>
        <p:spPr>
          <a:xfrm>
            <a:off x="960120" y="5504688"/>
            <a:ext cx="5029200" cy="411480"/>
          </a:xfrm>
          <a:prstGeom prst="rect">
            <a:avLst/>
          </a:prstGeom>
          <a:noFill/>
          <a:ln/>
        </p:spPr>
        <p:txBody>
          <a:bodyPr wrap="square" lIns="0" tIns="0" rIns="0" bIns="0" rtlCol="0" anchor="ctr"/>
          <a:lstStyle/>
          <a:p>
            <a:pPr indent="0" marL="0">
              <a:buNone/>
            </a:pPr>
            <a:r>
              <a:rPr lang="en-US" sz="1700" b="1" dirty="0">
                <a:solidFill>
                  <a:srgbClr val="E5E9F2"/>
                </a:solidFill>
                <a:latin typeface="Meiryo" pitchFamily="34" charset="0"/>
                <a:ea typeface="Meiryo" pitchFamily="34" charset="-122"/>
                <a:cs typeface="Meiryo" pitchFamily="34" charset="-120"/>
              </a:rPr>
              <a:t>WEBプロモーションのご提案</a:t>
            </a:r>
            <a:endParaRPr lang="en-US" sz="1700" dirty="0"/>
          </a:p>
        </p:txBody>
      </p:sp>
      <p:sp>
        <p:nvSpPr>
          <p:cNvPr id="16" name="Shape 14"/>
          <p:cNvSpPr/>
          <p:nvPr/>
        </p:nvSpPr>
        <p:spPr>
          <a:xfrm>
            <a:off x="0" y="6510528"/>
            <a:ext cx="12188952" cy="347472"/>
          </a:xfrm>
          <a:prstGeom prst="rect">
            <a:avLst/>
          </a:prstGeom>
          <a:solidFill>
            <a:srgbClr val="1A2A5E"/>
          </a:solidFill>
          <a:ln/>
        </p:spPr>
      </p:sp>
      <p:sp>
        <p:nvSpPr>
          <p:cNvPr id="17" name="Text 15"/>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8" name="Text 16"/>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会社概要</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国内主要拠点と海外5拠点を展開する、売上462.4億円規模のWEB広告代理店</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3</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6035040" cy="914400"/>
        </p:xfrm>
        <a:graphic>
          <a:graphicData uri="http://schemas.openxmlformats.org/drawingml/2006/table">
            <a:tbl>
              <a:tblPr/>
              <a:tblGrid>
                <a:gridCol w="1554480"/>
                <a:gridCol w="4480560"/>
              </a:tblGrid>
              <a:tr h="457200">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名称</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株式会社DYM （英語表記 DYM co.,ltd）</a:t>
                      </a:r>
                      <a:endParaRPr lang="en-US" sz="1100" dirty="0">
                        <a:latin typeface="Meiryo" charset="0"/>
                        <a:ea typeface="Meiryo" charset="0"/>
                        <a:cs typeface="Meiryo" charset="0"/>
                      </a:endParaRPr>
                    </a:p>
                  </a:txBody>
                  <a:tcPr marL="76200" marR="76200" marT="25400" marB="2540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代表取締役</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水谷 佑毅</a:t>
                      </a:r>
                      <a:endParaRPr lang="en-US" sz="1100" dirty="0">
                        <a:latin typeface="Meiryo" charset="0"/>
                        <a:ea typeface="Meiryo" charset="0"/>
                        <a:cs typeface="Meiryo" charset="0"/>
                      </a:endParaRPr>
                    </a:p>
                  </a:txBody>
                  <a:tcPr marL="76200" marR="76200" marT="25400" marB="2540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従業員数</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連結 2,744名 ／ 単体 682名（2025年4月1日現在）</a:t>
                      </a:r>
                      <a:endParaRPr lang="en-US" sz="1100" dirty="0">
                        <a:latin typeface="Meiryo" charset="0"/>
                        <a:ea typeface="Meiryo" charset="0"/>
                        <a:cs typeface="Meiryo" charset="0"/>
                      </a:endParaRPr>
                    </a:p>
                  </a:txBody>
                  <a:tcPr marL="76200" marR="76200" marT="25400" marB="2540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会社設立</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2003年8月22日</a:t>
                      </a:r>
                      <a:endParaRPr lang="en-US" sz="1100" dirty="0">
                        <a:latin typeface="Meiryo" charset="0"/>
                        <a:ea typeface="Meiryo" charset="0"/>
                        <a:cs typeface="Meiryo" charset="0"/>
                      </a:endParaRPr>
                    </a:p>
                  </a:txBody>
                  <a:tcPr marL="76200" marR="76200" marT="25400" marB="2540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資本金</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5,000万円</a:t>
                      </a:r>
                      <a:endParaRPr lang="en-US" sz="1100" dirty="0">
                        <a:latin typeface="Meiryo" charset="0"/>
                        <a:ea typeface="Meiryo" charset="0"/>
                        <a:cs typeface="Meiryo" charset="0"/>
                      </a:endParaRPr>
                    </a:p>
                  </a:txBody>
                  <a:tcPr marL="76200" marR="76200" marT="25400" marB="2540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事業内容</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WEB／人材／研修／エグゼパート／投資育成／医療／M&amp;A ほか</a:t>
                      </a:r>
                      <a:endParaRPr lang="en-US" sz="1100" dirty="0">
                        <a:latin typeface="Meiryo" charset="0"/>
                        <a:ea typeface="Meiryo" charset="0"/>
                        <a:cs typeface="Meiryo" charset="0"/>
                      </a:endParaRPr>
                    </a:p>
                  </a:txBody>
                  <a:tcPr marL="76200" marR="76200" marT="25400" marB="2540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拠点</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本社（東京・大崎）／札幌・仙台・名古屋・大阪・広島・福岡／海外5拠点</a:t>
                      </a:r>
                      <a:endParaRPr lang="en-US" sz="1100" dirty="0">
                        <a:latin typeface="Meiryo" charset="0"/>
                        <a:ea typeface="Meiryo" charset="0"/>
                        <a:cs typeface="Meiryo" charset="0"/>
                      </a:endParaRPr>
                    </a:p>
                  </a:txBody>
                  <a:tcPr marL="76200" marR="76200" marT="25400" marB="2540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FFFFF"/>
                    </a:solidFill>
                  </a:tcPr>
                </a:tc>
              </a:tr>
            </a:tbl>
          </a:graphicData>
        </a:graphic>
      </p:graphicFrame>
      <p:sp>
        <p:nvSpPr>
          <p:cNvPr id="12" name="Shape 9"/>
          <p:cNvSpPr/>
          <p:nvPr/>
        </p:nvSpPr>
        <p:spPr>
          <a:xfrm>
            <a:off x="6720840" y="1874520"/>
            <a:ext cx="5010912"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3" name="Text 10"/>
          <p:cNvSpPr/>
          <p:nvPr/>
        </p:nvSpPr>
        <p:spPr>
          <a:xfrm>
            <a:off x="6903720" y="2011680"/>
            <a:ext cx="4663440" cy="320040"/>
          </a:xfrm>
          <a:prstGeom prst="rect">
            <a:avLst/>
          </a:prstGeom>
          <a:noFill/>
          <a:ln/>
        </p:spPr>
        <p:txBody>
          <a:bodyPr wrap="square" lIns="0" tIns="0" rIns="0" bIns="0" rtlCol="0" anchor="ctr"/>
          <a:lstStyle/>
          <a:p>
            <a:pPr indent="0" marL="0">
              <a:buNone/>
            </a:pPr>
            <a:r>
              <a:rPr lang="en-US" sz="1200" b="1" dirty="0">
                <a:solidFill>
                  <a:srgbClr val="1A2A5E"/>
                </a:solidFill>
                <a:latin typeface="Meiryo" pitchFamily="34" charset="0"/>
                <a:ea typeface="Meiryo" pitchFamily="34" charset="-122"/>
                <a:cs typeface="Meiryo" pitchFamily="34" charset="-120"/>
              </a:rPr>
              <a:t>売上高推移（億円）</a:t>
            </a:r>
            <a:endParaRPr lang="en-US" sz="1200" dirty="0"/>
          </a:p>
        </p:txBody>
      </p:sp>
      <p:graphicFrame>
        <p:nvGraphicFramePr>
          <p:cNvPr id="14" name="Chart 0" descr=""/>
          <p:cNvGraphicFramePr/>
          <p:nvPr/>
        </p:nvGraphicFramePr>
        <p:xfrm>
          <a:off x="6812280" y="2331720"/>
          <a:ext cx="4846320" cy="3246120"/>
        </p:xfrm>
        <a:graphic xmlns:a="http://schemas.openxmlformats.org/drawingml/2006/main">
          <a:graphicData uri="http://schemas.openxmlformats.org/drawingml/2006/chart">
            <c:chart xmlns:c="http://schemas.openxmlformats.org/drawingml/2006/chart" r:id="rId1"/>
          </a:graphicData>
        </a:graphic>
      </p:graphicFrame>
      <p:sp>
        <p:nvSpPr>
          <p:cNvPr id="15" name="Text 11"/>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参照元：DYM会社紹介資料（会社概要 / 売上高推移）</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弊社の強み</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LINEヤフー・Googleの国内最上位パートナーとして高品質な運用を担保する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74552" cy="914400"/>
        </p:xfrm>
        <a:graphic>
          <a:graphicData uri="http://schemas.openxmlformats.org/drawingml/2006/table">
            <a:tbl>
              <a:tblPr/>
              <a:tblGrid>
                <a:gridCol w="2011680"/>
                <a:gridCol w="9262872"/>
              </a:tblGrid>
              <a:tr h="566928">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媒体</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パートナーランク（認定ステータス）</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r>
              <a:tr h="566928">
                <a:tc>
                  <a:txBody>
                    <a:bodyPr/>
                    <a:lstStyle/>
                    <a:p>
                      <a:pPr algn="ctr" indent="0" marL="0">
                        <a:buNone/>
                      </a:pPr>
                      <a:r>
                        <a:rPr lang="en-US" sz="1200" b="1" dirty="0">
                          <a:solidFill>
                            <a:srgbClr val="222222"/>
                          </a:solidFill>
                          <a:latin typeface="Meiryo" pitchFamily="34" charset="0"/>
                          <a:ea typeface="Meiryo" pitchFamily="34" charset="-122"/>
                          <a:cs typeface="Meiryo" pitchFamily="34" charset="-120"/>
                        </a:rPr>
                        <a:t>Google</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正規代理店　最上位「PREMIER」（上位3%のみ付与）</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566928">
                <a:tc>
                  <a:txBody>
                    <a:bodyPr/>
                    <a:lstStyle/>
                    <a:p>
                      <a:pPr algn="ctr" indent="0" marL="0">
                        <a:buNone/>
                      </a:pPr>
                      <a:r>
                        <a:rPr lang="en-US" sz="1200" b="1" dirty="0">
                          <a:solidFill>
                            <a:srgbClr val="222222"/>
                          </a:solidFill>
                          <a:latin typeface="Meiryo" pitchFamily="34" charset="0"/>
                          <a:ea typeface="Meiryo" pitchFamily="34" charset="-122"/>
                          <a:cs typeface="Meiryo" pitchFamily="34" charset="-120"/>
                        </a:rPr>
                        <a:t>LINEヤフー</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最上位「Sales Partner Premier」に認定　</a:t>
                      </a:r>
                      <a:pPr indent="0" marL="0">
                        <a:buNone/>
                      </a:pPr>
                      <a:r>
                        <a:rPr lang="en-US" sz="1200" b="1" dirty="0">
                          <a:solidFill>
                            <a:srgbClr val="F39800"/>
                          </a:solidFill>
                          <a:latin typeface="Meiryo" pitchFamily="34" charset="0"/>
                          <a:ea typeface="Meiryo" pitchFamily="34" charset="-122"/>
                          <a:cs typeface="Meiryo" pitchFamily="34" charset="-120"/>
                        </a:rPr>
                        <a:t>国内正規代理店1,122社中 わずか14社のみ</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566928">
                <a:tc>
                  <a:txBody>
                    <a:bodyPr/>
                    <a:lstStyle/>
                    <a:p>
                      <a:pPr algn="ctr" indent="0" marL="0">
                        <a:buNone/>
                      </a:pPr>
                      <a:r>
                        <a:rPr lang="en-US" sz="1200" b="1" dirty="0">
                          <a:solidFill>
                            <a:srgbClr val="222222"/>
                          </a:solidFill>
                          <a:latin typeface="Meiryo" pitchFamily="34" charset="0"/>
                          <a:ea typeface="Meiryo" pitchFamily="34" charset="-122"/>
                          <a:cs typeface="Meiryo" pitchFamily="34" charset="-120"/>
                        </a:rPr>
                        <a:t>Meta</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Meta Business Partners 認定パートナー</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566928">
                <a:tc>
                  <a:txBody>
                    <a:bodyPr/>
                    <a:lstStyle/>
                    <a:p>
                      <a:pPr algn="ctr" indent="0" marL="0">
                        <a:buNone/>
                      </a:pPr>
                      <a:r>
                        <a:rPr lang="en-US" sz="1200" b="1" dirty="0">
                          <a:solidFill>
                            <a:srgbClr val="222222"/>
                          </a:solidFill>
                          <a:latin typeface="Meiryo" pitchFamily="34" charset="0"/>
                          <a:ea typeface="Meiryo" pitchFamily="34" charset="-122"/>
                          <a:cs typeface="Meiryo" pitchFamily="34" charset="-120"/>
                        </a:rPr>
                        <a:t>Criteo / Indeed</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Criteo Certified Partners ／ Indeed 正規代理店（プラチナ）</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bl>
          </a:graphicData>
        </a:graphic>
      </p:graphicFrame>
      <p:sp>
        <p:nvSpPr>
          <p:cNvPr id="12" name="Shape 9"/>
          <p:cNvSpPr/>
          <p:nvPr/>
        </p:nvSpPr>
        <p:spPr>
          <a:xfrm>
            <a:off x="457200" y="5074920"/>
            <a:ext cx="11274552" cy="960120"/>
          </a:xfrm>
          <a:prstGeom prst="roundRect">
            <a:avLst>
              <a:gd name="adj" fmla="val 5714"/>
            </a:avLst>
          </a:prstGeom>
          <a:solidFill>
            <a:srgbClr val="1A2A5E"/>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3" name="Text 10"/>
          <p:cNvSpPr/>
          <p:nvPr/>
        </p:nvSpPr>
        <p:spPr>
          <a:xfrm>
            <a:off x="685800" y="5074920"/>
            <a:ext cx="10835640" cy="960120"/>
          </a:xfrm>
          <a:prstGeom prst="rect">
            <a:avLst/>
          </a:prstGeom>
          <a:noFill/>
          <a:ln/>
        </p:spPr>
        <p:txBody>
          <a:bodyPr wrap="square" lIns="0" tIns="0" rIns="0" bIns="0" rtlCol="0" anchor="ctr"/>
          <a:lstStyle/>
          <a:p>
            <a:pPr indent="0" marL="0">
              <a:lnSpc>
                <a:spcPct val="112000"/>
              </a:lnSpc>
              <a:buNone/>
            </a:pPr>
            <a:r>
              <a:rPr lang="en-US" sz="1300" b="1" dirty="0">
                <a:solidFill>
                  <a:srgbClr val="FFFFFF"/>
                </a:solidFill>
                <a:latin typeface="Meiryo" pitchFamily="34" charset="0"/>
                <a:ea typeface="Meiryo" pitchFamily="34" charset="-122"/>
                <a:cs typeface="Meiryo" pitchFamily="34" charset="-120"/>
              </a:rPr>
              <a:t>両媒体（LINEヤフー・Google）の国内最上位に同時認定されているのは </a:t>
            </a:r>
            <a:pPr indent="0" marL="0">
              <a:lnSpc>
                <a:spcPct val="112000"/>
              </a:lnSpc>
              <a:buNone/>
            </a:pPr>
            <a:r>
              <a:rPr lang="en-US" sz="1300" b="1" dirty="0">
                <a:solidFill>
                  <a:srgbClr val="F39800"/>
                </a:solidFill>
                <a:latin typeface="Meiryo" pitchFamily="34" charset="0"/>
                <a:ea typeface="Meiryo" pitchFamily="34" charset="-122"/>
                <a:cs typeface="Meiryo" pitchFamily="34" charset="-120"/>
              </a:rPr>
              <a:t>国内で7社</a:t>
            </a:r>
            <a:pPr indent="0" marL="0">
              <a:lnSpc>
                <a:spcPct val="112000"/>
              </a:lnSpc>
              <a:buNone/>
            </a:pPr>
            <a:r>
              <a:rPr lang="en-US" sz="1300" b="1" dirty="0">
                <a:solidFill>
                  <a:srgbClr val="FFFFFF"/>
                </a:solidFill>
                <a:latin typeface="Meiryo" pitchFamily="34" charset="0"/>
                <a:ea typeface="Meiryo" pitchFamily="34" charset="-122"/>
                <a:cs typeface="Meiryo" pitchFamily="34" charset="-120"/>
              </a:rPr>
              <a:t>、WEB専業に絞ると </a:t>
            </a:r>
            <a:pPr indent="0" marL="0">
              <a:lnSpc>
                <a:spcPct val="112000"/>
              </a:lnSpc>
              <a:buNone/>
            </a:pPr>
            <a:r>
              <a:rPr lang="en-US" sz="1300" b="1" dirty="0">
                <a:solidFill>
                  <a:srgbClr val="F39800"/>
                </a:solidFill>
                <a:latin typeface="Meiryo" pitchFamily="34" charset="0"/>
                <a:ea typeface="Meiryo" pitchFamily="34" charset="-122"/>
                <a:cs typeface="Meiryo" pitchFamily="34" charset="-120"/>
              </a:rPr>
              <a:t>わずか4社</a:t>
            </a:r>
            <a:pPr indent="0" marL="0">
              <a:lnSpc>
                <a:spcPct val="112000"/>
              </a:lnSpc>
              <a:buNone/>
            </a:pPr>
            <a:r>
              <a:rPr lang="en-US" sz="1300" b="1" dirty="0">
                <a:solidFill>
                  <a:srgbClr val="FFFFFF"/>
                </a:solidFill>
                <a:latin typeface="Meiryo" pitchFamily="34" charset="0"/>
                <a:ea typeface="Meiryo" pitchFamily="34" charset="-122"/>
                <a:cs typeface="Meiryo" pitchFamily="34" charset="-120"/>
              </a:rPr>
              <a:t> のみ。</a:t>
            </a:r>
            <a:endParaRPr lang="en-US" sz="1300" dirty="0"/>
          </a:p>
          <a:p>
            <a:pPr indent="0" marL="0">
              <a:lnSpc>
                <a:spcPct val="112000"/>
              </a:lnSpc>
              <a:buNone/>
            </a:pPr>
            <a:r>
              <a:rPr lang="en-US" sz="1200" b="1" dirty="0">
                <a:solidFill>
                  <a:srgbClr val="D7DCEC"/>
                </a:solidFill>
                <a:latin typeface="Meiryo" pitchFamily="34" charset="0"/>
                <a:ea typeface="Meiryo" pitchFamily="34" charset="-122"/>
                <a:cs typeface="Meiryo" pitchFamily="34" charset="-120"/>
              </a:rPr>
              <a:t>媒体社から競合出稿状況や最新アルゴリズム情報を優先取得できる立場にあります。</a:t>
            </a:r>
            <a:endParaRPr lang="en-US" sz="1300" dirty="0"/>
          </a:p>
        </p:txBody>
      </p:sp>
      <p:sp>
        <p:nvSpPr>
          <p:cNvPr id="14" name="Text 11"/>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参照元：各媒体社公式認定証、社内コーポレートデータ</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弊社の強み</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広告全体の売上の約7割をリスティング領域が占める「獲得特化型」の代理店である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5</a:t>
            </a:r>
            <a:endParaRPr lang="en-US" sz="900" dirty="0"/>
          </a:p>
        </p:txBody>
      </p:sp>
      <p:sp>
        <p:nvSpPr>
          <p:cNvPr id="11" name="Shape 9"/>
          <p:cNvSpPr/>
          <p:nvPr/>
        </p:nvSpPr>
        <p:spPr>
          <a:xfrm>
            <a:off x="457200" y="1874520"/>
            <a:ext cx="5212080"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640080" y="2011680"/>
            <a:ext cx="4846320" cy="320040"/>
          </a:xfrm>
          <a:prstGeom prst="rect">
            <a:avLst/>
          </a:prstGeom>
          <a:noFill/>
          <a:ln/>
        </p:spPr>
        <p:txBody>
          <a:bodyPr wrap="square" lIns="0" tIns="0" rIns="0" bIns="0" rtlCol="0" anchor="ctr"/>
          <a:lstStyle/>
          <a:p>
            <a:pPr indent="0" marL="0">
              <a:buNone/>
            </a:pPr>
            <a:r>
              <a:rPr lang="en-US" sz="1200" b="1" dirty="0">
                <a:solidFill>
                  <a:srgbClr val="1A2A5E"/>
                </a:solidFill>
                <a:latin typeface="Meiryo" pitchFamily="34" charset="0"/>
                <a:ea typeface="Meiryo" pitchFamily="34" charset="-122"/>
                <a:cs typeface="Meiryo" pitchFamily="34" charset="-120"/>
              </a:rPr>
              <a:t>セグメント別の取扱高比率</a:t>
            </a:r>
            <a:endParaRPr lang="en-US" sz="1200" dirty="0"/>
          </a:p>
        </p:txBody>
      </p:sp>
      <p:graphicFrame>
        <p:nvGraphicFramePr>
          <p:cNvPr id="13" name="Chart 0" descr=""/>
          <p:cNvGraphicFramePr/>
          <p:nvPr/>
        </p:nvGraphicFramePr>
        <p:xfrm>
          <a:off x="548640" y="2286000"/>
          <a:ext cx="5029200" cy="3657600"/>
        </p:xfrm>
        <a:graphic xmlns:a="http://schemas.openxmlformats.org/drawingml/2006/main">
          <a:graphicData uri="http://schemas.openxmlformats.org/drawingml/2006/chart">
            <c:chart xmlns:c="http://schemas.openxmlformats.org/drawingml/2006/chart" r:id="rId1"/>
          </a:graphicData>
        </a:graphic>
      </p:graphicFrame>
      <p:sp>
        <p:nvSpPr>
          <p:cNvPr id="14" name="Shape 11"/>
          <p:cNvSpPr/>
          <p:nvPr/>
        </p:nvSpPr>
        <p:spPr>
          <a:xfrm>
            <a:off x="5897880" y="1874520"/>
            <a:ext cx="5833872" cy="1280160"/>
          </a:xfrm>
          <a:prstGeom prst="roundRect">
            <a:avLst>
              <a:gd name="adj" fmla="val 4286"/>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5" name="Text 12"/>
          <p:cNvSpPr/>
          <p:nvPr/>
        </p:nvSpPr>
        <p:spPr>
          <a:xfrm>
            <a:off x="6126480" y="2011680"/>
            <a:ext cx="5394960" cy="640080"/>
          </a:xfrm>
          <a:prstGeom prst="rect">
            <a:avLst/>
          </a:prstGeom>
          <a:noFill/>
          <a:ln/>
        </p:spPr>
        <p:txBody>
          <a:bodyPr wrap="square" lIns="0" tIns="0" rIns="0" bIns="0" rtlCol="0" anchor="ctr"/>
          <a:lstStyle/>
          <a:p>
            <a:pPr indent="0" marL="0">
              <a:buNone/>
            </a:pPr>
            <a:r>
              <a:rPr lang="en-US" sz="3000" b="1" dirty="0">
                <a:solidFill>
                  <a:srgbClr val="F39800"/>
                </a:solidFill>
                <a:latin typeface="Meiryo" pitchFamily="34" charset="0"/>
                <a:ea typeface="Meiryo" pitchFamily="34" charset="-122"/>
                <a:cs typeface="Meiryo" pitchFamily="34" charset="-120"/>
              </a:rPr>
              <a:t>10,641社</a:t>
            </a:r>
            <a:endParaRPr lang="en-US" sz="3000" dirty="0"/>
          </a:p>
        </p:txBody>
      </p:sp>
      <p:sp>
        <p:nvSpPr>
          <p:cNvPr id="16" name="Text 13"/>
          <p:cNvSpPr/>
          <p:nvPr/>
        </p:nvSpPr>
        <p:spPr>
          <a:xfrm>
            <a:off x="6126480" y="2697480"/>
            <a:ext cx="5394960" cy="365760"/>
          </a:xfrm>
          <a:prstGeom prst="rect">
            <a:avLst/>
          </a:prstGeom>
          <a:noFill/>
          <a:ln/>
        </p:spPr>
        <p:txBody>
          <a:bodyPr wrap="square" lIns="0" tIns="0" rIns="0" bIns="0" rtlCol="0" anchor="ctr"/>
          <a:lstStyle/>
          <a:p>
            <a:pPr indent="0" marL="0">
              <a:buNone/>
            </a:pPr>
            <a:r>
              <a:rPr lang="en-US" sz="1200" dirty="0">
                <a:solidFill>
                  <a:srgbClr val="222222"/>
                </a:solidFill>
                <a:latin typeface="Meiryo" pitchFamily="34" charset="0"/>
                <a:ea typeface="Meiryo" pitchFamily="34" charset="-122"/>
                <a:cs typeface="Meiryo" pitchFamily="34" charset="-120"/>
              </a:rPr>
              <a:t>との取引実績（2025年6月時点）</a:t>
            </a:r>
            <a:endParaRPr lang="en-US" sz="1200" dirty="0"/>
          </a:p>
        </p:txBody>
      </p:sp>
      <p:sp>
        <p:nvSpPr>
          <p:cNvPr id="17" name="Shape 14"/>
          <p:cNvSpPr/>
          <p:nvPr/>
        </p:nvSpPr>
        <p:spPr>
          <a:xfrm>
            <a:off x="5897880" y="3314700"/>
            <a:ext cx="5833872" cy="1280160"/>
          </a:xfrm>
          <a:prstGeom prst="roundRect">
            <a:avLst>
              <a:gd name="adj" fmla="val 4286"/>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8" name="Text 15"/>
          <p:cNvSpPr/>
          <p:nvPr/>
        </p:nvSpPr>
        <p:spPr>
          <a:xfrm>
            <a:off x="6126480" y="3451860"/>
            <a:ext cx="5394960" cy="640080"/>
          </a:xfrm>
          <a:prstGeom prst="rect">
            <a:avLst/>
          </a:prstGeom>
          <a:noFill/>
          <a:ln/>
        </p:spPr>
        <p:txBody>
          <a:bodyPr wrap="square" lIns="0" tIns="0" rIns="0" bIns="0" rtlCol="0" anchor="ctr"/>
          <a:lstStyle/>
          <a:p>
            <a:pPr indent="0" marL="0">
              <a:buNone/>
            </a:pPr>
            <a:r>
              <a:rPr lang="en-US" sz="3000" b="1" dirty="0">
                <a:solidFill>
                  <a:srgbClr val="F39800"/>
                </a:solidFill>
                <a:latin typeface="Meiryo" pitchFamily="34" charset="0"/>
                <a:ea typeface="Meiryo" pitchFamily="34" charset="-122"/>
                <a:cs typeface="Meiryo" pitchFamily="34" charset="-120"/>
              </a:rPr>
              <a:t>7社のうちの1社</a:t>
            </a:r>
            <a:endParaRPr lang="en-US" sz="3000" dirty="0"/>
          </a:p>
        </p:txBody>
      </p:sp>
      <p:sp>
        <p:nvSpPr>
          <p:cNvPr id="19" name="Text 16"/>
          <p:cNvSpPr/>
          <p:nvPr/>
        </p:nvSpPr>
        <p:spPr>
          <a:xfrm>
            <a:off x="6126480" y="4137660"/>
            <a:ext cx="5394960" cy="365760"/>
          </a:xfrm>
          <a:prstGeom prst="rect">
            <a:avLst/>
          </a:prstGeom>
          <a:noFill/>
          <a:ln/>
        </p:spPr>
        <p:txBody>
          <a:bodyPr wrap="square" lIns="0" tIns="0" rIns="0" bIns="0" rtlCol="0" anchor="ctr"/>
          <a:lstStyle/>
          <a:p>
            <a:pPr indent="0" marL="0">
              <a:buNone/>
            </a:pPr>
            <a:r>
              <a:rPr lang="en-US" sz="1200" dirty="0">
                <a:solidFill>
                  <a:srgbClr val="222222"/>
                </a:solidFill>
                <a:latin typeface="Meiryo" pitchFamily="34" charset="0"/>
                <a:ea typeface="Meiryo" pitchFamily="34" charset="-122"/>
                <a:cs typeface="Meiryo" pitchFamily="34" charset="-120"/>
              </a:rPr>
              <a:t>LINEヤフー・Google 両媒体の国内最上位認定</a:t>
            </a:r>
            <a:endParaRPr lang="en-US" sz="1200" dirty="0"/>
          </a:p>
        </p:txBody>
      </p:sp>
      <p:sp>
        <p:nvSpPr>
          <p:cNvPr id="20" name="Shape 17"/>
          <p:cNvSpPr/>
          <p:nvPr/>
        </p:nvSpPr>
        <p:spPr>
          <a:xfrm>
            <a:off x="5897880" y="4754880"/>
            <a:ext cx="5833872" cy="1280160"/>
          </a:xfrm>
          <a:prstGeom prst="roundRect">
            <a:avLst>
              <a:gd name="adj" fmla="val 4286"/>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21" name="Text 18"/>
          <p:cNvSpPr/>
          <p:nvPr/>
        </p:nvSpPr>
        <p:spPr>
          <a:xfrm>
            <a:off x="6126480" y="4892040"/>
            <a:ext cx="5394960" cy="640080"/>
          </a:xfrm>
          <a:prstGeom prst="rect">
            <a:avLst/>
          </a:prstGeom>
          <a:noFill/>
          <a:ln/>
        </p:spPr>
        <p:txBody>
          <a:bodyPr wrap="square" lIns="0" tIns="0" rIns="0" bIns="0" rtlCol="0" anchor="ctr"/>
          <a:lstStyle/>
          <a:p>
            <a:pPr indent="0" marL="0">
              <a:buNone/>
            </a:pPr>
            <a:r>
              <a:rPr lang="en-US" sz="3000" b="1" dirty="0">
                <a:solidFill>
                  <a:srgbClr val="F39800"/>
                </a:solidFill>
                <a:latin typeface="Meiryo" pitchFamily="34" charset="0"/>
                <a:ea typeface="Meiryo" pitchFamily="34" charset="-122"/>
                <a:cs typeface="Meiryo" pitchFamily="34" charset="-120"/>
              </a:rPr>
              <a:t>14年</a:t>
            </a:r>
            <a:endParaRPr lang="en-US" sz="3000" dirty="0"/>
          </a:p>
        </p:txBody>
      </p:sp>
      <p:sp>
        <p:nvSpPr>
          <p:cNvPr id="22" name="Text 19"/>
          <p:cNvSpPr/>
          <p:nvPr/>
        </p:nvSpPr>
        <p:spPr>
          <a:xfrm>
            <a:off x="6126480" y="5577840"/>
            <a:ext cx="5394960" cy="365760"/>
          </a:xfrm>
          <a:prstGeom prst="rect">
            <a:avLst/>
          </a:prstGeom>
          <a:noFill/>
          <a:ln/>
        </p:spPr>
        <p:txBody>
          <a:bodyPr wrap="square" lIns="0" tIns="0" rIns="0" bIns="0" rtlCol="0" anchor="ctr"/>
          <a:lstStyle/>
          <a:p>
            <a:pPr indent="0" marL="0">
              <a:buNone/>
            </a:pPr>
            <a:r>
              <a:rPr lang="en-US" sz="1200" dirty="0">
                <a:solidFill>
                  <a:srgbClr val="222222"/>
                </a:solidFill>
                <a:latin typeface="Meiryo" pitchFamily="34" charset="0"/>
                <a:ea typeface="Meiryo" pitchFamily="34" charset="-122"/>
                <a:cs typeface="Meiryo" pitchFamily="34" charset="-120"/>
              </a:rPr>
              <a:t>事業立ち上げからの運用実績（2011年〜）</a:t>
            </a:r>
            <a:endParaRPr lang="en-US" sz="1200" dirty="0"/>
          </a:p>
        </p:txBody>
      </p:sp>
      <p:sp>
        <p:nvSpPr>
          <p:cNvPr id="23" name="Text 20"/>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参照元：社内配信実績、アカウント管理マスターデータ</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弊社の強み</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月額100〜500万円の中規模・ニッチ市場の改善に、最も豊富な実績を持つ</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6</a:t>
            </a:r>
            <a:endParaRPr lang="en-US" sz="900" dirty="0"/>
          </a:p>
        </p:txBody>
      </p:sp>
      <p:sp>
        <p:nvSpPr>
          <p:cNvPr id="11" name="Shape 9"/>
          <p:cNvSpPr/>
          <p:nvPr/>
        </p:nvSpPr>
        <p:spPr>
          <a:xfrm>
            <a:off x="457200" y="1874520"/>
            <a:ext cx="5577840"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640080" y="2011680"/>
            <a:ext cx="5212080" cy="320040"/>
          </a:xfrm>
          <a:prstGeom prst="rect">
            <a:avLst/>
          </a:prstGeom>
          <a:noFill/>
          <a:ln/>
        </p:spPr>
        <p:txBody>
          <a:bodyPr wrap="square" lIns="0" tIns="0" rIns="0" bIns="0" rtlCol="0" anchor="ctr"/>
          <a:lstStyle/>
          <a:p>
            <a:pPr indent="0" marL="0">
              <a:buNone/>
            </a:pPr>
            <a:r>
              <a:rPr lang="en-US" sz="1200" b="1" dirty="0">
                <a:solidFill>
                  <a:srgbClr val="1A2A5E"/>
                </a:solidFill>
                <a:latin typeface="Meiryo" pitchFamily="34" charset="0"/>
                <a:ea typeface="Meiryo" pitchFamily="34" charset="-122"/>
                <a:cs typeface="Meiryo" pitchFamily="34" charset="-120"/>
              </a:rPr>
              <a:t>取扱高レンジ別の割合</a:t>
            </a:r>
            <a:endParaRPr lang="en-US" sz="1200" dirty="0"/>
          </a:p>
        </p:txBody>
      </p:sp>
      <p:graphicFrame>
        <p:nvGraphicFramePr>
          <p:cNvPr id="13" name="Chart 0" descr=""/>
          <p:cNvGraphicFramePr/>
          <p:nvPr/>
        </p:nvGraphicFramePr>
        <p:xfrm>
          <a:off x="548640" y="2286000"/>
          <a:ext cx="5394960" cy="3657600"/>
        </p:xfrm>
        <a:graphic xmlns:a="http://schemas.openxmlformats.org/drawingml/2006/main">
          <a:graphicData uri="http://schemas.openxmlformats.org/drawingml/2006/chart">
            <c:chart xmlns:c="http://schemas.openxmlformats.org/drawingml/2006/chart" r:id="rId1"/>
          </a:graphicData>
        </a:graphic>
      </p:graphicFrame>
      <p:sp>
        <p:nvSpPr>
          <p:cNvPr id="14" name="Shape 11"/>
          <p:cNvSpPr/>
          <p:nvPr/>
        </p:nvSpPr>
        <p:spPr>
          <a:xfrm>
            <a:off x="6172200" y="1874520"/>
            <a:ext cx="5559552"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5" name="Text 12"/>
          <p:cNvSpPr/>
          <p:nvPr/>
        </p:nvSpPr>
        <p:spPr>
          <a:xfrm>
            <a:off x="6355080" y="2011680"/>
            <a:ext cx="5212080" cy="320040"/>
          </a:xfrm>
          <a:prstGeom prst="rect">
            <a:avLst/>
          </a:prstGeom>
          <a:noFill/>
          <a:ln/>
        </p:spPr>
        <p:txBody>
          <a:bodyPr wrap="square" lIns="0" tIns="0" rIns="0" bIns="0" rtlCol="0" anchor="ctr"/>
          <a:lstStyle/>
          <a:p>
            <a:pPr indent="0" marL="0">
              <a:buNone/>
            </a:pPr>
            <a:r>
              <a:rPr lang="en-US" sz="1200" b="1" dirty="0">
                <a:solidFill>
                  <a:srgbClr val="1A2A5E"/>
                </a:solidFill>
                <a:latin typeface="Meiryo" pitchFamily="34" charset="0"/>
                <a:ea typeface="Meiryo" pitchFamily="34" charset="-122"/>
                <a:cs typeface="Meiryo" pitchFamily="34" charset="-120"/>
              </a:rPr>
              <a:t>業界別の取引額割合</a:t>
            </a:r>
            <a:endParaRPr lang="en-US" sz="1200" dirty="0"/>
          </a:p>
        </p:txBody>
      </p:sp>
      <p:graphicFrame>
        <p:nvGraphicFramePr>
          <p:cNvPr id="16" name="Chart 1" descr=""/>
          <p:cNvGraphicFramePr/>
          <p:nvPr/>
        </p:nvGraphicFramePr>
        <p:xfrm>
          <a:off x="6263640" y="2286000"/>
          <a:ext cx="5394960" cy="3657600"/>
        </p:xfrm>
        <a:graphic xmlns:a="http://schemas.openxmlformats.org/drawingml/2006/main">
          <a:graphicData uri="http://schemas.openxmlformats.org/drawingml/2006/chart">
            <c:chart xmlns:c="http://schemas.openxmlformats.org/drawingml/2006/chart" r:id="rId2"/>
          </a:graphicData>
        </a:graphic>
      </p:graphicFrame>
      <p:sp>
        <p:nvSpPr>
          <p:cNvPr id="17" name="Text 13"/>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参照元：社内配信実績　／　特定業種に偏らず、BtoB（建設・不動産含む）等ニッチ市場の改善実績を保有</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与件整理</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初月はLP制作費を内包し、2ヶ月目以降に広告原資を満額投入する2段階の予算設計を組む</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7</a:t>
            </a:r>
            <a:endParaRPr lang="en-US" sz="900" dirty="0"/>
          </a:p>
        </p:txBody>
      </p:sp>
      <p:sp>
        <p:nvSpPr>
          <p:cNvPr id="11" name="Shape 9"/>
          <p:cNvSpPr/>
          <p:nvPr/>
        </p:nvSpPr>
        <p:spPr>
          <a:xfrm>
            <a:off x="457200" y="1874520"/>
            <a:ext cx="11274552" cy="1051560"/>
          </a:xfrm>
          <a:prstGeom prst="roundRect">
            <a:avLst>
              <a:gd name="adj" fmla="val 5217"/>
            </a:avLst>
          </a:prstGeom>
          <a:solidFill>
            <a:srgbClr val="F1F3F8"/>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685800" y="1874520"/>
            <a:ext cx="10835640" cy="1051560"/>
          </a:xfrm>
          <a:prstGeom prst="rect">
            <a:avLst/>
          </a:prstGeom>
          <a:noFill/>
          <a:ln/>
        </p:spPr>
        <p:txBody>
          <a:bodyPr wrap="square" lIns="0" tIns="0" rIns="0" bIns="0" rtlCol="0" anchor="ctr"/>
          <a:lstStyle/>
          <a:p>
            <a:pPr indent="0" marL="0">
              <a:lnSpc>
                <a:spcPct val="115000"/>
              </a:lnSpc>
              <a:buNone/>
            </a:pPr>
            <a:r>
              <a:rPr lang="en-US" sz="1250" b="1" dirty="0">
                <a:solidFill>
                  <a:srgbClr val="1A2A5E"/>
                </a:solidFill>
                <a:latin typeface="Meiryo" pitchFamily="34" charset="0"/>
                <a:ea typeface="Meiryo" pitchFamily="34" charset="-122"/>
                <a:cs typeface="Meiryo" pitchFamily="34" charset="-120"/>
              </a:rPr>
              <a:t>ご相談の背景：　</a:t>
            </a:r>
            <a:pPr indent="0" marL="0">
              <a:lnSpc>
                <a:spcPct val="115000"/>
              </a:lnSpc>
              <a:buNone/>
            </a:pPr>
            <a:r>
              <a:rPr lang="en-US" sz="1250" dirty="0">
                <a:solidFill>
                  <a:srgbClr val="222222"/>
                </a:solidFill>
                <a:latin typeface="Meiryo" pitchFamily="34" charset="0"/>
                <a:ea typeface="Meiryo" pitchFamily="34" charset="-122"/>
                <a:cs typeface="Meiryo" pitchFamily="34" charset="-120"/>
              </a:rPr>
              <a:t>4〜5年前にリスティング広告を運用していたが「効果が低く費用が高い」ことを理由に一度停止。今回、適切なキーワードの絞り込みと専用LPの構築により無駄クリックを排除し、経営層（代表者様）の稟議を突破するための勝算を再構築する。</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3154680"/>
          <a:ext cx="11274552" cy="914400"/>
        </p:xfrm>
        <a:graphic>
          <a:graphicData uri="http://schemas.openxmlformats.org/drawingml/2006/table">
            <a:tbl>
              <a:tblPr/>
              <a:tblGrid>
                <a:gridCol w="2286000"/>
                <a:gridCol w="8988552"/>
              </a:tblGrid>
              <a:tr h="822960">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項目</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ご提案内容</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r>
              <a:tr h="822960">
                <a:tc>
                  <a:txBody>
                    <a:bodyPr/>
                    <a:lstStyle/>
                    <a:p>
                      <a:pPr algn="ctr" indent="0" marL="0">
                        <a:buNone/>
                      </a:pPr>
                      <a:r>
                        <a:rPr lang="en-US" sz="1200" b="1" dirty="0">
                          <a:solidFill>
                            <a:srgbClr val="222222"/>
                          </a:solidFill>
                          <a:latin typeface="Meiryo" pitchFamily="34" charset="0"/>
                          <a:ea typeface="Meiryo" pitchFamily="34" charset="-122"/>
                          <a:cs typeface="Meiryo" pitchFamily="34" charset="-120"/>
                        </a:rPr>
                        <a:t>ご提案予算</a:t>
                      </a:r>
                      <a:endParaRPr lang="en-US" sz="1200" dirty="0">
                        <a:latin typeface="Meiryo" charset="0"/>
                        <a:ea typeface="Meiryo" charset="0"/>
                        <a:cs typeface="Meiryo" charset="0"/>
                      </a:endParaRPr>
                    </a:p>
                    <a:p>
                      <a:pPr algn="ctr" indent="0" marL="0">
                        <a:buNone/>
                      </a:pPr>
                      <a:r>
                        <a:rPr lang="en-US" sz="1200" b="1" dirty="0">
                          <a:solidFill>
                            <a:srgbClr val="222222"/>
                          </a:solidFill>
                          <a:latin typeface="Meiryo" pitchFamily="34" charset="0"/>
                          <a:ea typeface="Meiryo" pitchFamily="34" charset="-122"/>
                          <a:cs typeface="Meiryo" pitchFamily="34" charset="-120"/>
                        </a:rPr>
                        <a:t>（パターンB）</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月額100万円プラン ／ 月額200万円プラン　</a:t>
                      </a:r>
                      <a:pPr indent="0" marL="0">
                        <a:buNone/>
                      </a:pPr>
                      <a:r>
                        <a:rPr lang="en-US" sz="1200" b="1" dirty="0">
                          <a:solidFill>
                            <a:srgbClr val="F39800"/>
                          </a:solidFill>
                          <a:latin typeface="Meiryo" pitchFamily="34" charset="0"/>
                          <a:ea typeface="Meiryo" pitchFamily="34" charset="-122"/>
                          <a:cs typeface="Meiryo" pitchFamily="34" charset="-120"/>
                        </a:rPr>
                        <a:t>いずれも初月総予算にLP制作費50万円をコミコミで内包</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822960">
                <a:tc>
                  <a:txBody>
                    <a:bodyPr/>
                    <a:lstStyle/>
                    <a:p>
                      <a:pPr algn="ctr" indent="0" marL="0">
                        <a:buNone/>
                      </a:pPr>
                      <a:r>
                        <a:rPr lang="en-US" sz="1200" b="1" dirty="0">
                          <a:solidFill>
                            <a:srgbClr val="222222"/>
                          </a:solidFill>
                          <a:latin typeface="Meiryo" pitchFamily="34" charset="0"/>
                          <a:ea typeface="Meiryo" pitchFamily="34" charset="-122"/>
                          <a:cs typeface="Meiryo" pitchFamily="34" charset="-120"/>
                        </a:rPr>
                        <a:t>成果指標</a:t>
                      </a:r>
                      <a:endParaRPr lang="en-US" sz="1200" dirty="0">
                        <a:latin typeface="Meiryo" charset="0"/>
                        <a:ea typeface="Meiryo" charset="0"/>
                        <a:cs typeface="Meiryo" charset="0"/>
                      </a:endParaRPr>
                    </a:p>
                    <a:p>
                      <a:pPr algn="ctr" indent="0" marL="0">
                        <a:buNone/>
                      </a:pPr>
                      <a:r>
                        <a:rPr lang="en-US" sz="1200" b="1" dirty="0">
                          <a:solidFill>
                            <a:srgbClr val="222222"/>
                          </a:solidFill>
                          <a:latin typeface="Meiryo" pitchFamily="34" charset="0"/>
                          <a:ea typeface="Meiryo" pitchFamily="34" charset="-122"/>
                          <a:cs typeface="Meiryo" pitchFamily="34" charset="-120"/>
                        </a:rPr>
                        <a:t>（CV地点）</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分譲マンション管理組合（理事会層）からの「問い合わせ」「無料見積チェック」「無料劣化診断」</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822960">
                <a:tc>
                  <a:txBody>
                    <a:bodyPr/>
                    <a:lstStyle/>
                    <a:p>
                      <a:pPr algn="ctr" indent="0" marL="0">
                        <a:buNone/>
                      </a:pPr>
                      <a:r>
                        <a:rPr lang="en-US" sz="1200" b="1" dirty="0">
                          <a:solidFill>
                            <a:srgbClr val="222222"/>
                          </a:solidFill>
                          <a:latin typeface="Meiryo" pitchFamily="34" charset="0"/>
                          <a:ea typeface="Meiryo" pitchFamily="34" charset="-122"/>
                          <a:cs typeface="Meiryo" pitchFamily="34" charset="-120"/>
                        </a:rPr>
                        <a:t>目標KPI</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目標CPA（獲得単価）</a:t>
                      </a:r>
                      <a:pPr indent="0" marL="0">
                        <a:buNone/>
                      </a:pPr>
                      <a:r>
                        <a:rPr lang="en-US" sz="1200" b="1" dirty="0">
                          <a:solidFill>
                            <a:srgbClr val="F39800"/>
                          </a:solidFill>
                          <a:latin typeface="Meiryo" pitchFamily="34" charset="0"/>
                          <a:ea typeface="Meiryo" pitchFamily="34" charset="-122"/>
                          <a:cs typeface="Meiryo" pitchFamily="34" charset="-120"/>
                        </a:rPr>
                        <a:t>50,000円</a:t>
                      </a:r>
                      <a:pPr indent="0" marL="0">
                        <a:buNone/>
                      </a:pPr>
                      <a:r>
                        <a:rPr lang="en-US" sz="1000" dirty="0">
                          <a:solidFill>
                            <a:srgbClr val="6B7280"/>
                          </a:solidFill>
                          <a:latin typeface="Meiryo" pitchFamily="34" charset="0"/>
                          <a:ea typeface="Meiryo" pitchFamily="34" charset="-122"/>
                          <a:cs typeface="Meiryo" pitchFamily="34" charset="-120"/>
                        </a:rPr>
                        <a:t>　※現状の実数ベースCPA 約200,000円からの改善を目指す</a:t>
                      </a:r>
                      <a:endParaRPr lang="en-US" sz="12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bl>
          </a:graphicData>
        </a:graphic>
      </p:graphicFrame>
      <p:sp>
        <p:nvSpPr>
          <p:cNvPr id="14" name="Text 11"/>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参照元：貴社提供データ、お打ち合わせ議事録</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市場調査</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築40年以上のマンションは20年で約3.4倍に急増し、大規模修繕の適齢期が最盛期を迎える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8</a:t>
            </a:r>
            <a:endParaRPr lang="en-US" sz="900" dirty="0"/>
          </a:p>
        </p:txBody>
      </p:sp>
      <p:sp>
        <p:nvSpPr>
          <p:cNvPr id="11" name="Shape 9"/>
          <p:cNvSpPr/>
          <p:nvPr/>
        </p:nvSpPr>
        <p:spPr>
          <a:xfrm>
            <a:off x="457200" y="1874520"/>
            <a:ext cx="6400800"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640080" y="2011680"/>
            <a:ext cx="6035040" cy="320040"/>
          </a:xfrm>
          <a:prstGeom prst="rect">
            <a:avLst/>
          </a:prstGeom>
          <a:noFill/>
          <a:ln/>
        </p:spPr>
        <p:txBody>
          <a:bodyPr wrap="square" lIns="0" tIns="0" rIns="0" bIns="0" rtlCol="0" anchor="ctr"/>
          <a:lstStyle/>
          <a:p>
            <a:pPr indent="0" marL="0">
              <a:buNone/>
            </a:pPr>
            <a:r>
              <a:rPr lang="en-US" sz="1200" b="1" dirty="0">
                <a:solidFill>
                  <a:srgbClr val="1A2A5E"/>
                </a:solidFill>
                <a:latin typeface="Meiryo" pitchFamily="34" charset="0"/>
                <a:ea typeface="Meiryo" pitchFamily="34" charset="-122"/>
                <a:cs typeface="Meiryo" pitchFamily="34" charset="-120"/>
              </a:rPr>
              <a:t>築40年以上の分譲マンション戸数（万戸）</a:t>
            </a:r>
            <a:endParaRPr lang="en-US" sz="1200" dirty="0"/>
          </a:p>
        </p:txBody>
      </p:sp>
      <p:graphicFrame>
        <p:nvGraphicFramePr>
          <p:cNvPr id="13" name="Chart 0" descr=""/>
          <p:cNvGraphicFramePr/>
          <p:nvPr/>
        </p:nvGraphicFramePr>
        <p:xfrm>
          <a:off x="594360" y="2331720"/>
          <a:ext cx="6126480" cy="3383280"/>
        </p:xfrm>
        <a:graphic xmlns:a="http://schemas.openxmlformats.org/drawingml/2006/main">
          <a:graphicData uri="http://schemas.openxmlformats.org/drawingml/2006/chart">
            <c:chart xmlns:c="http://schemas.openxmlformats.org/drawingml/2006/chart" r:id="rId1"/>
          </a:graphicData>
        </a:graphic>
      </p:graphicFrame>
      <p:sp>
        <p:nvSpPr>
          <p:cNvPr id="14" name="Shape 11"/>
          <p:cNvSpPr/>
          <p:nvPr/>
        </p:nvSpPr>
        <p:spPr>
          <a:xfrm>
            <a:off x="7086600" y="1874520"/>
            <a:ext cx="4645152" cy="4160520"/>
          </a:xfrm>
          <a:prstGeom prst="roundRect">
            <a:avLst>
              <a:gd name="adj" fmla="val 1319"/>
            </a:avLst>
          </a:prstGeom>
          <a:solidFill>
            <a:srgbClr val="F1F3F8"/>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5" name="Text 12"/>
          <p:cNvSpPr/>
          <p:nvPr/>
        </p:nvSpPr>
        <p:spPr>
          <a:xfrm>
            <a:off x="7269480" y="2011680"/>
            <a:ext cx="4297680" cy="320040"/>
          </a:xfrm>
          <a:prstGeom prst="rect">
            <a:avLst/>
          </a:prstGeom>
          <a:noFill/>
          <a:ln/>
        </p:spPr>
        <p:txBody>
          <a:bodyPr wrap="square" lIns="0" tIns="0" rIns="0" bIns="0" rtlCol="0" anchor="ctr"/>
          <a:lstStyle/>
          <a:p>
            <a:pPr indent="0" marL="0">
              <a:buNone/>
            </a:pPr>
            <a:r>
              <a:rPr lang="en-US" sz="1200" b="1" dirty="0">
                <a:solidFill>
                  <a:srgbClr val="1A2A5E"/>
                </a:solidFill>
                <a:latin typeface="Meiryo" pitchFamily="34" charset="0"/>
                <a:ea typeface="Meiryo" pitchFamily="34" charset="-122"/>
                <a:cs typeface="Meiryo" pitchFamily="34" charset="-120"/>
              </a:rPr>
              <a:t>市場の前提（事実）</a:t>
            </a:r>
            <a:endParaRPr lang="en-US" sz="1200" dirty="0"/>
          </a:p>
        </p:txBody>
      </p:sp>
      <p:sp>
        <p:nvSpPr>
          <p:cNvPr id="16" name="Text 13"/>
          <p:cNvSpPr/>
          <p:nvPr/>
        </p:nvSpPr>
        <p:spPr>
          <a:xfrm>
            <a:off x="7269480" y="2423160"/>
            <a:ext cx="4297680" cy="3474720"/>
          </a:xfrm>
          <a:prstGeom prst="rect">
            <a:avLst/>
          </a:prstGeom>
          <a:noFill/>
          <a:ln/>
        </p:spPr>
        <p:txBody>
          <a:bodyPr wrap="square" lIns="0" tIns="0" rIns="0" bIns="0" rtlCol="0" anchor="t"/>
          <a:lstStyle/>
          <a:p>
            <a:pPr indent="0" marL="0">
              <a:lnSpc>
                <a:spcPct val="115000"/>
              </a:lnSpc>
              <a:buNone/>
            </a:pPr>
            <a:r>
              <a:rPr lang="en-US" sz="1200" dirty="0">
                <a:solidFill>
                  <a:srgbClr val="222222"/>
                </a:solidFill>
                <a:latin typeface="Meiryo" pitchFamily="34" charset="0"/>
                <a:ea typeface="Meiryo" pitchFamily="34" charset="-122"/>
                <a:cs typeface="Meiryo" pitchFamily="34" charset="-120"/>
              </a:rPr>
              <a:t>分譲マンションストック総数</a:t>
            </a:r>
            <a:endParaRPr lang="en-US" sz="1200" dirty="0"/>
          </a:p>
          <a:p>
            <a:pPr indent="0" marL="0">
              <a:lnSpc>
                <a:spcPct val="115000"/>
              </a:lnSpc>
              <a:spcAft>
                <a:spcPts val="1000"/>
              </a:spcAft>
              <a:buNone/>
            </a:pPr>
            <a:r>
              <a:rPr lang="en-US" sz="2200" b="1" dirty="0">
                <a:solidFill>
                  <a:srgbClr val="F39800"/>
                </a:solidFill>
                <a:latin typeface="Meiryo" pitchFamily="34" charset="0"/>
                <a:ea typeface="Meiryo" pitchFamily="34" charset="-122"/>
                <a:cs typeface="Meiryo" pitchFamily="34" charset="-120"/>
              </a:rPr>
              <a:t>約704.3万戸</a:t>
            </a:r>
            <a:endParaRPr lang="en-US" sz="1200" dirty="0"/>
          </a:p>
          <a:p>
            <a:pPr indent="0" marL="0">
              <a:lnSpc>
                <a:spcPct val="115000"/>
              </a:lnSpc>
              <a:spcAft>
                <a:spcPts val="800"/>
              </a:spcAft>
              <a:buNone/>
            </a:pPr>
            <a:r>
              <a:rPr lang="en-US" sz="1200" dirty="0">
                <a:solidFill>
                  <a:srgbClr val="222222"/>
                </a:solidFill>
                <a:latin typeface="Meiryo" pitchFamily="34" charset="0"/>
                <a:ea typeface="Meiryo" pitchFamily="34" charset="-122"/>
                <a:cs typeface="Meiryo" pitchFamily="34" charset="-120"/>
              </a:rPr>
              <a:t>うち築40年以上が2023年末137万戸 →10年後274万戸 →20年後464万戸へ。</a:t>
            </a:r>
            <a:endParaRPr lang="en-US" sz="1200" dirty="0"/>
          </a:p>
          <a:p>
            <a:pPr indent="0" marL="0">
              <a:lnSpc>
                <a:spcPct val="115000"/>
              </a:lnSpc>
              <a:buNone/>
            </a:pPr>
            <a:r>
              <a:rPr lang="en-US" sz="1200" dirty="0">
                <a:solidFill>
                  <a:srgbClr val="222222"/>
                </a:solidFill>
                <a:latin typeface="Meiryo" pitchFamily="34" charset="0"/>
                <a:ea typeface="Meiryo" pitchFamily="34" charset="-122"/>
                <a:cs typeface="Meiryo" pitchFamily="34" charset="-120"/>
              </a:rPr>
              <a:t>築40年以上では世帯主70歳以上が5割超。合意形成を支える専門家の役割が拡大。</a:t>
            </a:r>
            <a:endParaRPr lang="en-US" sz="1200" dirty="0"/>
          </a:p>
        </p:txBody>
      </p:sp>
      <p:sp>
        <p:nvSpPr>
          <p:cNvPr id="17" name="Text 14"/>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出典：国土交通省「マンションに関する統計・データ等」（2023年末現在の推計）</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市場調査</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工事費が10年で約3割上昇する一方、積立金不足の管理組合が約4割に達している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9</a:t>
            </a:r>
            <a:endParaRPr lang="en-US" sz="900" dirty="0"/>
          </a:p>
        </p:txBody>
      </p:sp>
      <p:sp>
        <p:nvSpPr>
          <p:cNvPr id="11" name="Shape 9"/>
          <p:cNvSpPr/>
          <p:nvPr/>
        </p:nvSpPr>
        <p:spPr>
          <a:xfrm>
            <a:off x="457200" y="1874520"/>
            <a:ext cx="4480560"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621792" y="2011680"/>
            <a:ext cx="4160520" cy="548640"/>
          </a:xfrm>
          <a:prstGeom prst="rect">
            <a:avLst/>
          </a:prstGeom>
          <a:noFill/>
          <a:ln/>
        </p:spPr>
        <p:txBody>
          <a:bodyPr wrap="square" lIns="0" tIns="0" rIns="0" bIns="0" rtlCol="0" anchor="ctr"/>
          <a:lstStyle/>
          <a:p>
            <a:pPr indent="0" marL="0">
              <a:buNone/>
            </a:pPr>
            <a:r>
              <a:rPr lang="en-US" sz="1150" b="1" dirty="0">
                <a:solidFill>
                  <a:srgbClr val="1A2A5E"/>
                </a:solidFill>
                <a:latin typeface="Meiryo" pitchFamily="34" charset="0"/>
                <a:ea typeface="Meiryo" pitchFamily="34" charset="-122"/>
                <a:cs typeface="Meiryo" pitchFamily="34" charset="-120"/>
              </a:rPr>
              <a:t>修繕積立金が計画に対して不足している管理組合</a:t>
            </a:r>
            <a:endParaRPr lang="en-US" sz="1150" dirty="0"/>
          </a:p>
        </p:txBody>
      </p:sp>
      <p:graphicFrame>
        <p:nvGraphicFramePr>
          <p:cNvPr id="13" name="Chart 0" descr=""/>
          <p:cNvGraphicFramePr/>
          <p:nvPr/>
        </p:nvGraphicFramePr>
        <p:xfrm>
          <a:off x="457200" y="2514600"/>
          <a:ext cx="4480560" cy="3200400"/>
        </p:xfrm>
        <a:graphic xmlns:a="http://schemas.openxmlformats.org/drawingml/2006/main">
          <a:graphicData uri="http://schemas.openxmlformats.org/drawingml/2006/chart">
            <c:chart xmlns:c="http://schemas.openxmlformats.org/drawingml/2006/chart" r:id="rId1"/>
          </a:graphicData>
        </a:graphic>
      </p:graphicFrame>
      <p:sp>
        <p:nvSpPr>
          <p:cNvPr id="14" name="Shape 11"/>
          <p:cNvSpPr/>
          <p:nvPr/>
        </p:nvSpPr>
        <p:spPr>
          <a:xfrm>
            <a:off x="5120640" y="1874520"/>
            <a:ext cx="6611112" cy="4160520"/>
          </a:xfrm>
          <a:prstGeom prst="roundRect">
            <a:avLst>
              <a:gd name="adj" fmla="val 1319"/>
            </a:avLst>
          </a:prstGeom>
          <a:solidFill>
            <a:srgbClr val="F1F3F8"/>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5" name="Text 12"/>
          <p:cNvSpPr/>
          <p:nvPr/>
        </p:nvSpPr>
        <p:spPr>
          <a:xfrm>
            <a:off x="5303520" y="2011680"/>
            <a:ext cx="6217920" cy="320040"/>
          </a:xfrm>
          <a:prstGeom prst="rect">
            <a:avLst/>
          </a:prstGeom>
          <a:noFill/>
          <a:ln/>
        </p:spPr>
        <p:txBody>
          <a:bodyPr wrap="square" lIns="0" tIns="0" rIns="0" bIns="0" rtlCol="0" anchor="ctr"/>
          <a:lstStyle/>
          <a:p>
            <a:pPr indent="0" marL="0">
              <a:buNone/>
            </a:pPr>
            <a:r>
              <a:rPr lang="en-US" sz="1200" b="1" dirty="0">
                <a:solidFill>
                  <a:srgbClr val="1A2A5E"/>
                </a:solidFill>
                <a:latin typeface="Meiryo" pitchFamily="34" charset="0"/>
                <a:ea typeface="Meiryo" pitchFamily="34" charset="-122"/>
                <a:cs typeface="Meiryo" pitchFamily="34" charset="-120"/>
              </a:rPr>
              <a:t>建設工事費の高騰（国交省 建設工事費デフレーター 等）</a:t>
            </a:r>
            <a:endParaRPr lang="en-US" sz="1200" dirty="0"/>
          </a:p>
        </p:txBody>
      </p:sp>
      <p:sp>
        <p:nvSpPr>
          <p:cNvPr id="16" name="Text 13"/>
          <p:cNvSpPr/>
          <p:nvPr/>
        </p:nvSpPr>
        <p:spPr>
          <a:xfrm>
            <a:off x="5349240" y="2468880"/>
            <a:ext cx="2103120" cy="685800"/>
          </a:xfrm>
          <a:prstGeom prst="rect">
            <a:avLst/>
          </a:prstGeom>
          <a:noFill/>
          <a:ln/>
        </p:spPr>
        <p:txBody>
          <a:bodyPr wrap="square" lIns="0" tIns="0" rIns="0" bIns="0" rtlCol="0" anchor="ctr"/>
          <a:lstStyle/>
          <a:p>
            <a:pPr indent="0" marL="0">
              <a:buNone/>
            </a:pPr>
            <a:r>
              <a:rPr lang="en-US" sz="2800" b="1" dirty="0">
                <a:solidFill>
                  <a:srgbClr val="F39800"/>
                </a:solidFill>
                <a:latin typeface="Meiryo" pitchFamily="34" charset="0"/>
                <a:ea typeface="Meiryo" pitchFamily="34" charset="-122"/>
                <a:cs typeface="Meiryo" pitchFamily="34" charset="-120"/>
              </a:rPr>
              <a:t>約+30%</a:t>
            </a:r>
            <a:endParaRPr lang="en-US" sz="2800" dirty="0"/>
          </a:p>
        </p:txBody>
      </p:sp>
      <p:sp>
        <p:nvSpPr>
          <p:cNvPr id="17" name="Text 14"/>
          <p:cNvSpPr/>
          <p:nvPr/>
        </p:nvSpPr>
        <p:spPr>
          <a:xfrm>
            <a:off x="7543800" y="2468880"/>
            <a:ext cx="4023360" cy="685800"/>
          </a:xfrm>
          <a:prstGeom prst="rect">
            <a:avLst/>
          </a:prstGeom>
          <a:noFill/>
          <a:ln/>
        </p:spPr>
        <p:txBody>
          <a:bodyPr wrap="square" lIns="0" tIns="0" rIns="0" bIns="0" rtlCol="0" anchor="ctr"/>
          <a:lstStyle/>
          <a:p>
            <a:pPr indent="0" marL="0">
              <a:lnSpc>
                <a:spcPct val="105000"/>
              </a:lnSpc>
              <a:buNone/>
            </a:pPr>
            <a:r>
              <a:rPr lang="en-US" sz="1200" dirty="0">
                <a:solidFill>
                  <a:srgbClr val="222222"/>
                </a:solidFill>
                <a:latin typeface="Meiryo" pitchFamily="34" charset="0"/>
                <a:ea typeface="Meiryo" pitchFamily="34" charset="-122"/>
                <a:cs typeface="Meiryo" pitchFamily="34" charset="-120"/>
              </a:rPr>
              <a:t>RC造（マンション）建設工事費の直近10年の上昇率</a:t>
            </a:r>
            <a:endParaRPr lang="en-US" sz="1200" dirty="0"/>
          </a:p>
        </p:txBody>
      </p:sp>
      <p:sp>
        <p:nvSpPr>
          <p:cNvPr id="18" name="Text 15"/>
          <p:cNvSpPr/>
          <p:nvPr/>
        </p:nvSpPr>
        <p:spPr>
          <a:xfrm>
            <a:off x="5349240" y="3310128"/>
            <a:ext cx="2103120" cy="685800"/>
          </a:xfrm>
          <a:prstGeom prst="rect">
            <a:avLst/>
          </a:prstGeom>
          <a:noFill/>
          <a:ln/>
        </p:spPr>
        <p:txBody>
          <a:bodyPr wrap="square" lIns="0" tIns="0" rIns="0" bIns="0" rtlCol="0" anchor="ctr"/>
          <a:lstStyle/>
          <a:p>
            <a:pPr indent="0" marL="0">
              <a:buNone/>
            </a:pPr>
            <a:r>
              <a:rPr lang="en-US" sz="2800" b="1" dirty="0">
                <a:solidFill>
                  <a:srgbClr val="F39800"/>
                </a:solidFill>
                <a:latin typeface="Meiryo" pitchFamily="34" charset="0"/>
                <a:ea typeface="Meiryo" pitchFamily="34" charset="-122"/>
                <a:cs typeface="Meiryo" pitchFamily="34" charset="-120"/>
              </a:rPr>
              <a:t>約+28%</a:t>
            </a:r>
            <a:endParaRPr lang="en-US" sz="2800" dirty="0"/>
          </a:p>
        </p:txBody>
      </p:sp>
      <p:sp>
        <p:nvSpPr>
          <p:cNvPr id="19" name="Text 16"/>
          <p:cNvSpPr/>
          <p:nvPr/>
        </p:nvSpPr>
        <p:spPr>
          <a:xfrm>
            <a:off x="7543800" y="3310128"/>
            <a:ext cx="4023360" cy="685800"/>
          </a:xfrm>
          <a:prstGeom prst="rect">
            <a:avLst/>
          </a:prstGeom>
          <a:noFill/>
          <a:ln/>
        </p:spPr>
        <p:txBody>
          <a:bodyPr wrap="square" lIns="0" tIns="0" rIns="0" bIns="0" rtlCol="0" anchor="ctr"/>
          <a:lstStyle/>
          <a:p>
            <a:pPr indent="0" marL="0">
              <a:lnSpc>
                <a:spcPct val="105000"/>
              </a:lnSpc>
              <a:buNone/>
            </a:pPr>
            <a:r>
              <a:rPr lang="en-US" sz="1200" dirty="0">
                <a:solidFill>
                  <a:srgbClr val="222222"/>
                </a:solidFill>
                <a:latin typeface="Meiryo" pitchFamily="34" charset="0"/>
                <a:ea typeface="Meiryo" pitchFamily="34" charset="-122"/>
                <a:cs typeface="Meiryo" pitchFamily="34" charset="-120"/>
              </a:rPr>
              <a:t>公共工事設計労務単価の上昇（2020年→2025年）</a:t>
            </a:r>
            <a:endParaRPr lang="en-US" sz="1200" dirty="0"/>
          </a:p>
        </p:txBody>
      </p:sp>
      <p:sp>
        <p:nvSpPr>
          <p:cNvPr id="20" name="Text 17"/>
          <p:cNvSpPr/>
          <p:nvPr/>
        </p:nvSpPr>
        <p:spPr>
          <a:xfrm>
            <a:off x="5349240" y="4151376"/>
            <a:ext cx="2103120" cy="685800"/>
          </a:xfrm>
          <a:prstGeom prst="rect">
            <a:avLst/>
          </a:prstGeom>
          <a:noFill/>
          <a:ln/>
        </p:spPr>
        <p:txBody>
          <a:bodyPr wrap="square" lIns="0" tIns="0" rIns="0" bIns="0" rtlCol="0" anchor="ctr"/>
          <a:lstStyle/>
          <a:p>
            <a:pPr indent="0" marL="0">
              <a:buNone/>
            </a:pPr>
            <a:r>
              <a:rPr lang="en-US" sz="2800" b="1" dirty="0">
                <a:solidFill>
                  <a:srgbClr val="F39800"/>
                </a:solidFill>
                <a:latin typeface="Meiryo" pitchFamily="34" charset="0"/>
                <a:ea typeface="Meiryo" pitchFamily="34" charset="-122"/>
                <a:cs typeface="Meiryo" pitchFamily="34" charset="-120"/>
              </a:rPr>
              <a:t>36.6%</a:t>
            </a:r>
            <a:endParaRPr lang="en-US" sz="2800" dirty="0"/>
          </a:p>
        </p:txBody>
      </p:sp>
      <p:sp>
        <p:nvSpPr>
          <p:cNvPr id="21" name="Text 18"/>
          <p:cNvSpPr/>
          <p:nvPr/>
        </p:nvSpPr>
        <p:spPr>
          <a:xfrm>
            <a:off x="7543800" y="4151376"/>
            <a:ext cx="4023360" cy="685800"/>
          </a:xfrm>
          <a:prstGeom prst="rect">
            <a:avLst/>
          </a:prstGeom>
          <a:noFill/>
          <a:ln/>
        </p:spPr>
        <p:txBody>
          <a:bodyPr wrap="square" lIns="0" tIns="0" rIns="0" bIns="0" rtlCol="0" anchor="ctr"/>
          <a:lstStyle/>
          <a:p>
            <a:pPr indent="0" marL="0">
              <a:lnSpc>
                <a:spcPct val="105000"/>
              </a:lnSpc>
              <a:buNone/>
            </a:pPr>
            <a:r>
              <a:rPr lang="en-US" sz="1200" dirty="0">
                <a:solidFill>
                  <a:srgbClr val="222222"/>
                </a:solidFill>
                <a:latin typeface="Meiryo" pitchFamily="34" charset="0"/>
                <a:ea typeface="Meiryo" pitchFamily="34" charset="-122"/>
                <a:cs typeface="Meiryo" pitchFamily="34" charset="-120"/>
              </a:rPr>
              <a:t>修繕積立金が計画に対し不足（うち20%超不足が11.7%）</a:t>
            </a:r>
            <a:endParaRPr lang="en-US" sz="1200" dirty="0"/>
          </a:p>
        </p:txBody>
      </p:sp>
      <p:sp>
        <p:nvSpPr>
          <p:cNvPr id="22" name="Text 19"/>
          <p:cNvSpPr/>
          <p:nvPr/>
        </p:nvSpPr>
        <p:spPr>
          <a:xfrm>
            <a:off x="5349240" y="5074920"/>
            <a:ext cx="6217920" cy="822960"/>
          </a:xfrm>
          <a:prstGeom prst="rect">
            <a:avLst/>
          </a:prstGeom>
          <a:noFill/>
          <a:ln/>
        </p:spPr>
        <p:txBody>
          <a:bodyPr wrap="square" lIns="0" tIns="0" rIns="0" bIns="0" rtlCol="0" anchor="ctr"/>
          <a:lstStyle/>
          <a:p>
            <a:pPr indent="0" marL="0">
              <a:lnSpc>
                <a:spcPct val="115000"/>
              </a:lnSpc>
              <a:buNone/>
            </a:pPr>
            <a:r>
              <a:rPr lang="en-US" sz="1200" b="1" dirty="0">
                <a:solidFill>
                  <a:srgbClr val="1A2A5E"/>
                </a:solidFill>
                <a:latin typeface="Meiryo" pitchFamily="34" charset="0"/>
                <a:ea typeface="Meiryo" pitchFamily="34" charset="-122"/>
                <a:cs typeface="Meiryo" pitchFamily="34" charset="-120"/>
              </a:rPr>
              <a:t>→ 「工事費は上がる・積立金は足りない」状況で、支出の妥当性を精査したい管理組合が急増している。</a:t>
            </a:r>
            <a:endParaRPr lang="en-US" sz="1200" dirty="0"/>
          </a:p>
        </p:txBody>
      </p:sp>
      <p:sp>
        <p:nvSpPr>
          <p:cNvPr id="23" name="Text 20"/>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出典：国土交通省「令和5年度マンション総合調査」（R6.6公表）、「建設工事費デフレーター」</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市場調査</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「工事をしない中立な設計監理コンサル」への見積り精査ニーズは構造的に高まり続ける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10</a:t>
            </a:r>
            <a:endParaRPr lang="en-US" sz="900" dirty="0"/>
          </a:p>
        </p:txBody>
      </p:sp>
      <p:sp>
        <p:nvSpPr>
          <p:cNvPr id="11" name="Shape 9"/>
          <p:cNvSpPr/>
          <p:nvPr/>
        </p:nvSpPr>
        <p:spPr>
          <a:xfrm>
            <a:off x="457200" y="1874520"/>
            <a:ext cx="5532120" cy="2788920"/>
          </a:xfrm>
          <a:prstGeom prst="roundRect">
            <a:avLst>
              <a:gd name="adj" fmla="val 1967"/>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640080" y="2011680"/>
            <a:ext cx="5120640" cy="365760"/>
          </a:xfrm>
          <a:prstGeom prst="rect">
            <a:avLst/>
          </a:prstGeom>
          <a:noFill/>
          <a:ln/>
        </p:spPr>
        <p:txBody>
          <a:bodyPr wrap="square" lIns="0" tIns="0" rIns="0" bIns="0" rtlCol="0" anchor="ctr"/>
          <a:lstStyle/>
          <a:p>
            <a:pPr indent="0" marL="0">
              <a:buNone/>
            </a:pPr>
            <a:r>
              <a:rPr lang="en-US" sz="1300" b="1" dirty="0">
                <a:solidFill>
                  <a:srgbClr val="1A2A5E"/>
                </a:solidFill>
                <a:latin typeface="Meiryo" pitchFamily="34" charset="0"/>
                <a:ea typeface="Meiryo" pitchFamily="34" charset="-122"/>
                <a:cs typeface="Meiryo" pitchFamily="34" charset="-120"/>
              </a:rPr>
              <a:t>市場の追い風①　膨大な修繕適齢期ストック</a:t>
            </a:r>
            <a:endParaRPr lang="en-US" sz="1300" dirty="0"/>
          </a:p>
        </p:txBody>
      </p:sp>
      <p:sp>
        <p:nvSpPr>
          <p:cNvPr id="13" name="Text 11"/>
          <p:cNvSpPr/>
          <p:nvPr/>
        </p:nvSpPr>
        <p:spPr>
          <a:xfrm>
            <a:off x="640080" y="2468880"/>
            <a:ext cx="5166360" cy="2011680"/>
          </a:xfrm>
          <a:prstGeom prst="rect">
            <a:avLst/>
          </a:prstGeom>
          <a:noFill/>
          <a:ln/>
        </p:spPr>
        <p:txBody>
          <a:bodyPr wrap="square" lIns="0" tIns="0" rIns="0" bIns="0" rtlCol="0" anchor="t"/>
          <a:lstStyle/>
          <a:p>
            <a:pPr indent="0" marL="0">
              <a:lnSpc>
                <a:spcPct val="115000"/>
              </a:lnSpc>
              <a:buNone/>
            </a:pPr>
            <a:r>
              <a:rPr lang="en-US" sz="1200" dirty="0">
                <a:solidFill>
                  <a:srgbClr val="222222"/>
                </a:solidFill>
                <a:latin typeface="Meiryo" pitchFamily="34" charset="0"/>
                <a:ea typeface="Meiryo" pitchFamily="34" charset="-122"/>
                <a:cs typeface="Meiryo" pitchFamily="34" charset="-120"/>
              </a:rPr>
              <a:t>築40年以上が20年で約3.4倍（137→464万戸）。長期修繕計画「30年以上」が72.7%を占め、第三者による中立な修繕判断の出番が継続的に生まれ続ける。</a:t>
            </a:r>
            <a:endParaRPr lang="en-US" sz="1200" dirty="0"/>
          </a:p>
        </p:txBody>
      </p:sp>
      <p:sp>
        <p:nvSpPr>
          <p:cNvPr id="14" name="Shape 12"/>
          <p:cNvSpPr/>
          <p:nvPr/>
        </p:nvSpPr>
        <p:spPr>
          <a:xfrm>
            <a:off x="6199632" y="1874520"/>
            <a:ext cx="5532120" cy="2788920"/>
          </a:xfrm>
          <a:prstGeom prst="roundRect">
            <a:avLst>
              <a:gd name="adj" fmla="val 1967"/>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5" name="Text 13"/>
          <p:cNvSpPr/>
          <p:nvPr/>
        </p:nvSpPr>
        <p:spPr>
          <a:xfrm>
            <a:off x="6382512" y="2011680"/>
            <a:ext cx="5120640" cy="365760"/>
          </a:xfrm>
          <a:prstGeom prst="rect">
            <a:avLst/>
          </a:prstGeom>
          <a:noFill/>
          <a:ln/>
        </p:spPr>
        <p:txBody>
          <a:bodyPr wrap="square" lIns="0" tIns="0" rIns="0" bIns="0" rtlCol="0" anchor="ctr"/>
          <a:lstStyle/>
          <a:p>
            <a:pPr indent="0" marL="0">
              <a:buNone/>
            </a:pPr>
            <a:r>
              <a:rPr lang="en-US" sz="1300" b="1" dirty="0">
                <a:solidFill>
                  <a:srgbClr val="1A2A5E"/>
                </a:solidFill>
                <a:latin typeface="Meiryo" pitchFamily="34" charset="0"/>
                <a:ea typeface="Meiryo" pitchFamily="34" charset="-122"/>
                <a:cs typeface="Meiryo" pitchFamily="34" charset="-120"/>
              </a:rPr>
              <a:t>市場の追い風②　工事費高騰×積立金不足</a:t>
            </a:r>
            <a:endParaRPr lang="en-US" sz="1300" dirty="0"/>
          </a:p>
        </p:txBody>
      </p:sp>
      <p:sp>
        <p:nvSpPr>
          <p:cNvPr id="16" name="Text 14"/>
          <p:cNvSpPr/>
          <p:nvPr/>
        </p:nvSpPr>
        <p:spPr>
          <a:xfrm>
            <a:off x="6382512" y="2468880"/>
            <a:ext cx="5166360" cy="2011680"/>
          </a:xfrm>
          <a:prstGeom prst="rect">
            <a:avLst/>
          </a:prstGeom>
          <a:noFill/>
          <a:ln/>
        </p:spPr>
        <p:txBody>
          <a:bodyPr wrap="square" lIns="0" tIns="0" rIns="0" bIns="0" rtlCol="0" anchor="t"/>
          <a:lstStyle/>
          <a:p>
            <a:pPr indent="0" marL="0">
              <a:lnSpc>
                <a:spcPct val="115000"/>
              </a:lnSpc>
              <a:buNone/>
            </a:pPr>
            <a:r>
              <a:rPr lang="en-US" sz="1200" dirty="0">
                <a:solidFill>
                  <a:srgbClr val="222222"/>
                </a:solidFill>
                <a:latin typeface="Meiryo" pitchFamily="34" charset="0"/>
                <a:ea typeface="Meiryo" pitchFamily="34" charset="-122"/>
                <a:cs typeface="Meiryo" pitchFamily="34" charset="-120"/>
              </a:rPr>
              <a:t>RC工事費は10年で約+30%、労務単価も+28%。積立金不足は36.6%。工事会社の高額見積もりに不信感を持つ管理組合が増え、公正な見積りチェック需要が拡大している。</a:t>
            </a:r>
            <a:endParaRPr lang="en-US" sz="1200" dirty="0"/>
          </a:p>
        </p:txBody>
      </p:sp>
      <p:sp>
        <p:nvSpPr>
          <p:cNvPr id="17" name="Shape 15"/>
          <p:cNvSpPr/>
          <p:nvPr/>
        </p:nvSpPr>
        <p:spPr>
          <a:xfrm>
            <a:off x="457200" y="4846320"/>
            <a:ext cx="11274552" cy="1143000"/>
          </a:xfrm>
          <a:prstGeom prst="roundRect">
            <a:avLst>
              <a:gd name="adj" fmla="val 4800"/>
            </a:avLst>
          </a:prstGeom>
          <a:solidFill>
            <a:srgbClr val="1A2A5E"/>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8" name="Text 16"/>
          <p:cNvSpPr/>
          <p:nvPr/>
        </p:nvSpPr>
        <p:spPr>
          <a:xfrm>
            <a:off x="685800" y="4846320"/>
            <a:ext cx="10835640" cy="1143000"/>
          </a:xfrm>
          <a:prstGeom prst="rect">
            <a:avLst/>
          </a:prstGeom>
          <a:noFill/>
          <a:ln/>
        </p:spPr>
        <p:txBody>
          <a:bodyPr wrap="square" lIns="0" tIns="0" rIns="0" bIns="0" rtlCol="0" anchor="ctr"/>
          <a:lstStyle/>
          <a:p>
            <a:pPr indent="0" marL="0">
              <a:lnSpc>
                <a:spcPct val="112000"/>
              </a:lnSpc>
              <a:buNone/>
            </a:pPr>
            <a:r>
              <a:rPr lang="en-US" sz="1300" b="1" dirty="0">
                <a:solidFill>
                  <a:srgbClr val="F39800"/>
                </a:solidFill>
                <a:latin typeface="Meiryo" pitchFamily="34" charset="0"/>
                <a:ea typeface="Meiryo" pitchFamily="34" charset="-122"/>
                <a:cs typeface="Meiryo" pitchFamily="34" charset="-120"/>
              </a:rPr>
              <a:t>A-1設計様への追い風：　</a:t>
            </a:r>
            <a:pPr indent="0" marL="0">
              <a:lnSpc>
                <a:spcPct val="112000"/>
              </a:lnSpc>
              <a:buNone/>
            </a:pPr>
            <a:r>
              <a:rPr lang="en-US" sz="1300" b="1" dirty="0">
                <a:solidFill>
                  <a:srgbClr val="FFFFFF"/>
                </a:solidFill>
                <a:latin typeface="Meiryo" pitchFamily="34" charset="0"/>
                <a:ea typeface="Meiryo" pitchFamily="34" charset="-122"/>
                <a:cs typeface="Meiryo" pitchFamily="34" charset="-120"/>
              </a:rPr>
              <a:t>施工を行わない純粋な「設計監理コンサルタント（一級建築士）」による中立なセカンドオピニオン・見積り精査は、市場環境そのものが後押しする“今が旬”の検索需要である。</a:t>
            </a:r>
            <a:endParaRPr lang="en-US" sz="1300" dirty="0"/>
          </a:p>
        </p:txBody>
      </p:sp>
      <p:sp>
        <p:nvSpPr>
          <p:cNvPr id="19" name="Text 17"/>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出典：国土交通省「マンションに関する統計・データ等」「令和5年度マンション総合調査」「建設工事費デフレーター」</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競合調査</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「施工会社の紹介マッチング」に対し「施工を持たない中立な設計監理」で完全差別化する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11274552" cy="914400"/>
        </p:xfrm>
        <a:graphic>
          <a:graphicData uri="http://schemas.openxmlformats.org/drawingml/2006/table">
            <a:tbl>
              <a:tblPr/>
              <a:tblGrid>
                <a:gridCol w="1920240"/>
                <a:gridCol w="4572000"/>
                <a:gridCol w="4782312"/>
              </a:tblGrid>
              <a:tr h="603504">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比較軸</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競合：Smart修繕（マッチング）</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貴社：A-1設計（設計監理）</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2E9E5B"/>
                    </a:solidFill>
                  </a:tcPr>
                </a:tc>
              </a:tr>
              <a:tr h="603504">
                <a:tc>
                  <a:txBody>
                    <a:bodyPr/>
                    <a:lstStyle/>
                    <a:p>
                      <a:pPr algn="ctr" indent="0" marL="0">
                        <a:buNone/>
                      </a:pPr>
                      <a:r>
                        <a:rPr lang="en-US" sz="1150" b="1" dirty="0">
                          <a:solidFill>
                            <a:srgbClr val="222222"/>
                          </a:solidFill>
                          <a:latin typeface="Meiryo" pitchFamily="34" charset="0"/>
                          <a:ea typeface="Meiryo" pitchFamily="34" charset="-122"/>
                          <a:cs typeface="Meiryo" pitchFamily="34" charset="-120"/>
                        </a:rPr>
                        <a:t>ビジネスモデル</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1F3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複数の施工会社を紹介し相見積もりさせるマッチング</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100" b="1" dirty="0">
                          <a:solidFill>
                            <a:srgbClr val="222222"/>
                          </a:solidFill>
                          <a:latin typeface="Meiryo" pitchFamily="34" charset="0"/>
                          <a:ea typeface="Meiryo" pitchFamily="34" charset="-122"/>
                          <a:cs typeface="Meiryo" pitchFamily="34" charset="-120"/>
                        </a:rPr>
                        <a:t>施工を持たない一級建築士事務所による設計・工事監理</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E4F3EA"/>
                    </a:solidFill>
                  </a:tcPr>
                </a:tc>
              </a:tr>
              <a:tr h="603504">
                <a:tc>
                  <a:txBody>
                    <a:bodyPr/>
                    <a:lstStyle/>
                    <a:p>
                      <a:pPr algn="ctr" indent="0" marL="0">
                        <a:buNone/>
                      </a:pPr>
                      <a:r>
                        <a:rPr lang="en-US" sz="1150" b="1" dirty="0">
                          <a:solidFill>
                            <a:srgbClr val="222222"/>
                          </a:solidFill>
                          <a:latin typeface="Meiryo" pitchFamily="34" charset="0"/>
                          <a:ea typeface="Meiryo" pitchFamily="34" charset="-122"/>
                          <a:cs typeface="Meiryo" pitchFamily="34" charset="-120"/>
                        </a:rPr>
                        <a:t>収益の出どころ</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1F3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紹介先＝施工会社側からのマーケティング費（紹介型）</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100" b="1" dirty="0">
                          <a:solidFill>
                            <a:srgbClr val="222222"/>
                          </a:solidFill>
                          <a:latin typeface="Meiryo" pitchFamily="34" charset="0"/>
                          <a:ea typeface="Meiryo" pitchFamily="34" charset="-122"/>
                          <a:cs typeface="Meiryo" pitchFamily="34" charset="-120"/>
                        </a:rPr>
                        <a:t>管理組合からの設計監理料のみ（施工と利害ゼロ）</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E4F3EA"/>
                    </a:solidFill>
                  </a:tcPr>
                </a:tc>
              </a:tr>
              <a:tr h="603504">
                <a:tc>
                  <a:txBody>
                    <a:bodyPr/>
                    <a:lstStyle/>
                    <a:p>
                      <a:pPr algn="ctr" indent="0" marL="0">
                        <a:buNone/>
                      </a:pPr>
                      <a:r>
                        <a:rPr lang="en-US" sz="1150" b="1" dirty="0">
                          <a:solidFill>
                            <a:srgbClr val="222222"/>
                          </a:solidFill>
                          <a:latin typeface="Meiryo" pitchFamily="34" charset="0"/>
                          <a:ea typeface="Meiryo" pitchFamily="34" charset="-122"/>
                          <a:cs typeface="Meiryo" pitchFamily="34" charset="-120"/>
                        </a:rPr>
                        <a:t>主要オファー</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1F3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相見積もりで「平均2,000万円削減」／見積手数料0円</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100" b="1" dirty="0">
                          <a:solidFill>
                            <a:srgbClr val="222222"/>
                          </a:solidFill>
                          <a:latin typeface="Meiryo" pitchFamily="34" charset="0"/>
                          <a:ea typeface="Meiryo" pitchFamily="34" charset="-122"/>
                          <a:cs typeface="Meiryo" pitchFamily="34" charset="-120"/>
                        </a:rPr>
                        <a:t>中立な劣化診断・見積チェック・工事監理・長期修繕計画</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E4F3EA"/>
                    </a:solidFill>
                  </a:tcPr>
                </a:tc>
              </a:tr>
              <a:tr h="603504">
                <a:tc>
                  <a:txBody>
                    <a:bodyPr/>
                    <a:lstStyle/>
                    <a:p>
                      <a:pPr algn="ctr" indent="0" marL="0">
                        <a:buNone/>
                      </a:pPr>
                      <a:r>
                        <a:rPr lang="en-US" sz="1150" b="1" dirty="0">
                          <a:solidFill>
                            <a:srgbClr val="222222"/>
                          </a:solidFill>
                          <a:latin typeface="Meiryo" pitchFamily="34" charset="0"/>
                          <a:ea typeface="Meiryo" pitchFamily="34" charset="-122"/>
                          <a:cs typeface="Meiryo" pitchFamily="34" charset="-120"/>
                        </a:rPr>
                        <a:t>管理組合の便益</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1F3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手間なく複数見積が集まり価格が下がる</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100" b="1" dirty="0">
                          <a:solidFill>
                            <a:srgbClr val="222222"/>
                          </a:solidFill>
                          <a:latin typeface="Meiryo" pitchFamily="34" charset="0"/>
                          <a:ea typeface="Meiryo" pitchFamily="34" charset="-122"/>
                          <a:cs typeface="Meiryo" pitchFamily="34" charset="-120"/>
                        </a:rPr>
                        <a:t>過剰工事・手抜きを第三者視点で監視し積立金を守れる</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E4F3EA"/>
                    </a:solidFill>
                  </a:tcPr>
                </a:tc>
              </a:tr>
              <a:tr h="603504">
                <a:tc>
                  <a:txBody>
                    <a:bodyPr/>
                    <a:lstStyle/>
                    <a:p>
                      <a:pPr algn="ctr" indent="0" marL="0">
                        <a:buNone/>
                      </a:pPr>
                      <a:r>
                        <a:rPr lang="en-US" sz="1150" b="1" dirty="0">
                          <a:solidFill>
                            <a:srgbClr val="222222"/>
                          </a:solidFill>
                          <a:latin typeface="Meiryo" pitchFamily="34" charset="0"/>
                          <a:ea typeface="Meiryo" pitchFamily="34" charset="-122"/>
                          <a:cs typeface="Meiryo" pitchFamily="34" charset="-120"/>
                        </a:rPr>
                        <a:t>実績</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1F3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見積実績2,000件以上・全国47都道府県</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100" b="1" dirty="0">
                          <a:solidFill>
                            <a:srgbClr val="222222"/>
                          </a:solidFill>
                          <a:latin typeface="Meiryo" pitchFamily="34" charset="0"/>
                          <a:ea typeface="Meiryo" pitchFamily="34" charset="-122"/>
                          <a:cs typeface="Meiryo" pitchFamily="34" charset="-120"/>
                        </a:rPr>
                        <a:t>設計監理 834管理組合（うちタワー型20 等）</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E4F3EA"/>
                    </a:solidFill>
                  </a:tcPr>
                </a:tc>
              </a:tr>
            </a:tbl>
          </a:graphicData>
        </a:graphic>
      </p:graphicFrame>
      <p:sp>
        <p:nvSpPr>
          <p:cNvPr id="12" name="Text 9"/>
          <p:cNvSpPr/>
          <p:nvPr/>
        </p:nvSpPr>
        <p:spPr>
          <a:xfrm>
            <a:off x="457200" y="5486400"/>
            <a:ext cx="11274552" cy="594360"/>
          </a:xfrm>
          <a:prstGeom prst="rect">
            <a:avLst/>
          </a:prstGeom>
          <a:noFill/>
          <a:ln/>
        </p:spPr>
        <p:txBody>
          <a:bodyPr wrap="square" lIns="0" tIns="0" rIns="0" bIns="0" rtlCol="0" anchor="ctr"/>
          <a:lstStyle/>
          <a:p>
            <a:pPr indent="0" marL="0">
              <a:lnSpc>
                <a:spcPct val="110000"/>
              </a:lnSpc>
              <a:buNone/>
            </a:pPr>
            <a:r>
              <a:rPr lang="en-US" sz="1100" b="1" dirty="0">
                <a:solidFill>
                  <a:srgbClr val="1A2A5E"/>
                </a:solidFill>
                <a:latin typeface="Meiryo" pitchFamily="34" charset="0"/>
                <a:ea typeface="Meiryo" pitchFamily="34" charset="-122"/>
                <a:cs typeface="Meiryo" pitchFamily="34" charset="-120"/>
              </a:rPr>
              <a:t>勝ち筋：　</a:t>
            </a:r>
            <a:pPr indent="0" marL="0">
              <a:lnSpc>
                <a:spcPct val="110000"/>
              </a:lnSpc>
              <a:buNone/>
            </a:pPr>
            <a:r>
              <a:rPr lang="en-US" sz="1100" dirty="0">
                <a:solidFill>
                  <a:srgbClr val="222222"/>
                </a:solidFill>
                <a:latin typeface="Meiryo" pitchFamily="34" charset="0"/>
                <a:ea typeface="Meiryo" pitchFamily="34" charset="-122"/>
                <a:cs typeface="Meiryo" pitchFamily="34" charset="-120"/>
              </a:rPr>
              <a:t>Smart修繕の収益源は“施工会社側”にあり、施工に対して完全中立ではない。A-1設計様は施工紹介マージンを取らず管理組合の側に立つ純粋な第三者——この構造の違いをLP・広告で明確に打ち出す。</a:t>
            </a:r>
            <a:endParaRPr lang="en-US" sz="1100" dirty="0"/>
          </a:p>
        </p:txBody>
      </p:sp>
      <p:sp>
        <p:nvSpPr>
          <p:cNvPr id="13" name="Text 10"/>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参照元：Smart修繕公式LP（daikibo2603）目視調査、A-1設計コーポレートサイト調査</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競合調査</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競合は「価格・削減」に全振り。A-1設計は「品質・中立」の空いたポジションを獲れる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12</a:t>
            </a:r>
            <a:endParaRPr lang="en-US" sz="900" dirty="0"/>
          </a:p>
        </p:txBody>
      </p:sp>
      <p:sp>
        <p:nvSpPr>
          <p:cNvPr id="11" name="Shape 9"/>
          <p:cNvSpPr/>
          <p:nvPr/>
        </p:nvSpPr>
        <p:spPr>
          <a:xfrm>
            <a:off x="457200" y="1874520"/>
            <a:ext cx="5029200" cy="4160520"/>
          </a:xfrm>
          <a:prstGeom prst="roundRect">
            <a:avLst>
              <a:gd name="adj" fmla="val 1319"/>
            </a:avLst>
          </a:prstGeom>
          <a:solidFill>
            <a:srgbClr val="F1F3F8"/>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640080" y="2011680"/>
            <a:ext cx="4663440" cy="320040"/>
          </a:xfrm>
          <a:prstGeom prst="rect">
            <a:avLst/>
          </a:prstGeom>
          <a:noFill/>
          <a:ln/>
        </p:spPr>
        <p:txBody>
          <a:bodyPr wrap="square" lIns="0" tIns="0" rIns="0" bIns="0" rtlCol="0" anchor="ctr"/>
          <a:lstStyle/>
          <a:p>
            <a:pPr indent="0" marL="0">
              <a:buNone/>
            </a:pPr>
            <a:r>
              <a:rPr lang="en-US" sz="1200" b="1" dirty="0">
                <a:solidFill>
                  <a:srgbClr val="1A2A5E"/>
                </a:solidFill>
                <a:latin typeface="Meiryo" pitchFamily="34" charset="0"/>
                <a:ea typeface="Meiryo" pitchFamily="34" charset="-122"/>
                <a:cs typeface="Meiryo" pitchFamily="34" charset="-120"/>
              </a:rPr>
              <a:t>Smart修繕 LP（daikibo2603）目視分析</a:t>
            </a:r>
            <a:endParaRPr lang="en-US" sz="1200" dirty="0"/>
          </a:p>
        </p:txBody>
      </p:sp>
      <p:sp>
        <p:nvSpPr>
          <p:cNvPr id="13" name="Text 11"/>
          <p:cNvSpPr/>
          <p:nvPr/>
        </p:nvSpPr>
        <p:spPr>
          <a:xfrm>
            <a:off x="731520" y="2423160"/>
            <a:ext cx="4617720" cy="3474720"/>
          </a:xfrm>
          <a:prstGeom prst="rect">
            <a:avLst/>
          </a:prstGeom>
          <a:noFill/>
          <a:ln/>
        </p:spPr>
        <p:txBody>
          <a:bodyPr wrap="square" lIns="0" tIns="0" rIns="0" bIns="0" rtlCol="0" anchor="t"/>
          <a:lstStyle/>
          <a:p>
            <a:pPr marL="177800" indent="-177800">
              <a:lnSpc>
                <a:spcPct val="112000"/>
              </a:lnSpc>
              <a:spcAft>
                <a:spcPts val="500"/>
              </a:spcAft>
              <a:buSzPct val="100000"/>
              <a:buChar char="•"/>
            </a:pPr>
            <a:r>
              <a:rPr lang="en-US" sz="1150" dirty="0">
                <a:solidFill>
                  <a:srgbClr val="222222"/>
                </a:solidFill>
                <a:latin typeface="Meiryo" pitchFamily="34" charset="0"/>
                <a:ea typeface="Meiryo" pitchFamily="34" charset="-122"/>
                <a:cs typeface="Meiryo" pitchFamily="34" charset="-120"/>
              </a:rPr>
              <a:t>主訴求は「談合・過剰マージン対策で費用削減」「平均2,000万円削減」</a:t>
            </a:r>
            <a:endParaRPr lang="en-US" sz="1150" dirty="0"/>
          </a:p>
          <a:p>
            <a:pPr marL="177800" indent="-177800">
              <a:lnSpc>
                <a:spcPct val="112000"/>
              </a:lnSpc>
              <a:spcAft>
                <a:spcPts val="500"/>
              </a:spcAft>
              <a:buSzPct val="100000"/>
              <a:buChar char="•"/>
            </a:pPr>
            <a:r>
              <a:rPr lang="en-US" sz="1150" dirty="0">
                <a:solidFill>
                  <a:srgbClr val="222222"/>
                </a:solidFill>
                <a:latin typeface="Meiryo" pitchFamily="34" charset="0"/>
                <a:ea typeface="Meiryo" pitchFamily="34" charset="-122"/>
                <a:cs typeface="Meiryo" pitchFamily="34" charset="-120"/>
              </a:rPr>
              <a:t>オファーは相見積・金額査定・24時間無料相談。電話CTAを多数配置</a:t>
            </a:r>
            <a:endParaRPr lang="en-US" sz="1150" dirty="0"/>
          </a:p>
          <a:p>
            <a:pPr marL="177800" indent="-177800">
              <a:lnSpc>
                <a:spcPct val="112000"/>
              </a:lnSpc>
              <a:spcAft>
                <a:spcPts val="500"/>
              </a:spcAft>
              <a:buSzPct val="100000"/>
              <a:buChar char="•"/>
            </a:pPr>
            <a:r>
              <a:rPr lang="en-US" sz="1150" dirty="0">
                <a:solidFill>
                  <a:srgbClr val="222222"/>
                </a:solidFill>
                <a:latin typeface="Meiryo" pitchFamily="34" charset="0"/>
                <a:ea typeface="Meiryo" pitchFamily="34" charset="-122"/>
                <a:cs typeface="Meiryo" pitchFamily="34" charset="-120"/>
              </a:rPr>
              <a:t>“安く工事できる業者を紹介”という価格・削減の訴求に終始</a:t>
            </a:r>
            <a:endParaRPr lang="en-US" sz="1150" dirty="0"/>
          </a:p>
          <a:p>
            <a:pPr marL="177800" indent="-177800">
              <a:lnSpc>
                <a:spcPct val="112000"/>
              </a:lnSpc>
              <a:spcAft>
                <a:spcPts val="500"/>
              </a:spcAft>
              <a:buSzPct val="100000"/>
              <a:buChar char="•"/>
            </a:pPr>
            <a:r>
              <a:rPr lang="en-US" sz="1150" b="1" dirty="0">
                <a:solidFill>
                  <a:srgbClr val="F39800"/>
                </a:solidFill>
                <a:latin typeface="Meiryo" pitchFamily="34" charset="0"/>
                <a:ea typeface="Meiryo" pitchFamily="34" charset="-122"/>
                <a:cs typeface="Meiryo" pitchFamily="34" charset="-120"/>
              </a:rPr>
              <a:t>設計監理・工事監視・中立性という品質軸の訴求は手薄</a:t>
            </a:r>
            <a:endParaRPr lang="en-US" sz="1150" dirty="0"/>
          </a:p>
        </p:txBody>
      </p:sp>
      <p:sp>
        <p:nvSpPr>
          <p:cNvPr id="14" name="Shape 12"/>
          <p:cNvSpPr/>
          <p:nvPr/>
        </p:nvSpPr>
        <p:spPr>
          <a:xfrm>
            <a:off x="5742432" y="1874520"/>
            <a:ext cx="5989320"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5" name="Shape 13"/>
          <p:cNvSpPr/>
          <p:nvPr/>
        </p:nvSpPr>
        <p:spPr>
          <a:xfrm>
            <a:off x="6263640" y="3977640"/>
            <a:ext cx="4937760" cy="0"/>
          </a:xfrm>
          <a:prstGeom prst="line">
            <a:avLst/>
          </a:prstGeom>
          <a:noFill/>
          <a:ln w="12700">
            <a:solidFill>
              <a:srgbClr val="B9C0CC"/>
            </a:solidFill>
            <a:prstDash val="solid"/>
          </a:ln>
        </p:spPr>
      </p:sp>
      <p:sp>
        <p:nvSpPr>
          <p:cNvPr id="16" name="Shape 14"/>
          <p:cNvSpPr/>
          <p:nvPr/>
        </p:nvSpPr>
        <p:spPr>
          <a:xfrm>
            <a:off x="8732520" y="2377440"/>
            <a:ext cx="0" cy="3200400"/>
          </a:xfrm>
          <a:prstGeom prst="line">
            <a:avLst/>
          </a:prstGeom>
          <a:noFill/>
          <a:ln w="12700">
            <a:solidFill>
              <a:srgbClr val="B9C0CC"/>
            </a:solidFill>
            <a:prstDash val="solid"/>
          </a:ln>
        </p:spPr>
      </p:sp>
      <p:sp>
        <p:nvSpPr>
          <p:cNvPr id="17" name="Text 15"/>
          <p:cNvSpPr/>
          <p:nvPr/>
        </p:nvSpPr>
        <p:spPr>
          <a:xfrm>
            <a:off x="7360920" y="2103120"/>
            <a:ext cx="2743200" cy="274320"/>
          </a:xfrm>
          <a:prstGeom prst="rect">
            <a:avLst/>
          </a:prstGeom>
          <a:noFill/>
          <a:ln/>
        </p:spPr>
        <p:txBody>
          <a:bodyPr wrap="square" lIns="0" tIns="0" rIns="0" bIns="0" rtlCol="0" anchor="ctr"/>
          <a:lstStyle/>
          <a:p>
            <a:pPr algn="ctr" indent="0" marL="0">
              <a:buNone/>
            </a:pPr>
            <a:r>
              <a:rPr lang="en-US" sz="1000" b="1" dirty="0">
                <a:solidFill>
                  <a:srgbClr val="6B7280"/>
                </a:solidFill>
                <a:latin typeface="Meiryo" pitchFamily="34" charset="0"/>
                <a:ea typeface="Meiryo" pitchFamily="34" charset="-122"/>
                <a:cs typeface="Meiryo" pitchFamily="34" charset="-120"/>
              </a:rPr>
              <a:t>品質・中立 訴求</a:t>
            </a:r>
            <a:endParaRPr lang="en-US" sz="1000" dirty="0"/>
          </a:p>
        </p:txBody>
      </p:sp>
      <p:sp>
        <p:nvSpPr>
          <p:cNvPr id="18" name="Text 16"/>
          <p:cNvSpPr/>
          <p:nvPr/>
        </p:nvSpPr>
        <p:spPr>
          <a:xfrm>
            <a:off x="7360920" y="5596128"/>
            <a:ext cx="2743200" cy="274320"/>
          </a:xfrm>
          <a:prstGeom prst="rect">
            <a:avLst/>
          </a:prstGeom>
          <a:noFill/>
          <a:ln/>
        </p:spPr>
        <p:txBody>
          <a:bodyPr wrap="square" lIns="0" tIns="0" rIns="0" bIns="0" rtlCol="0" anchor="ctr"/>
          <a:lstStyle/>
          <a:p>
            <a:pPr algn="ctr" indent="0" marL="0">
              <a:buNone/>
            </a:pPr>
            <a:r>
              <a:rPr lang="en-US" sz="1000" b="1" dirty="0">
                <a:solidFill>
                  <a:srgbClr val="6B7280"/>
                </a:solidFill>
                <a:latin typeface="Meiryo" pitchFamily="34" charset="0"/>
                <a:ea typeface="Meiryo" pitchFamily="34" charset="-122"/>
                <a:cs typeface="Meiryo" pitchFamily="34" charset="-120"/>
              </a:rPr>
              <a:t>価格・削減 訴求</a:t>
            </a:r>
            <a:endParaRPr lang="en-US" sz="1000" dirty="0"/>
          </a:p>
        </p:txBody>
      </p:sp>
      <p:sp>
        <p:nvSpPr>
          <p:cNvPr id="19" name="Text 17"/>
          <p:cNvSpPr/>
          <p:nvPr/>
        </p:nvSpPr>
        <p:spPr>
          <a:xfrm>
            <a:off x="5440680" y="3840480"/>
            <a:ext cx="1463040" cy="274320"/>
          </a:xfrm>
          <a:prstGeom prst="rect">
            <a:avLst/>
          </a:prstGeom>
          <a:noFill/>
          <a:ln/>
        </p:spPr>
        <p:txBody>
          <a:bodyPr wrap="square" lIns="0" tIns="0" rIns="0" bIns="0" rtlCol="0" anchor="ctr"/>
          <a:lstStyle/>
          <a:p>
            <a:pPr algn="ctr" indent="0" marL="0">
              <a:buNone/>
            </a:pPr>
            <a:r>
              <a:rPr lang="en-US" sz="1000" b="1" dirty="0">
                <a:solidFill>
                  <a:srgbClr val="6B7280"/>
                </a:solidFill>
                <a:latin typeface="Meiryo" pitchFamily="34" charset="0"/>
                <a:ea typeface="Meiryo" pitchFamily="34" charset="-122"/>
                <a:cs typeface="Meiryo" pitchFamily="34" charset="-120"/>
              </a:rPr>
              <a:t>施工会社の紹介</a:t>
            </a:r>
            <a:endParaRPr lang="en-US" sz="1000" dirty="0"/>
          </a:p>
        </p:txBody>
      </p:sp>
      <p:sp>
        <p:nvSpPr>
          <p:cNvPr id="20" name="Text 18"/>
          <p:cNvSpPr/>
          <p:nvPr/>
        </p:nvSpPr>
        <p:spPr>
          <a:xfrm>
            <a:off x="10515600" y="3840480"/>
            <a:ext cx="1737360" cy="274320"/>
          </a:xfrm>
          <a:prstGeom prst="rect">
            <a:avLst/>
          </a:prstGeom>
          <a:noFill/>
          <a:ln/>
        </p:spPr>
        <p:txBody>
          <a:bodyPr wrap="square" lIns="0" tIns="0" rIns="0" bIns="0" rtlCol="0" anchor="ctr"/>
          <a:lstStyle/>
          <a:p>
            <a:pPr algn="ctr" indent="0" marL="0">
              <a:buNone/>
            </a:pPr>
            <a:r>
              <a:rPr lang="en-US" sz="1000" b="1" dirty="0">
                <a:solidFill>
                  <a:srgbClr val="6B7280"/>
                </a:solidFill>
                <a:latin typeface="Meiryo" pitchFamily="34" charset="0"/>
                <a:ea typeface="Meiryo" pitchFamily="34" charset="-122"/>
                <a:cs typeface="Meiryo" pitchFamily="34" charset="-120"/>
              </a:rPr>
              <a:t>設計監理・自社完結</a:t>
            </a:r>
            <a:endParaRPr lang="en-US" sz="1000" dirty="0"/>
          </a:p>
        </p:txBody>
      </p:sp>
      <p:sp>
        <p:nvSpPr>
          <p:cNvPr id="21" name="Shape 19"/>
          <p:cNvSpPr/>
          <p:nvPr/>
        </p:nvSpPr>
        <p:spPr>
          <a:xfrm>
            <a:off x="6400800" y="4297680"/>
            <a:ext cx="1371600" cy="502920"/>
          </a:xfrm>
          <a:prstGeom prst="ellipse">
            <a:avLst/>
          </a:prstGeom>
          <a:solidFill>
            <a:srgbClr val="1A2A5E"/>
          </a:solidFill>
          <a:ln/>
        </p:spPr>
      </p:sp>
      <p:sp>
        <p:nvSpPr>
          <p:cNvPr id="22" name="Text 20"/>
          <p:cNvSpPr/>
          <p:nvPr/>
        </p:nvSpPr>
        <p:spPr>
          <a:xfrm>
            <a:off x="6400800" y="4297680"/>
            <a:ext cx="137160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Smart修繕</a:t>
            </a:r>
            <a:endParaRPr lang="en-US" sz="1000" dirty="0"/>
          </a:p>
        </p:txBody>
      </p:sp>
      <p:sp>
        <p:nvSpPr>
          <p:cNvPr id="23" name="Shape 21"/>
          <p:cNvSpPr/>
          <p:nvPr/>
        </p:nvSpPr>
        <p:spPr>
          <a:xfrm>
            <a:off x="9692640" y="3108960"/>
            <a:ext cx="1371600" cy="502920"/>
          </a:xfrm>
          <a:prstGeom prst="ellipse">
            <a:avLst/>
          </a:prstGeom>
          <a:solidFill>
            <a:srgbClr val="2E9E5B"/>
          </a:solidFill>
          <a:ln/>
        </p:spPr>
      </p:sp>
      <p:sp>
        <p:nvSpPr>
          <p:cNvPr id="24" name="Text 22"/>
          <p:cNvSpPr/>
          <p:nvPr/>
        </p:nvSpPr>
        <p:spPr>
          <a:xfrm>
            <a:off x="9692640" y="3108960"/>
            <a:ext cx="137160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A-1設計</a:t>
            </a:r>
            <a:endParaRPr lang="en-US" sz="1000" dirty="0"/>
          </a:p>
        </p:txBody>
      </p:sp>
      <p:sp>
        <p:nvSpPr>
          <p:cNvPr id="25" name="Text 23"/>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参照元：Smart修繕公式LP（daikibo2603）目視調査</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競合調査</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17名の一級建築士・全国11拠点・834組合——広告で使える“事実の武器”が揃っている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13</a:t>
            </a:r>
            <a:endParaRPr lang="en-US" sz="900" dirty="0"/>
          </a:p>
        </p:txBody>
      </p:sp>
      <p:sp>
        <p:nvSpPr>
          <p:cNvPr id="11" name="Shape 9"/>
          <p:cNvSpPr/>
          <p:nvPr/>
        </p:nvSpPr>
        <p:spPr>
          <a:xfrm>
            <a:off x="457200" y="1965960"/>
            <a:ext cx="3602736" cy="2103120"/>
          </a:xfrm>
          <a:prstGeom prst="roundRect">
            <a:avLst>
              <a:gd name="adj" fmla="val 260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640080" y="2194560"/>
            <a:ext cx="3236976" cy="777240"/>
          </a:xfrm>
          <a:prstGeom prst="rect">
            <a:avLst/>
          </a:prstGeom>
          <a:noFill/>
          <a:ln/>
        </p:spPr>
        <p:txBody>
          <a:bodyPr wrap="square" lIns="0" tIns="0" rIns="0" bIns="0" rtlCol="0" anchor="ctr"/>
          <a:lstStyle/>
          <a:p>
            <a:pPr algn="ctr" indent="0" marL="0">
              <a:buNone/>
            </a:pPr>
            <a:r>
              <a:rPr lang="en-US" sz="4000" b="1" dirty="0">
                <a:solidFill>
                  <a:srgbClr val="2E9E5B"/>
                </a:solidFill>
                <a:latin typeface="Meiryo" pitchFamily="34" charset="0"/>
                <a:ea typeface="Meiryo" pitchFamily="34" charset="-122"/>
                <a:cs typeface="Meiryo" pitchFamily="34" charset="-120"/>
              </a:rPr>
              <a:t>17名</a:t>
            </a:r>
            <a:endParaRPr lang="en-US" sz="4000" dirty="0"/>
          </a:p>
        </p:txBody>
      </p:sp>
      <p:sp>
        <p:nvSpPr>
          <p:cNvPr id="13" name="Text 11"/>
          <p:cNvSpPr/>
          <p:nvPr/>
        </p:nvSpPr>
        <p:spPr>
          <a:xfrm>
            <a:off x="640080" y="3063240"/>
            <a:ext cx="3236976" cy="685800"/>
          </a:xfrm>
          <a:prstGeom prst="rect">
            <a:avLst/>
          </a:prstGeom>
          <a:noFill/>
          <a:ln/>
        </p:spPr>
        <p:txBody>
          <a:bodyPr wrap="square" lIns="0" tIns="0" rIns="0" bIns="0" rtlCol="0" anchor="t"/>
          <a:lstStyle/>
          <a:p>
            <a:pPr algn="ctr" indent="0" marL="0">
              <a:lnSpc>
                <a:spcPct val="110000"/>
              </a:lnSpc>
              <a:buNone/>
            </a:pPr>
            <a:r>
              <a:rPr lang="en-US" sz="1250" b="1" dirty="0">
                <a:solidFill>
                  <a:srgbClr val="222222"/>
                </a:solidFill>
                <a:latin typeface="Meiryo" pitchFamily="34" charset="0"/>
                <a:ea typeface="Meiryo" pitchFamily="34" charset="-122"/>
                <a:cs typeface="Meiryo" pitchFamily="34" charset="-120"/>
              </a:rPr>
              <a:t>一級建築士（有資格者総勢多数）</a:t>
            </a:r>
            <a:endParaRPr lang="en-US" sz="1250" dirty="0"/>
          </a:p>
        </p:txBody>
      </p:sp>
      <p:sp>
        <p:nvSpPr>
          <p:cNvPr id="14" name="Shape 12"/>
          <p:cNvSpPr/>
          <p:nvPr/>
        </p:nvSpPr>
        <p:spPr>
          <a:xfrm>
            <a:off x="4293108" y="1965960"/>
            <a:ext cx="3602736" cy="2103120"/>
          </a:xfrm>
          <a:prstGeom prst="roundRect">
            <a:avLst>
              <a:gd name="adj" fmla="val 260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5" name="Text 13"/>
          <p:cNvSpPr/>
          <p:nvPr/>
        </p:nvSpPr>
        <p:spPr>
          <a:xfrm>
            <a:off x="4475988" y="2194560"/>
            <a:ext cx="3236976" cy="777240"/>
          </a:xfrm>
          <a:prstGeom prst="rect">
            <a:avLst/>
          </a:prstGeom>
          <a:noFill/>
          <a:ln/>
        </p:spPr>
        <p:txBody>
          <a:bodyPr wrap="square" lIns="0" tIns="0" rIns="0" bIns="0" rtlCol="0" anchor="ctr"/>
          <a:lstStyle/>
          <a:p>
            <a:pPr algn="ctr" indent="0" marL="0">
              <a:buNone/>
            </a:pPr>
            <a:r>
              <a:rPr lang="en-US" sz="4000" b="1" dirty="0">
                <a:solidFill>
                  <a:srgbClr val="2E9E5B"/>
                </a:solidFill>
                <a:latin typeface="Meiryo" pitchFamily="34" charset="0"/>
                <a:ea typeface="Meiryo" pitchFamily="34" charset="-122"/>
                <a:cs typeface="Meiryo" pitchFamily="34" charset="-120"/>
              </a:rPr>
              <a:t>11拠点</a:t>
            </a:r>
            <a:endParaRPr lang="en-US" sz="4000" dirty="0"/>
          </a:p>
        </p:txBody>
      </p:sp>
      <p:sp>
        <p:nvSpPr>
          <p:cNvPr id="16" name="Text 14"/>
          <p:cNvSpPr/>
          <p:nvPr/>
        </p:nvSpPr>
        <p:spPr>
          <a:xfrm>
            <a:off x="4475988" y="3063240"/>
            <a:ext cx="3236976" cy="685800"/>
          </a:xfrm>
          <a:prstGeom prst="rect">
            <a:avLst/>
          </a:prstGeom>
          <a:noFill/>
          <a:ln/>
        </p:spPr>
        <p:txBody>
          <a:bodyPr wrap="square" lIns="0" tIns="0" rIns="0" bIns="0" rtlCol="0" anchor="t"/>
          <a:lstStyle/>
          <a:p>
            <a:pPr algn="ctr" indent="0" marL="0">
              <a:lnSpc>
                <a:spcPct val="110000"/>
              </a:lnSpc>
              <a:buNone/>
            </a:pPr>
            <a:r>
              <a:rPr lang="en-US" sz="1250" b="1" dirty="0">
                <a:solidFill>
                  <a:srgbClr val="222222"/>
                </a:solidFill>
                <a:latin typeface="Meiryo" pitchFamily="34" charset="0"/>
                <a:ea typeface="Meiryo" pitchFamily="34" charset="-122"/>
                <a:cs typeface="Meiryo" pitchFamily="34" charset="-120"/>
              </a:rPr>
              <a:t>全国11拠点（東京本社・大阪本店ほか）</a:t>
            </a:r>
            <a:endParaRPr lang="en-US" sz="1250" dirty="0"/>
          </a:p>
        </p:txBody>
      </p:sp>
      <p:sp>
        <p:nvSpPr>
          <p:cNvPr id="17" name="Shape 15"/>
          <p:cNvSpPr/>
          <p:nvPr/>
        </p:nvSpPr>
        <p:spPr>
          <a:xfrm>
            <a:off x="8129016" y="1965960"/>
            <a:ext cx="3602736" cy="2103120"/>
          </a:xfrm>
          <a:prstGeom prst="roundRect">
            <a:avLst>
              <a:gd name="adj" fmla="val 260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8" name="Text 16"/>
          <p:cNvSpPr/>
          <p:nvPr/>
        </p:nvSpPr>
        <p:spPr>
          <a:xfrm>
            <a:off x="8311896" y="2194560"/>
            <a:ext cx="3236976" cy="777240"/>
          </a:xfrm>
          <a:prstGeom prst="rect">
            <a:avLst/>
          </a:prstGeom>
          <a:noFill/>
          <a:ln/>
        </p:spPr>
        <p:txBody>
          <a:bodyPr wrap="square" lIns="0" tIns="0" rIns="0" bIns="0" rtlCol="0" anchor="ctr"/>
          <a:lstStyle/>
          <a:p>
            <a:pPr algn="ctr" indent="0" marL="0">
              <a:buNone/>
            </a:pPr>
            <a:r>
              <a:rPr lang="en-US" sz="4000" b="1" dirty="0">
                <a:solidFill>
                  <a:srgbClr val="2E9E5B"/>
                </a:solidFill>
                <a:latin typeface="Meiryo" pitchFamily="34" charset="0"/>
                <a:ea typeface="Meiryo" pitchFamily="34" charset="-122"/>
                <a:cs typeface="Meiryo" pitchFamily="34" charset="-120"/>
              </a:rPr>
              <a:t>834組合</a:t>
            </a:r>
            <a:endParaRPr lang="en-US" sz="4000" dirty="0"/>
          </a:p>
        </p:txBody>
      </p:sp>
      <p:sp>
        <p:nvSpPr>
          <p:cNvPr id="19" name="Text 17"/>
          <p:cNvSpPr/>
          <p:nvPr/>
        </p:nvSpPr>
        <p:spPr>
          <a:xfrm>
            <a:off x="8311896" y="3063240"/>
            <a:ext cx="3236976" cy="685800"/>
          </a:xfrm>
          <a:prstGeom prst="rect">
            <a:avLst/>
          </a:prstGeom>
          <a:noFill/>
          <a:ln/>
        </p:spPr>
        <p:txBody>
          <a:bodyPr wrap="square" lIns="0" tIns="0" rIns="0" bIns="0" rtlCol="0" anchor="t"/>
          <a:lstStyle/>
          <a:p>
            <a:pPr algn="ctr" indent="0" marL="0">
              <a:lnSpc>
                <a:spcPct val="110000"/>
              </a:lnSpc>
              <a:buNone/>
            </a:pPr>
            <a:r>
              <a:rPr lang="en-US" sz="1250" b="1" dirty="0">
                <a:solidFill>
                  <a:srgbClr val="222222"/>
                </a:solidFill>
                <a:latin typeface="Meiryo" pitchFamily="34" charset="0"/>
                <a:ea typeface="Meiryo" pitchFamily="34" charset="-122"/>
                <a:cs typeface="Meiryo" pitchFamily="34" charset="-120"/>
              </a:rPr>
              <a:t>大規模修繕 設計監理の累計実績</a:t>
            </a:r>
            <a:endParaRPr lang="en-US" sz="1250" dirty="0"/>
          </a:p>
        </p:txBody>
      </p:sp>
      <p:sp>
        <p:nvSpPr>
          <p:cNvPr id="20" name="Shape 18"/>
          <p:cNvSpPr/>
          <p:nvPr/>
        </p:nvSpPr>
        <p:spPr>
          <a:xfrm>
            <a:off x="457200" y="4343400"/>
            <a:ext cx="11274552" cy="1691640"/>
          </a:xfrm>
          <a:prstGeom prst="roundRect">
            <a:avLst>
              <a:gd name="adj" fmla="val 3243"/>
            </a:avLst>
          </a:prstGeom>
          <a:solidFill>
            <a:srgbClr val="F1F3F8"/>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21" name="Text 19"/>
          <p:cNvSpPr/>
          <p:nvPr/>
        </p:nvSpPr>
        <p:spPr>
          <a:xfrm>
            <a:off x="640080" y="4480560"/>
            <a:ext cx="4572000" cy="320040"/>
          </a:xfrm>
          <a:prstGeom prst="rect">
            <a:avLst/>
          </a:prstGeom>
          <a:noFill/>
          <a:ln/>
        </p:spPr>
        <p:txBody>
          <a:bodyPr wrap="square" lIns="0" tIns="0" rIns="0" bIns="0" rtlCol="0" anchor="ctr"/>
          <a:lstStyle/>
          <a:p>
            <a:pPr indent="0" marL="0">
              <a:buNone/>
            </a:pPr>
            <a:r>
              <a:rPr lang="en-US" sz="1200" b="1" dirty="0">
                <a:solidFill>
                  <a:srgbClr val="1A2A5E"/>
                </a:solidFill>
                <a:latin typeface="Meiryo" pitchFamily="34" charset="0"/>
                <a:ea typeface="Meiryo" pitchFamily="34" charset="-122"/>
                <a:cs typeface="Meiryo" pitchFamily="34" charset="-120"/>
              </a:rPr>
              <a:t>提案で活かす“事実”</a:t>
            </a:r>
            <a:endParaRPr lang="en-US" sz="1200" dirty="0"/>
          </a:p>
        </p:txBody>
      </p:sp>
      <p:sp>
        <p:nvSpPr>
          <p:cNvPr id="22" name="Text 20"/>
          <p:cNvSpPr/>
          <p:nvPr/>
        </p:nvSpPr>
        <p:spPr>
          <a:xfrm>
            <a:off x="731520" y="4846320"/>
            <a:ext cx="10698480" cy="1097280"/>
          </a:xfrm>
          <a:prstGeom prst="rect">
            <a:avLst/>
          </a:prstGeom>
          <a:noFill/>
          <a:ln/>
        </p:spPr>
        <p:txBody>
          <a:bodyPr wrap="square" lIns="0" tIns="0" rIns="0" bIns="0" rtlCol="0" anchor="t"/>
          <a:lstStyle/>
          <a:p>
            <a:pPr marL="177800" indent="-177800">
              <a:lnSpc>
                <a:spcPct val="112000"/>
              </a:lnSpc>
              <a:spcAft>
                <a:spcPts val="500"/>
              </a:spcAft>
              <a:buSzPct val="100000"/>
              <a:buChar char="•"/>
            </a:pPr>
            <a:r>
              <a:rPr lang="en-US" sz="1150" dirty="0">
                <a:solidFill>
                  <a:srgbClr val="222222"/>
                </a:solidFill>
                <a:latin typeface="Meiryo" pitchFamily="34" charset="0"/>
                <a:ea typeface="Meiryo" pitchFamily="34" charset="-122"/>
                <a:cs typeface="Meiryo" pitchFamily="34" charset="-120"/>
              </a:rPr>
              <a:t>代表・吉川貴清氏も一級建築士。建物劣化診断／修繕設計／施工業者の選定補助／工事監理／長期修繕計画／耐震まで自社完結</a:t>
            </a:r>
            <a:endParaRPr lang="en-US" sz="1150" dirty="0"/>
          </a:p>
          <a:p>
            <a:pPr marL="177800" indent="-177800">
              <a:lnSpc>
                <a:spcPct val="112000"/>
              </a:lnSpc>
              <a:spcAft>
                <a:spcPts val="500"/>
              </a:spcAft>
              <a:buSzPct val="100000"/>
              <a:buChar char="•"/>
            </a:pPr>
            <a:r>
              <a:rPr lang="en-US" sz="1150" dirty="0">
                <a:solidFill>
                  <a:srgbClr val="222222"/>
                </a:solidFill>
                <a:latin typeface="Meiryo" pitchFamily="34" charset="0"/>
                <a:ea typeface="Meiryo" pitchFamily="34" charset="-122"/>
                <a:cs typeface="Meiryo" pitchFamily="34" charset="-120"/>
              </a:rPr>
              <a:t>「工事をしない中立な専門家集団」という事実は、Smart修繕には出せない広告・LPの核になる</a:t>
            </a:r>
            <a:endParaRPr lang="en-US" sz="1150" dirty="0"/>
          </a:p>
        </p:txBody>
      </p:sp>
      <p:sp>
        <p:nvSpPr>
          <p:cNvPr id="23" name="Text 21"/>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出典：A-1設計コーポレートサイト（会社案内 / 強み）</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競合調査</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累計834管理組合・タワー型20件まで——難易度別の監理実績で紹介サイトを圧倒する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14</a:t>
            </a:r>
            <a:endParaRPr lang="en-US" sz="900" dirty="0"/>
          </a:p>
        </p:txBody>
      </p:sp>
      <p:sp>
        <p:nvSpPr>
          <p:cNvPr id="11" name="Shape 9"/>
          <p:cNvSpPr/>
          <p:nvPr/>
        </p:nvSpPr>
        <p:spPr>
          <a:xfrm>
            <a:off x="457200" y="1874520"/>
            <a:ext cx="3931920" cy="4160520"/>
          </a:xfrm>
          <a:prstGeom prst="roundRect">
            <a:avLst>
              <a:gd name="adj" fmla="val 1395"/>
            </a:avLst>
          </a:prstGeom>
          <a:solidFill>
            <a:srgbClr val="1A2A5E"/>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594360" y="2331720"/>
            <a:ext cx="36576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大規模修繕 設計・監理　合計実績</a:t>
            </a:r>
            <a:endParaRPr lang="en-US" sz="1300" dirty="0"/>
          </a:p>
        </p:txBody>
      </p:sp>
      <p:sp>
        <p:nvSpPr>
          <p:cNvPr id="13" name="Text 11"/>
          <p:cNvSpPr/>
          <p:nvPr/>
        </p:nvSpPr>
        <p:spPr>
          <a:xfrm>
            <a:off x="594360" y="2788920"/>
            <a:ext cx="3657600" cy="1280160"/>
          </a:xfrm>
          <a:prstGeom prst="rect">
            <a:avLst/>
          </a:prstGeom>
          <a:noFill/>
          <a:ln/>
        </p:spPr>
        <p:txBody>
          <a:bodyPr wrap="square" lIns="0" tIns="0" rIns="0" bIns="0" rtlCol="0" anchor="ctr"/>
          <a:lstStyle/>
          <a:p>
            <a:pPr algn="ctr" indent="0" marL="0">
              <a:buNone/>
            </a:pPr>
            <a:r>
              <a:rPr lang="en-US" sz="7200" b="1" dirty="0">
                <a:solidFill>
                  <a:srgbClr val="F39800"/>
                </a:solidFill>
                <a:latin typeface="Meiryo" pitchFamily="34" charset="0"/>
                <a:ea typeface="Meiryo" pitchFamily="34" charset="-122"/>
                <a:cs typeface="Meiryo" pitchFamily="34" charset="-120"/>
              </a:rPr>
              <a:t>834</a:t>
            </a:r>
            <a:endParaRPr lang="en-US" sz="7200" dirty="0"/>
          </a:p>
        </p:txBody>
      </p:sp>
      <p:sp>
        <p:nvSpPr>
          <p:cNvPr id="14" name="Text 12"/>
          <p:cNvSpPr/>
          <p:nvPr/>
        </p:nvSpPr>
        <p:spPr>
          <a:xfrm>
            <a:off x="594360" y="4114800"/>
            <a:ext cx="36576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管理組合</a:t>
            </a:r>
            <a:endParaRPr lang="en-US" sz="2000" dirty="0"/>
          </a:p>
        </p:txBody>
      </p:sp>
      <p:sp>
        <p:nvSpPr>
          <p:cNvPr id="15" name="Text 13"/>
          <p:cNvSpPr/>
          <p:nvPr/>
        </p:nvSpPr>
        <p:spPr>
          <a:xfrm>
            <a:off x="594360" y="4617720"/>
            <a:ext cx="3657600" cy="365760"/>
          </a:xfrm>
          <a:prstGeom prst="rect">
            <a:avLst/>
          </a:prstGeom>
          <a:noFill/>
          <a:ln/>
        </p:spPr>
        <p:txBody>
          <a:bodyPr wrap="square" lIns="0" tIns="0" rIns="0" bIns="0" rtlCol="0" anchor="ctr"/>
          <a:lstStyle/>
          <a:p>
            <a:pPr algn="ctr" indent="0" marL="0">
              <a:buNone/>
            </a:pPr>
            <a:r>
              <a:rPr lang="en-US" sz="1100" dirty="0">
                <a:solidFill>
                  <a:srgbClr val="C7CDE0"/>
                </a:solidFill>
                <a:latin typeface="Meiryo" pitchFamily="34" charset="0"/>
                <a:ea typeface="Meiryo" pitchFamily="34" charset="-122"/>
                <a:cs typeface="Meiryo" pitchFamily="34" charset="-120"/>
              </a:rPr>
              <a:t>（2025年2月時点）</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617720" y="1874520"/>
          <a:ext cx="7114032" cy="914400"/>
        </p:xfrm>
        <a:graphic>
          <a:graphicData uri="http://schemas.openxmlformats.org/drawingml/2006/table">
            <a:tbl>
              <a:tblPr/>
              <a:tblGrid>
                <a:gridCol w="1463040"/>
                <a:gridCol w="1188720"/>
                <a:gridCol w="4462272"/>
              </a:tblGrid>
              <a:tr h="576072">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物件種別</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実績</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50" b="1" dirty="0">
                          <a:solidFill>
                            <a:srgbClr val="FFFFFF"/>
                          </a:solidFill>
                          <a:latin typeface="Meiryo" pitchFamily="34" charset="0"/>
                          <a:ea typeface="Meiryo" pitchFamily="34" charset="-122"/>
                          <a:cs typeface="Meiryo" pitchFamily="34" charset="-120"/>
                        </a:rPr>
                        <a:t>領域特性</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r>
              <a:tr h="576072">
                <a:tc>
                  <a:txBody>
                    <a:bodyPr/>
                    <a:lstStyle/>
                    <a:p>
                      <a:pPr algn="ctr" indent="0" marL="0">
                        <a:buNone/>
                      </a:pPr>
                      <a:r>
                        <a:rPr lang="en-US" sz="1150" b="1" dirty="0">
                          <a:solidFill>
                            <a:srgbClr val="222222"/>
                          </a:solidFill>
                          <a:latin typeface="Meiryo" pitchFamily="34" charset="0"/>
                          <a:ea typeface="Meiryo" pitchFamily="34" charset="-122"/>
                          <a:cs typeface="Meiryo" pitchFamily="34" charset="-120"/>
                        </a:rPr>
                        <a:t>一般型</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50" b="1" dirty="0">
                          <a:solidFill>
                            <a:srgbClr val="F39800"/>
                          </a:solidFill>
                          <a:latin typeface="Meiryo" pitchFamily="34" charset="0"/>
                          <a:ea typeface="Meiryo" pitchFamily="34" charset="-122"/>
                          <a:cs typeface="Meiryo" pitchFamily="34" charset="-120"/>
                        </a:rPr>
                        <a:t>721件</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150" dirty="0">
                          <a:solidFill>
                            <a:srgbClr val="222222"/>
                          </a:solidFill>
                          <a:latin typeface="Meiryo" pitchFamily="34" charset="0"/>
                          <a:ea typeface="Meiryo" pitchFamily="34" charset="-122"/>
                          <a:cs typeface="Meiryo" pitchFamily="34" charset="-120"/>
                        </a:rPr>
                        <a:t>検索需要が最も集中するコア領域</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576072">
                <a:tc>
                  <a:txBody>
                    <a:bodyPr/>
                    <a:lstStyle/>
                    <a:p>
                      <a:pPr algn="ctr" indent="0" marL="0">
                        <a:buNone/>
                      </a:pPr>
                      <a:r>
                        <a:rPr lang="en-US" sz="1150" b="1" dirty="0">
                          <a:solidFill>
                            <a:srgbClr val="222222"/>
                          </a:solidFill>
                          <a:latin typeface="Meiryo" pitchFamily="34" charset="0"/>
                          <a:ea typeface="Meiryo" pitchFamily="34" charset="-122"/>
                          <a:cs typeface="Meiryo" pitchFamily="34" charset="-120"/>
                        </a:rPr>
                        <a:t>多棟型</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50" b="1" dirty="0">
                          <a:solidFill>
                            <a:srgbClr val="F39800"/>
                          </a:solidFill>
                          <a:latin typeface="Meiryo" pitchFamily="34" charset="0"/>
                          <a:ea typeface="Meiryo" pitchFamily="34" charset="-122"/>
                          <a:cs typeface="Meiryo" pitchFamily="34" charset="-120"/>
                        </a:rPr>
                        <a:t>76件</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150" dirty="0">
                          <a:solidFill>
                            <a:srgbClr val="222222"/>
                          </a:solidFill>
                          <a:latin typeface="Meiryo" pitchFamily="34" charset="0"/>
                          <a:ea typeface="Meiryo" pitchFamily="34" charset="-122"/>
                          <a:cs typeface="Meiryo" pitchFamily="34" charset="-120"/>
                        </a:rPr>
                        <a:t>合意形成が難しく高いコンサル力が必要</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576072">
                <a:tc>
                  <a:txBody>
                    <a:bodyPr/>
                    <a:lstStyle/>
                    <a:p>
                      <a:pPr algn="ctr" indent="0" marL="0">
                        <a:buNone/>
                      </a:pPr>
                      <a:r>
                        <a:rPr lang="en-US" sz="1150" b="1" dirty="0">
                          <a:solidFill>
                            <a:srgbClr val="222222"/>
                          </a:solidFill>
                          <a:latin typeface="Meiryo" pitchFamily="34" charset="0"/>
                          <a:ea typeface="Meiryo" pitchFamily="34" charset="-122"/>
                          <a:cs typeface="Meiryo" pitchFamily="34" charset="-120"/>
                        </a:rPr>
                        <a:t>タワー型</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50" b="1" dirty="0">
                          <a:solidFill>
                            <a:srgbClr val="F39800"/>
                          </a:solidFill>
                          <a:latin typeface="Meiryo" pitchFamily="34" charset="0"/>
                          <a:ea typeface="Meiryo" pitchFamily="34" charset="-122"/>
                          <a:cs typeface="Meiryo" pitchFamily="34" charset="-120"/>
                        </a:rPr>
                        <a:t>20件</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150" dirty="0">
                          <a:solidFill>
                            <a:srgbClr val="222222"/>
                          </a:solidFill>
                          <a:latin typeface="Meiryo" pitchFamily="34" charset="0"/>
                          <a:ea typeface="Meiryo" pitchFamily="34" charset="-122"/>
                          <a:cs typeface="Meiryo" pitchFamily="34" charset="-120"/>
                        </a:rPr>
                        <a:t>競合が少なく受注単価が極めて高い</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576072">
                <a:tc>
                  <a:txBody>
                    <a:bodyPr/>
                    <a:lstStyle/>
                    <a:p>
                      <a:pPr algn="ctr" indent="0" marL="0">
                        <a:buNone/>
                      </a:pPr>
                      <a:r>
                        <a:rPr lang="en-US" sz="1150" b="1" dirty="0">
                          <a:solidFill>
                            <a:srgbClr val="222222"/>
                          </a:solidFill>
                          <a:latin typeface="Meiryo" pitchFamily="34" charset="0"/>
                          <a:ea typeface="Meiryo" pitchFamily="34" charset="-122"/>
                          <a:cs typeface="Meiryo" pitchFamily="34" charset="-120"/>
                        </a:rPr>
                        <a:t>複合型</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50" b="1" dirty="0">
                          <a:solidFill>
                            <a:srgbClr val="F39800"/>
                          </a:solidFill>
                          <a:latin typeface="Meiryo" pitchFamily="34" charset="0"/>
                          <a:ea typeface="Meiryo" pitchFamily="34" charset="-122"/>
                          <a:cs typeface="Meiryo" pitchFamily="34" charset="-120"/>
                        </a:rPr>
                        <a:t>17件</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indent="0" marL="0">
                        <a:buNone/>
                      </a:pPr>
                      <a:r>
                        <a:rPr lang="en-US" sz="1150" dirty="0">
                          <a:solidFill>
                            <a:srgbClr val="222222"/>
                          </a:solidFill>
                          <a:latin typeface="Meiryo" pitchFamily="34" charset="0"/>
                          <a:ea typeface="Meiryo" pitchFamily="34" charset="-122"/>
                          <a:cs typeface="Meiryo" pitchFamily="34" charset="-120"/>
                        </a:rPr>
                        <a:t>商業施設混合など高度な専門設計が必要</a:t>
                      </a:r>
                      <a:endParaRPr lang="en-US" sz="115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bl>
          </a:graphicData>
        </a:graphic>
      </p:graphicFrame>
      <p:sp>
        <p:nvSpPr>
          <p:cNvPr id="17" name="Text 14"/>
          <p:cNvSpPr/>
          <p:nvPr/>
        </p:nvSpPr>
        <p:spPr>
          <a:xfrm>
            <a:off x="4617720" y="4892040"/>
            <a:ext cx="7114032" cy="1097280"/>
          </a:xfrm>
          <a:prstGeom prst="rect">
            <a:avLst/>
          </a:prstGeom>
          <a:noFill/>
          <a:ln/>
        </p:spPr>
        <p:txBody>
          <a:bodyPr wrap="square" lIns="0" tIns="0" rIns="0" bIns="0" rtlCol="0" anchor="t"/>
          <a:lstStyle/>
          <a:p>
            <a:pPr indent="0" marL="0">
              <a:lnSpc>
                <a:spcPct val="120000"/>
              </a:lnSpc>
              <a:buNone/>
            </a:pPr>
            <a:r>
              <a:rPr lang="en-US" sz="1200" dirty="0">
                <a:solidFill>
                  <a:srgbClr val="222222"/>
                </a:solidFill>
                <a:latin typeface="Meiryo" pitchFamily="34" charset="0"/>
                <a:ea typeface="Meiryo" pitchFamily="34" charset="-122"/>
                <a:cs typeface="Meiryo" pitchFamily="34" charset="-120"/>
              </a:rPr>
              <a:t>難易度の高い物件タイプ別に明確な監理実績を持つ一級建築士事務所は極めて稀。紹介サイトには真似できない「格の違い」をLPにプロットする。</a:t>
            </a:r>
            <a:endParaRPr lang="en-US" sz="1200" dirty="0"/>
          </a:p>
        </p:txBody>
      </p:sp>
      <p:sp>
        <p:nvSpPr>
          <p:cNvPr id="18" name="Text 15"/>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出典：A-1設計 公式サイト「マンション大規模修繕工事・設計監理業務実績（2025年2月時点）」</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競合調査</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実績の過半（459件）が関西に集中——大阪を主戦場に据える強力な裏付けがある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15</a:t>
            </a:r>
            <a:endParaRPr lang="en-US" sz="900" dirty="0"/>
          </a:p>
        </p:txBody>
      </p:sp>
      <p:sp>
        <p:nvSpPr>
          <p:cNvPr id="11" name="Shape 9"/>
          <p:cNvSpPr/>
          <p:nvPr/>
        </p:nvSpPr>
        <p:spPr>
          <a:xfrm>
            <a:off x="457200" y="1874520"/>
            <a:ext cx="6949440"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640080" y="2011680"/>
            <a:ext cx="6583680" cy="320040"/>
          </a:xfrm>
          <a:prstGeom prst="rect">
            <a:avLst/>
          </a:prstGeom>
          <a:noFill/>
          <a:ln/>
        </p:spPr>
        <p:txBody>
          <a:bodyPr wrap="square" lIns="0" tIns="0" rIns="0" bIns="0" rtlCol="0" anchor="ctr"/>
          <a:lstStyle/>
          <a:p>
            <a:pPr indent="0" marL="0">
              <a:buNone/>
            </a:pPr>
            <a:r>
              <a:rPr lang="en-US" sz="1200" b="1" dirty="0">
                <a:solidFill>
                  <a:srgbClr val="1A2A5E"/>
                </a:solidFill>
                <a:latin typeface="Meiryo" pitchFamily="34" charset="0"/>
                <a:ea typeface="Meiryo" pitchFamily="34" charset="-122"/>
                <a:cs typeface="Meiryo" pitchFamily="34" charset="-120"/>
              </a:rPr>
              <a:t>エリア別 設計監理実績（件）</a:t>
            </a:r>
            <a:endParaRPr lang="en-US" sz="1200" dirty="0"/>
          </a:p>
        </p:txBody>
      </p:sp>
      <p:graphicFrame>
        <p:nvGraphicFramePr>
          <p:cNvPr id="13" name="Chart 0" descr=""/>
          <p:cNvGraphicFramePr/>
          <p:nvPr/>
        </p:nvGraphicFramePr>
        <p:xfrm>
          <a:off x="548640" y="2286000"/>
          <a:ext cx="6766560" cy="3657600"/>
        </p:xfrm>
        <a:graphic xmlns:a="http://schemas.openxmlformats.org/drawingml/2006/main">
          <a:graphicData uri="http://schemas.openxmlformats.org/drawingml/2006/chart">
            <c:chart xmlns:c="http://schemas.openxmlformats.org/drawingml/2006/chart" r:id="rId1"/>
          </a:graphicData>
        </a:graphic>
      </p:graphicFrame>
      <p:sp>
        <p:nvSpPr>
          <p:cNvPr id="14" name="Shape 11"/>
          <p:cNvSpPr/>
          <p:nvPr/>
        </p:nvSpPr>
        <p:spPr>
          <a:xfrm>
            <a:off x="7635240" y="1874520"/>
            <a:ext cx="4096512" cy="4160520"/>
          </a:xfrm>
          <a:prstGeom prst="roundRect">
            <a:avLst>
              <a:gd name="adj" fmla="val 1339"/>
            </a:avLst>
          </a:prstGeom>
          <a:solidFill>
            <a:srgbClr val="F1F3F8"/>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5" name="Text 12"/>
          <p:cNvSpPr/>
          <p:nvPr/>
        </p:nvSpPr>
        <p:spPr>
          <a:xfrm>
            <a:off x="7818120" y="2011680"/>
            <a:ext cx="3749040" cy="320040"/>
          </a:xfrm>
          <a:prstGeom prst="rect">
            <a:avLst/>
          </a:prstGeom>
          <a:noFill/>
          <a:ln/>
        </p:spPr>
        <p:txBody>
          <a:bodyPr wrap="square" lIns="0" tIns="0" rIns="0" bIns="0" rtlCol="0" anchor="ctr"/>
          <a:lstStyle/>
          <a:p>
            <a:pPr indent="0" marL="0">
              <a:buNone/>
            </a:pPr>
            <a:r>
              <a:rPr lang="en-US" sz="1200" b="1" dirty="0">
                <a:solidFill>
                  <a:srgbClr val="1A2A5E"/>
                </a:solidFill>
                <a:latin typeface="Meiryo" pitchFamily="34" charset="0"/>
                <a:ea typeface="Meiryo" pitchFamily="34" charset="-122"/>
                <a:cs typeface="Meiryo" pitchFamily="34" charset="-120"/>
              </a:rPr>
              <a:t>示唆</a:t>
            </a:r>
            <a:endParaRPr lang="en-US" sz="1200" dirty="0"/>
          </a:p>
        </p:txBody>
      </p:sp>
      <p:sp>
        <p:nvSpPr>
          <p:cNvPr id="16" name="Text 13"/>
          <p:cNvSpPr/>
          <p:nvPr/>
        </p:nvSpPr>
        <p:spPr>
          <a:xfrm>
            <a:off x="7818120" y="2377440"/>
            <a:ext cx="3749040" cy="3566160"/>
          </a:xfrm>
          <a:prstGeom prst="rect">
            <a:avLst/>
          </a:prstGeom>
          <a:noFill/>
          <a:ln/>
        </p:spPr>
        <p:txBody>
          <a:bodyPr wrap="square" lIns="0" tIns="0" rIns="0" bIns="0" rtlCol="0" anchor="t"/>
          <a:lstStyle/>
          <a:p>
            <a:pPr indent="0" marL="0">
              <a:lnSpc>
                <a:spcPct val="118000"/>
              </a:lnSpc>
              <a:spcAft>
                <a:spcPts val="800"/>
              </a:spcAft>
              <a:buNone/>
            </a:pPr>
            <a:r>
              <a:rPr lang="en-US" sz="1500" b="1" dirty="0">
                <a:solidFill>
                  <a:srgbClr val="F39800"/>
                </a:solidFill>
                <a:latin typeface="Meiryo" pitchFamily="34" charset="0"/>
                <a:ea typeface="Meiryo" pitchFamily="34" charset="-122"/>
                <a:cs typeface="Meiryo" pitchFamily="34" charset="-120"/>
              </a:rPr>
              <a:t>関西 459件（全体の約55%）</a:t>
            </a:r>
            <a:endParaRPr lang="en-US" sz="1200" dirty="0"/>
          </a:p>
          <a:p>
            <a:pPr indent="0" marL="0">
              <a:lnSpc>
                <a:spcPct val="118000"/>
              </a:lnSpc>
              <a:spcAft>
                <a:spcPts val="800"/>
              </a:spcAft>
              <a:buNone/>
            </a:pPr>
            <a:r>
              <a:rPr lang="en-US" sz="1200" dirty="0">
                <a:solidFill>
                  <a:srgbClr val="222222"/>
                </a:solidFill>
                <a:latin typeface="Meiryo" pitchFamily="34" charset="0"/>
                <a:ea typeface="Meiryo" pitchFamily="34" charset="-122"/>
                <a:cs typeface="Meiryo" pitchFamily="34" charset="-120"/>
              </a:rPr>
              <a:t>大阪本店を構えるA-1設計様は関西で圧倒的な地盤を持つ。地元での実績・信用が最も濃く、広告のクリック→問い合わせ転換率が最も高く見込める。</a:t>
            </a:r>
            <a:endParaRPr lang="en-US" sz="1200" dirty="0"/>
          </a:p>
          <a:p>
            <a:pPr indent="0" marL="0">
              <a:lnSpc>
                <a:spcPct val="118000"/>
              </a:lnSpc>
              <a:buNone/>
            </a:pPr>
            <a:r>
              <a:rPr lang="en-US" sz="1200" b="1" dirty="0">
                <a:solidFill>
                  <a:srgbClr val="1A2A5E"/>
                </a:solidFill>
                <a:latin typeface="Meiryo" pitchFamily="34" charset="0"/>
                <a:ea typeface="Meiryo" pitchFamily="34" charset="-122"/>
                <a:cs typeface="Meiryo" pitchFamily="34" charset="-120"/>
              </a:rPr>
              <a:t>→ まず大阪・関西を主戦場に予算を厚く配分し、確度の高い管理組合を刈り取る。</a:t>
            </a:r>
            <a:endParaRPr lang="en-US" sz="1200" dirty="0"/>
          </a:p>
        </p:txBody>
      </p:sp>
      <p:sp>
        <p:nvSpPr>
          <p:cNvPr id="17" name="Text 14"/>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出典：A-1設計 公式サイト 実績紹介（エリア別実績・2025年2月時点）</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ターゲット理解</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狙うのは大阪・関西の分譲マンション管理組合（理事会層）の“修繕検討の初動”</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16</a:t>
            </a:r>
            <a:endParaRPr lang="en-US" sz="900" dirty="0"/>
          </a:p>
        </p:txBody>
      </p:sp>
      <p:sp>
        <p:nvSpPr>
          <p:cNvPr id="11" name="Shape 9"/>
          <p:cNvSpPr/>
          <p:nvPr/>
        </p:nvSpPr>
        <p:spPr>
          <a:xfrm>
            <a:off x="457200" y="1874520"/>
            <a:ext cx="11274552" cy="914400"/>
          </a:xfrm>
          <a:prstGeom prst="roundRect">
            <a:avLst>
              <a:gd name="adj" fmla="val 6000"/>
            </a:avLst>
          </a:prstGeom>
          <a:solidFill>
            <a:srgbClr val="F1F3F8"/>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685800" y="1874520"/>
            <a:ext cx="10835640" cy="914400"/>
          </a:xfrm>
          <a:prstGeom prst="rect">
            <a:avLst/>
          </a:prstGeom>
          <a:noFill/>
          <a:ln/>
        </p:spPr>
        <p:txBody>
          <a:bodyPr wrap="square" lIns="0" tIns="0" rIns="0" bIns="0" rtlCol="0" anchor="ctr"/>
          <a:lstStyle/>
          <a:p>
            <a:pPr indent="0" marL="0">
              <a:lnSpc>
                <a:spcPct val="115000"/>
              </a:lnSpc>
              <a:buNone/>
            </a:pPr>
            <a:r>
              <a:rPr lang="en-US" sz="1200" b="1" dirty="0">
                <a:solidFill>
                  <a:srgbClr val="1A2A5E"/>
                </a:solidFill>
                <a:latin typeface="Meiryo" pitchFamily="34" charset="0"/>
                <a:ea typeface="Meiryo" pitchFamily="34" charset="-122"/>
                <a:cs typeface="Meiryo" pitchFamily="34" charset="-120"/>
              </a:rPr>
              <a:t>本命ターゲット：　</a:t>
            </a:r>
            <a:pPr indent="0" marL="0">
              <a:lnSpc>
                <a:spcPct val="115000"/>
              </a:lnSpc>
              <a:buNone/>
            </a:pPr>
            <a:r>
              <a:rPr lang="en-US" sz="1200" dirty="0">
                <a:solidFill>
                  <a:srgbClr val="222222"/>
                </a:solidFill>
                <a:latin typeface="Meiryo" pitchFamily="34" charset="0"/>
                <a:ea typeface="Meiryo" pitchFamily="34" charset="-122"/>
                <a:cs typeface="Meiryo" pitchFamily="34" charset="-120"/>
              </a:rPr>
              <a:t>築30〜40年前後の分譲マンションで大規模修繕を控える管理組合の理事・修繕委員。工事会社の見積もりに不安を持ち、中立な第三者の意見を探し始めた顕在層。</a:t>
            </a:r>
            <a:endParaRPr lang="en-US" sz="1200" dirty="0"/>
          </a:p>
        </p:txBody>
      </p:sp>
      <p:sp>
        <p:nvSpPr>
          <p:cNvPr id="13" name="Shape 11"/>
          <p:cNvSpPr/>
          <p:nvPr/>
        </p:nvSpPr>
        <p:spPr>
          <a:xfrm>
            <a:off x="457200" y="2971800"/>
            <a:ext cx="3602736" cy="3063240"/>
          </a:xfrm>
          <a:prstGeom prst="roundRect">
            <a:avLst>
              <a:gd name="adj" fmla="val 1791"/>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4" name="Shape 12"/>
          <p:cNvSpPr/>
          <p:nvPr/>
        </p:nvSpPr>
        <p:spPr>
          <a:xfrm>
            <a:off x="457200" y="2971800"/>
            <a:ext cx="3602736" cy="685800"/>
          </a:xfrm>
          <a:prstGeom prst="rect">
            <a:avLst/>
          </a:prstGeom>
          <a:solidFill>
            <a:srgbClr val="1A2A5E"/>
          </a:solidFill>
          <a:ln/>
        </p:spPr>
      </p:sp>
      <p:sp>
        <p:nvSpPr>
          <p:cNvPr id="15" name="Text 13"/>
          <p:cNvSpPr/>
          <p:nvPr/>
        </p:nvSpPr>
        <p:spPr>
          <a:xfrm>
            <a:off x="594360" y="3035808"/>
            <a:ext cx="822960" cy="548640"/>
          </a:xfrm>
          <a:prstGeom prst="rect">
            <a:avLst/>
          </a:prstGeom>
          <a:noFill/>
          <a:ln/>
        </p:spPr>
        <p:txBody>
          <a:bodyPr wrap="square" lIns="0" tIns="0" rIns="0" bIns="0" rtlCol="0" anchor="ctr"/>
          <a:lstStyle/>
          <a:p>
            <a:pPr indent="0" marL="0">
              <a:buNone/>
            </a:pPr>
            <a:r>
              <a:rPr lang="en-US" sz="2400" b="1" dirty="0">
                <a:solidFill>
                  <a:srgbClr val="F39800"/>
                </a:solidFill>
                <a:latin typeface="Meiryo" pitchFamily="34" charset="0"/>
                <a:ea typeface="Meiryo" pitchFamily="34" charset="-122"/>
                <a:cs typeface="Meiryo" pitchFamily="34" charset="-120"/>
              </a:rPr>
              <a:t>01</a:t>
            </a:r>
            <a:endParaRPr lang="en-US" sz="2400" dirty="0"/>
          </a:p>
        </p:txBody>
      </p:sp>
      <p:sp>
        <p:nvSpPr>
          <p:cNvPr id="16" name="Text 14"/>
          <p:cNvSpPr/>
          <p:nvPr/>
        </p:nvSpPr>
        <p:spPr>
          <a:xfrm>
            <a:off x="1371600" y="3035808"/>
            <a:ext cx="2596896" cy="548640"/>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検討初動層（顕在）</a:t>
            </a:r>
            <a:endParaRPr lang="en-US" sz="1250" dirty="0"/>
          </a:p>
        </p:txBody>
      </p:sp>
      <p:sp>
        <p:nvSpPr>
          <p:cNvPr id="17" name="Text 15"/>
          <p:cNvSpPr/>
          <p:nvPr/>
        </p:nvSpPr>
        <p:spPr>
          <a:xfrm>
            <a:off x="658368" y="3794760"/>
            <a:ext cx="3200400" cy="2103120"/>
          </a:xfrm>
          <a:prstGeom prst="rect">
            <a:avLst/>
          </a:prstGeom>
          <a:noFill/>
          <a:ln/>
        </p:spPr>
        <p:txBody>
          <a:bodyPr wrap="square" lIns="0" tIns="0" rIns="0" bIns="0" rtlCol="0" anchor="t"/>
          <a:lstStyle/>
          <a:p>
            <a:pPr indent="0" marL="0">
              <a:lnSpc>
                <a:spcPct val="115000"/>
              </a:lnSpc>
              <a:buNone/>
            </a:pPr>
            <a:r>
              <a:rPr lang="en-US" sz="1150" dirty="0">
                <a:solidFill>
                  <a:srgbClr val="222222"/>
                </a:solidFill>
                <a:latin typeface="Meiryo" pitchFamily="34" charset="0"/>
                <a:ea typeface="Meiryo" pitchFamily="34" charset="-122"/>
                <a:cs typeface="Meiryo" pitchFamily="34" charset="-120"/>
              </a:rPr>
              <a:t>「大規模修繕 費用／見積」「修繕 コンサル」等で情報収集を始めた理事会。無料診断・見積チェックで接触。</a:t>
            </a:r>
            <a:endParaRPr lang="en-US" sz="1150" dirty="0"/>
          </a:p>
        </p:txBody>
      </p:sp>
      <p:sp>
        <p:nvSpPr>
          <p:cNvPr id="18" name="Shape 16"/>
          <p:cNvSpPr/>
          <p:nvPr/>
        </p:nvSpPr>
        <p:spPr>
          <a:xfrm>
            <a:off x="4293108" y="2971800"/>
            <a:ext cx="3602736" cy="3063240"/>
          </a:xfrm>
          <a:prstGeom prst="roundRect">
            <a:avLst>
              <a:gd name="adj" fmla="val 1791"/>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9" name="Shape 17"/>
          <p:cNvSpPr/>
          <p:nvPr/>
        </p:nvSpPr>
        <p:spPr>
          <a:xfrm>
            <a:off x="4293108" y="2971800"/>
            <a:ext cx="3602736" cy="685800"/>
          </a:xfrm>
          <a:prstGeom prst="rect">
            <a:avLst/>
          </a:prstGeom>
          <a:solidFill>
            <a:srgbClr val="1A2A5E"/>
          </a:solidFill>
          <a:ln/>
        </p:spPr>
      </p:sp>
      <p:sp>
        <p:nvSpPr>
          <p:cNvPr id="20" name="Text 18"/>
          <p:cNvSpPr/>
          <p:nvPr/>
        </p:nvSpPr>
        <p:spPr>
          <a:xfrm>
            <a:off x="4430268" y="3035808"/>
            <a:ext cx="822960" cy="548640"/>
          </a:xfrm>
          <a:prstGeom prst="rect">
            <a:avLst/>
          </a:prstGeom>
          <a:noFill/>
          <a:ln/>
        </p:spPr>
        <p:txBody>
          <a:bodyPr wrap="square" lIns="0" tIns="0" rIns="0" bIns="0" rtlCol="0" anchor="ctr"/>
          <a:lstStyle/>
          <a:p>
            <a:pPr indent="0" marL="0">
              <a:buNone/>
            </a:pPr>
            <a:r>
              <a:rPr lang="en-US" sz="2400" b="1" dirty="0">
                <a:solidFill>
                  <a:srgbClr val="F39800"/>
                </a:solidFill>
                <a:latin typeface="Meiryo" pitchFamily="34" charset="0"/>
                <a:ea typeface="Meiryo" pitchFamily="34" charset="-122"/>
                <a:cs typeface="Meiryo" pitchFamily="34" charset="-120"/>
              </a:rPr>
              <a:t>02</a:t>
            </a:r>
            <a:endParaRPr lang="en-US" sz="2400" dirty="0"/>
          </a:p>
        </p:txBody>
      </p:sp>
      <p:sp>
        <p:nvSpPr>
          <p:cNvPr id="21" name="Text 19"/>
          <p:cNvSpPr/>
          <p:nvPr/>
        </p:nvSpPr>
        <p:spPr>
          <a:xfrm>
            <a:off x="5207508" y="3035808"/>
            <a:ext cx="2596896" cy="548640"/>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中立性を求める層</a:t>
            </a:r>
            <a:endParaRPr lang="en-US" sz="1250" dirty="0"/>
          </a:p>
        </p:txBody>
      </p:sp>
      <p:sp>
        <p:nvSpPr>
          <p:cNvPr id="22" name="Text 20"/>
          <p:cNvSpPr/>
          <p:nvPr/>
        </p:nvSpPr>
        <p:spPr>
          <a:xfrm>
            <a:off x="4494276" y="3794760"/>
            <a:ext cx="3200400" cy="2103120"/>
          </a:xfrm>
          <a:prstGeom prst="rect">
            <a:avLst/>
          </a:prstGeom>
          <a:noFill/>
          <a:ln/>
        </p:spPr>
        <p:txBody>
          <a:bodyPr wrap="square" lIns="0" tIns="0" rIns="0" bIns="0" rtlCol="0" anchor="t"/>
          <a:lstStyle/>
          <a:p>
            <a:pPr indent="0" marL="0">
              <a:lnSpc>
                <a:spcPct val="115000"/>
              </a:lnSpc>
              <a:buNone/>
            </a:pPr>
            <a:r>
              <a:rPr lang="en-US" sz="1150" dirty="0">
                <a:solidFill>
                  <a:srgbClr val="222222"/>
                </a:solidFill>
                <a:latin typeface="Meiryo" pitchFamily="34" charset="0"/>
                <a:ea typeface="Meiryo" pitchFamily="34" charset="-122"/>
                <a:cs typeface="Meiryo" pitchFamily="34" charset="-120"/>
              </a:rPr>
              <a:t>工事会社の提案に不信感。「設計監理」「第三者」「セカンドオピニオン」を求める層。A-1の強みが最も刺さる。</a:t>
            </a:r>
            <a:endParaRPr lang="en-US" sz="1150" dirty="0"/>
          </a:p>
        </p:txBody>
      </p:sp>
      <p:sp>
        <p:nvSpPr>
          <p:cNvPr id="23" name="Shape 21"/>
          <p:cNvSpPr/>
          <p:nvPr/>
        </p:nvSpPr>
        <p:spPr>
          <a:xfrm>
            <a:off x="8129016" y="2971800"/>
            <a:ext cx="3602736" cy="3063240"/>
          </a:xfrm>
          <a:prstGeom prst="roundRect">
            <a:avLst>
              <a:gd name="adj" fmla="val 1791"/>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24" name="Shape 22"/>
          <p:cNvSpPr/>
          <p:nvPr/>
        </p:nvSpPr>
        <p:spPr>
          <a:xfrm>
            <a:off x="8129016" y="2971800"/>
            <a:ext cx="3602736" cy="685800"/>
          </a:xfrm>
          <a:prstGeom prst="rect">
            <a:avLst/>
          </a:prstGeom>
          <a:solidFill>
            <a:srgbClr val="1A2A5E"/>
          </a:solidFill>
          <a:ln/>
        </p:spPr>
      </p:sp>
      <p:sp>
        <p:nvSpPr>
          <p:cNvPr id="25" name="Text 23"/>
          <p:cNvSpPr/>
          <p:nvPr/>
        </p:nvSpPr>
        <p:spPr>
          <a:xfrm>
            <a:off x="8266176" y="3035808"/>
            <a:ext cx="822960" cy="548640"/>
          </a:xfrm>
          <a:prstGeom prst="rect">
            <a:avLst/>
          </a:prstGeom>
          <a:noFill/>
          <a:ln/>
        </p:spPr>
        <p:txBody>
          <a:bodyPr wrap="square" lIns="0" tIns="0" rIns="0" bIns="0" rtlCol="0" anchor="ctr"/>
          <a:lstStyle/>
          <a:p>
            <a:pPr indent="0" marL="0">
              <a:buNone/>
            </a:pPr>
            <a:r>
              <a:rPr lang="en-US" sz="2400" b="1" dirty="0">
                <a:solidFill>
                  <a:srgbClr val="F39800"/>
                </a:solidFill>
                <a:latin typeface="Meiryo" pitchFamily="34" charset="0"/>
                <a:ea typeface="Meiryo" pitchFamily="34" charset="-122"/>
                <a:cs typeface="Meiryo" pitchFamily="34" charset="-120"/>
              </a:rPr>
              <a:t>03</a:t>
            </a:r>
            <a:endParaRPr lang="en-US" sz="2400" dirty="0"/>
          </a:p>
        </p:txBody>
      </p:sp>
      <p:sp>
        <p:nvSpPr>
          <p:cNvPr id="26" name="Text 24"/>
          <p:cNvSpPr/>
          <p:nvPr/>
        </p:nvSpPr>
        <p:spPr>
          <a:xfrm>
            <a:off x="9043416" y="3035808"/>
            <a:ext cx="2596896" cy="548640"/>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指名・再検討層</a:t>
            </a:r>
            <a:endParaRPr lang="en-US" sz="1250" dirty="0"/>
          </a:p>
        </p:txBody>
      </p:sp>
      <p:sp>
        <p:nvSpPr>
          <p:cNvPr id="27" name="Text 25"/>
          <p:cNvSpPr/>
          <p:nvPr/>
        </p:nvSpPr>
        <p:spPr>
          <a:xfrm>
            <a:off x="8330184" y="3794760"/>
            <a:ext cx="3200400" cy="2103120"/>
          </a:xfrm>
          <a:prstGeom prst="rect">
            <a:avLst/>
          </a:prstGeom>
          <a:noFill/>
          <a:ln/>
        </p:spPr>
        <p:txBody>
          <a:bodyPr wrap="square" lIns="0" tIns="0" rIns="0" bIns="0" rtlCol="0" anchor="t"/>
          <a:lstStyle/>
          <a:p>
            <a:pPr indent="0" marL="0">
              <a:lnSpc>
                <a:spcPct val="115000"/>
              </a:lnSpc>
              <a:buNone/>
            </a:pPr>
            <a:r>
              <a:rPr lang="en-US" sz="1150" dirty="0">
                <a:solidFill>
                  <a:srgbClr val="222222"/>
                </a:solidFill>
                <a:latin typeface="Meiryo" pitchFamily="34" charset="0"/>
                <a:ea typeface="Meiryo" pitchFamily="34" charset="-122"/>
                <a:cs typeface="Meiryo" pitchFamily="34" charset="-120"/>
              </a:rPr>
              <a:t>A-1設計／エーワン設計を既に認知。競合流出を防ぎ、実績（834組合）で背中を押す。</a:t>
            </a:r>
            <a:endParaRPr lang="en-US" sz="1150" dirty="0"/>
          </a:p>
        </p:txBody>
      </p:sp>
      <p:sp>
        <p:nvSpPr>
          <p:cNvPr id="28" name="Text 26"/>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参照元：お打ち合わせ議事録、A-1設計エリア別実績（関西459件）に基づくターゲット設計</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現状分析・要因分析</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4〜5年前の失敗は「無駄クリックを量産する配信設計」と「受け皿LPの不在」が原因</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17</a:t>
            </a:r>
            <a:endParaRPr lang="en-US" sz="900" dirty="0"/>
          </a:p>
        </p:txBody>
      </p:sp>
      <p:sp>
        <p:nvSpPr>
          <p:cNvPr id="11" name="Shape 9"/>
          <p:cNvSpPr/>
          <p:nvPr/>
        </p:nvSpPr>
        <p:spPr>
          <a:xfrm>
            <a:off x="457200" y="1874520"/>
            <a:ext cx="5440680"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Shape 10"/>
          <p:cNvSpPr/>
          <p:nvPr/>
        </p:nvSpPr>
        <p:spPr>
          <a:xfrm>
            <a:off x="457200" y="1874520"/>
            <a:ext cx="5440680" cy="548640"/>
          </a:xfrm>
          <a:prstGeom prst="rect">
            <a:avLst/>
          </a:prstGeom>
          <a:solidFill>
            <a:srgbClr val="1A2A5E"/>
          </a:solidFill>
          <a:ln/>
        </p:spPr>
      </p:sp>
      <p:sp>
        <p:nvSpPr>
          <p:cNvPr id="13" name="Text 11"/>
          <p:cNvSpPr/>
          <p:nvPr/>
        </p:nvSpPr>
        <p:spPr>
          <a:xfrm>
            <a:off x="457200" y="1874520"/>
            <a:ext cx="54406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過去のアプローチ（Before）</a:t>
            </a:r>
            <a:endParaRPr lang="en-US" sz="1400" dirty="0"/>
          </a:p>
        </p:txBody>
      </p:sp>
      <p:sp>
        <p:nvSpPr>
          <p:cNvPr id="14" name="Text 12"/>
          <p:cNvSpPr/>
          <p:nvPr/>
        </p:nvSpPr>
        <p:spPr>
          <a:xfrm>
            <a:off x="685800" y="2606040"/>
            <a:ext cx="5029200" cy="3291840"/>
          </a:xfrm>
          <a:prstGeom prst="rect">
            <a:avLst/>
          </a:prstGeom>
          <a:noFill/>
          <a:ln/>
        </p:spPr>
        <p:txBody>
          <a:bodyPr wrap="square" lIns="0" tIns="0" rIns="0" bIns="0" rtlCol="0" anchor="t"/>
          <a:lstStyle/>
          <a:p>
            <a:pPr marL="177800" indent="-177800">
              <a:lnSpc>
                <a:spcPct val="115000"/>
              </a:lnSpc>
              <a:spcAft>
                <a:spcPts val="500"/>
              </a:spcAft>
              <a:buSzPct val="100000"/>
              <a:buChar char="•"/>
            </a:pPr>
            <a:r>
              <a:rPr lang="en-US" sz="1200" b="1" dirty="0">
                <a:solidFill>
                  <a:srgbClr val="1A2A5E"/>
                </a:solidFill>
                <a:latin typeface="Meiryo" pitchFamily="34" charset="0"/>
                <a:ea typeface="Meiryo" pitchFamily="34" charset="-122"/>
                <a:cs typeface="Meiryo" pitchFamily="34" charset="-120"/>
              </a:rPr>
              <a:t>「大規模修繕」など検索意図が広すぎるヘッドKWに広範囲で出稿</a:t>
            </a:r>
            <a:endParaRPr lang="en-US" sz="1200" dirty="0"/>
          </a:p>
          <a:p>
            <a:pPr lvl="1" indent="0" marL="0">
              <a:lnSpc>
                <a:spcPct val="115000"/>
              </a:lnSpc>
              <a:spcAft>
                <a:spcPts val="1200"/>
              </a:spcAft>
              <a:buNone/>
            </a:pPr>
            <a:r>
              <a:rPr lang="en-US" sz="1200" dirty="0">
                <a:solidFill>
                  <a:srgbClr val="222222"/>
                </a:solidFill>
                <a:latin typeface="Meiryo" pitchFamily="34" charset="0"/>
                <a:ea typeface="Meiryo" pitchFamily="34" charset="-122"/>
                <a:cs typeface="Meiryo" pitchFamily="34" charset="-120"/>
              </a:rPr>
              <a:t>→ 施工業者探し・一般ユーザーの誤タップを量産し、CPCが高騰。</a:t>
            </a:r>
            <a:endParaRPr lang="en-US" sz="1200" dirty="0"/>
          </a:p>
          <a:p>
            <a:pPr marL="177800" indent="-177800">
              <a:lnSpc>
                <a:spcPct val="115000"/>
              </a:lnSpc>
              <a:spcAft>
                <a:spcPts val="500"/>
              </a:spcAft>
              <a:buSzPct val="100000"/>
              <a:buChar char="•"/>
            </a:pPr>
            <a:r>
              <a:rPr lang="en-US" sz="1200" b="1" dirty="0">
                <a:solidFill>
                  <a:srgbClr val="1A2A5E"/>
                </a:solidFill>
                <a:latin typeface="Meiryo" pitchFamily="34" charset="0"/>
                <a:ea typeface="Meiryo" pitchFamily="34" charset="-122"/>
                <a:cs typeface="Meiryo" pitchFamily="34" charset="-120"/>
              </a:rPr>
              <a:t>流入先をコーポレートサイトのトップに一括設定</a:t>
            </a:r>
            <a:endParaRPr lang="en-US" sz="1200" dirty="0"/>
          </a:p>
          <a:p>
            <a:pPr lvl="1" indent="0" marL="0">
              <a:lnSpc>
                <a:spcPct val="115000"/>
              </a:lnSpc>
              <a:buNone/>
            </a:pPr>
            <a:r>
              <a:rPr lang="en-US" sz="1200" dirty="0">
                <a:solidFill>
                  <a:srgbClr val="222222"/>
                </a:solidFill>
                <a:latin typeface="Meiryo" pitchFamily="34" charset="0"/>
                <a:ea typeface="Meiryo" pitchFamily="34" charset="-122"/>
                <a:cs typeface="Meiryo" pitchFamily="34" charset="-120"/>
              </a:rPr>
              <a:t>→ 中立な設計監理の強みが3秒で伝わらず直帰・離脱。CV地点も問い合わせのみでハードルが高い。</a:t>
            </a:r>
            <a:endParaRPr lang="en-US" sz="1200" dirty="0"/>
          </a:p>
        </p:txBody>
      </p:sp>
      <p:sp>
        <p:nvSpPr>
          <p:cNvPr id="15" name="Shape 13"/>
          <p:cNvSpPr/>
          <p:nvPr/>
        </p:nvSpPr>
        <p:spPr>
          <a:xfrm>
            <a:off x="6291072" y="1874520"/>
            <a:ext cx="5440680" cy="4160520"/>
          </a:xfrm>
          <a:prstGeom prst="roundRect">
            <a:avLst>
              <a:gd name="adj" fmla="val 1319"/>
            </a:avLst>
          </a:prstGeom>
          <a:solidFill>
            <a:srgbClr val="FCEAC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6" name="Shape 14"/>
          <p:cNvSpPr/>
          <p:nvPr/>
        </p:nvSpPr>
        <p:spPr>
          <a:xfrm>
            <a:off x="6291072" y="1874520"/>
            <a:ext cx="5440680" cy="548640"/>
          </a:xfrm>
          <a:prstGeom prst="rect">
            <a:avLst/>
          </a:prstGeom>
          <a:solidFill>
            <a:srgbClr val="F39800"/>
          </a:solidFill>
          <a:ln/>
        </p:spPr>
      </p:sp>
      <p:sp>
        <p:nvSpPr>
          <p:cNvPr id="17" name="Text 15"/>
          <p:cNvSpPr/>
          <p:nvPr/>
        </p:nvSpPr>
        <p:spPr>
          <a:xfrm>
            <a:off x="6291072" y="1874520"/>
            <a:ext cx="54406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今回の改善提案（After）</a:t>
            </a:r>
            <a:endParaRPr lang="en-US" sz="1400" dirty="0"/>
          </a:p>
        </p:txBody>
      </p:sp>
      <p:sp>
        <p:nvSpPr>
          <p:cNvPr id="18" name="Text 16"/>
          <p:cNvSpPr/>
          <p:nvPr/>
        </p:nvSpPr>
        <p:spPr>
          <a:xfrm>
            <a:off x="6519672" y="2606040"/>
            <a:ext cx="5029200" cy="3291840"/>
          </a:xfrm>
          <a:prstGeom prst="rect">
            <a:avLst/>
          </a:prstGeom>
          <a:noFill/>
          <a:ln/>
        </p:spPr>
        <p:txBody>
          <a:bodyPr wrap="square" lIns="0" tIns="0" rIns="0" bIns="0" rtlCol="0" anchor="t"/>
          <a:lstStyle/>
          <a:p>
            <a:pPr marL="177800" indent="-177800">
              <a:lnSpc>
                <a:spcPct val="115000"/>
              </a:lnSpc>
              <a:spcAft>
                <a:spcPts val="500"/>
              </a:spcAft>
              <a:buSzPct val="100000"/>
              <a:buChar char="•"/>
            </a:pPr>
            <a:r>
              <a:rPr lang="en-US" sz="1200" b="1" dirty="0">
                <a:solidFill>
                  <a:srgbClr val="9A5B00"/>
                </a:solidFill>
                <a:latin typeface="Meiryo" pitchFamily="34" charset="0"/>
                <a:ea typeface="Meiryo" pitchFamily="34" charset="-122"/>
                <a:cs typeface="Meiryo" pitchFamily="34" charset="-120"/>
              </a:rPr>
              <a:t>ロングテールKWの厳選</a:t>
            </a:r>
            <a:endParaRPr lang="en-US" sz="1200" dirty="0"/>
          </a:p>
          <a:p>
            <a:pPr lvl="1" indent="0" marL="0">
              <a:lnSpc>
                <a:spcPct val="115000"/>
              </a:lnSpc>
              <a:spcAft>
                <a:spcPts val="1200"/>
              </a:spcAft>
              <a:buNone/>
            </a:pPr>
            <a:r>
              <a:rPr lang="en-US" sz="1200" dirty="0">
                <a:solidFill>
                  <a:srgbClr val="222222"/>
                </a:solidFill>
                <a:latin typeface="Meiryo" pitchFamily="34" charset="0"/>
                <a:ea typeface="Meiryo" pitchFamily="34" charset="-122"/>
                <a:cs typeface="Meiryo" pitchFamily="34" charset="-120"/>
              </a:rPr>
              <a:t>「大規模修繕×大阪」「タワマン大規模修繕費用」「数量積算」等、意図が明確な掛け合わせに限定し無駄クリックを徹底カット。</a:t>
            </a:r>
            <a:endParaRPr lang="en-US" sz="1200" dirty="0"/>
          </a:p>
          <a:p>
            <a:pPr marL="177800" indent="-177800">
              <a:lnSpc>
                <a:spcPct val="115000"/>
              </a:lnSpc>
              <a:spcAft>
                <a:spcPts val="500"/>
              </a:spcAft>
              <a:buSzPct val="100000"/>
              <a:buChar char="•"/>
            </a:pPr>
            <a:r>
              <a:rPr lang="en-US" sz="1200" b="1" dirty="0">
                <a:solidFill>
                  <a:srgbClr val="9A5B00"/>
                </a:solidFill>
                <a:latin typeface="Meiryo" pitchFamily="34" charset="0"/>
                <a:ea typeface="Meiryo" pitchFamily="34" charset="-122"/>
                <a:cs typeface="Meiryo" pitchFamily="34" charset="-120"/>
              </a:rPr>
              <a:t>行動変容を促す専用LPの新規制作</a:t>
            </a:r>
            <a:endParaRPr lang="en-US" sz="1200" dirty="0"/>
          </a:p>
          <a:p>
            <a:pPr lvl="1" indent="0" marL="0">
              <a:lnSpc>
                <a:spcPct val="115000"/>
              </a:lnSpc>
              <a:buNone/>
            </a:pPr>
            <a:r>
              <a:rPr lang="en-US" sz="1200" dirty="0">
                <a:solidFill>
                  <a:srgbClr val="222222"/>
                </a:solidFill>
                <a:latin typeface="Meiryo" pitchFamily="34" charset="0"/>
                <a:ea typeface="Meiryo" pitchFamily="34" charset="-122"/>
                <a:cs typeface="Meiryo" pitchFamily="34" charset="-120"/>
              </a:rPr>
              <a:t>広告効果の7割を占める受け皿を新設。CV地点を「無料劣化診断」「無料見積チェック」に複線化する。</a:t>
            </a:r>
            <a:endParaRPr lang="en-US" sz="1200" dirty="0"/>
          </a:p>
        </p:txBody>
      </p:sp>
      <p:sp>
        <p:nvSpPr>
          <p:cNvPr id="19" name="Text 17"/>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参照元：貴社提供 過去配信レポート、お打ち合わせ議事録</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現状分析</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現状のコーポレートサイトは“抽象コピー先行×問い合わせ一択”で獲得に向かない</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18</a:t>
            </a:r>
            <a:endParaRPr lang="en-US" sz="900" dirty="0"/>
          </a:p>
        </p:txBody>
      </p:sp>
      <p:sp>
        <p:nvSpPr>
          <p:cNvPr id="11" name="Shape 9"/>
          <p:cNvSpPr/>
          <p:nvPr/>
        </p:nvSpPr>
        <p:spPr>
          <a:xfrm>
            <a:off x="457200" y="1874520"/>
            <a:ext cx="5440680"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Shape 10"/>
          <p:cNvSpPr/>
          <p:nvPr/>
        </p:nvSpPr>
        <p:spPr>
          <a:xfrm>
            <a:off x="457200" y="1874520"/>
            <a:ext cx="5440680" cy="548640"/>
          </a:xfrm>
          <a:prstGeom prst="rect">
            <a:avLst/>
          </a:prstGeom>
          <a:solidFill>
            <a:srgbClr val="1A2A5E"/>
          </a:solidFill>
          <a:ln/>
        </p:spPr>
      </p:sp>
      <p:sp>
        <p:nvSpPr>
          <p:cNvPr id="13" name="Text 11"/>
          <p:cNvSpPr/>
          <p:nvPr/>
        </p:nvSpPr>
        <p:spPr>
          <a:xfrm>
            <a:off x="457200" y="1874520"/>
            <a:ext cx="54406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現状サイト・課題（Before）</a:t>
            </a:r>
            <a:endParaRPr lang="en-US" sz="1400" dirty="0"/>
          </a:p>
        </p:txBody>
      </p:sp>
      <p:sp>
        <p:nvSpPr>
          <p:cNvPr id="14" name="Text 12"/>
          <p:cNvSpPr/>
          <p:nvPr/>
        </p:nvSpPr>
        <p:spPr>
          <a:xfrm>
            <a:off x="685800" y="2606040"/>
            <a:ext cx="5029200" cy="3291840"/>
          </a:xfrm>
          <a:prstGeom prst="rect">
            <a:avLst/>
          </a:prstGeom>
          <a:noFill/>
          <a:ln/>
        </p:spPr>
        <p:txBody>
          <a:bodyPr wrap="square" lIns="0" tIns="0" rIns="0" bIns="0" rtlCol="0" anchor="t"/>
          <a:lstStyle/>
          <a:p>
            <a:pPr marL="177800" indent="-177800">
              <a:lnSpc>
                <a:spcPct val="115000"/>
              </a:lnSpc>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トップがイントロ演出＋「全力伴走」等の抽象コピー先行で、何のサービスか3秒で伝わらない</a:t>
            </a:r>
            <a:endParaRPr lang="en-US" sz="1200" dirty="0"/>
          </a:p>
          <a:p>
            <a:pPr marL="177800" indent="-177800">
              <a:lnSpc>
                <a:spcPct val="115000"/>
              </a:lnSpc>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「一級建築士17名・834組合・中立」という強みがファーストビューで即断できない</a:t>
            </a:r>
            <a:endParaRPr lang="en-US" sz="1200" dirty="0"/>
          </a:p>
          <a:p>
            <a:pPr marL="177800" indent="-177800">
              <a:lnSpc>
                <a:spcPct val="115000"/>
              </a:lnSpc>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CVが「お問い合わせ」フォーム一択で、検討初期の理事会には心理的ハードルが高い</a:t>
            </a:r>
            <a:endParaRPr lang="en-US" sz="1200" dirty="0"/>
          </a:p>
        </p:txBody>
      </p:sp>
      <p:sp>
        <p:nvSpPr>
          <p:cNvPr id="15" name="Shape 13"/>
          <p:cNvSpPr/>
          <p:nvPr/>
        </p:nvSpPr>
        <p:spPr>
          <a:xfrm>
            <a:off x="6291072" y="1874520"/>
            <a:ext cx="5440680" cy="4160520"/>
          </a:xfrm>
          <a:prstGeom prst="roundRect">
            <a:avLst>
              <a:gd name="adj" fmla="val 1319"/>
            </a:avLst>
          </a:prstGeom>
          <a:solidFill>
            <a:srgbClr val="FCEAC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6" name="Shape 14"/>
          <p:cNvSpPr/>
          <p:nvPr/>
        </p:nvSpPr>
        <p:spPr>
          <a:xfrm>
            <a:off x="6291072" y="1874520"/>
            <a:ext cx="5440680" cy="548640"/>
          </a:xfrm>
          <a:prstGeom prst="rect">
            <a:avLst/>
          </a:prstGeom>
          <a:solidFill>
            <a:srgbClr val="F39800"/>
          </a:solidFill>
          <a:ln/>
        </p:spPr>
      </p:sp>
      <p:sp>
        <p:nvSpPr>
          <p:cNvPr id="17" name="Text 15"/>
          <p:cNvSpPr/>
          <p:nvPr/>
        </p:nvSpPr>
        <p:spPr>
          <a:xfrm>
            <a:off x="6291072" y="1874520"/>
            <a:ext cx="54406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専用LPでの改善（After）</a:t>
            </a:r>
            <a:endParaRPr lang="en-US" sz="1400" dirty="0"/>
          </a:p>
        </p:txBody>
      </p:sp>
      <p:sp>
        <p:nvSpPr>
          <p:cNvPr id="18" name="Text 16"/>
          <p:cNvSpPr/>
          <p:nvPr/>
        </p:nvSpPr>
        <p:spPr>
          <a:xfrm>
            <a:off x="6519672" y="2606040"/>
            <a:ext cx="5029200" cy="3291840"/>
          </a:xfrm>
          <a:prstGeom prst="rect">
            <a:avLst/>
          </a:prstGeom>
          <a:noFill/>
          <a:ln/>
        </p:spPr>
        <p:txBody>
          <a:bodyPr wrap="square" lIns="0" tIns="0" rIns="0" bIns="0" rtlCol="0" anchor="t"/>
          <a:lstStyle/>
          <a:p>
            <a:pPr marL="177800" indent="-177800">
              <a:lnSpc>
                <a:spcPct val="115000"/>
              </a:lnSpc>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FVで「工事をしない中立な一級建築士事務所／累計834組合」を3秒で提示</a:t>
            </a:r>
            <a:endParaRPr lang="en-US" sz="1200" dirty="0"/>
          </a:p>
          <a:p>
            <a:pPr marL="177800" indent="-177800">
              <a:lnSpc>
                <a:spcPct val="115000"/>
              </a:lnSpc>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CVを「無料劣化診断」「見積チェック（PDF添付）」に複線化しハードルを下げる</a:t>
            </a:r>
            <a:endParaRPr lang="en-US" sz="1200" dirty="0"/>
          </a:p>
          <a:p>
            <a:pPr marL="177800" indent="-177800">
              <a:lnSpc>
                <a:spcPct val="115000"/>
              </a:lnSpc>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悩み→施工と設計監理の違い→17名/11拠点/834組合の実績→組合の声、で態度変容</a:t>
            </a:r>
            <a:endParaRPr lang="en-US" sz="1200" dirty="0"/>
          </a:p>
        </p:txBody>
      </p:sp>
      <p:sp>
        <p:nvSpPr>
          <p:cNvPr id="19" name="Text 17"/>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参照元：A-1設計コーポレートサイト（a-1sekkei.com）目視調査</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WEBプロモーションのご提案</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「絞る→受け皿→面拡張」の3手で、無駄を消し確度の高い問い合わせだけを積み上げる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19</a:t>
            </a:r>
            <a:endParaRPr lang="en-US" sz="900" dirty="0"/>
          </a:p>
        </p:txBody>
      </p:sp>
      <p:sp>
        <p:nvSpPr>
          <p:cNvPr id="11" name="Shape 9"/>
          <p:cNvSpPr/>
          <p:nvPr/>
        </p:nvSpPr>
        <p:spPr>
          <a:xfrm>
            <a:off x="457200" y="1965960"/>
            <a:ext cx="3602736" cy="2880360"/>
          </a:xfrm>
          <a:prstGeom prst="roundRect">
            <a:avLst>
              <a:gd name="adj" fmla="val 1905"/>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Shape 10"/>
          <p:cNvSpPr/>
          <p:nvPr/>
        </p:nvSpPr>
        <p:spPr>
          <a:xfrm>
            <a:off x="457200" y="1965960"/>
            <a:ext cx="3602736" cy="731520"/>
          </a:xfrm>
          <a:prstGeom prst="rect">
            <a:avLst/>
          </a:prstGeom>
          <a:solidFill>
            <a:srgbClr val="1A2A5E"/>
          </a:solidFill>
          <a:ln/>
        </p:spPr>
      </p:sp>
      <p:sp>
        <p:nvSpPr>
          <p:cNvPr id="13" name="Text 11"/>
          <p:cNvSpPr/>
          <p:nvPr/>
        </p:nvSpPr>
        <p:spPr>
          <a:xfrm>
            <a:off x="640080" y="2039112"/>
            <a:ext cx="3236976" cy="292608"/>
          </a:xfrm>
          <a:prstGeom prst="rect">
            <a:avLst/>
          </a:prstGeom>
          <a:noFill/>
          <a:ln/>
        </p:spPr>
        <p:txBody>
          <a:bodyPr wrap="square" lIns="0" tIns="0" rIns="0" bIns="0" rtlCol="0" anchor="ctr"/>
          <a:lstStyle/>
          <a:p>
            <a:pPr indent="0" marL="0">
              <a:buNone/>
            </a:pPr>
            <a:r>
              <a:rPr lang="en-US" sz="1200" b="1" dirty="0">
                <a:solidFill>
                  <a:srgbClr val="F39800"/>
                </a:solidFill>
                <a:latin typeface="Meiryo" pitchFamily="34" charset="0"/>
                <a:ea typeface="Meiryo" pitchFamily="34" charset="-122"/>
                <a:cs typeface="Meiryo" pitchFamily="34" charset="-120"/>
              </a:rPr>
              <a:t>STEP 1</a:t>
            </a:r>
            <a:endParaRPr lang="en-US" sz="1200" dirty="0"/>
          </a:p>
        </p:txBody>
      </p:sp>
      <p:sp>
        <p:nvSpPr>
          <p:cNvPr id="14" name="Text 12"/>
          <p:cNvSpPr/>
          <p:nvPr/>
        </p:nvSpPr>
        <p:spPr>
          <a:xfrm>
            <a:off x="640080" y="2286000"/>
            <a:ext cx="3236976"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絞る</a:t>
            </a:r>
            <a:endParaRPr lang="en-US" sz="1800" dirty="0"/>
          </a:p>
        </p:txBody>
      </p:sp>
      <p:sp>
        <p:nvSpPr>
          <p:cNvPr id="15" name="Text 13"/>
          <p:cNvSpPr/>
          <p:nvPr/>
        </p:nvSpPr>
        <p:spPr>
          <a:xfrm>
            <a:off x="658368" y="2834640"/>
            <a:ext cx="3200400" cy="1874520"/>
          </a:xfrm>
          <a:prstGeom prst="rect">
            <a:avLst/>
          </a:prstGeom>
          <a:noFill/>
          <a:ln/>
        </p:spPr>
        <p:txBody>
          <a:bodyPr wrap="square" lIns="0" tIns="0" rIns="0" bIns="0" rtlCol="0" anchor="t"/>
          <a:lstStyle/>
          <a:p>
            <a:pPr indent="0" marL="0">
              <a:lnSpc>
                <a:spcPct val="115000"/>
              </a:lnSpc>
              <a:buNone/>
            </a:pPr>
            <a:r>
              <a:rPr lang="en-US" sz="1150" dirty="0">
                <a:solidFill>
                  <a:srgbClr val="222222"/>
                </a:solidFill>
                <a:latin typeface="Meiryo" pitchFamily="34" charset="0"/>
                <a:ea typeface="Meiryo" pitchFamily="34" charset="-122"/>
                <a:cs typeface="Meiryo" pitchFamily="34" charset="-120"/>
              </a:rPr>
              <a:t>「大規模修繕×エリア／費用／設計監理」等、意図が明確なロングテールへ限定。指名を100%防衛。</a:t>
            </a:r>
            <a:endParaRPr lang="en-US" sz="1150" dirty="0"/>
          </a:p>
        </p:txBody>
      </p:sp>
      <p:sp>
        <p:nvSpPr>
          <p:cNvPr id="16" name="Shape 14"/>
          <p:cNvSpPr/>
          <p:nvPr/>
        </p:nvSpPr>
        <p:spPr>
          <a:xfrm>
            <a:off x="4293108" y="1965960"/>
            <a:ext cx="3602736" cy="2880360"/>
          </a:xfrm>
          <a:prstGeom prst="roundRect">
            <a:avLst>
              <a:gd name="adj" fmla="val 1905"/>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7" name="Shape 15"/>
          <p:cNvSpPr/>
          <p:nvPr/>
        </p:nvSpPr>
        <p:spPr>
          <a:xfrm>
            <a:off x="4293108" y="1965960"/>
            <a:ext cx="3602736" cy="731520"/>
          </a:xfrm>
          <a:prstGeom prst="rect">
            <a:avLst/>
          </a:prstGeom>
          <a:solidFill>
            <a:srgbClr val="F39800"/>
          </a:solidFill>
          <a:ln/>
        </p:spPr>
      </p:sp>
      <p:sp>
        <p:nvSpPr>
          <p:cNvPr id="18" name="Text 16"/>
          <p:cNvSpPr/>
          <p:nvPr/>
        </p:nvSpPr>
        <p:spPr>
          <a:xfrm>
            <a:off x="4475988" y="2039112"/>
            <a:ext cx="3236976" cy="292608"/>
          </a:xfrm>
          <a:prstGeom prst="rect">
            <a:avLst/>
          </a:prstGeom>
          <a:noFill/>
          <a:ln/>
        </p:spPr>
        <p:txBody>
          <a:bodyPr wrap="square" lIns="0" tIns="0" rIns="0" bIns="0" rtlCol="0" anchor="ctr"/>
          <a:lstStyle/>
          <a:p>
            <a:pPr indent="0" marL="0">
              <a:buNone/>
            </a:pPr>
            <a:r>
              <a:rPr lang="en-US" sz="1200" b="1" dirty="0">
                <a:solidFill>
                  <a:srgbClr val="FFFFFF"/>
                </a:solidFill>
                <a:latin typeface="Meiryo" pitchFamily="34" charset="0"/>
                <a:ea typeface="Meiryo" pitchFamily="34" charset="-122"/>
                <a:cs typeface="Meiryo" pitchFamily="34" charset="-120"/>
              </a:rPr>
              <a:t>STEP 2</a:t>
            </a:r>
            <a:endParaRPr lang="en-US" sz="1200" dirty="0"/>
          </a:p>
        </p:txBody>
      </p:sp>
      <p:sp>
        <p:nvSpPr>
          <p:cNvPr id="19" name="Text 17"/>
          <p:cNvSpPr/>
          <p:nvPr/>
        </p:nvSpPr>
        <p:spPr>
          <a:xfrm>
            <a:off x="4475988" y="2286000"/>
            <a:ext cx="3236976"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受け皿</a:t>
            </a:r>
            <a:endParaRPr lang="en-US" sz="1800" dirty="0"/>
          </a:p>
        </p:txBody>
      </p:sp>
      <p:sp>
        <p:nvSpPr>
          <p:cNvPr id="20" name="Text 18"/>
          <p:cNvSpPr/>
          <p:nvPr/>
        </p:nvSpPr>
        <p:spPr>
          <a:xfrm>
            <a:off x="4494276" y="2834640"/>
            <a:ext cx="3200400" cy="1874520"/>
          </a:xfrm>
          <a:prstGeom prst="rect">
            <a:avLst/>
          </a:prstGeom>
          <a:noFill/>
          <a:ln/>
        </p:spPr>
        <p:txBody>
          <a:bodyPr wrap="square" lIns="0" tIns="0" rIns="0" bIns="0" rtlCol="0" anchor="t"/>
          <a:lstStyle/>
          <a:p>
            <a:pPr indent="0" marL="0">
              <a:lnSpc>
                <a:spcPct val="115000"/>
              </a:lnSpc>
              <a:buNone/>
            </a:pPr>
            <a:r>
              <a:rPr lang="en-US" sz="1150" dirty="0">
                <a:solidFill>
                  <a:srgbClr val="222222"/>
                </a:solidFill>
                <a:latin typeface="Meiryo" pitchFamily="34" charset="0"/>
                <a:ea typeface="Meiryo" pitchFamily="34" charset="-122"/>
                <a:cs typeface="Meiryo" pitchFamily="34" charset="-120"/>
              </a:rPr>
              <a:t>効果の7割を占める専用LPを新設。CVを無料診断・見積チェックに複線化しCVRを引き上げる。</a:t>
            </a:r>
            <a:endParaRPr lang="en-US" sz="1150" dirty="0"/>
          </a:p>
        </p:txBody>
      </p:sp>
      <p:sp>
        <p:nvSpPr>
          <p:cNvPr id="21" name="Shape 19"/>
          <p:cNvSpPr/>
          <p:nvPr/>
        </p:nvSpPr>
        <p:spPr>
          <a:xfrm>
            <a:off x="8129016" y="1965960"/>
            <a:ext cx="3602736" cy="2880360"/>
          </a:xfrm>
          <a:prstGeom prst="roundRect">
            <a:avLst>
              <a:gd name="adj" fmla="val 1905"/>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22" name="Shape 20"/>
          <p:cNvSpPr/>
          <p:nvPr/>
        </p:nvSpPr>
        <p:spPr>
          <a:xfrm>
            <a:off x="8129016" y="1965960"/>
            <a:ext cx="3602736" cy="731520"/>
          </a:xfrm>
          <a:prstGeom prst="rect">
            <a:avLst/>
          </a:prstGeom>
          <a:solidFill>
            <a:srgbClr val="1A2A5E"/>
          </a:solidFill>
          <a:ln/>
        </p:spPr>
      </p:sp>
      <p:sp>
        <p:nvSpPr>
          <p:cNvPr id="23" name="Text 21"/>
          <p:cNvSpPr/>
          <p:nvPr/>
        </p:nvSpPr>
        <p:spPr>
          <a:xfrm>
            <a:off x="8311896" y="2039112"/>
            <a:ext cx="3236976" cy="292608"/>
          </a:xfrm>
          <a:prstGeom prst="rect">
            <a:avLst/>
          </a:prstGeom>
          <a:noFill/>
          <a:ln/>
        </p:spPr>
        <p:txBody>
          <a:bodyPr wrap="square" lIns="0" tIns="0" rIns="0" bIns="0" rtlCol="0" anchor="ctr"/>
          <a:lstStyle/>
          <a:p>
            <a:pPr indent="0" marL="0">
              <a:buNone/>
            </a:pPr>
            <a:r>
              <a:rPr lang="en-US" sz="1200" b="1" dirty="0">
                <a:solidFill>
                  <a:srgbClr val="F39800"/>
                </a:solidFill>
                <a:latin typeface="Meiryo" pitchFamily="34" charset="0"/>
                <a:ea typeface="Meiryo" pitchFamily="34" charset="-122"/>
                <a:cs typeface="Meiryo" pitchFamily="34" charset="-120"/>
              </a:rPr>
              <a:t>STEP 3</a:t>
            </a:r>
            <a:endParaRPr lang="en-US" sz="1200" dirty="0"/>
          </a:p>
        </p:txBody>
      </p:sp>
      <p:sp>
        <p:nvSpPr>
          <p:cNvPr id="24" name="Text 22"/>
          <p:cNvSpPr/>
          <p:nvPr/>
        </p:nvSpPr>
        <p:spPr>
          <a:xfrm>
            <a:off x="8311896" y="2286000"/>
            <a:ext cx="3236976"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面拡張</a:t>
            </a:r>
            <a:endParaRPr lang="en-US" sz="1800" dirty="0"/>
          </a:p>
        </p:txBody>
      </p:sp>
      <p:sp>
        <p:nvSpPr>
          <p:cNvPr id="25" name="Text 23"/>
          <p:cNvSpPr/>
          <p:nvPr/>
        </p:nvSpPr>
        <p:spPr>
          <a:xfrm>
            <a:off x="8330184" y="2834640"/>
            <a:ext cx="3200400" cy="1874520"/>
          </a:xfrm>
          <a:prstGeom prst="rect">
            <a:avLst/>
          </a:prstGeom>
          <a:noFill/>
          <a:ln/>
        </p:spPr>
        <p:txBody>
          <a:bodyPr wrap="square" lIns="0" tIns="0" rIns="0" bIns="0" rtlCol="0" anchor="t"/>
          <a:lstStyle/>
          <a:p>
            <a:pPr indent="0" marL="0">
              <a:lnSpc>
                <a:spcPct val="115000"/>
              </a:lnSpc>
              <a:buNone/>
            </a:pPr>
            <a:r>
              <a:rPr lang="en-US" sz="1150" dirty="0">
                <a:solidFill>
                  <a:srgbClr val="222222"/>
                </a:solidFill>
                <a:latin typeface="Meiryo" pitchFamily="34" charset="0"/>
                <a:ea typeface="Meiryo" pitchFamily="34" charset="-122"/>
                <a:cs typeface="Meiryo" pitchFamily="34" charset="-120"/>
              </a:rPr>
              <a:t>P-MAXで管理組合・理事会層の潜在層へAI最適化配信。検索の一歩手前まで面を広げる。</a:t>
            </a:r>
            <a:endParaRPr lang="en-US" sz="1150" dirty="0"/>
          </a:p>
        </p:txBody>
      </p:sp>
      <p:sp>
        <p:nvSpPr>
          <p:cNvPr id="26" name="Shape 24"/>
          <p:cNvSpPr/>
          <p:nvPr/>
        </p:nvSpPr>
        <p:spPr>
          <a:xfrm>
            <a:off x="457200" y="5029200"/>
            <a:ext cx="11274552" cy="1005840"/>
          </a:xfrm>
          <a:prstGeom prst="roundRect">
            <a:avLst>
              <a:gd name="adj" fmla="val 5455"/>
            </a:avLst>
          </a:prstGeom>
          <a:solidFill>
            <a:srgbClr val="1A2A5E"/>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27" name="Text 25"/>
          <p:cNvSpPr/>
          <p:nvPr/>
        </p:nvSpPr>
        <p:spPr>
          <a:xfrm>
            <a:off x="685800" y="5029200"/>
            <a:ext cx="10835640" cy="1005840"/>
          </a:xfrm>
          <a:prstGeom prst="rect">
            <a:avLst/>
          </a:prstGeom>
          <a:noFill/>
          <a:ln/>
        </p:spPr>
        <p:txBody>
          <a:bodyPr wrap="square" lIns="0" tIns="0" rIns="0" bIns="0" rtlCol="0" anchor="ctr"/>
          <a:lstStyle/>
          <a:p>
            <a:pPr indent="0" marL="0">
              <a:lnSpc>
                <a:spcPct val="112000"/>
              </a:lnSpc>
              <a:buNone/>
            </a:pPr>
            <a:r>
              <a:rPr lang="en-US" sz="1300" b="1" dirty="0">
                <a:solidFill>
                  <a:srgbClr val="F39800"/>
                </a:solidFill>
                <a:latin typeface="Meiryo" pitchFamily="34" charset="0"/>
                <a:ea typeface="Meiryo" pitchFamily="34" charset="-122"/>
                <a:cs typeface="Meiryo" pitchFamily="34" charset="-120"/>
              </a:rPr>
              <a:t>目標：　</a:t>
            </a:r>
            <a:pPr indent="0" marL="0">
              <a:lnSpc>
                <a:spcPct val="112000"/>
              </a:lnSpc>
              <a:buNone/>
            </a:pPr>
            <a:r>
              <a:rPr lang="en-US" sz="1300" b="1" dirty="0">
                <a:solidFill>
                  <a:srgbClr val="FFFFFF"/>
                </a:solidFill>
                <a:latin typeface="Meiryo" pitchFamily="34" charset="0"/>
                <a:ea typeface="Meiryo" pitchFamily="34" charset="-122"/>
                <a:cs typeface="Meiryo" pitchFamily="34" charset="-120"/>
              </a:rPr>
              <a:t>本命CVを「無料診断・見積チェック（＝実商談に近い問い合わせ）」に再定義し、現状CPA 約200,000円 → 目標CPA 50,000円 を目指す。</a:t>
            </a:r>
            <a:endParaRPr lang="en-US" sz="1300" dirty="0"/>
          </a:p>
        </p:txBody>
      </p:sp>
      <p:sp>
        <p:nvSpPr>
          <p:cNvPr id="28" name="Text 26"/>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参照元：お打ち合わせ議事録、Google広告 過去データに基づく方針</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WEBプロモーションのご提案</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指名／大規模修繕コア×エリア／P-MAX の3構成で、確度順に予算を集中投下する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20</a:t>
            </a:r>
            <a:endParaRPr lang="en-US" sz="900" dirty="0"/>
          </a:p>
        </p:txBody>
      </p:sp>
      <p:sp>
        <p:nvSpPr>
          <p:cNvPr id="11" name="Shape 9"/>
          <p:cNvSpPr/>
          <p:nvPr/>
        </p:nvSpPr>
        <p:spPr>
          <a:xfrm>
            <a:off x="457200" y="1874520"/>
            <a:ext cx="3602736" cy="4160520"/>
          </a:xfrm>
          <a:prstGeom prst="roundRect">
            <a:avLst>
              <a:gd name="adj" fmla="val 1523"/>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Shape 10"/>
          <p:cNvSpPr/>
          <p:nvPr/>
        </p:nvSpPr>
        <p:spPr>
          <a:xfrm>
            <a:off x="457200" y="1874520"/>
            <a:ext cx="3602736" cy="777240"/>
          </a:xfrm>
          <a:prstGeom prst="rect">
            <a:avLst/>
          </a:prstGeom>
          <a:solidFill>
            <a:srgbClr val="1A2A5E"/>
          </a:solidFill>
          <a:ln/>
        </p:spPr>
      </p:sp>
      <p:sp>
        <p:nvSpPr>
          <p:cNvPr id="13" name="Text 11"/>
          <p:cNvSpPr/>
          <p:nvPr/>
        </p:nvSpPr>
        <p:spPr>
          <a:xfrm>
            <a:off x="594360" y="1947672"/>
            <a:ext cx="914400" cy="640080"/>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01</a:t>
            </a:r>
            <a:endParaRPr lang="en-US" sz="2600" dirty="0"/>
          </a:p>
        </p:txBody>
      </p:sp>
      <p:sp>
        <p:nvSpPr>
          <p:cNvPr id="14" name="Text 12"/>
          <p:cNvSpPr/>
          <p:nvPr/>
        </p:nvSpPr>
        <p:spPr>
          <a:xfrm>
            <a:off x="1417320" y="1947672"/>
            <a:ext cx="2551176" cy="640080"/>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指名・コア</a:t>
            </a:r>
            <a:endParaRPr lang="en-US" sz="1250" dirty="0"/>
          </a:p>
        </p:txBody>
      </p:sp>
      <p:sp>
        <p:nvSpPr>
          <p:cNvPr id="15" name="Text 13"/>
          <p:cNvSpPr/>
          <p:nvPr/>
        </p:nvSpPr>
        <p:spPr>
          <a:xfrm>
            <a:off x="640080" y="2788920"/>
            <a:ext cx="3236976" cy="457200"/>
          </a:xfrm>
          <a:prstGeom prst="rect">
            <a:avLst/>
          </a:prstGeom>
          <a:noFill/>
          <a:ln/>
        </p:spPr>
        <p:txBody>
          <a:bodyPr wrap="square" lIns="0" tIns="0" rIns="0" bIns="0" rtlCol="0" anchor="ctr"/>
          <a:lstStyle/>
          <a:p>
            <a:pPr indent="0" marL="0">
              <a:buNone/>
            </a:pPr>
            <a:r>
              <a:rPr lang="en-US" sz="1600" b="1" dirty="0">
                <a:solidFill>
                  <a:srgbClr val="1A2A5E"/>
                </a:solidFill>
                <a:latin typeface="Meiryo" pitchFamily="34" charset="0"/>
                <a:ea typeface="Meiryo" pitchFamily="34" charset="-122"/>
                <a:cs typeface="Meiryo" pitchFamily="34" charset="-120"/>
              </a:rPr>
              <a:t>予算 25%</a:t>
            </a:r>
            <a:endParaRPr lang="en-US" sz="1600" dirty="0"/>
          </a:p>
        </p:txBody>
      </p:sp>
      <p:sp>
        <p:nvSpPr>
          <p:cNvPr id="16" name="Text 14"/>
          <p:cNvSpPr/>
          <p:nvPr/>
        </p:nvSpPr>
        <p:spPr>
          <a:xfrm>
            <a:off x="685800" y="3337560"/>
            <a:ext cx="3145536" cy="2560320"/>
          </a:xfrm>
          <a:prstGeom prst="rect">
            <a:avLst/>
          </a:prstGeom>
          <a:noFill/>
          <a:ln/>
        </p:spPr>
        <p:txBody>
          <a:bodyPr wrap="square" lIns="0" tIns="0" rIns="0" bIns="0" rtlCol="0" anchor="t"/>
          <a:lstStyle/>
          <a:p>
            <a:pPr marL="177800" indent="-177800">
              <a:lnSpc>
                <a:spcPct val="112000"/>
              </a:lnSpc>
              <a:spcAft>
                <a:spcPts val="500"/>
              </a:spcAft>
              <a:buSzPct val="100000"/>
              <a:buChar char="•"/>
            </a:pPr>
            <a:r>
              <a:rPr lang="en-US" sz="1150" dirty="0">
                <a:solidFill>
                  <a:srgbClr val="222222"/>
                </a:solidFill>
                <a:latin typeface="Meiryo" pitchFamily="34" charset="0"/>
                <a:ea typeface="Meiryo" pitchFamily="34" charset="-122"/>
                <a:cs typeface="Meiryo" pitchFamily="34" charset="-120"/>
              </a:rPr>
              <a:t>A-1設計 / エーワン設計 等の指名語句</a:t>
            </a:r>
            <a:endParaRPr lang="en-US" sz="1150" dirty="0"/>
          </a:p>
          <a:p>
            <a:pPr marL="177800" indent="-177800">
              <a:lnSpc>
                <a:spcPct val="112000"/>
              </a:lnSpc>
              <a:spcAft>
                <a:spcPts val="500"/>
              </a:spcAft>
              <a:buSzPct val="100000"/>
              <a:buChar char="•"/>
            </a:pPr>
            <a:r>
              <a:rPr lang="en-US" sz="1150" dirty="0">
                <a:solidFill>
                  <a:srgbClr val="222222"/>
                </a:solidFill>
                <a:latin typeface="Meiryo" pitchFamily="34" charset="0"/>
                <a:ea typeface="Meiryo" pitchFamily="34" charset="-122"/>
                <a:cs typeface="Meiryo" pitchFamily="34" charset="-120"/>
              </a:rPr>
              <a:t>認知・検討層の競合流出を100%防ぐ</a:t>
            </a:r>
            <a:endParaRPr lang="en-US" sz="1150" dirty="0"/>
          </a:p>
        </p:txBody>
      </p:sp>
      <p:sp>
        <p:nvSpPr>
          <p:cNvPr id="17" name="Shape 15"/>
          <p:cNvSpPr/>
          <p:nvPr/>
        </p:nvSpPr>
        <p:spPr>
          <a:xfrm>
            <a:off x="4293108" y="1874520"/>
            <a:ext cx="3602736" cy="4160520"/>
          </a:xfrm>
          <a:prstGeom prst="roundRect">
            <a:avLst>
              <a:gd name="adj" fmla="val 1523"/>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8" name="Shape 16"/>
          <p:cNvSpPr/>
          <p:nvPr/>
        </p:nvSpPr>
        <p:spPr>
          <a:xfrm>
            <a:off x="4293108" y="1874520"/>
            <a:ext cx="3602736" cy="777240"/>
          </a:xfrm>
          <a:prstGeom prst="rect">
            <a:avLst/>
          </a:prstGeom>
          <a:solidFill>
            <a:srgbClr val="F39800"/>
          </a:solidFill>
          <a:ln/>
        </p:spPr>
      </p:sp>
      <p:sp>
        <p:nvSpPr>
          <p:cNvPr id="19" name="Text 17"/>
          <p:cNvSpPr/>
          <p:nvPr/>
        </p:nvSpPr>
        <p:spPr>
          <a:xfrm>
            <a:off x="4430268" y="1947672"/>
            <a:ext cx="914400" cy="640080"/>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02</a:t>
            </a:r>
            <a:endParaRPr lang="en-US" sz="2600" dirty="0"/>
          </a:p>
        </p:txBody>
      </p:sp>
      <p:sp>
        <p:nvSpPr>
          <p:cNvPr id="20" name="Text 18"/>
          <p:cNvSpPr/>
          <p:nvPr/>
        </p:nvSpPr>
        <p:spPr>
          <a:xfrm>
            <a:off x="5253228" y="1947672"/>
            <a:ext cx="2551176" cy="640080"/>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大規模修繕コア×掛け合わせ</a:t>
            </a:r>
            <a:endParaRPr lang="en-US" sz="1250" dirty="0"/>
          </a:p>
        </p:txBody>
      </p:sp>
      <p:sp>
        <p:nvSpPr>
          <p:cNvPr id="21" name="Text 19"/>
          <p:cNvSpPr/>
          <p:nvPr/>
        </p:nvSpPr>
        <p:spPr>
          <a:xfrm>
            <a:off x="4475988" y="2788920"/>
            <a:ext cx="3236976" cy="457200"/>
          </a:xfrm>
          <a:prstGeom prst="rect">
            <a:avLst/>
          </a:prstGeom>
          <a:noFill/>
          <a:ln/>
        </p:spPr>
        <p:txBody>
          <a:bodyPr wrap="square" lIns="0" tIns="0" rIns="0" bIns="0" rtlCol="0" anchor="ctr"/>
          <a:lstStyle/>
          <a:p>
            <a:pPr indent="0" marL="0">
              <a:buNone/>
            </a:pPr>
            <a:r>
              <a:rPr lang="en-US" sz="1600" b="1" dirty="0">
                <a:solidFill>
                  <a:srgbClr val="F39800"/>
                </a:solidFill>
                <a:latin typeface="Meiryo" pitchFamily="34" charset="0"/>
                <a:ea typeface="Meiryo" pitchFamily="34" charset="-122"/>
                <a:cs typeface="Meiryo" pitchFamily="34" charset="-120"/>
              </a:rPr>
              <a:t>予算 50%</a:t>
            </a:r>
            <a:endParaRPr lang="en-US" sz="1600" dirty="0"/>
          </a:p>
        </p:txBody>
      </p:sp>
      <p:sp>
        <p:nvSpPr>
          <p:cNvPr id="22" name="Text 20"/>
          <p:cNvSpPr/>
          <p:nvPr/>
        </p:nvSpPr>
        <p:spPr>
          <a:xfrm>
            <a:off x="4521708" y="3337560"/>
            <a:ext cx="3145536" cy="2560320"/>
          </a:xfrm>
          <a:prstGeom prst="rect">
            <a:avLst/>
          </a:prstGeom>
          <a:noFill/>
          <a:ln/>
        </p:spPr>
        <p:txBody>
          <a:bodyPr wrap="square" lIns="0" tIns="0" rIns="0" bIns="0" rtlCol="0" anchor="t"/>
          <a:lstStyle/>
          <a:p>
            <a:pPr marL="177800" indent="-177800">
              <a:lnSpc>
                <a:spcPct val="112000"/>
              </a:lnSpc>
              <a:spcAft>
                <a:spcPts val="500"/>
              </a:spcAft>
              <a:buSzPct val="100000"/>
              <a:buChar char="•"/>
            </a:pPr>
            <a:r>
              <a:rPr lang="en-US" sz="1150" dirty="0">
                <a:solidFill>
                  <a:srgbClr val="222222"/>
                </a:solidFill>
                <a:latin typeface="Meiryo" pitchFamily="34" charset="0"/>
                <a:ea typeface="Meiryo" pitchFamily="34" charset="-122"/>
                <a:cs typeface="Meiryo" pitchFamily="34" charset="-120"/>
              </a:rPr>
              <a:t>大規模修繕×大阪／費用／設計監理／2回目</a:t>
            </a:r>
            <a:endParaRPr lang="en-US" sz="1150" dirty="0"/>
          </a:p>
          <a:p>
            <a:pPr marL="177800" indent="-177800">
              <a:lnSpc>
                <a:spcPct val="112000"/>
              </a:lnSpc>
              <a:spcAft>
                <a:spcPts val="500"/>
              </a:spcAft>
              <a:buSzPct val="100000"/>
              <a:buChar char="•"/>
            </a:pPr>
            <a:r>
              <a:rPr lang="en-US" sz="1150" dirty="0">
                <a:solidFill>
                  <a:srgbClr val="222222"/>
                </a:solidFill>
                <a:latin typeface="Meiryo" pitchFamily="34" charset="0"/>
                <a:ea typeface="Meiryo" pitchFamily="34" charset="-122"/>
                <a:cs typeface="Meiryo" pitchFamily="34" charset="-120"/>
              </a:rPr>
              <a:t>タワマン×大規模修繕／数量積算 等</a:t>
            </a:r>
            <a:endParaRPr lang="en-US" sz="1150" dirty="0"/>
          </a:p>
          <a:p>
            <a:pPr marL="177800" indent="-177800">
              <a:lnSpc>
                <a:spcPct val="112000"/>
              </a:lnSpc>
              <a:spcAft>
                <a:spcPts val="500"/>
              </a:spcAft>
              <a:buSzPct val="100000"/>
              <a:buChar char="•"/>
            </a:pPr>
            <a:r>
              <a:rPr lang="en-US" sz="1150" dirty="0">
                <a:solidFill>
                  <a:srgbClr val="222222"/>
                </a:solidFill>
                <a:latin typeface="Meiryo" pitchFamily="34" charset="0"/>
                <a:ea typeface="Meiryo" pitchFamily="34" charset="-122"/>
                <a:cs typeface="Meiryo" pitchFamily="34" charset="-120"/>
              </a:rPr>
              <a:t>完全・フレーズ一致で高CPCヘッドを回避</a:t>
            </a:r>
            <a:endParaRPr lang="en-US" sz="1150" dirty="0"/>
          </a:p>
        </p:txBody>
      </p:sp>
      <p:sp>
        <p:nvSpPr>
          <p:cNvPr id="23" name="Shape 21"/>
          <p:cNvSpPr/>
          <p:nvPr/>
        </p:nvSpPr>
        <p:spPr>
          <a:xfrm>
            <a:off x="8129016" y="1874520"/>
            <a:ext cx="3602736" cy="4160520"/>
          </a:xfrm>
          <a:prstGeom prst="roundRect">
            <a:avLst>
              <a:gd name="adj" fmla="val 1523"/>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24" name="Shape 22"/>
          <p:cNvSpPr/>
          <p:nvPr/>
        </p:nvSpPr>
        <p:spPr>
          <a:xfrm>
            <a:off x="8129016" y="1874520"/>
            <a:ext cx="3602736" cy="777240"/>
          </a:xfrm>
          <a:prstGeom prst="rect">
            <a:avLst/>
          </a:prstGeom>
          <a:solidFill>
            <a:srgbClr val="1A2A5E"/>
          </a:solidFill>
          <a:ln/>
        </p:spPr>
      </p:sp>
      <p:sp>
        <p:nvSpPr>
          <p:cNvPr id="25" name="Text 23"/>
          <p:cNvSpPr/>
          <p:nvPr/>
        </p:nvSpPr>
        <p:spPr>
          <a:xfrm>
            <a:off x="8266176" y="1947672"/>
            <a:ext cx="914400" cy="640080"/>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03</a:t>
            </a:r>
            <a:endParaRPr lang="en-US" sz="2600" dirty="0"/>
          </a:p>
        </p:txBody>
      </p:sp>
      <p:sp>
        <p:nvSpPr>
          <p:cNvPr id="26" name="Text 24"/>
          <p:cNvSpPr/>
          <p:nvPr/>
        </p:nvSpPr>
        <p:spPr>
          <a:xfrm>
            <a:off x="9089136" y="1947672"/>
            <a:ext cx="2551176" cy="640080"/>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P-MAX（面の拡張）</a:t>
            </a:r>
            <a:endParaRPr lang="en-US" sz="1250" dirty="0"/>
          </a:p>
        </p:txBody>
      </p:sp>
      <p:sp>
        <p:nvSpPr>
          <p:cNvPr id="27" name="Text 25"/>
          <p:cNvSpPr/>
          <p:nvPr/>
        </p:nvSpPr>
        <p:spPr>
          <a:xfrm>
            <a:off x="8311896" y="2788920"/>
            <a:ext cx="3236976" cy="457200"/>
          </a:xfrm>
          <a:prstGeom prst="rect">
            <a:avLst/>
          </a:prstGeom>
          <a:noFill/>
          <a:ln/>
        </p:spPr>
        <p:txBody>
          <a:bodyPr wrap="square" lIns="0" tIns="0" rIns="0" bIns="0" rtlCol="0" anchor="ctr"/>
          <a:lstStyle/>
          <a:p>
            <a:pPr indent="0" marL="0">
              <a:buNone/>
            </a:pPr>
            <a:r>
              <a:rPr lang="en-US" sz="1600" b="1" dirty="0">
                <a:solidFill>
                  <a:srgbClr val="1A2A5E"/>
                </a:solidFill>
                <a:latin typeface="Meiryo" pitchFamily="34" charset="0"/>
                <a:ea typeface="Meiryo" pitchFamily="34" charset="-122"/>
                <a:cs typeface="Meiryo" pitchFamily="34" charset="-120"/>
              </a:rPr>
              <a:t>予算 25%</a:t>
            </a:r>
            <a:endParaRPr lang="en-US" sz="1600" dirty="0"/>
          </a:p>
        </p:txBody>
      </p:sp>
      <p:sp>
        <p:nvSpPr>
          <p:cNvPr id="28" name="Text 26"/>
          <p:cNvSpPr/>
          <p:nvPr/>
        </p:nvSpPr>
        <p:spPr>
          <a:xfrm>
            <a:off x="8357616" y="3337560"/>
            <a:ext cx="3145536" cy="2560320"/>
          </a:xfrm>
          <a:prstGeom prst="rect">
            <a:avLst/>
          </a:prstGeom>
          <a:noFill/>
          <a:ln/>
        </p:spPr>
        <p:txBody>
          <a:bodyPr wrap="square" lIns="0" tIns="0" rIns="0" bIns="0" rtlCol="0" anchor="t"/>
          <a:lstStyle/>
          <a:p>
            <a:pPr marL="177800" indent="-177800">
              <a:lnSpc>
                <a:spcPct val="112000"/>
              </a:lnSpc>
              <a:spcAft>
                <a:spcPts val="500"/>
              </a:spcAft>
              <a:buSzPct val="100000"/>
              <a:buChar char="•"/>
            </a:pPr>
            <a:r>
              <a:rPr lang="en-US" sz="1150" dirty="0">
                <a:solidFill>
                  <a:srgbClr val="222222"/>
                </a:solidFill>
                <a:latin typeface="Meiryo" pitchFamily="34" charset="0"/>
                <a:ea typeface="Meiryo" pitchFamily="34" charset="-122"/>
                <a:cs typeface="Meiryo" pitchFamily="34" charset="-120"/>
              </a:rPr>
              <a:t>管理組合・理事会層をオーディエンス指定</a:t>
            </a:r>
            <a:endParaRPr lang="en-US" sz="1150" dirty="0"/>
          </a:p>
          <a:p>
            <a:pPr marL="177800" indent="-177800">
              <a:lnSpc>
                <a:spcPct val="112000"/>
              </a:lnSpc>
              <a:spcAft>
                <a:spcPts val="500"/>
              </a:spcAft>
              <a:buSzPct val="100000"/>
              <a:buChar char="•"/>
            </a:pPr>
            <a:r>
              <a:rPr lang="en-US" sz="1150" dirty="0">
                <a:solidFill>
                  <a:srgbClr val="222222"/>
                </a:solidFill>
                <a:latin typeface="Meiryo" pitchFamily="34" charset="0"/>
                <a:ea typeface="Meiryo" pitchFamily="34" charset="-122"/>
                <a:cs typeface="Meiryo" pitchFamily="34" charset="-120"/>
              </a:rPr>
              <a:t>無料診断オファーで潜在層へ自動最適化配信</a:t>
            </a:r>
            <a:endParaRPr lang="en-US" sz="1150" dirty="0"/>
          </a:p>
        </p:txBody>
      </p:sp>
      <p:sp>
        <p:nvSpPr>
          <p:cNvPr id="29" name="Text 27"/>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参照元：Googleキーワードプランナー（大阪・関西エリアの入札単価実測値）</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WEBプロモーションのご提案</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「失敗したくない」に、17名の一級建築士・834組合・中立という“事実”で応える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21</a:t>
            </a:r>
            <a:endParaRPr lang="en-US" sz="900" dirty="0"/>
          </a:p>
        </p:txBody>
      </p:sp>
      <p:sp>
        <p:nvSpPr>
          <p:cNvPr id="11" name="Shape 9"/>
          <p:cNvSpPr/>
          <p:nvPr/>
        </p:nvSpPr>
        <p:spPr>
          <a:xfrm>
            <a:off x="457200" y="1874520"/>
            <a:ext cx="5989320"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640080" y="2011680"/>
            <a:ext cx="5669280" cy="365760"/>
          </a:xfrm>
          <a:prstGeom prst="rect">
            <a:avLst/>
          </a:prstGeom>
          <a:noFill/>
          <a:ln/>
        </p:spPr>
        <p:txBody>
          <a:bodyPr wrap="square" lIns="0" tIns="0" rIns="0" bIns="0" rtlCol="0" anchor="ctr"/>
          <a:lstStyle/>
          <a:p>
            <a:pPr indent="0" marL="0">
              <a:buNone/>
            </a:pPr>
            <a:r>
              <a:rPr lang="en-US" sz="1300" b="1" dirty="0">
                <a:solidFill>
                  <a:srgbClr val="1A2A5E"/>
                </a:solidFill>
                <a:latin typeface="Meiryo" pitchFamily="34" charset="0"/>
                <a:ea typeface="Meiryo" pitchFamily="34" charset="-122"/>
                <a:cs typeface="Meiryo" pitchFamily="34" charset="-120"/>
              </a:rPr>
              <a:t>レスポンシブ検索広告（RSA）見出し案</a:t>
            </a:r>
            <a:endParaRPr lang="en-US" sz="1300" dirty="0"/>
          </a:p>
        </p:txBody>
      </p:sp>
      <p:sp>
        <p:nvSpPr>
          <p:cNvPr id="13" name="Text 11"/>
          <p:cNvSpPr/>
          <p:nvPr/>
        </p:nvSpPr>
        <p:spPr>
          <a:xfrm>
            <a:off x="731520" y="2423160"/>
            <a:ext cx="5532120" cy="352044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1180" dirty="0">
                <a:solidFill>
                  <a:srgbClr val="222222"/>
                </a:solidFill>
                <a:latin typeface="Meiryo" pitchFamily="34" charset="0"/>
                <a:ea typeface="Meiryo" pitchFamily="34" charset="-122"/>
                <a:cs typeface="Meiryo" pitchFamily="34" charset="-120"/>
              </a:rPr>
              <a:t>マンション大規模修繕コンサル</a:t>
            </a:r>
            <a:endParaRPr lang="en-US" sz="1180" dirty="0"/>
          </a:p>
          <a:p>
            <a:pPr marL="177800" indent="-177800">
              <a:lnSpc>
                <a:spcPct val="105000"/>
              </a:lnSpc>
              <a:spcAft>
                <a:spcPts val="500"/>
              </a:spcAft>
              <a:buSzPct val="100000"/>
              <a:buChar char="•"/>
            </a:pPr>
            <a:r>
              <a:rPr lang="en-US" sz="1180" dirty="0">
                <a:solidFill>
                  <a:srgbClr val="222222"/>
                </a:solidFill>
                <a:latin typeface="Meiryo" pitchFamily="34" charset="0"/>
                <a:ea typeface="Meiryo" pitchFamily="34" charset="-122"/>
                <a:cs typeface="Meiryo" pitchFamily="34" charset="-120"/>
              </a:rPr>
              <a:t>累計834管理組合の監理実績</a:t>
            </a:r>
            <a:endParaRPr lang="en-US" sz="1180" dirty="0"/>
          </a:p>
          <a:p>
            <a:pPr marL="177800" indent="-177800">
              <a:lnSpc>
                <a:spcPct val="105000"/>
              </a:lnSpc>
              <a:spcAft>
                <a:spcPts val="500"/>
              </a:spcAft>
              <a:buSzPct val="100000"/>
              <a:buChar char="•"/>
            </a:pPr>
            <a:r>
              <a:rPr lang="en-US" sz="1180" dirty="0">
                <a:solidFill>
                  <a:srgbClr val="222222"/>
                </a:solidFill>
                <a:latin typeface="Meiryo" pitchFamily="34" charset="0"/>
                <a:ea typeface="Meiryo" pitchFamily="34" charset="-122"/>
                <a:cs typeface="Meiryo" pitchFamily="34" charset="-120"/>
              </a:rPr>
              <a:t>一級建築士17名の設計事務所</a:t>
            </a:r>
            <a:endParaRPr lang="en-US" sz="1180" dirty="0"/>
          </a:p>
          <a:p>
            <a:pPr marL="177800" indent="-177800">
              <a:lnSpc>
                <a:spcPct val="105000"/>
              </a:lnSpc>
              <a:spcAft>
                <a:spcPts val="500"/>
              </a:spcAft>
              <a:buSzPct val="100000"/>
              <a:buChar char="•"/>
            </a:pPr>
            <a:r>
              <a:rPr lang="en-US" sz="1180" dirty="0">
                <a:solidFill>
                  <a:srgbClr val="222222"/>
                </a:solidFill>
                <a:latin typeface="Meiryo" pitchFamily="34" charset="0"/>
                <a:ea typeface="Meiryo" pitchFamily="34" charset="-122"/>
                <a:cs typeface="Meiryo" pitchFamily="34" charset="-120"/>
              </a:rPr>
              <a:t>工事ありきにいたしません</a:t>
            </a:r>
            <a:endParaRPr lang="en-US" sz="1180" dirty="0"/>
          </a:p>
          <a:p>
            <a:pPr marL="177800" indent="-177800">
              <a:lnSpc>
                <a:spcPct val="105000"/>
              </a:lnSpc>
              <a:spcAft>
                <a:spcPts val="500"/>
              </a:spcAft>
              <a:buSzPct val="100000"/>
              <a:buChar char="•"/>
            </a:pPr>
            <a:r>
              <a:rPr lang="en-US" sz="1180" dirty="0">
                <a:solidFill>
                  <a:srgbClr val="222222"/>
                </a:solidFill>
                <a:latin typeface="Meiryo" pitchFamily="34" charset="0"/>
                <a:ea typeface="Meiryo" pitchFamily="34" charset="-122"/>
                <a:cs typeface="Meiryo" pitchFamily="34" charset="-120"/>
              </a:rPr>
              <a:t>利害関係ゼロの第三者 劣化診断</a:t>
            </a:r>
            <a:endParaRPr lang="en-US" sz="1180" dirty="0"/>
          </a:p>
          <a:p>
            <a:pPr marL="177800" indent="-177800">
              <a:lnSpc>
                <a:spcPct val="105000"/>
              </a:lnSpc>
              <a:spcAft>
                <a:spcPts val="500"/>
              </a:spcAft>
              <a:buSzPct val="100000"/>
              <a:buChar char="•"/>
            </a:pPr>
            <a:r>
              <a:rPr lang="en-US" sz="1180" dirty="0">
                <a:solidFill>
                  <a:srgbClr val="222222"/>
                </a:solidFill>
                <a:latin typeface="Meiryo" pitchFamily="34" charset="0"/>
                <a:ea typeface="Meiryo" pitchFamily="34" charset="-122"/>
                <a:cs typeface="Meiryo" pitchFamily="34" charset="-120"/>
              </a:rPr>
              <a:t>修繕積立金の過剰工事を見抜く</a:t>
            </a:r>
            <a:endParaRPr lang="en-US" sz="1180" dirty="0"/>
          </a:p>
          <a:p>
            <a:pPr marL="177800" indent="-177800">
              <a:lnSpc>
                <a:spcPct val="105000"/>
              </a:lnSpc>
              <a:spcAft>
                <a:spcPts val="500"/>
              </a:spcAft>
              <a:buSzPct val="100000"/>
              <a:buChar char="•"/>
            </a:pPr>
            <a:r>
              <a:rPr lang="en-US" sz="1180" dirty="0">
                <a:solidFill>
                  <a:srgbClr val="222222"/>
                </a:solidFill>
                <a:latin typeface="Meiryo" pitchFamily="34" charset="0"/>
                <a:ea typeface="Meiryo" pitchFamily="34" charset="-122"/>
                <a:cs typeface="Meiryo" pitchFamily="34" charset="-120"/>
              </a:rPr>
              <a:t>タワー型・多棟型まで対応</a:t>
            </a:r>
            <a:endParaRPr lang="en-US" sz="1180" dirty="0"/>
          </a:p>
          <a:p>
            <a:pPr marL="177800" indent="-177800">
              <a:lnSpc>
                <a:spcPct val="105000"/>
              </a:lnSpc>
              <a:spcAft>
                <a:spcPts val="500"/>
              </a:spcAft>
              <a:buSzPct val="100000"/>
              <a:buChar char="•"/>
            </a:pPr>
            <a:r>
              <a:rPr lang="en-US" sz="1180" dirty="0">
                <a:solidFill>
                  <a:srgbClr val="222222"/>
                </a:solidFill>
                <a:latin typeface="Meiryo" pitchFamily="34" charset="0"/>
                <a:ea typeface="Meiryo" pitchFamily="34" charset="-122"/>
                <a:cs typeface="Meiryo" pitchFamily="34" charset="-120"/>
              </a:rPr>
              <a:t>まずは無料で劣化診断のご相談</a:t>
            </a:r>
            <a:endParaRPr lang="en-US" sz="1180" dirty="0"/>
          </a:p>
          <a:p>
            <a:pPr marL="177800" indent="-177800">
              <a:lnSpc>
                <a:spcPct val="105000"/>
              </a:lnSpc>
              <a:spcAft>
                <a:spcPts val="500"/>
              </a:spcAft>
              <a:buSzPct val="100000"/>
              <a:buChar char="•"/>
            </a:pPr>
            <a:r>
              <a:rPr lang="en-US" sz="1180" dirty="0">
                <a:solidFill>
                  <a:srgbClr val="222222"/>
                </a:solidFill>
                <a:latin typeface="Meiryo" pitchFamily="34" charset="0"/>
                <a:ea typeface="Meiryo" pitchFamily="34" charset="-122"/>
                <a:cs typeface="Meiryo" pitchFamily="34" charset="-120"/>
              </a:rPr>
              <a:t>修繕工事の見積りチェック無料</a:t>
            </a:r>
            <a:endParaRPr lang="en-US" sz="1180" dirty="0"/>
          </a:p>
          <a:p>
            <a:pPr marL="177800" indent="-177800">
              <a:lnSpc>
                <a:spcPct val="105000"/>
              </a:lnSpc>
              <a:spcAft>
                <a:spcPts val="500"/>
              </a:spcAft>
              <a:buSzPct val="100000"/>
              <a:buChar char="•"/>
            </a:pPr>
            <a:r>
              <a:rPr lang="en-US" sz="1180" dirty="0">
                <a:solidFill>
                  <a:srgbClr val="222222"/>
                </a:solidFill>
                <a:latin typeface="Meiryo" pitchFamily="34" charset="0"/>
                <a:ea typeface="Meiryo" pitchFamily="34" charset="-122"/>
                <a:cs typeface="Meiryo" pitchFamily="34" charset="-120"/>
              </a:rPr>
              <a:t>全国11拠点・大阪本店</a:t>
            </a:r>
            <a:endParaRPr lang="en-US" sz="1180" dirty="0"/>
          </a:p>
        </p:txBody>
      </p:sp>
      <p:sp>
        <p:nvSpPr>
          <p:cNvPr id="14" name="Shape 12"/>
          <p:cNvSpPr/>
          <p:nvPr/>
        </p:nvSpPr>
        <p:spPr>
          <a:xfrm>
            <a:off x="6629400" y="1874520"/>
            <a:ext cx="5102352" cy="4160520"/>
          </a:xfrm>
          <a:prstGeom prst="roundRect">
            <a:avLst>
              <a:gd name="adj" fmla="val 1319"/>
            </a:avLst>
          </a:prstGeom>
          <a:solidFill>
            <a:srgbClr val="F1F3F8"/>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5" name="Text 13"/>
          <p:cNvSpPr/>
          <p:nvPr/>
        </p:nvSpPr>
        <p:spPr>
          <a:xfrm>
            <a:off x="6812280" y="2011680"/>
            <a:ext cx="4754880" cy="365760"/>
          </a:xfrm>
          <a:prstGeom prst="rect">
            <a:avLst/>
          </a:prstGeom>
          <a:noFill/>
          <a:ln/>
        </p:spPr>
        <p:txBody>
          <a:bodyPr wrap="square" lIns="0" tIns="0" rIns="0" bIns="0" rtlCol="0" anchor="ctr"/>
          <a:lstStyle/>
          <a:p>
            <a:pPr indent="0" marL="0">
              <a:buNone/>
            </a:pPr>
            <a:r>
              <a:rPr lang="en-US" sz="1300" b="1" dirty="0">
                <a:solidFill>
                  <a:srgbClr val="1A2A5E"/>
                </a:solidFill>
                <a:latin typeface="Meiryo" pitchFamily="34" charset="0"/>
                <a:ea typeface="Meiryo" pitchFamily="34" charset="-122"/>
                <a:cs typeface="Meiryo" pitchFamily="34" charset="-120"/>
              </a:rPr>
              <a:t>説明文（TD）案</a:t>
            </a:r>
            <a:endParaRPr lang="en-US" sz="1300" dirty="0"/>
          </a:p>
        </p:txBody>
      </p:sp>
      <p:sp>
        <p:nvSpPr>
          <p:cNvPr id="16" name="Shape 14"/>
          <p:cNvSpPr/>
          <p:nvPr/>
        </p:nvSpPr>
        <p:spPr>
          <a:xfrm>
            <a:off x="6812280" y="2423160"/>
            <a:ext cx="4736592" cy="1417320"/>
          </a:xfrm>
          <a:prstGeom prst="roundRect">
            <a:avLst>
              <a:gd name="adj" fmla="val 3226"/>
            </a:avLst>
          </a:prstGeom>
          <a:solidFill>
            <a:srgbClr val="FFFFFF"/>
          </a:solidFill>
          <a:ln w="12700">
            <a:solidFill>
              <a:srgbClr val="D5D9E2"/>
            </a:solidFill>
            <a:prstDash val="solid"/>
          </a:ln>
        </p:spPr>
      </p:sp>
      <p:sp>
        <p:nvSpPr>
          <p:cNvPr id="17" name="Text 15"/>
          <p:cNvSpPr/>
          <p:nvPr/>
        </p:nvSpPr>
        <p:spPr>
          <a:xfrm>
            <a:off x="6967728" y="2514600"/>
            <a:ext cx="4425696" cy="1234440"/>
          </a:xfrm>
          <a:prstGeom prst="rect">
            <a:avLst/>
          </a:prstGeom>
          <a:noFill/>
          <a:ln/>
        </p:spPr>
        <p:txBody>
          <a:bodyPr wrap="square" lIns="0" tIns="0" rIns="0" bIns="0" rtlCol="0" anchor="ctr"/>
          <a:lstStyle/>
          <a:p>
            <a:pPr indent="0" marL="0">
              <a:lnSpc>
                <a:spcPct val="115000"/>
              </a:lnSpc>
              <a:spcAft>
                <a:spcPts val="300"/>
              </a:spcAft>
              <a:buNone/>
            </a:pPr>
            <a:r>
              <a:rPr lang="en-US" sz="1150" b="1" dirty="0">
                <a:solidFill>
                  <a:srgbClr val="1A2A5E"/>
                </a:solidFill>
                <a:latin typeface="Meiryo" pitchFamily="34" charset="0"/>
                <a:ea typeface="Meiryo" pitchFamily="34" charset="-122"/>
                <a:cs typeface="Meiryo" pitchFamily="34" charset="-120"/>
              </a:rPr>
              <a:t>施工を持たない一級建築士事務所（17名在籍）。</a:t>
            </a:r>
            <a:endParaRPr lang="en-US" sz="1150" dirty="0"/>
          </a:p>
          <a:p>
            <a:pPr indent="0" marL="0">
              <a:lnSpc>
                <a:spcPct val="115000"/>
              </a:lnSpc>
              <a:buNone/>
            </a:pPr>
            <a:r>
              <a:rPr lang="en-US" sz="1150" dirty="0">
                <a:solidFill>
                  <a:srgbClr val="222222"/>
                </a:solidFill>
                <a:latin typeface="Meiryo" pitchFamily="34" charset="0"/>
                <a:ea typeface="Meiryo" pitchFamily="34" charset="-122"/>
                <a:cs typeface="Meiryo" pitchFamily="34" charset="-120"/>
              </a:rPr>
              <a:t>利害関係ゼロの中立な立場から、大規模修繕の過剰な見積もりや手抜き工事を徹底チェックします。</a:t>
            </a:r>
            <a:endParaRPr lang="en-US" sz="1150" dirty="0"/>
          </a:p>
        </p:txBody>
      </p:sp>
      <p:sp>
        <p:nvSpPr>
          <p:cNvPr id="18" name="Shape 16"/>
          <p:cNvSpPr/>
          <p:nvPr/>
        </p:nvSpPr>
        <p:spPr>
          <a:xfrm>
            <a:off x="6812280" y="3977640"/>
            <a:ext cx="4736592" cy="1417320"/>
          </a:xfrm>
          <a:prstGeom prst="roundRect">
            <a:avLst>
              <a:gd name="adj" fmla="val 3226"/>
            </a:avLst>
          </a:prstGeom>
          <a:solidFill>
            <a:srgbClr val="FFFFFF"/>
          </a:solidFill>
          <a:ln w="12700">
            <a:solidFill>
              <a:srgbClr val="D5D9E2"/>
            </a:solidFill>
            <a:prstDash val="solid"/>
          </a:ln>
        </p:spPr>
      </p:sp>
      <p:sp>
        <p:nvSpPr>
          <p:cNvPr id="19" name="Text 17"/>
          <p:cNvSpPr/>
          <p:nvPr/>
        </p:nvSpPr>
        <p:spPr>
          <a:xfrm>
            <a:off x="6967728" y="4069080"/>
            <a:ext cx="4425696" cy="1234440"/>
          </a:xfrm>
          <a:prstGeom prst="rect">
            <a:avLst/>
          </a:prstGeom>
          <a:noFill/>
          <a:ln/>
        </p:spPr>
        <p:txBody>
          <a:bodyPr wrap="square" lIns="0" tIns="0" rIns="0" bIns="0" rtlCol="0" anchor="ctr"/>
          <a:lstStyle/>
          <a:p>
            <a:pPr indent="0" marL="0">
              <a:lnSpc>
                <a:spcPct val="115000"/>
              </a:lnSpc>
              <a:spcAft>
                <a:spcPts val="300"/>
              </a:spcAft>
              <a:buNone/>
            </a:pPr>
            <a:r>
              <a:rPr lang="en-US" sz="1150" b="1" dirty="0">
                <a:solidFill>
                  <a:srgbClr val="F39800"/>
                </a:solidFill>
                <a:latin typeface="Meiryo" pitchFamily="34" charset="0"/>
                <a:ea typeface="Meiryo" pitchFamily="34" charset="-122"/>
                <a:cs typeface="Meiryo" pitchFamily="34" charset="-120"/>
              </a:rPr>
              <a:t>累計834管理組合の設計監理実績。</a:t>
            </a:r>
            <a:endParaRPr lang="en-US" sz="1150" dirty="0"/>
          </a:p>
          <a:p>
            <a:pPr indent="0" marL="0">
              <a:lnSpc>
                <a:spcPct val="115000"/>
              </a:lnSpc>
              <a:buNone/>
            </a:pPr>
            <a:r>
              <a:rPr lang="en-US" sz="1150" dirty="0">
                <a:solidFill>
                  <a:srgbClr val="222222"/>
                </a:solidFill>
                <a:latin typeface="Meiryo" pitchFamily="34" charset="0"/>
                <a:ea typeface="Meiryo" pitchFamily="34" charset="-122"/>
                <a:cs typeface="Meiryo" pitchFamily="34" charset="-120"/>
              </a:rPr>
              <a:t>積立金不足にお悩みの管理組合様へ。工事ありきではない公正な劣化診断・見積チェックを無料で実施します。</a:t>
            </a:r>
            <a:endParaRPr lang="en-US" sz="1150" dirty="0"/>
          </a:p>
        </p:txBody>
      </p:sp>
      <p:sp>
        <p:nvSpPr>
          <p:cNvPr id="20" name="Text 18"/>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参照元：A-1設計コーポレートサイト（会社案内・強み・実績）分析</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WEBプロモーションのご提案</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情緒的な見せ方を廃し、FVで「中立な第三者に頼む安心」を即断させる専用LPを新設する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22</a:t>
            </a:r>
            <a:endParaRPr lang="en-US" sz="900" dirty="0"/>
          </a:p>
        </p:txBody>
      </p:sp>
      <p:sp>
        <p:nvSpPr>
          <p:cNvPr id="11" name="Shape 9"/>
          <p:cNvSpPr/>
          <p:nvPr/>
        </p:nvSpPr>
        <p:spPr>
          <a:xfrm>
            <a:off x="457200" y="1874520"/>
            <a:ext cx="5440680"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Shape 10"/>
          <p:cNvSpPr/>
          <p:nvPr/>
        </p:nvSpPr>
        <p:spPr>
          <a:xfrm>
            <a:off x="457200" y="1874520"/>
            <a:ext cx="5440680" cy="548640"/>
          </a:xfrm>
          <a:prstGeom prst="rect">
            <a:avLst/>
          </a:prstGeom>
          <a:solidFill>
            <a:srgbClr val="1A2A5E"/>
          </a:solidFill>
          <a:ln/>
        </p:spPr>
      </p:sp>
      <p:sp>
        <p:nvSpPr>
          <p:cNvPr id="13" name="Text 11"/>
          <p:cNvSpPr/>
          <p:nvPr/>
        </p:nvSpPr>
        <p:spPr>
          <a:xfrm>
            <a:off x="457200" y="1874520"/>
            <a:ext cx="54406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現状サイト（Before）</a:t>
            </a:r>
            <a:endParaRPr lang="en-US" sz="1400" dirty="0"/>
          </a:p>
        </p:txBody>
      </p:sp>
      <p:sp>
        <p:nvSpPr>
          <p:cNvPr id="14" name="Text 12"/>
          <p:cNvSpPr/>
          <p:nvPr/>
        </p:nvSpPr>
        <p:spPr>
          <a:xfrm>
            <a:off x="685800" y="2606040"/>
            <a:ext cx="5029200" cy="3291840"/>
          </a:xfrm>
          <a:prstGeom prst="rect">
            <a:avLst/>
          </a:prstGeom>
          <a:noFill/>
          <a:ln/>
        </p:spPr>
        <p:txBody>
          <a:bodyPr wrap="square" lIns="0" tIns="0" rIns="0" bIns="0" rtlCol="0" anchor="t"/>
          <a:lstStyle/>
          <a:p>
            <a:pPr marL="177800" indent="-177800">
              <a:lnSpc>
                <a:spcPct val="115000"/>
              </a:lnSpc>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FVが抽象コピー中心で、何のサービスか一目で伝わらない</a:t>
            </a:r>
            <a:endParaRPr lang="en-US" sz="1200" dirty="0"/>
          </a:p>
          <a:p>
            <a:pPr marL="177800" indent="-177800">
              <a:lnSpc>
                <a:spcPct val="115000"/>
              </a:lnSpc>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中立性・実績（834組合／17名）がFVで訴求されず離脱</a:t>
            </a:r>
            <a:endParaRPr lang="en-US" sz="1200" dirty="0"/>
          </a:p>
          <a:p>
            <a:pPr marL="177800" indent="-177800">
              <a:lnSpc>
                <a:spcPct val="115000"/>
              </a:lnSpc>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CTAが問い合わせのみで検討初期には重い</a:t>
            </a:r>
            <a:endParaRPr lang="en-US" sz="1200" dirty="0"/>
          </a:p>
        </p:txBody>
      </p:sp>
      <p:sp>
        <p:nvSpPr>
          <p:cNvPr id="15" name="Shape 13"/>
          <p:cNvSpPr/>
          <p:nvPr/>
        </p:nvSpPr>
        <p:spPr>
          <a:xfrm>
            <a:off x="6291072" y="1874520"/>
            <a:ext cx="5440680" cy="4160520"/>
          </a:xfrm>
          <a:prstGeom prst="roundRect">
            <a:avLst>
              <a:gd name="adj" fmla="val 1319"/>
            </a:avLst>
          </a:prstGeom>
          <a:solidFill>
            <a:srgbClr val="FCEAC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6" name="Shape 14"/>
          <p:cNvSpPr/>
          <p:nvPr/>
        </p:nvSpPr>
        <p:spPr>
          <a:xfrm>
            <a:off x="6291072" y="1874520"/>
            <a:ext cx="5440680" cy="548640"/>
          </a:xfrm>
          <a:prstGeom prst="rect">
            <a:avLst/>
          </a:prstGeom>
          <a:solidFill>
            <a:srgbClr val="F39800"/>
          </a:solidFill>
          <a:ln/>
        </p:spPr>
      </p:sp>
      <p:sp>
        <p:nvSpPr>
          <p:cNvPr id="17" name="Text 15"/>
          <p:cNvSpPr/>
          <p:nvPr/>
        </p:nvSpPr>
        <p:spPr>
          <a:xfrm>
            <a:off x="6291072" y="1874520"/>
            <a:ext cx="54406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新規制作する専用LP（After）</a:t>
            </a:r>
            <a:endParaRPr lang="en-US" sz="1400" dirty="0"/>
          </a:p>
        </p:txBody>
      </p:sp>
      <p:sp>
        <p:nvSpPr>
          <p:cNvPr id="18" name="Text 16"/>
          <p:cNvSpPr/>
          <p:nvPr/>
        </p:nvSpPr>
        <p:spPr>
          <a:xfrm>
            <a:off x="6519672" y="2606040"/>
            <a:ext cx="5029200" cy="3291840"/>
          </a:xfrm>
          <a:prstGeom prst="rect">
            <a:avLst/>
          </a:prstGeom>
          <a:noFill/>
          <a:ln/>
        </p:spPr>
        <p:txBody>
          <a:bodyPr wrap="square" lIns="0" tIns="0" rIns="0" bIns="0" rtlCol="0" anchor="t"/>
          <a:lstStyle/>
          <a:p>
            <a:pPr marL="177800" indent="-177800">
              <a:lnSpc>
                <a:spcPct val="112000"/>
              </a:lnSpc>
              <a:spcAft>
                <a:spcPts val="500"/>
              </a:spcAft>
              <a:buSzPct val="100000"/>
              <a:buChar char="•"/>
            </a:pPr>
            <a:r>
              <a:rPr lang="en-US" sz="1200" b="1" dirty="0">
                <a:solidFill>
                  <a:srgbClr val="9A5B00"/>
                </a:solidFill>
                <a:latin typeface="Meiryo" pitchFamily="34" charset="0"/>
                <a:ea typeface="Meiryo" pitchFamily="34" charset="-122"/>
                <a:cs typeface="Meiryo" pitchFamily="34" charset="-120"/>
              </a:rPr>
              <a:t>FV刷新</a:t>
            </a:r>
            <a:endParaRPr lang="en-US" sz="1200" dirty="0"/>
          </a:p>
          <a:p>
            <a:pPr lvl="1" indent="0" marL="0">
              <a:lnSpc>
                <a:spcPct val="112000"/>
              </a:lnSpc>
              <a:spcAft>
                <a:spcPts val="900"/>
              </a:spcAft>
              <a:buNone/>
            </a:pPr>
            <a:r>
              <a:rPr lang="en-US" sz="1200" dirty="0">
                <a:solidFill>
                  <a:srgbClr val="222222"/>
                </a:solidFill>
                <a:latin typeface="Meiryo" pitchFamily="34" charset="0"/>
                <a:ea typeface="Meiryo" pitchFamily="34" charset="-122"/>
                <a:cs typeface="Meiryo" pitchFamily="34" charset="-120"/>
              </a:rPr>
              <a:t>「工事をしない中立な一級建築士事務所／累計834管理組合」を即断できるビジュアルへ。</a:t>
            </a:r>
            <a:endParaRPr lang="en-US" sz="1200" dirty="0"/>
          </a:p>
          <a:p>
            <a:pPr marL="177800" indent="-177800">
              <a:lnSpc>
                <a:spcPct val="112000"/>
              </a:lnSpc>
              <a:spcAft>
                <a:spcPts val="500"/>
              </a:spcAft>
              <a:buSzPct val="100000"/>
              <a:buChar char="•"/>
            </a:pPr>
            <a:r>
              <a:rPr lang="en-US" sz="1200" b="1" dirty="0">
                <a:solidFill>
                  <a:srgbClr val="9A5B00"/>
                </a:solidFill>
                <a:latin typeface="Meiryo" pitchFamily="34" charset="0"/>
                <a:ea typeface="Meiryo" pitchFamily="34" charset="-122"/>
                <a:cs typeface="Meiryo" pitchFamily="34" charset="-120"/>
              </a:rPr>
              <a:t>CVの複線化</a:t>
            </a:r>
            <a:endParaRPr lang="en-US" sz="1200" dirty="0"/>
          </a:p>
          <a:p>
            <a:pPr lvl="1" indent="0" marL="0">
              <a:lnSpc>
                <a:spcPct val="112000"/>
              </a:lnSpc>
              <a:spcAft>
                <a:spcPts val="900"/>
              </a:spcAft>
              <a:buNone/>
            </a:pPr>
            <a:r>
              <a:rPr lang="en-US" sz="1200" dirty="0">
                <a:solidFill>
                  <a:srgbClr val="222222"/>
                </a:solidFill>
                <a:latin typeface="Meiryo" pitchFamily="34" charset="0"/>
                <a:ea typeface="Meiryo" pitchFamily="34" charset="-122"/>
                <a:cs typeface="Meiryo" pitchFamily="34" charset="-120"/>
              </a:rPr>
              <a:t>「無料劣化診断」「見積チェック依頼（PDF添付）」をFVに常時設置。</a:t>
            </a:r>
            <a:endParaRPr lang="en-US" sz="1200" dirty="0"/>
          </a:p>
          <a:p>
            <a:pPr marL="177800" indent="-177800">
              <a:lnSpc>
                <a:spcPct val="112000"/>
              </a:lnSpc>
              <a:spcAft>
                <a:spcPts val="500"/>
              </a:spcAft>
              <a:buSzPct val="100000"/>
              <a:buChar char="•"/>
            </a:pPr>
            <a:r>
              <a:rPr lang="en-US" sz="1200" b="1" dirty="0">
                <a:solidFill>
                  <a:srgbClr val="9A5B00"/>
                </a:solidFill>
                <a:latin typeface="Meiryo" pitchFamily="34" charset="0"/>
                <a:ea typeface="Meiryo" pitchFamily="34" charset="-122"/>
                <a:cs typeface="Meiryo" pitchFamily="34" charset="-120"/>
              </a:rPr>
              <a:t>信頼のストーリー</a:t>
            </a:r>
            <a:endParaRPr lang="en-US" sz="1200" dirty="0"/>
          </a:p>
          <a:p>
            <a:pPr lvl="1" indent="0" marL="0">
              <a:lnSpc>
                <a:spcPct val="112000"/>
              </a:lnSpc>
              <a:buNone/>
            </a:pPr>
            <a:r>
              <a:rPr lang="en-US" sz="1200" dirty="0">
                <a:solidFill>
                  <a:srgbClr val="222222"/>
                </a:solidFill>
                <a:latin typeface="Meiryo" pitchFamily="34" charset="0"/>
                <a:ea typeface="Meiryo" pitchFamily="34" charset="-122"/>
                <a:cs typeface="Meiryo" pitchFamily="34" charset="-120"/>
              </a:rPr>
              <a:t>悩み→施工と設計監理の違い→17名/11拠点/834組合→組合の声、で態度変容を促す。</a:t>
            </a:r>
            <a:endParaRPr lang="en-US" sz="1200" dirty="0"/>
          </a:p>
        </p:txBody>
      </p:sp>
      <p:sp>
        <p:nvSpPr>
          <p:cNvPr id="19" name="Text 17"/>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参照元：DYM 成果の出るLP制作ガイドライン（態度変容・情報設計）</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配信シミュレーション</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初月はLP制作費を含めて堅実に運用し、2ヶ月目の満額配信から獲得効率を最大化する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23</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11274552" cy="914400"/>
        </p:xfrm>
        <a:graphic>
          <a:graphicData uri="http://schemas.openxmlformats.org/drawingml/2006/table">
            <a:tbl>
              <a:tblPr/>
              <a:tblGrid>
                <a:gridCol w="2011680"/>
                <a:gridCol w="2651760"/>
                <a:gridCol w="1463040"/>
                <a:gridCol w="1371600"/>
                <a:gridCol w="1216152"/>
                <a:gridCol w="1051560"/>
                <a:gridCol w="1508760"/>
              </a:tblGrid>
              <a:tr h="566928">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プラン / フェーズ</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内訳（LP制作＋広告費）</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表示回数</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クリック</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CPC</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CV数</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CPA</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r>
              <a:tr h="566928">
                <a:tc>
                  <a:txBody>
                    <a:bodyPr/>
                    <a:lstStyle/>
                    <a:p>
                      <a:pPr indent="0" marL="0">
                        <a:buNone/>
                      </a:pPr>
                      <a:r>
                        <a:rPr lang="en-US" sz="1100" b="1" dirty="0">
                          <a:solidFill>
                            <a:srgbClr val="222222"/>
                          </a:solidFill>
                          <a:latin typeface="Meiryo" pitchFamily="34" charset="0"/>
                          <a:ea typeface="Meiryo" pitchFamily="34" charset="-122"/>
                          <a:cs typeface="Meiryo" pitchFamily="34" charset="-120"/>
                        </a:rPr>
                        <a:t>100万円</a:t>
                      </a:r>
                      <a:endParaRPr lang="en-US" sz="1100" dirty="0">
                        <a:latin typeface="Meiryo" charset="0"/>
                        <a:ea typeface="Meiryo" charset="0"/>
                        <a:cs typeface="Meiryo" charset="0"/>
                      </a:endParaRPr>
                    </a:p>
                    <a:p>
                      <a:pPr indent="0" marL="0">
                        <a:buNone/>
                      </a:pPr>
                      <a:r>
                        <a:rPr lang="en-US" sz="1100" b="1" dirty="0">
                          <a:solidFill>
                            <a:srgbClr val="222222"/>
                          </a:solidFill>
                          <a:latin typeface="Meiryo" pitchFamily="34" charset="0"/>
                          <a:ea typeface="Meiryo" pitchFamily="34" charset="-122"/>
                          <a:cs typeface="Meiryo" pitchFamily="34" charset="-120"/>
                        </a:rPr>
                        <a:t>初月（構築期）</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1F3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LP 50万＋広告 50万</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CEAC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4,762</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333</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¥1,500</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b="1" dirty="0">
                          <a:solidFill>
                            <a:srgbClr val="F39800"/>
                          </a:solidFill>
                          <a:latin typeface="Meiryo" pitchFamily="34" charset="0"/>
                          <a:ea typeface="Meiryo" pitchFamily="34" charset="-122"/>
                          <a:cs typeface="Meiryo" pitchFamily="34" charset="-120"/>
                        </a:rPr>
                        <a:t>10件</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¥50,000</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566928">
                <a:tc>
                  <a:txBody>
                    <a:bodyPr/>
                    <a:lstStyle/>
                    <a:p>
                      <a:pPr indent="0" marL="0">
                        <a:buNone/>
                      </a:pPr>
                      <a:r>
                        <a:rPr lang="en-US" sz="1100" b="1" dirty="0">
                          <a:solidFill>
                            <a:srgbClr val="222222"/>
                          </a:solidFill>
                          <a:latin typeface="Meiryo" pitchFamily="34" charset="0"/>
                          <a:ea typeface="Meiryo" pitchFamily="34" charset="-122"/>
                          <a:cs typeface="Meiryo" pitchFamily="34" charset="-120"/>
                        </a:rPr>
                        <a:t>100万円</a:t>
                      </a:r>
                      <a:endParaRPr lang="en-US" sz="1100" dirty="0">
                        <a:latin typeface="Meiryo" charset="0"/>
                        <a:ea typeface="Meiryo" charset="0"/>
                        <a:cs typeface="Meiryo" charset="0"/>
                      </a:endParaRPr>
                    </a:p>
                    <a:p>
                      <a:pPr indent="0" marL="0">
                        <a:buNone/>
                      </a:pPr>
                      <a:r>
                        <a:rPr lang="en-US" sz="1100" b="1" dirty="0">
                          <a:solidFill>
                            <a:srgbClr val="222222"/>
                          </a:solidFill>
                          <a:latin typeface="Meiryo" pitchFamily="34" charset="0"/>
                          <a:ea typeface="Meiryo" pitchFamily="34" charset="-122"/>
                          <a:cs typeface="Meiryo" pitchFamily="34" charset="-120"/>
                        </a:rPr>
                        <a:t>2ヶ月目以降</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1F3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広告 100万（満額）</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138,095</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2,333</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b="1" dirty="0">
                          <a:solidFill>
                            <a:srgbClr val="F39800"/>
                          </a:solidFill>
                          <a:latin typeface="Meiryo" pitchFamily="34" charset="0"/>
                          <a:ea typeface="Meiryo" pitchFamily="34" charset="-122"/>
                          <a:cs typeface="Meiryo" pitchFamily="34" charset="-120"/>
                        </a:rPr>
                        <a:t>¥429</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b="1" dirty="0">
                          <a:solidFill>
                            <a:srgbClr val="F39800"/>
                          </a:solidFill>
                          <a:latin typeface="Meiryo" pitchFamily="34" charset="0"/>
                          <a:ea typeface="Meiryo" pitchFamily="34" charset="-122"/>
                          <a:cs typeface="Meiryo" pitchFamily="34" charset="-120"/>
                        </a:rPr>
                        <a:t>19件</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¥52,632</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566928">
                <a:tc>
                  <a:txBody>
                    <a:bodyPr/>
                    <a:lstStyle/>
                    <a:p>
                      <a:pPr indent="0" marL="0">
                        <a:buNone/>
                      </a:pPr>
                      <a:r>
                        <a:rPr lang="en-US" sz="1100" b="1" dirty="0">
                          <a:solidFill>
                            <a:srgbClr val="222222"/>
                          </a:solidFill>
                          <a:latin typeface="Meiryo" pitchFamily="34" charset="0"/>
                          <a:ea typeface="Meiryo" pitchFamily="34" charset="-122"/>
                          <a:cs typeface="Meiryo" pitchFamily="34" charset="-120"/>
                        </a:rPr>
                        <a:t>200万円</a:t>
                      </a:r>
                      <a:endParaRPr lang="en-US" sz="1100" dirty="0">
                        <a:latin typeface="Meiryo" charset="0"/>
                        <a:ea typeface="Meiryo" charset="0"/>
                        <a:cs typeface="Meiryo" charset="0"/>
                      </a:endParaRPr>
                    </a:p>
                    <a:p>
                      <a:pPr indent="0" marL="0">
                        <a:buNone/>
                      </a:pPr>
                      <a:r>
                        <a:rPr lang="en-US" sz="1100" b="1" dirty="0">
                          <a:solidFill>
                            <a:srgbClr val="222222"/>
                          </a:solidFill>
                          <a:latin typeface="Meiryo" pitchFamily="34" charset="0"/>
                          <a:ea typeface="Meiryo" pitchFamily="34" charset="-122"/>
                          <a:cs typeface="Meiryo" pitchFamily="34" charset="-120"/>
                        </a:rPr>
                        <a:t>初月（構築期）</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1F3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LP 50万＋広告 150万</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CEAC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138,095</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2,333</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¥643</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b="1" dirty="0">
                          <a:solidFill>
                            <a:srgbClr val="F39800"/>
                          </a:solidFill>
                          <a:latin typeface="Meiryo" pitchFamily="34" charset="0"/>
                          <a:ea typeface="Meiryo" pitchFamily="34" charset="-122"/>
                          <a:cs typeface="Meiryo" pitchFamily="34" charset="-120"/>
                        </a:rPr>
                        <a:t>26件</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¥57,692</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566928">
                <a:tc>
                  <a:txBody>
                    <a:bodyPr/>
                    <a:lstStyle/>
                    <a:p>
                      <a:pPr indent="0" marL="0">
                        <a:buNone/>
                      </a:pPr>
                      <a:r>
                        <a:rPr lang="en-US" sz="1100" b="1" dirty="0">
                          <a:solidFill>
                            <a:srgbClr val="222222"/>
                          </a:solidFill>
                          <a:latin typeface="Meiryo" pitchFamily="34" charset="0"/>
                          <a:ea typeface="Meiryo" pitchFamily="34" charset="-122"/>
                          <a:cs typeface="Meiryo" pitchFamily="34" charset="-120"/>
                        </a:rPr>
                        <a:t>200万円</a:t>
                      </a:r>
                      <a:endParaRPr lang="en-US" sz="1100" dirty="0">
                        <a:latin typeface="Meiryo" charset="0"/>
                        <a:ea typeface="Meiryo" charset="0"/>
                        <a:cs typeface="Meiryo" charset="0"/>
                      </a:endParaRPr>
                    </a:p>
                    <a:p>
                      <a:pPr indent="0" marL="0">
                        <a:buNone/>
                      </a:pPr>
                      <a:r>
                        <a:rPr lang="en-US" sz="1100" b="1" dirty="0">
                          <a:solidFill>
                            <a:srgbClr val="222222"/>
                          </a:solidFill>
                          <a:latin typeface="Meiryo" pitchFamily="34" charset="0"/>
                          <a:ea typeface="Meiryo" pitchFamily="34" charset="-122"/>
                          <a:cs typeface="Meiryo" pitchFamily="34" charset="-120"/>
                        </a:rPr>
                        <a:t>2ヶ月目以降</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F1F3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広告 200万（満額）</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314,415</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5,086</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b="1" dirty="0">
                          <a:solidFill>
                            <a:srgbClr val="F39800"/>
                          </a:solidFill>
                          <a:latin typeface="Meiryo" pitchFamily="34" charset="0"/>
                          <a:ea typeface="Meiryo" pitchFamily="34" charset="-122"/>
                          <a:cs typeface="Meiryo" pitchFamily="34" charset="-120"/>
                        </a:rPr>
                        <a:t>¥393</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b="1" dirty="0">
                          <a:solidFill>
                            <a:srgbClr val="F39800"/>
                          </a:solidFill>
                          <a:latin typeface="Meiryo" pitchFamily="34" charset="0"/>
                          <a:ea typeface="Meiryo" pitchFamily="34" charset="-122"/>
                          <a:cs typeface="Meiryo" pitchFamily="34" charset="-120"/>
                        </a:rPr>
                        <a:t>34件</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¥58,824</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bl>
          </a:graphicData>
        </a:graphic>
      </p:graphicFrame>
      <p:sp>
        <p:nvSpPr>
          <p:cNvPr id="12" name="Shape 9"/>
          <p:cNvSpPr/>
          <p:nvPr/>
        </p:nvSpPr>
        <p:spPr>
          <a:xfrm>
            <a:off x="457200" y="5029200"/>
            <a:ext cx="11274552" cy="1005840"/>
          </a:xfrm>
          <a:prstGeom prst="roundRect">
            <a:avLst>
              <a:gd name="adj" fmla="val 5455"/>
            </a:avLst>
          </a:prstGeom>
          <a:solidFill>
            <a:srgbClr val="1A2A5E"/>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3" name="Text 10"/>
          <p:cNvSpPr/>
          <p:nvPr/>
        </p:nvSpPr>
        <p:spPr>
          <a:xfrm>
            <a:off x="685800" y="5029200"/>
            <a:ext cx="10835640" cy="1005840"/>
          </a:xfrm>
          <a:prstGeom prst="rect">
            <a:avLst/>
          </a:prstGeom>
          <a:noFill/>
          <a:ln/>
        </p:spPr>
        <p:txBody>
          <a:bodyPr wrap="square" lIns="0" tIns="0" rIns="0" bIns="0" rtlCol="0" anchor="ctr"/>
          <a:lstStyle/>
          <a:p>
            <a:pPr indent="0" marL="0">
              <a:lnSpc>
                <a:spcPct val="112000"/>
              </a:lnSpc>
              <a:buNone/>
            </a:pPr>
            <a:r>
              <a:rPr lang="en-US" sz="1300" b="1" dirty="0">
                <a:solidFill>
                  <a:srgbClr val="F39800"/>
                </a:solidFill>
                <a:latin typeface="Meiryo" pitchFamily="34" charset="0"/>
                <a:ea typeface="Meiryo" pitchFamily="34" charset="-122"/>
                <a:cs typeface="Meiryo" pitchFamily="34" charset="-120"/>
              </a:rPr>
              <a:t>見方：　</a:t>
            </a:r>
            <a:pPr indent="0" marL="0">
              <a:lnSpc>
                <a:spcPct val="112000"/>
              </a:lnSpc>
              <a:buNone/>
            </a:pPr>
            <a:r>
              <a:rPr lang="en-US" sz="1300" b="1" dirty="0">
                <a:solidFill>
                  <a:srgbClr val="FFFFFF"/>
                </a:solidFill>
                <a:latin typeface="Meiryo" pitchFamily="34" charset="0"/>
                <a:ea typeface="Meiryo" pitchFamily="34" charset="-122"/>
                <a:cs typeface="Meiryo" pitchFamily="34" charset="-120"/>
              </a:rPr>
              <a:t>初月はLP制作費50万円を内包するため広告原資が目減りしCV数は控えめ。2ヶ月目以降は満額投下＋P-MAXで表示回数・CV数が跳ね上がる設計。</a:t>
            </a:r>
            <a:endParaRPr lang="en-US" sz="1300" dirty="0"/>
          </a:p>
        </p:txBody>
      </p:sp>
      <p:sp>
        <p:nvSpPr>
          <p:cNvPr id="14" name="Text 11"/>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参照元：DYM制作料金表（LP 50万円〜）、Google広告管理画面 過去データに基づく試算参考値（試算値）</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配信シミュレーション</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設計監理料の水準なら、月1件の受注で広告費＋LP制作費は十分に早期回収できる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24</a:t>
            </a:r>
            <a:endParaRPr lang="en-US" sz="900" dirty="0"/>
          </a:p>
        </p:txBody>
      </p:sp>
      <p:sp>
        <p:nvSpPr>
          <p:cNvPr id="11" name="Shape 9"/>
          <p:cNvSpPr/>
          <p:nvPr/>
        </p:nvSpPr>
        <p:spPr>
          <a:xfrm>
            <a:off x="457200" y="1874520"/>
            <a:ext cx="11274552" cy="1737360"/>
          </a:xfrm>
          <a:prstGeom prst="roundRect">
            <a:avLst>
              <a:gd name="adj" fmla="val 3158"/>
            </a:avLst>
          </a:prstGeom>
          <a:solidFill>
            <a:srgbClr val="F1F3F8"/>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640080" y="2011680"/>
            <a:ext cx="7315200" cy="320040"/>
          </a:xfrm>
          <a:prstGeom prst="rect">
            <a:avLst/>
          </a:prstGeom>
          <a:noFill/>
          <a:ln/>
        </p:spPr>
        <p:txBody>
          <a:bodyPr wrap="square" lIns="0" tIns="0" rIns="0" bIns="0" rtlCol="0" anchor="ctr"/>
          <a:lstStyle/>
          <a:p>
            <a:pPr indent="0" marL="0">
              <a:buNone/>
            </a:pPr>
            <a:r>
              <a:rPr lang="en-US" sz="1200" b="1" dirty="0">
                <a:solidFill>
                  <a:srgbClr val="1A2A5E"/>
                </a:solidFill>
                <a:latin typeface="Meiryo" pitchFamily="34" charset="0"/>
                <a:ea typeface="Meiryo" pitchFamily="34" charset="-122"/>
                <a:cs typeface="Meiryo" pitchFamily="34" charset="-120"/>
              </a:rPr>
              <a:t>損益分岐（ブレイクイーブン）の考え方</a:t>
            </a:r>
            <a:endParaRPr lang="en-US" sz="1200" dirty="0"/>
          </a:p>
        </p:txBody>
      </p:sp>
      <p:sp>
        <p:nvSpPr>
          <p:cNvPr id="13" name="Text 11"/>
          <p:cNvSpPr/>
          <p:nvPr/>
        </p:nvSpPr>
        <p:spPr>
          <a:xfrm>
            <a:off x="731520" y="2377440"/>
            <a:ext cx="10698480" cy="1143000"/>
          </a:xfrm>
          <a:prstGeom prst="rect">
            <a:avLst/>
          </a:prstGeom>
          <a:noFill/>
          <a:ln/>
        </p:spPr>
        <p:txBody>
          <a:bodyPr wrap="square" lIns="0" tIns="0" rIns="0" bIns="0" rtlCol="0" anchor="t"/>
          <a:lstStyle/>
          <a:p>
            <a:pPr marL="177800" indent="-177800">
              <a:lnSpc>
                <a:spcPct val="115000"/>
              </a:lnSpc>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問い合わせ（無料診断・見積チェック）からの受注成約率を10%（仮）とすると、受注1件あたりコスト（CPO）は約53万〜59万円</a:t>
            </a:r>
            <a:endParaRPr lang="en-US" sz="1200" dirty="0"/>
          </a:p>
          <a:p>
            <a:pPr marL="177800" indent="-177800">
              <a:lnSpc>
                <a:spcPct val="115000"/>
              </a:lnSpc>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設計監理料は物件規模により数十万〜数百万円。月1件の受注が決まれば初月の総広告費＋LP制作費を上回る回収が可能</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3840480"/>
          <a:ext cx="11274552" cy="914400"/>
        </p:xfrm>
        <a:graphic>
          <a:graphicData uri="http://schemas.openxmlformats.org/drawingml/2006/table">
            <a:tbl>
              <a:tblPr/>
              <a:tblGrid>
                <a:gridCol w="2377440"/>
                <a:gridCol w="2377440"/>
                <a:gridCol w="2286000"/>
                <a:gridCol w="2377440"/>
                <a:gridCol w="1856232"/>
              </a:tblGrid>
              <a:tr h="640080">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プラン</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月間CV（問い合わせ）</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想定 受注（成約率10%）</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受注1件あたりコスト(CPO)</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回収の目安</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solidFill>
                      <a:srgbClr val="1A2A5E"/>
                    </a:solidFill>
                  </a:tcPr>
                </a:tc>
              </a:tr>
              <a:tr h="640080">
                <a:tc>
                  <a:txBody>
                    <a:bodyPr/>
                    <a:lstStyle/>
                    <a:p>
                      <a:pPr algn="ctr" indent="0" marL="0">
                        <a:buNone/>
                      </a:pPr>
                      <a:r>
                        <a:rPr lang="en-US" sz="1100" b="1" dirty="0">
                          <a:solidFill>
                            <a:srgbClr val="222222"/>
                          </a:solidFill>
                          <a:latin typeface="Meiryo" pitchFamily="34" charset="0"/>
                          <a:ea typeface="Meiryo" pitchFamily="34" charset="-122"/>
                          <a:cs typeface="Meiryo" pitchFamily="34" charset="-120"/>
                        </a:rPr>
                        <a:t>100万円（2ヶ月目〜）</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19件</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b="1" dirty="0">
                          <a:solidFill>
                            <a:srgbClr val="F39800"/>
                          </a:solidFill>
                          <a:latin typeface="Meiryo" pitchFamily="34" charset="0"/>
                          <a:ea typeface="Meiryo" pitchFamily="34" charset="-122"/>
                          <a:cs typeface="Meiryo" pitchFamily="34" charset="-120"/>
                        </a:rPr>
                        <a:t>約1.9件/月</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約52.6万円</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b="1" dirty="0">
                          <a:solidFill>
                            <a:srgbClr val="1A2A5E"/>
                          </a:solidFill>
                          <a:latin typeface="Meiryo" pitchFamily="34" charset="0"/>
                          <a:ea typeface="Meiryo" pitchFamily="34" charset="-122"/>
                          <a:cs typeface="Meiryo" pitchFamily="34" charset="-120"/>
                        </a:rPr>
                        <a:t>設計監理料1件で回収可能</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r h="640080">
                <a:tc>
                  <a:txBody>
                    <a:bodyPr/>
                    <a:lstStyle/>
                    <a:p>
                      <a:pPr algn="ctr" indent="0" marL="0">
                        <a:buNone/>
                      </a:pPr>
                      <a:r>
                        <a:rPr lang="en-US" sz="1100" b="1" dirty="0">
                          <a:solidFill>
                            <a:srgbClr val="222222"/>
                          </a:solidFill>
                          <a:latin typeface="Meiryo" pitchFamily="34" charset="0"/>
                          <a:ea typeface="Meiryo" pitchFamily="34" charset="-122"/>
                          <a:cs typeface="Meiryo" pitchFamily="34" charset="-120"/>
                        </a:rPr>
                        <a:t>200万円（2ヶ月目〜）</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34件</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b="1" dirty="0">
                          <a:solidFill>
                            <a:srgbClr val="F39800"/>
                          </a:solidFill>
                          <a:latin typeface="Meiryo" pitchFamily="34" charset="0"/>
                          <a:ea typeface="Meiryo" pitchFamily="34" charset="-122"/>
                          <a:cs typeface="Meiryo" pitchFamily="34" charset="-120"/>
                        </a:rPr>
                        <a:t>約3.4件/月</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約58.8万円</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c>
                  <a:txBody>
                    <a:bodyPr/>
                    <a:lstStyle/>
                    <a:p>
                      <a:pPr algn="ctr" indent="0" marL="0">
                        <a:buNone/>
                      </a:pPr>
                      <a:r>
                        <a:rPr lang="en-US" sz="1100" b="1" dirty="0">
                          <a:solidFill>
                            <a:srgbClr val="1A2A5E"/>
                          </a:solidFill>
                          <a:latin typeface="Meiryo" pitchFamily="34" charset="0"/>
                          <a:ea typeface="Meiryo" pitchFamily="34" charset="-122"/>
                          <a:cs typeface="Meiryo" pitchFamily="34" charset="-120"/>
                        </a:rPr>
                        <a:t>受注積み上げで早期回収</a:t>
                      </a:r>
                      <a:endParaRPr lang="en-US" sz="1100" dirty="0">
                        <a:latin typeface="Meiryo" charset="0"/>
                        <a:ea typeface="Meiryo" charset="0"/>
                        <a:cs typeface="Meiryo" charset="0"/>
                      </a:endParaRPr>
                    </a:p>
                  </a:txBody>
                  <a:tcPr marL="91440" marR="91440" marT="45720" marB="45720" anchor="ctr">
                    <a:lnL w="12700" cap="flat" cmpd="sng" algn="ctr">
                      <a:solidFill>
                        <a:srgbClr val="D5D9E2"/>
                      </a:solidFill>
                      <a:prstDash val="solid"/>
                      <a:round/>
                      <a:headEnd type="none" w="med" len="med"/>
                      <a:tailEnd type="none" w="med" len="med"/>
                    </a:lnL>
                    <a:lnR w="12700" cap="flat" cmpd="sng" algn="ctr">
                      <a:solidFill>
                        <a:srgbClr val="D5D9E2"/>
                      </a:solidFill>
                      <a:prstDash val="solid"/>
                      <a:round/>
                      <a:headEnd type="none" w="med" len="med"/>
                      <a:tailEnd type="none" w="med" len="med"/>
                    </a:lnR>
                    <a:lnT w="12700" cap="flat" cmpd="sng" algn="ctr">
                      <a:solidFill>
                        <a:srgbClr val="D5D9E2"/>
                      </a:solidFill>
                      <a:prstDash val="solid"/>
                      <a:round/>
                      <a:headEnd type="none" w="med" len="med"/>
                      <a:tailEnd type="none" w="med" len="med"/>
                    </a:lnT>
                    <a:lnB w="12700" cap="flat" cmpd="sng" algn="ctr">
                      <a:solidFill>
                        <a:srgbClr val="D5D9E2"/>
                      </a:solidFill>
                      <a:prstDash val="solid"/>
                      <a:round/>
                      <a:headEnd type="none" w="med" len="med"/>
                      <a:tailEnd type="none" w="med" len="med"/>
                    </a:lnB>
                  </a:tcPr>
                </a:tc>
              </a:tr>
            </a:tbl>
          </a:graphicData>
        </a:graphic>
      </p:graphicFrame>
      <p:sp>
        <p:nvSpPr>
          <p:cNvPr id="15" name="Text 12"/>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参照元：試算参考値（成約率10%は仮定）。客単価は物件規模により変動するため受注件数ベースで提示</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9728" cy="420624"/>
          </a:xfrm>
          <a:prstGeom prst="rect">
            <a:avLst/>
          </a:prstGeom>
          <a:solidFill>
            <a:srgbClr val="1A2A5E"/>
          </a:solidFill>
          <a:ln/>
        </p:spPr>
      </p:sp>
      <p:sp>
        <p:nvSpPr>
          <p:cNvPr id="3" name="Text 1"/>
          <p:cNvSpPr/>
          <p:nvPr/>
        </p:nvSpPr>
        <p:spPr>
          <a:xfrm>
            <a:off x="676656" y="347472"/>
            <a:ext cx="7955280" cy="493776"/>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サポート・お取組み体制</a:t>
            </a:r>
            <a:endParaRPr lang="en-US" sz="2200" dirty="0"/>
          </a:p>
        </p:txBody>
      </p:sp>
      <p:sp>
        <p:nvSpPr>
          <p:cNvPr id="4" name="Text 2"/>
          <p:cNvSpPr/>
          <p:nvPr/>
        </p:nvSpPr>
        <p:spPr>
          <a:xfrm>
            <a:off x="9966960" y="384048"/>
            <a:ext cx="1764792" cy="457200"/>
          </a:xfrm>
          <a:prstGeom prst="rect">
            <a:avLst/>
          </a:prstGeom>
          <a:noFill/>
          <a:ln/>
        </p:spPr>
        <p:txBody>
          <a:bodyPr wrap="square" lIns="0" tIns="0" rIns="0" bIns="0" rtlCol="0" anchor="ctr"/>
          <a:lstStyle/>
          <a:p>
            <a:pPr algn="r" indent="0" marL="0">
              <a:buNone/>
            </a:pPr>
            <a:r>
              <a:rPr lang="en-US" sz="2600" b="1" spc="400" kern="0" dirty="0">
                <a:solidFill>
                  <a:srgbClr val="1A2A5E"/>
                </a:solidFill>
                <a:latin typeface="Meiryo" pitchFamily="34" charset="0"/>
                <a:ea typeface="Meiryo" pitchFamily="34" charset="-122"/>
                <a:cs typeface="Meiryo" pitchFamily="34" charset="-120"/>
              </a:rPr>
              <a:t>DYM</a:t>
            </a:r>
            <a:endParaRPr lang="en-US" sz="2600" dirty="0"/>
          </a:p>
        </p:txBody>
      </p:sp>
      <p:sp>
        <p:nvSpPr>
          <p:cNvPr id="5" name="Shape 3"/>
          <p:cNvSpPr/>
          <p:nvPr/>
        </p:nvSpPr>
        <p:spPr>
          <a:xfrm>
            <a:off x="457200" y="914400"/>
            <a:ext cx="11274552" cy="0"/>
          </a:xfrm>
          <a:prstGeom prst="line">
            <a:avLst/>
          </a:prstGeom>
          <a:noFill/>
          <a:ln w="15875">
            <a:solidFill>
              <a:srgbClr val="1A2A5E"/>
            </a:solidFill>
            <a:prstDash val="solid"/>
          </a:ln>
        </p:spPr>
      </p:sp>
      <p:sp>
        <p:nvSpPr>
          <p:cNvPr id="6" name="Shape 4"/>
          <p:cNvSpPr/>
          <p:nvPr/>
        </p:nvSpPr>
        <p:spPr>
          <a:xfrm>
            <a:off x="0" y="1078992"/>
            <a:ext cx="12188952" cy="566928"/>
          </a:xfrm>
          <a:prstGeom prst="rect">
            <a:avLst/>
          </a:prstGeom>
          <a:solidFill>
            <a:srgbClr val="1A2A5E"/>
          </a:solidFill>
          <a:ln/>
        </p:spPr>
      </p:sp>
      <p:sp>
        <p:nvSpPr>
          <p:cNvPr id="7" name="Text 5"/>
          <p:cNvSpPr/>
          <p:nvPr/>
        </p:nvSpPr>
        <p:spPr>
          <a:xfrm>
            <a:off x="457200" y="1078992"/>
            <a:ext cx="11274552" cy="566928"/>
          </a:xfrm>
          <a:prstGeom prst="rect">
            <a:avLst/>
          </a:prstGeom>
          <a:noFill/>
          <a:ln/>
        </p:spPr>
        <p:txBody>
          <a:bodyPr wrap="square" lIns="0" tIns="0" rIns="0" bIns="0" rtlCol="0" anchor="ctr"/>
          <a:lstStyle/>
          <a:p>
            <a:pPr algn="ctr" indent="0" marL="0">
              <a:buNone/>
            </a:pPr>
            <a:r>
              <a:rPr lang="en-US" sz="1550" b="1" dirty="0">
                <a:solidFill>
                  <a:srgbClr val="FFFFFF"/>
                </a:solidFill>
                <a:latin typeface="Meiryo" pitchFamily="34" charset="0"/>
                <a:ea typeface="Meiryo" pitchFamily="34" charset="-122"/>
                <a:cs typeface="Meiryo" pitchFamily="34" charset="-120"/>
              </a:rPr>
              <a:t>専任の運用部隊と週次改善サイクルで、属人性を排した平準化運用を担保する</a:t>
            </a:r>
            <a:endParaRPr lang="en-US" sz="1550" dirty="0"/>
          </a:p>
        </p:txBody>
      </p:sp>
      <p:sp>
        <p:nvSpPr>
          <p:cNvPr id="8" name="Shape 6"/>
          <p:cNvSpPr/>
          <p:nvPr/>
        </p:nvSpPr>
        <p:spPr>
          <a:xfrm>
            <a:off x="0" y="6510528"/>
            <a:ext cx="12188952" cy="347472"/>
          </a:xfrm>
          <a:prstGeom prst="rect">
            <a:avLst/>
          </a:prstGeom>
          <a:solidFill>
            <a:srgbClr val="1A2A5E"/>
          </a:solidFill>
          <a:ln/>
        </p:spPr>
      </p:sp>
      <p:sp>
        <p:nvSpPr>
          <p:cNvPr id="9" name="Text 7"/>
          <p:cNvSpPr/>
          <p:nvPr/>
        </p:nvSpPr>
        <p:spPr>
          <a:xfrm>
            <a:off x="457200" y="6510528"/>
            <a:ext cx="7315200" cy="347472"/>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Copyright(c) DYM Co., Ltd.  All Rights Reserved.</a:t>
            </a:r>
            <a:endParaRPr lang="en-US" sz="800" dirty="0"/>
          </a:p>
        </p:txBody>
      </p:sp>
      <p:sp>
        <p:nvSpPr>
          <p:cNvPr id="10" name="Text 8"/>
          <p:cNvSpPr/>
          <p:nvPr/>
        </p:nvSpPr>
        <p:spPr>
          <a:xfrm>
            <a:off x="11292840" y="6510528"/>
            <a:ext cx="594360" cy="347472"/>
          </a:xfrm>
          <a:prstGeom prst="rect">
            <a:avLst/>
          </a:prstGeom>
          <a:noFill/>
          <a:ln/>
        </p:spPr>
        <p:txBody>
          <a:bodyPr wrap="square" lIns="0" tIns="0" rIns="0" bIns="0" rtlCol="0" anchor="ctr"/>
          <a:lstStyle/>
          <a:p>
            <a:pPr algn="r" indent="0" marL="0">
              <a:buNone/>
            </a:pPr>
            <a:r>
              <a:rPr lang="en-US" sz="900" b="1" dirty="0">
                <a:solidFill>
                  <a:srgbClr val="FFFFFF"/>
                </a:solidFill>
                <a:latin typeface="Meiryo" pitchFamily="34" charset="0"/>
                <a:ea typeface="Meiryo" pitchFamily="34" charset="-122"/>
                <a:cs typeface="Meiryo" pitchFamily="34" charset="-120"/>
              </a:rPr>
              <a:t>25</a:t>
            </a:r>
            <a:endParaRPr lang="en-US" sz="900" dirty="0"/>
          </a:p>
        </p:txBody>
      </p:sp>
      <p:sp>
        <p:nvSpPr>
          <p:cNvPr id="11" name="Shape 9"/>
          <p:cNvSpPr/>
          <p:nvPr/>
        </p:nvSpPr>
        <p:spPr>
          <a:xfrm>
            <a:off x="457200" y="1874520"/>
            <a:ext cx="5532120"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12" name="Text 10"/>
          <p:cNvSpPr/>
          <p:nvPr/>
        </p:nvSpPr>
        <p:spPr>
          <a:xfrm>
            <a:off x="640080" y="2011680"/>
            <a:ext cx="5120640" cy="365760"/>
          </a:xfrm>
          <a:prstGeom prst="rect">
            <a:avLst/>
          </a:prstGeom>
          <a:noFill/>
          <a:ln/>
        </p:spPr>
        <p:txBody>
          <a:bodyPr wrap="square" lIns="0" tIns="0" rIns="0" bIns="0" rtlCol="0" anchor="ctr"/>
          <a:lstStyle/>
          <a:p>
            <a:pPr indent="0" marL="0">
              <a:buNone/>
            </a:pPr>
            <a:r>
              <a:rPr lang="en-US" sz="1300" b="1" dirty="0">
                <a:solidFill>
                  <a:srgbClr val="1A2A5E"/>
                </a:solidFill>
                <a:latin typeface="Meiryo" pitchFamily="34" charset="0"/>
                <a:ea typeface="Meiryo" pitchFamily="34" charset="-122"/>
                <a:cs typeface="Meiryo" pitchFamily="34" charset="-120"/>
              </a:rPr>
              <a:t>お取組み体制</a:t>
            </a:r>
            <a:endParaRPr lang="en-US" sz="1300" dirty="0"/>
          </a:p>
        </p:txBody>
      </p:sp>
      <p:sp>
        <p:nvSpPr>
          <p:cNvPr id="13" name="Shape 11"/>
          <p:cNvSpPr/>
          <p:nvPr/>
        </p:nvSpPr>
        <p:spPr>
          <a:xfrm>
            <a:off x="914400" y="2468880"/>
            <a:ext cx="4617720" cy="777240"/>
          </a:xfrm>
          <a:prstGeom prst="roundRect">
            <a:avLst>
              <a:gd name="adj" fmla="val 5882"/>
            </a:avLst>
          </a:prstGeom>
          <a:solidFill>
            <a:srgbClr val="1A2A5E"/>
          </a:solidFill>
          <a:ln w="12700">
            <a:solidFill>
              <a:srgbClr val="D5D9E2"/>
            </a:solidFill>
            <a:prstDash val="solid"/>
          </a:ln>
        </p:spPr>
      </p:sp>
      <p:sp>
        <p:nvSpPr>
          <p:cNvPr id="14" name="Text 12"/>
          <p:cNvSpPr/>
          <p:nvPr/>
        </p:nvSpPr>
        <p:spPr>
          <a:xfrm>
            <a:off x="1051560" y="2542032"/>
            <a:ext cx="4343400" cy="640080"/>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営業・コンサルタント（貴社窓口）</a:t>
            </a:r>
            <a:endParaRPr lang="en-US" sz="1250" dirty="0"/>
          </a:p>
          <a:p>
            <a:pPr indent="0" marL="0">
              <a:buNone/>
            </a:pPr>
            <a:r>
              <a:rPr lang="en-US" sz="1000" dirty="0">
                <a:solidFill>
                  <a:srgbClr val="D7DCEC"/>
                </a:solidFill>
                <a:latin typeface="Meiryo" pitchFamily="34" charset="0"/>
                <a:ea typeface="Meiryo" pitchFamily="34" charset="-122"/>
                <a:cs typeface="Meiryo" pitchFamily="34" charset="-120"/>
              </a:rPr>
              <a:t>横串で戦略を管理・ディレクション</a:t>
            </a:r>
            <a:endParaRPr lang="en-US" sz="1250" dirty="0"/>
          </a:p>
        </p:txBody>
      </p:sp>
      <p:sp>
        <p:nvSpPr>
          <p:cNvPr id="15" name="Text 13"/>
          <p:cNvSpPr/>
          <p:nvPr/>
        </p:nvSpPr>
        <p:spPr>
          <a:xfrm>
            <a:off x="2926080" y="3273552"/>
            <a:ext cx="548640" cy="274320"/>
          </a:xfrm>
          <a:prstGeom prst="rect">
            <a:avLst/>
          </a:prstGeom>
          <a:noFill/>
          <a:ln/>
        </p:spPr>
        <p:txBody>
          <a:bodyPr wrap="square" lIns="0" tIns="0" rIns="0" bIns="0" rtlCol="0" anchor="ctr"/>
          <a:lstStyle/>
          <a:p>
            <a:pPr algn="ctr" indent="0" marL="0">
              <a:buNone/>
            </a:pPr>
            <a:r>
              <a:rPr lang="en-US" sz="1200" dirty="0">
                <a:solidFill>
                  <a:srgbClr val="1A2A5E"/>
                </a:solidFill>
                <a:latin typeface="Meiryo" pitchFamily="34" charset="0"/>
                <a:ea typeface="Meiryo" pitchFamily="34" charset="-122"/>
                <a:cs typeface="Meiryo" pitchFamily="34" charset="-120"/>
              </a:rPr>
              <a:t>▼</a:t>
            </a:r>
            <a:endParaRPr lang="en-US" sz="1200" dirty="0"/>
          </a:p>
        </p:txBody>
      </p:sp>
      <p:sp>
        <p:nvSpPr>
          <p:cNvPr id="16" name="Shape 14"/>
          <p:cNvSpPr/>
          <p:nvPr/>
        </p:nvSpPr>
        <p:spPr>
          <a:xfrm>
            <a:off x="914400" y="3566160"/>
            <a:ext cx="4617720" cy="777240"/>
          </a:xfrm>
          <a:prstGeom prst="roundRect">
            <a:avLst>
              <a:gd name="adj" fmla="val 5882"/>
            </a:avLst>
          </a:prstGeom>
          <a:solidFill>
            <a:srgbClr val="F1F3F8"/>
          </a:solidFill>
          <a:ln w="12700">
            <a:solidFill>
              <a:srgbClr val="D5D9E2"/>
            </a:solidFill>
            <a:prstDash val="solid"/>
          </a:ln>
        </p:spPr>
      </p:sp>
      <p:sp>
        <p:nvSpPr>
          <p:cNvPr id="17" name="Text 15"/>
          <p:cNvSpPr/>
          <p:nvPr/>
        </p:nvSpPr>
        <p:spPr>
          <a:xfrm>
            <a:off x="1051560" y="3639312"/>
            <a:ext cx="4343400" cy="640080"/>
          </a:xfrm>
          <a:prstGeom prst="rect">
            <a:avLst/>
          </a:prstGeom>
          <a:noFill/>
          <a:ln/>
        </p:spPr>
        <p:txBody>
          <a:bodyPr wrap="square" lIns="0" tIns="0" rIns="0" bIns="0" rtlCol="0" anchor="ctr"/>
          <a:lstStyle/>
          <a:p>
            <a:pPr indent="0" marL="0">
              <a:buNone/>
            </a:pPr>
            <a:r>
              <a:rPr lang="en-US" sz="1250" b="1" dirty="0">
                <a:solidFill>
                  <a:srgbClr val="222222"/>
                </a:solidFill>
                <a:latin typeface="Meiryo" pitchFamily="34" charset="0"/>
                <a:ea typeface="Meiryo" pitchFamily="34" charset="-122"/>
                <a:cs typeface="Meiryo" pitchFamily="34" charset="-120"/>
              </a:rPr>
              <a:t>AD事業部（実運用の専門部隊）</a:t>
            </a:r>
            <a:endParaRPr lang="en-US" sz="1250" dirty="0"/>
          </a:p>
          <a:p>
            <a:pPr indent="0" marL="0">
              <a:buNone/>
            </a:pPr>
            <a:r>
              <a:rPr lang="en-US" sz="1000" dirty="0">
                <a:solidFill>
                  <a:srgbClr val="6B7280"/>
                </a:solidFill>
                <a:latin typeface="Meiryo" pitchFamily="34" charset="0"/>
                <a:ea typeface="Meiryo" pitchFamily="34" charset="-122"/>
                <a:cs typeface="Meiryo" pitchFamily="34" charset="-120"/>
              </a:rPr>
              <a:t>リスティング30名 / SNS10名 / 制作5名</a:t>
            </a:r>
            <a:endParaRPr lang="en-US" sz="1250" dirty="0"/>
          </a:p>
        </p:txBody>
      </p:sp>
      <p:sp>
        <p:nvSpPr>
          <p:cNvPr id="18" name="Text 16"/>
          <p:cNvSpPr/>
          <p:nvPr/>
        </p:nvSpPr>
        <p:spPr>
          <a:xfrm>
            <a:off x="914400" y="4572000"/>
            <a:ext cx="4617720" cy="1280160"/>
          </a:xfrm>
          <a:prstGeom prst="rect">
            <a:avLst/>
          </a:prstGeom>
          <a:noFill/>
          <a:ln/>
        </p:spPr>
        <p:txBody>
          <a:bodyPr wrap="square" lIns="0" tIns="0" rIns="0" bIns="0" rtlCol="0" anchor="t"/>
          <a:lstStyle/>
          <a:p>
            <a:pPr indent="0" marL="0">
              <a:lnSpc>
                <a:spcPct val="120000"/>
              </a:lnSpc>
              <a:buNone/>
            </a:pPr>
            <a:r>
              <a:rPr lang="en-US" sz="1150" dirty="0">
                <a:solidFill>
                  <a:srgbClr val="222222"/>
                </a:solidFill>
                <a:latin typeface="Meiryo" pitchFamily="34" charset="0"/>
                <a:ea typeface="Meiryo" pitchFamily="34" charset="-122"/>
                <a:cs typeface="Meiryo" pitchFamily="34" charset="-120"/>
              </a:rPr>
              <a:t>専門特化したフロントが詳細なデータ改修を直接実行します。</a:t>
            </a:r>
            <a:endParaRPr lang="en-US" sz="1150" dirty="0"/>
          </a:p>
        </p:txBody>
      </p:sp>
      <p:sp>
        <p:nvSpPr>
          <p:cNvPr id="19" name="Shape 17"/>
          <p:cNvSpPr/>
          <p:nvPr/>
        </p:nvSpPr>
        <p:spPr>
          <a:xfrm>
            <a:off x="6199632" y="1874520"/>
            <a:ext cx="5532120" cy="4160520"/>
          </a:xfrm>
          <a:prstGeom prst="roundRect">
            <a:avLst>
              <a:gd name="adj" fmla="val 1319"/>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20" name="Text 18"/>
          <p:cNvSpPr/>
          <p:nvPr/>
        </p:nvSpPr>
        <p:spPr>
          <a:xfrm>
            <a:off x="6382512" y="2011680"/>
            <a:ext cx="5120640" cy="365760"/>
          </a:xfrm>
          <a:prstGeom prst="rect">
            <a:avLst/>
          </a:prstGeom>
          <a:noFill/>
          <a:ln/>
        </p:spPr>
        <p:txBody>
          <a:bodyPr wrap="square" lIns="0" tIns="0" rIns="0" bIns="0" rtlCol="0" anchor="ctr"/>
          <a:lstStyle/>
          <a:p>
            <a:pPr indent="0" marL="0">
              <a:buNone/>
            </a:pPr>
            <a:r>
              <a:rPr lang="en-US" sz="1300" b="1" dirty="0">
                <a:solidFill>
                  <a:srgbClr val="1A2A5E"/>
                </a:solidFill>
                <a:latin typeface="Meiryo" pitchFamily="34" charset="0"/>
                <a:ea typeface="Meiryo" pitchFamily="34" charset="-122"/>
                <a:cs typeface="Meiryo" pitchFamily="34" charset="-120"/>
              </a:rPr>
              <a:t>DYM 品質管理サイクル</a:t>
            </a:r>
            <a:endParaRPr lang="en-US" sz="1300" dirty="0"/>
          </a:p>
        </p:txBody>
      </p:sp>
      <p:sp>
        <p:nvSpPr>
          <p:cNvPr id="21" name="Shape 19"/>
          <p:cNvSpPr/>
          <p:nvPr/>
        </p:nvSpPr>
        <p:spPr>
          <a:xfrm>
            <a:off x="6382512" y="2468880"/>
            <a:ext cx="5166360" cy="1417320"/>
          </a:xfrm>
          <a:prstGeom prst="roundRect">
            <a:avLst>
              <a:gd name="adj" fmla="val 3226"/>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22" name="Text 20"/>
          <p:cNvSpPr/>
          <p:nvPr/>
        </p:nvSpPr>
        <p:spPr>
          <a:xfrm>
            <a:off x="6537960" y="2578608"/>
            <a:ext cx="2011680" cy="320040"/>
          </a:xfrm>
          <a:prstGeom prst="rect">
            <a:avLst/>
          </a:prstGeom>
          <a:solidFill>
            <a:srgbClr val="F39800"/>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週 1 回</a:t>
            </a:r>
            <a:endParaRPr lang="en-US" sz="1100" dirty="0"/>
          </a:p>
        </p:txBody>
      </p:sp>
      <p:sp>
        <p:nvSpPr>
          <p:cNvPr id="23" name="Text 21"/>
          <p:cNvSpPr/>
          <p:nvPr/>
        </p:nvSpPr>
        <p:spPr>
          <a:xfrm>
            <a:off x="6537960" y="2944368"/>
            <a:ext cx="4846320" cy="320040"/>
          </a:xfrm>
          <a:prstGeom prst="rect">
            <a:avLst/>
          </a:prstGeom>
          <a:noFill/>
          <a:ln/>
        </p:spPr>
        <p:txBody>
          <a:bodyPr wrap="square" lIns="0" tIns="0" rIns="0" bIns="0" rtlCol="0" anchor="ctr"/>
          <a:lstStyle/>
          <a:p>
            <a:pPr indent="0" marL="0">
              <a:buNone/>
            </a:pPr>
            <a:r>
              <a:rPr lang="en-US" sz="1250" b="1" dirty="0">
                <a:solidFill>
                  <a:srgbClr val="1A2A5E"/>
                </a:solidFill>
                <a:latin typeface="Meiryo" pitchFamily="34" charset="0"/>
                <a:ea typeface="Meiryo" pitchFamily="34" charset="-122"/>
                <a:cs typeface="Meiryo" pitchFamily="34" charset="-120"/>
              </a:rPr>
              <a:t>社内カンファレンス</a:t>
            </a:r>
            <a:endParaRPr lang="en-US" sz="1250" dirty="0"/>
          </a:p>
        </p:txBody>
      </p:sp>
      <p:sp>
        <p:nvSpPr>
          <p:cNvPr id="24" name="Text 22"/>
          <p:cNvSpPr/>
          <p:nvPr/>
        </p:nvSpPr>
        <p:spPr>
          <a:xfrm>
            <a:off x="6537960" y="3291840"/>
            <a:ext cx="4846320" cy="502920"/>
          </a:xfrm>
          <a:prstGeom prst="rect">
            <a:avLst/>
          </a:prstGeom>
          <a:noFill/>
          <a:ln/>
        </p:spPr>
        <p:txBody>
          <a:bodyPr wrap="square" lIns="0" tIns="0" rIns="0" bIns="0" rtlCol="0" anchor="t"/>
          <a:lstStyle/>
          <a:p>
            <a:pPr indent="0" marL="0">
              <a:lnSpc>
                <a:spcPct val="110000"/>
              </a:lnSpc>
              <a:buNone/>
            </a:pPr>
            <a:r>
              <a:rPr lang="en-US" sz="1050" dirty="0">
                <a:solidFill>
                  <a:srgbClr val="222222"/>
                </a:solidFill>
                <a:latin typeface="Meiryo" pitchFamily="34" charset="0"/>
                <a:ea typeface="Meiryo" pitchFamily="34" charset="-122"/>
                <a:cs typeface="Meiryo" pitchFamily="34" charset="-120"/>
              </a:rPr>
              <a:t>改善に難航／初速のデータ蓄積段階のアカウントを全運用者の勉強会で集団最適化（スプレッドシート管理）</a:t>
            </a:r>
            <a:endParaRPr lang="en-US" sz="1050" dirty="0"/>
          </a:p>
        </p:txBody>
      </p:sp>
      <p:sp>
        <p:nvSpPr>
          <p:cNvPr id="25" name="Shape 23"/>
          <p:cNvSpPr/>
          <p:nvPr/>
        </p:nvSpPr>
        <p:spPr>
          <a:xfrm>
            <a:off x="6382512" y="4069080"/>
            <a:ext cx="5166360" cy="1417320"/>
          </a:xfrm>
          <a:prstGeom prst="roundRect">
            <a:avLst>
              <a:gd name="adj" fmla="val 3226"/>
            </a:avLst>
          </a:prstGeom>
          <a:solidFill>
            <a:srgbClr val="FFFFFF"/>
          </a:solidFill>
          <a:ln w="12700">
            <a:solidFill>
              <a:srgbClr val="D5D9E2"/>
            </a:solidFill>
            <a:prstDash val="solid"/>
          </a:ln>
          <a:effectLst>
            <a:outerShdw sx="100000" sy="100000" kx="0" ky="0" algn="bl" rotWithShape="0" blurRad="63500" dist="25400" dir="5400000">
              <a:srgbClr val="9AA1B2">
                <a:alpha val="28000"/>
              </a:srgbClr>
            </a:outerShdw>
          </a:effectLst>
        </p:spPr>
      </p:sp>
      <p:sp>
        <p:nvSpPr>
          <p:cNvPr id="26" name="Text 24"/>
          <p:cNvSpPr/>
          <p:nvPr/>
        </p:nvSpPr>
        <p:spPr>
          <a:xfrm>
            <a:off x="6537960" y="4178808"/>
            <a:ext cx="2011680" cy="320040"/>
          </a:xfrm>
          <a:prstGeom prst="rect">
            <a:avLst/>
          </a:prstGeom>
          <a:solidFill>
            <a:srgbClr val="F39800"/>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隔週</a:t>
            </a:r>
            <a:endParaRPr lang="en-US" sz="1100" dirty="0"/>
          </a:p>
        </p:txBody>
      </p:sp>
      <p:sp>
        <p:nvSpPr>
          <p:cNvPr id="27" name="Text 25"/>
          <p:cNvSpPr/>
          <p:nvPr/>
        </p:nvSpPr>
        <p:spPr>
          <a:xfrm>
            <a:off x="6537960" y="4544568"/>
            <a:ext cx="4846320" cy="320040"/>
          </a:xfrm>
          <a:prstGeom prst="rect">
            <a:avLst/>
          </a:prstGeom>
          <a:noFill/>
          <a:ln/>
        </p:spPr>
        <p:txBody>
          <a:bodyPr wrap="square" lIns="0" tIns="0" rIns="0" bIns="0" rtlCol="0" anchor="ctr"/>
          <a:lstStyle/>
          <a:p>
            <a:pPr indent="0" marL="0">
              <a:buNone/>
            </a:pPr>
            <a:r>
              <a:rPr lang="en-US" sz="1250" b="1" dirty="0">
                <a:solidFill>
                  <a:srgbClr val="1A2A5E"/>
                </a:solidFill>
                <a:latin typeface="Meiryo" pitchFamily="34" charset="0"/>
                <a:ea typeface="Meiryo" pitchFamily="34" charset="-122"/>
                <a:cs typeface="Meiryo" pitchFamily="34" charset="-120"/>
              </a:rPr>
              <a:t>媒体共通の小テスト</a:t>
            </a:r>
            <a:endParaRPr lang="en-US" sz="1250" dirty="0"/>
          </a:p>
        </p:txBody>
      </p:sp>
      <p:sp>
        <p:nvSpPr>
          <p:cNvPr id="28" name="Text 26"/>
          <p:cNvSpPr/>
          <p:nvPr/>
        </p:nvSpPr>
        <p:spPr>
          <a:xfrm>
            <a:off x="6537960" y="4892040"/>
            <a:ext cx="4846320" cy="502920"/>
          </a:xfrm>
          <a:prstGeom prst="rect">
            <a:avLst/>
          </a:prstGeom>
          <a:noFill/>
          <a:ln/>
        </p:spPr>
        <p:txBody>
          <a:bodyPr wrap="square" lIns="0" tIns="0" rIns="0" bIns="0" rtlCol="0" anchor="t"/>
          <a:lstStyle/>
          <a:p>
            <a:pPr indent="0" marL="0">
              <a:lnSpc>
                <a:spcPct val="110000"/>
              </a:lnSpc>
              <a:buNone/>
            </a:pPr>
            <a:r>
              <a:rPr lang="en-US" sz="1050" dirty="0">
                <a:solidFill>
                  <a:srgbClr val="222222"/>
                </a:solidFill>
                <a:latin typeface="Meiryo" pitchFamily="34" charset="0"/>
                <a:ea typeface="Meiryo" pitchFamily="34" charset="-122"/>
                <a:cs typeface="Meiryo" pitchFamily="34" charset="-120"/>
              </a:rPr>
              <a:t>最上位パートナーとして最新の媒体アップデートを全運用者で共通認識化し、運用の属人性を排除</a:t>
            </a:r>
            <a:endParaRPr lang="en-US" sz="1050" dirty="0"/>
          </a:p>
        </p:txBody>
      </p:sp>
      <p:sp>
        <p:nvSpPr>
          <p:cNvPr id="29" name="Text 27"/>
          <p:cNvSpPr/>
          <p:nvPr/>
        </p:nvSpPr>
        <p:spPr>
          <a:xfrm>
            <a:off x="457200" y="6144768"/>
            <a:ext cx="11274552" cy="292608"/>
          </a:xfrm>
          <a:prstGeom prst="rect">
            <a:avLst/>
          </a:prstGeom>
          <a:noFill/>
          <a:ln/>
        </p:spPr>
        <p:txBody>
          <a:bodyPr wrap="square" lIns="0" tIns="0" rIns="0" bIns="0" rtlCol="0" anchor="ctr"/>
          <a:lstStyle/>
          <a:p>
            <a:pPr indent="0" marL="0">
              <a:buNone/>
            </a:pPr>
            <a:r>
              <a:rPr lang="en-US" sz="900" i="1" dirty="0">
                <a:solidFill>
                  <a:srgbClr val="6B7280"/>
                </a:solidFill>
                <a:latin typeface="Meiryo" pitchFamily="34" charset="0"/>
                <a:ea typeface="Meiryo" pitchFamily="34" charset="-122"/>
                <a:cs typeface="Meiryo" pitchFamily="34" charset="-120"/>
              </a:rPr>
              <a:t>参照元：社内組織体制図、品質管理ガイドライン</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株式会社A-1設計様 WEBプロモーションのご提案</dc:title>
  <dc:subject>PptxGenJS Presentation</dc:subject>
  <dc:creator>DYM</dc:creator>
  <cp:lastModifiedBy>DYM</cp:lastModifiedBy>
  <cp:revision>1</cp:revision>
  <dcterms:created xsi:type="dcterms:W3CDTF">2026-07-08T06:35:52Z</dcterms:created>
  <dcterms:modified xsi:type="dcterms:W3CDTF">2026-07-08T06:35:52Z</dcterms:modified>
</cp:coreProperties>
</file>