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9"/>
  </p:notesMasterIdLst>
  <p:handoutMasterIdLst>
    <p:handoutMasterId r:id="rId60"/>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3174" r:id="rId65"/>
    <p:sldId id="3175" r:id="rId66"/>
    <p:sldId id="3176" r:id="rId67"/>
    <p:sldId id="2728" r:id="rId28"/>
    <p:sldId id="3160" r:id="rId29"/>
    <p:sldId id="3161" r:id="rId30"/>
    <p:sldId id="3162" r:id="rId31"/>
    <p:sldId id="3163" r:id="rId32"/>
    <p:sldId id="3164" r:id="rId33"/>
    <p:sldId id="3165" r:id="rId34"/>
    <p:sldId id="3166" r:id="rId35"/>
    <p:sldId id="3167" r:id="rId36"/>
    <p:sldId id="2729" r:id="rId37"/>
    <p:sldId id="3168" r:id="rId38"/>
    <p:sldId id="3169" r:id="rId39"/>
    <p:sldId id="3170" r:id="rId40"/>
    <p:sldId id="2730" r:id="rId41"/>
    <p:sldId id="2563" r:id="rId42"/>
    <p:sldId id="2959" r:id="rId43"/>
    <p:sldId id="2970" r:id="rId44"/>
    <p:sldId id="2968" r:id="rId45"/>
    <p:sldId id="2969" r:id="rId46"/>
    <p:sldId id="3151" r:id="rId47"/>
    <p:sldId id="2575" r:id="rId48"/>
    <p:sldId id="2910" r:id="rId49"/>
    <p:sldId id="3171" r:id="rId50"/>
    <p:sldId id="3172" r:id="rId51"/>
    <p:sldId id="3173" r:id="rId52"/>
    <p:sldId id="3136" r:id="rId53"/>
    <p:sldId id="3137" r:id="rId54"/>
    <p:sldId id="3138" r:id="rId55"/>
    <p:sldId id="3139" r:id="rId56"/>
    <p:sldId id="3140" r:id="rId57"/>
    <p:sldId id="1169" r:id="rId5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notesMaster" Target="notesMasters/notesMaster1.xml"/><Relationship Id="rId60" Type="http://schemas.openxmlformats.org/officeDocument/2006/relationships/handoutMaster" Target="handoutMasters/handout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0.png"/><Relationship Id="rId4" Type="http://schemas.openxmlformats.org/officeDocument/2006/relationships/image" Target="../media/image71.jpg"/><Relationship Id="rId5" Type="http://schemas.openxmlformats.org/officeDocument/2006/relationships/image" Target="../media/image7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jpeg"/><Relationship Id="rId8" Type="http://schemas.openxmlformats.org/officeDocument/2006/relationships/image" Target="../media/image58.jp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hyperlink" Target="https://youtube.com/shorts/0qI4QgrOppQ"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4.jpeg"/><Relationship Id="rId5" Type="http://schemas.openxmlformats.org/officeDocument/2006/relationships/image" Target="../media/image65.jpeg"/><Relationship Id="rId6" Type="http://schemas.openxmlformats.org/officeDocument/2006/relationships/image" Target="../media/image66.jpeg"/><Relationship Id="rId7" Type="http://schemas.openxmlformats.org/officeDocument/2006/relationships/image" Target="../media/image67.jpeg"/><Relationship Id="rId8" Type="http://schemas.openxmlformats.org/officeDocument/2006/relationships/image" Target="../media/image6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他社は、友だち追加の直後から毎日つないでいる。リゾートバイトの集客で、LINEは必須の接点になっている。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28800"/>
            <a:ext cx="32918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60" name="Rectangle 59"/>
          <p:cNvSpPr/>
          <p:nvPr/>
        </p:nvSpPr>
        <p:spPr>
          <a:xfrm>
            <a:off x="3703320" y="1828800"/>
            <a:ext cx="58247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61" name="Rectangle 60"/>
          <p:cNvSpPr/>
          <p:nvPr/>
        </p:nvSpPr>
        <p:spPr>
          <a:xfrm>
            <a:off x="384048" y="2231136"/>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追加の直後に、登録・相談へ誘導する</a:t>
            </a:r>
          </a:p>
        </p:txBody>
      </p:sp>
      <p:sp>
        <p:nvSpPr>
          <p:cNvPr id="62" name="Rectangle 61"/>
          <p:cNvSpPr/>
          <p:nvPr/>
        </p:nvSpPr>
        <p:spPr>
          <a:xfrm>
            <a:off x="3703320" y="2231136"/>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リゾートバイトダイブ／リゾバ.com／アルファリゾート</a:t>
            </a:r>
          </a:p>
        </p:txBody>
      </p:sp>
      <p:sp>
        <p:nvSpPr>
          <p:cNvPr id="63" name="Rectangle 62"/>
          <p:cNvSpPr/>
          <p:nvPr/>
        </p:nvSpPr>
        <p:spPr>
          <a:xfrm>
            <a:off x="384048" y="2907792"/>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追加の後も、毎日配信する</a:t>
            </a:r>
          </a:p>
        </p:txBody>
      </p:sp>
      <p:sp>
        <p:nvSpPr>
          <p:cNvPr id="64" name="Rectangle 63"/>
          <p:cNvSpPr/>
          <p:nvPr/>
        </p:nvSpPr>
        <p:spPr>
          <a:xfrm>
            <a:off x="3703320" y="2907792"/>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リゾートバイトダイブ（毎日1通）／リゾバ.com（1日2通）</a:t>
            </a:r>
          </a:p>
        </p:txBody>
      </p:sp>
      <p:sp>
        <p:nvSpPr>
          <p:cNvPr id="65" name="Rectangle 64"/>
          <p:cNvSpPr/>
          <p:nvPr/>
        </p:nvSpPr>
        <p:spPr>
          <a:xfrm>
            <a:off x="384048" y="3584448"/>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経験・タイプを聞き、合う求人を出し分ける</a:t>
            </a:r>
          </a:p>
        </p:txBody>
      </p:sp>
      <p:sp>
        <p:nvSpPr>
          <p:cNvPr id="66" name="Rectangle 65"/>
          <p:cNvSpPr/>
          <p:nvPr/>
        </p:nvSpPr>
        <p:spPr>
          <a:xfrm>
            <a:off x="3703320" y="3584448"/>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リゾバ.com（経験の有無・タイプ別）／リゾートバイト.com（アンケート）</a:t>
            </a:r>
          </a:p>
        </p:txBody>
      </p:sp>
      <p:sp>
        <p:nvSpPr>
          <p:cNvPr id="67" name="Rectangle 66"/>
          <p:cNvSpPr/>
          <p:nvPr/>
        </p:nvSpPr>
        <p:spPr>
          <a:xfrm>
            <a:off x="384048" y="4261104"/>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リッチメニューに、開始月別の求人を置く</a:t>
            </a:r>
          </a:p>
        </p:txBody>
      </p:sp>
      <p:sp>
        <p:nvSpPr>
          <p:cNvPr id="68" name="Rectangle 67"/>
          <p:cNvSpPr/>
          <p:nvPr/>
        </p:nvSpPr>
        <p:spPr>
          <a:xfrm>
            <a:off x="3703320" y="4261104"/>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重視したいポイントを分岐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（今のアンケートを発展）</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検索の直前・当日に「派遣会社」「単発バイト」「リゾートバイト」などを検索。働き方を比べている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検索の当日〜1日後に「扶養内で働ける金額 2025」「国民健康保険料」など、お金・保険の検索が続く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当日〜3日後に「派遣会社 おすすめ企業」「バイトル」「スタッフサービス」「エン派遣」など、会社・サービスを比べる検索が続く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2〜7日後に「派遣 職場見学 落ちる確率」「履歴書 書き方」など、応募・面接の準備の検索が増える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3"/>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Resort」の求人を、開始時期・エリアの答えで出し分け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・契約満了の前：次のお仕事の案内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友だちの入口</a:t>
            </a:r>
          </a:p>
          <a:p>
            <a:pPr algn="l">
              <a:lnSpc>
                <a:spcPct val="105000"/>
              </a:lnSpc>
              <a:spcAft>
                <a:spcPts val="200"/>
              </a:spcAft>
            </a:pPr>
            <a:r>
              <a:rPr sz="1200" b="0">
                <a:solidFill>
                  <a:srgbClr val="333333"/>
                </a:solidFill>
                <a:latin typeface="メイリオ"/>
                <a:ea typeface="メイリオ"/>
                <a:cs typeface="メイリオ"/>
              </a:rPr>
              <a:t>サイトのLINEボタン・広告の受け皿</a:t>
            </a:r>
          </a:p>
        </p:txBody>
      </p:sp>
      <p:sp>
        <p:nvSpPr>
          <p:cNvPr id="86" name="Rectangle 85"/>
          <p:cNvSpPr/>
          <p:nvPr/>
        </p:nvSpPr>
        <p:spPr>
          <a:xfrm>
            <a:off x="457200" y="2999232"/>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a:t>
            </a:r>
          </a:p>
        </p:txBody>
      </p:sp>
      <p:sp>
        <p:nvSpPr>
          <p:cNvPr id="87" name="Rectangle 86"/>
          <p:cNvSpPr/>
          <p:nvPr/>
        </p:nvSpPr>
        <p:spPr>
          <a:xfrm>
            <a:off x="868679" y="2999232"/>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サイト・広告から来る</a:t>
            </a:r>
          </a:p>
        </p:txBody>
      </p:sp>
      <p:sp>
        <p:nvSpPr>
          <p:cNvPr id="88" name="TextBox 87"/>
          <p:cNvSpPr txBox="1"/>
          <p:nvPr/>
        </p:nvSpPr>
        <p:spPr>
          <a:xfrm>
            <a:off x="457200" y="3456432"/>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89" name="Rectangle 88"/>
          <p:cNvSpPr/>
          <p:nvPr/>
        </p:nvSpPr>
        <p:spPr>
          <a:xfrm>
            <a:off x="457200" y="3657600"/>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a:t>
            </a:r>
          </a:p>
        </p:txBody>
      </p:sp>
      <p:sp>
        <p:nvSpPr>
          <p:cNvPr id="90" name="Rectangle 89"/>
          <p:cNvSpPr/>
          <p:nvPr/>
        </p:nvSpPr>
        <p:spPr>
          <a:xfrm>
            <a:off x="868679" y="3657600"/>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求人ページ・トップのLINEボタン</a:t>
            </a:r>
          </a:p>
        </p:txBody>
      </p:sp>
      <p:sp>
        <p:nvSpPr>
          <p:cNvPr id="91" name="TextBox 90"/>
          <p:cNvSpPr txBox="1"/>
          <p:nvPr/>
        </p:nvSpPr>
        <p:spPr>
          <a:xfrm>
            <a:off x="457200" y="4114800"/>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92" name="Rectangle 91"/>
          <p:cNvSpPr/>
          <p:nvPr/>
        </p:nvSpPr>
        <p:spPr>
          <a:xfrm>
            <a:off x="457200" y="4315968"/>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3</a:t>
            </a:r>
          </a:p>
        </p:txBody>
      </p:sp>
      <p:sp>
        <p:nvSpPr>
          <p:cNvPr id="93" name="Rectangle 92"/>
          <p:cNvSpPr/>
          <p:nvPr/>
        </p:nvSpPr>
        <p:spPr>
          <a:xfrm>
            <a:off x="868679" y="4315968"/>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友だち追加</a:t>
            </a:r>
          </a:p>
        </p:txBody>
      </p:sp>
      <p:sp>
        <p:nvSpPr>
          <p:cNvPr id="94" name="TextBox 93"/>
          <p:cNvSpPr txBox="1"/>
          <p:nvPr/>
        </p:nvSpPr>
        <p:spPr>
          <a:xfrm>
            <a:off x="457200" y="4773168"/>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95" name="Rectangle 94"/>
          <p:cNvSpPr/>
          <p:nvPr/>
        </p:nvSpPr>
        <p:spPr>
          <a:xfrm>
            <a:off x="457200" y="4974336"/>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a:t>
            </a:r>
          </a:p>
        </p:txBody>
      </p:sp>
      <p:sp>
        <p:nvSpPr>
          <p:cNvPr id="96" name="Rectangle 95"/>
          <p:cNvSpPr/>
          <p:nvPr/>
        </p:nvSpPr>
        <p:spPr>
          <a:xfrm>
            <a:off x="868679" y="4974336"/>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あいさつ・診断</a:t>
            </a:r>
          </a:p>
        </p:txBody>
      </p:sp>
      <p:sp>
        <p:nvSpPr>
          <p:cNvPr id="97" name="TextBox 96"/>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目的</a:t>
            </a:r>
          </a:p>
          <a:p>
            <a:pPr algn="l">
              <a:lnSpc>
                <a:spcPct val="105000"/>
              </a:lnSpc>
              <a:spcAft>
                <a:spcPts val="200"/>
              </a:spcAft>
            </a:pPr>
            <a:r>
              <a:rPr sz="1050" b="0">
                <a:solidFill>
                  <a:srgbClr val="333333"/>
                </a:solidFill>
                <a:latin typeface="メイリオ"/>
                <a:ea typeface="メイリオ"/>
                <a:cs typeface="メイリオ"/>
              </a:rPr>
              <a:t>サイトに来た方を、LINEでつながる友だちにする</a:t>
            </a:r>
          </a:p>
        </p:txBody>
      </p:sp>
      <p:sp>
        <p:nvSpPr>
          <p:cNvPr id="98" name="TextBox 97"/>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対象</a:t>
            </a:r>
          </a:p>
          <a:p>
            <a:pPr algn="l">
              <a:lnSpc>
                <a:spcPct val="105000"/>
              </a:lnSpc>
              <a:spcAft>
                <a:spcPts val="200"/>
              </a:spcAft>
            </a:pPr>
            <a:r>
              <a:rPr sz="1050" b="0">
                <a:solidFill>
                  <a:srgbClr val="333333"/>
                </a:solidFill>
                <a:latin typeface="メイリオ"/>
                <a:ea typeface="メイリオ"/>
                <a:cs typeface="メイリオ"/>
              </a:rPr>
              <a:t>サイトに来た方（月 約8.6万UU）</a:t>
            </a:r>
          </a:p>
        </p:txBody>
      </p:sp>
      <p:sp>
        <p:nvSpPr>
          <p:cNvPr id="99" name="TextBox 98"/>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中身</a:t>
            </a:r>
          </a:p>
          <a:p>
            <a:pPr algn="l">
              <a:lnSpc>
                <a:spcPct val="105000"/>
              </a:lnSpc>
              <a:spcAft>
                <a:spcPts val="200"/>
              </a:spcAft>
            </a:pPr>
            <a:r>
              <a:rPr sz="1050" b="0">
                <a:solidFill>
                  <a:srgbClr val="333333"/>
                </a:solidFill>
                <a:latin typeface="メイリオ"/>
                <a:ea typeface="メイリオ"/>
                <a:cs typeface="メイリオ"/>
              </a:rPr>
              <a:t>ボタンの訴求は「LINEで新着求人・開始月別の求人が届く」</a:t>
            </a:r>
          </a:p>
        </p:txBody>
      </p:sp>
      <p:sp>
        <p:nvSpPr>
          <p:cNvPr id="100" name="TextBox 99"/>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見る数字</a:t>
            </a:r>
          </a:p>
          <a:p>
            <a:pPr algn="l">
              <a:lnSpc>
                <a:spcPct val="105000"/>
              </a:lnSpc>
              <a:spcAft>
                <a:spcPts val="200"/>
              </a:spcAft>
            </a:pPr>
            <a:r>
              <a:rPr sz="1050" b="0">
                <a:solidFill>
                  <a:srgbClr val="333333"/>
                </a:solidFill>
                <a:latin typeface="メイリオ"/>
                <a:ea typeface="メイリオ"/>
                <a:cs typeface="メイリオ"/>
              </a:rPr>
              <a:t>サイトのボタンからの友だち追加数</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サイトを離れる方をLINEへ</a:t>
            </a:r>
          </a:p>
        </p:txBody>
      </p:sp>
      <p:sp>
        <p:nvSpPr>
          <p:cNvPr id="86" name="Rectangle 85"/>
          <p:cNvSpPr/>
          <p:nvPr/>
        </p:nvSpPr>
        <p:spPr>
          <a:xfrm>
            <a:off x="457200" y="2999232"/>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a:t>
            </a:r>
          </a:p>
        </p:txBody>
      </p:sp>
      <p:sp>
        <p:nvSpPr>
          <p:cNvPr id="87" name="Rectangle 86"/>
          <p:cNvSpPr/>
          <p:nvPr/>
        </p:nvSpPr>
        <p:spPr>
          <a:xfrm>
            <a:off x="868679" y="2999232"/>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求人を見る</a:t>
            </a:r>
          </a:p>
        </p:txBody>
      </p:sp>
      <p:sp>
        <p:nvSpPr>
          <p:cNvPr id="88" name="TextBox 87"/>
          <p:cNvSpPr txBox="1"/>
          <p:nvPr/>
        </p:nvSpPr>
        <p:spPr>
          <a:xfrm>
            <a:off x="457200" y="3456432"/>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89" name="Rectangle 88"/>
          <p:cNvSpPr/>
          <p:nvPr/>
        </p:nvSpPr>
        <p:spPr>
          <a:xfrm>
            <a:off x="457200" y="3657600"/>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a:t>
            </a:r>
          </a:p>
        </p:txBody>
      </p:sp>
      <p:sp>
        <p:nvSpPr>
          <p:cNvPr id="90" name="Rectangle 89"/>
          <p:cNvSpPr/>
          <p:nvPr/>
        </p:nvSpPr>
        <p:spPr>
          <a:xfrm>
            <a:off x="868679" y="3657600"/>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応募せずに離れようとする</a:t>
            </a:r>
          </a:p>
        </p:txBody>
      </p:sp>
      <p:sp>
        <p:nvSpPr>
          <p:cNvPr id="91" name="TextBox 90"/>
          <p:cNvSpPr txBox="1"/>
          <p:nvPr/>
        </p:nvSpPr>
        <p:spPr>
          <a:xfrm>
            <a:off x="457200" y="4114800"/>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92" name="Rectangle 91"/>
          <p:cNvSpPr/>
          <p:nvPr/>
        </p:nvSpPr>
        <p:spPr>
          <a:xfrm>
            <a:off x="457200" y="4315968"/>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3</a:t>
            </a:r>
          </a:p>
        </p:txBody>
      </p:sp>
      <p:sp>
        <p:nvSpPr>
          <p:cNvPr id="93" name="Rectangle 92"/>
          <p:cNvSpPr/>
          <p:nvPr/>
        </p:nvSpPr>
        <p:spPr>
          <a:xfrm>
            <a:off x="868679" y="4315968"/>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ポップアップ「LINEで新着求人を受け取る」</a:t>
            </a:r>
          </a:p>
        </p:txBody>
      </p:sp>
      <p:sp>
        <p:nvSpPr>
          <p:cNvPr id="94" name="TextBox 93"/>
          <p:cNvSpPr txBox="1"/>
          <p:nvPr/>
        </p:nvSpPr>
        <p:spPr>
          <a:xfrm>
            <a:off x="457200" y="4773168"/>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95" name="Rectangle 94"/>
          <p:cNvSpPr/>
          <p:nvPr/>
        </p:nvSpPr>
        <p:spPr>
          <a:xfrm>
            <a:off x="457200" y="4974336"/>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a:t>
            </a:r>
          </a:p>
        </p:txBody>
      </p:sp>
      <p:sp>
        <p:nvSpPr>
          <p:cNvPr id="96" name="Rectangle 95"/>
          <p:cNvSpPr/>
          <p:nvPr/>
        </p:nvSpPr>
        <p:spPr>
          <a:xfrm>
            <a:off x="868679" y="4974336"/>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友だち追加</a:t>
            </a:r>
          </a:p>
        </p:txBody>
      </p:sp>
      <p:sp>
        <p:nvSpPr>
          <p:cNvPr id="97" name="TextBox 96"/>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目的</a:t>
            </a:r>
          </a:p>
          <a:p>
            <a:pPr algn="l">
              <a:lnSpc>
                <a:spcPct val="105000"/>
              </a:lnSpc>
              <a:spcAft>
                <a:spcPts val="200"/>
              </a:spcAft>
            </a:pPr>
            <a:r>
              <a:rPr sz="1050" b="0">
                <a:solidFill>
                  <a:srgbClr val="333333"/>
                </a:solidFill>
                <a:latin typeface="メイリオ"/>
                <a:ea typeface="メイリオ"/>
                <a:cs typeface="メイリオ"/>
              </a:rPr>
              <a:t>応募せずに離れる方を、LINEで追える友だちにする</a:t>
            </a:r>
          </a:p>
        </p:txBody>
      </p:sp>
      <p:sp>
        <p:nvSpPr>
          <p:cNvPr id="98" name="TextBox 97"/>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対象</a:t>
            </a:r>
          </a:p>
          <a:p>
            <a:pPr algn="l">
              <a:lnSpc>
                <a:spcPct val="105000"/>
              </a:lnSpc>
              <a:spcAft>
                <a:spcPts val="200"/>
              </a:spcAft>
            </a:pPr>
            <a:r>
              <a:rPr sz="1050" b="0">
                <a:solidFill>
                  <a:srgbClr val="333333"/>
                </a:solidFill>
                <a:latin typeface="メイリオ"/>
                <a:ea typeface="メイリオ"/>
                <a:cs typeface="メイリオ"/>
              </a:rPr>
              <a:t>求人ページを見て、応募せずに離れる方</a:t>
            </a:r>
          </a:p>
        </p:txBody>
      </p:sp>
      <p:sp>
        <p:nvSpPr>
          <p:cNvPr id="99" name="TextBox 98"/>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中身</a:t>
            </a:r>
          </a:p>
          <a:p>
            <a:pPr algn="l">
              <a:lnSpc>
                <a:spcPct val="105000"/>
              </a:lnSpc>
              <a:spcAft>
                <a:spcPts val="200"/>
              </a:spcAft>
            </a:pPr>
            <a:r>
              <a:rPr sz="1050" b="0">
                <a:solidFill>
                  <a:srgbClr val="333333"/>
                </a:solidFill>
                <a:latin typeface="メイリオ"/>
                <a:ea typeface="メイリオ"/>
                <a:cs typeface="メイリオ"/>
              </a:rPr>
              <a:t>離れるタイミングで表示。開始時期・エリアに合う求人がLINEで届くと訴求</a:t>
            </a:r>
          </a:p>
        </p:txBody>
      </p:sp>
      <p:sp>
        <p:nvSpPr>
          <p:cNvPr id="100" name="TextBox 99"/>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見る数字</a:t>
            </a:r>
          </a:p>
          <a:p>
            <a:pPr algn="l">
              <a:lnSpc>
                <a:spcPct val="105000"/>
              </a:lnSpc>
              <a:spcAft>
                <a:spcPts val="200"/>
              </a:spcAft>
            </a:pPr>
            <a:r>
              <a:rPr sz="1050" b="0">
                <a:solidFill>
                  <a:srgbClr val="333333"/>
                </a:solidFill>
                <a:latin typeface="メイリオ"/>
                <a:ea typeface="メイリオ"/>
                <a:cs typeface="メイリオ"/>
              </a:rPr>
              <a:t>表示回数・クリック率・友だち追加数（月 約680〜710人）</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即時分類</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適正バイト診断</a:t>
            </a:r>
          </a:p>
          <a:p>
            <a:pPr algn="l">
              <a:lnSpc>
                <a:spcPct val="105000"/>
              </a:lnSpc>
              <a:spcAft>
                <a:spcPts val="200"/>
              </a:spcAft>
            </a:pPr>
            <a:r>
              <a:rPr sz="1200" b="0">
                <a:solidFill>
                  <a:srgbClr val="333333"/>
                </a:solidFill>
                <a:latin typeface="メイリオ"/>
                <a:ea typeface="メイリオ"/>
                <a:cs typeface="メイリオ"/>
              </a:rPr>
              <a:t>今のアンケートと「重視したいポイント」を発展</a:t>
            </a:r>
          </a:p>
        </p:txBody>
      </p:sp>
      <p:sp>
        <p:nvSpPr>
          <p:cNvPr id="109" name="Rectangle 108"/>
          <p:cNvSpPr/>
          <p:nvPr/>
        </p:nvSpPr>
        <p:spPr>
          <a:xfrm>
            <a:off x="457200" y="2999232"/>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a:t>
            </a:r>
          </a:p>
        </p:txBody>
      </p:sp>
      <p:sp>
        <p:nvSpPr>
          <p:cNvPr id="110" name="Rectangle 109"/>
          <p:cNvSpPr/>
          <p:nvPr/>
        </p:nvSpPr>
        <p:spPr>
          <a:xfrm>
            <a:off x="868679" y="2999232"/>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友だち追加</a:t>
            </a:r>
          </a:p>
        </p:txBody>
      </p:sp>
      <p:sp>
        <p:nvSpPr>
          <p:cNvPr id="111" name="TextBox 110"/>
          <p:cNvSpPr txBox="1"/>
          <p:nvPr/>
        </p:nvSpPr>
        <p:spPr>
          <a:xfrm>
            <a:off x="457200" y="3456432"/>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2" name="Rectangle 111"/>
          <p:cNvSpPr/>
          <p:nvPr/>
        </p:nvSpPr>
        <p:spPr>
          <a:xfrm>
            <a:off x="457200" y="3657600"/>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a:t>
            </a:r>
          </a:p>
        </p:txBody>
      </p:sp>
      <p:sp>
        <p:nvSpPr>
          <p:cNvPr id="113" name="Rectangle 112"/>
          <p:cNvSpPr/>
          <p:nvPr/>
        </p:nvSpPr>
        <p:spPr>
          <a:xfrm>
            <a:off x="868679" y="3657600"/>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3問タップ（開始時期・エリア・重視したいポイント）</a:t>
            </a:r>
          </a:p>
        </p:txBody>
      </p:sp>
      <p:sp>
        <p:nvSpPr>
          <p:cNvPr id="114" name="TextBox 113"/>
          <p:cNvSpPr txBox="1"/>
          <p:nvPr/>
        </p:nvSpPr>
        <p:spPr>
          <a:xfrm>
            <a:off x="457200" y="4114800"/>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5" name="Rectangle 114"/>
          <p:cNvSpPr/>
          <p:nvPr/>
        </p:nvSpPr>
        <p:spPr>
          <a:xfrm>
            <a:off x="457200" y="4315968"/>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3</a:t>
            </a:r>
          </a:p>
        </p:txBody>
      </p:sp>
      <p:sp>
        <p:nvSpPr>
          <p:cNvPr id="116" name="Rectangle 115"/>
          <p:cNvSpPr/>
          <p:nvPr/>
        </p:nvSpPr>
        <p:spPr>
          <a:xfrm>
            <a:off x="868679" y="4315968"/>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結果に合う求人を表示</a:t>
            </a:r>
          </a:p>
        </p:txBody>
      </p:sp>
      <p:sp>
        <p:nvSpPr>
          <p:cNvPr id="117" name="TextBox 116"/>
          <p:cNvSpPr txBox="1"/>
          <p:nvPr/>
        </p:nvSpPr>
        <p:spPr>
          <a:xfrm>
            <a:off x="457200" y="4773168"/>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8" name="Rectangle 117"/>
          <p:cNvSpPr/>
          <p:nvPr/>
        </p:nvSpPr>
        <p:spPr>
          <a:xfrm>
            <a:off x="457200" y="4974336"/>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a:t>
            </a:r>
          </a:p>
        </p:txBody>
      </p:sp>
      <p:sp>
        <p:nvSpPr>
          <p:cNvPr id="119" name="Rectangle 118"/>
          <p:cNvSpPr/>
          <p:nvPr/>
        </p:nvSpPr>
        <p:spPr>
          <a:xfrm>
            <a:off x="868679" y="4974336"/>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答えでタグ付け</a:t>
            </a:r>
          </a:p>
        </p:txBody>
      </p:sp>
      <p:sp>
        <p:nvSpPr>
          <p:cNvPr id="120" name="TextBox 119"/>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目的</a:t>
            </a:r>
          </a:p>
          <a:p>
            <a:pPr algn="l">
              <a:lnSpc>
                <a:spcPct val="105000"/>
              </a:lnSpc>
              <a:spcAft>
                <a:spcPts val="200"/>
              </a:spcAft>
            </a:pPr>
            <a:r>
              <a:rPr sz="1050" b="0">
                <a:solidFill>
                  <a:srgbClr val="333333"/>
                </a:solidFill>
                <a:latin typeface="メイリオ"/>
                <a:ea typeface="メイリオ"/>
                <a:cs typeface="メイリオ"/>
              </a:rPr>
              <a:t>追加の直後に、合う求人と配信の出し分けを決める</a:t>
            </a:r>
          </a:p>
        </p:txBody>
      </p:sp>
      <p:sp>
        <p:nvSpPr>
          <p:cNvPr id="121" name="TextBox 120"/>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対象</a:t>
            </a:r>
          </a:p>
          <a:p>
            <a:pPr algn="l">
              <a:lnSpc>
                <a:spcPct val="105000"/>
              </a:lnSpc>
              <a:spcAft>
                <a:spcPts val="200"/>
              </a:spcAft>
            </a:pPr>
            <a:r>
              <a:rPr sz="1050" b="0">
                <a:solidFill>
                  <a:srgbClr val="333333"/>
                </a:solidFill>
                <a:latin typeface="メイリオ"/>
                <a:ea typeface="メイリオ"/>
                <a:cs typeface="メイリオ"/>
              </a:rPr>
              <a:t>新しい友だち全員</a:t>
            </a:r>
          </a:p>
        </p:txBody>
      </p:sp>
      <p:sp>
        <p:nvSpPr>
          <p:cNvPr id="122" name="TextBox 121"/>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中身</a:t>
            </a:r>
          </a:p>
          <a:p>
            <a:pPr algn="l">
              <a:lnSpc>
                <a:spcPct val="105000"/>
              </a:lnSpc>
              <a:spcAft>
                <a:spcPts val="200"/>
              </a:spcAft>
            </a:pPr>
            <a:r>
              <a:rPr sz="1050" b="0">
                <a:solidFill>
                  <a:srgbClr val="333333"/>
                </a:solidFill>
                <a:latin typeface="メイリオ"/>
                <a:ea typeface="メイリオ"/>
                <a:cs typeface="メイリオ"/>
              </a:rPr>
              <a:t>今のアンケート（開始時期・エリア）に「重視したいポイント（立地・稼げる・出会い多数・住環境）」を足す</a:t>
            </a:r>
          </a:p>
        </p:txBody>
      </p:sp>
      <p:sp>
        <p:nvSpPr>
          <p:cNvPr id="123" name="TextBox 122"/>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見る数字</a:t>
            </a:r>
          </a:p>
          <a:p>
            <a:pPr algn="l">
              <a:lnSpc>
                <a:spcPct val="105000"/>
              </a:lnSpc>
              <a:spcAft>
                <a:spcPts val="200"/>
              </a:spcAft>
            </a:pPr>
            <a:r>
              <a:rPr sz="1050" b="0">
                <a:solidFill>
                  <a:srgbClr val="333333"/>
                </a:solidFill>
                <a:latin typeface="メイリオ"/>
                <a:ea typeface="メイリオ"/>
                <a:cs typeface="メイリオ"/>
              </a:rPr>
              <a:t>回答率・結果からの求人クリック</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追加後15日で、ENTRY・カウンセリングへ</a:t>
            </a:r>
          </a:p>
        </p:txBody>
      </p:sp>
      <p:sp>
        <p:nvSpPr>
          <p:cNvPr id="105" name="Rectangle 104"/>
          <p:cNvSpPr/>
          <p:nvPr/>
        </p:nvSpPr>
        <p:spPr>
          <a:xfrm>
            <a:off x="457200" y="2779776"/>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a:t>
            </a:r>
          </a:p>
        </p:txBody>
      </p:sp>
      <p:sp>
        <p:nvSpPr>
          <p:cNvPr id="106" name="Rectangle 105"/>
          <p:cNvSpPr/>
          <p:nvPr/>
        </p:nvSpPr>
        <p:spPr>
          <a:xfrm>
            <a:off x="868679" y="2779776"/>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Day0　診断</a:t>
            </a:r>
          </a:p>
        </p:txBody>
      </p:sp>
      <p:sp>
        <p:nvSpPr>
          <p:cNvPr id="107" name="TextBox 106"/>
          <p:cNvSpPr txBox="1"/>
          <p:nvPr/>
        </p:nvSpPr>
        <p:spPr>
          <a:xfrm>
            <a:off x="457200" y="3236976"/>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08" name="Rectangle 107"/>
          <p:cNvSpPr/>
          <p:nvPr/>
        </p:nvSpPr>
        <p:spPr>
          <a:xfrm>
            <a:off x="457200" y="3438144"/>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a:t>
            </a:r>
          </a:p>
        </p:txBody>
      </p:sp>
      <p:sp>
        <p:nvSpPr>
          <p:cNvPr id="109" name="Rectangle 108"/>
          <p:cNvSpPr/>
          <p:nvPr/>
        </p:nvSpPr>
        <p:spPr>
          <a:xfrm>
            <a:off x="868679" y="3438144"/>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Day1〜2　働き方</a:t>
            </a:r>
          </a:p>
        </p:txBody>
      </p:sp>
      <p:sp>
        <p:nvSpPr>
          <p:cNvPr id="110" name="TextBox 109"/>
          <p:cNvSpPr txBox="1"/>
          <p:nvPr/>
        </p:nvSpPr>
        <p:spPr>
          <a:xfrm>
            <a:off x="457200" y="3895343"/>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1" name="Rectangle 110"/>
          <p:cNvSpPr/>
          <p:nvPr/>
        </p:nvSpPr>
        <p:spPr>
          <a:xfrm>
            <a:off x="457200" y="4096512"/>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3</a:t>
            </a:r>
          </a:p>
        </p:txBody>
      </p:sp>
      <p:sp>
        <p:nvSpPr>
          <p:cNvPr id="112" name="Rectangle 111"/>
          <p:cNvSpPr/>
          <p:nvPr/>
        </p:nvSpPr>
        <p:spPr>
          <a:xfrm>
            <a:off x="868679" y="4096512"/>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Day3〜4　お金の疑問</a:t>
            </a:r>
          </a:p>
        </p:txBody>
      </p:sp>
      <p:sp>
        <p:nvSpPr>
          <p:cNvPr id="113" name="TextBox 112"/>
          <p:cNvSpPr txBox="1"/>
          <p:nvPr/>
        </p:nvSpPr>
        <p:spPr>
          <a:xfrm>
            <a:off x="457200" y="4553712"/>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4" name="Rectangle 113"/>
          <p:cNvSpPr/>
          <p:nvPr/>
        </p:nvSpPr>
        <p:spPr>
          <a:xfrm>
            <a:off x="457200" y="4754880"/>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a:t>
            </a:r>
          </a:p>
        </p:txBody>
      </p:sp>
      <p:sp>
        <p:nvSpPr>
          <p:cNvPr id="115" name="Rectangle 114"/>
          <p:cNvSpPr/>
          <p:nvPr/>
        </p:nvSpPr>
        <p:spPr>
          <a:xfrm>
            <a:off x="868679" y="4754880"/>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Day6〜7　会社の選び方</a:t>
            </a:r>
          </a:p>
        </p:txBody>
      </p:sp>
      <p:sp>
        <p:nvSpPr>
          <p:cNvPr id="116" name="TextBox 115"/>
          <p:cNvSpPr txBox="1"/>
          <p:nvPr/>
        </p:nvSpPr>
        <p:spPr>
          <a:xfrm>
            <a:off x="457200" y="5212080"/>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7" name="Rectangle 116"/>
          <p:cNvSpPr/>
          <p:nvPr/>
        </p:nvSpPr>
        <p:spPr>
          <a:xfrm>
            <a:off x="457200" y="5413248"/>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5</a:t>
            </a:r>
          </a:p>
        </p:txBody>
      </p:sp>
      <p:sp>
        <p:nvSpPr>
          <p:cNvPr id="118" name="Rectangle 117"/>
          <p:cNvSpPr/>
          <p:nvPr/>
        </p:nvSpPr>
        <p:spPr>
          <a:xfrm>
            <a:off x="868679" y="5413248"/>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Day10〜15　ENTRY</a:t>
            </a:r>
          </a:p>
        </p:txBody>
      </p:sp>
      <p:sp>
        <p:nvSpPr>
          <p:cNvPr id="119" name="TextBox 118"/>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目的</a:t>
            </a:r>
          </a:p>
          <a:p>
            <a:pPr algn="l">
              <a:lnSpc>
                <a:spcPct val="105000"/>
              </a:lnSpc>
              <a:spcAft>
                <a:spcPts val="200"/>
              </a:spcAft>
            </a:pPr>
            <a:r>
              <a:rPr sz="1050" b="0">
                <a:solidFill>
                  <a:srgbClr val="333333"/>
                </a:solidFill>
                <a:latin typeface="メイリオ"/>
                <a:ea typeface="メイリオ"/>
                <a:cs typeface="メイリオ"/>
              </a:rPr>
              <a:t>追加から15日で、ENTRYまで信頼を積み上げる</a:t>
            </a:r>
          </a:p>
        </p:txBody>
      </p:sp>
      <p:sp>
        <p:nvSpPr>
          <p:cNvPr id="120" name="TextBox 119"/>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対象</a:t>
            </a:r>
          </a:p>
          <a:p>
            <a:pPr algn="l">
              <a:lnSpc>
                <a:spcPct val="105000"/>
              </a:lnSpc>
              <a:spcAft>
                <a:spcPts val="200"/>
              </a:spcAft>
            </a:pPr>
            <a:r>
              <a:rPr sz="1050" b="0">
                <a:solidFill>
                  <a:srgbClr val="333333"/>
                </a:solidFill>
                <a:latin typeface="メイリオ"/>
                <a:ea typeface="メイリオ"/>
                <a:cs typeface="メイリオ"/>
              </a:rPr>
              <a:t>その月の新しい友だち</a:t>
            </a:r>
          </a:p>
        </p:txBody>
      </p:sp>
      <p:sp>
        <p:nvSpPr>
          <p:cNvPr id="121" name="TextBox 120"/>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中身</a:t>
            </a:r>
          </a:p>
          <a:p>
            <a:pPr algn="l">
              <a:lnSpc>
                <a:spcPct val="105000"/>
              </a:lnSpc>
              <a:spcAft>
                <a:spcPts val="200"/>
              </a:spcAft>
            </a:pPr>
            <a:r>
              <a:rPr sz="1050" b="0">
                <a:solidFill>
                  <a:srgbClr val="333333"/>
                </a:solidFill>
                <a:latin typeface="メイリオ"/>
                <a:ea typeface="メイリオ"/>
                <a:cs typeface="メイリオ"/>
              </a:rPr>
              <a:t>前後検索「派遣 登録」の順番に合わせた5通（24ページ）</a:t>
            </a:r>
          </a:p>
        </p:txBody>
      </p:sp>
      <p:sp>
        <p:nvSpPr>
          <p:cNvPr id="122" name="TextBox 121"/>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見る数字</a:t>
            </a:r>
          </a:p>
          <a:p>
            <a:pPr algn="l">
              <a:lnSpc>
                <a:spcPct val="105000"/>
              </a:lnSpc>
              <a:spcAft>
                <a:spcPts val="200"/>
              </a:spcAft>
            </a:pPr>
            <a:r>
              <a:rPr sz="1050" b="0">
                <a:solidFill>
                  <a:srgbClr val="333333"/>
                </a:solidFill>
                <a:latin typeface="メイリオ"/>
                <a:ea typeface="メイリオ"/>
                <a:cs typeface="メイリオ"/>
              </a:rPr>
              <a:t>各通のクリック率・ENTRY数</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診断の答えで、配信を出し分ける</a:t>
            </a:r>
          </a:p>
        </p:txBody>
      </p:sp>
      <p:sp>
        <p:nvSpPr>
          <p:cNvPr id="105" name="Rectangle 104"/>
          <p:cNvSpPr/>
          <p:nvPr/>
        </p:nvSpPr>
        <p:spPr>
          <a:xfrm>
            <a:off x="457200" y="2999232"/>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a:t>
            </a:r>
          </a:p>
        </p:txBody>
      </p:sp>
      <p:sp>
        <p:nvSpPr>
          <p:cNvPr id="106" name="Rectangle 105"/>
          <p:cNvSpPr/>
          <p:nvPr/>
        </p:nvSpPr>
        <p:spPr>
          <a:xfrm>
            <a:off x="868679" y="2999232"/>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診断の答え（開始時期・エリア）</a:t>
            </a:r>
          </a:p>
        </p:txBody>
      </p:sp>
      <p:sp>
        <p:nvSpPr>
          <p:cNvPr id="107" name="TextBox 106"/>
          <p:cNvSpPr txBox="1"/>
          <p:nvPr/>
        </p:nvSpPr>
        <p:spPr>
          <a:xfrm>
            <a:off x="457200" y="3456432"/>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08" name="Rectangle 107"/>
          <p:cNvSpPr/>
          <p:nvPr/>
        </p:nvSpPr>
        <p:spPr>
          <a:xfrm>
            <a:off x="457200" y="3657600"/>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a:t>
            </a:r>
          </a:p>
        </p:txBody>
      </p:sp>
      <p:sp>
        <p:nvSpPr>
          <p:cNvPr id="109" name="Rectangle 108"/>
          <p:cNvSpPr/>
          <p:nvPr/>
        </p:nvSpPr>
        <p:spPr>
          <a:xfrm>
            <a:off x="868679" y="3657600"/>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タグで分ける</a:t>
            </a:r>
          </a:p>
        </p:txBody>
      </p:sp>
      <p:sp>
        <p:nvSpPr>
          <p:cNvPr id="110" name="TextBox 109"/>
          <p:cNvSpPr txBox="1"/>
          <p:nvPr/>
        </p:nvSpPr>
        <p:spPr>
          <a:xfrm>
            <a:off x="457200" y="4114800"/>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1" name="Rectangle 110"/>
          <p:cNvSpPr/>
          <p:nvPr/>
        </p:nvSpPr>
        <p:spPr>
          <a:xfrm>
            <a:off x="457200" y="4315968"/>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3</a:t>
            </a:r>
          </a:p>
        </p:txBody>
      </p:sp>
      <p:sp>
        <p:nvSpPr>
          <p:cNvPr id="112" name="Rectangle 111"/>
          <p:cNvSpPr/>
          <p:nvPr/>
        </p:nvSpPr>
        <p:spPr>
          <a:xfrm>
            <a:off x="868679" y="4315968"/>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合う求人だけを配信</a:t>
            </a:r>
          </a:p>
        </p:txBody>
      </p:sp>
      <p:sp>
        <p:nvSpPr>
          <p:cNvPr id="113" name="TextBox 112"/>
          <p:cNvSpPr txBox="1"/>
          <p:nvPr/>
        </p:nvSpPr>
        <p:spPr>
          <a:xfrm>
            <a:off x="457200" y="4773168"/>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4" name="Rectangle 113"/>
          <p:cNvSpPr/>
          <p:nvPr/>
        </p:nvSpPr>
        <p:spPr>
          <a:xfrm>
            <a:off x="457200" y="4974336"/>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a:t>
            </a:r>
          </a:p>
        </p:txBody>
      </p:sp>
      <p:sp>
        <p:nvSpPr>
          <p:cNvPr id="115" name="Rectangle 114"/>
          <p:cNvSpPr/>
          <p:nvPr/>
        </p:nvSpPr>
        <p:spPr>
          <a:xfrm>
            <a:off x="868679" y="4974336"/>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応募</a:t>
            </a:r>
          </a:p>
        </p:txBody>
      </p:sp>
      <p:sp>
        <p:nvSpPr>
          <p:cNvPr id="116" name="TextBox 115"/>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目的</a:t>
            </a:r>
          </a:p>
          <a:p>
            <a:pPr algn="l">
              <a:lnSpc>
                <a:spcPct val="105000"/>
              </a:lnSpc>
              <a:spcAft>
                <a:spcPts val="200"/>
              </a:spcAft>
            </a:pPr>
            <a:r>
              <a:rPr sz="1050" b="0">
                <a:solidFill>
                  <a:srgbClr val="333333"/>
                </a:solidFill>
                <a:latin typeface="メイリオ"/>
                <a:ea typeface="メイリオ"/>
                <a:cs typeface="メイリオ"/>
              </a:rPr>
              <a:t>全員への配信をやめ、合う求人だけを届けてブロックを減らす</a:t>
            </a:r>
          </a:p>
        </p:txBody>
      </p:sp>
      <p:sp>
        <p:nvSpPr>
          <p:cNvPr id="117" name="TextBox 116"/>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対象</a:t>
            </a:r>
          </a:p>
          <a:p>
            <a:pPr algn="l">
              <a:lnSpc>
                <a:spcPct val="105000"/>
              </a:lnSpc>
              <a:spcAft>
                <a:spcPts val="200"/>
              </a:spcAft>
            </a:pPr>
            <a:r>
              <a:rPr sz="1050" b="0">
                <a:solidFill>
                  <a:srgbClr val="333333"/>
                </a:solidFill>
                <a:latin typeface="メイリオ"/>
                <a:ea typeface="メイリオ"/>
                <a:cs typeface="メイリオ"/>
              </a:rPr>
              <a:t>開始時期・エリアに答えた友だち</a:t>
            </a:r>
          </a:p>
        </p:txBody>
      </p:sp>
      <p:sp>
        <p:nvSpPr>
          <p:cNvPr id="118" name="TextBox 117"/>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中身</a:t>
            </a:r>
          </a:p>
          <a:p>
            <a:pPr algn="l">
              <a:lnSpc>
                <a:spcPct val="105000"/>
              </a:lnSpc>
              <a:spcAft>
                <a:spcPts val="200"/>
              </a:spcAft>
            </a:pPr>
            <a:r>
              <a:rPr sz="1050" b="0">
                <a:solidFill>
                  <a:srgbClr val="333333"/>
                </a:solidFill>
                <a:latin typeface="メイリオ"/>
                <a:ea typeface="メイリオ"/>
                <a:cs typeface="メイリオ"/>
              </a:rPr>
              <a:t>例：12月開始×山・高原 → スキー場の求人／1〜2か月先×海・離島 → 海・離島の求人</a:t>
            </a:r>
          </a:p>
        </p:txBody>
      </p:sp>
      <p:sp>
        <p:nvSpPr>
          <p:cNvPr id="119" name="TextBox 118"/>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見る数字</a:t>
            </a:r>
          </a:p>
          <a:p>
            <a:pPr algn="l">
              <a:lnSpc>
                <a:spcPct val="105000"/>
              </a:lnSpc>
              <a:spcAft>
                <a:spcPts val="200"/>
              </a:spcAft>
            </a:pPr>
            <a:r>
              <a:rPr sz="1050" b="0">
                <a:solidFill>
                  <a:srgbClr val="333333"/>
                </a:solidFill>
                <a:latin typeface="メイリオ"/>
                <a:ea typeface="メイリオ"/>
                <a:cs typeface="メイリオ"/>
              </a:rPr>
              <a:t>ブロック率・クリック率（全員への配信と比べる）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分岐育成</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リッチメニュー</a:t>
            </a:r>
          </a:p>
          <a:p>
            <a:pPr algn="l">
              <a:lnSpc>
                <a:spcPct val="105000"/>
              </a:lnSpc>
              <a:spcAft>
                <a:spcPts val="200"/>
              </a:spcAft>
            </a:pPr>
            <a:r>
              <a:rPr sz="1200" b="0">
                <a:solidFill>
                  <a:srgbClr val="333333"/>
                </a:solidFill>
                <a:latin typeface="メイリオ"/>
                <a:ea typeface="メイリオ"/>
                <a:cs typeface="メイリオ"/>
              </a:rPr>
              <a:t>開始月別の求人・相談・ENTRY</a:t>
            </a:r>
          </a:p>
        </p:txBody>
      </p:sp>
      <p:sp>
        <p:nvSpPr>
          <p:cNvPr id="90" name="Rectangle 89"/>
          <p:cNvSpPr/>
          <p:nvPr/>
        </p:nvSpPr>
        <p:spPr>
          <a:xfrm>
            <a:off x="457200" y="2999232"/>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a:t>
            </a:r>
          </a:p>
        </p:txBody>
      </p:sp>
      <p:sp>
        <p:nvSpPr>
          <p:cNvPr id="91" name="Rectangle 90"/>
          <p:cNvSpPr/>
          <p:nvPr/>
        </p:nvSpPr>
        <p:spPr>
          <a:xfrm>
            <a:off x="868679" y="2999232"/>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メニューを開く</a:t>
            </a:r>
          </a:p>
        </p:txBody>
      </p:sp>
      <p:sp>
        <p:nvSpPr>
          <p:cNvPr id="92" name="TextBox 91"/>
          <p:cNvSpPr txBox="1"/>
          <p:nvPr/>
        </p:nvSpPr>
        <p:spPr>
          <a:xfrm>
            <a:off x="457200" y="3456432"/>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93" name="Rectangle 92"/>
          <p:cNvSpPr/>
          <p:nvPr/>
        </p:nvSpPr>
        <p:spPr>
          <a:xfrm>
            <a:off x="457200" y="3657600"/>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a:t>
            </a:r>
          </a:p>
        </p:txBody>
      </p:sp>
      <p:sp>
        <p:nvSpPr>
          <p:cNvPr id="94" name="Rectangle 93"/>
          <p:cNvSpPr/>
          <p:nvPr/>
        </p:nvSpPr>
        <p:spPr>
          <a:xfrm>
            <a:off x="868679" y="3657600"/>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開始月別の求人</a:t>
            </a:r>
          </a:p>
        </p:txBody>
      </p:sp>
      <p:sp>
        <p:nvSpPr>
          <p:cNvPr id="95" name="TextBox 94"/>
          <p:cNvSpPr txBox="1"/>
          <p:nvPr/>
        </p:nvSpPr>
        <p:spPr>
          <a:xfrm>
            <a:off x="457200" y="4114800"/>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96" name="Rectangle 95"/>
          <p:cNvSpPr/>
          <p:nvPr/>
        </p:nvSpPr>
        <p:spPr>
          <a:xfrm>
            <a:off x="457200" y="4315968"/>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3</a:t>
            </a:r>
          </a:p>
        </p:txBody>
      </p:sp>
      <p:sp>
        <p:nvSpPr>
          <p:cNvPr id="97" name="Rectangle 96"/>
          <p:cNvSpPr/>
          <p:nvPr/>
        </p:nvSpPr>
        <p:spPr>
          <a:xfrm>
            <a:off x="868679" y="4315968"/>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求人を見る</a:t>
            </a:r>
          </a:p>
        </p:txBody>
      </p:sp>
      <p:sp>
        <p:nvSpPr>
          <p:cNvPr id="98" name="TextBox 97"/>
          <p:cNvSpPr txBox="1"/>
          <p:nvPr/>
        </p:nvSpPr>
        <p:spPr>
          <a:xfrm>
            <a:off x="457200" y="4773168"/>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99" name="Rectangle 98"/>
          <p:cNvSpPr/>
          <p:nvPr/>
        </p:nvSpPr>
        <p:spPr>
          <a:xfrm>
            <a:off x="457200" y="4974336"/>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a:t>
            </a:r>
          </a:p>
        </p:txBody>
      </p:sp>
      <p:sp>
        <p:nvSpPr>
          <p:cNvPr id="100" name="Rectangle 99"/>
          <p:cNvSpPr/>
          <p:nvPr/>
        </p:nvSpPr>
        <p:spPr>
          <a:xfrm>
            <a:off x="868679" y="4974336"/>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会員登録</a:t>
            </a:r>
          </a:p>
        </p:txBody>
      </p:sp>
      <p:sp>
        <p:nvSpPr>
          <p:cNvPr id="101" name="TextBox 100"/>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目的</a:t>
            </a:r>
          </a:p>
          <a:p>
            <a:pPr algn="l">
              <a:lnSpc>
                <a:spcPct val="105000"/>
              </a:lnSpc>
              <a:spcAft>
                <a:spcPts val="200"/>
              </a:spcAft>
            </a:pPr>
            <a:r>
              <a:rPr sz="1050" b="0">
                <a:solidFill>
                  <a:srgbClr val="333333"/>
                </a:solidFill>
                <a:latin typeface="メイリオ"/>
                <a:ea typeface="メイリオ"/>
                <a:cs typeface="メイリオ"/>
              </a:rPr>
              <a:t>配信を待たずに、自分で求人とENTRYにたどり着ける</a:t>
            </a:r>
          </a:p>
        </p:txBody>
      </p:sp>
      <p:sp>
        <p:nvSpPr>
          <p:cNvPr id="102" name="TextBox 101"/>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対象</a:t>
            </a:r>
          </a:p>
          <a:p>
            <a:pPr algn="l">
              <a:lnSpc>
                <a:spcPct val="105000"/>
              </a:lnSpc>
              <a:spcAft>
                <a:spcPts val="200"/>
              </a:spcAft>
            </a:pPr>
            <a:r>
              <a:rPr sz="1050" b="0">
                <a:solidFill>
                  <a:srgbClr val="333333"/>
                </a:solidFill>
                <a:latin typeface="メイリオ"/>
                <a:ea typeface="メイリオ"/>
                <a:cs typeface="メイリオ"/>
              </a:rPr>
              <a:t>すべての友だち</a:t>
            </a:r>
          </a:p>
        </p:txBody>
      </p:sp>
      <p:sp>
        <p:nvSpPr>
          <p:cNvPr id="103" name="TextBox 102"/>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中身</a:t>
            </a:r>
          </a:p>
          <a:p>
            <a:pPr algn="l">
              <a:lnSpc>
                <a:spcPct val="105000"/>
              </a:lnSpc>
              <a:spcAft>
                <a:spcPts val="200"/>
              </a:spcAft>
            </a:pPr>
            <a:r>
              <a:rPr sz="1050" b="0">
                <a:solidFill>
                  <a:srgbClr val="333333"/>
                </a:solidFill>
                <a:latin typeface="メイリオ"/>
                <a:ea typeface="メイリオ"/>
                <a:cs typeface="メイリオ"/>
              </a:rPr>
              <a:t>今の2タブを活かし、上段に開始月別の求人と会員登録。体験談・Q&amp;Aは2つ目のタブ</a:t>
            </a:r>
          </a:p>
        </p:txBody>
      </p:sp>
      <p:sp>
        <p:nvSpPr>
          <p:cNvPr id="104" name="TextBox 103"/>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見る数字</a:t>
            </a:r>
          </a:p>
          <a:p>
            <a:pPr algn="l">
              <a:lnSpc>
                <a:spcPct val="105000"/>
              </a:lnSpc>
              <a:spcAft>
                <a:spcPts val="200"/>
              </a:spcAft>
            </a:pPr>
            <a:r>
              <a:rPr sz="1050" b="0">
                <a:solidFill>
                  <a:srgbClr val="333333"/>
                </a:solidFill>
                <a:latin typeface="メイリオ"/>
                <a:ea typeface="メイリオ"/>
                <a:cs typeface="メイリオ"/>
              </a:rPr>
              <a:t>項目ごとのタップ数</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サンクスLINE誘導（オプション）</a:t>
            </a:r>
          </a:p>
          <a:p>
            <a:pPr algn="l">
              <a:lnSpc>
                <a:spcPct val="105000"/>
              </a:lnSpc>
              <a:spcAft>
                <a:spcPts val="200"/>
              </a:spcAft>
            </a:pPr>
            <a:r>
              <a:rPr sz="1200" b="0">
                <a:solidFill>
                  <a:srgbClr val="333333"/>
                </a:solidFill>
                <a:latin typeface="メイリオ"/>
                <a:ea typeface="メイリオ"/>
                <a:cs typeface="メイリオ"/>
              </a:rPr>
              <a:t>マイページ登録の完了画面からLINEへ、カウンセリング・応募まで</a:t>
            </a:r>
          </a:p>
        </p:txBody>
      </p:sp>
      <p:sp>
        <p:nvSpPr>
          <p:cNvPr id="105" name="Rectangle 104"/>
          <p:cNvSpPr/>
          <p:nvPr/>
        </p:nvSpPr>
        <p:spPr>
          <a:xfrm>
            <a:off x="457200" y="2999232"/>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a:t>
            </a:r>
          </a:p>
        </p:txBody>
      </p:sp>
      <p:sp>
        <p:nvSpPr>
          <p:cNvPr id="106" name="Rectangle 105"/>
          <p:cNvSpPr/>
          <p:nvPr/>
        </p:nvSpPr>
        <p:spPr>
          <a:xfrm>
            <a:off x="868679" y="2999232"/>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マイページ登録（応募）</a:t>
            </a:r>
          </a:p>
        </p:txBody>
      </p:sp>
      <p:sp>
        <p:nvSpPr>
          <p:cNvPr id="107" name="TextBox 106"/>
          <p:cNvSpPr txBox="1"/>
          <p:nvPr/>
        </p:nvSpPr>
        <p:spPr>
          <a:xfrm>
            <a:off x="457200" y="3456432"/>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08" name="Rectangle 107"/>
          <p:cNvSpPr/>
          <p:nvPr/>
        </p:nvSpPr>
        <p:spPr>
          <a:xfrm>
            <a:off x="457200" y="3657600"/>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a:t>
            </a:r>
          </a:p>
        </p:txBody>
      </p:sp>
      <p:sp>
        <p:nvSpPr>
          <p:cNvPr id="109" name="Rectangle 108"/>
          <p:cNvSpPr/>
          <p:nvPr/>
        </p:nvSpPr>
        <p:spPr>
          <a:xfrm>
            <a:off x="868679" y="3657600"/>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完了画面</a:t>
            </a:r>
          </a:p>
        </p:txBody>
      </p:sp>
      <p:sp>
        <p:nvSpPr>
          <p:cNvPr id="110" name="TextBox 109"/>
          <p:cNvSpPr txBox="1"/>
          <p:nvPr/>
        </p:nvSpPr>
        <p:spPr>
          <a:xfrm>
            <a:off x="457200" y="4114800"/>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1" name="Rectangle 110"/>
          <p:cNvSpPr/>
          <p:nvPr/>
        </p:nvSpPr>
        <p:spPr>
          <a:xfrm>
            <a:off x="457200" y="4315968"/>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3</a:t>
            </a:r>
          </a:p>
        </p:txBody>
      </p:sp>
      <p:sp>
        <p:nvSpPr>
          <p:cNvPr id="112" name="Rectangle 111"/>
          <p:cNvSpPr/>
          <p:nvPr/>
        </p:nvSpPr>
        <p:spPr>
          <a:xfrm>
            <a:off x="868679" y="4315968"/>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LINE友だち追加</a:t>
            </a:r>
          </a:p>
        </p:txBody>
      </p:sp>
      <p:sp>
        <p:nvSpPr>
          <p:cNvPr id="113" name="TextBox 112"/>
          <p:cNvSpPr txBox="1"/>
          <p:nvPr/>
        </p:nvSpPr>
        <p:spPr>
          <a:xfrm>
            <a:off x="457200" y="4773168"/>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4" name="Rectangle 113"/>
          <p:cNvSpPr/>
          <p:nvPr/>
        </p:nvSpPr>
        <p:spPr>
          <a:xfrm>
            <a:off x="457200" y="4974336"/>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a:t>
            </a:r>
          </a:p>
        </p:txBody>
      </p:sp>
      <p:sp>
        <p:nvSpPr>
          <p:cNvPr id="115" name="Rectangle 114"/>
          <p:cNvSpPr/>
          <p:nvPr/>
        </p:nvSpPr>
        <p:spPr>
          <a:xfrm>
            <a:off x="868679" y="4974336"/>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受付と次の流れ・専属エージェントの案内</a:t>
            </a:r>
          </a:p>
        </p:txBody>
      </p:sp>
      <p:sp>
        <p:nvSpPr>
          <p:cNvPr id="116" name="TextBox 115"/>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目的</a:t>
            </a:r>
          </a:p>
          <a:p>
            <a:pPr algn="l">
              <a:lnSpc>
                <a:spcPct val="105000"/>
              </a:lnSpc>
              <a:spcAft>
                <a:spcPts val="200"/>
              </a:spcAft>
            </a:pPr>
            <a:r>
              <a:rPr sz="1050" b="0">
                <a:solidFill>
                  <a:srgbClr val="333333"/>
                </a:solidFill>
                <a:latin typeface="メイリオ"/>
                <a:ea typeface="メイリオ"/>
                <a:cs typeface="メイリオ"/>
              </a:rPr>
              <a:t>登録した方とLINEでつながり、カウンセリング・お仕事開始まで追う</a:t>
            </a:r>
          </a:p>
        </p:txBody>
      </p:sp>
      <p:sp>
        <p:nvSpPr>
          <p:cNvPr id="117" name="TextBox 116"/>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対象</a:t>
            </a:r>
          </a:p>
          <a:p>
            <a:pPr algn="l">
              <a:lnSpc>
                <a:spcPct val="105000"/>
              </a:lnSpc>
              <a:spcAft>
                <a:spcPts val="200"/>
              </a:spcAft>
            </a:pPr>
            <a:r>
              <a:rPr sz="1050" b="0">
                <a:solidFill>
                  <a:srgbClr val="333333"/>
                </a:solidFill>
                <a:latin typeface="メイリオ"/>
                <a:ea typeface="メイリオ"/>
                <a:cs typeface="メイリオ"/>
              </a:rPr>
              <a:t>マイページ登録を完了した方</a:t>
            </a:r>
          </a:p>
        </p:txBody>
      </p:sp>
      <p:sp>
        <p:nvSpPr>
          <p:cNvPr id="118" name="TextBox 117"/>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中身</a:t>
            </a:r>
          </a:p>
          <a:p>
            <a:pPr algn="l">
              <a:lnSpc>
                <a:spcPct val="105000"/>
              </a:lnSpc>
              <a:spcAft>
                <a:spcPts val="200"/>
              </a:spcAft>
            </a:pPr>
            <a:r>
              <a:rPr sz="1050" b="0">
                <a:solidFill>
                  <a:srgbClr val="333333"/>
                </a:solidFill>
                <a:latin typeface="メイリオ"/>
                <a:ea typeface="メイリオ"/>
                <a:cs typeface="メイリオ"/>
              </a:rPr>
              <a:t>完了画面からLINEへ。登録の受付・次の流れ・専属エージェントを案内（初期15万円・月額3万円〜）</a:t>
            </a:r>
          </a:p>
        </p:txBody>
      </p:sp>
      <p:sp>
        <p:nvSpPr>
          <p:cNvPr id="119" name="TextBox 118"/>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見る数字</a:t>
            </a:r>
          </a:p>
          <a:p>
            <a:pPr algn="l">
              <a:lnSpc>
                <a:spcPct val="105000"/>
              </a:lnSpc>
              <a:spcAft>
                <a:spcPts val="200"/>
              </a:spcAft>
            </a:pPr>
            <a:r>
              <a:rPr sz="1050" b="0">
                <a:solidFill>
                  <a:srgbClr val="333333"/>
                </a:solidFill>
                <a:latin typeface="メイリオ"/>
                <a:ea typeface="メイリオ"/>
                <a:cs typeface="メイリオ"/>
              </a:rPr>
              <a:t>登録した方のうち友だちになった数</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D248B8A-3417-C9D7-9DE8-CF0AAB168222}"/>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契約満了前の次のお仕事案内</a:t>
            </a:r>
          </a:p>
          <a:p>
            <a:pPr algn="l">
              <a:lnSpc>
                <a:spcPct val="105000"/>
              </a:lnSpc>
              <a:spcAft>
                <a:spcPts val="200"/>
              </a:spcAft>
            </a:pPr>
            <a:r>
              <a:rPr sz="1200" b="0">
                <a:solidFill>
                  <a:srgbClr val="333333"/>
                </a:solidFill>
                <a:latin typeface="メイリオ"/>
                <a:ea typeface="メイリオ"/>
                <a:cs typeface="メイリオ"/>
              </a:rPr>
              <a:t>稼働中・満了前に、次のお仕事をご案内</a:t>
            </a:r>
          </a:p>
        </p:txBody>
      </p:sp>
      <p:sp>
        <p:nvSpPr>
          <p:cNvPr id="105" name="Rectangle 104"/>
          <p:cNvSpPr/>
          <p:nvPr/>
        </p:nvSpPr>
        <p:spPr>
          <a:xfrm>
            <a:off x="457200" y="2999232"/>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1</a:t>
            </a:r>
          </a:p>
        </p:txBody>
      </p:sp>
      <p:sp>
        <p:nvSpPr>
          <p:cNvPr id="106" name="Rectangle 105"/>
          <p:cNvSpPr/>
          <p:nvPr/>
        </p:nvSpPr>
        <p:spPr>
          <a:xfrm>
            <a:off x="868679" y="2999232"/>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お仕事開始</a:t>
            </a:r>
          </a:p>
        </p:txBody>
      </p:sp>
      <p:sp>
        <p:nvSpPr>
          <p:cNvPr id="107" name="TextBox 106"/>
          <p:cNvSpPr txBox="1"/>
          <p:nvPr/>
        </p:nvSpPr>
        <p:spPr>
          <a:xfrm>
            <a:off x="457200" y="3456432"/>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08" name="Rectangle 107"/>
          <p:cNvSpPr/>
          <p:nvPr/>
        </p:nvSpPr>
        <p:spPr>
          <a:xfrm>
            <a:off x="457200" y="3657600"/>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2</a:t>
            </a:r>
          </a:p>
        </p:txBody>
      </p:sp>
      <p:sp>
        <p:nvSpPr>
          <p:cNvPr id="109" name="Rectangle 108"/>
          <p:cNvSpPr/>
          <p:nvPr/>
        </p:nvSpPr>
        <p:spPr>
          <a:xfrm>
            <a:off x="868679" y="3657600"/>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満了が近づく</a:t>
            </a:r>
          </a:p>
        </p:txBody>
      </p:sp>
      <p:sp>
        <p:nvSpPr>
          <p:cNvPr id="110" name="TextBox 109"/>
          <p:cNvSpPr txBox="1"/>
          <p:nvPr/>
        </p:nvSpPr>
        <p:spPr>
          <a:xfrm>
            <a:off x="457200" y="4114800"/>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1" name="Rectangle 110"/>
          <p:cNvSpPr/>
          <p:nvPr/>
        </p:nvSpPr>
        <p:spPr>
          <a:xfrm>
            <a:off x="457200" y="4315968"/>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3</a:t>
            </a:r>
          </a:p>
        </p:txBody>
      </p:sp>
      <p:sp>
        <p:nvSpPr>
          <p:cNvPr id="112" name="Rectangle 111"/>
          <p:cNvSpPr/>
          <p:nvPr/>
        </p:nvSpPr>
        <p:spPr>
          <a:xfrm>
            <a:off x="868679" y="4315968"/>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次のお仕事の案内</a:t>
            </a:r>
          </a:p>
        </p:txBody>
      </p:sp>
      <p:sp>
        <p:nvSpPr>
          <p:cNvPr id="113" name="TextBox 112"/>
          <p:cNvSpPr txBox="1"/>
          <p:nvPr/>
        </p:nvSpPr>
        <p:spPr>
          <a:xfrm>
            <a:off x="457200" y="4773168"/>
            <a:ext cx="411480" cy="219456"/>
          </a:xfrm>
          <a:prstGeom prst="rect">
            <a:avLst/>
          </a:prstGeom>
          <a:noFill/>
        </p:spPr>
        <p:txBody>
          <a:bodyPr wrap="square" anchor="ctr" lIns="36000" rIns="36000" tIns="10800" bIns="10800">
            <a:spAutoFit/>
          </a:bodyPr>
          <a:lstStyle/>
          <a:p>
            <a:pPr algn="ctr">
              <a:lnSpc>
                <a:spcPct val="105000"/>
              </a:lnSpc>
              <a:spcAft>
                <a:spcPts val="200"/>
              </a:spcAft>
            </a:pPr>
            <a:r>
              <a:rPr sz="800" b="0">
                <a:solidFill>
                  <a:srgbClr val="1F2A5C"/>
                </a:solidFill>
                <a:latin typeface="メイリオ"/>
                <a:ea typeface="メイリオ"/>
                <a:cs typeface="メイリオ"/>
              </a:rPr>
              <a:t>▼</a:t>
            </a:r>
          </a:p>
        </p:txBody>
      </p:sp>
      <p:sp>
        <p:nvSpPr>
          <p:cNvPr id="114" name="Rectangle 113"/>
          <p:cNvSpPr/>
          <p:nvPr/>
        </p:nvSpPr>
        <p:spPr>
          <a:xfrm>
            <a:off x="457200" y="4974336"/>
            <a:ext cx="411480" cy="47548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4</a:t>
            </a:r>
          </a:p>
        </p:txBody>
      </p:sp>
      <p:sp>
        <p:nvSpPr>
          <p:cNvPr id="115" name="Rectangle 114"/>
          <p:cNvSpPr/>
          <p:nvPr/>
        </p:nvSpPr>
        <p:spPr>
          <a:xfrm>
            <a:off x="868679" y="4974336"/>
            <a:ext cx="5120639" cy="47548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250" b="1">
                <a:solidFill>
                  <a:srgbClr val="1F2A5C"/>
                </a:solidFill>
                <a:latin typeface="メイリオ"/>
                <a:ea typeface="メイリオ"/>
                <a:cs typeface="メイリオ"/>
              </a:rPr>
              <a:t>次の応募</a:t>
            </a:r>
          </a:p>
        </p:txBody>
      </p:sp>
      <p:sp>
        <p:nvSpPr>
          <p:cNvPr id="116" name="TextBox 115"/>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目的</a:t>
            </a:r>
          </a:p>
          <a:p>
            <a:pPr algn="l">
              <a:lnSpc>
                <a:spcPct val="105000"/>
              </a:lnSpc>
              <a:spcAft>
                <a:spcPts val="200"/>
              </a:spcAft>
            </a:pPr>
            <a:r>
              <a:rPr sz="1050" b="0">
                <a:solidFill>
                  <a:srgbClr val="333333"/>
                </a:solidFill>
                <a:latin typeface="メイリオ"/>
                <a:ea typeface="メイリオ"/>
                <a:cs typeface="メイリオ"/>
              </a:rPr>
              <a:t>1回で終わらせず、次のお仕事につなげる</a:t>
            </a:r>
          </a:p>
        </p:txBody>
      </p:sp>
      <p:sp>
        <p:nvSpPr>
          <p:cNvPr id="117" name="TextBox 116"/>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対象</a:t>
            </a:r>
          </a:p>
          <a:p>
            <a:pPr algn="l">
              <a:lnSpc>
                <a:spcPct val="105000"/>
              </a:lnSpc>
              <a:spcAft>
                <a:spcPts val="200"/>
              </a:spcAft>
            </a:pPr>
            <a:r>
              <a:rPr sz="1050" b="0">
                <a:solidFill>
                  <a:srgbClr val="333333"/>
                </a:solidFill>
                <a:latin typeface="メイリオ"/>
                <a:ea typeface="メイリオ"/>
                <a:cs typeface="メイリオ"/>
              </a:rPr>
              <a:t>お仕事を始めた方（診断の開始時期から配信の時期を合わせる）</a:t>
            </a:r>
          </a:p>
        </p:txBody>
      </p:sp>
      <p:sp>
        <p:nvSpPr>
          <p:cNvPr id="118" name="TextBox 117"/>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中身</a:t>
            </a:r>
          </a:p>
          <a:p>
            <a:pPr algn="l">
              <a:lnSpc>
                <a:spcPct val="105000"/>
              </a:lnSpc>
              <a:spcAft>
                <a:spcPts val="200"/>
              </a:spcAft>
            </a:pPr>
            <a:r>
              <a:rPr sz="1050" b="0">
                <a:solidFill>
                  <a:srgbClr val="333333"/>
                </a:solidFill>
                <a:latin typeface="メイリオ"/>
                <a:ea typeface="メイリオ"/>
                <a:cs typeface="メイリオ"/>
              </a:rPr>
              <a:t>満了の前に、次の季節のお仕事を案内（冬→春、夏→秋）</a:t>
            </a:r>
          </a:p>
        </p:txBody>
      </p:sp>
      <p:sp>
        <p:nvSpPr>
          <p:cNvPr id="119" name="TextBox 118"/>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200" b="1">
                <a:solidFill>
                  <a:srgbClr val="1F2A5C"/>
                </a:solidFill>
                <a:latin typeface="メイリオ"/>
                <a:ea typeface="メイリオ"/>
                <a:cs typeface="メイリオ"/>
              </a:rPr>
              <a:t>見る数字</a:t>
            </a:r>
          </a:p>
          <a:p>
            <a:pPr algn="l">
              <a:lnSpc>
                <a:spcPct val="105000"/>
              </a:lnSpc>
              <a:spcAft>
                <a:spcPts val="200"/>
              </a:spcAft>
            </a:pPr>
            <a:r>
              <a:rPr sz="1050" b="0">
                <a:solidFill>
                  <a:srgbClr val="333333"/>
                </a:solidFill>
                <a:latin typeface="メイリオ"/>
                <a:ea typeface="メイリオ"/>
                <a:cs typeface="メイリオ"/>
              </a:rPr>
              <a:t>再応募数</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概算お見積り：月33万円で、6か月目に友だち 86,631人・応募 月232件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¥330,000〜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月3回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86,631人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232件/月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プラン①（月3投稿）で、友だちの入口を増やし、検討の順番に沿った配信で応募を増やす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380,000円〜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200,000円〜／プラン② 250,000円〜）＋ポップアップ 15,000円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30,000円。サンクスLINE誘導はオプション（初期150,000円・月額30,000円〜）。LINE公式アカウント利用料は別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月3回程度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384048" y="530352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※サンクスLINE誘導はオプション（初期150,000円・月額30,000円〜）</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145396</TotalTime>
  <Words>4402</Words>
  <Application>Microsoft Office PowerPoint</Application>
  <PresentationFormat>A4 210 x 297 mm</PresentationFormat>
  <Paragraphs>1027</Paragraphs>
  <Slides>56</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1983</cp:revision>
  <cp:lastPrinted>2022-11-01T11:38:14Z</cp:lastPrinted>
  <dcterms:created xsi:type="dcterms:W3CDTF">2015-09-04T09:21:15Z</dcterms:created>
  <dcterms:modified xsi:type="dcterms:W3CDTF">2026-10-26T04:36:09Z</dcterms:modified>
</cp:coreProperties>
</file>