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9"/>
  </p:notesMasterIdLst>
  <p:handoutMasterIdLst>
    <p:handoutMasterId r:id="rId60"/>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65"/>
    <p:sldId id="3175" r:id="rId66"/>
    <p:sldId id="3176" r:id="rId67"/>
    <p:sldId id="2728" r:id="rId28"/>
    <p:sldId id="3160" r:id="rId29"/>
    <p:sldId id="3161" r:id="rId30"/>
    <p:sldId id="3162" r:id="rId31"/>
    <p:sldId id="3163" r:id="rId32"/>
    <p:sldId id="3164" r:id="rId33"/>
    <p:sldId id="3165" r:id="rId34"/>
    <p:sldId id="3166" r:id="rId35"/>
    <p:sldId id="3167" r:id="rId36"/>
    <p:sldId id="2729" r:id="rId37"/>
    <p:sldId id="3168" r:id="rId38"/>
    <p:sldId id="3169" r:id="rId39"/>
    <p:sldId id="3170" r:id="rId40"/>
    <p:sldId id="2730" r:id="rId41"/>
    <p:sldId id="2563" r:id="rId42"/>
    <p:sldId id="2959" r:id="rId43"/>
    <p:sldId id="2970" r:id="rId44"/>
    <p:sldId id="2968" r:id="rId45"/>
    <p:sldId id="2969" r:id="rId46"/>
    <p:sldId id="3151" r:id="rId47"/>
    <p:sldId id="2575" r:id="rId48"/>
    <p:sldId id="2910" r:id="rId49"/>
    <p:sldId id="3171" r:id="rId50"/>
    <p:sldId id="3172" r:id="rId51"/>
    <p:sldId id="3173" r:id="rId52"/>
    <p:sldId id="3136" r:id="rId53"/>
    <p:sldId id="3137" r:id="rId54"/>
    <p:sldId id="3138" r:id="rId55"/>
    <p:sldId id="3139" r:id="rId56"/>
    <p:sldId id="3140" r:id="rId57"/>
    <p:sldId id="1169" r:id="rId5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74" d="100"/>
          <a:sy n="74" d="100"/>
        </p:scale>
        <p:origin x="784" y="4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notesMaster" Target="notesMasters/notesMaster1.xml"/><Relationship Id="rId60" Type="http://schemas.openxmlformats.org/officeDocument/2006/relationships/handoutMaster" Target="handoutMasters/handout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 Id="rId65" Type="http://schemas.openxmlformats.org/officeDocument/2006/relationships/slide" Target="slides/slide23.xml"/><Relationship Id="rId66" Type="http://schemas.openxmlformats.org/officeDocument/2006/relationships/slide" Target="slides/slide24.xml"/><Relationship Id="rId67"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2026/10/26</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jpg"/><Relationship Id="rId3" Type="http://schemas.openxmlformats.org/officeDocument/2006/relationships/image" Target="../media/image25.jpg"/><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jpg"/><Relationship Id="rId3" Type="http://schemas.openxmlformats.org/officeDocument/2006/relationships/image" Target="../media/image2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jpg"/><Relationship Id="rId3" Type="http://schemas.openxmlformats.org/officeDocument/2006/relationships/image" Target="../media/image3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70.png"/><Relationship Id="rId4" Type="http://schemas.openxmlformats.org/officeDocument/2006/relationships/image" Target="../media/image71.jpg"/><Relationship Id="rId5" Type="http://schemas.openxmlformats.org/officeDocument/2006/relationships/image" Target="../media/image7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7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jpeg"/><Relationship Id="rId8" Type="http://schemas.openxmlformats.org/officeDocument/2006/relationships/image" Target="../media/image58.jpg"/><Relationship Id="rId9" Type="http://schemas.openxmlformats.org/officeDocument/2006/relationships/image" Target="../media/image59.png"/><Relationship Id="rId10" Type="http://schemas.openxmlformats.org/officeDocument/2006/relationships/image" Target="../media/image60.png"/><Relationship Id="rId11" Type="http://schemas.openxmlformats.org/officeDocument/2006/relationships/hyperlink" Target="https://youtube.com/shorts/0qI4QgrOppQ"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64.jpeg"/><Relationship Id="rId5" Type="http://schemas.openxmlformats.org/officeDocument/2006/relationships/image" Target="../media/image65.jpeg"/><Relationship Id="rId6" Type="http://schemas.openxmlformats.org/officeDocument/2006/relationships/image" Target="../media/image66.jpeg"/><Relationship Id="rId7" Type="http://schemas.openxmlformats.org/officeDocument/2006/relationships/image" Target="../media/image67.jpeg"/><Relationship Id="rId8" Type="http://schemas.openxmlformats.org/officeDocument/2006/relationships/image" Target="../media/image6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他社は、友だち追加の直後から毎日つないでいる。リゾートバイトの集客で、LINEは必須の接点になっている。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28800"/>
            <a:ext cx="32918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60" name="Rectangle 59"/>
          <p:cNvSpPr/>
          <p:nvPr/>
        </p:nvSpPr>
        <p:spPr>
          <a:xfrm>
            <a:off x="3703320" y="1828800"/>
            <a:ext cx="582472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61" name="Rectangle 60"/>
          <p:cNvSpPr/>
          <p:nvPr/>
        </p:nvSpPr>
        <p:spPr>
          <a:xfrm>
            <a:off x="384048" y="2231136"/>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追加の直後に、登録・相談へ誘導する</a:t>
            </a:r>
          </a:p>
        </p:txBody>
      </p:sp>
      <p:sp>
        <p:nvSpPr>
          <p:cNvPr id="62" name="Rectangle 61"/>
          <p:cNvSpPr/>
          <p:nvPr/>
        </p:nvSpPr>
        <p:spPr>
          <a:xfrm>
            <a:off x="3703320" y="2231136"/>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リゾートバイトダイブ／リゾバ.com／アルファリゾート</a:t>
            </a:r>
          </a:p>
        </p:txBody>
      </p:sp>
      <p:sp>
        <p:nvSpPr>
          <p:cNvPr id="63" name="Rectangle 62"/>
          <p:cNvSpPr/>
          <p:nvPr/>
        </p:nvSpPr>
        <p:spPr>
          <a:xfrm>
            <a:off x="384048" y="2907792"/>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追加の後も、毎日配信する</a:t>
            </a:r>
          </a:p>
        </p:txBody>
      </p:sp>
      <p:sp>
        <p:nvSpPr>
          <p:cNvPr id="64" name="Rectangle 63"/>
          <p:cNvSpPr/>
          <p:nvPr/>
        </p:nvSpPr>
        <p:spPr>
          <a:xfrm>
            <a:off x="3703320" y="2907792"/>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リゾートバイトダイブ（毎日1通）／リゾバ.com（1日2通）</a:t>
            </a:r>
          </a:p>
        </p:txBody>
      </p:sp>
      <p:sp>
        <p:nvSpPr>
          <p:cNvPr id="65" name="Rectangle 64"/>
          <p:cNvSpPr/>
          <p:nvPr/>
        </p:nvSpPr>
        <p:spPr>
          <a:xfrm>
            <a:off x="384048" y="3584448"/>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経験・タイプを聞き、合う求人を出し分ける</a:t>
            </a:r>
          </a:p>
        </p:txBody>
      </p:sp>
      <p:sp>
        <p:nvSpPr>
          <p:cNvPr id="66" name="Rectangle 65"/>
          <p:cNvSpPr/>
          <p:nvPr/>
        </p:nvSpPr>
        <p:spPr>
          <a:xfrm>
            <a:off x="3703320" y="3584448"/>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リゾバ.com（経験の有無・タイプ別）／リゾートバイト.com（アンケート）</a:t>
            </a:r>
          </a:p>
        </p:txBody>
      </p:sp>
      <p:sp>
        <p:nvSpPr>
          <p:cNvPr id="67" name="Rectangle 66"/>
          <p:cNvSpPr/>
          <p:nvPr/>
        </p:nvSpPr>
        <p:spPr>
          <a:xfrm>
            <a:off x="384048" y="4261104"/>
            <a:ext cx="3291840" cy="640079"/>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リッチメニューに、開始月別の求人を置く</a:t>
            </a:r>
          </a:p>
        </p:txBody>
      </p:sp>
      <p:sp>
        <p:nvSpPr>
          <p:cNvPr id="68" name="Rectangle 67"/>
          <p:cNvSpPr/>
          <p:nvPr/>
        </p:nvSpPr>
        <p:spPr>
          <a:xfrm>
            <a:off x="3703320" y="4261104"/>
            <a:ext cx="5824728" cy="640079"/>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重視したいポイントを分岐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（今のアンケートを発展）</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検索の直前・当日に「派遣会社」「単発バイト」「リゾートバイト」などを検索。働き方を比べている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検索の当日〜1日後に「扶養内で働ける金額 2025」「国民健康保険料」など、お金・保険の検索が続く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当日〜3日後に「派遣会社 おすすめ企業」「バイトル」「スタッフサービス」「エン派遣」など、会社・サービスを比べる検索が続く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2〜7日後に「派遣 職場見学 落ちる確率」「履歴書 書き方」など、応募・面接の準備の検索が増える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3"/>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Resort」の求人を、開始時期・エリアの答えで出し分け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・契約満了の前：次のお仕事の案内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サイト・広告から来る</a:t>
            </a:r>
          </a:p>
        </p:txBody>
      </p:sp>
      <p:sp>
        <p:nvSpPr>
          <p:cNvPr id="88" name="TextBox 87"/>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求人ページ・トップのLINEボタン</a:t>
            </a:r>
          </a:p>
        </p:txBody>
      </p:sp>
      <p:sp>
        <p:nvSpPr>
          <p:cNvPr id="91" name="TextBox 90"/>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4" name="TextBox 93"/>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あいさつ・診断</a:t>
            </a:r>
          </a:p>
        </p:txBody>
      </p:sp>
      <p:sp>
        <p:nvSpPr>
          <p:cNvPr id="97" name="TextBox 96"/>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サイトに来た方を、LINEでつながる友だちにする</a:t>
            </a:r>
          </a:p>
        </p:txBody>
      </p:sp>
      <p:sp>
        <p:nvSpPr>
          <p:cNvPr id="98" name="TextBox 97"/>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サイトに来た方（月 約8.6万UU）</a:t>
            </a:r>
          </a:p>
        </p:txBody>
      </p:sp>
      <p:sp>
        <p:nvSpPr>
          <p:cNvPr id="99" name="TextBox 98"/>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ボタンの訴求は「LINEで新着求人・開始月別の求人が届く」</a:t>
            </a:r>
          </a:p>
        </p:txBody>
      </p:sp>
      <p:sp>
        <p:nvSpPr>
          <p:cNvPr id="100" name="TextBox 99"/>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サイトのボタンからの友だち追加数</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B8E2DC18-3E5E-447C-CEDF-5068AF4D0A32}"/>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5D50EF2A-1185-0E22-D912-9AEA3CB774BC}"/>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95CDFDF2-ACE7-3D27-F326-7F888F2AC7B9}"/>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sp>
        <p:nvSpPr>
          <p:cNvPr id="86" name="Rectangle 85"/>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87" name="Rectangle 86"/>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88" name="TextBox 87"/>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89" name="Rectangle 88"/>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0" name="Rectangle 89"/>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応募せずに離れようとする</a:t>
            </a:r>
          </a:p>
        </p:txBody>
      </p:sp>
      <p:sp>
        <p:nvSpPr>
          <p:cNvPr id="91" name="TextBox 90"/>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2" name="Rectangle 91"/>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3" name="Rectangle 92"/>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ポップアップ「LINEで新着求人を受け取る」</a:t>
            </a:r>
          </a:p>
        </p:txBody>
      </p:sp>
      <p:sp>
        <p:nvSpPr>
          <p:cNvPr id="94" name="TextBox 93"/>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5" name="Rectangle 94"/>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96" name="Rectangle 95"/>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97" name="TextBox 96"/>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応募せずに離れる方を、LINEで追える友だちにする</a:t>
            </a:r>
          </a:p>
        </p:txBody>
      </p:sp>
      <p:sp>
        <p:nvSpPr>
          <p:cNvPr id="98" name="TextBox 97"/>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求人ページを見て、応募せずに離れる方</a:t>
            </a:r>
          </a:p>
        </p:txBody>
      </p:sp>
      <p:sp>
        <p:nvSpPr>
          <p:cNvPr id="99" name="TextBox 98"/>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離れるタイミングで表示。開始時期・エリアに合う求人がLINEで届くと訴求</a:t>
            </a:r>
          </a:p>
        </p:txBody>
      </p:sp>
      <p:sp>
        <p:nvSpPr>
          <p:cNvPr id="100" name="TextBox 99"/>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表示回数・クリック率・友だち追加数（月 約680〜710人）</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2DCC85EB-7726-39A6-E767-A7E7AF9FC9AF}"/>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D941B869-0BE3-91CA-64FF-DE13FF4539A3}"/>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F7F5C7CD-143E-D046-95E0-587BA9375C6D}"/>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今のアンケートと「重視したいポイント」を発展</a:t>
            </a:r>
          </a:p>
        </p:txBody>
      </p:sp>
      <p:sp>
        <p:nvSpPr>
          <p:cNvPr id="109" name="Rectangle 108"/>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10" name="Rectangle 109"/>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友だち追加</a:t>
            </a:r>
          </a:p>
        </p:txBody>
      </p:sp>
      <p:sp>
        <p:nvSpPr>
          <p:cNvPr id="111" name="TextBox 110"/>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2" name="Rectangle 111"/>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13" name="Rectangle 112"/>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3問タップ（開始時期・エリア・重視したいポイント）</a:t>
            </a:r>
          </a:p>
        </p:txBody>
      </p:sp>
      <p:sp>
        <p:nvSpPr>
          <p:cNvPr id="114" name="TextBox 113"/>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5" name="Rectangle 114"/>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6" name="Rectangle 115"/>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結果に合う求人を表示</a:t>
            </a:r>
          </a:p>
        </p:txBody>
      </p:sp>
      <p:sp>
        <p:nvSpPr>
          <p:cNvPr id="117" name="TextBox 116"/>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8" name="Rectangle 117"/>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9" name="Rectangle 118"/>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答えでタグ付け</a:t>
            </a:r>
          </a:p>
        </p:txBody>
      </p:sp>
      <p:sp>
        <p:nvSpPr>
          <p:cNvPr id="120" name="TextBox 119"/>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追加の直後に、合う求人と配信の出し分けを決める</a:t>
            </a:r>
          </a:p>
        </p:txBody>
      </p:sp>
      <p:sp>
        <p:nvSpPr>
          <p:cNvPr id="121" name="TextBox 120"/>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新しい友だち全員</a:t>
            </a:r>
          </a:p>
        </p:txBody>
      </p:sp>
      <p:sp>
        <p:nvSpPr>
          <p:cNvPr id="122" name="TextBox 121"/>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今のアンケート（開始時期・エリア）に「重視したいポイント（立地・稼げる・出会い多数・住環境）」を足す</a:t>
            </a:r>
          </a:p>
        </p:txBody>
      </p:sp>
      <p:sp>
        <p:nvSpPr>
          <p:cNvPr id="123" name="TextBox 122"/>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回答率・結果からの求人クリック</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EA7B3E98-3D68-0C62-992B-836D9101D96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四角形: 角を丸くする 11">
            <a:extLst>
              <a:ext uri="{FF2B5EF4-FFF2-40B4-BE49-F238E27FC236}">
                <a16:creationId xmlns:a16="http://schemas.microsoft.com/office/drawing/2014/main" id="{7F965D0E-3CAC-A55D-5335-0187FA81CB54}"/>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EC9AAED-0E7E-3F8D-0A4E-056B8E955E7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sp>
        <p:nvSpPr>
          <p:cNvPr id="105" name="Rectangle 104"/>
          <p:cNvSpPr/>
          <p:nvPr/>
        </p:nvSpPr>
        <p:spPr>
          <a:xfrm>
            <a:off x="1152144" y="272491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Day0　診断</a:t>
            </a:r>
          </a:p>
        </p:txBody>
      </p:sp>
      <p:sp>
        <p:nvSpPr>
          <p:cNvPr id="107" name="TextBox 106"/>
          <p:cNvSpPr txBox="1"/>
          <p:nvPr/>
        </p:nvSpPr>
        <p:spPr>
          <a:xfrm>
            <a:off x="1152144" y="320222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430828"/>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430828"/>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Day1〜2　働き方</a:t>
            </a:r>
          </a:p>
        </p:txBody>
      </p:sp>
      <p:sp>
        <p:nvSpPr>
          <p:cNvPr id="110" name="TextBox 109"/>
          <p:cNvSpPr txBox="1"/>
          <p:nvPr/>
        </p:nvSpPr>
        <p:spPr>
          <a:xfrm>
            <a:off x="1152144" y="3908145"/>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136745"/>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136745"/>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Day3〜4　お金の疑問</a:t>
            </a:r>
          </a:p>
        </p:txBody>
      </p:sp>
      <p:sp>
        <p:nvSpPr>
          <p:cNvPr id="113" name="TextBox 112"/>
          <p:cNvSpPr txBox="1"/>
          <p:nvPr/>
        </p:nvSpPr>
        <p:spPr>
          <a:xfrm>
            <a:off x="1152144" y="4614062"/>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4842662"/>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4842662"/>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Day6〜7　会社の選び方</a:t>
            </a:r>
          </a:p>
        </p:txBody>
      </p:sp>
      <p:sp>
        <p:nvSpPr>
          <p:cNvPr id="116" name="TextBox 115"/>
          <p:cNvSpPr txBox="1"/>
          <p:nvPr/>
        </p:nvSpPr>
        <p:spPr>
          <a:xfrm>
            <a:off x="1152144" y="5319979"/>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7" name="Rectangle 116"/>
          <p:cNvSpPr/>
          <p:nvPr/>
        </p:nvSpPr>
        <p:spPr>
          <a:xfrm>
            <a:off x="1152144" y="5548579"/>
            <a:ext cx="502920" cy="4864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5</a:t>
            </a:r>
          </a:p>
        </p:txBody>
      </p:sp>
      <p:sp>
        <p:nvSpPr>
          <p:cNvPr id="118" name="Rectangle 117"/>
          <p:cNvSpPr/>
          <p:nvPr/>
        </p:nvSpPr>
        <p:spPr>
          <a:xfrm>
            <a:off x="1655064" y="5548579"/>
            <a:ext cx="3611880" cy="486460"/>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Day10〜15　ENTRY</a:t>
            </a:r>
          </a:p>
        </p:txBody>
      </p:sp>
      <p:sp>
        <p:nvSpPr>
          <p:cNvPr id="119" name="TextBox 118"/>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追加から15日で、ENTRYまで信頼を積み上げる</a:t>
            </a:r>
          </a:p>
        </p:txBody>
      </p:sp>
      <p:sp>
        <p:nvSpPr>
          <p:cNvPr id="120" name="TextBox 119"/>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その月の新しい友だち</a:t>
            </a:r>
          </a:p>
        </p:txBody>
      </p:sp>
      <p:sp>
        <p:nvSpPr>
          <p:cNvPr id="121" name="TextBox 120"/>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前後検索「派遣 登録」の順番に合わせた5通（24ページ）</a:t>
            </a:r>
          </a:p>
        </p:txBody>
      </p:sp>
      <p:sp>
        <p:nvSpPr>
          <p:cNvPr id="122" name="TextBox 121"/>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各通のクリック率・ENTRY数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D54D3EDD-30AC-24FB-8D5A-5513D1411FF3}"/>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A1BBBE87-752F-09D4-9E13-13A9F878286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D870C123-133D-9CF1-6418-078AA9217B26}"/>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診断の答え（開始時期・エリア）</a:t>
            </a:r>
          </a:p>
        </p:txBody>
      </p:sp>
      <p:sp>
        <p:nvSpPr>
          <p:cNvPr id="107" name="TextBox 106"/>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タグで分ける</a:t>
            </a:r>
          </a:p>
        </p:txBody>
      </p:sp>
      <p:sp>
        <p:nvSpPr>
          <p:cNvPr id="110" name="TextBox 109"/>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合う求人だけを配信</a:t>
            </a:r>
          </a:p>
        </p:txBody>
      </p:sp>
      <p:sp>
        <p:nvSpPr>
          <p:cNvPr id="113" name="TextBox 112"/>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応募</a:t>
            </a:r>
          </a:p>
        </p:txBody>
      </p:sp>
      <p:sp>
        <p:nvSpPr>
          <p:cNvPr id="116" name="TextBox 11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全員への配信をやめ、合う求人だけを届けてブロックを減らす</a:t>
            </a:r>
          </a:p>
        </p:txBody>
      </p:sp>
      <p:sp>
        <p:nvSpPr>
          <p:cNvPr id="117" name="TextBox 11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開始時期・エリアに答えた友だち</a:t>
            </a:r>
          </a:p>
        </p:txBody>
      </p:sp>
      <p:sp>
        <p:nvSpPr>
          <p:cNvPr id="118" name="TextBox 11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例：12月開始×山・高原 → スキー場の求人／1〜2か月先×海・離島 → 海・離島の求人</a:t>
            </a:r>
          </a:p>
        </p:txBody>
      </p:sp>
      <p:sp>
        <p:nvSpPr>
          <p:cNvPr id="119" name="TextBox 11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ブロック率・クリック率（全員への配信と比べる）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80BEFA75-B102-C230-3C22-72F3A514CEB4}"/>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7F6B650E-CBCB-6054-2356-DEAFE87D97A9}"/>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四角形: 角を丸くする 20">
            <a:extLst>
              <a:ext uri="{FF2B5EF4-FFF2-40B4-BE49-F238E27FC236}">
                <a16:creationId xmlns:a16="http://schemas.microsoft.com/office/drawing/2014/main" id="{F459B5A5-8632-46A3-40F1-E4DEBFD1FCAA}"/>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sp>
        <p:nvSpPr>
          <p:cNvPr id="90" name="Rectangle 89"/>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91" name="Rectangle 90"/>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メニューを開く</a:t>
            </a:r>
          </a:p>
        </p:txBody>
      </p:sp>
      <p:sp>
        <p:nvSpPr>
          <p:cNvPr id="92" name="TextBox 91"/>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3" name="Rectangle 92"/>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94" name="Rectangle 93"/>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開始月別の求人</a:t>
            </a:r>
          </a:p>
        </p:txBody>
      </p:sp>
      <p:sp>
        <p:nvSpPr>
          <p:cNvPr id="95" name="TextBox 94"/>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6" name="Rectangle 95"/>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97" name="Rectangle 96"/>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求人を見る</a:t>
            </a:r>
          </a:p>
        </p:txBody>
      </p:sp>
      <p:sp>
        <p:nvSpPr>
          <p:cNvPr id="98" name="TextBox 97"/>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99" name="Rectangle 98"/>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00" name="Rectangle 99"/>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会員登録</a:t>
            </a:r>
          </a:p>
        </p:txBody>
      </p:sp>
      <p:sp>
        <p:nvSpPr>
          <p:cNvPr id="101" name="TextBox 100"/>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配信を待たずに、自分で求人とENTRYにたどり着ける</a:t>
            </a:r>
          </a:p>
        </p:txBody>
      </p:sp>
      <p:sp>
        <p:nvSpPr>
          <p:cNvPr id="102" name="TextBox 101"/>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すべての友だち</a:t>
            </a:r>
          </a:p>
        </p:txBody>
      </p:sp>
      <p:sp>
        <p:nvSpPr>
          <p:cNvPr id="103" name="TextBox 102"/>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今の2タブを活かし、上段に開始月別の求人と会員登録。体験談・Q&amp;Aは2つ目のタブ</a:t>
            </a:r>
          </a:p>
        </p:txBody>
      </p:sp>
      <p:sp>
        <p:nvSpPr>
          <p:cNvPr id="104" name="TextBox 103"/>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項目ごとのタップ数</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四角形: 角を丸くする 10">
            <a:extLst>
              <a:ext uri="{FF2B5EF4-FFF2-40B4-BE49-F238E27FC236}">
                <a16:creationId xmlns:a16="http://schemas.microsoft.com/office/drawing/2014/main" id="{AF4D2433-0552-CC23-D4A0-E5C59759DDB1}"/>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四角形: 角を丸くする 13">
            <a:extLst>
              <a:ext uri="{FF2B5EF4-FFF2-40B4-BE49-F238E27FC236}">
                <a16:creationId xmlns:a16="http://schemas.microsoft.com/office/drawing/2014/main" id="{367937DA-B7CA-9F47-D5F6-7CB5CBBCCBBD}"/>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四角形: 角を丸くする 21">
            <a:extLst>
              <a:ext uri="{FF2B5EF4-FFF2-40B4-BE49-F238E27FC236}">
                <a16:creationId xmlns:a16="http://schemas.microsoft.com/office/drawing/2014/main" id="{E2E40065-F00C-4873-7138-F81C1E4B9727}"/>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マイページ登録（応募）</a:t>
            </a:r>
          </a:p>
        </p:txBody>
      </p:sp>
      <p:sp>
        <p:nvSpPr>
          <p:cNvPr id="107" name="TextBox 106"/>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完了画面</a:t>
            </a:r>
          </a:p>
        </p:txBody>
      </p:sp>
      <p:sp>
        <p:nvSpPr>
          <p:cNvPr id="110" name="TextBox 109"/>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LINE友だち追加</a:t>
            </a:r>
          </a:p>
        </p:txBody>
      </p:sp>
      <p:sp>
        <p:nvSpPr>
          <p:cNvPr id="113" name="TextBox 112"/>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受付と次の流れ・専属エージェントの案内</a:t>
            </a:r>
          </a:p>
        </p:txBody>
      </p:sp>
      <p:sp>
        <p:nvSpPr>
          <p:cNvPr id="116" name="TextBox 11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登録した方とLINEでつながり、カウンセリング・お仕事開始まで追う</a:t>
            </a:r>
          </a:p>
        </p:txBody>
      </p:sp>
      <p:sp>
        <p:nvSpPr>
          <p:cNvPr id="117" name="TextBox 11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マイページ登録を完了した方</a:t>
            </a:r>
          </a:p>
        </p:txBody>
      </p:sp>
      <p:sp>
        <p:nvSpPr>
          <p:cNvPr id="118" name="TextBox 11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完了画面からLINEへ。登録の受付・次の流れ・専属エージェントを案内（初期15万円・月額3万円〜）</a:t>
            </a:r>
          </a:p>
        </p:txBody>
      </p:sp>
      <p:sp>
        <p:nvSpPr>
          <p:cNvPr id="119" name="TextBox 11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登録した方のうち友だちになった数</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70CBF08D-A75A-0470-2FBB-3028F9D942F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3C7D88F4-3C3C-3E2E-C03F-2CCC867D89EC}"/>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1" name="Chevron 13">
            <a:extLst>
              <a:ext uri="{FF2B5EF4-FFF2-40B4-BE49-F238E27FC236}">
                <a16:creationId xmlns:a16="http://schemas.microsoft.com/office/drawing/2014/main" id="{759E7DA1-B0BF-83B4-5B22-46858D37029C}"/>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E1C272E5-75EC-C617-4703-013CF3754F63}"/>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E9DA71D7-9C78-CD2C-7714-F3A95FFC1731}"/>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8CCD9A2E-65D9-A3A7-1F9E-9F339A653484}"/>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93" name="Pentagon 10">
            <a:extLst>
              <a:ext uri="{FF2B5EF4-FFF2-40B4-BE49-F238E27FC236}">
                <a16:creationId xmlns:a16="http://schemas.microsoft.com/office/drawing/2014/main" id="{A3BB58FC-6C79-950E-F1BC-61DF96A00F4B}"/>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CF6FF1B6-0073-1D5C-E7B4-9CD1A7C404F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F755585F-9990-C994-AFCB-6B55869BB11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1A586438-3489-526C-D969-F3D159B19FCF}"/>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20A32186-62A1-3BBF-CED6-D509ABE569B8}"/>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29F4C005-9928-FAAC-6A92-971D5F0B969B}"/>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48B7705-5A53-CB64-8318-08FA7AC165A4}"/>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9F8A8E43-9950-E3F2-F3FE-9C9B3CFBF78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B125C3F7-8289-EA3D-F9C3-E4122A1EF6CC}"/>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C4497524-AB39-B15B-217D-366289997E7B}"/>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正方形/長方形 3">
            <a:extLst>
              <a:ext uri="{FF2B5EF4-FFF2-40B4-BE49-F238E27FC236}">
                <a16:creationId xmlns:a16="http://schemas.microsoft.com/office/drawing/2014/main" id="{C49ED30C-CEC0-2E49-5CC6-AB9E06E1664C}"/>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7095497-8A9F-3AE5-CF43-E456608BFED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3">
            <a:extLst>
              <a:ext uri="{FF2B5EF4-FFF2-40B4-BE49-F238E27FC236}">
                <a16:creationId xmlns:a16="http://schemas.microsoft.com/office/drawing/2014/main" id="{1DE68DC3-7D7A-9CDB-56F3-E6921DE8DBAD}"/>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C592B4B-F240-144A-4EC6-877E40B5DA24}"/>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6" name="四角形: 角を丸くする 5">
            <a:extLst>
              <a:ext uri="{FF2B5EF4-FFF2-40B4-BE49-F238E27FC236}">
                <a16:creationId xmlns:a16="http://schemas.microsoft.com/office/drawing/2014/main" id="{A6208BB2-3F77-CF64-CB2E-3FF447A9F5F7}"/>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4FD2BF1B-521D-CC1A-7BFD-A22AA1142DA0}"/>
              </a:ext>
            </a:extLst>
          </p:cNvPr>
          <p:cNvSpPr/>
          <p:nvPr/>
        </p:nvSpPr>
        <p:spPr>
          <a:xfrm>
            <a:off x="6261879" y="185492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四角形: 角を丸くする 12">
            <a:extLst>
              <a:ext uri="{FF2B5EF4-FFF2-40B4-BE49-F238E27FC236}">
                <a16:creationId xmlns:a16="http://schemas.microsoft.com/office/drawing/2014/main" id="{3C915B36-4012-C279-83CB-222ABE1F6039}"/>
              </a:ext>
            </a:extLst>
          </p:cNvPr>
          <p:cNvSpPr/>
          <p:nvPr/>
        </p:nvSpPr>
        <p:spPr>
          <a:xfrm>
            <a:off x="6261879" y="2947852"/>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49E5CE7E-1D8F-576F-9D97-DFF65D6EF007}"/>
              </a:ext>
            </a:extLst>
          </p:cNvPr>
          <p:cNvSpPr/>
          <p:nvPr/>
        </p:nvSpPr>
        <p:spPr>
          <a:xfrm>
            <a:off x="6261879" y="4049186"/>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四角形: 角を丸くする 19">
            <a:extLst>
              <a:ext uri="{FF2B5EF4-FFF2-40B4-BE49-F238E27FC236}">
                <a16:creationId xmlns:a16="http://schemas.microsoft.com/office/drawing/2014/main" id="{3D248B8A-3417-C9D7-9DE8-CF0AAB168222}"/>
              </a:ext>
            </a:extLst>
          </p:cNvPr>
          <p:cNvSpPr/>
          <p:nvPr/>
        </p:nvSpPr>
        <p:spPr>
          <a:xfrm>
            <a:off x="6278273" y="5177245"/>
            <a:ext cx="3381226" cy="103484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契約満了前の次のお仕事案内</a:t>
            </a:r>
          </a:p>
          <a:p>
            <a:pPr algn="l">
              <a:lnSpc>
                <a:spcPct val="105000"/>
              </a:lnSpc>
              <a:spcAft>
                <a:spcPts val="200"/>
              </a:spcAft>
            </a:pPr>
            <a:r>
              <a:rPr sz="1200" b="0">
                <a:solidFill>
                  <a:srgbClr val="333333"/>
                </a:solidFill>
                <a:latin typeface="メイリオ"/>
                <a:ea typeface="メイリオ"/>
                <a:cs typeface="メイリオ"/>
              </a:rPr>
              <a:t>稼働中・満了前に、次のお仕事をご案内</a:t>
            </a:r>
          </a:p>
        </p:txBody>
      </p:sp>
      <p:sp>
        <p:nvSpPr>
          <p:cNvPr id="105" name="Rectangle 104"/>
          <p:cNvSpPr/>
          <p:nvPr/>
        </p:nvSpPr>
        <p:spPr>
          <a:xfrm>
            <a:off x="1152144" y="2724912"/>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1</a:t>
            </a:r>
          </a:p>
        </p:txBody>
      </p:sp>
      <p:sp>
        <p:nvSpPr>
          <p:cNvPr id="106" name="Rectangle 105"/>
          <p:cNvSpPr/>
          <p:nvPr/>
        </p:nvSpPr>
        <p:spPr>
          <a:xfrm>
            <a:off x="1655064" y="2724912"/>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お仕事開始</a:t>
            </a:r>
          </a:p>
        </p:txBody>
      </p:sp>
      <p:sp>
        <p:nvSpPr>
          <p:cNvPr id="107" name="TextBox 106"/>
          <p:cNvSpPr txBox="1"/>
          <p:nvPr/>
        </p:nvSpPr>
        <p:spPr>
          <a:xfrm>
            <a:off x="1152144" y="3378708"/>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08" name="Rectangle 107"/>
          <p:cNvSpPr/>
          <p:nvPr/>
        </p:nvSpPr>
        <p:spPr>
          <a:xfrm>
            <a:off x="1152144" y="3607307"/>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2</a:t>
            </a:r>
          </a:p>
        </p:txBody>
      </p:sp>
      <p:sp>
        <p:nvSpPr>
          <p:cNvPr id="109" name="Rectangle 108"/>
          <p:cNvSpPr/>
          <p:nvPr/>
        </p:nvSpPr>
        <p:spPr>
          <a:xfrm>
            <a:off x="1655064" y="3607307"/>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満了が近づく</a:t>
            </a:r>
          </a:p>
        </p:txBody>
      </p:sp>
      <p:sp>
        <p:nvSpPr>
          <p:cNvPr id="110" name="TextBox 109"/>
          <p:cNvSpPr txBox="1"/>
          <p:nvPr/>
        </p:nvSpPr>
        <p:spPr>
          <a:xfrm>
            <a:off x="1152144" y="4261104"/>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1" name="Rectangle 110"/>
          <p:cNvSpPr/>
          <p:nvPr/>
        </p:nvSpPr>
        <p:spPr>
          <a:xfrm>
            <a:off x="1152144" y="4489704"/>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3</a:t>
            </a:r>
          </a:p>
        </p:txBody>
      </p:sp>
      <p:sp>
        <p:nvSpPr>
          <p:cNvPr id="112" name="Rectangle 111"/>
          <p:cNvSpPr/>
          <p:nvPr/>
        </p:nvSpPr>
        <p:spPr>
          <a:xfrm>
            <a:off x="1655064" y="4489704"/>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次のお仕事の案内</a:t>
            </a:r>
          </a:p>
        </p:txBody>
      </p:sp>
      <p:sp>
        <p:nvSpPr>
          <p:cNvPr id="113" name="TextBox 112"/>
          <p:cNvSpPr txBox="1"/>
          <p:nvPr/>
        </p:nvSpPr>
        <p:spPr>
          <a:xfrm>
            <a:off x="1152144" y="5143500"/>
            <a:ext cx="502920" cy="237744"/>
          </a:xfrm>
          <a:prstGeom prst="rect">
            <a:avLst/>
          </a:prstGeom>
          <a:noFill/>
        </p:spPr>
        <p:txBody>
          <a:bodyPr wrap="square" anchor="ctr" lIns="36000" rIns="36000" tIns="10800" bIns="10800">
            <a:spAutoFit/>
          </a:bodyPr>
          <a:lstStyle/>
          <a:p>
            <a:pPr algn="ctr">
              <a:lnSpc>
                <a:spcPct val="105000"/>
              </a:lnSpc>
              <a:spcAft>
                <a:spcPts val="200"/>
              </a:spcAft>
            </a:pPr>
            <a:r>
              <a:rPr sz="900" b="0">
                <a:solidFill>
                  <a:srgbClr val="1F2A5C"/>
                </a:solidFill>
                <a:latin typeface="メイリオ"/>
                <a:ea typeface="メイリオ"/>
                <a:cs typeface="メイリオ"/>
              </a:rPr>
              <a:t>▼</a:t>
            </a:r>
          </a:p>
        </p:txBody>
      </p:sp>
      <p:sp>
        <p:nvSpPr>
          <p:cNvPr id="114" name="Rectangle 113"/>
          <p:cNvSpPr/>
          <p:nvPr/>
        </p:nvSpPr>
        <p:spPr>
          <a:xfrm>
            <a:off x="1152144" y="5372100"/>
            <a:ext cx="502920" cy="662939"/>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600" b="1">
                <a:solidFill>
                  <a:srgbClr val="FFFFFF"/>
                </a:solidFill>
                <a:latin typeface="メイリオ"/>
                <a:ea typeface="メイリオ"/>
                <a:cs typeface="メイリオ"/>
              </a:rPr>
              <a:t>4</a:t>
            </a:r>
          </a:p>
        </p:txBody>
      </p:sp>
      <p:sp>
        <p:nvSpPr>
          <p:cNvPr id="115" name="Rectangle 114"/>
          <p:cNvSpPr/>
          <p:nvPr/>
        </p:nvSpPr>
        <p:spPr>
          <a:xfrm>
            <a:off x="1655064" y="5372100"/>
            <a:ext cx="3611880" cy="662939"/>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08000" tIns="18000" rIns="72000" bIns="18000"/>
          <a:lstStyle/>
          <a:p>
            <a:pPr algn="l">
              <a:lnSpc>
                <a:spcPct val="110000"/>
              </a:lnSpc>
              <a:spcAft>
                <a:spcPts val="0"/>
              </a:spcAft>
            </a:pPr>
            <a:r>
              <a:rPr sz="1500" b="1">
                <a:solidFill>
                  <a:srgbClr val="1F2A5C"/>
                </a:solidFill>
                <a:latin typeface="メイリオ"/>
                <a:ea typeface="メイリオ"/>
                <a:cs typeface="メイリオ"/>
              </a:rPr>
              <a:t>次の応募</a:t>
            </a:r>
          </a:p>
        </p:txBody>
      </p:sp>
      <p:sp>
        <p:nvSpPr>
          <p:cNvPr id="116" name="TextBox 115"/>
          <p:cNvSpPr txBox="1"/>
          <p:nvPr/>
        </p:nvSpPr>
        <p:spPr>
          <a:xfrm>
            <a:off x="6373368" y="191109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目的</a:t>
            </a:r>
          </a:p>
          <a:p>
            <a:pPr algn="l">
              <a:lnSpc>
                <a:spcPct val="105000"/>
              </a:lnSpc>
              <a:spcAft>
                <a:spcPts val="200"/>
              </a:spcAft>
            </a:pPr>
            <a:r>
              <a:rPr sz="1200" b="0">
                <a:solidFill>
                  <a:srgbClr val="333333"/>
                </a:solidFill>
                <a:latin typeface="メイリオ"/>
                <a:ea typeface="メイリオ"/>
                <a:cs typeface="メイリオ"/>
              </a:rPr>
              <a:t>1回で終わらせず、次のお仕事につなげる</a:t>
            </a:r>
          </a:p>
        </p:txBody>
      </p:sp>
      <p:sp>
        <p:nvSpPr>
          <p:cNvPr id="117" name="TextBox 116"/>
          <p:cNvSpPr txBox="1"/>
          <p:nvPr/>
        </p:nvSpPr>
        <p:spPr>
          <a:xfrm>
            <a:off x="6373368" y="2999232"/>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対象</a:t>
            </a:r>
          </a:p>
          <a:p>
            <a:pPr algn="l">
              <a:lnSpc>
                <a:spcPct val="105000"/>
              </a:lnSpc>
              <a:spcAft>
                <a:spcPts val="200"/>
              </a:spcAft>
            </a:pPr>
            <a:r>
              <a:rPr sz="1200" b="0">
                <a:solidFill>
                  <a:srgbClr val="333333"/>
                </a:solidFill>
                <a:latin typeface="メイリオ"/>
                <a:ea typeface="メイリオ"/>
                <a:cs typeface="メイリオ"/>
              </a:rPr>
              <a:t>お仕事を始めた方（診断の開始時期から配信の時期を合わせる）</a:t>
            </a:r>
          </a:p>
        </p:txBody>
      </p:sp>
      <p:sp>
        <p:nvSpPr>
          <p:cNvPr id="118" name="TextBox 117"/>
          <p:cNvSpPr txBox="1"/>
          <p:nvPr/>
        </p:nvSpPr>
        <p:spPr>
          <a:xfrm>
            <a:off x="6373368" y="4105655"/>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中身</a:t>
            </a:r>
          </a:p>
          <a:p>
            <a:pPr algn="l">
              <a:lnSpc>
                <a:spcPct val="105000"/>
              </a:lnSpc>
              <a:spcAft>
                <a:spcPts val="200"/>
              </a:spcAft>
            </a:pPr>
            <a:r>
              <a:rPr sz="1200" b="0">
                <a:solidFill>
                  <a:srgbClr val="333333"/>
                </a:solidFill>
                <a:latin typeface="メイリオ"/>
                <a:ea typeface="メイリオ"/>
                <a:cs typeface="メイリオ"/>
              </a:rPr>
              <a:t>満了の前に、次の季節のお仕事を案内（冬→春、夏→秋）</a:t>
            </a:r>
          </a:p>
        </p:txBody>
      </p:sp>
      <p:sp>
        <p:nvSpPr>
          <p:cNvPr id="119" name="TextBox 118"/>
          <p:cNvSpPr txBox="1"/>
          <p:nvPr/>
        </p:nvSpPr>
        <p:spPr>
          <a:xfrm>
            <a:off x="6373368" y="5230368"/>
            <a:ext cx="3163823" cy="923544"/>
          </a:xfrm>
          <a:prstGeom prst="rect">
            <a:avLst/>
          </a:prstGeom>
          <a:noFill/>
        </p:spPr>
        <p:txBody>
          <a:bodyPr wrap="square" anchor="t" lIns="36000" rIns="36000" tIns="10800" bIns="10800">
            <a:spAutoFit/>
          </a:bodyPr>
          <a:lstStyle/>
          <a:p>
            <a:pPr algn="l">
              <a:lnSpc>
                <a:spcPct val="105000"/>
              </a:lnSpc>
              <a:spcAft>
                <a:spcPts val="200"/>
              </a:spcAft>
            </a:pPr>
            <a:r>
              <a:rPr sz="1350" b="1">
                <a:solidFill>
                  <a:srgbClr val="1F2A5C"/>
                </a:solidFill>
                <a:latin typeface="メイリオ"/>
                <a:ea typeface="メイリオ"/>
                <a:cs typeface="メイリオ"/>
              </a:rPr>
              <a:t>見る数字</a:t>
            </a:r>
          </a:p>
          <a:p>
            <a:pPr algn="l">
              <a:lnSpc>
                <a:spcPct val="105000"/>
              </a:lnSpc>
              <a:spcAft>
                <a:spcPts val="200"/>
              </a:spcAft>
            </a:pPr>
            <a:r>
              <a:rPr sz="1200" b="0">
                <a:solidFill>
                  <a:srgbClr val="333333"/>
                </a:solidFill>
                <a:latin typeface="メイリオ"/>
                <a:ea typeface="メイリオ"/>
                <a:cs typeface="メイリオ"/>
              </a:rPr>
              <a:t>再応募数</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145396</TotalTime>
  <Words>4402</Words>
  <Application>Microsoft Office PowerPoint</Application>
  <PresentationFormat>A4 210 x 297 mm</PresentationFormat>
  <Paragraphs>1027</Paragraphs>
  <Slides>56</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56</vt:i4>
      </vt:variant>
    </vt:vector>
  </HeadingPairs>
  <TitlesOfParts>
    <vt:vector size="63"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1983</cp:revision>
  <cp:lastPrinted>2022-11-01T11:38:14Z</cp:lastPrinted>
  <dcterms:created xsi:type="dcterms:W3CDTF">2015-09-04T09:21:15Z</dcterms:created>
  <dcterms:modified xsi:type="dcterms:W3CDTF">2026-10-26T04:36:09Z</dcterms:modified>
</cp:coreProperties>
</file>