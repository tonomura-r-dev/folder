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2978" r:id="rId17"/>
    <p:sldId id="2981" r:id="rId18"/>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2755" r:id="rId39"/>
    <p:sldId id="3002" r:id="rId40"/>
    <p:sldId id="3019" r:id="rId72"/>
    <p:sldId id="2951" r:id="rId41"/>
    <p:sldId id="3020" r:id="rId73"/>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9.xml"/><Relationship Id="rId73" Type="http://schemas.openxmlformats.org/officeDocument/2006/relationships/slide" Target="slides/slide41.xml"/><Relationship Id="rId74"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92" name="差し込み LPの画面"/>
          <p:cNvSpPr/>
          <p:nvPr/>
        </p:nvSpPr>
        <p:spPr>
          <a:xfrm>
            <a:off x="507335" y="2008789"/>
            <a:ext cx="1557206" cy="3162823"/>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LPの画面</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差し込み Googleトレンドの画像（保険営業の方の検索の季節変動）"/>
          <p:cNvSpPr/>
          <p:nvPr/>
        </p:nvSpPr>
        <p:spPr>
          <a:xfrm>
            <a:off x="220588" y="1688676"/>
            <a:ext cx="9464824" cy="346159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Googleトレンドの画像（保険営業の方の検索の季節変動）</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6か月目に追える人数86人（ブロックされずに届く友だち）を目指す。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cs typeface="メイリオ"/>
              </a:rPr>
              <a:t>295,000円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イベント期 365,000円〜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平常期 165,000円〜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cs typeface="メイリオ"/>
              </a:rPr>
              <a:t>6</a:t>
            </a: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イベント期の配信</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1F2A5C"/>
                </a:solidFill>
                <a:latin typeface="メイリオ" panose="020B0604030504040204" pitchFamily="50" charset="-128"/>
                <a:ea typeface="メイリオ" panose="020B0604030504040204" pitchFamily="50" charset="-128"/>
                <a:cs typeface="メイリオ"/>
              </a:rPr>
              <a:t>月4件</a:t>
            </a: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挨拶メッセ</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panose="020B0604030504040204" pitchFamily="50" charset="-128"/>
                <a:ea typeface="メイリオ" panose="020B0604030504040204" pitchFamily="50" charset="-128"/>
                <a:cs typeface="メイリオ"/>
              </a:rPr>
              <a:t>平常期の配信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月2件</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panose="020B0604030504040204" pitchFamily="50" charset="-128"/>
                <a:ea typeface="メイリオ" panose="020B0604030504040204" pitchFamily="50" charset="-128"/>
                <a:cs typeface="メイリオ"/>
              </a:rPr>
              <a:t>Step配信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Step修正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有（5本）</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メニュー修正</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ツール導入</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ツール保守</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有（2種）</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タグ・GA設定</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1F2A5C"/>
                </a:solidFill>
                <a:latin typeface="メイリオ" panose="020B0604030504040204" pitchFamily="50" charset="-128"/>
                <a:ea typeface="メイリオ" panose="020B0604030504040204" pitchFamily="50" charset="-128"/>
                <a:cs typeface="メイリオ"/>
              </a:rPr>
              <a:t>対応なし ※貴社対応</a:t>
            </a:r>
            <a:endParaRPr kumimoji="1" lang="en-US" altLang="ja-JP"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アカウント開設</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追える人数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セミナー予約</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cs typeface="メイリオ"/>
              </a:rPr>
              <a:t>125人</a:t>
            </a:r>
            <a:endParaRPr kumimoji="1" lang="ja-JP" altLang="en-US" sz="105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31%</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86人</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2件（6か月）</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サロン入会</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0件（6か月）</a:t>
            </a:r>
          </a:p>
        </p:txBody>
      </p:sp>
    </p:spTree>
    <p:extLst>
      <p:ext uri="{BB962C8B-B14F-4D97-AF65-F5344CB8AC3E}">
        <p14:creationId xmlns:p14="http://schemas.microsoft.com/office/powerpoint/2010/main" val="329722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メイリオ"/>
                <a:ea typeface="メイリオ"/>
                <a:cs typeface="メイリオ"/>
                <a:sym typeface="Meiryo"/>
              </a:rPr>
              <a:t>想定の費用対効果（月ごと）</a:t>
            </a:r>
            <a:endParaRPr sz="1200" dirty="0">
              <a:solidFill>
                <a:schemeClr val="tx2"/>
              </a:solidFill>
              <a:latin typeface="メイリオ"/>
              <a:ea typeface="メイリオ"/>
              <a:cs typeface="メイリオ"/>
              <a:sym typeface="Meiryo"/>
            </a:endParaRPr>
          </a:p>
        </p:txBody>
      </p:sp>
      <p:sp>
        <p:nvSpPr>
          <p:cNvPr id="46" name="テキスト ボックス 18"/>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月ごとの友だち数・追える人数・セミナー予約・サロン入会と、費用の見込み。</a:t>
            </a:r>
            <a:endParaRPr lang="ja-JP" altLang="ja-JP" sz="1100" dirty="0">
              <a:effectLst/>
              <a:latin typeface="メイリオ" panose="02020603050405020304" pitchFamily="18" charset="0"/>
              <a:ea typeface="メイリオ" panose="02020400000000000000" pitchFamily="18" charset="-128"/>
              <a:cs typeface="メイリオ"/>
            </a:endParaRPr>
          </a:p>
        </p:txBody>
      </p:sp>
      <p:graphicFrame>
        <p:nvGraphicFramePr>
          <p:cNvPr id="47" name="月ごとの見込み 46"/>
          <p:cNvGraphicFramePr>
            <a:graphicFrameLocks noGrp="1"/>
          </p:cNvGraphicFramePr>
          <p:nvPr/>
        </p:nvGraphicFramePr>
        <p:xfrm>
          <a:off x="457200" y="2011680"/>
          <a:ext cx="8897112" cy="3621024"/>
        </p:xfrm>
        <a:graphic>
          <a:graphicData uri="http://schemas.openxmlformats.org/drawingml/2006/table">
            <a:tbl>
              <a:tblPr/>
              <a:tblGrid>
                <a:gridCol w="1417320"/>
                <a:gridCol w="1005840"/>
                <a:gridCol w="1078992"/>
                <a:gridCol w="1078992"/>
                <a:gridCol w="1078992"/>
                <a:gridCol w="1078992"/>
                <a:gridCol w="1078992"/>
                <a:gridCol w="1078992"/>
              </a:tblGrid>
              <a:tr h="329184">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初期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1か月目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2か月目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3か月目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4か月目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5か月目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6か月目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時期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LP UU</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友だちの増加</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62人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122人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ブロック率</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28.0%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追える人数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44人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86人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86人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クリック数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110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18</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18</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129</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27</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27</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セミナー予約</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費用（税抜）</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48" name="注記"/>
          <p:cNvSpPr/>
          <p:nvPr/>
        </p:nvSpPr>
        <p:spPr>
          <a:xfrm>
            <a:off x="457200" y="5724144"/>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※LP UUは、広告のクリック数から置いた想定数値（イベント期＝1回のイベント／平常期＝少量の広告）。友だちの増加＝ポップアップツール＋サンクスLINE誘導。追える人数＝ブロックされずに届く友だちの数</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879951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373BB3E3-90D5-C9C7-977E-47D9526D91C0}"/>
              </a:ext>
            </a:extLst>
          </p:cNvPr>
          <p:cNvGraphicFramePr>
            <a:graphicFrameLocks noGrp="1"/>
          </p:cNvGraphicFramePr>
          <p:nvPr>
            <p:extLst>
              <p:ext uri="{D42A27DB-BD31-4B8C-83A1-F6EECF244321}">
                <p14:modId xmlns:p14="http://schemas.microsoft.com/office/powerpoint/2010/main" val="2015453067"/>
              </p:ext>
            </p:extLst>
          </p:nvPr>
        </p:nvGraphicFramePr>
        <p:xfrm>
          <a:off x="373644" y="1512320"/>
          <a:ext cx="9160881" cy="4384560"/>
        </p:xfrm>
        <a:graphic>
          <a:graphicData uri="http://schemas.openxmlformats.org/drawingml/2006/table">
            <a:tbl>
              <a:tblPr/>
              <a:tblGrid>
                <a:gridCol w="850771">
                  <a:extLst>
                    <a:ext uri="{9D8B030D-6E8A-4147-A177-3AD203B41FA5}">
                      <a16:colId xmlns:a16="http://schemas.microsoft.com/office/drawing/2014/main" val="3867224301"/>
                    </a:ext>
                  </a:extLst>
                </a:gridCol>
                <a:gridCol w="1817254">
                  <a:extLst>
                    <a:ext uri="{9D8B030D-6E8A-4147-A177-3AD203B41FA5}">
                      <a16:colId xmlns:a16="http://schemas.microsoft.com/office/drawing/2014/main" val="2056063786"/>
                    </a:ext>
                  </a:extLst>
                </a:gridCol>
                <a:gridCol w="345351">
                  <a:extLst>
                    <a:ext uri="{9D8B030D-6E8A-4147-A177-3AD203B41FA5}">
                      <a16:colId xmlns:a16="http://schemas.microsoft.com/office/drawing/2014/main" val="1012593074"/>
                    </a:ext>
                  </a:extLst>
                </a:gridCol>
                <a:gridCol w="878215">
                  <a:extLst>
                    <a:ext uri="{9D8B030D-6E8A-4147-A177-3AD203B41FA5}">
                      <a16:colId xmlns:a16="http://schemas.microsoft.com/office/drawing/2014/main" val="2172484671"/>
                    </a:ext>
                  </a:extLst>
                </a:gridCol>
                <a:gridCol w="878215">
                  <a:extLst>
                    <a:ext uri="{9D8B030D-6E8A-4147-A177-3AD203B41FA5}">
                      <a16:colId xmlns:a16="http://schemas.microsoft.com/office/drawing/2014/main" val="1153368013"/>
                    </a:ext>
                  </a:extLst>
                </a:gridCol>
                <a:gridCol w="878215">
                  <a:extLst>
                    <a:ext uri="{9D8B030D-6E8A-4147-A177-3AD203B41FA5}">
                      <a16:colId xmlns:a16="http://schemas.microsoft.com/office/drawing/2014/main" val="2957558946"/>
                    </a:ext>
                  </a:extLst>
                </a:gridCol>
                <a:gridCol w="878215">
                  <a:extLst>
                    <a:ext uri="{9D8B030D-6E8A-4147-A177-3AD203B41FA5}">
                      <a16:colId xmlns:a16="http://schemas.microsoft.com/office/drawing/2014/main" val="1694855242"/>
                    </a:ext>
                  </a:extLst>
                </a:gridCol>
                <a:gridCol w="878215">
                  <a:extLst>
                    <a:ext uri="{9D8B030D-6E8A-4147-A177-3AD203B41FA5}">
                      <a16:colId xmlns:a16="http://schemas.microsoft.com/office/drawing/2014/main" val="1514979199"/>
                    </a:ext>
                  </a:extLst>
                </a:gridCol>
                <a:gridCol w="878215">
                  <a:extLst>
                    <a:ext uri="{9D8B030D-6E8A-4147-A177-3AD203B41FA5}">
                      <a16:colId xmlns:a16="http://schemas.microsoft.com/office/drawing/2014/main" val="2507566632"/>
                    </a:ext>
                  </a:extLst>
                </a:gridCol>
                <a:gridCol w="878215">
                  <a:extLst>
                    <a:ext uri="{9D8B030D-6E8A-4147-A177-3AD203B41FA5}">
                      <a16:colId xmlns:a16="http://schemas.microsoft.com/office/drawing/2014/main" val="710882296"/>
                    </a:ext>
                  </a:extLst>
                </a:gridCol>
              </a:tblGrid>
              <a:tr h="153092">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項目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※↓現状数値</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1か月目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2か月目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3か月目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4か月目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5か月目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6か月目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3498939455"/>
                  </a:ext>
                </a:extLst>
              </a:tr>
              <a:tr h="159216">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WEBサイト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UU全体</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873862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UU(うち広告)</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33190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CV（別施策） ※想定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469365"/>
                  </a:ext>
                </a:extLst>
              </a:tr>
              <a:tr h="153092">
                <a:tc rowSpan="5">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dirty="0">
                          <a:solidFill>
                            <a:srgbClr val="A6A6A6"/>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1821568"/>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4871047"/>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423221"/>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935450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通知メッセージ_既存リスト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1213545"/>
                  </a:ext>
                </a:extLst>
              </a:tr>
              <a:tr h="153092">
                <a:tc rowSpan="4">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施策増分</a:t>
                      </a:r>
                      <a:b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※友だち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1946824"/>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83615"/>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132676"/>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3815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友だち数_増加数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07182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ブロック率</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88580"/>
                  </a:ext>
                </a:extLst>
              </a:tr>
              <a:tr h="159216">
                <a:tc gridSpan="2">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友だち数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61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1F2A5C"/>
                          </a:solidFill>
                          <a:effectLst/>
                          <a:latin typeface="メイリオ" panose="020B0604030504040204" pitchFamily="50" charset="-128"/>
                          <a:ea typeface="メイリオ" panose="020B0604030504040204" pitchFamily="50" charset="-128"/>
                          <a:cs typeface="メイリオ"/>
                        </a:rPr>
                        <a:t>62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443437"/>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ターゲット数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68212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企画投稿数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7265859"/>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企画投稿からの流入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7735899"/>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ステップ配信本数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9159928"/>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ステップ配信からの流入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616042"/>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配信数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436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517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117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857089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想定Click数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473668"/>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新規CV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セミナー予約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6109277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サロン入会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9209465"/>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リピートCV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7456770"/>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9994309"/>
                  </a:ext>
                </a:extLst>
              </a:tr>
              <a:tr h="153092">
                <a:tc gridSpan="2">
                  <a:txBody>
                    <a:bodyPr/>
                    <a:lstStyle/>
                    <a:p>
                      <a:pPr algn="ctr" fontAlgn="ctr">
                        <a:buNone/>
                      </a:pPr>
                      <a:r>
                        <a:rPr lang="ja-JP" sz="800" b="1" i="0" u="none" strike="noStrike">
                          <a:solidFill>
                            <a:srgbClr val="1F2A5C"/>
                          </a:solidFill>
                          <a:effectLst/>
                          <a:latin typeface="メイリオ" panose="020B0604030504040204" pitchFamily="50" charset="-128"/>
                          <a:ea typeface="メイリオ" panose="020B0604030504040204" pitchFamily="50" charset="-128"/>
                          <a:cs typeface="メイリオ"/>
                        </a:rPr>
                        <a:t>合計CV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263053220"/>
                  </a:ext>
                </a:extLst>
              </a:tr>
            </a:tbl>
          </a:graphicData>
        </a:graphic>
      </p:graphicFrame>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D388-F98E-03E5-C3D4-A6C1A062AAF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BDD7ED3-F444-10FE-EBC9-57BAFAF299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FBD4AB07-F6DD-682F-94F2-55F9EF92D92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p>
        </p:txBody>
      </p:sp>
      <p:sp>
        <p:nvSpPr>
          <p:cNvPr id="5" name="Google Shape;752;p28">
            <a:extLst>
              <a:ext uri="{FF2B5EF4-FFF2-40B4-BE49-F238E27FC236}">
                <a16:creationId xmlns:a16="http://schemas.microsoft.com/office/drawing/2014/main" id="{FE9C6D1D-72D5-15BC-F9E9-124AE1A23AAA}"/>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C4DD1A48-7C8F-25E8-16FC-3282274F0B93}"/>
              </a:ext>
            </a:extLst>
          </p:cNvPr>
          <p:cNvGraphicFramePr>
            <a:graphicFrameLocks noGrp="1"/>
          </p:cNvGraphicFramePr>
          <p:nvPr/>
        </p:nvGraphicFramePr>
        <p:xfrm>
          <a:off x="704124" y="1803590"/>
          <a:ext cx="1367245" cy="462575"/>
        </p:xfrm>
        <a:graphic>
          <a:graphicData uri="http://schemas.openxmlformats.org/drawingml/2006/table">
            <a:tbl>
              <a:tblPr/>
              <a:tblGrid>
                <a:gridCol w="1367245">
                  <a:extLst>
                    <a:ext uri="{9D8B030D-6E8A-4147-A177-3AD203B41FA5}">
                      <a16:colId xmlns:a16="http://schemas.microsoft.com/office/drawing/2014/main" val="3858994572"/>
                    </a:ext>
                  </a:extLst>
                </a:gridCol>
              </a:tblGrid>
              <a:tr h="462575">
                <a:tc>
                  <a:txBody>
                    <a:bodyPr/>
                    <a:lstStyle/>
                    <a:p>
                      <a:pPr algn="ctr" fontAlgn="ctr">
                        <a:buNone/>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初期費用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51909190"/>
                  </a:ext>
                </a:extLst>
              </a:tr>
            </a:tbl>
          </a:graphicData>
        </a:graphic>
      </p:graphicFrame>
      <p:graphicFrame>
        <p:nvGraphicFramePr>
          <p:cNvPr id="12" name="表 11">
            <a:extLst>
              <a:ext uri="{FF2B5EF4-FFF2-40B4-BE49-F238E27FC236}">
                <a16:creationId xmlns:a16="http://schemas.microsoft.com/office/drawing/2014/main" id="{CE0D5AE9-9962-57E0-8896-BE0E4756FA85}"/>
              </a:ext>
            </a:extLst>
          </p:cNvPr>
          <p:cNvGraphicFramePr>
            <a:graphicFrameLocks noGrp="1"/>
          </p:cNvGraphicFramePr>
          <p:nvPr>
            <p:extLst>
              <p:ext uri="{D42A27DB-BD31-4B8C-83A1-F6EECF244321}">
                <p14:modId xmlns:p14="http://schemas.microsoft.com/office/powerpoint/2010/main" val="3967744387"/>
              </p:ext>
            </p:extLst>
          </p:nvPr>
        </p:nvGraphicFramePr>
        <p:xfrm>
          <a:off x="2145635" y="1803590"/>
          <a:ext cx="2712478" cy="462575"/>
        </p:xfrm>
        <a:graphic>
          <a:graphicData uri="http://schemas.openxmlformats.org/drawingml/2006/table">
            <a:tbl>
              <a:tblPr/>
              <a:tblGrid>
                <a:gridCol w="2712478">
                  <a:extLst>
                    <a:ext uri="{9D8B030D-6E8A-4147-A177-3AD203B41FA5}">
                      <a16:colId xmlns:a16="http://schemas.microsoft.com/office/drawing/2014/main" val="3858994572"/>
                    </a:ext>
                  </a:extLst>
                </a:gridCol>
              </a:tblGrid>
              <a:tr h="462575">
                <a:tc>
                  <a:txBody>
                    <a:bodyPr/>
                    <a:lstStyle/>
                    <a:p>
                      <a:pPr algn="ctr" fontAlgn="ctr">
                        <a:buNone/>
                      </a:pP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endPar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1909190"/>
                  </a:ext>
                </a:extLst>
              </a:tr>
            </a:tbl>
          </a:graphicData>
        </a:graphic>
      </p:graphicFrame>
      <p:graphicFrame>
        <p:nvGraphicFramePr>
          <p:cNvPr id="14" name="表 13">
            <a:extLst>
              <a:ext uri="{FF2B5EF4-FFF2-40B4-BE49-F238E27FC236}">
                <a16:creationId xmlns:a16="http://schemas.microsoft.com/office/drawing/2014/main" id="{24842E98-5066-43A6-D03A-1A8E52DABE7E}"/>
              </a:ext>
            </a:extLst>
          </p:cNvPr>
          <p:cNvGraphicFramePr>
            <a:graphicFrameLocks noGrp="1"/>
          </p:cNvGraphicFramePr>
          <p:nvPr>
            <p:extLst>
              <p:ext uri="{D42A27DB-BD31-4B8C-83A1-F6EECF244321}">
                <p14:modId xmlns:p14="http://schemas.microsoft.com/office/powerpoint/2010/main" val="779732373"/>
              </p:ext>
            </p:extLst>
          </p:nvPr>
        </p:nvGraphicFramePr>
        <p:xfrm>
          <a:off x="2145635" y="2361128"/>
          <a:ext cx="2712478" cy="462575"/>
        </p:xfrm>
        <a:graphic>
          <a:graphicData uri="http://schemas.openxmlformats.org/drawingml/2006/table">
            <a:tbl>
              <a:tblPr/>
              <a:tblGrid>
                <a:gridCol w="2712478">
                  <a:extLst>
                    <a:ext uri="{9D8B030D-6E8A-4147-A177-3AD203B41FA5}">
                      <a16:colId xmlns:a16="http://schemas.microsoft.com/office/drawing/2014/main" val="813940788"/>
                    </a:ext>
                  </a:extLst>
                </a:gridCol>
              </a:tblGrid>
              <a:tr h="462575">
                <a:tc>
                  <a:txBody>
                    <a:bodyPr/>
                    <a:lstStyle/>
                    <a:p>
                      <a:pPr algn="ctr" fontAlgn="ctr">
                        <a:buNone/>
                      </a:pPr>
                      <a:r>
                        <a:rPr lang="ja-JP" altLang="en-US" sz="16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 – 77,000</a:t>
                      </a:r>
                    </a:p>
                    <a:p>
                      <a:pPr algn="ctr" fontAlgn="ctr">
                        <a:buNone/>
                      </a:pPr>
                      <a:r>
                        <a:rPr lang="en-US" altLang="ja-JP" sz="9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※セミナー予約 12,000円／件で設定</a:t>
                      </a:r>
                      <a:endParaRPr lang="en-US" altLang="ja-JP" sz="14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02775794"/>
                  </a:ext>
                </a:extLst>
              </a:tr>
            </a:tbl>
          </a:graphicData>
        </a:graphic>
      </p:graphicFrame>
      <p:graphicFrame>
        <p:nvGraphicFramePr>
          <p:cNvPr id="16" name="表 15">
            <a:extLst>
              <a:ext uri="{FF2B5EF4-FFF2-40B4-BE49-F238E27FC236}">
                <a16:creationId xmlns:a16="http://schemas.microsoft.com/office/drawing/2014/main" id="{284C90C0-98C2-324A-C6EB-3A49C0F3E12D}"/>
              </a:ext>
            </a:extLst>
          </p:cNvPr>
          <p:cNvGraphicFramePr>
            <a:graphicFrameLocks noGrp="1"/>
          </p:cNvGraphicFramePr>
          <p:nvPr>
            <p:extLst>
              <p:ext uri="{D42A27DB-BD31-4B8C-83A1-F6EECF244321}">
                <p14:modId xmlns:p14="http://schemas.microsoft.com/office/powerpoint/2010/main" val="617717068"/>
              </p:ext>
            </p:extLst>
          </p:nvPr>
        </p:nvGraphicFramePr>
        <p:xfrm>
          <a:off x="711699" y="2361128"/>
          <a:ext cx="1367245" cy="462575"/>
        </p:xfrm>
        <a:graphic>
          <a:graphicData uri="http://schemas.openxmlformats.org/drawingml/2006/table">
            <a:tbl>
              <a:tblPr/>
              <a:tblGrid>
                <a:gridCol w="1367245">
                  <a:extLst>
                    <a:ext uri="{9D8B030D-6E8A-4147-A177-3AD203B41FA5}">
                      <a16:colId xmlns:a16="http://schemas.microsoft.com/office/drawing/2014/main" val="813940788"/>
                    </a:ext>
                  </a:extLst>
                </a:gridCol>
              </a:tblGrid>
              <a:tr h="46257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月額費用</a:t>
                      </a:r>
                      <a:endParaRPr lang="en-US" altLang="ja-JP" sz="1100" b="1" i="0" u="none" strike="noStrike" dirty="0">
                        <a:solidFill>
                          <a:srgbClr val="FFFFFF"/>
                        </a:solidFill>
                        <a:effectLst/>
                        <a:latin typeface="メイリオ" panose="020B0604030504040204" pitchFamily="50" charset="-128"/>
                        <a:ea typeface="メイリオ" panose="020B0604030504040204" pitchFamily="50" charset="-128"/>
                        <a:cs typeface="メイリオ"/>
                      </a:endParaRPr>
                    </a:p>
                    <a:p>
                      <a:pPr algn="ctr" fontAlgn="ctr">
                        <a:buNone/>
                      </a:pPr>
                      <a:r>
                        <a:rPr lang="en-US" alt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a:t>
                      </a: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成果報酬プラン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extLst>
                  <a:ext uri="{0D108BD9-81ED-4DB2-BD59-A6C34878D82A}">
                    <a16:rowId xmlns:a16="http://schemas.microsoft.com/office/drawing/2014/main" val="2802775794"/>
                  </a:ext>
                </a:extLst>
              </a:tr>
            </a:tbl>
          </a:graphicData>
        </a:graphic>
      </p:graphicFrame>
      <p:graphicFrame>
        <p:nvGraphicFramePr>
          <p:cNvPr id="2" name="表 1">
            <a:extLst>
              <a:ext uri="{FF2B5EF4-FFF2-40B4-BE49-F238E27FC236}">
                <a16:creationId xmlns:a16="http://schemas.microsoft.com/office/drawing/2014/main" id="{B3660FD1-8EDB-14B0-55FB-1134D75E1E18}"/>
              </a:ext>
            </a:extLst>
          </p:cNvPr>
          <p:cNvGraphicFramePr>
            <a:graphicFrameLocks noGrp="1"/>
          </p:cNvGraphicFramePr>
          <p:nvPr>
            <p:extLst>
              <p:ext uri="{D42A27DB-BD31-4B8C-83A1-F6EECF244321}">
                <p14:modId xmlns:p14="http://schemas.microsoft.com/office/powerpoint/2010/main" val="1019166198"/>
              </p:ext>
            </p:extLst>
          </p:nvPr>
        </p:nvGraphicFramePr>
        <p:xfrm>
          <a:off x="681037" y="3077158"/>
          <a:ext cx="9081274" cy="2165400"/>
        </p:xfrm>
        <a:graphic>
          <a:graphicData uri="http://schemas.openxmlformats.org/drawingml/2006/table">
            <a:tbl>
              <a:tblPr/>
              <a:tblGrid>
                <a:gridCol w="843040">
                  <a:extLst>
                    <a:ext uri="{9D8B030D-6E8A-4147-A177-3AD203B41FA5}">
                      <a16:colId xmlns:a16="http://schemas.microsoft.com/office/drawing/2014/main" val="3722053567"/>
                    </a:ext>
                  </a:extLst>
                </a:gridCol>
                <a:gridCol w="1276346">
                  <a:extLst>
                    <a:ext uri="{9D8B030D-6E8A-4147-A177-3AD203B41FA5}">
                      <a16:colId xmlns:a16="http://schemas.microsoft.com/office/drawing/2014/main" val="950157771"/>
                    </a:ext>
                  </a:extLst>
                </a:gridCol>
                <a:gridCol w="870236">
                  <a:extLst>
                    <a:ext uri="{9D8B030D-6E8A-4147-A177-3AD203B41FA5}">
                      <a16:colId xmlns:a16="http://schemas.microsoft.com/office/drawing/2014/main" val="1828844380"/>
                    </a:ext>
                  </a:extLst>
                </a:gridCol>
                <a:gridCol w="870236">
                  <a:extLst>
                    <a:ext uri="{9D8B030D-6E8A-4147-A177-3AD203B41FA5}">
                      <a16:colId xmlns:a16="http://schemas.microsoft.com/office/drawing/2014/main" val="1109507576"/>
                    </a:ext>
                  </a:extLst>
                </a:gridCol>
                <a:gridCol w="870236">
                  <a:extLst>
                    <a:ext uri="{9D8B030D-6E8A-4147-A177-3AD203B41FA5}">
                      <a16:colId xmlns:a16="http://schemas.microsoft.com/office/drawing/2014/main" val="1003411805"/>
                    </a:ext>
                  </a:extLst>
                </a:gridCol>
                <a:gridCol w="870236">
                  <a:extLst>
                    <a:ext uri="{9D8B030D-6E8A-4147-A177-3AD203B41FA5}">
                      <a16:colId xmlns:a16="http://schemas.microsoft.com/office/drawing/2014/main" val="317879950"/>
                    </a:ext>
                  </a:extLst>
                </a:gridCol>
                <a:gridCol w="870236">
                  <a:extLst>
                    <a:ext uri="{9D8B030D-6E8A-4147-A177-3AD203B41FA5}">
                      <a16:colId xmlns:a16="http://schemas.microsoft.com/office/drawing/2014/main" val="1722450559"/>
                    </a:ext>
                  </a:extLst>
                </a:gridCol>
                <a:gridCol w="870236">
                  <a:extLst>
                    <a:ext uri="{9D8B030D-6E8A-4147-A177-3AD203B41FA5}">
                      <a16:colId xmlns:a16="http://schemas.microsoft.com/office/drawing/2014/main" val="1085201297"/>
                    </a:ext>
                  </a:extLst>
                </a:gridCol>
                <a:gridCol w="870236">
                  <a:extLst>
                    <a:ext uri="{9D8B030D-6E8A-4147-A177-3AD203B41FA5}">
                      <a16:colId xmlns:a16="http://schemas.microsoft.com/office/drawing/2014/main" val="2042819757"/>
                    </a:ext>
                  </a:extLst>
                </a:gridCol>
                <a:gridCol w="870236">
                  <a:extLst>
                    <a:ext uri="{9D8B030D-6E8A-4147-A177-3AD203B41FA5}">
                      <a16:colId xmlns:a16="http://schemas.microsoft.com/office/drawing/2014/main" val="3405569139"/>
                    </a:ext>
                  </a:extLst>
                </a:gridCol>
              </a:tblGrid>
              <a:tr h="240600">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■成果報酬運営</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現状数値</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初期</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1865101"/>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従量課金</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213383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コスト想定(固定費)</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499569"/>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友だち獲得単価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¥1,006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¥1,006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4367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CPC想定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¥3,625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¥3,578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¥597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¥2,373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¥2,366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3536617"/>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CVR想定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0.91%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0.78%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1317927"/>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CPA想定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5297114"/>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成果報酬_費用発生</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3273649"/>
                  </a:ext>
                </a:extLst>
              </a:tr>
              <a:tr h="240600">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総計コスト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5297540"/>
                  </a:ext>
                </a:extLst>
              </a:tr>
            </a:tbl>
          </a:graphicData>
        </a:graphic>
      </p:graphicFrame>
    </p:spTree>
    <p:extLst>
      <p:ext uri="{BB962C8B-B14F-4D97-AF65-F5344CB8AC3E}">
        <p14:creationId xmlns:p14="http://schemas.microsoft.com/office/powerpoint/2010/main" val="4215585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8686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料金</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DYMプラン</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ご予算と運用の体制に合わせて、3つのプランから選択可能</a:t>
            </a:r>
          </a:p>
        </p:txBody>
      </p:sp>
      <p:graphicFrame>
        <p:nvGraphicFramePr>
          <p:cNvPr id="5" name="料金 4"/>
          <p:cNvGraphicFramePr>
            <a:graphicFrameLocks noGrp="1"/>
          </p:cNvGraphicFramePr>
          <p:nvPr/>
        </p:nvGraphicFramePr>
        <p:xfrm>
          <a:off x="502920" y="1860438"/>
          <a:ext cx="8897112" cy="3063240"/>
        </p:xfrm>
        <a:graphic>
          <a:graphicData uri="http://schemas.openxmlformats.org/drawingml/2006/table">
            <a:tbl>
              <a:tblPr/>
              <a:tblGrid>
                <a:gridCol w="1463040">
                  <a:extLst>
                    <a:ext uri="{9D8B030D-6E8A-4147-A177-3AD203B41FA5}">
                      <a16:colId xmlns:a16="http://schemas.microsoft.com/office/drawing/2014/main" val="20000"/>
                    </a:ext>
                  </a:extLst>
                </a:gridCol>
                <a:gridCol w="2478024">
                  <a:extLst>
                    <a:ext uri="{9D8B030D-6E8A-4147-A177-3AD203B41FA5}">
                      <a16:colId xmlns:a16="http://schemas.microsoft.com/office/drawing/2014/main" val="20001"/>
                    </a:ext>
                  </a:extLst>
                </a:gridCol>
                <a:gridCol w="2478024">
                  <a:extLst>
                    <a:ext uri="{9D8B030D-6E8A-4147-A177-3AD203B41FA5}">
                      <a16:colId xmlns:a16="http://schemas.microsoft.com/office/drawing/2014/main" val="20002"/>
                    </a:ext>
                  </a:extLst>
                </a:gridCol>
                <a:gridCol w="2478024">
                  <a:extLst>
                    <a:ext uri="{9D8B030D-6E8A-4147-A177-3AD203B41FA5}">
                      <a16:colId xmlns:a16="http://schemas.microsoft.com/office/drawing/2014/main" val="20003"/>
                    </a:ext>
                  </a:extLst>
                </a:gridCol>
              </a:tblGrid>
              <a:tr h="59436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2296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内容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入口と配信の仕組みを構築</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配信は貴社で運用</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月2回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月4〜5回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弊社で配信＋レポート・定例会</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月3回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平常期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5〜10万円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20万円〜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イベント期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30万円程度</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注記"/>
          <p:cNvSpPr/>
          <p:nvPr/>
        </p:nvSpPr>
        <p:spPr>
          <a:xfrm>
            <a:off x="502920" y="5015118"/>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※広告費・ツール費・LINE公式アカウントの利用料は含まない。いずれも6か月〜の契約</a:t>
            </a:r>
            <a:endParaRPr lang="ja-JP" altLang="en-US" sz="1200" dirty="0">
              <a:latin typeface="メイリオ"/>
              <a:ea typeface="メイリオ"/>
              <a:cs typeface="メイリオ"/>
            </a:endParaRPr>
          </a:p>
        </p:txBody>
      </p:sp>
      <p:sp>
        <p:nvSpPr>
          <p:cNvPr id="7" name="注記"/>
          <p:cNvSpPr/>
          <p:nvPr/>
        </p:nvSpPr>
        <p:spPr>
          <a:xfrm>
            <a:off x="502920" y="5234574"/>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※施策内容・配信本数・連携範囲等により、費用は個別にお見積り</a:t>
            </a:r>
            <a:endParaRPr lang="ja-JP" altLang="en-US" sz="1200" dirty="0">
              <a:latin typeface="メイリオ"/>
              <a:ea typeface="メイリオ"/>
              <a:cs typeface="メイリオ"/>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