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8.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6"/>
  </p:notesMasterIdLst>
  <p:handoutMasterIdLst>
    <p:handoutMasterId r:id="rId67"/>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3022" r:id="rId75"/>
    <p:sldId id="2908" r:id="rId19"/>
    <p:sldId id="2966" r:id="rId20"/>
    <p:sldId id="3015" r:id="rId21"/>
    <p:sldId id="3013" r:id="rId22"/>
    <p:sldId id="3009" r:id="rId23"/>
    <p:sldId id="3018" r:id="rId24"/>
    <p:sldId id="3010" r:id="rId25"/>
    <p:sldId id="3014" r:id="rId26"/>
    <p:sldId id="3012" r:id="rId27"/>
    <p:sldId id="3017" r:id="rId28"/>
    <p:sldId id="3011" r:id="rId29"/>
    <p:sldId id="2737" r:id="rId30"/>
    <p:sldId id="2563" r:id="rId31"/>
    <p:sldId id="2970" r:id="rId32"/>
    <p:sldId id="2959" r:id="rId33"/>
    <p:sldId id="2639" r:id="rId34"/>
    <p:sldId id="3016" r:id="rId35"/>
    <p:sldId id="2968" r:id="rId36"/>
    <p:sldId id="2969" r:id="rId37"/>
    <p:sldId id="2957" r:id="rId38"/>
    <p:sldId id="3019" r:id="rId72"/>
    <p:sldId id="2951" r:id="rId41"/>
    <p:sldId id="3023" r:id="rId76"/>
    <p:sldId id="3024" r:id="rId77"/>
    <p:sldId id="2841" r:id="rId42"/>
    <p:sldId id="2734" r:id="rId43"/>
    <p:sldId id="2595" r:id="rId44"/>
    <p:sldId id="2566" r:id="rId45"/>
    <p:sldId id="2915" r:id="rId46"/>
    <p:sldId id="2619" r:id="rId47"/>
    <p:sldId id="2761" r:id="rId48"/>
    <p:sldId id="3021" r:id="rId74"/>
    <p:sldId id="2935" r:id="rId49"/>
    <p:sldId id="2919" r:id="rId50"/>
    <p:sldId id="2519" r:id="rId51"/>
    <p:sldId id="2931" r:id="rId52"/>
    <p:sldId id="2749" r:id="rId53"/>
    <p:sldId id="2950" r:id="rId54"/>
    <p:sldId id="2961" r:id="rId55"/>
    <p:sldId id="2849" r:id="rId56"/>
    <p:sldId id="2904" r:id="rId57"/>
    <p:sldId id="2905" r:id="rId58"/>
    <p:sldId id="2906" r:id="rId59"/>
    <p:sldId id="2907" r:id="rId60"/>
    <p:sldId id="2575" r:id="rId61"/>
    <p:sldId id="2910" r:id="rId62"/>
    <p:sldId id="3007" r:id="rId63"/>
    <p:sldId id="3008" r:id="rId64"/>
    <p:sldId id="1169" r:id="rId6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06" d="100"/>
          <a:sy n="106" d="100"/>
        </p:scale>
        <p:origin x="498" y="90"/>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41" Type="http://schemas.openxmlformats.org/officeDocument/2006/relationships/slide" Target="slides/slide40.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slide" Target="slides/slide60.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notesMaster" Target="notesMasters/notesMaster1.xml"/><Relationship Id="rId67" Type="http://schemas.openxmlformats.org/officeDocument/2006/relationships/handoutMaster" Target="handoutMasters/handout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39.xml"/><Relationship Id="rId74" Type="http://schemas.openxmlformats.org/officeDocument/2006/relationships/slide" Target="slides/slide49.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27</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52</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63</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8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jpe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eg"/><Relationship Id="rId3" Type="http://schemas.openxmlformats.org/officeDocument/2006/relationships/image" Target="../media/image29.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2.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svg"/><Relationship Id="rId8" Type="http://schemas.openxmlformats.org/officeDocument/2006/relationships/image" Target="../media/image5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0.svg"/><Relationship Id="rId4" Type="http://schemas.openxmlformats.org/officeDocument/2006/relationships/image" Target="../media/image61.svg"/><Relationship Id="rId5" Type="http://schemas.openxmlformats.org/officeDocument/2006/relationships/image" Target="../media/image62.svg"/><Relationship Id="rId6" Type="http://schemas.openxmlformats.org/officeDocument/2006/relationships/image" Target="../media/image63.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emf"/><Relationship Id="rId4" Type="http://schemas.openxmlformats.org/officeDocument/2006/relationships/image" Target="../media/image79.jpeg"/><Relationship Id="rId5" Type="http://schemas.openxmlformats.org/officeDocument/2006/relationships/image" Target="../media/image80.jpeg"/><Relationship Id="rId6" Type="http://schemas.openxmlformats.org/officeDocument/2006/relationships/image" Target="../media/image81.jpeg"/><Relationship Id="rId7" Type="http://schemas.openxmlformats.org/officeDocument/2006/relationships/image" Target="../media/image82.jpeg"/><Relationship Id="rId8" Type="http://schemas.openxmlformats.org/officeDocument/2006/relationships/image" Target="../media/image83.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L="91440" marR="73152" marT="45720" marB="45720"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L="91440" marR="73152" marT="45720" marB="45720"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L="91440" marR="73152" marT="45720" marB="45720"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L="91440" marR="73152" marT="45720" marB="45720"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L="91440" marR="73152" marT="45720" marB="45720"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L="91440" marR="73152" marT="45720" marB="45720"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L="91440" marR="73152" marT="45720" marB="45720"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L="91440" marR="73152" marT="45720" marB="45720"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L="91440" marR="73152" marT="45720" marB="45720"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L="91440" marR="73152" marT="45720" marB="45720"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a:t>
                      </a:r>
                    </a:p>
                  </a:txBody>
                  <a:tcPr marL="91440" marR="73152" marT="45720" marB="45720"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L="91440" marR="73152" marT="45720" marB="45720"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endPar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endParaRPr lang="en-US" altLang="ja-JP" sz="1000" b="1" dirty="0">
              <a:latin typeface="メイリオ" panose="020B0604030504040204" pitchFamily="50" charset="-128"/>
              <a:ea typeface="メイリオ" panose="020B0604030504040204" pitchFamily="50" charset="-128"/>
              <a:cs typeface="メイリオ"/>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92" name="差し込み LPの画面"/>
          <p:cNvSpPr/>
          <p:nvPr/>
        </p:nvSpPr>
        <p:spPr>
          <a:xfrm>
            <a:off x="507335" y="2008789"/>
            <a:ext cx="1557206" cy="3162823"/>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LPの画面</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検索ボリュームの季節変動を把握し、繁忙期に先行した配信設計の根拠に。</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差し込み Googleトレンドの画像（保険営業の方の検索の季節変動）"/>
          <p:cNvSpPr/>
          <p:nvPr/>
        </p:nvSpPr>
        <p:spPr>
          <a:xfrm>
            <a:off x="220588" y="1688676"/>
            <a:ext cx="9464824" cy="346159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Googleトレンドの画像（保険営業の方の検索の季節変動）</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4"/>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4"/>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1F2A5C"/>
              </a:buClr>
              <a:buFont typeface="Arial"/>
              <a:buChar char="•"/>
            </a:p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5"/>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b="1" dirty="0" sz="160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6か月目に追える人数90人（ブロックされずに届く友だち）を目指す。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F2F2F2"/>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メイリオ"/>
              <a:sym typeface="Meiryo"/>
            </a:endParaRP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Tree>
    <p:extLst>
      <p:ext uri="{BB962C8B-B14F-4D97-AF65-F5344CB8AC3E}">
        <p14:creationId xmlns:p14="http://schemas.microsoft.com/office/powerpoint/2010/main" val="320364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endPar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endParaRP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403736"/>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000">
                <a:solidFill>
                  <a:srgbClr val="FFFFFF"/>
                </a:solidFill>
                <a:latin typeface="メイリオ"/>
                <a:ea typeface="メイリオ"/>
                <a:cs typeface="メイリオ"/>
              </a:rPr>
              <a:t>--</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000">
                <a:solidFill>
                  <a:srgbClr val="FFFFFF"/>
                </a:solidFill>
                <a:latin typeface="メイリオ"/>
                <a:ea typeface="メイリオ"/>
                <a:cs typeface="メイリオ"/>
              </a:rPr>
              <a:t>--</a:t>
            </a:r>
          </a:p>
        </p:txBody>
      </p:sp>
    </p:spTree>
    <p:extLst>
      <p:ext uri="{BB962C8B-B14F-4D97-AF65-F5344CB8AC3E}">
        <p14:creationId xmlns:p14="http://schemas.microsoft.com/office/powerpoint/2010/main" val="4396800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非</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Y</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M</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ツ</a:t>
            </a:r>
            <a:endParaRPr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｜ルで</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L</a:t>
            </a:r>
            <a:b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b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I</a:t>
            </a:r>
          </a:p>
          <a:p>
            <a:pPr algn="ctr"/>
            <a:r>
              <a:rPr lang="en-US" altLang="ja-JP" sz="1100" b="1" dirty="0">
                <a:solidFill>
                  <a:schemeClr val="tx1"/>
                </a:solidFill>
                <a:latin typeface="メイリオ" panose="020B0604030504040204" pitchFamily="50" charset="-128"/>
                <a:ea typeface="メイリオ" panose="020B0604030504040204" pitchFamily="50" charset="-128"/>
                <a:cs typeface="メイリオ"/>
              </a:rPr>
              <a:t>N</a:t>
            </a:r>
            <a:br>
              <a:rPr lang="en-US" altLang="ja-JP" sz="1100" b="1" dirty="0">
                <a:solidFill>
                  <a:schemeClr val="tx1"/>
                </a:solidFill>
                <a:latin typeface="メイリオ" panose="020B0604030504040204" pitchFamily="50" charset="-128"/>
                <a:ea typeface="メイリオ" panose="020B0604030504040204" pitchFamily="50" charset="-128"/>
                <a:cs typeface="メイリオ"/>
              </a:rPr>
            </a:br>
            <a:r>
              <a:rPr lang="en-US" altLang="ja-JP" sz="1100" b="1" dirty="0">
                <a:solidFill>
                  <a:schemeClr val="tx1"/>
                </a:solidFill>
                <a:latin typeface="メイリオ" panose="020B0604030504040204" pitchFamily="50" charset="-128"/>
                <a:ea typeface="メイリオ" panose="020B0604030504040204" pitchFamily="50" charset="-128"/>
                <a:cs typeface="メイリオ"/>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動線</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に</a:t>
            </a:r>
            <a:endParaRPr kumimoji="1" lang="en-US" altLang="ja-JP" sz="11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友だち</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登録ページ</a:t>
            </a:r>
            <a:r>
              <a:rPr lang="ja-JP" altLang="en-US" sz="1100" dirty="0">
                <a:latin typeface="メイリオ" panose="020B0604030504040204" pitchFamily="50" charset="-128"/>
                <a:ea typeface="メイリオ" panose="020B0604030504040204" pitchFamily="50" charset="-128"/>
                <a:cs typeface="メイリオ"/>
              </a:rPr>
              <a:t>へ遷移する。</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a:t>
            </a:r>
            <a:endParaRPr lang="en-US" altLang="ja-JP" sz="1100" b="1" dirty="0">
              <a:latin typeface="メイリオ" panose="020B0604030504040204" pitchFamily="50" charset="-128"/>
              <a:ea typeface="メイリオ" panose="020B0604030504040204" pitchFamily="50" charset="-128"/>
              <a:cs typeface="メイリオ"/>
            </a:endParaRPr>
          </a:p>
          <a:p>
            <a:r>
              <a:rPr kumimoji="1" lang="ja-JP" altLang="en-US" sz="1100" b="1" dirty="0">
                <a:latin typeface="メイリオ" panose="020B0604030504040204" pitchFamily="50" charset="-128"/>
                <a:ea typeface="メイリオ" panose="020B0604030504040204" pitchFamily="50" charset="-128"/>
                <a:cs typeface="メイリオ"/>
              </a:rPr>
              <a:t>配信セグメントに利用可</a:t>
            </a:r>
            <a:endParaRPr kumimoji="1" lang="ja-JP" altLang="en-US" sz="11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cs typeface="メイリオ"/>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cs typeface="メイリオ"/>
              </a:rPr>
              <a:t>CV</a:t>
            </a:r>
            <a:endParaRPr kumimoji="1" lang="ja-JP" altLang="en-US" sz="1100" b="1" dirty="0">
              <a:latin typeface="メイリオ" panose="020B0604030504040204" pitchFamily="50" charset="-128"/>
              <a:ea typeface="メイリオ" panose="020B0604030504040204" pitchFamily="50" charset="-128"/>
              <a:cs typeface="メイリオ"/>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cs typeface="メイリオ"/>
              </a:rPr>
              <a:t>友だち追加後</a:t>
            </a:r>
            <a:endParaRPr lang="ja-JP" altLang="en-US" sz="1100" dirty="0">
              <a:solidFill>
                <a:srgbClr val="00C057"/>
              </a:solidFill>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cs typeface="メイリオ"/>
              </a:rPr>
              <a:t>高開封率のLINEに誘導</a:t>
            </a:r>
            <a:r>
              <a:rPr lang="ja-JP" altLang="en-US" sz="1200" dirty="0">
                <a:latin typeface="メイリオ" panose="020B0604030504040204" pitchFamily="50" charset="-128"/>
                <a:ea typeface="メイリオ" panose="020B0604030504040204" pitchFamily="50" charset="-128"/>
                <a:cs typeface="メイリオ"/>
              </a:rPr>
              <a:t>して</a:t>
            </a:r>
            <a:r>
              <a:rPr lang="ja-JP" altLang="ja-JP" sz="1200" dirty="0">
                <a:latin typeface="メイリオ" panose="020B0604030504040204" pitchFamily="50" charset="-128"/>
                <a:ea typeface="メイリオ" panose="020B0604030504040204" pitchFamily="50" charset="-128"/>
                <a:cs typeface="メイリオ"/>
              </a:rPr>
              <a:t>反響→実売上への引上げ率、リピート率改善。</a:t>
            </a:r>
            <a:endParaRPr lang="en-US" altLang="ja-JP" sz="1200" dirty="0">
              <a:latin typeface="メイリオ" panose="020B0604030504040204" pitchFamily="50" charset="-128"/>
              <a:ea typeface="メイリオ" panose="020B0604030504040204" pitchFamily="50" charset="-128"/>
              <a:cs typeface="メイリオ"/>
            </a:endParaRPr>
          </a:p>
          <a:p>
            <a:pPr algn="ctr"/>
            <a:r>
              <a:rPr lang="ja-JP" altLang="ja-JP" sz="1200" dirty="0">
                <a:latin typeface="メイリオ" panose="020B0604030504040204" pitchFamily="50" charset="-128"/>
                <a:ea typeface="メイリオ" panose="020B0604030504040204" pitchFamily="50" charset="-128"/>
                <a:cs typeface="メイリオ"/>
              </a:rPr>
              <a:t> </a:t>
            </a:r>
            <a:r>
              <a:rPr lang="ja-JP" altLang="ja-JP" sz="1200" b="1" dirty="0">
                <a:solidFill>
                  <a:srgbClr val="1F2A5C"/>
                </a:solidFill>
                <a:latin typeface="メイリオ" panose="020B0604030504040204" pitchFamily="50" charset="-128"/>
                <a:ea typeface="メイリオ" panose="020B0604030504040204" pitchFamily="50" charset="-128"/>
                <a:cs typeface="メイリオ"/>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cs typeface="メイリオ"/>
              </a:rPr>
              <a:t>。</a:t>
            </a:r>
            <a:endParaRPr lang="ja-JP" altLang="en-US"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25218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6895-896B-9E00-CCE0-8FD2C532CBF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57325C46-C913-158A-F4D5-062E1EE9DA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誘導）</a:t>
            </a:r>
          </a:p>
        </p:txBody>
      </p:sp>
      <p:sp>
        <p:nvSpPr>
          <p:cNvPr id="11" name="正方形/長方形 10">
            <a:extLst>
              <a:ext uri="{FF2B5EF4-FFF2-40B4-BE49-F238E27FC236}">
                <a16:creationId xmlns:a16="http://schemas.microsoft.com/office/drawing/2014/main" id="{3E47B791-F689-043A-D742-58F518AFE49A}"/>
              </a:ext>
            </a:extLst>
          </p:cNvPr>
          <p:cNvSpPr/>
          <p:nvPr/>
        </p:nvSpPr>
        <p:spPr>
          <a:xfrm>
            <a:off x="543399" y="1938056"/>
            <a:ext cx="4649626"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solidFill>
                <a:latin typeface="メイリオ" panose="020B0604030504040204" pitchFamily="50" charset="-128"/>
                <a:ea typeface="メイリオ" panose="020B0604030504040204" pitchFamily="50" charset="-128"/>
                <a:cs typeface="メイリオ"/>
              </a:rPr>
              <a:t>WEB</a:t>
            </a: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サイト</a:t>
            </a:r>
          </a:p>
        </p:txBody>
      </p:sp>
      <p:sp>
        <p:nvSpPr>
          <p:cNvPr id="1026" name="テキスト ボックス 1025">
            <a:extLst>
              <a:ext uri="{FF2B5EF4-FFF2-40B4-BE49-F238E27FC236}">
                <a16:creationId xmlns:a16="http://schemas.microsoft.com/office/drawing/2014/main" id="{CC180508-A6F5-4077-668A-348F7DF4F354}"/>
              </a:ext>
            </a:extLst>
          </p:cNvPr>
          <p:cNvSpPr txBox="1"/>
          <p:nvPr/>
        </p:nvSpPr>
        <p:spPr>
          <a:xfrm>
            <a:off x="4893555" y="3926711"/>
            <a:ext cx="3405553" cy="400110"/>
          </a:xfrm>
          <a:prstGeom prst="rect">
            <a:avLst/>
          </a:prstGeom>
          <a:noFill/>
        </p:spPr>
        <p:txBody>
          <a:bodyPr wrap="square">
            <a:spAutoFit/>
          </a:bodyPr>
          <a:lstStyle/>
          <a:p>
            <a:pPr algn="ctr"/>
            <a:r>
              <a:rPr lang="en-US" altLang="ja-JP" sz="10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b="1" dirty="0">
                <a:solidFill>
                  <a:srgbClr val="1F2A5C"/>
                </a:solidFill>
                <a:latin typeface="メイリオ" panose="020B0604030504040204" pitchFamily="50" charset="-128"/>
                <a:ea typeface="メイリオ" panose="020B0604030504040204" pitchFamily="50" charset="-128"/>
                <a:cs typeface="メイリオ"/>
              </a:rPr>
              <a:t>入力した内容を</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トークに反映が可能。</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grpSp>
        <p:nvGrpSpPr>
          <p:cNvPr id="3" name="グループ化 2">
            <a:extLst>
              <a:ext uri="{FF2B5EF4-FFF2-40B4-BE49-F238E27FC236}">
                <a16:creationId xmlns:a16="http://schemas.microsoft.com/office/drawing/2014/main" id="{99AB0048-465B-06EC-2698-828FB68C7B9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3586BF1-F8BC-5452-51F7-4513DF4B3FE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F3E849F1-4DB7-C5D3-786D-0D1AECEAE009}"/>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サンクス</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LINE</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59EFBEFD-6BC5-E2FD-1966-9BF5B3ACA1E2}"/>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6453884-60B1-5704-5C42-5665A429B1D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既存</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ツールとの併用についても、問題なく稼働が可能。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5F399775-D053-4999-7BF8-10B94CF4C6FE}"/>
              </a:ext>
            </a:extLst>
          </p:cNvPr>
          <p:cNvSpPr/>
          <p:nvPr/>
        </p:nvSpPr>
        <p:spPr>
          <a:xfrm>
            <a:off x="5341545" y="1938056"/>
            <a:ext cx="4216009"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6" name="Google Shape;51;p19">
            <a:extLst>
              <a:ext uri="{FF2B5EF4-FFF2-40B4-BE49-F238E27FC236}">
                <a16:creationId xmlns:a16="http://schemas.microsoft.com/office/drawing/2014/main" id="{A8144D94-F2AB-9C06-BFEE-A0ACB1715302}"/>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DEF16EFC-3EF0-A11F-C5A2-CCD96FC766C5}"/>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1F2A5C"/>
                </a:solidFill>
                <a:latin typeface="メイリオ"/>
                <a:ea typeface="メイリオ"/>
                <a:cs typeface="メイリオ"/>
                <a:sym typeface="Meiryo"/>
              </a:rPr>
              <a:t>+</a:t>
            </a:r>
            <a:r>
              <a:rPr lang="ja-JP" altLang="en-US" sz="1050" b="1" dirty="0">
                <a:solidFill>
                  <a:srgbClr val="1F2A5C"/>
                </a:solidFill>
                <a:latin typeface="メイリオ"/>
                <a:ea typeface="メイリオ"/>
                <a:cs typeface="メイリオ"/>
                <a:sym typeface="Meiryo"/>
              </a:rPr>
              <a:t>設定地点追加</a:t>
            </a:r>
            <a:endParaRPr sz="1050" b="1" i="0" u="none" strike="noStrike" cap="none" dirty="0">
              <a:solidFill>
                <a:srgbClr val="1F2A5C"/>
              </a:solidFill>
              <a:latin typeface="メイリオ"/>
              <a:ea typeface="メイリオ"/>
              <a:cs typeface="メイリオ"/>
              <a:sym typeface="Meiryo"/>
            </a:endParaRPr>
          </a:p>
        </p:txBody>
      </p:sp>
      <p:sp>
        <p:nvSpPr>
          <p:cNvPr id="31" name="正方形/長方形 30">
            <a:extLst>
              <a:ext uri="{FF2B5EF4-FFF2-40B4-BE49-F238E27FC236}">
                <a16:creationId xmlns:a16="http://schemas.microsoft.com/office/drawing/2014/main" id="{10BD4226-0F03-4184-B60F-A4B0D5C2A14C}"/>
              </a:ext>
            </a:extLst>
          </p:cNvPr>
          <p:cNvSpPr/>
          <p:nvPr/>
        </p:nvSpPr>
        <p:spPr>
          <a:xfrm>
            <a:off x="5500863" y="2551780"/>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正方形/長方形 31">
            <a:extLst>
              <a:ext uri="{FF2B5EF4-FFF2-40B4-BE49-F238E27FC236}">
                <a16:creationId xmlns:a16="http://schemas.microsoft.com/office/drawing/2014/main" id="{18EBDCF6-438E-D689-6C13-7FD918CCDF3C}"/>
              </a:ext>
            </a:extLst>
          </p:cNvPr>
          <p:cNvSpPr/>
          <p:nvPr/>
        </p:nvSpPr>
        <p:spPr>
          <a:xfrm>
            <a:off x="5666814" y="2429705"/>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cs typeface="メイリオ"/>
              </a:rPr>
              <a:t>既存の</a:t>
            </a:r>
            <a:r>
              <a:rPr lang="en-US" altLang="ja-JP" sz="11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b="1" dirty="0">
                <a:solidFill>
                  <a:schemeClr val="tx1"/>
                </a:solidFill>
                <a:latin typeface="メイリオ" panose="020B0604030504040204" pitchFamily="50" charset="-128"/>
                <a:ea typeface="メイリオ" panose="020B0604030504040204" pitchFamily="50" charset="-128"/>
                <a:cs typeface="メイリオ"/>
              </a:rPr>
              <a:t>友だちの場合</a:t>
            </a:r>
          </a:p>
        </p:txBody>
      </p:sp>
      <p:pic>
        <p:nvPicPr>
          <p:cNvPr id="33" name="図 32" descr="電卓の写真のスマートフォンのスクリーンショット&#10;&#10;AI 生成コンテンツは誤りを含む可能性があります。">
            <a:extLst>
              <a:ext uri="{FF2B5EF4-FFF2-40B4-BE49-F238E27FC236}">
                <a16:creationId xmlns:a16="http://schemas.microsoft.com/office/drawing/2014/main" id="{252A850A-DE67-1AAB-8E3B-575386215750}"/>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691800" y="2287863"/>
            <a:ext cx="1231081" cy="2085098"/>
          </a:xfrm>
          <a:prstGeom prst="rect">
            <a:avLst/>
          </a:prstGeom>
        </p:spPr>
      </p:pic>
      <p:sp>
        <p:nvSpPr>
          <p:cNvPr id="39" name="テキスト ボックス 38">
            <a:extLst>
              <a:ext uri="{FF2B5EF4-FFF2-40B4-BE49-F238E27FC236}">
                <a16:creationId xmlns:a16="http://schemas.microsoft.com/office/drawing/2014/main" id="{11A21BC1-BB4B-B5CB-0B1B-B0AEC0F6766A}"/>
              </a:ext>
            </a:extLst>
          </p:cNvPr>
          <p:cNvSpPr txBox="1"/>
          <p:nvPr/>
        </p:nvSpPr>
        <p:spPr>
          <a:xfrm>
            <a:off x="5664087" y="2877091"/>
            <a:ext cx="1859035" cy="1046440"/>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cs typeface="メイリオ"/>
              </a:rPr>
              <a:t>公式アカウントの</a:t>
            </a:r>
            <a:r>
              <a:rPr lang="ja-JP" altLang="en-US" sz="1100" b="1" dirty="0">
                <a:latin typeface="メイリオ" panose="020B0604030504040204" pitchFamily="50" charset="-128"/>
                <a:ea typeface="メイリオ" panose="020B0604030504040204" pitchFamily="50" charset="-128"/>
                <a:cs typeface="メイリオ"/>
              </a:rPr>
              <a:t>トーク</a:t>
            </a:r>
            <a:endParaRPr lang="en-US" altLang="ja-JP" sz="1100" b="1" dirty="0">
              <a:latin typeface="メイリオ" panose="020B0604030504040204" pitchFamily="50" charset="-128"/>
              <a:ea typeface="メイリオ" panose="020B0604030504040204" pitchFamily="50" charset="-128"/>
              <a:cs typeface="メイリオ"/>
            </a:endParaRPr>
          </a:p>
          <a:p>
            <a:r>
              <a:rPr lang="ja-JP" altLang="en-US" sz="1100" b="1" dirty="0">
                <a:latin typeface="メイリオ" panose="020B0604030504040204" pitchFamily="50" charset="-128"/>
                <a:ea typeface="メイリオ" panose="020B0604030504040204" pitchFamily="50" charset="-128"/>
                <a:cs typeface="メイリオ"/>
              </a:rPr>
              <a:t>画面</a:t>
            </a:r>
            <a:r>
              <a:rPr lang="ja-JP" altLang="en-US" sz="1100" dirty="0">
                <a:latin typeface="メイリオ" panose="020B0604030504040204" pitchFamily="50" charset="-128"/>
                <a:ea typeface="メイリオ" panose="020B0604030504040204" pitchFamily="50" charset="-128"/>
                <a:cs typeface="メイリオ"/>
              </a:rPr>
              <a:t>へ遷移する。</a:t>
            </a:r>
            <a:endParaRPr lang="en-US" altLang="ja-JP" sz="1100" dirty="0">
              <a:latin typeface="メイリオ" panose="020B0604030504040204" pitchFamily="50" charset="-128"/>
              <a:ea typeface="メイリオ" panose="020B0604030504040204" pitchFamily="50" charset="-128"/>
              <a:cs typeface="メイリオ"/>
            </a:endParaRPr>
          </a:p>
          <a:p>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設定によりフォーム入力</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lang="ja-JP" altLang="en-US" sz="1000" dirty="0">
                <a:solidFill>
                  <a:srgbClr val="1F2A5C"/>
                </a:solidFill>
                <a:latin typeface="メイリオ" panose="020B0604030504040204" pitchFamily="50" charset="-128"/>
                <a:ea typeface="メイリオ" panose="020B0604030504040204" pitchFamily="50" charset="-128"/>
                <a:cs typeface="メイリオ"/>
              </a:rPr>
              <a:t>　内容を踏襲した入力画面</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　を表示させることが可能。</a:t>
            </a:r>
            <a:endParaRPr kumimoji="1" lang="en-US" altLang="ja-JP" sz="1000" dirty="0">
              <a:solidFill>
                <a:srgbClr val="1F2A5C"/>
              </a:solidFill>
              <a:latin typeface="メイリオ" panose="020B0604030504040204" pitchFamily="50" charset="-128"/>
              <a:ea typeface="メイリオ" panose="020B0604030504040204" pitchFamily="50" charset="-128"/>
              <a:cs typeface="メイリオ"/>
            </a:endParaRPr>
          </a:p>
          <a:p>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p:txBody>
      </p:sp>
      <p:pic>
        <p:nvPicPr>
          <p:cNvPr id="43" name="図 42">
            <a:extLst>
              <a:ext uri="{FF2B5EF4-FFF2-40B4-BE49-F238E27FC236}">
                <a16:creationId xmlns:a16="http://schemas.microsoft.com/office/drawing/2014/main" id="{5042697E-BCAB-283D-289B-8059CFFDE88F}"/>
              </a:ext>
            </a:extLst>
          </p:cNvPr>
          <p:cNvPicPr>
            <a:picLocks noChangeAspect="1"/>
          </p:cNvPicPr>
          <p:nvPr/>
        </p:nvPicPr>
        <p:blipFill>
          <a:blip r:embed="rId3"/>
          <a:stretch>
            <a:fillRect/>
          </a:stretch>
        </p:blipFill>
        <p:spPr>
          <a:xfrm>
            <a:off x="8088101" y="2284958"/>
            <a:ext cx="334412" cy="74315"/>
          </a:xfrm>
          <a:prstGeom prst="rect">
            <a:avLst/>
          </a:prstGeom>
        </p:spPr>
      </p:pic>
      <p:pic>
        <p:nvPicPr>
          <p:cNvPr id="44" name="図 43">
            <a:extLst>
              <a:ext uri="{FF2B5EF4-FFF2-40B4-BE49-F238E27FC236}">
                <a16:creationId xmlns:a16="http://schemas.microsoft.com/office/drawing/2014/main" id="{592C073E-FA0A-DF63-E2EF-2D654055CD06}"/>
              </a:ext>
            </a:extLst>
          </p:cNvPr>
          <p:cNvPicPr>
            <a:picLocks noChangeAspect="1"/>
          </p:cNvPicPr>
          <p:nvPr/>
        </p:nvPicPr>
        <p:blipFill>
          <a:blip r:embed="rId3"/>
          <a:stretch>
            <a:fillRect/>
          </a:stretch>
        </p:blipFill>
        <p:spPr>
          <a:xfrm>
            <a:off x="8240501" y="2437358"/>
            <a:ext cx="334412" cy="74315"/>
          </a:xfrm>
          <a:prstGeom prst="rect">
            <a:avLst/>
          </a:prstGeom>
        </p:spPr>
      </p:pic>
      <p:cxnSp>
        <p:nvCxnSpPr>
          <p:cNvPr id="52" name="コネクタ: カギ線 51">
            <a:extLst>
              <a:ext uri="{FF2B5EF4-FFF2-40B4-BE49-F238E27FC236}">
                <a16:creationId xmlns:a16="http://schemas.microsoft.com/office/drawing/2014/main" id="{8357B78E-00F3-6A09-133E-FA44D96E056A}"/>
              </a:ext>
            </a:extLst>
          </p:cNvPr>
          <p:cNvCxnSpPr>
            <a:cxnSpLocks/>
          </p:cNvCxnSpPr>
          <p:nvPr/>
        </p:nvCxnSpPr>
        <p:spPr>
          <a:xfrm flipV="1">
            <a:off x="7364945" y="3065322"/>
            <a:ext cx="574585" cy="332494"/>
          </a:xfrm>
          <a:prstGeom prst="bentConnector3">
            <a:avLst>
              <a:gd name="adj1" fmla="val 50000"/>
            </a:avLst>
          </a:prstGeom>
          <a:ln w="15875">
            <a:solidFill>
              <a:srgbClr val="1F2A5C"/>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B3F147E1-85AD-880C-67E9-D8D7B09A8DA1}"/>
              </a:ext>
            </a:extLst>
          </p:cNvPr>
          <p:cNvSpPr txBox="1"/>
          <p:nvPr/>
        </p:nvSpPr>
        <p:spPr>
          <a:xfrm>
            <a:off x="5530932" y="4525127"/>
            <a:ext cx="3730896" cy="1269917"/>
          </a:xfrm>
          <a:prstGeom prst="rect">
            <a:avLst/>
          </a:prstGeom>
          <a:solidFill>
            <a:srgbClr val="F2F2F2"/>
          </a:solidFill>
        </p:spPr>
        <p:txBody>
          <a:bodyPr wrap="square" anchor="ctr">
            <a:spAutoFit/>
          </a:bodyPr>
          <a:lstStyle/>
          <a:p>
            <a:pPr algn="ctr"/>
            <a:r>
              <a:rPr lang="ja-JP" altLang="en-US" sz="1400" b="1" dirty="0">
                <a:latin typeface="メイリオ" panose="020B0604030504040204" pitchFamily="50" charset="-128"/>
                <a:ea typeface="メイリオ" panose="020B0604030504040204" pitchFamily="50" charset="-128"/>
                <a:cs typeface="メイリオ"/>
              </a:rPr>
              <a:t>非友だち　：　友だち追加</a:t>
            </a:r>
            <a:r>
              <a:rPr lang="en-US" altLang="ja-JP" sz="1400" b="1" dirty="0">
                <a:latin typeface="メイリオ" panose="020B0604030504040204" pitchFamily="50" charset="-128"/>
                <a:ea typeface="メイリオ" panose="020B0604030504040204" pitchFamily="50" charset="-128"/>
                <a:cs typeface="メイリオ"/>
              </a:rPr>
              <a:t>CTA</a:t>
            </a:r>
          </a:p>
          <a:p>
            <a:pPr algn="ctr"/>
            <a:r>
              <a:rPr lang="ja-JP" altLang="en-US" sz="1400" b="1" dirty="0">
                <a:latin typeface="メイリオ" panose="020B0604030504040204" pitchFamily="50" charset="-128"/>
                <a:ea typeface="メイリオ" panose="020B0604030504040204" pitchFamily="50" charset="-128"/>
                <a:cs typeface="メイリオ"/>
              </a:rPr>
              <a:t>友だち　：　入力項目</a:t>
            </a:r>
            <a:endParaRPr lang="en-US" altLang="ja-JP" sz="1400" b="1" dirty="0">
              <a:latin typeface="メイリオ" panose="020B0604030504040204" pitchFamily="50" charset="-128"/>
              <a:ea typeface="メイリオ" panose="020B0604030504040204" pitchFamily="50" charset="-128"/>
              <a:cs typeface="メイリオ"/>
            </a:endParaRPr>
          </a:p>
          <a:p>
            <a:pPr algn="ctr"/>
            <a:r>
              <a:rPr lang="ja-JP" altLang="en-US" sz="1400" b="1" dirty="0">
                <a:latin typeface="メイリオ" panose="020B0604030504040204" pitchFamily="50" charset="-128"/>
                <a:ea typeface="メイリオ" panose="020B0604030504040204" pitchFamily="50" charset="-128"/>
                <a:cs typeface="メイリオ"/>
              </a:rPr>
              <a:t>↓</a:t>
            </a:r>
            <a:endParaRPr lang="en-US" altLang="ja-JP" sz="1400" b="1" dirty="0">
              <a:latin typeface="メイリオ" panose="020B0604030504040204" pitchFamily="50" charset="-128"/>
              <a:ea typeface="メイリオ" panose="020B0604030504040204" pitchFamily="50" charset="-128"/>
              <a:cs typeface="メイリオ"/>
            </a:endParaRPr>
          </a:p>
          <a:p>
            <a:pPr algn="ctr"/>
            <a:r>
              <a:rPr kumimoji="1" lang="ja-JP" altLang="en-US" sz="1400" b="1" dirty="0">
                <a:solidFill>
                  <a:srgbClr val="1F2A5C"/>
                </a:solidFill>
                <a:latin typeface="メイリオ" panose="020B0604030504040204" pitchFamily="50" charset="-128"/>
                <a:ea typeface="メイリオ" panose="020B0604030504040204" pitchFamily="50" charset="-128"/>
                <a:cs typeface="メイリオ"/>
              </a:rPr>
              <a:t>配信セグメントとして活用</a:t>
            </a:r>
            <a:endParaRPr kumimoji="1" lang="en-US" altLang="ja-JP"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62" name="正方形/長方形 61">
            <a:extLst>
              <a:ext uri="{FF2B5EF4-FFF2-40B4-BE49-F238E27FC236}">
                <a16:creationId xmlns:a16="http://schemas.microsoft.com/office/drawing/2014/main" id="{C34094D4-4FAE-D245-6147-C35E71DD4CC8}"/>
              </a:ext>
            </a:extLst>
          </p:cNvPr>
          <p:cNvSpPr/>
          <p:nvPr/>
        </p:nvSpPr>
        <p:spPr>
          <a:xfrm>
            <a:off x="443011" y="2307629"/>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セミナー予約</a:t>
            </a:r>
          </a:p>
        </p:txBody>
      </p:sp>
      <p:sp>
        <p:nvSpPr>
          <p:cNvPr id="1025" name="正方形/長方形 1024">
            <a:extLst>
              <a:ext uri="{FF2B5EF4-FFF2-40B4-BE49-F238E27FC236}">
                <a16:creationId xmlns:a16="http://schemas.microsoft.com/office/drawing/2014/main" id="{5BF4A25A-82A2-0487-DB4D-8B89F895CBB0}"/>
              </a:ext>
            </a:extLst>
          </p:cNvPr>
          <p:cNvSpPr/>
          <p:nvPr/>
        </p:nvSpPr>
        <p:spPr>
          <a:xfrm>
            <a:off x="2891617" y="2307628"/>
            <a:ext cx="2399777"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サロン申込み</a:t>
            </a:r>
          </a:p>
        </p:txBody>
      </p:sp>
      <p:sp>
        <p:nvSpPr>
          <p:cNvPr id="1033" name="矢印: 下 1032">
            <a:extLst>
              <a:ext uri="{FF2B5EF4-FFF2-40B4-BE49-F238E27FC236}">
                <a16:creationId xmlns:a16="http://schemas.microsoft.com/office/drawing/2014/main" id="{3277AE2F-ADD2-3317-20C0-EEAE2FCBE973}"/>
              </a:ext>
            </a:extLst>
          </p:cNvPr>
          <p:cNvSpPr/>
          <p:nvPr/>
        </p:nvSpPr>
        <p:spPr>
          <a:xfrm>
            <a:off x="1144266" y="5160085"/>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7" name="矢印: 下 1036">
            <a:extLst>
              <a:ext uri="{FF2B5EF4-FFF2-40B4-BE49-F238E27FC236}">
                <a16:creationId xmlns:a16="http://schemas.microsoft.com/office/drawing/2014/main" id="{0C880EC7-0A21-CB31-B621-DEC827B415EF}"/>
              </a:ext>
            </a:extLst>
          </p:cNvPr>
          <p:cNvSpPr/>
          <p:nvPr/>
        </p:nvSpPr>
        <p:spPr>
          <a:xfrm>
            <a:off x="3553574" y="5160084"/>
            <a:ext cx="1075862" cy="244151"/>
          </a:xfrm>
          <a:prstGeom prst="down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45" name="正方形/長方形 1044">
            <a:extLst>
              <a:ext uri="{FF2B5EF4-FFF2-40B4-BE49-F238E27FC236}">
                <a16:creationId xmlns:a16="http://schemas.microsoft.com/office/drawing/2014/main" id="{FB7AE13E-85F8-C517-848B-5313A3CFA572}"/>
              </a:ext>
            </a:extLst>
          </p:cNvPr>
          <p:cNvSpPr/>
          <p:nvPr/>
        </p:nvSpPr>
        <p:spPr>
          <a:xfrm>
            <a:off x="443011" y="5505059"/>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予約内容の登録</a:t>
            </a:r>
            <a:endParaRPr kumimoji="1"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前日・当日のお知らせが開始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47" name="正方形/長方形 1046">
            <a:extLst>
              <a:ext uri="{FF2B5EF4-FFF2-40B4-BE49-F238E27FC236}">
                <a16:creationId xmlns:a16="http://schemas.microsoft.com/office/drawing/2014/main" id="{F033AA41-B418-A490-2721-21F61A63D10C}"/>
              </a:ext>
            </a:extLst>
          </p:cNvPr>
          <p:cNvSpPr/>
          <p:nvPr/>
        </p:nvSpPr>
        <p:spPr>
          <a:xfrm>
            <a:off x="2891617" y="5505058"/>
            <a:ext cx="2399777" cy="922901"/>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申込み内容の登録</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LINEに遷移</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入会後のご案内が開始</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050" name="差し込み LPの予約フォーム"/>
          <p:cNvSpPr/>
          <p:nvPr/>
        </p:nvSpPr>
        <p:spPr>
          <a:xfrm>
            <a:off x="598364" y="2610452"/>
            <a:ext cx="2159695" cy="2425925"/>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LPの予約フォーム</a:t>
            </a:r>
            <a:endParaRPr lang="ja-JP" altLang="en-US" sz="1200" dirty="0">
              <a:latin typeface="メイリオ"/>
              <a:ea typeface="メイリオ"/>
              <a:cs typeface="メイリオ"/>
            </a:endParaRPr>
          </a:p>
        </p:txBody>
      </p:sp>
      <p:sp>
        <p:nvSpPr>
          <p:cNvPr id="1051" name="差し込み サロンの申込みページ"/>
          <p:cNvSpPr/>
          <p:nvPr/>
        </p:nvSpPr>
        <p:spPr>
          <a:xfrm>
            <a:off x="2891617" y="2590927"/>
            <a:ext cx="2399777" cy="254456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サロンの申込みページ</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2476006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822960" y="3838575"/>
            <a:ext cx="219456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4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18" name="Oval 2006">
            <a:extLst>
              <a:ext uri="{FF2B5EF4-FFF2-40B4-BE49-F238E27FC236}">
                <a16:creationId xmlns:a16="http://schemas.microsoft.com/office/drawing/2014/main" id="{B480E83F-D844-D99F-CC4C-FF3DC5EC475C}"/>
              </a:ext>
            </a:extLst>
          </p:cNvPr>
          <p:cNvSpPr/>
          <p:nvPr/>
        </p:nvSpPr>
        <p:spPr>
          <a:xfrm>
            <a:off x="3383280" y="3838575"/>
            <a:ext cx="143637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20" name="Oval 2007">
            <a:extLst>
              <a:ext uri="{FF2B5EF4-FFF2-40B4-BE49-F238E27FC236}">
                <a16:creationId xmlns:a16="http://schemas.microsoft.com/office/drawing/2014/main" id="{97D834F7-04F0-3D93-E254-183AAEE62BD8}"/>
              </a:ext>
            </a:extLst>
          </p:cNvPr>
          <p:cNvSpPr/>
          <p:nvPr/>
        </p:nvSpPr>
        <p:spPr>
          <a:xfrm>
            <a:off x="5577840" y="3838575"/>
            <a:ext cx="143637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dirty="0">
                <a:solidFill>
                  <a:srgbClr val="FFFFFF"/>
                </a:solidFill>
                <a:latin typeface="メイリオ" panose="020B0604030504040204" pitchFamily="50" charset="-128"/>
                <a:ea typeface="メイリオ" panose="020B0604030504040204" pitchFamily="50" charset="-128"/>
                <a:cs typeface="メイリオ"/>
              </a:rPr>
              <a:t>--</a:t>
            </a:r>
          </a:p>
        </p:txBody>
      </p:sp>
    </p:spTree>
    <p:extLst>
      <p:ext uri="{BB962C8B-B14F-4D97-AF65-F5344CB8AC3E}">
        <p14:creationId xmlns:p14="http://schemas.microsoft.com/office/powerpoint/2010/main" val="21557982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概算お見積り：6か月で、追える人数90人・セミナー予約11件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a:t>
            </a:r>
            <a:r>
              <a:rPr lang="ja-JP" sz="1400" b="0" u="none" strike="noStrike">
                <a:solidFill>
                  <a:schemeClr val="lt1"/>
                </a:solidFill>
                <a:effectLst/>
                <a:uFillTx/>
                <a:latin typeface="メイリオ"/>
                <a:ea typeface="メイリオ"/>
                <a:cs typeface="メイリオ"/>
              </a:rPr>
              <a:t>か月後</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cs typeface="メイリオ"/>
              </a:rPr>
              <a:t>セミナー前日の</a:t>
            </a:r>
            <a:endParaRPr lang="en-US" sz="1200" b="0" u="none" strike="noStrike">
              <a:solidFill>
                <a:srgbClr val="FFFFFF"/>
              </a:solidFill>
              <a:effectLst/>
              <a:uFillTx/>
              <a:latin typeface="メイリオ"/>
              <a:ea typeface="メイリオ"/>
              <a:cs typeface="メイリオ"/>
            </a:endParaRPr>
          </a:p>
          <a:p>
            <a:pPr algn="ctr" defTabSz="914400">
              <a:lnSpc>
                <a:spcPct val="90000"/>
              </a:lnSpc>
            </a:pPr>
            <a:r>
              <a:rPr lang="ja-JP" sz="1200" b="0" u="none" strike="noStrike">
                <a:solidFill>
                  <a:schemeClr val="lt1"/>
                </a:solidFill>
                <a:effectLst/>
                <a:uFillTx/>
                <a:latin typeface="メイリオ"/>
                <a:ea typeface="メイリオ"/>
                <a:cs typeface="メイリオ"/>
              </a:rPr>
              <a:t>お知らせ</a:t>
            </a:r>
            <a:endParaRPr lang="en-US" sz="1200" b="0" u="none" strike="noStrike">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月次レポート・</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定例会</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月1回</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個別チャット</a:t>
            </a:r>
            <a:endParaRPr lang="en-US" sz="1300" b="0" u="none" strike="noStrike">
              <a:solidFill>
                <a:srgbClr val="FFFFFF"/>
              </a:solidFill>
              <a:effectLst/>
              <a:uFillTx/>
              <a:latin typeface="メイリオ"/>
              <a:ea typeface="メイリオ"/>
              <a:cs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追える人数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50,000〜100,000円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115,000〜165,000円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100,000円〜＋ポップアップツール 15,000円＋サンクスLINE誘導 150,000円＋LINE公式アカウント開設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※月額ツール・LINE関連費＝ポップアップツール 30,000円＋サンクスLINE誘導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295,000円〜／月額 65,000円＋成果報酬（セミナー予約 12,000円／件）</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※契約期間は6か月〜。広告費は含まない。概算お見積りのページはプラン②の場合（平常期の月額コンサルティング費は100,000円で計算）</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ポップアップツール・</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セミナー前日のお知らせ</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142216</TotalTime>
  <Words>7053</Words>
  <Application>Microsoft Office PowerPoint</Application>
  <PresentationFormat>A4 210 x 297 mm</PresentationFormat>
  <Paragraphs>1602</Paragraphs>
  <Slides>63</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63</vt:i4>
      </vt:variant>
    </vt:vector>
  </HeadingPairs>
  <TitlesOfParts>
    <vt:vector size="71" baseType="lpstr">
      <vt:lpstr>メイリオ</vt:lpstr>
      <vt:lpstr>メイリオ</vt:lpstr>
      <vt:lpstr>Arial</vt:lpstr>
      <vt:lpstr>Calibri</vt:lpstr>
      <vt:lpstr>Century Gothic</vt:lpstr>
      <vt:lpstr>Times New Roman</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1948</cp:revision>
  <cp:lastPrinted>2022-11-01T11:38:14Z</cp:lastPrinted>
  <dcterms:created xsi:type="dcterms:W3CDTF">2015-09-04T09:21:15Z</dcterms:created>
  <dcterms:modified xsi:type="dcterms:W3CDTF">2026-07-29T05:46:21Z</dcterms:modified>
</cp:coreProperties>
</file>