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43" r:id="rId3"/>
    <p:sldId id="3008" r:id="rId4"/>
    <p:sldId id="3045" r:id="rId14"/>
    <p:sldId id="3039" r:id="rId5"/>
    <p:sldId id="3041" r:id="rId6"/>
    <p:sldId id="3044" r:id="rId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256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jpeg"/><Relationship Id="rId9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2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0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8000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0000" y="1548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3304800" y="1998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60000" y="2142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3304800" y="2592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60000" y="2736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3304800" y="3186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60000" y="3330000"/>
            <a:ext cx="4248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8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16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3999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9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の改善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6000" y="1548000"/>
            <a:ext cx="42480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8740800" y="1998000"/>
            <a:ext cx="1584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96000" y="2142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8740800" y="2592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696000" y="2736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8740800" y="3186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96000" y="3330000"/>
            <a:ext cx="42480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4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792000" y="4536000"/>
            <a:ext cx="361200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4536000"/>
            <a:ext cx="317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4296000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20000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7799999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23999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232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72000" y="5418000"/>
            <a:ext cx="10260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7200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121999" y="5292000"/>
            <a:ext cx="39600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2000" b="1">
                <a:solidFill>
                  <a:srgbClr val="FFE400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1691884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7537034" y="2187780"/>
            <a:ext cx="3061624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7537035" y="4317370"/>
            <a:ext cx="306162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7583090" y="20331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7583090" y="41952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7162523" y="2932418"/>
            <a:ext cx="391555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7162523" y="3354124"/>
            <a:ext cx="345499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53316" y="2021148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65094" y="4121293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7583091" y="2552900"/>
            <a:ext cx="15109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7555221" y="4735255"/>
            <a:ext cx="1647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998" y="2977479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724" y="2983787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1394" y="4118389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794" y="4270789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9667828" y="2536378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1510609" y="2027927"/>
            <a:ext cx="1405728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957810" y="3262734"/>
            <a:ext cx="252701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1510609" y="4624810"/>
            <a:ext cx="1405728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3344" y="2214387"/>
            <a:ext cx="1249593" cy="2257852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3245020" y="2000983"/>
            <a:ext cx="150853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3242276" y="4603503"/>
            <a:ext cx="150853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3359597" y="2260627"/>
            <a:ext cx="1312445" cy="2202364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4710177" y="1804300"/>
            <a:ext cx="307967" cy="41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686399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9512823" y="4498577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5145349" y="846996"/>
            <a:ext cx="563179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5145350" y="1172815"/>
            <a:ext cx="471862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7554077" y="1518664"/>
            <a:ext cx="3044580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1686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初期：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15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</a:t>
            </a:r>
            <a:endParaRPr b="1" dirty="0">
              <a:solidFill>
                <a:schemeClr val="lt1"/>
              </a:solidFill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3280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月額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3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万円～</a:t>
            </a:r>
            <a:endParaRPr lang="en-US" altLang="ja-JP" b="1" dirty="0">
              <a:solidFill>
                <a:schemeClr val="lt1"/>
              </a:solidFill>
              <a:sym typeface="Meiryo"/>
            </a:endParaRPr>
          </a:p>
          <a:p>
            <a:pPr algn="ctr">
              <a:buSzPts val="1400"/>
            </a:pPr>
            <a:r>
              <a:rPr lang="en-US" altLang="ja-JP" sz="1050" b="1" dirty="0">
                <a:solidFill>
                  <a:srgbClr val="FFFF00"/>
                </a:solidFill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sym typeface="Meiryo"/>
              </a:rPr>
              <a:t>設定地点追加</a:t>
            </a:r>
            <a:endParaRPr sz="1050" b="1" dirty="0">
              <a:solidFill>
                <a:srgbClr val="FFFF00"/>
              </a:solidFill>
              <a:sym typeface="Meiryo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2146069" y="190940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6633" y="4115263"/>
            <a:ext cx="466595" cy="8613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778" y="2294975"/>
            <a:ext cx="466595" cy="8613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2354690" y="5205027"/>
            <a:ext cx="4874067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2066925" y="4868960"/>
            <a:ext cx="287764" cy="66604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6504546" y="2415812"/>
            <a:ext cx="653304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4819827" y="3203047"/>
            <a:ext cx="1632963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4831291" y="2187781"/>
            <a:ext cx="1586044" cy="948384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 flipV="1">
            <a:off x="7217657" y="4971540"/>
            <a:ext cx="2192682" cy="59904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7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92000" y="5029200"/>
            <a:ext cx="64800" cy="18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5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375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6000" y="5029200"/>
            <a:ext cx="648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2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68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68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0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0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02000" y="4986000"/>
            <a:ext cx="0" cy="79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000" y="5814000"/>
            <a:ext cx="10620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前後検索データを活用したステップ配信設計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アクションが起きやすい友だち追加直後に、ユーザーの検討行動に合わせた配信を設計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92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602000"/>
            <a:ext cx="273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前後検索データを分析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962000"/>
            <a:ext cx="309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検索前後のニーズを把握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284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602000"/>
            <a:ext cx="273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配信内容・順番・タイミングを設計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4000" y="1962000"/>
            <a:ext cx="309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配信内容・順番を設計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84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775999" y="1620000"/>
            <a:ext cx="306000" cy="306000"/>
          </a:xfrm>
          <a:prstGeom prst="ellips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5999" y="1602000"/>
            <a:ext cx="3276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友だち追加直後からステップ配信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5999" y="1962000"/>
            <a:ext cx="3636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アクションが起きやすい追加直後に配信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5999" y="2304000"/>
            <a:ext cx="3636001" cy="0"/>
          </a:xfrm>
          <a:prstGeom prst="line">
            <a:avLst/>
          </a:prstGeom>
          <a:ln w="19050">
            <a:solidFill>
              <a:srgbClr val="0B7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3942000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433999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44000" y="4032000"/>
            <a:ext cx="280800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4000" y="2520000"/>
            <a:ext cx="0" cy="151200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448000" y="2520000"/>
            <a:ext cx="0" cy="151200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56000" y="2700000"/>
            <a:ext cx="288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UU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-15日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536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-7日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464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-3日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200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0日(検索起点)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936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3日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864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7日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000" y="4039200"/>
            <a:ext cx="792000" cy="144000"/>
          </a:xfrm>
          <a:prstGeom prst="rect">
            <a:avLst/>
          </a:prstGeom>
          <a:noFill/>
        </p:spPr>
        <p:txBody>
          <a:bodyPr wrap="non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15日</a:t>
            </a:r>
          </a:p>
        </p:txBody>
      </p:sp>
      <p:sp>
        <p:nvSpPr>
          <p:cNvPr id="31" name="Oval 30"/>
          <p:cNvSpPr/>
          <p:nvPr/>
        </p:nvSpPr>
        <p:spPr>
          <a:xfrm>
            <a:off x="2682707" y="260549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51107" y="2605492"/>
            <a:ext cx="268882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34840" y="266142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80853" y="290930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476387" y="293180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33307" y="293267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01707" y="2932673"/>
            <a:ext cx="18349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43319" y="293427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38100" y="296105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60030" y="297493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72774" y="299866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41174" y="2998660"/>
            <a:ext cx="186381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535977" y="307045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07740" y="307791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331068" y="316092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175619" y="326940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4019" y="3269407"/>
            <a:ext cx="12191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76979" y="333060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483339" y="336643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19303" y="337436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92012" y="338847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160412" y="3388477"/>
            <a:ext cx="124554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165080" y="338928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509956" y="339679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07838" y="342085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71268" y="342767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139668" y="3427671"/>
            <a:ext cx="16350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25255" y="347896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476890" y="352568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072315" y="353134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19410" y="354027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87810" y="3540270"/>
            <a:ext cx="15089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662903" y="354462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108230" y="358892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326967" y="364524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434371" y="366933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502771" y="3669338"/>
            <a:ext cx="242274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001848" y="368795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854556" y="370944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594248" y="371297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998657" y="371760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3067057" y="3717605"/>
            <a:ext cx="13415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45338" y="375191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555673" y="377159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639305" y="377388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583371" y="378450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651771" y="3784508"/>
            <a:ext cx="111741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863983" y="379709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890808" y="379997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543617" y="380506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340122" y="380935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408522" y="3809355"/>
            <a:ext cx="262059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402172" y="381881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839109" y="384600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937522" y="388051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982577" y="388670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2050977" y="3886708"/>
            <a:ext cx="19357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00917" y="388935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183143" y="389132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55345" y="389784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807047" y="390228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2875447" y="3902289"/>
            <a:ext cx="131749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302450" y="390921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568206" y="391049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683034" y="392106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670786" y="392278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739186" y="3922781"/>
            <a:ext cx="19599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917810" y="392575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859344" y="393218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138954" y="393759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74271" y="393899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742671" y="3938993"/>
            <a:ext cx="11238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177196" y="393922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125735" y="394036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493450" y="394058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994463" y="394348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2062863" y="3943482"/>
            <a:ext cx="19355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534627" y="394583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718189" y="394743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652575" y="394855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888649" y="394887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2957049" y="3948879"/>
            <a:ext cx="26651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315739" y="394918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004961" y="395019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37251" y="395070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591900" y="395237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660300" y="3952372"/>
            <a:ext cx="247858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771783" y="395279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92000" y="4194000"/>
            <a:ext cx="3096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※実際の前後検索データをもとに分析（キーワードは案件ごと）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0" y="4392000"/>
            <a:ext cx="288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検討前に何を検索しているか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検討後に何を検索しているか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ユーザーの不安・比較軸・関心テーマを把握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284000" y="2376000"/>
            <a:ext cx="126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20000" y="2376000"/>
            <a:ext cx="1260000" cy="2700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LINE配信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284000" y="2808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不安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5616000" y="3006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6120000" y="2808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どの情報を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84000" y="3401999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比較軸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5616000" y="3600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6120000" y="3401999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どの順番で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84000" y="3996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関心テーマ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616000" y="4194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6120000" y="3996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いつ配信するか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84000" y="4662000"/>
            <a:ext cx="3096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ニーズをもとに、配信内容・順番・タイミングを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業界・商材ごとに設計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8819999" y="2484000"/>
            <a:ext cx="0" cy="2556000"/>
          </a:xfrm>
          <a:prstGeom prst="line">
            <a:avLst/>
          </a:prstGeom>
          <a:ln w="2540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Oval 133"/>
          <p:cNvSpPr/>
          <p:nvPr/>
        </p:nvSpPr>
        <p:spPr>
          <a:xfrm>
            <a:off x="8711999" y="2376000"/>
            <a:ext cx="216000" cy="216000"/>
          </a:xfrm>
          <a:prstGeom prst="ellipse">
            <a:avLst/>
          </a:prstGeom>
          <a:solidFill>
            <a:srgbClr val="06C755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775999" y="2304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71999" y="2304000"/>
            <a:ext cx="234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サンクスLINE誘導などで追加</a:t>
            </a:r>
          </a:p>
        </p:txBody>
      </p:sp>
      <p:sp>
        <p:nvSpPr>
          <p:cNvPr id="137" name="Oval 136"/>
          <p:cNvSpPr/>
          <p:nvPr/>
        </p:nvSpPr>
        <p:spPr>
          <a:xfrm>
            <a:off x="8711999" y="3227999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775999" y="3155999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初回配信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071999" y="3155999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0" name="Oval 139"/>
          <p:cNvSpPr/>
          <p:nvPr/>
        </p:nvSpPr>
        <p:spPr>
          <a:xfrm>
            <a:off x="8711999" y="4079999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775999" y="4008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数日後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071999" y="4008000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比較検討情報・不安解消</a:t>
            </a:r>
          </a:p>
        </p:txBody>
      </p:sp>
      <p:sp>
        <p:nvSpPr>
          <p:cNvPr id="143" name="Oval 142"/>
          <p:cNvSpPr/>
          <p:nvPr/>
        </p:nvSpPr>
        <p:spPr>
          <a:xfrm>
            <a:off x="8711999" y="4932000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75999" y="4860000"/>
            <a:ext cx="90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071999" y="4860000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CVオファー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75999" y="5418000"/>
            <a:ext cx="3636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※配信内容・間隔は業界・商材ごとに設計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2000" y="5760000"/>
            <a:ext cx="106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前後検索でユーザーニーズを捉え、友だち追加直後のステップ配信に反映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143329</TotalTime>
  <Words>372</Words>
  <Application>Microsoft Office PowerPoint</Application>
  <PresentationFormat>ワイド画面</PresentationFormat>
  <Paragraphs>123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1971</cp:revision>
  <cp:lastPrinted>2022-11-01T11:38:14Z</cp:lastPrinted>
  <dcterms:created xsi:type="dcterms:W3CDTF">2015-09-04T09:21:15Z</dcterms:created>
  <dcterms:modified xsi:type="dcterms:W3CDTF">2026-10-07T05:50:14Z</dcterms:modified>
</cp:coreProperties>
</file>