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9"/>
  </p:notesMasterIdLst>
  <p:handoutMasterIdLst>
    <p:handoutMasterId r:id="rId10"/>
  </p:handoutMasterIdLst>
  <p:sldIdLst>
    <p:sldId id="3043" r:id="rId3"/>
    <p:sldId id="3008" r:id="rId4"/>
    <p:sldId id="3045" r:id="rId5"/>
    <p:sldId id="3039" r:id="rId6"/>
    <p:sldId id="3041" r:id="rId7"/>
    <p:sldId id="3044" r:id="rId8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256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広告と一緒にサンクスLINEを実施する理由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92000" y="792000"/>
            <a:ext cx="5184000" cy="3564000"/>
          </a:xfrm>
          <a:prstGeom prst="roundRect">
            <a:avLst>
              <a:gd name="adj" fmla="val 4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80000" y="990000"/>
            <a:ext cx="1296000" cy="324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8000" y="864000"/>
            <a:ext cx="3384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施策全体の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CPA</a:t>
            </a:r>
            <a:r>
              <a:rPr sz="1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 改善</a:t>
            </a:r>
          </a:p>
        </p:txBody>
      </p:sp>
      <p:sp>
        <p:nvSpPr>
          <p:cNvPr id="7" name="Rectangle 6"/>
          <p:cNvSpPr/>
          <p:nvPr/>
        </p:nvSpPr>
        <p:spPr>
          <a:xfrm>
            <a:off x="1260000" y="1548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8" name="Isosceles Triangle 7"/>
          <p:cNvSpPr/>
          <p:nvPr/>
        </p:nvSpPr>
        <p:spPr>
          <a:xfrm rot="10800000">
            <a:off x="3304800" y="1998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60000" y="2142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0" name="Isosceles Triangle 9"/>
          <p:cNvSpPr/>
          <p:nvPr/>
        </p:nvSpPr>
        <p:spPr>
          <a:xfrm rot="10800000">
            <a:off x="3304800" y="2592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60000" y="2736000"/>
            <a:ext cx="42480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 × 成果報酬施策</a:t>
            </a:r>
          </a:p>
        </p:txBody>
      </p:sp>
      <p:sp>
        <p:nvSpPr>
          <p:cNvPr id="12" name="Isosceles Triangle 11"/>
          <p:cNvSpPr/>
          <p:nvPr/>
        </p:nvSpPr>
        <p:spPr>
          <a:xfrm rot="10800000">
            <a:off x="3304800" y="3186000"/>
            <a:ext cx="1584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60000" y="3330000"/>
            <a:ext cx="42480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8000" y="3888000"/>
            <a:ext cx="4752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CVの取りこぼしを減らし、獲得チャネルを増やすことで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施策全体のCPAを改善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8000" y="792000"/>
            <a:ext cx="5184000" cy="35640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516000" y="990000"/>
            <a:ext cx="1296000" cy="324000"/>
          </a:xfrm>
          <a:prstGeom prst="roundRect">
            <a:avLst>
              <a:gd name="adj" fmla="val 50000"/>
            </a:avLst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3999" y="864000"/>
            <a:ext cx="3384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000" b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CPO</a:t>
            </a:r>
            <a:r>
              <a:rPr sz="1900" b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 の改善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96000" y="1548000"/>
            <a:ext cx="4248000" cy="413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Isosceles Triangle 18"/>
          <p:cNvSpPr/>
          <p:nvPr/>
        </p:nvSpPr>
        <p:spPr>
          <a:xfrm rot="10800000">
            <a:off x="8740800" y="1998000"/>
            <a:ext cx="158400" cy="108000"/>
          </a:xfrm>
          <a:prstGeom prst="triangle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696000" y="2142000"/>
            <a:ext cx="42480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1" name="Isosceles Triangle 20"/>
          <p:cNvSpPr/>
          <p:nvPr/>
        </p:nvSpPr>
        <p:spPr>
          <a:xfrm rot="10800000">
            <a:off x="8740800" y="2592000"/>
            <a:ext cx="1584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696000" y="2736000"/>
            <a:ext cx="42480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LINEでナーチャリング</a:t>
            </a:r>
          </a:p>
        </p:txBody>
      </p:sp>
      <p:sp>
        <p:nvSpPr>
          <p:cNvPr id="23" name="Isosceles Triangle 22"/>
          <p:cNvSpPr/>
          <p:nvPr/>
        </p:nvSpPr>
        <p:spPr>
          <a:xfrm rot="10800000">
            <a:off x="8740800" y="3186000"/>
            <a:ext cx="1584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96000" y="3330000"/>
            <a:ext cx="4248000" cy="413999"/>
          </a:xfrm>
          <a:prstGeom prst="rect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購入・契約などの最終成果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4000" y="3888000"/>
            <a:ext cx="4752000" cy="50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CV後の歩留まりを改善し、CPOを改善</a:t>
            </a:r>
          </a:p>
        </p:txBody>
      </p:sp>
      <p:sp>
        <p:nvSpPr>
          <p:cNvPr id="26" name="Pentagon 25"/>
          <p:cNvSpPr/>
          <p:nvPr/>
        </p:nvSpPr>
        <p:spPr>
          <a:xfrm>
            <a:off x="792000" y="4536000"/>
            <a:ext cx="3612000" cy="684000"/>
          </a:xfrm>
          <a:prstGeom prst="homePlate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4536000"/>
            <a:ext cx="317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CPOの改善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1件の最終成果あたりの広告費を抑えられる</a:t>
            </a:r>
          </a:p>
        </p:txBody>
      </p:sp>
      <p:sp>
        <p:nvSpPr>
          <p:cNvPr id="28" name="Chevron 27"/>
          <p:cNvSpPr/>
          <p:nvPr/>
        </p:nvSpPr>
        <p:spPr>
          <a:xfrm>
            <a:off x="4296000" y="4536000"/>
            <a:ext cx="361200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20000" y="4536000"/>
            <a:ext cx="299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許容CPAの引き上げ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1件の最終成果にかけられる広告費が増える</a:t>
            </a:r>
          </a:p>
        </p:txBody>
      </p:sp>
      <p:sp>
        <p:nvSpPr>
          <p:cNvPr id="30" name="Chevron 29"/>
          <p:cNvSpPr/>
          <p:nvPr/>
        </p:nvSpPr>
        <p:spPr>
          <a:xfrm>
            <a:off x="7799999" y="4536000"/>
            <a:ext cx="361200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23999" y="4536000"/>
            <a:ext cx="2999999" cy="68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広告配信の拡大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入札・予算・配信対象を広げやすくなる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232000" y="5256000"/>
            <a:ext cx="0" cy="162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72000" y="5418000"/>
            <a:ext cx="10260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72000" y="5263200"/>
            <a:ext cx="0" cy="1548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121999" y="5292000"/>
            <a:ext cx="3960000" cy="2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さらに成果が増えれば、再投資して継続的に拡大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2000" y="5652000"/>
            <a:ext cx="10620000" cy="61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2000" y="5652000"/>
            <a:ext cx="10620000" cy="612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広告とあわせて実施することで、</a:t>
            </a:r>
            <a:r>
              <a:rPr sz="2000" b="1">
                <a:solidFill>
                  <a:srgbClr val="FFE400"/>
                </a:solidFill>
                <a:latin typeface="メイリオ"/>
                <a:ea typeface="メイリオ"/>
                <a:cs typeface="メイリオ"/>
              </a:rPr>
              <a:t>事業全体の効率化</a:t>
            </a: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を図る。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1691884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7537034" y="2187780"/>
            <a:ext cx="3061624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7537035" y="4317370"/>
            <a:ext cx="306162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7583090" y="20331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7583090" y="4195296"/>
            <a:ext cx="1619242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7162523" y="2932418"/>
            <a:ext cx="391555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7162523" y="3354124"/>
            <a:ext cx="345499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53316" y="2021148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9265094" y="4121293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7583091" y="2552900"/>
            <a:ext cx="151097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7555221" y="4735255"/>
            <a:ext cx="16471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998" y="2977479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1724" y="2983787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1394" y="4118389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3794" y="4270789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9667828" y="2536378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1510609" y="2027927"/>
            <a:ext cx="1405728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957810" y="3262734"/>
            <a:ext cx="252701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1510609" y="4624810"/>
            <a:ext cx="1405728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3344" y="2214387"/>
            <a:ext cx="1249593" cy="2257852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3245020" y="2000983"/>
            <a:ext cx="150853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3242276" y="4603503"/>
            <a:ext cx="150853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3359597" y="2260627"/>
            <a:ext cx="1312445" cy="2202364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4710177" y="1804300"/>
            <a:ext cx="307967" cy="412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686399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9512823" y="4498577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5145349" y="846996"/>
            <a:ext cx="563179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5145350" y="1172815"/>
            <a:ext cx="471862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105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105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7554077" y="1518664"/>
            <a:ext cx="3044580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1686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初期：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15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</a:t>
            </a:r>
            <a:endParaRPr b="1" dirty="0">
              <a:solidFill>
                <a:schemeClr val="lt1"/>
              </a:solidFill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3280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algn="ctr">
              <a:buSzPts val="1400"/>
            </a:pPr>
            <a:r>
              <a:rPr lang="ja-JP" altLang="en-US" b="1" dirty="0">
                <a:solidFill>
                  <a:schemeClr val="lt1"/>
                </a:solidFill>
                <a:sym typeface="Meiryo"/>
              </a:rPr>
              <a:t>月額</a:t>
            </a:r>
            <a:r>
              <a:rPr lang="en-US" altLang="ja-JP" b="1" dirty="0">
                <a:solidFill>
                  <a:schemeClr val="lt1"/>
                </a:solidFill>
                <a:sym typeface="Meiryo"/>
              </a:rPr>
              <a:t>3</a:t>
            </a:r>
            <a:r>
              <a:rPr lang="ja-JP" altLang="en-US" b="1" dirty="0">
                <a:solidFill>
                  <a:schemeClr val="lt1"/>
                </a:solidFill>
                <a:sym typeface="Meiryo"/>
              </a:rPr>
              <a:t>万円～</a:t>
            </a:r>
            <a:endParaRPr lang="en-US" altLang="ja-JP" b="1" dirty="0">
              <a:solidFill>
                <a:schemeClr val="lt1"/>
              </a:solidFill>
              <a:sym typeface="Meiryo"/>
            </a:endParaRPr>
          </a:p>
          <a:p>
            <a:pPr algn="ctr">
              <a:buSzPts val="1400"/>
            </a:pPr>
            <a:r>
              <a:rPr lang="en-US" altLang="ja-JP" sz="1050" b="1" dirty="0">
                <a:solidFill>
                  <a:srgbClr val="FFFF00"/>
                </a:solidFill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sym typeface="Meiryo"/>
              </a:rPr>
              <a:t>設定地点追加</a:t>
            </a:r>
            <a:endParaRPr sz="1050" b="1" dirty="0">
              <a:solidFill>
                <a:srgbClr val="FFFF00"/>
              </a:solidFill>
              <a:sym typeface="Meiryo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2146069" y="190940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26633" y="4115263"/>
            <a:ext cx="466595" cy="8613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7778" y="2294975"/>
            <a:ext cx="466595" cy="8613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2354690" y="5205027"/>
            <a:ext cx="4874067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6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  <a:stCxn id="33" idx="1"/>
          </p:cNvCxnSpPr>
          <p:nvPr/>
        </p:nvCxnSpPr>
        <p:spPr>
          <a:xfrm flipH="1" flipV="1">
            <a:off x="2066925" y="4868960"/>
            <a:ext cx="287764" cy="66604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6504546" y="2415812"/>
            <a:ext cx="653304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4819827" y="3203047"/>
            <a:ext cx="1632963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4831291" y="2187781"/>
            <a:ext cx="1586044" cy="948384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 flipV="1">
            <a:off x="7217657" y="4971540"/>
            <a:ext cx="2192682" cy="59904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前後検索データを活用したステップ配信設計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98527"/>
            <a:ext cx="11214119" cy="382946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友だち追加直後で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アクション</a:t>
            </a:r>
            <a:r>
              <a:rPr lang="ja-JP" altLang="en-US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率が高い時に</a:t>
            </a:r>
            <a:r>
              <a:rPr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ユーザーの検討行動に合わせた配信を設計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92000" y="1620000"/>
            <a:ext cx="306000" cy="30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1987330"/>
            <a:ext cx="3096000" cy="27334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ja-JP" altLang="en-US"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前後検</a:t>
            </a: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索</a:t>
            </a:r>
            <a:r>
              <a:rPr lang="ja-JP" altLang="en-US"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⇒ユーザーの</a:t>
            </a:r>
            <a:r>
              <a:rPr sz="14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ニーズを把握</a:t>
            </a:r>
            <a:endParaRPr sz="14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92000" y="2304000"/>
            <a:ext cx="3096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284000" y="1620000"/>
            <a:ext cx="306000" cy="30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4000" y="1962000"/>
            <a:ext cx="3096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配信内容・順番を設計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84000" y="2304000"/>
            <a:ext cx="3096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775999" y="1620000"/>
            <a:ext cx="306000" cy="306000"/>
          </a:xfrm>
          <a:prstGeom prst="ellips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5999" y="1987330"/>
            <a:ext cx="3636000" cy="27334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ja-JP" altLang="en-US"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追加直後で</a:t>
            </a:r>
            <a:r>
              <a:rPr sz="14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アクション</a:t>
            </a:r>
            <a:r>
              <a:rPr lang="ja-JP" altLang="en-US"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率高め</a:t>
            </a:r>
            <a:endParaRPr sz="14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7775999" y="2304000"/>
            <a:ext cx="3636001" cy="0"/>
          </a:xfrm>
          <a:prstGeom prst="line">
            <a:avLst/>
          </a:prstGeom>
          <a:ln w="19050">
            <a:solidFill>
              <a:srgbClr val="0B7A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>
            <a:off x="3942000" y="3456000"/>
            <a:ext cx="288000" cy="468000"/>
          </a:xfrm>
          <a:prstGeom prst="rightArrow">
            <a:avLst>
              <a:gd name="adj1" fmla="val 45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7433999" y="3456000"/>
            <a:ext cx="288000" cy="468000"/>
          </a:xfrm>
          <a:prstGeom prst="rightArrow">
            <a:avLst>
              <a:gd name="adj1" fmla="val 45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1044000" y="4032000"/>
            <a:ext cx="2808000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4000" y="2520000"/>
            <a:ext cx="0" cy="151200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448000" y="2520000"/>
            <a:ext cx="0" cy="151200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56000" y="2700000"/>
            <a:ext cx="288000" cy="18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UU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" y="4039200"/>
            <a:ext cx="792000" cy="144000"/>
          </a:xfrm>
          <a:prstGeom prst="rect">
            <a:avLst/>
          </a:prstGeom>
          <a:noFill/>
        </p:spPr>
        <p:txBody>
          <a:bodyPr wrap="non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-15日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5360" y="4039200"/>
            <a:ext cx="792000" cy="144000"/>
          </a:xfrm>
          <a:prstGeom prst="rect">
            <a:avLst/>
          </a:prstGeom>
          <a:noFill/>
        </p:spPr>
        <p:txBody>
          <a:bodyPr wrap="non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-7日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74640" y="4039200"/>
            <a:ext cx="792000" cy="144000"/>
          </a:xfrm>
          <a:prstGeom prst="rect">
            <a:avLst/>
          </a:prstGeom>
          <a:noFill/>
        </p:spPr>
        <p:txBody>
          <a:bodyPr wrap="non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-3日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2000" y="4039200"/>
            <a:ext cx="792000" cy="144000"/>
          </a:xfrm>
          <a:prstGeom prst="rect">
            <a:avLst/>
          </a:prstGeom>
          <a:noFill/>
        </p:spPr>
        <p:txBody>
          <a:bodyPr wrap="non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0日(検索起点)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9360" y="4039200"/>
            <a:ext cx="792000" cy="144000"/>
          </a:xfrm>
          <a:prstGeom prst="rect">
            <a:avLst/>
          </a:prstGeom>
          <a:noFill/>
        </p:spPr>
        <p:txBody>
          <a:bodyPr wrap="non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3日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8640" y="4039200"/>
            <a:ext cx="792000" cy="144000"/>
          </a:xfrm>
          <a:prstGeom prst="rect">
            <a:avLst/>
          </a:prstGeom>
          <a:noFill/>
        </p:spPr>
        <p:txBody>
          <a:bodyPr wrap="non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7日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000" y="4039200"/>
            <a:ext cx="792000" cy="144000"/>
          </a:xfrm>
          <a:prstGeom prst="rect">
            <a:avLst/>
          </a:prstGeom>
          <a:noFill/>
        </p:spPr>
        <p:txBody>
          <a:bodyPr wrap="non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15日</a:t>
            </a:r>
          </a:p>
        </p:txBody>
      </p:sp>
      <p:sp>
        <p:nvSpPr>
          <p:cNvPr id="31" name="Oval 30"/>
          <p:cNvSpPr/>
          <p:nvPr/>
        </p:nvSpPr>
        <p:spPr>
          <a:xfrm>
            <a:off x="2682707" y="260549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751107" y="2605492"/>
            <a:ext cx="268882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2434840" y="266142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2880853" y="290930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476387" y="293180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933307" y="293267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001707" y="2932673"/>
            <a:ext cx="183490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743319" y="2934274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138100" y="2961056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2560030" y="297493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772774" y="299866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2841174" y="2998660"/>
            <a:ext cx="186381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535977" y="307045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707740" y="307791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3331068" y="3160924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175619" y="326940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2244019" y="3269407"/>
            <a:ext cx="121913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176979" y="333060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2483339" y="336643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1919303" y="337436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2092012" y="338847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2160412" y="3388477"/>
            <a:ext cx="124554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2165080" y="338928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509956" y="339679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2307838" y="342085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3071268" y="342767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3139668" y="3427671"/>
            <a:ext cx="163507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2225255" y="347896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2476890" y="352568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2072315" y="353134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2219410" y="354027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2287810" y="3540270"/>
            <a:ext cx="150890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1662903" y="354462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2108230" y="3588920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2326967" y="364524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2434371" y="366933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2502771" y="3669338"/>
            <a:ext cx="242274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3001848" y="368795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1854556" y="370944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2594248" y="3712976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2998657" y="371760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3067057" y="3717605"/>
            <a:ext cx="134153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3645338" y="375191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2555673" y="377159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1639305" y="377388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2583371" y="378450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2651771" y="3784508"/>
            <a:ext cx="111741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1863983" y="379709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2890808" y="379997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2543617" y="3805064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2340122" y="380935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2408522" y="3809355"/>
            <a:ext cx="262059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2402172" y="381881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1839109" y="384600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2937522" y="388051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1982577" y="388670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050977" y="3886708"/>
            <a:ext cx="193577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2700917" y="388935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3183143" y="389132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2355345" y="389784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2807047" y="390228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2" name="Rounded Rectangle 91"/>
          <p:cNvSpPr/>
          <p:nvPr/>
        </p:nvSpPr>
        <p:spPr>
          <a:xfrm>
            <a:off x="2875447" y="3902289"/>
            <a:ext cx="131749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2302450" y="3909216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2568206" y="391049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2683034" y="392106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2670786" y="392278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2739186" y="3922781"/>
            <a:ext cx="195993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2917810" y="392575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2859344" y="393218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3138954" y="3937598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1674271" y="393899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1742671" y="3938993"/>
            <a:ext cx="112380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2177196" y="3939227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2125735" y="394036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2493450" y="3940585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1994463" y="394348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2062863" y="3943482"/>
            <a:ext cx="193553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2534627" y="3945834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1718189" y="394743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2652575" y="3948553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2888649" y="394887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2957049" y="3948879"/>
            <a:ext cx="266517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2315739" y="394918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2004961" y="3950196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2637251" y="3950701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2591900" y="3952372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2660300" y="3952372"/>
            <a:ext cx="247858" cy="50400"/>
          </a:xfrm>
          <a:prstGeom prst="roundRect">
            <a:avLst>
              <a:gd name="adj" fmla="val 50000"/>
            </a:avLst>
          </a:prstGeom>
          <a:solidFill>
            <a:srgbClr val="C9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2771783" y="3952799"/>
            <a:ext cx="50400" cy="504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900000" y="4392000"/>
            <a:ext cx="2880000" cy="951474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検討前に何を検索しているか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検討後に何を検索しているか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ユーザーの不安・比較軸・関心テーマを把握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4284000" y="2376000"/>
            <a:ext cx="126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20000" y="2376000"/>
            <a:ext cx="1260000" cy="2700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LINE配信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284000" y="2808000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不安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5616000" y="3006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ounded Rectangle 124"/>
          <p:cNvSpPr/>
          <p:nvPr/>
        </p:nvSpPr>
        <p:spPr>
          <a:xfrm>
            <a:off x="6120000" y="2808000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どの情報を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84000" y="3401999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比較軸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5616000" y="3600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6120000" y="3401999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どの順番で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284000" y="3996000"/>
            <a:ext cx="1260000" cy="3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関心テーマ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5616000" y="4194000"/>
            <a:ext cx="432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6120000" y="3996000"/>
            <a:ext cx="1260000" cy="39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いつ配信するか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283999" y="4662000"/>
            <a:ext cx="3149999" cy="697045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ニーズをもとに</a:t>
            </a: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配信内容・順番・タイミングを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業界・商材ごとに設計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33" name="Connector 132"/>
          <p:cNvCxnSpPr/>
          <p:nvPr/>
        </p:nvCxnSpPr>
        <p:spPr>
          <a:xfrm>
            <a:off x="8819999" y="2484000"/>
            <a:ext cx="0" cy="2556000"/>
          </a:xfrm>
          <a:prstGeom prst="line">
            <a:avLst/>
          </a:prstGeom>
          <a:ln w="2540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Oval 133"/>
          <p:cNvSpPr/>
          <p:nvPr/>
        </p:nvSpPr>
        <p:spPr>
          <a:xfrm>
            <a:off x="8711999" y="2376000"/>
            <a:ext cx="216000" cy="216000"/>
          </a:xfrm>
          <a:prstGeom prst="ellipse">
            <a:avLst/>
          </a:prstGeom>
          <a:solidFill>
            <a:srgbClr val="06C755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7775999" y="2304000"/>
            <a:ext cx="90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37" name="Oval 136"/>
          <p:cNvSpPr/>
          <p:nvPr/>
        </p:nvSpPr>
        <p:spPr>
          <a:xfrm>
            <a:off x="8711999" y="2783828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7775999" y="2711828"/>
            <a:ext cx="90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初回配信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071999" y="2729307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000" tIns="0" rIns="54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0" name="Oval 139"/>
          <p:cNvSpPr/>
          <p:nvPr/>
        </p:nvSpPr>
        <p:spPr>
          <a:xfrm>
            <a:off x="8711999" y="3422382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7775999" y="3350383"/>
            <a:ext cx="90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数日後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9071999" y="3367862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000" tIns="0" rIns="54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 dirty="0" err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比較検討情報・不安解消</a:t>
            </a:r>
            <a:endParaRPr sz="1100" b="1" dirty="0">
              <a:solidFill>
                <a:srgbClr val="0B7A3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8711999" y="4111200"/>
            <a:ext cx="216000" cy="216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75999" y="4039200"/>
            <a:ext cx="90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9071999" y="4056679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000" tIns="0" rIns="54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CVオファー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2000" y="5841474"/>
            <a:ext cx="10620000" cy="34105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前後検索でユーザーニーズを捉え、友だち追加直後のステップ配信に反映</a:t>
            </a:r>
            <a:endParaRPr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0" name="二等辺三角形 149">
            <a:extLst>
              <a:ext uri="{FF2B5EF4-FFF2-40B4-BE49-F238E27FC236}">
                <a16:creationId xmlns:a16="http://schemas.microsoft.com/office/drawing/2014/main" id="{45749858-75C5-B795-5AA4-35BD51777768}"/>
              </a:ext>
            </a:extLst>
          </p:cNvPr>
          <p:cNvSpPr/>
          <p:nvPr/>
        </p:nvSpPr>
        <p:spPr>
          <a:xfrm rot="10800000">
            <a:off x="8716612" y="4937761"/>
            <a:ext cx="211488" cy="290396"/>
          </a:xfrm>
          <a:prstGeom prst="triangle">
            <a:avLst/>
          </a:prstGeom>
          <a:solidFill>
            <a:srgbClr val="00B05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2" name="Rounded Rectangle 144">
            <a:extLst>
              <a:ext uri="{FF2B5EF4-FFF2-40B4-BE49-F238E27FC236}">
                <a16:creationId xmlns:a16="http://schemas.microsoft.com/office/drawing/2014/main" id="{9271364C-3269-6287-1367-C96CC9B7B278}"/>
              </a:ext>
            </a:extLst>
          </p:cNvPr>
          <p:cNvSpPr/>
          <p:nvPr/>
        </p:nvSpPr>
        <p:spPr>
          <a:xfrm>
            <a:off x="9071999" y="4886412"/>
            <a:ext cx="2340000" cy="360000"/>
          </a:xfrm>
          <a:prstGeom prst="roundRect">
            <a:avLst>
              <a:gd name="adj" fmla="val 3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000" tIns="0" rIns="54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ja-JP" altLang="en-US" sz="1100" b="1" dirty="0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以降もナーチャリング対象</a:t>
            </a:r>
            <a:endParaRPr sz="1100" b="1" dirty="0">
              <a:solidFill>
                <a:srgbClr val="0B7A3B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11070119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実例｜予約後の来院率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予約直後にLINEでつながり、前日のお知らせで来院につなげた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620000"/>
            <a:ext cx="3600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052000"/>
            <a:ext cx="273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358000"/>
            <a:ext cx="273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600000" y="3600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88000" y="2052000"/>
            <a:ext cx="417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導入・活用方法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8000" y="2358000"/>
            <a:ext cx="417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5999" y="3600000"/>
            <a:ext cx="216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424000" y="2052000"/>
            <a:ext cx="2988000" cy="30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結果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4000" y="2358000"/>
            <a:ext cx="2988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2000" y="2556000"/>
            <a:ext cx="2376000" cy="237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予約から来院日まで、接点がない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予約後に来院しない方が一定数いる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6000" y="2538000"/>
            <a:ext cx="3600000" cy="4185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予約完了画面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76000" y="2967300"/>
            <a:ext cx="0" cy="1943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176000" y="3172500"/>
            <a:ext cx="3600000" cy="4185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36017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176000" y="3806999"/>
            <a:ext cx="3600000" cy="4185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76000" y="42362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176000" y="4441500"/>
            <a:ext cx="3600000" cy="4185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予約確認・前日のお知らせをLINEで配信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000" y="2520000"/>
            <a:ext cx="2988000" cy="3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4000" y="2916000"/>
            <a:ext cx="2988000" cy="122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4000" y="4140000"/>
            <a:ext cx="2988000" cy="432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000" y="5400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000" y="5472000"/>
            <a:ext cx="10620000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参考｜LINEでつながった後の活用例（LINEヤフー公式の導入事例）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5706000"/>
            <a:ext cx="5202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観光バス：高速バスの予約後、乗車前日の案内をLINEで配信（琴平バス</a:t>
            </a:r>
            <a:r>
              <a:rPr sz="10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2000" y="5706000"/>
            <a:ext cx="5310000" cy="36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皮膚科クリニック：友だち追加後のステップ配信で、カウンセリング予約へ（アクネクリニック</a:t>
            </a:r>
            <a:r>
              <a:rPr sz="10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57402"/>
            <a:ext cx="2520000" cy="307195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altLang="ja-JP" sz="16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EC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DYMのコンサル支援内容・費用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ツール導入だけではなく、CPO改善に向けたLINE運用まで支援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1800000"/>
            <a:ext cx="2749500" cy="864000"/>
          </a:xfrm>
          <a:prstGeom prst="homePlate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800000"/>
            <a:ext cx="2443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サンクスLINE導入</a:t>
            </a:r>
          </a:p>
        </p:txBody>
      </p:sp>
      <p:sp>
        <p:nvSpPr>
          <p:cNvPr id="8" name="Chevron 7"/>
          <p:cNvSpPr/>
          <p:nvPr/>
        </p:nvSpPr>
        <p:spPr>
          <a:xfrm>
            <a:off x="3415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49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LINE配信設計</a:t>
            </a:r>
          </a:p>
        </p:txBody>
      </p:sp>
      <p:sp>
        <p:nvSpPr>
          <p:cNvPr id="10" name="Chevron 9"/>
          <p:cNvSpPr/>
          <p:nvPr/>
        </p:nvSpPr>
        <p:spPr>
          <a:xfrm>
            <a:off x="60390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730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効果計測</a:t>
            </a:r>
          </a:p>
        </p:txBody>
      </p:sp>
      <p:sp>
        <p:nvSpPr>
          <p:cNvPr id="12" name="Chevron 11"/>
          <p:cNvSpPr/>
          <p:nvPr/>
        </p:nvSpPr>
        <p:spPr>
          <a:xfrm>
            <a:off x="8662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96500" y="1800000"/>
            <a:ext cx="2317500" cy="864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改善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設定支援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9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59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9500" y="3870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3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3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LINE経由CV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30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6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06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配信タイミング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06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6500" y="3870000"/>
            <a:ext cx="2389500" cy="288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を継続改善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01250" y="4212000"/>
            <a:ext cx="0" cy="251999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754250" y="4463999"/>
            <a:ext cx="5247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54250" y="4230000"/>
            <a:ext cx="0" cy="2339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62250" y="4482000"/>
            <a:ext cx="3600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計測結果をもとに、配信・導線を見直す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000" y="4878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92000" y="5029200"/>
            <a:ext cx="64800" cy="180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8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サンクスLINE誘導ツール｜費用目安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15万円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75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375000" y="5292000"/>
            <a:ext cx="2583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46000" y="5029200"/>
            <a:ext cx="64800" cy="18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372000" y="4986000"/>
            <a:ext cx="504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LINE運用コンサル｜費用目安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6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68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968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20万円〜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0000" y="5364000"/>
            <a:ext cx="0" cy="34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690000" y="5292000"/>
            <a:ext cx="1722000" cy="48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期間　</a:t>
            </a: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6か月〜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102000" y="4986000"/>
            <a:ext cx="0" cy="792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2000" y="5814000"/>
            <a:ext cx="10620000" cy="198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※施策内容・配信本数・連携範囲等により、費用は個別にお見積もりいたします。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143405</TotalTime>
  <Words>464</Words>
  <Application>Microsoft Office PowerPoint</Application>
  <PresentationFormat>ワイド画面</PresentationFormat>
  <Paragraphs>162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</vt:i4>
      </vt:variant>
    </vt:vector>
  </HeadingPairs>
  <TitlesOfParts>
    <vt:vector size="1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1973</cp:revision>
  <cp:lastPrinted>2022-11-01T11:38:14Z</cp:lastPrinted>
  <dcterms:created xsi:type="dcterms:W3CDTF">2015-09-04T09:21:15Z</dcterms:created>
  <dcterms:modified xsi:type="dcterms:W3CDTF">2026-10-07T14:16:56Z</dcterms:modified>
</cp:coreProperties>
</file>