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8"/>
  </p:notesMasterIdLst>
  <p:handoutMasterIdLst>
    <p:handoutMasterId r:id="rId9"/>
  </p:handoutMasterIdLst>
  <p:sldIdLst>
    <p:sldId id="3043" r:id="rId3"/>
    <p:sldId id="3008" r:id="rId4"/>
    <p:sldId id="3045" r:id="rId14"/>
    <p:sldId id="3039" r:id="rId5"/>
    <p:sldId id="3041" r:id="rId6"/>
    <p:sldId id="3044" r:id="rId7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256" y="44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12192119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476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7474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12192119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9880719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jpg"/><Relationship Id="rId8" Type="http://schemas.openxmlformats.org/officeDocument/2006/relationships/image" Target="../media/image10.jpeg"/><Relationship Id="rId9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広告と一緒にサンクスLINEを実施する理由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2000" y="792000"/>
            <a:ext cx="5184000" cy="35640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80000" y="990000"/>
            <a:ext cx="1296000" cy="324000"/>
          </a:xfrm>
          <a:prstGeom prst="roundRect">
            <a:avLst>
              <a:gd name="adj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CV獲得まで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8000" y="864000"/>
            <a:ext cx="3384000" cy="57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施策全体の </a:t>
            </a: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CPA</a:t>
            </a:r>
            <a:r>
              <a:rPr sz="1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 改善</a:t>
            </a:r>
          </a:p>
        </p:txBody>
      </p:sp>
      <p:sp>
        <p:nvSpPr>
          <p:cNvPr id="7" name="Rectangle 6"/>
          <p:cNvSpPr/>
          <p:nvPr/>
        </p:nvSpPr>
        <p:spPr>
          <a:xfrm>
            <a:off x="1260000" y="1548000"/>
            <a:ext cx="42480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8" name="Isosceles Triangle 7"/>
          <p:cNvSpPr/>
          <p:nvPr/>
        </p:nvSpPr>
        <p:spPr>
          <a:xfrm rot="10800000">
            <a:off x="3304800" y="1998000"/>
            <a:ext cx="1584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60000" y="2142000"/>
            <a:ext cx="42480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LP</a:t>
            </a:r>
          </a:p>
        </p:txBody>
      </p:sp>
      <p:sp>
        <p:nvSpPr>
          <p:cNvPr id="10" name="Isosceles Triangle 9"/>
          <p:cNvSpPr/>
          <p:nvPr/>
        </p:nvSpPr>
        <p:spPr>
          <a:xfrm rot="10800000">
            <a:off x="3304800" y="2592000"/>
            <a:ext cx="1584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60000" y="2736000"/>
            <a:ext cx="42480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 × 成果報酬施策</a:t>
            </a: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3304800" y="3186000"/>
            <a:ext cx="1584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60000" y="3330000"/>
            <a:ext cx="4248000" cy="413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000" y="3888000"/>
            <a:ext cx="4752000" cy="50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CVの取りこぼしを減らし、獲得チャネルを増やすことで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施策全体のCPAを改善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8000" y="792000"/>
            <a:ext cx="5184000" cy="3564000"/>
          </a:xfrm>
          <a:prstGeom prst="roundRect">
            <a:avLst>
              <a:gd name="adj" fmla="val 4000"/>
            </a:avLst>
          </a:prstGeom>
          <a:solidFill>
            <a:srgbClr val="EE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16000" y="990000"/>
            <a:ext cx="1296000" cy="324000"/>
          </a:xfrm>
          <a:prstGeom prst="roundRect">
            <a:avLst>
              <a:gd name="adj" fmla="val 50000"/>
            </a:avLst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CV獲得後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3999" y="864000"/>
            <a:ext cx="3384000" cy="57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000" b="1">
                <a:solidFill>
                  <a:srgbClr val="0E8A3F"/>
                </a:solidFill>
                <a:latin typeface="メイリオ"/>
                <a:ea typeface="メイリオ"/>
                <a:cs typeface="メイリオ"/>
              </a:rPr>
              <a:t>CPO</a:t>
            </a:r>
            <a:r>
              <a:rPr sz="1900" b="1">
                <a:solidFill>
                  <a:srgbClr val="0E8A3F"/>
                </a:solidFill>
                <a:latin typeface="メイリオ"/>
                <a:ea typeface="メイリオ"/>
                <a:cs typeface="メイリオ"/>
              </a:rPr>
              <a:t> の改善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96000" y="1548000"/>
            <a:ext cx="4248000" cy="413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9" name="Isosceles Triangle 18"/>
          <p:cNvSpPr/>
          <p:nvPr/>
        </p:nvSpPr>
        <p:spPr>
          <a:xfrm rot="10800000">
            <a:off x="8740800" y="1998000"/>
            <a:ext cx="158400" cy="108000"/>
          </a:xfrm>
          <a:prstGeom prst="triangle">
            <a:avLst/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96000" y="2142000"/>
            <a:ext cx="4248000" cy="413999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サンクスLINE誘導</a:t>
            </a:r>
          </a:p>
        </p:txBody>
      </p:sp>
      <p:sp>
        <p:nvSpPr>
          <p:cNvPr id="21" name="Isosceles Triangle 20"/>
          <p:cNvSpPr/>
          <p:nvPr/>
        </p:nvSpPr>
        <p:spPr>
          <a:xfrm rot="10800000">
            <a:off x="8740800" y="2592000"/>
            <a:ext cx="158400" cy="108000"/>
          </a:xfrm>
          <a:prstGeom prst="triangle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96000" y="2736000"/>
            <a:ext cx="4248000" cy="413999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LINEでナーチャリング</a:t>
            </a:r>
          </a:p>
        </p:txBody>
      </p:sp>
      <p:sp>
        <p:nvSpPr>
          <p:cNvPr id="23" name="Isosceles Triangle 22"/>
          <p:cNvSpPr/>
          <p:nvPr/>
        </p:nvSpPr>
        <p:spPr>
          <a:xfrm rot="10800000">
            <a:off x="8740800" y="3186000"/>
            <a:ext cx="158400" cy="108000"/>
          </a:xfrm>
          <a:prstGeom prst="triangle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96000" y="3330000"/>
            <a:ext cx="4248000" cy="413999"/>
          </a:xfrm>
          <a:prstGeom prst="rect">
            <a:avLst/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購入・契約などの最終成果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4000" y="3888000"/>
            <a:ext cx="4752000" cy="50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CV後の歩留まりを改善し、CPOを改善</a:t>
            </a:r>
          </a:p>
        </p:txBody>
      </p:sp>
      <p:sp>
        <p:nvSpPr>
          <p:cNvPr id="26" name="Pentagon 25"/>
          <p:cNvSpPr/>
          <p:nvPr/>
        </p:nvSpPr>
        <p:spPr>
          <a:xfrm>
            <a:off x="792000" y="4536000"/>
            <a:ext cx="3612000" cy="684000"/>
          </a:xfrm>
          <a:prstGeom prst="homePlate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6000" y="4536000"/>
            <a:ext cx="3179999" cy="68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CPOの改善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1件の最終成果あたりの広告費を抑えられる</a:t>
            </a:r>
          </a:p>
        </p:txBody>
      </p:sp>
      <p:sp>
        <p:nvSpPr>
          <p:cNvPr id="28" name="Chevron 27"/>
          <p:cNvSpPr/>
          <p:nvPr/>
        </p:nvSpPr>
        <p:spPr>
          <a:xfrm>
            <a:off x="4296000" y="4536000"/>
            <a:ext cx="3612000" cy="684000"/>
          </a:xfrm>
          <a:prstGeom prst="chevron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20000" y="4536000"/>
            <a:ext cx="2999999" cy="68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許容CPAの引き上げ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1件の最終成果にかけられる広告費が増える</a:t>
            </a:r>
          </a:p>
        </p:txBody>
      </p:sp>
      <p:sp>
        <p:nvSpPr>
          <p:cNvPr id="30" name="Chevron 29"/>
          <p:cNvSpPr/>
          <p:nvPr/>
        </p:nvSpPr>
        <p:spPr>
          <a:xfrm>
            <a:off x="7799999" y="4536000"/>
            <a:ext cx="3612000" cy="684000"/>
          </a:xfrm>
          <a:prstGeom prst="chevron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23999" y="4536000"/>
            <a:ext cx="2999999" cy="68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広告配信の拡大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入札・予算・配信対象を広げやすくなる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232000" y="5256000"/>
            <a:ext cx="0" cy="16200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72000" y="5418000"/>
            <a:ext cx="10260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972000" y="5263200"/>
            <a:ext cx="0" cy="15480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121999" y="5292000"/>
            <a:ext cx="3960000" cy="251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さらに成果が増えれば、再投資して継続的に拡大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2000" y="5652000"/>
            <a:ext cx="10620000" cy="61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2000" y="5652000"/>
            <a:ext cx="10620000" cy="612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広告とあわせて実施することで、</a:t>
            </a:r>
            <a:r>
              <a:rPr sz="2000" b="1">
                <a:solidFill>
                  <a:srgbClr val="FFE400"/>
                </a:solidFill>
                <a:latin typeface="メイリオ"/>
                <a:ea typeface="メイリオ"/>
                <a:cs typeface="メイリオ"/>
              </a:rPr>
              <a:t>事業全体の効率化</a:t>
            </a:r>
            <a:r>
              <a:rPr sz="2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を図る。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752;p28">
            <a:extLst>
              <a:ext uri="{FF2B5EF4-FFF2-40B4-BE49-F238E27FC236}">
                <a16:creationId xmlns:a16="http://schemas.microsoft.com/office/drawing/2014/main" id="{AA80CD04-9456-70DB-2E44-D3EDB1461933}"/>
              </a:ext>
            </a:extLst>
          </p:cNvPr>
          <p:cNvSpPr txBox="1"/>
          <p:nvPr/>
        </p:nvSpPr>
        <p:spPr>
          <a:xfrm>
            <a:off x="1691884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  <a:sym typeface="Meiryo"/>
              </a:rPr>
              <a:t>サンクスLINE｜機能・費用</a:t>
            </a:r>
            <a:endParaRPr lang="en-US" altLang="ja-JP"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2BBF438-B1EF-A61A-EE3D-69CD39766C7E}"/>
              </a:ext>
            </a:extLst>
          </p:cNvPr>
          <p:cNvSpPr/>
          <p:nvPr/>
        </p:nvSpPr>
        <p:spPr>
          <a:xfrm>
            <a:off x="7537034" y="2187780"/>
            <a:ext cx="3061624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A1E4128-77DC-C871-EE20-5BD43326E078}"/>
              </a:ext>
            </a:extLst>
          </p:cNvPr>
          <p:cNvSpPr/>
          <p:nvPr/>
        </p:nvSpPr>
        <p:spPr>
          <a:xfrm>
            <a:off x="7537035" y="4317370"/>
            <a:ext cx="3061623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37BB268-660A-FEE4-BB39-0E338F1DDC23}"/>
              </a:ext>
            </a:extLst>
          </p:cNvPr>
          <p:cNvSpPr/>
          <p:nvPr/>
        </p:nvSpPr>
        <p:spPr>
          <a:xfrm>
            <a:off x="7583090" y="2033196"/>
            <a:ext cx="1619242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未追加の場合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9FF4626-FD17-CA1C-8064-F46606D0BCCE}"/>
              </a:ext>
            </a:extLst>
          </p:cNvPr>
          <p:cNvSpPr/>
          <p:nvPr/>
        </p:nvSpPr>
        <p:spPr>
          <a:xfrm>
            <a:off x="7583090" y="4195296"/>
            <a:ext cx="1619242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追加済みの場合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F202453-7FF9-8AE7-D10D-66F74A74A2F4}"/>
              </a:ext>
            </a:extLst>
          </p:cNvPr>
          <p:cNvCxnSpPr>
            <a:cxnSpLocks/>
          </p:cNvCxnSpPr>
          <p:nvPr/>
        </p:nvCxnSpPr>
        <p:spPr>
          <a:xfrm flipV="1">
            <a:off x="7162523" y="2932418"/>
            <a:ext cx="391555" cy="42170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C92F6E28-BBFF-1A56-AC22-CA16D2F1B1EA}"/>
              </a:ext>
            </a:extLst>
          </p:cNvPr>
          <p:cNvCxnSpPr>
            <a:cxnSpLocks/>
          </p:cNvCxnSpPr>
          <p:nvPr/>
        </p:nvCxnSpPr>
        <p:spPr>
          <a:xfrm>
            <a:off x="7162523" y="3354124"/>
            <a:ext cx="345499" cy="1392760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図 44" descr="グラフィカル ユーザー インターフェイス, アプリケーション, Teams&#10;&#10;AI 生成コンテンツは誤りを含む可能性があります。">
            <a:extLst>
              <a:ext uri="{FF2B5EF4-FFF2-40B4-BE49-F238E27FC236}">
                <a16:creationId xmlns:a16="http://schemas.microsoft.com/office/drawing/2014/main" id="{E91CA7A5-62B3-F1F8-38C3-DDCE33E1CC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9253316" y="2021148"/>
            <a:ext cx="1231081" cy="2085097"/>
          </a:xfrm>
          <a:prstGeom prst="rect">
            <a:avLst/>
          </a:prstGeom>
        </p:spPr>
      </p:pic>
      <p:pic>
        <p:nvPicPr>
          <p:cNvPr id="46" name="図 45" descr="電卓の写真のスマートフォン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31EEAD2C-3BE8-0210-FD8E-46D52B30A0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9265094" y="4121293"/>
            <a:ext cx="1231081" cy="2085098"/>
          </a:xfrm>
          <a:prstGeom prst="rect">
            <a:avLst/>
          </a:prstGeom>
        </p:spPr>
      </p:pic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989AEB3-EF0E-8885-B426-8B6A5E01F40A}"/>
              </a:ext>
            </a:extLst>
          </p:cNvPr>
          <p:cNvSpPr txBox="1"/>
          <p:nvPr/>
        </p:nvSpPr>
        <p:spPr>
          <a:xfrm>
            <a:off x="7583091" y="2552900"/>
            <a:ext cx="15109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友だち登録ページ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</a:t>
            </a:r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遷移する。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4E6D08E3-E0B3-1DF4-0533-E4EE67240415}"/>
              </a:ext>
            </a:extLst>
          </p:cNvPr>
          <p:cNvSpPr txBox="1"/>
          <p:nvPr/>
        </p:nvSpPr>
        <p:spPr>
          <a:xfrm>
            <a:off x="7555221" y="4735255"/>
            <a:ext cx="16471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トーク画面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へ遷移する。</a:t>
            </a:r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56" name="図 55">
            <a:extLst>
              <a:ext uri="{FF2B5EF4-FFF2-40B4-BE49-F238E27FC236}">
                <a16:creationId xmlns:a16="http://schemas.microsoft.com/office/drawing/2014/main" id="{0B7B313D-7D5F-4357-9B38-DFC3DBC5F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1998" y="2977479"/>
            <a:ext cx="1133712" cy="110223"/>
          </a:xfrm>
          <a:prstGeom prst="rect">
            <a:avLst/>
          </a:prstGeom>
        </p:spPr>
      </p:pic>
      <p:pic>
        <p:nvPicPr>
          <p:cNvPr id="57" name="図 56">
            <a:extLst>
              <a:ext uri="{FF2B5EF4-FFF2-40B4-BE49-F238E27FC236}">
                <a16:creationId xmlns:a16="http://schemas.microsoft.com/office/drawing/2014/main" id="{A8EA42C4-338F-850B-B276-B83DC2A73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1724" y="2983787"/>
            <a:ext cx="479964" cy="106659"/>
          </a:xfrm>
          <a:prstGeom prst="rect">
            <a:avLst/>
          </a:prstGeom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CCB04072-A708-EEE7-1345-D4C9E9FA9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1394" y="4118389"/>
            <a:ext cx="334412" cy="74315"/>
          </a:xfrm>
          <a:prstGeom prst="rect">
            <a:avLst/>
          </a:prstGeom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EDED354B-362F-AAF7-76A6-52D8547ED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3794" y="4270789"/>
            <a:ext cx="334412" cy="74315"/>
          </a:xfrm>
          <a:prstGeom prst="rect">
            <a:avLst/>
          </a:prstGeom>
        </p:spPr>
      </p:pic>
      <p:sp>
        <p:nvSpPr>
          <p:cNvPr id="1030" name="楕円 1029">
            <a:extLst>
              <a:ext uri="{FF2B5EF4-FFF2-40B4-BE49-F238E27FC236}">
                <a16:creationId xmlns:a16="http://schemas.microsoft.com/office/drawing/2014/main" id="{A0934BB8-8F8D-D4F0-8D59-8F32A6A6E03A}"/>
              </a:ext>
            </a:extLst>
          </p:cNvPr>
          <p:cNvSpPr/>
          <p:nvPr/>
        </p:nvSpPr>
        <p:spPr>
          <a:xfrm>
            <a:off x="9667828" y="2536378"/>
            <a:ext cx="396000" cy="396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ロゴ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593FC72-954C-48DC-E845-1A5FCE4C9E00}"/>
              </a:ext>
            </a:extLst>
          </p:cNvPr>
          <p:cNvSpPr/>
          <p:nvPr/>
        </p:nvSpPr>
        <p:spPr>
          <a:xfrm>
            <a:off x="1510609" y="2027927"/>
            <a:ext cx="1405728" cy="284103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6" name="二等辺三角形 35">
            <a:extLst>
              <a:ext uri="{FF2B5EF4-FFF2-40B4-BE49-F238E27FC236}">
                <a16:creationId xmlns:a16="http://schemas.microsoft.com/office/drawing/2014/main" id="{626832A8-575E-5E2B-73F4-BE5567514E57}"/>
              </a:ext>
            </a:extLst>
          </p:cNvPr>
          <p:cNvSpPr/>
          <p:nvPr/>
        </p:nvSpPr>
        <p:spPr>
          <a:xfrm rot="5400000">
            <a:off x="2957810" y="3262734"/>
            <a:ext cx="252701" cy="182781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28671F13-F479-AFF6-9832-C7C00D2D05EE}"/>
              </a:ext>
            </a:extLst>
          </p:cNvPr>
          <p:cNvSpPr/>
          <p:nvPr/>
        </p:nvSpPr>
        <p:spPr>
          <a:xfrm>
            <a:off x="1510609" y="4624810"/>
            <a:ext cx="1405728" cy="2441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フォーム入力</a:t>
            </a:r>
          </a:p>
        </p:txBody>
      </p:sp>
      <p:pic>
        <p:nvPicPr>
          <p:cNvPr id="55" name="図 54">
            <a:extLst>
              <a:ext uri="{FF2B5EF4-FFF2-40B4-BE49-F238E27FC236}">
                <a16:creationId xmlns:a16="http://schemas.microsoft.com/office/drawing/2014/main" id="{8AF12F67-4C9A-867F-4608-8FE9DA8116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3344" y="2214387"/>
            <a:ext cx="1249593" cy="2257852"/>
          </a:xfrm>
          <a:prstGeom prst="rect">
            <a:avLst/>
          </a:prstGeom>
        </p:spPr>
      </p:pic>
      <p:sp>
        <p:nvSpPr>
          <p:cNvPr id="1032" name="正方形/長方形 1031">
            <a:extLst>
              <a:ext uri="{FF2B5EF4-FFF2-40B4-BE49-F238E27FC236}">
                <a16:creationId xmlns:a16="http://schemas.microsoft.com/office/drawing/2014/main" id="{D1D96D42-255C-636E-49E5-2CDA95DD6764}"/>
              </a:ext>
            </a:extLst>
          </p:cNvPr>
          <p:cNvSpPr/>
          <p:nvPr/>
        </p:nvSpPr>
        <p:spPr>
          <a:xfrm>
            <a:off x="3245020" y="2000983"/>
            <a:ext cx="1508532" cy="284103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034" name="正方形/長方形 1033">
            <a:extLst>
              <a:ext uri="{FF2B5EF4-FFF2-40B4-BE49-F238E27FC236}">
                <a16:creationId xmlns:a16="http://schemas.microsoft.com/office/drawing/2014/main" id="{8693E451-BCB1-207B-6B73-131F2A8588BF}"/>
              </a:ext>
            </a:extLst>
          </p:cNvPr>
          <p:cNvSpPr/>
          <p:nvPr/>
        </p:nvSpPr>
        <p:spPr>
          <a:xfrm>
            <a:off x="3242276" y="4603503"/>
            <a:ext cx="1508533" cy="2441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サンクス画面へ</a:t>
            </a:r>
            <a:endParaRPr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1038" name="図 1037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85260668-6C66-A032-FFE0-0276021F943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3359597" y="2260627"/>
            <a:ext cx="1312445" cy="2202364"/>
          </a:xfrm>
          <a:prstGeom prst="rect">
            <a:avLst/>
          </a:prstGeom>
        </p:spPr>
      </p:pic>
      <p:pic>
        <p:nvPicPr>
          <p:cNvPr id="1039" name="Picture 2" descr="買い物完了！イラスト｜無料イラスト・フリー素材なら「イラストAC」">
            <a:extLst>
              <a:ext uri="{FF2B5EF4-FFF2-40B4-BE49-F238E27FC236}">
                <a16:creationId xmlns:a16="http://schemas.microsoft.com/office/drawing/2014/main" id="{23D05307-D6FE-6284-27D3-3433EE012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70" r="23682"/>
          <a:stretch>
            <a:fillRect/>
          </a:stretch>
        </p:blipFill>
        <p:spPr bwMode="auto">
          <a:xfrm>
            <a:off x="4710177" y="1804300"/>
            <a:ext cx="307967" cy="412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76D8F54-2926-2D56-7238-F66ACCBC4F20}"/>
              </a:ext>
            </a:extLst>
          </p:cNvPr>
          <p:cNvGrpSpPr/>
          <p:nvPr/>
        </p:nvGrpSpPr>
        <p:grpSpPr>
          <a:xfrm>
            <a:off x="1686399" y="777681"/>
            <a:ext cx="3105325" cy="485102"/>
            <a:chOff x="507969" y="928495"/>
            <a:chExt cx="3105325" cy="485102"/>
          </a:xfrm>
        </p:grpSpPr>
        <p:sp>
          <p:nvSpPr>
            <p:cNvPr id="4" name="Google Shape;51;p19">
              <a:extLst>
                <a:ext uri="{FF2B5EF4-FFF2-40B4-BE49-F238E27FC236}">
                  <a16:creationId xmlns:a16="http://schemas.microsoft.com/office/drawing/2014/main" id="{98F6BB16-EFC6-9846-2A11-E624E876E64B}"/>
                </a:ext>
              </a:extLst>
            </p:cNvPr>
            <p:cNvSpPr/>
            <p:nvPr/>
          </p:nvSpPr>
          <p:spPr>
            <a:xfrm>
              <a:off x="507969" y="928495"/>
              <a:ext cx="3105325" cy="485102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 algn="ctr">
                <a:buSzPts val="1400"/>
              </a:pPr>
              <a:endParaRPr b="1" dirty="0">
                <a:solidFill>
                  <a:schemeClr val="lt1"/>
                </a:solidFill>
                <a:sym typeface="Meiryo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560EDF30-5F09-B70A-2993-8CD4F9E40EFA}"/>
                </a:ext>
              </a:extLst>
            </p:cNvPr>
            <p:cNvSpPr txBox="1"/>
            <p:nvPr/>
          </p:nvSpPr>
          <p:spPr>
            <a:xfrm>
              <a:off x="1140096" y="988192"/>
              <a:ext cx="1832553" cy="3577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ja-JP" altLang="en-US" sz="15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サンクス</a:t>
              </a:r>
              <a:r>
                <a:rPr lang="en-US" altLang="ja-JP" sz="15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LINE</a:t>
              </a:r>
              <a:r>
                <a:rPr lang="ja-JP" altLang="en-US" sz="15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誘導</a:t>
              </a:r>
            </a:p>
          </p:txBody>
        </p:sp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20BFF3-9D3E-A4D7-FF5A-70927F78FC9D}"/>
              </a:ext>
            </a:extLst>
          </p:cNvPr>
          <p:cNvSpPr/>
          <p:nvPr/>
        </p:nvSpPr>
        <p:spPr>
          <a:xfrm>
            <a:off x="9512823" y="4498577"/>
            <a:ext cx="899499" cy="799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C4FF56C-47EE-47DB-92F1-3F0EF57613D9}"/>
              </a:ext>
            </a:extLst>
          </p:cNvPr>
          <p:cNvSpPr/>
          <p:nvPr/>
        </p:nvSpPr>
        <p:spPr>
          <a:xfrm>
            <a:off x="5145349" y="846996"/>
            <a:ext cx="56317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chemeClr val="dk1"/>
              </a:buClr>
              <a:buSzPts val="1500"/>
            </a:pPr>
            <a:r>
              <a:rPr lang="ja-JP" altLang="en-US" sz="1600" dirty="0">
                <a:latin typeface="メイリオ"/>
                <a:ea typeface="メイリオ"/>
                <a:cs typeface="メイリオ"/>
                <a:sym typeface="Meiryo"/>
              </a:rPr>
              <a:t>フォーム送信後の</a:t>
            </a:r>
            <a:r>
              <a:rPr lang="en-US" altLang="ja-JP" sz="1600" dirty="0"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600" dirty="0">
                <a:latin typeface="メイリオ"/>
                <a:ea typeface="メイリオ"/>
                <a:cs typeface="メイリオ"/>
                <a:sym typeface="Meiryo"/>
              </a:rPr>
              <a:t>誘導を自動化するツール</a:t>
            </a:r>
            <a:endParaRPr lang="en-US" altLang="ja-JP" sz="1600" dirty="0"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ED6F7D2-546D-BF9F-9805-58455D7E2831}"/>
              </a:ext>
            </a:extLst>
          </p:cNvPr>
          <p:cNvSpPr txBox="1"/>
          <p:nvPr/>
        </p:nvSpPr>
        <p:spPr>
          <a:xfrm>
            <a:off x="5145350" y="1172815"/>
            <a:ext cx="471862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※</a:t>
            </a:r>
            <a:r>
              <a:rPr lang="ja-JP" altLang="en-US" sz="10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既存</a:t>
            </a:r>
            <a:r>
              <a:rPr lang="en-US" altLang="ja-JP" sz="10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API</a:t>
            </a:r>
            <a:r>
              <a:rPr lang="ja-JP" altLang="en-US" sz="10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ツールとの併用についても、問題なく稼働が可能。</a:t>
            </a:r>
            <a:endParaRPr lang="ja-JP" altLang="en-US" sz="1050" dirty="0">
              <a:solidFill>
                <a:srgbClr val="FF000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5B8C83A-7191-D772-EF88-AE268D007E63}"/>
              </a:ext>
            </a:extLst>
          </p:cNvPr>
          <p:cNvSpPr/>
          <p:nvPr/>
        </p:nvSpPr>
        <p:spPr>
          <a:xfrm>
            <a:off x="7554077" y="1518664"/>
            <a:ext cx="3044580" cy="28474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動作イメージ</a:t>
            </a:r>
          </a:p>
        </p:txBody>
      </p:sp>
      <p:sp>
        <p:nvSpPr>
          <p:cNvPr id="26" name="Google Shape;51;p19">
            <a:extLst>
              <a:ext uri="{FF2B5EF4-FFF2-40B4-BE49-F238E27FC236}">
                <a16:creationId xmlns:a16="http://schemas.microsoft.com/office/drawing/2014/main" id="{A4070FDA-7C99-27DE-6A9C-437C1D5DD3B3}"/>
              </a:ext>
            </a:extLst>
          </p:cNvPr>
          <p:cNvSpPr/>
          <p:nvPr/>
        </p:nvSpPr>
        <p:spPr>
          <a:xfrm>
            <a:off x="1686399" y="1321261"/>
            <a:ext cx="1510826" cy="48510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9pPr>
          </a:lstStyle>
          <a:p>
            <a:pPr algn="ctr">
              <a:buSzPts val="1400"/>
            </a:pPr>
            <a:r>
              <a:rPr lang="ja-JP" altLang="en-US" b="1" dirty="0">
                <a:solidFill>
                  <a:schemeClr val="lt1"/>
                </a:solidFill>
                <a:sym typeface="Meiryo"/>
              </a:rPr>
              <a:t>初期：</a:t>
            </a:r>
            <a:r>
              <a:rPr lang="en-US" altLang="ja-JP" b="1" dirty="0">
                <a:solidFill>
                  <a:schemeClr val="lt1"/>
                </a:solidFill>
                <a:sym typeface="Meiryo"/>
              </a:rPr>
              <a:t>15</a:t>
            </a:r>
            <a:r>
              <a:rPr lang="ja-JP" altLang="en-US" b="1" dirty="0">
                <a:solidFill>
                  <a:schemeClr val="lt1"/>
                </a:solidFill>
                <a:sym typeface="Meiryo"/>
              </a:rPr>
              <a:t>万円</a:t>
            </a:r>
            <a:endParaRPr b="1" dirty="0">
              <a:solidFill>
                <a:schemeClr val="lt1"/>
              </a:solidFill>
              <a:sym typeface="Meiryo"/>
            </a:endParaRPr>
          </a:p>
        </p:txBody>
      </p:sp>
      <p:sp>
        <p:nvSpPr>
          <p:cNvPr id="28" name="Google Shape;51;p19">
            <a:extLst>
              <a:ext uri="{FF2B5EF4-FFF2-40B4-BE49-F238E27FC236}">
                <a16:creationId xmlns:a16="http://schemas.microsoft.com/office/drawing/2014/main" id="{40C4675F-5DCC-DD57-BE14-B3A7697A02CD}"/>
              </a:ext>
            </a:extLst>
          </p:cNvPr>
          <p:cNvSpPr/>
          <p:nvPr/>
        </p:nvSpPr>
        <p:spPr>
          <a:xfrm>
            <a:off x="3280897" y="1321261"/>
            <a:ext cx="1510826" cy="48510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9pPr>
          </a:lstStyle>
          <a:p>
            <a:pPr algn="ctr">
              <a:buSzPts val="1400"/>
            </a:pPr>
            <a:r>
              <a:rPr lang="ja-JP" altLang="en-US" b="1" dirty="0">
                <a:solidFill>
                  <a:schemeClr val="lt1"/>
                </a:solidFill>
                <a:sym typeface="Meiryo"/>
              </a:rPr>
              <a:t>月額</a:t>
            </a:r>
            <a:r>
              <a:rPr lang="en-US" altLang="ja-JP" b="1" dirty="0">
                <a:solidFill>
                  <a:schemeClr val="lt1"/>
                </a:solidFill>
                <a:sym typeface="Meiryo"/>
              </a:rPr>
              <a:t>3</a:t>
            </a:r>
            <a:r>
              <a:rPr lang="ja-JP" altLang="en-US" b="1" dirty="0">
                <a:solidFill>
                  <a:schemeClr val="lt1"/>
                </a:solidFill>
                <a:sym typeface="Meiryo"/>
              </a:rPr>
              <a:t>万円～</a:t>
            </a:r>
            <a:endParaRPr lang="en-US" altLang="ja-JP" b="1" dirty="0">
              <a:solidFill>
                <a:schemeClr val="lt1"/>
              </a:solidFill>
              <a:sym typeface="Meiryo"/>
            </a:endParaRPr>
          </a:p>
          <a:p>
            <a:pPr algn="ctr">
              <a:buSzPts val="1400"/>
            </a:pPr>
            <a:r>
              <a:rPr lang="en-US" altLang="ja-JP" sz="1050" b="1" dirty="0">
                <a:solidFill>
                  <a:srgbClr val="FFFF00"/>
                </a:solidFill>
                <a:sym typeface="Meiryo"/>
              </a:rPr>
              <a:t>+</a:t>
            </a:r>
            <a:r>
              <a:rPr lang="ja-JP" altLang="en-US" sz="1050" b="1" dirty="0">
                <a:solidFill>
                  <a:srgbClr val="FFFF00"/>
                </a:solidFill>
                <a:sym typeface="Meiryo"/>
              </a:rPr>
              <a:t>設定地点追加</a:t>
            </a:r>
            <a:endParaRPr sz="1050" b="1" dirty="0">
              <a:solidFill>
                <a:srgbClr val="FFFF00"/>
              </a:solidFill>
              <a:sym typeface="Meiryo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89A6A4C-E34E-E7CF-D6DD-C175E600A94D}"/>
              </a:ext>
            </a:extLst>
          </p:cNvPr>
          <p:cNvSpPr/>
          <p:nvPr/>
        </p:nvSpPr>
        <p:spPr>
          <a:xfrm>
            <a:off x="2146069" y="1909406"/>
            <a:ext cx="1859036" cy="2441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WEB</a:t>
            </a:r>
            <a:r>
              <a:rPr lang="ja-JP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サイト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122BEACA-AA0E-EFF8-CDF2-B0A5B58840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6633" y="4115263"/>
            <a:ext cx="466595" cy="86136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D971BE53-7CD8-C375-2A00-B224602AC2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7778" y="2294975"/>
            <a:ext cx="466595" cy="86136"/>
          </a:xfrm>
          <a:prstGeom prst="rect">
            <a:avLst/>
          </a:prstGeom>
        </p:spPr>
      </p:pic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B7D71D80-6086-B1B4-3E2C-EE891B12909E}"/>
              </a:ext>
            </a:extLst>
          </p:cNvPr>
          <p:cNvSpPr/>
          <p:nvPr/>
        </p:nvSpPr>
        <p:spPr>
          <a:xfrm>
            <a:off x="2354690" y="5205027"/>
            <a:ext cx="4874067" cy="659955"/>
          </a:xfrm>
          <a:prstGeom prst="roundRect">
            <a:avLst>
              <a:gd name="adj" fmla="val 25327"/>
            </a:avLst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フォーム入力内容を</a:t>
            </a:r>
            <a:b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トーク入力画面へ引き継ぎ可能</a:t>
            </a: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666CF79B-D322-06BC-F342-DE710BE7473B}"/>
              </a:ext>
            </a:extLst>
          </p:cNvPr>
          <p:cNvCxnSpPr>
            <a:cxnSpLocks/>
            <a:stCxn id="33" idx="1"/>
          </p:cNvCxnSpPr>
          <p:nvPr/>
        </p:nvCxnSpPr>
        <p:spPr>
          <a:xfrm flipH="1" flipV="1">
            <a:off x="2066925" y="4868960"/>
            <a:ext cx="287764" cy="666044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D29A9C3-A3E8-0780-A758-0C8E7E376668}"/>
              </a:ext>
            </a:extLst>
          </p:cNvPr>
          <p:cNvSpPr/>
          <p:nvPr/>
        </p:nvSpPr>
        <p:spPr>
          <a:xfrm>
            <a:off x="6504546" y="2415812"/>
            <a:ext cx="653304" cy="1821208"/>
          </a:xfrm>
          <a:prstGeom prst="rect">
            <a:avLst/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</a:p>
          <a:p>
            <a:pPr algn="ctr"/>
            <a:r>
              <a:rPr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開発</a:t>
            </a:r>
            <a:endParaRPr lang="en-US" altLang="ja-JP" sz="12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ツール</a:t>
            </a:r>
            <a:endParaRPr lang="en-US" altLang="ja-JP" sz="12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048" name="矢印: 右 1047">
            <a:extLst>
              <a:ext uri="{FF2B5EF4-FFF2-40B4-BE49-F238E27FC236}">
                <a16:creationId xmlns:a16="http://schemas.microsoft.com/office/drawing/2014/main" id="{6A5BBE8E-2B42-49E0-686B-A6584B59E72F}"/>
              </a:ext>
            </a:extLst>
          </p:cNvPr>
          <p:cNvSpPr/>
          <p:nvPr/>
        </p:nvSpPr>
        <p:spPr>
          <a:xfrm>
            <a:off x="4819827" y="3203047"/>
            <a:ext cx="1632963" cy="39277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50" name="吹き出し: 角を丸めた四角形 1049">
            <a:extLst>
              <a:ext uri="{FF2B5EF4-FFF2-40B4-BE49-F238E27FC236}">
                <a16:creationId xmlns:a16="http://schemas.microsoft.com/office/drawing/2014/main" id="{0D7606B7-7AEE-445F-FB97-74913C4A4F60}"/>
              </a:ext>
            </a:extLst>
          </p:cNvPr>
          <p:cNvSpPr/>
          <p:nvPr/>
        </p:nvSpPr>
        <p:spPr>
          <a:xfrm>
            <a:off x="4831291" y="2187781"/>
            <a:ext cx="1586044" cy="948384"/>
          </a:xfrm>
          <a:prstGeom prst="wedgeRoundRectCallout">
            <a:avLst/>
          </a:prstGeom>
          <a:solidFill>
            <a:srgbClr val="FDFDFD"/>
          </a:solidFill>
          <a:ln w="19050">
            <a:solidFill>
              <a:schemeClr val="tx2"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完了後</a:t>
            </a:r>
            <a:endParaRPr lang="en-US" altLang="ja-JP" sz="1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約</a:t>
            </a:r>
            <a: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2~3</a:t>
            </a:r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秒で</a:t>
            </a:r>
            <a:b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へ自動遷移</a:t>
            </a:r>
            <a:endParaRPr lang="en-US" altLang="ja-JP" sz="1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52" name="直線矢印コネクタ 1051">
            <a:extLst>
              <a:ext uri="{FF2B5EF4-FFF2-40B4-BE49-F238E27FC236}">
                <a16:creationId xmlns:a16="http://schemas.microsoft.com/office/drawing/2014/main" id="{5B4E7079-E54A-2282-BDB8-487FFE5E8981}"/>
              </a:ext>
            </a:extLst>
          </p:cNvPr>
          <p:cNvCxnSpPr>
            <a:cxnSpLocks/>
          </p:cNvCxnSpPr>
          <p:nvPr/>
        </p:nvCxnSpPr>
        <p:spPr>
          <a:xfrm flipV="1">
            <a:off x="7217657" y="4971540"/>
            <a:ext cx="2192682" cy="59904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11070119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実例｜予約後の来院率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予約直後にLINEでつながり、前日のお知らせで来院につなげた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92000" y="1620000"/>
            <a:ext cx="3600000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美容クリニック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2052000"/>
            <a:ext cx="2736000" cy="306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課題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000" y="2358000"/>
            <a:ext cx="2736000" cy="27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3600000" y="3600000"/>
            <a:ext cx="2160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888000" y="2052000"/>
            <a:ext cx="4176000" cy="306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導入・活用方法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8000" y="2358000"/>
            <a:ext cx="4176000" cy="27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8135999" y="3600000"/>
            <a:ext cx="216001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424000" y="2052000"/>
            <a:ext cx="2988000" cy="30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結果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24000" y="2358000"/>
            <a:ext cx="2988000" cy="27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2000" y="2556000"/>
            <a:ext cx="2376000" cy="237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予約から来院日まで、接点がない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予約後に来院しない方が一定数いる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76000" y="2538000"/>
            <a:ext cx="3600000" cy="4185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予約完了画面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76000" y="2967300"/>
            <a:ext cx="0" cy="194399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176000" y="3172500"/>
            <a:ext cx="3600000" cy="4185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サンクスLINE誘導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76000" y="3601799"/>
            <a:ext cx="0" cy="19440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176000" y="3806999"/>
            <a:ext cx="3600000" cy="418500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LINE友だち追加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76000" y="4236299"/>
            <a:ext cx="0" cy="19440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176000" y="4441500"/>
            <a:ext cx="3600000" cy="4185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予約確認・前日のお知らせをLINEで配信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4000" y="2520000"/>
            <a:ext cx="2988000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予約後の来院率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4000" y="2916000"/>
            <a:ext cx="2988000" cy="12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40〜50%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4000" y="4140000"/>
            <a:ext cx="2988000" cy="43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改善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2000" y="5400000"/>
            <a:ext cx="1062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92000" y="5472000"/>
            <a:ext cx="10620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参考｜LINEでつながった後の活用例（LINEヤフー公式の導入事例）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000" y="5706000"/>
            <a:ext cx="5202000" cy="36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観光バス：高速バスの予約後、乗車前日の案内をLINEで配信（琴平バス</a:t>
            </a:r>
            <a:r>
              <a:rPr sz="10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02000" y="5706000"/>
            <a:ext cx="5310000" cy="36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皮膚科クリニック：友だち追加後のステップ配信で、カウンセリング予約へ（アクネクリニック</a:t>
            </a:r>
            <a:r>
              <a:rPr sz="10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ターゲット業界別｜サンクスLINE活用イメージ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CVの後にLINEで送る内容は、業界ごとに変わる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6000" y="1728000"/>
            <a:ext cx="0" cy="450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2000" y="3978000"/>
            <a:ext cx="10608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thanks_scen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168" y="1692000"/>
            <a:ext cx="1771831" cy="22140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92000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4000" y="1746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" y="2322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70000" y="2700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4480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21999" y="2700000"/>
            <a:ext cx="832169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2000" y="3221999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3420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前日リマインド／求人紹介／選考のご案内</a:t>
            </a:r>
          </a:p>
        </p:txBody>
      </p:sp>
      <p:pic>
        <p:nvPicPr>
          <p:cNvPr id="17" name="Picture 16" descr="thanks_scen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168" y="1692000"/>
            <a:ext cx="1771831" cy="221400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6312000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4000" y="1746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不動産投資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2000" y="2322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相談予約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90000" y="2700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9680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42000" y="2700000"/>
            <a:ext cx="832168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12000" y="3221999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2000" y="3420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面談リマインド／セミナー案内／物件情報</a:t>
            </a:r>
          </a:p>
        </p:txBody>
      </p:sp>
      <p:pic>
        <p:nvPicPr>
          <p:cNvPr id="26" name="Picture 25" descr="thanks_scen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8168" y="4050000"/>
            <a:ext cx="1771831" cy="221400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792000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4000" y="4104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ホビー（toC）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2000" y="4680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購入・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070000" y="5058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4480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21999" y="5058000"/>
            <a:ext cx="832169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92000" y="5580000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000" y="5778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限定商品の案内／キャンペーン・クーポン</a:t>
            </a:r>
          </a:p>
        </p:txBody>
      </p:sp>
      <p:pic>
        <p:nvPicPr>
          <p:cNvPr id="35" name="Picture 34" descr="thanks_scen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168" y="4050000"/>
            <a:ext cx="1771831" cy="2214000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6312000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4000" y="4104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ハウスメーカー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12000" y="4680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来場予約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590000" y="5058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9680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742000" y="5058000"/>
            <a:ext cx="832168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12000" y="5580000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2000" y="5778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見学会の案内／土地情報／個別相談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DYMのコンサル支援内容・費用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ツール導入だけではなく、CPO改善に向けたLINE運用まで支援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792000" y="1800000"/>
            <a:ext cx="2749500" cy="864000"/>
          </a:xfrm>
          <a:prstGeom prst="homePlate">
            <a:avLst>
              <a:gd name="adj" fmla="val 22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0000" y="1800000"/>
            <a:ext cx="2443500" cy="86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サンクスLINE導入</a:t>
            </a:r>
          </a:p>
        </p:txBody>
      </p:sp>
      <p:sp>
        <p:nvSpPr>
          <p:cNvPr id="8" name="Chevron 7"/>
          <p:cNvSpPr/>
          <p:nvPr/>
        </p:nvSpPr>
        <p:spPr>
          <a:xfrm>
            <a:off x="3415500" y="1800000"/>
            <a:ext cx="2749500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49500" y="1800000"/>
            <a:ext cx="2317500" cy="86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LINE配信設計</a:t>
            </a:r>
          </a:p>
        </p:txBody>
      </p:sp>
      <p:sp>
        <p:nvSpPr>
          <p:cNvPr id="10" name="Chevron 9"/>
          <p:cNvSpPr/>
          <p:nvPr/>
        </p:nvSpPr>
        <p:spPr>
          <a:xfrm>
            <a:off x="6039000" y="1800000"/>
            <a:ext cx="2749500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73000" y="1800000"/>
            <a:ext cx="2317500" cy="86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効果計測</a:t>
            </a:r>
          </a:p>
        </p:txBody>
      </p:sp>
      <p:sp>
        <p:nvSpPr>
          <p:cNvPr id="12" name="Chevron 11"/>
          <p:cNvSpPr/>
          <p:nvPr/>
        </p:nvSpPr>
        <p:spPr>
          <a:xfrm>
            <a:off x="8662500" y="1800000"/>
            <a:ext cx="2749500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96500" y="1800000"/>
            <a:ext cx="2317500" cy="86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改善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6000" y="2844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導線設計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6000" y="3186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設定支援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59500" y="2844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59500" y="3186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59500" y="3528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59500" y="3870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セグメント配信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3000" y="2844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3000" y="3186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LINE経由CV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3000" y="3528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来店・面談・購入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06500" y="2844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配信内容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06500" y="3186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配信タイミング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06500" y="3528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6500" y="3870000"/>
            <a:ext cx="2389500" cy="28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を継続改善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001250" y="4212000"/>
            <a:ext cx="0" cy="251999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754250" y="4463999"/>
            <a:ext cx="5247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754250" y="4230000"/>
            <a:ext cx="0" cy="233999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862250" y="4482000"/>
            <a:ext cx="3600000" cy="21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計測結果をもとに、配信・導線を見直す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2000" y="4878000"/>
            <a:ext cx="1062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92000" y="5029200"/>
            <a:ext cx="64800" cy="1800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8000" y="4986000"/>
            <a:ext cx="5040000" cy="27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サンクスLINE誘導ツール｜費用目安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000" y="5292000"/>
            <a:ext cx="2583000" cy="48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　</a:t>
            </a: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15万円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375000" y="5364000"/>
            <a:ext cx="0" cy="34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375000" y="5292000"/>
            <a:ext cx="2583000" cy="48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　</a:t>
            </a: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3万円〜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46000" y="5029200"/>
            <a:ext cx="648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72000" y="4986000"/>
            <a:ext cx="5040000" cy="27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LINE運用コンサル｜費用目安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6000" y="5292000"/>
            <a:ext cx="1722000" cy="48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　</a:t>
            </a: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968000" y="5364000"/>
            <a:ext cx="0" cy="34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968000" y="5292000"/>
            <a:ext cx="1722000" cy="48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　</a:t>
            </a: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20万円〜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690000" y="5364000"/>
            <a:ext cx="0" cy="34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690000" y="5292000"/>
            <a:ext cx="1722000" cy="48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期間　</a:t>
            </a: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6か月〜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102000" y="4986000"/>
            <a:ext cx="0" cy="79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92000" y="5814000"/>
            <a:ext cx="106200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※施策内容・配信本数・連携範囲等により、費用は個別にお見積もりいたします。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前後検索データを活用したステップ配信設計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アクションが起きやすい友だち追加直後に、ユーザーの検討行動に合わせた配信を設計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92000" y="1620000"/>
            <a:ext cx="306000" cy="30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000" y="1602000"/>
            <a:ext cx="2736000" cy="34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前後検索データを分析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1962000"/>
            <a:ext cx="3096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検索前後のニーズを把握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2000" y="2304000"/>
            <a:ext cx="309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284000" y="1620000"/>
            <a:ext cx="306000" cy="30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4000" y="1602000"/>
            <a:ext cx="2736000" cy="34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配信内容・順番・タイミングを設計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4000" y="1962000"/>
            <a:ext cx="3096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配信内容・順番を設計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84000" y="2304000"/>
            <a:ext cx="309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775999" y="1620000"/>
            <a:ext cx="306000" cy="306000"/>
          </a:xfrm>
          <a:prstGeom prst="ellipse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5999" y="1602000"/>
            <a:ext cx="3276000" cy="34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友だち追加直後からステップ配信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5999" y="1962000"/>
            <a:ext cx="3636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アクションが起きやすい追加直後に配信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5999" y="2304000"/>
            <a:ext cx="3636001" cy="0"/>
          </a:xfrm>
          <a:prstGeom prst="line">
            <a:avLst/>
          </a:prstGeom>
          <a:ln w="19050">
            <a:solidFill>
              <a:srgbClr val="0B7A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ight Arrow 17"/>
          <p:cNvSpPr/>
          <p:nvPr/>
        </p:nvSpPr>
        <p:spPr>
          <a:xfrm>
            <a:off x="3942000" y="3456000"/>
            <a:ext cx="288000" cy="468000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7433999" y="3456000"/>
            <a:ext cx="288000" cy="468000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0800" y="3832200"/>
            <a:ext cx="152861" cy="199800"/>
          </a:xfrm>
          <a:prstGeom prst="rect">
            <a:avLst/>
          </a:prstGeom>
          <a:solidFill>
            <a:srgbClr val="C9D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11261" y="3765599"/>
            <a:ext cx="152861" cy="266400"/>
          </a:xfrm>
          <a:prstGeom prst="rect">
            <a:avLst/>
          </a:prstGeom>
          <a:solidFill>
            <a:srgbClr val="C9D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21723" y="3632400"/>
            <a:ext cx="152861" cy="399600"/>
          </a:xfrm>
          <a:prstGeom prst="rect">
            <a:avLst/>
          </a:prstGeom>
          <a:solidFill>
            <a:srgbClr val="C9D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32184" y="3432600"/>
            <a:ext cx="152861" cy="599400"/>
          </a:xfrm>
          <a:prstGeom prst="rect">
            <a:avLst/>
          </a:prstGeom>
          <a:solidFill>
            <a:srgbClr val="C9D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42646" y="3166199"/>
            <a:ext cx="152861" cy="865800"/>
          </a:xfrm>
          <a:prstGeom prst="rect">
            <a:avLst/>
          </a:prstGeom>
          <a:solidFill>
            <a:srgbClr val="C9D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53107" y="2899800"/>
            <a:ext cx="152861" cy="1132200"/>
          </a:xfrm>
          <a:prstGeom prst="rect">
            <a:avLst/>
          </a:prstGeom>
          <a:solidFill>
            <a:srgbClr val="C9D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63569" y="2699999"/>
            <a:ext cx="152861" cy="133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74030" y="2966399"/>
            <a:ext cx="152861" cy="10656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84492" y="3232799"/>
            <a:ext cx="152861" cy="7992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94953" y="3366000"/>
            <a:ext cx="152861" cy="66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05415" y="3499199"/>
            <a:ext cx="152861" cy="5328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15876" y="3632400"/>
            <a:ext cx="152861" cy="3996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26338" y="3765599"/>
            <a:ext cx="152861" cy="2664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936000" y="4031999"/>
            <a:ext cx="2808000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339999" y="2484000"/>
            <a:ext cx="0" cy="1547999"/>
          </a:xfrm>
          <a:prstGeom prst="line">
            <a:avLst/>
          </a:prstGeom>
          <a:ln w="12700">
            <a:solidFill>
              <a:srgbClr val="1F28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907999" y="2286000"/>
            <a:ext cx="864000" cy="19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6000" y="4050000"/>
            <a:ext cx="1403999" cy="1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検索前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9999" y="4050000"/>
            <a:ext cx="1404000" cy="1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検索後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000" y="4356000"/>
            <a:ext cx="2880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検討前に何を検索しているか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検討後に何を検索しているか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ユーザーの不安・比較軸・関心テーマを把握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84000" y="2376000"/>
            <a:ext cx="1260000" cy="270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検索データ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0000" y="2376000"/>
            <a:ext cx="1260000" cy="270000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LINE配信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84000" y="2808000"/>
            <a:ext cx="1260000" cy="3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不安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616000" y="3006000"/>
            <a:ext cx="432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120000" y="2808000"/>
            <a:ext cx="1260000" cy="396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どの情報を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84000" y="3401999"/>
            <a:ext cx="1260000" cy="3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比較軸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616000" y="3600000"/>
            <a:ext cx="432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120000" y="3401999"/>
            <a:ext cx="1260000" cy="396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どの順番で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84000" y="3996000"/>
            <a:ext cx="1260000" cy="3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関心テーマ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616000" y="4194000"/>
            <a:ext cx="432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120000" y="3996000"/>
            <a:ext cx="1260000" cy="396000"/>
          </a:xfrm>
          <a:prstGeom prst="roundRect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いつ配信するか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84000" y="4662000"/>
            <a:ext cx="3096000" cy="57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ニーズをもとに、配信内容・順番・タイミングを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業界・商材ごとに設計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819999" y="2484000"/>
            <a:ext cx="0" cy="2556000"/>
          </a:xfrm>
          <a:prstGeom prst="line">
            <a:avLst/>
          </a:prstGeom>
          <a:ln w="25400">
            <a:solidFill>
              <a:srgbClr val="06C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8711999" y="2376000"/>
            <a:ext cx="216000" cy="216000"/>
          </a:xfrm>
          <a:prstGeom prst="ellipse">
            <a:avLst/>
          </a:prstGeom>
          <a:solidFill>
            <a:srgbClr val="06C755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5999" y="2304000"/>
            <a:ext cx="90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1999" y="2304000"/>
            <a:ext cx="234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サンクスLINE誘導などで追加</a:t>
            </a:r>
          </a:p>
        </p:txBody>
      </p:sp>
      <p:sp>
        <p:nvSpPr>
          <p:cNvPr id="55" name="Oval 54"/>
          <p:cNvSpPr/>
          <p:nvPr/>
        </p:nvSpPr>
        <p:spPr>
          <a:xfrm>
            <a:off x="8711999" y="3227999"/>
            <a:ext cx="216000" cy="216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5999" y="3155999"/>
            <a:ext cx="90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初回配信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71999" y="3155999"/>
            <a:ext cx="234000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0" rIns="54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興味喚起</a:t>
            </a:r>
          </a:p>
        </p:txBody>
      </p:sp>
      <p:sp>
        <p:nvSpPr>
          <p:cNvPr id="58" name="Oval 57"/>
          <p:cNvSpPr/>
          <p:nvPr/>
        </p:nvSpPr>
        <p:spPr>
          <a:xfrm>
            <a:off x="8711999" y="4079999"/>
            <a:ext cx="216000" cy="216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75999" y="4008000"/>
            <a:ext cx="90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数日後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71999" y="4008000"/>
            <a:ext cx="234000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0" rIns="54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比較検討情報・不安解消</a:t>
            </a:r>
          </a:p>
        </p:txBody>
      </p:sp>
      <p:sp>
        <p:nvSpPr>
          <p:cNvPr id="61" name="Oval 60"/>
          <p:cNvSpPr/>
          <p:nvPr/>
        </p:nvSpPr>
        <p:spPr>
          <a:xfrm>
            <a:off x="8711999" y="4932000"/>
            <a:ext cx="216000" cy="216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5999" y="4860000"/>
            <a:ext cx="90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1〜2週間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071999" y="4860000"/>
            <a:ext cx="2340000" cy="360000"/>
          </a:xfrm>
          <a:prstGeom prst="roundRect">
            <a:avLst>
              <a:gd name="adj" fmla="val 3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0" rIns="54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CVオファー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75999" y="5418000"/>
            <a:ext cx="36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※配信内容・間隔は業界・商材ごとに設計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2000" y="5760000"/>
            <a:ext cx="10620000" cy="503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前後検索でユーザーニーズを捉え、友だち追加直後のステップ配信に反映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143329</TotalTime>
  <Words>372</Words>
  <Application>Microsoft Office PowerPoint</Application>
  <PresentationFormat>ワイド画面</PresentationFormat>
  <Paragraphs>123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Meiryo</vt:lpstr>
      <vt:lpstr>Meiryo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1971</cp:revision>
  <cp:lastPrinted>2022-11-01T11:38:14Z</cp:lastPrinted>
  <dcterms:created xsi:type="dcterms:W3CDTF">2015-09-04T09:21:15Z</dcterms:created>
  <dcterms:modified xsi:type="dcterms:W3CDTF">2026-10-07T05:50:14Z</dcterms:modified>
</cp:coreProperties>
</file>