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43" r:id="rId3"/>
    <p:sldId id="3008" r:id="rId4"/>
    <p:sldId id="3045" r:id="rId14"/>
    <p:sldId id="3039" r:id="rId5"/>
    <p:sldId id="3041" r:id="rId6"/>
    <p:sldId id="3044" r:id="rId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256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jpeg"/><Relationship Id="rId9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2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0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8000" y="864000"/>
            <a:ext cx="3384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施策全体の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CPA</a:t>
            </a:r>
            <a:r>
              <a:rPr sz="1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改善</a:t>
            </a:r>
          </a:p>
        </p:txBody>
      </p:sp>
      <p:sp>
        <p:nvSpPr>
          <p:cNvPr id="7" name="Rectangle 6"/>
          <p:cNvSpPr/>
          <p:nvPr/>
        </p:nvSpPr>
        <p:spPr>
          <a:xfrm>
            <a:off x="1260000" y="1548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8" name="Isosceles Triangle 7"/>
          <p:cNvSpPr/>
          <p:nvPr/>
        </p:nvSpPr>
        <p:spPr>
          <a:xfrm rot="10800000">
            <a:off x="3304800" y="1998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60000" y="2142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0" name="Isosceles Triangle 9"/>
          <p:cNvSpPr/>
          <p:nvPr/>
        </p:nvSpPr>
        <p:spPr>
          <a:xfrm rot="10800000">
            <a:off x="3304800" y="2592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60000" y="2736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 × 成果報酬施策</a:t>
            </a:r>
          </a:p>
        </p:txBody>
      </p:sp>
      <p:sp>
        <p:nvSpPr>
          <p:cNvPr id="12" name="Isosceles Triangle 11"/>
          <p:cNvSpPr/>
          <p:nvPr/>
        </p:nvSpPr>
        <p:spPr>
          <a:xfrm rot="10800000">
            <a:off x="3304800" y="3186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60000" y="3330000"/>
            <a:ext cx="42480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8000" y="3888000"/>
            <a:ext cx="4752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CVの取りこぼしを減らし、獲得チャネルを増やすことで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施策全体のCPAを改善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16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3999" y="864000"/>
            <a:ext cx="3384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0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CPO</a:t>
            </a:r>
            <a:r>
              <a:rPr sz="19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 の改善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6000" y="1548000"/>
            <a:ext cx="4248000" cy="413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Isosceles Triangle 18"/>
          <p:cNvSpPr/>
          <p:nvPr/>
        </p:nvSpPr>
        <p:spPr>
          <a:xfrm rot="10800000">
            <a:off x="8740800" y="1998000"/>
            <a:ext cx="158400" cy="108000"/>
          </a:xfrm>
          <a:prstGeom prst="triangle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96000" y="2142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1" name="Isosceles Triangle 20"/>
          <p:cNvSpPr/>
          <p:nvPr/>
        </p:nvSpPr>
        <p:spPr>
          <a:xfrm rot="10800000">
            <a:off x="8740800" y="2592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696000" y="2736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3" name="Isosceles Triangle 22"/>
          <p:cNvSpPr/>
          <p:nvPr/>
        </p:nvSpPr>
        <p:spPr>
          <a:xfrm rot="10800000">
            <a:off x="8740800" y="3186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96000" y="3330000"/>
            <a:ext cx="4248000" cy="413999"/>
          </a:xfrm>
          <a:prstGeom prst="rect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購入・契約などの最終成果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4000" y="3888000"/>
            <a:ext cx="4752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CV後の歩留まりを改善し、CPOを改善</a:t>
            </a:r>
          </a:p>
        </p:txBody>
      </p:sp>
      <p:sp>
        <p:nvSpPr>
          <p:cNvPr id="26" name="Pentagon 25"/>
          <p:cNvSpPr/>
          <p:nvPr/>
        </p:nvSpPr>
        <p:spPr>
          <a:xfrm>
            <a:off x="792000" y="4536000"/>
            <a:ext cx="3612000" cy="684000"/>
          </a:xfrm>
          <a:prstGeom prst="homePlate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4536000"/>
            <a:ext cx="317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CPOの改善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1件の最終成果あたりの広告費を抑えられる</a:t>
            </a:r>
          </a:p>
        </p:txBody>
      </p:sp>
      <p:sp>
        <p:nvSpPr>
          <p:cNvPr id="28" name="Chevron 27"/>
          <p:cNvSpPr/>
          <p:nvPr/>
        </p:nvSpPr>
        <p:spPr>
          <a:xfrm>
            <a:off x="4296000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20000" y="4536000"/>
            <a:ext cx="299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許容CPAの引き上げ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1件の最終成果にかけられる広告費が増える</a:t>
            </a:r>
          </a:p>
        </p:txBody>
      </p:sp>
      <p:sp>
        <p:nvSpPr>
          <p:cNvPr id="30" name="Chevron 29"/>
          <p:cNvSpPr/>
          <p:nvPr/>
        </p:nvSpPr>
        <p:spPr>
          <a:xfrm>
            <a:off x="7799999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23999" y="4536000"/>
            <a:ext cx="299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広告配信の拡大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入札・予算・配信対象を広げやすくなる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232000" y="5256000"/>
            <a:ext cx="0" cy="162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72000" y="5418000"/>
            <a:ext cx="10260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72000" y="5263200"/>
            <a:ext cx="0" cy="1548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121999" y="5292000"/>
            <a:ext cx="3960000" cy="2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さらに成果が増えれば、再投資して継続的に拡大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広告とあわせて実施することで、</a:t>
            </a:r>
            <a:r>
              <a:rPr sz="2000" b="1">
                <a:solidFill>
                  <a:srgbClr val="FFE400"/>
                </a:solidFill>
                <a:latin typeface="メイリオ"/>
                <a:ea typeface="メイリオ"/>
                <a:cs typeface="メイリオ"/>
              </a:rPr>
              <a:t>事業全体の効率化</a:t>
            </a: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を図る。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1691884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7537034" y="2187780"/>
            <a:ext cx="3061624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7537035" y="4317370"/>
            <a:ext cx="306162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7583090" y="20331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7583090" y="41952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7162523" y="2932418"/>
            <a:ext cx="391555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7162523" y="3354124"/>
            <a:ext cx="345499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53316" y="2021148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65094" y="4121293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7583091" y="2552900"/>
            <a:ext cx="151097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7555221" y="4735255"/>
            <a:ext cx="16471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998" y="2977479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724" y="2983787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1394" y="4118389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794" y="4270789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9667828" y="2536378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1510609" y="2027927"/>
            <a:ext cx="1405728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957810" y="3262734"/>
            <a:ext cx="252701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1510609" y="4624810"/>
            <a:ext cx="1405728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3344" y="2214387"/>
            <a:ext cx="1249593" cy="2257852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3245020" y="2000983"/>
            <a:ext cx="150853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3242276" y="4603503"/>
            <a:ext cx="150853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3359597" y="2260627"/>
            <a:ext cx="1312445" cy="2202364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4710177" y="1804300"/>
            <a:ext cx="307967" cy="41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686399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9512823" y="4498577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5145349" y="846996"/>
            <a:ext cx="563179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5145350" y="1172815"/>
            <a:ext cx="471862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7554077" y="1518664"/>
            <a:ext cx="3044580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1686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初期：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15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</a:t>
            </a:r>
            <a:endParaRPr b="1" dirty="0">
              <a:solidFill>
                <a:schemeClr val="lt1"/>
              </a:solidFill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3280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月額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3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万円～</a:t>
            </a:r>
            <a:endParaRPr lang="en-US" altLang="ja-JP" b="1" dirty="0">
              <a:solidFill>
                <a:schemeClr val="lt1"/>
              </a:solidFill>
              <a:sym typeface="Meiryo"/>
            </a:endParaRPr>
          </a:p>
          <a:p>
            <a:pPr algn="ctr">
              <a:buSzPts val="1400"/>
            </a:pPr>
            <a:r>
              <a:rPr lang="en-US" altLang="ja-JP" sz="1050" b="1" dirty="0">
                <a:solidFill>
                  <a:srgbClr val="FFFF00"/>
                </a:solidFill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sym typeface="Meiryo"/>
              </a:rPr>
              <a:t>設定地点追加</a:t>
            </a:r>
            <a:endParaRPr sz="1050" b="1" dirty="0">
              <a:solidFill>
                <a:srgbClr val="FFFF00"/>
              </a:solidFill>
              <a:sym typeface="Meiryo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2146069" y="190940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6633" y="4115263"/>
            <a:ext cx="466595" cy="8613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7778" y="2294975"/>
            <a:ext cx="466595" cy="8613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2354690" y="5205027"/>
            <a:ext cx="4874067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  <a:stCxn id="33" idx="1"/>
          </p:cNvCxnSpPr>
          <p:nvPr/>
        </p:nvCxnSpPr>
        <p:spPr>
          <a:xfrm flipH="1" flipV="1">
            <a:off x="2066925" y="4868960"/>
            <a:ext cx="287764" cy="66604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6504546" y="2415812"/>
            <a:ext cx="653304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4819827" y="3203047"/>
            <a:ext cx="1632963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4831291" y="2187781"/>
            <a:ext cx="1586044" cy="948384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 flipV="1">
            <a:off x="7217657" y="4971540"/>
            <a:ext cx="2192682" cy="59904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11070119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実例｜予約後の来院率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予約直後にLINEでつながり、前日のお知らせで来院につなげた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620000"/>
            <a:ext cx="3600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052000"/>
            <a:ext cx="273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358000"/>
            <a:ext cx="273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600000" y="3600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88000" y="2052000"/>
            <a:ext cx="417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導入・活用方法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358000"/>
            <a:ext cx="417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5999" y="3600000"/>
            <a:ext cx="216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424000" y="2052000"/>
            <a:ext cx="2988000" cy="30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4000" y="2358000"/>
            <a:ext cx="2988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2000" y="2556000"/>
            <a:ext cx="2376000" cy="237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予約から来院日まで、接点がない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予約後に来院しない方が一定数いる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6000" y="2538000"/>
            <a:ext cx="3600000" cy="4185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予約完了画面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76000" y="2967300"/>
            <a:ext cx="0" cy="1943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176000" y="3172500"/>
            <a:ext cx="3600000" cy="4185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36017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76000" y="3806999"/>
            <a:ext cx="3600000" cy="4185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76000" y="42362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176000" y="4441500"/>
            <a:ext cx="3600000" cy="4185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予約確認・前日のお知らせをLINEで配信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000" y="2520000"/>
            <a:ext cx="2988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4000" y="2916000"/>
            <a:ext cx="2988000" cy="12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4140000"/>
            <a:ext cx="2988000" cy="43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000" y="5400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000" y="5472000"/>
            <a:ext cx="10620000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参考｜LINEでつながった後の活用例（LINEヤフー公式の導入事例）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5706000"/>
            <a:ext cx="5202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観光バス：高速バスの予約後、乗車前日の案内をLINEで配信（琴平バス</a:t>
            </a:r>
            <a:r>
              <a:rPr sz="10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2000" y="5706000"/>
            <a:ext cx="531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皮膚科クリニック：友だち追加後のステップ配信で、カウンセリング予約へ（アクネクリニック</a:t>
            </a:r>
            <a:r>
              <a:rPr sz="10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800000"/>
            <a:ext cx="2749500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800000"/>
            <a:ext cx="2443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3415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49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60390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30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8662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6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9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59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9500" y="3870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3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3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30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6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06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06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6500" y="3870000"/>
            <a:ext cx="23895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01250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54250" y="4463999"/>
            <a:ext cx="5247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54250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62250" y="4482000"/>
            <a:ext cx="3600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000" y="4878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92000" y="5029200"/>
            <a:ext cx="64800" cy="18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8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サンクスLINE誘導ツール｜費用目安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75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375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6000" y="5029200"/>
            <a:ext cx="648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72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LINE運用コンサル｜費用目安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6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68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968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20万円〜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0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90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期間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6か月〜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102000" y="4986000"/>
            <a:ext cx="0" cy="79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2000" y="5814000"/>
            <a:ext cx="10620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※施策内容・配信本数・連携範囲等により、費用は個別にお見積もりいたします。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前後検索データを活用したステップ配信設計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アクションが起きやすい友だち追加直後に、ユーザーの検討行動に合わせた配信を設計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92000" y="1620000"/>
            <a:ext cx="306000" cy="30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602000"/>
            <a:ext cx="2736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前後検索データを分析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1962000"/>
            <a:ext cx="3096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検索前後のニーズを把握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000" y="2304000"/>
            <a:ext cx="3096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284000" y="1620000"/>
            <a:ext cx="306000" cy="30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602000"/>
            <a:ext cx="2736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配信内容・順番・タイミングを設計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4000" y="1962000"/>
            <a:ext cx="3096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配信内容・順番を設計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84000" y="2304000"/>
            <a:ext cx="3096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775999" y="1620000"/>
            <a:ext cx="306000" cy="306000"/>
          </a:xfrm>
          <a:prstGeom prst="ellips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5999" y="1602000"/>
            <a:ext cx="3276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友だち追加直後からステップ配信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5999" y="1962000"/>
            <a:ext cx="3636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アクションが起きやすい追加直後に配信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5999" y="2304000"/>
            <a:ext cx="3636001" cy="0"/>
          </a:xfrm>
          <a:prstGeom prst="line">
            <a:avLst/>
          </a:prstGeom>
          <a:ln w="19050">
            <a:solidFill>
              <a:srgbClr val="0B7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>
            <a:off x="3942000" y="3456000"/>
            <a:ext cx="288000" cy="468000"/>
          </a:xfrm>
          <a:prstGeom prst="rightArrow">
            <a:avLst>
              <a:gd name="adj1" fmla="val 45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433999" y="3456000"/>
            <a:ext cx="288000" cy="468000"/>
          </a:xfrm>
          <a:prstGeom prst="rightArrow">
            <a:avLst>
              <a:gd name="adj1" fmla="val 45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000" y="2484000"/>
            <a:ext cx="1475999" cy="251999"/>
          </a:xfrm>
          <a:prstGeom prst="rect">
            <a:avLst/>
          </a:prstGeom>
          <a:solidFill>
            <a:srgbClr val="C9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検索前のキーワード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2736000"/>
            <a:ext cx="1475999" cy="129599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000" y="27360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000" y="2813760"/>
            <a:ext cx="4463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45999" y="2818944"/>
            <a:ext cx="468000" cy="93312"/>
          </a:xfrm>
          <a:prstGeom prst="rect">
            <a:avLst/>
          </a:prstGeom>
          <a:solidFill>
            <a:srgbClr val="C9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28000" y="2995200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10000" y="29952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0000" y="3072960"/>
            <a:ext cx="3455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45999" y="3078144"/>
            <a:ext cx="351000" cy="93312"/>
          </a:xfrm>
          <a:prstGeom prst="rect">
            <a:avLst/>
          </a:prstGeom>
          <a:solidFill>
            <a:srgbClr val="C9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28000" y="3254399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10000" y="3254399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0000" y="3332159"/>
            <a:ext cx="5039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45999" y="3337343"/>
            <a:ext cx="257400" cy="93312"/>
          </a:xfrm>
          <a:prstGeom prst="rect">
            <a:avLst/>
          </a:prstGeom>
          <a:solidFill>
            <a:srgbClr val="C9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28000" y="3513600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0000" y="35136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0000" y="3591359"/>
            <a:ext cx="2879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45999" y="3596543"/>
            <a:ext cx="187200" cy="93312"/>
          </a:xfrm>
          <a:prstGeom prst="rect">
            <a:avLst/>
          </a:prstGeom>
          <a:solidFill>
            <a:srgbClr val="C9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28000" y="3772800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10000" y="37728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0000" y="3850560"/>
            <a:ext cx="3959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745999" y="3855744"/>
            <a:ext cx="140400" cy="93312"/>
          </a:xfrm>
          <a:prstGeom prst="rect">
            <a:avLst/>
          </a:prstGeom>
          <a:solidFill>
            <a:srgbClr val="C9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412000" y="2484000"/>
            <a:ext cx="147599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検索後のキーワード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2000" y="2736000"/>
            <a:ext cx="1475999" cy="129599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30000" y="27360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10000" y="2813760"/>
            <a:ext cx="3959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66000" y="2818944"/>
            <a:ext cx="468000" cy="9331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448000" y="2995200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430000" y="29952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10000" y="3072960"/>
            <a:ext cx="4895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66000" y="3078144"/>
            <a:ext cx="374400" cy="9331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448000" y="3254399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30000" y="3254399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10000" y="3332159"/>
            <a:ext cx="3023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66000" y="3337343"/>
            <a:ext cx="280800" cy="9331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448000" y="3513600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30000" y="35136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10000" y="3591359"/>
            <a:ext cx="4319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66000" y="3596543"/>
            <a:ext cx="210600" cy="9331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2448000" y="3772800"/>
            <a:ext cx="1404000" cy="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30000" y="3772800"/>
            <a:ext cx="180000" cy="259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610000" y="3850560"/>
            <a:ext cx="331199" cy="103679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366000" y="3855744"/>
            <a:ext cx="140400" cy="9331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2000" y="4050000"/>
            <a:ext cx="3096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※実際の前後検索データをもとに分析（キーワードは案件ごと）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000" y="4356000"/>
            <a:ext cx="2880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検討前に何を検索しているか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検討後に何を検索しているか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ユーザーの不安・比較軸・関心テーマを把握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4000" y="2376000"/>
            <a:ext cx="126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20000" y="2376000"/>
            <a:ext cx="1260000" cy="2700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LINE配信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84000" y="2808000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不安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616000" y="3006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20000" y="2808000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どの情報を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84000" y="3401999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比較軸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616000" y="3600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120000" y="3401999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どの順番で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84000" y="3996000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関心テーマ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616000" y="4194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120000" y="3996000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いつ配信するか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84000" y="4662000"/>
            <a:ext cx="3096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ニーズをもとに、配信内容・順番・タイミングを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業界・商材ごとに設計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19999" y="2484000"/>
            <a:ext cx="0" cy="2556000"/>
          </a:xfrm>
          <a:prstGeom prst="line">
            <a:avLst/>
          </a:prstGeom>
          <a:ln w="2540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11999" y="2376000"/>
            <a:ext cx="216000" cy="216000"/>
          </a:xfrm>
          <a:prstGeom prst="ellipse">
            <a:avLst/>
          </a:prstGeom>
          <a:solidFill>
            <a:srgbClr val="06C755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5999" y="2304000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1999" y="2304000"/>
            <a:ext cx="234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サンクスLINE誘導などで追加</a:t>
            </a:r>
          </a:p>
        </p:txBody>
      </p:sp>
      <p:sp>
        <p:nvSpPr>
          <p:cNvPr id="80" name="Oval 79"/>
          <p:cNvSpPr/>
          <p:nvPr/>
        </p:nvSpPr>
        <p:spPr>
          <a:xfrm>
            <a:off x="8711999" y="3227999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5999" y="3155999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初回配信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071999" y="3155999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0" rIns="54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83" name="Oval 82"/>
          <p:cNvSpPr/>
          <p:nvPr/>
        </p:nvSpPr>
        <p:spPr>
          <a:xfrm>
            <a:off x="8711999" y="4079999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75999" y="4008000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数日後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71999" y="4008000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0" rIns="54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比較検討情報・不安解消</a:t>
            </a:r>
          </a:p>
        </p:txBody>
      </p:sp>
      <p:sp>
        <p:nvSpPr>
          <p:cNvPr id="86" name="Oval 85"/>
          <p:cNvSpPr/>
          <p:nvPr/>
        </p:nvSpPr>
        <p:spPr>
          <a:xfrm>
            <a:off x="8711999" y="4932000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75999" y="4860000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071999" y="4860000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0" rIns="54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CVオファー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75999" y="5418000"/>
            <a:ext cx="3636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※配信内容・間隔は業界・商材ごとに設計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2000" y="5760000"/>
            <a:ext cx="106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前後検索でユーザーニーズを捉え、友だち追加直後のステップ配信に反映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143329</TotalTime>
  <Words>372</Words>
  <Application>Microsoft Office PowerPoint</Application>
  <PresentationFormat>ワイド画面</PresentationFormat>
  <Paragraphs>123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1971</cp:revision>
  <cp:lastPrinted>2022-11-01T11:38:14Z</cp:lastPrinted>
  <dcterms:created xsi:type="dcterms:W3CDTF">2015-09-04T09:21:15Z</dcterms:created>
  <dcterms:modified xsi:type="dcterms:W3CDTF">2026-10-07T05:50:14Z</dcterms:modified>
</cp:coreProperties>
</file>