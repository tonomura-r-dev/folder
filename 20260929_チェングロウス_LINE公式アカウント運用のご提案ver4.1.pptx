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7"/>
  </p:notesMasterIdLst>
  <p:handoutMasterIdLst>
    <p:handoutMasterId r:id="rId38"/>
  </p:handoutMasterIdLst>
  <p:sldIdLst>
    <p:sldId id="2363" r:id="rId3"/>
    <p:sldId id="2721" r:id="rId4"/>
    <p:sldId id="3012" r:id="rId5"/>
    <p:sldId id="2971" r:id="rId6"/>
    <p:sldId id="2972" r:id="rId7"/>
    <p:sldId id="2904" r:id="rId8"/>
    <p:sldId id="3007" r:id="rId9"/>
    <p:sldId id="2987" r:id="rId10"/>
    <p:sldId id="2999" r:id="rId11"/>
    <p:sldId id="3013" r:id="rId12"/>
    <p:sldId id="2997" r:id="rId13"/>
    <p:sldId id="2996" r:id="rId14"/>
    <p:sldId id="2973" r:id="rId15"/>
    <p:sldId id="3014" r:id="rId16"/>
    <p:sldId id="3008" r:id="rId17"/>
    <p:sldId id="3018" r:id="rId18"/>
    <p:sldId id="3019" r:id="rId19"/>
    <p:sldId id="3020" r:id="rId20"/>
    <p:sldId id="3009" r:id="rId21"/>
    <p:sldId id="3010" r:id="rId22"/>
    <p:sldId id="3011" r:id="rId23"/>
    <p:sldId id="3015" r:id="rId24"/>
    <p:sldId id="2968" r:id="rId25"/>
    <p:sldId id="2908" r:id="rId26"/>
    <p:sldId id="2990" r:id="rId27"/>
    <p:sldId id="3016" r:id="rId28"/>
    <p:sldId id="2986" r:id="rId29"/>
    <p:sldId id="2991" r:id="rId30"/>
    <p:sldId id="3017" r:id="rId31"/>
    <p:sldId id="2989" r:id="rId32"/>
    <p:sldId id="2563" r:id="rId33"/>
    <p:sldId id="2959" r:id="rId34"/>
    <p:sldId id="2995" r:id="rId35"/>
    <p:sldId id="1169" r:id="rId36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>
        <p:scale>
          <a:sx n="66" d="100"/>
          <a:sy n="66" d="100"/>
        </p:scale>
        <p:origin x="1024" y="220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34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3.emf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―LINEの初期構築と、サイトリニューアルでの連携のご提案―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marL="539750" lvl="0" indent="-53975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】</a:t>
            </a:r>
          </a:p>
          <a:p>
            <a:pPr marL="88900" lvl="0">
              <a:tabLst>
                <a:tab pos="447675" algn="l"/>
              </a:tabLs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/>
                <a:ea typeface="メイリオ"/>
                <a:cs typeface="メイリオ"/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メイリオ"/>
                <a:ea typeface="メイリオ"/>
                <a:cs typeface="メイリオ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lvl="0"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受賞時の</a:t>
            </a:r>
            <a:r>
              <a:rPr lang="en-US" altLang="ja-JP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1</a:t>
            </a:r>
            <a:r>
              <a:rPr lang="ja-JP" altLang="en-US" sz="70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枚</a:t>
            </a:r>
            <a:endParaRPr lang="en-US" altLang="ja-JP" sz="700" dirty="0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。</a:t>
            </a:r>
            <a:endParaRPr lang="ja-JP" altLang="en-US" sz="900" dirty="0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5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LINE経由の中で、配信より多い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625181"/>
            <a:ext cx="8319744" cy="284947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トークで条件を選ぶと</a:t>
            </a: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求人が表示される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ight Arrow 11"/>
          <p:cNvSpPr/>
          <p:nvPr/>
        </p:nvSpPr>
        <p:spPr>
          <a:xfrm>
            <a:off x="6268416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移動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548578"/>
            <a:ext cx="8319744" cy="42742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501797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ための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213238"/>
            <a:ext cx="2053440" cy="291310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500521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213238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3204503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4195768"/>
            <a:ext cx="2748960" cy="910345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500521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364138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213238"/>
            <a:ext cx="2424384" cy="2913106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3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2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endParaRPr sz="13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490482"/>
            <a:ext cx="8319744" cy="48551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455145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53411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752051"/>
            <a:ext cx="861120" cy="455145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5"/>
          <p:cNvSpPr/>
          <p:nvPr/>
        </p:nvSpPr>
        <p:spPr>
          <a:xfrm>
            <a:off x="3608879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ounded Rectangle 17"/>
          <p:cNvSpPr/>
          <p:nvPr/>
        </p:nvSpPr>
        <p:spPr>
          <a:xfrm>
            <a:off x="549672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863704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Rounded Rectangle 19"/>
          <p:cNvSpPr/>
          <p:nvPr/>
        </p:nvSpPr>
        <p:spPr>
          <a:xfrm>
            <a:off x="7384560" y="2752051"/>
            <a:ext cx="1523519" cy="455145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283054"/>
            <a:ext cx="1656000" cy="30343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889915"/>
            <a:ext cx="2616480" cy="136543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気軽にやりとりできます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520854"/>
            <a:ext cx="8319744" cy="455145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525948"/>
            <a:ext cx="8319744" cy="45005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92800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064447"/>
              </p:ext>
            </p:extLst>
          </p:nvPr>
        </p:nvGraphicFramePr>
        <p:xfrm>
          <a:off x="793680" y="2067314"/>
          <a:ext cx="8319743" cy="2833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</a:t>
                      </a:r>
                      <a:endParaRPr lang="en-US" sz="145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l"/>
                      <a:r>
                        <a:rPr sz="145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45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5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982930"/>
            <a:ext cx="8319744" cy="4554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この3つは、サイトに「条件別の検索結果ページ」と「LINEとの会員連携」があれば再現可能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69200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088000"/>
            <a:ext cx="2616480" cy="15334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トーク画面の下に常にあるので、探したいときにいつでも使える。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69200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088000"/>
            <a:ext cx="2616480" cy="15334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</a:t>
            </a:r>
            <a:endParaRPr lang="en-US" sz="13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案内する</a:t>
            </a:r>
            <a:r>
              <a:rPr sz="13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条件のカードをタップしてもらい、興味を聞く。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69200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088000"/>
            <a:ext cx="2616480" cy="15334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探す手間がなく、応募はサイト側で行う。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3783499"/>
            <a:ext cx="8319744" cy="2880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107499"/>
            <a:ext cx="4040640" cy="13825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107499"/>
            <a:ext cx="4047264" cy="13825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652000"/>
            <a:ext cx="8319744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LINE側は先に構築し、サイト側はリニューアルに合わせてつなぐ</a:t>
            </a:r>
            <a:endParaRPr sz="12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37234"/>
            <a:ext cx="3941280" cy="396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3234"/>
            <a:ext cx="3941280" cy="2211228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3094848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172144" y="1737234"/>
            <a:ext cx="3941280" cy="396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133234"/>
            <a:ext cx="3941280" cy="2211228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・登録と同じ画面で、友だち追加もご案内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4452462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793680" y="4812462"/>
            <a:ext cx="8319744" cy="1118304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7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7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159322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173767"/>
              </p:ext>
            </p:extLst>
          </p:nvPr>
        </p:nvGraphicFramePr>
        <p:xfrm>
          <a:off x="793680" y="2172959"/>
          <a:ext cx="415932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9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100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00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10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100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100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100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100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4166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5209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3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38068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76291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76291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3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12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12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12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12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8852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626742"/>
            <a:ext cx="1092960" cy="1349257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626742"/>
            <a:ext cx="4835520" cy="1349257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3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3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3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3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3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12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12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12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638971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※月約17人＝サイトからの応募（月約47件）×完了画面の表示80%×友だち追加45%の想定／求人ボックス・Indeed経由は対象外／画面はイメージです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求人ボックス・Indeed経由の応募者への導線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64000"/>
            <a:ext cx="8928000" cy="288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サンクスLINEは自社サイトの応募が対象。外部経由は、求人ページ上の導線でつなぐ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2000" y="1584000"/>
            <a:ext cx="5760000" cy="331471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自社サイトから応募する方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2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070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5"/>
          <p:cNvSpPr/>
          <p:nvPr/>
        </p:nvSpPr>
        <p:spPr>
          <a:xfrm>
            <a:off x="2376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応募フォーム</a:t>
            </a:r>
          </a:p>
        </p:txBody>
      </p:sp>
      <p:sp>
        <p:nvSpPr>
          <p:cNvPr id="10" name="Right Arrow 6"/>
          <p:cNvSpPr/>
          <p:nvPr/>
        </p:nvSpPr>
        <p:spPr>
          <a:xfrm>
            <a:off x="3654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5"/>
          <p:cNvSpPr/>
          <p:nvPr/>
        </p:nvSpPr>
        <p:spPr>
          <a:xfrm>
            <a:off x="3960000" y="1956905"/>
            <a:ext cx="1224000" cy="621509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</a:t>
            </a:r>
          </a:p>
        </p:txBody>
      </p:sp>
      <p:sp>
        <p:nvSpPr>
          <p:cNvPr id="12" name="Right Arrow 6"/>
          <p:cNvSpPr/>
          <p:nvPr/>
        </p:nvSpPr>
        <p:spPr>
          <a:xfrm>
            <a:off x="5238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5"/>
          <p:cNvSpPr/>
          <p:nvPr/>
        </p:nvSpPr>
        <p:spPr>
          <a:xfrm>
            <a:off x="5544000" y="1956905"/>
            <a:ext cx="1872000" cy="621509"/>
          </a:xfrm>
          <a:prstGeom prst="roundRect">
            <a:avLst>
              <a:gd name="adj" fmla="val 1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ight Arrow 6"/>
          <p:cNvSpPr/>
          <p:nvPr/>
        </p:nvSpPr>
        <p:spPr>
          <a:xfrm>
            <a:off x="7470000" y="2159660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5"/>
          <p:cNvSpPr/>
          <p:nvPr/>
        </p:nvSpPr>
        <p:spPr>
          <a:xfrm>
            <a:off x="7776000" y="1956905"/>
            <a:ext cx="1296000" cy="621509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792000" y="2951320"/>
            <a:ext cx="5760000" cy="331471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5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■ 求人ボックス・Indeedから来る方</a:t>
            </a:r>
          </a:p>
        </p:txBody>
      </p:sp>
      <p:sp>
        <p:nvSpPr>
          <p:cNvPr id="17" name="Rounded Rectangle 5"/>
          <p:cNvSpPr/>
          <p:nvPr/>
        </p:nvSpPr>
        <p:spPr>
          <a:xfrm>
            <a:off x="792000" y="3365659"/>
            <a:ext cx="1512000" cy="1657358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求人ボックス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Indeed</a:t>
            </a:r>
          </a:p>
        </p:txBody>
      </p:sp>
      <p:sp>
        <p:nvSpPr>
          <p:cNvPr id="18" name="Right Arrow 6"/>
          <p:cNvSpPr/>
          <p:nvPr/>
        </p:nvSpPr>
        <p:spPr>
          <a:xfrm>
            <a:off x="2340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6"/>
          <p:cNvSpPr/>
          <p:nvPr/>
        </p:nvSpPr>
        <p:spPr>
          <a:xfrm>
            <a:off x="2340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5"/>
          <p:cNvSpPr/>
          <p:nvPr/>
        </p:nvSpPr>
        <p:spPr>
          <a:xfrm>
            <a:off x="2664000" y="3365659"/>
            <a:ext cx="1872000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貴社の求人ページに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着地する場合</a:t>
            </a:r>
          </a:p>
        </p:txBody>
      </p:sp>
      <p:sp>
        <p:nvSpPr>
          <p:cNvPr id="21" name="Right Arrow 6"/>
          <p:cNvSpPr/>
          <p:nvPr/>
        </p:nvSpPr>
        <p:spPr>
          <a:xfrm>
            <a:off x="4590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4932000" y="3365659"/>
            <a:ext cx="2015999" cy="704377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23" name="Right Arrow 6"/>
          <p:cNvSpPr/>
          <p:nvPr/>
        </p:nvSpPr>
        <p:spPr>
          <a:xfrm>
            <a:off x="7002000" y="3609847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ounded Rectangle 5"/>
          <p:cNvSpPr/>
          <p:nvPr/>
        </p:nvSpPr>
        <p:spPr>
          <a:xfrm>
            <a:off x="7343999" y="3365659"/>
            <a:ext cx="1764000" cy="704377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25" name="Rounded Rectangle 5"/>
          <p:cNvSpPr/>
          <p:nvPr/>
        </p:nvSpPr>
        <p:spPr>
          <a:xfrm>
            <a:off x="2664000" y="4318641"/>
            <a:ext cx="1872000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応募が先方の画面で</a:t>
            </a:r>
          </a:p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完結する場合</a:t>
            </a:r>
          </a:p>
        </p:txBody>
      </p:sp>
      <p:sp>
        <p:nvSpPr>
          <p:cNvPr id="26" name="Right Arrow 6"/>
          <p:cNvSpPr/>
          <p:nvPr/>
        </p:nvSpPr>
        <p:spPr>
          <a:xfrm>
            <a:off x="4590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Rounded Rectangle 5"/>
          <p:cNvSpPr/>
          <p:nvPr/>
        </p:nvSpPr>
        <p:spPr>
          <a:xfrm>
            <a:off x="4932000" y="4318641"/>
            <a:ext cx="2015999" cy="704377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貴社の画面を通らない</a:t>
            </a:r>
          </a:p>
        </p:txBody>
      </p:sp>
      <p:sp>
        <p:nvSpPr>
          <p:cNvPr id="28" name="Right Arrow 6"/>
          <p:cNvSpPr/>
          <p:nvPr/>
        </p:nvSpPr>
        <p:spPr>
          <a:xfrm>
            <a:off x="7002000" y="4562829"/>
            <a:ext cx="251999" cy="216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Rounded Rectangle 5"/>
          <p:cNvSpPr/>
          <p:nvPr/>
        </p:nvSpPr>
        <p:spPr>
          <a:xfrm>
            <a:off x="7343999" y="4318641"/>
            <a:ext cx="1764000" cy="704377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導線を置けない</a:t>
            </a:r>
          </a:p>
          <a:p>
            <a:pPr algn="ctr"/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（対象外）</a:t>
            </a:r>
          </a:p>
        </p:txBody>
      </p:sp>
      <p:sp>
        <p:nvSpPr>
          <p:cNvPr id="30" name="Rounded Rectangle 24"/>
          <p:cNvSpPr/>
          <p:nvPr/>
        </p:nvSpPr>
        <p:spPr>
          <a:xfrm>
            <a:off x="792000" y="5478792"/>
            <a:ext cx="8316000" cy="497207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6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貴社の求人ページに来た方は、離脱防止と「LINEで登録」で友だち追加へつなげる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92000" y="6048000"/>
            <a:ext cx="8316000" cy="28800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※求人ボックス・Indeedからの着地先と、応募の完結先は、掲載方法により異なるため、確認のうえ決定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②効率改善｜動線00「離脱防止」から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155407"/>
              </p:ext>
            </p:extLst>
          </p:nvPr>
        </p:nvGraphicFramePr>
        <p:xfrm>
          <a:off x="792000" y="1655999"/>
          <a:ext cx="8315999" cy="32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54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12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あいさつ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／
1〜14日後</a:t>
                      </a:r>
                      <a:endParaRPr lang="en-US" sz="12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追加した方</a:t>
                      </a:r>
                      <a:endParaRPr lang="en-US" sz="12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</a:t>
                      </a:r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12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追加した方</a:t>
                      </a:r>
                      <a:endParaRPr lang="en-US" sz="12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960">
                <a:tc>
                  <a:txBody>
                    <a:bodyPr/>
                    <a:lstStyle/>
                    <a:p>
                      <a:pPr algn="ctr"/>
                      <a:endParaRPr sz="12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小計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221回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8"/>
          <p:cNvSpPr txBox="1"/>
          <p:nvPr/>
        </p:nvSpPr>
        <p:spPr>
          <a:xfrm>
            <a:off x="612840" y="597600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、弊社シミュレーションの9月の値を、動線ごとの友だち数と配信ごとのクリック比率で振り分けたもの。反応率の補正（1.46倍）と複数回のクリック（2.05倍）を含むため、単純な掛け算とは一致しない／画面はイメー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②効率改善｜動線01「LINEで登録」・動線02「サンクスLINE」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920119"/>
              </p:ext>
            </p:extLst>
          </p:nvPr>
        </p:nvGraphicFramePr>
        <p:xfrm>
          <a:off x="792000" y="1584000"/>
          <a:ext cx="8314904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97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クリック数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あいさつ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／
1〜14日後</a:t>
                      </a:r>
                      <a:endParaRPr lang="en-US" sz="11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1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11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8"/>
          <p:cNvSpPr txBox="1"/>
          <p:nvPr/>
        </p:nvSpPr>
        <p:spPr>
          <a:xfrm>
            <a:off x="612840" y="612000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、弊社シミュレーションの9月の値を、動線ごとの友だち数と配信ごとのクリック比率で振り分けたもの。反応率の補正（1.46倍）と複数回のクリック（2.05倍）を含むため、単純な掛け算とは一致しない／画面はイメー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②効率改善｜ステップ配信の内容（10通の例）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友だち追加から14日間で、全10通を自動で配信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1872000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2988000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  <p:graphicFrame>
        <p:nvGraphicFramePr>
          <p:cNvPr id="9" name="Table 18"/>
          <p:cNvGraphicFramePr>
            <a:graphicFrameLocks noGrp="1"/>
          </p:cNvGraphicFramePr>
          <p:nvPr/>
        </p:nvGraphicFramePr>
        <p:xfrm>
          <a:off x="792000" y="1764000"/>
          <a:ext cx="6480000" cy="4158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日</a:t>
                      </a:r>
                    </a:p>
                  </a:txBody>
                  <a:tcPr marL="144000" marR="144000"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配信の内容</a:t>
                      </a:r>
                    </a:p>
                  </a:txBody>
                  <a:tcPr marL="144000" marR="144000"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</a:t>
                      </a:r>
                    </a:p>
                  </a:txBody>
                  <a:tcPr marL="144000" marR="144000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あいさつ（希望の職種を聞く）</a:t>
                      </a:r>
                    </a:p>
                  </a:txBody>
                  <a:tcPr marL="144000" marR="144000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1日</a:t>
                      </a:r>
                    </a:p>
                  </a:txBody>
                  <a:tcPr marL="144000" marR="14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職種の違い</a:t>
                      </a:r>
                    </a:p>
                  </a:txBody>
                  <a:tcPr marL="144000" marR="14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2日</a:t>
                      </a:r>
                    </a:p>
                  </a:txBody>
                  <a:tcPr marL="144000" marR="144000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働き方</a:t>
                      </a:r>
                    </a:p>
                  </a:txBody>
                  <a:tcPr marL="144000" marR="144000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7A3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3日</a:t>
                      </a:r>
                    </a:p>
                  </a:txBody>
                  <a:tcPr marL="144000" marR="144000" anchor="ctr"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7A3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求人のご案内①　← 応募を案内</a:t>
                      </a:r>
                    </a:p>
                  </a:txBody>
                  <a:tcPr marL="144000" marR="144000" anchor="ctr"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4日</a:t>
                      </a:r>
                    </a:p>
                  </a:txBody>
                  <a:tcPr marL="144000" marR="144000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資格取得支援</a:t>
                      </a:r>
                    </a:p>
                  </a:txBody>
                  <a:tcPr marL="144000" marR="144000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5日</a:t>
                      </a:r>
                    </a:p>
                  </a:txBody>
                  <a:tcPr marL="144000" marR="14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他の職種との比較</a:t>
                      </a:r>
                    </a:p>
                  </a:txBody>
                  <a:tcPr marL="144000" marR="14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7日</a:t>
                      </a:r>
                    </a:p>
                  </a:txBody>
                  <a:tcPr marL="144000" marR="144000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資格別の年収</a:t>
                      </a:r>
                    </a:p>
                  </a:txBody>
                  <a:tcPr marL="144000" marR="144000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10日</a:t>
                      </a:r>
                    </a:p>
                  </a:txBody>
                  <a:tcPr marL="144000" marR="14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現場の様子</a:t>
                      </a:r>
                    </a:p>
                  </a:txBody>
                  <a:tcPr marL="144000" marR="14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12日</a:t>
                      </a:r>
                    </a:p>
                  </a:txBody>
                  <a:tcPr marL="144000" marR="144000"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地域別の新着求人</a:t>
                      </a:r>
                    </a:p>
                  </a:txBody>
                  <a:tcPr marL="144000" marR="144000"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7A3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14日</a:t>
                      </a:r>
                    </a:p>
                  </a:txBody>
                  <a:tcPr marL="144000" marR="144000" anchor="ctr"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7A3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求人のご案内②　← 応募を案内</a:t>
                      </a:r>
                    </a:p>
                  </a:txBody>
                  <a:tcPr marL="144000" marR="144000" anchor="ctr">
                    <a:solidFill>
                      <a:srgbClr val="E8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2088684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520684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520684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520684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520684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508848"/>
            <a:ext cx="1092960" cy="1118304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508848"/>
            <a:ext cx="2318400" cy="11183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508848"/>
            <a:ext cx="2318400" cy="11183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508848"/>
            <a:ext cx="2318400" cy="111830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735152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735152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735152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735152"/>
            <a:ext cx="231840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2164888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596888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596888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596888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585052"/>
            <a:ext cx="1092960" cy="965894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585052"/>
            <a:ext cx="3510720" cy="96589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585052"/>
            <a:ext cx="3510720" cy="96589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658947"/>
            <a:ext cx="1092960" cy="880164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658947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658947"/>
            <a:ext cx="3510720" cy="88016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692000"/>
            <a:ext cx="2616480" cy="258272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データを初日から蓄積</a:t>
            </a:r>
            <a:endParaRPr sz="16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友だち・会員・クリックの履歴は始めた日から蓄積。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半年で約540人の友だちに（弊社シミュレーション）</a:t>
            </a:r>
            <a:endParaRPr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692000"/>
            <a:ext cx="2616480" cy="258272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</a:t>
            </a:r>
            <a:r>
              <a:rPr sz="14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作り直しを避ける</a:t>
            </a:r>
            <a:endParaRPr sz="14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</a:t>
            </a:r>
            <a:endParaRPr lang="en-US"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リニューアルの要件に</a:t>
            </a:r>
            <a:endParaRPr lang="en-US"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入れれば</a:t>
            </a: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サイトの二度手間を避けられる</a:t>
            </a: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692000"/>
            <a:ext cx="2616480" cy="2582726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4436726"/>
            <a:ext cx="1192320" cy="355972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507920"/>
            <a:ext cx="7054560" cy="213583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2052240" y="4739303"/>
            <a:ext cx="7054560" cy="24917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5077477"/>
            <a:ext cx="1192320" cy="355972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5148672"/>
            <a:ext cx="3312000" cy="213583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5364240" y="5148672"/>
            <a:ext cx="3742560" cy="213583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2052240" y="5380054"/>
            <a:ext cx="3312000" cy="24917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791233"/>
            <a:ext cx="8319744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ご契約後すぐに構築を始め、4月のリニューアルと同時に運用を本格化することをご提案します。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91521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311210"/>
            <a:ext cx="2616480" cy="16873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Profile+で、入力ほぼなしで会員登録。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同じ画面で友だち追加もあわせてご案内。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91521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311210"/>
            <a:ext cx="2616480" cy="16873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会員名簿にLINEの情報を保存し、職種・地域・資格で選んで配信できるようにする。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915210"/>
            <a:ext cx="261648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311210"/>
            <a:ext cx="2616480" cy="16873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</a:t>
            </a:r>
            <a:endParaRPr lang="en-US" sz="1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5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リッチメニューや配信からそのまま開けるようにする</a:t>
            </a:r>
            <a:r>
              <a:rPr sz="15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160530"/>
            <a:ext cx="8319744" cy="110625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5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5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4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428789"/>
            <a:ext cx="8319744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スケジュール｜ご契約後に構築、4月に運用を本格化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ご契約後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Profile+の申請、サイト・配信ツールとLINEをつなぐ仕様のすり合わせ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493053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493053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初期構築（この期間は初期費用のみ）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あいさつ・リッチメニュー・配信の設計、各ツールとLINEの連携、離脱防止の設置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28119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928119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LINEを追加してもらう期間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離脱防止ポップアップなどで、LINEを追加してもらう（数字はシミュレーションに含めない）</a:t>
            </a:r>
          </a:p>
        </p:txBody>
      </p:sp>
      <p:sp>
        <p:nvSpPr>
          <p:cNvPr id="12" name="Rounded Rectangle 8"/>
          <p:cNvSpPr/>
          <p:nvPr/>
        </p:nvSpPr>
        <p:spPr>
          <a:xfrm>
            <a:off x="793680" y="3210586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3" name="Rounded Rectangle 9"/>
          <p:cNvSpPr/>
          <p:nvPr/>
        </p:nvSpPr>
        <p:spPr>
          <a:xfrm>
            <a:off x="2085359" y="3210586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リニューアルのサイト制作への組み込み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サンクスLINE誘導・Profile+の実装を、リニューアルのサイト制作に組み込む</a:t>
            </a:r>
          </a:p>
        </p:txBody>
      </p:sp>
      <p:sp>
        <p:nvSpPr>
          <p:cNvPr id="14" name="Rounded Rectangle 10"/>
          <p:cNvSpPr/>
          <p:nvPr/>
        </p:nvSpPr>
        <p:spPr>
          <a:xfrm>
            <a:off x="793680" y="4645652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5" name="Rounded Rectangle 11"/>
          <p:cNvSpPr/>
          <p:nvPr/>
        </p:nvSpPr>
        <p:spPr>
          <a:xfrm>
            <a:off x="2085359" y="4645652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リニューアル公開と同時に運用を本格化（月額の固定費）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「LINEで登録」・サンクスLINE誘導が稼働し、計測と配信を本格化</a:t>
            </a:r>
          </a:p>
        </p:txBody>
      </p:sp>
      <p:sp>
        <p:nvSpPr>
          <p:cNvPr id="16" name="Rounded Rectangle 12"/>
          <p:cNvSpPr/>
          <p:nvPr/>
        </p:nvSpPr>
        <p:spPr>
          <a:xfrm>
            <a:off x="793680" y="5363185"/>
            <a:ext cx="1192320" cy="612814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7" name="Rounded Rectangle 13"/>
          <p:cNvSpPr/>
          <p:nvPr/>
        </p:nvSpPr>
        <p:spPr>
          <a:xfrm>
            <a:off x="2085359" y="5363185"/>
            <a:ext cx="7028064" cy="612814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Profile+の審査期間は、申請内容により変わります／組み込みの時期は、サイト制作の進行に応じて決定／求人ボックス・Indeed経由の応募者への導線は、着地先を確認のうえ決定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4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203220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4549320"/>
            <a:ext cx="2616480" cy="14076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800596"/>
              </p:ext>
            </p:extLst>
          </p:nvPr>
        </p:nvGraphicFramePr>
        <p:xfrm>
          <a:off x="432000" y="1930482"/>
          <a:ext cx="5256000" cy="2787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2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360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89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30015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4014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5274000"/>
            <a:ext cx="9043200" cy="54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65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816540"/>
          <a:ext cx="8319744" cy="109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5335920"/>
            <a:ext cx="8319744" cy="4968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3312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156398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239200"/>
            <a:ext cx="1656000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3973200" y="2156398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777400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860200"/>
            <a:ext cx="1599705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916905" y="2777400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398400"/>
            <a:ext cx="145728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481200"/>
            <a:ext cx="1548101" cy="28979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3865301" y="3398400"/>
            <a:ext cx="596160" cy="45540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102200"/>
            <a:ext cx="3643200" cy="993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　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資格を持つ方が集まる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33120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293950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4102200"/>
            <a:ext cx="4404960" cy="9936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5344200"/>
            <a:ext cx="8319744" cy="4968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928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8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8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92800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143226</TotalTime>
  <Words>2937</Words>
  <Application>Microsoft Office PowerPoint</Application>
  <PresentationFormat>A4 210 x 297 mm</PresentationFormat>
  <Paragraphs>706</Paragraphs>
  <Slides>34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1964</cp:revision>
  <cp:lastPrinted>2022-11-01T11:38:14Z</cp:lastPrinted>
  <dcterms:created xsi:type="dcterms:W3CDTF">2015-09-04T09:21:15Z</dcterms:created>
  <dcterms:modified xsi:type="dcterms:W3CDTF">2026-10-02T09:30:20Z</dcterms:modified>
</cp:coreProperties>
</file>