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980" r:id="rId5"/>
    <p:sldId id="2990" r:id="rId6"/>
    <p:sldId id="2989" r:id="rId7"/>
    <p:sldId id="299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ADB503-11C4-425B-A736-23C33D9938E3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A9E9D-4A4A-4166-8270-33471B0647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440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51486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49702F-8A4F-709C-2C65-3015B4F71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75122ED-519B-BBFD-4FF0-535E973E4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9C421A-06B9-7903-8401-53155F611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1925B7-BA24-ED3C-0324-ABEFA062F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1CE155-C732-A1D2-482D-E2E1A678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3884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3F31F6-8388-AEBC-B2E5-DB0D124E2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E2C431-F02F-E92A-D523-334D2E8ED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17E735-4F7B-FDCD-5B55-4230E2BE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FA131C-E7AA-470A-7002-B2592240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C6425E-CD34-A4AD-2EC6-238EF266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217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5E14A1-2435-70AA-ECD3-F184DCE8D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D71F8B-D30A-18C3-6BE1-97E876104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B75879-0BEE-0234-47C4-F91A38074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DD042E-92E5-E1F8-F9A3-0E396D82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3DCC17-BC6F-7754-E3E9-560E744EC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5682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F68182-FD77-C139-7909-002FC2505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4132A6-7C6D-EBEB-03DF-496C55842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3C43F46-06DA-1719-794F-71D39BA1A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623E9B-BE70-D4A9-508A-A4AB347D5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BA8DF8-5170-ACF9-DC45-9576B12E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1A0FA1-90FF-DAF4-D4EA-2D4AE3F6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6829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8FD0B1-B984-370B-DD57-A4BDA56A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12CBA5-D4A6-57A4-B9F8-A531630F7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42D0E0-AFCA-885F-71D8-766948DB6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52A1C5-9F0C-4BD9-1134-52FE5D285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3570680-C2FC-9CB7-BA24-AC14126E9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2CB2C35-B875-5C24-DB80-753B69E98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AE44CC5-E48E-C2BE-9BA1-3F94A795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5764C57-7308-53B8-10BB-07204410B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62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A1268B-ACA2-7C72-2BFF-30268DDF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D6C917D-0C3D-7547-01E4-E3694739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5F0E5F0-C187-1EE3-B440-E209E297B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B7FA21-AA83-C197-7677-BD10C309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37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5FE9FA-1251-1F86-F030-163024C64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522ABDE-557F-D9AA-3C22-252D2E7F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283466-2B75-2BA5-B617-1FD233EC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42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464C99-40BC-68AF-B650-0C85B2C53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9EA8EC-E891-14D1-5E67-9D0D81414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06A3C7-B6A3-8042-30F8-B366DAC6F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6DFBA30-F565-1398-8E1B-CF43D272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3724BC-1839-B513-5201-DA1384221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9060A79-0870-AD47-8964-372240C7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393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8C4E1F-5F23-E0F7-4BFB-E68E0D44A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C20B896-2E56-4A9D-79EB-85CDBF657AA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5856FF-9894-4D62-1A1A-8D2F4487A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13EFD74-E509-A707-BBE4-F27BF7B9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808A2EE-FCEC-F968-4615-4E0002D5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133AAC-C398-C815-5A75-D2DE53B7D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6108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CBD7F4-F028-F095-7D31-E1F35165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2279AF-6918-897B-541B-BF4035CC4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3B388C-BC99-57A2-1E5F-9B31BF0E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48A0FF-C8FB-B519-91A3-392D8C345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E2C7B3-6A37-F889-F02F-630D951E4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5302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6B0DEA-F57C-0086-EC23-927C88257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4949401-79C9-B76F-726D-CE6C1E25B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112D7A-981D-3DB7-2DB9-5DE2835E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225BCC-9A50-9A32-DA78-2C2DBED9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B9FB74-930B-A79A-4D7E-5A9EB89F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2533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555328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758809"/>
      </p:ext>
    </p:extLst>
  </p:cSld>
  <p:clrMapOvr>
    <a:masterClrMapping/>
  </p:clrMapOvr>
  <p:hf hd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9AB3B1-9163-7916-BA28-D616AC3CF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C22076-B851-8422-D953-9A35BB882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DCB511-4A25-BC2E-13FE-DEE18EE330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4276C-A778-45B0-B940-54814FCC5D20}" type="datetimeFigureOut">
              <a:rPr kumimoji="1" lang="ja-JP" altLang="en-US" smtClean="0"/>
              <a:t>2026/9/25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C8493E-7314-7ED2-2067-30B2464D5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55FE25-5AD9-4F67-50D8-307B2030E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7F2DE-104C-47A9-8474-9B2A5E2A5C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9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0000" y="108000"/>
            <a:ext cx="10080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施策の設計図①　友だち追加の動線</a:t>
            </a:r>
          </a:p>
        </p:txBody>
      </p:sp>
      <p:sp>
        <p:nvSpPr>
          <p:cNvPr id="3" name="Pentagon 2"/>
          <p:cNvSpPr/>
          <p:nvPr/>
        </p:nvSpPr>
        <p:spPr>
          <a:xfrm>
            <a:off x="432000" y="612000"/>
            <a:ext cx="1397249" cy="198000"/>
          </a:xfrm>
          <a:prstGeom prst="homePlat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4" name="Chevron 3"/>
          <p:cNvSpPr/>
          <p:nvPr/>
        </p:nvSpPr>
        <p:spPr>
          <a:xfrm>
            <a:off x="1850849" y="612000"/>
            <a:ext cx="1397249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5" name="Chevron 4"/>
          <p:cNvSpPr/>
          <p:nvPr/>
        </p:nvSpPr>
        <p:spPr>
          <a:xfrm>
            <a:off x="3269700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6" name="Chevron 5"/>
          <p:cNvSpPr/>
          <p:nvPr/>
        </p:nvSpPr>
        <p:spPr>
          <a:xfrm>
            <a:off x="4688549" y="612000"/>
            <a:ext cx="1397249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7" name="Chevron 6"/>
          <p:cNvSpPr/>
          <p:nvPr/>
        </p:nvSpPr>
        <p:spPr>
          <a:xfrm>
            <a:off x="6107400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8" name="Chevron 7"/>
          <p:cNvSpPr/>
          <p:nvPr/>
        </p:nvSpPr>
        <p:spPr>
          <a:xfrm>
            <a:off x="75262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9" name="Chevron 8"/>
          <p:cNvSpPr/>
          <p:nvPr/>
        </p:nvSpPr>
        <p:spPr>
          <a:xfrm>
            <a:off x="894509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0" name="Chevron 9"/>
          <p:cNvSpPr/>
          <p:nvPr/>
        </p:nvSpPr>
        <p:spPr>
          <a:xfrm>
            <a:off x="103639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882000"/>
            <a:ext cx="113292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どこで、何を訴求して、月に何人がLINEの友だちになるか（大手1社・サイトUU 約28万／月のモデル値）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386000"/>
            <a:ext cx="1219211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2000" y="6533999"/>
            <a:ext cx="113292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※サイトUUは大手の有名塾の実数（SimilarWeb）を参考にしたモデル値。係数はDYM SIMの型。チラシ・教室のQRは計測できないため数えていない。費用は税抜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548000"/>
            <a:ext cx="2808000" cy="2880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1999" y="1548000"/>
            <a:ext cx="4464000" cy="2880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47999" y="1548000"/>
            <a:ext cx="1800000" cy="2880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19999" y="1548000"/>
            <a:ext cx="1969200" cy="2880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1944000"/>
            <a:ext cx="2808000" cy="1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0000" y="2350800"/>
            <a:ext cx="503999" cy="450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999" y="1944000"/>
            <a:ext cx="2106000" cy="12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57999" y="2574000"/>
            <a:ext cx="216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491999" y="1944000"/>
            <a:ext cx="4356000" cy="1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「まだ決めなくて大丈夫です」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65999" y="2574000"/>
            <a:ext cx="198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082000" y="1944000"/>
            <a:ext cx="1565999" cy="126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2,200人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／月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7999" y="2934000"/>
            <a:ext cx="4284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28.4万UU×表示55%×クリック12%×追加12%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20000" y="1944000"/>
            <a:ext cx="1969200" cy="1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月3万円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初期1.5万円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" y="3348000"/>
            <a:ext cx="2808000" cy="1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0000" y="3754800"/>
            <a:ext cx="503999" cy="450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" rIns="7200" tIns="18000" bIns="18000"/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5999" y="3348000"/>
            <a:ext cx="2106000" cy="12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完了画面からの誘導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57999" y="3978000"/>
            <a:ext cx="216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491999" y="3348000"/>
            <a:ext cx="4356000" cy="1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「日程の確認・変更はLINEで」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65999" y="3978000"/>
            <a:ext cx="198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082000" y="3348000"/>
            <a:ext cx="1565999" cy="126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300人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／月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7999" y="4338000"/>
            <a:ext cx="4284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資料請求・体験予約の完了 月2,000件×15%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0000" y="3348000"/>
            <a:ext cx="1969200" cy="1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月5万円</a:t>
            </a:r>
          </a:p>
          <a:p>
            <a:pPr algn="ctr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初期10万円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000" y="4824000"/>
            <a:ext cx="11329200" cy="612000"/>
          </a:xfrm>
          <a:prstGeom prst="roundRect">
            <a:avLst>
              <a:gd name="adj" fmla="val 15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新しい友だち　合計 月2,500人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000" y="5616000"/>
            <a:ext cx="11329200" cy="57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一番大きいのは、サイトから帰ろうとする保護者を拾う「離脱防止ポップアップ」。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広告費を足さずに、すでにサイトに来ている保護者とつながれる。</a:t>
            </a:r>
          </a:p>
        </p:txBody>
      </p:sp>
    </p:spTree>
    <p:extLst>
      <p:ext uri="{BB962C8B-B14F-4D97-AF65-F5344CB8AC3E}">
        <p14:creationId xmlns:p14="http://schemas.microsoft.com/office/powerpoint/2010/main" val="372576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0000" y="108000"/>
            <a:ext cx="10080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施策の設計図②　効率改善（ステップ配信・企画配信）</a:t>
            </a:r>
          </a:p>
        </p:txBody>
      </p:sp>
      <p:sp>
        <p:nvSpPr>
          <p:cNvPr id="3" name="Pentagon 2"/>
          <p:cNvSpPr/>
          <p:nvPr/>
        </p:nvSpPr>
        <p:spPr>
          <a:xfrm>
            <a:off x="432000" y="612000"/>
            <a:ext cx="1397249" cy="198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4" name="Chevron 3"/>
          <p:cNvSpPr/>
          <p:nvPr/>
        </p:nvSpPr>
        <p:spPr>
          <a:xfrm>
            <a:off x="18508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5" name="Chevron 4"/>
          <p:cNvSpPr/>
          <p:nvPr/>
        </p:nvSpPr>
        <p:spPr>
          <a:xfrm>
            <a:off x="3269700" y="612000"/>
            <a:ext cx="1397249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6" name="Chevron 5"/>
          <p:cNvSpPr/>
          <p:nvPr/>
        </p:nvSpPr>
        <p:spPr>
          <a:xfrm>
            <a:off x="46885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7" name="Chevron 6"/>
          <p:cNvSpPr/>
          <p:nvPr/>
        </p:nvSpPr>
        <p:spPr>
          <a:xfrm>
            <a:off x="6107400" y="612000"/>
            <a:ext cx="1397249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8" name="Chevron 7"/>
          <p:cNvSpPr/>
          <p:nvPr/>
        </p:nvSpPr>
        <p:spPr>
          <a:xfrm>
            <a:off x="7526249" y="612000"/>
            <a:ext cx="1397249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9" name="Chevron 8"/>
          <p:cNvSpPr/>
          <p:nvPr/>
        </p:nvSpPr>
        <p:spPr>
          <a:xfrm>
            <a:off x="894509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0" name="Chevron 9"/>
          <p:cNvSpPr/>
          <p:nvPr/>
        </p:nvSpPr>
        <p:spPr>
          <a:xfrm>
            <a:off x="103639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882000"/>
            <a:ext cx="113292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14日間のステップ配信と、時期に合わせた企画配信で、資料請求（CV①）と体験予約（CV②）を取る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386000"/>
            <a:ext cx="1219211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2000" y="6533999"/>
            <a:ext cx="113292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※大手1社（サイトUU 約28万／月）のモデル値。開封率・クリック率＝DYM SIMの係数（ステップ 72.5%×12%／企画 78%×10%）、CVR＝0.3〜1.0%。件数は四捨五入。通知メッセージのみ別途費用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548000"/>
            <a:ext cx="5520600" cy="32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8000" bIns="18000"/>
          <a:lstStyle/>
          <a:p>
            <a:pPr algn="l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[ステップ配信]　友だち追加から14日間・自動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1890000"/>
            <a:ext cx="55206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対象：新しい友だち 月2,500人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142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0日後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48000" y="2142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あいさつ＋30秒診断 → 資料を受け取る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88599" y="2142000"/>
            <a:ext cx="1764000" cy="4788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3件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CV① 資料請求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8599" y="2628000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2,500人×100%×12%×1.0%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2844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3日後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8000" y="2844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家でできる勉強のコツ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88599" y="2844000"/>
            <a:ext cx="1764000" cy="478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信頼づくり</a:t>
            </a:r>
          </a:p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CVは狙わない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8599" y="3330000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2,500人×72.5%×12%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3546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5日後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48000" y="3546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月謝＋講習費の年間の目安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88599" y="3546000"/>
            <a:ext cx="1764000" cy="4788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CV① 資料請求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8599" y="4031999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2,500人×72.5%×12%×1.0%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000" y="4248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7日後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48000" y="4248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同じタイプの子の事例＋体験のご案内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88599" y="4248000"/>
            <a:ext cx="1764000" cy="4788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8599" y="4734000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2,500人×72.5%×12%×0.8%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2000" y="4950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14日後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48000" y="4950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次のテストから逆算＋体験のご案内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8599" y="4950000"/>
            <a:ext cx="1764000" cy="4788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8599" y="5436000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2,500人×72.5%×12%×1.0%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0600" y="1548000"/>
            <a:ext cx="5520600" cy="32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8000" bIns="18000"/>
          <a:lstStyle/>
          <a:p>
            <a:pPr algn="l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[企画配信]　時期に合わせて月1〜2本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0600" y="1890000"/>
            <a:ext cx="55206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対象：友だち 累計約10,000人（ブロックを除いて約6,800人）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40600" y="2142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56600" y="2142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新学年で変わること（学年別）＋体験のご案内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97200" y="2142000"/>
            <a:ext cx="1764000" cy="4788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5件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97200" y="2628000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6,800人×78%×10%×1.0%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40600" y="2844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56600" y="2844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中間テスト後（中学生の保護者）：点数の見方＋苦手単元チェック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97200" y="2844000"/>
            <a:ext cx="1764000" cy="4788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2件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97200" y="3330000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2,700人×78%×10%×0.8%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40600" y="3546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56600" y="3546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夏期講習の早期申込特典＋無料体験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97200" y="3546000"/>
            <a:ext cx="1764000" cy="4788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5件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97200" y="4031999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6,800人×78%×10%×1.0%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0600" y="4248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10月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56600" y="4248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2学期の中間テスト後＋冬期講習の早期案内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97200" y="4248000"/>
            <a:ext cx="1764000" cy="4788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3件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CV② 体験予約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97200" y="4734000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6,800人×78%×10%×0.6%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40600" y="4950000"/>
            <a:ext cx="1072800" cy="630000"/>
          </a:xfrm>
          <a:prstGeom prst="rect">
            <a:avLst/>
          </a:prstGeom>
          <a:solidFill>
            <a:srgbClr val="F4F7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56600" y="4950000"/>
            <a:ext cx="2597399" cy="6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8000" bIns="18000"/>
          <a:lstStyle/>
          <a:p>
            <a:pPr algn="l"/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冬期講習の前：体験・入会に至らなかった人へ再案内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97200" y="4950000"/>
            <a:ext cx="1764000" cy="478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/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実績で計算</a:t>
            </a:r>
          </a:p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97200" y="5436000"/>
            <a:ext cx="1764000" cy="14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ctr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通知メッセージ・別途費用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2000" y="5742000"/>
            <a:ext cx="11329200" cy="684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ステップ配信で毎月　資料請求 約5件・体験予約 約4件</a:t>
            </a:r>
          </a:p>
          <a:p>
            <a:pPr algn="ctr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企画配信は1回あたり　体験予約 2〜5件（年間の全体は別ページ）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0000" y="108000"/>
            <a:ext cx="10080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施策の設計図③　満足度改善（保護者）</a:t>
            </a:r>
          </a:p>
        </p:txBody>
      </p:sp>
      <p:sp>
        <p:nvSpPr>
          <p:cNvPr id="3" name="Pentagon 2"/>
          <p:cNvSpPr/>
          <p:nvPr/>
        </p:nvSpPr>
        <p:spPr>
          <a:xfrm>
            <a:off x="432000" y="612000"/>
            <a:ext cx="1397249" cy="198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4" name="Chevron 3"/>
          <p:cNvSpPr/>
          <p:nvPr/>
        </p:nvSpPr>
        <p:spPr>
          <a:xfrm>
            <a:off x="18508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5" name="Chevron 4"/>
          <p:cNvSpPr/>
          <p:nvPr/>
        </p:nvSpPr>
        <p:spPr>
          <a:xfrm>
            <a:off x="3269700" y="612000"/>
            <a:ext cx="1397249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6" name="Chevron 5"/>
          <p:cNvSpPr/>
          <p:nvPr/>
        </p:nvSpPr>
        <p:spPr>
          <a:xfrm>
            <a:off x="46885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7" name="Chevron 6"/>
          <p:cNvSpPr/>
          <p:nvPr/>
        </p:nvSpPr>
        <p:spPr>
          <a:xfrm>
            <a:off x="6107400" y="612000"/>
            <a:ext cx="1397249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8" name="Chevron 7"/>
          <p:cNvSpPr/>
          <p:nvPr/>
        </p:nvSpPr>
        <p:spPr>
          <a:xfrm>
            <a:off x="75262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9" name="Chevron 8"/>
          <p:cNvSpPr/>
          <p:nvPr/>
        </p:nvSpPr>
        <p:spPr>
          <a:xfrm>
            <a:off x="894509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0" name="Chevron 9"/>
          <p:cNvSpPr/>
          <p:nvPr/>
        </p:nvSpPr>
        <p:spPr>
          <a:xfrm>
            <a:off x="103639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882000"/>
            <a:ext cx="113292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保護者の疑問に、待たせずに答える。すぐ答えられることは自動で、相談は人が答える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386000"/>
            <a:ext cx="1219211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2000" y="6533999"/>
            <a:ext cx="113292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※有人対応の時間帯（平日14〜21時）は例。教室の運用に合わせて決める。いずれも月額費用内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584000"/>
            <a:ext cx="1728000" cy="10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QA自動化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6000" y="1584000"/>
            <a:ext cx="5508000" cy="104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料金・コース・対象学年などは、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自動応答ですぐ答える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000" y="2754000"/>
            <a:ext cx="1728000" cy="10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個別チャット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6000" y="2754000"/>
            <a:ext cx="5508000" cy="104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志望校の相談・日程の調整は、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平日14〜21時にスタッフが1対1で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3924000"/>
            <a:ext cx="1728000" cy="10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その他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6000" y="3924000"/>
            <a:ext cx="5508000" cy="104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" bIns="18000"/>
          <a:lstStyle/>
          <a:p>
            <a:pPr algn="l"/>
            <a:r>
              <a:rPr sz="16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リッチメニューの右下に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「無料体験・見学の予約」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5184000"/>
            <a:ext cx="7272000" cy="720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すぐ答える仕組みが、</a:t>
            </a:r>
          </a:p>
          <a:p>
            <a:pPr algn="ctr"/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資料請求・体験予約の取りこぼしを減らす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6000" y="1548000"/>
            <a:ext cx="3600000" cy="4896000"/>
          </a:xfrm>
          <a:prstGeom prst="roundRect">
            <a:avLst>
              <a:gd name="adj" fmla="val 8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44000" y="1763999"/>
            <a:ext cx="3384000" cy="450000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44000" y="1763999"/>
            <a:ext cx="3384000" cy="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l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‹  ◯◯塾 △△教室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72000" y="2196000"/>
            <a:ext cx="1548000" cy="360000"/>
          </a:xfrm>
          <a:prstGeom prst="roundRect">
            <a:avLst>
              <a:gd name="adj" fmla="val 30000"/>
            </a:avLst>
          </a:prstGeom>
          <a:solidFill>
            <a:srgbClr val="A6E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料金はいくら？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52000" y="2628000"/>
            <a:ext cx="2808000" cy="93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（自動応答）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コース別の月謝の目安です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・小学生　◯◯円〜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・中学生　◯◯円〜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12000" y="3671999"/>
            <a:ext cx="1908000" cy="360000"/>
          </a:xfrm>
          <a:prstGeom prst="roundRect">
            <a:avLst>
              <a:gd name="adj" fmla="val 30000"/>
            </a:avLst>
          </a:prstGeom>
          <a:solidFill>
            <a:srgbClr val="A6E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志望校の相談をしたい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52000" y="4103999"/>
            <a:ext cx="2808000" cy="68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（教室長の佐藤です）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お子さまの学年を教えて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いただけますか？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4000" y="4968000"/>
            <a:ext cx="1128000" cy="64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30秒診断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000" y="4968000"/>
            <a:ext cx="1128000" cy="64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コース・料金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00000" y="4968000"/>
            <a:ext cx="1128000" cy="64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教室・講師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44000" y="5616000"/>
            <a:ext cx="1128000" cy="64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資料を</a:t>
            </a:r>
          </a:p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受け取る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000" y="5616000"/>
            <a:ext cx="1128000" cy="64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友だちと</a:t>
            </a:r>
          </a:p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00000" y="5616000"/>
            <a:ext cx="1128000" cy="648000"/>
          </a:xfrm>
          <a:prstGeom prst="rect">
            <a:avLst/>
          </a:prstGeom>
          <a:solidFill>
            <a:srgbClr val="C00000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" rIns="10800" tIns="18000" bIns="18000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無料体験・</a:t>
            </a:r>
          </a:p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見学の予約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0000" y="108000"/>
            <a:ext cx="10080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施策の設計図④　効率改善（教室・運用側）</a:t>
            </a:r>
          </a:p>
        </p:txBody>
      </p:sp>
      <p:sp>
        <p:nvSpPr>
          <p:cNvPr id="3" name="Pentagon 2"/>
          <p:cNvSpPr/>
          <p:nvPr/>
        </p:nvSpPr>
        <p:spPr>
          <a:xfrm>
            <a:off x="432000" y="612000"/>
            <a:ext cx="1397249" cy="198000"/>
          </a:xfrm>
          <a:prstGeom prst="homePlate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①接触</a:t>
            </a:r>
          </a:p>
        </p:txBody>
      </p:sp>
      <p:sp>
        <p:nvSpPr>
          <p:cNvPr id="4" name="Chevron 3"/>
          <p:cNvSpPr/>
          <p:nvPr/>
        </p:nvSpPr>
        <p:spPr>
          <a:xfrm>
            <a:off x="18508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②離脱</a:t>
            </a:r>
          </a:p>
        </p:txBody>
      </p:sp>
      <p:sp>
        <p:nvSpPr>
          <p:cNvPr id="5" name="Chevron 4"/>
          <p:cNvSpPr/>
          <p:nvPr/>
        </p:nvSpPr>
        <p:spPr>
          <a:xfrm>
            <a:off x="3269700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③育成</a:t>
            </a:r>
          </a:p>
        </p:txBody>
      </p:sp>
      <p:sp>
        <p:nvSpPr>
          <p:cNvPr id="6" name="Chevron 5"/>
          <p:cNvSpPr/>
          <p:nvPr/>
        </p:nvSpPr>
        <p:spPr>
          <a:xfrm>
            <a:off x="46885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④リード獲得</a:t>
            </a:r>
          </a:p>
        </p:txBody>
      </p:sp>
      <p:sp>
        <p:nvSpPr>
          <p:cNvPr id="7" name="Chevron 6"/>
          <p:cNvSpPr/>
          <p:nvPr/>
        </p:nvSpPr>
        <p:spPr>
          <a:xfrm>
            <a:off x="6107400" y="612000"/>
            <a:ext cx="1397249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⑤リード有効化</a:t>
            </a:r>
          </a:p>
        </p:txBody>
      </p:sp>
      <p:sp>
        <p:nvSpPr>
          <p:cNvPr id="8" name="Chevron 7"/>
          <p:cNvSpPr/>
          <p:nvPr/>
        </p:nvSpPr>
        <p:spPr>
          <a:xfrm>
            <a:off x="75262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⑥再育成</a:t>
            </a:r>
          </a:p>
        </p:txBody>
      </p:sp>
      <p:sp>
        <p:nvSpPr>
          <p:cNvPr id="9" name="Chevron 8"/>
          <p:cNvSpPr/>
          <p:nvPr/>
        </p:nvSpPr>
        <p:spPr>
          <a:xfrm>
            <a:off x="8945099" y="612000"/>
            <a:ext cx="1397249" cy="198000"/>
          </a:xfrm>
          <a:prstGeom prst="chevron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⑦入会（契約）</a:t>
            </a:r>
          </a:p>
        </p:txBody>
      </p:sp>
      <p:sp>
        <p:nvSpPr>
          <p:cNvPr id="10" name="Chevron 9"/>
          <p:cNvSpPr/>
          <p:nvPr/>
        </p:nvSpPr>
        <p:spPr>
          <a:xfrm>
            <a:off x="10363949" y="612000"/>
            <a:ext cx="1397249" cy="198000"/>
          </a:xfrm>
          <a:prstGeom prst="chevron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00" b="1">
                <a:solidFill>
                  <a:srgbClr val="A6A6A6"/>
                </a:solidFill>
                <a:latin typeface="メイリオ"/>
                <a:ea typeface="メイリオ"/>
                <a:cs typeface="メイリオ"/>
              </a:rPr>
              <a:t>⑧紹介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882000"/>
            <a:ext cx="113292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l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予約の受付・日程変更・持ち物の案内はLINEで自動に。LINE経由の成果も毎月数字で見える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0" y="1386000"/>
            <a:ext cx="1219211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2000" y="6533999"/>
            <a:ext cx="113292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000" rIns="18000" tIns="18000" bIns="18000"/>
          <a:lstStyle/>
          <a:p>
            <a:pPr algn="l"/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※GA4のパラメータ（utm）でLINE経由の流入と資料請求・体験予約を計測。いずれも月額費用内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565999"/>
            <a:ext cx="11329200" cy="32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8000" bIns="18000"/>
          <a:lstStyle/>
          <a:p>
            <a:pPr algn="l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[自動応答]　体験予約の流れ（教室は当日迎えるだけ）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2015999"/>
            <a:ext cx="16632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  <a:p>
            <a:pPr algn="ctr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体験予約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13200" y="2556000"/>
            <a:ext cx="234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65200" y="2015999"/>
            <a:ext cx="16632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日時を選ぶ</a:t>
            </a:r>
          </a:p>
          <a:p>
            <a:pPr algn="ctr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空き枠から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46400" y="2556000"/>
            <a:ext cx="234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98400" y="2015999"/>
            <a:ext cx="16632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予約完了を</a:t>
            </a:r>
          </a:p>
          <a:p>
            <a:pPr algn="ctr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自動で送る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79600" y="2556000"/>
            <a:ext cx="233999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31600" y="2015999"/>
            <a:ext cx="16632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前日に</a:t>
            </a:r>
          </a:p>
          <a:p>
            <a:pPr algn="ctr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持ち物・地図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12800" y="2556000"/>
            <a:ext cx="234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64800" y="2015999"/>
            <a:ext cx="166320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日程の変更も</a:t>
            </a:r>
          </a:p>
          <a:p>
            <a:pPr algn="ctr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LINEで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46000" y="2556000"/>
            <a:ext cx="234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98000" y="2015999"/>
            <a:ext cx="1663200" cy="1080000"/>
          </a:xfrm>
          <a:prstGeom prst="roundRect">
            <a:avLst>
              <a:gd name="adj" fmla="val 8000"/>
            </a:avLst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5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教室は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迎えるだけ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3384000"/>
            <a:ext cx="11329200" cy="32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8000" bIns="18000"/>
          <a:lstStyle/>
          <a:p>
            <a:pPr algn="l"/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[その他]　LINE経由の成果を数える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34000"/>
            <a:ext cx="204984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LINEの配信</a:t>
            </a:r>
          </a:p>
          <a:p>
            <a:pPr algn="ctr"/>
            <a:r>
              <a:rPr sz="14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リンクに目印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99840" y="4374000"/>
            <a:ext cx="234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751840" y="3834000"/>
            <a:ext cx="204984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</a:t>
            </a:r>
          </a:p>
          <a:p>
            <a:pPr algn="ctr"/>
            <a:r>
              <a:rPr sz="14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GA4で見分ける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19680" y="4374000"/>
            <a:ext cx="234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71680" y="3834000"/>
            <a:ext cx="204984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7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資料請求</a:t>
            </a:r>
          </a:p>
          <a:p>
            <a:pPr algn="ctr"/>
            <a:r>
              <a:rPr sz="14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CV①を計測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9520" y="4374000"/>
            <a:ext cx="234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91520" y="3834000"/>
            <a:ext cx="204984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7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体験予約</a:t>
            </a:r>
          </a:p>
          <a:p>
            <a:pPr algn="ctr"/>
            <a:r>
              <a:rPr sz="14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CV②を計測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59360" y="4374000"/>
            <a:ext cx="234000" cy="0"/>
          </a:xfrm>
          <a:prstGeom prst="line">
            <a:avLst/>
          </a:prstGeom>
          <a:ln w="31750">
            <a:solidFill>
              <a:srgbClr val="1F28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711360" y="3834000"/>
            <a:ext cx="2049840" cy="10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8EA9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月次レポート</a:t>
            </a:r>
          </a:p>
          <a:p>
            <a:pPr algn="ctr"/>
            <a:r>
              <a:rPr sz="14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定例会で共有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2000" y="5256000"/>
            <a:ext cx="11329200" cy="6840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18000" bIns="18000"/>
          <a:lstStyle/>
          <a:p>
            <a:pPr algn="ctr"/>
            <a:r>
              <a:rPr sz="1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教室の手間を増やさずに、LINE経由の成果が毎月数字で見える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53F783AEBA63A47B355D99EEBE5EF6B" ma:contentTypeVersion="4" ma:contentTypeDescription="新しいドキュメントを作成します。" ma:contentTypeScope="" ma:versionID="07f14929e3b694df116cea7cc01cd8cb">
  <xsd:schema xmlns:xsd="http://www.w3.org/2001/XMLSchema" xmlns:xs="http://www.w3.org/2001/XMLSchema" xmlns:p="http://schemas.microsoft.com/office/2006/metadata/properties" xmlns:ns3="74a6d780-e12a-4658-89ae-3d70d7649c35" targetNamespace="http://schemas.microsoft.com/office/2006/metadata/properties" ma:root="true" ma:fieldsID="90da7d49f7a060a474209752ae9484e6" ns3:_="">
    <xsd:import namespace="74a6d780-e12a-4658-89ae-3d70d7649c3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6d780-e12a-4658-89ae-3d70d7649c3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A2F3B1-A10A-40EE-8858-75815B17A6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4a6d780-e12a-4658-89ae-3d70d7649c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834A1B-465A-471D-961E-8055DA4459D6}">
  <ds:schemaRefs>
    <ds:schemaRef ds:uri="http://schemas.microsoft.com/office/2006/documentManagement/types"/>
    <ds:schemaRef ds:uri="74a6d780-e12a-4658-89ae-3d70d7649c35"/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C7C3245-C3AE-4598-A795-C4CE01D8F9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820</Words>
  <Application>Microsoft Office PowerPoint</Application>
  <PresentationFormat>ワイド画面</PresentationFormat>
  <Paragraphs>247</Paragraphs>
  <Slides>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殿村 亮太</dc:creator>
  <cp:lastModifiedBy>殿村 亮太</cp:lastModifiedBy>
  <cp:revision>1</cp:revision>
  <dcterms:created xsi:type="dcterms:W3CDTF">2026-09-25T08:15:05Z</dcterms:created>
  <dcterms:modified xsi:type="dcterms:W3CDTF">2026-09-25T08:16:27Z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0x010100353F783AEBA63A47B355D99EEBE5EF6B</vt:lpwstr>
  </property>
</Properties>
</file>