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8"/>
  </p:notesMasterIdLst>
  <p:handoutMasterIdLst>
    <p:handoutMasterId r:id="rId9"/>
  </p:handoutMasterIdLst>
  <p:sldIdLst>
    <p:sldId id="2971" r:id="rId3"/>
    <p:sldId id="2972" r:id="rId4"/>
    <p:sldId id="2904" r:id="rId5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FA0A"/>
    <a:srgbClr val="173559"/>
    <a:srgbClr val="FDFDFD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1236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8" Type="http://schemas.openxmlformats.org/officeDocument/2006/relationships/notesMaster" Target="notesMasters/notesMaster1.xml"/><Relationship Id="rId9" Type="http://schemas.openxmlformats.org/officeDocument/2006/relationships/handoutMaster" Target="handoutMasters/handout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2026/9/30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15D0A-BA72-DE45-32FA-363803F14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7D2F8A3-D4B3-B9E6-A613-A157696B87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33FBD4A-B575-3375-091A-F6A24B5A9B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CAEAEB9-E37C-569F-CBB7-45D65E2A09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38476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81540-B398-8C02-E1F2-1F1C4798C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A82C74D-328C-FB0E-E710-C92A52BEF4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75EB1E7-3A4C-2E0A-CA67-686800FA87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173A52D-F6CC-DC20-5CFE-D4EBA25ECC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3798680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A8E8E-25CB-4B86-C4F6-E5A702358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61078"/>
            <a:ext cx="8784000" cy="2898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LINEは、申込みの「後」につながる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817379"/>
            <a:ext cx="9036000" cy="3452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lang="en-US" altLang="ja-JP"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</a:t>
            </a:r>
            <a:r>
              <a:rPr lang="ja-JP" altLang="en-US"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で、</a:t>
            </a: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来店・成約・リピート</a:t>
            </a:r>
            <a:r>
              <a:rPr lang="ja-JP" altLang="en-US"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まで追う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2323800"/>
            <a:ext cx="1872000" cy="1080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広告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412000" y="2701801"/>
            <a:ext cx="324000" cy="324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2844000" y="2323800"/>
            <a:ext cx="1872000" cy="1080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申込み</a:t>
            </a:r>
          </a:p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資料請求・予約・購入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824000" y="2701801"/>
            <a:ext cx="324000" cy="324000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Right Arrow 9"/>
          <p:cNvSpPr/>
          <p:nvPr/>
        </p:nvSpPr>
        <p:spPr>
          <a:xfrm>
            <a:off x="7236000" y="2701801"/>
            <a:ext cx="324000" cy="324000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432000" y="4212001"/>
            <a:ext cx="9043200" cy="503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申込みの「後」の追い方を変えれば、同じ広告費のまま成果が増える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56000" y="2323800"/>
            <a:ext cx="1872000" cy="1080000"/>
          </a:xfrm>
          <a:prstGeom prst="roundRect">
            <a:avLst>
              <a:gd name="adj" fmla="val 1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</a:t>
            </a:r>
          </a:p>
          <a:p>
            <a:pPr algn="ctr">
              <a:lnSpc>
                <a:spcPct val="120000"/>
              </a:lnSpc>
            </a:pPr>
            <a:r>
              <a:rPr sz="14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リマインド・配信</a:t>
            </a:r>
          </a:p>
          <a:p>
            <a:pPr algn="ctr">
              <a:lnSpc>
                <a:spcPct val="120000"/>
              </a:lnSpc>
            </a:pPr>
            <a:r>
              <a:rPr sz="14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1対1のトーク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68000" y="2323800"/>
            <a:ext cx="1807199" cy="1080000"/>
          </a:xfrm>
          <a:prstGeom prst="roundRect">
            <a:avLst>
              <a:gd name="adj" fmla="val 10000"/>
            </a:avLst>
          </a:prstGeom>
          <a:solidFill>
            <a:srgbClr val="E8F8EE"/>
          </a:solidFill>
          <a:ln w="1905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来店・成約</a:t>
            </a:r>
          </a:p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リピート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2000" y="3529800"/>
            <a:ext cx="4284000" cy="306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広告で追えるところ：申込みまで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256000" y="3529800"/>
            <a:ext cx="4219200" cy="306000"/>
          </a:xfrm>
          <a:prstGeom prst="roundRect">
            <a:avLst>
              <a:gd name="adj" fmla="val 1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LINEで追えるところ：来店・成約・リピートまで</a:t>
            </a:r>
          </a:p>
        </p:txBody>
      </p:sp>
    </p:spTree>
    <p:extLst>
      <p:ext uri="{BB962C8B-B14F-4D97-AF65-F5344CB8AC3E}">
        <p14:creationId xmlns:p14="http://schemas.microsoft.com/office/powerpoint/2010/main" val="23784845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0E5221-666F-DE20-B9E8-FDFC607CC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サンクスLINE｜申込みの直後に、LINEでつながる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57334"/>
            <a:ext cx="9036000" cy="665331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申込みの完了画面から、そのままLINEへ</a:t>
            </a:r>
            <a:r>
              <a:rPr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  <a:endParaRPr lang="en-US"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関心が一番高いタイミング</a:t>
            </a:r>
            <a:r>
              <a:rPr lang="ja-JP" altLang="en-US"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＝</a:t>
            </a: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友だちに</a:t>
            </a:r>
            <a:r>
              <a:rPr lang="ja-JP" altLang="en-US"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なりやすい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525600" y="2052000"/>
            <a:ext cx="1584000" cy="1368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フォーム入力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181600" y="2556000"/>
            <a:ext cx="288000" cy="360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2541600" y="2052000"/>
            <a:ext cx="1872000" cy="1368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申込み完了</a:t>
            </a:r>
          </a:p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購入・予約・資料請求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485600" y="2556000"/>
            <a:ext cx="288000" cy="360000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845600" y="2052000"/>
            <a:ext cx="1440000" cy="1368000"/>
          </a:xfrm>
          <a:prstGeom prst="roundRect">
            <a:avLst>
              <a:gd name="adj" fmla="val 1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600" b="0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ツールで</a:t>
            </a:r>
            <a:endParaRPr sz="1200" b="0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20000"/>
              </a:lnSpc>
            </a:pPr>
            <a:r>
              <a:rPr sz="1600" b="0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LINEへ</a:t>
            </a:r>
            <a:endParaRPr sz="1200" b="0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Right Arrow 9"/>
          <p:cNvSpPr/>
          <p:nvPr/>
        </p:nvSpPr>
        <p:spPr>
          <a:xfrm>
            <a:off x="6357600" y="2556000"/>
            <a:ext cx="288000" cy="360000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717600" y="2052000"/>
            <a:ext cx="2663999" cy="647999"/>
          </a:xfrm>
          <a:prstGeom prst="roundRect">
            <a:avLst>
              <a:gd name="adj" fmla="val 10000"/>
            </a:avLst>
          </a:prstGeom>
          <a:solidFill>
            <a:srgbClr val="E8F8EE"/>
          </a:solidFill>
          <a:ln w="1270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はじめての方 → 友だち追加へ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17600" y="2772000"/>
            <a:ext cx="2663999" cy="647999"/>
          </a:xfrm>
          <a:prstGeom prst="roundRect">
            <a:avLst>
              <a:gd name="adj" fmla="val 10000"/>
            </a:avLst>
          </a:prstGeom>
          <a:solidFill>
            <a:srgbClr val="E8F8EE"/>
          </a:solidFill>
          <a:ln w="1270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友だちの方 → トーク画面へ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5600" y="3744000"/>
            <a:ext cx="2904000" cy="2015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6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関心が一番高い直後に案内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4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申込みの直後なので、友だちにな</a:t>
            </a:r>
            <a:r>
              <a:rPr lang="ja-JP" altLang="en-US" sz="14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りやすい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3501600" y="3744000"/>
            <a:ext cx="2904000" cy="2015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6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友だち集めの広告費ゼロ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4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今の広告で集めた申込みを</a:t>
            </a:r>
            <a:r>
              <a:rPr sz="14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  <a:endParaRPr lang="en-US"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4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そのままLINE</a:t>
            </a:r>
            <a:r>
              <a:rPr lang="ja-JP" altLang="en-US" sz="14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で当日まで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6477600" y="3744000"/>
            <a:ext cx="2904000" cy="2015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6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入力内容をそのまま活用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4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トークに反映し、配信の出し分けにも</a:t>
            </a:r>
            <a:r>
              <a:rPr lang="ja-JP" altLang="en-US" sz="14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有効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</p:spTree>
    <p:extLst>
      <p:ext uri="{BB962C8B-B14F-4D97-AF65-F5344CB8AC3E}">
        <p14:creationId xmlns:p14="http://schemas.microsoft.com/office/powerpoint/2010/main" val="17159093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実績と費用｜LINEで追うと、来店・面談が伸びる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817379"/>
            <a:ext cx="9036000" cy="3452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弊社の運用実績と、LINEヤフー公式の導入事例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8"/>
          <p:cNvSpPr/>
          <p:nvPr/>
        </p:nvSpPr>
        <p:spPr>
          <a:xfrm>
            <a:off x="525600" y="1638000"/>
            <a:ext cx="2854800" cy="324000"/>
          </a:xfrm>
          <a:prstGeom prst="roundRect">
            <a:avLst>
              <a:gd name="adj" fmla="val 1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弊社実績｜美容クリニック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25600" y="1998000"/>
            <a:ext cx="2854800" cy="936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完了画面からLINEへ（サンクスLINE）</a:t>
            </a:r>
          </a:p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来院率 40〜50%改善</a:t>
            </a:r>
          </a:p>
        </p:txBody>
      </p:sp>
      <p:sp>
        <p:nvSpPr>
          <p:cNvPr id="8" name="Rounded Rectangle 4"/>
          <p:cNvSpPr/>
          <p:nvPr/>
        </p:nvSpPr>
        <p:spPr>
          <a:xfrm>
            <a:off x="3524399" y="1638000"/>
            <a:ext cx="2854800" cy="324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保険見直し本舗</a:t>
            </a:r>
          </a:p>
        </p:txBody>
      </p:sp>
      <p:sp>
        <p:nvSpPr>
          <p:cNvPr id="9" name="Rounded Rectangle 6"/>
          <p:cNvSpPr/>
          <p:nvPr/>
        </p:nvSpPr>
        <p:spPr>
          <a:xfrm>
            <a:off x="3524399" y="1998000"/>
            <a:ext cx="2854800" cy="936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予約日時をLINEでリマインド</a:t>
            </a:r>
          </a:p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面談実施率 ＋5ポイント</a:t>
            </a:r>
          </a:p>
        </p:txBody>
      </p:sp>
      <p:sp>
        <p:nvSpPr>
          <p:cNvPr id="10" name="Rounded Rectangle 4"/>
          <p:cNvSpPr/>
          <p:nvPr/>
        </p:nvSpPr>
        <p:spPr>
          <a:xfrm>
            <a:off x="6523200" y="1638000"/>
            <a:ext cx="2854800" cy="324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琴平バス（観光バス）</a:t>
            </a:r>
          </a:p>
        </p:txBody>
      </p:sp>
      <p:sp>
        <p:nvSpPr>
          <p:cNvPr id="11" name="Rounded Rectangle 6"/>
          <p:cNvSpPr/>
          <p:nvPr/>
        </p:nvSpPr>
        <p:spPr>
          <a:xfrm>
            <a:off x="6523200" y="1998000"/>
            <a:ext cx="2854800" cy="936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予約の通知をLINEで受け取った方のうち</a:t>
            </a:r>
          </a:p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友だち追加 約70%</a:t>
            </a:r>
          </a:p>
        </p:txBody>
      </p:sp>
      <p:sp>
        <p:nvSpPr>
          <p:cNvPr id="12" name="Rounded Rectangle 4"/>
          <p:cNvSpPr/>
          <p:nvPr/>
        </p:nvSpPr>
        <p:spPr>
          <a:xfrm>
            <a:off x="525600" y="3024000"/>
            <a:ext cx="2854800" cy="324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皮膚科クリニック</a:t>
            </a:r>
          </a:p>
        </p:txBody>
      </p:sp>
      <p:sp>
        <p:nvSpPr>
          <p:cNvPr id="13" name="Rounded Rectangle 6"/>
          <p:cNvSpPr/>
          <p:nvPr/>
        </p:nvSpPr>
        <p:spPr>
          <a:xfrm>
            <a:off x="525600" y="3384000"/>
            <a:ext cx="2854800" cy="936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友だち追加後のステップ配信</a:t>
            </a:r>
          </a:p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予約数 約120%</a:t>
            </a:r>
          </a:p>
        </p:txBody>
      </p:sp>
      <p:sp>
        <p:nvSpPr>
          <p:cNvPr id="14" name="Rounded Rectangle 4"/>
          <p:cNvSpPr/>
          <p:nvPr/>
        </p:nvSpPr>
        <p:spPr>
          <a:xfrm>
            <a:off x="3524399" y="3024000"/>
            <a:ext cx="2854800" cy="324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UZUZ（就職支援）</a:t>
            </a:r>
          </a:p>
        </p:txBody>
      </p:sp>
      <p:sp>
        <p:nvSpPr>
          <p:cNvPr id="15" name="Rounded Rectangle 6"/>
          <p:cNvSpPr/>
          <p:nvPr/>
        </p:nvSpPr>
        <p:spPr>
          <a:xfrm>
            <a:off x="3524399" y="3384000"/>
            <a:ext cx="2854800" cy="936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LINEからの問い合わせ</a:t>
            </a:r>
          </a:p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面談予約率 55%</a:t>
            </a:r>
          </a:p>
        </p:txBody>
      </p:sp>
      <p:sp>
        <p:nvSpPr>
          <p:cNvPr id="16" name="Rounded Rectangle 4"/>
          <p:cNvSpPr/>
          <p:nvPr/>
        </p:nvSpPr>
        <p:spPr>
          <a:xfrm>
            <a:off x="6523200" y="3024000"/>
            <a:ext cx="2854800" cy="324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サンマルクカフェ</a:t>
            </a:r>
          </a:p>
        </p:txBody>
      </p:sp>
      <p:sp>
        <p:nvSpPr>
          <p:cNvPr id="17" name="Rounded Rectangle 6"/>
          <p:cNvSpPr/>
          <p:nvPr/>
        </p:nvSpPr>
        <p:spPr>
          <a:xfrm>
            <a:off x="6523200" y="3384000"/>
            <a:ext cx="2854800" cy="936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メッセージを開封した方のうち</a:t>
            </a:r>
          </a:p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当日に来店 約40%</a:t>
            </a:r>
          </a:p>
        </p:txBody>
      </p:sp>
      <p:sp>
        <p:nvSpPr>
          <p:cNvPr id="18" name="Rounded Rectangle 4"/>
          <p:cNvSpPr/>
          <p:nvPr/>
        </p:nvSpPr>
        <p:spPr>
          <a:xfrm>
            <a:off x="525600" y="4482000"/>
            <a:ext cx="1080000" cy="468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費用</a:t>
            </a:r>
          </a:p>
        </p:txBody>
      </p:sp>
      <p:sp>
        <p:nvSpPr>
          <p:cNvPr id="19" name="Rounded Rectangle 8"/>
          <p:cNvSpPr/>
          <p:nvPr/>
        </p:nvSpPr>
        <p:spPr>
          <a:xfrm>
            <a:off x="1677600" y="4482000"/>
            <a:ext cx="1944000" cy="468000"/>
          </a:xfrm>
          <a:prstGeom prst="roundRect">
            <a:avLst>
              <a:gd name="adj" fmla="val 1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初期 15万円</a:t>
            </a:r>
          </a:p>
        </p:txBody>
      </p:sp>
      <p:sp>
        <p:nvSpPr>
          <p:cNvPr id="20" name="Rounded Rectangle 8"/>
          <p:cNvSpPr/>
          <p:nvPr/>
        </p:nvSpPr>
        <p:spPr>
          <a:xfrm>
            <a:off x="3693600" y="4482000"/>
            <a:ext cx="1944000" cy="468000"/>
          </a:xfrm>
          <a:prstGeom prst="roundRect">
            <a:avLst>
              <a:gd name="adj" fmla="val 1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月額 3万円〜</a:t>
            </a:r>
          </a:p>
        </p:txBody>
      </p:sp>
      <p:sp>
        <p:nvSpPr>
          <p:cNvPr id="21" name="TextBox 10"/>
          <p:cNvSpPr txBox="1"/>
          <p:nvPr/>
        </p:nvSpPr>
        <p:spPr>
          <a:xfrm>
            <a:off x="5709600" y="4482000"/>
            <a:ext cx="3668400" cy="468000"/>
          </a:xfrm>
          <a:prstGeom prst="rect">
            <a:avLst/>
          </a:prstGeom>
          <a:noFill/>
        </p:spPr>
        <p:txBody>
          <a:bodyPr wrap="square" lIns="0" tIns="21600" rIns="50400" bIns="21600" anchor="ctr">
            <a:spAutoFit/>
          </a:bodyPr>
          <a:lstStyle/>
          <a:p>
            <a:pPr algn="ctr"/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※APIツール（Lステップ等）と併用可</a:t>
            </a:r>
          </a:p>
          <a:p>
            <a:pPr algn="ctr"/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※完了画面を増やす場合は追加費用</a:t>
            </a:r>
          </a:p>
        </p:txBody>
      </p:sp>
      <p:sp>
        <p:nvSpPr>
          <p:cNvPr id="22" name="Rounded Rectangle 4"/>
          <p:cNvSpPr/>
          <p:nvPr/>
        </p:nvSpPr>
        <p:spPr>
          <a:xfrm>
            <a:off x="525600" y="5076000"/>
            <a:ext cx="8852400" cy="468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広告のご提案とあわせて、LINEへの導線設計からご提案可能</a:t>
            </a:r>
          </a:p>
        </p:txBody>
      </p:sp>
      <p:sp>
        <p:nvSpPr>
          <p:cNvPr id="23" name="TextBox 19"/>
          <p:cNvSpPr txBox="1"/>
          <p:nvPr/>
        </p:nvSpPr>
        <p:spPr>
          <a:xfrm>
            <a:off x="525600" y="5616000"/>
            <a:ext cx="8852400" cy="288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出典：LINEヤフー for Business 導入事例（保険見直し本舗／琴平バス／アクネクリニック／UZUZ／サンマルクカフェ）</a:t>
            </a:r>
          </a:p>
        </p:txBody>
      </p:sp>
    </p:spTree>
    <p:extLst>
      <p:ext uri="{BB962C8B-B14F-4D97-AF65-F5344CB8AC3E}">
        <p14:creationId xmlns:p14="http://schemas.microsoft.com/office/powerpoint/2010/main" val="3939997984"/>
      </p:ext>
    </p:extLst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143216</TotalTime>
  <Words>319</Words>
  <Application>Microsoft Office PowerPoint</Application>
  <PresentationFormat>A4 210 x 297 mm</PresentationFormat>
  <Paragraphs>80</Paragraphs>
  <Slides>5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5</vt:i4>
      </vt:variant>
    </vt:vector>
  </HeadingPairs>
  <TitlesOfParts>
    <vt:vector size="11" baseType="lpstr"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1963</cp:revision>
  <cp:lastPrinted>2022-11-01T11:38:14Z</cp:lastPrinted>
  <dcterms:created xsi:type="dcterms:W3CDTF">2015-09-04T09:21:15Z</dcterms:created>
  <dcterms:modified xsi:type="dcterms:W3CDTF">2026-09-30T08:47:37Z</dcterms:modified>
</cp:coreProperties>
</file>