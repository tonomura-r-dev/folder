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600" y="5856760"/>
            <a:ext cx="88547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申込みの「後」の追い方を変えれば、同じ広告費のまま成果が増える</a:t>
            </a:r>
          </a:p>
        </p:txBody>
      </p:sp>
      <p:pic>
        <p:nvPicPr>
          <p:cNvPr id="15" name="広告とLINEの役割" descr="thanks_line_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999" y="1494000"/>
            <a:ext cx="7560000" cy="42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600" y="5838760"/>
            <a:ext cx="2904000" cy="45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01600" y="5838760"/>
            <a:ext cx="2904000" cy="45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77600" y="5838760"/>
            <a:ext cx="2904000" cy="45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5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6" name="サンクスLINEの流れ" descr="thanks_lin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999" y="1494000"/>
            <a:ext cx="7560000" cy="42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実績と費用｜LINEで追うと、来店・面談が伸びる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弊社の運用実績と、LINEヤフー公式の導入事例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8"/>
          <p:cNvSpPr/>
          <p:nvPr/>
        </p:nvSpPr>
        <p:spPr>
          <a:xfrm>
            <a:off x="525600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弊社実績｜美容クリニック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600" y="1998000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完了画面からLINEへ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来院率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40〜50%改善</a:t>
            </a:r>
          </a:p>
        </p:txBody>
      </p:sp>
      <p:sp>
        <p:nvSpPr>
          <p:cNvPr id="8" name="Rounded Rectangle 4"/>
          <p:cNvSpPr/>
          <p:nvPr/>
        </p:nvSpPr>
        <p:spPr>
          <a:xfrm>
            <a:off x="3524399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保険見直し本舗</a:t>
            </a:r>
          </a:p>
        </p:txBody>
      </p:sp>
      <p:sp>
        <p:nvSpPr>
          <p:cNvPr id="9" name="Rounded Rectangle 6"/>
          <p:cNvSpPr/>
          <p:nvPr/>
        </p:nvSpPr>
        <p:spPr>
          <a:xfrm>
            <a:off x="3524399" y="1998000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予約日時をLINEでリマインド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面談実施率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＋5ポイント</a:t>
            </a:r>
          </a:p>
        </p:txBody>
      </p:sp>
      <p:sp>
        <p:nvSpPr>
          <p:cNvPr id="10" name="Rounded Rectangle 4"/>
          <p:cNvSpPr/>
          <p:nvPr/>
        </p:nvSpPr>
        <p:spPr>
          <a:xfrm>
            <a:off x="6523200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琴平バス（観光バス）</a:t>
            </a:r>
          </a:p>
        </p:txBody>
      </p:sp>
      <p:sp>
        <p:nvSpPr>
          <p:cNvPr id="11" name="Rounded Rectangle 6"/>
          <p:cNvSpPr/>
          <p:nvPr/>
        </p:nvSpPr>
        <p:spPr>
          <a:xfrm>
            <a:off x="6523200" y="1998000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予約の通知をLINEで受け取った方のうち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2" name="Rounded Rectangle 4"/>
          <p:cNvSpPr/>
          <p:nvPr/>
        </p:nvSpPr>
        <p:spPr>
          <a:xfrm>
            <a:off x="525600" y="3221999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皮膚科クリニック</a:t>
            </a:r>
          </a:p>
        </p:txBody>
      </p:sp>
      <p:sp>
        <p:nvSpPr>
          <p:cNvPr id="13" name="Rounded Rectangle 6"/>
          <p:cNvSpPr/>
          <p:nvPr/>
        </p:nvSpPr>
        <p:spPr>
          <a:xfrm>
            <a:off x="525600" y="3581999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友だち追加後のステップ配信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予約数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約120%</a:t>
            </a:r>
          </a:p>
        </p:txBody>
      </p:sp>
      <p:sp>
        <p:nvSpPr>
          <p:cNvPr id="14" name="Rounded Rectangle 4"/>
          <p:cNvSpPr/>
          <p:nvPr/>
        </p:nvSpPr>
        <p:spPr>
          <a:xfrm>
            <a:off x="3524399" y="3221999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UZUZ（就職支援）</a:t>
            </a:r>
          </a:p>
        </p:txBody>
      </p:sp>
      <p:sp>
        <p:nvSpPr>
          <p:cNvPr id="15" name="Rounded Rectangle 6"/>
          <p:cNvSpPr/>
          <p:nvPr/>
        </p:nvSpPr>
        <p:spPr>
          <a:xfrm>
            <a:off x="3524399" y="3581999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LINEからの問い合わせ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面談予約率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</p:txBody>
      </p:sp>
      <p:sp>
        <p:nvSpPr>
          <p:cNvPr id="16" name="Rounded Rectangle 4"/>
          <p:cNvSpPr/>
          <p:nvPr/>
        </p:nvSpPr>
        <p:spPr>
          <a:xfrm>
            <a:off x="6523200" y="3221999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サンマルクカフェ</a:t>
            </a:r>
          </a:p>
        </p:txBody>
      </p:sp>
      <p:sp>
        <p:nvSpPr>
          <p:cNvPr id="17" name="Rounded Rectangle 6"/>
          <p:cNvSpPr/>
          <p:nvPr/>
        </p:nvSpPr>
        <p:spPr>
          <a:xfrm>
            <a:off x="6523200" y="3581999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メッセージを開封した方のうち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当日に来店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約40%</a:t>
            </a:r>
          </a:p>
        </p:txBody>
      </p:sp>
      <p:sp>
        <p:nvSpPr>
          <p:cNvPr id="18" name="Rounded Rectangle 4"/>
          <p:cNvSpPr/>
          <p:nvPr/>
        </p:nvSpPr>
        <p:spPr>
          <a:xfrm>
            <a:off x="525600" y="4860000"/>
            <a:ext cx="10800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9" name="Rounded Rectangle 8"/>
          <p:cNvSpPr/>
          <p:nvPr/>
        </p:nvSpPr>
        <p:spPr>
          <a:xfrm>
            <a:off x="1677600" y="4860000"/>
            <a:ext cx="1944000" cy="4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15万円</a:t>
            </a:r>
          </a:p>
        </p:txBody>
      </p:sp>
      <p:sp>
        <p:nvSpPr>
          <p:cNvPr id="20" name="Rounded Rectangle 8"/>
          <p:cNvSpPr/>
          <p:nvPr/>
        </p:nvSpPr>
        <p:spPr>
          <a:xfrm>
            <a:off x="3693600" y="4860000"/>
            <a:ext cx="1944000" cy="4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3万円〜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5709600" y="4860000"/>
            <a:ext cx="3668400" cy="468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</a:t>
            </a:r>
          </a:p>
          <a:p>
            <a:pPr algn="ct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※完了画面を増やす場合は追加費用</a:t>
            </a:r>
          </a:p>
        </p:txBody>
      </p:sp>
      <p:sp>
        <p:nvSpPr>
          <p:cNvPr id="22" name="Rounded Rectangle 4"/>
          <p:cNvSpPr/>
          <p:nvPr/>
        </p:nvSpPr>
        <p:spPr>
          <a:xfrm>
            <a:off x="525600" y="5400000"/>
            <a:ext cx="88524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広告のご提案とあわせて、LINEへの導線設計からご提案可能</a:t>
            </a:r>
          </a:p>
        </p:txBody>
      </p:sp>
      <p:sp>
        <p:nvSpPr>
          <p:cNvPr id="23" name="TextBox 19"/>
          <p:cNvSpPr txBox="1"/>
          <p:nvPr/>
        </p:nvSpPr>
        <p:spPr>
          <a:xfrm>
            <a:off x="525600" y="5903999"/>
            <a:ext cx="8852400" cy="28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導入事例（保険見直し本舗／琴平バス／アクネクリニック／UZUZ／サンマルクカフェ）</a:t>
            </a:r>
          </a:p>
        </p:txBody>
      </p:sp>
      <p:pic>
        <p:nvPicPr>
          <p:cNvPr id="24" name="Picture 23" descr="thanks_icon_bea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00" y="2178000"/>
            <a:ext cx="827999" cy="827999"/>
          </a:xfrm>
          <a:prstGeom prst="rect">
            <a:avLst/>
          </a:prstGeom>
        </p:spPr>
      </p:pic>
      <p:pic>
        <p:nvPicPr>
          <p:cNvPr id="25" name="Picture 24" descr="thanks_icon_h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399" y="2178000"/>
            <a:ext cx="827999" cy="827999"/>
          </a:xfrm>
          <a:prstGeom prst="rect">
            <a:avLst/>
          </a:prstGeom>
        </p:spPr>
      </p:pic>
      <p:pic>
        <p:nvPicPr>
          <p:cNvPr id="26" name="Picture 25" descr="thanks_icon_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200" y="2178000"/>
            <a:ext cx="827999" cy="827999"/>
          </a:xfrm>
          <a:prstGeom prst="rect">
            <a:avLst/>
          </a:prstGeom>
        </p:spPr>
      </p:pic>
      <p:pic>
        <p:nvPicPr>
          <p:cNvPr id="27" name="Picture 26" descr="thanks_icon_hifu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00" y="3761999"/>
            <a:ext cx="827999" cy="827999"/>
          </a:xfrm>
          <a:prstGeom prst="rect">
            <a:avLst/>
          </a:prstGeom>
        </p:spPr>
      </p:pic>
      <p:pic>
        <p:nvPicPr>
          <p:cNvPr id="28" name="Picture 27" descr="thanks_icon_shushok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399" y="3761999"/>
            <a:ext cx="827999" cy="827999"/>
          </a:xfrm>
          <a:prstGeom prst="rect">
            <a:avLst/>
          </a:prstGeom>
        </p:spPr>
      </p:pic>
      <p:pic>
        <p:nvPicPr>
          <p:cNvPr id="29" name="Picture 28" descr="thanks_icon_ca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200" y="3761999"/>
            <a:ext cx="827999" cy="82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