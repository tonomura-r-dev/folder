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8"/>
  </p:notesMasterIdLst>
  <p:handoutMasterIdLst>
    <p:handoutMasterId r:id="rId9"/>
  </p:handoutMasterIdLst>
  <p:sldIdLst>
    <p:sldId id="2971" r:id="rId3"/>
    <p:sldId id="2972" r:id="rId4"/>
    <p:sldId id="2904" r:id="rId5"/>
    <p:sldId id="3007" r:id="rId6"/>
    <p:sldId id="2987" r:id="rId7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4FA0A"/>
    <a:srgbClr val="173559"/>
    <a:srgbClr val="FDFDFD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110" d="100"/>
          <a:sy n="110" d="100"/>
        </p:scale>
        <p:origin x="1236" y="102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notesMaster" Target="notesMasters/notesMaster1.xml"/><Relationship Id="rId9" Type="http://schemas.openxmlformats.org/officeDocument/2006/relationships/handoutMaster" Target="handoutMasters/handout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2026/9/30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215D0A-BA72-DE45-32FA-363803F14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7D2F8A3-D4B3-B9E6-A613-A157696B87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933FBD4A-B575-3375-091A-F6A24B5A9B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CAEAEB9-E37C-569F-CBB7-45D65E2A090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238476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681540-B398-8C02-E1F2-1F1C4798CC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A82C74D-328C-FB0E-E710-C92A52BEF4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175EB1E7-3A4C-2E0A-CA67-686800FA87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173A52D-F6CC-DC20-5CFE-D4EBA25ECCB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379868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87BDD3-88EE-99A9-AEE2-C1F41DDABD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650017B6-5C78-4075-2708-AC5DB83D5C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8ECFD86C-83D9-B8F9-9012-A14834B203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602F5ACB-1F4C-FA7D-D366-8DCBB1214FD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9133521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6A8E8E-25CB-4B86-C4F6-E5A7023586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61078"/>
            <a:ext cx="8784000" cy="289843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LINEは、申込みの「後」につながる</a:t>
            </a:r>
            <a:r>
              <a:rPr lang="ja-JP" altLang="en-US" sz="16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/>
            </a:r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/>
            </a:r>
            <a:r>
              <a:rPr sz="16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/>
            </a:r>
            <a:r>
              <a:rPr lang="ja-JP" altLang="en-US" sz="16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/>
            </a:r>
            <a:endParaRPr sz="1600" b="1" dirty="0">
              <a:solidFill>
                <a:srgbClr val="00206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32000" y="836230"/>
            <a:ext cx="9036000" cy="30754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lang="en-US" altLang="ja-JP" sz="14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</a:t>
            </a:r>
            <a:r>
              <a:rPr lang="ja-JP" altLang="en-US" sz="14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で、</a:t>
            </a:r>
            <a:r>
              <a:rPr sz="14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来店・成約・リピート</a:t>
            </a:r>
            <a:r>
              <a:rPr lang="ja-JP" altLang="en-US" sz="14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まで追う</a:t>
            </a:r>
            <a:endParaRPr sz="14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2323800"/>
            <a:ext cx="1872000" cy="1080000"/>
          </a:xfrm>
          <a:prstGeom prst="roundRect">
            <a:avLst>
              <a:gd name="adj" fmla="val 10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広告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412000" y="2701801"/>
            <a:ext cx="324000" cy="324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2844000" y="2323800"/>
            <a:ext cx="1872000" cy="1080000"/>
          </a:xfrm>
          <a:prstGeom prst="roundRect">
            <a:avLst>
              <a:gd name="adj" fmla="val 10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申込み</a:t>
            </a:r>
          </a:p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資料請求・予約・購入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824000" y="2701801"/>
            <a:ext cx="324000" cy="324000"/>
          </a:xfrm>
          <a:prstGeom prst="rightArrow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ight Arrow 9"/>
          <p:cNvSpPr/>
          <p:nvPr/>
        </p:nvSpPr>
        <p:spPr>
          <a:xfrm>
            <a:off x="7236000" y="2701801"/>
            <a:ext cx="324000" cy="324000"/>
          </a:xfrm>
          <a:prstGeom prst="rightArrow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432000" y="4843801"/>
            <a:ext cx="9043200" cy="503999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0" rIns="108000" bIns="0" rtlCol="0" anchor="ctr"/>
          <a:lstStyle/>
          <a:p>
            <a:pPr algn="ctr">
              <a:lnSpc>
                <a:spcPct val="125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申込みの「後」の追い方を変えれば、同じ広告費のまま成果が増えます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56000" y="2323800"/>
            <a:ext cx="1872000" cy="1080000"/>
          </a:xfrm>
          <a:prstGeom prst="roundRect">
            <a:avLst>
              <a:gd name="adj" fmla="val 1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18000" bIns="18000"/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</a:t>
            </a:r>
          </a:p>
          <a:p>
            <a:pPr algn="ctr">
              <a:lnSpc>
                <a:spcPct val="120000"/>
              </a:lnSpc>
            </a:pPr>
            <a:r>
              <a:rPr sz="14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リマインド・配信</a:t>
            </a:r>
          </a:p>
          <a:p>
            <a:pPr algn="ctr">
              <a:lnSpc>
                <a:spcPct val="120000"/>
              </a:lnSpc>
            </a:pPr>
            <a:r>
              <a:rPr sz="14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1対1のトーク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68000" y="2323800"/>
            <a:ext cx="1807199" cy="1080000"/>
          </a:xfrm>
          <a:prstGeom prst="roundRect">
            <a:avLst>
              <a:gd name="adj" fmla="val 10000"/>
            </a:avLst>
          </a:prstGeom>
          <a:solidFill>
            <a:srgbClr val="E8F8EE"/>
          </a:solidFill>
          <a:ln w="1905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18000" bIns="18000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来店・成約</a:t>
            </a:r>
          </a:p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リピート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2000" y="3529800"/>
            <a:ext cx="4284000" cy="306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広告で追えるところ：申込みまで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256000" y="3529800"/>
            <a:ext cx="4219200" cy="306000"/>
          </a:xfrm>
          <a:prstGeom prst="roundRect">
            <a:avLst>
              <a:gd name="adj" fmla="val 18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LINEで追えるところ：来店・成約・リピートまで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256000" y="3943800"/>
            <a:ext cx="4219200" cy="396000"/>
          </a:xfrm>
          <a:prstGeom prst="roundRect">
            <a:avLst>
              <a:gd name="adj" fmla="val 10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50400" tIns="21600" bIns="21600"/>
          <a:lstStyle/>
          <a:p>
            <a:pPr algn="ctr"/>
            <a:r>
              <a:rPr sz="11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今はメール・電話だけ → 読まれない・つながらない</a:t>
            </a:r>
          </a:p>
        </p:txBody>
      </p:sp>
    </p:spTree>
    <p:extLst>
      <p:ext uri="{BB962C8B-B14F-4D97-AF65-F5344CB8AC3E}">
        <p14:creationId xmlns:p14="http://schemas.microsoft.com/office/powerpoint/2010/main" val="23784845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0E5221-666F-DE20-B9E8-FDFC607CC2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サンクスLINE｜申込みの直後に、LINEでつながる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96191"/>
            <a:ext cx="9036000" cy="587617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申込みの完了画面から、そのままLINEへ</a:t>
            </a:r>
            <a:r>
              <a:rPr sz="14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。</a:t>
            </a:r>
            <a:endParaRPr lang="en-US" sz="14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</a:pPr>
            <a:r>
              <a:rPr sz="14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関心が一番高いタイミング</a:t>
            </a:r>
            <a:r>
              <a:rPr lang="ja-JP" altLang="en-US" sz="14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＝</a:t>
            </a:r>
            <a:r>
              <a:rPr sz="14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友だちに</a:t>
            </a:r>
            <a:r>
              <a:rPr lang="ja-JP" altLang="en-US" sz="14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なりやすい</a:t>
            </a:r>
            <a:endParaRPr sz="14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2485800"/>
            <a:ext cx="1584000" cy="936000"/>
          </a:xfrm>
          <a:prstGeom prst="roundRect">
            <a:avLst>
              <a:gd name="adj" fmla="val 10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フォーム入力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088000" y="2791800"/>
            <a:ext cx="288000" cy="324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2448000" y="2485800"/>
            <a:ext cx="1764000" cy="936000"/>
          </a:xfrm>
          <a:prstGeom prst="roundRect">
            <a:avLst>
              <a:gd name="adj" fmla="val 10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申込み完了</a:t>
            </a:r>
          </a:p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購入・予約・資料請求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284000" y="2791800"/>
            <a:ext cx="288000" cy="324000"/>
          </a:xfrm>
          <a:prstGeom prst="rightArrow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4644000" y="2485800"/>
            <a:ext cx="1296000" cy="936000"/>
          </a:xfrm>
          <a:prstGeom prst="roundRect">
            <a:avLst>
              <a:gd name="adj" fmla="val 1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200" b="0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ツールで</a:t>
            </a:r>
            <a:endParaRPr sz="1200" b="0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20000"/>
              </a:lnSpc>
            </a:pPr>
            <a:r>
              <a:rPr sz="1200" b="0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LINEへ</a:t>
            </a:r>
            <a:endParaRPr sz="1200" b="0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Right Arrow 9"/>
          <p:cNvSpPr/>
          <p:nvPr/>
        </p:nvSpPr>
        <p:spPr>
          <a:xfrm>
            <a:off x="6012000" y="2791800"/>
            <a:ext cx="288000" cy="324000"/>
          </a:xfrm>
          <a:prstGeom prst="rightArrow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372000" y="2485800"/>
            <a:ext cx="3103199" cy="432000"/>
          </a:xfrm>
          <a:prstGeom prst="roundRect">
            <a:avLst>
              <a:gd name="adj" fmla="val 10000"/>
            </a:avLst>
          </a:prstGeom>
          <a:solidFill>
            <a:srgbClr val="E8F8EE"/>
          </a:solidFill>
          <a:ln w="1270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はじめての方 → 友だち追加の画面へ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72000" y="2989801"/>
            <a:ext cx="3103199" cy="432000"/>
          </a:xfrm>
          <a:prstGeom prst="roundRect">
            <a:avLst>
              <a:gd name="adj" fmla="val 10000"/>
            </a:avLst>
          </a:prstGeom>
          <a:solidFill>
            <a:srgbClr val="E8F8EE"/>
          </a:solidFill>
          <a:ln w="1270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友だちの方 → トーク画面へ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2000" y="3709801"/>
            <a:ext cx="2951999" cy="93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l">
              <a:spcAft>
                <a:spcPts val="500"/>
              </a:spcAft>
            </a:pPr>
            <a:r>
              <a:rPr sz="125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関心が一番高い直後に案内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申込みの直後なので、友だちにな</a:t>
            </a:r>
            <a:r>
              <a:rPr lang="ja-JP" altLang="en-US" sz="10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りやすい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3477599" y="3709801"/>
            <a:ext cx="2951999" cy="93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l">
              <a:spcAft>
                <a:spcPts val="500"/>
              </a:spcAft>
            </a:pPr>
            <a:r>
              <a:rPr sz="125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友だち集めの広告費ゼロ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今の広告で集めた申込みを</a:t>
            </a:r>
            <a:r>
              <a:rPr sz="10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、</a:t>
            </a:r>
            <a:endParaRPr lang="en-US"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そのままLINE</a:t>
            </a:r>
            <a:r>
              <a:rPr lang="ja-JP" altLang="en-US" sz="10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で当日まで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6523199" y="3709801"/>
            <a:ext cx="2951999" cy="93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l">
              <a:spcAft>
                <a:spcPts val="500"/>
              </a:spcAft>
            </a:pPr>
            <a:r>
              <a:rPr sz="125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入力内容をそのまま活用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トークに反映し、配信の出し分けにも</a:t>
            </a:r>
            <a:r>
              <a:rPr lang="ja-JP" altLang="en-US" sz="10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有効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432000" y="4896000"/>
            <a:ext cx="90432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40000" y="4986000"/>
            <a:ext cx="648000" cy="251999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費用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95999" y="4896000"/>
            <a:ext cx="3024000" cy="432000"/>
          </a:xfrm>
          <a:prstGeom prst="rect">
            <a:avLst/>
          </a:prstGeom>
          <a:noFill/>
        </p:spPr>
        <p:txBody>
          <a:bodyPr wrap="square" lIns="0" rIns="50400" tIns="21600" bIns="21600" anchor="ctr">
            <a:spAutoFit/>
          </a:bodyPr>
          <a:lstStyle/>
          <a:p>
            <a:pPr algn="l"/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初期 </a:t>
            </a: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10万円</a:t>
            </a:r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　月額 </a:t>
            </a: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3万円〜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356000" y="4986000"/>
            <a:ext cx="0" cy="25200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463999" y="4896000"/>
            <a:ext cx="4932000" cy="432000"/>
          </a:xfrm>
          <a:prstGeom prst="rect">
            <a:avLst/>
          </a:prstGeom>
          <a:noFill/>
        </p:spPr>
        <p:txBody>
          <a:bodyPr wrap="square" lIns="0" rIns="50400" tIns="21600" bIns="21600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✓ 今お使いのAPIツール（Lステップ等）と併用できます</a:t>
            </a:r>
          </a:p>
          <a:p>
            <a:pPr algn="l"/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✓ 案内を置く完了画面を増やす場合は、追加費用</a:t>
            </a:r>
          </a:p>
        </p:txBody>
      </p:sp>
    </p:spTree>
    <p:extLst>
      <p:ext uri="{BB962C8B-B14F-4D97-AF65-F5344CB8AC3E}">
        <p14:creationId xmlns:p14="http://schemas.microsoft.com/office/powerpoint/2010/main" val="17159093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LINEで、成果まで育てる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836230"/>
            <a:ext cx="9036000" cy="30754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申込んだ方に合わせて、LINEで次の一歩</a:t>
            </a:r>
            <a:r>
              <a:rPr lang="ja-JP" altLang="en-US" sz="14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へとつなげる</a:t>
            </a:r>
            <a:endParaRPr sz="14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2215800"/>
            <a:ext cx="2951999" cy="503999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資料請求した方</a:t>
            </a:r>
          </a:p>
        </p:txBody>
      </p:sp>
      <p:sp>
        <p:nvSpPr>
          <p:cNvPr id="6" name="Down Arrow 5"/>
          <p:cNvSpPr/>
          <p:nvPr/>
        </p:nvSpPr>
        <p:spPr>
          <a:xfrm>
            <a:off x="1692000" y="2773801"/>
            <a:ext cx="432000" cy="251999"/>
          </a:xfrm>
          <a:prstGeom prst="down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432000" y="3079801"/>
            <a:ext cx="2951999" cy="648000"/>
          </a:xfrm>
          <a:prstGeom prst="roundRect">
            <a:avLst>
              <a:gd name="adj" fmla="val 10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比較のポイント・事例</a:t>
            </a:r>
          </a:p>
        </p:txBody>
      </p:sp>
      <p:sp>
        <p:nvSpPr>
          <p:cNvPr id="8" name="Down Arrow 7"/>
          <p:cNvSpPr/>
          <p:nvPr/>
        </p:nvSpPr>
        <p:spPr>
          <a:xfrm>
            <a:off x="1692000" y="3781800"/>
            <a:ext cx="432000" cy="251999"/>
          </a:xfrm>
          <a:prstGeom prst="downArrow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432000" y="4087801"/>
            <a:ext cx="2951999" cy="503999"/>
          </a:xfrm>
          <a:prstGeom prst="roundRect">
            <a:avLst>
              <a:gd name="adj" fmla="val 1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来店・商談へ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7599" y="2215800"/>
            <a:ext cx="2951999" cy="503999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予約した方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4737599" y="2773801"/>
            <a:ext cx="432000" cy="251999"/>
          </a:xfrm>
          <a:prstGeom prst="down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3477599" y="3079801"/>
            <a:ext cx="2951999" cy="648000"/>
          </a:xfrm>
          <a:prstGeom prst="roundRect">
            <a:avLst>
              <a:gd name="adj" fmla="val 10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前日・当日のリマインド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4737599" y="3781800"/>
            <a:ext cx="432000" cy="251999"/>
          </a:xfrm>
          <a:prstGeom prst="downArrow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3477599" y="4087801"/>
            <a:ext cx="2951999" cy="503999"/>
          </a:xfrm>
          <a:prstGeom prst="roundRect">
            <a:avLst>
              <a:gd name="adj" fmla="val 1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キャンセルを減らす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23199" y="2215800"/>
            <a:ext cx="2951999" cy="503999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購入した方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7783199" y="2773801"/>
            <a:ext cx="432000" cy="251999"/>
          </a:xfrm>
          <a:prstGeom prst="down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6523199" y="3079801"/>
            <a:ext cx="2951999" cy="648000"/>
          </a:xfrm>
          <a:prstGeom prst="roundRect">
            <a:avLst>
              <a:gd name="adj" fmla="val 10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使い方・次回のご案内</a:t>
            </a:r>
          </a:p>
        </p:txBody>
      </p:sp>
      <p:sp>
        <p:nvSpPr>
          <p:cNvPr id="18" name="Down Arrow 17"/>
          <p:cNvSpPr/>
          <p:nvPr/>
        </p:nvSpPr>
        <p:spPr>
          <a:xfrm>
            <a:off x="7783199" y="3781800"/>
            <a:ext cx="432000" cy="251999"/>
          </a:xfrm>
          <a:prstGeom prst="downArrow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6523199" y="4087801"/>
            <a:ext cx="2951999" cy="503999"/>
          </a:xfrm>
          <a:prstGeom prst="roundRect">
            <a:avLst>
              <a:gd name="adj" fmla="val 1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4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リピートへ</a:t>
            </a:r>
            <a:r>
              <a:rPr lang="ja-JP" altLang="en-US" sz="14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（</a:t>
            </a:r>
            <a:r>
              <a:rPr lang="en-US" altLang="ja-JP" sz="14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LTV</a:t>
            </a:r>
            <a:r>
              <a:rPr lang="ja-JP" altLang="en-US" sz="14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）</a:t>
            </a:r>
            <a:endParaRPr sz="14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432000" y="4951801"/>
            <a:ext cx="9043200" cy="503999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0" rIns="108000" bIns="0" rtlCol="0" anchor="ctr"/>
          <a:lstStyle/>
          <a:p>
            <a:pPr algn="ctr">
              <a:lnSpc>
                <a:spcPct val="125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弊社実績：美容クリニックで、予約後の来院率が40〜50%改善</a:t>
            </a:r>
          </a:p>
        </p:txBody>
      </p:sp>
    </p:spTree>
    <p:extLst>
      <p:ext uri="{BB962C8B-B14F-4D97-AF65-F5344CB8AC3E}">
        <p14:creationId xmlns:p14="http://schemas.microsoft.com/office/powerpoint/2010/main" val="39399979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広告は「申込みの数」、LINEは「売上」をつくる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836230"/>
            <a:ext cx="9036000" cy="30754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同じ広告費のまま、申込みの「後」を伸ばして成約</a:t>
            </a:r>
            <a:r>
              <a:rPr lang="ja-JP" altLang="en-US" sz="14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数増加へ</a:t>
            </a:r>
            <a:endParaRPr sz="14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1584000" y="2287800"/>
            <a:ext cx="3204000" cy="270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広告の役割：申込みを集める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96000" y="2287800"/>
            <a:ext cx="4579200" cy="270000"/>
          </a:xfrm>
          <a:prstGeom prst="roundRect">
            <a:avLst>
              <a:gd name="adj" fmla="val 18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LINEの役割：申込んだ方を売上へ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2000" y="2683800"/>
            <a:ext cx="1044000" cy="864000"/>
          </a:xfrm>
          <a:prstGeom prst="roundRect">
            <a:avLst>
              <a:gd name="adj" fmla="val 10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広告だけ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584000" y="2683800"/>
            <a:ext cx="3204000" cy="864000"/>
          </a:xfrm>
          <a:prstGeom prst="roundRect">
            <a:avLst>
              <a:gd name="adj" fmla="val 10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申込み 100件</a:t>
            </a:r>
          </a:p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広告費 月100万円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860000" y="2953800"/>
            <a:ext cx="288000" cy="324000"/>
          </a:xfrm>
          <a:prstGeom prst="rightArrow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5220000" y="2683800"/>
            <a:ext cx="1944000" cy="864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7F7F7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メール・電話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236000" y="2953800"/>
            <a:ext cx="288000" cy="324000"/>
          </a:xfrm>
          <a:prstGeom prst="rightArrow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7596000" y="2683800"/>
            <a:ext cx="1879200" cy="864000"/>
          </a:xfrm>
          <a:prstGeom prst="roundRect">
            <a:avLst>
              <a:gd name="adj" fmla="val 10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成約 20件</a:t>
            </a:r>
          </a:p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1件あたり 5.0万円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2000" y="3727800"/>
            <a:ext cx="1044000" cy="864000"/>
          </a:xfrm>
          <a:prstGeom prst="roundRect">
            <a:avLst>
              <a:gd name="adj" fmla="val 1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広告</a:t>
            </a:r>
          </a:p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＋LINE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584000" y="3727800"/>
            <a:ext cx="3204000" cy="864000"/>
          </a:xfrm>
          <a:prstGeom prst="roundRect">
            <a:avLst>
              <a:gd name="adj" fmla="val 10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申込み 100件</a:t>
            </a:r>
          </a:p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広告費 月100万円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860000" y="3997800"/>
            <a:ext cx="288000" cy="324000"/>
          </a:xfrm>
          <a:prstGeom prst="rightArrow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5220000" y="3727800"/>
            <a:ext cx="1944000" cy="864000"/>
          </a:xfrm>
          <a:prstGeom prst="roundRect">
            <a:avLst>
              <a:gd name="adj" fmla="val 10000"/>
            </a:avLst>
          </a:prstGeom>
          <a:solidFill>
            <a:srgbClr val="E8F8EE"/>
          </a:solidFill>
          <a:ln w="1905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サンクスLINE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236000" y="3997800"/>
            <a:ext cx="288000" cy="324000"/>
          </a:xfrm>
          <a:prstGeom prst="rightArrow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7596000" y="3727800"/>
            <a:ext cx="1879200" cy="864000"/>
          </a:xfrm>
          <a:prstGeom prst="roundRect">
            <a:avLst>
              <a:gd name="adj" fmla="val 1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成約 24件</a:t>
            </a:r>
          </a:p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1件あたり 約4.3万円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2000" y="4879800"/>
            <a:ext cx="9043200" cy="503999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0" rIns="108000" bIns="0" rtlCol="0" anchor="ctr"/>
          <a:lstStyle/>
          <a:p>
            <a:pPr algn="ctr">
              <a:lnSpc>
                <a:spcPct val="125000"/>
              </a:lnSpc>
            </a:pPr>
            <a:r>
              <a:rPr sz="14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LINEの友だちは毎月たまり</a:t>
            </a:r>
            <a:r>
              <a:rPr sz="14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、</a:t>
            </a:r>
            <a:r>
              <a:rPr lang="ja-JP" altLang="en-US" sz="14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案内・成約まで</a:t>
            </a:r>
            <a:endParaRPr lang="en-US" altLang="ja-JP" sz="14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※試算例：成約率 20%（広告だけ）→ 24%（広告＋LINE）。1件あたり＝（広告費＋LINE費用 月3万円）÷成約件数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B95DA1-C4AC-9E84-EE81-C643FC320A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進め方｜広告のご提案と、あわせて始められます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広告の予算に、月3万円〜を足すだけ。</a:t>
            </a:r>
          </a:p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完了画面にLINEへの案内を置けば、広告で集めた申込みを売上までつなげる仕組みが、広告と同時に始められます。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2143800"/>
            <a:ext cx="864000" cy="864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2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404000" y="2143800"/>
            <a:ext cx="8071200" cy="86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具体的なご提案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LINEへの動線・配信の内容・成果のシミュレーション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2000" y="3223800"/>
            <a:ext cx="864000" cy="864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2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404000" y="3223800"/>
            <a:ext cx="8071200" cy="86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広告と同時に開始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完了画面にLINEへの案内を設置し、配信をスタート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000" y="4411800"/>
            <a:ext cx="1655999" cy="324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初期 10万円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60000" y="4411800"/>
            <a:ext cx="1655999" cy="324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月額 3万円〜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60000" y="4411800"/>
            <a:ext cx="5508000" cy="324000"/>
          </a:xfrm>
          <a:prstGeom prst="rect">
            <a:avLst/>
          </a:prstGeom>
          <a:noFill/>
        </p:spPr>
        <p:txBody>
          <a:bodyPr wrap="square" lIns="0" tIns="21600" rIns="50400" bIns="21600" anchor="ctr">
            <a:spAutoFit/>
          </a:bodyPr>
          <a:lstStyle/>
          <a:p>
            <a:pPr algn="l"/>
            <a:r>
              <a:rPr sz="100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※設定する地点（完了画面）を増やす場合は追加費用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2000" y="5023800"/>
            <a:ext cx="9043200" cy="503999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0" rIns="108000" bIns="0" rtlCol="0" anchor="ctr"/>
          <a:lstStyle/>
          <a:p>
            <a:pPr algn="ctr">
              <a:lnSpc>
                <a:spcPct val="125000"/>
              </a:lnSpc>
            </a:pPr>
            <a:r>
              <a:rPr sz="14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まずは、広告のご提案とあわせて、LINE</a:t>
            </a:r>
            <a:r>
              <a:rPr lang="ja-JP" altLang="en-US" sz="14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へ</a:t>
            </a:r>
            <a:r>
              <a:rPr sz="14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の</a:t>
            </a:r>
            <a:r>
              <a:rPr lang="ja-JP" altLang="en-US" sz="14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導線</a:t>
            </a:r>
            <a:r>
              <a:rPr sz="14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設計をご提案します</a:t>
            </a:r>
            <a:endParaRPr sz="14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</p:spTree>
    <p:extLst>
      <p:ext uri="{BB962C8B-B14F-4D97-AF65-F5344CB8AC3E}">
        <p14:creationId xmlns:p14="http://schemas.microsoft.com/office/powerpoint/2010/main" val="1985544786"/>
      </p:ext>
    </p:extLst>
  </p:cSld>
  <p:clrMapOvr>
    <a:masterClrMapping/>
  </p:clrMapOvr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143214</TotalTime>
  <Words>302</Words>
  <Application>Microsoft Office PowerPoint</Application>
  <PresentationFormat>A4 210 x 297 mm</PresentationFormat>
  <Paragraphs>78</Paragraphs>
  <Slides>5</Slides>
  <Notes>3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5</vt:i4>
      </vt:variant>
    </vt:vector>
  </HeadingPairs>
  <TitlesOfParts>
    <vt:vector size="11" baseType="lpstr">
      <vt:lpstr>メイリオ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1962</cp:revision>
  <cp:lastPrinted>2022-11-01T11:38:14Z</cp:lastPrinted>
  <dcterms:created xsi:type="dcterms:W3CDTF">2015-09-04T09:21:15Z</dcterms:created>
  <dcterms:modified xsi:type="dcterms:W3CDTF">2026-09-30T08:32:22Z</dcterms:modified>
</cp:coreProperties>
</file>