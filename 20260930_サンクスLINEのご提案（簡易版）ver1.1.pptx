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2971" r:id="rId3"/>
    <p:sldId id="2972" r:id="rId4"/>
    <p:sldId id="2904" r:id="rId5"/>
    <p:sldId id="3007" r:id="rId6"/>
    <p:sldId id="2987" r:id="rId7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2026/9/30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BDD3-88EE-99A9-AEE2-C1F41DDAB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50017B6-5C78-4075-2708-AC5DB83D5C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CFD86C-83D9-B8F9-9012-A14834B203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2F5ACB-1F4C-FA7D-D366-8DCBB1214F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335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61078"/>
            <a:ext cx="8784000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LINEは、申込みの「後」につながる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ja-JP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で、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来店・成約・リピート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まで追う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12000" y="2701801"/>
            <a:ext cx="324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4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資料請求・予約・購入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7236000" y="2701801"/>
            <a:ext cx="324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2000" y="42120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申込みの「後」の追い方を変えれば、同じ広告費のまま成果が増えます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6000" y="2323800"/>
            <a:ext cx="1872000" cy="1080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リマインド・配信</a:t>
            </a:r>
          </a:p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1対1のトーク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68000" y="2323800"/>
            <a:ext cx="1807199" cy="1080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来店・成約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リピート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529800"/>
            <a:ext cx="4284000" cy="306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広告で追えるところ：申込みまで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6000" y="3529800"/>
            <a:ext cx="4219200" cy="306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LINEで追えるところ：来店・成約・リピートまで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サンクスLINE｜申込みの直後に、LINEでつながる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657334"/>
            <a:ext cx="9036000" cy="665331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申込みの完了画面から、そのままLINEへ</a:t>
            </a:r>
            <a:r>
              <a:rPr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。</a:t>
            </a:r>
            <a:endParaRPr lang="en-US"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関心が一番高いタイミング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＝</a:t>
            </a: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友だちに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なりやすい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485800"/>
            <a:ext cx="15840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フォーム入力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88000" y="2791800"/>
            <a:ext cx="288000" cy="324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448000" y="2485800"/>
            <a:ext cx="1764000" cy="936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申込み完了</a:t>
            </a:r>
          </a:p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購入・予約・資料請求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284000" y="2791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644000" y="2485800"/>
            <a:ext cx="1296000" cy="936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ツールで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  <a:p>
            <a:pPr algn="ctr">
              <a:lnSpc>
                <a:spcPct val="120000"/>
              </a:lnSpc>
            </a:pPr>
            <a:r>
              <a:rPr sz="1200" b="0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LINEへ</a:t>
            </a:r>
            <a:endParaRPr sz="12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6012000" y="2791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72000" y="2485800"/>
            <a:ext cx="3103199" cy="432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はじめての方 → 友だち追加の画面へ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72000" y="2989801"/>
            <a:ext cx="3103199" cy="432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友だちの方 → トーク画面へ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709801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関心が一番高い直後に案内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申込みの直後なので、友だちにな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りやすい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77599" y="3709801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友だち集めの広告費ゼロ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今の広告で集めた申込みを</a:t>
            </a: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、</a:t>
            </a:r>
            <a:endParaRPr lang="en-US"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そのままLINE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で当日まで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23199" y="3709801"/>
            <a:ext cx="2951999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250" b="1" dirty="0" err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入力内容をそのまま活用</a:t>
            </a:r>
            <a:endParaRPr sz="1250" b="1" dirty="0">
              <a:solidFill>
                <a:srgbClr val="1F285A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トークに反映し、配信の出し分けにも</a:t>
            </a:r>
            <a:r>
              <a:rPr lang="ja-JP" altLang="en-US"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有効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425600" y="4896000"/>
            <a:ext cx="7056000" cy="4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Rounded Rectangle 16"/>
          <p:cNvSpPr/>
          <p:nvPr/>
        </p:nvSpPr>
        <p:spPr>
          <a:xfrm>
            <a:off x="1533600" y="4986000"/>
            <a:ext cx="648000" cy="251999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費用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3600" y="4951689"/>
            <a:ext cx="2520000" cy="320621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初期 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</a:t>
            </a: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　月額 </a:t>
            </a:r>
            <a:r>
              <a:rPr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45600" y="4986000"/>
            <a:ext cx="0" cy="252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53600" y="4922195"/>
            <a:ext cx="3491999" cy="379611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今お使いのAPIツール（Lステップ等）と併用できます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  <a:p>
            <a:pPr algn="l"/>
            <a:r>
              <a:rPr sz="105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 </a:t>
            </a:r>
            <a:r>
              <a:rPr sz="105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案内を置く完了画面を増やす場合は、追加費用</a:t>
            </a:r>
            <a:endParaRPr sz="10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LINEで、成果まで育てる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申込んだ方に合わせて、LINEで次の一歩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へとつなげる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215800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資料請求した方</a:t>
            </a:r>
          </a:p>
        </p:txBody>
      </p:sp>
      <p:sp>
        <p:nvSpPr>
          <p:cNvPr id="6" name="Down Arrow 5"/>
          <p:cNvSpPr/>
          <p:nvPr/>
        </p:nvSpPr>
        <p:spPr>
          <a:xfrm>
            <a:off x="1692000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2000" y="3079801"/>
            <a:ext cx="295199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比較のポイント・事例</a:t>
            </a:r>
          </a:p>
        </p:txBody>
      </p:sp>
      <p:sp>
        <p:nvSpPr>
          <p:cNvPr id="8" name="Down Arrow 7"/>
          <p:cNvSpPr/>
          <p:nvPr/>
        </p:nvSpPr>
        <p:spPr>
          <a:xfrm>
            <a:off x="1692000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2000" y="4087801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来店・商談へ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7599" y="2215800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予約した方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737599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477599" y="3079801"/>
            <a:ext cx="295199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前日・当日のリマインド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737599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77599" y="4087801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キャンセルを減らす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3199" y="2215800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購入した方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7783199" y="2773801"/>
            <a:ext cx="432000" cy="251999"/>
          </a:xfrm>
          <a:prstGeom prst="down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23199" y="3079801"/>
            <a:ext cx="2951999" cy="648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使い方・次回のご案内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7783199" y="3781800"/>
            <a:ext cx="432000" cy="251999"/>
          </a:xfrm>
          <a:prstGeom prst="down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523199" y="4087801"/>
            <a:ext cx="2951999" cy="503999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リピートへ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en-US" altLang="ja-JP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LTV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）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2000" y="4951801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弊社実績：美容クリニックで、予約後の来院率が40〜50%改善</a:t>
            </a:r>
          </a:p>
        </p:txBody>
      </p:sp>
    </p:spTree>
    <p:extLst>
      <p:ext uri="{BB962C8B-B14F-4D97-AF65-F5344CB8AC3E}">
        <p14:creationId xmlns:p14="http://schemas.microsoft.com/office/powerpoint/2010/main" val="3939997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広告は「申込みの数」、LINEは「売上」をつくる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同じ広告費のまま、申込みの「後」を伸ばして成約</a:t>
            </a:r>
            <a:r>
              <a:rPr lang="ja-JP" altLang="en-US" sz="16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数増加へ</a:t>
            </a:r>
            <a:endParaRPr sz="16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584000" y="2287800"/>
            <a:ext cx="3204000" cy="270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広告の役割：申込みを集める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6000" y="2287800"/>
            <a:ext cx="4579200" cy="270000"/>
          </a:xfrm>
          <a:prstGeom prst="roundRect">
            <a:avLst>
              <a:gd name="adj" fmla="val 1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LINEの役割：申込んだ方を売上へ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2683800"/>
            <a:ext cx="1044000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広告だけ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84000" y="2683800"/>
            <a:ext cx="320400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60000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20000" y="2683800"/>
            <a:ext cx="1944000" cy="86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メール・電話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36000" y="2953800"/>
            <a:ext cx="288000" cy="324000"/>
          </a:xfrm>
          <a:prstGeom prst="rightArrow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596000" y="2683800"/>
            <a:ext cx="1879200" cy="864000"/>
          </a:xfrm>
          <a:prstGeom prst="roundRect">
            <a:avLst>
              <a:gd name="adj" fmla="val 1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成約 20件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1件あたり 5.0万円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3727800"/>
            <a:ext cx="1044000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  <a:p>
            <a:pPr algn="ctr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＋LINE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84000" y="3727800"/>
            <a:ext cx="3204000" cy="864000"/>
          </a:xfrm>
          <a:prstGeom prst="roundRect">
            <a:avLst>
              <a:gd name="adj" fmla="val 10000"/>
            </a:avLst>
          </a:prstGeom>
          <a:solidFill>
            <a:srgbClr val="F4F7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申込み 100件</a:t>
            </a:r>
          </a:p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広告費 月100万円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0000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20000" y="3727800"/>
            <a:ext cx="1944000" cy="864000"/>
          </a:xfrm>
          <a:prstGeom prst="roundRect">
            <a:avLst>
              <a:gd name="adj" fmla="val 10000"/>
            </a:avLst>
          </a:prstGeom>
          <a:solidFill>
            <a:srgbClr val="E8F8EE"/>
          </a:solidFill>
          <a:ln w="1905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サンクスLINE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36000" y="3997800"/>
            <a:ext cx="288000" cy="324000"/>
          </a:xfrm>
          <a:prstGeom prst="rightArrow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596000" y="3727800"/>
            <a:ext cx="1879200" cy="864000"/>
          </a:xfrm>
          <a:prstGeom prst="roundRect">
            <a:avLst>
              <a:gd name="adj" fmla="val 1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成約 24件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1件あたり 約4.3万円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" y="4879800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LINEの友だちは毎月たまり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、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案内・成約まで</a:t>
            </a:r>
            <a:endParaRPr lang="en-US" altLang="ja-JP"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2000" y="6246000"/>
            <a:ext cx="9043200" cy="324000"/>
          </a:xfrm>
          <a:prstGeom prst="rect">
            <a:avLst/>
          </a:prstGeom>
          <a:noFill/>
        </p:spPr>
        <p:txBody>
          <a:bodyPr wrap="square" lIns="0" tIns="21600" rIns="0" bIns="216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※試算例：成約率 20%（広告だけ）→ 24%（広告＋LINE）。1件あたり＝（広告費＋LINE費用 月3万円）÷成約件数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5DA1-C4AC-9E84-EE81-C643FC32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進め方｜広告のご提案と、あわせて始められます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2000" y="817379"/>
            <a:ext cx="9036000" cy="3452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600" dirty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広告の予算に、月3万円〜を足すだけ。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32000" y="2143800"/>
            <a:ext cx="86400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04000" y="2143800"/>
            <a:ext cx="80712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具体的なご提案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LINEへの動線・配信の内容・成果のシミュレーション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000" y="3223800"/>
            <a:ext cx="864000" cy="864000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000" tIns="18000" rIns="54000" bIns="18000" rtlCol="0" anchor="ctr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04000" y="3223800"/>
            <a:ext cx="80712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5999" tIns="90000" rIns="108000" bIns="54000" rtlCol="0" anchor="ctr"/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広告と同時に開始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完了画面にLINEへの案内を設置し、配信をスタート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4411800"/>
            <a:ext cx="1655999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 10万円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60000" y="4411800"/>
            <a:ext cx="1655999" cy="32400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 3万円〜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4411800"/>
            <a:ext cx="5508000" cy="324000"/>
          </a:xfrm>
          <a:prstGeom prst="rect">
            <a:avLst/>
          </a:prstGeom>
          <a:noFill/>
        </p:spPr>
        <p:txBody>
          <a:bodyPr wrap="square" lIns="0" tIns="21600" rIns="50400" bIns="21600" anchor="ctr">
            <a:spAutoFit/>
          </a:bodyPr>
          <a:lstStyle/>
          <a:p>
            <a:pPr algn="l"/>
            <a:r>
              <a:rPr sz="10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※設定する地点（完了画面）を増やす場合は追加費用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" y="5023800"/>
            <a:ext cx="9043200" cy="503999"/>
          </a:xfrm>
          <a:prstGeom prst="roundRect">
            <a:avLst>
              <a:gd name="adj" fmla="val 1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8000" tIns="0" rIns="108000" bIns="0" rtlCol="0" anchor="ctr"/>
          <a:lstStyle/>
          <a:p>
            <a:pPr algn="ctr">
              <a:lnSpc>
                <a:spcPct val="125000"/>
              </a:lnSpc>
            </a:pP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まずは、広告のご提案とあわせて、LINE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へ</a:t>
            </a:r>
            <a:r>
              <a:rPr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の</a:t>
            </a:r>
            <a:r>
              <a:rPr lang="ja-JP" altLang="en-US" sz="14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導線</a:t>
            </a:r>
            <a:r>
              <a:rPr sz="1400" b="1" dirty="0" err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設計をご提案します</a:t>
            </a:r>
            <a:endParaRPr sz="14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</p:spTree>
    <p:extLst>
      <p:ext uri="{BB962C8B-B14F-4D97-AF65-F5344CB8AC3E}">
        <p14:creationId xmlns:p14="http://schemas.microsoft.com/office/powerpoint/2010/main" val="1985544786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143216</TotalTime>
  <Words>319</Words>
  <Application>Microsoft Office PowerPoint</Application>
  <PresentationFormat>A4 210 x 297 mm</PresentationFormat>
  <Paragraphs>80</Paragraphs>
  <Slides>5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1963</cp:revision>
  <cp:lastPrinted>2022-11-01T11:38:14Z</cp:lastPrinted>
  <dcterms:created xsi:type="dcterms:W3CDTF">2015-09-04T09:21:15Z</dcterms:created>
  <dcterms:modified xsi:type="dcterms:W3CDTF">2026-09-30T08:47:37Z</dcterms:modified>
</cp:coreProperties>
</file>