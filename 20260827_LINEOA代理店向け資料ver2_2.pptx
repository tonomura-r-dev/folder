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9"/>
  </p:notesMasterIdLst>
  <p:handoutMasterIdLst>
    <p:handoutMasterId r:id="rId10"/>
  </p:handoutMasterIdLst>
  <p:sldIdLst>
    <p:sldId id="2363" r:id="rId3"/>
    <p:sldId id="2721" r:id="rId4"/>
    <p:sldId id="2913" r:id="rId5"/>
    <p:sldId id="2988" r:id="rId6"/>
    <p:sldId id="2974" r:id="rId7"/>
    <p:sldId id="2995" r:id="rId8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74" d="100"/>
          <a:sy n="74" d="100"/>
        </p:scale>
        <p:origin x="784" y="44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2B3E24-A18E-3FB1-1BEB-F78B7876B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3BD67E3-1B96-BBBF-6E58-9F584C1E42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415CA0F-593B-424A-AB1E-372C80A530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DC1FAE7-9B14-4C23-B5D8-2C06D3E82C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5349325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6.jpeg"/><Relationship Id="rId4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cover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156448" cy="768096"/>
          </a:xfrm>
          <a:prstGeom prst="rect">
            <a:avLst/>
          </a:prstGeom>
          <a:ln/>
        </p:spPr>
      </p:pic>
      <p:pic>
        <p:nvPicPr>
          <p:cNvPr id="3" name="Picture 2" descr="cover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3776"/>
            <a:ext cx="2039112" cy="274320"/>
          </a:xfrm>
          <a:prstGeom prst="rect">
            <a:avLst/>
          </a:prstGeom>
          <a:ln/>
        </p:spPr>
      </p:pic>
      <p:sp>
        <p:nvSpPr>
          <p:cNvPr id="4" name="TextBox 3"/>
          <p:cNvSpPr txBox="1"/>
          <p:nvPr/>
        </p:nvSpPr>
        <p:spPr>
          <a:xfrm>
            <a:off x="979615" y="2567366"/>
            <a:ext cx="8156447" cy="307777"/>
          </a:xfrm>
          <a:prstGeom prst="rect">
            <a:avLst/>
          </a:prstGeom>
          <a:noFill/>
          <a:ln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dirty="0" err="1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最上位パートナーの知見を活用し、獲得に強い動線を構築する</a:t>
            </a:r>
            <a:endParaRPr sz="2000" b="0" dirty="0">
              <a:solidFill>
                <a:srgbClr val="7F7F7F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664208" y="3082195"/>
            <a:ext cx="6574536" cy="492443"/>
          </a:xfrm>
          <a:prstGeom prst="rect">
            <a:avLst/>
          </a:prstGeom>
          <a:noFill/>
          <a:ln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200" b="1">
                <a:solidFill>
                  <a:srgbClr val="40404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LINE公式アカウント運用のご提案</a:t>
            </a:r>
          </a:p>
        </p:txBody>
      </p:sp>
      <p:sp>
        <p:nvSpPr>
          <p:cNvPr id="6" name="Rectangle 5"/>
          <p:cNvSpPr/>
          <p:nvPr/>
        </p:nvSpPr>
        <p:spPr>
          <a:xfrm>
            <a:off x="1335024" y="3703320"/>
            <a:ext cx="7232904" cy="10972"/>
          </a:xfrm>
          <a:prstGeom prst="rect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319272" y="3781690"/>
            <a:ext cx="3264408" cy="53427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319272" y="3898597"/>
            <a:ext cx="3264408" cy="307777"/>
          </a:xfrm>
          <a:prstGeom prst="rect">
            <a:avLst/>
          </a:prstGeom>
          <a:noFill/>
          <a:ln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- 2026最新版 -</a:t>
            </a:r>
          </a:p>
        </p:txBody>
      </p:sp>
      <p:sp>
        <p:nvSpPr>
          <p:cNvPr id="9" name="Rectangle 8"/>
          <p:cNvSpPr/>
          <p:nvPr/>
        </p:nvSpPr>
        <p:spPr>
          <a:xfrm>
            <a:off x="3319272" y="4343400"/>
            <a:ext cx="3264408" cy="402336"/>
          </a:xfrm>
          <a:prstGeom prst="rect">
            <a:avLst/>
          </a:prstGeom>
          <a:solidFill>
            <a:srgbClr val="E7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9272" y="4390679"/>
            <a:ext cx="3264408" cy="307777"/>
          </a:xfrm>
          <a:prstGeom prst="rect">
            <a:avLst/>
          </a:prstGeom>
          <a:noFill/>
          <a:ln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dirty="0" err="1">
                <a:solidFill>
                  <a:srgbClr val="40404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代理店パートナー様</a:t>
            </a:r>
            <a:r>
              <a:rPr sz="2000" b="1" dirty="0">
                <a:solidFill>
                  <a:srgbClr val="40404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 </a:t>
            </a:r>
            <a:r>
              <a:rPr sz="2000" b="1" dirty="0" err="1">
                <a:solidFill>
                  <a:srgbClr val="40404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向け</a:t>
            </a:r>
            <a:endParaRPr sz="2000" b="1" dirty="0">
              <a:solidFill>
                <a:srgbClr val="40404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9E1EF-F184-F7BC-2DF2-9E9641908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図 57" descr="文字と写真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BC098C34-07FA-B015-C970-B8433D9E8BE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846" t="3967" r="34188" b="52442"/>
          <a:stretch>
            <a:fillRect/>
          </a:stretch>
        </p:blipFill>
        <p:spPr>
          <a:xfrm>
            <a:off x="489022" y="5068469"/>
            <a:ext cx="2046003" cy="1464812"/>
          </a:xfrm>
          <a:prstGeom prst="rect">
            <a:avLst/>
          </a:prstGeom>
        </p:spPr>
      </p:pic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1E52F929-5FD7-9413-24A8-2725B04E4908}"/>
              </a:ext>
            </a:extLst>
          </p:cNvPr>
          <p:cNvSpPr/>
          <p:nvPr/>
        </p:nvSpPr>
        <p:spPr>
          <a:xfrm>
            <a:off x="388723" y="1082314"/>
            <a:ext cx="9129600" cy="100564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2025</a:t>
            </a: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年</a:t>
            </a:r>
            <a: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11</a:t>
            </a: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月、株式会社</a:t>
            </a:r>
            <a: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ヤフー社が主催する </a:t>
            </a:r>
            <a: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”LINE</a:t>
            </a: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ヤフー </a:t>
            </a:r>
            <a: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Partner Award 2025” </a:t>
            </a: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に株式会社</a:t>
            </a:r>
            <a: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DYM</a:t>
            </a: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が参加。</a:t>
            </a:r>
            <a:b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弊社は</a:t>
            </a:r>
            <a: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公式アカウントによるビジネス拡大に最も貢献したとして、</a:t>
            </a:r>
            <a:r>
              <a:rPr lang="ja-JP" altLang="en-US" sz="12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</a:t>
            </a:r>
            <a:r>
              <a:rPr lang="en-US" altLang="ja-JP" sz="12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Best LINE</a:t>
            </a:r>
            <a:r>
              <a:rPr lang="ja-JP" altLang="en-US" sz="12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公式アカウント </a:t>
            </a:r>
            <a:r>
              <a:rPr lang="en-US" altLang="ja-JP" sz="12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Growth</a:t>
            </a:r>
            <a:r>
              <a:rPr lang="en-US" altLang="ja-JP" sz="7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2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」</a:t>
            </a: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を受賞。</a:t>
            </a:r>
            <a:b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2025</a:t>
            </a: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年</a:t>
            </a:r>
            <a: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10</a:t>
            </a: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月現在、</a:t>
            </a:r>
            <a: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公式アカウントの取扱社数は</a:t>
            </a:r>
            <a: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100</a:t>
            </a: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社以上、</a:t>
            </a:r>
            <a:r>
              <a:rPr lang="en-US" altLang="ja-JP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400</a:t>
            </a:r>
            <a:r>
              <a:rPr lang="ja-JP" altLang="en-US" sz="12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アカウント以上まで拡大しており関連サービスも展開中。</a:t>
            </a:r>
            <a:endParaRPr lang="en-US" altLang="ja-JP" sz="1200" dirty="0">
              <a:solidFill>
                <a:srgbClr val="000000">
                  <a:lumMod val="95000"/>
                  <a:lumOff val="5000"/>
                </a:srgb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C34101C7-CA6C-6ED6-33D4-C2B82BDA5473}"/>
              </a:ext>
            </a:extLst>
          </p:cNvPr>
          <p:cNvSpPr txBox="1"/>
          <p:nvPr/>
        </p:nvSpPr>
        <p:spPr>
          <a:xfrm>
            <a:off x="548883" y="107360"/>
            <a:ext cx="6276325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2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弊社実績</a:t>
            </a: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9685C0AB-6B7A-94C5-EFA8-756E59EE714E}"/>
              </a:ext>
            </a:extLst>
          </p:cNvPr>
          <p:cNvSpPr/>
          <p:nvPr/>
        </p:nvSpPr>
        <p:spPr>
          <a:xfrm>
            <a:off x="388723" y="2116303"/>
            <a:ext cx="9128554" cy="307777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txBody>
          <a:bodyPr wrap="square">
            <a:spAutoFit/>
          </a:bodyPr>
          <a:lstStyle/>
          <a:p>
            <a:pPr lvl="0" algn="ctr">
              <a:buClr>
                <a:srgbClr val="002060"/>
              </a:buClr>
              <a:buSzPts val="1600"/>
            </a:pPr>
            <a:r>
              <a:rPr lang="ja-JP" altLang="en-US" sz="1400" b="1">
                <a:solidFill>
                  <a:schemeClr val="bg1"/>
                </a:solidFill>
                <a:latin typeface="Meiryo"/>
                <a:ea typeface="Meiryo"/>
                <a:cs typeface="Meiryo"/>
                <a:sym typeface="Meiryo"/>
              </a:rPr>
              <a:t>弊社受賞遍歴 </a:t>
            </a:r>
            <a:r>
              <a:rPr lang="en-US" altLang="ja-JP" sz="1400" b="1">
                <a:solidFill>
                  <a:schemeClr val="bg1"/>
                </a:solidFill>
                <a:latin typeface="Meiryo"/>
                <a:ea typeface="Meiryo"/>
                <a:cs typeface="Meiryo"/>
                <a:sym typeface="Meiryo"/>
              </a:rPr>
              <a:t>Since.2024</a:t>
            </a:r>
            <a:r>
              <a:rPr lang="ja-JP" altLang="en-US" sz="1400" b="1">
                <a:solidFill>
                  <a:schemeClr val="bg1"/>
                </a:solidFill>
                <a:latin typeface="Meiryo"/>
                <a:ea typeface="Meiryo"/>
                <a:cs typeface="Meiryo"/>
                <a:sym typeface="Meiryo"/>
              </a:rPr>
              <a:t>年</a:t>
            </a:r>
            <a:r>
              <a:rPr lang="en-US" altLang="ja-JP" sz="1400" b="1">
                <a:solidFill>
                  <a:schemeClr val="bg1"/>
                </a:solidFill>
                <a:latin typeface="Meiryo"/>
                <a:ea typeface="Meiryo"/>
                <a:cs typeface="Meiryo"/>
                <a:sym typeface="Meiryo"/>
              </a:rPr>
              <a:t>5</a:t>
            </a:r>
            <a:r>
              <a:rPr lang="ja-JP" altLang="en-US" sz="1400" b="1">
                <a:solidFill>
                  <a:schemeClr val="bg1"/>
                </a:solidFill>
                <a:latin typeface="Meiryo"/>
                <a:ea typeface="Meiryo"/>
                <a:cs typeface="Meiryo"/>
                <a:sym typeface="Meiryo"/>
              </a:rPr>
              <a:t>月～</a:t>
            </a:r>
            <a:endParaRPr lang="en-US" altLang="ja-JP" sz="1400" b="1" dirty="0">
              <a:solidFill>
                <a:schemeClr val="bg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02177995-9B5C-9C4B-3202-5DD03969179E}"/>
              </a:ext>
            </a:extLst>
          </p:cNvPr>
          <p:cNvSpPr/>
          <p:nvPr/>
        </p:nvSpPr>
        <p:spPr>
          <a:xfrm>
            <a:off x="495424" y="4784484"/>
            <a:ext cx="3561143" cy="276999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txBody>
          <a:bodyPr wrap="square">
            <a:spAutoFit/>
          </a:bodyPr>
          <a:lstStyle/>
          <a:p>
            <a:pPr lvl="0" algn="ctr">
              <a:buClr>
                <a:srgbClr val="002060"/>
              </a:buClr>
              <a:buSzPts val="1600"/>
            </a:pPr>
            <a:r>
              <a:rPr lang="ja-JP" altLang="en-US" sz="1200" b="1" dirty="0">
                <a:solidFill>
                  <a:schemeClr val="bg1"/>
                </a:solidFill>
                <a:latin typeface="Meiryo"/>
                <a:ea typeface="Meiryo"/>
                <a:cs typeface="Meiryo"/>
                <a:sym typeface="Meiryo"/>
              </a:rPr>
              <a:t>最上位となる </a:t>
            </a:r>
            <a:r>
              <a:rPr lang="en-US" altLang="ja-JP" sz="1200" b="1" dirty="0">
                <a:solidFill>
                  <a:schemeClr val="bg1"/>
                </a:solidFill>
                <a:latin typeface="Meiryo"/>
                <a:ea typeface="Meiryo"/>
                <a:cs typeface="Meiryo"/>
                <a:sym typeface="Meiryo"/>
              </a:rPr>
              <a:t>Sales Partner Premier</a:t>
            </a:r>
          </a:p>
        </p:txBody>
      </p: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0E12B4F2-0482-55A4-443A-115FC30E22E8}"/>
              </a:ext>
            </a:extLst>
          </p:cNvPr>
          <p:cNvSpPr/>
          <p:nvPr/>
        </p:nvSpPr>
        <p:spPr>
          <a:xfrm>
            <a:off x="4362995" y="4784484"/>
            <a:ext cx="5165666" cy="276999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txBody>
          <a:bodyPr wrap="square">
            <a:spAutoFit/>
          </a:bodyPr>
          <a:lstStyle/>
          <a:p>
            <a:pPr algn="ctr">
              <a:buClr>
                <a:srgbClr val="002060"/>
              </a:buClr>
              <a:buSzPts val="1600"/>
            </a:pPr>
            <a:r>
              <a:rPr lang="en-US" altLang="ja-JP" sz="1200" b="1" dirty="0">
                <a:solidFill>
                  <a:schemeClr val="bg1"/>
                </a:solidFill>
                <a:latin typeface="Meiryo"/>
                <a:ea typeface="Meiryo"/>
                <a:cs typeface="Meiryo"/>
                <a:sym typeface="Meiryo"/>
              </a:rPr>
              <a:t>Best LINE</a:t>
            </a:r>
            <a:r>
              <a:rPr lang="ja-JP" altLang="en-US" sz="1200" b="1" dirty="0">
                <a:solidFill>
                  <a:schemeClr val="bg1"/>
                </a:solidFill>
                <a:latin typeface="Meiryo"/>
                <a:ea typeface="Meiryo"/>
                <a:cs typeface="Meiryo"/>
                <a:sym typeface="Meiryo"/>
              </a:rPr>
              <a:t>公式アカウント </a:t>
            </a:r>
            <a:r>
              <a:rPr lang="en-US" altLang="ja-JP" sz="1200" b="1" dirty="0">
                <a:solidFill>
                  <a:schemeClr val="bg1"/>
                </a:solidFill>
                <a:latin typeface="Meiryo"/>
                <a:ea typeface="Meiryo"/>
                <a:cs typeface="Meiryo"/>
                <a:sym typeface="Meiryo"/>
              </a:rPr>
              <a:t>Growth </a:t>
            </a:r>
            <a:r>
              <a:rPr lang="ja-JP" altLang="en-US" sz="1200" b="1" dirty="0">
                <a:solidFill>
                  <a:schemeClr val="bg1"/>
                </a:solidFill>
                <a:latin typeface="Meiryo"/>
                <a:ea typeface="Meiryo"/>
                <a:cs typeface="Meiryo"/>
                <a:sym typeface="Meiryo"/>
              </a:rPr>
              <a:t>の受賞を受ける</a:t>
            </a:r>
            <a:endParaRPr lang="en-US" altLang="ja-JP" sz="1200" b="1" dirty="0">
              <a:solidFill>
                <a:schemeClr val="bg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cxnSp>
        <p:nvCxnSpPr>
          <p:cNvPr id="2082" name="直線コネクタ 2081">
            <a:extLst>
              <a:ext uri="{FF2B5EF4-FFF2-40B4-BE49-F238E27FC236}">
                <a16:creationId xmlns:a16="http://schemas.microsoft.com/office/drawing/2014/main" id="{530411FF-29F9-73B2-C470-CBF0BA20AC73}"/>
              </a:ext>
            </a:extLst>
          </p:cNvPr>
          <p:cNvCxnSpPr>
            <a:cxnSpLocks/>
          </p:cNvCxnSpPr>
          <p:nvPr/>
        </p:nvCxnSpPr>
        <p:spPr>
          <a:xfrm>
            <a:off x="3212877" y="2980676"/>
            <a:ext cx="6240687" cy="0"/>
          </a:xfrm>
          <a:prstGeom prst="line">
            <a:avLst/>
          </a:prstGeom>
          <a:ln w="76200">
            <a:solidFill>
              <a:srgbClr val="10253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5" name="直線コネクタ 2084">
            <a:extLst>
              <a:ext uri="{FF2B5EF4-FFF2-40B4-BE49-F238E27FC236}">
                <a16:creationId xmlns:a16="http://schemas.microsoft.com/office/drawing/2014/main" id="{D7948E6E-45A1-2B8A-2983-5CE3031B129A}"/>
              </a:ext>
            </a:extLst>
          </p:cNvPr>
          <p:cNvCxnSpPr>
            <a:cxnSpLocks/>
          </p:cNvCxnSpPr>
          <p:nvPr/>
        </p:nvCxnSpPr>
        <p:spPr>
          <a:xfrm>
            <a:off x="412752" y="3985954"/>
            <a:ext cx="5253034" cy="0"/>
          </a:xfrm>
          <a:prstGeom prst="line">
            <a:avLst/>
          </a:prstGeom>
          <a:ln w="76200">
            <a:solidFill>
              <a:srgbClr val="10253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86" name="フローチャート: 結合子 2085">
            <a:extLst>
              <a:ext uri="{FF2B5EF4-FFF2-40B4-BE49-F238E27FC236}">
                <a16:creationId xmlns:a16="http://schemas.microsoft.com/office/drawing/2014/main" id="{19617C5C-724A-7FCE-22E5-5B2ECC96F048}"/>
              </a:ext>
            </a:extLst>
          </p:cNvPr>
          <p:cNvSpPr/>
          <p:nvPr/>
        </p:nvSpPr>
        <p:spPr>
          <a:xfrm>
            <a:off x="3076995" y="2743198"/>
            <a:ext cx="452718" cy="452718"/>
          </a:xfrm>
          <a:prstGeom prst="flowChartConnector">
            <a:avLst/>
          </a:prstGeom>
          <a:solidFill>
            <a:srgbClr val="10253F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87" name="フローチャート: 結合子 2086">
            <a:extLst>
              <a:ext uri="{FF2B5EF4-FFF2-40B4-BE49-F238E27FC236}">
                <a16:creationId xmlns:a16="http://schemas.microsoft.com/office/drawing/2014/main" id="{C7AB064F-FD75-D23A-C3F2-7F831805457C}"/>
              </a:ext>
            </a:extLst>
          </p:cNvPr>
          <p:cNvSpPr/>
          <p:nvPr/>
        </p:nvSpPr>
        <p:spPr>
          <a:xfrm>
            <a:off x="970449" y="3759595"/>
            <a:ext cx="452718" cy="452718"/>
          </a:xfrm>
          <a:prstGeom prst="flowChartConnector">
            <a:avLst/>
          </a:prstGeom>
          <a:solidFill>
            <a:srgbClr val="10253F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89" name="フローチャート: 結合子 2088">
            <a:extLst>
              <a:ext uri="{FF2B5EF4-FFF2-40B4-BE49-F238E27FC236}">
                <a16:creationId xmlns:a16="http://schemas.microsoft.com/office/drawing/2014/main" id="{CE0B51F4-2695-E1D7-F353-BA60386FABE4}"/>
              </a:ext>
            </a:extLst>
          </p:cNvPr>
          <p:cNvSpPr/>
          <p:nvPr/>
        </p:nvSpPr>
        <p:spPr>
          <a:xfrm>
            <a:off x="7801859" y="2743198"/>
            <a:ext cx="452718" cy="452718"/>
          </a:xfrm>
          <a:prstGeom prst="flowChartConnector">
            <a:avLst/>
          </a:prstGeom>
          <a:solidFill>
            <a:srgbClr val="10253F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90" name="フローチャート: 結合子 2089">
            <a:extLst>
              <a:ext uri="{FF2B5EF4-FFF2-40B4-BE49-F238E27FC236}">
                <a16:creationId xmlns:a16="http://schemas.microsoft.com/office/drawing/2014/main" id="{6F2861A8-2376-2999-4214-6F268B03A3E1}"/>
              </a:ext>
            </a:extLst>
          </p:cNvPr>
          <p:cNvSpPr/>
          <p:nvPr/>
        </p:nvSpPr>
        <p:spPr>
          <a:xfrm>
            <a:off x="5439427" y="2743198"/>
            <a:ext cx="452718" cy="452718"/>
          </a:xfrm>
          <a:prstGeom prst="flowChartConnector">
            <a:avLst/>
          </a:prstGeom>
          <a:solidFill>
            <a:srgbClr val="10253F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92" name="フローチャート: 結合子 2091">
            <a:extLst>
              <a:ext uri="{FF2B5EF4-FFF2-40B4-BE49-F238E27FC236}">
                <a16:creationId xmlns:a16="http://schemas.microsoft.com/office/drawing/2014/main" id="{11455BE0-024C-CCCF-549A-5895CCF6FCA5}"/>
              </a:ext>
            </a:extLst>
          </p:cNvPr>
          <p:cNvSpPr/>
          <p:nvPr/>
        </p:nvSpPr>
        <p:spPr>
          <a:xfrm>
            <a:off x="5454960" y="3739586"/>
            <a:ext cx="452718" cy="452718"/>
          </a:xfrm>
          <a:prstGeom prst="flowChartConnector">
            <a:avLst/>
          </a:prstGeom>
          <a:solidFill>
            <a:srgbClr val="10253F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93" name="フローチャート: 結合子 2092">
            <a:extLst>
              <a:ext uri="{FF2B5EF4-FFF2-40B4-BE49-F238E27FC236}">
                <a16:creationId xmlns:a16="http://schemas.microsoft.com/office/drawing/2014/main" id="{6A2B7AEE-64D5-5687-4D90-BFEBFB87978F}"/>
              </a:ext>
            </a:extLst>
          </p:cNvPr>
          <p:cNvSpPr/>
          <p:nvPr/>
        </p:nvSpPr>
        <p:spPr>
          <a:xfrm>
            <a:off x="3076995" y="3776603"/>
            <a:ext cx="452718" cy="452718"/>
          </a:xfrm>
          <a:prstGeom prst="flowChartConnector">
            <a:avLst/>
          </a:prstGeom>
          <a:solidFill>
            <a:srgbClr val="10253F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94" name="テキスト ボックス 2093">
            <a:extLst>
              <a:ext uri="{FF2B5EF4-FFF2-40B4-BE49-F238E27FC236}">
                <a16:creationId xmlns:a16="http://schemas.microsoft.com/office/drawing/2014/main" id="{F181EC8C-1DAE-5AF7-1C4D-4C86090B08E7}"/>
              </a:ext>
            </a:extLst>
          </p:cNvPr>
          <p:cNvSpPr txBox="1"/>
          <p:nvPr/>
        </p:nvSpPr>
        <p:spPr>
          <a:xfrm>
            <a:off x="2824561" y="2498440"/>
            <a:ext cx="9575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000">
                <a:latin typeface="メイリオ" panose="020B0604030504040204" pitchFamily="50" charset="-128"/>
                <a:ea typeface="メイリオ" panose="020B0604030504040204" pitchFamily="50" charset="-128"/>
              </a:rPr>
              <a:t>2024</a:t>
            </a:r>
            <a:r>
              <a:rPr kumimoji="1" lang="ja-JP" altLang="en-US" sz="1000">
                <a:latin typeface="メイリオ" panose="020B0604030504040204" pitchFamily="50" charset="-128"/>
                <a:ea typeface="メイリオ" panose="020B0604030504040204" pitchFamily="50" charset="-128"/>
              </a:rPr>
              <a:t>年</a:t>
            </a:r>
            <a:r>
              <a:rPr kumimoji="1" lang="en-US" altLang="ja-JP" sz="1000">
                <a:latin typeface="メイリオ" panose="020B0604030504040204" pitchFamily="50" charset="-128"/>
                <a:ea typeface="メイリオ" panose="020B0604030504040204" pitchFamily="50" charset="-128"/>
              </a:rPr>
              <a:t>5</a:t>
            </a:r>
            <a:r>
              <a:rPr kumimoji="1" lang="ja-JP" altLang="en-US" sz="1000">
                <a:latin typeface="メイリオ" panose="020B0604030504040204" pitchFamily="50" charset="-128"/>
                <a:ea typeface="メイリオ" panose="020B0604030504040204" pitchFamily="50" charset="-128"/>
              </a:rPr>
              <a:t>月</a:t>
            </a:r>
          </a:p>
        </p:txBody>
      </p:sp>
      <p:sp>
        <p:nvSpPr>
          <p:cNvPr id="2095" name="テキスト ボックス 2094">
            <a:extLst>
              <a:ext uri="{FF2B5EF4-FFF2-40B4-BE49-F238E27FC236}">
                <a16:creationId xmlns:a16="http://schemas.microsoft.com/office/drawing/2014/main" id="{E9F47648-05F6-7064-8968-91D3649440CE}"/>
              </a:ext>
            </a:extLst>
          </p:cNvPr>
          <p:cNvSpPr txBox="1"/>
          <p:nvPr/>
        </p:nvSpPr>
        <p:spPr>
          <a:xfrm>
            <a:off x="5232177" y="2496209"/>
            <a:ext cx="9575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000">
                <a:latin typeface="メイリオ" panose="020B0604030504040204" pitchFamily="50" charset="-128"/>
                <a:ea typeface="メイリオ" panose="020B0604030504040204" pitchFamily="50" charset="-128"/>
              </a:rPr>
              <a:t>2024</a:t>
            </a:r>
            <a:r>
              <a:rPr kumimoji="1" lang="ja-JP" altLang="en-US" sz="1000">
                <a:latin typeface="メイリオ" panose="020B0604030504040204" pitchFamily="50" charset="-128"/>
                <a:ea typeface="メイリオ" panose="020B0604030504040204" pitchFamily="50" charset="-128"/>
              </a:rPr>
              <a:t>年</a:t>
            </a:r>
            <a:r>
              <a:rPr lang="en-US" altLang="ja-JP" sz="1000">
                <a:latin typeface="メイリオ" panose="020B0604030504040204" pitchFamily="50" charset="-128"/>
                <a:ea typeface="メイリオ" panose="020B0604030504040204" pitchFamily="50" charset="-128"/>
              </a:rPr>
              <a:t>12</a:t>
            </a:r>
            <a:r>
              <a:rPr kumimoji="1" lang="ja-JP" altLang="en-US" sz="1000">
                <a:latin typeface="メイリオ" panose="020B0604030504040204" pitchFamily="50" charset="-128"/>
                <a:ea typeface="メイリオ" panose="020B0604030504040204" pitchFamily="50" charset="-128"/>
              </a:rPr>
              <a:t>月</a:t>
            </a:r>
          </a:p>
        </p:txBody>
      </p:sp>
      <p:sp>
        <p:nvSpPr>
          <p:cNvPr id="2096" name="テキスト ボックス 2095">
            <a:extLst>
              <a:ext uri="{FF2B5EF4-FFF2-40B4-BE49-F238E27FC236}">
                <a16:creationId xmlns:a16="http://schemas.microsoft.com/office/drawing/2014/main" id="{2C8EEABD-6A90-AA4E-FBA6-2819EBF654DE}"/>
              </a:ext>
            </a:extLst>
          </p:cNvPr>
          <p:cNvSpPr txBox="1"/>
          <p:nvPr/>
        </p:nvSpPr>
        <p:spPr>
          <a:xfrm>
            <a:off x="7623567" y="2492162"/>
            <a:ext cx="9575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000">
                <a:latin typeface="メイリオ" panose="020B0604030504040204" pitchFamily="50" charset="-128"/>
                <a:ea typeface="メイリオ" panose="020B0604030504040204" pitchFamily="50" charset="-128"/>
              </a:rPr>
              <a:t>2025</a:t>
            </a:r>
            <a:r>
              <a:rPr kumimoji="1" lang="ja-JP" altLang="en-US" sz="1000">
                <a:latin typeface="メイリオ" panose="020B0604030504040204" pitchFamily="50" charset="-128"/>
                <a:ea typeface="メイリオ" panose="020B0604030504040204" pitchFamily="50" charset="-128"/>
              </a:rPr>
              <a:t>年</a:t>
            </a:r>
            <a:r>
              <a:rPr kumimoji="1" lang="en-US" altLang="ja-JP" sz="1000">
                <a:latin typeface="メイリオ" panose="020B0604030504040204" pitchFamily="50" charset="-128"/>
                <a:ea typeface="メイリオ" panose="020B0604030504040204" pitchFamily="50" charset="-128"/>
              </a:rPr>
              <a:t>5</a:t>
            </a:r>
            <a:r>
              <a:rPr kumimoji="1" lang="ja-JP" altLang="en-US" sz="1000">
                <a:latin typeface="メイリオ" panose="020B0604030504040204" pitchFamily="50" charset="-128"/>
                <a:ea typeface="メイリオ" panose="020B0604030504040204" pitchFamily="50" charset="-128"/>
              </a:rPr>
              <a:t>月</a:t>
            </a:r>
          </a:p>
        </p:txBody>
      </p:sp>
      <p:sp>
        <p:nvSpPr>
          <p:cNvPr id="2098" name="テキスト ボックス 2097">
            <a:extLst>
              <a:ext uri="{FF2B5EF4-FFF2-40B4-BE49-F238E27FC236}">
                <a16:creationId xmlns:a16="http://schemas.microsoft.com/office/drawing/2014/main" id="{CE12257A-0E7E-B895-AF8E-D15F7AA1D62A}"/>
              </a:ext>
            </a:extLst>
          </p:cNvPr>
          <p:cNvSpPr txBox="1"/>
          <p:nvPr/>
        </p:nvSpPr>
        <p:spPr>
          <a:xfrm>
            <a:off x="2895696" y="3511221"/>
            <a:ext cx="957586" cy="24622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000">
                <a:latin typeface="メイリオ" panose="020B0604030504040204" pitchFamily="50" charset="-128"/>
                <a:ea typeface="メイリオ" panose="020B0604030504040204" pitchFamily="50" charset="-128"/>
              </a:rPr>
              <a:t>2025</a:t>
            </a:r>
            <a:r>
              <a:rPr kumimoji="1" lang="ja-JP" altLang="en-US" sz="1000">
                <a:latin typeface="メイリオ" panose="020B0604030504040204" pitchFamily="50" charset="-128"/>
                <a:ea typeface="メイリオ" panose="020B0604030504040204" pitchFamily="50" charset="-128"/>
              </a:rPr>
              <a:t>年</a:t>
            </a:r>
            <a:r>
              <a:rPr lang="en-US" altLang="ja-JP" sz="1000">
                <a:latin typeface="メイリオ" panose="020B0604030504040204" pitchFamily="50" charset="-128"/>
                <a:ea typeface="メイリオ" panose="020B0604030504040204" pitchFamily="50" charset="-128"/>
              </a:rPr>
              <a:t>10</a:t>
            </a:r>
            <a:r>
              <a:rPr kumimoji="1" lang="ja-JP" altLang="en-US" sz="1000">
                <a:latin typeface="メイリオ" panose="020B0604030504040204" pitchFamily="50" charset="-128"/>
                <a:ea typeface="メイリオ" panose="020B0604030504040204" pitchFamily="50" charset="-128"/>
              </a:rPr>
              <a:t>月</a:t>
            </a:r>
          </a:p>
        </p:txBody>
      </p:sp>
      <p:sp>
        <p:nvSpPr>
          <p:cNvPr id="2099" name="テキスト ボックス 2098">
            <a:extLst>
              <a:ext uri="{FF2B5EF4-FFF2-40B4-BE49-F238E27FC236}">
                <a16:creationId xmlns:a16="http://schemas.microsoft.com/office/drawing/2014/main" id="{82EEA8C2-D18D-B5B9-3D3F-C9BE318BD901}"/>
              </a:ext>
            </a:extLst>
          </p:cNvPr>
          <p:cNvSpPr txBox="1"/>
          <p:nvPr/>
        </p:nvSpPr>
        <p:spPr>
          <a:xfrm>
            <a:off x="589609" y="3475317"/>
            <a:ext cx="957586" cy="24622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000">
                <a:latin typeface="メイリオ" panose="020B0604030504040204" pitchFamily="50" charset="-128"/>
                <a:ea typeface="メイリオ" panose="020B0604030504040204" pitchFamily="50" charset="-128"/>
              </a:rPr>
              <a:t>2025</a:t>
            </a:r>
            <a:r>
              <a:rPr kumimoji="1" lang="ja-JP" altLang="en-US" sz="1000">
                <a:latin typeface="メイリオ" panose="020B0604030504040204" pitchFamily="50" charset="-128"/>
                <a:ea typeface="メイリオ" panose="020B0604030504040204" pitchFamily="50" charset="-128"/>
              </a:rPr>
              <a:t>年</a:t>
            </a:r>
            <a:r>
              <a:rPr kumimoji="1" lang="en-US" altLang="ja-JP" sz="1000">
                <a:latin typeface="メイリオ" panose="020B0604030504040204" pitchFamily="50" charset="-128"/>
                <a:ea typeface="メイリオ" panose="020B0604030504040204" pitchFamily="50" charset="-128"/>
              </a:rPr>
              <a:t>8</a:t>
            </a:r>
            <a:r>
              <a:rPr kumimoji="1" lang="ja-JP" altLang="en-US" sz="1000">
                <a:latin typeface="メイリオ" panose="020B0604030504040204" pitchFamily="50" charset="-128"/>
                <a:ea typeface="メイリオ" panose="020B0604030504040204" pitchFamily="50" charset="-128"/>
              </a:rPr>
              <a:t>月</a:t>
            </a:r>
          </a:p>
        </p:txBody>
      </p:sp>
      <p:sp>
        <p:nvSpPr>
          <p:cNvPr id="2101" name="テキスト ボックス 2100">
            <a:extLst>
              <a:ext uri="{FF2B5EF4-FFF2-40B4-BE49-F238E27FC236}">
                <a16:creationId xmlns:a16="http://schemas.microsoft.com/office/drawing/2014/main" id="{E6D4C90C-BD24-1939-D716-C6450E2AD8FC}"/>
              </a:ext>
            </a:extLst>
          </p:cNvPr>
          <p:cNvSpPr txBox="1"/>
          <p:nvPr/>
        </p:nvSpPr>
        <p:spPr>
          <a:xfrm>
            <a:off x="309563" y="4310547"/>
            <a:ext cx="1966105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800" b="1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単月</a:t>
            </a:r>
            <a:r>
              <a:rPr lang="en-US" altLang="ja-JP" sz="800" b="1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6000</a:t>
            </a:r>
            <a:r>
              <a:rPr lang="ja-JP" altLang="en-US" sz="800" b="1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万円</a:t>
            </a:r>
            <a:r>
              <a:rPr lang="ja-JP" altLang="en-US" sz="800">
                <a:latin typeface="メイリオ" panose="020B0604030504040204" pitchFamily="50" charset="-128"/>
                <a:ea typeface="メイリオ" panose="020B0604030504040204" pitchFamily="50" charset="-128"/>
              </a:rPr>
              <a:t>の取り扱いを突破。</a:t>
            </a:r>
            <a:endParaRPr kumimoji="1" lang="ja-JP" altLang="en-US" sz="8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102" name="テキスト ボックス 2101">
            <a:extLst>
              <a:ext uri="{FF2B5EF4-FFF2-40B4-BE49-F238E27FC236}">
                <a16:creationId xmlns:a16="http://schemas.microsoft.com/office/drawing/2014/main" id="{756F6552-3CAE-3310-D96A-5D847F286859}"/>
              </a:ext>
            </a:extLst>
          </p:cNvPr>
          <p:cNvSpPr txBox="1"/>
          <p:nvPr/>
        </p:nvSpPr>
        <p:spPr>
          <a:xfrm>
            <a:off x="2105787" y="3209363"/>
            <a:ext cx="2612987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2024</a:t>
            </a:r>
            <a:r>
              <a:rPr kumimoji="1"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年度上半期の</a:t>
            </a:r>
            <a:r>
              <a:rPr kumimoji="1" lang="en-US" altLang="ja-JP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Sales Partner</a:t>
            </a:r>
            <a:r>
              <a:rPr kumimoji="1"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「</a:t>
            </a:r>
            <a:r>
              <a:rPr kumimoji="1" lang="en-US" altLang="ja-JP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Premier</a:t>
            </a:r>
            <a:r>
              <a:rPr kumimoji="1"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」に認定</a:t>
            </a:r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。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8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上位</a:t>
            </a:r>
            <a:r>
              <a:rPr lang="en-US" altLang="ja-JP" sz="8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20</a:t>
            </a:r>
            <a:r>
              <a:rPr lang="ja-JP" altLang="en-US" sz="8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位タイ</a:t>
            </a:r>
            <a:endParaRPr lang="en-US" altLang="ja-JP" sz="800" b="1" dirty="0">
              <a:solidFill>
                <a:srgbClr val="C00000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103" name="テキスト ボックス 2102">
            <a:extLst>
              <a:ext uri="{FF2B5EF4-FFF2-40B4-BE49-F238E27FC236}">
                <a16:creationId xmlns:a16="http://schemas.microsoft.com/office/drawing/2014/main" id="{D5793D3E-32A5-A172-B93D-F2E02806685C}"/>
              </a:ext>
            </a:extLst>
          </p:cNvPr>
          <p:cNvSpPr txBox="1"/>
          <p:nvPr/>
        </p:nvSpPr>
        <p:spPr>
          <a:xfrm>
            <a:off x="4837113" y="3209363"/>
            <a:ext cx="1767520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800" b="1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単月</a:t>
            </a:r>
            <a:r>
              <a:rPr lang="en-US" altLang="ja-JP" sz="800" b="1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2000</a:t>
            </a:r>
            <a:r>
              <a:rPr lang="ja-JP" altLang="en-US" sz="800" b="1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万円</a:t>
            </a:r>
            <a:r>
              <a:rPr lang="ja-JP" altLang="en-US" sz="800">
                <a:latin typeface="メイリオ" panose="020B0604030504040204" pitchFamily="50" charset="-128"/>
                <a:ea typeface="メイリオ" panose="020B0604030504040204" pitchFamily="50" charset="-128"/>
              </a:rPr>
              <a:t>の取り扱いを突破。</a:t>
            </a:r>
            <a:endParaRPr lang="en-US" altLang="ja-JP" sz="8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104" name="テキスト ボックス 2103">
            <a:extLst>
              <a:ext uri="{FF2B5EF4-FFF2-40B4-BE49-F238E27FC236}">
                <a16:creationId xmlns:a16="http://schemas.microsoft.com/office/drawing/2014/main" id="{89EE1600-592C-F991-FBB3-472A73DB5551}"/>
              </a:ext>
            </a:extLst>
          </p:cNvPr>
          <p:cNvSpPr txBox="1"/>
          <p:nvPr/>
        </p:nvSpPr>
        <p:spPr>
          <a:xfrm>
            <a:off x="1858111" y="4310547"/>
            <a:ext cx="3234807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800">
                <a:latin typeface="メイリオ" panose="020B0604030504040204" pitchFamily="50" charset="-128"/>
                <a:ea typeface="メイリオ" panose="020B0604030504040204" pitchFamily="50" charset="-128"/>
              </a:rPr>
              <a:t>前回に続き、最高グレードである</a:t>
            </a:r>
            <a:r>
              <a:rPr lang="ja-JP" altLang="en-US" sz="800">
                <a:latin typeface="メイリオ" panose="020B0604030504040204" pitchFamily="50" charset="-128"/>
                <a:ea typeface="メイリオ" panose="020B0604030504040204" pitchFamily="50" charset="-128"/>
              </a:rPr>
              <a:t>「</a:t>
            </a:r>
            <a:r>
              <a:rPr lang="en-US" altLang="ja-JP" sz="800">
                <a:latin typeface="メイリオ" panose="020B0604030504040204" pitchFamily="50" charset="-128"/>
                <a:ea typeface="メイリオ" panose="020B0604030504040204" pitchFamily="50" charset="-128"/>
              </a:rPr>
              <a:t>Premier</a:t>
            </a:r>
            <a:r>
              <a:rPr lang="ja-JP" altLang="en-US" sz="800">
                <a:latin typeface="メイリオ" panose="020B0604030504040204" pitchFamily="50" charset="-128"/>
                <a:ea typeface="メイリオ" panose="020B0604030504040204" pitchFamily="50" charset="-128"/>
              </a:rPr>
              <a:t>」に認定。</a:t>
            </a:r>
            <a:endParaRPr lang="en-US" altLang="ja-JP" sz="80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kumimoji="1" lang="ja-JP" altLang="en-US" sz="800" b="1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上位</a:t>
            </a:r>
            <a:r>
              <a:rPr kumimoji="1" lang="en-US" altLang="ja-JP" sz="800" b="1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12</a:t>
            </a:r>
            <a:r>
              <a:rPr kumimoji="1" lang="ja-JP" altLang="en-US" sz="800" b="1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位タイ</a:t>
            </a:r>
          </a:p>
        </p:txBody>
      </p:sp>
      <p:sp>
        <p:nvSpPr>
          <p:cNvPr id="2105" name="テキスト ボックス 2104">
            <a:extLst>
              <a:ext uri="{FF2B5EF4-FFF2-40B4-BE49-F238E27FC236}">
                <a16:creationId xmlns:a16="http://schemas.microsoft.com/office/drawing/2014/main" id="{735B8649-944E-38AC-EFE9-3FF466013418}"/>
              </a:ext>
            </a:extLst>
          </p:cNvPr>
          <p:cNvSpPr txBox="1"/>
          <p:nvPr/>
        </p:nvSpPr>
        <p:spPr>
          <a:xfrm>
            <a:off x="6722972" y="3209363"/>
            <a:ext cx="2758776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800">
                <a:latin typeface="メイリオ" panose="020B0604030504040204" pitchFamily="50" charset="-128"/>
                <a:ea typeface="メイリオ" panose="020B0604030504040204" pitchFamily="50" charset="-128"/>
              </a:rPr>
              <a:t>前回に続き、最高グレードである「</a:t>
            </a:r>
            <a:r>
              <a:rPr lang="en-US" altLang="ja-JP" sz="800">
                <a:latin typeface="メイリオ" panose="020B0604030504040204" pitchFamily="50" charset="-128"/>
                <a:ea typeface="メイリオ" panose="020B0604030504040204" pitchFamily="50" charset="-128"/>
              </a:rPr>
              <a:t>Premier</a:t>
            </a:r>
            <a:r>
              <a:rPr lang="ja-JP" altLang="en-US" sz="800">
                <a:latin typeface="メイリオ" panose="020B0604030504040204" pitchFamily="50" charset="-128"/>
                <a:ea typeface="メイリオ" panose="020B0604030504040204" pitchFamily="50" charset="-128"/>
              </a:rPr>
              <a:t>」に認定。</a:t>
            </a:r>
            <a:r>
              <a:rPr lang="ja-JP" altLang="en-US" sz="800" b="1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上位</a:t>
            </a:r>
            <a:r>
              <a:rPr lang="en-US" altLang="ja-JP" sz="800" b="1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15</a:t>
            </a:r>
            <a:r>
              <a:rPr lang="ja-JP" altLang="en-US" sz="800" b="1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位タイ</a:t>
            </a:r>
            <a:endParaRPr lang="en-US" altLang="ja-JP" sz="800" b="1">
              <a:solidFill>
                <a:srgbClr val="C00000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110" name="テキスト ボックス 2109">
            <a:extLst>
              <a:ext uri="{FF2B5EF4-FFF2-40B4-BE49-F238E27FC236}">
                <a16:creationId xmlns:a16="http://schemas.microsoft.com/office/drawing/2014/main" id="{9364E84A-3501-3480-3E86-4181D9EDDE0D}"/>
              </a:ext>
            </a:extLst>
          </p:cNvPr>
          <p:cNvSpPr txBox="1"/>
          <p:nvPr/>
        </p:nvSpPr>
        <p:spPr>
          <a:xfrm>
            <a:off x="5204477" y="3512494"/>
            <a:ext cx="957586" cy="24622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000">
                <a:latin typeface="メイリオ" panose="020B0604030504040204" pitchFamily="50" charset="-128"/>
                <a:ea typeface="メイリオ" panose="020B0604030504040204" pitchFamily="50" charset="-128"/>
              </a:rPr>
              <a:t>現在</a:t>
            </a:r>
          </a:p>
        </p:txBody>
      </p:sp>
      <p:sp>
        <p:nvSpPr>
          <p:cNvPr id="2111" name="テキスト ボックス 2110">
            <a:extLst>
              <a:ext uri="{FF2B5EF4-FFF2-40B4-BE49-F238E27FC236}">
                <a16:creationId xmlns:a16="http://schemas.microsoft.com/office/drawing/2014/main" id="{915149AC-7723-29BD-6D17-D471CC831F56}"/>
              </a:ext>
            </a:extLst>
          </p:cNvPr>
          <p:cNvSpPr txBox="1"/>
          <p:nvPr/>
        </p:nvSpPr>
        <p:spPr>
          <a:xfrm>
            <a:off x="4684085" y="4310547"/>
            <a:ext cx="2335280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「</a:t>
            </a:r>
            <a:r>
              <a:rPr lang="en-US" altLang="ja-JP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Best LINE</a:t>
            </a:r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公式アカウント </a:t>
            </a:r>
            <a:r>
              <a:rPr lang="en-US" altLang="ja-JP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Growth</a:t>
            </a:r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」部門で</a:t>
            </a:r>
            <a:r>
              <a:rPr lang="en-US" altLang="ja-JP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ヤフー社から表彰をいただきました。</a:t>
            </a:r>
            <a:endParaRPr kumimoji="1" lang="ja-JP" altLang="en-US" sz="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974FA57-9312-73D0-6461-C65486B6B90A}"/>
              </a:ext>
            </a:extLst>
          </p:cNvPr>
          <p:cNvSpPr/>
          <p:nvPr/>
        </p:nvSpPr>
        <p:spPr>
          <a:xfrm>
            <a:off x="388723" y="675734"/>
            <a:ext cx="9128556" cy="34901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661DF32-128A-6B77-5F5D-76D78A1B8378}"/>
              </a:ext>
            </a:extLst>
          </p:cNvPr>
          <p:cNvSpPr/>
          <p:nvPr/>
        </p:nvSpPr>
        <p:spPr>
          <a:xfrm>
            <a:off x="2853632" y="700332"/>
            <a:ext cx="6663645" cy="306000"/>
          </a:xfrm>
          <a:prstGeom prst="rect">
            <a:avLst/>
          </a:prstGeom>
          <a:solidFill>
            <a:srgbClr val="10253F"/>
          </a:solidFill>
        </p:spPr>
        <p:txBody>
          <a:bodyPr wrap="square">
            <a:spAutoFit/>
          </a:bodyPr>
          <a:lstStyle/>
          <a:p>
            <a:pPr lvl="0">
              <a:buClr>
                <a:srgbClr val="002060"/>
              </a:buClr>
              <a:buSzPts val="1600"/>
            </a:pPr>
            <a:r>
              <a:rPr lang="en-US" altLang="ja-JP" sz="1300" b="1">
                <a:solidFill>
                  <a:schemeClr val="bg1"/>
                </a:solidFill>
                <a:latin typeface="Meiryo"/>
                <a:ea typeface="Meiryo"/>
                <a:cs typeface="Meiryo"/>
                <a:sym typeface="Meiryo"/>
              </a:rPr>
              <a:t>LINE</a:t>
            </a:r>
            <a:r>
              <a:rPr lang="ja-JP" altLang="en-US" sz="1300" b="1">
                <a:solidFill>
                  <a:schemeClr val="bg1"/>
                </a:solidFill>
                <a:latin typeface="Meiryo"/>
                <a:ea typeface="Meiryo"/>
                <a:cs typeface="Meiryo"/>
                <a:sym typeface="Meiryo"/>
              </a:rPr>
              <a:t>ヤフー </a:t>
            </a:r>
            <a:r>
              <a:rPr lang="en-US" altLang="ja-JP" sz="1300" b="1">
                <a:solidFill>
                  <a:schemeClr val="bg1"/>
                </a:solidFill>
                <a:latin typeface="Meiryo"/>
                <a:ea typeface="Meiryo"/>
                <a:cs typeface="Meiryo"/>
                <a:sym typeface="Meiryo"/>
              </a:rPr>
              <a:t>Partner Award 2025</a:t>
            </a:r>
            <a:r>
              <a:rPr lang="ja-JP" altLang="en-US" sz="1300" b="1">
                <a:solidFill>
                  <a:schemeClr val="bg1"/>
                </a:solidFill>
                <a:latin typeface="Meiryo"/>
                <a:ea typeface="Meiryo"/>
                <a:cs typeface="Meiryo"/>
                <a:sym typeface="Meiryo"/>
              </a:rPr>
              <a:t>にて「</a:t>
            </a:r>
            <a:r>
              <a:rPr lang="en-US" altLang="ja-JP" sz="1300" b="1">
                <a:solidFill>
                  <a:schemeClr val="bg1"/>
                </a:solidFill>
                <a:latin typeface="Meiryo"/>
                <a:ea typeface="Meiryo"/>
                <a:cs typeface="Meiryo"/>
                <a:sym typeface="Meiryo"/>
              </a:rPr>
              <a:t>Best LINE</a:t>
            </a:r>
            <a:r>
              <a:rPr lang="ja-JP" altLang="en-US" sz="1300" b="1">
                <a:solidFill>
                  <a:schemeClr val="bg1"/>
                </a:solidFill>
                <a:latin typeface="Meiryo"/>
                <a:ea typeface="Meiryo"/>
                <a:cs typeface="Meiryo"/>
                <a:sym typeface="Meiryo"/>
              </a:rPr>
              <a:t>公式アカウント </a:t>
            </a:r>
            <a:r>
              <a:rPr lang="en-US" altLang="ja-JP" sz="1300" b="1">
                <a:solidFill>
                  <a:schemeClr val="bg1"/>
                </a:solidFill>
                <a:latin typeface="Meiryo"/>
                <a:ea typeface="Meiryo"/>
                <a:cs typeface="Meiryo"/>
                <a:sym typeface="Meiryo"/>
              </a:rPr>
              <a:t>Growth</a:t>
            </a:r>
            <a:r>
              <a:rPr lang="ja-JP" altLang="en-US" sz="1300" b="1">
                <a:solidFill>
                  <a:schemeClr val="bg1"/>
                </a:solidFill>
                <a:latin typeface="Meiryo"/>
                <a:ea typeface="Meiryo"/>
                <a:cs typeface="Meiryo"/>
                <a:sym typeface="Meiryo"/>
              </a:rPr>
              <a:t>」受賞</a:t>
            </a:r>
            <a:endParaRPr lang="en-US" altLang="ja-JP" sz="1300" b="1" dirty="0">
              <a:solidFill>
                <a:schemeClr val="bg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DEE7F595-5FAC-C5CD-0B26-580B6DF09A53}"/>
              </a:ext>
            </a:extLst>
          </p:cNvPr>
          <p:cNvSpPr/>
          <p:nvPr/>
        </p:nvSpPr>
        <p:spPr>
          <a:xfrm>
            <a:off x="432943" y="700332"/>
            <a:ext cx="2391617" cy="306000"/>
          </a:xfrm>
          <a:prstGeom prst="rect">
            <a:avLst/>
          </a:prstGeom>
          <a:solidFill>
            <a:srgbClr val="10253F"/>
          </a:solidFill>
        </p:spPr>
        <p:txBody>
          <a:bodyPr wrap="square">
            <a:spAutoFit/>
          </a:bodyPr>
          <a:lstStyle/>
          <a:p>
            <a:pPr lvl="0" algn="ctr">
              <a:buClr>
                <a:srgbClr val="002060"/>
              </a:buClr>
              <a:buSzPts val="1600"/>
            </a:pPr>
            <a:r>
              <a:rPr lang="en-US" altLang="ja-JP" sz="1400" b="1">
                <a:solidFill>
                  <a:schemeClr val="bg1"/>
                </a:solidFill>
                <a:latin typeface="Meiryo"/>
                <a:ea typeface="Meiryo"/>
                <a:cs typeface="Meiryo"/>
                <a:sym typeface="Meiryo"/>
              </a:rPr>
              <a:t>DYM × LINEOA</a:t>
            </a:r>
            <a:endParaRPr lang="en-US" altLang="ja-JP" sz="1400" b="1" dirty="0">
              <a:solidFill>
                <a:schemeClr val="bg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pic>
        <p:nvPicPr>
          <p:cNvPr id="56" name="Picture 2">
            <a:extLst>
              <a:ext uri="{FF2B5EF4-FFF2-40B4-BE49-F238E27FC236}">
                <a16:creationId xmlns:a16="http://schemas.microsoft.com/office/drawing/2014/main" id="{6B503BF7-985B-8770-4643-5E3EB6E556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9689" y="5150774"/>
            <a:ext cx="1929199" cy="1286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テキスト プレースホルダー 2">
            <a:extLst>
              <a:ext uri="{FF2B5EF4-FFF2-40B4-BE49-F238E27FC236}">
                <a16:creationId xmlns:a16="http://schemas.microsoft.com/office/drawing/2014/main" id="{761ADAB8-B668-8B05-EDE6-B5003466E015}"/>
              </a:ext>
            </a:extLst>
          </p:cNvPr>
          <p:cNvSpPr txBox="1">
            <a:spLocks/>
          </p:cNvSpPr>
          <p:nvPr/>
        </p:nvSpPr>
        <p:spPr>
          <a:xfrm>
            <a:off x="8209814" y="6217102"/>
            <a:ext cx="676273" cy="157797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kumimoji="1" sz="1400" kern="1200">
                <a:solidFill>
                  <a:schemeClr val="tx1">
                    <a:lumMod val="95000"/>
                    <a:lumOff val="5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defRPr/>
            </a:pPr>
            <a:r>
              <a:rPr lang="en-US" altLang="ja-JP" sz="700">
                <a:solidFill>
                  <a:schemeClr val="bg1"/>
                </a:solidFill>
              </a:rPr>
              <a:t>※</a:t>
            </a:r>
            <a:r>
              <a:rPr lang="ja-JP" altLang="en-US" sz="700">
                <a:solidFill>
                  <a:schemeClr val="bg1"/>
                </a:solidFill>
              </a:rPr>
              <a:t>受賞時の</a:t>
            </a:r>
            <a:r>
              <a:rPr lang="en-US" altLang="ja-JP" sz="700">
                <a:solidFill>
                  <a:schemeClr val="bg1"/>
                </a:solidFill>
              </a:rPr>
              <a:t>1</a:t>
            </a:r>
            <a:r>
              <a:rPr lang="ja-JP" altLang="en-US" sz="700">
                <a:solidFill>
                  <a:schemeClr val="bg1"/>
                </a:solidFill>
              </a:rPr>
              <a:t>枚</a:t>
            </a:r>
            <a:endParaRPr lang="en-US" altLang="ja-JP" sz="700" dirty="0">
              <a:solidFill>
                <a:schemeClr val="bg1"/>
              </a:solidFill>
            </a:endParaRPr>
          </a:p>
        </p:txBody>
      </p:sp>
      <p:pic>
        <p:nvPicPr>
          <p:cNvPr id="7" name="図 6" descr="アイコン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1FAB445F-372A-C0D2-7552-790613769A3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8069" y="4654614"/>
            <a:ext cx="2886575" cy="2294826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7A1F49B-800C-42EE-5308-93E8C2B2E88F}"/>
              </a:ext>
            </a:extLst>
          </p:cNvPr>
          <p:cNvSpPr txBox="1"/>
          <p:nvPr/>
        </p:nvSpPr>
        <p:spPr>
          <a:xfrm>
            <a:off x="2535025" y="5767731"/>
            <a:ext cx="49638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9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現在</a:t>
            </a:r>
            <a:r>
              <a:rPr lang="en-US" altLang="ja-JP" sz="9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Sales Partner Premier</a:t>
            </a:r>
          </a:p>
          <a:p>
            <a:r>
              <a:rPr lang="ja-JP" altLang="en-US" sz="9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は</a:t>
            </a:r>
            <a:r>
              <a:rPr lang="en-US" altLang="ja-JP" sz="9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DYM</a:t>
            </a:r>
            <a:r>
              <a:rPr lang="ja-JP" altLang="en-US" sz="9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を合わせて</a:t>
            </a:r>
            <a:r>
              <a:rPr lang="en-US" altLang="ja-JP" sz="900" b="1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12</a:t>
            </a:r>
            <a:r>
              <a:rPr lang="ja-JP" altLang="en-US" sz="900" b="1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社が認定</a:t>
            </a:r>
            <a:r>
              <a:rPr lang="ja-JP" altLang="en-US" sz="9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。</a:t>
            </a:r>
            <a:endParaRPr lang="en-US" altLang="ja-JP" sz="900" dirty="0">
              <a:solidFill>
                <a:srgbClr val="000000">
                  <a:lumMod val="95000"/>
                  <a:lumOff val="5000"/>
                </a:srgb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900" dirty="0">
              <a:solidFill>
                <a:srgbClr val="000000">
                  <a:lumMod val="95000"/>
                  <a:lumOff val="5000"/>
                </a:srgb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9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9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未上場企業では</a:t>
            </a:r>
            <a:r>
              <a:rPr lang="ja-JP" altLang="en-US" sz="900" b="1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唯一で最上位</a:t>
            </a:r>
            <a:r>
              <a:rPr lang="ja-JP" altLang="en-US" sz="900" dirty="0">
                <a:solidFill>
                  <a:srgbClr val="000000">
                    <a:lumMod val="95000"/>
                    <a:lumOff val="5000"/>
                  </a:srgb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。</a:t>
            </a:r>
            <a:endParaRPr lang="ja-JP" altLang="en-US" sz="900" dirty="0"/>
          </a:p>
        </p:txBody>
      </p:sp>
    </p:spTree>
    <p:extLst>
      <p:ext uri="{BB962C8B-B14F-4D97-AF65-F5344CB8AC3E}">
        <p14:creationId xmlns:p14="http://schemas.microsoft.com/office/powerpoint/2010/main" val="30142225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E371F4F6-3F93-7830-595E-799AA69EA971}"/>
              </a:ext>
            </a:extLst>
          </p:cNvPr>
          <p:cNvSpPr txBox="1"/>
          <p:nvPr/>
        </p:nvSpPr>
        <p:spPr>
          <a:xfrm>
            <a:off x="548883" y="107360"/>
            <a:ext cx="6276325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2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実例紹介 </a:t>
            </a:r>
            <a:r>
              <a:rPr lang="en-US" altLang="ja-JP" sz="2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- </a:t>
            </a:r>
            <a:r>
              <a:rPr lang="ja-JP" altLang="en-US" sz="2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弊社実績について</a:t>
            </a:r>
          </a:p>
        </p:txBody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9A6B81D2-7F85-D98D-ED15-FD61A8068E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2138014"/>
              </p:ext>
            </p:extLst>
          </p:nvPr>
        </p:nvGraphicFramePr>
        <p:xfrm>
          <a:off x="381000" y="809625"/>
          <a:ext cx="9191625" cy="5485142"/>
        </p:xfrm>
        <a:graphic>
          <a:graphicData uri="http://schemas.openxmlformats.org/drawingml/2006/table">
            <a:tbl>
              <a:tblPr/>
              <a:tblGrid>
                <a:gridCol w="1819275">
                  <a:extLst>
                    <a:ext uri="{9D8B030D-6E8A-4147-A177-3AD203B41FA5}">
                      <a16:colId xmlns:a16="http://schemas.microsoft.com/office/drawing/2014/main" val="1856077232"/>
                    </a:ext>
                  </a:extLst>
                </a:gridCol>
                <a:gridCol w="828675">
                  <a:extLst>
                    <a:ext uri="{9D8B030D-6E8A-4147-A177-3AD203B41FA5}">
                      <a16:colId xmlns:a16="http://schemas.microsoft.com/office/drawing/2014/main" val="2505763101"/>
                    </a:ext>
                  </a:extLst>
                </a:gridCol>
                <a:gridCol w="2856379">
                  <a:extLst>
                    <a:ext uri="{9D8B030D-6E8A-4147-A177-3AD203B41FA5}">
                      <a16:colId xmlns:a16="http://schemas.microsoft.com/office/drawing/2014/main" val="415261329"/>
                    </a:ext>
                  </a:extLst>
                </a:gridCol>
                <a:gridCol w="3687296">
                  <a:extLst>
                    <a:ext uri="{9D8B030D-6E8A-4147-A177-3AD203B41FA5}">
                      <a16:colId xmlns:a16="http://schemas.microsoft.com/office/drawing/2014/main" val="2991975434"/>
                    </a:ext>
                  </a:extLst>
                </a:gridCol>
              </a:tblGrid>
              <a:tr h="37147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業界</a:t>
                      </a:r>
                    </a:p>
                  </a:txBody>
                  <a:tcPr marL="6120" marR="6120" marT="61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運用期間</a:t>
                      </a:r>
                    </a:p>
                  </a:txBody>
                  <a:tcPr marL="6120" marR="6120" marT="61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施策インパクト</a:t>
                      </a:r>
                    </a:p>
                  </a:txBody>
                  <a:tcPr marL="6120" marR="6120" marT="61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400" b="1" i="0" u="none" strike="noStrike" dirty="0">
                          <a:solidFill>
                            <a:schemeClr val="bg1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施策内容</a:t>
                      </a:r>
                    </a:p>
                  </a:txBody>
                  <a:tcPr marL="6120" marR="6120" marT="61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463423"/>
                  </a:ext>
                </a:extLst>
              </a:tr>
              <a:tr h="102810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200" b="1" i="0" u="none" strike="noStrike" dirty="0">
                          <a:solidFill>
                            <a:srgbClr val="191F54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人材</a:t>
                      </a:r>
                      <a:endParaRPr lang="en-US" altLang="ja-JP" sz="1200" b="1" i="0" u="none" strike="noStrike" dirty="0">
                        <a:solidFill>
                          <a:srgbClr val="191F54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  <a:p>
                      <a:pPr algn="ctr" fontAlgn="ctr">
                        <a:buNone/>
                      </a:pPr>
                      <a:r>
                        <a:rPr lang="ja-JP" altLang="en-US" sz="1200" b="1" i="0" u="none" strike="noStrike" dirty="0">
                          <a:solidFill>
                            <a:srgbClr val="191F54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（資格職・専門職転職）</a:t>
                      </a:r>
                    </a:p>
                  </a:txBody>
                  <a:tcPr marL="6120" marR="6120" marT="61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1200" b="1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8</a:t>
                      </a:r>
                      <a:r>
                        <a:rPr lang="ja-JP" altLang="en-US" sz="1200" b="1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ヶ月</a:t>
                      </a:r>
                    </a:p>
                  </a:txBody>
                  <a:tcPr marL="6120" marR="6120" marT="61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8900" indent="0" algn="l" fontAlgn="ctr">
                        <a:lnSpc>
                          <a:spcPct val="100000"/>
                        </a:lnSpc>
                        <a:buNone/>
                      </a:pPr>
                      <a:r>
                        <a:rPr lang="ja-JP" altLang="en-US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■月間求人応募数</a:t>
                      </a:r>
                      <a:r>
                        <a:rPr lang="en-US" altLang="ja-JP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:</a:t>
                      </a:r>
                      <a:br>
                        <a:rPr lang="en-US" altLang="ja-JP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2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　</a:t>
                      </a:r>
                      <a:br>
                        <a:rPr lang="en-US" altLang="ja-JP" sz="11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11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　</a:t>
                      </a:r>
                      <a:r>
                        <a:rPr lang="en-US" altLang="ja-JP" sz="1600" b="1" i="0" u="none" strike="noStrike" dirty="0">
                          <a:solidFill>
                            <a:srgbClr val="C00000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</a:t>
                      </a:r>
                      <a:r>
                        <a:rPr lang="ja-JP" altLang="en-US" sz="1600" b="1" i="0" u="none" strike="noStrike" dirty="0">
                          <a:solidFill>
                            <a:srgbClr val="C00000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倍</a:t>
                      </a:r>
                      <a:r>
                        <a:rPr lang="ja-JP" altLang="en-US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</a:t>
                      </a:r>
                      <a:r>
                        <a:rPr lang="en-US" altLang="ja-JP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</a:t>
                      </a:r>
                      <a:r>
                        <a:rPr lang="ja-JP" altLang="en-US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件</a:t>
                      </a:r>
                      <a:r>
                        <a:rPr lang="en-US" altLang="ja-JP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 → 4</a:t>
                      </a:r>
                      <a:r>
                        <a:rPr lang="ja-JP" altLang="en-US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件）</a:t>
                      </a:r>
                      <a:br>
                        <a:rPr lang="en-US" altLang="ja-JP" sz="18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4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　</a:t>
                      </a:r>
                      <a:br>
                        <a:rPr lang="ja-JP" altLang="en-US" sz="11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■</a:t>
                      </a:r>
                      <a:r>
                        <a:rPr lang="en-US" altLang="ja-JP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CPA</a:t>
                      </a:r>
                      <a:r>
                        <a:rPr lang="ja-JP" altLang="en-US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換算</a:t>
                      </a:r>
                      <a:r>
                        <a:rPr lang="en-US" altLang="ja-JP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: </a:t>
                      </a:r>
                      <a:br>
                        <a:rPr lang="en-US" altLang="ja-JP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2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　</a:t>
                      </a:r>
                      <a:br>
                        <a:rPr lang="en-US" altLang="ja-JP" sz="11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11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　</a:t>
                      </a:r>
                      <a:r>
                        <a:rPr lang="en-US" altLang="ja-JP" sz="1600" b="1" i="0" u="none" strike="noStrike" dirty="0">
                          <a:solidFill>
                            <a:srgbClr val="C00000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30</a:t>
                      </a:r>
                      <a:r>
                        <a:rPr lang="ja-JP" altLang="en-US" sz="1600" b="1" i="0" u="none" strike="noStrike" dirty="0">
                          <a:solidFill>
                            <a:srgbClr val="C00000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％改善</a:t>
                      </a:r>
                      <a:r>
                        <a:rPr lang="ja-JP" altLang="en-US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</a:t>
                      </a:r>
                      <a:r>
                        <a:rPr lang="en-US" altLang="ja-JP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¥145,000 → ¥102,000</a:t>
                      </a:r>
                      <a:r>
                        <a:rPr lang="ja-JP" altLang="en-US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）</a:t>
                      </a:r>
                      <a:endParaRPr lang="en-US" altLang="ja-JP" sz="1100" b="0" i="0" u="none" strike="noStrike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6120" marR="6120" marT="61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8900" indent="0" algn="l" fontAlgn="ctr">
                        <a:buNone/>
                      </a:pPr>
                      <a:r>
                        <a:rPr lang="ja-JP" altLang="en-US" sz="11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・アンケートによる</a:t>
                      </a:r>
                      <a:r>
                        <a:rPr lang="ja-JP" altLang="en-US" sz="1200" b="1" i="0" u="sng" strike="noStrike" dirty="0">
                          <a:solidFill>
                            <a:srgbClr val="C00000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ユーザーセグメントの取得</a:t>
                      </a:r>
                      <a:br>
                        <a:rPr lang="en-US" altLang="ja-JP" sz="1200" b="1" i="0" u="sng" strike="noStrike" dirty="0">
                          <a:solidFill>
                            <a:srgbClr val="C00000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400" b="1" i="0" u="sng" strike="noStrike" dirty="0">
                          <a:solidFill>
                            <a:srgbClr val="C00000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　</a:t>
                      </a:r>
                      <a:br>
                        <a:rPr lang="ja-JP" altLang="en-US" sz="11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11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・セグメント配信による</a:t>
                      </a:r>
                      <a:r>
                        <a:rPr lang="ja-JP" altLang="en-US" sz="1200" b="1" i="0" u="sng" strike="noStrike" dirty="0">
                          <a:solidFill>
                            <a:srgbClr val="C00000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パーソナライズされた追客</a:t>
                      </a:r>
                      <a:endParaRPr lang="ja-JP" altLang="en-US" sz="1100" b="1" i="0" u="sng" strike="noStrike" dirty="0">
                        <a:solidFill>
                          <a:srgbClr val="C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6120" marR="6120" marT="61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4378025"/>
                  </a:ext>
                </a:extLst>
              </a:tr>
              <a:tr h="102139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200" b="1" i="0" u="none" strike="noStrike" dirty="0">
                          <a:solidFill>
                            <a:srgbClr val="191F54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不動産</a:t>
                      </a:r>
                      <a:endParaRPr lang="en-US" altLang="ja-JP" sz="1200" b="1" i="0" u="none" strike="noStrike" dirty="0">
                        <a:solidFill>
                          <a:srgbClr val="191F54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  <a:p>
                      <a:pPr algn="ctr" fontAlgn="ctr">
                        <a:buNone/>
                      </a:pPr>
                      <a:r>
                        <a:rPr lang="ja-JP" altLang="en-US" sz="1200" b="1" i="0" u="none" strike="noStrike" dirty="0">
                          <a:solidFill>
                            <a:srgbClr val="191F54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（住宅メーカー）</a:t>
                      </a:r>
                    </a:p>
                  </a:txBody>
                  <a:tcPr marL="6120" marR="6120" marT="61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1200" b="1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10</a:t>
                      </a:r>
                      <a:r>
                        <a:rPr lang="ja-JP" altLang="en-US" sz="1200" b="1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ヶ月</a:t>
                      </a:r>
                    </a:p>
                  </a:txBody>
                  <a:tcPr marL="6120" marR="6120" marT="61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8900" indent="0" algn="l" fontAlgn="ctr">
                        <a:lnSpc>
                          <a:spcPct val="100000"/>
                        </a:lnSpc>
                        <a:buNone/>
                      </a:pPr>
                      <a:r>
                        <a:rPr lang="ja-JP" altLang="en-US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■月間来場・資料請求件数</a:t>
                      </a:r>
                      <a:r>
                        <a:rPr lang="en-US" altLang="ja-JP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:</a:t>
                      </a:r>
                    </a:p>
                    <a:p>
                      <a:pPr marL="88900" indent="0" algn="l" fontAlgn="ctr">
                        <a:lnSpc>
                          <a:spcPct val="100000"/>
                        </a:lnSpc>
                        <a:buNone/>
                      </a:pPr>
                      <a:r>
                        <a:rPr lang="ja-JP" altLang="en-US" sz="2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　</a:t>
                      </a:r>
                      <a:endParaRPr lang="en-US" altLang="ja-JP" sz="200" b="0" i="0" u="none" strike="noStrike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  <a:p>
                      <a:pPr marL="88900" indent="0" algn="l" fontAlgn="ctr">
                        <a:lnSpc>
                          <a:spcPct val="100000"/>
                        </a:lnSpc>
                        <a:buNone/>
                      </a:pPr>
                      <a:r>
                        <a:rPr lang="ja-JP" altLang="en-US" sz="11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　</a:t>
                      </a:r>
                      <a:r>
                        <a:rPr lang="en-US" altLang="ja-JP" sz="1600" b="1" i="0" u="none" strike="noStrike" dirty="0">
                          <a:solidFill>
                            <a:srgbClr val="C00000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12</a:t>
                      </a:r>
                      <a:r>
                        <a:rPr lang="ja-JP" altLang="en-US" sz="1600" b="1" i="0" u="none" strike="noStrike" dirty="0">
                          <a:solidFill>
                            <a:srgbClr val="C00000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倍</a:t>
                      </a:r>
                      <a:r>
                        <a:rPr lang="ja-JP" altLang="en-US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</a:t>
                      </a:r>
                      <a:r>
                        <a:rPr lang="en-US" altLang="ja-JP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5</a:t>
                      </a:r>
                      <a:r>
                        <a:rPr lang="ja-JP" altLang="en-US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件 → </a:t>
                      </a:r>
                      <a:r>
                        <a:rPr lang="en-US" altLang="ja-JP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60</a:t>
                      </a:r>
                      <a:r>
                        <a:rPr lang="ja-JP" altLang="en-US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件）</a:t>
                      </a:r>
                      <a:endParaRPr lang="en-US" altLang="ja-JP" sz="1000" b="0" i="0" u="none" strike="noStrike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  <a:p>
                      <a:pPr marL="88900" indent="0" algn="l" fontAlgn="ctr">
                        <a:lnSpc>
                          <a:spcPct val="100000"/>
                        </a:lnSpc>
                        <a:buNone/>
                      </a:pPr>
                      <a:r>
                        <a:rPr lang="ja-JP" altLang="en-US" sz="4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　</a:t>
                      </a:r>
                      <a:br>
                        <a:rPr lang="ja-JP" altLang="en-US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■</a:t>
                      </a:r>
                      <a:r>
                        <a:rPr lang="en-US" altLang="ja-JP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CPA</a:t>
                      </a:r>
                      <a:r>
                        <a:rPr lang="ja-JP" altLang="en-US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換算</a:t>
                      </a:r>
                      <a:r>
                        <a:rPr lang="en-US" altLang="ja-JP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: </a:t>
                      </a:r>
                    </a:p>
                    <a:p>
                      <a:pPr marL="88900" indent="0" algn="l" fontAlgn="ctr">
                        <a:lnSpc>
                          <a:spcPct val="100000"/>
                        </a:lnSpc>
                        <a:buNone/>
                      </a:pPr>
                      <a:r>
                        <a:rPr lang="ja-JP" altLang="en-US" sz="2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　</a:t>
                      </a:r>
                      <a:br>
                        <a:rPr lang="en-US" altLang="ja-JP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11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　</a:t>
                      </a:r>
                      <a:r>
                        <a:rPr lang="en-US" altLang="ja-JP" sz="1600" b="1" i="0" u="none" strike="noStrike" dirty="0">
                          <a:solidFill>
                            <a:srgbClr val="C00000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92</a:t>
                      </a:r>
                      <a:r>
                        <a:rPr lang="ja-JP" altLang="en-US" sz="1600" b="1" i="0" u="none" strike="noStrike" dirty="0">
                          <a:solidFill>
                            <a:srgbClr val="C00000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％改善</a:t>
                      </a:r>
                      <a:r>
                        <a:rPr lang="ja-JP" altLang="en-US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</a:t>
                      </a:r>
                      <a:r>
                        <a:rPr lang="en-US" altLang="ja-JP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¥150,000 → ¥12,500</a:t>
                      </a:r>
                      <a:r>
                        <a:rPr lang="ja-JP" altLang="en-US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）</a:t>
                      </a:r>
                      <a:endParaRPr lang="en-US" altLang="ja-JP" sz="1000" b="0" i="0" u="none" strike="noStrike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6120" marR="6120" marT="61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8900" indent="0" algn="l" fontAlgn="ctr">
                        <a:buNone/>
                      </a:pPr>
                      <a:r>
                        <a:rPr lang="ja-JP" altLang="en-US" sz="11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・</a:t>
                      </a:r>
                      <a:r>
                        <a:rPr lang="ja-JP" altLang="en-US" sz="1200" b="1" i="0" u="sng" strike="noStrike" dirty="0">
                          <a:solidFill>
                            <a:srgbClr val="C00000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離脱防止バナー</a:t>
                      </a:r>
                      <a:r>
                        <a:rPr lang="ja-JP" altLang="en-US" sz="11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による友だち増加促進</a:t>
                      </a:r>
                      <a:br>
                        <a:rPr lang="en-US" altLang="ja-JP" sz="11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4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　</a:t>
                      </a:r>
                      <a:br>
                        <a:rPr lang="ja-JP" altLang="en-US" sz="11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11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・</a:t>
                      </a:r>
                      <a:r>
                        <a:rPr lang="ja-JP" altLang="en-US" sz="1200" b="1" i="0" u="sng" strike="noStrike" dirty="0">
                          <a:solidFill>
                            <a:srgbClr val="C00000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ペルソナに合わせた動線・クリエイティブ</a:t>
                      </a:r>
                      <a:r>
                        <a:rPr lang="ja-JP" altLang="en-US" sz="11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の設計</a:t>
                      </a:r>
                    </a:p>
                  </a:txBody>
                  <a:tcPr marL="6120" marR="6120" marT="61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9117311"/>
                  </a:ext>
                </a:extLst>
              </a:tr>
              <a:tr h="102139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191F54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EC</a:t>
                      </a:r>
                    </a:p>
                    <a:p>
                      <a:pPr algn="ctr" fontAlgn="ctr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191F54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</a:t>
                      </a:r>
                      <a:r>
                        <a:rPr lang="ja-JP" altLang="en-US" sz="1200" b="1" i="0" u="none" strike="noStrike" dirty="0">
                          <a:solidFill>
                            <a:srgbClr val="191F54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総合</a:t>
                      </a:r>
                      <a:r>
                        <a:rPr lang="en-US" sz="1200" b="1" i="0" u="none" strike="noStrike" dirty="0">
                          <a:solidFill>
                            <a:srgbClr val="191F54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EC）</a:t>
                      </a:r>
                    </a:p>
                  </a:txBody>
                  <a:tcPr marL="6120" marR="6120" marT="61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1200" b="1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</a:t>
                      </a:r>
                      <a:r>
                        <a:rPr lang="ja-JP" altLang="en-US" sz="1200" b="1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年</a:t>
                      </a:r>
                      <a:r>
                        <a:rPr lang="en-US" altLang="ja-JP" sz="1200" b="1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8</a:t>
                      </a:r>
                      <a:r>
                        <a:rPr lang="ja-JP" altLang="en-US" sz="1200" b="1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ヶ月</a:t>
                      </a:r>
                    </a:p>
                  </a:txBody>
                  <a:tcPr marL="6120" marR="6120" marT="61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8900" indent="0" algn="l" fontAlgn="ctr">
                        <a:lnSpc>
                          <a:spcPct val="100000"/>
                        </a:lnSpc>
                        <a:buNone/>
                      </a:pPr>
                      <a:r>
                        <a:rPr lang="ja-JP" altLang="en-US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■月間</a:t>
                      </a:r>
                      <a:r>
                        <a:rPr lang="en-US" altLang="ja-JP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CV</a:t>
                      </a:r>
                      <a:r>
                        <a:rPr lang="ja-JP" altLang="en-US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件数</a:t>
                      </a:r>
                      <a:r>
                        <a:rPr lang="en-US" altLang="ja-JP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:</a:t>
                      </a:r>
                    </a:p>
                    <a:p>
                      <a:pPr marL="88900" indent="0" algn="l" fontAlgn="ctr">
                        <a:lnSpc>
                          <a:spcPct val="100000"/>
                        </a:lnSpc>
                        <a:buNone/>
                      </a:pPr>
                      <a:r>
                        <a:rPr lang="ja-JP" altLang="en-US" sz="2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　</a:t>
                      </a:r>
                      <a:endParaRPr lang="en-US" altLang="ja-JP" sz="200" b="0" i="0" u="none" strike="noStrike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  <a:p>
                      <a:pPr marL="88900" indent="0" algn="l" fontAlgn="ctr">
                        <a:lnSpc>
                          <a:spcPct val="100000"/>
                        </a:lnSpc>
                        <a:buNone/>
                      </a:pPr>
                      <a:r>
                        <a:rPr lang="ja-JP" altLang="en-US" sz="11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　</a:t>
                      </a:r>
                      <a:r>
                        <a:rPr lang="en-US" altLang="ja-JP" sz="1600" b="1" i="0" u="none" strike="noStrike" dirty="0">
                          <a:solidFill>
                            <a:srgbClr val="C00000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4.3</a:t>
                      </a:r>
                      <a:r>
                        <a:rPr lang="ja-JP" altLang="en-US" sz="1600" b="1" i="0" u="none" strike="noStrike" dirty="0">
                          <a:solidFill>
                            <a:srgbClr val="C00000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倍</a:t>
                      </a:r>
                      <a:r>
                        <a:rPr lang="ja-JP" altLang="en-US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</a:t>
                      </a:r>
                      <a:r>
                        <a:rPr lang="en-US" altLang="ja-JP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120</a:t>
                      </a:r>
                      <a:r>
                        <a:rPr lang="ja-JP" altLang="en-US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件 → </a:t>
                      </a:r>
                      <a:r>
                        <a:rPr lang="en-US" altLang="ja-JP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520</a:t>
                      </a:r>
                      <a:r>
                        <a:rPr lang="ja-JP" altLang="en-US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件）</a:t>
                      </a:r>
                      <a:endParaRPr lang="en-US" altLang="ja-JP" sz="1000" b="0" i="0" u="none" strike="noStrike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  <a:p>
                      <a:pPr marL="88900" indent="0" algn="l" fontAlgn="ctr">
                        <a:lnSpc>
                          <a:spcPct val="100000"/>
                        </a:lnSpc>
                        <a:buNone/>
                      </a:pPr>
                      <a:r>
                        <a:rPr lang="ja-JP" altLang="en-US" sz="4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　</a:t>
                      </a:r>
                      <a:br>
                        <a:rPr lang="ja-JP" altLang="en-US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■</a:t>
                      </a:r>
                      <a:r>
                        <a:rPr lang="en-US" altLang="ja-JP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CPA</a:t>
                      </a:r>
                      <a:r>
                        <a:rPr lang="ja-JP" altLang="en-US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換算</a:t>
                      </a:r>
                      <a:r>
                        <a:rPr lang="en-US" altLang="ja-JP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: </a:t>
                      </a:r>
                    </a:p>
                    <a:p>
                      <a:pPr marL="88900" indent="0" algn="l" fontAlgn="ctr">
                        <a:lnSpc>
                          <a:spcPct val="100000"/>
                        </a:lnSpc>
                        <a:buNone/>
                      </a:pPr>
                      <a:r>
                        <a:rPr lang="ja-JP" altLang="en-US" sz="2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　</a:t>
                      </a:r>
                      <a:br>
                        <a:rPr lang="en-US" altLang="ja-JP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11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　</a:t>
                      </a:r>
                      <a:r>
                        <a:rPr lang="en-US" altLang="ja-JP" sz="1600" b="1" i="0" u="none" strike="noStrike" dirty="0">
                          <a:solidFill>
                            <a:srgbClr val="C00000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92</a:t>
                      </a:r>
                      <a:r>
                        <a:rPr lang="ja-JP" altLang="en-US" sz="1600" b="1" i="0" u="none" strike="noStrike" dirty="0">
                          <a:solidFill>
                            <a:srgbClr val="C00000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％改善</a:t>
                      </a:r>
                      <a:r>
                        <a:rPr lang="ja-JP" altLang="en-US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</a:t>
                      </a:r>
                      <a:r>
                        <a:rPr lang="en-US" altLang="ja-JP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¥150,000 → ¥12,500</a:t>
                      </a:r>
                      <a:r>
                        <a:rPr lang="ja-JP" altLang="en-US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）</a:t>
                      </a:r>
                      <a:endParaRPr lang="en-US" altLang="ja-JP" sz="1000" b="0" i="0" u="none" strike="noStrike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6120" marR="6120" marT="61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8900" indent="0" algn="l" fontAlgn="ctr">
                        <a:buNone/>
                      </a:pPr>
                      <a:r>
                        <a:rPr lang="ja-JP" altLang="en-US" sz="11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・</a:t>
                      </a:r>
                      <a:r>
                        <a:rPr lang="ja-JP" altLang="en-US" sz="1200" b="1" i="0" u="sng" strike="noStrike" dirty="0">
                          <a:solidFill>
                            <a:srgbClr val="C00000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離脱防止バナーと</a:t>
                      </a:r>
                      <a:r>
                        <a:rPr lang="en-US" altLang="ja-JP" sz="1200" b="1" i="0" u="sng" strike="noStrike" dirty="0">
                          <a:solidFill>
                            <a:srgbClr val="C00000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CPF</a:t>
                      </a:r>
                      <a:r>
                        <a:rPr lang="ja-JP" altLang="en-US" sz="11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を活用した友だち増加</a:t>
                      </a:r>
                      <a:br>
                        <a:rPr lang="en-US" altLang="ja-JP" sz="11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4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　</a:t>
                      </a:r>
                      <a:br>
                        <a:rPr lang="ja-JP" altLang="en-US" sz="11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11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・アンケートを実施し、</a:t>
                      </a:r>
                      <a:r>
                        <a:rPr lang="ja-JP" altLang="en-US" sz="1200" b="1" i="0" u="sng" strike="noStrike" dirty="0">
                          <a:solidFill>
                            <a:srgbClr val="C00000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カゴ落ちユーザーを中心に</a:t>
                      </a:r>
                      <a:br>
                        <a:rPr lang="ja-JP" altLang="en-US" sz="1200" b="1" i="0" u="sng" strike="noStrike" dirty="0">
                          <a:solidFill>
                            <a:srgbClr val="C00000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1200" b="0" i="0" u="none" strike="noStrike" dirty="0">
                          <a:solidFill>
                            <a:srgbClr val="C00000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　</a:t>
                      </a:r>
                      <a:r>
                        <a:rPr lang="ja-JP" altLang="en-US" sz="1200" b="1" i="0" u="sng" strike="noStrike" dirty="0">
                          <a:solidFill>
                            <a:srgbClr val="C00000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期間限定商品・高単価商品の情報を配信</a:t>
                      </a:r>
                      <a:endParaRPr lang="ja-JP" altLang="en-US" sz="1100" b="1" i="0" u="sng" strike="noStrike" dirty="0">
                        <a:solidFill>
                          <a:srgbClr val="C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6120" marR="6120" marT="61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3009258"/>
                  </a:ext>
                </a:extLst>
              </a:tr>
              <a:tr h="102139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200" b="1" i="0" u="none" strike="noStrike" dirty="0">
                          <a:solidFill>
                            <a:srgbClr val="191F54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美容クリニック</a:t>
                      </a:r>
                      <a:endParaRPr lang="en-US" altLang="ja-JP" sz="1200" b="1" i="0" u="none" strike="noStrike" dirty="0">
                        <a:solidFill>
                          <a:srgbClr val="191F54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  <a:p>
                      <a:pPr algn="ctr" fontAlgn="ctr">
                        <a:buNone/>
                      </a:pPr>
                      <a:r>
                        <a:rPr lang="ja-JP" altLang="en-US" sz="1200" b="1" i="0" u="none" strike="noStrike" dirty="0">
                          <a:solidFill>
                            <a:srgbClr val="191F54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（美肌治療）</a:t>
                      </a:r>
                    </a:p>
                  </a:txBody>
                  <a:tcPr marL="6120" marR="6120" marT="61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1200" b="1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</a:t>
                      </a:r>
                      <a:r>
                        <a:rPr lang="ja-JP" altLang="en-US" sz="1200" b="1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年</a:t>
                      </a:r>
                    </a:p>
                  </a:txBody>
                  <a:tcPr marL="6120" marR="6120" marT="61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8900" indent="0" algn="l" fontAlgn="ctr">
                        <a:lnSpc>
                          <a:spcPct val="100000"/>
                        </a:lnSpc>
                        <a:buNone/>
                      </a:pPr>
                      <a:r>
                        <a:rPr lang="ja-JP" altLang="en-US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■月間</a:t>
                      </a:r>
                      <a:r>
                        <a:rPr lang="en-US" altLang="ja-JP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CV</a:t>
                      </a:r>
                      <a:r>
                        <a:rPr lang="ja-JP" altLang="en-US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件数</a:t>
                      </a:r>
                      <a:r>
                        <a:rPr lang="en-US" altLang="ja-JP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:</a:t>
                      </a:r>
                    </a:p>
                    <a:p>
                      <a:pPr marL="88900" indent="0" algn="l" fontAlgn="ctr">
                        <a:lnSpc>
                          <a:spcPct val="100000"/>
                        </a:lnSpc>
                        <a:buNone/>
                      </a:pPr>
                      <a:r>
                        <a:rPr lang="ja-JP" altLang="en-US" sz="2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　</a:t>
                      </a:r>
                      <a:endParaRPr lang="en-US" altLang="ja-JP" sz="200" b="0" i="0" u="none" strike="noStrike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  <a:p>
                      <a:pPr marL="88900" indent="0" algn="l" fontAlgn="ctr">
                        <a:lnSpc>
                          <a:spcPct val="100000"/>
                        </a:lnSpc>
                        <a:buNone/>
                      </a:pPr>
                      <a:r>
                        <a:rPr lang="ja-JP" altLang="en-US" sz="11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　</a:t>
                      </a:r>
                      <a:r>
                        <a:rPr lang="en-US" altLang="ja-JP" sz="1600" b="1" i="0" u="none" strike="noStrike" dirty="0">
                          <a:solidFill>
                            <a:srgbClr val="C00000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4</a:t>
                      </a:r>
                      <a:r>
                        <a:rPr lang="ja-JP" altLang="en-US" sz="1600" b="1" i="0" u="none" strike="noStrike" dirty="0">
                          <a:solidFill>
                            <a:srgbClr val="C00000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倍</a:t>
                      </a:r>
                      <a:r>
                        <a:rPr lang="ja-JP" altLang="en-US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</a:t>
                      </a:r>
                      <a:r>
                        <a:rPr lang="en-US" altLang="ja-JP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15</a:t>
                      </a:r>
                      <a:r>
                        <a:rPr lang="ja-JP" altLang="en-US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件 → </a:t>
                      </a:r>
                      <a:r>
                        <a:rPr lang="en-US" altLang="ja-JP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60</a:t>
                      </a:r>
                      <a:r>
                        <a:rPr lang="ja-JP" altLang="en-US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件）</a:t>
                      </a:r>
                      <a:endParaRPr lang="en-US" altLang="ja-JP" sz="1000" b="0" i="0" u="none" strike="noStrike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  <a:p>
                      <a:pPr marL="88900" indent="0" algn="l" fontAlgn="ctr">
                        <a:lnSpc>
                          <a:spcPct val="100000"/>
                        </a:lnSpc>
                        <a:buNone/>
                      </a:pPr>
                      <a:r>
                        <a:rPr lang="ja-JP" altLang="en-US" sz="4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　</a:t>
                      </a:r>
                      <a:br>
                        <a:rPr lang="ja-JP" altLang="en-US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■</a:t>
                      </a:r>
                      <a:r>
                        <a:rPr lang="en-US" altLang="ja-JP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CPA</a:t>
                      </a:r>
                      <a:r>
                        <a:rPr lang="ja-JP" altLang="en-US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換算</a:t>
                      </a:r>
                      <a:r>
                        <a:rPr lang="en-US" altLang="ja-JP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: </a:t>
                      </a:r>
                    </a:p>
                    <a:p>
                      <a:pPr marL="88900" indent="0" algn="l" fontAlgn="ctr">
                        <a:lnSpc>
                          <a:spcPct val="100000"/>
                        </a:lnSpc>
                        <a:buNone/>
                      </a:pPr>
                      <a:r>
                        <a:rPr lang="ja-JP" altLang="en-US" sz="2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　</a:t>
                      </a:r>
                      <a:br>
                        <a:rPr lang="en-US" altLang="ja-JP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11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　</a:t>
                      </a:r>
                      <a:r>
                        <a:rPr lang="en-US" altLang="ja-JP" sz="1600" b="1" i="0" u="none" strike="noStrike" dirty="0">
                          <a:solidFill>
                            <a:srgbClr val="C00000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63</a:t>
                      </a:r>
                      <a:r>
                        <a:rPr lang="ja-JP" altLang="en-US" sz="1600" b="1" i="0" u="none" strike="noStrike" dirty="0">
                          <a:solidFill>
                            <a:srgbClr val="C00000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％改善</a:t>
                      </a:r>
                      <a:r>
                        <a:rPr lang="ja-JP" altLang="en-US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</a:t>
                      </a:r>
                      <a:r>
                        <a:rPr lang="en-US" altLang="ja-JP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¥32,000 → ¥12,000</a:t>
                      </a:r>
                      <a:r>
                        <a:rPr lang="ja-JP" altLang="en-US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）</a:t>
                      </a:r>
                      <a:endParaRPr lang="en-US" altLang="ja-JP" sz="1100" b="0" i="0" u="none" strike="noStrike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6120" marR="6120" marT="61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8900" indent="0" algn="l" fontAlgn="ctr">
                        <a:buNone/>
                      </a:pPr>
                      <a:r>
                        <a:rPr lang="ja-JP" altLang="en-US" sz="11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・</a:t>
                      </a:r>
                      <a:r>
                        <a:rPr lang="ja-JP" altLang="en-US" sz="1200" b="1" i="0" u="sng" strike="noStrike" dirty="0">
                          <a:solidFill>
                            <a:srgbClr val="C00000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ビフォーアフターがわかるクリエイティブ</a:t>
                      </a:r>
                      <a:r>
                        <a:rPr lang="ja-JP" altLang="en-US" sz="11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を配信</a:t>
                      </a:r>
                      <a:br>
                        <a:rPr lang="en-US" altLang="ja-JP" sz="11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4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　</a:t>
                      </a:r>
                      <a:br>
                        <a:rPr lang="ja-JP" altLang="en-US" sz="11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11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・</a:t>
                      </a:r>
                      <a:r>
                        <a:rPr lang="ja-JP" altLang="en-US" sz="1200" b="1" i="0" u="sng" strike="noStrike" dirty="0">
                          <a:solidFill>
                            <a:srgbClr val="C00000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個別メッセージを利用したユーザー個々への追客</a:t>
                      </a:r>
                    </a:p>
                  </a:txBody>
                  <a:tcPr marL="6120" marR="6120" marT="61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5115858"/>
                  </a:ext>
                </a:extLst>
              </a:tr>
              <a:tr h="102139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ja-JP" altLang="en-US" sz="1200" b="1" i="0" u="none" strike="noStrike" dirty="0">
                          <a:solidFill>
                            <a:srgbClr val="191F54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美容クリニック</a:t>
                      </a:r>
                      <a:endParaRPr lang="en-US" altLang="ja-JP" sz="1200" b="1" i="0" u="none" strike="noStrike" dirty="0">
                        <a:solidFill>
                          <a:srgbClr val="191F54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  <a:p>
                      <a:pPr algn="ctr" fontAlgn="ctr">
                        <a:buNone/>
                      </a:pPr>
                      <a:r>
                        <a:rPr lang="ja-JP" altLang="en-US" sz="1200" b="1" i="0" u="none" strike="noStrike" dirty="0">
                          <a:solidFill>
                            <a:srgbClr val="191F54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（痩身）</a:t>
                      </a:r>
                    </a:p>
                  </a:txBody>
                  <a:tcPr marL="6120" marR="6120" marT="61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ja-JP" sz="1200" b="1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</a:t>
                      </a:r>
                      <a:r>
                        <a:rPr lang="ja-JP" altLang="en-US" sz="1200" b="1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年</a:t>
                      </a:r>
                      <a:r>
                        <a:rPr lang="en-US" altLang="ja-JP" sz="1200" b="1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4</a:t>
                      </a:r>
                      <a:r>
                        <a:rPr lang="ja-JP" altLang="en-US" sz="1200" b="1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ヶ月</a:t>
                      </a:r>
                    </a:p>
                  </a:txBody>
                  <a:tcPr marL="6120" marR="6120" marT="61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8900" indent="0" algn="l" fontAlgn="ctr">
                        <a:lnSpc>
                          <a:spcPct val="100000"/>
                        </a:lnSpc>
                        <a:buNone/>
                      </a:pPr>
                      <a:r>
                        <a:rPr lang="ja-JP" altLang="en-US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■月間</a:t>
                      </a:r>
                      <a:r>
                        <a:rPr lang="en-US" altLang="ja-JP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CV</a:t>
                      </a:r>
                      <a:r>
                        <a:rPr lang="ja-JP" altLang="en-US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件数</a:t>
                      </a:r>
                      <a:r>
                        <a:rPr lang="en-US" altLang="ja-JP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:</a:t>
                      </a:r>
                    </a:p>
                    <a:p>
                      <a:pPr marL="88900" indent="0" algn="l" fontAlgn="ctr">
                        <a:lnSpc>
                          <a:spcPct val="100000"/>
                        </a:lnSpc>
                        <a:buNone/>
                      </a:pPr>
                      <a:r>
                        <a:rPr lang="ja-JP" altLang="en-US" sz="2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　</a:t>
                      </a:r>
                      <a:endParaRPr lang="en-US" altLang="ja-JP" sz="200" b="0" i="0" u="none" strike="noStrike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  <a:p>
                      <a:pPr marL="88900" indent="0" algn="l" fontAlgn="ctr">
                        <a:lnSpc>
                          <a:spcPct val="100000"/>
                        </a:lnSpc>
                        <a:buNone/>
                      </a:pPr>
                      <a:r>
                        <a:rPr lang="ja-JP" altLang="en-US" sz="11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　</a:t>
                      </a:r>
                      <a:r>
                        <a:rPr lang="ja-JP" altLang="en-US" sz="1100" b="1" i="0" u="none" strike="noStrike" dirty="0">
                          <a:solidFill>
                            <a:srgbClr val="C00000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開設から</a:t>
                      </a:r>
                      <a:r>
                        <a:rPr lang="en-US" altLang="ja-JP" sz="1600" b="1" i="0" u="none" strike="noStrike" dirty="0">
                          <a:solidFill>
                            <a:srgbClr val="C00000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45</a:t>
                      </a:r>
                      <a:r>
                        <a:rPr lang="ja-JP" altLang="en-US" sz="1600" b="1" i="0" u="none" strike="noStrike" dirty="0">
                          <a:solidFill>
                            <a:srgbClr val="C00000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件</a:t>
                      </a:r>
                      <a:r>
                        <a:rPr lang="ja-JP" altLang="en-US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</a:t>
                      </a:r>
                      <a:r>
                        <a:rPr lang="en-US" altLang="ja-JP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N/A</a:t>
                      </a:r>
                      <a:r>
                        <a:rPr lang="ja-JP" altLang="en-US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 → </a:t>
                      </a:r>
                      <a:r>
                        <a:rPr lang="en-US" altLang="ja-JP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45</a:t>
                      </a:r>
                      <a:r>
                        <a:rPr lang="ja-JP" altLang="en-US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件）</a:t>
                      </a:r>
                      <a:endParaRPr lang="en-US" altLang="ja-JP" sz="1000" b="0" i="0" u="none" strike="noStrike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  <a:p>
                      <a:pPr marL="88900" indent="0" algn="l" fontAlgn="ctr">
                        <a:lnSpc>
                          <a:spcPct val="100000"/>
                        </a:lnSpc>
                        <a:buNone/>
                      </a:pPr>
                      <a:r>
                        <a:rPr lang="ja-JP" altLang="en-US" sz="4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　</a:t>
                      </a:r>
                      <a:br>
                        <a:rPr lang="ja-JP" altLang="en-US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■</a:t>
                      </a:r>
                      <a:r>
                        <a:rPr lang="en-US" altLang="ja-JP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CPA</a:t>
                      </a:r>
                      <a:r>
                        <a:rPr lang="ja-JP" altLang="en-US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換算</a:t>
                      </a:r>
                      <a:r>
                        <a:rPr lang="en-US" altLang="ja-JP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: </a:t>
                      </a:r>
                    </a:p>
                    <a:p>
                      <a:pPr marL="88900" indent="0" algn="l" fontAlgn="ctr">
                        <a:lnSpc>
                          <a:spcPct val="100000"/>
                        </a:lnSpc>
                        <a:buNone/>
                      </a:pPr>
                      <a:r>
                        <a:rPr lang="ja-JP" altLang="en-US" sz="2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　</a:t>
                      </a:r>
                      <a:br>
                        <a:rPr lang="en-US" altLang="ja-JP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11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　</a:t>
                      </a:r>
                      <a:r>
                        <a:rPr lang="ja-JP" altLang="en-US" sz="1100" b="1" i="0" u="none" strike="noStrike" dirty="0">
                          <a:solidFill>
                            <a:srgbClr val="C00000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開設から</a:t>
                      </a:r>
                      <a:r>
                        <a:rPr lang="en-US" altLang="ja-JP" sz="1600" b="1" i="0" u="none" strike="noStrike" dirty="0">
                          <a:solidFill>
                            <a:srgbClr val="C00000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</a:t>
                      </a:r>
                      <a:r>
                        <a:rPr lang="ja-JP" altLang="en-US" sz="1600" b="1" i="0" u="none" strike="noStrike" dirty="0">
                          <a:solidFill>
                            <a:srgbClr val="C00000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万円台</a:t>
                      </a:r>
                      <a:r>
                        <a:rPr lang="ja-JP" altLang="en-US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</a:t>
                      </a:r>
                      <a:r>
                        <a:rPr lang="en-US" altLang="ja-JP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N/A → ¥10,700</a:t>
                      </a:r>
                      <a:r>
                        <a:rPr lang="ja-JP" altLang="en-US" sz="10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）</a:t>
                      </a:r>
                      <a:endParaRPr lang="en-US" altLang="ja-JP" sz="1100" b="0" i="0" u="none" strike="noStrike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6120" marR="6120" marT="61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8900" indent="0" algn="l" fontAlgn="ctr">
                        <a:buNone/>
                      </a:pPr>
                      <a:r>
                        <a:rPr lang="ja-JP" altLang="en-US" sz="11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・</a:t>
                      </a:r>
                      <a:r>
                        <a:rPr lang="ja-JP" altLang="en-US" sz="1200" b="1" i="0" u="sng" strike="noStrike" dirty="0">
                          <a:solidFill>
                            <a:srgbClr val="C00000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ビフォーアフターがわかるクリエイティブ</a:t>
                      </a:r>
                      <a:r>
                        <a:rPr lang="ja-JP" altLang="en-US" sz="11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を配信</a:t>
                      </a:r>
                      <a:br>
                        <a:rPr lang="en-US" altLang="ja-JP" sz="11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4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　</a:t>
                      </a:r>
                      <a:br>
                        <a:rPr lang="ja-JP" altLang="en-US" sz="11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1100" b="0" i="0" u="none" strike="noStrike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・アンケート動線を設定し、</a:t>
                      </a:r>
                      <a:r>
                        <a:rPr lang="ja-JP" altLang="en-US" sz="1200" b="1" i="0" u="sng" strike="noStrike" dirty="0">
                          <a:solidFill>
                            <a:srgbClr val="C00000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悩み別のシナリオを用意</a:t>
                      </a:r>
                      <a:endParaRPr lang="ja-JP" altLang="en-US" sz="1100" b="1" i="0" u="sng" strike="noStrike" dirty="0">
                        <a:solidFill>
                          <a:srgbClr val="C00000"/>
                        </a:solidFill>
                        <a:effectLst/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</a:txBody>
                  <a:tcPr marL="6120" marR="6120" marT="612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79298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978396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6673A-9013-9BC2-61FD-9A9839050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147863"/>
            <a:ext cx="8229600" cy="307777"/>
          </a:xfrm>
          <a:prstGeom prst="rect">
            <a:avLst/>
          </a:prstGeom>
          <a:noFill/>
          <a:ln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dirty="0" err="1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なぜDYMか</a:t>
            </a:r>
            <a:endParaRPr sz="2000" b="1" dirty="0">
              <a:solidFill>
                <a:srgbClr val="00206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8869680" cy="585216"/>
          </a:xfrm>
          <a:prstGeom prst="rect">
            <a:avLst/>
          </a:prstGeom>
          <a:noFill/>
          <a:ln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altLang="ja-JP" sz="1800" b="0" dirty="0">
                <a:solidFill>
                  <a:srgbClr val="343434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</a:t>
            </a:r>
            <a:r>
              <a:rPr lang="ja-JP" altLang="en-US" sz="1800" b="0" dirty="0">
                <a:solidFill>
                  <a:srgbClr val="343434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は</a:t>
            </a:r>
            <a:r>
              <a:rPr lang="en-US" altLang="ja-JP" sz="1800" b="0" dirty="0">
                <a:solidFill>
                  <a:srgbClr val="343434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800" b="0" dirty="0">
                <a:solidFill>
                  <a:srgbClr val="343434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ヤフー社より、</a:t>
            </a:r>
            <a:r>
              <a:rPr lang="en-US" altLang="ja-JP" sz="1800" b="0" dirty="0">
                <a:solidFill>
                  <a:srgbClr val="343434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Sales Partner </a:t>
            </a:r>
            <a:r>
              <a:rPr lang="ja-JP" altLang="en-US" sz="1800" b="0" dirty="0">
                <a:solidFill>
                  <a:srgbClr val="343434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の最上位認定（</a:t>
            </a:r>
            <a:r>
              <a:rPr lang="en-US" altLang="ja-JP" sz="1800" b="0" dirty="0">
                <a:solidFill>
                  <a:srgbClr val="343434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Premier</a:t>
            </a:r>
            <a:r>
              <a:rPr lang="ja-JP" altLang="en-US" sz="1800" b="0" dirty="0">
                <a:solidFill>
                  <a:srgbClr val="343434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）を頂いている上、</a:t>
            </a:r>
            <a:endParaRPr lang="en-US" altLang="ja-JP" sz="1400" b="0" dirty="0">
              <a:solidFill>
                <a:srgbClr val="343434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>
              <a:lnSpc>
                <a:spcPct val="105000"/>
              </a:lnSpc>
            </a:pPr>
            <a:r>
              <a:rPr lang="ja-JP" altLang="en-US" sz="1800" dirty="0">
                <a:solidFill>
                  <a:srgbClr val="343434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多数の</a:t>
            </a:r>
            <a:r>
              <a:rPr lang="en-US" altLang="ja-JP" sz="1800" dirty="0">
                <a:solidFill>
                  <a:srgbClr val="343434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Develop Partner</a:t>
            </a:r>
            <a:r>
              <a:rPr lang="ja-JP" altLang="en-US" sz="1800" dirty="0">
                <a:solidFill>
                  <a:srgbClr val="343434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（開発）とのネットワークから最適なご提案が可能です。</a:t>
            </a:r>
            <a:endParaRPr sz="1400" b="0" dirty="0">
              <a:solidFill>
                <a:srgbClr val="343434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1298448"/>
            <a:ext cx="9015984" cy="10972"/>
          </a:xfrm>
          <a:prstGeom prst="rect">
            <a:avLst/>
          </a:prstGeom>
          <a:solidFill>
            <a:srgbClr val="D0D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38" y="5468112"/>
            <a:ext cx="8924544" cy="786384"/>
          </a:xfrm>
          <a:prstGeom prst="roundRect">
            <a:avLst>
              <a:gd name="adj" fmla="val 6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86382" y="5468112"/>
            <a:ext cx="8449056" cy="786384"/>
          </a:xfrm>
          <a:prstGeom prst="rect">
            <a:avLst/>
          </a:prstGeom>
          <a:noFill/>
          <a:ln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dirty="0" err="1">
                <a:solidFill>
                  <a:srgbClr val="FFC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結論</a:t>
            </a:r>
            <a:r>
              <a:rPr sz="16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：</a:t>
            </a:r>
            <a:r>
              <a:rPr lang="ja-JP" altLang="en-US" sz="16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媒体担当からの最新情報に、前後検索データと</a:t>
            </a:r>
            <a:br>
              <a:rPr lang="ja-JP" altLang="en-US" sz="16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</a:br>
            <a:r>
              <a:rPr lang="ja-JP" altLang="en-US" sz="16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　　　クリエイティブ検証を掛け合わせて運用します。</a:t>
            </a:r>
            <a:endParaRPr sz="1600" b="1" dirty="0">
              <a:solidFill>
                <a:srgbClr val="FFFFFF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graphicFrame>
        <p:nvGraphicFramePr>
          <p:cNvPr id="9" name="表 8">
            <a:extLst>
              <a:ext uri="{FF2B5EF4-FFF2-40B4-BE49-F238E27FC236}">
                <a16:creationId xmlns:a16="http://schemas.microsoft.com/office/drawing/2014/main" id="{B4B6691D-8CA4-888F-245A-584167D854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0365375"/>
              </p:ext>
            </p:extLst>
          </p:nvPr>
        </p:nvGraphicFramePr>
        <p:xfrm>
          <a:off x="548639" y="1444752"/>
          <a:ext cx="8924544" cy="3398799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301023118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377728538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77144094"/>
                    </a:ext>
                  </a:extLst>
                </a:gridCol>
                <a:gridCol w="1335024">
                  <a:extLst>
                    <a:ext uri="{9D8B030D-6E8A-4147-A177-3AD203B41FA5}">
                      <a16:colId xmlns:a16="http://schemas.microsoft.com/office/drawing/2014/main" val="3285460929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428788181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比較軸</a:t>
                      </a:r>
                    </a:p>
                  </a:txBody>
                  <a:tcPr marL="9423" marR="9423" marT="9423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DYM</a:t>
                      </a:r>
                      <a:br>
                        <a:rPr lang="ja-JP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（最上位認定）</a:t>
                      </a:r>
                    </a:p>
                  </a:txBody>
                  <a:tcPr marL="9423" marR="9423" marT="9423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400" b="1" i="0" u="none" strike="noStrike">
                          <a:solidFill>
                            <a:srgbClr val="FFFFFF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認定代理店</a:t>
                      </a:r>
                    </a:p>
                  </a:txBody>
                  <a:tcPr marL="9423" marR="9423" marT="9423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747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400" b="1" i="0" u="none" strike="noStrike">
                          <a:solidFill>
                            <a:srgbClr val="FFFFFF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一般代理店</a:t>
                      </a:r>
                    </a:p>
                  </a:txBody>
                  <a:tcPr marL="9423" marR="9423" marT="9423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747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400" b="1" i="0" u="none" strike="noStrike">
                          <a:solidFill>
                            <a:srgbClr val="FFFFFF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新規立ち上げ</a:t>
                      </a:r>
                    </a:p>
                  </a:txBody>
                  <a:tcPr marL="9423" marR="9423" marT="9423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4747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2049297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400" b="0" i="0" u="none" strike="noStrike">
                          <a:solidFill>
                            <a:srgbClr val="343434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媒体担当が直接つく</a:t>
                      </a:r>
                    </a:p>
                  </a:txBody>
                  <a:tcPr marL="9423" marR="9423" marT="9423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400" b="1" i="0" u="none" strike="noStrike">
                          <a:solidFill>
                            <a:srgbClr val="343434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◎ 専任で直接</a:t>
                      </a:r>
                    </a:p>
                  </a:txBody>
                  <a:tcPr marL="9423" marR="9423" marT="9423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400" b="0" i="0" u="none" strike="noStrike" dirty="0">
                          <a:solidFill>
                            <a:srgbClr val="343434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△ 窓口経由</a:t>
                      </a:r>
                    </a:p>
                  </a:txBody>
                  <a:tcPr marL="9423" marR="9423" marT="9423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400" b="0" i="0" u="none" strike="noStrike">
                          <a:solidFill>
                            <a:srgbClr val="343434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✕ なし</a:t>
                      </a:r>
                    </a:p>
                  </a:txBody>
                  <a:tcPr marL="9423" marR="9423" marT="9423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400" b="0" i="0" u="none" strike="noStrike">
                          <a:solidFill>
                            <a:srgbClr val="343434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✕ なし</a:t>
                      </a:r>
                    </a:p>
                  </a:txBody>
                  <a:tcPr marL="9423" marR="9423" marT="9423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2189567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400" b="0" i="0" u="none" strike="noStrike">
                          <a:solidFill>
                            <a:srgbClr val="343434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認定枠限定機能</a:t>
                      </a:r>
                      <a:br>
                        <a:rPr lang="ja-JP" sz="1200" b="0" i="0" u="none" strike="noStrike">
                          <a:solidFill>
                            <a:srgbClr val="343434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sz="1400" b="0" i="0" u="none" strike="noStrike">
                          <a:solidFill>
                            <a:srgbClr val="343434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（広告・通知・API）</a:t>
                      </a:r>
                    </a:p>
                  </a:txBody>
                  <a:tcPr marL="9423" marR="9423" marT="9423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400" b="1" i="0" u="none" strike="noStrike" dirty="0">
                          <a:solidFill>
                            <a:srgbClr val="343434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◎ 標準提供</a:t>
                      </a:r>
                    </a:p>
                  </a:txBody>
                  <a:tcPr marL="9423" marR="9423" marT="9423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400" b="0" i="0" u="none" strike="noStrike">
                          <a:solidFill>
                            <a:srgbClr val="343434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◎ 提供可</a:t>
                      </a:r>
                    </a:p>
                  </a:txBody>
                  <a:tcPr marL="9423" marR="9423" marT="9423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400" b="0" i="0" u="none" strike="noStrike" dirty="0">
                          <a:solidFill>
                            <a:srgbClr val="343434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✕ 不可</a:t>
                      </a:r>
                    </a:p>
                  </a:txBody>
                  <a:tcPr marL="9423" marR="9423" marT="9423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400" b="0" i="0" u="none" strike="noStrike">
                          <a:solidFill>
                            <a:srgbClr val="343434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✕ 不可</a:t>
                      </a:r>
                    </a:p>
                  </a:txBody>
                  <a:tcPr marL="9423" marR="9423" marT="9423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378959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400" b="0" i="0" u="none" strike="noStrike" dirty="0">
                          <a:solidFill>
                            <a:srgbClr val="343434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検索データの分析</a:t>
                      </a:r>
                      <a:br>
                        <a:rPr lang="ja-JP" sz="1400" b="0" i="0" u="none" strike="noStrike" dirty="0">
                          <a:solidFill>
                            <a:srgbClr val="343434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sz="1400" b="0" i="0" u="none" strike="noStrike" dirty="0">
                          <a:solidFill>
                            <a:srgbClr val="343434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（前後検索・トレンド）</a:t>
                      </a:r>
                    </a:p>
                  </a:txBody>
                  <a:tcPr marL="9423" marR="9423" marT="9423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400" b="1" i="0" u="none" strike="noStrike">
                          <a:solidFill>
                            <a:srgbClr val="343434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◎ 設計の起点に活用</a:t>
                      </a:r>
                    </a:p>
                  </a:txBody>
                  <a:tcPr marL="9423" marR="9423" marT="9423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400" b="0" i="0" u="none" strike="noStrike">
                          <a:solidFill>
                            <a:srgbClr val="343434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△ 一部</a:t>
                      </a:r>
                    </a:p>
                  </a:txBody>
                  <a:tcPr marL="9423" marR="9423" marT="9423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400" b="0" i="0" u="none" strike="noStrike">
                          <a:solidFill>
                            <a:srgbClr val="343434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✕ なし</a:t>
                      </a:r>
                    </a:p>
                  </a:txBody>
                  <a:tcPr marL="9423" marR="9423" marT="9423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400" b="0" i="0" u="none" strike="noStrike">
                          <a:solidFill>
                            <a:srgbClr val="343434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✕ なし</a:t>
                      </a:r>
                    </a:p>
                  </a:txBody>
                  <a:tcPr marL="9423" marR="9423" marT="9423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8395586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400" b="0" i="0" u="none" strike="noStrike" dirty="0">
                          <a:solidFill>
                            <a:srgbClr val="343434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クリエイティブの</a:t>
                      </a:r>
                      <a:br>
                        <a:rPr lang="ja-JP" sz="1400" b="0" i="0" u="none" strike="noStrike" dirty="0">
                          <a:solidFill>
                            <a:srgbClr val="343434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sz="1400" b="0" i="0" u="none" strike="noStrike" dirty="0">
                          <a:solidFill>
                            <a:srgbClr val="343434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検証・改善</a:t>
                      </a:r>
                    </a:p>
                  </a:txBody>
                  <a:tcPr marL="9423" marR="9423" marT="9423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400" b="1" i="0" u="none" strike="noStrike">
                          <a:solidFill>
                            <a:srgbClr val="343434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◎ 検証して改善</a:t>
                      </a:r>
                    </a:p>
                  </a:txBody>
                  <a:tcPr marL="9423" marR="9423" marT="9423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400" b="0" i="0" u="none" strike="noStrike">
                          <a:solidFill>
                            <a:srgbClr val="343434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△ 案件次第</a:t>
                      </a:r>
                    </a:p>
                  </a:txBody>
                  <a:tcPr marL="9423" marR="9423" marT="9423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400" b="0" i="0" u="none" strike="noStrike">
                          <a:solidFill>
                            <a:srgbClr val="343434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△ 限定的</a:t>
                      </a:r>
                    </a:p>
                  </a:txBody>
                  <a:tcPr marL="9423" marR="9423" marT="9423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400" b="0" i="0" u="none" strike="noStrike">
                          <a:solidFill>
                            <a:srgbClr val="343434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✕ これから</a:t>
                      </a:r>
                    </a:p>
                  </a:txBody>
                  <a:tcPr marL="9423" marR="9423" marT="9423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0603004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400" b="0" i="0" u="none" strike="noStrike">
                          <a:solidFill>
                            <a:srgbClr val="343434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立ち上げ工数・リスク</a:t>
                      </a:r>
                    </a:p>
                  </a:txBody>
                  <a:tcPr marL="9423" marR="9423" marT="9423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400" b="1" i="0" u="none" strike="noStrike" dirty="0">
                          <a:solidFill>
                            <a:srgbClr val="343434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◎ 低（DYM実務）</a:t>
                      </a:r>
                    </a:p>
                  </a:txBody>
                  <a:tcPr marL="9423" marR="9423" marT="9423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400" b="0" i="0" u="none" strike="noStrike">
                          <a:solidFill>
                            <a:srgbClr val="343434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○ 中</a:t>
                      </a:r>
                    </a:p>
                  </a:txBody>
                  <a:tcPr marL="9423" marR="9423" marT="9423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400" b="0" i="0" u="none" strike="noStrike">
                          <a:solidFill>
                            <a:srgbClr val="343434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△ 中〜高</a:t>
                      </a:r>
                    </a:p>
                  </a:txBody>
                  <a:tcPr marL="9423" marR="9423" marT="9423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400" b="0" i="0" u="none" strike="noStrike" dirty="0">
                          <a:solidFill>
                            <a:srgbClr val="343434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✕ 高（人材確保）</a:t>
                      </a:r>
                    </a:p>
                  </a:txBody>
                  <a:tcPr marL="9423" marR="9423" marT="9423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509185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400" b="0" i="0" u="none" strike="noStrike" dirty="0">
                          <a:solidFill>
                            <a:srgbClr val="343434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費用</a:t>
                      </a:r>
                    </a:p>
                  </a:txBody>
                  <a:tcPr marL="9423" marR="9423" marT="9423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400" b="1" i="0" u="none" strike="noStrike">
                          <a:solidFill>
                            <a:srgbClr val="343434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◎ 成果報酬／コンサル</a:t>
                      </a:r>
                    </a:p>
                  </a:txBody>
                  <a:tcPr marL="9423" marR="9423" marT="9423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400" b="0" i="0" u="none" strike="noStrike">
                          <a:solidFill>
                            <a:srgbClr val="343434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○ 各社条件</a:t>
                      </a:r>
                    </a:p>
                  </a:txBody>
                  <a:tcPr marL="9423" marR="9423" marT="9423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400" b="0" i="0" u="none" strike="noStrike">
                          <a:solidFill>
                            <a:srgbClr val="343434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△ 各社条件</a:t>
                      </a:r>
                    </a:p>
                  </a:txBody>
                  <a:tcPr marL="9423" marR="9423" marT="9423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ja-JP" sz="1400" b="0" i="0" u="none" strike="noStrike" dirty="0">
                          <a:solidFill>
                            <a:srgbClr val="343434"/>
                          </a:solidFill>
                          <a:effectLst/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— 自社人件費</a:t>
                      </a:r>
                    </a:p>
                  </a:txBody>
                  <a:tcPr marL="9423" marR="9423" marT="9423" marB="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14113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80023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2D860-D20C-DFFA-89EA-A46B82A5D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146304"/>
            <a:ext cx="8778240" cy="310896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/>
            <a:r>
              <a:rPr sz="20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DYMが担う工程と、具体的な作業内容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0664"/>
            <a:ext cx="8869680" cy="29260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/>
            <a:r>
              <a:rPr sz="1800" b="0">
                <a:solidFill>
                  <a:srgbClr val="343434"/>
                </a:solidFill>
                <a:latin typeface="メイリオ"/>
                <a:ea typeface="メイリオ"/>
                <a:cs typeface="メイリオ"/>
              </a:rPr>
              <a:t>提案から運用まで、必要な工程をDYMが実務ごと引き受けます。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9015984" cy="10972"/>
          </a:xfrm>
          <a:prstGeom prst="rect">
            <a:avLst/>
          </a:prstGeom>
          <a:solidFill>
            <a:srgbClr val="D0D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8924544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3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2377440" cy="73152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" name="TextBox 6"/>
          <p:cNvSpPr txBox="1"/>
          <p:nvPr/>
        </p:nvSpPr>
        <p:spPr>
          <a:xfrm>
            <a:off x="548640" y="1618488"/>
            <a:ext cx="237744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提案・折衝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1437278"/>
            <a:ext cx="6547104" cy="600164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dirty="0" err="1">
                <a:solidFill>
                  <a:srgbClr val="343434"/>
                </a:solidFill>
                <a:latin typeface="メイリオ"/>
                <a:ea typeface="メイリオ"/>
                <a:cs typeface="メイリオ"/>
              </a:rPr>
              <a:t>提案資料と見込数値を作成し、商談に同行します</a:t>
            </a:r>
            <a:r>
              <a:rPr sz="1600" b="0" dirty="0">
                <a:solidFill>
                  <a:srgbClr val="343434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5000"/>
              </a:lnSpc>
            </a:pPr>
            <a:r>
              <a:rPr sz="1600" b="0" dirty="0" err="1">
                <a:solidFill>
                  <a:srgbClr val="343434"/>
                </a:solidFill>
                <a:latin typeface="メイリオ"/>
                <a:ea typeface="メイリオ"/>
                <a:cs typeface="メイリオ"/>
              </a:rPr>
              <a:t>想定質疑まで準備するサポート体制です</a:t>
            </a:r>
            <a:r>
              <a:rPr sz="1600" b="0" dirty="0">
                <a:solidFill>
                  <a:srgbClr val="343434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85416"/>
            <a:ext cx="8924544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3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0" name="Rectangle 9"/>
          <p:cNvSpPr/>
          <p:nvPr/>
        </p:nvSpPr>
        <p:spPr>
          <a:xfrm>
            <a:off x="548640" y="2185416"/>
            <a:ext cx="2377440" cy="73152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TextBox 10"/>
          <p:cNvSpPr txBox="1"/>
          <p:nvPr/>
        </p:nvSpPr>
        <p:spPr>
          <a:xfrm>
            <a:off x="548640" y="2432304"/>
            <a:ext cx="237744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戦略・シナリオ設計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2251094"/>
            <a:ext cx="6547104" cy="600164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dirty="0" err="1">
                <a:solidFill>
                  <a:srgbClr val="343434"/>
                </a:solidFill>
                <a:latin typeface="メイリオ"/>
                <a:ea typeface="メイリオ"/>
                <a:cs typeface="メイリオ"/>
              </a:rPr>
              <a:t>DYM主導で設計します</a:t>
            </a:r>
            <a:r>
              <a:rPr sz="1600" b="0" dirty="0">
                <a:solidFill>
                  <a:srgbClr val="343434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5000"/>
              </a:lnSpc>
            </a:pPr>
            <a:r>
              <a:rPr sz="1600" b="0" dirty="0" err="1">
                <a:solidFill>
                  <a:srgbClr val="343434"/>
                </a:solidFill>
                <a:latin typeface="メイリオ"/>
                <a:ea typeface="メイリオ"/>
                <a:cs typeface="メイリオ"/>
              </a:rPr>
              <a:t>前後検索データを起点に、ステップ配信とセグメントを組み立てます</a:t>
            </a:r>
            <a:r>
              <a:rPr sz="1600" b="0" dirty="0">
                <a:solidFill>
                  <a:srgbClr val="343434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99232"/>
            <a:ext cx="8924544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3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4" name="Rectangle 13"/>
          <p:cNvSpPr/>
          <p:nvPr/>
        </p:nvSpPr>
        <p:spPr>
          <a:xfrm>
            <a:off x="548640" y="2999232"/>
            <a:ext cx="2377440" cy="73152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5" name="TextBox 14"/>
          <p:cNvSpPr txBox="1"/>
          <p:nvPr/>
        </p:nvSpPr>
        <p:spPr>
          <a:xfrm>
            <a:off x="548640" y="3246120"/>
            <a:ext cx="237744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構築・運用・配信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3064910"/>
            <a:ext cx="6547104" cy="600164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343434"/>
                </a:solidFill>
                <a:latin typeface="メイリオ"/>
                <a:ea typeface="メイリオ"/>
                <a:cs typeface="メイリオ"/>
              </a:rPr>
              <a:t>認定代理店の強みを活かし、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343434"/>
                </a:solidFill>
                <a:latin typeface="メイリオ"/>
                <a:ea typeface="メイリオ"/>
                <a:cs typeface="メイリオ"/>
              </a:rPr>
              <a:t>アカウント構築から日々の配信・自動応答までを担当します。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813048"/>
            <a:ext cx="8924544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3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8" name="Rectangle 17"/>
          <p:cNvSpPr/>
          <p:nvPr/>
        </p:nvSpPr>
        <p:spPr>
          <a:xfrm>
            <a:off x="548640" y="3813048"/>
            <a:ext cx="2377440" cy="73152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9" name="TextBox 18"/>
          <p:cNvSpPr txBox="1"/>
          <p:nvPr/>
        </p:nvSpPr>
        <p:spPr>
          <a:xfrm>
            <a:off x="548640" y="4059935"/>
            <a:ext cx="237744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商流変更・媒体対応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3878726"/>
            <a:ext cx="6547104" cy="600164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343434"/>
                </a:solidFill>
                <a:latin typeface="メイリオ"/>
                <a:ea typeface="メイリオ"/>
                <a:cs typeface="メイリオ"/>
              </a:rPr>
              <a:t>アカウント移管と請求の一元化に加え、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343434"/>
                </a:solidFill>
                <a:latin typeface="メイリオ"/>
                <a:ea typeface="メイリオ"/>
                <a:cs typeface="メイリオ"/>
              </a:rPr>
              <a:t>媒体アカウントの立ち上げもDYMが実施します。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626864"/>
            <a:ext cx="8924544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3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2" name="Rectangle 21"/>
          <p:cNvSpPr/>
          <p:nvPr/>
        </p:nvSpPr>
        <p:spPr>
          <a:xfrm>
            <a:off x="548640" y="4626864"/>
            <a:ext cx="2377440" cy="73152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3" name="TextBox 22"/>
          <p:cNvSpPr txBox="1"/>
          <p:nvPr/>
        </p:nvSpPr>
        <p:spPr>
          <a:xfrm>
            <a:off x="548640" y="4873752"/>
            <a:ext cx="237744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成果報酬・コンサル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0" y="4692542"/>
            <a:ext cx="6547104" cy="600164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343434"/>
                </a:solidFill>
                <a:latin typeface="メイリオ"/>
                <a:ea typeface="メイリオ"/>
                <a:cs typeface="メイリオ"/>
              </a:rPr>
              <a:t>料金設計からDYMが行い、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343434"/>
                </a:solidFill>
                <a:latin typeface="メイリオ"/>
                <a:ea typeface="メイリオ"/>
                <a:cs typeface="メイリオ"/>
              </a:rPr>
              <a:t>成果報酬型とコンサルプランの双方をご提供します。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468112"/>
            <a:ext cx="8924544" cy="585216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6" name="TextBox 25"/>
          <p:cNvSpPr txBox="1"/>
          <p:nvPr/>
        </p:nvSpPr>
        <p:spPr>
          <a:xfrm>
            <a:off x="786384" y="5637609"/>
            <a:ext cx="8449056" cy="246221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貴社は提案と関係構築に専念いただき、実務はDYMが引き受けます。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353872"/>
            <a:ext cx="8869680" cy="173736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/>
            <a:r>
              <a:rPr sz="1100" b="0">
                <a:solidFill>
                  <a:srgbClr val="5A5A72"/>
                </a:solidFill>
                <a:latin typeface="メイリオ"/>
                <a:ea typeface="メイリオ"/>
                <a:cs typeface="メイリオ"/>
              </a:rPr>
              <a:t>※工程の一部のみのご依頼も可能です。範囲は次ページのパターンからお選びいただけます。</a:t>
            </a:r>
          </a:p>
        </p:txBody>
      </p:sp>
    </p:spTree>
    <p:extLst>
      <p:ext uri="{BB962C8B-B14F-4D97-AF65-F5344CB8AC3E}">
        <p14:creationId xmlns:p14="http://schemas.microsoft.com/office/powerpoint/2010/main" val="1429089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3504" y="146304"/>
            <a:ext cx="8778240" cy="310896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/>
            <a:r>
              <a:rPr lang="ja-JP" altLang="en-US" sz="20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任せる</a:t>
            </a:r>
            <a:r>
              <a:rPr sz="20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範囲と、ご費用のパターン</a:t>
            </a:r>
            <a:endParaRPr sz="20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740664"/>
            <a:ext cx="8869680" cy="29260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/>
            <a:r>
              <a:rPr sz="1800" b="0">
                <a:solidFill>
                  <a:srgbClr val="343434"/>
                </a:solidFill>
                <a:latin typeface="メイリオ"/>
                <a:ea typeface="メイリオ"/>
                <a:cs typeface="メイリオ"/>
              </a:rPr>
              <a:t>紹介だけでも、実務ごとでも構いません。貴社の体制に合わせて決められます。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43000"/>
            <a:ext cx="9015984" cy="10972"/>
          </a:xfrm>
          <a:prstGeom prst="rect">
            <a:avLst/>
          </a:prstGeom>
          <a:solidFill>
            <a:srgbClr val="D0D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335024"/>
            <a:ext cx="886968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よくあるお任せ範囲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64208"/>
          <a:ext cx="8924544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93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68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980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パターン</a:t>
                      </a:r>
                    </a:p>
                  </a:txBody>
                  <a:tcPr marL="109728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貴社がやること</a:t>
                      </a:r>
                    </a:p>
                  </a:txBody>
                  <a:tcPr marL="109728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DYMがやること</a:t>
                      </a:r>
                    </a:p>
                  </a:txBody>
                  <a:tcPr marL="109728"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貴社の収益</a:t>
                      </a:r>
                    </a:p>
                  </a:txBody>
                  <a:tcPr marL="109728" anchor="ctr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206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A｜紹介のみ</a:t>
                      </a:r>
                    </a:p>
                  </a:txBody>
                  <a:tcPr marL="109728" anchor="ctr">
                    <a:solidFill>
                      <a:srgbClr val="E7EC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43434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案件をつなぐ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43434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提案から運用まですべて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206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★ 紹介Fee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206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B｜共同提案</a:t>
                      </a:r>
                    </a:p>
                  </a:txBody>
                  <a:tcPr marL="109728" anchor="ctr">
                    <a:solidFill>
                      <a:srgbClr val="E7EC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43434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提案・折衝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43434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設計以降すべて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206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★ 運用費の分散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206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C｜フル委託</a:t>
                      </a:r>
                    </a:p>
                  </a:txBody>
                  <a:tcPr marL="109728" anchor="ctr">
                    <a:solidFill>
                      <a:srgbClr val="E7EC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43434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受注・請求（貴社名義）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343434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実務すべて（DYMは非表示）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2060"/>
                          </a:solidFill>
                          <a:latin typeface="メイリオ"/>
                          <a:ea typeface="メイリオ"/>
                          <a:cs typeface="メイリオ"/>
                        </a:rPr>
                        <a:t>★ 代行費</a:t>
                      </a:r>
                    </a:p>
                  </a:txBody>
                  <a:tcPr marL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474720"/>
            <a:ext cx="886968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ご費用のパターン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785615"/>
            <a:ext cx="4370832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0D3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3785615"/>
            <a:ext cx="4370832" cy="3840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3858768"/>
            <a:ext cx="4005072" cy="23774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パターン1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4261104"/>
            <a:ext cx="2011680" cy="20116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/>
            <a:r>
              <a:rPr sz="1200" b="0">
                <a:solidFill>
                  <a:srgbClr val="5A5A72"/>
                </a:solidFill>
                <a:latin typeface="メイリオ"/>
                <a:ea typeface="メイリオ"/>
                <a:cs typeface="メイリオ"/>
              </a:rPr>
              <a:t>初期費用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4480560"/>
            <a:ext cx="2194560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/>
            <a:r>
              <a:rPr sz="30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20万円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80944" y="4242816"/>
            <a:ext cx="1755648" cy="1828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/>
            <a:r>
              <a:rPr sz="1200" b="0">
                <a:solidFill>
                  <a:srgbClr val="5A5A72"/>
                </a:solidFill>
                <a:latin typeface="メイリオ"/>
                <a:ea typeface="メイリオ"/>
                <a:cs typeface="メイリオ"/>
              </a:rPr>
              <a:t>窓口対応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80944" y="4425696"/>
            <a:ext cx="1755648" cy="274320"/>
          </a:xfrm>
          <a:prstGeom prst="rect">
            <a:avLst/>
          </a:prstGeom>
          <a:solidFill>
            <a:srgbClr val="E7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980944" y="4462272"/>
            <a:ext cx="1755648" cy="20116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/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貴社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80944" y="4754879"/>
            <a:ext cx="1755648" cy="1828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/>
            <a:r>
              <a:rPr sz="1200" b="0">
                <a:solidFill>
                  <a:srgbClr val="5A5A72"/>
                </a:solidFill>
                <a:latin typeface="メイリオ"/>
                <a:ea typeface="メイリオ"/>
                <a:cs typeface="メイリオ"/>
              </a:rPr>
              <a:t>クリエイティブ制作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80944" y="4937759"/>
            <a:ext cx="1755648" cy="274320"/>
          </a:xfrm>
          <a:prstGeom prst="rect">
            <a:avLst/>
          </a:prstGeom>
          <a:solidFill>
            <a:srgbClr val="E7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980944" y="4974336"/>
            <a:ext cx="1755648" cy="20116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/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貴社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303520"/>
            <a:ext cx="4005072" cy="530352"/>
          </a:xfrm>
          <a:prstGeom prst="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9536" y="5330952"/>
            <a:ext cx="3749039" cy="47548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43434"/>
                </a:solidFill>
                <a:latin typeface="メイリオ"/>
                <a:ea typeface="メイリオ"/>
                <a:cs typeface="メイリオ"/>
              </a:rPr>
              <a:t>DYMは構築を担当します。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343434"/>
                </a:solidFill>
                <a:latin typeface="メイリオ"/>
                <a:ea typeface="メイリオ"/>
                <a:cs typeface="メイリオ"/>
              </a:rPr>
              <a:t>窓口と制作は貴社が持ちます。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02352" y="3785615"/>
            <a:ext cx="4370832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0D3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102352" y="3785615"/>
            <a:ext cx="4370832" cy="3840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85232" y="3858768"/>
            <a:ext cx="4005072" cy="237744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パターン2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21808" y="4261104"/>
            <a:ext cx="2011680" cy="20116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/>
            <a:r>
              <a:rPr sz="1200" b="0">
                <a:solidFill>
                  <a:srgbClr val="5A5A72"/>
                </a:solidFill>
                <a:latin typeface="メイリオ"/>
                <a:ea typeface="メイリオ"/>
                <a:cs typeface="メイリオ"/>
              </a:rPr>
              <a:t>固定費込み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21808" y="4480560"/>
            <a:ext cx="2194560" cy="45720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/>
            <a:r>
              <a:rPr sz="30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30万円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34656" y="4242816"/>
            <a:ext cx="1755648" cy="1828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/>
            <a:r>
              <a:rPr sz="1200" b="0">
                <a:solidFill>
                  <a:srgbClr val="5A5A72"/>
                </a:solidFill>
                <a:latin typeface="メイリオ"/>
                <a:ea typeface="メイリオ"/>
                <a:cs typeface="メイリオ"/>
              </a:rPr>
              <a:t>窓口対応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34656" y="4425696"/>
            <a:ext cx="1755648" cy="274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534656" y="4462272"/>
            <a:ext cx="1755648" cy="20116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/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DYM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34656" y="4754879"/>
            <a:ext cx="1755648" cy="182880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/>
            <a:r>
              <a:rPr sz="1200" b="0">
                <a:solidFill>
                  <a:srgbClr val="5A5A72"/>
                </a:solidFill>
                <a:latin typeface="メイリオ"/>
                <a:ea typeface="メイリオ"/>
                <a:cs typeface="メイリオ"/>
              </a:rPr>
              <a:t>クリエイティブ制作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34656" y="4937759"/>
            <a:ext cx="1755648" cy="274320"/>
          </a:xfrm>
          <a:prstGeom prst="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534656" y="4974336"/>
            <a:ext cx="1755648" cy="201168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ctr"/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DYM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85232" y="5303520"/>
            <a:ext cx="4005072" cy="530352"/>
          </a:xfrm>
          <a:prstGeom prst="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413248" y="5330952"/>
            <a:ext cx="3749039" cy="475488"/>
          </a:xfrm>
          <a:prstGeom prst="rect">
            <a:avLst/>
          </a:prstGeom>
          <a:noFill/>
        </p:spPr>
        <p:txBody>
          <a:bodyPr wrap="square" lIns="18288" tIns="0" rIns="18288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343434"/>
                </a:solidFill>
                <a:latin typeface="メイリオ"/>
                <a:ea typeface="メイリオ"/>
                <a:cs typeface="メイリオ"/>
              </a:rPr>
              <a:t>窓口対応と制作もDYMが担当。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343434"/>
                </a:solidFill>
                <a:latin typeface="メイリオ"/>
                <a:ea typeface="メイリオ"/>
                <a:cs typeface="メイリオ"/>
              </a:rPr>
              <a:t>貴社の工数を抑えます。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980176"/>
            <a:ext cx="8924544" cy="676656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 w="12700">
            <a:solidFill>
              <a:srgbClr val="1F28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36576" bIns="36576"/>
          <a:lstStyle/>
          <a:p>
            <a:pPr algn="l"/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パターン3｜成果報酬型 ― 初期費用 ＋ 成果単価 × 獲得件数</a:t>
            </a:r>
          </a:p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単価と成果地点（予約・購入・問い合わせ など）は商材ごとに個別設計。固定費を抑え、成果が出た分だけのご請求のため、クライアント様への提案が通りやすいプランです。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141659</TotalTime>
  <Words>989</Words>
  <Application>Microsoft Office PowerPoint</Application>
  <PresentationFormat>A4 210 x 297 mm</PresentationFormat>
  <Paragraphs>173</Paragraphs>
  <Slides>6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6</vt:i4>
      </vt:variant>
    </vt:vector>
  </HeadingPairs>
  <TitlesOfParts>
    <vt:vector size="13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1936</cp:revision>
  <cp:lastPrinted>2022-11-01T11:38:14Z</cp:lastPrinted>
  <dcterms:created xsi:type="dcterms:W3CDTF">2015-09-04T09:21:15Z</dcterms:created>
  <dcterms:modified xsi:type="dcterms:W3CDTF">2026-10-02T10:36:09Z</dcterms:modified>
</cp:coreProperties>
</file>