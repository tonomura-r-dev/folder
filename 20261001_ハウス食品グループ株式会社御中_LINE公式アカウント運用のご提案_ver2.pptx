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17.svg" ContentType="image/svg+xml"/>
  <Override PartName="/ppt/media/image18.svg" ContentType="image/svg+xml"/>
  <Override PartName="/ppt/media/image19.svg" ContentType="image/svg+xml"/>
  <Override PartName="/ppt/media/image20.svg" ContentType="image/svg+xml"/>
  <Override PartName="/ppt/media/image6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45"/>
  </p:notesMasterIdLst>
  <p:handoutMasterIdLst>
    <p:handoutMasterId r:id="rId46"/>
  </p:handoutMasterIdLst>
  <p:sldIdLst>
    <p:sldId id="2363" r:id="rId3"/>
    <p:sldId id="2971" r:id="rId4"/>
    <p:sldId id="3024" r:id="rId5"/>
    <p:sldId id="3023" r:id="rId6"/>
    <p:sldId id="3019" r:id="rId7"/>
    <p:sldId id="3025" r:id="rId8"/>
    <p:sldId id="3026" r:id="rId9"/>
    <p:sldId id="3028" r:id="rId11"/>
    <p:sldId id="3030" r:id="rId13"/>
    <p:sldId id="2988" r:id="rId14"/>
    <p:sldId id="2972" r:id="rId15"/>
    <p:sldId id="2989" r:id="rId16"/>
    <p:sldId id="2736" r:id="rId17"/>
    <p:sldId id="2979" r:id="rId18"/>
    <p:sldId id="256" r:id="rId21"/>
    <p:sldId id="257" r:id="rId22"/>
    <p:sldId id="258" r:id="rId23"/>
    <p:sldId id="259" r:id="rId24"/>
    <p:sldId id="2908" r:id="rId25"/>
    <p:sldId id="2966" r:id="rId26"/>
    <p:sldId id="3015" r:id="rId27"/>
    <p:sldId id="2737" r:id="rId28"/>
    <p:sldId id="2563" r:id="rId29"/>
    <p:sldId id="2970" r:id="rId30"/>
    <p:sldId id="2639" r:id="rId32"/>
    <p:sldId id="2968" r:id="rId34"/>
    <p:sldId id="2969" r:id="rId35"/>
    <p:sldId id="2957" r:id="rId36"/>
    <p:sldId id="2978" r:id="rId19"/>
    <p:sldId id="2981" r:id="rId20"/>
    <p:sldId id="2951" r:id="rId37"/>
    <p:sldId id="2841" r:id="rId38"/>
    <p:sldId id="2734" r:id="rId39"/>
    <p:sldId id="2595" r:id="rId40"/>
    <p:sldId id="2566" r:id="rId41"/>
    <p:sldId id="2915" r:id="rId42"/>
    <p:sldId id="2619" r:id="rId43"/>
    <p:sldId id="1169" r:id="rId44"/>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1" Type="http://schemas.openxmlformats.org/officeDocument/2006/relationships/slide" Target="slides/slide9.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2" Type="http://schemas.openxmlformats.org/officeDocument/2006/relationships/slide" Target="slides/slide30.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notesMaster" Target="notesMasters/notesMaster1.xml"/><Relationship Id="rId46" Type="http://schemas.openxmlformats.org/officeDocument/2006/relationships/handoutMaster" Target="handoutMasters/handout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2026/9/4</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4061535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FCDCE-50A5-70B1-FB6B-F9980BFDCE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F851B08-6988-6A96-CCE4-26698C0277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895E581-E16C-3B03-E3A3-A8F7D4755EA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71AFF67-CB12-CED6-C84A-F660B0115E51}"/>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22780870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105D0-45E7-4DC8-BF20-0465343B582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F91FB9-321F-8276-24C4-BED0C6CB2CD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8B62C8-FD8E-90C7-1366-590C2C0CDF9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402C5E-FE1D-AC92-2A1F-C733ABC917B2}"/>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1767001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9746031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3372657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22223477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FF2DF-2549-03DE-BF99-3816DBF142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08DAE1-5EDB-4906-5B89-172988954E2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AF08AA4-BBDC-950C-3480-F13DD87CF93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72BACB-FF67-5073-CAB4-B7DC30D31CAB}"/>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8182318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61853-A06F-5F84-C9BD-FD3C831F10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8F11A9-3277-9CCC-6B16-F30C009E90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02EAD73-C8B8-7737-AAA7-B04564EA1A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D3FC8CC-7C65-1140-F528-0EC0756BD55C}"/>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804944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39</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40</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41</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42</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jpeg"/><Relationship Id="rId9" Type="http://schemas.openxmlformats.org/officeDocument/2006/relationships/image" Target="../media/image13.png"/><Relationship Id="rId10"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jpeg"/><Relationship Id="rId3" Type="http://schemas.openxmlformats.org/officeDocument/2006/relationships/image" Target="../media/image34.jpe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jpeg"/><Relationship Id="rId7" Type="http://schemas.openxmlformats.org/officeDocument/2006/relationships/image" Target="../media/image38.png"/><Relationship Id="rId8" Type="http://schemas.openxmlformats.org/officeDocument/2006/relationships/image" Target="../media/image39.png"/><Relationship Id="rId9" Type="http://schemas.openxmlformats.org/officeDocument/2006/relationships/image" Target="../media/image40.png"/><Relationship Id="rId10" Type="http://schemas.openxmlformats.org/officeDocument/2006/relationships/image" Target="../media/image4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5.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9.png"/><Relationship Id="rId4" Type="http://schemas.openxmlformats.org/officeDocument/2006/relationships/image" Target="../media/image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image" Target="../media/image65.svg"/><Relationship Id="rId8" Type="http://schemas.openxmlformats.org/officeDocument/2006/relationships/image" Target="../media/image6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3.emf"/><Relationship Id="rId4" Type="http://schemas.openxmlformats.org/officeDocument/2006/relationships/image" Target="../media/image67.jpeg"/><Relationship Id="rId5" Type="http://schemas.openxmlformats.org/officeDocument/2006/relationships/image" Target="../media/image68.jpeg"/><Relationship Id="rId6" Type="http://schemas.openxmlformats.org/officeDocument/2006/relationships/image" Target="../media/image69.jpeg"/><Relationship Id="rId7" Type="http://schemas.openxmlformats.org/officeDocument/2006/relationships/image" Target="../media/image70.jpeg"/><Relationship Id="rId8" Type="http://schemas.openxmlformats.org/officeDocument/2006/relationships/image" Target="../media/image7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a:ea typeface="メイリオ"/>
                <a:cs typeface="メイリオ"/>
              </a:rPr>
              <a:t>LINE</a:t>
            </a:r>
            <a:r>
              <a:rPr lang="ja-JP" altLang="en-US" sz="3200" b="1" dirty="0">
                <a:solidFill>
                  <a:schemeClr val="tx1">
                    <a:lumMod val="75000"/>
                    <a:lumOff val="25000"/>
                  </a:schemeClr>
                </a:solidFill>
                <a:latin typeface="メイリオ"/>
                <a:ea typeface="メイリオ"/>
                <a:cs typeface="メイリオ"/>
              </a:rPr>
              <a:t>公式アカウント運用のご提案</a:t>
            </a:r>
            <a:endParaRPr lang="en-US" altLang="ja-IS" sz="3200" b="1" dirty="0">
              <a:solidFill>
                <a:schemeClr val="tx1">
                  <a:lumMod val="75000"/>
                  <a:lumOff val="25000"/>
                </a:schemeClr>
              </a:solidFill>
              <a:latin typeface="メイリオ"/>
              <a:ea typeface="メイリオ"/>
              <a:cs typeface="メイリオ"/>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a:ea typeface="メイリオ"/>
                <a:cs typeface="メイリオ"/>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rgbClr val="FF0000">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メイリオ"/>
                <a:ea typeface="メイリオ"/>
                <a:cs typeface="メイリオ"/>
              </a:rPr>
              <a:t>貴社ご提案用資料</a:t>
            </a:r>
          </a:p>
        </p:txBody>
      </p:sp>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a:ea typeface="メイリオ"/>
                <a:cs typeface="メイリオ"/>
              </a:rPr>
              <a:t>ハウス食品グループ株式会社</a:t>
            </a:r>
            <a:r>
              <a:rPr lang="en-US" altLang="ja-JP" sz="1600" dirty="0">
                <a:solidFill>
                  <a:schemeClr val="tx1">
                    <a:lumMod val="75000"/>
                    <a:lumOff val="25000"/>
                  </a:schemeClr>
                </a:solidFill>
                <a:latin typeface="メイリオ"/>
                <a:ea typeface="メイリオ"/>
                <a:cs typeface="メイリオ"/>
              </a:rPr>
              <a:t> </a:t>
            </a:r>
            <a:r>
              <a:rPr lang="ja-JP" altLang="en-US" sz="1600" dirty="0">
                <a:solidFill>
                  <a:schemeClr val="tx1">
                    <a:lumMod val="75000"/>
                    <a:lumOff val="25000"/>
                  </a:schemeClr>
                </a:solidFill>
                <a:latin typeface="メイリオ"/>
                <a:ea typeface="メイリオ"/>
                <a:cs typeface="メイリオ"/>
              </a:rPr>
              <a:t>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a:ea typeface="メイリオ"/>
                <a:cs typeface="メイリオ"/>
              </a:rPr>
              <a:t>LINE</a:t>
            </a:r>
            <a:r>
              <a:rPr lang="ja-JP" altLang="en-US" sz="1200" b="1" dirty="0">
                <a:solidFill>
                  <a:schemeClr val="bg1"/>
                </a:solidFill>
                <a:latin typeface="メイリオ"/>
                <a:ea typeface="メイリオ"/>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a:ea typeface="メイリオ"/>
                <a:cs typeface="メイリオ"/>
              </a:rPr>
              <a:t>WEB</a:t>
            </a:r>
            <a:r>
              <a:rPr lang="ja-JP" altLang="en-US" sz="1200" dirty="0">
                <a:solidFill>
                  <a:schemeClr val="bg1"/>
                </a:solidFill>
                <a:latin typeface="メイリオ"/>
                <a:ea typeface="メイリオ"/>
                <a:cs typeface="メイリオ"/>
              </a:rPr>
              <a:t>サイトステータス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en-US" altLang="ja-JP" sz="1050" dirty="0">
                <a:latin typeface="メイリオ"/>
                <a:ea typeface="メイリオ"/>
                <a:cs typeface="メイリオ"/>
              </a:rPr>
              <a:t>SEO</a:t>
            </a:r>
            <a:r>
              <a:rPr lang="ja-JP" altLang="en-US" sz="1050" dirty="0">
                <a:latin typeface="メイリオ"/>
                <a:ea typeface="メイリオ"/>
                <a:cs typeface="メイリオ"/>
              </a:rPr>
              <a:t>、</a:t>
            </a:r>
            <a:r>
              <a:rPr lang="en-US" altLang="ja-JP" sz="1050" dirty="0">
                <a:latin typeface="メイリオ"/>
                <a:ea typeface="メイリオ"/>
                <a:cs typeface="メイリオ"/>
              </a:rPr>
              <a:t>AIO</a:t>
            </a:r>
            <a:r>
              <a:rPr lang="ja-JP" altLang="en-US" sz="1050" dirty="0">
                <a:latin typeface="メイリオ"/>
                <a:ea typeface="メイリオ"/>
                <a:cs typeface="メイリオ"/>
              </a:rPr>
              <a:t>の施策展開（コラム追加）</a:t>
            </a:r>
            <a:endParaRPr lang="en-US" altLang="ja-JP" sz="1050" dirty="0">
              <a:latin typeface="メイリオ"/>
              <a:ea typeface="メイリオ"/>
              <a:cs typeface="メイリオ"/>
            </a:endParaRPr>
          </a:p>
          <a:p>
            <a:pPr algn="ctr"/>
            <a:r>
              <a:rPr lang="ja-JP" altLang="en-US" sz="1050" dirty="0">
                <a:latin typeface="メイリオ"/>
                <a:ea typeface="メイリオ"/>
                <a:cs typeface="メイリオ"/>
              </a:rPr>
              <a:t>をご検討いただいている。</a:t>
            </a:r>
            <a:endParaRPr lang="en-US" altLang="ja-JP" sz="1050" dirty="0">
              <a:solidFill>
                <a:srgbClr val="FF0000"/>
              </a:solidFill>
              <a:latin typeface="メイリオ"/>
              <a:ea typeface="メイリオ"/>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en-US" altLang="ja-JP" sz="1050" dirty="0">
                <a:latin typeface="メイリオ"/>
                <a:ea typeface="メイリオ"/>
                <a:cs typeface="メイリオ"/>
              </a:rPr>
              <a:t>LINE公式アカウントは広告用のみ（運用中のアカウントなし）</a:t>
            </a:r>
            <a:r>
              <a:rPr lang="ja-JP" altLang="en-US" sz="1050" dirty="0">
                <a:latin typeface="メイリオ"/>
                <a:ea typeface="メイリオ"/>
                <a:cs typeface="メイリオ"/>
              </a:rPr>
              <a:t/>
            </a:r>
            <a:endParaRPr lang="en-US" altLang="ja-JP" sz="1050" dirty="0">
              <a:latin typeface="メイリオ"/>
              <a:ea typeface="メイリオ"/>
              <a:cs typeface="メイリオ"/>
            </a:endParaRPr>
          </a:p>
          <a:p>
            <a:pPr algn="ctr"/>
            <a:endParaRPr lang="en-US" altLang="ja-JP" sz="1050" dirty="0">
              <a:latin typeface="メイリオ"/>
              <a:ea typeface="メイリオ"/>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a:p>
            <a:pPr algn="ctr"/>
            <a:endParaRPr lang="en-US" altLang="ja-JP" sz="500" dirty="0">
              <a:latin typeface="メイリオ"/>
              <a:ea typeface="メイリオ"/>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サイト</a:t>
            </a:r>
            <a:r>
              <a:rPr lang="en-US" altLang="ja-JP" sz="1000" dirty="0">
                <a:solidFill>
                  <a:schemeClr val="bg1"/>
                </a:solidFill>
                <a:latin typeface="メイリオ"/>
                <a:ea typeface="メイリオ"/>
                <a:cs typeface="メイリオ"/>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a:ea typeface="メイリオ"/>
                <a:cs typeface="メイリオ"/>
              </a:rPr>
              <a:t>※</a:t>
            </a:r>
            <a:r>
              <a:rPr lang="ja-JP" altLang="en-US" sz="900" dirty="0">
                <a:solidFill>
                  <a:schemeClr val="bg1">
                    <a:lumMod val="65000"/>
                  </a:schemeClr>
                </a:solidFill>
                <a:latin typeface="メイリオ"/>
                <a:ea typeface="メイリオ"/>
                <a:cs typeface="メイリオ"/>
              </a:rPr>
              <a:t>いずれも貴社ヒヤリング、外部計測</a:t>
            </a:r>
            <a:endParaRPr lang="en-US" altLang="ja-JP" sz="900" dirty="0">
              <a:solidFill>
                <a:schemeClr val="bg1">
                  <a:lumMod val="65000"/>
                </a:schemeClr>
              </a:solidFill>
              <a:latin typeface="メイリオ"/>
              <a:ea typeface="メイリオ"/>
              <a:cs typeface="メイリオ"/>
            </a:endParaRPr>
          </a:p>
          <a:p>
            <a:r>
              <a:rPr lang="ja-JP" altLang="en-US" sz="900" dirty="0">
                <a:solidFill>
                  <a:schemeClr val="bg1">
                    <a:lumMod val="65000"/>
                  </a:schemeClr>
                </a:solidFill>
                <a:latin typeface="メイリオ"/>
                <a:ea typeface="メイリオ"/>
                <a:cs typeface="メイリオ"/>
              </a:rPr>
              <a:t>　をもとにした想定数値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うち広告</a:t>
            </a:r>
            <a:r>
              <a:rPr lang="en-US" altLang="ja-JP" sz="1000" dirty="0">
                <a:solidFill>
                  <a:schemeClr val="bg1"/>
                </a:solidFill>
                <a:latin typeface="メイリオ"/>
                <a:ea typeface="メイリオ"/>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広告費用</a:t>
            </a:r>
            <a:endParaRPr lang="en-US" altLang="ja-JP" sz="1000" dirty="0">
              <a:solidFill>
                <a:schemeClr val="bg1"/>
              </a:solidFill>
              <a:latin typeface="メイリオ"/>
              <a:ea typeface="メイリオ"/>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メイン流入元</a:t>
            </a:r>
            <a:endParaRPr lang="en-US" altLang="ja-JP" sz="1000" dirty="0">
              <a:solidFill>
                <a:schemeClr val="bg1"/>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他</a:t>
            </a:r>
            <a:r>
              <a:rPr lang="en-US" altLang="ja-JP" sz="1000" dirty="0">
                <a:solidFill>
                  <a:schemeClr val="bg1"/>
                </a:solidFill>
                <a:latin typeface="メイリオ"/>
                <a:ea typeface="メイリオ"/>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リード保有数</a:t>
            </a:r>
            <a:endParaRPr lang="en-US" altLang="ja-JP" sz="1000" dirty="0">
              <a:solidFill>
                <a:schemeClr val="bg1"/>
              </a:solidFill>
              <a:latin typeface="メイリオ"/>
              <a:ea typeface="メイリオ"/>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月間</a:t>
            </a:r>
            <a:r>
              <a:rPr lang="en-US" altLang="ja-JP" sz="1000" dirty="0">
                <a:solidFill>
                  <a:schemeClr val="bg1"/>
                </a:solidFill>
                <a:latin typeface="メイリオ"/>
                <a:ea typeface="メイリオ"/>
                <a:cs typeface="メイリオ"/>
              </a:rPr>
              <a:t>CV</a:t>
            </a:r>
            <a:r>
              <a:rPr lang="ja-JP" altLang="en-US" sz="1000" dirty="0">
                <a:solidFill>
                  <a:schemeClr val="bg1"/>
                </a:solidFill>
                <a:latin typeface="メイリオ"/>
                <a:ea typeface="メイリオ"/>
                <a:cs typeface="メイリオ"/>
              </a:rPr>
              <a:t>数</a:t>
            </a:r>
            <a:endParaRPr lang="en-US" altLang="ja-JP" sz="1000" dirty="0">
              <a:solidFill>
                <a:schemeClr val="bg1"/>
              </a:solidFill>
              <a:latin typeface="メイリオ"/>
              <a:ea typeface="メイリオ"/>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CV</a:t>
            </a:r>
            <a:r>
              <a:rPr lang="ja-JP" altLang="en-US" sz="1000" dirty="0">
                <a:solidFill>
                  <a:schemeClr val="bg1"/>
                </a:solidFill>
                <a:latin typeface="メイリオ"/>
                <a:ea typeface="メイリオ"/>
                <a:cs typeface="メイリオ"/>
              </a:rPr>
              <a:t>地点</a:t>
            </a:r>
            <a:endParaRPr lang="en-US" altLang="ja-JP" sz="1000" dirty="0">
              <a:solidFill>
                <a:schemeClr val="bg1"/>
              </a:solidFill>
              <a:latin typeface="メイリオ"/>
              <a:ea typeface="メイリオ"/>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LINE</a:t>
            </a:r>
            <a:r>
              <a:rPr lang="ja-JP" altLang="en-US" sz="1000" dirty="0">
                <a:solidFill>
                  <a:schemeClr val="bg1"/>
                </a:solidFill>
                <a:latin typeface="メイリオ"/>
                <a:ea typeface="メイリオ"/>
                <a:cs typeface="メイリオ"/>
              </a:rPr>
              <a:t>動線</a:t>
            </a:r>
            <a:endParaRPr lang="en-US" altLang="ja-JP" sz="1000" dirty="0">
              <a:solidFill>
                <a:schemeClr val="bg1"/>
              </a:solidFill>
              <a:latin typeface="メイリオ"/>
              <a:ea typeface="メイリオ"/>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友だち数</a:t>
            </a:r>
            <a:endParaRPr lang="en-US" altLang="ja-JP" sz="1000" dirty="0">
              <a:solidFill>
                <a:schemeClr val="bg1"/>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アクティブ数</a:t>
            </a:r>
            <a:endParaRPr lang="en-US" altLang="ja-JP" sz="1000" dirty="0">
              <a:solidFill>
                <a:schemeClr val="bg1"/>
              </a:solidFill>
              <a:latin typeface="メイリオ"/>
              <a:ea typeface="メイリオ"/>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ブロック率</a:t>
            </a:r>
            <a:endParaRPr lang="en-US" altLang="ja-JP" sz="1000" dirty="0">
              <a:solidFill>
                <a:schemeClr val="bg1"/>
              </a:solidFill>
              <a:latin typeface="メイリオ"/>
              <a:ea typeface="メイリオ"/>
              <a:cs typeface="メイリオ"/>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ツール</a:t>
            </a:r>
            <a:endParaRPr lang="en-US" altLang="ja-JP" sz="1000" dirty="0">
              <a:solidFill>
                <a:schemeClr val="bg1"/>
              </a:solidFill>
              <a:latin typeface="メイリオ"/>
              <a:ea typeface="メイリオ"/>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想定コスト</a:t>
            </a:r>
            <a:endParaRPr lang="en-US" altLang="ja-JP" sz="1000" dirty="0">
              <a:solidFill>
                <a:schemeClr val="bg1"/>
              </a:solidFill>
              <a:latin typeface="メイリオ"/>
              <a:ea typeface="メイリオ"/>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月間投稿数</a:t>
            </a:r>
            <a:endParaRPr lang="en-US" altLang="ja-JP" sz="1000" dirty="0">
              <a:solidFill>
                <a:schemeClr val="bg1"/>
              </a:solidFill>
              <a:latin typeface="メイリオ"/>
              <a:ea typeface="メイリオ"/>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ステップ実施</a:t>
            </a:r>
            <a:endParaRPr lang="en-US" altLang="ja-JP" sz="1000" dirty="0">
              <a:solidFill>
                <a:schemeClr val="bg1"/>
              </a:solidFill>
              <a:latin typeface="メイリオ"/>
              <a:ea typeface="メイリオ"/>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アンケート実施</a:t>
            </a:r>
            <a:endParaRPr lang="en-US" altLang="ja-JP" sz="1000" dirty="0">
              <a:solidFill>
                <a:schemeClr val="bg1"/>
              </a:solidFill>
              <a:latin typeface="メイリオ"/>
              <a:ea typeface="メイリオ"/>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a:ea typeface="メイリオ"/>
                <a:cs typeface="メイリオ"/>
              </a:rPr>
              <a:t>プロフ動線</a:t>
            </a:r>
            <a:endParaRPr lang="en-US" altLang="ja-JP" sz="1000" dirty="0">
              <a:solidFill>
                <a:schemeClr val="bg1"/>
              </a:solidFill>
              <a:latin typeface="メイリオ"/>
              <a:ea typeface="メイリオ"/>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194,000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10％前後</a:t>
            </a:r>
            <a:r>
              <a:rPr lang="ja-JP" altLang="en-US" sz="1000" b="1" dirty="0">
                <a:latin typeface="メイリオ"/>
                <a:ea typeface="メイリオ"/>
                <a:cs typeface="メイリオ"/>
              </a:rPr>
              <a:t/>
            </a:r>
            <a:r>
              <a:rPr lang="en-US" altLang="ja-JP" sz="1000" b="1" dirty="0">
                <a:latin typeface="メイリオ"/>
                <a:ea typeface="メイリオ"/>
                <a:cs typeface="メイリオ"/>
              </a:rPr>
              <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不明</a:t>
            </a:r>
            <a:endParaRPr lang="en-US" altLang="ja-JP" sz="1000" b="1" dirty="0">
              <a:latin typeface="メイリオ"/>
              <a:ea typeface="メイリオ"/>
              <a:cs typeface="メイリオ"/>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AD,SEO</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a:ea typeface="メイリオ"/>
                <a:cs typeface="メイリオ"/>
              </a:rPr>
              <a:t>X</a:t>
            </a:r>
            <a:r>
              <a:rPr lang="ja-JP" altLang="en-US" sz="1000" b="1" dirty="0">
                <a:latin typeface="メイリオ"/>
                <a:ea typeface="メイリオ"/>
                <a:cs typeface="メイリオ"/>
              </a:rPr>
              <a:t>、</a:t>
            </a:r>
            <a:r>
              <a:rPr lang="en-US" altLang="ja-JP" sz="1000" b="1" dirty="0">
                <a:latin typeface="メイリオ"/>
                <a:ea typeface="メイリオ"/>
                <a:cs typeface="メイリオ"/>
              </a:rPr>
              <a:t>IG</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不明</a:t>
            </a:r>
            <a:endParaRPr lang="en-US" altLang="ja-JP" sz="1000" b="1" dirty="0">
              <a:latin typeface="メイリオ"/>
              <a:ea typeface="メイリオ"/>
              <a:cs typeface="メイリオ"/>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不明</a:t>
            </a:r>
            <a:endParaRPr lang="en-US" altLang="ja-JP" sz="1000" b="1" dirty="0">
              <a:latin typeface="メイリオ"/>
              <a:ea typeface="メイリオ"/>
              <a:cs typeface="メイリオ"/>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a:ea typeface="メイリオ"/>
                <a:cs typeface="メイリオ"/>
              </a:rPr>
              <a:t>会員登録 → </a:t>
            </a:r>
            <a:endParaRPr lang="en-US" altLang="ja-JP" sz="1000" b="1" dirty="0">
              <a:solidFill>
                <a:srgbClr val="FF0000"/>
              </a:solidFill>
              <a:latin typeface="メイリオ"/>
              <a:ea typeface="メイリオ"/>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FF0000"/>
                </a:solidFill>
                <a:latin typeface="メイリオ"/>
                <a:ea typeface="メイリオ"/>
                <a:cs typeface="メイリオ"/>
              </a:rPr>
              <a:t>なし</a:t>
            </a:r>
            <a:endParaRPr lang="en-US" altLang="ja-JP" sz="1000" b="1" dirty="0">
              <a:solidFill>
                <a:srgbClr val="FF0000"/>
              </a:solidFill>
              <a:latin typeface="メイリオ"/>
              <a:ea typeface="メイリオ"/>
              <a:cs typeface="メイリオ"/>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a:ea typeface="メイリオ"/>
                <a:cs typeface="メイリオ"/>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a:ea typeface="メイリオ"/>
                <a:cs typeface="メイリオ"/>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a:ea typeface="メイリオ"/>
                <a:cs typeface="メイリオ"/>
              </a:rPr>
              <a:t>--</a:t>
            </a: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a:ea typeface="メイリオ"/>
                <a:cs typeface="メイリオ"/>
              </a:rPr>
              <a:t>※</a:t>
            </a:r>
          </a:p>
        </p:txBody>
      </p:sp>
      <p:pic>
        <p:nvPicPr>
          <p:cNvPr id="8" name="図 7">
            <a:extLst>
              <a:ext uri="{FF2B5EF4-FFF2-40B4-BE49-F238E27FC236}">
                <a16:creationId xmlns:a16="http://schemas.microsoft.com/office/drawing/2014/main" id="{DAF23F5E-CAC8-0701-EAC6-770186476EAA}"/>
              </a:ext>
            </a:extLst>
          </p:cNvPr>
          <p:cNvPicPr>
            <a:picLocks noChangeAspect="1"/>
          </p:cNvPicPr>
          <p:nvPr/>
        </p:nvPicPr>
        <p:blipFill>
          <a:blip r:embed="rId4"/>
          <a:stretch>
            <a:fillRect/>
          </a:stretch>
        </p:blipFill>
        <p:spPr>
          <a:xfrm>
            <a:off x="472683" y="1993931"/>
            <a:ext cx="1557206" cy="3162823"/>
          </a:xfrm>
          <a:prstGeom prst="rect">
            <a:avLst/>
          </a:prstGeom>
        </p:spPr>
      </p:pic>
      <p:sp>
        <p:nvSpPr>
          <p:cNvPr id="15" name="テキスト ボックス 14">
            <a:extLst>
              <a:ext uri="{FF2B5EF4-FFF2-40B4-BE49-F238E27FC236}">
                <a16:creationId xmlns:a16="http://schemas.microsoft.com/office/drawing/2014/main" id="{BB177A87-7773-8346-CEFA-2C429E80A917}"/>
              </a:ext>
            </a:extLst>
          </p:cNvPr>
          <p:cNvSpPr txBox="1"/>
          <p:nvPr/>
        </p:nvSpPr>
        <p:spPr>
          <a:xfrm>
            <a:off x="2134578" y="706058"/>
            <a:ext cx="6008497" cy="584775"/>
          </a:xfrm>
          <a:prstGeom prst="rect">
            <a:avLst/>
          </a:prstGeom>
          <a:noFill/>
        </p:spPr>
        <p:txBody>
          <a:bodyPr wrap="square">
            <a:spAutoFit/>
          </a:bodyPr>
          <a:lstStyle/>
          <a:p>
            <a:pPr algn="ctr"/>
            <a:r>
              <a:rPr lang="en-US" altLang="ja-JP" sz="1600" dirty="0">
                <a:latin typeface="メイリオ"/>
                <a:ea typeface="メイリオ"/>
                <a:cs typeface="メイリオ"/>
              </a:rPr>
              <a:t>Come on House</a:t>
            </a:r>
            <a:r>
              <a:rPr lang="ja-JP" altLang="en-US" sz="1600" dirty="0">
                <a:latin typeface="メイリオ"/>
                <a:ea typeface="メイリオ"/>
                <a:cs typeface="メイリオ"/>
              </a:rPr>
              <a:t>（カモンハウス）での対策を対象に</a:t>
            </a:r>
            <a:endParaRPr lang="en-US" altLang="ja-JP" sz="1600" dirty="0">
              <a:latin typeface="メイリオ"/>
              <a:ea typeface="メイリオ"/>
              <a:cs typeface="メイリオ"/>
            </a:endParaRPr>
          </a:p>
          <a:p>
            <a:pPr algn="ctr"/>
            <a:r>
              <a:rPr lang="ja-JP" altLang="en-US" sz="1600" dirty="0">
                <a:latin typeface="メイリオ"/>
                <a:ea typeface="メイリオ"/>
                <a:cs typeface="メイリオ"/>
              </a:rPr>
              <a:t>今回のご提案内容を記載</a:t>
            </a:r>
            <a:endParaRPr lang="en-US" altLang="ja-JP" sz="1600" dirty="0">
              <a:latin typeface="メイリオ"/>
              <a:ea typeface="メイリオ"/>
              <a:cs typeface="メイリオ"/>
            </a:endParaRPr>
          </a:p>
        </p:txBody>
      </p:sp>
    </p:spTree>
    <p:extLst>
      <p:ext uri="{BB962C8B-B14F-4D97-AF65-F5344CB8AC3E}">
        <p14:creationId xmlns:p14="http://schemas.microsoft.com/office/powerpoint/2010/main" val="2228084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CAA32-C521-1051-7BB9-493BF85564C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C1AF7F1B-1615-8A8A-5AD0-19AB4D664DBF}"/>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686F686B-7122-EDAF-9993-92F1EB0ED436}"/>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9CA81C6D-8558-7F64-AA4C-233195CE96EF}"/>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D7747DE-898F-2B06-06DF-9880761030C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15" name="テキスト ボックス 14">
            <a:extLst>
              <a:ext uri="{FF2B5EF4-FFF2-40B4-BE49-F238E27FC236}">
                <a16:creationId xmlns:a16="http://schemas.microsoft.com/office/drawing/2014/main" id="{BA67B03E-5C13-07B4-3FF5-75AA04D1DB5C}"/>
              </a:ext>
            </a:extLst>
          </p:cNvPr>
          <p:cNvSpPr txBox="1"/>
          <p:nvPr/>
        </p:nvSpPr>
        <p:spPr>
          <a:xfrm>
            <a:off x="2134578" y="706058"/>
            <a:ext cx="6008497" cy="523220"/>
          </a:xfrm>
          <a:prstGeom prst="rect">
            <a:avLst/>
          </a:prstGeom>
          <a:noFill/>
        </p:spPr>
        <p:txBody>
          <a:bodyPr wrap="square">
            <a:spAutoFit/>
          </a:bodyPr>
          <a:lstStyle/>
          <a:p>
            <a:pPr algn="ctr"/>
            <a:r>
              <a:rPr lang="en-US" altLang="ja-JP" sz="1400" dirty="0">
                <a:latin typeface="メイリオ"/>
                <a:ea typeface="メイリオ"/>
                <a:cs typeface="メイリオ"/>
              </a:rPr>
              <a:t>Come on House</a:t>
            </a:r>
            <a:r>
              <a:rPr lang="ja-JP" altLang="en-US" sz="1400" dirty="0">
                <a:latin typeface="メイリオ"/>
                <a:ea typeface="メイリオ"/>
                <a:cs typeface="メイリオ"/>
              </a:rPr>
              <a:t>（カモンハウス）での対策を対象に</a:t>
            </a:r>
            <a:endParaRPr lang="en-US" altLang="ja-JP" sz="1400" dirty="0">
              <a:latin typeface="メイリオ"/>
              <a:ea typeface="メイリオ"/>
              <a:cs typeface="メイリオ"/>
            </a:endParaRPr>
          </a:p>
          <a:p>
            <a:pPr algn="ctr"/>
            <a:r>
              <a:rPr lang="ja-JP" altLang="en-US" sz="1400" dirty="0">
                <a:latin typeface="メイリオ"/>
                <a:ea typeface="メイリオ"/>
                <a:cs typeface="メイリオ"/>
              </a:rPr>
              <a:t>今回のご提案内容を記載</a:t>
            </a:r>
            <a:endParaRPr lang="en-US" altLang="ja-JP" sz="1400" dirty="0">
              <a:latin typeface="メイリオ"/>
              <a:ea typeface="メイリオ"/>
              <a:cs typeface="メイリオ"/>
            </a:endParaRPr>
          </a:p>
        </p:txBody>
      </p:sp>
      <p:sp>
        <p:nvSpPr>
          <p:cNvPr id="6" name="テキスト ボックス 5">
            <a:extLst>
              <a:ext uri="{FF2B5EF4-FFF2-40B4-BE49-F238E27FC236}">
                <a16:creationId xmlns:a16="http://schemas.microsoft.com/office/drawing/2014/main" id="{B2C3C874-CBF5-217B-629B-494B620A1B70}"/>
              </a:ext>
            </a:extLst>
          </p:cNvPr>
          <p:cNvSpPr txBox="1"/>
          <p:nvPr/>
        </p:nvSpPr>
        <p:spPr>
          <a:xfrm>
            <a:off x="548883" y="1595900"/>
            <a:ext cx="8744646"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a:ea typeface="メイリオ"/>
                <a:cs typeface="メイリオ"/>
              </a:rPr>
              <a:t>ユーザー動線（カスタマージャーニーマップ）</a:t>
            </a:r>
            <a:endParaRPr lang="ja-JP" altLang="en-US" sz="1200" dirty="0">
              <a:solidFill>
                <a:schemeClr val="bg1"/>
              </a:solidFill>
              <a:latin typeface="メイリオ"/>
              <a:ea typeface="メイリオ"/>
              <a:cs typeface="メイリオ"/>
            </a:endParaRPr>
          </a:p>
        </p:txBody>
      </p:sp>
      <p:pic>
        <p:nvPicPr>
          <p:cNvPr id="23" name="図 22">
            <a:extLst>
              <a:ext uri="{FF2B5EF4-FFF2-40B4-BE49-F238E27FC236}">
                <a16:creationId xmlns:a16="http://schemas.microsoft.com/office/drawing/2014/main" id="{37B65241-80D1-3E6F-EAA4-C4B6CD08EB47}"/>
              </a:ext>
            </a:extLst>
          </p:cNvPr>
          <p:cNvPicPr>
            <a:picLocks noChangeAspect="1"/>
          </p:cNvPicPr>
          <p:nvPr/>
        </p:nvPicPr>
        <p:blipFill>
          <a:blip r:embed="rId3"/>
          <a:stretch>
            <a:fillRect/>
          </a:stretch>
        </p:blipFill>
        <p:spPr>
          <a:xfrm>
            <a:off x="680016" y="2473378"/>
            <a:ext cx="1075862" cy="2185169"/>
          </a:xfrm>
          <a:prstGeom prst="rect">
            <a:avLst/>
          </a:prstGeom>
        </p:spPr>
      </p:pic>
      <p:pic>
        <p:nvPicPr>
          <p:cNvPr id="25" name="図 24">
            <a:extLst>
              <a:ext uri="{FF2B5EF4-FFF2-40B4-BE49-F238E27FC236}">
                <a16:creationId xmlns:a16="http://schemas.microsoft.com/office/drawing/2014/main" id="{461C2991-3370-0DC3-819E-46A2909F3463}"/>
              </a:ext>
            </a:extLst>
          </p:cNvPr>
          <p:cNvPicPr>
            <a:picLocks noChangeAspect="1"/>
          </p:cNvPicPr>
          <p:nvPr/>
        </p:nvPicPr>
        <p:blipFill>
          <a:blip r:embed="rId4"/>
          <a:stretch>
            <a:fillRect/>
          </a:stretch>
        </p:blipFill>
        <p:spPr>
          <a:xfrm>
            <a:off x="949982" y="4286480"/>
            <a:ext cx="1075862" cy="2185169"/>
          </a:xfrm>
          <a:prstGeom prst="rect">
            <a:avLst/>
          </a:prstGeom>
        </p:spPr>
      </p:pic>
      <p:pic>
        <p:nvPicPr>
          <p:cNvPr id="27" name="図 26">
            <a:extLst>
              <a:ext uri="{FF2B5EF4-FFF2-40B4-BE49-F238E27FC236}">
                <a16:creationId xmlns:a16="http://schemas.microsoft.com/office/drawing/2014/main" id="{D05FB957-57AF-F4CF-0F9E-45BCF7312B11}"/>
              </a:ext>
            </a:extLst>
          </p:cNvPr>
          <p:cNvPicPr>
            <a:picLocks noChangeAspect="1"/>
          </p:cNvPicPr>
          <p:nvPr/>
        </p:nvPicPr>
        <p:blipFill>
          <a:blip r:embed="rId5"/>
          <a:stretch>
            <a:fillRect/>
          </a:stretch>
        </p:blipFill>
        <p:spPr>
          <a:xfrm>
            <a:off x="2787045" y="2473378"/>
            <a:ext cx="1075862" cy="2185169"/>
          </a:xfrm>
          <a:prstGeom prst="rect">
            <a:avLst/>
          </a:prstGeom>
        </p:spPr>
      </p:pic>
      <p:pic>
        <p:nvPicPr>
          <p:cNvPr id="30" name="図 29">
            <a:extLst>
              <a:ext uri="{FF2B5EF4-FFF2-40B4-BE49-F238E27FC236}">
                <a16:creationId xmlns:a16="http://schemas.microsoft.com/office/drawing/2014/main" id="{8F6A35AF-F43B-7840-2D6C-1B6B2B42E230}"/>
              </a:ext>
            </a:extLst>
          </p:cNvPr>
          <p:cNvPicPr>
            <a:picLocks noChangeAspect="1"/>
          </p:cNvPicPr>
          <p:nvPr/>
        </p:nvPicPr>
        <p:blipFill>
          <a:blip r:embed="rId6"/>
          <a:stretch>
            <a:fillRect/>
          </a:stretch>
        </p:blipFill>
        <p:spPr>
          <a:xfrm>
            <a:off x="4642740" y="2473378"/>
            <a:ext cx="1075862" cy="2185169"/>
          </a:xfrm>
          <a:prstGeom prst="rect">
            <a:avLst/>
          </a:prstGeom>
        </p:spPr>
      </p:pic>
      <p:pic>
        <p:nvPicPr>
          <p:cNvPr id="33" name="図 32">
            <a:extLst>
              <a:ext uri="{FF2B5EF4-FFF2-40B4-BE49-F238E27FC236}">
                <a16:creationId xmlns:a16="http://schemas.microsoft.com/office/drawing/2014/main" id="{D40235FB-9583-1A5E-B72F-78E8634374F8}"/>
              </a:ext>
            </a:extLst>
          </p:cNvPr>
          <p:cNvPicPr>
            <a:picLocks noChangeAspect="1"/>
          </p:cNvPicPr>
          <p:nvPr/>
        </p:nvPicPr>
        <p:blipFill>
          <a:blip r:embed="rId7"/>
          <a:stretch>
            <a:fillRect/>
          </a:stretch>
        </p:blipFill>
        <p:spPr>
          <a:xfrm>
            <a:off x="4912706" y="4286481"/>
            <a:ext cx="1075862" cy="2185169"/>
          </a:xfrm>
          <a:prstGeom prst="rect">
            <a:avLst/>
          </a:prstGeom>
        </p:spPr>
      </p:pic>
      <p:pic>
        <p:nvPicPr>
          <p:cNvPr id="35" name="図 34" descr="ECイラスト｜無料イラスト・フリー素材なら「イラストAC」">
            <a:extLst>
              <a:ext uri="{FF2B5EF4-FFF2-40B4-BE49-F238E27FC236}">
                <a16:creationId xmlns:a16="http://schemas.microsoft.com/office/drawing/2014/main" id="{D49FDC36-0CE3-8C9D-C347-87E6A352FBA8}"/>
              </a:ext>
            </a:extLst>
          </p:cNvPr>
          <p:cNvPicPr>
            <a:picLocks noChangeAspect="1"/>
          </p:cNvPicPr>
          <p:nvPr/>
        </p:nvPicPr>
        <p:blipFill>
          <a:blip r:embed="rId8"/>
          <a:stretch>
            <a:fillRect/>
          </a:stretch>
        </p:blipFill>
        <p:spPr>
          <a:xfrm>
            <a:off x="6963331" y="2942929"/>
            <a:ext cx="939032" cy="704792"/>
          </a:xfrm>
          <a:prstGeom prst="rect">
            <a:avLst/>
          </a:prstGeom>
        </p:spPr>
      </p:pic>
      <p:pic>
        <p:nvPicPr>
          <p:cNvPr id="37" name="図 36">
            <a:extLst>
              <a:ext uri="{FF2B5EF4-FFF2-40B4-BE49-F238E27FC236}">
                <a16:creationId xmlns:a16="http://schemas.microsoft.com/office/drawing/2014/main" id="{F7BD15BF-B957-2E48-F4F7-8FC564AF0230}"/>
              </a:ext>
            </a:extLst>
          </p:cNvPr>
          <p:cNvPicPr>
            <a:picLocks noChangeAspect="1"/>
          </p:cNvPicPr>
          <p:nvPr/>
        </p:nvPicPr>
        <p:blipFill>
          <a:blip r:embed="rId9"/>
          <a:stretch>
            <a:fillRect/>
          </a:stretch>
        </p:blipFill>
        <p:spPr>
          <a:xfrm>
            <a:off x="7063740" y="3717556"/>
            <a:ext cx="738214" cy="738214"/>
          </a:xfrm>
          <a:prstGeom prst="rect">
            <a:avLst/>
          </a:prstGeom>
        </p:spPr>
      </p:pic>
      <p:pic>
        <p:nvPicPr>
          <p:cNvPr id="39" name="図 38">
            <a:extLst>
              <a:ext uri="{FF2B5EF4-FFF2-40B4-BE49-F238E27FC236}">
                <a16:creationId xmlns:a16="http://schemas.microsoft.com/office/drawing/2014/main" id="{44C1CDF5-821A-6829-FB1B-32BFD54CCF12}"/>
              </a:ext>
            </a:extLst>
          </p:cNvPr>
          <p:cNvPicPr>
            <a:picLocks noChangeAspect="1"/>
          </p:cNvPicPr>
          <p:nvPr/>
        </p:nvPicPr>
        <p:blipFill>
          <a:blip r:embed="rId10"/>
          <a:stretch>
            <a:fillRect/>
          </a:stretch>
        </p:blipFill>
        <p:spPr>
          <a:xfrm>
            <a:off x="8545500" y="2914186"/>
            <a:ext cx="865379" cy="852366"/>
          </a:xfrm>
          <a:prstGeom prst="rect">
            <a:avLst/>
          </a:prstGeom>
        </p:spPr>
      </p:pic>
      <p:sp>
        <p:nvSpPr>
          <p:cNvPr id="40" name="矢印: 五方向 39">
            <a:extLst>
              <a:ext uri="{FF2B5EF4-FFF2-40B4-BE49-F238E27FC236}">
                <a16:creationId xmlns:a16="http://schemas.microsoft.com/office/drawing/2014/main" id="{485842F5-8C0A-A110-CF3D-13BECB11ABA0}"/>
              </a:ext>
            </a:extLst>
          </p:cNvPr>
          <p:cNvSpPr/>
          <p:nvPr/>
        </p:nvSpPr>
        <p:spPr>
          <a:xfrm>
            <a:off x="235132" y="2029097"/>
            <a:ext cx="2081349" cy="387155"/>
          </a:xfrm>
          <a:prstGeom prst="homePlate">
            <a:avLst/>
          </a:prstGeom>
          <a:solidFill>
            <a:schemeClr val="bg1">
              <a:lumMod val="95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接触</a:t>
            </a:r>
          </a:p>
        </p:txBody>
      </p:sp>
      <p:sp>
        <p:nvSpPr>
          <p:cNvPr id="41" name="矢印: 山形 40">
            <a:extLst>
              <a:ext uri="{FF2B5EF4-FFF2-40B4-BE49-F238E27FC236}">
                <a16:creationId xmlns:a16="http://schemas.microsoft.com/office/drawing/2014/main" id="{ACD910E6-EFA1-B656-77A3-3A77BF066A98}"/>
              </a:ext>
            </a:extLst>
          </p:cNvPr>
          <p:cNvSpPr/>
          <p:nvPr/>
        </p:nvSpPr>
        <p:spPr>
          <a:xfrm>
            <a:off x="2276058" y="2029097"/>
            <a:ext cx="2081349" cy="387155"/>
          </a:xfrm>
          <a:prstGeom prst="chevron">
            <a:avLst/>
          </a:prstGeom>
          <a:solidFill>
            <a:schemeClr val="accent1">
              <a:lumMod val="20000"/>
              <a:lumOff val="8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登録（リード）</a:t>
            </a:r>
          </a:p>
        </p:txBody>
      </p:sp>
      <p:sp>
        <p:nvSpPr>
          <p:cNvPr id="44" name="矢印: 山形 43">
            <a:extLst>
              <a:ext uri="{FF2B5EF4-FFF2-40B4-BE49-F238E27FC236}">
                <a16:creationId xmlns:a16="http://schemas.microsoft.com/office/drawing/2014/main" id="{E48D7749-2B5D-F194-868C-A58D3CE730E1}"/>
              </a:ext>
            </a:extLst>
          </p:cNvPr>
          <p:cNvSpPr/>
          <p:nvPr/>
        </p:nvSpPr>
        <p:spPr>
          <a:xfrm>
            <a:off x="4316984" y="2025299"/>
            <a:ext cx="5237023" cy="387155"/>
          </a:xfrm>
          <a:prstGeom prst="chevron">
            <a:avLst/>
          </a:prstGeom>
          <a:solidFill>
            <a:schemeClr val="tx2">
              <a:lumMod val="20000"/>
              <a:lumOff val="8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利用（利用頻度改善）</a:t>
            </a:r>
          </a:p>
        </p:txBody>
      </p:sp>
      <p:sp>
        <p:nvSpPr>
          <p:cNvPr id="54" name="矢印: 山形 53">
            <a:extLst>
              <a:ext uri="{FF2B5EF4-FFF2-40B4-BE49-F238E27FC236}">
                <a16:creationId xmlns:a16="http://schemas.microsoft.com/office/drawing/2014/main" id="{85A8EAD7-0D27-E5F0-969F-C4BC15BBCE58}"/>
              </a:ext>
            </a:extLst>
          </p:cNvPr>
          <p:cNvSpPr/>
          <p:nvPr/>
        </p:nvSpPr>
        <p:spPr>
          <a:xfrm>
            <a:off x="6393445" y="2496246"/>
            <a:ext cx="2081349" cy="387155"/>
          </a:xfrm>
          <a:prstGeom prst="chevron">
            <a:avLst/>
          </a:prstGeom>
          <a:solidFill>
            <a:schemeClr val="accent1">
              <a:lumMod val="40000"/>
              <a:lumOff val="6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2"/>
                </a:solidFill>
                <a:latin typeface="メイリオ"/>
                <a:ea typeface="メイリオ"/>
                <a:cs typeface="メイリオ"/>
              </a:rPr>
              <a:t>購入・購入頻度 ↑</a:t>
            </a:r>
            <a:endParaRPr kumimoji="1" lang="ja-JP" altLang="en-US" sz="1200" b="1" dirty="0">
              <a:solidFill>
                <a:schemeClr val="tx2"/>
              </a:solidFill>
              <a:latin typeface="メイリオ"/>
              <a:ea typeface="メイリオ"/>
              <a:cs typeface="メイリオ"/>
            </a:endParaRPr>
          </a:p>
        </p:txBody>
      </p:sp>
      <p:sp>
        <p:nvSpPr>
          <p:cNvPr id="57" name="矢印: 山形 56">
            <a:extLst>
              <a:ext uri="{FF2B5EF4-FFF2-40B4-BE49-F238E27FC236}">
                <a16:creationId xmlns:a16="http://schemas.microsoft.com/office/drawing/2014/main" id="{05E10E9B-DE29-B3CC-F09B-7B2BC84D5964}"/>
              </a:ext>
            </a:extLst>
          </p:cNvPr>
          <p:cNvSpPr/>
          <p:nvPr/>
        </p:nvSpPr>
        <p:spPr>
          <a:xfrm>
            <a:off x="8434373" y="2500223"/>
            <a:ext cx="1119634" cy="387155"/>
          </a:xfrm>
          <a:prstGeom prst="chevron">
            <a:avLst/>
          </a:prstGeom>
          <a:solidFill>
            <a:schemeClr val="tx2">
              <a:lumMod val="60000"/>
              <a:lumOff val="40000"/>
            </a:schemeClr>
          </a:solidFill>
          <a:ln w="190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2"/>
                </a:solidFill>
                <a:latin typeface="メイリオ"/>
                <a:ea typeface="メイリオ"/>
                <a:cs typeface="メイリオ"/>
              </a:rPr>
              <a:t>ファン</a:t>
            </a:r>
          </a:p>
        </p:txBody>
      </p:sp>
      <p:cxnSp>
        <p:nvCxnSpPr>
          <p:cNvPr id="59" name="コネクタ: カギ線 58">
            <a:extLst>
              <a:ext uri="{FF2B5EF4-FFF2-40B4-BE49-F238E27FC236}">
                <a16:creationId xmlns:a16="http://schemas.microsoft.com/office/drawing/2014/main" id="{0AB48E7B-0D8A-9401-92AE-0F4206CD961F}"/>
              </a:ext>
            </a:extLst>
          </p:cNvPr>
          <p:cNvCxnSpPr/>
          <p:nvPr/>
        </p:nvCxnSpPr>
        <p:spPr>
          <a:xfrm>
            <a:off x="5913120" y="2412454"/>
            <a:ext cx="496389" cy="269786"/>
          </a:xfrm>
          <a:prstGeom prst="bentConnector3">
            <a:avLst>
              <a:gd name="adj1" fmla="val 877"/>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64" name="正方形/長方形 63">
            <a:extLst>
              <a:ext uri="{FF2B5EF4-FFF2-40B4-BE49-F238E27FC236}">
                <a16:creationId xmlns:a16="http://schemas.microsoft.com/office/drawing/2014/main" id="{6015D2A4-691F-8234-13B1-10F20CB050DB}"/>
              </a:ext>
            </a:extLst>
          </p:cNvPr>
          <p:cNvSpPr/>
          <p:nvPr/>
        </p:nvSpPr>
        <p:spPr>
          <a:xfrm>
            <a:off x="2427786" y="4358790"/>
            <a:ext cx="1777892"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アドレスによる取得</a:t>
            </a:r>
          </a:p>
        </p:txBody>
      </p:sp>
      <p:sp>
        <p:nvSpPr>
          <p:cNvPr id="68" name="正方形/長方形 67">
            <a:extLst>
              <a:ext uri="{FF2B5EF4-FFF2-40B4-BE49-F238E27FC236}">
                <a16:creationId xmlns:a16="http://schemas.microsoft.com/office/drawing/2014/main" id="{810E3B6E-4481-0EDC-992C-DA4E40014A55}"/>
              </a:ext>
            </a:extLst>
          </p:cNvPr>
          <p:cNvSpPr/>
          <p:nvPr/>
        </p:nvSpPr>
        <p:spPr>
          <a:xfrm>
            <a:off x="546896" y="3393967"/>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2"/>
                </a:solidFill>
                <a:latin typeface="メイリオ"/>
                <a:ea typeface="メイリオ"/>
                <a:cs typeface="メイリオ"/>
              </a:rPr>
              <a:t>TOP</a:t>
            </a:r>
            <a:endParaRPr kumimoji="1" lang="ja-JP" altLang="en-US" sz="1100" b="1" dirty="0">
              <a:solidFill>
                <a:schemeClr val="tx2"/>
              </a:solidFill>
              <a:latin typeface="メイリオ"/>
              <a:ea typeface="メイリオ"/>
              <a:cs typeface="メイリオ"/>
            </a:endParaRPr>
          </a:p>
        </p:txBody>
      </p:sp>
      <p:sp>
        <p:nvSpPr>
          <p:cNvPr id="72" name="正方形/長方形 71">
            <a:extLst>
              <a:ext uri="{FF2B5EF4-FFF2-40B4-BE49-F238E27FC236}">
                <a16:creationId xmlns:a16="http://schemas.microsoft.com/office/drawing/2014/main" id="{4779DD2F-AACB-EA52-33C7-A02AE9F97EDE}"/>
              </a:ext>
            </a:extLst>
          </p:cNvPr>
          <p:cNvSpPr/>
          <p:nvPr/>
        </p:nvSpPr>
        <p:spPr>
          <a:xfrm>
            <a:off x="820035" y="525309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コラム・企画</a:t>
            </a:r>
          </a:p>
        </p:txBody>
      </p:sp>
      <p:sp>
        <p:nvSpPr>
          <p:cNvPr id="77" name="正方形/長方形 76">
            <a:extLst>
              <a:ext uri="{FF2B5EF4-FFF2-40B4-BE49-F238E27FC236}">
                <a16:creationId xmlns:a16="http://schemas.microsoft.com/office/drawing/2014/main" id="{F2CF5E00-420D-446F-CBAF-3E83829B0B20}"/>
              </a:ext>
            </a:extLst>
          </p:cNvPr>
          <p:cNvSpPr/>
          <p:nvPr/>
        </p:nvSpPr>
        <p:spPr>
          <a:xfrm>
            <a:off x="4782759" y="522785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イベント応募</a:t>
            </a:r>
          </a:p>
        </p:txBody>
      </p:sp>
      <p:sp>
        <p:nvSpPr>
          <p:cNvPr id="81" name="正方形/長方形 80">
            <a:extLst>
              <a:ext uri="{FF2B5EF4-FFF2-40B4-BE49-F238E27FC236}">
                <a16:creationId xmlns:a16="http://schemas.microsoft.com/office/drawing/2014/main" id="{DA2B1A87-D636-7EF7-347B-DAEE0436034C}"/>
              </a:ext>
            </a:extLst>
          </p:cNvPr>
          <p:cNvSpPr/>
          <p:nvPr/>
        </p:nvSpPr>
        <p:spPr>
          <a:xfrm>
            <a:off x="4935159" y="5380259"/>
            <a:ext cx="1335756" cy="302410"/>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2"/>
                </a:solidFill>
                <a:latin typeface="メイリオ"/>
                <a:ea typeface="メイリオ"/>
                <a:cs typeface="メイリオ"/>
              </a:rPr>
              <a:t>イベント応募</a:t>
            </a:r>
          </a:p>
        </p:txBody>
      </p:sp>
    </p:spTree>
    <p:extLst>
      <p:ext uri="{BB962C8B-B14F-4D97-AF65-F5344CB8AC3E}">
        <p14:creationId xmlns:p14="http://schemas.microsoft.com/office/powerpoint/2010/main" val="2875207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AC869-7B8C-FB48-7E66-2D80F0FAE3E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109005A5-A73F-A058-8D96-0CAFE8D7480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FCD0EE34-8EF5-99BE-6725-8862A708303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cxnSp>
        <p:nvCxnSpPr>
          <p:cNvPr id="5" name="直線コネクタ 4">
            <a:extLst>
              <a:ext uri="{FF2B5EF4-FFF2-40B4-BE49-F238E27FC236}">
                <a16:creationId xmlns:a16="http://schemas.microsoft.com/office/drawing/2014/main" id="{9277284A-398D-1A38-2724-49C49199697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22723A6F-C1CA-81CD-D624-95FCF9D9ACBC}"/>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15" name="テキスト ボックス 14">
            <a:extLst>
              <a:ext uri="{FF2B5EF4-FFF2-40B4-BE49-F238E27FC236}">
                <a16:creationId xmlns:a16="http://schemas.microsoft.com/office/drawing/2014/main" id="{659482A1-D114-9212-88B0-CD596E5FE760}"/>
              </a:ext>
            </a:extLst>
          </p:cNvPr>
          <p:cNvSpPr txBox="1"/>
          <p:nvPr/>
        </p:nvSpPr>
        <p:spPr>
          <a:xfrm>
            <a:off x="1140171" y="706058"/>
            <a:ext cx="7997310" cy="523220"/>
          </a:xfrm>
          <a:prstGeom prst="rect">
            <a:avLst/>
          </a:prstGeom>
          <a:noFill/>
        </p:spPr>
        <p:txBody>
          <a:bodyPr wrap="square">
            <a:spAutoFit/>
          </a:bodyPr>
          <a:lstStyle/>
          <a:p>
            <a:pPr algn="ctr"/>
            <a:r>
              <a:rPr lang="ja-JP" altLang="en-US" sz="1400" dirty="0">
                <a:latin typeface="メイリオ"/>
                <a:ea typeface="メイリオ"/>
                <a:cs typeface="メイリオ"/>
              </a:rPr>
              <a:t>月間流入は多いもののエンゲージメント率が低そうな状態で都度の新規流入が多いものと想定。</a:t>
            </a:r>
            <a:endParaRPr lang="en-US" altLang="ja-JP" sz="1400" dirty="0">
              <a:latin typeface="メイリオ"/>
              <a:ea typeface="メイリオ"/>
              <a:cs typeface="メイリオ"/>
            </a:endParaRPr>
          </a:p>
          <a:p>
            <a:pPr algn="ctr"/>
            <a:r>
              <a:rPr lang="ja-JP" altLang="en-US" sz="1400" dirty="0">
                <a:solidFill>
                  <a:srgbClr val="FF0000"/>
                </a:solidFill>
                <a:latin typeface="メイリオ"/>
                <a:ea typeface="メイリオ"/>
                <a:cs typeface="メイリオ"/>
              </a:rPr>
              <a:t>課題は、</a:t>
            </a:r>
            <a:r>
              <a:rPr lang="ja-JP" altLang="en-US" sz="1400" b="1" dirty="0">
                <a:solidFill>
                  <a:srgbClr val="FF0000"/>
                </a:solidFill>
                <a:latin typeface="メイリオ"/>
                <a:ea typeface="メイリオ"/>
                <a:cs typeface="メイリオ"/>
              </a:rPr>
              <a:t>メルマガ登録している既存ユーザーの流入をいかに取れる</a:t>
            </a:r>
            <a:r>
              <a:rPr lang="ja-JP" altLang="en-US" sz="1400" dirty="0">
                <a:solidFill>
                  <a:srgbClr val="FF0000"/>
                </a:solidFill>
                <a:latin typeface="メイリオ"/>
                <a:ea typeface="メイリオ"/>
                <a:cs typeface="メイリオ"/>
              </a:rPr>
              <a:t>か。</a:t>
            </a:r>
            <a:endParaRPr lang="en-US" altLang="ja-JP" sz="1400" dirty="0">
              <a:solidFill>
                <a:srgbClr val="FF0000"/>
              </a:solidFill>
              <a:latin typeface="メイリオ"/>
              <a:ea typeface="メイリオ"/>
              <a:cs typeface="メイリオ"/>
            </a:endParaRPr>
          </a:p>
        </p:txBody>
      </p:sp>
      <p:sp>
        <p:nvSpPr>
          <p:cNvPr id="6" name="テキスト ボックス 5">
            <a:extLst>
              <a:ext uri="{FF2B5EF4-FFF2-40B4-BE49-F238E27FC236}">
                <a16:creationId xmlns:a16="http://schemas.microsoft.com/office/drawing/2014/main" id="{0D7975ED-62F2-FBB9-F987-813C6F7314B9}"/>
              </a:ext>
            </a:extLst>
          </p:cNvPr>
          <p:cNvSpPr txBox="1"/>
          <p:nvPr/>
        </p:nvSpPr>
        <p:spPr>
          <a:xfrm>
            <a:off x="548883" y="1595900"/>
            <a:ext cx="8744646"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a:ea typeface="メイリオ"/>
                <a:cs typeface="メイリオ"/>
              </a:rPr>
              <a:t>WEB</a:t>
            </a:r>
            <a:r>
              <a:rPr lang="ja-JP" altLang="en-US" sz="1200" dirty="0">
                <a:solidFill>
                  <a:schemeClr val="bg1"/>
                </a:solidFill>
                <a:latin typeface="メイリオ"/>
                <a:ea typeface="メイリオ"/>
                <a:cs typeface="メイリオ"/>
              </a:rPr>
              <a:t>サイトステータス　</a:t>
            </a:r>
            <a:r>
              <a:rPr lang="en-US" altLang="ja-JP" sz="900" dirty="0">
                <a:solidFill>
                  <a:srgbClr val="FFFF00"/>
                </a:solidFill>
                <a:latin typeface="メイリオ"/>
                <a:ea typeface="メイリオ"/>
                <a:cs typeface="メイリオ"/>
              </a:rPr>
              <a:t>※</a:t>
            </a:r>
            <a:r>
              <a:rPr lang="ja-JP" altLang="en-US" sz="900" dirty="0">
                <a:solidFill>
                  <a:srgbClr val="FFFF00"/>
                </a:solidFill>
                <a:latin typeface="メイリオ"/>
                <a:ea typeface="メイリオ"/>
                <a:cs typeface="メイリオ"/>
              </a:rPr>
              <a:t>外部ツール</a:t>
            </a:r>
            <a:r>
              <a:rPr lang="en-US" altLang="ja-JP" sz="900" dirty="0">
                <a:solidFill>
                  <a:srgbClr val="FFFF00"/>
                </a:solidFill>
                <a:latin typeface="メイリオ"/>
                <a:ea typeface="メイリオ"/>
                <a:cs typeface="メイリオ"/>
              </a:rPr>
              <a:t>Similar Web</a:t>
            </a:r>
            <a:r>
              <a:rPr lang="ja-JP" altLang="en-US" sz="900" dirty="0">
                <a:solidFill>
                  <a:srgbClr val="FFFF00"/>
                </a:solidFill>
                <a:latin typeface="メイリオ"/>
                <a:ea typeface="メイリオ"/>
                <a:cs typeface="メイリオ"/>
              </a:rPr>
              <a:t>をもとに作成</a:t>
            </a:r>
            <a:endParaRPr lang="ja-JP" altLang="en-US" sz="1200" dirty="0">
              <a:solidFill>
                <a:srgbClr val="FFFF00"/>
              </a:solidFill>
              <a:latin typeface="メイリオ"/>
              <a:ea typeface="メイリオ"/>
              <a:cs typeface="メイリオ"/>
            </a:endParaRPr>
          </a:p>
        </p:txBody>
      </p:sp>
      <p:pic>
        <p:nvPicPr>
          <p:cNvPr id="9" name="図 8">
            <a:extLst>
              <a:ext uri="{FF2B5EF4-FFF2-40B4-BE49-F238E27FC236}">
                <a16:creationId xmlns:a16="http://schemas.microsoft.com/office/drawing/2014/main" id="{4D3E8D3B-4D29-B1D6-12C9-57E468F8C05B}"/>
              </a:ext>
            </a:extLst>
          </p:cNvPr>
          <p:cNvPicPr>
            <a:picLocks noChangeAspect="1"/>
          </p:cNvPicPr>
          <p:nvPr/>
        </p:nvPicPr>
        <p:blipFill>
          <a:blip r:embed="rId3"/>
          <a:srcRect t="51009"/>
          <a:stretch>
            <a:fillRect/>
          </a:stretch>
        </p:blipFill>
        <p:spPr>
          <a:xfrm>
            <a:off x="1231737" y="1985554"/>
            <a:ext cx="7442525" cy="1692626"/>
          </a:xfrm>
          <a:prstGeom prst="rect">
            <a:avLst/>
          </a:prstGeom>
        </p:spPr>
      </p:pic>
      <p:pic>
        <p:nvPicPr>
          <p:cNvPr id="11" name="図 10">
            <a:extLst>
              <a:ext uri="{FF2B5EF4-FFF2-40B4-BE49-F238E27FC236}">
                <a16:creationId xmlns:a16="http://schemas.microsoft.com/office/drawing/2014/main" id="{2C4B8C7A-16F1-089A-3BED-6060F1843E54}"/>
              </a:ext>
            </a:extLst>
          </p:cNvPr>
          <p:cNvPicPr>
            <a:picLocks noChangeAspect="1"/>
          </p:cNvPicPr>
          <p:nvPr/>
        </p:nvPicPr>
        <p:blipFill>
          <a:blip r:embed="rId4"/>
          <a:stretch>
            <a:fillRect/>
          </a:stretch>
        </p:blipFill>
        <p:spPr>
          <a:xfrm>
            <a:off x="1239153" y="3678180"/>
            <a:ext cx="7442525" cy="2501012"/>
          </a:xfrm>
          <a:prstGeom prst="rect">
            <a:avLst/>
          </a:prstGeom>
        </p:spPr>
      </p:pic>
      <p:sp>
        <p:nvSpPr>
          <p:cNvPr id="12" name="正方形/長方形 11">
            <a:extLst>
              <a:ext uri="{FF2B5EF4-FFF2-40B4-BE49-F238E27FC236}">
                <a16:creationId xmlns:a16="http://schemas.microsoft.com/office/drawing/2014/main" id="{AF26425A-6431-14C6-E2E1-6311AD8C880D}"/>
              </a:ext>
            </a:extLst>
          </p:cNvPr>
          <p:cNvSpPr/>
          <p:nvPr/>
        </p:nvSpPr>
        <p:spPr>
          <a:xfrm>
            <a:off x="7498080" y="4511040"/>
            <a:ext cx="862149" cy="1219200"/>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4" name="正方形/長方形 13">
            <a:extLst>
              <a:ext uri="{FF2B5EF4-FFF2-40B4-BE49-F238E27FC236}">
                <a16:creationId xmlns:a16="http://schemas.microsoft.com/office/drawing/2014/main" id="{288B28A1-EEE9-CB3D-1342-C5134D5CCFCA}"/>
              </a:ext>
            </a:extLst>
          </p:cNvPr>
          <p:cNvSpPr/>
          <p:nvPr/>
        </p:nvSpPr>
        <p:spPr>
          <a:xfrm>
            <a:off x="6265818" y="2529235"/>
            <a:ext cx="2415860" cy="353302"/>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AD83128C-4543-034E-FE5E-895F8C069BB1}"/>
              </a:ext>
            </a:extLst>
          </p:cNvPr>
          <p:cNvSpPr/>
          <p:nvPr/>
        </p:nvSpPr>
        <p:spPr>
          <a:xfrm>
            <a:off x="3815020" y="2891246"/>
            <a:ext cx="2415860" cy="353302"/>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8" name="正方形/長方形 17">
            <a:extLst>
              <a:ext uri="{FF2B5EF4-FFF2-40B4-BE49-F238E27FC236}">
                <a16:creationId xmlns:a16="http://schemas.microsoft.com/office/drawing/2014/main" id="{FB84EFFF-33E1-25ED-828C-F76F9E3DF311}"/>
              </a:ext>
            </a:extLst>
          </p:cNvPr>
          <p:cNvSpPr/>
          <p:nvPr/>
        </p:nvSpPr>
        <p:spPr>
          <a:xfrm>
            <a:off x="6409508" y="3007408"/>
            <a:ext cx="3039291"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rgbClr val="FFC000"/>
                </a:solidFill>
                <a:latin typeface="メイリオ"/>
                <a:ea typeface="メイリオ"/>
                <a:cs typeface="メイリオ"/>
              </a:rPr>
              <a:t>PV</a:t>
            </a:r>
            <a:r>
              <a:rPr kumimoji="1" lang="ja-JP" altLang="en-US" sz="1100" dirty="0">
                <a:solidFill>
                  <a:srgbClr val="FFC000"/>
                </a:solidFill>
                <a:latin typeface="メイリオ"/>
                <a:ea typeface="メイリオ"/>
                <a:cs typeface="メイリオ"/>
              </a:rPr>
              <a:t>数が少なく滞在時間も短い状況。</a:t>
            </a:r>
          </a:p>
        </p:txBody>
      </p:sp>
      <p:sp>
        <p:nvSpPr>
          <p:cNvPr id="20" name="正方形/長方形 19">
            <a:extLst>
              <a:ext uri="{FF2B5EF4-FFF2-40B4-BE49-F238E27FC236}">
                <a16:creationId xmlns:a16="http://schemas.microsoft.com/office/drawing/2014/main" id="{A1401305-CE0A-8074-E73A-9BF24F6A0EF1}"/>
              </a:ext>
            </a:extLst>
          </p:cNvPr>
          <p:cNvSpPr/>
          <p:nvPr/>
        </p:nvSpPr>
        <p:spPr>
          <a:xfrm>
            <a:off x="5529943" y="4017046"/>
            <a:ext cx="4106093" cy="442759"/>
          </a:xfrm>
          <a:prstGeom prst="rect">
            <a:avLst/>
          </a:prstGeom>
          <a:solidFill>
            <a:schemeClr val="bg1">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rgbClr val="FFC000"/>
                </a:solidFill>
                <a:latin typeface="メイリオ"/>
                <a:ea typeface="メイリオ"/>
                <a:cs typeface="メイリオ"/>
              </a:rPr>
              <a:t>メールアドレス登録にもかかわらず、</a:t>
            </a:r>
            <a:r>
              <a:rPr lang="ja-JP" altLang="en-US" sz="1100" dirty="0">
                <a:solidFill>
                  <a:srgbClr val="FFC000"/>
                </a:solidFill>
                <a:latin typeface="メイリオ"/>
                <a:ea typeface="メイリオ"/>
                <a:cs typeface="メイリオ"/>
              </a:rPr>
              <a:t>比率は</a:t>
            </a:r>
            <a:r>
              <a:rPr lang="en-US" altLang="ja-JP" sz="1100" dirty="0">
                <a:solidFill>
                  <a:srgbClr val="FFC000"/>
                </a:solidFill>
                <a:latin typeface="メイリオ"/>
                <a:ea typeface="メイリオ"/>
                <a:cs typeface="メイリオ"/>
              </a:rPr>
              <a:t>15%</a:t>
            </a:r>
            <a:r>
              <a:rPr lang="ja-JP" altLang="en-US" sz="1100" dirty="0">
                <a:solidFill>
                  <a:srgbClr val="FFC000"/>
                </a:solidFill>
                <a:latin typeface="メイリオ"/>
                <a:ea typeface="メイリオ"/>
                <a:cs typeface="メイリオ"/>
              </a:rPr>
              <a:t>と低い。</a:t>
            </a:r>
            <a:endParaRPr kumimoji="1" lang="en-US" altLang="ja-JP" sz="1100" dirty="0">
              <a:solidFill>
                <a:srgbClr val="FFC000"/>
              </a:solidFill>
              <a:latin typeface="メイリオ"/>
              <a:ea typeface="メイリオ"/>
              <a:cs typeface="メイリオ"/>
            </a:endParaRPr>
          </a:p>
          <a:p>
            <a:pPr algn="ctr"/>
            <a:r>
              <a:rPr kumimoji="1" lang="ja-JP" altLang="en-US" sz="1100" dirty="0">
                <a:solidFill>
                  <a:srgbClr val="FFC000"/>
                </a:solidFill>
                <a:latin typeface="メイリオ"/>
                <a:ea typeface="メイリオ"/>
                <a:cs typeface="メイリオ"/>
              </a:rPr>
              <a:t>一部を広告経由の流入に頼らないといけない状況。</a:t>
            </a:r>
          </a:p>
        </p:txBody>
      </p:sp>
      <p:sp>
        <p:nvSpPr>
          <p:cNvPr id="22" name="正方形/長方形 21">
            <a:extLst>
              <a:ext uri="{FF2B5EF4-FFF2-40B4-BE49-F238E27FC236}">
                <a16:creationId xmlns:a16="http://schemas.microsoft.com/office/drawing/2014/main" id="{4F7C9347-42BB-5470-0E52-D154083C26B3}"/>
              </a:ext>
            </a:extLst>
          </p:cNvPr>
          <p:cNvSpPr/>
          <p:nvPr/>
        </p:nvSpPr>
        <p:spPr>
          <a:xfrm>
            <a:off x="5043030" y="4511040"/>
            <a:ext cx="862149" cy="1219200"/>
          </a:xfrm>
          <a:prstGeom prst="rect">
            <a:avLst/>
          </a:prstGeom>
          <a:noFill/>
          <a:ln>
            <a:solidFill>
              <a:srgbClr val="FF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1862720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3B94D-09D9-3239-38EF-5B39FB422BE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FB93FD5-9FE7-0B38-8522-B613E524A2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69838AFE-B12B-5651-C60F-C11F087DFFDC}"/>
              </a:ext>
            </a:extLst>
          </p:cNvPr>
          <p:cNvSpPr/>
          <p:nvPr/>
        </p:nvSpPr>
        <p:spPr>
          <a:xfrm>
            <a:off x="2486640" y="3038203"/>
            <a:ext cx="4932761"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a:ea typeface="メイリオ"/>
                <a:cs typeface="メイリオ"/>
              </a:rPr>
              <a:t>LINE</a:t>
            </a:r>
            <a:r>
              <a:rPr lang="ja-JP" altLang="en-US" sz="3200" b="1" dirty="0">
                <a:solidFill>
                  <a:schemeClr val="tx1">
                    <a:lumMod val="75000"/>
                    <a:lumOff val="25000"/>
                  </a:schemeClr>
                </a:solidFill>
                <a:latin typeface="メイリオ"/>
                <a:ea typeface="メイリオ"/>
                <a:cs typeface="メイリオ"/>
              </a:rPr>
              <a:t>施策導入検討の背景</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14979089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a:ea typeface="メイリオ"/>
                <a:cs typeface="メイリオ"/>
              </a:rPr>
              <a:t>ユーザーコミュニケーションに、</a:t>
            </a:r>
            <a:r>
              <a:rPr lang="en-US" altLang="ja-JP" sz="1400" dirty="0" err="1">
                <a:solidFill>
                  <a:srgbClr val="343434"/>
                </a:solidFill>
                <a:latin typeface="メイリオ"/>
                <a:ea typeface="メイリオ"/>
                <a:cs typeface="メイリオ"/>
              </a:rPr>
              <a:t>LINE公式アカウントを導入する</a:t>
            </a:r>
            <a:r>
              <a:rPr lang="ja-JP" altLang="en-US" sz="1400" dirty="0">
                <a:solidFill>
                  <a:srgbClr val="343434"/>
                </a:solidFill>
                <a:latin typeface="メイリオ"/>
                <a:ea typeface="メイリオ"/>
                <a:cs typeface="メイリオ"/>
              </a:rPr>
              <a:t>法人</a:t>
            </a:r>
            <a:r>
              <a:rPr lang="en-US" altLang="ja-JP" sz="1400" dirty="0">
                <a:solidFill>
                  <a:srgbClr val="343434"/>
                </a:solidFill>
                <a:latin typeface="メイリオ"/>
                <a:ea typeface="メイリオ"/>
                <a:cs typeface="メイリオ"/>
              </a:rPr>
              <a:t>が</a:t>
            </a:r>
            <a:r>
              <a:rPr lang="ja-JP" altLang="en-US" sz="1400" dirty="0">
                <a:solidFill>
                  <a:srgbClr val="343434"/>
                </a:solidFill>
                <a:latin typeface="メイリオ"/>
                <a:ea typeface="メイリオ"/>
                <a:cs typeface="メイリオ"/>
              </a:rPr>
              <a:t>増加傾向</a:t>
            </a:r>
            <a:r>
              <a:rPr lang="en-US" altLang="ja-JP" sz="1400" dirty="0">
                <a:solidFill>
                  <a:srgbClr val="343434"/>
                </a:solidFill>
                <a:latin typeface="メイリオ"/>
                <a:ea typeface="メイリオ"/>
                <a:cs typeface="メイリオ"/>
              </a:rPr>
              <a:t>。</a:t>
            </a:r>
          </a:p>
          <a:p>
            <a:pPr algn="ctr">
              <a:lnSpc>
                <a:spcPts val="2455"/>
              </a:lnSpc>
            </a:pPr>
            <a:r>
              <a:rPr lang="en-US" altLang="ja-JP" sz="1400" b="1" dirty="0">
                <a:solidFill>
                  <a:srgbClr val="343434"/>
                </a:solidFill>
                <a:latin typeface="メイリオ"/>
                <a:ea typeface="メイリオ"/>
                <a:cs typeface="メイリオ"/>
              </a:rPr>
              <a:t>メールマガジンより開封されやすく、すぐに読まれる</a:t>
            </a:r>
            <a:r>
              <a:rPr lang="en-US" altLang="ja-JP" sz="1400" dirty="0">
                <a:solidFill>
                  <a:srgbClr val="343434"/>
                </a:solidFill>
                <a:latin typeface="メイリオ"/>
                <a:ea typeface="メイリオ"/>
                <a:cs typeface="メイリオ"/>
              </a:rPr>
              <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a:ea typeface="メイリオ"/>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a:ea typeface="メイリオ"/>
                  <a:cs typeface="メイリオ"/>
                </a:rPr>
                <a:t>　　　　</a:t>
              </a:r>
              <a:r>
                <a:rPr lang="en-US" sz="1400" dirty="0" err="1">
                  <a:solidFill>
                    <a:srgbClr val="040606"/>
                  </a:solidFill>
                  <a:latin typeface="メイリオ"/>
                  <a:ea typeface="メイリオ"/>
                  <a:cs typeface="メイリオ"/>
                </a:rPr>
                <a:t>メールマガジン</a:t>
              </a:r>
              <a:r>
                <a:rPr lang="ja-JP" altLang="en-US" sz="1400" dirty="0" err="1">
                  <a:solidFill>
                    <a:srgbClr val="040606"/>
                  </a:solidFill>
                  <a:latin typeface="メイリオ"/>
                  <a:ea typeface="メイリオ"/>
                  <a:cs typeface="メイリオ"/>
                </a:rPr>
                <a:t>、</a:t>
              </a:r>
              <a:r>
                <a:rPr lang="ja-JP" altLang="en-US" sz="1400" dirty="0">
                  <a:solidFill>
                    <a:srgbClr val="040606"/>
                  </a:solidFill>
                  <a:latin typeface="メイリオ"/>
                  <a:ea typeface="メイリオ"/>
                  <a:cs typeface="メイリオ"/>
                </a:rPr>
                <a:t>テレマーケティング </a:t>
              </a:r>
              <a:r>
                <a:rPr lang="en-US" sz="1400" dirty="0" err="1">
                  <a:solidFill>
                    <a:srgbClr val="040606"/>
                  </a:solidFill>
                  <a:latin typeface="メイリオ"/>
                  <a:ea typeface="メイリオ"/>
                  <a:cs typeface="メイリオ"/>
                </a:rPr>
                <a:t>が主流</a:t>
              </a:r>
              <a:endParaRPr lang="en-US" sz="1400" dirty="0">
                <a:solidFill>
                  <a:srgbClr val="040606"/>
                </a:solidFill>
                <a:latin typeface="メイリオ"/>
                <a:ea typeface="メイリオ"/>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a:ea typeface="メイリオ"/>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a:ea typeface="メイリオ"/>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a:ea typeface="メイリオ"/>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a:ea typeface="メイリオ"/>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a:ea typeface="メイリオ"/>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a:ea typeface="メイリオ"/>
                  <a:cs typeface="メイリオ"/>
                </a:rPr>
                <a:t>　　　　＋</a:t>
              </a:r>
              <a:r>
                <a:rPr lang="en-US" sz="1400" b="1" dirty="0">
                  <a:solidFill>
                    <a:srgbClr val="00B900"/>
                  </a:solidFill>
                  <a:latin typeface="メイリオ"/>
                  <a:ea typeface="メイリオ"/>
                  <a:cs typeface="メイリオ"/>
                </a:rPr>
                <a:t>LINE</a:t>
              </a:r>
              <a:r>
                <a:rPr lang="ja-JP" altLang="en-US" sz="1400" b="1" dirty="0">
                  <a:solidFill>
                    <a:srgbClr val="00B900"/>
                  </a:solidFill>
                  <a:latin typeface="メイリオ"/>
                  <a:ea typeface="メイリオ"/>
                  <a:cs typeface="メイリオ"/>
                </a:rPr>
                <a:t>公式アカウント</a:t>
              </a:r>
              <a:r>
                <a:rPr lang="en-US" sz="1400" b="1" dirty="0">
                  <a:solidFill>
                    <a:srgbClr val="00B900"/>
                  </a:solidFill>
                  <a:latin typeface="メイリオ"/>
                  <a:ea typeface="メイリオ"/>
                  <a:cs typeface="メイリオ"/>
                </a:rPr>
                <a:t> </a:t>
              </a:r>
              <a:r>
                <a:rPr lang="en-US" sz="1400" dirty="0" err="1">
                  <a:solidFill>
                    <a:srgbClr val="00B900"/>
                  </a:solidFill>
                  <a:latin typeface="メイリオ"/>
                  <a:ea typeface="メイリオ"/>
                  <a:cs typeface="メイリオ"/>
                </a:rPr>
                <a:t>が主流</a:t>
              </a:r>
              <a:endParaRPr lang="en-US" sz="1400" dirty="0">
                <a:solidFill>
                  <a:srgbClr val="00B900"/>
                </a:solidFill>
                <a:latin typeface="メイリオ"/>
                <a:ea typeface="メイリオ"/>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a:ea typeface="メイリオ"/>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a:ea typeface="メイリオ"/>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a:ea typeface="メイリオ"/>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a:ea typeface="メイリオ"/>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a:ea typeface="メイリオ"/>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a:ea typeface="メイリオ"/>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a:ea typeface="メイリオ"/>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低い</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時間がかかる</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a:ea typeface="メイリオ"/>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a:ea typeface="メイリオ"/>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a:ea typeface="メイリオ"/>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a:ea typeface="メイリオ"/>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a:ea typeface="メイリオ"/>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a:ea typeface="メイリオ"/>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a:ea typeface="メイリオ"/>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高い</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すぐに読まれる</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a:ea typeface="メイリオ"/>
                <a:cs typeface="メイリオ"/>
              </a:rPr>
              <a:t>ワンタップで追加</a:t>
            </a:r>
          </a:p>
        </p:txBody>
      </p:sp>
    </p:spTree>
    <p:extLst>
      <p:ext uri="{BB962C8B-B14F-4D97-AF65-F5344CB8AC3E}">
        <p14:creationId xmlns:p14="http://schemas.microsoft.com/office/powerpoint/2010/main" val="38402223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a:ea typeface="メイリオ"/>
                <a:cs typeface="メイリオ"/>
              </a:rPr>
              <a:t>「今すぐ客」以外の大多数の層をリストマーケティングで顧客に引き上げることが重要。</a:t>
            </a:r>
            <a:r>
              <a:rPr lang="en-US" altLang="ja-JP" sz="1400" dirty="0" err="1">
                <a:solidFill>
                  <a:srgbClr val="343434"/>
                </a:solidFill>
                <a:latin typeface="メイリオ"/>
                <a:ea typeface="メイリオ"/>
                <a:cs typeface="メイリオ"/>
              </a:rPr>
              <a:t/>
            </a:r>
            <a:r>
              <a:rPr lang="ja-JP" altLang="en-US" sz="1400" dirty="0">
                <a:solidFill>
                  <a:srgbClr val="343434"/>
                </a:solidFill>
                <a:latin typeface="メイリオ"/>
                <a:ea typeface="メイリオ"/>
                <a:cs typeface="メイリオ"/>
              </a:rPr>
              <a:t/>
            </a:r>
            <a:r>
              <a:rPr lang="en-US" altLang="ja-JP" sz="1400" dirty="0">
                <a:solidFill>
                  <a:srgbClr val="343434"/>
                </a:solidFill>
                <a:latin typeface="メイリオ"/>
                <a:ea typeface="メイリオ"/>
                <a:cs typeface="メイリオ"/>
              </a:rPr>
              <a:t/>
            </a:r>
          </a:p>
          <a:p>
            <a:pPr algn="ctr">
              <a:lnSpc>
                <a:spcPts val="2455"/>
              </a:lnSpc>
            </a:pPr>
            <a:r>
              <a:rPr lang="en-US" altLang="ja-JP" sz="1400" dirty="0" err="1">
                <a:solidFill>
                  <a:srgbClr val="343434"/>
                </a:solidFill>
                <a:latin typeface="メイリオ"/>
                <a:ea typeface="メイリオ"/>
                <a:cs typeface="メイリオ"/>
              </a:rPr>
              <a:t>結果として</a:t>
            </a:r>
            <a:r>
              <a:rPr lang="ja-JP" altLang="en-US" sz="1400" dirty="0" err="1">
                <a:solidFill>
                  <a:srgbClr val="343434"/>
                </a:solidFill>
                <a:latin typeface="メイリオ"/>
                <a:ea typeface="メイリオ"/>
                <a:cs typeface="メイリオ"/>
              </a:rPr>
              <a:t>、</a:t>
            </a:r>
            <a:r>
              <a:rPr lang="ja-JP" altLang="en-US" sz="1400" dirty="0">
                <a:solidFill>
                  <a:srgbClr val="343434"/>
                </a:solidFill>
                <a:latin typeface="メイリオ"/>
                <a:ea typeface="メイリオ"/>
                <a:cs typeface="メイリオ"/>
              </a:rPr>
              <a:t>リード獲得率向上、</a:t>
            </a:r>
            <a:r>
              <a:rPr lang="en-US" altLang="ja-JP" sz="1400" dirty="0" err="1">
                <a:solidFill>
                  <a:srgbClr val="343434"/>
                </a:solidFill>
                <a:latin typeface="メイリオ"/>
                <a:ea typeface="メイリオ"/>
                <a:cs typeface="メイリオ"/>
              </a:rPr>
              <a:t>リピート率向上、売上向上に繋</a:t>
            </a:r>
            <a:r>
              <a:rPr lang="ja-JP" altLang="en-US" sz="1400" dirty="0">
                <a:solidFill>
                  <a:srgbClr val="343434"/>
                </a:solidFill>
                <a:latin typeface="メイリオ"/>
                <a:ea typeface="メイリオ"/>
                <a:cs typeface="メイリオ"/>
              </a:rPr>
              <a:t>げ</a:t>
            </a:r>
            <a:r>
              <a:rPr lang="en-US" altLang="ja-JP" sz="1400" dirty="0">
                <a:solidFill>
                  <a:srgbClr val="343434"/>
                </a:solidFill>
                <a:latin typeface="メイリオ"/>
                <a:ea typeface="メイリオ"/>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a:ea typeface="メイリオ"/>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a:ea typeface="メイリオ"/>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a:ea typeface="メイリオ"/>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a:ea typeface="メイリオ"/>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a:ea typeface="メイリオ"/>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a:ea typeface="メイリオ"/>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a:ea typeface="メイリオ"/>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a:ea typeface="メイリオ"/>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a:ea typeface="メイリオ"/>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a:ea typeface="メイリオ"/>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a:ea typeface="メイリオ"/>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a:ea typeface="メイリオ"/>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a:ea typeface="メイリオ"/>
                <a:cs typeface="メイリオ"/>
              </a:rPr>
              <a:t>お悩み客</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a:ea typeface="メイリオ"/>
                <a:cs typeface="メイリオ"/>
              </a:rPr>
              <a:t>「</a:t>
            </a:r>
            <a:r>
              <a:rPr lang="en-US" sz="1200" b="1" dirty="0" err="1">
                <a:solidFill>
                  <a:srgbClr val="494848"/>
                </a:solidFill>
                <a:latin typeface="メイリオ"/>
                <a:ea typeface="メイリオ"/>
                <a:cs typeface="メイリオ"/>
              </a:rPr>
              <a:t>今すぐ</a:t>
            </a:r>
            <a:r>
              <a:rPr lang="ja-JP" altLang="en-US" sz="1200" b="1" dirty="0">
                <a:solidFill>
                  <a:srgbClr val="494848"/>
                </a:solidFill>
                <a:latin typeface="メイリオ"/>
                <a:ea typeface="メイリオ"/>
                <a:cs typeface="メイリオ"/>
              </a:rPr>
              <a:t>顧</a:t>
            </a:r>
            <a:r>
              <a:rPr lang="en-US" sz="1200" b="1" dirty="0" err="1">
                <a:solidFill>
                  <a:srgbClr val="494848"/>
                </a:solidFill>
                <a:latin typeface="メイリオ"/>
                <a:ea typeface="メイリオ"/>
                <a:cs typeface="メイリオ"/>
              </a:rPr>
              <a:t>客」を高い広告費を投資して獲得する</a:t>
            </a:r>
            <a:r>
              <a:rPr lang="ja-JP" altLang="en-US" sz="1200" b="1" dirty="0" err="1">
                <a:solidFill>
                  <a:srgbClr val="494848"/>
                </a:solidFill>
                <a:latin typeface="メイリオ"/>
                <a:ea typeface="メイリオ"/>
                <a:cs typeface="メイリオ"/>
              </a:rPr>
              <a:t>のは</a:t>
            </a:r>
            <a:r>
              <a:rPr lang="ja-JP" altLang="en-US" sz="1200" b="1" dirty="0">
                <a:solidFill>
                  <a:srgbClr val="494848"/>
                </a:solidFill>
                <a:latin typeface="メイリオ"/>
                <a:ea typeface="メイリオ"/>
                <a:cs typeface="メイリオ"/>
              </a:rPr>
              <a:t>リスクが大きい。</a:t>
            </a:r>
            <a:endParaRPr lang="en-US" sz="1200" b="1" dirty="0">
              <a:solidFill>
                <a:srgbClr val="494848"/>
              </a:solidFill>
              <a:latin typeface="メイリオ"/>
              <a:ea typeface="メイリオ"/>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a:ea typeface="メイリオ"/>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a:ea typeface="メイリオ"/>
                <a:cs typeface="メイリオ"/>
              </a:rPr>
              <a:t>リストとして獲得するだけでなく</a:t>
            </a:r>
            <a:endParaRPr lang="en-US" sz="1200" b="1" dirty="0">
              <a:solidFill>
                <a:srgbClr val="494848"/>
              </a:solidFill>
              <a:latin typeface="メイリオ"/>
              <a:ea typeface="メイリオ"/>
              <a:cs typeface="メイリオ"/>
            </a:endParaRPr>
          </a:p>
          <a:p>
            <a:pPr>
              <a:lnSpc>
                <a:spcPts val="2176"/>
              </a:lnSpc>
            </a:pPr>
            <a:r>
              <a:rPr lang="en-US" sz="1200" b="1" dirty="0">
                <a:solidFill>
                  <a:srgbClr val="494848"/>
                </a:solidFill>
                <a:latin typeface="メイリオ"/>
                <a:ea typeface="メイリオ"/>
                <a:cs typeface="メイリオ"/>
              </a:rPr>
              <a:t>「</a:t>
            </a:r>
            <a:r>
              <a:rPr lang="ja-JP" altLang="en-US" sz="1200" b="1" dirty="0">
                <a:solidFill>
                  <a:srgbClr val="494848"/>
                </a:solidFill>
                <a:latin typeface="メイリオ"/>
                <a:ea typeface="メイリオ"/>
                <a:cs typeface="メイリオ"/>
              </a:rPr>
              <a:t>将来的な顧</a:t>
            </a:r>
            <a:r>
              <a:rPr lang="en-US" sz="1200" b="1" dirty="0" err="1">
                <a:solidFill>
                  <a:srgbClr val="494848"/>
                </a:solidFill>
                <a:latin typeface="メイリオ"/>
                <a:ea typeface="メイリオ"/>
                <a:cs typeface="メイリオ"/>
              </a:rPr>
              <a:t>客」教育をLINE</a:t>
            </a:r>
            <a:r>
              <a:rPr lang="ja-JP" altLang="en-US" sz="1200" b="1" dirty="0">
                <a:solidFill>
                  <a:srgbClr val="494848"/>
                </a:solidFill>
                <a:latin typeface="メイリオ"/>
                <a:ea typeface="メイリオ"/>
                <a:cs typeface="メイリオ"/>
              </a:rPr>
              <a:t>上で構築し</a:t>
            </a:r>
            <a:r>
              <a:rPr lang="en-US" sz="1200" b="1" dirty="0">
                <a:solidFill>
                  <a:srgbClr val="494848"/>
                </a:solidFill>
                <a:latin typeface="メイリオ"/>
                <a:ea typeface="メイリオ"/>
                <a:cs typeface="メイリオ"/>
              </a:rPr>
              <a:t>行</a:t>
            </a:r>
            <a:r>
              <a:rPr lang="ja-JP" altLang="en-US" sz="1200" b="1" dirty="0">
                <a:solidFill>
                  <a:srgbClr val="494848"/>
                </a:solidFill>
                <a:latin typeface="メイリオ"/>
                <a:ea typeface="メイリオ"/>
                <a:cs typeface="メイリオ"/>
              </a:rPr>
              <a:t>う。</a:t>
            </a:r>
            <a:endParaRPr lang="en-US" sz="1200" b="1" dirty="0">
              <a:solidFill>
                <a:srgbClr val="494848"/>
              </a:solidFill>
              <a:latin typeface="メイリオ"/>
              <a:ea typeface="メイリオ"/>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a:ea typeface="メイリオ"/>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a:ea typeface="メイリオ"/>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a:ea typeface="メイリオ"/>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a:ea typeface="メイリオ"/>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a:ea typeface="メイリオ"/>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FF0000"/>
                </a:solidFill>
                <a:latin typeface="メイリオ"/>
                <a:ea typeface="メイリオ"/>
                <a:cs typeface="メイリオ"/>
                <a:sym typeface="Meiryo"/>
              </a:rPr>
              <a:t>単価指標（</a:t>
            </a:r>
            <a:r>
              <a:rPr lang="en-US" altLang="ja-JP" sz="1400" b="1" dirty="0">
                <a:solidFill>
                  <a:srgbClr val="FF0000"/>
                </a:solidFill>
                <a:latin typeface="メイリオ"/>
                <a:ea typeface="メイリオ"/>
                <a:cs typeface="メイリオ"/>
                <a:sym typeface="Meiryo"/>
              </a:rPr>
              <a:t>CPC</a:t>
            </a:r>
            <a:r>
              <a:rPr lang="ja-JP" altLang="en-US" sz="1400" b="1" dirty="0">
                <a:solidFill>
                  <a:srgbClr val="FF0000"/>
                </a:solidFill>
                <a:latin typeface="メイリオ"/>
                <a:ea typeface="メイリオ"/>
                <a:cs typeface="メイリオ"/>
                <a:sym typeface="Meiryo"/>
              </a:rPr>
              <a:t>及び</a:t>
            </a:r>
            <a:r>
              <a:rPr lang="en-US" altLang="ja-JP" sz="1400" b="1" dirty="0">
                <a:solidFill>
                  <a:srgbClr val="FF0000"/>
                </a:solidFill>
                <a:latin typeface="メイリオ"/>
                <a:ea typeface="メイリオ"/>
                <a:cs typeface="メイリオ"/>
                <a:sym typeface="Meiryo"/>
              </a:rPr>
              <a:t>CPA</a:t>
            </a:r>
            <a:r>
              <a:rPr lang="ja-JP" altLang="en-US" sz="1400" b="1" dirty="0">
                <a:solidFill>
                  <a:srgbClr val="FF0000"/>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
            </a:r>
            <a:r>
              <a:rPr lang="en-US" altLang="ja-JP" sz="1400" b="1" dirty="0">
                <a:latin typeface="メイリオ"/>
                <a:ea typeface="メイリオ"/>
                <a:cs typeface="メイリオ"/>
                <a:sym typeface="Meiryo"/>
              </a:rPr>
              <a:t/>
            </a:r>
            <a:r>
              <a:rPr lang="ja-JP" altLang="en-US" sz="1400" b="1" dirty="0">
                <a:latin typeface="メイリオ"/>
                <a:ea typeface="メイリオ"/>
                <a:cs typeface="メイリオ"/>
                <a:sym typeface="Meiryo"/>
              </a:rPr>
              <a:t/>
            </a:r>
            <a:r>
              <a:rPr lang="en-US" altLang="ja-JP" sz="1400" b="1" dirty="0">
                <a:latin typeface="メイリオ"/>
                <a:ea typeface="メイリオ"/>
                <a:cs typeface="メイリオ"/>
                <a:sym typeface="Meiryo"/>
              </a:rPr>
              <a:t/>
            </a:r>
            <a:r>
              <a:rPr lang="ja-JP" altLang="en-US" sz="1400" b="1" dirty="0">
                <a:latin typeface="メイリオ"/>
                <a:ea typeface="メイリオ"/>
                <a:cs typeface="メイリオ"/>
                <a:sym typeface="Meiryo"/>
              </a:rPr>
              <a:t/>
            </a:r>
            <a:r>
              <a:rPr lang="ja-JP" altLang="en-US" sz="1400" dirty="0">
                <a:latin typeface="メイリオ"/>
                <a:ea typeface="メイリオ"/>
                <a:cs typeface="メイリオ"/>
                <a:sym typeface="Meiryo"/>
              </a:rPr>
              <a:t/>
            </a:r>
            <a:endParaRPr lang="en-US" altLang="ja-JP" sz="1400" dirty="0">
              <a:latin typeface="メイリオ"/>
              <a:ea typeface="メイリオ"/>
              <a:cs typeface="メイリオ"/>
              <a:sym typeface="Meiryo"/>
            </a:endParaRPr>
          </a:p>
          <a:p>
            <a:pPr algn="ctr"/>
            <a:r>
              <a:rPr lang="en-US" altLang="ja-JP" sz="1400" dirty="0">
                <a:solidFill>
                  <a:srgbClr val="FF0000"/>
                </a:solidFill>
                <a:latin typeface="メイリオ"/>
                <a:ea typeface="メイリオ"/>
                <a:cs typeface="メイリオ"/>
                <a:sym typeface="Meiryo"/>
              </a:rPr>
              <a:t>CV</a:t>
            </a:r>
            <a:r>
              <a:rPr lang="ja-JP" altLang="en-US" sz="1400" dirty="0">
                <a:solidFill>
                  <a:srgbClr val="FF0000"/>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a:ea typeface="メイリオ"/>
                <a:cs typeface="メイリオ"/>
              </a:rPr>
              <a:t>CVR</a:t>
            </a:r>
            <a:endParaRPr lang="ja-JP" altLang="en-US" b="1" dirty="0">
              <a:latin typeface="メイリオ"/>
              <a:ea typeface="メイリオ"/>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a:ea typeface="メイリオ"/>
                <a:cs typeface="メイリオ"/>
              </a:rPr>
              <a:t>CPC</a:t>
            </a:r>
            <a:endParaRPr lang="ja-JP" altLang="en-US" b="1" dirty="0">
              <a:latin typeface="メイリオ"/>
              <a:ea typeface="メイリオ"/>
              <a:cs typeface="メイリオ"/>
            </a:endParaRPr>
          </a:p>
        </p:txBody>
      </p:sp>
    </p:spTree>
    <p:extLst>
      <p:ext uri="{BB962C8B-B14F-4D97-AF65-F5344CB8AC3E}">
        <p14:creationId xmlns:p14="http://schemas.microsoft.com/office/powerpoint/2010/main" val="2447681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a:ea typeface="メイリオ"/>
                <a:cs typeface="メイリオ"/>
              </a:rPr>
              <a:t>流入元ごとに、LINEへの誘導と配信施策を組み合わせる。</a:t>
            </a:r>
            <a:r>
              <a:rPr lang="ja-JP" altLang="en-US" sz="1400" b="1" dirty="0">
                <a:solidFill>
                  <a:srgbClr val="FF0000"/>
                </a:solidFill>
                <a:latin typeface="メイリオ"/>
                <a:ea typeface="メイリオ"/>
                <a:cs typeface="メイリオ"/>
              </a:rPr>
              <a:t/>
            </a:r>
            <a:r>
              <a:rPr lang="en-US" altLang="ja-JP" sz="1400" b="1" dirty="0">
                <a:solidFill>
                  <a:srgbClr val="FF0000"/>
                </a:solidFill>
                <a:latin typeface="メイリオ"/>
                <a:ea typeface="メイリオ"/>
                <a:cs typeface="メイリオ"/>
              </a:rPr>
              <a:t/>
            </a:r>
            <a:r>
              <a:rPr lang="ja-JP" altLang="en-US" sz="1400" b="1" dirty="0">
                <a:solidFill>
                  <a:srgbClr val="FF0000"/>
                </a:solidFill>
                <a:latin typeface="メイリオ"/>
                <a:ea typeface="メイリオ"/>
                <a:cs typeface="メイリオ"/>
              </a:rPr>
              <a:t/>
            </a:r>
            <a:r>
              <a:rPr lang="en-US" altLang="ja-JP" sz="1400" b="1" dirty="0">
                <a:solidFill>
                  <a:srgbClr val="FF0000"/>
                </a:solidFill>
                <a:latin typeface="メイリオ"/>
                <a:ea typeface="メイリオ"/>
                <a:cs typeface="メイリオ"/>
              </a:rPr>
              <a:t/>
            </a:r>
            <a:r>
              <a:rPr lang="ja-JP" altLang="en-US" sz="1400" b="1" dirty="0">
                <a:solidFill>
                  <a:srgbClr val="FF0000"/>
                </a:solidFill>
                <a:latin typeface="メイリオ"/>
                <a:ea typeface="メイリオ"/>
                <a:cs typeface="メイリオ"/>
              </a:rPr>
              <a:t/>
            </a:r>
            <a:r>
              <a:rPr lang="ja-JP" altLang="en-US" sz="1000" dirty="0">
                <a:solidFill>
                  <a:srgbClr val="343434"/>
                </a:solidFill>
                <a:latin typeface="メイリオ"/>
                <a:ea typeface="メイリオ"/>
                <a:cs typeface="メイリオ"/>
              </a:rPr>
              <a:t/>
            </a:r>
            <a:r>
              <a:rPr lang="en-US" altLang="ja-JP" sz="1000" dirty="0">
                <a:solidFill>
                  <a:srgbClr val="FFC000"/>
                </a:solidFill>
                <a:latin typeface="メイリオ"/>
                <a:ea typeface="メイリオ"/>
                <a:cs typeface="メイリオ"/>
              </a:rPr>
              <a:t/>
            </a:r>
            <a:r>
              <a:rPr lang="ja-JP" altLang="en-US" sz="1000" dirty="0">
                <a:solidFill>
                  <a:srgbClr val="FFC000"/>
                </a:solidFill>
                <a:latin typeface="メイリオ"/>
                <a:ea typeface="メイリオ"/>
                <a:cs typeface="メイリオ"/>
              </a:rPr>
              <a:t/>
            </a:r>
            <a:r>
              <a:rPr lang="en-US" altLang="ja-JP" sz="1000" dirty="0">
                <a:solidFill>
                  <a:srgbClr val="FFC000"/>
                </a:solidFill>
                <a:latin typeface="メイリオ"/>
                <a:ea typeface="メイリオ"/>
                <a:cs typeface="メイリオ"/>
              </a:rPr>
              <a:t/>
            </a:r>
            <a:r>
              <a:rPr lang="ja-JP" altLang="en-US" sz="1000" dirty="0">
                <a:solidFill>
                  <a:srgbClr val="FFC000"/>
                </a:solidFill>
                <a:latin typeface="メイリオ"/>
                <a:ea typeface="メイリオ"/>
                <a:cs typeface="メイリオ"/>
              </a:rPr>
              <a:t/>
            </a:r>
            <a:r>
              <a:rPr lang="ja-JP" altLang="en-US" sz="1400" dirty="0">
                <a:solidFill>
                  <a:srgbClr val="343434"/>
                </a:solidFill>
                <a:latin typeface="メイリオ"/>
                <a:ea typeface="メイリオ"/>
                <a:cs typeface="メイリオ"/>
              </a:rPr>
              <a:t/>
            </a:r>
            <a:endParaRPr lang="en-US" altLang="ja-JP" sz="1400" dirty="0">
              <a:solidFill>
                <a:srgbClr val="343434"/>
              </a:solidFill>
              <a:latin typeface="メイリオ"/>
              <a:ea typeface="メイリオ"/>
              <a:cs typeface="メイリオ"/>
            </a:endParaRPr>
          </a:p>
          <a:p>
            <a:pPr algn="ctr">
              <a:lnSpc>
                <a:spcPts val="2455"/>
              </a:lnSpc>
            </a:pPr>
            <a:r>
              <a:rPr lang="ja-JP" altLang="en-US" sz="1400" dirty="0">
                <a:solidFill>
                  <a:srgbClr val="343434"/>
                </a:solidFill>
                <a:latin typeface="メイリオ"/>
                <a:ea typeface="メイリオ"/>
                <a:cs typeface="メイリオ"/>
              </a:rPr>
              <a:t>貴社集客課題に合わせて、</a:t>
            </a:r>
            <a:r>
              <a:rPr lang="en-US" altLang="ja-JP" sz="1400" dirty="0">
                <a:solidFill>
                  <a:srgbClr val="343434"/>
                </a:solidFill>
                <a:latin typeface="メイリオ"/>
                <a:ea typeface="メイリオ"/>
                <a:cs typeface="メイリオ"/>
              </a:rPr>
              <a:t>LINE</a:t>
            </a:r>
            <a:r>
              <a:rPr lang="ja-JP" altLang="en-US" sz="1400" dirty="0">
                <a:solidFill>
                  <a:srgbClr val="343434"/>
                </a:solidFill>
                <a:latin typeface="メイリオ"/>
                <a:ea typeface="メイリオ"/>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a:ea typeface="メイリオ"/>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LINE</a:t>
            </a:r>
            <a:r>
              <a:rPr kumimoji="1" lang="ja-JP" altLang="en-US" sz="1200" b="1" dirty="0">
                <a:latin typeface="メイリオ"/>
                <a:ea typeface="メイリオ"/>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a:ea typeface="メイリオ"/>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a:ea typeface="メイリオ"/>
                <a:cs typeface="メイリオ"/>
              </a:rPr>
              <a:t>離脱防止</a:t>
            </a:r>
            <a:endParaRPr lang="en-US" altLang="ja-JP" sz="900" dirty="0">
              <a:solidFill>
                <a:schemeClr val="tx1">
                  <a:lumMod val="75000"/>
                  <a:lumOff val="25000"/>
                </a:schemeClr>
              </a:solidFill>
              <a:latin typeface="メイリオ"/>
              <a:ea typeface="メイリオ"/>
              <a:cs typeface="メイリオ"/>
            </a:endParaRPr>
          </a:p>
          <a:p>
            <a:pPr algn="ctr"/>
            <a:r>
              <a:rPr lang="ja-JP" altLang="en-US" sz="900" dirty="0">
                <a:solidFill>
                  <a:schemeClr val="tx1">
                    <a:lumMod val="75000"/>
                    <a:lumOff val="25000"/>
                  </a:schemeClr>
                </a:solidFill>
                <a:latin typeface="メイリオ"/>
                <a:ea typeface="メイリオ"/>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a:ea typeface="メイリオ"/>
                <a:cs typeface="メイリオ"/>
              </a:rPr>
              <a:t>離脱防止</a:t>
            </a:r>
            <a:endParaRPr lang="en-US" altLang="ja-JP" sz="900" dirty="0">
              <a:solidFill>
                <a:schemeClr val="tx1">
                  <a:lumMod val="75000"/>
                  <a:lumOff val="25000"/>
                </a:schemeClr>
              </a:solidFill>
              <a:latin typeface="メイリオ"/>
              <a:ea typeface="メイリオ"/>
              <a:cs typeface="メイリオ"/>
            </a:endParaRPr>
          </a:p>
          <a:p>
            <a:pPr algn="ctr"/>
            <a:r>
              <a:rPr lang="ja-JP" altLang="en-US" sz="900" dirty="0">
                <a:solidFill>
                  <a:schemeClr val="tx1">
                    <a:lumMod val="75000"/>
                    <a:lumOff val="25000"/>
                  </a:schemeClr>
                </a:solidFill>
                <a:latin typeface="メイリオ"/>
                <a:ea typeface="メイリオ"/>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a:ea typeface="メイリオ"/>
                <a:cs typeface="メイリオ"/>
              </a:rPr>
              <a:t>SEO</a:t>
            </a:r>
            <a:r>
              <a:rPr lang="ja-JP" altLang="en-US" sz="1000">
                <a:solidFill>
                  <a:schemeClr val="tx1">
                    <a:lumMod val="75000"/>
                    <a:lumOff val="25000"/>
                  </a:schemeClr>
                </a:solidFill>
                <a:latin typeface="メイリオ"/>
                <a:ea typeface="メイリオ"/>
                <a:cs typeface="メイリオ"/>
              </a:rPr>
              <a:t>・</a:t>
            </a:r>
            <a:r>
              <a:rPr lang="en-US" altLang="ja-JP" sz="1000" dirty="0">
                <a:solidFill>
                  <a:schemeClr val="tx1">
                    <a:lumMod val="75000"/>
                    <a:lumOff val="25000"/>
                  </a:schemeClr>
                </a:solidFill>
                <a:latin typeface="メイリオ"/>
                <a:ea typeface="メイリオ"/>
                <a:cs typeface="メイリオ"/>
              </a:rPr>
              <a:t>AIO</a:t>
            </a:r>
            <a:endParaRPr lang="ja-JP" altLang="en-US" sz="1000" dirty="0">
              <a:solidFill>
                <a:schemeClr val="tx1">
                  <a:lumMod val="75000"/>
                  <a:lumOff val="25000"/>
                </a:schemeClr>
              </a:solidFill>
              <a:latin typeface="メイリオ"/>
              <a:ea typeface="メイリオ"/>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a:ea typeface="メイリオ"/>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a:ea typeface="メイリオ"/>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a:ea typeface="メイリオ"/>
                <a:cs typeface="メイリオ"/>
              </a:rPr>
              <a:t>LINE</a:t>
            </a:r>
            <a:r>
              <a:rPr kumimoji="1" lang="ja-JP" altLang="en-US" sz="1000" dirty="0">
                <a:solidFill>
                  <a:schemeClr val="tx1">
                    <a:lumMod val="65000"/>
                    <a:lumOff val="35000"/>
                  </a:schemeClr>
                </a:solidFill>
                <a:latin typeface="メイリオ"/>
                <a:ea typeface="メイリオ"/>
                <a:cs typeface="メイリオ"/>
              </a:rPr>
              <a:t>広告（</a:t>
            </a:r>
            <a:r>
              <a:rPr kumimoji="1" lang="en-US" altLang="ja-JP" sz="1000" dirty="0">
                <a:solidFill>
                  <a:schemeClr val="tx1">
                    <a:lumMod val="65000"/>
                    <a:lumOff val="35000"/>
                  </a:schemeClr>
                </a:solidFill>
                <a:latin typeface="メイリオ"/>
                <a:ea typeface="メイリオ"/>
                <a:cs typeface="メイリオ"/>
              </a:rPr>
              <a:t>CPF</a:t>
            </a:r>
            <a:r>
              <a:rPr kumimoji="1" lang="ja-JP" altLang="en-US" sz="1000" dirty="0">
                <a:solidFill>
                  <a:schemeClr val="tx1">
                    <a:lumMod val="65000"/>
                    <a:lumOff val="35000"/>
                  </a:schemeClr>
                </a:solidFill>
                <a:latin typeface="メイリオ"/>
                <a:ea typeface="メイリオ"/>
                <a:cs typeface="メイリオ"/>
              </a:rPr>
              <a:t>配信）</a:t>
            </a:r>
            <a:endParaRPr kumimoji="1" lang="en-US" altLang="ja-JP" sz="1000" dirty="0">
              <a:solidFill>
                <a:schemeClr val="tx1">
                  <a:lumMod val="65000"/>
                  <a:lumOff val="35000"/>
                </a:schemeClr>
              </a:solidFill>
              <a:latin typeface="メイリオ"/>
              <a:ea typeface="メイリオ"/>
              <a:cs typeface="メイリオ"/>
            </a:endParaRPr>
          </a:p>
          <a:p>
            <a:pPr algn="ctr"/>
            <a:r>
              <a:rPr lang="ja-JP" altLang="en-US" sz="1000" dirty="0">
                <a:solidFill>
                  <a:schemeClr val="tx1">
                    <a:lumMod val="65000"/>
                    <a:lumOff val="35000"/>
                  </a:schemeClr>
                </a:solidFill>
                <a:latin typeface="メイリオ"/>
                <a:ea typeface="メイリオ"/>
                <a:cs typeface="メイリオ"/>
              </a:rPr>
              <a:t>サイト上ポップアップ</a:t>
            </a:r>
            <a:endParaRPr kumimoji="1" lang="ja-JP" altLang="en-US" sz="1000" dirty="0">
              <a:solidFill>
                <a:schemeClr val="tx1">
                  <a:lumMod val="65000"/>
                  <a:lumOff val="35000"/>
                </a:schemeClr>
              </a:solidFill>
              <a:latin typeface="メイリオ"/>
              <a:ea typeface="メイリオ"/>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a:ea typeface="メイリオ"/>
                <a:cs typeface="メイリオ"/>
              </a:rPr>
              <a:t>CV</a:t>
            </a:r>
            <a:r>
              <a:rPr kumimoji="1" lang="ja-JP" altLang="en-US" sz="1000" dirty="0">
                <a:solidFill>
                  <a:schemeClr val="tx1">
                    <a:lumMod val="65000"/>
                    <a:lumOff val="35000"/>
                  </a:schemeClr>
                </a:solidFill>
                <a:latin typeface="メイリオ"/>
                <a:ea typeface="メイリオ"/>
                <a:cs typeface="メイリオ"/>
              </a:rPr>
              <a:t>・</a:t>
            </a:r>
            <a:r>
              <a:rPr kumimoji="1" lang="en-US" altLang="ja-JP" sz="1000" dirty="0">
                <a:solidFill>
                  <a:schemeClr val="tx1">
                    <a:lumMod val="65000"/>
                    <a:lumOff val="35000"/>
                  </a:schemeClr>
                </a:solidFill>
                <a:latin typeface="メイリオ"/>
                <a:ea typeface="メイリオ"/>
                <a:cs typeface="メイリオ"/>
              </a:rPr>
              <a:t>mcv</a:t>
            </a:r>
            <a:r>
              <a:rPr kumimoji="1" lang="ja-JP" altLang="en-US" sz="1000" dirty="0">
                <a:solidFill>
                  <a:schemeClr val="tx1">
                    <a:lumMod val="65000"/>
                    <a:lumOff val="35000"/>
                  </a:schemeClr>
                </a:solidFill>
                <a:latin typeface="メイリオ"/>
                <a:ea typeface="メイリオ"/>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サンクス</a:t>
            </a:r>
            <a:r>
              <a:rPr kumimoji="1" lang="en-US" altLang="ja-JP" sz="900" dirty="0">
                <a:solidFill>
                  <a:schemeClr val="tx1">
                    <a:lumMod val="65000"/>
                    <a:lumOff val="35000"/>
                  </a:schemeClr>
                </a:solidFill>
                <a:latin typeface="メイリオ"/>
                <a:ea typeface="メイリオ"/>
                <a:cs typeface="メイリオ"/>
              </a:rPr>
              <a:t>LINE</a:t>
            </a:r>
            <a:r>
              <a:rPr kumimoji="1" lang="ja-JP" altLang="en-US" sz="900" dirty="0">
                <a:solidFill>
                  <a:schemeClr val="tx1">
                    <a:lumMod val="65000"/>
                    <a:lumOff val="35000"/>
                  </a:schemeClr>
                </a:solidFill>
                <a:latin typeface="メイリオ"/>
                <a:ea typeface="メイリオ"/>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a:ea typeface="メイリオ"/>
                <a:cs typeface="メイリオ"/>
              </a:rPr>
              <a:t>CV</a:t>
            </a:r>
            <a:r>
              <a:rPr kumimoji="1" lang="ja-JP" altLang="en-US" sz="1000" dirty="0">
                <a:solidFill>
                  <a:schemeClr val="tx1">
                    <a:lumMod val="65000"/>
                    <a:lumOff val="35000"/>
                  </a:schemeClr>
                </a:solidFill>
                <a:latin typeface="メイリオ"/>
                <a:ea typeface="メイリオ"/>
                <a:cs typeface="メイリオ"/>
              </a:rPr>
              <a:t>・</a:t>
            </a:r>
            <a:r>
              <a:rPr kumimoji="1" lang="en-US" altLang="ja-JP" sz="1000" dirty="0">
                <a:solidFill>
                  <a:schemeClr val="tx1">
                    <a:lumMod val="65000"/>
                    <a:lumOff val="35000"/>
                  </a:schemeClr>
                </a:solidFill>
                <a:latin typeface="メイリオ"/>
                <a:ea typeface="メイリオ"/>
                <a:cs typeface="メイリオ"/>
              </a:rPr>
              <a:t>mcv</a:t>
            </a:r>
            <a:r>
              <a:rPr kumimoji="1" lang="ja-JP" altLang="en-US" sz="1000" dirty="0">
                <a:solidFill>
                  <a:schemeClr val="tx1">
                    <a:lumMod val="65000"/>
                    <a:lumOff val="35000"/>
                  </a:schemeClr>
                </a:solidFill>
                <a:latin typeface="メイリオ"/>
                <a:ea typeface="メイリオ"/>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a:ea typeface="メイリオ"/>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a:ea typeface="メイリオ"/>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a:ea typeface="メイリオ"/>
                <a:cs typeface="メイリオ"/>
              </a:rPr>
              <a:t>メルマガ・テレマ</a:t>
            </a:r>
            <a:endParaRPr kumimoji="1" lang="en-US" altLang="ja-JP" sz="900" dirty="0">
              <a:solidFill>
                <a:schemeClr val="tx1">
                  <a:lumMod val="65000"/>
                  <a:lumOff val="35000"/>
                </a:schemeClr>
              </a:solidFill>
              <a:latin typeface="メイリオ"/>
              <a:ea typeface="メイリオ"/>
              <a:cs typeface="メイリオ"/>
            </a:endParaRPr>
          </a:p>
          <a:p>
            <a:pPr algn="ctr"/>
            <a:r>
              <a:rPr lang="en-US" altLang="ja-JP" sz="900" dirty="0">
                <a:solidFill>
                  <a:schemeClr val="tx1">
                    <a:lumMod val="65000"/>
                    <a:lumOff val="35000"/>
                  </a:schemeClr>
                </a:solidFill>
                <a:latin typeface="メイリオ"/>
                <a:ea typeface="メイリオ"/>
                <a:cs typeface="メイリオ"/>
              </a:rPr>
              <a:t>SNS</a:t>
            </a:r>
            <a:r>
              <a:rPr lang="ja-JP" altLang="en-US" sz="900" dirty="0">
                <a:solidFill>
                  <a:schemeClr val="tx1">
                    <a:lumMod val="65000"/>
                    <a:lumOff val="35000"/>
                  </a:schemeClr>
                </a:solidFill>
                <a:latin typeface="メイリオ"/>
                <a:ea typeface="メイリオ"/>
                <a:cs typeface="メイリオ"/>
              </a:rPr>
              <a:t>告知</a:t>
            </a:r>
            <a:endParaRPr kumimoji="1" lang="ja-JP" altLang="en-US" sz="900" dirty="0">
              <a:solidFill>
                <a:schemeClr val="tx1">
                  <a:lumMod val="65000"/>
                  <a:lumOff val="35000"/>
                </a:schemeClr>
              </a:solidFill>
              <a:latin typeface="メイリオ"/>
              <a:ea typeface="メイリオ"/>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a:ea typeface="メイリオ"/>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a:ea typeface="メイリオ"/>
                <a:cs typeface="メイリオ"/>
              </a:rPr>
              <a:t>あいさつMSG</a:t>
            </a:r>
            <a:r>
              <a:rPr lang="en-US" altLang="ja-JP" sz="800" dirty="0">
                <a:solidFill>
                  <a:schemeClr val="bg1">
                    <a:lumMod val="65000"/>
                  </a:schemeClr>
                </a:solidFill>
                <a:latin typeface="メイリオ"/>
                <a:ea typeface="メイリオ"/>
                <a:cs typeface="メイリオ"/>
              </a:rPr>
              <a:t>＋</a:t>
            </a:r>
            <a:endParaRPr lang="en-US" altLang="ja-JP" sz="800" dirty="0">
              <a:solidFill>
                <a:schemeClr val="bg1">
                  <a:lumMod val="65000"/>
                </a:schemeClr>
              </a:solidFill>
              <a:latin typeface="メイリオ"/>
              <a:ea typeface="メイリオ"/>
              <a:cs typeface="メイリオ"/>
            </a:endParaRPr>
          </a:p>
          <a:p>
            <a:pPr>
              <a:lnSpc>
                <a:spcPct val="135000"/>
              </a:lnSpc>
            </a:pPr>
            <a:r>
              <a:rPr lang="en-US" altLang="ja-JP" sz="800" dirty="0" err="1">
                <a:solidFill>
                  <a:schemeClr val="bg1">
                    <a:lumMod val="65000"/>
                  </a:schemeClr>
                </a:solidFill>
                <a:latin typeface="メイリオ"/>
                <a:ea typeface="メイリオ"/>
                <a:cs typeface="メイリオ"/>
              </a:rPr>
              <a:t>登録特典</a:t>
            </a:r>
            <a:r>
              <a:rPr lang="en-US" altLang="ja-JP" sz="800" dirty="0">
                <a:solidFill>
                  <a:schemeClr val="bg1">
                    <a:lumMod val="65000"/>
                  </a:schemeClr>
                </a:solidFill>
                <a:latin typeface="メイリオ"/>
                <a:ea typeface="メイリオ"/>
                <a:cs typeface="メイリオ"/>
              </a:rPr>
              <a:t>(</a:t>
            </a:r>
            <a:r>
              <a:rPr lang="en-US" altLang="ja-JP" sz="800" dirty="0" err="1">
                <a:solidFill>
                  <a:schemeClr val="bg1">
                    <a:lumMod val="65000"/>
                  </a:schemeClr>
                </a:solidFill>
                <a:latin typeface="メイリオ"/>
                <a:ea typeface="メイリオ"/>
                <a:cs typeface="メイリオ"/>
              </a:rPr>
              <a:t>資料</a:t>
            </a:r>
            <a:r>
              <a:rPr lang="en-US" altLang="ja-JP" sz="800" dirty="0">
                <a:solidFill>
                  <a:schemeClr val="bg1">
                    <a:lumMod val="65000"/>
                  </a:schemeClr>
                </a:solidFill>
                <a:latin typeface="メイリオ"/>
                <a:ea typeface="メイリオ"/>
                <a:cs typeface="メイリオ"/>
              </a:rPr>
              <a:t>/</a:t>
            </a:r>
            <a:r>
              <a:rPr lang="en-US" altLang="ja-JP" sz="800" dirty="0" err="1">
                <a:solidFill>
                  <a:schemeClr val="bg1">
                    <a:lumMod val="65000"/>
                  </a:schemeClr>
                </a:solidFill>
                <a:latin typeface="メイリオ"/>
                <a:ea typeface="メイリオ"/>
                <a:cs typeface="メイリオ"/>
              </a:rPr>
              <a:t>診断</a:t>
            </a:r>
            <a:r>
              <a:rPr lang="en-US" altLang="ja-JP" sz="800" dirty="0">
                <a:solidFill>
                  <a:schemeClr val="bg1">
                    <a:lumMod val="65000"/>
                  </a:schemeClr>
                </a:solidFill>
                <a:latin typeface="メイリオ"/>
                <a:ea typeface="メイリオ"/>
                <a:cs typeface="メイリオ"/>
              </a:rPr>
              <a:t>)</a:t>
            </a:r>
            <a:r>
              <a:rPr lang="en-US" altLang="ja-JP" sz="800" dirty="0" err="1">
                <a:solidFill>
                  <a:schemeClr val="bg1">
                    <a:lumMod val="65000"/>
                  </a:schemeClr>
                </a:solidFill>
                <a:latin typeface="メイリオ"/>
                <a:ea typeface="メイリオ"/>
                <a:cs typeface="メイリオ"/>
              </a:rPr>
              <a:t>自動送付</a:t>
            </a:r>
            <a:endParaRPr lang="en-US" altLang="ja-JP" sz="800" dirty="0">
              <a:solidFill>
                <a:schemeClr val="bg1">
                  <a:lumMod val="65000"/>
                </a:schemeClr>
              </a:solidFill>
              <a:latin typeface="メイリオ"/>
              <a:ea typeface="メイリオ"/>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a:ea typeface="メイリオ"/>
                <a:cs typeface="メイリオ"/>
              </a:rPr>
              <a:t>教育コンテンツ配信</a:t>
            </a:r>
            <a:endParaRPr lang="en-US" altLang="ja-JP" sz="800">
              <a:solidFill>
                <a:schemeClr val="bg1">
                  <a:lumMod val="65000"/>
                </a:schemeClr>
              </a:solidFill>
              <a:latin typeface="メイリオ"/>
              <a:ea typeface="メイリオ"/>
              <a:cs typeface="メイリオ"/>
            </a:endParaRPr>
          </a:p>
          <a:p>
            <a:pPr>
              <a:lnSpc>
                <a:spcPct val="135000"/>
              </a:lnSpc>
            </a:pPr>
            <a:r>
              <a:rPr lang="en-US" altLang="ja-JP" sz="800">
                <a:solidFill>
                  <a:schemeClr val="bg1">
                    <a:lumMod val="65000"/>
                  </a:schemeClr>
                </a:solidFill>
                <a:latin typeface="メイリオ"/>
                <a:ea typeface="メイリオ"/>
                <a:cs typeface="メイリオ"/>
              </a:rPr>
              <a:t>（週1）→ CV誘導オファー</a:t>
            </a:r>
            <a:endParaRPr lang="en-US" altLang="ja-JP" sz="800" dirty="0">
              <a:solidFill>
                <a:schemeClr val="bg1">
                  <a:lumMod val="65000"/>
                </a:schemeClr>
              </a:solidFill>
              <a:latin typeface="メイリオ"/>
              <a:ea typeface="メイリオ"/>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a:ea typeface="メイリオ"/>
                <a:cs typeface="メイリオ"/>
              </a:rPr>
              <a:t>KW</a:t>
            </a:r>
            <a:r>
              <a:rPr lang="ja-JP" altLang="en-US" sz="800" dirty="0">
                <a:solidFill>
                  <a:schemeClr val="bg1">
                    <a:lumMod val="65000"/>
                  </a:schemeClr>
                </a:solidFill>
                <a:latin typeface="メイリオ"/>
                <a:ea typeface="メイリオ"/>
                <a:cs typeface="メイリオ"/>
              </a:rPr>
              <a:t>自動応答設定</a:t>
            </a:r>
          </a:p>
          <a:p>
            <a:pPr>
              <a:lnSpc>
                <a:spcPct val="135000"/>
              </a:lnSpc>
            </a:pPr>
            <a:r>
              <a:rPr lang="ja-JP" altLang="en-US" sz="800" dirty="0">
                <a:solidFill>
                  <a:schemeClr val="bg1">
                    <a:lumMod val="65000"/>
                  </a:schemeClr>
                </a:solidFill>
                <a:latin typeface="メイリオ"/>
                <a:ea typeface="メイリオ"/>
                <a:cs typeface="メイリオ"/>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ステップ配信（</a:t>
            </a:r>
            <a:r>
              <a:rPr lang="en-US" altLang="ja-JP" sz="800" dirty="0">
                <a:solidFill>
                  <a:schemeClr val="bg1">
                    <a:lumMod val="65000"/>
                  </a:schemeClr>
                </a:solidFill>
                <a:latin typeface="メイリオ"/>
                <a:ea typeface="メイリオ"/>
                <a:cs typeface="メイリオ"/>
              </a:rPr>
              <a:t>7〜14</a:t>
            </a:r>
            <a:r>
              <a:rPr lang="ja-JP" altLang="en-US" sz="800" dirty="0">
                <a:solidFill>
                  <a:schemeClr val="bg1">
                    <a:lumMod val="65000"/>
                  </a:schemeClr>
                </a:solidFill>
                <a:latin typeface="メイリオ"/>
                <a:ea typeface="メイリオ"/>
                <a:cs typeface="メイリオ"/>
              </a:rPr>
              <a:t>通）</a:t>
            </a:r>
          </a:p>
          <a:p>
            <a:pPr>
              <a:lnSpc>
                <a:spcPct val="135000"/>
              </a:lnSpc>
            </a:pPr>
            <a:r>
              <a:rPr lang="ja-JP" altLang="en-US" sz="800" dirty="0">
                <a:solidFill>
                  <a:schemeClr val="bg1">
                    <a:lumMod val="65000"/>
                  </a:schemeClr>
                </a:solidFill>
                <a:latin typeface="メイリオ"/>
                <a:ea typeface="メイリオ"/>
                <a:cs typeface="メイリオ"/>
              </a:rPr>
              <a:t>→ 会員登録・企画参加への誘導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スクリーニングアンケート</a:t>
            </a:r>
          </a:p>
          <a:p>
            <a:pPr>
              <a:lnSpc>
                <a:spcPct val="135000"/>
              </a:lnSpc>
            </a:pPr>
            <a:r>
              <a:rPr lang="ja-JP" altLang="en-US" sz="800" dirty="0">
                <a:solidFill>
                  <a:schemeClr val="bg1">
                    <a:lumMod val="65000"/>
                  </a:schemeClr>
                </a:solidFill>
                <a:latin typeface="メイリオ"/>
                <a:ea typeface="メイリオ"/>
                <a:cs typeface="メイリオ"/>
              </a:rPr>
              <a:t>（</a:t>
            </a:r>
            <a:r>
              <a:rPr lang="en-US" altLang="ja-JP" sz="800" dirty="0">
                <a:solidFill>
                  <a:schemeClr val="bg1">
                    <a:lumMod val="65000"/>
                  </a:schemeClr>
                </a:solidFill>
                <a:latin typeface="メイリオ"/>
                <a:ea typeface="メイリオ"/>
                <a:cs typeface="メイリオ"/>
              </a:rPr>
              <a:t>3</a:t>
            </a:r>
            <a:r>
              <a:rPr lang="ja-JP" altLang="en-US" sz="800" dirty="0">
                <a:solidFill>
                  <a:schemeClr val="bg1">
                    <a:lumMod val="65000"/>
                  </a:schemeClr>
                </a:solidFill>
                <a:latin typeface="メイリオ"/>
                <a:ea typeface="メイリオ"/>
                <a:cs typeface="メイリオ"/>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セグメント別シナリオ配信</a:t>
            </a:r>
          </a:p>
          <a:p>
            <a:pPr>
              <a:lnSpc>
                <a:spcPct val="135000"/>
              </a:lnSpc>
            </a:pPr>
            <a:r>
              <a:rPr lang="ja-JP" altLang="en-US" sz="800" dirty="0">
                <a:solidFill>
                  <a:schemeClr val="bg1">
                    <a:lumMod val="65000"/>
                  </a:schemeClr>
                </a:solidFill>
                <a:latin typeface="メイリオ"/>
                <a:ea typeface="メイリオ"/>
                <a:cs typeface="メイリオ"/>
              </a:rPr>
              <a:t>反応の高い方へ企画・キャンペーン案内</a:t>
            </a:r>
            <a:r>
              <a:rPr lang="en-US" altLang="ja-JP" sz="800" dirty="0">
                <a:solidFill>
                  <a:schemeClr val="bg1">
                    <a:lumMod val="65000"/>
                  </a:schemeClr>
                </a:solidFill>
                <a:latin typeface="メイリオ"/>
                <a:ea typeface="メイリオ"/>
                <a:cs typeface="メイリオ"/>
              </a:rPr>
              <a:t/>
            </a:r>
            <a:r>
              <a:rPr lang="ja-JP" altLang="en-US" sz="800" dirty="0">
                <a:solidFill>
                  <a:schemeClr val="bg1">
                    <a:lumMod val="65000"/>
                  </a:schemeClr>
                </a:solidFill>
                <a:latin typeface="メイリオ"/>
                <a:ea typeface="メイリオ"/>
                <a:cs typeface="メイリオ"/>
              </a:rPr>
              <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サンクス自動</a:t>
            </a:r>
            <a:r>
              <a:rPr lang="en-US" altLang="ja-JP" sz="800" dirty="0">
                <a:solidFill>
                  <a:schemeClr val="bg1">
                    <a:lumMod val="65000"/>
                  </a:schemeClr>
                </a:solidFill>
                <a:latin typeface="メイリオ"/>
                <a:ea typeface="メイリオ"/>
                <a:cs typeface="メイリオ"/>
              </a:rPr>
              <a:t>MSG</a:t>
            </a:r>
            <a:r>
              <a:rPr lang="ja-JP" altLang="en-US" sz="800" dirty="0">
                <a:solidFill>
                  <a:schemeClr val="bg1">
                    <a:lumMod val="65000"/>
                  </a:schemeClr>
                </a:solidFill>
                <a:latin typeface="メイリオ"/>
                <a:ea typeface="メイリオ"/>
                <a:cs typeface="メイリオ"/>
              </a:rPr>
              <a:t>＋</a:t>
            </a:r>
          </a:p>
          <a:p>
            <a:pPr>
              <a:lnSpc>
                <a:spcPct val="135000"/>
              </a:lnSpc>
            </a:pPr>
            <a:r>
              <a:rPr lang="ja-JP" altLang="en-US" sz="800" dirty="0">
                <a:solidFill>
                  <a:schemeClr val="bg1">
                    <a:lumMod val="65000"/>
                  </a:schemeClr>
                </a:solidFill>
                <a:latin typeface="メイリオ"/>
                <a:ea typeface="メイリオ"/>
                <a:cs typeface="メイリオ"/>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リマインド配信</a:t>
            </a:r>
          </a:p>
          <a:p>
            <a:pPr>
              <a:lnSpc>
                <a:spcPct val="135000"/>
              </a:lnSpc>
            </a:pPr>
            <a:r>
              <a:rPr lang="ja-JP" altLang="en-US" sz="800" dirty="0">
                <a:solidFill>
                  <a:schemeClr val="bg1">
                    <a:lumMod val="65000"/>
                  </a:schemeClr>
                </a:solidFill>
                <a:latin typeface="メイリオ"/>
                <a:ea typeface="メイリオ"/>
                <a:cs typeface="メイリオ"/>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スクリーニング（</a:t>
            </a:r>
            <a:r>
              <a:rPr lang="en-US" altLang="ja-JP" sz="800" dirty="0">
                <a:solidFill>
                  <a:schemeClr val="bg1">
                    <a:lumMod val="65000"/>
                  </a:schemeClr>
                </a:solidFill>
                <a:latin typeface="メイリオ"/>
                <a:ea typeface="メイリオ"/>
                <a:cs typeface="メイリオ"/>
              </a:rPr>
              <a:t>3</a:t>
            </a:r>
            <a:r>
              <a:rPr lang="ja-JP" altLang="en-US" sz="800" dirty="0">
                <a:solidFill>
                  <a:schemeClr val="bg1">
                    <a:lumMod val="65000"/>
                  </a:schemeClr>
                </a:solidFill>
                <a:latin typeface="メイリオ"/>
                <a:ea typeface="メイリオ"/>
                <a:cs typeface="メイリオ"/>
              </a:rPr>
              <a:t>問）</a:t>
            </a:r>
          </a:p>
          <a:p>
            <a:pPr>
              <a:lnSpc>
                <a:spcPct val="135000"/>
              </a:lnSpc>
            </a:pPr>
            <a:r>
              <a:rPr lang="ja-JP" altLang="en-US" sz="800" dirty="0">
                <a:solidFill>
                  <a:schemeClr val="bg1">
                    <a:lumMod val="65000"/>
                  </a:schemeClr>
                </a:solidFill>
                <a:latin typeface="メイリオ"/>
                <a:ea typeface="メイリオ"/>
                <a:cs typeface="メイリオ"/>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有効リード育成シナリオ</a:t>
            </a:r>
          </a:p>
          <a:p>
            <a:pPr>
              <a:lnSpc>
                <a:spcPct val="135000"/>
              </a:lnSpc>
            </a:pPr>
            <a:r>
              <a:rPr lang="ja-JP" altLang="en-US" sz="800" dirty="0">
                <a:solidFill>
                  <a:schemeClr val="bg1">
                    <a:lumMod val="65000"/>
                  </a:schemeClr>
                </a:solidFill>
                <a:latin typeface="メイリオ"/>
                <a:ea typeface="メイリオ"/>
                <a:cs typeface="メイリオ"/>
              </a:rPr>
              <a:t>→ 企画参加・商品購入へ</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一斉配信でリスト活性化</a:t>
            </a:r>
          </a:p>
          <a:p>
            <a:pPr>
              <a:lnSpc>
                <a:spcPct val="135000"/>
              </a:lnSpc>
            </a:pPr>
            <a:r>
              <a:rPr lang="ja-JP" altLang="en-US" sz="800" dirty="0">
                <a:solidFill>
                  <a:schemeClr val="bg1">
                    <a:lumMod val="65000"/>
                  </a:schemeClr>
                </a:solidFill>
                <a:latin typeface="メイリオ"/>
                <a:ea typeface="メイリオ"/>
                <a:cs typeface="メイリオ"/>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a:ea typeface="メイリオ"/>
                <a:cs typeface="メイリオ"/>
              </a:rPr>
              <a:t>セグメント別ナーチャリング</a:t>
            </a:r>
          </a:p>
          <a:p>
            <a:pPr>
              <a:lnSpc>
                <a:spcPct val="135000"/>
              </a:lnSpc>
            </a:pPr>
            <a:r>
              <a:rPr lang="ja-JP" altLang="en-US" sz="800" dirty="0">
                <a:solidFill>
                  <a:schemeClr val="bg1">
                    <a:lumMod val="65000"/>
                  </a:schemeClr>
                </a:solidFill>
                <a:latin typeface="メイリオ"/>
                <a:ea typeface="メイリオ"/>
                <a:cs typeface="メイリオ"/>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a:ea typeface="メイリオ"/>
                <a:cs typeface="メイリオ"/>
              </a:rPr>
              <a:t>LINE</a:t>
            </a:r>
            <a:r>
              <a:rPr lang="ja-JP" altLang="en-US" sz="800" dirty="0">
                <a:solidFill>
                  <a:schemeClr val="bg1">
                    <a:lumMod val="65000"/>
                  </a:schemeClr>
                </a:solidFill>
                <a:latin typeface="メイリオ"/>
                <a:ea typeface="メイリオ"/>
                <a:cs typeface="メイリオ"/>
              </a:rPr>
              <a:t>移行キャンペーン</a:t>
            </a:r>
          </a:p>
          <a:p>
            <a:pPr>
              <a:lnSpc>
                <a:spcPct val="135000"/>
              </a:lnSpc>
            </a:pPr>
            <a:r>
              <a:rPr lang="ja-JP" altLang="en-US" sz="800" dirty="0">
                <a:solidFill>
                  <a:schemeClr val="bg1">
                    <a:lumMod val="65000"/>
                  </a:schemeClr>
                </a:solidFill>
                <a:latin typeface="メイリオ"/>
                <a:ea typeface="メイリオ"/>
                <a:cs typeface="メイリオ"/>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a:ea typeface="メイリオ"/>
                <a:cs typeface="メイリオ"/>
              </a:rPr>
              <a:t>LINE</a:t>
            </a:r>
            <a:r>
              <a:rPr lang="ja-JP" altLang="en-US" sz="800" dirty="0">
                <a:solidFill>
                  <a:schemeClr val="bg1">
                    <a:lumMod val="65000"/>
                  </a:schemeClr>
                </a:solidFill>
                <a:latin typeface="メイリオ"/>
                <a:ea typeface="メイリオ"/>
                <a:cs typeface="メイリオ"/>
              </a:rPr>
              <a:t>でリピート率向上</a:t>
            </a:r>
          </a:p>
          <a:p>
            <a:pPr>
              <a:lnSpc>
                <a:spcPct val="135000"/>
              </a:lnSpc>
            </a:pPr>
            <a:r>
              <a:rPr lang="ja-JP" altLang="en-US" sz="800" dirty="0">
                <a:solidFill>
                  <a:schemeClr val="bg1">
                    <a:lumMod val="65000"/>
                  </a:schemeClr>
                </a:solidFill>
                <a:latin typeface="メイリオ"/>
                <a:ea typeface="メイリオ"/>
                <a:cs typeface="メイリオ"/>
              </a:rPr>
              <a:t>紹介キャンペーン・</a:t>
            </a:r>
            <a:r>
              <a:rPr lang="en-US" altLang="ja-JP" sz="800" dirty="0">
                <a:solidFill>
                  <a:schemeClr val="bg1">
                    <a:lumMod val="65000"/>
                  </a:schemeClr>
                </a:solidFill>
                <a:latin typeface="メイリオ"/>
                <a:ea typeface="メイリオ"/>
                <a:cs typeface="メイリオ"/>
              </a:rPr>
              <a:t>LTV</a:t>
            </a:r>
            <a:r>
              <a:rPr lang="ja-JP" altLang="en-US" sz="800" dirty="0">
                <a:solidFill>
                  <a:schemeClr val="bg1">
                    <a:lumMod val="65000"/>
                  </a:schemeClr>
                </a:solidFill>
                <a:latin typeface="メイリオ"/>
                <a:ea typeface="メイリオ"/>
                <a:cs typeface="メイリオ"/>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6397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施策における重要ポイントについて</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公式アカウントの施策内（開封率、クリック率、</a:t>
            </a:r>
            <a:r>
              <a:rPr lang="en-US" altLang="ja-JP" sz="1400" dirty="0">
                <a:latin typeface="メイリオ"/>
                <a:ea typeface="メイリオ"/>
                <a:cs typeface="メイリオ"/>
                <a:sym typeface="Meiryo"/>
              </a:rPr>
              <a:t>CV</a:t>
            </a:r>
            <a:r>
              <a:rPr lang="ja-JP" altLang="en-US" sz="1400" dirty="0">
                <a:latin typeface="メイリオ"/>
                <a:ea typeface="メイリオ"/>
                <a:cs typeface="メイリオ"/>
                <a:sym typeface="Meiryo"/>
              </a:rPr>
              <a:t>率）で高い水準の施策をご提供。</a:t>
            </a:r>
            <a:endParaRPr lang="en-US" altLang="ja-JP" sz="1400" dirty="0">
              <a:latin typeface="メイリオ"/>
              <a:ea typeface="メイリオ"/>
              <a:cs typeface="メイリオ"/>
              <a:sym typeface="Meiryo"/>
            </a:endParaRPr>
          </a:p>
          <a:p>
            <a:pPr lvl="0" algn="ctr"/>
            <a:r>
              <a:rPr lang="ja-JP" altLang="en-US" sz="1400" dirty="0">
                <a:latin typeface="メイリオ"/>
                <a:ea typeface="メイリオ"/>
                <a:cs typeface="メイリオ"/>
                <a:sym typeface="Meiryo"/>
              </a:rPr>
              <a:t>初期設計のみのご依頼でも、大きく数値改善できるポイントの導入支援が可能</a:t>
            </a:r>
            <a:endParaRPr lang="en-US" altLang="ja-JP" sz="1400" dirty="0">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endParaRPr kumimoji="1" lang="ja-JP" altLang="en-US" sz="1050" b="1" dirty="0">
              <a:solidFill>
                <a:schemeClr val="bg1"/>
              </a:solidFill>
              <a:latin typeface="メイリオ"/>
              <a:ea typeface="メイリオ"/>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FF0000"/>
                </a:solidFill>
                <a:latin typeface="メイリオ"/>
                <a:ea typeface="メイリオ"/>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a:ea typeface="メイリオ"/>
                <a:cs typeface="メイリオ"/>
              </a:rPr>
              <a:t>（</a:t>
            </a:r>
            <a:r>
              <a:rPr kumimoji="1" lang="en-US" altLang="ja-JP" sz="1100" dirty="0">
                <a:solidFill>
                  <a:schemeClr val="tx2"/>
                </a:solidFill>
                <a:latin typeface="メイリオ"/>
                <a:ea typeface="メイリオ"/>
                <a:cs typeface="メイリオ"/>
              </a:rPr>
              <a:t>LINE</a:t>
            </a:r>
            <a:r>
              <a:rPr kumimoji="1" lang="ja-JP" altLang="en-US" sz="1100" dirty="0">
                <a:solidFill>
                  <a:schemeClr val="tx2"/>
                </a:solidFill>
                <a:latin typeface="メイリオ"/>
                <a:ea typeface="メイリオ"/>
                <a:cs typeface="メイリオ"/>
              </a:rPr>
              <a:t>施策内</a:t>
            </a:r>
            <a:r>
              <a:rPr lang="ja-JP" altLang="en-US" sz="1100" dirty="0">
                <a:solidFill>
                  <a:schemeClr val="tx2"/>
                </a:solidFill>
                <a:latin typeface="メイリオ"/>
                <a:ea typeface="メイリオ"/>
                <a:cs typeface="メイリオ"/>
              </a:rPr>
              <a:t>）</a:t>
            </a:r>
            <a:endParaRPr kumimoji="1" lang="ja-JP" altLang="en-US" sz="1100" dirty="0">
              <a:solidFill>
                <a:schemeClr val="tx2"/>
              </a:solidFill>
              <a:latin typeface="メイリオ"/>
              <a:ea typeface="メイリオ"/>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a:ea typeface="メイリオ"/>
                <a:cs typeface="メイリオ"/>
              </a:rPr>
              <a:t>アクティブ数</a:t>
            </a:r>
            <a:endParaRPr kumimoji="1" lang="en-US" altLang="ja-JP" sz="1000" b="1" dirty="0">
              <a:latin typeface="メイリオ"/>
              <a:ea typeface="メイリオ"/>
              <a:cs typeface="メイリオ"/>
            </a:endParaRPr>
          </a:p>
          <a:p>
            <a:pPr algn="ctr"/>
            <a:r>
              <a:rPr kumimoji="1" lang="ja-JP" altLang="en-US" sz="800" dirty="0">
                <a:latin typeface="メイリオ"/>
                <a:ea typeface="メイリオ"/>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a:ea typeface="メイリオ"/>
                <a:cs typeface="メイリオ"/>
              </a:rPr>
              <a:t>セグメント率</a:t>
            </a:r>
            <a:endParaRPr kumimoji="1" lang="en-US" altLang="ja-JP" sz="1000" b="1" dirty="0">
              <a:latin typeface="メイリオ"/>
              <a:ea typeface="メイリオ"/>
              <a:cs typeface="メイリオ"/>
            </a:endParaRPr>
          </a:p>
          <a:p>
            <a:pPr algn="ctr"/>
            <a:r>
              <a:rPr lang="en-US" altLang="ja-JP" sz="1000" dirty="0">
                <a:latin typeface="メイリオ"/>
                <a:ea typeface="メイリオ"/>
                <a:cs typeface="メイリオ"/>
              </a:rPr>
              <a:t>or</a:t>
            </a:r>
          </a:p>
          <a:p>
            <a:pPr algn="ctr"/>
            <a:r>
              <a:rPr kumimoji="1" lang="ja-JP" altLang="en-US" sz="1000" b="1" dirty="0">
                <a:latin typeface="メイリオ"/>
                <a:ea typeface="メイリオ"/>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a:ea typeface="メイリオ"/>
                <a:cs typeface="メイリオ"/>
              </a:rPr>
              <a:t>（ターゲット戦略）</a:t>
            </a:r>
            <a:endParaRPr kumimoji="1" lang="ja-JP" altLang="en-US" sz="1100" dirty="0">
              <a:solidFill>
                <a:srgbClr val="00B050"/>
              </a:solidFill>
              <a:latin typeface="メイリオ"/>
              <a:ea typeface="メイリオ"/>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a:ea typeface="メイリオ"/>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a:ea typeface="メイリオ"/>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a:ea typeface="メイリオ"/>
                <a:cs typeface="メイリオ"/>
              </a:rPr>
              <a:t>CV</a:t>
            </a:r>
            <a:r>
              <a:rPr kumimoji="1" lang="ja-JP" altLang="en-US" sz="1050" b="1" dirty="0">
                <a:solidFill>
                  <a:schemeClr val="bg1"/>
                </a:solidFill>
                <a:latin typeface="メイリオ"/>
                <a:ea typeface="メイリオ"/>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FF0000"/>
                </a:solidFill>
                <a:latin typeface="メイリオ"/>
                <a:ea typeface="メイリオ"/>
                <a:cs typeface="メイリオ"/>
              </a:rPr>
              <a:t>85 </a:t>
            </a:r>
            <a:r>
              <a:rPr lang="en-US" altLang="ja-JP" sz="1400" b="1" dirty="0">
                <a:solidFill>
                  <a:srgbClr val="FF0000"/>
                </a:solidFill>
                <a:latin typeface="メイリオ"/>
                <a:ea typeface="メイリオ"/>
                <a:cs typeface="メイリオ"/>
              </a:rPr>
              <a:t>%</a:t>
            </a:r>
            <a:endParaRPr kumimoji="1" lang="ja-JP" altLang="en-US" sz="1400" b="1" dirty="0">
              <a:solidFill>
                <a:srgbClr val="FF0000"/>
              </a:solidFill>
              <a:latin typeface="メイリオ"/>
              <a:ea typeface="メイリオ"/>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FF0000"/>
                </a:solidFill>
                <a:latin typeface="メイリオ"/>
                <a:ea typeface="メイリオ"/>
                <a:cs typeface="メイリオ"/>
              </a:rPr>
              <a:t>12.5 </a:t>
            </a:r>
            <a:r>
              <a:rPr lang="en-US" altLang="ja-JP" sz="1400" b="1" dirty="0">
                <a:solidFill>
                  <a:srgbClr val="FF0000"/>
                </a:solidFill>
                <a:latin typeface="メイリオ"/>
                <a:ea typeface="メイリオ"/>
                <a:cs typeface="メイリオ"/>
              </a:rPr>
              <a:t>%</a:t>
            </a:r>
            <a:endParaRPr lang="ja-JP" altLang="en-US" sz="1400" b="1" dirty="0">
              <a:solidFill>
                <a:srgbClr val="FF0000"/>
              </a:solidFill>
              <a:latin typeface="メイリオ"/>
              <a:ea typeface="メイリオ"/>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FF0000"/>
                </a:solidFill>
                <a:latin typeface="メイリオ"/>
                <a:ea typeface="メイリオ"/>
                <a:cs typeface="メイリオ"/>
              </a:rPr>
              <a:t>0.5</a:t>
            </a:r>
            <a:r>
              <a:rPr kumimoji="1" lang="en-US" altLang="ja-JP" sz="1400" b="1" dirty="0">
                <a:solidFill>
                  <a:srgbClr val="FF0000"/>
                </a:solidFill>
                <a:latin typeface="メイリオ"/>
                <a:ea typeface="メイリオ"/>
                <a:cs typeface="メイリオ"/>
              </a:rPr>
              <a:t> %</a:t>
            </a:r>
            <a:endParaRPr kumimoji="1" lang="ja-JP" altLang="en-US" sz="1400" b="1" dirty="0">
              <a:solidFill>
                <a:srgbClr val="FF0000"/>
              </a:solidFill>
              <a:latin typeface="メイリオ"/>
              <a:ea typeface="メイリオ"/>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a:ea typeface="メイリオ"/>
                <a:cs typeface="メイリオ"/>
              </a:rPr>
              <a:t>70 %</a:t>
            </a:r>
            <a:endParaRPr lang="ja-JP" altLang="en-US" sz="1400" b="1" dirty="0">
              <a:solidFill>
                <a:schemeClr val="tx1"/>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a:ea typeface="メイリオ"/>
                <a:cs typeface="メイリオ"/>
              </a:rPr>
              <a:t>8.25 %</a:t>
            </a:r>
            <a:endParaRPr lang="ja-JP" altLang="en-US" sz="1400" b="1" dirty="0">
              <a:solidFill>
                <a:schemeClr val="tx1"/>
              </a:solidFill>
              <a:latin typeface="メイリオ"/>
              <a:ea typeface="メイリオ"/>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a:ea typeface="メイリオ"/>
                <a:cs typeface="メイリオ"/>
              </a:rPr>
              <a:t>0.3 %</a:t>
            </a:r>
            <a:endParaRPr kumimoji="1" lang="ja-JP" altLang="en-US" sz="1400" b="1" dirty="0">
              <a:solidFill>
                <a:schemeClr val="tx1"/>
              </a:solidFill>
              <a:latin typeface="メイリオ"/>
              <a:ea typeface="メイリオ"/>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C000"/>
                </a:solidFill>
                <a:latin typeface="メイリオ"/>
                <a:ea typeface="メイリオ"/>
                <a:cs typeface="メイリオ"/>
              </a:rPr>
              <a:t>DYM</a:t>
            </a:r>
            <a:r>
              <a:rPr kumimoji="1" lang="ja-JP" altLang="en-US" sz="1200" b="1" dirty="0">
                <a:solidFill>
                  <a:srgbClr val="FFC000"/>
                </a:solidFill>
                <a:latin typeface="メイリオ"/>
                <a:ea typeface="メイリオ"/>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a:ea typeface="メイリオ"/>
                <a:cs typeface="メイリオ"/>
              </a:rPr>
              <a:t>業界平均</a:t>
            </a:r>
            <a:endParaRPr lang="en-US" altLang="ja-JP" sz="1200" b="1" dirty="0">
              <a:solidFill>
                <a:schemeClr val="bg1"/>
              </a:solidFill>
              <a:latin typeface="メイリオ"/>
              <a:ea typeface="メイリオ"/>
              <a:cs typeface="メイリオ"/>
            </a:endParaRPr>
          </a:p>
          <a:p>
            <a:pPr algn="ctr"/>
            <a:r>
              <a:rPr lang="en-US" altLang="ja-JP" sz="800" b="1" dirty="0">
                <a:solidFill>
                  <a:schemeClr val="bg1"/>
                </a:solidFill>
                <a:latin typeface="メイリオ"/>
                <a:ea typeface="メイリオ"/>
                <a:cs typeface="メイリオ"/>
              </a:rPr>
              <a:t>(LINE</a:t>
            </a:r>
            <a:r>
              <a:rPr lang="ja-JP" altLang="en-US" sz="800" b="1" dirty="0">
                <a:solidFill>
                  <a:schemeClr val="bg1"/>
                </a:solidFill>
                <a:latin typeface="メイリオ"/>
                <a:ea typeface="メイリオ"/>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C000"/>
                </a:solidFill>
                <a:latin typeface="メイリオ"/>
                <a:ea typeface="メイリオ"/>
                <a:cs typeface="メイリオ"/>
              </a:rPr>
              <a:t>施策の流れ</a:t>
            </a:r>
          </a:p>
        </p:txBody>
      </p:sp>
    </p:spTree>
    <p:extLst>
      <p:ext uri="{BB962C8B-B14F-4D97-AF65-F5344CB8AC3E}">
        <p14:creationId xmlns:p14="http://schemas.microsoft.com/office/powerpoint/2010/main" val="831316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2808841" y="3038203"/>
            <a:ext cx="4288353"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想定動線</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631432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⑤ リード有効化</a:t>
            </a:r>
            <a:endParaRPr lang="ja-JP" altLang="ja-JP" sz="1100" b="1" dirty="0">
              <a:latin typeface="メイリオ"/>
              <a:ea typeface="メイリオ"/>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⑦マネタイズ</a:t>
            </a:r>
            <a:r>
              <a:rPr lang="en-US" altLang="ja-JP" sz="1000" b="1" dirty="0">
                <a:latin typeface="メイリオ"/>
                <a:ea typeface="メイリオ"/>
                <a:cs typeface="メイリオ"/>
              </a:rPr>
              <a:t>(</a:t>
            </a:r>
            <a:r>
              <a:rPr lang="ja-JP" altLang="en-US" sz="1000" b="1" dirty="0">
                <a:latin typeface="メイリオ"/>
                <a:ea typeface="メイリオ"/>
                <a:cs typeface="メイリオ"/>
              </a:rPr>
              <a:t>成約</a:t>
            </a:r>
            <a:r>
              <a:rPr lang="en-US" altLang="ja-JP" sz="1000" b="1" dirty="0">
                <a:latin typeface="メイリオ"/>
                <a:ea typeface="メイリオ"/>
                <a:cs typeface="メイリオ"/>
              </a:rPr>
              <a:t>/</a:t>
            </a:r>
            <a:r>
              <a:rPr lang="ja-JP" altLang="en-US" sz="1000" b="1" dirty="0">
                <a:latin typeface="メイリオ"/>
                <a:ea typeface="メイリオ"/>
                <a:cs typeface="メイリオ"/>
              </a:rPr>
              <a:t>購入</a:t>
            </a:r>
            <a:r>
              <a:rPr lang="en-US" altLang="ja-JP" sz="1000" b="1" dirty="0">
                <a:latin typeface="メイリオ"/>
                <a:ea typeface="メイリオ"/>
                <a:cs typeface="メイリオ"/>
              </a:rPr>
              <a:t>)</a:t>
            </a:r>
            <a:endParaRPr lang="ja-JP" altLang="ja-JP" sz="1100" b="1"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⑥ 有効リードの再育成</a:t>
            </a:r>
            <a:endParaRPr lang="ja-JP" altLang="ja-JP" sz="1100" b="1" dirty="0">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a:ea typeface="メイリオ"/>
                <a:cs typeface="メイリオ"/>
              </a:rPr>
              <a:t>③ 育成（興味</a:t>
            </a:r>
            <a:r>
              <a:rPr lang="ja-JP" altLang="en-US" sz="1100" b="1" dirty="0">
                <a:latin typeface="メイリオ"/>
                <a:ea typeface="メイリオ"/>
                <a:cs typeface="メイリオ"/>
              </a:rPr>
              <a:t>喚起</a:t>
            </a:r>
            <a:r>
              <a:rPr lang="ja-JP" altLang="ja-JP" sz="1100" b="1" dirty="0">
                <a:latin typeface="メイリオ"/>
                <a:ea typeface="メイリオ"/>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④リード獲得 </a:t>
            </a:r>
            <a:r>
              <a:rPr lang="en-US" altLang="ja-JP" sz="900" b="1" dirty="0">
                <a:latin typeface="メイリオ"/>
                <a:ea typeface="メイリオ"/>
                <a:cs typeface="メイリオ"/>
              </a:rPr>
              <a:t>(web/LINE)</a:t>
            </a:r>
            <a:endParaRPr lang="ja-JP" altLang="ja-JP" sz="1050" b="1" dirty="0">
              <a:latin typeface="メイリオ"/>
              <a:ea typeface="メイリオ"/>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a:ea typeface="メイリオ"/>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a:ea typeface="メイリオ"/>
                <a:cs typeface="メイリオ"/>
              </a:rPr>
              <a:t>メール登録</a:t>
            </a:r>
            <a:endParaRPr lang="en-US" altLang="ja-JP" sz="1100" dirty="0">
              <a:solidFill>
                <a:schemeClr val="bg1"/>
              </a:solidFill>
              <a:latin typeface="メイリオ"/>
              <a:ea typeface="メイリオ"/>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941570"/>
            <a:ext cx="3640832" cy="261610"/>
          </a:xfrm>
          <a:prstGeom prst="rect">
            <a:avLst/>
          </a:prstGeom>
          <a:solidFill>
            <a:srgbClr val="FF0000"/>
          </a:solidFill>
        </p:spPr>
        <p:txBody>
          <a:bodyPr wrap="square">
            <a:spAutoFit/>
          </a:bodyPr>
          <a:lstStyle/>
          <a:p>
            <a:pPr algn="ctr"/>
            <a:r>
              <a:rPr lang="ja-JP" altLang="en-US" sz="1100" dirty="0">
                <a:solidFill>
                  <a:schemeClr val="bg1"/>
                </a:solidFill>
                <a:latin typeface="メイリオ"/>
                <a:ea typeface="メイリオ"/>
                <a:cs typeface="メイリオ"/>
              </a:rPr>
              <a:t>貴社ブランド商品購入率が改善</a:t>
            </a:r>
            <a:endParaRPr lang="en-US" altLang="ja-JP" sz="1100" dirty="0">
              <a:solidFill>
                <a:schemeClr val="bg1"/>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a:ea typeface="メイリオ"/>
                <a:cs typeface="メイリオ"/>
              </a:rPr>
              <a:t>&lt;</a:t>
            </a:r>
            <a:r>
              <a:rPr lang="ja-JP" altLang="en-US" sz="1050" b="1" dirty="0">
                <a:latin typeface="メイリオ"/>
                <a:ea typeface="メイリオ"/>
                <a:cs typeface="メイリオ"/>
              </a:rPr>
              <a:t>貴社のユーザー動線イメージ</a:t>
            </a:r>
            <a:r>
              <a:rPr lang="en-US" altLang="ja-JP" sz="1050" b="1" dirty="0">
                <a:latin typeface="メイリオ"/>
                <a:ea typeface="メイリオ"/>
                <a:cs typeface="メイリオ"/>
              </a:rPr>
              <a:t>&gt;</a:t>
            </a:r>
            <a:endParaRPr lang="ja-JP" altLang="en-US" sz="1050" b="1" dirty="0">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a:ea typeface="メイリオ"/>
                <a:cs typeface="メイリオ"/>
              </a:rPr>
              <a:t>サイト訪問数が拡大</a:t>
            </a:r>
            <a:endParaRPr lang="en-US" altLang="ja-JP" sz="1100" dirty="0">
              <a:solidFill>
                <a:schemeClr val="bg1"/>
              </a:solidFill>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33400"/>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a:ea typeface="メイリオ"/>
                <a:cs typeface="メイリオ"/>
              </a:rPr>
              <a:t>⑧</a:t>
            </a:r>
            <a:r>
              <a:rPr lang="en-US" altLang="ja-JP" sz="1100" dirty="0">
                <a:latin typeface="メイリオ"/>
                <a:ea typeface="メイリオ"/>
                <a:cs typeface="メイリオ"/>
              </a:rPr>
              <a:t>LTV</a:t>
            </a:r>
            <a:r>
              <a:rPr lang="ja-JP" altLang="en-US" sz="1100" dirty="0">
                <a:latin typeface="メイリオ"/>
                <a:ea typeface="メイリオ"/>
                <a:cs typeface="メイリオ"/>
              </a:rPr>
              <a:t>最大化（長期化）</a:t>
            </a:r>
            <a:endParaRPr lang="en-US" altLang="ja-JP" sz="1100" dirty="0">
              <a:latin typeface="メイリオ"/>
              <a:ea typeface="メイリオ"/>
              <a:cs typeface="メイリオ"/>
            </a:endParaRPr>
          </a:p>
          <a:p>
            <a:pPr>
              <a:buNone/>
            </a:pPr>
            <a:endParaRPr lang="ja-JP" altLang="ja-JP" sz="900" dirty="0">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② サイト離脱</a:t>
            </a:r>
            <a:r>
              <a:rPr lang="ja-JP" altLang="en-US" sz="1100" dirty="0">
                <a:latin typeface="メイリオ"/>
                <a:ea typeface="メイリオ"/>
                <a:cs typeface="メイリオ"/>
              </a:rPr>
              <a:t>（対策）</a:t>
            </a:r>
            <a:endParaRPr lang="ja-JP" altLang="ja-JP" sz="1100" dirty="0">
              <a:latin typeface="メイリオ"/>
              <a:ea typeface="メイリオ"/>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881344"/>
            <a:ext cx="9476706" cy="307777"/>
          </a:xfrm>
          <a:prstGeom prst="rect">
            <a:avLst/>
          </a:prstGeom>
          <a:noFill/>
        </p:spPr>
        <p:txBody>
          <a:bodyPr wrap="square">
            <a:spAutoFit/>
          </a:bodyPr>
          <a:lstStyle/>
          <a:p>
            <a:pPr marL="228600">
              <a:spcAft>
                <a:spcPts val="800"/>
              </a:spcAft>
              <a:buNone/>
            </a:pPr>
            <a:r>
              <a:rPr lang="ja-JP" altLang="ja-JP" sz="1400" b="1" dirty="0">
                <a:effectLst/>
                <a:latin typeface="メイリオ"/>
                <a:ea typeface="メイリオ"/>
                <a:cs typeface="メイリオ"/>
              </a:rPr>
              <a:t>接触</a:t>
            </a:r>
            <a:r>
              <a:rPr lang="en-US" altLang="ja-JP" sz="1400" b="1" dirty="0">
                <a:effectLst/>
                <a:latin typeface="メイリオ"/>
                <a:ea typeface="メイリオ"/>
                <a:cs typeface="メイリオ"/>
              </a:rPr>
              <a:t>~</a:t>
            </a:r>
            <a:r>
              <a:rPr lang="en-US" altLang="ja-JP" sz="1400" b="1" dirty="0">
                <a:latin typeface="メイリオ"/>
                <a:ea typeface="メイリオ"/>
                <a:cs typeface="メイリオ"/>
              </a:rPr>
              <a:t>LTV</a:t>
            </a:r>
            <a:r>
              <a:rPr lang="ja-JP" altLang="en-US" sz="1400" b="1" dirty="0">
                <a:latin typeface="メイリオ"/>
                <a:ea typeface="メイリオ"/>
                <a:cs typeface="メイリオ"/>
              </a:rPr>
              <a:t>の最大化（長期化）</a:t>
            </a:r>
            <a:r>
              <a:rPr lang="en-US" altLang="ja-JP" sz="1400" b="1" dirty="0">
                <a:effectLst/>
                <a:latin typeface="メイリオ"/>
                <a:ea typeface="メイリオ"/>
                <a:cs typeface="メイリオ"/>
              </a:rPr>
              <a:t>8</a:t>
            </a:r>
            <a:r>
              <a:rPr lang="ja-JP" altLang="ja-JP" sz="1400" b="1" dirty="0">
                <a:effectLst/>
                <a:latin typeface="メイリオ"/>
                <a:ea typeface="メイリオ"/>
                <a:cs typeface="メイリオ"/>
              </a:rPr>
              <a:t>フェーズの動線</a:t>
            </a:r>
            <a:r>
              <a:rPr lang="ja-JP" altLang="ja-JP" sz="1400" dirty="0">
                <a:effectLst/>
                <a:latin typeface="メイリオ"/>
                <a:ea typeface="メイリオ"/>
                <a:cs typeface="メイリオ"/>
              </a:rPr>
              <a:t>を可視化し、各フェーズ</a:t>
            </a:r>
            <a:r>
              <a:rPr lang="ja-JP" altLang="en-US" sz="1400" dirty="0">
                <a:effectLst/>
                <a:latin typeface="メイリオ"/>
                <a:ea typeface="メイリオ"/>
                <a:cs typeface="メイリオ"/>
              </a:rPr>
              <a:t>の</a:t>
            </a:r>
            <a:r>
              <a:rPr lang="ja-JP" altLang="ja-JP" sz="1400" dirty="0">
                <a:effectLst/>
                <a:latin typeface="メイリオ"/>
                <a:ea typeface="メイリオ"/>
                <a:cs typeface="メイリオ"/>
              </a:rPr>
              <a:t>離脱要因と</a:t>
            </a:r>
            <a:r>
              <a:rPr lang="en-US" altLang="ja-JP" sz="1400" dirty="0">
                <a:effectLst/>
                <a:latin typeface="メイリオ"/>
                <a:ea typeface="メイリオ"/>
                <a:cs typeface="メイリオ"/>
              </a:rPr>
              <a:t>LINE</a:t>
            </a:r>
            <a:r>
              <a:rPr lang="ja-JP" altLang="ja-JP" sz="1400" dirty="0">
                <a:effectLst/>
                <a:latin typeface="メイリオ"/>
                <a:ea typeface="メイリオ"/>
                <a:cs typeface="メイリオ"/>
              </a:rPr>
              <a:t>施策の打ち手を整理。</a:t>
            </a:r>
            <a:endParaRPr lang="ja-JP" altLang="ja-JP" sz="1100" dirty="0">
              <a:effectLst/>
              <a:latin typeface="メイリオ"/>
              <a:ea typeface="メイリオ"/>
              <a:cs typeface="メイリオ"/>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361902"/>
            <a:ext cx="9425943" cy="536703"/>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400" b="1" dirty="0">
                <a:solidFill>
                  <a:schemeClr val="tx1"/>
                </a:solidFill>
                <a:latin typeface="メイリオ"/>
                <a:ea typeface="メイリオ"/>
                <a:cs typeface="メイリオ"/>
              </a:rPr>
              <a:t>・貴社商品を利用する・継続するユーザーを獲得、長期的な購読を促すため、</a:t>
            </a:r>
            <a:r>
              <a:rPr lang="ja-JP" altLang="en-US" sz="1400" b="1" dirty="0">
                <a:solidFill>
                  <a:srgbClr val="FF0000"/>
                </a:solidFill>
                <a:latin typeface="メイリオ"/>
                <a:ea typeface="メイリオ"/>
                <a:cs typeface="メイリオ"/>
              </a:rPr>
              <a:t>中長期接点を持つこと</a:t>
            </a:r>
            <a:r>
              <a:rPr lang="ja-JP" altLang="en-US" sz="1400" b="1" dirty="0">
                <a:solidFill>
                  <a:schemeClr val="tx1"/>
                </a:solidFill>
                <a:latin typeface="メイリオ"/>
                <a:ea typeface="メイリオ"/>
                <a:cs typeface="メイリオ"/>
              </a:rPr>
              <a:t>はメリットに。</a:t>
            </a:r>
            <a:endParaRPr lang="en-US" altLang="ja-JP" sz="1400" b="1" dirty="0">
              <a:solidFill>
                <a:schemeClr val="tx1"/>
              </a:solidFill>
              <a:latin typeface="メイリオ"/>
              <a:ea typeface="メイリオ"/>
              <a:cs typeface="メイリオ"/>
            </a:endParaRPr>
          </a:p>
        </p:txBody>
      </p:sp>
      <p:sp>
        <p:nvSpPr>
          <p:cNvPr id="11" name="テキスト ボックス 10">
            <a:extLst>
              <a:ext uri="{FF2B5EF4-FFF2-40B4-BE49-F238E27FC236}">
                <a16:creationId xmlns:a16="http://schemas.microsoft.com/office/drawing/2014/main" id="{C21501FB-A603-10BD-2C6C-D1B73705A291}"/>
              </a:ext>
            </a:extLst>
          </p:cNvPr>
          <p:cNvSpPr txBox="1"/>
          <p:nvPr/>
        </p:nvSpPr>
        <p:spPr>
          <a:xfrm>
            <a:off x="548883" y="5008631"/>
            <a:ext cx="4963884" cy="307777"/>
          </a:xfrm>
          <a:prstGeom prst="rect">
            <a:avLst/>
          </a:prstGeom>
          <a:noFill/>
        </p:spPr>
        <p:txBody>
          <a:bodyPr wrap="square">
            <a:spAutoFit/>
          </a:bodyPr>
          <a:lstStyle/>
          <a:p>
            <a:r>
              <a:rPr lang="en-US" altLang="ja-JP" sz="1400" b="1" dirty="0">
                <a:solidFill>
                  <a:schemeClr val="tx1"/>
                </a:solidFill>
                <a:latin typeface="メイリオ"/>
                <a:ea typeface="メイリオ"/>
                <a:cs typeface="メイリオ"/>
              </a:rPr>
              <a:t>&lt;</a:t>
            </a:r>
            <a:r>
              <a:rPr lang="ja-JP" altLang="en-US" sz="1400" b="1" dirty="0">
                <a:solidFill>
                  <a:schemeClr val="tx1"/>
                </a:solidFill>
                <a:latin typeface="メイリオ"/>
                <a:ea typeface="メイリオ"/>
                <a:cs typeface="メイリオ"/>
              </a:rPr>
              <a:t>想定導入機能</a:t>
            </a:r>
            <a:r>
              <a:rPr lang="en-US" altLang="ja-JP" sz="1400" b="1" dirty="0">
                <a:solidFill>
                  <a:schemeClr val="tx1"/>
                </a:solidFill>
                <a:latin typeface="メイリオ"/>
                <a:ea typeface="メイリオ"/>
                <a:cs typeface="メイリオ"/>
              </a:rPr>
              <a:t>&gt;</a:t>
            </a:r>
            <a:endParaRPr lang="ja-JP" altLang="en-US"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F9A2A3-3989-9C86-3554-46A096DC83AD}"/>
              </a:ext>
            </a:extLst>
          </p:cNvPr>
          <p:cNvSpPr txBox="1"/>
          <p:nvPr/>
        </p:nvSpPr>
        <p:spPr>
          <a:xfrm>
            <a:off x="377494" y="5382083"/>
            <a:ext cx="4368677" cy="448732"/>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1 </a:t>
            </a:r>
            <a:r>
              <a:rPr lang="ja-JP" altLang="en-US" sz="1400" b="1" dirty="0">
                <a:solidFill>
                  <a:schemeClr val="tx1"/>
                </a:solidFill>
                <a:latin typeface="メイリオ"/>
                <a:ea typeface="メイリオ"/>
                <a:cs typeface="メイリオ"/>
              </a:rPr>
              <a:t>会員登録時にメルマガに加えて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追加を促進</a:t>
            </a:r>
            <a:endParaRPr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B64C572B-B222-3530-F911-91F8DAD27A0E}"/>
              </a:ext>
            </a:extLst>
          </p:cNvPr>
          <p:cNvSpPr txBox="1"/>
          <p:nvPr/>
        </p:nvSpPr>
        <p:spPr>
          <a:xfrm>
            <a:off x="377493" y="5888996"/>
            <a:ext cx="4368677" cy="495679"/>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2 </a:t>
            </a:r>
            <a:r>
              <a:rPr lang="ja-JP" altLang="en-US" sz="1400" b="1" dirty="0">
                <a:solidFill>
                  <a:schemeClr val="tx1"/>
                </a:solidFill>
                <a:latin typeface="メイリオ"/>
                <a:ea typeface="メイリオ"/>
                <a:cs typeface="メイリオ"/>
              </a:rPr>
              <a:t>メルマガ配信・コラム投稿に合わせて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展開</a:t>
            </a:r>
            <a:endParaRPr lang="ja-JP" altLang="en-US" dirty="0">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7AF99EA9-1725-74D7-D950-7BF6B8B0ED92}"/>
              </a:ext>
            </a:extLst>
          </p:cNvPr>
          <p:cNvSpPr txBox="1"/>
          <p:nvPr/>
        </p:nvSpPr>
        <p:spPr>
          <a:xfrm>
            <a:off x="4830776" y="5470918"/>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サンクスページ → </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への自動誘導を実現</a:t>
            </a:r>
            <a:endParaRPr lang="ja-JP" altLang="en-US" sz="1800" b="1" dirty="0">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A1C4DAA1-0C1B-22B1-E5EC-85F7A2F35AAB}"/>
              </a:ext>
            </a:extLst>
          </p:cNvPr>
          <p:cNvSpPr txBox="1"/>
          <p:nvPr/>
        </p:nvSpPr>
        <p:spPr>
          <a:xfrm>
            <a:off x="4837444" y="5982946"/>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反応率の高い</a:t>
            </a:r>
            <a:r>
              <a:rPr lang="ja-JP" altLang="en-US" sz="1400" b="1" dirty="0">
                <a:latin typeface="メイリオ"/>
                <a:ea typeface="メイリオ"/>
                <a:cs typeface="メイリオ"/>
              </a:rPr>
              <a:t>クリエイティブ制作＋投稿代行</a:t>
            </a:r>
            <a:endParaRPr lang="ja-JP" altLang="en-US" sz="1800" b="1" dirty="0">
              <a:latin typeface="メイリオ"/>
              <a:ea typeface="メイリオ"/>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⑤ リード有効化</a:t>
            </a:r>
            <a:endParaRPr lang="ja-JP" altLang="ja-JP" sz="1100" b="1" dirty="0">
              <a:latin typeface="メイリオ"/>
              <a:ea typeface="メイリオ"/>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⑦マネタイズ</a:t>
            </a:r>
            <a:r>
              <a:rPr lang="en-US" altLang="ja-JP" sz="1000" b="1" dirty="0">
                <a:latin typeface="メイリオ"/>
                <a:ea typeface="メイリオ"/>
                <a:cs typeface="メイリオ"/>
              </a:rPr>
              <a:t>(</a:t>
            </a:r>
            <a:r>
              <a:rPr lang="ja-JP" altLang="en-US" sz="1000" b="1" dirty="0">
                <a:latin typeface="メイリオ"/>
                <a:ea typeface="メイリオ"/>
                <a:cs typeface="メイリオ"/>
              </a:rPr>
              <a:t>成約</a:t>
            </a:r>
            <a:r>
              <a:rPr lang="en-US" altLang="ja-JP" sz="1000" b="1" dirty="0">
                <a:latin typeface="メイリオ"/>
                <a:ea typeface="メイリオ"/>
                <a:cs typeface="メイリオ"/>
              </a:rPr>
              <a:t>/</a:t>
            </a:r>
            <a:r>
              <a:rPr lang="ja-JP" altLang="en-US" sz="1000" b="1" dirty="0">
                <a:latin typeface="メイリオ"/>
                <a:ea typeface="メイリオ"/>
                <a:cs typeface="メイリオ"/>
              </a:rPr>
              <a:t>購入</a:t>
            </a:r>
            <a:r>
              <a:rPr lang="en-US" altLang="ja-JP" sz="1000" b="1" dirty="0">
                <a:latin typeface="メイリオ"/>
                <a:ea typeface="メイリオ"/>
                <a:cs typeface="メイリオ"/>
              </a:rPr>
              <a:t>)</a:t>
            </a:r>
            <a:endParaRPr lang="ja-JP" altLang="ja-JP" sz="1100" b="1"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⑥ 有効リードの再育成</a:t>
            </a:r>
            <a:endParaRPr lang="ja-JP" altLang="ja-JP" sz="1100" b="1" dirty="0">
              <a:latin typeface="メイリオ"/>
              <a:ea typeface="メイリオ"/>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a:ea typeface="メイリオ"/>
                <a:cs typeface="メイリオ"/>
              </a:rPr>
              <a:t>⑧</a:t>
            </a:r>
            <a:r>
              <a:rPr lang="en-US" altLang="ja-JP" sz="1100" dirty="0">
                <a:latin typeface="メイリオ"/>
                <a:ea typeface="メイリオ"/>
                <a:cs typeface="メイリオ"/>
              </a:rPr>
              <a:t>LTV</a:t>
            </a:r>
            <a:r>
              <a:rPr lang="ja-JP" altLang="en-US" sz="1100" dirty="0">
                <a:latin typeface="メイリオ"/>
                <a:ea typeface="メイリオ"/>
                <a:cs typeface="メイリオ"/>
              </a:rPr>
              <a:t>最大化・紹介</a:t>
            </a:r>
            <a:endParaRPr lang="en-US" altLang="ja-JP" sz="1100" dirty="0">
              <a:latin typeface="メイリオ"/>
              <a:ea typeface="メイリオ"/>
              <a:cs typeface="メイリオ"/>
            </a:endParaRPr>
          </a:p>
          <a:p>
            <a:pPr>
              <a:buNone/>
            </a:pPr>
            <a:endParaRPr lang="ja-JP" altLang="ja-JP" sz="900" dirty="0">
              <a:latin typeface="メイリオ"/>
              <a:ea typeface="メイリオ"/>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② サイト離脱</a:t>
            </a:r>
            <a:r>
              <a:rPr lang="ja-JP" altLang="en-US" sz="1100" dirty="0">
                <a:latin typeface="メイリオ"/>
                <a:ea typeface="メイリオ"/>
                <a:cs typeface="メイリオ"/>
              </a:rPr>
              <a:t>（対策）</a:t>
            </a:r>
            <a:endParaRPr lang="ja-JP" altLang="ja-JP" sz="1100" dirty="0">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a:ea typeface="メイリオ"/>
                <a:cs typeface="メイリオ"/>
              </a:rPr>
              <a:t>③ 育成（興味</a:t>
            </a:r>
            <a:r>
              <a:rPr lang="ja-JP" altLang="en-US" sz="1100" b="1" dirty="0">
                <a:latin typeface="メイリオ"/>
                <a:ea typeface="メイリオ"/>
                <a:cs typeface="メイリオ"/>
              </a:rPr>
              <a:t>喚起</a:t>
            </a:r>
            <a:r>
              <a:rPr lang="ja-JP" altLang="ja-JP" sz="1100" b="1" dirty="0">
                <a:latin typeface="メイリオ"/>
                <a:ea typeface="メイリオ"/>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④リード獲得 </a:t>
            </a:r>
            <a:r>
              <a:rPr lang="en-US" altLang="ja-JP" sz="900" b="1" dirty="0">
                <a:latin typeface="メイリオ"/>
                <a:ea typeface="メイリオ"/>
                <a:cs typeface="メイリオ"/>
              </a:rPr>
              <a:t>(web/LINE)</a:t>
            </a:r>
            <a:endParaRPr lang="ja-JP" altLang="ja-JP" sz="1050" b="1" dirty="0">
              <a:latin typeface="メイリオ"/>
              <a:ea typeface="メイリオ"/>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a:ea typeface="メイリオ"/>
                <a:cs typeface="メイリオ"/>
                <a:sym typeface="Meiryo"/>
              </a:rPr>
              <a:t>カスタマージャーニーマップ</a:t>
            </a:r>
            <a:endParaRPr lang="ja-JP" altLang="en-US" sz="1050" dirty="0">
              <a:latin typeface="メイリオ"/>
              <a:ea typeface="メイリオ"/>
              <a:cs typeface="メイリオ"/>
            </a:endParaRPr>
          </a:p>
        </p:txBody>
      </p:sp>
      <p:graphicFrame>
        <p:nvGraphicFramePr>
          <p:cNvPr id="18" name="Table 2">
            <a:extLst>
              <a:ext uri="{FF2B5EF4-FFF2-40B4-BE49-F238E27FC236}">
                <a16:creationId xmlns:a16="http://schemas.microsoft.com/office/drawing/2014/main" id="{89845608-F0C2-67EC-D03E-3B68C6BD5068}"/>
              </a:ext>
            </a:extLst>
          </p:cNvPr>
          <p:cNvGraphicFramePr>
            <a:graphicFrameLocks noGrp="1"/>
          </p:cNvGraphicFramePr>
          <p:nvPr>
            <p:extLst>
              <p:ext uri="{D42A27DB-BD31-4B8C-83A1-F6EECF244321}">
                <p14:modId xmlns:p14="http://schemas.microsoft.com/office/powerpoint/2010/main" val="3163375250"/>
              </p:ext>
            </p:extLst>
          </p:nvPr>
        </p:nvGraphicFramePr>
        <p:xfrm>
          <a:off x="379976" y="3258501"/>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20000"/>
                    </a:ext>
                  </a:extLst>
                </a:gridCol>
                <a:gridCol w="2344812">
                  <a:extLst>
                    <a:ext uri="{9D8B030D-6E8A-4147-A177-3AD203B41FA5}">
                      <a16:colId xmlns:a16="http://schemas.microsoft.com/office/drawing/2014/main" val="20001"/>
                    </a:ext>
                  </a:extLst>
                </a:gridCol>
                <a:gridCol w="2344812">
                  <a:extLst>
                    <a:ext uri="{9D8B030D-6E8A-4147-A177-3AD203B41FA5}">
                      <a16:colId xmlns:a16="http://schemas.microsoft.com/office/drawing/2014/main" val="20002"/>
                    </a:ext>
                  </a:extLst>
                </a:gridCol>
                <a:gridCol w="2344812">
                  <a:extLst>
                    <a:ext uri="{9D8B030D-6E8A-4147-A177-3AD203B41FA5}">
                      <a16:colId xmlns:a16="http://schemas.microsoft.com/office/drawing/2014/main" val="20003"/>
                    </a:ext>
                  </a:extLst>
                </a:gridCol>
              </a:tblGrid>
              <a:tr h="300109">
                <a:tc>
                  <a:txBody>
                    <a:bodyPr/>
                    <a:lstStyle/>
                    <a:p>
                      <a:pPr algn="ctr"/>
                      <a:r>
                        <a:rPr sz="900" b="1" dirty="0" err="1">
                          <a:solidFill>
                            <a:srgbClr val="FFFFFF"/>
                          </a:solidFill>
                          <a:latin typeface="メイリオ"/>
                          <a:ea typeface="メイリオ"/>
                          <a:cs typeface="メイリオ"/>
                        </a:rPr>
                        <a:t>フェーズ</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err="1">
                          <a:solidFill>
                            <a:srgbClr val="FFFFFF"/>
                          </a:solidFill>
                          <a:latin typeface="メイリオ"/>
                          <a:ea typeface="メイリオ"/>
                          <a:cs typeface="メイリオ"/>
                        </a:rPr>
                        <a:t>ユーザー状態・心理</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err="1">
                          <a:solidFill>
                            <a:srgbClr val="FFFFFF"/>
                          </a:solidFill>
                          <a:latin typeface="メイリオ"/>
                          <a:ea typeface="メイリオ"/>
                          <a:cs typeface="メイリオ"/>
                        </a:rPr>
                        <a:t>離脱・停滞の課題</a:t>
                      </a:r>
                      <a:endParaRPr sz="900" b="1" dirty="0">
                        <a:solidFill>
                          <a:srgbClr val="FFFFFF"/>
                        </a:solidFill>
                        <a:latin typeface="メイリオ"/>
                        <a:ea typeface="メイリオ"/>
                        <a:cs typeface="メイリオ"/>
                      </a:endParaRPr>
                    </a:p>
                  </a:txBody>
                  <a:tcPr marT="37785" marB="37785">
                    <a:solidFill>
                      <a:srgbClr val="1F2A5C"/>
                    </a:solidFill>
                  </a:tcPr>
                </a:tc>
                <a:tc>
                  <a:txBody>
                    <a:bodyPr/>
                    <a:lstStyle/>
                    <a:p>
                      <a:pPr algn="ctr"/>
                      <a:r>
                        <a:rPr sz="900" b="1" dirty="0">
                          <a:solidFill>
                            <a:srgbClr val="FFFFFF"/>
                          </a:solidFill>
                          <a:latin typeface="メイリオ"/>
                          <a:ea typeface="メイリオ"/>
                          <a:cs typeface="メイリオ"/>
                        </a:rPr>
                        <a:t>LINE </a:t>
                      </a:r>
                      <a:r>
                        <a:rPr sz="900" b="1" dirty="0" err="1">
                          <a:solidFill>
                            <a:srgbClr val="FFFFFF"/>
                          </a:solidFill>
                          <a:latin typeface="メイリオ"/>
                          <a:ea typeface="メイリオ"/>
                          <a:cs typeface="メイリオ"/>
                        </a:rPr>
                        <a:t>OAの役割・施策</a:t>
                      </a:r>
                      <a:endParaRPr sz="900" b="1" dirty="0">
                        <a:solidFill>
                          <a:srgbClr val="FFFFFF"/>
                        </a:solidFill>
                        <a:latin typeface="メイリオ"/>
                        <a:ea typeface="メイリオ"/>
                        <a:cs typeface="メイリオ"/>
                      </a:endParaRPr>
                    </a:p>
                  </a:txBody>
                  <a:tcPr marT="37785" marB="37785">
                    <a:solidFill>
                      <a:srgbClr val="1F2A5C"/>
                    </a:solidFill>
                  </a:tcPr>
                </a:tc>
                <a:extLst>
                  <a:ext uri="{0D108BD9-81ED-4DB2-BD59-A6C34878D82A}">
                    <a16:rowId xmlns:a16="http://schemas.microsoft.com/office/drawing/2014/main" val="10000"/>
                  </a:ext>
                </a:extLst>
              </a:tr>
              <a:tr h="300109">
                <a:tc>
                  <a:txBody>
                    <a:bodyPr/>
                    <a:lstStyle/>
                    <a:p>
                      <a:pPr algn="l"/>
                      <a:r>
                        <a:rPr sz="800" b="1">
                          <a:solidFill>
                            <a:srgbClr val="333333"/>
                          </a:solidFill>
                          <a:latin typeface="メイリオ"/>
                          <a:ea typeface="メイリオ"/>
                          <a:cs typeface="メイリオ"/>
                        </a:rPr>
                        <a:t>①接触</a:t>
                      </a:r>
                    </a:p>
                  </a:txBody>
                  <a:tcPr marT="37785" marB="37785">
                    <a:solidFill>
                      <a:srgbClr val="FFFFFF"/>
                    </a:solidFill>
                  </a:tcPr>
                </a:tc>
                <a:tc>
                  <a:txBody>
                    <a:bodyPr/>
                    <a:lstStyle/>
                    <a:p>
                      <a:pPr algn="ctr"/>
                      <a:r>
                        <a:rPr sz="800" b="0" dirty="0" err="1">
                          <a:solidFill>
                            <a:srgbClr val="333333"/>
                          </a:solidFill>
                          <a:latin typeface="メイリオ"/>
                          <a:ea typeface="メイリオ"/>
                          <a:cs typeface="メイリオ"/>
                        </a:rPr>
                        <a:t>献立・料理のヒントを探している</a:t>
                      </a:r>
                      <a:endParaRPr sz="8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800" b="0">
                          <a:solidFill>
                            <a:srgbClr val="333333"/>
                          </a:solidFill>
                          <a:latin typeface="メイリオ"/>
                          <a:ea typeface="メイリオ"/>
                          <a:cs typeface="メイリオ"/>
                        </a:rPr>
                        <a:t>1回読んで終わり、再訪のきっかけがない</a:t>
                      </a:r>
                    </a:p>
                  </a:txBody>
                  <a:tcPr marT="37785" marB="37785">
                    <a:solidFill>
                      <a:srgbClr val="FFFFFF"/>
                    </a:solidFill>
                  </a:tcPr>
                </a:tc>
                <a:tc>
                  <a:txBody>
                    <a:bodyPr/>
                    <a:lstStyle/>
                    <a:p>
                      <a:pPr algn="ctr"/>
                      <a:r>
                        <a:rPr sz="800" b="0">
                          <a:solidFill>
                            <a:srgbClr val="333333"/>
                          </a:solidFill>
                          <a:latin typeface="メイリオ"/>
                          <a:ea typeface="メイリオ"/>
                          <a:cs typeface="メイリオ"/>
                        </a:rPr>
                        <a:t>コラム閲覧時のポップアップで「新着レシピをLINEで受け取る」</a:t>
                      </a:r>
                    </a:p>
                  </a:txBody>
                  <a:tcPr marT="37785" marB="37785">
                    <a:solidFill>
                      <a:srgbClr val="FFFFFF"/>
                    </a:solidFill>
                  </a:tcPr>
                </a:tc>
                <a:extLst>
                  <a:ext uri="{0D108BD9-81ED-4DB2-BD59-A6C34878D82A}">
                    <a16:rowId xmlns:a16="http://schemas.microsoft.com/office/drawing/2014/main" val="10001"/>
                  </a:ext>
                </a:extLst>
              </a:tr>
              <a:tr h="300109">
                <a:tc>
                  <a:txBody>
                    <a:bodyPr/>
                    <a:lstStyle/>
                    <a:p>
                      <a:pPr algn="l"/>
                      <a:r>
                        <a:rPr sz="800" b="1" dirty="0">
                          <a:solidFill>
                            <a:srgbClr val="333333"/>
                          </a:solidFill>
                          <a:latin typeface="メイリオ"/>
                          <a:ea typeface="メイリオ"/>
                          <a:cs typeface="メイリオ"/>
                        </a:rPr>
                        <a:t>②サイト離脱</a:t>
                      </a:r>
                      <a:r>
                        <a:rPr sz="800" b="1" dirty="0" err="1">
                          <a:solidFill>
                            <a:srgbClr val="333333"/>
                          </a:solidFill>
                          <a:latin typeface="メイリオ"/>
                          <a:ea typeface="メイリオ"/>
                          <a:cs typeface="メイリオ"/>
                        </a:rPr>
                        <a:t/>
                      </a:r>
                      <a:endParaRPr sz="8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800" b="0">
                          <a:solidFill>
                            <a:srgbClr val="333333"/>
                          </a:solidFill>
                          <a:latin typeface="メイリオ"/>
                          <a:ea typeface="メイリオ"/>
                          <a:cs typeface="メイリオ"/>
                        </a:rPr>
                        <a:t>会員登録まではしない</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メールアドレスの入力が面倒で離脱</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ワンタップのLINE追加を、会員登録の代わりの入口に</a:t>
                      </a:r>
                    </a:p>
                  </a:txBody>
                  <a:tcPr marT="37785" marB="37785">
                    <a:solidFill>
                      <a:srgbClr val="F5F7FA"/>
                    </a:solidFill>
                  </a:tcPr>
                </a:tc>
                <a:extLst>
                  <a:ext uri="{0D108BD9-81ED-4DB2-BD59-A6C34878D82A}">
                    <a16:rowId xmlns:a16="http://schemas.microsoft.com/office/drawing/2014/main" val="10002"/>
                  </a:ext>
                </a:extLst>
              </a:tr>
              <a:tr h="300109">
                <a:tc>
                  <a:txBody>
                    <a:bodyPr/>
                    <a:lstStyle/>
                    <a:p>
                      <a:pPr algn="l"/>
                      <a:r>
                        <a:rPr sz="800" b="1" dirty="0">
                          <a:solidFill>
                            <a:srgbClr val="333333"/>
                          </a:solidFill>
                          <a:latin typeface="メイリオ"/>
                          <a:ea typeface="メイリオ"/>
                          <a:cs typeface="メイリオ"/>
                        </a:rPr>
                        <a:t>③育成</a:t>
                      </a:r>
                      <a:r>
                        <a:rPr sz="800" b="1" dirty="0" err="1">
                          <a:solidFill>
                            <a:srgbClr val="333333"/>
                          </a:solidFill>
                          <a:latin typeface="メイリオ"/>
                          <a:ea typeface="メイリオ"/>
                          <a:cs typeface="メイリオ"/>
                        </a:rPr>
                        <a:t/>
                      </a:r>
                      <a:endParaRPr sz="8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800" b="0">
                          <a:solidFill>
                            <a:srgbClr val="333333"/>
                          </a:solidFill>
                          <a:latin typeface="メイリオ"/>
                          <a:ea typeface="メイリオ"/>
                          <a:cs typeface="メイリオ"/>
                        </a:rPr>
                        <a:t>気になる企画・商品はある</a:t>
                      </a:r>
                    </a:p>
                  </a:txBody>
                  <a:tcPr marT="37785" marB="37785">
                    <a:solidFill>
                      <a:srgbClr val="FFFFFF"/>
                    </a:solidFill>
                  </a:tcPr>
                </a:tc>
                <a:tc>
                  <a:txBody>
                    <a:bodyPr/>
                    <a:lstStyle/>
                    <a:p>
                      <a:pPr algn="ctr"/>
                      <a:r>
                        <a:rPr sz="800" b="0">
                          <a:solidFill>
                            <a:srgbClr val="333333"/>
                          </a:solidFill>
                          <a:latin typeface="メイリオ"/>
                          <a:ea typeface="メイリオ"/>
                          <a:cs typeface="メイリオ"/>
                        </a:rPr>
                        <a:t>メルマガが開かれず、届かない</a:t>
                      </a:r>
                    </a:p>
                  </a:txBody>
                  <a:tcPr marT="37785" marB="37785">
                    <a:solidFill>
                      <a:srgbClr val="FFFFFF"/>
                    </a:solidFill>
                  </a:tcPr>
                </a:tc>
                <a:tc>
                  <a:txBody>
                    <a:bodyPr/>
                    <a:lstStyle/>
                    <a:p>
                      <a:pPr algn="ctr"/>
                      <a:r>
                        <a:rPr sz="800" b="0" dirty="0" err="1">
                          <a:solidFill>
                            <a:srgbClr val="333333"/>
                          </a:solidFill>
                          <a:latin typeface="メイリオ"/>
                          <a:ea typeface="メイリオ"/>
                          <a:cs typeface="メイリオ"/>
                        </a:rPr>
                        <a:t>コンテンツ更新通知（月4回）で再訪を促す</a:t>
                      </a:r>
                      <a:endParaRPr sz="8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10003"/>
                  </a:ext>
                </a:extLst>
              </a:tr>
              <a:tr h="300109">
                <a:tc>
                  <a:txBody>
                    <a:bodyPr/>
                    <a:lstStyle/>
                    <a:p>
                      <a:pPr algn="l"/>
                      <a:r>
                        <a:rPr sz="800" b="1" dirty="0">
                          <a:solidFill>
                            <a:srgbClr val="333333"/>
                          </a:solidFill>
                          <a:latin typeface="メイリオ"/>
                          <a:ea typeface="メイリオ"/>
                          <a:cs typeface="メイリオ"/>
                        </a:rPr>
                        <a:t>④リード獲得</a:t>
                      </a:r>
                      <a:r>
                        <a:rPr sz="800" b="1" dirty="0" err="1">
                          <a:solidFill>
                            <a:srgbClr val="333333"/>
                          </a:solidFill>
                          <a:latin typeface="メイリオ"/>
                          <a:ea typeface="メイリオ"/>
                          <a:cs typeface="メイリオ"/>
                        </a:rPr>
                        <a:t/>
                      </a:r>
                      <a:endParaRPr sz="8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800" b="0">
                          <a:solidFill>
                            <a:srgbClr val="333333"/>
                          </a:solidFill>
                          <a:latin typeface="メイリオ"/>
                          <a:ea typeface="メイリオ"/>
                          <a:cs typeface="メイリオ"/>
                        </a:rPr>
                        <a:t>会員登録・イベント応募</a:t>
                      </a:r>
                    </a:p>
                  </a:txBody>
                  <a:tcPr marT="37785" marB="37785">
                    <a:solidFill>
                      <a:srgbClr val="F5F7FA"/>
                    </a:solidFill>
                  </a:tcPr>
                </a:tc>
                <a:tc>
                  <a:txBody>
                    <a:bodyPr/>
                    <a:lstStyle/>
                    <a:p>
                      <a:pPr algn="ctr"/>
                      <a:r>
                        <a:rPr sz="800" b="0">
                          <a:solidFill>
                            <a:srgbClr val="333333"/>
                          </a:solidFill>
                          <a:latin typeface="メイリオ"/>
                          <a:ea typeface="メイリオ"/>
                          <a:cs typeface="メイリオ"/>
                        </a:rPr>
                        <a:t>登録直後の熱量が続かない</a:t>
                      </a:r>
                    </a:p>
                  </a:txBody>
                  <a:tcPr marT="37785" marB="37785">
                    <a:solidFill>
                      <a:srgbClr val="F5F7FA"/>
                    </a:solidFill>
                  </a:tcPr>
                </a:tc>
                <a:tc>
                  <a:txBody>
                    <a:bodyPr/>
                    <a:lstStyle/>
                    <a:p>
                      <a:pPr algn="ctr"/>
                      <a:r>
                        <a:rPr sz="800" b="0" dirty="0">
                          <a:solidFill>
                            <a:srgbClr val="333333"/>
                          </a:solidFill>
                          <a:latin typeface="メイリオ"/>
                          <a:ea typeface="メイリオ"/>
                          <a:cs typeface="メイリオ"/>
                        </a:rPr>
                        <a:t>サンクスLINE誘導で、登録直後に友だち化</a:t>
                      </a:r>
                    </a:p>
                  </a:txBody>
                  <a:tcPr marT="37785" marB="37785">
                    <a:solidFill>
                      <a:srgbClr val="F5F7FA"/>
                    </a:solidFill>
                  </a:tcPr>
                </a:tc>
                <a:extLst>
                  <a:ext uri="{0D108BD9-81ED-4DB2-BD59-A6C34878D82A}">
                    <a16:rowId xmlns:a16="http://schemas.microsoft.com/office/drawing/2014/main" val="10004"/>
                  </a:ext>
                </a:extLst>
              </a:tr>
            </a:tbl>
          </a:graphicData>
        </a:graphic>
      </p:graphicFrame>
      <p:graphicFrame>
        <p:nvGraphicFramePr>
          <p:cNvPr id="20" name="表 19">
            <a:extLst>
              <a:ext uri="{FF2B5EF4-FFF2-40B4-BE49-F238E27FC236}">
                <a16:creationId xmlns:a16="http://schemas.microsoft.com/office/drawing/2014/main" id="{F99FC55E-F86A-8534-0A69-D3D3F64ACAC5}"/>
              </a:ext>
            </a:extLst>
          </p:cNvPr>
          <p:cNvGraphicFramePr>
            <a:graphicFrameLocks noGrp="1"/>
          </p:cNvGraphicFramePr>
          <p:nvPr>
            <p:extLst>
              <p:ext uri="{D42A27DB-BD31-4B8C-83A1-F6EECF244321}">
                <p14:modId xmlns:p14="http://schemas.microsoft.com/office/powerpoint/2010/main" val="176684519"/>
              </p:ext>
            </p:extLst>
          </p:nvPr>
        </p:nvGraphicFramePr>
        <p:xfrm>
          <a:off x="379976" y="4831768"/>
          <a:ext cx="9379248" cy="1500545"/>
        </p:xfrm>
        <a:graphic>
          <a:graphicData uri="http://schemas.openxmlformats.org/drawingml/2006/table">
            <a:tbl>
              <a:tblPr firstRow="1" bandRow="1">
                <a:tableStyleId>{5C22544A-7EE6-4342-B048-85BDC9FD1C3A}</a:tableStyleId>
              </a:tblPr>
              <a:tblGrid>
                <a:gridCol w="2344812">
                  <a:extLst>
                    <a:ext uri="{9D8B030D-6E8A-4147-A177-3AD203B41FA5}">
                      <a16:colId xmlns:a16="http://schemas.microsoft.com/office/drawing/2014/main" val="628559368"/>
                    </a:ext>
                  </a:extLst>
                </a:gridCol>
                <a:gridCol w="2344812">
                  <a:extLst>
                    <a:ext uri="{9D8B030D-6E8A-4147-A177-3AD203B41FA5}">
                      <a16:colId xmlns:a16="http://schemas.microsoft.com/office/drawing/2014/main" val="912500275"/>
                    </a:ext>
                  </a:extLst>
                </a:gridCol>
                <a:gridCol w="2344812">
                  <a:extLst>
                    <a:ext uri="{9D8B030D-6E8A-4147-A177-3AD203B41FA5}">
                      <a16:colId xmlns:a16="http://schemas.microsoft.com/office/drawing/2014/main" val="1953274320"/>
                    </a:ext>
                  </a:extLst>
                </a:gridCol>
                <a:gridCol w="2344812">
                  <a:extLst>
                    <a:ext uri="{9D8B030D-6E8A-4147-A177-3AD203B41FA5}">
                      <a16:colId xmlns:a16="http://schemas.microsoft.com/office/drawing/2014/main" val="2467207296"/>
                    </a:ext>
                  </a:extLst>
                </a:gridCol>
              </a:tblGrid>
              <a:tr h="300109">
                <a:tc>
                  <a:txBody>
                    <a:bodyPr/>
                    <a:lstStyle/>
                    <a:p>
                      <a:pPr algn="ctr"/>
                      <a:r>
                        <a:rPr sz="1000" b="1" dirty="0" err="1">
                          <a:solidFill>
                            <a:srgbClr val="FFFFFF"/>
                          </a:solidFill>
                          <a:latin typeface="メイリオ"/>
                          <a:ea typeface="メイリオ"/>
                          <a:cs typeface="メイリオ"/>
                        </a:rPr>
                        <a:t>フェーズ</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err="1">
                          <a:solidFill>
                            <a:srgbClr val="FFFFFF"/>
                          </a:solidFill>
                          <a:latin typeface="メイリオ"/>
                          <a:ea typeface="メイリオ"/>
                          <a:cs typeface="メイリオ"/>
                        </a:rPr>
                        <a:t>ユーザー状態・心理</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err="1">
                          <a:solidFill>
                            <a:srgbClr val="FFFFFF"/>
                          </a:solidFill>
                          <a:latin typeface="メイリオ"/>
                          <a:ea typeface="メイリオ"/>
                          <a:cs typeface="メイリオ"/>
                        </a:rPr>
                        <a:t>離脱・停滞の課題</a:t>
                      </a:r>
                      <a:endParaRPr sz="1000" b="1" dirty="0">
                        <a:solidFill>
                          <a:srgbClr val="FFFFFF"/>
                        </a:solidFill>
                        <a:latin typeface="メイリオ"/>
                        <a:ea typeface="メイリオ"/>
                        <a:cs typeface="メイリオ"/>
                      </a:endParaRPr>
                    </a:p>
                  </a:txBody>
                  <a:tcPr marT="37785" marB="37785">
                    <a:solidFill>
                      <a:srgbClr val="173559"/>
                    </a:solidFill>
                  </a:tcPr>
                </a:tc>
                <a:tc>
                  <a:txBody>
                    <a:bodyPr/>
                    <a:lstStyle/>
                    <a:p>
                      <a:pPr algn="ctr"/>
                      <a:r>
                        <a:rPr sz="1000" b="1" dirty="0">
                          <a:solidFill>
                            <a:srgbClr val="FFFFFF"/>
                          </a:solidFill>
                          <a:latin typeface="メイリオ"/>
                          <a:ea typeface="メイリオ"/>
                          <a:cs typeface="メイリオ"/>
                        </a:rPr>
                        <a:t>LINE </a:t>
                      </a:r>
                      <a:r>
                        <a:rPr sz="1000" b="1" dirty="0" err="1">
                          <a:solidFill>
                            <a:srgbClr val="FFFFFF"/>
                          </a:solidFill>
                          <a:latin typeface="メイリオ"/>
                          <a:ea typeface="メイリオ"/>
                          <a:cs typeface="メイリオ"/>
                        </a:rPr>
                        <a:t>OAの役割・施策</a:t>
                      </a:r>
                      <a:endParaRPr sz="1000" b="1" dirty="0">
                        <a:solidFill>
                          <a:srgbClr val="FFFFFF"/>
                        </a:solidFill>
                        <a:latin typeface="メイリオ"/>
                        <a:ea typeface="メイリオ"/>
                        <a:cs typeface="メイリオ"/>
                      </a:endParaRPr>
                    </a:p>
                  </a:txBody>
                  <a:tcPr marT="37785" marB="37785">
                    <a:solidFill>
                      <a:srgbClr val="173559"/>
                    </a:solidFill>
                  </a:tcPr>
                </a:tc>
                <a:extLst>
                  <a:ext uri="{0D108BD9-81ED-4DB2-BD59-A6C34878D82A}">
                    <a16:rowId xmlns:a16="http://schemas.microsoft.com/office/drawing/2014/main" val="2874929456"/>
                  </a:ext>
                </a:extLst>
              </a:tr>
              <a:tr h="300109">
                <a:tc>
                  <a:txBody>
                    <a:bodyPr/>
                    <a:lstStyle/>
                    <a:p>
                      <a:pPr algn="l"/>
                      <a:r>
                        <a:rPr sz="900" b="1" dirty="0">
                          <a:solidFill>
                            <a:srgbClr val="333333"/>
                          </a:solidFill>
                          <a:latin typeface="メイリオ"/>
                          <a:ea typeface="メイリオ"/>
                          <a:cs typeface="メイリオ"/>
                        </a:rPr>
                        <a:t>⑤リード有効化</a:t>
                      </a:r>
                      <a:r>
                        <a:rPr sz="900" b="1" dirty="0" err="1">
                          <a:solidFill>
                            <a:srgbClr val="333333"/>
                          </a:solidFill>
                          <a:latin typeface="メイリオ"/>
                          <a:ea typeface="メイリオ"/>
                          <a:cs typeface="メイリオ"/>
                        </a:rPr>
                        <a:t/>
                      </a:r>
                      <a:endParaRPr sz="9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好みや家族構成が分からない</a:t>
                      </a:r>
                      <a:endParaRPr sz="9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a:solidFill>
                            <a:srgbClr val="333333"/>
                          </a:solidFill>
                          <a:latin typeface="メイリオ"/>
                          <a:ea typeface="メイリオ"/>
                          <a:cs typeface="メイリオ"/>
                        </a:rPr>
                        <a:t>一斉配信で自分事化されない</a:t>
                      </a: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3問のアンケートで好み・世帯を把握し、出し分け配信</a:t>
                      </a:r>
                      <a:endParaRPr sz="9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1911423498"/>
                  </a:ext>
                </a:extLst>
              </a:tr>
              <a:tr h="300109">
                <a:tc>
                  <a:txBody>
                    <a:bodyPr/>
                    <a:lstStyle/>
                    <a:p>
                      <a:pPr algn="l"/>
                      <a:r>
                        <a:rPr sz="900" b="1" dirty="0">
                          <a:solidFill>
                            <a:srgbClr val="333333"/>
                          </a:solidFill>
                          <a:latin typeface="メイリオ"/>
                          <a:ea typeface="メイリオ"/>
                          <a:cs typeface="メイリオ"/>
                        </a:rPr>
                        <a:t>⑥再育成</a:t>
                      </a:r>
                      <a:r>
                        <a:rPr sz="900" b="1" dirty="0" err="1">
                          <a:solidFill>
                            <a:srgbClr val="333333"/>
                          </a:solidFill>
                          <a:latin typeface="メイリオ"/>
                          <a:ea typeface="メイリオ"/>
                          <a:cs typeface="メイリオ"/>
                        </a:rPr>
                        <a:t/>
                      </a:r>
                      <a:endParaRPr sz="900" b="1"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900" b="0" dirty="0" err="1">
                          <a:solidFill>
                            <a:srgbClr val="333333"/>
                          </a:solidFill>
                          <a:latin typeface="メイリオ"/>
                          <a:ea typeface="メイリオ"/>
                          <a:cs typeface="メイリオ"/>
                        </a:rPr>
                        <a:t>登録後に休眠化</a:t>
                      </a:r>
                      <a:endParaRPr sz="900" b="0" dirty="0">
                        <a:solidFill>
                          <a:srgbClr val="333333"/>
                        </a:solidFill>
                        <a:latin typeface="メイリオ"/>
                        <a:ea typeface="メイリオ"/>
                        <a:cs typeface="メイリオ"/>
                      </a:endParaRPr>
                    </a:p>
                  </a:txBody>
                  <a:tcPr marT="37785" marB="37785">
                    <a:solidFill>
                      <a:srgbClr val="F5F7FA"/>
                    </a:solidFill>
                  </a:tcPr>
                </a:tc>
                <a:tc>
                  <a:txBody>
                    <a:bodyPr/>
                    <a:lstStyle/>
                    <a:p>
                      <a:pPr algn="ctr"/>
                      <a:r>
                        <a:rPr sz="900" b="0">
                          <a:solidFill>
                            <a:srgbClr val="333333"/>
                          </a:solidFill>
                          <a:latin typeface="メイリオ"/>
                          <a:ea typeface="メイリオ"/>
                          <a:cs typeface="メイリオ"/>
                        </a:rPr>
                        <a:t>キャンペーン後に再訪のきっかけがない</a:t>
                      </a:r>
                    </a:p>
                  </a:txBody>
                  <a:tcPr marT="37785" marB="37785">
                    <a:solidFill>
                      <a:srgbClr val="F5F7FA"/>
                    </a:solidFill>
                  </a:tcPr>
                </a:tc>
                <a:tc>
                  <a:txBody>
                    <a:bodyPr/>
                    <a:lstStyle/>
                    <a:p>
                      <a:pPr algn="ctr"/>
                      <a:r>
                        <a:rPr sz="900" b="0" dirty="0">
                          <a:solidFill>
                            <a:srgbClr val="333333"/>
                          </a:solidFill>
                          <a:latin typeface="メイリオ"/>
                          <a:ea typeface="メイリオ"/>
                          <a:cs typeface="メイリオ"/>
                        </a:rPr>
                        <a:t>総選挙の結果発表・季節の企画配信で呼び戻す</a:t>
                      </a:r>
                      <a:r>
                        <a:rPr sz="700" b="0" dirty="0">
                          <a:solidFill>
                            <a:srgbClr val="333333"/>
                          </a:solidFill>
                          <a:latin typeface="メイリオ"/>
                          <a:ea typeface="メイリオ"/>
                          <a:cs typeface="メイリオ"/>
                        </a:rPr>
                        <a:t/>
                      </a:r>
                      <a:endParaRPr sz="900" b="0" dirty="0">
                        <a:solidFill>
                          <a:srgbClr val="333333"/>
                        </a:solidFill>
                        <a:latin typeface="メイリオ"/>
                        <a:ea typeface="メイリオ"/>
                        <a:cs typeface="メイリオ"/>
                      </a:endParaRPr>
                    </a:p>
                  </a:txBody>
                  <a:tcPr marT="37785" marB="37785">
                    <a:solidFill>
                      <a:srgbClr val="F5F7FA"/>
                    </a:solidFill>
                  </a:tcPr>
                </a:tc>
                <a:extLst>
                  <a:ext uri="{0D108BD9-81ED-4DB2-BD59-A6C34878D82A}">
                    <a16:rowId xmlns:a16="http://schemas.microsoft.com/office/drawing/2014/main" val="2419379682"/>
                  </a:ext>
                </a:extLst>
              </a:tr>
              <a:tr h="300109">
                <a:tc>
                  <a:txBody>
                    <a:bodyPr/>
                    <a:lstStyle/>
                    <a:p>
                      <a:pPr algn="l"/>
                      <a:r>
                        <a:rPr sz="900" b="1" dirty="0">
                          <a:solidFill>
                            <a:srgbClr val="333333"/>
                          </a:solidFill>
                          <a:latin typeface="メイリオ"/>
                          <a:ea typeface="メイリオ"/>
                          <a:cs typeface="メイリオ"/>
                        </a:rPr>
                        <a:t>⑦マネタイズ</a:t>
                      </a:r>
                      <a:r>
                        <a:rPr sz="900" b="1" dirty="0" err="1">
                          <a:solidFill>
                            <a:srgbClr val="333333"/>
                          </a:solidFill>
                          <a:latin typeface="メイリオ"/>
                          <a:ea typeface="メイリオ"/>
                          <a:cs typeface="メイリオ"/>
                        </a:rPr>
                        <a:t/>
                      </a:r>
                      <a:endParaRPr sz="900" b="1"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a:solidFill>
                            <a:srgbClr val="333333"/>
                          </a:solidFill>
                          <a:latin typeface="メイリオ"/>
                          <a:ea typeface="メイリオ"/>
                          <a:cs typeface="メイリオ"/>
                        </a:rPr>
                        <a:t>商品を買うきっかけが少ない</a:t>
                      </a: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サイトの閲覧が店頭の購買につながらない</a:t>
                      </a:r>
                      <a:endParaRPr sz="900" b="0" dirty="0">
                        <a:solidFill>
                          <a:srgbClr val="333333"/>
                        </a:solidFill>
                        <a:latin typeface="メイリオ"/>
                        <a:ea typeface="メイリオ"/>
                        <a:cs typeface="メイリオ"/>
                      </a:endParaRPr>
                    </a:p>
                  </a:txBody>
                  <a:tcPr marT="37785" marB="37785">
                    <a:solidFill>
                      <a:srgbClr val="FFFFFF"/>
                    </a:solidFill>
                  </a:tcPr>
                </a:tc>
                <a:tc>
                  <a:txBody>
                    <a:bodyPr/>
                    <a:lstStyle/>
                    <a:p>
                      <a:pPr algn="ctr"/>
                      <a:r>
                        <a:rPr sz="900" b="0" dirty="0" err="1">
                          <a:solidFill>
                            <a:srgbClr val="333333"/>
                          </a:solidFill>
                          <a:latin typeface="メイリオ"/>
                          <a:ea typeface="メイリオ"/>
                          <a:cs typeface="メイリオ"/>
                        </a:rPr>
                        <a:t>対象商品のレシピ提案・クーポン・マストバイキャンペーン</a:t>
                      </a:r>
                      <a:r>
                        <a:rPr sz="900" b="0" dirty="0">
                          <a:solidFill>
                            <a:srgbClr val="333333"/>
                          </a:solidFill>
                          <a:latin typeface="メイリオ"/>
                          <a:ea typeface="メイリオ"/>
                          <a:cs typeface="メイリオ"/>
                        </a:rPr>
                        <a:t/>
                      </a:r>
                      <a:r>
                        <a:rPr sz="700" b="0" dirty="0">
                          <a:solidFill>
                            <a:srgbClr val="333333"/>
                          </a:solidFill>
                          <a:latin typeface="メイリオ"/>
                          <a:ea typeface="メイリオ"/>
                          <a:cs typeface="メイリオ"/>
                        </a:rPr>
                        <a:t/>
                      </a:r>
                      <a:r>
                        <a:rPr sz="700" b="0" dirty="0" err="1">
                          <a:solidFill>
                            <a:srgbClr val="333333"/>
                          </a:solidFill>
                          <a:latin typeface="メイリオ"/>
                          <a:ea typeface="メイリオ"/>
                          <a:cs typeface="メイリオ"/>
                        </a:rPr>
                        <a:t/>
                      </a:r>
                      <a:r>
                        <a:rPr sz="700" b="0" dirty="0">
                          <a:solidFill>
                            <a:srgbClr val="333333"/>
                          </a:solidFill>
                          <a:latin typeface="メイリオ"/>
                          <a:ea typeface="メイリオ"/>
                          <a:cs typeface="メイリオ"/>
                        </a:rPr>
                        <a:t/>
                      </a:r>
                      <a:endParaRPr sz="900" b="0" dirty="0">
                        <a:solidFill>
                          <a:srgbClr val="333333"/>
                        </a:solidFill>
                        <a:latin typeface="メイリオ"/>
                        <a:ea typeface="メイリオ"/>
                        <a:cs typeface="メイリオ"/>
                      </a:endParaRPr>
                    </a:p>
                  </a:txBody>
                  <a:tcPr marT="37785" marB="37785">
                    <a:solidFill>
                      <a:srgbClr val="FFFFFF"/>
                    </a:solidFill>
                  </a:tcPr>
                </a:tc>
                <a:extLst>
                  <a:ext uri="{0D108BD9-81ED-4DB2-BD59-A6C34878D82A}">
                    <a16:rowId xmlns:a16="http://schemas.microsoft.com/office/drawing/2014/main" val="250688175"/>
                  </a:ext>
                </a:extLst>
              </a:tr>
              <a:tr h="300109">
                <a:tc>
                  <a:txBody>
                    <a:bodyPr/>
                    <a:lstStyle/>
                    <a:p>
                      <a:pPr algn="l"/>
                      <a:r>
                        <a:rPr sz="900" b="0" dirty="0">
                          <a:solidFill>
                            <a:srgbClr val="333333"/>
                          </a:solidFill>
                          <a:latin typeface="メイリオ"/>
                          <a:ea typeface="メイリオ"/>
                          <a:cs typeface="メイリオ"/>
                        </a:rPr>
                        <a:t>⑧ファン化/紹介</a:t>
                      </a:r>
                      <a:r>
                        <a:rPr sz="900" b="0" dirty="0" err="1">
                          <a:solidFill>
                            <a:srgbClr val="333333"/>
                          </a:solidFill>
                          <a:latin typeface="メイリオ"/>
                          <a:ea typeface="メイリオ"/>
                          <a:cs typeface="メイリオ"/>
                        </a:rPr>
                        <a:t/>
                      </a:r>
                      <a:r>
                        <a:rPr sz="900" b="0" dirty="0">
                          <a:solidFill>
                            <a:srgbClr val="333333"/>
                          </a:solidFill>
                          <a:latin typeface="メイリオ"/>
                          <a:ea typeface="メイリオ"/>
                          <a:cs typeface="メイリオ"/>
                        </a:rPr>
                        <a:t/>
                      </a:r>
                      <a:r>
                        <a:rPr sz="900" b="0" dirty="0" err="1">
                          <a:solidFill>
                            <a:srgbClr val="333333"/>
                          </a:solidFill>
                          <a:latin typeface="メイリオ"/>
                          <a:ea typeface="メイリオ"/>
                          <a:cs typeface="メイリオ"/>
                        </a:rPr>
                        <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ea typeface="メイリオ"/>
                          <a:cs typeface="メイリオ"/>
                        </a:rPr>
                        <a:t>好きな商品・企画が定着</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sz="900" b="0" dirty="0" err="1">
                          <a:solidFill>
                            <a:srgbClr val="333333"/>
                          </a:solidFill>
                          <a:latin typeface="メイリオ"/>
                          <a:ea typeface="メイリオ"/>
                          <a:cs typeface="メイリオ"/>
                        </a:rPr>
                        <a:t>参加が一部の会員に限られる</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tc>
                  <a:txBody>
                    <a:bodyPr/>
                    <a:lstStyle/>
                    <a:p>
                      <a:pPr algn="ctr"/>
                      <a:r>
                        <a:rPr lang="ja-JP" altLang="en-US" sz="900" b="0" dirty="0">
                          <a:solidFill>
                            <a:srgbClr val="333333"/>
                          </a:solidFill>
                          <a:latin typeface="メイリオ"/>
                          <a:ea typeface="メイリオ"/>
                          <a:cs typeface="メイリオ"/>
                        </a:rPr>
                        <a:t>投稿・投票企画への参加、口コミ・シェアの依頼</a:t>
                      </a:r>
                      <a:endParaRPr sz="900" b="0" dirty="0">
                        <a:solidFill>
                          <a:srgbClr val="333333"/>
                        </a:solidFill>
                        <a:latin typeface="メイリオ"/>
                        <a:ea typeface="メイリオ"/>
                        <a:cs typeface="メイリオ"/>
                      </a:endParaRPr>
                    </a:p>
                  </a:txBody>
                  <a:tcPr marT="37785" marB="37785">
                    <a:solidFill>
                      <a:schemeClr val="bg1">
                        <a:lumMod val="75000"/>
                      </a:schemeClr>
                    </a:solidFill>
                  </a:tcPr>
                </a:tc>
                <a:extLst>
                  <a:ext uri="{0D108BD9-81ED-4DB2-BD59-A6C34878D82A}">
                    <a16:rowId xmlns:a16="http://schemas.microsoft.com/office/drawing/2014/main" val="1510260062"/>
                  </a:ext>
                </a:extLst>
              </a:tr>
            </a:tbl>
          </a:graphicData>
        </a:graphic>
      </p:graphicFrame>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a:ea typeface="メイリオ"/>
                <a:cs typeface="メイリオ"/>
              </a:rPr>
              <a:t>8</a:t>
            </a:r>
            <a:r>
              <a:rPr lang="ja-JP" altLang="en-US" sz="1400" dirty="0">
                <a:effectLst/>
                <a:latin typeface="メイリオ"/>
                <a:ea typeface="メイリオ"/>
                <a:cs typeface="メイリオ"/>
              </a:rPr>
              <a:t>フェーズごとのユーザー心理・離脱課題・</a:t>
            </a:r>
            <a:r>
              <a:rPr lang="en-US" altLang="ja-JP" sz="1400" dirty="0">
                <a:effectLst/>
                <a:latin typeface="メイリオ"/>
                <a:ea typeface="メイリオ"/>
                <a:cs typeface="メイリオ"/>
              </a:rPr>
              <a:t>LINE OA</a:t>
            </a:r>
            <a:r>
              <a:rPr lang="ja-JP" altLang="en-US" sz="1400" dirty="0">
                <a:effectLst/>
                <a:latin typeface="メイリオ"/>
                <a:ea typeface="メイリオ"/>
                <a:cs typeface="メイリオ"/>
              </a:rPr>
              <a:t>の役割を一覧化し、以降の施策設計の土台とする。</a:t>
            </a:r>
            <a:endParaRPr lang="ja-JP" altLang="ja-JP" sz="1100" dirty="0">
              <a:effectLst/>
              <a:latin typeface="メイリオ"/>
              <a:ea typeface="メイリオ"/>
              <a:cs typeface="メイリオ"/>
            </a:endParaRPr>
          </a:p>
        </p:txBody>
      </p:sp>
    </p:spTree>
    <p:extLst>
      <p:ext uri="{BB962C8B-B14F-4D97-AF65-F5344CB8AC3E}">
        <p14:creationId xmlns:p14="http://schemas.microsoft.com/office/powerpoint/2010/main" val="3571272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施策の詳細（配信の効率化）</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1128037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2E0E886-3FF7-1177-80B0-EC2CDD9EFAA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sp>
        <p:nvSpPr>
          <p:cNvPr id="26" name="正方形/長方形 25">
            <a:extLst>
              <a:ext uri="{FF2B5EF4-FFF2-40B4-BE49-F238E27FC236}">
                <a16:creationId xmlns:a16="http://schemas.microsoft.com/office/drawing/2014/main" id="{C4E20CB5-EE4A-545E-031C-B0FF76AEE517}"/>
              </a:ext>
            </a:extLst>
          </p:cNvPr>
          <p:cNvSpPr/>
          <p:nvPr/>
        </p:nvSpPr>
        <p:spPr>
          <a:xfrm>
            <a:off x="503966" y="775227"/>
            <a:ext cx="8898070" cy="297590"/>
          </a:xfrm>
          <a:prstGeom prst="rect">
            <a:avLst/>
          </a:prstGeom>
          <a:solidFill>
            <a:schemeClr val="tx2">
              <a:lumMod val="75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a:ea typeface="メイリオ"/>
                <a:cs typeface="メイリオ"/>
              </a:rPr>
              <a:t>プロモーション目的</a:t>
            </a:r>
          </a:p>
        </p:txBody>
      </p:sp>
      <p:sp>
        <p:nvSpPr>
          <p:cNvPr id="27" name="正方形/長方形 26">
            <a:extLst>
              <a:ext uri="{FF2B5EF4-FFF2-40B4-BE49-F238E27FC236}">
                <a16:creationId xmlns:a16="http://schemas.microsoft.com/office/drawing/2014/main" id="{A773DE68-F51A-B2B7-A85F-DDEF158DE1E8}"/>
              </a:ext>
            </a:extLst>
          </p:cNvPr>
          <p:cNvSpPr/>
          <p:nvPr/>
        </p:nvSpPr>
        <p:spPr>
          <a:xfrm>
            <a:off x="503967" y="1090870"/>
            <a:ext cx="8898070" cy="525365"/>
          </a:xfrm>
          <a:prstGeom prst="rect">
            <a:avLst/>
          </a:prstGeom>
          <a:no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b="1" dirty="0">
                <a:solidFill>
                  <a:srgbClr val="FF3300"/>
                </a:solidFill>
                <a:latin typeface="メイリオ"/>
                <a:ea typeface="メイリオ"/>
                <a:cs typeface="メイリオ"/>
              </a:rPr>
              <a:t>SEO</a:t>
            </a:r>
            <a:r>
              <a:rPr lang="ja-JP" altLang="en-US" b="1" dirty="0">
                <a:solidFill>
                  <a:srgbClr val="FF3300"/>
                </a:solidFill>
                <a:latin typeface="メイリオ"/>
                <a:ea typeface="メイリオ"/>
                <a:cs typeface="メイリオ"/>
              </a:rPr>
              <a:t>・</a:t>
            </a:r>
            <a:r>
              <a:rPr lang="en-US" altLang="ja-JP" b="1" dirty="0">
                <a:solidFill>
                  <a:srgbClr val="FF3300"/>
                </a:solidFill>
                <a:latin typeface="メイリオ"/>
                <a:ea typeface="メイリオ"/>
                <a:cs typeface="メイリオ"/>
              </a:rPr>
              <a:t>AIO</a:t>
            </a:r>
            <a:r>
              <a:rPr lang="ja-JP" altLang="en-US" b="1" dirty="0">
                <a:solidFill>
                  <a:srgbClr val="FF3300"/>
                </a:solidFill>
                <a:latin typeface="メイリオ"/>
                <a:ea typeface="メイリオ"/>
                <a:cs typeface="メイリオ"/>
              </a:rPr>
              <a:t>施策に追加して最小コストで</a:t>
            </a:r>
            <a:r>
              <a:rPr lang="en-US" altLang="ja-JP" b="1" dirty="0">
                <a:solidFill>
                  <a:srgbClr val="FF3300"/>
                </a:solidFill>
                <a:latin typeface="メイリオ"/>
                <a:ea typeface="メイリオ"/>
                <a:cs typeface="メイリオ"/>
              </a:rPr>
              <a:t>LINE</a:t>
            </a:r>
            <a:r>
              <a:rPr lang="ja-JP" altLang="en-US" b="1" dirty="0">
                <a:solidFill>
                  <a:srgbClr val="FF3300"/>
                </a:solidFill>
                <a:latin typeface="メイリオ"/>
                <a:ea typeface="メイリオ"/>
                <a:cs typeface="メイリオ"/>
              </a:rPr>
              <a:t>登録数と</a:t>
            </a:r>
            <a:r>
              <a:rPr lang="en-US" altLang="ja-JP" b="1" dirty="0">
                <a:solidFill>
                  <a:srgbClr val="FF3300"/>
                </a:solidFill>
                <a:latin typeface="メイリオ"/>
                <a:ea typeface="メイリオ"/>
                <a:cs typeface="メイリオ"/>
              </a:rPr>
              <a:t>WEB</a:t>
            </a:r>
            <a:r>
              <a:rPr lang="ja-JP" altLang="en-US" b="1" dirty="0">
                <a:solidFill>
                  <a:srgbClr val="FF3300"/>
                </a:solidFill>
                <a:latin typeface="メイリオ"/>
                <a:ea typeface="メイリオ"/>
                <a:cs typeface="メイリオ"/>
              </a:rPr>
              <a:t>サイト</a:t>
            </a:r>
            <a:r>
              <a:rPr lang="en-US" altLang="ja-JP" b="1" dirty="0">
                <a:solidFill>
                  <a:srgbClr val="FF3300"/>
                </a:solidFill>
                <a:latin typeface="メイリオ"/>
                <a:ea typeface="メイリオ"/>
                <a:cs typeface="メイリオ"/>
              </a:rPr>
              <a:t>PV</a:t>
            </a:r>
            <a:r>
              <a:rPr lang="ja-JP" altLang="en-US" b="1" dirty="0">
                <a:solidFill>
                  <a:srgbClr val="FF3300"/>
                </a:solidFill>
                <a:latin typeface="メイリオ"/>
                <a:ea typeface="メイリオ"/>
                <a:cs typeface="メイリオ"/>
              </a:rPr>
              <a:t>を最大化</a:t>
            </a:r>
            <a:endParaRPr lang="en-US" altLang="ja-JP" b="1" dirty="0">
              <a:solidFill>
                <a:srgbClr val="FF3300"/>
              </a:solidFill>
              <a:latin typeface="メイリオ"/>
              <a:ea typeface="メイリオ"/>
              <a:cs typeface="メイリオ"/>
            </a:endParaRPr>
          </a:p>
        </p:txBody>
      </p:sp>
      <p:sp>
        <p:nvSpPr>
          <p:cNvPr id="30" name="正方形/長方形 29">
            <a:extLst>
              <a:ext uri="{FF2B5EF4-FFF2-40B4-BE49-F238E27FC236}">
                <a16:creationId xmlns:a16="http://schemas.microsoft.com/office/drawing/2014/main" id="{FAB8E792-C2AE-2097-2C3E-326F4730D6FF}"/>
              </a:ext>
            </a:extLst>
          </p:cNvPr>
          <p:cNvSpPr/>
          <p:nvPr/>
        </p:nvSpPr>
        <p:spPr>
          <a:xfrm>
            <a:off x="503965" y="3316813"/>
            <a:ext cx="8898070" cy="366112"/>
          </a:xfrm>
          <a:prstGeom prst="rect">
            <a:avLst/>
          </a:prstGeom>
          <a:solidFill>
            <a:schemeClr val="accent1">
              <a:lumMod val="20000"/>
              <a:lumOff val="80000"/>
            </a:schemeClr>
          </a:solidFill>
          <a:ln>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solidFill>
                  <a:schemeClr val="accent1">
                    <a:lumMod val="75000"/>
                  </a:schemeClr>
                </a:solidFill>
                <a:effectLst/>
                <a:latin typeface="メイリオ"/>
                <a:ea typeface="メイリオ"/>
                <a:cs typeface="メイリオ"/>
              </a:rPr>
              <a:t>手法</a:t>
            </a:r>
          </a:p>
        </p:txBody>
      </p:sp>
      <p:sp>
        <p:nvSpPr>
          <p:cNvPr id="32" name="正方形/長方形 31">
            <a:extLst>
              <a:ext uri="{FF2B5EF4-FFF2-40B4-BE49-F238E27FC236}">
                <a16:creationId xmlns:a16="http://schemas.microsoft.com/office/drawing/2014/main" id="{6CB99AAC-0BEA-E7FB-6909-1C7C68EDF323}"/>
              </a:ext>
            </a:extLst>
          </p:cNvPr>
          <p:cNvSpPr/>
          <p:nvPr/>
        </p:nvSpPr>
        <p:spPr>
          <a:xfrm>
            <a:off x="503965" y="3761653"/>
            <a:ext cx="8898070" cy="2704296"/>
          </a:xfrm>
          <a:prstGeom prst="rect">
            <a:avLst/>
          </a:prstGeom>
          <a:no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endParaRPr lang="ja-JP" altLang="en-US" sz="1200" b="1" dirty="0">
              <a:solidFill>
                <a:srgbClr val="FF0000"/>
              </a:solidFill>
              <a:latin typeface="メイリオ"/>
              <a:ea typeface="メイリオ"/>
              <a:cs typeface="メイリオ"/>
            </a:endParaRPr>
          </a:p>
        </p:txBody>
      </p:sp>
      <p:sp>
        <p:nvSpPr>
          <p:cNvPr id="33" name="正方形/長方形 32">
            <a:extLst>
              <a:ext uri="{FF2B5EF4-FFF2-40B4-BE49-F238E27FC236}">
                <a16:creationId xmlns:a16="http://schemas.microsoft.com/office/drawing/2014/main" id="{ADCEEB55-8D79-5D37-18D6-691241A3FC15}"/>
              </a:ext>
            </a:extLst>
          </p:cNvPr>
          <p:cNvSpPr/>
          <p:nvPr/>
        </p:nvSpPr>
        <p:spPr>
          <a:xfrm>
            <a:off x="503965" y="1675570"/>
            <a:ext cx="8898070" cy="386003"/>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tIns="90000"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indent="173038"/>
            <a:r>
              <a:rPr lang="ja-JP" altLang="en-US" b="1" dirty="0">
                <a:effectLst/>
                <a:latin typeface="メイリオ"/>
                <a:ea typeface="メイリオ"/>
                <a:cs typeface="メイリオ"/>
              </a:rPr>
              <a:t>配信目標</a:t>
            </a:r>
          </a:p>
        </p:txBody>
      </p:sp>
      <p:sp>
        <p:nvSpPr>
          <p:cNvPr id="46" name="MainMessage">
            <a:extLst>
              <a:ext uri="{FF2B5EF4-FFF2-40B4-BE49-F238E27FC236}">
                <a16:creationId xmlns:a16="http://schemas.microsoft.com/office/drawing/2014/main" id="{B60D9D01-8FD5-9835-8DEB-82316620ED03}"/>
              </a:ext>
            </a:extLst>
          </p:cNvPr>
          <p:cNvSpPr txBox="1"/>
          <p:nvPr/>
        </p:nvSpPr>
        <p:spPr>
          <a:xfrm>
            <a:off x="503965" y="2120908"/>
            <a:ext cx="8898070" cy="750567"/>
          </a:xfrm>
          <a:prstGeom prst="rect">
            <a:avLst/>
          </a:prstGeom>
          <a:solidFill>
            <a:srgbClr val="F0F2F7"/>
          </a:solidFill>
          <a:ln w="9525">
            <a:solidFill>
              <a:srgbClr val="1F2A5C"/>
            </a:solidFill>
          </a:ln>
        </p:spPr>
        <p:txBody>
          <a:bodyPr wrap="square" lIns="91440" tIns="45720" rIns="91440" bIns="45720" anchor="t"/>
          <a:lstStyle/>
          <a:p>
            <a:pPr algn="ctr">
              <a:lnSpc>
                <a:spcPct val="140000"/>
              </a:lnSpc>
            </a:pPr>
            <a:r>
              <a:rPr lang="ja-JP" altLang="ja-JP" sz="2400" b="1" dirty="0">
                <a:solidFill>
                  <a:srgbClr val="1F2A5C"/>
                </a:solidFill>
                <a:latin typeface="メイリオ"/>
                <a:ea typeface="メイリオ"/>
                <a:cs typeface="メイリオ"/>
              </a:rPr>
              <a:t>コンテンツ更新通知で</a:t>
            </a:r>
            <a:r>
              <a:rPr lang="ja-JP" altLang="en-US" sz="2400" b="1" dirty="0">
                <a:solidFill>
                  <a:srgbClr val="1F2A5C"/>
                </a:solidFill>
                <a:latin typeface="メイリオ"/>
                <a:ea typeface="メイリオ"/>
                <a:cs typeface="メイリオ"/>
              </a:rPr>
              <a:t>サイト再訪問の促進と休眠層の活性化</a:t>
            </a:r>
            <a:endParaRPr lang="ja-JP" altLang="ja-JP" sz="2400" b="1" dirty="0">
              <a:solidFill>
                <a:srgbClr val="1F2A5C"/>
              </a:solidFill>
              <a:latin typeface="メイリオ"/>
              <a:ea typeface="メイリオ"/>
              <a:cs typeface="メイリオ"/>
            </a:endParaRPr>
          </a:p>
        </p:txBody>
      </p:sp>
      <p:sp>
        <p:nvSpPr>
          <p:cNvPr id="62" name="二等辺三角形 61">
            <a:extLst>
              <a:ext uri="{FF2B5EF4-FFF2-40B4-BE49-F238E27FC236}">
                <a16:creationId xmlns:a16="http://schemas.microsoft.com/office/drawing/2014/main" id="{BDCBA122-1D1B-AA97-B52C-2A548E75BE5F}"/>
              </a:ext>
            </a:extLst>
          </p:cNvPr>
          <p:cNvSpPr/>
          <p:nvPr/>
        </p:nvSpPr>
        <p:spPr>
          <a:xfrm rot="10800000">
            <a:off x="1013700" y="2923543"/>
            <a:ext cx="7965031" cy="486852"/>
          </a:xfrm>
          <a:prstGeom prst="triangle">
            <a:avLst>
              <a:gd name="adj" fmla="val 49365"/>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dirty="0">
              <a:latin typeface="メイリオ"/>
              <a:ea typeface="メイリオ"/>
              <a:cs typeface="メイリオ"/>
            </a:endParaRPr>
          </a:p>
        </p:txBody>
      </p:sp>
      <p:sp>
        <p:nvSpPr>
          <p:cNvPr id="64" name="テキスト ボックス 4">
            <a:extLst>
              <a:ext uri="{FF2B5EF4-FFF2-40B4-BE49-F238E27FC236}">
                <a16:creationId xmlns:a16="http://schemas.microsoft.com/office/drawing/2014/main" id="{BF9B56DF-9875-62DA-48F0-98868F99F5FE}"/>
              </a:ext>
            </a:extLst>
          </p:cNvPr>
          <p:cNvSpPr txBox="1"/>
          <p:nvPr/>
        </p:nvSpPr>
        <p:spPr>
          <a:xfrm>
            <a:off x="3893204" y="2960246"/>
            <a:ext cx="2236946" cy="369332"/>
          </a:xfrm>
          <a:prstGeom prst="rect">
            <a:avLst/>
          </a:prstGeom>
          <a:noFill/>
        </p:spPr>
        <p:txBody>
          <a:bodyPr wrap="square" rtlCol="0">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b="1" dirty="0">
                <a:solidFill>
                  <a:schemeClr val="bg1"/>
                </a:solidFill>
                <a:latin typeface="メイリオ"/>
                <a:ea typeface="メイリオ"/>
                <a:cs typeface="メイリオ"/>
              </a:rPr>
              <a:t>弊社からのご提案</a:t>
            </a:r>
            <a:endParaRPr kumimoji="1" lang="ja-JP" altLang="en-US" b="1" dirty="0">
              <a:solidFill>
                <a:schemeClr val="bg1"/>
              </a:solidFill>
              <a:latin typeface="メイリオ"/>
              <a:ea typeface="メイリオ"/>
              <a:cs typeface="メイリオ"/>
            </a:endParaRPr>
          </a:p>
        </p:txBody>
      </p:sp>
      <p:sp>
        <p:nvSpPr>
          <p:cNvPr id="3" name="テキスト ボックス 2">
            <a:extLst>
              <a:ext uri="{FF2B5EF4-FFF2-40B4-BE49-F238E27FC236}">
                <a16:creationId xmlns:a16="http://schemas.microsoft.com/office/drawing/2014/main" id="{45A431B3-A22F-1842-3FAA-6D07E1E96384}"/>
              </a:ext>
            </a:extLst>
          </p:cNvPr>
          <p:cNvSpPr txBox="1"/>
          <p:nvPr/>
        </p:nvSpPr>
        <p:spPr>
          <a:xfrm>
            <a:off x="966895" y="3855734"/>
            <a:ext cx="4963884" cy="307777"/>
          </a:xfrm>
          <a:prstGeom prst="rect">
            <a:avLst/>
          </a:prstGeom>
          <a:noFill/>
        </p:spPr>
        <p:txBody>
          <a:bodyPr wrap="square">
            <a:spAutoFit/>
          </a:bodyPr>
          <a:lstStyle/>
          <a:p>
            <a:r>
              <a:rPr lang="en-US" altLang="ja-JP" sz="1400" b="1" dirty="0">
                <a:solidFill>
                  <a:schemeClr val="tx1"/>
                </a:solidFill>
                <a:latin typeface="メイリオ"/>
                <a:ea typeface="メイリオ"/>
                <a:cs typeface="メイリオ"/>
              </a:rPr>
              <a:t>&lt;</a:t>
            </a:r>
            <a:r>
              <a:rPr lang="ja-JP" altLang="en-US" sz="1400" b="1" dirty="0">
                <a:solidFill>
                  <a:schemeClr val="tx1"/>
                </a:solidFill>
                <a:latin typeface="メイリオ"/>
                <a:ea typeface="メイリオ"/>
                <a:cs typeface="メイリオ"/>
              </a:rPr>
              <a:t>想定導入機能</a:t>
            </a:r>
            <a:r>
              <a:rPr lang="en-US" altLang="ja-JP" sz="1400" b="1" dirty="0">
                <a:solidFill>
                  <a:schemeClr val="tx1"/>
                </a:solidFill>
                <a:latin typeface="メイリオ"/>
                <a:ea typeface="メイリオ"/>
                <a:cs typeface="メイリオ"/>
              </a:rPr>
              <a:t>&gt;</a:t>
            </a:r>
            <a:endParaRPr lang="ja-JP" altLang="en-US" dirty="0">
              <a:latin typeface="メイリオ"/>
              <a:ea typeface="メイリオ"/>
              <a:cs typeface="メイリオ"/>
            </a:endParaRPr>
          </a:p>
        </p:txBody>
      </p:sp>
      <p:sp>
        <p:nvSpPr>
          <p:cNvPr id="6" name="テキスト ボックス 5">
            <a:extLst>
              <a:ext uri="{FF2B5EF4-FFF2-40B4-BE49-F238E27FC236}">
                <a16:creationId xmlns:a16="http://schemas.microsoft.com/office/drawing/2014/main" id="{A0AC7B2D-B3F4-508A-FD79-7523351C618B}"/>
              </a:ext>
            </a:extLst>
          </p:cNvPr>
          <p:cNvSpPr txBox="1"/>
          <p:nvPr/>
        </p:nvSpPr>
        <p:spPr>
          <a:xfrm>
            <a:off x="795506" y="4229186"/>
            <a:ext cx="4368677" cy="448732"/>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1 </a:t>
            </a:r>
            <a:r>
              <a:rPr lang="ja-JP" altLang="en-US" sz="1400" b="1" dirty="0">
                <a:solidFill>
                  <a:schemeClr val="tx1"/>
                </a:solidFill>
                <a:latin typeface="メイリオ"/>
                <a:ea typeface="メイリオ"/>
                <a:cs typeface="メイリオ"/>
              </a:rPr>
              <a:t>会員登録時にメルマガに加えて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追加を促進</a:t>
            </a:r>
            <a:endParaRPr lang="ja-JP" altLang="en-US"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0EC53D85-B286-433F-25D2-139655AA42FA}"/>
              </a:ext>
            </a:extLst>
          </p:cNvPr>
          <p:cNvSpPr txBox="1"/>
          <p:nvPr/>
        </p:nvSpPr>
        <p:spPr>
          <a:xfrm>
            <a:off x="795505" y="4736099"/>
            <a:ext cx="4368677" cy="495679"/>
          </a:xfrm>
          <a:prstGeom prst="rect">
            <a:avLst/>
          </a:prstGeom>
          <a:solidFill>
            <a:schemeClr val="accent6">
              <a:lumMod val="20000"/>
              <a:lumOff val="80000"/>
            </a:schemeClr>
          </a:solidFill>
        </p:spPr>
        <p:txBody>
          <a:bodyPr wrap="square" anchor="ctr">
            <a:spAutoFit/>
          </a:bodyPr>
          <a:lstStyle/>
          <a:p>
            <a:r>
              <a:rPr lang="en-US" altLang="ja-JP" sz="1400" b="1" dirty="0">
                <a:solidFill>
                  <a:schemeClr val="tx1"/>
                </a:solidFill>
                <a:latin typeface="メイリオ"/>
                <a:ea typeface="メイリオ"/>
                <a:cs typeface="メイリオ"/>
              </a:rPr>
              <a:t>2 </a:t>
            </a:r>
            <a:r>
              <a:rPr lang="ja-JP" altLang="en-US" sz="1400" b="1" dirty="0">
                <a:solidFill>
                  <a:schemeClr val="tx1"/>
                </a:solidFill>
                <a:latin typeface="メイリオ"/>
                <a:ea typeface="メイリオ"/>
                <a:cs typeface="メイリオ"/>
              </a:rPr>
              <a:t>メルマガ配信・コラム投稿に合わせて</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展開</a:t>
            </a:r>
            <a:endParaRPr lang="ja-JP" altLang="en-US" dirty="0">
              <a:latin typeface="メイリオ"/>
              <a:ea typeface="メイリオ"/>
              <a:cs typeface="メイリオ"/>
            </a:endParaRPr>
          </a:p>
        </p:txBody>
      </p:sp>
      <p:sp>
        <p:nvSpPr>
          <p:cNvPr id="10" name="テキスト ボックス 9">
            <a:extLst>
              <a:ext uri="{FF2B5EF4-FFF2-40B4-BE49-F238E27FC236}">
                <a16:creationId xmlns:a16="http://schemas.microsoft.com/office/drawing/2014/main" id="{B440DED5-AA72-37EF-A146-AC2349BD2F63}"/>
              </a:ext>
            </a:extLst>
          </p:cNvPr>
          <p:cNvSpPr txBox="1"/>
          <p:nvPr/>
        </p:nvSpPr>
        <p:spPr>
          <a:xfrm>
            <a:off x="5248788" y="4318021"/>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サンクスページ → </a:t>
            </a:r>
            <a:r>
              <a:rPr lang="en-US" altLang="ja-JP" sz="1400" b="1" dirty="0">
                <a:solidFill>
                  <a:schemeClr val="tx1"/>
                </a:solidFill>
                <a:latin typeface="メイリオ"/>
                <a:ea typeface="メイリオ"/>
                <a:cs typeface="メイリオ"/>
              </a:rPr>
              <a:t>LINE</a:t>
            </a:r>
            <a:r>
              <a:rPr lang="ja-JP" altLang="en-US" sz="1400" b="1" dirty="0">
                <a:solidFill>
                  <a:schemeClr val="tx1"/>
                </a:solidFill>
                <a:latin typeface="メイリオ"/>
                <a:ea typeface="メイリオ"/>
                <a:cs typeface="メイリオ"/>
              </a:rPr>
              <a:t>への自動誘導を実現</a:t>
            </a:r>
            <a:endParaRPr lang="ja-JP" altLang="en-US" sz="1800" b="1" dirty="0">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75688F14-B0BD-EF7E-3F50-DE8F91EFA178}"/>
              </a:ext>
            </a:extLst>
          </p:cNvPr>
          <p:cNvSpPr txBox="1"/>
          <p:nvPr/>
        </p:nvSpPr>
        <p:spPr>
          <a:xfrm>
            <a:off x="5255456" y="4830049"/>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反応率の高い</a:t>
            </a:r>
            <a:r>
              <a:rPr lang="ja-JP" altLang="en-US" sz="1400" b="1" dirty="0">
                <a:latin typeface="メイリオ"/>
                <a:ea typeface="メイリオ"/>
                <a:cs typeface="メイリオ"/>
              </a:rPr>
              <a:t>クリエイティブ制作＋投稿代行</a:t>
            </a:r>
            <a:endParaRPr lang="ja-JP" altLang="en-US" sz="1800" b="1" dirty="0">
              <a:latin typeface="メイリオ"/>
              <a:ea typeface="メイリオ"/>
              <a:cs typeface="メイリオ"/>
            </a:endParaRPr>
          </a:p>
        </p:txBody>
      </p:sp>
      <p:sp>
        <p:nvSpPr>
          <p:cNvPr id="14" name="テキスト ボックス 13">
            <a:extLst>
              <a:ext uri="{FF2B5EF4-FFF2-40B4-BE49-F238E27FC236}">
                <a16:creationId xmlns:a16="http://schemas.microsoft.com/office/drawing/2014/main" id="{FD485563-C218-9309-091E-15BBDF9E2759}"/>
              </a:ext>
            </a:extLst>
          </p:cNvPr>
          <p:cNvSpPr txBox="1"/>
          <p:nvPr/>
        </p:nvSpPr>
        <p:spPr>
          <a:xfrm>
            <a:off x="966894" y="5349008"/>
            <a:ext cx="4963884" cy="307777"/>
          </a:xfrm>
          <a:prstGeom prst="rect">
            <a:avLst/>
          </a:prstGeom>
          <a:noFill/>
        </p:spPr>
        <p:txBody>
          <a:bodyPr wrap="square">
            <a:spAutoFit/>
          </a:bodyPr>
          <a:lstStyle/>
          <a:p>
            <a:r>
              <a:rPr lang="en-US" altLang="ja-JP" sz="1400" b="1" dirty="0">
                <a:solidFill>
                  <a:schemeClr val="tx1"/>
                </a:solidFill>
                <a:latin typeface="メイリオ"/>
                <a:ea typeface="メイリオ"/>
                <a:cs typeface="メイリオ"/>
              </a:rPr>
              <a:t>&lt;</a:t>
            </a:r>
            <a:r>
              <a:rPr lang="ja-JP" altLang="en-US" sz="1400" b="1" dirty="0">
                <a:latin typeface="メイリオ"/>
                <a:ea typeface="メイリオ"/>
                <a:cs typeface="メイリオ"/>
              </a:rPr>
              <a:t>中長期的に追加する</a:t>
            </a:r>
            <a:r>
              <a:rPr lang="ja-JP" altLang="en-US" sz="1400" b="1" dirty="0">
                <a:solidFill>
                  <a:schemeClr val="tx1"/>
                </a:solidFill>
                <a:latin typeface="メイリオ"/>
                <a:ea typeface="メイリオ"/>
                <a:cs typeface="メイリオ"/>
              </a:rPr>
              <a:t>機能</a:t>
            </a:r>
            <a:r>
              <a:rPr lang="en-US" altLang="ja-JP" sz="1400" b="1" dirty="0">
                <a:solidFill>
                  <a:schemeClr val="tx1"/>
                </a:solidFill>
                <a:latin typeface="メイリオ"/>
                <a:ea typeface="メイリオ"/>
                <a:cs typeface="メイリオ"/>
              </a:rPr>
              <a:t>&gt;</a:t>
            </a:r>
            <a:endParaRPr lang="ja-JP" altLang="en-US" dirty="0">
              <a:latin typeface="メイリオ"/>
              <a:ea typeface="メイリオ"/>
              <a:cs typeface="メイリオ"/>
            </a:endParaRPr>
          </a:p>
        </p:txBody>
      </p:sp>
      <p:sp>
        <p:nvSpPr>
          <p:cNvPr id="16" name="テキスト ボックス 15">
            <a:extLst>
              <a:ext uri="{FF2B5EF4-FFF2-40B4-BE49-F238E27FC236}">
                <a16:creationId xmlns:a16="http://schemas.microsoft.com/office/drawing/2014/main" id="{A592E942-DF1A-799E-07AA-6310C3A582CE}"/>
              </a:ext>
            </a:extLst>
          </p:cNvPr>
          <p:cNvSpPr txBox="1"/>
          <p:nvPr/>
        </p:nvSpPr>
        <p:spPr>
          <a:xfrm>
            <a:off x="795505" y="5698986"/>
            <a:ext cx="4368677" cy="495679"/>
          </a:xfrm>
          <a:prstGeom prst="rect">
            <a:avLst/>
          </a:prstGeom>
          <a:solidFill>
            <a:schemeClr val="bg1">
              <a:lumMod val="85000"/>
            </a:schemeClr>
          </a:solidFill>
        </p:spPr>
        <p:txBody>
          <a:bodyPr wrap="square" anchor="ctr">
            <a:spAutoFit/>
          </a:bodyPr>
          <a:lstStyle/>
          <a:p>
            <a:r>
              <a:rPr lang="en-US" altLang="ja-JP" sz="1400" b="1" dirty="0">
                <a:latin typeface="メイリオ"/>
                <a:ea typeface="メイリオ"/>
                <a:cs typeface="メイリオ"/>
              </a:rPr>
              <a:t>3</a:t>
            </a:r>
            <a:r>
              <a:rPr lang="en-US" altLang="ja-JP" sz="1400" b="1" dirty="0">
                <a:solidFill>
                  <a:schemeClr val="tx1"/>
                </a:solidFill>
                <a:latin typeface="メイリオ"/>
                <a:ea typeface="メイリオ"/>
                <a:cs typeface="メイリオ"/>
              </a:rPr>
              <a:t> </a:t>
            </a:r>
            <a:r>
              <a:rPr lang="ja-JP" altLang="en-US" sz="1400" b="1" dirty="0">
                <a:latin typeface="メイリオ"/>
                <a:ea typeface="メイリオ"/>
                <a:cs typeface="メイリオ"/>
              </a:rPr>
              <a:t>キャンペーン運営</a:t>
            </a:r>
            <a:r>
              <a:rPr lang="ja-JP" altLang="en-US" sz="1100" b="1" dirty="0">
                <a:latin typeface="メイリオ"/>
                <a:ea typeface="メイリオ"/>
                <a:cs typeface="メイリオ"/>
              </a:rPr>
              <a:t> 　　</a:t>
            </a:r>
            <a:r>
              <a:rPr lang="en-US" altLang="ja-JP" sz="1100" b="1" dirty="0">
                <a:latin typeface="メイリオ"/>
                <a:ea typeface="メイリオ"/>
                <a:cs typeface="メイリオ"/>
              </a:rPr>
              <a:t>※</a:t>
            </a:r>
            <a:r>
              <a:rPr lang="ja-JP" altLang="en-US" sz="1100" b="1" dirty="0">
                <a:latin typeface="メイリオ"/>
                <a:ea typeface="メイリオ"/>
                <a:cs typeface="メイリオ"/>
              </a:rPr>
              <a:t>マストバイ </a:t>
            </a:r>
            <a:r>
              <a:rPr lang="en-US" altLang="ja-JP" sz="1100" b="1" dirty="0">
                <a:latin typeface="メイリオ"/>
                <a:ea typeface="メイリオ"/>
                <a:cs typeface="メイリオ"/>
              </a:rPr>
              <a:t>※</a:t>
            </a:r>
            <a:r>
              <a:rPr lang="ja-JP" altLang="en-US" sz="1100" b="1" dirty="0">
                <a:latin typeface="メイリオ"/>
                <a:ea typeface="メイリオ"/>
                <a:cs typeface="メイリオ"/>
              </a:rPr>
              <a:t>イベント連携</a:t>
            </a:r>
            <a:endParaRPr lang="ja-JP" altLang="en-US" dirty="0">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940D4DE0-AB75-CD41-25F0-34679D19B5D4}"/>
              </a:ext>
            </a:extLst>
          </p:cNvPr>
          <p:cNvSpPr txBox="1"/>
          <p:nvPr/>
        </p:nvSpPr>
        <p:spPr>
          <a:xfrm>
            <a:off x="5248787" y="5811295"/>
            <a:ext cx="4963884" cy="307777"/>
          </a:xfrm>
          <a:prstGeom prst="rect">
            <a:avLst/>
          </a:prstGeom>
          <a:noFill/>
        </p:spPr>
        <p:txBody>
          <a:bodyPr wrap="square">
            <a:spAutoFit/>
          </a:bodyPr>
          <a:lstStyle/>
          <a:p>
            <a:r>
              <a:rPr lang="ja-JP" altLang="en-US" sz="1400" b="1" dirty="0">
                <a:solidFill>
                  <a:schemeClr val="tx1"/>
                </a:solidFill>
                <a:latin typeface="メイリオ"/>
                <a:ea typeface="メイリオ"/>
                <a:cs typeface="メイリオ"/>
              </a:rPr>
              <a:t>商品購入数や</a:t>
            </a:r>
            <a:r>
              <a:rPr lang="ja-JP" altLang="en-US" sz="1400" b="1" dirty="0">
                <a:latin typeface="メイリオ"/>
                <a:ea typeface="メイリオ"/>
                <a:cs typeface="メイリオ"/>
              </a:rPr>
              <a:t>イベント、</a:t>
            </a:r>
            <a:r>
              <a:rPr lang="en-US" altLang="ja-JP" sz="1400" b="1" dirty="0">
                <a:latin typeface="メイリオ"/>
                <a:ea typeface="メイリオ"/>
                <a:cs typeface="メイリオ"/>
              </a:rPr>
              <a:t>CP</a:t>
            </a:r>
            <a:r>
              <a:rPr lang="ja-JP" altLang="en-US" sz="1400" b="1" dirty="0">
                <a:latin typeface="メイリオ"/>
                <a:ea typeface="メイリオ"/>
                <a:cs typeface="メイリオ"/>
              </a:rPr>
              <a:t>への継続的参加</a:t>
            </a:r>
            <a:endParaRPr lang="ja-JP" altLang="en-US" sz="1800" b="1" dirty="0">
              <a:latin typeface="メイリオ"/>
              <a:ea typeface="メイリオ"/>
              <a:cs typeface="メイリオ"/>
            </a:endParaRPr>
          </a:p>
        </p:txBody>
      </p:sp>
    </p:spTree>
    <p:extLst>
      <p:ext uri="{BB962C8B-B14F-4D97-AF65-F5344CB8AC3E}">
        <p14:creationId xmlns:p14="http://schemas.microsoft.com/office/powerpoint/2010/main" val="3136620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5A3DF-C10C-8FE5-7F9E-31ABEE07B259}"/>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0EE3F49-35DE-76F6-E16B-C52951514707}"/>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D5F65FCA-9F11-3F13-D2F2-A6E61F22080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0ED16010-4596-5D53-EEA4-CE60ADBA0ED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FAC7DBDD-AB66-4379-9061-7EE7673C8D36}"/>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5" name="正方形/長方形 4">
            <a:extLst>
              <a:ext uri="{FF2B5EF4-FFF2-40B4-BE49-F238E27FC236}">
                <a16:creationId xmlns:a16="http://schemas.microsoft.com/office/drawing/2014/main" id="{57B12960-F95F-F815-42F4-98678B7CBC86}"/>
              </a:ext>
            </a:extLst>
          </p:cNvPr>
          <p:cNvSpPr/>
          <p:nvPr/>
        </p:nvSpPr>
        <p:spPr>
          <a:xfrm>
            <a:off x="261257"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a:ea typeface="メイリオ"/>
                <a:cs typeface="メイリオ"/>
              </a:rPr>
              <a:t>初期</a:t>
            </a:r>
          </a:p>
        </p:txBody>
      </p:sp>
      <p:sp>
        <p:nvSpPr>
          <p:cNvPr id="7" name="正方形/長方形 6">
            <a:extLst>
              <a:ext uri="{FF2B5EF4-FFF2-40B4-BE49-F238E27FC236}">
                <a16:creationId xmlns:a16="http://schemas.microsoft.com/office/drawing/2014/main" id="{2D73F25E-11E1-6B69-BF72-02319EB2875A}"/>
              </a:ext>
            </a:extLst>
          </p:cNvPr>
          <p:cNvSpPr/>
          <p:nvPr/>
        </p:nvSpPr>
        <p:spPr>
          <a:xfrm>
            <a:off x="3337560" y="1672045"/>
            <a:ext cx="2899954" cy="40930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a:ea typeface="メイリオ"/>
                <a:cs typeface="メイリオ"/>
              </a:rPr>
              <a:t>月次</a:t>
            </a:r>
          </a:p>
        </p:txBody>
      </p:sp>
      <p:sp>
        <p:nvSpPr>
          <p:cNvPr id="8" name="正方形/長方形 7">
            <a:extLst>
              <a:ext uri="{FF2B5EF4-FFF2-40B4-BE49-F238E27FC236}">
                <a16:creationId xmlns:a16="http://schemas.microsoft.com/office/drawing/2014/main" id="{199847F9-D2D7-C50C-BB87-1E906E928D4B}"/>
              </a:ext>
            </a:extLst>
          </p:cNvPr>
          <p:cNvSpPr/>
          <p:nvPr/>
        </p:nvSpPr>
        <p:spPr>
          <a:xfrm>
            <a:off x="261257"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b="1" dirty="0">
                <a:solidFill>
                  <a:schemeClr val="tx1"/>
                </a:solidFill>
                <a:latin typeface="メイリオ"/>
                <a:ea typeface="メイリオ"/>
                <a:cs typeface="メイリオ"/>
              </a:rPr>
              <a:t>20</a:t>
            </a:r>
            <a:r>
              <a:rPr kumimoji="1" lang="ja-JP" altLang="en-US" sz="3200" b="1" dirty="0">
                <a:solidFill>
                  <a:schemeClr val="tx1"/>
                </a:solidFill>
                <a:latin typeface="メイリオ"/>
                <a:ea typeface="メイリオ"/>
                <a:cs typeface="メイリオ"/>
              </a:rPr>
              <a:t>万円</a:t>
            </a:r>
          </a:p>
        </p:txBody>
      </p:sp>
      <p:sp>
        <p:nvSpPr>
          <p:cNvPr id="10" name="正方形/長方形 9">
            <a:extLst>
              <a:ext uri="{FF2B5EF4-FFF2-40B4-BE49-F238E27FC236}">
                <a16:creationId xmlns:a16="http://schemas.microsoft.com/office/drawing/2014/main" id="{63A7B228-99E2-EBCF-6198-F3D1FAD9898F}"/>
              </a:ext>
            </a:extLst>
          </p:cNvPr>
          <p:cNvSpPr/>
          <p:nvPr/>
        </p:nvSpPr>
        <p:spPr>
          <a:xfrm>
            <a:off x="3337560" y="2158065"/>
            <a:ext cx="2899954" cy="90735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3200" b="1" dirty="0">
                <a:solidFill>
                  <a:schemeClr val="tx1"/>
                </a:solidFill>
                <a:latin typeface="メイリオ"/>
                <a:ea typeface="メイリオ"/>
                <a:cs typeface="メイリオ"/>
              </a:rPr>
              <a:t>20</a:t>
            </a:r>
            <a:r>
              <a:rPr kumimoji="1" lang="ja-JP" altLang="en-US" sz="3200" b="1" dirty="0">
                <a:solidFill>
                  <a:schemeClr val="tx1"/>
                </a:solidFill>
                <a:latin typeface="メイリオ"/>
                <a:ea typeface="メイリオ"/>
                <a:cs typeface="メイリオ"/>
              </a:rPr>
              <a:t>万円</a:t>
            </a:r>
            <a:r>
              <a:rPr kumimoji="1" lang="ja-JP" altLang="en-US" sz="2000" b="1" dirty="0">
                <a:solidFill>
                  <a:schemeClr val="tx1">
                    <a:lumMod val="50000"/>
                    <a:lumOff val="50000"/>
                  </a:schemeClr>
                </a:solidFill>
                <a:latin typeface="メイリオ"/>
                <a:ea typeface="メイリオ"/>
                <a:cs typeface="メイリオ"/>
              </a:rPr>
              <a:t> </a:t>
            </a:r>
            <a:r>
              <a:rPr kumimoji="1" lang="en-US" altLang="ja-JP" sz="2000" b="1" dirty="0">
                <a:solidFill>
                  <a:schemeClr val="tx1">
                    <a:lumMod val="50000"/>
                    <a:lumOff val="50000"/>
                  </a:schemeClr>
                </a:solidFill>
                <a:latin typeface="メイリオ"/>
                <a:ea typeface="メイリオ"/>
                <a:cs typeface="メイリオ"/>
              </a:rPr>
              <a:t>+α </a:t>
            </a:r>
            <a:endParaRPr kumimoji="1" lang="ja-JP" altLang="en-US" sz="3200" b="1" dirty="0">
              <a:solidFill>
                <a:schemeClr val="tx1">
                  <a:lumMod val="50000"/>
                  <a:lumOff val="50000"/>
                </a:schemeClr>
              </a:solidFill>
              <a:latin typeface="メイリオ"/>
              <a:ea typeface="メイリオ"/>
              <a:cs typeface="メイリオ"/>
            </a:endParaRPr>
          </a:p>
        </p:txBody>
      </p:sp>
      <p:sp>
        <p:nvSpPr>
          <p:cNvPr id="15" name="矢印: 右 14">
            <a:extLst>
              <a:ext uri="{FF2B5EF4-FFF2-40B4-BE49-F238E27FC236}">
                <a16:creationId xmlns:a16="http://schemas.microsoft.com/office/drawing/2014/main" id="{C9D5333B-E781-F21F-8A3E-D6FE2FD21602}"/>
              </a:ext>
            </a:extLst>
          </p:cNvPr>
          <p:cNvSpPr/>
          <p:nvPr/>
        </p:nvSpPr>
        <p:spPr>
          <a:xfrm>
            <a:off x="6379031" y="2281645"/>
            <a:ext cx="365760" cy="2795449"/>
          </a:xfrm>
          <a:prstGeom prst="rightArrow">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EEF41587-0DB5-E870-CE7C-9CC369CE0FEE}"/>
              </a:ext>
            </a:extLst>
          </p:cNvPr>
          <p:cNvSpPr/>
          <p:nvPr/>
        </p:nvSpPr>
        <p:spPr>
          <a:xfrm>
            <a:off x="6744791" y="1672044"/>
            <a:ext cx="2899952" cy="409303"/>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メイリオ"/>
                <a:ea typeface="メイリオ"/>
                <a:cs typeface="メイリオ"/>
              </a:rPr>
              <a:t>6</a:t>
            </a:r>
            <a:r>
              <a:rPr kumimoji="1" lang="ja-JP" altLang="en-US" sz="1200" dirty="0">
                <a:solidFill>
                  <a:schemeClr val="bg1"/>
                </a:solidFill>
                <a:latin typeface="メイリオ"/>
                <a:ea typeface="メイリオ"/>
                <a:cs typeface="メイリオ"/>
              </a:rPr>
              <a:t>か月後</a:t>
            </a:r>
          </a:p>
        </p:txBody>
      </p:sp>
      <p:sp>
        <p:nvSpPr>
          <p:cNvPr id="19" name="テキスト ボックス 18">
            <a:extLst>
              <a:ext uri="{FF2B5EF4-FFF2-40B4-BE49-F238E27FC236}">
                <a16:creationId xmlns:a16="http://schemas.microsoft.com/office/drawing/2014/main" id="{310A0391-C27F-47EB-C4DA-F30ADEFF5697}"/>
              </a:ext>
            </a:extLst>
          </p:cNvPr>
          <p:cNvSpPr txBox="1"/>
          <p:nvPr/>
        </p:nvSpPr>
        <p:spPr>
          <a:xfrm>
            <a:off x="444137"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a:ea typeface="メイリオ"/>
                <a:cs typeface="メイリオ"/>
              </a:rPr>
              <a:t>&lt;</a:t>
            </a:r>
            <a:r>
              <a:rPr kumimoji="1" lang="ja-JP" altLang="en-US" sz="1200" dirty="0">
                <a:solidFill>
                  <a:schemeClr val="tx1"/>
                </a:solidFill>
                <a:latin typeface="メイリオ"/>
                <a:ea typeface="メイリオ"/>
                <a:cs typeface="メイリオ"/>
              </a:rPr>
              <a:t>実施内容</a:t>
            </a:r>
            <a:r>
              <a:rPr kumimoji="1" lang="en-US" altLang="ja-JP" sz="1200" dirty="0">
                <a:solidFill>
                  <a:schemeClr val="tx1"/>
                </a:solidFill>
                <a:latin typeface="メイリオ"/>
                <a:ea typeface="メイリオ"/>
                <a:cs typeface="メイリオ"/>
              </a:rPr>
              <a:t>&gt;</a:t>
            </a:r>
            <a:endParaRPr kumimoji="1" lang="ja-JP" altLang="en-US" sz="1200" dirty="0">
              <a:solidFill>
                <a:schemeClr val="tx1"/>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A604517E-5D11-7843-773C-E3FD1B8C7C60}"/>
              </a:ext>
            </a:extLst>
          </p:cNvPr>
          <p:cNvSpPr txBox="1"/>
          <p:nvPr/>
        </p:nvSpPr>
        <p:spPr>
          <a:xfrm>
            <a:off x="3503024" y="3186837"/>
            <a:ext cx="2534194" cy="276999"/>
          </a:xfrm>
          <a:prstGeom prst="rect">
            <a:avLst/>
          </a:prstGeom>
          <a:noFill/>
        </p:spPr>
        <p:txBody>
          <a:bodyPr wrap="square">
            <a:spAutoFit/>
          </a:bodyPr>
          <a:lstStyle/>
          <a:p>
            <a:pPr algn="ctr"/>
            <a:r>
              <a:rPr kumimoji="1" lang="en-US" altLang="ja-JP" sz="1200" dirty="0">
                <a:solidFill>
                  <a:schemeClr val="tx1"/>
                </a:solidFill>
                <a:latin typeface="メイリオ"/>
                <a:ea typeface="メイリオ"/>
                <a:cs typeface="メイリオ"/>
              </a:rPr>
              <a:t>&lt;</a:t>
            </a:r>
            <a:r>
              <a:rPr kumimoji="1" lang="ja-JP" altLang="en-US" sz="1200" dirty="0">
                <a:solidFill>
                  <a:schemeClr val="tx1"/>
                </a:solidFill>
                <a:latin typeface="メイリオ"/>
                <a:ea typeface="メイリオ"/>
                <a:cs typeface="メイリオ"/>
              </a:rPr>
              <a:t>実施内容</a:t>
            </a:r>
            <a:r>
              <a:rPr kumimoji="1" lang="en-US" altLang="ja-JP" sz="1200" dirty="0">
                <a:solidFill>
                  <a:schemeClr val="tx1"/>
                </a:solidFill>
                <a:latin typeface="メイリオ"/>
                <a:ea typeface="メイリオ"/>
                <a:cs typeface="メイリオ"/>
              </a:rPr>
              <a:t>&gt;</a:t>
            </a:r>
            <a:endParaRPr kumimoji="1" lang="ja-JP" altLang="en-US" sz="1200" dirty="0">
              <a:solidFill>
                <a:schemeClr val="tx1"/>
              </a:solidFill>
              <a:latin typeface="メイリオ"/>
              <a:ea typeface="メイリオ"/>
              <a:cs typeface="メイリオ"/>
            </a:endParaRPr>
          </a:p>
        </p:txBody>
      </p:sp>
      <p:sp>
        <p:nvSpPr>
          <p:cNvPr id="23" name="正方形/長方形 22">
            <a:extLst>
              <a:ext uri="{FF2B5EF4-FFF2-40B4-BE49-F238E27FC236}">
                <a16:creationId xmlns:a16="http://schemas.microsoft.com/office/drawing/2014/main" id="{C4A8FBD8-A5AF-984F-36F3-947AA6D25DE9}"/>
              </a:ext>
            </a:extLst>
          </p:cNvPr>
          <p:cNvSpPr/>
          <p:nvPr/>
        </p:nvSpPr>
        <p:spPr>
          <a:xfrm>
            <a:off x="332016"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プロフ設定</a:t>
            </a:r>
          </a:p>
        </p:txBody>
      </p:sp>
      <p:sp>
        <p:nvSpPr>
          <p:cNvPr id="25" name="正方形/長方形 24">
            <a:extLst>
              <a:ext uri="{FF2B5EF4-FFF2-40B4-BE49-F238E27FC236}">
                <a16:creationId xmlns:a16="http://schemas.microsoft.com/office/drawing/2014/main" id="{873C1A32-DE1E-D85A-180C-1A75241C4F24}"/>
              </a:ext>
            </a:extLst>
          </p:cNvPr>
          <p:cNvSpPr/>
          <p:nvPr/>
        </p:nvSpPr>
        <p:spPr>
          <a:xfrm>
            <a:off x="3408319" y="3478699"/>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月次投稿</a:t>
            </a:r>
          </a:p>
        </p:txBody>
      </p:sp>
      <p:sp>
        <p:nvSpPr>
          <p:cNvPr id="27" name="正方形/長方形 26">
            <a:extLst>
              <a:ext uri="{FF2B5EF4-FFF2-40B4-BE49-F238E27FC236}">
                <a16:creationId xmlns:a16="http://schemas.microsoft.com/office/drawing/2014/main" id="{C25D5024-5D6E-0D20-5084-D887C5FBCAB9}"/>
              </a:ext>
            </a:extLst>
          </p:cNvPr>
          <p:cNvSpPr/>
          <p:nvPr/>
        </p:nvSpPr>
        <p:spPr>
          <a:xfrm>
            <a:off x="1581160"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a:ea typeface="メイリオ"/>
                <a:cs typeface="メイリオ"/>
              </a:rPr>
              <a:t>有</a:t>
            </a:r>
          </a:p>
        </p:txBody>
      </p:sp>
      <p:sp>
        <p:nvSpPr>
          <p:cNvPr id="29" name="正方形/長方形 28">
            <a:extLst>
              <a:ext uri="{FF2B5EF4-FFF2-40B4-BE49-F238E27FC236}">
                <a16:creationId xmlns:a16="http://schemas.microsoft.com/office/drawing/2014/main" id="{E77B38CC-6FB3-2601-37C4-A87B4DFC868D}"/>
              </a:ext>
            </a:extLst>
          </p:cNvPr>
          <p:cNvSpPr/>
          <p:nvPr/>
        </p:nvSpPr>
        <p:spPr>
          <a:xfrm>
            <a:off x="4657463" y="347869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0000"/>
                </a:solidFill>
                <a:latin typeface="メイリオ"/>
                <a:ea typeface="メイリオ"/>
                <a:cs typeface="メイリオ"/>
              </a:rPr>
              <a:t>コラムに準ずる</a:t>
            </a:r>
            <a:endParaRPr kumimoji="1" lang="ja-JP" altLang="en-US" sz="1050" b="1" dirty="0">
              <a:solidFill>
                <a:srgbClr val="FF0000"/>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115A9264-B39A-757E-8405-E65513F35674}"/>
              </a:ext>
            </a:extLst>
          </p:cNvPr>
          <p:cNvSpPr/>
          <p:nvPr/>
        </p:nvSpPr>
        <p:spPr>
          <a:xfrm>
            <a:off x="332016"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挨拶メッセ</a:t>
            </a:r>
            <a:endParaRPr kumimoji="1" lang="ja-JP" altLang="en-US" sz="1050" dirty="0">
              <a:solidFill>
                <a:schemeClr val="bg1"/>
              </a:solidFill>
              <a:latin typeface="メイリオ"/>
              <a:ea typeface="メイリオ"/>
              <a:cs typeface="メイリオ"/>
            </a:endParaRPr>
          </a:p>
        </p:txBody>
      </p:sp>
      <p:sp>
        <p:nvSpPr>
          <p:cNvPr id="33" name="正方形/長方形 32">
            <a:extLst>
              <a:ext uri="{FF2B5EF4-FFF2-40B4-BE49-F238E27FC236}">
                <a16:creationId xmlns:a16="http://schemas.microsoft.com/office/drawing/2014/main" id="{4B713AEE-1C5C-F6A9-5475-72211BDE4D2B}"/>
              </a:ext>
            </a:extLst>
          </p:cNvPr>
          <p:cNvSpPr/>
          <p:nvPr/>
        </p:nvSpPr>
        <p:spPr>
          <a:xfrm>
            <a:off x="3408319" y="3905336"/>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bg1"/>
                </a:solidFill>
                <a:latin typeface="メイリオ"/>
                <a:ea typeface="メイリオ"/>
                <a:cs typeface="メイリオ"/>
              </a:rPr>
              <a:t>Step</a:t>
            </a:r>
            <a:r>
              <a:rPr lang="ja-JP" altLang="en-US" sz="1050" dirty="0">
                <a:solidFill>
                  <a:schemeClr val="bg1"/>
                </a:solidFill>
                <a:latin typeface="メイリオ"/>
                <a:ea typeface="メイリオ"/>
                <a:cs typeface="メイリオ"/>
              </a:rPr>
              <a:t>修正</a:t>
            </a:r>
            <a:endParaRPr kumimoji="1" lang="ja-JP" altLang="en-US" sz="1050" dirty="0">
              <a:solidFill>
                <a:schemeClr val="bg1"/>
              </a:solidFill>
              <a:latin typeface="メイリオ"/>
              <a:ea typeface="メイリオ"/>
              <a:cs typeface="メイリオ"/>
            </a:endParaRPr>
          </a:p>
        </p:txBody>
      </p:sp>
      <p:sp>
        <p:nvSpPr>
          <p:cNvPr id="35" name="正方形/長方形 34">
            <a:extLst>
              <a:ext uri="{FF2B5EF4-FFF2-40B4-BE49-F238E27FC236}">
                <a16:creationId xmlns:a16="http://schemas.microsoft.com/office/drawing/2014/main" id="{BCAB041C-BD21-54BB-4B86-45F9272A0766}"/>
              </a:ext>
            </a:extLst>
          </p:cNvPr>
          <p:cNvSpPr/>
          <p:nvPr/>
        </p:nvSpPr>
        <p:spPr>
          <a:xfrm>
            <a:off x="1581160"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37" name="正方形/長方形 36">
            <a:extLst>
              <a:ext uri="{FF2B5EF4-FFF2-40B4-BE49-F238E27FC236}">
                <a16:creationId xmlns:a16="http://schemas.microsoft.com/office/drawing/2014/main" id="{421C035C-EA8F-E32B-4A4F-7F063B546AE6}"/>
              </a:ext>
            </a:extLst>
          </p:cNvPr>
          <p:cNvSpPr/>
          <p:nvPr/>
        </p:nvSpPr>
        <p:spPr>
          <a:xfrm>
            <a:off x="4657463" y="390533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a:ea typeface="メイリオ"/>
                <a:cs typeface="メイリオ"/>
              </a:rPr>
              <a:t>随時</a:t>
            </a:r>
          </a:p>
        </p:txBody>
      </p:sp>
      <p:sp>
        <p:nvSpPr>
          <p:cNvPr id="39" name="正方形/長方形 38">
            <a:extLst>
              <a:ext uri="{FF2B5EF4-FFF2-40B4-BE49-F238E27FC236}">
                <a16:creationId xmlns:a16="http://schemas.microsoft.com/office/drawing/2014/main" id="{3F01B448-7A1E-6B78-D0F5-86106D6EACBD}"/>
              </a:ext>
            </a:extLst>
          </p:cNvPr>
          <p:cNvSpPr/>
          <p:nvPr/>
        </p:nvSpPr>
        <p:spPr>
          <a:xfrm>
            <a:off x="332016"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bg1"/>
                </a:solidFill>
                <a:latin typeface="メイリオ"/>
                <a:ea typeface="メイリオ"/>
                <a:cs typeface="メイリオ"/>
              </a:rPr>
              <a:t>Step</a:t>
            </a:r>
            <a:r>
              <a:rPr lang="ja-JP" altLang="en-US" sz="1050" dirty="0">
                <a:solidFill>
                  <a:schemeClr val="bg1"/>
                </a:solidFill>
                <a:latin typeface="メイリオ"/>
                <a:ea typeface="メイリオ"/>
                <a:cs typeface="メイリオ"/>
              </a:rPr>
              <a:t>配信</a:t>
            </a:r>
            <a:endParaRPr kumimoji="1" lang="ja-JP" altLang="en-US" sz="1050" dirty="0">
              <a:solidFill>
                <a:schemeClr val="bg1"/>
              </a:solidFill>
              <a:latin typeface="メイリオ"/>
              <a:ea typeface="メイリオ"/>
              <a:cs typeface="メイリオ"/>
            </a:endParaRPr>
          </a:p>
        </p:txBody>
      </p:sp>
      <p:sp>
        <p:nvSpPr>
          <p:cNvPr id="41" name="正方形/長方形 40">
            <a:extLst>
              <a:ext uri="{FF2B5EF4-FFF2-40B4-BE49-F238E27FC236}">
                <a16:creationId xmlns:a16="http://schemas.microsoft.com/office/drawing/2014/main" id="{9BA75733-C506-7AAF-689C-0566D38B8516}"/>
              </a:ext>
            </a:extLst>
          </p:cNvPr>
          <p:cNvSpPr/>
          <p:nvPr/>
        </p:nvSpPr>
        <p:spPr>
          <a:xfrm>
            <a:off x="3408319" y="433197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メニュー修正</a:t>
            </a:r>
          </a:p>
        </p:txBody>
      </p:sp>
      <p:sp>
        <p:nvSpPr>
          <p:cNvPr id="43" name="正方形/長方形 42">
            <a:extLst>
              <a:ext uri="{FF2B5EF4-FFF2-40B4-BE49-F238E27FC236}">
                <a16:creationId xmlns:a16="http://schemas.microsoft.com/office/drawing/2014/main" id="{CA10D951-0E85-C8B0-A660-1CFDD75944A1}"/>
              </a:ext>
            </a:extLst>
          </p:cNvPr>
          <p:cNvSpPr/>
          <p:nvPr/>
        </p:nvSpPr>
        <p:spPr>
          <a:xfrm>
            <a:off x="1581160"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r>
              <a:rPr lang="en-US" altLang="ja-JP" sz="1050" b="1" dirty="0">
                <a:solidFill>
                  <a:schemeClr val="tx1"/>
                </a:solidFill>
                <a:latin typeface="メイリオ"/>
                <a:ea typeface="メイリオ"/>
                <a:cs typeface="メイリオ"/>
              </a:rPr>
              <a:t>10</a:t>
            </a:r>
            <a:r>
              <a:rPr lang="ja-JP" altLang="en-US" sz="1050" b="1" dirty="0">
                <a:solidFill>
                  <a:schemeClr val="tx1"/>
                </a:solidFill>
                <a:latin typeface="メイリオ"/>
                <a:ea typeface="メイリオ"/>
                <a:cs typeface="メイリオ"/>
              </a:rPr>
              <a:t>本程度想定）</a:t>
            </a:r>
          </a:p>
        </p:txBody>
      </p:sp>
      <p:sp>
        <p:nvSpPr>
          <p:cNvPr id="46" name="正方形/長方形 45">
            <a:extLst>
              <a:ext uri="{FF2B5EF4-FFF2-40B4-BE49-F238E27FC236}">
                <a16:creationId xmlns:a16="http://schemas.microsoft.com/office/drawing/2014/main" id="{5CB780A3-73E3-5BDA-9BFB-9390DF84F0D0}"/>
              </a:ext>
            </a:extLst>
          </p:cNvPr>
          <p:cNvSpPr/>
          <p:nvPr/>
        </p:nvSpPr>
        <p:spPr>
          <a:xfrm>
            <a:off x="4657463" y="433197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随時</a:t>
            </a:r>
          </a:p>
        </p:txBody>
      </p:sp>
      <p:sp>
        <p:nvSpPr>
          <p:cNvPr id="48" name="正方形/長方形 47">
            <a:extLst>
              <a:ext uri="{FF2B5EF4-FFF2-40B4-BE49-F238E27FC236}">
                <a16:creationId xmlns:a16="http://schemas.microsoft.com/office/drawing/2014/main" id="{E59FEFFB-8267-7E04-F67D-CEB5CB6CCE4A}"/>
              </a:ext>
            </a:extLst>
          </p:cNvPr>
          <p:cNvSpPr/>
          <p:nvPr/>
        </p:nvSpPr>
        <p:spPr>
          <a:xfrm>
            <a:off x="332016"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リッチメニュー</a:t>
            </a:r>
          </a:p>
        </p:txBody>
      </p:sp>
      <p:sp>
        <p:nvSpPr>
          <p:cNvPr id="50" name="正方形/長方形 49">
            <a:extLst>
              <a:ext uri="{FF2B5EF4-FFF2-40B4-BE49-F238E27FC236}">
                <a16:creationId xmlns:a16="http://schemas.microsoft.com/office/drawing/2014/main" id="{9A17F9B0-0885-311C-7DC8-7C9FF52B6FF3}"/>
              </a:ext>
            </a:extLst>
          </p:cNvPr>
          <p:cNvSpPr/>
          <p:nvPr/>
        </p:nvSpPr>
        <p:spPr>
          <a:xfrm>
            <a:off x="3408319" y="4758610"/>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ツール保守</a:t>
            </a:r>
          </a:p>
        </p:txBody>
      </p:sp>
      <p:sp>
        <p:nvSpPr>
          <p:cNvPr id="52" name="正方形/長方形 51">
            <a:extLst>
              <a:ext uri="{FF2B5EF4-FFF2-40B4-BE49-F238E27FC236}">
                <a16:creationId xmlns:a16="http://schemas.microsoft.com/office/drawing/2014/main" id="{F6370A2A-1C3A-FB9F-5AA2-1D633B4A8081}"/>
              </a:ext>
            </a:extLst>
          </p:cNvPr>
          <p:cNvSpPr/>
          <p:nvPr/>
        </p:nvSpPr>
        <p:spPr>
          <a:xfrm>
            <a:off x="1581160"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54" name="正方形/長方形 53">
            <a:extLst>
              <a:ext uri="{FF2B5EF4-FFF2-40B4-BE49-F238E27FC236}">
                <a16:creationId xmlns:a16="http://schemas.microsoft.com/office/drawing/2014/main" id="{F4669313-6B42-E8D5-C8B6-A97BB8BC94F4}"/>
              </a:ext>
            </a:extLst>
          </p:cNvPr>
          <p:cNvSpPr/>
          <p:nvPr/>
        </p:nvSpPr>
        <p:spPr>
          <a:xfrm>
            <a:off x="4657463" y="4758610"/>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a:ea typeface="メイリオ"/>
                <a:cs typeface="メイリオ"/>
              </a:rPr>
              <a:t>有</a:t>
            </a:r>
          </a:p>
        </p:txBody>
      </p:sp>
      <p:sp>
        <p:nvSpPr>
          <p:cNvPr id="56" name="正方形/長方形 55">
            <a:extLst>
              <a:ext uri="{FF2B5EF4-FFF2-40B4-BE49-F238E27FC236}">
                <a16:creationId xmlns:a16="http://schemas.microsoft.com/office/drawing/2014/main" id="{570C1A4B-626E-BC19-A80A-EBC829E90447}"/>
              </a:ext>
            </a:extLst>
          </p:cNvPr>
          <p:cNvSpPr/>
          <p:nvPr/>
        </p:nvSpPr>
        <p:spPr>
          <a:xfrm>
            <a:off x="332016"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ツール契約</a:t>
            </a:r>
          </a:p>
        </p:txBody>
      </p:sp>
      <p:sp>
        <p:nvSpPr>
          <p:cNvPr id="58" name="正方形/長方形 57">
            <a:extLst>
              <a:ext uri="{FF2B5EF4-FFF2-40B4-BE49-F238E27FC236}">
                <a16:creationId xmlns:a16="http://schemas.microsoft.com/office/drawing/2014/main" id="{698C9C70-FB31-54F8-9443-6462495BED4A}"/>
              </a:ext>
            </a:extLst>
          </p:cNvPr>
          <p:cNvSpPr/>
          <p:nvPr/>
        </p:nvSpPr>
        <p:spPr>
          <a:xfrm>
            <a:off x="3408319" y="5185247"/>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従量課金</a:t>
            </a:r>
          </a:p>
        </p:txBody>
      </p:sp>
      <p:sp>
        <p:nvSpPr>
          <p:cNvPr id="60" name="正方形/長方形 59">
            <a:extLst>
              <a:ext uri="{FF2B5EF4-FFF2-40B4-BE49-F238E27FC236}">
                <a16:creationId xmlns:a16="http://schemas.microsoft.com/office/drawing/2014/main" id="{DB72ABBD-91D1-F375-5833-50505F586EBE}"/>
              </a:ext>
            </a:extLst>
          </p:cNvPr>
          <p:cNvSpPr/>
          <p:nvPr/>
        </p:nvSpPr>
        <p:spPr>
          <a:xfrm>
            <a:off x="1581160"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有（代行）</a:t>
            </a:r>
          </a:p>
        </p:txBody>
      </p:sp>
      <p:sp>
        <p:nvSpPr>
          <p:cNvPr id="62" name="正方形/長方形 61">
            <a:extLst>
              <a:ext uri="{FF2B5EF4-FFF2-40B4-BE49-F238E27FC236}">
                <a16:creationId xmlns:a16="http://schemas.microsoft.com/office/drawing/2014/main" id="{45C7D931-8FBA-8147-09CA-92E32FE63F69}"/>
              </a:ext>
            </a:extLst>
          </p:cNvPr>
          <p:cNvSpPr/>
          <p:nvPr/>
        </p:nvSpPr>
        <p:spPr>
          <a:xfrm>
            <a:off x="4657463" y="5185247"/>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tx1"/>
                </a:solidFill>
                <a:latin typeface="メイリオ"/>
                <a:ea typeface="メイリオ"/>
                <a:cs typeface="メイリオ"/>
              </a:rPr>
              <a:t>※</a:t>
            </a:r>
            <a:r>
              <a:rPr kumimoji="1" lang="ja-JP" altLang="en-US" sz="1050" b="1" dirty="0">
                <a:solidFill>
                  <a:schemeClr val="tx1"/>
                </a:solidFill>
                <a:latin typeface="メイリオ"/>
                <a:ea typeface="メイリオ"/>
                <a:cs typeface="メイリオ"/>
              </a:rPr>
              <a:t>別途</a:t>
            </a:r>
          </a:p>
        </p:txBody>
      </p:sp>
      <p:sp>
        <p:nvSpPr>
          <p:cNvPr id="64" name="正方形/長方形 63">
            <a:extLst>
              <a:ext uri="{FF2B5EF4-FFF2-40B4-BE49-F238E27FC236}">
                <a16:creationId xmlns:a16="http://schemas.microsoft.com/office/drawing/2014/main" id="{2BD353F9-D019-DB64-0304-683FC1AECA74}"/>
              </a:ext>
            </a:extLst>
          </p:cNvPr>
          <p:cNvSpPr/>
          <p:nvPr/>
        </p:nvSpPr>
        <p:spPr>
          <a:xfrm>
            <a:off x="332016"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bg1"/>
                </a:solidFill>
                <a:latin typeface="メイリオ"/>
                <a:ea typeface="メイリオ"/>
                <a:cs typeface="メイリオ"/>
              </a:rPr>
              <a:t>タグ・</a:t>
            </a:r>
            <a:r>
              <a:rPr lang="en-US" altLang="ja-JP" sz="1050" dirty="0">
                <a:solidFill>
                  <a:schemeClr val="bg1"/>
                </a:solidFill>
                <a:latin typeface="メイリオ"/>
                <a:ea typeface="メイリオ"/>
                <a:cs typeface="メイリオ"/>
              </a:rPr>
              <a:t>GA</a:t>
            </a:r>
            <a:r>
              <a:rPr lang="ja-JP" altLang="en-US" sz="1050" dirty="0">
                <a:solidFill>
                  <a:schemeClr val="bg1"/>
                </a:solidFill>
                <a:latin typeface="メイリオ"/>
                <a:ea typeface="メイリオ"/>
                <a:cs typeface="メイリオ"/>
              </a:rPr>
              <a:t>設定</a:t>
            </a:r>
            <a:endParaRPr kumimoji="1" lang="ja-JP" altLang="en-US" sz="1050" dirty="0">
              <a:solidFill>
                <a:schemeClr val="bg1"/>
              </a:solidFill>
              <a:latin typeface="メイリオ"/>
              <a:ea typeface="メイリオ"/>
              <a:cs typeface="メイリオ"/>
            </a:endParaRPr>
          </a:p>
        </p:txBody>
      </p:sp>
      <p:sp>
        <p:nvSpPr>
          <p:cNvPr id="66" name="正方形/長方形 65">
            <a:extLst>
              <a:ext uri="{FF2B5EF4-FFF2-40B4-BE49-F238E27FC236}">
                <a16:creationId xmlns:a16="http://schemas.microsoft.com/office/drawing/2014/main" id="{FE41AB20-AB68-BF5F-43C9-2A5086821C68}"/>
              </a:ext>
            </a:extLst>
          </p:cNvPr>
          <p:cNvSpPr/>
          <p:nvPr/>
        </p:nvSpPr>
        <p:spPr>
          <a:xfrm>
            <a:off x="3408319" y="5611884"/>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個別チャット</a:t>
            </a:r>
          </a:p>
        </p:txBody>
      </p:sp>
      <p:sp>
        <p:nvSpPr>
          <p:cNvPr id="68" name="正方形/長方形 67">
            <a:extLst>
              <a:ext uri="{FF2B5EF4-FFF2-40B4-BE49-F238E27FC236}">
                <a16:creationId xmlns:a16="http://schemas.microsoft.com/office/drawing/2014/main" id="{0C362F7C-F32D-EBD7-B8B5-3AD580B3464A}"/>
              </a:ext>
            </a:extLst>
          </p:cNvPr>
          <p:cNvSpPr/>
          <p:nvPr/>
        </p:nvSpPr>
        <p:spPr>
          <a:xfrm>
            <a:off x="1581160"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70" name="正方形/長方形 69">
            <a:extLst>
              <a:ext uri="{FF2B5EF4-FFF2-40B4-BE49-F238E27FC236}">
                <a16:creationId xmlns:a16="http://schemas.microsoft.com/office/drawing/2014/main" id="{F5281D63-B2A2-FEAB-75B0-2FFB9F84A7A2}"/>
              </a:ext>
            </a:extLst>
          </p:cNvPr>
          <p:cNvSpPr/>
          <p:nvPr/>
        </p:nvSpPr>
        <p:spPr>
          <a:xfrm>
            <a:off x="4657463" y="5611884"/>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0000"/>
                </a:solidFill>
                <a:latin typeface="メイリオ"/>
                <a:ea typeface="メイリオ"/>
                <a:cs typeface="メイリオ"/>
              </a:rPr>
              <a:t>対応なし</a:t>
            </a:r>
            <a:r>
              <a:rPr kumimoji="1" lang="ja-JP" altLang="en-US" sz="1050" b="1" dirty="0">
                <a:solidFill>
                  <a:schemeClr val="tx1"/>
                </a:solidFill>
                <a:latin typeface="メイリオ"/>
                <a:ea typeface="メイリオ"/>
                <a:cs typeface="メイリオ"/>
              </a:rPr>
              <a:t> </a:t>
            </a:r>
            <a:r>
              <a:rPr lang="en-US" altLang="ja-JP" sz="1050" b="1" dirty="0">
                <a:solidFill>
                  <a:schemeClr val="tx1"/>
                </a:solidFill>
                <a:latin typeface="メイリオ"/>
                <a:ea typeface="メイリオ"/>
                <a:cs typeface="メイリオ"/>
              </a:rPr>
              <a:t>※</a:t>
            </a:r>
            <a:r>
              <a:rPr lang="ja-JP" altLang="en-US" sz="1050" b="1" dirty="0">
                <a:solidFill>
                  <a:schemeClr val="tx1"/>
                </a:solidFill>
                <a:latin typeface="メイリオ"/>
                <a:ea typeface="メイリオ"/>
                <a:cs typeface="メイリオ"/>
              </a:rPr>
              <a:t>貴社対応</a:t>
            </a:r>
            <a:endParaRPr kumimoji="1" lang="en-US" altLang="ja-JP" sz="1050" b="1" dirty="0">
              <a:solidFill>
                <a:schemeClr val="tx1"/>
              </a:solidFill>
              <a:latin typeface="メイリオ"/>
              <a:ea typeface="メイリオ"/>
              <a:cs typeface="メイリオ"/>
            </a:endParaRPr>
          </a:p>
        </p:txBody>
      </p:sp>
      <p:sp>
        <p:nvSpPr>
          <p:cNvPr id="72" name="正方形/長方形 71">
            <a:extLst>
              <a:ext uri="{FF2B5EF4-FFF2-40B4-BE49-F238E27FC236}">
                <a16:creationId xmlns:a16="http://schemas.microsoft.com/office/drawing/2014/main" id="{41EA0EB1-4DF0-53BD-91A2-2862011C9F87}"/>
              </a:ext>
            </a:extLst>
          </p:cNvPr>
          <p:cNvSpPr/>
          <p:nvPr/>
        </p:nvSpPr>
        <p:spPr>
          <a:xfrm>
            <a:off x="332016" y="6038523"/>
            <a:ext cx="1218110" cy="36115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bg1"/>
                </a:solidFill>
                <a:latin typeface="メイリオ"/>
                <a:ea typeface="メイリオ"/>
                <a:cs typeface="メイリオ"/>
              </a:rPr>
              <a:t>通知メッセ開発</a:t>
            </a:r>
          </a:p>
        </p:txBody>
      </p:sp>
      <p:sp>
        <p:nvSpPr>
          <p:cNvPr id="76" name="正方形/長方形 75">
            <a:extLst>
              <a:ext uri="{FF2B5EF4-FFF2-40B4-BE49-F238E27FC236}">
                <a16:creationId xmlns:a16="http://schemas.microsoft.com/office/drawing/2014/main" id="{5E4F37C9-A2B1-A6BD-C3F8-B77AD0EDEFFA}"/>
              </a:ext>
            </a:extLst>
          </p:cNvPr>
          <p:cNvSpPr/>
          <p:nvPr/>
        </p:nvSpPr>
        <p:spPr>
          <a:xfrm>
            <a:off x="1581160" y="603852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a:ea typeface="メイリオ"/>
                <a:cs typeface="メイリオ"/>
              </a:rPr>
              <a:t>有</a:t>
            </a:r>
          </a:p>
        </p:txBody>
      </p:sp>
      <p:sp>
        <p:nvSpPr>
          <p:cNvPr id="80" name="正方形/長方形 79">
            <a:extLst>
              <a:ext uri="{FF2B5EF4-FFF2-40B4-BE49-F238E27FC236}">
                <a16:creationId xmlns:a16="http://schemas.microsoft.com/office/drawing/2014/main" id="{86997BA3-366F-8070-9874-EFC0BCA759C0}"/>
              </a:ext>
            </a:extLst>
          </p:cNvPr>
          <p:cNvSpPr/>
          <p:nvPr/>
        </p:nvSpPr>
        <p:spPr>
          <a:xfrm>
            <a:off x="6886308" y="2281645"/>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a:ea typeface="メイリオ"/>
                <a:cs typeface="メイリオ"/>
              </a:rPr>
              <a:t>友だち数</a:t>
            </a:r>
            <a:endParaRPr kumimoji="1" lang="ja-JP" altLang="en-US" sz="1200" b="1" dirty="0">
              <a:solidFill>
                <a:schemeClr val="bg1"/>
              </a:solidFill>
              <a:latin typeface="メイリオ"/>
              <a:ea typeface="メイリオ"/>
              <a:cs typeface="メイリオ"/>
            </a:endParaRPr>
          </a:p>
        </p:txBody>
      </p:sp>
      <p:sp>
        <p:nvSpPr>
          <p:cNvPr id="82" name="正方形/長方形 81">
            <a:extLst>
              <a:ext uri="{FF2B5EF4-FFF2-40B4-BE49-F238E27FC236}">
                <a16:creationId xmlns:a16="http://schemas.microsoft.com/office/drawing/2014/main" id="{C030D946-0A5B-51B8-4D2E-5BECA1C1AE9E}"/>
              </a:ext>
            </a:extLst>
          </p:cNvPr>
          <p:cNvSpPr/>
          <p:nvPr/>
        </p:nvSpPr>
        <p:spPr>
          <a:xfrm>
            <a:off x="6886308" y="2708282"/>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a:ea typeface="メイリオ"/>
                <a:cs typeface="メイリオ"/>
              </a:rPr>
              <a:t>ブロック率</a:t>
            </a:r>
          </a:p>
        </p:txBody>
      </p:sp>
      <p:sp>
        <p:nvSpPr>
          <p:cNvPr id="84" name="正方形/長方形 83">
            <a:extLst>
              <a:ext uri="{FF2B5EF4-FFF2-40B4-BE49-F238E27FC236}">
                <a16:creationId xmlns:a16="http://schemas.microsoft.com/office/drawing/2014/main" id="{83345E18-97D5-E0ED-7743-080BEDECAE73}"/>
              </a:ext>
            </a:extLst>
          </p:cNvPr>
          <p:cNvSpPr/>
          <p:nvPr/>
        </p:nvSpPr>
        <p:spPr>
          <a:xfrm>
            <a:off x="6886308" y="3134919"/>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a:ea typeface="メイリオ"/>
                <a:cs typeface="メイリオ"/>
              </a:rPr>
              <a:t>アクティブ数</a:t>
            </a:r>
            <a:endParaRPr kumimoji="1" lang="ja-JP" altLang="en-US" sz="1200" b="1" dirty="0">
              <a:solidFill>
                <a:schemeClr val="bg1"/>
              </a:solidFill>
              <a:latin typeface="メイリオ"/>
              <a:ea typeface="メイリオ"/>
              <a:cs typeface="メイリオ"/>
            </a:endParaRPr>
          </a:p>
        </p:txBody>
      </p:sp>
      <p:sp>
        <p:nvSpPr>
          <p:cNvPr id="86" name="正方形/長方形 85">
            <a:extLst>
              <a:ext uri="{FF2B5EF4-FFF2-40B4-BE49-F238E27FC236}">
                <a16:creationId xmlns:a16="http://schemas.microsoft.com/office/drawing/2014/main" id="{C8115FEC-D115-724E-119C-CA4DA501F779}"/>
              </a:ext>
            </a:extLst>
          </p:cNvPr>
          <p:cNvSpPr/>
          <p:nvPr/>
        </p:nvSpPr>
        <p:spPr>
          <a:xfrm>
            <a:off x="6886308" y="3561556"/>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a:ea typeface="メイリオ"/>
                <a:cs typeface="メイリオ"/>
              </a:rPr>
              <a:t>月次流入</a:t>
            </a:r>
          </a:p>
        </p:txBody>
      </p:sp>
      <p:sp>
        <p:nvSpPr>
          <p:cNvPr id="9" name="正方形/長方形 8">
            <a:extLst>
              <a:ext uri="{FF2B5EF4-FFF2-40B4-BE49-F238E27FC236}">
                <a16:creationId xmlns:a16="http://schemas.microsoft.com/office/drawing/2014/main" id="{2AA6A633-D9B9-B37F-7C1A-014FB813FA06}"/>
              </a:ext>
            </a:extLst>
          </p:cNvPr>
          <p:cNvSpPr/>
          <p:nvPr/>
        </p:nvSpPr>
        <p:spPr>
          <a:xfrm>
            <a:off x="8164301" y="2281645"/>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a:ea typeface="メイリオ"/>
                <a:cs typeface="メイリオ"/>
              </a:rPr>
              <a:t>12,983人</a:t>
            </a:r>
            <a:r>
              <a:rPr lang="ja-JP" altLang="en-US" sz="1050" dirty="0">
                <a:solidFill>
                  <a:schemeClr val="tx1"/>
                </a:solidFill>
                <a:latin typeface="メイリオ"/>
                <a:ea typeface="メイリオ"/>
                <a:cs typeface="メイリオ"/>
              </a:rPr>
              <a:t/>
            </a:r>
            <a:endParaRPr kumimoji="1" lang="ja-JP" altLang="en-US" sz="1050" dirty="0">
              <a:solidFill>
                <a:schemeClr val="tx1"/>
              </a:solidFill>
              <a:latin typeface="メイリオ"/>
              <a:ea typeface="メイリオ"/>
              <a:cs typeface="メイリオ"/>
            </a:endParaRPr>
          </a:p>
        </p:txBody>
      </p:sp>
      <p:sp>
        <p:nvSpPr>
          <p:cNvPr id="12" name="正方形/長方形 11">
            <a:extLst>
              <a:ext uri="{FF2B5EF4-FFF2-40B4-BE49-F238E27FC236}">
                <a16:creationId xmlns:a16="http://schemas.microsoft.com/office/drawing/2014/main" id="{CC94D28D-94E4-A4B2-0E17-AC880DFFC3F2}"/>
              </a:ext>
            </a:extLst>
          </p:cNvPr>
          <p:cNvSpPr/>
          <p:nvPr/>
        </p:nvSpPr>
        <p:spPr>
          <a:xfrm>
            <a:off x="8164301" y="2708282"/>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solidFill>
                <a:latin typeface="メイリオ"/>
                <a:ea typeface="メイリオ"/>
                <a:cs typeface="メイリオ"/>
              </a:rPr>
              <a:t>26.9％</a:t>
            </a:r>
            <a:r>
              <a:rPr kumimoji="1" lang="ja-JP" altLang="en-US" sz="1050" dirty="0">
                <a:solidFill>
                  <a:schemeClr val="tx1"/>
                </a:solidFill>
                <a:latin typeface="メイリオ"/>
                <a:ea typeface="メイリオ"/>
                <a:cs typeface="メイリオ"/>
              </a:rPr>
              <a:t/>
            </a:r>
          </a:p>
        </p:txBody>
      </p:sp>
      <p:sp>
        <p:nvSpPr>
          <p:cNvPr id="14" name="正方形/長方形 13">
            <a:extLst>
              <a:ext uri="{FF2B5EF4-FFF2-40B4-BE49-F238E27FC236}">
                <a16:creationId xmlns:a16="http://schemas.microsoft.com/office/drawing/2014/main" id="{FA9E580B-2203-AF06-37ED-22A323C4D7E0}"/>
              </a:ext>
            </a:extLst>
          </p:cNvPr>
          <p:cNvSpPr/>
          <p:nvPr/>
        </p:nvSpPr>
        <p:spPr>
          <a:xfrm>
            <a:off x="8164301" y="3134919"/>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solidFill>
                <a:latin typeface="メイリオ"/>
                <a:ea typeface="メイリオ"/>
                <a:cs typeface="メイリオ"/>
              </a:rPr>
              <a:t>9,487人</a:t>
            </a:r>
            <a:r>
              <a:rPr kumimoji="1" lang="ja-JP" altLang="en-US" sz="1050" dirty="0">
                <a:solidFill>
                  <a:schemeClr val="tx1"/>
                </a:solidFill>
                <a:latin typeface="メイリオ"/>
                <a:ea typeface="メイリオ"/>
                <a:cs typeface="メイリオ"/>
              </a:rPr>
              <a:t/>
            </a:r>
          </a:p>
        </p:txBody>
      </p:sp>
      <p:sp>
        <p:nvSpPr>
          <p:cNvPr id="18" name="正方形/長方形 17">
            <a:extLst>
              <a:ext uri="{FF2B5EF4-FFF2-40B4-BE49-F238E27FC236}">
                <a16:creationId xmlns:a16="http://schemas.microsoft.com/office/drawing/2014/main" id="{D8257CDF-9FD5-0F74-81D6-DB4083EEF9B6}"/>
              </a:ext>
            </a:extLst>
          </p:cNvPr>
          <p:cNvSpPr/>
          <p:nvPr/>
        </p:nvSpPr>
        <p:spPr>
          <a:xfrm>
            <a:off x="8164301" y="3561556"/>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a:ea typeface="メイリオ"/>
                <a:cs typeface="メイリオ"/>
              </a:rPr>
              <a:t>3,795件</a:t>
            </a:r>
            <a:r>
              <a:rPr kumimoji="1" lang="en-US" altLang="ja-JP" sz="1050" dirty="0">
                <a:solidFill>
                  <a:schemeClr val="tx1"/>
                </a:solidFill>
                <a:latin typeface="メイリオ"/>
                <a:ea typeface="メイリオ"/>
                <a:cs typeface="メイリオ"/>
              </a:rPr>
              <a:t/>
            </a:r>
            <a:r>
              <a:rPr kumimoji="1" lang="ja-JP" altLang="en-US" sz="1050" dirty="0">
                <a:solidFill>
                  <a:schemeClr val="tx1"/>
                </a:solidFill>
                <a:latin typeface="メイリオ"/>
                <a:ea typeface="メイリオ"/>
                <a:cs typeface="メイリオ"/>
              </a:rPr>
              <a:t/>
            </a:r>
          </a:p>
        </p:txBody>
      </p:sp>
      <p:sp>
        <p:nvSpPr>
          <p:cNvPr id="22" name="正方形/長方形 21">
            <a:extLst>
              <a:ext uri="{FF2B5EF4-FFF2-40B4-BE49-F238E27FC236}">
                <a16:creationId xmlns:a16="http://schemas.microsoft.com/office/drawing/2014/main" id="{E9D6EF79-2762-E3E7-C4FF-8ABEB3AF0D2E}"/>
              </a:ext>
            </a:extLst>
          </p:cNvPr>
          <p:cNvSpPr/>
          <p:nvPr/>
        </p:nvSpPr>
        <p:spPr>
          <a:xfrm>
            <a:off x="6886308" y="3988193"/>
            <a:ext cx="1218110" cy="36115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a:ea typeface="メイリオ"/>
                <a:cs typeface="メイリオ"/>
              </a:rPr>
              <a:t>月次</a:t>
            </a:r>
            <a:r>
              <a:rPr kumimoji="1" lang="en-US" altLang="ja-JP" sz="1200" b="1" dirty="0">
                <a:solidFill>
                  <a:schemeClr val="bg1"/>
                </a:solidFill>
                <a:latin typeface="メイリオ"/>
                <a:ea typeface="メイリオ"/>
                <a:cs typeface="メイリオ"/>
              </a:rPr>
              <a:t>PV</a:t>
            </a:r>
            <a:r>
              <a:rPr kumimoji="1" lang="ja-JP" altLang="en-US" sz="1200" b="1" dirty="0">
                <a:solidFill>
                  <a:schemeClr val="bg1"/>
                </a:solidFill>
                <a:latin typeface="メイリオ"/>
                <a:ea typeface="メイリオ"/>
                <a:cs typeface="メイリオ"/>
              </a:rPr>
              <a:t>増加</a:t>
            </a:r>
          </a:p>
        </p:txBody>
      </p:sp>
      <p:sp>
        <p:nvSpPr>
          <p:cNvPr id="26" name="正方形/長方形 25">
            <a:extLst>
              <a:ext uri="{FF2B5EF4-FFF2-40B4-BE49-F238E27FC236}">
                <a16:creationId xmlns:a16="http://schemas.microsoft.com/office/drawing/2014/main" id="{EBA283C4-73C8-787D-46CC-5D51614694C7}"/>
              </a:ext>
            </a:extLst>
          </p:cNvPr>
          <p:cNvSpPr/>
          <p:nvPr/>
        </p:nvSpPr>
        <p:spPr>
          <a:xfrm>
            <a:off x="8164301" y="3988193"/>
            <a:ext cx="1473913" cy="36115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dirty="0">
                <a:solidFill>
                  <a:schemeClr val="tx1"/>
                </a:solidFill>
                <a:latin typeface="メイリオ"/>
                <a:ea typeface="メイリオ"/>
                <a:cs typeface="メイリオ"/>
              </a:rPr>
              <a:t>7,779件</a:t>
            </a:r>
            <a:r>
              <a:rPr kumimoji="1" lang="en-US" altLang="ja-JP" sz="1050" dirty="0">
                <a:solidFill>
                  <a:schemeClr val="tx1"/>
                </a:solidFill>
                <a:latin typeface="メイリオ"/>
                <a:ea typeface="メイリオ"/>
                <a:cs typeface="メイリオ"/>
              </a:rPr>
              <a:t/>
            </a:r>
            <a:r>
              <a:rPr kumimoji="1" lang="ja-JP" altLang="en-US" sz="1050" dirty="0">
                <a:solidFill>
                  <a:schemeClr val="tx1"/>
                </a:solidFill>
                <a:latin typeface="メイリオ"/>
                <a:ea typeface="メイリオ"/>
                <a:cs typeface="メイリオ"/>
              </a:rPr>
              <a:t/>
            </a:r>
          </a:p>
        </p:txBody>
      </p:sp>
      <p:sp>
        <p:nvSpPr>
          <p:cNvPr id="11" name="テキスト ボックス 10">
            <a:extLst>
              <a:ext uri="{FF2B5EF4-FFF2-40B4-BE49-F238E27FC236}">
                <a16:creationId xmlns:a16="http://schemas.microsoft.com/office/drawing/2014/main" id="{B929C50F-2665-3386-8189-7F9435CF5269}"/>
              </a:ext>
            </a:extLst>
          </p:cNvPr>
          <p:cNvSpPr txBox="1"/>
          <p:nvPr/>
        </p:nvSpPr>
        <p:spPr>
          <a:xfrm>
            <a:off x="3408319" y="6145757"/>
            <a:ext cx="2723057" cy="253916"/>
          </a:xfrm>
          <a:prstGeom prst="rect">
            <a:avLst/>
          </a:prstGeom>
          <a:noFill/>
        </p:spPr>
        <p:txBody>
          <a:bodyPr wrap="square">
            <a:spAutoFit/>
          </a:bodyPr>
          <a:lstStyle/>
          <a:p>
            <a:pPr algn="ctr"/>
            <a:r>
              <a:rPr kumimoji="1" lang="en-US" altLang="ja-JP" sz="1050" b="1" dirty="0">
                <a:solidFill>
                  <a:schemeClr val="tx1"/>
                </a:solidFill>
                <a:latin typeface="メイリオ"/>
                <a:ea typeface="メイリオ"/>
                <a:cs typeface="メイリオ"/>
              </a:rPr>
              <a:t>※</a:t>
            </a:r>
            <a:r>
              <a:rPr kumimoji="1" lang="ja-JP" altLang="en-US" sz="1050" b="1" dirty="0">
                <a:solidFill>
                  <a:schemeClr val="tx1"/>
                </a:solidFill>
                <a:latin typeface="メイリオ"/>
                <a:ea typeface="メイリオ"/>
                <a:cs typeface="メイリオ"/>
              </a:rPr>
              <a:t>媒体費については、ご相談の上で調整</a:t>
            </a:r>
          </a:p>
        </p:txBody>
      </p:sp>
    </p:spTree>
    <p:extLst>
      <p:ext uri="{BB962C8B-B14F-4D97-AF65-F5344CB8AC3E}">
        <p14:creationId xmlns:p14="http://schemas.microsoft.com/office/powerpoint/2010/main" val="32972215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4BEB-009A-B205-F056-C0A4A7EC74B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8B053BE-8B30-9364-6C34-EB1FF63BBC9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 name="正方形/長方形 3">
            <a:extLst>
              <a:ext uri="{FF2B5EF4-FFF2-40B4-BE49-F238E27FC236}">
                <a16:creationId xmlns:a16="http://schemas.microsoft.com/office/drawing/2014/main" id="{930D2F66-9C3F-E63B-8E95-4CC2E04B5A4C}"/>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a:ea typeface="メイリオ"/>
              <a:cs typeface="メイリオ"/>
            </a:endParaRPr>
          </a:p>
        </p:txBody>
      </p:sp>
      <p:sp>
        <p:nvSpPr>
          <p:cNvPr id="45" name="Google Shape;156;p7">
            <a:extLst>
              <a:ext uri="{FF2B5EF4-FFF2-40B4-BE49-F238E27FC236}">
                <a16:creationId xmlns:a16="http://schemas.microsoft.com/office/drawing/2014/main" id="{131B7CF5-2776-F770-3C36-63F4D43AD11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想定の費用対効果（詳細）</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E60BE6AA-B4D9-CEF6-2EB7-4D6A8F9D8FE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Google Shape;156;p7">
            <a:extLst>
              <a:ext uri="{FF2B5EF4-FFF2-40B4-BE49-F238E27FC236}">
                <a16:creationId xmlns:a16="http://schemas.microsoft.com/office/drawing/2014/main" id="{EF605292-259C-008C-231D-F2C24748CB5F}"/>
              </a:ext>
            </a:extLst>
          </p:cNvPr>
          <p:cNvSpPr txBox="1"/>
          <p:nvPr/>
        </p:nvSpPr>
        <p:spPr>
          <a:xfrm>
            <a:off x="474859" y="1618534"/>
            <a:ext cx="6514857" cy="276959"/>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200" dirty="0">
                <a:solidFill>
                  <a:schemeClr val="tx2"/>
                </a:solidFill>
                <a:latin typeface="メイリオ"/>
                <a:ea typeface="メイリオ"/>
                <a:cs typeface="メイリオ"/>
                <a:sym typeface="Meiryo"/>
              </a:rPr>
              <a:t>想定の費用対効果（詳細）</a:t>
            </a:r>
            <a:endParaRPr sz="1200" dirty="0">
              <a:solidFill>
                <a:schemeClr val="tx2"/>
              </a:solidFill>
              <a:latin typeface="メイリオ"/>
              <a:ea typeface="メイリオ"/>
              <a:cs typeface="メイリオ"/>
              <a:sym typeface="Meiryo"/>
            </a:endParaRPr>
          </a:p>
        </p:txBody>
      </p:sp>
      <p:pic>
        <p:nvPicPr>
          <p:cNvPr id="7" name="図 6">
            <a:extLst>
              <a:ext uri="{FF2B5EF4-FFF2-40B4-BE49-F238E27FC236}">
                <a16:creationId xmlns:a16="http://schemas.microsoft.com/office/drawing/2014/main" id="{F2B315AB-676E-5A0A-6ED8-9C9741AA3EFC}"/>
              </a:ext>
            </a:extLst>
          </p:cNvPr>
          <p:cNvPicPr>
            <a:picLocks noChangeAspect="1"/>
          </p:cNvPicPr>
          <p:nvPr/>
        </p:nvPicPr>
        <p:blipFill>
          <a:blip r:embed="rId3"/>
          <a:stretch>
            <a:fillRect/>
          </a:stretch>
        </p:blipFill>
        <p:spPr>
          <a:xfrm>
            <a:off x="343745" y="2021542"/>
            <a:ext cx="9218511" cy="3706744"/>
          </a:xfrm>
          <a:prstGeom prst="rect">
            <a:avLst/>
          </a:prstGeom>
        </p:spPr>
      </p:pic>
    </p:spTree>
    <p:extLst>
      <p:ext uri="{BB962C8B-B14F-4D97-AF65-F5344CB8AC3E}">
        <p14:creationId xmlns:p14="http://schemas.microsoft.com/office/powerpoint/2010/main" val="3879951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LINE公式アカウントを“会員の定着装置”に － 登録者は休眠化しにくく、再訪率が高い</a:t>
            </a:r>
          </a:p>
        </p:txBody>
      </p:sp>
      <p:sp>
        <p:nvSpPr>
          <p:cNvPr id="4" name="TextBox 3"/>
          <p:cNvSpPr txBox="1"/>
          <p:nvPr/>
        </p:nvSpPr>
        <p:spPr>
          <a:xfrm>
            <a:off x="457200" y="1335024"/>
            <a:ext cx="9052560" cy="371640"/>
          </a:xfrm>
          <a:prstGeom prst="rect">
            <a:avLst/>
          </a:prstGeom>
          <a:noFill/>
        </p:spPr>
        <p:txBody>
          <a:bodyPr wrap="square" lIns="0" tIns="0" rIns="0" bIns="0" anchor="t">
            <a:spAutoFit/>
          </a:bodyPr>
          <a:lstStyle/>
          <a:p>
            <a:pPr algn="l">
              <a:lnSpc>
                <a:spcPct val="115000"/>
              </a:lnSpc>
            </a:pPr>
            <a:r>
              <a:rPr sz="1050" b="0">
                <a:solidFill>
                  <a:srgbClr val="33383F"/>
                </a:solidFill>
                <a:latin typeface="メイリオ"/>
                <a:ea typeface="メイリオ"/>
                <a:cs typeface="メイリオ"/>
              </a:rPr>
              <a:t>AIO/SEO施策で拡充する参加型コンテンツ（アンケート・総選挙 等）を “届ける・連れ戻す” レイヤーとしてLINE公式アカウントで補完。</a:t>
            </a:r>
          </a:p>
          <a:p>
            <a:pPr algn="l">
              <a:lnSpc>
                <a:spcPct val="115000"/>
              </a:lnSpc>
            </a:pPr>
            <a:r>
              <a:rPr sz="1050" b="0">
                <a:solidFill>
                  <a:srgbClr val="33383F"/>
                </a:solidFill>
                <a:latin typeface="メイリオ"/>
                <a:ea typeface="メイリオ"/>
                <a:cs typeface="メイリオ"/>
              </a:rPr>
              <a:t>会員登録時のサンクスLINE ＋ コンテンツ更新通知で、登録直後の熱量を継続接点に変える</a:t>
            </a:r>
          </a:p>
        </p:txBody>
      </p:sp>
      <p:sp>
        <p:nvSpPr>
          <p:cNvPr id="5" name="Rounded Rectangle 4"/>
          <p:cNvSpPr/>
          <p:nvPr/>
        </p:nvSpPr>
        <p:spPr>
          <a:xfrm>
            <a:off x="457200" y="1975104"/>
            <a:ext cx="1024128" cy="347472"/>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2060354"/>
            <a:ext cx="1024128" cy="176972"/>
          </a:xfrm>
          <a:prstGeom prst="rect">
            <a:avLst/>
          </a:prstGeom>
          <a:noFill/>
        </p:spPr>
        <p:txBody>
          <a:bodyPr wrap="square" lIns="0" tIns="0" rIns="0" bIns="0" anchor="ctr">
            <a:spAutoFit/>
          </a:bodyPr>
          <a:lstStyle/>
          <a:p>
            <a:pPr algn="ctr"/>
            <a:r>
              <a:rPr sz="1150" b="1">
                <a:solidFill>
                  <a:srgbClr val="FFFFFF"/>
                </a:solidFill>
                <a:latin typeface="メイリオ"/>
                <a:ea typeface="メイリオ"/>
                <a:cs typeface="メイリオ"/>
              </a:rPr>
              <a:t>POINT</a:t>
            </a:r>
          </a:p>
        </p:txBody>
      </p:sp>
      <p:sp>
        <p:nvSpPr>
          <p:cNvPr id="7" name="Oval 6"/>
          <p:cNvSpPr/>
          <p:nvPr/>
        </p:nvSpPr>
        <p:spPr>
          <a:xfrm>
            <a:off x="475488" y="2587751"/>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8" name="TextBox 7"/>
          <p:cNvSpPr txBox="1"/>
          <p:nvPr/>
        </p:nvSpPr>
        <p:spPr>
          <a:xfrm>
            <a:off x="731520" y="2542032"/>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サンクスLINE誘導</a:t>
            </a:r>
          </a:p>
        </p:txBody>
      </p:sp>
      <p:sp>
        <p:nvSpPr>
          <p:cNvPr id="9" name="TextBox 8"/>
          <p:cNvSpPr txBox="1"/>
          <p:nvPr/>
        </p:nvSpPr>
        <p:spPr>
          <a:xfrm>
            <a:off x="731520" y="2843784"/>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登録直後・サイト訪問時に友だち化。初月に7,113人（非広告UUの約12%）が移行。</a:t>
            </a:r>
          </a:p>
        </p:txBody>
      </p:sp>
      <p:sp>
        <p:nvSpPr>
          <p:cNvPr id="10" name="Oval 9"/>
          <p:cNvSpPr/>
          <p:nvPr/>
        </p:nvSpPr>
        <p:spPr>
          <a:xfrm>
            <a:off x="475488" y="3447287"/>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1" name="TextBox 10"/>
          <p:cNvSpPr txBox="1"/>
          <p:nvPr/>
        </p:nvSpPr>
        <p:spPr>
          <a:xfrm>
            <a:off x="731520" y="3401568"/>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コンテンツ更新通知</a:t>
            </a:r>
          </a:p>
        </p:txBody>
      </p:sp>
      <p:sp>
        <p:nvSpPr>
          <p:cNvPr id="12" name="TextBox 11"/>
          <p:cNvSpPr txBox="1"/>
          <p:nvPr/>
        </p:nvSpPr>
        <p:spPr>
          <a:xfrm>
            <a:off x="731520" y="3703320"/>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月4回配信。到達層の約40%が毎月、企画コンテンツへ能動的に流入。</a:t>
            </a:r>
          </a:p>
        </p:txBody>
      </p:sp>
      <p:sp>
        <p:nvSpPr>
          <p:cNvPr id="13" name="Oval 12"/>
          <p:cNvSpPr/>
          <p:nvPr/>
        </p:nvSpPr>
        <p:spPr>
          <a:xfrm>
            <a:off x="3904487" y="2587751"/>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4" name="TextBox 13"/>
          <p:cNvSpPr txBox="1"/>
          <p:nvPr/>
        </p:nvSpPr>
        <p:spPr>
          <a:xfrm>
            <a:off x="4160520" y="2542032"/>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休眠化しにくい</a:t>
            </a:r>
          </a:p>
        </p:txBody>
      </p:sp>
      <p:sp>
        <p:nvSpPr>
          <p:cNvPr id="15" name="TextBox 14"/>
          <p:cNvSpPr txBox="1"/>
          <p:nvPr/>
        </p:nvSpPr>
        <p:spPr>
          <a:xfrm>
            <a:off x="4160520" y="2843784"/>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ブロック率は6ヶ月目でも26.9%と低位。再訪の起点が毎月あり、休眠に入りにくい。</a:t>
            </a:r>
          </a:p>
        </p:txBody>
      </p:sp>
      <p:sp>
        <p:nvSpPr>
          <p:cNvPr id="16" name="Oval 15"/>
          <p:cNvSpPr/>
          <p:nvPr/>
        </p:nvSpPr>
        <p:spPr>
          <a:xfrm>
            <a:off x="3904487" y="3447287"/>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TextBox 16"/>
          <p:cNvSpPr txBox="1"/>
          <p:nvPr/>
        </p:nvSpPr>
        <p:spPr>
          <a:xfrm>
            <a:off x="4160520" y="3401568"/>
            <a:ext cx="278892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積み上がる資産</a:t>
            </a:r>
          </a:p>
        </p:txBody>
      </p:sp>
      <p:sp>
        <p:nvSpPr>
          <p:cNvPr id="18" name="TextBox 17"/>
          <p:cNvSpPr txBox="1"/>
          <p:nvPr/>
        </p:nvSpPr>
        <p:spPr>
          <a:xfrm>
            <a:off x="4160520" y="3703320"/>
            <a:ext cx="278892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翌月以降もサイト訪問数に応じ純増。6ヶ月で友だち12,983人。</a:t>
            </a:r>
          </a:p>
        </p:txBody>
      </p:sp>
      <p:sp>
        <p:nvSpPr>
          <p:cNvPr id="30" name="Rounded Rectangle 29"/>
          <p:cNvSpPr/>
          <p:nvPr/>
        </p:nvSpPr>
        <p:spPr>
          <a:xfrm>
            <a:off x="457200" y="4370832"/>
            <a:ext cx="4416552" cy="1810512"/>
          </a:xfrm>
          <a:prstGeom prst="roundRect">
            <a:avLst/>
          </a:prstGeom>
          <a:solidFill>
            <a:srgbClr val="F7F7F9"/>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1" name="Rectangle 30"/>
          <p:cNvSpPr/>
          <p:nvPr/>
        </p:nvSpPr>
        <p:spPr>
          <a:xfrm>
            <a:off x="457200" y="4370832"/>
            <a:ext cx="4416552" cy="822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2" name="TextBox 31"/>
          <p:cNvSpPr txBox="1"/>
          <p:nvPr/>
        </p:nvSpPr>
        <p:spPr>
          <a:xfrm>
            <a:off x="594360" y="4535424"/>
            <a:ext cx="4142232" cy="192360"/>
          </a:xfrm>
          <a:prstGeom prst="rect">
            <a:avLst/>
          </a:prstGeom>
          <a:noFill/>
        </p:spPr>
        <p:txBody>
          <a:bodyPr wrap="square" lIns="0" tIns="0" rIns="0" bIns="0" anchor="t">
            <a:spAutoFit/>
          </a:bodyPr>
          <a:lstStyle/>
          <a:p>
            <a:pPr algn="ctr"/>
            <a:r>
              <a:rPr sz="1250" b="1">
                <a:solidFill>
                  <a:srgbClr val="06C755"/>
                </a:solidFill>
                <a:latin typeface="メイリオ"/>
                <a:ea typeface="メイリオ"/>
                <a:cs typeface="メイリオ"/>
              </a:rPr>
              <a:t>6ヶ月後のLINE友だち</a:t>
            </a:r>
          </a:p>
        </p:txBody>
      </p:sp>
      <p:sp>
        <p:nvSpPr>
          <p:cNvPr id="33" name="Rounded Rectangle 32"/>
          <p:cNvSpPr/>
          <p:nvPr/>
        </p:nvSpPr>
        <p:spPr>
          <a:xfrm>
            <a:off x="713232" y="4901184"/>
            <a:ext cx="3904487" cy="640080"/>
          </a:xfrm>
          <a:prstGeom prst="roundRect">
            <a:avLst/>
          </a:prstGeom>
          <a:solidFill>
            <a:srgbClr val="E7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4" name="TextBox 33"/>
          <p:cNvSpPr txBox="1"/>
          <p:nvPr/>
        </p:nvSpPr>
        <p:spPr>
          <a:xfrm>
            <a:off x="1846341" y="5067335"/>
            <a:ext cx="1638269" cy="307777"/>
          </a:xfrm>
          <a:prstGeom prst="rect">
            <a:avLst/>
          </a:prstGeom>
          <a:noFill/>
        </p:spPr>
        <p:txBody>
          <a:bodyPr wrap="none" lIns="0" tIns="0" rIns="0" bIns="0" anchor="ctr">
            <a:spAutoFit/>
          </a:bodyPr>
          <a:lstStyle/>
          <a:p>
            <a:pPr algn="ctr"/>
            <a:r>
              <a:rPr sz="2000" b="1">
                <a:solidFill>
                  <a:srgbClr val="06C755"/>
                </a:solidFill>
                <a:latin typeface="メイリオ"/>
                <a:ea typeface="メイリオ"/>
                <a:cs typeface="メイリオ"/>
              </a:rPr>
              <a:t>12,983 人</a:t>
            </a:r>
          </a:p>
        </p:txBody>
      </p:sp>
      <p:sp>
        <p:nvSpPr>
          <p:cNvPr id="35" name="TextBox 34"/>
          <p:cNvSpPr txBox="1"/>
          <p:nvPr/>
        </p:nvSpPr>
        <p:spPr>
          <a:xfrm>
            <a:off x="676656" y="5650992"/>
            <a:ext cx="4032504" cy="314830"/>
          </a:xfrm>
          <a:prstGeom prst="rect">
            <a:avLst/>
          </a:prstGeom>
          <a:noFill/>
        </p:spPr>
        <p:txBody>
          <a:bodyPr wrap="square" lIns="0" tIns="0" rIns="0" bIns="0" anchor="t">
            <a:spAutoFit/>
          </a:bodyPr>
          <a:lstStyle/>
          <a:p>
            <a:pPr algn="l">
              <a:lnSpc>
                <a:spcPct val="110000"/>
              </a:lnSpc>
            </a:pPr>
            <a:r>
              <a:rPr sz="930" b="0">
                <a:solidFill>
                  <a:srgbClr val="23272E"/>
                </a:solidFill>
                <a:latin typeface="メイリオ"/>
                <a:ea typeface="メイリオ"/>
                <a:cs typeface="メイリオ"/>
              </a:rPr>
              <a:t>初月 7,113人（サンクスLINE＋初期告知）→ サイト訪問数に応じ純増。ブロック率は6ヶ月目でも26.9%で、定着しやすい会員プール。</a:t>
            </a:r>
          </a:p>
        </p:txBody>
      </p:sp>
      <p:sp>
        <p:nvSpPr>
          <p:cNvPr id="36" name="Rounded Rectangle 35"/>
          <p:cNvSpPr/>
          <p:nvPr/>
        </p:nvSpPr>
        <p:spPr>
          <a:xfrm>
            <a:off x="5093208" y="4370832"/>
            <a:ext cx="4416552" cy="1810512"/>
          </a:xfrm>
          <a:prstGeom prst="roundRect">
            <a:avLst/>
          </a:prstGeom>
          <a:solidFill>
            <a:srgbClr val="F7F7F9"/>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7" name="Rectangle 36"/>
          <p:cNvSpPr/>
          <p:nvPr/>
        </p:nvSpPr>
        <p:spPr>
          <a:xfrm>
            <a:off x="5093208" y="4370832"/>
            <a:ext cx="4416552" cy="82296"/>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8" name="TextBox 37"/>
          <p:cNvSpPr txBox="1"/>
          <p:nvPr/>
        </p:nvSpPr>
        <p:spPr>
          <a:xfrm>
            <a:off x="5230368" y="4535424"/>
            <a:ext cx="4142232" cy="192360"/>
          </a:xfrm>
          <a:prstGeom prst="rect">
            <a:avLst/>
          </a:prstGeom>
          <a:noFill/>
        </p:spPr>
        <p:txBody>
          <a:bodyPr wrap="square" lIns="0" tIns="0" rIns="0" bIns="0" anchor="t">
            <a:spAutoFit/>
          </a:bodyPr>
          <a:lstStyle/>
          <a:p>
            <a:pPr algn="ctr"/>
            <a:r>
              <a:rPr sz="1250" b="1">
                <a:solidFill>
                  <a:srgbClr val="EE7A22"/>
                </a:solidFill>
                <a:latin typeface="メイリオ"/>
                <a:ea typeface="メイリオ"/>
                <a:cs typeface="メイリオ"/>
              </a:rPr>
              <a:t>LINE経由の月次サイト流入</a:t>
            </a:r>
          </a:p>
        </p:txBody>
      </p:sp>
      <p:sp>
        <p:nvSpPr>
          <p:cNvPr id="39" name="Rounded Rectangle 38"/>
          <p:cNvSpPr/>
          <p:nvPr/>
        </p:nvSpPr>
        <p:spPr>
          <a:xfrm>
            <a:off x="5349240" y="4901184"/>
            <a:ext cx="3904487" cy="640080"/>
          </a:xfrm>
          <a:prstGeom prst="roundRect">
            <a:avLst/>
          </a:prstGeom>
          <a:solidFill>
            <a:srgbClr val="FBEF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0" name="TextBox 39"/>
          <p:cNvSpPr txBox="1"/>
          <p:nvPr/>
        </p:nvSpPr>
        <p:spPr>
          <a:xfrm>
            <a:off x="5935725" y="5067335"/>
            <a:ext cx="2731517" cy="307777"/>
          </a:xfrm>
          <a:prstGeom prst="rect">
            <a:avLst/>
          </a:prstGeom>
          <a:noFill/>
        </p:spPr>
        <p:txBody>
          <a:bodyPr wrap="none" lIns="0" tIns="0" rIns="0" bIns="0" anchor="ctr">
            <a:spAutoFit/>
          </a:bodyPr>
          <a:lstStyle/>
          <a:p>
            <a:pPr algn="ctr"/>
            <a:r>
              <a:rPr sz="2000" b="1">
                <a:solidFill>
                  <a:srgbClr val="EE7A22"/>
                </a:solidFill>
                <a:latin typeface="メイリオ"/>
                <a:ea typeface="メイリオ"/>
                <a:cs typeface="メイリオ"/>
              </a:rPr>
              <a:t>6ヶ月後 3,795件/月</a:t>
            </a:r>
          </a:p>
        </p:txBody>
      </p:sp>
      <p:sp>
        <p:nvSpPr>
          <p:cNvPr id="41" name="TextBox 40"/>
          <p:cNvSpPr txBox="1"/>
          <p:nvPr/>
        </p:nvSpPr>
        <p:spPr>
          <a:xfrm>
            <a:off x="5312664" y="5650992"/>
            <a:ext cx="4032504" cy="314830"/>
          </a:xfrm>
          <a:prstGeom prst="rect">
            <a:avLst/>
          </a:prstGeom>
          <a:noFill/>
        </p:spPr>
        <p:txBody>
          <a:bodyPr wrap="square" lIns="0" tIns="0" rIns="0" bIns="0" anchor="t">
            <a:spAutoFit/>
          </a:bodyPr>
          <a:lstStyle/>
          <a:p>
            <a:pPr algn="l">
              <a:lnSpc>
                <a:spcPct val="110000"/>
              </a:lnSpc>
            </a:pPr>
            <a:r>
              <a:rPr sz="930" b="0">
                <a:solidFill>
                  <a:srgbClr val="23272E"/>
                </a:solidFill>
                <a:latin typeface="メイリオ"/>
                <a:ea typeface="メイリオ"/>
                <a:cs typeface="メイリオ"/>
              </a:rPr>
              <a:t>到達（配信可）9,487人 × 反応率40%。6ヶ月累計 17,802件。※モデルケース</a:t>
            </a:r>
          </a:p>
        </p:txBody>
      </p:sp>
      <p:sp>
        <p:nvSpPr>
          <p:cNvPr id="42" name="TextBox 41"/>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a:ea typeface="メイリオ"/>
                <a:cs typeface="メイリオ"/>
              </a:rPr>
              <a:t>※出典：弊社シミュレーション。ブロック率・反応率は想定値</a:t>
            </a:r>
          </a:p>
        </p:txBody>
      </p:sp>
      <p:pic>
        <p:nvPicPr>
          <p:cNvPr id="44" name="図 43">
            <a:extLst>
              <a:ext uri="{FF2B5EF4-FFF2-40B4-BE49-F238E27FC236}">
                <a16:creationId xmlns:a16="http://schemas.microsoft.com/office/drawing/2014/main" id="{247D73C4-C5B1-5A1A-D303-C27A1D522F63}"/>
              </a:ext>
            </a:extLst>
          </p:cNvPr>
          <p:cNvPicPr>
            <a:picLocks noChangeAspect="1"/>
          </p:cNvPicPr>
          <p:nvPr/>
        </p:nvPicPr>
        <p:blipFill>
          <a:blip r:embed="rId2"/>
          <a:stretch>
            <a:fillRect/>
          </a:stretch>
        </p:blipFill>
        <p:spPr>
          <a:xfrm>
            <a:off x="7582352" y="1530841"/>
            <a:ext cx="1401453" cy="2805702"/>
          </a:xfrm>
          <a:prstGeom prst="rect">
            <a:avLst/>
          </a:prstGeom>
        </p:spPr>
      </p:pic>
      <p:sp>
        <p:nvSpPr>
          <p:cNvPr id="46" name="Rectangle 19">
            <a:extLst>
              <a:ext uri="{FF2B5EF4-FFF2-40B4-BE49-F238E27FC236}">
                <a16:creationId xmlns:a16="http://schemas.microsoft.com/office/drawing/2014/main" id="{CD68BDD1-A90E-9A11-1E7E-B0BC4232171B}"/>
              </a:ext>
            </a:extLst>
          </p:cNvPr>
          <p:cNvSpPr/>
          <p:nvPr/>
        </p:nvSpPr>
        <p:spPr>
          <a:xfrm>
            <a:off x="7660794" y="1722963"/>
            <a:ext cx="1283398" cy="229711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8" name="Rectangle 20">
            <a:extLst>
              <a:ext uri="{FF2B5EF4-FFF2-40B4-BE49-F238E27FC236}">
                <a16:creationId xmlns:a16="http://schemas.microsoft.com/office/drawing/2014/main" id="{1BEB7E8B-CDE4-3211-20FE-C2F445B5F840}"/>
              </a:ext>
            </a:extLst>
          </p:cNvPr>
          <p:cNvSpPr/>
          <p:nvPr/>
        </p:nvSpPr>
        <p:spPr>
          <a:xfrm>
            <a:off x="7660794" y="1714337"/>
            <a:ext cx="1283398" cy="321023"/>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0" name="TextBox 21">
            <a:extLst>
              <a:ext uri="{FF2B5EF4-FFF2-40B4-BE49-F238E27FC236}">
                <a16:creationId xmlns:a16="http://schemas.microsoft.com/office/drawing/2014/main" id="{EB07D357-970B-5F07-FFC5-44FB453C2E51}"/>
              </a:ext>
            </a:extLst>
          </p:cNvPr>
          <p:cNvSpPr txBox="1"/>
          <p:nvPr/>
        </p:nvSpPr>
        <p:spPr>
          <a:xfrm>
            <a:off x="7716838" y="1827037"/>
            <a:ext cx="1171310" cy="112874"/>
          </a:xfrm>
          <a:prstGeom prst="rect">
            <a:avLst/>
          </a:prstGeom>
          <a:noFill/>
        </p:spPr>
        <p:txBody>
          <a:bodyPr wrap="square" lIns="0" tIns="0" rIns="0" bIns="0" anchor="ctr">
            <a:spAutoFit/>
          </a:bodyPr>
          <a:lstStyle/>
          <a:p>
            <a:pPr algn="l"/>
            <a:r>
              <a:rPr lang="en-US" sz="700" b="1" dirty="0">
                <a:solidFill>
                  <a:srgbClr val="FFFFFF"/>
                </a:solidFill>
                <a:latin typeface="メイリオ"/>
                <a:ea typeface="メイリオ"/>
                <a:cs typeface="メイリオ"/>
              </a:rPr>
              <a:t>Come on HOUSE</a:t>
            </a:r>
            <a:r>
              <a:rPr lang="en-US" altLang="ja-JP" sz="700" b="1" dirty="0">
                <a:solidFill>
                  <a:srgbClr val="FFFFFF"/>
                </a:solidFill>
                <a:latin typeface="メイリオ"/>
                <a:ea typeface="メイリオ"/>
                <a:cs typeface="メイリオ"/>
              </a:rPr>
              <a:t>【</a:t>
            </a:r>
            <a:r>
              <a:rPr lang="ja-JP" altLang="en-US" sz="700" b="1" dirty="0">
                <a:solidFill>
                  <a:srgbClr val="FFFFFF"/>
                </a:solidFill>
                <a:latin typeface="メイリオ"/>
                <a:ea typeface="メイリオ"/>
                <a:cs typeface="メイリオ"/>
              </a:rPr>
              <a:t>公式</a:t>
            </a:r>
            <a:r>
              <a:rPr lang="en-US" altLang="ja-JP" sz="700" b="1" dirty="0">
                <a:solidFill>
                  <a:srgbClr val="FFFFFF"/>
                </a:solidFill>
                <a:latin typeface="メイリオ"/>
                <a:ea typeface="メイリオ"/>
                <a:cs typeface="メイリオ"/>
              </a:rPr>
              <a:t>】</a:t>
            </a:r>
            <a:endParaRPr sz="700" b="1" dirty="0">
              <a:solidFill>
                <a:srgbClr val="FFFFFF"/>
              </a:solidFill>
              <a:latin typeface="メイリオ"/>
              <a:ea typeface="メイリオ"/>
              <a:cs typeface="メイリオ"/>
            </a:endParaRPr>
          </a:p>
        </p:txBody>
      </p:sp>
      <p:sp>
        <p:nvSpPr>
          <p:cNvPr id="52" name="Rounded Rectangle 22">
            <a:extLst>
              <a:ext uri="{FF2B5EF4-FFF2-40B4-BE49-F238E27FC236}">
                <a16:creationId xmlns:a16="http://schemas.microsoft.com/office/drawing/2014/main" id="{6C5FE7A3-4BDF-0442-A17D-7420A140C208}"/>
              </a:ext>
            </a:extLst>
          </p:cNvPr>
          <p:cNvSpPr/>
          <p:nvPr/>
        </p:nvSpPr>
        <p:spPr>
          <a:xfrm>
            <a:off x="7716838" y="2157288"/>
            <a:ext cx="795707" cy="283256"/>
          </a:xfrm>
          <a:prstGeom prst="round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4" name="Rounded Rectangle 23">
            <a:extLst>
              <a:ext uri="{FF2B5EF4-FFF2-40B4-BE49-F238E27FC236}">
                <a16:creationId xmlns:a16="http://schemas.microsoft.com/office/drawing/2014/main" id="{1D5DF30D-515B-881A-9A49-6B8C6D52177F}"/>
              </a:ext>
            </a:extLst>
          </p:cNvPr>
          <p:cNvSpPr/>
          <p:nvPr/>
        </p:nvSpPr>
        <p:spPr>
          <a:xfrm>
            <a:off x="7716838" y="2534963"/>
            <a:ext cx="641699" cy="283256"/>
          </a:xfrm>
          <a:prstGeom prst="roundRect">
            <a:avLst/>
          </a:prstGeom>
          <a:solidFill>
            <a:srgbClr val="EDEF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6" name="Rounded Rectangle 24">
            <a:extLst>
              <a:ext uri="{FF2B5EF4-FFF2-40B4-BE49-F238E27FC236}">
                <a16:creationId xmlns:a16="http://schemas.microsoft.com/office/drawing/2014/main" id="{2AD2967F-02FA-B3B3-FA03-FD8088E728E6}"/>
              </a:ext>
            </a:extLst>
          </p:cNvPr>
          <p:cNvSpPr/>
          <p:nvPr/>
        </p:nvSpPr>
        <p:spPr>
          <a:xfrm>
            <a:off x="8182280" y="2912637"/>
            <a:ext cx="705868" cy="283256"/>
          </a:xfrm>
          <a:prstGeom prst="roundRect">
            <a:avLst/>
          </a:prstGeom>
          <a:solidFill>
            <a:srgbClr val="E7F8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8" name="Rounded Rectangle 25">
            <a:extLst>
              <a:ext uri="{FF2B5EF4-FFF2-40B4-BE49-F238E27FC236}">
                <a16:creationId xmlns:a16="http://schemas.microsoft.com/office/drawing/2014/main" id="{ABB117FE-06BC-14B1-F885-48723A84E998}"/>
              </a:ext>
            </a:extLst>
          </p:cNvPr>
          <p:cNvSpPr/>
          <p:nvPr/>
        </p:nvSpPr>
        <p:spPr>
          <a:xfrm>
            <a:off x="7716838" y="3035381"/>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0" name="Rounded Rectangle 26">
            <a:extLst>
              <a:ext uri="{FF2B5EF4-FFF2-40B4-BE49-F238E27FC236}">
                <a16:creationId xmlns:a16="http://schemas.microsoft.com/office/drawing/2014/main" id="{1E8F4895-52AB-EDA8-1329-B173DFC6BAE0}"/>
              </a:ext>
            </a:extLst>
          </p:cNvPr>
          <p:cNvSpPr/>
          <p:nvPr/>
        </p:nvSpPr>
        <p:spPr>
          <a:xfrm>
            <a:off x="8324911" y="3035381"/>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2" name="Rounded Rectangle 27">
            <a:extLst>
              <a:ext uri="{FF2B5EF4-FFF2-40B4-BE49-F238E27FC236}">
                <a16:creationId xmlns:a16="http://schemas.microsoft.com/office/drawing/2014/main" id="{3FE0AC34-8464-0C28-ED54-C4E14FDD5549}"/>
              </a:ext>
            </a:extLst>
          </p:cNvPr>
          <p:cNvSpPr/>
          <p:nvPr/>
        </p:nvSpPr>
        <p:spPr>
          <a:xfrm>
            <a:off x="7716838" y="3450823"/>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4" name="Rounded Rectangle 28">
            <a:extLst>
              <a:ext uri="{FF2B5EF4-FFF2-40B4-BE49-F238E27FC236}">
                <a16:creationId xmlns:a16="http://schemas.microsoft.com/office/drawing/2014/main" id="{56A7C7DC-9F5D-FA7C-862A-4C4115B5102E}"/>
              </a:ext>
            </a:extLst>
          </p:cNvPr>
          <p:cNvSpPr/>
          <p:nvPr/>
        </p:nvSpPr>
        <p:spPr>
          <a:xfrm>
            <a:off x="8324911" y="3450823"/>
            <a:ext cx="563237" cy="339907"/>
          </a:xfrm>
          <a:prstGeom prst="roundRect">
            <a:avLst/>
          </a:prstGeom>
          <a:solidFill>
            <a:srgbClr val="F2F4F6"/>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0" name="テキスト ボックス 47">
            <a:extLst>
              <a:ext uri="{FF2B5EF4-FFF2-40B4-BE49-F238E27FC236}">
                <a16:creationId xmlns:a16="http://schemas.microsoft.com/office/drawing/2014/main" id="{D98D0CC7-068B-86CE-6670-C7C93999BB3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追加施策｜LINE公式アカウント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LINE友だちは“休眠会員化しにくい” － 毎月の通知接点が再訪を生む</a:t>
            </a:r>
          </a:p>
        </p:txBody>
      </p:sp>
      <p:sp>
        <p:nvSpPr>
          <p:cNvPr id="4" name="TextBox 3"/>
          <p:cNvSpPr txBox="1"/>
          <p:nvPr/>
        </p:nvSpPr>
        <p:spPr>
          <a:xfrm>
            <a:off x="457200" y="1335024"/>
            <a:ext cx="9052560" cy="371640"/>
          </a:xfrm>
          <a:prstGeom prst="rect">
            <a:avLst/>
          </a:prstGeom>
          <a:noFill/>
        </p:spPr>
        <p:txBody>
          <a:bodyPr wrap="square" lIns="0" tIns="0" rIns="0" bIns="0" anchor="t">
            <a:spAutoFit/>
          </a:bodyPr>
          <a:lstStyle/>
          <a:p>
            <a:pPr algn="l">
              <a:lnSpc>
                <a:spcPct val="115000"/>
              </a:lnSpc>
            </a:pPr>
            <a:r>
              <a:rPr sz="1050" b="0">
                <a:solidFill>
                  <a:srgbClr val="33383F"/>
                </a:solidFill>
                <a:latin typeface="メイリオ"/>
                <a:ea typeface="メイリオ"/>
                <a:cs typeface="メイリオ"/>
              </a:rPr>
              <a:t>一般会員はキャンペーン後に再訪トリガーがなく休眠化。</a:t>
            </a:r>
          </a:p>
          <a:p>
            <a:pPr algn="l">
              <a:lnSpc>
                <a:spcPct val="115000"/>
              </a:lnSpc>
            </a:pPr>
            <a:r>
              <a:rPr sz="1050" b="0">
                <a:solidFill>
                  <a:srgbClr val="33383F"/>
                </a:solidFill>
                <a:latin typeface="メイリオ"/>
                <a:ea typeface="メイリオ"/>
                <a:cs typeface="メイリオ"/>
              </a:rPr>
              <a:t>LINE友だちは更新通知で毎月接触し、能動的な再訪が習慣化する</a:t>
            </a:r>
          </a:p>
        </p:txBody>
      </p:sp>
      <p:sp>
        <p:nvSpPr>
          <p:cNvPr id="5" name="Rounded Rectangle 4"/>
          <p:cNvSpPr/>
          <p:nvPr/>
        </p:nvSpPr>
        <p:spPr>
          <a:xfrm>
            <a:off x="457200" y="1956816"/>
            <a:ext cx="1024128" cy="347472"/>
          </a:xfrm>
          <a:prstGeom prst="round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2042066"/>
            <a:ext cx="1024128" cy="176972"/>
          </a:xfrm>
          <a:prstGeom prst="rect">
            <a:avLst/>
          </a:prstGeom>
          <a:noFill/>
        </p:spPr>
        <p:txBody>
          <a:bodyPr wrap="square" lIns="0" tIns="0" rIns="0" bIns="0" anchor="ctr">
            <a:spAutoFit/>
          </a:bodyPr>
          <a:lstStyle/>
          <a:p>
            <a:pPr algn="ctr"/>
            <a:r>
              <a:rPr sz="1150" b="1">
                <a:solidFill>
                  <a:srgbClr val="FFFFFF"/>
                </a:solidFill>
                <a:latin typeface="メイリオ"/>
                <a:ea typeface="メイリオ"/>
                <a:cs typeface="メイリオ"/>
              </a:rPr>
              <a:t>POINT</a:t>
            </a:r>
          </a:p>
        </p:txBody>
      </p:sp>
      <p:sp>
        <p:nvSpPr>
          <p:cNvPr id="7" name="Oval 6"/>
          <p:cNvSpPr/>
          <p:nvPr/>
        </p:nvSpPr>
        <p:spPr>
          <a:xfrm>
            <a:off x="475488" y="2532888"/>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8" name="TextBox 7"/>
          <p:cNvSpPr txBox="1"/>
          <p:nvPr/>
        </p:nvSpPr>
        <p:spPr>
          <a:xfrm>
            <a:off x="731520" y="2487168"/>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現状の課題</a:t>
            </a:r>
          </a:p>
        </p:txBody>
      </p:sp>
      <p:sp>
        <p:nvSpPr>
          <p:cNvPr id="9" name="TextBox 8"/>
          <p:cNvSpPr txBox="1"/>
          <p:nvPr/>
        </p:nvSpPr>
        <p:spPr>
          <a:xfrm>
            <a:off x="731520" y="2788920"/>
            <a:ext cx="3886200" cy="158377"/>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登録直後の熱量を受け止める接点がなく、数週間〜数ヶ月で休眠化。</a:t>
            </a:r>
          </a:p>
        </p:txBody>
      </p:sp>
      <p:sp>
        <p:nvSpPr>
          <p:cNvPr id="10" name="Oval 9"/>
          <p:cNvSpPr/>
          <p:nvPr/>
        </p:nvSpPr>
        <p:spPr>
          <a:xfrm>
            <a:off x="475488" y="3337560"/>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1" name="TextBox 10"/>
          <p:cNvSpPr txBox="1"/>
          <p:nvPr/>
        </p:nvSpPr>
        <p:spPr>
          <a:xfrm>
            <a:off x="731520" y="3291840"/>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LINEの効果</a:t>
            </a:r>
          </a:p>
        </p:txBody>
      </p:sp>
      <p:sp>
        <p:nvSpPr>
          <p:cNvPr id="12" name="TextBox 11"/>
          <p:cNvSpPr txBox="1"/>
          <p:nvPr/>
        </p:nvSpPr>
        <p:spPr>
          <a:xfrm>
            <a:off x="731520" y="3593592"/>
            <a:ext cx="388620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到達層の約40%が毎月、通知経由で能動的に再訪。ブロック率も6ヶ月目で26.9%と低位。</a:t>
            </a:r>
          </a:p>
        </p:txBody>
      </p:sp>
      <p:sp>
        <p:nvSpPr>
          <p:cNvPr id="13" name="Oval 12"/>
          <p:cNvSpPr/>
          <p:nvPr/>
        </p:nvSpPr>
        <p:spPr>
          <a:xfrm>
            <a:off x="5047488" y="2532888"/>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4" name="TextBox 13"/>
          <p:cNvSpPr txBox="1"/>
          <p:nvPr/>
        </p:nvSpPr>
        <p:spPr>
          <a:xfrm>
            <a:off x="5303520" y="2487168"/>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積み上げ</a:t>
            </a:r>
          </a:p>
        </p:txBody>
      </p:sp>
      <p:sp>
        <p:nvSpPr>
          <p:cNvPr id="15" name="TextBox 14"/>
          <p:cNvSpPr txBox="1"/>
          <p:nvPr/>
        </p:nvSpPr>
        <p:spPr>
          <a:xfrm>
            <a:off x="5303520" y="2788920"/>
            <a:ext cx="3886200" cy="158377"/>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友だち数はサイト訪問数に連動して純増。6ヶ月で12,983人。</a:t>
            </a:r>
          </a:p>
        </p:txBody>
      </p:sp>
      <p:sp>
        <p:nvSpPr>
          <p:cNvPr id="16" name="Oval 15"/>
          <p:cNvSpPr/>
          <p:nvPr/>
        </p:nvSpPr>
        <p:spPr>
          <a:xfrm>
            <a:off x="5047488" y="3337560"/>
            <a:ext cx="118872" cy="118872"/>
          </a:xfrm>
          <a:prstGeom prst="ellipse">
            <a:avLst/>
          </a:prstGeom>
          <a:solidFill>
            <a:srgbClr val="0066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TextBox 16"/>
          <p:cNvSpPr txBox="1"/>
          <p:nvPr/>
        </p:nvSpPr>
        <p:spPr>
          <a:xfrm>
            <a:off x="5303520" y="3291840"/>
            <a:ext cx="3886200" cy="192360"/>
          </a:xfrm>
          <a:prstGeom prst="rect">
            <a:avLst/>
          </a:prstGeom>
          <a:noFill/>
        </p:spPr>
        <p:txBody>
          <a:bodyPr wrap="square" lIns="0" tIns="0" rIns="0" bIns="0" anchor="t">
            <a:spAutoFit/>
          </a:bodyPr>
          <a:lstStyle/>
          <a:p>
            <a:pPr algn="l"/>
            <a:r>
              <a:rPr sz="1250" b="1">
                <a:solidFill>
                  <a:srgbClr val="23272E"/>
                </a:solidFill>
                <a:latin typeface="メイリオ"/>
                <a:ea typeface="メイリオ"/>
                <a:cs typeface="メイリオ"/>
              </a:rPr>
              <a:t>位置づけ</a:t>
            </a:r>
          </a:p>
        </p:txBody>
      </p:sp>
      <p:sp>
        <p:nvSpPr>
          <p:cNvPr id="18" name="TextBox 17"/>
          <p:cNvSpPr txBox="1"/>
          <p:nvPr/>
        </p:nvSpPr>
        <p:spPr>
          <a:xfrm>
            <a:off x="5303520" y="3593592"/>
            <a:ext cx="3886200" cy="316753"/>
          </a:xfrm>
          <a:prstGeom prst="rect">
            <a:avLst/>
          </a:prstGeom>
          <a:noFill/>
        </p:spPr>
        <p:txBody>
          <a:bodyPr wrap="square" lIns="0" tIns="0" rIns="0" bIns="0" anchor="t">
            <a:spAutoFit/>
          </a:bodyPr>
          <a:lstStyle/>
          <a:p>
            <a:pPr algn="l">
              <a:lnSpc>
                <a:spcPct val="105000"/>
              </a:lnSpc>
            </a:pPr>
            <a:r>
              <a:rPr sz="980" b="0">
                <a:solidFill>
                  <a:srgbClr val="6E7278"/>
                </a:solidFill>
                <a:latin typeface="メイリオ"/>
                <a:ea typeface="メイリオ"/>
                <a:cs typeface="メイリオ"/>
              </a:rPr>
              <a:t>AIO/SEOで作るコンテンツの配信・再訪レイヤー。新規アカウントを開設。</a:t>
            </a:r>
          </a:p>
        </p:txBody>
      </p:sp>
      <p:graphicFrame>
        <p:nvGraphicFramePr>
          <p:cNvPr id="19" name="Table 18"/>
          <p:cNvGraphicFramePr>
            <a:graphicFrameLocks noGrp="1"/>
          </p:cNvGraphicFramePr>
          <p:nvPr/>
        </p:nvGraphicFramePr>
        <p:xfrm>
          <a:off x="457200" y="4160520"/>
          <a:ext cx="9052560" cy="1691640"/>
        </p:xfrm>
        <a:graphic>
          <a:graphicData uri="http://schemas.openxmlformats.org/drawingml/2006/table">
            <a:tbl>
              <a:tblPr>
                <a:tableStyleId>{5C22544A-7EE6-4342-B048-85BDC9FD1C3A}</a:tableStyleId>
              </a:tblPr>
              <a:tblGrid>
                <a:gridCol w="1691640">
                  <a:extLst>
                    <a:ext uri="{9D8B030D-6E8A-4147-A177-3AD203B41FA5}">
                      <a16:colId xmlns:a16="http://schemas.microsoft.com/office/drawing/2014/main" val="20000"/>
                    </a:ext>
                  </a:extLst>
                </a:gridCol>
                <a:gridCol w="1226820">
                  <a:extLst>
                    <a:ext uri="{9D8B030D-6E8A-4147-A177-3AD203B41FA5}">
                      <a16:colId xmlns:a16="http://schemas.microsoft.com/office/drawing/2014/main" val="20001"/>
                    </a:ext>
                  </a:extLst>
                </a:gridCol>
                <a:gridCol w="1226820">
                  <a:extLst>
                    <a:ext uri="{9D8B030D-6E8A-4147-A177-3AD203B41FA5}">
                      <a16:colId xmlns:a16="http://schemas.microsoft.com/office/drawing/2014/main" val="20002"/>
                    </a:ext>
                  </a:extLst>
                </a:gridCol>
                <a:gridCol w="1226820">
                  <a:extLst>
                    <a:ext uri="{9D8B030D-6E8A-4147-A177-3AD203B41FA5}">
                      <a16:colId xmlns:a16="http://schemas.microsoft.com/office/drawing/2014/main" val="20003"/>
                    </a:ext>
                  </a:extLst>
                </a:gridCol>
                <a:gridCol w="1226820">
                  <a:extLst>
                    <a:ext uri="{9D8B030D-6E8A-4147-A177-3AD203B41FA5}">
                      <a16:colId xmlns:a16="http://schemas.microsoft.com/office/drawing/2014/main" val="20004"/>
                    </a:ext>
                  </a:extLst>
                </a:gridCol>
                <a:gridCol w="1226820">
                  <a:extLst>
                    <a:ext uri="{9D8B030D-6E8A-4147-A177-3AD203B41FA5}">
                      <a16:colId xmlns:a16="http://schemas.microsoft.com/office/drawing/2014/main" val="20005"/>
                    </a:ext>
                  </a:extLst>
                </a:gridCol>
                <a:gridCol w="1226820">
                  <a:extLst>
                    <a:ext uri="{9D8B030D-6E8A-4147-A177-3AD203B41FA5}">
                      <a16:colId xmlns:a16="http://schemas.microsoft.com/office/drawing/2014/main" val="20006"/>
                    </a:ext>
                  </a:extLst>
                </a:gridCol>
              </a:tblGrid>
              <a:tr h="338328">
                <a:tc>
                  <a:txBody>
                    <a:bodyPr/>
                    <a:lstStyle/>
                    <a:p>
                      <a:pPr algn="ctr"/>
                      <a:endParaRPr dirty="0">
                        <a:latin typeface="メイリオ"/>
                        <a:ea typeface="メイリオ"/>
                        <a:cs typeface="メイリオ"/>
                      </a:endParaRP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初月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2ヶ月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3ヶ月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4ヶ月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5ヶ月</a:t>
                      </a:r>
                    </a:p>
                  </a:txBody>
                  <a:tcPr marL="40000" marR="40000" marT="10000" marB="10000" anchor="ctr">
                    <a:solidFill>
                      <a:srgbClr val="002060"/>
                    </a:solidFill>
                  </a:tcPr>
                </a:tc>
                <a:tc>
                  <a:txBody>
                    <a:bodyPr/>
                    <a:lstStyle/>
                    <a:p>
                      <a:pPr algn="ctr"/>
                      <a:r>
                        <a:rPr sz="950" b="1">
                          <a:solidFill>
                            <a:srgbClr val="FFFFFF"/>
                          </a:solidFill>
                          <a:latin typeface="メイリオ"/>
                          <a:ea typeface="メイリオ"/>
                          <a:cs typeface="メイリオ"/>
                        </a:rPr>
                        <a:t>6ヶ月</a:t>
                      </a:r>
                    </a:p>
                  </a:txBody>
                  <a:tcPr marL="40000" marR="40000" marT="10000" marB="10000" anchor="ctr">
                    <a:solidFill>
                      <a:srgbClr val="002060"/>
                    </a:solidFill>
                  </a:tcPr>
                </a:tc>
                <a:extLst>
                  <a:ext uri="{0D108BD9-81ED-4DB2-BD59-A6C34878D82A}">
                    <a16:rowId xmlns:a16="http://schemas.microsoft.com/office/drawing/2014/main" val="10000"/>
                  </a:ext>
                </a:extLst>
              </a:tr>
              <a:tr h="338328">
                <a:tc>
                  <a:txBody>
                    <a:bodyPr/>
                    <a:lstStyle/>
                    <a:p>
                      <a:pPr algn="l"/>
                      <a:r>
                        <a:rPr sz="950" b="1">
                          <a:solidFill>
                            <a:srgbClr val="23272E"/>
                          </a:solidFill>
                          <a:latin typeface="メイリオ"/>
                          <a:ea typeface="メイリオ"/>
                          <a:cs typeface="メイリオ"/>
                        </a:rPr>
                        <a:t>LINE友だち数</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7,113</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8,272</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9,438</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10,612</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11,793</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12,983</a:t>
                      </a:r>
                    </a:p>
                  </a:txBody>
                  <a:tcPr marL="40000" marR="40000" marT="10000" marB="10000" anchor="ctr">
                    <a:solidFill>
                      <a:srgbClr val="FFFFFF"/>
                    </a:solidFill>
                  </a:tcPr>
                </a:tc>
                <a:extLst>
                  <a:ext uri="{0D108BD9-81ED-4DB2-BD59-A6C34878D82A}">
                    <a16:rowId xmlns:a16="http://schemas.microsoft.com/office/drawing/2014/main" val="10001"/>
                  </a:ext>
                </a:extLst>
              </a:tr>
              <a:tr h="338328">
                <a:tc>
                  <a:txBody>
                    <a:bodyPr/>
                    <a:lstStyle/>
                    <a:p>
                      <a:pPr algn="l"/>
                      <a:r>
                        <a:rPr sz="950" b="1">
                          <a:solidFill>
                            <a:srgbClr val="23272E"/>
                          </a:solidFill>
                          <a:latin typeface="メイリオ"/>
                          <a:ea typeface="メイリオ"/>
                          <a:cs typeface="メイリオ"/>
                        </a:rPr>
                        <a:t>ブロック率</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25.0%</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25.4%</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25.8%</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26.1%</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26.5%</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26.9%</a:t>
                      </a:r>
                    </a:p>
                  </a:txBody>
                  <a:tcPr marL="40000" marR="40000" marT="10000" marB="10000" anchor="ctr">
                    <a:solidFill>
                      <a:srgbClr val="F7F7F9"/>
                    </a:solidFill>
                  </a:tcPr>
                </a:tc>
                <a:extLst>
                  <a:ext uri="{0D108BD9-81ED-4DB2-BD59-A6C34878D82A}">
                    <a16:rowId xmlns:a16="http://schemas.microsoft.com/office/drawing/2014/main" val="10002"/>
                  </a:ext>
                </a:extLst>
              </a:tr>
              <a:tr h="338328">
                <a:tc>
                  <a:txBody>
                    <a:bodyPr/>
                    <a:lstStyle/>
                    <a:p>
                      <a:pPr algn="l"/>
                      <a:r>
                        <a:rPr sz="950" b="1">
                          <a:solidFill>
                            <a:srgbClr val="23272E"/>
                          </a:solidFill>
                          <a:latin typeface="メイリオ"/>
                          <a:ea typeface="メイリオ"/>
                          <a:cs typeface="メイリオ"/>
                        </a:rPr>
                        <a:t>到達（配信可）</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5,335</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6,173</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7,007</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7,838</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8,664</a:t>
                      </a:r>
                    </a:p>
                  </a:txBody>
                  <a:tcPr marL="40000" marR="40000" marT="10000" marB="10000" anchor="ctr">
                    <a:solidFill>
                      <a:srgbClr val="FFFFFF"/>
                    </a:solidFill>
                  </a:tcPr>
                </a:tc>
                <a:tc>
                  <a:txBody>
                    <a:bodyPr/>
                    <a:lstStyle/>
                    <a:p>
                      <a:pPr algn="ctr"/>
                      <a:r>
                        <a:rPr sz="950" b="0">
                          <a:solidFill>
                            <a:srgbClr val="23272E"/>
                          </a:solidFill>
                          <a:latin typeface="メイリオ"/>
                          <a:ea typeface="メイリオ"/>
                          <a:cs typeface="メイリオ"/>
                        </a:rPr>
                        <a:t>9,487</a:t>
                      </a:r>
                    </a:p>
                  </a:txBody>
                  <a:tcPr marL="40000" marR="40000" marT="10000" marB="10000" anchor="ctr">
                    <a:solidFill>
                      <a:srgbClr val="FFFFFF"/>
                    </a:solidFill>
                  </a:tcPr>
                </a:tc>
                <a:extLst>
                  <a:ext uri="{0D108BD9-81ED-4DB2-BD59-A6C34878D82A}">
                    <a16:rowId xmlns:a16="http://schemas.microsoft.com/office/drawing/2014/main" val="10003"/>
                  </a:ext>
                </a:extLst>
              </a:tr>
              <a:tr h="338328">
                <a:tc>
                  <a:txBody>
                    <a:bodyPr/>
                    <a:lstStyle/>
                    <a:p>
                      <a:pPr algn="l"/>
                      <a:r>
                        <a:rPr sz="950" b="1">
                          <a:solidFill>
                            <a:srgbClr val="23272E"/>
                          </a:solidFill>
                          <a:latin typeface="メイリオ"/>
                          <a:ea typeface="メイリオ"/>
                          <a:cs typeface="メイリオ"/>
                        </a:rPr>
                        <a:t>LINE経由 サイト流入/月</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2,134</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2,469</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2,803</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3,135</a:t>
                      </a:r>
                    </a:p>
                  </a:txBody>
                  <a:tcPr marL="40000" marR="40000" marT="10000" marB="10000" anchor="ctr">
                    <a:solidFill>
                      <a:srgbClr val="F7F7F9"/>
                    </a:solidFill>
                  </a:tcPr>
                </a:tc>
                <a:tc>
                  <a:txBody>
                    <a:bodyPr/>
                    <a:lstStyle/>
                    <a:p>
                      <a:pPr algn="ctr"/>
                      <a:r>
                        <a:rPr sz="950" b="0">
                          <a:solidFill>
                            <a:srgbClr val="23272E"/>
                          </a:solidFill>
                          <a:latin typeface="メイリオ"/>
                          <a:ea typeface="メイリオ"/>
                          <a:cs typeface="メイリオ"/>
                        </a:rPr>
                        <a:t>3,466</a:t>
                      </a:r>
                    </a:p>
                  </a:txBody>
                  <a:tcPr marL="40000" marR="40000" marT="10000" marB="10000" anchor="ctr">
                    <a:solidFill>
                      <a:srgbClr val="F7F7F9"/>
                    </a:solidFill>
                  </a:tcPr>
                </a:tc>
                <a:tc>
                  <a:txBody>
                    <a:bodyPr/>
                    <a:lstStyle/>
                    <a:p>
                      <a:pPr algn="ctr"/>
                      <a:r>
                        <a:rPr sz="950" b="0" dirty="0">
                          <a:solidFill>
                            <a:srgbClr val="23272E"/>
                          </a:solidFill>
                          <a:latin typeface="メイリオ"/>
                          <a:ea typeface="メイリオ"/>
                          <a:cs typeface="メイリオ"/>
                        </a:rPr>
                        <a:t>3,795</a:t>
                      </a:r>
                    </a:p>
                  </a:txBody>
                  <a:tcPr marL="40000" marR="40000" marT="10000" marB="10000" anchor="ctr">
                    <a:solidFill>
                      <a:srgbClr val="F7F7F9"/>
                    </a:solidFill>
                  </a:tcPr>
                </a:tc>
                <a:extLst>
                  <a:ext uri="{0D108BD9-81ED-4DB2-BD59-A6C34878D82A}">
                    <a16:rowId xmlns:a16="http://schemas.microsoft.com/office/drawing/2014/main" val="10004"/>
                  </a:ext>
                </a:extLst>
              </a:tr>
            </a:tbl>
          </a:graphicData>
        </a:graphic>
      </p:graphicFrame>
      <p:sp>
        <p:nvSpPr>
          <p:cNvPr id="20" name="TextBox 19"/>
          <p:cNvSpPr txBox="1"/>
          <p:nvPr/>
        </p:nvSpPr>
        <p:spPr>
          <a:xfrm>
            <a:off x="457200" y="6272784"/>
            <a:ext cx="8988552" cy="130805"/>
          </a:xfrm>
          <a:prstGeom prst="rect">
            <a:avLst/>
          </a:prstGeom>
          <a:noFill/>
        </p:spPr>
        <p:txBody>
          <a:bodyPr wrap="square" lIns="0" tIns="0" rIns="0" bIns="0" anchor="t">
            <a:spAutoFit/>
          </a:bodyPr>
          <a:lstStyle/>
          <a:p>
            <a:pPr algn="l"/>
            <a:r>
              <a:rPr sz="850" b="0" dirty="0">
                <a:solidFill>
                  <a:srgbClr val="6E7278"/>
                </a:solidFill>
                <a:latin typeface="メイリオ"/>
                <a:ea typeface="メイリオ"/>
                <a:cs typeface="メイリオ"/>
              </a:rPr>
              <a:t>※出典：弊社シミュレーション。LINE経由 サイト流入/月 ＝ 到達数 × 40%（企画投稿からの流入）。配信 月4回想定。※モデルケース</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lang="ja-JP" altLang="en-US" sz="850" b="0" dirty="0">
                <a:solidFill>
                  <a:srgbClr val="6E7278"/>
                </a:solidFill>
                <a:latin typeface="メイリオ"/>
                <a:ea typeface="メイリオ"/>
                <a:cs typeface="メイリオ"/>
              </a:rPr>
              <a:t/>
            </a:r>
            <a:r>
              <a:rPr sz="850" b="0" dirty="0">
                <a:solidFill>
                  <a:srgbClr val="6E7278"/>
                </a:solidFill>
                <a:latin typeface="メイリオ"/>
                <a:ea typeface="メイリオ"/>
                <a:cs typeface="メイリオ"/>
              </a:rPr>
              <a:t/>
            </a:r>
            <a:r>
              <a:rPr sz="850" b="0" dirty="0" err="1">
                <a:solidFill>
                  <a:srgbClr val="6E7278"/>
                </a:solidFill>
                <a:latin typeface="メイリオ"/>
                <a:ea typeface="メイリオ"/>
                <a:cs typeface="メイリオ"/>
              </a:rPr>
              <a:t/>
            </a:r>
            <a:endParaRPr sz="850" b="0" dirty="0">
              <a:solidFill>
                <a:srgbClr val="6E7278"/>
              </a:solidFill>
              <a:latin typeface="メイリオ"/>
              <a:ea typeface="メイリオ"/>
              <a:cs typeface="メイリオ"/>
            </a:endParaRPr>
          </a:p>
        </p:txBody>
      </p:sp>
      <p:sp>
        <p:nvSpPr>
          <p:cNvPr id="22" name="テキスト ボックス 47">
            <a:extLst>
              <a:ext uri="{FF2B5EF4-FFF2-40B4-BE49-F238E27FC236}">
                <a16:creationId xmlns:a16="http://schemas.microsoft.com/office/drawing/2014/main" id="{8A39AE55-0E0F-A42A-7E43-52A7E81F8E3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追加施策｜LINE公式アカウント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中長期①：メッセージ配信と自動応答を高度化する</a:t>
            </a:r>
          </a:p>
        </p:txBody>
      </p:sp>
      <p:sp>
        <p:nvSpPr>
          <p:cNvPr id="4" name="TextBox 3"/>
          <p:cNvSpPr txBox="1"/>
          <p:nvPr/>
        </p:nvSpPr>
        <p:spPr>
          <a:xfrm>
            <a:off x="457200" y="1316736"/>
            <a:ext cx="9052560" cy="172355"/>
          </a:xfrm>
          <a:prstGeom prst="rect">
            <a:avLst/>
          </a:prstGeom>
          <a:noFill/>
        </p:spPr>
        <p:txBody>
          <a:bodyPr wrap="square" lIns="0" tIns="0" rIns="0" bIns="0" anchor="t">
            <a:spAutoFit/>
          </a:bodyPr>
          <a:lstStyle/>
          <a:p>
            <a:pPr algn="l">
              <a:lnSpc>
                <a:spcPct val="112000"/>
              </a:lnSpc>
            </a:pPr>
            <a:r>
              <a:rPr sz="1000" b="0">
                <a:solidFill>
                  <a:srgbClr val="33383F"/>
                </a:solidFill>
                <a:latin typeface="メイリオ"/>
                <a:ea typeface="メイリオ"/>
                <a:cs typeface="メイリオ"/>
              </a:rPr>
              <a:t>初期は標準機能で運用を開始し、効果が見えた段階でAPI実装・外部ツール（Lステップ／Liny／MAAC／Kuzen 等）を追加。</a:t>
            </a:r>
          </a:p>
        </p:txBody>
      </p:sp>
      <p:sp>
        <p:nvSpPr>
          <p:cNvPr id="5" name="Rounded Rectangle 4"/>
          <p:cNvSpPr/>
          <p:nvPr/>
        </p:nvSpPr>
        <p:spPr>
          <a:xfrm>
            <a:off x="457200" y="1847088"/>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1884667"/>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7" name="TextBox 6"/>
          <p:cNvSpPr txBox="1"/>
          <p:nvPr/>
        </p:nvSpPr>
        <p:spPr>
          <a:xfrm>
            <a:off x="874166" y="1876972"/>
            <a:ext cx="820738" cy="123111"/>
          </a:xfrm>
          <a:prstGeom prst="rect">
            <a:avLst/>
          </a:prstGeom>
          <a:noFill/>
        </p:spPr>
        <p:txBody>
          <a:bodyPr wrap="none" lIns="0" tIns="0" rIns="0" bIns="0" anchor="ctr">
            <a:spAutoFit/>
          </a:bodyPr>
          <a:lstStyle/>
          <a:p>
            <a:pPr algn="l"/>
            <a:r>
              <a:rPr sz="800" b="0">
                <a:solidFill>
                  <a:srgbClr val="6E7278"/>
                </a:solidFill>
                <a:latin typeface="メイリオ"/>
                <a:ea typeface="メイリオ"/>
                <a:cs typeface="メイリオ"/>
              </a:rPr>
              <a:t>管理画面のみで可</a:t>
            </a:r>
          </a:p>
        </p:txBody>
      </p:sp>
      <p:sp>
        <p:nvSpPr>
          <p:cNvPr id="8" name="Rounded Rectangle 7"/>
          <p:cNvSpPr/>
          <p:nvPr/>
        </p:nvSpPr>
        <p:spPr>
          <a:xfrm>
            <a:off x="2099462" y="1847088"/>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9" name="TextBox 8"/>
          <p:cNvSpPr txBox="1"/>
          <p:nvPr/>
        </p:nvSpPr>
        <p:spPr>
          <a:xfrm>
            <a:off x="2099462" y="1884667"/>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10" name="TextBox 9"/>
          <p:cNvSpPr txBox="1"/>
          <p:nvPr/>
        </p:nvSpPr>
        <p:spPr>
          <a:xfrm>
            <a:off x="2615184" y="1876972"/>
            <a:ext cx="2471831" cy="123111"/>
          </a:xfrm>
          <a:prstGeom prst="rect">
            <a:avLst/>
          </a:prstGeom>
          <a:noFill/>
        </p:spPr>
        <p:txBody>
          <a:bodyPr wrap="none" lIns="0" tIns="0" rIns="0" bIns="0" anchor="ctr">
            <a:spAutoFit/>
          </a:bodyPr>
          <a:lstStyle/>
          <a:p>
            <a:pPr algn="l"/>
            <a:r>
              <a:rPr sz="800" b="0">
                <a:solidFill>
                  <a:srgbClr val="6E7278"/>
                </a:solidFill>
                <a:latin typeface="メイリオ"/>
                <a:ea typeface="メイリオ"/>
                <a:cs typeface="メイリオ"/>
              </a:rPr>
              <a:t>Messaging API等の実装（無料枠あり・実装コスト）</a:t>
            </a:r>
          </a:p>
        </p:txBody>
      </p:sp>
      <p:sp>
        <p:nvSpPr>
          <p:cNvPr id="11" name="Rounded Rectangle 10"/>
          <p:cNvSpPr/>
          <p:nvPr/>
        </p:nvSpPr>
        <p:spPr>
          <a:xfrm>
            <a:off x="6355080" y="184708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2" name="TextBox 11"/>
          <p:cNvSpPr txBox="1"/>
          <p:nvPr/>
        </p:nvSpPr>
        <p:spPr>
          <a:xfrm>
            <a:off x="6355080" y="1884667"/>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13" name="TextBox 12"/>
          <p:cNvSpPr txBox="1"/>
          <p:nvPr/>
        </p:nvSpPr>
        <p:spPr>
          <a:xfrm>
            <a:off x="7068312" y="1876972"/>
            <a:ext cx="2742739" cy="123111"/>
          </a:xfrm>
          <a:prstGeom prst="rect">
            <a:avLst/>
          </a:prstGeom>
          <a:noFill/>
        </p:spPr>
        <p:txBody>
          <a:bodyPr wrap="none" lIns="0" tIns="0" rIns="0" bIns="0" anchor="ctr">
            <a:spAutoFit/>
          </a:bodyPr>
          <a:lstStyle/>
          <a:p>
            <a:pPr algn="l"/>
            <a:r>
              <a:rPr sz="800" b="0">
                <a:solidFill>
                  <a:srgbClr val="6E7278"/>
                </a:solidFill>
                <a:latin typeface="メイリオ"/>
                <a:ea typeface="メイリオ"/>
                <a:cs typeface="メイリオ"/>
              </a:rPr>
              <a:t>有料の拡張ツール（Lステップ／Liny／MAAC／Kuzen 等）</a:t>
            </a:r>
          </a:p>
        </p:txBody>
      </p:sp>
      <p:sp>
        <p:nvSpPr>
          <p:cNvPr id="14" name="Rectangle 13"/>
          <p:cNvSpPr/>
          <p:nvPr/>
        </p:nvSpPr>
        <p:spPr>
          <a:xfrm>
            <a:off x="457200" y="2249424"/>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5" name="TextBox 14"/>
          <p:cNvSpPr txBox="1"/>
          <p:nvPr/>
        </p:nvSpPr>
        <p:spPr>
          <a:xfrm>
            <a:off x="457200" y="2347665"/>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メッセージ配信</a:t>
            </a:r>
          </a:p>
        </p:txBody>
      </p:sp>
      <p:sp>
        <p:nvSpPr>
          <p:cNvPr id="16" name="Rounded Rectangle 15"/>
          <p:cNvSpPr/>
          <p:nvPr/>
        </p:nvSpPr>
        <p:spPr>
          <a:xfrm>
            <a:off x="457200" y="27066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Rectangle 16"/>
          <p:cNvSpPr/>
          <p:nvPr/>
        </p:nvSpPr>
        <p:spPr>
          <a:xfrm>
            <a:off x="457200" y="2706624"/>
            <a:ext cx="54864" cy="1072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8" name="TextBox 17"/>
          <p:cNvSpPr txBox="1"/>
          <p:nvPr/>
        </p:nvSpPr>
        <p:spPr>
          <a:xfrm>
            <a:off x="603504" y="2798064"/>
            <a:ext cx="1705595"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オーディエンスで絞り込み配信</a:t>
            </a:r>
          </a:p>
        </p:txBody>
      </p:sp>
      <p:sp>
        <p:nvSpPr>
          <p:cNvPr id="19" name="Rounded Rectangle 18"/>
          <p:cNvSpPr/>
          <p:nvPr/>
        </p:nvSpPr>
        <p:spPr>
          <a:xfrm>
            <a:off x="603504" y="3026664"/>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0" name="TextBox 19"/>
          <p:cNvSpPr txBox="1"/>
          <p:nvPr/>
        </p:nvSpPr>
        <p:spPr>
          <a:xfrm>
            <a:off x="603504" y="3064243"/>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21" name="TextBox 20"/>
          <p:cNvSpPr txBox="1"/>
          <p:nvPr/>
        </p:nvSpPr>
        <p:spPr>
          <a:xfrm>
            <a:off x="603504" y="32735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「総選挙に投票した人にだけ結果発表と次回企画を配信」など、興味・行動別に出し分けて開封率と再訪を高める。※LINE TagはWeb側の実装が必要</a:t>
            </a:r>
          </a:p>
        </p:txBody>
      </p:sp>
      <p:sp>
        <p:nvSpPr>
          <p:cNvPr id="22" name="Rounded Rectangle 21"/>
          <p:cNvSpPr/>
          <p:nvPr/>
        </p:nvSpPr>
        <p:spPr>
          <a:xfrm>
            <a:off x="457200" y="3925823"/>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3" name="Rectangle 22"/>
          <p:cNvSpPr/>
          <p:nvPr/>
        </p:nvSpPr>
        <p:spPr>
          <a:xfrm>
            <a:off x="457200" y="3925823"/>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4" name="TextBox 23"/>
          <p:cNvSpPr txBox="1"/>
          <p:nvPr/>
        </p:nvSpPr>
        <p:spPr>
          <a:xfrm>
            <a:off x="603504" y="4017263"/>
            <a:ext cx="1340110"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クイックリプライボタン</a:t>
            </a:r>
          </a:p>
        </p:txBody>
      </p:sp>
      <p:sp>
        <p:nvSpPr>
          <p:cNvPr id="25" name="Rounded Rectangle 24"/>
          <p:cNvSpPr/>
          <p:nvPr/>
        </p:nvSpPr>
        <p:spPr>
          <a:xfrm>
            <a:off x="603504" y="4245863"/>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6" name="TextBox 25"/>
          <p:cNvSpPr txBox="1"/>
          <p:nvPr/>
        </p:nvSpPr>
        <p:spPr>
          <a:xfrm>
            <a:off x="603504" y="4283442"/>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27" name="TextBox 26"/>
          <p:cNvSpPr txBox="1"/>
          <p:nvPr/>
        </p:nvSpPr>
        <p:spPr>
          <a:xfrm>
            <a:off x="603504" y="44927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「参加する／あとで」「どの商品が好き？（3択）」をタップするだけで、企画参加や簡易アンケートまで完結させる。</a:t>
            </a:r>
          </a:p>
        </p:txBody>
      </p:sp>
      <p:sp>
        <p:nvSpPr>
          <p:cNvPr id="28" name="Rounded Rectangle 27"/>
          <p:cNvSpPr/>
          <p:nvPr/>
        </p:nvSpPr>
        <p:spPr>
          <a:xfrm>
            <a:off x="457200" y="51450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9" name="Rectangle 28"/>
          <p:cNvSpPr/>
          <p:nvPr/>
        </p:nvSpPr>
        <p:spPr>
          <a:xfrm>
            <a:off x="457200" y="5145024"/>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0" name="TextBox 29"/>
          <p:cNvSpPr txBox="1"/>
          <p:nvPr/>
        </p:nvSpPr>
        <p:spPr>
          <a:xfrm>
            <a:off x="603504" y="5236464"/>
            <a:ext cx="860813"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Flex Message</a:t>
            </a:r>
          </a:p>
        </p:txBody>
      </p:sp>
      <p:sp>
        <p:nvSpPr>
          <p:cNvPr id="31" name="Rounded Rectangle 30"/>
          <p:cNvSpPr/>
          <p:nvPr/>
        </p:nvSpPr>
        <p:spPr>
          <a:xfrm>
            <a:off x="603504" y="5465064"/>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2" name="TextBox 31"/>
          <p:cNvSpPr txBox="1"/>
          <p:nvPr/>
        </p:nvSpPr>
        <p:spPr>
          <a:xfrm>
            <a:off x="603504" y="5502643"/>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33" name="TextBox 32"/>
          <p:cNvSpPr txBox="1"/>
          <p:nvPr/>
        </p:nvSpPr>
        <p:spPr>
          <a:xfrm>
            <a:off x="603504" y="57119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総選挙の順位表や新着企画を画像＋ボタンのカードで配信し、そのままLPへ誘導して回遊させる。</a:t>
            </a:r>
          </a:p>
        </p:txBody>
      </p:sp>
      <p:sp>
        <p:nvSpPr>
          <p:cNvPr id="34" name="Rectangle 33"/>
          <p:cNvSpPr/>
          <p:nvPr/>
        </p:nvSpPr>
        <p:spPr>
          <a:xfrm>
            <a:off x="5088636" y="2249424"/>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5" name="TextBox 34"/>
          <p:cNvSpPr txBox="1"/>
          <p:nvPr/>
        </p:nvSpPr>
        <p:spPr>
          <a:xfrm>
            <a:off x="5088636" y="2347665"/>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自動応答・チャットボット</a:t>
            </a:r>
          </a:p>
        </p:txBody>
      </p:sp>
      <p:sp>
        <p:nvSpPr>
          <p:cNvPr id="36" name="Rounded Rectangle 35"/>
          <p:cNvSpPr/>
          <p:nvPr/>
        </p:nvSpPr>
        <p:spPr>
          <a:xfrm>
            <a:off x="5088636" y="27066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7" name="Rectangle 36"/>
          <p:cNvSpPr/>
          <p:nvPr/>
        </p:nvSpPr>
        <p:spPr>
          <a:xfrm>
            <a:off x="5088636" y="2706624"/>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8" name="TextBox 37"/>
          <p:cNvSpPr txBox="1"/>
          <p:nvPr/>
        </p:nvSpPr>
        <p:spPr>
          <a:xfrm>
            <a:off x="5234940" y="2798064"/>
            <a:ext cx="1663917"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キーワード応答 ／ 時間内応答</a:t>
            </a:r>
          </a:p>
        </p:txBody>
      </p:sp>
      <p:sp>
        <p:nvSpPr>
          <p:cNvPr id="39" name="Rounded Rectangle 38"/>
          <p:cNvSpPr/>
          <p:nvPr/>
        </p:nvSpPr>
        <p:spPr>
          <a:xfrm>
            <a:off x="5234940" y="3026664"/>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0" name="TextBox 39"/>
          <p:cNvSpPr txBox="1"/>
          <p:nvPr/>
        </p:nvSpPr>
        <p:spPr>
          <a:xfrm>
            <a:off x="5234940" y="3064243"/>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41" name="TextBox 40"/>
          <p:cNvSpPr txBox="1"/>
          <p:nvPr/>
        </p:nvSpPr>
        <p:spPr>
          <a:xfrm>
            <a:off x="5234940" y="3273552"/>
            <a:ext cx="4137659" cy="139269"/>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「応募方法は？」などの定型質問に即返信。営業時間外は自動、時間内は有人へ切り替える。</a:t>
            </a:r>
          </a:p>
        </p:txBody>
      </p:sp>
      <p:sp>
        <p:nvSpPr>
          <p:cNvPr id="42" name="Rounded Rectangle 41"/>
          <p:cNvSpPr/>
          <p:nvPr/>
        </p:nvSpPr>
        <p:spPr>
          <a:xfrm>
            <a:off x="5088636" y="3925823"/>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3" name="Rectangle 42"/>
          <p:cNvSpPr/>
          <p:nvPr/>
        </p:nvSpPr>
        <p:spPr>
          <a:xfrm>
            <a:off x="5088636" y="3925823"/>
            <a:ext cx="54864" cy="1072896"/>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4" name="TextBox 43"/>
          <p:cNvSpPr txBox="1"/>
          <p:nvPr/>
        </p:nvSpPr>
        <p:spPr>
          <a:xfrm>
            <a:off x="5234940" y="4017263"/>
            <a:ext cx="1332096"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AIチャットボット（β）</a:t>
            </a:r>
          </a:p>
        </p:txBody>
      </p:sp>
      <p:sp>
        <p:nvSpPr>
          <p:cNvPr id="45" name="Rounded Rectangle 44"/>
          <p:cNvSpPr/>
          <p:nvPr/>
        </p:nvSpPr>
        <p:spPr>
          <a:xfrm>
            <a:off x="5234940" y="4245863"/>
            <a:ext cx="640080"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6" name="TextBox 45"/>
          <p:cNvSpPr txBox="1"/>
          <p:nvPr/>
        </p:nvSpPr>
        <p:spPr>
          <a:xfrm>
            <a:off x="5234940" y="4283442"/>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標準(β)</a:t>
            </a:r>
          </a:p>
        </p:txBody>
      </p:sp>
      <p:sp>
        <p:nvSpPr>
          <p:cNvPr id="47" name="TextBox 46"/>
          <p:cNvSpPr txBox="1"/>
          <p:nvPr/>
        </p:nvSpPr>
        <p:spPr>
          <a:xfrm>
            <a:off x="5234940" y="44927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レシピの分量・アレルギー表示・応募方法などのFAQに24時間自動で回答し、運用の手間を減らす。※対象外業種あり</a:t>
            </a:r>
          </a:p>
        </p:txBody>
      </p:sp>
      <p:sp>
        <p:nvSpPr>
          <p:cNvPr id="48" name="Rounded Rectangle 47"/>
          <p:cNvSpPr/>
          <p:nvPr/>
        </p:nvSpPr>
        <p:spPr>
          <a:xfrm>
            <a:off x="5088636" y="5145024"/>
            <a:ext cx="4357116" cy="1072896"/>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9" name="Rectangle 48"/>
          <p:cNvSpPr/>
          <p:nvPr/>
        </p:nvSpPr>
        <p:spPr>
          <a:xfrm>
            <a:off x="5088636" y="5145024"/>
            <a:ext cx="54864" cy="1072896"/>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0" name="TextBox 49"/>
          <p:cNvSpPr txBox="1"/>
          <p:nvPr/>
        </p:nvSpPr>
        <p:spPr>
          <a:xfrm>
            <a:off x="5234940" y="5236464"/>
            <a:ext cx="1705595"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意図判定による高度な分岐応答</a:t>
            </a:r>
          </a:p>
        </p:txBody>
      </p:sp>
      <p:sp>
        <p:nvSpPr>
          <p:cNvPr id="51" name="Rounded Rectangle 50"/>
          <p:cNvSpPr/>
          <p:nvPr/>
        </p:nvSpPr>
        <p:spPr>
          <a:xfrm>
            <a:off x="5234940" y="5465064"/>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2" name="TextBox 51"/>
          <p:cNvSpPr txBox="1"/>
          <p:nvPr/>
        </p:nvSpPr>
        <p:spPr>
          <a:xfrm>
            <a:off x="5234940" y="5502643"/>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53" name="TextBox 52"/>
          <p:cNvSpPr txBox="1"/>
          <p:nvPr/>
        </p:nvSpPr>
        <p:spPr>
          <a:xfrm>
            <a:off x="5234940" y="5711952"/>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「辛すぎた時どうすれば？」のような自由文の相談にも、意図を汲んで対処法と関連情報を案内する。</a:t>
            </a:r>
          </a:p>
        </p:txBody>
      </p:sp>
      <p:sp>
        <p:nvSpPr>
          <p:cNvPr id="54" name="TextBox 53"/>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a:ea typeface="メイリオ"/>
                <a:cs typeface="メイリオ"/>
              </a:rPr>
              <a:t>※対象外業種・仕様は要確認。外部ツールは月額の利用料が別途発生。</a:t>
            </a:r>
          </a:p>
        </p:txBody>
      </p:sp>
      <p:sp>
        <p:nvSpPr>
          <p:cNvPr id="56" name="テキスト ボックス 47">
            <a:extLst>
              <a:ext uri="{FF2B5EF4-FFF2-40B4-BE49-F238E27FC236}">
                <a16:creationId xmlns:a16="http://schemas.microsoft.com/office/drawing/2014/main" id="{DFA5D49C-ABFE-6BD7-8803-D7599F1C242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中長期施策｜LINE公式アカウント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841248"/>
            <a:ext cx="9052560" cy="261610"/>
          </a:xfrm>
          <a:prstGeom prst="rect">
            <a:avLst/>
          </a:prstGeom>
          <a:noFill/>
        </p:spPr>
        <p:txBody>
          <a:bodyPr wrap="square" lIns="0" tIns="0" rIns="0" bIns="0" anchor="t">
            <a:spAutoFit/>
          </a:bodyPr>
          <a:lstStyle/>
          <a:p>
            <a:pPr algn="l"/>
            <a:r>
              <a:rPr sz="1700" b="1">
                <a:solidFill>
                  <a:srgbClr val="23272E"/>
                </a:solidFill>
                <a:latin typeface="メイリオ"/>
                <a:ea typeface="メイリオ"/>
                <a:cs typeface="メイリオ"/>
              </a:rPr>
              <a:t>中長期②：コンテンツ機能と、会員データを貯めるキャンペーン</a:t>
            </a:r>
          </a:p>
        </p:txBody>
      </p:sp>
      <p:sp>
        <p:nvSpPr>
          <p:cNvPr id="4" name="TextBox 3"/>
          <p:cNvSpPr txBox="1"/>
          <p:nvPr/>
        </p:nvSpPr>
        <p:spPr>
          <a:xfrm>
            <a:off x="457200" y="1316736"/>
            <a:ext cx="9052560" cy="172355"/>
          </a:xfrm>
          <a:prstGeom prst="rect">
            <a:avLst/>
          </a:prstGeom>
          <a:noFill/>
        </p:spPr>
        <p:txBody>
          <a:bodyPr wrap="square" lIns="0" tIns="0" rIns="0" bIns="0" anchor="t">
            <a:spAutoFit/>
          </a:bodyPr>
          <a:lstStyle/>
          <a:p>
            <a:pPr algn="l">
              <a:lnSpc>
                <a:spcPct val="112000"/>
              </a:lnSpc>
            </a:pPr>
            <a:r>
              <a:rPr sz="1000" b="0">
                <a:solidFill>
                  <a:srgbClr val="33383F"/>
                </a:solidFill>
                <a:latin typeface="メイリオ"/>
                <a:ea typeface="メイリオ"/>
                <a:cs typeface="メイリオ"/>
              </a:rPr>
              <a:t>LINE上で参加・回答・購買データを取得 → タグ化 → 絞り込み配信・レコメンドの精度を上げる。AIO資料の参加型コンテンツ戦略とデータ面で接続。</a:t>
            </a:r>
          </a:p>
        </p:txBody>
      </p:sp>
      <p:sp>
        <p:nvSpPr>
          <p:cNvPr id="5" name="Rectangle 4"/>
          <p:cNvSpPr/>
          <p:nvPr/>
        </p:nvSpPr>
        <p:spPr>
          <a:xfrm>
            <a:off x="457200" y="1847088"/>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 name="TextBox 5"/>
          <p:cNvSpPr txBox="1"/>
          <p:nvPr/>
        </p:nvSpPr>
        <p:spPr>
          <a:xfrm>
            <a:off x="457200" y="1945329"/>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コンテンツ・データ機能</a:t>
            </a:r>
          </a:p>
        </p:txBody>
      </p:sp>
      <p:sp>
        <p:nvSpPr>
          <p:cNvPr id="7" name="Rounded Rectangle 6"/>
          <p:cNvSpPr/>
          <p:nvPr/>
        </p:nvSpPr>
        <p:spPr>
          <a:xfrm>
            <a:off x="457200" y="2304288"/>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8" name="Rectangle 7"/>
          <p:cNvSpPr/>
          <p:nvPr/>
        </p:nvSpPr>
        <p:spPr>
          <a:xfrm>
            <a:off x="457200" y="2304288"/>
            <a:ext cx="54864"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9" name="TextBox 8"/>
          <p:cNvSpPr txBox="1"/>
          <p:nvPr/>
        </p:nvSpPr>
        <p:spPr>
          <a:xfrm>
            <a:off x="603504" y="2395728"/>
            <a:ext cx="1705595"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リッチメニューの動的出し分け</a:t>
            </a:r>
          </a:p>
        </p:txBody>
      </p:sp>
      <p:sp>
        <p:nvSpPr>
          <p:cNvPr id="10" name="Rounded Rectangle 9"/>
          <p:cNvSpPr/>
          <p:nvPr/>
        </p:nvSpPr>
        <p:spPr>
          <a:xfrm>
            <a:off x="603504" y="2624328"/>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1" name="TextBox 10"/>
          <p:cNvSpPr txBox="1"/>
          <p:nvPr/>
        </p:nvSpPr>
        <p:spPr>
          <a:xfrm>
            <a:off x="603504" y="2661907"/>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12" name="Rounded Rectangle 11"/>
          <p:cNvSpPr/>
          <p:nvPr/>
        </p:nvSpPr>
        <p:spPr>
          <a:xfrm>
            <a:off x="1100937" y="262432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3" name="TextBox 12"/>
          <p:cNvSpPr txBox="1"/>
          <p:nvPr/>
        </p:nvSpPr>
        <p:spPr>
          <a:xfrm>
            <a:off x="1100937" y="2661907"/>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14" name="TextBox 13"/>
          <p:cNvSpPr txBox="1"/>
          <p:nvPr/>
        </p:nvSpPr>
        <p:spPr>
          <a:xfrm>
            <a:off x="603504" y="2871216"/>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新規会員には「参加できる企画」、休眠から戻った会員には「結果発表・新着」を出すなど、状態別にメニューを切り替える。</a:t>
            </a:r>
          </a:p>
        </p:txBody>
      </p:sp>
      <p:sp>
        <p:nvSpPr>
          <p:cNvPr id="15" name="Rounded Rectangle 14"/>
          <p:cNvSpPr/>
          <p:nvPr/>
        </p:nvSpPr>
        <p:spPr>
          <a:xfrm>
            <a:off x="457200" y="3319272"/>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6" name="Rectangle 15"/>
          <p:cNvSpPr/>
          <p:nvPr/>
        </p:nvSpPr>
        <p:spPr>
          <a:xfrm>
            <a:off x="457200" y="3319272"/>
            <a:ext cx="54864" cy="8686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7" name="TextBox 16"/>
          <p:cNvSpPr txBox="1"/>
          <p:nvPr/>
        </p:nvSpPr>
        <p:spPr>
          <a:xfrm>
            <a:off x="603504" y="3410712"/>
            <a:ext cx="1729641"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外部DB連携（予約・CRM 等）</a:t>
            </a:r>
          </a:p>
        </p:txBody>
      </p:sp>
      <p:sp>
        <p:nvSpPr>
          <p:cNvPr id="18" name="Rounded Rectangle 17"/>
          <p:cNvSpPr/>
          <p:nvPr/>
        </p:nvSpPr>
        <p:spPr>
          <a:xfrm>
            <a:off x="603504" y="3639312"/>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19" name="TextBox 18"/>
          <p:cNvSpPr txBox="1"/>
          <p:nvPr/>
        </p:nvSpPr>
        <p:spPr>
          <a:xfrm>
            <a:off x="603504" y="3676891"/>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20" name="Rounded Rectangle 19"/>
          <p:cNvSpPr/>
          <p:nvPr/>
        </p:nvSpPr>
        <p:spPr>
          <a:xfrm>
            <a:off x="1100937" y="3639312"/>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1" name="TextBox 20"/>
          <p:cNvSpPr txBox="1"/>
          <p:nvPr/>
        </p:nvSpPr>
        <p:spPr>
          <a:xfrm>
            <a:off x="1100937" y="3676891"/>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22" name="TextBox 21"/>
          <p:cNvSpPr txBox="1"/>
          <p:nvPr/>
        </p:nvSpPr>
        <p:spPr>
          <a:xfrm>
            <a:off x="603504" y="3886200"/>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会員IDや投稿・投票履歴とLINEを連携し、「あなたの投稿が記事になりました」など個別最適な通知を送る。</a:t>
            </a:r>
          </a:p>
        </p:txBody>
      </p:sp>
      <p:sp>
        <p:nvSpPr>
          <p:cNvPr id="23" name="Rounded Rectangle 22"/>
          <p:cNvSpPr/>
          <p:nvPr/>
        </p:nvSpPr>
        <p:spPr>
          <a:xfrm>
            <a:off x="457200" y="4334256"/>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4" name="Rectangle 23"/>
          <p:cNvSpPr/>
          <p:nvPr/>
        </p:nvSpPr>
        <p:spPr>
          <a:xfrm>
            <a:off x="457200" y="4334256"/>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5" name="TextBox 24"/>
          <p:cNvSpPr txBox="1"/>
          <p:nvPr/>
        </p:nvSpPr>
        <p:spPr>
          <a:xfrm>
            <a:off x="603504" y="4425696"/>
            <a:ext cx="1502014"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クーポン 発行・配布・分析</a:t>
            </a:r>
          </a:p>
        </p:txBody>
      </p:sp>
      <p:sp>
        <p:nvSpPr>
          <p:cNvPr id="26" name="Rounded Rectangle 25"/>
          <p:cNvSpPr/>
          <p:nvPr/>
        </p:nvSpPr>
        <p:spPr>
          <a:xfrm>
            <a:off x="603504" y="4654296"/>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27" name="TextBox 26"/>
          <p:cNvSpPr txBox="1"/>
          <p:nvPr/>
        </p:nvSpPr>
        <p:spPr>
          <a:xfrm>
            <a:off x="603504" y="4691875"/>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28" name="TextBox 27"/>
          <p:cNvSpPr txBox="1"/>
          <p:nvPr/>
        </p:nvSpPr>
        <p:spPr>
          <a:xfrm>
            <a:off x="603504" y="4901184"/>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「アンケート回答で限定壁紙／対象商品クーポン」を配り、開封数・使用数で反応を測って次の企画に活かす。</a:t>
            </a:r>
          </a:p>
        </p:txBody>
      </p:sp>
      <p:sp>
        <p:nvSpPr>
          <p:cNvPr id="29" name="Rounded Rectangle 28"/>
          <p:cNvSpPr/>
          <p:nvPr/>
        </p:nvSpPr>
        <p:spPr>
          <a:xfrm>
            <a:off x="457200" y="5349240"/>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0" name="Rectangle 29"/>
          <p:cNvSpPr/>
          <p:nvPr/>
        </p:nvSpPr>
        <p:spPr>
          <a:xfrm>
            <a:off x="457200" y="5349240"/>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1" name="TextBox 30"/>
          <p:cNvSpPr txBox="1"/>
          <p:nvPr/>
        </p:nvSpPr>
        <p:spPr>
          <a:xfrm>
            <a:off x="603504" y="5440679"/>
            <a:ext cx="1583767"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ショップカード（ポイント）</a:t>
            </a:r>
          </a:p>
        </p:txBody>
      </p:sp>
      <p:sp>
        <p:nvSpPr>
          <p:cNvPr id="32" name="Rounded Rectangle 31"/>
          <p:cNvSpPr/>
          <p:nvPr/>
        </p:nvSpPr>
        <p:spPr>
          <a:xfrm>
            <a:off x="603504" y="5669279"/>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3" name="TextBox 32"/>
          <p:cNvSpPr txBox="1"/>
          <p:nvPr/>
        </p:nvSpPr>
        <p:spPr>
          <a:xfrm>
            <a:off x="603504" y="5706858"/>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34" name="TextBox 33"/>
          <p:cNvSpPr txBox="1"/>
          <p:nvPr/>
        </p:nvSpPr>
        <p:spPr>
          <a:xfrm>
            <a:off x="603504" y="5916168"/>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企画参加や記事閲覧でスタンプが貯まる仕組みにして、「次も参加したい」という再訪動機をつくる。</a:t>
            </a:r>
          </a:p>
        </p:txBody>
      </p:sp>
      <p:sp>
        <p:nvSpPr>
          <p:cNvPr id="35" name="Rectangle 34"/>
          <p:cNvSpPr/>
          <p:nvPr/>
        </p:nvSpPr>
        <p:spPr>
          <a:xfrm>
            <a:off x="5088636" y="1847088"/>
            <a:ext cx="4357116" cy="365760"/>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6" name="TextBox 35"/>
          <p:cNvSpPr txBox="1"/>
          <p:nvPr/>
        </p:nvSpPr>
        <p:spPr>
          <a:xfrm>
            <a:off x="5088636" y="1945329"/>
            <a:ext cx="4357116" cy="169277"/>
          </a:xfrm>
          <a:prstGeom prst="rect">
            <a:avLst/>
          </a:prstGeom>
          <a:noFill/>
        </p:spPr>
        <p:txBody>
          <a:bodyPr wrap="square" lIns="0" tIns="0" rIns="0" bIns="0" anchor="ctr">
            <a:spAutoFit/>
          </a:bodyPr>
          <a:lstStyle/>
          <a:p>
            <a:pPr algn="ctr"/>
            <a:r>
              <a:rPr sz="1100" b="1">
                <a:solidFill>
                  <a:srgbClr val="FFFFFF"/>
                </a:solidFill>
                <a:latin typeface="メイリオ"/>
                <a:ea typeface="メイリオ"/>
                <a:cs typeface="メイリオ"/>
              </a:rPr>
              <a:t>データ蓄積キャンペーン</a:t>
            </a:r>
          </a:p>
        </p:txBody>
      </p:sp>
      <p:sp>
        <p:nvSpPr>
          <p:cNvPr id="37" name="Rounded Rectangle 36"/>
          <p:cNvSpPr/>
          <p:nvPr/>
        </p:nvSpPr>
        <p:spPr>
          <a:xfrm>
            <a:off x="5088636" y="2304288"/>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8" name="Rectangle 37"/>
          <p:cNvSpPr/>
          <p:nvPr/>
        </p:nvSpPr>
        <p:spPr>
          <a:xfrm>
            <a:off x="5088636" y="2304288"/>
            <a:ext cx="54864" cy="868680"/>
          </a:xfrm>
          <a:prstGeom prst="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39" name="TextBox 38"/>
          <p:cNvSpPr txBox="1"/>
          <p:nvPr/>
        </p:nvSpPr>
        <p:spPr>
          <a:xfrm>
            <a:off x="5234940" y="2395728"/>
            <a:ext cx="2394886"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MustBuyキャンペーン（レシート×OCR）</a:t>
            </a:r>
          </a:p>
        </p:txBody>
      </p:sp>
      <p:sp>
        <p:nvSpPr>
          <p:cNvPr id="40" name="Rounded Rectangle 39"/>
          <p:cNvSpPr/>
          <p:nvPr/>
        </p:nvSpPr>
        <p:spPr>
          <a:xfrm>
            <a:off x="5234940" y="2624328"/>
            <a:ext cx="640080" cy="182880"/>
          </a:xfrm>
          <a:prstGeom prst="roundRect">
            <a:avLst/>
          </a:prstGeom>
          <a:solidFill>
            <a:srgbClr val="EE7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1" name="TextBox 40"/>
          <p:cNvSpPr txBox="1"/>
          <p:nvPr/>
        </p:nvSpPr>
        <p:spPr>
          <a:xfrm>
            <a:off x="5234940" y="2661907"/>
            <a:ext cx="640080"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外部ツール</a:t>
            </a:r>
          </a:p>
        </p:txBody>
      </p:sp>
      <p:sp>
        <p:nvSpPr>
          <p:cNvPr id="42" name="TextBox 41"/>
          <p:cNvSpPr txBox="1"/>
          <p:nvPr/>
        </p:nvSpPr>
        <p:spPr>
          <a:xfrm>
            <a:off x="5234940" y="2871216"/>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対象商品を買ってレシートを送ると応募完了。購入者のLINEと購買データが紐づき、購入実績ベースで追客できる。</a:t>
            </a:r>
          </a:p>
        </p:txBody>
      </p:sp>
      <p:sp>
        <p:nvSpPr>
          <p:cNvPr id="43" name="Rounded Rectangle 42"/>
          <p:cNvSpPr/>
          <p:nvPr/>
        </p:nvSpPr>
        <p:spPr>
          <a:xfrm>
            <a:off x="5088636" y="3319272"/>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4" name="Rectangle 43"/>
          <p:cNvSpPr/>
          <p:nvPr/>
        </p:nvSpPr>
        <p:spPr>
          <a:xfrm>
            <a:off x="5088636" y="3319272"/>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5" name="TextBox 44"/>
          <p:cNvSpPr txBox="1"/>
          <p:nvPr/>
        </p:nvSpPr>
        <p:spPr>
          <a:xfrm>
            <a:off x="5234940" y="3410712"/>
            <a:ext cx="1340110"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プレゼントキャンペーン</a:t>
            </a:r>
          </a:p>
        </p:txBody>
      </p:sp>
      <p:sp>
        <p:nvSpPr>
          <p:cNvPr id="46" name="Rounded Rectangle 45"/>
          <p:cNvSpPr/>
          <p:nvPr/>
        </p:nvSpPr>
        <p:spPr>
          <a:xfrm>
            <a:off x="5234940" y="3639312"/>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7" name="TextBox 46"/>
          <p:cNvSpPr txBox="1"/>
          <p:nvPr/>
        </p:nvSpPr>
        <p:spPr>
          <a:xfrm>
            <a:off x="5234940" y="3676891"/>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48" name="Rounded Rectangle 47"/>
          <p:cNvSpPr/>
          <p:nvPr/>
        </p:nvSpPr>
        <p:spPr>
          <a:xfrm>
            <a:off x="5633618" y="3639312"/>
            <a:ext cx="442569" cy="182880"/>
          </a:xfrm>
          <a:prstGeom prst="round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49" name="TextBox 48"/>
          <p:cNvSpPr txBox="1"/>
          <p:nvPr/>
        </p:nvSpPr>
        <p:spPr>
          <a:xfrm>
            <a:off x="5633618" y="3676891"/>
            <a:ext cx="442569"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API</a:t>
            </a:r>
          </a:p>
        </p:txBody>
      </p:sp>
      <p:sp>
        <p:nvSpPr>
          <p:cNvPr id="50" name="TextBox 49"/>
          <p:cNvSpPr txBox="1"/>
          <p:nvPr/>
        </p:nvSpPr>
        <p:spPr>
          <a:xfrm>
            <a:off x="5234940" y="3886200"/>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「友だち追加＋アンケート回答で抽選」を入口に、懸賞目的で登録した層をLINEへ取り込み、更新通知で関係を継続する。</a:t>
            </a:r>
          </a:p>
        </p:txBody>
      </p:sp>
      <p:sp>
        <p:nvSpPr>
          <p:cNvPr id="51" name="Rounded Rectangle 50"/>
          <p:cNvSpPr/>
          <p:nvPr/>
        </p:nvSpPr>
        <p:spPr>
          <a:xfrm>
            <a:off x="5088636" y="4334256"/>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2" name="Rectangle 51"/>
          <p:cNvSpPr/>
          <p:nvPr/>
        </p:nvSpPr>
        <p:spPr>
          <a:xfrm>
            <a:off x="5088636" y="4334256"/>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3" name="TextBox 52"/>
          <p:cNvSpPr txBox="1"/>
          <p:nvPr/>
        </p:nvSpPr>
        <p:spPr>
          <a:xfrm>
            <a:off x="5234940" y="4425696"/>
            <a:ext cx="1218282"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利用満足度アンケート</a:t>
            </a:r>
          </a:p>
        </p:txBody>
      </p:sp>
      <p:sp>
        <p:nvSpPr>
          <p:cNvPr id="54" name="Rounded Rectangle 53"/>
          <p:cNvSpPr/>
          <p:nvPr/>
        </p:nvSpPr>
        <p:spPr>
          <a:xfrm>
            <a:off x="5234940" y="4654296"/>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5" name="TextBox 54"/>
          <p:cNvSpPr txBox="1"/>
          <p:nvPr/>
        </p:nvSpPr>
        <p:spPr>
          <a:xfrm>
            <a:off x="5234940" y="4691875"/>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56" name="TextBox 55"/>
          <p:cNvSpPr txBox="1"/>
          <p:nvPr/>
        </p:nvSpPr>
        <p:spPr>
          <a:xfrm>
            <a:off x="5234940" y="4901184"/>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企画やサイトへの満足度をLINEで定期取得し、低評価者にはお詫びと改善予告、高評価者には口コミ・シェアを依頼する。</a:t>
            </a:r>
          </a:p>
        </p:txBody>
      </p:sp>
      <p:sp>
        <p:nvSpPr>
          <p:cNvPr id="57" name="Rounded Rectangle 56"/>
          <p:cNvSpPr/>
          <p:nvPr/>
        </p:nvSpPr>
        <p:spPr>
          <a:xfrm>
            <a:off x="5088636" y="5349240"/>
            <a:ext cx="4357116" cy="868680"/>
          </a:xfrm>
          <a:prstGeom prst="roundRect">
            <a:avLst/>
          </a:prstGeom>
          <a:solidFill>
            <a:srgbClr val="FFFFFF"/>
          </a:solidFill>
          <a:ln w="12700">
            <a:solidFill>
              <a:srgbClr val="DADC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8" name="Rectangle 57"/>
          <p:cNvSpPr/>
          <p:nvPr/>
        </p:nvSpPr>
        <p:spPr>
          <a:xfrm>
            <a:off x="5088636" y="5349240"/>
            <a:ext cx="54864" cy="86868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59" name="TextBox 58"/>
          <p:cNvSpPr txBox="1"/>
          <p:nvPr/>
        </p:nvSpPr>
        <p:spPr>
          <a:xfrm>
            <a:off x="5234940" y="5440679"/>
            <a:ext cx="1218282" cy="146194"/>
          </a:xfrm>
          <a:prstGeom prst="rect">
            <a:avLst/>
          </a:prstGeom>
          <a:noFill/>
        </p:spPr>
        <p:txBody>
          <a:bodyPr wrap="none" lIns="0" tIns="0" rIns="0" bIns="0" anchor="t">
            <a:spAutoFit/>
          </a:bodyPr>
          <a:lstStyle/>
          <a:p>
            <a:pPr algn="l"/>
            <a:r>
              <a:rPr sz="950" b="1">
                <a:solidFill>
                  <a:srgbClr val="23272E"/>
                </a:solidFill>
                <a:latin typeface="メイリオ"/>
                <a:ea typeface="メイリオ"/>
                <a:cs typeface="メイリオ"/>
              </a:rPr>
              <a:t>コラム希望アンケート</a:t>
            </a:r>
          </a:p>
        </p:txBody>
      </p:sp>
      <p:sp>
        <p:nvSpPr>
          <p:cNvPr id="60" name="Rounded Rectangle 59"/>
          <p:cNvSpPr/>
          <p:nvPr/>
        </p:nvSpPr>
        <p:spPr>
          <a:xfrm>
            <a:off x="5234940" y="5669279"/>
            <a:ext cx="343814" cy="182880"/>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メイリオ"/>
              <a:ea typeface="メイリオ"/>
              <a:cs typeface="メイリオ"/>
            </a:endParaRPr>
          </a:p>
        </p:txBody>
      </p:sp>
      <p:sp>
        <p:nvSpPr>
          <p:cNvPr id="61" name="TextBox 60"/>
          <p:cNvSpPr txBox="1"/>
          <p:nvPr/>
        </p:nvSpPr>
        <p:spPr>
          <a:xfrm>
            <a:off x="5234940" y="5706858"/>
            <a:ext cx="343814" cy="107722"/>
          </a:xfrm>
          <a:prstGeom prst="rect">
            <a:avLst/>
          </a:prstGeom>
          <a:noFill/>
        </p:spPr>
        <p:txBody>
          <a:bodyPr wrap="square" lIns="0" tIns="0" rIns="0" bIns="0" anchor="ctr">
            <a:spAutoFit/>
          </a:bodyPr>
          <a:lstStyle/>
          <a:p>
            <a:pPr algn="ctr"/>
            <a:r>
              <a:rPr sz="700" b="1">
                <a:solidFill>
                  <a:srgbClr val="FFFFFF"/>
                </a:solidFill>
                <a:latin typeface="メイリオ"/>
                <a:ea typeface="メイリオ"/>
                <a:cs typeface="メイリオ"/>
              </a:rPr>
              <a:t>標準</a:t>
            </a:r>
          </a:p>
        </p:txBody>
      </p:sp>
      <p:sp>
        <p:nvSpPr>
          <p:cNvPr id="62" name="TextBox 61"/>
          <p:cNvSpPr txBox="1"/>
          <p:nvPr/>
        </p:nvSpPr>
        <p:spPr>
          <a:xfrm>
            <a:off x="5234940" y="5916168"/>
            <a:ext cx="4137659" cy="278538"/>
          </a:xfrm>
          <a:prstGeom prst="rect">
            <a:avLst/>
          </a:prstGeom>
          <a:noFill/>
        </p:spPr>
        <p:txBody>
          <a:bodyPr wrap="square" lIns="0" tIns="0" rIns="0" bIns="0" anchor="t">
            <a:spAutoFit/>
          </a:bodyPr>
          <a:lstStyle/>
          <a:p>
            <a:pPr algn="l">
              <a:lnSpc>
                <a:spcPct val="116000"/>
              </a:lnSpc>
            </a:pPr>
            <a:r>
              <a:rPr sz="780" b="0">
                <a:solidFill>
                  <a:srgbClr val="4A4F55"/>
                </a:solidFill>
                <a:latin typeface="メイリオ"/>
                <a:ea typeface="メイリオ"/>
                <a:cs typeface="メイリオ"/>
              </a:rPr>
              <a:t>「どんな記事・企画が読みたいか」を会員に聞き、企画の優先度を決めつつ、リクエストした人へ公開時に通知して再訪を促す。</a:t>
            </a:r>
          </a:p>
        </p:txBody>
      </p:sp>
      <p:sp>
        <p:nvSpPr>
          <p:cNvPr id="63" name="TextBox 62"/>
          <p:cNvSpPr txBox="1"/>
          <p:nvPr/>
        </p:nvSpPr>
        <p:spPr>
          <a:xfrm>
            <a:off x="457200" y="6272784"/>
            <a:ext cx="8988552" cy="130805"/>
          </a:xfrm>
          <a:prstGeom prst="rect">
            <a:avLst/>
          </a:prstGeom>
          <a:noFill/>
        </p:spPr>
        <p:txBody>
          <a:bodyPr wrap="square" lIns="0" tIns="0" rIns="0" bIns="0" anchor="t">
            <a:spAutoFit/>
          </a:bodyPr>
          <a:lstStyle/>
          <a:p>
            <a:pPr algn="l"/>
            <a:r>
              <a:rPr sz="850" b="0">
                <a:solidFill>
                  <a:srgbClr val="6E7278"/>
                </a:solidFill>
                <a:latin typeface="メイリオ"/>
                <a:ea typeface="メイリオ"/>
                <a:cs typeface="メイリオ"/>
              </a:rPr>
              <a:t>※初期は標準機能＋簡易フォームで小さく開始し、反応を見て外部ツール／API連携へ投資判断。</a:t>
            </a:r>
          </a:p>
        </p:txBody>
      </p:sp>
      <p:sp>
        <p:nvSpPr>
          <p:cNvPr id="65" name="テキスト ボックス 47">
            <a:extLst>
              <a:ext uri="{FF2B5EF4-FFF2-40B4-BE49-F238E27FC236}">
                <a16:creationId xmlns:a16="http://schemas.microsoft.com/office/drawing/2014/main" id="{9E0C65C8-F736-33FE-DAF6-4F67D7EBC2BA}"/>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a:ea typeface="メイリオ"/>
                <a:cs typeface="メイリオ"/>
              </a:defRPr>
            </a:lvl1pPr>
            <a:lvl2pPr>
              <a:defRPr kumimoji="1" sz="2800">
                <a:solidFill>
                  <a:schemeClr val="tx1"/>
                </a:solidFill>
                <a:latin typeface="メイリオ"/>
                <a:ea typeface="メイリオ"/>
                <a:cs typeface="メイリオ"/>
              </a:defRPr>
            </a:lvl2pPr>
            <a:lvl3pPr>
              <a:defRPr kumimoji="1" sz="2400">
                <a:solidFill>
                  <a:schemeClr val="tx1"/>
                </a:solidFill>
                <a:latin typeface="メイリオ"/>
                <a:ea typeface="メイリオ"/>
                <a:cs typeface="メイリオ"/>
              </a:defRPr>
            </a:lvl3pPr>
            <a:lvl4pPr>
              <a:defRPr kumimoji="1" sz="2000">
                <a:solidFill>
                  <a:schemeClr val="tx1"/>
                </a:solidFill>
                <a:latin typeface="メイリオ"/>
                <a:ea typeface="メイリオ"/>
                <a:cs typeface="メイリオ"/>
              </a:defRPr>
            </a:lvl4pPr>
            <a:lvl5pPr>
              <a:defRPr kumimoji="1" sz="2000">
                <a:solidFill>
                  <a:schemeClr val="tx1"/>
                </a:solidFill>
                <a:latin typeface="メイリオ"/>
                <a:ea typeface="メイリオ"/>
                <a:cs typeface="メイリオ"/>
              </a:defRPr>
            </a:lvl5pPr>
            <a:lvl6pPr eaLnBrk="0" fontAlgn="base" hangingPunct="0">
              <a:spcAft>
                <a:spcPct val="0"/>
              </a:spcAft>
              <a:buFont typeface="Arial" charset="0"/>
              <a:buChar char="»"/>
              <a:defRPr kumimoji="1" sz="2000">
                <a:solidFill>
                  <a:schemeClr val="tx1"/>
                </a:solidFill>
                <a:latin typeface="メイリオ"/>
                <a:ea typeface="メイリオ"/>
                <a:cs typeface="メイリオ"/>
              </a:defRPr>
            </a:lvl6pPr>
            <a:lvl7pPr eaLnBrk="0" fontAlgn="base" hangingPunct="0">
              <a:spcAft>
                <a:spcPct val="0"/>
              </a:spcAft>
              <a:buFont typeface="Arial" charset="0"/>
              <a:buChar char="»"/>
              <a:defRPr kumimoji="1" sz="2000">
                <a:solidFill>
                  <a:schemeClr val="tx1"/>
                </a:solidFill>
                <a:latin typeface="メイリオ"/>
                <a:ea typeface="メイリオ"/>
                <a:cs typeface="メイリオ"/>
              </a:defRPr>
            </a:lvl7pPr>
            <a:lvl8pPr eaLnBrk="0" fontAlgn="base" hangingPunct="0">
              <a:spcAft>
                <a:spcPct val="0"/>
              </a:spcAft>
              <a:buFont typeface="Arial" charset="0"/>
              <a:buChar char="»"/>
              <a:defRPr kumimoji="1" sz="2000">
                <a:solidFill>
                  <a:schemeClr val="tx1"/>
                </a:solidFill>
                <a:latin typeface="メイリオ"/>
                <a:ea typeface="メイリオ"/>
                <a:cs typeface="メイリオ"/>
              </a:defRPr>
            </a:lvl8pPr>
            <a:lvl9pPr eaLnBrk="0" fontAlgn="base" hangingPunct="0">
              <a:spcAft>
                <a:spcPct val="0"/>
              </a:spcAft>
              <a:buFont typeface="Arial" charset="0"/>
              <a:buChar char="»"/>
              <a:defRPr kumimoji="1" sz="2000">
                <a:solidFill>
                  <a:schemeClr val="tx1"/>
                </a:solidFill>
                <a:latin typeface="メイリオ"/>
                <a:ea typeface="メイリオ"/>
                <a:cs typeface="メイリオ"/>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中長期施策｜LINE公式アカウント</a:t>
            </a:r>
            <a:r>
              <a:rPr lang="en-US" altLang="ja-JP" sz="1600" b="1" dirty="0">
                <a:solidFill>
                  <a:srgbClr val="1F2A5C"/>
                </a:solidFill>
                <a:latin typeface="メイリオ"/>
                <a:ea typeface="メイリオ"/>
                <a:cs typeface="メイリオ"/>
              </a:rPr>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a:ea typeface="メイリオ"/>
                <a:cs typeface="メイリオ"/>
              </a:rPr>
              <a:t>既存友だち</a:t>
            </a:r>
            <a:r>
              <a:rPr lang="ja-JP" altLang="en-US" sz="2400" dirty="0">
                <a:solidFill>
                  <a:schemeClr val="tx1">
                    <a:lumMod val="50000"/>
                    <a:lumOff val="50000"/>
                  </a:schemeClr>
                </a:solidFill>
                <a:latin typeface="メイリオ"/>
                <a:ea typeface="メイリオ"/>
                <a:cs typeface="メイリオ"/>
              </a:rPr>
              <a:t>のメッセージ配信を拡大＆検証し</a:t>
            </a:r>
            <a:endParaRPr lang="en-US" altLang="ja-JP" sz="2400" dirty="0">
              <a:solidFill>
                <a:schemeClr val="tx1">
                  <a:lumMod val="50000"/>
                  <a:lumOff val="50000"/>
                </a:schemeClr>
              </a:solidFill>
              <a:latin typeface="メイリオ"/>
              <a:ea typeface="メイリオ"/>
              <a:cs typeface="メイリオ"/>
            </a:endParaRPr>
          </a:p>
          <a:p>
            <a:pPr algn="ctr"/>
            <a:r>
              <a:rPr lang="ja-JP" altLang="en-US" sz="2400" dirty="0">
                <a:solidFill>
                  <a:schemeClr val="tx1">
                    <a:lumMod val="50000"/>
                    <a:lumOff val="50000"/>
                  </a:schemeClr>
                </a:solidFill>
                <a:latin typeface="メイリオ"/>
                <a:ea typeface="メイリオ"/>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a:ea typeface="メイリオ"/>
                <a:cs typeface="メイリオ"/>
              </a:rPr>
              <a:t>新規友だち</a:t>
            </a:r>
            <a:r>
              <a:rPr lang="ja-JP" altLang="en-US" sz="2400" dirty="0">
                <a:solidFill>
                  <a:schemeClr val="tx1">
                    <a:lumMod val="50000"/>
                    <a:lumOff val="50000"/>
                  </a:schemeClr>
                </a:solidFill>
                <a:latin typeface="メイリオ"/>
                <a:ea typeface="メイリオ"/>
                <a:cs typeface="メイリオ"/>
              </a:rPr>
              <a:t>の追加動線を拡大</a:t>
            </a:r>
            <a:r>
              <a:rPr lang="en-US" altLang="ja-JP" sz="2400" dirty="0">
                <a:solidFill>
                  <a:schemeClr val="tx1">
                    <a:lumMod val="50000"/>
                    <a:lumOff val="50000"/>
                  </a:schemeClr>
                </a:solidFill>
                <a:latin typeface="メイリオ"/>
                <a:ea typeface="メイリオ"/>
                <a:cs typeface="メイリオ"/>
              </a:rPr>
              <a:t>&amp;</a:t>
            </a:r>
            <a:r>
              <a:rPr lang="ja-JP" altLang="en-US" sz="2400" dirty="0">
                <a:solidFill>
                  <a:schemeClr val="tx1">
                    <a:lumMod val="50000"/>
                    <a:lumOff val="50000"/>
                  </a:schemeClr>
                </a:solidFill>
                <a:latin typeface="メイリオ"/>
                <a:ea typeface="メイリオ"/>
                <a:cs typeface="メイリオ"/>
              </a:rPr>
              <a:t>整備し</a:t>
            </a:r>
            <a:endParaRPr lang="en-US" altLang="ja-JP" sz="2400" dirty="0">
              <a:solidFill>
                <a:schemeClr val="tx1">
                  <a:lumMod val="50000"/>
                  <a:lumOff val="50000"/>
                </a:schemeClr>
              </a:solidFill>
              <a:latin typeface="メイリオ"/>
              <a:ea typeface="メイリオ"/>
              <a:cs typeface="メイリオ"/>
            </a:endParaRPr>
          </a:p>
          <a:p>
            <a:pPr algn="ctr"/>
            <a:r>
              <a:rPr lang="ja-JP" altLang="en-US" sz="2400" dirty="0">
                <a:solidFill>
                  <a:schemeClr val="tx1">
                    <a:lumMod val="50000"/>
                    <a:lumOff val="50000"/>
                  </a:schemeClr>
                </a:solidFill>
                <a:latin typeface="メイリオ"/>
                <a:ea typeface="メイリオ"/>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a:ea typeface="メイリオ"/>
                <a:cs typeface="メイリオ"/>
              </a:rPr>
              <a:t>アカウント効果を</a:t>
            </a:r>
            <a:r>
              <a:rPr lang="ja-JP" altLang="en-US" sz="2400" b="1" dirty="0">
                <a:latin typeface="メイリオ"/>
                <a:ea typeface="メイリオ"/>
                <a:cs typeface="メイリオ"/>
              </a:rPr>
              <a:t>最大化する</a:t>
            </a:r>
            <a:r>
              <a:rPr lang="ja-JP" altLang="en-US" sz="2400" dirty="0">
                <a:solidFill>
                  <a:schemeClr val="tx1">
                    <a:lumMod val="50000"/>
                    <a:lumOff val="50000"/>
                  </a:schemeClr>
                </a:solidFill>
                <a:latin typeface="メイリオ"/>
                <a:ea typeface="メイリオ"/>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a:ea typeface="メイリオ"/>
                <a:cs typeface="メイリオ"/>
              </a:rPr>
              <a:t>WEB</a:t>
            </a:r>
            <a:r>
              <a:rPr lang="ja-JP" altLang="en-US" sz="2400" dirty="0">
                <a:solidFill>
                  <a:schemeClr val="tx1">
                    <a:lumMod val="50000"/>
                    <a:lumOff val="50000"/>
                  </a:schemeClr>
                </a:solidFill>
                <a:latin typeface="メイリオ"/>
                <a:ea typeface="メイリオ"/>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a:ea typeface="メイリオ"/>
                <a:cs typeface="メイリオ"/>
              </a:rPr>
              <a:t>LINEOA</a:t>
            </a:r>
            <a:r>
              <a:rPr kumimoji="1" lang="ja-JP" altLang="en-US" sz="1400" dirty="0">
                <a:latin typeface="メイリオ"/>
                <a:ea typeface="メイリオ"/>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a:ea typeface="メイリオ"/>
                <a:cs typeface="メイリオ"/>
                <a:sym typeface="Meiryo"/>
              </a:rPr>
              <a:t>LINE</a:t>
            </a:r>
            <a:r>
              <a:rPr lang="ja-JP" altLang="en-US" sz="1600" b="1" dirty="0">
                <a:latin typeface="メイリオ"/>
                <a:ea typeface="メイリオ"/>
                <a:cs typeface="メイリオ"/>
                <a:sym typeface="Meiryo"/>
              </a:rPr>
              <a:t>友だち追加～</a:t>
            </a:r>
            <a:r>
              <a:rPr lang="en-US" altLang="ja-JP" sz="1600" b="1" dirty="0">
                <a:latin typeface="メイリオ"/>
                <a:ea typeface="メイリオ"/>
                <a:cs typeface="メイリオ"/>
                <a:sym typeface="Meiryo"/>
              </a:rPr>
              <a:t>15</a:t>
            </a:r>
            <a:r>
              <a:rPr lang="ja-JP" altLang="en-US" sz="1600" b="1" dirty="0">
                <a:latin typeface="メイリオ"/>
                <a:ea typeface="メイリオ"/>
                <a:cs typeface="メイリオ"/>
                <a:sym typeface="Meiryo"/>
              </a:rPr>
              <a:t>日を境に大きくアクティブ率が下がる（ブロック率が上がる）</a:t>
            </a:r>
            <a:endParaRPr lang="en-US" altLang="ja-JP" sz="1600" b="1" dirty="0">
              <a:latin typeface="メイリオ"/>
              <a:ea typeface="メイリオ"/>
              <a:cs typeface="メイリオ"/>
              <a:sym typeface="Meiryo"/>
            </a:endParaRPr>
          </a:p>
          <a:p>
            <a:r>
              <a:rPr lang="ja-JP" altLang="en-US" sz="1600" b="1" dirty="0">
                <a:latin typeface="メイリオ"/>
                <a:ea typeface="メイリオ"/>
                <a:cs typeface="メイリオ"/>
                <a:sym typeface="Meiryo"/>
              </a:rPr>
              <a:t>為、追加から</a:t>
            </a:r>
            <a:r>
              <a:rPr lang="en-US" altLang="ja-JP" sz="1600" b="1" dirty="0">
                <a:latin typeface="メイリオ"/>
                <a:ea typeface="メイリオ"/>
                <a:cs typeface="メイリオ"/>
                <a:sym typeface="Meiryo"/>
              </a:rPr>
              <a:t>20‐30</a:t>
            </a:r>
            <a:r>
              <a:rPr lang="ja-JP" altLang="en-US" sz="1600" b="1" dirty="0">
                <a:latin typeface="メイリオ"/>
                <a:ea typeface="メイリオ"/>
                <a:cs typeface="メイリオ"/>
                <a:sym typeface="Meiryo"/>
              </a:rPr>
              <a:t>日間のステップ配信構築とユーザビリティの改善が必要に。</a:t>
            </a:r>
            <a:endParaRPr lang="en-US" altLang="ja-JP" sz="1600" b="1" dirty="0">
              <a:latin typeface="メイリオ"/>
              <a:ea typeface="メイリオ"/>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a:ea typeface="メイリオ"/>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FF0000"/>
                </a:solidFill>
                <a:latin typeface="メイリオ"/>
                <a:ea typeface="メイリオ"/>
                <a:cs typeface="メイリオ"/>
                <a:sym typeface="Meiryo"/>
              </a:rPr>
              <a:t>15</a:t>
            </a:r>
            <a:r>
              <a:rPr lang="ja-JP" altLang="en-US" sz="1200" b="1" dirty="0">
                <a:solidFill>
                  <a:srgbClr val="FF0000"/>
                </a:solidFill>
                <a:latin typeface="メイリオ"/>
                <a:ea typeface="メイリオ"/>
                <a:cs typeface="メイリオ"/>
                <a:sym typeface="Meiryo"/>
              </a:rPr>
              <a:t>日後</a:t>
            </a:r>
            <a:endParaRPr lang="ja-JP" altLang="en-US" sz="1200" dirty="0">
              <a:solidFill>
                <a:srgbClr val="FF0000"/>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a:ea typeface="メイリオ"/>
                <a:cs typeface="メイリオ"/>
                <a:sym typeface="Meiryo"/>
              </a:rPr>
              <a:t>30</a:t>
            </a:r>
            <a:r>
              <a:rPr lang="ja-JP" altLang="en-US" sz="1200" b="1" dirty="0">
                <a:latin typeface="メイリオ"/>
                <a:ea typeface="メイリオ"/>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a:ea typeface="メイリオ"/>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a:ea typeface="メイリオ"/>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a:ea typeface="メイリオ"/>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a:ea typeface="メイリオ"/>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a:ea typeface="メイリオ"/>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a:ea typeface="メイリオ"/>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a:ea typeface="メイリオ"/>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a:ea typeface="メイリオ"/>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a:ea typeface="メイリオ"/>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a:ea typeface="メイリオ"/>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⑤ 有効化</a:t>
            </a:r>
            <a:endParaRPr lang="ja-JP" altLang="ja-JP" sz="1100" b="1" dirty="0">
              <a:latin typeface="メイリオ"/>
              <a:ea typeface="メイリオ"/>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⑦  </a:t>
            </a:r>
            <a:r>
              <a:rPr lang="en-US" altLang="ja-JP" sz="1000" b="1" dirty="0">
                <a:latin typeface="メイリオ"/>
                <a:ea typeface="メイリオ"/>
                <a:cs typeface="メイリオ"/>
              </a:rPr>
              <a:t>(</a:t>
            </a:r>
            <a:r>
              <a:rPr lang="ja-JP" altLang="en-US" sz="1000" b="1" dirty="0">
                <a:latin typeface="メイリオ"/>
                <a:ea typeface="メイリオ"/>
                <a:cs typeface="メイリオ"/>
              </a:rPr>
              <a:t>成約</a:t>
            </a:r>
            <a:r>
              <a:rPr lang="en-US" altLang="ja-JP" sz="1000" b="1" dirty="0">
                <a:latin typeface="メイリオ"/>
                <a:ea typeface="メイリオ"/>
                <a:cs typeface="メイリオ"/>
              </a:rPr>
              <a:t>)</a:t>
            </a:r>
            <a:endParaRPr lang="ja-JP" altLang="ja-JP" sz="1100" b="1" dirty="0">
              <a:latin typeface="メイリオ"/>
              <a:ea typeface="メイリオ"/>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⑥ 再育成</a:t>
            </a:r>
            <a:endParaRPr lang="ja-JP" altLang="ja-JP" sz="1100" b="1" dirty="0">
              <a:latin typeface="メイリオ"/>
              <a:ea typeface="メイリオ"/>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a:ea typeface="メイリオ"/>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a:ea typeface="メイリオ"/>
                <a:cs typeface="メイリオ"/>
              </a:rPr>
              <a:t>④ リード</a:t>
            </a:r>
            <a:endParaRPr lang="ja-JP" altLang="ja-JP" sz="1050" b="1" dirty="0">
              <a:latin typeface="メイリオ"/>
              <a:ea typeface="メイリオ"/>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a:ea typeface="メイリオ"/>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a:ea typeface="メイリオ"/>
                <a:cs typeface="メイリオ"/>
              </a:rPr>
              <a:t>⑧ </a:t>
            </a:r>
            <a:r>
              <a:rPr lang="en-US" altLang="ja-JP" sz="1100" dirty="0">
                <a:latin typeface="メイリオ"/>
                <a:ea typeface="メイリオ"/>
                <a:cs typeface="メイリオ"/>
              </a:rPr>
              <a:t>LTV</a:t>
            </a: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chemeClr val="accent6">
              <a:lumMod val="40000"/>
              <a:lumOff val="60000"/>
              <a:alpha val="30000"/>
            </a:schemeClr>
          </a:solidFill>
        </p:spPr>
        <p:txBody>
          <a:bodyPr wrap="square">
            <a:spAutoFit/>
          </a:bodyPr>
          <a:lstStyle/>
          <a:p>
            <a:pPr>
              <a:buNone/>
            </a:pPr>
            <a:r>
              <a:rPr lang="ja-JP" altLang="ja-JP" sz="1100" dirty="0">
                <a:latin typeface="メイリオ"/>
                <a:ea typeface="メイリオ"/>
                <a:cs typeface="メイリオ"/>
              </a:rPr>
              <a:t>② </a:t>
            </a:r>
            <a:r>
              <a:rPr lang="ja-JP" altLang="en-US" sz="1100" dirty="0">
                <a:latin typeface="メイリオ"/>
                <a:ea typeface="メイリオ"/>
                <a:cs typeface="メイリオ"/>
              </a:rPr>
              <a:t>離脱</a:t>
            </a:r>
            <a:endParaRPr lang="ja-JP" altLang="ja-JP" sz="1100" dirty="0">
              <a:latin typeface="メイリオ"/>
              <a:ea typeface="メイリオ"/>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b="1" dirty="0">
                <a:solidFill>
                  <a:schemeClr val="tx1"/>
                </a:solidFill>
                <a:latin typeface="メイリオ"/>
                <a:ea typeface="メイリオ"/>
                <a:cs typeface="メイリオ"/>
              </a:rPr>
              <a:t>サイト内</a:t>
            </a:r>
            <a:endParaRPr kumimoji="1" lang="en-US" altLang="ja-JP" sz="800" b="1" dirty="0">
              <a:solidFill>
                <a:schemeClr val="tx1"/>
              </a:solidFill>
              <a:latin typeface="メイリオ"/>
              <a:ea typeface="メイリオ"/>
              <a:cs typeface="メイリオ"/>
            </a:endParaRPr>
          </a:p>
          <a:p>
            <a:pPr algn="ctr"/>
            <a:r>
              <a:rPr lang="en-US" altLang="ja-JP" sz="800" b="1" dirty="0">
                <a:solidFill>
                  <a:schemeClr val="tx1"/>
                </a:solidFill>
                <a:latin typeface="メイリオ"/>
                <a:ea typeface="メイリオ"/>
                <a:cs typeface="メイリオ"/>
              </a:rPr>
              <a:t>LINE</a:t>
            </a:r>
            <a:r>
              <a:rPr lang="ja-JP" altLang="en-US" sz="800" b="1" dirty="0">
                <a:solidFill>
                  <a:schemeClr val="tx1"/>
                </a:solidFill>
                <a:latin typeface="メイリオ"/>
                <a:ea typeface="メイリオ"/>
                <a:cs typeface="メイリオ"/>
              </a:rPr>
              <a:t>動線</a:t>
            </a:r>
            <a:endParaRPr lang="en-US" altLang="ja-JP" sz="800" b="1" dirty="0">
              <a:solidFill>
                <a:schemeClr val="tx1"/>
              </a:solidFill>
              <a:latin typeface="メイリオ"/>
              <a:ea typeface="メイリオ"/>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メイリオ"/>
                <a:ea typeface="メイリオ"/>
                <a:cs typeface="メイリオ"/>
              </a:rPr>
              <a:t>情報登録</a:t>
            </a:r>
            <a:endParaRPr lang="en-US" altLang="ja-JP" sz="1000" dirty="0">
              <a:solidFill>
                <a:schemeClr val="tx1"/>
              </a:solidFill>
              <a:latin typeface="メイリオ"/>
              <a:ea typeface="メイリオ"/>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a:ea typeface="メイリオ"/>
                <a:cs typeface="メイリオ"/>
              </a:rPr>
              <a:t>サンクス</a:t>
            </a:r>
            <a:endParaRPr lang="en-US" altLang="ja-JP" sz="1000" b="1" dirty="0">
              <a:solidFill>
                <a:schemeClr val="tx1"/>
              </a:solidFill>
              <a:latin typeface="メイリオ"/>
              <a:ea typeface="メイリオ"/>
              <a:cs typeface="メイリオ"/>
            </a:endParaRPr>
          </a:p>
          <a:p>
            <a:pPr algn="ctr"/>
            <a:r>
              <a:rPr lang="en-US" altLang="ja-JP" sz="1000" b="1" dirty="0">
                <a:solidFill>
                  <a:schemeClr val="tx1"/>
                </a:solidFill>
                <a:latin typeface="メイリオ"/>
                <a:ea typeface="メイリオ"/>
                <a:cs typeface="メイリオ"/>
              </a:rPr>
              <a:t>LINE</a:t>
            </a:r>
            <a:r>
              <a:rPr lang="ja-JP" altLang="en-US" sz="1000" b="1" dirty="0">
                <a:solidFill>
                  <a:schemeClr val="tx1"/>
                </a:solidFill>
                <a:latin typeface="メイリオ"/>
                <a:ea typeface="メイリオ"/>
                <a:cs typeface="メイリオ"/>
              </a:rPr>
              <a:t>誘導</a:t>
            </a:r>
            <a:endParaRPr lang="en-US" altLang="ja-JP" sz="1000" b="1" dirty="0">
              <a:solidFill>
                <a:schemeClr val="tx1"/>
              </a:solidFill>
              <a:latin typeface="メイリオ"/>
              <a:ea typeface="メイリオ"/>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129612"/>
            <a:ext cx="1307291" cy="553998"/>
          </a:xfrm>
          <a:prstGeom prst="rect">
            <a:avLst/>
          </a:prstGeom>
          <a:noFill/>
        </p:spPr>
        <p:txBody>
          <a:bodyPr wrap="square">
            <a:spAutoFit/>
          </a:bodyPr>
          <a:lstStyle/>
          <a:p>
            <a:r>
              <a:rPr lang="ja-JP" altLang="en-US" sz="1000" b="1" dirty="0">
                <a:latin typeface="メイリオ"/>
                <a:ea typeface="メイリオ"/>
                <a:cs typeface="メイリオ"/>
              </a:rPr>
              <a:t>・アンケート</a:t>
            </a:r>
            <a:endParaRPr lang="en-US" altLang="ja-JP" sz="1000" b="1" dirty="0">
              <a:solidFill>
                <a:schemeClr val="tx1"/>
              </a:solidFill>
              <a:latin typeface="メイリオ"/>
              <a:ea typeface="メイリオ"/>
              <a:cs typeface="メイリオ"/>
            </a:endParaRPr>
          </a:p>
          <a:p>
            <a:r>
              <a:rPr lang="ja-JP" altLang="en-US" sz="1000" b="1" dirty="0">
                <a:solidFill>
                  <a:schemeClr val="tx1"/>
                </a:solidFill>
                <a:latin typeface="メイリオ"/>
                <a:ea typeface="メイリオ"/>
                <a:cs typeface="メイリオ"/>
              </a:rPr>
              <a:t>・ステップ配信</a:t>
            </a:r>
            <a:endParaRPr lang="en-US" altLang="ja-JP" sz="1000" b="1" dirty="0">
              <a:solidFill>
                <a:schemeClr val="tx1"/>
              </a:solidFill>
              <a:latin typeface="メイリオ"/>
              <a:ea typeface="メイリオ"/>
              <a:cs typeface="メイリオ"/>
            </a:endParaRPr>
          </a:p>
          <a:p>
            <a:r>
              <a:rPr lang="ja-JP" altLang="en-US" sz="1000" b="1" dirty="0">
                <a:latin typeface="メイリオ"/>
                <a:ea typeface="メイリオ"/>
                <a:cs typeface="メイリオ"/>
              </a:rPr>
              <a:t>・企画配信</a:t>
            </a:r>
            <a:endParaRPr lang="en-US" altLang="ja-JP" sz="1000" b="1" dirty="0">
              <a:latin typeface="メイリオ"/>
              <a:ea typeface="メイリオ"/>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FF0000"/>
                </a:solidFill>
                <a:latin typeface="メイリオ"/>
                <a:ea typeface="メイリオ"/>
                <a:cs typeface="メイリオ"/>
              </a:rPr>
              <a:t>離脱</a:t>
            </a:r>
            <a:endParaRPr kumimoji="1" lang="en-US" altLang="ja-JP" sz="900" dirty="0">
              <a:solidFill>
                <a:srgbClr val="FF0000"/>
              </a:solidFill>
              <a:latin typeface="メイリオ"/>
              <a:ea typeface="メイリオ"/>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FF0000"/>
                </a:solidFill>
                <a:latin typeface="メイリオ"/>
                <a:ea typeface="メイリオ"/>
                <a:cs typeface="メイリオ"/>
              </a:rPr>
              <a:t>離脱</a:t>
            </a:r>
            <a:endParaRPr kumimoji="1" lang="en-US" altLang="ja-JP" sz="900" dirty="0">
              <a:solidFill>
                <a:srgbClr val="FF0000"/>
              </a:solidFill>
              <a:latin typeface="メイリオ"/>
              <a:ea typeface="メイリオ"/>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a:ea typeface="メイリオ"/>
                <a:cs typeface="メイリオ"/>
              </a:rPr>
              <a:t>情報登録</a:t>
            </a:r>
            <a:endParaRPr lang="en-US" altLang="ja-JP" sz="1000" dirty="0">
              <a:solidFill>
                <a:schemeClr val="tx1"/>
              </a:solidFill>
              <a:latin typeface="メイリオ"/>
              <a:ea typeface="メイリオ"/>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1991870"/>
            <a:ext cx="843512" cy="539969"/>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a:ea typeface="メイリオ"/>
                <a:cs typeface="メイリオ"/>
              </a:rPr>
              <a:t>商品購入</a:t>
            </a:r>
            <a:endParaRPr lang="en-US" altLang="ja-JP" sz="1000" b="1" dirty="0">
              <a:solidFill>
                <a:schemeClr val="bg1"/>
              </a:solidFill>
              <a:latin typeface="メイリオ"/>
              <a:ea typeface="メイリオ"/>
              <a:cs typeface="メイリオ"/>
            </a:endParaRPr>
          </a:p>
          <a:p>
            <a:pPr algn="ctr"/>
            <a:r>
              <a:rPr lang="ja-JP" altLang="en-US" sz="1000" dirty="0">
                <a:solidFill>
                  <a:schemeClr val="bg1"/>
                </a:solidFill>
                <a:latin typeface="メイリオ"/>
                <a:ea typeface="メイリオ"/>
                <a:cs typeface="メイリオ"/>
              </a:rPr>
              <a:t>等</a:t>
            </a:r>
            <a:endParaRPr lang="en-US" altLang="ja-JP" sz="1000" dirty="0">
              <a:solidFill>
                <a:schemeClr val="bg1"/>
              </a:solidFill>
              <a:latin typeface="メイリオ"/>
              <a:ea typeface="メイリオ"/>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a:ea typeface="メイリオ"/>
                <a:cs typeface="メイリオ"/>
              </a:rPr>
              <a:t>WEB_PV</a:t>
            </a:r>
          </a:p>
        </p:txBody>
      </p: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a:ea typeface="メイリオ"/>
                <a:cs typeface="メイリオ"/>
              </a:rPr>
              <a:t>AD</a:t>
            </a:r>
          </a:p>
          <a:p>
            <a:pPr algn="ctr"/>
            <a:endParaRPr kumimoji="1" lang="en-US" altLang="ja-JP" sz="1000" dirty="0">
              <a:solidFill>
                <a:schemeClr val="tx1"/>
              </a:solidFill>
              <a:latin typeface="メイリオ"/>
              <a:ea typeface="メイリオ"/>
              <a:cs typeface="メイリオ"/>
            </a:endParaRPr>
          </a:p>
          <a:p>
            <a:pPr algn="ctr"/>
            <a:r>
              <a:rPr lang="en-US" altLang="ja-JP" sz="1000" dirty="0">
                <a:solidFill>
                  <a:schemeClr val="tx1"/>
                </a:solidFill>
                <a:latin typeface="メイリオ"/>
                <a:ea typeface="メイリオ"/>
                <a:cs typeface="メイリオ"/>
              </a:rPr>
              <a:t>SEO</a:t>
            </a:r>
          </a:p>
          <a:p>
            <a:pPr algn="ctr"/>
            <a:endParaRPr lang="en-US" altLang="ja-JP" sz="1000" dirty="0">
              <a:solidFill>
                <a:schemeClr val="tx1"/>
              </a:solidFill>
              <a:latin typeface="メイリオ"/>
              <a:ea typeface="メイリオ"/>
              <a:cs typeface="メイリオ"/>
            </a:endParaRPr>
          </a:p>
          <a:p>
            <a:pPr algn="ctr"/>
            <a:r>
              <a:rPr lang="en-US" altLang="ja-JP" sz="1000" dirty="0">
                <a:solidFill>
                  <a:schemeClr val="tx1"/>
                </a:solidFill>
                <a:latin typeface="メイリオ"/>
                <a:ea typeface="メイリオ"/>
                <a:cs typeface="メイリオ"/>
              </a:rPr>
              <a:t>SNS</a:t>
            </a:r>
          </a:p>
          <a:p>
            <a:pPr algn="ctr"/>
            <a:endParaRPr lang="en-US" altLang="ja-JP" sz="1000" dirty="0">
              <a:solidFill>
                <a:schemeClr val="tx1"/>
              </a:solidFill>
              <a:latin typeface="メイリオ"/>
              <a:ea typeface="メイリオ"/>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97114"/>
            <a:ext cx="3273814" cy="12749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a:ea typeface="メイリオ"/>
                <a:cs typeface="メイリオ"/>
              </a:rPr>
              <a:t>●希望する企画のアンケート</a:t>
            </a:r>
            <a:endParaRPr kumimoji="1" lang="en-US" altLang="ja-JP" sz="1000" b="1" dirty="0">
              <a:solidFill>
                <a:schemeClr val="tx1"/>
              </a:solidFill>
              <a:latin typeface="メイリオ"/>
              <a:ea typeface="メイリオ"/>
              <a:cs typeface="メイリオ"/>
            </a:endParaRPr>
          </a:p>
          <a:p>
            <a:pPr algn="ctr"/>
            <a:r>
              <a:rPr lang="ja-JP" altLang="en-US" sz="1000" b="1" dirty="0">
                <a:solidFill>
                  <a:schemeClr val="tx1"/>
                </a:solidFill>
                <a:latin typeface="メイリオ"/>
                <a:ea typeface="メイリオ"/>
                <a:cs typeface="メイリオ"/>
              </a:rPr>
              <a:t>●イベント告知</a:t>
            </a:r>
            <a:endParaRPr lang="en-US" altLang="ja-JP" sz="1000" b="1" dirty="0">
              <a:solidFill>
                <a:schemeClr val="tx1"/>
              </a:solidFill>
              <a:latin typeface="メイリオ"/>
              <a:ea typeface="メイリオ"/>
              <a:cs typeface="メイリオ"/>
            </a:endParaRPr>
          </a:p>
          <a:p>
            <a:pPr algn="ctr"/>
            <a:endParaRPr lang="en-US" altLang="ja-JP" sz="300" dirty="0">
              <a:solidFill>
                <a:schemeClr val="tx1"/>
              </a:solidFill>
              <a:latin typeface="メイリオ"/>
              <a:ea typeface="メイリオ"/>
              <a:cs typeface="メイリオ"/>
            </a:endParaRPr>
          </a:p>
          <a:p>
            <a:pPr algn="ctr"/>
            <a:r>
              <a:rPr lang="ja-JP" altLang="en-US" sz="1000" dirty="0">
                <a:solidFill>
                  <a:schemeClr val="tx1"/>
                </a:solidFill>
                <a:latin typeface="メイリオ"/>
                <a:ea typeface="メイリオ"/>
                <a:cs typeface="メイリオ"/>
              </a:rPr>
              <a:t>としての活用等も可能</a:t>
            </a:r>
            <a:endParaRPr lang="en-US" altLang="ja-JP" sz="1000" dirty="0">
              <a:solidFill>
                <a:schemeClr val="tx1"/>
              </a:solidFill>
              <a:latin typeface="メイリオ"/>
              <a:ea typeface="メイリオ"/>
              <a:cs typeface="メイリオ"/>
            </a:endParaRPr>
          </a:p>
          <a:p>
            <a:pPr algn="ctr"/>
            <a:endParaRPr lang="en-US" altLang="ja-JP" sz="1000" dirty="0">
              <a:solidFill>
                <a:schemeClr val="tx1"/>
              </a:solidFill>
              <a:latin typeface="メイリオ"/>
              <a:ea typeface="メイリオ"/>
              <a:cs typeface="メイリオ"/>
            </a:endParaRPr>
          </a:p>
          <a:p>
            <a:pPr algn="ctr"/>
            <a:r>
              <a:rPr lang="en-US" altLang="ja-JP" sz="1000" dirty="0">
                <a:solidFill>
                  <a:srgbClr val="FF0000"/>
                </a:solidFill>
                <a:latin typeface="メイリオ"/>
                <a:ea typeface="メイリオ"/>
                <a:cs typeface="メイリオ"/>
              </a:rPr>
              <a:t>※</a:t>
            </a:r>
            <a:r>
              <a:rPr lang="ja-JP" altLang="en-US" sz="1000" dirty="0">
                <a:solidFill>
                  <a:srgbClr val="FF0000"/>
                </a:solidFill>
                <a:latin typeface="メイリオ"/>
                <a:ea typeface="メイリオ"/>
                <a:cs typeface="メイリオ"/>
              </a:rPr>
              <a:t>個別チャット対応はしない方針</a:t>
            </a:r>
            <a:endParaRPr lang="en-US" altLang="ja-JP" sz="1000" dirty="0">
              <a:solidFill>
                <a:srgbClr val="FF0000"/>
              </a:solidFill>
              <a:latin typeface="メイリオ"/>
              <a:ea typeface="メイリオ"/>
              <a:cs typeface="メイリオ"/>
            </a:endParaRPr>
          </a:p>
        </p:txBody>
      </p:sp>
      <p:cxnSp>
        <p:nvCxnSpPr>
          <p:cNvPr id="9" name="コネクタ: カギ線 8">
            <a:extLst>
              <a:ext uri="{FF2B5EF4-FFF2-40B4-BE49-F238E27FC236}">
                <a16:creationId xmlns:a16="http://schemas.microsoft.com/office/drawing/2014/main" id="{DBE113A0-4CAF-1547-032B-73C6F313592B}"/>
              </a:ext>
            </a:extLst>
          </p:cNvPr>
          <p:cNvCxnSpPr>
            <a:cxnSpLocks/>
          </p:cNvCxnSpPr>
          <p:nvPr/>
        </p:nvCxnSpPr>
        <p:spPr>
          <a:xfrm>
            <a:off x="3315796" y="2326817"/>
            <a:ext cx="238806" cy="1402161"/>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0F46C450-63A3-2BC2-4AB2-2A680EA3C6EF}"/>
              </a:ext>
            </a:extLst>
          </p:cNvPr>
          <p:cNvSpPr/>
          <p:nvPr/>
        </p:nvSpPr>
        <p:spPr>
          <a:xfrm>
            <a:off x="1265700" y="4786564"/>
            <a:ext cx="7529957" cy="1668546"/>
          </a:xfrm>
          <a:prstGeom prst="rect">
            <a:avLst/>
          </a:prstGeom>
          <a:solidFill>
            <a:srgbClr val="04FA0A">
              <a:alpha val="18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endParaRPr lang="en-US" altLang="ja-JP" sz="1000" b="1" dirty="0">
              <a:solidFill>
                <a:schemeClr val="tx1"/>
              </a:solidFill>
              <a:latin typeface="メイリオ"/>
              <a:ea typeface="メイリオ"/>
              <a:cs typeface="メイリオ"/>
            </a:endParaRPr>
          </a:p>
        </p:txBody>
      </p:sp>
      <p:sp>
        <p:nvSpPr>
          <p:cNvPr id="23" name="左中かっこ 22">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24" name="テキスト ボックス 23">
            <a:extLst>
              <a:ext uri="{FF2B5EF4-FFF2-40B4-BE49-F238E27FC236}">
                <a16:creationId xmlns:a16="http://schemas.microsoft.com/office/drawing/2014/main" id="{524DFC21-9336-5CCC-A46E-6B03A60F8CD8}"/>
              </a:ext>
            </a:extLst>
          </p:cNvPr>
          <p:cNvSpPr txBox="1"/>
          <p:nvPr/>
        </p:nvSpPr>
        <p:spPr>
          <a:xfrm>
            <a:off x="3454180" y="5527519"/>
            <a:ext cx="1307291" cy="553998"/>
          </a:xfrm>
          <a:prstGeom prst="rect">
            <a:avLst/>
          </a:prstGeom>
          <a:noFill/>
        </p:spPr>
        <p:txBody>
          <a:bodyPr wrap="square">
            <a:spAutoFit/>
          </a:bodyPr>
          <a:lstStyle/>
          <a:p>
            <a:r>
              <a:rPr lang="ja-JP" altLang="en-US" sz="1000" b="1" dirty="0">
                <a:solidFill>
                  <a:schemeClr val="tx1"/>
                </a:solidFill>
                <a:latin typeface="メイリオ"/>
                <a:ea typeface="メイリオ"/>
                <a:cs typeface="メイリオ"/>
              </a:rPr>
              <a:t>・アンケート</a:t>
            </a:r>
            <a:endParaRPr lang="en-US" altLang="ja-JP" sz="1000" b="1" dirty="0">
              <a:solidFill>
                <a:schemeClr val="tx1"/>
              </a:solidFill>
              <a:latin typeface="メイリオ"/>
              <a:ea typeface="メイリオ"/>
              <a:cs typeface="メイリオ"/>
            </a:endParaRPr>
          </a:p>
          <a:p>
            <a:r>
              <a:rPr lang="ja-JP" altLang="en-US" sz="1000" b="1" dirty="0">
                <a:latin typeface="メイリオ"/>
                <a:ea typeface="メイリオ"/>
                <a:cs typeface="メイリオ"/>
              </a:rPr>
              <a:t>・診断</a:t>
            </a:r>
            <a:endParaRPr lang="en-US" altLang="ja-JP" sz="1000" b="1" dirty="0">
              <a:solidFill>
                <a:schemeClr val="tx1"/>
              </a:solidFill>
              <a:latin typeface="メイリオ"/>
              <a:ea typeface="メイリオ"/>
              <a:cs typeface="メイリオ"/>
            </a:endParaRPr>
          </a:p>
          <a:p>
            <a:r>
              <a:rPr lang="ja-JP" altLang="en-US" sz="1000" b="1" dirty="0">
                <a:solidFill>
                  <a:schemeClr val="tx1"/>
                </a:solidFill>
                <a:latin typeface="メイリオ"/>
                <a:ea typeface="メイリオ"/>
                <a:cs typeface="メイリオ"/>
              </a:rPr>
              <a:t>・ステップ配信</a:t>
            </a:r>
            <a:endParaRPr lang="en-US" altLang="ja-JP" sz="1000" b="1" dirty="0">
              <a:solidFill>
                <a:schemeClr val="tx1"/>
              </a:solidFill>
              <a:latin typeface="メイリオ"/>
              <a:ea typeface="メイリオ"/>
              <a:cs typeface="メイリオ"/>
            </a:endParaRPr>
          </a:p>
        </p:txBody>
      </p:sp>
      <p:sp>
        <p:nvSpPr>
          <p:cNvPr id="25" name="正方形/長方形 24">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a:ea typeface="メイリオ"/>
                <a:cs typeface="メイリオ"/>
              </a:rPr>
              <a:t>長期施策の</a:t>
            </a:r>
            <a:endParaRPr lang="en-US" altLang="ja-JP" sz="1000" b="1" dirty="0">
              <a:solidFill>
                <a:schemeClr val="tx1"/>
              </a:solidFill>
              <a:latin typeface="メイリオ"/>
              <a:ea typeface="メイリオ"/>
              <a:cs typeface="メイリオ"/>
            </a:endParaRPr>
          </a:p>
          <a:p>
            <a:pPr marL="171450" indent="-171450" algn="ctr">
              <a:buFontTx/>
              <a:buChar char="-"/>
            </a:pPr>
            <a:r>
              <a:rPr lang="ja-JP" altLang="en-US" sz="1000" b="1" dirty="0">
                <a:solidFill>
                  <a:schemeClr val="tx1"/>
                </a:solidFill>
                <a:latin typeface="メイリオ"/>
                <a:ea typeface="メイリオ"/>
                <a:cs typeface="メイリオ"/>
              </a:rPr>
              <a:t>期間展開 </a:t>
            </a:r>
            <a:endParaRPr lang="en-US" altLang="ja-JP" sz="1000" b="1" dirty="0">
              <a:solidFill>
                <a:schemeClr val="tx1"/>
              </a:solidFill>
              <a:latin typeface="メイリオ"/>
              <a:ea typeface="メイリオ"/>
              <a:cs typeface="メイリオ"/>
            </a:endParaRPr>
          </a:p>
        </p:txBody>
      </p:sp>
      <p:cxnSp>
        <p:nvCxnSpPr>
          <p:cNvPr id="26" name="直線矢印コネクタ 25">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FF0000"/>
                </a:solidFill>
                <a:latin typeface="メイリオ"/>
                <a:ea typeface="メイリオ"/>
                <a:cs typeface="メイリオ"/>
              </a:rPr>
              <a:t>離脱</a:t>
            </a:r>
            <a:endParaRPr kumimoji="1" lang="en-US" altLang="ja-JP" sz="900" dirty="0">
              <a:solidFill>
                <a:srgbClr val="FF0000"/>
              </a:solidFill>
              <a:latin typeface="メイリオ"/>
              <a:ea typeface="メイリオ"/>
              <a:cs typeface="メイリオ"/>
            </a:endParaRPr>
          </a:p>
        </p:txBody>
      </p:sp>
      <p:pic>
        <p:nvPicPr>
          <p:cNvPr id="29" name="図 28">
            <a:extLst>
              <a:ext uri="{FF2B5EF4-FFF2-40B4-BE49-F238E27FC236}">
                <a16:creationId xmlns:a16="http://schemas.microsoft.com/office/drawing/2014/main" id="{E2FCFC59-ACFC-C861-0035-F4F95AB98F68}"/>
              </a:ext>
            </a:extLst>
          </p:cNvPr>
          <p:cNvPicPr>
            <a:picLocks noChangeAspect="1"/>
          </p:cNvPicPr>
          <p:nvPr/>
        </p:nvPicPr>
        <p:blipFill>
          <a:blip r:embed="rId2"/>
          <a:stretch>
            <a:fillRect/>
          </a:stretch>
        </p:blipFill>
        <p:spPr>
          <a:xfrm>
            <a:off x="8909914" y="5349218"/>
            <a:ext cx="582602" cy="543237"/>
          </a:xfrm>
          <a:prstGeom prst="rect">
            <a:avLst/>
          </a:prstGeom>
        </p:spPr>
      </p:pic>
    </p:spTree>
    <p:extLst>
      <p:ext uri="{BB962C8B-B14F-4D97-AF65-F5344CB8AC3E}">
        <p14:creationId xmlns:p14="http://schemas.microsoft.com/office/powerpoint/2010/main" val="3947487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1988098" y="3038203"/>
            <a:ext cx="5929829"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施策の詳細（新規友だち獲得）</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206017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bg1">
              <a:lumMod val="95000"/>
            </a:schemeClr>
          </a:solidFill>
          <a:ln w="25400"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bg1">
              <a:lumMod val="95000"/>
            </a:schemeClr>
          </a:solidFill>
          <a:ln w="25400" cap="flat" cmpd="sng" algn="ctr">
            <a:solidFill>
              <a:schemeClr val="bg1">
                <a:lumMod val="75000"/>
              </a:scheme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FF0000"/>
                </a:solidFill>
                <a:latin typeface="メイリオ"/>
                <a:ea typeface="メイリオ"/>
                <a:cs typeface="メイリオ"/>
                <a:sym typeface="Meiryo"/>
              </a:rPr>
              <a:t>※</a:t>
            </a:r>
            <a:r>
              <a:rPr lang="ja-JP" altLang="en-US" sz="1100" dirty="0">
                <a:solidFill>
                  <a:srgbClr val="FF0000"/>
                </a:solidFill>
                <a:latin typeface="メイリオ"/>
                <a:ea typeface="メイリオ"/>
                <a:cs typeface="メイリオ"/>
                <a:sym typeface="Meiryo"/>
              </a:rPr>
              <a:t>実施想定の友だち追加動線について、★を記載</a:t>
            </a:r>
            <a:endParaRPr lang="en-US" altLang="ja-JP" sz="1600" dirty="0">
              <a:solidFill>
                <a:srgbClr val="FF0000"/>
              </a:solidFill>
              <a:latin typeface="メイリオ"/>
              <a:ea typeface="メイリオ"/>
              <a:cs typeface="メイリオ"/>
              <a:sym typeface="Meiryo"/>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（ポップアップ </a:t>
            </a:r>
            <a:r>
              <a:rPr lang="en-US" altLang="ja-JP" sz="1600" b="1" dirty="0">
                <a:solidFill>
                  <a:srgbClr val="323366"/>
                </a:solidFill>
                <a:latin typeface="メイリオ"/>
                <a:ea typeface="メイリオ"/>
                <a:cs typeface="メイリオ"/>
                <a:sym typeface="Meiryo"/>
              </a:rPr>
              <a:t>/ </a:t>
            </a:r>
            <a:r>
              <a:rPr lang="ja-JP" altLang="en-US" sz="1600" b="1" dirty="0">
                <a:solidFill>
                  <a:srgbClr val="323366"/>
                </a:solidFill>
                <a:latin typeface="メイリオ"/>
                <a:ea typeface="メイリオ"/>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ポップアップ</a:t>
              </a:r>
              <a:r>
                <a:rPr kumimoji="1" lang="en-US" altLang="ja-JP" sz="1500" b="1" dirty="0">
                  <a:solidFill>
                    <a:schemeClr val="bg1"/>
                  </a:solidFill>
                  <a:latin typeface="メイリオ"/>
                  <a:ea typeface="メイリオ"/>
                  <a:cs typeface="メイリオ"/>
                </a:rPr>
                <a:t>(</a:t>
              </a:r>
              <a:r>
                <a:rPr kumimoji="1" lang="ja-JP" altLang="en-US" sz="1500" b="1" dirty="0">
                  <a:solidFill>
                    <a:schemeClr val="bg1"/>
                  </a:solidFill>
                  <a:latin typeface="メイリオ"/>
                  <a:ea typeface="メイリオ"/>
                  <a:cs typeface="メイリオ"/>
                </a:rPr>
                <a:t>離脱防止 など</a:t>
              </a:r>
              <a:r>
                <a:rPr kumimoji="1" lang="en-US" altLang="ja-JP" sz="1500" b="1" dirty="0">
                  <a:solidFill>
                    <a:schemeClr val="bg1"/>
                  </a:solidFill>
                  <a:latin typeface="メイリオ"/>
                  <a:ea typeface="メイリオ"/>
                  <a:cs typeface="メイリオ"/>
                </a:rPr>
                <a:t>)</a:t>
              </a:r>
              <a:endParaRPr kumimoji="1" lang="ja-JP" altLang="en-US" sz="1500" b="1" dirty="0">
                <a:solidFill>
                  <a:schemeClr val="bg1"/>
                </a:solidFill>
                <a:latin typeface="メイリオ"/>
                <a:ea typeface="メイリオ"/>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メイリオ"/>
                <a:ea typeface="メイリオ"/>
                <a:cs typeface="メイリオ"/>
                <a:sym typeface="Meiryo"/>
              </a:rPr>
              <a:t>LINE</a:t>
            </a:r>
            <a:r>
              <a:rPr lang="ja-JP" altLang="en-US" sz="1050" dirty="0">
                <a:solidFill>
                  <a:srgbClr val="FF0000"/>
                </a:solidFill>
                <a:latin typeface="メイリオ"/>
                <a:ea typeface="メイリオ"/>
                <a:cs typeface="メイリオ"/>
                <a:sym typeface="Meiryo"/>
              </a:rPr>
              <a:t>以外の注力動線への誘導も同バナーから実施可能</a:t>
            </a:r>
            <a:endParaRPr lang="ja-JP" altLang="en-US" sz="1050" dirty="0">
              <a:solidFill>
                <a:srgbClr val="FF0000"/>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506C2-B2E5-BEA0-384E-7336F080BD96}"/>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（サンクス</a:t>
            </a:r>
            <a:r>
              <a:rPr lang="en-US" altLang="ja-JP" sz="1600" b="1" dirty="0">
                <a:solidFill>
                  <a:srgbClr val="323366"/>
                </a:solidFill>
                <a:latin typeface="メイリオ"/>
                <a:ea typeface="メイリオ"/>
                <a:cs typeface="メイリオ"/>
                <a:sym typeface="Meiryo"/>
              </a:rPr>
              <a:t>LINE</a:t>
            </a:r>
            <a:r>
              <a:rPr lang="ja-JP" altLang="en-US" sz="1600" b="1" dirty="0">
                <a:solidFill>
                  <a:srgbClr val="323366"/>
                </a:solidFill>
                <a:latin typeface="メイリオ"/>
                <a:ea typeface="メイリオ"/>
                <a:cs typeface="メイリオ"/>
                <a:sym typeface="Meiryo"/>
              </a:rPr>
              <a:t>誘導）</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404798" y="1938056"/>
            <a:ext cx="1859036"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solidFill>
                  <a:schemeClr val="tx1">
                    <a:lumMod val="50000"/>
                    <a:lumOff val="50000"/>
                  </a:schemeClr>
                </a:solidFill>
                <a:latin typeface="メイリオ"/>
                <a:ea typeface="メイリオ"/>
                <a:cs typeface="メイリオ"/>
              </a:rPr>
              <a:t>WEB</a:t>
            </a:r>
            <a:r>
              <a:rPr kumimoji="1" lang="ja-JP" altLang="en-US" sz="1100" b="1" dirty="0">
                <a:solidFill>
                  <a:schemeClr val="tx1">
                    <a:lumMod val="50000"/>
                    <a:lumOff val="50000"/>
                  </a:schemeClr>
                </a:solidFill>
                <a:latin typeface="メイリオ"/>
                <a:ea typeface="メイリオ"/>
                <a:cs typeface="メイリオ"/>
              </a:rPr>
              <a:t>サイト</a:t>
            </a:r>
          </a:p>
        </p:txBody>
      </p:sp>
      <p:sp>
        <p:nvSpPr>
          <p:cNvPr id="16" name="正方形/長方形 15">
            <a:extLst>
              <a:ext uri="{FF2B5EF4-FFF2-40B4-BE49-F238E27FC236}">
                <a16:creationId xmlns:a16="http://schemas.microsoft.com/office/drawing/2014/main" id="{32BBF438-B1EF-A61A-EE3D-69CD39766C7E}"/>
              </a:ext>
            </a:extLst>
          </p:cNvPr>
          <p:cNvSpPr/>
          <p:nvPr/>
        </p:nvSpPr>
        <p:spPr>
          <a:xfrm>
            <a:off x="5808682" y="241574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5808681" y="4588963"/>
            <a:ext cx="3748873"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5974632" y="23047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a:ea typeface="メイリオ"/>
                <a:cs typeface="メイリオ"/>
              </a:rPr>
              <a:t>非</a:t>
            </a:r>
            <a:r>
              <a:rPr lang="en-US" altLang="ja-JP" sz="1100" b="1" dirty="0">
                <a:solidFill>
                  <a:schemeClr val="tx1"/>
                </a:solidFill>
                <a:latin typeface="メイリオ"/>
                <a:ea typeface="メイリオ"/>
                <a:cs typeface="メイリオ"/>
              </a:rPr>
              <a:t>LINE</a:t>
            </a:r>
            <a:r>
              <a:rPr lang="ja-JP" altLang="en-US" sz="1100" b="1" dirty="0">
                <a:solidFill>
                  <a:schemeClr val="tx1"/>
                </a:solidFill>
                <a:latin typeface="メイリオ"/>
                <a:ea typeface="メイリオ"/>
                <a:cs typeface="メイリオ"/>
              </a:rPr>
              <a:t>友だちの場合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5974632" y="4466888"/>
            <a:ext cx="1859036"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a:ea typeface="メイリオ"/>
                <a:cs typeface="メイリオ"/>
              </a:rPr>
              <a:t>既存の</a:t>
            </a:r>
            <a:r>
              <a:rPr lang="en-US" altLang="ja-JP" sz="1100" b="1" dirty="0">
                <a:solidFill>
                  <a:schemeClr val="tx1"/>
                </a:solidFill>
                <a:latin typeface="メイリオ"/>
                <a:ea typeface="メイリオ"/>
                <a:cs typeface="メイリオ"/>
              </a:rPr>
              <a:t>LINE</a:t>
            </a:r>
            <a:r>
              <a:rPr lang="ja-JP" altLang="en-US" sz="1100" b="1" dirty="0">
                <a:solidFill>
                  <a:schemeClr val="tx1"/>
                </a:solidFill>
                <a:latin typeface="メイリオ"/>
                <a:ea typeface="メイリオ"/>
                <a:cs typeface="メイリオ"/>
              </a:rPr>
              <a:t>友だちの場合</a:t>
            </a:r>
          </a:p>
        </p:txBody>
      </p:sp>
      <p:cxnSp>
        <p:nvCxnSpPr>
          <p:cNvPr id="23" name="直線矢印コネクタ 22">
            <a:extLst>
              <a:ext uri="{FF2B5EF4-FFF2-40B4-BE49-F238E27FC236}">
                <a16:creationId xmlns:a16="http://schemas.microsoft.com/office/drawing/2014/main" id="{8F202453-7FF9-8AE7-D10D-66F74A74A2F4}"/>
              </a:ext>
            </a:extLst>
          </p:cNvPr>
          <p:cNvCxnSpPr/>
          <p:nvPr/>
        </p:nvCxnSpPr>
        <p:spPr>
          <a:xfrm>
            <a:off x="4361857" y="3239708"/>
            <a:ext cx="1407469" cy="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4361857" y="3392108"/>
            <a:ext cx="1407469" cy="135838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4867227" y="2304788"/>
            <a:ext cx="374449" cy="3205847"/>
          </a:xfrm>
          <a:prstGeom prst="rect">
            <a:avLst/>
          </a:prstGeom>
          <a:solidFill>
            <a:srgbClr val="00FF00">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メイリオ"/>
                <a:ea typeface="メイリオ"/>
                <a:cs typeface="メイリオ"/>
              </a:rPr>
              <a:t>｜</a:t>
            </a:r>
            <a:r>
              <a:rPr lang="en-US" altLang="ja-JP" sz="1100" b="1" dirty="0">
                <a:solidFill>
                  <a:schemeClr val="tx1"/>
                </a:solidFill>
                <a:latin typeface="メイリオ"/>
                <a:ea typeface="メイリオ"/>
                <a:cs typeface="メイリオ"/>
              </a:rPr>
              <a:t>D</a:t>
            </a:r>
          </a:p>
          <a:p>
            <a:pPr algn="ctr"/>
            <a:r>
              <a:rPr kumimoji="1" lang="en-US" altLang="ja-JP" sz="1100" b="1" dirty="0">
                <a:solidFill>
                  <a:schemeClr val="tx1"/>
                </a:solidFill>
                <a:latin typeface="メイリオ"/>
                <a:ea typeface="メイリオ"/>
                <a:cs typeface="メイリオ"/>
              </a:rPr>
              <a:t>Y</a:t>
            </a:r>
          </a:p>
          <a:p>
            <a:pPr algn="ctr"/>
            <a:r>
              <a:rPr lang="en-US" altLang="ja-JP" sz="1100" b="1" dirty="0">
                <a:solidFill>
                  <a:schemeClr val="tx1"/>
                </a:solidFill>
                <a:latin typeface="メイリオ"/>
                <a:ea typeface="メイリオ"/>
                <a:cs typeface="メイリオ"/>
              </a:rPr>
              <a:t>M</a:t>
            </a:r>
            <a:r>
              <a:rPr lang="ja-JP" altLang="en-US" sz="1100" b="1" dirty="0">
                <a:solidFill>
                  <a:schemeClr val="tx1"/>
                </a:solidFill>
                <a:latin typeface="メイリオ"/>
                <a:ea typeface="メイリオ"/>
                <a:cs typeface="メイリオ"/>
              </a:rPr>
              <a:t>ツ</a:t>
            </a:r>
            <a:endParaRPr lang="en-US" altLang="ja-JP" sz="1100" b="1" dirty="0">
              <a:solidFill>
                <a:schemeClr val="tx1"/>
              </a:solidFill>
              <a:latin typeface="メイリオ"/>
              <a:ea typeface="メイリオ"/>
              <a:cs typeface="メイリオ"/>
            </a:endParaRPr>
          </a:p>
          <a:p>
            <a:pPr algn="ctr"/>
            <a:r>
              <a:rPr kumimoji="1" lang="ja-JP" altLang="en-US" sz="1100" b="1" dirty="0">
                <a:solidFill>
                  <a:schemeClr val="tx1"/>
                </a:solidFill>
                <a:latin typeface="メイリオ"/>
                <a:ea typeface="メイリオ"/>
                <a:cs typeface="メイリオ"/>
              </a:rPr>
              <a:t>｜ルで</a:t>
            </a:r>
            <a:endParaRPr kumimoji="1" lang="en-US" altLang="ja-JP" sz="1100" b="1" dirty="0">
              <a:solidFill>
                <a:schemeClr val="tx1"/>
              </a:solidFill>
              <a:latin typeface="メイリオ"/>
              <a:ea typeface="メイリオ"/>
              <a:cs typeface="メイリオ"/>
            </a:endParaRPr>
          </a:p>
          <a:p>
            <a:pPr algn="ctr"/>
            <a:r>
              <a:rPr kumimoji="1" lang="en-US" altLang="ja-JP" sz="1100" b="1" dirty="0">
                <a:solidFill>
                  <a:schemeClr val="tx1"/>
                </a:solidFill>
                <a:latin typeface="メイリオ"/>
                <a:ea typeface="メイリオ"/>
                <a:cs typeface="メイリオ"/>
              </a:rPr>
              <a:t>L</a:t>
            </a:r>
            <a:br>
              <a:rPr kumimoji="1" lang="en-US" altLang="ja-JP" sz="1100" b="1" dirty="0">
                <a:solidFill>
                  <a:schemeClr val="tx1"/>
                </a:solidFill>
                <a:latin typeface="メイリオ"/>
                <a:ea typeface="メイリオ"/>
                <a:cs typeface="メイリオ"/>
              </a:rPr>
            </a:br>
            <a:r>
              <a:rPr kumimoji="1" lang="en-US" altLang="ja-JP" sz="1100" b="1" dirty="0">
                <a:solidFill>
                  <a:schemeClr val="tx1"/>
                </a:solidFill>
                <a:latin typeface="メイリオ"/>
                <a:ea typeface="メイリオ"/>
                <a:cs typeface="メイリオ"/>
              </a:rPr>
              <a:t>I</a:t>
            </a:r>
          </a:p>
          <a:p>
            <a:pPr algn="ctr"/>
            <a:r>
              <a:rPr lang="en-US" altLang="ja-JP" sz="1100" b="1" dirty="0">
                <a:solidFill>
                  <a:schemeClr val="tx1"/>
                </a:solidFill>
                <a:latin typeface="メイリオ"/>
                <a:ea typeface="メイリオ"/>
                <a:cs typeface="メイリオ"/>
              </a:rPr>
              <a:t>N</a:t>
            </a:r>
            <a:br>
              <a:rPr lang="en-US" altLang="ja-JP" sz="1100" b="1" dirty="0">
                <a:solidFill>
                  <a:schemeClr val="tx1"/>
                </a:solidFill>
                <a:latin typeface="メイリオ"/>
                <a:ea typeface="メイリオ"/>
                <a:cs typeface="メイリオ"/>
              </a:rPr>
            </a:br>
            <a:r>
              <a:rPr lang="en-US" altLang="ja-JP" sz="1100" b="1" dirty="0">
                <a:solidFill>
                  <a:schemeClr val="tx1"/>
                </a:solidFill>
                <a:latin typeface="メイリオ"/>
                <a:ea typeface="メイリオ"/>
                <a:cs typeface="メイリオ"/>
              </a:rPr>
              <a:t>E</a:t>
            </a:r>
          </a:p>
          <a:p>
            <a:pPr algn="ctr"/>
            <a:r>
              <a:rPr kumimoji="1" lang="ja-JP" altLang="en-US" sz="1100" b="1" dirty="0">
                <a:solidFill>
                  <a:schemeClr val="tx1"/>
                </a:solidFill>
                <a:latin typeface="メイリオ"/>
                <a:ea typeface="メイリオ"/>
                <a:cs typeface="メイリオ"/>
              </a:rPr>
              <a:t>動線</a:t>
            </a:r>
            <a:endParaRPr kumimoji="1" lang="en-US" altLang="ja-JP" sz="1100" b="1" dirty="0">
              <a:solidFill>
                <a:schemeClr val="tx1"/>
              </a:solidFill>
              <a:latin typeface="メイリオ"/>
              <a:ea typeface="メイリオ"/>
              <a:cs typeface="メイリオ"/>
            </a:endParaRPr>
          </a:p>
          <a:p>
            <a:pPr algn="ctr"/>
            <a:r>
              <a:rPr lang="ja-JP" altLang="en-US" sz="1100" b="1" dirty="0">
                <a:solidFill>
                  <a:schemeClr val="tx1"/>
                </a:solidFill>
                <a:latin typeface="メイリオ"/>
                <a:ea typeface="メイリオ"/>
                <a:cs typeface="メイリオ"/>
              </a:rPr>
              <a:t>に</a:t>
            </a:r>
            <a:endParaRPr kumimoji="1" lang="en-US" altLang="ja-JP" sz="1100" b="1" dirty="0">
              <a:solidFill>
                <a:schemeClr val="tx1"/>
              </a:solidFill>
              <a:latin typeface="メイリオ"/>
              <a:ea typeface="メイリオ"/>
              <a:cs typeface="メイリオ"/>
            </a:endParaRPr>
          </a:p>
          <a:p>
            <a:pPr algn="ctr"/>
            <a:r>
              <a:rPr kumimoji="1" lang="ja-JP" altLang="en-US" sz="1100" b="1" dirty="0">
                <a:solidFill>
                  <a:schemeClr val="tx1"/>
                </a:solidFill>
                <a:latin typeface="メイリオ"/>
                <a:ea typeface="メイリオ"/>
                <a:cs typeface="メイリオ"/>
              </a:rPr>
              <a:t>｜</a:t>
            </a:r>
          </a:p>
        </p:txBody>
      </p: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999618" y="2128994"/>
            <a:ext cx="1231081" cy="2085097"/>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999618" y="4325046"/>
            <a:ext cx="1231081" cy="2085098"/>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5974631" y="2701376"/>
            <a:ext cx="1859035" cy="430887"/>
          </a:xfrm>
          <a:prstGeom prst="rect">
            <a:avLst/>
          </a:prstGeom>
          <a:noFill/>
        </p:spPr>
        <p:txBody>
          <a:bodyPr wrap="square">
            <a:spAutoFit/>
          </a:bodyPr>
          <a:lstStyle/>
          <a:p>
            <a:r>
              <a:rPr kumimoji="1" lang="ja-JP" altLang="en-US" sz="1100" b="1" dirty="0">
                <a:latin typeface="メイリオ"/>
                <a:ea typeface="メイリオ"/>
                <a:cs typeface="メイリオ"/>
              </a:rPr>
              <a:t>公式アカウントの</a:t>
            </a:r>
            <a:r>
              <a:rPr lang="ja-JP" altLang="en-US" sz="1100" b="1" dirty="0">
                <a:latin typeface="メイリオ"/>
                <a:ea typeface="メイリオ"/>
                <a:cs typeface="メイリオ"/>
              </a:rPr>
              <a:t>友だち</a:t>
            </a:r>
            <a:endParaRPr lang="en-US" altLang="ja-JP" sz="1100" b="1" dirty="0">
              <a:latin typeface="メイリオ"/>
              <a:ea typeface="メイリオ"/>
              <a:cs typeface="メイリオ"/>
            </a:endParaRPr>
          </a:p>
          <a:p>
            <a:r>
              <a:rPr lang="ja-JP" altLang="en-US" sz="1100" b="1" dirty="0">
                <a:latin typeface="メイリオ"/>
                <a:ea typeface="メイリオ"/>
                <a:cs typeface="メイリオ"/>
              </a:rPr>
              <a:t>登録ページ</a:t>
            </a:r>
            <a:r>
              <a:rPr lang="ja-JP" altLang="en-US" sz="1100" dirty="0">
                <a:latin typeface="メイリオ"/>
                <a:ea typeface="メイリオ"/>
                <a:cs typeface="メイリオ"/>
              </a:rPr>
              <a:t>へ遷移する。</a:t>
            </a:r>
            <a:endParaRPr kumimoji="1" lang="ja-JP" altLang="en-US" sz="1100"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5971905" y="4914274"/>
            <a:ext cx="1859035" cy="1384995"/>
          </a:xfrm>
          <a:prstGeom prst="rect">
            <a:avLst/>
          </a:prstGeom>
          <a:noFill/>
        </p:spPr>
        <p:txBody>
          <a:bodyPr wrap="square">
            <a:spAutoFit/>
          </a:bodyPr>
          <a:lstStyle/>
          <a:p>
            <a:r>
              <a:rPr kumimoji="1" lang="ja-JP" altLang="en-US" sz="1100" b="1" dirty="0">
                <a:latin typeface="メイリオ"/>
                <a:ea typeface="メイリオ"/>
                <a:cs typeface="メイリオ"/>
              </a:rPr>
              <a:t>公式アカウントの</a:t>
            </a:r>
            <a:r>
              <a:rPr lang="ja-JP" altLang="en-US" sz="1100" b="1" dirty="0">
                <a:latin typeface="メイリオ"/>
                <a:ea typeface="メイリオ"/>
                <a:cs typeface="メイリオ"/>
              </a:rPr>
              <a:t>トーク</a:t>
            </a:r>
            <a:endParaRPr lang="en-US" altLang="ja-JP" sz="1100" b="1" dirty="0">
              <a:latin typeface="メイリオ"/>
              <a:ea typeface="メイリオ"/>
              <a:cs typeface="メイリオ"/>
            </a:endParaRPr>
          </a:p>
          <a:p>
            <a:r>
              <a:rPr lang="ja-JP" altLang="en-US" sz="1100" b="1" dirty="0">
                <a:latin typeface="メイリオ"/>
                <a:ea typeface="メイリオ"/>
                <a:cs typeface="メイリオ"/>
              </a:rPr>
              <a:t>画面</a:t>
            </a:r>
            <a:r>
              <a:rPr lang="ja-JP" altLang="en-US" sz="1100" dirty="0">
                <a:latin typeface="メイリオ"/>
                <a:ea typeface="メイリオ"/>
                <a:cs typeface="メイリオ"/>
              </a:rPr>
              <a:t>へ遷移する。</a:t>
            </a:r>
            <a:endParaRPr lang="en-US" altLang="ja-JP" sz="1100" dirty="0">
              <a:latin typeface="メイリオ"/>
              <a:ea typeface="メイリオ"/>
              <a:cs typeface="メイリオ"/>
            </a:endParaRPr>
          </a:p>
          <a:p>
            <a:r>
              <a:rPr kumimoji="1" lang="en-US" altLang="ja-JP" sz="1000" dirty="0">
                <a:solidFill>
                  <a:srgbClr val="FF0000"/>
                </a:solidFill>
                <a:latin typeface="メイリオ"/>
                <a:ea typeface="メイリオ"/>
                <a:cs typeface="メイリオ"/>
              </a:rPr>
              <a:t>※</a:t>
            </a:r>
            <a:r>
              <a:rPr kumimoji="1" lang="ja-JP" altLang="en-US" sz="1000" dirty="0">
                <a:solidFill>
                  <a:srgbClr val="FF0000"/>
                </a:solidFill>
                <a:latin typeface="メイリオ"/>
                <a:ea typeface="メイリオ"/>
                <a:cs typeface="メイリオ"/>
              </a:rPr>
              <a:t>設定によりフォーム入力</a:t>
            </a:r>
            <a:endParaRPr kumimoji="1" lang="en-US" altLang="ja-JP" sz="1000" dirty="0">
              <a:solidFill>
                <a:srgbClr val="FF0000"/>
              </a:solidFill>
              <a:latin typeface="メイリオ"/>
              <a:ea typeface="メイリオ"/>
              <a:cs typeface="メイリオ"/>
            </a:endParaRPr>
          </a:p>
          <a:p>
            <a:r>
              <a:rPr lang="ja-JP" altLang="en-US" sz="1000" dirty="0">
                <a:solidFill>
                  <a:srgbClr val="FF0000"/>
                </a:solidFill>
                <a:latin typeface="メイリオ"/>
                <a:ea typeface="メイリオ"/>
                <a:cs typeface="メイリオ"/>
              </a:rPr>
              <a:t>　内容を踏襲した入力画面</a:t>
            </a:r>
            <a:endParaRPr lang="en-US" altLang="ja-JP" sz="1000" dirty="0">
              <a:solidFill>
                <a:srgbClr val="FF0000"/>
              </a:solidFill>
              <a:latin typeface="メイリオ"/>
              <a:ea typeface="メイリオ"/>
              <a:cs typeface="メイリオ"/>
            </a:endParaRPr>
          </a:p>
          <a:p>
            <a:r>
              <a:rPr kumimoji="1" lang="ja-JP" altLang="en-US" sz="1000" dirty="0">
                <a:solidFill>
                  <a:srgbClr val="FF0000"/>
                </a:solidFill>
                <a:latin typeface="メイリオ"/>
                <a:ea typeface="メイリオ"/>
                <a:cs typeface="メイリオ"/>
              </a:rPr>
              <a:t>　を表示させることが可能。</a:t>
            </a:r>
            <a:endParaRPr kumimoji="1" lang="en-US" altLang="ja-JP" sz="1000" dirty="0">
              <a:solidFill>
                <a:srgbClr val="FF0000"/>
              </a:solidFill>
              <a:latin typeface="メイリオ"/>
              <a:ea typeface="メイリオ"/>
              <a:cs typeface="メイリオ"/>
            </a:endParaRPr>
          </a:p>
          <a:p>
            <a:endParaRPr lang="en-US" altLang="ja-JP" sz="1000" dirty="0">
              <a:solidFill>
                <a:srgbClr val="FF0000"/>
              </a:solidFill>
              <a:latin typeface="メイリオ"/>
              <a:ea typeface="メイリオ"/>
              <a:cs typeface="メイリオ"/>
            </a:endParaRPr>
          </a:p>
          <a:p>
            <a:r>
              <a:rPr lang="ja-JP" altLang="en-US" sz="1100" b="1" dirty="0">
                <a:latin typeface="メイリオ"/>
                <a:ea typeface="メイリオ"/>
                <a:cs typeface="メイリオ"/>
              </a:rPr>
              <a:t>↓</a:t>
            </a:r>
            <a:endParaRPr lang="en-US" altLang="ja-JP" sz="1100" b="1" dirty="0">
              <a:latin typeface="メイリオ"/>
              <a:ea typeface="メイリオ"/>
              <a:cs typeface="メイリオ"/>
            </a:endParaRPr>
          </a:p>
          <a:p>
            <a:r>
              <a:rPr kumimoji="1" lang="ja-JP" altLang="en-US" sz="1100" b="1" dirty="0">
                <a:latin typeface="メイリオ"/>
                <a:ea typeface="メイリオ"/>
                <a:cs typeface="メイリオ"/>
              </a:rPr>
              <a:t>配信セグメントに利用可</a:t>
            </a:r>
            <a:endParaRPr kumimoji="1" lang="ja-JP" altLang="en-US" sz="1100" dirty="0">
              <a:latin typeface="メイリオ"/>
              <a:ea typeface="メイリオ"/>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8048301" y="3085325"/>
            <a:ext cx="1133712" cy="110223"/>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8378027" y="3091633"/>
            <a:ext cx="479964" cy="106659"/>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8395919" y="4322141"/>
            <a:ext cx="334412" cy="74315"/>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8548319" y="4474541"/>
            <a:ext cx="334412" cy="74315"/>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8414131" y="2644225"/>
            <a:ext cx="396000" cy="39600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600" dirty="0">
                <a:solidFill>
                  <a:schemeClr val="tx1"/>
                </a:solidFill>
                <a:latin typeface="メイリオ"/>
                <a:ea typeface="メイリオ"/>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315283" y="2196668"/>
            <a:ext cx="1778402" cy="3994401"/>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5" name="二等辺三角形 34">
            <a:extLst>
              <a:ext uri="{FF2B5EF4-FFF2-40B4-BE49-F238E27FC236}">
                <a16:creationId xmlns:a16="http://schemas.microsoft.com/office/drawing/2014/main" id="{D9FB7255-AF30-7B82-6180-D447A3754744}"/>
              </a:ext>
            </a:extLst>
          </p:cNvPr>
          <p:cNvSpPr/>
          <p:nvPr/>
        </p:nvSpPr>
        <p:spPr>
          <a:xfrm rot="5400000">
            <a:off x="2108593"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2225165"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二等辺三角形 36">
            <a:extLst>
              <a:ext uri="{FF2B5EF4-FFF2-40B4-BE49-F238E27FC236}">
                <a16:creationId xmlns:a16="http://schemas.microsoft.com/office/drawing/2014/main" id="{9D8E2C96-1207-00B8-6FC3-23370EFD7A03}"/>
              </a:ext>
            </a:extLst>
          </p:cNvPr>
          <p:cNvSpPr/>
          <p:nvPr/>
        </p:nvSpPr>
        <p:spPr>
          <a:xfrm rot="5400000">
            <a:off x="2341737" y="2360745"/>
            <a:ext cx="252701" cy="198744"/>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14547" y="4198381"/>
            <a:ext cx="1154315"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メイリオ"/>
                <a:ea typeface="メイリオ"/>
                <a:cs typeface="メイリオ"/>
              </a:rPr>
              <a:t>フォーム</a:t>
            </a:r>
          </a:p>
        </p:txBody>
      </p:sp>
      <p:pic>
        <p:nvPicPr>
          <p:cNvPr id="40" name="図 39" descr="テキスト, 手紙&#10;&#10;AI 生成コンテンツは誤りを含む可能性があります。">
            <a:extLst>
              <a:ext uri="{FF2B5EF4-FFF2-40B4-BE49-F238E27FC236}">
                <a16:creationId xmlns:a16="http://schemas.microsoft.com/office/drawing/2014/main" id="{2B8DDCE0-83B3-5BAA-0FFE-3D329FBE2D94}"/>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663353" y="2289246"/>
            <a:ext cx="1048252" cy="1775437"/>
          </a:xfrm>
          <a:prstGeom prst="rect">
            <a:avLst/>
          </a:prstGeom>
        </p:spPr>
      </p:pic>
      <p:pic>
        <p:nvPicPr>
          <p:cNvPr id="41" name="図 40">
            <a:extLst>
              <a:ext uri="{FF2B5EF4-FFF2-40B4-BE49-F238E27FC236}">
                <a16:creationId xmlns:a16="http://schemas.microsoft.com/office/drawing/2014/main" id="{EE7C7FD3-78CB-4D67-F96A-D6F8017FE224}"/>
              </a:ext>
            </a:extLst>
          </p:cNvPr>
          <p:cNvPicPr>
            <a:picLocks noChangeAspect="1"/>
          </p:cNvPicPr>
          <p:nvPr/>
        </p:nvPicPr>
        <p:blipFill>
          <a:blip r:embed="rId7"/>
          <a:stretch>
            <a:fillRect/>
          </a:stretch>
        </p:blipFill>
        <p:spPr>
          <a:xfrm>
            <a:off x="641171" y="2325575"/>
            <a:ext cx="494484" cy="86136"/>
          </a:xfrm>
          <a:prstGeom prst="rect">
            <a:avLst/>
          </a:prstGeom>
        </p:spPr>
      </p:pic>
      <p:pic>
        <p:nvPicPr>
          <p:cNvPr id="42" name="図 41">
            <a:extLst>
              <a:ext uri="{FF2B5EF4-FFF2-40B4-BE49-F238E27FC236}">
                <a16:creationId xmlns:a16="http://schemas.microsoft.com/office/drawing/2014/main" id="{2E6CA8C2-2D04-CD9A-C431-4766768BBF3D}"/>
              </a:ext>
            </a:extLst>
          </p:cNvPr>
          <p:cNvPicPr>
            <a:picLocks noChangeAspect="1"/>
          </p:cNvPicPr>
          <p:nvPr/>
        </p:nvPicPr>
        <p:blipFill>
          <a:blip r:embed="rId7"/>
          <a:stretch>
            <a:fillRect/>
          </a:stretch>
        </p:blipFill>
        <p:spPr>
          <a:xfrm>
            <a:off x="630233" y="2328011"/>
            <a:ext cx="494484" cy="86136"/>
          </a:xfrm>
          <a:prstGeom prst="rect">
            <a:avLst/>
          </a:prstGeom>
        </p:spPr>
      </p:pic>
      <p:pic>
        <p:nvPicPr>
          <p:cNvPr id="47" name="図 46">
            <a:extLst>
              <a:ext uri="{FF2B5EF4-FFF2-40B4-BE49-F238E27FC236}">
                <a16:creationId xmlns:a16="http://schemas.microsoft.com/office/drawing/2014/main" id="{E5BE860E-2799-E5F4-ADCA-4ADBD44E0D0C}"/>
              </a:ext>
            </a:extLst>
          </p:cNvPr>
          <p:cNvPicPr>
            <a:picLocks noChangeAspect="1"/>
          </p:cNvPicPr>
          <p:nvPr/>
        </p:nvPicPr>
        <p:blipFill>
          <a:blip r:embed="rId7"/>
          <a:stretch>
            <a:fillRect/>
          </a:stretch>
        </p:blipFill>
        <p:spPr>
          <a:xfrm>
            <a:off x="810116" y="3773334"/>
            <a:ext cx="494484" cy="86136"/>
          </a:xfrm>
          <a:prstGeom prst="rect">
            <a:avLst/>
          </a:prstGeom>
        </p:spPr>
      </p:pic>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8"/>
          <a:stretch>
            <a:fillRect/>
          </a:stretch>
        </p:blipFill>
        <p:spPr>
          <a:xfrm>
            <a:off x="647157" y="2445202"/>
            <a:ext cx="1076073" cy="1468487"/>
          </a:xfrm>
          <a:prstGeom prst="rect">
            <a:avLst/>
          </a:prstGeom>
        </p:spPr>
      </p:pic>
      <p:pic>
        <p:nvPicPr>
          <p:cNvPr id="1024" name="図 1023">
            <a:extLst>
              <a:ext uri="{FF2B5EF4-FFF2-40B4-BE49-F238E27FC236}">
                <a16:creationId xmlns:a16="http://schemas.microsoft.com/office/drawing/2014/main" id="{E5E4719A-E6F5-34E0-F2FD-37322E2A76AA}"/>
              </a:ext>
            </a:extLst>
          </p:cNvPr>
          <p:cNvPicPr>
            <a:picLocks noChangeAspect="1"/>
          </p:cNvPicPr>
          <p:nvPr/>
        </p:nvPicPr>
        <p:blipFill>
          <a:blip r:embed="rId9"/>
          <a:stretch>
            <a:fillRect/>
          </a:stretch>
        </p:blipFill>
        <p:spPr>
          <a:xfrm>
            <a:off x="1125324" y="2303179"/>
            <a:ext cx="560995" cy="133465"/>
          </a:xfrm>
          <a:prstGeom prst="rect">
            <a:avLst/>
          </a:prstGeom>
        </p:spPr>
      </p:pic>
      <p:sp>
        <p:nvSpPr>
          <p:cNvPr id="1026" name="テキスト ボックス 1025">
            <a:extLst>
              <a:ext uri="{FF2B5EF4-FFF2-40B4-BE49-F238E27FC236}">
                <a16:creationId xmlns:a16="http://schemas.microsoft.com/office/drawing/2014/main" id="{1B57767B-4EA3-C247-B88C-4D505A95BD20}"/>
              </a:ext>
            </a:extLst>
          </p:cNvPr>
          <p:cNvSpPr txBox="1"/>
          <p:nvPr/>
        </p:nvSpPr>
        <p:spPr>
          <a:xfrm>
            <a:off x="-490844" y="4711039"/>
            <a:ext cx="3405553" cy="400110"/>
          </a:xfrm>
          <a:prstGeom prst="rect">
            <a:avLst/>
          </a:prstGeom>
          <a:noFill/>
        </p:spPr>
        <p:txBody>
          <a:bodyPr wrap="square">
            <a:spAutoFit/>
          </a:bodyPr>
          <a:lstStyle/>
          <a:p>
            <a:pPr algn="ctr"/>
            <a:r>
              <a:rPr lang="en-US" altLang="ja-JP" sz="1000" b="1" dirty="0">
                <a:solidFill>
                  <a:srgbClr val="FF0000"/>
                </a:solidFill>
                <a:latin typeface="メイリオ"/>
                <a:ea typeface="メイリオ"/>
                <a:cs typeface="メイリオ"/>
              </a:rPr>
              <a:t>※</a:t>
            </a:r>
            <a:r>
              <a:rPr lang="ja-JP" altLang="en-US" sz="1000" b="1" dirty="0">
                <a:solidFill>
                  <a:srgbClr val="FF0000"/>
                </a:solidFill>
                <a:latin typeface="メイリオ"/>
                <a:ea typeface="メイリオ"/>
                <a:cs typeface="メイリオ"/>
              </a:rPr>
              <a:t>入力した内容を</a:t>
            </a:r>
            <a:endParaRPr lang="en-US" altLang="ja-JP" sz="1000" b="1" dirty="0">
              <a:solidFill>
                <a:srgbClr val="FF0000"/>
              </a:solidFill>
              <a:latin typeface="メイリオ"/>
              <a:ea typeface="メイリオ"/>
              <a:cs typeface="メイリオ"/>
            </a:endParaRPr>
          </a:p>
          <a:p>
            <a:pPr algn="ctr"/>
            <a:r>
              <a:rPr lang="ja-JP" altLang="en-US" sz="1000" b="1" dirty="0">
                <a:solidFill>
                  <a:srgbClr val="FF0000"/>
                </a:solidFill>
                <a:latin typeface="メイリオ"/>
                <a:ea typeface="メイリオ"/>
                <a:cs typeface="メイリオ"/>
              </a:rPr>
              <a:t>トークに反映が可能。</a:t>
            </a:r>
            <a:endParaRPr lang="en-US" altLang="ja-JP" sz="1000" b="1" dirty="0">
              <a:solidFill>
                <a:srgbClr val="FF0000"/>
              </a:solidFill>
              <a:latin typeface="メイリオ"/>
              <a:ea typeface="メイリオ"/>
              <a:cs typeface="メイリオ"/>
            </a:endParaRPr>
          </a:p>
        </p:txBody>
      </p:sp>
      <p:sp>
        <p:nvSpPr>
          <p:cNvPr id="1032" name="正方形/長方形 1031">
            <a:extLst>
              <a:ext uri="{FF2B5EF4-FFF2-40B4-BE49-F238E27FC236}">
                <a16:creationId xmlns:a16="http://schemas.microsoft.com/office/drawing/2014/main" id="{D1D96D42-255C-636E-49E5-2CDA95DD6764}"/>
              </a:ext>
            </a:extLst>
          </p:cNvPr>
          <p:cNvSpPr/>
          <p:nvPr/>
        </p:nvSpPr>
        <p:spPr>
          <a:xfrm>
            <a:off x="2584156" y="2196668"/>
            <a:ext cx="1778402" cy="3994401"/>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909322" y="4198381"/>
            <a:ext cx="1154315"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b="1" dirty="0">
                <a:latin typeface="メイリオ"/>
                <a:ea typeface="メイリオ"/>
                <a:cs typeface="メイリオ"/>
              </a:rPr>
              <a:t>CV</a:t>
            </a:r>
            <a:endParaRPr kumimoji="1" lang="ja-JP" altLang="en-US" sz="1100" b="1" dirty="0">
              <a:latin typeface="メイリオ"/>
              <a:ea typeface="メイリオ"/>
              <a:cs typeface="メイリオ"/>
            </a:endParaRPr>
          </a:p>
        </p:txBody>
      </p:sp>
      <p:sp>
        <p:nvSpPr>
          <p:cNvPr id="1036" name="正方形/長方形 1035">
            <a:extLst>
              <a:ext uri="{FF2B5EF4-FFF2-40B4-BE49-F238E27FC236}">
                <a16:creationId xmlns:a16="http://schemas.microsoft.com/office/drawing/2014/main" id="{43EEA9CC-C52C-B219-FF18-6E6EA44E4D24}"/>
              </a:ext>
            </a:extLst>
          </p:cNvPr>
          <p:cNvSpPr/>
          <p:nvPr/>
        </p:nvSpPr>
        <p:spPr>
          <a:xfrm>
            <a:off x="2692868" y="4436119"/>
            <a:ext cx="1396722" cy="10450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100" b="1" dirty="0">
                <a:solidFill>
                  <a:schemeClr val="tx1">
                    <a:lumMod val="50000"/>
                    <a:lumOff val="50000"/>
                  </a:schemeClr>
                </a:solidFill>
                <a:latin typeface="メイリオ"/>
                <a:ea typeface="メイリオ"/>
                <a:cs typeface="メイリオ"/>
              </a:rPr>
              <a:t>・会員登録完了</a:t>
            </a:r>
            <a:endParaRPr kumimoji="1" lang="en-US" altLang="ja-JP" sz="1100" b="1" dirty="0">
              <a:solidFill>
                <a:schemeClr val="tx1">
                  <a:lumMod val="50000"/>
                  <a:lumOff val="50000"/>
                </a:schemeClr>
              </a:solidFill>
              <a:latin typeface="メイリオ"/>
              <a:ea typeface="メイリオ"/>
              <a:cs typeface="メイリオ"/>
            </a:endParaRPr>
          </a:p>
          <a:p>
            <a:r>
              <a:rPr kumimoji="1" lang="ja-JP" altLang="en-US" sz="1100" b="1" dirty="0">
                <a:solidFill>
                  <a:schemeClr val="tx1">
                    <a:lumMod val="50000"/>
                    <a:lumOff val="50000"/>
                  </a:schemeClr>
                </a:solidFill>
                <a:latin typeface="メイリオ"/>
                <a:ea typeface="メイリオ"/>
                <a:cs typeface="メイリオ"/>
              </a:rPr>
              <a:t>・イベント応募</a:t>
            </a:r>
            <a:endParaRPr kumimoji="1" lang="en-US" altLang="ja-JP" sz="1100" b="1" dirty="0">
              <a:solidFill>
                <a:schemeClr val="tx1">
                  <a:lumMod val="50000"/>
                  <a:lumOff val="50000"/>
                </a:schemeClr>
              </a:solidFill>
              <a:latin typeface="メイリオ"/>
              <a:ea typeface="メイリオ"/>
              <a:cs typeface="メイリオ"/>
            </a:endParaRPr>
          </a:p>
          <a:p>
            <a:r>
              <a:rPr kumimoji="1" lang="ja-JP" altLang="en-US" sz="1100" b="1" dirty="0">
                <a:solidFill>
                  <a:schemeClr val="tx1">
                    <a:lumMod val="50000"/>
                    <a:lumOff val="50000"/>
                  </a:schemeClr>
                </a:solidFill>
                <a:latin typeface="メイリオ"/>
                <a:ea typeface="メイリオ"/>
                <a:cs typeface="メイリオ"/>
              </a:rPr>
              <a:t>・キャンペーン応募</a:t>
            </a:r>
            <a:endParaRPr kumimoji="1" lang="en-US" altLang="ja-JP" sz="1100" b="1" dirty="0">
              <a:solidFill>
                <a:schemeClr val="tx1">
                  <a:lumMod val="50000"/>
                  <a:lumOff val="50000"/>
                </a:schemeClr>
              </a:solidFill>
              <a:latin typeface="メイリオ"/>
              <a:ea typeface="メイリオ"/>
              <a:cs typeface="メイリオ"/>
            </a:endParaRPr>
          </a:p>
          <a:p>
            <a:r>
              <a:rPr lang="ja-JP" altLang="en-US" sz="1100" b="1" dirty="0">
                <a:solidFill>
                  <a:schemeClr val="tx1">
                    <a:lumMod val="50000"/>
                    <a:lumOff val="50000"/>
                  </a:schemeClr>
                </a:solidFill>
                <a:latin typeface="メイリオ"/>
                <a:ea typeface="メイリオ"/>
                <a:cs typeface="メイリオ"/>
              </a:rPr>
              <a:t>・メルマガ登録</a:t>
            </a:r>
            <a:endParaRPr lang="en-US" altLang="ja-JP" sz="1100" b="1" dirty="0">
              <a:solidFill>
                <a:schemeClr val="tx1">
                  <a:lumMod val="50000"/>
                  <a:lumOff val="50000"/>
                </a:schemeClr>
              </a:solidFill>
              <a:latin typeface="メイリオ"/>
              <a:ea typeface="メイリオ"/>
              <a:cs typeface="メイリオ"/>
            </a:endParaRPr>
          </a:p>
          <a:p>
            <a:r>
              <a:rPr kumimoji="1" lang="ja-JP" altLang="en-US" sz="1100" b="1" dirty="0">
                <a:solidFill>
                  <a:schemeClr val="tx1">
                    <a:lumMod val="50000"/>
                    <a:lumOff val="50000"/>
                  </a:schemeClr>
                </a:solidFill>
                <a:latin typeface="メイリオ"/>
                <a:ea typeface="メイリオ"/>
                <a:cs typeface="メイリオ"/>
              </a:rPr>
              <a:t>・その他</a:t>
            </a: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6" cstate="print">
            <a:extLst>
              <a:ext uri="{28A0092B-C50C-407E-A947-70E740481C1C}">
                <a14:useLocalDpi xmlns:a14="http://schemas.microsoft.com/office/drawing/2010/main" val="0"/>
              </a:ext>
            </a:extLst>
          </a:blip>
          <a:srcRect t="4580"/>
          <a:stretch>
            <a:fillRect/>
          </a:stretch>
        </p:blipFill>
        <p:spPr>
          <a:xfrm>
            <a:off x="2977448" y="2296209"/>
            <a:ext cx="1048252" cy="1775437"/>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20270" r="23682"/>
          <a:stretch>
            <a:fillRect/>
          </a:stretch>
        </p:blipFill>
        <p:spPr bwMode="auto">
          <a:xfrm>
            <a:off x="3866329" y="4627146"/>
            <a:ext cx="395417" cy="529521"/>
          </a:xfrm>
          <a:prstGeom prst="rect">
            <a:avLst/>
          </a:prstGeom>
          <a:noFill/>
          <a:extLst>
            <a:ext uri="{909E8E84-426E-40DD-AFC4-6F175D3DCCD1}">
              <a14:hiddenFill xmlns:a14="http://schemas.microsoft.com/office/drawing/2010/main">
                <a:solidFill>
                  <a:srgbClr val="FFFFFF"/>
                </a:solidFill>
              </a14:hiddenFill>
            </a:ext>
          </a:extLst>
        </p:spPr>
      </p:pic>
      <p:pic>
        <p:nvPicPr>
          <p:cNvPr id="1040" name="図 1039">
            <a:extLst>
              <a:ext uri="{FF2B5EF4-FFF2-40B4-BE49-F238E27FC236}">
                <a16:creationId xmlns:a16="http://schemas.microsoft.com/office/drawing/2014/main" id="{D40EFC68-F8C8-CACE-392A-C804A102B410}"/>
              </a:ext>
            </a:extLst>
          </p:cNvPr>
          <p:cNvPicPr>
            <a:picLocks noChangeAspect="1"/>
          </p:cNvPicPr>
          <p:nvPr/>
        </p:nvPicPr>
        <p:blipFill>
          <a:blip r:embed="rId7"/>
          <a:stretch>
            <a:fillRect/>
          </a:stretch>
        </p:blipFill>
        <p:spPr>
          <a:xfrm>
            <a:off x="2955266" y="2332538"/>
            <a:ext cx="494484" cy="86136"/>
          </a:xfrm>
          <a:prstGeom prst="rect">
            <a:avLst/>
          </a:prstGeom>
        </p:spPr>
      </p:pic>
      <p:pic>
        <p:nvPicPr>
          <p:cNvPr id="1041" name="図 1040">
            <a:extLst>
              <a:ext uri="{FF2B5EF4-FFF2-40B4-BE49-F238E27FC236}">
                <a16:creationId xmlns:a16="http://schemas.microsoft.com/office/drawing/2014/main" id="{BA9B0596-4197-6BA5-B58D-7E67FD1379B1}"/>
              </a:ext>
            </a:extLst>
          </p:cNvPr>
          <p:cNvPicPr>
            <a:picLocks noChangeAspect="1"/>
          </p:cNvPicPr>
          <p:nvPr/>
        </p:nvPicPr>
        <p:blipFill>
          <a:blip r:embed="rId7"/>
          <a:stretch>
            <a:fillRect/>
          </a:stretch>
        </p:blipFill>
        <p:spPr>
          <a:xfrm>
            <a:off x="2944328" y="2334974"/>
            <a:ext cx="494484" cy="86136"/>
          </a:xfrm>
          <a:prstGeom prst="rect">
            <a:avLst/>
          </a:prstGeom>
        </p:spPr>
      </p:pic>
      <p:pic>
        <p:nvPicPr>
          <p:cNvPr id="1042" name="図 1041">
            <a:extLst>
              <a:ext uri="{FF2B5EF4-FFF2-40B4-BE49-F238E27FC236}">
                <a16:creationId xmlns:a16="http://schemas.microsoft.com/office/drawing/2014/main" id="{A3D5D1CE-703D-3244-20B5-0CBB6C5EB467}"/>
              </a:ext>
            </a:extLst>
          </p:cNvPr>
          <p:cNvPicPr>
            <a:picLocks noChangeAspect="1"/>
          </p:cNvPicPr>
          <p:nvPr/>
        </p:nvPicPr>
        <p:blipFill>
          <a:blip r:embed="rId7"/>
          <a:stretch>
            <a:fillRect/>
          </a:stretch>
        </p:blipFill>
        <p:spPr>
          <a:xfrm>
            <a:off x="3124211" y="3780297"/>
            <a:ext cx="494484" cy="86136"/>
          </a:xfrm>
          <a:prstGeom prst="rect">
            <a:avLst/>
          </a:prstGeom>
        </p:spPr>
      </p:pic>
      <p:sp>
        <p:nvSpPr>
          <p:cNvPr id="1043" name="テキスト ボックス 1042">
            <a:extLst>
              <a:ext uri="{FF2B5EF4-FFF2-40B4-BE49-F238E27FC236}">
                <a16:creationId xmlns:a16="http://schemas.microsoft.com/office/drawing/2014/main" id="{434489DF-76E5-B08D-AB93-7A020A3C23F0}"/>
              </a:ext>
            </a:extLst>
          </p:cNvPr>
          <p:cNvSpPr txBox="1"/>
          <p:nvPr/>
        </p:nvSpPr>
        <p:spPr>
          <a:xfrm>
            <a:off x="1254839" y="5195928"/>
            <a:ext cx="1679395" cy="338554"/>
          </a:xfrm>
          <a:prstGeom prst="rect">
            <a:avLst/>
          </a:prstGeom>
          <a:solidFill>
            <a:schemeClr val="bg1">
              <a:alpha val="56000"/>
            </a:schemeClr>
          </a:solidFill>
        </p:spPr>
        <p:txBody>
          <a:bodyPr wrap="square">
            <a:spAutoFit/>
          </a:bodyPr>
          <a:lstStyle/>
          <a:p>
            <a:pPr algn="ctr"/>
            <a:r>
              <a:rPr lang="en-US" altLang="ja-JP" sz="800" b="1" dirty="0">
                <a:solidFill>
                  <a:schemeClr val="bg1">
                    <a:lumMod val="85000"/>
                  </a:schemeClr>
                </a:solidFill>
                <a:latin typeface="メイリオ"/>
                <a:ea typeface="メイリオ"/>
                <a:cs typeface="メイリオ"/>
              </a:rPr>
              <a:t>※</a:t>
            </a:r>
            <a:r>
              <a:rPr lang="ja-JP" altLang="en-US" sz="800" b="1" dirty="0">
                <a:solidFill>
                  <a:schemeClr val="bg1">
                    <a:lumMod val="85000"/>
                  </a:schemeClr>
                </a:solidFill>
                <a:latin typeface="メイリオ"/>
                <a:ea typeface="メイリオ"/>
                <a:cs typeface="メイリオ"/>
              </a:rPr>
              <a:t>ユーザーの個人情報収集が</a:t>
            </a:r>
            <a:endParaRPr lang="en-US" altLang="ja-JP" sz="800" b="1" dirty="0">
              <a:solidFill>
                <a:schemeClr val="bg1">
                  <a:lumMod val="85000"/>
                </a:schemeClr>
              </a:solidFill>
              <a:latin typeface="メイリオ"/>
              <a:ea typeface="メイリオ"/>
              <a:cs typeface="メイリオ"/>
            </a:endParaRPr>
          </a:p>
          <a:p>
            <a:pPr algn="ctr"/>
            <a:r>
              <a:rPr lang="ja-JP" altLang="en-US" sz="800" b="1" dirty="0">
                <a:solidFill>
                  <a:schemeClr val="bg1">
                    <a:lumMod val="85000"/>
                  </a:schemeClr>
                </a:solidFill>
                <a:latin typeface="メイリオ"/>
                <a:ea typeface="メイリオ"/>
                <a:cs typeface="メイリオ"/>
              </a:rPr>
              <a:t>完了したタイミング</a:t>
            </a:r>
            <a:endParaRPr kumimoji="1" lang="ja-JP" altLang="en-US" sz="800" b="1" dirty="0">
              <a:solidFill>
                <a:schemeClr val="bg1">
                  <a:lumMod val="85000"/>
                </a:schemeClr>
              </a:solidFill>
              <a:latin typeface="メイリオ"/>
              <a:ea typeface="メイリオ"/>
              <a:cs typeface="メイリオ"/>
            </a:endParaRPr>
          </a:p>
        </p:txBody>
      </p:sp>
      <p:grpSp>
        <p:nvGrpSpPr>
          <p:cNvPr id="3" name="グループ化 2">
            <a:extLst>
              <a:ext uri="{FF2B5EF4-FFF2-40B4-BE49-F238E27FC236}">
                <a16:creationId xmlns:a16="http://schemas.microsoft.com/office/drawing/2014/main" id="{E76D8F54-2926-2D56-7238-F66ACCBC4F20}"/>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サンクス</a:t>
              </a:r>
              <a:r>
                <a:rPr kumimoji="1" lang="en-US" altLang="ja-JP" sz="1500" b="1" dirty="0">
                  <a:solidFill>
                    <a:schemeClr val="bg1"/>
                  </a:solidFill>
                  <a:latin typeface="メイリオ"/>
                  <a:ea typeface="メイリオ"/>
                  <a:cs typeface="メイリオ"/>
                </a:rPr>
                <a:t>LINE</a:t>
              </a:r>
              <a:r>
                <a:rPr kumimoji="1" lang="ja-JP" altLang="en-US" sz="1500" b="1" dirty="0">
                  <a:solidFill>
                    <a:schemeClr val="bg1"/>
                  </a:solidFill>
                  <a:latin typeface="メイリオ"/>
                  <a:ea typeface="メイリオ"/>
                  <a:cs typeface="メイリオ"/>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8247347" y="4702330"/>
            <a:ext cx="899499" cy="79959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7" name="コネクタ: カギ線 6">
            <a:extLst>
              <a:ext uri="{FF2B5EF4-FFF2-40B4-BE49-F238E27FC236}">
                <a16:creationId xmlns:a16="http://schemas.microsoft.com/office/drawing/2014/main" id="{C5EB654A-0759-70F8-6BA7-95CA3A0F983F}"/>
              </a:ext>
            </a:extLst>
          </p:cNvPr>
          <p:cNvCxnSpPr>
            <a:cxnSpLocks/>
          </p:cNvCxnSpPr>
          <p:nvPr/>
        </p:nvCxnSpPr>
        <p:spPr>
          <a:xfrm flipV="1">
            <a:off x="7672763" y="5102505"/>
            <a:ext cx="574585" cy="332494"/>
          </a:xfrm>
          <a:prstGeom prst="bentConnector3">
            <a:avLst>
              <a:gd name="adj1" fmla="val 50000"/>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218E3FE3-7B20-5966-421F-4ECB81603538}"/>
              </a:ext>
            </a:extLst>
          </p:cNvPr>
          <p:cNvCxnSpPr>
            <a:cxnSpLocks/>
            <a:stCxn id="48" idx="2"/>
            <a:endCxn id="21" idx="0"/>
          </p:cNvCxnSpPr>
          <p:nvPr/>
        </p:nvCxnSpPr>
        <p:spPr>
          <a:xfrm>
            <a:off x="6904149" y="3132263"/>
            <a:ext cx="1" cy="1334625"/>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DBDB9444-3A0E-B235-58FC-9F8C81BAEA44}"/>
              </a:ext>
            </a:extLst>
          </p:cNvPr>
          <p:cNvSpPr txBox="1"/>
          <p:nvPr/>
        </p:nvSpPr>
        <p:spPr>
          <a:xfrm>
            <a:off x="6323825" y="3523709"/>
            <a:ext cx="1161782" cy="261610"/>
          </a:xfrm>
          <a:prstGeom prst="rect">
            <a:avLst/>
          </a:prstGeom>
          <a:solidFill>
            <a:schemeClr val="bg1">
              <a:alpha val="70000"/>
            </a:schemeClr>
          </a:solidFill>
        </p:spPr>
        <p:txBody>
          <a:bodyPr wrap="square">
            <a:spAutoFit/>
          </a:bodyPr>
          <a:lstStyle/>
          <a:p>
            <a:pPr algn="ctr"/>
            <a:r>
              <a:rPr kumimoji="1" lang="ja-JP" altLang="en-US" sz="1100" b="1" dirty="0">
                <a:solidFill>
                  <a:srgbClr val="00C057"/>
                </a:solidFill>
                <a:latin typeface="メイリオ"/>
                <a:ea typeface="メイリオ"/>
                <a:cs typeface="メイリオ"/>
              </a:rPr>
              <a:t>友だち追加後</a:t>
            </a:r>
            <a:endParaRPr lang="ja-JP" altLang="en-US" sz="1100" dirty="0">
              <a:solidFill>
                <a:srgbClr val="00C057"/>
              </a:solidFill>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ja-JP" altLang="en-US" sz="1600" dirty="0">
                <a:latin typeface="メイリオ"/>
                <a:ea typeface="メイリオ"/>
                <a:cs typeface="メイリオ"/>
                <a:sym typeface="Meiryo"/>
              </a:rPr>
              <a:t>サンクス到達時の</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動線が弊社開発により可能に。</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費用を抑えての導入が可能で、新規反響の質改善に寄与。</a:t>
            </a: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4091506" y="1549623"/>
            <a:ext cx="4718625" cy="230832"/>
          </a:xfrm>
          <a:prstGeom prst="rect">
            <a:avLst/>
          </a:prstGeom>
          <a:noFill/>
        </p:spPr>
        <p:txBody>
          <a:bodyPr wrap="square">
            <a:spAutoFit/>
          </a:bodyPr>
          <a:lstStyle/>
          <a:p>
            <a:r>
              <a:rPr lang="en-US" altLang="ja-JP" sz="900" dirty="0">
                <a:solidFill>
                  <a:srgbClr val="FF0000"/>
                </a:solidFill>
                <a:latin typeface="メイリオ"/>
                <a:ea typeface="メイリオ"/>
                <a:cs typeface="メイリオ"/>
                <a:sym typeface="Meiryo"/>
              </a:rPr>
              <a:t>※</a:t>
            </a:r>
            <a:r>
              <a:rPr lang="ja-JP" altLang="en-US" sz="900" dirty="0">
                <a:solidFill>
                  <a:srgbClr val="FF0000"/>
                </a:solidFill>
                <a:latin typeface="メイリオ"/>
                <a:ea typeface="メイリオ"/>
                <a:cs typeface="メイリオ"/>
                <a:sym typeface="Meiryo"/>
              </a:rPr>
              <a:t>既存</a:t>
            </a:r>
            <a:r>
              <a:rPr lang="en-US" altLang="ja-JP" sz="900" dirty="0">
                <a:solidFill>
                  <a:srgbClr val="FF0000"/>
                </a:solidFill>
                <a:latin typeface="メイリオ"/>
                <a:ea typeface="メイリオ"/>
                <a:cs typeface="メイリオ"/>
                <a:sym typeface="Meiryo"/>
              </a:rPr>
              <a:t>API</a:t>
            </a:r>
            <a:r>
              <a:rPr lang="ja-JP" altLang="en-US" sz="900" dirty="0">
                <a:solidFill>
                  <a:srgbClr val="FF0000"/>
                </a:solidFill>
                <a:latin typeface="メイリオ"/>
                <a:ea typeface="メイリオ"/>
                <a:cs typeface="メイリオ"/>
                <a:sym typeface="Meiryo"/>
              </a:rPr>
              <a:t>ツールとの併用についても、問題なく稼働が可能。</a:t>
            </a:r>
            <a:endParaRPr lang="ja-JP" altLang="en-US" sz="900" dirty="0">
              <a:solidFill>
                <a:srgbClr val="FF0000"/>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a:ea typeface="メイリオ"/>
                <a:cs typeface="メイリオ"/>
              </a:rPr>
              <a:t>動作イメージ</a:t>
            </a:r>
            <a:endParaRPr kumimoji="1" lang="ja-JP" altLang="en-US" sz="1100" b="1" dirty="0">
              <a:solidFill>
                <a:schemeClr val="bg1"/>
              </a:solidFill>
              <a:latin typeface="メイリオ"/>
              <a:ea typeface="メイリオ"/>
              <a:cs typeface="メイリオ"/>
            </a:endParaRPr>
          </a:p>
        </p:txBody>
      </p:sp>
      <p:sp>
        <p:nvSpPr>
          <p:cNvPr id="26" name="Google Shape;51;p19">
            <a:extLst>
              <a:ext uri="{FF2B5EF4-FFF2-40B4-BE49-F238E27FC236}">
                <a16:creationId xmlns:a16="http://schemas.microsoft.com/office/drawing/2014/main" id="{A4070FDA-7C99-27DE-6A9C-437C1D5DD3B3}"/>
              </a:ext>
            </a:extLst>
          </p:cNvPr>
          <p:cNvSpPr/>
          <p:nvPr/>
        </p:nvSpPr>
        <p:spPr>
          <a:xfrm>
            <a:off x="543399"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初期：15万円</a:t>
            </a:r>
            <a:r>
              <a:rPr lang="en-US" altLang="ja-JP" sz="1400" b="1" i="0" u="none" strike="noStrike" cap="none" dirty="0">
                <a:solidFill>
                  <a:schemeClr val="lt1"/>
                </a:solidFill>
                <a:latin typeface="メイリオ"/>
                <a:ea typeface="メイリオ"/>
                <a:cs typeface="メイリオ"/>
                <a:sym typeface="Meiryo"/>
              </a:rPr>
              <a:t/>
            </a:r>
            <a:r>
              <a:rPr lang="ja-JP" altLang="en-US" sz="1400" b="1" i="0" u="none" strike="noStrike" cap="none" dirty="0">
                <a:solidFill>
                  <a:schemeClr val="lt1"/>
                </a:solidFill>
                <a:latin typeface="メイリオ"/>
                <a:ea typeface="メイリオ"/>
                <a:cs typeface="メイリオ"/>
                <a:sym typeface="Meiryo"/>
              </a:rPr>
              <a:t/>
            </a:r>
            <a:endParaRPr sz="1400" b="1" i="0" u="none" strike="noStrike" cap="none" dirty="0">
              <a:solidFill>
                <a:schemeClr val="lt1"/>
              </a:solidFill>
              <a:latin typeface="メイリオ"/>
              <a:ea typeface="メイリオ"/>
              <a:cs typeface="メイリオ"/>
              <a:sym typeface="Meiryo"/>
            </a:endParaRPr>
          </a:p>
        </p:txBody>
      </p:sp>
      <p:sp>
        <p:nvSpPr>
          <p:cNvPr id="28" name="Google Shape;51;p19">
            <a:extLst>
              <a:ext uri="{FF2B5EF4-FFF2-40B4-BE49-F238E27FC236}">
                <a16:creationId xmlns:a16="http://schemas.microsoft.com/office/drawing/2014/main" id="{40C4675F-5DCC-DD57-BE14-B3A7697A02CD}"/>
              </a:ext>
            </a:extLst>
          </p:cNvPr>
          <p:cNvSpPr/>
          <p:nvPr/>
        </p:nvSpPr>
        <p:spPr>
          <a:xfrm>
            <a:off x="2137897" y="1321261"/>
            <a:ext cx="1510826" cy="485102"/>
          </a:xfrm>
          <a:prstGeom prst="roundRect">
            <a:avLst>
              <a:gd name="adj" fmla="val 16667"/>
            </a:avLst>
          </a:prstGeom>
          <a:solidFill>
            <a:srgbClr val="FFC000"/>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月額5万円</a:t>
            </a:r>
            <a:r>
              <a:rPr lang="en-US" altLang="ja-JP" sz="1400" b="1" i="0" u="none" strike="noStrike" cap="none" dirty="0">
                <a:solidFill>
                  <a:schemeClr val="lt1"/>
                </a:solidFill>
                <a:latin typeface="メイリオ"/>
                <a:ea typeface="メイリオ"/>
                <a:cs typeface="メイリオ"/>
                <a:sym typeface="Meiryo"/>
              </a:rPr>
              <a:t/>
            </a:r>
            <a:r>
              <a:rPr lang="ja-JP" altLang="en-US" sz="1400" b="1" i="0" u="none" strike="noStrike" cap="none" dirty="0">
                <a:solidFill>
                  <a:schemeClr val="lt1"/>
                </a:solidFill>
                <a:latin typeface="メイリオ"/>
                <a:ea typeface="メイリオ"/>
                <a:cs typeface="メイリオ"/>
                <a:sym typeface="Meiryo"/>
              </a:rPr>
              <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0000"/>
                </a:solidFill>
                <a:latin typeface="メイリオ"/>
                <a:ea typeface="メイリオ"/>
                <a:cs typeface="メイリオ"/>
                <a:sym typeface="Meiryo"/>
              </a:rPr>
              <a:t>+</a:t>
            </a:r>
            <a:r>
              <a:rPr lang="ja-JP" altLang="en-US" sz="1050" b="1" dirty="0">
                <a:solidFill>
                  <a:srgbClr val="FF0000"/>
                </a:solidFill>
                <a:latin typeface="メイリオ"/>
                <a:ea typeface="メイリオ"/>
                <a:cs typeface="メイリオ"/>
                <a:sym typeface="Meiryo"/>
              </a:rPr>
              <a:t>設定地点追加</a:t>
            </a:r>
            <a:endParaRPr sz="1050" b="1" i="0" u="none" strike="noStrike" cap="none" dirty="0">
              <a:solidFill>
                <a:srgbClr val="FF0000"/>
              </a:solidFill>
              <a:latin typeface="メイリオ"/>
              <a:ea typeface="メイリオ"/>
              <a:cs typeface="メイリオ"/>
              <a:sym typeface="Meiryo"/>
            </a:endParaRPr>
          </a:p>
        </p:txBody>
      </p:sp>
      <p:cxnSp>
        <p:nvCxnSpPr>
          <p:cNvPr id="30" name="コネクタ: カギ線 29">
            <a:extLst>
              <a:ext uri="{FF2B5EF4-FFF2-40B4-BE49-F238E27FC236}">
                <a16:creationId xmlns:a16="http://schemas.microsoft.com/office/drawing/2014/main" id="{D9706AF3-2C8D-6646-76C8-7802A4F734FC}"/>
              </a:ext>
            </a:extLst>
          </p:cNvPr>
          <p:cNvCxnSpPr>
            <a:cxnSpLocks/>
          </p:cNvCxnSpPr>
          <p:nvPr/>
        </p:nvCxnSpPr>
        <p:spPr>
          <a:xfrm rot="16200000" flipH="1">
            <a:off x="3294819" y="3047336"/>
            <a:ext cx="430977" cy="4596748"/>
          </a:xfrm>
          <a:prstGeom prst="bentConnector2">
            <a:avLst/>
          </a:prstGeom>
          <a:ln w="158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97C92C6B-4F06-7ED3-0627-D0C168299913}"/>
              </a:ext>
            </a:extLst>
          </p:cNvPr>
          <p:cNvSpPr txBox="1"/>
          <p:nvPr/>
        </p:nvSpPr>
        <p:spPr>
          <a:xfrm>
            <a:off x="115187" y="5639542"/>
            <a:ext cx="5785781" cy="461665"/>
          </a:xfrm>
          <a:prstGeom prst="rect">
            <a:avLst/>
          </a:prstGeom>
          <a:solidFill>
            <a:schemeClr val="bg1">
              <a:alpha val="62000"/>
            </a:schemeClr>
          </a:solidFill>
        </p:spPr>
        <p:txBody>
          <a:bodyPr wrap="square">
            <a:spAutoFit/>
          </a:bodyPr>
          <a:lstStyle/>
          <a:p>
            <a:pPr algn="ctr"/>
            <a:r>
              <a:rPr lang="ja-JP" altLang="ja-JP" sz="1200" dirty="0">
                <a:latin typeface="メイリオ"/>
                <a:ea typeface="メイリオ"/>
                <a:cs typeface="メイリオ"/>
              </a:rPr>
              <a:t>高開封率のLINEに誘導</a:t>
            </a:r>
            <a:r>
              <a:rPr lang="ja-JP" altLang="en-US" sz="1200" dirty="0">
                <a:latin typeface="メイリオ"/>
                <a:ea typeface="メイリオ"/>
                <a:cs typeface="メイリオ"/>
              </a:rPr>
              <a:t>して</a:t>
            </a:r>
            <a:r>
              <a:rPr lang="ja-JP" altLang="ja-JP" sz="1200" dirty="0">
                <a:latin typeface="メイリオ"/>
                <a:ea typeface="メイリオ"/>
                <a:cs typeface="メイリオ"/>
              </a:rPr>
              <a:t>反響→実売上への引上げ率、リピート率改善。</a:t>
            </a:r>
            <a:endParaRPr lang="en-US" altLang="ja-JP" sz="1200" dirty="0">
              <a:latin typeface="メイリオ"/>
              <a:ea typeface="メイリオ"/>
              <a:cs typeface="メイリオ"/>
            </a:endParaRPr>
          </a:p>
          <a:p>
            <a:pPr algn="ctr"/>
            <a:r>
              <a:rPr lang="ja-JP" altLang="ja-JP" sz="1200" dirty="0">
                <a:latin typeface="メイリオ"/>
                <a:ea typeface="メイリオ"/>
                <a:cs typeface="メイリオ"/>
              </a:rPr>
              <a:t> </a:t>
            </a:r>
            <a:r>
              <a:rPr lang="ja-JP" altLang="ja-JP" sz="1200" b="1" dirty="0">
                <a:solidFill>
                  <a:srgbClr val="FF0000"/>
                </a:solidFill>
                <a:latin typeface="メイリオ"/>
                <a:ea typeface="メイリオ"/>
                <a:cs typeface="メイリオ"/>
              </a:rPr>
              <a:t>弊社運用の美容クリニック様では、予約後来院率にて40-50%程度の改善を実現</a:t>
            </a:r>
            <a:r>
              <a:rPr lang="ja-JP" altLang="ja-JP" sz="1200" dirty="0">
                <a:latin typeface="メイリオ"/>
                <a:ea typeface="メイリオ"/>
                <a:cs typeface="メイリオ"/>
              </a:rPr>
              <a: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14252182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に友だち登録、ステータス通知を行うことができる機能</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通数単価：</a:t>
            </a:r>
            <a:r>
              <a:rPr lang="en-US" altLang="ja-JP" sz="1050" b="1" dirty="0">
                <a:solidFill>
                  <a:srgbClr val="FFFF00"/>
                </a:solidFill>
                <a:latin typeface="メイリオ"/>
                <a:ea typeface="メイリオ"/>
                <a:cs typeface="メイリオ"/>
                <a:sym typeface="Meiryo"/>
              </a:rPr>
              <a:t>7</a:t>
            </a:r>
            <a:r>
              <a:rPr lang="ja-JP" altLang="en-US" sz="1050" b="1" dirty="0">
                <a:solidFill>
                  <a:srgbClr val="FFFF00"/>
                </a:solidFill>
                <a:latin typeface="メイリオ"/>
                <a:ea typeface="メイリオ"/>
                <a:cs typeface="メイリオ"/>
                <a:sym typeface="Meiryo"/>
              </a:rPr>
              <a:t>円</a:t>
            </a:r>
            <a:endParaRPr sz="1050" b="1" i="0" u="none" strike="noStrike" cap="none" dirty="0">
              <a:solidFill>
                <a:srgbClr val="FFFF00"/>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a:ea typeface="メイリオ"/>
                <a:cs typeface="メイリオ"/>
              </a:rPr>
              <a:t>動作イメージ</a:t>
            </a:r>
            <a:endParaRPr kumimoji="1" lang="ja-JP" altLang="en-US" sz="1100" b="1" dirty="0">
              <a:solidFill>
                <a:schemeClr val="bg1"/>
              </a:solidFill>
              <a:latin typeface="メイリオ"/>
              <a:ea typeface="メイリオ"/>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a:ea typeface="メイリオ"/>
                <a:cs typeface="メイリオ"/>
              </a:rPr>
              <a:t>佐川急便</a:t>
            </a:r>
            <a:endParaRPr kumimoji="1" lang="ja-JP" altLang="en-US" sz="1100" dirty="0">
              <a:solidFill>
                <a:schemeClr val="tx1"/>
              </a:solidFill>
              <a:latin typeface="メイリオ"/>
              <a:ea typeface="メイリオ"/>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a:ea typeface="メイリオ"/>
                <a:cs typeface="メイリオ"/>
              </a:rPr>
              <a:t>やまや（</a:t>
            </a:r>
            <a:r>
              <a:rPr kumimoji="1" lang="en-US" altLang="ja-JP" sz="1100" dirty="0">
                <a:solidFill>
                  <a:schemeClr val="tx1"/>
                </a:solidFill>
                <a:latin typeface="メイリオ"/>
                <a:ea typeface="メイリオ"/>
                <a:cs typeface="メイリオ"/>
              </a:rPr>
              <a:t>EC</a:t>
            </a:r>
            <a:r>
              <a:rPr kumimoji="1" lang="ja-JP" altLang="en-US" sz="1100" dirty="0">
                <a:solidFill>
                  <a:schemeClr val="tx1"/>
                </a:solidFill>
                <a:latin typeface="メイリオ"/>
                <a:ea typeface="メイリオ"/>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a:ea typeface="メイリオ"/>
                <a:cs typeface="メイリオ"/>
              </a:rPr>
              <a:t>Sales Partner、Tech Partner限定公開のAPIを使用した機能</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a:ea typeface="メイリオ"/>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a:ea typeface="メイリオ"/>
                <a:cs typeface="メイリオ"/>
              </a:rPr>
              <a:t>料金プランにより通数単価、利用可能な機能が異なる</a:t>
            </a:r>
          </a:p>
        </p:txBody>
      </p:sp>
    </p:spTree>
    <p:extLst>
      <p:ext uri="{BB962C8B-B14F-4D97-AF65-F5344CB8AC3E}">
        <p14:creationId xmlns:p14="http://schemas.microsoft.com/office/powerpoint/2010/main" val="37310312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a:ea typeface="メイリオ"/>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a:ea typeface="メイリオ"/>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に友だち登録、ステータス通知を行うことができる機能</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00"/>
                </a:solidFill>
                <a:latin typeface="メイリオ"/>
                <a:ea typeface="メイリオ"/>
                <a:cs typeface="メイリオ"/>
                <a:sym typeface="Meiryo"/>
              </a:rPr>
              <a:t>+</a:t>
            </a:r>
            <a:r>
              <a:rPr lang="ja-JP" altLang="en-US" sz="1050" b="1" dirty="0">
                <a:solidFill>
                  <a:srgbClr val="FFFF00"/>
                </a:solidFill>
                <a:latin typeface="メイリオ"/>
                <a:ea typeface="メイリオ"/>
                <a:cs typeface="メイリオ"/>
                <a:sym typeface="Meiryo"/>
              </a:rPr>
              <a:t>通数単価：</a:t>
            </a:r>
            <a:r>
              <a:rPr lang="en-US" altLang="ja-JP" sz="1050" b="1" dirty="0">
                <a:solidFill>
                  <a:srgbClr val="FFFF00"/>
                </a:solidFill>
                <a:latin typeface="メイリオ"/>
                <a:ea typeface="メイリオ"/>
                <a:cs typeface="メイリオ"/>
                <a:sym typeface="Meiryo"/>
              </a:rPr>
              <a:t>7</a:t>
            </a:r>
            <a:r>
              <a:rPr lang="ja-JP" altLang="en-US" sz="1050" b="1" dirty="0">
                <a:solidFill>
                  <a:srgbClr val="FFFF00"/>
                </a:solidFill>
                <a:latin typeface="メイリオ"/>
                <a:ea typeface="メイリオ"/>
                <a:cs typeface="メイリオ"/>
                <a:sym typeface="Meiryo"/>
              </a:rPr>
              <a:t>円</a:t>
            </a:r>
            <a:endParaRPr sz="1050" b="1" i="0" u="none" strike="noStrike" cap="none" dirty="0">
              <a:solidFill>
                <a:srgbClr val="FFFF00"/>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a:ea typeface="メイリオ"/>
                <a:cs typeface="メイリオ"/>
              </a:rPr>
              <a:t>Sales Partner、Tech Partner限定公開のAPIを使用した機能</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r>
              <a:rPr lang="en-US" altLang="ja-JP" sz="900" dirty="0">
                <a:solidFill>
                  <a:srgbClr val="FF0000"/>
                </a:solidFill>
                <a:latin typeface="メイリオ"/>
                <a:ea typeface="メイリオ"/>
                <a:cs typeface="メイリオ"/>
              </a:rPr>
              <a:t/>
            </a:r>
            <a:r>
              <a:rPr lang="ja-JP" altLang="en-US" sz="900" dirty="0">
                <a:solidFill>
                  <a:srgbClr val="FF0000"/>
                </a:solidFill>
                <a:latin typeface="メイリオ"/>
                <a:ea typeface="メイリオ"/>
                <a:cs typeface="メイリオ"/>
              </a:rPr>
              <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a:ea typeface="メイリオ"/>
                <a:cs typeface="メイリオ"/>
              </a:rPr>
              <a:t>料金プランにより通数単価、利用可能な機能が異なる</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00"/>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4245125" y="3038203"/>
            <a:ext cx="1415772"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費用感</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26193754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a:ea typeface="メイリオ"/>
                <a:cs typeface="メイリオ"/>
              </a:rPr>
              <a:t>サービス内容</a:t>
            </a:r>
            <a:endParaRPr kumimoji="1" lang="ja-JP" altLang="en-US" sz="1400" dirty="0">
              <a:latin typeface="メイリオ"/>
              <a:ea typeface="メイリオ"/>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a:ea typeface="メイリオ"/>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a:ea typeface="メイリオ"/>
                <a:cs typeface="メイリオ"/>
              </a:rPr>
              <a:t>DYM</a:t>
            </a:r>
            <a:r>
              <a:rPr kumimoji="1" lang="ja-JP" altLang="en-US" sz="1400" dirty="0">
                <a:latin typeface="メイリオ"/>
                <a:ea typeface="メイリオ"/>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01</a:t>
            </a:r>
            <a:endParaRPr lang="en-US" sz="1300" dirty="0">
              <a:latin typeface="メイリオ"/>
              <a:ea typeface="メイリオ"/>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a:ea typeface="メイリオ"/>
                <a:cs typeface="メイリオ"/>
              </a:rPr>
              <a:t>会員ユーザーのカスタマージャーニー（8フェーズ）</a:t>
            </a:r>
            <a:endParaRPr lang="en-US" sz="1300" dirty="0">
              <a:latin typeface="メイリオ"/>
              <a:ea typeface="メイリオ"/>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a:ea typeface="メイリオ"/>
                <a:cs typeface="メイリオ"/>
              </a:rPr>
              <a:t>接触〜リピートまでの動線設計</a:t>
            </a:r>
            <a:endParaRPr lang="en-US" sz="1000" dirty="0">
              <a:latin typeface="メイリオ"/>
              <a:ea typeface="メイリオ"/>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02</a:t>
            </a:r>
            <a:endParaRPr lang="en-US" sz="1300" dirty="0">
              <a:latin typeface="メイリオ"/>
              <a:ea typeface="メイリオ"/>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a:ea typeface="メイリオ"/>
                <a:cs typeface="メイリオ"/>
              </a:rPr>
              <a:t>LINEステップ配信シナリオ（</a:t>
            </a:r>
            <a:r>
              <a:rPr lang="en-US" altLang="ja-JP" sz="1300" b="1" dirty="0">
                <a:solidFill>
                  <a:srgbClr val="1E2761"/>
                </a:solidFill>
                <a:latin typeface="メイリオ"/>
                <a:ea typeface="メイリオ"/>
                <a:cs typeface="メイリオ"/>
              </a:rPr>
              <a:t>4</a:t>
            </a:r>
            <a:r>
              <a:rPr lang="en-US" sz="1300" b="1" dirty="0">
                <a:solidFill>
                  <a:srgbClr val="1E2761"/>
                </a:solidFill>
                <a:latin typeface="メイリオ"/>
                <a:ea typeface="メイリオ"/>
                <a:cs typeface="メイリオ"/>
              </a:rPr>
              <a:t>-8</a:t>
            </a:r>
            <a:r>
              <a:rPr lang="ja-JP" altLang="en-US" sz="1300" b="1" dirty="0">
                <a:solidFill>
                  <a:srgbClr val="1E2761"/>
                </a:solidFill>
                <a:latin typeface="メイリオ"/>
                <a:ea typeface="メイリオ"/>
                <a:cs typeface="メイリオ"/>
              </a:rPr>
              <a:t>本</a:t>
            </a:r>
            <a:r>
              <a:rPr lang="en-US" sz="1300" b="1" dirty="0">
                <a:solidFill>
                  <a:srgbClr val="1E2761"/>
                </a:solidFill>
                <a:latin typeface="メイリオ"/>
                <a:ea typeface="メイリオ"/>
                <a:cs typeface="メイリオ"/>
              </a:rPr>
              <a:t>）</a:t>
            </a:r>
            <a:endParaRPr lang="en-US" sz="1300" dirty="0">
              <a:latin typeface="メイリオ"/>
              <a:ea typeface="メイリオ"/>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a:ea typeface="メイリオ"/>
                <a:cs typeface="メイリオ"/>
              </a:rPr>
              <a:t>友だち追加直後〜成約誘導まで</a:t>
            </a:r>
            <a:endParaRPr lang="en-US" sz="1000" dirty="0">
              <a:latin typeface="メイリオ"/>
              <a:ea typeface="メイリオ"/>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03</a:t>
            </a:r>
            <a:endParaRPr lang="en-US" sz="1300" dirty="0">
              <a:latin typeface="メイリオ"/>
              <a:ea typeface="メイリオ"/>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a:ea typeface="メイリオ"/>
                <a:cs typeface="メイリオ"/>
              </a:rPr>
              <a:t>アンケート設計（直接関与</a:t>
            </a:r>
            <a:r>
              <a:rPr lang="en-US" altLang="ja-JP" sz="1300" b="1" dirty="0">
                <a:solidFill>
                  <a:srgbClr val="1E2761"/>
                </a:solidFill>
                <a:latin typeface="メイリオ"/>
                <a:ea typeface="メイリオ"/>
                <a:cs typeface="メイリオ"/>
              </a:rPr>
              <a:t> / </a:t>
            </a:r>
            <a:r>
              <a:rPr lang="en-US" altLang="ja-JP" sz="1300" b="1" dirty="0" err="1">
                <a:solidFill>
                  <a:srgbClr val="1E2761"/>
                </a:solidFill>
                <a:latin typeface="メイリオ"/>
                <a:ea typeface="メイリオ"/>
                <a:cs typeface="メイリオ"/>
              </a:rPr>
              <a:t>診断型</a:t>
            </a:r>
            <a:r>
              <a:rPr lang="en-US" altLang="ja-JP" sz="1300" b="1" dirty="0">
                <a:solidFill>
                  <a:srgbClr val="1E2761"/>
                </a:solidFill>
                <a:latin typeface="メイリオ"/>
                <a:ea typeface="メイリオ"/>
                <a:cs typeface="メイリオ"/>
              </a:rPr>
              <a:t>）</a:t>
            </a:r>
            <a:endParaRPr lang="en-US" altLang="ja-JP" sz="1300" dirty="0">
              <a:latin typeface="メイリオ"/>
              <a:ea typeface="メイリオ"/>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a:ea typeface="メイリオ"/>
                <a:cs typeface="メイリオ"/>
              </a:rPr>
              <a:t>リード有効化＋長期追客セグメント戦略</a:t>
            </a:r>
            <a:endParaRPr lang="en-US" altLang="ja-JP" sz="1000" dirty="0">
              <a:latin typeface="メイリオ"/>
              <a:ea typeface="メイリオ"/>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04</a:t>
            </a:r>
            <a:endParaRPr lang="en-US" sz="1300" dirty="0">
              <a:latin typeface="メイリオ"/>
              <a:ea typeface="メイリオ"/>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a:ea typeface="メイリオ"/>
                <a:cs typeface="メイリオ"/>
              </a:rPr>
              <a:t>セグメント設定</a:t>
            </a:r>
            <a:endParaRPr lang="en-US" sz="1300" dirty="0">
              <a:latin typeface="メイリオ"/>
              <a:ea typeface="メイリオ"/>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a:ea typeface="メイリオ"/>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a:ea typeface="メイリオ"/>
                <a:cs typeface="メイリオ"/>
              </a:rPr>
              <a:t>WEB</a:t>
            </a:r>
            <a:r>
              <a:rPr lang="ja-JP" altLang="en-US" sz="1000" dirty="0">
                <a:latin typeface="メイリオ"/>
                <a:ea typeface="メイリオ"/>
                <a:cs typeface="メイリオ"/>
              </a:rPr>
              <a:t>サイトアクション、</a:t>
            </a:r>
            <a:r>
              <a:rPr lang="en-US" altLang="ja-JP" sz="1000" dirty="0">
                <a:latin typeface="メイリオ"/>
                <a:ea typeface="メイリオ"/>
                <a:cs typeface="メイリオ"/>
              </a:rPr>
              <a:t>LINE</a:t>
            </a:r>
            <a:r>
              <a:rPr lang="ja-JP" altLang="en-US" sz="1000" dirty="0">
                <a:latin typeface="メイリオ"/>
                <a:ea typeface="メイリオ"/>
                <a:cs typeface="メイリオ"/>
              </a:rPr>
              <a:t>上アクションのスコアリング 等を活用</a:t>
            </a:r>
            <a:endParaRPr lang="en-US" altLang="ja-JP" sz="1000" dirty="0">
              <a:latin typeface="メイリオ"/>
              <a:ea typeface="メイリオ"/>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a:ea typeface="メイリオ"/>
                <a:cs typeface="メイリオ"/>
              </a:rPr>
              <a:t>05</a:t>
            </a:r>
            <a:endParaRPr lang="en-US" sz="1300" dirty="0">
              <a:latin typeface="メイリオ"/>
              <a:ea typeface="メイリオ"/>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a:ea typeface="メイリオ"/>
                <a:cs typeface="メイリオ"/>
              </a:rPr>
              <a:t>アンケート設計（直接関与</a:t>
            </a:r>
            <a:r>
              <a:rPr lang="en-US" altLang="ja-JP" sz="1300" b="1" dirty="0">
                <a:solidFill>
                  <a:srgbClr val="1E2761"/>
                </a:solidFill>
                <a:latin typeface="メイリオ"/>
                <a:ea typeface="メイリオ"/>
                <a:cs typeface="メイリオ"/>
              </a:rPr>
              <a:t> / </a:t>
            </a:r>
            <a:r>
              <a:rPr lang="en-US" altLang="ja-JP" sz="1300" b="1" dirty="0" err="1">
                <a:solidFill>
                  <a:srgbClr val="1E2761"/>
                </a:solidFill>
                <a:latin typeface="メイリオ"/>
                <a:ea typeface="メイリオ"/>
                <a:cs typeface="メイリオ"/>
              </a:rPr>
              <a:t>診断型</a:t>
            </a:r>
            <a:r>
              <a:rPr lang="en-US" altLang="ja-JP" sz="1300" b="1" dirty="0">
                <a:solidFill>
                  <a:srgbClr val="1E2761"/>
                </a:solidFill>
                <a:latin typeface="メイリオ"/>
                <a:ea typeface="メイリオ"/>
                <a:cs typeface="メイリオ"/>
              </a:rPr>
              <a:t>）</a:t>
            </a:r>
            <a:endParaRPr lang="en-US" altLang="ja-JP" sz="1300" dirty="0">
              <a:latin typeface="メイリオ"/>
              <a:ea typeface="メイリオ"/>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a:ea typeface="メイリオ"/>
                <a:cs typeface="メイリオ"/>
              </a:rPr>
              <a:t>リード有効化＋長期追客セグメント戦略</a:t>
            </a:r>
            <a:endParaRPr lang="en-US" altLang="ja-JP" sz="1000" dirty="0">
              <a:latin typeface="メイリオ"/>
              <a:ea typeface="メイリオ"/>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a:ea typeface="メイリオ"/>
                <a:cs typeface="メイリオ"/>
              </a:rPr>
              <a:t>06</a:t>
            </a:r>
            <a:endParaRPr lang="en-US" sz="1300" dirty="0">
              <a:latin typeface="メイリオ"/>
              <a:ea typeface="メイリオ"/>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a:ea typeface="メイリオ"/>
                <a:cs typeface="メイリオ"/>
              </a:rPr>
              <a:t>季節・時期ごとの企画配信</a:t>
            </a:r>
            <a:endParaRPr lang="en-US" altLang="ja-JP" sz="1300" dirty="0">
              <a:latin typeface="メイリオ"/>
              <a:ea typeface="メイリオ"/>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a:ea typeface="メイリオ"/>
                <a:cs typeface="メイリオ"/>
              </a:rPr>
              <a:t>繁忙期に連動</a:t>
            </a:r>
            <a:r>
              <a:rPr lang="ja-JP" altLang="en-US" sz="1000" dirty="0">
                <a:solidFill>
                  <a:srgbClr val="64748B"/>
                </a:solidFill>
                <a:latin typeface="メイリオ"/>
                <a:ea typeface="メイリオ"/>
                <a:cs typeface="メイリオ"/>
              </a:rPr>
              <a:t>・各ユーザー層をターゲットと</a:t>
            </a:r>
            <a:r>
              <a:rPr lang="en-US" altLang="ja-JP" sz="1000" dirty="0" err="1">
                <a:solidFill>
                  <a:srgbClr val="64748B"/>
                </a:solidFill>
                <a:latin typeface="メイリオ"/>
                <a:ea typeface="メイリオ"/>
                <a:cs typeface="メイリオ"/>
              </a:rPr>
              <a:t>したキャンペーン案</a:t>
            </a:r>
            <a:endParaRPr lang="en-US" altLang="ja-JP" sz="1000" dirty="0">
              <a:latin typeface="メイリオ"/>
              <a:ea typeface="メイリオ"/>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a:ea typeface="メイリオ"/>
                <a:cs typeface="メイリオ"/>
              </a:rPr>
              <a:t>07</a:t>
            </a:r>
            <a:endParaRPr lang="en-US" sz="1300" dirty="0">
              <a:latin typeface="メイリオ"/>
              <a:ea typeface="メイリオ"/>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a:ea typeface="メイリオ"/>
                <a:cs typeface="メイリオ"/>
              </a:rPr>
              <a:t>各種設定の更新・改善</a:t>
            </a:r>
            <a:endParaRPr lang="en-US" altLang="ja-JP" sz="1300" dirty="0">
              <a:latin typeface="メイリオ"/>
              <a:ea typeface="メイリオ"/>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a:ea typeface="メイリオ"/>
                <a:cs typeface="メイリオ"/>
              </a:rPr>
              <a:t>あいさつメッセージ、リッチメニュー、</a:t>
            </a:r>
            <a:r>
              <a:rPr lang="en-US" altLang="ja-JP" sz="1000" dirty="0">
                <a:latin typeface="メイリオ"/>
                <a:ea typeface="メイリオ"/>
                <a:cs typeface="メイリオ"/>
              </a:rPr>
              <a:t>LP</a:t>
            </a:r>
            <a:r>
              <a:rPr lang="ja-JP" altLang="en-US" sz="1000" dirty="0">
                <a:latin typeface="メイリオ"/>
                <a:ea typeface="メイリオ"/>
                <a:cs typeface="メイリオ"/>
              </a:rPr>
              <a:t>の改修（</a:t>
            </a:r>
            <a:r>
              <a:rPr lang="en-US" altLang="ja-JP" sz="1000" dirty="0">
                <a:latin typeface="メイリオ"/>
                <a:ea typeface="メイリオ"/>
                <a:cs typeface="メイリオ"/>
              </a:rPr>
              <a:t>※LP</a:t>
            </a:r>
            <a:r>
              <a:rPr lang="ja-JP" altLang="en-US" sz="1000" dirty="0">
                <a:latin typeface="メイリオ"/>
                <a:ea typeface="メイリオ"/>
                <a:cs typeface="メイリオ"/>
              </a:rPr>
              <a:t>は別途費用）</a:t>
            </a:r>
            <a:endParaRPr lang="en-US" altLang="ja-JP" sz="1000" dirty="0">
              <a:latin typeface="メイリオ"/>
              <a:ea typeface="メイリオ"/>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a:ea typeface="メイリオ"/>
                <a:cs typeface="メイリオ"/>
              </a:rPr>
              <a:t>&lt;</a:t>
            </a:r>
            <a:r>
              <a:rPr kumimoji="1" lang="ja-JP" altLang="en-US" b="1" dirty="0">
                <a:solidFill>
                  <a:schemeClr val="bg1"/>
                </a:solidFill>
                <a:latin typeface="メイリオ"/>
                <a:ea typeface="メイリオ"/>
                <a:cs typeface="メイリオ"/>
              </a:rPr>
              <a:t>初期費用</a:t>
            </a:r>
            <a:r>
              <a:rPr kumimoji="1" lang="en-US" altLang="ja-JP" b="1" dirty="0">
                <a:solidFill>
                  <a:schemeClr val="bg1"/>
                </a:solidFill>
                <a:latin typeface="メイリオ"/>
                <a:ea typeface="メイリオ"/>
                <a:cs typeface="メイリオ"/>
              </a:rPr>
              <a:t>&gt;</a:t>
            </a:r>
            <a:endParaRPr kumimoji="1" lang="ja-JP" altLang="en-US" b="1" dirty="0">
              <a:solidFill>
                <a:schemeClr val="bg1"/>
              </a:solidFill>
              <a:latin typeface="メイリオ"/>
              <a:ea typeface="メイリオ"/>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a:ea typeface="メイリオ"/>
                <a:cs typeface="メイリオ"/>
              </a:rPr>
              <a:t>&lt;</a:t>
            </a:r>
            <a:r>
              <a:rPr kumimoji="1" lang="ja-JP" altLang="en-US" b="1" dirty="0">
                <a:solidFill>
                  <a:schemeClr val="bg1"/>
                </a:solidFill>
                <a:latin typeface="メイリオ"/>
                <a:ea typeface="メイリオ"/>
                <a:cs typeface="メイリオ"/>
              </a:rPr>
              <a:t>月額費用</a:t>
            </a:r>
            <a:r>
              <a:rPr kumimoji="1" lang="en-US" altLang="ja-JP" b="1" dirty="0">
                <a:solidFill>
                  <a:schemeClr val="bg1"/>
                </a:solidFill>
                <a:latin typeface="メイリオ"/>
                <a:ea typeface="メイリオ"/>
                <a:cs typeface="メイリオ"/>
              </a:rPr>
              <a:t>&gt;</a:t>
            </a:r>
            <a:endParaRPr kumimoji="1" lang="ja-JP" altLang="en-US" b="1" dirty="0">
              <a:solidFill>
                <a:schemeClr val="bg1"/>
              </a:solidFill>
              <a:latin typeface="メイリオ"/>
              <a:ea typeface="メイリオ"/>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FF0000"/>
                </a:solidFill>
                <a:latin typeface="メイリオ"/>
                <a:ea typeface="メイリオ"/>
                <a:cs typeface="メイリオ"/>
              </a:rPr>
              <a:t>※</a:t>
            </a:r>
            <a:r>
              <a:rPr kumimoji="1" lang="ja-JP" altLang="en-US" sz="1000" dirty="0">
                <a:solidFill>
                  <a:srgbClr val="FF0000"/>
                </a:solidFill>
                <a:latin typeface="メイリオ"/>
                <a:ea typeface="メイリオ"/>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FFF00">
              <a:alpha val="70000"/>
            </a:srgb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a:ea typeface="メイリオ"/>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a:ea typeface="メイリオ"/>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a:ea typeface="メイリオ"/>
                <a:cs typeface="メイリオ"/>
              </a:rPr>
              <a:t>01</a:t>
            </a:r>
            <a:endParaRPr lang="en-US" sz="1300" dirty="0">
              <a:latin typeface="メイリオ"/>
              <a:ea typeface="メイリオ"/>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a:ea typeface="メイリオ"/>
                <a:cs typeface="メイリオ"/>
              </a:rPr>
              <a:t>05</a:t>
            </a:r>
            <a:endParaRPr lang="en-US" altLang="ja-JP" sz="1400" dirty="0">
              <a:latin typeface="メイリオ"/>
              <a:ea typeface="メイリオ"/>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a:ea typeface="メイリオ"/>
                <a:cs typeface="メイリオ"/>
              </a:rPr>
              <a:t>～　　　 の修正・調整も</a:t>
            </a:r>
            <a:endParaRPr lang="en-US" altLang="ja-JP" sz="1400" b="1" dirty="0">
              <a:latin typeface="メイリオ"/>
              <a:ea typeface="メイリオ"/>
              <a:cs typeface="メイリオ"/>
            </a:endParaRPr>
          </a:p>
          <a:p>
            <a:endParaRPr kumimoji="1" lang="en-US" altLang="ja-JP" sz="1400" b="1" dirty="0">
              <a:latin typeface="メイリオ"/>
              <a:ea typeface="メイリオ"/>
              <a:cs typeface="メイリオ"/>
            </a:endParaRPr>
          </a:p>
          <a:p>
            <a:r>
              <a:rPr lang="ja-JP" altLang="en-US" sz="1400" b="1" dirty="0">
                <a:latin typeface="メイリオ"/>
                <a:ea typeface="メイリオ"/>
                <a:cs typeface="メイリオ"/>
              </a:rPr>
              <a:t>月次対応内に含む</a:t>
            </a:r>
            <a:endParaRPr kumimoji="1" lang="en-US" altLang="ja-JP" sz="1400" b="1" dirty="0">
              <a:latin typeface="メイリオ"/>
              <a:ea typeface="メイリオ"/>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a:ea typeface="メイリオ"/>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a:ea typeface="メイリオ"/>
                <a:cs typeface="メイリオ"/>
                <a:sym typeface="Meiryo"/>
              </a:rPr>
              <a:t>LINE公式アカウントの運用業務・クリエイティブ制作業務の一部のみのご依頼も可能</a:t>
            </a:r>
            <a:r>
              <a:rPr lang="ja-JP" altLang="en-US" sz="1600" b="1" dirty="0">
                <a:latin typeface="メイリオ"/>
                <a:ea typeface="メイリオ"/>
                <a:cs typeface="メイリオ"/>
                <a:sym typeface="Meiryo"/>
              </a:rPr>
              <a:t/>
            </a:r>
            <a:r>
              <a:rPr lang="en-US" altLang="ja-JP" sz="1600" b="1" dirty="0">
                <a:latin typeface="メイリオ"/>
                <a:ea typeface="メイリオ"/>
                <a:cs typeface="メイリオ"/>
                <a:sym typeface="Meiryo"/>
              </a:rPr>
              <a:t/>
            </a:r>
            <a:r>
              <a:rPr lang="ja-JP" altLang="en-US" sz="1600" b="1" dirty="0">
                <a:latin typeface="メイリオ"/>
                <a:ea typeface="メイリオ"/>
                <a:cs typeface="メイリオ"/>
                <a:sym typeface="Meiryo"/>
              </a:rPr>
              <a:t/>
            </a:r>
            <a:endParaRPr lang="en-US" altLang="ja-JP" sz="1600" b="1" dirty="0">
              <a:latin typeface="メイリオ"/>
              <a:ea typeface="メイリオ"/>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a:ea typeface="メイリオ"/>
                <a:cs typeface="メイリオ"/>
                <a:sym typeface="Meiryo"/>
              </a:rPr>
              <a:t>&lt;</a:t>
            </a:r>
            <a:r>
              <a:rPr lang="ja-JP" altLang="en-US" sz="1050" dirty="0">
                <a:solidFill>
                  <a:schemeClr val="tx1">
                    <a:lumMod val="65000"/>
                    <a:lumOff val="35000"/>
                  </a:schemeClr>
                </a:solidFill>
                <a:latin typeface="メイリオ"/>
                <a:ea typeface="メイリオ"/>
                <a:cs typeface="メイリオ"/>
                <a:sym typeface="Meiryo"/>
              </a:rPr>
              <a:t>追加作業における費用感　</a:t>
            </a:r>
            <a:r>
              <a:rPr lang="en-US" altLang="ja-JP" sz="900" dirty="0">
                <a:solidFill>
                  <a:srgbClr val="FF0000"/>
                </a:solidFill>
                <a:latin typeface="メイリオ"/>
                <a:ea typeface="メイリオ"/>
                <a:cs typeface="メイリオ"/>
                <a:sym typeface="Meiryo"/>
              </a:rPr>
              <a:t>※</a:t>
            </a:r>
            <a:r>
              <a:rPr lang="ja-JP" altLang="en-US" sz="900" dirty="0">
                <a:solidFill>
                  <a:srgbClr val="FF0000"/>
                </a:solidFill>
                <a:latin typeface="メイリオ"/>
                <a:ea typeface="メイリオ"/>
                <a:cs typeface="メイリオ"/>
                <a:sym typeface="Meiryo"/>
              </a:rPr>
              <a:t>作業量により変動する可能性がございます</a:t>
            </a:r>
            <a:r>
              <a:rPr lang="en-US" altLang="ja-JP" sz="1050" dirty="0">
                <a:solidFill>
                  <a:schemeClr val="tx1">
                    <a:lumMod val="65000"/>
                    <a:lumOff val="35000"/>
                  </a:schemeClr>
                </a:solidFill>
                <a:latin typeface="メイリオ"/>
                <a:ea typeface="メイリオ"/>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a:ea typeface="メイリオ"/>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a:ea typeface="メイリオ"/>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a:ea typeface="メイリオ"/>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a:ea typeface="メイリオ"/>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a:ea typeface="メイリオ"/>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a:ea typeface="メイリオ"/>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a:ea typeface="メイリオ"/>
                          <a:cs typeface="メイリオ"/>
                        </a:rPr>
                        <a:t>API</a:t>
                      </a:r>
                      <a:r>
                        <a:rPr lang="ja-JP" altLang="en-US" sz="1100" b="0" i="0" u="none" strike="noStrike" dirty="0">
                          <a:solidFill>
                            <a:srgbClr val="000000"/>
                          </a:solidFill>
                          <a:effectLst/>
                          <a:latin typeface="メイリオ"/>
                          <a:ea typeface="メイリオ"/>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ID</a:t>
                      </a:r>
                      <a:r>
                        <a:rPr lang="ja-JP" altLang="en-US" sz="1100" b="0" i="0" u="none" strike="noStrike">
                          <a:solidFill>
                            <a:srgbClr val="000000"/>
                          </a:solidFill>
                          <a:effectLst/>
                          <a:latin typeface="メイリオ"/>
                          <a:ea typeface="メイリオ"/>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a:ea typeface="メイリオ"/>
                          <a:cs typeface="メイリオ"/>
                        </a:rPr>
                        <a:t>¥200,000~</a:t>
                      </a:r>
                      <a:endParaRPr lang="en-US" altLang="ja-JP" sz="2800" b="0" i="0" u="none" strike="noStrike" dirty="0">
                        <a:solidFill>
                          <a:schemeClr val="tx1">
                            <a:lumMod val="50000"/>
                            <a:lumOff val="50000"/>
                          </a:schemeClr>
                        </a:solidFill>
                        <a:effectLst/>
                        <a:latin typeface="メイリオ"/>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LINE</a:t>
                      </a:r>
                      <a:r>
                        <a:rPr lang="ja-JP" altLang="en-US" sz="1100" b="0" i="0" u="none" strike="noStrike">
                          <a:solidFill>
                            <a:srgbClr val="000000"/>
                          </a:solidFill>
                          <a:effectLst/>
                          <a:latin typeface="メイリオ"/>
                          <a:ea typeface="メイリオ"/>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a:ea typeface="メイリオ"/>
                          <a:cs typeface="メイリオ"/>
                        </a:rPr>
                        <a:t>¥0</a:t>
                      </a:r>
                      <a:endParaRPr lang="en-US" altLang="ja-JP" sz="2800" b="0" i="0" u="none" strike="noStrike" dirty="0">
                        <a:solidFill>
                          <a:schemeClr val="tx1">
                            <a:lumMod val="50000"/>
                            <a:lumOff val="50000"/>
                          </a:schemeClr>
                        </a:solidFill>
                        <a:effectLst/>
                        <a:latin typeface="メイリオ"/>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a:ea typeface="メイリオ"/>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a:ea typeface="メイリオ"/>
                          <a:cs typeface="メイリオ"/>
                        </a:rPr>
                        <a:t>KW</a:t>
                      </a:r>
                      <a:r>
                        <a:rPr lang="ja-JP" altLang="en-US" sz="1100" b="0" i="0" u="none" strike="noStrike" dirty="0">
                          <a:solidFill>
                            <a:srgbClr val="000000"/>
                          </a:solidFill>
                          <a:effectLst/>
                          <a:latin typeface="メイリオ"/>
                          <a:ea typeface="メイリオ"/>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a:ea typeface="メイリオ"/>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a:ea typeface="メイリオ"/>
                          <a:cs typeface="メイリオ"/>
                        </a:rPr>
                        <a:t>LINE</a:t>
                      </a:r>
                      <a:r>
                        <a:rPr lang="ja-JP" altLang="en-US" sz="1100" b="0" i="0" u="none" strike="noStrike">
                          <a:solidFill>
                            <a:srgbClr val="000000"/>
                          </a:solidFill>
                          <a:effectLst/>
                          <a:latin typeface="メイリオ"/>
                          <a:ea typeface="メイリオ"/>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チャット対応</a:t>
                      </a:r>
                      <a:r>
                        <a:rPr lang="ja-JP" altLang="en-US" sz="700" b="0" i="0" u="none" strike="noStrike" dirty="0">
                          <a:solidFill>
                            <a:srgbClr val="FF0000"/>
                          </a:solidFill>
                          <a:effectLst/>
                          <a:latin typeface="メイリオ"/>
                          <a:ea typeface="メイリオ"/>
                          <a:cs typeface="メイリオ"/>
                        </a:rPr>
                        <a:t> </a:t>
                      </a:r>
                      <a:r>
                        <a:rPr lang="en-US" altLang="ja-JP" sz="700" b="0" i="0" u="none" strike="noStrike" dirty="0">
                          <a:solidFill>
                            <a:srgbClr val="FF0000"/>
                          </a:solidFill>
                          <a:effectLst/>
                          <a:latin typeface="メイリオ"/>
                          <a:ea typeface="メイリオ"/>
                          <a:cs typeface="メイリオ"/>
                        </a:rPr>
                        <a:t>※</a:t>
                      </a:r>
                      <a:r>
                        <a:rPr lang="ja-JP" altLang="en-US" sz="700" b="0" i="0" u="none" strike="noStrike" dirty="0">
                          <a:solidFill>
                            <a:srgbClr val="FF0000"/>
                          </a:solidFill>
                          <a:effectLst/>
                          <a:latin typeface="メイリオ"/>
                          <a:ea typeface="メイリオ"/>
                          <a:cs typeface="メイリオ"/>
                        </a:rPr>
                        <a:t>サポートは可能</a:t>
                      </a:r>
                      <a:endParaRPr lang="ja-JP" altLang="en-US" sz="1100" b="0" i="0" u="none" strike="noStrike" dirty="0">
                        <a:solidFill>
                          <a:srgbClr val="FF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¥100,000</a:t>
                      </a:r>
                      <a:r>
                        <a:rPr lang="ja-JP" altLang="en-US" sz="1000" b="0" i="0" u="none" strike="noStrike" dirty="0">
                          <a:solidFill>
                            <a:srgbClr val="000000"/>
                          </a:solidFill>
                          <a:effectLst/>
                          <a:latin typeface="メイリオ"/>
                          <a:ea typeface="メイリオ"/>
                          <a:cs typeface="メイリオ"/>
                        </a:rPr>
                        <a:t>～</a:t>
                      </a:r>
                      <a:endParaRPr lang="en-US" altLang="ja-JP" sz="10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a:ea typeface="メイリオ"/>
                          <a:cs typeface="メイリオ"/>
                        </a:rPr>
                        <a:t>件数により変動</a:t>
                      </a: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a:ea typeface="メイリオ"/>
                          <a:cs typeface="メイリオ"/>
                        </a:rPr>
                        <a:t>GA(CRM)</a:t>
                      </a:r>
                      <a:r>
                        <a:rPr lang="ja-JP" altLang="en-US" sz="1100" b="0" i="0" u="none" strike="noStrike" dirty="0">
                          <a:solidFill>
                            <a:srgbClr val="000000"/>
                          </a:solidFill>
                          <a:effectLst/>
                          <a:latin typeface="メイリオ"/>
                          <a:ea typeface="メイリオ"/>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a:ea typeface="メイリオ"/>
                          <a:cs typeface="メイリオ"/>
                        </a:rPr>
                        <a:t>画像</a:t>
                      </a:r>
                      <a:r>
                        <a:rPr lang="en-US" altLang="ja-JP" sz="600" b="0" i="0" u="none" strike="noStrike" dirty="0">
                          <a:solidFill>
                            <a:srgbClr val="000000"/>
                          </a:solidFill>
                          <a:effectLst/>
                          <a:latin typeface="メイリオ"/>
                          <a:ea typeface="メイリオ"/>
                          <a:cs typeface="メイリオ"/>
                        </a:rPr>
                        <a:t>1</a:t>
                      </a:r>
                      <a:r>
                        <a:rPr lang="ja-JP" altLang="en-US" sz="600" b="0" i="0" u="none" strike="noStrike" dirty="0">
                          <a:solidFill>
                            <a:srgbClr val="000000"/>
                          </a:solidFill>
                          <a:effectLst/>
                          <a:latin typeface="メイリオ"/>
                          <a:ea typeface="メイリオ"/>
                          <a:cs typeface="メイリオ"/>
                        </a:rPr>
                        <a:t>枚での想定</a:t>
                      </a:r>
                      <a:endParaRPr lang="en-US" altLang="ja-JP" sz="600" b="0" i="0" u="none" strike="noStrike" dirty="0">
                        <a:solidFill>
                          <a:srgbClr val="000000"/>
                        </a:solidFill>
                        <a:effectLst/>
                        <a:latin typeface="メイリオ"/>
                        <a:ea typeface="メイリオ"/>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a:ea typeface="メイリオ"/>
                          <a:cs typeface="メイリオ"/>
                        </a:rPr>
                        <a:t>※</a:t>
                      </a:r>
                      <a:r>
                        <a:rPr lang="ja-JP" altLang="en-US" sz="600" b="0" i="0" u="none" strike="noStrike" dirty="0">
                          <a:solidFill>
                            <a:srgbClr val="000000"/>
                          </a:solidFill>
                          <a:effectLst/>
                          <a:latin typeface="メイリオ"/>
                          <a:ea typeface="メイリオ"/>
                          <a:cs typeface="メイリオ"/>
                        </a:rPr>
                        <a:t>バナー、</a:t>
                      </a:r>
                      <a:r>
                        <a:rPr lang="en-US" altLang="ja-JP" sz="600" b="0" i="0" u="none" strike="noStrike" dirty="0">
                          <a:solidFill>
                            <a:srgbClr val="000000"/>
                          </a:solidFill>
                          <a:effectLst/>
                          <a:latin typeface="メイリオ"/>
                          <a:ea typeface="メイリオ"/>
                          <a:cs typeface="メイリオ"/>
                        </a:rPr>
                        <a:t>HTML</a:t>
                      </a:r>
                      <a:r>
                        <a:rPr lang="ja-JP" altLang="en-US" sz="600" b="0" i="0" u="none" strike="noStrike" dirty="0">
                          <a:solidFill>
                            <a:srgbClr val="000000"/>
                          </a:solidFill>
                          <a:effectLst/>
                          <a:latin typeface="メイリオ"/>
                          <a:ea typeface="メイリオ"/>
                          <a:cs typeface="メイリオ"/>
                        </a:rPr>
                        <a:t>メール等</a:t>
                      </a: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a:ea typeface="メイリオ"/>
                          <a:cs typeface="メイリオ"/>
                        </a:rPr>
                        <a:t>画像</a:t>
                      </a:r>
                      <a:r>
                        <a:rPr lang="en-US" altLang="ja-JP" sz="600" b="0" i="0" u="none" strike="noStrike" dirty="0">
                          <a:solidFill>
                            <a:srgbClr val="000000"/>
                          </a:solidFill>
                          <a:effectLst/>
                          <a:latin typeface="メイリオ"/>
                          <a:ea typeface="メイリオ"/>
                          <a:cs typeface="メイリオ"/>
                        </a:rPr>
                        <a:t>1</a:t>
                      </a:r>
                      <a:r>
                        <a:rPr lang="ja-JP" altLang="en-US" sz="600" b="0" i="0" u="none" strike="noStrike" dirty="0">
                          <a:solidFill>
                            <a:srgbClr val="000000"/>
                          </a:solidFill>
                          <a:effectLst/>
                          <a:latin typeface="メイリオ"/>
                          <a:ea typeface="メイリオ"/>
                          <a:cs typeface="メイリオ"/>
                        </a:rPr>
                        <a:t>枚での想定</a:t>
                      </a:r>
                      <a:endParaRPr lang="en-US" altLang="ja-JP" sz="600" b="0" i="0" u="none" strike="noStrike" dirty="0">
                        <a:solidFill>
                          <a:srgbClr val="000000"/>
                        </a:solidFill>
                        <a:effectLst/>
                        <a:latin typeface="メイリオ"/>
                        <a:ea typeface="メイリオ"/>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a:ea typeface="メイリオ"/>
                          <a:cs typeface="メイリオ"/>
                        </a:rPr>
                        <a:t>※</a:t>
                      </a:r>
                      <a:r>
                        <a:rPr lang="ja-JP" altLang="en-US" sz="600" b="0" i="0" u="none" strike="noStrike" dirty="0">
                          <a:solidFill>
                            <a:srgbClr val="000000"/>
                          </a:solidFill>
                          <a:effectLst/>
                          <a:latin typeface="メイリオ"/>
                          <a:ea typeface="メイリオ"/>
                          <a:cs typeface="メイリオ"/>
                        </a:rPr>
                        <a:t>バナー、</a:t>
                      </a:r>
                      <a:r>
                        <a:rPr lang="en-US" altLang="ja-JP" sz="600" b="0" i="0" u="none" strike="noStrike" dirty="0">
                          <a:solidFill>
                            <a:srgbClr val="000000"/>
                          </a:solidFill>
                          <a:effectLst/>
                          <a:latin typeface="メイリオ"/>
                          <a:ea typeface="メイリオ"/>
                          <a:cs typeface="メイリオ"/>
                        </a:rPr>
                        <a:t>HTML</a:t>
                      </a:r>
                      <a:r>
                        <a:rPr lang="ja-JP" altLang="en-US" sz="600" b="0" i="0" u="none" strike="noStrike" dirty="0">
                          <a:solidFill>
                            <a:srgbClr val="000000"/>
                          </a:solidFill>
                          <a:effectLst/>
                          <a:latin typeface="メイリオ"/>
                          <a:ea typeface="メイリオ"/>
                          <a:cs typeface="メイリオ"/>
                        </a:rPr>
                        <a:t>メール等</a:t>
                      </a: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a:ea typeface="メイリオ"/>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a:ea typeface="メイリオ"/>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a:ea typeface="メイリオ"/>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a:ea typeface="メイリオ"/>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a:ea typeface="メイリオ"/>
                          <a:cs typeface="メイリオ"/>
                        </a:rPr>
                        <a:t>サンクス</a:t>
                      </a:r>
                      <a:r>
                        <a:rPr lang="en-US" altLang="ja-JP" sz="1100" b="0" i="0" u="none" strike="noStrike" dirty="0">
                          <a:solidFill>
                            <a:srgbClr val="000000"/>
                          </a:solidFill>
                          <a:effectLst/>
                          <a:latin typeface="メイリオ"/>
                          <a:ea typeface="メイリオ"/>
                          <a:cs typeface="メイリオ"/>
                        </a:rPr>
                        <a:t>LINE</a:t>
                      </a:r>
                      <a:r>
                        <a:rPr lang="ja-JP" altLang="en-US" sz="1100" b="0" i="0" u="none" strike="noStrike" dirty="0">
                          <a:solidFill>
                            <a:srgbClr val="000000"/>
                          </a:solidFill>
                          <a:effectLst/>
                          <a:latin typeface="メイリオ"/>
                          <a:ea typeface="メイリオ"/>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a:ea typeface="メイリオ"/>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FF0000"/>
                </a:solidFill>
                <a:latin typeface="メイリオ"/>
                <a:ea typeface="メイリオ"/>
                <a:cs typeface="メイリオ"/>
                <a:sym typeface="Meiryo"/>
              </a:rPr>
              <a:t>貴社リソースの状況に応じて都度発注でのご依頼も各単価で対応可能</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a:ea typeface="メイリオ"/>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a:ea typeface="メイリオ"/>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3629572"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a:ea typeface="メイリオ"/>
                <a:cs typeface="メイリオ"/>
              </a:rPr>
              <a:t>サポート体制</a:t>
            </a:r>
            <a:endParaRPr lang="en-US" altLang="ja-IS" sz="3200" b="1" dirty="0">
              <a:solidFill>
                <a:schemeClr val="tx1">
                  <a:lumMod val="75000"/>
                  <a:lumOff val="25000"/>
                </a:schemeClr>
              </a:solidFill>
              <a:latin typeface="メイリオ"/>
              <a:ea typeface="メイリオ"/>
              <a:cs typeface="メイリオ"/>
            </a:endParaRPr>
          </a:p>
        </p:txBody>
      </p:sp>
    </p:spTree>
    <p:extLst>
      <p:ext uri="{BB962C8B-B14F-4D97-AF65-F5344CB8AC3E}">
        <p14:creationId xmlns:p14="http://schemas.microsoft.com/office/powerpoint/2010/main" val="30921340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a:ea typeface="メイリオ"/>
                <a:cs typeface="メイリオ"/>
              </a:rPr>
              <a:t>WEB</a:t>
            </a:r>
            <a:r>
              <a:rPr lang="ja-JP" altLang="en-US" sz="2400" dirty="0">
                <a:solidFill>
                  <a:schemeClr val="bg1"/>
                </a:solidFill>
                <a:latin typeface="メイリオ"/>
                <a:ea typeface="メイリオ"/>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a:ea typeface="メイリオ"/>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a:ea typeface="メイリオ"/>
                <a:cs typeface="メイリオ"/>
              </a:rPr>
              <a:t>レポートサンプル</a:t>
            </a:r>
            <a:endParaRPr lang="en-US" altLang="ja-JP" sz="2400" b="1" dirty="0">
              <a:solidFill>
                <a:schemeClr val="bg1"/>
              </a:solidFill>
              <a:latin typeface="メイリオ"/>
              <a:ea typeface="メイリオ"/>
              <a:cs typeface="メイリオ"/>
            </a:endParaRPr>
          </a:p>
          <a:p>
            <a:pPr algn="ctr"/>
            <a:r>
              <a:rPr lang="ja-JP" altLang="en-US" sz="1400" dirty="0">
                <a:solidFill>
                  <a:schemeClr val="bg1"/>
                </a:solidFill>
                <a:latin typeface="メイリオ"/>
                <a:ea typeface="メイリオ"/>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a:ea typeface="メイリオ"/>
                <a:cs typeface="メイリオ"/>
              </a:rPr>
              <a:t>効果計測</a:t>
            </a:r>
            <a:endParaRPr kumimoji="1" lang="ja-JP" altLang="en-US" sz="1100" dirty="0">
              <a:latin typeface="メイリオ"/>
              <a:ea typeface="メイリオ"/>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API</a:t>
            </a:r>
            <a:r>
              <a:rPr lang="ja-JP" altLang="en-US" sz="1200" b="1" dirty="0">
                <a:latin typeface="メイリオ"/>
                <a:ea typeface="メイリオ"/>
                <a:cs typeface="メイリオ"/>
              </a:rPr>
              <a:t>ツールなし</a:t>
            </a:r>
            <a:endParaRPr kumimoji="1" lang="ja-JP" altLang="en-US" sz="1200" b="1" dirty="0">
              <a:latin typeface="メイリオ"/>
              <a:ea typeface="メイリオ"/>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API</a:t>
            </a:r>
            <a:r>
              <a:rPr kumimoji="1" lang="ja-JP" altLang="en-US" sz="1200" b="1" dirty="0">
                <a:latin typeface="メイリオ"/>
                <a:ea typeface="メイリオ"/>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a:ea typeface="メイリオ"/>
                <a:cs typeface="メイリオ"/>
              </a:rPr>
              <a:t>API</a:t>
            </a:r>
            <a:r>
              <a:rPr lang="ja-JP" altLang="en-US" sz="1400" dirty="0">
                <a:solidFill>
                  <a:schemeClr val="tx1">
                    <a:lumMod val="50000"/>
                    <a:lumOff val="50000"/>
                  </a:schemeClr>
                </a:solidFill>
                <a:latin typeface="メイリオ"/>
                <a:ea typeface="メイリオ"/>
                <a:cs typeface="メイリオ"/>
              </a:rPr>
              <a:t>ツール管理画面上にて</a:t>
            </a:r>
            <a:endParaRPr lang="en-US" altLang="ja-JP" sz="1400" dirty="0">
              <a:solidFill>
                <a:schemeClr val="tx1">
                  <a:lumMod val="50000"/>
                  <a:lumOff val="50000"/>
                </a:schemeClr>
              </a:solidFill>
              <a:latin typeface="メイリオ"/>
              <a:ea typeface="メイリオ"/>
              <a:cs typeface="メイリオ"/>
            </a:endParaRPr>
          </a:p>
          <a:p>
            <a:r>
              <a:rPr lang="ja-JP" altLang="en-US" sz="1400" dirty="0">
                <a:solidFill>
                  <a:schemeClr val="tx1">
                    <a:lumMod val="50000"/>
                    <a:lumOff val="50000"/>
                  </a:schemeClr>
                </a:solidFill>
                <a:latin typeface="メイリオ"/>
                <a:ea typeface="メイリオ"/>
                <a:cs typeface="メイリオ"/>
              </a:rPr>
              <a:t>「特定期間に対する</a:t>
            </a:r>
            <a:r>
              <a:rPr lang="en-US" altLang="ja-JP" sz="1400" dirty="0">
                <a:solidFill>
                  <a:schemeClr val="tx1">
                    <a:lumMod val="50000"/>
                    <a:lumOff val="50000"/>
                  </a:schemeClr>
                </a:solidFill>
                <a:latin typeface="メイリオ"/>
                <a:ea typeface="メイリオ"/>
                <a:cs typeface="メイリオ"/>
              </a:rPr>
              <a:t>CV</a:t>
            </a:r>
            <a:r>
              <a:rPr lang="ja-JP" altLang="en-US" sz="1400" dirty="0">
                <a:solidFill>
                  <a:schemeClr val="tx1">
                    <a:lumMod val="50000"/>
                    <a:lumOff val="50000"/>
                  </a:schemeClr>
                </a:solidFill>
                <a:latin typeface="メイリオ"/>
                <a:ea typeface="メイリオ"/>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a:ea typeface="メイリオ"/>
                <a:cs typeface="メイリオ"/>
              </a:rPr>
              <a:t>CV</a:t>
            </a:r>
            <a:r>
              <a:rPr lang="ja-JP" altLang="en-US" sz="1400" dirty="0">
                <a:solidFill>
                  <a:schemeClr val="tx1">
                    <a:lumMod val="50000"/>
                    <a:lumOff val="50000"/>
                  </a:schemeClr>
                </a:solidFill>
                <a:latin typeface="メイリオ"/>
                <a:ea typeface="メイリオ"/>
                <a:cs typeface="メイリオ"/>
              </a:rPr>
              <a:t>タグの設定に伴い、計測自体は可能だが</a:t>
            </a:r>
            <a:endParaRPr lang="en-US" altLang="ja-JP" sz="1400" dirty="0">
              <a:solidFill>
                <a:schemeClr val="tx1">
                  <a:lumMod val="50000"/>
                  <a:lumOff val="50000"/>
                </a:schemeClr>
              </a:solidFill>
              <a:latin typeface="メイリオ"/>
              <a:ea typeface="メイリオ"/>
              <a:cs typeface="メイリオ"/>
            </a:endParaRPr>
          </a:p>
          <a:p>
            <a:r>
              <a:rPr lang="en-US" altLang="ja-JP" sz="1400" dirty="0">
                <a:solidFill>
                  <a:schemeClr val="tx1">
                    <a:lumMod val="50000"/>
                    <a:lumOff val="50000"/>
                  </a:schemeClr>
                </a:solidFill>
                <a:latin typeface="メイリオ"/>
                <a:ea typeface="メイリオ"/>
                <a:cs typeface="メイリオ"/>
              </a:rPr>
              <a:t>CV</a:t>
            </a:r>
            <a:r>
              <a:rPr lang="ja-JP" altLang="en-US" sz="1400" dirty="0">
                <a:solidFill>
                  <a:schemeClr val="tx1">
                    <a:lumMod val="50000"/>
                    <a:lumOff val="50000"/>
                  </a:schemeClr>
                </a:solidFill>
                <a:latin typeface="メイリオ"/>
                <a:ea typeface="メイリオ"/>
                <a:cs typeface="メイリオ"/>
              </a:rPr>
              <a:t>数</a:t>
            </a:r>
            <a:r>
              <a:rPr lang="en-US" altLang="ja-JP" sz="1400" dirty="0">
                <a:solidFill>
                  <a:schemeClr val="tx1">
                    <a:lumMod val="50000"/>
                    <a:lumOff val="50000"/>
                  </a:schemeClr>
                </a:solidFill>
                <a:latin typeface="メイリオ"/>
                <a:ea typeface="メイリオ"/>
                <a:cs typeface="メイリオ"/>
              </a:rPr>
              <a:t>50</a:t>
            </a:r>
            <a:r>
              <a:rPr lang="ja-JP" altLang="en-US" sz="1400" dirty="0">
                <a:solidFill>
                  <a:schemeClr val="tx1">
                    <a:lumMod val="50000"/>
                    <a:lumOff val="50000"/>
                  </a:schemeClr>
                </a:solidFill>
                <a:latin typeface="メイリオ"/>
                <a:ea typeface="メイリオ"/>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a:ea typeface="メイリオ"/>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a:ea typeface="メイリオ"/>
                <a:cs typeface="メイリオ"/>
              </a:rPr>
              <a:t>API</a:t>
            </a:r>
            <a:r>
              <a:rPr lang="ja-JP" altLang="en-US" sz="1200" b="1" dirty="0">
                <a:latin typeface="メイリオ"/>
                <a:ea typeface="メイリオ"/>
                <a:cs typeface="メイリオ"/>
              </a:rPr>
              <a:t>ツール有無</a:t>
            </a:r>
            <a:endParaRPr lang="en-US" altLang="ja-JP" sz="1200" b="1" dirty="0">
              <a:latin typeface="メイリオ"/>
              <a:ea typeface="メイリオ"/>
              <a:cs typeface="メイリオ"/>
            </a:endParaRPr>
          </a:p>
          <a:p>
            <a:pPr algn="ctr"/>
            <a:r>
              <a:rPr kumimoji="1" lang="ja-JP" altLang="en-US" sz="1200" b="1" dirty="0">
                <a:latin typeface="メイリオ"/>
                <a:ea typeface="メイリオ"/>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a:ea typeface="メイリオ"/>
                <a:cs typeface="メイリオ"/>
              </a:rPr>
              <a:t>定期投稿、シナリオ、リッチメニュー等に設定の</a:t>
            </a:r>
            <a:endParaRPr lang="en-US" altLang="ja-JP" sz="1400" dirty="0">
              <a:latin typeface="メイリオ"/>
              <a:ea typeface="メイリオ"/>
              <a:cs typeface="メイリオ"/>
            </a:endParaRPr>
          </a:p>
          <a:p>
            <a:r>
              <a:rPr lang="ja-JP" altLang="en-US" sz="1400" dirty="0">
                <a:latin typeface="メイリオ"/>
                <a:ea typeface="メイリオ"/>
                <a:cs typeface="メイリオ"/>
              </a:rPr>
              <a:t>リンクについて、</a:t>
            </a:r>
            <a:r>
              <a:rPr lang="en-US" altLang="ja-JP" sz="1400" dirty="0">
                <a:solidFill>
                  <a:srgbClr val="FF0000"/>
                </a:solidFill>
                <a:latin typeface="メイリオ"/>
                <a:ea typeface="メイリオ"/>
                <a:cs typeface="メイリオ"/>
              </a:rPr>
              <a:t>GA</a:t>
            </a:r>
            <a:r>
              <a:rPr lang="ja-JP" altLang="en-US" sz="1400" dirty="0" err="1">
                <a:solidFill>
                  <a:srgbClr val="FF0000"/>
                </a:solidFill>
                <a:latin typeface="メイリオ"/>
                <a:ea typeface="メイリオ"/>
                <a:cs typeface="メイリオ"/>
              </a:rPr>
              <a:t>、</a:t>
            </a:r>
            <a:r>
              <a:rPr lang="en-US" altLang="ja-JP" sz="1400" dirty="0">
                <a:solidFill>
                  <a:srgbClr val="FF0000"/>
                </a:solidFill>
                <a:latin typeface="メイリオ"/>
                <a:ea typeface="メイリオ"/>
                <a:cs typeface="メイリオ"/>
              </a:rPr>
              <a:t>MA</a:t>
            </a:r>
            <a:r>
              <a:rPr lang="ja-JP" altLang="en-US" sz="1400" dirty="0">
                <a:solidFill>
                  <a:srgbClr val="FF0000"/>
                </a:solidFill>
                <a:latin typeface="メイリオ"/>
                <a:ea typeface="メイリオ"/>
                <a:cs typeface="メイリオ"/>
              </a:rPr>
              <a:t>ツールでの計測可能</a:t>
            </a:r>
            <a:r>
              <a:rPr lang="ja-JP" altLang="en-US" sz="1400" dirty="0">
                <a:latin typeface="メイリオ"/>
                <a:ea typeface="メイリオ"/>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a:ea typeface="メイリオ"/>
                <a:cs typeface="メイリオ"/>
              </a:rPr>
              <a:t>DYM</a:t>
            </a:r>
            <a:endParaRPr lang="ja-JP" altLang="en-US" dirty="0">
              <a:latin typeface="メイリオ"/>
              <a:ea typeface="メイリオ"/>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a:ea typeface="メイリオ"/>
                <a:cs typeface="メイリオ"/>
              </a:rPr>
              <a:t>GA</a:t>
            </a:r>
            <a:r>
              <a:rPr kumimoji="1" lang="ja-JP" altLang="en-US" sz="1400" b="1" dirty="0">
                <a:latin typeface="メイリオ"/>
                <a:ea typeface="メイリオ"/>
                <a:cs typeface="メイリオ"/>
              </a:rPr>
              <a:t>レポート（日次）</a:t>
            </a:r>
            <a:r>
              <a:rPr kumimoji="1" lang="ja-JP" altLang="en-US" sz="1100" b="1" dirty="0">
                <a:latin typeface="メイリオ"/>
                <a:ea typeface="メイリオ"/>
                <a:cs typeface="メイリオ"/>
              </a:rPr>
              <a:t> </a:t>
            </a:r>
            <a:r>
              <a:rPr kumimoji="1" lang="en-US" altLang="ja-JP" sz="1100" b="1" dirty="0">
                <a:latin typeface="メイリオ"/>
                <a:ea typeface="メイリオ"/>
                <a:cs typeface="メイリオ"/>
              </a:rPr>
              <a:t>※</a:t>
            </a:r>
            <a:r>
              <a:rPr kumimoji="1" lang="ja-JP" altLang="en-US" sz="1100" b="1" dirty="0">
                <a:latin typeface="メイリオ"/>
                <a:ea typeface="メイリオ"/>
                <a:cs typeface="メイリオ"/>
              </a:rPr>
              <a:t>サンプル</a:t>
            </a:r>
            <a:endParaRPr kumimoji="1" lang="ja-JP" altLang="en-US" sz="1400" b="1" dirty="0">
              <a:latin typeface="メイリオ"/>
              <a:ea typeface="メイリオ"/>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a:ea typeface="メイリオ"/>
                <a:cs typeface="メイリオ"/>
              </a:rPr>
              <a:t>GA</a:t>
            </a:r>
            <a:r>
              <a:rPr kumimoji="1" lang="ja-JP" altLang="en-US" sz="1400" b="1" dirty="0">
                <a:latin typeface="メイリオ"/>
                <a:ea typeface="メイリオ"/>
                <a:cs typeface="メイリオ"/>
              </a:rPr>
              <a:t>レポート（月次）</a:t>
            </a:r>
            <a:r>
              <a:rPr kumimoji="1" lang="ja-JP" altLang="en-US" sz="1100" b="1" dirty="0">
                <a:latin typeface="メイリオ"/>
                <a:ea typeface="メイリオ"/>
                <a:cs typeface="メイリオ"/>
              </a:rPr>
              <a:t> </a:t>
            </a:r>
            <a:r>
              <a:rPr kumimoji="1" lang="en-US" altLang="ja-JP" sz="1100" b="1" dirty="0">
                <a:latin typeface="メイリオ"/>
                <a:ea typeface="メイリオ"/>
                <a:cs typeface="メイリオ"/>
              </a:rPr>
              <a:t>※</a:t>
            </a:r>
            <a:r>
              <a:rPr lang="ja-JP" altLang="en-US" sz="1100" b="1" dirty="0">
                <a:latin typeface="メイリオ"/>
                <a:ea typeface="メイリオ"/>
                <a:cs typeface="メイリオ"/>
              </a:rPr>
              <a:t>サンプル</a:t>
            </a:r>
            <a:endParaRPr kumimoji="1" lang="ja-JP" altLang="en-US" sz="1400" b="1" dirty="0">
              <a:latin typeface="メイリオ"/>
              <a:ea typeface="メイリオ"/>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a:ea typeface="メイリオ"/>
                <a:cs typeface="メイリオ"/>
              </a:rPr>
              <a:t>コンサル費用＋アカウント費用に対する効果を可視化し、課題点を都度確認できる体制に。</a:t>
            </a:r>
            <a:endParaRPr lang="en-US" altLang="ja-JP" sz="1400" dirty="0">
              <a:latin typeface="メイリオ"/>
              <a:ea typeface="メイリオ"/>
              <a:cs typeface="メイリオ"/>
            </a:endParaRPr>
          </a:p>
          <a:p>
            <a:pPr algn="ctr"/>
            <a:r>
              <a:rPr lang="ja-JP" altLang="en-US" sz="1400" dirty="0">
                <a:latin typeface="メイリオ"/>
                <a:ea typeface="メイリオ"/>
                <a:cs typeface="メイリオ"/>
              </a:rPr>
              <a:t>投稿別</a:t>
            </a:r>
            <a:r>
              <a:rPr lang="en-US" altLang="ja-JP" sz="1400" dirty="0">
                <a:latin typeface="メイリオ"/>
                <a:ea typeface="メイリオ"/>
                <a:cs typeface="メイリオ"/>
              </a:rPr>
              <a:t>×</a:t>
            </a:r>
            <a:r>
              <a:rPr lang="ja-JP" altLang="en-US" sz="1400" dirty="0">
                <a:latin typeface="メイリオ"/>
                <a:ea typeface="メイリオ"/>
                <a:cs typeface="メイリオ"/>
              </a:rPr>
              <a:t>セグメント別でデータ化でき、</a:t>
            </a:r>
            <a:r>
              <a:rPr lang="en-US" altLang="ja-JP" sz="1400" dirty="0">
                <a:latin typeface="メイリオ"/>
                <a:ea typeface="メイリオ"/>
                <a:cs typeface="メイリオ"/>
              </a:rPr>
              <a:t>AB</a:t>
            </a:r>
            <a:r>
              <a:rPr lang="ja-JP" altLang="en-US" sz="1400" dirty="0">
                <a:latin typeface="メイリオ"/>
                <a:ea typeface="メイリオ"/>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a:ea typeface="メイリオ"/>
                <a:cs typeface="メイリオ"/>
              </a:rPr>
              <a:t>弊社体制図</a:t>
            </a:r>
            <a:endParaRPr kumimoji="1" lang="ja-JP" altLang="en-US" sz="1600" b="1" dirty="0">
              <a:latin typeface="メイリオ"/>
              <a:ea typeface="メイリオ"/>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a:ea typeface="メイリオ"/>
                <a:cs typeface="メイリオ"/>
              </a:rPr>
              <a:t>　</a:t>
            </a:r>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本プロモーションの戦略立案</a:t>
            </a:r>
            <a:r>
              <a:rPr lang="en-US" altLang="ja-JP" sz="1200" dirty="0">
                <a:solidFill>
                  <a:srgbClr val="1A1A1A"/>
                </a:solidFill>
                <a:latin typeface="メイリオ"/>
                <a:ea typeface="メイリオ"/>
                <a:cs typeface="メイリオ"/>
              </a:rPr>
              <a:t> / </a:t>
            </a:r>
            <a:r>
              <a:rPr lang="en-US" altLang="ja-JP" sz="1200" dirty="0" err="1">
                <a:solidFill>
                  <a:srgbClr val="1A1A1A"/>
                </a:solidFill>
                <a:latin typeface="メイリオ"/>
                <a:ea typeface="メイリオ"/>
                <a:cs typeface="メイリオ"/>
              </a:rPr>
              <a:t>方針決定</a:t>
            </a:r>
            <a:endParaRPr lang="en-US" altLang="ja-JP" sz="1200" dirty="0">
              <a:latin typeface="メイリオ"/>
              <a:ea typeface="メイリオ"/>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アカウント設計</a:t>
            </a:r>
            <a:endParaRPr lang="en-US" altLang="ja-JP" sz="11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運用調整</a:t>
            </a:r>
            <a:endParaRPr lang="en-US" altLang="ja-JP" sz="1100" dirty="0">
              <a:latin typeface="メイリオ"/>
              <a:ea typeface="メイリオ"/>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a:ea typeface="メイリオ"/>
                <a:cs typeface="メイリオ"/>
              </a:rPr>
              <a:t>リス・</a:t>
            </a:r>
            <a:r>
              <a:rPr lang="en-US" altLang="ja-JP" sz="1350" b="1" dirty="0" err="1">
                <a:solidFill>
                  <a:srgbClr val="FFFFFF"/>
                </a:solidFill>
                <a:latin typeface="メイリオ"/>
                <a:ea typeface="メイリオ"/>
                <a:cs typeface="メイリオ"/>
              </a:rPr>
              <a:t>SNS運用</a:t>
            </a:r>
            <a:endParaRPr lang="en-US" altLang="ja-JP" sz="1350" dirty="0">
              <a:latin typeface="メイリオ"/>
              <a:ea typeface="メイリオ"/>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a:ea typeface="メイリオ"/>
                <a:cs typeface="メイリオ"/>
              </a:rPr>
              <a:t>  ・</a:t>
            </a:r>
            <a:r>
              <a:rPr lang="en-US" altLang="ja-JP" sz="1200" dirty="0" err="1">
                <a:solidFill>
                  <a:srgbClr val="1A1A1A"/>
                </a:solidFill>
                <a:latin typeface="メイリオ"/>
                <a:ea typeface="メイリオ"/>
                <a:cs typeface="メイリオ"/>
              </a:rPr>
              <a:t>運用調整</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 ・</a:t>
            </a:r>
            <a:r>
              <a:rPr lang="en-US" altLang="ja-JP" sz="1200" dirty="0" err="1">
                <a:solidFill>
                  <a:srgbClr val="1A1A1A"/>
                </a:solidFill>
                <a:latin typeface="メイリオ"/>
                <a:ea typeface="メイリオ"/>
                <a:cs typeface="メイリオ"/>
              </a:rPr>
              <a:t>入稿作業</a:t>
            </a:r>
            <a:endParaRPr lang="en-US" altLang="ja-JP" sz="1200" dirty="0">
              <a:latin typeface="メイリオ"/>
              <a:ea typeface="メイリオ"/>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a:ea typeface="メイリオ"/>
                <a:cs typeface="メイリオ"/>
              </a:rPr>
              <a:t>運用サポート</a:t>
            </a:r>
            <a:endParaRPr lang="en-US" altLang="ja-JP" sz="1200" dirty="0">
              <a:latin typeface="メイリオ"/>
              <a:ea typeface="メイリオ"/>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a:ea typeface="メイリオ"/>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バナー制作</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LP制作</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動画制作</a:t>
            </a:r>
            <a:endParaRPr lang="en-US" altLang="ja-JP" sz="1200" dirty="0">
              <a:solidFill>
                <a:srgbClr val="1A1A1A"/>
              </a:solidFill>
              <a:latin typeface="メイリオ"/>
              <a:ea typeface="メイリオ"/>
              <a:cs typeface="メイリオ"/>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a:ea typeface="メイリオ"/>
                <a:cs typeface="メイリオ"/>
              </a:rPr>
              <a:t>制作</a:t>
            </a:r>
            <a:endParaRPr lang="en-US" altLang="ja-JP" sz="1200" dirty="0">
              <a:latin typeface="メイリオ"/>
              <a:ea typeface="メイリオ"/>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a:ea typeface="メイリオ"/>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a:ea typeface="メイリオ"/>
              <a:cs typeface="メイリオ"/>
            </a:endParaRPr>
          </a:p>
          <a:p>
            <a:endParaRPr lang="en-US" altLang="ja-JP" sz="11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アカウント設計</a:t>
            </a:r>
            <a:r>
              <a:rPr lang="ja-JP" altLang="en-US"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運用調整</a:t>
            </a:r>
            <a:endParaRPr lang="en-US" altLang="ja-JP" sz="1100" dirty="0">
              <a:solidFill>
                <a:srgbClr val="1A1A1A"/>
              </a:solidFill>
              <a:latin typeface="メイリオ"/>
              <a:ea typeface="メイリオ"/>
              <a:cs typeface="メイリオ"/>
            </a:endParaRPr>
          </a:p>
          <a:p>
            <a:r>
              <a:rPr lang="en-US" altLang="ja-JP" sz="1100" dirty="0">
                <a:solidFill>
                  <a:srgbClr val="1A1A1A"/>
                </a:solidFill>
                <a:latin typeface="メイリオ"/>
                <a:ea typeface="メイリオ"/>
                <a:cs typeface="メイリオ"/>
              </a:rPr>
              <a:t>・</a:t>
            </a:r>
            <a:r>
              <a:rPr lang="en-US" altLang="ja-JP" sz="1100" dirty="0" err="1">
                <a:solidFill>
                  <a:srgbClr val="1A1A1A"/>
                </a:solidFill>
                <a:latin typeface="メイリオ"/>
                <a:ea typeface="メイリオ"/>
                <a:cs typeface="メイリオ"/>
              </a:rPr>
              <a:t>クリエイティブディレクション</a:t>
            </a:r>
            <a:endParaRPr lang="en-US" altLang="ja-JP" sz="1100" dirty="0">
              <a:latin typeface="メイリオ"/>
              <a:ea typeface="メイリオ"/>
              <a:cs typeface="メイリオ"/>
            </a:endParaRPr>
          </a:p>
          <a:p>
            <a:endParaRPr lang="en-US" altLang="ja-JP" sz="1100" dirty="0">
              <a:latin typeface="メイリオ"/>
              <a:ea typeface="メイリオ"/>
              <a:cs typeface="メイリオ"/>
            </a:endParaRPr>
          </a:p>
          <a:p>
            <a:endParaRPr lang="en-US" altLang="ja-JP" sz="1100" dirty="0">
              <a:latin typeface="メイリオ"/>
              <a:ea typeface="メイリオ"/>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FFC000"/>
          </a:solidFill>
          <a:ln w="12700">
            <a:solidFill>
              <a:srgbClr val="1F3864"/>
            </a:solidFill>
            <a:prstDash val="solid"/>
          </a:ln>
        </p:spPr>
        <p:txBody>
          <a:bodyPr anchor="ctr"/>
          <a:lstStyle/>
          <a:p>
            <a:pPr algn="ctr"/>
            <a:r>
              <a:rPr lang="en-US" altLang="ja-JP" sz="1350" b="1" dirty="0" err="1">
                <a:solidFill>
                  <a:srgbClr val="FFFFFF"/>
                </a:solidFill>
                <a:latin typeface="メイリオ"/>
                <a:ea typeface="メイリオ"/>
                <a:cs typeface="メイリオ"/>
              </a:rPr>
              <a:t>LINEOA運用</a:t>
            </a:r>
            <a:endParaRPr lang="en-US" altLang="ja-JP" sz="1350" dirty="0">
              <a:latin typeface="メイリオ"/>
              <a:ea typeface="メイリオ"/>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貴社担当との連絡やり取り全般</a:t>
            </a:r>
            <a:endParaRPr lang="en-US" altLang="ja-JP" sz="1200" dirty="0">
              <a:solidFill>
                <a:srgbClr val="1A1A1A"/>
              </a:solidFill>
              <a:latin typeface="メイリオ"/>
              <a:ea typeface="メイリオ"/>
              <a:cs typeface="メイリオ"/>
            </a:endParaRPr>
          </a:p>
          <a:p>
            <a:r>
              <a:rPr lang="en-US" altLang="ja-JP" sz="1200" dirty="0">
                <a:solidFill>
                  <a:srgbClr val="1A1A1A"/>
                </a:solidFill>
                <a:latin typeface="メイリオ"/>
                <a:ea typeface="メイリオ"/>
                <a:cs typeface="メイリオ"/>
              </a:rPr>
              <a:t>・書</a:t>
            </a:r>
            <a:r>
              <a:rPr lang="ja-JP" altLang="en-US" sz="1200" dirty="0">
                <a:solidFill>
                  <a:srgbClr val="1A1A1A"/>
                </a:solidFill>
                <a:latin typeface="メイリオ"/>
                <a:ea typeface="メイリオ"/>
                <a:cs typeface="メイリオ"/>
              </a:rPr>
              <a:t>類</a:t>
            </a:r>
            <a:r>
              <a:rPr lang="en-US" altLang="ja-JP" sz="1200" dirty="0" err="1">
                <a:solidFill>
                  <a:srgbClr val="1A1A1A"/>
                </a:solidFill>
                <a:latin typeface="メイリオ"/>
                <a:ea typeface="メイリオ"/>
                <a:cs typeface="メイリオ"/>
              </a:rPr>
              <a:t>の作成等、事務面までサポート</a:t>
            </a:r>
            <a:endParaRPr lang="en-US" altLang="ja-JP" sz="1200" dirty="0">
              <a:latin typeface="メイリオ"/>
              <a:ea typeface="メイリオ"/>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a:ea typeface="メイリオ"/>
                <a:cs typeface="メイリオ"/>
              </a:rPr>
              <a:t>営業</a:t>
            </a:r>
            <a:r>
              <a:rPr lang="en-US" altLang="ja-JP" sz="1350" b="1" dirty="0">
                <a:solidFill>
                  <a:srgbClr val="FFFFFF"/>
                </a:solidFill>
                <a:latin typeface="メイリオ"/>
                <a:ea typeface="メイリオ"/>
                <a:cs typeface="メイリオ"/>
              </a:rPr>
              <a:t> / </a:t>
            </a:r>
            <a:r>
              <a:rPr lang="en-US" altLang="ja-JP" sz="1350" b="1" dirty="0" err="1">
                <a:solidFill>
                  <a:srgbClr val="FFFFFF"/>
                </a:solidFill>
                <a:latin typeface="メイリオ"/>
                <a:ea typeface="メイリオ"/>
                <a:cs typeface="メイリオ"/>
              </a:rPr>
              <a:t>フロント対応（サブ</a:t>
            </a:r>
            <a:r>
              <a:rPr lang="en-US" altLang="ja-JP" sz="1350" b="1" dirty="0">
                <a:solidFill>
                  <a:srgbClr val="FFFFFF"/>
                </a:solidFill>
                <a:latin typeface="メイリオ"/>
                <a:ea typeface="メイリオ"/>
                <a:cs typeface="メイリオ"/>
              </a:rPr>
              <a:t>）</a:t>
            </a:r>
            <a:endParaRPr lang="en-US" altLang="ja-JP" sz="1350" dirty="0">
              <a:latin typeface="メイリオ"/>
              <a:ea typeface="メイリオ"/>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a:ea typeface="メイリオ"/>
                <a:cs typeface="メイリオ"/>
              </a:rPr>
              <a:t>広告運用統括・コンサル</a:t>
            </a:r>
            <a:endParaRPr lang="en-US" altLang="ja-JP" sz="1350" dirty="0">
              <a:latin typeface="メイリオ"/>
              <a:ea typeface="メイリオ"/>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a:ea typeface="メイリオ"/>
              <a:cs typeface="メイリオ"/>
            </a:endParaRPr>
          </a:p>
          <a:p>
            <a:r>
              <a:rPr lang="ja-JP" altLang="en-US" sz="1200" dirty="0">
                <a:solidFill>
                  <a:srgbClr val="1A1A1A"/>
                </a:solidFill>
                <a:latin typeface="メイリオ"/>
                <a:ea typeface="メイリオ"/>
                <a:cs typeface="メイリオ"/>
              </a:rPr>
              <a:t>　</a:t>
            </a:r>
            <a:r>
              <a:rPr lang="en-US" altLang="ja-JP" sz="1200" dirty="0">
                <a:solidFill>
                  <a:srgbClr val="1A1A1A"/>
                </a:solidFill>
                <a:latin typeface="メイリオ"/>
                <a:ea typeface="メイリオ"/>
                <a:cs typeface="メイリオ"/>
              </a:rPr>
              <a:t>・</a:t>
            </a:r>
            <a:r>
              <a:rPr lang="en-US" altLang="ja-JP" sz="1200" dirty="0" err="1">
                <a:solidFill>
                  <a:srgbClr val="1A1A1A"/>
                </a:solidFill>
                <a:latin typeface="メイリオ"/>
                <a:ea typeface="メイリオ"/>
                <a:cs typeface="メイリオ"/>
              </a:rPr>
              <a:t>本プロモーションの戦略立案</a:t>
            </a:r>
            <a:r>
              <a:rPr lang="en-US" altLang="ja-JP" sz="1200" dirty="0">
                <a:solidFill>
                  <a:srgbClr val="1A1A1A"/>
                </a:solidFill>
                <a:latin typeface="メイリオ"/>
                <a:ea typeface="メイリオ"/>
                <a:cs typeface="メイリオ"/>
              </a:rPr>
              <a:t> / </a:t>
            </a:r>
            <a:r>
              <a:rPr lang="en-US" altLang="ja-JP" sz="1200" dirty="0" err="1">
                <a:solidFill>
                  <a:srgbClr val="1A1A1A"/>
                </a:solidFill>
                <a:latin typeface="メイリオ"/>
                <a:ea typeface="メイリオ"/>
                <a:cs typeface="メイリオ"/>
              </a:rPr>
              <a:t>方針決定</a:t>
            </a:r>
            <a:r>
              <a:rPr lang="ja-JP" altLang="en-US" sz="1200" dirty="0">
                <a:solidFill>
                  <a:srgbClr val="1A1A1A"/>
                </a:solidFill>
                <a:latin typeface="メイリオ"/>
                <a:ea typeface="メイリオ"/>
                <a:cs typeface="メイリオ"/>
              </a:rPr>
              <a:t>　　　　・貴社ご担当者様との連絡やり取り全般</a:t>
            </a:r>
            <a:endParaRPr lang="en-US" altLang="ja-JP" sz="1200" dirty="0">
              <a:latin typeface="メイリオ"/>
              <a:ea typeface="メイリオ"/>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a:ea typeface="メイリオ"/>
                <a:cs typeface="メイリオ"/>
              </a:rPr>
              <a:t>営業</a:t>
            </a:r>
            <a:r>
              <a:rPr lang="en-US" altLang="ja-JP" sz="1350" b="1" dirty="0">
                <a:solidFill>
                  <a:srgbClr val="FFFFFF"/>
                </a:solidFill>
                <a:latin typeface="メイリオ"/>
                <a:ea typeface="メイリオ"/>
                <a:cs typeface="メイリオ"/>
              </a:rPr>
              <a:t> / </a:t>
            </a:r>
            <a:r>
              <a:rPr lang="en-US" altLang="ja-JP" sz="1350" b="1" dirty="0" err="1">
                <a:solidFill>
                  <a:srgbClr val="FFFFFF"/>
                </a:solidFill>
                <a:latin typeface="メイリオ"/>
                <a:ea typeface="メイリオ"/>
                <a:cs typeface="メイリオ"/>
              </a:rPr>
              <a:t>フロント対応</a:t>
            </a:r>
            <a:r>
              <a:rPr lang="en-US" altLang="ja-JP" sz="1350" b="1" dirty="0">
                <a:solidFill>
                  <a:srgbClr val="FFFFFF"/>
                </a:solidFill>
                <a:latin typeface="メイリオ"/>
                <a:ea typeface="メイリオ"/>
                <a:cs typeface="メイリオ"/>
              </a:rPr>
              <a:t>（</a:t>
            </a:r>
            <a:r>
              <a:rPr lang="ja-JP" altLang="en-US" sz="1350" b="1" dirty="0">
                <a:solidFill>
                  <a:srgbClr val="FFFFFF"/>
                </a:solidFill>
                <a:latin typeface="メイリオ"/>
                <a:ea typeface="メイリオ"/>
                <a:cs typeface="メイリオ"/>
              </a:rPr>
              <a:t>全体統括</a:t>
            </a:r>
            <a:r>
              <a:rPr lang="en-US" altLang="ja-JP" sz="1350" b="1" dirty="0">
                <a:solidFill>
                  <a:srgbClr val="FFFFFF"/>
                </a:solidFill>
                <a:latin typeface="メイリオ"/>
                <a:ea typeface="メイリオ"/>
                <a:cs typeface="メイリオ"/>
              </a:rPr>
              <a:t>）</a:t>
            </a:r>
            <a:r>
              <a:rPr lang="ja-JP" altLang="en-US" sz="1350" b="1" dirty="0">
                <a:solidFill>
                  <a:srgbClr val="FFFFFF"/>
                </a:solidFill>
                <a:latin typeface="メイリオ"/>
                <a:ea typeface="メイリオ"/>
                <a:cs typeface="メイリオ"/>
              </a:rPr>
              <a:t>　</a:t>
            </a:r>
            <a:endParaRPr lang="en-US" altLang="ja-JP" sz="1350" dirty="0">
              <a:latin typeface="メイリオ"/>
              <a:ea typeface="メイリオ"/>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a:ea typeface="メイリオ"/>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STEP1</a:t>
            </a:r>
            <a:endParaRPr kumimoji="1" lang="ja-JP" altLang="en-US" dirty="0">
              <a:solidFill>
                <a:schemeClr val="tx1">
                  <a:lumMod val="50000"/>
                  <a:lumOff val="50000"/>
                </a:schemeClr>
              </a:solidFill>
              <a:latin typeface="メイリオ"/>
              <a:ea typeface="メイリオ"/>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STEP3</a:t>
            </a:r>
            <a:endParaRPr kumimoji="1" lang="ja-JP" altLang="en-US" dirty="0">
              <a:solidFill>
                <a:schemeClr val="tx1">
                  <a:lumMod val="50000"/>
                  <a:lumOff val="50000"/>
                </a:schemeClr>
              </a:solidFill>
              <a:latin typeface="メイリオ"/>
              <a:ea typeface="メイリオ"/>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STEP2</a:t>
            </a:r>
            <a:endParaRPr kumimoji="1" lang="ja-JP" altLang="en-US" dirty="0">
              <a:solidFill>
                <a:schemeClr val="tx1">
                  <a:lumMod val="50000"/>
                  <a:lumOff val="50000"/>
                </a:schemeClr>
              </a:solidFill>
              <a:latin typeface="メイリオ"/>
              <a:ea typeface="メイリオ"/>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STEP4</a:t>
            </a:r>
            <a:endParaRPr kumimoji="1" lang="ja-JP" altLang="en-US" dirty="0">
              <a:solidFill>
                <a:schemeClr val="tx1">
                  <a:lumMod val="50000"/>
                  <a:lumOff val="50000"/>
                </a:schemeClr>
              </a:solidFill>
              <a:latin typeface="メイリオ"/>
              <a:ea typeface="メイリオ"/>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a:ea typeface="メイリオ"/>
                <a:cs typeface="メイリオ"/>
              </a:rPr>
              <a:t>STEP5</a:t>
            </a:r>
            <a:endParaRPr kumimoji="1" lang="ja-JP" altLang="en-US" dirty="0">
              <a:solidFill>
                <a:schemeClr val="tx1">
                  <a:lumMod val="50000"/>
                  <a:lumOff val="50000"/>
                </a:schemeClr>
              </a:solidFill>
              <a:latin typeface="メイリオ"/>
              <a:ea typeface="メイリオ"/>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a:ea typeface="メイリオ"/>
                <a:cs typeface="メイリオ"/>
              </a:rPr>
              <a:t>お申込み（書類締結）</a:t>
            </a:r>
            <a:endParaRPr kumimoji="1" lang="ja-JP" altLang="en-US" dirty="0">
              <a:solidFill>
                <a:schemeClr val="bg1">
                  <a:lumMod val="50000"/>
                </a:schemeClr>
              </a:solidFill>
              <a:latin typeface="メイリオ"/>
              <a:ea typeface="メイリオ"/>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a:ea typeface="メイリオ"/>
                <a:cs typeface="メイリオ"/>
              </a:rPr>
              <a:t>連携の設定 </a:t>
            </a:r>
            <a:r>
              <a:rPr kumimoji="1" lang="en-US" altLang="ja-JP" dirty="0">
                <a:solidFill>
                  <a:schemeClr val="bg1">
                    <a:lumMod val="50000"/>
                  </a:schemeClr>
                </a:solidFill>
                <a:latin typeface="メイリオ"/>
                <a:ea typeface="メイリオ"/>
                <a:cs typeface="メイリオ"/>
              </a:rPr>
              <a:t>/ </a:t>
            </a:r>
            <a:r>
              <a:rPr kumimoji="1" lang="ja-JP" altLang="en-US" dirty="0">
                <a:solidFill>
                  <a:schemeClr val="bg1">
                    <a:lumMod val="50000"/>
                  </a:schemeClr>
                </a:solidFill>
                <a:latin typeface="メイリオ"/>
                <a:ea typeface="メイリオ"/>
                <a:cs typeface="メイリオ"/>
              </a:rPr>
              <a:t>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a:ea typeface="メイリオ"/>
                <a:cs typeface="メイリオ"/>
              </a:rPr>
              <a:t>キックオフ</a:t>
            </a:r>
            <a:r>
              <a:rPr kumimoji="1" lang="en-US" altLang="ja-JP" dirty="0">
                <a:solidFill>
                  <a:schemeClr val="bg1">
                    <a:lumMod val="50000"/>
                  </a:schemeClr>
                </a:solidFill>
                <a:latin typeface="メイリオ"/>
                <a:ea typeface="メイリオ"/>
                <a:cs typeface="メイリオ"/>
              </a:rPr>
              <a:t>MTG</a:t>
            </a:r>
            <a:endParaRPr kumimoji="1" lang="ja-JP" altLang="en-US" dirty="0">
              <a:solidFill>
                <a:schemeClr val="bg1">
                  <a:lumMod val="50000"/>
                </a:schemeClr>
              </a:solidFill>
              <a:latin typeface="メイリオ"/>
              <a:ea typeface="メイリオ"/>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a:ea typeface="メイリオ"/>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a:ea typeface="メイリオ"/>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a:ea typeface="メイリオ"/>
                <a:cs typeface="メイリオ"/>
              </a:rPr>
              <a:t>サイト</a:t>
            </a:r>
            <a:r>
              <a:rPr lang="en-US" altLang="ja-JP" sz="2400" dirty="0">
                <a:latin typeface="メイリオ"/>
                <a:ea typeface="メイリオ"/>
                <a:cs typeface="メイリオ"/>
              </a:rPr>
              <a:t>/LINE</a:t>
            </a:r>
            <a:r>
              <a:rPr lang="ja-JP" altLang="en-US" sz="2400" dirty="0">
                <a:latin typeface="メイリオ"/>
                <a:ea typeface="メイリオ"/>
                <a:cs typeface="メイリオ"/>
              </a:rPr>
              <a:t>上への実装については、約</a:t>
            </a:r>
            <a:r>
              <a:rPr lang="en-US" altLang="ja-JP" sz="2400" dirty="0">
                <a:latin typeface="メイリオ"/>
                <a:ea typeface="メイリオ"/>
                <a:cs typeface="メイリオ"/>
              </a:rPr>
              <a:t>1</a:t>
            </a:r>
            <a:r>
              <a:rPr lang="ja-JP" altLang="en-US" sz="2400" dirty="0">
                <a:latin typeface="メイリオ"/>
                <a:ea typeface="メイリオ"/>
                <a:cs typeface="メイリオ"/>
              </a:rPr>
              <a:t>か月程度を頂き進行。</a:t>
            </a:r>
            <a:endParaRPr lang="ja-JP" altLang="en-US" sz="2400" dirty="0">
              <a:latin typeface="メイリオ"/>
              <a:ea typeface="メイリオ"/>
              <a:cs typeface="メイリオ"/>
            </a:endParaRPr>
          </a:p>
        </p:txBody>
      </p:sp>
      <p:sp>
        <p:nvSpPr>
          <p:cNvPr id="20" name="正方形/長方形 19"/>
          <p:cNvSpPr/>
          <p:nvPr/>
        </p:nvSpPr>
        <p:spPr>
          <a:xfrm>
            <a:off x="4708989" y="5841409"/>
            <a:ext cx="4955203" cy="276999"/>
          </a:xfrm>
          <a:prstGeom prst="rect">
            <a:avLst/>
          </a:prstGeom>
        </p:spPr>
        <p:txBody>
          <a:bodyPr wrap="none">
            <a:spAutoFit/>
          </a:bodyPr>
          <a:lstStyle/>
          <a:p>
            <a:r>
              <a:rPr lang="en-US" altLang="ja-JP" sz="1200" dirty="0">
                <a:solidFill>
                  <a:schemeClr val="tx1">
                    <a:lumMod val="50000"/>
                    <a:lumOff val="50000"/>
                  </a:schemeClr>
                </a:solidFill>
                <a:latin typeface="メイリオ"/>
                <a:ea typeface="メイリオ"/>
                <a:cs typeface="メイリオ"/>
              </a:rPr>
              <a:t>※</a:t>
            </a:r>
            <a:r>
              <a:rPr lang="ja-JP" altLang="en-US" sz="1200" dirty="0">
                <a:solidFill>
                  <a:schemeClr val="tx1">
                    <a:lumMod val="50000"/>
                    <a:lumOff val="50000"/>
                  </a:schemeClr>
                </a:solidFill>
                <a:latin typeface="メイリオ"/>
                <a:ea typeface="メイリオ"/>
                <a:cs typeface="メイリオ"/>
              </a:rPr>
              <a:t>貴社作業・確認にかかる時間により前後する可能性あり</a:t>
            </a:r>
          </a:p>
        </p:txBody>
      </p:sp>
      <p:cxnSp>
        <p:nvCxnSpPr>
          <p:cNvPr id="21" name="直線矢印コネクタ 20"/>
          <p:cNvCxnSpPr/>
          <p:nvPr/>
        </p:nvCxnSpPr>
        <p:spPr>
          <a:xfrm>
            <a:off x="6985106" y="2256762"/>
            <a:ext cx="0" cy="3086100"/>
          </a:xfrm>
          <a:prstGeom prst="straightConnector1">
            <a:avLst/>
          </a:prstGeom>
          <a:ln w="38100">
            <a:solidFill>
              <a:schemeClr val="tx1">
                <a:lumMod val="75000"/>
                <a:lumOff val="2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7042256" y="2130871"/>
            <a:ext cx="742511" cy="276999"/>
          </a:xfrm>
          <a:prstGeom prst="rect">
            <a:avLst/>
          </a:prstGeom>
          <a:solidFill>
            <a:schemeClr val="accent1">
              <a:lumMod val="20000"/>
              <a:lumOff val="80000"/>
            </a:schemeClr>
          </a:solidFill>
        </p:spPr>
        <p:txBody>
          <a:bodyPr wrap="none">
            <a:spAutoFit/>
          </a:bodyPr>
          <a:lstStyle/>
          <a:p>
            <a:r>
              <a:rPr lang="ja-JP" altLang="en-US" sz="1200" dirty="0">
                <a:latin typeface="メイリオ"/>
                <a:ea typeface="メイリオ"/>
                <a:cs typeface="メイリオ"/>
              </a:rPr>
              <a:t>約</a:t>
            </a:r>
            <a:r>
              <a:rPr lang="en-US" altLang="ja-JP" sz="1200" dirty="0">
                <a:latin typeface="メイリオ"/>
                <a:ea typeface="メイリオ"/>
                <a:cs typeface="メイリオ"/>
              </a:rPr>
              <a:t>1</a:t>
            </a:r>
            <a:r>
              <a:rPr lang="ja-JP" altLang="en-US" sz="1200" dirty="0">
                <a:latin typeface="メイリオ"/>
                <a:ea typeface="メイリオ"/>
                <a:cs typeface="メイリオ"/>
              </a:rPr>
              <a:t>か月</a:t>
            </a:r>
            <a:endParaRPr lang="ja-JP" altLang="en-US" sz="1200" dirty="0">
              <a:latin typeface="メイリオ"/>
              <a:ea typeface="メイリオ"/>
              <a:cs typeface="メイリオ"/>
            </a:endParaRP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a:ea typeface="メイリオ"/>
                <a:cs typeface="メイリオ"/>
              </a:rPr>
              <a:t>オーディエンスリスト作成</a:t>
            </a:r>
            <a:endParaRPr lang="en-US" altLang="ja-JP" sz="800" dirty="0">
              <a:solidFill>
                <a:schemeClr val="bg1">
                  <a:lumMod val="50000"/>
                </a:schemeClr>
              </a:solidFill>
              <a:latin typeface="メイリオ"/>
              <a:ea typeface="メイリオ"/>
              <a:cs typeface="メイリオ"/>
            </a:endParaRPr>
          </a:p>
          <a:p>
            <a:r>
              <a:rPr lang="ja-JP" altLang="en-US" sz="800" dirty="0">
                <a:solidFill>
                  <a:schemeClr val="bg1">
                    <a:lumMod val="50000"/>
                  </a:schemeClr>
                </a:solidFill>
                <a:latin typeface="メイリオ"/>
                <a:ea typeface="メイリオ"/>
                <a:cs typeface="メイリオ"/>
              </a:rPr>
              <a:t>タグ設定</a:t>
            </a:r>
            <a:endParaRPr lang="en-US" altLang="ja-JP" sz="800" dirty="0">
              <a:solidFill>
                <a:schemeClr val="bg1">
                  <a:lumMod val="50000"/>
                </a:schemeClr>
              </a:solidFill>
              <a:latin typeface="メイリオ"/>
              <a:ea typeface="メイリオ"/>
              <a:cs typeface="メイリオ"/>
            </a:endParaRPr>
          </a:p>
          <a:p>
            <a:r>
              <a:rPr lang="en-US" altLang="ja-JP" sz="800" dirty="0">
                <a:solidFill>
                  <a:schemeClr val="bg1">
                    <a:lumMod val="50000"/>
                  </a:schemeClr>
                </a:solidFill>
                <a:latin typeface="メイリオ"/>
                <a:ea typeface="メイリオ"/>
                <a:cs typeface="メイリオ"/>
              </a:rPr>
              <a:t>GA</a:t>
            </a:r>
            <a:r>
              <a:rPr lang="ja-JP" altLang="en-US" sz="800" dirty="0">
                <a:solidFill>
                  <a:schemeClr val="bg1">
                    <a:lumMod val="50000"/>
                  </a:schemeClr>
                </a:solidFill>
                <a:latin typeface="メイリオ"/>
                <a:ea typeface="メイリオ"/>
                <a:cs typeface="メイリオ"/>
              </a:rPr>
              <a:t>設定</a:t>
            </a:r>
            <a:endParaRPr lang="en-US" altLang="ja-JP" sz="800" dirty="0">
              <a:solidFill>
                <a:schemeClr val="bg1">
                  <a:lumMod val="50000"/>
                </a:schemeClr>
              </a:solidFill>
              <a:latin typeface="メイリオ"/>
              <a:ea typeface="メイリオ"/>
              <a:cs typeface="メイリオ"/>
            </a:endParaRPr>
          </a:p>
          <a:p>
            <a:r>
              <a:rPr lang="en-US" altLang="ja-JP" sz="800" dirty="0">
                <a:solidFill>
                  <a:schemeClr val="bg1">
                    <a:lumMod val="50000"/>
                  </a:schemeClr>
                </a:solidFill>
                <a:latin typeface="メイリオ"/>
                <a:ea typeface="メイリオ"/>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a:ea typeface="メイリオ"/>
                <a:cs typeface="メイリオ"/>
              </a:rPr>
              <a:t>リッチメニュー作成</a:t>
            </a:r>
            <a:endParaRPr lang="en-US" altLang="ja-JP" sz="800" dirty="0">
              <a:solidFill>
                <a:schemeClr val="bg1">
                  <a:lumMod val="50000"/>
                </a:schemeClr>
              </a:solidFill>
              <a:latin typeface="メイリオ"/>
              <a:ea typeface="メイリオ"/>
              <a:cs typeface="メイリオ"/>
            </a:endParaRPr>
          </a:p>
          <a:p>
            <a:r>
              <a:rPr lang="ja-JP" altLang="en-US" sz="800" dirty="0">
                <a:solidFill>
                  <a:schemeClr val="bg1">
                    <a:lumMod val="50000"/>
                  </a:schemeClr>
                </a:solidFill>
                <a:latin typeface="メイリオ"/>
                <a:ea typeface="メイリオ"/>
                <a:cs typeface="メイリオ"/>
              </a:rPr>
              <a:t>アンケート設計</a:t>
            </a:r>
            <a:endParaRPr lang="en-US" altLang="ja-JP" sz="800" dirty="0">
              <a:solidFill>
                <a:schemeClr val="bg1">
                  <a:lumMod val="50000"/>
                </a:schemeClr>
              </a:solidFill>
              <a:latin typeface="メイリオ"/>
              <a:ea typeface="メイリオ"/>
              <a:cs typeface="メイリオ"/>
            </a:endParaRPr>
          </a:p>
          <a:p>
            <a:r>
              <a:rPr lang="ja-JP" altLang="en-US" sz="800" dirty="0">
                <a:solidFill>
                  <a:schemeClr val="bg1">
                    <a:lumMod val="50000"/>
                  </a:schemeClr>
                </a:solidFill>
                <a:latin typeface="メイリオ"/>
                <a:ea typeface="メイリオ"/>
                <a:cs typeface="メイリオ"/>
              </a:rPr>
              <a:t>シナリオ設計</a:t>
            </a:r>
            <a:endParaRPr lang="en-US" altLang="ja-JP" sz="800" dirty="0">
              <a:solidFill>
                <a:schemeClr val="bg1">
                  <a:lumMod val="50000"/>
                </a:schemeClr>
              </a:solidFill>
              <a:latin typeface="メイリオ"/>
              <a:ea typeface="メイリオ"/>
              <a:cs typeface="メイリオ"/>
            </a:endParaRPr>
          </a:p>
          <a:p>
            <a:r>
              <a:rPr lang="en-US" altLang="ja-JP" sz="800" dirty="0">
                <a:solidFill>
                  <a:schemeClr val="bg1">
                    <a:lumMod val="50000"/>
                  </a:schemeClr>
                </a:solidFill>
                <a:latin typeface="メイリオ"/>
                <a:ea typeface="メイリオ"/>
                <a:cs typeface="メイリオ"/>
              </a:rPr>
              <a:t>etc...</a:t>
            </a:r>
          </a:p>
        </p:txBody>
      </p:sp>
    </p:spTree>
    <p:extLst>
      <p:ext uri="{BB962C8B-B14F-4D97-AF65-F5344CB8AC3E}">
        <p14:creationId xmlns:p14="http://schemas.microsoft.com/office/powerpoint/2010/main" val="2121434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a:ea typeface="メイリオ"/>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a:ea typeface="メイリオ"/>
                <a:cs typeface="メイリオ"/>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a:ea typeface="メイリオ"/>
                <a:cs typeface="メイリオ"/>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a:ea typeface="メイリオ"/>
                <a:cs typeface="メイリオ"/>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142629</TotalTime>
  <Words>4450</Words>
  <Application>Microsoft Office PowerPoint</Application>
  <PresentationFormat>A4 210 x 297 mm</PresentationFormat>
  <Paragraphs>1005</Paragraphs>
  <Slides>42</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2</vt:i4>
      </vt:variant>
      <vt:variant>
        <vt:lpstr>スライド タイトル</vt:lpstr>
      </vt:variant>
      <vt:variant>
        <vt:i4>42</vt:i4>
      </vt:variant>
    </vt:vector>
  </HeadingPairs>
  <TitlesOfParts>
    <vt:vector size="50" baseType="lpstr">
      <vt:lpstr>メイリオ</vt:lpstr>
      <vt:lpstr>メイリオ</vt:lpstr>
      <vt:lpstr>Arial</vt:lpstr>
      <vt:lpstr>Calibri</vt:lpstr>
      <vt:lpstr>Century Gothic</vt:lpstr>
      <vt:lpstr>Times New Roman</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1964</cp:revision>
  <cp:lastPrinted>2022-11-01T11:38:14Z</cp:lastPrinted>
  <dcterms:created xsi:type="dcterms:W3CDTF">2015-09-04T09:21:15Z</dcterms:created>
  <dcterms:modified xsi:type="dcterms:W3CDTF">2026-09-04T06:48:59Z</dcterms:modified>
</cp:coreProperties>
</file>