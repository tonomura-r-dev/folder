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363" r:id="rId3"/>
    <p:sldId id="2935" r:id="rId4"/>
    <p:sldId id="2956" r:id="rId5"/>
    <p:sldId id="2988" r:id="rId6"/>
    <p:sldId id="2972" r:id="rId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0A72-79AB-D734-F919-6B5353A0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43DCC9-013F-5916-497A-3173AB3E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E4841C-3C6F-F028-ED9E-D25D3936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806F5D-B3E8-8EF8-D9FF-5F440AE72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63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91440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支援実績・パートナー認定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8869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最上位パートナー</a:t>
            </a: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の知見と、</a:t>
            </a: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業界横断の運用実績</a:t>
            </a: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。“獲得に強い”LINE公式アカウントを構築します。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6736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2880360" cy="15179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82296" cy="133502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664207"/>
            <a:ext cx="25328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Award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49424"/>
            <a:ext cx="2478024" cy="67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LINEヤフー Partner Award 受賞
（＝最上位パートナー認定）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2736" y="1517904"/>
            <a:ext cx="2880360" cy="15179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21024" y="1609344"/>
            <a:ext cx="82296" cy="1335024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1664207"/>
            <a:ext cx="25328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49424"/>
            <a:ext cx="2478024" cy="67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平均開封率（DYM運用実績）
※メール比 約6倍／業界平均 約70%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56832" y="1517904"/>
            <a:ext cx="2788920" cy="15179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1609344"/>
            <a:ext cx="82296" cy="133502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94576" y="1664207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00B050"/>
                </a:solidFill>
                <a:latin typeface="メイリオ"/>
                <a:ea typeface="メイリオ"/>
                <a:cs typeface="メイリオ"/>
              </a:rPr>
              <a:t>1.5–4%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2249424"/>
            <a:ext cx="2386584" cy="67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広告経由CVR（業界・CV地点により）
※参考値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55264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業界横断の運用実績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84448"/>
            <a:ext cx="1365503" cy="402336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584448"/>
            <a:ext cx="136550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学校法人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60447" y="3584448"/>
            <a:ext cx="1365503" cy="402336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60447" y="3584448"/>
            <a:ext cx="136550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72255" y="3584448"/>
            <a:ext cx="1365503" cy="402336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72255" y="3584448"/>
            <a:ext cx="136550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買取・リユース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4064" y="3584448"/>
            <a:ext cx="1365503" cy="402336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84064" y="3584448"/>
            <a:ext cx="136550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美容・医療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95872" y="3584448"/>
            <a:ext cx="1365503" cy="402336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95872" y="3584448"/>
            <a:ext cx="136550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EC・通販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79" y="3584448"/>
            <a:ext cx="1365503" cy="402336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07679" y="3584448"/>
            <a:ext cx="136550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不動産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61104"/>
            <a:ext cx="8924544" cy="1700784"/>
          </a:xfrm>
          <a:prstGeom prst="roundRect">
            <a:avLst>
              <a:gd name="adj" fmla="val 4000"/>
            </a:avLst>
          </a:prstGeom>
          <a:solidFill>
            <a:srgbClr val="F4F7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4407408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なぜ“獲得に強い”のか — 再現できる3つの型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28032"/>
            <a:ext cx="8321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0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最上位パートナーの媒体知見</a:t>
            </a:r>
            <a:r>
              <a:rPr sz="10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：LINEヤフーの前後検索データ等を運用に反映</a:t>
            </a:r>
          </a:p>
          <a:p>
            <a:pPr algn="l">
              <a:lnSpc>
                <a:spcPct val="150000"/>
              </a:lnSpc>
            </a:pPr>
            <a:r>
              <a:rPr sz="105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② </a:t>
            </a:r>
            <a:r>
              <a:rPr sz="10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ニーズ起点のシナリオ設計</a:t>
            </a:r>
            <a:r>
              <a:rPr sz="10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：検索“前後”のニーズからステップ配信を逆算</a:t>
            </a:r>
          </a:p>
          <a:p>
            <a:pPr algn="l">
              <a:lnSpc>
                <a:spcPct val="150000"/>
              </a:lnSpc>
            </a:pPr>
            <a:r>
              <a:rPr sz="105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③ </a:t>
            </a:r>
            <a:r>
              <a:rPr sz="10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開封率 × セグメント配信</a:t>
            </a:r>
            <a:r>
              <a:rPr sz="10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：一斉配信ではなく“一致率”を上げて高CVRへ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63056"/>
            <a:ext cx="8869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※数値はDYM運用実績に基づく参考値です。成果はCV地点・時期・商材により変動します。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91440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DYMが得意とする運用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8869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“友だちの新規追加”</a:t>
            </a: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と</a:t>
            </a: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“育成・CV化”</a:t>
            </a: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を、前後検索ニーズ起点のシナリオで一気通貫に設計します。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6736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6543" y="1517904"/>
            <a:ext cx="274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517904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1517904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リード獲得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5344" y="1517904"/>
            <a:ext cx="274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517904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0" y="1517904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有効化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4144" y="1517904"/>
            <a:ext cx="274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517904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517904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マネタイズ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1517904"/>
            <a:ext cx="274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517904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1517904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LTV最大化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212848"/>
            <a:ext cx="4370832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2212848"/>
            <a:ext cx="4370832" cy="475488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2468880"/>
            <a:ext cx="4370832" cy="21945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212848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2212848"/>
            <a:ext cx="3694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リード獲得の最大化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798064"/>
            <a:ext cx="402336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低ハードルCV</a:t>
            </a: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（LINE登録／CPF広告／離脱防止ポップアップ）で友だちを最大化。</a:t>
            </a:r>
          </a:p>
          <a:p>
            <a:pPr algn="l">
              <a:lnSpc>
                <a:spcPct val="106000"/>
              </a:lnSpc>
            </a:pPr>
            <a:r>
              <a:rPr sz="95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フォームCVR 2% → 5–10%</a:t>
            </a: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への引上げを設計。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02352" y="2212848"/>
            <a:ext cx="4370832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02352" y="2212848"/>
            <a:ext cx="4370832" cy="475488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102352" y="2468880"/>
            <a:ext cx="4370832" cy="219456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48656" y="2212848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212848"/>
            <a:ext cx="3694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リード有効化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2798064"/>
            <a:ext cx="402336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スクリーニングアンケート（3問）</a:t>
            </a: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→セグメント→</a:t>
            </a:r>
            <a:r>
              <a:rPr sz="9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ステップ配信（7–14通）</a:t>
            </a: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でホットリードを商談化。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169663"/>
            <a:ext cx="4370832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48640" y="4169663"/>
            <a:ext cx="4370832" cy="475488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4425696"/>
            <a:ext cx="4370832" cy="21945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" y="4169663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4169663"/>
            <a:ext cx="3694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マネタイズ（CV）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79"/>
            <a:ext cx="402336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KW自動応答・不安解消BOT・日程調整の自動化</a:t>
            </a: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でCVハードルを低減。24時間365日で取りこぼしを防止。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02352" y="4169663"/>
            <a:ext cx="4370832" cy="1810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102352" y="4169663"/>
            <a:ext cx="4370832" cy="475488"/>
          </a:xfrm>
          <a:prstGeom prst="roundRect">
            <a:avLst>
              <a:gd name="adj" fmla="val 500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102352" y="4425696"/>
            <a:ext cx="4370832" cy="219456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48656" y="4169663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169663"/>
            <a:ext cx="3694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LTV最大化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5232" y="4754879"/>
            <a:ext cx="402336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クロスセル／紹介／記念日配信</a:t>
            </a: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でリピート化。</a:t>
            </a:r>
          </a:p>
          <a:p>
            <a:pPr algn="l">
              <a:lnSpc>
                <a:spcPct val="106000"/>
              </a:lnSpc>
            </a:pPr>
            <a:r>
              <a:rPr sz="95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紹介経由LTVは通常の1.5–2倍</a:t>
            </a: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（参考値）。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163056"/>
            <a:ext cx="8869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※改善モデル①〜④はDYM標準の運用フレームです。数値は参考値です。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91440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運用プラン・費用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8869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初期構築から成果報酬まで、目的と体制に合わせて選べる</a:t>
            </a: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4プラン</a:t>
            </a: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。（最低6か月〜）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6736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99616"/>
          <a:ext cx="8924541" cy="22311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3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2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9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プラン</a:t>
                      </a:r>
                    </a:p>
                  </a:txBody>
                  <a:tcPr marL="82296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初期費用</a:t>
                      </a:r>
                    </a:p>
                  </a:txBody>
                  <a:tcPr marL="82296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marL="82296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こんな方に</a:t>
                      </a:r>
                    </a:p>
                  </a:txBody>
                  <a:tcPr marL="82296" marR="54864" marT="18288" marB="18288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① コンサル基本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10万〜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20万(3投稿)／30万(5)／50万(9)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運用の“型”から作りたい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② 初動設計のみ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10万〜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5万〜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立ち上げだけ支援がほしい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③ 運用代行・改善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10万〜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0万〜（アカウント費のみ）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自社運用を効率化したい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④ 成果報酬型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5万〜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単価×成果数 ＋ 固定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成果に連動させたい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78224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B050"/>
                </a:solidFill>
                <a:latin typeface="メイリオ"/>
                <a:ea typeface="メイリオ"/>
                <a:cs typeface="メイリオ"/>
              </a:rPr>
              <a:t>基本付帯（無償 ¥0）</a:t>
            </a:r>
            <a:r>
              <a:rPr sz="100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　— プラン内に含まれます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43984"/>
            <a:ext cx="1667865" cy="365760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443984"/>
            <a:ext cx="166786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アカウント開設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2809" y="4443984"/>
            <a:ext cx="1667865" cy="365760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2809" y="4443984"/>
            <a:ext cx="166786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リッチメニュー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6979" y="4443984"/>
            <a:ext cx="1667865" cy="365760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76979" y="4443984"/>
            <a:ext cx="166786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あいさつ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91148" y="4443984"/>
            <a:ext cx="1667865" cy="365760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91148" y="4443984"/>
            <a:ext cx="166786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初期アンケート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5318" y="4443984"/>
            <a:ext cx="1667865" cy="365760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05318" y="4443984"/>
            <a:ext cx="166786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KW自動応答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82896"/>
            <a:ext cx="1667865" cy="365760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882896"/>
            <a:ext cx="166786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62809" y="4882896"/>
            <a:ext cx="1667865" cy="365760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62809" y="4882896"/>
            <a:ext cx="166786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6979" y="4882896"/>
            <a:ext cx="1667865" cy="365760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76979" y="4882896"/>
            <a:ext cx="166786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GAレポート連携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91148" y="4882896"/>
            <a:ext cx="1667865" cy="365760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91148" y="4882896"/>
            <a:ext cx="166786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クリエイティブ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05318" y="4882896"/>
            <a:ext cx="1667865" cy="365760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05318" y="4882896"/>
            <a:ext cx="166786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定例会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94960"/>
            <a:ext cx="8924544" cy="603504"/>
          </a:xfrm>
          <a:prstGeom prst="roundRect">
            <a:avLst>
              <a:gd name="adj" fmla="val 6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5394960"/>
            <a:ext cx="8503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別途費用（任意）：</a:t>
            </a:r>
            <a:r>
              <a:rPr sz="10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APIツール導入 5万〜／通知メッセージ／離脱防止（Sitelead）／CPF広告　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63056"/>
            <a:ext cx="8869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※金額は税別・参考値。配信通数は追加メッセ2.0〜2.8円/通（2026年10月〜 20万通まで3円／超過2.5円）。詳細は個別お見積り。</a:t>
            </a: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91440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代理店様 × DYM ｜ 役割分担・サポート体制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68580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提案・受注は</a:t>
            </a: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代理店様</a:t>
            </a: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、設計・構築・運用は</a:t>
            </a: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。“売る”に集中いただけます。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64008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35240" y="64008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代理店様向け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16736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99616"/>
          <a:ext cx="8924543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27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9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6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フェーズ</a:t>
                      </a:r>
                    </a:p>
                  </a:txBody>
                  <a:tcPr marL="82296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代理店様</a:t>
                      </a:r>
                    </a:p>
                  </a:txBody>
                  <a:tcPr marL="82296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DYM（黒子で支援）</a:t>
                      </a:r>
                    </a:p>
                  </a:txBody>
                  <a:tcPr marL="82296" marR="54864" marT="18288" marB="18288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提案・受注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クライアント折衝・提案・クロージング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提案資料・見積・商談同行（必要時）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初期設計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要件・与件の共有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アカウント構築／リッチメニュー／シナリオ設計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運用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報告窓口・関係維持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配信運用・改善・レポート作成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サポート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—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専任担当・定例会・ツール導入支援</a:t>
                      </a:r>
                    </a:p>
                  </a:txBody>
                  <a:tcPr marL="82296" marR="54864" marT="18288" marB="18288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33087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標準導入フロー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805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①ヒアリング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3" y="44805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4805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7440" y="44805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44805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4805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44805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③構築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4144" y="44805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4805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44805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④配信開始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44805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4805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44805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⑤定例改善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75504"/>
            <a:ext cx="8924544" cy="822960"/>
          </a:xfrm>
          <a:prstGeom prst="roundRect">
            <a:avLst>
              <a:gd name="adj" fmla="val 5000"/>
            </a:avLst>
          </a:prstGeom>
          <a:solidFill>
            <a:srgbClr val="F4F7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5175504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納品物：</a:t>
            </a:r>
            <a:r>
              <a:rPr sz="10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アカウント構築一式／シナリオ設計／レポートFMT／GA連携。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運用工数はDYMが担い、代理店様の稼働を最小化。“提案と関係構築”に専念いただけます。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63056"/>
            <a:ext cx="8869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※体制・分担は案件規模により調整可能です。</a:t>
            </a:r>
          </a:p>
        </p:txBody>
      </p:sp>
    </p:spTree>
    <p:extLst>
      <p:ext uri="{BB962C8B-B14F-4D97-AF65-F5344CB8AC3E}">
        <p14:creationId xmlns:p14="http://schemas.microsoft.com/office/powerpoint/2010/main" val="350948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8B38-C7A2-1CE4-FDFD-8D6A744B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91440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代理店様向け ｜ 提供座組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68580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取引形態は代理店様の営業スタイルに合わせて</a:t>
            </a: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選択可能</a:t>
            </a: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。（掛率・報酬は</a:t>
            </a:r>
            <a:r>
              <a:rPr sz="12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個別ご相談</a:t>
            </a:r>
            <a:r>
              <a:rPr sz="12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64008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35240" y="64008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代理店様向け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16736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17904"/>
            <a:ext cx="288036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517904"/>
            <a:ext cx="2880360" cy="475488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3936"/>
            <a:ext cx="2880360" cy="21945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1517904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517904"/>
            <a:ext cx="220370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卸（リセール）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253288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DYM運用を代理店様ブランドで提供。</a:t>
            </a:r>
          </a:p>
          <a:p>
            <a:pPr algn="l">
              <a:lnSpc>
                <a:spcPct val="106000"/>
              </a:lnSpc>
            </a:pP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受注・請求は代理店様。</a:t>
            </a:r>
          </a:p>
          <a:p>
            <a:pPr algn="l">
              <a:lnSpc>
                <a:spcPct val="106000"/>
              </a:lnSpc>
            </a:pPr>
            <a:r>
              <a:rPr sz="95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掛率：個別相談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0732" y="1517904"/>
            <a:ext cx="288036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70732" y="1517904"/>
            <a:ext cx="2880360" cy="475488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70732" y="1773936"/>
            <a:ext cx="2880360" cy="219456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17035" y="1517904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7659" y="1517904"/>
            <a:ext cx="220370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レベニューシェア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3611" y="2103120"/>
            <a:ext cx="253288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共同提案で成果／売上を分配。</a:t>
            </a:r>
          </a:p>
          <a:p>
            <a:pPr algn="l">
              <a:lnSpc>
                <a:spcPct val="106000"/>
              </a:lnSpc>
            </a:pP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提案・運用をDYMが支援。</a:t>
            </a:r>
          </a:p>
          <a:p>
            <a:pPr algn="l">
              <a:lnSpc>
                <a:spcPct val="106000"/>
              </a:lnSpc>
            </a:pPr>
            <a:r>
              <a:rPr sz="95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シェア率：個別相談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92824" y="1517904"/>
            <a:ext cx="2880360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92824" y="1517904"/>
            <a:ext cx="2880360" cy="475488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92824" y="1773936"/>
            <a:ext cx="2880360" cy="21945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39128" y="1517904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1517904"/>
            <a:ext cx="220370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紹介（レフェラル）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103120"/>
            <a:ext cx="253288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案件のご紹介まで。</a:t>
            </a:r>
          </a:p>
          <a:p>
            <a:pPr algn="l">
              <a:lnSpc>
                <a:spcPct val="106000"/>
              </a:lnSpc>
            </a:pPr>
            <a:r>
              <a:rPr sz="95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以降の提案・運用はDYM。</a:t>
            </a:r>
          </a:p>
          <a:p>
            <a:pPr algn="l">
              <a:lnSpc>
                <a:spcPct val="106000"/>
              </a:lnSpc>
            </a:pPr>
            <a:r>
              <a:rPr sz="95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紹介フィー：個別相談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68496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代理店様への提供物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15968"/>
            <a:ext cx="2121408" cy="402336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315968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ホワイトラベル提案資料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16352" y="4315968"/>
            <a:ext cx="2121408" cy="402336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16352" y="4315968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見積テンプレート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4315968"/>
            <a:ext cx="2121408" cy="402336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84064" y="4315968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想定Q&amp;A・トーク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51776" y="4315968"/>
            <a:ext cx="2121408" cy="402336"/>
          </a:xfrm>
          <a:prstGeom prst="roundRect">
            <a:avLst>
              <a:gd name="adj" fmla="val 50000"/>
            </a:avLst>
          </a:prstGeom>
          <a:solidFill>
            <a:srgbClr val="ECEDF3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51776" y="4315968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商談同行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937760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パートナー開始ステップ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285232"/>
            <a:ext cx="2011679" cy="457200"/>
          </a:xfrm>
          <a:prstGeom prst="roundRect">
            <a:avLst>
              <a:gd name="adj" fmla="val 1200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285232"/>
            <a:ext cx="20116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①パートナー登録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3744" y="5285232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34639" y="5285232"/>
            <a:ext cx="2011679" cy="457200"/>
          </a:xfrm>
          <a:prstGeom prst="roundRect">
            <a:avLst>
              <a:gd name="adj" fmla="val 1200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34639" y="5285232"/>
            <a:ext cx="20116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②勉強会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9743" y="5285232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5285232"/>
            <a:ext cx="2011679" cy="457200"/>
          </a:xfrm>
          <a:prstGeom prst="roundRect">
            <a:avLst>
              <a:gd name="adj" fmla="val 1200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20640" y="5285232"/>
            <a:ext cx="20116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③提案資料共有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5743" y="5285232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5285232"/>
            <a:ext cx="2011679" cy="457200"/>
          </a:xfrm>
          <a:prstGeom prst="roundRect">
            <a:avLst>
              <a:gd name="adj" fmla="val 1200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06640" y="5285232"/>
            <a:ext cx="20116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④初回同行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163056"/>
            <a:ext cx="8869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※掛率・報酬・対応範囲は取引条件により個別にご相談ください。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187594771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Words>569</Words>
  <Application>Microsoft Office PowerPoint</Application>
  <PresentationFormat>A4 210 x 297 mm</PresentationFormat>
  <Paragraphs>146</Paragraphs>
  <Slides>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1919</cp:revision>
  <cp:lastPrinted>2022-11-01T11:38:14Z</cp:lastPrinted>
  <dcterms:created xsi:type="dcterms:W3CDTF">2015-09-04T09:21:15Z</dcterms:created>
  <dcterms:modified xsi:type="dcterms:W3CDTF">2026-07-23T00:30:01Z</dcterms:modified>
</cp:coreProperties>
</file>