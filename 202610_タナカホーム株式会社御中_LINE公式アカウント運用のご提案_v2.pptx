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media/image14.svg" ContentType="image/svg+xml"/>
  <Override PartName="/ppt/media/image15.svg" ContentType="image/svg+xml"/>
  <Override PartName="/ppt/media/image16.svg" ContentType="image/svg+xml"/>
  <Override PartName="/ppt/media/image1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3"/>
  </p:notesMasterIdLst>
  <p:sldIdLst>
    <p:sldId id="319" r:id="rId2"/>
    <p:sldId id="311" r:id="rId3"/>
    <p:sldId id="305" r:id="rId4"/>
    <p:sldId id="312" r:id="rId5"/>
    <p:sldId id="333" r:id="rId6"/>
    <p:sldId id="334" r:id="rId7"/>
    <p:sldId id="306" r:id="rId8"/>
    <p:sldId id="313" r:id="rId9"/>
    <p:sldId id="310" r:id="rId10"/>
    <p:sldId id="314" r:id="rId11"/>
    <p:sldId id="335" r:id="rId12"/>
    <p:sldId id="315" r:id="rId13"/>
    <p:sldId id="336" r:id="rId14"/>
    <p:sldId id="337" r:id="rId15"/>
    <p:sldId id="338" r:id="rId16"/>
    <p:sldId id="309" r:id="rId17"/>
    <p:sldId id="318" r:id="rId18"/>
    <p:sldId id="301" r:id="rId19"/>
    <p:sldId id="320" r:id="rId20"/>
    <p:sldId id="321" r:id="rId21"/>
    <p:sldId id="322" r:id="rId22"/>
    <p:sldId id="323" r:id="rId23"/>
    <p:sldId id="324" r:id="rId24"/>
    <p:sldId id="325" r:id="rId25"/>
    <p:sldId id="326" r:id="rId26"/>
    <p:sldId id="327" r:id="rId27"/>
    <p:sldId id="328" r:id="rId28"/>
    <p:sldId id="329" r:id="rId29"/>
    <p:sldId id="330" r:id="rId30"/>
    <p:sldId id="331" r:id="rId31"/>
    <p:sldId id="332" r:id="rId32"/>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157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1"/>
  <c:style val="2"/>
  <c:chart>
    <c:autoTitleDeleted val="1"/>
    <c:plotArea>
      <c:layout/>
      <c:barChart>
        <c:barDir val="col"/>
        <c:grouping val="clustered"/>
        <c:varyColors val="1"/>
        <c:ser>
          <c:idx val="0"/>
          <c:order val="0"/>
          <c:tx>
            <c:strRef>
              <c:f>Sheet1!$B$1</c:f>
              <c:strCache>
                <c:ptCount val="1"/>
                <c:pt idx="0">
                  <c:v>平屋</c:v>
                </c:pt>
              </c:strCache>
            </c:strRef>
          </c:tx>
          <c:invertIfNegative val="1"/>
          <c:dPt>
            <c:idx val="0"/>
            <c:invertIfNegative val="1"/>
            <c:bubble3D val="0"/>
            <c:spPr>
              <a:solidFill>
                <a:srgbClr val="1F285A"/>
              </a:solidFill>
            </c:spPr>
            <c:extLst>
              <c:ext xmlns:c16="http://schemas.microsoft.com/office/drawing/2014/chart" uri="{C3380CC4-5D6E-409C-BE32-E72D297353CC}">
                <c16:uniqueId val="{00000001-E4DC-4448-802D-983EA201CFED}"/>
              </c:ext>
            </c:extLst>
          </c:dPt>
          <c:dPt>
            <c:idx val="1"/>
            <c:invertIfNegative val="1"/>
            <c:bubble3D val="0"/>
            <c:spPr>
              <a:solidFill>
                <a:srgbClr val="1F285A"/>
              </a:solidFill>
            </c:spPr>
            <c:extLst>
              <c:ext xmlns:c16="http://schemas.microsoft.com/office/drawing/2014/chart" uri="{C3380CC4-5D6E-409C-BE32-E72D297353CC}">
                <c16:uniqueId val="{00000003-E4DC-4448-802D-983EA201CFED}"/>
              </c:ext>
            </c:extLst>
          </c:dPt>
          <c:dPt>
            <c:idx val="2"/>
            <c:invertIfNegative val="1"/>
            <c:bubble3D val="0"/>
            <c:spPr>
              <a:solidFill>
                <a:srgbClr val="C9CEDF"/>
              </a:solidFill>
            </c:spPr>
            <c:extLst>
              <c:ext xmlns:c16="http://schemas.microsoft.com/office/drawing/2014/chart" uri="{C3380CC4-5D6E-409C-BE32-E72D297353CC}">
                <c16:uniqueId val="{00000005-E4DC-4448-802D-983EA201CFED}"/>
              </c:ext>
            </c:extLst>
          </c:dPt>
          <c:dPt>
            <c:idx val="3"/>
            <c:invertIfNegative val="1"/>
            <c:bubble3D val="0"/>
            <c:spPr>
              <a:solidFill>
                <a:srgbClr val="C9CEDF"/>
              </a:solidFill>
            </c:spPr>
            <c:extLst>
              <c:ext xmlns:c16="http://schemas.microsoft.com/office/drawing/2014/chart" uri="{C3380CC4-5D6E-409C-BE32-E72D297353CC}">
                <c16:uniqueId val="{00000007-E4DC-4448-802D-983EA201CFED}"/>
              </c:ext>
            </c:extLst>
          </c:dPt>
          <c:dPt>
            <c:idx val="4"/>
            <c:invertIfNegative val="1"/>
            <c:bubble3D val="0"/>
            <c:spPr>
              <a:solidFill>
                <a:srgbClr val="C9CEDF"/>
              </a:solidFill>
            </c:spPr>
            <c:extLst>
              <c:ext xmlns:c16="http://schemas.microsoft.com/office/drawing/2014/chart" uri="{C3380CC4-5D6E-409C-BE32-E72D297353CC}">
                <c16:uniqueId val="{00000009-E4DC-4448-802D-983EA201CFED}"/>
              </c:ext>
            </c:extLst>
          </c:dPt>
          <c:dPt>
            <c:idx val="5"/>
            <c:invertIfNegative val="1"/>
            <c:bubble3D val="0"/>
            <c:spPr>
              <a:solidFill>
                <a:srgbClr val="C9CEDF"/>
              </a:solidFill>
            </c:spPr>
            <c:extLst>
              <c:ext xmlns:c16="http://schemas.microsoft.com/office/drawing/2014/chart" uri="{C3380CC4-5D6E-409C-BE32-E72D297353CC}">
                <c16:uniqueId val="{0000000B-E4DC-4448-802D-983EA201CFED}"/>
              </c:ext>
            </c:extLst>
          </c:dPt>
          <c:dPt>
            <c:idx val="6"/>
            <c:invertIfNegative val="1"/>
            <c:bubble3D val="0"/>
            <c:spPr>
              <a:solidFill>
                <a:srgbClr val="C9CEDF"/>
              </a:solidFill>
            </c:spPr>
            <c:extLst>
              <c:ext xmlns:c16="http://schemas.microsoft.com/office/drawing/2014/chart" uri="{C3380CC4-5D6E-409C-BE32-E72D297353CC}">
                <c16:uniqueId val="{0000000D-E4DC-4448-802D-983EA201CFED}"/>
              </c:ext>
            </c:extLst>
          </c:dPt>
          <c:dPt>
            <c:idx val="7"/>
            <c:invertIfNegative val="1"/>
            <c:bubble3D val="0"/>
            <c:spPr>
              <a:solidFill>
                <a:srgbClr val="C9CEDF"/>
              </a:solidFill>
            </c:spPr>
            <c:extLst>
              <c:ext xmlns:c16="http://schemas.microsoft.com/office/drawing/2014/chart" uri="{C3380CC4-5D6E-409C-BE32-E72D297353CC}">
                <c16:uniqueId val="{0000000F-E4DC-4448-802D-983EA201CFED}"/>
              </c:ext>
            </c:extLst>
          </c:dPt>
          <c:dPt>
            <c:idx val="8"/>
            <c:invertIfNegative val="1"/>
            <c:bubble3D val="0"/>
            <c:spPr>
              <a:solidFill>
                <a:srgbClr val="C9CEDF"/>
              </a:solidFill>
            </c:spPr>
            <c:extLst>
              <c:ext xmlns:c16="http://schemas.microsoft.com/office/drawing/2014/chart" uri="{C3380CC4-5D6E-409C-BE32-E72D297353CC}">
                <c16:uniqueId val="{00000011-E4DC-4448-802D-983EA201CFED}"/>
              </c:ext>
            </c:extLst>
          </c:dPt>
          <c:dPt>
            <c:idx val="9"/>
            <c:invertIfNegative val="1"/>
            <c:bubble3D val="0"/>
            <c:spPr>
              <a:solidFill>
                <a:srgbClr val="C9CEDF"/>
              </a:solidFill>
            </c:spPr>
            <c:extLst>
              <c:ext xmlns:c16="http://schemas.microsoft.com/office/drawing/2014/chart" uri="{C3380CC4-5D6E-409C-BE32-E72D297353CC}">
                <c16:uniqueId val="{00000013-E4DC-4448-802D-983EA201CFED}"/>
              </c:ext>
            </c:extLst>
          </c:dPt>
          <c:dPt>
            <c:idx val="10"/>
            <c:invertIfNegative val="1"/>
            <c:bubble3D val="0"/>
            <c:spPr>
              <a:solidFill>
                <a:srgbClr val="C9CEDF"/>
              </a:solidFill>
            </c:spPr>
            <c:extLst>
              <c:ext xmlns:c16="http://schemas.microsoft.com/office/drawing/2014/chart" uri="{C3380CC4-5D6E-409C-BE32-E72D297353CC}">
                <c16:uniqueId val="{00000015-E4DC-4448-802D-983EA201CFED}"/>
              </c:ext>
            </c:extLst>
          </c:dPt>
          <c:dPt>
            <c:idx val="11"/>
            <c:invertIfNegative val="1"/>
            <c:bubble3D val="0"/>
            <c:spPr>
              <a:solidFill>
                <a:srgbClr val="C9CEDF"/>
              </a:solidFill>
            </c:spPr>
            <c:extLst>
              <c:ext xmlns:c16="http://schemas.microsoft.com/office/drawing/2014/chart" uri="{C3380CC4-5D6E-409C-BE32-E72D297353CC}">
                <c16:uniqueId val="{00000017-E4DC-4448-802D-983EA201CFED}"/>
              </c:ext>
            </c:extLst>
          </c:dPt>
          <c:dLbls>
            <c:numFmt formatCode="0" sourceLinked="0"/>
            <c:spPr>
              <a:noFill/>
              <a:ln>
                <a:noFill/>
              </a:ln>
              <a:effectLst/>
            </c:spPr>
            <c:txPr>
              <a:bodyPr/>
              <a:lstStyle/>
              <a:p>
                <a:pPr>
                  <a:defRPr sz="900">
                    <a:latin typeface="メイリオ"/>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80</c:v>
                </c:pt>
                <c:pt idx="1">
                  <c:v>83</c:v>
                </c:pt>
                <c:pt idx="2">
                  <c:v>78</c:v>
                </c:pt>
                <c:pt idx="3">
                  <c:v>70</c:v>
                </c:pt>
                <c:pt idx="4">
                  <c:v>69</c:v>
                </c:pt>
                <c:pt idx="5">
                  <c:v>73</c:v>
                </c:pt>
                <c:pt idx="6">
                  <c:v>58</c:v>
                </c:pt>
                <c:pt idx="7">
                  <c:v>70</c:v>
                </c:pt>
                <c:pt idx="8">
                  <c:v>76</c:v>
                </c:pt>
                <c:pt idx="9">
                  <c:v>78</c:v>
                </c:pt>
                <c:pt idx="10">
                  <c:v>63</c:v>
                </c:pt>
                <c:pt idx="11">
                  <c:v>68</c:v>
                </c:pt>
              </c:numCache>
            </c:numRef>
          </c:val>
          <c:extLst>
            <c:ext xmlns:c16="http://schemas.microsoft.com/office/drawing/2014/chart" uri="{C3380CC4-5D6E-409C-BE32-E72D297353CC}">
              <c16:uniqueId val="{00000018-E4DC-4448-802D-983EA201CFED}"/>
            </c:ext>
          </c:extLst>
        </c:ser>
        <c:dLbls>
          <c:dLblPos val="outEnd"/>
          <c:showLegendKey val="0"/>
          <c:showVal val="1"/>
          <c:showCatName val="0"/>
          <c:showSerName val="0"/>
          <c:showPercent val="0"/>
          <c:showBubbleSize val="0"/>
        </c:dLbls>
        <c:gapWidth val="6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9D9D9"/>
            </a:solidFill>
          </a:ln>
        </c:spPr>
        <c:txPr>
          <a:bodyPr/>
          <a:lstStyle/>
          <a:p>
            <a:pPr>
              <a:defRPr sz="900"/>
            </a:pPr>
            <a:endParaRPr lang="ja-JP"/>
          </a:p>
        </c:txPr>
        <c:crossAx val="-2113994440"/>
        <c:crosses val="autoZero"/>
        <c:auto val="1"/>
        <c:lblAlgn val="ctr"/>
        <c:lblOffset val="100"/>
        <c:noMultiLvlLbl val="0"/>
      </c:catAx>
      <c:valAx>
        <c:axId val="-2113994440"/>
        <c:scaling>
          <c:orientation val="minMax"/>
          <c:max val="100"/>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900">
          <a:solidFill>
            <a:srgbClr val="333333"/>
          </a:solidFill>
          <a:latin typeface="メイリオ"/>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Calibri"/>
              </a:rPr>
              <a:t>Click to move the slide</a:t>
            </a:r>
          </a:p>
        </p:txBody>
      </p:sp>
      <p:sp>
        <p:nvSpPr>
          <p:cNvPr id="2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2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23"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24"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25"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9023FD08-B3C3-42F8-A153-9D5527DEAE10}"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7" name="PlaceHolder 1"/>
          <p:cNvSpPr>
            <a:spLocks noGrp="1" noRot="1" noChangeAspect="1"/>
          </p:cNvSpPr>
          <p:nvPr>
            <p:ph type="sldImg"/>
          </p:nvPr>
        </p:nvSpPr>
        <p:spPr>
          <a:xfrm>
            <a:off x="981000" y="1243080"/>
            <a:ext cx="4844520" cy="3354120"/>
          </a:xfrm>
          <a:prstGeom prst="rect">
            <a:avLst/>
          </a:prstGeom>
          <a:ln w="0">
            <a:noFill/>
          </a:ln>
        </p:spPr>
      </p:sp>
      <p:sp>
        <p:nvSpPr>
          <p:cNvPr id="1148" name="PlaceHolder 2"/>
          <p:cNvSpPr>
            <a:spLocks noGrp="1"/>
          </p:cNvSpPr>
          <p:nvPr>
            <p:ph type="body"/>
          </p:nvPr>
        </p:nvSpPr>
        <p:spPr>
          <a:xfrm>
            <a:off x="680400" y="4782960"/>
            <a:ext cx="5446080" cy="391320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1149" name="PlaceHolder 3"/>
          <p:cNvSpPr>
            <a:spLocks noGrp="1"/>
          </p:cNvSpPr>
          <p:nvPr>
            <p:ph type="ftr" idx="24"/>
          </p:nvPr>
        </p:nvSpPr>
        <p:spPr>
          <a:xfrm>
            <a:off x="0" y="9441720"/>
            <a:ext cx="2950200" cy="497160"/>
          </a:xfrm>
          <a:prstGeom prst="rect">
            <a:avLst/>
          </a:prstGeom>
          <a:noFill/>
          <a:ln w="0">
            <a:noFill/>
          </a:ln>
        </p:spPr>
        <p:txBody>
          <a:bodyPr lIns="91440" tIns="45720" rIns="91440" bIns="45720" anchor="b">
            <a:noAutofit/>
          </a:bodyPr>
          <a:lstStyle/>
          <a:p>
            <a:pPr indent="0">
              <a:buNone/>
            </a:pPr>
            <a:endParaRPr lang="en-US" sz="1200" b="0" u="none" strike="noStrike">
              <a:solidFill>
                <a:schemeClr val="dk1"/>
              </a:solidFill>
              <a:effectLst/>
              <a:uFillTx/>
              <a:latin typeface="+mn-lt"/>
              <a:ea typeface="+mn-ea"/>
            </a:endParaRPr>
          </a:p>
        </p:txBody>
      </p:sp>
      <p:sp>
        <p:nvSpPr>
          <p:cNvPr id="1150" name="PlaceHolder 4"/>
          <p:cNvSpPr>
            <a:spLocks noGrp="1"/>
          </p:cNvSpPr>
          <p:nvPr>
            <p:ph type="sldNum" idx="25"/>
          </p:nvPr>
        </p:nvSpPr>
        <p:spPr>
          <a:xfrm>
            <a:off x="3855240" y="9441720"/>
            <a:ext cx="2950200" cy="497160"/>
          </a:xfrm>
          <a:prstGeom prst="rect">
            <a:avLst/>
          </a:prstGeom>
          <a:noFill/>
          <a:ln w="0">
            <a:noFill/>
          </a:ln>
        </p:spPr>
        <p:txBody>
          <a:bodyPr lIns="91440" tIns="45720" rIns="91440" bIns="45720" anchor="b">
            <a:noAutofit/>
          </a:bodyPr>
          <a:lstStyle>
            <a:lvl1pPr indent="0" algn="r" defTabSz="956880">
              <a:lnSpc>
                <a:spcPct val="100000"/>
              </a:lnSpc>
              <a:buNone/>
              <a:defRPr lang="en-US" sz="1200" b="0" u="none" strike="noStrike">
                <a:solidFill>
                  <a:srgbClr val="000000"/>
                </a:solidFill>
                <a:effectLst/>
                <a:uFillTx/>
                <a:latin typeface="Calibri"/>
                <a:ea typeface="ＭＳ Ｐゴシック"/>
              </a:defRPr>
            </a:lvl1pPr>
          </a:lstStyle>
          <a:p>
            <a:pPr indent="0" algn="r" defTabSz="956880">
              <a:lnSpc>
                <a:spcPct val="100000"/>
              </a:lnSpc>
              <a:buNone/>
            </a:pPr>
            <a:fld id="{6BEAC167-1E56-4A89-B6CA-078D5C4214BA}" type="slidenum">
              <a:rPr lang="en-US" sz="1200" b="0" u="none" strike="noStrike">
                <a:solidFill>
                  <a:srgbClr val="000000"/>
                </a:solidFill>
                <a:effectLst/>
                <a:uFillTx/>
                <a:latin typeface="Calibri"/>
                <a:ea typeface="ＭＳ Ｐゴシック"/>
              </a:rPr>
              <a:t>18</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2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2"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3"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7221DD93-BA6E-44AE-9625-337799002E27}"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4"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
        <p:nvSpPr>
          <p:cNvPr id="5" name="正方形/長方形 1"/>
          <p:cNvSpPr/>
          <p:nvPr/>
        </p:nvSpPr>
        <p:spPr>
          <a:xfrm>
            <a:off x="9398160" y="6591240"/>
            <a:ext cx="418680" cy="2664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4_タイトルとコンテンツ">
    <p:bg>
      <p:bgPr>
        <a:solidFill>
          <a:srgbClr val="FFFFFF"/>
        </a:solidFill>
        <a:effectLst/>
      </p:bgPr>
    </p:bg>
    <p:spTree>
      <p:nvGrpSpPr>
        <p:cNvPr id="1" name=""/>
        <p:cNvGrpSpPr/>
        <p:nvPr/>
      </p:nvGrpSpPr>
      <p:grpSpPr>
        <a:xfrm>
          <a:off x="0" y="0"/>
          <a:ext cx="0" cy="0"/>
          <a:chOff x="0" y="0"/>
          <a:chExt cx="0" cy="0"/>
        </a:xfrm>
      </p:grpSpPr>
      <p:pic>
        <p:nvPicPr>
          <p:cNvPr id="6" name="図 1"/>
          <p:cNvPicPr/>
          <p:nvPr/>
        </p:nvPicPr>
        <p:blipFill>
          <a:blip r:embed="rId2"/>
          <a:stretch/>
        </p:blipFill>
        <p:spPr>
          <a:xfrm>
            <a:off x="8151480" y="72360"/>
            <a:ext cx="1598400" cy="423720"/>
          </a:xfrm>
          <a:prstGeom prst="rect">
            <a:avLst/>
          </a:prstGeom>
          <a:noFill/>
          <a:ln w="0">
            <a:noFill/>
          </a:ln>
        </p:spPr>
      </p:pic>
      <p:pic>
        <p:nvPicPr>
          <p:cNvPr id="7" name="図 4"/>
          <p:cNvPicPr/>
          <p:nvPr/>
        </p:nvPicPr>
        <p:blipFill>
          <a:blip r:embed="rId3"/>
          <a:stretch/>
        </p:blipFill>
        <p:spPr>
          <a:xfrm>
            <a:off x="8151480" y="32400"/>
            <a:ext cx="1652760" cy="635400"/>
          </a:xfrm>
          <a:prstGeom prst="rect">
            <a:avLst/>
          </a:prstGeom>
          <a:noFill/>
          <a:ln w="0">
            <a:noFill/>
          </a:ln>
        </p:spPr>
      </p:pic>
      <p:sp>
        <p:nvSpPr>
          <p:cNvPr id="8"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9"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B234BB70-5183-4ABD-92F4-80874DE4EEF5}"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0"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cxnSp>
        <p:nvCxnSpPr>
          <p:cNvPr id="11" name="直線コネクタ 4"/>
          <p:cNvCxnSpPr/>
          <p:nvPr/>
        </p:nvCxnSpPr>
        <p:spPr>
          <a:xfrm>
            <a:off x="0" y="548640"/>
            <a:ext cx="9906120" cy="360"/>
          </a:xfrm>
          <a:prstGeom prst="straightConnector1">
            <a:avLst/>
          </a:prstGeom>
          <a:ln>
            <a:solidFill>
              <a:srgbClr val="191F54"/>
            </a:solidFill>
            <a:round/>
          </a:ln>
        </p:spPr>
      </p:cxnSp>
      <p:sp>
        <p:nvSpPr>
          <p:cNvPr id="12" name="正方形/長方形 6"/>
          <p:cNvSpPr/>
          <p:nvPr/>
        </p:nvSpPr>
        <p:spPr>
          <a:xfrm>
            <a:off x="0" y="0"/>
            <a:ext cx="450720" cy="548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3" name="PlaceHolder 1"/>
          <p:cNvSpPr>
            <a:spLocks noGrp="1"/>
          </p:cNvSpPr>
          <p:nvPr>
            <p:ph type="title"/>
          </p:nvPr>
        </p:nvSpPr>
        <p:spPr>
          <a:xfrm>
            <a:off x="495000" y="273600"/>
            <a:ext cx="89150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Calibri"/>
              </a:rPr>
              <a:t>Click to edit the title text format</a:t>
            </a:r>
          </a:p>
        </p:txBody>
      </p:sp>
      <p:sp>
        <p:nvSpPr>
          <p:cNvPr id="14" name="PlaceHolder 2"/>
          <p:cNvSpPr>
            <a:spLocks noGrp="1"/>
          </p:cNvSpPr>
          <p:nvPr>
            <p:ph type="body"/>
          </p:nvPr>
        </p:nvSpPr>
        <p:spPr>
          <a:xfrm>
            <a:off x="495000" y="1604520"/>
            <a:ext cx="89150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1_タイトル スライド">
    <p:bg>
      <p:bgPr>
        <a:solidFill>
          <a:srgbClr val="FFFFFF"/>
        </a:solidFill>
        <a:effectLst/>
      </p:bgPr>
    </p:bg>
    <p:spTree>
      <p:nvGrpSpPr>
        <p:cNvPr id="1" name=""/>
        <p:cNvGrpSpPr/>
        <p:nvPr/>
      </p:nvGrpSpPr>
      <p:grpSpPr>
        <a:xfrm>
          <a:off x="0" y="0"/>
          <a:ext cx="0" cy="0"/>
          <a:chOff x="0" y="0"/>
          <a:chExt cx="0" cy="0"/>
        </a:xfrm>
      </p:grpSpPr>
      <p:pic>
        <p:nvPicPr>
          <p:cNvPr id="15" name="図 1"/>
          <p:cNvPicPr/>
          <p:nvPr/>
        </p:nvPicPr>
        <p:blipFill>
          <a:blip r:embed="rId2"/>
          <a:stretch/>
        </p:blipFill>
        <p:spPr>
          <a:xfrm>
            <a:off x="8151480" y="72360"/>
            <a:ext cx="1598400" cy="423720"/>
          </a:xfrm>
          <a:prstGeom prst="rect">
            <a:avLst/>
          </a:prstGeom>
          <a:noFill/>
          <a:ln w="0">
            <a:noFill/>
          </a:ln>
        </p:spPr>
      </p:pic>
      <p:pic>
        <p:nvPicPr>
          <p:cNvPr id="16" name="図 4"/>
          <p:cNvPicPr/>
          <p:nvPr/>
        </p:nvPicPr>
        <p:blipFill>
          <a:blip r:embed="rId3"/>
          <a:stretch/>
        </p:blipFill>
        <p:spPr>
          <a:xfrm>
            <a:off x="8151480" y="32400"/>
            <a:ext cx="1652760" cy="635400"/>
          </a:xfrm>
          <a:prstGeom prst="rect">
            <a:avLst/>
          </a:prstGeom>
          <a:noFill/>
          <a:ln w="0">
            <a:noFill/>
          </a:ln>
        </p:spPr>
      </p:pic>
      <p:sp>
        <p:nvSpPr>
          <p:cNvPr id="17" name="正方形/長方形 5"/>
          <p:cNvSpPr/>
          <p:nvPr/>
        </p:nvSpPr>
        <p:spPr>
          <a:xfrm>
            <a:off x="0" y="6552720"/>
            <a:ext cx="9905760" cy="332280"/>
          </a:xfrm>
          <a:prstGeom prst="rect">
            <a:avLst/>
          </a:prstGeom>
          <a:solidFill>
            <a:srgbClr val="191F54"/>
          </a:solid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rgbClr val="FFFFFF"/>
              </a:solidFill>
              <a:effectLst/>
              <a:uFillTx/>
              <a:latin typeface="Calibri"/>
            </a:endParaRPr>
          </a:p>
        </p:txBody>
      </p:sp>
      <p:sp>
        <p:nvSpPr>
          <p:cNvPr id="18" name="スライド番号プレースホルダ 1"/>
          <p:cNvSpPr/>
          <p:nvPr/>
        </p:nvSpPr>
        <p:spPr>
          <a:xfrm>
            <a:off x="7594560" y="6552720"/>
            <a:ext cx="2311200" cy="364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fld id="{077BD008-84D6-4C04-8004-9A059DF72521}" type="slidenum">
              <a:rPr lang="en-US" sz="1400" b="1" u="none" strike="noStrike">
                <a:solidFill>
                  <a:schemeClr val="lt1"/>
                </a:solidFill>
                <a:effectLst/>
                <a:uFillTx/>
                <a:latin typeface="メイリオ"/>
                <a:ea typeface="メイリオ"/>
              </a:rPr>
              <a:t>‹#›</a:t>
            </a:fld>
            <a:endParaRPr lang="en-US" sz="1400" b="0" u="none" strike="noStrike">
              <a:solidFill>
                <a:srgbClr val="000000"/>
              </a:solidFill>
              <a:effectLst/>
              <a:uFillTx/>
              <a:latin typeface="Arial"/>
            </a:endParaRPr>
          </a:p>
        </p:txBody>
      </p:sp>
      <p:sp>
        <p:nvSpPr>
          <p:cNvPr id="19" name="テキスト ボックス 8"/>
          <p:cNvSpPr/>
          <p:nvPr/>
        </p:nvSpPr>
        <p:spPr>
          <a:xfrm>
            <a:off x="116640" y="6598080"/>
            <a:ext cx="366588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800" b="1" u="none" strike="noStrike">
                <a:solidFill>
                  <a:schemeClr val="lt1"/>
                </a:solidFill>
                <a:effectLst/>
                <a:uFillTx/>
                <a:latin typeface="メイリオ"/>
                <a:ea typeface="メイリオ"/>
              </a:rPr>
              <a:t>Copyright(c) DYM Co., Ltd</a:t>
            </a:r>
            <a:r>
              <a:rPr lang="ja-JP" sz="800" b="1" u="none" strike="noStrike">
                <a:solidFill>
                  <a:schemeClr val="lt1"/>
                </a:solidFill>
                <a:effectLst/>
                <a:uFillTx/>
                <a:latin typeface="メイリオ"/>
                <a:ea typeface="メイリオ"/>
              </a:rPr>
              <a:t>． </a:t>
            </a:r>
            <a:r>
              <a:rPr lang="en-US" sz="800" b="1" u="none" strike="noStrike">
                <a:solidFill>
                  <a:schemeClr val="lt1"/>
                </a:solidFill>
                <a:effectLst/>
                <a:uFillTx/>
                <a:latin typeface="メイリオ"/>
                <a:ea typeface="メイリオ"/>
              </a:rPr>
              <a:t>All Rights Reserved.</a:t>
            </a:r>
            <a:endParaRPr lang="en-US" sz="800" b="0" u="none" strike="noStrike">
              <a:solidFill>
                <a:srgbClr val="000000"/>
              </a:solidFill>
              <a:effectLst/>
              <a:uFillTx/>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chart" Target="../charts/char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8.emf"/><Relationship Id="rId4" Type="http://schemas.openxmlformats.org/officeDocument/2006/relationships/image" Target="../media/image9.jpeg"/><Relationship Id="rId5" Type="http://schemas.openxmlformats.org/officeDocument/2006/relationships/image" Target="../media/image10.jpeg"/><Relationship Id="rId6" Type="http://schemas.openxmlformats.org/officeDocument/2006/relationships/image" Target="../media/image11.jpeg"/><Relationship Id="rId7" Type="http://schemas.openxmlformats.org/officeDocument/2006/relationships/image" Target="../media/image12.jpeg"/><Relationship Id="rId8" Type="http://schemas.openxmlformats.org/officeDocument/2006/relationships/image" Target="../media/image1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svg"/><Relationship Id="rId3" Type="http://schemas.openxmlformats.org/officeDocument/2006/relationships/image" Target="../media/image15.svg"/><Relationship Id="rId4" Type="http://schemas.openxmlformats.org/officeDocument/2006/relationships/image" Target="../media/image16.svg"/><Relationship Id="rId5" Type="http://schemas.openxmlformats.org/officeDocument/2006/relationships/image" Target="../media/image17.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正方形/長方形 1"/>
          <p:cNvSpPr/>
          <p:nvPr/>
        </p:nvSpPr>
        <p:spPr>
          <a:xfrm>
            <a:off x="1665660" y="2937630"/>
            <a:ext cx="6573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3200" b="1" u="none" strike="noStrike" dirty="0">
                <a:solidFill>
                  <a:schemeClr val="dk1">
                    <a:lumMod val="75000"/>
                    <a:lumOff val="25000"/>
                  </a:schemeClr>
                </a:solidFill>
                <a:effectLst/>
                <a:uFillTx/>
                <a:latin typeface="メイリオ"/>
                <a:ea typeface="メイリオ"/>
              </a:rPr>
              <a:t>LINE公式アカウント運用のご提案</a:t>
            </a:r>
            <a:endParaRPr lang="en-US" sz="3200" b="0" u="none" strike="noStrike" dirty="0">
              <a:solidFill>
                <a:srgbClr val="000000"/>
              </a:solidFill>
              <a:effectLst/>
              <a:uFillTx/>
              <a:latin typeface="メイリオ"/>
            </a:endParaRPr>
          </a:p>
        </p:txBody>
      </p:sp>
      <p:sp>
        <p:nvSpPr>
          <p:cNvPr id="27" name="正方形/長方形 5"/>
          <p:cNvSpPr/>
          <p:nvPr/>
        </p:nvSpPr>
        <p:spPr>
          <a:xfrm>
            <a:off x="1336792" y="1922429"/>
            <a:ext cx="7231989" cy="1042415"/>
          </a:xfrm>
          <a:prstGeom prst="rect">
            <a:avLst/>
          </a:prstGeom>
          <a:noFill/>
          <a:ln w="0">
            <a:noFill/>
          </a:ln>
        </p:spPr>
        <p:style>
          <a:lnRef idx="0">
            <a:scrgbClr r="0" g="0" b="0"/>
          </a:lnRef>
          <a:fillRef idx="0">
            <a:scrgbClr r="0" g="0" b="0"/>
          </a:fillRef>
          <a:effectRef idx="0">
            <a:scrgbClr r="0" g="0" b="0"/>
          </a:effectRef>
          <a:fontRef idx="minor"/>
        </p:style>
        <p:txBody>
          <a:bodyPr wrap="square" lIns="91440" tIns="45720" rIns="91440" bIns="45720" anchor="b">
            <a:noAutofit/>
          </a:bodyPr>
          <a:lstStyle/>
          <a:p>
            <a:pPr algn="ctr"/>
            <a:r>
              <a:rPr lang="ja-JP" sz="1600" b="0" u="none" strike="noStrike" dirty="0">
                <a:solidFill>
                  <a:schemeClr val="dk1">
                    <a:lumMod val="50000"/>
                    <a:lumOff val="50000"/>
                  </a:schemeClr>
                </a:solidFill>
                <a:effectLst/>
                <a:uFillTx/>
                <a:latin typeface="メイリオ"/>
                <a:ea typeface="メイリオ"/>
              </a:rPr>
              <a:t>集めた見込み客を逃さずナーチャリングをし、</a:t>
            </a:r>
          </a:p>
          <a:p>
            <a:pPr algn="ctr"/>
            <a:r>
              <a:rPr lang="ja-JP" sz="1600" b="0" u="none" strike="noStrike" dirty="0">
                <a:solidFill>
                  <a:schemeClr val="dk1">
                    <a:lumMod val="50000"/>
                    <a:lumOff val="50000"/>
                  </a:schemeClr>
                </a:solidFill>
                <a:effectLst/>
                <a:uFillTx/>
                <a:latin typeface="メイリオ"/>
                <a:ea typeface="メイリオ"/>
              </a:rPr>
              <a:t>来場・契約へ変えるLINE仕組みの構築</a:t>
            </a:r>
          </a:p>
        </p:txBody>
      </p:sp>
      <p:cxnSp>
        <p:nvCxnSpPr>
          <p:cNvPr id="28" name="直線コネクタ 4"/>
          <p:cNvCxnSpPr/>
          <p:nvPr/>
        </p:nvCxnSpPr>
        <p:spPr>
          <a:xfrm>
            <a:off x="1336980" y="3604491"/>
            <a:ext cx="7232040" cy="0"/>
          </a:xfrm>
          <a:prstGeom prst="straightConnector1">
            <a:avLst/>
          </a:prstGeom>
          <a:ln w="19050">
            <a:solidFill>
              <a:srgbClr val="000000">
                <a:lumMod val="50000"/>
                <a:lumOff val="50000"/>
              </a:srgbClr>
            </a:solidFill>
            <a:round/>
          </a:ln>
        </p:spPr>
      </p:cxnSp>
      <p:pic>
        <p:nvPicPr>
          <p:cNvPr id="29" name="図 8" descr="背景パターン&#10;&#10;AI 生成コンテンツは誤りを含む可能性があります。"/>
          <p:cNvPicPr/>
          <p:nvPr/>
        </p:nvPicPr>
        <p:blipFill>
          <a:blip r:embed="rId2"/>
          <a:stretch/>
        </p:blipFill>
        <p:spPr>
          <a:xfrm>
            <a:off x="0" y="0"/>
            <a:ext cx="8159400" cy="766080"/>
          </a:xfrm>
          <a:prstGeom prst="rect">
            <a:avLst/>
          </a:prstGeom>
          <a:noFill/>
          <a:ln w="0">
            <a:noFill/>
          </a:ln>
        </p:spPr>
      </p:pic>
      <p:pic>
        <p:nvPicPr>
          <p:cNvPr id="30" name="図 9" descr="背景パターン&#10;&#10;AI 生成コンテンツは誤りを含む可能性があります。"/>
          <p:cNvPicPr/>
          <p:nvPr/>
        </p:nvPicPr>
        <p:blipFill>
          <a:blip r:embed="rId2"/>
          <a:stretch/>
        </p:blipFill>
        <p:spPr>
          <a:xfrm>
            <a:off x="7863840" y="494280"/>
            <a:ext cx="2041920" cy="271800"/>
          </a:xfrm>
          <a:prstGeom prst="rect">
            <a:avLst/>
          </a:prstGeom>
          <a:noFill/>
          <a:ln w="0">
            <a:noFill/>
          </a:ln>
        </p:spPr>
      </p:pic>
      <p:sp>
        <p:nvSpPr>
          <p:cNvPr id="31" name="テキスト ボックス 6"/>
          <p:cNvSpPr/>
          <p:nvPr/>
        </p:nvSpPr>
        <p:spPr>
          <a:xfrm>
            <a:off x="291960" y="263520"/>
            <a:ext cx="4965480" cy="33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1600" b="1" u="none" strike="noStrike">
                <a:solidFill>
                  <a:schemeClr val="dk1">
                    <a:lumMod val="50000"/>
                    <a:lumOff val="50000"/>
                  </a:schemeClr>
                </a:solidFill>
                <a:effectLst/>
                <a:uFillTx/>
                <a:latin typeface="メイリオ"/>
                <a:ea typeface="メイリオ"/>
              </a:rPr>
              <a:t>タナカホーム株式会社 御中</a:t>
            </a:r>
            <a:endParaRPr lang="en-US" sz="1600" b="0" u="none" strike="noStrike">
              <a:solidFill>
                <a:srgbClr val="000000"/>
              </a:solidFill>
              <a:effectLst/>
              <a:uFillTx/>
              <a:latin typeface="メイリオ"/>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提案の流れ</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資料請求</a:t>
            </a:r>
            <a:r>
              <a:rPr lang="ja-JP" altLang="en-US" sz="1400" b="1" dirty="0">
                <a:latin typeface="メイリオ" panose="020B0604030504040204" pitchFamily="50" charset="-128"/>
                <a:ea typeface="メイリオ" panose="020B0604030504040204" pitchFamily="50" charset="-128"/>
              </a:rPr>
              <a:t>以前</a:t>
            </a:r>
            <a:r>
              <a:rPr lang="ja-JP" sz="1400" b="1" u="none" strike="noStrike" dirty="0">
                <a:effectLst/>
                <a:uFillTx/>
                <a:latin typeface="メイリオ" panose="020B0604030504040204" pitchFamily="50" charset="-128"/>
                <a:ea typeface="メイリオ" panose="020B0604030504040204" pitchFamily="50" charset="-128"/>
              </a:rPr>
              <a:t>からLINEでつながり、来場・契約まで案内する。</a:t>
            </a:r>
            <a:endParaRPr lang="en-US" sz="1400" b="1" u="none" strike="noStrike" dirty="0">
              <a:effectLst/>
              <a:uFillTx/>
              <a:latin typeface="メイリオ"/>
            </a:endParaRPr>
          </a:p>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青森店で確立し、他店舗へ広げることも見据える</a:t>
            </a:r>
            <a:endParaRPr lang="en-US" sz="1400" b="1" u="none" strike="noStrike" dirty="0">
              <a:effectLst/>
              <a:uFillTx/>
              <a:latin typeface="メイリオ"/>
            </a:endParaRPr>
          </a:p>
        </p:txBody>
      </p:sp>
      <p:graphicFrame>
        <p:nvGraphicFramePr>
          <p:cNvPr id="7" name="提案の流れ 6"/>
          <p:cNvGraphicFramePr>
            <a:graphicFrameLocks noGrp="1"/>
          </p:cNvGraphicFramePr>
          <p:nvPr>
            <p:extLst>
              <p:ext uri="{D42A27DB-BD31-4B8C-83A1-F6EECF244321}">
                <p14:modId xmlns:p14="http://schemas.microsoft.com/office/powerpoint/2010/main" val="3956596197"/>
              </p:ext>
            </p:extLst>
          </p:nvPr>
        </p:nvGraphicFramePr>
        <p:xfrm>
          <a:off x="502920" y="1691640"/>
          <a:ext cx="8897112" cy="2852928"/>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1. 現状と打ち手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来場予約は目標50〜60件に対し35〜40件。広告とSEOで質の高い見込み客を集める。</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LINEは来場予約のご案内が中心</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2. 課題</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来場を決める前の検討中の方と、LINEでつながれていない。</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検討期間の約2週間の接点が、来場を左右する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3. 解決策</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資料請求以前から来場・契約までを追う。</a:t>
                      </a:r>
                      <a:endParaRPr lang="en-US" altLang="ja-JP" sz="13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300" b="0" dirty="0">
                          <a:solidFill>
                            <a:srgbClr val="333333"/>
                          </a:solidFill>
                          <a:latin typeface="メイリオ" panose="020B0604030504040204" pitchFamily="50" charset="-128"/>
                          <a:ea typeface="メイリオ" panose="020B0604030504040204" pitchFamily="50" charset="-128"/>
                        </a:rPr>
                        <a:t>前後検索に沿って配信し、来場前日のお知らせでキャンセルも減らす</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13232">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4. 今後の展開</a:t>
                      </a:r>
                      <a:endParaRPr lang="ja-JP" altLang="en-US" sz="14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0" dirty="0">
                          <a:solidFill>
                            <a:srgbClr val="333333"/>
                          </a:solidFill>
                          <a:latin typeface="メイリオ" panose="020B0604030504040204" pitchFamily="50" charset="-128"/>
                          <a:ea typeface="メイリオ" panose="020B0604030504040204" pitchFamily="50" charset="-128"/>
                        </a:rPr>
                        <a:t>青森店で型をつくり、全店に広げる</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aphicFrame>
        <p:nvGraphicFramePr>
          <p:cNvPr id="8" name="Appendix 7"/>
          <p:cNvGraphicFramePr>
            <a:graphicFrameLocks noGrp="1"/>
          </p:cNvGraphicFramePr>
          <p:nvPr/>
        </p:nvGraphicFramePr>
        <p:xfrm>
          <a:off x="502920" y="4846320"/>
          <a:ext cx="8897112" cy="457200"/>
        </p:xfrm>
        <a:graphic>
          <a:graphicData uri="http://schemas.openxmlformats.org/drawingml/2006/table">
            <a:tbl>
              <a:tblPr/>
              <a:tblGrid>
                <a:gridCol w="1920240">
                  <a:extLst>
                    <a:ext uri="{9D8B030D-6E8A-4147-A177-3AD203B41FA5}">
                      <a16:colId xmlns:a16="http://schemas.microsoft.com/office/drawing/2014/main" val="20000"/>
                    </a:ext>
                  </a:extLst>
                </a:gridCol>
                <a:gridCol w="6976872">
                  <a:extLst>
                    <a:ext uri="{9D8B030D-6E8A-4147-A177-3AD203B41FA5}">
                      <a16:colId xmlns:a16="http://schemas.microsoft.com/office/drawing/2014/main" val="20001"/>
                    </a:ext>
                  </a:extLst>
                </a:gridCol>
              </a:tblGrid>
              <a:tr h="457200">
                <a:tc>
                  <a:txBody>
                    <a:bodyPr/>
                    <a:lstStyle/>
                    <a:p>
                      <a:pPr algn="ctr">
                        <a:buNone/>
                      </a:pPr>
                      <a:r>
                        <a:rPr lang="ja-JP" altLang="en-US" sz="1250" b="1" dirty="0">
                          <a:solidFill>
                            <a:srgbClr val="7F7F7F"/>
                          </a:solidFill>
                          <a:latin typeface="メイリオ" panose="020B0604030504040204" pitchFamily="50" charset="-128"/>
                          <a:ea typeface="メイリオ" panose="020B0604030504040204" pitchFamily="50" charset="-128"/>
                        </a:rPr>
                        <a:t>Appendix</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LINE公式アカウントのメリット／中長期の施策／スポットでのご依頼</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現状と打ち手：広告改善とSEOで、質の高い流入を確保する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青森店の来場</a:t>
            </a:r>
            <a:r>
              <a:rPr lang="ja-JP" altLang="en-US" sz="1400" b="1" u="none" strike="noStrike" dirty="0">
                <a:effectLst/>
                <a:uFillTx/>
                <a:latin typeface="メイリオ" panose="020B0604030504040204" pitchFamily="50" charset="-128"/>
                <a:ea typeface="メイリオ" panose="020B0604030504040204" pitchFamily="50" charset="-128"/>
              </a:rPr>
              <a:t>が</a:t>
            </a:r>
            <a:r>
              <a:rPr lang="ja-JP" sz="1400" b="1" u="none" strike="noStrike" dirty="0">
                <a:effectLst/>
                <a:uFillTx/>
                <a:latin typeface="メイリオ" panose="020B0604030504040204" pitchFamily="50" charset="-128"/>
                <a:ea typeface="メイリオ" panose="020B0604030504040204" pitchFamily="50" charset="-128"/>
              </a:rPr>
              <a:t>目標に届いていない。集客フェーズは、広告の改善とSEOで立て直す</a:t>
            </a:r>
            <a:endParaRPr lang="en-US" altLang="ja-JP" sz="1400" b="1" u="none" strike="noStrike" dirty="0">
              <a:effectLst/>
              <a:uFillTx/>
              <a:latin typeface="メイリオ" panose="020B0604030504040204" pitchFamily="50" charset="-128"/>
              <a:ea typeface="メイリオ" panose="020B0604030504040204" pitchFamily="50" charset="-128"/>
            </a:endParaRPr>
          </a:p>
          <a:p>
            <a:pPr algn="ctr" defTabSz="914400">
              <a:lnSpc>
                <a:spcPct val="100000"/>
              </a:lnSpc>
            </a:pPr>
            <a:r>
              <a:rPr lang="ja-JP" altLang="en-US" sz="1400" b="1" dirty="0">
                <a:latin typeface="メイリオ" panose="020B0604030504040204" pitchFamily="50" charset="-128"/>
                <a:ea typeface="メイリオ" panose="020B0604030504040204" pitchFamily="50" charset="-128"/>
              </a:rPr>
              <a:t>⇒見込み客は</a:t>
            </a:r>
            <a:r>
              <a:rPr lang="en-US" altLang="ja-JP" sz="1400" b="1" dirty="0">
                <a:latin typeface="メイリオ" panose="020B0604030504040204" pitchFamily="50" charset="-128"/>
                <a:ea typeface="メイリオ" panose="020B0604030504040204" pitchFamily="50" charset="-128"/>
              </a:rPr>
              <a:t>LINE</a:t>
            </a:r>
            <a:r>
              <a:rPr lang="ja-JP" altLang="en-US" sz="1400" b="1" dirty="0">
                <a:latin typeface="メイリオ" panose="020B0604030504040204" pitchFamily="50" charset="-128"/>
                <a:ea typeface="メイリオ" panose="020B0604030504040204" pitchFamily="50" charset="-128"/>
              </a:rPr>
              <a:t>でナーチャリングする</a:t>
            </a:r>
            <a:endParaRPr lang="en-US" sz="1400" b="1" u="none" strike="noStrike" dirty="0">
              <a:effectLst/>
              <a:uFillTx/>
              <a:latin typeface="メイリオ"/>
            </a:endParaRPr>
          </a:p>
        </p:txBody>
      </p:sp>
      <p:sp>
        <p:nvSpPr>
          <p:cNvPr id="7" name="見出し 青森店の現在地"/>
          <p:cNvSpPr/>
          <p:nvPr/>
        </p:nvSpPr>
        <p:spPr>
          <a:xfrm>
            <a:off x="435836" y="1857894"/>
            <a:ext cx="434340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青森店の現在地</a:t>
            </a:r>
            <a:endParaRPr lang="ja-JP" altLang="en-US" sz="1300" dirty="0"/>
          </a:p>
        </p:txBody>
      </p:sp>
      <p:sp>
        <p:nvSpPr>
          <p:cNvPr id="9" name="見出し 集客フェーズの打ち手"/>
          <p:cNvSpPr/>
          <p:nvPr/>
        </p:nvSpPr>
        <p:spPr>
          <a:xfrm>
            <a:off x="5007836" y="1857894"/>
            <a:ext cx="4325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集客フェーズの打ち手</a:t>
            </a:r>
            <a:endParaRPr lang="ja-JP" altLang="en-US" sz="1300" dirty="0"/>
          </a:p>
        </p:txBody>
      </p:sp>
      <p:sp>
        <p:nvSpPr>
          <p:cNvPr id="10" name="打ち手1"/>
          <p:cNvSpPr/>
          <p:nvPr/>
        </p:nvSpPr>
        <p:spPr>
          <a:xfrm>
            <a:off x="5007836" y="226937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広告の改善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青森店の媒体配分とクリエイティブを見直し、来場予約のCPAを下げる</a:t>
            </a:r>
            <a:endParaRPr lang="ja-JP" altLang="en-US" sz="1300" dirty="0"/>
          </a:p>
        </p:txBody>
      </p:sp>
      <p:sp>
        <p:nvSpPr>
          <p:cNvPr id="11" name="打ち手2"/>
          <p:cNvSpPr/>
          <p:nvPr/>
        </p:nvSpPr>
        <p:spPr>
          <a:xfrm>
            <a:off x="5007836" y="3320934"/>
            <a:ext cx="4325112" cy="960120"/>
          </a:xfrm>
          <a:prstGeom prst="rect">
            <a:avLst/>
          </a:prstGeom>
          <a:noFill/>
          <a:ln w="9525">
            <a:solidFill>
              <a:srgbClr val="1F285A"/>
            </a:solidFill>
          </a:ln>
        </p:spPr>
        <p:txBody>
          <a:bodyPr wrap="square" lIns="137160" tIns="54864" rIns="109728" bIns="54864" rtlCol="0" anchor="ctr">
            <a:noAutofit/>
          </a:bodyPr>
          <a:lstStyle/>
          <a:p>
            <a:pPr algn="l">
              <a:lnSpc>
                <a:spcPct val="120000"/>
              </a:lnSpc>
              <a:buNone/>
            </a:pPr>
            <a:r>
              <a:rPr lang="ja-JP" altLang="en-US" sz="1400" b="1" dirty="0">
                <a:solidFill>
                  <a:srgbClr val="1F285A"/>
                </a:solidFill>
                <a:latin typeface="メイリオ" panose="020B0604030504040204" pitchFamily="50" charset="-128"/>
                <a:ea typeface="メイリオ" panose="020B0604030504040204" pitchFamily="50" charset="-128"/>
              </a:rPr>
              <a:t>SEO</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青森・八戸・弘前の地域キーワードと、AI検索への対応で、家づくりを具体的に検討している方の流入を増やす</a:t>
            </a:r>
            <a:endParaRPr lang="ja-JP" altLang="en-US" sz="1300" dirty="0"/>
          </a:p>
        </p:txBody>
      </p:sp>
      <p:sp>
        <p:nvSpPr>
          <p:cNvPr id="12" name="矢印下"/>
          <p:cNvSpPr/>
          <p:nvPr/>
        </p:nvSpPr>
        <p:spPr>
          <a:xfrm>
            <a:off x="6987512" y="4299341"/>
            <a:ext cx="365760" cy="256032"/>
          </a:xfrm>
          <a:prstGeom prst="rect">
            <a:avLst/>
          </a:prstGeom>
          <a:noFill/>
          <a:ln>
            <a:noFill/>
          </a:ln>
        </p:spPr>
        <p:txBody>
          <a:bodyPr wrap="square" lIns="0" tIns="0" rIns="0" bIns="0" rtlCol="0" anchor="ctr">
            <a:noAutofit/>
          </a:bodyPr>
          <a:lstStyle/>
          <a:p>
            <a:pPr algn="ctr">
              <a:buNone/>
            </a:pPr>
            <a:r>
              <a:rPr lang="ja-JP" altLang="en-US" sz="13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結果"/>
          <p:cNvSpPr/>
          <p:nvPr/>
        </p:nvSpPr>
        <p:spPr>
          <a:xfrm>
            <a:off x="5007836" y="4573662"/>
            <a:ext cx="4325112" cy="566928"/>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質が高く、熱量の高い見込み客の流入が増える</a:t>
            </a:r>
            <a:endParaRPr lang="ja-JP" altLang="en-US" sz="1300" dirty="0"/>
          </a:p>
        </p:txBody>
      </p:sp>
      <p:graphicFrame>
        <p:nvGraphicFramePr>
          <p:cNvPr id="15" name="現在地 14"/>
          <p:cNvGraphicFramePr>
            <a:graphicFrameLocks noGrp="1"/>
          </p:cNvGraphicFramePr>
          <p:nvPr>
            <p:extLst>
              <p:ext uri="{D42A27DB-BD31-4B8C-83A1-F6EECF244321}">
                <p14:modId xmlns:p14="http://schemas.microsoft.com/office/powerpoint/2010/main" val="1788489286"/>
              </p:ext>
            </p:extLst>
          </p:nvPr>
        </p:nvGraphicFramePr>
        <p:xfrm>
          <a:off x="435836" y="2269374"/>
          <a:ext cx="4343400" cy="2904132"/>
        </p:xfrm>
        <a:graphic>
          <a:graphicData uri="http://schemas.openxmlformats.org/drawingml/2006/table">
            <a:tbl>
              <a:tblPr/>
              <a:tblGrid>
                <a:gridCol w="14173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tblGrid>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（4展示場）</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目標 月50〜60件に対し、現状 月35〜40件</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来場予約のCPA</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Web広告で約30,000円</a:t>
                      </a:r>
                      <a:br>
                        <a:rPr lang="ja-JP" altLang="en-US" sz="1200" b="0" dirty="0">
                          <a:solidFill>
                            <a:srgbClr val="333333"/>
                          </a:solidFill>
                          <a:latin typeface="メイリオ" panose="020B0604030504040204" pitchFamily="50" charset="-128"/>
                          <a:ea typeface="メイリオ" panose="020B0604030504040204" pitchFamily="50" charset="-128"/>
                        </a:rPr>
                      </a:br>
                      <a:r>
                        <a:rPr lang="ja-JP" altLang="en-US" sz="1200" b="0" dirty="0">
                          <a:solidFill>
                            <a:srgbClr val="333333"/>
                          </a:solidFill>
                          <a:latin typeface="メイリオ" panose="020B0604030504040204" pitchFamily="50" charset="-128"/>
                          <a:ea typeface="メイリオ" panose="020B0604030504040204" pitchFamily="50" charset="-128"/>
                        </a:rPr>
                        <a:t>（ポータル・特典費を含めると注文住宅 </a:t>
                      </a:r>
                      <a:endParaRPr lang="en-US" altLang="ja-JP" sz="120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00" b="0" dirty="0">
                          <a:solidFill>
                            <a:srgbClr val="333333"/>
                          </a:solidFill>
                          <a:latin typeface="メイリオ" panose="020B0604030504040204" pitchFamily="50" charset="-128"/>
                          <a:ea typeface="メイリオ" panose="020B0604030504040204" pitchFamily="50" charset="-128"/>
                        </a:rPr>
                        <a:t>約50,000円）</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青森店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予約のキャンセルが2〜3割</a:t>
                      </a:r>
                      <a:br>
                        <a:rPr lang="ja-JP" altLang="en-US" sz="1250" b="0" dirty="0">
                          <a:solidFill>
                            <a:srgbClr val="333333"/>
                          </a:solidFill>
                          <a:latin typeface="メイリオ" panose="020B0604030504040204" pitchFamily="50" charset="-128"/>
                          <a:ea typeface="メイリオ" panose="020B0604030504040204" pitchFamily="50" charset="-128"/>
                        </a:rPr>
                      </a:br>
                      <a:r>
                        <a:rPr lang="ja-JP" altLang="en-US" sz="1250" b="0" dirty="0">
                          <a:solidFill>
                            <a:srgbClr val="333333"/>
                          </a:solidFill>
                          <a:latin typeface="メイリオ" panose="020B0604030504040204" pitchFamily="50" charset="-128"/>
                          <a:ea typeface="メイリオ" panose="020B0604030504040204" pitchFamily="50" charset="-128"/>
                        </a:rPr>
                        <a:t>八戸・おいらせより認知が浅い</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自社サイトの</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資料請求</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月一桁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0585">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検索広告のCPA</a:t>
                      </a:r>
                      <a:br>
                        <a:rPr lang="ja-JP" altLang="en-US" sz="1250" b="1" dirty="0">
                          <a:solidFill>
                            <a:srgbClr val="1F285A"/>
                          </a:solidFill>
                          <a:latin typeface="メイリオ" panose="020B0604030504040204" pitchFamily="50" charset="-128"/>
                          <a:ea typeface="メイリオ" panose="020B0604030504040204" pitchFamily="50" charset="-128"/>
                        </a:rPr>
                      </a:br>
                      <a:r>
                        <a:rPr lang="ja-JP" altLang="en-US" sz="1250" b="1" dirty="0">
                          <a:solidFill>
                            <a:srgbClr val="1F285A"/>
                          </a:solidFill>
                          <a:latin typeface="メイリオ" panose="020B0604030504040204" pitchFamily="50" charset="-128"/>
                          <a:ea typeface="メイリオ" panose="020B0604030504040204" pitchFamily="50" charset="-128"/>
                        </a:rPr>
                        <a:t>（9月）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14,796円 → 47,500円（前年同月比）</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LINE公式アカウントの現状：来場を決めた方へのご案内は整っている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実写真の配信と来場特典のご案内で、来場予約までの流れができている</a:t>
            </a:r>
            <a:endParaRPr lang="en-US" sz="1400" b="1" u="none" strike="noStrike" dirty="0">
              <a:effectLst/>
              <a:uFillTx/>
              <a:latin typeface="メイリオ"/>
            </a:endParaRPr>
          </a:p>
        </p:txBody>
      </p:sp>
      <p:graphicFrame>
        <p:nvGraphicFramePr>
          <p:cNvPr id="7" name="LINEの現状 6"/>
          <p:cNvGraphicFramePr>
            <a:graphicFrameLocks noGrp="1"/>
          </p:cNvGraphicFramePr>
          <p:nvPr>
            <p:extLst>
              <p:ext uri="{D42A27DB-BD31-4B8C-83A1-F6EECF244321}">
                <p14:modId xmlns:p14="http://schemas.microsoft.com/office/powerpoint/2010/main" val="2642181131"/>
              </p:ext>
            </p:extLst>
          </p:nvPr>
        </p:nvGraphicFramePr>
        <p:xfrm>
          <a:off x="502920" y="1691640"/>
          <a:ext cx="5532120" cy="3285053"/>
        </p:xfrm>
        <a:graphic>
          <a:graphicData uri="http://schemas.openxmlformats.org/drawingml/2006/table">
            <a:tbl>
              <a:tblPr/>
              <a:tblGrid>
                <a:gridCol w="1371600">
                  <a:extLst>
                    <a:ext uri="{9D8B030D-6E8A-4147-A177-3AD203B41FA5}">
                      <a16:colId xmlns:a16="http://schemas.microsoft.com/office/drawing/2014/main" val="20000"/>
                    </a:ext>
                  </a:extLst>
                </a:gridCol>
                <a:gridCol w="4160520">
                  <a:extLst>
                    <a:ext uri="{9D8B030D-6E8A-4147-A177-3AD203B41FA5}">
                      <a16:colId xmlns:a16="http://schemas.microsoft.com/office/drawing/2014/main" val="20001"/>
                    </a:ext>
                  </a:extLst>
                </a:gridCol>
              </a:tblGrid>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友だち数</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417人</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友だちの入口</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サイトのポップアップ「LINEお友だち登録キャンペーン」</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来場特典 最大7,000円分（予約来場 5,000円分＋友だち登録 2,000円分）</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6218">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配信</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見学会・来場予約のご案内が中心</a:t>
                      </a:r>
                      <a:endParaRPr lang="ja-JP" altLang="en-US" sz="1250" dirty="0"/>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実写真の画像とカルーセルで、見学会の中身が伝わる作り</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039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リッチメニュー</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予約／ホームページ／公式SNS</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32891">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1:1チャット</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担当者が返信する設定。個別のご相談を受けられる</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pic>
        <p:nvPicPr>
          <p:cNvPr id="8" name="LINEの配信" descr="tanaka_line_talk.png"/>
          <p:cNvPicPr>
            <a:picLocks noChangeAspect="1"/>
          </p:cNvPicPr>
          <p:nvPr/>
        </p:nvPicPr>
        <p:blipFill>
          <a:blip r:embed="rId2"/>
          <a:stretch>
            <a:fillRect/>
          </a:stretch>
        </p:blipFill>
        <p:spPr>
          <a:xfrm>
            <a:off x="6355080" y="1691640"/>
            <a:ext cx="1371600" cy="2971800"/>
          </a:xfrm>
          <a:prstGeom prst="rect">
            <a:avLst/>
          </a:prstGeom>
        </p:spPr>
      </p:pic>
      <p:sp>
        <p:nvSpPr>
          <p:cNvPr id="9" name="画像の説明"/>
          <p:cNvSpPr/>
          <p:nvPr/>
        </p:nvSpPr>
        <p:spPr>
          <a:xfrm>
            <a:off x="6172200" y="4709160"/>
            <a:ext cx="1737360"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LINEの配信</a:t>
            </a:r>
            <a:endParaRPr lang="ja-JP" altLang="en-US" sz="1200" dirty="0"/>
          </a:p>
        </p:txBody>
      </p:sp>
      <p:pic>
        <p:nvPicPr>
          <p:cNvPr id="10" name="サイトのポップアップ" descr="tanaka_line_popup.png"/>
          <p:cNvPicPr>
            <a:picLocks noChangeAspect="1"/>
          </p:cNvPicPr>
          <p:nvPr/>
        </p:nvPicPr>
        <p:blipFill>
          <a:blip r:embed="rId3"/>
          <a:stretch>
            <a:fillRect/>
          </a:stretch>
        </p:blipFill>
        <p:spPr>
          <a:xfrm>
            <a:off x="7909560" y="1691640"/>
            <a:ext cx="1490472" cy="1545336"/>
          </a:xfrm>
          <a:prstGeom prst="rect">
            <a:avLst/>
          </a:prstGeom>
        </p:spPr>
      </p:pic>
      <p:sp>
        <p:nvSpPr>
          <p:cNvPr id="11" name="画像の説明"/>
          <p:cNvSpPr/>
          <p:nvPr/>
        </p:nvSpPr>
        <p:spPr>
          <a:xfrm>
            <a:off x="7818120" y="3291840"/>
            <a:ext cx="1673352" cy="256032"/>
          </a:xfrm>
          <a:prstGeom prst="rect">
            <a:avLst/>
          </a:prstGeom>
          <a:noFill/>
          <a:ln>
            <a:noFill/>
          </a:ln>
        </p:spPr>
        <p:txBody>
          <a:bodyPr wrap="square" lIns="0" tIns="18288" rIns="0" bIns="0" rtlCol="0" anchor="t">
            <a:noAutofit/>
          </a:bodyPr>
          <a:lstStyle/>
          <a:p>
            <a:pPr algn="ctr">
              <a:buNone/>
            </a:pPr>
            <a:r>
              <a:rPr lang="ja-JP" altLang="en-US" sz="900" b="0" dirty="0">
                <a:solidFill>
                  <a:srgbClr val="7F7F7F"/>
                </a:solidFill>
                <a:latin typeface="メイリオ" panose="020B0604030504040204" pitchFamily="50" charset="-128"/>
                <a:ea typeface="メイリオ" panose="020B0604030504040204" pitchFamily="50" charset="-128"/>
              </a:rPr>
              <a:t>サイトのポップアップ</a:t>
            </a:r>
            <a:endParaRPr lang="ja-JP" altLang="en-US" sz="1200" dirty="0"/>
          </a:p>
        </p:txBody>
      </p:sp>
      <p:sp>
        <p:nvSpPr>
          <p:cNvPr id="12"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※2026年10月時点で、貴社のLINE公式アカウントとサイトを弊社で確認</a:t>
            </a:r>
            <a:endParaRPr lang="ja-JP" alt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競合のLINE運用：大進建設は特典で来場へ、一条工務店は情報でつなぐ</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友だち追加の入口と特典・あいさつ・リッチメニューを、各社の実際の画面で見る</a:t>
            </a:r>
            <a:endParaRPr lang="en-US" sz="1400" b="1" u="none" strike="noStrike" dirty="0">
              <a:effectLst/>
              <a:uFillTx/>
              <a:latin typeface="メイリオ"/>
              <a:ea typeface="メイリオ"/>
              <a:cs typeface="メイリオ"/>
            </a:endParaRPr>
          </a:p>
        </p:txBody>
      </p:sp>
      <p:pic>
        <p:nvPicPr>
          <p:cNvPr id="8" name="大進建設のポップアップ" descr="大進建設_LINE登録キャンペーン_20261016.png"/>
          <p:cNvPicPr>
            <a:picLocks noChangeAspect="1"/>
          </p:cNvPicPr>
          <p:nvPr/>
        </p:nvPicPr>
        <p:blipFill>
          <a:blip r:embed="rId2"/>
          <a:stretch>
            <a:fillRect/>
          </a:stretch>
        </p:blipFill>
        <p:spPr>
          <a:xfrm>
            <a:off x="411480" y="3113532"/>
            <a:ext cx="1325880" cy="1325880"/>
          </a:xfrm>
          <a:prstGeom prst="rect">
            <a:avLst/>
          </a:prstGeom>
        </p:spPr>
      </p:pic>
      <p:sp>
        <p:nvSpPr>
          <p:cNvPr id="9" name="会社 大進建設"/>
          <p:cNvSpPr/>
          <p:nvPr/>
        </p:nvSpPr>
        <p:spPr>
          <a:xfrm>
            <a:off x="411480" y="1481328"/>
            <a:ext cx="443484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00" dirty="0">
              <a:latin typeface="メイリオ"/>
              <a:ea typeface="メイリオ"/>
              <a:cs typeface="メイリオ"/>
            </a:endParaRPr>
          </a:p>
        </p:txBody>
      </p:sp>
      <p:sp>
        <p:nvSpPr>
          <p:cNvPr id="10" name="会社 一条工務店"/>
          <p:cNvSpPr/>
          <p:nvPr/>
        </p:nvSpPr>
        <p:spPr>
          <a:xfrm>
            <a:off x="5056632" y="1481328"/>
            <a:ext cx="4434840" cy="329184"/>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cs typeface="メイリオ"/>
              </a:rPr>
              <a:t>一条工務店</a:t>
            </a:r>
            <a:endParaRPr lang="ja-JP" altLang="en-US" sz="1200" dirty="0">
              <a:latin typeface="メイリオ"/>
              <a:ea typeface="メイリオ"/>
              <a:cs typeface="メイリオ"/>
            </a:endParaRPr>
          </a:p>
        </p:txBody>
      </p:sp>
      <p:sp>
        <p:nvSpPr>
          <p:cNvPr id="11" name="見出し 入口と特典&#10;（サイト）"/>
          <p:cNvSpPr/>
          <p:nvPr/>
        </p:nvSpPr>
        <p:spPr>
          <a:xfrm>
            <a:off x="411480" y="1874519"/>
            <a:ext cx="132588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入口と特典</a:t>
            </a:r>
            <a:endParaRPr lang="ja-JP" altLang="en-US" sz="1200" dirty="0">
              <a:latin typeface="メイリオ"/>
              <a:ea typeface="メイリオ"/>
              <a:cs typeface="メイリオ"/>
            </a:endParaRPr>
          </a:p>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（サイト）</a:t>
            </a:r>
            <a:endParaRPr lang="ja-JP" altLang="en-US" sz="1200" dirty="0">
              <a:latin typeface="メイリオ"/>
              <a:ea typeface="メイリオ"/>
              <a:cs typeface="メイリオ"/>
            </a:endParaRPr>
          </a:p>
        </p:txBody>
      </p:sp>
      <p:sp>
        <p:nvSpPr>
          <p:cNvPr id="12" name="画面の説明"/>
          <p:cNvSpPr/>
          <p:nvPr/>
        </p:nvSpPr>
        <p:spPr>
          <a:xfrm>
            <a:off x="411480" y="5266944"/>
            <a:ext cx="132588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LINE登録で最大4万円分</a:t>
            </a:r>
            <a:endParaRPr lang="ja-JP" altLang="en-US" sz="1200" dirty="0">
              <a:latin typeface="メイリオ"/>
              <a:ea typeface="メイリオ"/>
              <a:cs typeface="メイリオ"/>
            </a:endParaRPr>
          </a:p>
        </p:txBody>
      </p:sp>
      <p:sp>
        <p:nvSpPr>
          <p:cNvPr id="13" name="見出し あいさつ"/>
          <p:cNvSpPr/>
          <p:nvPr/>
        </p:nvSpPr>
        <p:spPr>
          <a:xfrm>
            <a:off x="1965960" y="1874519"/>
            <a:ext cx="132588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pic>
        <p:nvPicPr>
          <p:cNvPr id="14" name="Picture 13" descr="tanaka_line_daishin_aisatsu.png"/>
          <p:cNvPicPr>
            <a:picLocks noChangeAspect="1"/>
          </p:cNvPicPr>
          <p:nvPr/>
        </p:nvPicPr>
        <p:blipFill>
          <a:blip r:embed="rId3"/>
          <a:stretch>
            <a:fillRect/>
          </a:stretch>
        </p:blipFill>
        <p:spPr>
          <a:xfrm>
            <a:off x="1965960" y="2340864"/>
            <a:ext cx="1325880" cy="2871942"/>
          </a:xfrm>
          <a:prstGeom prst="rect">
            <a:avLst/>
          </a:prstGeom>
          <a:ln w="9525">
            <a:solidFill>
              <a:srgbClr val="BFBFBF"/>
            </a:solidFill>
          </a:ln>
        </p:spPr>
      </p:pic>
      <p:sp>
        <p:nvSpPr>
          <p:cNvPr id="15" name="画面の説明"/>
          <p:cNvSpPr/>
          <p:nvPr/>
        </p:nvSpPr>
        <p:spPr>
          <a:xfrm>
            <a:off x="1965960" y="5266944"/>
            <a:ext cx="132588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来場特典・相談・来場予約をLINEで受付</a:t>
            </a:r>
            <a:endParaRPr lang="ja-JP" altLang="en-US" sz="1200" dirty="0">
              <a:latin typeface="メイリオ"/>
              <a:ea typeface="メイリオ"/>
              <a:cs typeface="メイリオ"/>
            </a:endParaRPr>
          </a:p>
        </p:txBody>
      </p:sp>
      <p:sp>
        <p:nvSpPr>
          <p:cNvPr id="16" name="見出し 追加後の配信"/>
          <p:cNvSpPr/>
          <p:nvPr/>
        </p:nvSpPr>
        <p:spPr>
          <a:xfrm>
            <a:off x="3520440" y="1874519"/>
            <a:ext cx="132588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追加後の配信</a:t>
            </a:r>
            <a:endParaRPr lang="ja-JP" altLang="en-US" sz="1200" dirty="0">
              <a:latin typeface="メイリオ"/>
              <a:ea typeface="メイリオ"/>
              <a:cs typeface="メイリオ"/>
            </a:endParaRPr>
          </a:p>
        </p:txBody>
      </p:sp>
      <p:sp>
        <p:nvSpPr>
          <p:cNvPr id="17" name="差し込み ステップ配信"/>
          <p:cNvSpPr/>
          <p:nvPr/>
        </p:nvSpPr>
        <p:spPr>
          <a:xfrm>
            <a:off x="3520440" y="2340864"/>
            <a:ext cx="1325880" cy="2871216"/>
          </a:xfrm>
          <a:prstGeom prst="rect">
            <a:avLst/>
          </a:prstGeom>
          <a:noFill/>
          <a:ln w="9525">
            <a:solidFill>
              <a:srgbClr val="7F7F7F"/>
            </a:solidFill>
            <a:prstDash val="dash"/>
          </a:ln>
        </p:spPr>
        <p:txBody>
          <a:bodyPr wrap="square" lIns="73152" tIns="36576" rIns="73152" bIns="36576" rtlCol="0" anchor="ctr">
            <a:noAutofit/>
          </a:bodyPr>
          <a:lstStyle/>
          <a:p>
            <a:pPr algn="ctr">
              <a:lnSpc>
                <a:spcPct val="130000"/>
              </a:lnSpc>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ステップ配信の画面</a:t>
            </a:r>
            <a:endParaRPr lang="ja-JP" altLang="en-US" sz="1200" dirty="0">
              <a:latin typeface="メイリオ"/>
              <a:ea typeface="メイリオ"/>
              <a:cs typeface="メイリオ"/>
            </a:endParaRPr>
          </a:p>
          <a:p>
            <a:pPr algn="ctr">
              <a:lnSpc>
                <a:spcPct val="130000"/>
              </a:lnSpc>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（差し込み）</a:t>
            </a:r>
            <a:endParaRPr lang="ja-JP" altLang="en-US" sz="1200" dirty="0">
              <a:latin typeface="メイリオ"/>
              <a:ea typeface="メイリオ"/>
              <a:cs typeface="メイリオ"/>
            </a:endParaRPr>
          </a:p>
        </p:txBody>
      </p:sp>
      <p:sp>
        <p:nvSpPr>
          <p:cNvPr id="18" name="見出し あいさつ"/>
          <p:cNvSpPr/>
          <p:nvPr/>
        </p:nvSpPr>
        <p:spPr>
          <a:xfrm>
            <a:off x="5056632" y="1874519"/>
            <a:ext cx="132588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00" dirty="0">
              <a:latin typeface="メイリオ"/>
              <a:ea typeface="メイリオ"/>
              <a:cs typeface="メイリオ"/>
            </a:endParaRPr>
          </a:p>
        </p:txBody>
      </p:sp>
      <p:pic>
        <p:nvPicPr>
          <p:cNvPr id="19" name="Picture 18" descr="tanaka_line_ichijo_top.png"/>
          <p:cNvPicPr>
            <a:picLocks noChangeAspect="1"/>
          </p:cNvPicPr>
          <p:nvPr/>
        </p:nvPicPr>
        <p:blipFill>
          <a:blip r:embed="rId4"/>
          <a:stretch>
            <a:fillRect/>
          </a:stretch>
        </p:blipFill>
        <p:spPr>
          <a:xfrm>
            <a:off x="5056632" y="2340864"/>
            <a:ext cx="1325880" cy="2871942"/>
          </a:xfrm>
          <a:prstGeom prst="rect">
            <a:avLst/>
          </a:prstGeom>
          <a:ln w="9525">
            <a:solidFill>
              <a:srgbClr val="BFBFBF"/>
            </a:solidFill>
          </a:ln>
        </p:spPr>
      </p:pic>
      <p:sp>
        <p:nvSpPr>
          <p:cNvPr id="20" name="画面の説明"/>
          <p:cNvSpPr/>
          <p:nvPr/>
        </p:nvSpPr>
        <p:spPr>
          <a:xfrm>
            <a:off x="5056632" y="5266944"/>
            <a:ext cx="132588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アンケートへ案内。TOPに来場キャンペーン</a:t>
            </a:r>
            <a:endParaRPr lang="ja-JP" altLang="en-US" sz="1200" dirty="0">
              <a:latin typeface="メイリオ"/>
              <a:ea typeface="メイリオ"/>
              <a:cs typeface="メイリオ"/>
            </a:endParaRPr>
          </a:p>
        </p:txBody>
      </p:sp>
      <p:sp>
        <p:nvSpPr>
          <p:cNvPr id="21" name="見出し リッチメニュー"/>
          <p:cNvSpPr/>
          <p:nvPr/>
        </p:nvSpPr>
        <p:spPr>
          <a:xfrm>
            <a:off x="6611112" y="1874519"/>
            <a:ext cx="132588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00" dirty="0">
              <a:latin typeface="メイリオ"/>
              <a:ea typeface="メイリオ"/>
              <a:cs typeface="メイリオ"/>
            </a:endParaRPr>
          </a:p>
        </p:txBody>
      </p:sp>
      <p:pic>
        <p:nvPicPr>
          <p:cNvPr id="22" name="Picture 21" descr="tanaka_line_ichijo_contents.png"/>
          <p:cNvPicPr>
            <a:picLocks noChangeAspect="1"/>
          </p:cNvPicPr>
          <p:nvPr/>
        </p:nvPicPr>
        <p:blipFill>
          <a:blip r:embed="rId5"/>
          <a:stretch>
            <a:fillRect/>
          </a:stretch>
        </p:blipFill>
        <p:spPr>
          <a:xfrm>
            <a:off x="6611112" y="2340864"/>
            <a:ext cx="1325880" cy="2871942"/>
          </a:xfrm>
          <a:prstGeom prst="rect">
            <a:avLst/>
          </a:prstGeom>
          <a:ln w="9525">
            <a:solidFill>
              <a:srgbClr val="BFBFBF"/>
            </a:solidFill>
          </a:ln>
        </p:spPr>
      </p:pic>
      <p:sp>
        <p:nvSpPr>
          <p:cNvPr id="23" name="画面の説明"/>
          <p:cNvSpPr/>
          <p:nvPr/>
        </p:nvSpPr>
        <p:spPr>
          <a:xfrm>
            <a:off x="6611112" y="5266944"/>
            <a:ext cx="1325880" cy="713232"/>
          </a:xfrm>
          <a:prstGeom prst="rect">
            <a:avLst/>
          </a:prstGeom>
          <a:noFill/>
          <a:ln>
            <a:noFill/>
          </a:ln>
        </p:spPr>
        <p:txBody>
          <a:bodyPr wrap="square" lIns="18288" tIns="18288" rIns="18288" bIns="0" rtlCol="0" anchor="t">
            <a:noAutofit/>
          </a:bodyPr>
          <a:lstStyle/>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コンテンツ：性能・暮らし・実例など</a:t>
            </a:r>
            <a:endParaRPr lang="ja-JP" altLang="en-US" sz="1200" dirty="0">
              <a:latin typeface="メイリオ"/>
              <a:ea typeface="メイリオ"/>
              <a:cs typeface="メイリオ"/>
            </a:endParaRPr>
          </a:p>
        </p:txBody>
      </p:sp>
      <p:sp>
        <p:nvSpPr>
          <p:cNvPr id="24" name="見出し 追加後の配信"/>
          <p:cNvSpPr/>
          <p:nvPr/>
        </p:nvSpPr>
        <p:spPr>
          <a:xfrm>
            <a:off x="8165592" y="1874519"/>
            <a:ext cx="1325880" cy="420624"/>
          </a:xfrm>
          <a:prstGeom prst="rect">
            <a:avLst/>
          </a:prstGeom>
          <a:noFill/>
          <a:ln>
            <a:noFill/>
          </a:ln>
        </p:spPr>
        <p:txBody>
          <a:bodyPr wrap="square" lIns="0" tIns="0" rIns="0" bIns="18288" rtlCol="0" anchor="b">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追加後の配信</a:t>
            </a:r>
            <a:endParaRPr lang="ja-JP" altLang="en-US" sz="1200" dirty="0">
              <a:latin typeface="メイリオ"/>
              <a:ea typeface="メイリオ"/>
              <a:cs typeface="メイリオ"/>
            </a:endParaRPr>
          </a:p>
        </p:txBody>
      </p:sp>
      <p:sp>
        <p:nvSpPr>
          <p:cNvPr id="25" name="差し込み ステップ配信"/>
          <p:cNvSpPr/>
          <p:nvPr/>
        </p:nvSpPr>
        <p:spPr>
          <a:xfrm>
            <a:off x="8165592" y="2340864"/>
            <a:ext cx="1325880" cy="2871216"/>
          </a:xfrm>
          <a:prstGeom prst="rect">
            <a:avLst/>
          </a:prstGeom>
          <a:noFill/>
          <a:ln w="9525">
            <a:solidFill>
              <a:srgbClr val="7F7F7F"/>
            </a:solidFill>
            <a:prstDash val="dash"/>
          </a:ln>
        </p:spPr>
        <p:txBody>
          <a:bodyPr wrap="square" lIns="73152" tIns="36576" rIns="73152" bIns="36576" rtlCol="0" anchor="ctr">
            <a:noAutofit/>
          </a:bodyPr>
          <a:lstStyle/>
          <a:p>
            <a:pPr algn="ctr">
              <a:lnSpc>
                <a:spcPct val="130000"/>
              </a:lnSpc>
              <a:buNone/>
            </a:pPr>
            <a:r>
              <a:rPr lang="ja-JP" altLang="en-US" sz="1200" b="1" dirty="0">
                <a:solidFill>
                  <a:srgbClr val="7F7F7F"/>
                </a:solidFill>
                <a:latin typeface="メイリオ" panose="020B0604030504040204" pitchFamily="50" charset="-128"/>
                <a:ea typeface="メイリオ" panose="020B0604030504040204" pitchFamily="50" charset="-128"/>
                <a:cs typeface="メイリオ"/>
              </a:rPr>
              <a:t>ステップ配信の画面</a:t>
            </a:r>
            <a:endParaRPr lang="ja-JP" altLang="en-US" sz="1200" dirty="0">
              <a:latin typeface="メイリオ"/>
              <a:ea typeface="メイリオ"/>
              <a:cs typeface="メイリオ"/>
            </a:endParaRPr>
          </a:p>
          <a:p>
            <a:pPr algn="ctr">
              <a:lnSpc>
                <a:spcPct val="130000"/>
              </a:lnSpc>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（差し込み）</a:t>
            </a:r>
            <a:endParaRPr lang="ja-JP" altLang="en-US" sz="1200" dirty="0">
              <a:latin typeface="メイリオ"/>
              <a:ea typeface="メイリオ"/>
              <a:cs typeface="メイリオ"/>
            </a:endParaRPr>
          </a:p>
        </p:txBody>
      </p:sp>
      <p:sp>
        <p:nvSpPr>
          <p:cNvPr id="26" name="区切り"/>
          <p:cNvSpPr/>
          <p:nvPr/>
        </p:nvSpPr>
        <p:spPr>
          <a:xfrm>
            <a:off x="4914900" y="1481328"/>
            <a:ext cx="9144" cy="4526280"/>
          </a:xfrm>
          <a:prstGeom prst="rect">
            <a:avLst/>
          </a:prstGeom>
          <a:solidFill>
            <a:srgbClr val="D9D9D9"/>
          </a:solidFill>
          <a:ln>
            <a:noFill/>
          </a:ln>
        </p:spPr>
        <p:txBody>
          <a:bodyPr wrap="square" lIns="73152" tIns="36576" rIns="73152" bIns="36576" rtlCol="0" anchor="ctr">
            <a:noAutofit/>
          </a:bodyPr>
          <a:lstStyle/>
          <a:p>
            <a:pPr algn="l">
              <a:buNone/>
            </a:pPr>
            <a:endParaRPr lang="ja-JP" altLang="en-US" sz="1200" dirty="0">
              <a:latin typeface="メイリオ"/>
              <a:ea typeface="メイリオ"/>
              <a:cs typeface="メイリオ"/>
            </a:endParaRPr>
          </a:p>
        </p:txBody>
      </p:sp>
      <p:sp>
        <p:nvSpPr>
          <p:cNvPr id="27" name="注記"/>
          <p:cNvSpPr/>
          <p:nvPr/>
        </p:nvSpPr>
        <p:spPr>
          <a:xfrm>
            <a:off x="502920" y="6053328"/>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※各社のLINE公式アカウントより（2026年10月19日確認）。サイトのポップアップは大進建設の公式サイトより（2026年10月16日確認）</a:t>
            </a:r>
            <a:endParaRPr lang="ja-JP" altLang="en-US" sz="1200" dirty="0">
              <a:latin typeface="メイリオ"/>
              <a:ea typeface="メイリオ"/>
              <a:cs typeface="メイリオ"/>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cs typeface="メイリオ"/>
              </a:rPr>
              <a:t>競合の取り組みに対して：LINEで、タナカホームを選ぶ理由を届ける</a:t>
            </a:r>
            <a:endParaRPr lang="en-US" sz="1600" b="0" u="none" strike="noStrike">
              <a:solidFill>
                <a:srgbClr val="000000"/>
              </a:solidFill>
              <a:effectLst/>
              <a:uFillTx/>
              <a:latin typeface="メイリオ"/>
              <a:ea typeface="メイリオ"/>
              <a:cs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cs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cs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cs typeface="メイリオ"/>
              </a:rPr>
              <a:t>今の来場特典に加え、検討の順番に沿った情報で、資料請求から来場・契約まで追う</a:t>
            </a:r>
            <a:endParaRPr lang="en-US" sz="1400" b="1" u="none" strike="noStrike" dirty="0">
              <a:effectLst/>
              <a:uFillTx/>
              <a:latin typeface="メイリオ"/>
              <a:ea typeface="メイリオ"/>
              <a:cs typeface="メイリオ"/>
            </a:endParaRPr>
          </a:p>
        </p:txBody>
      </p:sp>
      <p:sp>
        <p:nvSpPr>
          <p:cNvPr id="8" name="示唆"/>
          <p:cNvSpPr/>
          <p:nvPr/>
        </p:nvSpPr>
        <p:spPr>
          <a:xfrm>
            <a:off x="502920" y="534924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cs typeface="メイリオ"/>
              </a:rPr>
              <a:t>ポイントは、比べられている間に、</a:t>
            </a:r>
            <a:r>
              <a:rPr lang="ja-JP" altLang="en-US" sz="1300" b="1" dirty="0">
                <a:solidFill>
                  <a:srgbClr val="C00000"/>
                </a:solidFill>
                <a:latin typeface="メイリオ" panose="020B0604030504040204" pitchFamily="50" charset="-128"/>
                <a:ea typeface="メイリオ" panose="020B0604030504040204" pitchFamily="50" charset="-128"/>
                <a:cs typeface="メイリオ"/>
              </a:rPr>
              <a:t>タナカホームを選ぶ理由を届けられること</a:t>
            </a:r>
            <a:endParaRPr lang="ja-JP" altLang="en-US" sz="1200" dirty="0">
              <a:latin typeface="メイリオ"/>
              <a:ea typeface="メイリオ"/>
              <a:cs typeface="メイリオ"/>
            </a:endParaRPr>
          </a:p>
        </p:txBody>
      </p:sp>
      <p:graphicFrame>
        <p:nvGraphicFramePr>
          <p:cNvPr id="9" name="LINEの運用 8"/>
          <p:cNvGraphicFramePr>
            <a:graphicFrameLocks noGrp="1"/>
          </p:cNvGraphicFramePr>
          <p:nvPr/>
        </p:nvGraphicFramePr>
        <p:xfrm>
          <a:off x="502920" y="1572768"/>
          <a:ext cx="8897112" cy="3566160"/>
        </p:xfrm>
        <a:graphic>
          <a:graphicData uri="http://schemas.openxmlformats.org/drawingml/2006/table">
            <a:tbl>
              <a:tblPr/>
              <a:tblGrid>
                <a:gridCol w="1325880"/>
                <a:gridCol w="2331720"/>
                <a:gridCol w="2377440"/>
                <a:gridCol w="2862072"/>
              </a:tblGrid>
              <a:tr h="384048">
                <a:tc>
                  <a:txBody>
                    <a:bodyPr/>
                    <a:lstStyle/>
                    <a:p>
                      <a:pPr algn="ctr">
                        <a:buNone/>
                      </a:pPr>
                      <a:endParaRPr lang="ja-JP" altLang="en-US" sz="1250" dirty="0">
                        <a:latin typeface="メイリオ"/>
                        <a:ea typeface="メイリオ"/>
                        <a:cs typeface="メイリオ"/>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cs typeface="メイリオ"/>
                        </a:rPr>
                        <a:t>大進建設</a:t>
                      </a:r>
                      <a:endParaRPr lang="ja-JP" altLang="en-US" sz="1250" dirty="0">
                        <a:latin typeface="メイリオ"/>
                        <a:ea typeface="メイリオ"/>
                        <a:cs typeface="メイリオ"/>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cs typeface="メイリオ"/>
                        </a:rPr>
                        <a:t>一条工務店</a:t>
                      </a:r>
                      <a:endParaRPr lang="ja-JP" altLang="en-US" sz="1250" dirty="0">
                        <a:latin typeface="メイリオ"/>
                        <a:ea typeface="メイリオ"/>
                        <a:cs typeface="メイリオ"/>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cs typeface="メイリオ"/>
                        </a:rPr>
                        <a:t>タナカホームの運用（ご提案）</a:t>
                      </a:r>
                      <a:endParaRPr lang="ja-JP" altLang="en-US" sz="1250" dirty="0">
                        <a:latin typeface="メイリオ"/>
                        <a:ea typeface="メイリオ"/>
                        <a:cs typeface="メイリオ"/>
                      </a:endParaRPr>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r>
              <a:tr h="82296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cs typeface="メイリオ"/>
                        </a:rPr>
                        <a:t>入口と特典</a:t>
                      </a:r>
                      <a:endParaRPr lang="ja-JP" altLang="en-US" sz="125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サイトのポップアップ「LINE登録で最大4万円分」</a:t>
                      </a:r>
                      <a:endParaRPr lang="ja-JP" altLang="en-US" sz="120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サイトの公式SNSの一覧から友だち追加</a:t>
                      </a:r>
                      <a:endParaRPr lang="ja-JP" altLang="en-US" sz="120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今の来場特典に加え、サイトを閉じるとき・資料請求の完了直後にも入口をつくる</a:t>
                      </a:r>
                      <a:endParaRPr lang="ja-JP" altLang="en-US" sz="120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r>
              <a:tr h="82296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cs typeface="メイリオ"/>
                        </a:rPr>
                        <a:t>あいさつ</a:t>
                      </a:r>
                      <a:endParaRPr lang="ja-JP" altLang="en-US" sz="125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来場特典・相談・来場予約をLINEで受け付け、資料請求とイベントのリンクを案内</a:t>
                      </a:r>
                      <a:endParaRPr lang="ja-JP" altLang="en-US" sz="120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1分のアンケートに答えると、オーナー様の実例や家づくりの知識が届く</a:t>
                      </a:r>
                      <a:endParaRPr lang="ja-JP" altLang="en-US" sz="120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来場予約・資料請求の案内に加え、平屋か2階建てか・予算の簡易診断へ案内する</a:t>
                      </a:r>
                      <a:endParaRPr lang="ja-JP" altLang="en-US" sz="120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r>
              <a:tr h="82296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cs typeface="メイリオ"/>
                        </a:rPr>
                        <a:t>リッチメニュー</a:t>
                      </a:r>
                      <a:endParaRPr lang="ja-JP" altLang="en-US" sz="125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友だち追加直後の画面では表示なし（相談・来場予約はメッセージで受付）</a:t>
                      </a:r>
                      <a:endParaRPr lang="ja-JP" altLang="en-US" sz="120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cs typeface="メイリオ"/>
                        </a:rPr>
                        <a:t>「TOP」（展示場・カタログ請求・来場キャンペーン）と「コンテンツ」（性能・暮らし・実例）の2つ</a:t>
                      </a:r>
                      <a:endParaRPr lang="ja-JP" altLang="en-US" sz="120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今の「予約／ホームページ／公式SNS」に、施工事例・ルームツアー・資金相談を足す</a:t>
                      </a:r>
                      <a:endParaRPr lang="ja-JP" altLang="en-US" sz="120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r>
              <a:tr h="713232">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cs typeface="メイリオ"/>
                        </a:rPr>
                        <a:t>追加後の配信</a:t>
                      </a:r>
                      <a:endParaRPr lang="ja-JP" altLang="en-US" sz="125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endParaRPr lang="ja-JP" altLang="en-US" sz="120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endParaRPr lang="ja-JP" altLang="en-US" sz="120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cs typeface="メイリオ"/>
                        </a:rPr>
                        <a:t>前後検索の順番に沿ったステップ配信（全5通）で、来場予約まで案内する</a:t>
                      </a:r>
                      <a:endParaRPr lang="ja-JP" altLang="en-US" sz="1200" dirty="0">
                        <a:latin typeface="メイリオ"/>
                        <a:ea typeface="メイリオ"/>
                        <a:cs typeface="メイリオ"/>
                      </a:endParaRPr>
                    </a:p>
                  </a:txBody>
                  <a:tcPr marL="91440"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r>
            </a:tbl>
          </a:graphicData>
        </a:graphic>
      </p:graphicFrame>
      <p:sp>
        <p:nvSpPr>
          <p:cNvPr id="10" name="差し込み ステップ配信"/>
          <p:cNvSpPr/>
          <p:nvPr/>
        </p:nvSpPr>
        <p:spPr>
          <a:xfrm>
            <a:off x="1883664" y="4480559"/>
            <a:ext cx="2221991" cy="603504"/>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ステップ配信の内容（差し込み）</a:t>
            </a:r>
            <a:endParaRPr lang="ja-JP" altLang="en-US" sz="1200" dirty="0">
              <a:latin typeface="メイリオ"/>
              <a:ea typeface="メイリオ"/>
              <a:cs typeface="メイリオ"/>
            </a:endParaRPr>
          </a:p>
        </p:txBody>
      </p:sp>
      <p:sp>
        <p:nvSpPr>
          <p:cNvPr id="11" name="差し込み ステップ配信"/>
          <p:cNvSpPr/>
          <p:nvPr/>
        </p:nvSpPr>
        <p:spPr>
          <a:xfrm>
            <a:off x="4215383" y="4480559"/>
            <a:ext cx="2267712" cy="603504"/>
          </a:xfrm>
          <a:prstGeom prst="rect">
            <a:avLst/>
          </a:prstGeom>
          <a:noFill/>
          <a:ln w="9525">
            <a:solidFill>
              <a:srgbClr val="7F7F7F"/>
            </a:solidFill>
            <a:prstDash val="dash"/>
          </a:ln>
        </p:spPr>
        <p:txBody>
          <a:bodyPr wrap="square" lIns="73152" tIns="36576" rIns="73152" bIns="36576" rtlCol="0" anchor="ctr">
            <a:noAutofit/>
          </a:bodyPr>
          <a:lstStyle/>
          <a:p>
            <a:pPr algn="ctr">
              <a:buNone/>
            </a:pPr>
            <a:r>
              <a:rPr lang="ja-JP" altLang="en-US" sz="1200" b="0" dirty="0">
                <a:solidFill>
                  <a:srgbClr val="7F7F7F"/>
                </a:solidFill>
                <a:latin typeface="メイリオ" panose="020B0604030504040204" pitchFamily="50" charset="-128"/>
                <a:ea typeface="メイリオ" panose="020B0604030504040204" pitchFamily="50" charset="-128"/>
                <a:cs typeface="メイリオ"/>
              </a:rPr>
              <a:t>ステップ配信の内容（差し込み）</a:t>
            </a:r>
            <a:endParaRPr lang="ja-JP" altLang="en-US" sz="1200" dirty="0">
              <a:latin typeface="メイリオ"/>
              <a:ea typeface="メイリオ"/>
              <a:cs typeface="メイリオ"/>
            </a:endParaRPr>
          </a:p>
        </p:txBody>
      </p:sp>
      <p:sp>
        <p:nvSpPr>
          <p:cNvPr id="12" name="注記"/>
          <p:cNvSpPr/>
          <p:nvPr/>
        </p:nvSpPr>
        <p:spPr>
          <a:xfrm>
            <a:off x="502920" y="6035040"/>
            <a:ext cx="8897112" cy="256032"/>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cs typeface="メイリオ"/>
              </a:rPr>
              <a:t>※各社のLINE公式アカウントより（2026年10月19日確認）。入口・ポップアップは各社の公式サイトより（2026年10月16日確認）</a:t>
            </a:r>
            <a:endParaRPr lang="ja-JP" altLang="en-US" sz="1200" dirty="0">
              <a:latin typeface="メイリオ"/>
              <a:ea typeface="メイリオ"/>
              <a:cs typeface="メイリオ"/>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課題：来場を決める前の検討中の方と、LINEでつながれていない</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サイトに来た方の多くは、来場予約も資料請求もせずに離れている</a:t>
            </a:r>
            <a:endParaRPr lang="en-US" sz="1400" b="1" u="none" strike="noStrike" dirty="0">
              <a:effectLst/>
              <a:uFillTx/>
              <a:latin typeface="メイリオ"/>
            </a:endParaRPr>
          </a:p>
        </p:txBody>
      </p:sp>
      <p:sp>
        <p:nvSpPr>
          <p:cNvPr id="7" name="流れ1"/>
          <p:cNvSpPr/>
          <p:nvPr/>
        </p:nvSpPr>
        <p:spPr>
          <a:xfrm>
            <a:off x="50292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流入</a:t>
            </a:r>
            <a:endParaRPr lang="ja-JP" altLang="en-US" sz="1300" dirty="0"/>
          </a:p>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広告・SEO・ポータル</a:t>
            </a:r>
            <a:endParaRPr lang="ja-JP" altLang="en-US" sz="1300" dirty="0"/>
          </a:p>
        </p:txBody>
      </p:sp>
      <p:sp>
        <p:nvSpPr>
          <p:cNvPr id="8" name="矢印"/>
          <p:cNvSpPr/>
          <p:nvPr/>
        </p:nvSpPr>
        <p:spPr>
          <a:xfrm>
            <a:off x="250774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80035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4805172"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5097779"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来場予約・来場</a:t>
            </a:r>
            <a:endParaRPr lang="ja-JP" altLang="en-US" sz="1300" dirty="0"/>
          </a:p>
        </p:txBody>
      </p:sp>
      <p:sp>
        <p:nvSpPr>
          <p:cNvPr id="12" name="矢印"/>
          <p:cNvSpPr/>
          <p:nvPr/>
        </p:nvSpPr>
        <p:spPr>
          <a:xfrm>
            <a:off x="7102601" y="1691640"/>
            <a:ext cx="292608" cy="658368"/>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7395210" y="1691640"/>
            <a:ext cx="2004822" cy="658368"/>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商談・契約</a:t>
            </a:r>
            <a:endParaRPr lang="ja-JP" altLang="en-US" sz="1300" dirty="0"/>
          </a:p>
        </p:txBody>
      </p:sp>
      <p:sp>
        <p:nvSpPr>
          <p:cNvPr id="14" name="状態1"/>
          <p:cNvSpPr/>
          <p:nvPr/>
        </p:nvSpPr>
        <p:spPr>
          <a:xfrm>
            <a:off x="50292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検討の動き</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来場を決めるまでの間、複数の会社を比べ、費用や性能を調べ続ける</a:t>
            </a:r>
            <a:endParaRPr lang="ja-JP" altLang="en-US" sz="1400" dirty="0"/>
          </a:p>
        </p:txBody>
      </p:sp>
      <p:sp>
        <p:nvSpPr>
          <p:cNvPr id="15" name="状態2"/>
          <p:cNvSpPr/>
          <p:nvPr/>
        </p:nvSpPr>
        <p:spPr>
          <a:xfrm>
            <a:off x="280035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資料請求の後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今の友だち登録のご案内は来場特典とセット。来場を決める前の方には、友だちになる理由がない</a:t>
            </a:r>
            <a:endParaRPr lang="ja-JP" altLang="en-US" sz="1400" dirty="0"/>
          </a:p>
        </p:txBody>
      </p:sp>
      <p:sp>
        <p:nvSpPr>
          <p:cNvPr id="16" name="状態3"/>
          <p:cNvSpPr/>
          <p:nvPr/>
        </p:nvSpPr>
        <p:spPr>
          <a:xfrm>
            <a:off x="5097779"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LINEで見学会・来場予約をご案内できている</a:t>
            </a:r>
            <a:endParaRPr lang="ja-JP" altLang="en-US" sz="1400" dirty="0"/>
          </a:p>
        </p:txBody>
      </p:sp>
      <p:sp>
        <p:nvSpPr>
          <p:cNvPr id="17" name="状態4"/>
          <p:cNvSpPr/>
          <p:nvPr/>
        </p:nvSpPr>
        <p:spPr>
          <a:xfrm>
            <a:off x="7395210" y="2468880"/>
            <a:ext cx="2004822" cy="1463040"/>
          </a:xfrm>
          <a:prstGeom prst="rect">
            <a:avLst/>
          </a:prstGeom>
          <a:noFill/>
          <a:ln w="9525">
            <a:solidFill>
              <a:srgbClr val="D9D9D9"/>
            </a:solidFill>
          </a:ln>
        </p:spPr>
        <p:txBody>
          <a:bodyPr wrap="square" lIns="91440" tIns="73152" rIns="91440" bIns="54864" rtlCol="0" anchor="t">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来場の後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競合（一条工務店・大進建設）と比べながら、契約まで検討が続く</a:t>
            </a:r>
            <a:endParaRPr lang="ja-JP" altLang="en-US" sz="1400" dirty="0"/>
          </a:p>
        </p:txBody>
      </p:sp>
      <p:sp>
        <p:nvSpPr>
          <p:cNvPr id="18" name="範囲 これから"/>
          <p:cNvSpPr/>
          <p:nvPr/>
        </p:nvSpPr>
        <p:spPr>
          <a:xfrm>
            <a:off x="502920" y="4069080"/>
            <a:ext cx="4302252" cy="548640"/>
          </a:xfrm>
          <a:prstGeom prst="rect">
            <a:avLst/>
          </a:prstGeom>
          <a:solidFill>
            <a:srgbClr val="F4F7FF"/>
          </a:solidFill>
          <a:ln w="9525">
            <a:solidFill>
              <a:srgbClr val="1F285A"/>
            </a:solidFill>
            <a:prstDash val="dash"/>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来場を決める前：LINEでつながる入口がまだない</a:t>
            </a:r>
            <a:endParaRPr lang="ja-JP" altLang="en-US" sz="1400" dirty="0"/>
          </a:p>
        </p:txBody>
      </p:sp>
      <p:sp>
        <p:nvSpPr>
          <p:cNvPr id="19" name="範囲 今"/>
          <p:cNvSpPr/>
          <p:nvPr/>
        </p:nvSpPr>
        <p:spPr>
          <a:xfrm>
            <a:off x="5097780" y="4069080"/>
            <a:ext cx="4302252" cy="54864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来場を決めた後：今のLINEがご案内している範囲</a:t>
            </a:r>
            <a:endParaRPr lang="ja-JP" altLang="en-US" sz="1400" dirty="0"/>
          </a:p>
        </p:txBody>
      </p:sp>
      <p:sp>
        <p:nvSpPr>
          <p:cNvPr id="20"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課題は配信の中身ではなく、</a:t>
            </a:r>
            <a:r>
              <a:rPr lang="ja-JP" altLang="en-US" sz="1400" b="1" dirty="0">
                <a:solidFill>
                  <a:srgbClr val="C00000"/>
                </a:solidFill>
                <a:latin typeface="メイリオ" panose="020B0604030504040204" pitchFamily="50" charset="-128"/>
                <a:ea typeface="メイリオ" panose="020B0604030504040204" pitchFamily="50" charset="-128"/>
              </a:rPr>
              <a:t>LINEでつながっている範囲にある</a:t>
            </a:r>
            <a:endParaRPr lang="ja-JP" altLang="en-US" sz="1400" dirty="0"/>
          </a:p>
        </p:txBody>
      </p:sp>
      <p:sp>
        <p:nvSpPr>
          <p:cNvPr id="21"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※検討者の動きは、LINEヤフー社の前後検索データより</a:t>
            </a:r>
            <a:endParaRPr lang="ja-JP" alt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前後検索「注文住宅」：当日に大手を比べ、その後は住宅ローン・性能を調べる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検討期間の約2週間の接点が、来場を左右する</a:t>
            </a:r>
            <a:endParaRPr lang="en-US" sz="1400" b="1" u="none" strike="noStrike" dirty="0">
              <a:effectLst/>
              <a:uFillTx/>
              <a:latin typeface="メイリオ"/>
            </a:endParaRPr>
          </a:p>
        </p:txBody>
      </p:sp>
      <p:pic>
        <p:nvPicPr>
          <p:cNvPr id="7" name="前後検索 注文住宅（色分け）" descr="tanaka_zengo_chumon_color.png"/>
          <p:cNvPicPr>
            <a:picLocks noChangeAspect="1"/>
          </p:cNvPicPr>
          <p:nvPr/>
        </p:nvPicPr>
        <p:blipFill>
          <a:blip r:embed="rId2"/>
          <a:stretch>
            <a:fillRect/>
          </a:stretch>
        </p:blipFill>
        <p:spPr>
          <a:xfrm>
            <a:off x="502920" y="1600200"/>
            <a:ext cx="5943600" cy="3468090"/>
          </a:xfrm>
          <a:prstGeom prst="rect">
            <a:avLst/>
          </a:prstGeom>
        </p:spPr>
      </p:pic>
      <p:sp>
        <p:nvSpPr>
          <p:cNvPr id="8" name="LINE追加の時期"/>
          <p:cNvSpPr/>
          <p:nvPr/>
        </p:nvSpPr>
        <p:spPr>
          <a:xfrm>
            <a:off x="3554958" y="1644777"/>
            <a:ext cx="692429" cy="3239261"/>
          </a:xfrm>
          <a:prstGeom prst="rect">
            <a:avLst/>
          </a:prstGeom>
          <a:solidFill>
            <a:srgbClr val="06C755">
              <a:alpha val="16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LINE追加 札"/>
          <p:cNvSpPr/>
          <p:nvPr/>
        </p:nvSpPr>
        <p:spPr>
          <a:xfrm>
            <a:off x="3443973" y="5104866"/>
            <a:ext cx="914400" cy="237744"/>
          </a:xfrm>
          <a:prstGeom prst="rect">
            <a:avLst/>
          </a:prstGeom>
          <a:solidFill>
            <a:srgbClr val="C6EFCE"/>
          </a:solidFill>
          <a:ln>
            <a:noFill/>
          </a:ln>
        </p:spPr>
        <p:txBody>
          <a:bodyPr wrap="square" lIns="0" tIns="0" rIns="0" bIns="0" rtlCol="0" anchor="ctr">
            <a:noAutofit/>
          </a:bodyPr>
          <a:lstStyle/>
          <a:p>
            <a:pPr algn="ctr">
              <a:buNone/>
            </a:pPr>
            <a:r>
              <a:rPr lang="ja-JP" altLang="en-US" sz="950" b="1" dirty="0">
                <a:solidFill>
                  <a:srgbClr val="00873C"/>
                </a:solidFill>
                <a:latin typeface="メイリオ" panose="020B0604030504040204" pitchFamily="50" charset="-128"/>
                <a:ea typeface="メイリオ" panose="020B0604030504040204" pitchFamily="50" charset="-128"/>
              </a:rPr>
              <a:t>LINE追加</a:t>
            </a:r>
            <a:endParaRPr lang="ja-JP" altLang="en-US" sz="1200" dirty="0"/>
          </a:p>
        </p:txBody>
      </p:sp>
      <p:sp>
        <p:nvSpPr>
          <p:cNvPr id="10" name="凡例の色"/>
          <p:cNvSpPr/>
          <p:nvPr/>
        </p:nvSpPr>
        <p:spPr>
          <a:xfrm>
            <a:off x="6629400" y="1655064"/>
            <a:ext cx="137160" cy="137160"/>
          </a:xfrm>
          <a:prstGeom prst="rect">
            <a:avLst/>
          </a:prstGeom>
          <a:solidFill>
            <a:srgbClr val="3467B2"/>
          </a:solidFill>
          <a:ln>
            <a:noFill/>
          </a:ln>
        </p:spPr>
        <p:txBody>
          <a:bodyPr wrap="square" lIns="0" tIns="0" rIns="0" bIns="0" rtlCol="0" anchor="ctr">
            <a:noAutofit/>
          </a:bodyPr>
          <a:lstStyle/>
          <a:p>
            <a:pPr algn="l">
              <a:buNone/>
            </a:pPr>
            <a:endParaRPr lang="ja-JP" altLang="en-US" sz="1200" dirty="0"/>
          </a:p>
        </p:txBody>
      </p:sp>
      <p:sp>
        <p:nvSpPr>
          <p:cNvPr id="11" name="凡例"/>
          <p:cNvSpPr/>
          <p:nvPr/>
        </p:nvSpPr>
        <p:spPr>
          <a:xfrm>
            <a:off x="6812280" y="1600200"/>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住宅会社を比べる</a:t>
            </a:r>
            <a:endParaRPr lang="ja-JP" altLang="en-US" sz="1200" dirty="0"/>
          </a:p>
        </p:txBody>
      </p:sp>
      <p:sp>
        <p:nvSpPr>
          <p:cNvPr id="12" name="凡例の色"/>
          <p:cNvSpPr/>
          <p:nvPr/>
        </p:nvSpPr>
        <p:spPr>
          <a:xfrm>
            <a:off x="6629400" y="1901952"/>
            <a:ext cx="137160" cy="137160"/>
          </a:xfrm>
          <a:prstGeom prst="rect">
            <a:avLst/>
          </a:prstGeom>
          <a:solidFill>
            <a:srgbClr val="D9661F"/>
          </a:solidFill>
          <a:ln>
            <a:noFill/>
          </a:ln>
        </p:spPr>
        <p:txBody>
          <a:bodyPr wrap="square" lIns="0" tIns="0" rIns="0" bIns="0" rtlCol="0" anchor="ctr">
            <a:noAutofit/>
          </a:bodyPr>
          <a:lstStyle/>
          <a:p>
            <a:pPr algn="l">
              <a:buNone/>
            </a:pPr>
            <a:endParaRPr lang="ja-JP" altLang="en-US" sz="1200" dirty="0"/>
          </a:p>
        </p:txBody>
      </p:sp>
      <p:sp>
        <p:nvSpPr>
          <p:cNvPr id="13" name="凡例"/>
          <p:cNvSpPr/>
          <p:nvPr/>
        </p:nvSpPr>
        <p:spPr>
          <a:xfrm>
            <a:off x="6812280" y="1847088"/>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費用・住宅ローンを調べる</a:t>
            </a:r>
            <a:endParaRPr lang="ja-JP" altLang="en-US" sz="1200" dirty="0"/>
          </a:p>
        </p:txBody>
      </p:sp>
      <p:sp>
        <p:nvSpPr>
          <p:cNvPr id="14" name="凡例の色"/>
          <p:cNvSpPr/>
          <p:nvPr/>
        </p:nvSpPr>
        <p:spPr>
          <a:xfrm>
            <a:off x="6629400" y="2148840"/>
            <a:ext cx="137160" cy="137160"/>
          </a:xfrm>
          <a:prstGeom prst="rect">
            <a:avLst/>
          </a:prstGeom>
          <a:solidFill>
            <a:srgbClr val="8E4EC6"/>
          </a:solidFill>
          <a:ln>
            <a:noFill/>
          </a:ln>
        </p:spPr>
        <p:txBody>
          <a:bodyPr wrap="square" lIns="0" tIns="0" rIns="0" bIns="0" rtlCol="0" anchor="ctr">
            <a:noAutofit/>
          </a:bodyPr>
          <a:lstStyle/>
          <a:p>
            <a:pPr algn="l">
              <a:buNone/>
            </a:pPr>
            <a:endParaRPr lang="ja-JP" altLang="en-US" sz="1200" dirty="0"/>
          </a:p>
        </p:txBody>
      </p:sp>
      <p:sp>
        <p:nvSpPr>
          <p:cNvPr id="15" name="凡例"/>
          <p:cNvSpPr/>
          <p:nvPr/>
        </p:nvSpPr>
        <p:spPr>
          <a:xfrm>
            <a:off x="6812280" y="2093976"/>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間取り・性能を調べる</a:t>
            </a:r>
            <a:endParaRPr lang="ja-JP" altLang="en-US" sz="1200" dirty="0"/>
          </a:p>
        </p:txBody>
      </p:sp>
      <p:sp>
        <p:nvSpPr>
          <p:cNvPr id="16" name="凡例の色"/>
          <p:cNvSpPr/>
          <p:nvPr/>
        </p:nvSpPr>
        <p:spPr>
          <a:xfrm>
            <a:off x="6629400" y="2395728"/>
            <a:ext cx="137160" cy="137160"/>
          </a:xfrm>
          <a:prstGeom prst="rect">
            <a:avLst/>
          </a:prstGeom>
          <a:solidFill>
            <a:srgbClr val="00897B"/>
          </a:solidFill>
          <a:ln>
            <a:noFill/>
          </a:ln>
        </p:spPr>
        <p:txBody>
          <a:bodyPr wrap="square" lIns="0" tIns="0" rIns="0" bIns="0" rtlCol="0" anchor="ctr">
            <a:noAutofit/>
          </a:bodyPr>
          <a:lstStyle/>
          <a:p>
            <a:pPr algn="l">
              <a:buNone/>
            </a:pPr>
            <a:endParaRPr lang="ja-JP" altLang="en-US" sz="1200" dirty="0"/>
          </a:p>
        </p:txBody>
      </p:sp>
      <p:sp>
        <p:nvSpPr>
          <p:cNvPr id="17" name="凡例"/>
          <p:cNvSpPr/>
          <p:nvPr/>
        </p:nvSpPr>
        <p:spPr>
          <a:xfrm>
            <a:off x="6812280" y="2340864"/>
            <a:ext cx="2587752" cy="246888"/>
          </a:xfrm>
          <a:prstGeom prst="rect">
            <a:avLst/>
          </a:prstGeom>
          <a:noFill/>
          <a:ln>
            <a:noFill/>
          </a:ln>
        </p:spPr>
        <p:txBody>
          <a:bodyPr wrap="square" lIns="0" tIns="0" rIns="0" bIns="0" rtlCol="0" anchor="ctr">
            <a:noAutofit/>
          </a:bodyPr>
          <a:lstStyle/>
          <a:p>
            <a:pPr algn="l">
              <a:buNone/>
            </a:pPr>
            <a:r>
              <a:rPr lang="ja-JP" altLang="en-US" sz="1100" b="0" dirty="0">
                <a:solidFill>
                  <a:srgbClr val="333333"/>
                </a:solidFill>
                <a:latin typeface="メイリオ" panose="020B0604030504040204" pitchFamily="50" charset="-128"/>
                <a:ea typeface="メイリオ" panose="020B0604030504040204" pitchFamily="50" charset="-128"/>
              </a:rPr>
              <a:t>土地を調べる</a:t>
            </a:r>
            <a:endParaRPr lang="ja-JP" altLang="en-US" sz="1200" dirty="0"/>
          </a:p>
        </p:txBody>
      </p:sp>
      <p:sp>
        <p:nvSpPr>
          <p:cNvPr id="18" name="分析 当日"/>
          <p:cNvSpPr/>
          <p:nvPr/>
        </p:nvSpPr>
        <p:spPr>
          <a:xfrm>
            <a:off x="6629400" y="2651760"/>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当日</a:t>
            </a:r>
            <a:endParaRPr lang="ja-JP" altLang="en-US" sz="1200" dirty="0"/>
          </a:p>
        </p:txBody>
      </p:sp>
      <p:sp>
        <p:nvSpPr>
          <p:cNvPr id="19" name="分析 当日 本文"/>
          <p:cNvSpPr/>
          <p:nvPr/>
        </p:nvSpPr>
        <p:spPr>
          <a:xfrm>
            <a:off x="6629400" y="2926079"/>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住宅会社名が中心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一条工務店・積水ハウス・住友林業など。住宅展示場・土地探しも</a:t>
            </a:r>
            <a:endParaRPr lang="ja-JP" altLang="en-US" sz="1200" dirty="0"/>
          </a:p>
        </p:txBody>
      </p:sp>
      <p:sp>
        <p:nvSpPr>
          <p:cNvPr id="20" name="分析 1〜7日後"/>
          <p:cNvSpPr/>
          <p:nvPr/>
        </p:nvSpPr>
        <p:spPr>
          <a:xfrm>
            <a:off x="6629400" y="3694176"/>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1〜7日後</a:t>
            </a:r>
            <a:endParaRPr lang="ja-JP" altLang="en-US" sz="1200" dirty="0"/>
          </a:p>
        </p:txBody>
      </p:sp>
      <p:sp>
        <p:nvSpPr>
          <p:cNvPr id="21" name="分析 1〜7日後 本文"/>
          <p:cNvSpPr/>
          <p:nvPr/>
        </p:nvSpPr>
        <p:spPr>
          <a:xfrm>
            <a:off x="6629400" y="3968496"/>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住宅ローンと坪単価が増える</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シミュレーション・審査・控除、坪単価。比べる会社はさらに広がる</a:t>
            </a:r>
            <a:endParaRPr lang="ja-JP" altLang="en-US" sz="1200" dirty="0"/>
          </a:p>
        </p:txBody>
      </p:sp>
      <p:sp>
        <p:nvSpPr>
          <p:cNvPr id="22" name="分析 7〜15日後"/>
          <p:cNvSpPr/>
          <p:nvPr/>
        </p:nvSpPr>
        <p:spPr>
          <a:xfrm>
            <a:off x="6629400" y="4736592"/>
            <a:ext cx="2770632" cy="2743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150" b="1" dirty="0">
                <a:solidFill>
                  <a:srgbClr val="FFFFFF"/>
                </a:solidFill>
                <a:latin typeface="メイリオ" panose="020B0604030504040204" pitchFamily="50" charset="-128"/>
                <a:ea typeface="メイリオ" panose="020B0604030504040204" pitchFamily="50" charset="-128"/>
              </a:rPr>
              <a:t>7〜15日後</a:t>
            </a:r>
            <a:endParaRPr lang="ja-JP" altLang="en-US" sz="1200" dirty="0"/>
          </a:p>
        </p:txBody>
      </p:sp>
      <p:sp>
        <p:nvSpPr>
          <p:cNvPr id="23" name="分析 7〜15日後 本文"/>
          <p:cNvSpPr/>
          <p:nvPr/>
        </p:nvSpPr>
        <p:spPr>
          <a:xfrm>
            <a:off x="6629400" y="5010912"/>
            <a:ext cx="2770632" cy="713232"/>
          </a:xfrm>
          <a:prstGeom prst="rect">
            <a:avLst/>
          </a:prstGeom>
          <a:noFill/>
          <a:ln w="9525">
            <a:solidFill>
              <a:srgbClr val="D9D9D9"/>
            </a:solidFill>
          </a:ln>
        </p:spPr>
        <p:txBody>
          <a:bodyPr wrap="square" lIns="73152" tIns="36576" rIns="73152" bIns="27432" rtlCol="0" anchor="t">
            <a:noAutofit/>
          </a:bodyPr>
          <a:lstStyle/>
          <a:p>
            <a:pPr algn="l">
              <a:lnSpc>
                <a:spcPct val="110000"/>
              </a:lnSpc>
              <a:buNone/>
            </a:pPr>
            <a:r>
              <a:rPr lang="ja-JP" altLang="en-US" sz="1200" b="1" dirty="0">
                <a:solidFill>
                  <a:srgbClr val="1F285A"/>
                </a:solidFill>
                <a:latin typeface="メイリオ" panose="020B0604030504040204" pitchFamily="50" charset="-128"/>
                <a:ea typeface="メイリオ" panose="020B0604030504040204" pitchFamily="50" charset="-128"/>
              </a:rPr>
              <a:t>間取り・性能が中心</a:t>
            </a:r>
            <a:endParaRPr lang="ja-JP" altLang="en-US" sz="1200" dirty="0"/>
          </a:p>
          <a:p>
            <a:pPr algn="l">
              <a:lnSpc>
                <a:spcPct val="110000"/>
              </a:lnSpc>
              <a:buNone/>
            </a:pPr>
            <a:r>
              <a:rPr lang="ja-JP" altLang="en-US" sz="1100" b="0" dirty="0">
                <a:solidFill>
                  <a:srgbClr val="333333"/>
                </a:solidFill>
                <a:latin typeface="メイリオ" panose="020B0604030504040204" pitchFamily="50" charset="-128"/>
                <a:ea typeface="メイリオ" panose="020B0604030504040204" pitchFamily="50" charset="-128"/>
              </a:rPr>
              <a:t>断熱等級・吹き抜け・パントリー・ルームツアー。住宅ローンは金利の比較へ</a:t>
            </a:r>
            <a:endParaRPr lang="ja-JP" altLang="en-US" sz="1200" dirty="0"/>
          </a:p>
        </p:txBody>
      </p:sp>
      <p:sp>
        <p:nvSpPr>
          <p:cNvPr id="24" name="示唆"/>
          <p:cNvSpPr/>
          <p:nvPr/>
        </p:nvSpPr>
        <p:spPr>
          <a:xfrm>
            <a:off x="502920" y="5779008"/>
            <a:ext cx="8897112" cy="411480"/>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会社を比べる → 費用 → 間取り・性能 の順に、</a:t>
            </a:r>
            <a:r>
              <a:rPr lang="ja-JP" altLang="en-US" sz="1400" b="1" dirty="0">
                <a:solidFill>
                  <a:srgbClr val="C00000"/>
                </a:solidFill>
                <a:latin typeface="メイリオ" panose="020B0604030504040204" pitchFamily="50" charset="-128"/>
                <a:ea typeface="メイリオ" panose="020B0604030504040204" pitchFamily="50" charset="-128"/>
              </a:rPr>
              <a:t>約2週間かけて検討が進む</a:t>
            </a:r>
            <a:endParaRPr lang="ja-JP" altLang="en-US" sz="1200" dirty="0"/>
          </a:p>
        </p:txBody>
      </p:sp>
      <p:sp>
        <p:nvSpPr>
          <p:cNvPr id="25" name="注記"/>
          <p:cNvSpPr/>
          <p:nvPr/>
        </p:nvSpPr>
        <p:spPr>
          <a:xfrm>
            <a:off x="502920" y="6236208"/>
            <a:ext cx="8897112" cy="228600"/>
          </a:xfrm>
          <a:prstGeom prst="rect">
            <a:avLst/>
          </a:prstGeom>
          <a:noFill/>
          <a:ln>
            <a:noFill/>
          </a:ln>
        </p:spPr>
        <p:txBody>
          <a:bodyPr wrap="square" lIns="0" tIns="0" rIns="0" bIns="0" rtlCol="0" anchor="t">
            <a:noAutofit/>
          </a:bodyPr>
          <a:lstStyle/>
          <a:p>
            <a:pPr algn="l">
              <a:lnSpc>
                <a:spcPct val="115000"/>
              </a:lnSpc>
              <a:buNone/>
            </a:pPr>
            <a:r>
              <a:rPr lang="ja-JP" altLang="en-US" sz="850" b="0" dirty="0">
                <a:solidFill>
                  <a:srgbClr val="7F7F7F"/>
                </a:solidFill>
                <a:latin typeface="メイリオ" panose="020B0604030504040204" pitchFamily="50" charset="-128"/>
                <a:ea typeface="メイリオ" panose="020B0604030504040204" pitchFamily="50" charset="-128"/>
              </a:rPr>
              <a:t>※LINEヤフー社の前後検索データより。「注文住宅」を検索した方が、前後15日間に検索した言葉（縦軸＝検索した人数）。色分けは弊社</a:t>
            </a:r>
            <a:endParaRPr lang="ja-JP" alt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解決策：資料請求以前から、来場・契約までを追う</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altLang="en-US" sz="1400" b="1" dirty="0">
                <a:latin typeface="メイリオ" panose="020B0604030504040204" pitchFamily="50" charset="-128"/>
                <a:ea typeface="メイリオ" panose="020B0604030504040204" pitchFamily="50" charset="-128"/>
              </a:rPr>
              <a:t>契約</a:t>
            </a:r>
            <a:r>
              <a:rPr lang="ja-JP" sz="1400" b="1" u="none" strike="noStrike" dirty="0">
                <a:effectLst/>
                <a:uFillTx/>
                <a:latin typeface="メイリオ" panose="020B0604030504040204" pitchFamily="50" charset="-128"/>
                <a:ea typeface="メイリオ" panose="020B0604030504040204" pitchFamily="50" charset="-128"/>
              </a:rPr>
              <a:t>まで追い続けられることが、LINEの強み。</a:t>
            </a:r>
            <a:endParaRPr lang="en-US" altLang="ja-JP" sz="1400" b="1" u="none" strike="noStrike" dirty="0">
              <a:effectLst/>
              <a:uFillTx/>
              <a:latin typeface="メイリオ" panose="020B0604030504040204" pitchFamily="50" charset="-128"/>
              <a:ea typeface="メイリオ" panose="020B0604030504040204" pitchFamily="50" charset="-128"/>
            </a:endParaRPr>
          </a:p>
        </p:txBody>
      </p:sp>
      <p:sp>
        <p:nvSpPr>
          <p:cNvPr id="7" name="流れ1"/>
          <p:cNvSpPr/>
          <p:nvPr/>
        </p:nvSpPr>
        <p:spPr>
          <a:xfrm>
            <a:off x="50292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サイトに来る</a:t>
            </a:r>
            <a:endParaRPr lang="ja-JP" altLang="en-US" sz="1300" dirty="0"/>
          </a:p>
        </p:txBody>
      </p:sp>
      <p:sp>
        <p:nvSpPr>
          <p:cNvPr id="8" name="矢印"/>
          <p:cNvSpPr/>
          <p:nvPr/>
        </p:nvSpPr>
        <p:spPr>
          <a:xfrm>
            <a:off x="1833372"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016252"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資料請求</a:t>
            </a:r>
            <a:endParaRPr lang="ja-JP" altLang="en-US" sz="1300" dirty="0"/>
          </a:p>
        </p:txBody>
      </p:sp>
      <p:sp>
        <p:nvSpPr>
          <p:cNvPr id="10" name="矢印"/>
          <p:cNvSpPr/>
          <p:nvPr/>
        </p:nvSpPr>
        <p:spPr>
          <a:xfrm>
            <a:off x="3346704"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3529584"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来場予約</a:t>
            </a:r>
            <a:endParaRPr lang="ja-JP" altLang="en-US" sz="1300" dirty="0"/>
          </a:p>
        </p:txBody>
      </p:sp>
      <p:sp>
        <p:nvSpPr>
          <p:cNvPr id="12" name="矢印"/>
          <p:cNvSpPr/>
          <p:nvPr/>
        </p:nvSpPr>
        <p:spPr>
          <a:xfrm>
            <a:off x="4860036"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042916"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来場</a:t>
            </a:r>
            <a:endParaRPr lang="ja-JP" altLang="en-US" sz="1300" dirty="0"/>
          </a:p>
        </p:txBody>
      </p:sp>
      <p:sp>
        <p:nvSpPr>
          <p:cNvPr id="14" name="矢印"/>
          <p:cNvSpPr/>
          <p:nvPr/>
        </p:nvSpPr>
        <p:spPr>
          <a:xfrm>
            <a:off x="6373368"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6556248"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商談</a:t>
            </a:r>
            <a:endParaRPr lang="ja-JP" altLang="en-US" sz="1300" dirty="0"/>
          </a:p>
        </p:txBody>
      </p:sp>
      <p:sp>
        <p:nvSpPr>
          <p:cNvPr id="16" name="矢印"/>
          <p:cNvSpPr/>
          <p:nvPr/>
        </p:nvSpPr>
        <p:spPr>
          <a:xfrm>
            <a:off x="7886700" y="1691640"/>
            <a:ext cx="182880" cy="45720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7" name="流れ6"/>
          <p:cNvSpPr/>
          <p:nvPr/>
        </p:nvSpPr>
        <p:spPr>
          <a:xfrm>
            <a:off x="8069580" y="1691640"/>
            <a:ext cx="1330452" cy="45720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250" b="1" dirty="0">
                <a:solidFill>
                  <a:srgbClr val="FFFFFF"/>
                </a:solidFill>
                <a:latin typeface="メイリオ" panose="020B0604030504040204" pitchFamily="50" charset="-128"/>
                <a:ea typeface="メイリオ" panose="020B0604030504040204" pitchFamily="50" charset="-128"/>
              </a:rPr>
              <a:t>契約</a:t>
            </a:r>
            <a:endParaRPr lang="ja-JP" altLang="en-US" sz="1300" dirty="0"/>
          </a:p>
        </p:txBody>
      </p:sp>
      <p:sp>
        <p:nvSpPr>
          <p:cNvPr id="18" name="帯 今のLINE"/>
          <p:cNvSpPr/>
          <p:nvPr/>
        </p:nvSpPr>
        <p:spPr>
          <a:xfrm>
            <a:off x="3529584" y="2331720"/>
            <a:ext cx="2843783" cy="438912"/>
          </a:xfrm>
          <a:prstGeom prst="rect">
            <a:avLst/>
          </a:prstGeom>
          <a:solidFill>
            <a:srgbClr val="F2F2F2"/>
          </a:solidFill>
          <a:ln w="9525">
            <a:solidFill>
              <a:srgbClr val="D9D9D9"/>
            </a:solidFill>
          </a:ln>
        </p:spPr>
        <p:txBody>
          <a:bodyPr wrap="square" lIns="73152" tIns="36576" rIns="73152" bIns="36576" rtlCol="0" anchor="ctr">
            <a:noAutofit/>
          </a:bodyPr>
          <a:lstStyle/>
          <a:p>
            <a:pPr algn="ctr">
              <a:buNone/>
            </a:pPr>
            <a:r>
              <a:rPr lang="ja-JP" altLang="en-US" sz="1200" b="1" dirty="0">
                <a:solidFill>
                  <a:srgbClr val="7F7F7F"/>
                </a:solidFill>
                <a:latin typeface="メイリオ" panose="020B0604030504040204" pitchFamily="50" charset="-128"/>
                <a:ea typeface="メイリオ" panose="020B0604030504040204" pitchFamily="50" charset="-128"/>
              </a:rPr>
              <a:t>今のLINE：来場予約・来場のご案内</a:t>
            </a:r>
            <a:endParaRPr lang="ja-JP" altLang="en-US" sz="1300" dirty="0"/>
          </a:p>
        </p:txBody>
      </p:sp>
      <p:sp>
        <p:nvSpPr>
          <p:cNvPr id="19" name="帯 弊社のご提案"/>
          <p:cNvSpPr/>
          <p:nvPr/>
        </p:nvSpPr>
        <p:spPr>
          <a:xfrm>
            <a:off x="502920" y="2862072"/>
            <a:ext cx="8897112" cy="50292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弊社のご提案：資料請求の前から、契約まで追う</a:t>
            </a:r>
            <a:endParaRPr lang="ja-JP" altLang="en-US" sz="1300" dirty="0"/>
          </a:p>
        </p:txBody>
      </p:sp>
      <p:sp>
        <p:nvSpPr>
          <p:cNvPr id="20" name="見出し これで可能になること"/>
          <p:cNvSpPr/>
          <p:nvPr/>
        </p:nvSpPr>
        <p:spPr>
          <a:xfrm>
            <a:off x="502920" y="3611880"/>
            <a:ext cx="889711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これで可能になること</a:t>
            </a:r>
            <a:endParaRPr lang="ja-JP" altLang="en-US" sz="1300" dirty="0"/>
          </a:p>
        </p:txBody>
      </p:sp>
      <p:sp>
        <p:nvSpPr>
          <p:cNvPr id="21" name="可能になること01"/>
          <p:cNvSpPr/>
          <p:nvPr/>
        </p:nvSpPr>
        <p:spPr>
          <a:xfrm>
            <a:off x="502920"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01</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来場を決める前の方を取りこぼさない</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サイトに来た方・資料請求をした方が友だちになり、比べている間も情報を届けられる</a:t>
            </a:r>
            <a:endParaRPr lang="ja-JP" altLang="en-US" sz="1300" dirty="0"/>
          </a:p>
        </p:txBody>
      </p:sp>
      <p:sp>
        <p:nvSpPr>
          <p:cNvPr id="22" name="可能になること02"/>
          <p:cNvSpPr/>
          <p:nvPr/>
        </p:nvSpPr>
        <p:spPr>
          <a:xfrm>
            <a:off x="3529584"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02</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来場予約のキャンセルを減らす</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予約から来場までをLINEでつなぎ、前日にお知らせする</a:t>
            </a:r>
            <a:endParaRPr lang="ja-JP" altLang="en-US" sz="1300" dirty="0"/>
          </a:p>
        </p:txBody>
      </p:sp>
      <p:sp>
        <p:nvSpPr>
          <p:cNvPr id="23" name="可能になること03"/>
          <p:cNvSpPr/>
          <p:nvPr/>
        </p:nvSpPr>
        <p:spPr>
          <a:xfrm>
            <a:off x="6556248" y="4069080"/>
            <a:ext cx="2843784" cy="1691640"/>
          </a:xfrm>
          <a:prstGeom prst="rect">
            <a:avLst/>
          </a:prstGeom>
          <a:noFill/>
          <a:ln w="9525">
            <a:solidFill>
              <a:srgbClr val="D9D9D9"/>
            </a:solidFill>
          </a:ln>
        </p:spPr>
        <p:txBody>
          <a:bodyPr wrap="square" lIns="109728" tIns="73152" rIns="109728" bIns="54864" rtlCol="0" anchor="t">
            <a:noAutofit/>
          </a:bodyPr>
          <a:lstStyle/>
          <a:p>
            <a:pPr algn="l">
              <a:lnSpc>
                <a:spcPct val="120000"/>
              </a:lnSpc>
              <a:buNone/>
            </a:pPr>
            <a:r>
              <a:rPr lang="ja-JP" altLang="en-US" sz="1600" b="1" dirty="0">
                <a:solidFill>
                  <a:srgbClr val="C00000"/>
                </a:solidFill>
                <a:latin typeface="メイリオ" panose="020B0604030504040204" pitchFamily="50" charset="-128"/>
                <a:ea typeface="メイリオ" panose="020B0604030504040204" pitchFamily="50" charset="-128"/>
              </a:rPr>
              <a:t>03</a:t>
            </a:r>
            <a:endParaRPr lang="ja-JP" altLang="en-US" sz="1300" dirty="0"/>
          </a:p>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契約につながる集客が分かる</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契約までの結果を貴社の記録と合わせて確認し、広告の改善に生かす</a:t>
            </a:r>
            <a:endParaRPr lang="ja-JP" alt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友だちの入口：来場特典に加え、家づくりの情報で友だちになっていただく</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サイトを離れる前、資料請求の直後など、検討中の方が友だちになる理由を用意する</a:t>
            </a:r>
            <a:endParaRPr lang="en-US" sz="1400" b="1" u="none" strike="noStrike" dirty="0">
              <a:effectLst/>
              <a:uFillTx/>
              <a:latin typeface="メイリオ"/>
            </a:endParaRPr>
          </a:p>
        </p:txBody>
      </p:sp>
      <p:graphicFrame>
        <p:nvGraphicFramePr>
          <p:cNvPr id="7" name="友だちの入口 6"/>
          <p:cNvGraphicFramePr>
            <a:graphicFrameLocks noGrp="1"/>
          </p:cNvGraphicFramePr>
          <p:nvPr>
            <p:extLst>
              <p:ext uri="{D42A27DB-BD31-4B8C-83A1-F6EECF244321}">
                <p14:modId xmlns:p14="http://schemas.microsoft.com/office/powerpoint/2010/main" val="2964617158"/>
              </p:ext>
            </p:extLst>
          </p:nvPr>
        </p:nvGraphicFramePr>
        <p:xfrm>
          <a:off x="502920" y="1691640"/>
          <a:ext cx="8897111" cy="2331720"/>
        </p:xfrm>
        <a:graphic>
          <a:graphicData uri="http://schemas.openxmlformats.org/drawingml/2006/table">
            <a:tbl>
              <a:tblPr/>
              <a:tblGrid>
                <a:gridCol w="73152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331720">
                  <a:extLst>
                    <a:ext uri="{9D8B030D-6E8A-4147-A177-3AD203B41FA5}">
                      <a16:colId xmlns:a16="http://schemas.microsoft.com/office/drawing/2014/main" val="20002"/>
                    </a:ext>
                  </a:extLst>
                </a:gridCol>
                <a:gridCol w="3822191">
                  <a:extLst>
                    <a:ext uri="{9D8B030D-6E8A-4147-A177-3AD203B41FA5}">
                      <a16:colId xmlns:a16="http://schemas.microsoft.com/office/drawing/2014/main" val="20003"/>
                    </a:ext>
                  </a:extLst>
                </a:gridCol>
              </a:tblGrid>
              <a:tr h="365760">
                <a:tc>
                  <a:txBody>
                    <a:bodyPr/>
                    <a:lstStyle/>
                    <a:p>
                      <a:pPr algn="ctr">
                        <a:buNone/>
                      </a:pP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入口</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タイミング</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tc>
                  <a:txBody>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友だちになる理由</a:t>
                      </a:r>
                      <a:endParaRPr lang="ja-JP" altLang="en-US" sz="1300" dirty="0"/>
                    </a:p>
                  </a:txBody>
                  <a:tcPr marL="73152" marR="73152" marT="27432" marB="27432"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57200">
                <a:tc>
                  <a:txBody>
                    <a:bodyPr/>
                    <a:lstStyle/>
                    <a:p>
                      <a:pPr algn="ctr">
                        <a:buNone/>
                      </a:pPr>
                      <a:r>
                        <a:rPr lang="ja-JP" altLang="en-US" sz="1300" b="1" dirty="0">
                          <a:solidFill>
                            <a:srgbClr val="7F7F7F"/>
                          </a:solidFill>
                          <a:latin typeface="メイリオ" panose="020B0604030504040204" pitchFamily="50" charset="-128"/>
                          <a:ea typeface="メイリオ" panose="020B0604030504040204" pitchFamily="50" charset="-128"/>
                        </a:rPr>
                        <a:t>今</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2F2F2"/>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来場特典のキャンペーン</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来場を決めたとき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7F7F7F"/>
                          </a:solidFill>
                          <a:latin typeface="メイリオ" panose="020B0604030504040204" pitchFamily="50" charset="-128"/>
                          <a:ea typeface="メイリオ" panose="020B0604030504040204" pitchFamily="50" charset="-128"/>
                        </a:rPr>
                        <a:t>来場特典の上乗せ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サイトを閉じようとしたとき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家づくりの情報（例：平屋の間取り、費用の目安）をLINEでお届け</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施工事例・見学会のページを見ているとき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見学会や新しい施工事例のお知らせ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追加</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資料請求・来場予約が</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完了した直後</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資料の続き（ルームツアー・費用・土地）、</a:t>
                      </a:r>
                      <a:endParaRPr lang="en-US" altLang="ja-JP" sz="1250" b="0" dirty="0">
                        <a:solidFill>
                          <a:srgbClr val="333333"/>
                        </a:solidFill>
                        <a:latin typeface="メイリオ" panose="020B0604030504040204" pitchFamily="50" charset="-128"/>
                        <a:ea typeface="メイリオ" panose="020B0604030504040204" pitchFamily="50" charset="-128"/>
                      </a:endParaRPr>
                    </a:p>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来場前のお知らせ</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8"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弊社の導入実績</a:t>
            </a:r>
            <a:endParaRPr lang="ja-JP" altLang="en-US" sz="1300" dirty="0"/>
          </a:p>
        </p:txBody>
      </p:sp>
      <p:sp>
        <p:nvSpPr>
          <p:cNvPr id="9"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300" b="1" dirty="0">
                <a:solidFill>
                  <a:srgbClr val="1F285A"/>
                </a:solidFill>
                <a:latin typeface="メイリオ" panose="020B0604030504040204" pitchFamily="50" charset="-128"/>
                <a:ea typeface="メイリオ" panose="020B0604030504040204" pitchFamily="50" charset="-128"/>
              </a:rPr>
              <a:t>人材業界</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サンクスLINE誘導ツールを導入</a:t>
            </a:r>
            <a:endParaRPr lang="ja-JP" altLang="en-US" sz="1400" dirty="0"/>
          </a:p>
          <a:p>
            <a:pPr algn="l">
              <a:lnSpc>
                <a:spcPct val="120000"/>
              </a:lnSpc>
              <a:buNone/>
            </a:pPr>
            <a:r>
              <a:rPr lang="ja-JP" altLang="en-US" sz="1250" b="0" dirty="0">
                <a:solidFill>
                  <a:srgbClr val="333333"/>
                </a:solidFill>
                <a:latin typeface="メイリオ" panose="020B0604030504040204" pitchFamily="50" charset="-128"/>
                <a:ea typeface="メイリオ" panose="020B0604030504040204" pitchFamily="50" charset="-128"/>
              </a:rPr>
              <a:t>友だち増加数（3か月）1,532人 → 2,103人</a:t>
            </a:r>
            <a:endParaRPr lang="ja-JP" altLang="en-US" sz="1400" dirty="0"/>
          </a:p>
        </p:txBody>
      </p:sp>
      <p:sp>
        <p:nvSpPr>
          <p:cNvPr id="10"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0000"/>
              </a:lnSpc>
              <a:buNone/>
            </a:pPr>
            <a:r>
              <a:rPr lang="ja-JP" altLang="en-US" sz="1200" b="1" dirty="0">
                <a:solidFill>
                  <a:srgbClr val="1F285A"/>
                </a:solidFill>
                <a:latin typeface="メイリオ" panose="020B0604030504040204" pitchFamily="50" charset="-128"/>
                <a:ea typeface="メイリオ" panose="020B0604030504040204" pitchFamily="50" charset="-128"/>
              </a:rPr>
              <a:t>友だち増加数</a:t>
            </a:r>
            <a:endParaRPr lang="ja-JP" altLang="en-US" sz="1300" dirty="0"/>
          </a:p>
          <a:p>
            <a:pPr algn="ctr">
              <a:lnSpc>
                <a:spcPct val="100000"/>
              </a:lnSpc>
              <a:buNone/>
            </a:pPr>
            <a:r>
              <a:rPr lang="ja-JP" altLang="en-US" sz="2000" b="1" dirty="0">
                <a:solidFill>
                  <a:srgbClr val="1F285A"/>
                </a:solidFill>
                <a:latin typeface="メイリオ" panose="020B0604030504040204" pitchFamily="50" charset="-128"/>
                <a:ea typeface="メイリオ" panose="020B0604030504040204" pitchFamily="50" charset="-128"/>
              </a:rPr>
              <a:t>導入前比137.3%</a:t>
            </a:r>
            <a:endParaRPr lang="ja-JP" altLang="en-US" sz="1300" dirty="0"/>
          </a:p>
          <a:p>
            <a:pPr algn="ctr">
              <a:lnSpc>
                <a:spcPct val="100000"/>
              </a:lnSpc>
              <a:buNone/>
            </a:pPr>
            <a:r>
              <a:rPr lang="ja-JP" altLang="en-US" sz="1300" b="1" dirty="0">
                <a:solidFill>
                  <a:srgbClr val="1F285A"/>
                </a:solidFill>
                <a:latin typeface="メイリオ" panose="020B0604030504040204" pitchFamily="50" charset="-128"/>
                <a:ea typeface="メイリオ" panose="020B0604030504040204" pitchFamily="50" charset="-128"/>
              </a:rPr>
              <a:t>前年比127.5%</a:t>
            </a:r>
            <a:endParaRPr lang="ja-JP" alt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8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85" name="Google Shape;156;p7"/>
          <p:cNvSpPr/>
          <p:nvPr/>
        </p:nvSpPr>
        <p:spPr>
          <a:xfrm>
            <a:off x="549000" y="138240"/>
            <a:ext cx="76809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メイリオ"/>
                <a:ea typeface="メイリオ"/>
              </a:rPr>
              <a:t>解決策：LINEの配信でナーチャリングを</a:t>
            </a:r>
            <a:endParaRPr lang="en-US" sz="1600" b="0" u="none" strike="noStrike">
              <a:solidFill>
                <a:srgbClr val="000000"/>
              </a:solidFill>
              <a:effectLst/>
              <a:uFillTx/>
              <a:latin typeface="メイリオ"/>
            </a:endParaRPr>
          </a:p>
        </p:txBody>
      </p:sp>
      <p:sp>
        <p:nvSpPr>
          <p:cNvPr id="386" name="TextBox 2"/>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zh-CN" sz="1400" b="0" u="none" strike="noStrike" dirty="0">
                <a:solidFill>
                  <a:srgbClr val="5A6378"/>
                </a:solidFill>
                <a:effectLst/>
                <a:uFillTx/>
                <a:latin typeface="メイリオ"/>
                <a:ea typeface="メイリオ"/>
              </a:rPr>
              <a:t>前後検索で見える検討の順番に合わせた、14日間のステップ配信（全5通）と月4回程度の企画配信で、来場予約を後押し</a:t>
            </a:r>
            <a:br>
              <a:rPr lang="zh-CN" sz="1400" b="0" u="none" strike="noStrike" dirty="0">
                <a:solidFill>
                  <a:srgbClr val="5A6378"/>
                </a:solidFill>
                <a:effectLst/>
                <a:uFillTx/>
                <a:latin typeface="メイリオ"/>
                <a:ea typeface="メイリオ"/>
              </a:rPr>
            </a:br>
            <a:endParaRPr lang="en-US" sz="1400" b="0" u="none" strike="noStrike" dirty="0">
              <a:solidFill>
                <a:srgbClr val="000000"/>
              </a:solidFill>
              <a:effectLst/>
              <a:uFillTx/>
              <a:latin typeface="メイリオ"/>
            </a:endParaRPr>
          </a:p>
        </p:txBody>
      </p:sp>
      <p:sp>
        <p:nvSpPr>
          <p:cNvPr id="387" name="TextBox 3"/>
          <p:cNvSpPr/>
          <p:nvPr/>
        </p:nvSpPr>
        <p:spPr>
          <a:xfrm>
            <a:off x="384120" y="1371600"/>
            <a:ext cx="9125712"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[ステップ配信・全5通｜新しい友だちへ追加後に自動配信]</a:t>
            </a:r>
            <a:endParaRPr lang="en-US" sz="1400" b="0" u="none" strike="noStrike">
              <a:solidFill>
                <a:srgbClr val="000000"/>
              </a:solidFill>
              <a:effectLst/>
              <a:uFillTx/>
              <a:latin typeface="メイリオ"/>
            </a:endParaRPr>
          </a:p>
        </p:txBody>
      </p:sp>
      <p:sp>
        <p:nvSpPr>
          <p:cNvPr id="388" name="Rounded Rectangle 4"/>
          <p:cNvSpPr/>
          <p:nvPr/>
        </p:nvSpPr>
        <p:spPr>
          <a:xfrm>
            <a:off x="384048" y="192024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当日〜1日後</a:t>
            </a:r>
            <a:endParaRPr lang="en-US" sz="1200" b="0" u="none" strike="noStrike">
              <a:solidFill>
                <a:srgbClr val="FFFFFF"/>
              </a:solidFill>
              <a:effectLst/>
              <a:uFillTx/>
              <a:latin typeface="メイリオ"/>
            </a:endParaRPr>
          </a:p>
        </p:txBody>
      </p:sp>
      <p:sp>
        <p:nvSpPr>
          <p:cNvPr id="390" name="Right Arrow 6"/>
          <p:cNvSpPr/>
          <p:nvPr/>
        </p:nvSpPr>
        <p:spPr>
          <a:xfrm>
            <a:off x="2121408"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3" name="Rounded Rectangle 9"/>
          <p:cNvSpPr/>
          <p:nvPr/>
        </p:nvSpPr>
        <p:spPr>
          <a:xfrm>
            <a:off x="2359152" y="192024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施工事例・会社の特長</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土地探しのご相談</a:t>
            </a:r>
            <a:endParaRPr lang="en-US" sz="1200" b="0" u="none" strike="noStrike">
              <a:solidFill>
                <a:srgbClr val="000000"/>
              </a:solidFill>
              <a:effectLst/>
              <a:uFillTx/>
              <a:latin typeface="メイリオ"/>
            </a:endParaRPr>
          </a:p>
        </p:txBody>
      </p:sp>
      <p:sp>
        <p:nvSpPr>
          <p:cNvPr id="394" name="Right Arrow 10"/>
          <p:cNvSpPr/>
          <p:nvPr/>
        </p:nvSpPr>
        <p:spPr>
          <a:xfrm>
            <a:off x="5084064"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5" name="Rounded Rectangle 11"/>
          <p:cNvSpPr/>
          <p:nvPr/>
        </p:nvSpPr>
        <p:spPr>
          <a:xfrm>
            <a:off x="5321808" y="192024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比べる会社の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候補に入る</a:t>
            </a:r>
            <a:endParaRPr lang="en-US" sz="1200" b="0" u="none" strike="noStrike">
              <a:solidFill>
                <a:srgbClr val="000000"/>
              </a:solidFill>
              <a:effectLst/>
              <a:uFillTx/>
              <a:latin typeface="メイリオ"/>
            </a:endParaRPr>
          </a:p>
        </p:txBody>
      </p:sp>
      <p:sp>
        <p:nvSpPr>
          <p:cNvPr id="396" name="Right Arrow 12"/>
          <p:cNvSpPr/>
          <p:nvPr/>
        </p:nvSpPr>
        <p:spPr>
          <a:xfrm>
            <a:off x="7808975" y="2089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397" name="Rounded Rectangle 13"/>
          <p:cNvSpPr/>
          <p:nvPr/>
        </p:nvSpPr>
        <p:spPr>
          <a:xfrm>
            <a:off x="8046720" y="192024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資料請求へ</a:t>
            </a:r>
            <a:endParaRPr lang="en-US" sz="1200" b="0" u="none" strike="noStrike">
              <a:solidFill>
                <a:srgbClr val="FFFFFF"/>
              </a:solidFill>
              <a:effectLst/>
              <a:uFillTx/>
              <a:latin typeface="メイリオ"/>
            </a:endParaRPr>
          </a:p>
        </p:txBody>
      </p:sp>
      <p:sp>
        <p:nvSpPr>
          <p:cNvPr id="398" name="Rounded Rectangle 14"/>
          <p:cNvSpPr/>
          <p:nvPr/>
        </p:nvSpPr>
        <p:spPr>
          <a:xfrm>
            <a:off x="384048" y="246888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2〜7日後</a:t>
            </a:r>
            <a:endParaRPr lang="en-US" sz="1200" b="0" u="none" strike="noStrike">
              <a:solidFill>
                <a:srgbClr val="FFFFFF"/>
              </a:solidFill>
              <a:effectLst/>
              <a:uFillTx/>
              <a:latin typeface="メイリオ"/>
            </a:endParaRPr>
          </a:p>
        </p:txBody>
      </p:sp>
      <p:sp>
        <p:nvSpPr>
          <p:cNvPr id="400" name="Right Arrow 16"/>
          <p:cNvSpPr/>
          <p:nvPr/>
        </p:nvSpPr>
        <p:spPr>
          <a:xfrm>
            <a:off x="2121408"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3" name="Rounded Rectangle 19"/>
          <p:cNvSpPr/>
          <p:nvPr/>
        </p:nvSpPr>
        <p:spPr>
          <a:xfrm>
            <a:off x="2359152" y="246888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住宅ローン・坪単価の考え方</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平屋・2階建ての価格の目安</a:t>
            </a:r>
            <a:endParaRPr lang="en-US" sz="1200" b="0" u="none" strike="noStrike">
              <a:solidFill>
                <a:srgbClr val="000000"/>
              </a:solidFill>
              <a:effectLst/>
              <a:uFillTx/>
              <a:latin typeface="メイリオ"/>
            </a:endParaRPr>
          </a:p>
        </p:txBody>
      </p:sp>
      <p:sp>
        <p:nvSpPr>
          <p:cNvPr id="404" name="Right Arrow 20"/>
          <p:cNvSpPr/>
          <p:nvPr/>
        </p:nvSpPr>
        <p:spPr>
          <a:xfrm>
            <a:off x="5084064"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5" name="Rounded Rectangle 21"/>
          <p:cNvSpPr/>
          <p:nvPr/>
        </p:nvSpPr>
        <p:spPr>
          <a:xfrm>
            <a:off x="5321808" y="246888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06" name="Right Arrow 22"/>
          <p:cNvSpPr/>
          <p:nvPr/>
        </p:nvSpPr>
        <p:spPr>
          <a:xfrm>
            <a:off x="7808975" y="263844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07" name="Rounded Rectangle 23"/>
          <p:cNvSpPr/>
          <p:nvPr/>
        </p:nvSpPr>
        <p:spPr>
          <a:xfrm>
            <a:off x="8046720" y="246888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08" name="Rounded Rectangle 24"/>
          <p:cNvSpPr/>
          <p:nvPr/>
        </p:nvSpPr>
        <p:spPr>
          <a:xfrm>
            <a:off x="384048" y="3017520"/>
            <a:ext cx="1737360" cy="484200"/>
          </a:xfrm>
          <a:prstGeom prst="roundRect">
            <a:avLst>
              <a:gd name="adj" fmla="val 10000"/>
            </a:avLst>
          </a:prstGeom>
          <a:solidFill>
            <a:srgbClr val="5A6378"/>
          </a:solidFill>
          <a:ln w="12700">
            <a:solidFill>
              <a:srgbClr val="5A6378"/>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0" tIns="18360" rIns="0" bIns="18360" anchor="ctr">
            <a:noAutofit/>
          </a:bodyPr>
          <a:lstStyle/>
          <a:p>
            <a:pPr algn="ctr" defTabSz="914400">
              <a:lnSpc>
                <a:spcPct val="90000"/>
              </a:lnSpc>
              <a:tabLst>
                <a:tab pos="0" algn="l"/>
              </a:tabLst>
            </a:pPr>
            <a:r>
              <a:rPr lang="en-US" sz="1200" b="1" u="none" strike="noStrike">
                <a:solidFill>
                  <a:srgbClr val="FFFFFF"/>
                </a:solidFill>
                <a:effectLst/>
                <a:uFillTx/>
                <a:latin typeface="メイリオ"/>
                <a:ea typeface="メイリオ"/>
              </a:rPr>
              <a:t>8〜14日後</a:t>
            </a:r>
            <a:endParaRPr lang="en-US" sz="1200" b="0" u="none" strike="noStrike">
              <a:solidFill>
                <a:srgbClr val="FFFFFF"/>
              </a:solidFill>
              <a:effectLst/>
              <a:uFillTx/>
              <a:latin typeface="メイリオ"/>
            </a:endParaRPr>
          </a:p>
        </p:txBody>
      </p:sp>
      <p:sp>
        <p:nvSpPr>
          <p:cNvPr id="410" name="Right Arrow 26"/>
          <p:cNvSpPr/>
          <p:nvPr/>
        </p:nvSpPr>
        <p:spPr>
          <a:xfrm>
            <a:off x="2121408"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3" name="Rounded Rectangle 29"/>
          <p:cNvSpPr/>
          <p:nvPr/>
        </p:nvSpPr>
        <p:spPr>
          <a:xfrm>
            <a:off x="2359152" y="3017520"/>
            <a:ext cx="2724912"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青森の冬を快適にする断熱・間取り</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ルームツアー動画</a:t>
            </a:r>
            <a:endParaRPr lang="en-US" altLang="ja-JP" sz="1200" b="0" u="none" strike="noStrike" dirty="0">
              <a:solidFill>
                <a:srgbClr val="333333"/>
              </a:solidFill>
              <a:effectLst/>
              <a:uFillTx/>
              <a:latin typeface="メイリオ"/>
              <a:ea typeface="メイリオ"/>
            </a:endParaRPr>
          </a:p>
        </p:txBody>
      </p:sp>
      <p:sp>
        <p:nvSpPr>
          <p:cNvPr id="414" name="Right Arrow 30"/>
          <p:cNvSpPr/>
          <p:nvPr/>
        </p:nvSpPr>
        <p:spPr>
          <a:xfrm>
            <a:off x="5084064"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5" name="Rounded Rectangle 31"/>
          <p:cNvSpPr/>
          <p:nvPr/>
        </p:nvSpPr>
        <p:spPr>
          <a:xfrm>
            <a:off x="5321808" y="3017520"/>
            <a:ext cx="2487168"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住みたいイメージを</a:t>
            </a:r>
            <a:endParaRPr lang="en-US" altLang="ja-JP" sz="1200" b="0" u="none" strike="noStrike" dirty="0">
              <a:solidFill>
                <a:srgbClr val="333333"/>
              </a:solidFill>
              <a:effectLst/>
              <a:uFillTx/>
              <a:latin typeface="メイリオ"/>
              <a:ea typeface="メイリオ"/>
            </a:endParaRPr>
          </a:p>
          <a:p>
            <a:pPr algn="ctr" defTabSz="914400">
              <a:lnSpc>
                <a:spcPct val="90000"/>
              </a:lnSpc>
              <a:tabLst>
                <a:tab pos="0" algn="l"/>
              </a:tabLst>
            </a:pPr>
            <a:r>
              <a:rPr lang="ja-JP" altLang="en-US" sz="1200" b="0" u="none" strike="noStrike" dirty="0">
                <a:solidFill>
                  <a:srgbClr val="333333"/>
                </a:solidFill>
                <a:effectLst/>
                <a:uFillTx/>
                <a:latin typeface="メイリオ"/>
                <a:ea typeface="メイリオ"/>
              </a:rPr>
              <a:t>育てる</a:t>
            </a:r>
            <a:endParaRPr lang="en-US" altLang="ja-JP" sz="1200" b="0" u="none" strike="noStrike" dirty="0">
              <a:solidFill>
                <a:srgbClr val="333333"/>
              </a:solidFill>
              <a:effectLst/>
              <a:uFillTx/>
              <a:latin typeface="メイリオ"/>
              <a:ea typeface="メイリオ"/>
            </a:endParaRPr>
          </a:p>
        </p:txBody>
      </p:sp>
      <p:sp>
        <p:nvSpPr>
          <p:cNvPr id="416" name="Right Arrow 32"/>
          <p:cNvSpPr/>
          <p:nvPr/>
        </p:nvSpPr>
        <p:spPr>
          <a:xfrm>
            <a:off x="7808975" y="31870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17" name="Rounded Rectangle 33"/>
          <p:cNvSpPr/>
          <p:nvPr/>
        </p:nvSpPr>
        <p:spPr>
          <a:xfrm>
            <a:off x="8046720" y="3017520"/>
            <a:ext cx="146304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18" name="TextBox 34"/>
          <p:cNvSpPr/>
          <p:nvPr/>
        </p:nvSpPr>
        <p:spPr>
          <a:xfrm>
            <a:off x="384120" y="3712320"/>
            <a:ext cx="3657240" cy="292320"/>
          </a:xfrm>
          <a:prstGeom prst="rect">
            <a:avLst/>
          </a:prstGeom>
          <a:noFill/>
          <a:ln w="0">
            <a:noFill/>
          </a:ln>
        </p:spPr>
        <p:style>
          <a:lnRef idx="0">
            <a:scrgbClr r="0" g="0" b="0"/>
          </a:lnRef>
          <a:fillRef idx="0">
            <a:scrgbClr r="0" g="0" b="0"/>
          </a:fillRef>
          <a:effectRef idx="0">
            <a:scrgbClr r="0" g="0" b="0"/>
          </a:effectRef>
          <a:fontRef idx="minor"/>
        </p:style>
        <p:txBody>
          <a:bodyPr lIns="45720" tIns="0" rIns="45720" bIns="0" anchor="ctr">
            <a:noAutofit/>
          </a:bodyPr>
          <a:lstStyle/>
          <a:p>
            <a:pPr defTabSz="914400">
              <a:lnSpc>
                <a:spcPct val="100000"/>
              </a:lnSpc>
              <a:tabLst>
                <a:tab pos="0" algn="l"/>
              </a:tabLst>
            </a:pPr>
            <a:r>
              <a:rPr lang="en-US" sz="1400" b="1" u="none" strike="noStrike">
                <a:solidFill>
                  <a:srgbClr val="1F2A5C"/>
                </a:solidFill>
                <a:effectLst/>
                <a:uFillTx/>
                <a:latin typeface="メイリオ"/>
                <a:ea typeface="メイリオ"/>
              </a:rPr>
              <a:t>[</a:t>
            </a:r>
            <a:r>
              <a:rPr lang="zh-CN" sz="1400" b="1" u="none" strike="noStrike">
                <a:solidFill>
                  <a:srgbClr val="1F2A5C"/>
                </a:solidFill>
                <a:effectLst/>
                <a:uFillTx/>
                <a:latin typeface="メイリオ"/>
                <a:ea typeface="メイリオ"/>
              </a:rPr>
              <a:t>企画配信</a:t>
            </a:r>
            <a:r>
              <a:rPr lang="en-US" sz="1400" b="1" u="none" strike="noStrike">
                <a:solidFill>
                  <a:srgbClr val="1F2A5C"/>
                </a:solidFill>
                <a:effectLst/>
                <a:uFillTx/>
                <a:latin typeface="メイリオ"/>
                <a:ea typeface="メイリオ"/>
              </a:rPr>
              <a:t>]</a:t>
            </a:r>
            <a:endParaRPr lang="en-US" sz="1400" b="0" u="none" strike="noStrike">
              <a:solidFill>
                <a:srgbClr val="000000"/>
              </a:solidFill>
              <a:effectLst/>
              <a:uFillTx/>
              <a:latin typeface="メイリオ"/>
            </a:endParaRPr>
          </a:p>
        </p:txBody>
      </p:sp>
      <p:sp>
        <p:nvSpPr>
          <p:cNvPr id="419" name="Rounded Rectangle 35"/>
          <p:cNvSpPr/>
          <p:nvPr/>
        </p:nvSpPr>
        <p:spPr>
          <a:xfrm>
            <a:off x="38412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友だち全員</a:t>
            </a:r>
            <a:endParaRPr lang="en-US" sz="1200" b="0" u="none" strike="noStrike">
              <a:solidFill>
                <a:srgbClr val="000000"/>
              </a:solidFill>
              <a:effectLst/>
              <a:uFillTx/>
              <a:latin typeface="メイリオ"/>
            </a:endParaRPr>
          </a:p>
        </p:txBody>
      </p:sp>
      <p:sp>
        <p:nvSpPr>
          <p:cNvPr id="420" name="Right Arrow 36"/>
          <p:cNvSpPr/>
          <p:nvPr/>
        </p:nvSpPr>
        <p:spPr>
          <a:xfrm>
            <a:off x="212148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1" name="Rounded Rectangle 37"/>
          <p:cNvSpPr/>
          <p:nvPr/>
        </p:nvSpPr>
        <p:spPr>
          <a:xfrm>
            <a:off x="2359080" y="426096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絞り込みなし</a:t>
            </a:r>
            <a:endParaRPr lang="en-US" sz="1200" b="0" u="none" strike="noStrike">
              <a:solidFill>
                <a:srgbClr val="000000"/>
              </a:solidFill>
              <a:effectLst/>
              <a:uFillTx/>
              <a:latin typeface="メイリオ"/>
            </a:endParaRPr>
          </a:p>
        </p:txBody>
      </p:sp>
      <p:sp>
        <p:nvSpPr>
          <p:cNvPr id="422" name="Right Arrow 38"/>
          <p:cNvSpPr/>
          <p:nvPr/>
        </p:nvSpPr>
        <p:spPr>
          <a:xfrm>
            <a:off x="409644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3" name="Rounded Rectangle 39"/>
          <p:cNvSpPr/>
          <p:nvPr/>
        </p:nvSpPr>
        <p:spPr>
          <a:xfrm>
            <a:off x="4334400" y="426096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見学会・</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モデルハウス公開</a:t>
            </a:r>
            <a:endParaRPr lang="en-US" sz="1200" b="0" u="none" strike="noStrike">
              <a:solidFill>
                <a:srgbClr val="000000"/>
              </a:solidFill>
              <a:effectLst/>
              <a:uFillTx/>
              <a:latin typeface="メイリオ"/>
            </a:endParaRPr>
          </a:p>
        </p:txBody>
      </p:sp>
      <p:sp>
        <p:nvSpPr>
          <p:cNvPr id="424" name="Right Arrow 40"/>
          <p:cNvSpPr/>
          <p:nvPr/>
        </p:nvSpPr>
        <p:spPr>
          <a:xfrm>
            <a:off x="59803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5" name="Rounded Rectangle 41"/>
          <p:cNvSpPr/>
          <p:nvPr/>
        </p:nvSpPr>
        <p:spPr>
          <a:xfrm>
            <a:off x="6217920" y="426096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見に行く理由を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つくる</a:t>
            </a:r>
            <a:endParaRPr lang="en-US" sz="1200" b="0" u="none" strike="noStrike">
              <a:solidFill>
                <a:srgbClr val="000000"/>
              </a:solidFill>
              <a:effectLst/>
              <a:uFillTx/>
              <a:latin typeface="メイリオ"/>
            </a:endParaRPr>
          </a:p>
        </p:txBody>
      </p:sp>
      <p:sp>
        <p:nvSpPr>
          <p:cNvPr id="426" name="Right Arrow 42"/>
          <p:cNvSpPr/>
          <p:nvPr/>
        </p:nvSpPr>
        <p:spPr>
          <a:xfrm>
            <a:off x="7809120" y="443088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27" name="Rounded Rectangle 43"/>
          <p:cNvSpPr/>
          <p:nvPr/>
        </p:nvSpPr>
        <p:spPr>
          <a:xfrm>
            <a:off x="8046720" y="426096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28" name="Rounded Rectangle 44"/>
          <p:cNvSpPr/>
          <p:nvPr/>
        </p:nvSpPr>
        <p:spPr>
          <a:xfrm>
            <a:off x="38412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来場予約前の方</a:t>
            </a:r>
            <a:endParaRPr lang="en-US" sz="1200" b="0" u="none" strike="noStrike">
              <a:solidFill>
                <a:srgbClr val="000000"/>
              </a:solidFill>
              <a:effectLst/>
              <a:uFillTx/>
              <a:latin typeface="メイリオ"/>
            </a:endParaRPr>
          </a:p>
        </p:txBody>
      </p:sp>
      <p:sp>
        <p:nvSpPr>
          <p:cNvPr id="429" name="Right Arrow 45"/>
          <p:cNvSpPr/>
          <p:nvPr/>
        </p:nvSpPr>
        <p:spPr>
          <a:xfrm>
            <a:off x="212148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0" name="Rounded Rectangle 46"/>
          <p:cNvSpPr/>
          <p:nvPr/>
        </p:nvSpPr>
        <p:spPr>
          <a:xfrm>
            <a:off x="2359080" y="480960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来場予約済みを除く</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（チャットタグ）</a:t>
            </a:r>
            <a:endParaRPr lang="en-US" sz="1200" b="0" u="none" strike="noStrike">
              <a:solidFill>
                <a:srgbClr val="000000"/>
              </a:solidFill>
              <a:effectLst/>
              <a:uFillTx/>
              <a:latin typeface="メイリオ"/>
            </a:endParaRPr>
          </a:p>
        </p:txBody>
      </p:sp>
      <p:sp>
        <p:nvSpPr>
          <p:cNvPr id="431" name="Right Arrow 47"/>
          <p:cNvSpPr/>
          <p:nvPr/>
        </p:nvSpPr>
        <p:spPr>
          <a:xfrm>
            <a:off x="409644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2" name="Rounded Rectangle 48"/>
          <p:cNvSpPr/>
          <p:nvPr/>
        </p:nvSpPr>
        <p:spPr>
          <a:xfrm>
            <a:off x="4334400" y="480960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予算の簡易診断</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平屋か2階建てか</a:t>
            </a:r>
            <a:endParaRPr lang="en-US" sz="1200" b="0" u="none" strike="noStrike">
              <a:solidFill>
                <a:srgbClr val="000000"/>
              </a:solidFill>
              <a:effectLst/>
              <a:uFillTx/>
              <a:latin typeface="メイリオ"/>
            </a:endParaRPr>
          </a:p>
        </p:txBody>
      </p:sp>
      <p:sp>
        <p:nvSpPr>
          <p:cNvPr id="433" name="Right Arrow 49"/>
          <p:cNvSpPr/>
          <p:nvPr/>
        </p:nvSpPr>
        <p:spPr>
          <a:xfrm>
            <a:off x="59803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4" name="Rounded Rectangle 50"/>
          <p:cNvSpPr/>
          <p:nvPr/>
        </p:nvSpPr>
        <p:spPr>
          <a:xfrm>
            <a:off x="6217920" y="480960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希望を聞き分ける</a:t>
            </a:r>
            <a:endParaRPr lang="en-US" sz="1200" b="0" u="none" strike="noStrike">
              <a:solidFill>
                <a:srgbClr val="000000"/>
              </a:solidFill>
              <a:effectLst/>
              <a:uFillTx/>
              <a:latin typeface="メイリオ"/>
            </a:endParaRPr>
          </a:p>
        </p:txBody>
      </p:sp>
      <p:sp>
        <p:nvSpPr>
          <p:cNvPr id="435" name="Right Arrow 51"/>
          <p:cNvSpPr/>
          <p:nvPr/>
        </p:nvSpPr>
        <p:spPr>
          <a:xfrm>
            <a:off x="7809120" y="497952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6" name="Rounded Rectangle 52"/>
          <p:cNvSpPr/>
          <p:nvPr/>
        </p:nvSpPr>
        <p:spPr>
          <a:xfrm>
            <a:off x="8046720" y="480960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37" name="Rounded Rectangle 53"/>
          <p:cNvSpPr/>
          <p:nvPr/>
        </p:nvSpPr>
        <p:spPr>
          <a:xfrm>
            <a:off x="38412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費用に関心がある方</a:t>
            </a:r>
            <a:endParaRPr lang="en-US" sz="1200" b="0" u="none" strike="noStrike">
              <a:solidFill>
                <a:srgbClr val="000000"/>
              </a:solidFill>
              <a:effectLst/>
              <a:uFillTx/>
              <a:latin typeface="メイリオ"/>
            </a:endParaRPr>
          </a:p>
        </p:txBody>
      </p:sp>
      <p:sp>
        <p:nvSpPr>
          <p:cNvPr id="438" name="Right Arrow 54"/>
          <p:cNvSpPr/>
          <p:nvPr/>
        </p:nvSpPr>
        <p:spPr>
          <a:xfrm>
            <a:off x="212148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39" name="Rounded Rectangle 55"/>
          <p:cNvSpPr/>
          <p:nvPr/>
        </p:nvSpPr>
        <p:spPr>
          <a:xfrm>
            <a:off x="2359080" y="535824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住宅ローンの配信を</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クリックした方</a:t>
            </a:r>
            <a:endParaRPr lang="en-US" sz="1200" b="0" u="none" strike="noStrike">
              <a:solidFill>
                <a:srgbClr val="000000"/>
              </a:solidFill>
              <a:effectLst/>
              <a:uFillTx/>
              <a:latin typeface="メイリオ"/>
            </a:endParaRPr>
          </a:p>
        </p:txBody>
      </p:sp>
      <p:sp>
        <p:nvSpPr>
          <p:cNvPr id="440" name="Right Arrow 56"/>
          <p:cNvSpPr/>
          <p:nvPr/>
        </p:nvSpPr>
        <p:spPr>
          <a:xfrm>
            <a:off x="409644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1" name="Rounded Rectangle 57"/>
          <p:cNvSpPr/>
          <p:nvPr/>
        </p:nvSpPr>
        <p:spPr>
          <a:xfrm>
            <a:off x="4334400" y="535824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資金計画の</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個別相談のご案内</a:t>
            </a:r>
            <a:endParaRPr lang="en-US" sz="1200" b="0" u="none" strike="noStrike">
              <a:solidFill>
                <a:srgbClr val="000000"/>
              </a:solidFill>
              <a:effectLst/>
              <a:uFillTx/>
              <a:latin typeface="メイリオ"/>
            </a:endParaRPr>
          </a:p>
        </p:txBody>
      </p:sp>
      <p:sp>
        <p:nvSpPr>
          <p:cNvPr id="442" name="Right Arrow 58"/>
          <p:cNvSpPr/>
          <p:nvPr/>
        </p:nvSpPr>
        <p:spPr>
          <a:xfrm>
            <a:off x="59803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3" name="Rounded Rectangle 59"/>
          <p:cNvSpPr/>
          <p:nvPr/>
        </p:nvSpPr>
        <p:spPr>
          <a:xfrm>
            <a:off x="6217920" y="535824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費用の不安を解消</a:t>
            </a:r>
            <a:endParaRPr lang="en-US" sz="1200" b="0" u="none" strike="noStrike">
              <a:solidFill>
                <a:srgbClr val="000000"/>
              </a:solidFill>
              <a:effectLst/>
              <a:uFillTx/>
              <a:latin typeface="メイリオ"/>
            </a:endParaRPr>
          </a:p>
        </p:txBody>
      </p:sp>
      <p:sp>
        <p:nvSpPr>
          <p:cNvPr id="444" name="Right Arrow 60"/>
          <p:cNvSpPr/>
          <p:nvPr/>
        </p:nvSpPr>
        <p:spPr>
          <a:xfrm>
            <a:off x="7809120" y="552816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5" name="Rounded Rectangle 61"/>
          <p:cNvSpPr/>
          <p:nvPr/>
        </p:nvSpPr>
        <p:spPr>
          <a:xfrm>
            <a:off x="8046720" y="535824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来場予約へ</a:t>
            </a:r>
            <a:endParaRPr lang="en-US" sz="1200" b="0" u="none" strike="noStrike">
              <a:solidFill>
                <a:srgbClr val="FFFFFF"/>
              </a:solidFill>
              <a:effectLst/>
              <a:uFillTx/>
              <a:latin typeface="メイリオ"/>
            </a:endParaRPr>
          </a:p>
        </p:txBody>
      </p:sp>
      <p:sp>
        <p:nvSpPr>
          <p:cNvPr id="446" name="Rounded Rectangle 62"/>
          <p:cNvSpPr/>
          <p:nvPr/>
        </p:nvSpPr>
        <p:spPr>
          <a:xfrm>
            <a:off x="38412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契約前の方</a:t>
            </a:r>
            <a:endParaRPr lang="en-US" sz="1200" b="0" u="none" strike="noStrike">
              <a:solidFill>
                <a:srgbClr val="000000"/>
              </a:solidFill>
              <a:effectLst/>
              <a:uFillTx/>
              <a:latin typeface="メイリオ"/>
            </a:endParaRPr>
          </a:p>
        </p:txBody>
      </p:sp>
      <p:sp>
        <p:nvSpPr>
          <p:cNvPr id="447" name="Right Arrow 63"/>
          <p:cNvSpPr/>
          <p:nvPr/>
        </p:nvSpPr>
        <p:spPr>
          <a:xfrm>
            <a:off x="212148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48" name="Rounded Rectangle 64"/>
          <p:cNvSpPr/>
          <p:nvPr/>
        </p:nvSpPr>
        <p:spPr>
          <a:xfrm>
            <a:off x="2359080" y="5906880"/>
            <a:ext cx="173700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来場済みのタグ</a:t>
            </a:r>
            <a:endParaRPr lang="en-US" sz="1200" b="0" u="none" strike="noStrike">
              <a:solidFill>
                <a:srgbClr val="000000"/>
              </a:solidFill>
              <a:effectLst/>
              <a:uFillTx/>
              <a:latin typeface="メイリオ"/>
            </a:endParaRPr>
          </a:p>
        </p:txBody>
      </p:sp>
      <p:sp>
        <p:nvSpPr>
          <p:cNvPr id="449" name="Right Arrow 65"/>
          <p:cNvSpPr/>
          <p:nvPr/>
        </p:nvSpPr>
        <p:spPr>
          <a:xfrm>
            <a:off x="409644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0" name="Rounded Rectangle 66"/>
          <p:cNvSpPr/>
          <p:nvPr/>
        </p:nvSpPr>
        <p:spPr>
          <a:xfrm>
            <a:off x="4334400" y="5906880"/>
            <a:ext cx="164556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お客様の声</a:t>
            </a:r>
            <a:endParaRPr lang="en-US" sz="1200" b="0" u="none" strike="noStrike">
              <a:solidFill>
                <a:srgbClr val="000000"/>
              </a:solidFill>
              <a:effectLst/>
              <a:uFillTx/>
              <a:latin typeface="メイリオ"/>
            </a:endParaRPr>
          </a:p>
          <a:p>
            <a:pPr algn="ctr" defTabSz="914400">
              <a:lnSpc>
                <a:spcPct val="90000"/>
              </a:lnSpc>
              <a:tabLst>
                <a:tab pos="0" algn="l"/>
              </a:tabLst>
            </a:pPr>
            <a:r>
              <a:rPr lang="zh-CN" sz="1200" b="0" u="none" strike="noStrike">
                <a:solidFill>
                  <a:srgbClr val="333333"/>
                </a:solidFill>
                <a:effectLst/>
                <a:uFillTx/>
                <a:latin typeface="メイリオ"/>
                <a:ea typeface="メイリオ"/>
              </a:rPr>
              <a:t>構造見学会</a:t>
            </a:r>
            <a:endParaRPr lang="en-US" sz="1200" b="0" u="none" strike="noStrike">
              <a:solidFill>
                <a:srgbClr val="000000"/>
              </a:solidFill>
              <a:effectLst/>
              <a:uFillTx/>
              <a:latin typeface="メイリオ"/>
            </a:endParaRPr>
          </a:p>
        </p:txBody>
      </p:sp>
      <p:sp>
        <p:nvSpPr>
          <p:cNvPr id="451" name="Right Arrow 67"/>
          <p:cNvSpPr/>
          <p:nvPr/>
        </p:nvSpPr>
        <p:spPr>
          <a:xfrm>
            <a:off x="59803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2" name="Rounded Rectangle 68"/>
          <p:cNvSpPr/>
          <p:nvPr/>
        </p:nvSpPr>
        <p:spPr>
          <a:xfrm>
            <a:off x="6217920" y="5906880"/>
            <a:ext cx="1590840" cy="484200"/>
          </a:xfrm>
          <a:prstGeom prst="roundRect">
            <a:avLst>
              <a:gd name="adj" fmla="val 10000"/>
            </a:avLst>
          </a:prstGeom>
          <a:solidFill>
            <a:srgbClr val="F5F7FA"/>
          </a:solidFill>
          <a:ln w="12700">
            <a:solidFill>
              <a:srgbClr val="D1D8E0"/>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0" u="none" strike="noStrike">
                <a:solidFill>
                  <a:srgbClr val="333333"/>
                </a:solidFill>
                <a:effectLst/>
                <a:uFillTx/>
                <a:latin typeface="メイリオ"/>
                <a:ea typeface="メイリオ"/>
              </a:rPr>
              <a:t>契約前の後押し</a:t>
            </a:r>
            <a:endParaRPr lang="en-US" sz="1200" b="0" u="none" strike="noStrike">
              <a:solidFill>
                <a:srgbClr val="000000"/>
              </a:solidFill>
              <a:effectLst/>
              <a:uFillTx/>
              <a:latin typeface="メイリオ"/>
            </a:endParaRPr>
          </a:p>
        </p:txBody>
      </p:sp>
      <p:sp>
        <p:nvSpPr>
          <p:cNvPr id="453" name="Right Arrow 69"/>
          <p:cNvSpPr/>
          <p:nvPr/>
        </p:nvSpPr>
        <p:spPr>
          <a:xfrm>
            <a:off x="7809120" y="6076800"/>
            <a:ext cx="237240" cy="145080"/>
          </a:xfrm>
          <a:prstGeom prst="rightArrow">
            <a:avLst>
              <a:gd name="adj1" fmla="val 50000"/>
              <a:gd name="adj2" fmla="val 50000"/>
            </a:avLst>
          </a:prstGeom>
          <a:solidFill>
            <a:srgbClr val="9AA1AE"/>
          </a:solidFill>
          <a:ln w="9525">
            <a:noFill/>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90000" tIns="28080" rIns="90000" bIns="28080" anchor="ctr">
            <a:noAutofit/>
          </a:bodyPr>
          <a:lstStyle/>
          <a:p>
            <a:pPr algn="ctr" defTabSz="914400">
              <a:lnSpc>
                <a:spcPct val="100000"/>
              </a:lnSpc>
              <a:tabLst>
                <a:tab pos="0" algn="l"/>
              </a:tabLst>
            </a:pPr>
            <a:endParaRPr lang="en-US" sz="1400" b="0" u="none" strike="noStrike">
              <a:solidFill>
                <a:srgbClr val="FFFFFF"/>
              </a:solidFill>
              <a:effectLst/>
              <a:uFillTx/>
              <a:latin typeface="メイリオ"/>
              <a:ea typeface="メイリオ"/>
            </a:endParaRPr>
          </a:p>
        </p:txBody>
      </p:sp>
      <p:sp>
        <p:nvSpPr>
          <p:cNvPr id="454" name="Rounded Rectangle 70"/>
          <p:cNvSpPr/>
          <p:nvPr/>
        </p:nvSpPr>
        <p:spPr>
          <a:xfrm>
            <a:off x="8046720" y="5906880"/>
            <a:ext cx="1462680" cy="484200"/>
          </a:xfrm>
          <a:prstGeom prst="roundRect">
            <a:avLst>
              <a:gd name="adj" fmla="val 10000"/>
            </a:avLst>
          </a:prstGeom>
          <a:solidFill>
            <a:srgbClr val="1F2A5C"/>
          </a:solidFill>
          <a:ln w="12700">
            <a:solidFill>
              <a:srgbClr val="1F2A5C"/>
            </a:solidFill>
            <a:round/>
          </a:ln>
          <a:effectLst>
            <a:outerShdw blurRad="39960" dist="23040" dir="5400000" rotWithShape="0">
              <a:srgbClr val="000000">
                <a:alpha val="35000"/>
              </a:srgbClr>
            </a:outerShdw>
          </a:effectLst>
        </p:spPr>
        <p:style>
          <a:lnRef idx="0">
            <a:scrgbClr r="0" g="0" b="0"/>
          </a:lnRef>
          <a:fillRef idx="0">
            <a:scrgbClr r="0" g="0" b="0"/>
          </a:fillRef>
          <a:effectRef idx="0">
            <a:scrgbClr r="0" g="0" b="0"/>
          </a:effectRef>
          <a:fontRef idx="minor"/>
        </p:style>
        <p:txBody>
          <a:bodyPr lIns="36720" tIns="18360" rIns="36720" bIns="18360" anchor="ctr">
            <a:noAutofit/>
          </a:bodyPr>
          <a:lstStyle/>
          <a:p>
            <a:pPr algn="ctr" defTabSz="914400">
              <a:lnSpc>
                <a:spcPct val="90000"/>
              </a:lnSpc>
              <a:tabLst>
                <a:tab pos="0" algn="l"/>
              </a:tabLst>
            </a:pPr>
            <a:r>
              <a:rPr lang="zh-CN" sz="1200" b="1" u="none" strike="noStrike">
                <a:solidFill>
                  <a:srgbClr val="FFFFFF"/>
                </a:solidFill>
                <a:effectLst/>
                <a:uFillTx/>
                <a:latin typeface="メイリオ"/>
                <a:ea typeface="メイリオ"/>
              </a:rPr>
              <a:t>商談・契約へ</a:t>
            </a:r>
            <a:endParaRPr lang="en-US" sz="1200" b="0" u="none" strike="noStrike">
              <a:solidFill>
                <a:srgbClr val="FFFFFF"/>
              </a:solidFill>
              <a:effectLst/>
              <a:uFillTx/>
              <a:latin typeface="メイリオ"/>
            </a:endParaRPr>
          </a:p>
        </p:txBody>
      </p:sp>
      <p:sp>
        <p:nvSpPr>
          <p:cNvPr id="457" name="テキスト ボックス 9"/>
          <p:cNvSpPr/>
          <p:nvPr/>
        </p:nvSpPr>
        <p:spPr>
          <a:xfrm>
            <a:off x="2359152" y="1664280"/>
            <a:ext cx="2724912"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58" name="テキスト ボックス 11"/>
          <p:cNvSpPr/>
          <p:nvPr/>
        </p:nvSpPr>
        <p:spPr>
          <a:xfrm>
            <a:off x="5321808" y="1664280"/>
            <a:ext cx="2487168"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
        <p:nvSpPr>
          <p:cNvPr id="459" name="テキスト ボックス 14"/>
          <p:cNvSpPr/>
          <p:nvPr/>
        </p:nvSpPr>
        <p:spPr>
          <a:xfrm>
            <a:off x="38412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ターゲット層</a:t>
            </a:r>
            <a:endParaRPr lang="en-US" sz="1200" b="0" u="none" strike="noStrike">
              <a:solidFill>
                <a:srgbClr val="000000"/>
              </a:solidFill>
              <a:effectLst/>
              <a:uFillTx/>
              <a:latin typeface="メイリオ"/>
            </a:endParaRPr>
          </a:p>
        </p:txBody>
      </p:sp>
      <p:sp>
        <p:nvSpPr>
          <p:cNvPr id="460" name="テキスト ボックス 16"/>
          <p:cNvSpPr/>
          <p:nvPr/>
        </p:nvSpPr>
        <p:spPr>
          <a:xfrm>
            <a:off x="2359080" y="4005000"/>
            <a:ext cx="173700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セグメント方法</a:t>
            </a:r>
            <a:endParaRPr lang="en-US" sz="1200" b="0" u="none" strike="noStrike">
              <a:solidFill>
                <a:srgbClr val="000000"/>
              </a:solidFill>
              <a:effectLst/>
              <a:uFillTx/>
              <a:latin typeface="メイリオ"/>
            </a:endParaRPr>
          </a:p>
        </p:txBody>
      </p:sp>
      <p:sp>
        <p:nvSpPr>
          <p:cNvPr id="461" name="テキスト ボックス 18"/>
          <p:cNvSpPr/>
          <p:nvPr/>
        </p:nvSpPr>
        <p:spPr>
          <a:xfrm>
            <a:off x="4334400" y="4005000"/>
            <a:ext cx="164556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333333"/>
                </a:solidFill>
                <a:effectLst/>
                <a:uFillTx/>
                <a:latin typeface="メイリオ"/>
                <a:ea typeface="メイリオ"/>
              </a:rPr>
              <a:t>配信コンテンツ</a:t>
            </a:r>
            <a:endParaRPr lang="en-US" sz="1200" b="0" u="none" strike="noStrike">
              <a:solidFill>
                <a:srgbClr val="000000"/>
              </a:solidFill>
              <a:effectLst/>
              <a:uFillTx/>
              <a:latin typeface="メイリオ"/>
            </a:endParaRPr>
          </a:p>
        </p:txBody>
      </p:sp>
      <p:sp>
        <p:nvSpPr>
          <p:cNvPr id="462" name="テキスト ボックス 21"/>
          <p:cNvSpPr/>
          <p:nvPr/>
        </p:nvSpPr>
        <p:spPr>
          <a:xfrm>
            <a:off x="6217920" y="4005000"/>
            <a:ext cx="1590840" cy="255600"/>
          </a:xfrm>
          <a:prstGeom prst="rect">
            <a:avLst/>
          </a:prstGeom>
          <a:noFill/>
          <a:ln w="0">
            <a:noFill/>
          </a:ln>
        </p:spPr>
        <p:style>
          <a:lnRef idx="0">
            <a:scrgbClr r="0" g="0" b="0"/>
          </a:lnRef>
          <a:fillRef idx="0">
            <a:scrgbClr r="0" g="0" b="0"/>
          </a:fillRef>
          <a:effectRef idx="0">
            <a:scrgbClr r="0" g="0" b="0"/>
          </a:effectRef>
          <a:fontRef idx="minor"/>
        </p:style>
        <p:txBody>
          <a:bodyPr lIns="18360" tIns="0" rIns="18360" bIns="18360" anchor="b">
            <a:noAutofit/>
          </a:bodyPr>
          <a:lstStyle/>
          <a:p>
            <a:pPr algn="ctr" defTabSz="914400">
              <a:lnSpc>
                <a:spcPct val="100000"/>
              </a:lnSpc>
              <a:tabLst>
                <a:tab pos="0" algn="l"/>
              </a:tabLst>
            </a:pPr>
            <a:r>
              <a:rPr lang="ja-JP" sz="1200" b="0" u="none" strike="noStrike">
                <a:solidFill>
                  <a:srgbClr val="FF0000"/>
                </a:solidFill>
                <a:effectLst/>
                <a:uFillTx/>
                <a:latin typeface="メイリオ"/>
                <a:ea typeface="メイリオ"/>
              </a:rPr>
              <a:t>ねらい</a:t>
            </a:r>
            <a:endParaRPr lang="en-US" sz="1200" b="0" u="none" strike="noStrike">
              <a:solidFill>
                <a:srgbClr val="000000"/>
              </a:solidFill>
              <a:effectLst/>
              <a:uFillTx/>
              <a:latin typeface="メイリオ"/>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来場前のお知らせ：予約から来場までをLINEでつなぎ、キャンセルを減らす</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日程の変更もLINEのチャットで受け付け、キャンセルではなく変更につなげる</a:t>
            </a:r>
            <a:endParaRPr lang="en-US" sz="1400" b="1" u="none" strike="noStrike" dirty="0">
              <a:effectLst/>
              <a:uFillTx/>
              <a:latin typeface="メイリオ"/>
            </a:endParaRPr>
          </a:p>
        </p:txBody>
      </p:sp>
      <p:sp>
        <p:nvSpPr>
          <p:cNvPr id="7" name="流れ1"/>
          <p:cNvSpPr/>
          <p:nvPr/>
        </p:nvSpPr>
        <p:spPr>
          <a:xfrm>
            <a:off x="502920"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予約の完了</a:t>
            </a:r>
            <a:endParaRPr lang="ja-JP" altLang="en-US" sz="1300" dirty="0"/>
          </a:p>
        </p:txBody>
      </p:sp>
      <p:sp>
        <p:nvSpPr>
          <p:cNvPr id="8" name="矢印"/>
          <p:cNvSpPr/>
          <p:nvPr/>
        </p:nvSpPr>
        <p:spPr>
          <a:xfrm>
            <a:off x="2099462"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9" name="流れ2"/>
          <p:cNvSpPr/>
          <p:nvPr/>
        </p:nvSpPr>
        <p:spPr>
          <a:xfrm>
            <a:off x="2328062"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予約の確認</a:t>
            </a:r>
            <a:endParaRPr lang="ja-JP" altLang="en-US" sz="1300" dirty="0"/>
          </a:p>
        </p:txBody>
      </p:sp>
      <p:sp>
        <p:nvSpPr>
          <p:cNvPr id="10" name="矢印"/>
          <p:cNvSpPr/>
          <p:nvPr/>
        </p:nvSpPr>
        <p:spPr>
          <a:xfrm>
            <a:off x="3924604"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1" name="流れ3"/>
          <p:cNvSpPr/>
          <p:nvPr/>
        </p:nvSpPr>
        <p:spPr>
          <a:xfrm>
            <a:off x="4153204"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3日前</a:t>
            </a:r>
            <a:endParaRPr lang="ja-JP" altLang="en-US" sz="1300" dirty="0"/>
          </a:p>
        </p:txBody>
      </p:sp>
      <p:sp>
        <p:nvSpPr>
          <p:cNvPr id="12" name="矢印"/>
          <p:cNvSpPr/>
          <p:nvPr/>
        </p:nvSpPr>
        <p:spPr>
          <a:xfrm>
            <a:off x="5749747"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3" name="流れ4"/>
          <p:cNvSpPr/>
          <p:nvPr/>
        </p:nvSpPr>
        <p:spPr>
          <a:xfrm>
            <a:off x="5978347"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前日</a:t>
            </a:r>
            <a:endParaRPr lang="ja-JP" altLang="en-US" sz="1300" dirty="0"/>
          </a:p>
        </p:txBody>
      </p:sp>
      <p:sp>
        <p:nvSpPr>
          <p:cNvPr id="14" name="矢印"/>
          <p:cNvSpPr/>
          <p:nvPr/>
        </p:nvSpPr>
        <p:spPr>
          <a:xfrm>
            <a:off x="7574889" y="1691640"/>
            <a:ext cx="228600" cy="548640"/>
          </a:xfrm>
          <a:prstGeom prst="rect">
            <a:avLst/>
          </a:prstGeom>
          <a:noFill/>
          <a:ln>
            <a:noFill/>
          </a:ln>
        </p:spPr>
        <p:txBody>
          <a:bodyPr wrap="square" lIns="0" tIns="0" rIns="0" bIns="0" rtlCol="0" anchor="ctr">
            <a:noAutofit/>
          </a:bodyPr>
          <a:lstStyle/>
          <a:p>
            <a:pPr algn="ctr">
              <a:buNone/>
            </a:pPr>
            <a:r>
              <a:rPr lang="ja-JP" altLang="en-US" sz="14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5" name="流れ5"/>
          <p:cNvSpPr/>
          <p:nvPr/>
        </p:nvSpPr>
        <p:spPr>
          <a:xfrm>
            <a:off x="7803489" y="1691640"/>
            <a:ext cx="1596542" cy="548640"/>
          </a:xfrm>
          <a:prstGeom prst="rect">
            <a:avLst/>
          </a:prstGeom>
          <a:solidFill>
            <a:srgbClr val="1F285A"/>
          </a:solidFill>
          <a:ln>
            <a:noFill/>
          </a:ln>
        </p:spPr>
        <p:txBody>
          <a:bodyPr wrap="square" lIns="54864" tIns="36576" rIns="54864" bIns="36576" rtlCol="0" anchor="ctr">
            <a:noAutofit/>
          </a:bodyPr>
          <a:lstStyle/>
          <a:p>
            <a:pPr algn="ctr">
              <a:lnSpc>
                <a:spcPct val="115000"/>
              </a:lnSpc>
              <a:buNone/>
            </a:pPr>
            <a:r>
              <a:rPr lang="ja-JP" altLang="en-US" sz="1300" b="1" dirty="0">
                <a:solidFill>
                  <a:srgbClr val="FFFFFF"/>
                </a:solidFill>
                <a:latin typeface="メイリオ" panose="020B0604030504040204" pitchFamily="50" charset="-128"/>
                <a:ea typeface="メイリオ" panose="020B0604030504040204" pitchFamily="50" charset="-128"/>
              </a:rPr>
              <a:t>来場の後</a:t>
            </a:r>
            <a:endParaRPr lang="ja-JP" altLang="en-US" sz="1300" dirty="0"/>
          </a:p>
        </p:txBody>
      </p:sp>
      <p:sp>
        <p:nvSpPr>
          <p:cNvPr id="16" name="お知らせ1"/>
          <p:cNvSpPr/>
          <p:nvPr/>
        </p:nvSpPr>
        <p:spPr>
          <a:xfrm>
            <a:off x="502920"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事前アンケートの回答後に、LINEの友だち追加をご案内</a:t>
            </a:r>
            <a:endParaRPr lang="ja-JP" altLang="en-US" sz="1300" dirty="0"/>
          </a:p>
        </p:txBody>
      </p:sp>
      <p:sp>
        <p:nvSpPr>
          <p:cNvPr id="17" name="お知らせ2"/>
          <p:cNvSpPr/>
          <p:nvPr/>
        </p:nvSpPr>
        <p:spPr>
          <a:xfrm>
            <a:off x="2328062"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日時・展示場・担当者をLINEでお知らせ</a:t>
            </a:r>
            <a:endParaRPr lang="ja-JP" altLang="en-US" sz="1300" dirty="0"/>
          </a:p>
        </p:txBody>
      </p:sp>
      <p:sp>
        <p:nvSpPr>
          <p:cNvPr id="18" name="お知らせ3"/>
          <p:cNvSpPr/>
          <p:nvPr/>
        </p:nvSpPr>
        <p:spPr>
          <a:xfrm>
            <a:off x="4153204"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当日の見どころ・流れ・所要時間をご案内</a:t>
            </a:r>
            <a:endParaRPr lang="ja-JP" altLang="en-US" sz="1300" dirty="0"/>
          </a:p>
        </p:txBody>
      </p:sp>
      <p:sp>
        <p:nvSpPr>
          <p:cNvPr id="19" name="お知らせ4"/>
          <p:cNvSpPr/>
          <p:nvPr/>
        </p:nvSpPr>
        <p:spPr>
          <a:xfrm>
            <a:off x="5978347"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日時・場所・地図・駐車場をお知らせ。日程の変更はチャットで受付</a:t>
            </a:r>
            <a:endParaRPr lang="ja-JP" altLang="en-US" sz="1300" dirty="0"/>
          </a:p>
        </p:txBody>
      </p:sp>
      <p:sp>
        <p:nvSpPr>
          <p:cNvPr id="20" name="お知らせ5"/>
          <p:cNvSpPr/>
          <p:nvPr/>
        </p:nvSpPr>
        <p:spPr>
          <a:xfrm>
            <a:off x="7803489" y="2313432"/>
            <a:ext cx="1596542" cy="1417320"/>
          </a:xfrm>
          <a:prstGeom prst="rect">
            <a:avLst/>
          </a:prstGeom>
          <a:noFill/>
          <a:ln w="9525">
            <a:solidFill>
              <a:srgbClr val="D9D9D9"/>
            </a:solidFill>
          </a:ln>
        </p:spPr>
        <p:txBody>
          <a:bodyPr wrap="square" lIns="91440" tIns="91440" rIns="91440" bIns="54864" rtlCol="0" anchor="t">
            <a:noAutofit/>
          </a:bodyPr>
          <a:lstStyle/>
          <a:p>
            <a:pPr algn="l">
              <a:lnSpc>
                <a:spcPct val="125000"/>
              </a:lnSpc>
              <a:buNone/>
            </a:pPr>
            <a:r>
              <a:rPr lang="ja-JP" altLang="en-US" sz="1250" b="0" dirty="0">
                <a:solidFill>
                  <a:srgbClr val="333333"/>
                </a:solidFill>
                <a:latin typeface="メイリオ" panose="020B0604030504040204" pitchFamily="50" charset="-128"/>
                <a:ea typeface="メイリオ" panose="020B0604030504040204" pitchFamily="50" charset="-128"/>
              </a:rPr>
              <a:t>お礼と、次のご相談（商談）のご案内</a:t>
            </a:r>
            <a:endParaRPr lang="ja-JP" altLang="en-US" sz="1300" dirty="0"/>
          </a:p>
        </p:txBody>
      </p:sp>
      <p:sp>
        <p:nvSpPr>
          <p:cNvPr id="21" name="実績 見出し"/>
          <p:cNvSpPr/>
          <p:nvPr/>
        </p:nvSpPr>
        <p:spPr>
          <a:xfrm>
            <a:off x="502920" y="4160520"/>
            <a:ext cx="1737360" cy="914400"/>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250" b="1" dirty="0">
                <a:solidFill>
                  <a:srgbClr val="FFFFFF"/>
                </a:solidFill>
                <a:latin typeface="メイリオ" panose="020B0604030504040204" pitchFamily="50" charset="-128"/>
                <a:ea typeface="メイリオ" panose="020B0604030504040204" pitchFamily="50" charset="-128"/>
              </a:rPr>
              <a:t>弊社運用の実績</a:t>
            </a:r>
            <a:endParaRPr lang="ja-JP" altLang="en-US" sz="1300" dirty="0"/>
          </a:p>
        </p:txBody>
      </p:sp>
      <p:sp>
        <p:nvSpPr>
          <p:cNvPr id="22" name="実績 施策"/>
          <p:cNvSpPr/>
          <p:nvPr/>
        </p:nvSpPr>
        <p:spPr>
          <a:xfrm>
            <a:off x="2240280" y="4160520"/>
            <a:ext cx="4206240" cy="914400"/>
          </a:xfrm>
          <a:prstGeom prst="rect">
            <a:avLst/>
          </a:prstGeom>
          <a:solidFill>
            <a:srgbClr val="F4F7FF"/>
          </a:solidFill>
          <a:ln>
            <a:noFill/>
          </a:ln>
        </p:spPr>
        <p:txBody>
          <a:bodyPr wrap="square" lIns="137160" tIns="54864" rIns="91440" bIns="54864" rtlCol="0" anchor="ctr">
            <a:noAutofit/>
          </a:bodyPr>
          <a:lstStyle/>
          <a:p>
            <a:pPr algn="l">
              <a:lnSpc>
                <a:spcPct val="120000"/>
              </a:lnSpc>
              <a:buNone/>
            </a:pPr>
            <a:r>
              <a:rPr lang="ja-JP" altLang="en-US" sz="1250" b="1" dirty="0">
                <a:solidFill>
                  <a:srgbClr val="1F285A"/>
                </a:solidFill>
                <a:latin typeface="メイリオ" panose="020B0604030504040204" pitchFamily="50" charset="-128"/>
                <a:ea typeface="メイリオ" panose="020B0604030504040204" pitchFamily="50" charset="-128"/>
              </a:rPr>
              <a:t>美容クリニック</a:t>
            </a:r>
            <a:endParaRPr lang="ja-JP" altLang="en-US" sz="1300" dirty="0"/>
          </a:p>
          <a:p>
            <a:pPr algn="l">
              <a:lnSpc>
                <a:spcPct val="120000"/>
              </a:lnSpc>
              <a:buNone/>
            </a:pPr>
            <a:r>
              <a:rPr lang="ja-JP" altLang="en-US" sz="1200" b="0" dirty="0">
                <a:solidFill>
                  <a:srgbClr val="333333"/>
                </a:solidFill>
                <a:latin typeface="メイリオ" panose="020B0604030504040204" pitchFamily="50" charset="-128"/>
                <a:ea typeface="メイリオ" panose="020B0604030504040204" pitchFamily="50" charset="-128"/>
              </a:rPr>
              <a:t>予約の完了後にLINEへご案内し、予約の確認・前日のお知らせを配信</a:t>
            </a:r>
            <a:endParaRPr lang="ja-JP" altLang="en-US" sz="1300" dirty="0"/>
          </a:p>
        </p:txBody>
      </p:sp>
      <p:sp>
        <p:nvSpPr>
          <p:cNvPr id="23" name="実績 数字"/>
          <p:cNvSpPr/>
          <p:nvPr/>
        </p:nvSpPr>
        <p:spPr>
          <a:xfrm>
            <a:off x="6446520" y="4160520"/>
            <a:ext cx="2953512" cy="914400"/>
          </a:xfrm>
          <a:prstGeom prst="rect">
            <a:avLst/>
          </a:prstGeom>
          <a:solidFill>
            <a:srgbClr val="F4F7FF"/>
          </a:solidFill>
          <a:ln>
            <a:noFill/>
          </a:ln>
        </p:spPr>
        <p:txBody>
          <a:bodyPr wrap="square" lIns="73152" tIns="36576" rIns="73152" bIns="36576" rtlCol="0" anchor="ctr">
            <a:noAutofit/>
          </a:bodyPr>
          <a:lstStyle/>
          <a:p>
            <a:pPr algn="ctr">
              <a:lnSpc>
                <a:spcPct val="105000"/>
              </a:lnSpc>
              <a:buNone/>
            </a:pPr>
            <a:r>
              <a:rPr lang="ja-JP" altLang="en-US" sz="1200" b="1" dirty="0">
                <a:solidFill>
                  <a:srgbClr val="1F285A"/>
                </a:solidFill>
                <a:latin typeface="メイリオ" panose="020B0604030504040204" pitchFamily="50" charset="-128"/>
                <a:ea typeface="メイリオ" panose="020B0604030504040204" pitchFamily="50" charset="-128"/>
              </a:rPr>
              <a:t>予約後の来院率</a:t>
            </a:r>
            <a:endParaRPr lang="ja-JP" altLang="en-US" sz="1300" dirty="0"/>
          </a:p>
          <a:p>
            <a:pPr algn="ctr">
              <a:lnSpc>
                <a:spcPct val="105000"/>
              </a:lnSpc>
              <a:buNone/>
            </a:pPr>
            <a:r>
              <a:rPr lang="ja-JP" altLang="en-US" sz="2200" b="1" dirty="0">
                <a:solidFill>
                  <a:srgbClr val="1F285A"/>
                </a:solidFill>
                <a:latin typeface="メイリオ" panose="020B0604030504040204" pitchFamily="50" charset="-128"/>
                <a:ea typeface="メイリオ" panose="020B0604030504040204" pitchFamily="50" charset="-128"/>
              </a:rPr>
              <a:t>40〜50%改善</a:t>
            </a:r>
            <a:endParaRPr lang="ja-JP" alt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概算お見積り：月26万円で、6か月目に資料請求 月11件・来場予約 月8件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¥265,000〜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¥260,000〜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月4回程度</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来場前のお知らせ</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予約ごとに配信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2" name="正方形/長方形 81"/>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資料請求</a:t>
            </a:r>
            <a:endParaRPr lang="en-US" sz="1400" b="0" u="none" strike="noStrike">
              <a:solidFill>
                <a:srgbClr val="000000"/>
              </a:solidFill>
              <a:effectLst/>
              <a:uFillTx/>
              <a:latin typeface="メイリオ"/>
            </a:endParaRPr>
          </a:p>
        </p:txBody>
      </p:sp>
      <p:sp>
        <p:nvSpPr>
          <p:cNvPr id="364" name="正方形/長方形 85"/>
          <p:cNvSpPr/>
          <p:nvPr/>
        </p:nvSpPr>
        <p:spPr>
          <a:xfrm>
            <a:off x="6812280" y="2907792"/>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来場予約</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離脱防止</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サンクス</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LINE誘導</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9" name="正方形/長方形 25"/>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サイトの</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LINEボタン</a:t>
            </a:r>
            <a:endParaRPr lang="en-US" sz="1300" b="0" u="none" strike="noStrike">
              <a:solidFill>
                <a:srgbClr val="FFFFFF"/>
              </a:solidFill>
              <a:effectLst/>
              <a:uFillTx/>
              <a:latin typeface="メイリオ"/>
            </a:endParaRPr>
          </a:p>
        </p:txBody>
      </p:sp>
      <p:sp>
        <p:nvSpPr>
          <p:cNvPr id="370" name="正方形/長方形 29"/>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設置</a:t>
            </a:r>
            <a:endParaRPr lang="en-US" sz="1300" b="0" u="none" strike="noStrike">
              <a:solidFill>
                <a:srgbClr val="000000"/>
              </a:solidFill>
              <a:effectLst/>
              <a:uFillTx/>
              <a:latin typeface="メイリオ"/>
            </a:endParaRPr>
          </a:p>
        </p:txBody>
      </p:sp>
      <p:sp>
        <p:nvSpPr>
          <p:cNvPr id="371" name="正方形/長方形 33"/>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1,493人</a:t>
            </a:r>
            <a:endParaRPr lang="en-US" sz="1400" b="0" u="none" strike="noStrike">
              <a:solidFill>
                <a:srgbClr val="000000"/>
              </a:solidFill>
              <a:effectLst/>
              <a:uFillTx/>
              <a:latin typeface="メイリオ"/>
            </a:endParaRPr>
          </a:p>
        </p:txBody>
      </p:sp>
      <p:sp>
        <p:nvSpPr>
          <p:cNvPr id="376" name="テキスト ボックス 15"/>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11件/月</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907792"/>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8件/月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プラン②｜総合運用で、友だちの入口を増やし、検討の順番に沿った配信で資料請求・来場予約を増やす</a:t>
            </a:r>
            <a:endParaRPr lang="en-US" sz="1400" b="0" u="none" strike="noStrike">
              <a:solidFill>
                <a:srgbClr val="000000"/>
              </a:solidFill>
              <a:effectLst/>
              <a:uFillTx/>
              <a:latin typeface="メイリオ"/>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料金プラン：3つのプランの費用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運用範囲に合わせて、3つのプランをご用意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なし</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60,000円〜</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＋LINE広告</a:t>
                      </a:r>
                      <a:endParaRPr lang="ja-JP" altLang="en-US" sz="1500" dirty="0"/>
                    </a:p>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260,000円〜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460,000円〜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 100,000円〜＋離脱防止 15,000円＋サンクスLINE誘導 150,000円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※月額ツール・LINE関連費＝離脱防止 30,000円＋サンクスLINE誘導 30,000円〜。LINE公式アカウント利用料は別（貴社のご契約のまま）</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※契約期間は6か月〜。概算お見積りのページはプラン②の場合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3つのプランの運用内容</a:t>
            </a:r>
            <a:r>
              <a:rPr lang="ja-JP" altLang="en-US" sz="1600" b="1" u="none" strike="noStrike" dirty="0">
                <a:solidFill>
                  <a:schemeClr val="dk1"/>
                </a:solidFill>
                <a:effectLst/>
                <a:uFillTx/>
                <a:latin typeface="メイリオ"/>
                <a:ea typeface="メイリオ"/>
              </a:rPr>
              <a:t>の</a:t>
            </a:r>
            <a:r>
              <a:rPr lang="ja-JP" sz="1600" b="1" u="none" strike="noStrike" dirty="0">
                <a:solidFill>
                  <a:schemeClr val="dk1"/>
                </a:solidFill>
                <a:effectLst/>
                <a:uFillTx/>
                <a:latin typeface="メイリオ"/>
                <a:ea typeface="メイリオ"/>
              </a:rPr>
              <a:t>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4323282"/>
        </p:xfrm>
        <a:graphic>
          <a:graphicData uri="http://schemas.openxmlformats.org/drawingml/2006/table">
            <a:tbl>
              <a:tblPr/>
              <a:tblGrid>
                <a:gridCol w="22860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初期導入</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プラン③</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総合運用＋友だち獲得</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離脱防止・</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サイトのLINEボタン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設置</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14日間・5通</a:t>
                      </a:r>
                      <a:endParaRPr lang="ja-JP" altLang="en-US" sz="1300" dirty="0"/>
                    </a:p>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なし（貴社で運用）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月4回程度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来場前のお知らせ</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設定のみ</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設定・改善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LINE広告</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（友だち追加）</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なし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rgbClr val="323366"/>
                </a:solidFill>
                <a:effectLst/>
                <a:uFillTx/>
                <a:latin typeface="メイリオ"/>
                <a:ea typeface="メイリオ"/>
              </a:rPr>
              <a:t>今後の展開：青森店で型を作り、全店へ横展開する</a:t>
            </a:r>
            <a:endParaRPr lang="en-US" sz="1600" b="0" u="none" strike="noStrike" dirty="0">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配信の仕組みとコンテンツは、他の店舗・別のターゲットにそのまま転用できる</a:t>
            </a:r>
            <a:endParaRPr lang="en-US" sz="1400" b="1" u="none" strike="noStrike" dirty="0">
              <a:effectLst/>
              <a:uFillTx/>
              <a:latin typeface="メイリオ"/>
            </a:endParaRPr>
          </a:p>
        </p:txBody>
      </p:sp>
      <p:sp>
        <p:nvSpPr>
          <p:cNvPr id="7" name="見出し 青森店で確立する型"/>
          <p:cNvSpPr/>
          <p:nvPr/>
        </p:nvSpPr>
        <p:spPr>
          <a:xfrm>
            <a:off x="502920" y="1691640"/>
            <a:ext cx="33832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青森店で確立する型</a:t>
            </a:r>
            <a:endParaRPr lang="ja-JP" altLang="en-US" sz="1300" dirty="0"/>
          </a:p>
        </p:txBody>
      </p:sp>
      <p:sp>
        <p:nvSpPr>
          <p:cNvPr id="8" name="型1"/>
          <p:cNvSpPr/>
          <p:nvPr/>
        </p:nvSpPr>
        <p:spPr>
          <a:xfrm>
            <a:off x="502920" y="2103120"/>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① 入口</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資料請求・来場予約・サイトからLINEへ</a:t>
            </a:r>
            <a:endParaRPr lang="ja-JP" altLang="en-US" sz="1300" dirty="0"/>
          </a:p>
        </p:txBody>
      </p:sp>
      <p:sp>
        <p:nvSpPr>
          <p:cNvPr id="9" name="型2"/>
          <p:cNvSpPr/>
          <p:nvPr/>
        </p:nvSpPr>
        <p:spPr>
          <a:xfrm>
            <a:off x="502920" y="2944368"/>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② 配信</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検討の順番に沿ったステップ配信</a:t>
            </a:r>
            <a:endParaRPr lang="ja-JP" altLang="en-US" sz="1300" dirty="0"/>
          </a:p>
        </p:txBody>
      </p:sp>
      <p:sp>
        <p:nvSpPr>
          <p:cNvPr id="10" name="型3"/>
          <p:cNvSpPr/>
          <p:nvPr/>
        </p:nvSpPr>
        <p:spPr>
          <a:xfrm>
            <a:off x="502920" y="3785615"/>
            <a:ext cx="3383280" cy="777240"/>
          </a:xfrm>
          <a:prstGeom prst="rect">
            <a:avLst/>
          </a:prstGeom>
          <a:noFill/>
          <a:ln w="9525">
            <a:solidFill>
              <a:srgbClr val="1F285A"/>
            </a:solidFill>
          </a:ln>
        </p:spPr>
        <p:txBody>
          <a:bodyPr wrap="square" lIns="137160" tIns="36576" rIns="91440" bIns="36576" rtlCol="0" anchor="ctr">
            <a:noAutofit/>
          </a:bodyPr>
          <a:lstStyle/>
          <a:p>
            <a:pPr algn="l">
              <a:lnSpc>
                <a:spcPct val="115000"/>
              </a:lnSpc>
              <a:buNone/>
            </a:pPr>
            <a:r>
              <a:rPr lang="ja-JP" altLang="en-US" sz="1300" b="1" dirty="0">
                <a:solidFill>
                  <a:srgbClr val="1F285A"/>
                </a:solidFill>
                <a:latin typeface="メイリオ" panose="020B0604030504040204" pitchFamily="50" charset="-128"/>
                <a:ea typeface="メイリオ" panose="020B0604030504040204" pitchFamily="50" charset="-128"/>
              </a:rPr>
              <a:t>③ 改善</a:t>
            </a:r>
            <a:endParaRPr lang="ja-JP" altLang="en-US" sz="1300" dirty="0"/>
          </a:p>
          <a:p>
            <a:pPr algn="l">
              <a:lnSpc>
                <a:spcPct val="115000"/>
              </a:lnSpc>
              <a:buNone/>
            </a:pPr>
            <a:r>
              <a:rPr lang="ja-JP" altLang="en-US" sz="1200" b="0" dirty="0">
                <a:solidFill>
                  <a:srgbClr val="333333"/>
                </a:solidFill>
                <a:latin typeface="メイリオ" panose="020B0604030504040204" pitchFamily="50" charset="-128"/>
                <a:ea typeface="メイリオ" panose="020B0604030504040204" pitchFamily="50" charset="-128"/>
              </a:rPr>
              <a:t>来場・契約の結果を見て、配信と広告を見直す</a:t>
            </a:r>
            <a:endParaRPr lang="ja-JP" altLang="en-US" sz="1300" dirty="0"/>
          </a:p>
        </p:txBody>
      </p:sp>
      <p:sp>
        <p:nvSpPr>
          <p:cNvPr id="11" name="矢印"/>
          <p:cNvSpPr/>
          <p:nvPr/>
        </p:nvSpPr>
        <p:spPr>
          <a:xfrm>
            <a:off x="3931920" y="2103120"/>
            <a:ext cx="457199" cy="2359152"/>
          </a:xfrm>
          <a:prstGeom prst="rect">
            <a:avLst/>
          </a:prstGeom>
          <a:noFill/>
          <a:ln>
            <a:noFill/>
          </a:ln>
        </p:spPr>
        <p:txBody>
          <a:bodyPr wrap="square" lIns="0" tIns="0" rIns="0" bIns="0" rtlCol="0" anchor="ctr">
            <a:noAutofit/>
          </a:bodyPr>
          <a:lstStyle/>
          <a:p>
            <a:pPr algn="ctr">
              <a:buNone/>
            </a:pPr>
            <a:r>
              <a:rPr lang="ja-JP" altLang="en-US" sz="1800" b="0" dirty="0">
                <a:solidFill>
                  <a:srgbClr val="1F285A"/>
                </a:solidFill>
                <a:latin typeface="メイリオ" panose="020B0604030504040204" pitchFamily="50" charset="-128"/>
                <a:ea typeface="メイリオ" panose="020B0604030504040204" pitchFamily="50" charset="-128"/>
              </a:rPr>
              <a:t>▶</a:t>
            </a:r>
            <a:endParaRPr lang="ja-JP" altLang="en-US" sz="1300" dirty="0"/>
          </a:p>
        </p:txBody>
      </p:sp>
      <p:sp>
        <p:nvSpPr>
          <p:cNvPr id="12" name="見出し 横展開"/>
          <p:cNvSpPr/>
          <p:nvPr/>
        </p:nvSpPr>
        <p:spPr>
          <a:xfrm>
            <a:off x="4434840" y="1691640"/>
            <a:ext cx="496519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横展開</a:t>
            </a:r>
            <a:endParaRPr lang="ja-JP" altLang="en-US" sz="1300" dirty="0"/>
          </a:p>
        </p:txBody>
      </p:sp>
      <p:graphicFrame>
        <p:nvGraphicFramePr>
          <p:cNvPr id="13" name="横展開 12"/>
          <p:cNvGraphicFramePr>
            <a:graphicFrameLocks noGrp="1"/>
          </p:cNvGraphicFramePr>
          <p:nvPr/>
        </p:nvGraphicFramePr>
        <p:xfrm>
          <a:off x="4434840" y="2103120"/>
          <a:ext cx="4965192" cy="2359152"/>
        </p:xfrm>
        <a:graphic>
          <a:graphicData uri="http://schemas.openxmlformats.org/drawingml/2006/table">
            <a:tbl>
              <a:tblPr/>
              <a:tblGrid>
                <a:gridCol w="86868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2313432">
                  <a:extLst>
                    <a:ext uri="{9D8B030D-6E8A-4147-A177-3AD203B41FA5}">
                      <a16:colId xmlns:a16="http://schemas.microsoft.com/office/drawing/2014/main" val="20002"/>
                    </a:ext>
                  </a:extLst>
                </a:gridCol>
              </a:tblGrid>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店舗</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八戸・おいらせ・弘前</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店舗ごとのQR・URLで、配信を分ける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商品</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注文住宅・分譲・土地</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希望に合わせた配信</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86384">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層</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50" b="0" dirty="0">
                          <a:solidFill>
                            <a:srgbClr val="333333"/>
                          </a:solidFill>
                          <a:latin typeface="メイリオ" panose="020B0604030504040204" pitchFamily="50" charset="-128"/>
                          <a:ea typeface="メイリオ" panose="020B0604030504040204" pitchFamily="50" charset="-128"/>
                        </a:rPr>
                        <a:t>検討中・来場済・OB施主</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段階に合わせた配信（OB施主には紹介・点検の案内）</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4" name="示唆"/>
          <p:cNvSpPr/>
          <p:nvPr/>
        </p:nvSpPr>
        <p:spPr>
          <a:xfrm>
            <a:off x="502920" y="5074920"/>
            <a:ext cx="8897112" cy="566928"/>
          </a:xfrm>
          <a:prstGeom prst="rect">
            <a:avLst/>
          </a:prstGeom>
          <a:solidFill>
            <a:srgbClr val="F4F7FF"/>
          </a:solidFill>
          <a:ln>
            <a:noFill/>
          </a:ln>
        </p:spPr>
        <p:txBody>
          <a:bodyPr wrap="square" lIns="73152" tIns="36576" rIns="73152" bIns="36576" rtlCol="0" anchor="ctr">
            <a:noAutofit/>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集客投資の効果を最大化するために、</a:t>
            </a:r>
            <a:r>
              <a:rPr lang="ja-JP" altLang="en-US" sz="1300" b="1" dirty="0">
                <a:solidFill>
                  <a:srgbClr val="C00000"/>
                </a:solidFill>
                <a:latin typeface="メイリオ" panose="020B0604030504040204" pitchFamily="50" charset="-128"/>
                <a:ea typeface="メイリオ" panose="020B0604030504040204" pitchFamily="50" charset="-128"/>
              </a:rPr>
              <a:t>今、LINEでつながる範囲を広げる</a:t>
            </a:r>
            <a:endParaRPr lang="ja-JP" altLang="en-US" sz="1200" dirty="0"/>
          </a:p>
        </p:txBody>
      </p:sp>
      <p:sp>
        <p:nvSpPr>
          <p:cNvPr id="15" name="注記"/>
          <p:cNvSpPr/>
          <p:nvPr/>
        </p:nvSpPr>
        <p:spPr>
          <a:xfrm>
            <a:off x="502920" y="5852160"/>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※1つのアカウントで運用し、店舗・商品・層は友だち追加の経路とタグで分ける／既存のLINE公式アカウントを活用</a:t>
            </a:r>
            <a:endParaRPr lang="ja-JP" alt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76809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スケジュール：検索が最も増える年明けまでに、LINEの仕組みを整える</a:t>
            </a:r>
            <a:endParaRPr lang="en-US" sz="1600" b="0" u="none" strike="noStrike">
              <a:solidFill>
                <a:srgbClr val="000000"/>
              </a:solidFill>
              <a:effectLst/>
              <a:uFillTx/>
              <a:latin typeface="メイリオ"/>
            </a:endParaRPr>
          </a:p>
        </p:txBody>
      </p:sp>
      <p:sp>
        <p:nvSpPr>
          <p:cNvPr id="3"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4"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cxnSp>
        <p:nvCxnSpPr>
          <p:cNvPr id="5"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6"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1" u="none" strike="noStrike" dirty="0">
                <a:effectLst/>
                <a:uFillTx/>
                <a:latin typeface="メイリオ" panose="020B0604030504040204" pitchFamily="50" charset="-128"/>
                <a:ea typeface="メイリオ" panose="020B0604030504040204" pitchFamily="50" charset="-128"/>
              </a:rPr>
              <a:t>11月から設計・構築を進め、1月から運用を始める</a:t>
            </a:r>
            <a:endParaRPr lang="en-US" sz="1400" b="1" u="none" strike="noStrike" dirty="0">
              <a:effectLst/>
              <a:uFillTx/>
              <a:latin typeface="メイリオ"/>
            </a:endParaRPr>
          </a:p>
        </p:txBody>
      </p:sp>
      <p:sp>
        <p:nvSpPr>
          <p:cNvPr id="7" name="見出し 「平屋」の検索（青森県・月別）"/>
          <p:cNvSpPr/>
          <p:nvPr/>
        </p:nvSpPr>
        <p:spPr>
          <a:xfrm>
            <a:off x="502920" y="1691640"/>
            <a:ext cx="4069080"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「平屋」の検索（青森県・月別）</a:t>
            </a:r>
            <a:endParaRPr lang="ja-JP" altLang="en-US" sz="1300" dirty="0"/>
          </a:p>
        </p:txBody>
      </p:sp>
      <p:graphicFrame>
        <p:nvGraphicFramePr>
          <p:cNvPr id="8" name="検索の月別"/>
          <p:cNvGraphicFramePr>
            <a:graphicFrameLocks noGrp="1"/>
          </p:cNvGraphicFramePr>
          <p:nvPr/>
        </p:nvGraphicFramePr>
        <p:xfrm>
          <a:off x="502920" y="2103120"/>
          <a:ext cx="406908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9" name="見出し 進め方"/>
          <p:cNvSpPr/>
          <p:nvPr/>
        </p:nvSpPr>
        <p:spPr>
          <a:xfrm>
            <a:off x="4800600" y="1691640"/>
            <a:ext cx="4599432" cy="347472"/>
          </a:xfrm>
          <a:prstGeom prst="rect">
            <a:avLst/>
          </a:prstGeom>
          <a:solidFill>
            <a:srgbClr val="1F285A"/>
          </a:solidFill>
          <a:ln>
            <a:noFill/>
          </a:ln>
        </p:spPr>
        <p:txBody>
          <a:bodyPr wrap="square" lIns="73152" tIns="36576" rIns="73152" bIns="36576" rtlCol="0" anchor="ctr">
            <a:noAutofit/>
          </a:bodyPr>
          <a:lstStyle/>
          <a:p>
            <a:pPr algn="ctr">
              <a:buNone/>
            </a:pPr>
            <a:r>
              <a:rPr lang="ja-JP" altLang="en-US" sz="1300" b="1" dirty="0">
                <a:solidFill>
                  <a:srgbClr val="FFFFFF"/>
                </a:solidFill>
                <a:latin typeface="メイリオ" panose="020B0604030504040204" pitchFamily="50" charset="-128"/>
                <a:ea typeface="メイリオ" panose="020B0604030504040204" pitchFamily="50" charset="-128"/>
              </a:rPr>
              <a:t>進め方</a:t>
            </a:r>
            <a:endParaRPr lang="ja-JP" altLang="en-US" sz="1300" dirty="0"/>
          </a:p>
        </p:txBody>
      </p:sp>
      <p:graphicFrame>
        <p:nvGraphicFramePr>
          <p:cNvPr id="10" name="進め方 9"/>
          <p:cNvGraphicFramePr>
            <a:graphicFrameLocks noGrp="1"/>
          </p:cNvGraphicFramePr>
          <p:nvPr/>
        </p:nvGraphicFramePr>
        <p:xfrm>
          <a:off x="4800600" y="2103120"/>
          <a:ext cx="4599432" cy="2743200"/>
        </p:xfrm>
        <a:graphic>
          <a:graphicData uri="http://schemas.openxmlformats.org/drawingml/2006/table">
            <a:tbl>
              <a:tblPr/>
              <a:tblGrid>
                <a:gridCol w="868680">
                  <a:extLst>
                    <a:ext uri="{9D8B030D-6E8A-4147-A177-3AD203B41FA5}">
                      <a16:colId xmlns:a16="http://schemas.microsoft.com/office/drawing/2014/main" val="20000"/>
                    </a:ext>
                  </a:extLst>
                </a:gridCol>
                <a:gridCol w="3730752">
                  <a:extLst>
                    <a:ext uri="{9D8B030D-6E8A-4147-A177-3AD203B41FA5}">
                      <a16:colId xmlns:a16="http://schemas.microsoft.com/office/drawing/2014/main" val="20001"/>
                    </a:ext>
                  </a:extLst>
                </a:gridCol>
              </a:tblGrid>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設計：友だちの入口、配信の内容と順番、使う写真・動画の確認</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12月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構築：離脱防止・サイトのLINEボタン・サンクスLINE誘導、ステップ配信、来場前のお知らせ</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1月〜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1" dirty="0">
                          <a:solidFill>
                            <a:srgbClr val="1F285A"/>
                          </a:solidFill>
                          <a:latin typeface="メイリオ" panose="020B0604030504040204" pitchFamily="50" charset="-128"/>
                          <a:ea typeface="メイリオ" panose="020B0604030504040204" pitchFamily="50" charset="-128"/>
                        </a:rPr>
                        <a:t>運用開始：検索が増える時期に、友だちを集めて配信する</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85800">
                <a:tc>
                  <a:txBody>
                    <a:bodyPr/>
                    <a:lstStyle/>
                    <a:p>
                      <a:pPr algn="ctr">
                        <a:buNone/>
                      </a:pPr>
                      <a:r>
                        <a:rPr lang="ja-JP" altLang="en-US" sz="1250" b="1" dirty="0">
                          <a:solidFill>
                            <a:srgbClr val="1F285A"/>
                          </a:solidFill>
                          <a:latin typeface="メイリオ" panose="020B0604030504040204" pitchFamily="50" charset="-128"/>
                          <a:ea typeface="メイリオ" panose="020B0604030504040204" pitchFamily="50" charset="-128"/>
                        </a:rPr>
                        <a:t>3月〜</a:t>
                      </a:r>
                      <a:endParaRPr lang="ja-JP" altLang="en-US" sz="125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4F7FF"/>
                    </a:solidFill>
                  </a:tcPr>
                </a:tc>
                <a:tc>
                  <a:txBody>
                    <a:bodyPr/>
                    <a:lstStyle/>
                    <a:p>
                      <a:pPr algn="l">
                        <a:buNone/>
                      </a:pPr>
                      <a:r>
                        <a:rPr lang="ja-JP" altLang="en-US" sz="1200" b="0" dirty="0">
                          <a:solidFill>
                            <a:srgbClr val="333333"/>
                          </a:solidFill>
                          <a:latin typeface="メイリオ" panose="020B0604030504040204" pitchFamily="50" charset="-128"/>
                          <a:ea typeface="メイリオ" panose="020B0604030504040204" pitchFamily="50" charset="-128"/>
                        </a:rPr>
                        <a:t>改善：来場・契約の結果を見て、配信と広告を見直す。他店舗への展開を準備</a:t>
                      </a:r>
                      <a:endParaRPr lang="ja-JP" altLang="en-US" sz="1200" dirty="0"/>
                    </a:p>
                  </a:txBody>
                  <a:tcPr marR="73152" marT="36576" marB="36576"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1" name="注記"/>
          <p:cNvSpPr/>
          <p:nvPr/>
        </p:nvSpPr>
        <p:spPr>
          <a:xfrm>
            <a:off x="502920" y="5029200"/>
            <a:ext cx="8897112" cy="41148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※Googleトレンドより。2016年10月〜2026年9月で最も多い月を100とした値を、直近5年（2021年10月〜2026年9月）の月ごとに平均。全国の「注文住宅」も1〜2月が最も多い</a:t>
            </a:r>
            <a:endParaRPr lang="ja-JP" altLang="en-US" sz="1200" dirty="0"/>
          </a:p>
        </p:txBody>
      </p:sp>
      <p:sp>
        <p:nvSpPr>
          <p:cNvPr id="12" name="注記"/>
          <p:cNvSpPr/>
          <p:nvPr/>
        </p:nvSpPr>
        <p:spPr>
          <a:xfrm>
            <a:off x="502920" y="5468112"/>
            <a:ext cx="8897112" cy="274320"/>
          </a:xfrm>
          <a:prstGeom prst="rect">
            <a:avLst/>
          </a:prstGeom>
          <a:noFill/>
          <a:ln>
            <a:noFill/>
          </a:ln>
        </p:spPr>
        <p:txBody>
          <a:bodyPr wrap="square" lIns="0" tIns="0" rIns="0" bIns="0" rtlCol="0" anchor="t">
            <a:noAutofit/>
          </a:bodyPr>
          <a:lstStyle/>
          <a:p>
            <a:pPr algn="l">
              <a:lnSpc>
                <a:spcPct val="115000"/>
              </a:lnSpc>
              <a:buNone/>
            </a:pPr>
            <a:r>
              <a:rPr lang="ja-JP" altLang="en-US" sz="900" b="0" dirty="0">
                <a:solidFill>
                  <a:srgbClr val="7F7F7F"/>
                </a:solidFill>
                <a:latin typeface="メイリオ" panose="020B0604030504040204" pitchFamily="50" charset="-128"/>
                <a:ea typeface="メイリオ" panose="020B0604030504040204" pitchFamily="50" charset="-128"/>
              </a:rPr>
              <a:t>※スケジュールは、ご契約の時期により前後する</a:t>
            </a:r>
            <a:endParaRPr lang="ja-JP" alt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3" name="正方形/長方形 18"/>
          <p:cNvSpPr/>
          <p:nvPr/>
        </p:nvSpPr>
        <p:spPr>
          <a:xfrm>
            <a:off x="1649160" y="5820840"/>
            <a:ext cx="6192360" cy="373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spAutoFit/>
          </a:bodyPr>
          <a:lstStyle/>
          <a:p>
            <a:pPr defTabSz="914400">
              <a:lnSpc>
                <a:spcPct val="100000"/>
              </a:lnSpc>
              <a:spcBef>
                <a:spcPts val="167"/>
              </a:spcBef>
            </a:pPr>
            <a:r>
              <a:rPr lang="ja-JP" sz="830" b="1" u="none" strike="noStrike">
                <a:solidFill>
                  <a:srgbClr val="000000"/>
                </a:solidFill>
                <a:effectLst/>
                <a:uFillTx/>
                <a:latin typeface="メイリオ"/>
                <a:ea typeface="メイリオ"/>
              </a:rPr>
              <a:t>株式会社</a:t>
            </a:r>
            <a:r>
              <a:rPr lang="en-US" sz="830" b="1" u="none" strike="noStrike">
                <a:solidFill>
                  <a:srgbClr val="000000"/>
                </a:solidFill>
                <a:effectLst/>
                <a:uFillTx/>
                <a:latin typeface="メイリオ"/>
                <a:ea typeface="メイリオ"/>
              </a:rPr>
              <a:t>DYM</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141-0032</a:t>
            </a:r>
            <a:r>
              <a:rPr lang="ja-JP" sz="830" b="1" u="none" strike="noStrike">
                <a:solidFill>
                  <a:srgbClr val="000000"/>
                </a:solidFill>
                <a:effectLst/>
                <a:uFillTx/>
                <a:latin typeface="メイリオ"/>
                <a:ea typeface="メイリオ"/>
              </a:rPr>
              <a:t>　東京都品川区大崎</a:t>
            </a:r>
            <a:r>
              <a:rPr lang="en-US" sz="830" b="1" u="none" strike="noStrike">
                <a:solidFill>
                  <a:srgbClr val="000000"/>
                </a:solidFill>
                <a:effectLst/>
                <a:uFillTx/>
                <a:latin typeface="メイリオ"/>
                <a:ea typeface="メイリオ"/>
              </a:rPr>
              <a:t>1-11-2</a:t>
            </a:r>
            <a:r>
              <a:rPr lang="ja-JP" sz="830" b="1" u="none" strike="noStrike">
                <a:solidFill>
                  <a:srgbClr val="000000"/>
                </a:solidFill>
                <a:effectLst/>
                <a:uFillTx/>
                <a:latin typeface="メイリオ"/>
                <a:ea typeface="メイリオ"/>
              </a:rPr>
              <a:t>　ゲートシティ大崎イーストタワー</a:t>
            </a:r>
            <a:r>
              <a:rPr lang="en-US" sz="830" b="1" u="none" strike="noStrike">
                <a:solidFill>
                  <a:srgbClr val="000000"/>
                </a:solidFill>
                <a:effectLst/>
                <a:uFillTx/>
                <a:latin typeface="メイリオ"/>
                <a:ea typeface="メイリオ"/>
              </a:rPr>
              <a:t>10</a:t>
            </a:r>
            <a:r>
              <a:rPr lang="ja-JP" sz="830" b="1" u="none" strike="noStrike">
                <a:solidFill>
                  <a:srgbClr val="000000"/>
                </a:solidFill>
                <a:effectLst/>
                <a:uFillTx/>
                <a:latin typeface="メイリオ"/>
                <a:ea typeface="メイリオ"/>
              </a:rPr>
              <a:t>階</a:t>
            </a:r>
            <a:endParaRPr lang="en-US" sz="830" b="0" u="none" strike="noStrike">
              <a:solidFill>
                <a:srgbClr val="000000"/>
              </a:solidFill>
              <a:effectLst/>
              <a:uFillTx/>
              <a:latin typeface="Arial"/>
            </a:endParaRPr>
          </a:p>
          <a:p>
            <a:pPr defTabSz="914400">
              <a:lnSpc>
                <a:spcPct val="100000"/>
              </a:lnSpc>
              <a:spcBef>
                <a:spcPts val="167"/>
              </a:spcBef>
            </a:pPr>
            <a:r>
              <a:rPr lang="en-US" sz="830" b="1" u="none" strike="noStrike">
                <a:solidFill>
                  <a:srgbClr val="000000"/>
                </a:solidFill>
                <a:effectLst/>
                <a:uFillTx/>
                <a:latin typeface="メイリオ"/>
                <a:ea typeface="メイリオ"/>
              </a:rPr>
              <a:t>TEL: 03-5745-0200</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FAX: 03-3779-8720 </a:t>
            </a:r>
            <a:r>
              <a:rPr lang="ja-JP" sz="830" b="1" u="none" strike="noStrike">
                <a:solidFill>
                  <a:srgbClr val="000000"/>
                </a:solidFill>
                <a:effectLst/>
                <a:uFillTx/>
                <a:latin typeface="メイリオ"/>
                <a:ea typeface="メイリオ"/>
              </a:rPr>
              <a:t>　</a:t>
            </a:r>
            <a:r>
              <a:rPr lang="en-US" sz="830" b="1" u="none" strike="noStrike">
                <a:solidFill>
                  <a:srgbClr val="000000"/>
                </a:solidFill>
                <a:effectLst/>
                <a:uFillTx/>
                <a:latin typeface="メイリオ"/>
                <a:ea typeface="メイリオ"/>
              </a:rPr>
              <a:t>http://dym.asia   </a:t>
            </a:r>
            <a:r>
              <a:rPr lang="ja-JP" sz="830" b="1" u="none" strike="noStrike">
                <a:solidFill>
                  <a:srgbClr val="000000"/>
                </a:solidFill>
                <a:effectLst/>
                <a:uFillTx/>
                <a:latin typeface="メイリオ"/>
                <a:ea typeface="メイリオ"/>
              </a:rPr>
              <a:t>代表取締役　水谷佑毅</a:t>
            </a:r>
            <a:endParaRPr lang="en-US" sz="830" b="0" u="none" strike="noStrike">
              <a:solidFill>
                <a:srgbClr val="000000"/>
              </a:solidFill>
              <a:effectLst/>
              <a:uFillTx/>
              <a:latin typeface="Arial"/>
            </a:endParaRPr>
          </a:p>
        </p:txBody>
      </p:sp>
      <p:pic>
        <p:nvPicPr>
          <p:cNvPr id="1074" name="図 1"/>
          <p:cNvPicPr/>
          <p:nvPr/>
        </p:nvPicPr>
        <p:blipFill>
          <a:blip r:embed="rId3"/>
          <a:srcRect l="-1652" r="-11179"/>
          <a:stretch/>
        </p:blipFill>
        <p:spPr>
          <a:xfrm>
            <a:off x="543960" y="5895360"/>
            <a:ext cx="1100520" cy="224640"/>
          </a:xfrm>
          <a:prstGeom prst="rect">
            <a:avLst/>
          </a:prstGeom>
          <a:noFill/>
          <a:ln w="0">
            <a:noFill/>
          </a:ln>
        </p:spPr>
      </p:pic>
      <p:sp>
        <p:nvSpPr>
          <p:cNvPr id="1075" name="テキスト ボックス 2"/>
          <p:cNvSpPr/>
          <p:nvPr/>
        </p:nvSpPr>
        <p:spPr>
          <a:xfrm>
            <a:off x="5070240" y="559764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endParaRPr lang="en-US" sz="1800" b="0" u="none" strike="noStrike">
              <a:solidFill>
                <a:srgbClr val="000000"/>
              </a:solidFill>
              <a:effectLst/>
              <a:uFillTx/>
              <a:latin typeface="Arial"/>
              <a:ea typeface="ＭＳ Ｐゴシック"/>
            </a:endParaRPr>
          </a:p>
        </p:txBody>
      </p:sp>
      <p:sp>
        <p:nvSpPr>
          <p:cNvPr id="1076" name="正方形/長方形 17"/>
          <p:cNvSpPr/>
          <p:nvPr/>
        </p:nvSpPr>
        <p:spPr>
          <a:xfrm>
            <a:off x="2170080" y="989640"/>
            <a:ext cx="556560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360"/>
              </a:spcBef>
            </a:pPr>
            <a:r>
              <a:rPr lang="ja-JP" sz="1800" b="1" u="none" strike="noStrike">
                <a:solidFill>
                  <a:srgbClr val="000000"/>
                </a:solidFill>
                <a:effectLst/>
                <a:uFillTx/>
                <a:latin typeface="メイリオ"/>
                <a:ea typeface="メイリオ"/>
              </a:rPr>
              <a:t>貴社の明るい未来に必ず貢献致します。</a:t>
            </a:r>
            <a:endParaRPr lang="en-US" sz="1800" b="0" u="none" strike="noStrike">
              <a:solidFill>
                <a:srgbClr val="000000"/>
              </a:solidFill>
              <a:effectLst/>
              <a:uFillTx/>
              <a:latin typeface="Arial"/>
            </a:endParaRPr>
          </a:p>
        </p:txBody>
      </p:sp>
      <p:sp>
        <p:nvSpPr>
          <p:cNvPr id="1077" name="正方形/長方形 13"/>
          <p:cNvSpPr/>
          <p:nvPr/>
        </p:nvSpPr>
        <p:spPr>
          <a:xfrm>
            <a:off x="382680" y="2698200"/>
            <a:ext cx="597960" cy="205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47"/>
              </a:spcBef>
            </a:pPr>
            <a:r>
              <a:rPr lang="ja-JP" sz="740" b="0" u="none" strike="noStrike">
                <a:solidFill>
                  <a:srgbClr val="FFFFFF"/>
                </a:solidFill>
                <a:effectLst/>
                <a:uFillTx/>
                <a:latin typeface="メイリオ"/>
                <a:ea typeface="メイリオ"/>
              </a:rPr>
              <a:t>本社</a:t>
            </a:r>
            <a:endParaRPr lang="en-US" sz="740" b="0" u="none" strike="noStrike">
              <a:solidFill>
                <a:srgbClr val="000000"/>
              </a:solidFill>
              <a:effectLst/>
              <a:uFillTx/>
              <a:latin typeface="Arial"/>
            </a:endParaRPr>
          </a:p>
        </p:txBody>
      </p:sp>
      <p:sp>
        <p:nvSpPr>
          <p:cNvPr id="1078" name="正方形/長方形 14"/>
          <p:cNvSpPr/>
          <p:nvPr/>
        </p:nvSpPr>
        <p:spPr>
          <a:xfrm>
            <a:off x="368280" y="2355120"/>
            <a:ext cx="756360" cy="214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spcBef>
                <a:spcPts val="159"/>
              </a:spcBef>
            </a:pPr>
            <a:r>
              <a:rPr lang="ja-JP" sz="800" b="0" u="none" strike="noStrike">
                <a:solidFill>
                  <a:srgbClr val="FFFFFF"/>
                </a:solidFill>
                <a:effectLst/>
                <a:uFillTx/>
                <a:latin typeface="メイリオ"/>
                <a:ea typeface="メイリオ"/>
              </a:rPr>
              <a:t>本社</a:t>
            </a:r>
            <a:endParaRPr lang="en-US" sz="800" b="0" u="none" strike="noStrike">
              <a:solidFill>
                <a:srgbClr val="000000"/>
              </a:solidFill>
              <a:effectLst/>
              <a:uFillTx/>
              <a:latin typeface="Arial"/>
            </a:endParaRPr>
          </a:p>
        </p:txBody>
      </p:sp>
      <p:grpSp>
        <p:nvGrpSpPr>
          <p:cNvPr id="1079" name="グループ化 21"/>
          <p:cNvGrpSpPr/>
          <p:nvPr/>
        </p:nvGrpSpPr>
        <p:grpSpPr>
          <a:xfrm>
            <a:off x="380880" y="1772640"/>
            <a:ext cx="9143640" cy="3314520"/>
            <a:chOff x="380880" y="1772640"/>
            <a:chExt cx="9143640" cy="3314520"/>
          </a:xfrm>
        </p:grpSpPr>
        <p:pic>
          <p:nvPicPr>
            <p:cNvPr id="1080" name="図 20" descr="ポーズをとる男性グループ&#10;&#10;自動的に生成された説明"/>
            <p:cNvPicPr/>
            <p:nvPr/>
          </p:nvPicPr>
          <p:blipFill>
            <a:blip r:embed="rId4"/>
            <a:srcRect l="3642" r="4070"/>
            <a:stretch/>
          </p:blipFill>
          <p:spPr>
            <a:xfrm>
              <a:off x="7354800" y="3518640"/>
              <a:ext cx="2169720" cy="1567440"/>
            </a:xfrm>
            <a:prstGeom prst="rect">
              <a:avLst/>
            </a:prstGeom>
            <a:noFill/>
            <a:ln w="0">
              <a:noFill/>
            </a:ln>
          </p:spPr>
        </p:pic>
        <p:pic>
          <p:nvPicPr>
            <p:cNvPr id="1081" name="図 15" descr="白いシャツを着ている男性&#10;&#10;中程度の精度で自動的に生成された説明"/>
            <p:cNvPicPr/>
            <p:nvPr/>
          </p:nvPicPr>
          <p:blipFill>
            <a:blip r:embed="rId5"/>
            <a:stretch/>
          </p:blipFill>
          <p:spPr>
            <a:xfrm>
              <a:off x="5364720" y="3519720"/>
              <a:ext cx="1989720" cy="1567440"/>
            </a:xfrm>
            <a:prstGeom prst="rect">
              <a:avLst/>
            </a:prstGeom>
            <a:noFill/>
            <a:ln w="0">
              <a:noFill/>
            </a:ln>
          </p:spPr>
        </p:pic>
        <p:pic>
          <p:nvPicPr>
            <p:cNvPr id="1082" name="図 9" descr="スーツを着た男性たち&#10;&#10;自動的に生成された説明"/>
            <p:cNvPicPr/>
            <p:nvPr/>
          </p:nvPicPr>
          <p:blipFill>
            <a:blip r:embed="rId6"/>
            <a:srcRect l="10699" r="10360"/>
            <a:stretch/>
          </p:blipFill>
          <p:spPr>
            <a:xfrm>
              <a:off x="7680600" y="1774080"/>
              <a:ext cx="1842120" cy="1745640"/>
            </a:xfrm>
            <a:prstGeom prst="rect">
              <a:avLst/>
            </a:prstGeom>
            <a:noFill/>
            <a:ln w="0">
              <a:noFill/>
            </a:ln>
          </p:spPr>
        </p:pic>
        <p:pic>
          <p:nvPicPr>
            <p:cNvPr id="1083" name="図 6" descr="講堂にいる人たち&#10;&#10;中程度の精度で自動的に生成された説明"/>
            <p:cNvPicPr/>
            <p:nvPr/>
          </p:nvPicPr>
          <p:blipFill>
            <a:blip r:embed="rId7"/>
            <a:srcRect l="2513" t="12878" r="2480"/>
            <a:stretch/>
          </p:blipFill>
          <p:spPr>
            <a:xfrm>
              <a:off x="380880" y="1772640"/>
              <a:ext cx="5089320" cy="3314520"/>
            </a:xfrm>
            <a:prstGeom prst="rect">
              <a:avLst/>
            </a:prstGeom>
            <a:noFill/>
            <a:ln w="0">
              <a:noFill/>
            </a:ln>
          </p:spPr>
        </p:pic>
        <p:pic>
          <p:nvPicPr>
            <p:cNvPr id="1084" name="図 10" descr="スーツを着た男性グループの写真&#10;&#10;低い精度で自動的に生成された説明"/>
            <p:cNvPicPr/>
            <p:nvPr/>
          </p:nvPicPr>
          <p:blipFill>
            <a:blip r:embed="rId8"/>
            <a:srcRect l="8592" r="6764"/>
            <a:stretch/>
          </p:blipFill>
          <p:spPr>
            <a:xfrm>
              <a:off x="5470920" y="1773000"/>
              <a:ext cx="2215080" cy="1745640"/>
            </a:xfrm>
            <a:prstGeom prst="rect">
              <a:avLst/>
            </a:prstGeom>
            <a:noFill/>
            <a:ln w="0">
              <a:noFill/>
            </a:ln>
          </p:spPr>
        </p:pic>
      </p:grpSp>
      <p:sp>
        <p:nvSpPr>
          <p:cNvPr id="1085" name="正方形/長方形 5"/>
          <p:cNvSpPr/>
          <p:nvPr/>
        </p:nvSpPr>
        <p:spPr>
          <a:xfrm>
            <a:off x="128160" y="6620400"/>
            <a:ext cx="2852640" cy="237240"/>
          </a:xfrm>
          <a:prstGeom prst="rect">
            <a:avLst/>
          </a:prstGeom>
          <a:solidFill>
            <a:srgbClr val="191F54"/>
          </a:solidFill>
          <a:ln>
            <a:solidFill>
              <a:srgbClr val="10253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86" name="正方形/長方形 1"/>
          <p:cNvSpPr/>
          <p:nvPr/>
        </p:nvSpPr>
        <p:spPr>
          <a:xfrm>
            <a:off x="368280" y="0"/>
            <a:ext cx="9537480" cy="514440"/>
          </a:xfrm>
          <a:prstGeom prst="rect">
            <a:avLst/>
          </a:prstGeom>
          <a:solidFill>
            <a:schemeClr val="bg1"/>
          </a:solidFill>
          <a:ln>
            <a:solidFill>
              <a:srgbClr val="FFFFFF"/>
            </a:solidFill>
            <a:round/>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0"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Appendix</a:t>
            </a:r>
            <a:endParaRPr lang="en-US" sz="1600" b="0" u="none" strike="noStrike">
              <a:solidFill>
                <a:srgbClr val="000000"/>
              </a:solidFill>
              <a:effectLst/>
              <a:uFillTx/>
              <a:latin typeface="メイリオ"/>
            </a:endParaRPr>
          </a:p>
        </p:txBody>
      </p:sp>
      <p:sp>
        <p:nvSpPr>
          <p:cNvPr id="981" name="正方形/長方形 1"/>
          <p:cNvSpPr/>
          <p:nvPr/>
        </p:nvSpPr>
        <p:spPr>
          <a:xfrm>
            <a:off x="2808720" y="3038040"/>
            <a:ext cx="428796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3200" b="1" u="none" strike="noStrike">
                <a:solidFill>
                  <a:schemeClr val="dk1">
                    <a:lumMod val="75000"/>
                    <a:lumOff val="25000"/>
                  </a:schemeClr>
                </a:solidFill>
                <a:effectLst/>
                <a:uFillTx/>
                <a:latin typeface="メイリオ"/>
                <a:ea typeface="メイリオ"/>
              </a:rPr>
              <a:t>参考資料</a:t>
            </a:r>
            <a:endParaRPr lang="en-US" sz="3200" b="0" u="none" strike="noStrike">
              <a:solidFill>
                <a:srgbClr val="000000"/>
              </a:solidFill>
              <a:effectLst/>
              <a:uFillTx/>
              <a:latin typeface="メイリオ"/>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1" name="正方形/長方形 7"/>
          <p:cNvSpPr/>
          <p:nvPr/>
        </p:nvSpPr>
        <p:spPr>
          <a:xfrm>
            <a:off x="789120" y="82476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ユーザーコミュニケーションに、</a:t>
            </a:r>
            <a:r>
              <a:rPr lang="en-US" sz="1400" b="0" u="none" strike="noStrike">
                <a:solidFill>
                  <a:srgbClr val="343434"/>
                </a:solidFill>
                <a:effectLst/>
                <a:uFillTx/>
                <a:latin typeface="メイリオ"/>
                <a:ea typeface="メイリオ"/>
              </a:rPr>
              <a:t>LINE</a:t>
            </a:r>
            <a:r>
              <a:rPr lang="ja-JP" sz="1400" b="0" u="none" strike="noStrike">
                <a:solidFill>
                  <a:srgbClr val="343434"/>
                </a:solidFill>
                <a:effectLst/>
                <a:uFillTx/>
                <a:latin typeface="メイリオ"/>
                <a:ea typeface="メイリオ"/>
              </a:rPr>
              <a:t>公式アカウントを導入する法人が増加傾向。</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開封率に関してはメールマガジンの</a:t>
            </a:r>
            <a:r>
              <a:rPr lang="en-US" sz="1400" b="1" u="none" strike="noStrike">
                <a:solidFill>
                  <a:srgbClr val="343434"/>
                </a:solidFill>
                <a:effectLst/>
                <a:uFillTx/>
                <a:latin typeface="メイリオ"/>
                <a:ea typeface="メイリオ"/>
              </a:rPr>
              <a:t>6</a:t>
            </a:r>
            <a:r>
              <a:rPr lang="ja-JP" sz="1400" b="1" u="none" strike="noStrike">
                <a:solidFill>
                  <a:srgbClr val="343434"/>
                </a:solidFill>
                <a:effectLst/>
                <a:uFillTx/>
                <a:latin typeface="メイリオ"/>
                <a:ea typeface="メイリオ"/>
              </a:rPr>
              <a:t>倍を誇る</a:t>
            </a:r>
            <a:r>
              <a:rPr lang="ja-JP" sz="1400" b="0" u="none" strike="noStrike">
                <a:solidFill>
                  <a:srgbClr val="343434"/>
                </a:solidFill>
                <a:effectLst/>
                <a:uFillTx/>
                <a:latin typeface="メイリオ"/>
                <a:ea typeface="メイリオ"/>
              </a:rPr>
              <a:t>と言われています。</a:t>
            </a:r>
            <a:endParaRPr lang="en-US" sz="1400" b="0" u="none" strike="noStrike">
              <a:solidFill>
                <a:srgbClr val="000000"/>
              </a:solidFill>
              <a:effectLst/>
              <a:uFillTx/>
              <a:latin typeface="Arial"/>
            </a:endParaRPr>
          </a:p>
        </p:txBody>
      </p:sp>
      <p:cxnSp>
        <p:nvCxnSpPr>
          <p:cNvPr id="782" name="直線コネクタ 8"/>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783" name="Group 2"/>
          <p:cNvGrpSpPr/>
          <p:nvPr/>
        </p:nvGrpSpPr>
        <p:grpSpPr>
          <a:xfrm>
            <a:off x="789120" y="1526040"/>
            <a:ext cx="8365680" cy="858960"/>
            <a:chOff x="789120" y="1526040"/>
            <a:chExt cx="8365680" cy="858960"/>
          </a:xfrm>
        </p:grpSpPr>
        <p:sp>
          <p:nvSpPr>
            <p:cNvPr id="784" name="Freeform 3"/>
            <p:cNvSpPr/>
            <p:nvPr/>
          </p:nvSpPr>
          <p:spPr>
            <a:xfrm>
              <a:off x="789120" y="165348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85" name="TextBox 4"/>
            <p:cNvSpPr/>
            <p:nvPr/>
          </p:nvSpPr>
          <p:spPr>
            <a:xfrm>
              <a:off x="789120" y="15260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0" u="none" strike="noStrike">
                  <a:solidFill>
                    <a:srgbClr val="040606"/>
                  </a:solidFill>
                  <a:effectLst/>
                  <a:uFillTx/>
                  <a:latin typeface="メイリオ"/>
                  <a:ea typeface="メイリオ"/>
                </a:rPr>
                <a:t>　　　　メールマガジン、テレマーケティング が主流</a:t>
              </a:r>
              <a:endParaRPr lang="en-US" sz="1400" b="0" u="none" strike="noStrike">
                <a:solidFill>
                  <a:srgbClr val="000000"/>
                </a:solidFill>
                <a:effectLst/>
                <a:uFillTx/>
                <a:latin typeface="Arial"/>
              </a:endParaRPr>
            </a:p>
          </p:txBody>
        </p:sp>
      </p:grpSp>
      <p:sp>
        <p:nvSpPr>
          <p:cNvPr id="786" name="Freeform 5"/>
          <p:cNvSpPr/>
          <p:nvPr/>
        </p:nvSpPr>
        <p:spPr>
          <a:xfrm>
            <a:off x="1045080" y="1864080"/>
            <a:ext cx="586080" cy="415440"/>
          </a:xfrm>
          <a:custGeom>
            <a:avLst/>
            <a:gdLst>
              <a:gd name="textAreaLeft" fmla="*/ 0 w 586080"/>
              <a:gd name="textAreaRight" fmla="*/ 586440 w 586080"/>
              <a:gd name="textAreaTop" fmla="*/ 0 h 415440"/>
              <a:gd name="textAreaBottom" fmla="*/ 415800 h 415440"/>
            </a:gdLst>
            <a:ahLst/>
            <a:cxnLst/>
            <a:rect l="textAreaLeft" t="textAreaTop" r="textAreaRight" b="textAreaBottom"/>
            <a:pathLst>
              <a:path w="586512" h="415690">
                <a:moveTo>
                  <a:pt x="0" y="0"/>
                </a:moveTo>
                <a:lnTo>
                  <a:pt x="586512" y="0"/>
                </a:lnTo>
                <a:lnTo>
                  <a:pt x="586512" y="415691"/>
                </a:lnTo>
                <a:lnTo>
                  <a:pt x="0" y="415691"/>
                </a:lnTo>
                <a:lnTo>
                  <a:pt x="0" y="0"/>
                </a:lnTo>
                <a:close/>
              </a:path>
            </a:pathLst>
          </a:custGeom>
          <a:blipFill rotWithShape="0">
            <a:blip>
              <a:extLst>
                <a:ext uri="{96DAC541-7B7A-43D3-8B79-37D633B846F1}">
                  <asvg:svgBlip xmlns:asvg="http://schemas.microsoft.com/office/drawing/2016/SVG/main" r:embed="rId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87" name="Freeform 6"/>
          <p:cNvSpPr/>
          <p:nvPr/>
        </p:nvSpPr>
        <p:spPr>
          <a:xfrm>
            <a:off x="1828440" y="1769040"/>
            <a:ext cx="384840" cy="302400"/>
          </a:xfrm>
          <a:custGeom>
            <a:avLst/>
            <a:gdLst>
              <a:gd name="textAreaLeft" fmla="*/ 0 w 384840"/>
              <a:gd name="textAreaRight" fmla="*/ 385200 w 384840"/>
              <a:gd name="textAreaTop" fmla="*/ 0 h 302400"/>
              <a:gd name="textAreaBottom" fmla="*/ 302760 h 302400"/>
            </a:gdLst>
            <a:ahLst/>
            <a:cxnLst/>
            <a:rect l="textAreaLeft" t="textAreaTop" r="textAreaRight" b="textAreaBottom"/>
            <a:pathLst>
              <a:path w="385149" h="302824">
                <a:moveTo>
                  <a:pt x="0" y="0"/>
                </a:moveTo>
                <a:lnTo>
                  <a:pt x="385150" y="0"/>
                </a:lnTo>
                <a:lnTo>
                  <a:pt x="385150" y="302824"/>
                </a:lnTo>
                <a:lnTo>
                  <a:pt x="0" y="302824"/>
                </a:lnTo>
                <a:lnTo>
                  <a:pt x="0" y="0"/>
                </a:lnTo>
                <a:close/>
              </a:path>
            </a:pathLst>
          </a:custGeom>
          <a:blipFill rotWithShape="0">
            <a:blip>
              <a:extLst>
                <a:ext uri="{96DAC541-7B7A-43D3-8B79-37D633B846F1}">
                  <asvg:svgBlip xmlns:asvg="http://schemas.microsoft.com/office/drawing/2016/SVG/main"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grpSp>
        <p:nvGrpSpPr>
          <p:cNvPr id="788" name="Group 7"/>
          <p:cNvGrpSpPr/>
          <p:nvPr/>
        </p:nvGrpSpPr>
        <p:grpSpPr>
          <a:xfrm>
            <a:off x="4762440" y="2439720"/>
            <a:ext cx="418320" cy="207720"/>
            <a:chOff x="4762440" y="2439720"/>
            <a:chExt cx="418320" cy="207720"/>
          </a:xfrm>
        </p:grpSpPr>
        <p:sp>
          <p:nvSpPr>
            <p:cNvPr id="789" name="Freeform 8"/>
            <p:cNvSpPr/>
            <p:nvPr/>
          </p:nvSpPr>
          <p:spPr>
            <a:xfrm>
              <a:off x="4762440" y="2450160"/>
              <a:ext cx="418320" cy="197280"/>
            </a:xfrm>
            <a:custGeom>
              <a:avLst/>
              <a:gdLst>
                <a:gd name="textAreaLeft" fmla="*/ 0 w 418320"/>
                <a:gd name="textAreaRight" fmla="*/ 418680 w 418320"/>
                <a:gd name="textAreaTop" fmla="*/ 0 h 197280"/>
                <a:gd name="textAreaBottom" fmla="*/ 197640 h 19728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0" name="TextBox 9"/>
            <p:cNvSpPr/>
            <p:nvPr/>
          </p:nvSpPr>
          <p:spPr>
            <a:xfrm>
              <a:off x="4827960" y="2439720"/>
              <a:ext cx="287640" cy="11592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800" b="0" u="none" strike="noStrike">
                <a:solidFill>
                  <a:schemeClr val="dk1"/>
                </a:solidFill>
                <a:effectLst/>
                <a:uFillTx/>
                <a:latin typeface="メイリオ"/>
                <a:ea typeface="メイリオ"/>
              </a:endParaRPr>
            </a:p>
          </p:txBody>
        </p:sp>
      </p:grpSp>
      <p:grpSp>
        <p:nvGrpSpPr>
          <p:cNvPr id="791" name="Group 10"/>
          <p:cNvGrpSpPr/>
          <p:nvPr/>
        </p:nvGrpSpPr>
        <p:grpSpPr>
          <a:xfrm>
            <a:off x="789120" y="2595240"/>
            <a:ext cx="8365680" cy="858600"/>
            <a:chOff x="789120" y="2595240"/>
            <a:chExt cx="8365680" cy="858600"/>
          </a:xfrm>
        </p:grpSpPr>
        <p:sp>
          <p:nvSpPr>
            <p:cNvPr id="792" name="Freeform 11"/>
            <p:cNvSpPr/>
            <p:nvPr/>
          </p:nvSpPr>
          <p:spPr>
            <a:xfrm>
              <a:off x="789120" y="2722320"/>
              <a:ext cx="8365680" cy="731520"/>
            </a:xfrm>
            <a:custGeom>
              <a:avLst/>
              <a:gdLst>
                <a:gd name="textAreaLeft" fmla="*/ 0 w 8365680"/>
                <a:gd name="textAreaRight" fmla="*/ 8366040 w 8365680"/>
                <a:gd name="textAreaTop" fmla="*/ 0 h 731520"/>
                <a:gd name="textAreaBottom" fmla="*/ 731880 h 731520"/>
              </a:gdLst>
              <a:ahLst/>
              <a:cxnLst/>
              <a:rect l="textAreaLeft" t="textAreaTop" r="textAreaRight" b="textAreaBottom"/>
              <a:pathLst>
                <a:path w="3130995" h="273901">
                  <a:moveTo>
                    <a:pt x="12956" y="0"/>
                  </a:moveTo>
                  <a:lnTo>
                    <a:pt x="3118039" y="0"/>
                  </a:lnTo>
                  <a:cubicBezTo>
                    <a:pt x="3121475" y="0"/>
                    <a:pt x="3124771" y="1365"/>
                    <a:pt x="3127200" y="3795"/>
                  </a:cubicBezTo>
                  <a:cubicBezTo>
                    <a:pt x="3129630" y="6224"/>
                    <a:pt x="3130995" y="9520"/>
                    <a:pt x="3130995" y="12956"/>
                  </a:cubicBezTo>
                  <a:lnTo>
                    <a:pt x="3130995" y="260946"/>
                  </a:lnTo>
                  <a:cubicBezTo>
                    <a:pt x="3130995" y="264382"/>
                    <a:pt x="3129630" y="267677"/>
                    <a:pt x="3127200" y="270106"/>
                  </a:cubicBezTo>
                  <a:cubicBezTo>
                    <a:pt x="3124771" y="272536"/>
                    <a:pt x="3121475" y="273901"/>
                    <a:pt x="3118039" y="273901"/>
                  </a:cubicBezTo>
                  <a:lnTo>
                    <a:pt x="12956" y="273901"/>
                  </a:lnTo>
                  <a:cubicBezTo>
                    <a:pt x="9520" y="273901"/>
                    <a:pt x="6224" y="272536"/>
                    <a:pt x="3795" y="270106"/>
                  </a:cubicBezTo>
                  <a:cubicBezTo>
                    <a:pt x="1365" y="267677"/>
                    <a:pt x="0" y="264382"/>
                    <a:pt x="0" y="260946"/>
                  </a:cubicBezTo>
                  <a:lnTo>
                    <a:pt x="0" y="12956"/>
                  </a:lnTo>
                  <a:cubicBezTo>
                    <a:pt x="0" y="9520"/>
                    <a:pt x="1365" y="6224"/>
                    <a:pt x="3795" y="3795"/>
                  </a:cubicBezTo>
                  <a:cubicBezTo>
                    <a:pt x="6224" y="1365"/>
                    <a:pt x="9520" y="0"/>
                    <a:pt x="12956" y="0"/>
                  </a:cubicBezTo>
                  <a:close/>
                </a:path>
              </a:pathLst>
            </a:custGeom>
            <a:solidFill>
              <a:srgbClr val="D4F4E1"/>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3" name="TextBox 12"/>
            <p:cNvSpPr/>
            <p:nvPr/>
          </p:nvSpPr>
          <p:spPr>
            <a:xfrm>
              <a:off x="789120" y="2595240"/>
              <a:ext cx="8365680" cy="85860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455"/>
                </a:lnSpc>
              </a:pPr>
              <a:r>
                <a:rPr lang="ja-JP" sz="1400" b="1" u="none" strike="noStrike">
                  <a:solidFill>
                    <a:srgbClr val="00B900"/>
                  </a:solidFill>
                  <a:effectLst/>
                  <a:uFillTx/>
                  <a:latin typeface="メイリオ"/>
                  <a:ea typeface="メイリオ"/>
                </a:rPr>
                <a:t>　　　　＋</a:t>
              </a:r>
              <a:r>
                <a:rPr lang="en-US" sz="1400" b="1" u="none" strike="noStrike">
                  <a:solidFill>
                    <a:srgbClr val="00B900"/>
                  </a:solidFill>
                  <a:effectLst/>
                  <a:uFillTx/>
                  <a:latin typeface="メイリオ"/>
                  <a:ea typeface="メイリオ"/>
                </a:rPr>
                <a:t>LINE</a:t>
              </a:r>
              <a:r>
                <a:rPr lang="ja-JP" sz="1400" b="1" u="none" strike="noStrike">
                  <a:solidFill>
                    <a:srgbClr val="00B900"/>
                  </a:solidFill>
                  <a:effectLst/>
                  <a:uFillTx/>
                  <a:latin typeface="メイリオ"/>
                  <a:ea typeface="メイリオ"/>
                </a:rPr>
                <a:t>公式アカウント </a:t>
              </a:r>
              <a:r>
                <a:rPr lang="ja-JP" sz="1400" b="0" u="none" strike="noStrike">
                  <a:solidFill>
                    <a:srgbClr val="00B900"/>
                  </a:solidFill>
                  <a:effectLst/>
                  <a:uFillTx/>
                  <a:latin typeface="メイリオ"/>
                  <a:ea typeface="メイリオ"/>
                </a:rPr>
                <a:t>が主流</a:t>
              </a:r>
              <a:endParaRPr lang="en-US" sz="1400" b="0" u="none" strike="noStrike">
                <a:solidFill>
                  <a:srgbClr val="000000"/>
                </a:solidFill>
                <a:effectLst/>
                <a:uFillTx/>
                <a:latin typeface="Arial"/>
              </a:endParaRPr>
            </a:p>
          </p:txBody>
        </p:sp>
      </p:grpSp>
      <p:sp>
        <p:nvSpPr>
          <p:cNvPr id="794" name="Freeform 13"/>
          <p:cNvSpPr/>
          <p:nvPr/>
        </p:nvSpPr>
        <p:spPr>
          <a:xfrm>
            <a:off x="1184760" y="2810520"/>
            <a:ext cx="306720" cy="555480"/>
          </a:xfrm>
          <a:custGeom>
            <a:avLst/>
            <a:gdLst>
              <a:gd name="textAreaLeft" fmla="*/ 0 w 306720"/>
              <a:gd name="textAreaRight" fmla="*/ 307080 w 306720"/>
              <a:gd name="textAreaTop" fmla="*/ 0 h 555480"/>
              <a:gd name="textAreaBottom" fmla="*/ 555840 h 555480"/>
            </a:gdLst>
            <a:ahLst/>
            <a:cxnLst/>
            <a:rect l="textAreaLeft" t="textAreaTop" r="textAreaRight" b="textAreaBottom"/>
            <a:pathLst>
              <a:path w="307084" h="555808">
                <a:moveTo>
                  <a:pt x="0" y="0"/>
                </a:moveTo>
                <a:lnTo>
                  <a:pt x="307084" y="0"/>
                </a:lnTo>
                <a:lnTo>
                  <a:pt x="307084" y="555808"/>
                </a:lnTo>
                <a:lnTo>
                  <a:pt x="0" y="555808"/>
                </a:lnTo>
                <a:lnTo>
                  <a:pt x="0" y="0"/>
                </a:lnTo>
                <a:close/>
              </a:path>
            </a:pathLst>
          </a:custGeom>
          <a:blipFill rotWithShape="0">
            <a:blip>
              <a:extLst>
                <a:ext uri="{96DAC541-7B7A-43D3-8B79-37D633B846F1}">
                  <asvg:svgBlip xmlns:asvg="http://schemas.microsoft.com/office/drawing/2016/SVG/main"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5" name="Freeform 14"/>
          <p:cNvSpPr/>
          <p:nvPr/>
        </p:nvSpPr>
        <p:spPr>
          <a:xfrm>
            <a:off x="1815840" y="2807280"/>
            <a:ext cx="397440" cy="397440"/>
          </a:xfrm>
          <a:custGeom>
            <a:avLst/>
            <a:gdLst>
              <a:gd name="textAreaLeft" fmla="*/ 0 w 397440"/>
              <a:gd name="textAreaRight" fmla="*/ 397800 w 397440"/>
              <a:gd name="textAreaTop" fmla="*/ 0 h 397440"/>
              <a:gd name="textAreaBottom" fmla="*/ 397800 h 397440"/>
            </a:gdLst>
            <a:ahLst/>
            <a:cxnLst/>
            <a:rect l="textAreaLeft" t="textAreaTop" r="textAreaRight" b="textAreaBottom"/>
            <a:pathLst>
              <a:path w="397893" h="397893">
                <a:moveTo>
                  <a:pt x="0" y="0"/>
                </a:moveTo>
                <a:lnTo>
                  <a:pt x="397893" y="0"/>
                </a:lnTo>
                <a:lnTo>
                  <a:pt x="397893" y="397892"/>
                </a:lnTo>
                <a:lnTo>
                  <a:pt x="0" y="397892"/>
                </a:lnTo>
                <a:lnTo>
                  <a:pt x="0" y="0"/>
                </a:lnTo>
                <a:close/>
              </a:path>
            </a:pathLst>
          </a:custGeom>
          <a:blipFill rotWithShape="0">
            <a:blip>
              <a:extLst>
                <a:ext uri="{96DAC541-7B7A-43D3-8B79-37D633B846F1}">
                  <asvg:svgBlip xmlns:asvg="http://schemas.microsoft.com/office/drawing/2016/SVG/main"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796" name="TextBox 16"/>
          <p:cNvSpPr/>
          <p:nvPr/>
        </p:nvSpPr>
        <p:spPr>
          <a:xfrm>
            <a:off x="2903760" y="3579480"/>
            <a:ext cx="252036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zh-CN" sz="1400" b="0" u="none" strike="noStrike">
                <a:solidFill>
                  <a:srgbClr val="040606"/>
                </a:solidFill>
                <a:effectLst/>
                <a:uFillTx/>
                <a:latin typeface="メイリオ"/>
                <a:ea typeface="メイリオ"/>
              </a:rPr>
              <a:t>メールマガジン</a:t>
            </a:r>
            <a:endParaRPr lang="en-US" sz="1400" b="0" u="none" strike="noStrike">
              <a:solidFill>
                <a:srgbClr val="000000"/>
              </a:solidFill>
              <a:effectLst/>
              <a:uFillTx/>
              <a:latin typeface="Arial"/>
            </a:endParaRPr>
          </a:p>
        </p:txBody>
      </p:sp>
      <p:grpSp>
        <p:nvGrpSpPr>
          <p:cNvPr id="797" name="Group 18"/>
          <p:cNvGrpSpPr/>
          <p:nvPr/>
        </p:nvGrpSpPr>
        <p:grpSpPr>
          <a:xfrm>
            <a:off x="4026600" y="3965760"/>
            <a:ext cx="274680" cy="136440"/>
            <a:chOff x="4026600" y="3965760"/>
            <a:chExt cx="274680" cy="136440"/>
          </a:xfrm>
        </p:grpSpPr>
        <p:sp>
          <p:nvSpPr>
            <p:cNvPr id="798" name="Freeform 19"/>
            <p:cNvSpPr/>
            <p:nvPr/>
          </p:nvSpPr>
          <p:spPr>
            <a:xfrm>
              <a:off x="4026600" y="3972600"/>
              <a:ext cx="274680" cy="129600"/>
            </a:xfrm>
            <a:custGeom>
              <a:avLst/>
              <a:gdLst>
                <a:gd name="textAreaLeft" fmla="*/ 0 w 274680"/>
                <a:gd name="textAreaRight" fmla="*/ 275040 w 274680"/>
                <a:gd name="textAreaTop" fmla="*/ 0 h 129600"/>
                <a:gd name="textAreaBottom" fmla="*/ 129960 h 12960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00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0" u="none" strike="noStrike">
                <a:solidFill>
                  <a:schemeClr val="dk1"/>
                </a:solidFill>
                <a:effectLst/>
                <a:uFillTx/>
                <a:latin typeface="メイリオ"/>
                <a:ea typeface="メイリオ"/>
              </a:endParaRPr>
            </a:p>
          </p:txBody>
        </p:sp>
        <p:sp>
          <p:nvSpPr>
            <p:cNvPr id="799" name="TextBox 20"/>
            <p:cNvSpPr/>
            <p:nvPr/>
          </p:nvSpPr>
          <p:spPr>
            <a:xfrm>
              <a:off x="4069440" y="3965760"/>
              <a:ext cx="188640" cy="7596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0" u="none" strike="noStrike">
                <a:solidFill>
                  <a:schemeClr val="dk1"/>
                </a:solidFill>
                <a:effectLst/>
                <a:uFillTx/>
                <a:latin typeface="メイリオ"/>
                <a:ea typeface="メイリオ"/>
              </a:endParaRPr>
            </a:p>
          </p:txBody>
        </p:sp>
      </p:grpSp>
      <p:sp>
        <p:nvSpPr>
          <p:cNvPr id="800" name="AutoShape 24"/>
          <p:cNvSpPr/>
          <p:nvPr/>
        </p:nvSpPr>
        <p:spPr>
          <a:xfrm>
            <a:off x="1044720" y="466020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1" name="TextBox 25"/>
          <p:cNvSpPr/>
          <p:nvPr/>
        </p:nvSpPr>
        <p:spPr>
          <a:xfrm>
            <a:off x="2752200" y="4197240"/>
            <a:ext cx="2936880" cy="301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入力が面倒・間違いが発生</a:t>
            </a:r>
            <a:endParaRPr lang="en-US" sz="1400" b="0" u="none" strike="noStrike">
              <a:solidFill>
                <a:srgbClr val="000000"/>
              </a:solidFill>
              <a:effectLst/>
              <a:uFillTx/>
              <a:latin typeface="Arial"/>
            </a:endParaRPr>
          </a:p>
        </p:txBody>
      </p:sp>
      <p:sp>
        <p:nvSpPr>
          <p:cNvPr id="802" name="AutoShape 26"/>
          <p:cNvSpPr/>
          <p:nvPr/>
        </p:nvSpPr>
        <p:spPr>
          <a:xfrm>
            <a:off x="2751840" y="3966840"/>
            <a:ext cx="2952720" cy="11160"/>
          </a:xfrm>
          <a:prstGeom prst="line">
            <a:avLst/>
          </a:prstGeom>
          <a:ln w="19050">
            <a:solidFill>
              <a:srgbClr val="0000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0" u="none" strike="noStrike">
              <a:solidFill>
                <a:schemeClr val="dk1"/>
              </a:solidFill>
              <a:effectLst/>
              <a:uFillTx/>
              <a:latin typeface="メイリオ"/>
              <a:ea typeface="メイリオ"/>
            </a:endParaRPr>
          </a:p>
        </p:txBody>
      </p:sp>
      <p:sp>
        <p:nvSpPr>
          <p:cNvPr id="803" name="TextBox 27"/>
          <p:cNvSpPr/>
          <p:nvPr/>
        </p:nvSpPr>
        <p:spPr>
          <a:xfrm>
            <a:off x="2752200" y="47757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迷惑メールなどに入る</a:t>
            </a:r>
            <a:endParaRPr lang="en-US" sz="1400" b="0" u="none" strike="noStrike">
              <a:solidFill>
                <a:srgbClr val="000000"/>
              </a:solidFill>
              <a:effectLst/>
              <a:uFillTx/>
              <a:latin typeface="Arial"/>
            </a:endParaRPr>
          </a:p>
        </p:txBody>
      </p:sp>
      <p:sp>
        <p:nvSpPr>
          <p:cNvPr id="804" name="TextBox 28"/>
          <p:cNvSpPr/>
          <p:nvPr/>
        </p:nvSpPr>
        <p:spPr>
          <a:xfrm>
            <a:off x="2752200" y="53546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10</a:t>
            </a:r>
            <a:r>
              <a:rPr lang="zh-CN" sz="1400" b="0" u="none" strike="noStrike">
                <a:solidFill>
                  <a:srgbClr val="040606"/>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05" name="TextBox 29"/>
          <p:cNvSpPr/>
          <p:nvPr/>
        </p:nvSpPr>
        <p:spPr>
          <a:xfrm>
            <a:off x="275220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0" u="none" strike="noStrike">
                <a:solidFill>
                  <a:srgbClr val="040606"/>
                </a:solidFill>
                <a:effectLst/>
                <a:uFillTx/>
                <a:latin typeface="メイリオ"/>
                <a:ea typeface="メイリオ"/>
              </a:rPr>
              <a:t>1</a:t>
            </a:r>
            <a:r>
              <a:rPr lang="zh-CN" sz="1400" b="0" u="none" strike="noStrike">
                <a:solidFill>
                  <a:srgbClr val="040606"/>
                </a:solidFill>
                <a:effectLst/>
                <a:uFillTx/>
                <a:latin typeface="メイリオ"/>
                <a:ea typeface="メイリオ"/>
              </a:rPr>
              <a:t>時間</a:t>
            </a:r>
            <a:endParaRPr lang="en-US" sz="1400" b="0" u="none" strike="noStrike">
              <a:solidFill>
                <a:srgbClr val="000000"/>
              </a:solidFill>
              <a:effectLst/>
              <a:uFillTx/>
              <a:latin typeface="Arial"/>
            </a:endParaRPr>
          </a:p>
        </p:txBody>
      </p:sp>
      <p:sp>
        <p:nvSpPr>
          <p:cNvPr id="806" name="AutoShape 30"/>
          <p:cNvSpPr/>
          <p:nvPr/>
        </p:nvSpPr>
        <p:spPr>
          <a:xfrm>
            <a:off x="1044720" y="5247720"/>
            <a:ext cx="7854120" cy="720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7800" rIns="90000" bIns="-37800" anchor="t">
            <a:noAutofit/>
          </a:bodyPr>
          <a:lstStyle/>
          <a:p>
            <a:endParaRPr lang="en-US" sz="1400" b="0" u="none" strike="noStrike">
              <a:solidFill>
                <a:schemeClr val="dk1"/>
              </a:solidFill>
              <a:effectLst/>
              <a:uFillTx/>
              <a:latin typeface="メイリオ"/>
              <a:ea typeface="メイリオ"/>
            </a:endParaRPr>
          </a:p>
        </p:txBody>
      </p:sp>
      <p:sp>
        <p:nvSpPr>
          <p:cNvPr id="807" name="AutoShape 31"/>
          <p:cNvSpPr/>
          <p:nvPr/>
        </p:nvSpPr>
        <p:spPr>
          <a:xfrm>
            <a:off x="1044720" y="5806080"/>
            <a:ext cx="7854120" cy="6840"/>
          </a:xfrm>
          <a:prstGeom prst="line">
            <a:avLst/>
          </a:prstGeom>
          <a:ln w="19050">
            <a:solidFill>
              <a:srgbClr val="000000"/>
            </a:solidFill>
            <a:prstDash val="sysDot"/>
            <a:round/>
          </a:ln>
        </p:spPr>
        <p:style>
          <a:lnRef idx="0">
            <a:scrgbClr r="0" g="0" b="0"/>
          </a:lnRef>
          <a:fillRef idx="0">
            <a:scrgbClr r="0" g="0" b="0"/>
          </a:fillRef>
          <a:effectRef idx="0">
            <a:scrgbClr r="0" g="0" b="0"/>
          </a:effectRef>
          <a:fontRef idx="minor"/>
        </p:style>
        <p:txBody>
          <a:bodyPr lIns="90000" tIns="-38160" rIns="90000" bIns="-38160" anchor="t">
            <a:noAutofit/>
          </a:bodyPr>
          <a:lstStyle/>
          <a:p>
            <a:endParaRPr lang="en-US" sz="1400" b="0" u="none" strike="noStrike">
              <a:solidFill>
                <a:schemeClr val="dk1"/>
              </a:solidFill>
              <a:effectLst/>
              <a:uFillTx/>
              <a:latin typeface="メイリオ"/>
              <a:ea typeface="メイリオ"/>
            </a:endParaRPr>
          </a:p>
        </p:txBody>
      </p:sp>
      <p:sp>
        <p:nvSpPr>
          <p:cNvPr id="808" name="TextBox 32"/>
          <p:cNvSpPr/>
          <p:nvPr/>
        </p:nvSpPr>
        <p:spPr>
          <a:xfrm>
            <a:off x="1184760" y="477900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到達</a:t>
            </a:r>
            <a:endParaRPr lang="en-US" sz="1400" b="0" u="none" strike="noStrike">
              <a:solidFill>
                <a:srgbClr val="000000"/>
              </a:solidFill>
              <a:effectLst/>
              <a:uFillTx/>
              <a:latin typeface="Arial"/>
            </a:endParaRPr>
          </a:p>
        </p:txBody>
      </p:sp>
      <p:sp>
        <p:nvSpPr>
          <p:cNvPr id="809" name="TextBox 33"/>
          <p:cNvSpPr/>
          <p:nvPr/>
        </p:nvSpPr>
        <p:spPr>
          <a:xfrm>
            <a:off x="118476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開封率</a:t>
            </a:r>
            <a:endParaRPr lang="en-US" sz="1400" b="0" u="none" strike="noStrike">
              <a:solidFill>
                <a:srgbClr val="000000"/>
              </a:solidFill>
              <a:effectLst/>
              <a:uFillTx/>
              <a:latin typeface="Arial"/>
            </a:endParaRPr>
          </a:p>
        </p:txBody>
      </p:sp>
      <p:sp>
        <p:nvSpPr>
          <p:cNvPr id="810" name="TextBox 34"/>
          <p:cNvSpPr/>
          <p:nvPr/>
        </p:nvSpPr>
        <p:spPr>
          <a:xfrm>
            <a:off x="1184760" y="5933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0" u="none" strike="noStrike">
                <a:solidFill>
                  <a:srgbClr val="040606"/>
                </a:solidFill>
                <a:effectLst/>
                <a:uFillTx/>
                <a:latin typeface="メイリオ"/>
                <a:ea typeface="メイリオ"/>
              </a:rPr>
              <a:t>開封まで</a:t>
            </a:r>
            <a:endParaRPr lang="en-US" sz="1400" b="0" u="none" strike="noStrike">
              <a:solidFill>
                <a:srgbClr val="000000"/>
              </a:solidFill>
              <a:effectLst/>
              <a:uFillTx/>
              <a:latin typeface="Arial"/>
            </a:endParaRPr>
          </a:p>
        </p:txBody>
      </p:sp>
      <p:sp>
        <p:nvSpPr>
          <p:cNvPr id="81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12" name="正方形/長方形 1"/>
          <p:cNvSpPr/>
          <p:nvPr/>
        </p:nvSpPr>
        <p:spPr>
          <a:xfrm>
            <a:off x="5784120" y="3545640"/>
            <a:ext cx="3332520" cy="2822040"/>
          </a:xfrm>
          <a:prstGeom prst="rect">
            <a:avLst/>
          </a:prstGeom>
          <a:solidFill>
            <a:srgbClr val="FF0000">
              <a:alpha val="10000"/>
            </a:srgb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600" b="1" u="none" strike="noStrike">
              <a:solidFill>
                <a:schemeClr val="lt1"/>
              </a:solidFill>
              <a:effectLst/>
              <a:uFillTx/>
              <a:latin typeface="Calibri"/>
            </a:endParaRPr>
          </a:p>
        </p:txBody>
      </p:sp>
      <p:sp>
        <p:nvSpPr>
          <p:cNvPr id="813" name="AutoShape 15"/>
          <p:cNvSpPr/>
          <p:nvPr/>
        </p:nvSpPr>
        <p:spPr>
          <a:xfrm>
            <a:off x="5946480" y="3983760"/>
            <a:ext cx="2952360" cy="11160"/>
          </a:xfrm>
          <a:prstGeom prst="line">
            <a:avLst/>
          </a:prstGeom>
          <a:ln w="19050">
            <a:solidFill>
              <a:srgbClr val="00B900"/>
            </a:solidFill>
            <a:round/>
          </a:ln>
        </p:spPr>
        <p:style>
          <a:lnRef idx="0">
            <a:scrgbClr r="0" g="0" b="0"/>
          </a:lnRef>
          <a:fillRef idx="0">
            <a:scrgbClr r="0" g="0" b="0"/>
          </a:fillRef>
          <a:effectRef idx="0">
            <a:scrgbClr r="0" g="0" b="0"/>
          </a:effectRef>
          <a:fontRef idx="minor"/>
        </p:style>
        <p:txBody>
          <a:bodyPr lIns="90000" tIns="-33840" rIns="90000" bIns="-33840" anchor="t">
            <a:noAutofit/>
          </a:bodyPr>
          <a:lstStyle/>
          <a:p>
            <a:endParaRPr lang="en-US" sz="1400" b="1" u="none" strike="noStrike">
              <a:solidFill>
                <a:schemeClr val="dk1"/>
              </a:solidFill>
              <a:effectLst/>
              <a:uFillTx/>
              <a:latin typeface="メイリオ"/>
              <a:ea typeface="メイリオ"/>
            </a:endParaRPr>
          </a:p>
        </p:txBody>
      </p:sp>
      <p:sp>
        <p:nvSpPr>
          <p:cNvPr id="814" name="TextBox 17"/>
          <p:cNvSpPr/>
          <p:nvPr/>
        </p:nvSpPr>
        <p:spPr>
          <a:xfrm>
            <a:off x="6162480" y="3579480"/>
            <a:ext cx="252036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455"/>
              </a:lnSpc>
            </a:pPr>
            <a:r>
              <a:rPr lang="en-US" sz="1400" b="1" u="none" strike="noStrike">
                <a:solidFill>
                  <a:srgbClr val="00B449"/>
                </a:solidFill>
                <a:effectLst/>
                <a:uFillTx/>
                <a:latin typeface="メイリオ"/>
                <a:ea typeface="メイリオ"/>
              </a:rPr>
              <a:t>LINE</a:t>
            </a:r>
            <a:endParaRPr lang="en-US" sz="1400" b="0" u="none" strike="noStrike">
              <a:solidFill>
                <a:srgbClr val="000000"/>
              </a:solidFill>
              <a:effectLst/>
              <a:uFillTx/>
              <a:latin typeface="Arial"/>
            </a:endParaRPr>
          </a:p>
        </p:txBody>
      </p:sp>
      <p:grpSp>
        <p:nvGrpSpPr>
          <p:cNvPr id="815" name="Group 21"/>
          <p:cNvGrpSpPr/>
          <p:nvPr/>
        </p:nvGrpSpPr>
        <p:grpSpPr>
          <a:xfrm>
            <a:off x="7261560" y="3975840"/>
            <a:ext cx="321840" cy="159840"/>
            <a:chOff x="7261560" y="3975840"/>
            <a:chExt cx="321840" cy="159840"/>
          </a:xfrm>
        </p:grpSpPr>
        <p:sp>
          <p:nvSpPr>
            <p:cNvPr id="816" name="Freeform 22"/>
            <p:cNvSpPr/>
            <p:nvPr/>
          </p:nvSpPr>
          <p:spPr>
            <a:xfrm>
              <a:off x="7261560" y="3983760"/>
              <a:ext cx="321840" cy="151920"/>
            </a:xfrm>
            <a:custGeom>
              <a:avLst/>
              <a:gdLst>
                <a:gd name="textAreaLeft" fmla="*/ 0 w 321840"/>
                <a:gd name="textAreaRight" fmla="*/ 322200 w 321840"/>
                <a:gd name="textAreaTop" fmla="*/ 0 h 151920"/>
                <a:gd name="textAreaBottom" fmla="*/ 152280 h 151920"/>
              </a:gdLst>
              <a:ahLst/>
              <a:cxnLst/>
              <a:rect l="textAreaLeft" t="textAreaTop" r="textAreaRight" b="textAreaBottom"/>
              <a:pathLst>
                <a:path w="812800" h="383922">
                  <a:moveTo>
                    <a:pt x="406400" y="383922"/>
                  </a:moveTo>
                  <a:lnTo>
                    <a:pt x="812800" y="0"/>
                  </a:lnTo>
                  <a:lnTo>
                    <a:pt x="0" y="0"/>
                  </a:lnTo>
                  <a:lnTo>
                    <a:pt x="406400" y="383922"/>
                  </a:lnTo>
                  <a:close/>
                </a:path>
              </a:pathLst>
            </a:custGeom>
            <a:solidFill>
              <a:srgbClr val="00B44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400" b="1" u="none" strike="noStrike">
                <a:solidFill>
                  <a:schemeClr val="dk1"/>
                </a:solidFill>
                <a:effectLst/>
                <a:uFillTx/>
                <a:latin typeface="メイリオ"/>
                <a:ea typeface="メイリオ"/>
              </a:endParaRPr>
            </a:p>
          </p:txBody>
        </p:sp>
        <p:sp>
          <p:nvSpPr>
            <p:cNvPr id="817" name="TextBox 23"/>
            <p:cNvSpPr/>
            <p:nvPr/>
          </p:nvSpPr>
          <p:spPr>
            <a:xfrm>
              <a:off x="7311960" y="3975840"/>
              <a:ext cx="221040" cy="89280"/>
            </a:xfrm>
            <a:prstGeom prst="rect">
              <a:avLst/>
            </a:prstGeom>
            <a:noFill/>
            <a:ln w="0">
              <a:noFill/>
            </a:ln>
          </p:spPr>
          <p:style>
            <a:lnRef idx="0">
              <a:scrgbClr r="0" g="0" b="0"/>
            </a:lnRef>
            <a:fillRef idx="0">
              <a:scrgbClr r="0" g="0" b="0"/>
            </a:fillRef>
            <a:effectRef idx="0">
              <a:scrgbClr r="0" g="0" b="0"/>
            </a:effectRef>
            <a:fontRef idx="minor"/>
          </p:style>
          <p:txBody>
            <a:bodyPr lIns="29880" tIns="29880" rIns="29880" bIns="29880" anchor="ctr">
              <a:noAutofit/>
            </a:bodyPr>
            <a:lstStyle/>
            <a:p>
              <a:pPr algn="ctr" defTabSz="914400">
                <a:lnSpc>
                  <a:spcPts val="2047"/>
                </a:lnSpc>
              </a:pPr>
              <a:endParaRPr lang="en-US" sz="1400" b="1" u="none" strike="noStrike">
                <a:solidFill>
                  <a:schemeClr val="dk1"/>
                </a:solidFill>
                <a:effectLst/>
                <a:uFillTx/>
                <a:latin typeface="メイリオ"/>
                <a:ea typeface="メイリオ"/>
              </a:endParaRPr>
            </a:p>
          </p:txBody>
        </p:sp>
      </p:grpSp>
      <p:sp>
        <p:nvSpPr>
          <p:cNvPr id="818" name="TextBox 35"/>
          <p:cNvSpPr/>
          <p:nvPr/>
        </p:nvSpPr>
        <p:spPr>
          <a:xfrm>
            <a:off x="5961600" y="477288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確実に届く</a:t>
            </a:r>
            <a:endParaRPr lang="en-US" sz="1400" b="0" u="none" strike="noStrike">
              <a:solidFill>
                <a:srgbClr val="000000"/>
              </a:solidFill>
              <a:effectLst/>
              <a:uFillTx/>
              <a:latin typeface="Arial"/>
            </a:endParaRPr>
          </a:p>
        </p:txBody>
      </p:sp>
      <p:sp>
        <p:nvSpPr>
          <p:cNvPr id="819" name="TextBox 36"/>
          <p:cNvSpPr/>
          <p:nvPr/>
        </p:nvSpPr>
        <p:spPr>
          <a:xfrm>
            <a:off x="5961600" y="535212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60</a:t>
            </a:r>
            <a:r>
              <a:rPr lang="zh-CN" sz="1400" b="1" u="none" strike="noStrike">
                <a:solidFill>
                  <a:srgbClr val="00B449"/>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820" name="TextBox 37"/>
          <p:cNvSpPr/>
          <p:nvPr/>
        </p:nvSpPr>
        <p:spPr>
          <a:xfrm>
            <a:off x="5961600" y="593136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en-US" sz="1400" b="1" u="none" strike="noStrike">
                <a:solidFill>
                  <a:srgbClr val="00B449"/>
                </a:solidFill>
                <a:effectLst/>
                <a:uFillTx/>
                <a:latin typeface="メイリオ"/>
                <a:ea typeface="メイリオ"/>
              </a:rPr>
              <a:t>15</a:t>
            </a:r>
            <a:r>
              <a:rPr lang="zh-CN" sz="1400" b="1" u="none" strike="noStrike">
                <a:solidFill>
                  <a:srgbClr val="00B449"/>
                </a:solidFill>
                <a:effectLst/>
                <a:uFillTx/>
                <a:latin typeface="メイリオ"/>
                <a:ea typeface="メイリオ"/>
              </a:rPr>
              <a:t>分</a:t>
            </a:r>
            <a:endParaRPr lang="en-US" sz="1400" b="0" u="none" strike="noStrike">
              <a:solidFill>
                <a:srgbClr val="000000"/>
              </a:solidFill>
              <a:effectLst/>
              <a:uFillTx/>
              <a:latin typeface="Arial"/>
            </a:endParaRPr>
          </a:p>
        </p:txBody>
      </p:sp>
      <p:sp>
        <p:nvSpPr>
          <p:cNvPr id="821" name="TextBox 38"/>
          <p:cNvSpPr/>
          <p:nvPr/>
        </p:nvSpPr>
        <p:spPr>
          <a:xfrm>
            <a:off x="5961600" y="4206240"/>
            <a:ext cx="2936880" cy="294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455"/>
              </a:lnSpc>
            </a:pPr>
            <a:r>
              <a:rPr lang="zh-CN" sz="1400" b="1" u="none" strike="noStrike">
                <a:solidFill>
                  <a:srgbClr val="00B449"/>
                </a:solidFill>
                <a:effectLst/>
                <a:uFillTx/>
                <a:latin typeface="メイリオ"/>
                <a:ea typeface="メイリオ"/>
              </a:rPr>
              <a:t>ワンタップで追加</a:t>
            </a:r>
            <a:endParaRPr lang="en-US" sz="14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2"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23" name="正方形/長方形 3"/>
          <p:cNvSpPr/>
          <p:nvPr/>
        </p:nvSpPr>
        <p:spPr>
          <a:xfrm>
            <a:off x="789120" y="793440"/>
            <a:ext cx="8327880" cy="3812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zh-CN" sz="1400" b="0" u="none" strike="noStrike">
                <a:solidFill>
                  <a:srgbClr val="343434"/>
                </a:solidFill>
                <a:effectLst/>
                <a:uFillTx/>
                <a:latin typeface="メイリオ"/>
                <a:ea typeface="メイリオ"/>
              </a:rPr>
              <a:t>「今すぐ客」以外の</a:t>
            </a:r>
            <a:r>
              <a:rPr lang="ja-JP" sz="1400" b="0" u="none" strike="noStrike">
                <a:solidFill>
                  <a:srgbClr val="343434"/>
                </a:solidFill>
                <a:effectLst/>
                <a:uFillTx/>
                <a:latin typeface="メイリオ"/>
                <a:ea typeface="メイリオ"/>
              </a:rPr>
              <a:t>約</a:t>
            </a:r>
            <a:r>
              <a:rPr lang="en-US" sz="1400" b="0" u="none" strike="noStrike">
                <a:solidFill>
                  <a:srgbClr val="343434"/>
                </a:solidFill>
                <a:effectLst/>
                <a:uFillTx/>
                <a:latin typeface="メイリオ"/>
                <a:ea typeface="メイリオ"/>
              </a:rPr>
              <a:t>99</a:t>
            </a:r>
            <a:r>
              <a:rPr lang="ja-JP" sz="1400" b="0" u="none" strike="noStrike">
                <a:solidFill>
                  <a:srgbClr val="343434"/>
                </a:solidFill>
                <a:effectLst/>
                <a:uFillTx/>
                <a:latin typeface="メイリオ"/>
                <a:ea typeface="メイリオ"/>
              </a:rPr>
              <a:t>％の層をリストマーケティングで顧客に引き上げることが重要。</a:t>
            </a:r>
            <a:endParaRPr lang="en-US" sz="1400" b="0" u="none" strike="noStrike">
              <a:solidFill>
                <a:srgbClr val="000000"/>
              </a:solidFill>
              <a:effectLst/>
              <a:uFillTx/>
              <a:latin typeface="Arial"/>
            </a:endParaRPr>
          </a:p>
          <a:p>
            <a:pPr algn="ctr" defTabSz="914400">
              <a:lnSpc>
                <a:spcPts val="2455"/>
              </a:lnSpc>
            </a:pPr>
            <a:r>
              <a:rPr lang="ja-JP" sz="1400" b="0" u="none" strike="noStrike">
                <a:solidFill>
                  <a:srgbClr val="343434"/>
                </a:solidFill>
                <a:effectLst/>
                <a:uFillTx/>
                <a:latin typeface="メイリオ"/>
                <a:ea typeface="メイリオ"/>
              </a:rPr>
              <a:t>結果として、リード獲得率向上、リピート率向上、売上向上に繋げる。</a:t>
            </a:r>
            <a:endParaRPr lang="en-US" sz="1400" b="0" u="none" strike="noStrike">
              <a:solidFill>
                <a:srgbClr val="000000"/>
              </a:solidFill>
              <a:effectLst/>
              <a:uFillTx/>
              <a:latin typeface="Arial"/>
            </a:endParaRPr>
          </a:p>
        </p:txBody>
      </p:sp>
      <p:cxnSp>
        <p:nvCxnSpPr>
          <p:cNvPr id="824"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grpSp>
        <p:nvGrpSpPr>
          <p:cNvPr id="825" name="Group 11"/>
          <p:cNvGrpSpPr/>
          <p:nvPr/>
        </p:nvGrpSpPr>
        <p:grpSpPr>
          <a:xfrm>
            <a:off x="3049560" y="2885400"/>
            <a:ext cx="1458720" cy="1003320"/>
            <a:chOff x="3049560" y="2885400"/>
            <a:chExt cx="1458720" cy="1003320"/>
          </a:xfrm>
        </p:grpSpPr>
        <p:sp>
          <p:nvSpPr>
            <p:cNvPr id="826" name="Freeform 12"/>
            <p:cNvSpPr/>
            <p:nvPr/>
          </p:nvSpPr>
          <p:spPr>
            <a:xfrm>
              <a:off x="3049560" y="2975040"/>
              <a:ext cx="1458720" cy="913320"/>
            </a:xfrm>
            <a:custGeom>
              <a:avLst/>
              <a:gdLst>
                <a:gd name="textAreaLeft" fmla="*/ 0 w 1458720"/>
                <a:gd name="textAreaRight" fmla="*/ 1459080 w 1458720"/>
                <a:gd name="textAreaTop" fmla="*/ 0 h 913320"/>
                <a:gd name="textAreaBottom" fmla="*/ 913680 h 91332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27" name="TextBox 13"/>
            <p:cNvSpPr/>
            <p:nvPr/>
          </p:nvSpPr>
          <p:spPr>
            <a:xfrm>
              <a:off x="3049560" y="2885400"/>
              <a:ext cx="145872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28" name="AutoShape 14"/>
          <p:cNvSpPr/>
          <p:nvPr/>
        </p:nvSpPr>
        <p:spPr>
          <a:xfrm flipV="1">
            <a:off x="637560" y="2862000"/>
            <a:ext cx="360" cy="349632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29" name="AutoShape 15"/>
          <p:cNvSpPr/>
          <p:nvPr/>
        </p:nvSpPr>
        <p:spPr>
          <a:xfrm>
            <a:off x="272160" y="6045480"/>
            <a:ext cx="4516920" cy="360"/>
          </a:xfrm>
          <a:prstGeom prst="line">
            <a:avLst/>
          </a:prstGeom>
          <a:ln w="19050">
            <a:solidFill>
              <a:srgbClr val="737373"/>
            </a:solidFill>
            <a:round/>
            <a:tailEnd type="arrow" w="med" len="sm"/>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grpSp>
        <p:nvGrpSpPr>
          <p:cNvPr id="830" name="Group 16"/>
          <p:cNvGrpSpPr/>
          <p:nvPr/>
        </p:nvGrpSpPr>
        <p:grpSpPr>
          <a:xfrm>
            <a:off x="964080" y="2885400"/>
            <a:ext cx="1770480" cy="1003320"/>
            <a:chOff x="964080" y="2885400"/>
            <a:chExt cx="1770480" cy="1003320"/>
          </a:xfrm>
        </p:grpSpPr>
        <p:sp>
          <p:nvSpPr>
            <p:cNvPr id="831" name="Freeform 17"/>
            <p:cNvSpPr/>
            <p:nvPr/>
          </p:nvSpPr>
          <p:spPr>
            <a:xfrm>
              <a:off x="964080" y="2975040"/>
              <a:ext cx="1770480" cy="913320"/>
            </a:xfrm>
            <a:custGeom>
              <a:avLst/>
              <a:gdLst>
                <a:gd name="textAreaLeft" fmla="*/ 0 w 1770480"/>
                <a:gd name="textAreaRight" fmla="*/ 1770840 w 1770480"/>
                <a:gd name="textAreaTop" fmla="*/ 0 h 913320"/>
                <a:gd name="textAreaBottom" fmla="*/ 913680 h 913320"/>
              </a:gdLst>
              <a:ahLst/>
              <a:cxnLst/>
              <a:rect l="textAreaLeft" t="textAreaTop" r="textAreaRight" b="textAreaBottom"/>
              <a:pathLst>
                <a:path w="749990" h="387031">
                  <a:moveTo>
                    <a:pt x="0" y="0"/>
                  </a:moveTo>
                  <a:lnTo>
                    <a:pt x="749990" y="0"/>
                  </a:lnTo>
                  <a:lnTo>
                    <a:pt x="749990" y="387031"/>
                  </a:lnTo>
                  <a:lnTo>
                    <a:pt x="0" y="387031"/>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2" name="TextBox 18"/>
            <p:cNvSpPr/>
            <p:nvPr/>
          </p:nvSpPr>
          <p:spPr>
            <a:xfrm>
              <a:off x="964080" y="2885400"/>
              <a:ext cx="1770480" cy="100332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3" name="Group 19"/>
          <p:cNvGrpSpPr/>
          <p:nvPr/>
        </p:nvGrpSpPr>
        <p:grpSpPr>
          <a:xfrm>
            <a:off x="964080" y="4113000"/>
            <a:ext cx="1770480" cy="1634040"/>
            <a:chOff x="964080" y="4113000"/>
            <a:chExt cx="1770480" cy="1634040"/>
          </a:xfrm>
        </p:grpSpPr>
        <p:sp>
          <p:nvSpPr>
            <p:cNvPr id="834" name="Freeform 20"/>
            <p:cNvSpPr/>
            <p:nvPr/>
          </p:nvSpPr>
          <p:spPr>
            <a:xfrm>
              <a:off x="964080" y="4203000"/>
              <a:ext cx="1770480" cy="1544040"/>
            </a:xfrm>
            <a:custGeom>
              <a:avLst/>
              <a:gdLst>
                <a:gd name="textAreaLeft" fmla="*/ 0 w 1770480"/>
                <a:gd name="textAreaRight" fmla="*/ 1770840 w 1770480"/>
                <a:gd name="textAreaTop" fmla="*/ 0 h 1544040"/>
                <a:gd name="textAreaBottom" fmla="*/ 1544400 h 1544040"/>
              </a:gdLst>
              <a:ahLst/>
              <a:cxnLst/>
              <a:rect l="textAreaLeft" t="textAreaTop" r="textAreaRight" b="textAreaBottom"/>
              <a:pathLst>
                <a:path w="749990" h="654108">
                  <a:moveTo>
                    <a:pt x="0" y="0"/>
                  </a:moveTo>
                  <a:lnTo>
                    <a:pt x="749990" y="0"/>
                  </a:lnTo>
                  <a:lnTo>
                    <a:pt x="749990" y="654108"/>
                  </a:lnTo>
                  <a:lnTo>
                    <a:pt x="0" y="654108"/>
                  </a:lnTo>
                  <a:close/>
                </a:path>
              </a:pathLst>
            </a:custGeom>
            <a:solidFill>
              <a:srgbClr val="025D27"/>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5" name="TextBox 21"/>
            <p:cNvSpPr/>
            <p:nvPr/>
          </p:nvSpPr>
          <p:spPr>
            <a:xfrm>
              <a:off x="964080" y="4113000"/>
              <a:ext cx="177048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6" name="Group 22"/>
          <p:cNvGrpSpPr/>
          <p:nvPr/>
        </p:nvGrpSpPr>
        <p:grpSpPr>
          <a:xfrm>
            <a:off x="3049560" y="4113000"/>
            <a:ext cx="1458720" cy="1634040"/>
            <a:chOff x="3049560" y="4113000"/>
            <a:chExt cx="1458720" cy="1634040"/>
          </a:xfrm>
        </p:grpSpPr>
        <p:sp>
          <p:nvSpPr>
            <p:cNvPr id="837" name="Freeform 23"/>
            <p:cNvSpPr/>
            <p:nvPr/>
          </p:nvSpPr>
          <p:spPr>
            <a:xfrm>
              <a:off x="3049560" y="4203000"/>
              <a:ext cx="1458720" cy="1544040"/>
            </a:xfrm>
            <a:custGeom>
              <a:avLst/>
              <a:gdLst>
                <a:gd name="textAreaLeft" fmla="*/ 0 w 1458720"/>
                <a:gd name="textAreaRight" fmla="*/ 1459080 w 1458720"/>
                <a:gd name="textAreaTop" fmla="*/ 0 h 1544040"/>
                <a:gd name="textAreaBottom" fmla="*/ 1544400 h 1544040"/>
              </a:gdLst>
              <a:ahLst/>
              <a:cxnLst/>
              <a:rect l="textAreaLeft" t="textAreaTop" r="textAreaRight" b="textAreaBottom"/>
              <a:pathLst>
                <a:path w="617887" h="654108">
                  <a:moveTo>
                    <a:pt x="0" y="0"/>
                  </a:moveTo>
                  <a:lnTo>
                    <a:pt x="617887" y="0"/>
                  </a:lnTo>
                  <a:lnTo>
                    <a:pt x="617887" y="654108"/>
                  </a:lnTo>
                  <a:lnTo>
                    <a:pt x="0" y="654108"/>
                  </a:lnTo>
                  <a:close/>
                </a:path>
              </a:pathLst>
            </a:custGeom>
            <a:solidFill>
              <a:srgbClr val="7BD47C"/>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38" name="TextBox 24"/>
            <p:cNvSpPr/>
            <p:nvPr/>
          </p:nvSpPr>
          <p:spPr>
            <a:xfrm>
              <a:off x="3049560" y="4113000"/>
              <a:ext cx="1458720" cy="163404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grpSp>
        <p:nvGrpSpPr>
          <p:cNvPr id="839" name="Group 25"/>
          <p:cNvGrpSpPr/>
          <p:nvPr/>
        </p:nvGrpSpPr>
        <p:grpSpPr>
          <a:xfrm>
            <a:off x="4996440" y="3281400"/>
            <a:ext cx="600840" cy="300960"/>
            <a:chOff x="4996440" y="3281400"/>
            <a:chExt cx="600840" cy="300960"/>
          </a:xfrm>
        </p:grpSpPr>
        <p:sp>
          <p:nvSpPr>
            <p:cNvPr id="840" name="Freeform 26"/>
            <p:cNvSpPr/>
            <p:nvPr/>
          </p:nvSpPr>
          <p:spPr>
            <a:xfrm rot="5400000">
              <a:off x="5146200" y="3131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41" name="TextBox 27"/>
            <p:cNvSpPr/>
            <p:nvPr/>
          </p:nvSpPr>
          <p:spPr>
            <a:xfrm rot="5400000">
              <a:off x="5087880" y="3279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42" name="TextBox 28"/>
          <p:cNvSpPr/>
          <p:nvPr/>
        </p:nvSpPr>
        <p:spPr>
          <a:xfrm>
            <a:off x="239760" y="4103640"/>
            <a:ext cx="187200" cy="65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必要性</a:t>
            </a:r>
            <a:endParaRPr lang="en-US" sz="1240" b="0" u="none" strike="noStrike">
              <a:solidFill>
                <a:srgbClr val="000000"/>
              </a:solidFill>
              <a:effectLst/>
              <a:uFillTx/>
              <a:latin typeface="Arial"/>
            </a:endParaRPr>
          </a:p>
        </p:txBody>
      </p:sp>
      <p:sp>
        <p:nvSpPr>
          <p:cNvPr id="843" name="TextBox 29"/>
          <p:cNvSpPr/>
          <p:nvPr/>
        </p:nvSpPr>
        <p:spPr>
          <a:xfrm>
            <a:off x="2530800" y="613260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40"/>
              </a:lnSpc>
            </a:pPr>
            <a:r>
              <a:rPr lang="zh-CN" sz="1240" b="1" u="none" strike="noStrike">
                <a:solidFill>
                  <a:srgbClr val="494848"/>
                </a:solidFill>
                <a:effectLst/>
                <a:uFillTx/>
                <a:latin typeface="メイリオ"/>
                <a:ea typeface="メイリオ"/>
              </a:rPr>
              <a:t>緊急性</a:t>
            </a:r>
            <a:endParaRPr lang="en-US" sz="1240" b="0" u="none" strike="noStrike">
              <a:solidFill>
                <a:srgbClr val="000000"/>
              </a:solidFill>
              <a:effectLst/>
              <a:uFillTx/>
              <a:latin typeface="Arial"/>
            </a:endParaRPr>
          </a:p>
        </p:txBody>
      </p:sp>
      <p:sp>
        <p:nvSpPr>
          <p:cNvPr id="844" name="TextBox 30"/>
          <p:cNvSpPr/>
          <p:nvPr/>
        </p:nvSpPr>
        <p:spPr>
          <a:xfrm>
            <a:off x="3462480" y="3120120"/>
            <a:ext cx="63324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今すぐ客</a:t>
            </a:r>
            <a:endParaRPr lang="en-US" sz="1240" b="0" u="none" strike="noStrike">
              <a:solidFill>
                <a:srgbClr val="000000"/>
              </a:solidFill>
              <a:effectLst/>
              <a:uFillTx/>
              <a:latin typeface="Arial"/>
            </a:endParaRPr>
          </a:p>
        </p:txBody>
      </p:sp>
      <p:sp>
        <p:nvSpPr>
          <p:cNvPr id="845" name="TextBox 31"/>
          <p:cNvSpPr/>
          <p:nvPr/>
        </p:nvSpPr>
        <p:spPr>
          <a:xfrm>
            <a:off x="1381680" y="311544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そのうち客</a:t>
            </a:r>
            <a:endParaRPr lang="en-US" sz="1240" b="0" u="none" strike="noStrike">
              <a:solidFill>
                <a:srgbClr val="000000"/>
              </a:solidFill>
              <a:effectLst/>
              <a:uFillTx/>
              <a:latin typeface="Arial"/>
            </a:endParaRPr>
          </a:p>
        </p:txBody>
      </p:sp>
      <p:sp>
        <p:nvSpPr>
          <p:cNvPr id="846" name="TextBox 32"/>
          <p:cNvSpPr/>
          <p:nvPr/>
        </p:nvSpPr>
        <p:spPr>
          <a:xfrm>
            <a:off x="14151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FFFFFF"/>
                </a:solidFill>
                <a:effectLst/>
                <a:uFillTx/>
                <a:latin typeface="メイリオ"/>
                <a:ea typeface="メイリオ"/>
              </a:rPr>
              <a:t>まだまだ客</a:t>
            </a:r>
            <a:endParaRPr lang="en-US" sz="1240" b="0" u="none" strike="noStrike">
              <a:solidFill>
                <a:srgbClr val="000000"/>
              </a:solidFill>
              <a:effectLst/>
              <a:uFillTx/>
              <a:latin typeface="Arial"/>
            </a:endParaRPr>
          </a:p>
        </p:txBody>
      </p:sp>
      <p:sp>
        <p:nvSpPr>
          <p:cNvPr id="847" name="TextBox 33"/>
          <p:cNvSpPr/>
          <p:nvPr/>
        </p:nvSpPr>
        <p:spPr>
          <a:xfrm>
            <a:off x="3344760" y="4384800"/>
            <a:ext cx="868680" cy="21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1740"/>
              </a:lnSpc>
            </a:pPr>
            <a:r>
              <a:rPr lang="zh-CN" sz="1240" b="0" u="none" strike="noStrike">
                <a:solidFill>
                  <a:srgbClr val="494848"/>
                </a:solidFill>
                <a:effectLst/>
                <a:uFillTx/>
                <a:latin typeface="メイリオ"/>
                <a:ea typeface="メイリオ"/>
              </a:rPr>
              <a:t>お悩み客</a:t>
            </a:r>
            <a:endParaRPr lang="en-US" sz="1240" b="0" u="none" strike="noStrike">
              <a:solidFill>
                <a:srgbClr val="000000"/>
              </a:solidFill>
              <a:effectLst/>
              <a:uFillTx/>
              <a:latin typeface="Arial"/>
            </a:endParaRPr>
          </a:p>
        </p:txBody>
      </p:sp>
      <p:sp>
        <p:nvSpPr>
          <p:cNvPr id="848" name="TextBox 34"/>
          <p:cNvSpPr/>
          <p:nvPr/>
        </p:nvSpPr>
        <p:spPr>
          <a:xfrm>
            <a:off x="3462480" y="338436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1-2</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49" name="TextBox 35"/>
          <p:cNvSpPr/>
          <p:nvPr/>
        </p:nvSpPr>
        <p:spPr>
          <a:xfrm>
            <a:off x="1385640" y="338436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0" name="TextBox 36"/>
          <p:cNvSpPr/>
          <p:nvPr/>
        </p:nvSpPr>
        <p:spPr>
          <a:xfrm>
            <a:off x="3315240" y="4823280"/>
            <a:ext cx="92736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494848"/>
                </a:solidFill>
                <a:effectLst/>
                <a:uFillTx/>
                <a:latin typeface="メイリオ"/>
                <a:ea typeface="メイリオ"/>
              </a:rPr>
              <a:t>9-9.5</a:t>
            </a:r>
            <a:r>
              <a:rPr lang="zh-CN" sz="1560" b="0" u="none" strike="noStrike">
                <a:solidFill>
                  <a:srgbClr val="494848"/>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1" name="TextBox 37"/>
          <p:cNvSpPr/>
          <p:nvPr/>
        </p:nvSpPr>
        <p:spPr>
          <a:xfrm>
            <a:off x="1532880" y="4823280"/>
            <a:ext cx="633240" cy="281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77"/>
              </a:lnSpc>
            </a:pPr>
            <a:r>
              <a:rPr lang="en-US" sz="1560" b="0" u="none" strike="noStrike">
                <a:solidFill>
                  <a:srgbClr val="FFFFFF"/>
                </a:solidFill>
                <a:effectLst/>
                <a:uFillTx/>
                <a:latin typeface="メイリオ"/>
                <a:ea typeface="メイリオ"/>
              </a:rPr>
              <a:t>80</a:t>
            </a:r>
            <a:r>
              <a:rPr lang="zh-CN" sz="1560" b="0" u="none" strike="noStrike">
                <a:solidFill>
                  <a:srgbClr val="FFFFFF"/>
                </a:solidFill>
                <a:effectLst/>
                <a:uFillTx/>
                <a:latin typeface="メイリオ"/>
                <a:ea typeface="メイリオ"/>
              </a:rPr>
              <a:t>％</a:t>
            </a:r>
            <a:endParaRPr lang="en-US" sz="1560" b="0" u="none" strike="noStrike">
              <a:solidFill>
                <a:srgbClr val="000000"/>
              </a:solidFill>
              <a:effectLst/>
              <a:uFillTx/>
              <a:latin typeface="Arial"/>
            </a:endParaRPr>
          </a:p>
        </p:txBody>
      </p:sp>
      <p:sp>
        <p:nvSpPr>
          <p:cNvPr id="852" name="TextBox 38"/>
          <p:cNvSpPr/>
          <p:nvPr/>
        </p:nvSpPr>
        <p:spPr>
          <a:xfrm>
            <a:off x="5800680" y="315972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「今すぐ</a:t>
            </a:r>
            <a:r>
              <a:rPr lang="ja-JP" sz="1200" b="1" u="none" strike="noStrike">
                <a:solidFill>
                  <a:srgbClr val="494848"/>
                </a:solidFill>
                <a:effectLst/>
                <a:uFillTx/>
                <a:latin typeface="メイリオ"/>
                <a:ea typeface="メイリオ"/>
              </a:rPr>
              <a:t>顧客」を高い広告費を投資して獲得するのはリスクが大きい。</a:t>
            </a:r>
            <a:endParaRPr lang="en-US" sz="1200" b="0" u="none" strike="noStrike">
              <a:solidFill>
                <a:srgbClr val="000000"/>
              </a:solidFill>
              <a:effectLst/>
              <a:uFillTx/>
              <a:latin typeface="Arial"/>
            </a:endParaRPr>
          </a:p>
        </p:txBody>
      </p:sp>
      <p:sp>
        <p:nvSpPr>
          <p:cNvPr id="853" name="Freeform 40"/>
          <p:cNvSpPr/>
          <p:nvPr/>
        </p:nvSpPr>
        <p:spPr>
          <a:xfrm rot="5400000">
            <a:off x="5146200" y="42066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00FF00"/>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54" name="TextBox 42"/>
          <p:cNvSpPr/>
          <p:nvPr/>
        </p:nvSpPr>
        <p:spPr>
          <a:xfrm>
            <a:off x="5800680" y="4237560"/>
            <a:ext cx="388908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zh-CN" sz="1200" b="1" u="none" strike="noStrike">
                <a:solidFill>
                  <a:srgbClr val="494848"/>
                </a:solidFill>
                <a:effectLst/>
                <a:uFillTx/>
                <a:latin typeface="メイリオ"/>
                <a:ea typeface="メイリオ"/>
              </a:rPr>
              <a:t>リストとして獲得するだけでなく</a:t>
            </a:r>
            <a:endParaRPr lang="en-US" sz="1200" b="0" u="none" strike="noStrike">
              <a:solidFill>
                <a:srgbClr val="000000"/>
              </a:solidFill>
              <a:effectLst/>
              <a:uFillTx/>
              <a:latin typeface="Arial"/>
            </a:endParaRPr>
          </a:p>
          <a:p>
            <a:pPr defTabSz="914400">
              <a:lnSpc>
                <a:spcPts val="2177"/>
              </a:lnSpc>
            </a:pPr>
            <a:r>
              <a:rPr lang="zh-CN" sz="1200" b="1" u="none" strike="noStrike">
                <a:solidFill>
                  <a:srgbClr val="494848"/>
                </a:solidFill>
                <a:effectLst/>
                <a:uFillTx/>
                <a:latin typeface="メイリオ"/>
                <a:ea typeface="メイリオ"/>
              </a:rPr>
              <a:t>「</a:t>
            </a:r>
            <a:r>
              <a:rPr lang="ja-JP" sz="1200" b="1" u="none" strike="noStrike">
                <a:solidFill>
                  <a:srgbClr val="494848"/>
                </a:solidFill>
                <a:effectLst/>
                <a:uFillTx/>
                <a:latin typeface="メイリオ"/>
                <a:ea typeface="メイリオ"/>
              </a:rPr>
              <a:t>将来的な顧客」教育を</a:t>
            </a:r>
            <a:r>
              <a:rPr lang="en-US" sz="1200" b="1" u="none" strike="noStrike">
                <a:solidFill>
                  <a:srgbClr val="494848"/>
                </a:solidFill>
                <a:effectLst/>
                <a:uFillTx/>
                <a:latin typeface="メイリオ"/>
                <a:ea typeface="メイリオ"/>
              </a:rPr>
              <a:t>LINE</a:t>
            </a:r>
            <a:r>
              <a:rPr lang="ja-JP" sz="1200" b="1" u="none" strike="noStrike">
                <a:solidFill>
                  <a:srgbClr val="494848"/>
                </a:solidFill>
                <a:effectLst/>
                <a:uFillTx/>
                <a:latin typeface="メイリオ"/>
                <a:ea typeface="メイリオ"/>
              </a:rPr>
              <a:t>上で構築し行う。</a:t>
            </a:r>
            <a:endParaRPr lang="en-US" sz="1200" b="0" u="none" strike="noStrike">
              <a:solidFill>
                <a:srgbClr val="000000"/>
              </a:solidFill>
              <a:effectLst/>
              <a:uFillTx/>
              <a:latin typeface="Arial"/>
            </a:endParaRPr>
          </a:p>
        </p:txBody>
      </p:sp>
      <p:sp>
        <p:nvSpPr>
          <p:cNvPr id="855" name="AutoShape 43"/>
          <p:cNvSpPr/>
          <p:nvPr/>
        </p:nvSpPr>
        <p:spPr>
          <a:xfrm>
            <a:off x="837360" y="2858760"/>
            <a:ext cx="206064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6" name="AutoShape 44"/>
          <p:cNvSpPr/>
          <p:nvPr/>
        </p:nvSpPr>
        <p:spPr>
          <a:xfrm>
            <a:off x="828720" y="5877000"/>
            <a:ext cx="381096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7" name="AutoShape 45"/>
          <p:cNvSpPr/>
          <p:nvPr/>
        </p:nvSpPr>
        <p:spPr>
          <a:xfrm>
            <a:off x="2889360" y="4056480"/>
            <a:ext cx="1750320" cy="36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4640" rIns="90000" bIns="-44640" anchor="t">
            <a:noAutofit/>
          </a:bodyPr>
          <a:lstStyle/>
          <a:p>
            <a:endParaRPr lang="en-US" sz="1800" b="0" u="none" strike="noStrike">
              <a:solidFill>
                <a:schemeClr val="dk1"/>
              </a:solidFill>
              <a:effectLst/>
              <a:uFillTx/>
              <a:latin typeface="メイリオ"/>
              <a:ea typeface="メイリオ"/>
            </a:endParaRPr>
          </a:p>
        </p:txBody>
      </p:sp>
      <p:sp>
        <p:nvSpPr>
          <p:cNvPr id="858" name="AutoShape 46"/>
          <p:cNvSpPr/>
          <p:nvPr/>
        </p:nvSpPr>
        <p:spPr>
          <a:xfrm>
            <a:off x="4639680" y="4062600"/>
            <a:ext cx="360" cy="182592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59" name="AutoShape 47"/>
          <p:cNvSpPr/>
          <p:nvPr/>
        </p:nvSpPr>
        <p:spPr>
          <a:xfrm>
            <a:off x="2901240" y="2853000"/>
            <a:ext cx="360" cy="121788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0" name="AutoShape 48"/>
          <p:cNvSpPr/>
          <p:nvPr/>
        </p:nvSpPr>
        <p:spPr>
          <a:xfrm>
            <a:off x="840600" y="2862000"/>
            <a:ext cx="360" cy="3015000"/>
          </a:xfrm>
          <a:prstGeom prst="line">
            <a:avLst/>
          </a:prstGeom>
          <a:ln w="19050">
            <a:solidFill>
              <a:srgbClr val="B0EDC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chemeClr val="dk1"/>
              </a:solidFill>
              <a:effectLst/>
              <a:uFillTx/>
              <a:latin typeface="メイリオ"/>
              <a:ea typeface="メイリオ"/>
            </a:endParaRPr>
          </a:p>
        </p:txBody>
      </p:sp>
      <p:sp>
        <p:nvSpPr>
          <p:cNvPr id="861"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pSp>
        <p:nvGrpSpPr>
          <p:cNvPr id="862" name="Group 25"/>
          <p:cNvGrpSpPr/>
          <p:nvPr/>
        </p:nvGrpSpPr>
        <p:grpSpPr>
          <a:xfrm>
            <a:off x="4996440" y="5467320"/>
            <a:ext cx="600840" cy="300960"/>
            <a:chOff x="4996440" y="5467320"/>
            <a:chExt cx="600840" cy="300960"/>
          </a:xfrm>
        </p:grpSpPr>
        <p:sp>
          <p:nvSpPr>
            <p:cNvPr id="863" name="Freeform 26"/>
            <p:cNvSpPr/>
            <p:nvPr/>
          </p:nvSpPr>
          <p:spPr>
            <a:xfrm rot="5400000">
              <a:off x="5146200" y="53172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864" name="TextBox 27"/>
            <p:cNvSpPr/>
            <p:nvPr/>
          </p:nvSpPr>
          <p:spPr>
            <a:xfrm rot="5400000">
              <a:off x="5087880" y="54658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865" name="TextBox 38"/>
          <p:cNvSpPr/>
          <p:nvPr/>
        </p:nvSpPr>
        <p:spPr>
          <a:xfrm>
            <a:off x="5800680" y="5349240"/>
            <a:ext cx="3788640" cy="53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200" b="1" u="none" strike="noStrike">
                <a:solidFill>
                  <a:srgbClr val="494848"/>
                </a:solidFill>
                <a:effectLst/>
                <a:uFillTx/>
                <a:latin typeface="メイリオ"/>
                <a:ea typeface="メイリオ"/>
              </a:rPr>
              <a:t>広告審査がないうえに、ユーザー接点を早めることで大量かつ高効率での獲得を見込むことが出来る。</a:t>
            </a:r>
            <a:endParaRPr lang="en-US" sz="1200" b="0" u="none" strike="noStrike">
              <a:solidFill>
                <a:srgbClr val="000000"/>
              </a:solidFill>
              <a:effectLst/>
              <a:uFillTx/>
              <a:latin typeface="Arial"/>
            </a:endParaRPr>
          </a:p>
        </p:txBody>
      </p:sp>
      <p:sp>
        <p:nvSpPr>
          <p:cNvPr id="866" name="正方形/長方形 66"/>
          <p:cNvSpPr/>
          <p:nvPr/>
        </p:nvSpPr>
        <p:spPr>
          <a:xfrm>
            <a:off x="0" y="1550160"/>
            <a:ext cx="9905760" cy="9979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67" name="正方形/長方形 68"/>
          <p:cNvSpPr/>
          <p:nvPr/>
        </p:nvSpPr>
        <p:spPr>
          <a:xfrm>
            <a:off x="1415160" y="1777680"/>
            <a:ext cx="313560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en-US" sz="1400" b="0" u="none" strike="noStrike">
                <a:solidFill>
                  <a:schemeClr val="dk1"/>
                </a:solidFill>
                <a:effectLst/>
                <a:uFillTx/>
                <a:latin typeface="Meiryo"/>
                <a:ea typeface="Meiryo"/>
              </a:rPr>
              <a:t>WEB</a:t>
            </a:r>
            <a:r>
              <a:rPr lang="ja-JP" sz="1400" b="0" u="none" strike="noStrike">
                <a:solidFill>
                  <a:schemeClr val="dk1"/>
                </a:solidFill>
                <a:effectLst/>
                <a:uFillTx/>
                <a:latin typeface="Meiryo"/>
                <a:ea typeface="Meiryo"/>
              </a:rPr>
              <a:t>広告における</a:t>
            </a:r>
            <a:r>
              <a:rPr lang="ja-JP" sz="1400" b="1" u="none" strike="noStrike">
                <a:solidFill>
                  <a:schemeClr val="dk1"/>
                </a:solidFill>
                <a:effectLst/>
                <a:uFillTx/>
                <a:latin typeface="Meiryo"/>
                <a:ea typeface="Meiryo"/>
              </a:rPr>
              <a:t>競合性が高</a:t>
            </a:r>
            <a:r>
              <a:rPr lang="ja-JP" sz="1400" b="0" u="none" strike="noStrike">
                <a:solidFill>
                  <a:schemeClr val="dk1"/>
                </a:solidFill>
                <a:effectLst/>
                <a:uFillTx/>
                <a:latin typeface="Meiryo"/>
                <a:ea typeface="Meiryo"/>
              </a:rPr>
              <a:t>くなり</a:t>
            </a:r>
            <a:endParaRPr lang="en-US" sz="1400" b="0" u="none" strike="noStrike">
              <a:solidFill>
                <a:srgbClr val="000000"/>
              </a:solidFill>
              <a:effectLst/>
              <a:uFillTx/>
              <a:latin typeface="Arial"/>
            </a:endParaRPr>
          </a:p>
          <a:p>
            <a:pPr algn="ctr" defTabSz="914400">
              <a:lnSpc>
                <a:spcPct val="100000"/>
              </a:lnSpc>
            </a:pPr>
            <a:r>
              <a:rPr lang="ja-JP" sz="1400" b="1" u="none" strike="noStrike">
                <a:solidFill>
                  <a:srgbClr val="FF0000"/>
                </a:solidFill>
                <a:effectLst/>
                <a:uFillTx/>
                <a:latin typeface="Meiryo"/>
                <a:ea typeface="Meiryo"/>
              </a:rPr>
              <a:t>単価指標（</a:t>
            </a:r>
            <a:r>
              <a:rPr lang="en-US" sz="1400" b="1" u="none" strike="noStrike">
                <a:solidFill>
                  <a:srgbClr val="FF0000"/>
                </a:solidFill>
                <a:effectLst/>
                <a:uFillTx/>
                <a:latin typeface="Meiryo"/>
                <a:ea typeface="Meiryo"/>
              </a:rPr>
              <a:t>CPC</a:t>
            </a:r>
            <a:r>
              <a:rPr lang="ja-JP" sz="1400" b="1" u="none" strike="noStrike">
                <a:solidFill>
                  <a:srgbClr val="FF0000"/>
                </a:solidFill>
                <a:effectLst/>
                <a:uFillTx/>
                <a:latin typeface="Meiryo"/>
                <a:ea typeface="Meiryo"/>
              </a:rPr>
              <a:t>及び</a:t>
            </a:r>
            <a:r>
              <a:rPr lang="en-US" sz="1400" b="1" u="none" strike="noStrike">
                <a:solidFill>
                  <a:srgbClr val="FF0000"/>
                </a:solidFill>
                <a:effectLst/>
                <a:uFillTx/>
                <a:latin typeface="Meiryo"/>
                <a:ea typeface="Meiryo"/>
              </a:rPr>
              <a:t>CPA</a:t>
            </a:r>
            <a:r>
              <a:rPr lang="ja-JP" sz="1400" b="1" u="none" strike="noStrike">
                <a:solidFill>
                  <a:srgbClr val="FF0000"/>
                </a:solidFill>
                <a:effectLst/>
                <a:uFillTx/>
                <a:latin typeface="Meiryo"/>
                <a:ea typeface="Meiryo"/>
              </a:rPr>
              <a:t>）が高騰</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8" name="正方形/長方形 70"/>
          <p:cNvSpPr/>
          <p:nvPr/>
        </p:nvSpPr>
        <p:spPr>
          <a:xfrm>
            <a:off x="5717880" y="1781640"/>
            <a:ext cx="3773520" cy="5227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ja-JP" sz="1400" b="0" u="none" strike="noStrike">
                <a:solidFill>
                  <a:schemeClr val="dk1"/>
                </a:solidFill>
                <a:effectLst/>
                <a:uFillTx/>
                <a:latin typeface="Meiryo"/>
                <a:ea typeface="Meiryo"/>
              </a:rPr>
              <a:t>集客施策における</a:t>
            </a:r>
            <a:r>
              <a:rPr lang="en-US" sz="1400" b="1" u="none" strike="noStrike">
                <a:solidFill>
                  <a:schemeClr val="dk1"/>
                </a:solidFill>
                <a:effectLst/>
                <a:uFillTx/>
                <a:latin typeface="Meiryo"/>
                <a:ea typeface="Meiryo"/>
              </a:rPr>
              <a:t>CVR</a:t>
            </a:r>
            <a:r>
              <a:rPr lang="ja-JP" sz="1400" b="1" u="none" strike="noStrike">
                <a:solidFill>
                  <a:schemeClr val="dk1"/>
                </a:solidFill>
                <a:effectLst/>
                <a:uFillTx/>
                <a:latin typeface="Meiryo"/>
                <a:ea typeface="Meiryo"/>
              </a:rPr>
              <a:t>は高くても</a:t>
            </a:r>
            <a:r>
              <a:rPr lang="en-US" sz="1400" b="1" u="none" strike="noStrike">
                <a:solidFill>
                  <a:schemeClr val="dk1"/>
                </a:solidFill>
                <a:effectLst/>
                <a:uFillTx/>
                <a:latin typeface="Meiryo"/>
                <a:ea typeface="Meiryo"/>
              </a:rPr>
              <a:t>2%</a:t>
            </a:r>
            <a:r>
              <a:rPr lang="ja-JP" sz="1400" b="1" u="none" strike="noStrike">
                <a:solidFill>
                  <a:schemeClr val="dk1"/>
                </a:solidFill>
                <a:effectLst/>
                <a:uFillTx/>
                <a:latin typeface="Meiryo"/>
                <a:ea typeface="Meiryo"/>
              </a:rPr>
              <a:t>程度</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a:p>
            <a:pPr algn="ctr" defTabSz="914400">
              <a:lnSpc>
                <a:spcPct val="100000"/>
              </a:lnSpc>
            </a:pPr>
            <a:r>
              <a:rPr lang="en-US" sz="1400" b="0" u="none" strike="noStrike">
                <a:solidFill>
                  <a:srgbClr val="FF0000"/>
                </a:solidFill>
                <a:effectLst/>
                <a:uFillTx/>
                <a:latin typeface="Meiryo"/>
                <a:ea typeface="Meiryo"/>
              </a:rPr>
              <a:t>CV</a:t>
            </a:r>
            <a:r>
              <a:rPr lang="ja-JP" sz="1400" b="0" u="none" strike="noStrike">
                <a:solidFill>
                  <a:srgbClr val="FF0000"/>
                </a:solidFill>
                <a:effectLst/>
                <a:uFillTx/>
                <a:latin typeface="Meiryo"/>
                <a:ea typeface="Meiryo"/>
              </a:rPr>
              <a:t>に至らず離脱するユーザーが大部分</a:t>
            </a:r>
            <a:r>
              <a:rPr lang="ja-JP" sz="1400" b="0" u="none" strike="noStrike">
                <a:solidFill>
                  <a:schemeClr val="dk1"/>
                </a:solidFill>
                <a:effectLst/>
                <a:uFillTx/>
                <a:latin typeface="Meiryo"/>
                <a:ea typeface="Meiryo"/>
              </a:rPr>
              <a:t>。</a:t>
            </a:r>
            <a:endParaRPr lang="en-US" sz="1400" b="0" u="none" strike="noStrike">
              <a:solidFill>
                <a:srgbClr val="000000"/>
              </a:solidFill>
              <a:effectLst/>
              <a:uFillTx/>
              <a:latin typeface="Arial"/>
            </a:endParaRPr>
          </a:p>
        </p:txBody>
      </p:sp>
      <p:sp>
        <p:nvSpPr>
          <p:cNvPr id="869" name="Freeform 12"/>
          <p:cNvSpPr/>
          <p:nvPr/>
        </p:nvSpPr>
        <p:spPr>
          <a:xfrm>
            <a:off x="4853160" y="182304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CVR</a:t>
            </a:r>
            <a:endParaRPr lang="en-US" sz="1800" b="0" u="none" strike="noStrike">
              <a:solidFill>
                <a:srgbClr val="000000"/>
              </a:solidFill>
              <a:effectLst/>
              <a:uFillTx/>
              <a:latin typeface="Arial"/>
            </a:endParaRPr>
          </a:p>
        </p:txBody>
      </p:sp>
      <p:sp>
        <p:nvSpPr>
          <p:cNvPr id="870" name="Freeform 12"/>
          <p:cNvSpPr/>
          <p:nvPr/>
        </p:nvSpPr>
        <p:spPr>
          <a:xfrm>
            <a:off x="555120" y="1809000"/>
            <a:ext cx="823320" cy="425880"/>
          </a:xfrm>
          <a:custGeom>
            <a:avLst/>
            <a:gdLst>
              <a:gd name="textAreaLeft" fmla="*/ 0 w 823320"/>
              <a:gd name="textAreaRight" fmla="*/ 823680 w 823320"/>
              <a:gd name="textAreaTop" fmla="*/ 0 h 425880"/>
              <a:gd name="textAreaBottom" fmla="*/ 426240 h 425880"/>
            </a:gdLst>
            <a:ahLst/>
            <a:cxnLst/>
            <a:rect l="textAreaLeft" t="textAreaTop" r="textAreaRight" b="textAreaBottom"/>
            <a:pathLst>
              <a:path w="617887" h="387031">
                <a:moveTo>
                  <a:pt x="0" y="0"/>
                </a:moveTo>
                <a:lnTo>
                  <a:pt x="617887" y="0"/>
                </a:lnTo>
                <a:lnTo>
                  <a:pt x="617887" y="387031"/>
                </a:lnTo>
                <a:lnTo>
                  <a:pt x="0" y="387031"/>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800" b="1" u="none" strike="noStrike">
                <a:solidFill>
                  <a:schemeClr val="dk1"/>
                </a:solidFill>
                <a:effectLst/>
                <a:uFillTx/>
                <a:latin typeface="メイリオ"/>
                <a:ea typeface="メイリオ"/>
              </a:rPr>
              <a:t>CPC</a:t>
            </a:r>
            <a:endParaRPr lang="en-US" sz="1800" b="0" u="none" strike="noStrike">
              <a:solidFill>
                <a:srgbClr val="000000"/>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872" name="正方形/長方形 3"/>
          <p:cNvSpPr/>
          <p:nvPr/>
        </p:nvSpPr>
        <p:spPr>
          <a:xfrm>
            <a:off x="796320" y="635040"/>
            <a:ext cx="832788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r>
              <a:rPr lang="ja-JP" sz="1400" b="0" u="none" strike="noStrike">
                <a:solidFill>
                  <a:srgbClr val="343434"/>
                </a:solidFill>
                <a:effectLst/>
                <a:uFillTx/>
                <a:latin typeface="メイリオ"/>
                <a:ea typeface="メイリオ"/>
              </a:rPr>
              <a:t>利用年齢層により変動はするものの、</a:t>
            </a:r>
            <a:r>
              <a:rPr lang="en-US" sz="1400" b="0" u="none" strike="noStrike">
                <a:solidFill>
                  <a:srgbClr val="343434"/>
                </a:solidFill>
                <a:effectLst/>
                <a:uFillTx/>
                <a:latin typeface="メイリオ"/>
                <a:ea typeface="メイリオ"/>
              </a:rPr>
              <a:t>10-40</a:t>
            </a:r>
            <a:r>
              <a:rPr lang="ja-JP" sz="1400" b="0" u="none" strike="noStrike">
                <a:solidFill>
                  <a:srgbClr val="343434"/>
                </a:solidFill>
                <a:effectLst/>
                <a:uFillTx/>
                <a:latin typeface="メイリオ"/>
                <a:ea typeface="メイリオ"/>
              </a:rPr>
              <a:t>代を中心に電話、メールを忌避する動きが強まっている。</a:t>
            </a:r>
            <a:endParaRPr lang="en-US" sz="1400" b="0" u="none" strike="noStrike">
              <a:solidFill>
                <a:srgbClr val="000000"/>
              </a:solidFill>
              <a:effectLst/>
              <a:uFillTx/>
              <a:latin typeface="Arial"/>
            </a:endParaRPr>
          </a:p>
          <a:p>
            <a:pPr algn="ctr" defTabSz="914400">
              <a:lnSpc>
                <a:spcPts val="2455"/>
              </a:lnSpc>
            </a:pPr>
            <a:r>
              <a:rPr lang="ja-JP" sz="1400" b="1" u="none" strike="noStrike">
                <a:solidFill>
                  <a:srgbClr val="343434"/>
                </a:solidFill>
                <a:effectLst/>
                <a:uFillTx/>
                <a:latin typeface="メイリオ"/>
                <a:ea typeface="メイリオ"/>
              </a:rPr>
              <a:t>既存ユーザー以外の年齢層の獲得にあたって、利用率の高い</a:t>
            </a:r>
            <a:r>
              <a:rPr lang="en-US" sz="1400" b="1" u="none" strike="noStrike">
                <a:solidFill>
                  <a:srgbClr val="343434"/>
                </a:solidFill>
                <a:effectLst/>
                <a:uFillTx/>
                <a:latin typeface="メイリオ"/>
                <a:ea typeface="メイリオ"/>
              </a:rPr>
              <a:t>LINEOA</a:t>
            </a:r>
            <a:r>
              <a:rPr lang="ja-JP" sz="1400" b="1" u="none" strike="noStrike">
                <a:solidFill>
                  <a:srgbClr val="343434"/>
                </a:solidFill>
                <a:effectLst/>
                <a:uFillTx/>
                <a:latin typeface="メイリオ"/>
                <a:ea typeface="メイリオ"/>
              </a:rPr>
              <a:t>施策が非常に重要と想定</a:t>
            </a:r>
            <a:r>
              <a:rPr lang="ja-JP" sz="1400" b="0" u="none" strike="noStrike">
                <a:solidFill>
                  <a:srgbClr val="343434"/>
                </a:solidFill>
                <a:effectLst/>
                <a:uFillTx/>
                <a:latin typeface="メイリオ"/>
                <a:ea typeface="メイリオ"/>
              </a:rPr>
              <a:t>される。</a:t>
            </a:r>
            <a:endParaRPr lang="en-US" sz="1400" b="0" u="none" strike="noStrike">
              <a:solidFill>
                <a:srgbClr val="000000"/>
              </a:solidFill>
              <a:effectLst/>
              <a:uFillTx/>
              <a:latin typeface="Arial"/>
            </a:endParaRPr>
          </a:p>
        </p:txBody>
      </p:sp>
      <p:cxnSp>
        <p:nvCxnSpPr>
          <p:cNvPr id="873" name="直線コネクタ 4"/>
          <p:cNvCxnSpPr/>
          <p:nvPr/>
        </p:nvCxnSpPr>
        <p:spPr>
          <a:xfrm>
            <a:off x="0" y="1390320"/>
            <a:ext cx="9906120" cy="360"/>
          </a:xfrm>
          <a:prstGeom prst="straightConnector1">
            <a:avLst/>
          </a:prstGeom>
          <a:ln w="19050">
            <a:solidFill>
              <a:schemeClr val="lt1">
                <a:lumMod val="85000"/>
                <a:alpha val="60000"/>
              </a:schemeClr>
            </a:solidFill>
            <a:round/>
          </a:ln>
        </p:spPr>
      </p:cxnSp>
      <p:sp>
        <p:nvSpPr>
          <p:cNvPr id="874" name="Google Shape;156;p7"/>
          <p:cNvSpPr/>
          <p:nvPr/>
        </p:nvSpPr>
        <p:spPr>
          <a:xfrm>
            <a:off x="549000" y="138240"/>
            <a:ext cx="6514560" cy="338040"/>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graphicFrame>
        <p:nvGraphicFramePr>
          <p:cNvPr id="875" name="表 49"/>
          <p:cNvGraphicFramePr/>
          <p:nvPr/>
        </p:nvGraphicFramePr>
        <p:xfrm>
          <a:off x="367560" y="1662840"/>
          <a:ext cx="9167400" cy="4493880"/>
        </p:xfrm>
        <a:graphic>
          <a:graphicData uri="http://schemas.openxmlformats.org/drawingml/2006/table">
            <a:tbl>
              <a:tblPr/>
              <a:tblGrid>
                <a:gridCol w="1833480">
                  <a:extLst>
                    <a:ext uri="{9D8B030D-6E8A-4147-A177-3AD203B41FA5}">
                      <a16:colId xmlns:a16="http://schemas.microsoft.com/office/drawing/2014/main" val="20000"/>
                    </a:ext>
                  </a:extLst>
                </a:gridCol>
                <a:gridCol w="1833480">
                  <a:extLst>
                    <a:ext uri="{9D8B030D-6E8A-4147-A177-3AD203B41FA5}">
                      <a16:colId xmlns:a16="http://schemas.microsoft.com/office/drawing/2014/main" val="20001"/>
                    </a:ext>
                  </a:extLst>
                </a:gridCol>
                <a:gridCol w="1833480">
                  <a:extLst>
                    <a:ext uri="{9D8B030D-6E8A-4147-A177-3AD203B41FA5}">
                      <a16:colId xmlns:a16="http://schemas.microsoft.com/office/drawing/2014/main" val="20002"/>
                    </a:ext>
                  </a:extLst>
                </a:gridCol>
                <a:gridCol w="1833480">
                  <a:extLst>
                    <a:ext uri="{9D8B030D-6E8A-4147-A177-3AD203B41FA5}">
                      <a16:colId xmlns:a16="http://schemas.microsoft.com/office/drawing/2014/main" val="20003"/>
                    </a:ext>
                  </a:extLst>
                </a:gridCol>
                <a:gridCol w="1833480">
                  <a:extLst>
                    <a:ext uri="{9D8B030D-6E8A-4147-A177-3AD203B41FA5}">
                      <a16:colId xmlns:a16="http://schemas.microsoft.com/office/drawing/2014/main" val="20004"/>
                    </a:ext>
                  </a:extLst>
                </a:gridCol>
              </a:tblGrid>
              <a:tr h="499320">
                <a:tc>
                  <a:txBody>
                    <a:bodyPr/>
                    <a:lstStyle/>
                    <a:p>
                      <a:pPr algn="ctr" defTabSz="914400">
                        <a:lnSpc>
                          <a:spcPct val="100000"/>
                        </a:lnSpc>
                      </a:pPr>
                      <a:r>
                        <a:rPr lang="ja-JP" sz="1050" b="1" u="none" strike="noStrike">
                          <a:solidFill>
                            <a:srgbClr val="000000"/>
                          </a:solidFill>
                          <a:effectLst/>
                          <a:uFillTx/>
                          <a:latin typeface="メイリオ"/>
                          <a:ea typeface="メイリオ"/>
                        </a:rPr>
                        <a:t>年齢層</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LINE</a:t>
                      </a:r>
                      <a:r>
                        <a:rPr lang="ja-JP" sz="1000" b="0" u="none" strike="noStrike">
                          <a:solidFill>
                            <a:srgbClr val="000000"/>
                          </a:solidFill>
                          <a:effectLst/>
                          <a:uFillTx/>
                          <a:latin typeface="メイリオ"/>
                          <a:ea typeface="メイリオ"/>
                        </a:rPr>
                        <a:t>・チャット系</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メール・メルマガ</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電話</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0" u="none" strike="noStrike">
                          <a:solidFill>
                            <a:srgbClr val="000000"/>
                          </a:solidFill>
                          <a:effectLst/>
                          <a:uFillTx/>
                          <a:latin typeface="メイリオ"/>
                          <a:ea typeface="メイリオ"/>
                        </a:rPr>
                        <a:t>主要な特徴・</a:t>
                      </a:r>
                      <a:r>
                        <a:rPr lang="en-US" sz="1000" b="0" u="none" strike="noStrike">
                          <a:solidFill>
                            <a:srgbClr val="000000"/>
                          </a:solidFill>
                          <a:effectLst/>
                          <a:uFillTx/>
                          <a:latin typeface="メイリオ"/>
                          <a:ea typeface="メイリオ"/>
                        </a:rPr>
                        <a:t>SNS</a:t>
                      </a:r>
                      <a:endParaRPr lang="en-US" sz="1000" b="0" u="none" strike="noStrike">
                        <a:solidFill>
                          <a:srgbClr val="000000"/>
                        </a:solidFill>
                        <a:effectLst/>
                        <a:uFillTx/>
                        <a:latin typeface="Arial"/>
                      </a:endParaRPr>
                    </a:p>
                    <a:p>
                      <a:pPr algn="ctr" defTabSz="914400">
                        <a:lnSpc>
                          <a:spcPct val="100000"/>
                        </a:lnSpc>
                      </a:pP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extLst>
                  <a:ext uri="{0D108BD9-81ED-4DB2-BD59-A6C34878D82A}">
                    <a16:rowId xmlns:a16="http://schemas.microsoft.com/office/drawing/2014/main" val="10000"/>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10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20</a:t>
                      </a:r>
                      <a:r>
                        <a:rPr lang="ja-JP" sz="1050" b="1" u="none" strike="noStrike">
                          <a:solidFill>
                            <a:srgbClr val="000000"/>
                          </a:solidFill>
                          <a:effectLst/>
                          <a:uFillTx/>
                          <a:latin typeface="メイリオ"/>
                          <a:ea typeface="メイリオ"/>
                        </a:rPr>
                        <a:t>代　</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利用率：極めて低</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Tiktok YouTube</a:t>
                      </a:r>
                      <a:r>
                        <a:rPr lang="ja-JP" sz="800" b="0" u="none" strike="noStrike">
                          <a:solidFill>
                            <a:srgbClr val="000000"/>
                          </a:solidFill>
                          <a:effectLst/>
                          <a:uFillTx/>
                          <a:latin typeface="メイリオ"/>
                          <a:ea typeface="メイリオ"/>
                        </a:rPr>
                        <a:t>が情報収集の起点。</a:t>
                      </a:r>
                      <a:br>
                        <a:rPr sz="800"/>
                      </a:br>
                      <a:r>
                        <a:rPr lang="en-US" sz="800" b="0" u="none" strike="noStrike">
                          <a:solidFill>
                            <a:srgbClr val="000000"/>
                          </a:solidFill>
                          <a:effectLst/>
                          <a:uFillTx/>
                          <a:latin typeface="メイリオ"/>
                          <a:ea typeface="メイリオ"/>
                        </a:rPr>
                        <a:t>Instagram</a:t>
                      </a:r>
                      <a:r>
                        <a:rPr lang="ja-JP" sz="800" b="0" u="none" strike="noStrike">
                          <a:solidFill>
                            <a:srgbClr val="000000"/>
                          </a:solidFill>
                          <a:effectLst/>
                          <a:uFillTx/>
                          <a:latin typeface="メイリオ"/>
                          <a:ea typeface="メイリオ"/>
                        </a:rPr>
                        <a:t>、</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の</a:t>
                      </a:r>
                      <a:r>
                        <a:rPr lang="en-US" sz="800" b="0" u="none" strike="noStrike">
                          <a:solidFill>
                            <a:srgbClr val="000000"/>
                          </a:solidFill>
                          <a:effectLst/>
                          <a:uFillTx/>
                          <a:latin typeface="メイリオ"/>
                          <a:ea typeface="メイリオ"/>
                        </a:rPr>
                        <a:t>DM</a:t>
                      </a:r>
                      <a:r>
                        <a:rPr lang="ja-JP" sz="800" b="0" u="none" strike="noStrike">
                          <a:solidFill>
                            <a:srgbClr val="000000"/>
                          </a:solidFill>
                          <a:effectLst/>
                          <a:uFillTx/>
                          <a:latin typeface="メイリオ"/>
                          <a:ea typeface="メイリオ"/>
                        </a:rPr>
                        <a:t>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連絡網として活用。</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1"/>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日常連絡の絶対的インフラ。</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企業や公式からの連絡は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読まれない傾向。</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「電話恐怖症」を持つ人も。</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2"/>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30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40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90%</a:t>
                      </a:r>
                      <a:r>
                        <a:rPr lang="ja-JP" sz="1000" b="1" u="none" strike="noStrike">
                          <a:solidFill>
                            <a:srgbClr val="000000"/>
                          </a:solidFill>
                          <a:effectLst/>
                          <a:uFillTx/>
                          <a:latin typeface="メイリオ"/>
                          <a:ea typeface="メイリオ"/>
                        </a:rPr>
                        <a:t>以上</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利用率：中〜高</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利用率：中</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Facebook</a:t>
                      </a:r>
                      <a:r>
                        <a:rPr lang="ja-JP" sz="800" b="0" u="none" strike="noStrike">
                          <a:solidFill>
                            <a:srgbClr val="000000"/>
                          </a:solidFill>
                          <a:effectLst/>
                          <a:uFillTx/>
                          <a:latin typeface="メイリオ"/>
                          <a:ea typeface="メイリオ"/>
                        </a:rPr>
                        <a:t>や</a:t>
                      </a:r>
                      <a:r>
                        <a:rPr lang="en-US" sz="800" b="0" u="none" strike="noStrike">
                          <a:solidFill>
                            <a:srgbClr val="000000"/>
                          </a:solidFill>
                          <a:effectLst/>
                          <a:uFillTx/>
                          <a:latin typeface="メイリオ"/>
                          <a:ea typeface="メイリオ"/>
                        </a:rPr>
                        <a:t>X</a:t>
                      </a:r>
                      <a:r>
                        <a:rPr lang="ja-JP" sz="800" b="0" u="none" strike="noStrike">
                          <a:solidFill>
                            <a:srgbClr val="000000"/>
                          </a:solidFill>
                          <a:effectLst/>
                          <a:uFillTx/>
                          <a:latin typeface="メイリオ"/>
                          <a:ea typeface="メイリオ"/>
                        </a:rPr>
                        <a:t>での情報収集が活発。</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3"/>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プライベートの連絡網。</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仕事や、メルマガでの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セールス情報に抵抗なし。</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プライベートでは減少傾向も</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仕事では必須。</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4"/>
                  </a:ext>
                </a:extLst>
              </a:tr>
              <a:tr h="499320">
                <a:tc rowSpan="2">
                  <a:txBody>
                    <a:bodyPr/>
                    <a:lstStyle/>
                    <a:p>
                      <a:pPr defTabSz="914400">
                        <a:lnSpc>
                          <a:spcPct val="100000"/>
                        </a:lnSpc>
                      </a:pPr>
                      <a:r>
                        <a:rPr lang="ja-JP" sz="1050" b="1" u="none" strike="noStrike">
                          <a:solidFill>
                            <a:srgbClr val="000000"/>
                          </a:solidFill>
                          <a:effectLst/>
                          <a:uFillTx/>
                          <a:latin typeface="メイリオ"/>
                          <a:ea typeface="メイリオ"/>
                        </a:rPr>
                        <a:t>　　　</a:t>
                      </a:r>
                      <a:r>
                        <a:rPr lang="en-US" sz="1050" b="1" u="none" strike="noStrike">
                          <a:solidFill>
                            <a:srgbClr val="000000"/>
                          </a:solidFill>
                          <a:effectLst/>
                          <a:uFillTx/>
                          <a:latin typeface="メイリオ"/>
                          <a:ea typeface="メイリオ"/>
                        </a:rPr>
                        <a:t>50</a:t>
                      </a:r>
                      <a:r>
                        <a:rPr lang="ja-JP" sz="1050" b="1" u="none" strike="noStrike">
                          <a:solidFill>
                            <a:srgbClr val="000000"/>
                          </a:solidFill>
                          <a:effectLst/>
                          <a:uFillTx/>
                          <a:latin typeface="メイリオ"/>
                          <a:ea typeface="メイリオ"/>
                        </a:rPr>
                        <a:t>代〜</a:t>
                      </a:r>
                      <a:r>
                        <a:rPr lang="en-US" sz="1050" b="1" u="none" strike="noStrike">
                          <a:solidFill>
                            <a:srgbClr val="000000"/>
                          </a:solidFill>
                          <a:effectLst/>
                          <a:uFillTx/>
                          <a:latin typeface="メイリオ"/>
                          <a:ea typeface="メイリオ"/>
                        </a:rPr>
                        <a:t>60</a:t>
                      </a:r>
                      <a:r>
                        <a:rPr lang="ja-JP" sz="1050" b="1" u="none" strike="noStrike">
                          <a:solidFill>
                            <a:srgbClr val="000000"/>
                          </a:solidFill>
                          <a:effectLst/>
                          <a:uFillTx/>
                          <a:latin typeface="メイリオ"/>
                          <a:ea typeface="メイリオ"/>
                        </a:rPr>
                        <a:t>代</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80%</a:t>
                      </a:r>
                      <a:r>
                        <a:rPr lang="ja-JP" sz="1000" b="1" u="none" strike="noStrike">
                          <a:solidFill>
                            <a:srgbClr val="000000"/>
                          </a:solidFill>
                          <a:effectLst/>
                          <a:uFillTx/>
                          <a:latin typeface="メイリオ"/>
                          <a:ea typeface="メイリオ"/>
                        </a:rPr>
                        <a:t>〜</a:t>
                      </a:r>
                      <a:r>
                        <a:rPr lang="en-US" sz="1000" b="1" u="none" strike="noStrike">
                          <a:solidFill>
                            <a:srgbClr val="000000"/>
                          </a:solidFill>
                          <a:effectLst/>
                          <a:uFillTx/>
                          <a:latin typeface="メイリオ"/>
                          <a:ea typeface="メイリオ"/>
                        </a:rPr>
                        <a:t>90%</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en-US" sz="800" b="0" u="none" strike="noStrike">
                          <a:solidFill>
                            <a:srgbClr val="000000"/>
                          </a:solidFill>
                          <a:effectLst/>
                          <a:uFillTx/>
                          <a:latin typeface="メイリオ"/>
                          <a:ea typeface="メイリオ"/>
                        </a:rPr>
                        <a:t>YouTube</a:t>
                      </a:r>
                      <a:r>
                        <a:rPr lang="ja-JP" sz="800" b="0" u="none" strike="noStrike">
                          <a:solidFill>
                            <a:srgbClr val="000000"/>
                          </a:solidFill>
                          <a:effectLst/>
                          <a:uFillTx/>
                          <a:latin typeface="メイリオ"/>
                          <a:ea typeface="メイリオ"/>
                        </a:rPr>
                        <a:t>での趣味動画視聴も普及。</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5"/>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家族や友人との連絡で定着。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最も好まれる企業からの</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情報受取ツール。</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予約や急ぎの用件で信頼性が高い。</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6"/>
                  </a:ext>
                </a:extLst>
              </a:tr>
              <a:tr h="499320">
                <a:tc rowSpan="2">
                  <a:txBody>
                    <a:bodyPr/>
                    <a:lstStyle/>
                    <a:p>
                      <a:pPr algn="ctr" defTabSz="914400">
                        <a:lnSpc>
                          <a:spcPct val="100000"/>
                        </a:lnSpc>
                      </a:pPr>
                      <a:r>
                        <a:rPr lang="en-US" sz="1050" b="1" u="none" strike="noStrike">
                          <a:solidFill>
                            <a:srgbClr val="000000"/>
                          </a:solidFill>
                          <a:effectLst/>
                          <a:uFillTx/>
                          <a:latin typeface="メイリオ"/>
                          <a:ea typeface="メイリオ"/>
                        </a:rPr>
                        <a:t>70</a:t>
                      </a:r>
                      <a:r>
                        <a:rPr lang="ja-JP" sz="1050" b="1" u="none" strike="noStrike">
                          <a:solidFill>
                            <a:srgbClr val="000000"/>
                          </a:solidFill>
                          <a:effectLst/>
                          <a:uFillTx/>
                          <a:latin typeface="メイリオ"/>
                          <a:ea typeface="メイリオ"/>
                        </a:rPr>
                        <a:t>代以上</a:t>
                      </a:r>
                      <a:endParaRPr lang="en-US" sz="105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DAE9F8"/>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a:t>
                      </a:r>
                      <a:r>
                        <a:rPr lang="en-US" sz="1000" b="1" u="none" strike="noStrike">
                          <a:solidFill>
                            <a:srgbClr val="000000"/>
                          </a:solidFill>
                          <a:effectLst/>
                          <a:uFillTx/>
                          <a:latin typeface="メイリオ"/>
                          <a:ea typeface="メイリオ"/>
                        </a:rPr>
                        <a:t>70%</a:t>
                      </a:r>
                      <a:r>
                        <a:rPr lang="ja-JP" sz="1000" b="1" u="none" strike="noStrike">
                          <a:solidFill>
                            <a:srgbClr val="000000"/>
                          </a:solidFill>
                          <a:effectLst/>
                          <a:uFillTx/>
                          <a:latin typeface="メイリオ"/>
                          <a:ea typeface="メイリオ"/>
                        </a:rPr>
                        <a:t>前後</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rgbClr val="FFFF99"/>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利用率：低い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a:txBody>
                    <a:bodyPr/>
                    <a:lstStyle/>
                    <a:p>
                      <a:pPr algn="ctr" defTabSz="914400">
                        <a:lnSpc>
                          <a:spcPct val="100000"/>
                        </a:lnSpc>
                      </a:pPr>
                      <a:r>
                        <a:rPr lang="ja-JP" sz="1000" b="1" u="none" strike="noStrike">
                          <a:solidFill>
                            <a:srgbClr val="000000"/>
                          </a:solidFill>
                          <a:effectLst/>
                          <a:uFillTx/>
                          <a:latin typeface="メイリオ"/>
                          <a:ea typeface="メイリオ"/>
                        </a:rPr>
                        <a:t>利用率：最も高い</a:t>
                      </a:r>
                      <a:endParaRPr lang="en-US" sz="10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noFill/>
                      <a:prstDash val="solid"/>
                    </a:lnB>
                    <a:solidFill>
                      <a:schemeClr val="lt1"/>
                    </a:solidFill>
                  </a:tcPr>
                </a:tc>
                <a:tc rowSpan="2">
                  <a:txBody>
                    <a:bodyPr/>
                    <a:lstStyle/>
                    <a:p>
                      <a:pPr algn="ctr" defTabSz="914400">
                        <a:lnSpc>
                          <a:spcPct val="100000"/>
                        </a:lnSpc>
                      </a:pPr>
                      <a:r>
                        <a:rPr lang="ja-JP" sz="800" b="0" u="none" strike="noStrike">
                          <a:solidFill>
                            <a:srgbClr val="000000"/>
                          </a:solidFill>
                          <a:effectLst/>
                          <a:uFillTx/>
                          <a:latin typeface="メイリオ"/>
                          <a:ea typeface="メイリオ"/>
                        </a:rPr>
                        <a:t>連絡手段としての電話が</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最優先される層。</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extLst>
                  <a:ext uri="{0D108BD9-81ED-4DB2-BD59-A6C34878D82A}">
                    <a16:rowId xmlns:a16="http://schemas.microsoft.com/office/drawing/2014/main" val="10007"/>
                  </a:ext>
                </a:extLst>
              </a:tr>
              <a:tr h="499320">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高齢者層にも普及が進む。</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rgbClr val="FFFF99"/>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操作に不慣れで到達率が下がる。</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a:txBody>
                    <a:bodyPr/>
                    <a:lstStyle/>
                    <a:p>
                      <a:pPr algn="ctr" defTabSz="914400">
                        <a:lnSpc>
                          <a:spcPct val="100000"/>
                        </a:lnSpc>
                      </a:pPr>
                      <a:r>
                        <a:rPr lang="ja-JP" sz="800" b="0" u="none" strike="noStrike">
                          <a:solidFill>
                            <a:srgbClr val="000000"/>
                          </a:solidFill>
                          <a:effectLst/>
                          <a:uFillTx/>
                          <a:latin typeface="メイリオ"/>
                          <a:ea typeface="メイリオ"/>
                        </a:rPr>
                        <a:t>重要な連絡や問い合わせは</a:t>
                      </a:r>
                      <a:endParaRPr lang="en-US" sz="800" b="0" u="none" strike="noStrike">
                        <a:solidFill>
                          <a:srgbClr val="000000"/>
                        </a:solidFill>
                        <a:effectLst/>
                        <a:uFillTx/>
                        <a:latin typeface="Arial"/>
                      </a:endParaRPr>
                    </a:p>
                    <a:p>
                      <a:pPr algn="ctr" defTabSz="914400">
                        <a:lnSpc>
                          <a:spcPct val="100000"/>
                        </a:lnSpc>
                      </a:pPr>
                      <a:r>
                        <a:rPr lang="ja-JP" sz="800" b="0" u="none" strike="noStrike">
                          <a:solidFill>
                            <a:srgbClr val="000000"/>
                          </a:solidFill>
                          <a:effectLst/>
                          <a:uFillTx/>
                          <a:latin typeface="メイリオ"/>
                          <a:ea typeface="メイリオ"/>
                        </a:rPr>
                        <a:t>電話がメイン。</a:t>
                      </a:r>
                      <a:endParaRPr lang="en-US" sz="800" b="0" u="none" strike="noStrike">
                        <a:solidFill>
                          <a:srgbClr val="000000"/>
                        </a:solidFill>
                        <a:effectLst/>
                        <a:uFillTx/>
                        <a:latin typeface="Arial"/>
                      </a:endParaRPr>
                    </a:p>
                  </a:txBody>
                  <a:tcPr marL="6480" marR="6480" anchor="ctr">
                    <a:lnL w="6480">
                      <a:solidFill>
                        <a:srgbClr val="000000"/>
                      </a:solidFill>
                      <a:prstDash val="solid"/>
                    </a:lnL>
                    <a:lnR w="6480">
                      <a:solidFill>
                        <a:srgbClr val="000000"/>
                      </a:solidFill>
                      <a:prstDash val="solid"/>
                    </a:lnR>
                    <a:lnT w="12240">
                      <a:noFill/>
                      <a:prstDash val="solid"/>
                    </a:lnT>
                    <a:lnB w="6480">
                      <a:solidFill>
                        <a:srgbClr val="000000"/>
                      </a:solidFill>
                      <a:prstDash val="solid"/>
                    </a:lnB>
                    <a:solidFill>
                      <a:schemeClr val="lt1"/>
                    </a:solidFill>
                  </a:tcPr>
                </a:tc>
                <a:tc vMerge="1">
                  <a:txBody>
                    <a:bodyPr/>
                    <a:lstStyle/>
                    <a:p>
                      <a:endParaRPr lang="en-US" sz="1800" b="0" u="none" strike="noStrike">
                        <a:solidFill>
                          <a:srgbClr val="000000"/>
                        </a:solidFill>
                        <a:effectLst/>
                        <a:uFillTx/>
                        <a:latin typeface="Arial"/>
                      </a:endParaRPr>
                    </a:p>
                  </a:txBody>
                  <a:tcPr marL="90000" marR="90000">
                    <a:lnL>
                      <a:noFill/>
                    </a:lnL>
                    <a:lnR>
                      <a:noFill/>
                    </a:lnR>
                    <a:lnT>
                      <a:noFill/>
                    </a:lnT>
                    <a:lnB>
                      <a:noFill/>
                    </a:lnB>
                    <a:solidFill>
                      <a:srgbClr val="729FC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a:solidFill>
                  <a:srgbClr val="002060"/>
                </a:solidFill>
                <a:effectLst/>
                <a:uFillTx/>
                <a:latin typeface="Meiryo"/>
                <a:ea typeface="Meiryo"/>
              </a:rPr>
              <a:t>LINE</a:t>
            </a:r>
            <a:r>
              <a:rPr lang="ja-JP" sz="1600" b="1" u="none" strike="noStrike">
                <a:solidFill>
                  <a:srgbClr val="002060"/>
                </a:solidFill>
                <a:effectLst/>
                <a:uFillTx/>
                <a:latin typeface="Meiryo"/>
                <a:ea typeface="Meiryo"/>
              </a:rPr>
              <a:t>公式アカウントを検討する背景</a:t>
            </a:r>
            <a:endParaRPr lang="en-US" sz="1600" b="0" u="none" strike="noStrike">
              <a:solidFill>
                <a:srgbClr val="000000"/>
              </a:solidFill>
              <a:effectLst/>
              <a:uFillTx/>
              <a:latin typeface="Arial"/>
            </a:endParaRPr>
          </a:p>
        </p:txBody>
      </p:sp>
      <p:sp>
        <p:nvSpPr>
          <p:cNvPr id="877" name="Google Shape;752;p28"/>
          <p:cNvSpPr/>
          <p:nvPr/>
        </p:nvSpPr>
        <p:spPr>
          <a:xfrm>
            <a:off x="711360" y="96948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LINE</a:t>
            </a:r>
            <a:r>
              <a:rPr lang="ja-JP" sz="1400" b="0" u="none" strike="noStrike">
                <a:solidFill>
                  <a:schemeClr val="dk1"/>
                </a:solidFill>
                <a:effectLst/>
                <a:uFillTx/>
                <a:latin typeface="メイリオ"/>
                <a:ea typeface="メイリオ"/>
              </a:rPr>
              <a:t>公式アカウントの施策内（開封率、クリック率、</a:t>
            </a:r>
            <a:r>
              <a:rPr lang="en-US" sz="1400" b="0" u="none" strike="noStrike">
                <a:solidFill>
                  <a:schemeClr val="dk1"/>
                </a:solidFill>
                <a:effectLst/>
                <a:uFillTx/>
                <a:latin typeface="メイリオ"/>
                <a:ea typeface="メイリオ"/>
              </a:rPr>
              <a:t>CV</a:t>
            </a:r>
            <a:r>
              <a:rPr lang="ja-JP" sz="1400" b="0" u="none" strike="noStrike">
                <a:solidFill>
                  <a:schemeClr val="dk1"/>
                </a:solidFill>
                <a:effectLst/>
                <a:uFillTx/>
                <a:latin typeface="メイリオ"/>
                <a:ea typeface="メイリオ"/>
              </a:rPr>
              <a:t>率）で高い水準の施策をご提供。</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初期設計のみのご依頼でも、大きく数値改善できるポイントの導入支援が可能です。</a:t>
            </a:r>
            <a:endParaRPr lang="en-US" sz="1400" b="0" u="none" strike="noStrike">
              <a:solidFill>
                <a:srgbClr val="000000"/>
              </a:solidFill>
              <a:effectLst/>
              <a:uFillTx/>
              <a:latin typeface="Arial"/>
            </a:endParaRPr>
          </a:p>
        </p:txBody>
      </p:sp>
      <p:sp>
        <p:nvSpPr>
          <p:cNvPr id="878" name="正方形/長方形 4"/>
          <p:cNvSpPr/>
          <p:nvPr/>
        </p:nvSpPr>
        <p:spPr>
          <a:xfrm>
            <a:off x="7833600" y="2844720"/>
            <a:ext cx="1438200" cy="267840"/>
          </a:xfrm>
          <a:prstGeom prst="rect">
            <a:avLst/>
          </a:prstGeom>
          <a:solidFill>
            <a:srgbClr val="FF000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endParaRPr lang="en-US" sz="1050" b="0" u="none" strike="noStrike">
              <a:solidFill>
                <a:srgbClr val="FFFFFF"/>
              </a:solidFill>
              <a:effectLst/>
              <a:uFillTx/>
              <a:latin typeface="Arial"/>
            </a:endParaRPr>
          </a:p>
        </p:txBody>
      </p:sp>
      <p:sp>
        <p:nvSpPr>
          <p:cNvPr id="879" name="正方形/長方形 5"/>
          <p:cNvSpPr/>
          <p:nvPr/>
        </p:nvSpPr>
        <p:spPr>
          <a:xfrm>
            <a:off x="7833600" y="2532960"/>
            <a:ext cx="1438200" cy="267840"/>
          </a:xfrm>
          <a:prstGeom prst="rect">
            <a:avLst/>
          </a:prstGeom>
          <a:solidFill>
            <a:schemeClr val="bg1">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営業トスアップ</a:t>
            </a:r>
            <a:endParaRPr lang="en-US" sz="1050" b="0" u="none" strike="noStrike">
              <a:solidFill>
                <a:srgbClr val="000000"/>
              </a:solidFill>
              <a:effectLst/>
              <a:uFillTx/>
              <a:latin typeface="Arial"/>
            </a:endParaRPr>
          </a:p>
        </p:txBody>
      </p:sp>
      <p:cxnSp>
        <p:nvCxnSpPr>
          <p:cNvPr id="880" name="直線矢印コネクタ 15"/>
          <p:cNvCxnSpPr/>
          <p:nvPr/>
        </p:nvCxnSpPr>
        <p:spPr>
          <a:xfrm>
            <a:off x="387720" y="2801160"/>
            <a:ext cx="7251120" cy="360"/>
          </a:xfrm>
          <a:prstGeom prst="straightConnector1">
            <a:avLst/>
          </a:prstGeom>
          <a:ln w="28575">
            <a:solidFill>
              <a:srgbClr val="1F497D"/>
            </a:solidFill>
            <a:prstDash val="sysDash"/>
            <a:round/>
            <a:tailEnd type="triangle" w="med" len="med"/>
          </a:ln>
        </p:spPr>
      </p:cxnSp>
      <p:sp>
        <p:nvSpPr>
          <p:cNvPr id="881" name="正方形/長方形 20"/>
          <p:cNvSpPr/>
          <p:nvPr/>
        </p:nvSpPr>
        <p:spPr>
          <a:xfrm>
            <a:off x="7663320" y="2057760"/>
            <a:ext cx="1819800" cy="1127880"/>
          </a:xfrm>
          <a:prstGeom prst="rect">
            <a:avLst/>
          </a:prstGeom>
          <a:no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2" name="テキスト ボックス 22"/>
          <p:cNvSpPr/>
          <p:nvPr/>
        </p:nvSpPr>
        <p:spPr>
          <a:xfrm>
            <a:off x="8033040" y="2122560"/>
            <a:ext cx="108000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FF0000"/>
                </a:solidFill>
                <a:effectLst/>
                <a:uFillTx/>
                <a:latin typeface="メイリオ"/>
                <a:ea typeface="メイリオ"/>
              </a:rPr>
              <a:t>（成果地点）</a:t>
            </a:r>
            <a:endParaRPr lang="en-US" sz="1100" b="0" u="none" strike="noStrike">
              <a:solidFill>
                <a:srgbClr val="000000"/>
              </a:solidFill>
              <a:effectLst/>
              <a:uFillTx/>
              <a:latin typeface="Arial"/>
            </a:endParaRPr>
          </a:p>
        </p:txBody>
      </p:sp>
      <p:sp>
        <p:nvSpPr>
          <p:cNvPr id="883" name="正方形/長方形 45"/>
          <p:cNvSpPr/>
          <p:nvPr/>
        </p:nvSpPr>
        <p:spPr>
          <a:xfrm>
            <a:off x="2496240" y="2062800"/>
            <a:ext cx="48877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84" name="正方形/長方形 46"/>
          <p:cNvSpPr/>
          <p:nvPr/>
        </p:nvSpPr>
        <p:spPr>
          <a:xfrm>
            <a:off x="27277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5" name="正方形/長方形 47"/>
          <p:cNvSpPr/>
          <p:nvPr/>
        </p:nvSpPr>
        <p:spPr>
          <a:xfrm>
            <a:off x="42361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86" name="正方形/長方形 48"/>
          <p:cNvSpPr/>
          <p:nvPr/>
        </p:nvSpPr>
        <p:spPr>
          <a:xfrm>
            <a:off x="5744520" y="2844000"/>
            <a:ext cx="1438200" cy="26784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87" name="正方形/長方形 49"/>
          <p:cNvSpPr/>
          <p:nvPr/>
        </p:nvSpPr>
        <p:spPr>
          <a:xfrm>
            <a:off x="2635560" y="2541960"/>
            <a:ext cx="4617360" cy="26784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通常メッセージ（企画投稿）</a:t>
            </a:r>
            <a:endParaRPr lang="en-US" sz="1050" b="0" u="none" strike="noStrike">
              <a:solidFill>
                <a:srgbClr val="FFFFFF"/>
              </a:solidFill>
              <a:effectLst/>
              <a:uFillTx/>
              <a:latin typeface="Arial"/>
            </a:endParaRPr>
          </a:p>
        </p:txBody>
      </p:sp>
      <p:sp>
        <p:nvSpPr>
          <p:cNvPr id="888" name="正方形/長方形 50"/>
          <p:cNvSpPr/>
          <p:nvPr/>
        </p:nvSpPr>
        <p:spPr>
          <a:xfrm>
            <a:off x="27277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89" name="正方形/長方形 51"/>
          <p:cNvSpPr/>
          <p:nvPr/>
        </p:nvSpPr>
        <p:spPr>
          <a:xfrm>
            <a:off x="42361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0" name="正方形/長方形 52"/>
          <p:cNvSpPr/>
          <p:nvPr/>
        </p:nvSpPr>
        <p:spPr>
          <a:xfrm>
            <a:off x="5744520" y="3513600"/>
            <a:ext cx="1438200" cy="267840"/>
          </a:xfrm>
          <a:prstGeom prst="rect">
            <a:avLst/>
          </a:prstGeom>
          <a:solidFill>
            <a:schemeClr val="tx1">
              <a:lumMod val="75000"/>
              <a:lumOff val="2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1" name="正方形/長方形 53"/>
          <p:cNvSpPr/>
          <p:nvPr/>
        </p:nvSpPr>
        <p:spPr>
          <a:xfrm>
            <a:off x="2635560" y="3211200"/>
            <a:ext cx="4617360" cy="267840"/>
          </a:xfrm>
          <a:prstGeom prst="rect">
            <a:avLst/>
          </a:prstGeom>
          <a:solidFill>
            <a:schemeClr val="tx2">
              <a:lumMod val="7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通常メッセージ（ステップ配信投稿）</a:t>
            </a:r>
            <a:endParaRPr lang="en-US" sz="1050" b="0" u="none" strike="noStrike">
              <a:solidFill>
                <a:srgbClr val="FFFFFF"/>
              </a:solidFill>
              <a:effectLst/>
              <a:uFillTx/>
              <a:latin typeface="Arial"/>
            </a:endParaRPr>
          </a:p>
        </p:txBody>
      </p:sp>
      <p:sp>
        <p:nvSpPr>
          <p:cNvPr id="892" name="正方形/長方形 54"/>
          <p:cNvSpPr/>
          <p:nvPr/>
        </p:nvSpPr>
        <p:spPr>
          <a:xfrm>
            <a:off x="27277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FFFFFF"/>
              </a:solidFill>
              <a:effectLst/>
              <a:uFillTx/>
              <a:latin typeface="Arial"/>
            </a:endParaRPr>
          </a:p>
        </p:txBody>
      </p:sp>
      <p:sp>
        <p:nvSpPr>
          <p:cNvPr id="893" name="正方形/長方形 55"/>
          <p:cNvSpPr/>
          <p:nvPr/>
        </p:nvSpPr>
        <p:spPr>
          <a:xfrm>
            <a:off x="42361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FFFFFF"/>
              </a:solidFill>
              <a:effectLst/>
              <a:uFillTx/>
              <a:latin typeface="Arial"/>
            </a:endParaRPr>
          </a:p>
        </p:txBody>
      </p:sp>
      <p:sp>
        <p:nvSpPr>
          <p:cNvPr id="894" name="正方形/長方形 56"/>
          <p:cNvSpPr/>
          <p:nvPr/>
        </p:nvSpPr>
        <p:spPr>
          <a:xfrm>
            <a:off x="5744520" y="4167720"/>
            <a:ext cx="1438200" cy="267840"/>
          </a:xfrm>
          <a:prstGeom prst="rect">
            <a:avLst/>
          </a:prstGeom>
          <a:solidFill>
            <a:schemeClr val="tx1">
              <a:lumMod val="65000"/>
              <a:lumOff val="3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FFFFFF"/>
              </a:solidFill>
              <a:effectLst/>
              <a:uFillTx/>
              <a:latin typeface="Arial"/>
            </a:endParaRPr>
          </a:p>
        </p:txBody>
      </p:sp>
      <p:sp>
        <p:nvSpPr>
          <p:cNvPr id="895" name="正方形/長方形 57"/>
          <p:cNvSpPr/>
          <p:nvPr/>
        </p:nvSpPr>
        <p:spPr>
          <a:xfrm>
            <a:off x="2635560" y="3865320"/>
            <a:ext cx="4617360" cy="267840"/>
          </a:xfrm>
          <a:prstGeom prst="rect">
            <a:avLst/>
          </a:prstGeom>
          <a:solidFill>
            <a:schemeClr val="tx2"/>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その他指標（リッチメニュー、プロフ、挨拶メッセ）</a:t>
            </a:r>
            <a:endParaRPr lang="en-US" sz="1050" b="0" u="none" strike="noStrike">
              <a:solidFill>
                <a:srgbClr val="FFFFFF"/>
              </a:solidFill>
              <a:effectLst/>
              <a:uFillTx/>
              <a:latin typeface="Arial"/>
            </a:endParaRPr>
          </a:p>
        </p:txBody>
      </p:sp>
      <p:sp>
        <p:nvSpPr>
          <p:cNvPr id="896" name="テキスト ボックス 58"/>
          <p:cNvSpPr/>
          <p:nvPr/>
        </p:nvSpPr>
        <p:spPr>
          <a:xfrm>
            <a:off x="4152600" y="212652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chemeClr val="dk2"/>
                </a:solidFill>
                <a:effectLst/>
                <a:uFillTx/>
                <a:latin typeface="メイリオ"/>
                <a:ea typeface="メイリオ"/>
              </a:rPr>
              <a:t>（</a:t>
            </a:r>
            <a:r>
              <a:rPr lang="en-US" sz="1100" b="0" u="none" strike="noStrike">
                <a:solidFill>
                  <a:schemeClr val="dk2"/>
                </a:solidFill>
                <a:effectLst/>
                <a:uFillTx/>
                <a:latin typeface="メイリオ"/>
                <a:ea typeface="メイリオ"/>
              </a:rPr>
              <a:t>LINE</a:t>
            </a:r>
            <a:r>
              <a:rPr lang="ja-JP" sz="1100" b="0" u="none" strike="noStrike">
                <a:solidFill>
                  <a:schemeClr val="dk2"/>
                </a:solidFill>
                <a:effectLst/>
                <a:uFillTx/>
                <a:latin typeface="メイリオ"/>
                <a:ea typeface="メイリオ"/>
              </a:rPr>
              <a:t>施策内）</a:t>
            </a:r>
            <a:endParaRPr lang="en-US" sz="1100" b="0" u="none" strike="noStrike">
              <a:solidFill>
                <a:srgbClr val="000000"/>
              </a:solidFill>
              <a:effectLst/>
              <a:uFillTx/>
              <a:latin typeface="Arial"/>
            </a:endParaRPr>
          </a:p>
        </p:txBody>
      </p:sp>
      <p:sp>
        <p:nvSpPr>
          <p:cNvPr id="897" name="正方形/長方形 64"/>
          <p:cNvSpPr/>
          <p:nvPr/>
        </p:nvSpPr>
        <p:spPr>
          <a:xfrm>
            <a:off x="632160" y="2062800"/>
            <a:ext cx="1581120" cy="2483280"/>
          </a:xfrm>
          <a:prstGeom prst="rect">
            <a:avLst/>
          </a:prstGeom>
          <a:solidFill>
            <a:schemeClr val="bg1"/>
          </a:solidFill>
          <a:ln w="9525">
            <a:solidFill>
              <a:srgbClr val="000000"/>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898" name="正方形/長方形 65"/>
          <p:cNvSpPr/>
          <p:nvPr/>
        </p:nvSpPr>
        <p:spPr>
          <a:xfrm>
            <a:off x="703440" y="2666880"/>
            <a:ext cx="1438200" cy="267840"/>
          </a:xfrm>
          <a:prstGeom prst="rect">
            <a:avLst/>
          </a:prstGeom>
          <a:solidFill>
            <a:schemeClr val="tx1">
              <a:lumMod val="50000"/>
              <a:lumOff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友だち追加</a:t>
            </a:r>
            <a:endParaRPr lang="en-US" sz="1050" b="0" u="none" strike="noStrike">
              <a:solidFill>
                <a:srgbClr val="FFFFFF"/>
              </a:solidFill>
              <a:effectLst/>
              <a:uFillTx/>
              <a:latin typeface="Arial"/>
            </a:endParaRPr>
          </a:p>
        </p:txBody>
      </p:sp>
      <p:sp>
        <p:nvSpPr>
          <p:cNvPr id="899" name="テキスト ボックス 66"/>
          <p:cNvSpPr/>
          <p:nvPr/>
        </p:nvSpPr>
        <p:spPr>
          <a:xfrm>
            <a:off x="632160" y="3030840"/>
            <a:ext cx="158112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アクティブ数</a:t>
            </a:r>
            <a:endParaRPr lang="en-US" sz="1000" b="0" u="none" strike="noStrike">
              <a:solidFill>
                <a:srgbClr val="000000"/>
              </a:solidFill>
              <a:effectLst/>
              <a:uFillTx/>
              <a:latin typeface="Arial"/>
            </a:endParaRPr>
          </a:p>
          <a:p>
            <a:pPr algn="ctr" defTabSz="914400">
              <a:lnSpc>
                <a:spcPct val="100000"/>
              </a:lnSpc>
            </a:pPr>
            <a:r>
              <a:rPr lang="ja-JP" sz="800" b="0" u="none" strike="noStrike">
                <a:solidFill>
                  <a:schemeClr val="dk1"/>
                </a:solidFill>
                <a:effectLst/>
                <a:uFillTx/>
                <a:latin typeface="メイリオ"/>
                <a:ea typeface="メイリオ"/>
              </a:rPr>
              <a:t>（非ブロック率）</a:t>
            </a:r>
            <a:endParaRPr lang="en-US" sz="800" b="0" u="none" strike="noStrike">
              <a:solidFill>
                <a:srgbClr val="000000"/>
              </a:solidFill>
              <a:effectLst/>
              <a:uFillTx/>
              <a:latin typeface="Arial"/>
            </a:endParaRPr>
          </a:p>
        </p:txBody>
      </p:sp>
      <p:sp>
        <p:nvSpPr>
          <p:cNvPr id="900" name="テキスト ボックス 67"/>
          <p:cNvSpPr/>
          <p:nvPr/>
        </p:nvSpPr>
        <p:spPr>
          <a:xfrm>
            <a:off x="632160" y="3492360"/>
            <a:ext cx="1581120" cy="55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000" b="1" u="none" strike="noStrike">
                <a:solidFill>
                  <a:schemeClr val="dk1"/>
                </a:solidFill>
                <a:effectLst/>
                <a:uFillTx/>
                <a:latin typeface="メイリオ"/>
                <a:ea typeface="メイリオ"/>
              </a:rPr>
              <a:t>セグメント率</a:t>
            </a:r>
            <a:endParaRPr lang="en-US" sz="1000" b="0" u="none" strike="noStrike">
              <a:solidFill>
                <a:srgbClr val="000000"/>
              </a:solidFill>
              <a:effectLst/>
              <a:uFillTx/>
              <a:latin typeface="Arial"/>
            </a:endParaRPr>
          </a:p>
          <a:p>
            <a:pPr algn="ctr" defTabSz="914400">
              <a:lnSpc>
                <a:spcPct val="100000"/>
              </a:lnSpc>
            </a:pPr>
            <a:r>
              <a:rPr lang="en-US" sz="1000" b="0" u="none" strike="noStrike">
                <a:solidFill>
                  <a:schemeClr val="dk1"/>
                </a:solidFill>
                <a:effectLst/>
                <a:uFillTx/>
                <a:latin typeface="メイリオ"/>
                <a:ea typeface="メイリオ"/>
              </a:rPr>
              <a:t>or</a:t>
            </a:r>
            <a:endParaRPr lang="en-US" sz="1000" b="0" u="none" strike="noStrike">
              <a:solidFill>
                <a:srgbClr val="000000"/>
              </a:solidFill>
              <a:effectLst/>
              <a:uFillTx/>
              <a:latin typeface="Arial"/>
            </a:endParaRPr>
          </a:p>
          <a:p>
            <a:pPr algn="ctr" defTabSz="914400">
              <a:lnSpc>
                <a:spcPct val="100000"/>
              </a:lnSpc>
            </a:pPr>
            <a:r>
              <a:rPr lang="ja-JP" sz="1000" b="1" u="none" strike="noStrike">
                <a:solidFill>
                  <a:schemeClr val="dk1"/>
                </a:solidFill>
                <a:effectLst/>
                <a:uFillTx/>
                <a:latin typeface="メイリオ"/>
                <a:ea typeface="メイリオ"/>
              </a:rPr>
              <a:t>ステップ配信設定数</a:t>
            </a:r>
            <a:endParaRPr lang="en-US" sz="1000" b="0" u="none" strike="noStrike">
              <a:solidFill>
                <a:srgbClr val="000000"/>
              </a:solidFill>
              <a:effectLst/>
              <a:uFillTx/>
              <a:latin typeface="Arial"/>
            </a:endParaRPr>
          </a:p>
        </p:txBody>
      </p:sp>
      <p:sp>
        <p:nvSpPr>
          <p:cNvPr id="901" name="テキスト ボックス 68"/>
          <p:cNvSpPr/>
          <p:nvPr/>
        </p:nvSpPr>
        <p:spPr>
          <a:xfrm>
            <a:off x="632160" y="2122560"/>
            <a:ext cx="1581120" cy="2613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100" b="0" u="none" strike="noStrike">
                <a:solidFill>
                  <a:srgbClr val="00B050"/>
                </a:solidFill>
                <a:effectLst/>
                <a:uFillTx/>
                <a:latin typeface="メイリオ"/>
                <a:ea typeface="メイリオ"/>
              </a:rPr>
              <a:t>（ターゲット戦略）</a:t>
            </a:r>
            <a:endParaRPr lang="en-US" sz="1100" b="0" u="none" strike="noStrike">
              <a:solidFill>
                <a:srgbClr val="000000"/>
              </a:solidFill>
              <a:effectLst/>
              <a:uFillTx/>
              <a:latin typeface="Arial"/>
            </a:endParaRPr>
          </a:p>
        </p:txBody>
      </p:sp>
      <p:sp>
        <p:nvSpPr>
          <p:cNvPr id="902" name="正方形/長方形 69"/>
          <p:cNvSpPr/>
          <p:nvPr/>
        </p:nvSpPr>
        <p:spPr>
          <a:xfrm>
            <a:off x="828360" y="4167720"/>
            <a:ext cx="1188720" cy="267840"/>
          </a:xfrm>
          <a:prstGeom prst="rect">
            <a:avLst/>
          </a:prstGeom>
          <a:solidFill>
            <a:srgbClr val="00B050"/>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月間通数</a:t>
            </a:r>
            <a:endParaRPr lang="en-US" sz="1050" b="0" u="none" strike="noStrike">
              <a:solidFill>
                <a:srgbClr val="FFFFFF"/>
              </a:solidFill>
              <a:effectLst/>
              <a:uFillTx/>
              <a:latin typeface="Arial"/>
            </a:endParaRPr>
          </a:p>
        </p:txBody>
      </p:sp>
      <p:sp>
        <p:nvSpPr>
          <p:cNvPr id="903" name="正方形/長方形 2"/>
          <p:cNvSpPr/>
          <p:nvPr/>
        </p:nvSpPr>
        <p:spPr>
          <a:xfrm>
            <a:off x="619560" y="2054880"/>
            <a:ext cx="1613160" cy="2508120"/>
          </a:xfrm>
          <a:prstGeom prst="rect">
            <a:avLst/>
          </a:prstGeom>
          <a:solidFill>
            <a:schemeClr val="lt1">
              <a:alpha val="65000"/>
            </a:schemeClr>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4" name="吹き出し: 角を丸めた四角形 21"/>
          <p:cNvSpPr/>
          <p:nvPr/>
        </p:nvSpPr>
        <p:spPr>
          <a:xfrm>
            <a:off x="1422720" y="4756680"/>
            <a:ext cx="6797520" cy="1723320"/>
          </a:xfrm>
          <a:prstGeom prst="wedgeRoundRectCallout">
            <a:avLst>
              <a:gd name="adj1" fmla="val -8535"/>
              <a:gd name="adj2" fmla="val -65828"/>
              <a:gd name="adj3" fmla="val 16667"/>
            </a:avLst>
          </a:prstGeom>
          <a:solidFill>
            <a:schemeClr val="bg1">
              <a:lumMod val="95000"/>
            </a:schemeClr>
          </a:solidFill>
          <a:ln w="6350">
            <a:solidFill>
              <a:srgbClr val="FFFFFF">
                <a:lumMod val="75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05" name="正方形/長方形 23"/>
          <p:cNvSpPr/>
          <p:nvPr/>
        </p:nvSpPr>
        <p:spPr>
          <a:xfrm>
            <a:off x="314496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開封率</a:t>
            </a:r>
            <a:endParaRPr lang="en-US" sz="1050" b="0" u="none" strike="noStrike">
              <a:solidFill>
                <a:srgbClr val="000000"/>
              </a:solidFill>
              <a:effectLst/>
              <a:uFillTx/>
              <a:latin typeface="Arial"/>
            </a:endParaRPr>
          </a:p>
        </p:txBody>
      </p:sp>
      <p:sp>
        <p:nvSpPr>
          <p:cNvPr id="906" name="正方形/長方形 24"/>
          <p:cNvSpPr/>
          <p:nvPr/>
        </p:nvSpPr>
        <p:spPr>
          <a:xfrm>
            <a:off x="488232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050" b="1" u="none" strike="noStrike">
                <a:solidFill>
                  <a:schemeClr val="lt1"/>
                </a:solidFill>
                <a:effectLst/>
                <a:uFillTx/>
                <a:latin typeface="メイリオ"/>
                <a:ea typeface="メイリオ"/>
              </a:rPr>
              <a:t>クリック率</a:t>
            </a:r>
            <a:endParaRPr lang="en-US" sz="1050" b="0" u="none" strike="noStrike">
              <a:solidFill>
                <a:srgbClr val="000000"/>
              </a:solidFill>
              <a:effectLst/>
              <a:uFillTx/>
              <a:latin typeface="Arial"/>
            </a:endParaRPr>
          </a:p>
        </p:txBody>
      </p:sp>
      <p:sp>
        <p:nvSpPr>
          <p:cNvPr id="907" name="正方形/長方形 25"/>
          <p:cNvSpPr/>
          <p:nvPr/>
        </p:nvSpPr>
        <p:spPr>
          <a:xfrm>
            <a:off x="6594480" y="4892400"/>
            <a:ext cx="1438200" cy="267840"/>
          </a:xfrm>
          <a:prstGeom prst="rect">
            <a:avLst/>
          </a:prstGeom>
          <a:solidFill>
            <a:schemeClr val="bg1">
              <a:lumMod val="6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050" b="1" u="none" strike="noStrike">
                <a:solidFill>
                  <a:schemeClr val="lt1"/>
                </a:solidFill>
                <a:effectLst/>
                <a:uFillTx/>
                <a:latin typeface="メイリオ"/>
                <a:ea typeface="メイリオ"/>
              </a:rPr>
              <a:t>CV</a:t>
            </a:r>
            <a:r>
              <a:rPr lang="ja-JP" sz="1050" b="1" u="none" strike="noStrike">
                <a:solidFill>
                  <a:schemeClr val="lt1"/>
                </a:solidFill>
                <a:effectLst/>
                <a:uFillTx/>
                <a:latin typeface="メイリオ"/>
                <a:ea typeface="メイリオ"/>
              </a:rPr>
              <a:t>率</a:t>
            </a:r>
            <a:endParaRPr lang="en-US" sz="1050" b="0" u="none" strike="noStrike">
              <a:solidFill>
                <a:srgbClr val="000000"/>
              </a:solidFill>
              <a:effectLst/>
              <a:uFillTx/>
              <a:latin typeface="Arial"/>
            </a:endParaRPr>
          </a:p>
        </p:txBody>
      </p:sp>
      <p:sp>
        <p:nvSpPr>
          <p:cNvPr id="908" name="正方形/長方形 26"/>
          <p:cNvSpPr/>
          <p:nvPr/>
        </p:nvSpPr>
        <p:spPr>
          <a:xfrm>
            <a:off x="314496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85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09" name="正方形/長方形 27"/>
          <p:cNvSpPr/>
          <p:nvPr/>
        </p:nvSpPr>
        <p:spPr>
          <a:xfrm>
            <a:off x="488232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800" b="1" u="none" strike="noStrike">
                <a:solidFill>
                  <a:srgbClr val="FF0000"/>
                </a:solidFill>
                <a:effectLst/>
                <a:uFillTx/>
                <a:latin typeface="メイリオ"/>
                <a:ea typeface="メイリオ"/>
              </a:rPr>
              <a:t>12.5 </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10" name="正方形/長方形 28"/>
          <p:cNvSpPr/>
          <p:nvPr/>
        </p:nvSpPr>
        <p:spPr>
          <a:xfrm>
            <a:off x="6594480" y="5229000"/>
            <a:ext cx="1438200" cy="522720"/>
          </a:xfrm>
          <a:prstGeom prst="rect">
            <a:avLst/>
          </a:prstGeom>
          <a:solidFill>
            <a:schemeClr val="accent1">
              <a:lumMod val="20000"/>
              <a:lumOff val="8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rgbClr val="FF0000"/>
                </a:solidFill>
                <a:effectLst/>
                <a:uFillTx/>
                <a:latin typeface="メイリオ"/>
                <a:ea typeface="メイリオ"/>
              </a:rPr>
              <a:t>0.5</a:t>
            </a:r>
            <a:r>
              <a:rPr lang="en-US" sz="1400" b="1" u="none" strike="noStrike">
                <a:solidFill>
                  <a:srgbClr val="FF0000"/>
                </a:solidFill>
                <a:effectLst/>
                <a:uFillTx/>
                <a:latin typeface="メイリオ"/>
                <a:ea typeface="メイリオ"/>
              </a:rPr>
              <a:t> %</a:t>
            </a:r>
            <a:endParaRPr lang="en-US" sz="1400" b="0" u="none" strike="noStrike">
              <a:solidFill>
                <a:srgbClr val="000000"/>
              </a:solidFill>
              <a:effectLst/>
              <a:uFillTx/>
              <a:latin typeface="Arial"/>
            </a:endParaRPr>
          </a:p>
        </p:txBody>
      </p:sp>
      <p:sp>
        <p:nvSpPr>
          <p:cNvPr id="911" name="正方形/長方形 29"/>
          <p:cNvSpPr/>
          <p:nvPr/>
        </p:nvSpPr>
        <p:spPr>
          <a:xfrm>
            <a:off x="314496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70 %</a:t>
            </a:r>
            <a:endParaRPr lang="en-US" sz="1400" b="0" u="none" strike="noStrike">
              <a:solidFill>
                <a:srgbClr val="000000"/>
              </a:solidFill>
              <a:effectLst/>
              <a:uFillTx/>
              <a:latin typeface="Arial"/>
            </a:endParaRPr>
          </a:p>
        </p:txBody>
      </p:sp>
      <p:sp>
        <p:nvSpPr>
          <p:cNvPr id="912" name="正方形/長方形 30"/>
          <p:cNvSpPr/>
          <p:nvPr/>
        </p:nvSpPr>
        <p:spPr>
          <a:xfrm>
            <a:off x="488232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8.25 %</a:t>
            </a:r>
            <a:endParaRPr lang="en-US" sz="1400" b="0" u="none" strike="noStrike">
              <a:solidFill>
                <a:srgbClr val="000000"/>
              </a:solidFill>
              <a:effectLst/>
              <a:uFillTx/>
              <a:latin typeface="Arial"/>
            </a:endParaRPr>
          </a:p>
        </p:txBody>
      </p:sp>
      <p:sp>
        <p:nvSpPr>
          <p:cNvPr id="913" name="正方形/長方形 31"/>
          <p:cNvSpPr/>
          <p:nvPr/>
        </p:nvSpPr>
        <p:spPr>
          <a:xfrm>
            <a:off x="6594480" y="5811120"/>
            <a:ext cx="1438200" cy="522720"/>
          </a:xfrm>
          <a:prstGeom prst="rect">
            <a:avLst/>
          </a:prstGeom>
          <a:solidFill>
            <a:schemeClr val="bg1">
              <a:lumMod val="85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1" u="none" strike="noStrike">
                <a:solidFill>
                  <a:schemeClr val="dk1"/>
                </a:solidFill>
                <a:effectLst/>
                <a:uFillTx/>
                <a:latin typeface="メイリオ"/>
                <a:ea typeface="メイリオ"/>
              </a:rPr>
              <a:t>0.3 %</a:t>
            </a:r>
            <a:endParaRPr lang="en-US" sz="1400" b="0" u="none" strike="noStrike">
              <a:solidFill>
                <a:srgbClr val="000000"/>
              </a:solidFill>
              <a:effectLst/>
              <a:uFillTx/>
              <a:latin typeface="Arial"/>
            </a:endParaRPr>
          </a:p>
        </p:txBody>
      </p:sp>
      <p:sp>
        <p:nvSpPr>
          <p:cNvPr id="914" name="正方形/長方形 32"/>
          <p:cNvSpPr/>
          <p:nvPr/>
        </p:nvSpPr>
        <p:spPr>
          <a:xfrm>
            <a:off x="1569600" y="5226840"/>
            <a:ext cx="1438200" cy="522720"/>
          </a:xfrm>
          <a:prstGeom prst="rect">
            <a:avLst/>
          </a:prstGeom>
          <a:solidFill>
            <a:schemeClr val="tx2">
              <a:lumMod val="50000"/>
            </a:schemeClr>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200" b="1" u="none" strike="noStrike">
                <a:solidFill>
                  <a:srgbClr val="FFC000"/>
                </a:solidFill>
                <a:effectLst/>
                <a:uFillTx/>
                <a:latin typeface="メイリオ"/>
                <a:ea typeface="メイリオ"/>
              </a:rPr>
              <a:t>DYM</a:t>
            </a:r>
            <a:r>
              <a:rPr lang="ja-JP" sz="1200" b="1" u="none" strike="noStrike">
                <a:solidFill>
                  <a:srgbClr val="FFC000"/>
                </a:solidFill>
                <a:effectLst/>
                <a:uFillTx/>
                <a:latin typeface="メイリオ"/>
                <a:ea typeface="メイリオ"/>
              </a:rPr>
              <a:t>実績</a:t>
            </a:r>
            <a:endParaRPr lang="en-US" sz="1200" b="0" u="none" strike="noStrike">
              <a:solidFill>
                <a:srgbClr val="FFFFFF"/>
              </a:solidFill>
              <a:effectLst/>
              <a:uFillTx/>
              <a:latin typeface="Arial"/>
            </a:endParaRPr>
          </a:p>
        </p:txBody>
      </p:sp>
      <p:sp>
        <p:nvSpPr>
          <p:cNvPr id="915" name="正方形/長方形 33"/>
          <p:cNvSpPr/>
          <p:nvPr/>
        </p:nvSpPr>
        <p:spPr>
          <a:xfrm>
            <a:off x="1569600" y="5808960"/>
            <a:ext cx="1438200" cy="522720"/>
          </a:xfrm>
          <a:prstGeom prst="rect">
            <a:avLst/>
          </a:prstGeom>
          <a:solidFill>
            <a:schemeClr val="tx1"/>
          </a:solidFill>
          <a:ln w="6350">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200" b="1" u="none" strike="noStrike">
                <a:solidFill>
                  <a:schemeClr val="lt1"/>
                </a:solidFill>
                <a:effectLst/>
                <a:uFillTx/>
                <a:latin typeface="メイリオ"/>
                <a:ea typeface="メイリオ"/>
              </a:rPr>
              <a:t>業界平均</a:t>
            </a:r>
            <a:endParaRPr lang="en-US" sz="1200" b="0" u="none" strike="noStrike">
              <a:solidFill>
                <a:srgbClr val="FFFFFF"/>
              </a:solidFill>
              <a:effectLst/>
              <a:uFillTx/>
              <a:latin typeface="Arial"/>
            </a:endParaRPr>
          </a:p>
          <a:p>
            <a:pPr algn="ctr" defTabSz="914400">
              <a:lnSpc>
                <a:spcPct val="100000"/>
              </a:lnSpc>
            </a:pPr>
            <a:r>
              <a:rPr lang="en-US" sz="800" b="1" u="none" strike="noStrike">
                <a:solidFill>
                  <a:schemeClr val="lt1"/>
                </a:solidFill>
                <a:effectLst/>
                <a:uFillTx/>
                <a:latin typeface="メイリオ"/>
                <a:ea typeface="メイリオ"/>
              </a:rPr>
              <a:t>(LINE</a:t>
            </a:r>
            <a:r>
              <a:rPr lang="ja-JP" sz="800" b="1" u="none" strike="noStrike">
                <a:solidFill>
                  <a:schemeClr val="lt1"/>
                </a:solidFill>
                <a:effectLst/>
                <a:uFillTx/>
                <a:latin typeface="メイリオ"/>
                <a:ea typeface="メイリオ"/>
              </a:rPr>
              <a:t>ヤフー社より共有）</a:t>
            </a:r>
            <a:endParaRPr lang="en-US" sz="800" b="0" u="none" strike="noStrike">
              <a:solidFill>
                <a:srgbClr val="FFFFFF"/>
              </a:solidFill>
              <a:effectLst/>
              <a:uFillTx/>
              <a:latin typeface="Arial"/>
            </a:endParaRPr>
          </a:p>
        </p:txBody>
      </p:sp>
      <p:sp>
        <p:nvSpPr>
          <p:cNvPr id="916" name="正方形/長方形 34"/>
          <p:cNvSpPr/>
          <p:nvPr/>
        </p:nvSpPr>
        <p:spPr>
          <a:xfrm>
            <a:off x="564120" y="1666800"/>
            <a:ext cx="8988840" cy="327600"/>
          </a:xfrm>
          <a:prstGeom prst="rect">
            <a:avLst/>
          </a:prstGeom>
          <a:solidFill>
            <a:schemeClr val="tx1"/>
          </a:solidFill>
          <a:ln w="9525">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1" u="none" strike="noStrike">
                <a:solidFill>
                  <a:srgbClr val="FFC000"/>
                </a:solidFill>
                <a:effectLst/>
                <a:uFillTx/>
                <a:latin typeface="メイリオ"/>
                <a:ea typeface="メイリオ"/>
              </a:rPr>
              <a:t>施策の流れ</a:t>
            </a:r>
            <a:endParaRPr lang="en-US" sz="1400" b="0" u="none" strike="noStrike">
              <a:solidFill>
                <a:srgbClr val="FFFFFF"/>
              </a:solidFill>
              <a:effectLst/>
              <a:uFillTx/>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　</a:t>
            </a:r>
            <a:r>
              <a:rPr lang="en-US" sz="1400" b="1" u="none" strike="noStrike">
                <a:solidFill>
                  <a:srgbClr val="FF0000"/>
                </a:solidFill>
                <a:effectLst/>
                <a:uFillTx/>
                <a:latin typeface="メイリオ"/>
                <a:ea typeface="メイリオ"/>
              </a:rPr>
              <a:t>[CRM</a:t>
            </a:r>
            <a:r>
              <a:rPr lang="ja-JP" sz="1400" b="1" u="none" strike="noStrike">
                <a:solidFill>
                  <a:srgbClr val="FF0000"/>
                </a:solidFill>
                <a:effectLst/>
                <a:uFillTx/>
                <a:latin typeface="メイリオ"/>
                <a:ea typeface="メイリオ"/>
              </a:rPr>
              <a:t>及び</a:t>
            </a:r>
            <a:r>
              <a:rPr lang="en-US" sz="1400" b="1" u="none" strike="noStrike">
                <a:solidFill>
                  <a:srgbClr val="FF0000"/>
                </a:solidFill>
                <a:effectLst/>
                <a:uFillTx/>
                <a:latin typeface="メイリオ"/>
                <a:ea typeface="メイリオ"/>
              </a:rPr>
              <a:t>API</a:t>
            </a:r>
            <a:r>
              <a:rPr lang="ja-JP" sz="1400" b="1" u="none" strike="noStrike">
                <a:solidFill>
                  <a:srgbClr val="FF0000"/>
                </a:solidFill>
                <a:effectLst/>
                <a:uFillTx/>
                <a:latin typeface="メイリオ"/>
                <a:ea typeface="メイリオ"/>
              </a:rPr>
              <a:t>ツールとの連携</a:t>
            </a:r>
            <a:r>
              <a:rPr lang="en-US" sz="1400" b="1" u="none" strike="noStrike">
                <a:solidFill>
                  <a:srgbClr val="FF0000"/>
                </a:solidFill>
                <a:effectLst/>
                <a:uFillTx/>
                <a:latin typeface="メイリオ"/>
                <a:ea typeface="メイリオ"/>
              </a:rPr>
              <a:t>]</a:t>
            </a:r>
            <a:endParaRPr lang="en-US" sz="1400" b="0" u="none" strike="noStrike">
              <a:solidFill>
                <a:srgbClr val="000000"/>
              </a:solidFill>
              <a:effectLst/>
              <a:uFillTx/>
              <a:latin typeface="Arial"/>
            </a:endParaRPr>
          </a:p>
        </p:txBody>
      </p:sp>
      <p:sp>
        <p:nvSpPr>
          <p:cNvPr id="983" name="正方形/長方形 1"/>
          <p:cNvSpPr/>
          <p:nvPr/>
        </p:nvSpPr>
        <p:spPr>
          <a:xfrm>
            <a:off x="804960" y="5113440"/>
            <a:ext cx="3833640" cy="824760"/>
          </a:xfrm>
          <a:prstGeom prst="rect">
            <a:avLst/>
          </a:prstGeom>
          <a:solidFill>
            <a:schemeClr val="accent1">
              <a:lumMod val="20000"/>
              <a:lumOff val="80000"/>
            </a:schemeClr>
          </a:solidFill>
          <a:ln>
            <a:solidFill>
              <a:srgbClr val="1F497D">
                <a:lumMod val="20000"/>
                <a:lumOff val="80000"/>
              </a:srgbClr>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rgbClr val="073763"/>
                </a:solidFill>
                <a:effectLst/>
                <a:uFillTx/>
                <a:latin typeface="メイリオ"/>
                <a:ea typeface="メイリオ"/>
              </a:rPr>
              <a:t>「</a:t>
            </a:r>
            <a:r>
              <a:rPr lang="en-US" sz="1400" b="0" u="none" strike="noStrike">
                <a:solidFill>
                  <a:srgbClr val="073763"/>
                </a:solidFill>
                <a:effectLst/>
                <a:uFillTx/>
                <a:latin typeface="メイリオ"/>
                <a:ea typeface="メイリオ"/>
              </a:rPr>
              <a:t>CRM</a:t>
            </a:r>
            <a:r>
              <a:rPr lang="ja-JP" sz="1400" b="0" u="none" strike="noStrike">
                <a:solidFill>
                  <a:srgbClr val="073763"/>
                </a:solidFill>
                <a:effectLst/>
                <a:uFillTx/>
                <a:latin typeface="メイリオ"/>
                <a:ea typeface="メイリオ"/>
              </a:rPr>
              <a:t>側でどんな情報を取りたいか」が重要</a:t>
            </a:r>
            <a:br>
              <a:rPr sz="1400"/>
            </a:br>
            <a:r>
              <a:rPr lang="ja-JP" sz="1400" b="1" u="none" strike="noStrike">
                <a:solidFill>
                  <a:srgbClr val="073763"/>
                </a:solidFill>
                <a:effectLst/>
                <a:uFillTx/>
                <a:latin typeface="メイリオ"/>
                <a:ea typeface="メイリオ"/>
              </a:rPr>
              <a:t>要件定義</a:t>
            </a:r>
            <a:r>
              <a:rPr lang="ja-JP" sz="1400" b="0" u="none" strike="noStrike">
                <a:solidFill>
                  <a:srgbClr val="073763"/>
                </a:solidFill>
                <a:effectLst/>
                <a:uFillTx/>
                <a:latin typeface="メイリオ"/>
                <a:ea typeface="メイリオ"/>
              </a:rPr>
              <a:t>を先にする必要がある</a:t>
            </a:r>
            <a:endParaRPr lang="en-US" sz="1400" b="0" u="none" strike="noStrike">
              <a:solidFill>
                <a:srgbClr val="000000"/>
              </a:solidFill>
              <a:effectLst/>
              <a:uFillTx/>
              <a:latin typeface="Arial"/>
            </a:endParaRPr>
          </a:p>
        </p:txBody>
      </p:sp>
      <p:sp>
        <p:nvSpPr>
          <p:cNvPr id="984" name="正方形/長方形 2"/>
          <p:cNvSpPr/>
          <p:nvPr/>
        </p:nvSpPr>
        <p:spPr>
          <a:xfrm>
            <a:off x="54900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▼CRM</a:t>
            </a:r>
            <a:r>
              <a:rPr lang="ja-JP" sz="1200" b="0" u="none" strike="noStrike">
                <a:solidFill>
                  <a:schemeClr val="dk1">
                    <a:lumMod val="75000"/>
                    <a:lumOff val="25000"/>
                  </a:schemeClr>
                </a:solidFill>
                <a:effectLst/>
                <a:uFillTx/>
                <a:latin typeface="メイリオ"/>
                <a:ea typeface="メイリオ"/>
              </a:rPr>
              <a:t>によるセグメント配信の違い</a:t>
            </a:r>
            <a:endParaRPr lang="en-US" sz="1200" b="0" u="none" strike="noStrike">
              <a:solidFill>
                <a:srgbClr val="000000"/>
              </a:solidFill>
              <a:effectLst/>
              <a:uFillTx/>
              <a:latin typeface="Arial"/>
            </a:endParaRPr>
          </a:p>
        </p:txBody>
      </p:sp>
      <p:sp>
        <p:nvSpPr>
          <p:cNvPr id="985" name="正方形/長方形 4"/>
          <p:cNvSpPr/>
          <p:nvPr/>
        </p:nvSpPr>
        <p:spPr>
          <a:xfrm>
            <a:off x="4855320" y="1681920"/>
            <a:ext cx="16369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200" b="0" u="none" strike="noStrike">
              <a:solidFill>
                <a:schemeClr val="dk1">
                  <a:lumMod val="75000"/>
                  <a:lumOff val="25000"/>
                </a:schemeClr>
              </a:solidFill>
              <a:effectLst/>
              <a:uFillTx/>
              <a:latin typeface="メイリオ"/>
              <a:ea typeface="メイリオ"/>
            </a:endParaRPr>
          </a:p>
        </p:txBody>
      </p:sp>
      <p:pic>
        <p:nvPicPr>
          <p:cNvPr id="986" name="図 5"/>
          <p:cNvPicPr/>
          <p:nvPr/>
        </p:nvPicPr>
        <p:blipFill>
          <a:blip r:embed="rId2"/>
          <a:stretch/>
        </p:blipFill>
        <p:spPr>
          <a:xfrm>
            <a:off x="767880" y="2097720"/>
            <a:ext cx="1748520" cy="1226520"/>
          </a:xfrm>
          <a:prstGeom prst="rect">
            <a:avLst/>
          </a:prstGeom>
          <a:noFill/>
          <a:ln w="0">
            <a:noFill/>
          </a:ln>
        </p:spPr>
      </p:pic>
      <p:pic>
        <p:nvPicPr>
          <p:cNvPr id="987" name="図 6"/>
          <p:cNvPicPr/>
          <p:nvPr/>
        </p:nvPicPr>
        <p:blipFill>
          <a:blip r:embed="rId3"/>
          <a:stretch/>
        </p:blipFill>
        <p:spPr>
          <a:xfrm>
            <a:off x="2629440" y="2290320"/>
            <a:ext cx="2165760" cy="762120"/>
          </a:xfrm>
          <a:prstGeom prst="rect">
            <a:avLst/>
          </a:prstGeom>
          <a:noFill/>
          <a:ln w="0">
            <a:noFill/>
          </a:ln>
        </p:spPr>
      </p:pic>
      <p:pic>
        <p:nvPicPr>
          <p:cNvPr id="988" name="図 7"/>
          <p:cNvPicPr/>
          <p:nvPr/>
        </p:nvPicPr>
        <p:blipFill>
          <a:blip r:embed="rId4"/>
          <a:stretch/>
        </p:blipFill>
        <p:spPr>
          <a:xfrm>
            <a:off x="732600" y="3382560"/>
            <a:ext cx="1896480" cy="592560"/>
          </a:xfrm>
          <a:prstGeom prst="rect">
            <a:avLst/>
          </a:prstGeom>
          <a:noFill/>
          <a:ln w="0">
            <a:noFill/>
          </a:ln>
        </p:spPr>
      </p:pic>
      <p:pic>
        <p:nvPicPr>
          <p:cNvPr id="989" name="図 9"/>
          <p:cNvPicPr/>
          <p:nvPr/>
        </p:nvPicPr>
        <p:blipFill>
          <a:blip r:embed="rId5"/>
          <a:stretch/>
        </p:blipFill>
        <p:spPr>
          <a:xfrm>
            <a:off x="2774880" y="3271680"/>
            <a:ext cx="1980360" cy="824760"/>
          </a:xfrm>
          <a:prstGeom prst="rect">
            <a:avLst/>
          </a:prstGeom>
          <a:noFill/>
          <a:ln w="0">
            <a:noFill/>
          </a:ln>
        </p:spPr>
      </p:pic>
      <p:sp>
        <p:nvSpPr>
          <p:cNvPr id="990" name="二等辺三角形 10"/>
          <p:cNvSpPr/>
          <p:nvPr/>
        </p:nvSpPr>
        <p:spPr>
          <a:xfrm flipV="1">
            <a:off x="2404440" y="4662000"/>
            <a:ext cx="634680" cy="242640"/>
          </a:xfrm>
          <a:prstGeom prst="triangle">
            <a:avLst>
              <a:gd name="adj" fmla="val 50000"/>
            </a:avLst>
          </a:prstGeom>
          <a:solidFill>
            <a:srgbClr val="4F81BD"/>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991" name="正方形/長方形 11"/>
          <p:cNvSpPr/>
          <p:nvPr/>
        </p:nvSpPr>
        <p:spPr>
          <a:xfrm>
            <a:off x="5088240" y="1746720"/>
            <a:ext cx="2808720" cy="25452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▼参考：L</a:t>
            </a:r>
            <a:r>
              <a:rPr lang="ja-JP" sz="1200" b="0" u="none" strike="noStrike">
                <a:solidFill>
                  <a:schemeClr val="dk1">
                    <a:lumMod val="75000"/>
                    <a:lumOff val="25000"/>
                  </a:schemeClr>
                </a:solidFill>
                <a:effectLst/>
                <a:uFillTx/>
                <a:latin typeface="メイリオ"/>
                <a:ea typeface="メイリオ"/>
              </a:rPr>
              <a:t>ステップ</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連携機能</a:t>
            </a:r>
            <a:endParaRPr lang="en-US" sz="1200" b="0" u="none" strike="noStrike">
              <a:solidFill>
                <a:srgbClr val="000000"/>
              </a:solidFill>
              <a:effectLst/>
              <a:uFillTx/>
              <a:latin typeface="Arial"/>
            </a:endParaRPr>
          </a:p>
        </p:txBody>
      </p:sp>
      <p:pic>
        <p:nvPicPr>
          <p:cNvPr id="992" name="図 12"/>
          <p:cNvPicPr/>
          <p:nvPr/>
        </p:nvPicPr>
        <p:blipFill>
          <a:blip r:embed="rId6"/>
          <a:stretch/>
        </p:blipFill>
        <p:spPr>
          <a:xfrm>
            <a:off x="5088240" y="2053800"/>
            <a:ext cx="4493520" cy="4306320"/>
          </a:xfrm>
          <a:prstGeom prst="rect">
            <a:avLst/>
          </a:prstGeom>
          <a:noFill/>
          <a:ln w="0">
            <a:noFill/>
          </a:ln>
        </p:spPr>
      </p:pic>
      <p:sp>
        <p:nvSpPr>
          <p:cNvPr id="993" name="Google Shape;752;p28"/>
          <p:cNvSpPr/>
          <p:nvPr/>
        </p:nvSpPr>
        <p:spPr>
          <a:xfrm>
            <a:off x="776160" y="864360"/>
            <a:ext cx="8353440" cy="52272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algn="ctr" defTabSz="914400">
              <a:lnSpc>
                <a:spcPct val="100000"/>
              </a:lnSpc>
            </a:pP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a:t>
            </a:r>
            <a:r>
              <a:rPr lang="en-US" sz="1400" b="0" u="none" strike="noStrike">
                <a:solidFill>
                  <a:schemeClr val="dk1"/>
                </a:solidFill>
                <a:effectLst/>
                <a:uFillTx/>
                <a:latin typeface="メイリオ"/>
                <a:ea typeface="メイリオ"/>
              </a:rPr>
              <a:t>API</a:t>
            </a:r>
            <a:r>
              <a:rPr lang="ja-JP" sz="1400" b="0" u="none" strike="noStrike">
                <a:solidFill>
                  <a:schemeClr val="dk1"/>
                </a:solidFill>
                <a:effectLst/>
                <a:uFillTx/>
                <a:latin typeface="メイリオ"/>
                <a:ea typeface="メイリオ"/>
              </a:rPr>
              <a:t>ツールで要件定義を行いつつ、効率化及び詳細なセグメント設計を目的として、</a:t>
            </a:r>
            <a:endParaRPr lang="en-US" sz="1400" b="0" u="none" strike="noStrike">
              <a:solidFill>
                <a:srgbClr val="000000"/>
              </a:solidFill>
              <a:effectLst/>
              <a:uFillTx/>
              <a:latin typeface="Arial"/>
            </a:endParaRPr>
          </a:p>
          <a:p>
            <a:pPr algn="ctr" defTabSz="914400">
              <a:lnSpc>
                <a:spcPct val="100000"/>
              </a:lnSpc>
            </a:pPr>
            <a:r>
              <a:rPr lang="ja-JP" sz="1400" b="0" u="none" strike="noStrike">
                <a:solidFill>
                  <a:schemeClr val="dk1"/>
                </a:solidFill>
                <a:effectLst/>
                <a:uFillTx/>
                <a:latin typeface="メイリオ"/>
                <a:ea typeface="メイリオ"/>
              </a:rPr>
              <a:t>貴社内の顧客管理（</a:t>
            </a:r>
            <a:r>
              <a:rPr lang="en-US" sz="1400" b="0" u="none" strike="noStrike">
                <a:solidFill>
                  <a:schemeClr val="dk1"/>
                </a:solidFill>
                <a:effectLst/>
                <a:uFillTx/>
                <a:latin typeface="メイリオ"/>
                <a:ea typeface="メイリオ"/>
              </a:rPr>
              <a:t>CRM</a:t>
            </a:r>
            <a:r>
              <a:rPr lang="ja-JP" sz="1400" b="0" u="none" strike="noStrike">
                <a:solidFill>
                  <a:schemeClr val="dk1"/>
                </a:solidFill>
                <a:effectLst/>
                <a:uFillTx/>
                <a:latin typeface="メイリオ"/>
                <a:ea typeface="メイリオ"/>
              </a:rPr>
              <a:t>）ツールとの連携の実施も可能です。</a:t>
            </a:r>
            <a:r>
              <a:rPr lang="en-US" sz="1100" b="0" u="none" strike="noStrike">
                <a:solidFill>
                  <a:srgbClr val="FF0000"/>
                </a:solidFill>
                <a:effectLst/>
                <a:uFillTx/>
                <a:latin typeface="メイリオ"/>
                <a:ea typeface="メイリオ"/>
              </a:rPr>
              <a:t> ※開発は別途費用</a:t>
            </a:r>
            <a:endParaRPr lang="en-US" sz="1100" b="0" u="none" strike="noStrike">
              <a:solidFill>
                <a:srgbClr val="000000"/>
              </a:solidFill>
              <a:effectLst/>
              <a:uFillTx/>
              <a:latin typeface="Arial"/>
            </a:endParaRPr>
          </a:p>
        </p:txBody>
      </p:sp>
      <p:pic>
        <p:nvPicPr>
          <p:cNvPr id="994" name="図 15"/>
          <p:cNvPicPr/>
          <p:nvPr/>
        </p:nvPicPr>
        <p:blipFill>
          <a:blip r:embed="rId7"/>
          <a:stretch/>
        </p:blipFill>
        <p:spPr>
          <a:xfrm>
            <a:off x="8357040" y="3138840"/>
            <a:ext cx="1224720" cy="371160"/>
          </a:xfrm>
          <a:prstGeom prst="rect">
            <a:avLst/>
          </a:prstGeom>
          <a:noFill/>
          <a:ln w="0">
            <a:noFill/>
          </a:ln>
        </p:spPr>
      </p:pic>
      <p:sp>
        <p:nvSpPr>
          <p:cNvPr id="995" name="正方形/長方形 17"/>
          <p:cNvSpPr/>
          <p:nvPr/>
        </p:nvSpPr>
        <p:spPr>
          <a:xfrm>
            <a:off x="7392960" y="2667960"/>
            <a:ext cx="1404000" cy="7041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en-US" sz="1200" b="0" u="none" strike="noStrike">
                <a:solidFill>
                  <a:schemeClr val="dk1">
                    <a:lumMod val="75000"/>
                    <a:lumOff val="25000"/>
                  </a:schemeClr>
                </a:solidFill>
                <a:effectLst/>
                <a:uFillTx/>
                <a:latin typeface="メイリオ"/>
                <a:ea typeface="メイリオ"/>
              </a:rPr>
              <a:t>LINE</a:t>
            </a:r>
            <a:r>
              <a:rPr lang="ja-JP" sz="1200" b="0" u="none" strike="noStrike">
                <a:solidFill>
                  <a:schemeClr val="dk1">
                    <a:lumMod val="75000"/>
                    <a:lumOff val="25000"/>
                  </a:schemeClr>
                </a:solidFill>
                <a:effectLst/>
                <a:uFillTx/>
                <a:latin typeface="メイリオ"/>
                <a:ea typeface="メイリオ"/>
              </a:rPr>
              <a:t>公式と</a:t>
            </a:r>
            <a:r>
              <a:rPr lang="en-US" sz="1200" b="0" u="none" strike="noStrike">
                <a:solidFill>
                  <a:schemeClr val="dk1">
                    <a:lumMod val="75000"/>
                    <a:lumOff val="25000"/>
                  </a:schemeClr>
                </a:solidFill>
                <a:effectLst/>
                <a:uFillTx/>
                <a:latin typeface="メイリオ"/>
                <a:ea typeface="メイリオ"/>
              </a:rPr>
              <a:t>API</a:t>
            </a:r>
            <a:r>
              <a:rPr lang="ja-JP" sz="1200" b="0" u="none" strike="noStrike">
                <a:solidFill>
                  <a:schemeClr val="dk1">
                    <a:lumMod val="75000"/>
                    <a:lumOff val="25000"/>
                  </a:schemeClr>
                </a:solidFill>
                <a:effectLst/>
                <a:uFillTx/>
                <a:latin typeface="メイリオ"/>
                <a:ea typeface="メイリオ"/>
              </a:rPr>
              <a:t>ツール間の</a:t>
            </a:r>
            <a:endParaRPr lang="en-US" sz="1200" b="0" u="none" strike="noStrike">
              <a:solidFill>
                <a:srgbClr val="000000"/>
              </a:solidFill>
              <a:effectLst/>
              <a:uFillTx/>
              <a:latin typeface="Arial"/>
            </a:endParaRPr>
          </a:p>
          <a:p>
            <a:pPr defTabSz="914400">
              <a:lnSpc>
                <a:spcPct val="100000"/>
              </a:lnSpc>
            </a:pPr>
            <a:r>
              <a:rPr lang="ja-JP" sz="1200" b="0" u="none" strike="noStrike">
                <a:solidFill>
                  <a:schemeClr val="dk1">
                    <a:lumMod val="75000"/>
                    <a:lumOff val="25000"/>
                  </a:schemeClr>
                </a:solidFill>
                <a:effectLst/>
                <a:uFillTx/>
                <a:latin typeface="メイリオ"/>
                <a:ea typeface="メイリオ"/>
              </a:rPr>
              <a:t>情報連携</a:t>
            </a:r>
            <a:endParaRPr lang="en-US" sz="1200" b="0" u="none" strike="noStrike">
              <a:solidFill>
                <a:srgbClr val="000000"/>
              </a:solidFill>
              <a:effectLst/>
              <a:uFillTx/>
              <a:latin typeface="Arial"/>
            </a:endParaRPr>
          </a:p>
        </p:txBody>
      </p:sp>
      <p:sp>
        <p:nvSpPr>
          <p:cNvPr id="996" name="正方形/長方形 18"/>
          <p:cNvSpPr/>
          <p:nvPr/>
        </p:nvSpPr>
        <p:spPr>
          <a:xfrm>
            <a:off x="5873760" y="2711520"/>
            <a:ext cx="988920" cy="423360"/>
          </a:xfrm>
          <a:prstGeom prst="rect">
            <a:avLst/>
          </a:prstGeom>
          <a:solidFill>
            <a:schemeClr val="bg1"/>
          </a:solidFill>
          <a:ln>
            <a:solidFill>
              <a:srgbClr val="FFFFFF"/>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defTabSz="914400">
              <a:lnSpc>
                <a:spcPct val="100000"/>
              </a:lnSpc>
            </a:pPr>
            <a:r>
              <a:rPr lang="ja-JP" sz="1200" b="0" u="none" strike="noStrike">
                <a:solidFill>
                  <a:schemeClr val="dk1">
                    <a:lumMod val="75000"/>
                    <a:lumOff val="25000"/>
                  </a:schemeClr>
                </a:solidFill>
                <a:effectLst/>
                <a:uFillTx/>
                <a:latin typeface="メイリオ"/>
                <a:ea typeface="メイリオ"/>
              </a:rPr>
              <a:t>メッセ送信</a:t>
            </a:r>
            <a:endParaRPr lang="en-US" sz="12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7"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tabLst>
                <a:tab pos="0" algn="l"/>
              </a:tabLst>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998" name="正方形/長方形 7"/>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600" b="1" u="none" strike="noStrike">
                <a:solidFill>
                  <a:schemeClr val="lt1"/>
                </a:solidFill>
                <a:effectLst/>
                <a:uFillTx/>
                <a:latin typeface="メイリオ"/>
                <a:ea typeface="メイリオ"/>
              </a:rPr>
              <a:t>ミニアプリ</a:t>
            </a:r>
            <a:endParaRPr lang="en-US" sz="1600" b="0" u="none" strike="noStrike">
              <a:solidFill>
                <a:srgbClr val="FFFFFF"/>
              </a:solidFill>
              <a:effectLst/>
              <a:uFillTx/>
              <a:latin typeface="Arial"/>
            </a:endParaRPr>
          </a:p>
        </p:txBody>
      </p:sp>
      <p:pic>
        <p:nvPicPr>
          <p:cNvPr id="999" name="図 14"/>
          <p:cNvPicPr/>
          <p:nvPr/>
        </p:nvPicPr>
        <p:blipFill>
          <a:blip r:embed="rId2"/>
          <a:stretch/>
        </p:blipFill>
        <p:spPr>
          <a:xfrm>
            <a:off x="394920" y="4223520"/>
            <a:ext cx="4883400" cy="2255040"/>
          </a:xfrm>
          <a:prstGeom prst="rect">
            <a:avLst/>
          </a:prstGeom>
          <a:noFill/>
          <a:ln w="0">
            <a:noFill/>
          </a:ln>
        </p:spPr>
      </p:pic>
      <p:pic>
        <p:nvPicPr>
          <p:cNvPr id="1000" name="図 15"/>
          <p:cNvPicPr/>
          <p:nvPr/>
        </p:nvPicPr>
        <p:blipFill>
          <a:blip r:embed="rId3"/>
          <a:stretch/>
        </p:blipFill>
        <p:spPr>
          <a:xfrm>
            <a:off x="5447520" y="4291920"/>
            <a:ext cx="4377240" cy="1962000"/>
          </a:xfrm>
          <a:prstGeom prst="rect">
            <a:avLst/>
          </a:prstGeom>
          <a:noFill/>
          <a:ln w="0">
            <a:noFill/>
          </a:ln>
        </p:spPr>
      </p:pic>
      <p:pic>
        <p:nvPicPr>
          <p:cNvPr id="1001" name="図 16"/>
          <p:cNvPicPr/>
          <p:nvPr/>
        </p:nvPicPr>
        <p:blipFill>
          <a:blip r:embed="rId4"/>
          <a:stretch/>
        </p:blipFill>
        <p:spPr>
          <a:xfrm>
            <a:off x="295560" y="1824480"/>
            <a:ext cx="5880600" cy="2266560"/>
          </a:xfrm>
          <a:prstGeom prst="rect">
            <a:avLst/>
          </a:prstGeom>
          <a:noFill/>
          <a:ln w="0">
            <a:noFill/>
          </a:ln>
        </p:spPr>
      </p:pic>
      <p:sp>
        <p:nvSpPr>
          <p:cNvPr id="1002" name="正方形/長方形 1"/>
          <p:cNvSpPr/>
          <p:nvPr/>
        </p:nvSpPr>
        <p:spPr>
          <a:xfrm>
            <a:off x="2971080" y="822960"/>
            <a:ext cx="666900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内で活用できるミニアプリでは、ゲームや抽選といった機能を</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アプリ開発よりも大幅に格安な価格帯で利用できるサービス。</a:t>
            </a:r>
            <a:endParaRPr lang="en-US" sz="1600" b="0" u="none" strike="noStrike">
              <a:solidFill>
                <a:srgbClr val="000000"/>
              </a:solidFill>
              <a:effectLst/>
              <a:uFillTx/>
              <a:latin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04" name="正方形/長方形 27"/>
          <p:cNvSpPr/>
          <p:nvPr/>
        </p:nvSpPr>
        <p:spPr>
          <a:xfrm>
            <a:off x="209520" y="1455480"/>
            <a:ext cx="71604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チャット</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FAQ</a:t>
            </a:r>
            <a:r>
              <a:rPr lang="ja-JP" sz="1600" b="1" u="none" strike="noStrike">
                <a:solidFill>
                  <a:schemeClr val="dk1">
                    <a:lumMod val="65000"/>
                    <a:lumOff val="35000"/>
                  </a:schemeClr>
                </a:solidFill>
                <a:effectLst/>
                <a:uFillTx/>
                <a:latin typeface="Meiryo"/>
                <a:ea typeface="Meiryo"/>
              </a:rPr>
              <a:t>をもとにした</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による自動応答や、</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有人でのチャット対応による細かなサポートを可能にするオプション機能。</a:t>
            </a:r>
            <a:endParaRPr lang="en-US" sz="1600" b="0" u="none" strike="noStrike">
              <a:solidFill>
                <a:srgbClr val="000000"/>
              </a:solidFill>
              <a:effectLst/>
              <a:uFillTx/>
              <a:latin typeface="Arial"/>
            </a:endParaRPr>
          </a:p>
        </p:txBody>
      </p:sp>
      <p:sp>
        <p:nvSpPr>
          <p:cNvPr id="1005" name="正方形/長方形 28"/>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Chat Plus</a:t>
            </a:r>
            <a:endParaRPr lang="en-US" sz="1600" b="0" u="none" strike="noStrike">
              <a:solidFill>
                <a:srgbClr val="FFFFFF"/>
              </a:solidFill>
              <a:effectLst/>
              <a:uFillTx/>
              <a:latin typeface="Arial"/>
            </a:endParaRPr>
          </a:p>
        </p:txBody>
      </p:sp>
      <p:sp>
        <p:nvSpPr>
          <p:cNvPr id="1006" name="角丸四角形 29"/>
          <p:cNvSpPr/>
          <p:nvPr/>
        </p:nvSpPr>
        <p:spPr>
          <a:xfrm>
            <a:off x="549000" y="2287440"/>
            <a:ext cx="4031280" cy="419868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pic>
        <p:nvPicPr>
          <p:cNvPr id="1007" name="図 2"/>
          <p:cNvPicPr/>
          <p:nvPr/>
        </p:nvPicPr>
        <p:blipFill>
          <a:blip r:embed="rId2"/>
          <a:srcRect t="34311" b="34333"/>
          <a:stretch/>
        </p:blipFill>
        <p:spPr>
          <a:xfrm>
            <a:off x="683640" y="2611440"/>
            <a:ext cx="3762000" cy="2097000"/>
          </a:xfrm>
          <a:prstGeom prst="rect">
            <a:avLst/>
          </a:prstGeom>
          <a:noFill/>
          <a:ln w="0">
            <a:noFill/>
          </a:ln>
        </p:spPr>
      </p:pic>
      <p:sp>
        <p:nvSpPr>
          <p:cNvPr id="1008" name="正方形/長方形 32"/>
          <p:cNvSpPr/>
          <p:nvPr/>
        </p:nvSpPr>
        <p:spPr>
          <a:xfrm>
            <a:off x="830880" y="5032800"/>
            <a:ext cx="3467160" cy="8305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ホームページから気軽にチャットで</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問い合わせができるようになり</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資料請求や商品の購入に繋がる。</a:t>
            </a:r>
            <a:endParaRPr lang="en-US" sz="1600" b="0" u="none" strike="noStrike">
              <a:solidFill>
                <a:srgbClr val="000000"/>
              </a:solidFill>
              <a:effectLst/>
              <a:uFillTx/>
              <a:latin typeface="Arial"/>
            </a:endParaRPr>
          </a:p>
        </p:txBody>
      </p:sp>
      <p:grpSp>
        <p:nvGrpSpPr>
          <p:cNvPr id="1009" name="Group 25"/>
          <p:cNvGrpSpPr/>
          <p:nvPr/>
        </p:nvGrpSpPr>
        <p:grpSpPr>
          <a:xfrm>
            <a:off x="4971240" y="3147120"/>
            <a:ext cx="600840" cy="300960"/>
            <a:chOff x="4971240" y="3147120"/>
            <a:chExt cx="600840" cy="300960"/>
          </a:xfrm>
        </p:grpSpPr>
        <p:sp>
          <p:nvSpPr>
            <p:cNvPr id="1010" name="Freeform 26"/>
            <p:cNvSpPr/>
            <p:nvPr/>
          </p:nvSpPr>
          <p:spPr>
            <a:xfrm rot="5400000">
              <a:off x="5121000" y="299700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1" name="TextBox 27"/>
            <p:cNvSpPr/>
            <p:nvPr/>
          </p:nvSpPr>
          <p:spPr>
            <a:xfrm rot="5400000">
              <a:off x="5062680" y="314568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2" name="TextBox 38"/>
          <p:cNvSpPr/>
          <p:nvPr/>
        </p:nvSpPr>
        <p:spPr>
          <a:xfrm>
            <a:off x="5836680" y="301896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自動応答と有人応答を使い分けることが</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grpSp>
        <p:nvGrpSpPr>
          <p:cNvPr id="1013" name="Group 25"/>
          <p:cNvGrpSpPr/>
          <p:nvPr/>
        </p:nvGrpSpPr>
        <p:grpSpPr>
          <a:xfrm>
            <a:off x="4971240" y="4145400"/>
            <a:ext cx="600840" cy="300960"/>
            <a:chOff x="4971240" y="4145400"/>
            <a:chExt cx="600840" cy="300960"/>
          </a:xfrm>
        </p:grpSpPr>
        <p:sp>
          <p:nvSpPr>
            <p:cNvPr id="1014" name="Freeform 26"/>
            <p:cNvSpPr/>
            <p:nvPr/>
          </p:nvSpPr>
          <p:spPr>
            <a:xfrm rot="5400000">
              <a:off x="5121000" y="399528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5" name="TextBox 27"/>
            <p:cNvSpPr/>
            <p:nvPr/>
          </p:nvSpPr>
          <p:spPr>
            <a:xfrm rot="5400000">
              <a:off x="5062680" y="414396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16" name="TextBox 38"/>
          <p:cNvSpPr/>
          <p:nvPr/>
        </p:nvSpPr>
        <p:spPr>
          <a:xfrm>
            <a:off x="5836680" y="4017240"/>
            <a:ext cx="3788640" cy="563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「訪問者管理機能」により、ホームページに訪れたユーザーを一覧で見ることが可能</a:t>
            </a:r>
            <a:endParaRPr lang="en-US" sz="1560" b="0" u="none" strike="noStrike">
              <a:solidFill>
                <a:srgbClr val="000000"/>
              </a:solidFill>
              <a:effectLst/>
              <a:uFillTx/>
              <a:latin typeface="Arial"/>
            </a:endParaRPr>
          </a:p>
        </p:txBody>
      </p:sp>
      <p:grpSp>
        <p:nvGrpSpPr>
          <p:cNvPr id="1017" name="Group 25"/>
          <p:cNvGrpSpPr/>
          <p:nvPr/>
        </p:nvGrpSpPr>
        <p:grpSpPr>
          <a:xfrm>
            <a:off x="4971240" y="5144040"/>
            <a:ext cx="600840" cy="300960"/>
            <a:chOff x="4971240" y="5144040"/>
            <a:chExt cx="600840" cy="300960"/>
          </a:xfrm>
        </p:grpSpPr>
        <p:sp>
          <p:nvSpPr>
            <p:cNvPr id="1018" name="Freeform 26"/>
            <p:cNvSpPr/>
            <p:nvPr/>
          </p:nvSpPr>
          <p:spPr>
            <a:xfrm rot="5400000">
              <a:off x="5121000" y="4993920"/>
              <a:ext cx="300960" cy="600840"/>
            </a:xfrm>
            <a:custGeom>
              <a:avLst/>
              <a:gdLst>
                <a:gd name="textAreaLeft" fmla="*/ 0 w 300960"/>
                <a:gd name="textAreaRight" fmla="*/ 301320 w 300960"/>
                <a:gd name="textAreaTop" fmla="*/ 0 h 600840"/>
                <a:gd name="textAreaBottom" fmla="*/ 601200 h 600840"/>
              </a:gdLst>
              <a:ahLst/>
              <a:cxnLst/>
              <a:rect l="textAreaLeft" t="textAreaTop" r="textAreaRight" b="textAreaBottom"/>
              <a:pathLst>
                <a:path w="452282" h="902360">
                  <a:moveTo>
                    <a:pt x="226141" y="0"/>
                  </a:moveTo>
                  <a:lnTo>
                    <a:pt x="452282" y="902360"/>
                  </a:lnTo>
                  <a:lnTo>
                    <a:pt x="0" y="902360"/>
                  </a:lnTo>
                  <a:lnTo>
                    <a:pt x="226141" y="0"/>
                  </a:lnTo>
                  <a:close/>
                </a:path>
              </a:pathLst>
            </a:custGeom>
            <a:solidFill>
              <a:srgbClr val="D9D9D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pPr>
              <a:endParaRPr lang="en-US" sz="1800" b="0" u="none" strike="noStrike">
                <a:solidFill>
                  <a:schemeClr val="dk1"/>
                </a:solidFill>
                <a:effectLst/>
                <a:uFillTx/>
                <a:latin typeface="メイリオ"/>
                <a:ea typeface="メイリオ"/>
              </a:endParaRPr>
            </a:p>
          </p:txBody>
        </p:sp>
        <p:sp>
          <p:nvSpPr>
            <p:cNvPr id="1019" name="TextBox 27"/>
            <p:cNvSpPr/>
            <p:nvPr/>
          </p:nvSpPr>
          <p:spPr>
            <a:xfrm rot="5400000">
              <a:off x="5062680" y="5142600"/>
              <a:ext cx="207000" cy="304200"/>
            </a:xfrm>
            <a:prstGeom prst="rect">
              <a:avLst/>
            </a:prstGeom>
            <a:noFill/>
            <a:ln w="0">
              <a:noFill/>
            </a:ln>
          </p:spPr>
          <p:style>
            <a:lnRef idx="0">
              <a:scrgbClr r="0" g="0" b="0"/>
            </a:lnRef>
            <a:fillRef idx="0">
              <a:scrgbClr r="0" g="0" b="0"/>
            </a:fillRef>
            <a:effectRef idx="0">
              <a:scrgbClr r="0" g="0" b="0"/>
            </a:effectRef>
            <a:fontRef idx="minor"/>
          </p:style>
          <p:txBody>
            <a:bodyPr lIns="31680" tIns="31680" rIns="31680" bIns="31680" anchor="ctr">
              <a:noAutofit/>
            </a:bodyPr>
            <a:lstStyle/>
            <a:p>
              <a:pPr algn="ctr" defTabSz="914400">
                <a:lnSpc>
                  <a:spcPts val="1740"/>
                </a:lnSpc>
              </a:pPr>
              <a:endParaRPr lang="en-US" sz="1800" b="0" u="none" strike="noStrike">
                <a:solidFill>
                  <a:schemeClr val="dk1"/>
                </a:solidFill>
                <a:effectLst/>
                <a:uFillTx/>
                <a:latin typeface="メイリオ"/>
                <a:ea typeface="メイリオ"/>
              </a:endParaRPr>
            </a:p>
          </p:txBody>
        </p:sp>
      </p:grpSp>
      <p:sp>
        <p:nvSpPr>
          <p:cNvPr id="1020" name="TextBox 38"/>
          <p:cNvSpPr/>
          <p:nvPr/>
        </p:nvSpPr>
        <p:spPr>
          <a:xfrm>
            <a:off x="5836680" y="5015880"/>
            <a:ext cx="3788640" cy="84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177"/>
              </a:lnSpc>
            </a:pPr>
            <a:r>
              <a:rPr lang="ja-JP" sz="1560" b="1" u="none" strike="noStrike">
                <a:solidFill>
                  <a:srgbClr val="494848"/>
                </a:solidFill>
                <a:effectLst/>
                <a:uFillTx/>
                <a:latin typeface="メイリオ"/>
                <a:ea typeface="メイリオ"/>
              </a:rPr>
              <a:t>公式</a:t>
            </a: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とチャットボットを連携し</a:t>
            </a:r>
            <a:endParaRPr lang="en-US" sz="1560" b="0" u="none" strike="noStrike">
              <a:solidFill>
                <a:srgbClr val="000000"/>
              </a:solidFill>
              <a:effectLst/>
              <a:uFillTx/>
              <a:latin typeface="Arial"/>
            </a:endParaRPr>
          </a:p>
          <a:p>
            <a:pPr defTabSz="914400">
              <a:lnSpc>
                <a:spcPts val="2177"/>
              </a:lnSpc>
            </a:pPr>
            <a:r>
              <a:rPr lang="en-US" sz="1560" b="1" u="none" strike="noStrike">
                <a:solidFill>
                  <a:srgbClr val="494848"/>
                </a:solidFill>
                <a:effectLst/>
                <a:uFillTx/>
                <a:latin typeface="メイリオ"/>
                <a:ea typeface="メイリオ"/>
              </a:rPr>
              <a:t>LINE</a:t>
            </a:r>
            <a:r>
              <a:rPr lang="ja-JP" sz="1560" b="1" u="none" strike="noStrike">
                <a:solidFill>
                  <a:srgbClr val="494848"/>
                </a:solidFill>
                <a:effectLst/>
                <a:uFillTx/>
                <a:latin typeface="メイリオ"/>
                <a:ea typeface="メイリオ"/>
              </a:rPr>
              <a:t>上でも同じチャットボットを活用</a:t>
            </a:r>
            <a:endParaRPr lang="en-US" sz="1560" b="0" u="none" strike="noStrike">
              <a:solidFill>
                <a:srgbClr val="000000"/>
              </a:solidFill>
              <a:effectLst/>
              <a:uFillTx/>
              <a:latin typeface="Arial"/>
            </a:endParaRPr>
          </a:p>
          <a:p>
            <a:pPr defTabSz="914400">
              <a:lnSpc>
                <a:spcPts val="2177"/>
              </a:lnSpc>
            </a:pPr>
            <a:r>
              <a:rPr lang="ja-JP" sz="1560" b="1" u="none" strike="noStrike">
                <a:solidFill>
                  <a:srgbClr val="494848"/>
                </a:solidFill>
                <a:effectLst/>
                <a:uFillTx/>
                <a:latin typeface="メイリオ"/>
                <a:ea typeface="メイリオ"/>
              </a:rPr>
              <a:t>できる</a:t>
            </a:r>
            <a:endParaRPr lang="en-US" sz="156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1"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2" name="正方形/長方形 3"/>
          <p:cNvSpPr/>
          <p:nvPr/>
        </p:nvSpPr>
        <p:spPr>
          <a:xfrm>
            <a:off x="209520" y="1455480"/>
            <a:ext cx="768960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コール</a:t>
            </a:r>
            <a:r>
              <a:rPr lang="en-US" sz="1600" b="1" u="none" strike="noStrike">
                <a:solidFill>
                  <a:schemeClr val="dk1">
                    <a:lumMod val="65000"/>
                    <a:lumOff val="35000"/>
                  </a:schemeClr>
                </a:solidFill>
                <a:effectLst/>
                <a:uFillTx/>
                <a:latin typeface="Meiryo"/>
                <a:ea typeface="Meiryo"/>
              </a:rPr>
              <a:t>Plus</a:t>
            </a:r>
            <a:r>
              <a:rPr lang="ja-JP" sz="1600" b="1" u="none" strike="noStrike">
                <a:solidFill>
                  <a:schemeClr val="dk1">
                    <a:lumMod val="65000"/>
                    <a:lumOff val="35000"/>
                  </a:schemeClr>
                </a:solidFill>
                <a:effectLst/>
                <a:uFillTx/>
                <a:latin typeface="Meiryo"/>
                <a:ea typeface="Meiryo"/>
              </a:rPr>
              <a:t>」は、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公式アカウントの有料オプション機能で、</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公式アカウントからユーザーがカスタマーサポートに電話できるサービス。</a:t>
            </a:r>
            <a:endParaRPr lang="en-US" sz="1600" b="0" u="none" strike="noStrike">
              <a:solidFill>
                <a:srgbClr val="000000"/>
              </a:solidFill>
              <a:effectLst/>
              <a:uFillTx/>
              <a:latin typeface="Arial"/>
            </a:endParaRPr>
          </a:p>
        </p:txBody>
      </p:sp>
      <p:sp>
        <p:nvSpPr>
          <p:cNvPr id="1023"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LINE</a:t>
            </a:r>
            <a:r>
              <a:rPr lang="zh-CN" sz="1600" b="1" u="none" strike="noStrike">
                <a:solidFill>
                  <a:schemeClr val="lt1"/>
                </a:solidFill>
                <a:effectLst/>
                <a:uFillTx/>
                <a:latin typeface="メイリオ"/>
                <a:ea typeface="メイリオ"/>
              </a:rPr>
              <a:t>】</a:t>
            </a:r>
            <a:r>
              <a:rPr lang="en-US" sz="1600" b="1" u="none" strike="noStrike">
                <a:solidFill>
                  <a:schemeClr val="lt1"/>
                </a:solidFill>
                <a:effectLst/>
                <a:uFillTx/>
                <a:latin typeface="メイリオ"/>
                <a:ea typeface="メイリオ"/>
              </a:rPr>
              <a:t>Call Plus</a:t>
            </a:r>
            <a:endParaRPr lang="en-US" sz="1600" b="0" u="none" strike="noStrike">
              <a:solidFill>
                <a:srgbClr val="FFFFFF"/>
              </a:solidFill>
              <a:effectLst/>
              <a:uFillTx/>
              <a:latin typeface="Arial"/>
            </a:endParaRPr>
          </a:p>
        </p:txBody>
      </p:sp>
      <p:pic>
        <p:nvPicPr>
          <p:cNvPr id="1024" name="図 5"/>
          <p:cNvPicPr/>
          <p:nvPr/>
        </p:nvPicPr>
        <p:blipFill>
          <a:blip r:embed="rId2"/>
          <a:stretch/>
        </p:blipFill>
        <p:spPr>
          <a:xfrm>
            <a:off x="668520" y="2287440"/>
            <a:ext cx="8331480" cy="2953080"/>
          </a:xfrm>
          <a:prstGeom prst="rect">
            <a:avLst/>
          </a:prstGeom>
          <a:noFill/>
          <a:ln w="0">
            <a:noFill/>
          </a:ln>
        </p:spPr>
      </p:pic>
      <p:sp>
        <p:nvSpPr>
          <p:cNvPr id="1025" name="角丸四角形 7"/>
          <p:cNvSpPr/>
          <p:nvPr/>
        </p:nvSpPr>
        <p:spPr>
          <a:xfrm>
            <a:off x="549000" y="5240880"/>
            <a:ext cx="8720640" cy="1245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26"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sp>
        <p:nvSpPr>
          <p:cNvPr id="1027" name="正方形/長方形 8"/>
          <p:cNvSpPr/>
          <p:nvPr/>
        </p:nvSpPr>
        <p:spPr>
          <a:xfrm>
            <a:off x="859320" y="5571360"/>
            <a:ext cx="798912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さらに「</a:t>
            </a:r>
            <a:r>
              <a:rPr lang="en-US" sz="1600" b="1" u="none" strike="noStrike">
                <a:solidFill>
                  <a:schemeClr val="dk1">
                    <a:lumMod val="65000"/>
                    <a:lumOff val="35000"/>
                  </a:schemeClr>
                </a:solidFill>
                <a:effectLst/>
                <a:uFillTx/>
                <a:latin typeface="Meiryo"/>
                <a:ea typeface="Meiryo"/>
              </a:rPr>
              <a:t>LINE Ai Call</a:t>
            </a:r>
            <a:r>
              <a:rPr lang="ja-JP" sz="1600" b="1" u="none" strike="noStrike">
                <a:solidFill>
                  <a:schemeClr val="dk1">
                    <a:lumMod val="65000"/>
                    <a:lumOff val="35000"/>
                  </a:schemeClr>
                </a:solidFill>
                <a:effectLst/>
                <a:uFillTx/>
                <a:latin typeface="Meiryo"/>
                <a:ea typeface="Meiryo"/>
              </a:rPr>
              <a:t>」を活用するとユーザーの要望に対して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による自然な</a:t>
            </a:r>
            <a:endParaRPr lang="en-US" sz="1600" b="0" u="none" strike="noStrike">
              <a:solidFill>
                <a:srgbClr val="000000"/>
              </a:solidFill>
              <a:effectLst/>
              <a:uFillTx/>
              <a:latin typeface="Arial"/>
            </a:endParaRPr>
          </a:p>
          <a:p>
            <a:pPr defTabSz="914400">
              <a:lnSpc>
                <a:spcPct val="100000"/>
              </a:lnSpc>
            </a:pPr>
            <a:r>
              <a:rPr lang="ja-JP" sz="1600" b="1" u="none" strike="noStrike">
                <a:solidFill>
                  <a:schemeClr val="dk1">
                    <a:lumMod val="65000"/>
                    <a:lumOff val="35000"/>
                  </a:schemeClr>
                </a:solidFill>
                <a:effectLst/>
                <a:uFillTx/>
                <a:latin typeface="Meiryo"/>
                <a:ea typeface="Meiryo"/>
              </a:rPr>
              <a:t>対話応答が可能に。要件に応じて</a:t>
            </a:r>
            <a:r>
              <a:rPr lang="en-US" sz="1600" b="1" u="none" strike="noStrike">
                <a:solidFill>
                  <a:schemeClr val="dk1">
                    <a:lumMod val="65000"/>
                    <a:lumOff val="35000"/>
                  </a:schemeClr>
                </a:solidFill>
                <a:effectLst/>
                <a:uFillTx/>
                <a:latin typeface="Meiryo"/>
                <a:ea typeface="Meiryo"/>
              </a:rPr>
              <a:t>Ai</a:t>
            </a:r>
            <a:r>
              <a:rPr lang="ja-JP" sz="1600" b="1" u="none" strike="noStrike">
                <a:solidFill>
                  <a:schemeClr val="dk1">
                    <a:lumMod val="65000"/>
                    <a:lumOff val="35000"/>
                  </a:schemeClr>
                </a:solidFill>
                <a:effectLst/>
                <a:uFillTx/>
                <a:latin typeface="Meiryo"/>
                <a:ea typeface="Meiryo"/>
              </a:rPr>
              <a:t>と有人オペレータの振り分け業務効率化を支援。</a:t>
            </a:r>
            <a:endParaRPr lang="en-US" sz="160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Google Shape;156;p7"/>
          <p:cNvSpPr/>
          <p:nvPr/>
        </p:nvSpPr>
        <p:spPr>
          <a:xfrm>
            <a:off x="549000" y="138240"/>
            <a:ext cx="651456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002060"/>
                </a:solidFill>
                <a:effectLst/>
                <a:uFillTx/>
                <a:latin typeface="Meiryo"/>
                <a:ea typeface="Meiryo"/>
              </a:rPr>
              <a:t>その他 代表的な活用機能</a:t>
            </a:r>
            <a:endParaRPr lang="en-US" sz="1600" b="0" u="none" strike="noStrike">
              <a:solidFill>
                <a:srgbClr val="000000"/>
              </a:solidFill>
              <a:effectLst/>
              <a:uFillTx/>
              <a:latin typeface="Arial"/>
            </a:endParaRPr>
          </a:p>
        </p:txBody>
      </p:sp>
      <p:sp>
        <p:nvSpPr>
          <p:cNvPr id="1029" name="正方形/長方形 4"/>
          <p:cNvSpPr/>
          <p:nvPr/>
        </p:nvSpPr>
        <p:spPr>
          <a:xfrm>
            <a:off x="295560" y="822960"/>
            <a:ext cx="2540880" cy="48528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でログイン</a:t>
            </a:r>
            <a:endParaRPr lang="en-US" sz="1600" b="0" u="none" strike="noStrike">
              <a:solidFill>
                <a:srgbClr val="FFFFFF"/>
              </a:solidFill>
              <a:effectLst/>
              <a:uFillTx/>
              <a:latin typeface="Arial"/>
            </a:endParaRPr>
          </a:p>
        </p:txBody>
      </p:sp>
      <p:sp>
        <p:nvSpPr>
          <p:cNvPr id="1030" name="正方形/長方形 7"/>
          <p:cNvSpPr/>
          <p:nvPr/>
        </p:nvSpPr>
        <p:spPr>
          <a:xfrm>
            <a:off x="4642560" y="6545520"/>
            <a:ext cx="5046120" cy="2458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000" b="1" u="none" strike="noStrike">
                <a:solidFill>
                  <a:schemeClr val="dk1">
                    <a:lumMod val="65000"/>
                    <a:lumOff val="35000"/>
                  </a:schemeClr>
                </a:solidFill>
                <a:effectLst/>
                <a:uFillTx/>
                <a:latin typeface="Meiryo"/>
                <a:ea typeface="Meiryo"/>
              </a:rPr>
              <a:t>引用：</a:t>
            </a:r>
            <a:r>
              <a:rPr lang="en-US" sz="1000" b="1" u="none" strike="noStrike">
                <a:solidFill>
                  <a:schemeClr val="dk1">
                    <a:lumMod val="65000"/>
                    <a:lumOff val="35000"/>
                  </a:schemeClr>
                </a:solidFill>
                <a:effectLst/>
                <a:uFillTx/>
                <a:latin typeface="Meiryo"/>
                <a:ea typeface="Meiryo"/>
              </a:rPr>
              <a:t>https://prtimes.jp/main/html/rd/p/000003920.000001594.html</a:t>
            </a:r>
            <a:endParaRPr lang="en-US" sz="1000" b="0" u="none" strike="noStrike">
              <a:solidFill>
                <a:srgbClr val="000000"/>
              </a:solidFill>
              <a:effectLst/>
              <a:uFillTx/>
              <a:latin typeface="Arial"/>
            </a:endParaRPr>
          </a:p>
        </p:txBody>
      </p:sp>
      <p:pic>
        <p:nvPicPr>
          <p:cNvPr id="1031" name="図 2"/>
          <p:cNvPicPr/>
          <p:nvPr/>
        </p:nvPicPr>
        <p:blipFill>
          <a:blip r:embed="rId2"/>
          <a:stretch/>
        </p:blipFill>
        <p:spPr>
          <a:xfrm>
            <a:off x="414000" y="1995120"/>
            <a:ext cx="9077760" cy="4550040"/>
          </a:xfrm>
          <a:prstGeom prst="rect">
            <a:avLst/>
          </a:prstGeom>
          <a:noFill/>
          <a:ln w="0">
            <a:noFill/>
          </a:ln>
        </p:spPr>
      </p:pic>
      <p:sp>
        <p:nvSpPr>
          <p:cNvPr id="1032" name="正方形/長方形 3"/>
          <p:cNvSpPr/>
          <p:nvPr/>
        </p:nvSpPr>
        <p:spPr>
          <a:xfrm>
            <a:off x="209520" y="1455480"/>
            <a:ext cx="8925480" cy="584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1600" b="1" u="none" strike="noStrike">
                <a:solidFill>
                  <a:schemeClr val="dk1">
                    <a:lumMod val="65000"/>
                    <a:lumOff val="35000"/>
                  </a:schemeClr>
                </a:solidFill>
                <a:effectLst/>
                <a:uFillTx/>
                <a:latin typeface="Meiryo"/>
                <a:ea typeface="Meiryo"/>
              </a:rPr>
              <a:t>「</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でログイン」は、</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上のユーザー情報を活用して</a:t>
            </a:r>
            <a:r>
              <a:rPr lang="en-US" sz="1600" b="1" u="none" strike="noStrike">
                <a:solidFill>
                  <a:schemeClr val="dk1">
                    <a:lumMod val="65000"/>
                    <a:lumOff val="35000"/>
                  </a:schemeClr>
                </a:solidFill>
                <a:effectLst/>
                <a:uFillTx/>
                <a:latin typeface="Meiryo"/>
                <a:ea typeface="Meiryo"/>
              </a:rPr>
              <a:t>WEB</a:t>
            </a:r>
            <a:r>
              <a:rPr lang="ja-JP" sz="1600" b="1" u="none" strike="noStrike">
                <a:solidFill>
                  <a:schemeClr val="dk1">
                    <a:lumMod val="65000"/>
                    <a:lumOff val="35000"/>
                  </a:schemeClr>
                </a:solidFill>
                <a:effectLst/>
                <a:uFillTx/>
                <a:latin typeface="Meiryo"/>
                <a:ea typeface="Meiryo"/>
              </a:rPr>
              <a:t>サイト登録が出来る仕組み。</a:t>
            </a:r>
            <a:endParaRPr lang="en-US" sz="1600" b="0" u="none" strike="noStrike">
              <a:solidFill>
                <a:srgbClr val="000000"/>
              </a:solidFill>
              <a:effectLst/>
              <a:uFillTx/>
              <a:latin typeface="Arial"/>
            </a:endParaRPr>
          </a:p>
          <a:p>
            <a:pPr defTabSz="914400">
              <a:lnSpc>
                <a:spcPct val="100000"/>
              </a:lnSpc>
            </a:pPr>
            <a:r>
              <a:rPr lang="en-US" sz="1600" b="1" u="none" strike="noStrike">
                <a:solidFill>
                  <a:schemeClr val="dk1">
                    <a:lumMod val="65000"/>
                    <a:lumOff val="35000"/>
                  </a:schemeClr>
                </a:solidFill>
                <a:effectLst/>
                <a:uFillTx/>
                <a:latin typeface="Meiryo"/>
                <a:ea typeface="Meiryo"/>
              </a:rPr>
              <a:t>ID</a:t>
            </a:r>
            <a:r>
              <a:rPr lang="ja-JP" sz="1600" b="1" u="none" strike="noStrike">
                <a:solidFill>
                  <a:schemeClr val="dk1">
                    <a:lumMod val="65000"/>
                    <a:lumOff val="35000"/>
                  </a:schemeClr>
                </a:solidFill>
                <a:effectLst/>
                <a:uFillTx/>
                <a:latin typeface="Meiryo"/>
                <a:ea typeface="Meiryo"/>
              </a:rPr>
              <a:t>連携を完了することにより、サービス</a:t>
            </a:r>
            <a:r>
              <a:rPr lang="en-US" sz="1600" b="1" u="none" strike="noStrike">
                <a:solidFill>
                  <a:schemeClr val="dk1">
                    <a:lumMod val="65000"/>
                    <a:lumOff val="35000"/>
                  </a:schemeClr>
                </a:solidFill>
                <a:effectLst/>
                <a:uFillTx/>
                <a:latin typeface="Meiryo"/>
                <a:ea typeface="Meiryo"/>
              </a:rPr>
              <a:t>(WEB) ⇔ LINE </a:t>
            </a:r>
            <a:r>
              <a:rPr lang="ja-JP" sz="1600" b="1" u="none" strike="noStrike">
                <a:solidFill>
                  <a:schemeClr val="dk1">
                    <a:lumMod val="65000"/>
                    <a:lumOff val="35000"/>
                  </a:schemeClr>
                </a:solidFill>
                <a:effectLst/>
                <a:uFillTx/>
                <a:latin typeface="Meiryo"/>
                <a:ea typeface="Meiryo"/>
              </a:rPr>
              <a:t>での効果的なメッセージが可能に。</a:t>
            </a:r>
            <a:endParaRPr lang="en-US" sz="160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sp>
        <p:nvSpPr>
          <p:cNvPr id="1034" name="角丸四角形 8"/>
          <p:cNvSpPr/>
          <p:nvPr/>
        </p:nvSpPr>
        <p:spPr>
          <a:xfrm>
            <a:off x="66628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5" name="Google Shape;178;p7"/>
          <p:cNvSpPr/>
          <p:nvPr/>
        </p:nvSpPr>
        <p:spPr>
          <a:xfrm>
            <a:off x="6756120" y="4153320"/>
            <a:ext cx="2800080" cy="6750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オフライン動線</a:t>
            </a:r>
            <a:endParaRPr lang="en-US" sz="2000" b="0" u="none" strike="noStrike">
              <a:solidFill>
                <a:srgbClr val="000000"/>
              </a:solidFill>
              <a:effectLst/>
              <a:uFillTx/>
              <a:latin typeface="Arial"/>
            </a:endParaRPr>
          </a:p>
          <a:p>
            <a:pPr algn="ctr" defTabSz="914400">
              <a:lnSpc>
                <a:spcPct val="100000"/>
              </a:lnSpc>
            </a:pPr>
            <a:r>
              <a:rPr lang="ja-JP" sz="1400" b="1" u="none" strike="noStrike">
                <a:solidFill>
                  <a:srgbClr val="002060"/>
                </a:solidFill>
                <a:effectLst/>
                <a:uFillTx/>
                <a:latin typeface="Meiryo"/>
                <a:ea typeface="Meiryo"/>
              </a:rPr>
              <a:t>ニュースリリース等</a:t>
            </a:r>
            <a:endParaRPr lang="en-US" sz="1400" b="0" u="none" strike="noStrike">
              <a:solidFill>
                <a:srgbClr val="000000"/>
              </a:solidFill>
              <a:effectLst/>
              <a:uFillTx/>
              <a:latin typeface="Arial"/>
            </a:endParaRPr>
          </a:p>
        </p:txBody>
      </p:sp>
      <p:sp>
        <p:nvSpPr>
          <p:cNvPr id="1036" name="角丸四角形 7"/>
          <p:cNvSpPr/>
          <p:nvPr/>
        </p:nvSpPr>
        <p:spPr>
          <a:xfrm>
            <a:off x="3462840" y="40903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7" name="Google Shape;178;p7"/>
          <p:cNvSpPr/>
          <p:nvPr/>
        </p:nvSpPr>
        <p:spPr>
          <a:xfrm>
            <a:off x="3562920" y="424548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WEB</a:t>
            </a:r>
            <a:r>
              <a:rPr lang="ja-JP" sz="2000" b="1" u="none" strike="noStrike">
                <a:solidFill>
                  <a:srgbClr val="002060"/>
                </a:solidFill>
                <a:effectLst/>
                <a:uFillTx/>
                <a:latin typeface="Meiryo"/>
                <a:ea typeface="Meiryo"/>
              </a:rPr>
              <a:t>サイト動線整備</a:t>
            </a:r>
            <a:endParaRPr lang="en-US" sz="2000" b="0" u="none" strike="noStrike">
              <a:solidFill>
                <a:srgbClr val="000000"/>
              </a:solidFill>
              <a:effectLst/>
              <a:uFillTx/>
              <a:latin typeface="Arial"/>
            </a:endParaRPr>
          </a:p>
        </p:txBody>
      </p:sp>
      <p:sp>
        <p:nvSpPr>
          <p:cNvPr id="1038" name="角丸四角形 8"/>
          <p:cNvSpPr/>
          <p:nvPr/>
        </p:nvSpPr>
        <p:spPr>
          <a:xfrm>
            <a:off x="262080" y="40932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39" name="Google Shape;178;p7"/>
          <p:cNvSpPr/>
          <p:nvPr/>
        </p:nvSpPr>
        <p:spPr>
          <a:xfrm>
            <a:off x="598320" y="4153320"/>
            <a:ext cx="2314080" cy="64440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友だち紹介</a:t>
            </a:r>
            <a:endParaRPr lang="en-US" sz="2000" b="0" u="none" strike="noStrike">
              <a:solidFill>
                <a:srgbClr val="000000"/>
              </a:solidFill>
              <a:effectLst/>
              <a:uFillTx/>
              <a:latin typeface="Arial"/>
            </a:endParaRPr>
          </a:p>
          <a:p>
            <a:pPr algn="ctr" defTabSz="914400">
              <a:lnSpc>
                <a:spcPct val="100000"/>
              </a:lnSpc>
            </a:pPr>
            <a:r>
              <a:rPr lang="ja-JP" sz="1200" b="1" u="none" strike="noStrike">
                <a:solidFill>
                  <a:srgbClr val="002060"/>
                </a:solidFill>
                <a:effectLst/>
                <a:uFillTx/>
                <a:latin typeface="Meiryo"/>
                <a:ea typeface="Meiryo"/>
              </a:rPr>
              <a:t>（</a:t>
            </a:r>
            <a:r>
              <a:rPr lang="en-US" sz="1200" b="1" u="none" strike="noStrike">
                <a:solidFill>
                  <a:srgbClr val="002060"/>
                </a:solidFill>
                <a:effectLst/>
                <a:uFillTx/>
                <a:latin typeface="Meiryo"/>
                <a:ea typeface="Meiryo"/>
              </a:rPr>
              <a:t>LINE</a:t>
            </a:r>
            <a:r>
              <a:rPr lang="ja-JP" sz="1200" b="1" u="none" strike="noStrike">
                <a:solidFill>
                  <a:srgbClr val="002060"/>
                </a:solidFill>
                <a:effectLst/>
                <a:uFillTx/>
                <a:latin typeface="Meiryo"/>
                <a:ea typeface="Meiryo"/>
              </a:rPr>
              <a:t>ポイントコネクト）</a:t>
            </a:r>
            <a:endParaRPr lang="en-US" sz="1200" b="0" u="none" strike="noStrike">
              <a:solidFill>
                <a:srgbClr val="000000"/>
              </a:solidFill>
              <a:effectLst/>
              <a:uFillTx/>
              <a:latin typeface="Arial"/>
            </a:endParaRPr>
          </a:p>
        </p:txBody>
      </p:sp>
      <p:sp>
        <p:nvSpPr>
          <p:cNvPr id="1040" name="角丸四角形 8"/>
          <p:cNvSpPr/>
          <p:nvPr/>
        </p:nvSpPr>
        <p:spPr>
          <a:xfrm>
            <a:off x="66628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1" name="Google Shape;178;p7"/>
          <p:cNvSpPr/>
          <p:nvPr/>
        </p:nvSpPr>
        <p:spPr>
          <a:xfrm>
            <a:off x="67561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LINE</a:t>
            </a:r>
            <a:r>
              <a:rPr lang="ja-JP" sz="2000" b="1" u="none" strike="noStrike">
                <a:solidFill>
                  <a:srgbClr val="002060"/>
                </a:solidFill>
                <a:effectLst/>
                <a:uFillTx/>
                <a:latin typeface="Meiryo"/>
                <a:ea typeface="Meiryo"/>
              </a:rPr>
              <a:t>ポイント</a:t>
            </a:r>
            <a:r>
              <a:rPr lang="en-US" sz="2000" b="1" u="none" strike="noStrike">
                <a:solidFill>
                  <a:srgbClr val="002060"/>
                </a:solidFill>
                <a:effectLst/>
                <a:uFillTx/>
                <a:latin typeface="Meiryo"/>
                <a:ea typeface="Meiryo"/>
              </a:rPr>
              <a:t>Ads</a:t>
            </a:r>
            <a:endParaRPr lang="en-US" sz="2000" b="0" u="none" strike="noStrike">
              <a:solidFill>
                <a:srgbClr val="000000"/>
              </a:solidFill>
              <a:effectLst/>
              <a:uFillTx/>
              <a:latin typeface="Arial"/>
            </a:endParaRPr>
          </a:p>
        </p:txBody>
      </p:sp>
      <p:sp>
        <p:nvSpPr>
          <p:cNvPr id="1042" name="角丸四角形 7"/>
          <p:cNvSpPr/>
          <p:nvPr/>
        </p:nvSpPr>
        <p:spPr>
          <a:xfrm>
            <a:off x="3462840" y="185652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3" name="Google Shape;178;p7"/>
          <p:cNvSpPr/>
          <p:nvPr/>
        </p:nvSpPr>
        <p:spPr>
          <a:xfrm>
            <a:off x="3562920" y="2012040"/>
            <a:ext cx="2800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ja-JP" sz="2000" b="1" u="none" strike="noStrike">
                <a:solidFill>
                  <a:srgbClr val="002060"/>
                </a:solidFill>
                <a:effectLst/>
                <a:uFillTx/>
                <a:latin typeface="Meiryo"/>
                <a:ea typeface="Meiryo"/>
              </a:rPr>
              <a:t>スタンプ施策</a:t>
            </a:r>
            <a:endParaRPr lang="en-US" sz="2000" b="0" u="none" strike="noStrike">
              <a:solidFill>
                <a:srgbClr val="000000"/>
              </a:solidFill>
              <a:effectLst/>
              <a:uFillTx/>
              <a:latin typeface="Arial"/>
            </a:endParaRPr>
          </a:p>
        </p:txBody>
      </p:sp>
      <p:sp>
        <p:nvSpPr>
          <p:cNvPr id="1044" name="角丸四角形 8"/>
          <p:cNvSpPr/>
          <p:nvPr/>
        </p:nvSpPr>
        <p:spPr>
          <a:xfrm>
            <a:off x="262080" y="1859400"/>
            <a:ext cx="2985840" cy="2154240"/>
          </a:xfrm>
          <a:prstGeom prst="roundRect">
            <a:avLst>
              <a:gd name="adj" fmla="val 3567"/>
            </a:avLst>
          </a:prstGeom>
          <a:solidFill>
            <a:srgbClr val="F2F2F2"/>
          </a:solidFill>
          <a:ln w="25400">
            <a:solidFill>
              <a:srgbClr val="D9D9D9"/>
            </a:solidFill>
            <a:round/>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endParaRPr lang="en-US" sz="1400" b="0" u="none" strike="noStrike">
              <a:solidFill>
                <a:srgbClr val="FFFFFF"/>
              </a:solidFill>
              <a:effectLst/>
              <a:uFillTx/>
              <a:latin typeface="Arial"/>
              <a:ea typeface="ＭＳ Ｐゴシック"/>
            </a:endParaRPr>
          </a:p>
        </p:txBody>
      </p:sp>
      <p:sp>
        <p:nvSpPr>
          <p:cNvPr id="1045" name="Google Shape;178;p7"/>
          <p:cNvSpPr/>
          <p:nvPr/>
        </p:nvSpPr>
        <p:spPr>
          <a:xfrm>
            <a:off x="598320" y="2012040"/>
            <a:ext cx="2314080" cy="459720"/>
          </a:xfrm>
          <a:prstGeom prst="rect">
            <a:avLst/>
          </a:prstGeom>
          <a:noFill/>
          <a:ln w="0">
            <a:noFill/>
          </a:ln>
        </p:spPr>
        <p:style>
          <a:lnRef idx="0">
            <a:scrgbClr r="0" g="0" b="0"/>
          </a:lnRef>
          <a:fillRef idx="0">
            <a:scrgbClr r="0" g="0" b="0"/>
          </a:fillRef>
          <a:effectRef idx="0">
            <a:scrgbClr r="0" g="0" b="0"/>
          </a:effectRef>
          <a:fontRef idx="minor"/>
        </p:style>
        <p:txBody>
          <a:bodyPr lIns="150840" tIns="75240" rIns="150840" bIns="75240" anchor="t">
            <a:spAutoFit/>
          </a:bodyPr>
          <a:lstStyle/>
          <a:p>
            <a:pPr algn="ctr" defTabSz="914400">
              <a:lnSpc>
                <a:spcPct val="100000"/>
              </a:lnSpc>
            </a:pPr>
            <a:r>
              <a:rPr lang="en-US" sz="2000" b="1" u="none" strike="noStrike">
                <a:solidFill>
                  <a:srgbClr val="002060"/>
                </a:solidFill>
                <a:effectLst/>
                <a:uFillTx/>
                <a:latin typeface="Meiryo"/>
                <a:ea typeface="Meiryo"/>
              </a:rPr>
              <a:t>CPF</a:t>
            </a:r>
            <a:r>
              <a:rPr lang="ja-JP" sz="2000" b="1" u="none" strike="noStrike">
                <a:solidFill>
                  <a:srgbClr val="002060"/>
                </a:solidFill>
                <a:effectLst/>
                <a:uFillTx/>
                <a:latin typeface="Meiryo"/>
                <a:ea typeface="Meiryo"/>
              </a:rPr>
              <a:t>広告</a:t>
            </a:r>
            <a:endParaRPr lang="en-US" sz="2000" b="0" u="none" strike="noStrike">
              <a:solidFill>
                <a:srgbClr val="000000"/>
              </a:solidFill>
              <a:effectLst/>
              <a:uFillTx/>
              <a:latin typeface="Arial"/>
            </a:endParaRPr>
          </a:p>
        </p:txBody>
      </p:sp>
      <p:sp>
        <p:nvSpPr>
          <p:cNvPr id="1046" name="テキスト ボックス 15"/>
          <p:cNvSpPr/>
          <p:nvPr/>
        </p:nvSpPr>
        <p:spPr>
          <a:xfrm>
            <a:off x="6662880" y="521208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47" name="正方形/長方形 17"/>
          <p:cNvSpPr/>
          <p:nvPr/>
        </p:nvSpPr>
        <p:spPr>
          <a:xfrm>
            <a:off x="519840" y="4164120"/>
            <a:ext cx="245376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8" name="正方形/長方形 18"/>
          <p:cNvSpPr/>
          <p:nvPr/>
        </p:nvSpPr>
        <p:spPr>
          <a:xfrm>
            <a:off x="3613680" y="4162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49" name="正方形/長方形 19"/>
          <p:cNvSpPr/>
          <p:nvPr/>
        </p:nvSpPr>
        <p:spPr>
          <a:xfrm>
            <a:off x="6825240" y="415332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0" name="正方形/長方形 20"/>
          <p:cNvSpPr/>
          <p:nvPr/>
        </p:nvSpPr>
        <p:spPr>
          <a:xfrm>
            <a:off x="682524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1" name="正方形/長方形 21"/>
          <p:cNvSpPr/>
          <p:nvPr/>
        </p:nvSpPr>
        <p:spPr>
          <a:xfrm>
            <a:off x="405720" y="193896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2" name="正方形/長方形 22"/>
          <p:cNvSpPr/>
          <p:nvPr/>
        </p:nvSpPr>
        <p:spPr>
          <a:xfrm>
            <a:off x="3627720" y="1936440"/>
            <a:ext cx="2698920" cy="610920"/>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Calibri"/>
            </a:endParaRPr>
          </a:p>
        </p:txBody>
      </p:sp>
      <p:sp>
        <p:nvSpPr>
          <p:cNvPr id="1053" name="テキスト ボックス 24"/>
          <p:cNvSpPr/>
          <p:nvPr/>
        </p:nvSpPr>
        <p:spPr>
          <a:xfrm>
            <a:off x="345708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0" u="none" strike="noStrike">
                <a:solidFill>
                  <a:schemeClr val="dk1"/>
                </a:solidFill>
                <a:effectLst/>
                <a:uFillTx/>
                <a:latin typeface="Meiryo"/>
                <a:ea typeface="Meiryo"/>
              </a:rPr>
              <a:t>コンサル発注</a:t>
            </a:r>
            <a:r>
              <a:rPr lang="ja-JP" sz="1200" b="0" u="none" strike="noStrike">
                <a:solidFill>
                  <a:schemeClr val="dk1"/>
                </a:solidFill>
                <a:effectLst/>
                <a:uFillTx/>
                <a:latin typeface="Meiryo"/>
                <a:ea typeface="Meiryo"/>
              </a:rPr>
              <a:t>であれば </a:t>
            </a:r>
            <a:r>
              <a:rPr lang="ja-JP" sz="1800" b="1" u="none" strike="noStrike">
                <a:solidFill>
                  <a:srgbClr val="FF0000"/>
                </a:solidFill>
                <a:effectLst/>
                <a:uFillTx/>
                <a:latin typeface="Meiryo"/>
                <a:ea typeface="Meiryo"/>
              </a:rPr>
              <a:t>無償</a:t>
            </a:r>
            <a:endParaRPr lang="en-US" sz="1800" b="0" u="none" strike="noStrike">
              <a:solidFill>
                <a:srgbClr val="000000"/>
              </a:solidFill>
              <a:effectLst/>
              <a:uFillTx/>
              <a:latin typeface="Arial"/>
            </a:endParaRPr>
          </a:p>
        </p:txBody>
      </p:sp>
      <p:sp>
        <p:nvSpPr>
          <p:cNvPr id="1054" name="テキスト ボックス 26"/>
          <p:cNvSpPr/>
          <p:nvPr/>
        </p:nvSpPr>
        <p:spPr>
          <a:xfrm>
            <a:off x="250920" y="5206320"/>
            <a:ext cx="2980440" cy="369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800" b="1" u="none" strike="noStrike">
                <a:solidFill>
                  <a:schemeClr val="dk1">
                    <a:lumMod val="50000"/>
                    <a:lumOff val="50000"/>
                  </a:schemeClr>
                </a:solidFill>
                <a:effectLst/>
                <a:uFillTx/>
                <a:latin typeface="Meiryo"/>
                <a:ea typeface="Meiryo"/>
              </a:rPr>
              <a:t>サービス停止中</a:t>
            </a:r>
            <a:endParaRPr lang="en-US" sz="1800" b="0" u="none" strike="noStrike">
              <a:solidFill>
                <a:srgbClr val="000000"/>
              </a:solidFill>
              <a:effectLst/>
              <a:uFillTx/>
              <a:latin typeface="Arial"/>
            </a:endParaRPr>
          </a:p>
        </p:txBody>
      </p:sp>
      <p:sp>
        <p:nvSpPr>
          <p:cNvPr id="1055" name="テキスト ボックス 27"/>
          <p:cNvSpPr/>
          <p:nvPr/>
        </p:nvSpPr>
        <p:spPr>
          <a:xfrm>
            <a:off x="6680520" y="297828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6" name="テキスト ボックス 28"/>
          <p:cNvSpPr/>
          <p:nvPr/>
        </p:nvSpPr>
        <p:spPr>
          <a:xfrm>
            <a:off x="347472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（期間合計）</a:t>
            </a:r>
            <a:endParaRPr lang="en-US" sz="1200" b="0" u="none" strike="noStrike">
              <a:solidFill>
                <a:srgbClr val="000000"/>
              </a:solidFill>
              <a:effectLst/>
              <a:uFillTx/>
              <a:latin typeface="Arial"/>
            </a:endParaRPr>
          </a:p>
        </p:txBody>
      </p:sp>
      <p:sp>
        <p:nvSpPr>
          <p:cNvPr id="1057" name="テキスト ボックス 29"/>
          <p:cNvSpPr/>
          <p:nvPr/>
        </p:nvSpPr>
        <p:spPr>
          <a:xfrm>
            <a:off x="268560" y="2972520"/>
            <a:ext cx="2980440" cy="399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2000" b="1" u="none" strike="noStrike">
                <a:solidFill>
                  <a:srgbClr val="FF0000"/>
                </a:solidFill>
                <a:effectLst/>
                <a:uFillTx/>
                <a:latin typeface="Meiryo"/>
                <a:ea typeface="Meiryo"/>
              </a:rPr>
              <a:t>20</a:t>
            </a:r>
            <a:r>
              <a:rPr lang="ja-JP" sz="2000" b="1" u="none" strike="noStrike">
                <a:solidFill>
                  <a:srgbClr val="FF0000"/>
                </a:solidFill>
                <a:effectLst/>
                <a:uFillTx/>
                <a:latin typeface="Meiryo"/>
                <a:ea typeface="Meiryo"/>
              </a:rPr>
              <a:t>万円</a:t>
            </a:r>
            <a:r>
              <a:rPr lang="en-US" sz="2000" b="1" u="none" strike="noStrike">
                <a:solidFill>
                  <a:srgbClr val="FF0000"/>
                </a:solidFill>
                <a:effectLst/>
                <a:uFillTx/>
                <a:latin typeface="Meiryo"/>
                <a:ea typeface="Meiryo"/>
              </a:rPr>
              <a:t>~</a:t>
            </a:r>
            <a:r>
              <a:rPr lang="ja-JP" sz="1200" b="0" u="none" strike="noStrike">
                <a:solidFill>
                  <a:schemeClr val="dk1"/>
                </a:solidFill>
                <a:effectLst/>
                <a:uFillTx/>
                <a:latin typeface="Meiryo"/>
                <a:ea typeface="Meiryo"/>
              </a:rPr>
              <a:t>（</a:t>
            </a:r>
            <a:r>
              <a:rPr lang="en-US" sz="1200" b="0" u="none" strike="noStrike">
                <a:solidFill>
                  <a:schemeClr val="dk1"/>
                </a:solidFill>
                <a:effectLst/>
                <a:uFillTx/>
                <a:latin typeface="Meiryo"/>
                <a:ea typeface="Meiryo"/>
              </a:rPr>
              <a:t>1</a:t>
            </a:r>
            <a:r>
              <a:rPr lang="ja-JP" sz="1200" b="0" u="none" strike="noStrike">
                <a:solidFill>
                  <a:schemeClr val="dk1"/>
                </a:solidFill>
                <a:effectLst/>
                <a:uFillTx/>
                <a:latin typeface="Meiryo"/>
                <a:ea typeface="Meiryo"/>
              </a:rPr>
              <a:t>ヶ月</a:t>
            </a:r>
            <a:r>
              <a:rPr lang="en-US" sz="1200" b="0" u="none" strike="noStrike">
                <a:solidFill>
                  <a:schemeClr val="dk1"/>
                </a:solidFill>
                <a:effectLst/>
                <a:uFillTx/>
                <a:latin typeface="Meiryo"/>
                <a:ea typeface="Meiryo"/>
              </a:rPr>
              <a:t>~</a:t>
            </a:r>
            <a:r>
              <a:rPr lang="ja-JP" sz="1200" b="0" u="none" strike="noStrike">
                <a:solidFill>
                  <a:schemeClr val="dk1"/>
                </a:solidFill>
                <a:effectLst/>
                <a:uFillTx/>
                <a:latin typeface="Meiryo"/>
                <a:ea typeface="Meiryo"/>
              </a:rPr>
              <a:t>）</a:t>
            </a:r>
            <a:endParaRPr lang="en-US" sz="1200" b="0" u="none" strike="noStrike">
              <a:solidFill>
                <a:srgbClr val="000000"/>
              </a:solidFill>
              <a:effectLst/>
              <a:uFillTx/>
              <a:latin typeface="Arial"/>
            </a:endParaRPr>
          </a:p>
        </p:txBody>
      </p:sp>
      <p:sp>
        <p:nvSpPr>
          <p:cNvPr id="1058" name="正方形/長方形 30"/>
          <p:cNvSpPr/>
          <p:nvPr/>
        </p:nvSpPr>
        <p:spPr>
          <a:xfrm>
            <a:off x="663480" y="899280"/>
            <a:ext cx="86277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600" b="1" u="none" strike="noStrike">
                <a:solidFill>
                  <a:schemeClr val="dk1">
                    <a:lumMod val="65000"/>
                    <a:lumOff val="35000"/>
                  </a:schemeClr>
                </a:solidFill>
                <a:effectLst/>
                <a:uFillTx/>
                <a:latin typeface="Meiryo"/>
                <a:ea typeface="Meiryo"/>
              </a:rPr>
              <a:t>各拡張施策についても</a:t>
            </a:r>
            <a:r>
              <a:rPr lang="en-US" sz="1600" b="1" u="none" strike="noStrike">
                <a:solidFill>
                  <a:schemeClr val="dk1">
                    <a:lumMod val="65000"/>
                    <a:lumOff val="35000"/>
                  </a:schemeClr>
                </a:solidFill>
                <a:effectLst/>
                <a:uFillTx/>
                <a:latin typeface="Meiryo"/>
                <a:ea typeface="Meiryo"/>
              </a:rPr>
              <a:t>MIN</a:t>
            </a:r>
            <a:r>
              <a:rPr lang="ja-JP" sz="1600" b="1" u="none" strike="noStrike">
                <a:solidFill>
                  <a:schemeClr val="dk1">
                    <a:lumMod val="65000"/>
                    <a:lumOff val="35000"/>
                  </a:schemeClr>
                </a:solidFill>
                <a:effectLst/>
                <a:uFillTx/>
                <a:latin typeface="Meiryo"/>
                <a:ea typeface="Meiryo"/>
              </a:rPr>
              <a:t>金額からの発注、動線設計が可能です。</a:t>
            </a:r>
            <a:endParaRPr lang="en-US" sz="1600" b="0" u="none" strike="noStrike">
              <a:solidFill>
                <a:srgbClr val="000000"/>
              </a:solidFill>
              <a:effectLst/>
              <a:uFillTx/>
              <a:latin typeface="Arial"/>
            </a:endParaRPr>
          </a:p>
          <a:p>
            <a:pPr algn="ct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友だち追加後の動線設計（特に友だち追加後すぐ）の検証後の拡大施策として用意。</a:t>
            </a:r>
            <a:endParaRPr lang="en-US" sz="16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9"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提供施策について</a:t>
            </a:r>
            <a:endParaRPr lang="en-US" sz="1600" b="0" u="none" strike="noStrike">
              <a:solidFill>
                <a:srgbClr val="000000"/>
              </a:solidFill>
              <a:effectLst/>
              <a:uFillTx/>
              <a:latin typeface="Arial"/>
            </a:endParaRPr>
          </a:p>
        </p:txBody>
      </p:sp>
      <p:pic>
        <p:nvPicPr>
          <p:cNvPr id="1060" name="図 51"/>
          <p:cNvPicPr/>
          <p:nvPr/>
        </p:nvPicPr>
        <p:blipFill>
          <a:blip r:embed="rId2"/>
          <a:stretch/>
        </p:blipFill>
        <p:spPr>
          <a:xfrm>
            <a:off x="554400" y="1857960"/>
            <a:ext cx="4461120" cy="1873440"/>
          </a:xfrm>
          <a:prstGeom prst="rect">
            <a:avLst/>
          </a:prstGeom>
          <a:noFill/>
          <a:ln w="0">
            <a:noFill/>
          </a:ln>
        </p:spPr>
      </p:pic>
      <p:sp>
        <p:nvSpPr>
          <p:cNvPr id="1061" name="正方形/長方形 52"/>
          <p:cNvSpPr/>
          <p:nvPr/>
        </p:nvSpPr>
        <p:spPr>
          <a:xfrm>
            <a:off x="419760" y="732600"/>
            <a:ext cx="2365200" cy="672840"/>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lt1"/>
                </a:solidFill>
                <a:effectLst/>
                <a:uFillTx/>
                <a:latin typeface="メイリオ"/>
                <a:ea typeface="メイリオ"/>
              </a:rPr>
              <a:t>LINE</a:t>
            </a:r>
            <a:r>
              <a:rPr lang="ja-JP" sz="1600" b="1" u="none" strike="noStrike">
                <a:solidFill>
                  <a:schemeClr val="lt1"/>
                </a:solidFill>
                <a:effectLst/>
                <a:uFillTx/>
                <a:latin typeface="メイリオ"/>
                <a:ea typeface="メイリオ"/>
              </a:rPr>
              <a:t>広告</a:t>
            </a:r>
            <a:r>
              <a:rPr lang="ja-JP" sz="1200" b="1" u="none" strike="noStrike">
                <a:solidFill>
                  <a:schemeClr val="lt1"/>
                </a:solidFill>
                <a:effectLst/>
                <a:uFillTx/>
                <a:latin typeface="メイリオ"/>
                <a:ea typeface="メイリオ"/>
              </a:rPr>
              <a:t>（友だち追加）</a:t>
            </a:r>
            <a:endParaRPr lang="en-US" sz="1200" b="0" u="none" strike="noStrike">
              <a:solidFill>
                <a:srgbClr val="FFFFFF"/>
              </a:solidFill>
              <a:effectLst/>
              <a:uFillTx/>
              <a:latin typeface="Arial"/>
            </a:endParaRPr>
          </a:p>
          <a:p>
            <a:pPr algn="ctr" defTabSz="914400">
              <a:lnSpc>
                <a:spcPct val="100000"/>
              </a:lnSpc>
            </a:pPr>
            <a:r>
              <a:rPr lang="en-US" sz="1200" b="1" u="none" strike="noStrike">
                <a:solidFill>
                  <a:srgbClr val="FFFF00"/>
                </a:solidFill>
                <a:effectLst/>
                <a:uFillTx/>
                <a:latin typeface="メイリオ"/>
                <a:ea typeface="メイリオ"/>
              </a:rPr>
              <a:t>※CPF</a:t>
            </a:r>
            <a:r>
              <a:rPr lang="ja-JP" sz="1200" b="1" u="none" strike="noStrike">
                <a:solidFill>
                  <a:srgbClr val="FFFF00"/>
                </a:solidFill>
                <a:effectLst/>
                <a:uFillTx/>
                <a:latin typeface="メイリオ"/>
                <a:ea typeface="メイリオ"/>
              </a:rPr>
              <a:t>広告※</a:t>
            </a:r>
            <a:endParaRPr lang="en-US" sz="1200" b="0" u="none" strike="noStrike">
              <a:solidFill>
                <a:srgbClr val="FFFFFF"/>
              </a:solidFill>
              <a:effectLst/>
              <a:uFillTx/>
              <a:latin typeface="Arial"/>
            </a:endParaRPr>
          </a:p>
        </p:txBody>
      </p:sp>
      <p:sp>
        <p:nvSpPr>
          <p:cNvPr id="1062" name="正方形/長方形 53"/>
          <p:cNvSpPr/>
          <p:nvPr/>
        </p:nvSpPr>
        <p:spPr>
          <a:xfrm>
            <a:off x="2938320" y="776880"/>
            <a:ext cx="6482160" cy="584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公式アカウントの友だちを増やすための広告を、</a:t>
            </a:r>
            <a:br>
              <a:rPr sz="1600"/>
            </a:b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広告の管理画面より</a:t>
            </a:r>
            <a:r>
              <a:rPr lang="en-US" sz="1600" b="1" u="none" strike="noStrike">
                <a:solidFill>
                  <a:schemeClr val="dk1">
                    <a:lumMod val="65000"/>
                    <a:lumOff val="35000"/>
                  </a:schemeClr>
                </a:solidFill>
                <a:effectLst/>
                <a:uFillTx/>
                <a:latin typeface="Meiryo"/>
                <a:ea typeface="Meiryo"/>
              </a:rPr>
              <a:t>LINE</a:t>
            </a:r>
            <a:r>
              <a:rPr lang="ja-JP" sz="1600" b="1" u="none" strike="noStrike">
                <a:solidFill>
                  <a:schemeClr val="dk1">
                    <a:lumMod val="65000"/>
                    <a:lumOff val="35000"/>
                  </a:schemeClr>
                </a:solidFill>
                <a:effectLst/>
                <a:uFillTx/>
                <a:latin typeface="Meiryo"/>
                <a:ea typeface="Meiryo"/>
              </a:rPr>
              <a:t>アプリ内で掲載できる機能。</a:t>
            </a:r>
            <a:endParaRPr lang="en-US" sz="1600" b="0" u="none" strike="noStrike">
              <a:solidFill>
                <a:srgbClr val="000000"/>
              </a:solidFill>
              <a:effectLst/>
              <a:uFillTx/>
              <a:latin typeface="Arial"/>
            </a:endParaRPr>
          </a:p>
        </p:txBody>
      </p:sp>
      <p:grpSp>
        <p:nvGrpSpPr>
          <p:cNvPr id="1063" name="グループ化 54"/>
          <p:cNvGrpSpPr/>
          <p:nvPr/>
        </p:nvGrpSpPr>
        <p:grpSpPr>
          <a:xfrm>
            <a:off x="516240" y="1563480"/>
            <a:ext cx="2696040" cy="311760"/>
            <a:chOff x="516240" y="1563480"/>
            <a:chExt cx="2696040" cy="311760"/>
          </a:xfrm>
        </p:grpSpPr>
        <p:sp>
          <p:nvSpPr>
            <p:cNvPr id="1064" name="四角形: 角を丸くする 55"/>
            <p:cNvSpPr/>
            <p:nvPr/>
          </p:nvSpPr>
          <p:spPr>
            <a:xfrm>
              <a:off x="516240" y="156348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5" name="正方形/長方形 56"/>
            <p:cNvSpPr/>
            <p:nvPr/>
          </p:nvSpPr>
          <p:spPr>
            <a:xfrm>
              <a:off x="516240" y="159876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1" u="none" strike="noStrike">
                  <a:solidFill>
                    <a:srgbClr val="0070C0"/>
                  </a:solidFill>
                  <a:effectLst/>
                  <a:uFillTx/>
                  <a:latin typeface="Meiryo"/>
                  <a:ea typeface="Meiryo"/>
                </a:rPr>
                <a:t>LINE</a:t>
              </a:r>
              <a:r>
                <a:rPr lang="ja-JP" sz="1200" b="1" u="none" strike="noStrike">
                  <a:solidFill>
                    <a:srgbClr val="0070C0"/>
                  </a:solidFill>
                  <a:effectLst/>
                  <a:uFillTx/>
                  <a:latin typeface="Meiryo"/>
                  <a:ea typeface="Meiryo"/>
                </a:rPr>
                <a:t>公式アカウントまでの導線</a:t>
              </a:r>
              <a:endParaRPr lang="en-US" sz="1200" b="0" u="none" strike="noStrike">
                <a:solidFill>
                  <a:srgbClr val="000000"/>
                </a:solidFill>
                <a:effectLst/>
                <a:uFillTx/>
                <a:latin typeface="Arial"/>
              </a:endParaRPr>
            </a:p>
          </p:txBody>
        </p:sp>
      </p:grpSp>
      <p:grpSp>
        <p:nvGrpSpPr>
          <p:cNvPr id="1066" name="グループ化 57"/>
          <p:cNvGrpSpPr/>
          <p:nvPr/>
        </p:nvGrpSpPr>
        <p:grpSpPr>
          <a:xfrm>
            <a:off x="516240" y="3819600"/>
            <a:ext cx="2696040" cy="311760"/>
            <a:chOff x="516240" y="3819600"/>
            <a:chExt cx="2696040" cy="311760"/>
          </a:xfrm>
        </p:grpSpPr>
        <p:sp>
          <p:nvSpPr>
            <p:cNvPr id="1067" name="四角形: 角を丸くする 58"/>
            <p:cNvSpPr/>
            <p:nvPr/>
          </p:nvSpPr>
          <p:spPr>
            <a:xfrm>
              <a:off x="516240" y="3819600"/>
              <a:ext cx="2696040" cy="302400"/>
            </a:xfrm>
            <a:prstGeom prst="roundRect">
              <a:avLst>
                <a:gd name="adj" fmla="val 16667"/>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sp>
          <p:nvSpPr>
            <p:cNvPr id="1068" name="正方形/長方形 59"/>
            <p:cNvSpPr/>
            <p:nvPr/>
          </p:nvSpPr>
          <p:spPr>
            <a:xfrm>
              <a:off x="516240" y="3854880"/>
              <a:ext cx="2696040" cy="276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200" b="1" u="none" strike="noStrike">
                  <a:solidFill>
                    <a:srgbClr val="0070C0"/>
                  </a:solidFill>
                  <a:effectLst/>
                  <a:uFillTx/>
                  <a:latin typeface="Meiryo"/>
                  <a:ea typeface="Meiryo"/>
                </a:rPr>
                <a:t>「友だち追加広告」との違い</a:t>
              </a:r>
              <a:endParaRPr lang="en-US" sz="1200" b="0" u="none" strike="noStrike">
                <a:solidFill>
                  <a:srgbClr val="000000"/>
                </a:solidFill>
                <a:effectLst/>
                <a:uFillTx/>
                <a:latin typeface="Arial"/>
              </a:endParaRPr>
            </a:p>
          </p:txBody>
        </p:sp>
      </p:grpSp>
      <p:pic>
        <p:nvPicPr>
          <p:cNvPr id="1069" name="table"/>
          <p:cNvPicPr/>
          <p:nvPr/>
        </p:nvPicPr>
        <p:blipFill>
          <a:blip r:embed="rId3"/>
          <a:stretch/>
        </p:blipFill>
        <p:spPr>
          <a:xfrm>
            <a:off x="787680" y="4201920"/>
            <a:ext cx="8671680" cy="2201760"/>
          </a:xfrm>
          <a:prstGeom prst="rect">
            <a:avLst/>
          </a:prstGeom>
          <a:noFill/>
          <a:ln w="0">
            <a:noFill/>
          </a:ln>
        </p:spPr>
      </p:pic>
      <p:sp>
        <p:nvSpPr>
          <p:cNvPr id="1070" name="矢印: 右 61"/>
          <p:cNvSpPr/>
          <p:nvPr/>
        </p:nvSpPr>
        <p:spPr>
          <a:xfrm>
            <a:off x="5232600" y="2618640"/>
            <a:ext cx="429840" cy="352080"/>
          </a:xfrm>
          <a:prstGeom prst="rightArrow">
            <a:avLst>
              <a:gd name="adj1" fmla="val 50000"/>
              <a:gd name="adj2" fmla="val 50000"/>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Calibri"/>
            </a:endParaRPr>
          </a:p>
        </p:txBody>
      </p:sp>
      <p:pic>
        <p:nvPicPr>
          <p:cNvPr id="1071" name="図 62"/>
          <p:cNvPicPr/>
          <p:nvPr/>
        </p:nvPicPr>
        <p:blipFill>
          <a:blip r:embed="rId4"/>
          <a:srcRect l="35512" r="35510"/>
          <a:stretch/>
        </p:blipFill>
        <p:spPr>
          <a:xfrm>
            <a:off x="6038640" y="1875960"/>
            <a:ext cx="917280" cy="1779120"/>
          </a:xfrm>
          <a:prstGeom prst="rect">
            <a:avLst/>
          </a:prstGeom>
          <a:noFill/>
          <a:ln w="0">
            <a:noFill/>
          </a:ln>
        </p:spPr>
      </p:pic>
      <p:sp>
        <p:nvSpPr>
          <p:cNvPr id="1072" name="テキスト ボックス 34"/>
          <p:cNvSpPr/>
          <p:nvPr/>
        </p:nvSpPr>
        <p:spPr>
          <a:xfrm>
            <a:off x="6868440" y="2618640"/>
            <a:ext cx="2704680" cy="52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en-US" sz="1200" b="0" u="none" strike="noStrike">
                <a:solidFill>
                  <a:srgbClr val="000000"/>
                </a:solidFill>
                <a:effectLst/>
                <a:uFillTx/>
                <a:latin typeface="メイリオ"/>
                <a:ea typeface="メイリオ"/>
              </a:rPr>
              <a:t>LINE</a:t>
            </a:r>
            <a:r>
              <a:rPr lang="ja-JP" sz="1200" b="0" u="none" strike="noStrike">
                <a:solidFill>
                  <a:srgbClr val="000000"/>
                </a:solidFill>
                <a:effectLst/>
                <a:uFillTx/>
                <a:latin typeface="メイリオ"/>
                <a:ea typeface="メイリオ"/>
              </a:rPr>
              <a:t>アプリ内から</a:t>
            </a:r>
            <a:br>
              <a:rPr sz="1200"/>
            </a:br>
            <a:r>
              <a:rPr lang="ja-JP" sz="1200" b="0" u="none" strike="noStrike">
                <a:solidFill>
                  <a:srgbClr val="000000"/>
                </a:solidFill>
                <a:effectLst/>
                <a:uFillTx/>
                <a:latin typeface="メイリオ"/>
                <a:ea typeface="メイリオ"/>
              </a:rPr>
              <a:t>自社アカウントに</a:t>
            </a:r>
            <a:r>
              <a:rPr lang="en-US" sz="1600" b="1" u="none" strike="noStrike">
                <a:solidFill>
                  <a:srgbClr val="33CC33"/>
                </a:solidFill>
                <a:effectLst/>
                <a:uFillTx/>
                <a:latin typeface="メイリオ"/>
                <a:ea typeface="メイリオ"/>
              </a:rPr>
              <a:t>“直接”</a:t>
            </a:r>
            <a:r>
              <a:rPr lang="ja-JP" sz="1200" b="0" u="none" strike="noStrike">
                <a:solidFill>
                  <a:srgbClr val="000000"/>
                </a:solidFill>
                <a:effectLst/>
                <a:uFillTx/>
                <a:latin typeface="メイリオ"/>
                <a:ea typeface="メイリオ"/>
              </a:rPr>
              <a:t>誘導</a:t>
            </a:r>
            <a:endParaRPr lang="en-US" sz="12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弊社からご提供できる運用プラン</a:t>
            </a:r>
            <a:endParaRPr lang="en-US" sz="1600" b="0" u="none" strike="noStrike">
              <a:solidFill>
                <a:srgbClr val="000000"/>
              </a:solidFill>
              <a:effectLst/>
              <a:uFillTx/>
              <a:latin typeface="Arial"/>
            </a:endParaRPr>
          </a:p>
        </p:txBody>
      </p:sp>
      <p:sp>
        <p:nvSpPr>
          <p:cNvPr id="642" name="正方形/長方形 8"/>
          <p:cNvSpPr/>
          <p:nvPr/>
        </p:nvSpPr>
        <p:spPr>
          <a:xfrm>
            <a:off x="0" y="77724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都度発注プラン</a:t>
            </a:r>
            <a:endParaRPr lang="en-US" sz="1400" b="0" u="none" strike="noStrike">
              <a:solidFill>
                <a:srgbClr val="FFFFFF"/>
              </a:solidFill>
              <a:effectLst/>
              <a:uFillTx/>
              <a:latin typeface="Arial"/>
            </a:endParaRPr>
          </a:p>
        </p:txBody>
      </p:sp>
      <p:sp>
        <p:nvSpPr>
          <p:cNvPr id="643" name="Google Shape;752;p28"/>
          <p:cNvSpPr/>
          <p:nvPr/>
        </p:nvSpPr>
        <p:spPr>
          <a:xfrm>
            <a:off x="3036600" y="85932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en-US" sz="1600" b="1" u="none" strike="noStrike" dirty="0">
                <a:solidFill>
                  <a:schemeClr val="dk1"/>
                </a:solidFill>
                <a:effectLst/>
                <a:uFillTx/>
                <a:latin typeface="メイリオ"/>
                <a:ea typeface="メイリオ"/>
              </a:rPr>
              <a:t>LINEOA</a:t>
            </a:r>
            <a:r>
              <a:rPr lang="ja-JP" sz="1600" b="1" u="none" strike="noStrike" dirty="0">
                <a:solidFill>
                  <a:schemeClr val="dk1"/>
                </a:solidFill>
                <a:effectLst/>
                <a:uFillTx/>
                <a:latin typeface="メイリオ"/>
                <a:ea typeface="メイリオ"/>
              </a:rPr>
              <a:t>の運用業務・</a:t>
            </a:r>
            <a:r>
              <a:rPr lang="en-US" sz="1600" b="1" u="none" strike="noStrike" dirty="0">
                <a:solidFill>
                  <a:schemeClr val="dk1"/>
                </a:solidFill>
                <a:effectLst/>
                <a:uFillTx/>
                <a:latin typeface="メイリオ"/>
                <a:ea typeface="メイリオ"/>
              </a:rPr>
              <a:t>CR</a:t>
            </a:r>
            <a:r>
              <a:rPr lang="ja-JP" sz="1600" b="1" u="none" strike="noStrike" dirty="0">
                <a:solidFill>
                  <a:schemeClr val="dk1"/>
                </a:solidFill>
                <a:effectLst/>
                <a:uFillTx/>
                <a:latin typeface="メイリオ"/>
                <a:ea typeface="メイリオ"/>
              </a:rPr>
              <a:t>制作業務を一部外出ししてご依頼も。</a:t>
            </a:r>
            <a:endParaRPr lang="en-US" sz="1600" b="0" u="none" strike="noStrike" dirty="0">
              <a:solidFill>
                <a:srgbClr val="000000"/>
              </a:solidFill>
              <a:effectLst/>
              <a:uFillTx/>
              <a:latin typeface="Arial"/>
            </a:endParaRPr>
          </a:p>
        </p:txBody>
      </p:sp>
      <p:sp>
        <p:nvSpPr>
          <p:cNvPr id="644" name="正方形/長方形 11"/>
          <p:cNvSpPr/>
          <p:nvPr/>
        </p:nvSpPr>
        <p:spPr>
          <a:xfrm>
            <a:off x="549000" y="1380240"/>
            <a:ext cx="8859240" cy="50810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050" b="0" u="none" strike="noStrike">
              <a:solidFill>
                <a:schemeClr val="dk1">
                  <a:lumMod val="65000"/>
                  <a:lumOff val="35000"/>
                </a:schemeClr>
              </a:solidFill>
              <a:effectLst/>
              <a:uFillTx/>
              <a:latin typeface="メイリオ"/>
              <a:ea typeface="メイリオ"/>
            </a:endParaRPr>
          </a:p>
        </p:txBody>
      </p:sp>
      <p:sp>
        <p:nvSpPr>
          <p:cNvPr id="645" name="テキスト ボックス 12"/>
          <p:cNvSpPr/>
          <p:nvPr/>
        </p:nvSpPr>
        <p:spPr>
          <a:xfrm>
            <a:off x="706680" y="1569600"/>
            <a:ext cx="4963680" cy="253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en-US" sz="1050" b="0" u="none" strike="noStrike">
                <a:solidFill>
                  <a:schemeClr val="dk1">
                    <a:lumMod val="65000"/>
                    <a:lumOff val="35000"/>
                  </a:schemeClr>
                </a:solidFill>
                <a:effectLst/>
                <a:uFillTx/>
                <a:latin typeface="メイリオ"/>
                <a:ea typeface="メイリオ"/>
              </a:rPr>
              <a:t>&lt;</a:t>
            </a:r>
            <a:r>
              <a:rPr lang="ja-JP" sz="1050" b="0" u="none" strike="noStrike">
                <a:solidFill>
                  <a:schemeClr val="dk1">
                    <a:lumMod val="65000"/>
                    <a:lumOff val="35000"/>
                  </a:schemeClr>
                </a:solidFill>
                <a:effectLst/>
                <a:uFillTx/>
                <a:latin typeface="メイリオ"/>
                <a:ea typeface="メイリオ"/>
              </a:rPr>
              <a:t>追加作業における費用感　</a:t>
            </a:r>
            <a:r>
              <a:rPr lang="en-US" sz="900" b="0" u="none" strike="noStrike">
                <a:solidFill>
                  <a:srgbClr val="FF0000"/>
                </a:solidFill>
                <a:effectLst/>
                <a:uFillTx/>
                <a:latin typeface="メイリオ"/>
                <a:ea typeface="メイリオ"/>
              </a:rPr>
              <a:t>※作業量により変動する可能性がございます</a:t>
            </a:r>
            <a:r>
              <a:rPr lang="en-US" sz="1050" b="0" u="none" strike="noStrike">
                <a:solidFill>
                  <a:schemeClr val="dk1">
                    <a:lumMod val="65000"/>
                    <a:lumOff val="35000"/>
                  </a:schemeClr>
                </a:solidFill>
                <a:effectLst/>
                <a:uFillTx/>
                <a:latin typeface="メイリオ"/>
                <a:ea typeface="メイリオ"/>
              </a:rPr>
              <a:t>&gt;</a:t>
            </a:r>
            <a:endParaRPr lang="en-US" sz="1050" b="0" u="none" strike="noStrike">
              <a:solidFill>
                <a:srgbClr val="000000"/>
              </a:solidFill>
              <a:effectLst/>
              <a:uFillTx/>
              <a:latin typeface="Arial"/>
            </a:endParaRPr>
          </a:p>
        </p:txBody>
      </p:sp>
      <p:graphicFrame>
        <p:nvGraphicFramePr>
          <p:cNvPr id="646" name="表 13"/>
          <p:cNvGraphicFramePr/>
          <p:nvPr/>
        </p:nvGraphicFramePr>
        <p:xfrm>
          <a:off x="706680" y="1862640"/>
          <a:ext cx="8542080" cy="4067280"/>
        </p:xfrm>
        <a:graphic>
          <a:graphicData uri="http://schemas.openxmlformats.org/drawingml/2006/table">
            <a:tbl>
              <a:tblPr/>
              <a:tblGrid>
                <a:gridCol w="1832400">
                  <a:extLst>
                    <a:ext uri="{9D8B030D-6E8A-4147-A177-3AD203B41FA5}">
                      <a16:colId xmlns:a16="http://schemas.microsoft.com/office/drawing/2014/main" val="20000"/>
                    </a:ext>
                  </a:extLst>
                </a:gridCol>
                <a:gridCol w="1140480">
                  <a:extLst>
                    <a:ext uri="{9D8B030D-6E8A-4147-A177-3AD203B41FA5}">
                      <a16:colId xmlns:a16="http://schemas.microsoft.com/office/drawing/2014/main" val="20001"/>
                    </a:ext>
                  </a:extLst>
                </a:gridCol>
                <a:gridCol w="1140480">
                  <a:extLst>
                    <a:ext uri="{9D8B030D-6E8A-4147-A177-3AD203B41FA5}">
                      <a16:colId xmlns:a16="http://schemas.microsoft.com/office/drawing/2014/main" val="20002"/>
                    </a:ext>
                  </a:extLst>
                </a:gridCol>
                <a:gridCol w="315360">
                  <a:extLst>
                    <a:ext uri="{9D8B030D-6E8A-4147-A177-3AD203B41FA5}">
                      <a16:colId xmlns:a16="http://schemas.microsoft.com/office/drawing/2014/main" val="20003"/>
                    </a:ext>
                  </a:extLst>
                </a:gridCol>
                <a:gridCol w="1832400">
                  <a:extLst>
                    <a:ext uri="{9D8B030D-6E8A-4147-A177-3AD203B41FA5}">
                      <a16:colId xmlns:a16="http://schemas.microsoft.com/office/drawing/2014/main" val="20004"/>
                    </a:ext>
                  </a:extLst>
                </a:gridCol>
                <a:gridCol w="1140480">
                  <a:extLst>
                    <a:ext uri="{9D8B030D-6E8A-4147-A177-3AD203B41FA5}">
                      <a16:colId xmlns:a16="http://schemas.microsoft.com/office/drawing/2014/main" val="20005"/>
                    </a:ext>
                  </a:extLst>
                </a:gridCol>
                <a:gridCol w="1140480">
                  <a:extLst>
                    <a:ext uri="{9D8B030D-6E8A-4147-A177-3AD203B41FA5}">
                      <a16:colId xmlns:a16="http://schemas.microsoft.com/office/drawing/2014/main" val="20006"/>
                    </a:ext>
                  </a:extLst>
                </a:gridCol>
              </a:tblGrid>
              <a:tr h="290520">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内容</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endParaRPr lang="en-US" sz="1100" b="1"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対応項目</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初期</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tc>
                  <a:txBody>
                    <a:bodyPr/>
                    <a:lstStyle/>
                    <a:p>
                      <a:pPr algn="ctr" defTabSz="914400">
                        <a:lnSpc>
                          <a:spcPct val="100000"/>
                        </a:lnSpc>
                      </a:pPr>
                      <a:r>
                        <a:rPr lang="ja-JP" sz="1100" b="1" u="none" strike="noStrike">
                          <a:solidFill>
                            <a:srgbClr val="FFFFFF"/>
                          </a:solidFill>
                          <a:effectLst/>
                          <a:uFillTx/>
                          <a:latin typeface="メイリオ"/>
                          <a:ea typeface="メイリオ"/>
                        </a:rPr>
                        <a:t>月額</a:t>
                      </a:r>
                      <a:endParaRPr lang="en-US" sz="1100" b="0" u="none" strike="noStrike">
                        <a:solidFill>
                          <a:srgbClr val="FFFFFF"/>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rgbClr val="0E2841"/>
                    </a:solidFill>
                  </a:tcPr>
                </a:tc>
                <a:extLst>
                  <a:ext uri="{0D108BD9-81ED-4DB2-BD59-A6C34878D82A}">
                    <a16:rowId xmlns:a16="http://schemas.microsoft.com/office/drawing/2014/main" val="10000"/>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アカウント開設</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API</a:t>
                      </a:r>
                      <a:r>
                        <a:rPr lang="ja-JP" sz="1100" b="0" u="none" strike="noStrike">
                          <a:solidFill>
                            <a:srgbClr val="000000"/>
                          </a:solidFill>
                          <a:effectLst/>
                          <a:uFillTx/>
                          <a:latin typeface="メイリオ"/>
                          <a:ea typeface="メイリオ"/>
                        </a:rPr>
                        <a:t>ツール導入</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プロフィール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ID</a:t>
                      </a:r>
                      <a:r>
                        <a:rPr lang="ja-JP" sz="1100" b="0" u="none" strike="noStrike">
                          <a:solidFill>
                            <a:srgbClr val="000000"/>
                          </a:solidFill>
                          <a:effectLst/>
                          <a:uFillTx/>
                          <a:latin typeface="メイリオ"/>
                          <a:ea typeface="メイリオ"/>
                        </a:rPr>
                        <a:t>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リッチメニュー</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ログイン</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50000"/>
                              <a:lumOff val="50000"/>
                            </a:schemeClr>
                          </a:solidFill>
                          <a:effectLst/>
                          <a:uFillTx/>
                          <a:latin typeface="メイリオ"/>
                          <a:ea typeface="メイリオ"/>
                        </a:rPr>
                        <a:t>¥0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3"/>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あいさつメッセージ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通知メッセージ</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4"/>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初期アンケート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チャットボット機能</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5"/>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KW</a:t>
                      </a:r>
                      <a:r>
                        <a:rPr lang="ja-JP" sz="1100" b="0" u="none" strike="noStrike">
                          <a:solidFill>
                            <a:srgbClr val="000000"/>
                          </a:solidFill>
                          <a:effectLst/>
                          <a:uFillTx/>
                          <a:latin typeface="メイリオ"/>
                          <a:ea typeface="メイリオ"/>
                        </a:rPr>
                        <a:t>の自動応答</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Chat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6"/>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ステップ配信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¥50,000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Call Plus</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7"/>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セグメント配信</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決済</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8"/>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チャットタグ管理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予約管理</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¥20,000~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09"/>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チャット対応</a:t>
                      </a:r>
                      <a:r>
                        <a:rPr lang="en-US" sz="700" b="0" u="none" strike="noStrike">
                          <a:solidFill>
                            <a:srgbClr val="FF0000"/>
                          </a:solidFill>
                          <a:effectLst/>
                          <a:uFillTx/>
                          <a:latin typeface="メイリオ"/>
                          <a:ea typeface="メイリオ"/>
                        </a:rPr>
                        <a:t> ※サポートは可能</a:t>
                      </a:r>
                      <a:endParaRPr lang="en-US" sz="7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¥100,000</a:t>
                      </a:r>
                      <a:r>
                        <a:rPr lang="ja-JP" sz="1000" b="0" u="none" strike="noStrike">
                          <a:solidFill>
                            <a:srgbClr val="000000"/>
                          </a:solidFill>
                          <a:effectLst/>
                          <a:uFillTx/>
                          <a:latin typeface="メイリオ"/>
                          <a:ea typeface="メイリオ"/>
                        </a:rPr>
                        <a:t>～</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ja-JP" sz="600" b="0" u="none" strike="noStrike">
                          <a:solidFill>
                            <a:srgbClr val="000000"/>
                          </a:solidFill>
                          <a:effectLst/>
                          <a:uFillTx/>
                          <a:latin typeface="メイリオ"/>
                          <a:ea typeface="メイリオ"/>
                        </a:rPr>
                        <a:t>件数により変動</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0"/>
                  </a:ext>
                </a:extLst>
              </a:tr>
              <a:tr h="290520">
                <a:tc>
                  <a:txBody>
                    <a:bodyPr/>
                    <a:lstStyle/>
                    <a:p>
                      <a:pPr algn="ctr" defTabSz="914400">
                        <a:lnSpc>
                          <a:spcPct val="100000"/>
                        </a:lnSpc>
                      </a:pPr>
                      <a:r>
                        <a:rPr lang="en-US" sz="1100" b="0" u="none" strike="noStrike">
                          <a:solidFill>
                            <a:srgbClr val="000000"/>
                          </a:solidFill>
                          <a:effectLst/>
                          <a:uFillTx/>
                          <a:latin typeface="メイリオ"/>
                          <a:ea typeface="メイリオ"/>
                        </a:rPr>
                        <a:t>GA(CRM)</a:t>
                      </a:r>
                      <a:r>
                        <a:rPr lang="ja-JP" sz="1100" b="0" u="none" strike="noStrike">
                          <a:solidFill>
                            <a:srgbClr val="000000"/>
                          </a:solidFill>
                          <a:effectLst/>
                          <a:uFillTx/>
                          <a:latin typeface="メイリオ"/>
                          <a:ea typeface="メイリオ"/>
                        </a:rPr>
                        <a:t>レポート連携</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en-US" sz="1100" b="0" u="none" strike="noStrike">
                          <a:solidFill>
                            <a:srgbClr val="000000"/>
                          </a:solidFill>
                          <a:effectLst/>
                          <a:uFillTx/>
                          <a:latin typeface="メイリオ"/>
                          <a:ea typeface="メイリオ"/>
                        </a:rPr>
                        <a:t>-----</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1"/>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クリエイティブ</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¥15,000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tabLst>
                          <a:tab pos="0" algn="l"/>
                        </a:tabLst>
                      </a:pPr>
                      <a:r>
                        <a:rPr lang="ja-JP" sz="600" b="0" u="none" strike="noStrike">
                          <a:solidFill>
                            <a:srgbClr val="000000"/>
                          </a:solidFill>
                          <a:effectLst/>
                          <a:uFillTx/>
                          <a:latin typeface="メイリオ"/>
                          <a:ea typeface="メイリオ"/>
                        </a:rPr>
                        <a:t>画像</a:t>
                      </a:r>
                      <a:r>
                        <a:rPr lang="en-US" sz="600" b="0" u="none" strike="noStrike">
                          <a:solidFill>
                            <a:srgbClr val="000000"/>
                          </a:solidFill>
                          <a:effectLst/>
                          <a:uFillTx/>
                          <a:latin typeface="メイリオ"/>
                          <a:ea typeface="メイリオ"/>
                        </a:rPr>
                        <a:t>1</a:t>
                      </a:r>
                      <a:r>
                        <a:rPr lang="ja-JP" sz="600" b="0" u="none" strike="noStrike">
                          <a:solidFill>
                            <a:srgbClr val="000000"/>
                          </a:solidFill>
                          <a:effectLst/>
                          <a:uFillTx/>
                          <a:latin typeface="メイリオ"/>
                          <a:ea typeface="メイリオ"/>
                        </a:rPr>
                        <a:t>枚での想定</a:t>
                      </a:r>
                      <a:endParaRPr lang="en-US" sz="600" b="0" u="none" strike="noStrike">
                        <a:solidFill>
                          <a:srgbClr val="000000"/>
                        </a:solidFill>
                        <a:effectLst/>
                        <a:uFillTx/>
                        <a:latin typeface="Arial"/>
                      </a:endParaRPr>
                    </a:p>
                    <a:p>
                      <a:pPr algn="ctr" defTabSz="914400">
                        <a:lnSpc>
                          <a:spcPct val="100000"/>
                        </a:lnSpc>
                        <a:tabLst>
                          <a:tab pos="0" algn="l"/>
                        </a:tabLst>
                      </a:pPr>
                      <a:r>
                        <a:rPr lang="en-US" sz="600" b="0" u="none" strike="noStrike">
                          <a:solidFill>
                            <a:srgbClr val="000000"/>
                          </a:solidFill>
                          <a:effectLst/>
                          <a:uFillTx/>
                          <a:latin typeface="メイリオ"/>
                          <a:ea typeface="メイリオ"/>
                        </a:rPr>
                        <a:t>※バナー、HTML</a:t>
                      </a:r>
                      <a:r>
                        <a:rPr lang="ja-JP" sz="600" b="0" u="none" strike="noStrike">
                          <a:solidFill>
                            <a:srgbClr val="000000"/>
                          </a:solidFill>
                          <a:effectLst/>
                          <a:uFillTx/>
                          <a:latin typeface="メイリオ"/>
                          <a:ea typeface="メイリオ"/>
                        </a:rPr>
                        <a:t>メール等</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離脱防止ツール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2"/>
                  </a:ext>
                </a:extLst>
              </a:tr>
              <a:tr h="290520">
                <a:tc>
                  <a:txBody>
                    <a:bodyPr/>
                    <a:lstStyle/>
                    <a:p>
                      <a:pPr algn="ctr" defTabSz="914400">
                        <a:lnSpc>
                          <a:spcPct val="100000"/>
                        </a:lnSpc>
                      </a:pPr>
                      <a:r>
                        <a:rPr lang="ja-JP" sz="1100" b="0" u="none" strike="noStrike">
                          <a:solidFill>
                            <a:srgbClr val="000000"/>
                          </a:solidFill>
                          <a:effectLst/>
                          <a:uFillTx/>
                          <a:latin typeface="メイリオ"/>
                          <a:ea typeface="メイリオ"/>
                        </a:rPr>
                        <a:t>投稿作成</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00" b="0" u="none" strike="noStrike">
                          <a:solidFill>
                            <a:srgbClr val="000000"/>
                          </a:solidFill>
                          <a:effectLst/>
                          <a:uFillTx/>
                          <a:latin typeface="メイリオ"/>
                          <a:ea typeface="メイリオ"/>
                        </a:rPr>
                        <a:t>¥30,000</a:t>
                      </a:r>
                      <a:endParaRPr lang="en-US" sz="10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tc>
                  <a:txBody>
                    <a:bodyPr/>
                    <a:lstStyle/>
                    <a:p>
                      <a:endParaRPr lang="en-US" sz="11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12240">
                      <a:noFill/>
                      <a:prstDash val="solid"/>
                    </a:lnT>
                    <a:lnB w="12240">
                      <a:noFill/>
                      <a:prstDash val="solid"/>
                    </a:lnB>
                    <a:noFill/>
                  </a:tcPr>
                </a:tc>
                <a:tc>
                  <a:txBody>
                    <a:bodyPr/>
                    <a:lstStyle/>
                    <a:p>
                      <a:pPr algn="ctr" defTabSz="914400">
                        <a:lnSpc>
                          <a:spcPct val="100000"/>
                        </a:lnSpc>
                      </a:pPr>
                      <a:r>
                        <a:rPr lang="ja-JP" sz="1100" b="0" u="none" strike="noStrike">
                          <a:solidFill>
                            <a:srgbClr val="000000"/>
                          </a:solidFill>
                          <a:effectLst/>
                          <a:uFillTx/>
                          <a:latin typeface="メイリオ"/>
                          <a:ea typeface="メイリオ"/>
                        </a:rPr>
                        <a:t>サンクス</a:t>
                      </a:r>
                      <a:r>
                        <a:rPr lang="en-US" sz="1100" b="0" u="none" strike="noStrike">
                          <a:solidFill>
                            <a:srgbClr val="000000"/>
                          </a:solidFill>
                          <a:effectLst/>
                          <a:uFillTx/>
                          <a:latin typeface="メイリオ"/>
                          <a:ea typeface="メイリオ"/>
                        </a:rPr>
                        <a:t>LINE</a:t>
                      </a:r>
                      <a:r>
                        <a:rPr lang="ja-JP" sz="1100" b="0" u="none" strike="noStrike">
                          <a:solidFill>
                            <a:srgbClr val="000000"/>
                          </a:solidFill>
                          <a:effectLst/>
                          <a:uFillTx/>
                          <a:latin typeface="メイリオ"/>
                          <a:ea typeface="メイリオ"/>
                        </a:rPr>
                        <a:t>誘導ツール</a:t>
                      </a:r>
                      <a:endParaRPr lang="en-US" sz="110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¥150,000</a:t>
                      </a:r>
                      <a:endParaRPr lang="en-US" sz="1050" b="0" u="none" strike="noStrike">
                        <a:solidFill>
                          <a:srgbClr val="000000"/>
                        </a:solidFill>
                        <a:effectLst/>
                        <a:uFillTx/>
                        <a:latin typeface="Arial"/>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noFill/>
                  </a:tcPr>
                </a:tc>
                <a:tc>
                  <a:txBody>
                    <a:bodyPr/>
                    <a:lstStyle/>
                    <a:p>
                      <a:pPr algn="ctr" defTabSz="914400">
                        <a:lnSpc>
                          <a:spcPct val="100000"/>
                        </a:lnSpc>
                      </a:pPr>
                      <a:r>
                        <a:rPr lang="en-US" sz="1050" b="0" u="none" strike="noStrike">
                          <a:solidFill>
                            <a:schemeClr val="dk1">
                              <a:lumMod val="65000"/>
                              <a:lumOff val="35000"/>
                            </a:schemeClr>
                          </a:solidFill>
                          <a:effectLst/>
                          <a:uFillTx/>
                          <a:latin typeface="メイリオ"/>
                          <a:ea typeface="メイリオ"/>
                        </a:rPr>
                        <a:t>¥30,000~</a:t>
                      </a:r>
                      <a:endParaRPr lang="en-US" sz="600" b="0" u="none" strike="noStrike">
                        <a:solidFill>
                          <a:srgbClr val="000000"/>
                        </a:solidFill>
                        <a:effectLst/>
                        <a:uFillTx/>
                        <a:latin typeface="メイリオ"/>
                        <a:ea typeface="メイリオ"/>
                      </a:endParaRPr>
                    </a:p>
                  </a:txBody>
                  <a:tcPr marL="9000" marR="9000" anchor="ctr">
                    <a:lnL w="6480">
                      <a:solidFill>
                        <a:srgbClr val="000000"/>
                      </a:solidFill>
                      <a:prstDash val="solid"/>
                    </a:lnL>
                    <a:lnR w="6480">
                      <a:solidFill>
                        <a:srgbClr val="000000"/>
                      </a:solidFill>
                      <a:prstDash val="solid"/>
                    </a:lnR>
                    <a:lnT w="6480">
                      <a:solidFill>
                        <a:srgbClr val="000000"/>
                      </a:solidFill>
                      <a:prstDash val="solid"/>
                    </a:lnT>
                    <a:lnB w="6480">
                      <a:solidFill>
                        <a:srgbClr val="000000"/>
                      </a:solidFill>
                      <a:prstDash val="solid"/>
                    </a:lnB>
                    <a:solidFill>
                      <a:schemeClr val="lt1">
                        <a:lumMod val="85000"/>
                      </a:schemeClr>
                    </a:solidFill>
                  </a:tcPr>
                </a:tc>
                <a:extLst>
                  <a:ext uri="{0D108BD9-81ED-4DB2-BD59-A6C34878D82A}">
                    <a16:rowId xmlns:a16="http://schemas.microsoft.com/office/drawing/2014/main" val="10013"/>
                  </a:ext>
                </a:extLst>
              </a:tr>
            </a:tbl>
          </a:graphicData>
        </a:graphic>
      </p:graphicFrame>
      <p:sp>
        <p:nvSpPr>
          <p:cNvPr id="647" name="テキスト ボックス 4"/>
          <p:cNvSpPr/>
          <p:nvPr/>
        </p:nvSpPr>
        <p:spPr>
          <a:xfrm>
            <a:off x="1344960" y="6045120"/>
            <a:ext cx="7267320" cy="307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ja-JP" sz="1400" b="0" u="none" strike="noStrike">
                <a:solidFill>
                  <a:srgbClr val="FF0000"/>
                </a:solidFill>
                <a:effectLst/>
                <a:uFillTx/>
                <a:latin typeface="メイリオ"/>
                <a:ea typeface="メイリオ"/>
              </a:rPr>
              <a:t>貴社リソースの状況に応じて、都度発注でのご依頼も各単価で対応可能</a:t>
            </a:r>
            <a:endParaRPr lang="en-US" sz="1400" b="0" u="none" strike="noStrike">
              <a:solidFill>
                <a:srgbClr val="000000"/>
              </a:solidFill>
              <a:effectLst/>
              <a:uFillTx/>
              <a:latin typeface="Arial"/>
            </a:endParaRPr>
          </a:p>
        </p:txBody>
      </p:sp>
      <p:sp>
        <p:nvSpPr>
          <p:cNvPr id="648" name="正方形/長方形 1"/>
          <p:cNvSpPr/>
          <p:nvPr/>
        </p:nvSpPr>
        <p:spPr>
          <a:xfrm>
            <a:off x="378720" y="1329120"/>
            <a:ext cx="9182880" cy="5219280"/>
          </a:xfrm>
          <a:prstGeom prst="rect">
            <a:avLst/>
          </a:prstGeom>
          <a:solidFill>
            <a:schemeClr val="lt1">
              <a:alpha val="45000"/>
            </a:schemeClr>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400" b="0" u="none" strike="noStrike">
              <a:solidFill>
                <a:schemeClr val="lt1"/>
              </a:solidFill>
              <a:effectLst/>
              <a:uFillTx/>
              <a:latin typeface="メイリオ"/>
              <a:ea typeface="メイリオ"/>
            </a:endParaRPr>
          </a:p>
        </p:txBody>
      </p:sp>
    </p:spTree>
  </p:cSld>
  <p:clrMapOvr>
    <a:masterClrMapping/>
  </p:clrMapOvr>
</p:sld>
</file>

<file path=ppt/theme/theme1.xml><?xml version="1.0" encoding="utf-8"?>
<a:theme xmlns:a="http://schemas.openxmlformats.org/drawingml/2006/main" name="テーマ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143275</TotalTime>
  <Words>4224</Words>
  <Application>Microsoft Office PowerPoint</Application>
  <PresentationFormat>A4 210 x 297 mm</PresentationFormat>
  <Paragraphs>686</Paragraphs>
  <Slides>31</Slides>
  <Notes>1</Notes>
  <HiddenSlides>0</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31</vt:i4>
      </vt:variant>
    </vt:vector>
  </HeadingPairs>
  <TitlesOfParts>
    <vt:vector size="39" baseType="lpstr">
      <vt:lpstr>メイリオ</vt:lpstr>
      <vt:lpstr>メイリオ</vt:lpstr>
      <vt:lpstr>Arial</vt:lpstr>
      <vt:lpstr>Calibri</vt:lpstr>
      <vt:lpstr>Symbol</vt:lpstr>
      <vt:lpstr>Times New Roman</vt:lpstr>
      <vt:lpstr>Wingdings</vt:lpstr>
      <vt:lpstr>テーマ1</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中村 駿</dc:creator>
  <dc:description/>
  <cp:lastModifiedBy>殿村 亮太</cp:lastModifiedBy>
  <cp:revision>1975</cp:revision>
  <cp:lastPrinted>2022-11-01T11:38:14Z</cp:lastPrinted>
  <dcterms:created xsi:type="dcterms:W3CDTF">2015-09-04T09:21:15Z</dcterms:created>
  <dcterms:modified xsi:type="dcterms:W3CDTF">2026-10-16T06:06:31Z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21</vt:r8>
  </property>
  <property fmtid="{D5CDD505-2E9C-101B-9397-08002B2CF9AE}" pid="3" name="PresentationFormat">
    <vt:lpwstr>A4 210 x 297 mm</vt:lpwstr>
  </property>
  <property fmtid="{D5CDD505-2E9C-101B-9397-08002B2CF9AE}" pid="4" name="Slides">
    <vt:r8>46</vt:r8>
  </property>
</Properties>
</file>