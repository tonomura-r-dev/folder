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7.svg" ContentType="image/svg+xml"/>
  <Override PartName="/ppt/media/image18.svg" ContentType="image/svg+xml"/>
  <Override PartName="/ppt/media/image19.svg" ContentType="image/svg+xml"/>
  <Override PartName="/ppt/media/image2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3"/>
  </p:notesMasterIdLst>
  <p:sldIdLst>
    <p:sldId id="319" r:id="rId2"/>
    <p:sldId id="311" r:id="rId3"/>
    <p:sldId id="305" r:id="rId4"/>
    <p:sldId id="312" r:id="rId5"/>
    <p:sldId id="333" r:id="rId6"/>
    <p:sldId id="334" r:id="rId7"/>
    <p:sldId id="306" r:id="rId8"/>
    <p:sldId id="313" r:id="rId9"/>
    <p:sldId id="310" r:id="rId10"/>
    <p:sldId id="314" r:id="rId11"/>
    <p:sldId id="335" r:id="rId12"/>
    <p:sldId id="315" r:id="rId13"/>
    <p:sldId id="336" r:id="rId14"/>
    <p:sldId id="337" r:id="rId15"/>
    <p:sldId id="338" r:id="rId16"/>
    <p:sldId id="309" r:id="rId17"/>
    <p:sldId id="318" r:id="rId18"/>
    <p:sldId id="301" r:id="rId19"/>
    <p:sldId id="320" r:id="rId20"/>
    <p:sldId id="321" r:id="rId21"/>
    <p:sldId id="322" r:id="rId22"/>
    <p:sldId id="323" r:id="rId23"/>
    <p:sldId id="324" r:id="rId24"/>
    <p:sldId id="325" r:id="rId25"/>
    <p:sldId id="326" r:id="rId26"/>
    <p:sldId id="327" r:id="rId27"/>
    <p:sldId id="328" r:id="rId28"/>
    <p:sldId id="329" r:id="rId29"/>
    <p:sldId id="330" r:id="rId30"/>
    <p:sldId id="331" r:id="rId31"/>
    <p:sldId id="332" r:id="rId3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18</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1.emf"/><Relationship Id="rId4" Type="http://schemas.openxmlformats.org/officeDocument/2006/relationships/image" Target="../media/image12.jpeg"/><Relationship Id="rId5" Type="http://schemas.openxmlformats.org/officeDocument/2006/relationships/image" Target="../media/image13.jpeg"/><Relationship Id="rId6" Type="http://schemas.openxmlformats.org/officeDocument/2006/relationships/image" Target="../media/image14.jpeg"/><Relationship Id="rId7" Type="http://schemas.openxmlformats.org/officeDocument/2006/relationships/image" Target="../media/image15.jpeg"/><Relationship Id="rId8" Type="http://schemas.openxmlformats.org/officeDocument/2006/relationships/image" Target="../media/image1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svg"/><Relationship Id="rId3" Type="http://schemas.openxmlformats.org/officeDocument/2006/relationships/image" Target="../media/image18.svg"/><Relationship Id="rId4" Type="http://schemas.openxmlformats.org/officeDocument/2006/relationships/image" Target="../media/image19.svg"/><Relationship Id="rId5" Type="http://schemas.openxmlformats.org/officeDocument/2006/relationships/image" Target="../media/image20.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250" b="1" dirty="0">
                          <a:solidFill>
                            <a:srgbClr val="7F7F7F"/>
                          </a:solidFill>
                          <a:latin typeface="メイリオ" panose="020B0604030504040204" pitchFamily="50" charset="-128"/>
                          <a:ea typeface="メイリオ" panose="020B0604030504040204" pitchFamily="50" charset="-128"/>
                        </a:rPr>
                        <a:t>Appendix</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LINE公式アカウントのメリット／中長期の施策／スポットでのご依頼</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3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3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広告の改善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a:t>
            </a:r>
            <a:endParaRPr lang="ja-JP" altLang="en-US" sz="13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SEO</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3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300" dirty="0"/>
          </a:p>
        </p:txBody>
      </p:sp>
      <p:graphicFrame>
        <p:nvGraphicFramePr>
          <p:cNvPr id="15" name="現在地 14"/>
          <p:cNvGraphicFramePr>
            <a:graphicFrameLocks noGrp="1"/>
          </p:cNvGraphicFramePr>
          <p:nvPr>
            <p:extLst>
              <p:ext uri="{D42A27DB-BD31-4B8C-83A1-F6EECF244321}">
                <p14:modId xmlns:p14="http://schemas.microsoft.com/office/powerpoint/2010/main" val="1648189534"/>
              </p:ext>
            </p:extLst>
          </p:nvPr>
        </p:nvGraphicFramePr>
        <p:xfrm>
          <a:off x="435836" y="2269374"/>
          <a:ext cx="4343400" cy="2904132"/>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（4展示場）</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目標 月50〜60件に対し、</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現状 月35〜40件</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来場予約のCPA</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Web広告で約30,000円</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約50,000円）</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青森店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250" b="0" dirty="0">
                          <a:solidFill>
                            <a:srgbClr val="333333"/>
                          </a:solidFill>
                          <a:latin typeface="メイリオ" panose="020B0604030504040204" pitchFamily="50" charset="-128"/>
                          <a:ea typeface="メイリオ" panose="020B0604030504040204" pitchFamily="50" charset="-128"/>
                        </a:rPr>
                      </a:br>
                      <a:r>
                        <a:rPr lang="ja-JP" altLang="en-US" sz="125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自社サイトの</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資料請求</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月一桁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検索広告のCPA</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（9月）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14,796円 → 47,500円</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（前年同月比）</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4147098564"/>
              </p:ext>
            </p:extLst>
          </p:nvPr>
        </p:nvGraphicFramePr>
        <p:xfrm>
          <a:off x="379800" y="1691640"/>
          <a:ext cx="5883840" cy="3246119"/>
        </p:xfrm>
        <a:graphic>
          <a:graphicData uri="http://schemas.openxmlformats.org/drawingml/2006/table">
            <a:tbl>
              <a:tblPr/>
              <a:tblGrid>
                <a:gridCol w="1458804">
                  <a:extLst>
                    <a:ext uri="{9D8B030D-6E8A-4147-A177-3AD203B41FA5}">
                      <a16:colId xmlns:a16="http://schemas.microsoft.com/office/drawing/2014/main" val="20000"/>
                    </a:ext>
                  </a:extLst>
                </a:gridCol>
                <a:gridCol w="4425036">
                  <a:extLst>
                    <a:ext uri="{9D8B030D-6E8A-4147-A177-3AD203B41FA5}">
                      <a16:colId xmlns:a16="http://schemas.microsoft.com/office/drawing/2014/main" val="20001"/>
                    </a:ext>
                  </a:extLst>
                </a:gridCol>
              </a:tblGrid>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友だち数</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417人</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友だちの入口</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配信</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1:1チャット</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競合のLINE運用：大進建設は特典で、資料請求から事前審査まで後押しする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大進建設を中心に、一条工務店・セキスイハイムの友だち追加の入口とあいさつを、実際の画面で見る</a:t>
            </a:r>
            <a:endParaRPr lang="en-US" sz="1400" b="1" u="none" strike="noStrike" dirty="0">
              <a:effectLst/>
              <a:uFillTx/>
              <a:latin typeface="メイリオ"/>
              <a:ea typeface="メイリオ"/>
              <a:cs typeface="メイリオ"/>
            </a:endParaRPr>
          </a:p>
        </p:txBody>
      </p:sp>
      <p:pic>
        <p:nvPicPr>
          <p:cNvPr id="8" name="大進建設のポップアップ" descr="大進建設_LINE登録キャンペーン_20261016.png"/>
          <p:cNvPicPr>
            <a:picLocks noChangeAspect="1"/>
          </p:cNvPicPr>
          <p:nvPr/>
        </p:nvPicPr>
        <p:blipFill>
          <a:blip r:embed="rId2"/>
          <a:stretch>
            <a:fillRect/>
          </a:stretch>
        </p:blipFill>
        <p:spPr>
          <a:xfrm>
            <a:off x="411480" y="2340864"/>
            <a:ext cx="1600200" cy="1600200"/>
          </a:xfrm>
          <a:prstGeom prst="rect">
            <a:avLst/>
          </a:prstGeom>
        </p:spPr>
      </p:pic>
      <p:sp>
        <p:nvSpPr>
          <p:cNvPr id="9" name="会社 大進建設"/>
          <p:cNvSpPr/>
          <p:nvPr/>
        </p:nvSpPr>
        <p:spPr>
          <a:xfrm>
            <a:off x="411480" y="1481328"/>
            <a:ext cx="557784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大進建設</a:t>
            </a:r>
            <a:endParaRPr lang="ja-JP" altLang="en-US" sz="1200" dirty="0">
              <a:latin typeface="メイリオ"/>
              <a:ea typeface="メイリオ"/>
              <a:cs typeface="メイリオ"/>
            </a:endParaRPr>
          </a:p>
        </p:txBody>
      </p:sp>
      <p:sp>
        <p:nvSpPr>
          <p:cNvPr id="10" name="会社 ほかの大手"/>
          <p:cNvSpPr/>
          <p:nvPr/>
        </p:nvSpPr>
        <p:spPr>
          <a:xfrm>
            <a:off x="6217920" y="1481328"/>
            <a:ext cx="3273552"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ほかの大手（参考）</a:t>
            </a:r>
            <a:endParaRPr lang="ja-JP" altLang="en-US" sz="1200" dirty="0">
              <a:latin typeface="メイリオ"/>
              <a:ea typeface="メイリオ"/>
              <a:cs typeface="メイリオ"/>
            </a:endParaRPr>
          </a:p>
        </p:txBody>
      </p:sp>
      <p:sp>
        <p:nvSpPr>
          <p:cNvPr id="11" name="見出し 入口と特典&#10;（サイト）"/>
          <p:cNvSpPr/>
          <p:nvPr/>
        </p:nvSpPr>
        <p:spPr>
          <a:xfrm>
            <a:off x="411480" y="1874519"/>
            <a:ext cx="1600200"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入口と特典</a:t>
            </a:r>
            <a:endParaRPr lang="ja-JP" altLang="en-US" sz="1200" dirty="0">
              <a:latin typeface="メイリオ"/>
              <a:ea typeface="メイリオ"/>
              <a:cs typeface="メイリオ"/>
            </a:endParaRPr>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a:t>
            </a:r>
            <a:endParaRPr lang="ja-JP" altLang="en-US" sz="1200" dirty="0">
              <a:latin typeface="メイリオ"/>
              <a:ea typeface="メイリオ"/>
              <a:cs typeface="メイリオ"/>
            </a:endParaRPr>
          </a:p>
        </p:txBody>
      </p:sp>
      <p:sp>
        <p:nvSpPr>
          <p:cNvPr id="12" name="画面の説明"/>
          <p:cNvSpPr/>
          <p:nvPr/>
        </p:nvSpPr>
        <p:spPr>
          <a:xfrm>
            <a:off x="411480" y="4023360"/>
            <a:ext cx="1600200" cy="548640"/>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LINE登録で</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最大4万円分</a:t>
            </a:r>
            <a:endParaRPr lang="ja-JP" altLang="en-US" sz="1200" dirty="0">
              <a:latin typeface="メイリオ"/>
              <a:ea typeface="メイリオ"/>
              <a:cs typeface="メイリオ"/>
            </a:endParaRPr>
          </a:p>
        </p:txBody>
      </p:sp>
      <p:sp>
        <p:nvSpPr>
          <p:cNvPr id="13" name="見出し あいさつ"/>
          <p:cNvSpPr/>
          <p:nvPr/>
        </p:nvSpPr>
        <p:spPr>
          <a:xfrm>
            <a:off x="2148840" y="1874519"/>
            <a:ext cx="1828800"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あいさつ</a:t>
            </a:r>
            <a:endParaRPr lang="ja-JP" altLang="en-US" sz="1200" dirty="0">
              <a:latin typeface="メイリオ"/>
              <a:ea typeface="メイリオ"/>
              <a:cs typeface="メイリオ"/>
            </a:endParaRPr>
          </a:p>
        </p:txBody>
      </p:sp>
      <p:pic>
        <p:nvPicPr>
          <p:cNvPr id="14" name="大進建設のあいさつ" descr="tanaka_line_daishin_aisatsu.png"/>
          <p:cNvPicPr>
            <a:picLocks noChangeAspect="1"/>
          </p:cNvPicPr>
          <p:nvPr/>
        </p:nvPicPr>
        <p:blipFill>
          <a:blip r:embed="rId6"/>
          <a:stretch>
            <a:fillRect/>
          </a:stretch>
        </p:blipFill>
        <p:spPr>
          <a:xfrm>
            <a:off x="2400300" y="2340864"/>
            <a:ext cx="1325880" cy="2871216"/>
          </a:xfrm>
          <a:prstGeom prst="rect">
            <a:avLst/>
          </a:prstGeom>
          <a:ln w="9525">
            <a:solidFill>
              <a:srgbClr val="BFBFBF"/>
            </a:solidFill>
          </a:ln>
        </p:spPr>
      </p:pic>
      <p:sp>
        <p:nvSpPr>
          <p:cNvPr id="15" name="画面の説明"/>
          <p:cNvSpPr/>
          <p:nvPr/>
        </p:nvSpPr>
        <p:spPr>
          <a:xfrm>
            <a:off x="2148840" y="5266944"/>
            <a:ext cx="1828800" cy="713232"/>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お名前入りのあいさつと、キャンペーンの案内</a:t>
            </a:r>
            <a:endParaRPr lang="ja-JP" altLang="en-US" sz="1200" dirty="0">
              <a:latin typeface="メイリオ"/>
              <a:ea typeface="メイリオ"/>
              <a:cs typeface="メイリオ"/>
            </a:endParaRPr>
          </a:p>
        </p:txBody>
      </p:sp>
      <p:sp>
        <p:nvSpPr>
          <p:cNvPr id="16" name="見出し リッチメニュー"/>
          <p:cNvSpPr/>
          <p:nvPr/>
        </p:nvSpPr>
        <p:spPr>
          <a:xfrm>
            <a:off x="4114800" y="1874519"/>
            <a:ext cx="1874519" cy="420624"/>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リッチメニュー</a:t>
            </a:r>
            <a:endParaRPr lang="ja-JP" altLang="en-US" sz="1200" dirty="0">
              <a:latin typeface="メイリオ"/>
              <a:ea typeface="メイリオ"/>
              <a:cs typeface="メイリオ"/>
            </a:endParaRPr>
          </a:p>
        </p:txBody>
      </p:sp>
      <p:sp>
        <p:nvSpPr>
          <p:cNvPr id="18" name="見出し 一条工務店"/>
          <p:cNvSpPr/>
          <p:nvPr/>
        </p:nvSpPr>
        <p:spPr>
          <a:xfrm>
            <a:off x="6217920" y="1874519"/>
            <a:ext cx="3273552" cy="347472"/>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一条工務店</a:t>
            </a:r>
            <a:endParaRPr lang="ja-JP" altLang="en-US" sz="1200" dirty="0">
              <a:latin typeface="メイリオ"/>
              <a:ea typeface="メイリオ"/>
              <a:cs typeface="メイリオ"/>
            </a:endParaRPr>
          </a:p>
        </p:txBody>
      </p:sp>
      <p:pic>
        <p:nvPicPr>
          <p:cNvPr id="19" name="Picture 18" descr="tanaka_line_ichijo_top.png"/>
          <p:cNvPicPr>
            <a:picLocks noChangeAspect="1"/>
          </p:cNvPicPr>
          <p:nvPr/>
        </p:nvPicPr>
        <p:blipFill>
          <a:blip r:embed="rId4"/>
          <a:stretch>
            <a:fillRect/>
          </a:stretch>
        </p:blipFill>
        <p:spPr>
          <a:xfrm>
            <a:off x="6263640" y="2286000"/>
            <a:ext cx="868680" cy="1883664"/>
          </a:xfrm>
          <a:prstGeom prst="rect">
            <a:avLst/>
          </a:prstGeom>
          <a:ln w="9525">
            <a:solidFill>
              <a:srgbClr val="BFBFBF"/>
            </a:solidFill>
          </a:ln>
        </p:spPr>
      </p:pic>
      <p:sp>
        <p:nvSpPr>
          <p:cNvPr id="20" name="画面の説明"/>
          <p:cNvSpPr/>
          <p:nvPr/>
        </p:nvSpPr>
        <p:spPr>
          <a:xfrm>
            <a:off x="8183879" y="2286000"/>
            <a:ext cx="1307592" cy="1883664"/>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1分のアンケートへ案内。メニューに性能・暮らし・実例</a:t>
            </a:r>
            <a:endParaRPr lang="ja-JP" altLang="en-US" sz="1200" dirty="0">
              <a:latin typeface="メイリオ"/>
              <a:ea typeface="メイリオ"/>
              <a:cs typeface="メイリオ"/>
            </a:endParaRPr>
          </a:p>
        </p:txBody>
      </p:sp>
      <p:sp>
        <p:nvSpPr>
          <p:cNvPr id="21" name="見出し セキスイハイム"/>
          <p:cNvSpPr/>
          <p:nvPr/>
        </p:nvSpPr>
        <p:spPr>
          <a:xfrm>
            <a:off x="6217920" y="4343400"/>
            <a:ext cx="3273552" cy="347472"/>
          </a:xfrm>
          <a:prstGeom prst="rect">
            <a:avLst/>
          </a:prstGeom>
          <a:noFill/>
          <a:ln>
            <a:noFill/>
          </a:ln>
        </p:spPr>
        <p:txBody>
          <a:bodyPr wrap="square" lIns="0" tIns="0" rIns="0" bIns="18288" rtlCol="0" anchor="b">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セキスイハイム</a:t>
            </a:r>
            <a:endParaRPr lang="ja-JP" altLang="en-US" sz="1200" dirty="0">
              <a:latin typeface="メイリオ"/>
              <a:ea typeface="メイリオ"/>
              <a:cs typeface="メイリオ"/>
            </a:endParaRPr>
          </a:p>
        </p:txBody>
      </p:sp>
      <p:pic>
        <p:nvPicPr>
          <p:cNvPr id="22" name="Picture 21" descr="tanaka_line_ichijo_contents.png"/>
          <p:cNvPicPr>
            <a:picLocks noChangeAspect="1"/>
          </p:cNvPicPr>
          <p:nvPr/>
        </p:nvPicPr>
        <p:blipFill>
          <a:blip r:embed="rId5"/>
          <a:stretch>
            <a:fillRect/>
          </a:stretch>
        </p:blipFill>
        <p:spPr>
          <a:xfrm>
            <a:off x="7223760" y="2286000"/>
            <a:ext cx="868680" cy="1883664"/>
          </a:xfrm>
          <a:prstGeom prst="rect">
            <a:avLst/>
          </a:prstGeom>
          <a:ln w="9525">
            <a:solidFill>
              <a:srgbClr val="BFBFBF"/>
            </a:solidFill>
          </a:ln>
        </p:spPr>
      </p:pic>
      <p:sp>
        <p:nvSpPr>
          <p:cNvPr id="23" name="画面の説明"/>
          <p:cNvSpPr/>
          <p:nvPr/>
        </p:nvSpPr>
        <p:spPr>
          <a:xfrm>
            <a:off x="6217920" y="4754880"/>
            <a:ext cx="3273552" cy="548640"/>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LINEで、カタログ無料診断・無料間取り作成を案内</a:t>
            </a:r>
            <a:endParaRPr lang="ja-JP" altLang="en-US" sz="1200" dirty="0">
              <a:latin typeface="メイリオ"/>
              <a:ea typeface="メイリオ"/>
              <a:cs typeface="メイリオ"/>
            </a:endParaRPr>
          </a:p>
        </p:txBody>
      </p:sp>
      <p:sp>
        <p:nvSpPr>
          <p:cNvPr id="26" name="区切り"/>
          <p:cNvSpPr/>
          <p:nvPr/>
        </p:nvSpPr>
        <p:spPr>
          <a:xfrm>
            <a:off x="6080760" y="1481328"/>
            <a:ext cx="9144" cy="4526280"/>
          </a:xfrm>
          <a:prstGeom prst="rect">
            <a:avLst/>
          </a:prstGeom>
          <a:solidFill>
            <a:srgbClr val="D9D9D9"/>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27" name="注記"/>
          <p:cNvSpPr/>
          <p:nvPr/>
        </p:nvSpPr>
        <p:spPr>
          <a:xfrm>
            <a:off x="502920" y="6053328"/>
            <a:ext cx="8897112" cy="256032"/>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※各社のLINE公式アカウントより（大進建設 2026年10月21日、一条工務店 2026年10月19日、セキスイハイム 2026年10月16日確認）。サイトのポップアップは大進建設の公式サイトより（2026年10月16日確認）</a:t>
            </a:r>
            <a:endParaRPr lang="ja-JP" altLang="en-US" sz="1200" dirty="0">
              <a:latin typeface="メイリオ"/>
              <a:ea typeface="メイリオ"/>
              <a:cs typeface="メイリオ"/>
            </a:endParaRPr>
          </a:p>
        </p:txBody>
      </p:sp>
      <p:pic>
        <p:nvPicPr>
          <p:cNvPr id="28" name="大進建設のキャンペーンとリッチメニュー" descr="tanaka_line_daishin_aisatsu.png"/>
          <p:cNvPicPr>
            <a:picLocks noChangeAspect="1"/>
          </p:cNvPicPr>
          <p:nvPr/>
        </p:nvPicPr>
        <p:blipFill>
          <a:blip r:embed="rId3"/>
          <a:stretch>
            <a:fillRect/>
          </a:stretch>
        </p:blipFill>
        <p:spPr>
          <a:xfrm>
            <a:off x="4389120" y="2340864"/>
            <a:ext cx="1325880" cy="2871216"/>
          </a:xfrm>
          <a:prstGeom prst="rect">
            <a:avLst/>
          </a:prstGeom>
          <a:ln w="9525">
            <a:solidFill>
              <a:srgbClr val="BFBFBF"/>
            </a:solidFill>
          </a:ln>
        </p:spPr>
      </p:pic>
      <p:sp>
        <p:nvSpPr>
          <p:cNvPr id="29" name="画面の説明"/>
          <p:cNvSpPr/>
          <p:nvPr/>
        </p:nvSpPr>
        <p:spPr>
          <a:xfrm>
            <a:off x="4069080" y="5266944"/>
            <a:ext cx="1965960" cy="713232"/>
          </a:xfrm>
          <a:prstGeom prst="rect">
            <a:avLst/>
          </a:prstGeom>
          <a:noFill/>
          <a:ln>
            <a:noFill/>
          </a:ln>
        </p:spPr>
        <p:txBody>
          <a:bodyPr wrap="square" lIns="18288" tIns="18288" rIns="18288" bIns="0"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資料請求・モデルハウス・</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イベント・土地情報</a:t>
            </a:r>
            <a:endParaRPr lang="ja-JP" altLang="en-US" sz="1200" dirty="0">
              <a:latin typeface="メイリオ"/>
              <a:ea typeface="メイリオ"/>
              <a:cs typeface="メイリオ"/>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競合の取り組みに対して：LINEで、タナカホームを選ぶ理由を届ける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特典で事前審査まで後押しする大進建設に対し、資料請求の前から契約まで追う設計で応える</a:t>
            </a:r>
            <a:endParaRPr lang="en-US" sz="1400" b="1" u="none" strike="noStrike" dirty="0">
              <a:effectLst/>
              <a:uFillTx/>
              <a:latin typeface="メイリオ"/>
              <a:ea typeface="メイリオ"/>
              <a:cs typeface="メイリオ"/>
            </a:endParaRPr>
          </a:p>
        </p:txBody>
      </p:sp>
      <p:sp>
        <p:nvSpPr>
          <p:cNvPr id="8" name="示唆"/>
          <p:cNvSpPr/>
          <p:nvPr/>
        </p:nvSpPr>
        <p:spPr>
          <a:xfrm>
            <a:off x="502920" y="534924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cs typeface="メイリオ"/>
              </a:rPr>
              <a:t>タナカホームを選ぶ理由を届けられること</a:t>
            </a:r>
            <a:endParaRPr lang="ja-JP" altLang="en-US" sz="1200" dirty="0">
              <a:latin typeface="メイリオ"/>
              <a:ea typeface="メイリオ"/>
              <a:cs typeface="メイリオ"/>
            </a:endParaRPr>
          </a:p>
        </p:txBody>
      </p:sp>
      <p:sp>
        <p:nvSpPr>
          <p:cNvPr id="12" name="注記"/>
          <p:cNvSpPr/>
          <p:nvPr/>
        </p:nvSpPr>
        <p:spPr>
          <a:xfrm>
            <a:off x="502920" y="6035040"/>
            <a:ext cx="8897112" cy="256032"/>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※各社のLINE公式アカウントより（大進建設 2026年10月21日、一条工務店 2026年10月19日確認）。入口・ポップアップは各社の公式サイトより（2026年10月16日確認）</a:t>
            </a:r>
            <a:endParaRPr lang="ja-JP" altLang="en-US" sz="1200" dirty="0">
              <a:latin typeface="メイリオ"/>
              <a:ea typeface="メイリオ"/>
              <a:cs typeface="メイリオ"/>
            </a:endParaRPr>
          </a:p>
        </p:txBody>
      </p:sp>
      <p:sp>
        <p:nvSpPr>
          <p:cNvPr id="13" name="会社 大進建設"/>
          <p:cNvSpPr/>
          <p:nvPr/>
        </p:nvSpPr>
        <p:spPr>
          <a:xfrm>
            <a:off x="502920" y="1572768"/>
            <a:ext cx="3401568" cy="329184"/>
          </a:xfrm>
          <a:prstGeom prst="rect">
            <a:avLst/>
          </a:prstGeom>
          <a:solidFill>
            <a:srgbClr val="7F7F7F"/>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大進建設</a:t>
            </a:r>
            <a:endParaRPr lang="ja-JP" altLang="en-US" sz="1200" dirty="0">
              <a:latin typeface="メイリオ"/>
              <a:ea typeface="メイリオ"/>
              <a:cs typeface="メイリオ"/>
            </a:endParaRPr>
          </a:p>
        </p:txBody>
      </p:sp>
      <p:sp>
        <p:nvSpPr>
          <p:cNvPr id="14" name="会社 タナカホーム"/>
          <p:cNvSpPr/>
          <p:nvPr/>
        </p:nvSpPr>
        <p:spPr>
          <a:xfrm>
            <a:off x="5971032" y="1572768"/>
            <a:ext cx="3429000" cy="329184"/>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タナカホーム（弊社の運用でつくる形）</a:t>
            </a:r>
            <a:endParaRPr lang="ja-JP" altLang="en-US" sz="1200" dirty="0">
              <a:latin typeface="メイリオ"/>
              <a:ea typeface="メイリオ"/>
              <a:cs typeface="メイリオ"/>
            </a:endParaRPr>
          </a:p>
        </p:txBody>
      </p:sp>
      <p:sp>
        <p:nvSpPr>
          <p:cNvPr id="15" name="項目 友だちになるきっかけ"/>
          <p:cNvSpPr/>
          <p:nvPr/>
        </p:nvSpPr>
        <p:spPr>
          <a:xfrm>
            <a:off x="4023360" y="208483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友だちになるきっかけ</a:t>
            </a:r>
            <a:endParaRPr lang="ja-JP" altLang="en-US" sz="1200" dirty="0">
              <a:latin typeface="メイリオ"/>
              <a:ea typeface="メイリオ"/>
              <a:cs typeface="メイリオ"/>
            </a:endParaRPr>
          </a:p>
        </p:txBody>
      </p:sp>
      <p:sp>
        <p:nvSpPr>
          <p:cNvPr id="16" name="大進建設"/>
          <p:cNvSpPr/>
          <p:nvPr/>
        </p:nvSpPr>
        <p:spPr>
          <a:xfrm>
            <a:off x="502920" y="201168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LINE登録で最大4万円分のギフトカード</a:t>
            </a:r>
            <a:endParaRPr lang="ja-JP" altLang="en-US" sz="1200" dirty="0">
              <a:latin typeface="メイリオ"/>
              <a:ea typeface="メイリオ"/>
              <a:cs typeface="メイリオ"/>
            </a:endParaRPr>
          </a:p>
        </p:txBody>
      </p:sp>
      <p:sp>
        <p:nvSpPr>
          <p:cNvPr id="17" name="タナカホーム"/>
          <p:cNvSpPr/>
          <p:nvPr/>
        </p:nvSpPr>
        <p:spPr>
          <a:xfrm>
            <a:off x="5971032" y="201168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来場特典に加え、</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施工事例・ルームツアーなどの情報</a:t>
            </a:r>
            <a:endParaRPr lang="ja-JP" altLang="en-US" sz="1200" dirty="0">
              <a:latin typeface="メイリオ"/>
              <a:ea typeface="メイリオ"/>
              <a:cs typeface="メイリオ"/>
            </a:endParaRPr>
          </a:p>
        </p:txBody>
      </p:sp>
      <p:sp>
        <p:nvSpPr>
          <p:cNvPr id="18" name="項目 友だちの入口"/>
          <p:cNvSpPr/>
          <p:nvPr/>
        </p:nvSpPr>
        <p:spPr>
          <a:xfrm>
            <a:off x="4023360" y="272491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友だちの入口</a:t>
            </a:r>
            <a:endParaRPr lang="ja-JP" altLang="en-US" sz="1200" dirty="0">
              <a:latin typeface="メイリオ"/>
              <a:ea typeface="メイリオ"/>
              <a:cs typeface="メイリオ"/>
            </a:endParaRPr>
          </a:p>
        </p:txBody>
      </p:sp>
      <p:sp>
        <p:nvSpPr>
          <p:cNvPr id="19" name="大進建設"/>
          <p:cNvSpPr/>
          <p:nvPr/>
        </p:nvSpPr>
        <p:spPr>
          <a:xfrm>
            <a:off x="502920" y="265176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サイトのポップアップ</a:t>
            </a:r>
            <a:endParaRPr lang="ja-JP" altLang="en-US" sz="1200" dirty="0">
              <a:latin typeface="メイリオ"/>
              <a:ea typeface="メイリオ"/>
              <a:cs typeface="メイリオ"/>
            </a:endParaRPr>
          </a:p>
        </p:txBody>
      </p:sp>
      <p:sp>
        <p:nvSpPr>
          <p:cNvPr id="20" name="タナカホーム"/>
          <p:cNvSpPr/>
          <p:nvPr/>
        </p:nvSpPr>
        <p:spPr>
          <a:xfrm>
            <a:off x="5971032" y="265176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サイトのポップアップ＋</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サイトを閉じるとき・資料請求の完了直後</a:t>
            </a:r>
            <a:endParaRPr lang="ja-JP" altLang="en-US" sz="1200" dirty="0">
              <a:latin typeface="メイリオ"/>
              <a:ea typeface="メイリオ"/>
              <a:cs typeface="メイリオ"/>
            </a:endParaRPr>
          </a:p>
        </p:txBody>
      </p:sp>
      <p:sp>
        <p:nvSpPr>
          <p:cNvPr id="21" name="項目 あいさつ"/>
          <p:cNvSpPr/>
          <p:nvPr/>
        </p:nvSpPr>
        <p:spPr>
          <a:xfrm>
            <a:off x="4023360" y="336499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あいさつ</a:t>
            </a:r>
            <a:endParaRPr lang="ja-JP" altLang="en-US" sz="1200" dirty="0">
              <a:latin typeface="メイリオ"/>
              <a:ea typeface="メイリオ"/>
              <a:cs typeface="メイリオ"/>
            </a:endParaRPr>
          </a:p>
        </p:txBody>
      </p:sp>
      <p:sp>
        <p:nvSpPr>
          <p:cNvPr id="22" name="大進建設"/>
          <p:cNvSpPr/>
          <p:nvPr/>
        </p:nvSpPr>
        <p:spPr>
          <a:xfrm>
            <a:off x="502920" y="329184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お名前入りのあいさつと、キャンペーンの案内。</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「まずは資料請求から」</a:t>
            </a:r>
            <a:endParaRPr lang="ja-JP" altLang="en-US" sz="1200" dirty="0">
              <a:latin typeface="メイリオ"/>
              <a:ea typeface="メイリオ"/>
              <a:cs typeface="メイリオ"/>
            </a:endParaRPr>
          </a:p>
        </p:txBody>
      </p:sp>
      <p:sp>
        <p:nvSpPr>
          <p:cNvPr id="23" name="タナカホーム"/>
          <p:cNvSpPr/>
          <p:nvPr/>
        </p:nvSpPr>
        <p:spPr>
          <a:xfrm>
            <a:off x="5971032" y="329184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予約の案内に加え、</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平屋か2階建てか・予算の簡易診断へ</a:t>
            </a:r>
            <a:endParaRPr lang="ja-JP" altLang="en-US" sz="1200" dirty="0">
              <a:latin typeface="メイリオ"/>
              <a:ea typeface="メイリオ"/>
              <a:cs typeface="メイリオ"/>
            </a:endParaRPr>
          </a:p>
        </p:txBody>
      </p:sp>
      <p:sp>
        <p:nvSpPr>
          <p:cNvPr id="24" name="項目 リッチメニュー"/>
          <p:cNvSpPr/>
          <p:nvPr/>
        </p:nvSpPr>
        <p:spPr>
          <a:xfrm>
            <a:off x="4023360" y="4005072"/>
            <a:ext cx="1828800" cy="402335"/>
          </a:xfrm>
          <a:prstGeom prst="rect">
            <a:avLst/>
          </a:prstGeom>
          <a:solidFill>
            <a:srgbClr val="FFFFFF"/>
          </a:solidFill>
          <a:ln w="12700">
            <a:solidFill>
              <a:srgbClr val="1F285A"/>
            </a:solidFill>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リッチメニュー</a:t>
            </a:r>
            <a:endParaRPr lang="ja-JP" altLang="en-US" sz="1200" dirty="0">
              <a:latin typeface="メイリオ"/>
              <a:ea typeface="メイリオ"/>
              <a:cs typeface="メイリオ"/>
            </a:endParaRPr>
          </a:p>
        </p:txBody>
      </p:sp>
      <p:sp>
        <p:nvSpPr>
          <p:cNvPr id="25" name="大進建設"/>
          <p:cNvSpPr/>
          <p:nvPr/>
        </p:nvSpPr>
        <p:spPr>
          <a:xfrm>
            <a:off x="502920" y="393192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キャンペーン・資料請求・モデルハウス・</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イベント・土地情報</a:t>
            </a:r>
            <a:endParaRPr lang="ja-JP" altLang="en-US" sz="1200" dirty="0">
              <a:latin typeface="メイリオ"/>
              <a:ea typeface="メイリオ"/>
              <a:cs typeface="メイリオ"/>
            </a:endParaRPr>
          </a:p>
        </p:txBody>
      </p:sp>
      <p:sp>
        <p:nvSpPr>
          <p:cNvPr id="26" name="タナカホーム"/>
          <p:cNvSpPr/>
          <p:nvPr/>
        </p:nvSpPr>
        <p:spPr>
          <a:xfrm>
            <a:off x="5971032" y="393192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今の予約・ホームページ・SNSに、</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施工事例・ルームツアー・資金相談を足す</a:t>
            </a:r>
            <a:endParaRPr lang="ja-JP" altLang="en-US" sz="1200" dirty="0">
              <a:latin typeface="メイリオ"/>
              <a:ea typeface="メイリオ"/>
              <a:cs typeface="メイリオ"/>
            </a:endParaRPr>
          </a:p>
        </p:txBody>
      </p:sp>
      <p:sp>
        <p:nvSpPr>
          <p:cNvPr id="27" name="項目 どこまで追うか"/>
          <p:cNvSpPr/>
          <p:nvPr/>
        </p:nvSpPr>
        <p:spPr>
          <a:xfrm>
            <a:off x="4023360" y="4645152"/>
            <a:ext cx="1828800" cy="402335"/>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どこまで追うか</a:t>
            </a:r>
            <a:endParaRPr lang="ja-JP" altLang="en-US" sz="1200" dirty="0">
              <a:latin typeface="メイリオ"/>
              <a:ea typeface="メイリオ"/>
              <a:cs typeface="メイリオ"/>
            </a:endParaRPr>
          </a:p>
        </p:txBody>
      </p:sp>
      <p:sp>
        <p:nvSpPr>
          <p:cNvPr id="28" name="大進建設"/>
          <p:cNvSpPr/>
          <p:nvPr/>
        </p:nvSpPr>
        <p:spPr>
          <a:xfrm>
            <a:off x="502920" y="4572000"/>
            <a:ext cx="3401568"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特典で、資料請求・予約来場から、</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来場後の事前審査まで</a:t>
            </a:r>
            <a:endParaRPr lang="ja-JP" altLang="en-US" sz="1200" dirty="0">
              <a:latin typeface="メイリオ"/>
              <a:ea typeface="メイリオ"/>
              <a:cs typeface="メイリオ"/>
            </a:endParaRPr>
          </a:p>
        </p:txBody>
      </p:sp>
      <p:sp>
        <p:nvSpPr>
          <p:cNvPr id="29" name="タナカホーム"/>
          <p:cNvSpPr/>
          <p:nvPr/>
        </p:nvSpPr>
        <p:spPr>
          <a:xfrm>
            <a:off x="5971032" y="4572000"/>
            <a:ext cx="3429000" cy="548640"/>
          </a:xfrm>
          <a:prstGeom prst="rect">
            <a:avLst/>
          </a:prstGeom>
          <a:noFill/>
          <a:ln>
            <a:noFill/>
          </a:ln>
        </p:spPr>
        <p:txBody>
          <a:bodyPr wrap="square" lIns="18288" tIns="18288" rIns="18288" bIns="0"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弊社が運用を代行して、</a:t>
            </a:r>
            <a:endParaRPr lang="ja-JP" altLang="en-US" sz="1200" dirty="0">
              <a:latin typeface="メイリオ"/>
              <a:ea typeface="メイリオ"/>
              <a:cs typeface="メイリオ"/>
            </a:endParaRPr>
          </a:p>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資料請求の前から契約まで追う設計にする</a:t>
            </a:r>
            <a:endParaRPr lang="ja-JP" altLang="en-US" sz="1200" dirty="0">
              <a:latin typeface="メイリオ"/>
              <a:ea typeface="メイリオ"/>
              <a:cs typeface="メイリオ"/>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流入</a:t>
            </a:r>
            <a:endParaRPr lang="ja-JP" altLang="en-US" sz="1300" dirty="0"/>
          </a:p>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3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来場予約・来場</a:t>
            </a:r>
            <a:endParaRPr lang="ja-JP" altLang="en-US" sz="13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商談・契約</a:t>
            </a:r>
            <a:endParaRPr lang="ja-JP" altLang="en-US" sz="13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2"/>
          <a:stretch>
            <a:fillRect/>
          </a:stretch>
        </p:blipFill>
        <p:spPr>
          <a:xfrm>
            <a:off x="502920" y="1600200"/>
            <a:ext cx="5943600" cy="3468090"/>
          </a:xfrm>
          <a:prstGeom prst="rect">
            <a:avLst/>
          </a:prstGeom>
        </p:spPr>
      </p:pic>
      <p:sp>
        <p:nvSpPr>
          <p:cNvPr id="8" name="LINE追加の時期"/>
          <p:cNvSpPr/>
          <p:nvPr/>
        </p:nvSpPr>
        <p:spPr>
          <a:xfrm>
            <a:off x="3554958" y="1644777"/>
            <a:ext cx="692429" cy="323926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INE追加 札"/>
          <p:cNvSpPr/>
          <p:nvPr/>
        </p:nvSpPr>
        <p:spPr>
          <a:xfrm>
            <a:off x="3443973" y="5104866"/>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62940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62940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62940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6812280" y="2340864"/>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629400" y="2651760"/>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629400" y="2926079"/>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629400" y="3694176"/>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629400" y="3968496"/>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629400" y="473659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629400" y="5010912"/>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40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サイトに来る</a:t>
            </a:r>
            <a:endParaRPr lang="ja-JP" altLang="en-US" sz="13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a:t>
            </a:r>
            <a:endParaRPr lang="ja-JP" altLang="en-US" sz="13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a:t>
            </a:r>
            <a:endParaRPr lang="ja-JP" altLang="en-US" sz="13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a:t>
            </a:r>
            <a:endParaRPr lang="ja-JP" altLang="en-US" sz="13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契約</a:t>
            </a:r>
            <a:endParaRPr lang="ja-JP" altLang="en-US" sz="1300" dirty="0"/>
          </a:p>
        </p:txBody>
      </p:sp>
      <p:sp>
        <p:nvSpPr>
          <p:cNvPr id="18"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今のLINE：来場予約・来場のご案内</a:t>
            </a:r>
            <a:endParaRPr lang="ja-JP" altLang="en-US" sz="1300" dirty="0"/>
          </a:p>
        </p:txBody>
      </p:sp>
      <p:sp>
        <p:nvSpPr>
          <p:cNvPr id="19"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300" dirty="0"/>
          </a:p>
        </p:txBody>
      </p:sp>
      <p:sp>
        <p:nvSpPr>
          <p:cNvPr id="20"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300" dirty="0"/>
          </a:p>
        </p:txBody>
      </p:sp>
      <p:sp>
        <p:nvSpPr>
          <p:cNvPr id="21" name="可能になること01"/>
          <p:cNvSpPr/>
          <p:nvPr/>
        </p:nvSpPr>
        <p:spPr>
          <a:xfrm>
            <a:off x="502920"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300" dirty="0"/>
          </a:p>
        </p:txBody>
      </p:sp>
      <p:sp>
        <p:nvSpPr>
          <p:cNvPr id="22" name="可能になること02"/>
          <p:cNvSpPr/>
          <p:nvPr/>
        </p:nvSpPr>
        <p:spPr>
          <a:xfrm>
            <a:off x="3529584"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300" dirty="0"/>
          </a:p>
        </p:txBody>
      </p:sp>
      <p:sp>
        <p:nvSpPr>
          <p:cNvPr id="23" name="可能になること03"/>
          <p:cNvSpPr/>
          <p:nvPr/>
        </p:nvSpPr>
        <p:spPr>
          <a:xfrm>
            <a:off x="6556248"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入口</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タイミング</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7F7F7F"/>
                          </a:solidFill>
                          <a:latin typeface="メイリオ" panose="020B0604030504040204" pitchFamily="50" charset="-128"/>
                          <a:ea typeface="メイリオ" panose="020B0604030504040204" pitchFamily="50" charset="-128"/>
                        </a:rPr>
                        <a:t>今</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完了した直後</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3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3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友だち増加数</a:t>
            </a:r>
            <a:endParaRPr lang="ja-JP" altLang="en-US" sz="13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3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前年比127.5%</a:t>
            </a:r>
            <a:endParaRPr lang="ja-JP" alt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解決策：LINEの配信でナーチャリングを</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前後検索で見える検討の順番に合わせた、14日間のステップ配信（全5通）と月4回程度の企画配信で、来場予約を後押し</a:t>
            </a:r>
            <a:br>
              <a:rPr lang="zh-CN" sz="1400" b="0" u="none" strike="noStrike" dirty="0">
                <a:solidFill>
                  <a:srgbClr val="5A6378"/>
                </a:solidFill>
                <a:effectLst/>
                <a:uFillTx/>
                <a:latin typeface="メイリオ"/>
                <a:ea typeface="メイリオ"/>
              </a:rPr>
            </a:br>
            <a:endParaRPr lang="en-US" sz="1400" b="0" u="none" strike="noStrike" dirty="0">
              <a:solidFill>
                <a:srgbClr val="000000"/>
              </a:solidFill>
              <a:effectLst/>
              <a:uFillTx/>
              <a:latin typeface="メイリオ"/>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[ステップ配信・全5通｜新しい友だちへ追加後に自動配信]</a:t>
            </a:r>
            <a:endParaRPr lang="en-US" sz="1400" b="0" u="none" strike="noStrike">
              <a:solidFill>
                <a:srgbClr val="000000"/>
              </a:solidFill>
              <a:effectLst/>
              <a:uFillTx/>
              <a:latin typeface="メイリオ"/>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当日〜1日後</a:t>
            </a:r>
            <a:endParaRPr lang="en-US" sz="1200" b="0" u="none" strike="noStrike">
              <a:solidFill>
                <a:srgbClr val="FFFFFF"/>
              </a:solidFill>
              <a:effectLst/>
              <a:uFillTx/>
              <a:latin typeface="メイリオ"/>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施工事例・会社の特長</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土地探しのご相談</a:t>
            </a:r>
            <a:endParaRPr lang="en-US" sz="1200" b="0" u="none" strike="noStrike">
              <a:solidFill>
                <a:srgbClr val="000000"/>
              </a:solidFill>
              <a:effectLst/>
              <a:uFillTx/>
              <a:latin typeface="メイリオ"/>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比べる会社の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候補に入る</a:t>
            </a:r>
            <a:endParaRPr lang="en-US" sz="1200" b="0" u="none" strike="noStrike">
              <a:solidFill>
                <a:srgbClr val="000000"/>
              </a:solidFill>
              <a:effectLst/>
              <a:uFillTx/>
              <a:latin typeface="メイリオ"/>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資料請求へ</a:t>
            </a:r>
            <a:endParaRPr lang="en-US" sz="1200" b="0" u="none" strike="noStrike">
              <a:solidFill>
                <a:srgbClr val="FFFFFF"/>
              </a:solidFill>
              <a:effectLst/>
              <a:uFillTx/>
              <a:latin typeface="メイリオ"/>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2〜7日後</a:t>
            </a:r>
            <a:endParaRPr lang="en-US" sz="1200" b="0" u="none" strike="noStrike">
              <a:solidFill>
                <a:srgbClr val="FFFFFF"/>
              </a:solidFill>
              <a:effectLst/>
              <a:uFillTx/>
              <a:latin typeface="メイリオ"/>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住宅ローン・坪単価の考え方</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平屋・2階建ての価格の目安</a:t>
            </a:r>
            <a:endParaRPr lang="en-US" sz="1200" b="0" u="none" strike="noStrike">
              <a:solidFill>
                <a:srgbClr val="000000"/>
              </a:solidFill>
              <a:effectLst/>
              <a:uFillTx/>
              <a:latin typeface="メイリオ"/>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8〜14日後</a:t>
            </a:r>
            <a:endParaRPr lang="en-US" sz="1200" b="0" u="none" strike="noStrike">
              <a:solidFill>
                <a:srgbClr val="FFFFFF"/>
              </a:solidFill>
              <a:effectLst/>
              <a:uFillTx/>
              <a:latin typeface="メイリオ"/>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青森の冬を快適にする断熱・間取り</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ルームツアー動画</a:t>
            </a:r>
            <a:endParaRPr lang="en-US" altLang="ja-JP" sz="1200" b="0" u="none" strike="noStrike" dirty="0">
              <a:solidFill>
                <a:srgbClr val="333333"/>
              </a:solidFill>
              <a:effectLst/>
              <a:uFillTx/>
              <a:latin typeface="メイリオ"/>
              <a:ea typeface="メイリオ"/>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住みたいイメージを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育てる</a:t>
            </a:r>
            <a:endParaRPr lang="en-US" altLang="ja-JP" sz="1200" b="0" u="none" strike="noStrike" dirty="0">
              <a:solidFill>
                <a:srgbClr val="333333"/>
              </a:solidFill>
              <a:effectLst/>
              <a:uFillTx/>
              <a:latin typeface="メイリオ"/>
              <a:ea typeface="メイリオ"/>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メイリオ"/>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メイリオ"/>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メイリオ"/>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見学会・</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モデルハウス公開</a:t>
            </a:r>
            <a:endParaRPr lang="en-US" sz="1200" b="0" u="none" strike="noStrike">
              <a:solidFill>
                <a:srgbClr val="000000"/>
              </a:solidFill>
              <a:effectLst/>
              <a:uFillTx/>
              <a:latin typeface="メイリオ"/>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見に行く理由を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つくる</a:t>
            </a:r>
            <a:endParaRPr lang="en-US" sz="1200" b="0" u="none" strike="noStrike">
              <a:solidFill>
                <a:srgbClr val="000000"/>
              </a:solidFill>
              <a:effectLst/>
              <a:uFillTx/>
              <a:latin typeface="メイリオ"/>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来場予約前の方</a:t>
            </a:r>
            <a:endParaRPr lang="en-US" sz="1200" b="0" u="none" strike="noStrike">
              <a:solidFill>
                <a:srgbClr val="000000"/>
              </a:solidFill>
              <a:effectLst/>
              <a:uFillTx/>
              <a:latin typeface="メイリオ"/>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来場予約済みを除く</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メイリオ"/>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予算の簡易診断</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平屋か2階建てか</a:t>
            </a:r>
            <a:endParaRPr lang="en-US" sz="1200" b="0" u="none" strike="noStrike">
              <a:solidFill>
                <a:srgbClr val="000000"/>
              </a:solidFill>
              <a:effectLst/>
              <a:uFillTx/>
              <a:latin typeface="メイリオ"/>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希望を聞き分ける</a:t>
            </a:r>
            <a:endParaRPr lang="en-US" sz="1200" b="0" u="none" strike="noStrike">
              <a:solidFill>
                <a:srgbClr val="000000"/>
              </a:solidFill>
              <a:effectLst/>
              <a:uFillTx/>
              <a:latin typeface="メイリオ"/>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費用に関心がある方</a:t>
            </a:r>
            <a:endParaRPr lang="en-US" sz="1200" b="0" u="none" strike="noStrike">
              <a:solidFill>
                <a:srgbClr val="000000"/>
              </a:solidFill>
              <a:effectLst/>
              <a:uFillTx/>
              <a:latin typeface="メイリオ"/>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住宅ローンの配信を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クリックした方</a:t>
            </a:r>
            <a:endParaRPr lang="en-US" sz="1200" b="0" u="none" strike="noStrike">
              <a:solidFill>
                <a:srgbClr val="000000"/>
              </a:solidFill>
              <a:effectLst/>
              <a:uFillTx/>
              <a:latin typeface="メイリオ"/>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資金計画の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個別相談のご案内</a:t>
            </a:r>
            <a:endParaRPr lang="en-US" sz="1200" b="0" u="none" strike="noStrike">
              <a:solidFill>
                <a:srgbClr val="000000"/>
              </a:solidFill>
              <a:effectLst/>
              <a:uFillTx/>
              <a:latin typeface="メイリオ"/>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契約前の方</a:t>
            </a:r>
            <a:endParaRPr lang="en-US" sz="1200" b="0" u="none" strike="noStrike">
              <a:solidFill>
                <a:srgbClr val="000000"/>
              </a:solidFill>
              <a:effectLst/>
              <a:uFillTx/>
              <a:latin typeface="メイリオ"/>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来場済みのタグ</a:t>
            </a:r>
            <a:endParaRPr lang="en-US" sz="1200" b="0" u="none" strike="noStrike">
              <a:solidFill>
                <a:srgbClr val="000000"/>
              </a:solidFill>
              <a:effectLst/>
              <a:uFillTx/>
              <a:latin typeface="メイリオ"/>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お客様の声</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構造見学会</a:t>
            </a:r>
            <a:endParaRPr lang="en-US" sz="1200" b="0" u="none" strike="noStrike">
              <a:solidFill>
                <a:srgbClr val="000000"/>
              </a:solidFill>
              <a:effectLst/>
              <a:uFillTx/>
              <a:latin typeface="メイリオ"/>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契約前の後押し</a:t>
            </a:r>
            <a:endParaRPr lang="en-US" sz="1200" b="0" u="none" strike="noStrike">
              <a:solidFill>
                <a:srgbClr val="000000"/>
              </a:solidFill>
              <a:effectLst/>
              <a:uFillTx/>
              <a:latin typeface="メイリオ"/>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商談・契約へ</a:t>
            </a:r>
            <a:endParaRPr lang="en-US" sz="1200" b="0" u="none" strike="noStrike">
              <a:solidFill>
                <a:srgbClr val="FFFFFF"/>
              </a:solidFill>
              <a:effectLst/>
              <a:uFillTx/>
              <a:latin typeface="メイリオ"/>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メイリオ"/>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メイリオ"/>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予約の完了</a:t>
            </a:r>
            <a:endParaRPr lang="ja-JP" altLang="en-US" sz="13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予約の確認</a:t>
            </a:r>
            <a:endParaRPr lang="ja-JP" altLang="en-US" sz="13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3日前</a:t>
            </a:r>
            <a:endParaRPr lang="ja-JP" altLang="en-US" sz="13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前日</a:t>
            </a:r>
            <a:endParaRPr lang="ja-JP" altLang="en-US" sz="13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来場の後</a:t>
            </a:r>
            <a:endParaRPr lang="ja-JP" altLang="en-US" sz="1300" dirty="0"/>
          </a:p>
        </p:txBody>
      </p:sp>
      <p:sp>
        <p:nvSpPr>
          <p:cNvPr id="16" name="お知らせ1"/>
          <p:cNvSpPr/>
          <p:nvPr/>
        </p:nvSpPr>
        <p:spPr>
          <a:xfrm>
            <a:off x="502920"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300" dirty="0"/>
          </a:p>
        </p:txBody>
      </p:sp>
      <p:sp>
        <p:nvSpPr>
          <p:cNvPr id="17" name="お知らせ2"/>
          <p:cNvSpPr/>
          <p:nvPr/>
        </p:nvSpPr>
        <p:spPr>
          <a:xfrm>
            <a:off x="2328062"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300" dirty="0"/>
          </a:p>
        </p:txBody>
      </p:sp>
      <p:sp>
        <p:nvSpPr>
          <p:cNvPr id="18" name="お知らせ3"/>
          <p:cNvSpPr/>
          <p:nvPr/>
        </p:nvSpPr>
        <p:spPr>
          <a:xfrm>
            <a:off x="4153204"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300" dirty="0"/>
          </a:p>
        </p:txBody>
      </p:sp>
      <p:sp>
        <p:nvSpPr>
          <p:cNvPr id="19" name="お知らせ4"/>
          <p:cNvSpPr/>
          <p:nvPr/>
        </p:nvSpPr>
        <p:spPr>
          <a:xfrm>
            <a:off x="5978347"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300" dirty="0"/>
          </a:p>
        </p:txBody>
      </p:sp>
      <p:sp>
        <p:nvSpPr>
          <p:cNvPr id="20" name="お知らせ5"/>
          <p:cNvSpPr/>
          <p:nvPr/>
        </p:nvSpPr>
        <p:spPr>
          <a:xfrm>
            <a:off x="7803489"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300" dirty="0"/>
          </a:p>
        </p:txBody>
      </p:sp>
      <p:sp>
        <p:nvSpPr>
          <p:cNvPr id="21"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300" dirty="0"/>
          </a:p>
        </p:txBody>
      </p:sp>
      <p:sp>
        <p:nvSpPr>
          <p:cNvPr id="22"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300" dirty="0"/>
          </a:p>
        </p:txBody>
      </p:sp>
      <p:sp>
        <p:nvSpPr>
          <p:cNvPr id="23"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20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3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概算お見積り：月26万円で、6か月目に資料請求 月11件・来場予約 月8件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来場前のお知らせ</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予約ごとに配信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資料請求</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来場予約</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サイトの</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LINEボタン</a:t>
            </a:r>
            <a:endParaRPr lang="en-US" sz="1300" b="0" u="none" strike="noStrike">
              <a:solidFill>
                <a:srgbClr val="FFFFFF"/>
              </a:solidFill>
              <a:effectLst/>
              <a:uFillTx/>
              <a:latin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設置</a:t>
            </a:r>
            <a:endParaRPr lang="en-US" sz="1300" b="0" u="none" strike="noStrike">
              <a:solidFill>
                <a:srgbClr val="000000"/>
              </a:solidFill>
              <a:effectLst/>
              <a:uFillTx/>
              <a:latin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1,493人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11件/月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8件/月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プラン②｜総合運用で、友だちの入口を増やし、検討の順番に沿った配信で資料請求・来場予約を増やす</a:t>
            </a:r>
            <a:endParaRPr lang="en-US" sz="1400" b="0" u="none" strike="noStrike">
              <a:solidFill>
                <a:srgbClr val="000000"/>
              </a:solidFill>
              <a:effectLst/>
              <a:uFillTx/>
              <a:latin typeface="メイリオ"/>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＋LINE広告</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460,000円〜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 100,000円〜＋離脱防止 15,000円＋サンクスLINE誘導 150,000円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30,000円＋サンクスLINE誘導 30,000円〜。LINE公式アカウント利用料は別（貴社のご契約のまま）</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※契約期間は6か月〜。概算お見積りのページはプラン②の場合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LINE広告</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（友だち追加）</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300" dirty="0"/>
          </a:p>
        </p:txBody>
      </p:sp>
      <p:sp>
        <p:nvSpPr>
          <p:cNvPr id="8" name="型1"/>
          <p:cNvSpPr/>
          <p:nvPr/>
        </p:nvSpPr>
        <p:spPr>
          <a:xfrm>
            <a:off x="502920" y="2103120"/>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① 入口</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300" dirty="0"/>
          </a:p>
        </p:txBody>
      </p:sp>
      <p:sp>
        <p:nvSpPr>
          <p:cNvPr id="9" name="型2"/>
          <p:cNvSpPr/>
          <p:nvPr/>
        </p:nvSpPr>
        <p:spPr>
          <a:xfrm>
            <a:off x="502920" y="2944368"/>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② 配信</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300" dirty="0"/>
          </a:p>
        </p:txBody>
      </p:sp>
      <p:sp>
        <p:nvSpPr>
          <p:cNvPr id="10" name="型3"/>
          <p:cNvSpPr/>
          <p:nvPr/>
        </p:nvSpPr>
        <p:spPr>
          <a:xfrm>
            <a:off x="502920" y="3785615"/>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③ 改善</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3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横展開</a:t>
            </a:r>
            <a:endParaRPr lang="ja-JP" altLang="en-US" sz="13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店舗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商品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層</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3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進め方</a:t>
            </a:r>
            <a:endParaRPr lang="ja-JP" altLang="en-US" sz="13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12月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構築：離脱防止・サイトのLINEボタン・サンクスLINE誘導、ステップ配信、来場前のお知らせ</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3月〜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143279</TotalTime>
  <Words>4261</Words>
  <Application>Microsoft Office PowerPoint</Application>
  <PresentationFormat>A4 210 x 297 mm</PresentationFormat>
  <Paragraphs>692</Paragraphs>
  <Slides>31</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31</vt:i4>
      </vt:variant>
    </vt:vector>
  </HeadingPairs>
  <TitlesOfParts>
    <vt:vector size="39" baseType="lpstr">
      <vt:lpstr>メイリオ</vt:lpstr>
      <vt:lpstr>メイリオ</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1976</cp:revision>
  <cp:lastPrinted>2022-11-01T11:38:14Z</cp:lastPrinted>
  <dcterms:created xsi:type="dcterms:W3CDTF">2015-09-04T09:21:15Z</dcterms:created>
  <dcterms:modified xsi:type="dcterms:W3CDTF">2026-10-19T03:20:25Z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