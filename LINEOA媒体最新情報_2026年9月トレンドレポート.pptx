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8" r:id="rId4"/>
  </p:sldMasterIdLst>
  <p:notesMasterIdLst>
    <p:notesMasterId r:id="rId5"/>
  </p:notesMasterIdLst>
  <p:sldIdLst>
    <p:sldId id="256" r:id="rId6"/>
    <p:sldId id="257" r:id="rId7"/>
    <p:sldId id="258" r:id="rId8"/>
    <p:sldId id="259" r:id="rId14"/>
    <p:sldId id="260" r:id="rId15"/>
    <p:sldId id="261" r:id="rId16"/>
    <p:sldId id="262" r:id="rId13"/>
    <p:sldId id="263" r:id="rId12"/>
    <p:sldId id="264" r:id="rId11"/>
    <p:sldId id="265" r:id="rId10"/>
  </p:sldIdLst>
  <p:sldSz cy="6858000" cx="9906000"/>
  <p:notesSz cx="6799250" cy="9929800"/>
  <p:embeddedFontLst>
    <p:embeddedFont>
      <p:font typeface="Century Gothic"/>
      <p:regular r:id="rId17"/>
      <p:bold r:id="rId18"/>
      <p:italic r:id="rId19"/>
      <p:boldItalic r:id="rId20"/>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21" roundtripDataSignature="AMtx7mgQCoaVnfxROPv51WSWo8GFar7+Gw=="/>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5232AC2F-9110-45D6-A1EA-E37EBF87FD90}">
  <a:tblStyle styleId="{5232AC2F-9110-45D6-A1EA-E37EBF87FD90}" styleName="Table_0">
    <a:wholeTbl>
      <a:tcTxStyle>
        <a:font>
          <a:latin typeface="Arial"/>
          <a:ea typeface="Arial"/>
          <a:cs typeface="Arial"/>
        </a:font>
        <a:srgbClr val="000000"/>
      </a:tcTx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10" Type="http://schemas.openxmlformats.org/officeDocument/2006/relationships/slide" Target="slides/slide10.xml"/><Relationship Id="rId11" Type="http://schemas.openxmlformats.org/officeDocument/2006/relationships/slide" Target="slides/slide9.xml"/><Relationship Id="rId12" Type="http://schemas.openxmlformats.org/officeDocument/2006/relationships/slide" Target="slides/slide8.xml"/><Relationship Id="rId13" Type="http://schemas.openxmlformats.org/officeDocument/2006/relationships/slide" Target="slides/slide7.xml"/><Relationship Id="rId14" Type="http://schemas.openxmlformats.org/officeDocument/2006/relationships/slide" Target="slides/slide4.xml"/><Relationship Id="rId15" Type="http://schemas.openxmlformats.org/officeDocument/2006/relationships/slide" Target="slides/slide5.xml"/><Relationship Id="rId16" Type="http://schemas.openxmlformats.org/officeDocument/2006/relationships/slide" Target="slides/slide6.xml"/><Relationship Id="rId17" Type="http://schemas.openxmlformats.org/officeDocument/2006/relationships/font" Target="fonts/CenturyGothic-regular.fntdata"/><Relationship Id="rId18" Type="http://schemas.openxmlformats.org/officeDocument/2006/relationships/font" Target="fonts/CenturyGothic-bold.fntdata"/><Relationship Id="rId19" Type="http://schemas.openxmlformats.org/officeDocument/2006/relationships/font" Target="fonts/CenturyGothic-italic.fntdata"/><Relationship Id="rId20" Type="http://schemas.openxmlformats.org/officeDocument/2006/relationships/font" Target="fonts/CenturyGothic-boldItalic.fntdata"/><Relationship Id="rId21" Type="http://customschemas.google.com/relationships/presentationmetadata" Target="meta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1" y="0"/>
            <a:ext cx="2946094" cy="495952"/>
          </a:xfrm>
          <a:prstGeom prst="rect">
            <a:avLst/>
          </a:prstGeom>
          <a:noFill/>
          <a:ln>
            <a:noFill/>
          </a:ln>
        </p:spPr>
        <p:txBody>
          <a:bodyPr anchorCtr="0" anchor="t" bIns="44100" lIns="88200" spcFirstLastPara="1" rIns="88200" wrap="square" tIns="441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51650" y="0"/>
            <a:ext cx="2946093" cy="495952"/>
          </a:xfrm>
          <a:prstGeom prst="rect">
            <a:avLst/>
          </a:prstGeom>
          <a:noFill/>
          <a:ln>
            <a:noFill/>
          </a:ln>
        </p:spPr>
        <p:txBody>
          <a:bodyPr anchorCtr="0" anchor="t" bIns="44100" lIns="88200" spcFirstLastPara="1" rIns="88200" wrap="square" tIns="441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711200" y="744538"/>
            <a:ext cx="5376863" cy="3724275"/>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0686" y="4716161"/>
            <a:ext cx="5439410" cy="4468185"/>
          </a:xfrm>
          <a:prstGeom prst="rect">
            <a:avLst/>
          </a:prstGeom>
          <a:noFill/>
          <a:ln>
            <a:noFill/>
          </a:ln>
        </p:spPr>
        <p:txBody>
          <a:bodyPr anchorCtr="0" anchor="t" bIns="44100" lIns="88200" spcFirstLastPara="1" rIns="88200" wrap="square" tIns="441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1" y="9432321"/>
            <a:ext cx="2946094" cy="495952"/>
          </a:xfrm>
          <a:prstGeom prst="rect">
            <a:avLst/>
          </a:prstGeom>
          <a:noFill/>
          <a:ln>
            <a:noFill/>
          </a:ln>
        </p:spPr>
        <p:txBody>
          <a:bodyPr anchorCtr="0" anchor="b" bIns="44100" lIns="88200" spcFirstLastPara="1" rIns="88200" wrap="square" tIns="441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51650" y="9432321"/>
            <a:ext cx="2946093" cy="495952"/>
          </a:xfrm>
          <a:prstGeom prst="rect">
            <a:avLst/>
          </a:prstGeom>
          <a:noFill/>
          <a:ln>
            <a:noFill/>
          </a:ln>
        </p:spPr>
        <p:txBody>
          <a:bodyPr anchorCtr="0" anchor="b" bIns="44100" lIns="88200" spcFirstLastPara="1" rIns="88200" wrap="square" tIns="44100">
            <a:noAutofit/>
          </a:bodyPr>
          <a:lstStyle/>
          <a:p>
            <a:pPr indent="0" lvl="0" marL="0" marR="0" rtl="0" algn="r">
              <a:spcBef>
                <a:spcPts val="0"/>
              </a:spcBef>
              <a:spcAft>
                <a:spcPts val="0"/>
              </a:spcAft>
              <a:buNone/>
            </a:pPr>
            <a:fld id="{00000000-1234-1234-1234-123412341234}" type="slidenum">
              <a:rPr b="0" i="0" lang="ja-JP"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 name="Shape 20"/>
        <p:cNvGrpSpPr/>
        <p:nvPr/>
      </p:nvGrpSpPr>
      <p:grpSpPr>
        <a:xfrm>
          <a:off x="0" y="0"/>
          <a:ext cx="0" cy="0"/>
          <a:chOff x="0" y="0"/>
          <a:chExt cx="0" cy="0"/>
        </a:xfrm>
      </p:grpSpPr>
      <p:sp>
        <p:nvSpPr>
          <p:cNvPr id="21" name="Google Shape;21;p1:notes"/>
          <p:cNvSpPr/>
          <p:nvPr>
            <p:ph idx="2" type="sldImg"/>
          </p:nvPr>
        </p:nvSpPr>
        <p:spPr>
          <a:xfrm>
            <a:off x="3124200" y="509588"/>
            <a:ext cx="3681413" cy="2549525"/>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miter lim="8000"/>
            <a:headEnd len="sm" w="sm" type="none"/>
            <a:tailEnd len="sm" w="sm" type="none"/>
          </a:ln>
        </p:spPr>
      </p:sp>
      <p:sp>
        <p:nvSpPr>
          <p:cNvPr id="22" name="Google Shape;22;p1:notes"/>
          <p:cNvSpPr txBox="1"/>
          <p:nvPr>
            <p:ph idx="1" type="body"/>
          </p:nvPr>
        </p:nvSpPr>
        <p:spPr>
          <a:xfrm>
            <a:off x="680686" y="4716161"/>
            <a:ext cx="5439410" cy="4468185"/>
          </a:xfrm>
          <a:prstGeom prst="rect">
            <a:avLst/>
          </a:prstGeom>
          <a:noFill/>
          <a:ln>
            <a:noFill/>
          </a:ln>
        </p:spPr>
        <p:txBody>
          <a:bodyPr anchorCtr="0" anchor="t" bIns="44100" lIns="88200" spcFirstLastPara="1" rIns="88200" wrap="square" tIns="44100">
            <a:noAutofit/>
          </a:bodyPr>
          <a:lstStyle/>
          <a:p>
            <a:pPr indent="0" lvl="0" marL="0" rtl="0" algn="l">
              <a:spcBef>
                <a:spcPts val="0"/>
              </a:spcBef>
              <a:spcAft>
                <a:spcPts val="0"/>
              </a:spcAft>
              <a:buNone/>
            </a:pPr>
            <a:r>
              <a:t/>
            </a:r>
            <a:endParaRPr>
              <a:latin typeface="Calibri"/>
              <a:ea typeface="Calibri"/>
              <a:cs typeface="Calibri"/>
              <a:sym typeface="Calibri"/>
            </a:endParaRPr>
          </a:p>
        </p:txBody>
      </p:sp>
      <p:sp>
        <p:nvSpPr>
          <p:cNvPr id="23" name="Google Shape;23;p1:notes"/>
          <p:cNvSpPr txBox="1"/>
          <p:nvPr>
            <p:ph idx="11" type="ftr"/>
          </p:nvPr>
        </p:nvSpPr>
        <p:spPr>
          <a:xfrm>
            <a:off x="1" y="9432321"/>
            <a:ext cx="2946094" cy="495952"/>
          </a:xfrm>
          <a:prstGeom prst="rect">
            <a:avLst/>
          </a:prstGeom>
          <a:noFill/>
          <a:ln>
            <a:noFill/>
          </a:ln>
        </p:spPr>
        <p:txBody>
          <a:bodyPr anchorCtr="0" anchor="b" bIns="44100" lIns="88200" spcFirstLastPara="1" rIns="88200" wrap="square" tIns="44100">
            <a:noAutofit/>
          </a:bodyPr>
          <a:lstStyle/>
          <a:p>
            <a:pPr indent="0" lvl="0" marL="0" rtl="0" algn="l">
              <a:spcBef>
                <a:spcPts val="0"/>
              </a:spcBef>
              <a:spcAft>
                <a:spcPts val="0"/>
              </a:spcAft>
              <a:buNone/>
            </a:pPr>
            <a:r>
              <a:t/>
            </a:r>
            <a:endParaRPr/>
          </a:p>
        </p:txBody>
      </p:sp>
      <p:sp>
        <p:nvSpPr>
          <p:cNvPr id="24" name="Google Shape;24;p1:notes"/>
          <p:cNvSpPr txBox="1"/>
          <p:nvPr>
            <p:ph idx="12" type="sldNum"/>
          </p:nvPr>
        </p:nvSpPr>
        <p:spPr>
          <a:xfrm>
            <a:off x="3851650" y="9432321"/>
            <a:ext cx="2946093" cy="495952"/>
          </a:xfrm>
          <a:prstGeom prst="rect">
            <a:avLst/>
          </a:prstGeom>
          <a:noFill/>
          <a:ln>
            <a:noFill/>
          </a:ln>
        </p:spPr>
        <p:txBody>
          <a:bodyPr anchorCtr="0" anchor="b" bIns="44100" lIns="88200" spcFirstLastPara="1" rIns="88200" wrap="square" tIns="44100">
            <a:noAutofit/>
          </a:bodyPr>
          <a:lstStyle/>
          <a:p>
            <a:pPr indent="0" lvl="0" marL="0" rtl="0" algn="r">
              <a:spcBef>
                <a:spcPts val="0"/>
              </a:spcBef>
              <a:spcAft>
                <a:spcPts val="0"/>
              </a:spcAft>
              <a:buNone/>
            </a:pPr>
            <a:fld id="{00000000-1234-1234-1234-123412341234}" type="slidenum">
              <a:rPr b="0" i="0" lang="ja-JP" sz="1300" u="none" cap="none" strike="noStrike">
                <a:solidFill>
                  <a:schemeClr val="dk1"/>
                </a:solidFill>
                <a:latin typeface="Calibri"/>
                <a:ea typeface="Calibri"/>
                <a:cs typeface="Calibri"/>
                <a:sym typeface="Calibri"/>
              </a:rPr>
              <a:t>‹#›</a:t>
            </a:fld>
            <a:endParaRPr b="0" i="0" sz="1300" u="none" cap="none" strike="noStrike">
              <a:solidFill>
                <a:schemeClr val="dk1"/>
              </a:solidFill>
              <a:latin typeface="Calibri"/>
              <a:ea typeface="Calibri"/>
              <a:cs typeface="Calibri"/>
              <a:sym typeface="Calibri"/>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 name="Shape 30"/>
        <p:cNvGrpSpPr/>
        <p:nvPr/>
      </p:nvGrpSpPr>
      <p:grpSpPr>
        <a:xfrm>
          <a:off x="0" y="0"/>
          <a:ext cx="0" cy="0"/>
          <a:chOff x="0" y="0"/>
          <a:chExt cx="0" cy="0"/>
        </a:xfrm>
      </p:grpSpPr>
      <p:sp>
        <p:nvSpPr>
          <p:cNvPr id="31" name="Google Shape;31;p2:notes"/>
          <p:cNvSpPr txBox="1"/>
          <p:nvPr>
            <p:ph idx="1" type="body"/>
          </p:nvPr>
        </p:nvSpPr>
        <p:spPr>
          <a:xfrm>
            <a:off x="680720" y="4783307"/>
            <a:ext cx="5445760" cy="3913614"/>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200"/>
              <a:buFont typeface="Calibri"/>
              <a:buNone/>
            </a:pPr>
            <a:r>
              <a:t/>
            </a:r>
            <a:endParaRPr/>
          </a:p>
        </p:txBody>
      </p:sp>
      <p:sp>
        <p:nvSpPr>
          <p:cNvPr id="32" name="Google Shape;32;p2:notes"/>
          <p:cNvSpPr/>
          <p:nvPr>
            <p:ph idx="2" type="sldImg"/>
          </p:nvPr>
        </p:nvSpPr>
        <p:spPr>
          <a:xfrm>
            <a:off x="981075" y="1243013"/>
            <a:ext cx="4845050" cy="3354387"/>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 name="Shape 36"/>
        <p:cNvGrpSpPr/>
        <p:nvPr/>
      </p:nvGrpSpPr>
      <p:grpSpPr>
        <a:xfrm>
          <a:off x="0" y="0"/>
          <a:ext cx="0" cy="0"/>
          <a:chOff x="0" y="0"/>
          <a:chExt cx="0" cy="0"/>
        </a:xfrm>
      </p:grpSpPr>
      <p:sp>
        <p:nvSpPr>
          <p:cNvPr id="37" name="Google Shape;37;p3:notes"/>
          <p:cNvSpPr txBox="1"/>
          <p:nvPr>
            <p:ph idx="1" type="body"/>
          </p:nvPr>
        </p:nvSpPr>
        <p:spPr>
          <a:xfrm>
            <a:off x="680686" y="4716161"/>
            <a:ext cx="5439410" cy="4468185"/>
          </a:xfrm>
          <a:prstGeom prst="rect">
            <a:avLst/>
          </a:prstGeom>
        </p:spPr>
        <p:txBody>
          <a:bodyPr anchorCtr="0" anchor="t" bIns="44100" lIns="88200" spcFirstLastPara="1" rIns="88200" wrap="square" tIns="44100">
            <a:noAutofit/>
          </a:bodyPr>
          <a:lstStyle/>
          <a:p>
            <a:pPr indent="0" lvl="0" marL="0" rtl="0" algn="l">
              <a:spcBef>
                <a:spcPts val="0"/>
              </a:spcBef>
              <a:spcAft>
                <a:spcPts val="0"/>
              </a:spcAft>
              <a:buNone/>
            </a:pPr>
            <a:r>
              <a:t/>
            </a:r>
            <a:endParaRPr/>
          </a:p>
        </p:txBody>
      </p:sp>
      <p:sp>
        <p:nvSpPr>
          <p:cNvPr id="38" name="Google Shape;38;p3:notes"/>
          <p:cNvSpPr/>
          <p:nvPr>
            <p:ph idx="2" type="sldImg"/>
          </p:nvPr>
        </p:nvSpPr>
        <p:spPr>
          <a:xfrm>
            <a:off x="711200" y="744538"/>
            <a:ext cx="5376863" cy="3724275"/>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タイトル スライド">
  <p:cSld name="1_タイトル スライド">
    <p:spTree>
      <p:nvGrpSpPr>
        <p:cNvPr id="16" name="Shape 16"/>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タイトルとコンテンツ">
  <p:cSld name="4_タイトルとコンテンツ">
    <p:spTree>
      <p:nvGrpSpPr>
        <p:cNvPr id="17" name="Shape 17"/>
        <p:cNvGrpSpPr/>
        <p:nvPr/>
      </p:nvGrpSpPr>
      <p:grpSpPr>
        <a:xfrm>
          <a:off x="0" y="0"/>
          <a:ext cx="0" cy="0"/>
          <a:chOff x="0" y="0"/>
          <a:chExt cx="0" cy="0"/>
        </a:xfrm>
      </p:grpSpPr>
      <p:sp>
        <p:nvSpPr>
          <p:cNvPr id="18" name="Google Shape;18;p14"/>
          <p:cNvSpPr/>
          <p:nvPr/>
        </p:nvSpPr>
        <p:spPr>
          <a:xfrm>
            <a:off x="0" y="0"/>
            <a:ext cx="451204" cy="548680"/>
          </a:xfrm>
          <a:prstGeom prst="rect">
            <a:avLst/>
          </a:prstGeom>
          <a:solidFill>
            <a:srgbClr val="191F54"/>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chemeClr val="dk1"/>
              </a:buClr>
              <a:buSzPts val="1800"/>
              <a:buFont typeface="Calibri"/>
              <a:buNone/>
            </a:pPr>
            <a:r>
              <a:t/>
            </a:r>
            <a:endParaRPr b="0" i="0" sz="1800" u="none" cap="none" strike="noStrike">
              <a:solidFill>
                <a:srgbClr val="FFFFFF"/>
              </a:solidFill>
              <a:latin typeface="Arial"/>
              <a:ea typeface="Arial"/>
              <a:cs typeface="Arial"/>
              <a:sym typeface="Arial"/>
            </a:endParaRPr>
          </a:p>
        </p:txBody>
      </p:sp>
      <p:cxnSp>
        <p:nvCxnSpPr>
          <p:cNvPr id="19" name="Google Shape;19;p14"/>
          <p:cNvCxnSpPr/>
          <p:nvPr/>
        </p:nvCxnSpPr>
        <p:spPr>
          <a:xfrm>
            <a:off x="0" y="548680"/>
            <a:ext cx="9906000" cy="0"/>
          </a:xfrm>
          <a:prstGeom prst="straightConnector1">
            <a:avLst/>
          </a:prstGeom>
          <a:noFill/>
          <a:ln cap="flat" cmpd="sng" w="25400">
            <a:solidFill>
              <a:srgbClr val="191F54"/>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image" Target="../media/image2.png"/><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2"/>
          <p:cNvSpPr/>
          <p:nvPr/>
        </p:nvSpPr>
        <p:spPr>
          <a:xfrm>
            <a:off x="0" y="6552728"/>
            <a:ext cx="9906000" cy="332656"/>
          </a:xfrm>
          <a:prstGeom prst="rect">
            <a:avLst/>
          </a:prstGeom>
          <a:solidFill>
            <a:srgbClr val="191F5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11" name="Google Shape;11;p12"/>
          <p:cNvSpPr txBox="1"/>
          <p:nvPr/>
        </p:nvSpPr>
        <p:spPr>
          <a:xfrm>
            <a:off x="116569" y="6597932"/>
            <a:ext cx="3666301" cy="2154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ja-JP" sz="800" u="none" cap="none" strike="noStrike">
                <a:solidFill>
                  <a:schemeClr val="lt1"/>
                </a:solidFill>
                <a:latin typeface="Arial"/>
                <a:ea typeface="Arial"/>
                <a:cs typeface="Arial"/>
                <a:sym typeface="Arial"/>
              </a:rPr>
              <a:t>Copyright(c) 2025 DYM inc. All Rights Reserved.</a:t>
            </a:r>
            <a:endParaRPr/>
          </a:p>
        </p:txBody>
      </p:sp>
      <p:sp>
        <p:nvSpPr>
          <p:cNvPr id="12" name="Google Shape;12;p12"/>
          <p:cNvSpPr/>
          <p:nvPr/>
        </p:nvSpPr>
        <p:spPr>
          <a:xfrm>
            <a:off x="0" y="0"/>
            <a:ext cx="416496" cy="548680"/>
          </a:xfrm>
          <a:prstGeom prst="rect">
            <a:avLst/>
          </a:prstGeom>
          <a:solidFill>
            <a:srgbClr val="191F5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cxnSp>
        <p:nvCxnSpPr>
          <p:cNvPr id="13" name="Google Shape;13;p12"/>
          <p:cNvCxnSpPr/>
          <p:nvPr/>
        </p:nvCxnSpPr>
        <p:spPr>
          <a:xfrm>
            <a:off x="0" y="548680"/>
            <a:ext cx="9906000" cy="0"/>
          </a:xfrm>
          <a:prstGeom prst="straightConnector1">
            <a:avLst/>
          </a:prstGeom>
          <a:noFill/>
          <a:ln cap="flat" cmpd="sng" w="25400">
            <a:solidFill>
              <a:srgbClr val="00324B"/>
            </a:solidFill>
            <a:prstDash val="solid"/>
            <a:round/>
            <a:headEnd len="sm" w="sm" type="none"/>
            <a:tailEnd len="sm" w="sm" type="none"/>
          </a:ln>
        </p:spPr>
      </p:cxnSp>
      <p:pic>
        <p:nvPicPr>
          <p:cNvPr id="14" name="Google Shape;14;p12"/>
          <p:cNvPicPr preferRelativeResize="0"/>
          <p:nvPr/>
        </p:nvPicPr>
        <p:blipFill rotWithShape="1">
          <a:blip r:embed="rId1">
            <a:alphaModFix/>
          </a:blip>
          <a:srcRect b="0" l="-1647" r="-11171" t="0"/>
          <a:stretch/>
        </p:blipFill>
        <p:spPr>
          <a:xfrm>
            <a:off x="8619408" y="161057"/>
            <a:ext cx="1192729" cy="263314"/>
          </a:xfrm>
          <a:prstGeom prst="rect">
            <a:avLst/>
          </a:prstGeom>
          <a:noFill/>
          <a:ln>
            <a:noFill/>
          </a:ln>
        </p:spPr>
      </p:pic>
      <p:sp>
        <p:nvSpPr>
          <p:cNvPr id="15" name="Google Shape;15;p12"/>
          <p:cNvSpPr txBox="1"/>
          <p:nvPr/>
        </p:nvSpPr>
        <p:spPr>
          <a:xfrm>
            <a:off x="7545288" y="6571255"/>
            <a:ext cx="2133600" cy="216000"/>
          </a:xfrm>
          <a:prstGeom prst="rect">
            <a:avLst/>
          </a:prstGeom>
          <a:noFill/>
          <a:ln>
            <a:noFill/>
          </a:ln>
        </p:spPr>
        <p:txBody>
          <a:bodyPr anchorCtr="0" anchor="t" bIns="45700" lIns="91425" spcFirstLastPara="1" rIns="91425" wrap="square" tIns="25200">
            <a:noAutofit/>
          </a:bodyPr>
          <a:lstStyle/>
          <a:p>
            <a:pPr indent="0" lvl="0" marL="0" marR="0" rtl="0" algn="r">
              <a:spcBef>
                <a:spcPts val="0"/>
              </a:spcBef>
              <a:spcAft>
                <a:spcPts val="0"/>
              </a:spcAft>
              <a:buNone/>
            </a:pPr>
            <a:fld id="{00000000-1234-1234-1234-123412341234}" type="slidenum">
              <a:rPr b="0" i="1" lang="ja-JP" sz="1400" u="none" cap="none" strike="noStrike">
                <a:solidFill>
                  <a:schemeClr val="lt1"/>
                </a:solidFill>
                <a:latin typeface="Century Gothic"/>
                <a:ea typeface="Century Gothic"/>
                <a:cs typeface="Century Gothic"/>
                <a:sym typeface="Century Gothic"/>
              </a:rPr>
              <a:t>‹#›</a:t>
            </a:fld>
            <a:endParaRPr b="0" i="1" sz="1400" u="none" cap="none" strike="noStrike">
              <a:solidFill>
                <a:schemeClr val="lt1"/>
              </a:solidFill>
              <a:latin typeface="Century Gothic"/>
              <a:ea typeface="Century Gothic"/>
              <a:cs typeface="Century Gothic"/>
              <a:sym typeface="Century Gothic"/>
            </a:endParaRPr>
          </a:p>
        </p:txBody>
      </p:sp>
    </p:spTree>
  </p:cSld>
  <p:clrMap accent1="accent1" accent2="accent2" accent3="accent3" accent4="accent4" accent5="accent5" accent6="accent6" bg1="lt1" bg2="dk2" tx1="dk1" tx2="lt2" folHlink="folHlink" hlink="hlink"/>
  <p:sldLayoutIdLst>
    <p:sldLayoutId id="2147483649" r:id="rId2"/>
    <p:sldLayoutId id="2147483650" r:id="rId3"/>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3.png"/><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 name="Shape 25"/>
        <p:cNvGrpSpPr/>
        <p:nvPr/>
      </p:nvGrpSpPr>
      <p:grpSpPr>
        <a:xfrm>
          <a:off x="0" y="0"/>
          <a:ext cx="0" cy="0"/>
          <a:chOff x="0" y="0"/>
          <a:chExt cx="0" cy="0"/>
        </a:xfrm>
      </p:grpSpPr>
      <p:sp>
        <p:nvSpPr>
          <p:cNvPr id="26" name="Google Shape;26;p1"/>
          <p:cNvSpPr/>
          <p:nvPr/>
        </p:nvSpPr>
        <p:spPr>
          <a:xfrm>
            <a:off x="0" y="0"/>
            <a:ext cx="9906000" cy="836712"/>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a:latin typeface="メイリオ"/>
              </a:rPr>
              <a:t/>
            </a:r>
            <a:endParaRPr b="0" i="0" sz="1800" u="none" cap="none" strike="noStrike">
              <a:solidFill>
                <a:schemeClr val="lt1"/>
              </a:solidFill>
              <a:latin typeface="Calibri"/>
              <a:ea typeface="Calibri"/>
              <a:cs typeface="Calibri"/>
              <a:sym typeface="Calibri"/>
            </a:endParaRPr>
          </a:p>
        </p:txBody>
      </p:sp>
      <p:pic>
        <p:nvPicPr>
          <p:cNvPr id="27" name="Google Shape;27;p1"/>
          <p:cNvPicPr preferRelativeResize="0"/>
          <p:nvPr/>
        </p:nvPicPr>
        <p:blipFill rotWithShape="1">
          <a:blip r:embed="rId3">
            <a:alphaModFix/>
          </a:blip>
          <a:srcRect b="0" l="-1647" r="-11171" t="0"/>
          <a:stretch/>
        </p:blipFill>
        <p:spPr>
          <a:xfrm>
            <a:off x="8619408" y="188641"/>
            <a:ext cx="1192729" cy="243605"/>
          </a:xfrm>
          <a:prstGeom prst="rect">
            <a:avLst/>
          </a:prstGeom>
          <a:noFill/>
          <a:ln>
            <a:noFill/>
          </a:ln>
        </p:spPr>
      </p:pic>
      <p:sp>
        <p:nvSpPr>
          <p:cNvPr id="28" name="Google Shape;28;p1"/>
          <p:cNvSpPr/>
          <p:nvPr/>
        </p:nvSpPr>
        <p:spPr>
          <a:xfrm>
            <a:off x="1026684" y="3645024"/>
            <a:ext cx="7873109" cy="45719"/>
          </a:xfrm>
          <a:prstGeom prst="rect">
            <a:avLst/>
          </a:prstGeom>
          <a:solidFill>
            <a:srgbClr val="15133D"/>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a:latin typeface="メイリオ"/>
              </a:rPr>
              <a:t/>
            </a:r>
            <a:endParaRPr b="1" i="0" sz="1800" u="none" cap="none" strike="noStrike">
              <a:solidFill>
                <a:schemeClr val="lt1"/>
              </a:solidFill>
              <a:latin typeface="Arial"/>
              <a:ea typeface="Arial"/>
              <a:cs typeface="Arial"/>
              <a:sym typeface="Arial"/>
            </a:endParaRPr>
          </a:p>
        </p:txBody>
      </p:sp>
      <p:sp>
        <p:nvSpPr>
          <p:cNvPr id="29" name="Google Shape;29;p1"/>
          <p:cNvSpPr/>
          <p:nvPr/>
        </p:nvSpPr>
        <p:spPr>
          <a:xfrm>
            <a:off x="781200" y="3044550"/>
            <a:ext cx="8343600" cy="6462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ja-JP" sz="3600" u="none" cap="none" strike="noStrike">
                <a:solidFill>
                  <a:srgbClr val="0F243E"/>
                </a:solidFill>
                <a:latin typeface="メイリオ"/>
                <a:ea typeface="Arial"/>
                <a:cs typeface="Arial"/>
                <a:sym typeface="Arial"/>
              </a:rPr>
              <a:t>2026年9月　LINEOAトレンドレポート　</a:t>
            </a:r>
            <a:endParaRPr b="1" i="0" sz="2000" u="none" cap="none" strike="noStrike">
              <a:solidFill>
                <a:srgbClr val="0F243E"/>
              </a:solidFill>
              <a:latin typeface="Arial"/>
              <a:ea typeface="Arial"/>
              <a:cs typeface="Arial"/>
              <a:sym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 name="Shape 33"/>
        <p:cNvGrpSpPr/>
        <p:nvPr/>
      </p:nvGrpSpPr>
      <p:grpSpPr>
        <a:xfrm>
          <a:off x="0" y="0"/>
          <a:ext cx="0" cy="0"/>
          <a:chOff x="0" y="0"/>
          <a:chExt cx="0" cy="0"/>
        </a:xfrm>
      </p:grpSpPr>
      <p:sp>
        <p:nvSpPr>
          <p:cNvPr id="34" name="Google Shape;34;p2"/>
          <p:cNvSpPr txBox="1"/>
          <p:nvPr/>
        </p:nvSpPr>
        <p:spPr>
          <a:xfrm>
            <a:off x="318183" y="1483585"/>
            <a:ext cx="9298331" cy="4279033"/>
          </a:xfrm>
          <a:prstGeom prst="rect">
            <a:avLst/>
          </a:prstGeom>
          <a:noFill/>
          <a:ln>
            <a:noFill/>
          </a:ln>
        </p:spPr>
        <p:txBody>
          <a:bodyPr anchorCtr="0" anchor="t" bIns="90000" lIns="91425" spcFirstLastPara="1" rIns="91425" wrap="square" tIns="90000">
            <a:spAutoFit/>
          </a:bodyPr>
          <a:lstStyle/>
          <a:p>
            <a:pPr indent="0" lvl="0" marL="0" marR="0" rtl="0" algn="l">
              <a:lnSpc>
                <a:spcPct val="200000"/>
              </a:lnSpc>
              <a:spcBef>
                <a:spcPts val="0"/>
              </a:spcBef>
              <a:spcAft>
                <a:spcPts val="0"/>
              </a:spcAft>
              <a:buNone/>
            </a:pPr>
            <a:r>
              <a:rPr b="1" i="0" lang="ja-JP" sz="1500" u="none" cap="none" strike="noStrike">
                <a:solidFill>
                  <a:schemeClr val="dk1"/>
                </a:solidFill>
                <a:latin typeface="メイリオ"/>
                <a:ea typeface="Meiryo"/>
                <a:cs typeface="Meiryo"/>
                <a:sym typeface="Meiryo"/>
              </a:rPr>
              <a:t>P.3　　【LINEミニアプリ】お気に入り追加促進機能のご案内</a:t>
            </a:r>
            <a:endParaRPr/>
          </a:p>
          <a:p>
            <a:pPr indent="0" lvl="0" marL="0" marR="0" rtl="0" algn="l">
              <a:lnSpc>
                <a:spcPct val="200000"/>
              </a:lnSpc>
              <a:spcBef>
                <a:spcPts val="0"/>
              </a:spcBef>
              <a:spcAft>
                <a:spcPts val="0"/>
              </a:spcAft>
              <a:buNone/>
            </a:pPr>
            <a:r>
              <a:rPr b="1" i="0" lang="ja-JP" sz="1500" u="none" cap="none" strike="noStrike">
                <a:solidFill>
                  <a:schemeClr val="dk1"/>
                </a:solidFill>
                <a:latin typeface="メイリオ"/>
                <a:ea typeface="Meiryo"/>
                <a:cs typeface="Meiryo"/>
                <a:sym typeface="Meiryo"/>
              </a:rPr>
              <a:t>P.4　　【LINE公式アカウント】「分析」データ参照期間 過去36カ月への変更</a:t>
            </a:r>
            <a:endParaRPr/>
          </a:p>
          <a:p>
            <a:pPr indent="0" lvl="0" marL="0" marR="0" rtl="0" algn="l">
              <a:lnSpc>
                <a:spcPct val="200000"/>
              </a:lnSpc>
              <a:spcBef>
                <a:spcPts val="0"/>
              </a:spcBef>
              <a:spcAft>
                <a:spcPts val="0"/>
              </a:spcAft>
              <a:buNone/>
            </a:pPr>
            <a:r>
              <a:rPr b="1" i="0" lang="ja-JP" sz="1500" u="none" cap="none" strike="noStrike">
                <a:solidFill>
                  <a:schemeClr val="dk1"/>
                </a:solidFill>
                <a:latin typeface="メイリオ"/>
                <a:ea typeface="Meiryo"/>
                <a:cs typeface="Meiryo"/>
                <a:sym typeface="Meiryo"/>
              </a:rPr>
              <a:t>P.5-6　　【LINEプロモーションスタンプ】アップデート内容・インパクト</a:t>
            </a:r>
            <a:endParaRPr b="1" i="0" sz="1500" u="none" cap="none" strike="noStrike">
              <a:solidFill>
                <a:schemeClr val="dk1"/>
              </a:solidFill>
              <a:latin typeface="Meiryo"/>
              <a:ea typeface="Meiryo"/>
              <a:cs typeface="Meiryo"/>
              <a:sym typeface="Meiryo"/>
            </a:endParaRPr>
          </a:p>
          <a:p>
            <a:pPr indent="0" lvl="0" marL="0" marR="0" rtl="0" algn="l">
              <a:lnSpc>
                <a:spcPct val="200000"/>
              </a:lnSpc>
              <a:spcBef>
                <a:spcPts val="0"/>
              </a:spcBef>
              <a:spcAft>
                <a:spcPts val="0"/>
              </a:spcAft>
              <a:buNone/>
            </a:pPr>
            <a:r>
              <a:rPr b="1" i="0" lang="ja-JP" sz="1500" u="none" cap="none" strike="noStrike">
                <a:solidFill>
                  <a:schemeClr val="dk1"/>
                </a:solidFill>
                <a:latin typeface="メイリオ"/>
                <a:ea typeface="Meiryo"/>
                <a:cs typeface="Meiryo"/>
                <a:sym typeface="Meiryo"/>
              </a:rPr>
              <a:t>P.7　　【LINEミニアプリ】友だち追加オプションの複数アカウント対応</a:t>
            </a:r>
            <a:endParaRPr b="1" i="0" sz="1500" u="none" cap="none" strike="noStrike">
              <a:solidFill>
                <a:schemeClr val="dk1"/>
              </a:solidFill>
              <a:latin typeface="Meiryo"/>
              <a:ea typeface="Meiryo"/>
              <a:cs typeface="Meiryo"/>
              <a:sym typeface="Meiryo"/>
            </a:endParaRPr>
          </a:p>
          <a:p>
            <a:pPr indent="0" lvl="0" marL="0" marR="0" rtl="0" algn="l">
              <a:lnSpc>
                <a:spcPct val="200000"/>
              </a:lnSpc>
              <a:spcBef>
                <a:spcPts val="0"/>
              </a:spcBef>
              <a:spcAft>
                <a:spcPts val="0"/>
              </a:spcAft>
              <a:buNone/>
            </a:pPr>
            <a:r>
              <a:rPr b="1" i="0" lang="ja-JP" sz="1500" u="none" cap="none" strike="noStrike">
                <a:solidFill>
                  <a:schemeClr val="dk1"/>
                </a:solidFill>
                <a:latin typeface="メイリオ"/>
                <a:ea typeface="Meiryo"/>
                <a:cs typeface="Meiryo"/>
                <a:sym typeface="Meiryo"/>
              </a:rPr>
              <a:t>P.8-10　　【LINEオープンキャンペーン】特典内容・実施スケジュール・注意点・ご利用条件</a:t>
            </a:r>
            <a:endParaRPr b="1" i="0" sz="1500" u="none" cap="none" strike="noStrike">
              <a:solidFill>
                <a:schemeClr val="dk1"/>
              </a:solidFill>
              <a:latin typeface="Meiryo"/>
              <a:ea typeface="Meiryo"/>
              <a:cs typeface="Meiryo"/>
              <a:sym typeface="Meiryo"/>
            </a:endParaRPr>
          </a:p>
        </p:txBody>
      </p:sp>
      <p:sp>
        <p:nvSpPr>
          <p:cNvPr id="35" name="Google Shape;35;p2"/>
          <p:cNvSpPr txBox="1"/>
          <p:nvPr/>
        </p:nvSpPr>
        <p:spPr>
          <a:xfrm>
            <a:off x="292801" y="62027"/>
            <a:ext cx="7512385" cy="365091"/>
          </a:xfrm>
          <a:prstGeom prst="rect">
            <a:avLst/>
          </a:prstGeom>
          <a:noFill/>
          <a:ln>
            <a:noFill/>
          </a:ln>
        </p:spPr>
        <p:txBody>
          <a:bodyPr anchorCtr="0" anchor="t" bIns="45700" lIns="91425" spcFirstLastPara="1" rIns="91425" wrap="square" tIns="72000">
            <a:spAutoFit/>
          </a:bodyPr>
          <a:lstStyle/>
          <a:p>
            <a:pPr indent="0" lvl="0" marL="0" marR="0" rtl="0" algn="l">
              <a:lnSpc>
                <a:spcPct val="100000"/>
              </a:lnSpc>
              <a:spcBef>
                <a:spcPts val="0"/>
              </a:spcBef>
              <a:spcAft>
                <a:spcPts val="0"/>
              </a:spcAft>
              <a:buClr>
                <a:srgbClr val="000000"/>
              </a:buClr>
              <a:buSzPts val="1600"/>
              <a:buFont typeface="Arial"/>
              <a:buNone/>
            </a:pPr>
            <a:r>
              <a:rPr b="0" i="0" lang="ja-JP" sz="1600" u="none" cap="none" strike="noStrike">
                <a:solidFill>
                  <a:srgbClr val="000000"/>
                </a:solidFill>
                <a:latin typeface="メイリオ"/>
                <a:ea typeface="Meiryo"/>
                <a:cs typeface="Meiryo"/>
                <a:sym typeface="Meiryo"/>
              </a:rPr>
              <a:t>    目次</a:t>
            </a:r>
            <a:endParaRPr b="0" i="0" sz="1600" u="none" cap="none" strike="noStrike">
              <a:solidFill>
                <a:srgbClr val="000000"/>
              </a:solidFill>
              <a:latin typeface="Meiryo"/>
              <a:ea typeface="Meiryo"/>
              <a:cs typeface="Meiryo"/>
              <a:sym typeface="Meiryo"/>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 name="Shape 39"/>
        <p:cNvGrpSpPr/>
        <p:nvPr/>
      </p:nvGrpSpPr>
      <p:grpSpPr>
        <a:xfrm>
          <a:off x="0" y="0"/>
          <a:ext cx="0" cy="0"/>
          <a:chOff x="0" y="0"/>
          <a:chExt cx="0" cy="0"/>
        </a:xfrm>
      </p:grpSpPr>
      <p:sp>
        <p:nvSpPr>
          <p:cNvPr id="40" name="Google Shape;40;p3"/>
          <p:cNvSpPr/>
          <p:nvPr/>
        </p:nvSpPr>
        <p:spPr>
          <a:xfrm>
            <a:off x="292801" y="730955"/>
            <a:ext cx="1296144" cy="435690"/>
          </a:xfrm>
          <a:prstGeom prst="rect">
            <a:avLst/>
          </a:prstGeom>
          <a:solidFill>
            <a:schemeClr val="dk2"/>
          </a:solidFill>
          <a:ln cap="flat" cmpd="sng" w="9525">
            <a:solidFill>
              <a:srgbClr val="4A7DBA"/>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800" u="none" cap="none" strike="noStrike">
                <a:solidFill>
                  <a:schemeClr val="lt1"/>
                </a:solidFill>
                <a:latin typeface="メイリオ"/>
                <a:ea typeface="Meiryo"/>
                <a:cs typeface="Meiryo"/>
                <a:sym typeface="Meiryo"/>
              </a:rPr>
              <a:t>対象業界</a:t>
            </a:r>
            <a:endParaRPr/>
          </a:p>
        </p:txBody>
      </p:sp>
      <p:sp>
        <p:nvSpPr>
          <p:cNvPr id="41" name="Google Shape;41;p3"/>
          <p:cNvSpPr/>
          <p:nvPr/>
        </p:nvSpPr>
        <p:spPr>
          <a:xfrm>
            <a:off x="756084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200" u="none" cap="none" strike="noStrike">
                <a:solidFill>
                  <a:schemeClr val="dk1"/>
                </a:solidFill>
                <a:latin typeface="メイリオ"/>
                <a:ea typeface="Meiryo"/>
                <a:cs typeface="Meiryo"/>
                <a:sym typeface="Meiryo"/>
              </a:rPr>
              <a:t>その他</a:t>
            </a:r>
            <a:endParaRPr b="0" i="0" sz="1200" u="none" cap="none" strike="noStrike">
              <a:solidFill>
                <a:schemeClr val="dk1"/>
              </a:solidFill>
              <a:latin typeface="Meiryo"/>
              <a:ea typeface="Meiryo"/>
              <a:cs typeface="Meiryo"/>
              <a:sym typeface="Meiryo"/>
            </a:endParaRPr>
          </a:p>
        </p:txBody>
      </p:sp>
      <p:sp>
        <p:nvSpPr>
          <p:cNvPr id="42" name="Google Shape;42;p3"/>
          <p:cNvSpPr/>
          <p:nvPr/>
        </p:nvSpPr>
        <p:spPr>
          <a:xfrm>
            <a:off x="667905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000" u="none" cap="none" strike="noStrike">
                <a:solidFill>
                  <a:schemeClr val="dk1"/>
                </a:solidFill>
                <a:latin typeface="メイリオ"/>
                <a:ea typeface="Meiryo"/>
                <a:cs typeface="Meiryo"/>
                <a:sym typeface="Meiryo"/>
              </a:rPr>
              <a:t>オプション</a:t>
            </a:r>
            <a:endParaRPr b="0" i="0" sz="1000" u="none" cap="none" strike="noStrike">
              <a:solidFill>
                <a:schemeClr val="dk1"/>
              </a:solidFill>
              <a:latin typeface="Meiryo"/>
              <a:ea typeface="Meiryo"/>
              <a:cs typeface="Meiryo"/>
              <a:sym typeface="Meiryo"/>
            </a:endParaRPr>
          </a:p>
          <a:p>
            <a:pPr indent="0" lvl="0" marL="0" marR="0" rtl="0" algn="ctr">
              <a:spcBef>
                <a:spcPts val="0"/>
              </a:spcBef>
              <a:spcAft>
                <a:spcPts val="0"/>
              </a:spcAft>
              <a:buNone/>
            </a:pPr>
            <a:r>
              <a:rPr b="0" i="0" lang="ja-JP" sz="1000" u="none" cap="none" strike="noStrike">
                <a:solidFill>
                  <a:schemeClr val="dk1"/>
                </a:solidFill>
                <a:latin typeface="メイリオ"/>
                <a:ea typeface="Meiryo"/>
                <a:cs typeface="Meiryo"/>
                <a:sym typeface="Meiryo"/>
              </a:rPr>
              <a:t>商材</a:t>
            </a:r>
            <a:endParaRPr/>
          </a:p>
        </p:txBody>
      </p:sp>
      <p:sp>
        <p:nvSpPr>
          <p:cNvPr id="43" name="Google Shape;43;p3"/>
          <p:cNvSpPr/>
          <p:nvPr/>
        </p:nvSpPr>
        <p:spPr>
          <a:xfrm>
            <a:off x="1594068" y="730955"/>
            <a:ext cx="2926883" cy="435690"/>
          </a:xfrm>
          <a:prstGeom prst="rect">
            <a:avLst/>
          </a:prstGeom>
          <a:noFill/>
          <a:ln cap="flat" cmpd="sng" w="9525">
            <a:solidFill>
              <a:srgbClr val="4A7DBA"/>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300" u="none" cap="none" strike="noStrike">
                <a:solidFill>
                  <a:schemeClr val="dk1"/>
                </a:solidFill>
                <a:latin typeface="メイリオ"/>
                <a:ea typeface="Meiryo"/>
                <a:cs typeface="Meiryo"/>
                <a:sym typeface="Meiryo"/>
              </a:rPr>
              <a:t>友だち獲得を強化したい全業種</a:t>
            </a:r>
            <a:endParaRPr/>
          </a:p>
        </p:txBody>
      </p:sp>
      <p:sp>
        <p:nvSpPr>
          <p:cNvPr id="44" name="Google Shape;44;p3"/>
          <p:cNvSpPr txBox="1"/>
          <p:nvPr/>
        </p:nvSpPr>
        <p:spPr>
          <a:xfrm>
            <a:off x="3296816" y="6597352"/>
            <a:ext cx="6209091" cy="2154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ja-JP" sz="800" u="none" cap="none" strike="noStrike">
                <a:solidFill>
                  <a:schemeClr val="lt1"/>
                </a:solidFill>
                <a:latin typeface="メイリオ"/>
                <a:ea typeface="Meiryo"/>
                <a:cs typeface="Meiryo"/>
                <a:sym typeface="Meiryo"/>
              </a:rPr>
              <a:t>出典：https://workers-hub.box.com/s/9uo4m0fiqyxmddz5br3xe9691w0q4ht7</a:t>
            </a:r>
            <a:endParaRPr sz="800">
              <a:solidFill>
                <a:schemeClr val="lt1"/>
              </a:solidFill>
              <a:latin typeface="Meiryo"/>
              <a:ea typeface="Meiryo"/>
              <a:cs typeface="Meiryo"/>
              <a:sym typeface="Meiryo"/>
            </a:endParaRPr>
          </a:p>
        </p:txBody>
      </p:sp>
      <p:sp>
        <p:nvSpPr>
          <p:cNvPr id="45" name="Google Shape;45;p3"/>
          <p:cNvSpPr/>
          <p:nvPr/>
        </p:nvSpPr>
        <p:spPr>
          <a:xfrm>
            <a:off x="0" y="1234746"/>
            <a:ext cx="9906000" cy="672259"/>
          </a:xfrm>
          <a:prstGeom prst="rect">
            <a:avLst/>
          </a:prstGeom>
          <a:solidFill>
            <a:srgbClr val="C5D8F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b="1" lang="ja-JP" sz="1600">
                <a:solidFill>
                  <a:srgbClr val="004DE6"/>
                </a:solidFill>
                <a:latin typeface="メイリオ"/>
                <a:ea typeface="Meiryo"/>
                <a:cs typeface="Meiryo"/>
                <a:sym typeface="Meiryo"/>
              </a:rPr>
              <a:t>　　　　　　</a:t>
            </a:r>
            <a:endParaRPr b="1" sz="1800">
              <a:solidFill>
                <a:srgbClr val="004DE6"/>
              </a:solidFill>
              <a:latin typeface="Meiryo"/>
              <a:ea typeface="Meiryo"/>
              <a:cs typeface="Meiryo"/>
              <a:sym typeface="Meiryo"/>
            </a:endParaRPr>
          </a:p>
        </p:txBody>
      </p:sp>
      <p:sp>
        <p:nvSpPr>
          <p:cNvPr id="46" name="Google Shape;46;p3"/>
          <p:cNvSpPr/>
          <p:nvPr/>
        </p:nvSpPr>
        <p:spPr>
          <a:xfrm>
            <a:off x="1089832" y="1437370"/>
            <a:ext cx="7031520" cy="33855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ja-JP" sz="1600">
                <a:solidFill>
                  <a:srgbClr val="004DE6"/>
                </a:solidFill>
                <a:latin typeface="メイリオ"/>
                <a:ea typeface="Meiryo"/>
                <a:cs typeface="Meiryo"/>
                <a:sym typeface="Meiryo"/>
              </a:rPr>
              <a:t>【LINEミニアプリ】お気に入り追加促進機能のご案内</a:t>
            </a:r>
            <a:endParaRPr b="1" sz="1600">
              <a:solidFill>
                <a:srgbClr val="004DE6"/>
              </a:solidFill>
              <a:latin typeface="Meiryo"/>
              <a:ea typeface="Meiryo"/>
              <a:cs typeface="Meiryo"/>
              <a:sym typeface="Meiryo"/>
            </a:endParaRPr>
          </a:p>
        </p:txBody>
      </p:sp>
      <p:sp>
        <p:nvSpPr>
          <p:cNvPr id="47" name="Google Shape;47;p3"/>
          <p:cNvSpPr txBox="1"/>
          <p:nvPr/>
        </p:nvSpPr>
        <p:spPr>
          <a:xfrm>
            <a:off x="182880" y="88175"/>
            <a:ext cx="7512385" cy="365091"/>
          </a:xfrm>
          <a:prstGeom prst="rect">
            <a:avLst/>
          </a:prstGeom>
          <a:noFill/>
          <a:ln>
            <a:noFill/>
          </a:ln>
        </p:spPr>
        <p:txBody>
          <a:bodyPr anchorCtr="0" anchor="t" bIns="45700" lIns="91425" spcFirstLastPara="1" rIns="91425" wrap="square" tIns="72000">
            <a:spAutoFit/>
          </a:bodyPr>
          <a:lstStyle/>
          <a:p>
            <a:pPr indent="0" lvl="0" marL="0" marR="0" rtl="0" algn="l">
              <a:spcBef>
                <a:spcPts val="0"/>
              </a:spcBef>
              <a:spcAft>
                <a:spcPts val="0"/>
              </a:spcAft>
              <a:buClr>
                <a:schemeClr val="dk1"/>
              </a:buClr>
              <a:buSzPts val="1600"/>
              <a:buFont typeface="Arial"/>
              <a:buNone/>
            </a:pPr>
            <a:r>
              <a:rPr b="0" lang="ja-JP" sz="1600" u="none">
                <a:solidFill>
                  <a:schemeClr val="dk1"/>
                </a:solidFill>
                <a:latin typeface="メイリオ"/>
                <a:ea typeface="Meiryo"/>
                <a:cs typeface="Meiryo"/>
                <a:sym typeface="Meiryo"/>
              </a:rPr>
              <a:t>    今後のアップデート情報</a:t>
            </a:r>
            <a:endParaRPr b="0" sz="1600" u="none">
              <a:solidFill>
                <a:schemeClr val="dk1"/>
              </a:solidFill>
              <a:latin typeface="Meiryo"/>
              <a:ea typeface="Meiryo"/>
              <a:cs typeface="Meiryo"/>
              <a:sym typeface="Meiryo"/>
            </a:endParaRPr>
          </a:p>
        </p:txBody>
      </p:sp>
      <p:sp>
        <p:nvSpPr>
          <p:cNvPr id="48" name="Google Shape;48;p3"/>
          <p:cNvSpPr/>
          <p:nvPr/>
        </p:nvSpPr>
        <p:spPr>
          <a:xfrm>
            <a:off x="579726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Clr>
                <a:schemeClr val="dk1"/>
              </a:buClr>
              <a:buSzPts val="1000"/>
              <a:buFont typeface="Meiryo"/>
              <a:buNone/>
            </a:pPr>
            <a:r>
              <a:rPr lang="ja-JP" sz="1000">
                <a:solidFill>
                  <a:schemeClr val="dk1"/>
                </a:solidFill>
                <a:latin typeface="メイリオ"/>
                <a:ea typeface="Meiryo"/>
                <a:cs typeface="Meiryo"/>
                <a:sym typeface="Meiryo"/>
              </a:rPr>
              <a:t>開発</a:t>
            </a:r>
            <a:endParaRPr sz="1000">
              <a:solidFill>
                <a:schemeClr val="dk1"/>
              </a:solidFill>
              <a:latin typeface="Meiryo"/>
              <a:ea typeface="Meiryo"/>
              <a:cs typeface="Meiryo"/>
              <a:sym typeface="Meiryo"/>
            </a:endParaRPr>
          </a:p>
          <a:p>
            <a:pPr indent="0" lvl="0" marL="0" marR="0" rtl="0" algn="ctr">
              <a:spcBef>
                <a:spcPts val="0"/>
              </a:spcBef>
              <a:spcAft>
                <a:spcPts val="0"/>
              </a:spcAft>
              <a:buClr>
                <a:schemeClr val="dk1"/>
              </a:buClr>
              <a:buSzPts val="1000"/>
              <a:buFont typeface="Meiryo"/>
              <a:buNone/>
            </a:pPr>
            <a:r>
              <a:rPr lang="ja-JP" sz="1000">
                <a:solidFill>
                  <a:schemeClr val="dk1"/>
                </a:solidFill>
                <a:latin typeface="メイリオ"/>
                <a:ea typeface="Meiryo"/>
                <a:cs typeface="Meiryo"/>
                <a:sym typeface="Meiryo"/>
              </a:rPr>
              <a:t>LINE API</a:t>
            </a:r>
            <a:endParaRPr sz="1000">
              <a:solidFill>
                <a:schemeClr val="dk1"/>
              </a:solidFill>
              <a:latin typeface="Meiryo"/>
              <a:ea typeface="Meiryo"/>
              <a:cs typeface="Meiryo"/>
              <a:sym typeface="Meiryo"/>
            </a:endParaRPr>
          </a:p>
        </p:txBody>
      </p:sp>
      <p:sp>
        <p:nvSpPr>
          <p:cNvPr id="49" name="Google Shape;49;p3"/>
          <p:cNvSpPr/>
          <p:nvPr/>
        </p:nvSpPr>
        <p:spPr>
          <a:xfrm>
            <a:off x="4915470" y="730955"/>
            <a:ext cx="829618" cy="435690"/>
          </a:xfrm>
          <a:prstGeom prst="rect">
            <a:avLst/>
          </a:prstGeom>
          <a:solidFill>
            <a:schemeClr val="tx2"/>
          </a:solidFill>
          <a:ln cap="flat" cmpd="sng" w="9525">
            <a:solidFill>
              <a:srgbClr val="4F81BD"/>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lang="ja-JP" sz="1000">
                <a:solidFill>
                  <a:schemeClr val="dk1"/>
                </a:solidFill>
                <a:latin typeface="メイリオ"/>
                <a:ea typeface="Meiryo"/>
                <a:cs typeface="Meiryo"/>
                <a:sym typeface="Meiryo"/>
              </a:rPr>
              <a:t>LINE公式アカウント</a:t>
            </a:r>
            <a:endParaRPr sz="1000">
              <a:solidFill>
                <a:schemeClr val="dk1"/>
              </a:solidFill>
              <a:latin typeface="Meiryo"/>
              <a:ea typeface="Meiryo"/>
              <a:cs typeface="Meiryo"/>
              <a:sym typeface="Meiryo"/>
            </a:endParaRPr>
          </a:p>
        </p:txBody>
      </p:sp>
      <p:sp>
        <p:nvSpPr>
          <p:cNvPr id="50" name="Google Shape;50;p3"/>
          <p:cNvSpPr/>
          <p:nvPr/>
        </p:nvSpPr>
        <p:spPr>
          <a:xfrm>
            <a:off x="0" y="1890267"/>
            <a:ext cx="9906000" cy="733579"/>
          </a:xfrm>
          <a:prstGeom prst="rect">
            <a:avLst/>
          </a:prstGeom>
          <a:solidFill>
            <a:srgbClr val="F2F2F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a:latin typeface="メイリオ"/>
              </a:rPr>
              <a:t/>
            </a:r>
            <a:endParaRPr sz="1200">
              <a:solidFill>
                <a:schemeClr val="dk1"/>
              </a:solidFill>
              <a:latin typeface="Meiryo"/>
              <a:ea typeface="Meiryo"/>
              <a:cs typeface="Meiryo"/>
              <a:sym typeface="Meiryo"/>
            </a:endParaRPr>
          </a:p>
        </p:txBody>
      </p:sp>
      <p:sp>
        <p:nvSpPr>
          <p:cNvPr id="51" name="Google Shape;51;p3"/>
          <p:cNvSpPr/>
          <p:nvPr/>
        </p:nvSpPr>
        <p:spPr>
          <a:xfrm>
            <a:off x="544108" y="1961282"/>
            <a:ext cx="8817783" cy="646331"/>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lang="ja-JP" sz="1200">
                <a:solidFill>
                  <a:schemeClr val="dk1"/>
                </a:solidFill>
                <a:latin typeface="メイリオ"/>
                <a:ea typeface="Meiryo"/>
                <a:cs typeface="Meiryo"/>
                <a:sym typeface="Meiryo"/>
              </a:rPr>
              <a:t>マイミニアプリの「履歴」からアクセス、または7日以内に2日以上アクセスしたユーザーに対し、</a:t>
            </a:r>
            <a:endParaRPr b="1" sz="1200">
              <a:solidFill>
                <a:schemeClr val="dk1"/>
              </a:solidFill>
              <a:latin typeface="Meiryo"/>
              <a:ea typeface="Meiryo"/>
              <a:cs typeface="Meiryo"/>
              <a:sym typeface="Meiryo"/>
            </a:endParaRPr>
          </a:p>
          <a:p>
            <a:pPr indent="0" lvl="0" marL="0" marR="0" rtl="0" algn="ctr">
              <a:spcBef>
                <a:spcPts val="0"/>
              </a:spcBef>
              <a:spcAft>
                <a:spcPts val="0"/>
              </a:spcAft>
              <a:buNone/>
            </a:pPr>
            <a:r>
              <a:rPr b="1" lang="ja-JP" sz="1200">
                <a:solidFill>
                  <a:schemeClr val="dk1"/>
                </a:solidFill>
                <a:latin typeface="メイリオ"/>
                <a:ea typeface="Meiryo"/>
                <a:cs typeface="Meiryo"/>
                <a:sym typeface="Meiryo"/>
              </a:rPr>
              <a:t>ミニアプリを閉じたタイミングでお気に入り追加を促すポップアップが表示される。</a:t>
            </a:r>
            <a:endParaRPr/>
          </a:p>
          <a:p>
            <a:pPr indent="0" lvl="0" marL="0" marR="0" rtl="0" algn="ctr">
              <a:spcBef>
                <a:spcPts val="0"/>
              </a:spcBef>
              <a:spcAft>
                <a:spcPts val="0"/>
              </a:spcAft>
              <a:buNone/>
            </a:pPr>
            <a:r>
              <a:rPr b="1" lang="ja-JP" sz="1200">
                <a:solidFill>
                  <a:schemeClr val="dk1"/>
                </a:solidFill>
                <a:latin typeface="メイリオ"/>
                <a:ea typeface="Meiryo"/>
                <a:cs typeface="Meiryo"/>
                <a:sym typeface="Meiryo"/>
              </a:rPr>
              <a:t>リリース予定日は2026年8月31日（アプリのバージョンアップデートに伴い変更の可能性あり）。</a:t>
            </a:r>
            <a:endParaRPr b="1" sz="1400">
              <a:solidFill>
                <a:schemeClr val="dk1"/>
              </a:solidFill>
              <a:latin typeface="Meiryo"/>
              <a:ea typeface="Meiryo"/>
              <a:cs typeface="Meiryo"/>
              <a:sym typeface="Meiryo"/>
            </a:endParaRPr>
          </a:p>
        </p:txBody>
      </p:sp>
      <p:sp>
        <p:nvSpPr>
          <p:cNvPr id="52" name="Google Shape;52;p3"/>
          <p:cNvSpPr/>
          <p:nvPr/>
        </p:nvSpPr>
        <p:spPr>
          <a:xfrm>
            <a:off x="351381" y="2714173"/>
            <a:ext cx="5200000" cy="33855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ja-JP" sz="1400">
                <a:solidFill>
                  <a:srgbClr val="15133D"/>
                </a:solidFill>
                <a:latin typeface="メイリオ"/>
                <a:ea typeface="Meiryo"/>
                <a:cs typeface="Meiryo"/>
                <a:sym typeface="Meiryo"/>
              </a:rPr>
              <a:t>■ 詳細</a:t>
            </a:r>
            <a:endParaRPr/>
          </a:p>
        </p:txBody>
      </p:sp>
      <p:grpSp>
        <p:nvGrpSpPr>
          <p:cNvPr id="53" name="Google Shape;53;p3"/>
          <p:cNvGrpSpPr/>
          <p:nvPr/>
        </p:nvGrpSpPr>
        <p:grpSpPr>
          <a:xfrm>
            <a:off x="8473303" y="730955"/>
            <a:ext cx="1376241" cy="1131930"/>
            <a:chOff x="0" y="0"/>
            <a:chExt cx="1376241" cy="1131930"/>
          </a:xfrm>
        </p:grpSpPr>
        <p:sp>
          <p:nvSpPr>
            <p:cNvPr id="54" name="Google Shape;54;p3"/>
            <p:cNvSpPr/>
            <p:nvPr/>
          </p:nvSpPr>
          <p:spPr>
            <a:xfrm rot="10800000">
              <a:off x="0" y="0"/>
              <a:ext cx="1376241" cy="282982"/>
            </a:xfrm>
            <a:prstGeom prst="trapezoid">
              <a:avLst>
                <a:gd fmla="val 60792" name="adj"/>
              </a:avLst>
            </a:prstGeom>
            <a:solidFill>
              <a:srgbClr val="EAEDF5"/>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 name="Google Shape;55;p3"/>
            <p:cNvSpPr txBox="1"/>
            <p:nvPr/>
          </p:nvSpPr>
          <p:spPr>
            <a:xfrm>
              <a:off x="240842" y="0"/>
              <a:ext cx="894556"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認知</a:t>
              </a:r>
              <a:endParaRPr/>
            </a:p>
          </p:txBody>
        </p:sp>
        <p:sp>
          <p:nvSpPr>
            <p:cNvPr id="56" name="Google Shape;56;p3"/>
            <p:cNvSpPr/>
            <p:nvPr/>
          </p:nvSpPr>
          <p:spPr>
            <a:xfrm rot="10800000">
              <a:off x="172030" y="282982"/>
              <a:ext cx="1032180" cy="282982"/>
            </a:xfrm>
            <a:prstGeom prst="trapezoid">
              <a:avLst>
                <a:gd fmla="val 60792" name="adj"/>
              </a:avLst>
            </a:prstGeom>
            <a:solidFill>
              <a:schemeClr val="lt1"/>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 name="Google Shape;57;p3"/>
            <p:cNvSpPr txBox="1"/>
            <p:nvPr/>
          </p:nvSpPr>
          <p:spPr>
            <a:xfrm>
              <a:off x="352661" y="282982"/>
              <a:ext cx="670917"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検討</a:t>
              </a:r>
              <a:endParaRPr/>
            </a:p>
          </p:txBody>
        </p:sp>
        <p:sp>
          <p:nvSpPr>
            <p:cNvPr id="58" name="Google Shape;58;p3"/>
            <p:cNvSpPr/>
            <p:nvPr/>
          </p:nvSpPr>
          <p:spPr>
            <a:xfrm rot="10800000">
              <a:off x="344060" y="565965"/>
              <a:ext cx="688120" cy="282982"/>
            </a:xfrm>
            <a:prstGeom prst="trapezoid">
              <a:avLst>
                <a:gd fmla="val 60792" name="adj"/>
              </a:avLst>
            </a:prstGeom>
            <a:solidFill>
              <a:schemeClr val="lt1"/>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 name="Google Shape;59;p3"/>
            <p:cNvSpPr txBox="1"/>
            <p:nvPr/>
          </p:nvSpPr>
          <p:spPr>
            <a:xfrm>
              <a:off x="464481" y="565965"/>
              <a:ext cx="447278"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獲得</a:t>
              </a:r>
              <a:endParaRPr/>
            </a:p>
          </p:txBody>
        </p:sp>
        <p:sp>
          <p:nvSpPr>
            <p:cNvPr id="60" name="Google Shape;60;p3"/>
            <p:cNvSpPr/>
            <p:nvPr/>
          </p:nvSpPr>
          <p:spPr>
            <a:xfrm rot="10800000">
              <a:off x="516090" y="848948"/>
              <a:ext cx="344060" cy="282982"/>
            </a:xfrm>
            <a:prstGeom prst="trapezoid">
              <a:avLst>
                <a:gd fmla="val 60792" name="adj"/>
              </a:avLst>
            </a:prstGeom>
            <a:no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 name="Google Shape;61;p3"/>
            <p:cNvSpPr txBox="1"/>
            <p:nvPr/>
          </p:nvSpPr>
          <p:spPr>
            <a:xfrm>
              <a:off x="516090" y="848948"/>
              <a:ext cx="344060"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伸長</a:t>
              </a:r>
              <a:endParaRPr/>
            </a:p>
          </p:txBody>
        </p:sp>
      </p:grpSp>
      <p:pic>
        <p:nvPicPr>
          <p:cNvPr descr="LINE公式アカウントのロゴの使用方法とは？種類やダウンロード方法、利用時の注意点を紹介 | Mico（ミコ）" id="62" name="Google Shape;62;p3"/>
          <p:cNvPicPr preferRelativeResize="0"/>
          <p:nvPr/>
        </p:nvPicPr>
        <p:blipFill rotWithShape="1">
          <a:blip r:embed="rId3">
            <a:alphaModFix/>
          </a:blip>
          <a:srcRect b="0" l="0" r="0" t="0"/>
          <a:stretch/>
        </p:blipFill>
        <p:spPr>
          <a:xfrm>
            <a:off x="351381" y="1234746"/>
            <a:ext cx="656177" cy="655521"/>
          </a:xfrm>
          <a:prstGeom prst="rect">
            <a:avLst/>
          </a:prstGeom>
          <a:noFill/>
          <a:ln>
            <a:noFill/>
          </a:ln>
        </p:spPr>
      </p:pic>
      <p:pic>
        <p:nvPicPr>
          <p:cNvPr id="63" name="Picture 62" descr="topic1.png"/>
          <p:cNvPicPr>
            <a:picLocks noChangeAspect="1"/>
          </p:cNvPicPr>
          <p:nvPr/>
        </p:nvPicPr>
        <p:blipFill>
          <a:blip r:embed="rId4"/>
          <a:stretch>
            <a:fillRect/>
          </a:stretch>
        </p:blipFill>
        <p:spPr>
          <a:xfrm>
            <a:off x="2161168" y="3068960"/>
            <a:ext cx="6092760" cy="3429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0" name="Google Shape;40;p3"/>
          <p:cNvSpPr/>
          <p:nvPr/>
        </p:nvSpPr>
        <p:spPr>
          <a:xfrm>
            <a:off x="292801" y="730955"/>
            <a:ext cx="1296144" cy="435690"/>
          </a:xfrm>
          <a:prstGeom prst="rect">
            <a:avLst/>
          </a:prstGeom>
          <a:solidFill>
            <a:schemeClr val="dk2"/>
          </a:solidFill>
          <a:ln cap="flat" cmpd="sng" w="9525">
            <a:solidFill>
              <a:srgbClr val="4A7DBA"/>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800" u="none" cap="none" strike="noStrike">
                <a:solidFill>
                  <a:schemeClr val="lt1"/>
                </a:solidFill>
                <a:latin typeface="メイリオ"/>
                <a:ea typeface="Meiryo"/>
                <a:cs typeface="Meiryo"/>
                <a:sym typeface="Meiryo"/>
              </a:rPr>
              <a:t>対象業界</a:t>
            </a:r>
            <a:endParaRPr/>
          </a:p>
        </p:txBody>
      </p:sp>
      <p:sp>
        <p:nvSpPr>
          <p:cNvPr id="41" name="Google Shape;41;p3"/>
          <p:cNvSpPr/>
          <p:nvPr/>
        </p:nvSpPr>
        <p:spPr>
          <a:xfrm>
            <a:off x="756084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200" u="none" cap="none" strike="noStrike">
                <a:solidFill>
                  <a:schemeClr val="dk1"/>
                </a:solidFill>
                <a:latin typeface="メイリオ"/>
                <a:ea typeface="Meiryo"/>
                <a:cs typeface="Meiryo"/>
                <a:sym typeface="Meiryo"/>
              </a:rPr>
              <a:t>その他</a:t>
            </a:r>
            <a:endParaRPr b="0" i="0" sz="1200" u="none" cap="none" strike="noStrike">
              <a:solidFill>
                <a:schemeClr val="dk1"/>
              </a:solidFill>
              <a:latin typeface="Meiryo"/>
              <a:ea typeface="Meiryo"/>
              <a:cs typeface="Meiryo"/>
              <a:sym typeface="Meiryo"/>
            </a:endParaRPr>
          </a:p>
        </p:txBody>
      </p:sp>
      <p:sp>
        <p:nvSpPr>
          <p:cNvPr id="42" name="Google Shape;42;p3"/>
          <p:cNvSpPr/>
          <p:nvPr/>
        </p:nvSpPr>
        <p:spPr>
          <a:xfrm>
            <a:off x="667905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000" u="none" cap="none" strike="noStrike">
                <a:solidFill>
                  <a:schemeClr val="dk1"/>
                </a:solidFill>
                <a:latin typeface="メイリオ"/>
                <a:ea typeface="Meiryo"/>
                <a:cs typeface="Meiryo"/>
                <a:sym typeface="Meiryo"/>
              </a:rPr>
              <a:t>オプション</a:t>
            </a:r>
            <a:endParaRPr b="0" i="0" sz="1000" u="none" cap="none" strike="noStrike">
              <a:solidFill>
                <a:schemeClr val="dk1"/>
              </a:solidFill>
              <a:latin typeface="Meiryo"/>
              <a:ea typeface="Meiryo"/>
              <a:cs typeface="Meiryo"/>
              <a:sym typeface="Meiryo"/>
            </a:endParaRPr>
          </a:p>
          <a:p>
            <a:pPr indent="0" lvl="0" marL="0" marR="0" rtl="0" algn="ctr">
              <a:spcBef>
                <a:spcPts val="0"/>
              </a:spcBef>
              <a:spcAft>
                <a:spcPts val="0"/>
              </a:spcAft>
              <a:buNone/>
            </a:pPr>
            <a:r>
              <a:rPr b="0" i="0" lang="ja-JP" sz="1000" u="none" cap="none" strike="noStrike">
                <a:solidFill>
                  <a:schemeClr val="dk1"/>
                </a:solidFill>
                <a:latin typeface="メイリオ"/>
                <a:ea typeface="Meiryo"/>
                <a:cs typeface="Meiryo"/>
                <a:sym typeface="Meiryo"/>
              </a:rPr>
              <a:t>商材</a:t>
            </a:r>
            <a:endParaRPr/>
          </a:p>
        </p:txBody>
      </p:sp>
      <p:sp>
        <p:nvSpPr>
          <p:cNvPr id="43" name="Google Shape;43;p3"/>
          <p:cNvSpPr/>
          <p:nvPr/>
        </p:nvSpPr>
        <p:spPr>
          <a:xfrm>
            <a:off x="1594068" y="730955"/>
            <a:ext cx="2926883" cy="435690"/>
          </a:xfrm>
          <a:prstGeom prst="rect">
            <a:avLst/>
          </a:prstGeom>
          <a:noFill/>
          <a:ln cap="flat" cmpd="sng" w="9525">
            <a:solidFill>
              <a:srgbClr val="4A7DBA"/>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300" u="none" cap="none" strike="noStrike">
                <a:solidFill>
                  <a:schemeClr val="dk1"/>
                </a:solidFill>
                <a:latin typeface="メイリオ"/>
                <a:ea typeface="Meiryo"/>
                <a:cs typeface="Meiryo"/>
                <a:sym typeface="Meiryo"/>
              </a:rPr>
              <a:t>全業種</a:t>
            </a:r>
            <a:endParaRPr/>
          </a:p>
        </p:txBody>
      </p:sp>
      <p:sp>
        <p:nvSpPr>
          <p:cNvPr id="44" name="Google Shape;44;p3"/>
          <p:cNvSpPr txBox="1"/>
          <p:nvPr/>
        </p:nvSpPr>
        <p:spPr>
          <a:xfrm>
            <a:off x="3296816" y="6597352"/>
            <a:ext cx="6209091" cy="2154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ja-JP" sz="800" u="none" cap="none" strike="noStrike">
                <a:solidFill>
                  <a:schemeClr val="lt1"/>
                </a:solidFill>
                <a:latin typeface="メイリオ"/>
                <a:ea typeface="Meiryo"/>
                <a:cs typeface="Meiryo"/>
                <a:sym typeface="Meiryo"/>
              </a:rPr>
              <a:t>出典：https://workers-hub.box.com/s/ms8iztyci2dn5z2qna88rklxwxp7o5ja</a:t>
            </a:r>
            <a:endParaRPr sz="800">
              <a:solidFill>
                <a:schemeClr val="lt1"/>
              </a:solidFill>
              <a:latin typeface="Meiryo"/>
              <a:ea typeface="Meiryo"/>
              <a:cs typeface="Meiryo"/>
              <a:sym typeface="Meiryo"/>
            </a:endParaRPr>
          </a:p>
        </p:txBody>
      </p:sp>
      <p:sp>
        <p:nvSpPr>
          <p:cNvPr id="45" name="Google Shape;45;p3"/>
          <p:cNvSpPr/>
          <p:nvPr/>
        </p:nvSpPr>
        <p:spPr>
          <a:xfrm>
            <a:off x="0" y="1234746"/>
            <a:ext cx="9906000" cy="672259"/>
          </a:xfrm>
          <a:prstGeom prst="rect">
            <a:avLst/>
          </a:prstGeom>
          <a:solidFill>
            <a:srgbClr val="C5D8F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b="1" lang="ja-JP" sz="1600">
                <a:solidFill>
                  <a:srgbClr val="004DE6"/>
                </a:solidFill>
                <a:latin typeface="メイリオ"/>
                <a:ea typeface="Meiryo"/>
                <a:cs typeface="Meiryo"/>
                <a:sym typeface="Meiryo"/>
              </a:rPr>
              <a:t>　　　　　　</a:t>
            </a:r>
            <a:endParaRPr b="1" sz="1800">
              <a:solidFill>
                <a:srgbClr val="004DE6"/>
              </a:solidFill>
              <a:latin typeface="Meiryo"/>
              <a:ea typeface="Meiryo"/>
              <a:cs typeface="Meiryo"/>
              <a:sym typeface="Meiryo"/>
            </a:endParaRPr>
          </a:p>
        </p:txBody>
      </p:sp>
      <p:sp>
        <p:nvSpPr>
          <p:cNvPr id="46" name="Google Shape;46;p3"/>
          <p:cNvSpPr/>
          <p:nvPr/>
        </p:nvSpPr>
        <p:spPr>
          <a:xfrm>
            <a:off x="1089832" y="1437370"/>
            <a:ext cx="7031520" cy="33855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ja-JP" sz="1600">
                <a:solidFill>
                  <a:srgbClr val="004DE6"/>
                </a:solidFill>
                <a:latin typeface="メイリオ"/>
                <a:ea typeface="Meiryo"/>
                <a:cs typeface="Meiryo"/>
                <a:sym typeface="Meiryo"/>
              </a:rPr>
              <a:t>【LINE公式アカウント】「分析」データ参照期間 過去36カ月への変更</a:t>
            </a:r>
            <a:endParaRPr b="1" sz="1600">
              <a:solidFill>
                <a:srgbClr val="004DE6"/>
              </a:solidFill>
              <a:latin typeface="Meiryo"/>
              <a:ea typeface="Meiryo"/>
              <a:cs typeface="Meiryo"/>
              <a:sym typeface="Meiryo"/>
            </a:endParaRPr>
          </a:p>
        </p:txBody>
      </p:sp>
      <p:sp>
        <p:nvSpPr>
          <p:cNvPr id="47" name="Google Shape;47;p3"/>
          <p:cNvSpPr txBox="1"/>
          <p:nvPr/>
        </p:nvSpPr>
        <p:spPr>
          <a:xfrm>
            <a:off x="182880" y="88175"/>
            <a:ext cx="7512385" cy="365091"/>
          </a:xfrm>
          <a:prstGeom prst="rect">
            <a:avLst/>
          </a:prstGeom>
          <a:noFill/>
          <a:ln>
            <a:noFill/>
          </a:ln>
        </p:spPr>
        <p:txBody>
          <a:bodyPr anchorCtr="0" anchor="t" bIns="45700" lIns="91425" spcFirstLastPara="1" rIns="91425" wrap="square" tIns="72000">
            <a:spAutoFit/>
          </a:bodyPr>
          <a:lstStyle/>
          <a:p>
            <a:pPr indent="0" lvl="0" marL="0" marR="0" rtl="0" algn="l">
              <a:spcBef>
                <a:spcPts val="0"/>
              </a:spcBef>
              <a:spcAft>
                <a:spcPts val="0"/>
              </a:spcAft>
              <a:buClr>
                <a:schemeClr val="dk1"/>
              </a:buClr>
              <a:buSzPts val="1600"/>
              <a:buFont typeface="Arial"/>
              <a:buNone/>
            </a:pPr>
            <a:r>
              <a:rPr b="0" lang="ja-JP" sz="1600" u="none">
                <a:solidFill>
                  <a:schemeClr val="dk1"/>
                </a:solidFill>
                <a:latin typeface="メイリオ"/>
                <a:ea typeface="Meiryo"/>
                <a:cs typeface="Meiryo"/>
                <a:sym typeface="Meiryo"/>
              </a:rPr>
              <a:t>    今後のアップデート情報</a:t>
            </a:r>
            <a:endParaRPr b="0" sz="1600" u="none">
              <a:solidFill>
                <a:schemeClr val="dk1"/>
              </a:solidFill>
              <a:latin typeface="Meiryo"/>
              <a:ea typeface="Meiryo"/>
              <a:cs typeface="Meiryo"/>
              <a:sym typeface="Meiryo"/>
            </a:endParaRPr>
          </a:p>
        </p:txBody>
      </p:sp>
      <p:sp>
        <p:nvSpPr>
          <p:cNvPr id="48" name="Google Shape;48;p3"/>
          <p:cNvSpPr/>
          <p:nvPr/>
        </p:nvSpPr>
        <p:spPr>
          <a:xfrm>
            <a:off x="579726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Clr>
                <a:schemeClr val="dk1"/>
              </a:buClr>
              <a:buSzPts val="1000"/>
              <a:buFont typeface="Meiryo"/>
              <a:buNone/>
            </a:pPr>
            <a:r>
              <a:rPr lang="ja-JP" sz="1000">
                <a:solidFill>
                  <a:schemeClr val="dk1"/>
                </a:solidFill>
                <a:latin typeface="メイリオ"/>
                <a:ea typeface="Meiryo"/>
                <a:cs typeface="Meiryo"/>
                <a:sym typeface="Meiryo"/>
              </a:rPr>
              <a:t>開発</a:t>
            </a:r>
            <a:endParaRPr sz="1000">
              <a:solidFill>
                <a:schemeClr val="dk1"/>
              </a:solidFill>
              <a:latin typeface="Meiryo"/>
              <a:ea typeface="Meiryo"/>
              <a:cs typeface="Meiryo"/>
              <a:sym typeface="Meiryo"/>
            </a:endParaRPr>
          </a:p>
          <a:p>
            <a:pPr indent="0" lvl="0" marL="0" marR="0" rtl="0" algn="ctr">
              <a:spcBef>
                <a:spcPts val="0"/>
              </a:spcBef>
              <a:spcAft>
                <a:spcPts val="0"/>
              </a:spcAft>
              <a:buClr>
                <a:schemeClr val="dk1"/>
              </a:buClr>
              <a:buSzPts val="1000"/>
              <a:buFont typeface="Meiryo"/>
              <a:buNone/>
            </a:pPr>
            <a:r>
              <a:rPr lang="ja-JP" sz="1000">
                <a:solidFill>
                  <a:schemeClr val="dk1"/>
                </a:solidFill>
                <a:latin typeface="メイリオ"/>
                <a:ea typeface="Meiryo"/>
                <a:cs typeface="Meiryo"/>
                <a:sym typeface="Meiryo"/>
              </a:rPr>
              <a:t>LINE API</a:t>
            </a:r>
            <a:endParaRPr sz="1000">
              <a:solidFill>
                <a:schemeClr val="dk1"/>
              </a:solidFill>
              <a:latin typeface="Meiryo"/>
              <a:ea typeface="Meiryo"/>
              <a:cs typeface="Meiryo"/>
              <a:sym typeface="Meiryo"/>
            </a:endParaRPr>
          </a:p>
        </p:txBody>
      </p:sp>
      <p:sp>
        <p:nvSpPr>
          <p:cNvPr id="49" name="Google Shape;49;p3"/>
          <p:cNvSpPr/>
          <p:nvPr/>
        </p:nvSpPr>
        <p:spPr>
          <a:xfrm>
            <a:off x="4915470" y="730955"/>
            <a:ext cx="829618" cy="435690"/>
          </a:xfrm>
          <a:prstGeom prst="rect">
            <a:avLst/>
          </a:prstGeom>
          <a:solidFill>
            <a:schemeClr val="tx2"/>
          </a:solidFill>
          <a:ln cap="flat" cmpd="sng" w="9525">
            <a:solidFill>
              <a:srgbClr val="4F81BD"/>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lang="ja-JP" sz="1000">
                <a:solidFill>
                  <a:schemeClr val="dk1"/>
                </a:solidFill>
                <a:latin typeface="メイリオ"/>
                <a:ea typeface="Meiryo"/>
                <a:cs typeface="Meiryo"/>
                <a:sym typeface="Meiryo"/>
              </a:rPr>
              <a:t>LINE公式アカウント</a:t>
            </a:r>
            <a:endParaRPr sz="1000">
              <a:solidFill>
                <a:schemeClr val="dk1"/>
              </a:solidFill>
              <a:latin typeface="Meiryo"/>
              <a:ea typeface="Meiryo"/>
              <a:cs typeface="Meiryo"/>
              <a:sym typeface="Meiryo"/>
            </a:endParaRPr>
          </a:p>
        </p:txBody>
      </p:sp>
      <p:sp>
        <p:nvSpPr>
          <p:cNvPr id="50" name="Google Shape;50;p3"/>
          <p:cNvSpPr/>
          <p:nvPr/>
        </p:nvSpPr>
        <p:spPr>
          <a:xfrm>
            <a:off x="0" y="1890267"/>
            <a:ext cx="9906000" cy="733579"/>
          </a:xfrm>
          <a:prstGeom prst="rect">
            <a:avLst/>
          </a:prstGeom>
          <a:solidFill>
            <a:srgbClr val="F2F2F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a:latin typeface="メイリオ"/>
              </a:rPr>
              <a:t/>
            </a:r>
            <a:endParaRPr sz="1200">
              <a:solidFill>
                <a:schemeClr val="dk1"/>
              </a:solidFill>
              <a:latin typeface="Meiryo"/>
              <a:ea typeface="Meiryo"/>
              <a:cs typeface="Meiryo"/>
              <a:sym typeface="Meiryo"/>
            </a:endParaRPr>
          </a:p>
        </p:txBody>
      </p:sp>
      <p:sp>
        <p:nvSpPr>
          <p:cNvPr id="51" name="Google Shape;51;p3"/>
          <p:cNvSpPr/>
          <p:nvPr/>
        </p:nvSpPr>
        <p:spPr>
          <a:xfrm>
            <a:off x="544108" y="1961282"/>
            <a:ext cx="8817783" cy="646331"/>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lang="ja-JP" sz="1200">
                <a:solidFill>
                  <a:schemeClr val="dk1"/>
                </a:solidFill>
                <a:latin typeface="メイリオ"/>
                <a:ea typeface="Meiryo"/>
                <a:cs typeface="Meiryo"/>
                <a:sym typeface="Meiryo"/>
              </a:rPr>
              <a:t>LINE公式アカウントの管理画面「分析」タブで確認できる実績値の参照期間を、</a:t>
            </a:r>
            <a:endParaRPr b="1" sz="1200">
              <a:solidFill>
                <a:schemeClr val="dk1"/>
              </a:solidFill>
              <a:latin typeface="Meiryo"/>
              <a:ea typeface="Meiryo"/>
              <a:cs typeface="Meiryo"/>
              <a:sym typeface="Meiryo"/>
            </a:endParaRPr>
          </a:p>
          <a:p>
            <a:pPr indent="0" lvl="0" marL="0" marR="0" rtl="0" algn="ctr">
              <a:spcBef>
                <a:spcPts val="0"/>
              </a:spcBef>
              <a:spcAft>
                <a:spcPts val="0"/>
              </a:spcAft>
              <a:buNone/>
            </a:pPr>
            <a:r>
              <a:rPr b="1" lang="ja-JP" sz="1200">
                <a:solidFill>
                  <a:schemeClr val="dk1"/>
                </a:solidFill>
                <a:latin typeface="メイリオ"/>
                <a:ea typeface="Meiryo"/>
                <a:cs typeface="Meiryo"/>
                <a:sym typeface="Meiryo"/>
              </a:rPr>
              <a:t>過去36カ月までに変更する予定。対象は「分析」タブの実績値のみで他のデータに影響なし。</a:t>
            </a:r>
            <a:endParaRPr/>
          </a:p>
          <a:p>
            <a:pPr indent="0" lvl="0" marL="0" marR="0" rtl="0" algn="ctr">
              <a:spcBef>
                <a:spcPts val="0"/>
              </a:spcBef>
              <a:spcAft>
                <a:spcPts val="0"/>
              </a:spcAft>
              <a:buNone/>
            </a:pPr>
            <a:r>
              <a:rPr b="1" lang="ja-JP" sz="1200">
                <a:solidFill>
                  <a:schemeClr val="dk1"/>
                </a:solidFill>
                <a:latin typeface="メイリオ"/>
                <a:ea typeface="Meiryo"/>
                <a:cs typeface="Meiryo"/>
                <a:sym typeface="Meiryo"/>
              </a:rPr>
              <a:t>※社外告知は延期中のため、日程が決まり次第あらためて案内される。</a:t>
            </a:r>
            <a:endParaRPr b="1" sz="1400">
              <a:solidFill>
                <a:schemeClr val="dk1"/>
              </a:solidFill>
              <a:latin typeface="Meiryo"/>
              <a:ea typeface="Meiryo"/>
              <a:cs typeface="Meiryo"/>
              <a:sym typeface="Meiryo"/>
            </a:endParaRPr>
          </a:p>
        </p:txBody>
      </p:sp>
      <p:sp>
        <p:nvSpPr>
          <p:cNvPr id="52" name="Google Shape;52;p3"/>
          <p:cNvSpPr/>
          <p:nvPr/>
        </p:nvSpPr>
        <p:spPr>
          <a:xfrm>
            <a:off x="351381" y="2714173"/>
            <a:ext cx="5200000" cy="33855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ja-JP" sz="1400">
                <a:solidFill>
                  <a:srgbClr val="15133D"/>
                </a:solidFill>
                <a:latin typeface="メイリオ"/>
                <a:ea typeface="Meiryo"/>
                <a:cs typeface="Meiryo"/>
                <a:sym typeface="Meiryo"/>
              </a:rPr>
              <a:t>■ 詳細</a:t>
            </a:r>
            <a:endParaRPr/>
          </a:p>
        </p:txBody>
      </p:sp>
      <p:grpSp>
        <p:nvGrpSpPr>
          <p:cNvPr id="53" name="Google Shape;53;p3"/>
          <p:cNvGrpSpPr/>
          <p:nvPr/>
        </p:nvGrpSpPr>
        <p:grpSpPr>
          <a:xfrm>
            <a:off x="8473303" y="730955"/>
            <a:ext cx="1376241" cy="1131930"/>
            <a:chOff x="0" y="0"/>
            <a:chExt cx="1376241" cy="1131930"/>
          </a:xfrm>
        </p:grpSpPr>
        <p:sp>
          <p:nvSpPr>
            <p:cNvPr id="54" name="Google Shape;54;p3"/>
            <p:cNvSpPr/>
            <p:nvPr/>
          </p:nvSpPr>
          <p:spPr>
            <a:xfrm rot="10800000">
              <a:off x="0" y="0"/>
              <a:ext cx="1376241" cy="282982"/>
            </a:xfrm>
            <a:prstGeom prst="trapezoid">
              <a:avLst>
                <a:gd fmla="val 60792" name="adj"/>
              </a:avLst>
            </a:prstGeom>
            <a:solidFill>
              <a:srgbClr val="EAEDF5"/>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 name="Google Shape;55;p3"/>
            <p:cNvSpPr txBox="1"/>
            <p:nvPr/>
          </p:nvSpPr>
          <p:spPr>
            <a:xfrm>
              <a:off x="240842" y="0"/>
              <a:ext cx="894556"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認知</a:t>
              </a:r>
              <a:endParaRPr/>
            </a:p>
          </p:txBody>
        </p:sp>
        <p:sp>
          <p:nvSpPr>
            <p:cNvPr id="56" name="Google Shape;56;p3"/>
            <p:cNvSpPr/>
            <p:nvPr/>
          </p:nvSpPr>
          <p:spPr>
            <a:xfrm rot="10800000">
              <a:off x="172030" y="282982"/>
              <a:ext cx="1032180" cy="282982"/>
            </a:xfrm>
            <a:prstGeom prst="trapezoid">
              <a:avLst>
                <a:gd fmla="val 60792" name="adj"/>
              </a:avLst>
            </a:prstGeom>
            <a:solidFill>
              <a:schemeClr val="lt1"/>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 name="Google Shape;57;p3"/>
            <p:cNvSpPr txBox="1"/>
            <p:nvPr/>
          </p:nvSpPr>
          <p:spPr>
            <a:xfrm>
              <a:off x="352661" y="282982"/>
              <a:ext cx="670917"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検討</a:t>
              </a:r>
              <a:endParaRPr/>
            </a:p>
          </p:txBody>
        </p:sp>
        <p:sp>
          <p:nvSpPr>
            <p:cNvPr id="58" name="Google Shape;58;p3"/>
            <p:cNvSpPr/>
            <p:nvPr/>
          </p:nvSpPr>
          <p:spPr>
            <a:xfrm rot="10800000">
              <a:off x="344060" y="565965"/>
              <a:ext cx="688120" cy="282982"/>
            </a:xfrm>
            <a:prstGeom prst="trapezoid">
              <a:avLst>
                <a:gd fmla="val 60792" name="adj"/>
              </a:avLst>
            </a:prstGeom>
            <a:solidFill>
              <a:schemeClr val="lt1"/>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 name="Google Shape;59;p3"/>
            <p:cNvSpPr txBox="1"/>
            <p:nvPr/>
          </p:nvSpPr>
          <p:spPr>
            <a:xfrm>
              <a:off x="464481" y="565965"/>
              <a:ext cx="447278"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獲得</a:t>
              </a:r>
              <a:endParaRPr/>
            </a:p>
          </p:txBody>
        </p:sp>
        <p:sp>
          <p:nvSpPr>
            <p:cNvPr id="60" name="Google Shape;60;p3"/>
            <p:cNvSpPr/>
            <p:nvPr/>
          </p:nvSpPr>
          <p:spPr>
            <a:xfrm rot="10800000">
              <a:off x="516090" y="848948"/>
              <a:ext cx="344060" cy="282982"/>
            </a:xfrm>
            <a:prstGeom prst="trapezoid">
              <a:avLst>
                <a:gd fmla="val 60792" name="adj"/>
              </a:avLst>
            </a:prstGeom>
            <a:no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 name="Google Shape;61;p3"/>
            <p:cNvSpPr txBox="1"/>
            <p:nvPr/>
          </p:nvSpPr>
          <p:spPr>
            <a:xfrm>
              <a:off x="516090" y="848948"/>
              <a:ext cx="344060"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伸長</a:t>
              </a:r>
              <a:endParaRPr/>
            </a:p>
          </p:txBody>
        </p:sp>
      </p:grpSp>
      <p:pic>
        <p:nvPicPr>
          <p:cNvPr descr="LINE公式アカウントのロゴの使用方法とは？種類やダウンロード方法、利用時の注意点を紹介 | Mico（ミコ）" id="62" name="Google Shape;62;p3"/>
          <p:cNvPicPr preferRelativeResize="0"/>
          <p:nvPr/>
        </p:nvPicPr>
        <p:blipFill rotWithShape="1">
          <a:blip r:embed="rId2">
            <a:alphaModFix/>
          </a:blip>
          <a:srcRect b="0" l="0" r="0" t="0"/>
          <a:stretch/>
        </p:blipFill>
        <p:spPr>
          <a:xfrm>
            <a:off x="351381" y="1234746"/>
            <a:ext cx="656177" cy="655521"/>
          </a:xfrm>
          <a:prstGeom prst="rect">
            <a:avLst/>
          </a:prstGeom>
          <a:noFill/>
          <a:ln>
            <a:noFill/>
          </a:ln>
        </p:spPr>
      </p:pic>
      <p:pic>
        <p:nvPicPr>
          <p:cNvPr id="63" name="Picture 62" descr="topic2.png"/>
          <p:cNvPicPr>
            <a:picLocks noChangeAspect="1"/>
          </p:cNvPicPr>
          <p:nvPr/>
        </p:nvPicPr>
        <p:blipFill>
          <a:blip r:embed="rId3"/>
          <a:stretch>
            <a:fillRect/>
          </a:stretch>
        </p:blipFill>
        <p:spPr>
          <a:xfrm>
            <a:off x="2161168" y="3068960"/>
            <a:ext cx="6092760" cy="3429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0" name="Google Shape;40;p3"/>
          <p:cNvSpPr/>
          <p:nvPr/>
        </p:nvSpPr>
        <p:spPr>
          <a:xfrm>
            <a:off x="292801" y="730955"/>
            <a:ext cx="1296144" cy="435690"/>
          </a:xfrm>
          <a:prstGeom prst="rect">
            <a:avLst/>
          </a:prstGeom>
          <a:solidFill>
            <a:schemeClr val="dk2"/>
          </a:solidFill>
          <a:ln cap="flat" cmpd="sng" w="9525">
            <a:solidFill>
              <a:srgbClr val="4A7DBA"/>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800" u="none" cap="none" strike="noStrike">
                <a:solidFill>
                  <a:schemeClr val="lt1"/>
                </a:solidFill>
                <a:latin typeface="メイリオ"/>
                <a:ea typeface="Meiryo"/>
                <a:cs typeface="Meiryo"/>
                <a:sym typeface="Meiryo"/>
              </a:rPr>
              <a:t>対象業界</a:t>
            </a:r>
            <a:endParaRPr/>
          </a:p>
        </p:txBody>
      </p:sp>
      <p:sp>
        <p:nvSpPr>
          <p:cNvPr id="41" name="Google Shape;41;p3"/>
          <p:cNvSpPr/>
          <p:nvPr/>
        </p:nvSpPr>
        <p:spPr>
          <a:xfrm>
            <a:off x="756084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200" u="none" cap="none" strike="noStrike">
                <a:solidFill>
                  <a:schemeClr val="dk1"/>
                </a:solidFill>
                <a:latin typeface="メイリオ"/>
                <a:ea typeface="Meiryo"/>
                <a:cs typeface="Meiryo"/>
                <a:sym typeface="Meiryo"/>
              </a:rPr>
              <a:t>その他</a:t>
            </a:r>
            <a:endParaRPr b="0" i="0" sz="1200" u="none" cap="none" strike="noStrike">
              <a:solidFill>
                <a:schemeClr val="dk1"/>
              </a:solidFill>
              <a:latin typeface="Meiryo"/>
              <a:ea typeface="Meiryo"/>
              <a:cs typeface="Meiryo"/>
              <a:sym typeface="Meiryo"/>
            </a:endParaRPr>
          </a:p>
        </p:txBody>
      </p:sp>
      <p:sp>
        <p:nvSpPr>
          <p:cNvPr id="42" name="Google Shape;42;p3"/>
          <p:cNvSpPr/>
          <p:nvPr/>
        </p:nvSpPr>
        <p:spPr>
          <a:xfrm>
            <a:off x="6679050" y="730955"/>
            <a:ext cx="829618" cy="435690"/>
          </a:xfrm>
          <a:prstGeom prst="rect">
            <a:avLst/>
          </a:prstGeom>
          <a:solidFill>
            <a:schemeClr val="tx2"/>
          </a:solidFill>
          <a:ln cap="flat" cmpd="sng" w="9525">
            <a:solidFill>
              <a:srgbClr val="4F81BD"/>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000" u="none" cap="none" strike="noStrike">
                <a:solidFill>
                  <a:schemeClr val="dk1"/>
                </a:solidFill>
                <a:latin typeface="メイリオ"/>
                <a:ea typeface="Meiryo"/>
                <a:cs typeface="Meiryo"/>
                <a:sym typeface="Meiryo"/>
              </a:rPr>
              <a:t>オプション</a:t>
            </a:r>
            <a:endParaRPr b="0" i="0" sz="1000" u="none" cap="none" strike="noStrike">
              <a:solidFill>
                <a:schemeClr val="dk1"/>
              </a:solidFill>
              <a:latin typeface="Meiryo"/>
              <a:ea typeface="Meiryo"/>
              <a:cs typeface="Meiryo"/>
              <a:sym typeface="Meiryo"/>
            </a:endParaRPr>
          </a:p>
          <a:p>
            <a:pPr indent="0" lvl="0" marL="0" marR="0" rtl="0" algn="ctr">
              <a:spcBef>
                <a:spcPts val="0"/>
              </a:spcBef>
              <a:spcAft>
                <a:spcPts val="0"/>
              </a:spcAft>
              <a:buNone/>
            </a:pPr>
            <a:r>
              <a:rPr b="0" i="0" lang="ja-JP" sz="1000" u="none" cap="none" strike="noStrike">
                <a:solidFill>
                  <a:schemeClr val="dk1"/>
                </a:solidFill>
                <a:latin typeface="メイリオ"/>
                <a:ea typeface="Meiryo"/>
                <a:cs typeface="Meiryo"/>
                <a:sym typeface="Meiryo"/>
              </a:rPr>
              <a:t>商材</a:t>
            </a:r>
            <a:endParaRPr/>
          </a:p>
        </p:txBody>
      </p:sp>
      <p:sp>
        <p:nvSpPr>
          <p:cNvPr id="43" name="Google Shape;43;p3"/>
          <p:cNvSpPr/>
          <p:nvPr/>
        </p:nvSpPr>
        <p:spPr>
          <a:xfrm>
            <a:off x="1594068" y="730955"/>
            <a:ext cx="2926883" cy="435690"/>
          </a:xfrm>
          <a:prstGeom prst="rect">
            <a:avLst/>
          </a:prstGeom>
          <a:noFill/>
          <a:ln cap="flat" cmpd="sng" w="9525">
            <a:solidFill>
              <a:srgbClr val="4A7DBA"/>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300" u="none" cap="none" strike="noStrike">
                <a:solidFill>
                  <a:schemeClr val="dk1"/>
                </a:solidFill>
                <a:latin typeface="メイリオ"/>
                <a:ea typeface="Meiryo"/>
                <a:cs typeface="Meiryo"/>
                <a:sym typeface="Meiryo"/>
              </a:rPr>
              <a:t>友だち獲得を強化したい全業種</a:t>
            </a:r>
            <a:endParaRPr/>
          </a:p>
        </p:txBody>
      </p:sp>
      <p:sp>
        <p:nvSpPr>
          <p:cNvPr id="44" name="Google Shape;44;p3"/>
          <p:cNvSpPr txBox="1"/>
          <p:nvPr/>
        </p:nvSpPr>
        <p:spPr>
          <a:xfrm>
            <a:off x="3296816" y="6597352"/>
            <a:ext cx="6209091" cy="2154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ja-JP" sz="800" u="none" cap="none" strike="noStrike">
                <a:solidFill>
                  <a:schemeClr val="lt1"/>
                </a:solidFill>
                <a:latin typeface="メイリオ"/>
                <a:ea typeface="Meiryo"/>
                <a:cs typeface="Meiryo"/>
                <a:sym typeface="Meiryo"/>
              </a:rPr>
              <a:t>出典：https://workers-hub.box.com/s/rgfhp6hxyusj7domi1irjx68jld23k9r</a:t>
            </a:r>
            <a:endParaRPr sz="800">
              <a:solidFill>
                <a:schemeClr val="lt1"/>
              </a:solidFill>
              <a:latin typeface="Meiryo"/>
              <a:ea typeface="Meiryo"/>
              <a:cs typeface="Meiryo"/>
              <a:sym typeface="Meiryo"/>
            </a:endParaRPr>
          </a:p>
        </p:txBody>
      </p:sp>
      <p:sp>
        <p:nvSpPr>
          <p:cNvPr id="45" name="Google Shape;45;p3"/>
          <p:cNvSpPr/>
          <p:nvPr/>
        </p:nvSpPr>
        <p:spPr>
          <a:xfrm>
            <a:off x="0" y="1234746"/>
            <a:ext cx="9906000" cy="672259"/>
          </a:xfrm>
          <a:prstGeom prst="rect">
            <a:avLst/>
          </a:prstGeom>
          <a:solidFill>
            <a:srgbClr val="C5D8F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b="1" lang="ja-JP" sz="1600">
                <a:solidFill>
                  <a:srgbClr val="004DE6"/>
                </a:solidFill>
                <a:latin typeface="メイリオ"/>
                <a:ea typeface="Meiryo"/>
                <a:cs typeface="Meiryo"/>
                <a:sym typeface="Meiryo"/>
              </a:rPr>
              <a:t>　　　　　　</a:t>
            </a:r>
            <a:endParaRPr b="1" sz="1800">
              <a:solidFill>
                <a:srgbClr val="004DE6"/>
              </a:solidFill>
              <a:latin typeface="Meiryo"/>
              <a:ea typeface="Meiryo"/>
              <a:cs typeface="Meiryo"/>
              <a:sym typeface="Meiryo"/>
            </a:endParaRPr>
          </a:p>
        </p:txBody>
      </p:sp>
      <p:sp>
        <p:nvSpPr>
          <p:cNvPr id="46" name="Google Shape;46;p3"/>
          <p:cNvSpPr/>
          <p:nvPr/>
        </p:nvSpPr>
        <p:spPr>
          <a:xfrm>
            <a:off x="1089832" y="1437370"/>
            <a:ext cx="7031520" cy="33855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ja-JP" sz="1600">
                <a:solidFill>
                  <a:srgbClr val="004DE6"/>
                </a:solidFill>
                <a:latin typeface="メイリオ"/>
                <a:ea typeface="Meiryo"/>
                <a:cs typeface="Meiryo"/>
                <a:sym typeface="Meiryo"/>
              </a:rPr>
              <a:t>【LINEプロモーションスタンプ】アップデート内容</a:t>
            </a:r>
            <a:endParaRPr b="1" sz="1600">
              <a:solidFill>
                <a:srgbClr val="004DE6"/>
              </a:solidFill>
              <a:latin typeface="Meiryo"/>
              <a:ea typeface="Meiryo"/>
              <a:cs typeface="Meiryo"/>
              <a:sym typeface="Meiryo"/>
            </a:endParaRPr>
          </a:p>
        </p:txBody>
      </p:sp>
      <p:sp>
        <p:nvSpPr>
          <p:cNvPr id="47" name="Google Shape;47;p3"/>
          <p:cNvSpPr txBox="1"/>
          <p:nvPr/>
        </p:nvSpPr>
        <p:spPr>
          <a:xfrm>
            <a:off x="182880" y="88175"/>
            <a:ext cx="7512385" cy="365091"/>
          </a:xfrm>
          <a:prstGeom prst="rect">
            <a:avLst/>
          </a:prstGeom>
          <a:noFill/>
          <a:ln>
            <a:noFill/>
          </a:ln>
        </p:spPr>
        <p:txBody>
          <a:bodyPr anchorCtr="0" anchor="t" bIns="45700" lIns="91425" spcFirstLastPara="1" rIns="91425" wrap="square" tIns="72000">
            <a:spAutoFit/>
          </a:bodyPr>
          <a:lstStyle/>
          <a:p>
            <a:pPr indent="0" lvl="0" marL="0" marR="0" rtl="0" algn="l">
              <a:spcBef>
                <a:spcPts val="0"/>
              </a:spcBef>
              <a:spcAft>
                <a:spcPts val="0"/>
              </a:spcAft>
              <a:buClr>
                <a:schemeClr val="dk1"/>
              </a:buClr>
              <a:buSzPts val="1600"/>
              <a:buFont typeface="Arial"/>
              <a:buNone/>
            </a:pPr>
            <a:r>
              <a:rPr b="0" lang="ja-JP" sz="1600" u="none">
                <a:solidFill>
                  <a:schemeClr val="dk1"/>
                </a:solidFill>
                <a:latin typeface="メイリオ"/>
                <a:ea typeface="Meiryo"/>
                <a:cs typeface="Meiryo"/>
                <a:sym typeface="Meiryo"/>
              </a:rPr>
              <a:t>    今後のアップデート情報</a:t>
            </a:r>
            <a:endParaRPr b="0" sz="1600" u="none">
              <a:solidFill>
                <a:schemeClr val="dk1"/>
              </a:solidFill>
              <a:latin typeface="Meiryo"/>
              <a:ea typeface="Meiryo"/>
              <a:cs typeface="Meiryo"/>
              <a:sym typeface="Meiryo"/>
            </a:endParaRPr>
          </a:p>
        </p:txBody>
      </p:sp>
      <p:sp>
        <p:nvSpPr>
          <p:cNvPr id="48" name="Google Shape;48;p3"/>
          <p:cNvSpPr/>
          <p:nvPr/>
        </p:nvSpPr>
        <p:spPr>
          <a:xfrm>
            <a:off x="579726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Clr>
                <a:schemeClr val="dk1"/>
              </a:buClr>
              <a:buSzPts val="1000"/>
              <a:buFont typeface="Meiryo"/>
              <a:buNone/>
            </a:pPr>
            <a:r>
              <a:rPr lang="ja-JP" sz="1000">
                <a:solidFill>
                  <a:schemeClr val="dk1"/>
                </a:solidFill>
                <a:latin typeface="メイリオ"/>
                <a:ea typeface="Meiryo"/>
                <a:cs typeface="Meiryo"/>
                <a:sym typeface="Meiryo"/>
              </a:rPr>
              <a:t>開発</a:t>
            </a:r>
            <a:endParaRPr sz="1000">
              <a:solidFill>
                <a:schemeClr val="dk1"/>
              </a:solidFill>
              <a:latin typeface="Meiryo"/>
              <a:ea typeface="Meiryo"/>
              <a:cs typeface="Meiryo"/>
              <a:sym typeface="Meiryo"/>
            </a:endParaRPr>
          </a:p>
          <a:p>
            <a:pPr indent="0" lvl="0" marL="0" marR="0" rtl="0" algn="ctr">
              <a:spcBef>
                <a:spcPts val="0"/>
              </a:spcBef>
              <a:spcAft>
                <a:spcPts val="0"/>
              </a:spcAft>
              <a:buClr>
                <a:schemeClr val="dk1"/>
              </a:buClr>
              <a:buSzPts val="1000"/>
              <a:buFont typeface="Meiryo"/>
              <a:buNone/>
            </a:pPr>
            <a:r>
              <a:rPr lang="ja-JP" sz="1000">
                <a:solidFill>
                  <a:schemeClr val="dk1"/>
                </a:solidFill>
                <a:latin typeface="メイリオ"/>
                <a:ea typeface="Meiryo"/>
                <a:cs typeface="Meiryo"/>
                <a:sym typeface="Meiryo"/>
              </a:rPr>
              <a:t>LINE API</a:t>
            </a:r>
            <a:endParaRPr sz="1000">
              <a:solidFill>
                <a:schemeClr val="dk1"/>
              </a:solidFill>
              <a:latin typeface="Meiryo"/>
              <a:ea typeface="Meiryo"/>
              <a:cs typeface="Meiryo"/>
              <a:sym typeface="Meiryo"/>
            </a:endParaRPr>
          </a:p>
        </p:txBody>
      </p:sp>
      <p:sp>
        <p:nvSpPr>
          <p:cNvPr id="49" name="Google Shape;49;p3"/>
          <p:cNvSpPr/>
          <p:nvPr/>
        </p:nvSpPr>
        <p:spPr>
          <a:xfrm>
            <a:off x="491547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lang="ja-JP" sz="1000">
                <a:solidFill>
                  <a:schemeClr val="dk1"/>
                </a:solidFill>
                <a:latin typeface="メイリオ"/>
                <a:ea typeface="Meiryo"/>
                <a:cs typeface="Meiryo"/>
                <a:sym typeface="Meiryo"/>
              </a:rPr>
              <a:t>LINE公式アカウント</a:t>
            </a:r>
            <a:endParaRPr sz="1000">
              <a:solidFill>
                <a:schemeClr val="dk1"/>
              </a:solidFill>
              <a:latin typeface="Meiryo"/>
              <a:ea typeface="Meiryo"/>
              <a:cs typeface="Meiryo"/>
              <a:sym typeface="Meiryo"/>
            </a:endParaRPr>
          </a:p>
        </p:txBody>
      </p:sp>
      <p:sp>
        <p:nvSpPr>
          <p:cNvPr id="50" name="Google Shape;50;p3"/>
          <p:cNvSpPr/>
          <p:nvPr/>
        </p:nvSpPr>
        <p:spPr>
          <a:xfrm>
            <a:off x="0" y="1890267"/>
            <a:ext cx="9906000" cy="733579"/>
          </a:xfrm>
          <a:prstGeom prst="rect">
            <a:avLst/>
          </a:prstGeom>
          <a:solidFill>
            <a:srgbClr val="F2F2F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a:latin typeface="メイリオ"/>
              </a:rPr>
              <a:t/>
            </a:r>
            <a:endParaRPr sz="1200">
              <a:solidFill>
                <a:schemeClr val="dk1"/>
              </a:solidFill>
              <a:latin typeface="Meiryo"/>
              <a:ea typeface="Meiryo"/>
              <a:cs typeface="Meiryo"/>
              <a:sym typeface="Meiryo"/>
            </a:endParaRPr>
          </a:p>
        </p:txBody>
      </p:sp>
      <p:sp>
        <p:nvSpPr>
          <p:cNvPr id="51" name="Google Shape;51;p3"/>
          <p:cNvSpPr/>
          <p:nvPr/>
        </p:nvSpPr>
        <p:spPr>
          <a:xfrm>
            <a:off x="544108" y="1961282"/>
            <a:ext cx="8817783" cy="646331"/>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lang="ja-JP" sz="1200">
                <a:solidFill>
                  <a:schemeClr val="dk1"/>
                </a:solidFill>
                <a:latin typeface="メイリオ"/>
                <a:ea typeface="Meiryo"/>
                <a:cs typeface="Meiryo"/>
                <a:sym typeface="Meiryo"/>
              </a:rPr>
              <a:t>LINEキーボードのサジェスト機能で無料スタンプが表示される条件を緩和し、</a:t>
            </a:r>
            <a:endParaRPr b="1" sz="1200">
              <a:solidFill>
                <a:schemeClr val="dk1"/>
              </a:solidFill>
              <a:latin typeface="Meiryo"/>
              <a:ea typeface="Meiryo"/>
              <a:cs typeface="Meiryo"/>
              <a:sym typeface="Meiryo"/>
            </a:endParaRPr>
          </a:p>
          <a:p>
            <a:pPr indent="0" lvl="0" marL="0" marR="0" rtl="0" algn="ctr">
              <a:spcBef>
                <a:spcPts val="0"/>
              </a:spcBef>
              <a:spcAft>
                <a:spcPts val="0"/>
              </a:spcAft>
              <a:buNone/>
            </a:pPr>
            <a:r>
              <a:rPr b="1" lang="ja-JP" sz="1200">
                <a:solidFill>
                  <a:schemeClr val="dk1"/>
                </a:solidFill>
                <a:latin typeface="メイリオ"/>
                <a:ea typeface="Meiryo"/>
                <a:cs typeface="Meiryo"/>
                <a:sym typeface="Meiryo"/>
              </a:rPr>
              <a:t>これまで一部だったユーザー表示が全ユーザーに拡大された。</a:t>
            </a:r>
            <a:endParaRPr/>
          </a:p>
          <a:p>
            <a:pPr indent="0" lvl="0" marL="0" marR="0" rtl="0" algn="ctr">
              <a:spcBef>
                <a:spcPts val="0"/>
              </a:spcBef>
              <a:spcAft>
                <a:spcPts val="0"/>
              </a:spcAft>
              <a:buNone/>
            </a:pPr>
            <a:r>
              <a:rPr b="1" lang="ja-JP" sz="1200">
                <a:solidFill>
                  <a:schemeClr val="dk1"/>
                </a:solidFill>
                <a:latin typeface="メイリオ"/>
                <a:ea typeface="Meiryo"/>
                <a:cs typeface="Meiryo"/>
                <a:sym typeface="Meiryo"/>
              </a:rPr>
              <a:t>適用開始は2026年8月28日、DL数は平均+5.63%増加している。</a:t>
            </a:r>
            <a:endParaRPr b="1" sz="1400">
              <a:solidFill>
                <a:schemeClr val="dk1"/>
              </a:solidFill>
              <a:latin typeface="Meiryo"/>
              <a:ea typeface="Meiryo"/>
              <a:cs typeface="Meiryo"/>
              <a:sym typeface="Meiryo"/>
            </a:endParaRPr>
          </a:p>
        </p:txBody>
      </p:sp>
      <p:sp>
        <p:nvSpPr>
          <p:cNvPr id="52" name="Google Shape;52;p3"/>
          <p:cNvSpPr/>
          <p:nvPr/>
        </p:nvSpPr>
        <p:spPr>
          <a:xfrm>
            <a:off x="351381" y="2714173"/>
            <a:ext cx="5200000" cy="33855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ja-JP" sz="1400">
                <a:solidFill>
                  <a:srgbClr val="15133D"/>
                </a:solidFill>
                <a:latin typeface="メイリオ"/>
                <a:ea typeface="Meiryo"/>
                <a:cs typeface="Meiryo"/>
                <a:sym typeface="Meiryo"/>
              </a:rPr>
              <a:t>■ 詳細</a:t>
            </a:r>
            <a:endParaRPr/>
          </a:p>
        </p:txBody>
      </p:sp>
      <p:grpSp>
        <p:nvGrpSpPr>
          <p:cNvPr id="53" name="Google Shape;53;p3"/>
          <p:cNvGrpSpPr/>
          <p:nvPr/>
        </p:nvGrpSpPr>
        <p:grpSpPr>
          <a:xfrm>
            <a:off x="8473303" y="730955"/>
            <a:ext cx="1376241" cy="1131930"/>
            <a:chOff x="0" y="0"/>
            <a:chExt cx="1376241" cy="1131930"/>
          </a:xfrm>
        </p:grpSpPr>
        <p:sp>
          <p:nvSpPr>
            <p:cNvPr id="54" name="Google Shape;54;p3"/>
            <p:cNvSpPr/>
            <p:nvPr/>
          </p:nvSpPr>
          <p:spPr>
            <a:xfrm rot="10800000">
              <a:off x="0" y="0"/>
              <a:ext cx="1376241" cy="282982"/>
            </a:xfrm>
            <a:prstGeom prst="trapezoid">
              <a:avLst>
                <a:gd fmla="val 60792" name="adj"/>
              </a:avLst>
            </a:prstGeom>
            <a:solidFill>
              <a:srgbClr val="EAEDF5"/>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 name="Google Shape;55;p3"/>
            <p:cNvSpPr txBox="1"/>
            <p:nvPr/>
          </p:nvSpPr>
          <p:spPr>
            <a:xfrm>
              <a:off x="240842" y="0"/>
              <a:ext cx="894556"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認知</a:t>
              </a:r>
              <a:endParaRPr/>
            </a:p>
          </p:txBody>
        </p:sp>
        <p:sp>
          <p:nvSpPr>
            <p:cNvPr id="56" name="Google Shape;56;p3"/>
            <p:cNvSpPr/>
            <p:nvPr/>
          </p:nvSpPr>
          <p:spPr>
            <a:xfrm rot="10800000">
              <a:off x="172030" y="282982"/>
              <a:ext cx="1032180" cy="282982"/>
            </a:xfrm>
            <a:prstGeom prst="trapezoid">
              <a:avLst>
                <a:gd fmla="val 60792" name="adj"/>
              </a:avLst>
            </a:prstGeom>
            <a:solidFill>
              <a:schemeClr val="lt1"/>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 name="Google Shape;57;p3"/>
            <p:cNvSpPr txBox="1"/>
            <p:nvPr/>
          </p:nvSpPr>
          <p:spPr>
            <a:xfrm>
              <a:off x="352661" y="282982"/>
              <a:ext cx="670917"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検討</a:t>
              </a:r>
              <a:endParaRPr/>
            </a:p>
          </p:txBody>
        </p:sp>
        <p:sp>
          <p:nvSpPr>
            <p:cNvPr id="58" name="Google Shape;58;p3"/>
            <p:cNvSpPr/>
            <p:nvPr/>
          </p:nvSpPr>
          <p:spPr>
            <a:xfrm rot="10800000">
              <a:off x="344060" y="565965"/>
              <a:ext cx="688120" cy="282982"/>
            </a:xfrm>
            <a:prstGeom prst="trapezoid">
              <a:avLst>
                <a:gd fmla="val 60792" name="adj"/>
              </a:avLst>
            </a:prstGeom>
            <a:solidFill>
              <a:schemeClr val="lt1"/>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 name="Google Shape;59;p3"/>
            <p:cNvSpPr txBox="1"/>
            <p:nvPr/>
          </p:nvSpPr>
          <p:spPr>
            <a:xfrm>
              <a:off x="464481" y="565965"/>
              <a:ext cx="447278"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獲得</a:t>
              </a:r>
              <a:endParaRPr/>
            </a:p>
          </p:txBody>
        </p:sp>
        <p:sp>
          <p:nvSpPr>
            <p:cNvPr id="60" name="Google Shape;60;p3"/>
            <p:cNvSpPr/>
            <p:nvPr/>
          </p:nvSpPr>
          <p:spPr>
            <a:xfrm rot="10800000">
              <a:off x="516090" y="848948"/>
              <a:ext cx="344060" cy="282982"/>
            </a:xfrm>
            <a:prstGeom prst="trapezoid">
              <a:avLst>
                <a:gd fmla="val 60792" name="adj"/>
              </a:avLst>
            </a:prstGeom>
            <a:no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 name="Google Shape;61;p3"/>
            <p:cNvSpPr txBox="1"/>
            <p:nvPr/>
          </p:nvSpPr>
          <p:spPr>
            <a:xfrm>
              <a:off x="516090" y="848948"/>
              <a:ext cx="344060"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伸長</a:t>
              </a:r>
              <a:endParaRPr/>
            </a:p>
          </p:txBody>
        </p:sp>
      </p:grpSp>
      <p:pic>
        <p:nvPicPr>
          <p:cNvPr descr="LINE公式アカウントのロゴの使用方法とは？種類やダウンロード方法、利用時の注意点を紹介 | Mico（ミコ）" id="62" name="Google Shape;62;p3"/>
          <p:cNvPicPr preferRelativeResize="0"/>
          <p:nvPr/>
        </p:nvPicPr>
        <p:blipFill rotWithShape="1">
          <a:blip r:embed="rId2">
            <a:alphaModFix/>
          </a:blip>
          <a:srcRect b="0" l="0" r="0" t="0"/>
          <a:stretch/>
        </p:blipFill>
        <p:spPr>
          <a:xfrm>
            <a:off x="351381" y="1234746"/>
            <a:ext cx="656177" cy="655521"/>
          </a:xfrm>
          <a:prstGeom prst="rect">
            <a:avLst/>
          </a:prstGeom>
          <a:noFill/>
          <a:ln>
            <a:noFill/>
          </a:ln>
        </p:spPr>
      </p:pic>
      <p:sp>
        <p:nvSpPr>
          <p:cNvPr id="63" name="Rectangle 62"/>
          <p:cNvSpPr/>
          <p:nvPr/>
        </p:nvSpPr>
        <p:spPr>
          <a:xfrm>
            <a:off x="544108" y="3068960"/>
            <a:ext cx="4434840" cy="27432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45720"/>
          <a:lstStyle/>
          <a:p>
            <a:pPr algn="ctr"/>
            <a:r>
              <a:rPr sz="1300" b="1">
                <a:solidFill>
                  <a:srgbClr val="333333"/>
                </a:solidFill>
                <a:latin typeface="メイリオ"/>
              </a:rPr>
              <a:t>AS-IS</a:t>
            </a:r>
          </a:p>
        </p:txBody>
      </p:sp>
      <p:sp>
        <p:nvSpPr>
          <p:cNvPr id="64" name="Rectangle 63"/>
          <p:cNvSpPr/>
          <p:nvPr/>
        </p:nvSpPr>
        <p:spPr>
          <a:xfrm>
            <a:off x="544108" y="3343280"/>
            <a:ext cx="4434840" cy="640080"/>
          </a:xfrm>
          <a:prstGeom prst="rect">
            <a:avLst/>
          </a:prstGeom>
          <a:solidFill>
            <a:srgbClr val="F2F2F2"/>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37160" tIns="54864" bIns="54864"/>
          <a:lstStyle/>
          <a:p>
            <a:pPr algn="ctr">
              <a:lnSpc>
                <a:spcPct val="110000"/>
              </a:lnSpc>
            </a:pPr>
            <a:r>
              <a:rPr sz="1800" b="1">
                <a:solidFill>
                  <a:srgbClr val="15133D"/>
                </a:solidFill>
                <a:latin typeface="メイリオ"/>
              </a:rPr>
              <a:t>一部のユーザーにのみ表示</a:t>
            </a:r>
          </a:p>
        </p:txBody>
      </p:sp>
      <p:sp>
        <p:nvSpPr>
          <p:cNvPr id="65" name="TextBox 64"/>
          <p:cNvSpPr txBox="1"/>
          <p:nvPr/>
        </p:nvSpPr>
        <p:spPr>
          <a:xfrm>
            <a:off x="4978948" y="3068960"/>
            <a:ext cx="457200" cy="914400"/>
          </a:xfrm>
          <a:prstGeom prst="rect">
            <a:avLst/>
          </a:prstGeom>
          <a:noFill/>
        </p:spPr>
        <p:txBody>
          <a:bodyPr wrap="none" anchor="ctr">
            <a:spAutoFit/>
          </a:bodyPr>
          <a:lstStyle/>
          <a:p>
            <a:pPr algn="ctr"/>
            <a:r>
              <a:rPr sz="1800" b="1">
                <a:solidFill>
                  <a:srgbClr val="3467B2"/>
                </a:solidFill>
                <a:latin typeface="メイリオ"/>
              </a:rPr>
              <a:t>▶</a:t>
            </a:r>
          </a:p>
        </p:txBody>
      </p:sp>
      <p:sp>
        <p:nvSpPr>
          <p:cNvPr id="66" name="Rectangle 65"/>
          <p:cNvSpPr/>
          <p:nvPr/>
        </p:nvSpPr>
        <p:spPr>
          <a:xfrm>
            <a:off x="5436148" y="3068960"/>
            <a:ext cx="4434840" cy="274320"/>
          </a:xfrm>
          <a:prstGeom prst="rect">
            <a:avLst/>
          </a:prstGeom>
          <a:solidFill>
            <a:srgbClr val="1513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45720"/>
          <a:lstStyle/>
          <a:p>
            <a:pPr algn="ctr"/>
            <a:r>
              <a:rPr sz="1300" b="1">
                <a:solidFill>
                  <a:srgbClr val="FFFFFF"/>
                </a:solidFill>
                <a:latin typeface="メイリオ"/>
              </a:rPr>
              <a:t>TO-BE</a:t>
            </a:r>
          </a:p>
        </p:txBody>
      </p:sp>
      <p:sp>
        <p:nvSpPr>
          <p:cNvPr id="67" name="Rectangle 66"/>
          <p:cNvSpPr/>
          <p:nvPr/>
        </p:nvSpPr>
        <p:spPr>
          <a:xfrm>
            <a:off x="5436148" y="3343280"/>
            <a:ext cx="4434840" cy="640080"/>
          </a:xfrm>
          <a:prstGeom prst="rect">
            <a:avLst/>
          </a:prstGeom>
          <a:solidFill>
            <a:srgbClr val="EAF0FA"/>
          </a:solidFill>
          <a:ln w="12700">
            <a:solidFill>
              <a:srgbClr val="3467B2"/>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37160" tIns="54864" bIns="54864"/>
          <a:lstStyle/>
          <a:p>
            <a:pPr algn="ctr">
              <a:lnSpc>
                <a:spcPct val="110000"/>
              </a:lnSpc>
            </a:pPr>
            <a:r>
              <a:rPr sz="1600" b="1">
                <a:solidFill>
                  <a:srgbClr val="15133D"/>
                </a:solidFill>
                <a:latin typeface="メイリオ"/>
              </a:rPr>
              <a:t>すべてのユーザーに表示</a:t>
            </a:r>
          </a:p>
          <a:p>
            <a:pPr>
              <a:lnSpc>
                <a:spcPct val="110000"/>
              </a:lnSpc>
              <a:spcBef>
                <a:spcPts val="500"/>
              </a:spcBef>
            </a:pPr>
            <a:r>
              <a:rPr sz="1050">
                <a:solidFill>
                  <a:srgbClr val="333333"/>
                </a:solidFill>
                <a:latin typeface="メイリオ"/>
              </a:rPr>
              <a:t>※これまで対象外だったユーザーにもリーチ可能</a:t>
            </a:r>
          </a:p>
        </p:txBody>
      </p:sp>
      <p:sp>
        <p:nvSpPr>
          <p:cNvPr id="68" name="Rounded Rectangle 67"/>
          <p:cNvSpPr/>
          <p:nvPr/>
        </p:nvSpPr>
        <p:spPr>
          <a:xfrm>
            <a:off x="544108" y="4211960"/>
            <a:ext cx="4572000" cy="1371600"/>
          </a:xfrm>
          <a:prstGeom prst="roundRect">
            <a:avLst>
              <a:gd name="adj" fmla="val 6000"/>
            </a:avLst>
          </a:prstGeom>
          <a:solidFill>
            <a:srgbClr val="EAF0FA"/>
          </a:solidFill>
          <a:ln w="12700">
            <a:solidFill>
              <a:srgbClr val="3467B2"/>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182880"/>
          <a:lstStyle/>
          <a:p>
            <a:pPr algn="l"/>
            <a:r>
              <a:rPr sz="1700" b="1">
                <a:solidFill>
                  <a:srgbClr val="15133D"/>
                </a:solidFill>
                <a:latin typeface="メイリオ"/>
              </a:rPr>
              <a:t>届かなかった層にも自動でリーチ</a:t>
            </a:r>
          </a:p>
          <a:p>
            <a:pPr algn="l">
              <a:lnSpc>
                <a:spcPct val="115000"/>
              </a:lnSpc>
              <a:spcBef>
                <a:spcPts val="600"/>
              </a:spcBef>
            </a:pPr>
            <a:r>
              <a:rPr sz="1100">
                <a:solidFill>
                  <a:srgbClr val="333333"/>
                </a:solidFill>
                <a:latin typeface="メイリオ"/>
              </a:rPr>
              <a:t>表示対象が「一部」→「全ユーザー」に拡大されたことで、これまで接点を持てなかった層にも自動的にアプローチできる。</a:t>
            </a:r>
          </a:p>
        </p:txBody>
      </p:sp>
      <p:sp>
        <p:nvSpPr>
          <p:cNvPr id="69" name="Rounded Rectangle 68"/>
          <p:cNvSpPr/>
          <p:nvPr/>
        </p:nvSpPr>
        <p:spPr>
          <a:xfrm>
            <a:off x="5298988" y="4211960"/>
            <a:ext cx="4572000" cy="1371600"/>
          </a:xfrm>
          <a:prstGeom prst="roundRect">
            <a:avLst>
              <a:gd name="adj" fmla="val 6000"/>
            </a:avLst>
          </a:prstGeom>
          <a:solidFill>
            <a:srgbClr val="EAF0FA"/>
          </a:solidFill>
          <a:ln w="12700">
            <a:solidFill>
              <a:srgbClr val="3467B2"/>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182880"/>
          <a:lstStyle/>
          <a:p>
            <a:pPr algn="l"/>
            <a:r>
              <a:rPr sz="1700" b="1">
                <a:solidFill>
                  <a:srgbClr val="15133D"/>
                </a:solidFill>
                <a:latin typeface="メイリオ"/>
              </a:rPr>
              <a:t>設定変更・追加費用は一切不要</a:t>
            </a:r>
          </a:p>
          <a:p>
            <a:pPr algn="l">
              <a:lnSpc>
                <a:spcPct val="115000"/>
              </a:lnSpc>
              <a:spcBef>
                <a:spcPts val="600"/>
              </a:spcBef>
            </a:pPr>
            <a:r>
              <a:rPr sz="1100">
                <a:solidFill>
                  <a:srgbClr val="333333"/>
                </a:solidFill>
                <a:latin typeface="メイリオ"/>
              </a:rPr>
              <a:t>配信中の案件にも自動適用。広告主様・案件側での対応は一切不要で、即日から効果を享受できる。</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0" name="Google Shape;40;p3"/>
          <p:cNvSpPr/>
          <p:nvPr/>
        </p:nvSpPr>
        <p:spPr>
          <a:xfrm>
            <a:off x="292801" y="730955"/>
            <a:ext cx="1296144" cy="435690"/>
          </a:xfrm>
          <a:prstGeom prst="rect">
            <a:avLst/>
          </a:prstGeom>
          <a:solidFill>
            <a:schemeClr val="dk2"/>
          </a:solidFill>
          <a:ln cap="flat" cmpd="sng" w="9525">
            <a:solidFill>
              <a:srgbClr val="4A7DBA"/>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800" u="none" cap="none" strike="noStrike">
                <a:solidFill>
                  <a:schemeClr val="lt1"/>
                </a:solidFill>
                <a:latin typeface="メイリオ"/>
                <a:ea typeface="Meiryo"/>
                <a:cs typeface="Meiryo"/>
                <a:sym typeface="Meiryo"/>
              </a:rPr>
              <a:t>対象業界</a:t>
            </a:r>
            <a:endParaRPr/>
          </a:p>
        </p:txBody>
      </p:sp>
      <p:sp>
        <p:nvSpPr>
          <p:cNvPr id="41" name="Google Shape;41;p3"/>
          <p:cNvSpPr/>
          <p:nvPr/>
        </p:nvSpPr>
        <p:spPr>
          <a:xfrm>
            <a:off x="756084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200" u="none" cap="none" strike="noStrike">
                <a:solidFill>
                  <a:schemeClr val="dk1"/>
                </a:solidFill>
                <a:latin typeface="メイリオ"/>
                <a:ea typeface="Meiryo"/>
                <a:cs typeface="Meiryo"/>
                <a:sym typeface="Meiryo"/>
              </a:rPr>
              <a:t>その他</a:t>
            </a:r>
            <a:endParaRPr b="0" i="0" sz="1200" u="none" cap="none" strike="noStrike">
              <a:solidFill>
                <a:schemeClr val="dk1"/>
              </a:solidFill>
              <a:latin typeface="Meiryo"/>
              <a:ea typeface="Meiryo"/>
              <a:cs typeface="Meiryo"/>
              <a:sym typeface="Meiryo"/>
            </a:endParaRPr>
          </a:p>
        </p:txBody>
      </p:sp>
      <p:sp>
        <p:nvSpPr>
          <p:cNvPr id="42" name="Google Shape;42;p3"/>
          <p:cNvSpPr/>
          <p:nvPr/>
        </p:nvSpPr>
        <p:spPr>
          <a:xfrm>
            <a:off x="6679050" y="730955"/>
            <a:ext cx="829618" cy="435690"/>
          </a:xfrm>
          <a:prstGeom prst="rect">
            <a:avLst/>
          </a:prstGeom>
          <a:solidFill>
            <a:schemeClr val="tx2"/>
          </a:solidFill>
          <a:ln cap="flat" cmpd="sng" w="9525">
            <a:solidFill>
              <a:srgbClr val="4F81BD"/>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000" u="none" cap="none" strike="noStrike">
                <a:solidFill>
                  <a:schemeClr val="dk1"/>
                </a:solidFill>
                <a:latin typeface="メイリオ"/>
                <a:ea typeface="Meiryo"/>
                <a:cs typeface="Meiryo"/>
                <a:sym typeface="Meiryo"/>
              </a:rPr>
              <a:t>オプション</a:t>
            </a:r>
            <a:endParaRPr b="0" i="0" sz="1000" u="none" cap="none" strike="noStrike">
              <a:solidFill>
                <a:schemeClr val="dk1"/>
              </a:solidFill>
              <a:latin typeface="Meiryo"/>
              <a:ea typeface="Meiryo"/>
              <a:cs typeface="Meiryo"/>
              <a:sym typeface="Meiryo"/>
            </a:endParaRPr>
          </a:p>
          <a:p>
            <a:pPr indent="0" lvl="0" marL="0" marR="0" rtl="0" algn="ctr">
              <a:spcBef>
                <a:spcPts val="0"/>
              </a:spcBef>
              <a:spcAft>
                <a:spcPts val="0"/>
              </a:spcAft>
              <a:buNone/>
            </a:pPr>
            <a:r>
              <a:rPr b="0" i="0" lang="ja-JP" sz="1000" u="none" cap="none" strike="noStrike">
                <a:solidFill>
                  <a:schemeClr val="dk1"/>
                </a:solidFill>
                <a:latin typeface="メイリオ"/>
                <a:ea typeface="Meiryo"/>
                <a:cs typeface="Meiryo"/>
                <a:sym typeface="Meiryo"/>
              </a:rPr>
              <a:t>商材</a:t>
            </a:r>
            <a:endParaRPr/>
          </a:p>
        </p:txBody>
      </p:sp>
      <p:sp>
        <p:nvSpPr>
          <p:cNvPr id="43" name="Google Shape;43;p3"/>
          <p:cNvSpPr/>
          <p:nvPr/>
        </p:nvSpPr>
        <p:spPr>
          <a:xfrm>
            <a:off x="1594068" y="730955"/>
            <a:ext cx="2926883" cy="435690"/>
          </a:xfrm>
          <a:prstGeom prst="rect">
            <a:avLst/>
          </a:prstGeom>
          <a:noFill/>
          <a:ln cap="flat" cmpd="sng" w="9525">
            <a:solidFill>
              <a:srgbClr val="4A7DBA"/>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300" u="none" cap="none" strike="noStrike">
                <a:solidFill>
                  <a:schemeClr val="dk1"/>
                </a:solidFill>
                <a:latin typeface="メイリオ"/>
                <a:ea typeface="Meiryo"/>
                <a:cs typeface="Meiryo"/>
                <a:sym typeface="Meiryo"/>
              </a:rPr>
              <a:t>友だち獲得を強化したい全業種</a:t>
            </a:r>
            <a:endParaRPr/>
          </a:p>
        </p:txBody>
      </p:sp>
      <p:sp>
        <p:nvSpPr>
          <p:cNvPr id="44" name="Google Shape;44;p3"/>
          <p:cNvSpPr txBox="1"/>
          <p:nvPr/>
        </p:nvSpPr>
        <p:spPr>
          <a:xfrm>
            <a:off x="3296816" y="6597352"/>
            <a:ext cx="6209091" cy="2154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ja-JP" sz="800" u="none" cap="none" strike="noStrike">
                <a:solidFill>
                  <a:schemeClr val="lt1"/>
                </a:solidFill>
                <a:latin typeface="メイリオ"/>
                <a:ea typeface="Meiryo"/>
                <a:cs typeface="Meiryo"/>
                <a:sym typeface="Meiryo"/>
              </a:rPr>
              <a:t>出典：https://workers-hub.box.com/s/rgfhp6hxyusj7domi1irjx68jld23k9r</a:t>
            </a:r>
            <a:endParaRPr sz="800">
              <a:solidFill>
                <a:schemeClr val="lt1"/>
              </a:solidFill>
              <a:latin typeface="Meiryo"/>
              <a:ea typeface="Meiryo"/>
              <a:cs typeface="Meiryo"/>
              <a:sym typeface="Meiryo"/>
            </a:endParaRPr>
          </a:p>
        </p:txBody>
      </p:sp>
      <p:sp>
        <p:nvSpPr>
          <p:cNvPr id="45" name="Google Shape;45;p3"/>
          <p:cNvSpPr/>
          <p:nvPr/>
        </p:nvSpPr>
        <p:spPr>
          <a:xfrm>
            <a:off x="0" y="1234746"/>
            <a:ext cx="9906000" cy="672259"/>
          </a:xfrm>
          <a:prstGeom prst="rect">
            <a:avLst/>
          </a:prstGeom>
          <a:solidFill>
            <a:srgbClr val="C5D8F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b="1" lang="ja-JP" sz="1600">
                <a:solidFill>
                  <a:srgbClr val="004DE6"/>
                </a:solidFill>
                <a:latin typeface="メイリオ"/>
                <a:ea typeface="Meiryo"/>
                <a:cs typeface="Meiryo"/>
                <a:sym typeface="Meiryo"/>
              </a:rPr>
              <a:t>　　　　　　</a:t>
            </a:r>
            <a:endParaRPr b="1" sz="1800">
              <a:solidFill>
                <a:srgbClr val="004DE6"/>
              </a:solidFill>
              <a:latin typeface="Meiryo"/>
              <a:ea typeface="Meiryo"/>
              <a:cs typeface="Meiryo"/>
              <a:sym typeface="Meiryo"/>
            </a:endParaRPr>
          </a:p>
        </p:txBody>
      </p:sp>
      <p:sp>
        <p:nvSpPr>
          <p:cNvPr id="46" name="Google Shape;46;p3"/>
          <p:cNvSpPr/>
          <p:nvPr/>
        </p:nvSpPr>
        <p:spPr>
          <a:xfrm>
            <a:off x="1089832" y="1437370"/>
            <a:ext cx="7031520" cy="33855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ja-JP" sz="1600">
                <a:solidFill>
                  <a:srgbClr val="004DE6"/>
                </a:solidFill>
                <a:latin typeface="メイリオ"/>
                <a:ea typeface="Meiryo"/>
                <a:cs typeface="Meiryo"/>
                <a:sym typeface="Meiryo"/>
              </a:rPr>
              <a:t>【LINEプロモーションスタンプ】インパクト</a:t>
            </a:r>
            <a:endParaRPr b="1" sz="1600">
              <a:solidFill>
                <a:srgbClr val="004DE6"/>
              </a:solidFill>
              <a:latin typeface="Meiryo"/>
              <a:ea typeface="Meiryo"/>
              <a:cs typeface="Meiryo"/>
              <a:sym typeface="Meiryo"/>
            </a:endParaRPr>
          </a:p>
        </p:txBody>
      </p:sp>
      <p:sp>
        <p:nvSpPr>
          <p:cNvPr id="47" name="Google Shape;47;p3"/>
          <p:cNvSpPr txBox="1"/>
          <p:nvPr/>
        </p:nvSpPr>
        <p:spPr>
          <a:xfrm>
            <a:off x="182880" y="88175"/>
            <a:ext cx="7512385" cy="365091"/>
          </a:xfrm>
          <a:prstGeom prst="rect">
            <a:avLst/>
          </a:prstGeom>
          <a:noFill/>
          <a:ln>
            <a:noFill/>
          </a:ln>
        </p:spPr>
        <p:txBody>
          <a:bodyPr anchorCtr="0" anchor="t" bIns="45700" lIns="91425" spcFirstLastPara="1" rIns="91425" wrap="square" tIns="72000">
            <a:spAutoFit/>
          </a:bodyPr>
          <a:lstStyle/>
          <a:p>
            <a:pPr indent="0" lvl="0" marL="0" marR="0" rtl="0" algn="l">
              <a:spcBef>
                <a:spcPts val="0"/>
              </a:spcBef>
              <a:spcAft>
                <a:spcPts val="0"/>
              </a:spcAft>
              <a:buClr>
                <a:schemeClr val="dk1"/>
              </a:buClr>
              <a:buSzPts val="1600"/>
              <a:buFont typeface="Arial"/>
              <a:buNone/>
            </a:pPr>
            <a:r>
              <a:rPr b="0" lang="ja-JP" sz="1600" u="none">
                <a:solidFill>
                  <a:schemeClr val="dk1"/>
                </a:solidFill>
                <a:latin typeface="メイリオ"/>
                <a:ea typeface="Meiryo"/>
                <a:cs typeface="Meiryo"/>
                <a:sym typeface="Meiryo"/>
              </a:rPr>
              <a:t>    今後のアップデート情報</a:t>
            </a:r>
            <a:endParaRPr b="0" sz="1600" u="none">
              <a:solidFill>
                <a:schemeClr val="dk1"/>
              </a:solidFill>
              <a:latin typeface="Meiryo"/>
              <a:ea typeface="Meiryo"/>
              <a:cs typeface="Meiryo"/>
              <a:sym typeface="Meiryo"/>
            </a:endParaRPr>
          </a:p>
        </p:txBody>
      </p:sp>
      <p:sp>
        <p:nvSpPr>
          <p:cNvPr id="48" name="Google Shape;48;p3"/>
          <p:cNvSpPr/>
          <p:nvPr/>
        </p:nvSpPr>
        <p:spPr>
          <a:xfrm>
            <a:off x="579726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Clr>
                <a:schemeClr val="dk1"/>
              </a:buClr>
              <a:buSzPts val="1000"/>
              <a:buFont typeface="Meiryo"/>
              <a:buNone/>
            </a:pPr>
            <a:r>
              <a:rPr lang="ja-JP" sz="1000">
                <a:solidFill>
                  <a:schemeClr val="dk1"/>
                </a:solidFill>
                <a:latin typeface="メイリオ"/>
                <a:ea typeface="Meiryo"/>
                <a:cs typeface="Meiryo"/>
                <a:sym typeface="Meiryo"/>
              </a:rPr>
              <a:t>開発</a:t>
            </a:r>
            <a:endParaRPr sz="1000">
              <a:solidFill>
                <a:schemeClr val="dk1"/>
              </a:solidFill>
              <a:latin typeface="Meiryo"/>
              <a:ea typeface="Meiryo"/>
              <a:cs typeface="Meiryo"/>
              <a:sym typeface="Meiryo"/>
            </a:endParaRPr>
          </a:p>
          <a:p>
            <a:pPr indent="0" lvl="0" marL="0" marR="0" rtl="0" algn="ctr">
              <a:spcBef>
                <a:spcPts val="0"/>
              </a:spcBef>
              <a:spcAft>
                <a:spcPts val="0"/>
              </a:spcAft>
              <a:buClr>
                <a:schemeClr val="dk1"/>
              </a:buClr>
              <a:buSzPts val="1000"/>
              <a:buFont typeface="Meiryo"/>
              <a:buNone/>
            </a:pPr>
            <a:r>
              <a:rPr lang="ja-JP" sz="1000">
                <a:solidFill>
                  <a:schemeClr val="dk1"/>
                </a:solidFill>
                <a:latin typeface="メイリオ"/>
                <a:ea typeface="Meiryo"/>
                <a:cs typeface="Meiryo"/>
                <a:sym typeface="Meiryo"/>
              </a:rPr>
              <a:t>LINE API</a:t>
            </a:r>
            <a:endParaRPr sz="1000">
              <a:solidFill>
                <a:schemeClr val="dk1"/>
              </a:solidFill>
              <a:latin typeface="Meiryo"/>
              <a:ea typeface="Meiryo"/>
              <a:cs typeface="Meiryo"/>
              <a:sym typeface="Meiryo"/>
            </a:endParaRPr>
          </a:p>
        </p:txBody>
      </p:sp>
      <p:sp>
        <p:nvSpPr>
          <p:cNvPr id="49" name="Google Shape;49;p3"/>
          <p:cNvSpPr/>
          <p:nvPr/>
        </p:nvSpPr>
        <p:spPr>
          <a:xfrm>
            <a:off x="491547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lang="ja-JP" sz="1000">
                <a:solidFill>
                  <a:schemeClr val="dk1"/>
                </a:solidFill>
                <a:latin typeface="メイリオ"/>
                <a:ea typeface="Meiryo"/>
                <a:cs typeface="Meiryo"/>
                <a:sym typeface="Meiryo"/>
              </a:rPr>
              <a:t>LINE公式アカウント</a:t>
            </a:r>
            <a:endParaRPr sz="1000">
              <a:solidFill>
                <a:schemeClr val="dk1"/>
              </a:solidFill>
              <a:latin typeface="Meiryo"/>
              <a:ea typeface="Meiryo"/>
              <a:cs typeface="Meiryo"/>
              <a:sym typeface="Meiryo"/>
            </a:endParaRPr>
          </a:p>
        </p:txBody>
      </p:sp>
      <p:sp>
        <p:nvSpPr>
          <p:cNvPr id="50" name="Google Shape;50;p3"/>
          <p:cNvSpPr/>
          <p:nvPr/>
        </p:nvSpPr>
        <p:spPr>
          <a:xfrm>
            <a:off x="0" y="1890267"/>
            <a:ext cx="9906000" cy="733579"/>
          </a:xfrm>
          <a:prstGeom prst="rect">
            <a:avLst/>
          </a:prstGeom>
          <a:solidFill>
            <a:srgbClr val="F2F2F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a:latin typeface="メイリオ"/>
              </a:rPr>
              <a:t/>
            </a:r>
            <a:endParaRPr sz="1200">
              <a:solidFill>
                <a:schemeClr val="dk1"/>
              </a:solidFill>
              <a:latin typeface="Meiryo"/>
              <a:ea typeface="Meiryo"/>
              <a:cs typeface="Meiryo"/>
              <a:sym typeface="Meiryo"/>
            </a:endParaRPr>
          </a:p>
        </p:txBody>
      </p:sp>
      <p:sp>
        <p:nvSpPr>
          <p:cNvPr id="51" name="Google Shape;51;p3"/>
          <p:cNvSpPr/>
          <p:nvPr/>
        </p:nvSpPr>
        <p:spPr>
          <a:xfrm>
            <a:off x="544108" y="1961282"/>
            <a:ext cx="8817783" cy="646331"/>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lang="ja-JP" sz="1200">
                <a:solidFill>
                  <a:schemeClr val="dk1"/>
                </a:solidFill>
                <a:latin typeface="メイリオ"/>
                <a:ea typeface="Meiryo"/>
                <a:cs typeface="Meiryo"/>
                <a:sym typeface="Meiryo"/>
              </a:rPr>
              <a:t>LINEキーボードのサジェスト機能で無料スタンプが表示される条件を緩和し、</a:t>
            </a:r>
            <a:endParaRPr b="1" sz="1200">
              <a:solidFill>
                <a:schemeClr val="dk1"/>
              </a:solidFill>
              <a:latin typeface="Meiryo"/>
              <a:ea typeface="Meiryo"/>
              <a:cs typeface="Meiryo"/>
              <a:sym typeface="Meiryo"/>
            </a:endParaRPr>
          </a:p>
          <a:p>
            <a:pPr indent="0" lvl="0" marL="0" marR="0" rtl="0" algn="ctr">
              <a:spcBef>
                <a:spcPts val="0"/>
              </a:spcBef>
              <a:spcAft>
                <a:spcPts val="0"/>
              </a:spcAft>
              <a:buNone/>
            </a:pPr>
            <a:r>
              <a:rPr b="1" lang="ja-JP" sz="1200">
                <a:solidFill>
                  <a:schemeClr val="dk1"/>
                </a:solidFill>
                <a:latin typeface="メイリオ"/>
                <a:ea typeface="Meiryo"/>
                <a:cs typeface="Meiryo"/>
                <a:sym typeface="Meiryo"/>
              </a:rPr>
              <a:t>これまで一部だったユーザー表示が全ユーザーに拡大された。</a:t>
            </a:r>
            <a:endParaRPr/>
          </a:p>
          <a:p>
            <a:pPr indent="0" lvl="0" marL="0" marR="0" rtl="0" algn="ctr">
              <a:spcBef>
                <a:spcPts val="0"/>
              </a:spcBef>
              <a:spcAft>
                <a:spcPts val="0"/>
              </a:spcAft>
              <a:buNone/>
            </a:pPr>
            <a:r>
              <a:rPr b="1" lang="ja-JP" sz="1200">
                <a:solidFill>
                  <a:schemeClr val="dk1"/>
                </a:solidFill>
                <a:latin typeface="メイリオ"/>
                <a:ea typeface="Meiryo"/>
                <a:cs typeface="Meiryo"/>
                <a:sym typeface="Meiryo"/>
              </a:rPr>
              <a:t>適用開始は2026年8月28日、DL数は平均+5.63%増加している。</a:t>
            </a:r>
            <a:endParaRPr b="1" sz="1400">
              <a:solidFill>
                <a:schemeClr val="dk1"/>
              </a:solidFill>
              <a:latin typeface="Meiryo"/>
              <a:ea typeface="Meiryo"/>
              <a:cs typeface="Meiryo"/>
              <a:sym typeface="Meiryo"/>
            </a:endParaRPr>
          </a:p>
        </p:txBody>
      </p:sp>
      <p:sp>
        <p:nvSpPr>
          <p:cNvPr id="52" name="Google Shape;52;p3"/>
          <p:cNvSpPr/>
          <p:nvPr/>
        </p:nvSpPr>
        <p:spPr>
          <a:xfrm>
            <a:off x="351381" y="2714173"/>
            <a:ext cx="5200000" cy="33855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ja-JP" sz="1400">
                <a:solidFill>
                  <a:srgbClr val="15133D"/>
                </a:solidFill>
                <a:latin typeface="メイリオ"/>
                <a:ea typeface="Meiryo"/>
                <a:cs typeface="Meiryo"/>
                <a:sym typeface="Meiryo"/>
              </a:rPr>
              <a:t>■ 詳細</a:t>
            </a:r>
            <a:endParaRPr/>
          </a:p>
        </p:txBody>
      </p:sp>
      <p:grpSp>
        <p:nvGrpSpPr>
          <p:cNvPr id="53" name="Google Shape;53;p3"/>
          <p:cNvGrpSpPr/>
          <p:nvPr/>
        </p:nvGrpSpPr>
        <p:grpSpPr>
          <a:xfrm>
            <a:off x="8473303" y="730955"/>
            <a:ext cx="1376241" cy="1131930"/>
            <a:chOff x="0" y="0"/>
            <a:chExt cx="1376241" cy="1131930"/>
          </a:xfrm>
        </p:grpSpPr>
        <p:sp>
          <p:nvSpPr>
            <p:cNvPr id="54" name="Google Shape;54;p3"/>
            <p:cNvSpPr/>
            <p:nvPr/>
          </p:nvSpPr>
          <p:spPr>
            <a:xfrm rot="10800000">
              <a:off x="0" y="0"/>
              <a:ext cx="1376241" cy="282982"/>
            </a:xfrm>
            <a:prstGeom prst="trapezoid">
              <a:avLst>
                <a:gd fmla="val 60792" name="adj"/>
              </a:avLst>
            </a:prstGeom>
            <a:solidFill>
              <a:srgbClr val="EAEDF5"/>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 name="Google Shape;55;p3"/>
            <p:cNvSpPr txBox="1"/>
            <p:nvPr/>
          </p:nvSpPr>
          <p:spPr>
            <a:xfrm>
              <a:off x="240842" y="0"/>
              <a:ext cx="894556"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認知</a:t>
              </a:r>
              <a:endParaRPr/>
            </a:p>
          </p:txBody>
        </p:sp>
        <p:sp>
          <p:nvSpPr>
            <p:cNvPr id="56" name="Google Shape;56;p3"/>
            <p:cNvSpPr/>
            <p:nvPr/>
          </p:nvSpPr>
          <p:spPr>
            <a:xfrm rot="10800000">
              <a:off x="172030" y="282982"/>
              <a:ext cx="1032180" cy="282982"/>
            </a:xfrm>
            <a:prstGeom prst="trapezoid">
              <a:avLst>
                <a:gd fmla="val 60792" name="adj"/>
              </a:avLst>
            </a:prstGeom>
            <a:solidFill>
              <a:schemeClr val="lt1"/>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 name="Google Shape;57;p3"/>
            <p:cNvSpPr txBox="1"/>
            <p:nvPr/>
          </p:nvSpPr>
          <p:spPr>
            <a:xfrm>
              <a:off x="352661" y="282982"/>
              <a:ext cx="670917"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検討</a:t>
              </a:r>
              <a:endParaRPr/>
            </a:p>
          </p:txBody>
        </p:sp>
        <p:sp>
          <p:nvSpPr>
            <p:cNvPr id="58" name="Google Shape;58;p3"/>
            <p:cNvSpPr/>
            <p:nvPr/>
          </p:nvSpPr>
          <p:spPr>
            <a:xfrm rot="10800000">
              <a:off x="344060" y="565965"/>
              <a:ext cx="688120" cy="282982"/>
            </a:xfrm>
            <a:prstGeom prst="trapezoid">
              <a:avLst>
                <a:gd fmla="val 60792" name="adj"/>
              </a:avLst>
            </a:prstGeom>
            <a:solidFill>
              <a:schemeClr val="lt1"/>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 name="Google Shape;59;p3"/>
            <p:cNvSpPr txBox="1"/>
            <p:nvPr/>
          </p:nvSpPr>
          <p:spPr>
            <a:xfrm>
              <a:off x="464481" y="565965"/>
              <a:ext cx="447278"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獲得</a:t>
              </a:r>
              <a:endParaRPr/>
            </a:p>
          </p:txBody>
        </p:sp>
        <p:sp>
          <p:nvSpPr>
            <p:cNvPr id="60" name="Google Shape;60;p3"/>
            <p:cNvSpPr/>
            <p:nvPr/>
          </p:nvSpPr>
          <p:spPr>
            <a:xfrm rot="10800000">
              <a:off x="516090" y="848948"/>
              <a:ext cx="344060" cy="282982"/>
            </a:xfrm>
            <a:prstGeom prst="trapezoid">
              <a:avLst>
                <a:gd fmla="val 60792" name="adj"/>
              </a:avLst>
            </a:prstGeom>
            <a:no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 name="Google Shape;61;p3"/>
            <p:cNvSpPr txBox="1"/>
            <p:nvPr/>
          </p:nvSpPr>
          <p:spPr>
            <a:xfrm>
              <a:off x="516090" y="848948"/>
              <a:ext cx="344060"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伸長</a:t>
              </a:r>
              <a:endParaRPr/>
            </a:p>
          </p:txBody>
        </p:sp>
      </p:grpSp>
      <p:pic>
        <p:nvPicPr>
          <p:cNvPr descr="LINE公式アカウントのロゴの使用方法とは？種類やダウンロード方法、利用時の注意点を紹介 | Mico（ミコ）" id="62" name="Google Shape;62;p3"/>
          <p:cNvPicPr preferRelativeResize="0"/>
          <p:nvPr/>
        </p:nvPicPr>
        <p:blipFill rotWithShape="1">
          <a:blip r:embed="rId2">
            <a:alphaModFix/>
          </a:blip>
          <a:srcRect b="0" l="0" r="0" t="0"/>
          <a:stretch/>
        </p:blipFill>
        <p:spPr>
          <a:xfrm>
            <a:off x="351381" y="1234746"/>
            <a:ext cx="656177" cy="655521"/>
          </a:xfrm>
          <a:prstGeom prst="rect">
            <a:avLst/>
          </a:prstGeom>
          <a:noFill/>
          <a:ln>
            <a:noFill/>
          </a:ln>
        </p:spPr>
      </p:pic>
      <p:sp>
        <p:nvSpPr>
          <p:cNvPr id="63" name="Rounded Rectangle 62"/>
          <p:cNvSpPr/>
          <p:nvPr/>
        </p:nvSpPr>
        <p:spPr>
          <a:xfrm>
            <a:off x="544108" y="3068960"/>
            <a:ext cx="2228850" cy="1371600"/>
          </a:xfrm>
          <a:prstGeom prst="roundRect">
            <a:avLst>
              <a:gd name="adj" fmla="val 6000"/>
            </a:avLst>
          </a:prstGeom>
          <a:solidFill>
            <a:srgbClr val="EAF0FA"/>
          </a:solidFill>
          <a:ln w="12700">
            <a:solidFill>
              <a:srgbClr val="3467B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600" b="1">
                <a:solidFill>
                  <a:srgbClr val="15133D"/>
                </a:solidFill>
                <a:latin typeface="メイリオ"/>
              </a:rPr>
              <a:t>+5.63%</a:t>
            </a:r>
          </a:p>
          <a:p>
            <a:pPr algn="ctr">
              <a:spcBef>
                <a:spcPts val="200"/>
              </a:spcBef>
            </a:pPr>
            <a:r>
              <a:rPr sz="1100" b="1">
                <a:solidFill>
                  <a:srgbClr val="3467B2"/>
                </a:solidFill>
                <a:latin typeface="メイリオ"/>
              </a:rPr>
              <a:t>DL数</a:t>
            </a:r>
          </a:p>
          <a:p>
            <a:pPr algn="ctr">
              <a:spcBef>
                <a:spcPts val="200"/>
              </a:spcBef>
            </a:pPr>
            <a:r>
              <a:rPr sz="800">
                <a:solidFill>
                  <a:srgbClr val="333333"/>
                </a:solidFill>
                <a:latin typeface="メイリオ"/>
              </a:rPr>
              <a:t>全ダウンロード経路合計・現行条件比較</a:t>
            </a:r>
          </a:p>
        </p:txBody>
      </p:sp>
      <p:sp>
        <p:nvSpPr>
          <p:cNvPr id="64" name="Rounded Rectangle 63"/>
          <p:cNvSpPr/>
          <p:nvPr/>
        </p:nvSpPr>
        <p:spPr>
          <a:xfrm>
            <a:off x="2910118" y="3068960"/>
            <a:ext cx="2228850" cy="1371600"/>
          </a:xfrm>
          <a:prstGeom prst="roundRect">
            <a:avLst>
              <a:gd name="adj" fmla="val 6000"/>
            </a:avLst>
          </a:prstGeom>
          <a:solidFill>
            <a:srgbClr val="EAF0FA"/>
          </a:solidFill>
          <a:ln w="12700">
            <a:solidFill>
              <a:srgbClr val="3467B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600" b="1">
                <a:solidFill>
                  <a:srgbClr val="15133D"/>
                </a:solidFill>
                <a:latin typeface="メイリオ"/>
              </a:rPr>
              <a:t>74.6%</a:t>
            </a:r>
          </a:p>
          <a:p>
            <a:pPr algn="ctr">
              <a:spcBef>
                <a:spcPts val="200"/>
              </a:spcBef>
            </a:pPr>
            <a:r>
              <a:rPr sz="1100" b="1">
                <a:solidFill>
                  <a:srgbClr val="3467B2"/>
                </a:solidFill>
                <a:latin typeface="メイリオ"/>
              </a:rPr>
              <a:t>友だち追加率</a:t>
            </a:r>
          </a:p>
          <a:p>
            <a:pPr algn="ctr">
              <a:spcBef>
                <a:spcPts val="200"/>
              </a:spcBef>
            </a:pPr>
            <a:r>
              <a:rPr sz="800">
                <a:solidFill>
                  <a:srgbClr val="333333"/>
                </a:solidFill>
                <a:latin typeface="メイリオ"/>
              </a:rPr>
              <a:t>プロダクト平均約60%を上回る</a:t>
            </a:r>
          </a:p>
        </p:txBody>
      </p:sp>
      <p:sp>
        <p:nvSpPr>
          <p:cNvPr id="65" name="Rounded Rectangle 64"/>
          <p:cNvSpPr/>
          <p:nvPr/>
        </p:nvSpPr>
        <p:spPr>
          <a:xfrm>
            <a:off x="5276128" y="3068960"/>
            <a:ext cx="2228850" cy="1371600"/>
          </a:xfrm>
          <a:prstGeom prst="roundRect">
            <a:avLst>
              <a:gd name="adj" fmla="val 6000"/>
            </a:avLst>
          </a:prstGeom>
          <a:solidFill>
            <a:srgbClr val="EAF0FA"/>
          </a:solidFill>
          <a:ln w="12700">
            <a:solidFill>
              <a:srgbClr val="3467B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600" b="1">
                <a:solidFill>
                  <a:srgbClr val="15133D"/>
                </a:solidFill>
                <a:latin typeface="メイリオ"/>
              </a:rPr>
              <a:t>9.53%</a:t>
            </a:r>
          </a:p>
          <a:p>
            <a:pPr algn="ctr">
              <a:spcBef>
                <a:spcPts val="200"/>
              </a:spcBef>
            </a:pPr>
            <a:r>
              <a:rPr sz="1100" b="1">
                <a:solidFill>
                  <a:srgbClr val="3467B2"/>
                </a:solidFill>
                <a:latin typeface="メイリオ"/>
              </a:rPr>
              <a:t>当日ブロック率</a:t>
            </a:r>
          </a:p>
          <a:p>
            <a:pPr algn="ctr">
              <a:spcBef>
                <a:spcPts val="200"/>
              </a:spcBef>
            </a:pPr>
            <a:r>
              <a:rPr sz="800">
                <a:solidFill>
                  <a:srgbClr val="333333"/>
                </a:solidFill>
                <a:latin typeface="メイリオ"/>
              </a:rPr>
              <a:t>プロダクト平均約22%の半分以下</a:t>
            </a:r>
          </a:p>
        </p:txBody>
      </p:sp>
      <p:sp>
        <p:nvSpPr>
          <p:cNvPr id="66" name="Rounded Rectangle 65"/>
          <p:cNvSpPr/>
          <p:nvPr/>
        </p:nvSpPr>
        <p:spPr>
          <a:xfrm>
            <a:off x="7642138" y="3068960"/>
            <a:ext cx="2228850" cy="1371600"/>
          </a:xfrm>
          <a:prstGeom prst="roundRect">
            <a:avLst>
              <a:gd name="adj" fmla="val 6000"/>
            </a:avLst>
          </a:prstGeom>
          <a:solidFill>
            <a:srgbClr val="EAF0FA"/>
          </a:solidFill>
          <a:ln w="12700">
            <a:solidFill>
              <a:srgbClr val="3467B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600" b="1">
                <a:solidFill>
                  <a:srgbClr val="15133D"/>
                </a:solidFill>
                <a:latin typeface="メイリオ"/>
              </a:rPr>
              <a:t>約3.0倍</a:t>
            </a:r>
          </a:p>
          <a:p>
            <a:pPr algn="ctr">
              <a:spcBef>
                <a:spcPts val="200"/>
              </a:spcBef>
            </a:pPr>
            <a:r>
              <a:rPr sz="1100" b="1">
                <a:solidFill>
                  <a:srgbClr val="3467B2"/>
                </a:solidFill>
                <a:latin typeface="メイリオ"/>
              </a:rPr>
              <a:t>改善倍率（最大）</a:t>
            </a:r>
          </a:p>
          <a:p>
            <a:pPr algn="ctr">
              <a:spcBef>
                <a:spcPts val="200"/>
              </a:spcBef>
            </a:pPr>
            <a:r>
              <a:rPr sz="800">
                <a:solidFill>
                  <a:srgbClr val="333333"/>
                </a:solidFill>
                <a:latin typeface="メイリオ"/>
              </a:rPr>
              <a:t>過去6〜18ヶ月DLなし層</a:t>
            </a:r>
          </a:p>
        </p:txBody>
      </p:sp>
      <p:graphicFrame>
        <p:nvGraphicFramePr>
          <p:cNvPr id="67" name="Table 66"/>
          <p:cNvGraphicFramePr>
            <a:graphicFrameLocks noGrp="1"/>
          </p:cNvGraphicFramePr>
          <p:nvPr/>
        </p:nvGraphicFramePr>
        <p:xfrm>
          <a:off x="544108" y="4623440"/>
          <a:ext cx="9326880" cy="822960"/>
        </p:xfrm>
        <a:graphic>
          <a:graphicData uri="http://schemas.openxmlformats.org/drawingml/2006/table">
            <a:tbl>
              <a:tblPr firstRow="1" bandRow="1">
                <a:tableStyleId>{5C22544A-7EE6-4342-B048-85BDC9FD1C3A}</a:tableStyleId>
              </a:tblPr>
              <a:tblGrid>
                <a:gridCol w="2331720"/>
                <a:gridCol w="2331720"/>
                <a:gridCol w="2331720"/>
                <a:gridCol w="2331720"/>
              </a:tblGrid>
              <a:tr h="411480">
                <a:tc>
                  <a:txBody>
                    <a:bodyPr/>
                    <a:lstStyle/>
                    <a:p>
                      <a:pPr algn="ctr"/>
                      <a:r>
                        <a:rPr sz="900" b="1">
                          <a:solidFill>
                            <a:srgbClr val="FFFFFF"/>
                          </a:solidFill>
                          <a:latin typeface="メイリオ"/>
                        </a:rPr>
                        <a:t>過去3ヶ月以内にDL</a:t>
                      </a:r>
                    </a:p>
                  </a:txBody>
                  <a:tcPr anchor="ctr">
                    <a:solidFill>
                      <a:srgbClr val="15133D"/>
                    </a:solidFill>
                  </a:tcPr>
                </a:tc>
                <a:tc>
                  <a:txBody>
                    <a:bodyPr/>
                    <a:lstStyle/>
                    <a:p>
                      <a:pPr algn="ctr"/>
                      <a:r>
                        <a:rPr sz="900" b="1">
                          <a:solidFill>
                            <a:srgbClr val="FFFFFF"/>
                          </a:solidFill>
                          <a:latin typeface="メイリオ"/>
                        </a:rPr>
                        <a:t>過去3〜6ヶ月にDL</a:t>
                      </a:r>
                    </a:p>
                  </a:txBody>
                  <a:tcPr anchor="ctr">
                    <a:solidFill>
                      <a:srgbClr val="15133D"/>
                    </a:solidFill>
                  </a:tcPr>
                </a:tc>
                <a:tc>
                  <a:txBody>
                    <a:bodyPr/>
                    <a:lstStyle/>
                    <a:p>
                      <a:pPr algn="ctr"/>
                      <a:r>
                        <a:rPr sz="900" b="1">
                          <a:solidFill>
                            <a:srgbClr val="FFFFFF"/>
                          </a:solidFill>
                          <a:latin typeface="メイリオ"/>
                        </a:rPr>
                        <a:t>過去6〜18ヶ月にDL</a:t>
                      </a:r>
                    </a:p>
                  </a:txBody>
                  <a:tcPr anchor="ctr">
                    <a:solidFill>
                      <a:srgbClr val="15133D"/>
                    </a:solidFill>
                  </a:tcPr>
                </a:tc>
                <a:tc>
                  <a:txBody>
                    <a:bodyPr/>
                    <a:lstStyle/>
                    <a:p>
                      <a:pPr algn="ctr"/>
                      <a:r>
                        <a:rPr sz="900" b="1">
                          <a:solidFill>
                            <a:srgbClr val="FFFFFF"/>
                          </a:solidFill>
                          <a:latin typeface="メイリオ"/>
                        </a:rPr>
                        <a:t>過去18ヶ月以内DLなし</a:t>
                      </a:r>
                    </a:p>
                  </a:txBody>
                  <a:tcPr anchor="ctr">
                    <a:solidFill>
                      <a:srgbClr val="15133D"/>
                    </a:solidFill>
                  </a:tcPr>
                </a:tc>
              </a:tr>
              <a:tr h="411480">
                <a:tc>
                  <a:txBody>
                    <a:bodyPr/>
                    <a:lstStyle/>
                    <a:p>
                      <a:pPr algn="ctr"/>
                      <a:r>
                        <a:rPr sz="1400" b="1">
                          <a:solidFill>
                            <a:srgbClr val="15133D"/>
                          </a:solidFill>
                          <a:latin typeface="メイリオ"/>
                        </a:rPr>
                        <a:t>約1.7倍</a:t>
                      </a:r>
                    </a:p>
                  </a:txBody>
                  <a:tcPr anchor="ctr">
                    <a:solidFill>
                      <a:srgbClr val="EAF0FA"/>
                    </a:solidFill>
                  </a:tcPr>
                </a:tc>
                <a:tc>
                  <a:txBody>
                    <a:bodyPr/>
                    <a:lstStyle/>
                    <a:p>
                      <a:pPr algn="ctr"/>
                      <a:r>
                        <a:rPr sz="1400" b="1">
                          <a:solidFill>
                            <a:srgbClr val="15133D"/>
                          </a:solidFill>
                          <a:latin typeface="メイリオ"/>
                        </a:rPr>
                        <a:t>約2.8倍</a:t>
                      </a:r>
                    </a:p>
                  </a:txBody>
                  <a:tcPr anchor="ctr">
                    <a:solidFill>
                      <a:srgbClr val="EAF0FA"/>
                    </a:solidFill>
                  </a:tcPr>
                </a:tc>
                <a:tc>
                  <a:txBody>
                    <a:bodyPr/>
                    <a:lstStyle/>
                    <a:p>
                      <a:pPr algn="ctr"/>
                      <a:r>
                        <a:rPr sz="1400" b="1">
                          <a:solidFill>
                            <a:srgbClr val="15133D"/>
                          </a:solidFill>
                          <a:latin typeface="メイリオ"/>
                        </a:rPr>
                        <a:t>約3.0倍</a:t>
                      </a:r>
                    </a:p>
                  </a:txBody>
                  <a:tcPr anchor="ctr">
                    <a:solidFill>
                      <a:srgbClr val="EAF0FA"/>
                    </a:solidFill>
                  </a:tcPr>
                </a:tc>
                <a:tc>
                  <a:txBody>
                    <a:bodyPr/>
                    <a:lstStyle/>
                    <a:p>
                      <a:pPr algn="ctr"/>
                      <a:r>
                        <a:rPr sz="1400" b="1">
                          <a:solidFill>
                            <a:srgbClr val="15133D"/>
                          </a:solidFill>
                          <a:latin typeface="メイリオ"/>
                        </a:rPr>
                        <a:t>約2.1倍</a:t>
                      </a:r>
                    </a:p>
                  </a:txBody>
                  <a:tcPr anchor="ctr">
                    <a:solidFill>
                      <a:srgbClr val="EAF0FA"/>
                    </a:solidFill>
                  </a:tcPr>
                </a:tc>
              </a:tr>
            </a:tbl>
          </a:graphicData>
        </a:graphic>
      </p:graphicFrame>
      <p:sp>
        <p:nvSpPr>
          <p:cNvPr id="68" name="Rounded Rectangle 67"/>
          <p:cNvSpPr/>
          <p:nvPr/>
        </p:nvSpPr>
        <p:spPr>
          <a:xfrm>
            <a:off x="544108" y="5629280"/>
            <a:ext cx="9326880" cy="777240"/>
          </a:xfrm>
          <a:prstGeom prst="roundRect">
            <a:avLst>
              <a:gd name="adj" fmla="val 6000"/>
            </a:avLst>
          </a:prstGeom>
          <a:solidFill>
            <a:srgbClr val="EAF0FA"/>
          </a:solidFill>
          <a:ln w="12700">
            <a:solidFill>
              <a:srgbClr val="3467B2"/>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182880"/>
          <a:lstStyle/>
          <a:p>
            <a:pPr algn="l"/>
            <a:r>
              <a:rPr sz="1700" b="1">
                <a:solidFill>
                  <a:srgbClr val="15133D"/>
                </a:solidFill>
                <a:latin typeface="メイリオ"/>
              </a:rPr>
              <a:t>活用メリット</a:t>
            </a:r>
          </a:p>
          <a:p>
            <a:pPr algn="l">
              <a:lnSpc>
                <a:spcPct val="115000"/>
              </a:lnSpc>
              <a:spcBef>
                <a:spcPts val="600"/>
              </a:spcBef>
            </a:pPr>
            <a:r>
              <a:rPr sz="1100">
                <a:solidFill>
                  <a:srgbClr val="333333"/>
                </a:solidFill>
                <a:latin typeface="メイリオ"/>
              </a:rPr>
              <a:t>この実績数字を使って、運用中クライアントへの追加提案・実績報告ができる。</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0" name="Google Shape;40;p3"/>
          <p:cNvSpPr/>
          <p:nvPr/>
        </p:nvSpPr>
        <p:spPr>
          <a:xfrm>
            <a:off x="292801" y="730955"/>
            <a:ext cx="1296144" cy="435690"/>
          </a:xfrm>
          <a:prstGeom prst="rect">
            <a:avLst/>
          </a:prstGeom>
          <a:solidFill>
            <a:schemeClr val="dk2"/>
          </a:solidFill>
          <a:ln cap="flat" cmpd="sng" w="9525">
            <a:solidFill>
              <a:srgbClr val="4A7DBA"/>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800" u="none" cap="none" strike="noStrike">
                <a:solidFill>
                  <a:schemeClr val="lt1"/>
                </a:solidFill>
                <a:latin typeface="メイリオ"/>
                <a:ea typeface="Meiryo"/>
                <a:cs typeface="Meiryo"/>
                <a:sym typeface="Meiryo"/>
              </a:rPr>
              <a:t>対象業界</a:t>
            </a:r>
            <a:endParaRPr/>
          </a:p>
        </p:txBody>
      </p:sp>
      <p:sp>
        <p:nvSpPr>
          <p:cNvPr id="41" name="Google Shape;41;p3"/>
          <p:cNvSpPr/>
          <p:nvPr/>
        </p:nvSpPr>
        <p:spPr>
          <a:xfrm>
            <a:off x="756084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200" u="none" cap="none" strike="noStrike">
                <a:solidFill>
                  <a:schemeClr val="dk1"/>
                </a:solidFill>
                <a:latin typeface="メイリオ"/>
                <a:ea typeface="Meiryo"/>
                <a:cs typeface="Meiryo"/>
                <a:sym typeface="Meiryo"/>
              </a:rPr>
              <a:t>その他</a:t>
            </a:r>
            <a:endParaRPr b="0" i="0" sz="1200" u="none" cap="none" strike="noStrike">
              <a:solidFill>
                <a:schemeClr val="dk1"/>
              </a:solidFill>
              <a:latin typeface="Meiryo"/>
              <a:ea typeface="Meiryo"/>
              <a:cs typeface="Meiryo"/>
              <a:sym typeface="Meiryo"/>
            </a:endParaRPr>
          </a:p>
        </p:txBody>
      </p:sp>
      <p:sp>
        <p:nvSpPr>
          <p:cNvPr id="42" name="Google Shape;42;p3"/>
          <p:cNvSpPr/>
          <p:nvPr/>
        </p:nvSpPr>
        <p:spPr>
          <a:xfrm>
            <a:off x="667905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000" u="none" cap="none" strike="noStrike">
                <a:solidFill>
                  <a:schemeClr val="dk1"/>
                </a:solidFill>
                <a:latin typeface="メイリオ"/>
                <a:ea typeface="Meiryo"/>
                <a:cs typeface="Meiryo"/>
                <a:sym typeface="Meiryo"/>
              </a:rPr>
              <a:t>オプション</a:t>
            </a:r>
            <a:endParaRPr b="0" i="0" sz="1000" u="none" cap="none" strike="noStrike">
              <a:solidFill>
                <a:schemeClr val="dk1"/>
              </a:solidFill>
              <a:latin typeface="Meiryo"/>
              <a:ea typeface="Meiryo"/>
              <a:cs typeface="Meiryo"/>
              <a:sym typeface="Meiryo"/>
            </a:endParaRPr>
          </a:p>
          <a:p>
            <a:pPr indent="0" lvl="0" marL="0" marR="0" rtl="0" algn="ctr">
              <a:spcBef>
                <a:spcPts val="0"/>
              </a:spcBef>
              <a:spcAft>
                <a:spcPts val="0"/>
              </a:spcAft>
              <a:buNone/>
            </a:pPr>
            <a:r>
              <a:rPr b="0" i="0" lang="ja-JP" sz="1000" u="none" cap="none" strike="noStrike">
                <a:solidFill>
                  <a:schemeClr val="dk1"/>
                </a:solidFill>
                <a:latin typeface="メイリオ"/>
                <a:ea typeface="Meiryo"/>
                <a:cs typeface="Meiryo"/>
                <a:sym typeface="Meiryo"/>
              </a:rPr>
              <a:t>商材</a:t>
            </a:r>
            <a:endParaRPr/>
          </a:p>
        </p:txBody>
      </p:sp>
      <p:sp>
        <p:nvSpPr>
          <p:cNvPr id="43" name="Google Shape;43;p3"/>
          <p:cNvSpPr/>
          <p:nvPr/>
        </p:nvSpPr>
        <p:spPr>
          <a:xfrm>
            <a:off x="1594068" y="730955"/>
            <a:ext cx="2926883" cy="435690"/>
          </a:xfrm>
          <a:prstGeom prst="rect">
            <a:avLst/>
          </a:prstGeom>
          <a:noFill/>
          <a:ln cap="flat" cmpd="sng" w="9525">
            <a:solidFill>
              <a:srgbClr val="4A7DBA"/>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300" u="none" cap="none" strike="noStrike">
                <a:solidFill>
                  <a:schemeClr val="dk1"/>
                </a:solidFill>
                <a:latin typeface="メイリオ"/>
                <a:ea typeface="Meiryo"/>
                <a:cs typeface="Meiryo"/>
                <a:sym typeface="Meiryo"/>
              </a:rPr>
              <a:t>複数店舗・複数ブランドを運営する全業種</a:t>
            </a:r>
            <a:endParaRPr/>
          </a:p>
        </p:txBody>
      </p:sp>
      <p:sp>
        <p:nvSpPr>
          <p:cNvPr id="44" name="Google Shape;44;p3"/>
          <p:cNvSpPr txBox="1"/>
          <p:nvPr/>
        </p:nvSpPr>
        <p:spPr>
          <a:xfrm>
            <a:off x="3296816" y="6597352"/>
            <a:ext cx="6209091" cy="2154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ja-JP" sz="800" u="none" cap="none" strike="noStrike">
                <a:solidFill>
                  <a:schemeClr val="lt1"/>
                </a:solidFill>
                <a:latin typeface="メイリオ"/>
                <a:ea typeface="Meiryo"/>
                <a:cs typeface="Meiryo"/>
                <a:sym typeface="Meiryo"/>
              </a:rPr>
              <a:t>出典：https://workers-hub.box.com/s/ko2jjwgxk5fs18ejrs97fvfqv3bm3089</a:t>
            </a:r>
            <a:endParaRPr sz="800">
              <a:solidFill>
                <a:schemeClr val="lt1"/>
              </a:solidFill>
              <a:latin typeface="Meiryo"/>
              <a:ea typeface="Meiryo"/>
              <a:cs typeface="Meiryo"/>
              <a:sym typeface="Meiryo"/>
            </a:endParaRPr>
          </a:p>
        </p:txBody>
      </p:sp>
      <p:sp>
        <p:nvSpPr>
          <p:cNvPr id="45" name="Google Shape;45;p3"/>
          <p:cNvSpPr/>
          <p:nvPr/>
        </p:nvSpPr>
        <p:spPr>
          <a:xfrm>
            <a:off x="0" y="1234746"/>
            <a:ext cx="9906000" cy="672259"/>
          </a:xfrm>
          <a:prstGeom prst="rect">
            <a:avLst/>
          </a:prstGeom>
          <a:solidFill>
            <a:srgbClr val="C5D8F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b="1" lang="ja-JP" sz="1600">
                <a:solidFill>
                  <a:srgbClr val="004DE6"/>
                </a:solidFill>
                <a:latin typeface="メイリオ"/>
                <a:ea typeface="Meiryo"/>
                <a:cs typeface="Meiryo"/>
                <a:sym typeface="Meiryo"/>
              </a:rPr>
              <a:t>　　　　　　</a:t>
            </a:r>
            <a:endParaRPr b="1" sz="1800">
              <a:solidFill>
                <a:srgbClr val="004DE6"/>
              </a:solidFill>
              <a:latin typeface="Meiryo"/>
              <a:ea typeface="Meiryo"/>
              <a:cs typeface="Meiryo"/>
              <a:sym typeface="Meiryo"/>
            </a:endParaRPr>
          </a:p>
        </p:txBody>
      </p:sp>
      <p:sp>
        <p:nvSpPr>
          <p:cNvPr id="46" name="Google Shape;46;p3"/>
          <p:cNvSpPr/>
          <p:nvPr/>
        </p:nvSpPr>
        <p:spPr>
          <a:xfrm>
            <a:off x="1089832" y="1437370"/>
            <a:ext cx="7031520" cy="33855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ja-JP" sz="1600">
                <a:solidFill>
                  <a:srgbClr val="004DE6"/>
                </a:solidFill>
                <a:latin typeface="メイリオ"/>
                <a:ea typeface="Meiryo"/>
                <a:cs typeface="Meiryo"/>
                <a:sym typeface="Meiryo"/>
              </a:rPr>
              <a:t>【LINEミニアプリ】友だち追加オプションの複数アカウント対応</a:t>
            </a:r>
            <a:endParaRPr b="1" sz="1600">
              <a:solidFill>
                <a:srgbClr val="004DE6"/>
              </a:solidFill>
              <a:latin typeface="Meiryo"/>
              <a:ea typeface="Meiryo"/>
              <a:cs typeface="Meiryo"/>
              <a:sym typeface="Meiryo"/>
            </a:endParaRPr>
          </a:p>
        </p:txBody>
      </p:sp>
      <p:sp>
        <p:nvSpPr>
          <p:cNvPr id="47" name="Google Shape;47;p3"/>
          <p:cNvSpPr txBox="1"/>
          <p:nvPr/>
        </p:nvSpPr>
        <p:spPr>
          <a:xfrm>
            <a:off x="182880" y="88175"/>
            <a:ext cx="7512385" cy="365091"/>
          </a:xfrm>
          <a:prstGeom prst="rect">
            <a:avLst/>
          </a:prstGeom>
          <a:noFill/>
          <a:ln>
            <a:noFill/>
          </a:ln>
        </p:spPr>
        <p:txBody>
          <a:bodyPr anchorCtr="0" anchor="t" bIns="45700" lIns="91425" spcFirstLastPara="1" rIns="91425" wrap="square" tIns="72000">
            <a:spAutoFit/>
          </a:bodyPr>
          <a:lstStyle/>
          <a:p>
            <a:pPr indent="0" lvl="0" marL="0" marR="0" rtl="0" algn="l">
              <a:spcBef>
                <a:spcPts val="0"/>
              </a:spcBef>
              <a:spcAft>
                <a:spcPts val="0"/>
              </a:spcAft>
              <a:buClr>
                <a:schemeClr val="dk1"/>
              </a:buClr>
              <a:buSzPts val="1600"/>
              <a:buFont typeface="Arial"/>
              <a:buNone/>
            </a:pPr>
            <a:r>
              <a:rPr b="0" lang="ja-JP" sz="1600" u="none">
                <a:solidFill>
                  <a:schemeClr val="dk1"/>
                </a:solidFill>
                <a:latin typeface="メイリオ"/>
                <a:ea typeface="Meiryo"/>
                <a:cs typeface="Meiryo"/>
                <a:sym typeface="Meiryo"/>
              </a:rPr>
              <a:t>    今後のアップデート情報</a:t>
            </a:r>
            <a:endParaRPr b="0" sz="1600" u="none">
              <a:solidFill>
                <a:schemeClr val="dk1"/>
              </a:solidFill>
              <a:latin typeface="Meiryo"/>
              <a:ea typeface="Meiryo"/>
              <a:cs typeface="Meiryo"/>
              <a:sym typeface="Meiryo"/>
            </a:endParaRPr>
          </a:p>
        </p:txBody>
      </p:sp>
      <p:sp>
        <p:nvSpPr>
          <p:cNvPr id="48" name="Google Shape;48;p3"/>
          <p:cNvSpPr/>
          <p:nvPr/>
        </p:nvSpPr>
        <p:spPr>
          <a:xfrm>
            <a:off x="579726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Clr>
                <a:schemeClr val="dk1"/>
              </a:buClr>
              <a:buSzPts val="1000"/>
              <a:buFont typeface="Meiryo"/>
              <a:buNone/>
            </a:pPr>
            <a:r>
              <a:rPr lang="ja-JP" sz="1000">
                <a:solidFill>
                  <a:schemeClr val="dk1"/>
                </a:solidFill>
                <a:latin typeface="メイリオ"/>
                <a:ea typeface="Meiryo"/>
                <a:cs typeface="Meiryo"/>
                <a:sym typeface="Meiryo"/>
              </a:rPr>
              <a:t>開発</a:t>
            </a:r>
            <a:endParaRPr sz="1000">
              <a:solidFill>
                <a:schemeClr val="dk1"/>
              </a:solidFill>
              <a:latin typeface="Meiryo"/>
              <a:ea typeface="Meiryo"/>
              <a:cs typeface="Meiryo"/>
              <a:sym typeface="Meiryo"/>
            </a:endParaRPr>
          </a:p>
          <a:p>
            <a:pPr indent="0" lvl="0" marL="0" marR="0" rtl="0" algn="ctr">
              <a:spcBef>
                <a:spcPts val="0"/>
              </a:spcBef>
              <a:spcAft>
                <a:spcPts val="0"/>
              </a:spcAft>
              <a:buClr>
                <a:schemeClr val="dk1"/>
              </a:buClr>
              <a:buSzPts val="1000"/>
              <a:buFont typeface="Meiryo"/>
              <a:buNone/>
            </a:pPr>
            <a:r>
              <a:rPr lang="ja-JP" sz="1000">
                <a:solidFill>
                  <a:schemeClr val="dk1"/>
                </a:solidFill>
                <a:latin typeface="メイリオ"/>
                <a:ea typeface="Meiryo"/>
                <a:cs typeface="Meiryo"/>
                <a:sym typeface="Meiryo"/>
              </a:rPr>
              <a:t>LINE API</a:t>
            </a:r>
            <a:endParaRPr sz="1000">
              <a:solidFill>
                <a:schemeClr val="dk1"/>
              </a:solidFill>
              <a:latin typeface="Meiryo"/>
              <a:ea typeface="Meiryo"/>
              <a:cs typeface="Meiryo"/>
              <a:sym typeface="Meiryo"/>
            </a:endParaRPr>
          </a:p>
        </p:txBody>
      </p:sp>
      <p:sp>
        <p:nvSpPr>
          <p:cNvPr id="49" name="Google Shape;49;p3"/>
          <p:cNvSpPr/>
          <p:nvPr/>
        </p:nvSpPr>
        <p:spPr>
          <a:xfrm>
            <a:off x="4915470" y="730955"/>
            <a:ext cx="829618" cy="435690"/>
          </a:xfrm>
          <a:prstGeom prst="rect">
            <a:avLst/>
          </a:prstGeom>
          <a:solidFill>
            <a:schemeClr val="tx2"/>
          </a:solidFill>
          <a:ln cap="flat" cmpd="sng" w="9525">
            <a:solidFill>
              <a:srgbClr val="4F81BD"/>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lang="ja-JP" sz="1000">
                <a:solidFill>
                  <a:schemeClr val="dk1"/>
                </a:solidFill>
                <a:latin typeface="メイリオ"/>
                <a:ea typeface="Meiryo"/>
                <a:cs typeface="Meiryo"/>
                <a:sym typeface="Meiryo"/>
              </a:rPr>
              <a:t>LINE公式アカウント</a:t>
            </a:r>
            <a:endParaRPr sz="1000">
              <a:solidFill>
                <a:schemeClr val="dk1"/>
              </a:solidFill>
              <a:latin typeface="Meiryo"/>
              <a:ea typeface="Meiryo"/>
              <a:cs typeface="Meiryo"/>
              <a:sym typeface="Meiryo"/>
            </a:endParaRPr>
          </a:p>
        </p:txBody>
      </p:sp>
      <p:sp>
        <p:nvSpPr>
          <p:cNvPr id="50" name="Google Shape;50;p3"/>
          <p:cNvSpPr/>
          <p:nvPr/>
        </p:nvSpPr>
        <p:spPr>
          <a:xfrm>
            <a:off x="0" y="1890267"/>
            <a:ext cx="9906000" cy="733579"/>
          </a:xfrm>
          <a:prstGeom prst="rect">
            <a:avLst/>
          </a:prstGeom>
          <a:solidFill>
            <a:srgbClr val="F2F2F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a:latin typeface="メイリオ"/>
              </a:rPr>
              <a:t/>
            </a:r>
            <a:endParaRPr sz="1200">
              <a:solidFill>
                <a:schemeClr val="dk1"/>
              </a:solidFill>
              <a:latin typeface="Meiryo"/>
              <a:ea typeface="Meiryo"/>
              <a:cs typeface="Meiryo"/>
              <a:sym typeface="Meiryo"/>
            </a:endParaRPr>
          </a:p>
        </p:txBody>
      </p:sp>
      <p:sp>
        <p:nvSpPr>
          <p:cNvPr id="51" name="Google Shape;51;p3"/>
          <p:cNvSpPr/>
          <p:nvPr/>
        </p:nvSpPr>
        <p:spPr>
          <a:xfrm>
            <a:off x="544108" y="1961282"/>
            <a:ext cx="8817783" cy="646331"/>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lang="ja-JP" sz="1200">
                <a:solidFill>
                  <a:schemeClr val="dk1"/>
                </a:solidFill>
                <a:latin typeface="メイリオ"/>
                <a:ea typeface="Meiryo"/>
                <a:cs typeface="Meiryo"/>
                <a:sym typeface="Meiryo"/>
              </a:rPr>
              <a:t>1つのLINEミニアプリに連携するLINE公式アカウントが、これまでの1つ限定から</a:t>
            </a:r>
            <a:endParaRPr b="1" sz="1200">
              <a:solidFill>
                <a:schemeClr val="dk1"/>
              </a:solidFill>
              <a:latin typeface="Meiryo"/>
              <a:ea typeface="Meiryo"/>
              <a:cs typeface="Meiryo"/>
              <a:sym typeface="Meiryo"/>
            </a:endParaRPr>
          </a:p>
          <a:p>
            <a:pPr indent="0" lvl="0" marL="0" marR="0" rtl="0" algn="ctr">
              <a:spcBef>
                <a:spcPts val="0"/>
              </a:spcBef>
              <a:spcAft>
                <a:spcPts val="0"/>
              </a:spcAft>
              <a:buNone/>
            </a:pPr>
            <a:r>
              <a:rPr b="1" lang="ja-JP" sz="1200">
                <a:solidFill>
                  <a:schemeClr val="dk1"/>
                </a:solidFill>
                <a:latin typeface="メイリオ"/>
                <a:ea typeface="Meiryo"/>
                <a:cs typeface="Meiryo"/>
                <a:sym typeface="Meiryo"/>
              </a:rPr>
              <a:t>複数設定できるようになる。流入経路ごとに異なる公式アカウントへ友だち追加を誘導可能に。</a:t>
            </a:r>
            <a:endParaRPr/>
          </a:p>
          <a:p>
            <a:pPr indent="0" lvl="0" marL="0" marR="0" rtl="0" algn="ctr">
              <a:spcBef>
                <a:spcPts val="0"/>
              </a:spcBef>
              <a:spcAft>
                <a:spcPts val="0"/>
              </a:spcAft>
              <a:buNone/>
            </a:pPr>
            <a:r>
              <a:rPr b="1" lang="ja-JP" sz="1200">
                <a:solidFill>
                  <a:schemeClr val="dk1"/>
                </a:solidFill>
                <a:latin typeface="メイリオ"/>
                <a:ea typeface="Meiryo"/>
                <a:cs typeface="Meiryo"/>
                <a:sym typeface="Meiryo"/>
              </a:rPr>
              <a:t>リリース予定日は2026年9月2日。</a:t>
            </a:r>
            <a:endParaRPr b="1" sz="1400">
              <a:solidFill>
                <a:schemeClr val="dk1"/>
              </a:solidFill>
              <a:latin typeface="Meiryo"/>
              <a:ea typeface="Meiryo"/>
              <a:cs typeface="Meiryo"/>
              <a:sym typeface="Meiryo"/>
            </a:endParaRPr>
          </a:p>
        </p:txBody>
      </p:sp>
      <p:sp>
        <p:nvSpPr>
          <p:cNvPr id="52" name="Google Shape;52;p3"/>
          <p:cNvSpPr/>
          <p:nvPr/>
        </p:nvSpPr>
        <p:spPr>
          <a:xfrm>
            <a:off x="351381" y="2714173"/>
            <a:ext cx="5200000" cy="33855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ja-JP" sz="1400">
                <a:solidFill>
                  <a:srgbClr val="15133D"/>
                </a:solidFill>
                <a:latin typeface="メイリオ"/>
                <a:ea typeface="Meiryo"/>
                <a:cs typeface="Meiryo"/>
                <a:sym typeface="Meiryo"/>
              </a:rPr>
              <a:t>■ 詳細</a:t>
            </a:r>
            <a:endParaRPr/>
          </a:p>
        </p:txBody>
      </p:sp>
      <p:grpSp>
        <p:nvGrpSpPr>
          <p:cNvPr id="53" name="Google Shape;53;p3"/>
          <p:cNvGrpSpPr/>
          <p:nvPr/>
        </p:nvGrpSpPr>
        <p:grpSpPr>
          <a:xfrm>
            <a:off x="8473303" y="730955"/>
            <a:ext cx="1376241" cy="1131930"/>
            <a:chOff x="0" y="0"/>
            <a:chExt cx="1376241" cy="1131930"/>
          </a:xfrm>
        </p:grpSpPr>
        <p:sp>
          <p:nvSpPr>
            <p:cNvPr id="54" name="Google Shape;54;p3"/>
            <p:cNvSpPr/>
            <p:nvPr/>
          </p:nvSpPr>
          <p:spPr>
            <a:xfrm rot="10800000">
              <a:off x="0" y="0"/>
              <a:ext cx="1376241" cy="282982"/>
            </a:xfrm>
            <a:prstGeom prst="trapezoid">
              <a:avLst>
                <a:gd fmla="val 60792" name="adj"/>
              </a:avLst>
            </a:prstGeom>
            <a:solidFill>
              <a:srgbClr val="EAEDF5"/>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 name="Google Shape;55;p3"/>
            <p:cNvSpPr txBox="1"/>
            <p:nvPr/>
          </p:nvSpPr>
          <p:spPr>
            <a:xfrm>
              <a:off x="240842" y="0"/>
              <a:ext cx="894556"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認知</a:t>
              </a:r>
              <a:endParaRPr/>
            </a:p>
          </p:txBody>
        </p:sp>
        <p:sp>
          <p:nvSpPr>
            <p:cNvPr id="56" name="Google Shape;56;p3"/>
            <p:cNvSpPr/>
            <p:nvPr/>
          </p:nvSpPr>
          <p:spPr>
            <a:xfrm rot="10800000">
              <a:off x="172030" y="282982"/>
              <a:ext cx="1032180" cy="282982"/>
            </a:xfrm>
            <a:prstGeom prst="trapezoid">
              <a:avLst>
                <a:gd fmla="val 60792" name="adj"/>
              </a:avLst>
            </a:prstGeom>
            <a:solidFill>
              <a:schemeClr val="lt1"/>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 name="Google Shape;57;p3"/>
            <p:cNvSpPr txBox="1"/>
            <p:nvPr/>
          </p:nvSpPr>
          <p:spPr>
            <a:xfrm>
              <a:off x="352661" y="282982"/>
              <a:ext cx="670917"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検討</a:t>
              </a:r>
              <a:endParaRPr/>
            </a:p>
          </p:txBody>
        </p:sp>
        <p:sp>
          <p:nvSpPr>
            <p:cNvPr id="58" name="Google Shape;58;p3"/>
            <p:cNvSpPr/>
            <p:nvPr/>
          </p:nvSpPr>
          <p:spPr>
            <a:xfrm rot="10800000">
              <a:off x="344060" y="565965"/>
              <a:ext cx="688120" cy="282982"/>
            </a:xfrm>
            <a:prstGeom prst="trapezoid">
              <a:avLst>
                <a:gd fmla="val 60792" name="adj"/>
              </a:avLst>
            </a:prstGeom>
            <a:solidFill>
              <a:schemeClr val="lt1"/>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 name="Google Shape;59;p3"/>
            <p:cNvSpPr txBox="1"/>
            <p:nvPr/>
          </p:nvSpPr>
          <p:spPr>
            <a:xfrm>
              <a:off x="464481" y="565965"/>
              <a:ext cx="447278"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獲得</a:t>
              </a:r>
              <a:endParaRPr/>
            </a:p>
          </p:txBody>
        </p:sp>
        <p:sp>
          <p:nvSpPr>
            <p:cNvPr id="60" name="Google Shape;60;p3"/>
            <p:cNvSpPr/>
            <p:nvPr/>
          </p:nvSpPr>
          <p:spPr>
            <a:xfrm rot="10800000">
              <a:off x="516090" y="848948"/>
              <a:ext cx="344060" cy="282982"/>
            </a:xfrm>
            <a:prstGeom prst="trapezoid">
              <a:avLst>
                <a:gd fmla="val 60792" name="adj"/>
              </a:avLst>
            </a:prstGeom>
            <a:no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 name="Google Shape;61;p3"/>
            <p:cNvSpPr txBox="1"/>
            <p:nvPr/>
          </p:nvSpPr>
          <p:spPr>
            <a:xfrm>
              <a:off x="516090" y="848948"/>
              <a:ext cx="344060"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伸長</a:t>
              </a:r>
              <a:endParaRPr/>
            </a:p>
          </p:txBody>
        </p:sp>
      </p:grpSp>
      <p:pic>
        <p:nvPicPr>
          <p:cNvPr descr="LINE公式アカウントのロゴの使用方法とは？種類やダウンロード方法、利用時の注意点を紹介 | Mico（ミコ）" id="62" name="Google Shape;62;p3"/>
          <p:cNvPicPr preferRelativeResize="0"/>
          <p:nvPr/>
        </p:nvPicPr>
        <p:blipFill rotWithShape="1">
          <a:blip r:embed="rId2">
            <a:alphaModFix/>
          </a:blip>
          <a:srcRect b="0" l="0" r="0" t="0"/>
          <a:stretch/>
        </p:blipFill>
        <p:spPr>
          <a:xfrm>
            <a:off x="351381" y="1234746"/>
            <a:ext cx="656177" cy="655521"/>
          </a:xfrm>
          <a:prstGeom prst="rect">
            <a:avLst/>
          </a:prstGeom>
          <a:noFill/>
          <a:ln>
            <a:noFill/>
          </a:ln>
        </p:spPr>
      </p:pic>
      <p:pic>
        <p:nvPicPr>
          <p:cNvPr id="63" name="Picture 62" descr="topic4.png"/>
          <p:cNvPicPr>
            <a:picLocks noChangeAspect="1"/>
          </p:cNvPicPr>
          <p:nvPr/>
        </p:nvPicPr>
        <p:blipFill>
          <a:blip r:embed="rId3"/>
          <a:stretch>
            <a:fillRect/>
          </a:stretch>
        </p:blipFill>
        <p:spPr>
          <a:xfrm>
            <a:off x="2161168" y="3068960"/>
            <a:ext cx="6092760" cy="3429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0" name="Google Shape;40;p3"/>
          <p:cNvSpPr/>
          <p:nvPr/>
        </p:nvSpPr>
        <p:spPr>
          <a:xfrm>
            <a:off x="292801" y="730955"/>
            <a:ext cx="1296144" cy="435690"/>
          </a:xfrm>
          <a:prstGeom prst="rect">
            <a:avLst/>
          </a:prstGeom>
          <a:solidFill>
            <a:schemeClr val="dk2"/>
          </a:solidFill>
          <a:ln cap="flat" cmpd="sng" w="9525">
            <a:solidFill>
              <a:srgbClr val="4A7DBA"/>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800" u="none" cap="none" strike="noStrike">
                <a:solidFill>
                  <a:schemeClr val="lt1"/>
                </a:solidFill>
                <a:latin typeface="メイリオ"/>
                <a:ea typeface="Meiryo"/>
                <a:cs typeface="Meiryo"/>
                <a:sym typeface="Meiryo"/>
              </a:rPr>
              <a:t>対象業界</a:t>
            </a:r>
            <a:endParaRPr/>
          </a:p>
        </p:txBody>
      </p:sp>
      <p:sp>
        <p:nvSpPr>
          <p:cNvPr id="41" name="Google Shape;41;p3"/>
          <p:cNvSpPr/>
          <p:nvPr/>
        </p:nvSpPr>
        <p:spPr>
          <a:xfrm>
            <a:off x="756084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200" u="none" cap="none" strike="noStrike">
                <a:solidFill>
                  <a:schemeClr val="dk1"/>
                </a:solidFill>
                <a:latin typeface="メイリオ"/>
                <a:ea typeface="Meiryo"/>
                <a:cs typeface="Meiryo"/>
                <a:sym typeface="Meiryo"/>
              </a:rPr>
              <a:t>その他</a:t>
            </a:r>
            <a:endParaRPr b="0" i="0" sz="1200" u="none" cap="none" strike="noStrike">
              <a:solidFill>
                <a:schemeClr val="dk1"/>
              </a:solidFill>
              <a:latin typeface="Meiryo"/>
              <a:ea typeface="Meiryo"/>
              <a:cs typeface="Meiryo"/>
              <a:sym typeface="Meiryo"/>
            </a:endParaRPr>
          </a:p>
        </p:txBody>
      </p:sp>
      <p:sp>
        <p:nvSpPr>
          <p:cNvPr id="42" name="Google Shape;42;p3"/>
          <p:cNvSpPr/>
          <p:nvPr/>
        </p:nvSpPr>
        <p:spPr>
          <a:xfrm>
            <a:off x="6679050" y="730955"/>
            <a:ext cx="829618" cy="435690"/>
          </a:xfrm>
          <a:prstGeom prst="rect">
            <a:avLst/>
          </a:prstGeom>
          <a:solidFill>
            <a:schemeClr val="tx2"/>
          </a:solidFill>
          <a:ln cap="flat" cmpd="sng" w="9525">
            <a:solidFill>
              <a:srgbClr val="4F81BD"/>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000" u="none" cap="none" strike="noStrike">
                <a:solidFill>
                  <a:schemeClr val="dk1"/>
                </a:solidFill>
                <a:latin typeface="メイリオ"/>
                <a:ea typeface="Meiryo"/>
                <a:cs typeface="Meiryo"/>
                <a:sym typeface="Meiryo"/>
              </a:rPr>
              <a:t>オプション</a:t>
            </a:r>
            <a:endParaRPr b="0" i="0" sz="1000" u="none" cap="none" strike="noStrike">
              <a:solidFill>
                <a:schemeClr val="dk1"/>
              </a:solidFill>
              <a:latin typeface="Meiryo"/>
              <a:ea typeface="Meiryo"/>
              <a:cs typeface="Meiryo"/>
              <a:sym typeface="Meiryo"/>
            </a:endParaRPr>
          </a:p>
          <a:p>
            <a:pPr indent="0" lvl="0" marL="0" marR="0" rtl="0" algn="ctr">
              <a:spcBef>
                <a:spcPts val="0"/>
              </a:spcBef>
              <a:spcAft>
                <a:spcPts val="0"/>
              </a:spcAft>
              <a:buNone/>
            </a:pPr>
            <a:r>
              <a:rPr b="0" i="0" lang="ja-JP" sz="1000" u="none" cap="none" strike="noStrike">
                <a:solidFill>
                  <a:schemeClr val="dk1"/>
                </a:solidFill>
                <a:latin typeface="メイリオ"/>
                <a:ea typeface="Meiryo"/>
                <a:cs typeface="Meiryo"/>
                <a:sym typeface="Meiryo"/>
              </a:rPr>
              <a:t>商材</a:t>
            </a:r>
            <a:endParaRPr/>
          </a:p>
        </p:txBody>
      </p:sp>
      <p:sp>
        <p:nvSpPr>
          <p:cNvPr id="43" name="Google Shape;43;p3"/>
          <p:cNvSpPr/>
          <p:nvPr/>
        </p:nvSpPr>
        <p:spPr>
          <a:xfrm>
            <a:off x="1594068" y="730955"/>
            <a:ext cx="2926883" cy="435690"/>
          </a:xfrm>
          <a:prstGeom prst="rect">
            <a:avLst/>
          </a:prstGeom>
          <a:noFill/>
          <a:ln cap="flat" cmpd="sng" w="9525">
            <a:solidFill>
              <a:srgbClr val="4A7DBA"/>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300" u="none" cap="none" strike="noStrike">
                <a:solidFill>
                  <a:schemeClr val="dk1"/>
                </a:solidFill>
                <a:latin typeface="メイリオ"/>
                <a:ea typeface="Meiryo"/>
                <a:cs typeface="Meiryo"/>
                <a:sym typeface="Meiryo"/>
              </a:rPr>
              <a:t>友だち獲得を強化したい全業種</a:t>
            </a:r>
            <a:endParaRPr/>
          </a:p>
        </p:txBody>
      </p:sp>
      <p:sp>
        <p:nvSpPr>
          <p:cNvPr id="44" name="Google Shape;44;p3"/>
          <p:cNvSpPr txBox="1"/>
          <p:nvPr/>
        </p:nvSpPr>
        <p:spPr>
          <a:xfrm>
            <a:off x="3296816" y="6597352"/>
            <a:ext cx="6209091" cy="2154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ja-JP" sz="800" u="none" cap="none" strike="noStrike">
                <a:solidFill>
                  <a:schemeClr val="lt1"/>
                </a:solidFill>
                <a:latin typeface="メイリオ"/>
                <a:ea typeface="Meiryo"/>
                <a:cs typeface="Meiryo"/>
                <a:sym typeface="Meiryo"/>
              </a:rPr>
              <a:t>出典：https://workers-hub.box.com/s/odilqpe44tp398zlfko148yggcgj68ny</a:t>
            </a:r>
            <a:endParaRPr sz="800">
              <a:solidFill>
                <a:schemeClr val="lt1"/>
              </a:solidFill>
              <a:latin typeface="Meiryo"/>
              <a:ea typeface="Meiryo"/>
              <a:cs typeface="Meiryo"/>
              <a:sym typeface="Meiryo"/>
            </a:endParaRPr>
          </a:p>
        </p:txBody>
      </p:sp>
      <p:sp>
        <p:nvSpPr>
          <p:cNvPr id="45" name="Google Shape;45;p3"/>
          <p:cNvSpPr/>
          <p:nvPr/>
        </p:nvSpPr>
        <p:spPr>
          <a:xfrm>
            <a:off x="0" y="1234746"/>
            <a:ext cx="9906000" cy="672259"/>
          </a:xfrm>
          <a:prstGeom prst="rect">
            <a:avLst/>
          </a:prstGeom>
          <a:solidFill>
            <a:srgbClr val="C5D8F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b="1" lang="ja-JP" sz="1600">
                <a:solidFill>
                  <a:srgbClr val="004DE6"/>
                </a:solidFill>
                <a:latin typeface="メイリオ"/>
                <a:ea typeface="Meiryo"/>
                <a:cs typeface="Meiryo"/>
                <a:sym typeface="Meiryo"/>
              </a:rPr>
              <a:t>　　　　　　</a:t>
            </a:r>
            <a:endParaRPr b="1" sz="1800">
              <a:solidFill>
                <a:srgbClr val="004DE6"/>
              </a:solidFill>
              <a:latin typeface="Meiryo"/>
              <a:ea typeface="Meiryo"/>
              <a:cs typeface="Meiryo"/>
              <a:sym typeface="Meiryo"/>
            </a:endParaRPr>
          </a:p>
        </p:txBody>
      </p:sp>
      <p:sp>
        <p:nvSpPr>
          <p:cNvPr id="46" name="Google Shape;46;p3"/>
          <p:cNvSpPr/>
          <p:nvPr/>
        </p:nvSpPr>
        <p:spPr>
          <a:xfrm>
            <a:off x="1089832" y="1437370"/>
            <a:ext cx="7031520" cy="33855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ja-JP" sz="1600">
                <a:solidFill>
                  <a:srgbClr val="004DE6"/>
                </a:solidFill>
                <a:latin typeface="メイリオ"/>
                <a:ea typeface="Meiryo"/>
                <a:cs typeface="Meiryo"/>
                <a:sym typeface="Meiryo"/>
              </a:rPr>
              <a:t>【LINEオープンキャンペーン】特典内容</a:t>
            </a:r>
            <a:endParaRPr b="1" sz="1600">
              <a:solidFill>
                <a:srgbClr val="004DE6"/>
              </a:solidFill>
              <a:latin typeface="Meiryo"/>
              <a:ea typeface="Meiryo"/>
              <a:cs typeface="Meiryo"/>
              <a:sym typeface="Meiryo"/>
            </a:endParaRPr>
          </a:p>
        </p:txBody>
      </p:sp>
      <p:sp>
        <p:nvSpPr>
          <p:cNvPr id="47" name="Google Shape;47;p3"/>
          <p:cNvSpPr txBox="1"/>
          <p:nvPr/>
        </p:nvSpPr>
        <p:spPr>
          <a:xfrm>
            <a:off x="182880" y="88175"/>
            <a:ext cx="7512385" cy="365091"/>
          </a:xfrm>
          <a:prstGeom prst="rect">
            <a:avLst/>
          </a:prstGeom>
          <a:noFill/>
          <a:ln>
            <a:noFill/>
          </a:ln>
        </p:spPr>
        <p:txBody>
          <a:bodyPr anchorCtr="0" anchor="t" bIns="45700" lIns="91425" spcFirstLastPara="1" rIns="91425" wrap="square" tIns="72000">
            <a:spAutoFit/>
          </a:bodyPr>
          <a:lstStyle/>
          <a:p>
            <a:pPr indent="0" lvl="0" marL="0" marR="0" rtl="0" algn="l">
              <a:spcBef>
                <a:spcPts val="0"/>
              </a:spcBef>
              <a:spcAft>
                <a:spcPts val="0"/>
              </a:spcAft>
              <a:buClr>
                <a:schemeClr val="dk1"/>
              </a:buClr>
              <a:buSzPts val="1600"/>
              <a:buFont typeface="Arial"/>
              <a:buNone/>
            </a:pPr>
            <a:r>
              <a:rPr b="0" lang="ja-JP" sz="1600" u="none">
                <a:solidFill>
                  <a:schemeClr val="dk1"/>
                </a:solidFill>
                <a:latin typeface="メイリオ"/>
                <a:ea typeface="Meiryo"/>
                <a:cs typeface="Meiryo"/>
                <a:sym typeface="Meiryo"/>
              </a:rPr>
              <a:t>    今後のアップデート情報</a:t>
            </a:r>
            <a:endParaRPr b="0" sz="1600" u="none">
              <a:solidFill>
                <a:schemeClr val="dk1"/>
              </a:solidFill>
              <a:latin typeface="Meiryo"/>
              <a:ea typeface="Meiryo"/>
              <a:cs typeface="Meiryo"/>
              <a:sym typeface="Meiryo"/>
            </a:endParaRPr>
          </a:p>
        </p:txBody>
      </p:sp>
      <p:sp>
        <p:nvSpPr>
          <p:cNvPr id="48" name="Google Shape;48;p3"/>
          <p:cNvSpPr/>
          <p:nvPr/>
        </p:nvSpPr>
        <p:spPr>
          <a:xfrm>
            <a:off x="579726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Clr>
                <a:schemeClr val="dk1"/>
              </a:buClr>
              <a:buSzPts val="1000"/>
              <a:buFont typeface="Meiryo"/>
              <a:buNone/>
            </a:pPr>
            <a:r>
              <a:rPr lang="ja-JP" sz="1000">
                <a:solidFill>
                  <a:schemeClr val="dk1"/>
                </a:solidFill>
                <a:latin typeface="メイリオ"/>
                <a:ea typeface="Meiryo"/>
                <a:cs typeface="Meiryo"/>
                <a:sym typeface="Meiryo"/>
              </a:rPr>
              <a:t>開発</a:t>
            </a:r>
            <a:endParaRPr sz="1000">
              <a:solidFill>
                <a:schemeClr val="dk1"/>
              </a:solidFill>
              <a:latin typeface="Meiryo"/>
              <a:ea typeface="Meiryo"/>
              <a:cs typeface="Meiryo"/>
              <a:sym typeface="Meiryo"/>
            </a:endParaRPr>
          </a:p>
          <a:p>
            <a:pPr indent="0" lvl="0" marL="0" marR="0" rtl="0" algn="ctr">
              <a:spcBef>
                <a:spcPts val="0"/>
              </a:spcBef>
              <a:spcAft>
                <a:spcPts val="0"/>
              </a:spcAft>
              <a:buClr>
                <a:schemeClr val="dk1"/>
              </a:buClr>
              <a:buSzPts val="1000"/>
              <a:buFont typeface="Meiryo"/>
              <a:buNone/>
            </a:pPr>
            <a:r>
              <a:rPr lang="ja-JP" sz="1000">
                <a:solidFill>
                  <a:schemeClr val="dk1"/>
                </a:solidFill>
                <a:latin typeface="メイリオ"/>
                <a:ea typeface="Meiryo"/>
                <a:cs typeface="Meiryo"/>
                <a:sym typeface="Meiryo"/>
              </a:rPr>
              <a:t>LINE API</a:t>
            </a:r>
            <a:endParaRPr sz="1000">
              <a:solidFill>
                <a:schemeClr val="dk1"/>
              </a:solidFill>
              <a:latin typeface="Meiryo"/>
              <a:ea typeface="Meiryo"/>
              <a:cs typeface="Meiryo"/>
              <a:sym typeface="Meiryo"/>
            </a:endParaRPr>
          </a:p>
        </p:txBody>
      </p:sp>
      <p:sp>
        <p:nvSpPr>
          <p:cNvPr id="49" name="Google Shape;49;p3"/>
          <p:cNvSpPr/>
          <p:nvPr/>
        </p:nvSpPr>
        <p:spPr>
          <a:xfrm>
            <a:off x="491547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lang="ja-JP" sz="1000">
                <a:solidFill>
                  <a:schemeClr val="dk1"/>
                </a:solidFill>
                <a:latin typeface="メイリオ"/>
                <a:ea typeface="Meiryo"/>
                <a:cs typeface="Meiryo"/>
                <a:sym typeface="Meiryo"/>
              </a:rPr>
              <a:t>LINE公式アカウント</a:t>
            </a:r>
            <a:endParaRPr sz="1000">
              <a:solidFill>
                <a:schemeClr val="dk1"/>
              </a:solidFill>
              <a:latin typeface="Meiryo"/>
              <a:ea typeface="Meiryo"/>
              <a:cs typeface="Meiryo"/>
              <a:sym typeface="Meiryo"/>
            </a:endParaRPr>
          </a:p>
        </p:txBody>
      </p:sp>
      <p:sp>
        <p:nvSpPr>
          <p:cNvPr id="50" name="Google Shape;50;p3"/>
          <p:cNvSpPr/>
          <p:nvPr/>
        </p:nvSpPr>
        <p:spPr>
          <a:xfrm>
            <a:off x="0" y="1890267"/>
            <a:ext cx="9906000" cy="733579"/>
          </a:xfrm>
          <a:prstGeom prst="rect">
            <a:avLst/>
          </a:prstGeom>
          <a:solidFill>
            <a:srgbClr val="F2F2F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a:latin typeface="メイリオ"/>
              </a:rPr>
              <a:t/>
            </a:r>
            <a:endParaRPr sz="1200">
              <a:solidFill>
                <a:schemeClr val="dk1"/>
              </a:solidFill>
              <a:latin typeface="Meiryo"/>
              <a:ea typeface="Meiryo"/>
              <a:cs typeface="Meiryo"/>
              <a:sym typeface="Meiryo"/>
            </a:endParaRPr>
          </a:p>
        </p:txBody>
      </p:sp>
      <p:sp>
        <p:nvSpPr>
          <p:cNvPr id="51" name="Google Shape;51;p3"/>
          <p:cNvSpPr/>
          <p:nvPr/>
        </p:nvSpPr>
        <p:spPr>
          <a:xfrm>
            <a:off x="544108" y="1961282"/>
            <a:ext cx="8817783" cy="646331"/>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lang="ja-JP" sz="1200">
                <a:solidFill>
                  <a:schemeClr val="dk1"/>
                </a:solidFill>
                <a:latin typeface="メイリオ"/>
                <a:ea typeface="Meiryo"/>
                <a:cs typeface="Meiryo"/>
                <a:sym typeface="Meiryo"/>
              </a:rPr>
              <a:t>2026年10月20日開始〜12月25日までに終了する案件限定で、</a:t>
            </a:r>
            <a:endParaRPr b="1" sz="1200">
              <a:solidFill>
                <a:schemeClr val="dk1"/>
              </a:solidFill>
              <a:latin typeface="Meiryo"/>
              <a:ea typeface="Meiryo"/>
              <a:cs typeface="Meiryo"/>
              <a:sym typeface="Meiryo"/>
            </a:endParaRPr>
          </a:p>
          <a:p>
            <a:pPr indent="0" lvl="0" marL="0" marR="0" rtl="0" algn="ctr">
              <a:spcBef>
                <a:spcPts val="0"/>
              </a:spcBef>
              <a:spcAft>
                <a:spcPts val="0"/>
              </a:spcAft>
              <a:buNone/>
            </a:pPr>
            <a:r>
              <a:rPr b="1" lang="ja-JP" sz="1200">
                <a:solidFill>
                  <a:schemeClr val="dk1"/>
                </a:solidFill>
                <a:latin typeface="メイリオ"/>
                <a:ea typeface="Meiryo"/>
                <a:cs typeface="Meiryo"/>
                <a:sym typeface="Meiryo"/>
              </a:rPr>
              <a:t>基本費用・掲載期間・配信通数の3点が特別条件になるキャンペーン。</a:t>
            </a:r>
            <a:endParaRPr/>
          </a:p>
          <a:p>
            <a:pPr indent="0" lvl="0" marL="0" marR="0" rtl="0" algn="ctr">
              <a:spcBef>
                <a:spcPts val="0"/>
              </a:spcBef>
              <a:spcAft>
                <a:spcPts val="0"/>
              </a:spcAft>
              <a:buNone/>
            </a:pPr>
            <a:r>
              <a:rPr b="1" lang="ja-JP" sz="1200">
                <a:solidFill>
                  <a:schemeClr val="dk1"/>
                </a:solidFill>
                <a:latin typeface="メイリオ"/>
                <a:ea typeface="Meiryo"/>
                <a:cs typeface="Meiryo"/>
                <a:sym typeface="Meiryo"/>
              </a:rPr>
              <a:t>友だち獲得を一気に伸ばしたいクライアントへの提案材料になる。</a:t>
            </a:r>
            <a:endParaRPr b="1" sz="1400">
              <a:solidFill>
                <a:schemeClr val="dk1"/>
              </a:solidFill>
              <a:latin typeface="Meiryo"/>
              <a:ea typeface="Meiryo"/>
              <a:cs typeface="Meiryo"/>
              <a:sym typeface="Meiryo"/>
            </a:endParaRPr>
          </a:p>
        </p:txBody>
      </p:sp>
      <p:sp>
        <p:nvSpPr>
          <p:cNvPr id="52" name="Google Shape;52;p3"/>
          <p:cNvSpPr/>
          <p:nvPr/>
        </p:nvSpPr>
        <p:spPr>
          <a:xfrm>
            <a:off x="351381" y="2714173"/>
            <a:ext cx="5200000" cy="33855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ja-JP" sz="1400">
                <a:solidFill>
                  <a:srgbClr val="15133D"/>
                </a:solidFill>
                <a:latin typeface="メイリオ"/>
                <a:ea typeface="Meiryo"/>
                <a:cs typeface="Meiryo"/>
                <a:sym typeface="Meiryo"/>
              </a:rPr>
              <a:t>■ 詳細</a:t>
            </a:r>
            <a:endParaRPr/>
          </a:p>
        </p:txBody>
      </p:sp>
      <p:grpSp>
        <p:nvGrpSpPr>
          <p:cNvPr id="53" name="Google Shape;53;p3"/>
          <p:cNvGrpSpPr/>
          <p:nvPr/>
        </p:nvGrpSpPr>
        <p:grpSpPr>
          <a:xfrm>
            <a:off x="8473303" y="730955"/>
            <a:ext cx="1376241" cy="1131930"/>
            <a:chOff x="0" y="0"/>
            <a:chExt cx="1376241" cy="1131930"/>
          </a:xfrm>
        </p:grpSpPr>
        <p:sp>
          <p:nvSpPr>
            <p:cNvPr id="54" name="Google Shape;54;p3"/>
            <p:cNvSpPr/>
            <p:nvPr/>
          </p:nvSpPr>
          <p:spPr>
            <a:xfrm rot="10800000">
              <a:off x="0" y="0"/>
              <a:ext cx="1376241" cy="282982"/>
            </a:xfrm>
            <a:prstGeom prst="trapezoid">
              <a:avLst>
                <a:gd fmla="val 60792" name="adj"/>
              </a:avLst>
            </a:prstGeom>
            <a:solidFill>
              <a:srgbClr val="EAEDF5"/>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 name="Google Shape;55;p3"/>
            <p:cNvSpPr txBox="1"/>
            <p:nvPr/>
          </p:nvSpPr>
          <p:spPr>
            <a:xfrm>
              <a:off x="240842" y="0"/>
              <a:ext cx="894556"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認知</a:t>
              </a:r>
              <a:endParaRPr/>
            </a:p>
          </p:txBody>
        </p:sp>
        <p:sp>
          <p:nvSpPr>
            <p:cNvPr id="56" name="Google Shape;56;p3"/>
            <p:cNvSpPr/>
            <p:nvPr/>
          </p:nvSpPr>
          <p:spPr>
            <a:xfrm rot="10800000">
              <a:off x="172030" y="282982"/>
              <a:ext cx="1032180" cy="282982"/>
            </a:xfrm>
            <a:prstGeom prst="trapezoid">
              <a:avLst>
                <a:gd fmla="val 60792" name="adj"/>
              </a:avLst>
            </a:prstGeom>
            <a:solidFill>
              <a:schemeClr val="lt1"/>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 name="Google Shape;57;p3"/>
            <p:cNvSpPr txBox="1"/>
            <p:nvPr/>
          </p:nvSpPr>
          <p:spPr>
            <a:xfrm>
              <a:off x="352661" y="282982"/>
              <a:ext cx="670917"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検討</a:t>
              </a:r>
              <a:endParaRPr/>
            </a:p>
          </p:txBody>
        </p:sp>
        <p:sp>
          <p:nvSpPr>
            <p:cNvPr id="58" name="Google Shape;58;p3"/>
            <p:cNvSpPr/>
            <p:nvPr/>
          </p:nvSpPr>
          <p:spPr>
            <a:xfrm rot="10800000">
              <a:off x="344060" y="565965"/>
              <a:ext cx="688120" cy="282982"/>
            </a:xfrm>
            <a:prstGeom prst="trapezoid">
              <a:avLst>
                <a:gd fmla="val 60792" name="adj"/>
              </a:avLst>
            </a:prstGeom>
            <a:solidFill>
              <a:schemeClr val="lt1"/>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 name="Google Shape;59;p3"/>
            <p:cNvSpPr txBox="1"/>
            <p:nvPr/>
          </p:nvSpPr>
          <p:spPr>
            <a:xfrm>
              <a:off x="464481" y="565965"/>
              <a:ext cx="447278"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獲得</a:t>
              </a:r>
              <a:endParaRPr/>
            </a:p>
          </p:txBody>
        </p:sp>
        <p:sp>
          <p:nvSpPr>
            <p:cNvPr id="60" name="Google Shape;60;p3"/>
            <p:cNvSpPr/>
            <p:nvPr/>
          </p:nvSpPr>
          <p:spPr>
            <a:xfrm rot="10800000">
              <a:off x="516090" y="848948"/>
              <a:ext cx="344060" cy="282982"/>
            </a:xfrm>
            <a:prstGeom prst="trapezoid">
              <a:avLst>
                <a:gd fmla="val 60792" name="adj"/>
              </a:avLst>
            </a:prstGeom>
            <a:no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 name="Google Shape;61;p3"/>
            <p:cNvSpPr txBox="1"/>
            <p:nvPr/>
          </p:nvSpPr>
          <p:spPr>
            <a:xfrm>
              <a:off x="516090" y="848948"/>
              <a:ext cx="344060"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伸長</a:t>
              </a:r>
              <a:endParaRPr/>
            </a:p>
          </p:txBody>
        </p:sp>
      </p:grpSp>
      <p:pic>
        <p:nvPicPr>
          <p:cNvPr descr="LINE公式アカウントのロゴの使用方法とは？種類やダウンロード方法、利用時の注意点を紹介 | Mico（ミコ）" id="62" name="Google Shape;62;p3"/>
          <p:cNvPicPr preferRelativeResize="0"/>
          <p:nvPr/>
        </p:nvPicPr>
        <p:blipFill rotWithShape="1">
          <a:blip r:embed="rId2">
            <a:alphaModFix/>
          </a:blip>
          <a:srcRect b="0" l="0" r="0" t="0"/>
          <a:stretch/>
        </p:blipFill>
        <p:spPr>
          <a:xfrm>
            <a:off x="351381" y="1234746"/>
            <a:ext cx="656177" cy="655521"/>
          </a:xfrm>
          <a:prstGeom prst="rect">
            <a:avLst/>
          </a:prstGeom>
          <a:noFill/>
          <a:ln>
            <a:noFill/>
          </a:ln>
        </p:spPr>
      </p:pic>
      <p:sp>
        <p:nvSpPr>
          <p:cNvPr id="63" name="Rectangle 62"/>
          <p:cNvSpPr/>
          <p:nvPr/>
        </p:nvSpPr>
        <p:spPr>
          <a:xfrm>
            <a:off x="544108" y="3068960"/>
            <a:ext cx="3547872" cy="27432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45720"/>
          <a:lstStyle/>
          <a:p>
            <a:pPr algn="ctr"/>
            <a:r>
              <a:rPr sz="1300" b="1">
                <a:solidFill>
                  <a:srgbClr val="333333"/>
                </a:solidFill>
                <a:latin typeface="メイリオ"/>
              </a:rPr>
              <a:t>AS-IS</a:t>
            </a:r>
          </a:p>
        </p:txBody>
      </p:sp>
      <p:sp>
        <p:nvSpPr>
          <p:cNvPr id="64" name="Rectangle 63"/>
          <p:cNvSpPr/>
          <p:nvPr/>
        </p:nvSpPr>
        <p:spPr>
          <a:xfrm>
            <a:off x="544108" y="3343280"/>
            <a:ext cx="3547872" cy="640080"/>
          </a:xfrm>
          <a:prstGeom prst="rect">
            <a:avLst/>
          </a:prstGeom>
          <a:solidFill>
            <a:srgbClr val="F2F2F2"/>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37160" tIns="54864" bIns="54864"/>
          <a:lstStyle/>
          <a:p>
            <a:pPr algn="ctr">
              <a:lnSpc>
                <a:spcPct val="110000"/>
              </a:lnSpc>
            </a:pPr>
            <a:r>
              <a:rPr sz="1300" b="1">
                <a:solidFill>
                  <a:srgbClr val="15133D"/>
                </a:solidFill>
                <a:latin typeface="メイリオ"/>
              </a:rPr>
              <a:t>通常プラン｜基本費用1,800万円・掲載期間7日間・配信900万通</a:t>
            </a:r>
          </a:p>
        </p:txBody>
      </p:sp>
      <p:sp>
        <p:nvSpPr>
          <p:cNvPr id="65" name="TextBox 64"/>
          <p:cNvSpPr txBox="1"/>
          <p:nvPr/>
        </p:nvSpPr>
        <p:spPr>
          <a:xfrm>
            <a:off x="4091980" y="3068960"/>
            <a:ext cx="457200" cy="914400"/>
          </a:xfrm>
          <a:prstGeom prst="rect">
            <a:avLst/>
          </a:prstGeom>
          <a:noFill/>
        </p:spPr>
        <p:txBody>
          <a:bodyPr wrap="none" anchor="ctr">
            <a:spAutoFit/>
          </a:bodyPr>
          <a:lstStyle/>
          <a:p>
            <a:pPr algn="ctr"/>
            <a:r>
              <a:rPr sz="1800" b="1">
                <a:solidFill>
                  <a:srgbClr val="3467B2"/>
                </a:solidFill>
                <a:latin typeface="メイリオ"/>
              </a:rPr>
              <a:t>▶</a:t>
            </a:r>
          </a:p>
        </p:txBody>
      </p:sp>
      <p:sp>
        <p:nvSpPr>
          <p:cNvPr id="66" name="Rectangle 65"/>
          <p:cNvSpPr/>
          <p:nvPr/>
        </p:nvSpPr>
        <p:spPr>
          <a:xfrm>
            <a:off x="4549180" y="3068960"/>
            <a:ext cx="5321808" cy="274320"/>
          </a:xfrm>
          <a:prstGeom prst="rect">
            <a:avLst/>
          </a:prstGeom>
          <a:solidFill>
            <a:srgbClr val="1513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45720"/>
          <a:lstStyle/>
          <a:p>
            <a:pPr algn="ctr"/>
            <a:r>
              <a:rPr sz="1300" b="1">
                <a:solidFill>
                  <a:srgbClr val="FFFFFF"/>
                </a:solidFill>
                <a:latin typeface="メイリオ"/>
              </a:rPr>
              <a:t>TO-BE</a:t>
            </a:r>
          </a:p>
        </p:txBody>
      </p:sp>
      <p:sp>
        <p:nvSpPr>
          <p:cNvPr id="67" name="Rectangle 66"/>
          <p:cNvSpPr/>
          <p:nvPr/>
        </p:nvSpPr>
        <p:spPr>
          <a:xfrm>
            <a:off x="4549180" y="3343280"/>
            <a:ext cx="5321808" cy="640080"/>
          </a:xfrm>
          <a:prstGeom prst="rect">
            <a:avLst/>
          </a:prstGeom>
          <a:solidFill>
            <a:srgbClr val="EAF0FA"/>
          </a:solidFill>
          <a:ln w="12700">
            <a:solidFill>
              <a:srgbClr val="3467B2"/>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37160" tIns="54864" bIns="54864"/>
          <a:lstStyle/>
          <a:p>
            <a:pPr algn="ctr">
              <a:lnSpc>
                <a:spcPct val="110000"/>
              </a:lnSpc>
            </a:pPr>
            <a:r>
              <a:rPr sz="2200" b="1">
                <a:solidFill>
                  <a:srgbClr val="15133D"/>
                </a:solidFill>
                <a:latin typeface="メイリオ"/>
              </a:rPr>
              <a:t>特別プラン｜基本費用1,500万円</a:t>
            </a:r>
          </a:p>
          <a:p>
            <a:pPr>
              <a:lnSpc>
                <a:spcPct val="110000"/>
              </a:lnSpc>
              <a:spcBef>
                <a:spcPts val="500"/>
              </a:spcBef>
            </a:pPr>
            <a:r>
              <a:rPr sz="1050">
                <a:solidFill>
                  <a:srgbClr val="333333"/>
                </a:solidFill>
                <a:latin typeface="メイリオ"/>
              </a:rPr>
              <a:t>掲載期間15日間・配信1,050万通に拡大</a:t>
            </a:r>
          </a:p>
        </p:txBody>
      </p:sp>
      <p:sp>
        <p:nvSpPr>
          <p:cNvPr id="68" name="Rounded Rectangle 67"/>
          <p:cNvSpPr/>
          <p:nvPr/>
        </p:nvSpPr>
        <p:spPr>
          <a:xfrm>
            <a:off x="544108" y="4211960"/>
            <a:ext cx="4572000" cy="1371600"/>
          </a:xfrm>
          <a:prstGeom prst="roundRect">
            <a:avLst>
              <a:gd name="adj" fmla="val 6000"/>
            </a:avLst>
          </a:prstGeom>
          <a:solidFill>
            <a:srgbClr val="EAF0FA"/>
          </a:solidFill>
          <a:ln w="12700">
            <a:solidFill>
              <a:srgbClr val="3467B2"/>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182880"/>
          <a:lstStyle/>
          <a:p>
            <a:pPr algn="l"/>
            <a:r>
              <a:rPr sz="1700" b="1">
                <a:solidFill>
                  <a:srgbClr val="15133D"/>
                </a:solidFill>
                <a:latin typeface="メイリオ"/>
              </a:rPr>
              <a:t>特別価格で提案しやすい</a:t>
            </a:r>
          </a:p>
          <a:p>
            <a:pPr algn="l">
              <a:lnSpc>
                <a:spcPct val="115000"/>
              </a:lnSpc>
              <a:spcBef>
                <a:spcPts val="600"/>
              </a:spcBef>
            </a:pPr>
            <a:r>
              <a:rPr sz="1100">
                <a:solidFill>
                  <a:srgbClr val="333333"/>
                </a:solidFill>
                <a:latin typeface="メイリオ"/>
              </a:rPr>
              <a:t>基本費用が1,800万円→1,500万円に。期間限定の特別プランとして提案の後押しになる。</a:t>
            </a:r>
          </a:p>
        </p:txBody>
      </p:sp>
      <p:sp>
        <p:nvSpPr>
          <p:cNvPr id="69" name="Rounded Rectangle 68"/>
          <p:cNvSpPr/>
          <p:nvPr/>
        </p:nvSpPr>
        <p:spPr>
          <a:xfrm>
            <a:off x="5298988" y="4211960"/>
            <a:ext cx="4572000" cy="1371600"/>
          </a:xfrm>
          <a:prstGeom prst="roundRect">
            <a:avLst>
              <a:gd name="adj" fmla="val 6000"/>
            </a:avLst>
          </a:prstGeom>
          <a:solidFill>
            <a:srgbClr val="EAF0FA"/>
          </a:solidFill>
          <a:ln w="12700">
            <a:solidFill>
              <a:srgbClr val="3467B2"/>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182880"/>
          <a:lstStyle/>
          <a:p>
            <a:pPr algn="l"/>
            <a:r>
              <a:rPr sz="1700" b="1">
                <a:solidFill>
                  <a:srgbClr val="15133D"/>
                </a:solidFill>
                <a:latin typeface="メイリオ"/>
              </a:rPr>
              <a:t>景品はLINEポイント2pt総付</a:t>
            </a:r>
          </a:p>
          <a:p>
            <a:pPr algn="l">
              <a:lnSpc>
                <a:spcPct val="115000"/>
              </a:lnSpc>
              <a:spcBef>
                <a:spcPts val="600"/>
              </a:spcBef>
            </a:pPr>
            <a:r>
              <a:rPr sz="1100">
                <a:solidFill>
                  <a:srgbClr val="333333"/>
                </a:solidFill>
                <a:latin typeface="メイリオ"/>
              </a:rPr>
              <a:t>応募者全員にLINEポイント2ptを進呈するアンケート型キャンペーン。対象はLINE公式アカウント・Messaging API対応かつ認証プロバイダー必須。</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0" name="Google Shape;40;p3"/>
          <p:cNvSpPr/>
          <p:nvPr/>
        </p:nvSpPr>
        <p:spPr>
          <a:xfrm>
            <a:off x="292801" y="730955"/>
            <a:ext cx="1296144" cy="435690"/>
          </a:xfrm>
          <a:prstGeom prst="rect">
            <a:avLst/>
          </a:prstGeom>
          <a:solidFill>
            <a:schemeClr val="dk2"/>
          </a:solidFill>
          <a:ln cap="flat" cmpd="sng" w="9525">
            <a:solidFill>
              <a:srgbClr val="4A7DBA"/>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800" u="none" cap="none" strike="noStrike">
                <a:solidFill>
                  <a:schemeClr val="lt1"/>
                </a:solidFill>
                <a:latin typeface="メイリオ"/>
                <a:ea typeface="Meiryo"/>
                <a:cs typeface="Meiryo"/>
                <a:sym typeface="Meiryo"/>
              </a:rPr>
              <a:t>対象業界</a:t>
            </a:r>
            <a:endParaRPr/>
          </a:p>
        </p:txBody>
      </p:sp>
      <p:sp>
        <p:nvSpPr>
          <p:cNvPr id="41" name="Google Shape;41;p3"/>
          <p:cNvSpPr/>
          <p:nvPr/>
        </p:nvSpPr>
        <p:spPr>
          <a:xfrm>
            <a:off x="756084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200" u="none" cap="none" strike="noStrike">
                <a:solidFill>
                  <a:schemeClr val="dk1"/>
                </a:solidFill>
                <a:latin typeface="メイリオ"/>
                <a:ea typeface="Meiryo"/>
                <a:cs typeface="Meiryo"/>
                <a:sym typeface="Meiryo"/>
              </a:rPr>
              <a:t>その他</a:t>
            </a:r>
            <a:endParaRPr b="0" i="0" sz="1200" u="none" cap="none" strike="noStrike">
              <a:solidFill>
                <a:schemeClr val="dk1"/>
              </a:solidFill>
              <a:latin typeface="Meiryo"/>
              <a:ea typeface="Meiryo"/>
              <a:cs typeface="Meiryo"/>
              <a:sym typeface="Meiryo"/>
            </a:endParaRPr>
          </a:p>
        </p:txBody>
      </p:sp>
      <p:sp>
        <p:nvSpPr>
          <p:cNvPr id="42" name="Google Shape;42;p3"/>
          <p:cNvSpPr/>
          <p:nvPr/>
        </p:nvSpPr>
        <p:spPr>
          <a:xfrm>
            <a:off x="6679050" y="730955"/>
            <a:ext cx="829618" cy="435690"/>
          </a:xfrm>
          <a:prstGeom prst="rect">
            <a:avLst/>
          </a:prstGeom>
          <a:solidFill>
            <a:schemeClr val="tx2"/>
          </a:solidFill>
          <a:ln cap="flat" cmpd="sng" w="9525">
            <a:solidFill>
              <a:srgbClr val="4F81BD"/>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000" u="none" cap="none" strike="noStrike">
                <a:solidFill>
                  <a:schemeClr val="dk1"/>
                </a:solidFill>
                <a:latin typeface="メイリオ"/>
                <a:ea typeface="Meiryo"/>
                <a:cs typeface="Meiryo"/>
                <a:sym typeface="Meiryo"/>
              </a:rPr>
              <a:t>オプション</a:t>
            </a:r>
            <a:endParaRPr b="0" i="0" sz="1000" u="none" cap="none" strike="noStrike">
              <a:solidFill>
                <a:schemeClr val="dk1"/>
              </a:solidFill>
              <a:latin typeface="Meiryo"/>
              <a:ea typeface="Meiryo"/>
              <a:cs typeface="Meiryo"/>
              <a:sym typeface="Meiryo"/>
            </a:endParaRPr>
          </a:p>
          <a:p>
            <a:pPr indent="0" lvl="0" marL="0" marR="0" rtl="0" algn="ctr">
              <a:spcBef>
                <a:spcPts val="0"/>
              </a:spcBef>
              <a:spcAft>
                <a:spcPts val="0"/>
              </a:spcAft>
              <a:buNone/>
            </a:pPr>
            <a:r>
              <a:rPr b="0" i="0" lang="ja-JP" sz="1000" u="none" cap="none" strike="noStrike">
                <a:solidFill>
                  <a:schemeClr val="dk1"/>
                </a:solidFill>
                <a:latin typeface="メイリオ"/>
                <a:ea typeface="Meiryo"/>
                <a:cs typeface="Meiryo"/>
                <a:sym typeface="Meiryo"/>
              </a:rPr>
              <a:t>商材</a:t>
            </a:r>
            <a:endParaRPr/>
          </a:p>
        </p:txBody>
      </p:sp>
      <p:sp>
        <p:nvSpPr>
          <p:cNvPr id="43" name="Google Shape;43;p3"/>
          <p:cNvSpPr/>
          <p:nvPr/>
        </p:nvSpPr>
        <p:spPr>
          <a:xfrm>
            <a:off x="1594068" y="730955"/>
            <a:ext cx="2926883" cy="435690"/>
          </a:xfrm>
          <a:prstGeom prst="rect">
            <a:avLst/>
          </a:prstGeom>
          <a:noFill/>
          <a:ln cap="flat" cmpd="sng" w="9525">
            <a:solidFill>
              <a:srgbClr val="4A7DBA"/>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300" u="none" cap="none" strike="noStrike">
                <a:solidFill>
                  <a:schemeClr val="dk1"/>
                </a:solidFill>
                <a:latin typeface="メイリオ"/>
                <a:ea typeface="Meiryo"/>
                <a:cs typeface="Meiryo"/>
                <a:sym typeface="Meiryo"/>
              </a:rPr>
              <a:t>友だち獲得を強化したい全業種</a:t>
            </a:r>
            <a:endParaRPr/>
          </a:p>
        </p:txBody>
      </p:sp>
      <p:sp>
        <p:nvSpPr>
          <p:cNvPr id="44" name="Google Shape;44;p3"/>
          <p:cNvSpPr txBox="1"/>
          <p:nvPr/>
        </p:nvSpPr>
        <p:spPr>
          <a:xfrm>
            <a:off x="3296816" y="6597352"/>
            <a:ext cx="6209091" cy="2154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ja-JP" sz="800" u="none" cap="none" strike="noStrike">
                <a:solidFill>
                  <a:schemeClr val="lt1"/>
                </a:solidFill>
                <a:latin typeface="メイリオ"/>
                <a:ea typeface="Meiryo"/>
                <a:cs typeface="Meiryo"/>
                <a:sym typeface="Meiryo"/>
              </a:rPr>
              <a:t>出典：https://workers-hub.box.com/s/odilqpe44tp398zlfko148yggcgj68ny</a:t>
            </a:r>
            <a:endParaRPr sz="800">
              <a:solidFill>
                <a:schemeClr val="lt1"/>
              </a:solidFill>
              <a:latin typeface="Meiryo"/>
              <a:ea typeface="Meiryo"/>
              <a:cs typeface="Meiryo"/>
              <a:sym typeface="Meiryo"/>
            </a:endParaRPr>
          </a:p>
        </p:txBody>
      </p:sp>
      <p:sp>
        <p:nvSpPr>
          <p:cNvPr id="45" name="Google Shape;45;p3"/>
          <p:cNvSpPr/>
          <p:nvPr/>
        </p:nvSpPr>
        <p:spPr>
          <a:xfrm>
            <a:off x="0" y="1234746"/>
            <a:ext cx="9906000" cy="672259"/>
          </a:xfrm>
          <a:prstGeom prst="rect">
            <a:avLst/>
          </a:prstGeom>
          <a:solidFill>
            <a:srgbClr val="C5D8F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b="1" lang="ja-JP" sz="1600">
                <a:solidFill>
                  <a:srgbClr val="004DE6"/>
                </a:solidFill>
                <a:latin typeface="メイリオ"/>
                <a:ea typeface="Meiryo"/>
                <a:cs typeface="Meiryo"/>
                <a:sym typeface="Meiryo"/>
              </a:rPr>
              <a:t>　　　　　　</a:t>
            </a:r>
            <a:endParaRPr b="1" sz="1800">
              <a:solidFill>
                <a:srgbClr val="004DE6"/>
              </a:solidFill>
              <a:latin typeface="Meiryo"/>
              <a:ea typeface="Meiryo"/>
              <a:cs typeface="Meiryo"/>
              <a:sym typeface="Meiryo"/>
            </a:endParaRPr>
          </a:p>
        </p:txBody>
      </p:sp>
      <p:sp>
        <p:nvSpPr>
          <p:cNvPr id="46" name="Google Shape;46;p3"/>
          <p:cNvSpPr/>
          <p:nvPr/>
        </p:nvSpPr>
        <p:spPr>
          <a:xfrm>
            <a:off x="1089832" y="1437370"/>
            <a:ext cx="7031520" cy="33855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ja-JP" sz="1600">
                <a:solidFill>
                  <a:srgbClr val="004DE6"/>
                </a:solidFill>
                <a:latin typeface="メイリオ"/>
                <a:ea typeface="Meiryo"/>
                <a:cs typeface="Meiryo"/>
                <a:sym typeface="Meiryo"/>
              </a:rPr>
              <a:t>【LINEオープンキャンペーン】実施スケジュール</a:t>
            </a:r>
            <a:endParaRPr b="1" sz="1600">
              <a:solidFill>
                <a:srgbClr val="004DE6"/>
              </a:solidFill>
              <a:latin typeface="Meiryo"/>
              <a:ea typeface="Meiryo"/>
              <a:cs typeface="Meiryo"/>
              <a:sym typeface="Meiryo"/>
            </a:endParaRPr>
          </a:p>
        </p:txBody>
      </p:sp>
      <p:sp>
        <p:nvSpPr>
          <p:cNvPr id="47" name="Google Shape;47;p3"/>
          <p:cNvSpPr txBox="1"/>
          <p:nvPr/>
        </p:nvSpPr>
        <p:spPr>
          <a:xfrm>
            <a:off x="182880" y="88175"/>
            <a:ext cx="7512385" cy="365091"/>
          </a:xfrm>
          <a:prstGeom prst="rect">
            <a:avLst/>
          </a:prstGeom>
          <a:noFill/>
          <a:ln>
            <a:noFill/>
          </a:ln>
        </p:spPr>
        <p:txBody>
          <a:bodyPr anchorCtr="0" anchor="t" bIns="45700" lIns="91425" spcFirstLastPara="1" rIns="91425" wrap="square" tIns="72000">
            <a:spAutoFit/>
          </a:bodyPr>
          <a:lstStyle/>
          <a:p>
            <a:pPr indent="0" lvl="0" marL="0" marR="0" rtl="0" algn="l">
              <a:spcBef>
                <a:spcPts val="0"/>
              </a:spcBef>
              <a:spcAft>
                <a:spcPts val="0"/>
              </a:spcAft>
              <a:buClr>
                <a:schemeClr val="dk1"/>
              </a:buClr>
              <a:buSzPts val="1600"/>
              <a:buFont typeface="Arial"/>
              <a:buNone/>
            </a:pPr>
            <a:r>
              <a:rPr b="0" lang="ja-JP" sz="1600" u="none">
                <a:solidFill>
                  <a:schemeClr val="dk1"/>
                </a:solidFill>
                <a:latin typeface="メイリオ"/>
                <a:ea typeface="Meiryo"/>
                <a:cs typeface="Meiryo"/>
                <a:sym typeface="Meiryo"/>
              </a:rPr>
              <a:t>    今後のアップデート情報</a:t>
            </a:r>
            <a:endParaRPr b="0" sz="1600" u="none">
              <a:solidFill>
                <a:schemeClr val="dk1"/>
              </a:solidFill>
              <a:latin typeface="Meiryo"/>
              <a:ea typeface="Meiryo"/>
              <a:cs typeface="Meiryo"/>
              <a:sym typeface="Meiryo"/>
            </a:endParaRPr>
          </a:p>
        </p:txBody>
      </p:sp>
      <p:sp>
        <p:nvSpPr>
          <p:cNvPr id="48" name="Google Shape;48;p3"/>
          <p:cNvSpPr/>
          <p:nvPr/>
        </p:nvSpPr>
        <p:spPr>
          <a:xfrm>
            <a:off x="579726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Clr>
                <a:schemeClr val="dk1"/>
              </a:buClr>
              <a:buSzPts val="1000"/>
              <a:buFont typeface="Meiryo"/>
              <a:buNone/>
            </a:pPr>
            <a:r>
              <a:rPr lang="ja-JP" sz="1000">
                <a:solidFill>
                  <a:schemeClr val="dk1"/>
                </a:solidFill>
                <a:latin typeface="メイリオ"/>
                <a:ea typeface="Meiryo"/>
                <a:cs typeface="Meiryo"/>
                <a:sym typeface="Meiryo"/>
              </a:rPr>
              <a:t>開発</a:t>
            </a:r>
            <a:endParaRPr sz="1000">
              <a:solidFill>
                <a:schemeClr val="dk1"/>
              </a:solidFill>
              <a:latin typeface="Meiryo"/>
              <a:ea typeface="Meiryo"/>
              <a:cs typeface="Meiryo"/>
              <a:sym typeface="Meiryo"/>
            </a:endParaRPr>
          </a:p>
          <a:p>
            <a:pPr indent="0" lvl="0" marL="0" marR="0" rtl="0" algn="ctr">
              <a:spcBef>
                <a:spcPts val="0"/>
              </a:spcBef>
              <a:spcAft>
                <a:spcPts val="0"/>
              </a:spcAft>
              <a:buClr>
                <a:schemeClr val="dk1"/>
              </a:buClr>
              <a:buSzPts val="1000"/>
              <a:buFont typeface="Meiryo"/>
              <a:buNone/>
            </a:pPr>
            <a:r>
              <a:rPr lang="ja-JP" sz="1000">
                <a:solidFill>
                  <a:schemeClr val="dk1"/>
                </a:solidFill>
                <a:latin typeface="メイリオ"/>
                <a:ea typeface="Meiryo"/>
                <a:cs typeface="Meiryo"/>
                <a:sym typeface="Meiryo"/>
              </a:rPr>
              <a:t>LINE API</a:t>
            </a:r>
            <a:endParaRPr sz="1000">
              <a:solidFill>
                <a:schemeClr val="dk1"/>
              </a:solidFill>
              <a:latin typeface="Meiryo"/>
              <a:ea typeface="Meiryo"/>
              <a:cs typeface="Meiryo"/>
              <a:sym typeface="Meiryo"/>
            </a:endParaRPr>
          </a:p>
        </p:txBody>
      </p:sp>
      <p:sp>
        <p:nvSpPr>
          <p:cNvPr id="49" name="Google Shape;49;p3"/>
          <p:cNvSpPr/>
          <p:nvPr/>
        </p:nvSpPr>
        <p:spPr>
          <a:xfrm>
            <a:off x="491547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lang="ja-JP" sz="1000">
                <a:solidFill>
                  <a:schemeClr val="dk1"/>
                </a:solidFill>
                <a:latin typeface="メイリオ"/>
                <a:ea typeface="Meiryo"/>
                <a:cs typeface="Meiryo"/>
                <a:sym typeface="Meiryo"/>
              </a:rPr>
              <a:t>LINE公式アカウント</a:t>
            </a:r>
            <a:endParaRPr sz="1000">
              <a:solidFill>
                <a:schemeClr val="dk1"/>
              </a:solidFill>
              <a:latin typeface="Meiryo"/>
              <a:ea typeface="Meiryo"/>
              <a:cs typeface="Meiryo"/>
              <a:sym typeface="Meiryo"/>
            </a:endParaRPr>
          </a:p>
        </p:txBody>
      </p:sp>
      <p:sp>
        <p:nvSpPr>
          <p:cNvPr id="50" name="Google Shape;50;p3"/>
          <p:cNvSpPr/>
          <p:nvPr/>
        </p:nvSpPr>
        <p:spPr>
          <a:xfrm>
            <a:off x="0" y="1890267"/>
            <a:ext cx="9906000" cy="733579"/>
          </a:xfrm>
          <a:prstGeom prst="rect">
            <a:avLst/>
          </a:prstGeom>
          <a:solidFill>
            <a:srgbClr val="F2F2F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a:latin typeface="メイリオ"/>
              </a:rPr>
              <a:t/>
            </a:r>
            <a:endParaRPr sz="1200">
              <a:solidFill>
                <a:schemeClr val="dk1"/>
              </a:solidFill>
              <a:latin typeface="Meiryo"/>
              <a:ea typeface="Meiryo"/>
              <a:cs typeface="Meiryo"/>
              <a:sym typeface="Meiryo"/>
            </a:endParaRPr>
          </a:p>
        </p:txBody>
      </p:sp>
      <p:sp>
        <p:nvSpPr>
          <p:cNvPr id="51" name="Google Shape;51;p3"/>
          <p:cNvSpPr/>
          <p:nvPr/>
        </p:nvSpPr>
        <p:spPr>
          <a:xfrm>
            <a:off x="544108" y="1961282"/>
            <a:ext cx="8817783" cy="646331"/>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lang="ja-JP" sz="1200">
                <a:solidFill>
                  <a:schemeClr val="dk1"/>
                </a:solidFill>
                <a:latin typeface="メイリオ"/>
                <a:ea typeface="Meiryo"/>
                <a:cs typeface="Meiryo"/>
                <a:sym typeface="Meiryo"/>
              </a:rPr>
              <a:t>申込みから掲載開始まで、審査・枠おさえ・入稿の3段階を経る。</a:t>
            </a:r>
            <a:endParaRPr b="1" sz="1200">
              <a:solidFill>
                <a:schemeClr val="dk1"/>
              </a:solidFill>
              <a:latin typeface="Meiryo"/>
              <a:ea typeface="Meiryo"/>
              <a:cs typeface="Meiryo"/>
              <a:sym typeface="Meiryo"/>
            </a:endParaRPr>
          </a:p>
          <a:p>
            <a:pPr indent="0" lvl="0" marL="0" marR="0" rtl="0" algn="ctr">
              <a:spcBef>
                <a:spcPts val="0"/>
              </a:spcBef>
              <a:spcAft>
                <a:spcPts val="0"/>
              </a:spcAft>
              <a:buNone/>
            </a:pPr>
            <a:r>
              <a:rPr b="1" lang="ja-JP" sz="1200">
                <a:solidFill>
                  <a:schemeClr val="dk1"/>
                </a:solidFill>
                <a:latin typeface="メイリオ"/>
                <a:ea typeface="Meiryo"/>
                <a:cs typeface="Meiryo"/>
                <a:sym typeface="Meiryo"/>
              </a:rPr>
              <a:t>配信枠は早い者勝ちのため、各締切の厳守が前提条件になる。</a:t>
            </a:r>
            <a:endParaRPr/>
          </a:p>
          <a:p>
            <a:pPr indent="0" lvl="0" marL="0" marR="0" rtl="0" algn="ctr">
              <a:spcBef>
                <a:spcPts val="0"/>
              </a:spcBef>
              <a:spcAft>
                <a:spcPts val="0"/>
              </a:spcAft>
              <a:buNone/>
            </a:pPr>
            <a:r>
              <a:rPr b="1" lang="ja-JP" sz="1200">
                <a:solidFill>
                  <a:schemeClr val="dk1"/>
                </a:solidFill>
                <a:latin typeface="メイリオ"/>
                <a:ea typeface="Meiryo"/>
                <a:cs typeface="Meiryo"/>
                <a:sym typeface="Meiryo"/>
              </a:rPr>
              <a:t>土日祝日の掲載開始は不可なので、平日での日程調整が必要。</a:t>
            </a:r>
            <a:endParaRPr b="1" sz="1400">
              <a:solidFill>
                <a:schemeClr val="dk1"/>
              </a:solidFill>
              <a:latin typeface="Meiryo"/>
              <a:ea typeface="Meiryo"/>
              <a:cs typeface="Meiryo"/>
              <a:sym typeface="Meiryo"/>
            </a:endParaRPr>
          </a:p>
        </p:txBody>
      </p:sp>
      <p:sp>
        <p:nvSpPr>
          <p:cNvPr id="52" name="Google Shape;52;p3"/>
          <p:cNvSpPr/>
          <p:nvPr/>
        </p:nvSpPr>
        <p:spPr>
          <a:xfrm>
            <a:off x="351381" y="2714173"/>
            <a:ext cx="5200000" cy="33855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ja-JP" sz="1400">
                <a:solidFill>
                  <a:srgbClr val="15133D"/>
                </a:solidFill>
                <a:latin typeface="メイリオ"/>
                <a:ea typeface="Meiryo"/>
                <a:cs typeface="Meiryo"/>
                <a:sym typeface="Meiryo"/>
              </a:rPr>
              <a:t>■ 詳細</a:t>
            </a:r>
            <a:endParaRPr/>
          </a:p>
        </p:txBody>
      </p:sp>
      <p:grpSp>
        <p:nvGrpSpPr>
          <p:cNvPr id="53" name="Google Shape;53;p3"/>
          <p:cNvGrpSpPr/>
          <p:nvPr/>
        </p:nvGrpSpPr>
        <p:grpSpPr>
          <a:xfrm>
            <a:off x="8473303" y="730955"/>
            <a:ext cx="1376241" cy="1131930"/>
            <a:chOff x="0" y="0"/>
            <a:chExt cx="1376241" cy="1131930"/>
          </a:xfrm>
        </p:grpSpPr>
        <p:sp>
          <p:nvSpPr>
            <p:cNvPr id="54" name="Google Shape;54;p3"/>
            <p:cNvSpPr/>
            <p:nvPr/>
          </p:nvSpPr>
          <p:spPr>
            <a:xfrm rot="10800000">
              <a:off x="0" y="0"/>
              <a:ext cx="1376241" cy="282982"/>
            </a:xfrm>
            <a:prstGeom prst="trapezoid">
              <a:avLst>
                <a:gd fmla="val 60792" name="adj"/>
              </a:avLst>
            </a:prstGeom>
            <a:solidFill>
              <a:srgbClr val="EAEDF5"/>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 name="Google Shape;55;p3"/>
            <p:cNvSpPr txBox="1"/>
            <p:nvPr/>
          </p:nvSpPr>
          <p:spPr>
            <a:xfrm>
              <a:off x="240842" y="0"/>
              <a:ext cx="894556"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認知</a:t>
              </a:r>
              <a:endParaRPr/>
            </a:p>
          </p:txBody>
        </p:sp>
        <p:sp>
          <p:nvSpPr>
            <p:cNvPr id="56" name="Google Shape;56;p3"/>
            <p:cNvSpPr/>
            <p:nvPr/>
          </p:nvSpPr>
          <p:spPr>
            <a:xfrm rot="10800000">
              <a:off x="172030" y="282982"/>
              <a:ext cx="1032180" cy="282982"/>
            </a:xfrm>
            <a:prstGeom prst="trapezoid">
              <a:avLst>
                <a:gd fmla="val 60792" name="adj"/>
              </a:avLst>
            </a:prstGeom>
            <a:solidFill>
              <a:schemeClr val="lt1"/>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 name="Google Shape;57;p3"/>
            <p:cNvSpPr txBox="1"/>
            <p:nvPr/>
          </p:nvSpPr>
          <p:spPr>
            <a:xfrm>
              <a:off x="352661" y="282982"/>
              <a:ext cx="670917"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検討</a:t>
              </a:r>
              <a:endParaRPr/>
            </a:p>
          </p:txBody>
        </p:sp>
        <p:sp>
          <p:nvSpPr>
            <p:cNvPr id="58" name="Google Shape;58;p3"/>
            <p:cNvSpPr/>
            <p:nvPr/>
          </p:nvSpPr>
          <p:spPr>
            <a:xfrm rot="10800000">
              <a:off x="344060" y="565965"/>
              <a:ext cx="688120" cy="282982"/>
            </a:xfrm>
            <a:prstGeom prst="trapezoid">
              <a:avLst>
                <a:gd fmla="val 60792" name="adj"/>
              </a:avLst>
            </a:prstGeom>
            <a:solidFill>
              <a:schemeClr val="lt1"/>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 name="Google Shape;59;p3"/>
            <p:cNvSpPr txBox="1"/>
            <p:nvPr/>
          </p:nvSpPr>
          <p:spPr>
            <a:xfrm>
              <a:off x="464481" y="565965"/>
              <a:ext cx="447278"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獲得</a:t>
              </a:r>
              <a:endParaRPr/>
            </a:p>
          </p:txBody>
        </p:sp>
        <p:sp>
          <p:nvSpPr>
            <p:cNvPr id="60" name="Google Shape;60;p3"/>
            <p:cNvSpPr/>
            <p:nvPr/>
          </p:nvSpPr>
          <p:spPr>
            <a:xfrm rot="10800000">
              <a:off x="516090" y="848948"/>
              <a:ext cx="344060" cy="282982"/>
            </a:xfrm>
            <a:prstGeom prst="trapezoid">
              <a:avLst>
                <a:gd fmla="val 60792" name="adj"/>
              </a:avLst>
            </a:prstGeom>
            <a:no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 name="Google Shape;61;p3"/>
            <p:cNvSpPr txBox="1"/>
            <p:nvPr/>
          </p:nvSpPr>
          <p:spPr>
            <a:xfrm>
              <a:off x="516090" y="848948"/>
              <a:ext cx="344060"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伸長</a:t>
              </a:r>
              <a:endParaRPr/>
            </a:p>
          </p:txBody>
        </p:sp>
      </p:grpSp>
      <p:pic>
        <p:nvPicPr>
          <p:cNvPr descr="LINE公式アカウントのロゴの使用方法とは？種類やダウンロード方法、利用時の注意点を紹介 | Mico（ミコ）" id="62" name="Google Shape;62;p3"/>
          <p:cNvPicPr preferRelativeResize="0"/>
          <p:nvPr/>
        </p:nvPicPr>
        <p:blipFill rotWithShape="1">
          <a:blip r:embed="rId2">
            <a:alphaModFix/>
          </a:blip>
          <a:srcRect b="0" l="0" r="0" t="0"/>
          <a:stretch/>
        </p:blipFill>
        <p:spPr>
          <a:xfrm>
            <a:off x="351381" y="1234746"/>
            <a:ext cx="656177" cy="655521"/>
          </a:xfrm>
          <a:prstGeom prst="rect">
            <a:avLst/>
          </a:prstGeom>
          <a:noFill/>
          <a:ln>
            <a:noFill/>
          </a:ln>
        </p:spPr>
      </p:pic>
      <p:sp>
        <p:nvSpPr>
          <p:cNvPr id="63" name="Rectangle 62"/>
          <p:cNvSpPr/>
          <p:nvPr/>
        </p:nvSpPr>
        <p:spPr>
          <a:xfrm>
            <a:off x="544108" y="3068960"/>
            <a:ext cx="2091690" cy="365760"/>
          </a:xfrm>
          <a:prstGeom prst="rect">
            <a:avLst/>
          </a:prstGeom>
          <a:solidFill>
            <a:srgbClr val="1513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45720"/>
          <a:lstStyle/>
          <a:p>
            <a:pPr algn="ctr"/>
            <a:r>
              <a:rPr sz="1300" b="1">
                <a:solidFill>
                  <a:srgbClr val="FFFFFF"/>
                </a:solidFill>
                <a:latin typeface="メイリオ"/>
              </a:rPr>
              <a:t>30営業日前</a:t>
            </a:r>
          </a:p>
        </p:txBody>
      </p:sp>
      <p:sp>
        <p:nvSpPr>
          <p:cNvPr id="64" name="Rectangle 63"/>
          <p:cNvSpPr/>
          <p:nvPr/>
        </p:nvSpPr>
        <p:spPr>
          <a:xfrm>
            <a:off x="544108" y="3434720"/>
            <a:ext cx="2091690" cy="1005840"/>
          </a:xfrm>
          <a:prstGeom prst="rect">
            <a:avLst/>
          </a:prstGeom>
          <a:solidFill>
            <a:srgbClr val="EAF0FA"/>
          </a:solidFill>
          <a:ln w="12700">
            <a:solidFill>
              <a:srgbClr val="3467B2"/>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37160" tIns="54864" bIns="54864"/>
          <a:lstStyle/>
          <a:p>
            <a:pPr algn="ctr">
              <a:lnSpc>
                <a:spcPct val="110000"/>
              </a:lnSpc>
            </a:pPr>
            <a:r>
              <a:rPr sz="1050">
                <a:solidFill>
                  <a:srgbClr val="333333"/>
                </a:solidFill>
                <a:latin typeface="メイリオ"/>
              </a:rPr>
              <a:t>企業・商材審査／企画審査</a:t>
            </a:r>
          </a:p>
        </p:txBody>
      </p:sp>
      <p:sp>
        <p:nvSpPr>
          <p:cNvPr id="65" name="TextBox 64"/>
          <p:cNvSpPr txBox="1"/>
          <p:nvPr/>
        </p:nvSpPr>
        <p:spPr>
          <a:xfrm>
            <a:off x="2635798" y="3068960"/>
            <a:ext cx="320040" cy="1371600"/>
          </a:xfrm>
          <a:prstGeom prst="rect">
            <a:avLst/>
          </a:prstGeom>
          <a:noFill/>
        </p:spPr>
        <p:txBody>
          <a:bodyPr wrap="none" anchor="ctr">
            <a:spAutoFit/>
          </a:bodyPr>
          <a:lstStyle/>
          <a:p>
            <a:pPr algn="ctr"/>
            <a:r>
              <a:rPr sz="1600" b="1">
                <a:solidFill>
                  <a:srgbClr val="3467B2"/>
                </a:solidFill>
                <a:latin typeface="メイリオ"/>
              </a:rPr>
              <a:t>▶</a:t>
            </a:r>
          </a:p>
        </p:txBody>
      </p:sp>
      <p:sp>
        <p:nvSpPr>
          <p:cNvPr id="66" name="Rectangle 65"/>
          <p:cNvSpPr/>
          <p:nvPr/>
        </p:nvSpPr>
        <p:spPr>
          <a:xfrm>
            <a:off x="2955838" y="3068960"/>
            <a:ext cx="2091690" cy="365760"/>
          </a:xfrm>
          <a:prstGeom prst="rect">
            <a:avLst/>
          </a:prstGeom>
          <a:solidFill>
            <a:srgbClr val="1513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45720"/>
          <a:lstStyle/>
          <a:p>
            <a:pPr algn="ctr"/>
            <a:r>
              <a:rPr sz="1300" b="1">
                <a:solidFill>
                  <a:srgbClr val="FFFFFF"/>
                </a:solidFill>
                <a:latin typeface="メイリオ"/>
              </a:rPr>
              <a:t>25営業日前 17時</a:t>
            </a:r>
          </a:p>
        </p:txBody>
      </p:sp>
      <p:sp>
        <p:nvSpPr>
          <p:cNvPr id="67" name="Rectangle 66"/>
          <p:cNvSpPr/>
          <p:nvPr/>
        </p:nvSpPr>
        <p:spPr>
          <a:xfrm>
            <a:off x="2955838" y="3434720"/>
            <a:ext cx="2091690" cy="1005840"/>
          </a:xfrm>
          <a:prstGeom prst="rect">
            <a:avLst/>
          </a:prstGeom>
          <a:solidFill>
            <a:srgbClr val="EAF0FA"/>
          </a:solidFill>
          <a:ln w="12700">
            <a:solidFill>
              <a:srgbClr val="3467B2"/>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37160" tIns="54864" bIns="54864"/>
          <a:lstStyle/>
          <a:p>
            <a:pPr algn="ctr">
              <a:lnSpc>
                <a:spcPct val="110000"/>
              </a:lnSpc>
            </a:pPr>
            <a:r>
              <a:rPr sz="1050">
                <a:solidFill>
                  <a:srgbClr val="333333"/>
                </a:solidFill>
                <a:latin typeface="メイリオ"/>
              </a:rPr>
              <a:t>配信枠おさえ・申込み</a:t>
            </a:r>
          </a:p>
        </p:txBody>
      </p:sp>
      <p:sp>
        <p:nvSpPr>
          <p:cNvPr id="68" name="TextBox 67"/>
          <p:cNvSpPr txBox="1"/>
          <p:nvPr/>
        </p:nvSpPr>
        <p:spPr>
          <a:xfrm>
            <a:off x="5047528" y="3068960"/>
            <a:ext cx="320040" cy="1371600"/>
          </a:xfrm>
          <a:prstGeom prst="rect">
            <a:avLst/>
          </a:prstGeom>
          <a:noFill/>
        </p:spPr>
        <p:txBody>
          <a:bodyPr wrap="none" anchor="ctr">
            <a:spAutoFit/>
          </a:bodyPr>
          <a:lstStyle/>
          <a:p>
            <a:pPr algn="ctr"/>
            <a:r>
              <a:rPr sz="1600" b="1">
                <a:solidFill>
                  <a:srgbClr val="3467B2"/>
                </a:solidFill>
                <a:latin typeface="メイリオ"/>
              </a:rPr>
              <a:t>▶</a:t>
            </a:r>
          </a:p>
        </p:txBody>
      </p:sp>
      <p:sp>
        <p:nvSpPr>
          <p:cNvPr id="69" name="Rectangle 68"/>
          <p:cNvSpPr/>
          <p:nvPr/>
        </p:nvSpPr>
        <p:spPr>
          <a:xfrm>
            <a:off x="5367568" y="3068960"/>
            <a:ext cx="2091690" cy="365760"/>
          </a:xfrm>
          <a:prstGeom prst="rect">
            <a:avLst/>
          </a:prstGeom>
          <a:solidFill>
            <a:srgbClr val="1513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45720"/>
          <a:lstStyle/>
          <a:p>
            <a:pPr algn="ctr"/>
            <a:r>
              <a:rPr sz="1300" b="1">
                <a:solidFill>
                  <a:srgbClr val="FFFFFF"/>
                </a:solidFill>
                <a:latin typeface="メイリオ"/>
              </a:rPr>
              <a:t>20営業日前 17時</a:t>
            </a:r>
          </a:p>
        </p:txBody>
      </p:sp>
      <p:sp>
        <p:nvSpPr>
          <p:cNvPr id="70" name="Rectangle 69"/>
          <p:cNvSpPr/>
          <p:nvPr/>
        </p:nvSpPr>
        <p:spPr>
          <a:xfrm>
            <a:off x="5367568" y="3434720"/>
            <a:ext cx="2091690" cy="1005840"/>
          </a:xfrm>
          <a:prstGeom prst="rect">
            <a:avLst/>
          </a:prstGeom>
          <a:solidFill>
            <a:srgbClr val="EAF0FA"/>
          </a:solidFill>
          <a:ln w="12700">
            <a:solidFill>
              <a:srgbClr val="3467B2"/>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37160" tIns="54864" bIns="54864"/>
          <a:lstStyle/>
          <a:p>
            <a:pPr algn="ctr">
              <a:lnSpc>
                <a:spcPct val="110000"/>
              </a:lnSpc>
            </a:pPr>
            <a:r>
              <a:rPr sz="1050">
                <a:solidFill>
                  <a:srgbClr val="333333"/>
                </a:solidFill>
                <a:latin typeface="メイリオ"/>
              </a:rPr>
              <a:t>入稿物の提出</a:t>
            </a:r>
          </a:p>
        </p:txBody>
      </p:sp>
      <p:sp>
        <p:nvSpPr>
          <p:cNvPr id="71" name="TextBox 70"/>
          <p:cNvSpPr txBox="1"/>
          <p:nvPr/>
        </p:nvSpPr>
        <p:spPr>
          <a:xfrm>
            <a:off x="7459258" y="3068960"/>
            <a:ext cx="320040" cy="1371600"/>
          </a:xfrm>
          <a:prstGeom prst="rect">
            <a:avLst/>
          </a:prstGeom>
          <a:noFill/>
        </p:spPr>
        <p:txBody>
          <a:bodyPr wrap="none" anchor="ctr">
            <a:spAutoFit/>
          </a:bodyPr>
          <a:lstStyle/>
          <a:p>
            <a:pPr algn="ctr"/>
            <a:r>
              <a:rPr sz="1600" b="1">
                <a:solidFill>
                  <a:srgbClr val="3467B2"/>
                </a:solidFill>
                <a:latin typeface="メイリオ"/>
              </a:rPr>
              <a:t>▶</a:t>
            </a:r>
          </a:p>
        </p:txBody>
      </p:sp>
      <p:sp>
        <p:nvSpPr>
          <p:cNvPr id="72" name="Rectangle 71"/>
          <p:cNvSpPr/>
          <p:nvPr/>
        </p:nvSpPr>
        <p:spPr>
          <a:xfrm>
            <a:off x="7779298" y="3068960"/>
            <a:ext cx="2091690" cy="365760"/>
          </a:xfrm>
          <a:prstGeom prst="rect">
            <a:avLst/>
          </a:prstGeom>
          <a:solidFill>
            <a:srgbClr val="1513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45720"/>
          <a:lstStyle/>
          <a:p>
            <a:pPr algn="ctr"/>
            <a:r>
              <a:rPr sz="1300" b="1">
                <a:solidFill>
                  <a:srgbClr val="FFFFFF"/>
                </a:solidFill>
                <a:latin typeface="メイリオ"/>
              </a:rPr>
              <a:t>開始日</a:t>
            </a:r>
          </a:p>
        </p:txBody>
      </p:sp>
      <p:sp>
        <p:nvSpPr>
          <p:cNvPr id="73" name="Rectangle 72"/>
          <p:cNvSpPr/>
          <p:nvPr/>
        </p:nvSpPr>
        <p:spPr>
          <a:xfrm>
            <a:off x="7779298" y="3434720"/>
            <a:ext cx="2091690" cy="1005840"/>
          </a:xfrm>
          <a:prstGeom prst="rect">
            <a:avLst/>
          </a:prstGeom>
          <a:solidFill>
            <a:srgbClr val="EAF0FA"/>
          </a:solidFill>
          <a:ln w="12700">
            <a:solidFill>
              <a:srgbClr val="3467B2"/>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37160" tIns="54864" bIns="54864"/>
          <a:lstStyle/>
          <a:p>
            <a:pPr algn="ctr">
              <a:lnSpc>
                <a:spcPct val="110000"/>
              </a:lnSpc>
            </a:pPr>
            <a:r>
              <a:rPr sz="1050">
                <a:solidFill>
                  <a:srgbClr val="333333"/>
                </a:solidFill>
                <a:latin typeface="メイリオ"/>
              </a:rPr>
              <a:t>掲載開始（土日祝日不可）</a:t>
            </a:r>
          </a:p>
        </p:txBody>
      </p:sp>
      <p:sp>
        <p:nvSpPr>
          <p:cNvPr id="74" name="Rounded Rectangle 73"/>
          <p:cNvSpPr/>
          <p:nvPr/>
        </p:nvSpPr>
        <p:spPr>
          <a:xfrm>
            <a:off x="544108" y="4669160"/>
            <a:ext cx="9326880" cy="914400"/>
          </a:xfrm>
          <a:prstGeom prst="roundRect">
            <a:avLst>
              <a:gd name="adj" fmla="val 6000"/>
            </a:avLst>
          </a:prstGeom>
          <a:solidFill>
            <a:srgbClr val="EAF0FA"/>
          </a:solidFill>
          <a:ln w="12700">
            <a:solidFill>
              <a:srgbClr val="3467B2"/>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182880"/>
          <a:lstStyle/>
          <a:p>
            <a:pPr algn="l"/>
            <a:r>
              <a:rPr sz="1700" b="1">
                <a:solidFill>
                  <a:srgbClr val="15133D"/>
                </a:solidFill>
                <a:latin typeface="メイリオ"/>
              </a:rPr>
              <a:t>早めの申込みが必須</a:t>
            </a:r>
          </a:p>
          <a:p>
            <a:pPr algn="l">
              <a:lnSpc>
                <a:spcPct val="115000"/>
              </a:lnSpc>
              <a:spcBef>
                <a:spcPts val="600"/>
              </a:spcBef>
            </a:pPr>
            <a:r>
              <a:rPr sz="1100">
                <a:solidFill>
                  <a:srgbClr val="333333"/>
                </a:solidFill>
                <a:latin typeface="メイリオ"/>
              </a:rPr>
              <a:t>期間・条件限定のキャンペーンのため、早めの提案・申込み誘導がカギ。配信枠は先着で埋まるため、審査期間も見込んだ逆算スケジュールを組む。</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0" name="Google Shape;40;p3"/>
          <p:cNvSpPr/>
          <p:nvPr/>
        </p:nvSpPr>
        <p:spPr>
          <a:xfrm>
            <a:off x="292801" y="730955"/>
            <a:ext cx="1296144" cy="435690"/>
          </a:xfrm>
          <a:prstGeom prst="rect">
            <a:avLst/>
          </a:prstGeom>
          <a:solidFill>
            <a:schemeClr val="dk2"/>
          </a:solidFill>
          <a:ln cap="flat" cmpd="sng" w="9525">
            <a:solidFill>
              <a:srgbClr val="4A7DBA"/>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800" u="none" cap="none" strike="noStrike">
                <a:solidFill>
                  <a:schemeClr val="lt1"/>
                </a:solidFill>
                <a:latin typeface="メイリオ"/>
                <a:ea typeface="Meiryo"/>
                <a:cs typeface="Meiryo"/>
                <a:sym typeface="Meiryo"/>
              </a:rPr>
              <a:t>対象業界</a:t>
            </a:r>
            <a:endParaRPr/>
          </a:p>
        </p:txBody>
      </p:sp>
      <p:sp>
        <p:nvSpPr>
          <p:cNvPr id="41" name="Google Shape;41;p3"/>
          <p:cNvSpPr/>
          <p:nvPr/>
        </p:nvSpPr>
        <p:spPr>
          <a:xfrm>
            <a:off x="756084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200" u="none" cap="none" strike="noStrike">
                <a:solidFill>
                  <a:schemeClr val="dk1"/>
                </a:solidFill>
                <a:latin typeface="メイリオ"/>
                <a:ea typeface="Meiryo"/>
                <a:cs typeface="Meiryo"/>
                <a:sym typeface="Meiryo"/>
              </a:rPr>
              <a:t>その他</a:t>
            </a:r>
            <a:endParaRPr b="0" i="0" sz="1200" u="none" cap="none" strike="noStrike">
              <a:solidFill>
                <a:schemeClr val="dk1"/>
              </a:solidFill>
              <a:latin typeface="Meiryo"/>
              <a:ea typeface="Meiryo"/>
              <a:cs typeface="Meiryo"/>
              <a:sym typeface="Meiryo"/>
            </a:endParaRPr>
          </a:p>
        </p:txBody>
      </p:sp>
      <p:sp>
        <p:nvSpPr>
          <p:cNvPr id="42" name="Google Shape;42;p3"/>
          <p:cNvSpPr/>
          <p:nvPr/>
        </p:nvSpPr>
        <p:spPr>
          <a:xfrm>
            <a:off x="6679050" y="730955"/>
            <a:ext cx="829618" cy="435690"/>
          </a:xfrm>
          <a:prstGeom prst="rect">
            <a:avLst/>
          </a:prstGeom>
          <a:solidFill>
            <a:schemeClr val="tx2"/>
          </a:solidFill>
          <a:ln cap="flat" cmpd="sng" w="9525">
            <a:solidFill>
              <a:srgbClr val="4F81BD"/>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000" u="none" cap="none" strike="noStrike">
                <a:solidFill>
                  <a:schemeClr val="dk1"/>
                </a:solidFill>
                <a:latin typeface="メイリオ"/>
                <a:ea typeface="Meiryo"/>
                <a:cs typeface="Meiryo"/>
                <a:sym typeface="Meiryo"/>
              </a:rPr>
              <a:t>オプション</a:t>
            </a:r>
            <a:endParaRPr b="0" i="0" sz="1000" u="none" cap="none" strike="noStrike">
              <a:solidFill>
                <a:schemeClr val="dk1"/>
              </a:solidFill>
              <a:latin typeface="Meiryo"/>
              <a:ea typeface="Meiryo"/>
              <a:cs typeface="Meiryo"/>
              <a:sym typeface="Meiryo"/>
            </a:endParaRPr>
          </a:p>
          <a:p>
            <a:pPr indent="0" lvl="0" marL="0" marR="0" rtl="0" algn="ctr">
              <a:spcBef>
                <a:spcPts val="0"/>
              </a:spcBef>
              <a:spcAft>
                <a:spcPts val="0"/>
              </a:spcAft>
              <a:buNone/>
            </a:pPr>
            <a:r>
              <a:rPr b="0" i="0" lang="ja-JP" sz="1000" u="none" cap="none" strike="noStrike">
                <a:solidFill>
                  <a:schemeClr val="dk1"/>
                </a:solidFill>
                <a:latin typeface="メイリオ"/>
                <a:ea typeface="Meiryo"/>
                <a:cs typeface="Meiryo"/>
                <a:sym typeface="Meiryo"/>
              </a:rPr>
              <a:t>商材</a:t>
            </a:r>
            <a:endParaRPr/>
          </a:p>
        </p:txBody>
      </p:sp>
      <p:sp>
        <p:nvSpPr>
          <p:cNvPr id="43" name="Google Shape;43;p3"/>
          <p:cNvSpPr/>
          <p:nvPr/>
        </p:nvSpPr>
        <p:spPr>
          <a:xfrm>
            <a:off x="1594068" y="730955"/>
            <a:ext cx="2926883" cy="435690"/>
          </a:xfrm>
          <a:prstGeom prst="rect">
            <a:avLst/>
          </a:prstGeom>
          <a:noFill/>
          <a:ln cap="flat" cmpd="sng" w="9525">
            <a:solidFill>
              <a:srgbClr val="4A7DBA"/>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300" u="none" cap="none" strike="noStrike">
                <a:solidFill>
                  <a:schemeClr val="dk1"/>
                </a:solidFill>
                <a:latin typeface="メイリオ"/>
                <a:ea typeface="Meiryo"/>
                <a:cs typeface="Meiryo"/>
                <a:sym typeface="Meiryo"/>
              </a:rPr>
              <a:t>友だち獲得を強化したい全業種</a:t>
            </a:r>
            <a:endParaRPr/>
          </a:p>
        </p:txBody>
      </p:sp>
      <p:sp>
        <p:nvSpPr>
          <p:cNvPr id="44" name="Google Shape;44;p3"/>
          <p:cNvSpPr txBox="1"/>
          <p:nvPr/>
        </p:nvSpPr>
        <p:spPr>
          <a:xfrm>
            <a:off x="3296816" y="6597352"/>
            <a:ext cx="6209091" cy="2154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ja-JP" sz="800" u="none" cap="none" strike="noStrike">
                <a:solidFill>
                  <a:schemeClr val="lt1"/>
                </a:solidFill>
                <a:latin typeface="メイリオ"/>
                <a:ea typeface="Meiryo"/>
                <a:cs typeface="Meiryo"/>
                <a:sym typeface="Meiryo"/>
              </a:rPr>
              <a:t>出典：https://workers-hub.box.com/s/odilqpe44tp398zlfko148yggcgj68ny</a:t>
            </a:r>
            <a:endParaRPr sz="800">
              <a:solidFill>
                <a:schemeClr val="lt1"/>
              </a:solidFill>
              <a:latin typeface="Meiryo"/>
              <a:ea typeface="Meiryo"/>
              <a:cs typeface="Meiryo"/>
              <a:sym typeface="Meiryo"/>
            </a:endParaRPr>
          </a:p>
        </p:txBody>
      </p:sp>
      <p:sp>
        <p:nvSpPr>
          <p:cNvPr id="45" name="Google Shape;45;p3"/>
          <p:cNvSpPr/>
          <p:nvPr/>
        </p:nvSpPr>
        <p:spPr>
          <a:xfrm>
            <a:off x="0" y="1234746"/>
            <a:ext cx="9906000" cy="672259"/>
          </a:xfrm>
          <a:prstGeom prst="rect">
            <a:avLst/>
          </a:prstGeom>
          <a:solidFill>
            <a:srgbClr val="C5D8F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b="1" lang="ja-JP" sz="1600">
                <a:solidFill>
                  <a:srgbClr val="004DE6"/>
                </a:solidFill>
                <a:latin typeface="メイリオ"/>
                <a:ea typeface="Meiryo"/>
                <a:cs typeface="Meiryo"/>
                <a:sym typeface="Meiryo"/>
              </a:rPr>
              <a:t>　　　　　　</a:t>
            </a:r>
            <a:endParaRPr b="1" sz="1800">
              <a:solidFill>
                <a:srgbClr val="004DE6"/>
              </a:solidFill>
              <a:latin typeface="Meiryo"/>
              <a:ea typeface="Meiryo"/>
              <a:cs typeface="Meiryo"/>
              <a:sym typeface="Meiryo"/>
            </a:endParaRPr>
          </a:p>
        </p:txBody>
      </p:sp>
      <p:sp>
        <p:nvSpPr>
          <p:cNvPr id="46" name="Google Shape;46;p3"/>
          <p:cNvSpPr/>
          <p:nvPr/>
        </p:nvSpPr>
        <p:spPr>
          <a:xfrm>
            <a:off x="1089832" y="1437370"/>
            <a:ext cx="7031520" cy="33855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ja-JP" sz="1600">
                <a:solidFill>
                  <a:srgbClr val="004DE6"/>
                </a:solidFill>
                <a:latin typeface="メイリオ"/>
                <a:ea typeface="Meiryo"/>
                <a:cs typeface="Meiryo"/>
                <a:sym typeface="Meiryo"/>
              </a:rPr>
              <a:t>【LINEオープンキャンペーン】注意点・ご利用条件</a:t>
            </a:r>
            <a:endParaRPr b="1" sz="1600">
              <a:solidFill>
                <a:srgbClr val="004DE6"/>
              </a:solidFill>
              <a:latin typeface="Meiryo"/>
              <a:ea typeface="Meiryo"/>
              <a:cs typeface="Meiryo"/>
              <a:sym typeface="Meiryo"/>
            </a:endParaRPr>
          </a:p>
        </p:txBody>
      </p:sp>
      <p:sp>
        <p:nvSpPr>
          <p:cNvPr id="47" name="Google Shape;47;p3"/>
          <p:cNvSpPr txBox="1"/>
          <p:nvPr/>
        </p:nvSpPr>
        <p:spPr>
          <a:xfrm>
            <a:off x="182880" y="88175"/>
            <a:ext cx="7512385" cy="365091"/>
          </a:xfrm>
          <a:prstGeom prst="rect">
            <a:avLst/>
          </a:prstGeom>
          <a:noFill/>
          <a:ln>
            <a:noFill/>
          </a:ln>
        </p:spPr>
        <p:txBody>
          <a:bodyPr anchorCtr="0" anchor="t" bIns="45700" lIns="91425" spcFirstLastPara="1" rIns="91425" wrap="square" tIns="72000">
            <a:spAutoFit/>
          </a:bodyPr>
          <a:lstStyle/>
          <a:p>
            <a:pPr indent="0" lvl="0" marL="0" marR="0" rtl="0" algn="l">
              <a:spcBef>
                <a:spcPts val="0"/>
              </a:spcBef>
              <a:spcAft>
                <a:spcPts val="0"/>
              </a:spcAft>
              <a:buClr>
                <a:schemeClr val="dk1"/>
              </a:buClr>
              <a:buSzPts val="1600"/>
              <a:buFont typeface="Arial"/>
              <a:buNone/>
            </a:pPr>
            <a:r>
              <a:rPr b="0" lang="ja-JP" sz="1600" u="none">
                <a:solidFill>
                  <a:schemeClr val="dk1"/>
                </a:solidFill>
                <a:latin typeface="メイリオ"/>
                <a:ea typeface="Meiryo"/>
                <a:cs typeface="Meiryo"/>
                <a:sym typeface="Meiryo"/>
              </a:rPr>
              <a:t>    今後のアップデート情報</a:t>
            </a:r>
            <a:endParaRPr b="0" sz="1600" u="none">
              <a:solidFill>
                <a:schemeClr val="dk1"/>
              </a:solidFill>
              <a:latin typeface="Meiryo"/>
              <a:ea typeface="Meiryo"/>
              <a:cs typeface="Meiryo"/>
              <a:sym typeface="Meiryo"/>
            </a:endParaRPr>
          </a:p>
        </p:txBody>
      </p:sp>
      <p:sp>
        <p:nvSpPr>
          <p:cNvPr id="48" name="Google Shape;48;p3"/>
          <p:cNvSpPr/>
          <p:nvPr/>
        </p:nvSpPr>
        <p:spPr>
          <a:xfrm>
            <a:off x="579726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Clr>
                <a:schemeClr val="dk1"/>
              </a:buClr>
              <a:buSzPts val="1000"/>
              <a:buFont typeface="Meiryo"/>
              <a:buNone/>
            </a:pPr>
            <a:r>
              <a:rPr lang="ja-JP" sz="1000">
                <a:solidFill>
                  <a:schemeClr val="dk1"/>
                </a:solidFill>
                <a:latin typeface="メイリオ"/>
                <a:ea typeface="Meiryo"/>
                <a:cs typeface="Meiryo"/>
                <a:sym typeface="Meiryo"/>
              </a:rPr>
              <a:t>開発</a:t>
            </a:r>
            <a:endParaRPr sz="1000">
              <a:solidFill>
                <a:schemeClr val="dk1"/>
              </a:solidFill>
              <a:latin typeface="Meiryo"/>
              <a:ea typeface="Meiryo"/>
              <a:cs typeface="Meiryo"/>
              <a:sym typeface="Meiryo"/>
            </a:endParaRPr>
          </a:p>
          <a:p>
            <a:pPr indent="0" lvl="0" marL="0" marR="0" rtl="0" algn="ctr">
              <a:spcBef>
                <a:spcPts val="0"/>
              </a:spcBef>
              <a:spcAft>
                <a:spcPts val="0"/>
              </a:spcAft>
              <a:buClr>
                <a:schemeClr val="dk1"/>
              </a:buClr>
              <a:buSzPts val="1000"/>
              <a:buFont typeface="Meiryo"/>
              <a:buNone/>
            </a:pPr>
            <a:r>
              <a:rPr lang="ja-JP" sz="1000">
                <a:solidFill>
                  <a:schemeClr val="dk1"/>
                </a:solidFill>
                <a:latin typeface="メイリオ"/>
                <a:ea typeface="Meiryo"/>
                <a:cs typeface="Meiryo"/>
                <a:sym typeface="Meiryo"/>
              </a:rPr>
              <a:t>LINE API</a:t>
            </a:r>
            <a:endParaRPr sz="1000">
              <a:solidFill>
                <a:schemeClr val="dk1"/>
              </a:solidFill>
              <a:latin typeface="Meiryo"/>
              <a:ea typeface="Meiryo"/>
              <a:cs typeface="Meiryo"/>
              <a:sym typeface="Meiryo"/>
            </a:endParaRPr>
          </a:p>
        </p:txBody>
      </p:sp>
      <p:sp>
        <p:nvSpPr>
          <p:cNvPr id="49" name="Google Shape;49;p3"/>
          <p:cNvSpPr/>
          <p:nvPr/>
        </p:nvSpPr>
        <p:spPr>
          <a:xfrm>
            <a:off x="491547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lang="ja-JP" sz="1000">
                <a:solidFill>
                  <a:schemeClr val="dk1"/>
                </a:solidFill>
                <a:latin typeface="メイリオ"/>
                <a:ea typeface="Meiryo"/>
                <a:cs typeface="Meiryo"/>
                <a:sym typeface="Meiryo"/>
              </a:rPr>
              <a:t>LINE公式アカウント</a:t>
            </a:r>
            <a:endParaRPr sz="1000">
              <a:solidFill>
                <a:schemeClr val="dk1"/>
              </a:solidFill>
              <a:latin typeface="Meiryo"/>
              <a:ea typeface="Meiryo"/>
              <a:cs typeface="Meiryo"/>
              <a:sym typeface="Meiryo"/>
            </a:endParaRPr>
          </a:p>
        </p:txBody>
      </p:sp>
      <p:sp>
        <p:nvSpPr>
          <p:cNvPr id="50" name="Google Shape;50;p3"/>
          <p:cNvSpPr/>
          <p:nvPr/>
        </p:nvSpPr>
        <p:spPr>
          <a:xfrm>
            <a:off x="0" y="1890267"/>
            <a:ext cx="9906000" cy="733579"/>
          </a:xfrm>
          <a:prstGeom prst="rect">
            <a:avLst/>
          </a:prstGeom>
          <a:solidFill>
            <a:srgbClr val="F2F2F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a:latin typeface="メイリオ"/>
              </a:rPr>
              <a:t/>
            </a:r>
            <a:endParaRPr sz="1200">
              <a:solidFill>
                <a:schemeClr val="dk1"/>
              </a:solidFill>
              <a:latin typeface="Meiryo"/>
              <a:ea typeface="Meiryo"/>
              <a:cs typeface="Meiryo"/>
              <a:sym typeface="Meiryo"/>
            </a:endParaRPr>
          </a:p>
        </p:txBody>
      </p:sp>
      <p:sp>
        <p:nvSpPr>
          <p:cNvPr id="51" name="Google Shape;51;p3"/>
          <p:cNvSpPr/>
          <p:nvPr/>
        </p:nvSpPr>
        <p:spPr>
          <a:xfrm>
            <a:off x="544108" y="1961282"/>
            <a:ext cx="8817783" cy="646331"/>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lang="ja-JP" sz="1200">
                <a:solidFill>
                  <a:schemeClr val="dk1"/>
                </a:solidFill>
                <a:latin typeface="メイリオ"/>
                <a:ea typeface="Meiryo"/>
                <a:cs typeface="Meiryo"/>
                <a:sym typeface="Meiryo"/>
              </a:rPr>
              <a:t>キャンセル規定・割引の併用可否など、提案前に必ず確認したい4点。</a:t>
            </a:r>
            <a:endParaRPr b="1" sz="1200">
              <a:solidFill>
                <a:schemeClr val="dk1"/>
              </a:solidFill>
              <a:latin typeface="Meiryo"/>
              <a:ea typeface="Meiryo"/>
              <a:cs typeface="Meiryo"/>
              <a:sym typeface="Meiryo"/>
            </a:endParaRPr>
          </a:p>
          <a:p>
            <a:pPr indent="0" lvl="0" marL="0" marR="0" rtl="0" algn="ctr">
              <a:spcBef>
                <a:spcPts val="0"/>
              </a:spcBef>
              <a:spcAft>
                <a:spcPts val="0"/>
              </a:spcAft>
              <a:buNone/>
            </a:pPr>
            <a:r>
              <a:rPr b="1" lang="ja-JP" sz="1200">
                <a:solidFill>
                  <a:schemeClr val="dk1"/>
                </a:solidFill>
                <a:latin typeface="メイリオ"/>
                <a:ea typeface="Meiryo"/>
                <a:cs typeface="Meiryo"/>
                <a:sym typeface="Meiryo"/>
              </a:rPr>
              <a:t>特にキャンセル規定は発注後の費用に直結するため要注意。</a:t>
            </a:r>
            <a:endParaRPr/>
          </a:p>
          <a:p>
            <a:pPr indent="0" lvl="0" marL="0" marR="0" rtl="0" algn="ctr">
              <a:spcBef>
                <a:spcPts val="0"/>
              </a:spcBef>
              <a:spcAft>
                <a:spcPts val="0"/>
              </a:spcAft>
              <a:buNone/>
            </a:pPr>
            <a:r>
              <a:rPr b="1" lang="ja-JP" sz="1200">
                <a:solidFill>
                  <a:schemeClr val="dk1"/>
                </a:solidFill>
                <a:latin typeface="メイリオ"/>
                <a:ea typeface="Meiryo"/>
                <a:cs typeface="Meiryo"/>
                <a:sym typeface="Meiryo"/>
              </a:rPr>
              <a:t>景品内容は変更となる場合があり、事前の合意形成が欠かせない。</a:t>
            </a:r>
            <a:endParaRPr b="1" sz="1400">
              <a:solidFill>
                <a:schemeClr val="dk1"/>
              </a:solidFill>
              <a:latin typeface="Meiryo"/>
              <a:ea typeface="Meiryo"/>
              <a:cs typeface="Meiryo"/>
              <a:sym typeface="Meiryo"/>
            </a:endParaRPr>
          </a:p>
        </p:txBody>
      </p:sp>
      <p:sp>
        <p:nvSpPr>
          <p:cNvPr id="52" name="Google Shape;52;p3"/>
          <p:cNvSpPr/>
          <p:nvPr/>
        </p:nvSpPr>
        <p:spPr>
          <a:xfrm>
            <a:off x="351381" y="2714173"/>
            <a:ext cx="5200000" cy="33855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ja-JP" sz="1400">
                <a:solidFill>
                  <a:srgbClr val="15133D"/>
                </a:solidFill>
                <a:latin typeface="メイリオ"/>
                <a:ea typeface="Meiryo"/>
                <a:cs typeface="Meiryo"/>
                <a:sym typeface="Meiryo"/>
              </a:rPr>
              <a:t>■ 詳細</a:t>
            </a:r>
            <a:endParaRPr/>
          </a:p>
        </p:txBody>
      </p:sp>
      <p:grpSp>
        <p:nvGrpSpPr>
          <p:cNvPr id="53" name="Google Shape;53;p3"/>
          <p:cNvGrpSpPr/>
          <p:nvPr/>
        </p:nvGrpSpPr>
        <p:grpSpPr>
          <a:xfrm>
            <a:off x="8473303" y="730955"/>
            <a:ext cx="1376241" cy="1131930"/>
            <a:chOff x="0" y="0"/>
            <a:chExt cx="1376241" cy="1131930"/>
          </a:xfrm>
        </p:grpSpPr>
        <p:sp>
          <p:nvSpPr>
            <p:cNvPr id="54" name="Google Shape;54;p3"/>
            <p:cNvSpPr/>
            <p:nvPr/>
          </p:nvSpPr>
          <p:spPr>
            <a:xfrm rot="10800000">
              <a:off x="0" y="0"/>
              <a:ext cx="1376241" cy="282982"/>
            </a:xfrm>
            <a:prstGeom prst="trapezoid">
              <a:avLst>
                <a:gd fmla="val 60792" name="adj"/>
              </a:avLst>
            </a:prstGeom>
            <a:solidFill>
              <a:srgbClr val="EAEDF5"/>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 name="Google Shape;55;p3"/>
            <p:cNvSpPr txBox="1"/>
            <p:nvPr/>
          </p:nvSpPr>
          <p:spPr>
            <a:xfrm>
              <a:off x="240842" y="0"/>
              <a:ext cx="894556"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認知</a:t>
              </a:r>
              <a:endParaRPr/>
            </a:p>
          </p:txBody>
        </p:sp>
        <p:sp>
          <p:nvSpPr>
            <p:cNvPr id="56" name="Google Shape;56;p3"/>
            <p:cNvSpPr/>
            <p:nvPr/>
          </p:nvSpPr>
          <p:spPr>
            <a:xfrm rot="10800000">
              <a:off x="172030" y="282982"/>
              <a:ext cx="1032180" cy="282982"/>
            </a:xfrm>
            <a:prstGeom prst="trapezoid">
              <a:avLst>
                <a:gd fmla="val 60792" name="adj"/>
              </a:avLst>
            </a:prstGeom>
            <a:solidFill>
              <a:schemeClr val="lt1"/>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 name="Google Shape;57;p3"/>
            <p:cNvSpPr txBox="1"/>
            <p:nvPr/>
          </p:nvSpPr>
          <p:spPr>
            <a:xfrm>
              <a:off x="352661" y="282982"/>
              <a:ext cx="670917"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検討</a:t>
              </a:r>
              <a:endParaRPr/>
            </a:p>
          </p:txBody>
        </p:sp>
        <p:sp>
          <p:nvSpPr>
            <p:cNvPr id="58" name="Google Shape;58;p3"/>
            <p:cNvSpPr/>
            <p:nvPr/>
          </p:nvSpPr>
          <p:spPr>
            <a:xfrm rot="10800000">
              <a:off x="344060" y="565965"/>
              <a:ext cx="688120" cy="282982"/>
            </a:xfrm>
            <a:prstGeom prst="trapezoid">
              <a:avLst>
                <a:gd fmla="val 60792" name="adj"/>
              </a:avLst>
            </a:prstGeom>
            <a:solidFill>
              <a:schemeClr val="lt1"/>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 name="Google Shape;59;p3"/>
            <p:cNvSpPr txBox="1"/>
            <p:nvPr/>
          </p:nvSpPr>
          <p:spPr>
            <a:xfrm>
              <a:off x="464481" y="565965"/>
              <a:ext cx="447278"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獲得</a:t>
              </a:r>
              <a:endParaRPr/>
            </a:p>
          </p:txBody>
        </p:sp>
        <p:sp>
          <p:nvSpPr>
            <p:cNvPr id="60" name="Google Shape;60;p3"/>
            <p:cNvSpPr/>
            <p:nvPr/>
          </p:nvSpPr>
          <p:spPr>
            <a:xfrm rot="10800000">
              <a:off x="516090" y="848948"/>
              <a:ext cx="344060" cy="282982"/>
            </a:xfrm>
            <a:prstGeom prst="trapezoid">
              <a:avLst>
                <a:gd fmla="val 60792" name="adj"/>
              </a:avLst>
            </a:prstGeom>
            <a:no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 name="Google Shape;61;p3"/>
            <p:cNvSpPr txBox="1"/>
            <p:nvPr/>
          </p:nvSpPr>
          <p:spPr>
            <a:xfrm>
              <a:off x="516090" y="848948"/>
              <a:ext cx="344060"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伸長</a:t>
              </a:r>
              <a:endParaRPr/>
            </a:p>
          </p:txBody>
        </p:sp>
      </p:grpSp>
      <p:pic>
        <p:nvPicPr>
          <p:cNvPr descr="LINE公式アカウントのロゴの使用方法とは？種類やダウンロード方法、利用時の注意点を紹介 | Mico（ミコ）" id="62" name="Google Shape;62;p3"/>
          <p:cNvPicPr preferRelativeResize="0"/>
          <p:nvPr/>
        </p:nvPicPr>
        <p:blipFill rotWithShape="1">
          <a:blip r:embed="rId2">
            <a:alphaModFix/>
          </a:blip>
          <a:srcRect b="0" l="0" r="0" t="0"/>
          <a:stretch/>
        </p:blipFill>
        <p:spPr>
          <a:xfrm>
            <a:off x="351381" y="1234746"/>
            <a:ext cx="656177" cy="655521"/>
          </a:xfrm>
          <a:prstGeom prst="rect">
            <a:avLst/>
          </a:prstGeom>
          <a:noFill/>
          <a:ln>
            <a:noFill/>
          </a:ln>
        </p:spPr>
      </p:pic>
      <p:sp>
        <p:nvSpPr>
          <p:cNvPr id="63" name="Rounded Rectangle 62"/>
          <p:cNvSpPr/>
          <p:nvPr/>
        </p:nvSpPr>
        <p:spPr>
          <a:xfrm>
            <a:off x="544108" y="3068960"/>
            <a:ext cx="4572000" cy="1463040"/>
          </a:xfrm>
          <a:prstGeom prst="roundRect">
            <a:avLst>
              <a:gd name="adj" fmla="val 6000"/>
            </a:avLst>
          </a:prstGeom>
          <a:solidFill>
            <a:srgbClr val="EAF0FA"/>
          </a:solidFill>
          <a:ln w="12700">
            <a:solidFill>
              <a:srgbClr val="3467B2"/>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182880"/>
          <a:lstStyle/>
          <a:p>
            <a:pPr algn="l"/>
            <a:r>
              <a:rPr sz="1700" b="1">
                <a:solidFill>
                  <a:srgbClr val="15133D"/>
                </a:solidFill>
                <a:latin typeface="メイリオ"/>
              </a:rPr>
              <a:t>キャンセル規定</a:t>
            </a:r>
          </a:p>
          <a:p>
            <a:pPr algn="l">
              <a:lnSpc>
                <a:spcPct val="115000"/>
              </a:lnSpc>
              <a:spcBef>
                <a:spcPts val="600"/>
              </a:spcBef>
            </a:pPr>
            <a:r>
              <a:rPr sz="1100">
                <a:solidFill>
                  <a:srgbClr val="333333"/>
                </a:solidFill>
                <a:latin typeface="メイリオ"/>
              </a:rPr>
              <a:t>発注期日超過後のキャンセルは、最低発注金額1,500万円を請求。</a:t>
            </a:r>
          </a:p>
        </p:txBody>
      </p:sp>
      <p:sp>
        <p:nvSpPr>
          <p:cNvPr id="64" name="Rounded Rectangle 63"/>
          <p:cNvSpPr/>
          <p:nvPr/>
        </p:nvSpPr>
        <p:spPr>
          <a:xfrm>
            <a:off x="5298988" y="3068960"/>
            <a:ext cx="4572000" cy="1463040"/>
          </a:xfrm>
          <a:prstGeom prst="roundRect">
            <a:avLst>
              <a:gd name="adj" fmla="val 6000"/>
            </a:avLst>
          </a:prstGeom>
          <a:solidFill>
            <a:srgbClr val="EAF0FA"/>
          </a:solidFill>
          <a:ln w="12700">
            <a:solidFill>
              <a:srgbClr val="3467B2"/>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182880"/>
          <a:lstStyle/>
          <a:p>
            <a:pPr algn="l"/>
            <a:r>
              <a:rPr sz="1700" b="1">
                <a:solidFill>
                  <a:srgbClr val="15133D"/>
                </a:solidFill>
                <a:latin typeface="メイリオ"/>
              </a:rPr>
              <a:t>他割引との併用不可</a:t>
            </a:r>
          </a:p>
          <a:p>
            <a:pPr algn="l">
              <a:lnSpc>
                <a:spcPct val="115000"/>
              </a:lnSpc>
              <a:spcBef>
                <a:spcPts val="600"/>
              </a:spcBef>
            </a:pPr>
            <a:r>
              <a:rPr sz="1100">
                <a:solidFill>
                  <a:srgbClr val="333333"/>
                </a:solidFill>
                <a:latin typeface="メイリオ"/>
              </a:rPr>
              <a:t>既存の各種割引施策とは併用不可。特別プラン単体での提案が前提。</a:t>
            </a:r>
          </a:p>
        </p:txBody>
      </p:sp>
      <p:sp>
        <p:nvSpPr>
          <p:cNvPr id="65" name="Rounded Rectangle 64"/>
          <p:cNvSpPr/>
          <p:nvPr/>
        </p:nvSpPr>
        <p:spPr>
          <a:xfrm>
            <a:off x="544108" y="4714880"/>
            <a:ext cx="4572000" cy="1463040"/>
          </a:xfrm>
          <a:prstGeom prst="roundRect">
            <a:avLst>
              <a:gd name="adj" fmla="val 6000"/>
            </a:avLst>
          </a:prstGeom>
          <a:solidFill>
            <a:srgbClr val="EAF0FA"/>
          </a:solidFill>
          <a:ln w="12700">
            <a:solidFill>
              <a:srgbClr val="3467B2"/>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182880"/>
          <a:lstStyle/>
          <a:p>
            <a:pPr algn="l"/>
            <a:r>
              <a:rPr sz="1700" b="1">
                <a:solidFill>
                  <a:srgbClr val="15133D"/>
                </a:solidFill>
                <a:latin typeface="メイリオ"/>
              </a:rPr>
              <a:t>景品変更の可能性あり</a:t>
            </a:r>
          </a:p>
          <a:p>
            <a:pPr algn="l">
              <a:lnSpc>
                <a:spcPct val="115000"/>
              </a:lnSpc>
              <a:spcBef>
                <a:spcPts val="600"/>
              </a:spcBef>
            </a:pPr>
            <a:r>
              <a:rPr sz="1100">
                <a:solidFill>
                  <a:srgbClr val="333333"/>
                </a:solidFill>
                <a:latin typeface="メイリオ"/>
              </a:rPr>
              <a:t>景品はLINEポイント2pt固定だが変更となる場合があり、変更不可のお申し出は受付不可。</a:t>
            </a:r>
          </a:p>
        </p:txBody>
      </p:sp>
      <p:sp>
        <p:nvSpPr>
          <p:cNvPr id="66" name="Rounded Rectangle 65"/>
          <p:cNvSpPr/>
          <p:nvPr/>
        </p:nvSpPr>
        <p:spPr>
          <a:xfrm>
            <a:off x="5298988" y="4714880"/>
            <a:ext cx="4572000" cy="1463040"/>
          </a:xfrm>
          <a:prstGeom prst="roundRect">
            <a:avLst>
              <a:gd name="adj" fmla="val 6000"/>
            </a:avLst>
          </a:prstGeom>
          <a:solidFill>
            <a:srgbClr val="EAF0FA"/>
          </a:solidFill>
          <a:ln w="12700">
            <a:solidFill>
              <a:srgbClr val="3467B2"/>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182880"/>
          <a:lstStyle/>
          <a:p>
            <a:pPr algn="l"/>
            <a:r>
              <a:rPr sz="1700" b="1">
                <a:solidFill>
                  <a:srgbClr val="15133D"/>
                </a:solidFill>
                <a:latin typeface="メイリオ"/>
              </a:rPr>
              <a:t>対象は認証プロバイダー必須</a:t>
            </a:r>
          </a:p>
          <a:p>
            <a:pPr algn="l">
              <a:lnSpc>
                <a:spcPct val="115000"/>
              </a:lnSpc>
              <a:spcBef>
                <a:spcPts val="600"/>
              </a:spcBef>
            </a:pPr>
            <a:r>
              <a:rPr sz="1100">
                <a:solidFill>
                  <a:srgbClr val="333333"/>
                </a:solidFill>
                <a:latin typeface="メイリオ"/>
              </a:rPr>
              <a:t>LINE公式アカウント・Messaging API対応かつ認証プロバイダーのアカウントが対象。</a:t>
            </a:r>
          </a:p>
        </p:txBody>
      </p:sp>
    </p:spTree>
  </p:cSld>
  <p:clrMapOvr>
    <a:masterClrMapping/>
  </p:clrMapOvr>
</p:sld>
</file>

<file path=ppt/theme/theme1.xml><?xml version="1.0" encoding="utf-8"?>
<a:theme xmlns:a="http://schemas.openxmlformats.org/drawingml/2006/main" xmlns:r="http://schemas.openxmlformats.org/officeDocument/2006/relationships" name="Office ​​テーマ">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DYMJAPAN">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2021-08-26T12:24:15Z</dcterms:created>
  <dc:creator>横田 澪央</dc:creator>
</cp:coreProperties>
</file>