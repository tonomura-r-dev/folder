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14"/>
    <p:sldId id="260" r:id="rId15"/>
    <p:sldId id="261" r:id="rId16"/>
    <p:sldId id="262" r:id="rId13"/>
    <p:sldId id="263" r:id="rId12"/>
    <p:sldId id="264" r:id="rId11"/>
    <p:sldId id="265" r:id="rId10"/>
  </p:sldIdLst>
  <p:sldSz cy="6858000" cx="9906000"/>
  <p:notesSz cx="6799250" cy="9929800"/>
  <p:embeddedFontLst>
    <p:embeddedFont>
      <p:font typeface="Century Gothic"/>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1" roundtripDataSignature="AMtx7mgQCoaVnfxROPv51WSWo8GFar7+G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232AC2F-9110-45D6-A1EA-E37EBF87FD90}">
  <a:tblStyle styleId="{5232AC2F-9110-45D6-A1EA-E37EBF87FD9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0" Type="http://schemas.openxmlformats.org/officeDocument/2006/relationships/slide" Target="slides/slide10.xml"/><Relationship Id="rId11" Type="http://schemas.openxmlformats.org/officeDocument/2006/relationships/slide" Target="slides/slide9.xml"/><Relationship Id="rId12" Type="http://schemas.openxmlformats.org/officeDocument/2006/relationships/slide" Target="slides/slide8.xml"/><Relationship Id="rId13" Type="http://schemas.openxmlformats.org/officeDocument/2006/relationships/slide" Target="slides/slide7.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font" Target="fonts/CenturyGothic-regular.fntdata"/><Relationship Id="rId18" Type="http://schemas.openxmlformats.org/officeDocument/2006/relationships/font" Target="fonts/CenturyGothic-bold.fntdata"/><Relationship Id="rId19" Type="http://schemas.openxmlformats.org/officeDocument/2006/relationships/font" Target="fonts/CenturyGothic-italic.fntdata"/><Relationship Id="rId20" Type="http://schemas.openxmlformats.org/officeDocument/2006/relationships/font" Target="fonts/CenturyGothic-boldItalic.fntdata"/><Relationship Id="rId2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1" y="0"/>
            <a:ext cx="2946094" cy="495952"/>
          </a:xfrm>
          <a:prstGeom prst="rect">
            <a:avLst/>
          </a:prstGeom>
          <a:noFill/>
          <a:ln>
            <a:noFill/>
          </a:ln>
        </p:spPr>
        <p:txBody>
          <a:bodyPr anchorCtr="0" anchor="t"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51650" y="0"/>
            <a:ext cx="2946093" cy="495952"/>
          </a:xfrm>
          <a:prstGeom prst="rect">
            <a:avLst/>
          </a:prstGeom>
          <a:noFill/>
          <a:ln>
            <a:noFill/>
          </a:ln>
        </p:spPr>
        <p:txBody>
          <a:bodyPr anchorCtr="0" anchor="t" bIns="44100" lIns="88200" spcFirstLastPara="1" rIns="88200" wrap="square" tIns="441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marR="0" rtl="0" algn="r">
              <a:spcBef>
                <a:spcPts val="0"/>
              </a:spcBef>
              <a:spcAft>
                <a:spcPts val="0"/>
              </a:spcAft>
              <a:buNone/>
            </a:pPr>
            <a:fld id="{00000000-1234-1234-1234-123412341234}" type="slidenum">
              <a:rPr b="0" i="0" lang="ja-JP"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1:notes"/>
          <p:cNvSpPr/>
          <p:nvPr>
            <p:ph idx="2" type="sldImg"/>
          </p:nvPr>
        </p:nvSpPr>
        <p:spPr>
          <a:xfrm>
            <a:off x="3124200" y="509588"/>
            <a:ext cx="3681413" cy="25495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22" name="Google Shape;22;p1:notes"/>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23" name="Google Shape;23;p1:notes"/>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p>
            <a:pPr indent="0" lvl="0" marL="0" rtl="0" algn="l">
              <a:spcBef>
                <a:spcPts val="0"/>
              </a:spcBef>
              <a:spcAft>
                <a:spcPts val="0"/>
              </a:spcAft>
              <a:buNone/>
            </a:pPr>
            <a:r>
              <a:t/>
            </a:r>
            <a:endParaRPr/>
          </a:p>
        </p:txBody>
      </p:sp>
      <p:sp>
        <p:nvSpPr>
          <p:cNvPr id="24" name="Google Shape;24;p1:notes"/>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rtl="0" algn="r">
              <a:spcBef>
                <a:spcPts val="0"/>
              </a:spcBef>
              <a:spcAft>
                <a:spcPts val="0"/>
              </a:spcAft>
              <a:buNone/>
            </a:pPr>
            <a:fld id="{00000000-1234-1234-1234-123412341234}" type="slidenum">
              <a:rPr b="0" i="0" lang="ja-JP" sz="1300" u="none" cap="none" strike="noStrike">
                <a:solidFill>
                  <a:schemeClr val="dk1"/>
                </a:solidFill>
                <a:latin typeface="Calibri"/>
                <a:ea typeface="Calibri"/>
                <a:cs typeface="Calibri"/>
                <a:sym typeface="Calibri"/>
              </a:rPr>
              <a:t>‹#›</a:t>
            </a:fld>
            <a:endParaRPr b="0" i="0" sz="1300" u="none" cap="none" strike="noStrik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txBox="1"/>
          <p:nvPr>
            <p:ph idx="1" type="body"/>
          </p:nvPr>
        </p:nvSpPr>
        <p:spPr>
          <a:xfrm>
            <a:off x="680720" y="4783307"/>
            <a:ext cx="5445760" cy="3913614"/>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200"/>
              <a:buFont typeface="Calibri"/>
              <a:buNone/>
            </a:pPr>
            <a:r>
              <a:t/>
            </a:r>
            <a:endParaRPr/>
          </a:p>
        </p:txBody>
      </p:sp>
      <p:sp>
        <p:nvSpPr>
          <p:cNvPr id="32" name="Google Shape;32;p2:notes"/>
          <p:cNvSpPr/>
          <p:nvPr>
            <p:ph idx="2" type="sldImg"/>
          </p:nvPr>
        </p:nvSpPr>
        <p:spPr>
          <a:xfrm>
            <a:off x="981075" y="1243013"/>
            <a:ext cx="4845050"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txBox="1"/>
          <p:nvPr>
            <p:ph idx="1" type="body"/>
          </p:nvPr>
        </p:nvSpPr>
        <p:spPr>
          <a:xfrm>
            <a:off x="680686" y="4716161"/>
            <a:ext cx="5439410" cy="4468185"/>
          </a:xfrm>
          <a:prstGeom prst="rect">
            <a:avLst/>
          </a:prstGeom>
        </p:spPr>
        <p:txBody>
          <a:bodyPr anchorCtr="0" anchor="t" bIns="44100" lIns="88200" spcFirstLastPara="1" rIns="88200" wrap="square" tIns="44100">
            <a:noAutofit/>
          </a:bodyPr>
          <a:lstStyle/>
          <a:p>
            <a:pPr indent="0" lvl="0" marL="0" rtl="0" algn="l">
              <a:spcBef>
                <a:spcPts val="0"/>
              </a:spcBef>
              <a:spcAft>
                <a:spcPts val="0"/>
              </a:spcAft>
              <a:buNone/>
            </a:pPr>
            <a:r>
              <a:t/>
            </a:r>
            <a:endParaRPr/>
          </a:p>
        </p:txBody>
      </p:sp>
      <p:sp>
        <p:nvSpPr>
          <p:cNvPr id="38" name="Google Shape;38;p3:notes"/>
          <p:cNvSpPr/>
          <p:nvPr>
            <p:ph idx="2"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16" name="Shape 1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タイトルとコンテンツ">
  <p:cSld name="4_タイトルとコンテンツ">
    <p:spTree>
      <p:nvGrpSpPr>
        <p:cNvPr id="17" name="Shape 17"/>
        <p:cNvGrpSpPr/>
        <p:nvPr/>
      </p:nvGrpSpPr>
      <p:grpSpPr>
        <a:xfrm>
          <a:off x="0" y="0"/>
          <a:ext cx="0" cy="0"/>
          <a:chOff x="0" y="0"/>
          <a:chExt cx="0" cy="0"/>
        </a:xfrm>
      </p:grpSpPr>
      <p:sp>
        <p:nvSpPr>
          <p:cNvPr id="18" name="Google Shape;18;p14"/>
          <p:cNvSpPr/>
          <p:nvPr/>
        </p:nvSpPr>
        <p:spPr>
          <a:xfrm>
            <a:off x="0" y="0"/>
            <a:ext cx="451204"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b="0" i="0" sz="1800" u="none" cap="none" strike="noStrike">
              <a:solidFill>
                <a:srgbClr val="FFFFFF"/>
              </a:solidFill>
              <a:latin typeface="Arial"/>
              <a:ea typeface="Arial"/>
              <a:cs typeface="Arial"/>
              <a:sym typeface="Arial"/>
            </a:endParaRPr>
          </a:p>
        </p:txBody>
      </p:sp>
      <p:cxnSp>
        <p:nvCxnSpPr>
          <p:cNvPr id="19" name="Google Shape;19;p14"/>
          <p:cNvCxnSpPr/>
          <p:nvPr/>
        </p:nvCxnSpPr>
        <p:spPr>
          <a:xfrm>
            <a:off x="0" y="548680"/>
            <a:ext cx="9906000" cy="0"/>
          </a:xfrm>
          <a:prstGeom prst="straightConnector1">
            <a:avLst/>
          </a:prstGeom>
          <a:noFill/>
          <a:ln cap="flat" cmpd="sng" w="25400">
            <a:solidFill>
              <a:srgbClr val="191F54"/>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2"/>
          <p:cNvSpPr/>
          <p:nvPr/>
        </p:nvSpPr>
        <p:spPr>
          <a:xfrm>
            <a:off x="0" y="6552728"/>
            <a:ext cx="9906000" cy="332656"/>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 name="Google Shape;11;p12"/>
          <p:cNvSpPr txBox="1"/>
          <p:nvPr/>
        </p:nvSpPr>
        <p:spPr>
          <a:xfrm>
            <a:off x="116569" y="6597932"/>
            <a:ext cx="366630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ja-JP" sz="800" u="none" cap="none" strike="noStrike">
                <a:solidFill>
                  <a:schemeClr val="lt1"/>
                </a:solidFill>
                <a:latin typeface="Arial"/>
                <a:ea typeface="Arial"/>
                <a:cs typeface="Arial"/>
                <a:sym typeface="Arial"/>
              </a:rPr>
              <a:t>Copyright(c) 2025 DYM inc. All Rights Reserved.</a:t>
            </a:r>
            <a:endParaRPr/>
          </a:p>
        </p:txBody>
      </p:sp>
      <p:sp>
        <p:nvSpPr>
          <p:cNvPr id="12" name="Google Shape;12;p12"/>
          <p:cNvSpPr/>
          <p:nvPr/>
        </p:nvSpPr>
        <p:spPr>
          <a:xfrm>
            <a:off x="0" y="0"/>
            <a:ext cx="416496"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cxnSp>
        <p:nvCxnSpPr>
          <p:cNvPr id="13" name="Google Shape;13;p12"/>
          <p:cNvCxnSpPr/>
          <p:nvPr/>
        </p:nvCxnSpPr>
        <p:spPr>
          <a:xfrm>
            <a:off x="0" y="548680"/>
            <a:ext cx="9906000" cy="0"/>
          </a:xfrm>
          <a:prstGeom prst="straightConnector1">
            <a:avLst/>
          </a:prstGeom>
          <a:noFill/>
          <a:ln cap="flat" cmpd="sng" w="25400">
            <a:solidFill>
              <a:srgbClr val="00324B"/>
            </a:solidFill>
            <a:prstDash val="solid"/>
            <a:round/>
            <a:headEnd len="sm" w="sm" type="none"/>
            <a:tailEnd len="sm" w="sm" type="none"/>
          </a:ln>
        </p:spPr>
      </p:cxnSp>
      <p:pic>
        <p:nvPicPr>
          <p:cNvPr id="14" name="Google Shape;14;p12"/>
          <p:cNvPicPr preferRelativeResize="0"/>
          <p:nvPr/>
        </p:nvPicPr>
        <p:blipFill rotWithShape="1">
          <a:blip r:embed="rId1">
            <a:alphaModFix/>
          </a:blip>
          <a:srcRect b="0" l="-1647" r="-11171" t="0"/>
          <a:stretch/>
        </p:blipFill>
        <p:spPr>
          <a:xfrm>
            <a:off x="8619408" y="161057"/>
            <a:ext cx="1192729" cy="263314"/>
          </a:xfrm>
          <a:prstGeom prst="rect">
            <a:avLst/>
          </a:prstGeom>
          <a:noFill/>
          <a:ln>
            <a:noFill/>
          </a:ln>
        </p:spPr>
      </p:pic>
      <p:sp>
        <p:nvSpPr>
          <p:cNvPr id="15" name="Google Shape;15;p12"/>
          <p:cNvSpPr txBox="1"/>
          <p:nvPr/>
        </p:nvSpPr>
        <p:spPr>
          <a:xfrm>
            <a:off x="7545288" y="6571255"/>
            <a:ext cx="2133600" cy="216000"/>
          </a:xfrm>
          <a:prstGeom prst="rect">
            <a:avLst/>
          </a:prstGeom>
          <a:noFill/>
          <a:ln>
            <a:noFill/>
          </a:ln>
        </p:spPr>
        <p:txBody>
          <a:bodyPr anchorCtr="0" anchor="t" bIns="45700" lIns="91425" spcFirstLastPara="1" rIns="91425" wrap="square" tIns="25200">
            <a:noAutofit/>
          </a:bodyPr>
          <a:lstStyle/>
          <a:p>
            <a:pPr indent="0" lvl="0" marL="0" marR="0" rtl="0" algn="r">
              <a:spcBef>
                <a:spcPts val="0"/>
              </a:spcBef>
              <a:spcAft>
                <a:spcPts val="0"/>
              </a:spcAft>
              <a:buNone/>
            </a:pPr>
            <a:fld id="{00000000-1234-1234-1234-123412341234}" type="slidenum">
              <a:rPr b="0" i="1" lang="ja-JP" sz="1400" u="none" cap="none" strike="noStrike">
                <a:solidFill>
                  <a:schemeClr val="lt1"/>
                </a:solidFill>
                <a:latin typeface="Century Gothic"/>
                <a:ea typeface="Century Gothic"/>
                <a:cs typeface="Century Gothic"/>
                <a:sym typeface="Century Gothic"/>
              </a:rPr>
              <a:t>‹#›</a:t>
            </a:fld>
            <a:endParaRPr b="0" i="1" sz="1400" u="none" cap="none" strike="noStrike">
              <a:solidFill>
                <a:schemeClr val="lt1"/>
              </a:solidFill>
              <a:latin typeface="Century Gothic"/>
              <a:ea typeface="Century Gothic"/>
              <a:cs typeface="Century Gothic"/>
              <a:sym typeface="Century Gothic"/>
            </a:endParaRPr>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 name="Shape 25"/>
        <p:cNvGrpSpPr/>
        <p:nvPr/>
      </p:nvGrpSpPr>
      <p:grpSpPr>
        <a:xfrm>
          <a:off x="0" y="0"/>
          <a:ext cx="0" cy="0"/>
          <a:chOff x="0" y="0"/>
          <a:chExt cx="0" cy="0"/>
        </a:xfrm>
      </p:grpSpPr>
      <p:sp>
        <p:nvSpPr>
          <p:cNvPr id="26" name="Google Shape;26;p1"/>
          <p:cNvSpPr/>
          <p:nvPr/>
        </p:nvSpPr>
        <p:spPr>
          <a:xfrm>
            <a:off x="0" y="0"/>
            <a:ext cx="9906000" cy="83671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b="0" i="0" sz="1800" u="none" cap="none" strike="noStrike">
              <a:solidFill>
                <a:schemeClr val="lt1"/>
              </a:solidFill>
              <a:latin typeface="Calibri"/>
              <a:ea typeface="Calibri"/>
              <a:cs typeface="Calibri"/>
              <a:sym typeface="Calibri"/>
            </a:endParaRPr>
          </a:p>
        </p:txBody>
      </p:sp>
      <p:pic>
        <p:nvPicPr>
          <p:cNvPr id="27" name="Google Shape;27;p1"/>
          <p:cNvPicPr preferRelativeResize="0"/>
          <p:nvPr/>
        </p:nvPicPr>
        <p:blipFill rotWithShape="1">
          <a:blip r:embed="rId3">
            <a:alphaModFix/>
          </a:blip>
          <a:srcRect b="0" l="-1647" r="-11171" t="0"/>
          <a:stretch/>
        </p:blipFill>
        <p:spPr>
          <a:xfrm>
            <a:off x="8619408" y="188641"/>
            <a:ext cx="1192729" cy="243605"/>
          </a:xfrm>
          <a:prstGeom prst="rect">
            <a:avLst/>
          </a:prstGeom>
          <a:noFill/>
          <a:ln>
            <a:noFill/>
          </a:ln>
        </p:spPr>
      </p:pic>
      <p:sp>
        <p:nvSpPr>
          <p:cNvPr id="28" name="Google Shape;28;p1"/>
          <p:cNvSpPr/>
          <p:nvPr/>
        </p:nvSpPr>
        <p:spPr>
          <a:xfrm>
            <a:off x="1026684" y="3645024"/>
            <a:ext cx="7873109" cy="45719"/>
          </a:xfrm>
          <a:prstGeom prst="rect">
            <a:avLst/>
          </a:prstGeom>
          <a:solidFill>
            <a:srgbClr val="1513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b="1" i="0" sz="1800" u="none" cap="none" strike="noStrike">
              <a:solidFill>
                <a:schemeClr val="lt1"/>
              </a:solidFill>
              <a:latin typeface="Arial"/>
              <a:ea typeface="Arial"/>
              <a:cs typeface="Arial"/>
              <a:sym typeface="Arial"/>
            </a:endParaRPr>
          </a:p>
        </p:txBody>
      </p:sp>
      <p:sp>
        <p:nvSpPr>
          <p:cNvPr id="29" name="Google Shape;29;p1"/>
          <p:cNvSpPr/>
          <p:nvPr/>
        </p:nvSpPr>
        <p:spPr>
          <a:xfrm>
            <a:off x="781200" y="3044550"/>
            <a:ext cx="8343600" cy="646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ja-JP" sz="3600" u="none" cap="none" strike="noStrike">
                <a:solidFill>
                  <a:srgbClr val="0F243E"/>
                </a:solidFill>
                <a:latin typeface="メイリオ"/>
                <a:ea typeface="Arial"/>
                <a:cs typeface="Arial"/>
                <a:sym typeface="Arial"/>
              </a:rPr>
              <a:t>2026年9月　LINEOAトレンドレポート　</a:t>
            </a:r>
            <a:endParaRPr b="1" i="0" sz="2000" u="none" cap="none" strike="noStrike">
              <a:solidFill>
                <a:srgbClr val="0F243E"/>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sp>
        <p:nvSpPr>
          <p:cNvPr id="34" name="Google Shape;34;p2"/>
          <p:cNvSpPr txBox="1"/>
          <p:nvPr/>
        </p:nvSpPr>
        <p:spPr>
          <a:xfrm>
            <a:off x="318183" y="1483585"/>
            <a:ext cx="9298331" cy="4279033"/>
          </a:xfrm>
          <a:prstGeom prst="rect">
            <a:avLst/>
          </a:prstGeom>
          <a:noFill/>
          <a:ln>
            <a:noFill/>
          </a:ln>
        </p:spPr>
        <p:txBody>
          <a:bodyPr anchorCtr="0" anchor="t" bIns="90000" lIns="91425" spcFirstLastPara="1" rIns="91425" wrap="square" tIns="90000">
            <a:spAutoFit/>
          </a:bodyPr>
          <a:lstStyle/>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P.3　　【LINEミニアプリ】お気に入り追加促進機能のご案内</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P.4　　【LINE公式アカウント】「分析」データ参照期間 過去36カ月への変更</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P.5　　【LINEプロモーションスタンプ】アップデート内容</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P.6　　【LINEプロモーションスタンプ】インパクト</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P.7　　【LINEミニアプリ】友だち追加オプションの複数アカウント対応</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P.8　　【LINEオープンキャンペーン】特典内容</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P.9　　【LINEオープンキャンペーン】実施スケジュール</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P.10　　【LINEオープンキャンペーン】注意点・ご利用条件</a:t>
            </a:r>
            <a:endParaRPr b="1" i="0" sz="1500" u="none" cap="none" strike="noStrike">
              <a:solidFill>
                <a:schemeClr val="dk1"/>
              </a:solidFill>
              <a:latin typeface="Meiryo"/>
              <a:ea typeface="Meiryo"/>
              <a:cs typeface="Meiryo"/>
              <a:sym typeface="Meiryo"/>
            </a:endParaRPr>
          </a:p>
        </p:txBody>
      </p:sp>
      <p:sp>
        <p:nvSpPr>
          <p:cNvPr id="35" name="Google Shape;35;p2"/>
          <p:cNvSpPr txBox="1"/>
          <p:nvPr/>
        </p:nvSpPr>
        <p:spPr>
          <a:xfrm>
            <a:off x="292801" y="62027"/>
            <a:ext cx="7512385" cy="365091"/>
          </a:xfrm>
          <a:prstGeom prst="rect">
            <a:avLst/>
          </a:prstGeom>
          <a:noFill/>
          <a:ln>
            <a:noFill/>
          </a:ln>
        </p:spPr>
        <p:txBody>
          <a:bodyPr anchorCtr="0" anchor="t" bIns="45700" lIns="91425" spcFirstLastPara="1" rIns="91425" wrap="square" tIns="72000">
            <a:spAutoFit/>
          </a:bodyPr>
          <a:lstStyle/>
          <a:p>
            <a:pPr indent="0" lvl="0" marL="0" marR="0" rtl="0" algn="l">
              <a:lnSpc>
                <a:spcPct val="100000"/>
              </a:lnSpc>
              <a:spcBef>
                <a:spcPts val="0"/>
              </a:spcBef>
              <a:spcAft>
                <a:spcPts val="0"/>
              </a:spcAft>
              <a:buClr>
                <a:srgbClr val="000000"/>
              </a:buClr>
              <a:buSzPts val="1600"/>
              <a:buFont typeface="Arial"/>
              <a:buNone/>
            </a:pPr>
            <a:r>
              <a:rPr b="0" i="0" lang="ja-JP" sz="1600" u="none" cap="none" strike="noStrike">
                <a:solidFill>
                  <a:srgbClr val="000000"/>
                </a:solidFill>
                <a:latin typeface="メイリオ"/>
                <a:ea typeface="Meiryo"/>
                <a:cs typeface="Meiryo"/>
                <a:sym typeface="Meiryo"/>
              </a:rPr>
              <a:t>    目次</a:t>
            </a:r>
            <a:endParaRPr b="0" i="0" sz="16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出典：https://workers-hub.box.com/s/9uo4m0fiqyxmddz5br3xe9691w0q4ht7</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【LINEミニアプリ】お気に入り追加促進機能のご案内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マイミニアプリの「履歴」からアクセス、または7日以内に2日以上アクセスしたユーザーに対し、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ミニアプリを閉じたタイミングでお気に入り追加を促すポップアップが表示される。</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リリース予定日は2026年8月31日（アプリのバージョンアップデートに伴い変更の可能性あり）。</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3">
            <a:alphaModFix/>
          </a:blip>
          <a:srcRect b="0" l="0" r="0" t="0"/>
          <a:stretch/>
        </p:blipFill>
        <p:spPr>
          <a:xfrm>
            <a:off x="351381" y="1234746"/>
            <a:ext cx="656177" cy="655521"/>
          </a:xfrm>
          <a:prstGeom prst="rect">
            <a:avLst/>
          </a:prstGeom>
          <a:noFill/>
          <a:ln>
            <a:noFill/>
          </a:ln>
        </p:spPr>
      </p:pic>
      <p:pic>
        <p:nvPicPr>
          <p:cNvPr id="63" name="Picture 62" descr="topic1.png"/>
          <p:cNvPicPr>
            <a:picLocks noChangeAspect="1"/>
          </p:cNvPicPr>
          <p:nvPr/>
        </p:nvPicPr>
        <p:blipFill>
          <a:blip r:embed="rId4"/>
          <a:stretch>
            <a:fillRect/>
          </a:stretch>
        </p:blipFill>
        <p:spPr>
          <a:xfrm>
            <a:off x="2161168" y="3068960"/>
            <a:ext cx="609276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出典：https://workers-hub.box.com/s/ms8iztyci2dn5z2qna88rklxwxp7o5ja</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【LINE公式アカウント】「分析」データ参照期間 過去36カ月への変更</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LINE公式アカウントの管理画面「分析」タブで確認できる実績値の参照期間を、</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過去36カ月までに変更する予定。対象は「分析」タブの実績値のみで他のデータに影響なし。</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※社外告知は延期中のため、日程が決まり次第あらためて案内される。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2.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【LINEプロモーションスタンプ】アップデート内容</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ectangle 62"/>
          <p:cNvSpPr/>
          <p:nvPr/>
        </p:nvSpPr>
        <p:spPr>
          <a:xfrm>
            <a:off x="544108" y="3068960"/>
            <a:ext cx="443484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333333"/>
                </a:solidFill>
                <a:latin typeface="メイリオ"/>
              </a:rPr>
              <a:t>AS-IS</a:t>
            </a:r>
          </a:p>
        </p:txBody>
      </p:sp>
      <p:sp>
        <p:nvSpPr>
          <p:cNvPr id="64" name="Rectangle 63"/>
          <p:cNvSpPr/>
          <p:nvPr/>
        </p:nvSpPr>
        <p:spPr>
          <a:xfrm>
            <a:off x="544108" y="3343280"/>
            <a:ext cx="4434840" cy="640080"/>
          </a:xfrm>
          <a:prstGeom prst="rect">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800" b="1">
                <a:solidFill>
                  <a:srgbClr val="15133D"/>
                </a:solidFill>
                <a:latin typeface="メイリオ"/>
              </a:rPr>
              <a:t>一部のユーザーにのみ表示</a:t>
            </a:r>
          </a:p>
        </p:txBody>
      </p:sp>
      <p:sp>
        <p:nvSpPr>
          <p:cNvPr id="65" name="TextBox 64"/>
          <p:cNvSpPr txBox="1"/>
          <p:nvPr/>
        </p:nvSpPr>
        <p:spPr>
          <a:xfrm>
            <a:off x="4978948" y="3068960"/>
            <a:ext cx="457200" cy="914400"/>
          </a:xfrm>
          <a:prstGeom prst="rect">
            <a:avLst/>
          </a:prstGeom>
          <a:noFill/>
        </p:spPr>
        <p:txBody>
          <a:bodyPr wrap="none" anchor="ctr">
            <a:spAutoFit/>
          </a:bodyPr>
          <a:lstStyle/>
          <a:p>
            <a:pPr algn="ctr"/>
            <a:r>
              <a:rPr sz="1800" b="1">
                <a:solidFill>
                  <a:srgbClr val="3467B2"/>
                </a:solidFill>
                <a:latin typeface="メイリオ"/>
              </a:rPr>
              <a:t>▶</a:t>
            </a:r>
          </a:p>
        </p:txBody>
      </p:sp>
      <p:sp>
        <p:nvSpPr>
          <p:cNvPr id="66" name="Rectangle 65"/>
          <p:cNvSpPr/>
          <p:nvPr/>
        </p:nvSpPr>
        <p:spPr>
          <a:xfrm>
            <a:off x="5436148" y="3068960"/>
            <a:ext cx="4434840" cy="27432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TO-BE</a:t>
            </a:r>
          </a:p>
        </p:txBody>
      </p:sp>
      <p:sp>
        <p:nvSpPr>
          <p:cNvPr id="67" name="Rectangle 66"/>
          <p:cNvSpPr/>
          <p:nvPr/>
        </p:nvSpPr>
        <p:spPr>
          <a:xfrm>
            <a:off x="5436148" y="3343280"/>
            <a:ext cx="4434840" cy="64008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600" b="1">
                <a:solidFill>
                  <a:srgbClr val="15133D"/>
                </a:solidFill>
                <a:latin typeface="メイリオ"/>
              </a:rPr>
              <a:t>すべてのユーザーに表示</a:t>
            </a:r>
          </a:p>
          <a:p>
            <a:pPr>
              <a:lnSpc>
                <a:spcPct val="110000"/>
              </a:lnSpc>
              <a:spcBef>
                <a:spcPts val="500"/>
              </a:spcBef>
            </a:pPr>
            <a:r>
              <a:rPr sz="1050">
                <a:solidFill>
                  <a:srgbClr val="333333"/>
                </a:solidFill>
                <a:latin typeface="メイリオ"/>
              </a:rPr>
              <a:t>※これまで対象外だったユーザーにもリーチ可能</a:t>
            </a:r>
          </a:p>
        </p:txBody>
      </p:sp>
      <p:sp>
        <p:nvSpPr>
          <p:cNvPr id="68" name="Rounded Rectangle 67"/>
          <p:cNvSpPr/>
          <p:nvPr/>
        </p:nvSpPr>
        <p:spPr>
          <a:xfrm>
            <a:off x="54410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届かなかった層にも自動でリーチ</a:t>
            </a:r>
          </a:p>
          <a:p>
            <a:pPr algn="l">
              <a:lnSpc>
                <a:spcPct val="115000"/>
              </a:lnSpc>
              <a:spcBef>
                <a:spcPts val="600"/>
              </a:spcBef>
            </a:pPr>
            <a:r>
              <a:rPr sz="1100">
                <a:solidFill>
                  <a:srgbClr val="333333"/>
                </a:solidFill>
                <a:latin typeface="メイリオ"/>
              </a:rPr>
              <a:t>表示対象が「一部」→「全ユーザー」に拡大されたことで、これまで接点を持てなかった層にも自動的にアプローチできる。</a:t>
            </a:r>
          </a:p>
        </p:txBody>
      </p:sp>
      <p:sp>
        <p:nvSpPr>
          <p:cNvPr id="69" name="Rounded Rectangle 68"/>
          <p:cNvSpPr/>
          <p:nvPr/>
        </p:nvSpPr>
        <p:spPr>
          <a:xfrm>
            <a:off x="529898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設定変更・追加費用は一切不要</a:t>
            </a:r>
          </a:p>
          <a:p>
            <a:pPr algn="l">
              <a:lnSpc>
                <a:spcPct val="115000"/>
              </a:lnSpc>
              <a:spcBef>
                <a:spcPts val="600"/>
              </a:spcBef>
            </a:pPr>
            <a:r>
              <a:rPr sz="1100">
                <a:solidFill>
                  <a:srgbClr val="333333"/>
                </a:solidFill>
                <a:latin typeface="メイリオ"/>
              </a:rPr>
              <a:t>配信中の案件にも自動適用。広告主様・案件側での対応は一切不要で、即日から効果を享受できる。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【LINEプロモーションスタンプ】インパクト</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ounded Rectangle 62"/>
          <p:cNvSpPr/>
          <p:nvPr/>
        </p:nvSpPr>
        <p:spPr>
          <a:xfrm>
            <a:off x="54410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+5.63%</a:t>
            </a:r>
          </a:p>
          <a:p>
            <a:pPr algn="ctr">
              <a:spcBef>
                <a:spcPts val="200"/>
              </a:spcBef>
            </a:pPr>
            <a:r>
              <a:rPr sz="1100" b="1">
                <a:solidFill>
                  <a:srgbClr val="3467B2"/>
                </a:solidFill>
                <a:latin typeface="メイリオ"/>
              </a:rPr>
              <a:t>DL数</a:t>
            </a:r>
          </a:p>
          <a:p>
            <a:pPr algn="ctr">
              <a:spcBef>
                <a:spcPts val="200"/>
              </a:spcBef>
            </a:pPr>
            <a:r>
              <a:rPr sz="800">
                <a:solidFill>
                  <a:srgbClr val="333333"/>
                </a:solidFill>
                <a:latin typeface="メイリオ"/>
              </a:rPr>
              <a:t>全ダウンロード経路合計・現行条件比較</a:t>
            </a:r>
          </a:p>
        </p:txBody>
      </p:sp>
      <p:sp>
        <p:nvSpPr>
          <p:cNvPr id="64" name="Rounded Rectangle 63"/>
          <p:cNvSpPr/>
          <p:nvPr/>
        </p:nvSpPr>
        <p:spPr>
          <a:xfrm>
            <a:off x="291011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74.6%</a:t>
            </a:r>
          </a:p>
          <a:p>
            <a:pPr algn="ctr">
              <a:spcBef>
                <a:spcPts val="200"/>
              </a:spcBef>
            </a:pPr>
            <a:r>
              <a:rPr sz="1100" b="1">
                <a:solidFill>
                  <a:srgbClr val="3467B2"/>
                </a:solidFill>
                <a:latin typeface="メイリオ"/>
              </a:rPr>
              <a:t>友だち追加率</a:t>
            </a:r>
          </a:p>
          <a:p>
            <a:pPr algn="ctr">
              <a:spcBef>
                <a:spcPts val="200"/>
              </a:spcBef>
            </a:pPr>
            <a:r>
              <a:rPr sz="800">
                <a:solidFill>
                  <a:srgbClr val="333333"/>
                </a:solidFill>
                <a:latin typeface="メイリオ"/>
              </a:rPr>
              <a:t>プロダクト平均約60%を上回る</a:t>
            </a:r>
          </a:p>
        </p:txBody>
      </p:sp>
      <p:sp>
        <p:nvSpPr>
          <p:cNvPr id="65" name="Rounded Rectangle 64"/>
          <p:cNvSpPr/>
          <p:nvPr/>
        </p:nvSpPr>
        <p:spPr>
          <a:xfrm>
            <a:off x="527612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9.53%</a:t>
            </a:r>
          </a:p>
          <a:p>
            <a:pPr algn="ctr">
              <a:spcBef>
                <a:spcPts val="200"/>
              </a:spcBef>
            </a:pPr>
            <a:r>
              <a:rPr sz="1100" b="1">
                <a:solidFill>
                  <a:srgbClr val="3467B2"/>
                </a:solidFill>
                <a:latin typeface="メイリオ"/>
              </a:rPr>
              <a:t>当日ブロック率</a:t>
            </a:r>
          </a:p>
          <a:p>
            <a:pPr algn="ctr">
              <a:spcBef>
                <a:spcPts val="200"/>
              </a:spcBef>
            </a:pPr>
            <a:r>
              <a:rPr sz="800">
                <a:solidFill>
                  <a:srgbClr val="333333"/>
                </a:solidFill>
                <a:latin typeface="メイリオ"/>
              </a:rPr>
              <a:t>プロダクト平均約22%の半分以下</a:t>
            </a:r>
          </a:p>
        </p:txBody>
      </p:sp>
      <p:sp>
        <p:nvSpPr>
          <p:cNvPr id="66" name="Rounded Rectangle 65"/>
          <p:cNvSpPr/>
          <p:nvPr/>
        </p:nvSpPr>
        <p:spPr>
          <a:xfrm>
            <a:off x="764213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約3.0倍</a:t>
            </a:r>
          </a:p>
          <a:p>
            <a:pPr algn="ctr">
              <a:spcBef>
                <a:spcPts val="200"/>
              </a:spcBef>
            </a:pPr>
            <a:r>
              <a:rPr sz="1100" b="1">
                <a:solidFill>
                  <a:srgbClr val="3467B2"/>
                </a:solidFill>
                <a:latin typeface="メイリオ"/>
              </a:rPr>
              <a:t>改善倍率（最大）</a:t>
            </a:r>
          </a:p>
          <a:p>
            <a:pPr algn="ctr">
              <a:spcBef>
                <a:spcPts val="200"/>
              </a:spcBef>
            </a:pPr>
            <a:r>
              <a:rPr sz="800">
                <a:solidFill>
                  <a:srgbClr val="333333"/>
                </a:solidFill>
                <a:latin typeface="メイリオ"/>
              </a:rPr>
              <a:t>過去6〜18ヶ月DLなし層</a:t>
            </a:r>
          </a:p>
        </p:txBody>
      </p:sp>
      <p:graphicFrame>
        <p:nvGraphicFramePr>
          <p:cNvPr id="67" name="Table 66"/>
          <p:cNvGraphicFramePr>
            <a:graphicFrameLocks noGrp="1"/>
          </p:cNvGraphicFramePr>
          <p:nvPr/>
        </p:nvGraphicFramePr>
        <p:xfrm>
          <a:off x="544108" y="4623440"/>
          <a:ext cx="9326880" cy="822960"/>
        </p:xfrm>
        <a:graphic>
          <a:graphicData uri="http://schemas.openxmlformats.org/drawingml/2006/table">
            <a:tbl>
              <a:tblPr firstRow="1" bandRow="1">
                <a:tableStyleId>{5C22544A-7EE6-4342-B048-85BDC9FD1C3A}</a:tableStyleId>
              </a:tblPr>
              <a:tblGrid>
                <a:gridCol w="2331720"/>
                <a:gridCol w="2331720"/>
                <a:gridCol w="2331720"/>
                <a:gridCol w="2331720"/>
              </a:tblGrid>
              <a:tr h="411480">
                <a:tc>
                  <a:txBody>
                    <a:bodyPr/>
                    <a:lstStyle/>
                    <a:p>
                      <a:pPr algn="ctr"/>
                      <a:r>
                        <a:rPr sz="900" b="1">
                          <a:solidFill>
                            <a:srgbClr val="FFFFFF"/>
                          </a:solidFill>
                          <a:latin typeface="メイリオ"/>
                        </a:rPr>
                        <a:t>過去3ヶ月以内にDL</a:t>
                      </a:r>
                    </a:p>
                  </a:txBody>
                  <a:tcPr anchor="ctr">
                    <a:solidFill>
                      <a:srgbClr val="15133D"/>
                    </a:solidFill>
                  </a:tcPr>
                </a:tc>
                <a:tc>
                  <a:txBody>
                    <a:bodyPr/>
                    <a:lstStyle/>
                    <a:p>
                      <a:pPr algn="ctr"/>
                      <a:r>
                        <a:rPr sz="900" b="1">
                          <a:solidFill>
                            <a:srgbClr val="FFFFFF"/>
                          </a:solidFill>
                          <a:latin typeface="メイリオ"/>
                        </a:rPr>
                        <a:t>過去3〜6ヶ月にDL</a:t>
                      </a:r>
                    </a:p>
                  </a:txBody>
                  <a:tcPr anchor="ctr">
                    <a:solidFill>
                      <a:srgbClr val="15133D"/>
                    </a:solidFill>
                  </a:tcPr>
                </a:tc>
                <a:tc>
                  <a:txBody>
                    <a:bodyPr/>
                    <a:lstStyle/>
                    <a:p>
                      <a:pPr algn="ctr"/>
                      <a:r>
                        <a:rPr sz="900" b="1">
                          <a:solidFill>
                            <a:srgbClr val="FFFFFF"/>
                          </a:solidFill>
                          <a:latin typeface="メイリオ"/>
                        </a:rPr>
                        <a:t>過去6〜18ヶ月にDL</a:t>
                      </a:r>
                    </a:p>
                  </a:txBody>
                  <a:tcPr anchor="ctr">
                    <a:solidFill>
                      <a:srgbClr val="15133D"/>
                    </a:solidFill>
                  </a:tcPr>
                </a:tc>
                <a:tc>
                  <a:txBody>
                    <a:bodyPr/>
                    <a:lstStyle/>
                    <a:p>
                      <a:pPr algn="ctr"/>
                      <a:r>
                        <a:rPr sz="900" b="1">
                          <a:solidFill>
                            <a:srgbClr val="FFFFFF"/>
                          </a:solidFill>
                          <a:latin typeface="メイリオ"/>
                        </a:rPr>
                        <a:t>過去18ヶ月以内DLなし</a:t>
                      </a:r>
                    </a:p>
                  </a:txBody>
                  <a:tcPr anchor="ctr">
                    <a:solidFill>
                      <a:srgbClr val="15133D"/>
                    </a:solidFill>
                  </a:tcPr>
                </a:tc>
              </a:tr>
              <a:tr h="411480">
                <a:tc>
                  <a:txBody>
                    <a:bodyPr/>
                    <a:lstStyle/>
                    <a:p>
                      <a:pPr algn="ctr"/>
                      <a:r>
                        <a:rPr sz="1400" b="1">
                          <a:solidFill>
                            <a:srgbClr val="15133D"/>
                          </a:solidFill>
                          <a:latin typeface="メイリオ"/>
                        </a:rPr>
                        <a:t>約1.7倍</a:t>
                      </a:r>
                    </a:p>
                  </a:txBody>
                  <a:tcPr anchor="ctr">
                    <a:solidFill>
                      <a:srgbClr val="EAF0FA"/>
                    </a:solidFill>
                  </a:tcPr>
                </a:tc>
                <a:tc>
                  <a:txBody>
                    <a:bodyPr/>
                    <a:lstStyle/>
                    <a:p>
                      <a:pPr algn="ctr"/>
                      <a:r>
                        <a:rPr sz="1400" b="1">
                          <a:solidFill>
                            <a:srgbClr val="15133D"/>
                          </a:solidFill>
                          <a:latin typeface="メイリオ"/>
                        </a:rPr>
                        <a:t>約2.8倍</a:t>
                      </a:r>
                    </a:p>
                  </a:txBody>
                  <a:tcPr anchor="ctr">
                    <a:solidFill>
                      <a:srgbClr val="EAF0FA"/>
                    </a:solidFill>
                  </a:tcPr>
                </a:tc>
                <a:tc>
                  <a:txBody>
                    <a:bodyPr/>
                    <a:lstStyle/>
                    <a:p>
                      <a:pPr algn="ctr"/>
                      <a:r>
                        <a:rPr sz="1400" b="1">
                          <a:solidFill>
                            <a:srgbClr val="15133D"/>
                          </a:solidFill>
                          <a:latin typeface="メイリオ"/>
                        </a:rPr>
                        <a:t>約3.0倍</a:t>
                      </a:r>
                    </a:p>
                  </a:txBody>
                  <a:tcPr anchor="ctr">
                    <a:solidFill>
                      <a:srgbClr val="EAF0FA"/>
                    </a:solidFill>
                  </a:tcPr>
                </a:tc>
                <a:tc>
                  <a:txBody>
                    <a:bodyPr/>
                    <a:lstStyle/>
                    <a:p>
                      <a:pPr algn="ctr"/>
                      <a:r>
                        <a:rPr sz="1400" b="1">
                          <a:solidFill>
                            <a:srgbClr val="15133D"/>
                          </a:solidFill>
                          <a:latin typeface="メイリオ"/>
                        </a:rPr>
                        <a:t>約2.1倍</a:t>
                      </a:r>
                    </a:p>
                  </a:txBody>
                  <a:tcPr anchor="ctr">
                    <a:solidFill>
                      <a:srgbClr val="EAF0FA"/>
                    </a:solidFill>
                  </a:tcPr>
                </a:tc>
              </a:tr>
            </a:tbl>
          </a:graphicData>
        </a:graphic>
      </p:graphicFrame>
      <p:sp>
        <p:nvSpPr>
          <p:cNvPr id="68" name="Rounded Rectangle 67"/>
          <p:cNvSpPr/>
          <p:nvPr/>
        </p:nvSpPr>
        <p:spPr>
          <a:xfrm>
            <a:off x="544108" y="5629280"/>
            <a:ext cx="9326880" cy="7772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活用メリット</a:t>
            </a:r>
          </a:p>
          <a:p>
            <a:pPr algn="l">
              <a:lnSpc>
                <a:spcPct val="115000"/>
              </a:lnSpc>
              <a:spcBef>
                <a:spcPts val="600"/>
              </a:spcBef>
            </a:pPr>
            <a:r>
              <a:rPr sz="1100">
                <a:solidFill>
                  <a:srgbClr val="333333"/>
                </a:solidFill>
                <a:latin typeface="メイリオ"/>
              </a:rPr>
              <a:t>この実績数字を使って、運用中クライアントへの追加提案・実績報告ができる。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複数店舗・複数ブランドを運営する全業種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出典：https://workers-hub.box.com/s/ko2jjwgxk5fs18ejrs97fvfqv3bm3089</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【LINEミニアプリ】友だち追加オプションの複数アカウント対応</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1つのLINEミニアプリに連携するLINE公式アカウントが、これまでの1つ限定から</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複数設定できるようになる。流入経路ごとに異なる公式アカウントへ友だち追加を誘導可能に。</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リリース予定日は2026年9月2日。</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4.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【LINEオープンキャンペーン】特典内容</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2026年10月20日開始〜12月25日までに終了する案件限定で、</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基本費用・掲載期間・配信通数の3点が特別条件になるキャンペーン。</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友だち獲得を一気に伸ばしたいクライアントへの提案材料になる。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ectangle 62"/>
          <p:cNvSpPr/>
          <p:nvPr/>
        </p:nvSpPr>
        <p:spPr>
          <a:xfrm>
            <a:off x="544108" y="3068960"/>
            <a:ext cx="354787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333333"/>
                </a:solidFill>
                <a:latin typeface="メイリオ"/>
              </a:rPr>
              <a:t>AS-IS</a:t>
            </a:r>
          </a:p>
        </p:txBody>
      </p:sp>
      <p:sp>
        <p:nvSpPr>
          <p:cNvPr id="64" name="Rectangle 63"/>
          <p:cNvSpPr/>
          <p:nvPr/>
        </p:nvSpPr>
        <p:spPr>
          <a:xfrm>
            <a:off x="544108" y="3343280"/>
            <a:ext cx="3547872" cy="640080"/>
          </a:xfrm>
          <a:prstGeom prst="rect">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300" b="1">
                <a:solidFill>
                  <a:srgbClr val="15133D"/>
                </a:solidFill>
                <a:latin typeface="メイリオ"/>
              </a:rPr>
              <a:t>通常プラン｜基本費用1,800万円・掲載期間7日間・配信900万通</a:t>
            </a:r>
          </a:p>
        </p:txBody>
      </p:sp>
      <p:sp>
        <p:nvSpPr>
          <p:cNvPr id="65" name="TextBox 64"/>
          <p:cNvSpPr txBox="1"/>
          <p:nvPr/>
        </p:nvSpPr>
        <p:spPr>
          <a:xfrm>
            <a:off x="4091980" y="3068960"/>
            <a:ext cx="457200" cy="914400"/>
          </a:xfrm>
          <a:prstGeom prst="rect">
            <a:avLst/>
          </a:prstGeom>
          <a:noFill/>
        </p:spPr>
        <p:txBody>
          <a:bodyPr wrap="none" anchor="ctr">
            <a:spAutoFit/>
          </a:bodyPr>
          <a:lstStyle/>
          <a:p>
            <a:pPr algn="ctr"/>
            <a:r>
              <a:rPr sz="1800" b="1">
                <a:solidFill>
                  <a:srgbClr val="3467B2"/>
                </a:solidFill>
                <a:latin typeface="メイリオ"/>
              </a:rPr>
              <a:t>▶</a:t>
            </a:r>
          </a:p>
        </p:txBody>
      </p:sp>
      <p:sp>
        <p:nvSpPr>
          <p:cNvPr id="66" name="Rectangle 65"/>
          <p:cNvSpPr/>
          <p:nvPr/>
        </p:nvSpPr>
        <p:spPr>
          <a:xfrm>
            <a:off x="4549180" y="3068960"/>
            <a:ext cx="5321808" cy="27432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TO-BE</a:t>
            </a:r>
          </a:p>
        </p:txBody>
      </p:sp>
      <p:sp>
        <p:nvSpPr>
          <p:cNvPr id="67" name="Rectangle 66"/>
          <p:cNvSpPr/>
          <p:nvPr/>
        </p:nvSpPr>
        <p:spPr>
          <a:xfrm>
            <a:off x="4549180" y="3343280"/>
            <a:ext cx="5321808" cy="64008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2200" b="1">
                <a:solidFill>
                  <a:srgbClr val="15133D"/>
                </a:solidFill>
                <a:latin typeface="メイリオ"/>
              </a:rPr>
              <a:t>特別プラン｜基本費用1,500万円</a:t>
            </a:r>
          </a:p>
          <a:p>
            <a:pPr>
              <a:lnSpc>
                <a:spcPct val="110000"/>
              </a:lnSpc>
              <a:spcBef>
                <a:spcPts val="500"/>
              </a:spcBef>
            </a:pPr>
            <a:r>
              <a:rPr sz="1050">
                <a:solidFill>
                  <a:srgbClr val="333333"/>
                </a:solidFill>
                <a:latin typeface="メイリオ"/>
              </a:rPr>
              <a:t>掲載期間15日間・配信1,050万通に拡大</a:t>
            </a:r>
          </a:p>
        </p:txBody>
      </p:sp>
      <p:sp>
        <p:nvSpPr>
          <p:cNvPr id="68" name="Rounded Rectangle 67"/>
          <p:cNvSpPr/>
          <p:nvPr/>
        </p:nvSpPr>
        <p:spPr>
          <a:xfrm>
            <a:off x="54410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特別価格で提案しやすい</a:t>
            </a:r>
          </a:p>
          <a:p>
            <a:pPr algn="l">
              <a:lnSpc>
                <a:spcPct val="115000"/>
              </a:lnSpc>
              <a:spcBef>
                <a:spcPts val="600"/>
              </a:spcBef>
            </a:pPr>
            <a:r>
              <a:rPr sz="1100">
                <a:solidFill>
                  <a:srgbClr val="333333"/>
                </a:solidFill>
                <a:latin typeface="メイリオ"/>
              </a:rPr>
              <a:t>基本費用が1,800万円→1,500万円に。期間限定の特別プランとして提案の後押しになる。</a:t>
            </a:r>
          </a:p>
        </p:txBody>
      </p:sp>
      <p:sp>
        <p:nvSpPr>
          <p:cNvPr id="69" name="Rounded Rectangle 68"/>
          <p:cNvSpPr/>
          <p:nvPr/>
        </p:nvSpPr>
        <p:spPr>
          <a:xfrm>
            <a:off x="529898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景品はLINEポイント2pt総付</a:t>
            </a:r>
          </a:p>
          <a:p>
            <a:pPr algn="l">
              <a:lnSpc>
                <a:spcPct val="115000"/>
              </a:lnSpc>
              <a:spcBef>
                <a:spcPts val="600"/>
              </a:spcBef>
            </a:pPr>
            <a:r>
              <a:rPr sz="1100">
                <a:solidFill>
                  <a:srgbClr val="333333"/>
                </a:solidFill>
                <a:latin typeface="メイリオ"/>
              </a:rPr>
              <a:t>応募者全員にLINEポイント2ptを進呈するアンケート型キャンペーン。対象はLINE公式アカウント・Messaging API対応かつ認証プロバイダー必須。</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【LINEオープンキャンペーン】実施スケジュール</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申込みから掲載開始まで、審査・枠おさえ・入稿の3段階を経る。</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配信枠は早い者勝ちのため、各締切の厳守が前提条件になる。</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土日祝日の掲載開始は不可なので、平日での日程調整が必要。</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ectangle 62"/>
          <p:cNvSpPr/>
          <p:nvPr/>
        </p:nvSpPr>
        <p:spPr>
          <a:xfrm>
            <a:off x="54410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30営業日前</a:t>
            </a:r>
          </a:p>
        </p:txBody>
      </p:sp>
      <p:sp>
        <p:nvSpPr>
          <p:cNvPr id="64" name="Rectangle 63"/>
          <p:cNvSpPr/>
          <p:nvPr/>
        </p:nvSpPr>
        <p:spPr>
          <a:xfrm>
            <a:off x="54410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企業・商材審査／企画審査</a:t>
            </a:r>
          </a:p>
        </p:txBody>
      </p:sp>
      <p:sp>
        <p:nvSpPr>
          <p:cNvPr id="65" name="TextBox 64"/>
          <p:cNvSpPr txBox="1"/>
          <p:nvPr/>
        </p:nvSpPr>
        <p:spPr>
          <a:xfrm>
            <a:off x="2635798" y="3068960"/>
            <a:ext cx="320040" cy="1371600"/>
          </a:xfrm>
          <a:prstGeom prst="rect">
            <a:avLst/>
          </a:prstGeom>
          <a:noFill/>
        </p:spPr>
        <p:txBody>
          <a:bodyPr wrap="none" anchor="ctr">
            <a:spAutoFit/>
          </a:bodyPr>
          <a:lstStyle/>
          <a:p>
            <a:pPr algn="ctr"/>
            <a:r>
              <a:rPr sz="1600" b="1">
                <a:solidFill>
                  <a:srgbClr val="3467B2"/>
                </a:solidFill>
                <a:latin typeface="メイリオ"/>
              </a:rPr>
              <a:t>▶</a:t>
            </a:r>
          </a:p>
        </p:txBody>
      </p:sp>
      <p:sp>
        <p:nvSpPr>
          <p:cNvPr id="66" name="Rectangle 65"/>
          <p:cNvSpPr/>
          <p:nvPr/>
        </p:nvSpPr>
        <p:spPr>
          <a:xfrm>
            <a:off x="295583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25営業日前 17時</a:t>
            </a:r>
          </a:p>
        </p:txBody>
      </p:sp>
      <p:sp>
        <p:nvSpPr>
          <p:cNvPr id="67" name="Rectangle 66"/>
          <p:cNvSpPr/>
          <p:nvPr/>
        </p:nvSpPr>
        <p:spPr>
          <a:xfrm>
            <a:off x="295583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配信枠おさえ・申込み</a:t>
            </a:r>
          </a:p>
        </p:txBody>
      </p:sp>
      <p:sp>
        <p:nvSpPr>
          <p:cNvPr id="68" name="TextBox 67"/>
          <p:cNvSpPr txBox="1"/>
          <p:nvPr/>
        </p:nvSpPr>
        <p:spPr>
          <a:xfrm>
            <a:off x="5047528" y="3068960"/>
            <a:ext cx="320040" cy="1371600"/>
          </a:xfrm>
          <a:prstGeom prst="rect">
            <a:avLst/>
          </a:prstGeom>
          <a:noFill/>
        </p:spPr>
        <p:txBody>
          <a:bodyPr wrap="none" anchor="ctr">
            <a:spAutoFit/>
          </a:bodyPr>
          <a:lstStyle/>
          <a:p>
            <a:pPr algn="ctr"/>
            <a:r>
              <a:rPr sz="1600" b="1">
                <a:solidFill>
                  <a:srgbClr val="3467B2"/>
                </a:solidFill>
                <a:latin typeface="メイリオ"/>
              </a:rPr>
              <a:t>▶</a:t>
            </a:r>
          </a:p>
        </p:txBody>
      </p:sp>
      <p:sp>
        <p:nvSpPr>
          <p:cNvPr id="69" name="Rectangle 68"/>
          <p:cNvSpPr/>
          <p:nvPr/>
        </p:nvSpPr>
        <p:spPr>
          <a:xfrm>
            <a:off x="536756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20営業日前 17時</a:t>
            </a:r>
          </a:p>
        </p:txBody>
      </p:sp>
      <p:sp>
        <p:nvSpPr>
          <p:cNvPr id="70" name="Rectangle 69"/>
          <p:cNvSpPr/>
          <p:nvPr/>
        </p:nvSpPr>
        <p:spPr>
          <a:xfrm>
            <a:off x="536756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入稿物の提出</a:t>
            </a:r>
          </a:p>
        </p:txBody>
      </p:sp>
      <p:sp>
        <p:nvSpPr>
          <p:cNvPr id="71" name="TextBox 70"/>
          <p:cNvSpPr txBox="1"/>
          <p:nvPr/>
        </p:nvSpPr>
        <p:spPr>
          <a:xfrm>
            <a:off x="7459258" y="3068960"/>
            <a:ext cx="320040" cy="1371600"/>
          </a:xfrm>
          <a:prstGeom prst="rect">
            <a:avLst/>
          </a:prstGeom>
          <a:noFill/>
        </p:spPr>
        <p:txBody>
          <a:bodyPr wrap="none" anchor="ctr">
            <a:spAutoFit/>
          </a:bodyPr>
          <a:lstStyle/>
          <a:p>
            <a:pPr algn="ctr"/>
            <a:r>
              <a:rPr sz="1600" b="1">
                <a:solidFill>
                  <a:srgbClr val="3467B2"/>
                </a:solidFill>
                <a:latin typeface="メイリオ"/>
              </a:rPr>
              <a:t>▶</a:t>
            </a:r>
          </a:p>
        </p:txBody>
      </p:sp>
      <p:sp>
        <p:nvSpPr>
          <p:cNvPr id="72" name="Rectangle 71"/>
          <p:cNvSpPr/>
          <p:nvPr/>
        </p:nvSpPr>
        <p:spPr>
          <a:xfrm>
            <a:off x="777929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開始日</a:t>
            </a:r>
          </a:p>
        </p:txBody>
      </p:sp>
      <p:sp>
        <p:nvSpPr>
          <p:cNvPr id="73" name="Rectangle 72"/>
          <p:cNvSpPr/>
          <p:nvPr/>
        </p:nvSpPr>
        <p:spPr>
          <a:xfrm>
            <a:off x="777929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掲載開始（土日祝日不可）</a:t>
            </a:r>
          </a:p>
        </p:txBody>
      </p:sp>
      <p:sp>
        <p:nvSpPr>
          <p:cNvPr id="74" name="Rounded Rectangle 73"/>
          <p:cNvSpPr/>
          <p:nvPr/>
        </p:nvSpPr>
        <p:spPr>
          <a:xfrm>
            <a:off x="544108" y="4669160"/>
            <a:ext cx="9326880" cy="9144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早めの申込みが必須</a:t>
            </a:r>
          </a:p>
          <a:p>
            <a:pPr algn="l">
              <a:lnSpc>
                <a:spcPct val="115000"/>
              </a:lnSpc>
              <a:spcBef>
                <a:spcPts val="600"/>
              </a:spcBef>
            </a:pPr>
            <a:r>
              <a:rPr sz="1100">
                <a:solidFill>
                  <a:srgbClr val="333333"/>
                </a:solidFill>
                <a:latin typeface="メイリオ"/>
              </a:rPr>
              <a:t>期間・条件限定のキャンペーンのため、早めの提案・申込み誘導がカギ。配信枠は先着で埋まるため、審査期間も見込んだ逆算スケジュールを組む。</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【LINEオープンキャンペーン】注意点・ご利用条件</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キャンセル規定・割引の併用可否など、提案前に必ず確認したい4点。</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特にキャンセル規定は発注後の費用に直結するため要注意。</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景品内容は変更となる場合があり、事前の合意形成が欠かせない。</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ounded Rectangle 62"/>
          <p:cNvSpPr/>
          <p:nvPr/>
        </p:nvSpPr>
        <p:spPr>
          <a:xfrm>
            <a:off x="544108" y="306896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キャンセル規定</a:t>
            </a:r>
          </a:p>
          <a:p>
            <a:pPr algn="l">
              <a:lnSpc>
                <a:spcPct val="115000"/>
              </a:lnSpc>
              <a:spcBef>
                <a:spcPts val="600"/>
              </a:spcBef>
            </a:pPr>
            <a:r>
              <a:rPr sz="1100">
                <a:solidFill>
                  <a:srgbClr val="333333"/>
                </a:solidFill>
                <a:latin typeface="メイリオ"/>
              </a:rPr>
              <a:t>発注期日超過後のキャンセルは、最低発注金額1,500万円を請求。</a:t>
            </a:r>
          </a:p>
        </p:txBody>
      </p:sp>
      <p:sp>
        <p:nvSpPr>
          <p:cNvPr id="64" name="Rounded Rectangle 63"/>
          <p:cNvSpPr/>
          <p:nvPr/>
        </p:nvSpPr>
        <p:spPr>
          <a:xfrm>
            <a:off x="5298988" y="306896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他割引との併用不可</a:t>
            </a:r>
          </a:p>
          <a:p>
            <a:pPr algn="l">
              <a:lnSpc>
                <a:spcPct val="115000"/>
              </a:lnSpc>
              <a:spcBef>
                <a:spcPts val="600"/>
              </a:spcBef>
            </a:pPr>
            <a:r>
              <a:rPr sz="1100">
                <a:solidFill>
                  <a:srgbClr val="333333"/>
                </a:solidFill>
                <a:latin typeface="メイリオ"/>
              </a:rPr>
              <a:t>既存の各種割引施策とは併用不可。特別プラン単体での提案が前提。</a:t>
            </a:r>
          </a:p>
        </p:txBody>
      </p:sp>
      <p:sp>
        <p:nvSpPr>
          <p:cNvPr id="65" name="Rounded Rectangle 64"/>
          <p:cNvSpPr/>
          <p:nvPr/>
        </p:nvSpPr>
        <p:spPr>
          <a:xfrm>
            <a:off x="544108" y="471488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景品変更の可能性あり</a:t>
            </a:r>
          </a:p>
          <a:p>
            <a:pPr algn="l">
              <a:lnSpc>
                <a:spcPct val="115000"/>
              </a:lnSpc>
              <a:spcBef>
                <a:spcPts val="600"/>
              </a:spcBef>
            </a:pPr>
            <a:r>
              <a:rPr sz="1100">
                <a:solidFill>
                  <a:srgbClr val="333333"/>
                </a:solidFill>
                <a:latin typeface="メイリオ"/>
              </a:rPr>
              <a:t>景品はLINEポイント2pt固定だが変更となる場合があり、変更不可のお申し出は受付不可。</a:t>
            </a:r>
          </a:p>
        </p:txBody>
      </p:sp>
      <p:sp>
        <p:nvSpPr>
          <p:cNvPr id="66" name="Rounded Rectangle 65"/>
          <p:cNvSpPr/>
          <p:nvPr/>
        </p:nvSpPr>
        <p:spPr>
          <a:xfrm>
            <a:off x="5298988" y="471488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対象は認証プロバイダー必須</a:t>
            </a:r>
          </a:p>
          <a:p>
            <a:pPr algn="l">
              <a:lnSpc>
                <a:spcPct val="115000"/>
              </a:lnSpc>
              <a:spcBef>
                <a:spcPts val="600"/>
              </a:spcBef>
            </a:pPr>
            <a:r>
              <a:rPr sz="1100">
                <a:solidFill>
                  <a:srgbClr val="333333"/>
                </a:solidFill>
                <a:latin typeface="メイリオ"/>
              </a:rPr>
              <a:t>LINE公式アカウント・Messaging API対応かつ認証プロバイダーのアカウントが対象。</a:t>
            </a:r>
          </a:p>
        </p:txBody>
      </p:sp>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YMJAPA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2021-08-26T12:24:15Z</dcterms:created>
  <dc:creator>横田 澪央</dc:creator>
</cp:coreProperties>
</file>