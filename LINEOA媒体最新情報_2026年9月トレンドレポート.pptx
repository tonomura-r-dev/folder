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 id="265" r:id="rId10"/>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1034" name="Google Shape;34;p2_page"/>
          <p:cNvSpPr txBox="1"/>
          <p:nvPr/>
        </p:nvSpPr>
        <p:spPr>
          <a:xfrm>
            <a:off x="318183" y="1483585"/>
            <a:ext cx="1005840"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P.5-6</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P.8-10</a:t>
            </a:r>
            <a:endParaRPr b="1" i="0" sz="1500" u="none" cap="none" strike="noStrike">
              <a:solidFill>
                <a:schemeClr val="dk1"/>
              </a:solidFill>
              <a:latin typeface="Meiryo"/>
              <a:ea typeface="Meiryo"/>
              <a:cs typeface="Meiryo"/>
              <a:sym typeface="Meiryo"/>
            </a:endParaRPr>
          </a:p>
        </p:txBody>
      </p:sp>
      <p:sp>
        <p:nvSpPr>
          <p:cNvPr id="34" name="Google Shape;34;p2"/>
          <p:cNvSpPr txBox="1"/>
          <p:nvPr/>
        </p:nvSpPr>
        <p:spPr>
          <a:xfrm>
            <a:off x="1461183" y="1483585"/>
            <a:ext cx="8155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【LINEプロモーションスタンプ】アップデート内容・インパクト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【LINEオープンキャンペーン】特典内容・実施スケジュール・注意点・ご利用条件</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出典：https://developers.line.biz/ja/docs/line-mini-app/service/add-friend-option/#what-is-add-friend-option</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【LINEオープンキャンペーン】特典内容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基本費用・掲載期間・配信通数の3点が特別条件になるキャンペーン。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300" b="1">
                <a:solidFill>
                  <a:srgbClr val="15133D"/>
                </a:solidFill>
                <a:latin typeface="メイリオ"/>
              </a:rPr>
              <a:t>通常プラン｜基本費用1,800万円・掲載期間7日間・配信900万通</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2200" b="1">
                <a:solidFill>
                  <a:srgbClr val="15133D"/>
                </a:solidFill>
                <a:latin typeface="メイリオ"/>
              </a:rPr>
              <a:t>特別プラン｜基本費用1,500万円</a:t>
            </a:r>
          </a:p>
          <a:p>
            <a:pPr>
              <a:lnSpc>
                <a:spcPct val="110000"/>
              </a:lnSpc>
              <a:spcBef>
                <a:spcPts val="500"/>
              </a:spcBef>
            </a:pPr>
            <a:r>
              <a:rPr sz="1050">
                <a:solidFill>
                  <a:srgbClr val="333333"/>
                </a:solidFill>
                <a:latin typeface="メイリオ"/>
              </a:rPr>
              <a:t>掲載期間15日間・配信1,050万通に拡大</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特別価格で提案しやすい</a:t>
            </a:r>
          </a:p>
          <a:p>
            <a:pPr algn="l">
              <a:lnSpc>
                <a:spcPct val="115000"/>
              </a:lnSpc>
              <a:spcBef>
                <a:spcPts val="600"/>
              </a:spcBef>
            </a:pPr>
            <a:r>
              <a:rPr sz="1100">
                <a:solidFill>
                  <a:srgbClr val="333333"/>
                </a:solidFill>
                <a:latin typeface="メイリオ"/>
              </a:rPr>
              <a:t>基本費用が1,800万円→1,500万円に。期間限定の特別プランとして提案の後押しになる。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景品はLINEポイント2pt総付</a:t>
            </a:r>
          </a:p>
          <a:p>
            <a:pPr algn="l">
              <a:lnSpc>
                <a:spcPct val="115000"/>
              </a:lnSpc>
              <a:spcBef>
                <a:spcPts val="600"/>
              </a:spcBef>
            </a:pPr>
            <a:r>
              <a:rPr sz="1100">
                <a:solidFill>
                  <a:srgbClr val="333333"/>
                </a:solidFill>
                <a:latin typeface="メイリオ"/>
              </a:rPr>
              <a:t>応募者全員にLINEポイント2ptを進呈するアンケート型キャンペーン。対象はLINE公式アカウント・Messaging API対応かつ認証プロバイダー必須。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【LINEオープンキャンペーン】実施スケジュール</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申込みから掲載開始まで、審査・枠おさえ・入稿の3段階を経る。</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配信枠は早い者勝ちのため、各締切の厳守が前提条件になる。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土日祝日の掲載開始は不可なので、平日での日程調整が必要。</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30営業日前</a:t>
            </a:r>
          </a:p>
        </p:txBody>
      </p:sp>
      <p:sp>
        <p:nvSpPr>
          <p:cNvPr id="64" name="Rectangle 63"/>
          <p:cNvSpPr/>
          <p:nvPr/>
        </p:nvSpPr>
        <p:spPr>
          <a:xfrm>
            <a:off x="54410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企業・商材審査／企画審査</a:t>
            </a:r>
          </a:p>
        </p:txBody>
      </p:sp>
      <p:sp>
        <p:nvSpPr>
          <p:cNvPr id="65" name="TextBox 64"/>
          <p:cNvSpPr txBox="1"/>
          <p:nvPr/>
        </p:nvSpPr>
        <p:spPr>
          <a:xfrm>
            <a:off x="263579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6" name="Rectangle 65"/>
          <p:cNvSpPr/>
          <p:nvPr/>
        </p:nvSpPr>
        <p:spPr>
          <a:xfrm>
            <a:off x="295583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25営業日前 17時</a:t>
            </a:r>
          </a:p>
        </p:txBody>
      </p:sp>
      <p:sp>
        <p:nvSpPr>
          <p:cNvPr id="67" name="Rectangle 66"/>
          <p:cNvSpPr/>
          <p:nvPr/>
        </p:nvSpPr>
        <p:spPr>
          <a:xfrm>
            <a:off x="295583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配信枠おさえ・申込み</a:t>
            </a:r>
          </a:p>
        </p:txBody>
      </p:sp>
      <p:sp>
        <p:nvSpPr>
          <p:cNvPr id="68" name="TextBox 67"/>
          <p:cNvSpPr txBox="1"/>
          <p:nvPr/>
        </p:nvSpPr>
        <p:spPr>
          <a:xfrm>
            <a:off x="504752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9" name="Rectangle 68"/>
          <p:cNvSpPr/>
          <p:nvPr/>
        </p:nvSpPr>
        <p:spPr>
          <a:xfrm>
            <a:off x="536756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20営業日前 17時</a:t>
            </a:r>
          </a:p>
        </p:txBody>
      </p:sp>
      <p:sp>
        <p:nvSpPr>
          <p:cNvPr id="70" name="Rectangle 69"/>
          <p:cNvSpPr/>
          <p:nvPr/>
        </p:nvSpPr>
        <p:spPr>
          <a:xfrm>
            <a:off x="536756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入稿物の提出</a:t>
            </a:r>
          </a:p>
        </p:txBody>
      </p:sp>
      <p:sp>
        <p:nvSpPr>
          <p:cNvPr id="71" name="TextBox 70"/>
          <p:cNvSpPr txBox="1"/>
          <p:nvPr/>
        </p:nvSpPr>
        <p:spPr>
          <a:xfrm>
            <a:off x="745925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72" name="Rectangle 71"/>
          <p:cNvSpPr/>
          <p:nvPr/>
        </p:nvSpPr>
        <p:spPr>
          <a:xfrm>
            <a:off x="777929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開始日</a:t>
            </a:r>
          </a:p>
        </p:txBody>
      </p:sp>
      <p:sp>
        <p:nvSpPr>
          <p:cNvPr id="73" name="Rectangle 72"/>
          <p:cNvSpPr/>
          <p:nvPr/>
        </p:nvSpPr>
        <p:spPr>
          <a:xfrm>
            <a:off x="777929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掲載開始（土日祝日不可）</a:t>
            </a:r>
          </a:p>
        </p:txBody>
      </p:sp>
      <p:sp>
        <p:nvSpPr>
          <p:cNvPr id="74" name="Rounded Rectangle 73"/>
          <p:cNvSpPr/>
          <p:nvPr/>
        </p:nvSpPr>
        <p:spPr>
          <a:xfrm>
            <a:off x="544108" y="4669160"/>
            <a:ext cx="9326880" cy="9144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早めの申込みが必須</a:t>
            </a:r>
          </a:p>
          <a:p>
            <a:pPr algn="l">
              <a:lnSpc>
                <a:spcPct val="115000"/>
              </a:lnSpc>
              <a:spcBef>
                <a:spcPts val="600"/>
              </a:spcBef>
            </a:pPr>
            <a:r>
              <a:rPr sz="1100">
                <a:solidFill>
                  <a:srgbClr val="333333"/>
                </a:solidFill>
                <a:latin typeface="メイリオ"/>
              </a:rPr>
              <a:t>期間・条件限定のキャンペーンのため、早めの提案・申込み誘導がカギ。配信枠は先着で埋まるため、審査期間も見込んだ逆算スケジュールを組む。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【LINEオープンキャンペーン】注意点・ご利用条件</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キャンセル規定・割引の併用可否など、提案前に必ず確認したい4点。</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特にキャンセル規定は発注後の費用に直結するため要注意。</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景品内容は変更となる場合があり、事前の合意形成が欠かせない。</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キャンセル規定</a:t>
            </a:r>
          </a:p>
          <a:p>
            <a:pPr algn="l">
              <a:lnSpc>
                <a:spcPct val="115000"/>
              </a:lnSpc>
              <a:spcBef>
                <a:spcPts val="600"/>
              </a:spcBef>
            </a:pPr>
            <a:r>
              <a:rPr sz="1100">
                <a:solidFill>
                  <a:srgbClr val="333333"/>
                </a:solidFill>
                <a:latin typeface="メイリオ"/>
              </a:rPr>
              <a:t>発注期日超過後のキャンセルは、最低発注金額1,500万円を請求。</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他割引との併用不可</a:t>
            </a:r>
          </a:p>
          <a:p>
            <a:pPr algn="l">
              <a:lnSpc>
                <a:spcPct val="115000"/>
              </a:lnSpc>
              <a:spcBef>
                <a:spcPts val="600"/>
              </a:spcBef>
            </a:pPr>
            <a:r>
              <a:rPr sz="1100">
                <a:solidFill>
                  <a:srgbClr val="333333"/>
                </a:solidFill>
                <a:latin typeface="メイリオ"/>
              </a:rPr>
              <a:t>既存の各種割引施策とは併用不可。特別プラン単体での提案が前提。</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景品変更の可能性あり</a:t>
            </a:r>
          </a:p>
          <a:p>
            <a:pPr algn="l">
              <a:lnSpc>
                <a:spcPct val="115000"/>
              </a:lnSpc>
              <a:spcBef>
                <a:spcPts val="600"/>
              </a:spcBef>
            </a:pPr>
            <a:r>
              <a:rPr sz="1100">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対象は認証プロバイダー必須</a:t>
            </a:r>
          </a:p>
          <a:p>
            <a:pPr algn="l">
              <a:lnSpc>
                <a:spcPct val="115000"/>
              </a:lnSpc>
              <a:spcBef>
                <a:spcPts val="600"/>
              </a:spcBef>
            </a:pPr>
            <a:r>
              <a:rPr sz="1100">
                <a:solidFill>
                  <a:srgbClr val="333333"/>
                </a:solidFill>
                <a:latin typeface="メイリオ"/>
              </a:rPr>
              <a:t>LINE公式アカウント・Messaging API対応かつ認証プロバイダーのアカウントが対象。</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