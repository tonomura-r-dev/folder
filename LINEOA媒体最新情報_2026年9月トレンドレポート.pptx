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media/image16.svg" ContentType="image/svg+xml"/>
  <Override PartName="/ppt/media/image17.svg" ContentType="image/svg+xml"/>
  <Override PartName="/ppt/media/image18.svg" ContentType="image/svg+xml"/>
  <Override PartName="/ppt/media/image1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65"/>
  </p:notesMasterIdLst>
  <p:handoutMasterIdLst>
    <p:handoutMasterId r:id="rId66"/>
  </p:handoutMasterIdLst>
  <p:sldIdLst>
    <p:sldId id="2363" r:id="rId3"/>
    <p:sldId id="2721" r:id="rId4"/>
    <p:sldId id="2723" r:id="rId5"/>
    <p:sldId id="2714" r:id="rId6"/>
    <p:sldId id="2761" r:id="rId7"/>
    <p:sldId id="2935" r:id="rId8"/>
    <p:sldId id="2919" r:id="rId9"/>
    <p:sldId id="2519" r:id="rId10"/>
    <p:sldId id="2931" r:id="rId11"/>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DFD"/>
    <a:srgbClr val="173559"/>
    <a:srgbClr val="04FA0A"/>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157" autoAdjust="0"/>
    <p:restoredTop sz="94424" autoAdjust="0"/>
  </p:normalViewPr>
  <p:slideViewPr>
    <p:cSldViewPr snapToGrid="0">
      <p:cViewPr varScale="1">
        <p:scale>
          <a:sx n="110" d="100"/>
          <a:sy n="110" d="100"/>
        </p:scale>
        <p:origin x="1236" y="102"/>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65" Type="http://schemas.openxmlformats.org/officeDocument/2006/relationships/notesMaster" Target="notesMasters/notesMaster1.xml"/><Relationship Id="rId66" Type="http://schemas.openxmlformats.org/officeDocument/2006/relationships/handoutMaster" Target="handoutMasters/handout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2026/7/14</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E855B-5535-79F7-D3A0-C0A506787C8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C6FB8FB-0888-2275-ABE8-A13FDAA10E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D71EA6C-9577-A559-064D-4DE5700FB2F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1C4F904-4503-6BD1-FC32-6AA038134FF0}"/>
              </a:ext>
            </a:extLst>
          </p:cNvPr>
          <p:cNvSpPr>
            <a:spLocks noGrp="1"/>
          </p:cNvSpPr>
          <p:nvPr>
            <p:ph type="sldNum" sz="quarter" idx="10"/>
          </p:nvPr>
        </p:nvSpPr>
        <p:spPr/>
        <p:txBody>
          <a:bodyPr/>
          <a:lstStyle/>
          <a:p>
            <a:fld id="{022E43C0-6795-4B13-B37C-259C826D4B6A}" type="slidenum">
              <a:rPr kumimoji="1" lang="ja-JP" altLang="en-US" smtClean="0"/>
              <a:t>6</a:t>
            </a:fld>
            <a:endParaRPr kumimoji="1" lang="ja-JP" altLang="en-US"/>
          </a:p>
        </p:txBody>
      </p:sp>
    </p:spTree>
    <p:extLst>
      <p:ext uri="{BB962C8B-B14F-4D97-AF65-F5344CB8AC3E}">
        <p14:creationId xmlns:p14="http://schemas.microsoft.com/office/powerpoint/2010/main" val="112542108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7</a:t>
            </a:fld>
            <a:endParaRPr kumimoji="1" lang="ja-JP" altLang="en-US"/>
          </a:p>
        </p:txBody>
      </p:sp>
    </p:spTree>
    <p:extLst>
      <p:ext uri="{BB962C8B-B14F-4D97-AF65-F5344CB8AC3E}">
        <p14:creationId xmlns:p14="http://schemas.microsoft.com/office/powerpoint/2010/main" val="9746031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8</a:t>
            </a:fld>
            <a:endParaRPr kumimoji="1" lang="ja-JP" altLang="en-US"/>
          </a:p>
        </p:txBody>
      </p:sp>
    </p:spTree>
    <p:extLst>
      <p:ext uri="{BB962C8B-B14F-4D97-AF65-F5344CB8AC3E}">
        <p14:creationId xmlns:p14="http://schemas.microsoft.com/office/powerpoint/2010/main" val="337265717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BED428-D571-14FF-D396-D7175DA0FB5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271AB2A-80AE-D1AA-E70B-86CDF935054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C0C2926-5D95-6624-6AD9-E45C5528979C}"/>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B6DFD87-0439-882A-B65E-9CEE51F20332}"/>
              </a:ext>
            </a:extLst>
          </p:cNvPr>
          <p:cNvSpPr>
            <a:spLocks noGrp="1"/>
          </p:cNvSpPr>
          <p:nvPr>
            <p:ph type="sldNum" sz="quarter" idx="10"/>
          </p:nvPr>
        </p:nvSpPr>
        <p:spPr/>
        <p:txBody>
          <a:bodyPr/>
          <a:lstStyle/>
          <a:p>
            <a:fld id="{022E43C0-6795-4B13-B37C-259C826D4B6A}" type="slidenum">
              <a:rPr kumimoji="1" lang="ja-JP" altLang="en-US" smtClean="0"/>
              <a:t>9</a:t>
            </a:fld>
            <a:endParaRPr kumimoji="1" lang="ja-JP" altLang="en-US"/>
          </a:p>
        </p:txBody>
      </p:sp>
    </p:spTree>
    <p:extLst>
      <p:ext uri="{BB962C8B-B14F-4D97-AF65-F5344CB8AC3E}">
        <p14:creationId xmlns:p14="http://schemas.microsoft.com/office/powerpoint/2010/main" val="42520229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image" Target="../media/image6.jpeg"/><Relationship Id="rId4" Type="http://schemas.openxmlformats.org/officeDocument/2006/relationships/image" Target="../media/image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16.svg"/><Relationship Id="rId4" Type="http://schemas.openxmlformats.org/officeDocument/2006/relationships/image" Target="../media/image17.svg"/><Relationship Id="rId5" Type="http://schemas.openxmlformats.org/officeDocument/2006/relationships/image" Target="../media/image18.svg"/><Relationship Id="rId6" Type="http://schemas.openxmlformats.org/officeDocument/2006/relationships/image" Target="../media/image19.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40080" y="2286000"/>
            <a:ext cx="8229600" cy="365760"/>
          </a:xfrm>
          <a:prstGeom prst="rect">
            <a:avLst/>
          </a:prstGeom>
          <a:noFill/>
        </p:spPr>
        <p:txBody>
          <a:bodyPr wrap="square" anchor="t" lIns="0" rIns="0" tIns="0" bIns="0">
            <a:spAutoFit/>
          </a:bodyPr>
          <a:lstStyle/>
          <a:p>
            <a:pPr algn="l"/>
            <a:r>
              <a:rPr sz="1400" b="0">
                <a:solidFill>
                  <a:srgbClr val="494848"/>
                </a:solidFill>
                <a:latin typeface="メイリオ"/>
                <a:ea typeface="メイリオ"/>
                <a:cs typeface="メイリオ"/>
              </a:rPr>
              <a:t>LINE公式アカウント</a:t>
            </a:r>
          </a:p>
        </p:txBody>
      </p:sp>
      <p:sp>
        <p:nvSpPr>
          <p:cNvPr id="3" name="TextBox 2"/>
          <p:cNvSpPr txBox="1"/>
          <p:nvPr/>
        </p:nvSpPr>
        <p:spPr>
          <a:xfrm>
            <a:off x="640080" y="2606040"/>
            <a:ext cx="8503920" cy="914400"/>
          </a:xfrm>
          <a:prstGeom prst="rect">
            <a:avLst/>
          </a:prstGeom>
          <a:noFill/>
        </p:spPr>
        <p:txBody>
          <a:bodyPr wrap="square" anchor="t" lIns="0" rIns="0" tIns="0" bIns="0">
            <a:spAutoFit/>
          </a:bodyPr>
          <a:lstStyle/>
          <a:p>
            <a:pPr algn="l">
              <a:lnSpc>
                <a:spcPct val="115000"/>
              </a:lnSpc>
            </a:pPr>
            <a:r>
              <a:rPr sz="3000" b="1">
                <a:solidFill>
                  <a:srgbClr val="002060"/>
                </a:solidFill>
                <a:latin typeface="メイリオ"/>
                <a:ea typeface="メイリオ"/>
                <a:cs typeface="メイリオ"/>
              </a:rPr>
              <a:t>媒体最新情報　9月 トレンドレポート</a:t>
            </a:r>
          </a:p>
        </p:txBody>
      </p:sp>
      <p:sp>
        <p:nvSpPr>
          <p:cNvPr id="4" name="Rectangle 3"/>
          <p:cNvSpPr/>
          <p:nvPr/>
        </p:nvSpPr>
        <p:spPr>
          <a:xfrm>
            <a:off x="640080" y="3611880"/>
            <a:ext cx="8229600" cy="1905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3794760"/>
            <a:ext cx="2194560" cy="36576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3794760"/>
            <a:ext cx="2194560" cy="365760"/>
          </a:xfrm>
          <a:prstGeom prst="rect">
            <a:avLst/>
          </a:prstGeom>
          <a:noFill/>
        </p:spPr>
        <p:txBody>
          <a:bodyPr wrap="square" anchor="ctr" lIns="0" rIns="0" tIns="0" bIns="0">
            <a:spAutoFit/>
          </a:bodyPr>
          <a:lstStyle/>
          <a:p>
            <a:pPr algn="ctr"/>
            <a:r>
              <a:rPr sz="1100" b="0">
                <a:solidFill>
                  <a:srgbClr val="494848"/>
                </a:solidFill>
                <a:latin typeface="メイリオ"/>
                <a:ea typeface="メイリオ"/>
                <a:cs typeface="メイリオ"/>
              </a:rPr>
              <a:t>2026年9月号</a:t>
            </a:r>
          </a:p>
        </p:txBody>
      </p:sp>
      <p:sp>
        <p:nvSpPr>
          <p:cNvPr id="7" name="TextBox 6"/>
          <p:cNvSpPr txBox="1"/>
          <p:nvPr/>
        </p:nvSpPr>
        <p:spPr>
          <a:xfrm>
            <a:off x="640080" y="5943600"/>
            <a:ext cx="5486400" cy="365760"/>
          </a:xfrm>
          <a:prstGeom prst="rect">
            <a:avLst/>
          </a:prstGeom>
          <a:noFill/>
        </p:spPr>
        <p:txBody>
          <a:bodyPr wrap="square" anchor="t" lIns="0" rIns="0" tIns="0" bIns="0">
            <a:spAutoFit/>
          </a:bodyPr>
          <a:lstStyle/>
          <a:p>
            <a:pPr algn="l"/>
            <a:r>
              <a:rPr sz="1200" b="1">
                <a:solidFill>
                  <a:srgbClr val="002060"/>
                </a:solidFill>
                <a:latin typeface="メイリオ"/>
                <a:ea typeface="メイリオ"/>
                <a:cs typeface="メイリオ"/>
              </a:rPr>
              <a:t>株式会社DYM（DYM × LINEOA）</a:t>
            </a:r>
          </a:p>
        </p:txBody>
      </p:sp>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89E1EF-F184-F7BC-2DF2-9E9641908D82}"/>
            </a:ext>
          </a:extLst>
        </p:cNvPr>
        <p:cNvGrpSpPr/>
        <p:nvPr/>
      </p:nvGrpSpPr>
      <p:grpSpPr>
        <a:xfrm>
          <a:off x="0" y="0"/>
          <a:ext cx="0" cy="0"/>
          <a:chOff x="0" y="0"/>
          <a:chExt cx="0" cy="0"/>
        </a:xfrm>
      </p:grpSpPr>
      <p:sp>
        <p:nvSpPr>
          <p:cNvPr id="2" name="TextBox 1"/>
          <p:cNvSpPr txBox="1"/>
          <p:nvPr/>
        </p:nvSpPr>
        <p:spPr>
          <a:xfrm>
            <a:off x="566928" y="91440"/>
            <a:ext cx="7406640" cy="384048"/>
          </a:xfrm>
          <a:prstGeom prst="rect">
            <a:avLst/>
          </a:prstGeom>
          <a:noFill/>
        </p:spPr>
        <p:txBody>
          <a:bodyPr wrap="square" anchor="ctr" lIns="0" rIns="0" tIns="0" bIns="0">
            <a:spAutoFit/>
          </a:bodyPr>
          <a:lstStyle/>
          <a:p>
            <a:pPr algn="l"/>
            <a:r>
              <a:rPr sz="1700" b="1">
                <a:solidFill>
                  <a:srgbClr val="002060"/>
                </a:solidFill>
                <a:latin typeface="メイリオ"/>
                <a:ea typeface="メイリオ"/>
                <a:cs typeface="メイリオ"/>
              </a:rPr>
              <a:t>目次</a:t>
            </a:r>
          </a:p>
        </p:txBody>
      </p:sp>
      <p:sp>
        <p:nvSpPr>
          <p:cNvPr id="3" name="Rectangle 2"/>
          <p:cNvSpPr/>
          <p:nvPr/>
        </p:nvSpPr>
        <p:spPr>
          <a:xfrm>
            <a:off x="566928" y="914400"/>
            <a:ext cx="402336" cy="384048"/>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0"/>
            <a:ext cx="402336" cy="384048"/>
          </a:xfrm>
          <a:prstGeom prst="rect">
            <a:avLst/>
          </a:prstGeom>
          <a:noFill/>
        </p:spPr>
        <p:txBody>
          <a:bodyPr wrap="square" anchor="ctr" lIns="0" rIns="0" tIns="0" bIns="0">
            <a:spAutoFit/>
          </a:bodyPr>
          <a:lstStyle/>
          <a:p>
            <a:pPr algn="ctr"/>
            <a:r>
              <a:rPr sz="1200" b="1">
                <a:solidFill>
                  <a:srgbClr val="FFFFFF"/>
                </a:solidFill>
                <a:latin typeface="メイリオ"/>
                <a:ea typeface="メイリオ"/>
                <a:cs typeface="メイリオ"/>
              </a:rPr>
              <a:t>1</a:t>
            </a:r>
          </a:p>
        </p:txBody>
      </p:sp>
      <p:sp>
        <p:nvSpPr>
          <p:cNvPr id="5" name="TextBox 4"/>
          <p:cNvSpPr txBox="1"/>
          <p:nvPr/>
        </p:nvSpPr>
        <p:spPr>
          <a:xfrm>
            <a:off x="1133856" y="914400"/>
            <a:ext cx="8229600" cy="384048"/>
          </a:xfrm>
          <a:prstGeom prst="rect">
            <a:avLst/>
          </a:prstGeom>
          <a:noFill/>
        </p:spPr>
        <p:txBody>
          <a:bodyPr wrap="square" anchor="ctr" lIns="0" rIns="0" tIns="0" bIns="0">
            <a:spAutoFit/>
          </a:bodyPr>
          <a:lstStyle/>
          <a:p>
            <a:pPr algn="l"/>
            <a:r>
              <a:rPr sz="1300" b="0">
                <a:solidFill>
                  <a:srgbClr val="343434"/>
                </a:solidFill>
                <a:latin typeface="メイリオ"/>
                <a:ea typeface="メイリオ"/>
                <a:cs typeface="メイリオ"/>
              </a:rPr>
              <a:t>1. LINEミニアプリ お気に入り追加促進機能</a:t>
            </a:r>
          </a:p>
        </p:txBody>
      </p:sp>
      <p:sp>
        <p:nvSpPr>
          <p:cNvPr id="6" name="Rectangle 5"/>
          <p:cNvSpPr/>
          <p:nvPr/>
        </p:nvSpPr>
        <p:spPr>
          <a:xfrm>
            <a:off x="566928" y="1481328"/>
            <a:ext cx="402336" cy="384048"/>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481328"/>
            <a:ext cx="402336" cy="384048"/>
          </a:xfrm>
          <a:prstGeom prst="rect">
            <a:avLst/>
          </a:prstGeom>
          <a:noFill/>
        </p:spPr>
        <p:txBody>
          <a:bodyPr wrap="square" anchor="ctr" lIns="0" rIns="0" tIns="0" bIns="0">
            <a:spAutoFit/>
          </a:bodyPr>
          <a:lstStyle/>
          <a:p>
            <a:pPr algn="ctr"/>
            <a:r>
              <a:rPr sz="1200" b="1">
                <a:solidFill>
                  <a:srgbClr val="FFFFFF"/>
                </a:solidFill>
                <a:latin typeface="メイリオ"/>
                <a:ea typeface="メイリオ"/>
                <a:cs typeface="メイリオ"/>
              </a:rPr>
              <a:t>2</a:t>
            </a:r>
          </a:p>
        </p:txBody>
      </p:sp>
      <p:sp>
        <p:nvSpPr>
          <p:cNvPr id="8" name="TextBox 7"/>
          <p:cNvSpPr txBox="1"/>
          <p:nvPr/>
        </p:nvSpPr>
        <p:spPr>
          <a:xfrm>
            <a:off x="1133856" y="1481328"/>
            <a:ext cx="8229600" cy="384048"/>
          </a:xfrm>
          <a:prstGeom prst="rect">
            <a:avLst/>
          </a:prstGeom>
          <a:noFill/>
        </p:spPr>
        <p:txBody>
          <a:bodyPr wrap="square" anchor="ctr" lIns="0" rIns="0" tIns="0" bIns="0">
            <a:spAutoFit/>
          </a:bodyPr>
          <a:lstStyle/>
          <a:p>
            <a:pPr algn="l"/>
            <a:r>
              <a:rPr sz="1300" b="0">
                <a:solidFill>
                  <a:srgbClr val="343434"/>
                </a:solidFill>
                <a:latin typeface="メイリオ"/>
                <a:ea typeface="メイリオ"/>
                <a:cs typeface="メイリオ"/>
              </a:rPr>
              <a:t>2. 既読API 一般提供開始のお知らせ</a:t>
            </a:r>
          </a:p>
        </p:txBody>
      </p:sp>
      <p:sp>
        <p:nvSpPr>
          <p:cNvPr id="9" name="Rectangle 8"/>
          <p:cNvSpPr/>
          <p:nvPr/>
        </p:nvSpPr>
        <p:spPr>
          <a:xfrm>
            <a:off x="566928" y="2048256"/>
            <a:ext cx="402336" cy="384048"/>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2048256"/>
            <a:ext cx="402336" cy="384048"/>
          </a:xfrm>
          <a:prstGeom prst="rect">
            <a:avLst/>
          </a:prstGeom>
          <a:noFill/>
        </p:spPr>
        <p:txBody>
          <a:bodyPr wrap="square" anchor="ctr" lIns="0" rIns="0" tIns="0" bIns="0">
            <a:spAutoFit/>
          </a:bodyPr>
          <a:lstStyle/>
          <a:p>
            <a:pPr algn="ctr"/>
            <a:r>
              <a:rPr sz="1200" b="1">
                <a:solidFill>
                  <a:srgbClr val="FFFFFF"/>
                </a:solidFill>
                <a:latin typeface="メイリオ"/>
                <a:ea typeface="メイリオ"/>
                <a:cs typeface="メイリオ"/>
              </a:rPr>
              <a:t>3</a:t>
            </a:r>
          </a:p>
        </p:txBody>
      </p:sp>
      <p:sp>
        <p:nvSpPr>
          <p:cNvPr id="11" name="TextBox 10"/>
          <p:cNvSpPr txBox="1"/>
          <p:nvPr/>
        </p:nvSpPr>
        <p:spPr>
          <a:xfrm>
            <a:off x="1133856" y="2048256"/>
            <a:ext cx="8229600" cy="384048"/>
          </a:xfrm>
          <a:prstGeom prst="rect">
            <a:avLst/>
          </a:prstGeom>
          <a:noFill/>
        </p:spPr>
        <p:txBody>
          <a:bodyPr wrap="square" anchor="ctr" lIns="0" rIns="0" tIns="0" bIns="0">
            <a:spAutoFit/>
          </a:bodyPr>
          <a:lstStyle/>
          <a:p>
            <a:pPr algn="l"/>
            <a:r>
              <a:rPr sz="1300" b="0">
                <a:solidFill>
                  <a:srgbClr val="343434"/>
                </a:solidFill>
                <a:latin typeface="メイリオ"/>
                <a:ea typeface="メイリオ"/>
                <a:cs typeface="メイリオ"/>
              </a:rPr>
              <a:t>3. LINE公式アカウント「分析」データ参照期間 過去36カ月に変更</a:t>
            </a:r>
          </a:p>
        </p:txBody>
      </p:sp>
      <p:sp>
        <p:nvSpPr>
          <p:cNvPr id="12" name="Rectangle 11"/>
          <p:cNvSpPr/>
          <p:nvPr/>
        </p:nvSpPr>
        <p:spPr>
          <a:xfrm>
            <a:off x="566928" y="2615184"/>
            <a:ext cx="402336" cy="384048"/>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2615184"/>
            <a:ext cx="402336" cy="384048"/>
          </a:xfrm>
          <a:prstGeom prst="rect">
            <a:avLst/>
          </a:prstGeom>
          <a:noFill/>
        </p:spPr>
        <p:txBody>
          <a:bodyPr wrap="square" anchor="ctr" lIns="0" rIns="0" tIns="0" bIns="0">
            <a:spAutoFit/>
          </a:bodyPr>
          <a:lstStyle/>
          <a:p>
            <a:pPr algn="ctr"/>
            <a:r>
              <a:rPr sz="1200" b="1">
                <a:solidFill>
                  <a:srgbClr val="FFFFFF"/>
                </a:solidFill>
                <a:latin typeface="メイリオ"/>
                <a:ea typeface="メイリオ"/>
                <a:cs typeface="メイリオ"/>
              </a:rPr>
              <a:t>4</a:t>
            </a:r>
          </a:p>
        </p:txBody>
      </p:sp>
      <p:sp>
        <p:nvSpPr>
          <p:cNvPr id="14" name="TextBox 13"/>
          <p:cNvSpPr txBox="1"/>
          <p:nvPr/>
        </p:nvSpPr>
        <p:spPr>
          <a:xfrm>
            <a:off x="1133856" y="2615184"/>
            <a:ext cx="8229600" cy="384048"/>
          </a:xfrm>
          <a:prstGeom prst="rect">
            <a:avLst/>
          </a:prstGeom>
          <a:noFill/>
        </p:spPr>
        <p:txBody>
          <a:bodyPr wrap="square" anchor="ctr" lIns="0" rIns="0" tIns="0" bIns="0">
            <a:spAutoFit/>
          </a:bodyPr>
          <a:lstStyle/>
          <a:p>
            <a:pPr algn="l"/>
            <a:r>
              <a:rPr sz="1300" b="0">
                <a:solidFill>
                  <a:srgbClr val="343434"/>
                </a:solidFill>
                <a:latin typeface="メイリオ"/>
                <a:ea typeface="メイリオ"/>
                <a:cs typeface="メイリオ"/>
              </a:rPr>
              <a:t>4. プロモーションスタンプ 効果改善アップデート</a:t>
            </a:r>
          </a:p>
        </p:txBody>
      </p:sp>
      <p:sp>
        <p:nvSpPr>
          <p:cNvPr id="15" name="Rectangle 14"/>
          <p:cNvSpPr/>
          <p:nvPr/>
        </p:nvSpPr>
        <p:spPr>
          <a:xfrm>
            <a:off x="566928" y="3182112"/>
            <a:ext cx="402336" cy="384048"/>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3182112"/>
            <a:ext cx="402336" cy="384048"/>
          </a:xfrm>
          <a:prstGeom prst="rect">
            <a:avLst/>
          </a:prstGeom>
          <a:noFill/>
        </p:spPr>
        <p:txBody>
          <a:bodyPr wrap="square" anchor="ctr" lIns="0" rIns="0" tIns="0" bIns="0">
            <a:spAutoFit/>
          </a:bodyPr>
          <a:lstStyle/>
          <a:p>
            <a:pPr algn="ctr"/>
            <a:r>
              <a:rPr sz="1200" b="1">
                <a:solidFill>
                  <a:srgbClr val="FFFFFF"/>
                </a:solidFill>
                <a:latin typeface="メイリオ"/>
                <a:ea typeface="メイリオ"/>
                <a:cs typeface="メイリオ"/>
              </a:rPr>
              <a:t>5</a:t>
            </a:r>
          </a:p>
        </p:txBody>
      </p:sp>
      <p:sp>
        <p:nvSpPr>
          <p:cNvPr id="17" name="TextBox 16"/>
          <p:cNvSpPr txBox="1"/>
          <p:nvPr/>
        </p:nvSpPr>
        <p:spPr>
          <a:xfrm>
            <a:off x="1133856" y="3182112"/>
            <a:ext cx="8229600" cy="384048"/>
          </a:xfrm>
          <a:prstGeom prst="rect">
            <a:avLst/>
          </a:prstGeom>
          <a:noFill/>
        </p:spPr>
        <p:txBody>
          <a:bodyPr wrap="square" anchor="ctr" lIns="0" rIns="0" tIns="0" bIns="0">
            <a:spAutoFit/>
          </a:bodyPr>
          <a:lstStyle/>
          <a:p>
            <a:pPr algn="l"/>
            <a:r>
              <a:rPr sz="1300" b="0">
                <a:solidFill>
                  <a:srgbClr val="343434"/>
                </a:solidFill>
                <a:latin typeface="メイリオ"/>
                <a:ea typeface="メイリオ"/>
                <a:cs typeface="メイリオ"/>
              </a:rPr>
              <a:t>5. 友だち追加オプション 複数アカウント対応</a:t>
            </a:r>
          </a:p>
        </p:txBody>
      </p:sp>
      <p:sp>
        <p:nvSpPr>
          <p:cNvPr id="18" name="Rectangle 17"/>
          <p:cNvSpPr/>
          <p:nvPr/>
        </p:nvSpPr>
        <p:spPr>
          <a:xfrm>
            <a:off x="566928" y="3749040"/>
            <a:ext cx="402336" cy="384048"/>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749040"/>
            <a:ext cx="402336" cy="384048"/>
          </a:xfrm>
          <a:prstGeom prst="rect">
            <a:avLst/>
          </a:prstGeom>
          <a:noFill/>
        </p:spPr>
        <p:txBody>
          <a:bodyPr wrap="square" anchor="ctr" lIns="0" rIns="0" tIns="0" bIns="0">
            <a:spAutoFit/>
          </a:bodyPr>
          <a:lstStyle/>
          <a:p>
            <a:pPr algn="ctr"/>
            <a:r>
              <a:rPr sz="1200" b="1">
                <a:solidFill>
                  <a:srgbClr val="FFFFFF"/>
                </a:solidFill>
                <a:latin typeface="メイリオ"/>
                <a:ea typeface="メイリオ"/>
                <a:cs typeface="メイリオ"/>
              </a:rPr>
              <a:t>6</a:t>
            </a:r>
          </a:p>
        </p:txBody>
      </p:sp>
      <p:sp>
        <p:nvSpPr>
          <p:cNvPr id="20" name="TextBox 19"/>
          <p:cNvSpPr txBox="1"/>
          <p:nvPr/>
        </p:nvSpPr>
        <p:spPr>
          <a:xfrm>
            <a:off x="1133856" y="3749040"/>
            <a:ext cx="8229600" cy="384048"/>
          </a:xfrm>
          <a:prstGeom prst="rect">
            <a:avLst/>
          </a:prstGeom>
          <a:noFill/>
        </p:spPr>
        <p:txBody>
          <a:bodyPr wrap="square" anchor="ctr" lIns="0" rIns="0" tIns="0" bIns="0">
            <a:spAutoFit/>
          </a:bodyPr>
          <a:lstStyle/>
          <a:p>
            <a:pPr algn="l"/>
            <a:r>
              <a:rPr sz="1300" b="0">
                <a:solidFill>
                  <a:srgbClr val="343434"/>
                </a:solidFill>
                <a:latin typeface="メイリオ"/>
                <a:ea typeface="メイリオ"/>
                <a:cs typeface="メイリオ"/>
              </a:rPr>
              <a:t>6. LINEオープンキャンペーン 26年10-12月 期間限定キャンペーン</a:t>
            </a:r>
          </a:p>
        </p:txBody>
      </p:sp>
      <p:sp>
        <p:nvSpPr>
          <p:cNvPr id="21" name="Rectangle 20"/>
          <p:cNvSpPr/>
          <p:nvPr/>
        </p:nvSpPr>
        <p:spPr>
          <a:xfrm>
            <a:off x="566928" y="4315968"/>
            <a:ext cx="402336" cy="384048"/>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4315968"/>
            <a:ext cx="402336" cy="384048"/>
          </a:xfrm>
          <a:prstGeom prst="rect">
            <a:avLst/>
          </a:prstGeom>
          <a:noFill/>
        </p:spPr>
        <p:txBody>
          <a:bodyPr wrap="square" anchor="ctr" lIns="0" rIns="0" tIns="0" bIns="0">
            <a:spAutoFit/>
          </a:bodyPr>
          <a:lstStyle/>
          <a:p>
            <a:pPr algn="ctr"/>
            <a:r>
              <a:rPr sz="1200" b="1">
                <a:solidFill>
                  <a:srgbClr val="FFFFFF"/>
                </a:solidFill>
                <a:latin typeface="メイリオ"/>
                <a:ea typeface="メイリオ"/>
                <a:cs typeface="メイリオ"/>
              </a:rPr>
              <a:t>7</a:t>
            </a:r>
          </a:p>
        </p:txBody>
      </p:sp>
      <p:sp>
        <p:nvSpPr>
          <p:cNvPr id="23" name="TextBox 22"/>
          <p:cNvSpPr txBox="1"/>
          <p:nvPr/>
        </p:nvSpPr>
        <p:spPr>
          <a:xfrm>
            <a:off x="1133856" y="4315968"/>
            <a:ext cx="8229600" cy="384048"/>
          </a:xfrm>
          <a:prstGeom prst="rect">
            <a:avLst/>
          </a:prstGeom>
          <a:noFill/>
        </p:spPr>
        <p:txBody>
          <a:bodyPr wrap="square" anchor="ctr" lIns="0" rIns="0" tIns="0" bIns="0">
            <a:spAutoFit/>
          </a:bodyPr>
          <a:lstStyle/>
          <a:p>
            <a:pPr algn="l"/>
            <a:r>
              <a:rPr sz="1300" b="0">
                <a:solidFill>
                  <a:srgbClr val="343434"/>
                </a:solidFill>
                <a:latin typeface="メイリオ"/>
                <a:ea typeface="メイリオ"/>
                <a:cs typeface="メイリオ"/>
              </a:rPr>
              <a:t>7. LINE Sales Promotion Manager 利用停止期間</a:t>
            </a:r>
          </a:p>
        </p:txBody>
      </p:sp>
    </p:spTree>
    <p:extLst>
      <p:ext uri="{BB962C8B-B14F-4D97-AF65-F5344CB8AC3E}">
        <p14:creationId xmlns:p14="http://schemas.microsoft.com/office/powerpoint/2010/main" val="30142225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E5861D-E2B1-5330-6864-9B051B1B450A}"/>
            </a:ext>
          </a:extLst>
        </p:cNvPr>
        <p:cNvGrpSpPr/>
        <p:nvPr/>
      </p:nvGrpSpPr>
      <p:grpSpPr>
        <a:xfrm>
          <a:off x="0" y="0"/>
          <a:ext cx="0" cy="0"/>
          <a:chOff x="0" y="0"/>
          <a:chExt cx="0" cy="0"/>
        </a:xfrm>
      </p:grpSpPr>
      <p:sp>
        <p:nvSpPr>
          <p:cNvPr id="2" name="TextBox 1"/>
          <p:cNvSpPr txBox="1"/>
          <p:nvPr/>
        </p:nvSpPr>
        <p:spPr>
          <a:xfrm>
            <a:off x="566928" y="91440"/>
            <a:ext cx="7406640" cy="384048"/>
          </a:xfrm>
          <a:prstGeom prst="rect">
            <a:avLst/>
          </a:prstGeom>
          <a:noFill/>
        </p:spPr>
        <p:txBody>
          <a:bodyPr wrap="square" anchor="ctr" lIns="0" rIns="0" tIns="0" bIns="0">
            <a:spAutoFit/>
          </a:bodyPr>
          <a:lstStyle/>
          <a:p>
            <a:pPr algn="l"/>
            <a:r>
              <a:rPr sz="1700" b="1">
                <a:solidFill>
                  <a:srgbClr val="002060"/>
                </a:solidFill>
                <a:latin typeface="メイリオ"/>
                <a:ea typeface="メイリオ"/>
                <a:cs typeface="メイリオ"/>
              </a:rPr>
              <a:t>LINEミニアプリ お気に入り追加促進機能</a:t>
            </a:r>
          </a:p>
        </p:txBody>
      </p:sp>
      <p:sp>
        <p:nvSpPr>
          <p:cNvPr id="3" name="Rectangle 2"/>
          <p:cNvSpPr/>
          <p:nvPr/>
        </p:nvSpPr>
        <p:spPr>
          <a:xfrm>
            <a:off x="566928" y="685800"/>
            <a:ext cx="8878824" cy="5029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685800"/>
            <a:ext cx="8513064" cy="502920"/>
          </a:xfrm>
          <a:prstGeom prst="rect">
            <a:avLst/>
          </a:prstGeom>
          <a:noFill/>
        </p:spPr>
        <p:txBody>
          <a:bodyPr wrap="square" anchor="ctr" lIns="0" rIns="0" tIns="0" bIns="0">
            <a:spAutoFit/>
          </a:bodyPr>
          <a:lstStyle/>
          <a:p>
            <a:pPr algn="l">
              <a:lnSpc>
                <a:spcPct val="110000"/>
              </a:lnSpc>
            </a:pPr>
            <a:r>
              <a:rPr sz="1200" b="1">
                <a:solidFill>
                  <a:srgbClr val="002060"/>
                </a:solidFill>
                <a:latin typeface="メイリオ"/>
                <a:ea typeface="メイリオ"/>
                <a:cs typeface="メイリオ"/>
              </a:rPr>
              <a:t>特定条件を満たしたユーザーに、ミニアプリのお気に入り追加を促すポップアップが自動表示される新機能。</a:t>
            </a:r>
          </a:p>
        </p:txBody>
      </p:sp>
      <p:sp>
        <p:nvSpPr>
          <p:cNvPr id="5" name="Rectangle 4"/>
          <p:cNvSpPr/>
          <p:nvPr/>
        </p:nvSpPr>
        <p:spPr>
          <a:xfrm>
            <a:off x="566928" y="132588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3258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3258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概要・変更点</a:t>
            </a:r>
          </a:p>
        </p:txBody>
      </p:sp>
      <p:sp>
        <p:nvSpPr>
          <p:cNvPr id="8" name="TextBox 7"/>
          <p:cNvSpPr txBox="1"/>
          <p:nvPr/>
        </p:nvSpPr>
        <p:spPr>
          <a:xfrm>
            <a:off x="731520" y="172821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・トリガー①：マイミニアプリの「履歴」からアクセス</a:t>
            </a:r>
          </a:p>
          <a:p>
            <a:pPr>
              <a:lnSpc>
                <a:spcPct val="120000"/>
              </a:lnSpc>
              <a:spcAft>
                <a:spcPts val="300"/>
              </a:spcAft>
            </a:pPr>
            <a:r>
              <a:rPr sz="1000">
                <a:solidFill>
                  <a:srgbClr val="343434"/>
                </a:solidFill>
                <a:latin typeface="メイリオ"/>
                <a:ea typeface="メイリオ"/>
                <a:cs typeface="メイリオ"/>
              </a:rPr>
              <a:t>・トリガー②：7日以内に2日以上アクセス</a:t>
            </a:r>
          </a:p>
          <a:p>
            <a:pPr>
              <a:lnSpc>
                <a:spcPct val="120000"/>
              </a:lnSpc>
              <a:spcAft>
                <a:spcPts val="300"/>
              </a:spcAft>
            </a:pPr>
            <a:r>
              <a:rPr sz="1000">
                <a:solidFill>
                  <a:srgbClr val="343434"/>
                </a:solidFill>
                <a:latin typeface="メイリオ"/>
                <a:ea typeface="メイリオ"/>
                <a:cs typeface="メイリオ"/>
              </a:rPr>
              <a:t>・条件を満たすとミニアプリを閉じたタイミングでポップアップが表示</a:t>
            </a:r>
          </a:p>
          <a:p>
            <a:pPr>
              <a:lnSpc>
                <a:spcPct val="120000"/>
              </a:lnSpc>
              <a:spcAft>
                <a:spcPts val="300"/>
              </a:spcAft>
            </a:pPr>
            <a:r>
              <a:rPr sz="1000">
                <a:solidFill>
                  <a:srgbClr val="343434"/>
                </a:solidFill>
                <a:latin typeface="メイリオ"/>
                <a:ea typeface="メイリオ"/>
                <a:cs typeface="メイリオ"/>
              </a:rPr>
              <a:t>・「お気に入りに追加」を押すとアプリタブの「お気に入り」に追加され、同時にアプリタブへ自動遷移</a:t>
            </a:r>
          </a:p>
        </p:txBody>
      </p:sp>
      <p:sp>
        <p:nvSpPr>
          <p:cNvPr id="9" name="Rectangle 8"/>
          <p:cNvSpPr/>
          <p:nvPr/>
        </p:nvSpPr>
        <p:spPr>
          <a:xfrm>
            <a:off x="5097780" y="132588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97780" y="13258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97780" y="13258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料金体系・出稿条件</a:t>
            </a:r>
          </a:p>
        </p:txBody>
      </p:sp>
      <p:sp>
        <p:nvSpPr>
          <p:cNvPr id="12" name="TextBox 11"/>
          <p:cNvSpPr txBox="1"/>
          <p:nvPr/>
        </p:nvSpPr>
        <p:spPr>
          <a:xfrm>
            <a:off x="5262372" y="172821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a:t>
            </a:r>
          </a:p>
        </p:txBody>
      </p:sp>
      <p:sp>
        <p:nvSpPr>
          <p:cNvPr id="13" name="Rectangle 12"/>
          <p:cNvSpPr/>
          <p:nvPr/>
        </p:nvSpPr>
        <p:spPr>
          <a:xfrm>
            <a:off x="566928" y="379476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66928" y="37947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37947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スケジュール・導入フロー</a:t>
            </a:r>
          </a:p>
        </p:txBody>
      </p:sp>
      <p:sp>
        <p:nvSpPr>
          <p:cNvPr id="16" name="TextBox 15"/>
          <p:cNvSpPr txBox="1"/>
          <p:nvPr/>
        </p:nvSpPr>
        <p:spPr>
          <a:xfrm>
            <a:off x="731520" y="419709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・リリース予定日：8月31日（アプリのバージョンアップデートに伴って変更の可能性あり）</a:t>
            </a:r>
          </a:p>
          <a:p>
            <a:pPr>
              <a:lnSpc>
                <a:spcPct val="120000"/>
              </a:lnSpc>
              <a:spcAft>
                <a:spcPts val="300"/>
              </a:spcAft>
            </a:pPr>
            <a:r>
              <a:rPr sz="1000">
                <a:solidFill>
                  <a:srgbClr val="343434"/>
                </a:solidFill>
                <a:latin typeface="メイリオ"/>
                <a:ea typeface="メイリオ"/>
                <a:cs typeface="メイリオ"/>
              </a:rPr>
              <a:t>・表示トリガーは数週間のABテストを経て、より効果の高い条件を100%反映予定（現状は暫定条件で運用中）</a:t>
            </a:r>
          </a:p>
        </p:txBody>
      </p:sp>
      <p:sp>
        <p:nvSpPr>
          <p:cNvPr id="17" name="Rectangle 16"/>
          <p:cNvSpPr/>
          <p:nvPr/>
        </p:nvSpPr>
        <p:spPr>
          <a:xfrm>
            <a:off x="5097780" y="379476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97780" y="37947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97780" y="37947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注意点・影響</a:t>
            </a:r>
          </a:p>
        </p:txBody>
      </p:sp>
      <p:sp>
        <p:nvSpPr>
          <p:cNvPr id="20" name="TextBox 19"/>
          <p:cNvSpPr txBox="1"/>
          <p:nvPr/>
        </p:nvSpPr>
        <p:spPr>
          <a:xfrm>
            <a:off x="5262372" y="4197096"/>
            <a:ext cx="4018788" cy="1837944"/>
          </a:xfrm>
          <a:prstGeom prst="rect">
            <a:avLst/>
          </a:prstGeom>
          <a:noFill/>
        </p:spPr>
        <p:txBody>
          <a:bodyPr wrap="square" lIns="0" rIns="0" tIns="0" bIns="0">
            <a:spAutoFit/>
          </a:bodyPr>
          <a:lstStyle/>
          <a:p>
            <a:pPr>
              <a:lnSpc>
                <a:spcPct val="110000"/>
              </a:lnSpc>
              <a:spcAft>
                <a:spcPts val="300"/>
              </a:spcAft>
            </a:pPr>
            <a:r>
              <a:rPr sz="850">
                <a:solidFill>
                  <a:srgbClr val="343434"/>
                </a:solidFill>
                <a:latin typeface="メイリオ"/>
                <a:ea typeface="メイリオ"/>
                <a:cs typeface="メイリオ"/>
              </a:rPr>
              <a:t>・リピート利用ユーザーの再訪導線が強化される。ミニアプリ運用中クライアントへの案内材料になる</a:t>
            </a:r>
          </a:p>
          <a:p>
            <a:pPr>
              <a:lnSpc>
                <a:spcPct val="110000"/>
              </a:lnSpc>
              <a:spcAft>
                <a:spcPts val="300"/>
              </a:spcAft>
            </a:pPr>
            <a:r>
              <a:rPr sz="850">
                <a:solidFill>
                  <a:srgbClr val="343434"/>
                </a:solidFill>
                <a:latin typeface="メイリオ"/>
                <a:ea typeface="メイリオ"/>
                <a:cs typeface="メイリオ"/>
              </a:rPr>
              <a:t>・既にお気に入り登録済みのミニアプリにはポップアップは表示されない</a:t>
            </a:r>
          </a:p>
          <a:p>
            <a:pPr>
              <a:lnSpc>
                <a:spcPct val="110000"/>
              </a:lnSpc>
              <a:spcAft>
                <a:spcPts val="300"/>
              </a:spcAft>
            </a:pPr>
            <a:r>
              <a:rPr sz="850">
                <a:solidFill>
                  <a:srgbClr val="343434"/>
                </a:solidFill>
                <a:latin typeface="メイリオ"/>
                <a:ea typeface="メイリオ"/>
                <a:cs typeface="メイリオ"/>
              </a:rPr>
              <a:t>・追加後に削除した場合、同じミニアプリのポップアップは720時間（30日間）再表示されない</a:t>
            </a:r>
          </a:p>
          <a:p>
            <a:pPr>
              <a:lnSpc>
                <a:spcPct val="110000"/>
              </a:lnSpc>
              <a:spcAft>
                <a:spcPts val="300"/>
              </a:spcAft>
            </a:pPr>
            <a:r>
              <a:rPr sz="850">
                <a:solidFill>
                  <a:srgbClr val="343434"/>
                </a:solidFill>
                <a:latin typeface="メイリオ"/>
                <a:ea typeface="メイリオ"/>
                <a:cs typeface="メイリオ"/>
              </a:rPr>
              <a:t>・「Not now」で見送った場合は14日間再表示されない</a:t>
            </a:r>
          </a:p>
          <a:p>
            <a:pPr>
              <a:lnSpc>
                <a:spcPct val="110000"/>
              </a:lnSpc>
              <a:spcAft>
                <a:spcPts val="300"/>
              </a:spcAft>
            </a:pPr>
            <a:r>
              <a:rPr sz="850">
                <a:solidFill>
                  <a:srgbClr val="343434"/>
                </a:solidFill>
                <a:latin typeface="メイリオ"/>
                <a:ea typeface="メイリオ"/>
                <a:cs typeface="メイリオ"/>
              </a:rPr>
              <a:t>・同一ミニアプリへの表示上限は2回。2回とも閉じると永久に対象外になる</a:t>
            </a:r>
          </a:p>
          <a:p>
            <a:pPr>
              <a:lnSpc>
                <a:spcPct val="110000"/>
              </a:lnSpc>
              <a:spcAft>
                <a:spcPts val="300"/>
              </a:spcAft>
            </a:pPr>
            <a:r>
              <a:rPr sz="850">
                <a:solidFill>
                  <a:srgbClr val="343434"/>
                </a:solidFill>
                <a:latin typeface="メイリオ"/>
                <a:ea typeface="メイリオ"/>
                <a:cs typeface="メイリオ"/>
              </a:rPr>
              <a:t>・同一ユーザーへの表示は1日最大1回（直近表示から24時間以内は非表示）</a:t>
            </a:r>
          </a:p>
        </p:txBody>
      </p:sp>
      <p:sp>
        <p:nvSpPr>
          <p:cNvPr id="21" name="TextBox 20"/>
          <p:cNvSpPr txBox="1"/>
          <p:nvPr/>
        </p:nvSpPr>
        <p:spPr>
          <a:xfrm>
            <a:off x="566928" y="6217920"/>
            <a:ext cx="8686800" cy="201168"/>
          </a:xfrm>
          <a:prstGeom prst="rect">
            <a:avLst/>
          </a:prstGeom>
          <a:noFill/>
        </p:spPr>
        <p:txBody>
          <a:bodyPr wrap="square" anchor="ctr" lIns="0" rIns="0" tIns="0" bIns="0">
            <a:spAutoFit/>
          </a:bodyPr>
          <a:lstStyle/>
          <a:p>
            <a:pPr algn="l"/>
            <a:r>
              <a:rPr sz="750" b="0">
                <a:solidFill>
                  <a:srgbClr val="808080"/>
                </a:solidFill>
                <a:latin typeface="メイリオ"/>
                <a:ea typeface="メイリオ"/>
                <a:cs typeface="メイリオ"/>
              </a:rPr>
              <a:t>出典：https://workers-hub.box.com/s/9uo4m0fiqyxmddz5br3xe9691w0q4ht7</a:t>
            </a:r>
          </a:p>
        </p:txBody>
      </p:sp>
    </p:spTree>
    <p:extLst>
      <p:ext uri="{BB962C8B-B14F-4D97-AF65-F5344CB8AC3E}">
        <p14:creationId xmlns:p14="http://schemas.microsoft.com/office/powerpoint/2010/main" val="329326123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91440"/>
            <a:ext cx="7406640" cy="384048"/>
          </a:xfrm>
          <a:prstGeom prst="rect">
            <a:avLst/>
          </a:prstGeom>
          <a:noFill/>
        </p:spPr>
        <p:txBody>
          <a:bodyPr wrap="square" anchor="ctr" lIns="0" rIns="0" tIns="0" bIns="0">
            <a:spAutoFit/>
          </a:bodyPr>
          <a:lstStyle/>
          <a:p>
            <a:pPr algn="l"/>
            <a:r>
              <a:rPr sz="1700" b="1">
                <a:solidFill>
                  <a:srgbClr val="002060"/>
                </a:solidFill>
                <a:latin typeface="メイリオ"/>
                <a:ea typeface="メイリオ"/>
                <a:cs typeface="メイリオ"/>
              </a:rPr>
              <a:t>既読API「一般提供開始」のお知らせ</a:t>
            </a:r>
          </a:p>
        </p:txBody>
      </p:sp>
      <p:sp>
        <p:nvSpPr>
          <p:cNvPr id="3" name="Rectangle 2"/>
          <p:cNvSpPr/>
          <p:nvPr/>
        </p:nvSpPr>
        <p:spPr>
          <a:xfrm>
            <a:off x="566928" y="685800"/>
            <a:ext cx="8878824" cy="5029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685800"/>
            <a:ext cx="8513064" cy="502920"/>
          </a:xfrm>
          <a:prstGeom prst="rect">
            <a:avLst/>
          </a:prstGeom>
          <a:noFill/>
        </p:spPr>
        <p:txBody>
          <a:bodyPr wrap="square" anchor="ctr" lIns="0" rIns="0" tIns="0" bIns="0">
            <a:spAutoFit/>
          </a:bodyPr>
          <a:lstStyle/>
          <a:p>
            <a:pPr algn="l">
              <a:lnSpc>
                <a:spcPct val="110000"/>
              </a:lnSpc>
            </a:pPr>
            <a:r>
              <a:rPr sz="1200" b="1">
                <a:solidFill>
                  <a:srgbClr val="002060"/>
                </a:solidFill>
                <a:latin typeface="メイリオ"/>
                <a:ea typeface="メイリオ"/>
                <a:cs typeface="メイリオ"/>
              </a:rPr>
              <a:t>事前申請不要の新しい既読API（Messaging API）が一般提供開始。トークの既読管理をAPI側から自動化できる。</a:t>
            </a:r>
          </a:p>
        </p:txBody>
      </p:sp>
      <p:sp>
        <p:nvSpPr>
          <p:cNvPr id="5" name="Rectangle 4"/>
          <p:cNvSpPr/>
          <p:nvPr/>
        </p:nvSpPr>
        <p:spPr>
          <a:xfrm>
            <a:off x="566928" y="132588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3258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3258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概要・変更点</a:t>
            </a:r>
          </a:p>
        </p:txBody>
      </p:sp>
      <p:sp>
        <p:nvSpPr>
          <p:cNvPr id="8" name="TextBox 7"/>
          <p:cNvSpPr txBox="1"/>
          <p:nvPr/>
        </p:nvSpPr>
        <p:spPr>
          <a:xfrm>
            <a:off x="731520" y="172821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・新しい既読API（Messaging API「mark as read」）が一般提供開始</a:t>
            </a:r>
          </a:p>
          <a:p>
            <a:pPr>
              <a:lnSpc>
                <a:spcPct val="120000"/>
              </a:lnSpc>
              <a:spcAft>
                <a:spcPts val="300"/>
              </a:spcAft>
            </a:pPr>
            <a:r>
              <a:rPr sz="1000">
                <a:solidFill>
                  <a:srgbClr val="343434"/>
                </a:solidFill>
                <a:latin typeface="メイリオ"/>
                <a:ea typeface="メイリオ"/>
                <a:cs typeface="メイリオ"/>
              </a:rPr>
              <a:t>・事前の利用申請が不要になり、通常のMessaging API開発フローの中でそのまま利用可能に</a:t>
            </a:r>
          </a:p>
        </p:txBody>
      </p:sp>
      <p:sp>
        <p:nvSpPr>
          <p:cNvPr id="9" name="Rectangle 8"/>
          <p:cNvSpPr/>
          <p:nvPr/>
        </p:nvSpPr>
        <p:spPr>
          <a:xfrm>
            <a:off x="5097780" y="132588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97780" y="13258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97780" y="13258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料金体系・出稿条件</a:t>
            </a:r>
          </a:p>
        </p:txBody>
      </p:sp>
      <p:sp>
        <p:nvSpPr>
          <p:cNvPr id="12" name="TextBox 11"/>
          <p:cNvSpPr txBox="1"/>
          <p:nvPr/>
        </p:nvSpPr>
        <p:spPr>
          <a:xfrm>
            <a:off x="5262372" y="172821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・該当なし（Messaging APIの利用範囲内）</a:t>
            </a:r>
          </a:p>
        </p:txBody>
      </p:sp>
      <p:sp>
        <p:nvSpPr>
          <p:cNvPr id="13" name="Rectangle 12"/>
          <p:cNvSpPr/>
          <p:nvPr/>
        </p:nvSpPr>
        <p:spPr>
          <a:xfrm>
            <a:off x="566928" y="379476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66928" y="37947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37947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スケジュール・導入フロー</a:t>
            </a:r>
          </a:p>
        </p:txBody>
      </p:sp>
      <p:sp>
        <p:nvSpPr>
          <p:cNvPr id="16" name="TextBox 15"/>
          <p:cNvSpPr txBox="1"/>
          <p:nvPr/>
        </p:nvSpPr>
        <p:spPr>
          <a:xfrm>
            <a:off x="731520" y="419709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・一般提供開始済み</a:t>
            </a:r>
          </a:p>
          <a:p>
            <a:pPr>
              <a:lnSpc>
                <a:spcPct val="120000"/>
              </a:lnSpc>
              <a:spcAft>
                <a:spcPts val="300"/>
              </a:spcAft>
            </a:pPr>
            <a:r>
              <a:rPr sz="1000">
                <a:solidFill>
                  <a:srgbClr val="343434"/>
                </a:solidFill>
                <a:latin typeface="メイリオ"/>
                <a:ea typeface="メイリオ"/>
                <a:cs typeface="メイリオ"/>
              </a:rPr>
              <a:t>・仕様：developers.line.biz/ja/docs/messaging-api/mark-as-read/</a:t>
            </a:r>
          </a:p>
        </p:txBody>
      </p:sp>
      <p:sp>
        <p:nvSpPr>
          <p:cNvPr id="17" name="Rectangle 16"/>
          <p:cNvSpPr/>
          <p:nvPr/>
        </p:nvSpPr>
        <p:spPr>
          <a:xfrm>
            <a:off x="5097780" y="379476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97780" y="37947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97780" y="37947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注意点・影響</a:t>
            </a:r>
          </a:p>
        </p:txBody>
      </p:sp>
      <p:sp>
        <p:nvSpPr>
          <p:cNvPr id="20" name="TextBox 19"/>
          <p:cNvSpPr txBox="1"/>
          <p:nvPr/>
        </p:nvSpPr>
        <p:spPr>
          <a:xfrm>
            <a:off x="5262372" y="419709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・CS・チャットツールと連携した運用で、既読管理の自動化に活用できる</a:t>
            </a:r>
          </a:p>
          <a:p>
            <a:pPr>
              <a:lnSpc>
                <a:spcPct val="120000"/>
              </a:lnSpc>
              <a:spcAft>
                <a:spcPts val="300"/>
              </a:spcAft>
            </a:pPr>
            <a:r>
              <a:rPr sz="1000">
                <a:solidFill>
                  <a:srgbClr val="343434"/>
                </a:solidFill>
                <a:latin typeface="メイリオ"/>
                <a:ea typeface="メイリオ"/>
                <a:cs typeface="メイリオ"/>
              </a:rPr>
              <a:t>・旧既読API（LBPM経由の申請制）を使っていた案件は新APIへの移行を検討</a:t>
            </a:r>
          </a:p>
        </p:txBody>
      </p:sp>
      <p:sp>
        <p:nvSpPr>
          <p:cNvPr id="21" name="TextBox 20"/>
          <p:cNvSpPr txBox="1"/>
          <p:nvPr/>
        </p:nvSpPr>
        <p:spPr>
          <a:xfrm>
            <a:off x="566928" y="6217920"/>
            <a:ext cx="8686800" cy="201168"/>
          </a:xfrm>
          <a:prstGeom prst="rect">
            <a:avLst/>
          </a:prstGeom>
          <a:noFill/>
        </p:spPr>
        <p:txBody>
          <a:bodyPr wrap="square" anchor="ctr" lIns="0" rIns="0" tIns="0" bIns="0">
            <a:spAutoFit/>
          </a:bodyPr>
          <a:lstStyle/>
          <a:p>
            <a:pPr algn="l"/>
            <a:r>
              <a:rPr sz="750" b="0">
                <a:solidFill>
                  <a:srgbClr val="808080"/>
                </a:solidFill>
                <a:latin typeface="メイリオ"/>
                <a:ea typeface="メイリオ"/>
                <a:cs typeface="メイリオ"/>
              </a:rPr>
              <a:t>出典：https://workers-hub.box.com/s/nxgvv2ejax65j6cadz7gdsdalxd8zioa</a:t>
            </a:r>
          </a:p>
        </p:txBody>
      </p:sp>
    </p:spTree>
    <p:extLst>
      <p:ext uri="{BB962C8B-B14F-4D97-AF65-F5344CB8AC3E}">
        <p14:creationId xmlns:p14="http://schemas.microsoft.com/office/powerpoint/2010/main" val="164570416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E9651-D02B-F1D5-7974-8EFB42339FA2}"/>
            </a:ext>
          </a:extLst>
        </p:cNvPr>
        <p:cNvGrpSpPr/>
        <p:nvPr/>
      </p:nvGrpSpPr>
      <p:grpSpPr>
        <a:xfrm>
          <a:off x="0" y="0"/>
          <a:ext cx="0" cy="0"/>
          <a:chOff x="0" y="0"/>
          <a:chExt cx="0" cy="0"/>
        </a:xfrm>
      </p:grpSpPr>
      <p:sp>
        <p:nvSpPr>
          <p:cNvPr id="2" name="TextBox 1"/>
          <p:cNvSpPr txBox="1"/>
          <p:nvPr/>
        </p:nvSpPr>
        <p:spPr>
          <a:xfrm>
            <a:off x="566928" y="91440"/>
            <a:ext cx="7406640" cy="384048"/>
          </a:xfrm>
          <a:prstGeom prst="rect">
            <a:avLst/>
          </a:prstGeom>
          <a:noFill/>
        </p:spPr>
        <p:txBody>
          <a:bodyPr wrap="square" anchor="ctr" lIns="0" rIns="0" tIns="0" bIns="0">
            <a:spAutoFit/>
          </a:bodyPr>
          <a:lstStyle/>
          <a:p>
            <a:pPr algn="l"/>
            <a:r>
              <a:rPr sz="1700" b="1">
                <a:solidFill>
                  <a:srgbClr val="002060"/>
                </a:solidFill>
                <a:latin typeface="メイリオ"/>
                <a:ea typeface="メイリオ"/>
                <a:cs typeface="メイリオ"/>
              </a:rPr>
              <a:t>LINE公式アカウント「分析」データ参照期間 過去36カ月に変更</a:t>
            </a:r>
          </a:p>
        </p:txBody>
      </p:sp>
      <p:sp>
        <p:nvSpPr>
          <p:cNvPr id="3" name="Rectangle 2"/>
          <p:cNvSpPr/>
          <p:nvPr/>
        </p:nvSpPr>
        <p:spPr>
          <a:xfrm>
            <a:off x="566928" y="685800"/>
            <a:ext cx="8878824" cy="5029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685800"/>
            <a:ext cx="8513064" cy="502920"/>
          </a:xfrm>
          <a:prstGeom prst="rect">
            <a:avLst/>
          </a:prstGeom>
          <a:noFill/>
        </p:spPr>
        <p:txBody>
          <a:bodyPr wrap="square" anchor="ctr" lIns="0" rIns="0" tIns="0" bIns="0">
            <a:spAutoFit/>
          </a:bodyPr>
          <a:lstStyle/>
          <a:p>
            <a:pPr algn="l">
              <a:lnSpc>
                <a:spcPct val="110000"/>
              </a:lnSpc>
            </a:pPr>
            <a:r>
              <a:rPr sz="1200" b="1">
                <a:solidFill>
                  <a:srgbClr val="002060"/>
                </a:solidFill>
                <a:latin typeface="メイリオ"/>
                <a:ea typeface="メイリオ"/>
                <a:cs typeface="メイリオ"/>
              </a:rPr>
              <a:t>「分析」タブの参照期間が過去36カ月までに変更予定。※社外告知は延期中、日程未確定につき最新情報を要確認。</a:t>
            </a:r>
          </a:p>
        </p:txBody>
      </p:sp>
      <p:sp>
        <p:nvSpPr>
          <p:cNvPr id="5" name="Rectangle 4"/>
          <p:cNvSpPr/>
          <p:nvPr/>
        </p:nvSpPr>
        <p:spPr>
          <a:xfrm>
            <a:off x="566928" y="132588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3258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3258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概要・変更点</a:t>
            </a:r>
          </a:p>
        </p:txBody>
      </p:sp>
      <p:sp>
        <p:nvSpPr>
          <p:cNvPr id="8" name="TextBox 7"/>
          <p:cNvSpPr txBox="1"/>
          <p:nvPr/>
        </p:nvSpPr>
        <p:spPr>
          <a:xfrm>
            <a:off x="731520" y="172821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・Web版管理画面／管理アプリの「分析」タブで確認できる実績値の参照期間を過去36カ月までに変更</a:t>
            </a:r>
          </a:p>
          <a:p>
            <a:pPr>
              <a:lnSpc>
                <a:spcPct val="120000"/>
              </a:lnSpc>
              <a:spcAft>
                <a:spcPts val="300"/>
              </a:spcAft>
            </a:pPr>
            <a:r>
              <a:rPr sz="1000">
                <a:solidFill>
                  <a:srgbClr val="343434"/>
                </a:solidFill>
                <a:latin typeface="メイリオ"/>
                <a:ea typeface="メイリオ"/>
                <a:cs typeface="メイリオ"/>
              </a:rPr>
              <a:t>・対象は「分析」タブの実績値のみ。それ以外のデータや作成済みメッセージには影響なし</a:t>
            </a:r>
          </a:p>
        </p:txBody>
      </p:sp>
      <p:sp>
        <p:nvSpPr>
          <p:cNvPr id="9" name="Rectangle 8"/>
          <p:cNvSpPr/>
          <p:nvPr/>
        </p:nvSpPr>
        <p:spPr>
          <a:xfrm>
            <a:off x="5097780" y="132588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97780" y="13258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97780" y="13258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料金体系・出稿条件</a:t>
            </a:r>
          </a:p>
        </p:txBody>
      </p:sp>
      <p:sp>
        <p:nvSpPr>
          <p:cNvPr id="12" name="TextBox 11"/>
          <p:cNvSpPr txBox="1"/>
          <p:nvPr/>
        </p:nvSpPr>
        <p:spPr>
          <a:xfrm>
            <a:off x="5262372" y="172821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・該当なし</a:t>
            </a:r>
          </a:p>
        </p:txBody>
      </p:sp>
      <p:sp>
        <p:nvSpPr>
          <p:cNvPr id="13" name="Rectangle 12"/>
          <p:cNvSpPr/>
          <p:nvPr/>
        </p:nvSpPr>
        <p:spPr>
          <a:xfrm>
            <a:off x="566928" y="379476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66928" y="37947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37947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スケジュール・導入フロー</a:t>
            </a:r>
          </a:p>
        </p:txBody>
      </p:sp>
      <p:sp>
        <p:nvSpPr>
          <p:cNvPr id="16" name="TextBox 15"/>
          <p:cNvSpPr txBox="1"/>
          <p:nvPr/>
        </p:nvSpPr>
        <p:spPr>
          <a:xfrm>
            <a:off x="731520" y="419709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・リリース日：2026年11月頃（予定・日程は決まり次第、管理画面のお知らせで案内）</a:t>
            </a:r>
          </a:p>
          <a:p>
            <a:pPr>
              <a:lnSpc>
                <a:spcPct val="120000"/>
              </a:lnSpc>
              <a:spcAft>
                <a:spcPts val="300"/>
              </a:spcAft>
            </a:pPr>
            <a:r>
              <a:rPr sz="1000">
                <a:solidFill>
                  <a:srgbClr val="343434"/>
                </a:solidFill>
                <a:latin typeface="メイリオ"/>
                <a:ea typeface="メイリオ"/>
                <a:cs typeface="メイリオ"/>
              </a:rPr>
              <a:t>・社外告知：当初9/2予定だったが内容変更の可能性ありいったん延期。改めて案内予定</a:t>
            </a:r>
          </a:p>
        </p:txBody>
      </p:sp>
      <p:sp>
        <p:nvSpPr>
          <p:cNvPr id="17" name="Rectangle 16"/>
          <p:cNvSpPr/>
          <p:nvPr/>
        </p:nvSpPr>
        <p:spPr>
          <a:xfrm>
            <a:off x="5097780" y="379476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97780" y="37947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97780" y="37947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注意点・影響</a:t>
            </a:r>
          </a:p>
        </p:txBody>
      </p:sp>
      <p:sp>
        <p:nvSpPr>
          <p:cNvPr id="20" name="TextBox 19"/>
          <p:cNvSpPr txBox="1"/>
          <p:nvPr/>
        </p:nvSpPr>
        <p:spPr>
          <a:xfrm>
            <a:off x="5262372" y="419709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・36カ月より前の実績データが必要なクライアントには変更前の確認・保存を案内</a:t>
            </a:r>
          </a:p>
          <a:p>
            <a:pPr>
              <a:lnSpc>
                <a:spcPct val="120000"/>
              </a:lnSpc>
              <a:spcAft>
                <a:spcPts val="300"/>
              </a:spcAft>
            </a:pPr>
            <a:r>
              <a:rPr sz="1000">
                <a:solidFill>
                  <a:srgbClr val="343434"/>
                </a:solidFill>
                <a:latin typeface="メイリオ"/>
                <a:ea typeface="メイリオ"/>
                <a:cs typeface="メイリオ"/>
              </a:rPr>
              <a:t>・「分析」タブの一部データはダウンロード可能（詳細は分析マニュアル参照）</a:t>
            </a:r>
          </a:p>
          <a:p>
            <a:pPr>
              <a:lnSpc>
                <a:spcPct val="120000"/>
              </a:lnSpc>
              <a:spcAft>
                <a:spcPts val="300"/>
              </a:spcAft>
            </a:pPr>
            <a:r>
              <a:rPr sz="1000">
                <a:solidFill>
                  <a:srgbClr val="343434"/>
                </a:solidFill>
                <a:latin typeface="メイリオ"/>
                <a:ea typeface="メイリオ"/>
                <a:cs typeface="メイリオ"/>
              </a:rPr>
              <a:t>・告知日程が流動的なため最新情報を要確認</a:t>
            </a:r>
          </a:p>
        </p:txBody>
      </p:sp>
      <p:sp>
        <p:nvSpPr>
          <p:cNvPr id="21" name="TextBox 20"/>
          <p:cNvSpPr txBox="1"/>
          <p:nvPr/>
        </p:nvSpPr>
        <p:spPr>
          <a:xfrm>
            <a:off x="566928" y="6217920"/>
            <a:ext cx="8686800" cy="201168"/>
          </a:xfrm>
          <a:prstGeom prst="rect">
            <a:avLst/>
          </a:prstGeom>
          <a:noFill/>
        </p:spPr>
        <p:txBody>
          <a:bodyPr wrap="square" anchor="ctr" lIns="0" rIns="0" tIns="0" bIns="0">
            <a:spAutoFit/>
          </a:bodyPr>
          <a:lstStyle/>
          <a:p>
            <a:pPr algn="l"/>
            <a:r>
              <a:rPr sz="750" b="0">
                <a:solidFill>
                  <a:srgbClr val="808080"/>
                </a:solidFill>
                <a:latin typeface="メイリオ"/>
                <a:ea typeface="メイリオ"/>
                <a:cs typeface="メイリオ"/>
              </a:rPr>
              <a:t>出典：https://workers-hub.box.com/s/ms8iztyci2dn5z2qna88rklxwxp7o5ja</a:t>
            </a:r>
          </a:p>
        </p:txBody>
      </p:sp>
    </p:spTree>
    <p:extLst>
      <p:ext uri="{BB962C8B-B14F-4D97-AF65-F5344CB8AC3E}">
        <p14:creationId xmlns:p14="http://schemas.microsoft.com/office/powerpoint/2010/main" val="356532966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579F4-FB71-CB84-349D-670C2D29F6A3}"/>
            </a:ext>
          </a:extLst>
        </p:cNvPr>
        <p:cNvGrpSpPr/>
        <p:nvPr/>
      </p:nvGrpSpPr>
      <p:grpSpPr>
        <a:xfrm>
          <a:off x="0" y="0"/>
          <a:ext cx="0" cy="0"/>
          <a:chOff x="0" y="0"/>
          <a:chExt cx="0" cy="0"/>
        </a:xfrm>
      </p:grpSpPr>
      <p:sp>
        <p:nvSpPr>
          <p:cNvPr id="2" name="TextBox 1"/>
          <p:cNvSpPr txBox="1"/>
          <p:nvPr/>
        </p:nvSpPr>
        <p:spPr>
          <a:xfrm>
            <a:off x="566928" y="91440"/>
            <a:ext cx="7406640" cy="384048"/>
          </a:xfrm>
          <a:prstGeom prst="rect">
            <a:avLst/>
          </a:prstGeom>
          <a:noFill/>
        </p:spPr>
        <p:txBody>
          <a:bodyPr wrap="square" anchor="ctr" lIns="0" rIns="0" tIns="0" bIns="0">
            <a:spAutoFit/>
          </a:bodyPr>
          <a:lstStyle/>
          <a:p>
            <a:pPr algn="l"/>
            <a:r>
              <a:rPr sz="1700" b="1">
                <a:solidFill>
                  <a:srgbClr val="002060"/>
                </a:solidFill>
                <a:latin typeface="メイリオ"/>
                <a:ea typeface="メイリオ"/>
                <a:cs typeface="メイリオ"/>
              </a:rPr>
              <a:t>プロモーションスタンプ 効果改善アップデート</a:t>
            </a:r>
          </a:p>
        </p:txBody>
      </p:sp>
      <p:sp>
        <p:nvSpPr>
          <p:cNvPr id="3" name="Rectangle 2"/>
          <p:cNvSpPr/>
          <p:nvPr/>
        </p:nvSpPr>
        <p:spPr>
          <a:xfrm>
            <a:off x="566928" y="685800"/>
            <a:ext cx="8878824" cy="5029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685800"/>
            <a:ext cx="8513064" cy="502920"/>
          </a:xfrm>
          <a:prstGeom prst="rect">
            <a:avLst/>
          </a:prstGeom>
          <a:noFill/>
        </p:spPr>
        <p:txBody>
          <a:bodyPr wrap="square" anchor="ctr" lIns="0" rIns="0" tIns="0" bIns="0">
            <a:spAutoFit/>
          </a:bodyPr>
          <a:lstStyle/>
          <a:p>
            <a:pPr algn="l">
              <a:lnSpc>
                <a:spcPct val="110000"/>
              </a:lnSpc>
            </a:pPr>
            <a:r>
              <a:rPr sz="1200" b="1">
                <a:solidFill>
                  <a:srgbClr val="002060"/>
                </a:solidFill>
                <a:latin typeface="メイリオ"/>
                <a:ea typeface="メイリオ"/>
                <a:cs typeface="メイリオ"/>
              </a:rPr>
              <a:t>LINEキーボードのサジェスト機能で無料スタンプが表示される条件が緩和され、全ユーザーに表示可能に。DL数は平均+5.63%増加。</a:t>
            </a:r>
          </a:p>
        </p:txBody>
      </p:sp>
      <p:sp>
        <p:nvSpPr>
          <p:cNvPr id="5" name="Rectangle 4"/>
          <p:cNvSpPr/>
          <p:nvPr/>
        </p:nvSpPr>
        <p:spPr>
          <a:xfrm>
            <a:off x="566928" y="132588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3258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3258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概要・変更点</a:t>
            </a:r>
          </a:p>
        </p:txBody>
      </p:sp>
      <p:sp>
        <p:nvSpPr>
          <p:cNvPr id="8" name="TextBox 7"/>
          <p:cNvSpPr txBox="1"/>
          <p:nvPr/>
        </p:nvSpPr>
        <p:spPr>
          <a:xfrm>
            <a:off x="731520" y="172821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・サジェスト面での無料スタンプ表示ユーザー条件を緩和し全ユーザーに表示されるよう変更</a:t>
            </a:r>
          </a:p>
          <a:p>
            <a:pPr>
              <a:lnSpc>
                <a:spcPct val="120000"/>
              </a:lnSpc>
              <a:spcAft>
                <a:spcPts val="300"/>
              </a:spcAft>
            </a:pPr>
            <a:r>
              <a:rPr sz="1000">
                <a:solidFill>
                  <a:srgbClr val="343434"/>
                </a:solidFill>
                <a:latin typeface="メイリオ"/>
                <a:ea typeface="メイリオ"/>
                <a:cs typeface="メイリオ"/>
              </a:rPr>
              <a:t>・配信中の案件を含む全案件に自動適用（広告主・案件側の対応は不要）</a:t>
            </a:r>
          </a:p>
        </p:txBody>
      </p:sp>
      <p:sp>
        <p:nvSpPr>
          <p:cNvPr id="9" name="Rectangle 8"/>
          <p:cNvSpPr/>
          <p:nvPr/>
        </p:nvSpPr>
        <p:spPr>
          <a:xfrm>
            <a:off x="5097780" y="132588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97780" y="13258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97780" y="13258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料金体系・出稿条件</a:t>
            </a:r>
          </a:p>
        </p:txBody>
      </p:sp>
      <p:sp>
        <p:nvSpPr>
          <p:cNvPr id="12" name="TextBox 11"/>
          <p:cNvSpPr txBox="1"/>
          <p:nvPr/>
        </p:nvSpPr>
        <p:spPr>
          <a:xfrm>
            <a:off x="5262372" y="172821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・追加費用なし（自動適用）</a:t>
            </a:r>
          </a:p>
        </p:txBody>
      </p:sp>
      <p:sp>
        <p:nvSpPr>
          <p:cNvPr id="13" name="Rectangle 12"/>
          <p:cNvSpPr/>
          <p:nvPr/>
        </p:nvSpPr>
        <p:spPr>
          <a:xfrm>
            <a:off x="566928" y="379476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66928" y="37947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37947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スケジュール・導入フロー</a:t>
            </a:r>
          </a:p>
        </p:txBody>
      </p:sp>
      <p:sp>
        <p:nvSpPr>
          <p:cNvPr id="16" name="TextBox 15"/>
          <p:cNvSpPr txBox="1"/>
          <p:nvPr/>
        </p:nvSpPr>
        <p:spPr>
          <a:xfrm>
            <a:off x="731520" y="419709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・リリース日：2026年8月28日（金）</a:t>
            </a:r>
          </a:p>
        </p:txBody>
      </p:sp>
      <p:sp>
        <p:nvSpPr>
          <p:cNvPr id="17" name="Rectangle 16"/>
          <p:cNvSpPr/>
          <p:nvPr/>
        </p:nvSpPr>
        <p:spPr>
          <a:xfrm>
            <a:off x="5097780" y="379476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97780" y="37947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97780" y="37947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注意点・影響</a:t>
            </a:r>
          </a:p>
        </p:txBody>
      </p:sp>
      <p:sp>
        <p:nvSpPr>
          <p:cNvPr id="20" name="TextBox 19"/>
          <p:cNvSpPr txBox="1"/>
          <p:nvPr/>
        </p:nvSpPr>
        <p:spPr>
          <a:xfrm>
            <a:off x="5262372" y="419709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・A/Bテスト結果：1案件あたり平均DL数+5.63%増</a:t>
            </a:r>
          </a:p>
          <a:p>
            <a:pPr>
              <a:lnSpc>
                <a:spcPct val="120000"/>
              </a:lnSpc>
              <a:spcAft>
                <a:spcPts val="300"/>
              </a:spcAft>
            </a:pPr>
            <a:r>
              <a:rPr sz="1000">
                <a:solidFill>
                  <a:srgbClr val="343434"/>
                </a:solidFill>
                <a:latin typeface="メイリオ"/>
                <a:ea typeface="メイリオ"/>
                <a:cs typeface="メイリオ"/>
              </a:rPr>
              <a:t>・直近18ヶ月DL履歴のないユーザーでも約2倍のDL、普段DLしない層への到達も改善</a:t>
            </a:r>
          </a:p>
          <a:p>
            <a:pPr>
              <a:lnSpc>
                <a:spcPct val="120000"/>
              </a:lnSpc>
              <a:spcAft>
                <a:spcPts val="300"/>
              </a:spcAft>
            </a:pPr>
            <a:r>
              <a:rPr sz="1000">
                <a:solidFill>
                  <a:srgbClr val="343434"/>
                </a:solidFill>
                <a:latin typeface="メイリオ"/>
                <a:ea typeface="メイリオ"/>
                <a:cs typeface="メイリオ"/>
              </a:rPr>
              <a:t>・運用中クライアントへの実績報告・追加提案の材料に使える</a:t>
            </a:r>
          </a:p>
        </p:txBody>
      </p:sp>
      <p:sp>
        <p:nvSpPr>
          <p:cNvPr id="21" name="TextBox 20"/>
          <p:cNvSpPr txBox="1"/>
          <p:nvPr/>
        </p:nvSpPr>
        <p:spPr>
          <a:xfrm>
            <a:off x="566928" y="6217920"/>
            <a:ext cx="8686800" cy="201168"/>
          </a:xfrm>
          <a:prstGeom prst="rect">
            <a:avLst/>
          </a:prstGeom>
          <a:noFill/>
        </p:spPr>
        <p:txBody>
          <a:bodyPr wrap="square" anchor="ctr" lIns="0" rIns="0" tIns="0" bIns="0">
            <a:spAutoFit/>
          </a:bodyPr>
          <a:lstStyle/>
          <a:p>
            <a:pPr algn="l"/>
            <a:r>
              <a:rPr sz="750" b="0">
                <a:solidFill>
                  <a:srgbClr val="808080"/>
                </a:solidFill>
                <a:latin typeface="メイリオ"/>
                <a:ea typeface="メイリオ"/>
                <a:cs typeface="メイリオ"/>
              </a:rPr>
              <a:t>出典：https://workers-hub.box.com/s/rgfhp6hxyusj7domi1irjx68jld23k9r</a:t>
            </a:r>
          </a:p>
        </p:txBody>
      </p:sp>
    </p:spTree>
    <p:extLst>
      <p:ext uri="{BB962C8B-B14F-4D97-AF65-F5344CB8AC3E}">
        <p14:creationId xmlns:p14="http://schemas.microsoft.com/office/powerpoint/2010/main" val="993846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91440"/>
            <a:ext cx="7406640" cy="384048"/>
          </a:xfrm>
          <a:prstGeom prst="rect">
            <a:avLst/>
          </a:prstGeom>
          <a:noFill/>
        </p:spPr>
        <p:txBody>
          <a:bodyPr wrap="square" anchor="ctr" lIns="0" rIns="0" tIns="0" bIns="0">
            <a:spAutoFit/>
          </a:bodyPr>
          <a:lstStyle/>
          <a:p>
            <a:pPr algn="l"/>
            <a:r>
              <a:rPr sz="1700" b="1">
                <a:solidFill>
                  <a:srgbClr val="002060"/>
                </a:solidFill>
                <a:latin typeface="メイリオ"/>
                <a:ea typeface="メイリオ"/>
                <a:cs typeface="メイリオ"/>
              </a:rPr>
              <a:t>友だち追加オプション 複数アカウント対応</a:t>
            </a:r>
          </a:p>
        </p:txBody>
      </p:sp>
      <p:sp>
        <p:nvSpPr>
          <p:cNvPr id="3" name="Rectangle 2"/>
          <p:cNvSpPr/>
          <p:nvPr/>
        </p:nvSpPr>
        <p:spPr>
          <a:xfrm>
            <a:off x="566928" y="685800"/>
            <a:ext cx="8878824" cy="5029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685800"/>
            <a:ext cx="8513064" cy="502920"/>
          </a:xfrm>
          <a:prstGeom prst="rect">
            <a:avLst/>
          </a:prstGeom>
          <a:noFill/>
        </p:spPr>
        <p:txBody>
          <a:bodyPr wrap="square" anchor="ctr" lIns="0" rIns="0" tIns="0" bIns="0">
            <a:spAutoFit/>
          </a:bodyPr>
          <a:lstStyle/>
          <a:p>
            <a:pPr algn="l">
              <a:lnSpc>
                <a:spcPct val="110000"/>
              </a:lnSpc>
            </a:pPr>
            <a:r>
              <a:rPr sz="1200" b="1">
                <a:solidFill>
                  <a:srgbClr val="002060"/>
                </a:solidFill>
                <a:latin typeface="メイリオ"/>
                <a:ea typeface="メイリオ"/>
                <a:cs typeface="メイリオ"/>
              </a:rPr>
              <a:t>1つのLINEミニアプリに連携するLINE公式アカウントを複数設定できるようになる。</a:t>
            </a:r>
          </a:p>
        </p:txBody>
      </p:sp>
      <p:sp>
        <p:nvSpPr>
          <p:cNvPr id="5" name="Rectangle 4"/>
          <p:cNvSpPr/>
          <p:nvPr/>
        </p:nvSpPr>
        <p:spPr>
          <a:xfrm>
            <a:off x="566928" y="132588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3258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3258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概要・変更点</a:t>
            </a:r>
          </a:p>
        </p:txBody>
      </p:sp>
      <p:sp>
        <p:nvSpPr>
          <p:cNvPr id="8" name="TextBox 7"/>
          <p:cNvSpPr txBox="1"/>
          <p:nvPr/>
        </p:nvSpPr>
        <p:spPr>
          <a:xfrm>
            <a:off x="731520" y="172821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・従来は1つのミニアプリに連携できる公式アカウントは1つのみだったが、複数設定可能に</a:t>
            </a:r>
          </a:p>
          <a:p>
            <a:pPr>
              <a:lnSpc>
                <a:spcPct val="120000"/>
              </a:lnSpc>
              <a:spcAft>
                <a:spcPts val="300"/>
              </a:spcAft>
            </a:pPr>
            <a:r>
              <a:rPr sz="1000">
                <a:solidFill>
                  <a:srgbClr val="343434"/>
                </a:solidFill>
                <a:latin typeface="メイリオ"/>
                <a:ea typeface="メイリオ"/>
                <a:cs typeface="メイリオ"/>
              </a:rPr>
              <a:t>・流入経路（店舗・ブランド等）ごとに異なるLINE公式アカウントへ友だち追加を誘導できる</a:t>
            </a:r>
          </a:p>
        </p:txBody>
      </p:sp>
      <p:sp>
        <p:nvSpPr>
          <p:cNvPr id="9" name="Rectangle 8"/>
          <p:cNvSpPr/>
          <p:nvPr/>
        </p:nvSpPr>
        <p:spPr>
          <a:xfrm>
            <a:off x="5097780" y="132588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97780" y="13258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97780" y="13258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料金体系・出稿条件</a:t>
            </a:r>
          </a:p>
        </p:txBody>
      </p:sp>
      <p:sp>
        <p:nvSpPr>
          <p:cNvPr id="12" name="TextBox 11"/>
          <p:cNvSpPr txBox="1"/>
          <p:nvPr/>
        </p:nvSpPr>
        <p:spPr>
          <a:xfrm>
            <a:off x="5262372" y="172821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a:t>
            </a:r>
          </a:p>
        </p:txBody>
      </p:sp>
      <p:sp>
        <p:nvSpPr>
          <p:cNvPr id="13" name="Rectangle 12"/>
          <p:cNvSpPr/>
          <p:nvPr/>
        </p:nvSpPr>
        <p:spPr>
          <a:xfrm>
            <a:off x="566928" y="379476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66928" y="37947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37947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スケジュール・導入フロー</a:t>
            </a:r>
          </a:p>
        </p:txBody>
      </p:sp>
      <p:sp>
        <p:nvSpPr>
          <p:cNvPr id="16" name="TextBox 15"/>
          <p:cNvSpPr txBox="1"/>
          <p:nvPr/>
        </p:nvSpPr>
        <p:spPr>
          <a:xfrm>
            <a:off x="731520" y="419709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・リリース予定日：9月2日</a:t>
            </a:r>
          </a:p>
        </p:txBody>
      </p:sp>
      <p:sp>
        <p:nvSpPr>
          <p:cNvPr id="17" name="Rectangle 16"/>
          <p:cNvSpPr/>
          <p:nvPr/>
        </p:nvSpPr>
        <p:spPr>
          <a:xfrm>
            <a:off x="5097780" y="379476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97780" y="37947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97780" y="37947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注意点・影響</a:t>
            </a:r>
          </a:p>
        </p:txBody>
      </p:sp>
      <p:sp>
        <p:nvSpPr>
          <p:cNvPr id="20" name="TextBox 19"/>
          <p:cNvSpPr txBox="1"/>
          <p:nvPr/>
        </p:nvSpPr>
        <p:spPr>
          <a:xfrm>
            <a:off x="5262372" y="419709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・全店舗共通の一斉配信から、店舗ごとのセグメント配信に切り替えられる</a:t>
            </a:r>
          </a:p>
          <a:p>
            <a:pPr>
              <a:lnSpc>
                <a:spcPct val="120000"/>
              </a:lnSpc>
              <a:spcAft>
                <a:spcPts val="300"/>
              </a:spcAft>
            </a:pPr>
            <a:r>
              <a:rPr sz="1000">
                <a:solidFill>
                  <a:srgbClr val="343434"/>
                </a:solidFill>
                <a:latin typeface="メイリオ"/>
                <a:ea typeface="メイリオ"/>
                <a:cs typeface="メイリオ"/>
              </a:rPr>
              <a:t>・設定はLINE Developersの「友だち追加オプション」から。デフォルト設定／許可リスト設定の組み合わせで3パターン運用可能</a:t>
            </a:r>
          </a:p>
          <a:p>
            <a:pPr>
              <a:lnSpc>
                <a:spcPct val="120000"/>
              </a:lnSpc>
              <a:spcAft>
                <a:spcPts val="300"/>
              </a:spcAft>
            </a:pPr>
            <a:r>
              <a:rPr sz="1000">
                <a:solidFill>
                  <a:srgbClr val="343434"/>
                </a:solidFill>
                <a:latin typeface="メイリオ"/>
                <a:ea typeface="メイリオ"/>
                <a:cs typeface="メイリオ"/>
              </a:rPr>
              <a:t>・紐づけ条件：ミニアプリと同一プロバイダーの公式アカウントであること／操作者がMessaging APIのadmin権限を保有していること。最大1,000件まで紐づけ可</a:t>
            </a:r>
          </a:p>
        </p:txBody>
      </p:sp>
      <p:sp>
        <p:nvSpPr>
          <p:cNvPr id="21" name="TextBox 20"/>
          <p:cNvSpPr txBox="1"/>
          <p:nvPr/>
        </p:nvSpPr>
        <p:spPr>
          <a:xfrm>
            <a:off x="566928" y="6217920"/>
            <a:ext cx="8686800" cy="201168"/>
          </a:xfrm>
          <a:prstGeom prst="rect">
            <a:avLst/>
          </a:prstGeom>
          <a:noFill/>
        </p:spPr>
        <p:txBody>
          <a:bodyPr wrap="square" anchor="ctr" lIns="0" rIns="0" tIns="0" bIns="0">
            <a:spAutoFit/>
          </a:bodyPr>
          <a:lstStyle/>
          <a:p>
            <a:pPr algn="l"/>
            <a:r>
              <a:rPr sz="750" b="0">
                <a:solidFill>
                  <a:srgbClr val="808080"/>
                </a:solidFill>
                <a:latin typeface="メイリオ"/>
                <a:ea typeface="メイリオ"/>
                <a:cs typeface="メイリオ"/>
              </a:rPr>
              <a:t>出典：https://workers-hub.box.com/s/ko2jjwgxk5fs18ejrs97fvfqv3bm3089</a:t>
            </a:r>
          </a:p>
        </p:txBody>
      </p:sp>
    </p:spTree>
    <p:extLst>
      <p:ext uri="{BB962C8B-B14F-4D97-AF65-F5344CB8AC3E}">
        <p14:creationId xmlns:p14="http://schemas.microsoft.com/office/powerpoint/2010/main" val="384022236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91440"/>
            <a:ext cx="7406640" cy="384048"/>
          </a:xfrm>
          <a:prstGeom prst="rect">
            <a:avLst/>
          </a:prstGeom>
          <a:noFill/>
        </p:spPr>
        <p:txBody>
          <a:bodyPr wrap="square" anchor="ctr" lIns="0" rIns="0" tIns="0" bIns="0">
            <a:spAutoFit/>
          </a:bodyPr>
          <a:lstStyle/>
          <a:p>
            <a:pPr algn="l"/>
            <a:r>
              <a:rPr sz="1700" b="1">
                <a:solidFill>
                  <a:srgbClr val="002060"/>
                </a:solidFill>
                <a:latin typeface="メイリオ"/>
                <a:ea typeface="メイリオ"/>
                <a:cs typeface="メイリオ"/>
              </a:rPr>
              <a:t>LINEオープンキャンペーン 26年10-12月 期間限定キャンペーン</a:t>
            </a:r>
          </a:p>
        </p:txBody>
      </p:sp>
      <p:sp>
        <p:nvSpPr>
          <p:cNvPr id="3" name="Rectangle 2"/>
          <p:cNvSpPr/>
          <p:nvPr/>
        </p:nvSpPr>
        <p:spPr>
          <a:xfrm>
            <a:off x="566928" y="685800"/>
            <a:ext cx="8878824" cy="5029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685800"/>
            <a:ext cx="8513064" cy="502920"/>
          </a:xfrm>
          <a:prstGeom prst="rect">
            <a:avLst/>
          </a:prstGeom>
          <a:noFill/>
        </p:spPr>
        <p:txBody>
          <a:bodyPr wrap="square" anchor="ctr" lIns="0" rIns="0" tIns="0" bIns="0">
            <a:spAutoFit/>
          </a:bodyPr>
          <a:lstStyle/>
          <a:p>
            <a:pPr algn="l">
              <a:lnSpc>
                <a:spcPct val="110000"/>
              </a:lnSpc>
            </a:pPr>
            <a:r>
              <a:rPr sz="1200" b="1">
                <a:solidFill>
                  <a:srgbClr val="002060"/>
                </a:solidFill>
                <a:latin typeface="メイリオ"/>
                <a:ea typeface="メイリオ"/>
                <a:cs typeface="メイリオ"/>
              </a:rPr>
              <a:t>2026年10月20日〜12月25日に終了する案件限定で、特別価格・特別期間・特別通数の3特典が適用される。</a:t>
            </a:r>
          </a:p>
        </p:txBody>
      </p:sp>
      <p:sp>
        <p:nvSpPr>
          <p:cNvPr id="5" name="Rectangle 4"/>
          <p:cNvSpPr/>
          <p:nvPr/>
        </p:nvSpPr>
        <p:spPr>
          <a:xfrm>
            <a:off x="566928" y="132588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3258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3258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概要・変更点</a:t>
            </a:r>
          </a:p>
        </p:txBody>
      </p:sp>
      <p:sp>
        <p:nvSpPr>
          <p:cNvPr id="8" name="TextBox 7"/>
          <p:cNvSpPr txBox="1"/>
          <p:nvPr/>
        </p:nvSpPr>
        <p:spPr>
          <a:xfrm>
            <a:off x="731520" y="172821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・対象：2026年10月20日開始〜12月25日までに終了する案件限定</a:t>
            </a:r>
          </a:p>
          <a:p>
            <a:pPr>
              <a:lnSpc>
                <a:spcPct val="120000"/>
              </a:lnSpc>
              <a:spcAft>
                <a:spcPts val="300"/>
              </a:spcAft>
            </a:pPr>
            <a:r>
              <a:rPr sz="1000">
                <a:solidFill>
                  <a:srgbClr val="343434"/>
                </a:solidFill>
                <a:latin typeface="メイリオ"/>
                <a:ea typeface="メイリオ"/>
                <a:cs typeface="メイリオ"/>
              </a:rPr>
              <a:t>・景品はLINEポイント（2ポイント固定・応募者全員に総付）</a:t>
            </a:r>
          </a:p>
          <a:p>
            <a:pPr>
              <a:lnSpc>
                <a:spcPct val="120000"/>
              </a:lnSpc>
              <a:spcAft>
                <a:spcPts val="300"/>
              </a:spcAft>
            </a:pPr>
            <a:r>
              <a:rPr sz="1000">
                <a:solidFill>
                  <a:srgbClr val="343434"/>
                </a:solidFill>
                <a:latin typeface="メイリオ"/>
                <a:ea typeface="メイリオ"/>
                <a:cs typeface="メイリオ"/>
              </a:rPr>
              <a:t>・対象アカウント条件：LINE公式アカウントかつMessaging API対応／認証プロバイダーであることが必須</a:t>
            </a:r>
          </a:p>
        </p:txBody>
      </p:sp>
      <p:sp>
        <p:nvSpPr>
          <p:cNvPr id="9" name="Rectangle 8"/>
          <p:cNvSpPr/>
          <p:nvPr/>
        </p:nvSpPr>
        <p:spPr>
          <a:xfrm>
            <a:off x="5097780" y="132588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97780" y="13258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97780" y="13258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料金体系・出稿条件</a:t>
            </a:r>
          </a:p>
        </p:txBody>
      </p:sp>
      <p:sp>
        <p:nvSpPr>
          <p:cNvPr id="12" name="TextBox 11"/>
          <p:cNvSpPr txBox="1"/>
          <p:nvPr/>
        </p:nvSpPr>
        <p:spPr>
          <a:xfrm>
            <a:off x="5262372" y="1728216"/>
            <a:ext cx="4018788" cy="1837944"/>
          </a:xfrm>
          <a:prstGeom prst="rect">
            <a:avLst/>
          </a:prstGeom>
          <a:noFill/>
        </p:spPr>
        <p:txBody>
          <a:bodyPr wrap="square" lIns="0" rIns="0" tIns="0" bIns="0">
            <a:spAutoFit/>
          </a:bodyPr>
          <a:lstStyle/>
          <a:p>
            <a:pPr>
              <a:lnSpc>
                <a:spcPct val="115000"/>
              </a:lnSpc>
              <a:spcAft>
                <a:spcPts val="300"/>
              </a:spcAft>
            </a:pPr>
            <a:r>
              <a:rPr sz="900">
                <a:solidFill>
                  <a:srgbClr val="343434"/>
                </a:solidFill>
                <a:latin typeface="メイリオ"/>
                <a:ea typeface="メイリオ"/>
                <a:cs typeface="メイリオ"/>
              </a:rPr>
              <a:t>・基本費用：通常1,800万円→キャンペーン価格1,500万円</a:t>
            </a:r>
          </a:p>
          <a:p>
            <a:pPr>
              <a:lnSpc>
                <a:spcPct val="115000"/>
              </a:lnSpc>
              <a:spcAft>
                <a:spcPts val="300"/>
              </a:spcAft>
            </a:pPr>
            <a:r>
              <a:rPr sz="900">
                <a:solidFill>
                  <a:srgbClr val="343434"/>
                </a:solidFill>
                <a:latin typeface="メイリオ"/>
                <a:ea typeface="メイリオ"/>
                <a:cs typeface="メイリオ"/>
              </a:rPr>
              <a:t>・掲載期間：通常7日間→15日間</a:t>
            </a:r>
          </a:p>
          <a:p>
            <a:pPr>
              <a:lnSpc>
                <a:spcPct val="115000"/>
              </a:lnSpc>
              <a:spcAft>
                <a:spcPts val="300"/>
              </a:spcAft>
            </a:pPr>
            <a:r>
              <a:rPr sz="900">
                <a:solidFill>
                  <a:srgbClr val="343434"/>
                </a:solidFill>
                <a:latin typeface="メイリオ"/>
                <a:ea typeface="メイリオ"/>
                <a:cs typeface="メイリオ"/>
              </a:rPr>
              <a:t>・通数：通常最大900万通→最大1,050万通（150万通増量・ノンセグメント1配信のみ、セグメント／オーディエンス配信は不可）</a:t>
            </a:r>
          </a:p>
          <a:p>
            <a:pPr>
              <a:lnSpc>
                <a:spcPct val="115000"/>
              </a:lnSpc>
              <a:spcAft>
                <a:spcPts val="300"/>
              </a:spcAft>
            </a:pPr>
            <a:r>
              <a:rPr sz="900">
                <a:solidFill>
                  <a:srgbClr val="343434"/>
                </a:solidFill>
                <a:latin typeface="メイリオ"/>
                <a:ea typeface="メイリオ"/>
                <a:cs typeface="メイリオ"/>
              </a:rPr>
              <a:t>・基本費用に友だち追加・uid提供・アンケート・景品・メッセージ配信1回分を含む</a:t>
            </a:r>
          </a:p>
          <a:p>
            <a:pPr>
              <a:lnSpc>
                <a:spcPct val="115000"/>
              </a:lnSpc>
              <a:spcAft>
                <a:spcPts val="300"/>
              </a:spcAft>
            </a:pPr>
            <a:r>
              <a:rPr sz="900">
                <a:solidFill>
                  <a:srgbClr val="343434"/>
                </a:solidFill>
                <a:latin typeface="メイリオ"/>
                <a:ea typeface="メイリオ"/>
                <a:cs typeface="メイリオ"/>
              </a:rPr>
              <a:t>・オプション：応募後の強制視聴ビデオ300万円（トライアル価格・変更の可能性あり）</a:t>
            </a:r>
          </a:p>
        </p:txBody>
      </p:sp>
      <p:sp>
        <p:nvSpPr>
          <p:cNvPr id="13" name="Rectangle 12"/>
          <p:cNvSpPr/>
          <p:nvPr/>
        </p:nvSpPr>
        <p:spPr>
          <a:xfrm>
            <a:off x="566928" y="379476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66928" y="37947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37947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スケジュール・導入フロー</a:t>
            </a:r>
          </a:p>
        </p:txBody>
      </p:sp>
      <p:sp>
        <p:nvSpPr>
          <p:cNvPr id="16" name="TextBox 15"/>
          <p:cNvSpPr txBox="1"/>
          <p:nvPr/>
        </p:nvSpPr>
        <p:spPr>
          <a:xfrm>
            <a:off x="731520" y="4197096"/>
            <a:ext cx="4018788" cy="1837944"/>
          </a:xfrm>
          <a:prstGeom prst="rect">
            <a:avLst/>
          </a:prstGeom>
          <a:noFill/>
        </p:spPr>
        <p:txBody>
          <a:bodyPr wrap="square" lIns="0" rIns="0" tIns="0" bIns="0">
            <a:spAutoFit/>
          </a:bodyPr>
          <a:lstStyle/>
          <a:p>
            <a:pPr>
              <a:lnSpc>
                <a:spcPct val="115000"/>
              </a:lnSpc>
              <a:spcAft>
                <a:spcPts val="300"/>
              </a:spcAft>
            </a:pPr>
            <a:r>
              <a:rPr sz="900">
                <a:solidFill>
                  <a:srgbClr val="343434"/>
                </a:solidFill>
                <a:latin typeface="メイリオ"/>
                <a:ea typeface="メイリオ"/>
                <a:cs typeface="メイリオ"/>
              </a:rPr>
              <a:t>・①開始30営業日前：企業・商材審査／企画審査</a:t>
            </a:r>
          </a:p>
          <a:p>
            <a:pPr>
              <a:lnSpc>
                <a:spcPct val="115000"/>
              </a:lnSpc>
              <a:spcAft>
                <a:spcPts val="300"/>
              </a:spcAft>
            </a:pPr>
            <a:r>
              <a:rPr sz="900">
                <a:solidFill>
                  <a:srgbClr val="343434"/>
                </a:solidFill>
                <a:latin typeface="メイリオ"/>
                <a:ea typeface="メイリオ"/>
                <a:cs typeface="メイリオ"/>
              </a:rPr>
              <a:t>・②開始25営業日前17時：メッセージ配信枠おさえ・キャンペーン申込み</a:t>
            </a:r>
          </a:p>
          <a:p>
            <a:pPr>
              <a:lnSpc>
                <a:spcPct val="115000"/>
              </a:lnSpc>
              <a:spcAft>
                <a:spcPts val="300"/>
              </a:spcAft>
            </a:pPr>
            <a:r>
              <a:rPr sz="900">
                <a:solidFill>
                  <a:srgbClr val="343434"/>
                </a:solidFill>
                <a:latin typeface="メイリオ"/>
                <a:ea typeface="メイリオ"/>
                <a:cs typeface="メイリオ"/>
              </a:rPr>
              <a:t>・③開始20営業日前17時：各種入稿物の提出</a:t>
            </a:r>
          </a:p>
          <a:p>
            <a:pPr>
              <a:lnSpc>
                <a:spcPct val="115000"/>
              </a:lnSpc>
              <a:spcAft>
                <a:spcPts val="300"/>
              </a:spcAft>
            </a:pPr>
            <a:r>
              <a:rPr sz="900">
                <a:solidFill>
                  <a:srgbClr val="343434"/>
                </a:solidFill>
                <a:latin typeface="メイリオ"/>
                <a:ea typeface="メイリオ"/>
                <a:cs typeface="メイリオ"/>
              </a:rPr>
              <a:t>・④開始日当日：キャンペーン掲載開始</a:t>
            </a:r>
          </a:p>
          <a:p>
            <a:pPr>
              <a:lnSpc>
                <a:spcPct val="115000"/>
              </a:lnSpc>
              <a:spcAft>
                <a:spcPts val="300"/>
              </a:spcAft>
            </a:pPr>
            <a:r>
              <a:rPr sz="900">
                <a:solidFill>
                  <a:srgbClr val="343434"/>
                </a:solidFill>
                <a:latin typeface="メイリオ"/>
                <a:ea typeface="メイリオ"/>
                <a:cs typeface="メイリオ"/>
              </a:rPr>
              <a:t>・掲載開始は平日（LINEヤフー社営業日）のみ、土日祝日不可</a:t>
            </a:r>
          </a:p>
        </p:txBody>
      </p:sp>
      <p:sp>
        <p:nvSpPr>
          <p:cNvPr id="17" name="Rectangle 16"/>
          <p:cNvSpPr/>
          <p:nvPr/>
        </p:nvSpPr>
        <p:spPr>
          <a:xfrm>
            <a:off x="5097780" y="379476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97780" y="37947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97780" y="37947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注意点・影響</a:t>
            </a:r>
          </a:p>
        </p:txBody>
      </p:sp>
      <p:sp>
        <p:nvSpPr>
          <p:cNvPr id="20" name="TextBox 19"/>
          <p:cNvSpPr txBox="1"/>
          <p:nvPr/>
        </p:nvSpPr>
        <p:spPr>
          <a:xfrm>
            <a:off x="5262372" y="419709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・期間限定・条件限定のため、対象クライアントへは早めの提案・申込誘導が必要</a:t>
            </a:r>
          </a:p>
          <a:p>
            <a:pPr>
              <a:lnSpc>
                <a:spcPct val="120000"/>
              </a:lnSpc>
              <a:spcAft>
                <a:spcPts val="300"/>
              </a:spcAft>
            </a:pPr>
            <a:r>
              <a:rPr sz="1000">
                <a:solidFill>
                  <a:srgbClr val="343434"/>
                </a:solidFill>
                <a:latin typeface="メイリオ"/>
                <a:ea typeface="メイリオ"/>
                <a:cs typeface="メイリオ"/>
              </a:rPr>
              <a:t>・キャンセル規定：発注受領後、または発注期日（開始25営業日前）超過後のキャンセルは最低発注金額1,500万円を請求</a:t>
            </a:r>
          </a:p>
          <a:p>
            <a:pPr>
              <a:lnSpc>
                <a:spcPct val="120000"/>
              </a:lnSpc>
              <a:spcAft>
                <a:spcPts val="300"/>
              </a:spcAft>
            </a:pPr>
            <a:r>
              <a:rPr sz="1000">
                <a:solidFill>
                  <a:srgbClr val="343434"/>
                </a:solidFill>
                <a:latin typeface="メイリオ"/>
                <a:ea typeface="メイリオ"/>
                <a:cs typeface="メイリオ"/>
              </a:rPr>
              <a:t>・他割引との併用不可。景品がLINEポイントから変更になる可能性あり（変更不可の申し出は受付不可）</a:t>
            </a:r>
          </a:p>
        </p:txBody>
      </p:sp>
      <p:sp>
        <p:nvSpPr>
          <p:cNvPr id="21" name="TextBox 20"/>
          <p:cNvSpPr txBox="1"/>
          <p:nvPr/>
        </p:nvSpPr>
        <p:spPr>
          <a:xfrm>
            <a:off x="566928" y="6217920"/>
            <a:ext cx="8686800" cy="201168"/>
          </a:xfrm>
          <a:prstGeom prst="rect">
            <a:avLst/>
          </a:prstGeom>
          <a:noFill/>
        </p:spPr>
        <p:txBody>
          <a:bodyPr wrap="square" anchor="ctr" lIns="0" rIns="0" tIns="0" bIns="0">
            <a:spAutoFit/>
          </a:bodyPr>
          <a:lstStyle/>
          <a:p>
            <a:pPr algn="l"/>
            <a:r>
              <a:rPr sz="750" b="0">
                <a:solidFill>
                  <a:srgbClr val="808080"/>
                </a:solidFill>
                <a:latin typeface="メイリオ"/>
                <a:ea typeface="メイリオ"/>
                <a:cs typeface="メイリオ"/>
              </a:rPr>
              <a:t>出典：https://workers-hub.box.com/s/odilqpe44tp398zlfko148yggcgj68ny</a:t>
            </a:r>
          </a:p>
        </p:txBody>
      </p:sp>
    </p:spTree>
    <p:extLst>
      <p:ext uri="{BB962C8B-B14F-4D97-AF65-F5344CB8AC3E}">
        <p14:creationId xmlns:p14="http://schemas.microsoft.com/office/powerpoint/2010/main" val="244768185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D88C4-8CFA-2C0E-C230-F47FCA10FFC5}"/>
            </a:ext>
          </a:extLst>
        </p:cNvPr>
        <p:cNvGrpSpPr/>
        <p:nvPr/>
      </p:nvGrpSpPr>
      <p:grpSpPr>
        <a:xfrm>
          <a:off x="0" y="0"/>
          <a:ext cx="0" cy="0"/>
          <a:chOff x="0" y="0"/>
          <a:chExt cx="0" cy="0"/>
        </a:xfrm>
      </p:grpSpPr>
      <p:sp>
        <p:nvSpPr>
          <p:cNvPr id="2" name="TextBox 1"/>
          <p:cNvSpPr txBox="1"/>
          <p:nvPr/>
        </p:nvSpPr>
        <p:spPr>
          <a:xfrm>
            <a:off x="566928" y="91440"/>
            <a:ext cx="7406640" cy="384048"/>
          </a:xfrm>
          <a:prstGeom prst="rect">
            <a:avLst/>
          </a:prstGeom>
          <a:noFill/>
        </p:spPr>
        <p:txBody>
          <a:bodyPr wrap="square" anchor="ctr" lIns="0" rIns="0" tIns="0" bIns="0">
            <a:spAutoFit/>
          </a:bodyPr>
          <a:lstStyle/>
          <a:p>
            <a:pPr algn="l"/>
            <a:r>
              <a:rPr sz="1700" b="1">
                <a:solidFill>
                  <a:srgbClr val="002060"/>
                </a:solidFill>
                <a:latin typeface="メイリオ"/>
                <a:ea typeface="メイリオ"/>
                <a:cs typeface="メイリオ"/>
              </a:rPr>
              <a:t>LINE Sales Promotion Manager 利用停止期間</a:t>
            </a:r>
          </a:p>
        </p:txBody>
      </p:sp>
      <p:sp>
        <p:nvSpPr>
          <p:cNvPr id="3" name="Rectangle 2"/>
          <p:cNvSpPr/>
          <p:nvPr/>
        </p:nvSpPr>
        <p:spPr>
          <a:xfrm>
            <a:off x="566928" y="685800"/>
            <a:ext cx="8878824" cy="5029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685800"/>
            <a:ext cx="8513064" cy="502920"/>
          </a:xfrm>
          <a:prstGeom prst="rect">
            <a:avLst/>
          </a:prstGeom>
          <a:noFill/>
        </p:spPr>
        <p:txBody>
          <a:bodyPr wrap="square" anchor="ctr" lIns="0" rIns="0" tIns="0" bIns="0">
            <a:spAutoFit/>
          </a:bodyPr>
          <a:lstStyle/>
          <a:p>
            <a:pPr algn="l">
              <a:lnSpc>
                <a:spcPct val="110000"/>
              </a:lnSpc>
            </a:pPr>
            <a:r>
              <a:rPr sz="1200" b="1">
                <a:solidFill>
                  <a:srgbClr val="002060"/>
                </a:solidFill>
                <a:latin typeface="メイリオ"/>
                <a:ea typeface="メイリオ"/>
                <a:cs typeface="メイリオ"/>
              </a:rPr>
              <a:t>データベース管理システムのスケール最適化のため、LINEで応募の管理画面が一時利用停止となる。</a:t>
            </a:r>
          </a:p>
        </p:txBody>
      </p:sp>
      <p:sp>
        <p:nvSpPr>
          <p:cNvPr id="5" name="Rectangle 4"/>
          <p:cNvSpPr/>
          <p:nvPr/>
        </p:nvSpPr>
        <p:spPr>
          <a:xfrm>
            <a:off x="566928" y="132588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3258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3258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概要・変更点</a:t>
            </a:r>
          </a:p>
        </p:txBody>
      </p:sp>
      <p:sp>
        <p:nvSpPr>
          <p:cNvPr id="8" name="TextBox 7"/>
          <p:cNvSpPr txBox="1"/>
          <p:nvPr/>
        </p:nvSpPr>
        <p:spPr>
          <a:xfrm>
            <a:off x="731520" y="172821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・データベース管理システムのスケール最適化実施のため対象期間中は管理画面が利用停止</a:t>
            </a:r>
          </a:p>
          <a:p>
            <a:pPr>
              <a:lnSpc>
                <a:spcPct val="120000"/>
              </a:lnSpc>
              <a:spcAft>
                <a:spcPts val="300"/>
              </a:spcAft>
            </a:pPr>
            <a:r>
              <a:rPr sz="1000">
                <a:solidFill>
                  <a:srgbClr val="343434"/>
                </a:solidFill>
                <a:latin typeface="メイリオ"/>
                <a:ea typeface="メイリオ"/>
                <a:cs typeface="メイリオ"/>
              </a:rPr>
              <a:t>・対象メニュー：LINEオープンキャンペーン（抽選型）。アンケート型・季節商品の過去案件も対象</a:t>
            </a:r>
          </a:p>
        </p:txBody>
      </p:sp>
      <p:sp>
        <p:nvSpPr>
          <p:cNvPr id="9" name="Rectangle 8"/>
          <p:cNvSpPr/>
          <p:nvPr/>
        </p:nvSpPr>
        <p:spPr>
          <a:xfrm>
            <a:off x="5097780" y="132588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97780" y="13258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97780" y="13258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料金体系・出稿条件</a:t>
            </a:r>
          </a:p>
        </p:txBody>
      </p:sp>
      <p:sp>
        <p:nvSpPr>
          <p:cNvPr id="12" name="TextBox 11"/>
          <p:cNvSpPr txBox="1"/>
          <p:nvPr/>
        </p:nvSpPr>
        <p:spPr>
          <a:xfrm>
            <a:off x="5262372" y="172821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・該当なし</a:t>
            </a:r>
          </a:p>
        </p:txBody>
      </p:sp>
      <p:sp>
        <p:nvSpPr>
          <p:cNvPr id="13" name="Rectangle 12"/>
          <p:cNvSpPr/>
          <p:nvPr/>
        </p:nvSpPr>
        <p:spPr>
          <a:xfrm>
            <a:off x="566928" y="379476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66928" y="37947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37947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スケジュール・導入フロー</a:t>
            </a:r>
          </a:p>
        </p:txBody>
      </p:sp>
      <p:sp>
        <p:nvSpPr>
          <p:cNvPr id="16" name="TextBox 15"/>
          <p:cNvSpPr txBox="1"/>
          <p:nvPr/>
        </p:nvSpPr>
        <p:spPr>
          <a:xfrm>
            <a:off x="731520" y="419709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・社外への案内開始日・リリース日：2026年9月2日</a:t>
            </a:r>
          </a:p>
          <a:p>
            <a:pPr>
              <a:lnSpc>
                <a:spcPct val="120000"/>
              </a:lnSpc>
              <a:spcAft>
                <a:spcPts val="300"/>
              </a:spcAft>
            </a:pPr>
            <a:r>
              <a:rPr sz="1000">
                <a:solidFill>
                  <a:srgbClr val="343434"/>
                </a:solidFill>
                <a:latin typeface="メイリオ"/>
                <a:ea typeface="メイリオ"/>
                <a:cs typeface="メイリオ"/>
              </a:rPr>
              <a:t>・対象期間：9月8日（火）〜9月10日（木） 10:00〜14:30の間</a:t>
            </a:r>
          </a:p>
        </p:txBody>
      </p:sp>
      <p:sp>
        <p:nvSpPr>
          <p:cNvPr id="17" name="Rectangle 16"/>
          <p:cNvSpPr/>
          <p:nvPr/>
        </p:nvSpPr>
        <p:spPr>
          <a:xfrm>
            <a:off x="5097780" y="379476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97780" y="37947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97780" y="37947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注意点・影響</a:t>
            </a:r>
          </a:p>
        </p:txBody>
      </p:sp>
      <p:sp>
        <p:nvSpPr>
          <p:cNvPr id="20" name="TextBox 19"/>
          <p:cNvSpPr txBox="1"/>
          <p:nvPr/>
        </p:nvSpPr>
        <p:spPr>
          <a:xfrm>
            <a:off x="5262372" y="419709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・影響範囲：サマリーレポートの作成・ダウンロードが利用不可</a:t>
            </a:r>
          </a:p>
          <a:p>
            <a:pPr>
              <a:lnSpc>
                <a:spcPct val="120000"/>
              </a:lnSpc>
              <a:spcAft>
                <a:spcPts val="300"/>
              </a:spcAft>
            </a:pPr>
            <a:r>
              <a:rPr sz="1000">
                <a:solidFill>
                  <a:srgbClr val="343434"/>
                </a:solidFill>
                <a:latin typeface="メイリオ"/>
                <a:ea typeface="メイリオ"/>
                <a:cs typeface="メイリオ"/>
              </a:rPr>
              <a:t>・LBPMでの案件申請・入稿など、上記以外の機能は通常どおり利用可能</a:t>
            </a:r>
          </a:p>
          <a:p>
            <a:pPr>
              <a:lnSpc>
                <a:spcPct val="120000"/>
              </a:lnSpc>
              <a:spcAft>
                <a:spcPts val="300"/>
              </a:spcAft>
            </a:pPr>
            <a:r>
              <a:rPr sz="1000">
                <a:solidFill>
                  <a:srgbClr val="343434"/>
                </a:solidFill>
                <a:latin typeface="メイリオ"/>
                <a:ea typeface="メイリオ"/>
                <a:cs typeface="メイリオ"/>
              </a:rPr>
              <a:t>・稼働中キャンペーンがあるクライアントには事前周知が必要</a:t>
            </a:r>
          </a:p>
        </p:txBody>
      </p:sp>
      <p:sp>
        <p:nvSpPr>
          <p:cNvPr id="21" name="TextBox 20"/>
          <p:cNvSpPr txBox="1"/>
          <p:nvPr/>
        </p:nvSpPr>
        <p:spPr>
          <a:xfrm>
            <a:off x="566928" y="6217920"/>
            <a:ext cx="8686800" cy="201168"/>
          </a:xfrm>
          <a:prstGeom prst="rect">
            <a:avLst/>
          </a:prstGeom>
          <a:noFill/>
        </p:spPr>
        <p:txBody>
          <a:bodyPr wrap="square" anchor="ctr" lIns="0" rIns="0" tIns="0" bIns="0">
            <a:spAutoFit/>
          </a:bodyPr>
          <a:lstStyle/>
          <a:p>
            <a:pPr algn="l"/>
            <a:r>
              <a:rPr sz="750" b="0">
                <a:solidFill>
                  <a:srgbClr val="808080"/>
                </a:solidFill>
                <a:latin typeface="メイリオ"/>
                <a:ea typeface="メイリオ"/>
                <a:cs typeface="メイリオ"/>
              </a:rPr>
              <a:t>出典：https://workers-hub.box.com/s/mo3y54qld9vj4kung0c4040z41mfhoip</a:t>
            </a:r>
          </a:p>
        </p:txBody>
      </p:sp>
    </p:spTree>
    <p:extLst>
      <p:ext uri="{BB962C8B-B14F-4D97-AF65-F5344CB8AC3E}">
        <p14:creationId xmlns:p14="http://schemas.microsoft.com/office/powerpoint/2010/main" val="2634601906"/>
      </p:ext>
    </p:extLst>
  </p:cSld>
  <p:clrMapOvr>
    <a:masterClrMapping/>
  </p:clrMapOvr>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141439</TotalTime>
  <Words>9951</Words>
  <Application>Microsoft Office PowerPoint</Application>
  <PresentationFormat>A4 210 x 297 mm</PresentationFormat>
  <Paragraphs>2143</Paragraphs>
  <Slides>62</Slides>
  <Notes>11</Notes>
  <HiddenSlides>0</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62</vt:i4>
      </vt:variant>
    </vt:vector>
  </HeadingPairs>
  <TitlesOfParts>
    <vt:vector size="69" baseType="lpstr">
      <vt:lpstr>Meiryo</vt:lpstr>
      <vt:lpstr>Meiryo</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佐村 徳人</cp:lastModifiedBy>
  <cp:revision>1913</cp:revision>
  <cp:lastPrinted>2022-11-01T11:38:14Z</cp:lastPrinted>
  <dcterms:created xsi:type="dcterms:W3CDTF">2015-09-04T09:21:15Z</dcterms:created>
  <dcterms:modified xsi:type="dcterms:W3CDTF">2026-07-14T03:55:58Z</dcterms:modified>
</cp:coreProperties>
</file>