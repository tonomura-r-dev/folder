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6.svg" ContentType="image/svg+xml"/>
  <Override PartName="/ppt/media/image17.svg" ContentType="image/svg+xml"/>
  <Override PartName="/ppt/media/image18.svg" ContentType="image/svg+xml"/>
  <Override PartName="/ppt/media/image1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5"/>
  </p:notesMasterIdLst>
  <p:handoutMasterIdLst>
    <p:handoutMasterId r:id="rId66"/>
  </p:handoutMasterIdLst>
  <p:sldIdLst>
    <p:sldId id="2363" r:id="rId3"/>
    <p:sldId id="2721" r:id="rId4"/>
    <p:sldId id="2723" r:id="rId5"/>
    <p:sldId id="2714" r:id="rId6"/>
    <p:sldId id="2761" r:id="rId7"/>
    <p:sldId id="2935" r:id="rId8"/>
    <p:sldId id="2919" r:id="rId9"/>
    <p:sldId id="2519" r:id="rId10"/>
    <p:sldId id="2931" r:id="rId11"/>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2026/7/14</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125421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9746031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33726571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42520229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jpe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6.svg"/><Relationship Id="rId4" Type="http://schemas.openxmlformats.org/officeDocument/2006/relationships/image" Target="../media/image17.svg"/><Relationship Id="rId5" Type="http://schemas.openxmlformats.org/officeDocument/2006/relationships/image" Target="../media/image18.svg"/><Relationship Id="rId6" Type="http://schemas.openxmlformats.org/officeDocument/2006/relationships/image" Target="../media/image19.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2286000"/>
            <a:ext cx="8229600" cy="365760"/>
          </a:xfrm>
          <a:prstGeom prst="rect">
            <a:avLst/>
          </a:prstGeom>
          <a:noFill/>
        </p:spPr>
        <p:txBody>
          <a:bodyPr wrap="square" anchor="t" lIns="0" rIns="0" tIns="0" bIns="0">
            <a:spAutoFit/>
          </a:bodyPr>
          <a:lstStyle/>
          <a:p>
            <a:pPr algn="l"/>
            <a:r>
              <a:rPr sz="1400" b="0">
                <a:solidFill>
                  <a:srgbClr val="494848"/>
                </a:solidFill>
                <a:latin typeface="メイリオ"/>
                <a:ea typeface="メイリオ"/>
                <a:cs typeface="メイリオ"/>
              </a:rPr>
              <a:t>LINE公式アカウント</a:t>
            </a:r>
          </a:p>
        </p:txBody>
      </p:sp>
      <p:sp>
        <p:nvSpPr>
          <p:cNvPr id="3" name="TextBox 2"/>
          <p:cNvSpPr txBox="1"/>
          <p:nvPr/>
        </p:nvSpPr>
        <p:spPr>
          <a:xfrm>
            <a:off x="640080" y="2606040"/>
            <a:ext cx="8503920" cy="914400"/>
          </a:xfrm>
          <a:prstGeom prst="rect">
            <a:avLst/>
          </a:prstGeom>
          <a:noFill/>
        </p:spPr>
        <p:txBody>
          <a:bodyPr wrap="square" anchor="t" lIns="0" rIns="0" tIns="0" bIns="0">
            <a:spAutoFit/>
          </a:bodyPr>
          <a:lstStyle/>
          <a:p>
            <a:pPr algn="l">
              <a:lnSpc>
                <a:spcPct val="115000"/>
              </a:lnSpc>
            </a:pPr>
            <a:r>
              <a:rPr sz="3000" b="1">
                <a:solidFill>
                  <a:srgbClr val="002060"/>
                </a:solidFill>
                <a:latin typeface="メイリオ"/>
                <a:ea typeface="メイリオ"/>
                <a:cs typeface="メイリオ"/>
              </a:rPr>
              <a:t>媒体最新情報　9月 トレンドレポート</a:t>
            </a:r>
          </a:p>
        </p:txBody>
      </p:sp>
      <p:sp>
        <p:nvSpPr>
          <p:cNvPr id="4" name="Rectangle 3"/>
          <p:cNvSpPr/>
          <p:nvPr/>
        </p:nvSpPr>
        <p:spPr>
          <a:xfrm>
            <a:off x="640080" y="3611880"/>
            <a:ext cx="8229600" cy="1905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3794760"/>
            <a:ext cx="2194560"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94760"/>
            <a:ext cx="2194560" cy="365760"/>
          </a:xfrm>
          <a:prstGeom prst="rect">
            <a:avLst/>
          </a:prstGeom>
          <a:noFill/>
        </p:spPr>
        <p:txBody>
          <a:bodyPr wrap="square" anchor="ctr" lIns="0" rIns="0" tIns="0" bIns="0">
            <a:spAutoFit/>
          </a:bodyPr>
          <a:lstStyle/>
          <a:p>
            <a:pPr algn="ctr"/>
            <a:r>
              <a:rPr sz="1100" b="0">
                <a:solidFill>
                  <a:srgbClr val="494848"/>
                </a:solidFill>
                <a:latin typeface="メイリオ"/>
                <a:ea typeface="メイリオ"/>
                <a:cs typeface="メイリオ"/>
              </a:rPr>
              <a:t>2026年9月号</a:t>
            </a:r>
          </a:p>
        </p:txBody>
      </p:sp>
      <p:sp>
        <p:nvSpPr>
          <p:cNvPr id="7" name="TextBox 6"/>
          <p:cNvSpPr txBox="1"/>
          <p:nvPr/>
        </p:nvSpPr>
        <p:spPr>
          <a:xfrm>
            <a:off x="640080" y="5943600"/>
            <a:ext cx="5486400" cy="365760"/>
          </a:xfrm>
          <a:prstGeom prst="rect">
            <a:avLst/>
          </a:prstGeom>
          <a:noFill/>
        </p:spPr>
        <p:txBody>
          <a:bodyPr wrap="square" anchor="t" lIns="0" rIns="0" tIns="0" bIns="0">
            <a:spAutoFit/>
          </a:bodyPr>
          <a:lstStyle/>
          <a:p>
            <a:pPr algn="l"/>
            <a:r>
              <a:rPr sz="1200" b="1">
                <a:solidFill>
                  <a:srgbClr val="002060"/>
                </a:solidFill>
                <a:latin typeface="メイリオ"/>
                <a:ea typeface="メイリオ"/>
                <a:cs typeface="メイリオ"/>
              </a:rPr>
              <a:t>株式会社DYM（DYM × LINEOA）</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目次</a:t>
            </a:r>
          </a:p>
        </p:txBody>
      </p:sp>
      <p:sp>
        <p:nvSpPr>
          <p:cNvPr id="3" name="Rectangle 2"/>
          <p:cNvSpPr/>
          <p:nvPr/>
        </p:nvSpPr>
        <p:spPr>
          <a:xfrm>
            <a:off x="566928" y="914400"/>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0"/>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1</a:t>
            </a:r>
          </a:p>
        </p:txBody>
      </p:sp>
      <p:sp>
        <p:nvSpPr>
          <p:cNvPr id="5" name="TextBox 4"/>
          <p:cNvSpPr txBox="1"/>
          <p:nvPr/>
        </p:nvSpPr>
        <p:spPr>
          <a:xfrm>
            <a:off x="1133856" y="914400"/>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1. LINEミニアプリ お気に入り追加促進機能</a:t>
            </a:r>
          </a:p>
        </p:txBody>
      </p:sp>
      <p:sp>
        <p:nvSpPr>
          <p:cNvPr id="6" name="Rectangle 5"/>
          <p:cNvSpPr/>
          <p:nvPr/>
        </p:nvSpPr>
        <p:spPr>
          <a:xfrm>
            <a:off x="566928" y="1481328"/>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481328"/>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2</a:t>
            </a:r>
          </a:p>
        </p:txBody>
      </p:sp>
      <p:sp>
        <p:nvSpPr>
          <p:cNvPr id="8" name="TextBox 7"/>
          <p:cNvSpPr txBox="1"/>
          <p:nvPr/>
        </p:nvSpPr>
        <p:spPr>
          <a:xfrm>
            <a:off x="1133856" y="1481328"/>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2. 既読API 一般提供開始のお知らせ</a:t>
            </a:r>
          </a:p>
        </p:txBody>
      </p:sp>
      <p:sp>
        <p:nvSpPr>
          <p:cNvPr id="9" name="Rectangle 8"/>
          <p:cNvSpPr/>
          <p:nvPr/>
        </p:nvSpPr>
        <p:spPr>
          <a:xfrm>
            <a:off x="566928" y="2048256"/>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048256"/>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3</a:t>
            </a:r>
          </a:p>
        </p:txBody>
      </p:sp>
      <p:sp>
        <p:nvSpPr>
          <p:cNvPr id="11" name="TextBox 10"/>
          <p:cNvSpPr txBox="1"/>
          <p:nvPr/>
        </p:nvSpPr>
        <p:spPr>
          <a:xfrm>
            <a:off x="1133856" y="2048256"/>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3. LINE公式アカウント「分析」データ参照期間 過去36カ月に変更</a:t>
            </a:r>
          </a:p>
        </p:txBody>
      </p:sp>
      <p:sp>
        <p:nvSpPr>
          <p:cNvPr id="12" name="Rectangle 11"/>
          <p:cNvSpPr/>
          <p:nvPr/>
        </p:nvSpPr>
        <p:spPr>
          <a:xfrm>
            <a:off x="566928" y="2615184"/>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615184"/>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4</a:t>
            </a:r>
          </a:p>
        </p:txBody>
      </p:sp>
      <p:sp>
        <p:nvSpPr>
          <p:cNvPr id="14" name="TextBox 13"/>
          <p:cNvSpPr txBox="1"/>
          <p:nvPr/>
        </p:nvSpPr>
        <p:spPr>
          <a:xfrm>
            <a:off x="1133856" y="2615184"/>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4. プロモーションスタンプ 効果改善アップデート</a:t>
            </a:r>
          </a:p>
        </p:txBody>
      </p:sp>
      <p:sp>
        <p:nvSpPr>
          <p:cNvPr id="15" name="Rectangle 14"/>
          <p:cNvSpPr/>
          <p:nvPr/>
        </p:nvSpPr>
        <p:spPr>
          <a:xfrm>
            <a:off x="566928" y="3182112"/>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3182112"/>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5</a:t>
            </a:r>
          </a:p>
        </p:txBody>
      </p:sp>
      <p:sp>
        <p:nvSpPr>
          <p:cNvPr id="17" name="TextBox 16"/>
          <p:cNvSpPr txBox="1"/>
          <p:nvPr/>
        </p:nvSpPr>
        <p:spPr>
          <a:xfrm>
            <a:off x="1133856" y="3182112"/>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5. 友だち追加オプション 複数アカウント対応</a:t>
            </a:r>
          </a:p>
        </p:txBody>
      </p:sp>
      <p:sp>
        <p:nvSpPr>
          <p:cNvPr id="18" name="Rectangle 17"/>
          <p:cNvSpPr/>
          <p:nvPr/>
        </p:nvSpPr>
        <p:spPr>
          <a:xfrm>
            <a:off x="566928" y="3749040"/>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749040"/>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6</a:t>
            </a:r>
          </a:p>
        </p:txBody>
      </p:sp>
      <p:sp>
        <p:nvSpPr>
          <p:cNvPr id="20" name="TextBox 19"/>
          <p:cNvSpPr txBox="1"/>
          <p:nvPr/>
        </p:nvSpPr>
        <p:spPr>
          <a:xfrm>
            <a:off x="1133856" y="3749040"/>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6. LINEオープンキャンペーン 26年10-12月 期間限定キャンペーン</a:t>
            </a:r>
          </a:p>
        </p:txBody>
      </p:sp>
      <p:sp>
        <p:nvSpPr>
          <p:cNvPr id="21" name="Rectangle 20"/>
          <p:cNvSpPr/>
          <p:nvPr/>
        </p:nvSpPr>
        <p:spPr>
          <a:xfrm>
            <a:off x="566928" y="4315968"/>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315968"/>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7</a:t>
            </a:r>
          </a:p>
        </p:txBody>
      </p:sp>
      <p:sp>
        <p:nvSpPr>
          <p:cNvPr id="23" name="TextBox 22"/>
          <p:cNvSpPr txBox="1"/>
          <p:nvPr/>
        </p:nvSpPr>
        <p:spPr>
          <a:xfrm>
            <a:off x="1133856" y="4315968"/>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7. LINE Sales Promotion Manager 利用停止期間</a:t>
            </a:r>
          </a:p>
        </p:txBody>
      </p:sp>
    </p:spTree>
    <p:extLst>
      <p:ext uri="{BB962C8B-B14F-4D97-AF65-F5344CB8AC3E}">
        <p14:creationId xmlns:p14="http://schemas.microsoft.com/office/powerpoint/2010/main" val="3014222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LINEミニアプリ お気に入り追加促進機能</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特定条件を満たしたユーザーに、ミニアプリのお気に入り追加を促すポップアップが自動表示される新機能。</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・トリガー①：マイミニアプリの「履歴」からアクセス</a:t>
            </a:r>
          </a:p>
          <a:p>
            <a:pPr>
              <a:lnSpc>
                <a:spcPct val="120000"/>
              </a:lnSpc>
              <a:spcAft>
                <a:spcPts val="300"/>
              </a:spcAft>
            </a:pPr>
            <a:r>
              <a:rPr sz="1000">
                <a:solidFill>
                  <a:srgbClr val="343434"/>
                </a:solidFill>
                <a:latin typeface="メイリオ"/>
                <a:ea typeface="メイリオ"/>
                <a:cs typeface="メイリオ"/>
              </a:rPr>
              <a:t>・トリガー②：7日以内に2日以上アクセス</a:t>
            </a:r>
          </a:p>
          <a:p>
            <a:pPr>
              <a:lnSpc>
                <a:spcPct val="120000"/>
              </a:lnSpc>
              <a:spcAft>
                <a:spcPts val="300"/>
              </a:spcAft>
            </a:pPr>
            <a:r>
              <a:rPr sz="1000">
                <a:solidFill>
                  <a:srgbClr val="343434"/>
                </a:solidFill>
                <a:latin typeface="メイリオ"/>
                <a:ea typeface="メイリオ"/>
                <a:cs typeface="メイリオ"/>
              </a:rPr>
              <a:t>・条件を満たすとお気に入り追加を促すポップアップが表示</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・－（リリース日は要確認）</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・リピート利用ユーザーの再訪導線が強化される。ミニアプリ運用中クライアントへの案内材料になる</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出典：https://workers-hub.box.com/s/9uo4m0fiqyxmddz5br3xe9691w0q4ht7</a:t>
            </a:r>
          </a:p>
        </p:txBody>
      </p:sp>
    </p:spTree>
    <p:extLst>
      <p:ext uri="{BB962C8B-B14F-4D97-AF65-F5344CB8AC3E}">
        <p14:creationId xmlns:p14="http://schemas.microsoft.com/office/powerpoint/2010/main" val="32932612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既読API「一般提供開始」のお知らせ</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事前申請不要の新しい既読API（Messaging API）が一般提供開始。トークの既読管理をAPI側から自動化できる。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・新しい既読API（Messaging API「mark as read」）が一般提供開始</a:t>
            </a:r>
          </a:p>
          <a:p>
            <a:pPr>
              <a:lnSpc>
                <a:spcPct val="120000"/>
              </a:lnSpc>
              <a:spcAft>
                <a:spcPts val="300"/>
              </a:spcAft>
            </a:pPr>
            <a:r>
              <a:rPr sz="1000">
                <a:solidFill>
                  <a:srgbClr val="343434"/>
                </a:solidFill>
                <a:latin typeface="メイリオ"/>
                <a:ea typeface="メイリオ"/>
                <a:cs typeface="メイリオ"/>
              </a:rPr>
              <a:t>・事前の利用申請が不要になり、通常のMessaging API開発フローの中でそのまま利用可能に</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・該当なし（Messaging APIの利用範囲内）</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・一般提供開始済み</a:t>
            </a:r>
          </a:p>
          <a:p>
            <a:pPr>
              <a:lnSpc>
                <a:spcPct val="120000"/>
              </a:lnSpc>
              <a:spcAft>
                <a:spcPts val="300"/>
              </a:spcAft>
            </a:pPr>
            <a:r>
              <a:rPr sz="1000">
                <a:solidFill>
                  <a:srgbClr val="343434"/>
                </a:solidFill>
                <a:latin typeface="メイリオ"/>
                <a:ea typeface="メイリオ"/>
                <a:cs typeface="メイリオ"/>
              </a:rPr>
              <a:t>・仕様：developers.line.biz/ja/docs/messaging-api/mark-as-read/</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・CS・チャットツールと連携した運用で、既読管理の自動化に活用できる</a:t>
            </a:r>
          </a:p>
          <a:p>
            <a:pPr>
              <a:lnSpc>
                <a:spcPct val="120000"/>
              </a:lnSpc>
              <a:spcAft>
                <a:spcPts val="300"/>
              </a:spcAft>
            </a:pPr>
            <a:r>
              <a:rPr sz="1000">
                <a:solidFill>
                  <a:srgbClr val="343434"/>
                </a:solidFill>
                <a:latin typeface="メイリオ"/>
                <a:ea typeface="メイリオ"/>
                <a:cs typeface="メイリオ"/>
              </a:rPr>
              <a:t>・旧既読API（LBPM経由の申請制）を使っていた案件は新APIへの移行を検討</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出典：https://workers-hub.box.com/s/nxgvv2ejax65j6cadz7gdsdalxd8zioa</a:t>
            </a:r>
          </a:p>
        </p:txBody>
      </p:sp>
    </p:spTree>
    <p:extLst>
      <p:ext uri="{BB962C8B-B14F-4D97-AF65-F5344CB8AC3E}">
        <p14:creationId xmlns:p14="http://schemas.microsoft.com/office/powerpoint/2010/main" val="16457041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LINE公式アカウント「分析」データ参照期間 過去36カ月に変更</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「分析」タブの参照期間が過去36カ月までに変更予定。※社外告知は延期中、日程未確定につき最新情報を要確認。</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・Web版管理画面／管理アプリの「分析」タブで確認できる実績値の参照期間を過去36カ月までに変更</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・該当なし</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・リリース日：2026年11月頃（予定）</a:t>
            </a:r>
          </a:p>
          <a:p>
            <a:pPr>
              <a:lnSpc>
                <a:spcPct val="120000"/>
              </a:lnSpc>
              <a:spcAft>
                <a:spcPts val="300"/>
              </a:spcAft>
            </a:pPr>
            <a:r>
              <a:rPr sz="1000">
                <a:solidFill>
                  <a:srgbClr val="343434"/>
                </a:solidFill>
                <a:latin typeface="メイリオ"/>
                <a:ea typeface="メイリオ"/>
                <a:cs typeface="メイリオ"/>
              </a:rPr>
              <a:t>・社外告知：当初9/2予定だったが内容変更の可能性ありいったん延期。改めて案内予定</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・36カ月より前の実績データが必要なクライアントには変更前の確認・保存を案内</a:t>
            </a:r>
          </a:p>
          <a:p>
            <a:pPr>
              <a:lnSpc>
                <a:spcPct val="120000"/>
              </a:lnSpc>
              <a:spcAft>
                <a:spcPts val="300"/>
              </a:spcAft>
            </a:pPr>
            <a:r>
              <a:rPr sz="1000">
                <a:solidFill>
                  <a:srgbClr val="343434"/>
                </a:solidFill>
                <a:latin typeface="メイリオ"/>
                <a:ea typeface="メイリオ"/>
                <a:cs typeface="メイリオ"/>
              </a:rPr>
              <a:t>・告知日程が流動的なため最新情報を要確認</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出典：https://workers-hub.box.com/s/ms8iztyci2dn5z2qna88rklxwxp7o5ja</a:t>
            </a:r>
          </a:p>
        </p:txBody>
      </p:sp>
    </p:spTree>
    <p:extLst>
      <p:ext uri="{BB962C8B-B14F-4D97-AF65-F5344CB8AC3E}">
        <p14:creationId xmlns:p14="http://schemas.microsoft.com/office/powerpoint/2010/main" val="35653296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プロモーションスタンプ 効果改善アップデート</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LINEキーボードのサジェスト機能で無料スタンプが表示される条件が緩和され、全ユーザーに表示可能に。DL数は平均+5.63%増加。</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・サジェスト面での無料スタンプ表示ユーザー条件を緩和し全ユーザーに表示されるよう変更</a:t>
            </a:r>
          </a:p>
          <a:p>
            <a:pPr>
              <a:lnSpc>
                <a:spcPct val="120000"/>
              </a:lnSpc>
              <a:spcAft>
                <a:spcPts val="300"/>
              </a:spcAft>
            </a:pPr>
            <a:r>
              <a:rPr sz="1000">
                <a:solidFill>
                  <a:srgbClr val="343434"/>
                </a:solidFill>
                <a:latin typeface="メイリオ"/>
                <a:ea typeface="メイリオ"/>
                <a:cs typeface="メイリオ"/>
              </a:rPr>
              <a:t>・配信中の案件を含む全案件に自動適用（広告主・案件側の対応は不要）</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・追加費用なし（自動適用）</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・リリース日：2026年8月28日（金）</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・A/Bテスト結果：1案件あたり平均DL数+5.63%増</a:t>
            </a:r>
          </a:p>
          <a:p>
            <a:pPr>
              <a:lnSpc>
                <a:spcPct val="120000"/>
              </a:lnSpc>
              <a:spcAft>
                <a:spcPts val="300"/>
              </a:spcAft>
            </a:pPr>
            <a:r>
              <a:rPr sz="1000">
                <a:solidFill>
                  <a:srgbClr val="343434"/>
                </a:solidFill>
                <a:latin typeface="メイリオ"/>
                <a:ea typeface="メイリオ"/>
                <a:cs typeface="メイリオ"/>
              </a:rPr>
              <a:t>・直近18ヶ月DL履歴のないユーザーでも約2倍のDL、普段DLしない層への到達も改善</a:t>
            </a:r>
          </a:p>
          <a:p>
            <a:pPr>
              <a:lnSpc>
                <a:spcPct val="120000"/>
              </a:lnSpc>
              <a:spcAft>
                <a:spcPts val="300"/>
              </a:spcAft>
            </a:pPr>
            <a:r>
              <a:rPr sz="1000">
                <a:solidFill>
                  <a:srgbClr val="343434"/>
                </a:solidFill>
                <a:latin typeface="メイリオ"/>
                <a:ea typeface="メイリオ"/>
                <a:cs typeface="メイリオ"/>
              </a:rPr>
              <a:t>・運用中クライアントへの実績報告・追加提案の材料に使える</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出典：https://workers-hub.box.com/s/rgfhp6hxyusj7domi1irjx68jld23k9r</a:t>
            </a:r>
          </a:p>
        </p:txBody>
      </p:sp>
    </p:spTree>
    <p:extLst>
      <p:ext uri="{BB962C8B-B14F-4D97-AF65-F5344CB8AC3E}">
        <p14:creationId xmlns:p14="http://schemas.microsoft.com/office/powerpoint/2010/main" val="99384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友だち追加オプション 複数アカウント対応</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1つのLINEミニアプリに連携するLINE公式アカウントを複数設定できるようになる。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・LINEミニアプリと連携するLINE公式アカウントを複数設定可能に</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・リリース予定日：9月2日</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・複数ブランド・複数拠点アカウントを運用するクライアントの友だち獲得導線が広がる</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出典：https://workers-hub.box.com/s/ko2jjwgxk5fs18ejrs97fvfqv3bm3089</a:t>
            </a:r>
          </a:p>
        </p:txBody>
      </p:sp>
    </p:spTree>
    <p:extLst>
      <p:ext uri="{BB962C8B-B14F-4D97-AF65-F5344CB8AC3E}">
        <p14:creationId xmlns:p14="http://schemas.microsoft.com/office/powerpoint/2010/main" val="38402223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LINEオープンキャンペーン 26年10-12月 期間限定キャンペーン</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2026年10月20日〜12月25日に終了する案件限定で、特別価格・特別期間・特別通数の3特典が適用される。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・対象：2026年10月20日開始〜12月25日までに終了する案件限定</a:t>
            </a:r>
          </a:p>
          <a:p>
            <a:pPr>
              <a:lnSpc>
                <a:spcPct val="120000"/>
              </a:lnSpc>
              <a:spcAft>
                <a:spcPts val="300"/>
              </a:spcAft>
            </a:pPr>
            <a:r>
              <a:rPr sz="1000">
                <a:solidFill>
                  <a:srgbClr val="343434"/>
                </a:solidFill>
                <a:latin typeface="メイリオ"/>
                <a:ea typeface="メイリオ"/>
                <a:cs typeface="メイリオ"/>
              </a:rPr>
              <a:t>・景品はLINEポイント</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・特典①特別価格：基本費用（キャンペーン価格）1,500万円</a:t>
            </a:r>
          </a:p>
          <a:p>
            <a:pPr>
              <a:lnSpc>
                <a:spcPct val="120000"/>
              </a:lnSpc>
              <a:spcAft>
                <a:spcPts val="300"/>
              </a:spcAft>
            </a:pPr>
            <a:r>
              <a:rPr sz="1000">
                <a:solidFill>
                  <a:srgbClr val="343434"/>
                </a:solidFill>
                <a:latin typeface="メイリオ"/>
                <a:ea typeface="メイリオ"/>
                <a:cs typeface="メイリオ"/>
              </a:rPr>
              <a:t>・特典②特別掲載期間：キャンペーン掲載期間15日間</a:t>
            </a:r>
          </a:p>
          <a:p>
            <a:pPr>
              <a:lnSpc>
                <a:spcPct val="120000"/>
              </a:lnSpc>
              <a:spcAft>
                <a:spcPts val="300"/>
              </a:spcAft>
            </a:pPr>
            <a:r>
              <a:rPr sz="1000">
                <a:solidFill>
                  <a:srgbClr val="343434"/>
                </a:solidFill>
                <a:latin typeface="メイリオ"/>
                <a:ea typeface="メイリオ"/>
                <a:cs typeface="メイリオ"/>
              </a:rPr>
              <a:t>・特典③特別通数：告知メッセージ（1通）の通数150万通増量（最大1,050万通）</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・キャンペーン期間：2026年10月20日〜12月25日終了の案件が対象</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・期間限定・条件限定のため、対象クライアントへは早めの提案・申込誘導が必要</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出典：https://workers-hub.box.com/s/odilqpe44tp398zlfko148yggcgj68ny</a:t>
            </a:r>
          </a:p>
        </p:txBody>
      </p:sp>
    </p:spTree>
    <p:extLst>
      <p:ext uri="{BB962C8B-B14F-4D97-AF65-F5344CB8AC3E}">
        <p14:creationId xmlns:p14="http://schemas.microsoft.com/office/powerpoint/2010/main" val="24476818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 Sales Promotion Manager 利用停止期間</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データベース管理システムのスケール最適化のため、LINEで応募の管理画面が一時利用停止となる。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・データベース管理システムのスケール最適化実施のため対象期間中は管理画面が利用停止</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・該当なし</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・社外への案内開始日・リリース日：2026年9月2日</a:t>
            </a:r>
          </a:p>
          <a:p>
            <a:pPr>
              <a:lnSpc>
                <a:spcPct val="120000"/>
              </a:lnSpc>
              <a:spcAft>
                <a:spcPts val="300"/>
              </a:spcAft>
            </a:pPr>
            <a:r>
              <a:rPr sz="1000">
                <a:solidFill>
                  <a:srgbClr val="343434"/>
                </a:solidFill>
                <a:latin typeface="メイリオ"/>
                <a:ea typeface="メイリオ"/>
                <a:cs typeface="メイリオ"/>
              </a:rPr>
              <a:t>・－（停止期間の具体的な日時は要確認）</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・停止期間中は応募管理・当選者確認等の作業ができない</a:t>
            </a:r>
          </a:p>
          <a:p>
            <a:pPr>
              <a:lnSpc>
                <a:spcPct val="120000"/>
              </a:lnSpc>
              <a:spcAft>
                <a:spcPts val="300"/>
              </a:spcAft>
            </a:pPr>
            <a:r>
              <a:rPr sz="1000">
                <a:solidFill>
                  <a:srgbClr val="343434"/>
                </a:solidFill>
                <a:latin typeface="メイリオ"/>
                <a:ea typeface="メイリオ"/>
                <a:cs typeface="メイリオ"/>
              </a:rPr>
              <a:t>・稼働中キャンペーンがあるクライアントには事前周知が必要</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出典：https://workers-hub.box.com/s/mo3y54qld9vj4kung0c4040z41mfhoip</a:t>
            </a:r>
          </a:p>
        </p:txBody>
      </p:sp>
    </p:spTree>
    <p:extLst>
      <p:ext uri="{BB962C8B-B14F-4D97-AF65-F5344CB8AC3E}">
        <p14:creationId xmlns:p14="http://schemas.microsoft.com/office/powerpoint/2010/main" val="2634601906"/>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141439</TotalTime>
  <Words>9951</Words>
  <Application>Microsoft Office PowerPoint</Application>
  <PresentationFormat>A4 210 x 297 mm</PresentationFormat>
  <Paragraphs>2143</Paragraphs>
  <Slides>62</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62</vt:i4>
      </vt:variant>
    </vt:vector>
  </HeadingPairs>
  <TitlesOfParts>
    <vt:vector size="69"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佐村 徳人</cp:lastModifiedBy>
  <cp:revision>1913</cp:revision>
  <cp:lastPrinted>2022-11-01T11:38:14Z</cp:lastPrinted>
  <dcterms:created xsi:type="dcterms:W3CDTF">2015-09-04T09:21:15Z</dcterms:created>
  <dcterms:modified xsi:type="dcterms:W3CDTF">2026-07-14T03:55:58Z</dcterms:modified>
</cp:coreProperties>
</file>