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 id="264" r:id="rId11"/>
    <p:sldId id="265" r:id="rId10"/>
    <p:sldId id="266" r:id="rId9"/>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11.xml"/><Relationship Id="rId10" Type="http://schemas.openxmlformats.org/officeDocument/2006/relationships/slide" Target="slides/slide10.xml"/><Relationship Id="rId11" Type="http://schemas.openxmlformats.org/officeDocument/2006/relationships/slide" Target="slides/slide9.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メイリオ"/>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P.5　　【LINEプロモーションスタンプ】アップデート内容</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P.6　　【LINEプロモーションスタンプ】インパクト</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P.7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P.8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P.9　　【LINEオープンキャンペーン】特典内容</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P.10　　【LINEオープンキャンペーン】実施スケジュール</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P.11　　【LINEオープンキャンペーン】注意点・ご利用条件</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メイリオ"/>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pic>
        <p:nvPicPr>
          <p:cNvPr id="63" name="Picture 62" descr="topic1.png"/>
          <p:cNvPicPr>
            <a:picLocks noChangeAspect="1"/>
          </p:cNvPicPr>
          <p:nvPr/>
        </p:nvPicPr>
        <p:blipFill>
          <a:blip r:embed="rId4"/>
          <a:stretch>
            <a:fillRect/>
          </a:stretch>
        </p:blipFill>
        <p:spPr>
          <a:xfrm>
            <a:off x="2161168" y="3068960"/>
            <a:ext cx="609276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2.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【LINEプロモーションスタンプ】アップデート内容</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443484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333333"/>
                </a:solidFill>
                <a:latin typeface="メイリオ"/>
              </a:rPr>
              <a:t>AS-IS</a:t>
            </a:r>
          </a:p>
        </p:txBody>
      </p:sp>
      <p:sp>
        <p:nvSpPr>
          <p:cNvPr id="64" name="Rectangle 63"/>
          <p:cNvSpPr/>
          <p:nvPr/>
        </p:nvSpPr>
        <p:spPr>
          <a:xfrm>
            <a:off x="544108" y="3343280"/>
            <a:ext cx="4434840"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800" b="1">
                <a:solidFill>
                  <a:srgbClr val="15133D"/>
                </a:solidFill>
                <a:latin typeface="メイリオ"/>
              </a:rPr>
              <a:t>一部のユーザーにのみ表示</a:t>
            </a:r>
          </a:p>
        </p:txBody>
      </p:sp>
      <p:sp>
        <p:nvSpPr>
          <p:cNvPr id="65" name="TextBox 64"/>
          <p:cNvSpPr txBox="1"/>
          <p:nvPr/>
        </p:nvSpPr>
        <p:spPr>
          <a:xfrm>
            <a:off x="4978948"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5436148" y="3068960"/>
            <a:ext cx="4434840"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TO-BE</a:t>
            </a:r>
          </a:p>
        </p:txBody>
      </p:sp>
      <p:sp>
        <p:nvSpPr>
          <p:cNvPr id="67" name="Rectangle 66"/>
          <p:cNvSpPr/>
          <p:nvPr/>
        </p:nvSpPr>
        <p:spPr>
          <a:xfrm>
            <a:off x="5436148" y="3343280"/>
            <a:ext cx="4434840"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600" b="1">
                <a:solidFill>
                  <a:srgbClr val="15133D"/>
                </a:solidFill>
                <a:latin typeface="メイリオ"/>
              </a:rPr>
              <a:t>すべてのユーザーに表示</a:t>
            </a:r>
          </a:p>
          <a:p>
            <a:pPr>
              <a:lnSpc>
                <a:spcPct val="110000"/>
              </a:lnSpc>
              <a:spcBef>
                <a:spcPts val="500"/>
              </a:spcBef>
            </a:pPr>
            <a:r>
              <a:rPr sz="1050">
                <a:solidFill>
                  <a:srgbClr val="333333"/>
                </a:solidFill>
                <a:latin typeface="メイリオ"/>
              </a:rPr>
              <a:t>※これまで対象外だったユーザーにもリーチ可能</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届かなかった層にも自動でリーチ</a:t>
            </a:r>
          </a:p>
          <a:p>
            <a:pPr algn="l">
              <a:lnSpc>
                <a:spcPct val="115000"/>
              </a:lnSpc>
              <a:spcBef>
                <a:spcPts val="600"/>
              </a:spcBef>
            </a:pPr>
            <a:r>
              <a:rPr sz="1100">
                <a:solidFill>
                  <a:srgbClr val="333333"/>
                </a:solidFill>
                <a:latin typeface="メイリオ"/>
              </a:rPr>
              <a:t>表示対象が「一部」→「全ユーザー」に拡大されたことで、これまで接点を持てなかった層にも自動的にアプローチできる。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設定変更・追加費用は一切不要</a:t>
            </a:r>
          </a:p>
          <a:p>
            <a:pPr algn="l">
              <a:lnSpc>
                <a:spcPct val="115000"/>
              </a:lnSpc>
              <a:spcBef>
                <a:spcPts val="600"/>
              </a:spcBef>
            </a:pPr>
            <a:r>
              <a:rPr sz="1100">
                <a:solidFill>
                  <a:srgbClr val="333333"/>
                </a:solidFill>
                <a:latin typeface="メイリオ"/>
              </a:rPr>
              <a:t>配信中の案件にも自動適用。広告主様・案件側での対応は一切不要で、即日から効果を享受できる。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【LINEプロモーションスタンプ】インパクト</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ounded Rectangle 62"/>
          <p:cNvSpPr/>
          <p:nvPr/>
        </p:nvSpPr>
        <p:spPr>
          <a:xfrm>
            <a:off x="54410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+5.63%</a:t>
            </a:r>
          </a:p>
          <a:p>
            <a:pPr algn="ctr">
              <a:spcBef>
                <a:spcPts val="200"/>
              </a:spcBef>
            </a:pPr>
            <a:r>
              <a:rPr sz="1100" b="1">
                <a:solidFill>
                  <a:srgbClr val="3467B2"/>
                </a:solidFill>
                <a:latin typeface="メイリオ"/>
              </a:rPr>
              <a:t>DL数</a:t>
            </a:r>
          </a:p>
          <a:p>
            <a:pPr algn="ctr">
              <a:spcBef>
                <a:spcPts val="200"/>
              </a:spcBef>
            </a:pPr>
            <a:r>
              <a:rPr sz="800">
                <a:solidFill>
                  <a:srgbClr val="333333"/>
                </a:solidFill>
                <a:latin typeface="メイリオ"/>
              </a:rPr>
              <a:t>全ダウンロード経路合計・現行条件比較</a:t>
            </a:r>
          </a:p>
        </p:txBody>
      </p:sp>
      <p:sp>
        <p:nvSpPr>
          <p:cNvPr id="64" name="Rounded Rectangle 63"/>
          <p:cNvSpPr/>
          <p:nvPr/>
        </p:nvSpPr>
        <p:spPr>
          <a:xfrm>
            <a:off x="291011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74.6%</a:t>
            </a:r>
          </a:p>
          <a:p>
            <a:pPr algn="ctr">
              <a:spcBef>
                <a:spcPts val="200"/>
              </a:spcBef>
            </a:pPr>
            <a:r>
              <a:rPr sz="1100" b="1">
                <a:solidFill>
                  <a:srgbClr val="3467B2"/>
                </a:solidFill>
                <a:latin typeface="メイリオ"/>
              </a:rPr>
              <a:t>友だち追加率</a:t>
            </a:r>
          </a:p>
          <a:p>
            <a:pPr algn="ctr">
              <a:spcBef>
                <a:spcPts val="200"/>
              </a:spcBef>
            </a:pPr>
            <a:r>
              <a:rPr sz="800">
                <a:solidFill>
                  <a:srgbClr val="333333"/>
                </a:solidFill>
                <a:latin typeface="メイリオ"/>
              </a:rPr>
              <a:t>プロダクト平均約60%を上回る</a:t>
            </a:r>
          </a:p>
        </p:txBody>
      </p:sp>
      <p:sp>
        <p:nvSpPr>
          <p:cNvPr id="65" name="Rounded Rectangle 64"/>
          <p:cNvSpPr/>
          <p:nvPr/>
        </p:nvSpPr>
        <p:spPr>
          <a:xfrm>
            <a:off x="527612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9.53%</a:t>
            </a:r>
          </a:p>
          <a:p>
            <a:pPr algn="ctr">
              <a:spcBef>
                <a:spcPts val="200"/>
              </a:spcBef>
            </a:pPr>
            <a:r>
              <a:rPr sz="1100" b="1">
                <a:solidFill>
                  <a:srgbClr val="3467B2"/>
                </a:solidFill>
                <a:latin typeface="メイリオ"/>
              </a:rPr>
              <a:t>当日ブロック率</a:t>
            </a:r>
          </a:p>
          <a:p>
            <a:pPr algn="ctr">
              <a:spcBef>
                <a:spcPts val="200"/>
              </a:spcBef>
            </a:pPr>
            <a:r>
              <a:rPr sz="800">
                <a:solidFill>
                  <a:srgbClr val="333333"/>
                </a:solidFill>
                <a:latin typeface="メイリオ"/>
              </a:rPr>
              <a:t>プロダクト平均約22%の半分以下</a:t>
            </a:r>
          </a:p>
        </p:txBody>
      </p:sp>
      <p:sp>
        <p:nvSpPr>
          <p:cNvPr id="66" name="Rounded Rectangle 65"/>
          <p:cNvSpPr/>
          <p:nvPr/>
        </p:nvSpPr>
        <p:spPr>
          <a:xfrm>
            <a:off x="764213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約3.0倍</a:t>
            </a:r>
          </a:p>
          <a:p>
            <a:pPr algn="ctr">
              <a:spcBef>
                <a:spcPts val="200"/>
              </a:spcBef>
            </a:pPr>
            <a:r>
              <a:rPr sz="1100" b="1">
                <a:solidFill>
                  <a:srgbClr val="3467B2"/>
                </a:solidFill>
                <a:latin typeface="メイリオ"/>
              </a:rPr>
              <a:t>改善倍率（最大）</a:t>
            </a:r>
          </a:p>
          <a:p>
            <a:pPr algn="ctr">
              <a:spcBef>
                <a:spcPts val="200"/>
              </a:spcBef>
            </a:pPr>
            <a:r>
              <a:rPr sz="800">
                <a:solidFill>
                  <a:srgbClr val="333333"/>
                </a:solidFill>
                <a:latin typeface="メイリオ"/>
              </a:rPr>
              <a:t>過去6〜18ヶ月DLなし層</a:t>
            </a:r>
          </a:p>
        </p:txBody>
      </p:sp>
      <p:graphicFrame>
        <p:nvGraphicFramePr>
          <p:cNvPr id="67" name="Table 66"/>
          <p:cNvGraphicFramePr>
            <a:graphicFrameLocks noGrp="1"/>
          </p:cNvGraphicFramePr>
          <p:nvPr/>
        </p:nvGraphicFramePr>
        <p:xfrm>
          <a:off x="544108" y="4623440"/>
          <a:ext cx="9326880" cy="822960"/>
        </p:xfrm>
        <a:graphic>
          <a:graphicData uri="http://schemas.openxmlformats.org/drawingml/2006/table">
            <a:tbl>
              <a:tblPr firstRow="1" bandRow="1">
                <a:tableStyleId>{5C22544A-7EE6-4342-B048-85BDC9FD1C3A}</a:tableStyleId>
              </a:tblPr>
              <a:tblGrid>
                <a:gridCol w="2331720"/>
                <a:gridCol w="2331720"/>
                <a:gridCol w="2331720"/>
                <a:gridCol w="2331720"/>
              </a:tblGrid>
              <a:tr h="411480">
                <a:tc>
                  <a:txBody>
                    <a:bodyPr/>
                    <a:lstStyle/>
                    <a:p>
                      <a:pPr algn="ctr"/>
                      <a:r>
                        <a:rPr sz="900" b="1">
                          <a:solidFill>
                            <a:srgbClr val="FFFFFF"/>
                          </a:solidFill>
                          <a:latin typeface="メイリオ"/>
                        </a:rPr>
                        <a:t>過去3ヶ月以内にDL</a:t>
                      </a:r>
                    </a:p>
                  </a:txBody>
                  <a:tcPr anchor="ctr">
                    <a:solidFill>
                      <a:srgbClr val="15133D"/>
                    </a:solidFill>
                  </a:tcPr>
                </a:tc>
                <a:tc>
                  <a:txBody>
                    <a:bodyPr/>
                    <a:lstStyle/>
                    <a:p>
                      <a:pPr algn="ctr"/>
                      <a:r>
                        <a:rPr sz="900" b="1">
                          <a:solidFill>
                            <a:srgbClr val="FFFFFF"/>
                          </a:solidFill>
                          <a:latin typeface="メイリオ"/>
                        </a:rPr>
                        <a:t>過去3〜6ヶ月にDL</a:t>
                      </a:r>
                    </a:p>
                  </a:txBody>
                  <a:tcPr anchor="ctr">
                    <a:solidFill>
                      <a:srgbClr val="15133D"/>
                    </a:solidFill>
                  </a:tcPr>
                </a:tc>
                <a:tc>
                  <a:txBody>
                    <a:bodyPr/>
                    <a:lstStyle/>
                    <a:p>
                      <a:pPr algn="ctr"/>
                      <a:r>
                        <a:rPr sz="900" b="1">
                          <a:solidFill>
                            <a:srgbClr val="FFFFFF"/>
                          </a:solidFill>
                          <a:latin typeface="メイリオ"/>
                        </a:rPr>
                        <a:t>過去6〜18ヶ月にDL</a:t>
                      </a:r>
                    </a:p>
                  </a:txBody>
                  <a:tcPr anchor="ctr">
                    <a:solidFill>
                      <a:srgbClr val="15133D"/>
                    </a:solidFill>
                  </a:tcPr>
                </a:tc>
                <a:tc>
                  <a:txBody>
                    <a:bodyPr/>
                    <a:lstStyle/>
                    <a:p>
                      <a:pPr algn="ctr"/>
                      <a:r>
                        <a:rPr sz="900" b="1">
                          <a:solidFill>
                            <a:srgbClr val="FFFFFF"/>
                          </a:solidFill>
                          <a:latin typeface="メイリオ"/>
                        </a:rPr>
                        <a:t>過去18ヶ月以内DLなし</a:t>
                      </a:r>
                    </a:p>
                  </a:txBody>
                  <a:tcPr anchor="ctr">
                    <a:solidFill>
                      <a:srgbClr val="15133D"/>
                    </a:solidFill>
                  </a:tcPr>
                </a:tc>
              </a:tr>
              <a:tr h="411480">
                <a:tc>
                  <a:txBody>
                    <a:bodyPr/>
                    <a:lstStyle/>
                    <a:p>
                      <a:pPr algn="ctr"/>
                      <a:r>
                        <a:rPr sz="1400" b="1">
                          <a:solidFill>
                            <a:srgbClr val="15133D"/>
                          </a:solidFill>
                          <a:latin typeface="メイリオ"/>
                        </a:rPr>
                        <a:t>約1.7倍</a:t>
                      </a:r>
                    </a:p>
                  </a:txBody>
                  <a:tcPr anchor="ctr">
                    <a:solidFill>
                      <a:srgbClr val="EAF0FA"/>
                    </a:solidFill>
                  </a:tcPr>
                </a:tc>
                <a:tc>
                  <a:txBody>
                    <a:bodyPr/>
                    <a:lstStyle/>
                    <a:p>
                      <a:pPr algn="ctr"/>
                      <a:r>
                        <a:rPr sz="1400" b="1">
                          <a:solidFill>
                            <a:srgbClr val="15133D"/>
                          </a:solidFill>
                          <a:latin typeface="メイリオ"/>
                        </a:rPr>
                        <a:t>約2.8倍</a:t>
                      </a:r>
                    </a:p>
                  </a:txBody>
                  <a:tcPr anchor="ctr">
                    <a:solidFill>
                      <a:srgbClr val="EAF0FA"/>
                    </a:solidFill>
                  </a:tcPr>
                </a:tc>
                <a:tc>
                  <a:txBody>
                    <a:bodyPr/>
                    <a:lstStyle/>
                    <a:p>
                      <a:pPr algn="ctr"/>
                      <a:r>
                        <a:rPr sz="1400" b="1">
                          <a:solidFill>
                            <a:srgbClr val="15133D"/>
                          </a:solidFill>
                          <a:latin typeface="メイリオ"/>
                        </a:rPr>
                        <a:t>約3.0倍</a:t>
                      </a:r>
                    </a:p>
                  </a:txBody>
                  <a:tcPr anchor="ctr">
                    <a:solidFill>
                      <a:srgbClr val="EAF0FA"/>
                    </a:solidFill>
                  </a:tcPr>
                </a:tc>
                <a:tc>
                  <a:txBody>
                    <a:bodyPr/>
                    <a:lstStyle/>
                    <a:p>
                      <a:pPr algn="ctr"/>
                      <a:r>
                        <a:rPr sz="1400" b="1">
                          <a:solidFill>
                            <a:srgbClr val="15133D"/>
                          </a:solidFill>
                          <a:latin typeface="メイリオ"/>
                        </a:rPr>
                        <a:t>約2.1倍</a:t>
                      </a:r>
                    </a:p>
                  </a:txBody>
                  <a:tcPr anchor="ctr">
                    <a:solidFill>
                      <a:srgbClr val="EAF0FA"/>
                    </a:solidFill>
                  </a:tcPr>
                </a:tc>
              </a:tr>
            </a:tbl>
          </a:graphicData>
        </a:graphic>
      </p:graphicFrame>
      <p:sp>
        <p:nvSpPr>
          <p:cNvPr id="68" name="Rounded Rectangle 67"/>
          <p:cNvSpPr/>
          <p:nvPr/>
        </p:nvSpPr>
        <p:spPr>
          <a:xfrm>
            <a:off x="544108" y="5629280"/>
            <a:ext cx="9326880" cy="7772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活用メリット</a:t>
            </a:r>
          </a:p>
          <a:p>
            <a:pPr algn="l">
              <a:lnSpc>
                <a:spcPct val="115000"/>
              </a:lnSpc>
              <a:spcBef>
                <a:spcPts val="600"/>
              </a:spcBef>
            </a:pPr>
            <a:r>
              <a:rPr sz="1100">
                <a:solidFill>
                  <a:srgbClr val="333333"/>
                </a:solidFill>
                <a:latin typeface="メイリオ"/>
              </a:rPr>
              <a:t>この実績数字を使って、運用中クライアントへの追加提案・実績報告ができる。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4.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5.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【LINEオープンキャンペーン】特典内容</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基本費用・掲載期間・配信通数の3点が特別条件になるキャンペーン。</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354787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333333"/>
                </a:solidFill>
                <a:latin typeface="メイリオ"/>
              </a:rPr>
              <a:t>AS-IS</a:t>
            </a:r>
          </a:p>
        </p:txBody>
      </p:sp>
      <p:sp>
        <p:nvSpPr>
          <p:cNvPr id="64" name="Rectangle 63"/>
          <p:cNvSpPr/>
          <p:nvPr/>
        </p:nvSpPr>
        <p:spPr>
          <a:xfrm>
            <a:off x="544108" y="3343280"/>
            <a:ext cx="3547872"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300" b="1">
                <a:solidFill>
                  <a:srgbClr val="15133D"/>
                </a:solidFill>
                <a:latin typeface="メイリオ"/>
              </a:rPr>
              <a:t>通常プラン｜基本費用1,800万円・掲載期間7日間・配信900万通</a:t>
            </a:r>
          </a:p>
        </p:txBody>
      </p:sp>
      <p:sp>
        <p:nvSpPr>
          <p:cNvPr id="65" name="TextBox 64"/>
          <p:cNvSpPr txBox="1"/>
          <p:nvPr/>
        </p:nvSpPr>
        <p:spPr>
          <a:xfrm>
            <a:off x="4091980"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4549180" y="3068960"/>
            <a:ext cx="5321808"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TO-BE</a:t>
            </a:r>
          </a:p>
        </p:txBody>
      </p:sp>
      <p:sp>
        <p:nvSpPr>
          <p:cNvPr id="67" name="Rectangle 66"/>
          <p:cNvSpPr/>
          <p:nvPr/>
        </p:nvSpPr>
        <p:spPr>
          <a:xfrm>
            <a:off x="4549180" y="3343280"/>
            <a:ext cx="5321808"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2200" b="1">
                <a:solidFill>
                  <a:srgbClr val="15133D"/>
                </a:solidFill>
                <a:latin typeface="メイリオ"/>
              </a:rPr>
              <a:t>特別プラン｜基本費用1,500万円</a:t>
            </a:r>
          </a:p>
          <a:p>
            <a:pPr>
              <a:lnSpc>
                <a:spcPct val="110000"/>
              </a:lnSpc>
              <a:spcBef>
                <a:spcPts val="500"/>
              </a:spcBef>
            </a:pPr>
            <a:r>
              <a:rPr sz="1050">
                <a:solidFill>
                  <a:srgbClr val="333333"/>
                </a:solidFill>
                <a:latin typeface="メイリオ"/>
              </a:rPr>
              <a:t>掲載期間15日間・配信1,050万通に拡大</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特別価格で提案しやすい</a:t>
            </a:r>
          </a:p>
          <a:p>
            <a:pPr algn="l">
              <a:lnSpc>
                <a:spcPct val="115000"/>
              </a:lnSpc>
              <a:spcBef>
                <a:spcPts val="600"/>
              </a:spcBef>
            </a:pPr>
            <a:r>
              <a:rPr sz="1100">
                <a:solidFill>
                  <a:srgbClr val="333333"/>
                </a:solidFill>
                <a:latin typeface="メイリオ"/>
              </a:rPr>
              <a:t>基本費用が1,800万円→1,500万円に。期間限定の特別プランとして提案の後押しになる。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景品はLINEポイント2pt総付</a:t>
            </a:r>
          </a:p>
          <a:p>
            <a:pPr algn="l">
              <a:lnSpc>
                <a:spcPct val="115000"/>
              </a:lnSpc>
              <a:spcBef>
                <a:spcPts val="600"/>
              </a:spcBef>
            </a:pPr>
            <a:r>
              <a:rPr sz="1100">
                <a:solidFill>
                  <a:srgbClr val="333333"/>
                </a:solidFill>
                <a:latin typeface="メイリオ"/>
              </a:rPr>
              <a:t>応募者全員にLINEポイント2ptを進呈するアンケート型キャンペーン。対象はLINE公式アカウント・Messaging API対応かつ認証プロバイダー必須。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【LINEオープンキャンペーン】実施スケジュール</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申込みから掲載開始まで、審査・枠おさえ・入稿の3段階を経る。</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配信枠は早い者勝ちのため、各締切の厳守が前提条件になる。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土日祝日の掲載開始は不可なので、平日での日程調整が必要。</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30営業日前</a:t>
            </a:r>
          </a:p>
        </p:txBody>
      </p:sp>
      <p:sp>
        <p:nvSpPr>
          <p:cNvPr id="64" name="Rectangle 63"/>
          <p:cNvSpPr/>
          <p:nvPr/>
        </p:nvSpPr>
        <p:spPr>
          <a:xfrm>
            <a:off x="54410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企業・商材審査／企画審査</a:t>
            </a:r>
          </a:p>
        </p:txBody>
      </p:sp>
      <p:sp>
        <p:nvSpPr>
          <p:cNvPr id="65" name="TextBox 64"/>
          <p:cNvSpPr txBox="1"/>
          <p:nvPr/>
        </p:nvSpPr>
        <p:spPr>
          <a:xfrm>
            <a:off x="263579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66" name="Rectangle 65"/>
          <p:cNvSpPr/>
          <p:nvPr/>
        </p:nvSpPr>
        <p:spPr>
          <a:xfrm>
            <a:off x="295583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25営業日前 17時</a:t>
            </a:r>
          </a:p>
        </p:txBody>
      </p:sp>
      <p:sp>
        <p:nvSpPr>
          <p:cNvPr id="67" name="Rectangle 66"/>
          <p:cNvSpPr/>
          <p:nvPr/>
        </p:nvSpPr>
        <p:spPr>
          <a:xfrm>
            <a:off x="295583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配信枠おさえ・申込み</a:t>
            </a:r>
          </a:p>
        </p:txBody>
      </p:sp>
      <p:sp>
        <p:nvSpPr>
          <p:cNvPr id="68" name="TextBox 67"/>
          <p:cNvSpPr txBox="1"/>
          <p:nvPr/>
        </p:nvSpPr>
        <p:spPr>
          <a:xfrm>
            <a:off x="504752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69" name="Rectangle 68"/>
          <p:cNvSpPr/>
          <p:nvPr/>
        </p:nvSpPr>
        <p:spPr>
          <a:xfrm>
            <a:off x="536756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20営業日前 17時</a:t>
            </a:r>
          </a:p>
        </p:txBody>
      </p:sp>
      <p:sp>
        <p:nvSpPr>
          <p:cNvPr id="70" name="Rectangle 69"/>
          <p:cNvSpPr/>
          <p:nvPr/>
        </p:nvSpPr>
        <p:spPr>
          <a:xfrm>
            <a:off x="536756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入稿物の提出</a:t>
            </a:r>
          </a:p>
        </p:txBody>
      </p:sp>
      <p:sp>
        <p:nvSpPr>
          <p:cNvPr id="71" name="TextBox 70"/>
          <p:cNvSpPr txBox="1"/>
          <p:nvPr/>
        </p:nvSpPr>
        <p:spPr>
          <a:xfrm>
            <a:off x="745925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72" name="Rectangle 71"/>
          <p:cNvSpPr/>
          <p:nvPr/>
        </p:nvSpPr>
        <p:spPr>
          <a:xfrm>
            <a:off x="777929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開始日</a:t>
            </a:r>
          </a:p>
        </p:txBody>
      </p:sp>
      <p:sp>
        <p:nvSpPr>
          <p:cNvPr id="73" name="Rectangle 72"/>
          <p:cNvSpPr/>
          <p:nvPr/>
        </p:nvSpPr>
        <p:spPr>
          <a:xfrm>
            <a:off x="777929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掲載開始（土日祝日不可）</a:t>
            </a:r>
          </a:p>
        </p:txBody>
      </p:sp>
      <p:sp>
        <p:nvSpPr>
          <p:cNvPr id="74" name="Rounded Rectangle 73"/>
          <p:cNvSpPr/>
          <p:nvPr/>
        </p:nvSpPr>
        <p:spPr>
          <a:xfrm>
            <a:off x="544108" y="4669160"/>
            <a:ext cx="9326880" cy="9144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早めの申込みが必須</a:t>
            </a:r>
          </a:p>
          <a:p>
            <a:pPr algn="l">
              <a:lnSpc>
                <a:spcPct val="115000"/>
              </a:lnSpc>
              <a:spcBef>
                <a:spcPts val="600"/>
              </a:spcBef>
            </a:pPr>
            <a:r>
              <a:rPr sz="1100">
                <a:solidFill>
                  <a:srgbClr val="333333"/>
                </a:solidFill>
                <a:latin typeface="メイリオ"/>
              </a:rPr>
              <a:t>期間・条件限定のキャンペーンのため、早めの提案・申込み誘導がカギ。配信枠は先着で埋まるため、審査期間も見込んだ逆算スケジュールを組む。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【LINEオープンキャンペーン】注意点・ご利用条件</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キャンセル規定・割引の併用可否など、提案前に必ず確認したい4点。</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特にキャンセル規定は発注後の費用に直結するため要注意。</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景品内容は変更となる場合があり、事前の合意形成が欠かせない。</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ounded Rectangle 62"/>
          <p:cNvSpPr/>
          <p:nvPr/>
        </p:nvSpPr>
        <p:spPr>
          <a:xfrm>
            <a:off x="54410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キャンセル規定</a:t>
            </a:r>
          </a:p>
          <a:p>
            <a:pPr algn="l">
              <a:lnSpc>
                <a:spcPct val="115000"/>
              </a:lnSpc>
              <a:spcBef>
                <a:spcPts val="600"/>
              </a:spcBef>
            </a:pPr>
            <a:r>
              <a:rPr sz="1100">
                <a:solidFill>
                  <a:srgbClr val="333333"/>
                </a:solidFill>
                <a:latin typeface="メイリオ"/>
              </a:rPr>
              <a:t>発注期日超過後のキャンセルは、最低発注金額1,500万円を請求。</a:t>
            </a:r>
          </a:p>
        </p:txBody>
      </p:sp>
      <p:sp>
        <p:nvSpPr>
          <p:cNvPr id="64" name="Rounded Rectangle 63"/>
          <p:cNvSpPr/>
          <p:nvPr/>
        </p:nvSpPr>
        <p:spPr>
          <a:xfrm>
            <a:off x="529898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他割引との併用不可</a:t>
            </a:r>
          </a:p>
          <a:p>
            <a:pPr algn="l">
              <a:lnSpc>
                <a:spcPct val="115000"/>
              </a:lnSpc>
              <a:spcBef>
                <a:spcPts val="600"/>
              </a:spcBef>
            </a:pPr>
            <a:r>
              <a:rPr sz="1100">
                <a:solidFill>
                  <a:srgbClr val="333333"/>
                </a:solidFill>
                <a:latin typeface="メイリオ"/>
              </a:rPr>
              <a:t>既存の各種割引施策とは併用不可。特別プラン単体での提案が前提。</a:t>
            </a:r>
          </a:p>
        </p:txBody>
      </p:sp>
      <p:sp>
        <p:nvSpPr>
          <p:cNvPr id="65" name="Rounded Rectangle 64"/>
          <p:cNvSpPr/>
          <p:nvPr/>
        </p:nvSpPr>
        <p:spPr>
          <a:xfrm>
            <a:off x="54410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景品変更の可能性あり</a:t>
            </a:r>
          </a:p>
          <a:p>
            <a:pPr algn="l">
              <a:lnSpc>
                <a:spcPct val="115000"/>
              </a:lnSpc>
              <a:spcBef>
                <a:spcPts val="600"/>
              </a:spcBef>
            </a:pPr>
            <a:r>
              <a:rPr sz="1100">
                <a:solidFill>
                  <a:srgbClr val="333333"/>
                </a:solidFill>
                <a:latin typeface="メイリオ"/>
              </a:rPr>
              <a:t>景品はLINEポイント2pt固定だが変更となる場合があり、変更不可のお申し出は受付不可。</a:t>
            </a:r>
          </a:p>
        </p:txBody>
      </p:sp>
      <p:sp>
        <p:nvSpPr>
          <p:cNvPr id="66" name="Rounded Rectangle 65"/>
          <p:cNvSpPr/>
          <p:nvPr/>
        </p:nvSpPr>
        <p:spPr>
          <a:xfrm>
            <a:off x="529898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対象は認証プロバイダー必須</a:t>
            </a:r>
          </a:p>
          <a:p>
            <a:pPr algn="l">
              <a:lnSpc>
                <a:spcPct val="115000"/>
              </a:lnSpc>
              <a:spcBef>
                <a:spcPts val="600"/>
              </a:spcBef>
            </a:pPr>
            <a:r>
              <a:rPr sz="1100">
                <a:solidFill>
                  <a:srgbClr val="333333"/>
                </a:solidFill>
                <a:latin typeface="メイリオ"/>
              </a:rPr>
              <a:t>LINE公式アカウント・Messaging API対応かつ認証プロバイダーのアカウントが対象。</a:t>
            </a: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