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 id="264" r:id="rId11"/>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9.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メイリオ"/>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P.5　　【LINEプロモーションスタンプ】アップデート内容</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P.6　　【LINEプロモーションスタンプ】インパクト</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P.7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P.8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P.9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メイリオ"/>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pic>
        <p:nvPicPr>
          <p:cNvPr id="63" name="Picture 62" descr="topic1.png"/>
          <p:cNvPicPr>
            <a:picLocks noChangeAspect="1"/>
          </p:cNvPicPr>
          <p:nvPr/>
        </p:nvPicPr>
        <p:blipFill>
          <a:blip r:embed="rId4"/>
          <a:stretch>
            <a:fillRect/>
          </a:stretch>
        </p:blipFill>
        <p:spPr>
          <a:xfrm>
            <a:off x="2161168" y="3068960"/>
            <a:ext cx="609276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2.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【LINEプロモーションスタンプ】アップデート内容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443484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4434840"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800" b="1">
                <a:solidFill>
                  <a:srgbClr val="15133D"/>
                </a:solidFill>
                <a:latin typeface="メイリオ"/>
              </a:rPr>
              <a:t>一部のユーザーにのみ表示</a:t>
            </a:r>
          </a:p>
        </p:txBody>
      </p:sp>
      <p:sp>
        <p:nvSpPr>
          <p:cNvPr id="65" name="TextBox 64"/>
          <p:cNvSpPr txBox="1"/>
          <p:nvPr/>
        </p:nvSpPr>
        <p:spPr>
          <a:xfrm>
            <a:off x="4978948"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5436148" y="3068960"/>
            <a:ext cx="4434840"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5436148" y="3343280"/>
            <a:ext cx="4434840"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600" b="1">
                <a:solidFill>
                  <a:srgbClr val="15133D"/>
                </a:solidFill>
                <a:latin typeface="メイリオ"/>
              </a:rPr>
              <a:t>すべてのユーザーに表示</a:t>
            </a:r>
          </a:p>
          <a:p>
            <a:pPr>
              <a:lnSpc>
                <a:spcPct val="110000"/>
              </a:lnSpc>
              <a:spcBef>
                <a:spcPts val="500"/>
              </a:spcBef>
            </a:pPr>
            <a:r>
              <a:rPr sz="1050">
                <a:solidFill>
                  <a:srgbClr val="333333"/>
                </a:solidFill>
                <a:latin typeface="メイリオ"/>
              </a:rPr>
              <a:t>※これまで対象外だったユーザーにもリーチ可能</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届かなかった層にも自動でリーチ</a:t>
            </a:r>
          </a:p>
          <a:p>
            <a:pPr algn="l">
              <a:lnSpc>
                <a:spcPct val="115000"/>
              </a:lnSpc>
              <a:spcBef>
                <a:spcPts val="600"/>
              </a:spcBef>
            </a:pPr>
            <a:r>
              <a:rPr sz="1100">
                <a:solidFill>
                  <a:srgbClr val="333333"/>
                </a:solidFill>
                <a:latin typeface="メイリオ"/>
              </a:rPr>
              <a:t>表示対象が「一部」→「全ユーザー」に拡大されたことで、これまで接点を持てなかった層にも自動的にアプローチできる。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設定変更・追加費用は一切不要</a:t>
            </a:r>
          </a:p>
          <a:p>
            <a:pPr algn="l">
              <a:lnSpc>
                <a:spcPct val="115000"/>
              </a:lnSpc>
              <a:spcBef>
                <a:spcPts val="600"/>
              </a:spcBef>
            </a:pPr>
            <a:r>
              <a:rPr sz="1100">
                <a:solidFill>
                  <a:srgbClr val="333333"/>
                </a:solidFill>
                <a:latin typeface="メイリオ"/>
              </a:rPr>
              <a:t>配信中の案件にも自動適用。広告主様・案件側での対応は一切不要で、即日から効果を享受できる。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【LINEプロモーションスタンプ】インパクト</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+5.63%</a:t>
            </a:r>
          </a:p>
          <a:p>
            <a:pPr algn="ctr">
              <a:spcBef>
                <a:spcPts val="200"/>
              </a:spcBef>
            </a:pPr>
            <a:r>
              <a:rPr sz="1100" b="1">
                <a:solidFill>
                  <a:srgbClr val="3467B2"/>
                </a:solidFill>
                <a:latin typeface="メイリオ"/>
              </a:rPr>
              <a:t>DL数</a:t>
            </a:r>
          </a:p>
          <a:p>
            <a:pPr algn="ctr">
              <a:spcBef>
                <a:spcPts val="200"/>
              </a:spcBef>
            </a:pPr>
            <a:r>
              <a:rPr sz="800">
                <a:solidFill>
                  <a:srgbClr val="333333"/>
                </a:solidFill>
                <a:latin typeface="メイリオ"/>
              </a:rPr>
              <a:t>全ダウンロード経路合計・現行条件比較</a:t>
            </a:r>
          </a:p>
        </p:txBody>
      </p:sp>
      <p:sp>
        <p:nvSpPr>
          <p:cNvPr id="64" name="Rounded Rectangle 63"/>
          <p:cNvSpPr/>
          <p:nvPr/>
        </p:nvSpPr>
        <p:spPr>
          <a:xfrm>
            <a:off x="291011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74.6%</a:t>
            </a:r>
          </a:p>
          <a:p>
            <a:pPr algn="ctr">
              <a:spcBef>
                <a:spcPts val="200"/>
              </a:spcBef>
            </a:pPr>
            <a:r>
              <a:rPr sz="1100" b="1">
                <a:solidFill>
                  <a:srgbClr val="3467B2"/>
                </a:solidFill>
                <a:latin typeface="メイリオ"/>
              </a:rPr>
              <a:t>友だち追加率</a:t>
            </a:r>
          </a:p>
          <a:p>
            <a:pPr algn="ctr">
              <a:spcBef>
                <a:spcPts val="200"/>
              </a:spcBef>
            </a:pPr>
            <a:r>
              <a:rPr sz="800">
                <a:solidFill>
                  <a:srgbClr val="333333"/>
                </a:solidFill>
                <a:latin typeface="メイリオ"/>
              </a:rPr>
              <a:t>プロダクト平均約60%を上回る</a:t>
            </a:r>
          </a:p>
        </p:txBody>
      </p:sp>
      <p:sp>
        <p:nvSpPr>
          <p:cNvPr id="65" name="Rounded Rectangle 64"/>
          <p:cNvSpPr/>
          <p:nvPr/>
        </p:nvSpPr>
        <p:spPr>
          <a:xfrm>
            <a:off x="527612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9.53%</a:t>
            </a:r>
          </a:p>
          <a:p>
            <a:pPr algn="ctr">
              <a:spcBef>
                <a:spcPts val="200"/>
              </a:spcBef>
            </a:pPr>
            <a:r>
              <a:rPr sz="1100" b="1">
                <a:solidFill>
                  <a:srgbClr val="3467B2"/>
                </a:solidFill>
                <a:latin typeface="メイリオ"/>
              </a:rPr>
              <a:t>当日ブロック率</a:t>
            </a:r>
          </a:p>
          <a:p>
            <a:pPr algn="ctr">
              <a:spcBef>
                <a:spcPts val="200"/>
              </a:spcBef>
            </a:pPr>
            <a:r>
              <a:rPr sz="800">
                <a:solidFill>
                  <a:srgbClr val="333333"/>
                </a:solidFill>
                <a:latin typeface="メイリオ"/>
              </a:rPr>
              <a:t>プロダクト平均約22%の半分以下</a:t>
            </a:r>
          </a:p>
        </p:txBody>
      </p:sp>
      <p:sp>
        <p:nvSpPr>
          <p:cNvPr id="66" name="Rounded Rectangle 65"/>
          <p:cNvSpPr/>
          <p:nvPr/>
        </p:nvSpPr>
        <p:spPr>
          <a:xfrm>
            <a:off x="764213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約3.0倍</a:t>
            </a:r>
          </a:p>
          <a:p>
            <a:pPr algn="ctr">
              <a:spcBef>
                <a:spcPts val="200"/>
              </a:spcBef>
            </a:pPr>
            <a:r>
              <a:rPr sz="1100" b="1">
                <a:solidFill>
                  <a:srgbClr val="3467B2"/>
                </a:solidFill>
                <a:latin typeface="メイリオ"/>
              </a:rPr>
              <a:t>改善倍率（最大）</a:t>
            </a:r>
          </a:p>
          <a:p>
            <a:pPr algn="ctr">
              <a:spcBef>
                <a:spcPts val="200"/>
              </a:spcBef>
            </a:pPr>
            <a:r>
              <a:rPr sz="800">
                <a:solidFill>
                  <a:srgbClr val="333333"/>
                </a:solidFill>
                <a:latin typeface="メイリオ"/>
              </a:rPr>
              <a:t>過去6〜18ヶ月DLなし層</a:t>
            </a:r>
          </a:p>
        </p:txBody>
      </p:sp>
      <p:graphicFrame>
        <p:nvGraphicFramePr>
          <p:cNvPr id="67" name="Table 66"/>
          <p:cNvGraphicFramePr>
            <a:graphicFrameLocks noGrp="1"/>
          </p:cNvGraphicFramePr>
          <p:nvPr/>
        </p:nvGraphicFramePr>
        <p:xfrm>
          <a:off x="544108" y="4623440"/>
          <a:ext cx="9326880" cy="822960"/>
        </p:xfrm>
        <a:graphic>
          <a:graphicData uri="http://schemas.openxmlformats.org/drawingml/2006/table">
            <a:tbl>
              <a:tblPr firstRow="1" bandRow="1">
                <a:tableStyleId>{5C22544A-7EE6-4342-B048-85BDC9FD1C3A}</a:tableStyleId>
              </a:tblPr>
              <a:tblGrid>
                <a:gridCol w="2331720"/>
                <a:gridCol w="2331720"/>
                <a:gridCol w="2331720"/>
                <a:gridCol w="2331720"/>
              </a:tblGrid>
              <a:tr h="411480">
                <a:tc>
                  <a:txBody>
                    <a:bodyPr/>
                    <a:lstStyle/>
                    <a:p>
                      <a:pPr algn="ctr"/>
                      <a:r>
                        <a:rPr sz="900" b="1">
                          <a:solidFill>
                            <a:srgbClr val="FFFFFF"/>
                          </a:solidFill>
                          <a:latin typeface="メイリオ"/>
                        </a:rPr>
                        <a:t>過去3ヶ月以内にDL</a:t>
                      </a:r>
                    </a:p>
                  </a:txBody>
                  <a:tcPr anchor="ctr">
                    <a:solidFill>
                      <a:srgbClr val="15133D"/>
                    </a:solidFill>
                  </a:tcPr>
                </a:tc>
                <a:tc>
                  <a:txBody>
                    <a:bodyPr/>
                    <a:lstStyle/>
                    <a:p>
                      <a:pPr algn="ctr"/>
                      <a:r>
                        <a:rPr sz="900" b="1">
                          <a:solidFill>
                            <a:srgbClr val="FFFFFF"/>
                          </a:solidFill>
                          <a:latin typeface="メイリオ"/>
                        </a:rPr>
                        <a:t>過去3〜6ヶ月にDL</a:t>
                      </a:r>
                    </a:p>
                  </a:txBody>
                  <a:tcPr anchor="ctr">
                    <a:solidFill>
                      <a:srgbClr val="15133D"/>
                    </a:solidFill>
                  </a:tcPr>
                </a:tc>
                <a:tc>
                  <a:txBody>
                    <a:bodyPr/>
                    <a:lstStyle/>
                    <a:p>
                      <a:pPr algn="ctr"/>
                      <a:r>
                        <a:rPr sz="900" b="1">
                          <a:solidFill>
                            <a:srgbClr val="FFFFFF"/>
                          </a:solidFill>
                          <a:latin typeface="メイリオ"/>
                        </a:rPr>
                        <a:t>過去6〜18ヶ月にDL</a:t>
                      </a:r>
                    </a:p>
                  </a:txBody>
                  <a:tcPr anchor="ctr">
                    <a:solidFill>
                      <a:srgbClr val="15133D"/>
                    </a:solidFill>
                  </a:tcPr>
                </a:tc>
                <a:tc>
                  <a:txBody>
                    <a:bodyPr/>
                    <a:lstStyle/>
                    <a:p>
                      <a:pPr algn="ctr"/>
                      <a:r>
                        <a:rPr sz="900" b="1">
                          <a:solidFill>
                            <a:srgbClr val="FFFFFF"/>
                          </a:solidFill>
                          <a:latin typeface="メイリオ"/>
                        </a:rPr>
                        <a:t>過去18ヶ月以内DLなし</a:t>
                      </a:r>
                    </a:p>
                  </a:txBody>
                  <a:tcPr anchor="ctr">
                    <a:solidFill>
                      <a:srgbClr val="15133D"/>
                    </a:solidFill>
                  </a:tcPr>
                </a:tc>
              </a:tr>
              <a:tr h="411480">
                <a:tc>
                  <a:txBody>
                    <a:bodyPr/>
                    <a:lstStyle/>
                    <a:p>
                      <a:pPr algn="ctr"/>
                      <a:r>
                        <a:rPr sz="1400" b="1">
                          <a:solidFill>
                            <a:srgbClr val="15133D"/>
                          </a:solidFill>
                          <a:latin typeface="メイリオ"/>
                        </a:rPr>
                        <a:t>約1.7倍</a:t>
                      </a:r>
                    </a:p>
                  </a:txBody>
                  <a:tcPr anchor="ctr">
                    <a:solidFill>
                      <a:srgbClr val="EAF0FA"/>
                    </a:solidFill>
                  </a:tcPr>
                </a:tc>
                <a:tc>
                  <a:txBody>
                    <a:bodyPr/>
                    <a:lstStyle/>
                    <a:p>
                      <a:pPr algn="ctr"/>
                      <a:r>
                        <a:rPr sz="1400" b="1">
                          <a:solidFill>
                            <a:srgbClr val="15133D"/>
                          </a:solidFill>
                          <a:latin typeface="メイリオ"/>
                        </a:rPr>
                        <a:t>約2.8倍</a:t>
                      </a:r>
                    </a:p>
                  </a:txBody>
                  <a:tcPr anchor="ctr">
                    <a:solidFill>
                      <a:srgbClr val="EAF0FA"/>
                    </a:solidFill>
                  </a:tcPr>
                </a:tc>
                <a:tc>
                  <a:txBody>
                    <a:bodyPr/>
                    <a:lstStyle/>
                    <a:p>
                      <a:pPr algn="ctr"/>
                      <a:r>
                        <a:rPr sz="1400" b="1">
                          <a:solidFill>
                            <a:srgbClr val="15133D"/>
                          </a:solidFill>
                          <a:latin typeface="メイリオ"/>
                        </a:rPr>
                        <a:t>約3.0倍</a:t>
                      </a:r>
                    </a:p>
                  </a:txBody>
                  <a:tcPr anchor="ctr">
                    <a:solidFill>
                      <a:srgbClr val="EAF0FA"/>
                    </a:solidFill>
                  </a:tcPr>
                </a:tc>
                <a:tc>
                  <a:txBody>
                    <a:bodyPr/>
                    <a:lstStyle/>
                    <a:p>
                      <a:pPr algn="ctr"/>
                      <a:r>
                        <a:rPr sz="1400" b="1">
                          <a:solidFill>
                            <a:srgbClr val="15133D"/>
                          </a:solidFill>
                          <a:latin typeface="メイリオ"/>
                        </a:rPr>
                        <a:t>約2.1倍</a:t>
                      </a:r>
                    </a:p>
                  </a:txBody>
                  <a:tcPr anchor="ctr">
                    <a:solidFill>
                      <a:srgbClr val="EAF0FA"/>
                    </a:solidFill>
                  </a:tcPr>
                </a:tc>
              </a:tr>
            </a:tbl>
          </a:graphicData>
        </a:graphic>
      </p:graphicFrame>
      <p:sp>
        <p:nvSpPr>
          <p:cNvPr id="68" name="Rounded Rectangle 67"/>
          <p:cNvSpPr/>
          <p:nvPr/>
        </p:nvSpPr>
        <p:spPr>
          <a:xfrm>
            <a:off x="544108" y="5629280"/>
            <a:ext cx="9326880" cy="7772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活用メリット</a:t>
            </a:r>
          </a:p>
          <a:p>
            <a:pPr algn="l">
              <a:lnSpc>
                <a:spcPct val="115000"/>
              </a:lnSpc>
              <a:spcBef>
                <a:spcPts val="600"/>
              </a:spcBef>
            </a:pPr>
            <a:r>
              <a:rPr sz="1100">
                <a:solidFill>
                  <a:srgbClr val="333333"/>
                </a:solidFill>
                <a:latin typeface="メイリオ"/>
              </a:rPr>
              <a:t>この実績数字を使って、運用中クライアントへの追加提案・実績報告ができる。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4.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5.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6.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