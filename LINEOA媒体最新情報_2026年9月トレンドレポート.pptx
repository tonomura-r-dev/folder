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9"/>
  </p:notesMasterIdLst>
  <p:handoutMasterIdLst>
    <p:handoutMasterId r:id="rId40"/>
  </p:handoutMasterIdLst>
  <p:sldIdLst>
    <p:sldId id="2363" r:id="rId3"/>
    <p:sldId id="2935" r:id="rId4"/>
    <p:sldId id="2956" r:id="rId5"/>
    <p:sldId id="2988" r:id="rId6"/>
    <p:sldId id="2972" r:id="rId7"/>
    <p:sldId id="2977" r:id="rId8"/>
    <p:sldId id="2974" r:id="rId9"/>
    <p:sldId id="2975" r:id="rId10"/>
    <p:sldId id="2979" r:id="rId11"/>
    <p:sldId id="2982" r:id="rId12"/>
    <p:sldId id="2736" r:id="rId13"/>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534"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902952" cy="6858000"/>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9902952" cy="27432"/>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31720"/>
            <a:ext cx="8229600" cy="1463040"/>
          </a:xfrm>
          <a:prstGeom prst="rect">
            <a:avLst/>
          </a:prstGeom>
          <a:noFill/>
        </p:spPr>
        <p:txBody>
          <a:bodyPr wrap="square" anchor="t" lIns="0" rIns="0" tIns="0" bIns="0">
            <a:spAutoFit/>
          </a:bodyPr>
          <a:lstStyle/>
          <a:p>
            <a:pPr algn="l">
              <a:lnSpc>
                <a:spcPct val="115000"/>
              </a:lnSpc>
            </a:pPr>
            <a:r>
              <a:rPr sz="2400" b="1">
                <a:solidFill>
                  <a:srgbClr val="FFFFFF"/>
                </a:solidFill>
                <a:latin typeface="メイリオ"/>
                <a:ea typeface="メイリオ"/>
                <a:cs typeface="メイリオ"/>
              </a:rPr>
              <a:t>LINE公式アカウント</a:t>
            </a:r>
          </a:p>
          <a:p>
            <a:pPr algn="l">
              <a:lnSpc>
                <a:spcPct val="115000"/>
              </a:lnSpc>
            </a:pPr>
            <a:r>
              <a:rPr sz="3000" b="1">
                <a:solidFill>
                  <a:srgbClr val="FFFFFF"/>
                </a:solidFill>
                <a:latin typeface="メイリオ"/>
                <a:ea typeface="メイリオ"/>
                <a:cs typeface="メイリオ"/>
              </a:rPr>
              <a:t>媒体最新情報　9月 トレンドレポート</a:t>
            </a:r>
          </a:p>
        </p:txBody>
      </p:sp>
      <p:sp>
        <p:nvSpPr>
          <p:cNvPr id="5" name="TextBox 4"/>
          <p:cNvSpPr txBox="1"/>
          <p:nvPr/>
        </p:nvSpPr>
        <p:spPr>
          <a:xfrm>
            <a:off x="822960" y="4343400"/>
            <a:ext cx="8229600" cy="365760"/>
          </a:xfrm>
          <a:prstGeom prst="rect">
            <a:avLst/>
          </a:prstGeom>
          <a:noFill/>
        </p:spPr>
        <p:txBody>
          <a:bodyPr wrap="square" anchor="t" lIns="0" rIns="0" tIns="0" bIns="0">
            <a:spAutoFit/>
          </a:bodyPr>
          <a:lstStyle/>
          <a:p>
            <a:pPr algn="l"/>
            <a:r>
              <a:rPr sz="1300" b="0">
                <a:solidFill>
                  <a:srgbClr val="C5D8F1"/>
                </a:solidFill>
                <a:latin typeface="メイリオ"/>
                <a:ea typeface="メイリオ"/>
                <a:cs typeface="メイリオ"/>
              </a:rPr>
              <a:t>－</a:t>
            </a:r>
          </a:p>
        </p:txBody>
      </p:sp>
      <p:sp>
        <p:nvSpPr>
          <p:cNvPr id="6" name="TextBox 5"/>
          <p:cNvSpPr txBox="1"/>
          <p:nvPr/>
        </p:nvSpPr>
        <p:spPr>
          <a:xfrm>
            <a:off x="822960" y="6126480"/>
            <a:ext cx="5486400" cy="457200"/>
          </a:xfrm>
          <a:prstGeom prst="rect">
            <a:avLst/>
          </a:prstGeom>
          <a:noFill/>
        </p:spPr>
        <p:txBody>
          <a:bodyPr wrap="square" anchor="t" lIns="0" rIns="0" tIns="0" bIns="0">
            <a:spAutoFit/>
          </a:bodyPr>
          <a:lstStyle/>
          <a:p>
            <a:pPr algn="l"/>
            <a:r>
              <a:rPr sz="1200" b="1">
                <a:solidFill>
                  <a:srgbClr val="FFFFFF"/>
                </a:solidFill>
                <a:latin typeface="メイリオ"/>
                <a:ea typeface="メイリオ"/>
                <a:cs typeface="メイリオ"/>
              </a:rPr>
              <a:t>株式会社DYM（DYM × LINEOA）</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2" name="Rectangle 1"/>
          <p:cNvSpPr/>
          <p:nvPr/>
        </p:nvSpPr>
        <p:spPr>
          <a:xfrm>
            <a:off x="0" y="0"/>
            <a:ext cx="9902952" cy="566928"/>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4864"/>
            <a:ext cx="4572000" cy="457200"/>
          </a:xfrm>
          <a:prstGeom prst="rect">
            <a:avLst/>
          </a:prstGeom>
          <a:noFill/>
        </p:spPr>
        <p:txBody>
          <a:bodyPr wrap="square" anchor="ctr" lIns="0" rIns="0" tIns="0" bIns="0">
            <a:spAutoFit/>
          </a:bodyPr>
          <a:lstStyle/>
          <a:p>
            <a:pPr algn="l"/>
            <a:r>
              <a:rPr sz="1500" b="1">
                <a:solidFill>
                  <a:srgbClr val="FFFFFF"/>
                </a:solidFill>
                <a:latin typeface="メイリオ"/>
                <a:ea typeface="メイリオ"/>
                <a:cs typeface="メイリオ"/>
              </a:rPr>
              <a:t>9月 媒体最新情報</a:t>
            </a:r>
          </a:p>
        </p:txBody>
      </p:sp>
      <p:sp>
        <p:nvSpPr>
          <p:cNvPr id="4" name="Rectangle 3"/>
          <p:cNvSpPr/>
          <p:nvPr/>
        </p:nvSpPr>
        <p:spPr>
          <a:xfrm>
            <a:off x="8302752"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展開禁止：－</a:t>
            </a:r>
          </a:p>
        </p:txBody>
      </p:sp>
      <p:sp>
        <p:nvSpPr>
          <p:cNvPr id="6" name="Rectangle 5"/>
          <p:cNvSpPr/>
          <p:nvPr/>
        </p:nvSpPr>
        <p:spPr>
          <a:xfrm>
            <a:off x="6775704"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75704"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代理店限定：－</a:t>
            </a:r>
          </a:p>
        </p:txBody>
      </p:sp>
      <p:sp>
        <p:nvSpPr>
          <p:cNvPr id="8" name="TextBox 7"/>
          <p:cNvSpPr txBox="1"/>
          <p:nvPr/>
        </p:nvSpPr>
        <p:spPr>
          <a:xfrm>
            <a:off x="365760" y="960120"/>
            <a:ext cx="7315200" cy="457200"/>
          </a:xfrm>
          <a:prstGeom prst="rect">
            <a:avLst/>
          </a:prstGeom>
          <a:noFill/>
        </p:spPr>
        <p:txBody>
          <a:bodyPr wrap="square" anchor="t" lIns="0" rIns="0" tIns="0" bIns="0">
            <a:spAutoFit/>
          </a:bodyPr>
          <a:lstStyle/>
          <a:p>
            <a:pPr algn="l"/>
            <a:r>
              <a:rPr sz="2000" b="1">
                <a:solidFill>
                  <a:srgbClr val="15133D"/>
                </a:solidFill>
                <a:latin typeface="メイリオ"/>
                <a:ea typeface="メイリオ"/>
                <a:cs typeface="メイリオ"/>
              </a:rPr>
              <a:t>目次</a:t>
            </a:r>
          </a:p>
        </p:txBody>
      </p:sp>
      <p:sp>
        <p:nvSpPr>
          <p:cNvPr id="9" name="Rectangle 8"/>
          <p:cNvSpPr/>
          <p:nvPr/>
        </p:nvSpPr>
        <p:spPr>
          <a:xfrm>
            <a:off x="365760" y="1481328"/>
            <a:ext cx="1097280" cy="3175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828800"/>
            <a:ext cx="457200" cy="36576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28800"/>
            <a:ext cx="457200" cy="365760"/>
          </a:xfrm>
          <a:prstGeom prst="rect">
            <a:avLst/>
          </a:prstGeom>
          <a:noFill/>
        </p:spPr>
        <p:txBody>
          <a:bodyPr wrap="square" anchor="ctr" lIns="0" rIns="0" tIns="0" bIns="0">
            <a:spAutoFit/>
          </a:bodyPr>
          <a:lstStyle/>
          <a:p>
            <a:pPr algn="ctr"/>
            <a:r>
              <a:rPr sz="1300" b="1">
                <a:solidFill>
                  <a:srgbClr val="15133D"/>
                </a:solidFill>
                <a:latin typeface="メイリオ"/>
                <a:ea typeface="メイリオ"/>
                <a:cs typeface="メイリオ"/>
              </a:rPr>
              <a:t>1</a:t>
            </a:r>
          </a:p>
        </p:txBody>
      </p:sp>
      <p:sp>
        <p:nvSpPr>
          <p:cNvPr id="12" name="TextBox 11"/>
          <p:cNvSpPr txBox="1"/>
          <p:nvPr/>
        </p:nvSpPr>
        <p:spPr>
          <a:xfrm>
            <a:off x="1005840" y="1828800"/>
            <a:ext cx="8503920" cy="365760"/>
          </a:xfrm>
          <a:prstGeom prst="rect">
            <a:avLst/>
          </a:prstGeom>
          <a:noFill/>
        </p:spPr>
        <p:txBody>
          <a:bodyPr wrap="square" anchor="ctr" lIns="0" rIns="0" tIns="0" bIns="0">
            <a:spAutoFit/>
          </a:bodyPr>
          <a:lstStyle/>
          <a:p>
            <a:pPr algn="l"/>
            <a:r>
              <a:rPr sz="1300" b="0">
                <a:solidFill>
                  <a:srgbClr val="333333"/>
                </a:solidFill>
                <a:latin typeface="メイリオ"/>
                <a:ea typeface="メイリオ"/>
                <a:cs typeface="メイリオ"/>
              </a:rPr>
              <a:t>1. ［提供終了］LINE公式アカウントの「リサーチ」機能終了</a:t>
            </a:r>
          </a:p>
        </p:txBody>
      </p:sp>
      <p:sp>
        <p:nvSpPr>
          <p:cNvPr id="13" name="Rectangle 12"/>
          <p:cNvSpPr/>
          <p:nvPr/>
        </p:nvSpPr>
        <p:spPr>
          <a:xfrm>
            <a:off x="365760" y="2304288"/>
            <a:ext cx="457200" cy="36576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2304288"/>
            <a:ext cx="457200" cy="365760"/>
          </a:xfrm>
          <a:prstGeom prst="rect">
            <a:avLst/>
          </a:prstGeom>
          <a:noFill/>
        </p:spPr>
        <p:txBody>
          <a:bodyPr wrap="square" anchor="ctr" lIns="0" rIns="0" tIns="0" bIns="0">
            <a:spAutoFit/>
          </a:bodyPr>
          <a:lstStyle/>
          <a:p>
            <a:pPr algn="ctr"/>
            <a:r>
              <a:rPr sz="1300" b="1">
                <a:solidFill>
                  <a:srgbClr val="15133D"/>
                </a:solidFill>
                <a:latin typeface="メイリオ"/>
                <a:ea typeface="メイリオ"/>
                <a:cs typeface="メイリオ"/>
              </a:rPr>
              <a:t>2</a:t>
            </a:r>
          </a:p>
        </p:txBody>
      </p:sp>
      <p:sp>
        <p:nvSpPr>
          <p:cNvPr id="15" name="TextBox 14"/>
          <p:cNvSpPr txBox="1"/>
          <p:nvPr/>
        </p:nvSpPr>
        <p:spPr>
          <a:xfrm>
            <a:off x="1005840" y="2304288"/>
            <a:ext cx="8503920" cy="365760"/>
          </a:xfrm>
          <a:prstGeom prst="rect">
            <a:avLst/>
          </a:prstGeom>
          <a:noFill/>
        </p:spPr>
        <p:txBody>
          <a:bodyPr wrap="square" anchor="ctr" lIns="0" rIns="0" tIns="0" bIns="0">
            <a:spAutoFit/>
          </a:bodyPr>
          <a:lstStyle/>
          <a:p>
            <a:pPr algn="l"/>
            <a:r>
              <a:rPr sz="1300" b="0">
                <a:solidFill>
                  <a:srgbClr val="333333"/>
                </a:solidFill>
                <a:latin typeface="メイリオ"/>
                <a:ea typeface="メイリオ"/>
                <a:cs typeface="メイリオ"/>
              </a:rPr>
              <a:t>2. 既読API（旧）新規利用受付終了（リマインド）</a:t>
            </a:r>
          </a:p>
        </p:txBody>
      </p:sp>
      <p:sp>
        <p:nvSpPr>
          <p:cNvPr id="16" name="Rectangle 15"/>
          <p:cNvSpPr/>
          <p:nvPr/>
        </p:nvSpPr>
        <p:spPr>
          <a:xfrm>
            <a:off x="365760" y="2779776"/>
            <a:ext cx="457200" cy="36576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779776"/>
            <a:ext cx="457200" cy="365760"/>
          </a:xfrm>
          <a:prstGeom prst="rect">
            <a:avLst/>
          </a:prstGeom>
          <a:noFill/>
        </p:spPr>
        <p:txBody>
          <a:bodyPr wrap="square" anchor="ctr" lIns="0" rIns="0" tIns="0" bIns="0">
            <a:spAutoFit/>
          </a:bodyPr>
          <a:lstStyle/>
          <a:p>
            <a:pPr algn="ctr"/>
            <a:r>
              <a:rPr sz="1300" b="1">
                <a:solidFill>
                  <a:srgbClr val="15133D"/>
                </a:solidFill>
                <a:latin typeface="メイリオ"/>
                <a:ea typeface="メイリオ"/>
                <a:cs typeface="メイリオ"/>
              </a:rPr>
              <a:t>3</a:t>
            </a:r>
          </a:p>
        </p:txBody>
      </p:sp>
      <p:sp>
        <p:nvSpPr>
          <p:cNvPr id="18" name="TextBox 17"/>
          <p:cNvSpPr txBox="1"/>
          <p:nvPr/>
        </p:nvSpPr>
        <p:spPr>
          <a:xfrm>
            <a:off x="1005840" y="2779776"/>
            <a:ext cx="8503920" cy="365760"/>
          </a:xfrm>
          <a:prstGeom prst="rect">
            <a:avLst/>
          </a:prstGeom>
          <a:noFill/>
        </p:spPr>
        <p:txBody>
          <a:bodyPr wrap="square" anchor="ctr" lIns="0" rIns="0" tIns="0" bIns="0">
            <a:spAutoFit/>
          </a:bodyPr>
          <a:lstStyle/>
          <a:p>
            <a:pPr algn="l"/>
            <a:r>
              <a:rPr sz="1300" b="0">
                <a:solidFill>
                  <a:srgbClr val="333333"/>
                </a:solidFill>
                <a:latin typeface="メイリオ"/>
                <a:ea typeface="メイリオ"/>
                <a:cs typeface="メイリオ"/>
              </a:rPr>
              <a:t>3. LINEミニアプリ お気に入り追加促進機能</a:t>
            </a:r>
          </a:p>
        </p:txBody>
      </p:sp>
      <p:sp>
        <p:nvSpPr>
          <p:cNvPr id="19" name="Rectangle 18"/>
          <p:cNvSpPr/>
          <p:nvPr/>
        </p:nvSpPr>
        <p:spPr>
          <a:xfrm>
            <a:off x="365760" y="3255264"/>
            <a:ext cx="457200" cy="36576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3255264"/>
            <a:ext cx="457200" cy="365760"/>
          </a:xfrm>
          <a:prstGeom prst="rect">
            <a:avLst/>
          </a:prstGeom>
          <a:noFill/>
        </p:spPr>
        <p:txBody>
          <a:bodyPr wrap="square" anchor="ctr" lIns="0" rIns="0" tIns="0" bIns="0">
            <a:spAutoFit/>
          </a:bodyPr>
          <a:lstStyle/>
          <a:p>
            <a:pPr algn="ctr"/>
            <a:r>
              <a:rPr sz="1300" b="1">
                <a:solidFill>
                  <a:srgbClr val="15133D"/>
                </a:solidFill>
                <a:latin typeface="メイリオ"/>
                <a:ea typeface="メイリオ"/>
                <a:cs typeface="メイリオ"/>
              </a:rPr>
              <a:t>4</a:t>
            </a:r>
          </a:p>
        </p:txBody>
      </p:sp>
      <p:sp>
        <p:nvSpPr>
          <p:cNvPr id="21" name="TextBox 20"/>
          <p:cNvSpPr txBox="1"/>
          <p:nvPr/>
        </p:nvSpPr>
        <p:spPr>
          <a:xfrm>
            <a:off x="1005840" y="3255264"/>
            <a:ext cx="8503920" cy="365760"/>
          </a:xfrm>
          <a:prstGeom prst="rect">
            <a:avLst/>
          </a:prstGeom>
          <a:noFill/>
        </p:spPr>
        <p:txBody>
          <a:bodyPr wrap="square" anchor="ctr" lIns="0" rIns="0" tIns="0" bIns="0">
            <a:spAutoFit/>
          </a:bodyPr>
          <a:lstStyle/>
          <a:p>
            <a:pPr algn="l"/>
            <a:r>
              <a:rPr sz="1300" b="0">
                <a:solidFill>
                  <a:srgbClr val="333333"/>
                </a:solidFill>
                <a:latin typeface="メイリオ"/>
                <a:ea typeface="メイリオ"/>
                <a:cs typeface="メイリオ"/>
              </a:rPr>
              <a:t>4. プロモーションスタンプ・絵文字：早期発注特典①の締切</a:t>
            </a:r>
          </a:p>
        </p:txBody>
      </p:sp>
      <p:sp>
        <p:nvSpPr>
          <p:cNvPr id="22" name="Rectangle 21"/>
          <p:cNvSpPr/>
          <p:nvPr/>
        </p:nvSpPr>
        <p:spPr>
          <a:xfrm>
            <a:off x="365760" y="3730752"/>
            <a:ext cx="457200" cy="36576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3730752"/>
            <a:ext cx="457200" cy="365760"/>
          </a:xfrm>
          <a:prstGeom prst="rect">
            <a:avLst/>
          </a:prstGeom>
          <a:noFill/>
        </p:spPr>
        <p:txBody>
          <a:bodyPr wrap="square" anchor="ctr" lIns="0" rIns="0" tIns="0" bIns="0">
            <a:spAutoFit/>
          </a:bodyPr>
          <a:lstStyle/>
          <a:p>
            <a:pPr algn="ctr"/>
            <a:r>
              <a:rPr sz="1300" b="1">
                <a:solidFill>
                  <a:srgbClr val="15133D"/>
                </a:solidFill>
                <a:latin typeface="メイリオ"/>
                <a:ea typeface="メイリオ"/>
                <a:cs typeface="メイリオ"/>
              </a:rPr>
              <a:t>5</a:t>
            </a:r>
          </a:p>
        </p:txBody>
      </p:sp>
      <p:sp>
        <p:nvSpPr>
          <p:cNvPr id="24" name="TextBox 23"/>
          <p:cNvSpPr txBox="1"/>
          <p:nvPr/>
        </p:nvSpPr>
        <p:spPr>
          <a:xfrm>
            <a:off x="1005840" y="3730752"/>
            <a:ext cx="8503920" cy="365760"/>
          </a:xfrm>
          <a:prstGeom prst="rect">
            <a:avLst/>
          </a:prstGeom>
          <a:noFill/>
        </p:spPr>
        <p:txBody>
          <a:bodyPr wrap="square" anchor="ctr" lIns="0" rIns="0" tIns="0" bIns="0">
            <a:spAutoFit/>
          </a:bodyPr>
          <a:lstStyle/>
          <a:p>
            <a:pPr algn="l"/>
            <a:r>
              <a:rPr sz="1300" b="0">
                <a:solidFill>
                  <a:srgbClr val="333333"/>
                </a:solidFill>
                <a:latin typeface="メイリオ"/>
                <a:ea typeface="メイリオ"/>
                <a:cs typeface="メイリオ"/>
              </a:rPr>
              <a:t>5. LINE公式アカウント「分析」データ参照期間 過去36カ月に変更（告知延期中）</a:t>
            </a:r>
          </a:p>
        </p:txBody>
      </p:sp>
      <p:sp>
        <p:nvSpPr>
          <p:cNvPr id="25" name="Rectangle 24"/>
          <p:cNvSpPr/>
          <p:nvPr/>
        </p:nvSpPr>
        <p:spPr>
          <a:xfrm>
            <a:off x="365760" y="4206240"/>
            <a:ext cx="457200" cy="36576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206240"/>
            <a:ext cx="457200" cy="365760"/>
          </a:xfrm>
          <a:prstGeom prst="rect">
            <a:avLst/>
          </a:prstGeom>
          <a:noFill/>
        </p:spPr>
        <p:txBody>
          <a:bodyPr wrap="square" anchor="ctr" lIns="0" rIns="0" tIns="0" bIns="0">
            <a:spAutoFit/>
          </a:bodyPr>
          <a:lstStyle/>
          <a:p>
            <a:pPr algn="ctr"/>
            <a:r>
              <a:rPr sz="1300" b="1">
                <a:solidFill>
                  <a:srgbClr val="15133D"/>
                </a:solidFill>
                <a:latin typeface="メイリオ"/>
                <a:ea typeface="メイリオ"/>
                <a:cs typeface="メイリオ"/>
              </a:rPr>
              <a:t>6</a:t>
            </a:r>
          </a:p>
        </p:txBody>
      </p:sp>
      <p:sp>
        <p:nvSpPr>
          <p:cNvPr id="27" name="TextBox 26"/>
          <p:cNvSpPr txBox="1"/>
          <p:nvPr/>
        </p:nvSpPr>
        <p:spPr>
          <a:xfrm>
            <a:off x="1005840" y="4206240"/>
            <a:ext cx="8503920" cy="365760"/>
          </a:xfrm>
          <a:prstGeom prst="rect">
            <a:avLst/>
          </a:prstGeom>
          <a:noFill/>
        </p:spPr>
        <p:txBody>
          <a:bodyPr wrap="square" anchor="ctr" lIns="0" rIns="0" tIns="0" bIns="0">
            <a:spAutoFit/>
          </a:bodyPr>
          <a:lstStyle/>
          <a:p>
            <a:pPr algn="l"/>
            <a:r>
              <a:rPr sz="1300" b="0">
                <a:solidFill>
                  <a:srgbClr val="333333"/>
                </a:solidFill>
                <a:latin typeface="メイリオ"/>
                <a:ea typeface="メイリオ"/>
                <a:cs typeface="メイリオ"/>
              </a:rPr>
              <a:t>6. プロモーションスタンプ 効果改善アップデート（サジェスト面 無料スタンプ表示条件緩和）</a:t>
            </a:r>
          </a:p>
        </p:txBody>
      </p:sp>
      <p:sp>
        <p:nvSpPr>
          <p:cNvPr id="28" name="Rectangle 27"/>
          <p:cNvSpPr/>
          <p:nvPr/>
        </p:nvSpPr>
        <p:spPr>
          <a:xfrm>
            <a:off x="365760" y="4681728"/>
            <a:ext cx="457200" cy="36576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4681728"/>
            <a:ext cx="457200" cy="365760"/>
          </a:xfrm>
          <a:prstGeom prst="rect">
            <a:avLst/>
          </a:prstGeom>
          <a:noFill/>
        </p:spPr>
        <p:txBody>
          <a:bodyPr wrap="square" anchor="ctr" lIns="0" rIns="0" tIns="0" bIns="0">
            <a:spAutoFit/>
          </a:bodyPr>
          <a:lstStyle/>
          <a:p>
            <a:pPr algn="ctr"/>
            <a:r>
              <a:rPr sz="1300" b="1">
                <a:solidFill>
                  <a:srgbClr val="15133D"/>
                </a:solidFill>
                <a:latin typeface="メイリオ"/>
                <a:ea typeface="メイリオ"/>
                <a:cs typeface="メイリオ"/>
              </a:rPr>
              <a:t>7</a:t>
            </a:r>
          </a:p>
        </p:txBody>
      </p:sp>
      <p:sp>
        <p:nvSpPr>
          <p:cNvPr id="30" name="TextBox 29"/>
          <p:cNvSpPr txBox="1"/>
          <p:nvPr/>
        </p:nvSpPr>
        <p:spPr>
          <a:xfrm>
            <a:off x="1005840" y="4681728"/>
            <a:ext cx="8503920" cy="365760"/>
          </a:xfrm>
          <a:prstGeom prst="rect">
            <a:avLst/>
          </a:prstGeom>
          <a:noFill/>
        </p:spPr>
        <p:txBody>
          <a:bodyPr wrap="square" anchor="ctr" lIns="0" rIns="0" tIns="0" bIns="0">
            <a:spAutoFit/>
          </a:bodyPr>
          <a:lstStyle/>
          <a:p>
            <a:pPr algn="l"/>
            <a:r>
              <a:rPr sz="1300" b="0">
                <a:solidFill>
                  <a:srgbClr val="333333"/>
                </a:solidFill>
                <a:latin typeface="メイリオ"/>
                <a:ea typeface="メイリオ"/>
                <a:cs typeface="メイリオ"/>
              </a:rPr>
              <a:t>7. 友だち追加オプション 複数アカウント対応</a:t>
            </a:r>
          </a:p>
        </p:txBody>
      </p:sp>
      <p:sp>
        <p:nvSpPr>
          <p:cNvPr id="31" name="Rectangle 30"/>
          <p:cNvSpPr/>
          <p:nvPr/>
        </p:nvSpPr>
        <p:spPr>
          <a:xfrm>
            <a:off x="365760" y="5157216"/>
            <a:ext cx="457200" cy="36576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5157216"/>
            <a:ext cx="457200" cy="365760"/>
          </a:xfrm>
          <a:prstGeom prst="rect">
            <a:avLst/>
          </a:prstGeom>
          <a:noFill/>
        </p:spPr>
        <p:txBody>
          <a:bodyPr wrap="square" anchor="ctr" lIns="0" rIns="0" tIns="0" bIns="0">
            <a:spAutoFit/>
          </a:bodyPr>
          <a:lstStyle/>
          <a:p>
            <a:pPr algn="ctr"/>
            <a:r>
              <a:rPr sz="1300" b="1">
                <a:solidFill>
                  <a:srgbClr val="15133D"/>
                </a:solidFill>
                <a:latin typeface="メイリオ"/>
                <a:ea typeface="メイリオ"/>
                <a:cs typeface="メイリオ"/>
              </a:rPr>
              <a:t>8</a:t>
            </a:r>
          </a:p>
        </p:txBody>
      </p:sp>
      <p:sp>
        <p:nvSpPr>
          <p:cNvPr id="33" name="TextBox 32"/>
          <p:cNvSpPr txBox="1"/>
          <p:nvPr/>
        </p:nvSpPr>
        <p:spPr>
          <a:xfrm>
            <a:off x="1005840" y="5157216"/>
            <a:ext cx="8503920" cy="365760"/>
          </a:xfrm>
          <a:prstGeom prst="rect">
            <a:avLst/>
          </a:prstGeom>
          <a:noFill/>
        </p:spPr>
        <p:txBody>
          <a:bodyPr wrap="square" anchor="ctr" lIns="0" rIns="0" tIns="0" bIns="0">
            <a:spAutoFit/>
          </a:bodyPr>
          <a:lstStyle/>
          <a:p>
            <a:pPr algn="l"/>
            <a:r>
              <a:rPr sz="1300" b="0">
                <a:solidFill>
                  <a:srgbClr val="333333"/>
                </a:solidFill>
                <a:latin typeface="メイリオ"/>
                <a:ea typeface="メイリオ"/>
                <a:cs typeface="メイリオ"/>
              </a:rPr>
              <a:t>8. LINE Sales Promotion Manager 利用停止期間</a:t>
            </a:r>
          </a:p>
        </p:txBody>
      </p:sp>
      <p:sp>
        <p:nvSpPr>
          <p:cNvPr id="34" name="Rectangle 33"/>
          <p:cNvSpPr/>
          <p:nvPr/>
        </p:nvSpPr>
        <p:spPr>
          <a:xfrm>
            <a:off x="365760" y="5632704"/>
            <a:ext cx="457200" cy="36576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5632704"/>
            <a:ext cx="457200" cy="365760"/>
          </a:xfrm>
          <a:prstGeom prst="rect">
            <a:avLst/>
          </a:prstGeom>
          <a:noFill/>
        </p:spPr>
        <p:txBody>
          <a:bodyPr wrap="square" anchor="ctr" lIns="0" rIns="0" tIns="0" bIns="0">
            <a:spAutoFit/>
          </a:bodyPr>
          <a:lstStyle/>
          <a:p>
            <a:pPr algn="ctr"/>
            <a:r>
              <a:rPr sz="1300" b="1">
                <a:solidFill>
                  <a:srgbClr val="15133D"/>
                </a:solidFill>
                <a:latin typeface="メイリオ"/>
                <a:ea typeface="メイリオ"/>
                <a:cs typeface="メイリオ"/>
              </a:rPr>
              <a:t>9</a:t>
            </a:r>
          </a:p>
        </p:txBody>
      </p:sp>
      <p:sp>
        <p:nvSpPr>
          <p:cNvPr id="36" name="TextBox 35"/>
          <p:cNvSpPr txBox="1"/>
          <p:nvPr/>
        </p:nvSpPr>
        <p:spPr>
          <a:xfrm>
            <a:off x="1005840" y="5632704"/>
            <a:ext cx="8503920" cy="365760"/>
          </a:xfrm>
          <a:prstGeom prst="rect">
            <a:avLst/>
          </a:prstGeom>
          <a:noFill/>
        </p:spPr>
        <p:txBody>
          <a:bodyPr wrap="square" anchor="ctr" lIns="0" rIns="0" tIns="0" bIns="0">
            <a:spAutoFit/>
          </a:bodyPr>
          <a:lstStyle/>
          <a:p>
            <a:pPr algn="l"/>
            <a:r>
              <a:rPr sz="1300" b="0">
                <a:solidFill>
                  <a:srgbClr val="333333"/>
                </a:solidFill>
                <a:latin typeface="メイリオ"/>
                <a:ea typeface="メイリオ"/>
                <a:cs typeface="メイリオ"/>
              </a:rPr>
              <a:t>9. LINEオープンキャンペーン（アンケート型）26年10-12月 期間限定キャンペーン</a:t>
            </a:r>
          </a:p>
        </p:txBody>
      </p:sp>
      <p:sp>
        <p:nvSpPr>
          <p:cNvPr id="37" name="Rectangle 36"/>
          <p:cNvSpPr/>
          <p:nvPr/>
        </p:nvSpPr>
        <p:spPr>
          <a:xfrm>
            <a:off x="0" y="6547104"/>
            <a:ext cx="9902952"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6565392"/>
            <a:ext cx="7772400" cy="274320"/>
          </a:xfrm>
          <a:prstGeom prst="rect">
            <a:avLst/>
          </a:prstGeom>
          <a:noFill/>
        </p:spPr>
        <p:txBody>
          <a:bodyPr wrap="square" anchor="ctr" lIns="0" rIns="0" tIns="0" bIns="0">
            <a:spAutoFit/>
          </a:bodyPr>
          <a:lstStyle/>
          <a:p>
            <a:pPr algn="l"/>
            <a:r>
              <a:rPr sz="800" b="0">
                <a:solidFill>
                  <a:srgbClr val="666666"/>
                </a:solidFill>
                <a:latin typeface="メイリオ"/>
                <a:ea typeface="メイリオ"/>
                <a:cs typeface="メイリオ"/>
              </a:rPr>
              <a:t/>
            </a:r>
          </a:p>
        </p:txBody>
      </p:sp>
      <p:sp>
        <p:nvSpPr>
          <p:cNvPr id="39" name="TextBox 38"/>
          <p:cNvSpPr txBox="1"/>
          <p:nvPr/>
        </p:nvSpPr>
        <p:spPr>
          <a:xfrm>
            <a:off x="5943600" y="6565392"/>
            <a:ext cx="3776472" cy="274320"/>
          </a:xfrm>
          <a:prstGeom prst="rect">
            <a:avLst/>
          </a:prstGeom>
          <a:noFill/>
        </p:spPr>
        <p:txBody>
          <a:bodyPr wrap="square" anchor="ctr" lIns="0" rIns="0" tIns="0" bIns="0">
            <a:spAutoFit/>
          </a:bodyPr>
          <a:lstStyle/>
          <a:p>
            <a:pPr algn="r"/>
            <a:r>
              <a:rPr sz="750" b="0">
                <a:solidFill>
                  <a:srgbClr val="666666"/>
                </a:solidFill>
                <a:latin typeface="メイリオ"/>
                <a:ea typeface="メイリオ"/>
                <a:cs typeface="メイリオ"/>
              </a:rPr>
              <a:t>Copyright(c) DYM Co., Ltd. All Rights Reserved.</a:t>
            </a:r>
          </a:p>
        </p:txBody>
      </p:sp>
    </p:spTree>
    <p:extLst>
      <p:ext uri="{BB962C8B-B14F-4D97-AF65-F5344CB8AC3E}">
        <p14:creationId xmlns:p14="http://schemas.microsoft.com/office/powerpoint/2010/main" val="9938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2" name="Rectangle 1"/>
          <p:cNvSpPr/>
          <p:nvPr/>
        </p:nvSpPr>
        <p:spPr>
          <a:xfrm>
            <a:off x="0" y="0"/>
            <a:ext cx="9902952" cy="566928"/>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4864"/>
            <a:ext cx="4572000" cy="457200"/>
          </a:xfrm>
          <a:prstGeom prst="rect">
            <a:avLst/>
          </a:prstGeom>
          <a:noFill/>
        </p:spPr>
        <p:txBody>
          <a:bodyPr wrap="square" anchor="ctr" lIns="0" rIns="0" tIns="0" bIns="0">
            <a:spAutoFit/>
          </a:bodyPr>
          <a:lstStyle/>
          <a:p>
            <a:pPr algn="l"/>
            <a:r>
              <a:rPr sz="1500" b="1">
                <a:solidFill>
                  <a:srgbClr val="FFFFFF"/>
                </a:solidFill>
                <a:latin typeface="メイリオ"/>
                <a:ea typeface="メイリオ"/>
                <a:cs typeface="メイリオ"/>
              </a:rPr>
              <a:t>9月 媒体最新情報</a:t>
            </a:r>
          </a:p>
        </p:txBody>
      </p:sp>
      <p:sp>
        <p:nvSpPr>
          <p:cNvPr id="4" name="Rectangle 3"/>
          <p:cNvSpPr/>
          <p:nvPr/>
        </p:nvSpPr>
        <p:spPr>
          <a:xfrm>
            <a:off x="8302752"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展開禁止：－</a:t>
            </a:r>
          </a:p>
        </p:txBody>
      </p:sp>
      <p:sp>
        <p:nvSpPr>
          <p:cNvPr id="6" name="Rectangle 5"/>
          <p:cNvSpPr/>
          <p:nvPr/>
        </p:nvSpPr>
        <p:spPr>
          <a:xfrm>
            <a:off x="6775704"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75704"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代理店限定：－</a:t>
            </a:r>
          </a:p>
        </p:txBody>
      </p:sp>
      <p:sp>
        <p:nvSpPr>
          <p:cNvPr id="8" name="Rectangle 7"/>
          <p:cNvSpPr/>
          <p:nvPr/>
        </p:nvSpPr>
        <p:spPr>
          <a:xfrm>
            <a:off x="0" y="621792"/>
            <a:ext cx="9902952" cy="292608"/>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21792"/>
            <a:ext cx="502920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対象業界：</a:t>
            </a:r>
            <a:r>
              <a:rPr sz="950" b="0">
                <a:solidFill>
                  <a:srgbClr val="15133D"/>
                </a:solidFill>
                <a:latin typeface="メイリオ"/>
                <a:ea typeface="メイリオ"/>
                <a:cs typeface="メイリオ"/>
              </a:rPr>
              <a:t>－</a:t>
            </a:r>
          </a:p>
        </p:txBody>
      </p:sp>
      <p:sp>
        <p:nvSpPr>
          <p:cNvPr id="10" name="TextBox 9"/>
          <p:cNvSpPr txBox="1"/>
          <p:nvPr/>
        </p:nvSpPr>
        <p:spPr>
          <a:xfrm>
            <a:off x="5943600" y="621792"/>
            <a:ext cx="356616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マーケティングフェーズ：</a:t>
            </a:r>
            <a:r>
              <a:rPr sz="950" b="0">
                <a:solidFill>
                  <a:srgbClr val="15133D"/>
                </a:solidFill>
                <a:latin typeface="メイリオ"/>
                <a:ea typeface="メイリオ"/>
                <a:cs typeface="メイリオ"/>
              </a:rPr>
              <a:t>－</a:t>
            </a:r>
          </a:p>
        </p:txBody>
      </p:sp>
      <p:sp>
        <p:nvSpPr>
          <p:cNvPr id="11" name="TextBox 10"/>
          <p:cNvSpPr txBox="1"/>
          <p:nvPr/>
        </p:nvSpPr>
        <p:spPr>
          <a:xfrm>
            <a:off x="365760" y="1005840"/>
            <a:ext cx="9144000" cy="548640"/>
          </a:xfrm>
          <a:prstGeom prst="rect">
            <a:avLst/>
          </a:prstGeom>
          <a:noFill/>
        </p:spPr>
        <p:txBody>
          <a:bodyPr wrap="square" anchor="t" lIns="0" rIns="0" tIns="0" bIns="0">
            <a:spAutoFit/>
          </a:bodyPr>
          <a:lstStyle/>
          <a:p>
            <a:pPr algn="l">
              <a:lnSpc>
                <a:spcPct val="105000"/>
              </a:lnSpc>
            </a:pPr>
            <a:r>
              <a:rPr sz="1600" b="1">
                <a:solidFill>
                  <a:srgbClr val="15133D"/>
                </a:solidFill>
                <a:latin typeface="メイリオ"/>
                <a:ea typeface="メイリオ"/>
                <a:cs typeface="メイリオ"/>
              </a:rPr>
              <a:t>［提供終了］LINE公式アカウントの「リサーチ」機能終了</a:t>
            </a:r>
          </a:p>
        </p:txBody>
      </p:sp>
      <p:sp>
        <p:nvSpPr>
          <p:cNvPr id="12" name="Rectangle 11"/>
          <p:cNvSpPr/>
          <p:nvPr/>
        </p:nvSpPr>
        <p:spPr>
          <a:xfrm>
            <a:off x="365760" y="1600200"/>
            <a:ext cx="9171432" cy="68580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00200"/>
            <a:ext cx="8778240" cy="685800"/>
          </a:xfrm>
          <a:prstGeom prst="rect">
            <a:avLst/>
          </a:prstGeom>
          <a:noFill/>
        </p:spPr>
        <p:txBody>
          <a:bodyPr wrap="square" anchor="ctr" lIns="0" rIns="0" tIns="0" bIns="0">
            <a:spAutoFit/>
          </a:bodyPr>
          <a:lstStyle/>
          <a:p>
            <a:pPr algn="l">
              <a:lnSpc>
                <a:spcPct val="110000"/>
              </a:lnSpc>
            </a:pPr>
            <a:r>
              <a:rPr sz="1150" b="1">
                <a:solidFill>
                  <a:srgbClr val="15133D"/>
                </a:solidFill>
                <a:latin typeface="メイリオ"/>
                <a:ea typeface="メイリオ"/>
                <a:cs typeface="メイリオ"/>
              </a:rPr>
              <a:t>2026年12月2日をもって「リサーチ」「アカウント満足度調査」機能が終了。年内に必要なデータの取得・代替運用への切替検討が必要。</a:t>
            </a:r>
          </a:p>
        </p:txBody>
      </p:sp>
      <p:sp>
        <p:nvSpPr>
          <p:cNvPr id="14" name="Rectangle 13"/>
          <p:cNvSpPr/>
          <p:nvPr/>
        </p:nvSpPr>
        <p:spPr>
          <a:xfrm>
            <a:off x="365760"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概要・変更点</a:t>
            </a:r>
          </a:p>
        </p:txBody>
      </p:sp>
      <p:sp>
        <p:nvSpPr>
          <p:cNvPr id="17" name="TextBox 16"/>
          <p:cNvSpPr txBox="1"/>
          <p:nvPr/>
        </p:nvSpPr>
        <p:spPr>
          <a:xfrm>
            <a:off x="548640"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・LINE公式アカウントの「リサーチ」機能を終了</a:t>
            </a:r>
          </a:p>
          <a:p>
            <a:pPr>
              <a:lnSpc>
                <a:spcPct val="115000"/>
              </a:lnSpc>
              <a:spcAft>
                <a:spcPts val="300"/>
              </a:spcAft>
            </a:pPr>
            <a:r>
              <a:rPr sz="1050">
                <a:solidFill>
                  <a:srgbClr val="333333"/>
                </a:solidFill>
                <a:latin typeface="メイリオ"/>
                <a:ea typeface="メイリオ"/>
                <a:cs typeface="メイリオ"/>
              </a:rPr>
              <a:t>・「リサーチ」「アカウント満足度調査」の機能が段階的に利用不可に</a:t>
            </a:r>
          </a:p>
        </p:txBody>
      </p:sp>
      <p:sp>
        <p:nvSpPr>
          <p:cNvPr id="18" name="Rectangle 17"/>
          <p:cNvSpPr/>
          <p:nvPr/>
        </p:nvSpPr>
        <p:spPr>
          <a:xfrm>
            <a:off x="5042916"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2916"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料金体系・出稿条件</a:t>
            </a:r>
          </a:p>
        </p:txBody>
      </p:sp>
      <p:sp>
        <p:nvSpPr>
          <p:cNvPr id="21" name="TextBox 20"/>
          <p:cNvSpPr txBox="1"/>
          <p:nvPr/>
        </p:nvSpPr>
        <p:spPr>
          <a:xfrm>
            <a:off x="5225796"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・該当なし</a:t>
            </a:r>
          </a:p>
        </p:txBody>
      </p:sp>
      <p:sp>
        <p:nvSpPr>
          <p:cNvPr id="22" name="Rectangle 21"/>
          <p:cNvSpPr/>
          <p:nvPr/>
        </p:nvSpPr>
        <p:spPr>
          <a:xfrm>
            <a:off x="365760"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スケジュール・導入フロー</a:t>
            </a:r>
          </a:p>
        </p:txBody>
      </p:sp>
      <p:sp>
        <p:nvSpPr>
          <p:cNvPr id="25" name="TextBox 24"/>
          <p:cNvSpPr txBox="1"/>
          <p:nvPr/>
        </p:nvSpPr>
        <p:spPr>
          <a:xfrm>
            <a:off x="548640"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・社外告知：2026年8月17日（月）CMSお知らせ掲載済</a:t>
            </a:r>
          </a:p>
          <a:p>
            <a:pPr>
              <a:lnSpc>
                <a:spcPct val="115000"/>
              </a:lnSpc>
              <a:spcAft>
                <a:spcPts val="300"/>
              </a:spcAft>
            </a:pPr>
            <a:r>
              <a:rPr sz="1050">
                <a:solidFill>
                  <a:srgbClr val="333333"/>
                </a:solidFill>
                <a:latin typeface="メイリオ"/>
                <a:ea typeface="メイリオ"/>
                <a:cs typeface="メイリオ"/>
              </a:rPr>
              <a:t>・LPP掲載：2026年8月19日（水）／8月26日（水）</a:t>
            </a:r>
          </a:p>
          <a:p>
            <a:pPr>
              <a:lnSpc>
                <a:spcPct val="115000"/>
              </a:lnSpc>
              <a:spcAft>
                <a:spcPts val="300"/>
              </a:spcAft>
            </a:pPr>
            <a:r>
              <a:rPr sz="1050">
                <a:solidFill>
                  <a:srgbClr val="333333"/>
                </a:solidFill>
                <a:latin typeface="メイリオ"/>
                <a:ea typeface="メイリオ"/>
                <a:cs typeface="メイリオ"/>
              </a:rPr>
              <a:t>・終了予定：2026年12月2日（水）</a:t>
            </a:r>
          </a:p>
        </p:txBody>
      </p:sp>
      <p:sp>
        <p:nvSpPr>
          <p:cNvPr id="26" name="Rectangle 25"/>
          <p:cNvSpPr/>
          <p:nvPr/>
        </p:nvSpPr>
        <p:spPr>
          <a:xfrm>
            <a:off x="5042916"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42916"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80076"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注意点・影響</a:t>
            </a:r>
          </a:p>
        </p:txBody>
      </p:sp>
      <p:sp>
        <p:nvSpPr>
          <p:cNvPr id="29" name="TextBox 28"/>
          <p:cNvSpPr txBox="1"/>
          <p:nvPr/>
        </p:nvSpPr>
        <p:spPr>
          <a:xfrm>
            <a:off x="5225796"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・リサーチを使ったアンケート施策・満足度調査を運用中のクライアントは代替手段への移行が必要</a:t>
            </a:r>
          </a:p>
        </p:txBody>
      </p:sp>
      <p:sp>
        <p:nvSpPr>
          <p:cNvPr id="30" name="Rectangle 29"/>
          <p:cNvSpPr/>
          <p:nvPr/>
        </p:nvSpPr>
        <p:spPr>
          <a:xfrm>
            <a:off x="0" y="6547104"/>
            <a:ext cx="9902952"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7772400" cy="274320"/>
          </a:xfrm>
          <a:prstGeom prst="rect">
            <a:avLst/>
          </a:prstGeom>
          <a:noFill/>
        </p:spPr>
        <p:txBody>
          <a:bodyPr wrap="square" anchor="ctr" lIns="0" rIns="0" tIns="0" bIns="0">
            <a:spAutoFit/>
          </a:bodyPr>
          <a:lstStyle/>
          <a:p>
            <a:pPr algn="l"/>
            <a:r>
              <a:rPr sz="800" b="0">
                <a:solidFill>
                  <a:srgbClr val="666666"/>
                </a:solidFill>
                <a:latin typeface="メイリオ"/>
                <a:ea typeface="メイリオ"/>
                <a:cs typeface="メイリオ"/>
              </a:rPr>
              <a:t>出典：https://workers-hub.box.com/s/mtoua30hxf68prdf5x5xof495fc3e6pj</a:t>
            </a:r>
          </a:p>
        </p:txBody>
      </p:sp>
      <p:sp>
        <p:nvSpPr>
          <p:cNvPr id="32" name="TextBox 31"/>
          <p:cNvSpPr txBox="1"/>
          <p:nvPr/>
        </p:nvSpPr>
        <p:spPr>
          <a:xfrm>
            <a:off x="5943600" y="6565392"/>
            <a:ext cx="3776472" cy="274320"/>
          </a:xfrm>
          <a:prstGeom prst="rect">
            <a:avLst/>
          </a:prstGeom>
          <a:noFill/>
        </p:spPr>
        <p:txBody>
          <a:bodyPr wrap="square" anchor="ctr" lIns="0" rIns="0" tIns="0" bIns="0">
            <a:spAutoFit/>
          </a:bodyPr>
          <a:lstStyle/>
          <a:p>
            <a:pPr algn="r"/>
            <a:r>
              <a:rPr sz="750" b="0">
                <a:solidFill>
                  <a:srgbClr val="666666"/>
                </a:solidFill>
                <a:latin typeface="メイリオ"/>
                <a:ea typeface="メイリオ"/>
                <a:cs typeface="メイリオ"/>
              </a:rPr>
              <a:t>Copyright(c) DYM Co., Ltd. All Rights Reserved.</a:t>
            </a:r>
          </a:p>
        </p:txBody>
      </p:sp>
    </p:spTree>
    <p:extLst>
      <p:ext uri="{BB962C8B-B14F-4D97-AF65-F5344CB8AC3E}">
        <p14:creationId xmlns:p14="http://schemas.microsoft.com/office/powerpoint/2010/main" val="67623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2" name="Rectangle 1"/>
          <p:cNvSpPr/>
          <p:nvPr/>
        </p:nvSpPr>
        <p:spPr>
          <a:xfrm>
            <a:off x="0" y="0"/>
            <a:ext cx="9902952" cy="566928"/>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4864"/>
            <a:ext cx="4572000" cy="457200"/>
          </a:xfrm>
          <a:prstGeom prst="rect">
            <a:avLst/>
          </a:prstGeom>
          <a:noFill/>
        </p:spPr>
        <p:txBody>
          <a:bodyPr wrap="square" anchor="ctr" lIns="0" rIns="0" tIns="0" bIns="0">
            <a:spAutoFit/>
          </a:bodyPr>
          <a:lstStyle/>
          <a:p>
            <a:pPr algn="l"/>
            <a:r>
              <a:rPr sz="1500" b="1">
                <a:solidFill>
                  <a:srgbClr val="FFFFFF"/>
                </a:solidFill>
                <a:latin typeface="メイリオ"/>
                <a:ea typeface="メイリオ"/>
                <a:cs typeface="メイリオ"/>
              </a:rPr>
              <a:t>9月 媒体最新情報</a:t>
            </a:r>
          </a:p>
        </p:txBody>
      </p:sp>
      <p:sp>
        <p:nvSpPr>
          <p:cNvPr id="4" name="Rectangle 3"/>
          <p:cNvSpPr/>
          <p:nvPr/>
        </p:nvSpPr>
        <p:spPr>
          <a:xfrm>
            <a:off x="8302752"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展開禁止：－</a:t>
            </a:r>
          </a:p>
        </p:txBody>
      </p:sp>
      <p:sp>
        <p:nvSpPr>
          <p:cNvPr id="6" name="Rectangle 5"/>
          <p:cNvSpPr/>
          <p:nvPr/>
        </p:nvSpPr>
        <p:spPr>
          <a:xfrm>
            <a:off x="6775704"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75704"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代理店限定：－</a:t>
            </a:r>
          </a:p>
        </p:txBody>
      </p:sp>
      <p:sp>
        <p:nvSpPr>
          <p:cNvPr id="8" name="Rectangle 7"/>
          <p:cNvSpPr/>
          <p:nvPr/>
        </p:nvSpPr>
        <p:spPr>
          <a:xfrm>
            <a:off x="0" y="621792"/>
            <a:ext cx="9902952" cy="292608"/>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21792"/>
            <a:ext cx="502920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対象業界：</a:t>
            </a:r>
            <a:r>
              <a:rPr sz="950" b="0">
                <a:solidFill>
                  <a:srgbClr val="15133D"/>
                </a:solidFill>
                <a:latin typeface="メイリオ"/>
                <a:ea typeface="メイリオ"/>
                <a:cs typeface="メイリオ"/>
              </a:rPr>
              <a:t>－</a:t>
            </a:r>
          </a:p>
        </p:txBody>
      </p:sp>
      <p:sp>
        <p:nvSpPr>
          <p:cNvPr id="10" name="TextBox 9"/>
          <p:cNvSpPr txBox="1"/>
          <p:nvPr/>
        </p:nvSpPr>
        <p:spPr>
          <a:xfrm>
            <a:off x="5943600" y="621792"/>
            <a:ext cx="356616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マーケティングフェーズ：</a:t>
            </a:r>
            <a:r>
              <a:rPr sz="950" b="0">
                <a:solidFill>
                  <a:srgbClr val="15133D"/>
                </a:solidFill>
                <a:latin typeface="メイリオ"/>
                <a:ea typeface="メイリオ"/>
                <a:cs typeface="メイリオ"/>
              </a:rPr>
              <a:t>－</a:t>
            </a:r>
          </a:p>
        </p:txBody>
      </p:sp>
      <p:sp>
        <p:nvSpPr>
          <p:cNvPr id="11" name="TextBox 10"/>
          <p:cNvSpPr txBox="1"/>
          <p:nvPr/>
        </p:nvSpPr>
        <p:spPr>
          <a:xfrm>
            <a:off x="365760" y="1005840"/>
            <a:ext cx="9144000" cy="548640"/>
          </a:xfrm>
          <a:prstGeom prst="rect">
            <a:avLst/>
          </a:prstGeom>
          <a:noFill/>
        </p:spPr>
        <p:txBody>
          <a:bodyPr wrap="square" anchor="t" lIns="0" rIns="0" tIns="0" bIns="0">
            <a:spAutoFit/>
          </a:bodyPr>
          <a:lstStyle/>
          <a:p>
            <a:pPr algn="l">
              <a:lnSpc>
                <a:spcPct val="105000"/>
              </a:lnSpc>
            </a:pPr>
            <a:r>
              <a:rPr sz="1600" b="1">
                <a:solidFill>
                  <a:srgbClr val="15133D"/>
                </a:solidFill>
                <a:latin typeface="メイリオ"/>
                <a:ea typeface="メイリオ"/>
                <a:cs typeface="メイリオ"/>
              </a:rPr>
              <a:t>既読API（旧）新規利用受付終了（リマインド）</a:t>
            </a:r>
          </a:p>
        </p:txBody>
      </p:sp>
      <p:sp>
        <p:nvSpPr>
          <p:cNvPr id="12" name="Rectangle 11"/>
          <p:cNvSpPr/>
          <p:nvPr/>
        </p:nvSpPr>
        <p:spPr>
          <a:xfrm>
            <a:off x="365760" y="1600200"/>
            <a:ext cx="9171432" cy="68580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00200"/>
            <a:ext cx="8778240" cy="685800"/>
          </a:xfrm>
          <a:prstGeom prst="rect">
            <a:avLst/>
          </a:prstGeom>
          <a:noFill/>
        </p:spPr>
        <p:txBody>
          <a:bodyPr wrap="square" anchor="ctr" lIns="0" rIns="0" tIns="0" bIns="0">
            <a:spAutoFit/>
          </a:bodyPr>
          <a:lstStyle/>
          <a:p>
            <a:pPr algn="l">
              <a:lnSpc>
                <a:spcPct val="110000"/>
              </a:lnSpc>
            </a:pPr>
            <a:r>
              <a:rPr sz="1150" b="1">
                <a:solidFill>
                  <a:srgbClr val="15133D"/>
                </a:solidFill>
                <a:latin typeface="メイリオ"/>
                <a:ea typeface="メイリオ"/>
                <a:cs typeface="メイリオ"/>
              </a:rPr>
              <a:t>事前申請不要の新「既読API」が一般提供済み。旧既読API（LBPM経由）の新規申請受付は終了。</a:t>
            </a:r>
          </a:p>
        </p:txBody>
      </p:sp>
      <p:sp>
        <p:nvSpPr>
          <p:cNvPr id="14" name="Rectangle 13"/>
          <p:cNvSpPr/>
          <p:nvPr/>
        </p:nvSpPr>
        <p:spPr>
          <a:xfrm>
            <a:off x="365760"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概要・変更点</a:t>
            </a:r>
          </a:p>
        </p:txBody>
      </p:sp>
      <p:sp>
        <p:nvSpPr>
          <p:cNvPr id="17" name="TextBox 16"/>
          <p:cNvSpPr txBox="1"/>
          <p:nvPr/>
        </p:nvSpPr>
        <p:spPr>
          <a:xfrm>
            <a:off x="548640"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・新しい「既読API」が一般提供開始（事前の利用申請不要）</a:t>
            </a:r>
          </a:p>
          <a:p>
            <a:pPr>
              <a:lnSpc>
                <a:spcPct val="115000"/>
              </a:lnSpc>
              <a:spcAft>
                <a:spcPts val="300"/>
              </a:spcAft>
            </a:pPr>
            <a:r>
              <a:rPr sz="1050">
                <a:solidFill>
                  <a:srgbClr val="333333"/>
                </a:solidFill>
                <a:latin typeface="メイリオ"/>
                <a:ea typeface="メイリオ"/>
                <a:cs typeface="メイリオ"/>
              </a:rPr>
              <a:t>・従来のLBPM経由「既読API（旧）」の新規利用申請窓口を停止</a:t>
            </a:r>
          </a:p>
        </p:txBody>
      </p:sp>
      <p:sp>
        <p:nvSpPr>
          <p:cNvPr id="18" name="Rectangle 17"/>
          <p:cNvSpPr/>
          <p:nvPr/>
        </p:nvSpPr>
        <p:spPr>
          <a:xfrm>
            <a:off x="5042916"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2916"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料金体系・出稿条件</a:t>
            </a:r>
          </a:p>
        </p:txBody>
      </p:sp>
      <p:sp>
        <p:nvSpPr>
          <p:cNvPr id="21" name="TextBox 20"/>
          <p:cNvSpPr txBox="1"/>
          <p:nvPr/>
        </p:nvSpPr>
        <p:spPr>
          <a:xfrm>
            <a:off x="5225796"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a:t>
            </a:r>
          </a:p>
        </p:txBody>
      </p:sp>
      <p:sp>
        <p:nvSpPr>
          <p:cNvPr id="22" name="Rectangle 21"/>
          <p:cNvSpPr/>
          <p:nvPr/>
        </p:nvSpPr>
        <p:spPr>
          <a:xfrm>
            <a:off x="365760"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スケジュール・導入フロー</a:t>
            </a:r>
          </a:p>
        </p:txBody>
      </p:sp>
      <p:sp>
        <p:nvSpPr>
          <p:cNvPr id="25" name="TextBox 24"/>
          <p:cNvSpPr txBox="1"/>
          <p:nvPr/>
        </p:nvSpPr>
        <p:spPr>
          <a:xfrm>
            <a:off x="548640"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・新既読API仕様：developers.line.biz/ja/docs/messaging-api/mark-as-read/</a:t>
            </a:r>
          </a:p>
        </p:txBody>
      </p:sp>
      <p:sp>
        <p:nvSpPr>
          <p:cNvPr id="26" name="Rectangle 25"/>
          <p:cNvSpPr/>
          <p:nvPr/>
        </p:nvSpPr>
        <p:spPr>
          <a:xfrm>
            <a:off x="5042916"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42916"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80076"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注意点・影響</a:t>
            </a:r>
          </a:p>
        </p:txBody>
      </p:sp>
      <p:sp>
        <p:nvSpPr>
          <p:cNvPr id="29" name="TextBox 28"/>
          <p:cNvSpPr txBox="1"/>
          <p:nvPr/>
        </p:nvSpPr>
        <p:spPr>
          <a:xfrm>
            <a:off x="5225796"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・既読API（旧）を利用予定だった案件は新API仕様への切替が必要</a:t>
            </a:r>
          </a:p>
        </p:txBody>
      </p:sp>
      <p:sp>
        <p:nvSpPr>
          <p:cNvPr id="30" name="Rectangle 29"/>
          <p:cNvSpPr/>
          <p:nvPr/>
        </p:nvSpPr>
        <p:spPr>
          <a:xfrm>
            <a:off x="0" y="6547104"/>
            <a:ext cx="9902952"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7772400" cy="274320"/>
          </a:xfrm>
          <a:prstGeom prst="rect">
            <a:avLst/>
          </a:prstGeom>
          <a:noFill/>
        </p:spPr>
        <p:txBody>
          <a:bodyPr wrap="square" anchor="ctr" lIns="0" rIns="0" tIns="0" bIns="0">
            <a:spAutoFit/>
          </a:bodyPr>
          <a:lstStyle/>
          <a:p>
            <a:pPr algn="l"/>
            <a:r>
              <a:rPr sz="800" b="0">
                <a:solidFill>
                  <a:srgbClr val="666666"/>
                </a:solidFill>
                <a:latin typeface="メイリオ"/>
                <a:ea typeface="メイリオ"/>
                <a:cs typeface="メイリオ"/>
              </a:rPr>
              <a:t>出典：https://workers-hub.box.com/s/nxgvv2ejax65j6cadz7gdsdalxd8zioa</a:t>
            </a:r>
          </a:p>
        </p:txBody>
      </p:sp>
      <p:sp>
        <p:nvSpPr>
          <p:cNvPr id="32" name="TextBox 31"/>
          <p:cNvSpPr txBox="1"/>
          <p:nvPr/>
        </p:nvSpPr>
        <p:spPr>
          <a:xfrm>
            <a:off x="5943600" y="6565392"/>
            <a:ext cx="3776472" cy="274320"/>
          </a:xfrm>
          <a:prstGeom prst="rect">
            <a:avLst/>
          </a:prstGeom>
          <a:noFill/>
        </p:spPr>
        <p:txBody>
          <a:bodyPr wrap="square" anchor="ctr" lIns="0" rIns="0" tIns="0" bIns="0">
            <a:spAutoFit/>
          </a:bodyPr>
          <a:lstStyle/>
          <a:p>
            <a:pPr algn="r"/>
            <a:r>
              <a:rPr sz="750" b="0">
                <a:solidFill>
                  <a:srgbClr val="666666"/>
                </a:solidFill>
                <a:latin typeface="メイリオ"/>
                <a:ea typeface="メイリオ"/>
                <a:cs typeface="メイリオ"/>
              </a:rPr>
              <a:t>Copyright(c) DYM Co., Ltd. All Rights Reserved.</a:t>
            </a:r>
          </a:p>
        </p:txBody>
      </p:sp>
    </p:spTree>
    <p:extLst>
      <p:ext uri="{BB962C8B-B14F-4D97-AF65-F5344CB8AC3E}">
        <p14:creationId xmlns:p14="http://schemas.microsoft.com/office/powerpoint/2010/main" val="350948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Rectangle 1"/>
          <p:cNvSpPr/>
          <p:nvPr/>
        </p:nvSpPr>
        <p:spPr>
          <a:xfrm>
            <a:off x="0" y="0"/>
            <a:ext cx="9902952" cy="566928"/>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4864"/>
            <a:ext cx="4572000" cy="457200"/>
          </a:xfrm>
          <a:prstGeom prst="rect">
            <a:avLst/>
          </a:prstGeom>
          <a:noFill/>
        </p:spPr>
        <p:txBody>
          <a:bodyPr wrap="square" anchor="ctr" lIns="0" rIns="0" tIns="0" bIns="0">
            <a:spAutoFit/>
          </a:bodyPr>
          <a:lstStyle/>
          <a:p>
            <a:pPr algn="l"/>
            <a:r>
              <a:rPr sz="1500" b="1">
                <a:solidFill>
                  <a:srgbClr val="FFFFFF"/>
                </a:solidFill>
                <a:latin typeface="メイリオ"/>
                <a:ea typeface="メイリオ"/>
                <a:cs typeface="メイリオ"/>
              </a:rPr>
              <a:t>9月 媒体最新情報</a:t>
            </a:r>
          </a:p>
        </p:txBody>
      </p:sp>
      <p:sp>
        <p:nvSpPr>
          <p:cNvPr id="4" name="Rectangle 3"/>
          <p:cNvSpPr/>
          <p:nvPr/>
        </p:nvSpPr>
        <p:spPr>
          <a:xfrm>
            <a:off x="8302752"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展開禁止：－</a:t>
            </a:r>
          </a:p>
        </p:txBody>
      </p:sp>
      <p:sp>
        <p:nvSpPr>
          <p:cNvPr id="6" name="Rectangle 5"/>
          <p:cNvSpPr/>
          <p:nvPr/>
        </p:nvSpPr>
        <p:spPr>
          <a:xfrm>
            <a:off x="6775704"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75704"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代理店限定：－</a:t>
            </a:r>
          </a:p>
        </p:txBody>
      </p:sp>
      <p:sp>
        <p:nvSpPr>
          <p:cNvPr id="8" name="Rectangle 7"/>
          <p:cNvSpPr/>
          <p:nvPr/>
        </p:nvSpPr>
        <p:spPr>
          <a:xfrm>
            <a:off x="0" y="621792"/>
            <a:ext cx="9902952" cy="292608"/>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21792"/>
            <a:ext cx="502920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対象業界：</a:t>
            </a:r>
            <a:r>
              <a:rPr sz="950" b="0">
                <a:solidFill>
                  <a:srgbClr val="15133D"/>
                </a:solidFill>
                <a:latin typeface="メイリオ"/>
                <a:ea typeface="メイリオ"/>
                <a:cs typeface="メイリオ"/>
              </a:rPr>
              <a:t>－</a:t>
            </a:r>
          </a:p>
        </p:txBody>
      </p:sp>
      <p:sp>
        <p:nvSpPr>
          <p:cNvPr id="10" name="TextBox 9"/>
          <p:cNvSpPr txBox="1"/>
          <p:nvPr/>
        </p:nvSpPr>
        <p:spPr>
          <a:xfrm>
            <a:off x="5943600" y="621792"/>
            <a:ext cx="356616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マーケティングフェーズ：</a:t>
            </a:r>
            <a:r>
              <a:rPr sz="950" b="0">
                <a:solidFill>
                  <a:srgbClr val="15133D"/>
                </a:solidFill>
                <a:latin typeface="メイリオ"/>
                <a:ea typeface="メイリオ"/>
                <a:cs typeface="メイリオ"/>
              </a:rPr>
              <a:t>－</a:t>
            </a:r>
          </a:p>
        </p:txBody>
      </p:sp>
      <p:sp>
        <p:nvSpPr>
          <p:cNvPr id="11" name="TextBox 10"/>
          <p:cNvSpPr txBox="1"/>
          <p:nvPr/>
        </p:nvSpPr>
        <p:spPr>
          <a:xfrm>
            <a:off x="365760" y="1005840"/>
            <a:ext cx="9144000" cy="548640"/>
          </a:xfrm>
          <a:prstGeom prst="rect">
            <a:avLst/>
          </a:prstGeom>
          <a:noFill/>
        </p:spPr>
        <p:txBody>
          <a:bodyPr wrap="square" anchor="t" lIns="0" rIns="0" tIns="0" bIns="0">
            <a:spAutoFit/>
          </a:bodyPr>
          <a:lstStyle/>
          <a:p>
            <a:pPr algn="l">
              <a:lnSpc>
                <a:spcPct val="105000"/>
              </a:lnSpc>
            </a:pPr>
            <a:r>
              <a:rPr sz="1600" b="1">
                <a:solidFill>
                  <a:srgbClr val="15133D"/>
                </a:solidFill>
                <a:latin typeface="メイリオ"/>
                <a:ea typeface="メイリオ"/>
                <a:cs typeface="メイリオ"/>
              </a:rPr>
              <a:t>LINEミニアプリ お気に入り追加促進機能</a:t>
            </a:r>
          </a:p>
        </p:txBody>
      </p:sp>
      <p:sp>
        <p:nvSpPr>
          <p:cNvPr id="12" name="Rectangle 11"/>
          <p:cNvSpPr/>
          <p:nvPr/>
        </p:nvSpPr>
        <p:spPr>
          <a:xfrm>
            <a:off x="365760" y="1600200"/>
            <a:ext cx="9171432" cy="68580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00200"/>
            <a:ext cx="8778240" cy="685800"/>
          </a:xfrm>
          <a:prstGeom prst="rect">
            <a:avLst/>
          </a:prstGeom>
          <a:noFill/>
        </p:spPr>
        <p:txBody>
          <a:bodyPr wrap="square" anchor="ctr" lIns="0" rIns="0" tIns="0" bIns="0">
            <a:spAutoFit/>
          </a:bodyPr>
          <a:lstStyle/>
          <a:p>
            <a:pPr algn="l">
              <a:lnSpc>
                <a:spcPct val="110000"/>
              </a:lnSpc>
            </a:pPr>
            <a:r>
              <a:rPr sz="1150" b="1">
                <a:solidFill>
                  <a:srgbClr val="15133D"/>
                </a:solidFill>
                <a:latin typeface="メイリオ"/>
                <a:ea typeface="メイリオ"/>
                <a:cs typeface="メイリオ"/>
              </a:rPr>
              <a:t>特定条件を満たしたユーザーに、ミニアプリのお気に入り追加を促すポップアップが自動表示される新機能。</a:t>
            </a:r>
          </a:p>
        </p:txBody>
      </p:sp>
      <p:sp>
        <p:nvSpPr>
          <p:cNvPr id="14" name="Rectangle 13"/>
          <p:cNvSpPr/>
          <p:nvPr/>
        </p:nvSpPr>
        <p:spPr>
          <a:xfrm>
            <a:off x="365760"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概要・変更点</a:t>
            </a:r>
          </a:p>
        </p:txBody>
      </p:sp>
      <p:sp>
        <p:nvSpPr>
          <p:cNvPr id="17" name="TextBox 16"/>
          <p:cNvSpPr txBox="1"/>
          <p:nvPr/>
        </p:nvSpPr>
        <p:spPr>
          <a:xfrm>
            <a:off x="548640"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・トリガー①：マイミニアプリの「履歴」からアクセス</a:t>
            </a:r>
          </a:p>
          <a:p>
            <a:pPr>
              <a:lnSpc>
                <a:spcPct val="115000"/>
              </a:lnSpc>
              <a:spcAft>
                <a:spcPts val="300"/>
              </a:spcAft>
            </a:pPr>
            <a:r>
              <a:rPr sz="1050">
                <a:solidFill>
                  <a:srgbClr val="333333"/>
                </a:solidFill>
                <a:latin typeface="メイリオ"/>
                <a:ea typeface="メイリオ"/>
                <a:cs typeface="メイリオ"/>
              </a:rPr>
              <a:t>・トリガー②：7日以内に2日以上アクセス</a:t>
            </a:r>
          </a:p>
          <a:p>
            <a:pPr>
              <a:lnSpc>
                <a:spcPct val="115000"/>
              </a:lnSpc>
              <a:spcAft>
                <a:spcPts val="300"/>
              </a:spcAft>
            </a:pPr>
            <a:r>
              <a:rPr sz="1050">
                <a:solidFill>
                  <a:srgbClr val="333333"/>
                </a:solidFill>
                <a:latin typeface="メイリオ"/>
                <a:ea typeface="メイリオ"/>
                <a:cs typeface="メイリオ"/>
              </a:rPr>
              <a:t>・条件を満たすとお気に入り追加を促すポップアップが表示</a:t>
            </a:r>
          </a:p>
        </p:txBody>
      </p:sp>
      <p:sp>
        <p:nvSpPr>
          <p:cNvPr id="18" name="Rectangle 17"/>
          <p:cNvSpPr/>
          <p:nvPr/>
        </p:nvSpPr>
        <p:spPr>
          <a:xfrm>
            <a:off x="5042916"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2916"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料金体系・出稿条件</a:t>
            </a:r>
          </a:p>
        </p:txBody>
      </p:sp>
      <p:sp>
        <p:nvSpPr>
          <p:cNvPr id="21" name="TextBox 20"/>
          <p:cNvSpPr txBox="1"/>
          <p:nvPr/>
        </p:nvSpPr>
        <p:spPr>
          <a:xfrm>
            <a:off x="5225796"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a:t>
            </a:r>
          </a:p>
        </p:txBody>
      </p:sp>
      <p:sp>
        <p:nvSpPr>
          <p:cNvPr id="22" name="Rectangle 21"/>
          <p:cNvSpPr/>
          <p:nvPr/>
        </p:nvSpPr>
        <p:spPr>
          <a:xfrm>
            <a:off x="365760"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スケジュール・導入フロー</a:t>
            </a:r>
          </a:p>
        </p:txBody>
      </p:sp>
      <p:sp>
        <p:nvSpPr>
          <p:cNvPr id="25" name="TextBox 24"/>
          <p:cNvSpPr txBox="1"/>
          <p:nvPr/>
        </p:nvSpPr>
        <p:spPr>
          <a:xfrm>
            <a:off x="548640"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・－（リリース日は要確認）</a:t>
            </a:r>
          </a:p>
        </p:txBody>
      </p:sp>
      <p:sp>
        <p:nvSpPr>
          <p:cNvPr id="26" name="Rectangle 25"/>
          <p:cNvSpPr/>
          <p:nvPr/>
        </p:nvSpPr>
        <p:spPr>
          <a:xfrm>
            <a:off x="5042916"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42916"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80076"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注意点・影響</a:t>
            </a:r>
          </a:p>
        </p:txBody>
      </p:sp>
      <p:sp>
        <p:nvSpPr>
          <p:cNvPr id="29" name="TextBox 28"/>
          <p:cNvSpPr txBox="1"/>
          <p:nvPr/>
        </p:nvSpPr>
        <p:spPr>
          <a:xfrm>
            <a:off x="5225796"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・リピート利用ユーザーの再訪導線が強化される。ミニアプリ運用中クライアントへの案内材料になる</a:t>
            </a:r>
          </a:p>
        </p:txBody>
      </p:sp>
      <p:sp>
        <p:nvSpPr>
          <p:cNvPr id="30" name="Rectangle 29"/>
          <p:cNvSpPr/>
          <p:nvPr/>
        </p:nvSpPr>
        <p:spPr>
          <a:xfrm>
            <a:off x="0" y="6547104"/>
            <a:ext cx="9902952"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7772400" cy="274320"/>
          </a:xfrm>
          <a:prstGeom prst="rect">
            <a:avLst/>
          </a:prstGeom>
          <a:noFill/>
        </p:spPr>
        <p:txBody>
          <a:bodyPr wrap="square" anchor="ctr" lIns="0" rIns="0" tIns="0" bIns="0">
            <a:spAutoFit/>
          </a:bodyPr>
          <a:lstStyle/>
          <a:p>
            <a:pPr algn="l"/>
            <a:r>
              <a:rPr sz="800" b="0">
                <a:solidFill>
                  <a:srgbClr val="666666"/>
                </a:solidFill>
                <a:latin typeface="メイリオ"/>
                <a:ea typeface="メイリオ"/>
                <a:cs typeface="メイリオ"/>
              </a:rPr>
              <a:t>出典：https://workers-hub.box.com/s/9uo4m0fiqyxmddz5br3xe9691w0q4ht7</a:t>
            </a:r>
          </a:p>
        </p:txBody>
      </p:sp>
      <p:sp>
        <p:nvSpPr>
          <p:cNvPr id="32" name="TextBox 31"/>
          <p:cNvSpPr txBox="1"/>
          <p:nvPr/>
        </p:nvSpPr>
        <p:spPr>
          <a:xfrm>
            <a:off x="5943600" y="6565392"/>
            <a:ext cx="3776472" cy="274320"/>
          </a:xfrm>
          <a:prstGeom prst="rect">
            <a:avLst/>
          </a:prstGeom>
          <a:noFill/>
        </p:spPr>
        <p:txBody>
          <a:bodyPr wrap="square" anchor="ctr" lIns="0" rIns="0" tIns="0" bIns="0">
            <a:spAutoFit/>
          </a:bodyPr>
          <a:lstStyle/>
          <a:p>
            <a:pPr algn="r"/>
            <a:r>
              <a:rPr sz="750" b="0">
                <a:solidFill>
                  <a:srgbClr val="666666"/>
                </a:solidFill>
                <a:latin typeface="メイリオ"/>
                <a:ea typeface="メイリオ"/>
                <a:cs typeface="メイリオ"/>
              </a:rPr>
              <a:t>Copyright(c) DYM Co., Ltd. All Rights Reserved.</a:t>
            </a:r>
          </a:p>
        </p:txBody>
      </p:sp>
    </p:spTree>
    <p:extLst>
      <p:ext uri="{BB962C8B-B14F-4D97-AF65-F5344CB8AC3E}">
        <p14:creationId xmlns:p14="http://schemas.microsoft.com/office/powerpoint/2010/main" val="118759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2" name="Rectangle 1"/>
          <p:cNvSpPr/>
          <p:nvPr/>
        </p:nvSpPr>
        <p:spPr>
          <a:xfrm>
            <a:off x="0" y="0"/>
            <a:ext cx="9902952" cy="566928"/>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4864"/>
            <a:ext cx="4572000" cy="457200"/>
          </a:xfrm>
          <a:prstGeom prst="rect">
            <a:avLst/>
          </a:prstGeom>
          <a:noFill/>
        </p:spPr>
        <p:txBody>
          <a:bodyPr wrap="square" anchor="ctr" lIns="0" rIns="0" tIns="0" bIns="0">
            <a:spAutoFit/>
          </a:bodyPr>
          <a:lstStyle/>
          <a:p>
            <a:pPr algn="l"/>
            <a:r>
              <a:rPr sz="1500" b="1">
                <a:solidFill>
                  <a:srgbClr val="FFFFFF"/>
                </a:solidFill>
                <a:latin typeface="メイリオ"/>
                <a:ea typeface="メイリオ"/>
                <a:cs typeface="メイリオ"/>
              </a:rPr>
              <a:t>9月 媒体最新情報</a:t>
            </a:r>
          </a:p>
        </p:txBody>
      </p:sp>
      <p:sp>
        <p:nvSpPr>
          <p:cNvPr id="4" name="Rectangle 3"/>
          <p:cNvSpPr/>
          <p:nvPr/>
        </p:nvSpPr>
        <p:spPr>
          <a:xfrm>
            <a:off x="8302752"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展開禁止：－</a:t>
            </a:r>
          </a:p>
        </p:txBody>
      </p:sp>
      <p:sp>
        <p:nvSpPr>
          <p:cNvPr id="6" name="Rectangle 5"/>
          <p:cNvSpPr/>
          <p:nvPr/>
        </p:nvSpPr>
        <p:spPr>
          <a:xfrm>
            <a:off x="6775704"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75704"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代理店限定：－</a:t>
            </a:r>
          </a:p>
        </p:txBody>
      </p:sp>
      <p:sp>
        <p:nvSpPr>
          <p:cNvPr id="8" name="Rectangle 7"/>
          <p:cNvSpPr/>
          <p:nvPr/>
        </p:nvSpPr>
        <p:spPr>
          <a:xfrm>
            <a:off x="0" y="621792"/>
            <a:ext cx="9902952" cy="292608"/>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21792"/>
            <a:ext cx="502920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対象業界：</a:t>
            </a:r>
            <a:r>
              <a:rPr sz="950" b="0">
                <a:solidFill>
                  <a:srgbClr val="15133D"/>
                </a:solidFill>
                <a:latin typeface="メイリオ"/>
                <a:ea typeface="メイリオ"/>
                <a:cs typeface="メイリオ"/>
              </a:rPr>
              <a:t>－</a:t>
            </a:r>
          </a:p>
        </p:txBody>
      </p:sp>
      <p:sp>
        <p:nvSpPr>
          <p:cNvPr id="10" name="TextBox 9"/>
          <p:cNvSpPr txBox="1"/>
          <p:nvPr/>
        </p:nvSpPr>
        <p:spPr>
          <a:xfrm>
            <a:off x="5943600" y="621792"/>
            <a:ext cx="356616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マーケティングフェーズ：</a:t>
            </a:r>
            <a:r>
              <a:rPr sz="950" b="0">
                <a:solidFill>
                  <a:srgbClr val="15133D"/>
                </a:solidFill>
                <a:latin typeface="メイリオ"/>
                <a:ea typeface="メイリオ"/>
                <a:cs typeface="メイリオ"/>
              </a:rPr>
              <a:t>－</a:t>
            </a:r>
          </a:p>
        </p:txBody>
      </p:sp>
      <p:sp>
        <p:nvSpPr>
          <p:cNvPr id="11" name="TextBox 10"/>
          <p:cNvSpPr txBox="1"/>
          <p:nvPr/>
        </p:nvSpPr>
        <p:spPr>
          <a:xfrm>
            <a:off x="365760" y="1005840"/>
            <a:ext cx="9144000" cy="548640"/>
          </a:xfrm>
          <a:prstGeom prst="rect">
            <a:avLst/>
          </a:prstGeom>
          <a:noFill/>
        </p:spPr>
        <p:txBody>
          <a:bodyPr wrap="square" anchor="t" lIns="0" rIns="0" tIns="0" bIns="0">
            <a:spAutoFit/>
          </a:bodyPr>
          <a:lstStyle/>
          <a:p>
            <a:pPr algn="l">
              <a:lnSpc>
                <a:spcPct val="105000"/>
              </a:lnSpc>
            </a:pPr>
            <a:r>
              <a:rPr sz="1600" b="1">
                <a:solidFill>
                  <a:srgbClr val="15133D"/>
                </a:solidFill>
                <a:latin typeface="メイリオ"/>
                <a:ea typeface="メイリオ"/>
                <a:cs typeface="メイリオ"/>
              </a:rPr>
              <a:t>プロモーションスタンプ・絵文字：早期発注特典①の締切</a:t>
            </a:r>
          </a:p>
        </p:txBody>
      </p:sp>
      <p:sp>
        <p:nvSpPr>
          <p:cNvPr id="12" name="Rectangle 11"/>
          <p:cNvSpPr/>
          <p:nvPr/>
        </p:nvSpPr>
        <p:spPr>
          <a:xfrm>
            <a:off x="365760" y="1600200"/>
            <a:ext cx="9171432" cy="68580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00200"/>
            <a:ext cx="8778240" cy="685800"/>
          </a:xfrm>
          <a:prstGeom prst="rect">
            <a:avLst/>
          </a:prstGeom>
          <a:noFill/>
        </p:spPr>
        <p:txBody>
          <a:bodyPr wrap="square" anchor="ctr" lIns="0" rIns="0" tIns="0" bIns="0">
            <a:spAutoFit/>
          </a:bodyPr>
          <a:lstStyle/>
          <a:p>
            <a:pPr algn="l">
              <a:lnSpc>
                <a:spcPct val="110000"/>
              </a:lnSpc>
            </a:pPr>
            <a:r>
              <a:rPr sz="1150" b="1">
                <a:solidFill>
                  <a:srgbClr val="C00000"/>
                </a:solidFill>
                <a:latin typeface="メイリオ"/>
                <a:ea typeface="メイリオ"/>
                <a:cs typeface="メイリオ"/>
              </a:rPr>
              <a:t>3月早期発注特典①を適用するには9月30日17時までの発注が必須。中間締切はクリエイターコラボ9/10、企業制作9/24。</a:t>
            </a:r>
          </a:p>
        </p:txBody>
      </p:sp>
      <p:sp>
        <p:nvSpPr>
          <p:cNvPr id="14" name="Rectangle 13"/>
          <p:cNvSpPr/>
          <p:nvPr/>
        </p:nvSpPr>
        <p:spPr>
          <a:xfrm>
            <a:off x="365760"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概要・変更点</a:t>
            </a:r>
          </a:p>
        </p:txBody>
      </p:sp>
      <p:sp>
        <p:nvSpPr>
          <p:cNvPr id="17" name="TextBox 16"/>
          <p:cNvSpPr txBox="1"/>
          <p:nvPr/>
        </p:nvSpPr>
        <p:spPr>
          <a:xfrm>
            <a:off x="548640" y="2944368"/>
            <a:ext cx="4128516" cy="1325880"/>
          </a:xfrm>
          <a:prstGeom prst="rect">
            <a:avLst/>
          </a:prstGeom>
          <a:noFill/>
        </p:spPr>
        <p:txBody>
          <a:bodyPr wrap="square" lIns="0" rIns="0" tIns="0" bIns="0">
            <a:spAutoFit/>
          </a:bodyPr>
          <a:lstStyle/>
          <a:p>
            <a:pPr>
              <a:lnSpc>
                <a:spcPct val="115000"/>
              </a:lnSpc>
              <a:spcAft>
                <a:spcPts val="300"/>
              </a:spcAft>
            </a:pPr>
            <a:r>
              <a:rPr sz="1050" b="1">
                <a:solidFill>
                  <a:srgbClr val="C00000"/>
                </a:solidFill>
                <a:latin typeface="メイリオ"/>
                <a:ea typeface="メイリオ"/>
                <a:cs typeface="メイリオ"/>
              </a:rPr>
              <a:t>・3月早期発注特典 特典①適用は9月1日〜9月30日17時までの発注が条件</a:t>
            </a:r>
          </a:p>
        </p:txBody>
      </p:sp>
      <p:sp>
        <p:nvSpPr>
          <p:cNvPr id="18" name="Rectangle 17"/>
          <p:cNvSpPr/>
          <p:nvPr/>
        </p:nvSpPr>
        <p:spPr>
          <a:xfrm>
            <a:off x="5042916"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2916"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料金体系・出稿条件</a:t>
            </a:r>
          </a:p>
        </p:txBody>
      </p:sp>
      <p:sp>
        <p:nvSpPr>
          <p:cNvPr id="21" name="TextBox 20"/>
          <p:cNvSpPr txBox="1"/>
          <p:nvPr/>
        </p:nvSpPr>
        <p:spPr>
          <a:xfrm>
            <a:off x="5225796" y="2944368"/>
            <a:ext cx="4128516" cy="1325880"/>
          </a:xfrm>
          <a:prstGeom prst="rect">
            <a:avLst/>
          </a:prstGeom>
          <a:noFill/>
        </p:spPr>
        <p:txBody>
          <a:bodyPr wrap="square" lIns="0" rIns="0" tIns="0" bIns="0">
            <a:spAutoFit/>
          </a:bodyPr>
          <a:lstStyle/>
          <a:p>
            <a:pPr>
              <a:lnSpc>
                <a:spcPct val="115000"/>
              </a:lnSpc>
              <a:spcAft>
                <a:spcPts val="300"/>
              </a:spcAft>
            </a:pPr>
            <a:r>
              <a:rPr sz="1050" b="1">
                <a:solidFill>
                  <a:srgbClr val="C00000"/>
                </a:solidFill>
                <a:latin typeface="メイリオ"/>
                <a:ea typeface="メイリオ"/>
                <a:cs typeface="メイリオ"/>
              </a:rPr>
              <a:t>・特典②適用の場合は10月30日17時まで</a:t>
            </a:r>
          </a:p>
        </p:txBody>
      </p:sp>
      <p:sp>
        <p:nvSpPr>
          <p:cNvPr id="22" name="Rectangle 21"/>
          <p:cNvSpPr/>
          <p:nvPr/>
        </p:nvSpPr>
        <p:spPr>
          <a:xfrm>
            <a:off x="365760"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スケジュール・導入フロー</a:t>
            </a:r>
          </a:p>
        </p:txBody>
      </p:sp>
      <p:sp>
        <p:nvSpPr>
          <p:cNvPr id="25" name="TextBox 24"/>
          <p:cNvSpPr txBox="1"/>
          <p:nvPr/>
        </p:nvSpPr>
        <p:spPr>
          <a:xfrm>
            <a:off x="548640" y="5047488"/>
            <a:ext cx="4128516" cy="1325880"/>
          </a:xfrm>
          <a:prstGeom prst="rect">
            <a:avLst/>
          </a:prstGeom>
          <a:noFill/>
        </p:spPr>
        <p:txBody>
          <a:bodyPr wrap="square" lIns="0" rIns="0" tIns="0" bIns="0">
            <a:spAutoFit/>
          </a:bodyPr>
          <a:lstStyle/>
          <a:p>
            <a:pPr>
              <a:lnSpc>
                <a:spcPct val="115000"/>
              </a:lnSpc>
              <a:spcAft>
                <a:spcPts val="300"/>
              </a:spcAft>
            </a:pPr>
            <a:r>
              <a:rPr sz="1050" b="1">
                <a:solidFill>
                  <a:srgbClr val="C00000"/>
                </a:solidFill>
                <a:latin typeface="メイリオ"/>
                <a:ea typeface="メイリオ"/>
                <a:cs typeface="メイリオ"/>
              </a:rPr>
              <a:t>・クリエイターコラボ：「依頼申請／バリエーション依頼シート提出」を9/10(木)17時までにLBPMで申請</a:t>
            </a:r>
          </a:p>
          <a:p>
            <a:pPr>
              <a:lnSpc>
                <a:spcPct val="115000"/>
              </a:lnSpc>
              <a:spcAft>
                <a:spcPts val="300"/>
              </a:spcAft>
            </a:pPr>
            <a:r>
              <a:rPr sz="1050" b="1">
                <a:solidFill>
                  <a:srgbClr val="C00000"/>
                </a:solidFill>
                <a:latin typeface="メイリオ"/>
                <a:ea typeface="メイリオ"/>
                <a:cs typeface="メイリオ"/>
              </a:rPr>
              <a:t>・企業制作：「キャラクター可否審査申請」を9/24(木)17時までにLBPMで申請</a:t>
            </a:r>
          </a:p>
        </p:txBody>
      </p:sp>
      <p:sp>
        <p:nvSpPr>
          <p:cNvPr id="26" name="Rectangle 25"/>
          <p:cNvSpPr/>
          <p:nvPr/>
        </p:nvSpPr>
        <p:spPr>
          <a:xfrm>
            <a:off x="5042916"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42916"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80076"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注意点・影響</a:t>
            </a:r>
          </a:p>
        </p:txBody>
      </p:sp>
      <p:sp>
        <p:nvSpPr>
          <p:cNvPr id="29" name="TextBox 28"/>
          <p:cNvSpPr txBox="1"/>
          <p:nvPr/>
        </p:nvSpPr>
        <p:spPr>
          <a:xfrm>
            <a:off x="5225796"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・コラボクリエイター候補が未定の企業は締切厳守で要進行</a:t>
            </a:r>
          </a:p>
          <a:p>
            <a:pPr>
              <a:lnSpc>
                <a:spcPct val="115000"/>
              </a:lnSpc>
              <a:spcAft>
                <a:spcPts val="300"/>
              </a:spcAft>
            </a:pPr>
            <a:r>
              <a:rPr sz="1050">
                <a:solidFill>
                  <a:srgbClr val="333333"/>
                </a:solidFill>
                <a:latin typeface="メイリオ"/>
                <a:ea typeface="メイリオ"/>
                <a:cs typeface="メイリオ"/>
              </a:rPr>
              <a:t>・人気クリエイターは出稿がカニバる可能性があり早めの進行を推奨</a:t>
            </a:r>
          </a:p>
          <a:p>
            <a:pPr>
              <a:lnSpc>
                <a:spcPct val="115000"/>
              </a:lnSpc>
              <a:spcAft>
                <a:spcPts val="300"/>
              </a:spcAft>
            </a:pPr>
            <a:r>
              <a:rPr sz="1050">
                <a:solidFill>
                  <a:srgbClr val="333333"/>
                </a:solidFill>
                <a:latin typeface="メイリオ"/>
                <a:ea typeface="メイリオ"/>
                <a:cs typeface="メイリオ"/>
              </a:rPr>
              <a:t>・内容によっては上記日程で申請しても発注期日までに間に合わない場合あり</a:t>
            </a:r>
          </a:p>
        </p:txBody>
      </p:sp>
      <p:sp>
        <p:nvSpPr>
          <p:cNvPr id="30" name="Rectangle 29"/>
          <p:cNvSpPr/>
          <p:nvPr/>
        </p:nvSpPr>
        <p:spPr>
          <a:xfrm>
            <a:off x="0" y="6547104"/>
            <a:ext cx="9902952"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7772400" cy="274320"/>
          </a:xfrm>
          <a:prstGeom prst="rect">
            <a:avLst/>
          </a:prstGeom>
          <a:noFill/>
        </p:spPr>
        <p:txBody>
          <a:bodyPr wrap="square" anchor="ctr" lIns="0" rIns="0" tIns="0" bIns="0">
            <a:spAutoFit/>
          </a:bodyPr>
          <a:lstStyle/>
          <a:p>
            <a:pPr algn="l"/>
            <a:r>
              <a:rPr sz="800" b="0">
                <a:solidFill>
                  <a:srgbClr val="666666"/>
                </a:solidFill>
                <a:latin typeface="メイリオ"/>
                <a:ea typeface="メイリオ"/>
                <a:cs typeface="メイリオ"/>
              </a:rPr>
              <a:t>出典：https://workers-hub.box.com/s/uw4owpzcmvhcf84ijd66s0kc78izwx0n</a:t>
            </a:r>
          </a:p>
        </p:txBody>
      </p:sp>
      <p:sp>
        <p:nvSpPr>
          <p:cNvPr id="32" name="TextBox 31"/>
          <p:cNvSpPr txBox="1"/>
          <p:nvPr/>
        </p:nvSpPr>
        <p:spPr>
          <a:xfrm>
            <a:off x="5943600" y="6565392"/>
            <a:ext cx="3776472" cy="274320"/>
          </a:xfrm>
          <a:prstGeom prst="rect">
            <a:avLst/>
          </a:prstGeom>
          <a:noFill/>
        </p:spPr>
        <p:txBody>
          <a:bodyPr wrap="square" anchor="ctr" lIns="0" rIns="0" tIns="0" bIns="0">
            <a:spAutoFit/>
          </a:bodyPr>
          <a:lstStyle/>
          <a:p>
            <a:pPr algn="r"/>
            <a:r>
              <a:rPr sz="750" b="0">
                <a:solidFill>
                  <a:srgbClr val="666666"/>
                </a:solidFill>
                <a:latin typeface="メイリオ"/>
                <a:ea typeface="メイリオ"/>
                <a:cs typeface="メイリオ"/>
              </a:rPr>
              <a:t>Copyright(c) DYM Co., Ltd. All Rights Reserved.</a:t>
            </a:r>
          </a:p>
        </p:txBody>
      </p:sp>
    </p:spTree>
    <p:extLst>
      <p:ext uri="{BB962C8B-B14F-4D97-AF65-F5344CB8AC3E}">
        <p14:creationId xmlns:p14="http://schemas.microsoft.com/office/powerpoint/2010/main" val="466478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2" name="Rectangle 1"/>
          <p:cNvSpPr/>
          <p:nvPr/>
        </p:nvSpPr>
        <p:spPr>
          <a:xfrm>
            <a:off x="0" y="0"/>
            <a:ext cx="9902952" cy="566928"/>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4864"/>
            <a:ext cx="4572000" cy="457200"/>
          </a:xfrm>
          <a:prstGeom prst="rect">
            <a:avLst/>
          </a:prstGeom>
          <a:noFill/>
        </p:spPr>
        <p:txBody>
          <a:bodyPr wrap="square" anchor="ctr" lIns="0" rIns="0" tIns="0" bIns="0">
            <a:spAutoFit/>
          </a:bodyPr>
          <a:lstStyle/>
          <a:p>
            <a:pPr algn="l"/>
            <a:r>
              <a:rPr sz="1500" b="1">
                <a:solidFill>
                  <a:srgbClr val="FFFFFF"/>
                </a:solidFill>
                <a:latin typeface="メイリオ"/>
                <a:ea typeface="メイリオ"/>
                <a:cs typeface="メイリオ"/>
              </a:rPr>
              <a:t>9月 媒体最新情報</a:t>
            </a:r>
          </a:p>
        </p:txBody>
      </p:sp>
      <p:sp>
        <p:nvSpPr>
          <p:cNvPr id="4" name="Rectangle 3"/>
          <p:cNvSpPr/>
          <p:nvPr/>
        </p:nvSpPr>
        <p:spPr>
          <a:xfrm>
            <a:off x="8302752"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展開禁止：－</a:t>
            </a:r>
          </a:p>
        </p:txBody>
      </p:sp>
      <p:sp>
        <p:nvSpPr>
          <p:cNvPr id="6" name="Rectangle 5"/>
          <p:cNvSpPr/>
          <p:nvPr/>
        </p:nvSpPr>
        <p:spPr>
          <a:xfrm>
            <a:off x="6775704"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75704"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代理店限定：－</a:t>
            </a:r>
          </a:p>
        </p:txBody>
      </p:sp>
      <p:sp>
        <p:nvSpPr>
          <p:cNvPr id="8" name="Rectangle 7"/>
          <p:cNvSpPr/>
          <p:nvPr/>
        </p:nvSpPr>
        <p:spPr>
          <a:xfrm>
            <a:off x="0" y="621792"/>
            <a:ext cx="9902952" cy="292608"/>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21792"/>
            <a:ext cx="502920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対象業界：</a:t>
            </a:r>
            <a:r>
              <a:rPr sz="950" b="0">
                <a:solidFill>
                  <a:srgbClr val="15133D"/>
                </a:solidFill>
                <a:latin typeface="メイリオ"/>
                <a:ea typeface="メイリオ"/>
                <a:cs typeface="メイリオ"/>
              </a:rPr>
              <a:t>－</a:t>
            </a:r>
          </a:p>
        </p:txBody>
      </p:sp>
      <p:sp>
        <p:nvSpPr>
          <p:cNvPr id="10" name="TextBox 9"/>
          <p:cNvSpPr txBox="1"/>
          <p:nvPr/>
        </p:nvSpPr>
        <p:spPr>
          <a:xfrm>
            <a:off x="5943600" y="621792"/>
            <a:ext cx="356616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マーケティングフェーズ：</a:t>
            </a:r>
            <a:r>
              <a:rPr sz="950" b="0">
                <a:solidFill>
                  <a:srgbClr val="15133D"/>
                </a:solidFill>
                <a:latin typeface="メイリオ"/>
                <a:ea typeface="メイリオ"/>
                <a:cs typeface="メイリオ"/>
              </a:rPr>
              <a:t>－</a:t>
            </a:r>
          </a:p>
        </p:txBody>
      </p:sp>
      <p:sp>
        <p:nvSpPr>
          <p:cNvPr id="11" name="TextBox 10"/>
          <p:cNvSpPr txBox="1"/>
          <p:nvPr/>
        </p:nvSpPr>
        <p:spPr>
          <a:xfrm>
            <a:off x="365760" y="1005840"/>
            <a:ext cx="9144000" cy="548640"/>
          </a:xfrm>
          <a:prstGeom prst="rect">
            <a:avLst/>
          </a:prstGeom>
          <a:noFill/>
        </p:spPr>
        <p:txBody>
          <a:bodyPr wrap="square" anchor="t" lIns="0" rIns="0" tIns="0" bIns="0">
            <a:spAutoFit/>
          </a:bodyPr>
          <a:lstStyle/>
          <a:p>
            <a:pPr algn="l">
              <a:lnSpc>
                <a:spcPct val="105000"/>
              </a:lnSpc>
            </a:pPr>
            <a:r>
              <a:rPr sz="1600" b="1">
                <a:solidFill>
                  <a:srgbClr val="15133D"/>
                </a:solidFill>
                <a:latin typeface="メイリオ"/>
                <a:ea typeface="メイリオ"/>
                <a:cs typeface="メイリオ"/>
              </a:rPr>
              <a:t>LINE公式アカウント「分析」データ参照期間 過去36カ月に変更</a:t>
            </a:r>
          </a:p>
        </p:txBody>
      </p:sp>
      <p:sp>
        <p:nvSpPr>
          <p:cNvPr id="12" name="Rectangle 11"/>
          <p:cNvSpPr/>
          <p:nvPr/>
        </p:nvSpPr>
        <p:spPr>
          <a:xfrm>
            <a:off x="365760" y="1600200"/>
            <a:ext cx="9171432" cy="68580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00200"/>
            <a:ext cx="8778240" cy="685800"/>
          </a:xfrm>
          <a:prstGeom prst="rect">
            <a:avLst/>
          </a:prstGeom>
          <a:noFill/>
        </p:spPr>
        <p:txBody>
          <a:bodyPr wrap="square" anchor="ctr" lIns="0" rIns="0" tIns="0" bIns="0">
            <a:spAutoFit/>
          </a:bodyPr>
          <a:lstStyle/>
          <a:p>
            <a:pPr algn="l">
              <a:lnSpc>
                <a:spcPct val="110000"/>
              </a:lnSpc>
            </a:pPr>
            <a:r>
              <a:rPr sz="1150" b="1">
                <a:solidFill>
                  <a:srgbClr val="15133D"/>
                </a:solidFill>
                <a:latin typeface="メイリオ"/>
                <a:ea typeface="メイリオ"/>
                <a:cs typeface="メイリオ"/>
              </a:rPr>
              <a:t>「分析」タブの参照期間が過去36カ月までに変更予定。※社外告知は延期中、日程未確定につき最新情報を要確認。</a:t>
            </a:r>
          </a:p>
        </p:txBody>
      </p:sp>
      <p:sp>
        <p:nvSpPr>
          <p:cNvPr id="14" name="Rectangle 13"/>
          <p:cNvSpPr/>
          <p:nvPr/>
        </p:nvSpPr>
        <p:spPr>
          <a:xfrm>
            <a:off x="365760"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概要・変更点</a:t>
            </a:r>
          </a:p>
        </p:txBody>
      </p:sp>
      <p:sp>
        <p:nvSpPr>
          <p:cNvPr id="17" name="TextBox 16"/>
          <p:cNvSpPr txBox="1"/>
          <p:nvPr/>
        </p:nvSpPr>
        <p:spPr>
          <a:xfrm>
            <a:off x="548640"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・Web版管理画面／管理アプリの「分析」タブで確認できる実績値の参照期間を過去36カ月までに変更</a:t>
            </a:r>
          </a:p>
        </p:txBody>
      </p:sp>
      <p:sp>
        <p:nvSpPr>
          <p:cNvPr id="18" name="Rectangle 17"/>
          <p:cNvSpPr/>
          <p:nvPr/>
        </p:nvSpPr>
        <p:spPr>
          <a:xfrm>
            <a:off x="5042916"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2916"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料金体系・出稿条件</a:t>
            </a:r>
          </a:p>
        </p:txBody>
      </p:sp>
      <p:sp>
        <p:nvSpPr>
          <p:cNvPr id="21" name="TextBox 20"/>
          <p:cNvSpPr txBox="1"/>
          <p:nvPr/>
        </p:nvSpPr>
        <p:spPr>
          <a:xfrm>
            <a:off x="5225796"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・該当なし</a:t>
            </a:r>
          </a:p>
        </p:txBody>
      </p:sp>
      <p:sp>
        <p:nvSpPr>
          <p:cNvPr id="22" name="Rectangle 21"/>
          <p:cNvSpPr/>
          <p:nvPr/>
        </p:nvSpPr>
        <p:spPr>
          <a:xfrm>
            <a:off x="365760"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スケジュール・導入フロー</a:t>
            </a:r>
          </a:p>
        </p:txBody>
      </p:sp>
      <p:sp>
        <p:nvSpPr>
          <p:cNvPr id="25" name="TextBox 24"/>
          <p:cNvSpPr txBox="1"/>
          <p:nvPr/>
        </p:nvSpPr>
        <p:spPr>
          <a:xfrm>
            <a:off x="548640"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・リリース日：2026年11月頃（予定）</a:t>
            </a:r>
          </a:p>
          <a:p>
            <a:pPr>
              <a:lnSpc>
                <a:spcPct val="115000"/>
              </a:lnSpc>
              <a:spcAft>
                <a:spcPts val="300"/>
              </a:spcAft>
            </a:pPr>
            <a:r>
              <a:rPr sz="1050">
                <a:solidFill>
                  <a:srgbClr val="333333"/>
                </a:solidFill>
                <a:latin typeface="メイリオ"/>
                <a:ea typeface="メイリオ"/>
                <a:cs typeface="メイリオ"/>
              </a:rPr>
              <a:t>・社外告知：当初9/2予定だったが内容変更の可能性ありいったん延期。改めて案内予定</a:t>
            </a:r>
          </a:p>
        </p:txBody>
      </p:sp>
      <p:sp>
        <p:nvSpPr>
          <p:cNvPr id="26" name="Rectangle 25"/>
          <p:cNvSpPr/>
          <p:nvPr/>
        </p:nvSpPr>
        <p:spPr>
          <a:xfrm>
            <a:off x="5042916"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42916"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80076"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注意点・影響</a:t>
            </a:r>
          </a:p>
        </p:txBody>
      </p:sp>
      <p:sp>
        <p:nvSpPr>
          <p:cNvPr id="29" name="TextBox 28"/>
          <p:cNvSpPr txBox="1"/>
          <p:nvPr/>
        </p:nvSpPr>
        <p:spPr>
          <a:xfrm>
            <a:off x="5225796"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・36カ月より前の実績データが必要なクライアントには変更前の確認・保存を案内</a:t>
            </a:r>
          </a:p>
          <a:p>
            <a:pPr>
              <a:lnSpc>
                <a:spcPct val="115000"/>
              </a:lnSpc>
              <a:spcAft>
                <a:spcPts val="300"/>
              </a:spcAft>
            </a:pPr>
            <a:r>
              <a:rPr sz="1050">
                <a:solidFill>
                  <a:srgbClr val="333333"/>
                </a:solidFill>
                <a:latin typeface="メイリオ"/>
                <a:ea typeface="メイリオ"/>
                <a:cs typeface="メイリオ"/>
              </a:rPr>
              <a:t>・告知日程が流動的なため最新情報を要確認</a:t>
            </a:r>
          </a:p>
        </p:txBody>
      </p:sp>
      <p:sp>
        <p:nvSpPr>
          <p:cNvPr id="30" name="Rectangle 29"/>
          <p:cNvSpPr/>
          <p:nvPr/>
        </p:nvSpPr>
        <p:spPr>
          <a:xfrm>
            <a:off x="0" y="6547104"/>
            <a:ext cx="9902952"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7772400" cy="274320"/>
          </a:xfrm>
          <a:prstGeom prst="rect">
            <a:avLst/>
          </a:prstGeom>
          <a:noFill/>
        </p:spPr>
        <p:txBody>
          <a:bodyPr wrap="square" anchor="ctr" lIns="0" rIns="0" tIns="0" bIns="0">
            <a:spAutoFit/>
          </a:bodyPr>
          <a:lstStyle/>
          <a:p>
            <a:pPr algn="l"/>
            <a:r>
              <a:rPr sz="800" b="0">
                <a:solidFill>
                  <a:srgbClr val="666666"/>
                </a:solidFill>
                <a:latin typeface="メイリオ"/>
                <a:ea typeface="メイリオ"/>
                <a:cs typeface="メイリオ"/>
              </a:rPr>
              <a:t>出典：https://workers-hub.box.com/s/ms8iztyci2dn5z2qna88rklxwxp7o5ja</a:t>
            </a:r>
          </a:p>
        </p:txBody>
      </p:sp>
      <p:sp>
        <p:nvSpPr>
          <p:cNvPr id="32" name="TextBox 31"/>
          <p:cNvSpPr txBox="1"/>
          <p:nvPr/>
        </p:nvSpPr>
        <p:spPr>
          <a:xfrm>
            <a:off x="5943600" y="6565392"/>
            <a:ext cx="3776472" cy="274320"/>
          </a:xfrm>
          <a:prstGeom prst="rect">
            <a:avLst/>
          </a:prstGeom>
          <a:noFill/>
        </p:spPr>
        <p:txBody>
          <a:bodyPr wrap="square" anchor="ctr" lIns="0" rIns="0" tIns="0" bIns="0">
            <a:spAutoFit/>
          </a:bodyPr>
          <a:lstStyle/>
          <a:p>
            <a:pPr algn="r"/>
            <a:r>
              <a:rPr sz="750" b="0">
                <a:solidFill>
                  <a:srgbClr val="666666"/>
                </a:solidFill>
                <a:latin typeface="メイリオ"/>
                <a:ea typeface="メイリオ"/>
                <a:cs typeface="メイリオ"/>
              </a:rPr>
              <a:t>Copyright(c) DYM Co., Ltd. All Rights Reserved.</a:t>
            </a:r>
          </a:p>
        </p:txBody>
      </p:sp>
    </p:spTree>
    <p:extLst>
      <p:ext uri="{BB962C8B-B14F-4D97-AF65-F5344CB8AC3E}">
        <p14:creationId xmlns:p14="http://schemas.microsoft.com/office/powerpoint/2010/main" val="142908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2" name="Rectangle 1"/>
          <p:cNvSpPr/>
          <p:nvPr/>
        </p:nvSpPr>
        <p:spPr>
          <a:xfrm>
            <a:off x="0" y="0"/>
            <a:ext cx="9902952" cy="566928"/>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4864"/>
            <a:ext cx="4572000" cy="457200"/>
          </a:xfrm>
          <a:prstGeom prst="rect">
            <a:avLst/>
          </a:prstGeom>
          <a:noFill/>
        </p:spPr>
        <p:txBody>
          <a:bodyPr wrap="square" anchor="ctr" lIns="0" rIns="0" tIns="0" bIns="0">
            <a:spAutoFit/>
          </a:bodyPr>
          <a:lstStyle/>
          <a:p>
            <a:pPr algn="l"/>
            <a:r>
              <a:rPr sz="1500" b="1">
                <a:solidFill>
                  <a:srgbClr val="FFFFFF"/>
                </a:solidFill>
                <a:latin typeface="メイリオ"/>
                <a:ea typeface="メイリオ"/>
                <a:cs typeface="メイリオ"/>
              </a:rPr>
              <a:t>9月 媒体最新情報</a:t>
            </a:r>
          </a:p>
        </p:txBody>
      </p:sp>
      <p:sp>
        <p:nvSpPr>
          <p:cNvPr id="4" name="Rectangle 3"/>
          <p:cNvSpPr/>
          <p:nvPr/>
        </p:nvSpPr>
        <p:spPr>
          <a:xfrm>
            <a:off x="8302752"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展開禁止：－</a:t>
            </a:r>
          </a:p>
        </p:txBody>
      </p:sp>
      <p:sp>
        <p:nvSpPr>
          <p:cNvPr id="6" name="Rectangle 5"/>
          <p:cNvSpPr/>
          <p:nvPr/>
        </p:nvSpPr>
        <p:spPr>
          <a:xfrm>
            <a:off x="6775704"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75704"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代理店限定：－</a:t>
            </a:r>
          </a:p>
        </p:txBody>
      </p:sp>
      <p:sp>
        <p:nvSpPr>
          <p:cNvPr id="8" name="Rectangle 7"/>
          <p:cNvSpPr/>
          <p:nvPr/>
        </p:nvSpPr>
        <p:spPr>
          <a:xfrm>
            <a:off x="0" y="621792"/>
            <a:ext cx="9902952" cy="292608"/>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21792"/>
            <a:ext cx="502920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対象業界：</a:t>
            </a:r>
            <a:r>
              <a:rPr sz="950" b="0">
                <a:solidFill>
                  <a:srgbClr val="15133D"/>
                </a:solidFill>
                <a:latin typeface="メイリオ"/>
                <a:ea typeface="メイリオ"/>
                <a:cs typeface="メイリオ"/>
              </a:rPr>
              <a:t>－</a:t>
            </a:r>
          </a:p>
        </p:txBody>
      </p:sp>
      <p:sp>
        <p:nvSpPr>
          <p:cNvPr id="10" name="TextBox 9"/>
          <p:cNvSpPr txBox="1"/>
          <p:nvPr/>
        </p:nvSpPr>
        <p:spPr>
          <a:xfrm>
            <a:off x="5943600" y="621792"/>
            <a:ext cx="356616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マーケティングフェーズ：</a:t>
            </a:r>
            <a:r>
              <a:rPr sz="950" b="0">
                <a:solidFill>
                  <a:srgbClr val="15133D"/>
                </a:solidFill>
                <a:latin typeface="メイリオ"/>
                <a:ea typeface="メイリオ"/>
                <a:cs typeface="メイリオ"/>
              </a:rPr>
              <a:t>－</a:t>
            </a:r>
          </a:p>
        </p:txBody>
      </p:sp>
      <p:sp>
        <p:nvSpPr>
          <p:cNvPr id="11" name="TextBox 10"/>
          <p:cNvSpPr txBox="1"/>
          <p:nvPr/>
        </p:nvSpPr>
        <p:spPr>
          <a:xfrm>
            <a:off x="365760" y="1005840"/>
            <a:ext cx="9144000" cy="548640"/>
          </a:xfrm>
          <a:prstGeom prst="rect">
            <a:avLst/>
          </a:prstGeom>
          <a:noFill/>
        </p:spPr>
        <p:txBody>
          <a:bodyPr wrap="square" anchor="t" lIns="0" rIns="0" tIns="0" bIns="0">
            <a:spAutoFit/>
          </a:bodyPr>
          <a:lstStyle/>
          <a:p>
            <a:pPr algn="l">
              <a:lnSpc>
                <a:spcPct val="105000"/>
              </a:lnSpc>
            </a:pPr>
            <a:r>
              <a:rPr sz="1600" b="1">
                <a:solidFill>
                  <a:srgbClr val="15133D"/>
                </a:solidFill>
                <a:latin typeface="メイリオ"/>
                <a:ea typeface="メイリオ"/>
                <a:cs typeface="メイリオ"/>
              </a:rPr>
              <a:t>プロモーションスタンプ 効果改善アップデート（サジェスト面 無料スタンプ表示条件緩和）</a:t>
            </a:r>
          </a:p>
        </p:txBody>
      </p:sp>
      <p:sp>
        <p:nvSpPr>
          <p:cNvPr id="12" name="Rectangle 11"/>
          <p:cNvSpPr/>
          <p:nvPr/>
        </p:nvSpPr>
        <p:spPr>
          <a:xfrm>
            <a:off x="365760" y="1600200"/>
            <a:ext cx="9171432" cy="68580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00200"/>
            <a:ext cx="8778240" cy="685800"/>
          </a:xfrm>
          <a:prstGeom prst="rect">
            <a:avLst/>
          </a:prstGeom>
          <a:noFill/>
        </p:spPr>
        <p:txBody>
          <a:bodyPr wrap="square" anchor="ctr" lIns="0" rIns="0" tIns="0" bIns="0">
            <a:spAutoFit/>
          </a:bodyPr>
          <a:lstStyle/>
          <a:p>
            <a:pPr algn="l">
              <a:lnSpc>
                <a:spcPct val="110000"/>
              </a:lnSpc>
            </a:pPr>
            <a:r>
              <a:rPr sz="1150" b="1">
                <a:solidFill>
                  <a:srgbClr val="15133D"/>
                </a:solidFill>
                <a:latin typeface="メイリオ"/>
                <a:ea typeface="メイリオ"/>
                <a:cs typeface="メイリオ"/>
              </a:rPr>
              <a:t>LINEキーボードのサジェスト機能で無料スタンプが表示される条件が緩和され、全ユーザーに表示可能に。DL数は平均+5.63%増加。</a:t>
            </a:r>
          </a:p>
        </p:txBody>
      </p:sp>
      <p:sp>
        <p:nvSpPr>
          <p:cNvPr id="14" name="Rectangle 13"/>
          <p:cNvSpPr/>
          <p:nvPr/>
        </p:nvSpPr>
        <p:spPr>
          <a:xfrm>
            <a:off x="365760"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概要・変更点</a:t>
            </a:r>
          </a:p>
        </p:txBody>
      </p:sp>
      <p:sp>
        <p:nvSpPr>
          <p:cNvPr id="17" name="TextBox 16"/>
          <p:cNvSpPr txBox="1"/>
          <p:nvPr/>
        </p:nvSpPr>
        <p:spPr>
          <a:xfrm>
            <a:off x="548640"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・サジェスト面での無料スタンプ表示ユーザー条件を緩和し全ユーザーに表示されるよう変更</a:t>
            </a:r>
          </a:p>
          <a:p>
            <a:pPr>
              <a:lnSpc>
                <a:spcPct val="115000"/>
              </a:lnSpc>
              <a:spcAft>
                <a:spcPts val="300"/>
              </a:spcAft>
            </a:pPr>
            <a:r>
              <a:rPr sz="1050">
                <a:solidFill>
                  <a:srgbClr val="333333"/>
                </a:solidFill>
                <a:latin typeface="メイリオ"/>
                <a:ea typeface="メイリオ"/>
                <a:cs typeface="メイリオ"/>
              </a:rPr>
              <a:t>・配信中の案件を含む全案件に自動適用（広告主・案件側の対応は不要）</a:t>
            </a:r>
          </a:p>
        </p:txBody>
      </p:sp>
      <p:sp>
        <p:nvSpPr>
          <p:cNvPr id="18" name="Rectangle 17"/>
          <p:cNvSpPr/>
          <p:nvPr/>
        </p:nvSpPr>
        <p:spPr>
          <a:xfrm>
            <a:off x="5042916"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2916"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料金体系・出稿条件</a:t>
            </a:r>
          </a:p>
        </p:txBody>
      </p:sp>
      <p:sp>
        <p:nvSpPr>
          <p:cNvPr id="21" name="TextBox 20"/>
          <p:cNvSpPr txBox="1"/>
          <p:nvPr/>
        </p:nvSpPr>
        <p:spPr>
          <a:xfrm>
            <a:off x="5225796"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・追加費用なし（自動適用）</a:t>
            </a:r>
          </a:p>
        </p:txBody>
      </p:sp>
      <p:sp>
        <p:nvSpPr>
          <p:cNvPr id="22" name="Rectangle 21"/>
          <p:cNvSpPr/>
          <p:nvPr/>
        </p:nvSpPr>
        <p:spPr>
          <a:xfrm>
            <a:off x="365760"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スケジュール・導入フロー</a:t>
            </a:r>
          </a:p>
        </p:txBody>
      </p:sp>
      <p:sp>
        <p:nvSpPr>
          <p:cNvPr id="25" name="TextBox 24"/>
          <p:cNvSpPr txBox="1"/>
          <p:nvPr/>
        </p:nvSpPr>
        <p:spPr>
          <a:xfrm>
            <a:off x="548640"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・リリース日：2026年8月28日（金）</a:t>
            </a:r>
          </a:p>
        </p:txBody>
      </p:sp>
      <p:sp>
        <p:nvSpPr>
          <p:cNvPr id="26" name="Rectangle 25"/>
          <p:cNvSpPr/>
          <p:nvPr/>
        </p:nvSpPr>
        <p:spPr>
          <a:xfrm>
            <a:off x="5042916"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42916"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80076"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注意点・影響</a:t>
            </a:r>
          </a:p>
        </p:txBody>
      </p:sp>
      <p:sp>
        <p:nvSpPr>
          <p:cNvPr id="29" name="TextBox 28"/>
          <p:cNvSpPr txBox="1"/>
          <p:nvPr/>
        </p:nvSpPr>
        <p:spPr>
          <a:xfrm>
            <a:off x="5225796"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・A/Bテスト結果：1案件あたり平均DL数+5.63%増</a:t>
            </a:r>
          </a:p>
          <a:p>
            <a:pPr>
              <a:lnSpc>
                <a:spcPct val="115000"/>
              </a:lnSpc>
              <a:spcAft>
                <a:spcPts val="300"/>
              </a:spcAft>
            </a:pPr>
            <a:r>
              <a:rPr sz="1050">
                <a:solidFill>
                  <a:srgbClr val="333333"/>
                </a:solidFill>
                <a:latin typeface="メイリオ"/>
                <a:ea typeface="メイリオ"/>
                <a:cs typeface="メイリオ"/>
              </a:rPr>
              <a:t>・直近18ヶ月DL履歴のないユーザーでも約2倍のDL、普段DLしない層への到達も改善</a:t>
            </a:r>
          </a:p>
          <a:p>
            <a:pPr>
              <a:lnSpc>
                <a:spcPct val="115000"/>
              </a:lnSpc>
              <a:spcAft>
                <a:spcPts val="300"/>
              </a:spcAft>
            </a:pPr>
            <a:r>
              <a:rPr sz="1050">
                <a:solidFill>
                  <a:srgbClr val="333333"/>
                </a:solidFill>
                <a:latin typeface="メイリオ"/>
                <a:ea typeface="メイリオ"/>
                <a:cs typeface="メイリオ"/>
              </a:rPr>
              <a:t>・運用中クライアントへの実績報告・追加提案の材料に使える</a:t>
            </a:r>
          </a:p>
        </p:txBody>
      </p:sp>
      <p:sp>
        <p:nvSpPr>
          <p:cNvPr id="30" name="Rectangle 29"/>
          <p:cNvSpPr/>
          <p:nvPr/>
        </p:nvSpPr>
        <p:spPr>
          <a:xfrm>
            <a:off x="0" y="6547104"/>
            <a:ext cx="9902952"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7772400" cy="274320"/>
          </a:xfrm>
          <a:prstGeom prst="rect">
            <a:avLst/>
          </a:prstGeom>
          <a:noFill/>
        </p:spPr>
        <p:txBody>
          <a:bodyPr wrap="square" anchor="ctr" lIns="0" rIns="0" tIns="0" bIns="0">
            <a:spAutoFit/>
          </a:bodyPr>
          <a:lstStyle/>
          <a:p>
            <a:pPr algn="l"/>
            <a:r>
              <a:rPr sz="800" b="0">
                <a:solidFill>
                  <a:srgbClr val="666666"/>
                </a:solidFill>
                <a:latin typeface="メイリオ"/>
                <a:ea typeface="メイリオ"/>
                <a:cs typeface="メイリオ"/>
              </a:rPr>
              <a:t>出典：https://workers-hub.box.com/s/rgfhp6hxyusj7domi1irjx68jld23k9r</a:t>
            </a:r>
          </a:p>
        </p:txBody>
      </p:sp>
      <p:sp>
        <p:nvSpPr>
          <p:cNvPr id="32" name="TextBox 31"/>
          <p:cNvSpPr txBox="1"/>
          <p:nvPr/>
        </p:nvSpPr>
        <p:spPr>
          <a:xfrm>
            <a:off x="5943600" y="6565392"/>
            <a:ext cx="3776472" cy="274320"/>
          </a:xfrm>
          <a:prstGeom prst="rect">
            <a:avLst/>
          </a:prstGeom>
          <a:noFill/>
        </p:spPr>
        <p:txBody>
          <a:bodyPr wrap="square" anchor="ctr" lIns="0" rIns="0" tIns="0" bIns="0">
            <a:spAutoFit/>
          </a:bodyPr>
          <a:lstStyle/>
          <a:p>
            <a:pPr algn="r"/>
            <a:r>
              <a:rPr sz="750" b="0">
                <a:solidFill>
                  <a:srgbClr val="666666"/>
                </a:solidFill>
                <a:latin typeface="メイリオ"/>
                <a:ea typeface="メイリオ"/>
                <a:cs typeface="メイリオ"/>
              </a:rPr>
              <a:t>Copyright(c) DYM Co., Ltd. All Rights Reserved.</a:t>
            </a:r>
          </a:p>
        </p:txBody>
      </p:sp>
    </p:spTree>
    <p:extLst>
      <p:ext uri="{BB962C8B-B14F-4D97-AF65-F5344CB8AC3E}">
        <p14:creationId xmlns:p14="http://schemas.microsoft.com/office/powerpoint/2010/main" val="143812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Rectangle 1"/>
          <p:cNvSpPr/>
          <p:nvPr/>
        </p:nvSpPr>
        <p:spPr>
          <a:xfrm>
            <a:off x="0" y="0"/>
            <a:ext cx="9902952" cy="566928"/>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4864"/>
            <a:ext cx="4572000" cy="457200"/>
          </a:xfrm>
          <a:prstGeom prst="rect">
            <a:avLst/>
          </a:prstGeom>
          <a:noFill/>
        </p:spPr>
        <p:txBody>
          <a:bodyPr wrap="square" anchor="ctr" lIns="0" rIns="0" tIns="0" bIns="0">
            <a:spAutoFit/>
          </a:bodyPr>
          <a:lstStyle/>
          <a:p>
            <a:pPr algn="l"/>
            <a:r>
              <a:rPr sz="1500" b="1">
                <a:solidFill>
                  <a:srgbClr val="FFFFFF"/>
                </a:solidFill>
                <a:latin typeface="メイリオ"/>
                <a:ea typeface="メイリオ"/>
                <a:cs typeface="メイリオ"/>
              </a:rPr>
              <a:t>9月 媒体最新情報</a:t>
            </a:r>
          </a:p>
        </p:txBody>
      </p:sp>
      <p:sp>
        <p:nvSpPr>
          <p:cNvPr id="4" name="Rectangle 3"/>
          <p:cNvSpPr/>
          <p:nvPr/>
        </p:nvSpPr>
        <p:spPr>
          <a:xfrm>
            <a:off x="8302752"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展開禁止：－</a:t>
            </a:r>
          </a:p>
        </p:txBody>
      </p:sp>
      <p:sp>
        <p:nvSpPr>
          <p:cNvPr id="6" name="Rectangle 5"/>
          <p:cNvSpPr/>
          <p:nvPr/>
        </p:nvSpPr>
        <p:spPr>
          <a:xfrm>
            <a:off x="6775704"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75704"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代理店限定：－</a:t>
            </a:r>
          </a:p>
        </p:txBody>
      </p:sp>
      <p:sp>
        <p:nvSpPr>
          <p:cNvPr id="8" name="Rectangle 7"/>
          <p:cNvSpPr/>
          <p:nvPr/>
        </p:nvSpPr>
        <p:spPr>
          <a:xfrm>
            <a:off x="0" y="621792"/>
            <a:ext cx="9902952" cy="292608"/>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21792"/>
            <a:ext cx="502920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対象業界：</a:t>
            </a:r>
            <a:r>
              <a:rPr sz="950" b="0">
                <a:solidFill>
                  <a:srgbClr val="15133D"/>
                </a:solidFill>
                <a:latin typeface="メイリオ"/>
                <a:ea typeface="メイリオ"/>
                <a:cs typeface="メイリオ"/>
              </a:rPr>
              <a:t>－</a:t>
            </a:r>
          </a:p>
        </p:txBody>
      </p:sp>
      <p:sp>
        <p:nvSpPr>
          <p:cNvPr id="10" name="TextBox 9"/>
          <p:cNvSpPr txBox="1"/>
          <p:nvPr/>
        </p:nvSpPr>
        <p:spPr>
          <a:xfrm>
            <a:off x="5943600" y="621792"/>
            <a:ext cx="356616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マーケティングフェーズ：</a:t>
            </a:r>
            <a:r>
              <a:rPr sz="950" b="0">
                <a:solidFill>
                  <a:srgbClr val="15133D"/>
                </a:solidFill>
                <a:latin typeface="メイリオ"/>
                <a:ea typeface="メイリオ"/>
                <a:cs typeface="メイリオ"/>
              </a:rPr>
              <a:t>－</a:t>
            </a:r>
          </a:p>
        </p:txBody>
      </p:sp>
      <p:sp>
        <p:nvSpPr>
          <p:cNvPr id="11" name="TextBox 10"/>
          <p:cNvSpPr txBox="1"/>
          <p:nvPr/>
        </p:nvSpPr>
        <p:spPr>
          <a:xfrm>
            <a:off x="365760" y="1005840"/>
            <a:ext cx="9144000" cy="548640"/>
          </a:xfrm>
          <a:prstGeom prst="rect">
            <a:avLst/>
          </a:prstGeom>
          <a:noFill/>
        </p:spPr>
        <p:txBody>
          <a:bodyPr wrap="square" anchor="t" lIns="0" rIns="0" tIns="0" bIns="0">
            <a:spAutoFit/>
          </a:bodyPr>
          <a:lstStyle/>
          <a:p>
            <a:pPr algn="l">
              <a:lnSpc>
                <a:spcPct val="105000"/>
              </a:lnSpc>
            </a:pPr>
            <a:r>
              <a:rPr sz="1600" b="1">
                <a:solidFill>
                  <a:srgbClr val="15133D"/>
                </a:solidFill>
                <a:latin typeface="メイリオ"/>
                <a:ea typeface="メイリオ"/>
                <a:cs typeface="メイリオ"/>
              </a:rPr>
              <a:t>友だち追加オプション 複数アカウント対応</a:t>
            </a:r>
          </a:p>
        </p:txBody>
      </p:sp>
      <p:sp>
        <p:nvSpPr>
          <p:cNvPr id="12" name="Rectangle 11"/>
          <p:cNvSpPr/>
          <p:nvPr/>
        </p:nvSpPr>
        <p:spPr>
          <a:xfrm>
            <a:off x="365760" y="1600200"/>
            <a:ext cx="9171432" cy="68580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00200"/>
            <a:ext cx="8778240" cy="685800"/>
          </a:xfrm>
          <a:prstGeom prst="rect">
            <a:avLst/>
          </a:prstGeom>
          <a:noFill/>
        </p:spPr>
        <p:txBody>
          <a:bodyPr wrap="square" anchor="ctr" lIns="0" rIns="0" tIns="0" bIns="0">
            <a:spAutoFit/>
          </a:bodyPr>
          <a:lstStyle/>
          <a:p>
            <a:pPr algn="l">
              <a:lnSpc>
                <a:spcPct val="110000"/>
              </a:lnSpc>
            </a:pPr>
            <a:r>
              <a:rPr sz="1150" b="1">
                <a:solidFill>
                  <a:srgbClr val="15133D"/>
                </a:solidFill>
                <a:latin typeface="メイリオ"/>
                <a:ea typeface="メイリオ"/>
                <a:cs typeface="メイリオ"/>
              </a:rPr>
              <a:t>1つのLINEミニアプリに連携するLINE公式アカウントを複数設定できるようになる。</a:t>
            </a:r>
          </a:p>
        </p:txBody>
      </p:sp>
      <p:sp>
        <p:nvSpPr>
          <p:cNvPr id="14" name="Rectangle 13"/>
          <p:cNvSpPr/>
          <p:nvPr/>
        </p:nvSpPr>
        <p:spPr>
          <a:xfrm>
            <a:off x="365760"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概要・変更点</a:t>
            </a:r>
          </a:p>
        </p:txBody>
      </p:sp>
      <p:sp>
        <p:nvSpPr>
          <p:cNvPr id="17" name="TextBox 16"/>
          <p:cNvSpPr txBox="1"/>
          <p:nvPr/>
        </p:nvSpPr>
        <p:spPr>
          <a:xfrm>
            <a:off x="548640"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・LINEミニアプリと連携するLINE公式アカウントを複数設定可能に</a:t>
            </a:r>
          </a:p>
        </p:txBody>
      </p:sp>
      <p:sp>
        <p:nvSpPr>
          <p:cNvPr id="18" name="Rectangle 17"/>
          <p:cNvSpPr/>
          <p:nvPr/>
        </p:nvSpPr>
        <p:spPr>
          <a:xfrm>
            <a:off x="5042916"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2916"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料金体系・出稿条件</a:t>
            </a:r>
          </a:p>
        </p:txBody>
      </p:sp>
      <p:sp>
        <p:nvSpPr>
          <p:cNvPr id="21" name="TextBox 20"/>
          <p:cNvSpPr txBox="1"/>
          <p:nvPr/>
        </p:nvSpPr>
        <p:spPr>
          <a:xfrm>
            <a:off x="5225796"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a:t>
            </a:r>
          </a:p>
        </p:txBody>
      </p:sp>
      <p:sp>
        <p:nvSpPr>
          <p:cNvPr id="22" name="Rectangle 21"/>
          <p:cNvSpPr/>
          <p:nvPr/>
        </p:nvSpPr>
        <p:spPr>
          <a:xfrm>
            <a:off x="365760"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スケジュール・導入フロー</a:t>
            </a:r>
          </a:p>
        </p:txBody>
      </p:sp>
      <p:sp>
        <p:nvSpPr>
          <p:cNvPr id="25" name="TextBox 24"/>
          <p:cNvSpPr txBox="1"/>
          <p:nvPr/>
        </p:nvSpPr>
        <p:spPr>
          <a:xfrm>
            <a:off x="548640"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・リリース予定日：9月2日</a:t>
            </a:r>
          </a:p>
        </p:txBody>
      </p:sp>
      <p:sp>
        <p:nvSpPr>
          <p:cNvPr id="26" name="Rectangle 25"/>
          <p:cNvSpPr/>
          <p:nvPr/>
        </p:nvSpPr>
        <p:spPr>
          <a:xfrm>
            <a:off x="5042916"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42916"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80076"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注意点・影響</a:t>
            </a:r>
          </a:p>
        </p:txBody>
      </p:sp>
      <p:sp>
        <p:nvSpPr>
          <p:cNvPr id="29" name="TextBox 28"/>
          <p:cNvSpPr txBox="1"/>
          <p:nvPr/>
        </p:nvSpPr>
        <p:spPr>
          <a:xfrm>
            <a:off x="5225796"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・複数ブランド・複数拠点アカウントを運用するクライアントの友だち獲得導線が広がる</a:t>
            </a:r>
          </a:p>
        </p:txBody>
      </p:sp>
      <p:sp>
        <p:nvSpPr>
          <p:cNvPr id="30" name="Rectangle 29"/>
          <p:cNvSpPr/>
          <p:nvPr/>
        </p:nvSpPr>
        <p:spPr>
          <a:xfrm>
            <a:off x="0" y="6547104"/>
            <a:ext cx="9902952"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7772400" cy="274320"/>
          </a:xfrm>
          <a:prstGeom prst="rect">
            <a:avLst/>
          </a:prstGeom>
          <a:noFill/>
        </p:spPr>
        <p:txBody>
          <a:bodyPr wrap="square" anchor="ctr" lIns="0" rIns="0" tIns="0" bIns="0">
            <a:spAutoFit/>
          </a:bodyPr>
          <a:lstStyle/>
          <a:p>
            <a:pPr algn="l"/>
            <a:r>
              <a:rPr sz="800" b="0">
                <a:solidFill>
                  <a:srgbClr val="666666"/>
                </a:solidFill>
                <a:latin typeface="メイリオ"/>
                <a:ea typeface="メイリオ"/>
                <a:cs typeface="メイリオ"/>
              </a:rPr>
              <a:t>出典：https://workers-hub.box.com/s/ko2jjwgxk5fs18ejrs97fvfqv3bm3089</a:t>
            </a:r>
          </a:p>
        </p:txBody>
      </p:sp>
      <p:sp>
        <p:nvSpPr>
          <p:cNvPr id="32" name="TextBox 31"/>
          <p:cNvSpPr txBox="1"/>
          <p:nvPr/>
        </p:nvSpPr>
        <p:spPr>
          <a:xfrm>
            <a:off x="5943600" y="6565392"/>
            <a:ext cx="3776472" cy="274320"/>
          </a:xfrm>
          <a:prstGeom prst="rect">
            <a:avLst/>
          </a:prstGeom>
          <a:noFill/>
        </p:spPr>
        <p:txBody>
          <a:bodyPr wrap="square" anchor="ctr" lIns="0" rIns="0" tIns="0" bIns="0">
            <a:spAutoFit/>
          </a:bodyPr>
          <a:lstStyle/>
          <a:p>
            <a:pPr algn="r"/>
            <a:r>
              <a:rPr sz="750" b="0">
                <a:solidFill>
                  <a:srgbClr val="666666"/>
                </a:solidFill>
                <a:latin typeface="メイリオ"/>
                <a:ea typeface="メイリオ"/>
                <a:cs typeface="メイリオ"/>
              </a:rPr>
              <a:t>Copyright(c) DYM Co., Ltd. All Rights Reserved.</a:t>
            </a:r>
          </a:p>
        </p:txBody>
      </p:sp>
    </p:spTree>
    <p:extLst>
      <p:ext uri="{BB962C8B-B14F-4D97-AF65-F5344CB8AC3E}">
        <p14:creationId xmlns:p14="http://schemas.microsoft.com/office/powerpoint/2010/main" val="268777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2" name="Rectangle 1"/>
          <p:cNvSpPr/>
          <p:nvPr/>
        </p:nvSpPr>
        <p:spPr>
          <a:xfrm>
            <a:off x="0" y="0"/>
            <a:ext cx="9902952" cy="566928"/>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4864"/>
            <a:ext cx="4572000" cy="457200"/>
          </a:xfrm>
          <a:prstGeom prst="rect">
            <a:avLst/>
          </a:prstGeom>
          <a:noFill/>
        </p:spPr>
        <p:txBody>
          <a:bodyPr wrap="square" anchor="ctr" lIns="0" rIns="0" tIns="0" bIns="0">
            <a:spAutoFit/>
          </a:bodyPr>
          <a:lstStyle/>
          <a:p>
            <a:pPr algn="l"/>
            <a:r>
              <a:rPr sz="1500" b="1">
                <a:solidFill>
                  <a:srgbClr val="FFFFFF"/>
                </a:solidFill>
                <a:latin typeface="メイリオ"/>
                <a:ea typeface="メイリオ"/>
                <a:cs typeface="メイリオ"/>
              </a:rPr>
              <a:t>9月 媒体最新情報</a:t>
            </a:r>
          </a:p>
        </p:txBody>
      </p:sp>
      <p:sp>
        <p:nvSpPr>
          <p:cNvPr id="4" name="Rectangle 3"/>
          <p:cNvSpPr/>
          <p:nvPr/>
        </p:nvSpPr>
        <p:spPr>
          <a:xfrm>
            <a:off x="8302752"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展開禁止：－</a:t>
            </a:r>
          </a:p>
        </p:txBody>
      </p:sp>
      <p:sp>
        <p:nvSpPr>
          <p:cNvPr id="6" name="Rectangle 5"/>
          <p:cNvSpPr/>
          <p:nvPr/>
        </p:nvSpPr>
        <p:spPr>
          <a:xfrm>
            <a:off x="6775704"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75704"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代理店限定：－</a:t>
            </a:r>
          </a:p>
        </p:txBody>
      </p:sp>
      <p:sp>
        <p:nvSpPr>
          <p:cNvPr id="8" name="Rectangle 7"/>
          <p:cNvSpPr/>
          <p:nvPr/>
        </p:nvSpPr>
        <p:spPr>
          <a:xfrm>
            <a:off x="0" y="621792"/>
            <a:ext cx="9902952" cy="292608"/>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21792"/>
            <a:ext cx="502920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対象業界：</a:t>
            </a:r>
            <a:r>
              <a:rPr sz="950" b="0">
                <a:solidFill>
                  <a:srgbClr val="15133D"/>
                </a:solidFill>
                <a:latin typeface="メイリオ"/>
                <a:ea typeface="メイリオ"/>
                <a:cs typeface="メイリオ"/>
              </a:rPr>
              <a:t>－</a:t>
            </a:r>
          </a:p>
        </p:txBody>
      </p:sp>
      <p:sp>
        <p:nvSpPr>
          <p:cNvPr id="10" name="TextBox 9"/>
          <p:cNvSpPr txBox="1"/>
          <p:nvPr/>
        </p:nvSpPr>
        <p:spPr>
          <a:xfrm>
            <a:off x="5943600" y="621792"/>
            <a:ext cx="356616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マーケティングフェーズ：</a:t>
            </a:r>
            <a:r>
              <a:rPr sz="950" b="0">
                <a:solidFill>
                  <a:srgbClr val="15133D"/>
                </a:solidFill>
                <a:latin typeface="メイリオ"/>
                <a:ea typeface="メイリオ"/>
                <a:cs typeface="メイリオ"/>
              </a:rPr>
              <a:t>－</a:t>
            </a:r>
          </a:p>
        </p:txBody>
      </p:sp>
      <p:sp>
        <p:nvSpPr>
          <p:cNvPr id="11" name="TextBox 10"/>
          <p:cNvSpPr txBox="1"/>
          <p:nvPr/>
        </p:nvSpPr>
        <p:spPr>
          <a:xfrm>
            <a:off x="365760" y="1005840"/>
            <a:ext cx="9144000" cy="548640"/>
          </a:xfrm>
          <a:prstGeom prst="rect">
            <a:avLst/>
          </a:prstGeom>
          <a:noFill/>
        </p:spPr>
        <p:txBody>
          <a:bodyPr wrap="square" anchor="t" lIns="0" rIns="0" tIns="0" bIns="0">
            <a:spAutoFit/>
          </a:bodyPr>
          <a:lstStyle/>
          <a:p>
            <a:pPr algn="l">
              <a:lnSpc>
                <a:spcPct val="105000"/>
              </a:lnSpc>
            </a:pPr>
            <a:r>
              <a:rPr sz="1600" b="1">
                <a:solidFill>
                  <a:srgbClr val="15133D"/>
                </a:solidFill>
                <a:latin typeface="メイリオ"/>
                <a:ea typeface="メイリオ"/>
                <a:cs typeface="メイリオ"/>
              </a:rPr>
              <a:t>LINE Sales Promotion Manager 利用停止期間</a:t>
            </a:r>
          </a:p>
        </p:txBody>
      </p:sp>
      <p:sp>
        <p:nvSpPr>
          <p:cNvPr id="12" name="Rectangle 11"/>
          <p:cNvSpPr/>
          <p:nvPr/>
        </p:nvSpPr>
        <p:spPr>
          <a:xfrm>
            <a:off x="365760" y="1600200"/>
            <a:ext cx="9171432" cy="68580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00200"/>
            <a:ext cx="8778240" cy="685800"/>
          </a:xfrm>
          <a:prstGeom prst="rect">
            <a:avLst/>
          </a:prstGeom>
          <a:noFill/>
        </p:spPr>
        <p:txBody>
          <a:bodyPr wrap="square" anchor="ctr" lIns="0" rIns="0" tIns="0" bIns="0">
            <a:spAutoFit/>
          </a:bodyPr>
          <a:lstStyle/>
          <a:p>
            <a:pPr algn="l">
              <a:lnSpc>
                <a:spcPct val="110000"/>
              </a:lnSpc>
            </a:pPr>
            <a:r>
              <a:rPr sz="1150" b="1">
                <a:solidFill>
                  <a:srgbClr val="15133D"/>
                </a:solidFill>
                <a:latin typeface="メイリオ"/>
                <a:ea typeface="メイリオ"/>
                <a:cs typeface="メイリオ"/>
              </a:rPr>
              <a:t>データベース管理システムのスケール最適化のため、LINEで応募の管理画面が一時利用停止となる。</a:t>
            </a:r>
          </a:p>
        </p:txBody>
      </p:sp>
      <p:sp>
        <p:nvSpPr>
          <p:cNvPr id="14" name="Rectangle 13"/>
          <p:cNvSpPr/>
          <p:nvPr/>
        </p:nvSpPr>
        <p:spPr>
          <a:xfrm>
            <a:off x="365760"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概要・変更点</a:t>
            </a:r>
          </a:p>
        </p:txBody>
      </p:sp>
      <p:sp>
        <p:nvSpPr>
          <p:cNvPr id="17" name="TextBox 16"/>
          <p:cNvSpPr txBox="1"/>
          <p:nvPr/>
        </p:nvSpPr>
        <p:spPr>
          <a:xfrm>
            <a:off x="548640"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・データベース管理システムのスケール最適化実施のため対象期間中は管理画面が利用停止</a:t>
            </a:r>
          </a:p>
        </p:txBody>
      </p:sp>
      <p:sp>
        <p:nvSpPr>
          <p:cNvPr id="18" name="Rectangle 17"/>
          <p:cNvSpPr/>
          <p:nvPr/>
        </p:nvSpPr>
        <p:spPr>
          <a:xfrm>
            <a:off x="5042916"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2916"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料金体系・出稿条件</a:t>
            </a:r>
          </a:p>
        </p:txBody>
      </p:sp>
      <p:sp>
        <p:nvSpPr>
          <p:cNvPr id="21" name="TextBox 20"/>
          <p:cNvSpPr txBox="1"/>
          <p:nvPr/>
        </p:nvSpPr>
        <p:spPr>
          <a:xfrm>
            <a:off x="5225796"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・該当なし</a:t>
            </a:r>
          </a:p>
        </p:txBody>
      </p:sp>
      <p:sp>
        <p:nvSpPr>
          <p:cNvPr id="22" name="Rectangle 21"/>
          <p:cNvSpPr/>
          <p:nvPr/>
        </p:nvSpPr>
        <p:spPr>
          <a:xfrm>
            <a:off x="365760"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スケジュール・導入フロー</a:t>
            </a:r>
          </a:p>
        </p:txBody>
      </p:sp>
      <p:sp>
        <p:nvSpPr>
          <p:cNvPr id="25" name="TextBox 24"/>
          <p:cNvSpPr txBox="1"/>
          <p:nvPr/>
        </p:nvSpPr>
        <p:spPr>
          <a:xfrm>
            <a:off x="548640"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・社外への案内開始日・リリース日：2026年9月2日</a:t>
            </a:r>
          </a:p>
          <a:p>
            <a:pPr>
              <a:lnSpc>
                <a:spcPct val="115000"/>
              </a:lnSpc>
              <a:spcAft>
                <a:spcPts val="300"/>
              </a:spcAft>
            </a:pPr>
            <a:r>
              <a:rPr sz="1050">
                <a:solidFill>
                  <a:srgbClr val="333333"/>
                </a:solidFill>
                <a:latin typeface="メイリオ"/>
                <a:ea typeface="メイリオ"/>
                <a:cs typeface="メイリオ"/>
              </a:rPr>
              <a:t>・－（停止期間の具体的な日時は要確認）</a:t>
            </a:r>
          </a:p>
        </p:txBody>
      </p:sp>
      <p:sp>
        <p:nvSpPr>
          <p:cNvPr id="26" name="Rectangle 25"/>
          <p:cNvSpPr/>
          <p:nvPr/>
        </p:nvSpPr>
        <p:spPr>
          <a:xfrm>
            <a:off x="5042916"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42916"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80076"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注意点・影響</a:t>
            </a:r>
          </a:p>
        </p:txBody>
      </p:sp>
      <p:sp>
        <p:nvSpPr>
          <p:cNvPr id="29" name="TextBox 28"/>
          <p:cNvSpPr txBox="1"/>
          <p:nvPr/>
        </p:nvSpPr>
        <p:spPr>
          <a:xfrm>
            <a:off x="5225796"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・停止期間中は応募管理・当選者確認等の作業ができない</a:t>
            </a:r>
          </a:p>
          <a:p>
            <a:pPr>
              <a:lnSpc>
                <a:spcPct val="115000"/>
              </a:lnSpc>
              <a:spcAft>
                <a:spcPts val="300"/>
              </a:spcAft>
            </a:pPr>
            <a:r>
              <a:rPr sz="1050">
                <a:solidFill>
                  <a:srgbClr val="333333"/>
                </a:solidFill>
                <a:latin typeface="メイリオ"/>
                <a:ea typeface="メイリオ"/>
                <a:cs typeface="メイリオ"/>
              </a:rPr>
              <a:t>・稼働中キャンペーンがあるクライアントには事前周知が必要</a:t>
            </a:r>
          </a:p>
        </p:txBody>
      </p:sp>
      <p:sp>
        <p:nvSpPr>
          <p:cNvPr id="30" name="Rectangle 29"/>
          <p:cNvSpPr/>
          <p:nvPr/>
        </p:nvSpPr>
        <p:spPr>
          <a:xfrm>
            <a:off x="0" y="6547104"/>
            <a:ext cx="9902952"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7772400" cy="274320"/>
          </a:xfrm>
          <a:prstGeom prst="rect">
            <a:avLst/>
          </a:prstGeom>
          <a:noFill/>
        </p:spPr>
        <p:txBody>
          <a:bodyPr wrap="square" anchor="ctr" lIns="0" rIns="0" tIns="0" bIns="0">
            <a:spAutoFit/>
          </a:bodyPr>
          <a:lstStyle/>
          <a:p>
            <a:pPr algn="l"/>
            <a:r>
              <a:rPr sz="800" b="0">
                <a:solidFill>
                  <a:srgbClr val="666666"/>
                </a:solidFill>
                <a:latin typeface="メイリオ"/>
                <a:ea typeface="メイリオ"/>
                <a:cs typeface="メイリオ"/>
              </a:rPr>
              <a:t>出典：https://workers-hub.box.com/s/mo3y54qld9vj4kung0c4040z41mfhoip</a:t>
            </a:r>
          </a:p>
        </p:txBody>
      </p:sp>
      <p:sp>
        <p:nvSpPr>
          <p:cNvPr id="32" name="TextBox 31"/>
          <p:cNvSpPr txBox="1"/>
          <p:nvPr/>
        </p:nvSpPr>
        <p:spPr>
          <a:xfrm>
            <a:off x="5943600" y="6565392"/>
            <a:ext cx="3776472" cy="274320"/>
          </a:xfrm>
          <a:prstGeom prst="rect">
            <a:avLst/>
          </a:prstGeom>
          <a:noFill/>
        </p:spPr>
        <p:txBody>
          <a:bodyPr wrap="square" anchor="ctr" lIns="0" rIns="0" tIns="0" bIns="0">
            <a:spAutoFit/>
          </a:bodyPr>
          <a:lstStyle/>
          <a:p>
            <a:pPr algn="r"/>
            <a:r>
              <a:rPr sz="750" b="0">
                <a:solidFill>
                  <a:srgbClr val="666666"/>
                </a:solidFill>
                <a:latin typeface="メイリオ"/>
                <a:ea typeface="メイリオ"/>
                <a:cs typeface="メイリオ"/>
              </a:rPr>
              <a:t>Copyright(c) DYM Co., Ltd. All Rights Reserved.</a:t>
            </a:r>
          </a:p>
        </p:txBody>
      </p:sp>
    </p:spTree>
    <p:extLst>
      <p:ext uri="{BB962C8B-B14F-4D97-AF65-F5344CB8AC3E}">
        <p14:creationId xmlns:p14="http://schemas.microsoft.com/office/powerpoint/2010/main" val="653866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2" name="Rectangle 1"/>
          <p:cNvSpPr/>
          <p:nvPr/>
        </p:nvSpPr>
        <p:spPr>
          <a:xfrm>
            <a:off x="0" y="0"/>
            <a:ext cx="9902952" cy="566928"/>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4864"/>
            <a:ext cx="4572000" cy="457200"/>
          </a:xfrm>
          <a:prstGeom prst="rect">
            <a:avLst/>
          </a:prstGeom>
          <a:noFill/>
        </p:spPr>
        <p:txBody>
          <a:bodyPr wrap="square" anchor="ctr" lIns="0" rIns="0" tIns="0" bIns="0">
            <a:spAutoFit/>
          </a:bodyPr>
          <a:lstStyle/>
          <a:p>
            <a:pPr algn="l"/>
            <a:r>
              <a:rPr sz="1500" b="1">
                <a:solidFill>
                  <a:srgbClr val="FFFFFF"/>
                </a:solidFill>
                <a:latin typeface="メイリオ"/>
                <a:ea typeface="メイリオ"/>
                <a:cs typeface="メイリオ"/>
              </a:rPr>
              <a:t>9月 媒体最新情報</a:t>
            </a:r>
          </a:p>
        </p:txBody>
      </p:sp>
      <p:sp>
        <p:nvSpPr>
          <p:cNvPr id="4" name="Rectangle 3"/>
          <p:cNvSpPr/>
          <p:nvPr/>
        </p:nvSpPr>
        <p:spPr>
          <a:xfrm>
            <a:off x="8302752"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展開禁止：－</a:t>
            </a:r>
          </a:p>
        </p:txBody>
      </p:sp>
      <p:sp>
        <p:nvSpPr>
          <p:cNvPr id="6" name="Rectangle 5"/>
          <p:cNvSpPr/>
          <p:nvPr/>
        </p:nvSpPr>
        <p:spPr>
          <a:xfrm>
            <a:off x="6775704" y="118872"/>
            <a:ext cx="1417320" cy="329184"/>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75704" y="118872"/>
            <a:ext cx="1417320" cy="329184"/>
          </a:xfrm>
          <a:prstGeom prst="rect">
            <a:avLst/>
          </a:prstGeom>
          <a:noFill/>
        </p:spPr>
        <p:txBody>
          <a:bodyPr wrap="square" anchor="ctr" lIns="0" rIns="0" tIns="0" bIns="0">
            <a:spAutoFit/>
          </a:bodyPr>
          <a:lstStyle/>
          <a:p>
            <a:pPr algn="ctr"/>
            <a:r>
              <a:rPr sz="900" b="1">
                <a:solidFill>
                  <a:srgbClr val="15133D"/>
                </a:solidFill>
                <a:latin typeface="メイリオ"/>
                <a:ea typeface="メイリオ"/>
                <a:cs typeface="メイリオ"/>
              </a:rPr>
              <a:t>代理店限定：－</a:t>
            </a:r>
          </a:p>
        </p:txBody>
      </p:sp>
      <p:sp>
        <p:nvSpPr>
          <p:cNvPr id="8" name="Rectangle 7"/>
          <p:cNvSpPr/>
          <p:nvPr/>
        </p:nvSpPr>
        <p:spPr>
          <a:xfrm>
            <a:off x="0" y="621792"/>
            <a:ext cx="9902952" cy="292608"/>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21792"/>
            <a:ext cx="502920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対象業界：</a:t>
            </a:r>
            <a:r>
              <a:rPr sz="950" b="0">
                <a:solidFill>
                  <a:srgbClr val="15133D"/>
                </a:solidFill>
                <a:latin typeface="メイリオ"/>
                <a:ea typeface="メイリオ"/>
                <a:cs typeface="メイリオ"/>
              </a:rPr>
              <a:t>－</a:t>
            </a:r>
          </a:p>
        </p:txBody>
      </p:sp>
      <p:sp>
        <p:nvSpPr>
          <p:cNvPr id="10" name="TextBox 9"/>
          <p:cNvSpPr txBox="1"/>
          <p:nvPr/>
        </p:nvSpPr>
        <p:spPr>
          <a:xfrm>
            <a:off x="5943600" y="621792"/>
            <a:ext cx="3566160" cy="292608"/>
          </a:xfrm>
          <a:prstGeom prst="rect">
            <a:avLst/>
          </a:prstGeom>
          <a:noFill/>
        </p:spPr>
        <p:txBody>
          <a:bodyPr wrap="square" anchor="ctr" lIns="0" rIns="0" tIns="0" bIns="0">
            <a:spAutoFit/>
          </a:bodyPr>
          <a:lstStyle/>
          <a:p>
            <a:pPr algn="l"/>
            <a:r>
              <a:rPr sz="950" b="1">
                <a:solidFill>
                  <a:srgbClr val="15133D"/>
                </a:solidFill>
                <a:latin typeface="メイリオ"/>
                <a:ea typeface="メイリオ"/>
                <a:cs typeface="メイリオ"/>
              </a:rPr>
              <a:t>マーケティングフェーズ：</a:t>
            </a:r>
            <a:r>
              <a:rPr sz="950" b="0">
                <a:solidFill>
                  <a:srgbClr val="15133D"/>
                </a:solidFill>
                <a:latin typeface="メイリオ"/>
                <a:ea typeface="メイリオ"/>
                <a:cs typeface="メイリオ"/>
              </a:rPr>
              <a:t>－</a:t>
            </a:r>
          </a:p>
        </p:txBody>
      </p:sp>
      <p:sp>
        <p:nvSpPr>
          <p:cNvPr id="11" name="TextBox 10"/>
          <p:cNvSpPr txBox="1"/>
          <p:nvPr/>
        </p:nvSpPr>
        <p:spPr>
          <a:xfrm>
            <a:off x="365760" y="1005840"/>
            <a:ext cx="9144000" cy="548640"/>
          </a:xfrm>
          <a:prstGeom prst="rect">
            <a:avLst/>
          </a:prstGeom>
          <a:noFill/>
        </p:spPr>
        <p:txBody>
          <a:bodyPr wrap="square" anchor="t" lIns="0" rIns="0" tIns="0" bIns="0">
            <a:spAutoFit/>
          </a:bodyPr>
          <a:lstStyle/>
          <a:p>
            <a:pPr algn="l">
              <a:lnSpc>
                <a:spcPct val="105000"/>
              </a:lnSpc>
            </a:pPr>
            <a:r>
              <a:rPr sz="1600" b="1">
                <a:solidFill>
                  <a:srgbClr val="15133D"/>
                </a:solidFill>
                <a:latin typeface="メイリオ"/>
                <a:ea typeface="メイリオ"/>
                <a:cs typeface="メイリオ"/>
              </a:rPr>
              <a:t>LINEオープンキャンペーン（アンケート型）26年10-12月 期間限定キャンペーン</a:t>
            </a:r>
          </a:p>
        </p:txBody>
      </p:sp>
      <p:sp>
        <p:nvSpPr>
          <p:cNvPr id="12" name="Rectangle 11"/>
          <p:cNvSpPr/>
          <p:nvPr/>
        </p:nvSpPr>
        <p:spPr>
          <a:xfrm>
            <a:off x="365760" y="1600200"/>
            <a:ext cx="9171432" cy="685800"/>
          </a:xfrm>
          <a:prstGeom prst="rect">
            <a:avLst/>
          </a:prstGeom>
          <a:solidFill>
            <a:srgbClr val="C5D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00200"/>
            <a:ext cx="8778240" cy="685800"/>
          </a:xfrm>
          <a:prstGeom prst="rect">
            <a:avLst/>
          </a:prstGeom>
          <a:noFill/>
        </p:spPr>
        <p:txBody>
          <a:bodyPr wrap="square" anchor="ctr" lIns="0" rIns="0" tIns="0" bIns="0">
            <a:spAutoFit/>
          </a:bodyPr>
          <a:lstStyle/>
          <a:p>
            <a:pPr algn="l">
              <a:lnSpc>
                <a:spcPct val="110000"/>
              </a:lnSpc>
            </a:pPr>
            <a:r>
              <a:rPr sz="1150" b="1">
                <a:solidFill>
                  <a:srgbClr val="15133D"/>
                </a:solidFill>
                <a:latin typeface="メイリオ"/>
                <a:ea typeface="メイリオ"/>
                <a:cs typeface="メイリオ"/>
              </a:rPr>
              <a:t>2026年10月20日〜12月25日に終了する案件限定で、特別価格・特別期間・特別通数の3特典が適用される。</a:t>
            </a:r>
          </a:p>
        </p:txBody>
      </p:sp>
      <p:sp>
        <p:nvSpPr>
          <p:cNvPr id="14" name="Rectangle 13"/>
          <p:cNvSpPr/>
          <p:nvPr/>
        </p:nvSpPr>
        <p:spPr>
          <a:xfrm>
            <a:off x="365760"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概要・変更点</a:t>
            </a:r>
          </a:p>
        </p:txBody>
      </p:sp>
      <p:sp>
        <p:nvSpPr>
          <p:cNvPr id="17" name="TextBox 16"/>
          <p:cNvSpPr txBox="1"/>
          <p:nvPr/>
        </p:nvSpPr>
        <p:spPr>
          <a:xfrm>
            <a:off x="548640"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・対象：2026年10月20日開始〜12月25日までに終了する案件限定</a:t>
            </a:r>
          </a:p>
          <a:p>
            <a:pPr>
              <a:lnSpc>
                <a:spcPct val="115000"/>
              </a:lnSpc>
              <a:spcAft>
                <a:spcPts val="300"/>
              </a:spcAft>
            </a:pPr>
            <a:r>
              <a:rPr sz="1050">
                <a:solidFill>
                  <a:srgbClr val="333333"/>
                </a:solidFill>
                <a:latin typeface="メイリオ"/>
                <a:ea typeface="メイリオ"/>
                <a:cs typeface="メイリオ"/>
              </a:rPr>
              <a:t>・景品はLINEポイント</a:t>
            </a:r>
          </a:p>
        </p:txBody>
      </p:sp>
      <p:sp>
        <p:nvSpPr>
          <p:cNvPr id="18" name="Rectangle 17"/>
          <p:cNvSpPr/>
          <p:nvPr/>
        </p:nvSpPr>
        <p:spPr>
          <a:xfrm>
            <a:off x="5042916" y="248716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42916" y="248716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0076" y="248716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料金体系・出稿条件</a:t>
            </a:r>
          </a:p>
        </p:txBody>
      </p:sp>
      <p:sp>
        <p:nvSpPr>
          <p:cNvPr id="21" name="TextBox 20"/>
          <p:cNvSpPr txBox="1"/>
          <p:nvPr/>
        </p:nvSpPr>
        <p:spPr>
          <a:xfrm>
            <a:off x="5225796" y="294436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・特典①特別価格：基本費用（キャンペーン価格）1,500万円</a:t>
            </a:r>
          </a:p>
          <a:p>
            <a:pPr>
              <a:lnSpc>
                <a:spcPct val="115000"/>
              </a:lnSpc>
              <a:spcAft>
                <a:spcPts val="300"/>
              </a:spcAft>
            </a:pPr>
            <a:r>
              <a:rPr sz="1050">
                <a:solidFill>
                  <a:srgbClr val="333333"/>
                </a:solidFill>
                <a:latin typeface="メイリオ"/>
                <a:ea typeface="メイリオ"/>
                <a:cs typeface="メイリオ"/>
              </a:rPr>
              <a:t>・特典②特別掲載期間：キャンペーン掲載期間15日間</a:t>
            </a:r>
          </a:p>
          <a:p>
            <a:pPr>
              <a:lnSpc>
                <a:spcPct val="115000"/>
              </a:lnSpc>
              <a:spcAft>
                <a:spcPts val="300"/>
              </a:spcAft>
            </a:pPr>
            <a:r>
              <a:rPr sz="1050">
                <a:solidFill>
                  <a:srgbClr val="333333"/>
                </a:solidFill>
                <a:latin typeface="メイリオ"/>
                <a:ea typeface="メイリオ"/>
                <a:cs typeface="メイリオ"/>
              </a:rPr>
              <a:t>・特典③特別通数：告知メッセージ（1通）の通数150万通増量（最大1,050万通）</a:t>
            </a:r>
          </a:p>
        </p:txBody>
      </p:sp>
      <p:sp>
        <p:nvSpPr>
          <p:cNvPr id="22" name="Rectangle 21"/>
          <p:cNvSpPr/>
          <p:nvPr/>
        </p:nvSpPr>
        <p:spPr>
          <a:xfrm>
            <a:off x="365760"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スケジュール・導入フロー</a:t>
            </a:r>
          </a:p>
        </p:txBody>
      </p:sp>
      <p:sp>
        <p:nvSpPr>
          <p:cNvPr id="25" name="TextBox 24"/>
          <p:cNvSpPr txBox="1"/>
          <p:nvPr/>
        </p:nvSpPr>
        <p:spPr>
          <a:xfrm>
            <a:off x="548640"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・キャンペーン期間：2026年10月20日〜12月25日終了の案件が対象</a:t>
            </a:r>
          </a:p>
        </p:txBody>
      </p:sp>
      <p:sp>
        <p:nvSpPr>
          <p:cNvPr id="26" name="Rectangle 25"/>
          <p:cNvSpPr/>
          <p:nvPr/>
        </p:nvSpPr>
        <p:spPr>
          <a:xfrm>
            <a:off x="5042916" y="4590288"/>
            <a:ext cx="4494276" cy="192024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42916" y="4590288"/>
            <a:ext cx="4494276" cy="329184"/>
          </a:xfrm>
          <a:prstGeom prst="rect">
            <a:avLst/>
          </a:prstGeom>
          <a:solidFill>
            <a:srgbClr val="151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80076" y="4590288"/>
            <a:ext cx="4219956" cy="329184"/>
          </a:xfrm>
          <a:prstGeom prst="rect">
            <a:avLst/>
          </a:prstGeom>
          <a:noFill/>
        </p:spPr>
        <p:txBody>
          <a:bodyPr wrap="square" anchor="ctr" lIns="0" rIns="0" tIns="0" bIns="0">
            <a:spAutoFit/>
          </a:bodyPr>
          <a:lstStyle/>
          <a:p>
            <a:pPr algn="l"/>
            <a:r>
              <a:rPr sz="1100" b="1">
                <a:solidFill>
                  <a:srgbClr val="FFFFFF"/>
                </a:solidFill>
                <a:latin typeface="メイリオ"/>
                <a:ea typeface="メイリオ"/>
                <a:cs typeface="メイリオ"/>
              </a:rPr>
              <a:t>■ 注意点・影響</a:t>
            </a:r>
          </a:p>
        </p:txBody>
      </p:sp>
      <p:sp>
        <p:nvSpPr>
          <p:cNvPr id="29" name="TextBox 28"/>
          <p:cNvSpPr txBox="1"/>
          <p:nvPr/>
        </p:nvSpPr>
        <p:spPr>
          <a:xfrm>
            <a:off x="5225796" y="5047488"/>
            <a:ext cx="4128516" cy="1325880"/>
          </a:xfrm>
          <a:prstGeom prst="rect">
            <a:avLst/>
          </a:prstGeom>
          <a:noFill/>
        </p:spPr>
        <p:txBody>
          <a:bodyPr wrap="square" lIns="0" rIns="0" tIns="0" bIns="0">
            <a:spAutoFit/>
          </a:bodyPr>
          <a:lstStyle/>
          <a:p>
            <a:pPr>
              <a:lnSpc>
                <a:spcPct val="115000"/>
              </a:lnSpc>
              <a:spcAft>
                <a:spcPts val="300"/>
              </a:spcAft>
            </a:pPr>
            <a:r>
              <a:rPr sz="1050">
                <a:solidFill>
                  <a:srgbClr val="333333"/>
                </a:solidFill>
                <a:latin typeface="メイリオ"/>
                <a:ea typeface="メイリオ"/>
                <a:cs typeface="メイリオ"/>
              </a:rPr>
              <a:t>・期間限定・条件限定のため、対象クライアントへは早めの提案・申込誘導が必要</a:t>
            </a:r>
          </a:p>
        </p:txBody>
      </p:sp>
      <p:sp>
        <p:nvSpPr>
          <p:cNvPr id="30" name="Rectangle 29"/>
          <p:cNvSpPr/>
          <p:nvPr/>
        </p:nvSpPr>
        <p:spPr>
          <a:xfrm>
            <a:off x="0" y="6547104"/>
            <a:ext cx="9902952" cy="3108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7772400" cy="274320"/>
          </a:xfrm>
          <a:prstGeom prst="rect">
            <a:avLst/>
          </a:prstGeom>
          <a:noFill/>
        </p:spPr>
        <p:txBody>
          <a:bodyPr wrap="square" anchor="ctr" lIns="0" rIns="0" tIns="0" bIns="0">
            <a:spAutoFit/>
          </a:bodyPr>
          <a:lstStyle/>
          <a:p>
            <a:pPr algn="l"/>
            <a:r>
              <a:rPr sz="800" b="0">
                <a:solidFill>
                  <a:srgbClr val="666666"/>
                </a:solidFill>
                <a:latin typeface="メイリオ"/>
                <a:ea typeface="メイリオ"/>
                <a:cs typeface="メイリオ"/>
              </a:rPr>
              <a:t>出典：https://workers-hub.box.com/s/odilqpe44tp398zlfko148yggcgj68ny</a:t>
            </a:r>
          </a:p>
        </p:txBody>
      </p:sp>
      <p:sp>
        <p:nvSpPr>
          <p:cNvPr id="32" name="TextBox 31"/>
          <p:cNvSpPr txBox="1"/>
          <p:nvPr/>
        </p:nvSpPr>
        <p:spPr>
          <a:xfrm>
            <a:off x="5943600" y="6565392"/>
            <a:ext cx="3776472" cy="274320"/>
          </a:xfrm>
          <a:prstGeom prst="rect">
            <a:avLst/>
          </a:prstGeom>
          <a:noFill/>
        </p:spPr>
        <p:txBody>
          <a:bodyPr wrap="square" anchor="ctr" lIns="0" rIns="0" tIns="0" bIns="0">
            <a:spAutoFit/>
          </a:bodyPr>
          <a:lstStyle/>
          <a:p>
            <a:pPr algn="r"/>
            <a:r>
              <a:rPr sz="750" b="0">
                <a:solidFill>
                  <a:srgbClr val="666666"/>
                </a:solidFill>
                <a:latin typeface="メイリオ"/>
                <a:ea typeface="メイリオ"/>
                <a:cs typeface="メイリオ"/>
              </a:rPr>
              <a:t>Copyright(c) DYM Co., Ltd. All Rights Reserved.</a:t>
            </a:r>
          </a:p>
        </p:txBody>
      </p:sp>
    </p:spTree>
    <p:extLst>
      <p:ext uri="{BB962C8B-B14F-4D97-AF65-F5344CB8AC3E}">
        <p14:creationId xmlns:p14="http://schemas.microsoft.com/office/powerpoint/2010/main" val="311280376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141472</TotalTime>
  <Words>5264</Words>
  <Application>Microsoft Office PowerPoint</Application>
  <PresentationFormat>A4 210 x 297 mm</PresentationFormat>
  <Paragraphs>1342</Paragraphs>
  <Slides>36</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36</vt:i4>
      </vt:variant>
    </vt:vector>
  </HeadingPairs>
  <TitlesOfParts>
    <vt:vector size="43"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1919</cp:revision>
  <cp:lastPrinted>2022-11-01T11:38:14Z</cp:lastPrinted>
  <dcterms:created xsi:type="dcterms:W3CDTF">2015-09-04T09:21:15Z</dcterms:created>
  <dcterms:modified xsi:type="dcterms:W3CDTF">2026-07-21T09:21:02Z</dcterms:modified>
</cp:coreProperties>
</file>