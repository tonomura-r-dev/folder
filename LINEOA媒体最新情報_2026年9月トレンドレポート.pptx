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14"/>
    <p:sldId id="260" r:id="rId15"/>
    <p:sldId id="261" r:id="rId16"/>
    <p:sldId id="262" r:id="rId13"/>
    <p:sldId id="263" r:id="rId12"/>
  </p:sldIdLst>
  <p:sldSz cy="6858000" cx="9906000"/>
  <p:notesSz cx="6799250" cy="9929800"/>
  <p:embeddedFontLst>
    <p:embeddedFont>
      <p:font typeface="Century Gothic"/>
      <p:regular r:id="rId17"/>
      <p:bold r:id="rId18"/>
      <p:italic r:id="rId19"/>
      <p:boldItalic r:id="rId2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1" roundtripDataSignature="AMtx7mgQCoaVnfxROPv51WSWo8GFar7+G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232AC2F-9110-45D6-A1EA-E37EBF87FD90}">
  <a:tblStyle styleId="{5232AC2F-9110-45D6-A1EA-E37EBF87FD90}"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2" Type="http://schemas.openxmlformats.org/officeDocument/2006/relationships/slide" Target="slides/slide8.xml"/><Relationship Id="rId13" Type="http://schemas.openxmlformats.org/officeDocument/2006/relationships/slide" Target="slides/slide7.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font" Target="fonts/CenturyGothic-regular.fntdata"/><Relationship Id="rId18" Type="http://schemas.openxmlformats.org/officeDocument/2006/relationships/font" Target="fonts/CenturyGothic-bold.fntdata"/><Relationship Id="rId19" Type="http://schemas.openxmlformats.org/officeDocument/2006/relationships/font" Target="fonts/CenturyGothic-italic.fntdata"/><Relationship Id="rId20" Type="http://schemas.openxmlformats.org/officeDocument/2006/relationships/font" Target="fonts/CenturyGothic-boldItalic.fntdata"/><Relationship Id="rId21"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1" y="0"/>
            <a:ext cx="2946094" cy="495952"/>
          </a:xfrm>
          <a:prstGeom prst="rect">
            <a:avLst/>
          </a:prstGeom>
          <a:noFill/>
          <a:ln>
            <a:noFill/>
          </a:ln>
        </p:spPr>
        <p:txBody>
          <a:bodyPr anchorCtr="0" anchor="t" bIns="44100" lIns="88200" spcFirstLastPara="1" rIns="88200" wrap="square" tIns="441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51650" y="0"/>
            <a:ext cx="2946093" cy="495952"/>
          </a:xfrm>
          <a:prstGeom prst="rect">
            <a:avLst/>
          </a:prstGeom>
          <a:noFill/>
          <a:ln>
            <a:noFill/>
          </a:ln>
        </p:spPr>
        <p:txBody>
          <a:bodyPr anchorCtr="0" anchor="t" bIns="44100" lIns="88200" spcFirstLastPara="1" rIns="88200" wrap="square" tIns="441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711200" y="744538"/>
            <a:ext cx="5376863" cy="37242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0686" y="4716161"/>
            <a:ext cx="5439410" cy="4468185"/>
          </a:xfrm>
          <a:prstGeom prst="rect">
            <a:avLst/>
          </a:prstGeom>
          <a:noFill/>
          <a:ln>
            <a:noFill/>
          </a:ln>
        </p:spPr>
        <p:txBody>
          <a:bodyPr anchorCtr="0" anchor="t" bIns="44100" lIns="88200" spcFirstLastPara="1" rIns="88200" wrap="square" tIns="441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1" y="9432321"/>
            <a:ext cx="2946094" cy="495952"/>
          </a:xfrm>
          <a:prstGeom prst="rect">
            <a:avLst/>
          </a:prstGeom>
          <a:noFill/>
          <a:ln>
            <a:noFill/>
          </a:ln>
        </p:spPr>
        <p:txBody>
          <a:bodyPr anchorCtr="0" anchor="b" bIns="44100" lIns="88200" spcFirstLastPara="1" rIns="88200" wrap="square" tIns="441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51650" y="9432321"/>
            <a:ext cx="2946093" cy="495952"/>
          </a:xfrm>
          <a:prstGeom prst="rect">
            <a:avLst/>
          </a:prstGeom>
          <a:noFill/>
          <a:ln>
            <a:noFill/>
          </a:ln>
        </p:spPr>
        <p:txBody>
          <a:bodyPr anchorCtr="0" anchor="b" bIns="44100" lIns="88200" spcFirstLastPara="1" rIns="88200" wrap="square" tIns="44100">
            <a:noAutofit/>
          </a:bodyPr>
          <a:lstStyle/>
          <a:p>
            <a:pPr indent="0" lvl="0" marL="0" marR="0" rtl="0" algn="r">
              <a:spcBef>
                <a:spcPts val="0"/>
              </a:spcBef>
              <a:spcAft>
                <a:spcPts val="0"/>
              </a:spcAft>
              <a:buNone/>
            </a:pPr>
            <a:fld id="{00000000-1234-1234-1234-123412341234}" type="slidenum">
              <a:rPr b="0" i="0" lang="ja-JP"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 name="Shape 20"/>
        <p:cNvGrpSpPr/>
        <p:nvPr/>
      </p:nvGrpSpPr>
      <p:grpSpPr>
        <a:xfrm>
          <a:off x="0" y="0"/>
          <a:ext cx="0" cy="0"/>
          <a:chOff x="0" y="0"/>
          <a:chExt cx="0" cy="0"/>
        </a:xfrm>
      </p:grpSpPr>
      <p:sp>
        <p:nvSpPr>
          <p:cNvPr id="21" name="Google Shape;21;p1:notes"/>
          <p:cNvSpPr/>
          <p:nvPr>
            <p:ph idx="2" type="sldImg"/>
          </p:nvPr>
        </p:nvSpPr>
        <p:spPr>
          <a:xfrm>
            <a:off x="3124200" y="509588"/>
            <a:ext cx="3681413" cy="25495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
            <a:headEnd len="sm" w="sm" type="none"/>
            <a:tailEnd len="sm" w="sm" type="none"/>
          </a:ln>
        </p:spPr>
      </p:sp>
      <p:sp>
        <p:nvSpPr>
          <p:cNvPr id="22" name="Google Shape;22;p1:notes"/>
          <p:cNvSpPr txBox="1"/>
          <p:nvPr>
            <p:ph idx="1" type="body"/>
          </p:nvPr>
        </p:nvSpPr>
        <p:spPr>
          <a:xfrm>
            <a:off x="680686" y="4716161"/>
            <a:ext cx="5439410" cy="4468185"/>
          </a:xfrm>
          <a:prstGeom prst="rect">
            <a:avLst/>
          </a:prstGeom>
          <a:noFill/>
          <a:ln>
            <a:noFill/>
          </a:ln>
        </p:spPr>
        <p:txBody>
          <a:bodyPr anchorCtr="0" anchor="t" bIns="44100" lIns="88200" spcFirstLastPara="1" rIns="88200" wrap="square" tIns="44100">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23" name="Google Shape;23;p1:notes"/>
          <p:cNvSpPr txBox="1"/>
          <p:nvPr>
            <p:ph idx="11" type="ftr"/>
          </p:nvPr>
        </p:nvSpPr>
        <p:spPr>
          <a:xfrm>
            <a:off x="1" y="9432321"/>
            <a:ext cx="2946094" cy="495952"/>
          </a:xfrm>
          <a:prstGeom prst="rect">
            <a:avLst/>
          </a:prstGeom>
          <a:noFill/>
          <a:ln>
            <a:noFill/>
          </a:ln>
        </p:spPr>
        <p:txBody>
          <a:bodyPr anchorCtr="0" anchor="b" bIns="44100" lIns="88200" spcFirstLastPara="1" rIns="88200" wrap="square" tIns="44100">
            <a:noAutofit/>
          </a:bodyPr>
          <a:lstStyle/>
          <a:p>
            <a:pPr indent="0" lvl="0" marL="0" rtl="0" algn="l">
              <a:spcBef>
                <a:spcPts val="0"/>
              </a:spcBef>
              <a:spcAft>
                <a:spcPts val="0"/>
              </a:spcAft>
              <a:buNone/>
            </a:pPr>
            <a:r>
              <a:t/>
            </a:r>
            <a:endParaRPr/>
          </a:p>
        </p:txBody>
      </p:sp>
      <p:sp>
        <p:nvSpPr>
          <p:cNvPr id="24" name="Google Shape;24;p1:notes"/>
          <p:cNvSpPr txBox="1"/>
          <p:nvPr>
            <p:ph idx="12" type="sldNum"/>
          </p:nvPr>
        </p:nvSpPr>
        <p:spPr>
          <a:xfrm>
            <a:off x="3851650" y="9432321"/>
            <a:ext cx="2946093" cy="495952"/>
          </a:xfrm>
          <a:prstGeom prst="rect">
            <a:avLst/>
          </a:prstGeom>
          <a:noFill/>
          <a:ln>
            <a:noFill/>
          </a:ln>
        </p:spPr>
        <p:txBody>
          <a:bodyPr anchorCtr="0" anchor="b" bIns="44100" lIns="88200" spcFirstLastPara="1" rIns="88200" wrap="square" tIns="44100">
            <a:noAutofit/>
          </a:bodyPr>
          <a:lstStyle/>
          <a:p>
            <a:pPr indent="0" lvl="0" marL="0" rtl="0" algn="r">
              <a:spcBef>
                <a:spcPts val="0"/>
              </a:spcBef>
              <a:spcAft>
                <a:spcPts val="0"/>
              </a:spcAft>
              <a:buNone/>
            </a:pPr>
            <a:fld id="{00000000-1234-1234-1234-123412341234}" type="slidenum">
              <a:rPr b="0" i="0" lang="ja-JP" sz="1300" u="none" cap="none" strike="noStrike">
                <a:solidFill>
                  <a:schemeClr val="dk1"/>
                </a:solidFill>
                <a:latin typeface="Calibri"/>
                <a:ea typeface="Calibri"/>
                <a:cs typeface="Calibri"/>
                <a:sym typeface="Calibri"/>
              </a:rPr>
              <a:t>‹#›</a:t>
            </a:fld>
            <a:endParaRPr b="0" i="0" sz="1300" u="none" cap="none" strike="noStrike">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 name="Shape 30"/>
        <p:cNvGrpSpPr/>
        <p:nvPr/>
      </p:nvGrpSpPr>
      <p:grpSpPr>
        <a:xfrm>
          <a:off x="0" y="0"/>
          <a:ext cx="0" cy="0"/>
          <a:chOff x="0" y="0"/>
          <a:chExt cx="0" cy="0"/>
        </a:xfrm>
      </p:grpSpPr>
      <p:sp>
        <p:nvSpPr>
          <p:cNvPr id="31" name="Google Shape;31;p2:notes"/>
          <p:cNvSpPr txBox="1"/>
          <p:nvPr>
            <p:ph idx="1" type="body"/>
          </p:nvPr>
        </p:nvSpPr>
        <p:spPr>
          <a:xfrm>
            <a:off x="680720" y="4783307"/>
            <a:ext cx="5445760" cy="3913614"/>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200"/>
              <a:buFont typeface="Calibri"/>
              <a:buNone/>
            </a:pPr>
            <a:r>
              <a:t/>
            </a:r>
            <a:endParaRPr/>
          </a:p>
        </p:txBody>
      </p:sp>
      <p:sp>
        <p:nvSpPr>
          <p:cNvPr id="32" name="Google Shape;32;p2:notes"/>
          <p:cNvSpPr/>
          <p:nvPr>
            <p:ph idx="2" type="sldImg"/>
          </p:nvPr>
        </p:nvSpPr>
        <p:spPr>
          <a:xfrm>
            <a:off x="981075" y="1243013"/>
            <a:ext cx="4845050" cy="33543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 name="Shape 36"/>
        <p:cNvGrpSpPr/>
        <p:nvPr/>
      </p:nvGrpSpPr>
      <p:grpSpPr>
        <a:xfrm>
          <a:off x="0" y="0"/>
          <a:ext cx="0" cy="0"/>
          <a:chOff x="0" y="0"/>
          <a:chExt cx="0" cy="0"/>
        </a:xfrm>
      </p:grpSpPr>
      <p:sp>
        <p:nvSpPr>
          <p:cNvPr id="37" name="Google Shape;37;p3:notes"/>
          <p:cNvSpPr txBox="1"/>
          <p:nvPr>
            <p:ph idx="1" type="body"/>
          </p:nvPr>
        </p:nvSpPr>
        <p:spPr>
          <a:xfrm>
            <a:off x="680686" y="4716161"/>
            <a:ext cx="5439410" cy="4468185"/>
          </a:xfrm>
          <a:prstGeom prst="rect">
            <a:avLst/>
          </a:prstGeom>
        </p:spPr>
        <p:txBody>
          <a:bodyPr anchorCtr="0" anchor="t" bIns="44100" lIns="88200" spcFirstLastPara="1" rIns="88200" wrap="square" tIns="44100">
            <a:noAutofit/>
          </a:bodyPr>
          <a:lstStyle/>
          <a:p>
            <a:pPr indent="0" lvl="0" marL="0" rtl="0" algn="l">
              <a:spcBef>
                <a:spcPts val="0"/>
              </a:spcBef>
              <a:spcAft>
                <a:spcPts val="0"/>
              </a:spcAft>
              <a:buNone/>
            </a:pPr>
            <a:r>
              <a:t/>
            </a:r>
            <a:endParaRPr/>
          </a:p>
        </p:txBody>
      </p:sp>
      <p:sp>
        <p:nvSpPr>
          <p:cNvPr id="38" name="Google Shape;38;p3:notes"/>
          <p:cNvSpPr/>
          <p:nvPr>
            <p:ph idx="2" type="sldImg"/>
          </p:nvPr>
        </p:nvSpPr>
        <p:spPr>
          <a:xfrm>
            <a:off x="711200" y="744538"/>
            <a:ext cx="5376863" cy="372427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タイトル スライド">
  <p:cSld name="1_タイトル スライド">
    <p:spTree>
      <p:nvGrpSpPr>
        <p:cNvPr id="16" name="Shape 16"/>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タイトルとコンテンツ">
  <p:cSld name="4_タイトルとコンテンツ">
    <p:spTree>
      <p:nvGrpSpPr>
        <p:cNvPr id="17" name="Shape 17"/>
        <p:cNvGrpSpPr/>
        <p:nvPr/>
      </p:nvGrpSpPr>
      <p:grpSpPr>
        <a:xfrm>
          <a:off x="0" y="0"/>
          <a:ext cx="0" cy="0"/>
          <a:chOff x="0" y="0"/>
          <a:chExt cx="0" cy="0"/>
        </a:xfrm>
      </p:grpSpPr>
      <p:sp>
        <p:nvSpPr>
          <p:cNvPr id="18" name="Google Shape;18;p14"/>
          <p:cNvSpPr/>
          <p:nvPr/>
        </p:nvSpPr>
        <p:spPr>
          <a:xfrm>
            <a:off x="0" y="0"/>
            <a:ext cx="451204" cy="548680"/>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b="0" i="0" sz="1800" u="none" cap="none" strike="noStrike">
              <a:solidFill>
                <a:srgbClr val="FFFFFF"/>
              </a:solidFill>
              <a:latin typeface="Arial"/>
              <a:ea typeface="Arial"/>
              <a:cs typeface="Arial"/>
              <a:sym typeface="Arial"/>
            </a:endParaRPr>
          </a:p>
        </p:txBody>
      </p:sp>
      <p:cxnSp>
        <p:nvCxnSpPr>
          <p:cNvPr id="19" name="Google Shape;19;p14"/>
          <p:cNvCxnSpPr/>
          <p:nvPr/>
        </p:nvCxnSpPr>
        <p:spPr>
          <a:xfrm>
            <a:off x="0" y="548680"/>
            <a:ext cx="9906000" cy="0"/>
          </a:xfrm>
          <a:prstGeom prst="straightConnector1">
            <a:avLst/>
          </a:prstGeom>
          <a:noFill/>
          <a:ln cap="flat" cmpd="sng" w="25400">
            <a:solidFill>
              <a:srgbClr val="191F54"/>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2"/>
          <p:cNvSpPr/>
          <p:nvPr/>
        </p:nvSpPr>
        <p:spPr>
          <a:xfrm>
            <a:off x="0" y="6552728"/>
            <a:ext cx="9906000" cy="332656"/>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 name="Google Shape;11;p12"/>
          <p:cNvSpPr txBox="1"/>
          <p:nvPr/>
        </p:nvSpPr>
        <p:spPr>
          <a:xfrm>
            <a:off x="116569" y="6597932"/>
            <a:ext cx="366630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ja-JP" sz="800" u="none" cap="none" strike="noStrike">
                <a:solidFill>
                  <a:schemeClr val="lt1"/>
                </a:solidFill>
                <a:latin typeface="Arial"/>
                <a:ea typeface="Arial"/>
                <a:cs typeface="Arial"/>
                <a:sym typeface="Arial"/>
              </a:rPr>
              <a:t>Copyright(c) 2025 DYM inc. All Rights Reserved.</a:t>
            </a:r>
            <a:endParaRPr/>
          </a:p>
        </p:txBody>
      </p:sp>
      <p:sp>
        <p:nvSpPr>
          <p:cNvPr id="12" name="Google Shape;12;p12"/>
          <p:cNvSpPr/>
          <p:nvPr/>
        </p:nvSpPr>
        <p:spPr>
          <a:xfrm>
            <a:off x="0" y="0"/>
            <a:ext cx="416496" cy="548680"/>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cxnSp>
        <p:nvCxnSpPr>
          <p:cNvPr id="13" name="Google Shape;13;p12"/>
          <p:cNvCxnSpPr/>
          <p:nvPr/>
        </p:nvCxnSpPr>
        <p:spPr>
          <a:xfrm>
            <a:off x="0" y="548680"/>
            <a:ext cx="9906000" cy="0"/>
          </a:xfrm>
          <a:prstGeom prst="straightConnector1">
            <a:avLst/>
          </a:prstGeom>
          <a:noFill/>
          <a:ln cap="flat" cmpd="sng" w="25400">
            <a:solidFill>
              <a:srgbClr val="00324B"/>
            </a:solidFill>
            <a:prstDash val="solid"/>
            <a:round/>
            <a:headEnd len="sm" w="sm" type="none"/>
            <a:tailEnd len="sm" w="sm" type="none"/>
          </a:ln>
        </p:spPr>
      </p:cxnSp>
      <p:pic>
        <p:nvPicPr>
          <p:cNvPr id="14" name="Google Shape;14;p12"/>
          <p:cNvPicPr preferRelativeResize="0"/>
          <p:nvPr/>
        </p:nvPicPr>
        <p:blipFill rotWithShape="1">
          <a:blip r:embed="rId1">
            <a:alphaModFix/>
          </a:blip>
          <a:srcRect b="0" l="-1647" r="-11171" t="0"/>
          <a:stretch/>
        </p:blipFill>
        <p:spPr>
          <a:xfrm>
            <a:off x="8619408" y="161057"/>
            <a:ext cx="1192729" cy="263314"/>
          </a:xfrm>
          <a:prstGeom prst="rect">
            <a:avLst/>
          </a:prstGeom>
          <a:noFill/>
          <a:ln>
            <a:noFill/>
          </a:ln>
        </p:spPr>
      </p:pic>
      <p:sp>
        <p:nvSpPr>
          <p:cNvPr id="15" name="Google Shape;15;p12"/>
          <p:cNvSpPr txBox="1"/>
          <p:nvPr/>
        </p:nvSpPr>
        <p:spPr>
          <a:xfrm>
            <a:off x="7545288" y="6571255"/>
            <a:ext cx="2133600" cy="216000"/>
          </a:xfrm>
          <a:prstGeom prst="rect">
            <a:avLst/>
          </a:prstGeom>
          <a:noFill/>
          <a:ln>
            <a:noFill/>
          </a:ln>
        </p:spPr>
        <p:txBody>
          <a:bodyPr anchorCtr="0" anchor="t" bIns="45700" lIns="91425" spcFirstLastPara="1" rIns="91425" wrap="square" tIns="25200">
            <a:noAutofit/>
          </a:bodyPr>
          <a:lstStyle/>
          <a:p>
            <a:pPr indent="0" lvl="0" marL="0" marR="0" rtl="0" algn="r">
              <a:spcBef>
                <a:spcPts val="0"/>
              </a:spcBef>
              <a:spcAft>
                <a:spcPts val="0"/>
              </a:spcAft>
              <a:buNone/>
            </a:pPr>
            <a:fld id="{00000000-1234-1234-1234-123412341234}" type="slidenum">
              <a:rPr b="0" i="1" lang="ja-JP" sz="1400" u="none" cap="none" strike="noStrike">
                <a:solidFill>
                  <a:schemeClr val="lt1"/>
                </a:solidFill>
                <a:latin typeface="Century Gothic"/>
                <a:ea typeface="Century Gothic"/>
                <a:cs typeface="Century Gothic"/>
                <a:sym typeface="Century Gothic"/>
              </a:rPr>
              <a:t>‹#›</a:t>
            </a:fld>
            <a:endParaRPr b="0" i="1" sz="1400" u="none" cap="none" strike="noStrike">
              <a:solidFill>
                <a:schemeClr val="lt1"/>
              </a:solidFill>
              <a:latin typeface="Century Gothic"/>
              <a:ea typeface="Century Gothic"/>
              <a:cs typeface="Century Gothic"/>
              <a:sym typeface="Century Gothic"/>
            </a:endParaRPr>
          </a:p>
        </p:txBody>
      </p:sp>
    </p:spTree>
  </p:cSld>
  <p:clrMap accent1="accent1" accent2="accent2" accent3="accent3" accent4="accent4" accent5="accent5" accent6="accent6" bg1="lt1" bg2="dk2" tx1="dk1" tx2="lt2" folHlink="folHlink" hlink="hlink"/>
  <p:sldLayoutIdLst>
    <p:sldLayoutId id="2147483649" r:id="rId2"/>
    <p:sldLayoutId id="2147483650"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 name="Shape 25"/>
        <p:cNvGrpSpPr/>
        <p:nvPr/>
      </p:nvGrpSpPr>
      <p:grpSpPr>
        <a:xfrm>
          <a:off x="0" y="0"/>
          <a:ext cx="0" cy="0"/>
          <a:chOff x="0" y="0"/>
          <a:chExt cx="0" cy="0"/>
        </a:xfrm>
      </p:grpSpPr>
      <p:sp>
        <p:nvSpPr>
          <p:cNvPr id="26" name="Google Shape;26;p1"/>
          <p:cNvSpPr/>
          <p:nvPr/>
        </p:nvSpPr>
        <p:spPr>
          <a:xfrm>
            <a:off x="0" y="0"/>
            <a:ext cx="9906000" cy="836712"/>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b="0" i="0" sz="1800" u="none" cap="none" strike="noStrike">
              <a:solidFill>
                <a:schemeClr val="lt1"/>
              </a:solidFill>
              <a:latin typeface="Calibri"/>
              <a:ea typeface="Calibri"/>
              <a:cs typeface="Calibri"/>
              <a:sym typeface="Calibri"/>
            </a:endParaRPr>
          </a:p>
        </p:txBody>
      </p:sp>
      <p:pic>
        <p:nvPicPr>
          <p:cNvPr id="27" name="Google Shape;27;p1"/>
          <p:cNvPicPr preferRelativeResize="0"/>
          <p:nvPr/>
        </p:nvPicPr>
        <p:blipFill rotWithShape="1">
          <a:blip r:embed="rId3">
            <a:alphaModFix/>
          </a:blip>
          <a:srcRect b="0" l="-1647" r="-11171" t="0"/>
          <a:stretch/>
        </p:blipFill>
        <p:spPr>
          <a:xfrm>
            <a:off x="8619408" y="188641"/>
            <a:ext cx="1192729" cy="243605"/>
          </a:xfrm>
          <a:prstGeom prst="rect">
            <a:avLst/>
          </a:prstGeom>
          <a:noFill/>
          <a:ln>
            <a:noFill/>
          </a:ln>
        </p:spPr>
      </p:pic>
      <p:sp>
        <p:nvSpPr>
          <p:cNvPr id="28" name="Google Shape;28;p1"/>
          <p:cNvSpPr/>
          <p:nvPr/>
        </p:nvSpPr>
        <p:spPr>
          <a:xfrm>
            <a:off x="1026684" y="3645024"/>
            <a:ext cx="7873109" cy="45719"/>
          </a:xfrm>
          <a:prstGeom prst="rect">
            <a:avLst/>
          </a:prstGeom>
          <a:solidFill>
            <a:srgbClr val="15133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b="1" i="0" sz="1800" u="none" cap="none" strike="noStrike">
              <a:solidFill>
                <a:schemeClr val="lt1"/>
              </a:solidFill>
              <a:latin typeface="Arial"/>
              <a:ea typeface="Arial"/>
              <a:cs typeface="Arial"/>
              <a:sym typeface="Arial"/>
            </a:endParaRPr>
          </a:p>
        </p:txBody>
      </p:sp>
      <p:sp>
        <p:nvSpPr>
          <p:cNvPr id="29" name="Google Shape;29;p1"/>
          <p:cNvSpPr/>
          <p:nvPr/>
        </p:nvSpPr>
        <p:spPr>
          <a:xfrm>
            <a:off x="781200" y="3044550"/>
            <a:ext cx="8343600" cy="646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ja-JP" sz="3600" u="none" cap="none" strike="noStrike">
                <a:solidFill>
                  <a:srgbClr val="0F243E"/>
                </a:solidFill>
                <a:latin typeface="メイリオ"/>
                <a:ea typeface="Arial"/>
                <a:cs typeface="Arial"/>
                <a:sym typeface="Arial"/>
              </a:rPr>
              <a:t>2026年9月　LINEOAトレンドレポート　</a:t>
            </a:r>
            <a:endParaRPr b="1" i="0" sz="2000" u="none" cap="none" strike="noStrike">
              <a:solidFill>
                <a:srgbClr val="0F243E"/>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 name="Shape 33"/>
        <p:cNvGrpSpPr/>
        <p:nvPr/>
      </p:nvGrpSpPr>
      <p:grpSpPr>
        <a:xfrm>
          <a:off x="0" y="0"/>
          <a:ext cx="0" cy="0"/>
          <a:chOff x="0" y="0"/>
          <a:chExt cx="0" cy="0"/>
        </a:xfrm>
      </p:grpSpPr>
      <p:sp>
        <p:nvSpPr>
          <p:cNvPr id="34" name="Google Shape;34;p2"/>
          <p:cNvSpPr txBox="1"/>
          <p:nvPr/>
        </p:nvSpPr>
        <p:spPr>
          <a:xfrm>
            <a:off x="318183" y="1483585"/>
            <a:ext cx="9298331" cy="4279033"/>
          </a:xfrm>
          <a:prstGeom prst="rect">
            <a:avLst/>
          </a:prstGeom>
          <a:noFill/>
          <a:ln>
            <a:noFill/>
          </a:ln>
        </p:spPr>
        <p:txBody>
          <a:bodyPr anchorCtr="0" anchor="t" bIns="90000" lIns="91425" spcFirstLastPara="1" rIns="91425" wrap="square" tIns="90000">
            <a:spAutoFit/>
          </a:bodyPr>
          <a:lstStyle/>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P.3　　【LINEミニアプリ】お気に入り追加促進機能のご案内</a:t>
            </a:r>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P.4　　【LINE公式アカウント】「分析」データ参照期間 過去36カ月への変更</a:t>
            </a:r>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P.5　　【LINEプロモーションスタンプ】ダウンロード機会拡大のご案内</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P.6　　【LINEミニアプリ】友だち追加オプションの複数アカウント対応</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P.7　　【LINE Sales Promotion Manager】利用停止期間のお知らせ</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P.8　　【LINEオープンキャンペーン】26年10-12月 期間限定キャンペーン</a:t>
            </a:r>
            <a:endParaRPr b="1" i="0" sz="1500" u="none" cap="none" strike="noStrike">
              <a:solidFill>
                <a:schemeClr val="dk1"/>
              </a:solidFill>
              <a:latin typeface="Meiryo"/>
              <a:ea typeface="Meiryo"/>
              <a:cs typeface="Meiryo"/>
              <a:sym typeface="Meiryo"/>
            </a:endParaRPr>
          </a:p>
        </p:txBody>
      </p:sp>
      <p:sp>
        <p:nvSpPr>
          <p:cNvPr id="35" name="Google Shape;35;p2"/>
          <p:cNvSpPr txBox="1"/>
          <p:nvPr/>
        </p:nvSpPr>
        <p:spPr>
          <a:xfrm>
            <a:off x="292801" y="62027"/>
            <a:ext cx="7512385" cy="365091"/>
          </a:xfrm>
          <a:prstGeom prst="rect">
            <a:avLst/>
          </a:prstGeom>
          <a:noFill/>
          <a:ln>
            <a:noFill/>
          </a:ln>
        </p:spPr>
        <p:txBody>
          <a:bodyPr anchorCtr="0" anchor="t" bIns="45700" lIns="91425" spcFirstLastPara="1" rIns="91425" wrap="square" tIns="72000">
            <a:spAutoFit/>
          </a:bodyPr>
          <a:lstStyle/>
          <a:p>
            <a:pPr indent="0" lvl="0" marL="0" marR="0" rtl="0" algn="l">
              <a:lnSpc>
                <a:spcPct val="100000"/>
              </a:lnSpc>
              <a:spcBef>
                <a:spcPts val="0"/>
              </a:spcBef>
              <a:spcAft>
                <a:spcPts val="0"/>
              </a:spcAft>
              <a:buClr>
                <a:srgbClr val="000000"/>
              </a:buClr>
              <a:buSzPts val="1600"/>
              <a:buFont typeface="Arial"/>
              <a:buNone/>
            </a:pPr>
            <a:r>
              <a:rPr b="0" i="0" lang="ja-JP" sz="1600" u="none" cap="none" strike="noStrike">
                <a:solidFill>
                  <a:srgbClr val="000000"/>
                </a:solidFill>
                <a:latin typeface="メイリオ"/>
                <a:ea typeface="Meiryo"/>
                <a:cs typeface="Meiryo"/>
                <a:sym typeface="Meiryo"/>
              </a:rPr>
              <a:t>    目次</a:t>
            </a:r>
            <a:endParaRPr b="0" i="0" sz="1600" u="none" cap="none" strike="noStrike">
              <a:solidFill>
                <a:srgbClr val="000000"/>
              </a:solidFill>
              <a:latin typeface="Meiryo"/>
              <a:ea typeface="Meiryo"/>
              <a:cs typeface="Meiryo"/>
              <a:sym typeface="Meiryo"/>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 name="Shape 39"/>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出典：https://workers-hub.box.com/s/9uo4m0fiqyxmddz5br3xe9691w0q4ht7</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【LINEミニアプリ】お気に入り追加促進機能のご案内</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マイミニアプリの「履歴」からアクセス、または7日以内に2日以上アクセスしたユーザーに対し、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ミニアプリを閉じたタイミングでお気に入り追加を促すポップアップが表示される。</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リリース予定日は2026年8月31日（アプリのバージョンアップデートに伴い変更の可能性あり）。</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3">
            <a:alphaModFix/>
          </a:blip>
          <a:srcRect b="0" l="0" r="0" t="0"/>
          <a:stretch/>
        </p:blipFill>
        <p:spPr>
          <a:xfrm>
            <a:off x="351381" y="1234746"/>
            <a:ext cx="656177" cy="655521"/>
          </a:xfrm>
          <a:prstGeom prst="rect">
            <a:avLst/>
          </a:prstGeom>
          <a:noFill/>
          <a:ln>
            <a:noFill/>
          </a:ln>
        </p:spPr>
      </p:pic>
      <p:pic>
        <p:nvPicPr>
          <p:cNvPr id="63" name="Picture 62" descr="topic1.png"/>
          <p:cNvPicPr>
            <a:picLocks noChangeAspect="1"/>
          </p:cNvPicPr>
          <p:nvPr/>
        </p:nvPicPr>
        <p:blipFill>
          <a:blip r:embed="rId4"/>
          <a:stretch>
            <a:fillRect/>
          </a:stretch>
        </p:blipFill>
        <p:spPr>
          <a:xfrm>
            <a:off x="2161168" y="3068960"/>
            <a:ext cx="6092760" cy="3429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出典：https://workers-hub.box.com/s/ms8iztyci2dn5z2qna88rklxwxp7o5ja</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【LINE公式アカウント】「分析」データ参照期間 過去36カ月への変更</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LINE公式アカウントの管理画面「分析」タブで確認できる実績値の参照期間を、</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過去36カ月までに変更する予定。対象は「分析」タブの実績値のみで他のデータに影響なし。</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※社外告知は延期中のため、日程が決まり次第あらためて案内される。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pic>
        <p:nvPicPr>
          <p:cNvPr id="63" name="Picture 62" descr="topic2.png"/>
          <p:cNvPicPr>
            <a:picLocks noChangeAspect="1"/>
          </p:cNvPicPr>
          <p:nvPr/>
        </p:nvPicPr>
        <p:blipFill>
          <a:blip r:embed="rId3"/>
          <a:stretch>
            <a:fillRect/>
          </a:stretch>
        </p:blipFill>
        <p:spPr>
          <a:xfrm>
            <a:off x="2161168" y="3068960"/>
            <a:ext cx="6092760" cy="3429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出典：https://workers-hub.box.com/s/rgfhp6hxyusj7domi1irjx68jld23k9r</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【LINEプロモーションスタンプ】ダウンロード機会拡大のご案内</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LINEキーボードのサジェスト機能で無料スタンプが表示される条件を緩和し、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これまで一部だったユーザー表示が全ユーザーに拡大された。</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適用開始は2026年8月28日、DL数は平均+5.63%増加している。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pic>
        <p:nvPicPr>
          <p:cNvPr id="63" name="Picture 62" descr="topic3.png"/>
          <p:cNvPicPr>
            <a:picLocks noChangeAspect="1"/>
          </p:cNvPicPr>
          <p:nvPr/>
        </p:nvPicPr>
        <p:blipFill>
          <a:blip r:embed="rId3"/>
          <a:stretch>
            <a:fillRect/>
          </a:stretch>
        </p:blipFill>
        <p:spPr>
          <a:xfrm>
            <a:off x="2161168" y="3068960"/>
            <a:ext cx="6092760" cy="3429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複数店舗・複数ブランドを運営する全業種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出典：https://workers-hub.box.com/s/ko2jjwgxk5fs18ejrs97fvfqv3bm3089</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【LINEミニアプリ】友だち追加オプションの複数アカウント対応</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1つのLINEミニアプリに連携するLINE公式アカウントが、これまでの1つ限定から</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複数設定できるようになる。流入経路ごとに異なる公式アカウントへ友だち追加を誘導可能に。</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リリース予定日は2026年9月2日。</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pic>
        <p:nvPicPr>
          <p:cNvPr id="63" name="Picture 62" descr="topic4.png"/>
          <p:cNvPicPr>
            <a:picLocks noChangeAspect="1"/>
          </p:cNvPicPr>
          <p:nvPr/>
        </p:nvPicPr>
        <p:blipFill>
          <a:blip r:embed="rId3"/>
          <a:stretch>
            <a:fillRect/>
          </a:stretch>
        </p:blipFill>
        <p:spPr>
          <a:xfrm>
            <a:off x="2161168" y="3068960"/>
            <a:ext cx="6092760" cy="3429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LINEオープンキャンペーンをご利用中の全業種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出典：https://workers-hub.box.com/s/mo3y54qld9vj4kung0c4040z41mfhoip</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 Sales Promotion Manager】利用停止期間のお知らせ</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データベース管理システムのスケール最適化を実施するため、</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対象期間中はLINEで応募の管理画面（LINE Sales Promotion Manager）が利用停止となる。</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対象期間は2026年9月8日（火）〜9月10日（木） 10:00〜14:30の間。</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pic>
        <p:nvPicPr>
          <p:cNvPr id="63" name="Picture 62" descr="topic5.png"/>
          <p:cNvPicPr>
            <a:picLocks noChangeAspect="1"/>
          </p:cNvPicPr>
          <p:nvPr/>
        </p:nvPicPr>
        <p:blipFill>
          <a:blip r:embed="rId3"/>
          <a:stretch>
            <a:fillRect/>
          </a:stretch>
        </p:blipFill>
        <p:spPr>
          <a:xfrm>
            <a:off x="2161168" y="3068960"/>
            <a:ext cx="6092760" cy="3429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出典：https://workers-hub.box.com/s/odilqpe44tp398zlfko148yggcgj68ny</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【LINEオープンキャンペーン】26年10-12月 期間限定キャンペーン</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2026年10月20日開始〜12月25日までに終了する案件限定で、</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特別価格・特別掲載期間・特別通数の3特典が適用される期間限定キャンペーン。</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友だち獲得を一気に伸ばしたいクライアントへの提案材料になる。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pic>
        <p:nvPicPr>
          <p:cNvPr id="63" name="Picture 62" descr="topic6.png"/>
          <p:cNvPicPr>
            <a:picLocks noChangeAspect="1"/>
          </p:cNvPicPr>
          <p:nvPr/>
        </p:nvPicPr>
        <p:blipFill>
          <a:blip r:embed="rId3"/>
          <a:stretch>
            <a:fillRect/>
          </a:stretch>
        </p:blipFill>
        <p:spPr>
          <a:xfrm>
            <a:off x="2161168" y="3068960"/>
            <a:ext cx="6092760" cy="3429000"/>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Office ​​テーマ">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YMJAPAN">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2021-08-26T12:24:15Z</dcterms:created>
  <dc:creator>横田 澪央</dc:creator>
</cp:coreProperties>
</file>