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Arial"/>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Meiryo"/>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400"/>
        </p:xfrm>
        <a:graphic>
          <a:graphicData uri="http://schemas.openxmlformats.org/drawingml/2006/table">
            <a:tbl>
              <a:tblPr firstRow="1" bandRow="1">
                <a:tableStyleId>{5C22544A-7EE6-4342-B048-85BDC9FD1C3A}</a:tableStyleId>
              </a:tblPr>
              <a:tblGrid>
                <a:gridCol w="1737360"/>
                <a:gridCol w="4983480"/>
              </a:tblGrid>
              <a:tr h="862885">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・トリガー①：マイミニアプリの「履歴」からアクセス</a:t>
                      </a:r>
                    </a:p>
                    <a:p>
                      <a:pPr>
                        <a:lnSpc>
                          <a:spcPct val="105000"/>
                        </a:lnSpc>
                        <a:spcAft>
                          <a:spcPts val="150"/>
                        </a:spcAft>
                      </a:pPr>
                      <a:r>
                        <a:rPr sz="950">
                          <a:solidFill>
                            <a:srgbClr val="333333"/>
                          </a:solidFill>
                          <a:latin typeface="メイリオ"/>
                        </a:rPr>
                        <a:t>・トリガー②：7日以内に2日以上アクセス</a:t>
                      </a:r>
                    </a:p>
                    <a:p>
                      <a:pPr>
                        <a:lnSpc>
                          <a:spcPct val="105000"/>
                        </a:lnSpc>
                        <a:spcAft>
                          <a:spcPts val="150"/>
                        </a:spcAft>
                      </a:pPr>
                      <a:r>
                        <a:rPr sz="950">
                          <a:solidFill>
                            <a:srgbClr val="333333"/>
                          </a:solidFill>
                          <a:latin typeface="メイリオ"/>
                        </a:rPr>
                        <a:t>・条件を満たすとミニアプリを閉じたタイミングでポップアップが表示</a:t>
                      </a:r>
                    </a:p>
                    <a:p>
                      <a:pPr>
                        <a:lnSpc>
                          <a:spcPct val="105000"/>
                        </a:lnSpc>
                        <a:spcAft>
                          <a:spcPts val="150"/>
                        </a:spcAft>
                      </a:pPr>
                      <a:r>
                        <a:rPr sz="950">
                          <a:solidFill>
                            <a:srgbClr val="333333"/>
                          </a:solidFill>
                          <a:latin typeface="メイリオ"/>
                        </a:rPr>
                        <a:t>・「お気に入りに追加」を押すとアプリタブの「お気に入り」に追加され、同時にアプリタブへ自動遷移</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a:t>
                      </a:r>
                    </a:p>
                  </a:txBody>
                  <a:tcPr anchor="ctr" marL="91440" marR="91440" marT="36576" marB="36576">
                    <a:solidFill>
                      <a:srgbClr val="FFFFFF"/>
                    </a:solidFill>
                  </a:tcPr>
                </a:tc>
              </a:tr>
              <a:tr h="689019">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・リリース予定日：8月31日（アプリのバージョンアップデートに伴って変更の可能性あり）</a:t>
                      </a:r>
                    </a:p>
                    <a:p>
                      <a:pPr>
                        <a:lnSpc>
                          <a:spcPct val="105000"/>
                        </a:lnSpc>
                        <a:spcAft>
                          <a:spcPts val="150"/>
                        </a:spcAft>
                      </a:pPr>
                      <a:r>
                        <a:rPr sz="950">
                          <a:solidFill>
                            <a:srgbClr val="333333"/>
                          </a:solidFill>
                          <a:latin typeface="メイリオ"/>
                        </a:rPr>
                        <a:t>・表示トリガーは数週間のABテストを経て、より効果の高い条件を100%反映予定（現状は暫定条件で運用中）</a:t>
                      </a:r>
                    </a:p>
                  </a:txBody>
                  <a:tcPr anchor="ctr" marL="91440" marR="91440" marT="36576" marB="36576">
                    <a:solidFill>
                      <a:srgbClr val="FFFFFF"/>
                    </a:solidFill>
                  </a:tcPr>
                </a:tc>
              </a:tr>
              <a:tr h="1191296">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0000"/>
                        </a:lnSpc>
                        <a:spcAft>
                          <a:spcPts val="100"/>
                        </a:spcAft>
                      </a:pPr>
                      <a:r>
                        <a:rPr sz="850">
                          <a:solidFill>
                            <a:srgbClr val="333333"/>
                          </a:solidFill>
                          <a:latin typeface="メイリオ"/>
                        </a:rPr>
                        <a:t>・リピート利用ユーザーの再訪導線が強化される。ミニアプリ運用中クライアントへの案内材料になる</a:t>
                      </a:r>
                    </a:p>
                    <a:p>
                      <a:pPr>
                        <a:lnSpc>
                          <a:spcPct val="100000"/>
                        </a:lnSpc>
                        <a:spcAft>
                          <a:spcPts val="100"/>
                        </a:spcAft>
                      </a:pPr>
                      <a:r>
                        <a:rPr sz="850">
                          <a:solidFill>
                            <a:srgbClr val="333333"/>
                          </a:solidFill>
                          <a:latin typeface="メイリオ"/>
                        </a:rPr>
                        <a:t>・既にお気に入り登録済みのミニアプリにはポップアップは表示されない</a:t>
                      </a:r>
                    </a:p>
                    <a:p>
                      <a:pPr>
                        <a:lnSpc>
                          <a:spcPct val="100000"/>
                        </a:lnSpc>
                        <a:spcAft>
                          <a:spcPts val="100"/>
                        </a:spcAft>
                      </a:pPr>
                      <a:r>
                        <a:rPr sz="850">
                          <a:solidFill>
                            <a:srgbClr val="333333"/>
                          </a:solidFill>
                          <a:latin typeface="メイリオ"/>
                        </a:rPr>
                        <a:t>・再表示制御：追加後に削除すると720時間（30日間）、「Not now」で見送ると14日間は再表示なし</a:t>
                      </a:r>
                    </a:p>
                    <a:p>
                      <a:pPr>
                        <a:lnSpc>
                          <a:spcPct val="100000"/>
                        </a:lnSpc>
                        <a:spcAft>
                          <a:spcPts val="100"/>
                        </a:spcAft>
                      </a:pPr>
                      <a:r>
                        <a:rPr sz="850">
                          <a:solidFill>
                            <a:srgbClr val="333333"/>
                          </a:solidFill>
                          <a:latin typeface="メイリオ"/>
                        </a:rPr>
                        <a:t>・同一ミニアプリへの表示上限2回（閉じ切ると永久対象外）。同一ユーザーは1日最大1回まで</a:t>
                      </a:r>
                    </a:p>
                  </a:txBody>
                  <a:tcPr anchor="ctr" marL="91440" marR="91440" marT="36576" marB="36576">
                    <a:solidFill>
                      <a:srgbClr val="FFFFFF"/>
                    </a:solidFill>
                  </a:tcPr>
                </a:tc>
              </a:tr>
            </a:tbl>
          </a:graphicData>
        </a:graphic>
      </p:graphicFrame>
      <p:pic>
        <p:nvPicPr>
          <p:cNvPr id="64" name="Picture 63" descr="topic1.png"/>
          <p:cNvPicPr>
            <a:picLocks noChangeAspect="1"/>
          </p:cNvPicPr>
          <p:nvPr/>
        </p:nvPicPr>
        <p:blipFill>
          <a:blip r:embed="rId4"/>
          <a:stretch>
            <a:fillRect/>
          </a:stretch>
        </p:blipFill>
        <p:spPr>
          <a:xfrm>
            <a:off x="7402108" y="3974418"/>
            <a:ext cx="2468880" cy="138948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399"/>
        </p:xfrm>
        <a:graphic>
          <a:graphicData uri="http://schemas.openxmlformats.org/drawingml/2006/table">
            <a:tbl>
              <a:tblPr firstRow="1" bandRow="1">
                <a:tableStyleId>{5C22544A-7EE6-4342-B048-85BDC9FD1C3A}</a:tableStyleId>
              </a:tblPr>
              <a:tblGrid>
                <a:gridCol w="1737360"/>
                <a:gridCol w="4983480"/>
              </a:tblGrid>
              <a:tr h="920859">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・Web版管理画面／管理アプリの「分析」タブで確認できる実績値の参照期間を過去36カ月までに変更</a:t>
                      </a:r>
                    </a:p>
                    <a:p>
                      <a:pPr>
                        <a:lnSpc>
                          <a:spcPct val="110000"/>
                        </a:lnSpc>
                        <a:spcAft>
                          <a:spcPts val="200"/>
                        </a:spcAft>
                      </a:pPr>
                      <a:r>
                        <a:rPr sz="1050">
                          <a:solidFill>
                            <a:srgbClr val="333333"/>
                          </a:solidFill>
                          <a:latin typeface="メイリオ"/>
                        </a:rPr>
                        <a:t>・対象は「分析」タブの実績値のみ。それ以外のデータや作成済みメッセージには影響なし</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・該当なし</a:t>
                      </a:r>
                    </a:p>
                  </a:txBody>
                  <a:tcPr anchor="ctr" marL="91440" marR="91440" marT="36576" marB="36576">
                    <a:solidFill>
                      <a:srgbClr val="FFFFFF"/>
                    </a:solidFill>
                  </a:tcPr>
                </a:tc>
              </a:tr>
              <a:tr h="862728">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・リリース日：2026年11月頃（予定・日程は決まり次第、管理画面のお知らせで案内）</a:t>
                      </a:r>
                    </a:p>
                    <a:p>
                      <a:pPr>
                        <a:lnSpc>
                          <a:spcPct val="110000"/>
                        </a:lnSpc>
                        <a:spcAft>
                          <a:spcPts val="200"/>
                        </a:spcAft>
                      </a:pPr>
                      <a:r>
                        <a:rPr sz="1050">
                          <a:solidFill>
                            <a:srgbClr val="333333"/>
                          </a:solidFill>
                          <a:latin typeface="メイリオ"/>
                        </a:rPr>
                        <a:t>・社外告知：当初9/2予定だったが内容変更の可能性ありいったん延期。改めて案内予定</a:t>
                      </a:r>
                    </a:p>
                  </a:txBody>
                  <a:tcPr anchor="ctr" marL="91440" marR="91440" marT="36576" marB="36576">
                    <a:solidFill>
                      <a:srgbClr val="FFFFFF"/>
                    </a:solidFill>
                  </a:tcPr>
                </a:tc>
              </a:tr>
              <a:tr h="959612">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・36カ月より前の実績データが必要なクライアントには変更前の確認・保存を案内</a:t>
                      </a:r>
                    </a:p>
                    <a:p>
                      <a:pPr>
                        <a:lnSpc>
                          <a:spcPct val="105000"/>
                        </a:lnSpc>
                        <a:spcAft>
                          <a:spcPts val="150"/>
                        </a:spcAft>
                      </a:pPr>
                      <a:r>
                        <a:rPr sz="950">
                          <a:solidFill>
                            <a:srgbClr val="333333"/>
                          </a:solidFill>
                          <a:latin typeface="メイリオ"/>
                        </a:rPr>
                        <a:t>・「分析」タブの一部データはダウンロード可能（詳細は分析マニュアル参照）</a:t>
                      </a:r>
                    </a:p>
                    <a:p>
                      <a:pPr>
                        <a:lnSpc>
                          <a:spcPct val="105000"/>
                        </a:lnSpc>
                        <a:spcAft>
                          <a:spcPts val="150"/>
                        </a:spcAft>
                      </a:pPr>
                      <a:r>
                        <a:rPr sz="950">
                          <a:solidFill>
                            <a:srgbClr val="333333"/>
                          </a:solidFill>
                          <a:latin typeface="メイリオ"/>
                        </a:rPr>
                        <a:t>・告知日程が流動的なため最新情報を要確認</a:t>
                      </a:r>
                    </a:p>
                  </a:txBody>
                  <a:tcPr anchor="ctr" marL="91440" marR="91440" marT="36576" marB="36576">
                    <a:solidFill>
                      <a:srgbClr val="FFFFFF"/>
                    </a:solidFill>
                  </a:tcPr>
                </a:tc>
              </a:tr>
            </a:tbl>
          </a:graphicData>
        </a:graphic>
      </p:graphicFrame>
      <p:pic>
        <p:nvPicPr>
          <p:cNvPr id="64" name="Picture 63" descr="topic2.png"/>
          <p:cNvPicPr>
            <a:picLocks noChangeAspect="1"/>
          </p:cNvPicPr>
          <p:nvPr/>
        </p:nvPicPr>
        <p:blipFill>
          <a:blip r:embed="rId3"/>
          <a:stretch>
            <a:fillRect/>
          </a:stretch>
        </p:blipFill>
        <p:spPr>
          <a:xfrm>
            <a:off x="7402108" y="3974418"/>
            <a:ext cx="2468880" cy="138948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400"/>
        </p:xfrm>
        <a:graphic>
          <a:graphicData uri="http://schemas.openxmlformats.org/drawingml/2006/table">
            <a:tbl>
              <a:tblPr firstRow="1" bandRow="1">
                <a:tableStyleId>{5C22544A-7EE6-4342-B048-85BDC9FD1C3A}</a:tableStyleId>
              </a:tblPr>
              <a:tblGrid>
                <a:gridCol w="1737360"/>
                <a:gridCol w="4983480"/>
              </a:tblGrid>
              <a:tr h="1049377">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・サジェスト面（ユーザーの入力内容に応じてスタンプを提案する機能）での無料スタンプ表示ユーザー条件を緩和</a:t>
                      </a:r>
                    </a:p>
                    <a:p>
                      <a:pPr>
                        <a:lnSpc>
                          <a:spcPct val="105000"/>
                        </a:lnSpc>
                        <a:spcAft>
                          <a:spcPts val="150"/>
                        </a:spcAft>
                      </a:pPr>
                      <a:r>
                        <a:rPr sz="950">
                          <a:solidFill>
                            <a:srgbClr val="333333"/>
                          </a:solidFill>
                          <a:latin typeface="メイリオ"/>
                        </a:rPr>
                        <a:t>・AS-IS：一部のユーザーにのみ表示 → TO-BE：すべてのユーザーに表示（これまで対象外だった層にもリーチ可能）</a:t>
                      </a:r>
                    </a:p>
                    <a:p>
                      <a:pPr>
                        <a:lnSpc>
                          <a:spcPct val="105000"/>
                        </a:lnSpc>
                        <a:spcAft>
                          <a:spcPts val="150"/>
                        </a:spcAft>
                      </a:pPr>
                      <a:r>
                        <a:rPr sz="950">
                          <a:solidFill>
                            <a:srgbClr val="333333"/>
                          </a:solidFill>
                          <a:latin typeface="メイリオ"/>
                        </a:rPr>
                        <a:t>・配信中の案件を含む全案件に自動適用（広告主・案件側の対応は不要）</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・追加費用なし（自動適用）</a:t>
                      </a:r>
                    </a:p>
                  </a:txBody>
                  <a:tcPr anchor="ctr" marL="91440" marR="91440" marT="36576" marB="36576">
                    <a:solidFill>
                      <a:srgbClr val="FFFFFF"/>
                    </a:solidFill>
                  </a:tcPr>
                </a:tc>
              </a:tr>
              <a:tr h="4572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・適用開始日：2026年8月28日（金）</a:t>
                      </a:r>
                    </a:p>
                  </a:txBody>
                  <a:tcPr anchor="ctr" marL="91440" marR="91440" marT="36576" marB="36576">
                    <a:solidFill>
                      <a:srgbClr val="FFFFFF"/>
                    </a:solidFill>
                  </a:tcPr>
                </a:tc>
              </a:tr>
              <a:tr h="1236623">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0000"/>
                        </a:lnSpc>
                        <a:spcAft>
                          <a:spcPts val="100"/>
                        </a:spcAft>
                      </a:pPr>
                      <a:r>
                        <a:rPr sz="850">
                          <a:solidFill>
                            <a:srgbClr val="333333"/>
                          </a:solidFill>
                          <a:latin typeface="メイリオ"/>
                        </a:rPr>
                        <a:t>・DL数+5.63%増（全ダウンロード経路合計、現行条件比較）。利用頻度によらず全セグメントで増加</a:t>
                      </a:r>
                    </a:p>
                    <a:p>
                      <a:pPr>
                        <a:lnSpc>
                          <a:spcPct val="100000"/>
                        </a:lnSpc>
                        <a:spcAft>
                          <a:spcPts val="100"/>
                        </a:spcAft>
                      </a:pPr>
                      <a:r>
                        <a:rPr sz="850">
                          <a:solidFill>
                            <a:srgbClr val="333333"/>
                          </a:solidFill>
                          <a:latin typeface="メイリオ"/>
                        </a:rPr>
                        <a:t>・サジェスト経由は友だち追加率74.6%・当日ブロック率9.53%（平均約60%・約22%より好水準）</a:t>
                      </a:r>
                    </a:p>
                    <a:p>
                      <a:pPr>
                        <a:lnSpc>
                          <a:spcPct val="100000"/>
                        </a:lnSpc>
                        <a:spcAft>
                          <a:spcPts val="100"/>
                        </a:spcAft>
                      </a:pPr>
                      <a:r>
                        <a:rPr sz="850">
                          <a:solidFill>
                            <a:srgbClr val="333333"/>
                          </a:solidFill>
                          <a:latin typeface="メイリオ"/>
                        </a:rPr>
                        <a:t>・改善倍率は無料スタンプの最新DL日が古い層ほど高く、過去6〜18ヶ月DLなし層で約3.0倍</a:t>
                      </a:r>
                    </a:p>
                    <a:p>
                      <a:pPr>
                        <a:lnSpc>
                          <a:spcPct val="100000"/>
                        </a:lnSpc>
                        <a:spcAft>
                          <a:spcPts val="100"/>
                        </a:spcAft>
                      </a:pPr>
                      <a:r>
                        <a:rPr sz="850">
                          <a:solidFill>
                            <a:srgbClr val="333333"/>
                          </a:solidFill>
                          <a:latin typeface="メイリオ"/>
                        </a:rPr>
                        <a:t>・運用中クライアントへの実績報告・追加提案の材料に使える</a:t>
                      </a:r>
                    </a:p>
                  </a:txBody>
                  <a:tcPr anchor="ctr" marL="91440" marR="91440" marT="36576" marB="36576">
                    <a:solidFill>
                      <a:srgbClr val="FFFFFF"/>
                    </a:solidFill>
                  </a:tcPr>
                </a:tc>
              </a:tr>
            </a:tbl>
          </a:graphicData>
        </a:graphic>
      </p:graphicFrame>
      <p:pic>
        <p:nvPicPr>
          <p:cNvPr id="64" name="Picture 63" descr="topic3.png"/>
          <p:cNvPicPr>
            <a:picLocks noChangeAspect="1"/>
          </p:cNvPicPr>
          <p:nvPr/>
        </p:nvPicPr>
        <p:blipFill>
          <a:blip r:embed="rId3"/>
          <a:stretch>
            <a:fillRect/>
          </a:stretch>
        </p:blipFill>
        <p:spPr>
          <a:xfrm>
            <a:off x="7402108" y="3974418"/>
            <a:ext cx="2468880" cy="138948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400"/>
        </p:xfrm>
        <a:graphic>
          <a:graphicData uri="http://schemas.openxmlformats.org/drawingml/2006/table">
            <a:tbl>
              <a:tblPr firstRow="1" bandRow="1">
                <a:tableStyleId>{5C22544A-7EE6-4342-B048-85BDC9FD1C3A}</a:tableStyleId>
              </a:tblPr>
              <a:tblGrid>
                <a:gridCol w="1737360"/>
                <a:gridCol w="4983480"/>
              </a:tblGrid>
              <a:tr h="774891">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・従来は1つのミニアプリに連携できる公式アカウントは1つのみだったが、複数設定可能に</a:t>
                      </a:r>
                    </a:p>
                    <a:p>
                      <a:pPr>
                        <a:lnSpc>
                          <a:spcPct val="110000"/>
                        </a:lnSpc>
                        <a:spcAft>
                          <a:spcPts val="200"/>
                        </a:spcAft>
                      </a:pPr>
                      <a:r>
                        <a:rPr sz="1050">
                          <a:solidFill>
                            <a:srgbClr val="333333"/>
                          </a:solidFill>
                          <a:latin typeface="メイリオ"/>
                        </a:rPr>
                        <a:t>・流入経路（店舗・ブランド等）ごとに異なるLINE公式アカウントへ友だち追加を誘導できる</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a:t>
                      </a:r>
                    </a:p>
                  </a:txBody>
                  <a:tcPr anchor="ctr" marL="91440" marR="91440" marT="36576" marB="36576">
                    <a:solidFill>
                      <a:srgbClr val="FFFFFF"/>
                    </a:solidFill>
                  </a:tcPr>
                </a:tc>
              </a:tr>
              <a:tr h="4572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・リリース予定日：9月2日</a:t>
                      </a:r>
                    </a:p>
                  </a:txBody>
                  <a:tcPr anchor="ctr" marL="91440" marR="91440" marT="36576" marB="36576">
                    <a:solidFill>
                      <a:srgbClr val="FFFFFF"/>
                    </a:solidFill>
                  </a:tcPr>
                </a:tc>
              </a:tr>
              <a:tr h="1511109">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0000"/>
                        </a:lnSpc>
                        <a:spcAft>
                          <a:spcPts val="100"/>
                        </a:spcAft>
                      </a:pPr>
                      <a:r>
                        <a:rPr sz="850">
                          <a:solidFill>
                            <a:srgbClr val="333333"/>
                          </a:solidFill>
                          <a:latin typeface="メイリオ"/>
                        </a:rPr>
                        <a:t>・全店舗共通の一斉配信から、店舗ごとのセグメント配信に切り替えられる</a:t>
                      </a:r>
                    </a:p>
                    <a:p>
                      <a:pPr>
                        <a:lnSpc>
                          <a:spcPct val="100000"/>
                        </a:lnSpc>
                        <a:spcAft>
                          <a:spcPts val="100"/>
                        </a:spcAft>
                      </a:pPr>
                      <a:r>
                        <a:rPr sz="850">
                          <a:solidFill>
                            <a:srgbClr val="333333"/>
                          </a:solidFill>
                          <a:latin typeface="メイリオ"/>
                        </a:rPr>
                        <a:t>・設定はLINE Developersの「友だち追加オプション」から。デフォルト／許可リスト設定で3パターン運用可</a:t>
                      </a:r>
                    </a:p>
                    <a:p>
                      <a:pPr>
                        <a:lnSpc>
                          <a:spcPct val="100000"/>
                        </a:lnSpc>
                        <a:spcAft>
                          <a:spcPts val="100"/>
                        </a:spcAft>
                      </a:pPr>
                      <a:r>
                        <a:rPr sz="850">
                          <a:solidFill>
                            <a:srgbClr val="333333"/>
                          </a:solidFill>
                          <a:latin typeface="メイリオ"/>
                        </a:rPr>
                        <a:t>・紐づけ条件：同一プロバイダーの公式アカウント／admin権限を持つ操作者。最大1,000件まで</a:t>
                      </a:r>
                    </a:p>
                    <a:p>
                      <a:pPr>
                        <a:lnSpc>
                          <a:spcPct val="100000"/>
                        </a:lnSpc>
                        <a:spcAft>
                          <a:spcPts val="100"/>
                        </a:spcAft>
                      </a:pPr>
                      <a:r>
                        <a:rPr sz="850">
                          <a:solidFill>
                            <a:srgbClr val="333333"/>
                          </a:solidFill>
                          <a:latin typeface="メイリオ"/>
                        </a:rPr>
                        <a:t>・1回の誘導で選べるのは1アカウントのみ。流入経路ごとに出し分ける（同時に複数へは登録不可）</a:t>
                      </a:r>
                    </a:p>
                  </a:txBody>
                  <a:tcPr anchor="ctr" marL="91440" marR="91440" marT="36576" marB="36576">
                    <a:solidFill>
                      <a:srgbClr val="FFFFFF"/>
                    </a:solidFill>
                  </a:tcPr>
                </a:tc>
              </a:tr>
            </a:tbl>
          </a:graphicData>
        </a:graphic>
      </p:graphicFrame>
      <p:pic>
        <p:nvPicPr>
          <p:cNvPr id="64" name="Picture 63" descr="topic4.png"/>
          <p:cNvPicPr>
            <a:picLocks noChangeAspect="1"/>
          </p:cNvPicPr>
          <p:nvPr/>
        </p:nvPicPr>
        <p:blipFill>
          <a:blip r:embed="rId3"/>
          <a:stretch>
            <a:fillRect/>
          </a:stretch>
        </p:blipFill>
        <p:spPr>
          <a:xfrm>
            <a:off x="7402108" y="3974418"/>
            <a:ext cx="2468880" cy="138948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401"/>
        </p:xfrm>
        <a:graphic>
          <a:graphicData uri="http://schemas.openxmlformats.org/drawingml/2006/table">
            <a:tbl>
              <a:tblPr firstRow="1" bandRow="1">
                <a:tableStyleId>{5C22544A-7EE6-4342-B048-85BDC9FD1C3A}</a:tableStyleId>
              </a:tblPr>
              <a:tblGrid>
                <a:gridCol w="1737360"/>
                <a:gridCol w="4983480"/>
              </a:tblGrid>
              <a:tr h="1000607">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・データベース管理システムのスケール最適化実施のため対象期間中は管理画面が利用停止</a:t>
                      </a:r>
                    </a:p>
                    <a:p>
                      <a:pPr>
                        <a:lnSpc>
                          <a:spcPct val="110000"/>
                        </a:lnSpc>
                        <a:spcAft>
                          <a:spcPts val="200"/>
                        </a:spcAft>
                      </a:pPr>
                      <a:r>
                        <a:rPr sz="1050">
                          <a:solidFill>
                            <a:srgbClr val="333333"/>
                          </a:solidFill>
                          <a:latin typeface="メイリオ"/>
                        </a:rPr>
                        <a:t>・対象メニュー：LINEオープンキャンペーン（抽選型）。アンケート型・季節商品の過去案件も対象</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・該当なし</a:t>
                      </a:r>
                    </a:p>
                  </a:txBody>
                  <a:tcPr anchor="ctr" marL="91440" marR="91440" marT="36576" marB="36576">
                    <a:solidFill>
                      <a:srgbClr val="FFFFFF"/>
                    </a:solidFill>
                  </a:tcPr>
                </a:tc>
              </a:tr>
              <a:tr h="720436">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・社外への案内開始日・リリース日：2026年9月2日</a:t>
                      </a:r>
                    </a:p>
                    <a:p>
                      <a:pPr>
                        <a:lnSpc>
                          <a:spcPct val="110000"/>
                        </a:lnSpc>
                        <a:spcAft>
                          <a:spcPts val="200"/>
                        </a:spcAft>
                      </a:pPr>
                      <a:r>
                        <a:rPr sz="1050">
                          <a:solidFill>
                            <a:srgbClr val="333333"/>
                          </a:solidFill>
                          <a:latin typeface="メイリオ"/>
                        </a:rPr>
                        <a:t>・対象期間：9月8日（火）〜9月10日（木） 10:00〜14:30の間</a:t>
                      </a:r>
                    </a:p>
                  </a:txBody>
                  <a:tcPr anchor="ctr" marL="91440" marR="91440" marT="36576" marB="36576">
                    <a:solidFill>
                      <a:srgbClr val="FFFFFF"/>
                    </a:solidFill>
                  </a:tcPr>
                </a:tc>
              </a:tr>
              <a:tr h="1022158">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・影響範囲：サマリーレポートの作成・ダウンロードが利用不可</a:t>
                      </a:r>
                    </a:p>
                    <a:p>
                      <a:pPr>
                        <a:lnSpc>
                          <a:spcPct val="110000"/>
                        </a:lnSpc>
                        <a:spcAft>
                          <a:spcPts val="200"/>
                        </a:spcAft>
                      </a:pPr>
                      <a:r>
                        <a:rPr sz="1050">
                          <a:solidFill>
                            <a:srgbClr val="333333"/>
                          </a:solidFill>
                          <a:latin typeface="メイリオ"/>
                        </a:rPr>
                        <a:t>・LBPMでの案件申請・入稿など、上記以外の機能は通常どおり利用可能</a:t>
                      </a:r>
                    </a:p>
                    <a:p>
                      <a:pPr>
                        <a:lnSpc>
                          <a:spcPct val="110000"/>
                        </a:lnSpc>
                        <a:spcAft>
                          <a:spcPts val="200"/>
                        </a:spcAft>
                      </a:pPr>
                      <a:r>
                        <a:rPr sz="1050">
                          <a:solidFill>
                            <a:srgbClr val="333333"/>
                          </a:solidFill>
                          <a:latin typeface="メイリオ"/>
                        </a:rPr>
                        <a:t>・稼働中キャンペーンがあるクライアントには事前周知が必要</a:t>
                      </a:r>
                    </a:p>
                  </a:txBody>
                  <a:tcPr anchor="ctr" marL="91440" marR="91440" marT="36576" marB="36576">
                    <a:solidFill>
                      <a:srgbClr val="FFFFFF"/>
                    </a:solidFill>
                  </a:tcPr>
                </a:tc>
              </a:tr>
            </a:tbl>
          </a:graphicData>
        </a:graphic>
      </p:graphicFrame>
      <p:pic>
        <p:nvPicPr>
          <p:cNvPr id="64" name="Picture 63" descr="topic5.png"/>
          <p:cNvPicPr>
            <a:picLocks noChangeAspect="1"/>
          </p:cNvPicPr>
          <p:nvPr/>
        </p:nvPicPr>
        <p:blipFill>
          <a:blip r:embed="rId3"/>
          <a:stretch>
            <a:fillRect/>
          </a:stretch>
        </p:blipFill>
        <p:spPr>
          <a:xfrm>
            <a:off x="7402108" y="3974418"/>
            <a:ext cx="2468880" cy="138948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397"/>
        </p:xfrm>
        <a:graphic>
          <a:graphicData uri="http://schemas.openxmlformats.org/drawingml/2006/table">
            <a:tbl>
              <a:tblPr firstRow="1" bandRow="1">
                <a:tableStyleId>{5C22544A-7EE6-4342-B048-85BDC9FD1C3A}</a:tableStyleId>
              </a:tblPr>
              <a:tblGrid>
                <a:gridCol w="1737360"/>
                <a:gridCol w="4983480"/>
              </a:tblGrid>
              <a:tr h="864813">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・対象メニュー：LINEオープンキャンペーン（アンケート型）</a:t>
                      </a:r>
                    </a:p>
                    <a:p>
                      <a:pPr>
                        <a:lnSpc>
                          <a:spcPct val="105000"/>
                        </a:lnSpc>
                        <a:spcAft>
                          <a:spcPts val="150"/>
                        </a:spcAft>
                      </a:pPr>
                      <a:r>
                        <a:rPr sz="950">
                          <a:solidFill>
                            <a:srgbClr val="333333"/>
                          </a:solidFill>
                          <a:latin typeface="メイリオ"/>
                        </a:rPr>
                        <a:t>・対象：2026年10月20日開始〜12月25日までに終了する案件限定</a:t>
                      </a:r>
                    </a:p>
                    <a:p>
                      <a:pPr>
                        <a:lnSpc>
                          <a:spcPct val="105000"/>
                        </a:lnSpc>
                        <a:spcAft>
                          <a:spcPts val="150"/>
                        </a:spcAft>
                      </a:pPr>
                      <a:r>
                        <a:rPr sz="950">
                          <a:solidFill>
                            <a:srgbClr val="333333"/>
                          </a:solidFill>
                          <a:latin typeface="メイリオ"/>
                        </a:rPr>
                        <a:t>・景品はLINEポイント（2ポイント固定・応募者全員に総付）</a:t>
                      </a:r>
                    </a:p>
                    <a:p>
                      <a:pPr>
                        <a:lnSpc>
                          <a:spcPct val="105000"/>
                        </a:lnSpc>
                        <a:spcAft>
                          <a:spcPts val="150"/>
                        </a:spcAft>
                      </a:pPr>
                      <a:r>
                        <a:rPr sz="950">
                          <a:solidFill>
                            <a:srgbClr val="333333"/>
                          </a:solidFill>
                          <a:latin typeface="メイリオ"/>
                        </a:rPr>
                        <a:t>・対象アカウント条件：LINE公式アカウントかつMessaging API対応／認証プロバイダーであることが必須</a:t>
                      </a:r>
                    </a:p>
                  </a:txBody>
                  <a:tcPr anchor="ctr" marL="91440" marR="91440" marT="36576" marB="36576">
                    <a:solidFill>
                      <a:srgbClr val="FFFFFF"/>
                    </a:solidFill>
                  </a:tcPr>
                </a:tc>
              </a:tr>
              <a:tr h="847164">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・基本費用：通常1,800万円→1,500万円／掲載期間：通常7日間→15日間</a:t>
                      </a:r>
                    </a:p>
                    <a:p>
                      <a:pPr>
                        <a:lnSpc>
                          <a:spcPct val="105000"/>
                        </a:lnSpc>
                        <a:spcAft>
                          <a:spcPts val="150"/>
                        </a:spcAft>
                      </a:pPr>
                      <a:r>
                        <a:rPr sz="950">
                          <a:solidFill>
                            <a:srgbClr val="333333"/>
                          </a:solidFill>
                          <a:latin typeface="メイリオ"/>
                        </a:rPr>
                        <a:t>・通数：通常最大900万通→最大1,050万通（ノンセグメント1配信のみ）</a:t>
                      </a:r>
                    </a:p>
                    <a:p>
                      <a:pPr>
                        <a:lnSpc>
                          <a:spcPct val="105000"/>
                        </a:lnSpc>
                        <a:spcAft>
                          <a:spcPts val="150"/>
                        </a:spcAft>
                      </a:pPr>
                      <a:r>
                        <a:rPr sz="950">
                          <a:solidFill>
                            <a:srgbClr val="333333"/>
                          </a:solidFill>
                          <a:latin typeface="メイリオ"/>
                        </a:rPr>
                        <a:t>・基本費用に友だち追加・uid提供・アンケート・景品・メッセージ配信1回分を含む</a:t>
                      </a:r>
                    </a:p>
                    <a:p>
                      <a:pPr>
                        <a:lnSpc>
                          <a:spcPct val="105000"/>
                        </a:lnSpc>
                        <a:spcAft>
                          <a:spcPts val="150"/>
                        </a:spcAft>
                      </a:pPr>
                      <a:r>
                        <a:rPr sz="950">
                          <a:solidFill>
                            <a:srgbClr val="333333"/>
                          </a:solidFill>
                          <a:latin typeface="メイリオ"/>
                        </a:rPr>
                        <a:t>・オプション：応募後の強制視聴ビデオ300万円（トライアル価格）</a:t>
                      </a:r>
                    </a:p>
                  </a:txBody>
                  <a:tcPr anchor="ctr" marL="91440" marR="91440" marT="36576" marB="36576">
                    <a:solidFill>
                      <a:srgbClr val="FFFFFF"/>
                    </a:solidFill>
                  </a:tcPr>
                </a:tc>
              </a:tr>
              <a:tr h="658905">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・①開始30営業日前：企業・商材審査／企画審査　②25営業日前17時：配信枠おさえ・申込み</a:t>
                      </a:r>
                    </a:p>
                    <a:p>
                      <a:pPr>
                        <a:lnSpc>
                          <a:spcPct val="105000"/>
                        </a:lnSpc>
                        <a:spcAft>
                          <a:spcPts val="150"/>
                        </a:spcAft>
                      </a:pPr>
                      <a:r>
                        <a:rPr sz="950">
                          <a:solidFill>
                            <a:srgbClr val="333333"/>
                          </a:solidFill>
                          <a:latin typeface="メイリオ"/>
                        </a:rPr>
                        <a:t>・③開始20営業日前17時：各種入稿物の提出　④開始日当日：キャンペーン掲載開始</a:t>
                      </a:r>
                    </a:p>
                    <a:p>
                      <a:pPr>
                        <a:lnSpc>
                          <a:spcPct val="105000"/>
                        </a:lnSpc>
                        <a:spcAft>
                          <a:spcPts val="150"/>
                        </a:spcAft>
                      </a:pPr>
                      <a:r>
                        <a:rPr sz="950">
                          <a:solidFill>
                            <a:srgbClr val="333333"/>
                          </a:solidFill>
                          <a:latin typeface="メイリオ"/>
                        </a:rPr>
                        <a:t>・掲載開始は平日（LINEヤフー社営業日）のみ、土日祝日不可</a:t>
                      </a:r>
                    </a:p>
                  </a:txBody>
                  <a:tcPr anchor="ctr" marL="91440" marR="91440" marT="36576" marB="36576">
                    <a:solidFill>
                      <a:srgbClr val="FFFFFF"/>
                    </a:solidFill>
                  </a:tcPr>
                </a:tc>
              </a:tr>
              <a:tr h="829515">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・期間限定・条件限定のため、対象クライアントへは早めの提案・申込誘導が必要</a:t>
                      </a:r>
                    </a:p>
                    <a:p>
                      <a:pPr>
                        <a:lnSpc>
                          <a:spcPct val="105000"/>
                        </a:lnSpc>
                        <a:spcAft>
                          <a:spcPts val="150"/>
                        </a:spcAft>
                      </a:pPr>
                      <a:r>
                        <a:rPr sz="950">
                          <a:solidFill>
                            <a:srgbClr val="333333"/>
                          </a:solidFill>
                          <a:latin typeface="メイリオ"/>
                        </a:rPr>
                        <a:t>・キャンセル規定：発注受領後、または発注期日（開始25営業日前）超過後のキャンセルは最低発注金額1,500万円を請求</a:t>
                      </a:r>
                    </a:p>
                    <a:p>
                      <a:pPr>
                        <a:lnSpc>
                          <a:spcPct val="105000"/>
                        </a:lnSpc>
                        <a:spcAft>
                          <a:spcPts val="150"/>
                        </a:spcAft>
                      </a:pPr>
                      <a:r>
                        <a:rPr sz="950">
                          <a:solidFill>
                            <a:srgbClr val="333333"/>
                          </a:solidFill>
                          <a:latin typeface="メイリオ"/>
                        </a:rPr>
                        <a:t>・他割引との併用不可。景品がLINEポイントから変更になる可能性あり（変更不可の申し出は受付不可）</a:t>
                      </a:r>
                    </a:p>
                  </a:txBody>
                  <a:tcPr anchor="ctr" marL="91440" marR="91440" marT="36576" marB="36576">
                    <a:solidFill>
                      <a:srgbClr val="FFFFFF"/>
                    </a:solidFill>
                  </a:tcPr>
                </a:tc>
              </a:tr>
            </a:tbl>
          </a:graphicData>
        </a:graphic>
      </p:graphicFrame>
      <p:pic>
        <p:nvPicPr>
          <p:cNvPr id="64" name="Picture 63" descr="topic6.png"/>
          <p:cNvPicPr>
            <a:picLocks noChangeAspect="1"/>
          </p:cNvPicPr>
          <p:nvPr/>
        </p:nvPicPr>
        <p:blipFill>
          <a:blip r:embed="rId3"/>
          <a:stretch>
            <a:fillRect/>
          </a:stretch>
        </p:blipFill>
        <p:spPr>
          <a:xfrm>
            <a:off x="7402108" y="3974418"/>
            <a:ext cx="2468880" cy="1389483"/>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