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5"/>
  </p:notesMasterIdLst>
  <p:handoutMasterIdLst>
    <p:handoutMasterId r:id="rId56"/>
  </p:handoutMasterIdLst>
  <p:sldIdLst>
    <p:sldId id="2363" r:id="rId3"/>
    <p:sldId id="2971" r:id="rId4"/>
    <p:sldId id="2972" r:id="rId5"/>
    <p:sldId id="2904" r:id="rId6"/>
    <p:sldId id="3007" r:id="rId7"/>
    <p:sldId id="2994" r:id="rId8"/>
    <p:sldId id="2995" r:id="rId9"/>
    <p:sldId id="3001" r:id="rId10"/>
    <p:sldId id="2999" r:id="rId11"/>
    <p:sldId id="2736" r:id="rId12"/>
    <p:sldId id="2987" r:id="rId13"/>
    <p:sldId id="2997" r:id="rId14"/>
    <p:sldId id="2996" r:id="rId15"/>
    <p:sldId id="2973" r:id="rId16"/>
    <p:sldId id="2977" r:id="rId17"/>
    <p:sldId id="2979" r:id="rId18"/>
    <p:sldId id="3000" r:id="rId19"/>
    <p:sldId id="2968" r:id="rId20"/>
    <p:sldId id="2908" r:id="rId21"/>
    <p:sldId id="2998" r:id="rId22"/>
    <p:sldId id="2990" r:id="rId23"/>
    <p:sldId id="2986" r:id="rId24"/>
    <p:sldId id="2991" r:id="rId25"/>
    <p:sldId id="2737" r:id="rId26"/>
    <p:sldId id="2989" r:id="rId27"/>
    <p:sldId id="2563" r:id="rId28"/>
    <p:sldId id="2959" r:id="rId29"/>
    <p:sldId id="2970" r:id="rId30"/>
    <p:sldId id="2639" r:id="rId31"/>
    <p:sldId id="2957" r:id="rId32"/>
    <p:sldId id="2951" r:id="rId33"/>
    <p:sldId id="2841" r:id="rId34"/>
    <p:sldId id="2734" r:id="rId35"/>
    <p:sldId id="2595" r:id="rId36"/>
    <p:sldId id="2566" r:id="rId37"/>
    <p:sldId id="2915" r:id="rId38"/>
    <p:sldId id="2619" r:id="rId39"/>
    <p:sldId id="2761" r:id="rId40"/>
    <p:sldId id="2919" r:id="rId41"/>
    <p:sldId id="2931" r:id="rId42"/>
    <p:sldId id="2935" r:id="rId43"/>
    <p:sldId id="2519" r:id="rId44"/>
    <p:sldId id="2749" r:id="rId45"/>
    <p:sldId id="2950" r:id="rId46"/>
    <p:sldId id="2961" r:id="rId47"/>
    <p:sldId id="2849" r:id="rId48"/>
    <p:sldId id="2905" r:id="rId49"/>
    <p:sldId id="2906" r:id="rId50"/>
    <p:sldId id="2907" r:id="rId51"/>
    <p:sldId id="2575" r:id="rId52"/>
    <p:sldId id="2910" r:id="rId53"/>
    <p:sldId id="1169" r:id="rId5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pn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image" Target="../media/image3.emf"/><Relationship Id="rId7" Type="http://schemas.openxmlformats.org/officeDocument/2006/relationships/image" Target="../media/image61.jpe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7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株式会社チェングロウス 御中</a:t>
            </a:r>
          </a:p>
        </p:txBody>
      </p:sp>
      <p:pic>
        <p:nvPicPr>
          <p:cNvPr id="11" name="Picture 10" descr="chengrowth_logo.png"/>
          <p:cNvPicPr>
            <a:picLocks noChangeAspect="1"/>
          </p:cNvPicPr>
          <p:nvPr/>
        </p:nvPicPr>
        <p:blipFill>
          <a:blip r:embed="rId3"/>
          <a:stretch>
            <a:fillRect/>
          </a:stretch>
        </p:blipFill>
        <p:spPr>
          <a:xfrm>
            <a:off x="3513000" y="3478502"/>
            <a:ext cx="2880000" cy="337171"/>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現状把握【自動車 求人Navi】</a:t>
            </a:r>
          </a:p>
        </p:txBody>
      </p:sp>
      <p:sp>
        <p:nvSpPr>
          <p:cNvPr id="3" name="TextBox 2"/>
          <p:cNvSpPr txBox="1"/>
          <p:nvPr/>
        </p:nvSpPr>
        <p:spPr>
          <a:xfrm>
            <a:off x="432000" y="819206"/>
            <a:ext cx="9036000" cy="341589"/>
          </a:xfrm>
          <a:prstGeom prst="rect">
            <a:avLst/>
          </a:prstGeom>
          <a:noFill/>
        </p:spPr>
        <p:txBody>
          <a:bodyPr wrap="square" lIns="0" tIns="21600" rIns="0" bIns="21600" anchor="ctr">
            <a:spAutoFit/>
          </a:bodyPr>
          <a:lstStyle/>
          <a:p>
            <a:pPr algn="l">
              <a:lnSpc>
                <a:spcPct val="128000"/>
              </a:lnSpc>
            </a:pPr>
            <a:r>
              <a:rPr sz="1600">
                <a:solidFill>
                  <a:srgbClr val="333333"/>
                </a:solidFill>
                <a:latin typeface="メイリオ"/>
                <a:ea typeface="メイリオ"/>
                <a:cs typeface="メイリオ"/>
              </a:rPr>
              <a:t>広告は動いている。しかし、応募につながっていない。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728000"/>
            <a:ext cx="2942400" cy="251999"/>
          </a:xfrm>
          <a:prstGeom prst="rect">
            <a:avLst/>
          </a:prstGeom>
          <a:noFill/>
        </p:spPr>
        <p:txBody>
          <a:bodyPr wrap="square" lIns="50400" tIns="21600" rIns="50400" bIns="21600" anchor="ctr">
            <a:spAutoFit/>
          </a:bodyPr>
          <a:lstStyle/>
          <a:p>
            <a:pPr algn="ctr"/>
            <a:r>
              <a:rPr sz="1250" b="1">
                <a:solidFill>
                  <a:srgbClr val="1F285A"/>
                </a:solidFill>
                <a:latin typeface="メイリオ"/>
                <a:ea typeface="メイリオ"/>
                <a:cs typeface="メイリオ"/>
              </a:rPr>
              <a:t>Meta広告の応募単価</a:t>
            </a:r>
          </a:p>
        </p:txBody>
      </p:sp>
      <p:sp>
        <p:nvSpPr>
          <p:cNvPr id="7" name="TextBox 6"/>
          <p:cNvSpPr txBox="1"/>
          <p:nvPr/>
        </p:nvSpPr>
        <p:spPr>
          <a:xfrm>
            <a:off x="432000" y="2051999"/>
            <a:ext cx="2942400" cy="540000"/>
          </a:xfrm>
          <a:prstGeom prst="rect">
            <a:avLst/>
          </a:prstGeom>
          <a:noFill/>
        </p:spPr>
        <p:txBody>
          <a:bodyPr wrap="square" lIns="50400" tIns="21600" rIns="50400" bIns="21600" anchor="ctr">
            <a:spAutoFit/>
          </a:bodyPr>
          <a:lstStyle/>
          <a:p>
            <a:pPr algn="ctr"/>
            <a:r>
              <a:rPr sz="2600" b="1" dirty="0">
                <a:solidFill>
                  <a:srgbClr val="ED7D31"/>
                </a:solidFill>
                <a:latin typeface="メイリオ"/>
                <a:ea typeface="メイリオ"/>
                <a:cs typeface="メイリオ"/>
              </a:rPr>
              <a:t>約70万円/件</a:t>
            </a:r>
          </a:p>
        </p:txBody>
      </p:sp>
      <p:sp>
        <p:nvSpPr>
          <p:cNvPr id="8" name="TextBox 7"/>
          <p:cNvSpPr txBox="1"/>
          <p:nvPr/>
        </p:nvSpPr>
        <p:spPr>
          <a:xfrm>
            <a:off x="432000" y="2625048"/>
            <a:ext cx="2942400" cy="509903"/>
          </a:xfrm>
          <a:prstGeom prst="rect">
            <a:avLst/>
          </a:prstGeom>
          <a:noFill/>
        </p:spPr>
        <p:txBody>
          <a:bodyPr wrap="square" lIns="50400" tIns="21600" rIns="50400" bIns="21600" anchor="ctr">
            <a:spAutoFit/>
          </a:bodyPr>
          <a:lstStyle/>
          <a:p>
            <a:pPr algn="ctr">
              <a:lnSpc>
                <a:spcPct val="130000"/>
              </a:lnSpc>
            </a:pPr>
            <a:r>
              <a:rPr sz="1200" dirty="0">
                <a:solidFill>
                  <a:srgbClr val="333333"/>
                </a:solidFill>
                <a:latin typeface="メイリオ"/>
                <a:ea typeface="メイリオ"/>
                <a:cs typeface="メイリオ"/>
              </a:rPr>
              <a:t>年250万円の投下で</a:t>
            </a:r>
          </a:p>
          <a:p>
            <a:pPr algn="ctr">
              <a:lnSpc>
                <a:spcPct val="130000"/>
              </a:lnSpc>
            </a:pPr>
            <a:r>
              <a:rPr sz="1200" dirty="0">
                <a:solidFill>
                  <a:srgbClr val="333333"/>
                </a:solidFill>
                <a:latin typeface="メイリオ"/>
                <a:ea typeface="メイリオ"/>
                <a:cs typeface="メイリオ"/>
              </a:rPr>
              <a:t>応募は年3〜4件</a:t>
            </a:r>
          </a:p>
        </p:txBody>
      </p:sp>
      <p:sp>
        <p:nvSpPr>
          <p:cNvPr id="9" name="Rounded Rectangle 8"/>
          <p:cNvSpPr/>
          <p:nvPr/>
        </p:nvSpPr>
        <p:spPr>
          <a:xfrm>
            <a:off x="34824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2400" y="1728000"/>
            <a:ext cx="2942400" cy="251999"/>
          </a:xfrm>
          <a:prstGeom prst="rect">
            <a:avLst/>
          </a:prstGeom>
          <a:noFill/>
        </p:spPr>
        <p:txBody>
          <a:bodyPr wrap="square" lIns="50400" tIns="21600" rIns="50400" bIns="21600" anchor="ctr">
            <a:spAutoFit/>
          </a:bodyPr>
          <a:lstStyle/>
          <a:p>
            <a:pPr algn="ctr"/>
            <a:r>
              <a:rPr sz="1250" b="1">
                <a:solidFill>
                  <a:srgbClr val="1F285A"/>
                </a:solidFill>
                <a:latin typeface="メイリオ"/>
                <a:ea typeface="メイリオ"/>
                <a:cs typeface="メイリオ"/>
              </a:rPr>
              <a:t>整備士の応募単価（Google）</a:t>
            </a:r>
          </a:p>
        </p:txBody>
      </p:sp>
      <p:sp>
        <p:nvSpPr>
          <p:cNvPr id="11" name="TextBox 10"/>
          <p:cNvSpPr txBox="1"/>
          <p:nvPr/>
        </p:nvSpPr>
        <p:spPr>
          <a:xfrm>
            <a:off x="3482400" y="2051999"/>
            <a:ext cx="2942400" cy="540000"/>
          </a:xfrm>
          <a:prstGeom prst="rect">
            <a:avLst/>
          </a:prstGeom>
          <a:noFill/>
        </p:spPr>
        <p:txBody>
          <a:bodyPr wrap="square" lIns="50400" tIns="21600" rIns="50400" bIns="21600" anchor="ctr">
            <a:spAutoFit/>
          </a:bodyPr>
          <a:lstStyle/>
          <a:p>
            <a:pPr algn="ctr"/>
            <a:r>
              <a:rPr sz="2600" b="1">
                <a:solidFill>
                  <a:srgbClr val="ED7D31"/>
                </a:solidFill>
                <a:latin typeface="メイリオ"/>
                <a:ea typeface="メイリオ"/>
                <a:cs typeface="メイリオ"/>
              </a:rPr>
              <a:t>6万円</a:t>
            </a:r>
          </a:p>
        </p:txBody>
      </p:sp>
      <p:sp>
        <p:nvSpPr>
          <p:cNvPr id="12" name="TextBox 11"/>
          <p:cNvSpPr txBox="1"/>
          <p:nvPr/>
        </p:nvSpPr>
        <p:spPr>
          <a:xfrm>
            <a:off x="3482400" y="2625048"/>
            <a:ext cx="2942400" cy="509903"/>
          </a:xfrm>
          <a:prstGeom prst="rect">
            <a:avLst/>
          </a:prstGeom>
          <a:noFill/>
        </p:spPr>
        <p:txBody>
          <a:bodyPr wrap="square" lIns="50400" tIns="21600" rIns="50400" bIns="21600" anchor="ctr">
            <a:spAutoFit/>
          </a:bodyPr>
          <a:lstStyle/>
          <a:p>
            <a:pPr algn="ctr">
              <a:lnSpc>
                <a:spcPct val="130000"/>
              </a:lnSpc>
            </a:pPr>
            <a:r>
              <a:rPr sz="1200">
                <a:solidFill>
                  <a:srgbClr val="333333"/>
                </a:solidFill>
                <a:latin typeface="メイリオ"/>
                <a:ea typeface="メイリオ"/>
                <a:cs typeface="メイリオ"/>
              </a:rPr>
              <a:t>目標は2〜2.5万円</a:t>
            </a:r>
          </a:p>
          <a:p>
            <a:pPr algn="ctr">
              <a:lnSpc>
                <a:spcPct val="130000"/>
              </a:lnSpc>
            </a:pPr>
            <a:r>
              <a:rPr sz="1200">
                <a:solidFill>
                  <a:srgbClr val="333333"/>
                </a:solidFill>
                <a:latin typeface="メイリオ"/>
                <a:ea typeface="メイリオ"/>
                <a:cs typeface="メイリオ"/>
              </a:rPr>
              <a:t>＝2.4〜3倍の乖離</a:t>
            </a:r>
          </a:p>
        </p:txBody>
      </p:sp>
      <p:sp>
        <p:nvSpPr>
          <p:cNvPr id="13" name="Rounded Rectangle 12"/>
          <p:cNvSpPr/>
          <p:nvPr/>
        </p:nvSpPr>
        <p:spPr>
          <a:xfrm>
            <a:off x="6532800" y="1620000"/>
            <a:ext cx="29424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2800" y="1728000"/>
            <a:ext cx="2942400" cy="251999"/>
          </a:xfrm>
          <a:prstGeom prst="rect">
            <a:avLst/>
          </a:prstGeom>
          <a:noFill/>
        </p:spPr>
        <p:txBody>
          <a:bodyPr wrap="square" lIns="50400" tIns="21600" rIns="50400" bIns="21600" anchor="ctr">
            <a:spAutoFit/>
          </a:bodyPr>
          <a:lstStyle/>
          <a:p>
            <a:pPr algn="ctr"/>
            <a:r>
              <a:rPr sz="1250" b="1">
                <a:solidFill>
                  <a:srgbClr val="1F285A"/>
                </a:solidFill>
                <a:latin typeface="メイリオ"/>
                <a:ea typeface="メイリオ"/>
                <a:cs typeface="メイリオ"/>
              </a:rPr>
              <a:t>月間サイト訪問</a:t>
            </a:r>
          </a:p>
        </p:txBody>
      </p:sp>
      <p:sp>
        <p:nvSpPr>
          <p:cNvPr id="15" name="TextBox 14"/>
          <p:cNvSpPr txBox="1"/>
          <p:nvPr/>
        </p:nvSpPr>
        <p:spPr>
          <a:xfrm>
            <a:off x="6532800" y="2051999"/>
            <a:ext cx="2942400" cy="540000"/>
          </a:xfrm>
          <a:prstGeom prst="rect">
            <a:avLst/>
          </a:prstGeom>
          <a:noFill/>
        </p:spPr>
        <p:txBody>
          <a:bodyPr wrap="square" lIns="50400" tIns="21600" rIns="50400" bIns="21600" anchor="ctr">
            <a:spAutoFit/>
          </a:bodyPr>
          <a:lstStyle/>
          <a:p>
            <a:pPr algn="ctr"/>
            <a:r>
              <a:rPr sz="2600" b="1">
                <a:solidFill>
                  <a:srgbClr val="ED7D31"/>
                </a:solidFill>
                <a:latin typeface="メイリオ"/>
                <a:ea typeface="メイリオ"/>
                <a:cs typeface="メイリオ"/>
              </a:rPr>
              <a:t>3,215 UU</a:t>
            </a:r>
          </a:p>
        </p:txBody>
      </p:sp>
      <p:sp>
        <p:nvSpPr>
          <p:cNvPr id="16" name="TextBox 15"/>
          <p:cNvSpPr txBox="1"/>
          <p:nvPr/>
        </p:nvSpPr>
        <p:spPr>
          <a:xfrm>
            <a:off x="6532800" y="2625048"/>
            <a:ext cx="2942400" cy="509903"/>
          </a:xfrm>
          <a:prstGeom prst="rect">
            <a:avLst/>
          </a:prstGeom>
          <a:noFill/>
        </p:spPr>
        <p:txBody>
          <a:bodyPr wrap="square" lIns="50400" tIns="21600" rIns="50400" bIns="21600" anchor="ctr">
            <a:spAutoFit/>
          </a:bodyPr>
          <a:lstStyle/>
          <a:p>
            <a:pPr algn="ctr">
              <a:lnSpc>
                <a:spcPct val="130000"/>
              </a:lnSpc>
            </a:pPr>
            <a:r>
              <a:rPr sz="1200">
                <a:solidFill>
                  <a:srgbClr val="333333"/>
                </a:solidFill>
                <a:latin typeface="メイリオ"/>
                <a:ea typeface="メイリオ"/>
                <a:cs typeface="メイリオ"/>
              </a:rPr>
              <a:t>SimilarWeb推計</a:t>
            </a:r>
          </a:p>
          <a:p>
            <a:pPr algn="ctr">
              <a:lnSpc>
                <a:spcPct val="130000"/>
              </a:lnSpc>
            </a:pPr>
            <a:r>
              <a:rPr sz="1200">
                <a:solidFill>
                  <a:srgbClr val="333333"/>
                </a:solidFill>
                <a:latin typeface="メイリオ"/>
                <a:ea typeface="メイリオ"/>
                <a:cs typeface="メイリオ"/>
              </a:rPr>
              <a:t>応募まで進むのはごく一部</a:t>
            </a:r>
          </a:p>
        </p:txBody>
      </p:sp>
      <p:sp>
        <p:nvSpPr>
          <p:cNvPr id="17" name="Rounded Rectangle 16"/>
          <p:cNvSpPr/>
          <p:nvPr/>
        </p:nvSpPr>
        <p:spPr>
          <a:xfrm>
            <a:off x="432000" y="3537000"/>
            <a:ext cx="9043200" cy="957362"/>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608400" y="3580639"/>
            <a:ext cx="8683200" cy="854357"/>
          </a:xfrm>
          <a:prstGeom prst="rect">
            <a:avLst/>
          </a:prstGeom>
          <a:noFill/>
        </p:spPr>
        <p:txBody>
          <a:bodyPr wrap="square" lIns="50400" tIns="21600" rIns="50400" bIns="21600" anchor="ctr">
            <a:spAutoFit/>
          </a:bodyPr>
          <a:lstStyle/>
          <a:p>
            <a:pPr algn="l">
              <a:spcAft>
                <a:spcPts val="400"/>
              </a:spcAft>
            </a:pPr>
            <a:r>
              <a:rPr sz="1400" b="1" dirty="0">
                <a:solidFill>
                  <a:srgbClr val="C00000"/>
                </a:solidFill>
                <a:latin typeface="メイリオ"/>
                <a:ea typeface="メイリオ"/>
                <a:cs typeface="メイリオ"/>
              </a:rPr>
              <a:t>あわせて2点、すぐに直せる改善点があります。</a:t>
            </a:r>
          </a:p>
          <a:p>
            <a:pPr algn="l">
              <a:lnSpc>
                <a:spcPct val="130000"/>
              </a:lnSpc>
            </a:pPr>
            <a:r>
              <a:rPr sz="1400" dirty="0">
                <a:solidFill>
                  <a:srgbClr val="333333"/>
                </a:solidFill>
                <a:latin typeface="メイリオ"/>
                <a:ea typeface="メイリオ"/>
                <a:cs typeface="メイリオ"/>
              </a:rPr>
              <a:t>① </a:t>
            </a:r>
            <a:r>
              <a:rPr sz="1400" dirty="0" err="1">
                <a:solidFill>
                  <a:srgbClr val="333333"/>
                </a:solidFill>
                <a:latin typeface="メイリオ"/>
                <a:ea typeface="メイリオ"/>
                <a:cs typeface="メイリオ"/>
              </a:rPr>
              <a:t>トップページの「転職支援サービス申込」ボタンが現在リンク切れ（押した先が非公開の求人ページ</a:t>
            </a:r>
            <a:r>
              <a:rPr sz="1400" dirty="0">
                <a:solidFill>
                  <a:srgbClr val="333333"/>
                </a:solidFill>
                <a:latin typeface="メイリオ"/>
                <a:ea typeface="メイリオ"/>
                <a:cs typeface="メイリオ"/>
              </a:rPr>
              <a:t>）</a:t>
            </a:r>
          </a:p>
          <a:p>
            <a:pPr algn="l">
              <a:lnSpc>
                <a:spcPct val="130000"/>
              </a:lnSpc>
            </a:pPr>
            <a:r>
              <a:rPr sz="1400" dirty="0">
                <a:solidFill>
                  <a:srgbClr val="333333"/>
                </a:solidFill>
                <a:latin typeface="メイリオ"/>
                <a:ea typeface="メイリオ"/>
                <a:cs typeface="メイリオ"/>
              </a:rPr>
              <a:t>② 電話相談の受付が平日10:00〜18:00のみ ＝ </a:t>
            </a:r>
            <a:r>
              <a:rPr sz="1400" dirty="0" err="1">
                <a:solidFill>
                  <a:srgbClr val="333333"/>
                </a:solidFill>
                <a:latin typeface="メイリオ"/>
                <a:ea typeface="メイリオ"/>
                <a:cs typeface="メイリオ"/>
              </a:rPr>
              <a:t>整備士の方が働いている時間帯</a:t>
            </a:r>
            <a:endParaRPr sz="1400" dirty="0">
              <a:solidFill>
                <a:srgbClr val="333333"/>
              </a:solidFill>
              <a:latin typeface="メイリオ"/>
              <a:ea typeface="メイリオ"/>
              <a:cs typeface="メイリオ"/>
            </a:endParaRP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出典：与件ヒアリング（2026-09）／サイト実査 2026-09-21。UUはSimilarWeb推計</a:t>
            </a:r>
          </a:p>
        </p:txBody>
      </p:sp>
    </p:spTree>
    <p:extLst>
      <p:ext uri="{BB962C8B-B14F-4D97-AF65-F5344CB8AC3E}">
        <p14:creationId xmlns:p14="http://schemas.microsoft.com/office/powerpoint/2010/main" val="237848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想定動線【自動車 求人Navi】</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300">
                <a:solidFill>
                  <a:srgbClr val="333333"/>
                </a:solidFill>
                <a:latin typeface="メイリオ"/>
                <a:ea typeface="メイリオ"/>
                <a:cs typeface="メイリオ"/>
              </a:rPr>
              <a:t>現状は「今すぐ応募する」の一段のみ。迷っている段階の受け皿をLINEでつくる。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2000" y="1944641"/>
            <a:ext cx="1440000" cy="289843"/>
          </a:xfrm>
          <a:prstGeom prst="rect">
            <a:avLst/>
          </a:prstGeom>
          <a:noFill/>
        </p:spPr>
        <p:txBody>
          <a:bodyPr wrap="square" lIns="50400" tIns="21600" rIns="50400" bIns="21600" anchor="ctr">
            <a:spAutoFit/>
          </a:bodyPr>
          <a:lstStyle/>
          <a:p>
            <a:pPr algn="l"/>
            <a:r>
              <a:rPr sz="1600" b="1">
                <a:solidFill>
                  <a:srgbClr val="7F7F7F"/>
                </a:solidFill>
                <a:latin typeface="メイリオ"/>
                <a:ea typeface="メイリオ"/>
                <a:cs typeface="メイリオ"/>
              </a:rPr>
              <a:t>現状</a:t>
            </a:r>
          </a:p>
        </p:txBody>
      </p:sp>
      <p:sp>
        <p:nvSpPr>
          <p:cNvPr id="6" name="Rounded Rectangle 5"/>
          <p:cNvSpPr/>
          <p:nvPr/>
        </p:nvSpPr>
        <p:spPr>
          <a:xfrm>
            <a:off x="432000" y="2215561"/>
            <a:ext cx="2098800" cy="396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21600" rIns="50400" bIns="21600" rtlCol="0" anchor="ctr"/>
          <a:lstStyle/>
          <a:p>
            <a:pPr algn="ctr"/>
            <a:r>
              <a:rPr sz="1600" b="1">
                <a:solidFill>
                  <a:srgbClr val="FFFFFF"/>
                </a:solidFill>
                <a:latin typeface="メイリオ"/>
                <a:ea typeface="メイリオ"/>
                <a:cs typeface="メイリオ"/>
              </a:rPr>
              <a:t>流入</a:t>
            </a:r>
          </a:p>
        </p:txBody>
      </p:sp>
      <p:sp>
        <p:nvSpPr>
          <p:cNvPr id="7" name="TextBox 6"/>
          <p:cNvSpPr txBox="1"/>
          <p:nvPr/>
        </p:nvSpPr>
        <p:spPr>
          <a:xfrm>
            <a:off x="2548800" y="2253252"/>
            <a:ext cx="180000" cy="320621"/>
          </a:xfrm>
          <a:prstGeom prst="rect">
            <a:avLst/>
          </a:prstGeom>
          <a:noFill/>
        </p:spPr>
        <p:txBody>
          <a:bodyPr wrap="square" lIns="50400" tIns="21600" rIns="50400" bIns="21600" anchor="ctr">
            <a:spAutoFit/>
          </a:bodyPr>
          <a:lstStyle/>
          <a:p>
            <a:pPr algn="ctr"/>
            <a:r>
              <a:rPr b="1">
                <a:solidFill>
                  <a:srgbClr val="7F7F7F"/>
                </a:solidFill>
                <a:latin typeface="メイリオ"/>
                <a:ea typeface="メイリオ"/>
                <a:cs typeface="メイリオ"/>
              </a:rPr>
              <a:t>→</a:t>
            </a:r>
          </a:p>
        </p:txBody>
      </p:sp>
      <p:sp>
        <p:nvSpPr>
          <p:cNvPr id="8" name="Rounded Rectangle 7"/>
          <p:cNvSpPr/>
          <p:nvPr/>
        </p:nvSpPr>
        <p:spPr>
          <a:xfrm>
            <a:off x="2746800" y="2215561"/>
            <a:ext cx="2098800" cy="396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21600" rIns="50400" bIns="21600" rtlCol="0" anchor="ctr"/>
          <a:lstStyle/>
          <a:p>
            <a:pPr algn="ctr"/>
            <a:r>
              <a:rPr sz="1600" b="1">
                <a:solidFill>
                  <a:srgbClr val="FFFFFF"/>
                </a:solidFill>
                <a:latin typeface="メイリオ"/>
                <a:ea typeface="メイリオ"/>
                <a:cs typeface="メイリオ"/>
              </a:rPr>
              <a:t>求人を見る</a:t>
            </a:r>
          </a:p>
        </p:txBody>
      </p:sp>
      <p:sp>
        <p:nvSpPr>
          <p:cNvPr id="9" name="TextBox 8"/>
          <p:cNvSpPr txBox="1"/>
          <p:nvPr/>
        </p:nvSpPr>
        <p:spPr>
          <a:xfrm>
            <a:off x="4863600" y="2253252"/>
            <a:ext cx="180000" cy="320621"/>
          </a:xfrm>
          <a:prstGeom prst="rect">
            <a:avLst/>
          </a:prstGeom>
          <a:noFill/>
        </p:spPr>
        <p:txBody>
          <a:bodyPr wrap="square" lIns="50400" tIns="21600" rIns="50400" bIns="21600" anchor="ctr">
            <a:spAutoFit/>
          </a:bodyPr>
          <a:lstStyle/>
          <a:p>
            <a:pPr algn="ctr"/>
            <a:r>
              <a:rPr b="1">
                <a:solidFill>
                  <a:srgbClr val="7F7F7F"/>
                </a:solidFill>
                <a:latin typeface="メイリオ"/>
                <a:ea typeface="メイリオ"/>
                <a:cs typeface="メイリオ"/>
              </a:rPr>
              <a:t>→</a:t>
            </a:r>
          </a:p>
        </p:txBody>
      </p:sp>
      <p:sp>
        <p:nvSpPr>
          <p:cNvPr id="10" name="Rounded Rectangle 9"/>
          <p:cNvSpPr/>
          <p:nvPr/>
        </p:nvSpPr>
        <p:spPr>
          <a:xfrm>
            <a:off x="5061600" y="2215561"/>
            <a:ext cx="2098800" cy="396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21600" rIns="50400" bIns="21600" rtlCol="0" anchor="ctr"/>
          <a:lstStyle/>
          <a:p>
            <a:pPr algn="ctr"/>
            <a:r>
              <a:rPr sz="1600" b="1">
                <a:solidFill>
                  <a:srgbClr val="FFFFFF"/>
                </a:solidFill>
                <a:latin typeface="メイリオ"/>
                <a:ea typeface="メイリオ"/>
                <a:cs typeface="メイリオ"/>
              </a:rPr>
              <a:t>今すぐ応募する</a:t>
            </a:r>
          </a:p>
        </p:txBody>
      </p:sp>
      <p:sp>
        <p:nvSpPr>
          <p:cNvPr id="11" name="TextBox 10"/>
          <p:cNvSpPr txBox="1"/>
          <p:nvPr/>
        </p:nvSpPr>
        <p:spPr>
          <a:xfrm>
            <a:off x="7178400" y="2253252"/>
            <a:ext cx="180000" cy="320621"/>
          </a:xfrm>
          <a:prstGeom prst="rect">
            <a:avLst/>
          </a:prstGeom>
          <a:noFill/>
        </p:spPr>
        <p:txBody>
          <a:bodyPr wrap="square" lIns="50400" tIns="21600" rIns="50400" bIns="21600" anchor="ctr">
            <a:spAutoFit/>
          </a:bodyPr>
          <a:lstStyle/>
          <a:p>
            <a:pPr algn="ctr"/>
            <a:r>
              <a:rPr b="1">
                <a:solidFill>
                  <a:srgbClr val="7F7F7F"/>
                </a:solidFill>
                <a:latin typeface="メイリオ"/>
                <a:ea typeface="メイリオ"/>
                <a:cs typeface="メイリオ"/>
              </a:rPr>
              <a:t>→</a:t>
            </a:r>
          </a:p>
        </p:txBody>
      </p:sp>
      <p:sp>
        <p:nvSpPr>
          <p:cNvPr id="12" name="Rounded Rectangle 11"/>
          <p:cNvSpPr/>
          <p:nvPr/>
        </p:nvSpPr>
        <p:spPr>
          <a:xfrm>
            <a:off x="7376399" y="2215561"/>
            <a:ext cx="2098800" cy="396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0400" tIns="21600" rIns="50400" bIns="21600" rtlCol="0" anchor="ctr"/>
          <a:lstStyle/>
          <a:p>
            <a:pPr algn="ctr"/>
            <a:r>
              <a:rPr sz="1600" b="1">
                <a:solidFill>
                  <a:srgbClr val="C00000"/>
                </a:solidFill>
                <a:latin typeface="メイリオ"/>
                <a:ea typeface="メイリオ"/>
                <a:cs typeface="メイリオ"/>
              </a:rPr>
              <a:t>迷った人は離脱</a:t>
            </a:r>
          </a:p>
        </p:txBody>
      </p:sp>
      <p:sp>
        <p:nvSpPr>
          <p:cNvPr id="13" name="TextBox 12"/>
          <p:cNvSpPr txBox="1"/>
          <p:nvPr/>
        </p:nvSpPr>
        <p:spPr>
          <a:xfrm>
            <a:off x="432000" y="2718641"/>
            <a:ext cx="2160000" cy="289843"/>
          </a:xfrm>
          <a:prstGeom prst="rect">
            <a:avLst/>
          </a:prstGeom>
          <a:noFill/>
        </p:spPr>
        <p:txBody>
          <a:bodyPr wrap="square" lIns="50400" tIns="21600" rIns="50400" bIns="21600" anchor="ctr">
            <a:spAutoFit/>
          </a:bodyPr>
          <a:lstStyle/>
          <a:p>
            <a:pPr algn="l"/>
            <a:r>
              <a:rPr sz="1600" b="1">
                <a:solidFill>
                  <a:srgbClr val="06C755"/>
                </a:solidFill>
                <a:latin typeface="メイリオ"/>
                <a:ea typeface="メイリオ"/>
                <a:cs typeface="メイリオ"/>
              </a:rPr>
              <a:t>LINE導入後</a:t>
            </a:r>
          </a:p>
        </p:txBody>
      </p:sp>
      <p:sp>
        <p:nvSpPr>
          <p:cNvPr id="14" name="Rounded Rectangle 13"/>
          <p:cNvSpPr/>
          <p:nvPr/>
        </p:nvSpPr>
        <p:spPr>
          <a:xfrm>
            <a:off x="432000" y="2989561"/>
            <a:ext cx="1213201" cy="859953"/>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a:solidFill>
                  <a:srgbClr val="FFFFFF"/>
                </a:solidFill>
                <a:latin typeface="メイリオ"/>
                <a:ea typeface="メイリオ"/>
                <a:cs typeface="メイリオ"/>
              </a:rPr>
              <a:t>流入</a:t>
            </a:r>
          </a:p>
        </p:txBody>
      </p:sp>
      <p:sp>
        <p:nvSpPr>
          <p:cNvPr id="15" name="TextBox 14"/>
          <p:cNvSpPr txBox="1"/>
          <p:nvPr/>
        </p:nvSpPr>
        <p:spPr>
          <a:xfrm>
            <a:off x="1669971" y="3201860"/>
            <a:ext cx="148030" cy="289843"/>
          </a:xfrm>
          <a:prstGeom prst="rect">
            <a:avLst/>
          </a:prstGeom>
          <a:noFill/>
        </p:spPr>
        <p:txBody>
          <a:bodyPr wrap="square" lIns="50400" tIns="21600" rIns="50400" bIns="21600" anchor="ctr">
            <a:spAutoFit/>
          </a:bodyPr>
          <a:lstStyle/>
          <a:p>
            <a:pPr algn="ctr"/>
            <a:r>
              <a:rPr sz="1600" b="1" dirty="0">
                <a:solidFill>
                  <a:srgbClr val="7F7F7F"/>
                </a:solidFill>
                <a:latin typeface="メイリオ"/>
                <a:ea typeface="メイリオ"/>
                <a:cs typeface="メイリオ"/>
              </a:rPr>
              <a:t>→</a:t>
            </a:r>
          </a:p>
        </p:txBody>
      </p:sp>
      <p:sp>
        <p:nvSpPr>
          <p:cNvPr id="16" name="Rounded Rectangle 15"/>
          <p:cNvSpPr/>
          <p:nvPr/>
        </p:nvSpPr>
        <p:spPr>
          <a:xfrm>
            <a:off x="1857975" y="2989560"/>
            <a:ext cx="1368459" cy="859953"/>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dirty="0" err="1">
                <a:solidFill>
                  <a:srgbClr val="FFFFFF"/>
                </a:solidFill>
                <a:latin typeface="メイリオ"/>
                <a:ea typeface="メイリオ"/>
                <a:cs typeface="メイリオ"/>
              </a:rPr>
              <a:t>LINE友だち化</a:t>
            </a:r>
            <a:endParaRPr sz="1400" b="1" dirty="0">
              <a:solidFill>
                <a:srgbClr val="FFFFFF"/>
              </a:solidFill>
              <a:latin typeface="メイリオ"/>
              <a:ea typeface="メイリオ"/>
              <a:cs typeface="メイリオ"/>
            </a:endParaRPr>
          </a:p>
          <a:p>
            <a:pPr algn="ctr">
              <a:lnSpc>
                <a:spcPct val="115000"/>
              </a:lnSpc>
            </a:pPr>
            <a:r>
              <a:rPr sz="1400" b="1" dirty="0">
                <a:solidFill>
                  <a:srgbClr val="FFFFFF"/>
                </a:solidFill>
                <a:latin typeface="メイリオ"/>
                <a:ea typeface="メイリオ"/>
                <a:cs typeface="メイリオ"/>
              </a:rPr>
              <a:t>（</a:t>
            </a:r>
            <a:r>
              <a:rPr sz="1400" b="1" dirty="0" err="1">
                <a:solidFill>
                  <a:srgbClr val="FFFFFF"/>
                </a:solidFill>
                <a:latin typeface="メイリオ"/>
                <a:ea typeface="メイリオ"/>
                <a:cs typeface="メイリオ"/>
              </a:rPr>
              <a:t>離脱防止・CPF</a:t>
            </a:r>
            <a:r>
              <a:rPr sz="1400" b="1" dirty="0">
                <a:solidFill>
                  <a:srgbClr val="FFFFFF"/>
                </a:solidFill>
                <a:latin typeface="メイリオ"/>
                <a:ea typeface="メイリオ"/>
                <a:cs typeface="メイリオ"/>
              </a:rPr>
              <a:t>）</a:t>
            </a:r>
          </a:p>
        </p:txBody>
      </p:sp>
      <p:sp>
        <p:nvSpPr>
          <p:cNvPr id="17" name="TextBox 16"/>
          <p:cNvSpPr txBox="1"/>
          <p:nvPr/>
        </p:nvSpPr>
        <p:spPr>
          <a:xfrm>
            <a:off x="3203243" y="3196920"/>
            <a:ext cx="287567" cy="289843"/>
          </a:xfrm>
          <a:prstGeom prst="rect">
            <a:avLst/>
          </a:prstGeom>
          <a:noFill/>
        </p:spPr>
        <p:txBody>
          <a:bodyPr wrap="square" lIns="50400" tIns="21600" rIns="50400" bIns="21600" anchor="ctr">
            <a:spAutoFit/>
          </a:bodyPr>
          <a:lstStyle/>
          <a:p>
            <a:pPr algn="ctr"/>
            <a:r>
              <a:rPr sz="1600" b="1" dirty="0">
                <a:solidFill>
                  <a:srgbClr val="7F7F7F"/>
                </a:solidFill>
                <a:latin typeface="メイリオ"/>
                <a:ea typeface="メイリオ"/>
                <a:cs typeface="メイリオ"/>
              </a:rPr>
              <a:t>→</a:t>
            </a:r>
          </a:p>
        </p:txBody>
      </p:sp>
      <p:sp>
        <p:nvSpPr>
          <p:cNvPr id="18" name="Rounded Rectangle 17"/>
          <p:cNvSpPr/>
          <p:nvPr/>
        </p:nvSpPr>
        <p:spPr>
          <a:xfrm>
            <a:off x="3467619" y="2989559"/>
            <a:ext cx="1368459" cy="859953"/>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dirty="0">
                <a:solidFill>
                  <a:srgbClr val="FFFFFF"/>
                </a:solidFill>
                <a:latin typeface="メイリオ"/>
                <a:ea typeface="メイリオ"/>
                <a:cs typeface="メイリオ"/>
              </a:rPr>
              <a:t>30秒診断</a:t>
            </a:r>
          </a:p>
          <a:p>
            <a:pPr algn="ctr">
              <a:lnSpc>
                <a:spcPct val="115000"/>
              </a:lnSpc>
            </a:pPr>
            <a:r>
              <a:rPr sz="1400" b="1" dirty="0">
                <a:solidFill>
                  <a:srgbClr val="FFFFFF"/>
                </a:solidFill>
                <a:latin typeface="メイリオ"/>
                <a:ea typeface="メイリオ"/>
                <a:cs typeface="メイリオ"/>
              </a:rPr>
              <a:t>（</a:t>
            </a:r>
            <a:r>
              <a:rPr sz="1400" b="1" dirty="0" err="1">
                <a:solidFill>
                  <a:srgbClr val="FFFFFF"/>
                </a:solidFill>
                <a:latin typeface="メイリオ"/>
                <a:ea typeface="メイリオ"/>
                <a:cs typeface="メイリオ"/>
              </a:rPr>
              <a:t>職種・資格・温度感</a:t>
            </a:r>
            <a:r>
              <a:rPr sz="1400" b="1" dirty="0">
                <a:solidFill>
                  <a:srgbClr val="FFFFFF"/>
                </a:solidFill>
                <a:latin typeface="メイリオ"/>
                <a:ea typeface="メイリオ"/>
                <a:cs typeface="メイリオ"/>
              </a:rPr>
              <a:t>）</a:t>
            </a:r>
          </a:p>
        </p:txBody>
      </p:sp>
      <p:sp>
        <p:nvSpPr>
          <p:cNvPr id="19" name="TextBox 18"/>
          <p:cNvSpPr txBox="1"/>
          <p:nvPr/>
        </p:nvSpPr>
        <p:spPr>
          <a:xfrm>
            <a:off x="4877964" y="3196921"/>
            <a:ext cx="166974" cy="289843"/>
          </a:xfrm>
          <a:prstGeom prst="rect">
            <a:avLst/>
          </a:prstGeom>
          <a:noFill/>
        </p:spPr>
        <p:txBody>
          <a:bodyPr wrap="square" lIns="50400" tIns="21600" rIns="50400" bIns="21600" anchor="ctr">
            <a:spAutoFit/>
          </a:bodyPr>
          <a:lstStyle/>
          <a:p>
            <a:pPr algn="ctr"/>
            <a:r>
              <a:rPr sz="1600" b="1" dirty="0">
                <a:solidFill>
                  <a:srgbClr val="7F7F7F"/>
                </a:solidFill>
                <a:latin typeface="メイリオ"/>
                <a:ea typeface="メイリオ"/>
                <a:cs typeface="メイリオ"/>
              </a:rPr>
              <a:t>→</a:t>
            </a:r>
          </a:p>
        </p:txBody>
      </p:sp>
      <p:sp>
        <p:nvSpPr>
          <p:cNvPr id="20" name="Rounded Rectangle 19"/>
          <p:cNvSpPr/>
          <p:nvPr/>
        </p:nvSpPr>
        <p:spPr>
          <a:xfrm>
            <a:off x="5097584" y="2989560"/>
            <a:ext cx="1368459" cy="859953"/>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200" b="1" dirty="0">
                <a:solidFill>
                  <a:srgbClr val="FFFFFF"/>
                </a:solidFill>
                <a:latin typeface="メイリオ"/>
                <a:ea typeface="メイリオ"/>
                <a:cs typeface="メイリオ"/>
              </a:rPr>
              <a:t>14日間の情報配信</a:t>
            </a:r>
          </a:p>
          <a:p>
            <a:pPr algn="ctr">
              <a:lnSpc>
                <a:spcPct val="115000"/>
              </a:lnSpc>
            </a:pPr>
            <a:r>
              <a:rPr sz="1200" b="1" dirty="0">
                <a:solidFill>
                  <a:srgbClr val="FFFFFF"/>
                </a:solidFill>
                <a:latin typeface="メイリオ"/>
                <a:ea typeface="メイリオ"/>
                <a:cs typeface="メイリオ"/>
              </a:rPr>
              <a:t>（</a:t>
            </a:r>
            <a:r>
              <a:rPr sz="1200" b="1" dirty="0" err="1">
                <a:solidFill>
                  <a:srgbClr val="FFFFFF"/>
                </a:solidFill>
                <a:latin typeface="メイリオ"/>
                <a:ea typeface="メイリオ"/>
                <a:cs typeface="メイリオ"/>
              </a:rPr>
              <a:t>年収相場・体験談</a:t>
            </a:r>
            <a:r>
              <a:rPr sz="1200" b="1" dirty="0">
                <a:solidFill>
                  <a:srgbClr val="FFFFFF"/>
                </a:solidFill>
                <a:latin typeface="メイリオ"/>
                <a:ea typeface="メイリオ"/>
                <a:cs typeface="メイリオ"/>
              </a:rPr>
              <a:t>）</a:t>
            </a:r>
          </a:p>
        </p:txBody>
      </p:sp>
      <p:sp>
        <p:nvSpPr>
          <p:cNvPr id="21" name="TextBox 20"/>
          <p:cNvSpPr txBox="1"/>
          <p:nvPr/>
        </p:nvSpPr>
        <p:spPr>
          <a:xfrm>
            <a:off x="6512428" y="3201859"/>
            <a:ext cx="148030" cy="289843"/>
          </a:xfrm>
          <a:prstGeom prst="rect">
            <a:avLst/>
          </a:prstGeom>
          <a:noFill/>
        </p:spPr>
        <p:txBody>
          <a:bodyPr wrap="square" lIns="50400" tIns="21600" rIns="50400" bIns="21600" anchor="ctr">
            <a:spAutoFit/>
          </a:bodyPr>
          <a:lstStyle/>
          <a:p>
            <a:pPr algn="ctr"/>
            <a:r>
              <a:rPr sz="1600" b="1" dirty="0">
                <a:solidFill>
                  <a:srgbClr val="7F7F7F"/>
                </a:solidFill>
                <a:latin typeface="メイリオ"/>
                <a:ea typeface="メイリオ"/>
                <a:cs typeface="メイリオ"/>
              </a:rPr>
              <a:t>→</a:t>
            </a:r>
          </a:p>
        </p:txBody>
      </p:sp>
      <p:sp>
        <p:nvSpPr>
          <p:cNvPr id="22" name="Rounded Rectangle 21"/>
          <p:cNvSpPr/>
          <p:nvPr/>
        </p:nvSpPr>
        <p:spPr>
          <a:xfrm>
            <a:off x="6707228" y="2989561"/>
            <a:ext cx="1213201" cy="859953"/>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dirty="0" err="1">
                <a:solidFill>
                  <a:srgbClr val="FFFFFF"/>
                </a:solidFill>
                <a:latin typeface="メイリオ"/>
                <a:ea typeface="メイリオ"/>
                <a:cs typeface="メイリオ"/>
              </a:rPr>
              <a:t>面談・応募</a:t>
            </a:r>
            <a:endParaRPr sz="1400" b="1" dirty="0">
              <a:solidFill>
                <a:srgbClr val="FFFFFF"/>
              </a:solidFill>
              <a:latin typeface="メイリオ"/>
              <a:ea typeface="メイリオ"/>
              <a:cs typeface="メイリオ"/>
            </a:endParaRPr>
          </a:p>
        </p:txBody>
      </p:sp>
      <p:sp>
        <p:nvSpPr>
          <p:cNvPr id="23" name="TextBox 22"/>
          <p:cNvSpPr txBox="1"/>
          <p:nvPr/>
        </p:nvSpPr>
        <p:spPr>
          <a:xfrm>
            <a:off x="7945199" y="3204640"/>
            <a:ext cx="148030" cy="289843"/>
          </a:xfrm>
          <a:prstGeom prst="rect">
            <a:avLst/>
          </a:prstGeom>
          <a:noFill/>
        </p:spPr>
        <p:txBody>
          <a:bodyPr wrap="square" lIns="50400" tIns="21600" rIns="50400" bIns="21600" anchor="ctr">
            <a:spAutoFit/>
          </a:bodyPr>
          <a:lstStyle/>
          <a:p>
            <a:pPr algn="ctr"/>
            <a:r>
              <a:rPr sz="1600" b="1">
                <a:solidFill>
                  <a:srgbClr val="7F7F7F"/>
                </a:solidFill>
                <a:latin typeface="メイリオ"/>
                <a:ea typeface="メイリオ"/>
                <a:cs typeface="メイリオ"/>
              </a:rPr>
              <a:t>→</a:t>
            </a:r>
          </a:p>
        </p:txBody>
      </p:sp>
      <p:sp>
        <p:nvSpPr>
          <p:cNvPr id="24" name="Rounded Rectangle 23"/>
          <p:cNvSpPr/>
          <p:nvPr/>
        </p:nvSpPr>
        <p:spPr>
          <a:xfrm>
            <a:off x="8117999" y="2989561"/>
            <a:ext cx="1213201" cy="859953"/>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1600" rIns="28800" bIns="21600" rtlCol="0" anchor="ctr"/>
          <a:lstStyle/>
          <a:p>
            <a:pPr algn="ctr">
              <a:lnSpc>
                <a:spcPct val="115000"/>
              </a:lnSpc>
            </a:pPr>
            <a:r>
              <a:rPr sz="1400" b="1">
                <a:solidFill>
                  <a:srgbClr val="FFFFFF"/>
                </a:solidFill>
                <a:latin typeface="メイリオ"/>
                <a:ea typeface="メイリオ"/>
                <a:cs typeface="メイリオ"/>
              </a:rPr>
              <a:t>就業</a:t>
            </a:r>
          </a:p>
        </p:txBody>
      </p:sp>
      <p:sp>
        <p:nvSpPr>
          <p:cNvPr id="25" name="Rounded Rectangle 24"/>
          <p:cNvSpPr/>
          <p:nvPr/>
        </p:nvSpPr>
        <p:spPr>
          <a:xfrm>
            <a:off x="432000" y="4246440"/>
            <a:ext cx="9043200" cy="39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b="1">
                <a:solidFill>
                  <a:srgbClr val="FFFFFF"/>
                </a:solidFill>
                <a:latin typeface="メイリオ"/>
                <a:ea typeface="メイリオ"/>
                <a:cs typeface="メイリオ"/>
              </a:rPr>
              <a:t>広告・サイトは変えない。「応募の手前」に、相談の階段を1段足すだけ。</a:t>
            </a:r>
          </a:p>
        </p:txBody>
      </p:sp>
      <p:sp>
        <p:nvSpPr>
          <p:cNvPr id="26" name="TextBox 2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意見｜DYM提案。CV地点＝求人応募・転職支援サービス登録（面談）</a:t>
            </a: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変えること・変えないこと｜応募の前後で追う</a:t>
            </a:r>
            <a:endParaRPr sz="1600" b="1" dirty="0">
              <a:solidFill>
                <a:srgbClr val="002060"/>
              </a:solidFill>
              <a:latin typeface="Meiryo"/>
              <a:ea typeface="Meiryo"/>
              <a:cs typeface="Meiryo"/>
              <a:sym typeface="Meiryo"/>
            </a:endParaRPr>
          </a:p>
        </p:txBody>
      </p:sp>
      <p:cxnSp>
        <p:nvCxnSpPr>
          <p:cNvPr id="19" name="Connector 18"/>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300" b="0">
                <a:solidFill>
                  <a:srgbClr val="333333"/>
                </a:solidFill>
                <a:latin typeface="メイリオ"/>
                <a:ea typeface="メイリオ"/>
                <a:cs typeface="メイリオ"/>
              </a:rPr>
              <a:t>広告の単価や求人の中身は変えません。</a:t>
            </a:r>
          </a:p>
          <a:p>
            <a:pPr algn="l"/>
            <a:r>
              <a:rPr sz="1300" b="0">
                <a:solidFill>
                  <a:srgbClr val="333333"/>
                </a:solidFill>
                <a:latin typeface="メイリオ"/>
                <a:ea typeface="メイリオ"/>
                <a:cs typeface="メイリオ"/>
              </a:rPr>
              <a:t>変えるのは「応募の手前」と「応募の後」だけ。そこをLINEで追いかけます。</a:t>
            </a:r>
          </a:p>
        </p:txBody>
      </p:sp>
      <p:sp>
        <p:nvSpPr>
          <p:cNvPr id="21" name="Rounded Rectangle 20"/>
          <p:cNvSpPr/>
          <p:nvPr/>
        </p:nvSpPr>
        <p:spPr>
          <a:xfrm>
            <a:off x="432000" y="1548000"/>
            <a:ext cx="2484000" cy="324000"/>
          </a:xfrm>
          <a:prstGeom prst="roundRect">
            <a:avLst>
              <a:gd name="adj" fmla="val 8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400" b="1">
                <a:solidFill>
                  <a:srgbClr val="FFFFFF"/>
                </a:solidFill>
                <a:latin typeface="メイリオ"/>
                <a:ea typeface="メイリオ"/>
                <a:cs typeface="メイリオ"/>
              </a:rPr>
              <a:t>変えないこと</a:t>
            </a:r>
          </a:p>
        </p:txBody>
      </p:sp>
      <p:sp>
        <p:nvSpPr>
          <p:cNvPr id="22" name="Rounded Rectangle 21"/>
          <p:cNvSpPr/>
          <p:nvPr/>
        </p:nvSpPr>
        <p:spPr>
          <a:xfrm>
            <a:off x="432000" y="1908000"/>
            <a:ext cx="2484000" cy="3096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21600" rIns="144000" bIns="21600" rtlCol="0" anchor="t"/>
          <a:lstStyle/>
          <a:p>
            <a:pPr algn="l"/>
            <a:r>
              <a:rPr sz="1200" b="1">
                <a:solidFill>
                  <a:srgbClr val="333333"/>
                </a:solidFill>
                <a:latin typeface="メイリオ"/>
                <a:ea typeface="メイリオ"/>
                <a:cs typeface="メイリオ"/>
              </a:rPr>
              <a:t>・広告の単価</a:t>
            </a:r>
          </a:p>
          <a:p>
            <a:pPr algn="l"/>
            <a:r>
              <a:rPr sz="1050" b="0">
                <a:solidFill>
                  <a:srgbClr val="7F7F7F"/>
                </a:solidFill>
                <a:latin typeface="メイリオ"/>
                <a:ea typeface="メイリオ"/>
                <a:cs typeface="メイリオ"/>
              </a:rPr>
              <a:t>　Meta・Googleは今のまま</a:t>
            </a:r>
          </a:p>
          <a:p>
            <a:pPr algn="l"/>
            <a:endParaRPr sz="1050" b="0">
              <a:solidFill>
                <a:srgbClr val="7F7F7F"/>
              </a:solidFill>
              <a:latin typeface="メイリオ"/>
              <a:ea typeface="メイリオ"/>
              <a:cs typeface="メイリオ"/>
            </a:endParaRPr>
          </a:p>
          <a:p>
            <a:pPr algn="l"/>
            <a:r>
              <a:rPr sz="1200" b="1">
                <a:solidFill>
                  <a:srgbClr val="333333"/>
                </a:solidFill>
                <a:latin typeface="メイリオ"/>
                <a:ea typeface="メイリオ"/>
                <a:cs typeface="メイリオ"/>
              </a:rPr>
              <a:t>・求人の中身・条件</a:t>
            </a:r>
          </a:p>
          <a:p>
            <a:pPr algn="l"/>
            <a:r>
              <a:rPr sz="1050" b="0">
                <a:solidFill>
                  <a:srgbClr val="7F7F7F"/>
                </a:solidFill>
                <a:latin typeface="メイリオ"/>
                <a:ea typeface="メイリオ"/>
                <a:cs typeface="メイリオ"/>
              </a:rPr>
              <a:t>　今の求人をそのまま活かす</a:t>
            </a:r>
          </a:p>
          <a:p>
            <a:pPr algn="l"/>
            <a:endParaRPr sz="1050" b="0">
              <a:solidFill>
                <a:srgbClr val="7F7F7F"/>
              </a:solidFill>
              <a:latin typeface="メイリオ"/>
              <a:ea typeface="メイリオ"/>
              <a:cs typeface="メイリオ"/>
            </a:endParaRPr>
          </a:p>
          <a:p>
            <a:pPr algn="l"/>
            <a:r>
              <a:rPr sz="1200" b="1">
                <a:solidFill>
                  <a:srgbClr val="333333"/>
                </a:solidFill>
                <a:latin typeface="メイリオ"/>
                <a:ea typeface="メイリオ"/>
                <a:cs typeface="メイリオ"/>
              </a:rPr>
              <a:t>・サイト・応募フォーム</a:t>
            </a:r>
          </a:p>
          <a:p>
            <a:pPr algn="l"/>
            <a:r>
              <a:rPr sz="1050" b="0">
                <a:solidFill>
                  <a:srgbClr val="7F7F7F"/>
                </a:solidFill>
                <a:latin typeface="メイリオ"/>
                <a:ea typeface="メイリオ"/>
                <a:cs typeface="メイリオ"/>
              </a:rPr>
              <a:t>　大きな改修はしない</a:t>
            </a:r>
          </a:p>
          <a:p>
            <a:pPr algn="l"/>
            <a:endParaRPr sz="1050" b="0">
              <a:solidFill>
                <a:srgbClr val="7F7F7F"/>
              </a:solidFill>
              <a:latin typeface="メイリオ"/>
              <a:ea typeface="メイリオ"/>
              <a:cs typeface="メイリオ"/>
            </a:endParaRPr>
          </a:p>
          <a:p>
            <a:pPr algn="l"/>
            <a:r>
              <a:rPr sz="1200" b="1">
                <a:solidFill>
                  <a:srgbClr val="333333"/>
                </a:solidFill>
                <a:latin typeface="メイリオ"/>
                <a:ea typeface="メイリオ"/>
                <a:cs typeface="メイリオ"/>
              </a:rPr>
              <a:t>・担当者の人数</a:t>
            </a:r>
          </a:p>
          <a:p>
            <a:pPr algn="l"/>
            <a:r>
              <a:rPr sz="1050" b="0">
                <a:solidFill>
                  <a:srgbClr val="7F7F7F"/>
                </a:solidFill>
                <a:latin typeface="メイリオ"/>
                <a:ea typeface="メイリオ"/>
                <a:cs typeface="メイリオ"/>
              </a:rPr>
              <a:t>　電話の件数を増やさない</a:t>
            </a:r>
          </a:p>
        </p:txBody>
      </p:sp>
      <p:sp>
        <p:nvSpPr>
          <p:cNvPr id="23" name="Rounded Rectangle 22"/>
          <p:cNvSpPr/>
          <p:nvPr/>
        </p:nvSpPr>
        <p:spPr>
          <a:xfrm>
            <a:off x="3060000" y="1548000"/>
            <a:ext cx="6415200" cy="324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21600" rIns="125999" bIns="21600" rtlCol="0" anchor="ctr"/>
          <a:lstStyle/>
          <a:p>
            <a:pPr algn="l"/>
            <a:r>
              <a:rPr sz="1400" b="1">
                <a:solidFill>
                  <a:srgbClr val="333333"/>
                </a:solidFill>
                <a:latin typeface="メイリオ"/>
                <a:ea typeface="メイリオ"/>
                <a:cs typeface="メイリオ"/>
              </a:rPr>
              <a:t>応募の手前：帰ろうとした人を残す</a:t>
            </a:r>
          </a:p>
        </p:txBody>
      </p:sp>
      <p:sp>
        <p:nvSpPr>
          <p:cNvPr id="24" name="Rounded Rectangle 23"/>
          <p:cNvSpPr/>
          <p:nvPr/>
        </p:nvSpPr>
        <p:spPr>
          <a:xfrm>
            <a:off x="3060000" y="1944000"/>
            <a:ext cx="1482300" cy="106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200" b="1">
                <a:solidFill>
                  <a:srgbClr val="3467B2"/>
                </a:solidFill>
                <a:latin typeface="メイリオ"/>
                <a:ea typeface="メイリオ"/>
                <a:cs typeface="メイリオ"/>
              </a:rPr>
              <a:t>1</a:t>
            </a:r>
          </a:p>
          <a:p>
            <a:pPr algn="ctr"/>
            <a:r>
              <a:rPr sz="1200" b="1">
                <a:solidFill>
                  <a:srgbClr val="1F285A"/>
                </a:solidFill>
                <a:latin typeface="メイリオ"/>
                <a:ea typeface="メイリオ"/>
                <a:cs typeface="メイリオ"/>
              </a:rPr>
              <a:t>求人ページを見て</a:t>
            </a:r>
          </a:p>
          <a:p>
            <a:pPr algn="ctr"/>
            <a:r>
              <a:rPr sz="1100" b="0">
                <a:solidFill>
                  <a:srgbClr val="333333"/>
                </a:solidFill>
                <a:latin typeface="メイリオ"/>
                <a:ea typeface="メイリオ"/>
                <a:cs typeface="メイリオ"/>
              </a:rPr>
              <a:t>応募せずに帰る</a:t>
            </a:r>
          </a:p>
        </p:txBody>
      </p:sp>
      <p:cxnSp>
        <p:nvCxnSpPr>
          <p:cNvPr id="25" name="Connector 24"/>
          <p:cNvCxnSpPr/>
          <p:nvPr/>
        </p:nvCxnSpPr>
        <p:spPr>
          <a:xfrm>
            <a:off x="4560300" y="2473199"/>
            <a:ext cx="125999" cy="0"/>
          </a:xfrm>
          <a:prstGeom prst="line">
            <a:avLst/>
          </a:prstGeom>
          <a:ln w="19050">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704300" y="1944000"/>
            <a:ext cx="1482300" cy="106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200" b="1">
                <a:solidFill>
                  <a:srgbClr val="3467B2"/>
                </a:solidFill>
                <a:latin typeface="メイリオ"/>
                <a:ea typeface="メイリオ"/>
                <a:cs typeface="メイリオ"/>
              </a:rPr>
              <a:t>2</a:t>
            </a:r>
          </a:p>
          <a:p>
            <a:pPr algn="ctr"/>
            <a:r>
              <a:rPr sz="1200" b="1">
                <a:solidFill>
                  <a:srgbClr val="1F285A"/>
                </a:solidFill>
                <a:latin typeface="メイリオ"/>
                <a:ea typeface="メイリオ"/>
                <a:cs typeface="メイリオ"/>
              </a:rPr>
              <a:t>離脱防止で</a:t>
            </a:r>
          </a:p>
          <a:p>
            <a:pPr algn="ctr"/>
            <a:r>
              <a:rPr sz="1100" b="0">
                <a:solidFill>
                  <a:srgbClr val="333333"/>
                </a:solidFill>
                <a:latin typeface="メイリオ"/>
                <a:ea typeface="メイリオ"/>
                <a:cs typeface="メイリオ"/>
              </a:rPr>
              <a:t>年収相場をLINEで</a:t>
            </a:r>
          </a:p>
        </p:txBody>
      </p:sp>
      <p:cxnSp>
        <p:nvCxnSpPr>
          <p:cNvPr id="27" name="Connector 26"/>
          <p:cNvCxnSpPr/>
          <p:nvPr/>
        </p:nvCxnSpPr>
        <p:spPr>
          <a:xfrm>
            <a:off x="6204600" y="2473199"/>
            <a:ext cx="125999" cy="0"/>
          </a:xfrm>
          <a:prstGeom prst="line">
            <a:avLst/>
          </a:prstGeom>
          <a:ln w="19050">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348599" y="1944000"/>
            <a:ext cx="1482300" cy="106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200" b="1">
                <a:solidFill>
                  <a:srgbClr val="3467B2"/>
                </a:solidFill>
                <a:latin typeface="メイリオ"/>
                <a:ea typeface="メイリオ"/>
                <a:cs typeface="メイリオ"/>
              </a:rPr>
              <a:t>3</a:t>
            </a:r>
          </a:p>
          <a:p>
            <a:pPr algn="ctr"/>
            <a:r>
              <a:rPr sz="1200" b="1">
                <a:solidFill>
                  <a:srgbClr val="1F285A"/>
                </a:solidFill>
                <a:latin typeface="メイリオ"/>
                <a:ea typeface="メイリオ"/>
                <a:cs typeface="メイリオ"/>
              </a:rPr>
              <a:t>友だち追加</a:t>
            </a:r>
          </a:p>
          <a:p>
            <a:pPr algn="ctr"/>
            <a:r>
              <a:rPr sz="1100" b="0">
                <a:solidFill>
                  <a:srgbClr val="333333"/>
                </a:solidFill>
                <a:latin typeface="メイリオ"/>
                <a:ea typeface="メイリオ"/>
                <a:cs typeface="メイリオ"/>
              </a:rPr>
              <a:t>30秒 適職診断</a:t>
            </a:r>
          </a:p>
        </p:txBody>
      </p:sp>
      <p:cxnSp>
        <p:nvCxnSpPr>
          <p:cNvPr id="29" name="Connector 28"/>
          <p:cNvCxnSpPr/>
          <p:nvPr/>
        </p:nvCxnSpPr>
        <p:spPr>
          <a:xfrm>
            <a:off x="7848899" y="2473199"/>
            <a:ext cx="126000" cy="0"/>
          </a:xfrm>
          <a:prstGeom prst="line">
            <a:avLst/>
          </a:prstGeom>
          <a:ln w="19050">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992900" y="1944000"/>
            <a:ext cx="1482300" cy="106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200" b="1">
                <a:solidFill>
                  <a:srgbClr val="FFFFFF"/>
                </a:solidFill>
                <a:latin typeface="メイリオ"/>
                <a:ea typeface="メイリオ"/>
                <a:cs typeface="メイリオ"/>
              </a:rPr>
              <a:t>4</a:t>
            </a:r>
          </a:p>
          <a:p>
            <a:pPr algn="ctr"/>
            <a:r>
              <a:rPr sz="1200" b="1">
                <a:solidFill>
                  <a:srgbClr val="FFFFFF"/>
                </a:solidFill>
                <a:latin typeface="メイリオ"/>
                <a:ea typeface="メイリオ"/>
                <a:cs typeface="メイリオ"/>
              </a:rPr>
              <a:t>14日間の配信で</a:t>
            </a:r>
          </a:p>
          <a:p>
            <a:pPr algn="ctr"/>
            <a:r>
              <a:rPr sz="1100" b="0">
                <a:solidFill>
                  <a:srgbClr val="FFFFFF"/>
                </a:solidFill>
                <a:latin typeface="メイリオ"/>
                <a:ea typeface="メイリオ"/>
                <a:cs typeface="メイリオ"/>
              </a:rPr>
              <a:t>面談へご案内</a:t>
            </a:r>
          </a:p>
        </p:txBody>
      </p:sp>
      <p:sp>
        <p:nvSpPr>
          <p:cNvPr id="31" name="Rounded Rectangle 30"/>
          <p:cNvSpPr/>
          <p:nvPr/>
        </p:nvSpPr>
        <p:spPr>
          <a:xfrm>
            <a:off x="3060000" y="3276000"/>
            <a:ext cx="6415200" cy="324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21600" rIns="125999" bIns="21600" rtlCol="0" anchor="ctr"/>
          <a:lstStyle/>
          <a:p>
            <a:pPr algn="l"/>
            <a:r>
              <a:rPr sz="1400" b="1">
                <a:solidFill>
                  <a:srgbClr val="333333"/>
                </a:solidFill>
                <a:latin typeface="メイリオ"/>
                <a:ea typeface="メイリオ"/>
                <a:cs typeface="メイリオ"/>
              </a:rPr>
              <a:t>応募の後：面談・就業まで追いかける</a:t>
            </a:r>
          </a:p>
        </p:txBody>
      </p:sp>
      <p:sp>
        <p:nvSpPr>
          <p:cNvPr id="32" name="Rounded Rectangle 31"/>
          <p:cNvSpPr/>
          <p:nvPr/>
        </p:nvSpPr>
        <p:spPr>
          <a:xfrm>
            <a:off x="3060000" y="3671999"/>
            <a:ext cx="1482300" cy="106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200" b="1">
                <a:solidFill>
                  <a:srgbClr val="3467B2"/>
                </a:solidFill>
                <a:latin typeface="メイリオ"/>
                <a:ea typeface="メイリオ"/>
                <a:cs typeface="メイリオ"/>
              </a:rPr>
              <a:t>1</a:t>
            </a:r>
          </a:p>
          <a:p>
            <a:pPr algn="ctr"/>
            <a:r>
              <a:rPr sz="1200" b="1">
                <a:solidFill>
                  <a:srgbClr val="1F285A"/>
                </a:solidFill>
                <a:latin typeface="メイリオ"/>
                <a:ea typeface="メイリオ"/>
                <a:cs typeface="メイリオ"/>
              </a:rPr>
              <a:t>応募完了画面から</a:t>
            </a:r>
          </a:p>
          <a:p>
            <a:pPr algn="ctr"/>
            <a:r>
              <a:rPr sz="1100" b="0">
                <a:solidFill>
                  <a:srgbClr val="333333"/>
                </a:solidFill>
                <a:latin typeface="メイリオ"/>
                <a:ea typeface="メイリオ"/>
                <a:cs typeface="メイリオ"/>
              </a:rPr>
              <a:t>LINEへご案内</a:t>
            </a:r>
          </a:p>
        </p:txBody>
      </p:sp>
      <p:cxnSp>
        <p:nvCxnSpPr>
          <p:cNvPr id="33" name="Connector 32"/>
          <p:cNvCxnSpPr/>
          <p:nvPr/>
        </p:nvCxnSpPr>
        <p:spPr>
          <a:xfrm>
            <a:off x="4560300" y="4201200"/>
            <a:ext cx="125999" cy="0"/>
          </a:xfrm>
          <a:prstGeom prst="line">
            <a:avLst/>
          </a:prstGeom>
          <a:ln w="19050">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704300" y="3671999"/>
            <a:ext cx="1482300" cy="106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200" b="1">
                <a:solidFill>
                  <a:srgbClr val="3467B2"/>
                </a:solidFill>
                <a:latin typeface="メイリオ"/>
                <a:ea typeface="メイリオ"/>
                <a:cs typeface="メイリオ"/>
              </a:rPr>
              <a:t>2</a:t>
            </a:r>
          </a:p>
          <a:p>
            <a:pPr algn="ctr"/>
            <a:r>
              <a:rPr sz="1200" b="1">
                <a:solidFill>
                  <a:srgbClr val="1F285A"/>
                </a:solidFill>
                <a:latin typeface="メイリオ"/>
                <a:ea typeface="メイリオ"/>
                <a:cs typeface="メイリオ"/>
              </a:rPr>
              <a:t>面談日程をLINEで</a:t>
            </a:r>
          </a:p>
          <a:p>
            <a:pPr algn="ctr"/>
            <a:r>
              <a:rPr sz="1100" b="0">
                <a:solidFill>
                  <a:srgbClr val="333333"/>
                </a:solidFill>
                <a:latin typeface="メイリオ"/>
                <a:ea typeface="メイリオ"/>
                <a:cs typeface="メイリオ"/>
              </a:rPr>
              <a:t>決定＋前日に連絡</a:t>
            </a:r>
          </a:p>
        </p:txBody>
      </p:sp>
      <p:cxnSp>
        <p:nvCxnSpPr>
          <p:cNvPr id="35" name="Connector 34"/>
          <p:cNvCxnSpPr/>
          <p:nvPr/>
        </p:nvCxnSpPr>
        <p:spPr>
          <a:xfrm>
            <a:off x="6204600" y="4201200"/>
            <a:ext cx="125999" cy="0"/>
          </a:xfrm>
          <a:prstGeom prst="line">
            <a:avLst/>
          </a:prstGeom>
          <a:ln w="19050">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348599" y="3671999"/>
            <a:ext cx="1482300" cy="106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200" b="1">
                <a:solidFill>
                  <a:srgbClr val="3467B2"/>
                </a:solidFill>
                <a:latin typeface="メイリオ"/>
                <a:ea typeface="メイリオ"/>
                <a:cs typeface="メイリオ"/>
              </a:rPr>
              <a:t>3</a:t>
            </a:r>
          </a:p>
          <a:p>
            <a:pPr algn="ctr"/>
            <a:r>
              <a:rPr sz="1200" b="1">
                <a:solidFill>
                  <a:srgbClr val="1F285A"/>
                </a:solidFill>
                <a:latin typeface="メイリオ"/>
                <a:ea typeface="メイリオ"/>
                <a:cs typeface="メイリオ"/>
              </a:rPr>
              <a:t>選考の連絡を</a:t>
            </a:r>
          </a:p>
          <a:p>
            <a:pPr algn="ctr"/>
            <a:r>
              <a:rPr sz="1100" b="0">
                <a:solidFill>
                  <a:srgbClr val="333333"/>
                </a:solidFill>
                <a:latin typeface="メイリオ"/>
                <a:ea typeface="メイリオ"/>
                <a:cs typeface="メイリオ"/>
              </a:rPr>
              <a:t>LINEに一本化</a:t>
            </a:r>
          </a:p>
        </p:txBody>
      </p:sp>
      <p:cxnSp>
        <p:nvCxnSpPr>
          <p:cNvPr id="37" name="Connector 36"/>
          <p:cNvCxnSpPr/>
          <p:nvPr/>
        </p:nvCxnSpPr>
        <p:spPr>
          <a:xfrm>
            <a:off x="7848899" y="4201200"/>
            <a:ext cx="126000" cy="0"/>
          </a:xfrm>
          <a:prstGeom prst="line">
            <a:avLst/>
          </a:prstGeom>
          <a:ln w="19050">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992900" y="3671999"/>
            <a:ext cx="1482300" cy="106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200" b="1">
                <a:solidFill>
                  <a:srgbClr val="FFFFFF"/>
                </a:solidFill>
                <a:latin typeface="メイリオ"/>
                <a:ea typeface="メイリオ"/>
                <a:cs typeface="メイリオ"/>
              </a:rPr>
              <a:t>4</a:t>
            </a:r>
          </a:p>
          <a:p>
            <a:pPr algn="ctr"/>
            <a:r>
              <a:rPr sz="1200" b="1">
                <a:solidFill>
                  <a:srgbClr val="FFFFFF"/>
                </a:solidFill>
                <a:latin typeface="メイリオ"/>
                <a:ea typeface="メイリオ"/>
                <a:cs typeface="メイリオ"/>
              </a:rPr>
              <a:t>内定後の不安に</a:t>
            </a:r>
          </a:p>
          <a:p>
            <a:pPr algn="ctr"/>
            <a:r>
              <a:rPr sz="1100" b="0">
                <a:solidFill>
                  <a:srgbClr val="FFFFFF"/>
                </a:solidFill>
                <a:latin typeface="メイリオ"/>
                <a:ea typeface="メイリオ"/>
                <a:cs typeface="メイリオ"/>
              </a:rPr>
              <a:t>即答・辞退を防ぐ</a:t>
            </a:r>
          </a:p>
        </p:txBody>
      </p:sp>
      <p:sp>
        <p:nvSpPr>
          <p:cNvPr id="39" name="Rounded Rectangle 38"/>
          <p:cNvSpPr/>
          <p:nvPr/>
        </p:nvSpPr>
        <p:spPr>
          <a:xfrm>
            <a:off x="432000" y="5166000"/>
            <a:ext cx="9043200" cy="36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400" b="1" dirty="0" err="1">
                <a:solidFill>
                  <a:srgbClr val="FFFFFF"/>
                </a:solidFill>
                <a:latin typeface="メイリオ"/>
                <a:ea typeface="メイリオ"/>
                <a:cs typeface="メイリオ"/>
              </a:rPr>
              <a:t>広告は今のまま。取りこぼしていた「応募の手前」と「応募の後」を、LINEで埋める</a:t>
            </a:r>
            <a:r>
              <a:rPr sz="1400" b="1" dirty="0">
                <a:solidFill>
                  <a:srgbClr val="FFFFFF"/>
                </a:solidFill>
                <a:latin typeface="メイリオ"/>
                <a:ea typeface="メイリオ"/>
                <a:cs typeface="メイリオ"/>
              </a:rPr>
              <a:t>。</a:t>
            </a:r>
          </a:p>
        </p:txBody>
      </p:sp>
    </p:spTree>
    <p:extLst>
      <p:ext uri="{BB962C8B-B14F-4D97-AF65-F5344CB8AC3E}">
        <p14:creationId xmlns:p14="http://schemas.microsoft.com/office/powerpoint/2010/main" val="3939997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858000" cy="365760"/>
          </a:xfrm>
          <a:prstGeom prst="rect">
            <a:avLst/>
          </a:prstGeom>
          <a:noFill/>
        </p:spPr>
        <p:txBody>
          <a:bodyPr wrap="square">
            <a:spAutoFit/>
          </a:bodyPr>
          <a:lstStyle/>
          <a:p>
            <a:pPr algn="l"/>
            <a:r>
              <a:rPr sz="1400" b="1">
                <a:solidFill>
                  <a:srgbClr val="002060"/>
                </a:solidFill>
                <a:latin typeface="メイリオ"/>
                <a:ea typeface="メイリオ"/>
                <a:cs typeface="メイリオ"/>
              </a:rPr>
              <a:t>本提案の考え方</a:t>
            </a:r>
          </a:p>
        </p:txBody>
      </p:sp>
      <p:sp>
        <p:nvSpPr>
          <p:cNvPr id="3" name="TextBox 2"/>
          <p:cNvSpPr txBox="1"/>
          <p:nvPr/>
        </p:nvSpPr>
        <p:spPr>
          <a:xfrm>
            <a:off x="550164" y="751361"/>
            <a:ext cx="8805672" cy="548640"/>
          </a:xfrm>
          <a:prstGeom prst="rect">
            <a:avLst/>
          </a:prstGeom>
          <a:noFill/>
        </p:spPr>
        <p:txBody>
          <a:bodyPr wrap="square">
            <a:spAutoFit/>
          </a:bodyPr>
          <a:lstStyle/>
          <a:p>
            <a:pPr algn="ctr"/>
            <a:r>
              <a:rPr sz="2400" b="1" dirty="0" err="1">
                <a:solidFill>
                  <a:srgbClr val="333333"/>
                </a:solidFill>
                <a:latin typeface="メイリオ"/>
                <a:ea typeface="メイリオ"/>
                <a:cs typeface="メイリオ"/>
              </a:rPr>
              <a:t>広告は、CVの瞬間で接点が終わる</a:t>
            </a:r>
            <a:r>
              <a:rPr sz="2400" b="1" dirty="0">
                <a:solidFill>
                  <a:srgbClr val="333333"/>
                </a:solidFill>
                <a:latin typeface="メイリオ"/>
                <a:ea typeface="メイリオ"/>
                <a:cs typeface="メイリオ"/>
              </a:rPr>
              <a:t>。</a:t>
            </a:r>
          </a:p>
        </p:txBody>
      </p:sp>
      <p:sp>
        <p:nvSpPr>
          <p:cNvPr id="4" name="TextBox 3"/>
          <p:cNvSpPr txBox="1"/>
          <p:nvPr/>
        </p:nvSpPr>
        <p:spPr>
          <a:xfrm>
            <a:off x="550164" y="1345721"/>
            <a:ext cx="8805672" cy="640080"/>
          </a:xfrm>
          <a:prstGeom prst="rect">
            <a:avLst/>
          </a:prstGeom>
          <a:noFill/>
        </p:spPr>
        <p:txBody>
          <a:bodyPr wrap="square">
            <a:spAutoFit/>
          </a:bodyPr>
          <a:lstStyle/>
          <a:p>
            <a:pPr algn="ctr"/>
            <a:r>
              <a:rPr sz="3000" b="1">
                <a:solidFill>
                  <a:srgbClr val="BF4E0E"/>
                </a:solidFill>
                <a:latin typeface="メイリオ"/>
                <a:ea typeface="メイリオ"/>
                <a:cs typeface="メイリオ"/>
              </a:rPr>
              <a:t>LINEは、CVの先まで追いきれる。</a:t>
            </a:r>
          </a:p>
        </p:txBody>
      </p:sp>
      <p:sp>
        <p:nvSpPr>
          <p:cNvPr id="5" name="TextBox 4"/>
          <p:cNvSpPr txBox="1"/>
          <p:nvPr/>
        </p:nvSpPr>
        <p:spPr>
          <a:xfrm>
            <a:off x="550164" y="2126921"/>
            <a:ext cx="8805672" cy="822960"/>
          </a:xfrm>
          <a:prstGeom prst="rect">
            <a:avLst/>
          </a:prstGeom>
          <a:noFill/>
        </p:spPr>
        <p:txBody>
          <a:bodyPr wrap="square">
            <a:spAutoFit/>
          </a:bodyPr>
          <a:lstStyle/>
          <a:p>
            <a:pPr algn="ctr"/>
            <a:r>
              <a:rPr sz="1500" b="0" dirty="0" err="1">
                <a:solidFill>
                  <a:srgbClr val="333333"/>
                </a:solidFill>
                <a:latin typeface="メイリオ"/>
                <a:ea typeface="メイリオ"/>
                <a:cs typeface="メイリオ"/>
              </a:rPr>
              <a:t>一度つながれば、接点を持ち続けられる。情報を渡し続けられる</a:t>
            </a:r>
            <a:r>
              <a:rPr sz="1500" b="0" dirty="0">
                <a:solidFill>
                  <a:srgbClr val="333333"/>
                </a:solidFill>
                <a:latin typeface="メイリオ"/>
                <a:ea typeface="メイリオ"/>
                <a:cs typeface="メイリオ"/>
              </a:rPr>
              <a:t>。</a:t>
            </a:r>
          </a:p>
          <a:p>
            <a:pPr algn="ctr"/>
            <a:r>
              <a:rPr sz="1500" b="0" dirty="0" err="1">
                <a:solidFill>
                  <a:srgbClr val="333333"/>
                </a:solidFill>
                <a:latin typeface="メイリオ"/>
                <a:ea typeface="メイリオ"/>
                <a:cs typeface="メイリオ"/>
              </a:rPr>
              <a:t>応募で終わらず、面談</a:t>
            </a:r>
            <a:r>
              <a:rPr sz="1500" b="0" dirty="0">
                <a:solidFill>
                  <a:srgbClr val="333333"/>
                </a:solidFill>
                <a:latin typeface="メイリオ"/>
                <a:ea typeface="メイリオ"/>
                <a:cs typeface="メイリオ"/>
              </a:rPr>
              <a:t> → </a:t>
            </a:r>
            <a:r>
              <a:rPr sz="1500" b="0" dirty="0" err="1">
                <a:solidFill>
                  <a:srgbClr val="333333"/>
                </a:solidFill>
                <a:latin typeface="メイリオ"/>
                <a:ea typeface="メイリオ"/>
                <a:cs typeface="メイリオ"/>
              </a:rPr>
              <a:t>就業</a:t>
            </a:r>
            <a:r>
              <a:rPr sz="1500" b="0" dirty="0">
                <a:solidFill>
                  <a:srgbClr val="333333"/>
                </a:solidFill>
                <a:latin typeface="メイリオ"/>
                <a:ea typeface="メイリオ"/>
                <a:cs typeface="メイリオ"/>
              </a:rPr>
              <a:t> → </a:t>
            </a:r>
            <a:r>
              <a:rPr sz="1500" b="0" dirty="0" err="1">
                <a:solidFill>
                  <a:srgbClr val="333333"/>
                </a:solidFill>
                <a:latin typeface="メイリオ"/>
                <a:ea typeface="メイリオ"/>
                <a:cs typeface="メイリオ"/>
              </a:rPr>
              <a:t>定着まで並走できる</a:t>
            </a:r>
            <a:r>
              <a:rPr sz="1500" b="0" dirty="0">
                <a:solidFill>
                  <a:srgbClr val="333333"/>
                </a:solidFill>
                <a:latin typeface="メイリオ"/>
                <a:ea typeface="メイリオ"/>
                <a:cs typeface="メイリオ"/>
              </a:rPr>
              <a:t>——</a:t>
            </a:r>
            <a:r>
              <a:rPr sz="1500" b="0" dirty="0" err="1">
                <a:solidFill>
                  <a:srgbClr val="333333"/>
                </a:solidFill>
                <a:latin typeface="メイリオ"/>
                <a:ea typeface="メイリオ"/>
                <a:cs typeface="メイリオ"/>
              </a:rPr>
              <a:t>これがLINE最大の魅力です</a:t>
            </a:r>
            <a:r>
              <a:rPr sz="1500" b="0" dirty="0">
                <a:solidFill>
                  <a:srgbClr val="333333"/>
                </a:solidFill>
                <a:latin typeface="メイリオ"/>
                <a:ea typeface="メイリオ"/>
                <a:cs typeface="メイリオ"/>
              </a:rPr>
              <a:t>。</a:t>
            </a:r>
          </a:p>
        </p:txBody>
      </p:sp>
      <p:sp>
        <p:nvSpPr>
          <p:cNvPr id="6" name="TextBox 5"/>
          <p:cNvSpPr txBox="1"/>
          <p:nvPr/>
        </p:nvSpPr>
        <p:spPr>
          <a:xfrm>
            <a:off x="595884" y="3025898"/>
            <a:ext cx="822960" cy="365760"/>
          </a:xfrm>
          <a:prstGeom prst="rect">
            <a:avLst/>
          </a:prstGeom>
          <a:noFill/>
        </p:spPr>
        <p:txBody>
          <a:bodyPr wrap="square">
            <a:spAutoFit/>
          </a:bodyPr>
          <a:lstStyle/>
          <a:p>
            <a:pPr algn="l"/>
            <a:r>
              <a:rPr sz="1500" b="1">
                <a:solidFill>
                  <a:srgbClr val="333333"/>
                </a:solidFill>
                <a:latin typeface="メイリオ"/>
                <a:ea typeface="メイリオ"/>
                <a:cs typeface="メイリオ"/>
              </a:rPr>
              <a:t>広告</a:t>
            </a:r>
          </a:p>
        </p:txBody>
      </p:sp>
      <p:sp>
        <p:nvSpPr>
          <p:cNvPr id="7" name="Rounded Rectangle 6"/>
          <p:cNvSpPr/>
          <p:nvPr/>
        </p:nvSpPr>
        <p:spPr>
          <a:xfrm>
            <a:off x="1510284" y="2980178"/>
            <a:ext cx="132588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333333"/>
                </a:solidFill>
                <a:latin typeface="メイリオ"/>
                <a:ea typeface="メイリオ"/>
                <a:cs typeface="メイリオ"/>
              </a:rPr>
              <a:t>接触</a:t>
            </a:r>
          </a:p>
        </p:txBody>
      </p:sp>
      <p:sp>
        <p:nvSpPr>
          <p:cNvPr id="8" name="TextBox 7"/>
          <p:cNvSpPr txBox="1"/>
          <p:nvPr/>
        </p:nvSpPr>
        <p:spPr>
          <a:xfrm>
            <a:off x="2863596" y="3053330"/>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9" name="Rounded Rectangle 8"/>
          <p:cNvSpPr/>
          <p:nvPr/>
        </p:nvSpPr>
        <p:spPr>
          <a:xfrm>
            <a:off x="3174492" y="2980178"/>
            <a:ext cx="173736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333333"/>
                </a:solidFill>
                <a:latin typeface="メイリオ"/>
                <a:ea typeface="メイリオ"/>
                <a:cs typeface="メイリオ"/>
              </a:rPr>
              <a:t>応募・相談（CV）</a:t>
            </a:r>
          </a:p>
        </p:txBody>
      </p:sp>
      <p:sp>
        <p:nvSpPr>
          <p:cNvPr id="10" name="TextBox 9"/>
          <p:cNvSpPr txBox="1"/>
          <p:nvPr/>
        </p:nvSpPr>
        <p:spPr>
          <a:xfrm>
            <a:off x="5122164" y="3044186"/>
            <a:ext cx="3108960" cy="365760"/>
          </a:xfrm>
          <a:prstGeom prst="rect">
            <a:avLst/>
          </a:prstGeom>
          <a:noFill/>
        </p:spPr>
        <p:txBody>
          <a:bodyPr wrap="square">
            <a:spAutoFit/>
          </a:bodyPr>
          <a:lstStyle/>
          <a:p>
            <a:pPr algn="l"/>
            <a:r>
              <a:rPr sz="1400" b="1">
                <a:solidFill>
                  <a:srgbClr val="C00000"/>
                </a:solidFill>
                <a:latin typeface="メイリオ"/>
                <a:ea typeface="メイリオ"/>
                <a:cs typeface="メイリオ"/>
              </a:rPr>
              <a:t>✕ ここで接点が途切れる</a:t>
            </a:r>
          </a:p>
        </p:txBody>
      </p:sp>
      <p:sp>
        <p:nvSpPr>
          <p:cNvPr id="11" name="TextBox 10"/>
          <p:cNvSpPr txBox="1"/>
          <p:nvPr/>
        </p:nvSpPr>
        <p:spPr>
          <a:xfrm>
            <a:off x="595884" y="3671738"/>
            <a:ext cx="822960" cy="365760"/>
          </a:xfrm>
          <a:prstGeom prst="rect">
            <a:avLst/>
          </a:prstGeom>
          <a:noFill/>
        </p:spPr>
        <p:txBody>
          <a:bodyPr wrap="square">
            <a:spAutoFit/>
          </a:bodyPr>
          <a:lstStyle/>
          <a:p>
            <a:pPr algn="l"/>
            <a:r>
              <a:rPr sz="1500" b="1">
                <a:solidFill>
                  <a:srgbClr val="1F285A"/>
                </a:solidFill>
                <a:latin typeface="メイリオ"/>
                <a:ea typeface="メイリオ"/>
                <a:cs typeface="メイリオ"/>
              </a:rPr>
              <a:t>LINE</a:t>
            </a:r>
          </a:p>
        </p:txBody>
      </p:sp>
      <p:sp>
        <p:nvSpPr>
          <p:cNvPr id="12" name="Rounded Rectangle 11"/>
          <p:cNvSpPr/>
          <p:nvPr/>
        </p:nvSpPr>
        <p:spPr>
          <a:xfrm>
            <a:off x="1510284" y="3626018"/>
            <a:ext cx="13258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285A"/>
                </a:solidFill>
                <a:latin typeface="メイリオ"/>
                <a:ea typeface="メイリオ"/>
                <a:cs typeface="メイリオ"/>
              </a:rPr>
              <a:t>接触</a:t>
            </a:r>
          </a:p>
        </p:txBody>
      </p:sp>
      <p:sp>
        <p:nvSpPr>
          <p:cNvPr id="13" name="TextBox 12"/>
          <p:cNvSpPr txBox="1"/>
          <p:nvPr/>
        </p:nvSpPr>
        <p:spPr>
          <a:xfrm>
            <a:off x="2863596" y="3699170"/>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14" name="Rounded Rectangle 13"/>
          <p:cNvSpPr/>
          <p:nvPr/>
        </p:nvSpPr>
        <p:spPr>
          <a:xfrm>
            <a:off x="3174492" y="3626018"/>
            <a:ext cx="173736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285A"/>
                </a:solidFill>
                <a:latin typeface="メイリオ"/>
                <a:ea typeface="メイリオ"/>
                <a:cs typeface="メイリオ"/>
              </a:rPr>
              <a:t>応募・相談（CV）</a:t>
            </a:r>
          </a:p>
        </p:txBody>
      </p:sp>
      <p:sp>
        <p:nvSpPr>
          <p:cNvPr id="15" name="TextBox 14"/>
          <p:cNvSpPr txBox="1"/>
          <p:nvPr/>
        </p:nvSpPr>
        <p:spPr>
          <a:xfrm>
            <a:off x="4939284" y="3699170"/>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16" name="Rounded Rectangle 15"/>
          <p:cNvSpPr/>
          <p:nvPr/>
        </p:nvSpPr>
        <p:spPr>
          <a:xfrm>
            <a:off x="5250180" y="3626018"/>
            <a:ext cx="10972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285A"/>
                </a:solidFill>
                <a:latin typeface="メイリオ"/>
                <a:ea typeface="メイリオ"/>
                <a:cs typeface="メイリオ"/>
              </a:rPr>
              <a:t>面談</a:t>
            </a:r>
          </a:p>
        </p:txBody>
      </p:sp>
      <p:sp>
        <p:nvSpPr>
          <p:cNvPr id="17" name="TextBox 16"/>
          <p:cNvSpPr txBox="1"/>
          <p:nvPr/>
        </p:nvSpPr>
        <p:spPr>
          <a:xfrm>
            <a:off x="6374892" y="3699170"/>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18" name="Rounded Rectangle 17"/>
          <p:cNvSpPr/>
          <p:nvPr/>
        </p:nvSpPr>
        <p:spPr>
          <a:xfrm>
            <a:off x="6685788" y="3626018"/>
            <a:ext cx="1097280" cy="475488"/>
          </a:xfrm>
          <a:prstGeom prst="roundRect">
            <a:avLst>
              <a:gd name="adj" fmla="val 12000"/>
            </a:avLst>
          </a:prstGeom>
          <a:solidFill>
            <a:srgbClr val="1F285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メイリオ"/>
                <a:ea typeface="メイリオ"/>
                <a:cs typeface="メイリオ"/>
              </a:rPr>
              <a:t>就業</a:t>
            </a:r>
          </a:p>
        </p:txBody>
      </p:sp>
      <p:sp>
        <p:nvSpPr>
          <p:cNvPr id="19" name="TextBox 18"/>
          <p:cNvSpPr txBox="1"/>
          <p:nvPr/>
        </p:nvSpPr>
        <p:spPr>
          <a:xfrm>
            <a:off x="7810500" y="3699170"/>
            <a:ext cx="274320" cy="365760"/>
          </a:xfrm>
          <a:prstGeom prst="rect">
            <a:avLst/>
          </a:prstGeom>
          <a:noFill/>
        </p:spPr>
        <p:txBody>
          <a:bodyPr wrap="square">
            <a:spAutoFit/>
          </a:bodyPr>
          <a:lstStyle/>
          <a:p>
            <a:pPr algn="ctr"/>
            <a:r>
              <a:rPr sz="1500" b="1">
                <a:solidFill>
                  <a:srgbClr val="1F285A"/>
                </a:solidFill>
                <a:latin typeface="メイリオ"/>
                <a:ea typeface="メイリオ"/>
                <a:cs typeface="メイリオ"/>
              </a:rPr>
              <a:t>→</a:t>
            </a:r>
          </a:p>
        </p:txBody>
      </p:sp>
      <p:sp>
        <p:nvSpPr>
          <p:cNvPr id="20" name="Rounded Rectangle 19"/>
          <p:cNvSpPr/>
          <p:nvPr/>
        </p:nvSpPr>
        <p:spPr>
          <a:xfrm>
            <a:off x="8121396" y="3626018"/>
            <a:ext cx="123444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285A"/>
                </a:solidFill>
                <a:latin typeface="メイリオ"/>
                <a:ea typeface="メイリオ"/>
                <a:cs typeface="メイリオ"/>
              </a:rPr>
              <a:t>定着・紹介</a:t>
            </a:r>
          </a:p>
        </p:txBody>
      </p:sp>
      <p:sp>
        <p:nvSpPr>
          <p:cNvPr id="21" name="Rectangle 20"/>
          <p:cNvSpPr/>
          <p:nvPr/>
        </p:nvSpPr>
        <p:spPr>
          <a:xfrm>
            <a:off x="414747" y="4526219"/>
            <a:ext cx="903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600" b="1">
                <a:solidFill>
                  <a:srgbClr val="1F285A"/>
                </a:solidFill>
                <a:latin typeface="メイリオ"/>
                <a:ea typeface="メイリオ"/>
                <a:cs typeface="メイリオ"/>
              </a:rPr>
              <a:t>LINE導入で得られる3つのメリット</a:t>
            </a:r>
          </a:p>
        </p:txBody>
      </p:sp>
      <p:sp>
        <p:nvSpPr>
          <p:cNvPr id="22" name="Rounded Rectangle 21"/>
          <p:cNvSpPr/>
          <p:nvPr/>
        </p:nvSpPr>
        <p:spPr>
          <a:xfrm>
            <a:off x="414747" y="4814219"/>
            <a:ext cx="2966400" cy="1188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600" b="1" dirty="0">
                <a:solidFill>
                  <a:srgbClr val="1F285A"/>
                </a:solidFill>
                <a:latin typeface="メイリオ"/>
                <a:ea typeface="メイリオ"/>
                <a:cs typeface="メイリオ"/>
              </a:rPr>
              <a:t>① </a:t>
            </a:r>
            <a:r>
              <a:rPr sz="1600" b="1" dirty="0" err="1">
                <a:solidFill>
                  <a:srgbClr val="1F285A"/>
                </a:solidFill>
                <a:latin typeface="メイリオ"/>
                <a:ea typeface="メイリオ"/>
                <a:cs typeface="メイリオ"/>
              </a:rPr>
              <a:t>広告費のロスを減らす</a:t>
            </a:r>
            <a:endParaRPr sz="1600" b="1" dirty="0">
              <a:solidFill>
                <a:srgbClr val="1F285A"/>
              </a:solidFill>
              <a:latin typeface="メイリオ"/>
              <a:ea typeface="メイリオ"/>
              <a:cs typeface="メイリオ"/>
            </a:endParaRPr>
          </a:p>
          <a:p>
            <a:pPr algn="ctr"/>
            <a:r>
              <a:rPr sz="1200" b="0" dirty="0" err="1">
                <a:solidFill>
                  <a:srgbClr val="333333"/>
                </a:solidFill>
                <a:latin typeface="メイリオ"/>
                <a:ea typeface="メイリオ"/>
                <a:cs typeface="メイリオ"/>
              </a:rPr>
              <a:t>サイトに来て応募せず帰る整備士を</a:t>
            </a:r>
            <a:r>
              <a:rPr sz="1200" b="0" dirty="0">
                <a:solidFill>
                  <a:srgbClr val="333333"/>
                </a:solidFill>
                <a:latin typeface="メイリオ"/>
                <a:ea typeface="メイリオ"/>
                <a:cs typeface="メイリオ"/>
              </a:rPr>
              <a:t>、</a:t>
            </a:r>
            <a:endParaRPr lang="en-US" sz="1200" b="0" dirty="0">
              <a:solidFill>
                <a:srgbClr val="333333"/>
              </a:solidFill>
              <a:latin typeface="メイリオ"/>
              <a:ea typeface="メイリオ"/>
              <a:cs typeface="メイリオ"/>
            </a:endParaRPr>
          </a:p>
          <a:p>
            <a:pPr algn="ctr"/>
            <a:r>
              <a:rPr sz="1200" b="0" dirty="0" err="1">
                <a:solidFill>
                  <a:srgbClr val="333333"/>
                </a:solidFill>
                <a:latin typeface="メイリオ"/>
                <a:ea typeface="メイリオ"/>
                <a:cs typeface="メイリオ"/>
              </a:rPr>
              <a:t>離脱防止からLINEで拾う</a:t>
            </a:r>
            <a:endParaRPr sz="1200" b="0" dirty="0">
              <a:solidFill>
                <a:srgbClr val="333333"/>
              </a:solidFill>
              <a:latin typeface="メイリオ"/>
              <a:ea typeface="メイリオ"/>
              <a:cs typeface="メイリオ"/>
            </a:endParaRPr>
          </a:p>
        </p:txBody>
      </p:sp>
      <p:sp>
        <p:nvSpPr>
          <p:cNvPr id="23" name="Rounded Rectangle 22"/>
          <p:cNvSpPr/>
          <p:nvPr/>
        </p:nvSpPr>
        <p:spPr>
          <a:xfrm>
            <a:off x="3453146" y="4814219"/>
            <a:ext cx="2966400" cy="1188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600" b="1">
                <a:solidFill>
                  <a:srgbClr val="1F285A"/>
                </a:solidFill>
                <a:latin typeface="メイリオ"/>
                <a:ea typeface="メイリオ"/>
                <a:cs typeface="メイリオ"/>
              </a:rPr>
              <a:t>② 面談・内定の辞退を防ぐ</a:t>
            </a:r>
          </a:p>
          <a:p>
            <a:pPr algn="ctr"/>
            <a:r>
              <a:rPr sz="1200" b="0">
                <a:solidFill>
                  <a:srgbClr val="333333"/>
                </a:solidFill>
                <a:latin typeface="メイリオ"/>
                <a:ea typeface="メイリオ"/>
                <a:cs typeface="メイリオ"/>
              </a:rPr>
              <a:t>面談前日のリマインド、内定後の不安にLINEですぐ答える</a:t>
            </a:r>
          </a:p>
        </p:txBody>
      </p:sp>
      <p:sp>
        <p:nvSpPr>
          <p:cNvPr id="24" name="Rounded Rectangle 23"/>
          <p:cNvSpPr/>
          <p:nvPr/>
        </p:nvSpPr>
        <p:spPr>
          <a:xfrm>
            <a:off x="6491546" y="4814219"/>
            <a:ext cx="2966400" cy="1188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600" b="1" dirty="0">
                <a:solidFill>
                  <a:srgbClr val="1F285A"/>
                </a:solidFill>
                <a:latin typeface="メイリオ"/>
                <a:ea typeface="メイリオ"/>
                <a:cs typeface="メイリオ"/>
              </a:rPr>
              <a:t>③ </a:t>
            </a:r>
            <a:r>
              <a:rPr sz="1600" b="1" dirty="0" err="1">
                <a:solidFill>
                  <a:srgbClr val="1F285A"/>
                </a:solidFill>
                <a:latin typeface="メイリオ"/>
                <a:ea typeface="メイリオ"/>
                <a:cs typeface="メイリオ"/>
              </a:rPr>
              <a:t>連絡をLINEに一本化</a:t>
            </a:r>
            <a:endParaRPr sz="1600" b="1" dirty="0">
              <a:solidFill>
                <a:srgbClr val="1F285A"/>
              </a:solidFill>
              <a:latin typeface="メイリオ"/>
              <a:ea typeface="メイリオ"/>
              <a:cs typeface="メイリオ"/>
            </a:endParaRPr>
          </a:p>
          <a:p>
            <a:pPr algn="ctr"/>
            <a:r>
              <a:rPr sz="1200" b="0" dirty="0">
                <a:solidFill>
                  <a:srgbClr val="333333"/>
                </a:solidFill>
                <a:latin typeface="メイリオ"/>
                <a:ea typeface="メイリオ"/>
                <a:cs typeface="メイリオ"/>
              </a:rPr>
              <a:t>電話は平日10〜18時のみ。</a:t>
            </a:r>
            <a:endParaRPr lang="en-US" sz="1200" b="0" dirty="0">
              <a:solidFill>
                <a:srgbClr val="333333"/>
              </a:solidFill>
              <a:latin typeface="メイリオ"/>
              <a:ea typeface="メイリオ"/>
              <a:cs typeface="メイリオ"/>
            </a:endParaRPr>
          </a:p>
          <a:p>
            <a:pPr algn="ctr"/>
            <a:r>
              <a:rPr sz="1200" b="0" dirty="0" err="1">
                <a:solidFill>
                  <a:srgbClr val="333333"/>
                </a:solidFill>
                <a:latin typeface="メイリオ"/>
                <a:ea typeface="メイリオ"/>
                <a:cs typeface="メイリオ"/>
              </a:rPr>
              <a:t>在職中の整備士とはLINEでつながる</a:t>
            </a:r>
            <a:endParaRPr sz="1200" b="0" dirty="0">
              <a:solidFill>
                <a:srgbClr val="333333"/>
              </a:solidFill>
              <a:latin typeface="メイリオ"/>
              <a:ea typeface="メイリオ"/>
              <a:cs typeface="メイリオ"/>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市場分析（前後検索クエリ）</a:t>
            </a:r>
          </a:p>
        </p:txBody>
      </p:sp>
      <p:sp>
        <p:nvSpPr>
          <p:cNvPr id="3" name="TextBox 2"/>
          <p:cNvSpPr txBox="1"/>
          <p:nvPr/>
        </p:nvSpPr>
        <p:spPr>
          <a:xfrm>
            <a:off x="432000" y="630000"/>
            <a:ext cx="9036000" cy="684000"/>
          </a:xfrm>
          <a:prstGeom prst="rect">
            <a:avLst/>
          </a:prstGeom>
          <a:noFill/>
        </p:spPr>
        <p:txBody>
          <a:bodyPr wrap="square" lIns="0" tIns="21600" rIns="0" bIns="21600" anchor="ctr">
            <a:spAutoFit/>
          </a:bodyPr>
          <a:lstStyle/>
          <a:p>
            <a:pPr algn="l">
              <a:lnSpc>
                <a:spcPct val="128000"/>
              </a:lnSpc>
            </a:pPr>
            <a:r>
              <a:rPr sz="1300">
                <a:solidFill>
                  <a:srgbClr val="333333"/>
                </a:solidFill>
                <a:latin typeface="メイリオ"/>
                <a:ea typeface="メイリオ"/>
                <a:cs typeface="メイリオ"/>
              </a:rPr>
              <a:t>「カーディーラー」の検索前後15日間。LINEの友だちにできる機会は、検索当日〜翌日だけ。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pic>
        <p:nvPicPr>
          <p:cNvPr id="11" name="Picture 10" descr="image.png"/>
          <p:cNvPicPr>
            <a:picLocks noChangeAspect="1"/>
          </p:cNvPicPr>
          <p:nvPr/>
        </p:nvPicPr>
        <p:blipFill>
          <a:blip r:embed="rId3"/>
          <a:stretch>
            <a:fillRect/>
          </a:stretch>
        </p:blipFill>
        <p:spPr>
          <a:xfrm>
            <a:off x="432000" y="1458000"/>
            <a:ext cx="5112000" cy="2982852"/>
          </a:xfrm>
          <a:prstGeom prst="rect">
            <a:avLst/>
          </a:prstGeom>
        </p:spPr>
      </p:pic>
      <p:sp>
        <p:nvSpPr>
          <p:cNvPr id="12" name="Rectangle 11"/>
          <p:cNvSpPr/>
          <p:nvPr/>
        </p:nvSpPr>
        <p:spPr>
          <a:xfrm>
            <a:off x="2907233" y="4397400"/>
            <a:ext cx="936000" cy="223200"/>
          </a:xfrm>
          <a:prstGeom prst="rect">
            <a:avLst/>
          </a:prstGeom>
          <a:solidFill>
            <a:srgbClr val="C6EFCE"/>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950" b="1">
                <a:solidFill>
                  <a:srgbClr val="00873C"/>
                </a:solidFill>
                <a:latin typeface="メイリオ"/>
                <a:ea typeface="メイリオ"/>
                <a:cs typeface="メイリオ"/>
              </a:rPr>
              <a:t>LINE追加</a:t>
            </a:r>
          </a:p>
        </p:txBody>
      </p:sp>
      <p:sp>
        <p:nvSpPr>
          <p:cNvPr id="13" name="Rectangle 12"/>
          <p:cNvSpPr/>
          <p:nvPr/>
        </p:nvSpPr>
        <p:spPr>
          <a:xfrm>
            <a:off x="3072347" y="1458000"/>
            <a:ext cx="605772" cy="2946851"/>
          </a:xfrm>
          <a:prstGeom prst="rect">
            <a:avLst/>
          </a:prstGeom>
          <a:solidFill>
            <a:srgbClr val="06C75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724000" y="1458000"/>
            <a:ext cx="1857600" cy="223200"/>
          </a:xfrm>
          <a:prstGeom prst="roundRect">
            <a:avLst>
              <a:gd name="adj" fmla="val 8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000" b="1">
                <a:solidFill>
                  <a:srgbClr val="C0561A"/>
                </a:solidFill>
                <a:latin typeface="メイリオ"/>
                <a:ea typeface="メイリオ"/>
                <a:cs typeface="メイリオ"/>
              </a:rPr>
              <a:t>職業・働き方</a:t>
            </a:r>
          </a:p>
        </p:txBody>
      </p:sp>
      <p:sp>
        <p:nvSpPr>
          <p:cNvPr id="15" name="Rounded Rectangle 14"/>
          <p:cNvSpPr/>
          <p:nvPr/>
        </p:nvSpPr>
        <p:spPr>
          <a:xfrm>
            <a:off x="7617600" y="1458000"/>
            <a:ext cx="1857600" cy="223200"/>
          </a:xfrm>
          <a:prstGeom prst="roundRect">
            <a:avLst>
              <a:gd name="adj" fmla="val 8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000" b="1">
                <a:solidFill>
                  <a:srgbClr val="2B5797"/>
                </a:solidFill>
                <a:latin typeface="メイリオ"/>
                <a:ea typeface="メイリオ"/>
                <a:cs typeface="メイリオ"/>
              </a:rPr>
              <a:t>整備・工具・カー用品</a:t>
            </a:r>
          </a:p>
        </p:txBody>
      </p:sp>
      <p:sp>
        <p:nvSpPr>
          <p:cNvPr id="16" name="Rounded Rectangle 15"/>
          <p:cNvSpPr/>
          <p:nvPr/>
        </p:nvSpPr>
        <p:spPr>
          <a:xfrm>
            <a:off x="5724000" y="1717199"/>
            <a:ext cx="1857600" cy="223200"/>
          </a:xfrm>
          <a:prstGeom prst="roundRect">
            <a:avLst>
              <a:gd name="adj" fmla="val 8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000" b="1">
                <a:solidFill>
                  <a:srgbClr val="7440A8"/>
                </a:solidFill>
                <a:latin typeface="メイリオ"/>
                <a:ea typeface="メイリオ"/>
                <a:cs typeface="メイリオ"/>
              </a:rPr>
              <a:t>お金・手続き</a:t>
            </a:r>
          </a:p>
        </p:txBody>
      </p:sp>
      <p:sp>
        <p:nvSpPr>
          <p:cNvPr id="17" name="Rounded Rectangle 16"/>
          <p:cNvSpPr/>
          <p:nvPr/>
        </p:nvSpPr>
        <p:spPr>
          <a:xfrm>
            <a:off x="7617600" y="1717199"/>
            <a:ext cx="1857600" cy="223200"/>
          </a:xfrm>
          <a:prstGeom prst="roundRect">
            <a:avLst>
              <a:gd name="adj" fmla="val 8000"/>
            </a:avLst>
          </a:prstGeom>
          <a:solidFill>
            <a:srgbClr val="CCE7E4"/>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000" b="1">
                <a:solidFill>
                  <a:srgbClr val="00796B"/>
                </a:solidFill>
                <a:latin typeface="メイリオ"/>
                <a:ea typeface="メイリオ"/>
                <a:cs typeface="メイリオ"/>
              </a:rPr>
              <a:t>クルマ選び（車種・店舗）</a:t>
            </a:r>
          </a:p>
        </p:txBody>
      </p:sp>
      <p:sp>
        <p:nvSpPr>
          <p:cNvPr id="18" name="Rounded Rectangle 17"/>
          <p:cNvSpPr/>
          <p:nvPr/>
        </p:nvSpPr>
        <p:spPr>
          <a:xfrm>
            <a:off x="5724000" y="2052000"/>
            <a:ext cx="3751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100" b="1">
                <a:solidFill>
                  <a:srgbClr val="333333"/>
                </a:solidFill>
                <a:latin typeface="メイリオ"/>
                <a:ea typeface="メイリオ"/>
                <a:cs typeface="メイリオ"/>
              </a:rPr>
              <a:t>LINE追加率を上げるコンテンツ（検索当日〜翌日）</a:t>
            </a:r>
          </a:p>
        </p:txBody>
      </p:sp>
      <p:sp>
        <p:nvSpPr>
          <p:cNvPr id="19" name="Rounded Rectangle 18"/>
          <p:cNvSpPr/>
          <p:nvPr/>
        </p:nvSpPr>
        <p:spPr>
          <a:xfrm>
            <a:off x="57240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050" b="0">
                <a:solidFill>
                  <a:srgbClr val="FFFFFF"/>
                </a:solidFill>
                <a:latin typeface="メイリオ"/>
                <a:ea typeface="メイリオ"/>
                <a:cs typeface="メイリオ"/>
              </a:rPr>
              <a:t>離脱防止で…</a:t>
            </a:r>
          </a:p>
          <a:p>
            <a:pPr algn="ctr"/>
            <a:r>
              <a:rPr sz="1200" b="1">
                <a:solidFill>
                  <a:srgbClr val="FFFFFF"/>
                </a:solidFill>
                <a:latin typeface="メイリオ"/>
                <a:ea typeface="メイリオ"/>
                <a:cs typeface="メイリオ"/>
              </a:rPr>
              <a:t>「整備士の年収相場」</a:t>
            </a:r>
          </a:p>
          <a:p>
            <a:pPr algn="ctr"/>
            <a:r>
              <a:rPr sz="1100" b="1">
                <a:solidFill>
                  <a:srgbClr val="FFFFFF"/>
                </a:solidFill>
                <a:latin typeface="メイリオ"/>
                <a:ea typeface="メイリオ"/>
                <a:cs typeface="メイリオ"/>
              </a:rPr>
              <a:t>をLINEで見られます</a:t>
            </a:r>
          </a:p>
        </p:txBody>
      </p:sp>
      <p:sp>
        <p:nvSpPr>
          <p:cNvPr id="20" name="Rounded Rectangle 19"/>
          <p:cNvSpPr/>
          <p:nvPr/>
        </p:nvSpPr>
        <p:spPr>
          <a:xfrm>
            <a:off x="76356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050" b="0">
                <a:solidFill>
                  <a:srgbClr val="FFFFFF"/>
                </a:solidFill>
                <a:latin typeface="メイリオ"/>
                <a:ea typeface="メイリオ"/>
                <a:cs typeface="メイリオ"/>
              </a:rPr>
              <a:t>この機会に</a:t>
            </a:r>
          </a:p>
          <a:p>
            <a:pPr algn="ctr"/>
            <a:r>
              <a:rPr sz="1200" b="1">
                <a:solidFill>
                  <a:srgbClr val="FFFFFF"/>
                </a:solidFill>
                <a:latin typeface="メイリオ"/>
                <a:ea typeface="メイリオ"/>
                <a:cs typeface="メイリオ"/>
              </a:rPr>
              <a:t>LINEで30秒</a:t>
            </a:r>
          </a:p>
          <a:p>
            <a:pPr algn="ctr"/>
            <a:r>
              <a:rPr sz="1100" b="1">
                <a:solidFill>
                  <a:srgbClr val="FFFFFF"/>
                </a:solidFill>
                <a:latin typeface="メイリオ"/>
                <a:ea typeface="メイリオ"/>
                <a:cs typeface="メイリオ"/>
              </a:rPr>
              <a:t>適職診断しませんか？</a:t>
            </a:r>
          </a:p>
        </p:txBody>
      </p:sp>
      <p:sp>
        <p:nvSpPr>
          <p:cNvPr id="21" name="Rounded Rectangle 20"/>
          <p:cNvSpPr/>
          <p:nvPr/>
        </p:nvSpPr>
        <p:spPr>
          <a:xfrm>
            <a:off x="57240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050" b="1">
                <a:solidFill>
                  <a:srgbClr val="1F285A"/>
                </a:solidFill>
                <a:latin typeface="メイリオ"/>
                <a:ea typeface="メイリオ"/>
                <a:cs typeface="メイリオ"/>
              </a:rPr>
              <a:t>当日の検索は「年収」</a:t>
            </a:r>
          </a:p>
          <a:p>
            <a:pPr algn="ctr"/>
            <a:r>
              <a:rPr sz="1050" b="0">
                <a:solidFill>
                  <a:srgbClr val="1F285A"/>
                </a:solidFill>
                <a:latin typeface="メイリオ"/>
                <a:ea typeface="メイリオ"/>
                <a:cs typeface="メイリオ"/>
              </a:rPr>
              <a:t>その場で答えを出す</a:t>
            </a:r>
          </a:p>
        </p:txBody>
      </p:sp>
      <p:sp>
        <p:nvSpPr>
          <p:cNvPr id="22" name="Rounded Rectangle 21"/>
          <p:cNvSpPr/>
          <p:nvPr/>
        </p:nvSpPr>
        <p:spPr>
          <a:xfrm>
            <a:off x="76356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050" b="1">
                <a:solidFill>
                  <a:srgbClr val="1F285A"/>
                </a:solidFill>
                <a:latin typeface="メイリオ"/>
                <a:ea typeface="メイリオ"/>
                <a:cs typeface="メイリオ"/>
              </a:rPr>
              <a:t>電話なし・履歴書なし</a:t>
            </a:r>
          </a:p>
          <a:p>
            <a:pPr algn="ctr"/>
            <a:r>
              <a:rPr sz="1050" b="0">
                <a:solidFill>
                  <a:srgbClr val="1F285A"/>
                </a:solidFill>
                <a:latin typeface="メイリオ"/>
                <a:ea typeface="メイリオ"/>
                <a:cs typeface="メイリオ"/>
              </a:rPr>
              <a:t>応募前の人でも動きやすい</a:t>
            </a:r>
          </a:p>
        </p:txBody>
      </p:sp>
      <p:cxnSp>
        <p:nvCxnSpPr>
          <p:cNvPr id="23" name="Connector 22"/>
          <p:cNvCxnSpPr/>
          <p:nvPr/>
        </p:nvCxnSpPr>
        <p:spPr>
          <a:xfrm flipV="1">
            <a:off x="3375233" y="2772000"/>
            <a:ext cx="2312767" cy="1548720"/>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2000" y="4710852"/>
            <a:ext cx="9043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100" b="1">
                <a:solidFill>
                  <a:srgbClr val="333333"/>
                </a:solidFill>
                <a:latin typeface="メイリオ"/>
                <a:ea typeface="メイリオ"/>
                <a:cs typeface="メイリオ"/>
              </a:rPr>
              <a:t>LINEでのリード有効化率を上げるコンテンツ（翌日〜14日・前後検索の関心の順番）</a:t>
            </a:r>
          </a:p>
        </p:txBody>
      </p:sp>
      <p:sp>
        <p:nvSpPr>
          <p:cNvPr id="25" name="Rounded Rectangle 24"/>
          <p:cNvSpPr/>
          <p:nvPr/>
        </p:nvSpPr>
        <p:spPr>
          <a:xfrm>
            <a:off x="432000"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200" b="1">
                <a:solidFill>
                  <a:srgbClr val="FFFFFF"/>
                </a:solidFill>
                <a:latin typeface="メイリオ"/>
                <a:ea typeface="メイリオ"/>
                <a:cs typeface="メイリオ"/>
              </a:rPr>
              <a:t>1日目</a:t>
            </a:r>
          </a:p>
          <a:p>
            <a:pPr algn="ctr"/>
            <a:r>
              <a:rPr sz="1100" b="1">
                <a:solidFill>
                  <a:srgbClr val="FFFFFF"/>
                </a:solidFill>
                <a:latin typeface="メイリオ"/>
                <a:ea typeface="メイリオ"/>
                <a:cs typeface="メイリオ"/>
              </a:rPr>
              <a:t>職種図鑑</a:t>
            </a:r>
          </a:p>
          <a:p>
            <a:pPr algn="ctr"/>
            <a:r>
              <a:rPr sz="1000" b="0">
                <a:solidFill>
                  <a:srgbClr val="FFFFFF"/>
                </a:solidFill>
                <a:latin typeface="メイリオ"/>
                <a:ea typeface="メイリオ"/>
                <a:cs typeface="メイリオ"/>
              </a:rPr>
              <a:t>整備・受付・営業の違い</a:t>
            </a:r>
          </a:p>
        </p:txBody>
      </p:sp>
      <p:sp>
        <p:nvSpPr>
          <p:cNvPr id="26" name="Rounded Rectangle 25"/>
          <p:cNvSpPr/>
          <p:nvPr/>
        </p:nvSpPr>
        <p:spPr>
          <a:xfrm>
            <a:off x="1734171"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200" b="1">
                <a:solidFill>
                  <a:srgbClr val="FFFFFF"/>
                </a:solidFill>
                <a:latin typeface="メイリオ"/>
                <a:ea typeface="メイリオ"/>
                <a:cs typeface="メイリオ"/>
              </a:rPr>
              <a:t>2日目</a:t>
            </a:r>
          </a:p>
          <a:p>
            <a:pPr algn="ctr"/>
            <a:r>
              <a:rPr sz="1100" b="1">
                <a:solidFill>
                  <a:srgbClr val="FFFFFF"/>
                </a:solidFill>
                <a:latin typeface="メイリオ"/>
                <a:ea typeface="メイリオ"/>
                <a:cs typeface="メイリオ"/>
              </a:rPr>
              <a:t>働き方</a:t>
            </a:r>
          </a:p>
          <a:p>
            <a:pPr algn="ctr"/>
            <a:r>
              <a:rPr sz="1000" b="0">
                <a:solidFill>
                  <a:srgbClr val="FFFFFF"/>
                </a:solidFill>
                <a:latin typeface="メイリオ"/>
                <a:ea typeface="メイリオ"/>
                <a:cs typeface="メイリオ"/>
              </a:rPr>
              <a:t>休み・残業・ホワイトな職場</a:t>
            </a:r>
          </a:p>
        </p:txBody>
      </p:sp>
      <p:sp>
        <p:nvSpPr>
          <p:cNvPr id="27" name="Rounded Rectangle 26"/>
          <p:cNvSpPr/>
          <p:nvPr/>
        </p:nvSpPr>
        <p:spPr>
          <a:xfrm>
            <a:off x="3036342" y="4980852"/>
            <a:ext cx="1230171" cy="1211148"/>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200" b="1">
                <a:solidFill>
                  <a:srgbClr val="FFFFFF"/>
                </a:solidFill>
                <a:latin typeface="メイリオ"/>
                <a:ea typeface="メイリオ"/>
                <a:cs typeface="メイリオ"/>
              </a:rPr>
              <a:t>3日目</a:t>
            </a:r>
          </a:p>
          <a:p>
            <a:pPr algn="ctr"/>
            <a:r>
              <a:rPr sz="1100" b="1">
                <a:solidFill>
                  <a:srgbClr val="FFFFFF"/>
                </a:solidFill>
                <a:latin typeface="メイリオ"/>
                <a:ea typeface="メイリオ"/>
                <a:cs typeface="メイリオ"/>
              </a:rPr>
              <a:t>面談のご案内①</a:t>
            </a:r>
          </a:p>
          <a:p>
            <a:pPr algn="ctr"/>
            <a:r>
              <a:rPr sz="1000" b="0">
                <a:solidFill>
                  <a:srgbClr val="FFFFFF"/>
                </a:solidFill>
                <a:latin typeface="メイリオ"/>
                <a:ea typeface="メイリオ"/>
                <a:cs typeface="メイリオ"/>
              </a:rPr>
              <a:t>（CV）</a:t>
            </a:r>
          </a:p>
        </p:txBody>
      </p:sp>
      <p:sp>
        <p:nvSpPr>
          <p:cNvPr id="28" name="Rounded Rectangle 27"/>
          <p:cNvSpPr/>
          <p:nvPr/>
        </p:nvSpPr>
        <p:spPr>
          <a:xfrm>
            <a:off x="4338514"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200" b="1">
                <a:solidFill>
                  <a:srgbClr val="FFFFFF"/>
                </a:solidFill>
                <a:latin typeface="メイリオ"/>
                <a:ea typeface="メイリオ"/>
                <a:cs typeface="メイリオ"/>
              </a:rPr>
              <a:t>5日目</a:t>
            </a:r>
          </a:p>
          <a:p>
            <a:pPr algn="ctr"/>
            <a:r>
              <a:rPr sz="1100" b="1">
                <a:solidFill>
                  <a:srgbClr val="FFFFFF"/>
                </a:solidFill>
                <a:latin typeface="メイリオ"/>
                <a:ea typeface="メイリオ"/>
                <a:cs typeface="メイリオ"/>
              </a:rPr>
              <a:t>他職種と比較</a:t>
            </a:r>
          </a:p>
          <a:p>
            <a:pPr algn="ctr"/>
            <a:r>
              <a:rPr sz="1000" b="0">
                <a:solidFill>
                  <a:srgbClr val="FFFFFF"/>
                </a:solidFill>
                <a:latin typeface="メイリオ"/>
                <a:ea typeface="メイリオ"/>
                <a:cs typeface="メイリオ"/>
              </a:rPr>
              <a:t>営業・施工管理</a:t>
            </a:r>
          </a:p>
        </p:txBody>
      </p:sp>
      <p:sp>
        <p:nvSpPr>
          <p:cNvPr id="29" name="Rounded Rectangle 28"/>
          <p:cNvSpPr/>
          <p:nvPr/>
        </p:nvSpPr>
        <p:spPr>
          <a:xfrm>
            <a:off x="5640685"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200" b="1" dirty="0">
                <a:solidFill>
                  <a:srgbClr val="FFFFFF"/>
                </a:solidFill>
                <a:latin typeface="メイリオ"/>
                <a:ea typeface="メイリオ"/>
                <a:cs typeface="メイリオ"/>
              </a:rPr>
              <a:t>7日目</a:t>
            </a:r>
          </a:p>
          <a:p>
            <a:pPr algn="ctr"/>
            <a:r>
              <a:rPr sz="1100" b="1" dirty="0" err="1">
                <a:solidFill>
                  <a:srgbClr val="FFFFFF"/>
                </a:solidFill>
                <a:latin typeface="メイリオ"/>
                <a:ea typeface="メイリオ"/>
                <a:cs typeface="メイリオ"/>
              </a:rPr>
              <a:t>資格別の</a:t>
            </a:r>
            <a:endParaRPr lang="en-US" sz="1100" b="1" dirty="0">
              <a:solidFill>
                <a:srgbClr val="FFFFFF"/>
              </a:solidFill>
              <a:latin typeface="メイリオ"/>
              <a:ea typeface="メイリオ"/>
              <a:cs typeface="メイリオ"/>
            </a:endParaRPr>
          </a:p>
          <a:p>
            <a:pPr algn="ctr"/>
            <a:r>
              <a:rPr sz="1100" b="1" dirty="0" err="1">
                <a:solidFill>
                  <a:srgbClr val="FFFFFF"/>
                </a:solidFill>
                <a:latin typeface="メイリオ"/>
                <a:ea typeface="メイリオ"/>
                <a:cs typeface="メイリオ"/>
              </a:rPr>
              <a:t>年収相場</a:t>
            </a:r>
            <a:endParaRPr sz="1100" b="1" dirty="0">
              <a:solidFill>
                <a:srgbClr val="FFFFFF"/>
              </a:solidFill>
              <a:latin typeface="メイリオ"/>
              <a:ea typeface="メイリオ"/>
              <a:cs typeface="メイリオ"/>
            </a:endParaRPr>
          </a:p>
          <a:p>
            <a:pPr algn="ctr"/>
            <a:r>
              <a:rPr sz="1000" b="0" dirty="0" err="1">
                <a:solidFill>
                  <a:srgbClr val="FFFFFF"/>
                </a:solidFill>
                <a:latin typeface="メイリオ"/>
                <a:ea typeface="メイリオ"/>
                <a:cs typeface="メイリオ"/>
              </a:rPr>
              <a:t>キャリアマップ</a:t>
            </a:r>
            <a:endParaRPr sz="1000" b="0" dirty="0">
              <a:solidFill>
                <a:srgbClr val="FFFFFF"/>
              </a:solidFill>
              <a:latin typeface="メイリオ"/>
              <a:ea typeface="メイリオ"/>
              <a:cs typeface="メイリオ"/>
            </a:endParaRPr>
          </a:p>
        </p:txBody>
      </p:sp>
      <p:sp>
        <p:nvSpPr>
          <p:cNvPr id="30" name="Rounded Rectangle 29"/>
          <p:cNvSpPr/>
          <p:nvPr/>
        </p:nvSpPr>
        <p:spPr>
          <a:xfrm>
            <a:off x="6942857" y="4980852"/>
            <a:ext cx="1230171" cy="121114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200" b="1">
                <a:solidFill>
                  <a:srgbClr val="FFFFFF"/>
                </a:solidFill>
                <a:latin typeface="メイリオ"/>
                <a:ea typeface="メイリオ"/>
                <a:cs typeface="メイリオ"/>
              </a:rPr>
              <a:t>10日目</a:t>
            </a:r>
          </a:p>
          <a:p>
            <a:pPr algn="ctr"/>
            <a:r>
              <a:rPr sz="1100" b="1">
                <a:solidFill>
                  <a:srgbClr val="FFFFFF"/>
                </a:solidFill>
                <a:latin typeface="メイリオ"/>
                <a:ea typeface="メイリオ"/>
                <a:cs typeface="メイリオ"/>
              </a:rPr>
              <a:t>現場のリアル</a:t>
            </a:r>
          </a:p>
          <a:p>
            <a:pPr algn="ctr"/>
            <a:r>
              <a:rPr sz="1000" b="0">
                <a:solidFill>
                  <a:srgbClr val="FFFFFF"/>
                </a:solidFill>
                <a:latin typeface="メイリオ"/>
                <a:ea typeface="メイリオ"/>
                <a:cs typeface="メイリオ"/>
              </a:rPr>
              <a:t>冬の繁忙期</a:t>
            </a:r>
          </a:p>
        </p:txBody>
      </p:sp>
      <p:sp>
        <p:nvSpPr>
          <p:cNvPr id="31" name="Rounded Rectangle 30"/>
          <p:cNvSpPr/>
          <p:nvPr/>
        </p:nvSpPr>
        <p:spPr>
          <a:xfrm>
            <a:off x="8245028" y="4980852"/>
            <a:ext cx="1230171" cy="1211148"/>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r>
              <a:rPr sz="1200" b="1">
                <a:solidFill>
                  <a:srgbClr val="FFFFFF"/>
                </a:solidFill>
                <a:latin typeface="メイリオ"/>
                <a:ea typeface="メイリオ"/>
                <a:cs typeface="メイリオ"/>
              </a:rPr>
              <a:t>14日目</a:t>
            </a:r>
          </a:p>
          <a:p>
            <a:pPr algn="ctr"/>
            <a:r>
              <a:rPr sz="1100" b="1">
                <a:solidFill>
                  <a:srgbClr val="FFFFFF"/>
                </a:solidFill>
                <a:latin typeface="メイリオ"/>
                <a:ea typeface="メイリオ"/>
                <a:cs typeface="メイリオ"/>
              </a:rPr>
              <a:t>面談のご案内②</a:t>
            </a:r>
          </a:p>
          <a:p>
            <a:pPr algn="ctr"/>
            <a:r>
              <a:rPr sz="1000" b="0">
                <a:solidFill>
                  <a:srgbClr val="FFFFFF"/>
                </a:solidFill>
                <a:latin typeface="メイリオ"/>
                <a:ea typeface="メイリオ"/>
                <a:cs typeface="メイリオ"/>
              </a:rPr>
              <a:t>（CV）</a:t>
            </a:r>
          </a:p>
        </p:txBody>
      </p:sp>
      <p:cxnSp>
        <p:nvCxnSpPr>
          <p:cNvPr id="32" name="Connector 31"/>
          <p:cNvCxnSpPr/>
          <p:nvPr/>
        </p:nvCxnSpPr>
        <p:spPr>
          <a:xfrm>
            <a:off x="4521600" y="4320720"/>
            <a:ext cx="255599" cy="372131"/>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2000" y="6282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出典：LINEヤフー 前後検索データ（起点KW：カーディーラー／2026-09-23取得）。色分けはDYM分類（ラベル129件）</a:t>
            </a:r>
          </a:p>
        </p:txBody>
      </p:sp>
    </p:spTree>
    <p:extLst>
      <p:ext uri="{BB962C8B-B14F-4D97-AF65-F5344CB8AC3E}">
        <p14:creationId xmlns:p14="http://schemas.microsoft.com/office/powerpoint/2010/main" val="205317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市場分析（検索トレンド）</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300">
                <a:solidFill>
                  <a:srgbClr val="333333"/>
                </a:solidFill>
                <a:latin typeface="メイリオ"/>
                <a:ea typeface="メイリオ"/>
                <a:cs typeface="メイリオ"/>
              </a:rPr>
              <a:t>「整備士」の検索は一年中ほぼフラット。転職検討は季節を選ばず続いている。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32000" y="450504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2000" y="4559039"/>
            <a:ext cx="2942400" cy="180000"/>
          </a:xfrm>
          <a:prstGeom prst="rect">
            <a:avLst/>
          </a:prstGeom>
          <a:noFill/>
        </p:spPr>
        <p:txBody>
          <a:bodyPr wrap="square" lIns="50400" tIns="21600" rIns="50400" bIns="21600" anchor="ctr">
            <a:spAutoFit/>
          </a:bodyPr>
          <a:lstStyle/>
          <a:p>
            <a:pPr algn="ctr"/>
            <a:r>
              <a:rPr sz="1150" b="1">
                <a:solidFill>
                  <a:srgbClr val="7F7F7F"/>
                </a:solidFill>
                <a:latin typeface="メイリオ"/>
                <a:ea typeface="メイリオ"/>
                <a:cs typeface="メイリオ"/>
              </a:rPr>
              <a:t>山</a:t>
            </a:r>
          </a:p>
        </p:txBody>
      </p:sp>
      <p:sp>
        <p:nvSpPr>
          <p:cNvPr id="8" name="TextBox 7"/>
          <p:cNvSpPr txBox="1"/>
          <p:nvPr/>
        </p:nvSpPr>
        <p:spPr>
          <a:xfrm>
            <a:off x="432000" y="4721039"/>
            <a:ext cx="2942400" cy="288000"/>
          </a:xfrm>
          <a:prstGeom prst="rect">
            <a:avLst/>
          </a:prstGeom>
          <a:noFill/>
        </p:spPr>
        <p:txBody>
          <a:bodyPr wrap="square" lIns="50400" tIns="21600" rIns="50400" bIns="21600" anchor="ctr">
            <a:spAutoFit/>
          </a:bodyPr>
          <a:lstStyle/>
          <a:p>
            <a:pPr algn="ctr"/>
            <a:r>
              <a:rPr sz="1700" b="1">
                <a:solidFill>
                  <a:srgbClr val="ED7D31"/>
                </a:solidFill>
                <a:latin typeface="メイリオ"/>
                <a:ea typeface="メイリオ"/>
                <a:cs typeface="メイリオ"/>
              </a:rPr>
              <a:t>3月</a:t>
            </a:r>
          </a:p>
        </p:txBody>
      </p:sp>
      <p:sp>
        <p:nvSpPr>
          <p:cNvPr id="9" name="TextBox 8"/>
          <p:cNvSpPr txBox="1"/>
          <p:nvPr/>
        </p:nvSpPr>
        <p:spPr>
          <a:xfrm>
            <a:off x="432000" y="5009040"/>
            <a:ext cx="2942400" cy="216000"/>
          </a:xfrm>
          <a:prstGeom prst="rect">
            <a:avLst/>
          </a:prstGeom>
          <a:noFill/>
        </p:spPr>
        <p:txBody>
          <a:bodyPr wrap="square" lIns="50400" tIns="21600" rIns="50400" bIns="21600" anchor="ctr">
            <a:spAutoFit/>
          </a:bodyPr>
          <a:lstStyle/>
          <a:p>
            <a:pPr algn="ctr"/>
            <a:r>
              <a:rPr sz="1050">
                <a:solidFill>
                  <a:srgbClr val="333333"/>
                </a:solidFill>
                <a:latin typeface="メイリオ"/>
                <a:ea typeface="メイリオ"/>
                <a:cs typeface="メイリオ"/>
              </a:rPr>
              <a:t>年度替わり・転職の動きが最大</a:t>
            </a:r>
          </a:p>
        </p:txBody>
      </p:sp>
      <p:sp>
        <p:nvSpPr>
          <p:cNvPr id="10" name="Rounded Rectangle 9"/>
          <p:cNvSpPr/>
          <p:nvPr/>
        </p:nvSpPr>
        <p:spPr>
          <a:xfrm>
            <a:off x="3482400" y="450504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82400" y="4559039"/>
            <a:ext cx="2942400" cy="180000"/>
          </a:xfrm>
          <a:prstGeom prst="rect">
            <a:avLst/>
          </a:prstGeom>
          <a:noFill/>
        </p:spPr>
        <p:txBody>
          <a:bodyPr wrap="square" lIns="50400" tIns="21600" rIns="50400" bIns="21600" anchor="ctr">
            <a:spAutoFit/>
          </a:bodyPr>
          <a:lstStyle/>
          <a:p>
            <a:pPr algn="ctr"/>
            <a:r>
              <a:rPr sz="1150" b="1">
                <a:solidFill>
                  <a:srgbClr val="7F7F7F"/>
                </a:solidFill>
                <a:latin typeface="メイリオ"/>
                <a:ea typeface="メイリオ"/>
                <a:cs typeface="メイリオ"/>
              </a:rPr>
              <a:t>谷</a:t>
            </a:r>
          </a:p>
        </p:txBody>
      </p:sp>
      <p:sp>
        <p:nvSpPr>
          <p:cNvPr id="12" name="TextBox 11"/>
          <p:cNvSpPr txBox="1"/>
          <p:nvPr/>
        </p:nvSpPr>
        <p:spPr>
          <a:xfrm>
            <a:off x="3482400" y="4721039"/>
            <a:ext cx="2942400" cy="288000"/>
          </a:xfrm>
          <a:prstGeom prst="rect">
            <a:avLst/>
          </a:prstGeom>
          <a:noFill/>
        </p:spPr>
        <p:txBody>
          <a:bodyPr wrap="square" lIns="50400" tIns="21600" rIns="50400" bIns="21600" anchor="ctr">
            <a:spAutoFit/>
          </a:bodyPr>
          <a:lstStyle/>
          <a:p>
            <a:pPr algn="ctr"/>
            <a:r>
              <a:rPr sz="1700" b="1">
                <a:solidFill>
                  <a:srgbClr val="ED7D31"/>
                </a:solidFill>
                <a:latin typeface="メイリオ"/>
                <a:ea typeface="メイリオ"/>
                <a:cs typeface="メイリオ"/>
              </a:rPr>
              <a:t>12月</a:t>
            </a:r>
          </a:p>
        </p:txBody>
      </p:sp>
      <p:sp>
        <p:nvSpPr>
          <p:cNvPr id="13" name="TextBox 12"/>
          <p:cNvSpPr txBox="1"/>
          <p:nvPr/>
        </p:nvSpPr>
        <p:spPr>
          <a:xfrm>
            <a:off x="3482400" y="5009040"/>
            <a:ext cx="2942400" cy="216000"/>
          </a:xfrm>
          <a:prstGeom prst="rect">
            <a:avLst/>
          </a:prstGeom>
          <a:noFill/>
        </p:spPr>
        <p:txBody>
          <a:bodyPr wrap="square" lIns="50400" tIns="21600" rIns="50400" bIns="21600" anchor="ctr">
            <a:spAutoFit/>
          </a:bodyPr>
          <a:lstStyle/>
          <a:p>
            <a:pPr algn="ctr"/>
            <a:r>
              <a:rPr sz="1050">
                <a:solidFill>
                  <a:srgbClr val="333333"/>
                </a:solidFill>
                <a:latin typeface="メイリオ"/>
                <a:ea typeface="メイリオ"/>
                <a:cs typeface="メイリオ"/>
              </a:rPr>
              <a:t>それでも山との差は約1.4倍</a:t>
            </a:r>
          </a:p>
        </p:txBody>
      </p:sp>
      <p:sp>
        <p:nvSpPr>
          <p:cNvPr id="14" name="Rounded Rectangle 13"/>
          <p:cNvSpPr/>
          <p:nvPr/>
        </p:nvSpPr>
        <p:spPr>
          <a:xfrm>
            <a:off x="6532800" y="4505040"/>
            <a:ext cx="29424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2800" y="4559039"/>
            <a:ext cx="2942400" cy="180000"/>
          </a:xfrm>
          <a:prstGeom prst="rect">
            <a:avLst/>
          </a:prstGeom>
          <a:noFill/>
        </p:spPr>
        <p:txBody>
          <a:bodyPr wrap="square" lIns="50400" tIns="21600" rIns="50400" bIns="21600" anchor="ctr">
            <a:spAutoFit/>
          </a:bodyPr>
          <a:lstStyle/>
          <a:p>
            <a:pPr algn="ctr"/>
            <a:r>
              <a:rPr sz="1150" b="1">
                <a:solidFill>
                  <a:srgbClr val="7F7F7F"/>
                </a:solidFill>
                <a:latin typeface="メイリオ"/>
                <a:ea typeface="メイリオ"/>
                <a:cs typeface="メイリオ"/>
              </a:rPr>
              <a:t>含意</a:t>
            </a:r>
          </a:p>
        </p:txBody>
      </p:sp>
      <p:sp>
        <p:nvSpPr>
          <p:cNvPr id="16" name="TextBox 15"/>
          <p:cNvSpPr txBox="1"/>
          <p:nvPr/>
        </p:nvSpPr>
        <p:spPr>
          <a:xfrm>
            <a:off x="6532800" y="4721039"/>
            <a:ext cx="2942400" cy="288000"/>
          </a:xfrm>
          <a:prstGeom prst="rect">
            <a:avLst/>
          </a:prstGeom>
          <a:noFill/>
        </p:spPr>
        <p:txBody>
          <a:bodyPr wrap="square" lIns="50400" tIns="21600" rIns="50400" bIns="21600" anchor="ctr">
            <a:spAutoFit/>
          </a:bodyPr>
          <a:lstStyle/>
          <a:p>
            <a:pPr algn="ctr"/>
            <a:r>
              <a:rPr sz="1700" b="1">
                <a:solidFill>
                  <a:srgbClr val="ED7D31"/>
                </a:solidFill>
                <a:latin typeface="メイリオ"/>
                <a:ea typeface="メイリオ"/>
                <a:cs typeface="メイリオ"/>
              </a:rPr>
              <a:t>通年</a:t>
            </a:r>
          </a:p>
        </p:txBody>
      </p:sp>
      <p:sp>
        <p:nvSpPr>
          <p:cNvPr id="17" name="TextBox 16"/>
          <p:cNvSpPr txBox="1"/>
          <p:nvPr/>
        </p:nvSpPr>
        <p:spPr>
          <a:xfrm>
            <a:off x="6532800" y="5009040"/>
            <a:ext cx="2942400" cy="216000"/>
          </a:xfrm>
          <a:prstGeom prst="rect">
            <a:avLst/>
          </a:prstGeom>
          <a:noFill/>
        </p:spPr>
        <p:txBody>
          <a:bodyPr wrap="square" lIns="50400" tIns="21600" rIns="50400" bIns="21600" anchor="ctr">
            <a:spAutoFit/>
          </a:bodyPr>
          <a:lstStyle/>
          <a:p>
            <a:pPr algn="ctr"/>
            <a:r>
              <a:rPr sz="1050">
                <a:solidFill>
                  <a:srgbClr val="333333"/>
                </a:solidFill>
                <a:latin typeface="メイリオ"/>
                <a:ea typeface="メイリオ"/>
                <a:cs typeface="メイリオ"/>
              </a:rPr>
              <a:t>検討は一年中。接点は3月に集中</a:t>
            </a:r>
          </a:p>
        </p:txBody>
      </p:sp>
      <p:sp>
        <p:nvSpPr>
          <p:cNvPr id="18" name="Rounded Rectangle 17"/>
          <p:cNvSpPr/>
          <p:nvPr/>
        </p:nvSpPr>
        <p:spPr>
          <a:xfrm>
            <a:off x="432000" y="5369040"/>
            <a:ext cx="9043200" cy="36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350" b="1">
                <a:solidFill>
                  <a:srgbClr val="FFFFFF"/>
                </a:solidFill>
                <a:latin typeface="メイリオ"/>
                <a:ea typeface="メイリオ"/>
                <a:cs typeface="メイリオ"/>
              </a:rPr>
              <a:t>業界の接点は3月に集中。通年で検討層を受け止める先は、空いている。</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出典：Googleトレンド（日本・過去5年・2026-09-21取得）。相対指標のため他KWとの数値比較は不可</a:t>
            </a:r>
          </a:p>
        </p:txBody>
      </p:sp>
      <p:pic>
        <p:nvPicPr>
          <p:cNvPr id="20" name="Picture 19" descr="chengrowth_trend_seibishi_5y_L.png"/>
          <p:cNvPicPr>
            <a:picLocks noChangeAspect="1"/>
          </p:cNvPicPr>
          <p:nvPr/>
        </p:nvPicPr>
        <p:blipFill>
          <a:blip r:embed="rId3"/>
          <a:stretch>
            <a:fillRect/>
          </a:stretch>
        </p:blipFill>
        <p:spPr>
          <a:xfrm>
            <a:off x="432000" y="1475999"/>
            <a:ext cx="9043200" cy="2939040"/>
          </a:xfrm>
          <a:prstGeom prst="rect">
            <a:avLst/>
          </a:prstGeom>
        </p:spPr>
      </p:pic>
    </p:spTree>
    <p:extLst>
      <p:ext uri="{BB962C8B-B14F-4D97-AF65-F5344CB8AC3E}">
        <p14:creationId xmlns:p14="http://schemas.microsoft.com/office/powerpoint/2010/main" val="995195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競合分析（求人サービスのLINE活用状況）</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総合大手はLINEが標準装備。一方、自動車・整備士特化は空白地帯。</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070262570"/>
              </p:ext>
            </p:extLst>
          </p:nvPr>
        </p:nvGraphicFramePr>
        <p:xfrm>
          <a:off x="432000" y="1619999"/>
          <a:ext cx="9043200" cy="2249352"/>
        </p:xfrm>
        <a:graphic>
          <a:graphicData uri="http://schemas.openxmlformats.org/drawingml/2006/table">
            <a:tbl>
              <a:tblPr firstRow="1" bandRow="1">
                <a:tableStyleId>{5C22544A-7EE6-4342-B048-85BDC9FD1C3A}</a:tableStyleId>
              </a:tblPr>
              <a:tblGrid>
                <a:gridCol w="2907966">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940674">
                  <a:extLst>
                    <a:ext uri="{9D8B030D-6E8A-4147-A177-3AD203B41FA5}">
                      <a16:colId xmlns:a16="http://schemas.microsoft.com/office/drawing/2014/main" val="20002"/>
                    </a:ext>
                  </a:extLst>
                </a:gridCol>
              </a:tblGrid>
              <a:tr h="321336">
                <a:tc>
                  <a:txBody>
                    <a:bodyPr/>
                    <a:lstStyle/>
                    <a:p>
                      <a:pPr algn="ctr"/>
                      <a:r>
                        <a:rPr sz="1150" b="1">
                          <a:solidFill>
                            <a:srgbClr val="FFFFFF"/>
                          </a:solidFill>
                          <a:latin typeface="メイリオ"/>
                          <a:ea typeface="メイリオ"/>
                          <a:cs typeface="メイリオ"/>
                        </a:rPr>
                        <a:t>サービス</a:t>
                      </a:r>
                    </a:p>
                  </a:txBody>
                  <a:tcPr anchor="ctr">
                    <a:solidFill>
                      <a:srgbClr val="1F285A"/>
                    </a:solidFill>
                  </a:tcPr>
                </a:tc>
                <a:tc>
                  <a:txBody>
                    <a:bodyPr/>
                    <a:lstStyle/>
                    <a:p>
                      <a:pPr algn="ctr"/>
                      <a:r>
                        <a:rPr sz="1150" b="1">
                          <a:solidFill>
                            <a:srgbClr val="FFFFFF"/>
                          </a:solidFill>
                          <a:latin typeface="メイリオ"/>
                          <a:ea typeface="メイリオ"/>
                          <a:cs typeface="メイリオ"/>
                        </a:rPr>
                        <a:t>種別</a:t>
                      </a:r>
                    </a:p>
                  </a:txBody>
                  <a:tcPr anchor="ctr">
                    <a:solidFill>
                      <a:srgbClr val="1F285A"/>
                    </a:solidFill>
                  </a:tcPr>
                </a:tc>
                <a:tc>
                  <a:txBody>
                    <a:bodyPr/>
                    <a:lstStyle/>
                    <a:p>
                      <a:pPr algn="ctr"/>
                      <a:r>
                        <a:rPr sz="1150" b="1">
                          <a:solidFill>
                            <a:srgbClr val="FFFFFF"/>
                          </a:solidFill>
                          <a:latin typeface="メイリオ"/>
                          <a:ea typeface="メイリオ"/>
                          <a:cs typeface="メイリオ"/>
                        </a:rPr>
                        <a:t>LINE友だち数</a:t>
                      </a:r>
                    </a:p>
                  </a:txBody>
                  <a:tcPr anchor="ctr">
                    <a:solidFill>
                      <a:srgbClr val="1F285A"/>
                    </a:solidFill>
                  </a:tcPr>
                </a:tc>
                <a:extLst>
                  <a:ext uri="{0D108BD9-81ED-4DB2-BD59-A6C34878D82A}">
                    <a16:rowId xmlns:a16="http://schemas.microsoft.com/office/drawing/2014/main" val="10000"/>
                  </a:ext>
                </a:extLst>
              </a:tr>
              <a:tr h="321336">
                <a:tc>
                  <a:txBody>
                    <a:bodyPr/>
                    <a:lstStyle/>
                    <a:p>
                      <a:pPr algn="l"/>
                      <a:r>
                        <a:rPr sz="1400">
                          <a:solidFill>
                            <a:srgbClr val="333333"/>
                          </a:solidFill>
                          <a:latin typeface="メイリオ"/>
                          <a:ea typeface="メイリオ"/>
                          <a:cs typeface="メイリオ"/>
                        </a:rPr>
                        <a:t>リクナビNEXT</a:t>
                      </a:r>
                    </a:p>
                  </a:txBody>
                  <a:tcPr anchor="ctr">
                    <a:solidFill>
                      <a:srgbClr val="FFFFFF"/>
                    </a:solidFill>
                  </a:tcPr>
                </a:tc>
                <a:tc>
                  <a:txBody>
                    <a:bodyPr/>
                    <a:lstStyle/>
                    <a:p>
                      <a:pPr algn="l"/>
                      <a:r>
                        <a:rPr sz="1400">
                          <a:solidFill>
                            <a:srgbClr val="333333"/>
                          </a:solidFill>
                          <a:latin typeface="メイリオ"/>
                          <a:ea typeface="メイリオ"/>
                          <a:cs typeface="メイリオ"/>
                        </a:rPr>
                        <a:t>総合・転職サイト</a:t>
                      </a:r>
                    </a:p>
                  </a:txBody>
                  <a:tcPr anchor="ctr">
                    <a:solidFill>
                      <a:srgbClr val="FFFFFF"/>
                    </a:solidFill>
                  </a:tcPr>
                </a:tc>
                <a:tc>
                  <a:txBody>
                    <a:bodyPr/>
                    <a:lstStyle/>
                    <a:p>
                      <a:pPr algn="l"/>
                      <a:r>
                        <a:rPr sz="1400">
                          <a:solidFill>
                            <a:srgbClr val="333333"/>
                          </a:solidFill>
                          <a:latin typeface="メイリオ"/>
                          <a:ea typeface="メイリオ"/>
                          <a:cs typeface="メイリオ"/>
                        </a:rPr>
                        <a:t>3,235,678人</a:t>
                      </a:r>
                    </a:p>
                  </a:txBody>
                  <a:tcPr anchor="ctr">
                    <a:solidFill>
                      <a:srgbClr val="FFFFFF"/>
                    </a:solidFill>
                  </a:tcPr>
                </a:tc>
                <a:extLst>
                  <a:ext uri="{0D108BD9-81ED-4DB2-BD59-A6C34878D82A}">
                    <a16:rowId xmlns:a16="http://schemas.microsoft.com/office/drawing/2014/main" val="10001"/>
                  </a:ext>
                </a:extLst>
              </a:tr>
              <a:tr h="321336">
                <a:tc>
                  <a:txBody>
                    <a:bodyPr/>
                    <a:lstStyle/>
                    <a:p>
                      <a:pPr algn="l"/>
                      <a:r>
                        <a:rPr sz="1400">
                          <a:solidFill>
                            <a:srgbClr val="333333"/>
                          </a:solidFill>
                          <a:latin typeface="メイリオ"/>
                          <a:ea typeface="メイリオ"/>
                          <a:cs typeface="メイリオ"/>
                        </a:rPr>
                        <a:t>求人ボックス</a:t>
                      </a:r>
                    </a:p>
                  </a:txBody>
                  <a:tcPr anchor="ctr">
                    <a:solidFill>
                      <a:srgbClr val="F4F7FF"/>
                    </a:solidFill>
                  </a:tcPr>
                </a:tc>
                <a:tc>
                  <a:txBody>
                    <a:bodyPr/>
                    <a:lstStyle/>
                    <a:p>
                      <a:pPr algn="l"/>
                      <a:r>
                        <a:rPr sz="1400">
                          <a:solidFill>
                            <a:srgbClr val="333333"/>
                          </a:solidFill>
                          <a:latin typeface="メイリオ"/>
                          <a:ea typeface="メイリオ"/>
                          <a:cs typeface="メイリオ"/>
                        </a:rPr>
                        <a:t>総合・アグリゲーション</a:t>
                      </a:r>
                    </a:p>
                  </a:txBody>
                  <a:tcPr anchor="ctr">
                    <a:solidFill>
                      <a:srgbClr val="F4F7FF"/>
                    </a:solidFill>
                  </a:tcPr>
                </a:tc>
                <a:tc>
                  <a:txBody>
                    <a:bodyPr/>
                    <a:lstStyle/>
                    <a:p>
                      <a:pPr algn="l"/>
                      <a:r>
                        <a:rPr sz="1400">
                          <a:solidFill>
                            <a:srgbClr val="333333"/>
                          </a:solidFill>
                          <a:latin typeface="メイリオ"/>
                          <a:ea typeface="メイリオ"/>
                          <a:cs typeface="メイリオ"/>
                        </a:rPr>
                        <a:t>1,862,866人</a:t>
                      </a:r>
                    </a:p>
                  </a:txBody>
                  <a:tcPr anchor="ctr">
                    <a:solidFill>
                      <a:srgbClr val="F4F7FF"/>
                    </a:solidFill>
                  </a:tcPr>
                </a:tc>
                <a:extLst>
                  <a:ext uri="{0D108BD9-81ED-4DB2-BD59-A6C34878D82A}">
                    <a16:rowId xmlns:a16="http://schemas.microsoft.com/office/drawing/2014/main" val="10002"/>
                  </a:ext>
                </a:extLst>
              </a:tr>
              <a:tr h="321336">
                <a:tc>
                  <a:txBody>
                    <a:bodyPr/>
                    <a:lstStyle/>
                    <a:p>
                      <a:pPr algn="l"/>
                      <a:r>
                        <a:rPr sz="1400">
                          <a:solidFill>
                            <a:srgbClr val="333333"/>
                          </a:solidFill>
                          <a:latin typeface="メイリオ"/>
                          <a:ea typeface="メイリオ"/>
                          <a:cs typeface="メイリオ"/>
                        </a:rPr>
                        <a:t>マイナビ転職</a:t>
                      </a:r>
                    </a:p>
                  </a:txBody>
                  <a:tcPr anchor="ctr">
                    <a:solidFill>
                      <a:srgbClr val="FFFFFF"/>
                    </a:solidFill>
                  </a:tcPr>
                </a:tc>
                <a:tc>
                  <a:txBody>
                    <a:bodyPr/>
                    <a:lstStyle/>
                    <a:p>
                      <a:pPr algn="l"/>
                      <a:r>
                        <a:rPr sz="1400">
                          <a:solidFill>
                            <a:srgbClr val="333333"/>
                          </a:solidFill>
                          <a:latin typeface="メイリオ"/>
                          <a:ea typeface="メイリオ"/>
                          <a:cs typeface="メイリオ"/>
                        </a:rPr>
                        <a:t>総合・転職サイト</a:t>
                      </a:r>
                    </a:p>
                  </a:txBody>
                  <a:tcPr anchor="ctr">
                    <a:solidFill>
                      <a:srgbClr val="FFFFFF"/>
                    </a:solidFill>
                  </a:tcPr>
                </a:tc>
                <a:tc>
                  <a:txBody>
                    <a:bodyPr/>
                    <a:lstStyle/>
                    <a:p>
                      <a:pPr algn="l"/>
                      <a:r>
                        <a:rPr sz="1400">
                          <a:solidFill>
                            <a:srgbClr val="333333"/>
                          </a:solidFill>
                          <a:latin typeface="メイリオ"/>
                          <a:ea typeface="メイリオ"/>
                          <a:cs typeface="メイリオ"/>
                        </a:rPr>
                        <a:t>754,302人</a:t>
                      </a:r>
                    </a:p>
                  </a:txBody>
                  <a:tcPr anchor="ctr">
                    <a:solidFill>
                      <a:srgbClr val="FFFFFF"/>
                    </a:solidFill>
                  </a:tcPr>
                </a:tc>
                <a:extLst>
                  <a:ext uri="{0D108BD9-81ED-4DB2-BD59-A6C34878D82A}">
                    <a16:rowId xmlns:a16="http://schemas.microsoft.com/office/drawing/2014/main" val="10003"/>
                  </a:ext>
                </a:extLst>
              </a:tr>
              <a:tr h="321336">
                <a:tc>
                  <a:txBody>
                    <a:bodyPr/>
                    <a:lstStyle/>
                    <a:p>
                      <a:pPr algn="l"/>
                      <a:r>
                        <a:rPr sz="1400">
                          <a:solidFill>
                            <a:srgbClr val="333333"/>
                          </a:solidFill>
                          <a:latin typeface="メイリオ"/>
                          <a:ea typeface="メイリオ"/>
                          <a:cs typeface="メイリオ"/>
                        </a:rPr>
                        <a:t>doda</a:t>
                      </a:r>
                    </a:p>
                  </a:txBody>
                  <a:tcPr anchor="ctr">
                    <a:solidFill>
                      <a:srgbClr val="F4F7FF"/>
                    </a:solidFill>
                  </a:tcPr>
                </a:tc>
                <a:tc>
                  <a:txBody>
                    <a:bodyPr/>
                    <a:lstStyle/>
                    <a:p>
                      <a:pPr algn="l"/>
                      <a:r>
                        <a:rPr sz="1400">
                          <a:solidFill>
                            <a:srgbClr val="333333"/>
                          </a:solidFill>
                          <a:latin typeface="メイリオ"/>
                          <a:ea typeface="メイリオ"/>
                          <a:cs typeface="メイリオ"/>
                        </a:rPr>
                        <a:t>総合・エージェント</a:t>
                      </a:r>
                    </a:p>
                  </a:txBody>
                  <a:tcPr anchor="ctr">
                    <a:solidFill>
                      <a:srgbClr val="F4F7FF"/>
                    </a:solidFill>
                  </a:tcPr>
                </a:tc>
                <a:tc>
                  <a:txBody>
                    <a:bodyPr/>
                    <a:lstStyle/>
                    <a:p>
                      <a:pPr algn="l"/>
                      <a:r>
                        <a:rPr sz="1400" dirty="0">
                          <a:solidFill>
                            <a:srgbClr val="333333"/>
                          </a:solidFill>
                          <a:latin typeface="メイリオ"/>
                          <a:ea typeface="メイリオ"/>
                          <a:cs typeface="メイリオ"/>
                        </a:rPr>
                        <a:t>公開アカウントなし（会員登録後に1:1連携）</a:t>
                      </a:r>
                    </a:p>
                  </a:txBody>
                  <a:tcPr anchor="ctr">
                    <a:solidFill>
                      <a:srgbClr val="F4F7FF"/>
                    </a:solidFill>
                  </a:tcPr>
                </a:tc>
                <a:extLst>
                  <a:ext uri="{0D108BD9-81ED-4DB2-BD59-A6C34878D82A}">
                    <a16:rowId xmlns:a16="http://schemas.microsoft.com/office/drawing/2014/main" val="10004"/>
                  </a:ext>
                </a:extLst>
              </a:tr>
              <a:tr h="321336">
                <a:tc>
                  <a:txBody>
                    <a:bodyPr/>
                    <a:lstStyle/>
                    <a:p>
                      <a:pPr algn="l"/>
                      <a:r>
                        <a:rPr sz="1400">
                          <a:solidFill>
                            <a:srgbClr val="333333"/>
                          </a:solidFill>
                          <a:latin typeface="メイリオ"/>
                          <a:ea typeface="メイリオ"/>
                          <a:cs typeface="メイリオ"/>
                        </a:rPr>
                        <a:t>プレックスジョブ【整備士】</a:t>
                      </a:r>
                    </a:p>
                  </a:txBody>
                  <a:tcPr anchor="ctr">
                    <a:solidFill>
                      <a:srgbClr val="FFFFFF"/>
                    </a:solidFill>
                  </a:tcPr>
                </a:tc>
                <a:tc>
                  <a:txBody>
                    <a:bodyPr/>
                    <a:lstStyle/>
                    <a:p>
                      <a:pPr algn="l"/>
                      <a:r>
                        <a:rPr sz="1400">
                          <a:solidFill>
                            <a:srgbClr val="333333"/>
                          </a:solidFill>
                          <a:latin typeface="メイリオ"/>
                          <a:ea typeface="メイリオ"/>
                          <a:cs typeface="メイリオ"/>
                        </a:rPr>
                        <a:t>整備士特化</a:t>
                      </a:r>
                    </a:p>
                  </a:txBody>
                  <a:tcPr anchor="ctr">
                    <a:solidFill>
                      <a:srgbClr val="FFFFFF"/>
                    </a:solidFill>
                  </a:tcPr>
                </a:tc>
                <a:tc>
                  <a:txBody>
                    <a:bodyPr/>
                    <a:lstStyle/>
                    <a:p>
                      <a:pPr algn="l"/>
                      <a:r>
                        <a:rPr sz="1400">
                          <a:solidFill>
                            <a:srgbClr val="333333"/>
                          </a:solidFill>
                          <a:latin typeface="メイリオ"/>
                          <a:ea typeface="メイリオ"/>
                          <a:cs typeface="メイリオ"/>
                        </a:rPr>
                        <a:t>6,288人</a:t>
                      </a:r>
                    </a:p>
                  </a:txBody>
                  <a:tcPr anchor="ctr">
                    <a:solidFill>
                      <a:srgbClr val="FFFFFF"/>
                    </a:solidFill>
                  </a:tcPr>
                </a:tc>
                <a:extLst>
                  <a:ext uri="{0D108BD9-81ED-4DB2-BD59-A6C34878D82A}">
                    <a16:rowId xmlns:a16="http://schemas.microsoft.com/office/drawing/2014/main" val="10005"/>
                  </a:ext>
                </a:extLst>
              </a:tr>
              <a:tr h="321336">
                <a:tc>
                  <a:txBody>
                    <a:bodyPr/>
                    <a:lstStyle/>
                    <a:p>
                      <a:pPr algn="l"/>
                      <a:r>
                        <a:rPr sz="1400" dirty="0" err="1">
                          <a:solidFill>
                            <a:srgbClr val="333333"/>
                          </a:solidFill>
                          <a:latin typeface="メイリオ"/>
                          <a:ea typeface="メイリオ"/>
                          <a:cs typeface="メイリオ"/>
                        </a:rPr>
                        <a:t>整備士の求人・転職｜カンパネル</a:t>
                      </a:r>
                      <a:endParaRPr sz="1400" dirty="0">
                        <a:solidFill>
                          <a:srgbClr val="333333"/>
                        </a:solidFill>
                        <a:latin typeface="メイリオ"/>
                        <a:ea typeface="メイリオ"/>
                        <a:cs typeface="メイリオ"/>
                      </a:endParaRPr>
                    </a:p>
                  </a:txBody>
                  <a:tcPr anchor="ctr">
                    <a:solidFill>
                      <a:srgbClr val="F4F7FF"/>
                    </a:solidFill>
                  </a:tcPr>
                </a:tc>
                <a:tc>
                  <a:txBody>
                    <a:bodyPr/>
                    <a:lstStyle/>
                    <a:p>
                      <a:pPr algn="l"/>
                      <a:r>
                        <a:rPr sz="1400">
                          <a:solidFill>
                            <a:srgbClr val="333333"/>
                          </a:solidFill>
                          <a:latin typeface="メイリオ"/>
                          <a:ea typeface="メイリオ"/>
                          <a:cs typeface="メイリオ"/>
                        </a:rPr>
                        <a:t>整備士特化</a:t>
                      </a:r>
                    </a:p>
                  </a:txBody>
                  <a:tcPr anchor="ctr">
                    <a:solidFill>
                      <a:srgbClr val="F4F7FF"/>
                    </a:solidFill>
                  </a:tcPr>
                </a:tc>
                <a:tc>
                  <a:txBody>
                    <a:bodyPr/>
                    <a:lstStyle/>
                    <a:p>
                      <a:pPr algn="l"/>
                      <a:r>
                        <a:rPr sz="1400" dirty="0">
                          <a:solidFill>
                            <a:srgbClr val="333333"/>
                          </a:solidFill>
                          <a:latin typeface="メイリオ"/>
                          <a:ea typeface="メイリオ"/>
                          <a:cs typeface="メイリオ"/>
                        </a:rPr>
                        <a:t>196人</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432000" y="4380253"/>
            <a:ext cx="9043200" cy="39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400" b="1" dirty="0">
                <a:solidFill>
                  <a:srgbClr val="FFFFFF"/>
                </a:solidFill>
                <a:latin typeface="メイリオ"/>
                <a:ea typeface="メイリオ"/>
                <a:cs typeface="メイリオ"/>
              </a:rPr>
              <a:t>「</a:t>
            </a:r>
            <a:r>
              <a:rPr sz="1400" b="1" dirty="0" err="1">
                <a:solidFill>
                  <a:srgbClr val="FFFFFF"/>
                </a:solidFill>
                <a:latin typeface="メイリオ"/>
                <a:ea typeface="メイリオ"/>
                <a:cs typeface="メイリオ"/>
              </a:rPr>
              <a:t>整備士</a:t>
            </a:r>
            <a:r>
              <a:rPr sz="1400" b="1" dirty="0">
                <a:solidFill>
                  <a:srgbClr val="FFFFFF"/>
                </a:solidFill>
                <a:latin typeface="メイリオ"/>
                <a:ea typeface="メイリオ"/>
                <a:cs typeface="メイリオ"/>
              </a:rPr>
              <a:t> × </a:t>
            </a:r>
            <a:r>
              <a:rPr sz="1400" b="1" dirty="0" err="1">
                <a:solidFill>
                  <a:srgbClr val="FFFFFF"/>
                </a:solidFill>
                <a:latin typeface="メイリオ"/>
                <a:ea typeface="メイリオ"/>
                <a:cs typeface="メイリオ"/>
              </a:rPr>
              <a:t>LINE」はまだ誰も取っていない。総合大手の型を持ち込むだけで先行者になれる</a:t>
            </a:r>
            <a:r>
              <a:rPr sz="1400" b="1" dirty="0">
                <a:solidFill>
                  <a:srgbClr val="FFFFFF"/>
                </a:solidFill>
                <a:latin typeface="メイリオ"/>
                <a:ea typeface="メイリオ"/>
                <a:cs typeface="メイリオ"/>
              </a:rPr>
              <a:t>。</a:t>
            </a:r>
          </a:p>
        </p:txBody>
      </p:sp>
      <p:sp>
        <p:nvSpPr>
          <p:cNvPr id="7" name="TextBox 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出典：page.line.me（公式）2026-09-21実測。友だち数は取得日時点の公表値</a:t>
            </a:r>
          </a:p>
        </p:txBody>
      </p:sp>
    </p:spTree>
    <p:extLst>
      <p:ext uri="{BB962C8B-B14F-4D97-AF65-F5344CB8AC3E}">
        <p14:creationId xmlns:p14="http://schemas.microsoft.com/office/powerpoint/2010/main" val="1405796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39" name="Shape 3">
            <a:extLst>
              <a:ext uri="{FF2B5EF4-FFF2-40B4-BE49-F238E27FC236}">
                <a16:creationId xmlns:a16="http://schemas.microsoft.com/office/drawing/2014/main" id="{2C0CE6CF-CF29-4F13-E14D-6FE57E16D201}"/>
              </a:ext>
            </a:extLst>
          </p:cNvPr>
          <p:cNvSpPr/>
          <p:nvPr/>
        </p:nvSpPr>
        <p:spPr>
          <a:xfrm>
            <a:off x="972158" y="178003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Text 4">
            <a:extLst>
              <a:ext uri="{FF2B5EF4-FFF2-40B4-BE49-F238E27FC236}">
                <a16:creationId xmlns:a16="http://schemas.microsoft.com/office/drawing/2014/main" id="{4B15C96A-F0B8-F18C-6254-B162AFC457A6}"/>
              </a:ext>
            </a:extLst>
          </p:cNvPr>
          <p:cNvSpPr txBox="1"/>
          <p:nvPr/>
        </p:nvSpPr>
        <p:spPr>
          <a:xfrm>
            <a:off x="972158" y="1780035"/>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3" name="Text 5">
            <a:extLst>
              <a:ext uri="{FF2B5EF4-FFF2-40B4-BE49-F238E27FC236}">
                <a16:creationId xmlns:a16="http://schemas.microsoft.com/office/drawing/2014/main" id="{1AB7025E-6AD2-DE33-BC65-0B02037301DF}"/>
              </a:ext>
            </a:extLst>
          </p:cNvPr>
          <p:cNvSpPr txBox="1"/>
          <p:nvPr/>
        </p:nvSpPr>
        <p:spPr>
          <a:xfrm>
            <a:off x="1539086" y="1907185"/>
            <a:ext cx="1745198" cy="1051560"/>
          </a:xfrm>
          <a:prstGeom prst="rect">
            <a:avLst/>
          </a:prstGeom>
          <a:noFill/>
          <a:ln/>
        </p:spPr>
        <p:txBody>
          <a:bodyPr wrap="square" lIns="0" tIns="0" rIns="0" bIns="0" rtlCol="0" anchor="t"/>
          <a:lstStyle/>
          <a:p>
            <a:pPr marL="0" indent="0">
              <a:buNone/>
            </a:pPr>
            <a:r>
              <a:rPr lang="en-US" sz="1500" b="1" dirty="0">
                <a:solidFill>
                  <a:srgbClr val="1B3A4B"/>
                </a:solidFill>
                <a:latin typeface="メイリオ" panose="020B0604030504040204" pitchFamily="50" charset="-128"/>
                <a:ea typeface="メイリオ" panose="020B0604030504040204" pitchFamily="50" charset="-128"/>
                <a:cs typeface="Calibri" pitchFamily="34" charset="-120"/>
              </a:rPr>
              <a:t>対象範囲</a:t>
            </a:r>
            <a:endParaRPr lang="en-US" sz="1400" dirty="0">
              <a:latin typeface="メイリオ" panose="020B0604030504040204" pitchFamily="50" charset="-128"/>
              <a:ea typeface="メイリオ" panose="020B0604030504040204" pitchFamily="50" charset="-128"/>
            </a:endParaRPr>
          </a:p>
        </p:txBody>
      </p:sp>
      <p:sp>
        <p:nvSpPr>
          <p:cNvPr id="46" name="Text 6">
            <a:extLst>
              <a:ext uri="{FF2B5EF4-FFF2-40B4-BE49-F238E27FC236}">
                <a16:creationId xmlns:a16="http://schemas.microsoft.com/office/drawing/2014/main" id="{EE17545A-2363-AE72-B300-AAA28328E975}"/>
              </a:ext>
            </a:extLst>
          </p:cNvPr>
          <p:cNvSpPr txBox="1"/>
          <p:nvPr/>
        </p:nvSpPr>
        <p:spPr>
          <a:xfrm>
            <a:off x="3120996" y="1907182"/>
            <a:ext cx="6841609" cy="548643"/>
          </a:xfrm>
          <a:prstGeom prst="rect">
            <a:avLst/>
          </a:prstGeom>
          <a:noFill/>
          <a:ln/>
        </p:spPr>
        <p:txBody>
          <a:bodyPr wrap="square" lIns="0" tIns="0" rIns="0" bIns="0" rtlCol="0" anchor="t"/>
          <a:lstStyle/>
          <a:p>
            <a:pPr marL="0" indent="0">
              <a:lnSpc>
                <a:spcPts val="1700"/>
              </a:lnSpc>
              <a:buNone/>
            </a:pP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LINE公式アカウントにおける</a:t>
            </a:r>
            <a:r>
              <a:rPr lang="en-US" sz="1300" b="1" dirty="0">
                <a:solidFill>
                  <a:srgbClr val="1F2937"/>
                </a:solidFill>
                <a:latin typeface="メイリオ" panose="020B0604030504040204" pitchFamily="50" charset="-128"/>
                <a:ea typeface="メイリオ" panose="020B0604030504040204" pitchFamily="50" charset="-128"/>
                <a:cs typeface="Calibri" pitchFamily="34" charset="-120"/>
              </a:rPr>
              <a:t>「① 友だち追加」「② </a:t>
            </a:r>
            <a:r>
              <a:rPr lang="en-US" sz="1300" b="1" dirty="0" err="1">
                <a:solidFill>
                  <a:srgbClr val="1F2937"/>
                </a:solidFill>
                <a:latin typeface="メイリオ" panose="020B0604030504040204" pitchFamily="50" charset="-128"/>
                <a:ea typeface="メイリオ" panose="020B0604030504040204" pitchFamily="50" charset="-128"/>
                <a:cs typeface="Calibri" pitchFamily="34" charset="-120"/>
              </a:rPr>
              <a:t>配信の効率改善</a:t>
            </a:r>
            <a:r>
              <a:rPr lang="en-US" sz="1300" b="1"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300" b="1" dirty="0">
                <a:solidFill>
                  <a:srgbClr val="1F2937"/>
                </a:solidFill>
                <a:latin typeface="メイリオ" panose="020B0604030504040204" pitchFamily="50" charset="-128"/>
                <a:ea typeface="メイリオ" panose="020B0604030504040204" pitchFamily="50" charset="-128"/>
                <a:cs typeface="Calibri" pitchFamily="34" charset="-120"/>
              </a:rPr>
              <a:t>「③ ユーザー満足度改善」「④ 管理側の業務効率化」の4領域</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を対象に施策を設計。</a:t>
            </a: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48" name="Shape 7">
            <a:extLst>
              <a:ext uri="{FF2B5EF4-FFF2-40B4-BE49-F238E27FC236}">
                <a16:creationId xmlns:a16="http://schemas.microsoft.com/office/drawing/2014/main" id="{821FB137-60FE-5372-085D-B747D9EC59DC}"/>
              </a:ext>
            </a:extLst>
          </p:cNvPr>
          <p:cNvSpPr/>
          <p:nvPr/>
        </p:nvSpPr>
        <p:spPr>
          <a:xfrm>
            <a:off x="641683" y="271272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0" name="Shape 8">
            <a:extLst>
              <a:ext uri="{FF2B5EF4-FFF2-40B4-BE49-F238E27FC236}">
                <a16:creationId xmlns:a16="http://schemas.microsoft.com/office/drawing/2014/main" id="{DC9A3D51-C45E-51F8-860D-57ECD88D6555}"/>
              </a:ext>
            </a:extLst>
          </p:cNvPr>
          <p:cNvSpPr/>
          <p:nvPr/>
        </p:nvSpPr>
        <p:spPr>
          <a:xfrm>
            <a:off x="972158" y="283159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9">
            <a:extLst>
              <a:ext uri="{FF2B5EF4-FFF2-40B4-BE49-F238E27FC236}">
                <a16:creationId xmlns:a16="http://schemas.microsoft.com/office/drawing/2014/main" id="{669B4352-D816-9A0C-A8DD-7BC84307D168}"/>
              </a:ext>
            </a:extLst>
          </p:cNvPr>
          <p:cNvSpPr txBox="1"/>
          <p:nvPr/>
        </p:nvSpPr>
        <p:spPr>
          <a:xfrm>
            <a:off x="972158" y="2831595"/>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4" name="Text 10">
            <a:extLst>
              <a:ext uri="{FF2B5EF4-FFF2-40B4-BE49-F238E27FC236}">
                <a16:creationId xmlns:a16="http://schemas.microsoft.com/office/drawing/2014/main" id="{75F48AE9-A6FD-422C-ACDF-7B652462C746}"/>
              </a:ext>
            </a:extLst>
          </p:cNvPr>
          <p:cNvSpPr txBox="1"/>
          <p:nvPr/>
        </p:nvSpPr>
        <p:spPr>
          <a:xfrm>
            <a:off x="1539086" y="2958745"/>
            <a:ext cx="1745198" cy="1051560"/>
          </a:xfrm>
          <a:prstGeom prst="rect">
            <a:avLst/>
          </a:prstGeom>
          <a:noFill/>
          <a:ln/>
        </p:spPr>
        <p:txBody>
          <a:bodyPr wrap="square" lIns="0" tIns="0" rIns="0" bIns="0" rtlCol="0" anchor="t"/>
          <a:lstStyle/>
          <a:p>
            <a:pPr marL="0" indent="0">
              <a:buNone/>
            </a:pPr>
            <a:r>
              <a:rPr lang="en-US" sz="1500" b="1" dirty="0">
                <a:solidFill>
                  <a:srgbClr val="1B3A4B"/>
                </a:solidFill>
                <a:latin typeface="メイリオ" panose="020B0604030504040204" pitchFamily="50" charset="-128"/>
                <a:ea typeface="メイリオ" panose="020B0604030504040204" pitchFamily="50" charset="-128"/>
                <a:cs typeface="Calibri" pitchFamily="34" charset="-120"/>
              </a:rPr>
              <a:t>想定UU規模</a:t>
            </a:r>
            <a:endParaRPr lang="en-US" sz="1400" dirty="0">
              <a:latin typeface="メイリオ" panose="020B0604030504040204" pitchFamily="50" charset="-128"/>
              <a:ea typeface="メイリオ" panose="020B0604030504040204" pitchFamily="50" charset="-128"/>
            </a:endParaRPr>
          </a:p>
        </p:txBody>
      </p:sp>
      <p:sp>
        <p:nvSpPr>
          <p:cNvPr id="56" name="Text 11">
            <a:extLst>
              <a:ext uri="{FF2B5EF4-FFF2-40B4-BE49-F238E27FC236}">
                <a16:creationId xmlns:a16="http://schemas.microsoft.com/office/drawing/2014/main" id="{61156CBF-D9B3-DD3C-8ACD-8372D9D326A2}"/>
              </a:ext>
            </a:extLst>
          </p:cNvPr>
          <p:cNvSpPr txBox="1"/>
          <p:nvPr/>
        </p:nvSpPr>
        <p:spPr>
          <a:xfrm>
            <a:off x="3120996" y="2958742"/>
            <a:ext cx="6841609" cy="548643"/>
          </a:xfrm>
          <a:prstGeom prst="rect">
            <a:avLst/>
          </a:prstGeom>
          <a:noFill/>
          <a:ln/>
        </p:spPr>
        <p:txBody>
          <a:bodyPr wrap="square" lIns="0" tIns="0" rIns="0" bIns="0" rtlCol="0" anchor="t"/>
          <a:lstStyle/>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友だち数（登録ユーザー数）は</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 </a:t>
            </a: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導入できる 動線の本数、整備の進捗により変動</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数値はこのレンジの中間帯を基準とした試算例</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58" name="Shape 12">
            <a:extLst>
              <a:ext uri="{FF2B5EF4-FFF2-40B4-BE49-F238E27FC236}">
                <a16:creationId xmlns:a16="http://schemas.microsoft.com/office/drawing/2014/main" id="{B7E37F63-4443-61AC-C507-6249BCEA8B03}"/>
              </a:ext>
            </a:extLst>
          </p:cNvPr>
          <p:cNvSpPr/>
          <p:nvPr/>
        </p:nvSpPr>
        <p:spPr>
          <a:xfrm>
            <a:off x="641683" y="376428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BC3F4295-B343-9929-79BF-0E90AC24E637}"/>
              </a:ext>
            </a:extLst>
          </p:cNvPr>
          <p:cNvSpPr/>
          <p:nvPr/>
        </p:nvSpPr>
        <p:spPr>
          <a:xfrm>
            <a:off x="972158" y="388315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2" name="Text 14">
            <a:extLst>
              <a:ext uri="{FF2B5EF4-FFF2-40B4-BE49-F238E27FC236}">
                <a16:creationId xmlns:a16="http://schemas.microsoft.com/office/drawing/2014/main" id="{4F7035AD-D7AD-4365-9CE5-C9A141A3387A}"/>
              </a:ext>
            </a:extLst>
          </p:cNvPr>
          <p:cNvSpPr txBox="1"/>
          <p:nvPr/>
        </p:nvSpPr>
        <p:spPr>
          <a:xfrm>
            <a:off x="972158" y="3883155"/>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4" name="Text 15">
            <a:extLst>
              <a:ext uri="{FF2B5EF4-FFF2-40B4-BE49-F238E27FC236}">
                <a16:creationId xmlns:a16="http://schemas.microsoft.com/office/drawing/2014/main" id="{86468759-90EC-B496-2A22-F5CEEF26BB6D}"/>
              </a:ext>
            </a:extLst>
          </p:cNvPr>
          <p:cNvSpPr txBox="1"/>
          <p:nvPr/>
        </p:nvSpPr>
        <p:spPr>
          <a:xfrm>
            <a:off x="1539086" y="4010305"/>
            <a:ext cx="1745198" cy="1051560"/>
          </a:xfrm>
          <a:prstGeom prst="rect">
            <a:avLst/>
          </a:prstGeom>
          <a:noFill/>
          <a:ln/>
        </p:spPr>
        <p:txBody>
          <a:bodyPr wrap="square" lIns="0" tIns="0" rIns="0" bIns="0" rtlCol="0" anchor="t"/>
          <a:lstStyle/>
          <a:p>
            <a:pPr marL="0" indent="0">
              <a:buNone/>
            </a:pPr>
            <a:r>
              <a:rPr lang="en-US" sz="1500" b="1" dirty="0">
                <a:solidFill>
                  <a:srgbClr val="1B3A4B"/>
                </a:solidFill>
                <a:latin typeface="メイリオ" panose="020B0604030504040204" pitchFamily="50" charset="-128"/>
                <a:ea typeface="メイリオ" panose="020B0604030504040204" pitchFamily="50" charset="-128"/>
                <a:cs typeface="Calibri" pitchFamily="34" charset="-120"/>
              </a:rPr>
              <a:t>数値の位置づけ</a:t>
            </a:r>
            <a:endParaRPr lang="en-US" sz="1400" dirty="0">
              <a:latin typeface="メイリオ" panose="020B0604030504040204" pitchFamily="50" charset="-128"/>
              <a:ea typeface="メイリオ" panose="020B0604030504040204" pitchFamily="50" charset="-128"/>
            </a:endParaRPr>
          </a:p>
        </p:txBody>
      </p:sp>
      <p:sp>
        <p:nvSpPr>
          <p:cNvPr id="66" name="Text 16">
            <a:extLst>
              <a:ext uri="{FF2B5EF4-FFF2-40B4-BE49-F238E27FC236}">
                <a16:creationId xmlns:a16="http://schemas.microsoft.com/office/drawing/2014/main" id="{904F2FF7-14A1-F39C-A8CB-E14A07B717DD}"/>
              </a:ext>
            </a:extLst>
          </p:cNvPr>
          <p:cNvSpPr txBox="1"/>
          <p:nvPr/>
        </p:nvSpPr>
        <p:spPr>
          <a:xfrm>
            <a:off x="3120996" y="4010302"/>
            <a:ext cx="6841609" cy="548643"/>
          </a:xfrm>
          <a:prstGeom prst="rect">
            <a:avLst/>
          </a:prstGeom>
          <a:noFill/>
          <a:ln/>
        </p:spPr>
        <p:txBody>
          <a:bodyPr wrap="square" lIns="0" tIns="0" rIns="0" bIns="0" rtlCol="0" anchor="t"/>
          <a:lstStyle/>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開封率・クリック率・CVR・獲得件数は、業界一般値</a:t>
            </a: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・弊社実績に基づく数値</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実際の実装可能領域によって変動する為、すり合わせの上で</a:t>
            </a: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精緻化する</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68" name="Shape 17">
            <a:extLst>
              <a:ext uri="{FF2B5EF4-FFF2-40B4-BE49-F238E27FC236}">
                <a16:creationId xmlns:a16="http://schemas.microsoft.com/office/drawing/2014/main" id="{D7D046F7-16D5-8951-536B-10884484DE02}"/>
              </a:ext>
            </a:extLst>
          </p:cNvPr>
          <p:cNvSpPr/>
          <p:nvPr/>
        </p:nvSpPr>
        <p:spPr>
          <a:xfrm>
            <a:off x="641683" y="481584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Shape 18">
            <a:extLst>
              <a:ext uri="{FF2B5EF4-FFF2-40B4-BE49-F238E27FC236}">
                <a16:creationId xmlns:a16="http://schemas.microsoft.com/office/drawing/2014/main" id="{0D1FC647-1BC2-58C5-04C4-BE8B359A6F8D}"/>
              </a:ext>
            </a:extLst>
          </p:cNvPr>
          <p:cNvSpPr/>
          <p:nvPr/>
        </p:nvSpPr>
        <p:spPr>
          <a:xfrm>
            <a:off x="972158" y="493471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Text 19">
            <a:extLst>
              <a:ext uri="{FF2B5EF4-FFF2-40B4-BE49-F238E27FC236}">
                <a16:creationId xmlns:a16="http://schemas.microsoft.com/office/drawing/2014/main" id="{C7DA095C-5CED-C617-CCA7-2F5D20F16832}"/>
              </a:ext>
            </a:extLst>
          </p:cNvPr>
          <p:cNvSpPr txBox="1"/>
          <p:nvPr/>
        </p:nvSpPr>
        <p:spPr>
          <a:xfrm>
            <a:off x="972158" y="4934715"/>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74" name="Text 20">
            <a:extLst>
              <a:ext uri="{FF2B5EF4-FFF2-40B4-BE49-F238E27FC236}">
                <a16:creationId xmlns:a16="http://schemas.microsoft.com/office/drawing/2014/main" id="{4C2E6E88-6123-B50A-ED01-1E64CDAD3404}"/>
              </a:ext>
            </a:extLst>
          </p:cNvPr>
          <p:cNvSpPr txBox="1"/>
          <p:nvPr/>
        </p:nvSpPr>
        <p:spPr>
          <a:xfrm>
            <a:off x="1539086" y="5061865"/>
            <a:ext cx="1745198" cy="1051560"/>
          </a:xfrm>
          <a:prstGeom prst="rect">
            <a:avLst/>
          </a:prstGeom>
          <a:noFill/>
          <a:ln/>
        </p:spPr>
        <p:txBody>
          <a:bodyPr wrap="square" lIns="0" tIns="0" rIns="0" bIns="0" rtlCol="0" anchor="t"/>
          <a:lstStyle/>
          <a:p>
            <a:pPr marL="0" indent="0">
              <a:buNone/>
            </a:pPr>
            <a:r>
              <a:rPr lang="en-US" sz="1500" b="1" dirty="0">
                <a:solidFill>
                  <a:srgbClr val="1B3A4B"/>
                </a:solidFill>
                <a:latin typeface="メイリオ" panose="020B0604030504040204" pitchFamily="50" charset="-128"/>
                <a:ea typeface="メイリオ" panose="020B0604030504040204" pitchFamily="50" charset="-128"/>
                <a:cs typeface="Calibri" pitchFamily="34" charset="-120"/>
              </a:rPr>
              <a:t>費用について</a:t>
            </a:r>
            <a:endParaRPr lang="en-US" sz="1400" dirty="0">
              <a:latin typeface="メイリオ" panose="020B0604030504040204" pitchFamily="50" charset="-128"/>
              <a:ea typeface="メイリオ" panose="020B0604030504040204" pitchFamily="50" charset="-128"/>
            </a:endParaRPr>
          </a:p>
        </p:txBody>
      </p:sp>
      <p:sp>
        <p:nvSpPr>
          <p:cNvPr id="76" name="Text 21">
            <a:extLst>
              <a:ext uri="{FF2B5EF4-FFF2-40B4-BE49-F238E27FC236}">
                <a16:creationId xmlns:a16="http://schemas.microsoft.com/office/drawing/2014/main" id="{F5F82988-82B4-B2FE-6595-2DA583169883}"/>
              </a:ext>
            </a:extLst>
          </p:cNvPr>
          <p:cNvSpPr txBox="1"/>
          <p:nvPr/>
        </p:nvSpPr>
        <p:spPr>
          <a:xfrm>
            <a:off x="3120996" y="5061862"/>
            <a:ext cx="6841609" cy="548643"/>
          </a:xfrm>
          <a:prstGeom prst="rect">
            <a:avLst/>
          </a:prstGeom>
          <a:noFill/>
          <a:ln/>
        </p:spPr>
        <p:txBody>
          <a:bodyPr wrap="square" lIns="0" tIns="0" rIns="0" bIns="0" rtlCol="0" anchor="t"/>
          <a:lstStyle/>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本資料</a:t>
            </a: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内</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で</a:t>
            </a:r>
            <a:r>
              <a:rPr lang="ja-JP" altLang="en-US" sz="1300" dirty="0">
                <a:solidFill>
                  <a:srgbClr val="1F2937"/>
                </a:solidFill>
                <a:latin typeface="メイリオ" panose="020B0604030504040204" pitchFamily="50" charset="-128"/>
                <a:ea typeface="メイリオ" panose="020B0604030504040204" pitchFamily="50" charset="-128"/>
                <a:cs typeface="Calibri" pitchFamily="34" charset="-120"/>
              </a:rPr>
              <a:t>記載の</a:t>
            </a:r>
            <a:r>
              <a:rPr lang="en-US" sz="1300" b="1" dirty="0" err="1">
                <a:solidFill>
                  <a:srgbClr val="1F2937"/>
                </a:solidFill>
                <a:latin typeface="メイリオ" panose="020B0604030504040204" pitchFamily="50" charset="-128"/>
                <a:ea typeface="メイリオ" panose="020B0604030504040204" pitchFamily="50" charset="-128"/>
                <a:cs typeface="Calibri" pitchFamily="34" charset="-120"/>
              </a:rPr>
              <a:t>費用（初期費用・月額費用）は</a:t>
            </a:r>
            <a:r>
              <a:rPr lang="ja-JP" altLang="en-US" sz="1300" b="1" dirty="0">
                <a:solidFill>
                  <a:srgbClr val="1F2937"/>
                </a:solidFill>
                <a:latin typeface="メイリオ" panose="020B0604030504040204" pitchFamily="50" charset="-128"/>
                <a:ea typeface="メイリオ" panose="020B0604030504040204" pitchFamily="50" charset="-128"/>
                <a:cs typeface="Calibri" pitchFamily="34" charset="-120"/>
              </a:rPr>
              <a:t>前提参考値</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施策範囲の合意後、別途お見積りをご案内</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5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5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施策切り出しでのご依頼、複数機能の導入によるディスカウント等の調整もご相談ください。</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85544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3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8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2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1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420235" cy="1051560"/>
          </a:xfrm>
          <a:prstGeom prst="rect">
            <a:avLst/>
          </a:prstGeom>
          <a:noFill/>
          <a:ln/>
        </p:spPr>
        <p:txBody>
          <a:bodyPr wrap="square" lIns="0" tIns="0" rIns="0" bIns="0" rtlCol="0" anchor="t"/>
          <a:lstStyle/>
          <a:p>
            <a:pPr marL="0" indent="0">
              <a:lnSpc>
                <a:spcPts val="16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訴求とセットでLINE友だち登録へ誘導する</a:t>
            </a: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a:t>
            </a: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3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8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2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1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登録後の自動ステップ配信と、セグメント別の企画配信で、開封〜CVまでの導線を最適化する。</a:t>
            </a: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3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8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1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3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よくある質問への自動応答と、必要な場面での個別チャット対応でユーザー体験を向上させる。</a:t>
            </a: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3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8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2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1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300" dirty="0">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自動応答の仕組み化や運用フローの整備により、管理側の対応工数を削減する。</a:t>
            </a:r>
            <a:endParaRPr lang="en-US" sz="12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5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5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5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500" b="1" dirty="0">
                <a:solidFill>
                  <a:srgbClr val="1F2A5C"/>
                </a:solidFill>
                <a:latin typeface="メイリオ" panose="020B0604030504040204" pitchFamily="50" charset="-128"/>
                <a:ea typeface="メイリオ" panose="020B0604030504040204" pitchFamily="50" charset="-128"/>
              </a:rPr>
              <a:t>LINE運用ツール</a:t>
            </a:r>
            <a:r>
              <a:rPr lang="ja-JP" altLang="en-US" sz="15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500" b="1" dirty="0">
                <a:solidFill>
                  <a:srgbClr val="FFFFFF"/>
                </a:solidFill>
                <a:latin typeface="メイリオ" panose="020B0604030504040204" pitchFamily="50" charset="-128"/>
                <a:ea typeface="メイリオ" panose="020B0604030504040204" pitchFamily="50" charset="-128"/>
              </a:rPr>
              <a:t>なし </a:t>
            </a:r>
            <a:r>
              <a:rPr lang="en-US" altLang="ja-JP" sz="1200" dirty="0">
                <a:solidFill>
                  <a:srgbClr val="FFFFFF"/>
                </a:solidFill>
                <a:latin typeface="メイリオ" panose="020B0604030504040204" pitchFamily="50" charset="-128"/>
                <a:ea typeface="メイリオ" panose="020B0604030504040204" pitchFamily="50" charset="-128"/>
              </a:rPr>
              <a:t>※OAM</a:t>
            </a:r>
            <a:r>
              <a:rPr lang="ja-JP" altLang="en-US" sz="1200" dirty="0">
                <a:solidFill>
                  <a:srgbClr val="FFFFFF"/>
                </a:solidFill>
                <a:latin typeface="メイリオ" panose="020B0604030504040204" pitchFamily="50" charset="-128"/>
                <a:ea typeface="メイリオ" panose="020B0604030504040204" pitchFamily="50" charset="-128"/>
              </a:rPr>
              <a:t>にて運用する</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500" b="1" dirty="0">
                <a:solidFill>
                  <a:srgbClr val="FFFFFF"/>
                </a:solidFill>
                <a:latin typeface="メイリオ" panose="020B0604030504040204" pitchFamily="50" charset="-128"/>
                <a:ea typeface="メイリオ" panose="020B0604030504040204" pitchFamily="50" charset="-128"/>
              </a:rPr>
              <a:t>あり</a:t>
            </a:r>
            <a:r>
              <a:rPr lang="ja-JP" altLang="en-US" sz="1400" dirty="0">
                <a:solidFill>
                  <a:srgbClr val="FFFFFF"/>
                </a:solidFill>
                <a:latin typeface="メイリオ" panose="020B0604030504040204" pitchFamily="50" charset="-128"/>
                <a:ea typeface="メイリオ" panose="020B0604030504040204" pitchFamily="50" charset="-128"/>
              </a:rPr>
              <a:t> </a:t>
            </a:r>
            <a:r>
              <a:rPr lang="en-US" altLang="ja-JP" sz="1200" dirty="0">
                <a:solidFill>
                  <a:srgbClr val="FFFFFF"/>
                </a:solidFill>
                <a:latin typeface="メイリオ" panose="020B0604030504040204" pitchFamily="50" charset="-128"/>
                <a:ea typeface="メイリオ" panose="020B0604030504040204" pitchFamily="50" charset="-128"/>
              </a:rPr>
              <a:t>※</a:t>
            </a:r>
            <a:r>
              <a:rPr lang="en-US" altLang="ja-JP" sz="1200" dirty="0" err="1">
                <a:solidFill>
                  <a:srgbClr val="FFFFFF"/>
                </a:solidFill>
                <a:latin typeface="メイリオ" panose="020B0604030504040204" pitchFamily="50" charset="-128"/>
                <a:ea typeface="メイリオ" panose="020B0604030504040204" pitchFamily="50" charset="-128"/>
              </a:rPr>
              <a:t>Lstep</a:t>
            </a:r>
            <a:r>
              <a:rPr lang="ja-JP" altLang="en-US" sz="1200" dirty="0">
                <a:solidFill>
                  <a:srgbClr val="FFFFFF"/>
                </a:solidFill>
                <a:latin typeface="メイリオ" panose="020B0604030504040204" pitchFamily="50" charset="-128"/>
                <a:ea typeface="メイリオ" panose="020B0604030504040204" pitchFamily="50" charset="-128"/>
              </a:rPr>
              <a:t>など汎用的なもの</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1044000"/>
          </a:xfrm>
          <a:prstGeom prst="rect">
            <a:avLst/>
          </a:prstGeom>
          <a:solidFill>
            <a:srgbClr val="F0F2F7"/>
          </a:solidFill>
          <a:ln>
            <a:noFill/>
          </a:ln>
        </p:spPr>
        <p:txBody>
          <a:bodyPr wrap="square" lIns="177800" tIns="127000" rIns="177800" bIns="127000" anchor="t"/>
          <a:lstStyle/>
          <a:p>
            <a:pPr>
              <a:buNone/>
            </a:pPr>
            <a:r>
              <a:rPr lang="ja-JP" sz="13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3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300" dirty="0">
                <a:solidFill>
                  <a:srgbClr val="333333"/>
                </a:solidFill>
                <a:latin typeface="メイリオ" panose="020B0604030504040204" pitchFamily="50" charset="-128"/>
                <a:ea typeface="メイリオ" panose="020B0604030504040204" pitchFamily="50" charset="-128"/>
              </a:rPr>
              <a:t>や、詳細なセグメント設定</a:t>
            </a:r>
            <a:r>
              <a:rPr lang="ja-JP" sz="1300" dirty="0">
                <a:solidFill>
                  <a:srgbClr val="333333"/>
                </a:solidFill>
                <a:latin typeface="メイリオ" panose="020B0604030504040204" pitchFamily="50" charset="-128"/>
                <a:ea typeface="メイリオ" panose="020B0604030504040204" pitchFamily="50" charset="-128"/>
              </a:rPr>
              <a:t>を左右する</a:t>
            </a:r>
            <a:r>
              <a:rPr lang="ja-JP" altLang="en-US" sz="1300" dirty="0">
                <a:solidFill>
                  <a:srgbClr val="333333"/>
                </a:solidFill>
                <a:latin typeface="メイリオ" panose="020B0604030504040204" pitchFamily="50" charset="-128"/>
                <a:ea typeface="メイリオ" panose="020B0604030504040204" pitchFamily="50" charset="-128"/>
              </a:rPr>
              <a:t>。</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3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ユーザーアンケートを活用して、利用ステータスやユーザー情報の回収→配信に活用といったフローを踏みたいところ。</a:t>
            </a: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3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3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2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3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3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3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3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300" b="1" dirty="0">
                <a:solidFill>
                  <a:srgbClr val="00B050"/>
                </a:solidFill>
                <a:latin typeface="メイリオ" panose="020B0604030504040204" pitchFamily="50" charset="-128"/>
                <a:ea typeface="メイリオ" panose="020B0604030504040204" pitchFamily="50" charset="-128"/>
              </a:rPr>
              <a:t>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3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300" dirty="0">
                <a:solidFill>
                  <a:srgbClr val="333333"/>
                </a:solidFill>
                <a:latin typeface="メイリオ" panose="020B0604030504040204" pitchFamily="50" charset="-128"/>
                <a:ea typeface="メイリオ" panose="020B0604030504040204" pitchFamily="50" charset="-128"/>
              </a:rPr>
              <a:t>現状LINEとAPI連携ができておらず、データ活用が限定的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300" b="1" dirty="0">
                <a:solidFill>
                  <a:srgbClr val="00B050"/>
                </a:solidFill>
                <a:latin typeface="メイリオ" panose="020B0604030504040204" pitchFamily="50" charset="-128"/>
                <a:ea typeface="メイリオ" panose="020B0604030504040204" pitchFamily="50" charset="-128"/>
              </a:rPr>
              <a:t>デメリット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3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全体設計｜整備士の転職カスタマージャーニー</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300" b="0">
                <a:solidFill>
                  <a:srgbClr val="333333"/>
                </a:solidFill>
                <a:latin typeface="メイリオ"/>
                <a:ea typeface="メイリオ"/>
                <a:cs typeface="メイリオ"/>
              </a:rPr>
              <a:t>整備士の転職の流れにあわせて、LINEの施策を配置します。</a:t>
            </a:r>
          </a:p>
          <a:p>
            <a:pPr algn="l"/>
            <a:r>
              <a:rPr sz="1300" b="0">
                <a:solidFill>
                  <a:srgbClr val="333333"/>
                </a:solidFill>
                <a:latin typeface="メイリオ"/>
                <a:ea typeface="メイリオ"/>
                <a:cs typeface="メイリオ"/>
              </a:rPr>
              <a:t>主戦場は④友だち追加ではなく⑤面談。そこから先も同じLINEで就業・定着まで運びます。</a:t>
            </a:r>
          </a:p>
        </p:txBody>
      </p:sp>
      <p:sp>
        <p:nvSpPr>
          <p:cNvPr id="47" name="Rounded Rectangle 46"/>
          <p:cNvSpPr/>
          <p:nvPr/>
        </p:nvSpPr>
        <p:spPr>
          <a:xfrm>
            <a:off x="432000" y="1512000"/>
            <a:ext cx="4494600" cy="2340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333333"/>
                </a:solidFill>
                <a:latin typeface="メイリオ"/>
                <a:ea typeface="メイリオ"/>
                <a:cs typeface="メイリオ"/>
              </a:rPr>
              <a:t>WEB → LINE：どう友だちにするか</a:t>
            </a:r>
          </a:p>
        </p:txBody>
      </p:sp>
      <p:sp>
        <p:nvSpPr>
          <p:cNvPr id="48" name="Rounded Rectangle 47"/>
          <p:cNvSpPr/>
          <p:nvPr/>
        </p:nvSpPr>
        <p:spPr>
          <a:xfrm>
            <a:off x="4980600" y="1512000"/>
            <a:ext cx="4494600" cy="234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333333"/>
                </a:solidFill>
                <a:latin typeface="メイリオ"/>
                <a:ea typeface="メイリオ"/>
                <a:cs typeface="メイリオ"/>
              </a:rPr>
              <a:t>LINE → 就業：どう面談・就業につなげるか</a:t>
            </a:r>
          </a:p>
        </p:txBody>
      </p:sp>
      <p:sp>
        <p:nvSpPr>
          <p:cNvPr id="49" name="Pentagon 48"/>
          <p:cNvSpPr/>
          <p:nvPr/>
        </p:nvSpPr>
        <p:spPr>
          <a:xfrm>
            <a:off x="432000" y="1818000"/>
            <a:ext cx="1083150" cy="396000"/>
          </a:xfrm>
          <a:prstGeom prst="homePlate">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1000" b="1">
                <a:solidFill>
                  <a:srgbClr val="333333"/>
                </a:solidFill>
                <a:latin typeface="メイリオ"/>
                <a:ea typeface="メイリオ"/>
                <a:cs typeface="メイリオ"/>
              </a:rPr>
              <a:t>①接触</a:t>
            </a:r>
          </a:p>
        </p:txBody>
      </p:sp>
      <p:sp>
        <p:nvSpPr>
          <p:cNvPr id="50" name="Chevron 49"/>
          <p:cNvSpPr/>
          <p:nvPr/>
        </p:nvSpPr>
        <p:spPr>
          <a:xfrm>
            <a:off x="1569150" y="1818000"/>
            <a:ext cx="1083150" cy="396000"/>
          </a:xfrm>
          <a:prstGeom prst="chevron">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1000" b="1">
                <a:solidFill>
                  <a:srgbClr val="333333"/>
                </a:solidFill>
                <a:latin typeface="メイリオ"/>
                <a:ea typeface="メイリオ"/>
                <a:cs typeface="メイリオ"/>
              </a:rPr>
              <a:t>②離脱</a:t>
            </a:r>
          </a:p>
        </p:txBody>
      </p:sp>
      <p:sp>
        <p:nvSpPr>
          <p:cNvPr id="51" name="Chevron 50"/>
          <p:cNvSpPr/>
          <p:nvPr/>
        </p:nvSpPr>
        <p:spPr>
          <a:xfrm>
            <a:off x="2706300" y="1818000"/>
            <a:ext cx="1083150" cy="396000"/>
          </a:xfrm>
          <a:prstGeom prst="chevron">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1000" b="1">
                <a:solidFill>
                  <a:srgbClr val="333333"/>
                </a:solidFill>
                <a:latin typeface="メイリオ"/>
                <a:ea typeface="メイリオ"/>
                <a:cs typeface="メイリオ"/>
              </a:rPr>
              <a:t>③興味喚起</a:t>
            </a:r>
          </a:p>
        </p:txBody>
      </p:sp>
      <p:sp>
        <p:nvSpPr>
          <p:cNvPr id="52" name="Chevron 51"/>
          <p:cNvSpPr/>
          <p:nvPr/>
        </p:nvSpPr>
        <p:spPr>
          <a:xfrm>
            <a:off x="3843450" y="1818000"/>
            <a:ext cx="1083150" cy="396000"/>
          </a:xfrm>
          <a:prstGeom prst="chevron">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1000" b="1">
                <a:solidFill>
                  <a:srgbClr val="333333"/>
                </a:solidFill>
                <a:latin typeface="メイリオ"/>
                <a:ea typeface="メイリオ"/>
                <a:cs typeface="メイリオ"/>
              </a:rPr>
              <a:t>④友だち追加</a:t>
            </a:r>
          </a:p>
        </p:txBody>
      </p:sp>
      <p:sp>
        <p:nvSpPr>
          <p:cNvPr id="53" name="Chevron 52"/>
          <p:cNvSpPr/>
          <p:nvPr/>
        </p:nvSpPr>
        <p:spPr>
          <a:xfrm>
            <a:off x="4980600" y="1818000"/>
            <a:ext cx="1083150" cy="396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1000" b="1">
                <a:solidFill>
                  <a:srgbClr val="FFFFFF"/>
                </a:solidFill>
                <a:latin typeface="メイリオ"/>
                <a:ea typeface="メイリオ"/>
                <a:cs typeface="メイリオ"/>
              </a:rPr>
              <a:t>⑤面談</a:t>
            </a:r>
          </a:p>
        </p:txBody>
      </p:sp>
      <p:sp>
        <p:nvSpPr>
          <p:cNvPr id="54" name="Chevron 53"/>
          <p:cNvSpPr/>
          <p:nvPr/>
        </p:nvSpPr>
        <p:spPr>
          <a:xfrm>
            <a:off x="6117749" y="1818000"/>
            <a:ext cx="1083150" cy="396000"/>
          </a:xfrm>
          <a:prstGeom prst="chevron">
            <a:avLst/>
          </a:prstGeom>
          <a:solidFill>
            <a:srgbClr val="BDD7EE"/>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1000" b="1">
                <a:solidFill>
                  <a:srgbClr val="333333"/>
                </a:solidFill>
                <a:latin typeface="メイリオ"/>
                <a:ea typeface="メイリオ"/>
                <a:cs typeface="メイリオ"/>
              </a:rPr>
              <a:t>⑥求人紹介</a:t>
            </a:r>
          </a:p>
        </p:txBody>
      </p:sp>
      <p:sp>
        <p:nvSpPr>
          <p:cNvPr id="55" name="Chevron 54"/>
          <p:cNvSpPr/>
          <p:nvPr/>
        </p:nvSpPr>
        <p:spPr>
          <a:xfrm>
            <a:off x="7254900" y="1818000"/>
            <a:ext cx="1083150" cy="396000"/>
          </a:xfrm>
          <a:prstGeom prst="chevron">
            <a:avLst/>
          </a:prstGeom>
          <a:solidFill>
            <a:srgbClr val="BDD7EE"/>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1000" b="1">
                <a:solidFill>
                  <a:srgbClr val="333333"/>
                </a:solidFill>
                <a:latin typeface="メイリオ"/>
                <a:ea typeface="メイリオ"/>
                <a:cs typeface="メイリオ"/>
              </a:rPr>
              <a:t>⑦内定承諾</a:t>
            </a:r>
          </a:p>
        </p:txBody>
      </p:sp>
      <p:sp>
        <p:nvSpPr>
          <p:cNvPr id="56" name="Chevron 55"/>
          <p:cNvSpPr/>
          <p:nvPr/>
        </p:nvSpPr>
        <p:spPr>
          <a:xfrm>
            <a:off x="8392050" y="1818000"/>
            <a:ext cx="1083150" cy="396000"/>
          </a:xfrm>
          <a:prstGeom prst="chevron">
            <a:avLst/>
          </a:prstGeom>
          <a:solidFill>
            <a:srgbClr val="BDD7EE"/>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1000" b="1">
                <a:solidFill>
                  <a:srgbClr val="333333"/>
                </a:solidFill>
                <a:latin typeface="メイリオ"/>
                <a:ea typeface="メイリオ"/>
                <a:cs typeface="メイリオ"/>
              </a:rPr>
              <a:t>⑧定着・紹介</a:t>
            </a:r>
          </a:p>
        </p:txBody>
      </p:sp>
      <p:sp>
        <p:nvSpPr>
          <p:cNvPr id="57" name="Rectangle 56"/>
          <p:cNvSpPr/>
          <p:nvPr/>
        </p:nvSpPr>
        <p:spPr>
          <a:xfrm>
            <a:off x="432000" y="2286000"/>
            <a:ext cx="2160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000" b="1">
                <a:solidFill>
                  <a:srgbClr val="7F7F7F"/>
                </a:solidFill>
                <a:latin typeface="メイリオ"/>
                <a:ea typeface="メイリオ"/>
                <a:cs typeface="メイリオ"/>
              </a:rPr>
              <a:t>ユーザーの状態</a:t>
            </a:r>
          </a:p>
        </p:txBody>
      </p:sp>
      <p:sp>
        <p:nvSpPr>
          <p:cNvPr id="58" name="Rectangle 57"/>
          <p:cNvSpPr/>
          <p:nvPr/>
        </p:nvSpPr>
        <p:spPr>
          <a:xfrm>
            <a:off x="432000" y="3438000"/>
            <a:ext cx="2160000" cy="19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000" b="1">
                <a:solidFill>
                  <a:srgbClr val="7F7F7F"/>
                </a:solidFill>
                <a:latin typeface="メイリオ"/>
                <a:ea typeface="メイリオ"/>
                <a:cs typeface="メイリオ"/>
              </a:rPr>
              <a:t>LINEの施策</a:t>
            </a:r>
          </a:p>
        </p:txBody>
      </p:sp>
      <p:sp>
        <p:nvSpPr>
          <p:cNvPr id="59" name="Rounded Rectangle 58"/>
          <p:cNvSpPr/>
          <p:nvPr/>
        </p:nvSpPr>
        <p:spPr>
          <a:xfrm>
            <a:off x="43200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0">
                <a:solidFill>
                  <a:srgbClr val="333333"/>
                </a:solidFill>
                <a:latin typeface="メイリオ"/>
                <a:ea typeface="メイリオ"/>
                <a:cs typeface="メイリオ"/>
              </a:rPr>
              <a:t>年収・職種が気になり検索する</a:t>
            </a:r>
          </a:p>
        </p:txBody>
      </p:sp>
      <p:sp>
        <p:nvSpPr>
          <p:cNvPr id="60" name="Rounded Rectangle 59"/>
          <p:cNvSpPr/>
          <p:nvPr/>
        </p:nvSpPr>
        <p:spPr>
          <a:xfrm>
            <a:off x="43200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dirty="0" err="1">
                <a:solidFill>
                  <a:srgbClr val="1F285A"/>
                </a:solidFill>
                <a:latin typeface="メイリオ"/>
                <a:ea typeface="メイリオ"/>
                <a:cs typeface="メイリオ"/>
              </a:rPr>
              <a:t>CPF広告</a:t>
            </a:r>
            <a:endParaRPr lang="en-US" sz="1050" b="1" dirty="0">
              <a:solidFill>
                <a:srgbClr val="1F285A"/>
              </a:solidFill>
              <a:latin typeface="メイリオ"/>
              <a:ea typeface="メイリオ"/>
              <a:cs typeface="メイリオ"/>
            </a:endParaRPr>
          </a:p>
          <a:p>
            <a:pPr algn="ctr"/>
            <a:r>
              <a:rPr sz="1050" b="1" dirty="0">
                <a:solidFill>
                  <a:srgbClr val="1F285A"/>
                </a:solidFill>
                <a:latin typeface="メイリオ"/>
                <a:ea typeface="メイリオ"/>
                <a:cs typeface="メイリオ"/>
              </a:rPr>
              <a:t>（Meta予算を転用）</a:t>
            </a:r>
          </a:p>
        </p:txBody>
      </p:sp>
      <p:sp>
        <p:nvSpPr>
          <p:cNvPr id="61" name="Rounded Rectangle 60"/>
          <p:cNvSpPr/>
          <p:nvPr/>
        </p:nvSpPr>
        <p:spPr>
          <a:xfrm>
            <a:off x="156915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0">
                <a:solidFill>
                  <a:srgbClr val="333333"/>
                </a:solidFill>
                <a:latin typeface="メイリオ"/>
                <a:ea typeface="メイリオ"/>
                <a:cs typeface="メイリオ"/>
              </a:rPr>
              <a:t>応募はまだ。そのまま帰る</a:t>
            </a:r>
          </a:p>
        </p:txBody>
      </p:sp>
      <p:sp>
        <p:nvSpPr>
          <p:cNvPr id="62" name="Rounded Rectangle 61"/>
          <p:cNvSpPr/>
          <p:nvPr/>
        </p:nvSpPr>
        <p:spPr>
          <a:xfrm>
            <a:off x="156915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1F285A"/>
                </a:solidFill>
                <a:latin typeface="メイリオ"/>
                <a:ea typeface="メイリオ"/>
                <a:cs typeface="メイリオ"/>
              </a:rPr>
              <a:t>離脱防止ポップアップ</a:t>
            </a:r>
          </a:p>
        </p:txBody>
      </p:sp>
      <p:sp>
        <p:nvSpPr>
          <p:cNvPr id="63" name="Rounded Rectangle 62"/>
          <p:cNvSpPr/>
          <p:nvPr/>
        </p:nvSpPr>
        <p:spPr>
          <a:xfrm>
            <a:off x="270630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0">
                <a:solidFill>
                  <a:srgbClr val="333333"/>
                </a:solidFill>
                <a:latin typeface="メイリオ"/>
                <a:ea typeface="メイリオ"/>
                <a:cs typeface="メイリオ"/>
              </a:rPr>
              <a:t>年収・働き方を知りたい</a:t>
            </a:r>
          </a:p>
        </p:txBody>
      </p:sp>
      <p:sp>
        <p:nvSpPr>
          <p:cNvPr id="64" name="Rounded Rectangle 63"/>
          <p:cNvSpPr/>
          <p:nvPr/>
        </p:nvSpPr>
        <p:spPr>
          <a:xfrm>
            <a:off x="270630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1F285A"/>
                </a:solidFill>
                <a:latin typeface="メイリオ"/>
                <a:ea typeface="メイリオ"/>
                <a:cs typeface="メイリオ"/>
              </a:rPr>
              <a:t>年収相場・職種図鑑の配信</a:t>
            </a:r>
          </a:p>
        </p:txBody>
      </p:sp>
      <p:sp>
        <p:nvSpPr>
          <p:cNvPr id="65" name="Rounded Rectangle 64"/>
          <p:cNvSpPr/>
          <p:nvPr/>
        </p:nvSpPr>
        <p:spPr>
          <a:xfrm>
            <a:off x="384345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0">
                <a:solidFill>
                  <a:srgbClr val="333333"/>
                </a:solidFill>
                <a:latin typeface="メイリオ"/>
                <a:ea typeface="メイリオ"/>
                <a:cs typeface="メイリオ"/>
              </a:rPr>
              <a:t>30秒の診断なら答える</a:t>
            </a:r>
          </a:p>
        </p:txBody>
      </p:sp>
      <p:sp>
        <p:nvSpPr>
          <p:cNvPr id="66" name="Rounded Rectangle 65"/>
          <p:cNvSpPr/>
          <p:nvPr/>
        </p:nvSpPr>
        <p:spPr>
          <a:xfrm>
            <a:off x="384345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1F285A"/>
                </a:solidFill>
                <a:latin typeface="メイリオ"/>
                <a:ea typeface="メイリオ"/>
                <a:cs typeface="メイリオ"/>
              </a:rPr>
              <a:t>あいさつ＋30秒適職診断</a:t>
            </a:r>
          </a:p>
        </p:txBody>
      </p:sp>
      <p:sp>
        <p:nvSpPr>
          <p:cNvPr id="67" name="Rounded Rectangle 66"/>
          <p:cNvSpPr/>
          <p:nvPr/>
        </p:nvSpPr>
        <p:spPr>
          <a:xfrm>
            <a:off x="498060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0">
                <a:solidFill>
                  <a:srgbClr val="333333"/>
                </a:solidFill>
                <a:latin typeface="メイリオ"/>
                <a:ea typeface="メイリオ"/>
                <a:cs typeface="メイリオ"/>
              </a:rPr>
              <a:t>電話は無理。夜なら話せる</a:t>
            </a:r>
          </a:p>
        </p:txBody>
      </p:sp>
      <p:sp>
        <p:nvSpPr>
          <p:cNvPr id="68" name="Rounded Rectangle 67"/>
          <p:cNvSpPr/>
          <p:nvPr/>
        </p:nvSpPr>
        <p:spPr>
          <a:xfrm>
            <a:off x="4980600" y="3636000"/>
            <a:ext cx="1083150" cy="108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FFFFFF"/>
                </a:solidFill>
                <a:latin typeface="メイリオ"/>
                <a:ea typeface="メイリオ"/>
                <a:cs typeface="メイリオ"/>
              </a:rPr>
              <a:t>LINEで面談予約＋前日リマインド</a:t>
            </a:r>
          </a:p>
        </p:txBody>
      </p:sp>
      <p:sp>
        <p:nvSpPr>
          <p:cNvPr id="69" name="Rounded Rectangle 68"/>
          <p:cNvSpPr/>
          <p:nvPr/>
        </p:nvSpPr>
        <p:spPr>
          <a:xfrm>
            <a:off x="6117749"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0">
                <a:solidFill>
                  <a:srgbClr val="333333"/>
                </a:solidFill>
                <a:latin typeface="メイリオ"/>
                <a:ea typeface="メイリオ"/>
                <a:cs typeface="メイリオ"/>
              </a:rPr>
              <a:t>自分に合う求人か見極めたい</a:t>
            </a:r>
          </a:p>
        </p:txBody>
      </p:sp>
      <p:sp>
        <p:nvSpPr>
          <p:cNvPr id="70" name="Rounded Rectangle 69"/>
          <p:cNvSpPr/>
          <p:nvPr/>
        </p:nvSpPr>
        <p:spPr>
          <a:xfrm>
            <a:off x="6117749"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1F285A"/>
                </a:solidFill>
                <a:latin typeface="メイリオ"/>
                <a:ea typeface="メイリオ"/>
                <a:cs typeface="メイリオ"/>
              </a:rPr>
              <a:t>地域別の求人ピックアップ</a:t>
            </a:r>
          </a:p>
        </p:txBody>
      </p:sp>
      <p:sp>
        <p:nvSpPr>
          <p:cNvPr id="71" name="Rounded Rectangle 70"/>
          <p:cNvSpPr/>
          <p:nvPr/>
        </p:nvSpPr>
        <p:spPr>
          <a:xfrm>
            <a:off x="725490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0">
                <a:solidFill>
                  <a:srgbClr val="333333"/>
                </a:solidFill>
                <a:latin typeface="メイリオ"/>
                <a:ea typeface="メイリオ"/>
                <a:cs typeface="メイリオ"/>
              </a:rPr>
              <a:t>本当にこの会社でいいか不安</a:t>
            </a:r>
          </a:p>
        </p:txBody>
      </p:sp>
      <p:sp>
        <p:nvSpPr>
          <p:cNvPr id="72" name="Rounded Rectangle 71"/>
          <p:cNvSpPr/>
          <p:nvPr/>
        </p:nvSpPr>
        <p:spPr>
          <a:xfrm>
            <a:off x="725490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1F285A"/>
                </a:solidFill>
                <a:latin typeface="メイリオ"/>
                <a:ea typeface="メイリオ"/>
                <a:cs typeface="メイリオ"/>
              </a:rPr>
              <a:t>不安に即答する自動応答・体験談</a:t>
            </a:r>
          </a:p>
        </p:txBody>
      </p:sp>
      <p:sp>
        <p:nvSpPr>
          <p:cNvPr id="73" name="Rounded Rectangle 72"/>
          <p:cNvSpPr/>
          <p:nvPr/>
        </p:nvSpPr>
        <p:spPr>
          <a:xfrm>
            <a:off x="8392050" y="2484000"/>
            <a:ext cx="1083150" cy="90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0">
                <a:solidFill>
                  <a:srgbClr val="333333"/>
                </a:solidFill>
                <a:latin typeface="メイリオ"/>
                <a:ea typeface="メイリオ"/>
                <a:cs typeface="メイリオ"/>
              </a:rPr>
              <a:t>入社後のギャップが不安</a:t>
            </a:r>
          </a:p>
        </p:txBody>
      </p:sp>
      <p:sp>
        <p:nvSpPr>
          <p:cNvPr id="74" name="Rounded Rectangle 73"/>
          <p:cNvSpPr/>
          <p:nvPr/>
        </p:nvSpPr>
        <p:spPr>
          <a:xfrm>
            <a:off x="8392050" y="3636000"/>
            <a:ext cx="1083150" cy="1080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50" b="1">
                <a:solidFill>
                  <a:srgbClr val="1F285A"/>
                </a:solidFill>
                <a:latin typeface="メイリオ"/>
                <a:ea typeface="メイリオ"/>
                <a:cs typeface="メイリオ"/>
              </a:rPr>
              <a:t>定着フォロー・友だち紹介</a:t>
            </a:r>
          </a:p>
        </p:txBody>
      </p:sp>
      <p:sp>
        <p:nvSpPr>
          <p:cNvPr id="75" name="Rounded Rectangle 74"/>
          <p:cNvSpPr/>
          <p:nvPr/>
        </p:nvSpPr>
        <p:spPr>
          <a:xfrm>
            <a:off x="432000" y="49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300" b="1">
                <a:solidFill>
                  <a:srgbClr val="FFFFFF"/>
                </a:solidFill>
                <a:latin typeface="メイリオ"/>
                <a:ea typeface="メイリオ"/>
                <a:cs typeface="メイリオ"/>
              </a:rPr>
              <a:t>①〜④で友だちにし、⑤面談を成果（CV）に。⑥〜⑧も同じLINEで就業・定着まで運ぶ。</a:t>
            </a:r>
          </a:p>
        </p:txBody>
      </p:sp>
      <p:sp>
        <p:nvSpPr>
          <p:cNvPr id="76" name="Rectangle 75"/>
          <p:cNvSpPr/>
          <p:nvPr/>
        </p:nvSpPr>
        <p:spPr>
          <a:xfrm>
            <a:off x="432000" y="5400000"/>
            <a:ext cx="9036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950" b="0">
                <a:solidFill>
                  <a:srgbClr val="7F7F7F"/>
                </a:solidFill>
                <a:latin typeface="メイリオ"/>
                <a:ea typeface="メイリオ"/>
                <a:cs typeface="メイリオ"/>
              </a:rPr>
              <a:t>※ 各フェーズの具体策は、改善モデル①〜④（P41〜44）</a:t>
            </a:r>
          </a:p>
        </p:txBody>
      </p:sp>
    </p:spTree>
    <p:extLst>
      <p:ext uri="{BB962C8B-B14F-4D97-AF65-F5344CB8AC3E}">
        <p14:creationId xmlns:p14="http://schemas.microsoft.com/office/powerpoint/2010/main" val="507335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施策の考え方｜どこでLINEにつなぐか（3パターン）</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300" b="0">
                <a:solidFill>
                  <a:srgbClr val="333333"/>
                </a:solidFill>
                <a:latin typeface="メイリオ"/>
                <a:ea typeface="メイリオ"/>
                <a:cs typeface="メイリオ"/>
              </a:rPr>
              <a:t>LINEにつなぐ地点で、3つの型に分かれます。</a:t>
            </a:r>
          </a:p>
          <a:p>
            <a:pPr algn="l"/>
            <a:r>
              <a:rPr sz="1300" b="0">
                <a:solidFill>
                  <a:srgbClr val="333333"/>
                </a:solidFill>
                <a:latin typeface="メイリオ"/>
                <a:ea typeface="メイリオ"/>
                <a:cs typeface="メイリオ"/>
              </a:rPr>
              <a:t>チェングロウスは「電話なしで面談まで進める」B 日程調整型が本命です。</a:t>
            </a:r>
          </a:p>
        </p:txBody>
      </p:sp>
      <p:sp>
        <p:nvSpPr>
          <p:cNvPr id="47" name="Rounded Rectangle 46"/>
          <p:cNvSpPr/>
          <p:nvPr/>
        </p:nvSpPr>
        <p:spPr>
          <a:xfrm>
            <a:off x="432000" y="1548000"/>
            <a:ext cx="9043200" cy="1278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48" name="Rounded Rectangle 47"/>
          <p:cNvSpPr/>
          <p:nvPr/>
        </p:nvSpPr>
        <p:spPr>
          <a:xfrm>
            <a:off x="522000" y="1655999"/>
            <a:ext cx="1440000" cy="1062000"/>
          </a:xfrm>
          <a:prstGeom prst="roundRect">
            <a:avLst>
              <a:gd name="adj" fmla="val 8000"/>
            </a:avLst>
          </a:prstGeom>
          <a:solidFill>
            <a:srgbClr val="5A6378"/>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00" b="1">
                <a:solidFill>
                  <a:srgbClr val="FFFFFF"/>
                </a:solidFill>
                <a:latin typeface="メイリオ"/>
                <a:ea typeface="メイリオ"/>
                <a:cs typeface="メイリオ"/>
              </a:rPr>
              <a:t>パターンA</a:t>
            </a:r>
          </a:p>
          <a:p>
            <a:pPr algn="ctr"/>
            <a:r>
              <a:rPr sz="1300" b="1">
                <a:solidFill>
                  <a:srgbClr val="FFFFFF"/>
                </a:solidFill>
                <a:latin typeface="メイリオ"/>
                <a:ea typeface="メイリオ"/>
                <a:cs typeface="メイリオ"/>
              </a:rPr>
              <a:t>会員登録型</a:t>
            </a:r>
          </a:p>
        </p:txBody>
      </p:sp>
      <p:sp>
        <p:nvSpPr>
          <p:cNvPr id="49" name="Rounded Rectangle 48"/>
          <p:cNvSpPr/>
          <p:nvPr/>
        </p:nvSpPr>
        <p:spPr>
          <a:xfrm>
            <a:off x="2070000" y="1673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求人応募・登録</a:t>
            </a:r>
          </a:p>
        </p:txBody>
      </p:sp>
      <p:cxnSp>
        <p:nvCxnSpPr>
          <p:cNvPr id="50" name="Connector 49"/>
          <p:cNvCxnSpPr/>
          <p:nvPr/>
        </p:nvCxnSpPr>
        <p:spPr>
          <a:xfrm>
            <a:off x="3103199" y="1897199"/>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221999" y="1673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面談</a:t>
            </a:r>
          </a:p>
        </p:txBody>
      </p:sp>
      <p:cxnSp>
        <p:nvCxnSpPr>
          <p:cNvPr id="52" name="Connector 51"/>
          <p:cNvCxnSpPr/>
          <p:nvPr/>
        </p:nvCxnSpPr>
        <p:spPr>
          <a:xfrm>
            <a:off x="4255199" y="1897199"/>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4374000" y="1673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求人紹介</a:t>
            </a:r>
          </a:p>
        </p:txBody>
      </p:sp>
      <p:cxnSp>
        <p:nvCxnSpPr>
          <p:cNvPr id="54" name="Connector 53"/>
          <p:cNvCxnSpPr/>
          <p:nvPr/>
        </p:nvCxnSpPr>
        <p:spPr>
          <a:xfrm>
            <a:off x="5407200" y="1897199"/>
            <a:ext cx="111600"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526000" y="1673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内定・就業</a:t>
            </a:r>
          </a:p>
        </p:txBody>
      </p:sp>
      <p:sp>
        <p:nvSpPr>
          <p:cNvPr id="56" name="Rectangle 55"/>
          <p:cNvSpPr/>
          <p:nvPr/>
        </p:nvSpPr>
        <p:spPr>
          <a:xfrm>
            <a:off x="2070000" y="2196000"/>
            <a:ext cx="4464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050" b="0">
                <a:solidFill>
                  <a:srgbClr val="333333"/>
                </a:solidFill>
                <a:latin typeface="メイリオ"/>
                <a:ea typeface="メイリオ"/>
                <a:cs typeface="メイリオ"/>
              </a:rPr>
              <a:t>友だち化を早く済ませ、休眠層に再アプローチできる</a:t>
            </a:r>
          </a:p>
        </p:txBody>
      </p:sp>
      <p:sp>
        <p:nvSpPr>
          <p:cNvPr id="57" name="Rounded Rectangle 56"/>
          <p:cNvSpPr/>
          <p:nvPr/>
        </p:nvSpPr>
        <p:spPr>
          <a:xfrm>
            <a:off x="6750000" y="1655999"/>
            <a:ext cx="2628000" cy="106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050" b="1">
                <a:solidFill>
                  <a:srgbClr val="1F285A"/>
                </a:solidFill>
                <a:latin typeface="メイリオ"/>
                <a:ea typeface="メイリオ"/>
                <a:cs typeface="メイリオ"/>
              </a:rPr>
              <a:t>求人応募の完了画面からLINEへ（サンクスLINE誘導）</a:t>
            </a:r>
          </a:p>
        </p:txBody>
      </p:sp>
      <p:sp>
        <p:nvSpPr>
          <p:cNvPr id="58" name="Rounded Rectangle 57"/>
          <p:cNvSpPr/>
          <p:nvPr/>
        </p:nvSpPr>
        <p:spPr>
          <a:xfrm>
            <a:off x="432000" y="2916000"/>
            <a:ext cx="9043200" cy="1278000"/>
          </a:xfrm>
          <a:prstGeom prst="roundRect">
            <a:avLst>
              <a:gd name="adj" fmla="val 8000"/>
            </a:avLst>
          </a:prstGeom>
          <a:solidFill>
            <a:srgbClr val="FFFFFF"/>
          </a:solidFill>
          <a:ln w="317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59" name="Rounded Rectangle 58"/>
          <p:cNvSpPr/>
          <p:nvPr/>
        </p:nvSpPr>
        <p:spPr>
          <a:xfrm>
            <a:off x="522000" y="3024000"/>
            <a:ext cx="1440000" cy="106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00" b="1">
                <a:solidFill>
                  <a:srgbClr val="FFFFFF"/>
                </a:solidFill>
                <a:latin typeface="メイリオ"/>
                <a:ea typeface="メイリオ"/>
                <a:cs typeface="メイリオ"/>
              </a:rPr>
              <a:t>パターンB ★本命</a:t>
            </a:r>
          </a:p>
          <a:p>
            <a:pPr algn="ctr"/>
            <a:r>
              <a:rPr sz="1300" b="1">
                <a:solidFill>
                  <a:srgbClr val="FFFFFF"/>
                </a:solidFill>
                <a:latin typeface="メイリオ"/>
                <a:ea typeface="メイリオ"/>
                <a:cs typeface="メイリオ"/>
              </a:rPr>
              <a:t>日程調整型</a:t>
            </a:r>
          </a:p>
        </p:txBody>
      </p:sp>
      <p:sp>
        <p:nvSpPr>
          <p:cNvPr id="60" name="Rounded Rectangle 59"/>
          <p:cNvSpPr/>
          <p:nvPr/>
        </p:nvSpPr>
        <p:spPr>
          <a:xfrm>
            <a:off x="2070000" y="3041999"/>
            <a:ext cx="1026000" cy="450000"/>
          </a:xfrm>
          <a:prstGeom prst="roundRect">
            <a:avLst>
              <a:gd name="adj" fmla="val 8000"/>
            </a:avLst>
          </a:prstGeom>
          <a:solidFill>
            <a:srgbClr val="FFE69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30秒診断（LINE）</a:t>
            </a:r>
          </a:p>
        </p:txBody>
      </p:sp>
      <p:cxnSp>
        <p:nvCxnSpPr>
          <p:cNvPr id="61" name="Connector 60"/>
          <p:cNvCxnSpPr/>
          <p:nvPr/>
        </p:nvCxnSpPr>
        <p:spPr>
          <a:xfrm>
            <a:off x="3103199" y="3265200"/>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3221999" y="3041999"/>
            <a:ext cx="1026000" cy="450000"/>
          </a:xfrm>
          <a:prstGeom prst="roundRect">
            <a:avLst>
              <a:gd name="adj" fmla="val 8000"/>
            </a:avLst>
          </a:prstGeom>
          <a:solidFill>
            <a:srgbClr val="FFE69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LINEで面談予約</a:t>
            </a:r>
          </a:p>
        </p:txBody>
      </p:sp>
      <p:cxnSp>
        <p:nvCxnSpPr>
          <p:cNvPr id="63" name="Connector 62"/>
          <p:cNvCxnSpPr/>
          <p:nvPr/>
        </p:nvCxnSpPr>
        <p:spPr>
          <a:xfrm>
            <a:off x="4255199" y="3265200"/>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4374000" y="3041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面談・求人紹介</a:t>
            </a:r>
          </a:p>
        </p:txBody>
      </p:sp>
      <p:cxnSp>
        <p:nvCxnSpPr>
          <p:cNvPr id="65" name="Connector 64"/>
          <p:cNvCxnSpPr/>
          <p:nvPr/>
        </p:nvCxnSpPr>
        <p:spPr>
          <a:xfrm>
            <a:off x="5407200" y="3265200"/>
            <a:ext cx="111600"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5526000" y="3041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内定・就業</a:t>
            </a:r>
          </a:p>
        </p:txBody>
      </p:sp>
      <p:sp>
        <p:nvSpPr>
          <p:cNvPr id="67" name="Rectangle 66"/>
          <p:cNvSpPr/>
          <p:nvPr/>
        </p:nvSpPr>
        <p:spPr>
          <a:xfrm>
            <a:off x="2070000" y="3564000"/>
            <a:ext cx="4464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050" b="0">
                <a:solidFill>
                  <a:srgbClr val="333333"/>
                </a:solidFill>
                <a:latin typeface="メイリオ"/>
                <a:ea typeface="メイリオ"/>
                <a:cs typeface="メイリオ"/>
              </a:rPr>
              <a:t>電話なしで面談まで進める。在職中の整備士に合う</a:t>
            </a:r>
          </a:p>
        </p:txBody>
      </p:sp>
      <p:sp>
        <p:nvSpPr>
          <p:cNvPr id="68" name="Rounded Rectangle 67"/>
          <p:cNvSpPr/>
          <p:nvPr/>
        </p:nvSpPr>
        <p:spPr>
          <a:xfrm>
            <a:off x="6750000" y="3024000"/>
            <a:ext cx="2628000" cy="106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050" b="1">
                <a:solidFill>
                  <a:srgbClr val="1F285A"/>
                </a:solidFill>
                <a:latin typeface="メイリオ"/>
                <a:ea typeface="メイリオ"/>
                <a:cs typeface="メイリオ"/>
              </a:rPr>
              <a:t>本提案の主軸（3日目・14日目に面談をご案内）</a:t>
            </a:r>
          </a:p>
        </p:txBody>
      </p:sp>
      <p:sp>
        <p:nvSpPr>
          <p:cNvPr id="69" name="Rounded Rectangle 68"/>
          <p:cNvSpPr/>
          <p:nvPr/>
        </p:nvSpPr>
        <p:spPr>
          <a:xfrm>
            <a:off x="432000" y="4283999"/>
            <a:ext cx="9043200" cy="1278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70" name="Rounded Rectangle 69"/>
          <p:cNvSpPr/>
          <p:nvPr/>
        </p:nvSpPr>
        <p:spPr>
          <a:xfrm>
            <a:off x="522000" y="4392000"/>
            <a:ext cx="1440000" cy="1062000"/>
          </a:xfrm>
          <a:prstGeom prst="roundRect">
            <a:avLst>
              <a:gd name="adj" fmla="val 8000"/>
            </a:avLst>
          </a:prstGeom>
          <a:solidFill>
            <a:srgbClr val="5A6378"/>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00" b="1">
                <a:solidFill>
                  <a:srgbClr val="FFFFFF"/>
                </a:solidFill>
                <a:latin typeface="メイリオ"/>
                <a:ea typeface="メイリオ"/>
                <a:cs typeface="メイリオ"/>
              </a:rPr>
              <a:t>パターンC</a:t>
            </a:r>
          </a:p>
          <a:p>
            <a:pPr algn="ctr"/>
            <a:r>
              <a:rPr sz="1300" b="1">
                <a:solidFill>
                  <a:srgbClr val="FFFFFF"/>
                </a:solidFill>
                <a:latin typeface="メイリオ"/>
                <a:ea typeface="メイリオ"/>
                <a:cs typeface="メイリオ"/>
              </a:rPr>
              <a:t>LINE内完結型</a:t>
            </a:r>
          </a:p>
        </p:txBody>
      </p:sp>
      <p:sp>
        <p:nvSpPr>
          <p:cNvPr id="71" name="Rounded Rectangle 70"/>
          <p:cNvSpPr/>
          <p:nvPr/>
        </p:nvSpPr>
        <p:spPr>
          <a:xfrm>
            <a:off x="2070000" y="4409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診断（LINE）</a:t>
            </a:r>
          </a:p>
        </p:txBody>
      </p:sp>
      <p:cxnSp>
        <p:nvCxnSpPr>
          <p:cNvPr id="72" name="Connector 71"/>
          <p:cNvCxnSpPr/>
          <p:nvPr/>
        </p:nvCxnSpPr>
        <p:spPr>
          <a:xfrm>
            <a:off x="3103199" y="4633200"/>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3221999" y="4409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LINE内で求人紹介</a:t>
            </a:r>
          </a:p>
        </p:txBody>
      </p:sp>
      <p:cxnSp>
        <p:nvCxnSpPr>
          <p:cNvPr id="74" name="Connector 73"/>
          <p:cNvCxnSpPr/>
          <p:nvPr/>
        </p:nvCxnSpPr>
        <p:spPr>
          <a:xfrm>
            <a:off x="4255199" y="4633200"/>
            <a:ext cx="111601"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4374000" y="4409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興味があれば面談</a:t>
            </a:r>
          </a:p>
        </p:txBody>
      </p:sp>
      <p:cxnSp>
        <p:nvCxnSpPr>
          <p:cNvPr id="76" name="Connector 75"/>
          <p:cNvCxnSpPr/>
          <p:nvPr/>
        </p:nvCxnSpPr>
        <p:spPr>
          <a:xfrm>
            <a:off x="5407200" y="4633200"/>
            <a:ext cx="111600" cy="0"/>
          </a:xfrm>
          <a:prstGeom prst="line">
            <a:avLst/>
          </a:prstGeom>
          <a:ln w="15875">
            <a:solidFill>
              <a:srgbClr val="8C8C8C"/>
            </a:solidFill>
            <a:tailEnd type="triangle"/>
          </a:ln>
        </p:spPr>
        <p:style>
          <a:lnRef idx="2">
            <a:schemeClr val="accent1"/>
          </a:lnRef>
          <a:fillRef idx="0">
            <a:schemeClr val="accent1"/>
          </a:fillRef>
          <a:effectRef idx="1">
            <a:schemeClr val="accent1"/>
          </a:effectRef>
          <a:fontRef idx="minor">
            <a:schemeClr val="tx1"/>
          </a:fontRef>
        </p:style>
      </p:cxnSp>
      <p:sp>
        <p:nvSpPr>
          <p:cNvPr id="77" name="Rounded Rectangle 76"/>
          <p:cNvSpPr/>
          <p:nvPr/>
        </p:nvSpPr>
        <p:spPr>
          <a:xfrm>
            <a:off x="5526000" y="4409999"/>
            <a:ext cx="1026000" cy="450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000" b="1">
                <a:solidFill>
                  <a:srgbClr val="333333"/>
                </a:solidFill>
                <a:latin typeface="メイリオ"/>
                <a:ea typeface="メイリオ"/>
                <a:cs typeface="メイリオ"/>
              </a:rPr>
              <a:t>内定・就業</a:t>
            </a:r>
          </a:p>
        </p:txBody>
      </p:sp>
      <p:sp>
        <p:nvSpPr>
          <p:cNvPr id="78" name="Rectangle 77"/>
          <p:cNvSpPr/>
          <p:nvPr/>
        </p:nvSpPr>
        <p:spPr>
          <a:xfrm>
            <a:off x="2070000" y="4932000"/>
            <a:ext cx="4464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050" b="0">
                <a:solidFill>
                  <a:srgbClr val="333333"/>
                </a:solidFill>
                <a:latin typeface="メイリオ"/>
                <a:ea typeface="メイリオ"/>
                <a:cs typeface="メイリオ"/>
              </a:rPr>
              <a:t>人手を増やさずに、多くの友だちをさばける</a:t>
            </a:r>
          </a:p>
        </p:txBody>
      </p:sp>
      <p:sp>
        <p:nvSpPr>
          <p:cNvPr id="79" name="Rounded Rectangle 78"/>
          <p:cNvSpPr/>
          <p:nvPr/>
        </p:nvSpPr>
        <p:spPr>
          <a:xfrm>
            <a:off x="6750000" y="4392000"/>
            <a:ext cx="2628000" cy="106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050" b="1">
                <a:solidFill>
                  <a:srgbClr val="1F285A"/>
                </a:solidFill>
                <a:latin typeface="メイリオ"/>
                <a:ea typeface="メイリオ"/>
                <a:cs typeface="メイリオ"/>
              </a:rPr>
              <a:t>中長期（地域別の求人配信が育ってから）</a:t>
            </a:r>
          </a:p>
        </p:txBody>
      </p:sp>
      <p:sp>
        <p:nvSpPr>
          <p:cNvPr id="80" name="Rounded Rectangle 79"/>
          <p:cNvSpPr/>
          <p:nvPr/>
        </p:nvSpPr>
        <p:spPr>
          <a:xfrm>
            <a:off x="432000" y="574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300" b="1">
                <a:solidFill>
                  <a:srgbClr val="FFFFFF"/>
                </a:solidFill>
                <a:latin typeface="メイリオ"/>
                <a:ea typeface="メイリオ"/>
                <a:cs typeface="メイリオ"/>
              </a:rPr>
              <a:t>まずBで「電話なしで面談まで」をつくり、Aで応募者を、Cで友だち資産を広げる。</a:t>
            </a:r>
          </a:p>
        </p:txBody>
      </p:sp>
    </p:spTree>
    <p:extLst>
      <p:ext uri="{BB962C8B-B14F-4D97-AF65-F5344CB8AC3E}">
        <p14:creationId xmlns:p14="http://schemas.microsoft.com/office/powerpoint/2010/main" val="3651825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また、職種・年収コンテンツの展開でサービス理解度を引き上げ、来店意欲</a:t>
            </a:r>
            <a:r>
              <a:rPr lang="en-US" altLang="ja-JP"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を狙う。</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7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7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5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①離脱ユーザーの再育成（再アプローチ）による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②応募に至らない検討ユーザーの面談化 → 就業サポート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869BC935-5DB9-4560-B356-B396B93603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7880C836-A2BC-2FC7-3468-9B9075E279C9}"/>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01B38E14-DD7E-D8D3-B41B-B992885905C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¥245,000</a:t>
            </a:r>
            <a:endParaRPr kumimoji="1" lang="ja-JP" altLang="en-US" sz="1400" dirty="0">
              <a:solidFill>
                <a:schemeClr val="tx1"/>
              </a:solidFill>
              <a:latin typeface="メイリオ" panose="020B0604030504040204" pitchFamily="50" charset="-128"/>
              <a:ea typeface="メイリオ" panose="020B0604030504040204" pitchFamily="50" charset="-128"/>
            </a:endParaRPr>
          </a:p>
          <a:p>
            <a:pPr algn="ctr"/>
            <a:r>
              <a:rPr kumimoji="1" lang="en-US" altLang="ja-JP" sz="900" b="0" dirty="0">
                <a:solidFill>
                  <a:schemeClr val="tx1"/>
                </a:solidFill>
                <a:latin typeface="メイリオ" panose="020B0604030504040204" pitchFamily="50" charset="-128"/>
                <a:ea typeface="メイリオ" panose="020B0604030504040204" pitchFamily="50" charset="-128"/>
              </a:rPr>
              <a:t>構築20万＋離脱防止1.5万＋アカウント3万</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D37009A-88DD-861E-09A2-546B9A58E210}"/>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コンサル費 ¥150,000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離脱防止 ¥30,000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アカウント費 ¥5,000〜</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FC496752-169B-38CE-883D-84ADB306D799}"/>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A148636-1253-1384-2015-E2EB8852C9F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51BCDCE3-E0DC-64C9-5AE4-D62A1BB2F0B2}"/>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3377C5E-E0F0-CDD7-88D4-BB2DFD34BDB7}"/>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423E80D8-0677-EA4F-9E76-E96BE86C80F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0D7C10C7-D0BA-2429-4E3C-3C9B1A0BD42B}"/>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4回</a:t>
            </a:r>
          </a:p>
        </p:txBody>
      </p:sp>
      <p:sp>
        <p:nvSpPr>
          <p:cNvPr id="33" name="正方形/長方形 32">
            <a:extLst>
              <a:ext uri="{FF2B5EF4-FFF2-40B4-BE49-F238E27FC236}">
                <a16:creationId xmlns:a16="http://schemas.microsoft.com/office/drawing/2014/main" id="{7C01E0B6-089E-D0CB-E2F1-931D297B273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8E28FD05-4146-E3E7-076F-F0405244D430}"/>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0BCA0670-1E25-A137-DE69-4285D1972C41}"/>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BABF4F76-4A93-A922-BEA6-2B8E93EAFA64}"/>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B9BBAE1C-A24C-C8BA-EC21-E3C3004B99D5}"/>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5356490D-00B0-A4A4-46A8-C05373647872}"/>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1回</a:t>
            </a:r>
          </a:p>
        </p:txBody>
      </p:sp>
      <p:sp>
        <p:nvSpPr>
          <p:cNvPr id="66" name="正方形/長方形 65">
            <a:extLst>
              <a:ext uri="{FF2B5EF4-FFF2-40B4-BE49-F238E27FC236}">
                <a16:creationId xmlns:a16="http://schemas.microsoft.com/office/drawing/2014/main" id="{1B7BC116-FC44-14F8-A570-7E8F4A6BB425}"/>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ステップ改善</a:t>
            </a:r>
          </a:p>
        </p:txBody>
      </p:sp>
      <p:sp>
        <p:nvSpPr>
          <p:cNvPr id="70" name="正方形/長方形 69">
            <a:extLst>
              <a:ext uri="{FF2B5EF4-FFF2-40B4-BE49-F238E27FC236}">
                <a16:creationId xmlns:a16="http://schemas.microsoft.com/office/drawing/2014/main" id="{4F35ECFF-76E2-1684-79A2-B91FDAC2A015}"/>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ABテスト随時</a:t>
            </a:r>
          </a:p>
        </p:txBody>
      </p:sp>
      <p:sp>
        <p:nvSpPr>
          <p:cNvPr id="80" name="正方形/長方形 79">
            <a:extLst>
              <a:ext uri="{FF2B5EF4-FFF2-40B4-BE49-F238E27FC236}">
                <a16:creationId xmlns:a16="http://schemas.microsoft.com/office/drawing/2014/main" id="{4D93C7A0-5D0C-D57D-DA97-71D42D2D5517}"/>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6F215F53-D8D8-2192-C7D6-49E3B32E635B}"/>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有効友だち</a:t>
            </a:r>
          </a:p>
        </p:txBody>
      </p:sp>
      <p:sp>
        <p:nvSpPr>
          <p:cNvPr id="84" name="正方形/長方形 83">
            <a:extLst>
              <a:ext uri="{FF2B5EF4-FFF2-40B4-BE49-F238E27FC236}">
                <a16:creationId xmlns:a16="http://schemas.microsoft.com/office/drawing/2014/main" id="{F86385E5-9ACB-BD7D-FFF1-9DCAFEF8B9DE}"/>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70CAF89E-948C-8174-50B7-652B3FB76359}"/>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あいさつ＋診断</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5597D5C-32BC-9BDB-E27E-1B11A18AC67F}"/>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1回（4問）</a:t>
            </a:r>
          </a:p>
        </p:txBody>
      </p:sp>
      <p:sp>
        <p:nvSpPr>
          <p:cNvPr id="18" name="正方形/長方形 17">
            <a:extLst>
              <a:ext uri="{FF2B5EF4-FFF2-40B4-BE49-F238E27FC236}">
                <a16:creationId xmlns:a16="http://schemas.microsoft.com/office/drawing/2014/main" id="{090DF4E7-D151-CBC4-8EE6-8BDDE6D781F4}"/>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BF367B4C-D17E-5506-831E-4FEBA9B6D301}"/>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3タブ×6枠</a:t>
            </a:r>
          </a:p>
        </p:txBody>
      </p:sp>
      <p:sp>
        <p:nvSpPr>
          <p:cNvPr id="26" name="正方形/長方形 25">
            <a:extLst>
              <a:ext uri="{FF2B5EF4-FFF2-40B4-BE49-F238E27FC236}">
                <a16:creationId xmlns:a16="http://schemas.microsoft.com/office/drawing/2014/main" id="{E7327D35-78D9-E895-4E23-A03DB4CE4A0C}"/>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A410D671-A6B2-5AE8-F4DD-54B5BBF27257}"/>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構築×10</a:t>
            </a:r>
          </a:p>
        </p:txBody>
      </p:sp>
      <p:sp>
        <p:nvSpPr>
          <p:cNvPr id="34" name="正方形/長方形 33">
            <a:extLst>
              <a:ext uri="{FF2B5EF4-FFF2-40B4-BE49-F238E27FC236}">
                <a16:creationId xmlns:a16="http://schemas.microsoft.com/office/drawing/2014/main" id="{9B0CC343-76BC-C31F-6705-9435FB623B52}"/>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離脱防止</a:t>
            </a:r>
          </a:p>
        </p:txBody>
      </p:sp>
      <p:sp>
        <p:nvSpPr>
          <p:cNvPr id="38" name="正方形/長方形 37">
            <a:extLst>
              <a:ext uri="{FF2B5EF4-FFF2-40B4-BE49-F238E27FC236}">
                <a16:creationId xmlns:a16="http://schemas.microsoft.com/office/drawing/2014/main" id="{49ED896C-A686-A829-DAA8-B1457276C2D4}"/>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ポップアップ設置</a:t>
            </a:r>
          </a:p>
        </p:txBody>
      </p:sp>
      <p:sp>
        <p:nvSpPr>
          <p:cNvPr id="42" name="正方形/長方形 41">
            <a:extLst>
              <a:ext uri="{FF2B5EF4-FFF2-40B4-BE49-F238E27FC236}">
                <a16:creationId xmlns:a16="http://schemas.microsoft.com/office/drawing/2014/main" id="{C65954D2-6D54-912C-BFAD-8EED93525578}"/>
              </a:ext>
            </a:extLst>
          </p:cNvPr>
          <p:cNvSpPr/>
          <p:nvPr/>
        </p:nvSpPr>
        <p:spPr>
          <a:xfrm>
            <a:off x="379976" y="5185247"/>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038AF25-F542-6F19-F289-5B1A91D9EA78}"/>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2241A890-8CD9-48E8-BAC6-6130718F79E3}"/>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約4,350人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CA402BB-70E0-1712-5155-FB13E1EFE697}"/>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約2,350人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F1C71F01-1D77-2899-A43D-B86BFA13E86D}"/>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2,390件/月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23件/月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62E19C90-7458-8C36-243E-9FE1F44520EC}"/>
              </a:ext>
            </a:extLst>
          </p:cNvPr>
          <p:cNvSpPr txBox="1"/>
          <p:nvPr/>
        </p:nvSpPr>
        <p:spPr>
          <a:xfrm>
            <a:off x="6746399" y="3906000"/>
            <a:ext cx="2901600" cy="1080000"/>
          </a:xfrm>
          <a:prstGeom prst="rect">
            <a:avLst/>
          </a:prstGeom>
          <a:noFill/>
        </p:spPr>
        <p:txBody>
          <a:bodyPr wrap="square">
            <a:spAutoFit/>
          </a:bodyPr>
          <a:lstStyle/>
          <a:p>
            <a:pPr algn="ctr"/>
            <a:r>
              <a:rPr lang="ja-JP" altLang="en-US" sz="1100" b="1" dirty="0">
                <a:latin typeface="メイリオ" panose="020B0604030504040204" pitchFamily="50" charset="-128"/>
                <a:ea typeface="メイリオ" panose="020B0604030504040204" pitchFamily="50" charset="-128"/>
              </a:rPr>
              <a:t>半年累計89件・累計CPA 29,697円</a:t>
            </a:r>
            <a:endParaRPr kumimoji="1" lang="ja-JP" altLang="en-US" sz="1200" b="1" dirty="0">
              <a:latin typeface="メイリオ" panose="020B0604030504040204" pitchFamily="50" charset="-128"/>
              <a:ea typeface="メイリオ" panose="020B0604030504040204" pitchFamily="50" charset="-128"/>
            </a:endParaRPr>
          </a:p>
          <a:p>
            <a:pPr algn="ctr"/>
            <a:r>
              <a:rPr lang="ja-JP" altLang="en-US" sz="950" b="0" dirty="0">
                <a:solidFill>
                  <a:srgbClr val="333333"/>
                </a:solidFill>
                <a:latin typeface="メイリオ" panose="020B0604030504040204" pitchFamily="50" charset="-128"/>
                <a:ea typeface="メイリオ" panose="020B0604030504040204" pitchFamily="50" charset="-128"/>
              </a:rPr>
              <a:t>現状の整備士CPA 6万円の約半分</a:t>
            </a:r>
            <a:endParaRPr kumimoji="1" lang="ja-JP" altLang="en-US" sz="1200" b="1" dirty="0">
              <a:latin typeface="メイリオ" panose="020B0604030504040204" pitchFamily="50" charset="-128"/>
              <a:ea typeface="メイリオ" panose="020B0604030504040204" pitchFamily="50" charset="-128"/>
            </a:endParaRPr>
          </a:p>
          <a:p>
            <a:pPr algn="ctr"/>
            <a:r>
              <a:rPr lang="ja-JP" altLang="en-US" sz="900" b="0" dirty="0">
                <a:solidFill>
                  <a:srgbClr val="7F7F7F"/>
                </a:solidFill>
                <a:latin typeface="メイリオ" panose="020B0604030504040204" pitchFamily="50" charset="-128"/>
                <a:ea typeface="メイリオ" panose="020B0604030504040204" pitchFamily="50" charset="-128"/>
              </a:rPr>
              <a:t>参考：CPFなし＝半年4件</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Meta広告の目的を「応募獲得」から「友だち獲得」へ切り替え（広告費は据え置き）、</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初期24.5万円・月額18.5万円〜の運用で、面談・応募を半年89件と見込みます。</a:t>
            </a:r>
          </a:p>
        </p:txBody>
      </p:sp>
      <p:sp>
        <p:nvSpPr>
          <p:cNvPr id="88" name="TextBox 1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SIM①（CPFあり・コンサル運営）より。前提：UU3,215（SimilarWeb推計）・CPF単価300円（LINEヤフー公式事例）ほか仮置き値を含む</a:t>
            </a:r>
          </a:p>
        </p:txBody>
      </p:sp>
      <p:sp>
        <p:nvSpPr>
          <p:cNvPr id="87" name="TextBox 86"/>
          <p:cNvSpPr txBox="1"/>
          <p:nvPr/>
        </p:nvSpPr>
        <p:spPr>
          <a:xfrm>
            <a:off x="381600" y="5670000"/>
            <a:ext cx="9144000" cy="342000"/>
          </a:xfrm>
          <a:prstGeom prst="rect">
            <a:avLst/>
          </a:prstGeom>
          <a:noFill/>
        </p:spPr>
        <p:txBody>
          <a:bodyPr wrap="square" lIns="36000" rIns="36000" anchor="t">
            <a:spAutoFit/>
          </a:bodyPr>
          <a:lstStyle/>
          <a:p>
            <a:pPr algn="l"/>
            <a:r>
              <a:rPr sz="1000" b="0">
                <a:solidFill>
                  <a:srgbClr val="595959"/>
                </a:solidFill>
                <a:latin typeface="メイリオ"/>
                <a:ea typeface="メイリオ"/>
                <a:cs typeface="メイリオ"/>
              </a:rPr>
              <a:t>※ 別途 CPF広告費 月20.8万円は、既存Meta予算（年250万円）からの転用＝追加出費ゼロ。</a:t>
            </a:r>
          </a:p>
          <a:p>
            <a:pPr algn="l"/>
            <a:r>
              <a:rPr sz="1000" b="0">
                <a:solidFill>
                  <a:srgbClr val="595959"/>
                </a:solidFill>
                <a:latin typeface="メイリオ"/>
                <a:ea typeface="メイリオ"/>
                <a:cs typeface="メイリオ"/>
              </a:rPr>
              <a:t>※ アカウント費は配信数に応じて自動切替（5,000円→3ヶ月目以降15,000円）。</a:t>
            </a:r>
          </a:p>
        </p:txBody>
      </p:sp>
      <p:sp>
        <p:nvSpPr>
          <p:cNvPr id="89" name="Rounded Rectangle 88"/>
          <p:cNvSpPr/>
          <p:nvPr/>
        </p:nvSpPr>
        <p:spPr>
          <a:xfrm>
            <a:off x="6746399" y="5040000"/>
            <a:ext cx="2901600" cy="558000"/>
          </a:xfrm>
          <a:prstGeom prst="roundRect">
            <a:avLst>
              <a:gd name="adj" fmla="val 8000"/>
            </a:avLst>
          </a:prstGeom>
          <a:solidFill>
            <a:srgbClr val="FFFFFF"/>
          </a:solidFill>
          <a:ln w="254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1F285A"/>
                </a:solidFill>
                <a:latin typeface="メイリオ"/>
                <a:ea typeface="メイリオ"/>
                <a:cs typeface="メイリオ"/>
              </a:rPr>
              <a:t>損益分岐：半年で約3人の就業で回収</a:t>
            </a:r>
          </a:p>
          <a:p>
            <a:pPr algn="ctr"/>
            <a:r>
              <a:rPr sz="900" b="0">
                <a:solidFill>
                  <a:srgbClr val="7F7F7F"/>
                </a:solidFill>
                <a:latin typeface="メイリオ"/>
                <a:ea typeface="メイリオ"/>
                <a:cs typeface="メイリオ"/>
              </a:rPr>
              <a:t>総額264万円 ÷ 1就業あたり売上120万円（仮定）</a:t>
            </a:r>
          </a:p>
        </p:txBody>
      </p:sp>
    </p:spTree>
    <p:extLst>
      <p:ext uri="{BB962C8B-B14F-4D97-AF65-F5344CB8AC3E}">
        <p14:creationId xmlns:p14="http://schemas.microsoft.com/office/powerpoint/2010/main" val="265852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公式実績【求人・人材 × LINE】</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300">
                <a:solidFill>
                  <a:srgbClr val="333333"/>
                </a:solidFill>
                <a:latin typeface="メイリオ"/>
                <a:ea typeface="メイリオ"/>
                <a:cs typeface="メイリオ"/>
              </a:rPr>
              <a:t>LINEヤフー社の公式導入事例より（いずれも実名・公開情報）。</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31600"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728000"/>
            <a:ext cx="4143600" cy="216000"/>
          </a:xfrm>
          <a:prstGeom prst="rect">
            <a:avLst/>
          </a:prstGeom>
          <a:noFill/>
        </p:spPr>
        <p:txBody>
          <a:bodyPr wrap="square" lIns="50400" tIns="21600" rIns="50400" bIns="21600" anchor="ctr">
            <a:spAutoFit/>
          </a:bodyPr>
          <a:lstStyle/>
          <a:p>
            <a:pPr algn="l"/>
            <a:r>
              <a:rPr sz="1300" b="1">
                <a:solidFill>
                  <a:srgbClr val="1F285A"/>
                </a:solidFill>
                <a:latin typeface="メイリオ"/>
                <a:ea typeface="メイリオ"/>
                <a:cs typeface="メイリオ"/>
              </a:rPr>
              <a:t>UZUZ（20代の就職・転職サポート）</a:t>
            </a:r>
          </a:p>
        </p:txBody>
      </p:sp>
      <p:sp>
        <p:nvSpPr>
          <p:cNvPr id="7" name="TextBox 6"/>
          <p:cNvSpPr txBox="1"/>
          <p:nvPr/>
        </p:nvSpPr>
        <p:spPr>
          <a:xfrm>
            <a:off x="576000" y="1980000"/>
            <a:ext cx="4143600" cy="216000"/>
          </a:xfrm>
          <a:prstGeom prst="rect">
            <a:avLst/>
          </a:prstGeom>
          <a:noFill/>
        </p:spPr>
        <p:txBody>
          <a:bodyPr wrap="square" lIns="50400" tIns="21600" rIns="50400" bIns="21600" anchor="ctr">
            <a:spAutoFit/>
          </a:bodyPr>
          <a:lstStyle/>
          <a:p>
            <a:pPr algn="ctr"/>
            <a:r>
              <a:rPr sz="1250">
                <a:solidFill>
                  <a:srgbClr val="333333"/>
                </a:solidFill>
                <a:latin typeface="メイリオ"/>
                <a:ea typeface="メイリオ"/>
                <a:cs typeface="メイリオ"/>
              </a:rPr>
              <a:t>LINE経由の面談予約率</a:t>
            </a:r>
          </a:p>
        </p:txBody>
      </p:sp>
      <p:sp>
        <p:nvSpPr>
          <p:cNvPr id="8" name="TextBox 7"/>
          <p:cNvSpPr txBox="1"/>
          <p:nvPr/>
        </p:nvSpPr>
        <p:spPr>
          <a:xfrm>
            <a:off x="576000" y="2196000"/>
            <a:ext cx="4143600" cy="503999"/>
          </a:xfrm>
          <a:prstGeom prst="rect">
            <a:avLst/>
          </a:prstGeom>
          <a:noFill/>
        </p:spPr>
        <p:txBody>
          <a:bodyPr wrap="square" lIns="50400" tIns="21600" rIns="50400" bIns="21600" anchor="ctr">
            <a:spAutoFit/>
          </a:bodyPr>
          <a:lstStyle/>
          <a:p>
            <a:pPr algn="ctr"/>
            <a:r>
              <a:rPr sz="3400" b="1">
                <a:solidFill>
                  <a:srgbClr val="ED7D31"/>
                </a:solidFill>
                <a:latin typeface="メイリオ"/>
                <a:ea typeface="メイリオ"/>
                <a:cs typeface="メイリオ"/>
              </a:rPr>
              <a:t>55%</a:t>
            </a:r>
          </a:p>
        </p:txBody>
      </p:sp>
      <p:sp>
        <p:nvSpPr>
          <p:cNvPr id="9" name="TextBox 8"/>
          <p:cNvSpPr txBox="1"/>
          <p:nvPr/>
        </p:nvSpPr>
        <p:spPr>
          <a:xfrm>
            <a:off x="576000" y="2736000"/>
            <a:ext cx="4143600" cy="900000"/>
          </a:xfrm>
          <a:prstGeom prst="rect">
            <a:avLst/>
          </a:prstGeom>
          <a:noFill/>
        </p:spPr>
        <p:txBody>
          <a:bodyPr wrap="square" lIns="50400" tIns="21600" rIns="50400" bIns="21600" anchor="t">
            <a:spAutoFit/>
          </a:bodyPr>
          <a:lstStyle/>
          <a:p>
            <a:pPr algn="l">
              <a:lnSpc>
                <a:spcPct val="135000"/>
              </a:lnSpc>
              <a:spcAft>
                <a:spcPts val="200"/>
              </a:spcAft>
            </a:pPr>
            <a:r>
              <a:rPr sz="1150">
                <a:solidFill>
                  <a:srgbClr val="333333"/>
                </a:solidFill>
                <a:latin typeface="メイリオ"/>
                <a:ea typeface="メイリオ"/>
                <a:cs typeface="メイリオ"/>
              </a:rPr>
              <a:t>・問い合わせの約3割がLINE経由。他チャネル比で高水準</a:t>
            </a:r>
          </a:p>
          <a:p>
            <a:pPr algn="l">
              <a:lnSpc>
                <a:spcPct val="135000"/>
              </a:lnSpc>
              <a:spcAft>
                <a:spcPts val="200"/>
              </a:spcAft>
            </a:pPr>
            <a:r>
              <a:rPr sz="1150">
                <a:solidFill>
                  <a:srgbClr val="333333"/>
                </a:solidFill>
                <a:latin typeface="メイリオ"/>
                <a:ea typeface="メイリオ"/>
                <a:cs typeface="メイリオ"/>
              </a:rPr>
              <a:t>・友だち追加広告（CPF）の獲得単価 約300円</a:t>
            </a:r>
          </a:p>
          <a:p>
            <a:pPr algn="l">
              <a:lnSpc>
                <a:spcPct val="135000"/>
              </a:lnSpc>
            </a:pPr>
            <a:r>
              <a:rPr sz="1150">
                <a:solidFill>
                  <a:srgbClr val="333333"/>
                </a:solidFill>
                <a:latin typeface="メイリオ"/>
                <a:ea typeface="メイリオ"/>
                <a:cs typeface="メイリオ"/>
              </a:rPr>
              <a:t>・チャットボットで求人紹介〜面談予約を自動化</a:t>
            </a:r>
          </a:p>
        </p:txBody>
      </p:sp>
      <p:sp>
        <p:nvSpPr>
          <p:cNvPr id="10" name="Rounded Rectangle 9"/>
          <p:cNvSpPr/>
          <p:nvPr/>
        </p:nvSpPr>
        <p:spPr>
          <a:xfrm>
            <a:off x="5043600" y="1620000"/>
            <a:ext cx="4431600"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87600" y="1728000"/>
            <a:ext cx="4143600" cy="216000"/>
          </a:xfrm>
          <a:prstGeom prst="rect">
            <a:avLst/>
          </a:prstGeom>
          <a:noFill/>
        </p:spPr>
        <p:txBody>
          <a:bodyPr wrap="square" lIns="50400" tIns="21600" rIns="50400" bIns="21600" anchor="ctr">
            <a:spAutoFit/>
          </a:bodyPr>
          <a:lstStyle/>
          <a:p>
            <a:pPr algn="l"/>
            <a:r>
              <a:rPr sz="1300" b="1">
                <a:solidFill>
                  <a:srgbClr val="1F285A"/>
                </a:solidFill>
                <a:latin typeface="メイリオ"/>
                <a:ea typeface="メイリオ"/>
                <a:cs typeface="メイリオ"/>
              </a:rPr>
              <a:t>タウンワーク（求人メディア）</a:t>
            </a:r>
          </a:p>
        </p:txBody>
      </p:sp>
      <p:sp>
        <p:nvSpPr>
          <p:cNvPr id="12" name="TextBox 11"/>
          <p:cNvSpPr txBox="1"/>
          <p:nvPr/>
        </p:nvSpPr>
        <p:spPr>
          <a:xfrm>
            <a:off x="5187600" y="1980000"/>
            <a:ext cx="4143600" cy="216000"/>
          </a:xfrm>
          <a:prstGeom prst="rect">
            <a:avLst/>
          </a:prstGeom>
          <a:noFill/>
        </p:spPr>
        <p:txBody>
          <a:bodyPr wrap="square" lIns="50400" tIns="21600" rIns="50400" bIns="21600" anchor="ctr">
            <a:spAutoFit/>
          </a:bodyPr>
          <a:lstStyle/>
          <a:p>
            <a:pPr algn="ctr"/>
            <a:r>
              <a:rPr sz="1250">
                <a:solidFill>
                  <a:srgbClr val="333333"/>
                </a:solidFill>
                <a:latin typeface="メイリオ"/>
                <a:ea typeface="メイリオ"/>
                <a:cs typeface="メイリオ"/>
              </a:rPr>
              <a:t>リッチメニュー経由の応募数</a:t>
            </a:r>
          </a:p>
        </p:txBody>
      </p:sp>
      <p:sp>
        <p:nvSpPr>
          <p:cNvPr id="13" name="TextBox 12"/>
          <p:cNvSpPr txBox="1"/>
          <p:nvPr/>
        </p:nvSpPr>
        <p:spPr>
          <a:xfrm>
            <a:off x="5187600" y="2196000"/>
            <a:ext cx="4143600" cy="503999"/>
          </a:xfrm>
          <a:prstGeom prst="rect">
            <a:avLst/>
          </a:prstGeom>
          <a:noFill/>
        </p:spPr>
        <p:txBody>
          <a:bodyPr wrap="square" lIns="50400" tIns="21600" rIns="50400" bIns="21600" anchor="ctr">
            <a:spAutoFit/>
          </a:bodyPr>
          <a:lstStyle/>
          <a:p>
            <a:pPr algn="ctr"/>
            <a:r>
              <a:rPr sz="3400" b="1">
                <a:solidFill>
                  <a:srgbClr val="ED7D31"/>
                </a:solidFill>
                <a:latin typeface="メイリオ"/>
                <a:ea typeface="メイリオ"/>
                <a:cs typeface="メイリオ"/>
              </a:rPr>
              <a:t>+79%</a:t>
            </a:r>
          </a:p>
        </p:txBody>
      </p:sp>
      <p:sp>
        <p:nvSpPr>
          <p:cNvPr id="14" name="TextBox 13"/>
          <p:cNvSpPr txBox="1"/>
          <p:nvPr/>
        </p:nvSpPr>
        <p:spPr>
          <a:xfrm>
            <a:off x="5187600" y="2736000"/>
            <a:ext cx="4143600" cy="900000"/>
          </a:xfrm>
          <a:prstGeom prst="rect">
            <a:avLst/>
          </a:prstGeom>
          <a:noFill/>
        </p:spPr>
        <p:txBody>
          <a:bodyPr wrap="square" lIns="50400" tIns="21600" rIns="50400" bIns="21600" anchor="t">
            <a:spAutoFit/>
          </a:bodyPr>
          <a:lstStyle/>
          <a:p>
            <a:pPr algn="l">
              <a:lnSpc>
                <a:spcPct val="135000"/>
              </a:lnSpc>
              <a:spcAft>
                <a:spcPts val="200"/>
              </a:spcAft>
            </a:pPr>
            <a:r>
              <a:rPr sz="1150">
                <a:solidFill>
                  <a:srgbClr val="333333"/>
                </a:solidFill>
                <a:latin typeface="メイリオ"/>
                <a:ea typeface="メイリオ"/>
                <a:cs typeface="メイリオ"/>
              </a:rPr>
              <a:t>・リッチメニュー改善でタップ数+20%</a:t>
            </a:r>
          </a:p>
          <a:p>
            <a:pPr algn="l">
              <a:lnSpc>
                <a:spcPct val="135000"/>
              </a:lnSpc>
              <a:spcAft>
                <a:spcPts val="200"/>
              </a:spcAft>
            </a:pPr>
            <a:r>
              <a:rPr sz="1150">
                <a:solidFill>
                  <a:srgbClr val="333333"/>
                </a:solidFill>
                <a:latin typeface="メイリオ"/>
                <a:ea typeface="メイリオ"/>
                <a:cs typeface="メイリオ"/>
              </a:rPr>
              <a:t>・その結果、メニュー経由の応募が79%向上</a:t>
            </a:r>
          </a:p>
          <a:p>
            <a:pPr algn="l">
              <a:lnSpc>
                <a:spcPct val="135000"/>
              </a:lnSpc>
            </a:pPr>
            <a:r>
              <a:rPr sz="1150">
                <a:solidFill>
                  <a:srgbClr val="333333"/>
                </a:solidFill>
                <a:latin typeface="メイリオ"/>
                <a:ea typeface="メイリオ"/>
                <a:cs typeface="メイリオ"/>
              </a:rPr>
              <a:t>・入口設計への投資が応募数に直結した事例</a:t>
            </a:r>
          </a:p>
        </p:txBody>
      </p:sp>
      <p:sp>
        <p:nvSpPr>
          <p:cNvPr id="15" name="Rounded Rectangle 14"/>
          <p:cNvSpPr/>
          <p:nvPr/>
        </p:nvSpPr>
        <p:spPr>
          <a:xfrm>
            <a:off x="432000" y="3924000"/>
            <a:ext cx="9043200" cy="39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350" b="1">
                <a:solidFill>
                  <a:srgbClr val="FFFFFF"/>
                </a:solidFill>
                <a:latin typeface="メイリオ"/>
                <a:ea typeface="メイリオ"/>
                <a:cs typeface="メイリオ"/>
              </a:rPr>
              <a:t>「面談への近さ」と「入口設計の効果」。本提案の2本柱には、どちらも公式実績がある。</a:t>
            </a:r>
          </a:p>
        </p:txBody>
      </p: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50">
                <a:solidFill>
                  <a:srgbClr val="7F7F7F"/>
                </a:solidFill>
                <a:latin typeface="メイリオ"/>
                <a:ea typeface="メイリオ"/>
                <a:cs typeface="メイリオ"/>
              </a:rPr>
              <a:t>出典：LINEヤフー for Business 導入事例（UZUZ／タウンワーク）。数値は各事例記事の公表値</a:t>
            </a:r>
          </a:p>
        </p:txBody>
      </p:sp>
    </p:spTree>
    <p:extLst>
      <p:ext uri="{BB962C8B-B14F-4D97-AF65-F5344CB8AC3E}">
        <p14:creationId xmlns:p14="http://schemas.microsoft.com/office/powerpoint/2010/main" val="3731031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72401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実施施策【14日間ステップ配信】</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友だち追加後14日間で、前後検索で見えた関心の順番（年収・職種 → 働き方 → 比較 → 現場）に沿って配信する</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（関心が消える前の3日目に1回目の面談案内。未予約者には再アプローチ、面談予約者は別シナリオへ分岐）</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49747981"/>
              </p:ext>
            </p:extLst>
          </p:nvPr>
        </p:nvGraphicFramePr>
        <p:xfrm>
          <a:off x="429768" y="1234440"/>
          <a:ext cx="9054000" cy="4114800"/>
        </p:xfrm>
        <a:graphic>
          <a:graphicData uri="http://schemas.openxmlformats.org/drawingml/2006/table">
            <a:tbl>
              <a:tblPr firstRow="1" bandRow="1">
                <a:tableStyleId>{5C22544A-7EE6-4342-B048-85BDC9FD1C3A}</a:tableStyleId>
              </a:tblPr>
              <a:tblGrid>
                <a:gridCol w="1087200">
                  <a:extLst>
                    <a:ext uri="{9D8B030D-6E8A-4147-A177-3AD203B41FA5}">
                      <a16:colId xmlns:a16="http://schemas.microsoft.com/office/drawing/2014/main" val="20000"/>
                    </a:ext>
                  </a:extLst>
                </a:gridCol>
                <a:gridCol w="1810800">
                  <a:extLst>
                    <a:ext uri="{9D8B030D-6E8A-4147-A177-3AD203B41FA5}">
                      <a16:colId xmlns:a16="http://schemas.microsoft.com/office/drawing/2014/main" val="20001"/>
                    </a:ext>
                  </a:extLst>
                </a:gridCol>
                <a:gridCol w="615600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250" b="0">
                          <a:solidFill>
                            <a:srgbClr val="333333"/>
                          </a:solidFill>
                          <a:latin typeface="Meiryo"/>
                          <a:ea typeface="メイリオ"/>
                          <a:cs typeface="Meiryo"/>
                        </a:rPr>
                        <a:t>あいさつ＋30秒診断＋「整備士の年収相場」を一言</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250" b="0" dirty="0" err="1">
                          <a:solidFill>
                            <a:srgbClr val="333333"/>
                          </a:solidFill>
                          <a:latin typeface="Meiryo"/>
                          <a:ea typeface="メイリオ"/>
                          <a:cs typeface="Meiryo"/>
                        </a:rPr>
                        <a:t>職種図鑑（整備・受付・営業の仕事と年収の違い）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250" b="0" dirty="0" err="1">
                          <a:solidFill>
                            <a:srgbClr val="333333"/>
                          </a:solidFill>
                          <a:latin typeface="Meiryo"/>
                          <a:ea typeface="メイリオ"/>
                          <a:cs typeface="Meiryo"/>
                        </a:rPr>
                        <a:t>働き方（休み・残業・「ホワイトな職場」の見分け方）</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3日後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面談のご案内①「履歴書、まだ要りません」</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5日後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ほかの職種との比較（整備士 vs 営業・施工管理）</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7日後</a:t>
                      </a:r>
                    </a:p>
                  </a:txBody>
                  <a:tcPr>
                    <a:solidFill>
                      <a:srgbClr val="FFFFFF"/>
                    </a:solidFill>
                  </a:tcPr>
                </a:tc>
                <a:tc>
                  <a:txBody>
                    <a:bodyPr/>
                    <a:lstStyle/>
                    <a:p>
                      <a:r>
                        <a:rPr sz="1400" b="0">
                          <a:solidFill>
                            <a:srgbClr val="333333"/>
                          </a:solidFill>
                          <a:latin typeface="Meiryo"/>
                          <a:ea typeface="メイリオ"/>
                          <a:cs typeface="Meiryo"/>
                        </a:rPr>
                        <a:t>資格別</a:t>
                      </a:r>
                    </a:p>
                  </a:txBody>
                  <a:tcPr>
                    <a:solidFill>
                      <a:srgbClr val="FFFFFF"/>
                    </a:solidFill>
                  </a:tcPr>
                </a:tc>
                <a:tc>
                  <a:txBody>
                    <a:bodyPr/>
                    <a:lstStyle/>
                    <a:p>
                      <a:r>
                        <a:rPr sz="1250" b="0" dirty="0">
                          <a:solidFill>
                            <a:srgbClr val="333333"/>
                          </a:solidFill>
                          <a:latin typeface="Meiryo"/>
                          <a:ea typeface="メイリオ"/>
                          <a:cs typeface="Meiryo"/>
                        </a:rPr>
                        <a:t>資格別の年収相場・キャリアマップ</a:t>
                      </a: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10日後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現場のリアル（タイヤ交換の繁忙期・工具・手当）</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地域別の求人ピックアップ（オートバックスG）</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250" b="0" dirty="0" err="1">
                          <a:solidFill>
                            <a:srgbClr val="333333"/>
                          </a:solidFill>
                          <a:latin typeface="Meiryo"/>
                          <a:ea typeface="メイリオ"/>
                          <a:cs typeface="Meiryo"/>
                        </a:rPr>
                        <a:t>面談のご案内②＋以後は月数回の定常配信へ切替</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bl>
          </a:graphicData>
        </a:graphic>
      </p:graphicFrame>
      <p:sp>
        <p:nvSpPr>
          <p:cNvPr id="47" name="TextBox 46"/>
          <p:cNvSpPr txBox="1"/>
          <p:nvPr/>
        </p:nvSpPr>
        <p:spPr>
          <a:xfrm>
            <a:off x="429768" y="5439240"/>
            <a:ext cx="9052560" cy="677108"/>
          </a:xfrm>
          <a:prstGeom prst="rect">
            <a:avLst/>
          </a:prstGeom>
          <a:noFill/>
        </p:spPr>
        <p:txBody>
          <a:bodyPr wrap="square">
            <a:spAutoFit/>
          </a:bodyPr>
          <a:lstStyle/>
          <a:p>
            <a:r>
              <a:rPr sz="1400" b="1" dirty="0">
                <a:solidFill>
                  <a:srgbClr val="BF4E0E"/>
                </a:solidFill>
                <a:latin typeface="Meiryo"/>
                <a:ea typeface="メイリオ"/>
                <a:cs typeface="Meiryo"/>
              </a:rPr>
              <a:t>職業への関心は検索当日〜2日後に集中 → 関心が消える前の3日目に1回目の面談案内</a:t>
            </a:r>
          </a:p>
          <a:p>
            <a:r>
              <a:rPr sz="1400" b="1" dirty="0">
                <a:solidFill>
                  <a:srgbClr val="BF4E0E"/>
                </a:solidFill>
                <a:latin typeface="Meiryo"/>
                <a:ea typeface="メイリオ"/>
                <a:cs typeface="Meiryo"/>
              </a:rPr>
              <a:t>面談・応募 89件（6ヶ月累計・SIM①）＝ 累計CPA 29,697円として算出</a:t>
            </a:r>
          </a:p>
          <a:p>
            <a:r>
              <a:rPr sz="1400" b="1" dirty="0">
                <a:solidFill>
                  <a:srgbClr val="BF4E0E"/>
                </a:solidFill>
                <a:latin typeface="Meiryo"/>
                <a:ea typeface="メイリオ"/>
                <a:cs typeface="Meiryo"/>
              </a:rPr>
              <a:t>面談予約で止めず、就業までLINEで追いきります（面談前日リマインド→当日案内→面談後フォロー）</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出典：LINEヤフー 前後検索データ（起点KW：カーディーラー）／コンテンツ案v1（別紙・配信文面の全文）</a:t>
            </a:r>
          </a:p>
        </p:txBody>
      </p:sp>
    </p:spTree>
    <p:extLst>
      <p:ext uri="{BB962C8B-B14F-4D97-AF65-F5344CB8AC3E}">
        <p14:creationId xmlns:p14="http://schemas.microsoft.com/office/powerpoint/2010/main" val="1451945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想定企画【年間】</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年間を通じて、友だち増加・面談獲得・ブロック防止を狙う企画投稿を月別に配置する（月4本）</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7126696"/>
              </p:ext>
            </p:extLst>
          </p:nvPr>
        </p:nvGraphicFramePr>
        <p:xfrm>
          <a:off x="457200" y="1371600"/>
          <a:ext cx="8988551" cy="452628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「冬のうちに相談だけ」訴求</a:t>
                      </a:r>
                    </a:p>
                  </a:txBody>
                  <a:tcPr>
                    <a:solidFill>
                      <a:srgbClr val="FFFFFF"/>
                    </a:solidFill>
                  </a:tcPr>
                </a:tc>
                <a:tc>
                  <a:txBody>
                    <a:bodyPr/>
                    <a:lstStyle/>
                    <a:p>
                      <a:r>
                        <a:rPr sz="1400" b="0">
                          <a:solidFill>
                            <a:srgbClr val="333333"/>
                          </a:solidFill>
                          <a:latin typeface="Meiryo"/>
                          <a:ea typeface="メイリオ"/>
                          <a:cs typeface="Meiryo"/>
                        </a:rPr>
                        <a:t>3月の山に向けて前倒し。在職中でも相談OKを打ち出す</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3月</a:t>
                      </a:r>
                    </a:p>
                  </a:txBody>
                  <a:tcPr>
                    <a:solidFill>
                      <a:srgbClr val="FFFFFF"/>
                    </a:solidFill>
                  </a:tcPr>
                </a:tc>
                <a:tc>
                  <a:txBody>
                    <a:bodyPr/>
                    <a:lstStyle/>
                    <a:p>
                      <a:r>
                        <a:rPr sz="1400" b="0">
                          <a:solidFill>
                            <a:srgbClr val="333333"/>
                          </a:solidFill>
                          <a:latin typeface="Meiryo"/>
                          <a:ea typeface="メイリオ"/>
                          <a:cs typeface="Meiryo"/>
                        </a:rPr>
                        <a:t>年度替わり求人特集</a:t>
                      </a:r>
                    </a:p>
                  </a:txBody>
                  <a:tcPr>
                    <a:solidFill>
                      <a:srgbClr val="FFFFFF"/>
                    </a:solidFill>
                  </a:tcPr>
                </a:tc>
                <a:tc>
                  <a:txBody>
                    <a:bodyPr/>
                    <a:lstStyle/>
                    <a:p>
                      <a:r>
                        <a:rPr sz="1400" b="0">
                          <a:solidFill>
                            <a:srgbClr val="333333"/>
                          </a:solidFill>
                          <a:latin typeface="Meiryo"/>
                          <a:ea typeface="メイリオ"/>
                          <a:cs typeface="Meiryo"/>
                        </a:rPr>
                        <a:t>4月入社求人を地域別に配信（3月＝検索の山）</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3-4月</a:t>
                      </a:r>
                    </a:p>
                  </a:txBody>
                  <a:tcPr>
                    <a:solidFill>
                      <a:srgbClr val="FFFFFF"/>
                    </a:solidFill>
                  </a:tcPr>
                </a:tc>
                <a:tc>
                  <a:txBody>
                    <a:bodyPr/>
                    <a:lstStyle/>
                    <a:p>
                      <a:r>
                        <a:rPr sz="1400" b="0">
                          <a:solidFill>
                            <a:srgbClr val="333333"/>
                          </a:solidFill>
                          <a:latin typeface="Meiryo"/>
                          <a:ea typeface="メイリオ"/>
                          <a:cs typeface="Meiryo"/>
                        </a:rPr>
                        <a:t>資格取得者向け特集</a:t>
                      </a:r>
                    </a:p>
                  </a:txBody>
                  <a:tcPr>
                    <a:solidFill>
                      <a:srgbClr val="FFFFFF"/>
                    </a:solidFill>
                  </a:tcPr>
                </a:tc>
                <a:tc>
                  <a:txBody>
                    <a:bodyPr/>
                    <a:lstStyle/>
                    <a:p>
                      <a:r>
                        <a:rPr sz="1400" b="0">
                          <a:solidFill>
                            <a:srgbClr val="333333"/>
                          </a:solidFill>
                          <a:latin typeface="Meiryo"/>
                          <a:ea typeface="メイリオ"/>
                          <a:cs typeface="Meiryo"/>
                        </a:rPr>
                        <a:t>2級・検査員の合格者へ資格別の年収相場を配信</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5月</a:t>
                      </a:r>
                    </a:p>
                  </a:txBody>
                  <a:tcPr>
                    <a:solidFill>
                      <a:srgbClr val="FFFFFF"/>
                    </a:solidFill>
                  </a:tcPr>
                </a:tc>
                <a:tc>
                  <a:txBody>
                    <a:bodyPr/>
                    <a:lstStyle/>
                    <a:p>
                      <a:r>
                        <a:rPr sz="1400" b="0" dirty="0" err="1">
                          <a:solidFill>
                            <a:srgbClr val="333333"/>
                          </a:solidFill>
                          <a:latin typeface="Meiryo"/>
                          <a:ea typeface="メイリオ"/>
                          <a:cs typeface="Meiryo"/>
                        </a:rPr>
                        <a:t>連休明けの見直し訴求</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GW明けの「このままでいいか」層を面談へ</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6月</a:t>
                      </a:r>
                    </a:p>
                  </a:txBody>
                  <a:tcPr>
                    <a:solidFill>
                      <a:srgbClr val="FFFFFF"/>
                    </a:solidFill>
                  </a:tcPr>
                </a:tc>
                <a:tc>
                  <a:txBody>
                    <a:bodyPr/>
                    <a:lstStyle/>
                    <a:p>
                      <a:r>
                        <a:rPr sz="1400" b="0">
                          <a:solidFill>
                            <a:srgbClr val="333333"/>
                          </a:solidFill>
                          <a:latin typeface="Meiryo"/>
                          <a:ea typeface="メイリオ"/>
                          <a:cs typeface="Meiryo"/>
                        </a:rPr>
                        <a:t>LINEリサーチでニーズ収集</a:t>
                      </a:r>
                    </a:p>
                  </a:txBody>
                  <a:tcPr>
                    <a:solidFill>
                      <a:srgbClr val="FFFFFF"/>
                    </a:solidFill>
                  </a:tcPr>
                </a:tc>
                <a:tc>
                  <a:txBody>
                    <a:bodyPr/>
                    <a:lstStyle/>
                    <a:p>
                      <a:r>
                        <a:rPr sz="1400" b="0">
                          <a:solidFill>
                            <a:srgbClr val="333333"/>
                          </a:solidFill>
                          <a:latin typeface="Meiryo"/>
                          <a:ea typeface="メイリオ"/>
                          <a:cs typeface="Meiryo"/>
                        </a:rPr>
                        <a:t>転職理由・希望条件を簡易アンケートで把握し企画に反映</a:t>
                      </a: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dirty="0" err="1">
                          <a:solidFill>
                            <a:srgbClr val="333333"/>
                          </a:solidFill>
                          <a:latin typeface="Meiryo"/>
                          <a:ea typeface="メイリオ"/>
                          <a:cs typeface="Meiryo"/>
                        </a:rPr>
                        <a:t>賞与後の転職検討特集</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夏のボーナス後に動く層へ年収相場・求人を配信</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9月</a:t>
                      </a:r>
                    </a:p>
                  </a:txBody>
                  <a:tcPr>
                    <a:solidFill>
                      <a:srgbClr val="FFFFFF"/>
                    </a:solidFill>
                  </a:tcPr>
                </a:tc>
                <a:tc>
                  <a:txBody>
                    <a:bodyPr/>
                    <a:lstStyle/>
                    <a:p>
                      <a:r>
                        <a:rPr sz="1400" b="0">
                          <a:solidFill>
                            <a:srgbClr val="333333"/>
                          </a:solidFill>
                          <a:latin typeface="Meiryo"/>
                          <a:ea typeface="メイリオ"/>
                          <a:cs typeface="Meiryo"/>
                        </a:rPr>
                        <a:t>資格取得・キャリア特集</a:t>
                      </a:r>
                    </a:p>
                  </a:txBody>
                  <a:tcPr>
                    <a:solidFill>
                      <a:srgbClr val="FFFFFF"/>
                    </a:solidFill>
                  </a:tcPr>
                </a:tc>
                <a:tc>
                  <a:txBody>
                    <a:bodyPr/>
                    <a:lstStyle/>
                    <a:p>
                      <a:r>
                        <a:rPr sz="1400" b="0" dirty="0" err="1">
                          <a:solidFill>
                            <a:srgbClr val="333333"/>
                          </a:solidFill>
                          <a:latin typeface="Meiryo"/>
                          <a:ea typeface="メイリオ"/>
                          <a:cs typeface="Meiryo"/>
                        </a:rPr>
                        <a:t>無資格・3級向けに整備士育成プロジェクトを案内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10月</a:t>
                      </a:r>
                    </a:p>
                  </a:txBody>
                  <a:tcPr>
                    <a:solidFill>
                      <a:srgbClr val="FFFFFF"/>
                    </a:solidFill>
                  </a:tcPr>
                </a:tc>
                <a:tc>
                  <a:txBody>
                    <a:bodyPr/>
                    <a:lstStyle/>
                    <a:p>
                      <a:r>
                        <a:rPr sz="1400" b="0">
                          <a:solidFill>
                            <a:srgbClr val="333333"/>
                          </a:solidFill>
                          <a:latin typeface="Meiryo"/>
                          <a:ea typeface="メイリオ"/>
                          <a:cs typeface="Meiryo"/>
                        </a:rPr>
                        <a:t>年内入社ラストコール</a:t>
                      </a:r>
                    </a:p>
                  </a:txBody>
                  <a:tcPr>
                    <a:solidFill>
                      <a:srgbClr val="FFFFFF"/>
                    </a:solidFill>
                  </a:tcPr>
                </a:tc>
                <a:tc>
                  <a:txBody>
                    <a:bodyPr/>
                    <a:lstStyle/>
                    <a:p>
                      <a:r>
                        <a:rPr sz="1400" b="0" dirty="0" err="1">
                          <a:solidFill>
                            <a:srgbClr val="333333"/>
                          </a:solidFill>
                          <a:latin typeface="Meiryo"/>
                          <a:ea typeface="メイリオ"/>
                          <a:cs typeface="Meiryo"/>
                        </a:rPr>
                        <a:t>年内に動きたい層へ面談枠をご案内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11月</a:t>
                      </a:r>
                    </a:p>
                  </a:txBody>
                  <a:tcPr>
                    <a:solidFill>
                      <a:srgbClr val="FFFFFF"/>
                    </a:solidFill>
                  </a:tcPr>
                </a:tc>
                <a:tc>
                  <a:txBody>
                    <a:bodyPr/>
                    <a:lstStyle/>
                    <a:p>
                      <a:r>
                        <a:rPr sz="1400" b="0">
                          <a:solidFill>
                            <a:srgbClr val="333333"/>
                          </a:solidFill>
                          <a:latin typeface="Meiryo"/>
                          <a:ea typeface="メイリオ"/>
                          <a:cs typeface="Meiryo"/>
                        </a:rPr>
                        <a:t>冬の繁忙期＝現場のリアル</a:t>
                      </a:r>
                    </a:p>
                  </a:txBody>
                  <a:tcPr>
                    <a:solidFill>
                      <a:srgbClr val="FFFFFF"/>
                    </a:solidFill>
                  </a:tcPr>
                </a:tc>
                <a:tc>
                  <a:txBody>
                    <a:bodyPr/>
                    <a:lstStyle/>
                    <a:p>
                      <a:r>
                        <a:rPr sz="1400" b="0" dirty="0" err="1">
                          <a:solidFill>
                            <a:srgbClr val="333333"/>
                          </a:solidFill>
                          <a:latin typeface="Meiryo"/>
                          <a:ea typeface="メイリオ"/>
                          <a:cs typeface="Meiryo"/>
                        </a:rPr>
                        <a:t>スタッドレス・タイヤ交換期の現場と手当を紹介</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r h="411480">
                <a:tc>
                  <a:txBody>
                    <a:bodyPr/>
                    <a:lstStyle/>
                    <a:p>
                      <a:r>
                        <a:rPr sz="1400" b="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冬も相談だけOK訴求</a:t>
                      </a:r>
                    </a:p>
                  </a:txBody>
                  <a:tcPr>
                    <a:solidFill>
                      <a:srgbClr val="FFFFFF"/>
                    </a:solidFill>
                  </a:tcPr>
                </a:tc>
                <a:tc>
                  <a:txBody>
                    <a:bodyPr/>
                    <a:lstStyle/>
                    <a:p>
                      <a:r>
                        <a:rPr sz="1400" b="0" dirty="0" err="1">
                          <a:solidFill>
                            <a:srgbClr val="333333"/>
                          </a:solidFill>
                          <a:latin typeface="Meiryo"/>
                          <a:ea typeface="メイリオ"/>
                          <a:cs typeface="Meiryo"/>
                        </a:rPr>
                        <a:t>検索の谷でも検討は続く。配信は止めず関係を維持</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10"/>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出典：Googleトレンド「整備士」（山3月・谷12月）／前後検索KW「カーディーラー」／コンテンツ案v1</a:t>
            </a:r>
          </a:p>
        </p:txBody>
      </p:sp>
    </p:spTree>
    <p:extLst>
      <p:ext uri="{BB962C8B-B14F-4D97-AF65-F5344CB8AC3E}">
        <p14:creationId xmlns:p14="http://schemas.microsoft.com/office/powerpoint/2010/main" val="1269822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通知メッセージと特殊動線の使いどころ</a:t>
            </a:r>
            <a:endParaRPr sz="1600" b="1" dirty="0">
              <a:solidFill>
                <a:srgbClr val="002060"/>
              </a:solidFill>
              <a:latin typeface="Meiryo"/>
              <a:ea typeface="Meiryo"/>
              <a:cs typeface="Meiryo"/>
              <a:sym typeface="Meiryo"/>
            </a:endParaRPr>
          </a:p>
        </p:txBody>
      </p:sp>
      <p:cxnSp>
        <p:nvCxnSpPr>
          <p:cNvPr id="46" name="Connector 45"/>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300" b="0">
                <a:solidFill>
                  <a:srgbClr val="333333"/>
                </a:solidFill>
                <a:latin typeface="メイリオ"/>
                <a:ea typeface="メイリオ"/>
                <a:cs typeface="メイリオ"/>
              </a:rPr>
              <a:t>通知メッセージは、友だち追加していない人にも電話番号あてに届きます。</a:t>
            </a:r>
          </a:p>
          <a:p>
            <a:pPr algn="l"/>
            <a:r>
              <a:rPr sz="1300" b="0">
                <a:solidFill>
                  <a:srgbClr val="333333"/>
                </a:solidFill>
                <a:latin typeface="メイリオ"/>
                <a:ea typeface="メイリオ"/>
                <a:cs typeface="メイリオ"/>
              </a:rPr>
              <a:t>過去リストの掘り起こしではなく、「面談に来てもらう」ために使います。</a:t>
            </a:r>
          </a:p>
        </p:txBody>
      </p:sp>
      <p:sp>
        <p:nvSpPr>
          <p:cNvPr id="48" name="Rectangle 47"/>
          <p:cNvSpPr/>
          <p:nvPr/>
        </p:nvSpPr>
        <p:spPr>
          <a:xfrm>
            <a:off x="432000" y="1530000"/>
            <a:ext cx="72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200" b="1">
                <a:solidFill>
                  <a:srgbClr val="1F285A"/>
                </a:solidFill>
                <a:latin typeface="メイリオ"/>
                <a:ea typeface="メイリオ"/>
                <a:cs typeface="メイリオ"/>
              </a:rPr>
              <a:t>■ 通知メッセージの利用シーン</a:t>
            </a:r>
          </a:p>
        </p:txBody>
      </p:sp>
      <p:sp>
        <p:nvSpPr>
          <p:cNvPr id="49" name="Rounded Rectangle 48"/>
          <p:cNvSpPr/>
          <p:nvPr/>
        </p:nvSpPr>
        <p:spPr>
          <a:xfrm>
            <a:off x="432000" y="1782000"/>
            <a:ext cx="2206800" cy="97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1F285A"/>
                </a:solidFill>
                <a:latin typeface="メイリオ"/>
                <a:ea typeface="メイリオ"/>
                <a:cs typeface="メイリオ"/>
              </a:rPr>
              <a:t>面談予約の確定通知</a:t>
            </a:r>
          </a:p>
          <a:p>
            <a:pPr algn="ctr"/>
            <a:r>
              <a:rPr sz="1000" b="0">
                <a:solidFill>
                  <a:srgbClr val="333333"/>
                </a:solidFill>
                <a:latin typeface="メイリオ"/>
                <a:ea typeface="メイリオ"/>
                <a:cs typeface="メイリオ"/>
              </a:rPr>
              <a:t>来場率を上げる → 面談実施（CV）</a:t>
            </a:r>
          </a:p>
        </p:txBody>
      </p:sp>
      <p:sp>
        <p:nvSpPr>
          <p:cNvPr id="50" name="Rounded Rectangle 49"/>
          <p:cNvSpPr/>
          <p:nvPr/>
        </p:nvSpPr>
        <p:spPr>
          <a:xfrm>
            <a:off x="2710800" y="1782000"/>
            <a:ext cx="2206800" cy="97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1F285A"/>
                </a:solidFill>
                <a:latin typeface="メイリオ"/>
                <a:ea typeface="メイリオ"/>
                <a:cs typeface="メイリオ"/>
              </a:rPr>
              <a:t>面談前日のリマインド</a:t>
            </a:r>
          </a:p>
          <a:p>
            <a:pPr algn="ctr"/>
            <a:r>
              <a:rPr sz="1000" b="0">
                <a:solidFill>
                  <a:srgbClr val="333333"/>
                </a:solidFill>
                <a:latin typeface="メイリオ"/>
                <a:ea typeface="メイリオ"/>
                <a:cs typeface="メイリオ"/>
              </a:rPr>
              <a:t>当日キャンセルを防ぐ</a:t>
            </a:r>
          </a:p>
        </p:txBody>
      </p:sp>
      <p:sp>
        <p:nvSpPr>
          <p:cNvPr id="51" name="Rounded Rectangle 50"/>
          <p:cNvSpPr/>
          <p:nvPr/>
        </p:nvSpPr>
        <p:spPr>
          <a:xfrm>
            <a:off x="4989600" y="1782000"/>
            <a:ext cx="2206800" cy="97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1F285A"/>
                </a:solidFill>
                <a:latin typeface="メイリオ"/>
                <a:ea typeface="メイリオ"/>
                <a:cs typeface="メイリオ"/>
              </a:rPr>
              <a:t>内定通知・入社日の確定</a:t>
            </a:r>
          </a:p>
          <a:p>
            <a:pPr algn="ctr"/>
            <a:r>
              <a:rPr sz="1000" b="0">
                <a:solidFill>
                  <a:srgbClr val="333333"/>
                </a:solidFill>
                <a:latin typeface="メイリオ"/>
                <a:ea typeface="メイリオ"/>
                <a:cs typeface="メイリオ"/>
              </a:rPr>
              <a:t>満足度を上げる → 友だち紹介</a:t>
            </a:r>
          </a:p>
        </p:txBody>
      </p:sp>
      <p:sp>
        <p:nvSpPr>
          <p:cNvPr id="52" name="Rounded Rectangle 51"/>
          <p:cNvSpPr/>
          <p:nvPr/>
        </p:nvSpPr>
        <p:spPr>
          <a:xfrm>
            <a:off x="7268400" y="1782000"/>
            <a:ext cx="2206800" cy="97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1F285A"/>
                </a:solidFill>
                <a:latin typeface="メイリオ"/>
                <a:ea typeface="メイリオ"/>
                <a:cs typeface="メイリオ"/>
              </a:rPr>
              <a:t>求人フェア・相談会の告知</a:t>
            </a:r>
          </a:p>
          <a:p>
            <a:pPr algn="ctr"/>
            <a:r>
              <a:rPr sz="1000" b="0">
                <a:solidFill>
                  <a:srgbClr val="333333"/>
                </a:solidFill>
                <a:latin typeface="メイリオ"/>
                <a:ea typeface="メイリオ"/>
                <a:cs typeface="メイリオ"/>
              </a:rPr>
              <a:t>保有リストへ再接触</a:t>
            </a:r>
          </a:p>
        </p:txBody>
      </p:sp>
      <p:sp>
        <p:nvSpPr>
          <p:cNvPr id="53" name="Rectangle 52"/>
          <p:cNvSpPr/>
          <p:nvPr/>
        </p:nvSpPr>
        <p:spPr>
          <a:xfrm>
            <a:off x="432000" y="2916000"/>
            <a:ext cx="72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200" b="1">
                <a:solidFill>
                  <a:srgbClr val="1F285A"/>
                </a:solidFill>
                <a:latin typeface="メイリオ"/>
                <a:ea typeface="メイリオ"/>
                <a:cs typeface="メイリオ"/>
              </a:rPr>
              <a:t>■ その他の特殊動線（LINEで答えるだけ）</a:t>
            </a:r>
          </a:p>
        </p:txBody>
      </p:sp>
      <p:sp>
        <p:nvSpPr>
          <p:cNvPr id="54" name="Rounded Rectangle 53"/>
          <p:cNvSpPr/>
          <p:nvPr/>
        </p:nvSpPr>
        <p:spPr>
          <a:xfrm>
            <a:off x="432000" y="3168000"/>
            <a:ext cx="2206800" cy="97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FFFFFF"/>
                </a:solidFill>
                <a:latin typeface="メイリオ"/>
                <a:ea typeface="メイリオ"/>
                <a:cs typeface="メイリオ"/>
              </a:rPr>
              <a:t>3問で簡易キャリア診断</a:t>
            </a:r>
          </a:p>
          <a:p>
            <a:pPr algn="ctr"/>
            <a:r>
              <a:rPr sz="1000" b="0">
                <a:solidFill>
                  <a:srgbClr val="FFFFFF"/>
                </a:solidFill>
                <a:latin typeface="メイリオ"/>
                <a:ea typeface="メイリオ"/>
                <a:cs typeface="メイリオ"/>
              </a:rPr>
              <a:t>答えるだけ。心理ハードルを最小に</a:t>
            </a:r>
          </a:p>
        </p:txBody>
      </p:sp>
      <p:sp>
        <p:nvSpPr>
          <p:cNvPr id="55" name="Rounded Rectangle 54"/>
          <p:cNvSpPr/>
          <p:nvPr/>
        </p:nvSpPr>
        <p:spPr>
          <a:xfrm>
            <a:off x="2710800" y="3168000"/>
            <a:ext cx="2206800" cy="97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FFFFFF"/>
                </a:solidFill>
                <a:latin typeface="メイリオ"/>
                <a:ea typeface="メイリオ"/>
                <a:cs typeface="メイリオ"/>
              </a:rPr>
              <a:t>「あなたに合う職場」診断</a:t>
            </a:r>
          </a:p>
          <a:p>
            <a:pPr algn="ctr"/>
            <a:r>
              <a:rPr sz="1000" b="0">
                <a:solidFill>
                  <a:srgbClr val="FFFFFF"/>
                </a:solidFill>
                <a:latin typeface="メイリオ"/>
                <a:ea typeface="メイリオ"/>
                <a:cs typeface="メイリオ"/>
              </a:rPr>
              <a:t>数問で求人を提示 → 面談予約へ</a:t>
            </a:r>
          </a:p>
        </p:txBody>
      </p:sp>
      <p:sp>
        <p:nvSpPr>
          <p:cNvPr id="56" name="Rounded Rectangle 55"/>
          <p:cNvSpPr/>
          <p:nvPr/>
        </p:nvSpPr>
        <p:spPr>
          <a:xfrm>
            <a:off x="4989600" y="3168000"/>
            <a:ext cx="2206800" cy="97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FFFFFF"/>
                </a:solidFill>
                <a:latin typeface="メイリオ"/>
                <a:ea typeface="メイリオ"/>
                <a:cs typeface="メイリオ"/>
              </a:rPr>
              <a:t>資格別の年収シミュレーション</a:t>
            </a:r>
          </a:p>
          <a:p>
            <a:pPr algn="ctr"/>
            <a:r>
              <a:rPr sz="1000" b="0">
                <a:solidFill>
                  <a:srgbClr val="FFFFFF"/>
                </a:solidFill>
                <a:latin typeface="メイリオ"/>
                <a:ea typeface="メイリオ"/>
                <a:cs typeface="メイリオ"/>
              </a:rPr>
              <a:t>参加型で友だち獲得</a:t>
            </a:r>
          </a:p>
        </p:txBody>
      </p:sp>
      <p:sp>
        <p:nvSpPr>
          <p:cNvPr id="57" name="Rounded Rectangle 56"/>
          <p:cNvSpPr/>
          <p:nvPr/>
        </p:nvSpPr>
        <p:spPr>
          <a:xfrm>
            <a:off x="7268400" y="3168000"/>
            <a:ext cx="2206800" cy="97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150" b="1">
                <a:solidFill>
                  <a:srgbClr val="FFFFFF"/>
                </a:solidFill>
                <a:latin typeface="メイリオ"/>
                <a:ea typeface="メイリオ"/>
                <a:cs typeface="メイリオ"/>
              </a:rPr>
              <a:t>整備士向けキャリア相談会</a:t>
            </a:r>
          </a:p>
          <a:p>
            <a:pPr algn="ctr"/>
            <a:r>
              <a:rPr sz="1000" b="0">
                <a:solidFill>
                  <a:srgbClr val="FFFFFF"/>
                </a:solidFill>
                <a:latin typeface="メイリオ"/>
                <a:ea typeface="メイリオ"/>
                <a:cs typeface="メイリオ"/>
              </a:rPr>
              <a:t>特化型の入口に</a:t>
            </a:r>
          </a:p>
        </p:txBody>
      </p:sp>
      <p:sp>
        <p:nvSpPr>
          <p:cNvPr id="58" name="Rectangle 57"/>
          <p:cNvSpPr/>
          <p:nvPr/>
        </p:nvSpPr>
        <p:spPr>
          <a:xfrm>
            <a:off x="432000" y="4248000"/>
            <a:ext cx="9036000" cy="3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950" b="0">
                <a:solidFill>
                  <a:srgbClr val="7F7F7F"/>
                </a:solidFill>
                <a:latin typeface="メイリオ"/>
                <a:ea typeface="メイリオ"/>
                <a:cs typeface="メイリオ"/>
              </a:rPr>
              <a:t>※ 通知メッセージは、予約確認・リマインドなど本人の行動に紐づく連絡に使う機能です（広告目的の一斉送信は不可）。</a:t>
            </a:r>
          </a:p>
          <a:p>
            <a:pPr algn="l"/>
            <a:r>
              <a:rPr sz="950" b="0">
                <a:solidFill>
                  <a:srgbClr val="7F7F7F"/>
                </a:solidFill>
                <a:latin typeface="メイリオ"/>
                <a:ea typeface="メイリオ"/>
                <a:cs typeface="メイリオ"/>
              </a:rPr>
              <a:t>※ 導入費用は初期20万円〜（P32 都度発注プラン）。</a:t>
            </a:r>
          </a:p>
        </p:txBody>
      </p:sp>
      <p:sp>
        <p:nvSpPr>
          <p:cNvPr id="59" name="Rounded Rectangle 58"/>
          <p:cNvSpPr/>
          <p:nvPr/>
        </p:nvSpPr>
        <p:spPr>
          <a:xfrm>
            <a:off x="432000" y="4788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300" b="1">
                <a:solidFill>
                  <a:srgbClr val="FFFFFF"/>
                </a:solidFill>
                <a:latin typeface="メイリオ"/>
                <a:ea typeface="メイリオ"/>
                <a:cs typeface="メイリオ"/>
              </a:rPr>
              <a:t>面談の「予約」で終わらせず、「実施」まで届ける。</a:t>
            </a:r>
          </a:p>
        </p:txBody>
      </p:sp>
    </p:spTree>
    <p:extLst>
      <p:ext uri="{BB962C8B-B14F-4D97-AF65-F5344CB8AC3E}">
        <p14:creationId xmlns:p14="http://schemas.microsoft.com/office/powerpoint/2010/main" val="189377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5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30秒 適職診断コンテンツ</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マイページ登録・求職者会員登録案内</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新着求人の通知もLINEで受け取れる</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地域別・希望条件別 求人相談キャンペーン</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200" b="0" strike="noStrike" spc="-1">
                <a:solidFill>
                  <a:srgbClr val="9AA1AE"/>
                </a:solidFill>
                <a:latin typeface="メイリオ" panose="020B0604030504040204" pitchFamily="50" charset="-128"/>
                <a:ea typeface="メイリオ" panose="020B0604030504040204" pitchFamily="50" charset="-128"/>
              </a:rPr>
              <a:t>※「30秒 適職診断」はサイト上に簡易診断フォームを設置し、結果をLINEで送付する動線を想定（要開発）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面談・就業までナーチャリングが可能</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月額固定のコンサル運営で、費用を抑えた運用スタートを実現。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求職者（整備士）のカスタマージャーニー（8フェーズ）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接触〜面談・就業までの動線設計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制作業務を一部外出ししてご依頼いただくことも可能です。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LINE公式アカウント運用のメリットと改善モデル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改善モデル①｜友だち・リードを増やす</a:t>
            </a:r>
            <a:endParaRPr sz="1600" b="1" dirty="0">
              <a:solidFill>
                <a:srgbClr val="002060"/>
              </a:solidFill>
              <a:latin typeface="Meiryo"/>
              <a:ea typeface="Meiryo"/>
              <a:cs typeface="Meiryo"/>
              <a:sym typeface="Meiryo"/>
            </a:endParaRPr>
          </a:p>
        </p:txBody>
      </p: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300" b="0">
                <a:solidFill>
                  <a:srgbClr val="333333"/>
                </a:solidFill>
                <a:latin typeface="メイリオ"/>
                <a:ea typeface="メイリオ"/>
                <a:cs typeface="メイリオ"/>
              </a:rPr>
              <a:t>広告・サイトの集客地点に「LINE追加」を加え、</a:t>
            </a:r>
          </a:p>
          <a:p>
            <a:pPr algn="l"/>
            <a:r>
              <a:rPr sz="1300" b="0">
                <a:solidFill>
                  <a:srgbClr val="333333"/>
                </a:solidFill>
                <a:latin typeface="メイリオ"/>
                <a:ea typeface="メイリオ"/>
                <a:cs typeface="メイリオ"/>
              </a:rPr>
              <a:t>応募まで行かない整備士もリストとして残します。</a:t>
            </a:r>
          </a:p>
        </p:txBody>
      </p:sp>
      <p:sp>
        <p:nvSpPr>
          <p:cNvPr id="47" name="Pentagon 46"/>
          <p:cNvSpPr/>
          <p:nvPr/>
        </p:nvSpPr>
        <p:spPr>
          <a:xfrm>
            <a:off x="432000" y="1494000"/>
            <a:ext cx="1092600" cy="288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FFFFFF"/>
                </a:solidFill>
                <a:latin typeface="メイリオ"/>
                <a:ea typeface="メイリオ"/>
                <a:cs typeface="メイリオ"/>
              </a:rPr>
              <a:t>①接触</a:t>
            </a:r>
          </a:p>
        </p:txBody>
      </p:sp>
      <p:sp>
        <p:nvSpPr>
          <p:cNvPr id="48" name="Chevron 47"/>
          <p:cNvSpPr/>
          <p:nvPr/>
        </p:nvSpPr>
        <p:spPr>
          <a:xfrm>
            <a:off x="15678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FFFFFF"/>
                </a:solidFill>
                <a:latin typeface="メイリオ"/>
                <a:ea typeface="メイリオ"/>
                <a:cs typeface="メイリオ"/>
              </a:rPr>
              <a:t>②離脱</a:t>
            </a:r>
          </a:p>
        </p:txBody>
      </p:sp>
      <p:sp>
        <p:nvSpPr>
          <p:cNvPr id="49" name="Chevron 48"/>
          <p:cNvSpPr/>
          <p:nvPr/>
        </p:nvSpPr>
        <p:spPr>
          <a:xfrm>
            <a:off x="27036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FFFFFF"/>
                </a:solidFill>
                <a:latin typeface="メイリオ"/>
                <a:ea typeface="メイリオ"/>
                <a:cs typeface="メイリオ"/>
              </a:rPr>
              <a:t>③興味喚起</a:t>
            </a:r>
          </a:p>
        </p:txBody>
      </p:sp>
      <p:sp>
        <p:nvSpPr>
          <p:cNvPr id="50" name="Chevron 49"/>
          <p:cNvSpPr/>
          <p:nvPr/>
        </p:nvSpPr>
        <p:spPr>
          <a:xfrm>
            <a:off x="3839399"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FFFFFF"/>
                </a:solidFill>
                <a:latin typeface="メイリオ"/>
                <a:ea typeface="メイリオ"/>
                <a:cs typeface="メイリオ"/>
              </a:rPr>
              <a:t>④友だち追加</a:t>
            </a:r>
          </a:p>
        </p:txBody>
      </p:sp>
      <p:sp>
        <p:nvSpPr>
          <p:cNvPr id="51" name="Chevron 50"/>
          <p:cNvSpPr/>
          <p:nvPr/>
        </p:nvSpPr>
        <p:spPr>
          <a:xfrm>
            <a:off x="49752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⑤面談</a:t>
            </a:r>
          </a:p>
        </p:txBody>
      </p:sp>
      <p:sp>
        <p:nvSpPr>
          <p:cNvPr id="52" name="Chevron 51"/>
          <p:cNvSpPr/>
          <p:nvPr/>
        </p:nvSpPr>
        <p:spPr>
          <a:xfrm>
            <a:off x="61110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⑥求人紹介</a:t>
            </a:r>
          </a:p>
        </p:txBody>
      </p:sp>
      <p:sp>
        <p:nvSpPr>
          <p:cNvPr id="53" name="Chevron 52"/>
          <p:cNvSpPr/>
          <p:nvPr/>
        </p:nvSpPr>
        <p:spPr>
          <a:xfrm>
            <a:off x="7246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⑦内定承諾</a:t>
            </a:r>
          </a:p>
        </p:txBody>
      </p:sp>
      <p:sp>
        <p:nvSpPr>
          <p:cNvPr id="54" name="Chevron 53"/>
          <p:cNvSpPr/>
          <p:nvPr/>
        </p:nvSpPr>
        <p:spPr>
          <a:xfrm>
            <a:off x="8382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⑧定着・紹介</a:t>
            </a:r>
          </a:p>
        </p:txBody>
      </p:sp>
      <p:sp>
        <p:nvSpPr>
          <p:cNvPr id="55" name="Rounded Rectangle 54"/>
          <p:cNvSpPr/>
          <p:nvPr/>
        </p:nvSpPr>
        <p:spPr>
          <a:xfrm>
            <a:off x="4320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56" name="Rounded Rectangle 55"/>
          <p:cNvSpPr/>
          <p:nvPr/>
        </p:nvSpPr>
        <p:spPr>
          <a:xfrm>
            <a:off x="4320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1  CPF完結型</a:t>
            </a:r>
          </a:p>
        </p:txBody>
      </p:sp>
      <p:sp>
        <p:nvSpPr>
          <p:cNvPr id="57" name="Rectangle 56"/>
          <p:cNvSpPr/>
          <p:nvPr/>
        </p:nvSpPr>
        <p:spPr>
          <a:xfrm>
            <a:off x="5220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Meta広告の目的を友だち獲得に変える。タップするだけで友だちになり、そのままLINE内で30秒診断まで進む。サイトに移動させないので離脱が起きない。</a:t>
            </a:r>
          </a:p>
        </p:txBody>
      </p:sp>
      <p:sp>
        <p:nvSpPr>
          <p:cNvPr id="58" name="Rounded Rectangle 57"/>
          <p:cNvSpPr/>
          <p:nvPr/>
        </p:nvSpPr>
        <p:spPr>
          <a:xfrm>
            <a:off x="522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CPF広告をタップ</a:t>
            </a:r>
          </a:p>
        </p:txBody>
      </p:sp>
      <p:sp>
        <p:nvSpPr>
          <p:cNvPr id="59" name="Rounded Rectangle 58"/>
          <p:cNvSpPr/>
          <p:nvPr/>
        </p:nvSpPr>
        <p:spPr>
          <a:xfrm>
            <a:off x="1476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友だち追加</a:t>
            </a:r>
          </a:p>
        </p:txBody>
      </p:sp>
      <p:sp>
        <p:nvSpPr>
          <p:cNvPr id="60" name="Rounded Rectangle 59"/>
          <p:cNvSpPr/>
          <p:nvPr/>
        </p:nvSpPr>
        <p:spPr>
          <a:xfrm>
            <a:off x="2431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診断・配信が起動</a:t>
            </a:r>
          </a:p>
        </p:txBody>
      </p:sp>
      <p:sp>
        <p:nvSpPr>
          <p:cNvPr id="61" name="Rounded Rectangle 60"/>
          <p:cNvSpPr/>
          <p:nvPr/>
        </p:nvSpPr>
        <p:spPr>
          <a:xfrm>
            <a:off x="5220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既存のMeta予算（年250万円）の転用＝追加出費ゼロ</a:t>
            </a:r>
          </a:p>
        </p:txBody>
      </p:sp>
      <p:sp>
        <p:nvSpPr>
          <p:cNvPr id="62" name="Rounded Rectangle 61"/>
          <p:cNvSpPr/>
          <p:nvPr/>
        </p:nvSpPr>
        <p:spPr>
          <a:xfrm>
            <a:off x="34764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63" name="Rounded Rectangle 62"/>
          <p:cNvSpPr/>
          <p:nvPr/>
        </p:nvSpPr>
        <p:spPr>
          <a:xfrm>
            <a:off x="34764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2  離脱防止ポップアップ</a:t>
            </a:r>
          </a:p>
        </p:txBody>
      </p:sp>
      <p:sp>
        <p:nvSpPr>
          <p:cNvPr id="64" name="Rectangle 63"/>
          <p:cNvSpPr/>
          <p:nvPr/>
        </p:nvSpPr>
        <p:spPr>
          <a:xfrm>
            <a:off x="35664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求人ページを見て帰ろうとした瞬間に「整備士の年収相場をLINEで見られます」を表示。「応募する」より手前の、軽い一歩を用意する。</a:t>
            </a:r>
          </a:p>
        </p:txBody>
      </p:sp>
      <p:sp>
        <p:nvSpPr>
          <p:cNvPr id="65" name="Rounded Rectangle 64"/>
          <p:cNvSpPr/>
          <p:nvPr/>
        </p:nvSpPr>
        <p:spPr>
          <a:xfrm>
            <a:off x="3566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離脱を検知</a:t>
            </a:r>
          </a:p>
        </p:txBody>
      </p:sp>
      <p:sp>
        <p:nvSpPr>
          <p:cNvPr id="66" name="Rounded Rectangle 65"/>
          <p:cNvSpPr/>
          <p:nvPr/>
        </p:nvSpPr>
        <p:spPr>
          <a:xfrm>
            <a:off x="45212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ポップアップ表示</a:t>
            </a:r>
          </a:p>
        </p:txBody>
      </p:sp>
      <p:sp>
        <p:nvSpPr>
          <p:cNvPr id="67" name="Rounded Rectangle 66"/>
          <p:cNvSpPr/>
          <p:nvPr/>
        </p:nvSpPr>
        <p:spPr>
          <a:xfrm>
            <a:off x="5476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LINE追加</a:t>
            </a:r>
          </a:p>
        </p:txBody>
      </p:sp>
      <p:sp>
        <p:nvSpPr>
          <p:cNvPr id="68" name="Rounded Rectangle 67"/>
          <p:cNvSpPr/>
          <p:nvPr/>
        </p:nvSpPr>
        <p:spPr>
          <a:xfrm>
            <a:off x="35664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関心が高い「検索当日」の訪問を、その場で拾う</a:t>
            </a:r>
          </a:p>
        </p:txBody>
      </p:sp>
      <p:sp>
        <p:nvSpPr>
          <p:cNvPr id="69" name="Rounded Rectangle 68"/>
          <p:cNvSpPr/>
          <p:nvPr/>
        </p:nvSpPr>
        <p:spPr>
          <a:xfrm>
            <a:off x="65208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70" name="Rounded Rectangle 69"/>
          <p:cNvSpPr/>
          <p:nvPr/>
        </p:nvSpPr>
        <p:spPr>
          <a:xfrm>
            <a:off x="65208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3  サンクスLINE誘導</a:t>
            </a:r>
          </a:p>
        </p:txBody>
      </p:sp>
      <p:sp>
        <p:nvSpPr>
          <p:cNvPr id="71" name="Rectangle 70"/>
          <p:cNvSpPr/>
          <p:nvPr/>
        </p:nvSpPr>
        <p:spPr>
          <a:xfrm>
            <a:off x="66108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求人応募・転職支援サービス登録の完了画面で「選考の連絡はLINEで届きます」と案内。応募した人をLINEに乗せ、連絡を一本化する。</a:t>
            </a:r>
          </a:p>
        </p:txBody>
      </p:sp>
      <p:sp>
        <p:nvSpPr>
          <p:cNvPr id="72" name="Rounded Rectangle 71"/>
          <p:cNvSpPr/>
          <p:nvPr/>
        </p:nvSpPr>
        <p:spPr>
          <a:xfrm>
            <a:off x="6610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応募完了</a:t>
            </a:r>
          </a:p>
        </p:txBody>
      </p:sp>
      <p:sp>
        <p:nvSpPr>
          <p:cNvPr id="73" name="Rounded Rectangle 72"/>
          <p:cNvSpPr/>
          <p:nvPr/>
        </p:nvSpPr>
        <p:spPr>
          <a:xfrm>
            <a:off x="7565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完了画面で案内</a:t>
            </a:r>
          </a:p>
        </p:txBody>
      </p:sp>
      <p:sp>
        <p:nvSpPr>
          <p:cNvPr id="74" name="Rounded Rectangle 73"/>
          <p:cNvSpPr/>
          <p:nvPr/>
        </p:nvSpPr>
        <p:spPr>
          <a:xfrm>
            <a:off x="8520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LINE追加</a:t>
            </a:r>
          </a:p>
        </p:txBody>
      </p:sp>
      <p:sp>
        <p:nvSpPr>
          <p:cNvPr id="75" name="Rounded Rectangle 74"/>
          <p:cNvSpPr/>
          <p:nvPr/>
        </p:nvSpPr>
        <p:spPr>
          <a:xfrm>
            <a:off x="66108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電話がつながらない在職中の人にも連絡が届く</a:t>
            </a:r>
          </a:p>
        </p:txBody>
      </p:sp>
      <p:sp>
        <p:nvSpPr>
          <p:cNvPr id="76" name="Rounded Rectangle 75"/>
          <p:cNvSpPr/>
          <p:nvPr/>
        </p:nvSpPr>
        <p:spPr>
          <a:xfrm>
            <a:off x="432000" y="547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300" b="1">
                <a:solidFill>
                  <a:srgbClr val="FFFFFF"/>
                </a:solidFill>
                <a:latin typeface="メイリオ"/>
                <a:ea typeface="メイリオ"/>
                <a:cs typeface="メイリオ"/>
              </a:rPr>
              <a:t>応募しないで帰る訪問者を、LINEの友だちとして残す。</a:t>
            </a:r>
          </a:p>
        </p:txBody>
      </p:sp>
    </p:spTree>
    <p:extLst>
      <p:ext uri="{BB962C8B-B14F-4D97-AF65-F5344CB8AC3E}">
        <p14:creationId xmlns:p14="http://schemas.microsoft.com/office/powerpoint/2010/main" val="42651367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改善モデル②｜面談に引き上げる</a:t>
            </a:r>
            <a:endParaRPr sz="1600" b="1" dirty="0">
              <a:solidFill>
                <a:srgbClr val="002060"/>
              </a:solidFill>
              <a:latin typeface="Meiryo"/>
              <a:ea typeface="Meiryo"/>
              <a:cs typeface="Meiryo"/>
              <a:sym typeface="Meiryo"/>
            </a:endParaRPr>
          </a:p>
        </p:txBody>
      </p: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300" b="0">
                <a:solidFill>
                  <a:srgbClr val="333333"/>
                </a:solidFill>
                <a:latin typeface="メイリオ"/>
                <a:ea typeface="メイリオ"/>
                <a:cs typeface="メイリオ"/>
              </a:rPr>
              <a:t>友だちになった人を「まず話を聞くだけ」の面談へ。</a:t>
            </a:r>
          </a:p>
          <a:p>
            <a:pPr algn="l"/>
            <a:r>
              <a:rPr sz="1300" b="0">
                <a:solidFill>
                  <a:srgbClr val="333333"/>
                </a:solidFill>
                <a:latin typeface="メイリオ"/>
                <a:ea typeface="メイリオ"/>
                <a:cs typeface="メイリオ"/>
              </a:rPr>
              <a:t>売り込みは2回だけにします。</a:t>
            </a:r>
          </a:p>
        </p:txBody>
      </p:sp>
      <p:sp>
        <p:nvSpPr>
          <p:cNvPr id="47" name="Pentagon 46"/>
          <p:cNvSpPr/>
          <p:nvPr/>
        </p:nvSpPr>
        <p:spPr>
          <a:xfrm>
            <a:off x="432000" y="1494000"/>
            <a:ext cx="1092600" cy="288000"/>
          </a:xfrm>
          <a:prstGeom prst="homePlate">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①接触</a:t>
            </a:r>
          </a:p>
        </p:txBody>
      </p:sp>
      <p:sp>
        <p:nvSpPr>
          <p:cNvPr id="48" name="Chevron 47"/>
          <p:cNvSpPr/>
          <p:nvPr/>
        </p:nvSpPr>
        <p:spPr>
          <a:xfrm>
            <a:off x="1567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②離脱</a:t>
            </a:r>
          </a:p>
        </p:txBody>
      </p:sp>
      <p:sp>
        <p:nvSpPr>
          <p:cNvPr id="49" name="Chevron 48"/>
          <p:cNvSpPr/>
          <p:nvPr/>
        </p:nvSpPr>
        <p:spPr>
          <a:xfrm>
            <a:off x="2703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③興味喚起</a:t>
            </a:r>
          </a:p>
        </p:txBody>
      </p:sp>
      <p:sp>
        <p:nvSpPr>
          <p:cNvPr id="50" name="Chevron 49"/>
          <p:cNvSpPr/>
          <p:nvPr/>
        </p:nvSpPr>
        <p:spPr>
          <a:xfrm>
            <a:off x="3839399"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④友だち追加</a:t>
            </a:r>
          </a:p>
        </p:txBody>
      </p:sp>
      <p:sp>
        <p:nvSpPr>
          <p:cNvPr id="51" name="Chevron 50"/>
          <p:cNvSpPr/>
          <p:nvPr/>
        </p:nvSpPr>
        <p:spPr>
          <a:xfrm>
            <a:off x="49752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FFFFFF"/>
                </a:solidFill>
                <a:latin typeface="メイリオ"/>
                <a:ea typeface="メイリオ"/>
                <a:cs typeface="メイリオ"/>
              </a:rPr>
              <a:t>⑤面談</a:t>
            </a:r>
          </a:p>
        </p:txBody>
      </p:sp>
      <p:sp>
        <p:nvSpPr>
          <p:cNvPr id="52" name="Chevron 51"/>
          <p:cNvSpPr/>
          <p:nvPr/>
        </p:nvSpPr>
        <p:spPr>
          <a:xfrm>
            <a:off x="61110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FFFFFF"/>
                </a:solidFill>
                <a:latin typeface="メイリオ"/>
                <a:ea typeface="メイリオ"/>
                <a:cs typeface="メイリオ"/>
              </a:rPr>
              <a:t>⑥求人紹介</a:t>
            </a:r>
          </a:p>
        </p:txBody>
      </p:sp>
      <p:sp>
        <p:nvSpPr>
          <p:cNvPr id="53" name="Chevron 52"/>
          <p:cNvSpPr/>
          <p:nvPr/>
        </p:nvSpPr>
        <p:spPr>
          <a:xfrm>
            <a:off x="7246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⑦内定承諾</a:t>
            </a:r>
          </a:p>
        </p:txBody>
      </p:sp>
      <p:sp>
        <p:nvSpPr>
          <p:cNvPr id="54" name="Chevron 53"/>
          <p:cNvSpPr/>
          <p:nvPr/>
        </p:nvSpPr>
        <p:spPr>
          <a:xfrm>
            <a:off x="8382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⑧定着・紹介</a:t>
            </a:r>
          </a:p>
        </p:txBody>
      </p:sp>
      <p:sp>
        <p:nvSpPr>
          <p:cNvPr id="55" name="Rounded Rectangle 54"/>
          <p:cNvSpPr/>
          <p:nvPr/>
        </p:nvSpPr>
        <p:spPr>
          <a:xfrm>
            <a:off x="4320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56" name="Rounded Rectangle 55"/>
          <p:cNvSpPr/>
          <p:nvPr/>
        </p:nvSpPr>
        <p:spPr>
          <a:xfrm>
            <a:off x="4320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1  14日ステップ×面談オファー</a:t>
            </a:r>
          </a:p>
        </p:txBody>
      </p:sp>
      <p:sp>
        <p:nvSpPr>
          <p:cNvPr id="57" name="Rectangle 56"/>
          <p:cNvSpPr/>
          <p:nvPr/>
        </p:nvSpPr>
        <p:spPr>
          <a:xfrm>
            <a:off x="5220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年収相場→職種図鑑→働き方の順に届け、関心が消える前の3日目と14日目に面談をご案内。「履歴書不要・夜OK・Webで30分」とハードルを下げる。</a:t>
            </a:r>
          </a:p>
        </p:txBody>
      </p:sp>
      <p:sp>
        <p:nvSpPr>
          <p:cNvPr id="58" name="Rounded Rectangle 57"/>
          <p:cNvSpPr/>
          <p:nvPr/>
        </p:nvSpPr>
        <p:spPr>
          <a:xfrm>
            <a:off x="522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1〜2日目 情報</a:t>
            </a:r>
          </a:p>
        </p:txBody>
      </p:sp>
      <p:sp>
        <p:nvSpPr>
          <p:cNvPr id="59" name="Rounded Rectangle 58"/>
          <p:cNvSpPr/>
          <p:nvPr/>
        </p:nvSpPr>
        <p:spPr>
          <a:xfrm>
            <a:off x="1476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3日目 面談①</a:t>
            </a:r>
          </a:p>
        </p:txBody>
      </p:sp>
      <p:sp>
        <p:nvSpPr>
          <p:cNvPr id="60" name="Rounded Rectangle 59"/>
          <p:cNvSpPr/>
          <p:nvPr/>
        </p:nvSpPr>
        <p:spPr>
          <a:xfrm>
            <a:off x="2431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14日目 面談②</a:t>
            </a:r>
          </a:p>
        </p:txBody>
      </p:sp>
      <p:sp>
        <p:nvSpPr>
          <p:cNvPr id="61" name="Rounded Rectangle 60"/>
          <p:cNvSpPr/>
          <p:nvPr/>
        </p:nvSpPr>
        <p:spPr>
          <a:xfrm>
            <a:off x="5220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前後検索：職業の関心は当日〜2日後に集中</a:t>
            </a:r>
          </a:p>
        </p:txBody>
      </p:sp>
      <p:sp>
        <p:nvSpPr>
          <p:cNvPr id="62" name="Rounded Rectangle 61"/>
          <p:cNvSpPr/>
          <p:nvPr/>
        </p:nvSpPr>
        <p:spPr>
          <a:xfrm>
            <a:off x="34764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63" name="Rounded Rectangle 62"/>
          <p:cNvSpPr/>
          <p:nvPr/>
        </p:nvSpPr>
        <p:spPr>
          <a:xfrm>
            <a:off x="34764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2  3問アンケート×スコアリング</a:t>
            </a:r>
          </a:p>
        </p:txBody>
      </p:sp>
      <p:sp>
        <p:nvSpPr>
          <p:cNvPr id="64" name="Rectangle 63"/>
          <p:cNvSpPr/>
          <p:nvPr/>
        </p:nvSpPr>
        <p:spPr>
          <a:xfrm>
            <a:off x="35664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「いまの温度感」を3問で聞き、「3ヶ月以内に動きたい」「今すぐ相談したい」と答えた人だけを担当者が即日フォロー。全員に電話しない。</a:t>
            </a:r>
          </a:p>
        </p:txBody>
      </p:sp>
      <p:sp>
        <p:nvSpPr>
          <p:cNvPr id="65" name="Rounded Rectangle 64"/>
          <p:cNvSpPr/>
          <p:nvPr/>
        </p:nvSpPr>
        <p:spPr>
          <a:xfrm>
            <a:off x="3566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3問を配信</a:t>
            </a:r>
          </a:p>
        </p:txBody>
      </p:sp>
      <p:sp>
        <p:nvSpPr>
          <p:cNvPr id="66" name="Rounded Rectangle 65"/>
          <p:cNvSpPr/>
          <p:nvPr/>
        </p:nvSpPr>
        <p:spPr>
          <a:xfrm>
            <a:off x="45212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温度感を判定</a:t>
            </a:r>
          </a:p>
        </p:txBody>
      </p:sp>
      <p:sp>
        <p:nvSpPr>
          <p:cNvPr id="67" name="Rounded Rectangle 66"/>
          <p:cNvSpPr/>
          <p:nvPr/>
        </p:nvSpPr>
        <p:spPr>
          <a:xfrm>
            <a:off x="5476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担当者へ連携</a:t>
            </a:r>
          </a:p>
        </p:txBody>
      </p:sp>
      <p:sp>
        <p:nvSpPr>
          <p:cNvPr id="68" name="Rounded Rectangle 67"/>
          <p:cNvSpPr/>
          <p:nvPr/>
        </p:nvSpPr>
        <p:spPr>
          <a:xfrm>
            <a:off x="35664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担当者の手間を増やさず、熱い人から面談へ</a:t>
            </a:r>
          </a:p>
        </p:txBody>
      </p:sp>
      <p:sp>
        <p:nvSpPr>
          <p:cNvPr id="69" name="Rounded Rectangle 68"/>
          <p:cNvSpPr/>
          <p:nvPr/>
        </p:nvSpPr>
        <p:spPr>
          <a:xfrm>
            <a:off x="65208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70" name="Rounded Rectangle 69"/>
          <p:cNvSpPr/>
          <p:nvPr/>
        </p:nvSpPr>
        <p:spPr>
          <a:xfrm>
            <a:off x="65208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3  季節企画で休眠を起こす</a:t>
            </a:r>
          </a:p>
        </p:txBody>
      </p:sp>
      <p:sp>
        <p:nvSpPr>
          <p:cNvPr id="71" name="Rectangle 70"/>
          <p:cNvSpPr/>
          <p:nvPr/>
        </p:nvSpPr>
        <p:spPr>
          <a:xfrm>
            <a:off x="66108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検索の山（3月）の2〜3週前に「年度替わりの転職、今から準備する人が増えています」と配信。売り込みではなく「タイミングの案内」として届ける。</a:t>
            </a:r>
          </a:p>
        </p:txBody>
      </p:sp>
      <p:sp>
        <p:nvSpPr>
          <p:cNvPr id="72" name="Rounded Rectangle 71"/>
          <p:cNvSpPr/>
          <p:nvPr/>
        </p:nvSpPr>
        <p:spPr>
          <a:xfrm>
            <a:off x="6610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山の2〜3週前</a:t>
            </a:r>
          </a:p>
        </p:txBody>
      </p:sp>
      <p:sp>
        <p:nvSpPr>
          <p:cNvPr id="73" name="Rounded Rectangle 72"/>
          <p:cNvSpPr/>
          <p:nvPr/>
        </p:nvSpPr>
        <p:spPr>
          <a:xfrm>
            <a:off x="7565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「今だから」配信</a:t>
            </a:r>
          </a:p>
        </p:txBody>
      </p:sp>
      <p:sp>
        <p:nvSpPr>
          <p:cNvPr id="74" name="Rounded Rectangle 73"/>
          <p:cNvSpPr/>
          <p:nvPr/>
        </p:nvSpPr>
        <p:spPr>
          <a:xfrm>
            <a:off x="8520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休眠層が再反応</a:t>
            </a:r>
          </a:p>
        </p:txBody>
      </p:sp>
      <p:sp>
        <p:nvSpPr>
          <p:cNvPr id="75" name="Rounded Rectangle 74"/>
          <p:cNvSpPr/>
          <p:nvPr/>
        </p:nvSpPr>
        <p:spPr>
          <a:xfrm>
            <a:off x="66108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整備士の検索は山3月・谷12月（Googleトレンド）</a:t>
            </a:r>
          </a:p>
        </p:txBody>
      </p:sp>
      <p:sp>
        <p:nvSpPr>
          <p:cNvPr id="76" name="Rounded Rectangle 75"/>
          <p:cNvSpPr/>
          <p:nvPr/>
        </p:nvSpPr>
        <p:spPr>
          <a:xfrm>
            <a:off x="432000" y="547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300" b="1">
                <a:solidFill>
                  <a:srgbClr val="FFFFFF"/>
                </a:solidFill>
                <a:latin typeface="メイリオ"/>
                <a:ea typeface="メイリオ"/>
                <a:cs typeface="メイリオ"/>
              </a:rPr>
              <a:t>面談の「予約」をゴールにせず、「実施」まで運ぶ。</a:t>
            </a:r>
          </a:p>
        </p:txBody>
      </p:sp>
    </p:spTree>
    <p:extLst>
      <p:ext uri="{BB962C8B-B14F-4D97-AF65-F5344CB8AC3E}">
        <p14:creationId xmlns:p14="http://schemas.microsoft.com/office/powerpoint/2010/main" val="3562148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改善モデル③｜内定辞退を防ぐ</a:t>
            </a:r>
          </a:p>
        </p:txBody>
      </p:sp>
      <p:cxnSp>
        <p:nvCxnSpPr>
          <p:cNvPr id="5" name="Connector 4"/>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300" b="0">
                <a:solidFill>
                  <a:srgbClr val="333333"/>
                </a:solidFill>
                <a:latin typeface="メイリオ"/>
                <a:ea typeface="メイリオ"/>
                <a:cs typeface="メイリオ"/>
              </a:rPr>
              <a:t>内定から承諾までの不安にLINEですぐ答え、</a:t>
            </a:r>
          </a:p>
          <a:p>
            <a:pPr algn="l"/>
            <a:r>
              <a:rPr sz="1300" b="0">
                <a:solidFill>
                  <a:srgbClr val="333333"/>
                </a:solidFill>
                <a:latin typeface="メイリオ"/>
                <a:ea typeface="メイリオ"/>
                <a:cs typeface="メイリオ"/>
              </a:rPr>
              <a:t>辞退・音信不通を防ぎます。</a:t>
            </a:r>
          </a:p>
        </p:txBody>
      </p:sp>
      <p:sp>
        <p:nvSpPr>
          <p:cNvPr id="7" name="Pentagon 6"/>
          <p:cNvSpPr/>
          <p:nvPr/>
        </p:nvSpPr>
        <p:spPr>
          <a:xfrm>
            <a:off x="432000" y="1494000"/>
            <a:ext cx="1092600" cy="288000"/>
          </a:xfrm>
          <a:prstGeom prst="homePlate">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①接触</a:t>
            </a:r>
          </a:p>
        </p:txBody>
      </p:sp>
      <p:sp>
        <p:nvSpPr>
          <p:cNvPr id="8" name="Chevron 7"/>
          <p:cNvSpPr/>
          <p:nvPr/>
        </p:nvSpPr>
        <p:spPr>
          <a:xfrm>
            <a:off x="1567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②離脱</a:t>
            </a:r>
          </a:p>
        </p:txBody>
      </p:sp>
      <p:sp>
        <p:nvSpPr>
          <p:cNvPr id="9" name="Chevron 8"/>
          <p:cNvSpPr/>
          <p:nvPr/>
        </p:nvSpPr>
        <p:spPr>
          <a:xfrm>
            <a:off x="2703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③興味喚起</a:t>
            </a:r>
          </a:p>
        </p:txBody>
      </p:sp>
      <p:sp>
        <p:nvSpPr>
          <p:cNvPr id="10" name="Chevron 9"/>
          <p:cNvSpPr/>
          <p:nvPr/>
        </p:nvSpPr>
        <p:spPr>
          <a:xfrm>
            <a:off x="3839399"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④友だち追加</a:t>
            </a:r>
          </a:p>
        </p:txBody>
      </p:sp>
      <p:sp>
        <p:nvSpPr>
          <p:cNvPr id="11" name="Chevron 10"/>
          <p:cNvSpPr/>
          <p:nvPr/>
        </p:nvSpPr>
        <p:spPr>
          <a:xfrm>
            <a:off x="49752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⑤面談</a:t>
            </a:r>
          </a:p>
        </p:txBody>
      </p:sp>
      <p:sp>
        <p:nvSpPr>
          <p:cNvPr id="12" name="Chevron 11"/>
          <p:cNvSpPr/>
          <p:nvPr/>
        </p:nvSpPr>
        <p:spPr>
          <a:xfrm>
            <a:off x="61110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⑥求人紹介</a:t>
            </a:r>
          </a:p>
        </p:txBody>
      </p:sp>
      <p:sp>
        <p:nvSpPr>
          <p:cNvPr id="13" name="Chevron 12"/>
          <p:cNvSpPr/>
          <p:nvPr/>
        </p:nvSpPr>
        <p:spPr>
          <a:xfrm>
            <a:off x="72468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FFFFFF"/>
                </a:solidFill>
                <a:latin typeface="メイリオ"/>
                <a:ea typeface="メイリオ"/>
                <a:cs typeface="メイリオ"/>
              </a:rPr>
              <a:t>⑦内定承諾</a:t>
            </a:r>
          </a:p>
        </p:txBody>
      </p:sp>
      <p:sp>
        <p:nvSpPr>
          <p:cNvPr id="14" name="Chevron 13"/>
          <p:cNvSpPr/>
          <p:nvPr/>
        </p:nvSpPr>
        <p:spPr>
          <a:xfrm>
            <a:off x="8382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⑧定着・紹介</a:t>
            </a:r>
          </a:p>
        </p:txBody>
      </p:sp>
      <p:sp>
        <p:nvSpPr>
          <p:cNvPr id="15" name="Rounded Rectangle 14"/>
          <p:cNvSpPr/>
          <p:nvPr/>
        </p:nvSpPr>
        <p:spPr>
          <a:xfrm>
            <a:off x="4320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16" name="Rounded Rectangle 15"/>
          <p:cNvSpPr/>
          <p:nvPr/>
        </p:nvSpPr>
        <p:spPr>
          <a:xfrm>
            <a:off x="4320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1  不安に即答する自動応答</a:t>
            </a:r>
          </a:p>
        </p:txBody>
      </p:sp>
      <p:sp>
        <p:nvSpPr>
          <p:cNvPr id="17" name="Rectangle 16"/>
          <p:cNvSpPr/>
          <p:nvPr/>
        </p:nvSpPr>
        <p:spPr>
          <a:xfrm>
            <a:off x="5220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「入社日は選べる？」「給与は交渉できる？」「休みは本当に取れる？」など内定後によくある質問に、LINEの自動応答で即答。答えきれないものは担当者へ。</a:t>
            </a:r>
          </a:p>
        </p:txBody>
      </p:sp>
      <p:sp>
        <p:nvSpPr>
          <p:cNvPr id="18" name="Rounded Rectangle 17"/>
          <p:cNvSpPr/>
          <p:nvPr/>
        </p:nvSpPr>
        <p:spPr>
          <a:xfrm>
            <a:off x="522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質問を受信</a:t>
            </a:r>
          </a:p>
        </p:txBody>
      </p:sp>
      <p:sp>
        <p:nvSpPr>
          <p:cNvPr id="19" name="Rounded Rectangle 18"/>
          <p:cNvSpPr/>
          <p:nvPr/>
        </p:nvSpPr>
        <p:spPr>
          <a:xfrm>
            <a:off x="1476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自動で即答</a:t>
            </a:r>
          </a:p>
        </p:txBody>
      </p:sp>
      <p:sp>
        <p:nvSpPr>
          <p:cNvPr id="20" name="Rounded Rectangle 19"/>
          <p:cNvSpPr/>
          <p:nvPr/>
        </p:nvSpPr>
        <p:spPr>
          <a:xfrm>
            <a:off x="2431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担当者の面談へ</a:t>
            </a:r>
          </a:p>
        </p:txBody>
      </p:sp>
      <p:sp>
        <p:nvSpPr>
          <p:cNvPr id="21" name="Rounded Rectangle 20"/>
          <p:cNvSpPr/>
          <p:nvPr/>
        </p:nvSpPr>
        <p:spPr>
          <a:xfrm>
            <a:off x="5220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夜間・休日でも止まらない</a:t>
            </a:r>
          </a:p>
        </p:txBody>
      </p:sp>
      <p:sp>
        <p:nvSpPr>
          <p:cNvPr id="22" name="Rounded Rectangle 21"/>
          <p:cNvSpPr/>
          <p:nvPr/>
        </p:nvSpPr>
        <p:spPr>
          <a:xfrm>
            <a:off x="34764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23" name="Rounded Rectangle 22"/>
          <p:cNvSpPr/>
          <p:nvPr/>
        </p:nvSpPr>
        <p:spPr>
          <a:xfrm>
            <a:off x="34764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2  日程調整の自動化</a:t>
            </a:r>
          </a:p>
        </p:txBody>
      </p:sp>
      <p:sp>
        <p:nvSpPr>
          <p:cNvPr id="24" name="Rectangle 23"/>
          <p:cNvSpPr/>
          <p:nvPr/>
        </p:nvSpPr>
        <p:spPr>
          <a:xfrm>
            <a:off x="35664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「相談したい」と送った瞬間に候補日を表示し、タップで確定。前日にリマインドを自動送付。電話やメールの往復で気持ちが冷めるのを防ぐ。</a:t>
            </a:r>
          </a:p>
        </p:txBody>
      </p:sp>
      <p:sp>
        <p:nvSpPr>
          <p:cNvPr id="25" name="Rounded Rectangle 24"/>
          <p:cNvSpPr/>
          <p:nvPr/>
        </p:nvSpPr>
        <p:spPr>
          <a:xfrm>
            <a:off x="3566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「相談したい」</a:t>
            </a:r>
          </a:p>
        </p:txBody>
      </p:sp>
      <p:sp>
        <p:nvSpPr>
          <p:cNvPr id="26" name="Rounded Rectangle 25"/>
          <p:cNvSpPr/>
          <p:nvPr/>
        </p:nvSpPr>
        <p:spPr>
          <a:xfrm>
            <a:off x="45212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候補日から選ぶ</a:t>
            </a:r>
          </a:p>
        </p:txBody>
      </p:sp>
      <p:sp>
        <p:nvSpPr>
          <p:cNvPr id="27" name="Rounded Rectangle 26"/>
          <p:cNvSpPr/>
          <p:nvPr/>
        </p:nvSpPr>
        <p:spPr>
          <a:xfrm>
            <a:off x="5476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前日リマインド</a:t>
            </a:r>
          </a:p>
        </p:txBody>
      </p:sp>
      <p:sp>
        <p:nvSpPr>
          <p:cNvPr id="28" name="Rounded Rectangle 27"/>
          <p:cNvSpPr/>
          <p:nvPr/>
        </p:nvSpPr>
        <p:spPr>
          <a:xfrm>
            <a:off x="35664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面談・内定者面談の当日キャンセルを減らす</a:t>
            </a:r>
          </a:p>
        </p:txBody>
      </p:sp>
      <p:sp>
        <p:nvSpPr>
          <p:cNvPr id="29" name="Rounded Rectangle 28"/>
          <p:cNvSpPr/>
          <p:nvPr/>
        </p:nvSpPr>
        <p:spPr>
          <a:xfrm>
            <a:off x="65208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30" name="Rounded Rectangle 29"/>
          <p:cNvSpPr/>
          <p:nvPr/>
        </p:nvSpPr>
        <p:spPr>
          <a:xfrm>
            <a:off x="65208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3  入社後がわかる体験談</a:t>
            </a:r>
          </a:p>
        </p:txBody>
      </p:sp>
      <p:sp>
        <p:nvSpPr>
          <p:cNvPr id="31" name="Rectangle 30"/>
          <p:cNvSpPr/>
          <p:nvPr/>
        </p:nvSpPr>
        <p:spPr>
          <a:xfrm>
            <a:off x="66108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「入社3ヶ月の先輩整備士の1日」「工場の設備・工具」など、入社後が想像できる体験談を配信。入社後どうなるかの不安を、実例で解消する。</a:t>
            </a:r>
          </a:p>
        </p:txBody>
      </p:sp>
      <p:sp>
        <p:nvSpPr>
          <p:cNvPr id="32" name="Rounded Rectangle 31"/>
          <p:cNvSpPr/>
          <p:nvPr/>
        </p:nvSpPr>
        <p:spPr>
          <a:xfrm>
            <a:off x="6610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体験談を配信</a:t>
            </a:r>
          </a:p>
        </p:txBody>
      </p:sp>
      <p:sp>
        <p:nvSpPr>
          <p:cNvPr id="33" name="Rounded Rectangle 32"/>
          <p:cNvSpPr/>
          <p:nvPr/>
        </p:nvSpPr>
        <p:spPr>
          <a:xfrm>
            <a:off x="7565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不安を解消</a:t>
            </a:r>
          </a:p>
        </p:txBody>
      </p:sp>
      <p:sp>
        <p:nvSpPr>
          <p:cNvPr id="34" name="Rounded Rectangle 33"/>
          <p:cNvSpPr/>
          <p:nvPr/>
        </p:nvSpPr>
        <p:spPr>
          <a:xfrm>
            <a:off x="8520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内定承諾</a:t>
            </a:r>
          </a:p>
        </p:txBody>
      </p:sp>
      <p:sp>
        <p:nvSpPr>
          <p:cNvPr id="35" name="Rounded Rectangle 34"/>
          <p:cNvSpPr/>
          <p:nvPr/>
        </p:nvSpPr>
        <p:spPr>
          <a:xfrm>
            <a:off x="66108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前後検索：検索の直後に「ホワイト企業」など働き方の検索</a:t>
            </a:r>
          </a:p>
        </p:txBody>
      </p:sp>
      <p:sp>
        <p:nvSpPr>
          <p:cNvPr id="36" name="Rounded Rectangle 35"/>
          <p:cNvSpPr/>
          <p:nvPr/>
        </p:nvSpPr>
        <p:spPr>
          <a:xfrm>
            <a:off x="432000" y="547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300" b="1">
                <a:solidFill>
                  <a:srgbClr val="FFFFFF"/>
                </a:solidFill>
                <a:latin typeface="メイリオ"/>
                <a:ea typeface="メイリオ"/>
                <a:cs typeface="メイリオ"/>
              </a:rPr>
              <a:t>内定の後もLINEでつながっているから、辞退を防げる。</a:t>
            </a:r>
          </a:p>
        </p:txBody>
      </p:sp>
    </p:spTree>
    <p:extLst>
      <p:ext uri="{BB962C8B-B14F-4D97-AF65-F5344CB8AC3E}">
        <p14:creationId xmlns:p14="http://schemas.microsoft.com/office/powerpoint/2010/main" val="24218423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改善モデル④｜定着・紹介につなげる</a:t>
            </a:r>
            <a:endParaRPr sz="1600" b="1" dirty="0">
              <a:solidFill>
                <a:srgbClr val="002060"/>
              </a:solidFill>
              <a:latin typeface="Meiryo"/>
              <a:ea typeface="Meiryo"/>
              <a:cs typeface="Meiryo"/>
              <a:sym typeface="Meiryo"/>
            </a:endParaRPr>
          </a:p>
        </p:txBody>
      </p:sp>
      <p:sp>
        <p:nvSpPr>
          <p:cNvPr id="46" name="Rectangle 45"/>
          <p:cNvSpPr/>
          <p:nvPr/>
        </p:nvSpPr>
        <p:spPr>
          <a:xfrm>
            <a:off x="432000" y="666000"/>
            <a:ext cx="9036000" cy="66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ctr"/>
          <a:lstStyle/>
          <a:p>
            <a:pPr algn="l"/>
            <a:r>
              <a:rPr sz="1300" b="0">
                <a:solidFill>
                  <a:srgbClr val="333333"/>
                </a:solidFill>
                <a:latin typeface="メイリオ"/>
                <a:ea typeface="メイリオ"/>
                <a:cs typeface="メイリオ"/>
              </a:rPr>
              <a:t>入社後3ヶ月の定着を支え、</a:t>
            </a:r>
          </a:p>
          <a:p>
            <a:pPr algn="l"/>
            <a:r>
              <a:rPr sz="1300" b="0">
                <a:solidFill>
                  <a:srgbClr val="333333"/>
                </a:solidFill>
                <a:latin typeface="メイリオ"/>
                <a:ea typeface="メイリオ"/>
                <a:cs typeface="メイリオ"/>
              </a:rPr>
              <a:t>友だち紹介と、次の転職時の再利用につなげます。</a:t>
            </a:r>
          </a:p>
        </p:txBody>
      </p:sp>
      <p:sp>
        <p:nvSpPr>
          <p:cNvPr id="47" name="Pentagon 46"/>
          <p:cNvSpPr/>
          <p:nvPr/>
        </p:nvSpPr>
        <p:spPr>
          <a:xfrm>
            <a:off x="432000" y="1494000"/>
            <a:ext cx="1092600" cy="288000"/>
          </a:xfrm>
          <a:prstGeom prst="homePlate">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①接触</a:t>
            </a:r>
          </a:p>
        </p:txBody>
      </p:sp>
      <p:sp>
        <p:nvSpPr>
          <p:cNvPr id="48" name="Chevron 47"/>
          <p:cNvSpPr/>
          <p:nvPr/>
        </p:nvSpPr>
        <p:spPr>
          <a:xfrm>
            <a:off x="1567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②離脱</a:t>
            </a:r>
          </a:p>
        </p:txBody>
      </p:sp>
      <p:sp>
        <p:nvSpPr>
          <p:cNvPr id="49" name="Chevron 48"/>
          <p:cNvSpPr/>
          <p:nvPr/>
        </p:nvSpPr>
        <p:spPr>
          <a:xfrm>
            <a:off x="27036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③興味喚起</a:t>
            </a:r>
          </a:p>
        </p:txBody>
      </p:sp>
      <p:sp>
        <p:nvSpPr>
          <p:cNvPr id="50" name="Chevron 49"/>
          <p:cNvSpPr/>
          <p:nvPr/>
        </p:nvSpPr>
        <p:spPr>
          <a:xfrm>
            <a:off x="3839399"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④友だち追加</a:t>
            </a:r>
          </a:p>
        </p:txBody>
      </p:sp>
      <p:sp>
        <p:nvSpPr>
          <p:cNvPr id="51" name="Chevron 50"/>
          <p:cNvSpPr/>
          <p:nvPr/>
        </p:nvSpPr>
        <p:spPr>
          <a:xfrm>
            <a:off x="49752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⑤面談</a:t>
            </a:r>
          </a:p>
        </p:txBody>
      </p:sp>
      <p:sp>
        <p:nvSpPr>
          <p:cNvPr id="52" name="Chevron 51"/>
          <p:cNvSpPr/>
          <p:nvPr/>
        </p:nvSpPr>
        <p:spPr>
          <a:xfrm>
            <a:off x="61110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⑥求人紹介</a:t>
            </a:r>
          </a:p>
        </p:txBody>
      </p:sp>
      <p:sp>
        <p:nvSpPr>
          <p:cNvPr id="53" name="Chevron 52"/>
          <p:cNvSpPr/>
          <p:nvPr/>
        </p:nvSpPr>
        <p:spPr>
          <a:xfrm>
            <a:off x="7246800" y="1494000"/>
            <a:ext cx="1092600" cy="288000"/>
          </a:xfrm>
          <a:prstGeom prst="chevron">
            <a:avLst/>
          </a:prstGeom>
          <a:solidFill>
            <a:srgbClr val="E7E6E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A6A6A6"/>
                </a:solidFill>
                <a:latin typeface="メイリオ"/>
                <a:ea typeface="メイリオ"/>
                <a:cs typeface="メイリオ"/>
              </a:rPr>
              <a:t>⑦内定承諾</a:t>
            </a:r>
          </a:p>
        </p:txBody>
      </p:sp>
      <p:sp>
        <p:nvSpPr>
          <p:cNvPr id="54" name="Chevron 53"/>
          <p:cNvSpPr/>
          <p:nvPr/>
        </p:nvSpPr>
        <p:spPr>
          <a:xfrm>
            <a:off x="8382600" y="1494000"/>
            <a:ext cx="1092600" cy="288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r>
              <a:rPr sz="900" b="1">
                <a:solidFill>
                  <a:srgbClr val="FFFFFF"/>
                </a:solidFill>
                <a:latin typeface="メイリオ"/>
                <a:ea typeface="メイリオ"/>
                <a:cs typeface="メイリオ"/>
              </a:rPr>
              <a:t>⑧定着・紹介</a:t>
            </a:r>
          </a:p>
        </p:txBody>
      </p:sp>
      <p:sp>
        <p:nvSpPr>
          <p:cNvPr id="55" name="Rounded Rectangle 54"/>
          <p:cNvSpPr/>
          <p:nvPr/>
        </p:nvSpPr>
        <p:spPr>
          <a:xfrm>
            <a:off x="4320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56" name="Rounded Rectangle 55"/>
          <p:cNvSpPr/>
          <p:nvPr/>
        </p:nvSpPr>
        <p:spPr>
          <a:xfrm>
            <a:off x="4320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1  定着フォロー</a:t>
            </a:r>
          </a:p>
        </p:txBody>
      </p:sp>
      <p:sp>
        <p:nvSpPr>
          <p:cNvPr id="57" name="Rectangle 56"/>
          <p:cNvSpPr/>
          <p:nvPr/>
        </p:nvSpPr>
        <p:spPr>
          <a:xfrm>
            <a:off x="5220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入社日からの日数をタグで管理し、1週間後・1ヶ月後・3ヶ月後に「困っていることはありませんか？」を自動配信。早期離職の兆しがあれば担当者が介入。</a:t>
            </a:r>
          </a:p>
        </p:txBody>
      </p:sp>
      <p:sp>
        <p:nvSpPr>
          <p:cNvPr id="58" name="Rounded Rectangle 57"/>
          <p:cNvSpPr/>
          <p:nvPr/>
        </p:nvSpPr>
        <p:spPr>
          <a:xfrm>
            <a:off x="522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入社日をタグ化</a:t>
            </a:r>
          </a:p>
        </p:txBody>
      </p:sp>
      <p:sp>
        <p:nvSpPr>
          <p:cNvPr id="59" name="Rounded Rectangle 58"/>
          <p:cNvSpPr/>
          <p:nvPr/>
        </p:nvSpPr>
        <p:spPr>
          <a:xfrm>
            <a:off x="1476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1週・1ヶ月・3ヶ月</a:t>
            </a:r>
          </a:p>
        </p:txBody>
      </p:sp>
      <p:sp>
        <p:nvSpPr>
          <p:cNvPr id="60" name="Rounded Rectangle 59"/>
          <p:cNvSpPr/>
          <p:nvPr/>
        </p:nvSpPr>
        <p:spPr>
          <a:xfrm>
            <a:off x="2431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早期離職を防ぐ</a:t>
            </a:r>
          </a:p>
        </p:txBody>
      </p:sp>
      <p:sp>
        <p:nvSpPr>
          <p:cNvPr id="61" name="Rounded Rectangle 60"/>
          <p:cNvSpPr/>
          <p:nvPr/>
        </p:nvSpPr>
        <p:spPr>
          <a:xfrm>
            <a:off x="5220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定着が、紹介・再利用の土台になる</a:t>
            </a:r>
          </a:p>
        </p:txBody>
      </p:sp>
      <p:sp>
        <p:nvSpPr>
          <p:cNvPr id="62" name="Rounded Rectangle 61"/>
          <p:cNvSpPr/>
          <p:nvPr/>
        </p:nvSpPr>
        <p:spPr>
          <a:xfrm>
            <a:off x="34764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63" name="Rounded Rectangle 62"/>
          <p:cNvSpPr/>
          <p:nvPr/>
        </p:nvSpPr>
        <p:spPr>
          <a:xfrm>
            <a:off x="34764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2  友だち紹介キャンペーン</a:t>
            </a:r>
          </a:p>
        </p:txBody>
      </p:sp>
      <p:sp>
        <p:nvSpPr>
          <p:cNvPr id="64" name="Rectangle 63"/>
          <p:cNvSpPr/>
          <p:nvPr/>
        </p:nvSpPr>
        <p:spPr>
          <a:xfrm>
            <a:off x="35664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定着を確認できたタイミング（入社3ヶ月が目安）で「整備士仲間をご紹介ください」を配信。LINEでシェアでき、紹介経由の人はミスマッチが少ない。</a:t>
            </a:r>
          </a:p>
        </p:txBody>
      </p:sp>
      <p:sp>
        <p:nvSpPr>
          <p:cNvPr id="65" name="Rounded Rectangle 64"/>
          <p:cNvSpPr/>
          <p:nvPr/>
        </p:nvSpPr>
        <p:spPr>
          <a:xfrm>
            <a:off x="3566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定着を確認</a:t>
            </a:r>
          </a:p>
        </p:txBody>
      </p:sp>
      <p:sp>
        <p:nvSpPr>
          <p:cNvPr id="66" name="Rounded Rectangle 65"/>
          <p:cNvSpPr/>
          <p:nvPr/>
        </p:nvSpPr>
        <p:spPr>
          <a:xfrm>
            <a:off x="45212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紹介のご案内</a:t>
            </a:r>
          </a:p>
        </p:txBody>
      </p:sp>
      <p:sp>
        <p:nvSpPr>
          <p:cNvPr id="67" name="Rounded Rectangle 66"/>
          <p:cNvSpPr/>
          <p:nvPr/>
        </p:nvSpPr>
        <p:spPr>
          <a:xfrm>
            <a:off x="54760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紹介経由の登録</a:t>
            </a:r>
          </a:p>
        </p:txBody>
      </p:sp>
      <p:sp>
        <p:nvSpPr>
          <p:cNvPr id="68" name="Rounded Rectangle 67"/>
          <p:cNvSpPr/>
          <p:nvPr/>
        </p:nvSpPr>
        <p:spPr>
          <a:xfrm>
            <a:off x="35664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広告費ゼロで新しい友だちが増える</a:t>
            </a:r>
          </a:p>
        </p:txBody>
      </p:sp>
      <p:sp>
        <p:nvSpPr>
          <p:cNvPr id="69" name="Rounded Rectangle 68"/>
          <p:cNvSpPr/>
          <p:nvPr/>
        </p:nvSpPr>
        <p:spPr>
          <a:xfrm>
            <a:off x="6520800" y="1908000"/>
            <a:ext cx="2954400" cy="3401999"/>
          </a:xfrm>
          <a:prstGeom prst="roundRect">
            <a:avLst>
              <a:gd name="adj" fmla="val 8000"/>
            </a:avLst>
          </a:prstGeom>
          <a:solidFill>
            <a:srgbClr val="F7F9FC"/>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endParaRPr/>
          </a:p>
        </p:txBody>
      </p:sp>
      <p:sp>
        <p:nvSpPr>
          <p:cNvPr id="70" name="Rounded Rectangle 69"/>
          <p:cNvSpPr/>
          <p:nvPr/>
        </p:nvSpPr>
        <p:spPr>
          <a:xfrm>
            <a:off x="6520800" y="1908000"/>
            <a:ext cx="29544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1600" rIns="108000" bIns="21600" rtlCol="0" anchor="ctr"/>
          <a:lstStyle/>
          <a:p>
            <a:pPr algn="l"/>
            <a:r>
              <a:rPr sz="1200" b="1">
                <a:solidFill>
                  <a:srgbClr val="FFFFFF"/>
                </a:solidFill>
                <a:latin typeface="メイリオ"/>
                <a:ea typeface="メイリオ"/>
                <a:cs typeface="メイリオ"/>
              </a:rPr>
              <a:t>3  長期離脱層への再接触</a:t>
            </a:r>
          </a:p>
        </p:txBody>
      </p:sp>
      <p:sp>
        <p:nvSpPr>
          <p:cNvPr id="71" name="Rectangle 70"/>
          <p:cNvSpPr/>
          <p:nvPr/>
        </p:nvSpPr>
        <p:spPr>
          <a:xfrm>
            <a:off x="6610800" y="2322000"/>
            <a:ext cx="2774400" cy="140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1600" rIns="18000" bIns="21600" rtlCol="0" anchor="t"/>
          <a:lstStyle/>
          <a:p>
            <a:pPr algn="l"/>
            <a:r>
              <a:rPr sz="1150" b="0">
                <a:solidFill>
                  <a:srgbClr val="333333"/>
                </a:solidFill>
                <a:latin typeface="メイリオ"/>
                <a:ea typeface="メイリオ"/>
                <a:cs typeface="メイリオ"/>
              </a:rPr>
              <a:t>半年以上反応がない人には、売り込みをせず整備士の年収動向・資格情報を2〜3回届けて関係を戻す。そのうえで再登録・紹介へ。</a:t>
            </a:r>
          </a:p>
        </p:txBody>
      </p:sp>
      <p:sp>
        <p:nvSpPr>
          <p:cNvPr id="72" name="Rounded Rectangle 71"/>
          <p:cNvSpPr/>
          <p:nvPr/>
        </p:nvSpPr>
        <p:spPr>
          <a:xfrm>
            <a:off x="66108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1</a:t>
            </a:r>
          </a:p>
          <a:p>
            <a:pPr algn="ctr"/>
            <a:r>
              <a:rPr sz="1000" b="1">
                <a:solidFill>
                  <a:srgbClr val="FFFFFF"/>
                </a:solidFill>
                <a:latin typeface="メイリオ"/>
                <a:ea typeface="メイリオ"/>
                <a:cs typeface="メイリオ"/>
              </a:rPr>
              <a:t>情報だけを届ける</a:t>
            </a:r>
          </a:p>
        </p:txBody>
      </p:sp>
      <p:sp>
        <p:nvSpPr>
          <p:cNvPr id="73" name="Rounded Rectangle 72"/>
          <p:cNvSpPr/>
          <p:nvPr/>
        </p:nvSpPr>
        <p:spPr>
          <a:xfrm>
            <a:off x="75656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2</a:t>
            </a:r>
          </a:p>
          <a:p>
            <a:pPr algn="ctr"/>
            <a:r>
              <a:rPr sz="1000" b="1">
                <a:solidFill>
                  <a:srgbClr val="FFFFFF"/>
                </a:solidFill>
                <a:latin typeface="メイリオ"/>
                <a:ea typeface="メイリオ"/>
                <a:cs typeface="メイリオ"/>
              </a:rPr>
              <a:t>関係を戻す</a:t>
            </a:r>
          </a:p>
        </p:txBody>
      </p:sp>
      <p:sp>
        <p:nvSpPr>
          <p:cNvPr id="74" name="Rounded Rectangle 73"/>
          <p:cNvSpPr/>
          <p:nvPr/>
        </p:nvSpPr>
        <p:spPr>
          <a:xfrm>
            <a:off x="8520400" y="3798000"/>
            <a:ext cx="864800" cy="540000"/>
          </a:xfrm>
          <a:prstGeom prst="roundRect">
            <a:avLst>
              <a:gd name="adj" fmla="val 8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FFFFFF"/>
                </a:solidFill>
                <a:latin typeface="メイリオ"/>
                <a:ea typeface="メイリオ"/>
                <a:cs typeface="メイリオ"/>
              </a:rPr>
              <a:t>3</a:t>
            </a:r>
          </a:p>
          <a:p>
            <a:pPr algn="ctr"/>
            <a:r>
              <a:rPr sz="1000" b="1">
                <a:solidFill>
                  <a:srgbClr val="FFFFFF"/>
                </a:solidFill>
                <a:latin typeface="メイリオ"/>
                <a:ea typeface="メイリオ"/>
                <a:cs typeface="メイリオ"/>
              </a:rPr>
              <a:t>再登録・紹介</a:t>
            </a:r>
          </a:p>
        </p:txBody>
      </p:sp>
      <p:sp>
        <p:nvSpPr>
          <p:cNvPr id="75" name="Rounded Rectangle 74"/>
          <p:cNvSpPr/>
          <p:nvPr/>
        </p:nvSpPr>
        <p:spPr>
          <a:xfrm>
            <a:off x="6610800" y="4428000"/>
            <a:ext cx="2774400" cy="79200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950" b="1">
                <a:solidFill>
                  <a:srgbClr val="7F7F7F"/>
                </a:solidFill>
                <a:latin typeface="メイリオ"/>
                <a:ea typeface="メイリオ"/>
                <a:cs typeface="メイリオ"/>
              </a:rPr>
              <a:t>チェングロウスでは</a:t>
            </a:r>
          </a:p>
          <a:p>
            <a:pPr algn="ctr"/>
            <a:r>
              <a:rPr sz="1100" b="1">
                <a:solidFill>
                  <a:srgbClr val="1F285A"/>
                </a:solidFill>
                <a:latin typeface="メイリオ"/>
                <a:ea typeface="メイリオ"/>
                <a:cs typeface="メイリオ"/>
              </a:rPr>
              <a:t>ブロックされない接し方で、次の転職時に思い出してもらう</a:t>
            </a:r>
          </a:p>
        </p:txBody>
      </p:sp>
      <p:sp>
        <p:nvSpPr>
          <p:cNvPr id="76" name="Rounded Rectangle 75"/>
          <p:cNvSpPr/>
          <p:nvPr/>
        </p:nvSpPr>
        <p:spPr>
          <a:xfrm>
            <a:off x="432000" y="5472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1600" rIns="54000" bIns="21600" rtlCol="0" anchor="ctr"/>
          <a:lstStyle/>
          <a:p>
            <a:pPr algn="ctr"/>
            <a:r>
              <a:rPr sz="1300" b="1">
                <a:solidFill>
                  <a:srgbClr val="FFFFFF"/>
                </a:solidFill>
                <a:latin typeface="メイリオ"/>
                <a:ea typeface="メイリオ"/>
                <a:cs typeface="メイリオ"/>
              </a:rPr>
              <a:t>一度つながった整備士と、次の転職まで関係を続ける。</a:t>
            </a:r>
          </a:p>
        </p:txBody>
      </p:sp>
    </p:spTree>
    <p:extLst>
      <p:ext uri="{BB962C8B-B14F-4D97-AF65-F5344CB8AC3E}">
        <p14:creationId xmlns:p14="http://schemas.microsoft.com/office/powerpoint/2010/main" val="1269888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143146</TotalTime>
  <Words>5255</Words>
  <Application>Microsoft Office PowerPoint</Application>
  <PresentationFormat>A4 210 x 297 mm</PresentationFormat>
  <Paragraphs>1134</Paragraphs>
  <Slides>52</Slides>
  <Notes>25</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52</vt:i4>
      </vt:variant>
    </vt:vector>
  </HeadingPairs>
  <TitlesOfParts>
    <vt:vector size="59"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1957</cp:revision>
  <cp:lastPrinted>2022-11-01T11:38:14Z</cp:lastPrinted>
  <dcterms:created xsi:type="dcterms:W3CDTF">2015-09-04T09:21:15Z</dcterms:created>
  <dcterms:modified xsi:type="dcterms:W3CDTF">2026-09-24T07:29:58Z</dcterms:modified>
</cp:coreProperties>
</file>