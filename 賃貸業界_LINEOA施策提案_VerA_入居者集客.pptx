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  <p:sldId id="2982" r:id="rId12"/>
    <p:sldId id="2736" r:id="rId13"/>
    <p:sldId id="2983" r:id="rId14"/>
    <p:sldId id="2984" r:id="rId15"/>
    <p:sldId id="2985" r:id="rId16"/>
    <p:sldId id="2986" r:id="rId17"/>
    <p:sldId id="2987" r:id="rId18"/>
    <p:sldId id="2908" r:id="rId19"/>
    <p:sldId id="2950" r:id="rId20"/>
    <p:sldId id="2762" r:id="rId21"/>
    <p:sldId id="2937" r:id="rId22"/>
    <p:sldId id="2939" r:id="rId23"/>
    <p:sldId id="2966" r:id="rId24"/>
    <p:sldId id="2962" r:id="rId25"/>
    <p:sldId id="2942" r:id="rId26"/>
    <p:sldId id="2941" r:id="rId27"/>
    <p:sldId id="2943" r:id="rId28"/>
    <p:sldId id="2944" r:id="rId29"/>
    <p:sldId id="2967" r:id="rId30"/>
    <p:sldId id="2946" r:id="rId31"/>
    <p:sldId id="2947" r:id="rId32"/>
    <p:sldId id="2948" r:id="rId33"/>
    <p:sldId id="2958" r:id="rId34"/>
    <p:sldId id="2954" r:id="rId35"/>
    <p:sldId id="2953" r:id="rId36"/>
    <p:sldId id="2955" r:id="rId37"/>
    <p:sldId id="1169" r:id="rId3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8CEE-BA77-7F59-159F-47D256C6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20AAE9-56BE-66E5-82F7-A32C5F5E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3263BB-84E3-A23F-F50A-22409A9D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E676F0-0850-6080-8D54-24CC34C00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45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D297-594A-D322-AC6D-28FDD0CC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D47DAF-3395-7EB8-B917-99947107C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D9425B-51D3-BDCB-545C-23641969B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D62E5C-A1FD-A187-2F31-A827800A2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900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1BB-A366-B481-D59D-4EB55327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890F8B-EEFF-D02B-04F0-B8C096E4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D321AA-CFFF-72F6-A10A-CE135C21D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28A77C-D838-F107-1299-1CFE8BFB2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36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A811-371F-8FB3-F066-52767F4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A11C9D-FDA9-6C17-2E4B-B8729DB0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22E24C-8C3E-B253-1458-19B06328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308508-22B0-7807-8EBD-1B4BC57F8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83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497A-27D1-3FCF-1F91-9D3EAE5F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107B2A-3CC9-CDDB-0154-3C6FEEEB7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9E55FE-2D43-AAFB-1E0D-9FE86011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05F46C-9309-B38B-AEB2-32E50CF0E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070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E86F-A6D1-E87A-0CDF-967B15A6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B2A411-33D2-6528-1C93-D186B198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218984-9375-B358-47D3-58B36CCF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39DC-7BEC-8764-B0DE-E4A154E5A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09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36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jpeg"/><Relationship Id="rId8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反響を「資産」に変えて、CPOを下げる。接客の質ではなく再利用率で勝つ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678382" y="4341752"/>
            <a:ext cx="2549236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業界：賃貸業界（入居者集客・仲介＋管理併営）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この資料が言っていること：ポータル反響は、いま「使い捨て」になっている。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Webマーケでできるのは、反響を資産に変えてCPOを下げること。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199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199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199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199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S03-06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60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60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実態調査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60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S07-10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68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68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68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全体設計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68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S11-14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76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76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76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76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S15-19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199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199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99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199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S20-25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360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360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60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来店改善・工数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60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S26-28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68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68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8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成果と体制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68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S29-32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76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76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締め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6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S33-36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全8章・36枚｜主語は「LINE公式アカウントの運用」。広告運用の提案書ではない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検討背景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ユーザーはアプリ登録も会員登録もしたがらない。唯一ハードルを越えられるのがLINE。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国内MAU1億人突破、メッセージは受信直後から高い割合で読まれる媒体。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44000"/>
            <a:ext cx="42336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41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5600" y="1620000"/>
            <a:ext cx="44496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3600" y="1692000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メッセージ開封率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600" y="1944000"/>
            <a:ext cx="42336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3600" y="241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メールは約20%｜2022年6月時点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880000"/>
            <a:ext cx="9043200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880000"/>
            <a:ext cx="8755200" cy="72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アプリ登録・会員登録は「ハードルが高い」と感じるユーザーが増えている。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フォーム入力よりも低ハードルなLINEなら、唯一そのハードルを越えられる。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業界水準｜出典：LINEヤフー公式（国内MAU・開封率）。倍率表現は使用していない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賃貸仲介のWebマーケ構造｜3つの壁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物件は全社共通。増やせるのは反響数ではなく、反響あたりの成約数だけ。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②③を潰すと、同じ反響数・同じ出稿費のままCPOが下がる。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1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① ポータル依存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反響単価は言い値。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下げられない</a:t>
            </a:r>
          </a:p>
          <a:p>
            <a:pPr algn="ctr">
              <a:spcAft>
                <a:spcPts val="80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20000"/>
            <a:ext cx="2942400" cy="11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取りこぼし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初動が遅い／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電話が繋がらない</a:t>
            </a:r>
          </a:p>
          <a:p>
            <a:pPr algn="ctr">
              <a:spcAft>
                <a:spcPts val="8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触れる（自動化）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20000"/>
            <a:ext cx="2942400" cy="11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使い捨て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決めなかった人・更新期の人が</a:t>
            </a:r>
          </a:p>
          <a:p>
            <a:pPr algn="ctr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資産化されていない</a:t>
            </a:r>
          </a:p>
          <a:p>
            <a:pPr algn="ctr">
              <a:spcAft>
                <a:spcPts val="8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触れる（リスト化）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844000"/>
            <a:ext cx="9043200" cy="7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2844000"/>
            <a:ext cx="8755200" cy="75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②取りこぼし・③使い捨てを潰すと、同じ反響数・同じ出稿費のままCPOが下がる。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意見｜DYM提案の構造整理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部屋探しユーザーの心理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電話に出ないのは冷たいからではない。知らない番号に出ないだけ。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追いかけるほど逃げる。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知らない番号には
出ない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平均内見物件数は2.7件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（減少傾向）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自分で
決めたい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オンライン内見実施率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32.5%（2年連続）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20000"/>
            <a:ext cx="29424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リスクは
自分で調べる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ハザードマップを自分で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確認 48.3%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060000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3060000"/>
            <a:ext cx="8755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部屋探しから契約までは約3週間〜1ヶ月。この短期間に「追いかけずに寄り添う」設計が要る。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業界水準｜出典：SUUMOリサーチセンター 賃貸契約者動向調査（2022〜2024年度・首都圏）。※検索スニペット経由のため提案前に一次ソースで再確認すること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Webマーケで「できること／できないこと」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接客の質は変えられない。変えられるのは反響の初動と再利用の6項目だけ。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80000" cy="226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26640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4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担当者の接客トークの質そのもの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48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物件の仕入れ力・管理戸数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02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ポータルの掲載単価（言い値）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0" y="1620000"/>
            <a:ext cx="6055200" cy="22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8000" y="1692000"/>
            <a:ext cx="5839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できること（＝本提案の範囲）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000" y="1908000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1. 反響の初動を自動化する（5分以内の自動返信）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67200" y="1943999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反響→来店率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8000" y="2214000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2. 反響を友だち化してリスト資産にする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67200" y="2249999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翌期のCPO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8000" y="2520000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3. 条件タグで物件レコメンドを自動配信する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200" y="2556000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来店率・工数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000" y="2826000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4. 来店予約のリマインドでドタキャンを減らす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67200" y="2861999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来店→成約率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8000" y="3131999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5. 決めなかった人・更新期が近い人を再アプローチする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7200" y="3167999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追加成約・CPO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8000" y="3438000"/>
            <a:ext cx="4867200" cy="2952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6. ポータルを通さない自社反響をつくる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67200" y="3474000"/>
            <a:ext cx="900000" cy="19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ポータル依存度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意見｜DYMの提案スコープ宣言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検索は年中フラットなのに、契約は1〜3月に集中している。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＝業界は1〜3月しか刈っていない。閑散期に探している人を、まるごと取りこぼしている。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verA_trend_chint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620000"/>
            <a:ext cx="4449600" cy="1897654"/>
          </a:xfrm>
          <a:prstGeom prst="rect">
            <a:avLst/>
          </a:prstGeom>
        </p:spPr>
      </p:pic>
      <p:pic>
        <p:nvPicPr>
          <p:cNvPr id="6" name="Picture 5" descr="verA_trend_hikkosh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600" y="1620000"/>
            <a:ext cx="4449600" cy="18731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4068000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4068000"/>
            <a:ext cx="88272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閑散期こそ仕込み時。S24（年間企画投稿カレンダー）の設計図になる。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業界水準｜出典：Googleトレンド（2026年8月取得・実データ）。「内見」は検索Vol不足のため測定不能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前はエリア名と相場、後は「審査に落ちる不安」。不安の中身が2週間で入れ替わる。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友だち追加を仕掛けるのは前15日〜起点（比較が始まる前）。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検索“前”15〜7日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051999"/>
            <a:ext cx="2942400" cy="86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エリア名で探し始める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（大分 賃貸／千葉市 賃貸 等）＋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家賃相場・敷金礼金ゼロ物件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24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起点0日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2400" y="2051999"/>
            <a:ext cx="2942400" cy="86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ポータル名で検索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（スーモ／ホームズ／athome）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検索“後”7〜15日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800" y="2051999"/>
            <a:ext cx="2942400" cy="86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★審査に落ちる不安が集中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（賃貸 審査 落ちる確率／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保証人なし 賃貸 等）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060000"/>
            <a:ext cx="90432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113999"/>
            <a:ext cx="8827200" cy="90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★新発見：外国人入居者セグメント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在留カード更新・永住権・帰化条件・技能実習等のKWが検索前後に多数確認された。保証審査と日本語対応が壁になっている層が実在する（S33 D案の根拠）。</a:t>
            </a:r>
          </a:p>
          <a:p>
            <a:pPr algn="l">
              <a:lnSpc>
                <a:spcPct val="12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ライフイベント連動：「仕事探し」（前1日）→「バイト探し」（後3日）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事実｜出典：LINEヤフー媒体資料（取得済み・反映済み）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他社分析①｜競合のLINE運用ステータス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競合は友だち数を持っていても、使っているとは限らない。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友だち数は page.line.me から取得日つきで実測する。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5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824"/>
                <a:gridCol w="1989504"/>
                <a:gridCol w="1808640"/>
                <a:gridCol w="2351232"/>
              </a:tblGrid>
              <a:tr h="198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アカウント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ID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友だち数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運用の型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198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いい部屋ネット（本部）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883ubdur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要実測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エイブルAGENT（単身）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869oufcj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要実測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411999"/>
            <a:ext cx="90432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★差込枠｜友だち数・配信内容の実測（未取得）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page.line.me から取得日つきで取得。「おすすめ」欄の数値は拾わない。
実機スクリーンショット（あいさつMSG・リッチメニュー・直近配信）も併せて取得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選定は知名度優先（スキル §3 で事前承認済み）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98A-7489-8F6D-91D8-19CE7F5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他社分析②｜大手FCは店舗ごとにアカウントが乱立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本部で運用が統一されておらず、友だちが店舗ごとに分散している。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数は持っていても、リストが会社の資産になっていない。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アパマンショップ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高崎/中央/十条/北浦和/東中野/中野の6店舗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友だち数：★未取得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20000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エイブル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豊中/横浜/小田急相模原/寝屋川の4店舗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友だち数：★未取得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20000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いい部屋ネット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三宮駅前/西荻窪の2店舗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友だち数：★未取得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664000"/>
            <a:ext cx="9043200" cy="720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664000"/>
            <a:ext cx="8827200" cy="72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本部で運用が統一されておらず、友だちが店舗ごとに分散している。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数は持っていても、リストが会社の資産になっていない＝併営会社（管理併営）なら差別化できる余地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★未取得｜店舗別アカウントの存在は確認済み。友だち数は page.line.me から実測（要取得）</a:t>
            </a:r>
          </a:p>
        </p:txBody>
      </p:sp>
    </p:spTree>
    <p:extLst>
      <p:ext uri="{BB962C8B-B14F-4D97-AF65-F5344CB8AC3E}">
        <p14:creationId xmlns:p14="http://schemas.microsoft.com/office/powerpoint/2010/main" val="6538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全体設計｜カスタマージャーニー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8フェーズのうち接点が無いのは②サイト離脱〜④リード獲得。ここが失注の正体。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08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（認知・流入）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912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②サイト離脱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（対策）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16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（興味喚起）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19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（web/LINE）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24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28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⑥有効リードの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再育成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31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⑦マネタイズ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（成約/購入）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35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⑧LTV最大化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2400" y="2591999"/>
            <a:ext cx="3391200" cy="251999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400" y="2591999"/>
            <a:ext cx="33912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★接点が無い区間＝失注の正体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023999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023999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この空白区間をLINEで埋める。ポータルと店舗の動線には手を入れない。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意見｜DYM標準のカスタマージャーニーフレームに賃貸仲介を当てはめ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全体設計｜施策全体像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ポータルと店舗には手を入れない。その間の「反響〜来店」だけを埋める。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ポータル</a:t>
            </a:r>
          </a:p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反響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68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76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★LINE友だち化</a:t>
            </a:r>
          </a:p>
          <a:p>
            <a:pPr algn="ctr">
              <a:lnSpc>
                <a:spcPct val="115000"/>
              </a:lnSpc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（初動自動化）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64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2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来店予約</a:t>
            </a:r>
          </a:p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・内見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60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68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成約</a:t>
            </a:r>
          </a:p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・入居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6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64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更新</a:t>
            </a:r>
          </a:p>
          <a:p>
            <a:pPr algn="ctr">
              <a:lnSpc>
                <a:spcPct val="115000"/>
              </a:lnSpc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・住み替え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844000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844000"/>
            <a:ext cx="8827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触るのはLINE友だち化から成約までの区間だけ。ポータル出稿費もLPも触らない。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意見｜DYM提案の施策全体像</a:t>
            </a: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B2C5-43E4-382E-3F0A-0B0F5E9F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全体設計｜対策領域マップ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打ち手は新規反響と既存入居者の2領域。併営（仲介＋管理）なら両方取れる。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新規反響領域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6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取りこぼしの回収（来店率・CPO）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0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・反響の初動を自動化（5分以内）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84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・希望条件アンケートで物件レコメンド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・来店リマインドでドタキャン防止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5600" y="1620000"/>
            <a:ext cx="4449600" cy="22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36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既存入居者領域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3600" y="196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使い捨ての解消（更新・紹介・LTV）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3600" y="230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・更新期の住み替え提案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3600" y="284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・決めなかった人の再アプローチ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3600" y="338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・退去予告後の引き止め・紹介導線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意見｜併営（仲介＋管理）の場合、②既存入居者領域が差別化になる</a:t>
            </a:r>
          </a:p>
        </p:txBody>
      </p:sp>
    </p:spTree>
    <p:extLst>
      <p:ext uri="{BB962C8B-B14F-4D97-AF65-F5344CB8AC3E}">
        <p14:creationId xmlns:p14="http://schemas.microsoft.com/office/powerpoint/2010/main" val="322507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AB4E-6E86-5642-81B1-3703D9B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全体設計｜施策展開図（初期・月次）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初期構築は1ヶ月、以降は月次運用。やることは決まっていて増え続けない。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27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初期（初動・構築）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あいさつメッセージ設計（電話しません宣言）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6399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希望条件アンケート設計（5問）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0800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リッチメニュー3タブ18ボタン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664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14日ステップ配信の設計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6399" y="2664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反響即時対応（5分以内自動返信）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348000"/>
            <a:ext cx="9043200" cy="2700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月次（定例運用）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年間企画投稿（閑散期の仕込み）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28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物件レコメンド配信の運用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6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通知メッセージ運用（更新・退去予告）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4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定例レポート・改善提案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意見｜DYM標準の展開図を賃貸施策に置換</a:t>
            </a:r>
          </a:p>
        </p:txBody>
      </p:sp>
    </p:spTree>
    <p:extLst>
      <p:ext uri="{BB962C8B-B14F-4D97-AF65-F5344CB8AC3E}">
        <p14:creationId xmlns:p14="http://schemas.microsoft.com/office/powerpoint/2010/main" val="422487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09D0-C3F8-FF51-9B68-5792A11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構築｜友だち追加動線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反響が来た瞬間にLINEへ寄せる。ここを外すと以降が全部乗らない。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反響直後の自動誘導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問い合わせ直後にLINE誘導。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5分以内の初動に接続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サイト離脱防止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検索結果一覧の離脱意図を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検知してLINE追加バナー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友だち追加動線として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タイムラインに配信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既存リストの活用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メルマガ・テレマの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既存リストをLINEへ移行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42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42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①反響直後の自動誘導が最速で貯まる。ここを外すと以降が全部乗らない。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意見｜DYM提案の友だち追加動線設計</a:t>
            </a:r>
          </a:p>
        </p:txBody>
      </p:sp>
    </p:spTree>
    <p:extLst>
      <p:ext uri="{BB962C8B-B14F-4D97-AF65-F5344CB8AC3E}">
        <p14:creationId xmlns:p14="http://schemas.microsoft.com/office/powerpoint/2010/main" val="177280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590B-7660-E16F-AF1F-C1B09199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「こちらからお電話はしません」を最初に書く。この1行がブロック率を決める。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620000"/>
            <a:ext cx="3096000" cy="2376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0400" y="1771200"/>
            <a:ext cx="2995200" cy="2174399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400" y="1771200"/>
            <a:ext cx="2995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●●不動産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600" y="19980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お問い合わせありがとうございます！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担当の田中です。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600" y="23652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こちらからお電話はしません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来店を急かすこともしません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600" y="27324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5つだけ教えてください。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ご希望に合うお部屋をお送りします。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00" y="3099600"/>
            <a:ext cx="2872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希望条件を入力する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00" y="3358800"/>
            <a:ext cx="2872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 反響から5分以内に自動送信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7999" y="1620000"/>
            <a:ext cx="5587200" cy="23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6000" y="1692000"/>
            <a:ext cx="5371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設計の要点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6000" y="1980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・「お電話はしません」を最初に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知らない番号に出ない層の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警戒を解く（S05の心理）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6000" y="2628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・来店を急かさない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追いかけるほど逃げる。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提案は物件情報から入る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6000" y="3276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・5分以内の自動送信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反響直後の温度が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最も高い瞬間を逃さない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意見｜配信文面は初稿</a:t>
            </a:r>
          </a:p>
        </p:txBody>
      </p:sp>
    </p:spTree>
    <p:extLst>
      <p:ext uri="{BB962C8B-B14F-4D97-AF65-F5344CB8AC3E}">
        <p14:creationId xmlns:p14="http://schemas.microsoft.com/office/powerpoint/2010/main" val="4260980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構築｜希望条件アンケート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5問すべて選択式・自由入力ゼロ。Q1＝エリアが最初（前後検索データで裏付け済み）。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Q1 エリアは？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選択式（沿線・駅）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前後検索でエリア名が最初に検索されることと一致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5600" y="1620000"/>
            <a:ext cx="4449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Q2 家賃の上限は？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選択式（レンジ）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物件レコメンドの絞り込み軸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20000"/>
            <a:ext cx="4449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Q3 間取りは？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1K/1LDK/2LDK等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同上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2520000"/>
            <a:ext cx="4449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Q4 入居時期は？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今すぐ／1ヶ月以内／
2〜3ヶ月／情報収集中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温度感の把握・ステップ配信の分岐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420000"/>
            <a:ext cx="4449600" cy="82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Q5 こだわりは？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ペット可／初期費用が安い／
家具付き 等（複数選択）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レコメンドのタグ付け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意見｜取れるタグはS23（物件レコメンド配信）で使用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BFBA-F50F-49FF-6262-A65BC71D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18ボタンすべてに役割がある。左上は常に「今すぐ探す」。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2000" y="1655999"/>
            <a:ext cx="4320000" cy="234000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600" y="1677599"/>
            <a:ext cx="1414800" cy="19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探す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2419200" y="1677599"/>
            <a:ext cx="1414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お金・審査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4800" y="1677599"/>
            <a:ext cx="1414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来店・内見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36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今すぐ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物件を探す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64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エリアから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探す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92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初期費用が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安い物件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6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ペット可・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家具付き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64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新着を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受け取る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92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変更する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999" y="1728000"/>
            <a:ext cx="3931200" cy="216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設計の要点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・左上＝「今すぐ探す」固定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・お金・審査＝「審査に落ちる
　不安」（後7〜15日の検索）に
　先回り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・来店・内見＝オンライン内見の
　逃げ道を明示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・タブ切替で3倍の情報量を
　1画面に収める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意見｜DYM提案のリッチメニュー設計</a:t>
            </a:r>
          </a:p>
        </p:txBody>
      </p:sp>
    </p:spTree>
    <p:extLst>
      <p:ext uri="{BB962C8B-B14F-4D97-AF65-F5344CB8AC3E}">
        <p14:creationId xmlns:p14="http://schemas.microsoft.com/office/powerpoint/2010/main" val="1251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構築｜反響即時対応（★重点）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5分以内に返せるかで来店率が変わる。人ではなく自動化で解く。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反響発生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ポータル・自社サイトから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問い合わせが入る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自動応答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5分以内にLINEで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あいさつ＋アンケート誘導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条件取得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希望条件アンケートで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タグ化・レコメンド開始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54000"/>
            <a:ext cx="8827200" cy="72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夜間・繁忙期でも落ちないのが自動化の価値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有人対応では夜間・土日の反響取りこぼしが起きる。自動化なら24時間、初動の速度が落ちない。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意見｜DYM提案の反響即時対応設計</a:t>
            </a: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配信設計｜14日ステップ設計（★重点）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検討2〜4週間に14日を張る。Day10〜14が他社で決まる直前＝最後の勝負どころ。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初動｜Day0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5分以内の自動返信＋希望条件アンケート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88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提案｜Day1・3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88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条件タグに合う物件を配信。来店を急がせない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96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誘導｜Day5・7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96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内見・来店オファー①（オンライン内見の逃げ道つき）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04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クロージング｜Day10・14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04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最後の一押し。Day14のテーマは「審査」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131999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131999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「◯日後：方向性（〜というデータがあるため）」の形式で、根拠を1行ずつ添える（S08と連動）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意見｜④のタイミングは前後検索データ（S08：後7〜15日に審査不安が集中）と連動</a:t>
            </a: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配信設計｜実文面①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Day0の即レスとDay3の物件提案。実際に届く文面はこれ。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7999" y="1620000"/>
            <a:ext cx="432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8400" y="1771200"/>
            <a:ext cx="421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8400" y="1771200"/>
            <a:ext cx="421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600" y="19980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お問い合わせありがとうございます！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担当の田中です。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9600" y="23652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こちらからお電話はしません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来店を急かすこともしません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600" y="27324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希望条件を入力する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600" y="2991600"/>
            <a:ext cx="4096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通知プレビュー：「お問い合わせありがとうございます！担当の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6000" y="1620000"/>
            <a:ext cx="432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6400" y="1771200"/>
            <a:ext cx="421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6400" y="1771200"/>
            <a:ext cx="421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7600" y="19980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ご希望条件に合うお部屋が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3件見つかりました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7600" y="23652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初期費用が安い順に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ご紹介しますね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7600" y="27324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物件を見てみる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意見｜配信文面は初稿。絵文字・改行込みで実際の配信に近い形</a:t>
            </a:r>
          </a:p>
        </p:txBody>
      </p: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配信設計｜実文面②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Day7の内見オファーとDay14。Day14のテーマは「審査」。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7999" y="1620000"/>
            <a:ext cx="432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8400" y="1771200"/>
            <a:ext cx="421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8400" y="1771200"/>
            <a:ext cx="421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600" y="19980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気になる物件は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見つかりましたか？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9600" y="2365200"/>
            <a:ext cx="409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オンライン内見もできます。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来店の前にご相談だけでも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600" y="27324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来店を予約する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600" y="29916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オンライン内見を予約する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6000" y="1620000"/>
            <a:ext cx="432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6400" y="1771200"/>
            <a:ext cx="421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6400" y="1771200"/>
            <a:ext cx="421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7600" y="19980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お部屋はお決まりですか？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7600" y="2257200"/>
            <a:ext cx="40968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【申込前に確認すべき5つ】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①審査は保証会社が見ます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②保証人なしでも通ります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③必要書類は3点だけ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7600" y="28404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8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審査の可否を先に確認する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7600" y="3099600"/>
            <a:ext cx="409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今回は見送る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7600" y="3358800"/>
            <a:ext cx="4096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通知プレビュー：「お部屋はお決まりですか？」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意見｜Day14は「今回は見送る」の逃げ道を必ず置く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配信設計｜物件レコメンド配信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全員に同じ物件を送るのをやめる。「初期費用が安い」軸を必ず入れる。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エリアタグで絞る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S17のQ1回答から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該当エリアの新着物件のみ配信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初期費用が安い順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「初期費用が安い」を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軸に含める（S17 Q5と連動）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入居時期で優先度を調整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「今すぐ」層には即時配信、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「情報収集中」層は週次まとめ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88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88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全員に同じ物件を送らない。条件タグに合わないレコメンドはブロック率を上げる。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意見｜S17（希望条件アンケート）のタグ設計が前提</a:t>
            </a:r>
          </a:p>
        </p:txBody>
      </p:sp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配信設計｜年間企画投稿カレンダー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繁忙期は捌く、閑散期は仕込む。月ごとに何を投稿するかを先に決める。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179800" cy="324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1〜3月｜繁忙期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捌く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即レス体制強化・在庫を出し切る配信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9800" y="1620000"/>
            <a:ext cx="2179800" cy="32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4〜6月｜新生活後半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9800" y="1980000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仕込み①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夏の住み替え需要（7月ピーク）に向けた企画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7600" y="1620000"/>
            <a:ext cx="2179800" cy="324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7月｜検索ピーク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7600" y="1980000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捌く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「賃貸」検索トレンド年間最高（実データ）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5400" y="1620000"/>
            <a:ext cx="2179800" cy="32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8〜12月｜閑散期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5400" y="1980000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仕込み②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1〜3月の反響を先取りする認知獲得企画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意見｜参照データはS07（賃貸検索は年中フラット・7月ピーク／引っ越し検索は1〜3月）</a:t>
            </a: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E7E9-7412-46E6-C9BD-3E3A30E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友だちでない人にも届く接点がある。内見リマインド／更新案内／退去予告後。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内見リマインド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前日・当日朝に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プッシュ通知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更新案内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更新期の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2〜3ヶ月前に事前案内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退去予告後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退去予告を受けた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入居者へ住み替え提案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空室アラート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管理物件のオーナー向け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空室発生を即時通知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951999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951999"/>
            <a:ext cx="8827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★友だちでなくても届く接点がある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ブロックされていても、内見・更新に関わる通知は届く。既存入居者向けはS13②領域に対応。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意見｜通知メッセージはAPI連携（Messaging API）が前提。別途費用（S30参照）</a:t>
            </a:r>
          </a:p>
        </p:txBody>
      </p:sp>
    </p:spTree>
    <p:extLst>
      <p:ext uri="{BB962C8B-B14F-4D97-AF65-F5344CB8AC3E}">
        <p14:creationId xmlns:p14="http://schemas.microsoft.com/office/powerpoint/2010/main" val="2756826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F51C-1549-19C8-A509-C77C3C8B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来店改善・工数｜来店率改善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ドタキャンは前日リマインドで減る。来られない人にはオンライン内見の逃げ道。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来店予約の前日夜に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自動送信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オンライン内見の逃げ道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来店できない層を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取りこぼさない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当日朝の再通知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当日の道順・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持ち物を再案内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オンライン内見実施率は32.5%（2年連続・SUUMOリサーチセンター）。すでに一定の需要がある選択肢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業界水準｜出典：SUUMOリサーチセンター 賃貸契約者動向調査</a:t>
            </a:r>
          </a:p>
        </p:txBody>
      </p:sp>
    </p:spTree>
    <p:extLst>
      <p:ext uri="{BB962C8B-B14F-4D97-AF65-F5344CB8AC3E}">
        <p14:creationId xmlns:p14="http://schemas.microsoft.com/office/powerpoint/2010/main" val="774396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2D0F-DE07-83AE-E053-ED6184F3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来店改善・工数｜工数削減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繁忙期の人手不足は増員では解けない。架電と再送信を自動化して解く。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反響初動の自動化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5分以内の自動返信で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有人対応の待ち行列を解消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「保証人なしで借りれる？」等を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24時間自動応答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リマインドの自動化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前日リマインド・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更新案内を自動配信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繁忙期の人手不足は増員では解けない。定型対応を自動化し、接客に集中する設計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意見｜DYM提案の工数削減設計</a:t>
            </a:r>
          </a:p>
        </p:txBody>
      </p:sp>
    </p:spTree>
    <p:extLst>
      <p:ext uri="{BB962C8B-B14F-4D97-AF65-F5344CB8AC3E}">
        <p14:creationId xmlns:p14="http://schemas.microsoft.com/office/powerpoint/2010/main" val="2299725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07D-57DB-D005-AEF4-0353E12B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来店改善・工数｜改善モデル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反響の有効化→来店→成約→更新。各段に打ち手が1対1で対応している。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反響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有効化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3885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1771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657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5542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内見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・成約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428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9314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更新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・住み替え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反響有効化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5分以内自動返信＋希望条件アンケート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28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来店予約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オンライン内見の逃げ道＋前日リマインド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6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内見・成約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初期費用が安い順のレコメンド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4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更新・住み替え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更新期の事前案内・住み替え提案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意見｜DYM提案の改善モデル</a:t>
            </a:r>
          </a:p>
        </p:txBody>
      </p:sp>
    </p:spTree>
    <p:extLst>
      <p:ext uri="{BB962C8B-B14F-4D97-AF65-F5344CB8AC3E}">
        <p14:creationId xmlns:p14="http://schemas.microsoft.com/office/powerpoint/2010/main" val="26381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926-064C-E9E2-1BF7-7405461E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各段で何を測るかを先に決める。主KPI＝CPO。数値は入れない。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1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912"/>
                <a:gridCol w="2532096"/>
                <a:gridCol w="2532096"/>
                <a:gridCol w="2532096"/>
              </a:tblGrid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Before（ポータルのみ）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After（1年目）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After（2年目）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反響数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出稿費÷CPO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同左（出稿費は据え置き）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来店率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現状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① 取りこぼし解消で上昇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同左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翌期の出稿費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毎期フルで必要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② 友だちリスト分だけ圧縮可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CPO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毎期リセット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改善方向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★期を追うごとに下がる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988000"/>
            <a:ext cx="90432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3041999"/>
            <a:ext cx="8827200" cy="72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★肝：ポータル反響は使い捨てなのでCPOは毎期リセットされる。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友だち化すると資産になるので、期を追うごとに下がる。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締め：御社の実績をいただければ、この構造に数字を入れてSIMを作ります。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意見｜数値は入れない（業界汎用のためSIMは作らない）。主KPI＝CPO</a:t>
            </a:r>
          </a:p>
        </p:txBody>
      </p:sp>
    </p:spTree>
    <p:extLst>
      <p:ext uri="{BB962C8B-B14F-4D97-AF65-F5344CB8AC3E}">
        <p14:creationId xmlns:p14="http://schemas.microsoft.com/office/powerpoint/2010/main" val="3556196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9E9-3239-4F30-04FA-62A41B30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成果と体制｜費用プラン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無償付帯と別途費用を分けて示す。追加で払うものを隠さない（6ヶ月〜・税抜）。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コンサル基本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月20万（3投稿）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月30万（5投稿）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月50万（9投稿）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98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18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初動設計＋運用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18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18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月5万〜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76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96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運用代行・効率改善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6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6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月0万〜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（アカウント費のみ）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54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74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成果報酬型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74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初期5万〜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74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月＝単価×成果数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＋固定費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2916000"/>
            <a:ext cx="90432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無償付帯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096000"/>
            <a:ext cx="90432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アカウント開設／プロフィール／リッチメニュー／あいさつ／初期アンケート／KW自動応答／ステップ配信／セグメント配信／タグ管理／GAレポート連携／クリエイティブ／定例会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456000"/>
            <a:ext cx="90432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別途費用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3636000"/>
            <a:ext cx="90432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離脱防止（Sitelead）初期10万＋月5万／API連携／通知メッセージ 等。配信ツールはLstep／Hachidoriのいずれかを要件で選定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意見｜DYM標準プラン（6ヶ月〜・税抜）</a:t>
            </a:r>
          </a:p>
        </p:txBody>
      </p:sp>
    </p:spTree>
    <p:extLst>
      <p:ext uri="{BB962C8B-B14F-4D97-AF65-F5344CB8AC3E}">
        <p14:creationId xmlns:p14="http://schemas.microsoft.com/office/powerpoint/2010/main" val="2012545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成果と体制｜運用スケジュール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1ヶ月目に構築、2ヶ月目に稼働、3ヶ月目から改善。6ヶ月で型ができる。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1ヶ月目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あいさつMSG・アンケート・リッチメニュー・ステップ配信の設計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88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88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2ヶ月目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88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稼働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88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友だち追加動線を稼働。14日ステップ配信開始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96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96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3〜4ヶ月目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96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改善①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96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反響即時対応・物件レコメンドを開始。効果測定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04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04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5〜6ヶ月目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04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改善②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04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年間企画投稿カレンダーの型を確立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意見｜6ヶ月で年間配信の型を確立。以降は月次運用フェーズへ</a:t>
            </a: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BDC7-BB8D-566B-5273-6DCD8BE0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成果と体制｜サポート体制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定例会・レポート・クリエイティブ制作まで含む。運用は丸ごと持つ。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定例会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月次で振り返り・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翌月の企画をすり合わせ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レポーティング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GA連携で友だち数・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来店率を数値化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クリエイティブ制作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配信文面・リッチメニュー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画像の制作を内包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運用代行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日々の配信設計・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自動応答の調整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意見｜DYM標準のサポート体制。運用は丸ごと持つ</a:t>
            </a:r>
          </a:p>
        </p:txBody>
      </p:sp>
    </p:spTree>
    <p:extLst>
      <p:ext uri="{BB962C8B-B14F-4D97-AF65-F5344CB8AC3E}">
        <p14:creationId xmlns:p14="http://schemas.microsoft.com/office/powerpoint/2010/main" val="1482779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締め｜飛び道具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他社がやっていない打ち手が4つある。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　内見前の360°・動画を友だち限定で配信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現地に行く前に絞れる。来店時点で温度が高い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5600" y="1620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B　決めなかった理由アンケート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失注をリスト化して次の繁忙期の資産にする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844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　更新3ヶ月前の住み替え提案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退去を他社に取られる前に拾う。併営会社だけができる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2844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D　外国人入居者向けの翻訳チャット対応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★前後検索で在留・ビザ・日本語試験・中国語KWが多数確認。保証審査と日本語対応が壁の層が実在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5200" y="2898000"/>
            <a:ext cx="792000" cy="18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7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実データ確認済み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事実｜D案は前後検索データ（S08）で裏付け済み。他は意見（施策アイデア）</a:t>
            </a:r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締め｜第2の提案軸｜オーナー向け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この仕組みはそのままオーナー開拓にも使える。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692000"/>
            <a:ext cx="87552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入居者集客で構築した基盤は、オーナー開拓にも転用できる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015999"/>
            <a:ext cx="8755200" cy="30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・反響対応の自動化ノウハウ → オーナー相談窓口の初動対応に応用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340000"/>
            <a:ext cx="8755200" cy="30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・友だち化・タグ設計のノウハウ → 土地活用タイプ診断に応用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664000"/>
            <a:ext cx="8755200" cy="30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・管理併営の会社なら、入居者もオーナーも同じLINE基盤で運用できる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3168000"/>
            <a:ext cx="9043200" cy="54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3168000"/>
            <a:ext cx="88272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詳細は「賃貸業界 Ver.B（オーナー開拓版）」でご提案します。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意見｜Ver.Bへの橋渡し</a:t>
            </a:r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締め｜LINEOA実績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賃貸でLINEが機能した実例がある（LY公式）。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お部屋探しのハートサポート（賃貸仲介）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LINE経由の問い合わせから30〜40件成約（2020年1〜7月）。申込〜入居がLINEで完結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5600" y="1620000"/>
            <a:ext cx="44496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LIFULL HOME'S（不動産情報サイト）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ステップ配信でCPC約6割改善・運用工数1/4。通知メッセのCTRがメール比+15%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事実｜出典：LINEヤフー公式事例。数値は検索スニペット経由のため、掲載前に各事例ページの原典で再確認すること</a:t>
            </a:r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