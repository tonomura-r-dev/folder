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8"/>
  </p:notesMasterIdLst>
  <p:handoutMasterIdLst>
    <p:handoutMasterId r:id="rId29"/>
  </p:handoutMasterIdLst>
  <p:sldIdLst>
    <p:sldId id="2363" r:id="rId3"/>
    <p:sldId id="2721" r:id="rId4"/>
    <p:sldId id="3012" r:id="rId34"/>
    <p:sldId id="2971" r:id="rId5"/>
    <p:sldId id="2972" r:id="rId6"/>
    <p:sldId id="2904" r:id="rId7"/>
    <p:sldId id="3007" r:id="rId8"/>
    <p:sldId id="2987" r:id="rId9"/>
    <p:sldId id="2999" r:id="rId10"/>
    <p:sldId id="3013" r:id="rId35"/>
    <p:sldId id="2997" r:id="rId11"/>
    <p:sldId id="2996" r:id="rId12"/>
    <p:sldId id="2973" r:id="rId13"/>
    <p:sldId id="3014" r:id="rId36"/>
    <p:sldId id="3008" r:id="rId14"/>
    <p:sldId id="3009" r:id="rId15"/>
    <p:sldId id="3010" r:id="rId16"/>
    <p:sldId id="3011" r:id="rId17"/>
    <p:sldId id="3015" r:id="rId37"/>
    <p:sldId id="2968" r:id="rId18"/>
    <p:sldId id="2908" r:id="rId19"/>
    <p:sldId id="2990" r:id="rId20"/>
    <p:sldId id="3016" r:id="rId38"/>
    <p:sldId id="2986" r:id="rId21"/>
    <p:sldId id="2991" r:id="rId22"/>
    <p:sldId id="3017" r:id="rId39"/>
    <p:sldId id="2989" r:id="rId23"/>
    <p:sldId id="2563" r:id="rId24"/>
    <p:sldId id="2959" r:id="rId25"/>
    <p:sldId id="2995" r:id="rId26"/>
    <p:sldId id="1169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36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slide" Target="slides/slide17.xml"/><Relationship Id="rId17" Type="http://schemas.openxmlformats.org/officeDocument/2006/relationships/slide" Target="slides/slide18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25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29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3.xml"/><Relationship Id="rId35" Type="http://schemas.openxmlformats.org/officeDocument/2006/relationships/slide" Target="slides/slide10.xml"/><Relationship Id="rId36" Type="http://schemas.openxmlformats.org/officeDocument/2006/relationships/slide" Target="slides/slide14.xml"/><Relationship Id="rId37" Type="http://schemas.openxmlformats.org/officeDocument/2006/relationships/slide" Target="slides/slide19.xml"/><Relationship Id="rId38" Type="http://schemas.openxmlformats.org/officeDocument/2006/relationships/slide" Target="slides/slide23.xml"/><Relationship Id="rId39" Type="http://schemas.openxmlformats.org/officeDocument/2006/relationships/slide" Target="slides/slide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25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e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emf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image" Target="../media/image26.jpeg"/><Relationship Id="rId8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―LINEの初期構築と、サイト連携のご提案―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B889E1EF-F184-F7BC-2DF2-9E964190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57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BC098C34-07FA-B015-C970-B8433D9E8B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46" t="3967" r="34188" b="52442"/>
          <a:stretch>
            <a:fillRect/>
          </a:stretch>
        </p:blipFill>
        <p:spPr>
          <a:xfrm>
            <a:off x="489022" y="5068469"/>
            <a:ext cx="2046003" cy="1464812"/>
          </a:xfrm>
          <a:prstGeom prst="rect">
            <a:avLst/>
          </a:prstGeom>
        </p:spPr>
      </p:pic>
      <p:sp>
        <p:nvSpPr>
          <p:cNvPr id="4" name="正方形/長方形 32">
            <a:extLst>
              <a:ext uri="{FF2B5EF4-FFF2-40B4-BE49-F238E27FC236}">
                <a16:creationId xmlns:a16="http://schemas.microsoft.com/office/drawing/2014/main" id="{1E52F929-5FD7-9413-24A8-2725B04E4908}"/>
              </a:ext>
            </a:extLst>
          </p:cNvPr>
          <p:cNvSpPr/>
          <p:nvPr/>
        </p:nvSpPr>
        <p:spPr>
          <a:xfrm>
            <a:off x="388723" y="1082314"/>
            <a:ext cx="9129600" cy="1005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月、株式会社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ヤフー社が主催する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”LINE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ヤフー 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Partner Award 2025” 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に株式会社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が参加。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弊社は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公式アカウントによるビジネス拡大に最も貢献したとして、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en-US" altLang="ja-JP" sz="7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2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」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を受賞。</a:t>
            </a:r>
            <a:b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</a:b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月現在、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公式アカウントの取扱社数は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社以上、</a:t>
            </a:r>
            <a:r>
              <a:rPr lang="en-US" altLang="ja-JP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400</a:t>
            </a:r>
            <a:r>
              <a:rPr lang="ja-JP" altLang="en-US" sz="12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アカウント以上まで拡大しており関連サービスも展開中。</a:t>
            </a:r>
            <a:endParaRPr lang="en-US" altLang="ja-JP" sz="12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r"/>
            <a:r>
              <a:rPr lang="en-US" altLang="ja-JP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</a:t>
            </a:r>
            <a:r>
              <a:rPr lang="ja-JP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公式アカウントを活用し、ビジネス拡大に最も貢献したパートナーに贈られる賞です。</a:t>
            </a:r>
            <a:endParaRPr lang="en-US" altLang="ja-JP" sz="9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Google Shape;752;p28">
            <a:extLst>
              <a:ext uri="{FF2B5EF4-FFF2-40B4-BE49-F238E27FC236}">
                <a16:creationId xmlns:a16="http://schemas.microsoft.com/office/drawing/2014/main" id="{C34101C7-CA6C-6ED6-33D4-C2B82BDA547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弊社実績</a:t>
            </a:r>
            <a:endParaRPr lang="ja-JP" altLang="en-US" sz="1600" b="1" dirty="0">
              <a:solidFill>
                <a:srgbClr val="323366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6" name="正方形/長方形 48">
            <a:extLst>
              <a:ext uri="{FF2B5EF4-FFF2-40B4-BE49-F238E27FC236}">
                <a16:creationId xmlns:a16="http://schemas.microsoft.com/office/drawing/2014/main" id="{9685C0AB-6B7A-94C5-EFA8-756E59EE714E}"/>
              </a:ext>
            </a:extLst>
          </p:cNvPr>
          <p:cNvSpPr/>
          <p:nvPr/>
        </p:nvSpPr>
        <p:spPr>
          <a:xfrm>
            <a:off x="388723" y="2116303"/>
            <a:ext cx="9128554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弊社受賞遍歴 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Since.2024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年</a:t>
            </a: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5</a:t>
            </a:r>
            <a:r>
              <a:rPr lang="ja-JP" altLang="en-US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月～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18B78559-32E9-7E98-9E42-625866BF0637}"/>
              </a:ext>
            </a:extLst>
          </p:cNvPr>
          <p:cNvSpPr txBox="1">
            <a:spLocks/>
          </p:cNvSpPr>
          <p:nvPr/>
        </p:nvSpPr>
        <p:spPr>
          <a:xfrm>
            <a:off x="4741655" y="135388"/>
            <a:ext cx="3604551" cy="35614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9750" lvl="0" indent="-539750">
              <a:tabLst>
                <a:tab pos="447675" algn="l"/>
              </a:tabLst>
              <a:defRPr/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【</a:t>
            </a:r>
            <a:r>
              <a:rPr lang="ja-JP" altLang="en-US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参考情報</a:t>
            </a: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】</a:t>
            </a:r>
          </a:p>
          <a:p>
            <a:pPr marL="88900" lvl="0">
              <a:tabLst>
                <a:tab pos="447675" algn="l"/>
              </a:tabLst>
              <a:defRPr/>
            </a:pPr>
            <a:r>
              <a:rPr lang="en-US" altLang="ja-JP" sz="800" dirty="0">
                <a:solidFill>
                  <a:srgbClr val="000000">
                    <a:lumMod val="95000"/>
                    <a:lumOff val="5000"/>
                  </a:srgbClr>
                </a:solidFill>
              </a:rPr>
              <a:t>https://prtimes.jp/main/html/rd/p/000000412.000027235.html</a:t>
            </a:r>
            <a:endParaRPr lang="en-US" altLang="ja-JP" sz="1100" dirty="0">
              <a:solidFill>
                <a:srgbClr val="000000">
                  <a:lumMod val="95000"/>
                  <a:lumOff val="5000"/>
                </a:srgbClr>
              </a:solidFill>
            </a:endParaRPr>
          </a:p>
        </p:txBody>
      </p:sp>
      <p:sp>
        <p:nvSpPr>
          <p:cNvPr id="8" name="正方形/長方形 44">
            <a:extLst>
              <a:ext uri="{FF2B5EF4-FFF2-40B4-BE49-F238E27FC236}">
                <a16:creationId xmlns:a16="http://schemas.microsoft.com/office/drawing/2014/main" id="{02177995-9B5C-9C4B-3202-5DD03969179E}"/>
              </a:ext>
            </a:extLst>
          </p:cNvPr>
          <p:cNvSpPr/>
          <p:nvPr/>
        </p:nvSpPr>
        <p:spPr>
          <a:xfrm>
            <a:off x="495424" y="4784484"/>
            <a:ext cx="3561143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最上位となる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Sales Partner Premier</a:t>
            </a:r>
          </a:p>
        </p:txBody>
      </p:sp>
      <p:sp>
        <p:nvSpPr>
          <p:cNvPr id="9" name="正方形/長方形 54">
            <a:extLst>
              <a:ext uri="{FF2B5EF4-FFF2-40B4-BE49-F238E27FC236}">
                <a16:creationId xmlns:a16="http://schemas.microsoft.com/office/drawing/2014/main" id="{0E12B4F2-0482-55A4-443A-115FC30E22E8}"/>
              </a:ext>
            </a:extLst>
          </p:cNvPr>
          <p:cNvSpPr/>
          <p:nvPr/>
        </p:nvSpPr>
        <p:spPr>
          <a:xfrm>
            <a:off x="4362995" y="4784484"/>
            <a:ext cx="5165666" cy="27699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buClr>
                <a:srgbClr val="002060"/>
              </a:buClr>
              <a:buSzPts val="1600"/>
            </a:pP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 </a:t>
            </a:r>
            <a:r>
              <a:rPr lang="ja-JP" altLang="en-US" sz="1200" b="1" dirty="0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の受賞を受ける</a:t>
            </a:r>
            <a:endParaRPr lang="en-US" altLang="ja-JP" sz="12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0" name="直線コネクタ 2081">
            <a:extLst>
              <a:ext uri="{FF2B5EF4-FFF2-40B4-BE49-F238E27FC236}">
                <a16:creationId xmlns:a16="http://schemas.microsoft.com/office/drawing/2014/main" id="{530411FF-29F9-73B2-C470-CBF0BA20AC73}"/>
              </a:ext>
            </a:extLst>
          </p:cNvPr>
          <p:cNvCxnSpPr>
            <a:cxnSpLocks/>
          </p:cNvCxnSpPr>
          <p:nvPr/>
        </p:nvCxnSpPr>
        <p:spPr>
          <a:xfrm>
            <a:off x="3212877" y="2980676"/>
            <a:ext cx="6240687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2084">
            <a:extLst>
              <a:ext uri="{FF2B5EF4-FFF2-40B4-BE49-F238E27FC236}">
                <a16:creationId xmlns:a16="http://schemas.microsoft.com/office/drawing/2014/main" id="{D7948E6E-45A1-2B8A-2983-5CE3031B129A}"/>
              </a:ext>
            </a:extLst>
          </p:cNvPr>
          <p:cNvCxnSpPr>
            <a:cxnSpLocks/>
          </p:cNvCxnSpPr>
          <p:nvPr/>
        </p:nvCxnSpPr>
        <p:spPr>
          <a:xfrm>
            <a:off x="412752" y="3985954"/>
            <a:ext cx="5253034" cy="0"/>
          </a:xfrm>
          <a:prstGeom prst="line">
            <a:avLst/>
          </a:prstGeom>
          <a:ln w="76200">
            <a:solidFill>
              <a:srgbClr val="1025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結合子 2085">
            <a:extLst>
              <a:ext uri="{FF2B5EF4-FFF2-40B4-BE49-F238E27FC236}">
                <a16:creationId xmlns:a16="http://schemas.microsoft.com/office/drawing/2014/main" id="{19617C5C-724A-7FCE-22E5-5B2ECC96F048}"/>
              </a:ext>
            </a:extLst>
          </p:cNvPr>
          <p:cNvSpPr/>
          <p:nvPr/>
        </p:nvSpPr>
        <p:spPr>
          <a:xfrm>
            <a:off x="3076995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フローチャート: 結合子 2086">
            <a:extLst>
              <a:ext uri="{FF2B5EF4-FFF2-40B4-BE49-F238E27FC236}">
                <a16:creationId xmlns:a16="http://schemas.microsoft.com/office/drawing/2014/main" id="{C7AB064F-FD75-D23A-C3F2-7F831805457C}"/>
              </a:ext>
            </a:extLst>
          </p:cNvPr>
          <p:cNvSpPr/>
          <p:nvPr/>
        </p:nvSpPr>
        <p:spPr>
          <a:xfrm>
            <a:off x="970449" y="3759595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ローチャート: 結合子 2088">
            <a:extLst>
              <a:ext uri="{FF2B5EF4-FFF2-40B4-BE49-F238E27FC236}">
                <a16:creationId xmlns:a16="http://schemas.microsoft.com/office/drawing/2014/main" id="{CE0B51F4-2695-E1D7-F353-BA60386FABE4}"/>
              </a:ext>
            </a:extLst>
          </p:cNvPr>
          <p:cNvSpPr/>
          <p:nvPr/>
        </p:nvSpPr>
        <p:spPr>
          <a:xfrm>
            <a:off x="7801859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ローチャート: 結合子 2089">
            <a:extLst>
              <a:ext uri="{FF2B5EF4-FFF2-40B4-BE49-F238E27FC236}">
                <a16:creationId xmlns:a16="http://schemas.microsoft.com/office/drawing/2014/main" id="{6F2861A8-2376-2999-4214-6F268B03A3E1}"/>
              </a:ext>
            </a:extLst>
          </p:cNvPr>
          <p:cNvSpPr/>
          <p:nvPr/>
        </p:nvSpPr>
        <p:spPr>
          <a:xfrm>
            <a:off x="5439427" y="2743198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ローチャート: 結合子 2091">
            <a:extLst>
              <a:ext uri="{FF2B5EF4-FFF2-40B4-BE49-F238E27FC236}">
                <a16:creationId xmlns:a16="http://schemas.microsoft.com/office/drawing/2014/main" id="{11455BE0-024C-CCCF-549A-5895CCF6FCA5}"/>
              </a:ext>
            </a:extLst>
          </p:cNvPr>
          <p:cNvSpPr/>
          <p:nvPr/>
        </p:nvSpPr>
        <p:spPr>
          <a:xfrm>
            <a:off x="5454960" y="3739586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ローチャート: 結合子 2092">
            <a:extLst>
              <a:ext uri="{FF2B5EF4-FFF2-40B4-BE49-F238E27FC236}">
                <a16:creationId xmlns:a16="http://schemas.microsoft.com/office/drawing/2014/main" id="{6A2B7AEE-64D5-5687-4D90-BFEBFB87978F}"/>
              </a:ext>
            </a:extLst>
          </p:cNvPr>
          <p:cNvSpPr/>
          <p:nvPr/>
        </p:nvSpPr>
        <p:spPr>
          <a:xfrm>
            <a:off x="3076995" y="3776603"/>
            <a:ext cx="452718" cy="452718"/>
          </a:xfrm>
          <a:prstGeom prst="flowChartConnector">
            <a:avLst/>
          </a:prstGeom>
          <a:solidFill>
            <a:srgbClr val="10253F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2093">
            <a:extLst>
              <a:ext uri="{FF2B5EF4-FFF2-40B4-BE49-F238E27FC236}">
                <a16:creationId xmlns:a16="http://schemas.microsoft.com/office/drawing/2014/main" id="{F181EC8C-1DAE-5AF7-1C4D-4C86090B08E7}"/>
              </a:ext>
            </a:extLst>
          </p:cNvPr>
          <p:cNvSpPr txBox="1"/>
          <p:nvPr/>
        </p:nvSpPr>
        <p:spPr>
          <a:xfrm>
            <a:off x="2824561" y="2498440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19" name="テキスト ボックス 2094">
            <a:extLst>
              <a:ext uri="{FF2B5EF4-FFF2-40B4-BE49-F238E27FC236}">
                <a16:creationId xmlns:a16="http://schemas.microsoft.com/office/drawing/2014/main" id="{E9F47648-05F6-7064-8968-91D3649440CE}"/>
              </a:ext>
            </a:extLst>
          </p:cNvPr>
          <p:cNvSpPr txBox="1"/>
          <p:nvPr/>
        </p:nvSpPr>
        <p:spPr>
          <a:xfrm>
            <a:off x="5232177" y="2496209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0" name="テキスト ボックス 2095">
            <a:extLst>
              <a:ext uri="{FF2B5EF4-FFF2-40B4-BE49-F238E27FC236}">
                <a16:creationId xmlns:a16="http://schemas.microsoft.com/office/drawing/2014/main" id="{2C8EEABD-6A90-AA4E-FBA6-2819EBF654DE}"/>
              </a:ext>
            </a:extLst>
          </p:cNvPr>
          <p:cNvSpPr txBox="1"/>
          <p:nvPr/>
        </p:nvSpPr>
        <p:spPr>
          <a:xfrm>
            <a:off x="7623567" y="2492162"/>
            <a:ext cx="9575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1" name="テキスト ボックス 2097">
            <a:extLst>
              <a:ext uri="{FF2B5EF4-FFF2-40B4-BE49-F238E27FC236}">
                <a16:creationId xmlns:a16="http://schemas.microsoft.com/office/drawing/2014/main" id="{CE12257A-0E7E-B895-AF8E-D15F7AA1D62A}"/>
              </a:ext>
            </a:extLst>
          </p:cNvPr>
          <p:cNvSpPr txBox="1"/>
          <p:nvPr/>
        </p:nvSpPr>
        <p:spPr>
          <a:xfrm>
            <a:off x="2895696" y="3511221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2" name="テキスト ボックス 2098">
            <a:extLst>
              <a:ext uri="{FF2B5EF4-FFF2-40B4-BE49-F238E27FC236}">
                <a16:creationId xmlns:a16="http://schemas.microsoft.com/office/drawing/2014/main" id="{82EEA8C2-D18D-B5B9-3D3F-C9BE318BD901}"/>
              </a:ext>
            </a:extLst>
          </p:cNvPr>
          <p:cNvSpPr txBox="1"/>
          <p:nvPr/>
        </p:nvSpPr>
        <p:spPr>
          <a:xfrm>
            <a:off x="589609" y="3475317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</a:p>
        </p:txBody>
      </p:sp>
      <p:sp>
        <p:nvSpPr>
          <p:cNvPr id="23" name="テキスト ボックス 2100">
            <a:extLst>
              <a:ext uri="{FF2B5EF4-FFF2-40B4-BE49-F238E27FC236}">
                <a16:creationId xmlns:a16="http://schemas.microsoft.com/office/drawing/2014/main" id="{E6D4C90C-BD24-1939-D716-C6450E2AD8FC}"/>
              </a:ext>
            </a:extLst>
          </p:cNvPr>
          <p:cNvSpPr txBox="1"/>
          <p:nvPr/>
        </p:nvSpPr>
        <p:spPr>
          <a:xfrm>
            <a:off x="309563" y="4310547"/>
            <a:ext cx="1966105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6000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kumimoji="1" lang="ja-JP" altLang="en-US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2101">
            <a:extLst>
              <a:ext uri="{FF2B5EF4-FFF2-40B4-BE49-F238E27FC236}">
                <a16:creationId xmlns:a16="http://schemas.microsoft.com/office/drawing/2014/main" id="{756F6552-3CAE-3310-D96A-5D847F286859}"/>
              </a:ext>
            </a:extLst>
          </p:cNvPr>
          <p:cNvSpPr txBox="1"/>
          <p:nvPr/>
        </p:nvSpPr>
        <p:spPr>
          <a:xfrm>
            <a:off x="2105787" y="3209363"/>
            <a:ext cx="261298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年度上半期の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kumimoji="1"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</a:t>
            </a:r>
            <a:r>
              <a:rPr lang="ja-JP" altLang="en-US" sz="8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 dirty="0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2102">
            <a:extLst>
              <a:ext uri="{FF2B5EF4-FFF2-40B4-BE49-F238E27FC236}">
                <a16:creationId xmlns:a16="http://schemas.microsoft.com/office/drawing/2014/main" id="{D5793D3E-32A5-A172-B93D-F2E02806685C}"/>
              </a:ext>
            </a:extLst>
          </p:cNvPr>
          <p:cNvSpPr txBox="1"/>
          <p:nvPr/>
        </p:nvSpPr>
        <p:spPr>
          <a:xfrm>
            <a:off x="4837113" y="3209363"/>
            <a:ext cx="1767520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単月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2000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万円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の取り扱いを突破。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テキスト ボックス 2103">
            <a:extLst>
              <a:ext uri="{FF2B5EF4-FFF2-40B4-BE49-F238E27FC236}">
                <a16:creationId xmlns:a16="http://schemas.microsoft.com/office/drawing/2014/main" id="{89EE1600-592C-F991-FBB3-472A73DB5551}"/>
              </a:ext>
            </a:extLst>
          </p:cNvPr>
          <p:cNvSpPr txBox="1"/>
          <p:nvPr/>
        </p:nvSpPr>
        <p:spPr>
          <a:xfrm>
            <a:off x="1858111" y="4310547"/>
            <a:ext cx="323480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endParaRPr lang="en-US" altLang="ja-JP" sz="8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kumimoji="1"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kumimoji="1"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</a:p>
        </p:txBody>
      </p:sp>
      <p:sp>
        <p:nvSpPr>
          <p:cNvPr id="27" name="テキスト ボックス 2104">
            <a:extLst>
              <a:ext uri="{FF2B5EF4-FFF2-40B4-BE49-F238E27FC236}">
                <a16:creationId xmlns:a16="http://schemas.microsoft.com/office/drawing/2014/main" id="{735B8649-944E-38AC-EFE9-3FF466013418}"/>
              </a:ext>
            </a:extLst>
          </p:cNvPr>
          <p:cNvSpPr txBox="1"/>
          <p:nvPr/>
        </p:nvSpPr>
        <p:spPr>
          <a:xfrm>
            <a:off x="6722972" y="3209363"/>
            <a:ext cx="2758776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前回に続き、最高グレードである「</a:t>
            </a:r>
            <a:r>
              <a:rPr lang="en-US" altLang="ja-JP" sz="800">
                <a:latin typeface="メイリオ" panose="020B0604030504040204" pitchFamily="50" charset="-128"/>
                <a:ea typeface="メイリオ" panose="020B0604030504040204" pitchFamily="50" charset="-128"/>
              </a:rPr>
              <a:t>Premier</a:t>
            </a:r>
            <a:r>
              <a:rPr lang="ja-JP" altLang="en-US" sz="800">
                <a:latin typeface="メイリオ" panose="020B0604030504040204" pitchFamily="50" charset="-128"/>
                <a:ea typeface="メイリオ" panose="020B0604030504040204" pitchFamily="50" charset="-128"/>
              </a:rPr>
              <a:t>」に認定。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上位</a:t>
            </a:r>
            <a:r>
              <a:rPr lang="en-US" altLang="ja-JP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15</a:t>
            </a:r>
            <a:r>
              <a:rPr lang="ja-JP" altLang="en-US" sz="800" b="1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位タイ</a:t>
            </a:r>
            <a:endParaRPr lang="en-US" altLang="ja-JP" sz="800" b="1">
              <a:solidFill>
                <a:srgbClr val="C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テキスト ボックス 2109">
            <a:extLst>
              <a:ext uri="{FF2B5EF4-FFF2-40B4-BE49-F238E27FC236}">
                <a16:creationId xmlns:a16="http://schemas.microsoft.com/office/drawing/2014/main" id="{9364E84A-3501-3480-3E86-4181D9EDDE0D}"/>
              </a:ext>
            </a:extLst>
          </p:cNvPr>
          <p:cNvSpPr txBox="1"/>
          <p:nvPr/>
        </p:nvSpPr>
        <p:spPr>
          <a:xfrm>
            <a:off x="5204477" y="3512494"/>
            <a:ext cx="957586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</a:p>
        </p:txBody>
      </p:sp>
      <p:sp>
        <p:nvSpPr>
          <p:cNvPr id="29" name="テキスト ボックス 2110">
            <a:extLst>
              <a:ext uri="{FF2B5EF4-FFF2-40B4-BE49-F238E27FC236}">
                <a16:creationId xmlns:a16="http://schemas.microsoft.com/office/drawing/2014/main" id="{915149AC-7723-29BD-6D17-D471CC831F56}"/>
              </a:ext>
            </a:extLst>
          </p:cNvPr>
          <p:cNvSpPr txBox="1"/>
          <p:nvPr/>
        </p:nvSpPr>
        <p:spPr>
          <a:xfrm>
            <a:off x="4684085" y="4310547"/>
            <a:ext cx="23352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Best 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公式アカウント 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Growth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」部門で</a:t>
            </a:r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ヤフー社から表彰をいただきました。</a:t>
            </a:r>
            <a:endParaRPr kumimoji="1" lang="ja-JP" altLang="en-US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正方形/長方形 7">
            <a:extLst>
              <a:ext uri="{FF2B5EF4-FFF2-40B4-BE49-F238E27FC236}">
                <a16:creationId xmlns:a16="http://schemas.microsoft.com/office/drawing/2014/main" id="{F974FA57-9312-73D0-6461-C65486B6B90A}"/>
              </a:ext>
            </a:extLst>
          </p:cNvPr>
          <p:cNvSpPr/>
          <p:nvPr/>
        </p:nvSpPr>
        <p:spPr>
          <a:xfrm>
            <a:off x="388723" y="675734"/>
            <a:ext cx="9128556" cy="3490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2">
            <a:extLst>
              <a:ext uri="{FF2B5EF4-FFF2-40B4-BE49-F238E27FC236}">
                <a16:creationId xmlns:a16="http://schemas.microsoft.com/office/drawing/2014/main" id="{4661DF32-128A-6B77-5F5D-76D78A1B8378}"/>
              </a:ext>
            </a:extLst>
          </p:cNvPr>
          <p:cNvSpPr/>
          <p:nvPr/>
        </p:nvSpPr>
        <p:spPr>
          <a:xfrm>
            <a:off x="2853632" y="700332"/>
            <a:ext cx="6663645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>
              <a:buClr>
                <a:srgbClr val="002060"/>
              </a:buClr>
              <a:buSzPts val="1600"/>
            </a:pP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ヤフー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Partner Award 2025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にて「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Best LINE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公式アカウント </a:t>
            </a:r>
            <a:r>
              <a:rPr lang="en-US" altLang="ja-JP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Growth</a:t>
            </a:r>
            <a:r>
              <a:rPr lang="ja-JP" altLang="en-US" sz="13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」受賞</a:t>
            </a:r>
            <a:endParaRPr lang="en-US" altLang="ja-JP" sz="13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" name="正方形/長方形 5">
            <a:extLst>
              <a:ext uri="{FF2B5EF4-FFF2-40B4-BE49-F238E27FC236}">
                <a16:creationId xmlns:a16="http://schemas.microsoft.com/office/drawing/2014/main" id="{DEE7F595-5FAC-C5CD-0B26-580B6DF09A53}"/>
              </a:ext>
            </a:extLst>
          </p:cNvPr>
          <p:cNvSpPr/>
          <p:nvPr/>
        </p:nvSpPr>
        <p:spPr>
          <a:xfrm>
            <a:off x="432943" y="700332"/>
            <a:ext cx="2391617" cy="306000"/>
          </a:xfrm>
          <a:prstGeom prst="rect">
            <a:avLst/>
          </a:prstGeom>
          <a:solidFill>
            <a:srgbClr val="10253F"/>
          </a:solidFill>
        </p:spPr>
        <p:txBody>
          <a:bodyPr wrap="square">
            <a:spAutoFit/>
          </a:bodyPr>
          <a:lstStyle/>
          <a:p>
            <a:pPr lvl="0" algn="ctr">
              <a:buClr>
                <a:srgbClr val="002060"/>
              </a:buClr>
              <a:buSzPts val="1600"/>
            </a:pPr>
            <a:r>
              <a:rPr lang="en-US" altLang="ja-JP" sz="1400" b="1">
                <a:solidFill>
                  <a:schemeClr val="bg1"/>
                </a:solidFill>
                <a:latin typeface="Meiryo"/>
                <a:ea typeface="Meiryo"/>
                <a:cs typeface="Meiryo"/>
                <a:sym typeface="Meiryo"/>
              </a:rPr>
              <a:t>DYM × LINEOA</a:t>
            </a:r>
            <a:endParaRPr lang="en-US" altLang="ja-JP" sz="1400" b="1" dirty="0">
              <a:solidFill>
                <a:schemeClr val="bg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6B503BF7-985B-8770-4643-5E3EB6E55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89" y="5150774"/>
            <a:ext cx="1929199" cy="1286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プレースホルダー 2">
            <a:extLst>
              <a:ext uri="{FF2B5EF4-FFF2-40B4-BE49-F238E27FC236}">
                <a16:creationId xmlns:a16="http://schemas.microsoft.com/office/drawing/2014/main" id="{761ADAB8-B668-8B05-EDE6-B5003466E015}"/>
              </a:ext>
            </a:extLst>
          </p:cNvPr>
          <p:cNvSpPr txBox="1">
            <a:spLocks/>
          </p:cNvSpPr>
          <p:nvPr/>
        </p:nvSpPr>
        <p:spPr>
          <a:xfrm>
            <a:off x="8209814" y="6217102"/>
            <a:ext cx="676273" cy="157797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ja-JP" sz="700">
                <a:solidFill>
                  <a:schemeClr val="bg1"/>
                </a:solidFill>
              </a:rPr>
              <a:t>※</a:t>
            </a:r>
            <a:r>
              <a:rPr lang="ja-JP" altLang="en-US" sz="700">
                <a:solidFill>
                  <a:schemeClr val="bg1"/>
                </a:solidFill>
              </a:rPr>
              <a:t>受賞時の</a:t>
            </a:r>
            <a:r>
              <a:rPr lang="en-US" altLang="ja-JP" sz="700">
                <a:solidFill>
                  <a:schemeClr val="bg1"/>
                </a:solidFill>
              </a:rPr>
              <a:t>1</a:t>
            </a:r>
            <a:r>
              <a:rPr lang="ja-JP" altLang="en-US" sz="700">
                <a:solidFill>
                  <a:schemeClr val="bg1"/>
                </a:solidFill>
              </a:rPr>
              <a:t>枚</a:t>
            </a:r>
            <a:endParaRPr lang="en-US" altLang="ja-JP" sz="700" dirty="0">
              <a:solidFill>
                <a:schemeClr val="bg1"/>
              </a:solidFill>
            </a:endParaRPr>
          </a:p>
        </p:txBody>
      </p:sp>
      <p:pic>
        <p:nvPicPr>
          <p:cNvPr id="35" name="図 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1FAB445F-372A-C0D2-7552-790613769A3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069" y="4654614"/>
            <a:ext cx="2886575" cy="2294826"/>
          </a:xfrm>
          <a:prstGeom prst="rect">
            <a:avLst/>
          </a:prstGeom>
        </p:spPr>
      </p:pic>
      <p:sp>
        <p:nvSpPr>
          <p:cNvPr id="36" name="テキスト ボックス 9">
            <a:extLst>
              <a:ext uri="{FF2B5EF4-FFF2-40B4-BE49-F238E27FC236}">
                <a16:creationId xmlns:a16="http://schemas.microsoft.com/office/drawing/2014/main" id="{F7A1F49B-800C-42EE-5308-93E8C2B2E88F}"/>
              </a:ext>
            </a:extLst>
          </p:cNvPr>
          <p:cNvSpPr txBox="1"/>
          <p:nvPr/>
        </p:nvSpPr>
        <p:spPr>
          <a:xfrm>
            <a:off x="2535025" y="5767731"/>
            <a:ext cx="4963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現在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Sales Partner Premier</a:t>
            </a:r>
          </a:p>
          <a:p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DYM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を合わせて</a:t>
            </a:r>
            <a:r>
              <a:rPr lang="en-US" altLang="ja-JP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社が認定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900" dirty="0">
              <a:solidFill>
                <a:srgbClr val="000000">
                  <a:lumMod val="95000"/>
                  <a:lumOff val="5000"/>
                </a:srgb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未上場企業では</a:t>
            </a:r>
            <a:r>
              <a:rPr lang="ja-JP" altLang="en-US" sz="900" b="1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唯一で最上位</a:t>
            </a:r>
            <a:r>
              <a:rPr lang="ja-JP" altLang="en-US" sz="900" dirty="0">
                <a:solidFill>
                  <a:srgbClr val="000000">
                    <a:lumMod val="95000"/>
                    <a:lumOff val="5000"/>
                  </a:srgb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ja-JP" altLang="en-US" sz="900" dirty="0"/>
          </a:p>
        </p:txBody>
      </p:sp>
      <p:pic>
        <p:nvPicPr>
          <p:cNvPr id="37" name="図 4">
            <a:extLst>
              <a:ext uri="{FF2B5EF4-FFF2-40B4-BE49-F238E27FC236}">
                <a16:creationId xmlns:a16="http://schemas.microsoft.com/office/drawing/2014/main" id="{60ACD608-62E1-EDDE-99C7-355D55B75F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96" y="4759370"/>
            <a:ext cx="2664636" cy="207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222539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1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LINE活用の事例とメリット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LINE経由の応募は、配信よりもリッチメニュー経由が最も多く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370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370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497760"/>
            <a:ext cx="8319744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/>
          <p:cNvSpPr/>
          <p:nvPr/>
        </p:nvSpPr>
        <p:spPr>
          <a:xfrm>
            <a:off x="3645311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68416" y="4292640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6496943" y="3795840"/>
            <a:ext cx="2616480" cy="12916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として機能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セグメント分け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向上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05344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053440" cy="23846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営業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294648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3377040" y="1808640"/>
            <a:ext cx="2748960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3377040" y="213984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3377040" y="295128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3377040" y="3762720"/>
            <a:ext cx="2748960" cy="745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3" name="Right Arrow 11"/>
          <p:cNvSpPr/>
          <p:nvPr/>
        </p:nvSpPr>
        <p:spPr>
          <a:xfrm>
            <a:off x="6275040" y="316656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6689040" y="1808640"/>
            <a:ext cx="2424384" cy="2980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689040" y="2139840"/>
            <a:ext cx="2424384" cy="23846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482256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タグを設置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TextBox 1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→離脱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で接点が終わ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る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LINEは、何度でも求人をご案内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841759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72104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8" name="Right Arrow 6"/>
          <p:cNvSpPr/>
          <p:nvPr/>
        </p:nvSpPr>
        <p:spPr>
          <a:xfrm>
            <a:off x="327767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3608879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0" name="Right Arrow 8"/>
          <p:cNvSpPr/>
          <p:nvPr/>
        </p:nvSpPr>
        <p:spPr>
          <a:xfrm>
            <a:off x="5165519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9"/>
          <p:cNvSpPr/>
          <p:nvPr/>
        </p:nvSpPr>
        <p:spPr>
          <a:xfrm>
            <a:off x="549672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2" name="Right Arrow 10"/>
          <p:cNvSpPr/>
          <p:nvPr/>
        </p:nvSpPr>
        <p:spPr>
          <a:xfrm>
            <a:off x="7053360" y="1924559"/>
            <a:ext cx="264960" cy="23183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1"/>
          <p:cNvSpPr/>
          <p:nvPr/>
        </p:nvSpPr>
        <p:spPr>
          <a:xfrm>
            <a:off x="7384560" y="1841759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793680" y="2636640"/>
            <a:ext cx="861120" cy="39744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3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172104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6" name="Right Arrow 14"/>
          <p:cNvSpPr/>
          <p:nvPr/>
        </p:nvSpPr>
        <p:spPr>
          <a:xfrm>
            <a:off x="327767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5"/>
          <p:cNvSpPr/>
          <p:nvPr/>
        </p:nvSpPr>
        <p:spPr>
          <a:xfrm>
            <a:off x="3608879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8" name="Right Arrow 16"/>
          <p:cNvSpPr/>
          <p:nvPr/>
        </p:nvSpPr>
        <p:spPr>
          <a:xfrm>
            <a:off x="5165519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7"/>
          <p:cNvSpPr/>
          <p:nvPr/>
        </p:nvSpPr>
        <p:spPr>
          <a:xfrm>
            <a:off x="549672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1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1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ight Arrow 18"/>
          <p:cNvSpPr/>
          <p:nvPr/>
        </p:nvSpPr>
        <p:spPr>
          <a:xfrm>
            <a:off x="7053360" y="2719440"/>
            <a:ext cx="264960" cy="23183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9"/>
          <p:cNvSpPr/>
          <p:nvPr/>
        </p:nvSpPr>
        <p:spPr>
          <a:xfrm>
            <a:off x="7384560" y="2636640"/>
            <a:ext cx="1523519" cy="3974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5496720" y="3100320"/>
            <a:ext cx="16560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10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3" name="Rounded Rectangle 21"/>
          <p:cNvSpPr/>
          <p:nvPr/>
        </p:nvSpPr>
        <p:spPr>
          <a:xfrm>
            <a:off x="793680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45311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新着求人が届きます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5" name="Rounded Rectangle 23"/>
          <p:cNvSpPr/>
          <p:nvPr/>
        </p:nvSpPr>
        <p:spPr>
          <a:xfrm>
            <a:off x="6496943" y="3630240"/>
            <a:ext cx="2616480" cy="11923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793680" y="505440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何度もご案内できる「転職を検討している方のリスト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5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LINEでログイン」を使うと、LINEのアカウントでサイトの会員登録が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Profile+を使うと、氏名・電話番号などが自動で入り、確認で登録が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775520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398145"/>
            <a:ext cx="5166720" cy="19872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457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299040"/>
            <a:ext cx="2987424" cy="139104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875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699943"/>
            <a:ext cx="8313120" cy="580115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</a:t>
            </a:r>
            <a:endParaRPr lang="en-US"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8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一方、整備士特化のサービスは、少な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793680" y="1808639"/>
          <a:ext cx="8319743" cy="2069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5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5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29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629"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3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4348072"/>
            <a:ext cx="8319744" cy="36432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になる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2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貴社での活用イメージ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から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可能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80864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72959"/>
            <a:ext cx="2616480" cy="152351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2" name="TextBox 10"/>
          <p:cNvSpPr txBox="1"/>
          <p:nvPr/>
        </p:nvSpPr>
        <p:spPr>
          <a:xfrm>
            <a:off x="793680" y="3895200"/>
            <a:ext cx="8319744" cy="224182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再現するときに必要なもの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193280"/>
            <a:ext cx="4040640" cy="86112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5066160" y="4193280"/>
            <a:ext cx="4047264" cy="86112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52531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LINE側は先に構築し、サイト側は実装を進めてつなぐ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会員登録をLINEで完結できる形へ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8" name="Right Arrow 6"/>
          <p:cNvSpPr/>
          <p:nvPr/>
        </p:nvSpPr>
        <p:spPr>
          <a:xfrm>
            <a:off x="4817760" y="2802240"/>
            <a:ext cx="298080" cy="29808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7"/>
          <p:cNvSpPr/>
          <p:nvPr/>
        </p:nvSpPr>
        <p:spPr>
          <a:xfrm>
            <a:off x="5172144" y="1775520"/>
            <a:ext cx="3941280" cy="31464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実装後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172144" y="2123280"/>
            <a:ext cx="3941280" cy="165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1" name="Down Arrow 9"/>
          <p:cNvSpPr/>
          <p:nvPr/>
        </p:nvSpPr>
        <p:spPr>
          <a:xfrm>
            <a:off x="4688592" y="3878640"/>
            <a:ext cx="463679" cy="26496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/>
          <p:cNvSpPr/>
          <p:nvPr/>
        </p:nvSpPr>
        <p:spPr>
          <a:xfrm>
            <a:off x="793680" y="4226400"/>
            <a:ext cx="8319744" cy="76175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3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会員登録はワンタップで完了。次の課題は、登録した方を応募へどうつなげるか</a:t>
            </a:r>
            <a:endParaRPr sz="13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タウンワークの型をそのまま使うのではなく、貴社のサイトと求人に合わせて工夫します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404064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065325"/>
              </p:ext>
            </p:extLst>
          </p:nvPr>
        </p:nvGraphicFramePr>
        <p:xfrm>
          <a:off x="793680" y="2172959"/>
          <a:ext cx="4040638" cy="139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76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9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</a:t>
                      </a:r>
                      <a:r>
                        <a:rPr sz="9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、
</a:t>
                      </a:r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</a:t>
                      </a:r>
                      <a:endParaRPr lang="en-US"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  <a:p>
                      <a:pPr algn="ctr"/>
                      <a:r>
                        <a:rPr sz="9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あわせてご案内</a:t>
                      </a:r>
                      <a:endParaRPr sz="9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6"/>
          <p:cNvSpPr/>
          <p:nvPr/>
        </p:nvSpPr>
        <p:spPr>
          <a:xfrm>
            <a:off x="5066160" y="1775520"/>
            <a:ext cx="4047264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066160" y="2172959"/>
            <a:ext cx="4047264" cy="13910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</a:t>
            </a:r>
            <a:r>
              <a:rPr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ー・</a:t>
            </a: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配信で使う条件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職種：整備士／営業／受付・事務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地域：都道府県・市区町村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793680" y="3878639"/>
            <a:ext cx="8319744" cy="861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</a:t>
            </a:r>
            <a:r>
              <a:rPr lang="ja-JP" altLang="en-US" sz="11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構築に</a:t>
            </a:r>
            <a:endParaRPr sz="11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LINEから条件別に探せる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ように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9"/>
          <p:cNvSpPr/>
          <p:nvPr/>
        </p:nvSpPr>
        <p:spPr>
          <a:xfrm>
            <a:off x="793680" y="492192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手軽な登録」と「整備士に合わせた条件」で、タウンワークの型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3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施策のご提案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2584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1952880" y="172584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92" y="172584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Rounded Rectangle 7"/>
          <p:cNvSpPr/>
          <p:nvPr/>
        </p:nvSpPr>
        <p:spPr>
          <a:xfrm>
            <a:off x="793680" y="315000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1952880" y="315000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0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92" y="3150000"/>
            <a:ext cx="2118077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2" name="Rounded Rectangle 10"/>
          <p:cNvSpPr/>
          <p:nvPr/>
        </p:nvSpPr>
        <p:spPr>
          <a:xfrm>
            <a:off x="793680" y="4574160"/>
            <a:ext cx="1092960" cy="13248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1952880" y="4574160"/>
            <a:ext cx="483552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66240" bIns="19872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応募の完了画面（貴社が触れる経路）</a:t>
            </a:r>
            <a:endParaRPr sz="10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0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0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0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0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9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9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9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4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1233" y="4574160"/>
            <a:ext cx="745595" cy="13248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5" name="TextBox 13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※月約17人＝サイトからの応募（月約47件）×完了画面の表示80%×友だち追加45%の想定／求人ボックス・Indeed経由は、完了画面の扱いを確認のうえ決定／画面はイメージです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12840" y="836230"/>
            <a:ext cx="867456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応募率2.3%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612840" y="1610640"/>
          <a:ext cx="7223036" cy="390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9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60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43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6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2.3%
→ 3件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7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75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75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52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7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644" y="1630165"/>
            <a:ext cx="1458432" cy="972287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8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644" y="2807813"/>
            <a:ext cx="1458432" cy="2591389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9" name="TextBox 7"/>
          <p:cNvSpPr txBox="1"/>
          <p:nvPr/>
        </p:nvSpPr>
        <p:spPr>
          <a:xfrm>
            <a:off x="612840" y="5602320"/>
            <a:ext cx="8681472" cy="389048"/>
          </a:xfrm>
          <a:prstGeom prst="rect">
            <a:avLst/>
          </a:prstGeom>
          <a:noFill/>
        </p:spPr>
        <p:txBody>
          <a:bodyPr wrap="square" lIns="0" tIns="20736" rIns="48384" bIns="2073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612840" y="6155280"/>
            <a:ext cx="8681472" cy="311040"/>
          </a:xfrm>
          <a:prstGeom prst="rect">
            <a:avLst/>
          </a:prstGeom>
          <a:noFill/>
        </p:spPr>
        <p:txBody>
          <a:bodyPr wrap="square" lIns="0" tIns="20736" rIns="0" bIns="2073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6か月目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形式に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4340832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ounded Rectangle 8"/>
          <p:cNvSpPr/>
          <p:nvPr/>
        </p:nvSpPr>
        <p:spPr>
          <a:xfrm>
            <a:off x="6728784" y="207359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9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9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9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1952880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340832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728784" y="3332160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1952880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4340832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6728784" y="4590719"/>
            <a:ext cx="231840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担当者の対応の手間を増やさずに、友だち・応募者とのやりとりを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容易に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1952880" y="1709280"/>
          <a:ext cx="7160544" cy="2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0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80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207359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1952880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5536464" y="207359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332160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1952880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5536464" y="3332160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1"/>
          <p:cNvSpPr/>
          <p:nvPr/>
        </p:nvSpPr>
        <p:spPr>
          <a:xfrm>
            <a:off x="793680" y="4590719"/>
            <a:ext cx="1092960" cy="11592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19872" rIns="33120" bIns="19872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1952880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5536464" y="4590719"/>
            <a:ext cx="3510720" cy="11592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19872" rIns="99360" bIns="19872" rtlCol="0" anchor="ctr"/>
          <a:lstStyle/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4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導入の進め方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LINEの構築を先に進めることをおすすめする理由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以降で蓄積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先に始めれば、翌3月の転職のピークを、増えた友だちとともに抑制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</a:t>
            </a:r>
            <a:r>
              <a:rPr sz="12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データを初日から蓄積できる</a:t>
            </a:r>
            <a:endParaRPr sz="12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半年後には約540人の友だちに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弊社シミュレーション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リニューアルの要件に入れておけば、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サイトの改修が二度手間にならない。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205344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793680" y="399456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先に開始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2052240" y="4060800"/>
            <a:ext cx="7054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9"/>
          <p:cNvSpPr txBox="1"/>
          <p:nvPr/>
        </p:nvSpPr>
        <p:spPr>
          <a:xfrm>
            <a:off x="2052240" y="4276080"/>
            <a:ext cx="705456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開始 ────── 友だちが増え続ける ────── 翌3月（転職のピーク）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590720"/>
            <a:ext cx="1192320" cy="3312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52240" y="4656960"/>
            <a:ext cx="3312000" cy="19872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2"/>
          <p:cNvSpPr/>
          <p:nvPr/>
        </p:nvSpPr>
        <p:spPr>
          <a:xfrm>
            <a:off x="5364240" y="4656960"/>
            <a:ext cx="3742560" cy="19872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3"/>
          <p:cNvSpPr txBox="1"/>
          <p:nvPr/>
        </p:nvSpPr>
        <p:spPr>
          <a:xfrm>
            <a:off x="2052240" y="4872240"/>
            <a:ext cx="3312000" cy="231839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ctr"/>
            <a:r>
              <a:rPr sz="9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52862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LINEの構築を先に進め、サイトとの連携は実装を進めてつなぐことをご提案します。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サイトに入れる要件3点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793680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LINEでログイン」とLINE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ご案内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3645311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6496943" y="1775520"/>
            <a:ext cx="2616480" cy="3312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6496943" y="2139840"/>
            <a:ext cx="2616480" cy="1788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127040"/>
            <a:ext cx="8319744" cy="7948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  <a:endParaRPr sz="11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が、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対応が可能（内容に応じて都度お見積もり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サイト制作会社様と仕様をすり合わせて進めます。現行サイトに実装できる場合は、リニューアルを待たず先行します。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793680" y="51206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この三点で、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タウンワークの型を貴社サイトで再現できます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スケジュール｜初期構築を先に進め、サイトと連携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Profile+は申請とLINEヤフー社の審査があるため、予算が決まり次第、着手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11〜12月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2085359" y="17755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予算のご決定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来期の予算にLINEを組み込む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793680" y="25207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決定後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2085359" y="25207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アカウント設定、LINE Profile+の申請、サイト制作会社様と仕様のすり合わせ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2659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申請と並行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2085359" y="32659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あいさつ・リッチメニュー・配信の設計、友だち追加の導線、サンクスLINE誘導（完了画面を触れる経路のみ）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793680" y="40111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実装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2085359" y="40111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サイトへの実装と運用開始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会員登録のLINE化を実装。現行サイトで可能な範囲から先行し、リニューアル時は新サイトに組み込む</a:t>
            </a:r>
          </a:p>
        </p:txBody>
      </p:sp>
      <p:sp>
        <p:nvSpPr>
          <p:cNvPr id="14" name="Rounded Rectangle 12"/>
          <p:cNvSpPr/>
          <p:nvPr/>
        </p:nvSpPr>
        <p:spPr>
          <a:xfrm>
            <a:off x="793680" y="4756320"/>
            <a:ext cx="1192320" cy="62928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2085359" y="4756320"/>
            <a:ext cx="7028064" cy="6292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ctr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Profile+の審査期間は、申請内容により変わります／現行サイトへの実装可否、求人ボックス・Indeed経由の応募の扱いは、確認のうえ決定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5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成果シミュレーションと費用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成果シミュレーション（運用開始から6か月）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はLINEでワンタップ。登録した方を、リッチメニューと配信で応募（CV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②）へ</a:t>
            </a:r>
          </a:p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友だちが増えるほど応募も増え、4か月目に応募単価が2.5万円を下回る見込み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793680" y="1775520"/>
          <a:ext cx="8319744" cy="20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6か月目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2.4万円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2.0万円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5"/>
          <p:cNvSpPr/>
          <p:nvPr/>
        </p:nvSpPr>
        <p:spPr>
          <a:xfrm>
            <a:off x="793680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3645311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52件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496943" y="3994560"/>
            <a:ext cx="2616480" cy="11260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6か月目の応募単価</a:t>
            </a:r>
          </a:p>
          <a:p>
            <a:pPr algn="ctr">
              <a:spcAft>
                <a:spcPts val="300"/>
              </a:spcAft>
            </a:pPr>
            <a:r>
              <a:rPr sz="26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1.8万円</a:t>
            </a:r>
          </a:p>
          <a:p>
            <a:pPr algn="ctr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前提：会員登録のLINE化の開始月を1か月目とする／サイト来訪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公式アカウントの導入と運用にかかる費用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会員登録から応募までをLINEでつなげる仕組みを構築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ADD4630-B4FB-1ED5-AA03-7B456BE4B713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4" name="正方形/長方形 1">
            <a:extLst>
              <a:ext uri="{FF2B5EF4-FFF2-40B4-BE49-F238E27FC236}">
                <a16:creationId xmlns:a16="http://schemas.microsoft.com/office/drawing/2014/main" id="{2930638E-A234-B57F-602E-9D9732D57A7B}"/>
              </a:ext>
            </a:extLst>
          </p:cNvPr>
          <p:cNvSpPr/>
          <p:nvPr/>
        </p:nvSpPr>
        <p:spPr>
          <a:xfrm>
            <a:off x="990600" y="3038203"/>
            <a:ext cx="79248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ja-JP" altLang="en-US" sz="2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Chapter 6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市場と求職者の動き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31312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7" name="Rounded Rectangle 5"/>
          <p:cNvSpPr/>
          <p:nvPr/>
        </p:nvSpPr>
        <p:spPr>
          <a:xfrm>
            <a:off x="3645311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9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496943" y="1775520"/>
            <a:ext cx="2616480" cy="13248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400"/>
              </a:spcAft>
            </a:pPr>
            <a:r>
              <a:rPr sz="11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  <a:endParaRPr sz="11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400"/>
              </a:spcAft>
            </a:pPr>
            <a:r>
              <a:rPr sz="31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9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  <a:endParaRPr sz="9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graphicFrame>
        <p:nvGraphicFramePr>
          <p:cNvPr id="9" name="Table 7"/>
          <p:cNvGraphicFramePr>
            <a:graphicFrameLocks noGrp="1"/>
          </p:cNvGraphicFramePr>
          <p:nvPr/>
        </p:nvGraphicFramePr>
        <p:xfrm>
          <a:off x="793680" y="3299040"/>
          <a:ext cx="8319744" cy="109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1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32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ounded Rectangle 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重要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31312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いる</a:t>
            </a:r>
            <a:endParaRPr lang="en-US" altLang="ja-JP"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検索は一年を通してあり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中でも、</a:t>
            </a:r>
            <a:r>
              <a:rPr lang="en-US" altLang="ja-JP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月がピーク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4"/>
          <p:cNvSpPr txBox="1"/>
          <p:nvPr/>
        </p:nvSpPr>
        <p:spPr>
          <a:xfrm>
            <a:off x="793680" y="1742400"/>
            <a:ext cx="364320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793680" y="2073599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8" name="Rectangle 6"/>
          <p:cNvSpPr/>
          <p:nvPr/>
        </p:nvSpPr>
        <p:spPr>
          <a:xfrm>
            <a:off x="2284080" y="2139840"/>
            <a:ext cx="1656000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7"/>
          <p:cNvSpPr txBox="1"/>
          <p:nvPr/>
        </p:nvSpPr>
        <p:spPr>
          <a:xfrm>
            <a:off x="3973200" y="2073599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793680" y="25704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1" name="Rectangle 9"/>
          <p:cNvSpPr/>
          <p:nvPr/>
        </p:nvSpPr>
        <p:spPr>
          <a:xfrm>
            <a:off x="2284080" y="2636640"/>
            <a:ext cx="1599705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0"/>
          <p:cNvSpPr txBox="1"/>
          <p:nvPr/>
        </p:nvSpPr>
        <p:spPr>
          <a:xfrm>
            <a:off x="3916905" y="25704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3" name="TextBox 11"/>
          <p:cNvSpPr txBox="1"/>
          <p:nvPr/>
        </p:nvSpPr>
        <p:spPr>
          <a:xfrm>
            <a:off x="793680" y="3067200"/>
            <a:ext cx="145728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4" name="Rectangle 12"/>
          <p:cNvSpPr/>
          <p:nvPr/>
        </p:nvSpPr>
        <p:spPr>
          <a:xfrm>
            <a:off x="2284080" y="3133440"/>
            <a:ext cx="1548101" cy="23183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3"/>
          <p:cNvSpPr txBox="1"/>
          <p:nvPr/>
        </p:nvSpPr>
        <p:spPr>
          <a:xfrm>
            <a:off x="3865301" y="3067200"/>
            <a:ext cx="596160" cy="364320"/>
          </a:xfrm>
          <a:prstGeom prst="rect">
            <a:avLst/>
          </a:prstGeom>
          <a:noFill/>
        </p:spPr>
        <p:txBody>
          <a:bodyPr wrap="square" lIns="0" tIns="19872" rIns="46368" bIns="19872" anchor="ctr">
            <a:spAutoFit/>
          </a:bodyPr>
          <a:lstStyle/>
          <a:p>
            <a:pPr algn="l"/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Rounded Rectangle 14"/>
          <p:cNvSpPr/>
          <p:nvPr/>
        </p:nvSpPr>
        <p:spPr>
          <a:xfrm>
            <a:off x="793680" y="3630240"/>
            <a:ext cx="364320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701840" y="1742400"/>
            <a:ext cx="4404960" cy="264960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8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0" y="2040479"/>
            <a:ext cx="4404960" cy="1431612"/>
          </a:xfrm>
          <a:prstGeom prst="rect">
            <a:avLst/>
          </a:prstGeom>
        </p:spPr>
      </p:pic>
      <p:sp>
        <p:nvSpPr>
          <p:cNvPr id="19" name="Rounded Rectangle 17"/>
          <p:cNvSpPr/>
          <p:nvPr/>
        </p:nvSpPr>
        <p:spPr>
          <a:xfrm>
            <a:off x="4701840" y="3630240"/>
            <a:ext cx="4404960" cy="7948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20" name="Rounded Rectangle 18"/>
          <p:cNvSpPr/>
          <p:nvPr/>
        </p:nvSpPr>
        <p:spPr>
          <a:xfrm>
            <a:off x="793680" y="462384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育成すること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が大切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1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工場求人ナビ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36230"/>
            <a:ext cx="831312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一定の規則性がある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9" y="2030543"/>
            <a:ext cx="4795900" cy="2798408"/>
          </a:xfrm>
          <a:prstGeom prst="rect">
            <a:avLst/>
          </a:prstGeom>
        </p:spPr>
      </p:pic>
      <p:sp>
        <p:nvSpPr>
          <p:cNvPr id="7" name="Rounded Rectangle 5"/>
          <p:cNvSpPr/>
          <p:nvPr/>
        </p:nvSpPr>
        <p:spPr>
          <a:xfrm>
            <a:off x="6126000" y="177552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280224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828960"/>
            <a:ext cx="2987424" cy="96048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021280"/>
            <a:ext cx="8319744" cy="39744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評判・不安</a:t>
            </a: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応募の準備」の順番</a:t>
            </a:r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が最適</a:t>
            </a:r>
            <a:endParaRPr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162242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70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前後検索データ（起点KW：工場求人ナビ</a:t>
            </a:r>
            <a:r>
              <a:rPr lang="ja-JP" altLang="en-US" sz="70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70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Legend 1"/>
          <p:cNvSpPr/>
          <p:nvPr/>
        </p:nvSpPr>
        <p:spPr>
          <a:xfrm>
            <a:off x="7936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条件</a:t>
            </a:r>
          </a:p>
        </p:txBody>
      </p:sp>
      <p:sp>
        <p:nvSpPr>
          <p:cNvPr id="13" name="Legend 2"/>
          <p:cNvSpPr/>
          <p:nvPr/>
        </p:nvSpPr>
        <p:spPr>
          <a:xfrm>
            <a:off x="25600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評判・不安</a:t>
            </a:r>
          </a:p>
        </p:txBody>
      </p:sp>
      <p:sp>
        <p:nvSpPr>
          <p:cNvPr id="14" name="Legend 3"/>
          <p:cNvSpPr/>
          <p:nvPr/>
        </p:nvSpPr>
        <p:spPr>
          <a:xfrm>
            <a:off x="4326480" y="1775520"/>
            <a:ext cx="1700160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応募の準備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」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829130"/>
            <a:ext cx="8313120" cy="285739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3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カーディーラ</a:t>
            </a:r>
            <a:r>
              <a:rPr sz="13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ー」の検索前後15日間。友だち追加につながりやすいのは、検索当日〜翌日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659600"/>
            <a:ext cx="4703040" cy="2744223"/>
          </a:xfrm>
          <a:prstGeom prst="rect">
            <a:avLst/>
          </a:prstGeom>
        </p:spPr>
      </p:pic>
      <p:sp>
        <p:nvSpPr>
          <p:cNvPr id="7" name="Rectangle 11"/>
          <p:cNvSpPr/>
          <p:nvPr/>
        </p:nvSpPr>
        <p:spPr>
          <a:xfrm>
            <a:off x="3070894" y="4363848"/>
            <a:ext cx="861120" cy="205344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8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8" name="Rectangle 12"/>
          <p:cNvSpPr/>
          <p:nvPr/>
        </p:nvSpPr>
        <p:spPr>
          <a:xfrm>
            <a:off x="3222799" y="1659600"/>
            <a:ext cx="557310" cy="2711102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3"/>
          <p:cNvSpPr/>
          <p:nvPr/>
        </p:nvSpPr>
        <p:spPr>
          <a:xfrm>
            <a:off x="5662320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0" name="Rounded Rectangle 14"/>
          <p:cNvSpPr/>
          <p:nvPr/>
        </p:nvSpPr>
        <p:spPr>
          <a:xfrm>
            <a:off x="7404432" y="1659600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1" name="Rounded Rectangle 15"/>
          <p:cNvSpPr/>
          <p:nvPr/>
        </p:nvSpPr>
        <p:spPr>
          <a:xfrm>
            <a:off x="5662320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2" name="Rounded Rectangle 16"/>
          <p:cNvSpPr/>
          <p:nvPr/>
        </p:nvSpPr>
        <p:spPr>
          <a:xfrm>
            <a:off x="7404432" y="1898063"/>
            <a:ext cx="1708992" cy="205344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3" name="Rounded Rectangle 17"/>
          <p:cNvSpPr/>
          <p:nvPr/>
        </p:nvSpPr>
        <p:spPr>
          <a:xfrm>
            <a:off x="5662320" y="2206080"/>
            <a:ext cx="345110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4" name="Rounded Rectangle 18"/>
          <p:cNvSpPr/>
          <p:nvPr/>
        </p:nvSpPr>
        <p:spPr>
          <a:xfrm>
            <a:off x="5662320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endParaRPr/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15" name="Rounded Rectangle 19"/>
          <p:cNvSpPr/>
          <p:nvPr/>
        </p:nvSpPr>
        <p:spPr>
          <a:xfrm>
            <a:off x="7420992" y="2454480"/>
            <a:ext cx="1692432" cy="84455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16" name="Rounded Rectangle 20"/>
          <p:cNvSpPr/>
          <p:nvPr/>
        </p:nvSpPr>
        <p:spPr>
          <a:xfrm>
            <a:off x="5662320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7420992" y="3332160"/>
            <a:ext cx="1692432" cy="64584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9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18" name="Connector 22"/>
          <p:cNvCxnSpPr/>
          <p:nvPr/>
        </p:nvCxnSpPr>
        <p:spPr>
          <a:xfrm flipV="1">
            <a:off x="3501454" y="2868480"/>
            <a:ext cx="2127745" cy="1424822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23"/>
          <p:cNvSpPr/>
          <p:nvPr/>
        </p:nvSpPr>
        <p:spPr>
          <a:xfrm>
            <a:off x="793680" y="4652223"/>
            <a:ext cx="8319744" cy="205344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0" name="Rounded Rectangle 24"/>
          <p:cNvSpPr/>
          <p:nvPr/>
        </p:nvSpPr>
        <p:spPr>
          <a:xfrm>
            <a:off x="79368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1" name="Rounded Rectangle 25"/>
          <p:cNvSpPr/>
          <p:nvPr/>
        </p:nvSpPr>
        <p:spPr>
          <a:xfrm>
            <a:off x="1991677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2" name="Rounded Rectangle 26"/>
          <p:cNvSpPr/>
          <p:nvPr/>
        </p:nvSpPr>
        <p:spPr>
          <a:xfrm>
            <a:off x="3189674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3" name="Rounded Rectangle 27"/>
          <p:cNvSpPr/>
          <p:nvPr/>
        </p:nvSpPr>
        <p:spPr>
          <a:xfrm>
            <a:off x="4387672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4" name="Rounded Rectangle 28"/>
          <p:cNvSpPr/>
          <p:nvPr/>
        </p:nvSpPr>
        <p:spPr>
          <a:xfrm>
            <a:off x="5585670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9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9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Rounded Rectangle 29"/>
          <p:cNvSpPr/>
          <p:nvPr/>
        </p:nvSpPr>
        <p:spPr>
          <a:xfrm>
            <a:off x="6783668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26" name="Rounded Rectangle 30"/>
          <p:cNvSpPr/>
          <p:nvPr/>
        </p:nvSpPr>
        <p:spPr>
          <a:xfrm>
            <a:off x="7981665" y="4900623"/>
            <a:ext cx="1131757" cy="1114256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680" tIns="26496" rIns="49680" bIns="26496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27" name="Connector 31"/>
          <p:cNvCxnSpPr/>
          <p:nvPr/>
        </p:nvCxnSpPr>
        <p:spPr>
          <a:xfrm>
            <a:off x="4556112" y="4293302"/>
            <a:ext cx="235151" cy="34236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9"/>
          <p:cNvSpPr txBox="1"/>
          <p:nvPr/>
        </p:nvSpPr>
        <p:spPr>
          <a:xfrm>
            <a:off x="793680" y="6097680"/>
            <a:ext cx="8319744" cy="194805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5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前後検索データ（起点KW：カーディーラ</a:t>
            </a:r>
            <a:r>
              <a:rPr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ー</a:t>
            </a:r>
            <a:r>
              <a:rPr lang="en-US" sz="850" dirty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)</a:t>
            </a:r>
            <a:endParaRPr sz="850" dirty="0">
              <a:solidFill>
                <a:srgbClr val="7F7F7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7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8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9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10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1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2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13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4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15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2734</Words>
  <Application>Microsoft Office PowerPoint</Application>
  <PresentationFormat>A4 210 x 297 mm</PresentationFormat>
  <Paragraphs>638</Paragraphs>
  <Slides>25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25</vt:i4>
      </vt:variant>
    </vt:vector>
  </HeadingPairs>
  <TitlesOfParts>
    <vt:vector size="32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2026-10-02T03:09:06Z</dcterms:modified>
</cp:coreProperties>
</file>