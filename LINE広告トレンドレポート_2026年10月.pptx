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1" r:id="rId20"/>
    <p:sldId id="262" r:id="rId19"/>
    <p:sldId id="260" r:id="rId6"/>
  </p:sldIdLst>
  <p:sldSz cx="9906000" cy="6858000" type="A4"/>
  <p:notesSz cx="6799263" cy="9929813"/>
  <p:embeddedFontLs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Meiryo" panose="020B0604030504040204" pitchFamily="50" charset="-128"/>
      <p:regular r:id="rId8"/>
      <p:bold r:id="rId9"/>
      <p:italic r:id="rId10"/>
      <p:boldItalic r:id="rId11"/>
    </p:embeddedFont>
    <p:embeddedFont>
      <p:font typeface="Century Gothic" panose="020B0502020202020204" pitchFamily="34" charset="0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gQCoaVnfxROPv51WSWo8GFar7+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232AC2F-9110-45D6-A1EA-E37EBF87FD90}">
  <a:tblStyle styleId="{5232AC2F-9110-45D6-A1EA-E37EBF87FD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012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notesMaster" Target="notesMasters/notesMaster1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Relationship Id="rId14" Type="http://schemas.openxmlformats.org/officeDocument/2006/relationships/font" Target="fonts/font7.fntdata"/><Relationship Id="rId15" Type="http://schemas.openxmlformats.org/officeDocument/2006/relationships/font" Target="fonts/font8.fntdata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customschemas.google.com/relationships/presentationmetadata" Target="metadata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0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51650" y="0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24200" y="509588"/>
            <a:ext cx="3681413" cy="25495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1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:notes"/>
          <p:cNvSpPr txBox="1">
            <a:spLocks noGrp="1"/>
          </p:cNvSpPr>
          <p:nvPr>
            <p:ph type="ftr" idx="11"/>
          </p:nvPr>
        </p:nvSpPr>
        <p:spPr>
          <a:xfrm>
            <a:off x="1" y="9432321"/>
            <a:ext cx="2946094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1:notes"/>
          <p:cNvSpPr txBox="1">
            <a:spLocks noGrp="1"/>
          </p:cNvSpPr>
          <p:nvPr>
            <p:ph type="sldNum" idx="12"/>
          </p:nvPr>
        </p:nvSpPr>
        <p:spPr>
          <a:xfrm>
            <a:off x="3851650" y="9432321"/>
            <a:ext cx="2946093" cy="495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200" tIns="44100" rIns="88200" bIns="441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z="1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:notes"/>
          <p:cNvSpPr txBox="1">
            <a:spLocks noGrp="1"/>
          </p:cNvSpPr>
          <p:nvPr>
            <p:ph type="body" idx="1"/>
          </p:nvPr>
        </p:nvSpPr>
        <p:spPr>
          <a:xfrm>
            <a:off x="680720" y="4783307"/>
            <a:ext cx="5445760" cy="39136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" name="Google Shape;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:notes"/>
          <p:cNvSpPr txBox="1">
            <a:spLocks noGrp="1"/>
          </p:cNvSpPr>
          <p:nvPr>
            <p:ph type="body" idx="1"/>
          </p:nvPr>
        </p:nvSpPr>
        <p:spPr>
          <a:xfrm>
            <a:off x="680686" y="4716161"/>
            <a:ext cx="5439410" cy="4468185"/>
          </a:xfrm>
          <a:prstGeom prst="rect">
            <a:avLst/>
          </a:prstGeom>
        </p:spPr>
        <p:txBody>
          <a:bodyPr spcFirstLastPara="1" wrap="square" lIns="88200" tIns="44100" rIns="88200" bIns="441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11200" y="744538"/>
            <a:ext cx="5376863" cy="37242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タイトル スライド">
  <p:cSld name="1_タイトル スライド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タイトルとコンテンツ">
  <p:cSld name="4_タイトルとコンテンツ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4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" name="Google Shape;19;p14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191F54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2"/>
          <p:cNvSpPr txBox="1"/>
          <p:nvPr/>
        </p:nvSpPr>
        <p:spPr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Copyright(c) 2025 DYM inc. All Rights Reserved.</a:t>
            </a:r>
            <a:endParaRPr/>
          </a:p>
        </p:txBody>
      </p:sp>
      <p:sp>
        <p:nvSpPr>
          <p:cNvPr id="12" name="Google Shape;12;p12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;p12"/>
          <p:cNvCxnSpPr/>
          <p:nvPr/>
        </p:nvCxnSpPr>
        <p:spPr>
          <a:xfrm>
            <a:off x="0" y="548680"/>
            <a:ext cx="9906000" cy="0"/>
          </a:xfrm>
          <a:prstGeom prst="straightConnector1">
            <a:avLst/>
          </a:prstGeom>
          <a:noFill/>
          <a:ln w="25400" cap="flat" cmpd="sng">
            <a:solidFill>
              <a:srgbClr val="00324B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4" name="Google Shape;14;p12"/>
          <p:cNvPicPr preferRelativeResize="0"/>
          <p:nvPr/>
        </p:nvPicPr>
        <p:blipFill rotWithShape="1">
          <a:blip r:embed="rId4">
            <a:alphaModFix/>
          </a:blip>
          <a:srcRect l="-1647" r="-11171"/>
          <a:stretch/>
        </p:blipFill>
        <p:spPr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2"/>
          <p:cNvSpPr txBox="1"/>
          <p:nvPr/>
        </p:nvSpPr>
        <p:spPr>
          <a:xfrm>
            <a:off x="7545288" y="6571255"/>
            <a:ext cx="2133600" cy="2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52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400" b="0" i="1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‹#›</a:t>
            </a:fld>
            <a:endParaRPr sz="1400" b="0" i="1" u="none" strike="noStrike" cap="none">
              <a:solidFill>
                <a:schemeClr val="lt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"/>
          <p:cNvSpPr/>
          <p:nvPr/>
        </p:nvSpPr>
        <p:spPr>
          <a:xfrm>
            <a:off x="0" y="0"/>
            <a:ext cx="9906000" cy="83671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" name="Google Shape;27;p1"/>
          <p:cNvPicPr preferRelativeResize="0"/>
          <p:nvPr/>
        </p:nvPicPr>
        <p:blipFill rotWithShape="1">
          <a:blip r:embed="rId3">
            <a:alphaModFix/>
          </a:blip>
          <a:srcRect l="-1647" r="-11171"/>
          <a:stretch/>
        </p:blipFill>
        <p:spPr>
          <a:xfrm>
            <a:off x="8619408" y="188641"/>
            <a:ext cx="1192729" cy="243605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1"/>
          <p:cNvSpPr/>
          <p:nvPr/>
        </p:nvSpPr>
        <p:spPr>
          <a:xfrm>
            <a:off x="1026684" y="3645024"/>
            <a:ext cx="7873109" cy="45719"/>
          </a:xfrm>
          <a:prstGeom prst="rect">
            <a:avLst/>
          </a:prstGeom>
          <a:solidFill>
            <a:srgbClr val="15133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11480" y="3044550"/>
            <a:ext cx="9070848" cy="6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3200" b="1" i="0" u="none" strike="noStrike" cap="none">
                <a:solidFill>
                  <a:srgbClr val="0F243E"/>
                </a:solidFill>
                <a:latin typeface="メイリオ"/>
                <a:ea typeface="Arial"/>
                <a:cs typeface="Arial"/>
                <a:sym typeface="Arial"/>
              </a:rPr>
              <a:t>2026年10月　LINE広告トレンドレポート</a:t>
            </a:r>
            <a:endParaRPr sz="2000" b="1" i="0" u="none" strike="noStrike" cap="none">
              <a:solidFill>
                <a:srgbClr val="0F243E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34;p2_page"/>
          <p:cNvSpPr txBox="1"/>
          <p:nvPr/>
        </p:nvSpPr>
        <p:spPr>
          <a:xfrm>
            <a:off x="318183" y="1483585"/>
            <a:ext cx="1005840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P.3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P.4-6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P.7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4" name="Google Shape;34;p2"/>
          <p:cNvSpPr txBox="1"/>
          <p:nvPr/>
        </p:nvSpPr>
        <p:spPr>
          <a:xfrm>
            <a:off x="1461183" y="1483585"/>
            <a:ext cx="8155331" cy="4279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0000" rIns="91425" bIns="90000" anchor="t" anchorCtr="0">
            <a:sp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【LINEヤフー広告】統合の概要・移行の対象と方法・移行ツール</a:t>
            </a:r>
            <a:endParaRPr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500" b="1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sz="1500" b="1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5" name="Google Shape;35;p2"/>
          <p:cNvSpPr txBox="1"/>
          <p:nvPr/>
        </p:nvSpPr>
        <p:spPr>
          <a:xfrm>
            <a:off x="292801" y="62027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ja-JP" sz="1600" b="0" i="0" u="none" strike="noStrike" cap="none">
                <a:solidFill>
                  <a:srgbClr val="000000"/>
                </a:solidFill>
                <a:latin typeface="メイリオ"/>
                <a:ea typeface="Meiryo"/>
                <a:cs typeface="Meiryo"/>
                <a:sym typeface="Meiryo"/>
              </a:rPr>
              <a:t>    目次</a:t>
            </a:r>
            <a:endParaRPr sz="1600" b="0" i="0" u="none" strike="noStrike" cap="none">
              <a:solidFill>
                <a:srgbClr val="00000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出典：https://www.lycbiz.com/jp/news/line-ads/20260925/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【LINE広告】旧「LINE広告」の配信停止（10/26）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2026年10月26日（月）に、旧「LINE広告」の新規作成・編集・広告配信が停止された。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日本向けの広告はすべて「未配信」になり、停止後の管理画面は閲覧のみ。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2027年3月末頃に提供終了となり、それ以降はレポートも確認できなくなる。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Rounded Rectangle 73"/>
          <p:cNvSpPr/>
          <p:nvPr/>
        </p:nvSpPr>
        <p:spPr>
          <a:xfrm>
            <a:off x="548640" y="5535519"/>
            <a:ext cx="4315968" cy="8652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APIと一括登録も停止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 sz="1100">
                <a:solidFill>
                  <a:srgbClr val="333333"/>
                </a:solidFill>
                <a:latin typeface="メイリオ"/>
              </a:rPr>
              <a:t>コピー・一括登録での作成、画像・動画の追加・編集、再審査の依頼も不可。API経由も10/26に停止。</a:t>
            </a:r>
          </a:p>
        </p:txBody>
      </p:sp>
      <p:sp>
        <p:nvSpPr>
          <p:cNvPr id="75" name="Rounded Rectangle 73_2"/>
          <p:cNvSpPr/>
          <p:nvPr/>
        </p:nvSpPr>
        <p:spPr>
          <a:xfrm>
            <a:off x="5047488" y="5535519"/>
            <a:ext cx="4315968" cy="86528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 dirty="0" err="1">
                <a:solidFill>
                  <a:srgbClr val="15133D"/>
                </a:solidFill>
                <a:latin typeface="メイリオ"/>
              </a:rPr>
              <a:t>請求はあとから更新あり</a:t>
            </a:r>
            <a:endParaRPr sz="1900" b="1" dirty="0">
              <a:solidFill>
                <a:srgbClr val="15133D"/>
              </a:solidFill>
              <a:latin typeface="メイリオ"/>
            </a:endParaRP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dirty="0" sz="1100">
                <a:solidFill>
                  <a:srgbClr val="333333"/>
                </a:solidFill>
                <a:latin typeface="メイリオ"/>
              </a:rPr>
              <a:t>停止後も費用・明細があとから更新されることがある。カード決済が配信終了後になる場合もある。</a:t>
            </a:r>
          </a:p>
        </p:txBody>
      </p:sp>
      <p:pic>
        <p:nvPicPr>
          <p:cNvPr id="76" name="Picture 75" descr="schedule_nono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5440" y="3072384"/>
            <a:ext cx="6675120" cy="235340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【LINEヤフー広告】ディスプレイ広告 統合の概要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2026年4月、LINE広告とYahoo!広告 ディスプレイ広告が統合され、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「LINEヤフー広告 ディスプレイ広告」の提供が始まった。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Yahoo!広告は自動で移行済み。LINE広告は自動では移らないため、移行が必要。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8640" y="5399382"/>
            <a:ext cx="4315968" cy="1001417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Yahoo!広告は自動で移行済み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Yahoo!広告 ディスプレイ広告は、2026年4月の統合で自動的に移行。追加の対応は不要。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7488" y="5399382"/>
            <a:ext cx="4315968" cy="1001417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700" b="1">
                <a:solidFill>
                  <a:srgbClr val="15133D"/>
                </a:solidFill>
                <a:latin typeface="メイリオ"/>
              </a:rPr>
              <a:t>LINE広告は自動では移らない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100">
                <a:solidFill>
                  <a:srgbClr val="333333"/>
                </a:solidFill>
                <a:latin typeface="メイリオ"/>
              </a:rPr>
              <a:t>画面や仕様はそのまま引き継がれない。アカウントや配信設定は、移行ツールか手動で移す。</a:t>
            </a:r>
          </a:p>
        </p:txBody>
      </p:sp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3072384"/>
            <a:ext cx="5486400" cy="22172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【LINEヤフー広告】移行の対象と方法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LINE広告を使っている広告主・代理店は、LINEヤフー広告への移行が必要。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移行の方法は、移行ツールを使う方法と手動の2つ。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配信実績とオーディエンスの蓄積で最適化されるため、早めの移行が推奨されている。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移行が必要な方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LINE広告を使っている広告主と代理店。代理店が管理しているアカウントも対象。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移行が不要な方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Yahoo!広告だけを使っている場合は、原則として対応不要。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方法①：移行ツール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できる限り自動で移せる。認証済みのビジネスマネージャーとの連携が必須。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方法②：手動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Yahoo!広告のアカウントがあれば、そこへ移すか新しく作る。なければLINEヤフー広告で新しく作る。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出典：https://www.lycbiz.com/jp/column/line-ads/service-information/migration-guide/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【LINEヤフー広告】移行ツールで移せるもの・移せないもの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移行ツールは、LINE広告の配信データをできる限りLINEヤフー広告へコピーする機能。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タグ・コンバージョン設定や過去の実績など、移せないデータもある。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移行後はキャンペーンが配信オフになるため、設定を確認してから配信を再開する。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ounded Rectangle 62"/>
          <p:cNvSpPr/>
          <p:nvPr/>
        </p:nvSpPr>
        <p:spPr>
          <a:xfrm>
            <a:off x="544108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移せるもの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アカウント・グループ、クレジットカード情報と権限（移すか選べる）、キャンペーン・広告グループ・広告の設定、画像・動画、オーディエンス。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44440" y="306896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移せないもの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「商品フィードから販売」のキャンペーン、LINE Tag・コンバージョン設定、過去の実績・レポート（自動入札の学習データ含む）、外部ツールとのAPI連携。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4108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事前準備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LINE広告と接続しているLINE公式アカウントを、同じ認証済みビジネスマネージャーに接続。操作する方はビジネスIDを統合しておく。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044440" y="4714880"/>
            <a:ext cx="4317452" cy="146304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対象アカウントと移行後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日本向け配信・運用型・審査承認済みのアカウントが対象。移行後のキャンペーンは配信オフなので、設定を確認してからオンにする。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3"/>
          <p:cNvSpPr/>
          <p:nvPr/>
        </p:nvSpPr>
        <p:spPr>
          <a:xfrm>
            <a:off x="292801" y="730955"/>
            <a:ext cx="1296144" cy="43569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対象業界</a:t>
            </a:r>
            <a:endParaRPr/>
          </a:p>
        </p:txBody>
      </p:sp>
      <p:sp>
        <p:nvSpPr>
          <p:cNvPr id="41" name="Google Shape;41;p3"/>
          <p:cNvSpPr/>
          <p:nvPr/>
        </p:nvSpPr>
        <p:spPr>
          <a:xfrm>
            <a:off x="756084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その他</a:t>
            </a:r>
            <a:endParaRPr sz="12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2" name="Google Shape;42;p3"/>
          <p:cNvSpPr/>
          <p:nvPr/>
        </p:nvSpPr>
        <p:spPr>
          <a:xfrm>
            <a:off x="6679050" y="730955"/>
            <a:ext cx="829618" cy="435690"/>
          </a:xfrm>
          <a:prstGeom prst="rect">
            <a:avLst/>
          </a:prstGeom>
          <a:solidFill>
            <a:schemeClr val="tx2"/>
          </a:solidFill>
          <a:ln w="9525" cap="flat" cmpd="sng">
            <a:solidFill>
              <a:srgbClr val="4F81B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配信面</a:t>
            </a:r>
            <a:endParaRPr sz="1000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3" name="Google Shape;43;p3"/>
          <p:cNvSpPr/>
          <p:nvPr/>
        </p:nvSpPr>
        <p:spPr>
          <a:xfrm>
            <a:off x="1594068" y="730955"/>
            <a:ext cx="2926883" cy="435690"/>
          </a:xfrm>
          <a:prstGeom prst="rect">
            <a:avLst/>
          </a:prstGeom>
          <a:noFill/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300" b="0" i="0" u="none" strike="noStrike" cap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LINE広告を運用中の広告主</a:t>
            </a:r>
            <a:endParaRPr/>
          </a:p>
        </p:txBody>
      </p:sp>
      <p:sp>
        <p:nvSpPr>
          <p:cNvPr id="44" name="Google Shape;44;p3"/>
          <p:cNvSpPr txBox="1"/>
          <p:nvPr/>
        </p:nvSpPr>
        <p:spPr>
          <a:xfrm>
            <a:off x="3296816" y="6597352"/>
            <a:ext cx="6209091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800" b="0" i="0" u="none" strike="noStrike" cap="none">
                <a:solidFill>
                  <a:schemeClr val="lt1"/>
                </a:solidFill>
                <a:latin typeface="メイリオ"/>
                <a:ea typeface="Meiryo"/>
                <a:cs typeface="Meiryo"/>
                <a:sym typeface="Meiryo"/>
              </a:rPr>
              <a:t>出典：https://www.lycbiz.com/jp/news/ly-ads/20260730/</a:t>
            </a:r>
            <a:endParaRPr sz="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Google Shape;45;p3"/>
          <p:cNvSpPr/>
          <p:nvPr/>
        </p:nvSpPr>
        <p:spPr>
          <a:xfrm>
            <a:off x="0" y="1234746"/>
            <a:ext cx="9906000" cy="672259"/>
          </a:xfrm>
          <a:prstGeom prst="rect">
            <a:avLst/>
          </a:prstGeom>
          <a:solidFill>
            <a:srgbClr val="C5D8F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　　　　　　</a:t>
            </a:r>
            <a:endParaRPr sz="18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1089832" y="1437370"/>
            <a:ext cx="703152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600" b="1">
                <a:solidFill>
                  <a:srgbClr val="004DE6"/>
                </a:solidFill>
                <a:latin typeface="メイリオ"/>
                <a:ea typeface="Meiryo"/>
                <a:cs typeface="Meiryo"/>
                <a:sym typeface="Meiryo"/>
              </a:rPr>
              <a:t>【LINE VOOM】サービス終了に伴う広告枠の終了</a:t>
            </a:r>
            <a:endParaRPr sz="1600" b="1">
              <a:solidFill>
                <a:srgbClr val="004DE6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182880" y="88175"/>
            <a:ext cx="7512385" cy="365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720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ja-JP" sz="1600" b="0" u="none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    今後のアップデート情報</a:t>
            </a:r>
            <a:endParaRPr sz="1600" b="0" u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8" name="Google Shape;48;p3"/>
          <p:cNvSpPr/>
          <p:nvPr/>
        </p:nvSpPr>
        <p:spPr>
          <a:xfrm>
            <a:off x="579726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LINEヤフー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Meiryo"/>
              <a:buNone/>
            </a:pPr>
            <a:r>
              <a:rPr lang="ja-JP" sz="9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9" name="Google Shape;49;p3"/>
          <p:cNvSpPr/>
          <p:nvPr/>
        </p:nvSpPr>
        <p:spPr>
          <a:xfrm>
            <a:off x="4915470" y="730955"/>
            <a:ext cx="829618" cy="435690"/>
          </a:xfrm>
          <a:prstGeom prst="rect">
            <a:avLst/>
          </a:prstGeom>
          <a:solidFill>
            <a:schemeClr val="bg1"/>
          </a:solidFill>
          <a:ln w="9525" cap="flat" cmpd="sng">
            <a:solidFill>
              <a:srgbClr val="4F81BD"/>
            </a:solidFill>
            <a:prstDash val="sys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000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LINE広告</a:t>
            </a:r>
            <a:endParaRPr sz="10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0" name="Google Shape;50;p3"/>
          <p:cNvSpPr/>
          <p:nvPr/>
        </p:nvSpPr>
        <p:spPr>
          <a:xfrm>
            <a:off x="0" y="1890267"/>
            <a:ext cx="9906000" cy="733579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1" name="Google Shape;51;p3"/>
          <p:cNvSpPr/>
          <p:nvPr/>
        </p:nvSpPr>
        <p:spPr>
          <a:xfrm>
            <a:off x="544108" y="1961282"/>
            <a:ext cx="881778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2026年9月30日（水）11時に、LINE VOOMのサービスが終了した。</a:t>
            </a:r>
            <a:endParaRPr sz="12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あわせて、LINE VOOM面への広告配信も終了している。</a:t>
            </a:r>
            <a:endParaRPr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200" b="1">
                <a:solidFill>
                  <a:schemeClr val="dk1"/>
                </a:solidFill>
                <a:latin typeface="メイリオ"/>
                <a:ea typeface="Meiryo"/>
                <a:cs typeface="Meiryo"/>
                <a:sym typeface="Meiryo"/>
              </a:rPr>
              <a:t>LINEアプリのVOOMタブは、ショッピングタブに切り替わる。</a:t>
            </a:r>
            <a:endParaRPr sz="1400" b="1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52" name="Google Shape;52;p3"/>
          <p:cNvSpPr/>
          <p:nvPr/>
        </p:nvSpPr>
        <p:spPr>
          <a:xfrm>
            <a:off x="351381" y="2714173"/>
            <a:ext cx="52000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-JP" sz="1400" b="1">
                <a:solidFill>
                  <a:srgbClr val="15133D"/>
                </a:solidFill>
                <a:latin typeface="メイリオ"/>
                <a:ea typeface="Meiryo"/>
                <a:cs typeface="Meiryo"/>
                <a:sym typeface="Meiryo"/>
              </a:rPr>
              <a:t>■ 詳細</a:t>
            </a:r>
            <a:endParaRPr/>
          </a:p>
        </p:txBody>
      </p:sp>
      <p:grpSp>
        <p:nvGrpSpPr>
          <p:cNvPr id="53" name="Google Shape;53;p3"/>
          <p:cNvGrpSpPr/>
          <p:nvPr/>
        </p:nvGrpSpPr>
        <p:grpSpPr>
          <a:xfrm>
            <a:off x="8473303" y="730955"/>
            <a:ext cx="1376241" cy="1131930"/>
            <a:chOff x="0" y="0"/>
            <a:chExt cx="1376241" cy="1131930"/>
          </a:xfrm>
        </p:grpSpPr>
        <p:sp>
          <p:nvSpPr>
            <p:cNvPr id="54" name="Google Shape;54;p3"/>
            <p:cNvSpPr/>
            <p:nvPr/>
          </p:nvSpPr>
          <p:spPr>
            <a:xfrm rot="10800000">
              <a:off x="0" y="0"/>
              <a:ext cx="1376241" cy="282982"/>
            </a:xfrm>
            <a:prstGeom prst="trapezoid">
              <a:avLst>
                <a:gd name="adj" fmla="val 60792"/>
              </a:avLst>
            </a:prstGeom>
            <a:solidFill>
              <a:srgbClr val="EAEDF5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 txBox="1"/>
            <p:nvPr/>
          </p:nvSpPr>
          <p:spPr>
            <a:xfrm>
              <a:off x="240842" y="0"/>
              <a:ext cx="894556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認知</a:t>
              </a: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 rot="10800000">
              <a:off x="172030" y="282982"/>
              <a:ext cx="103218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 txBox="1"/>
            <p:nvPr/>
          </p:nvSpPr>
          <p:spPr>
            <a:xfrm>
              <a:off x="352661" y="282982"/>
              <a:ext cx="670917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検討</a:t>
              </a: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0800000">
              <a:off x="344060" y="565965"/>
              <a:ext cx="688120" cy="282982"/>
            </a:xfrm>
            <a:prstGeom prst="trapezoid">
              <a:avLst>
                <a:gd name="adj" fmla="val 60792"/>
              </a:avLst>
            </a:prstGeom>
            <a:solidFill>
              <a:schemeClr val="lt1"/>
            </a:solidFill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 txBox="1"/>
            <p:nvPr/>
          </p:nvSpPr>
          <p:spPr>
            <a:xfrm>
              <a:off x="464481" y="565965"/>
              <a:ext cx="447278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獲得</a:t>
              </a: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 rot="10800000">
              <a:off x="516090" y="848948"/>
              <a:ext cx="344060" cy="282982"/>
            </a:xfrm>
            <a:prstGeom prst="trapezoid">
              <a:avLst>
                <a:gd name="adj" fmla="val 60792"/>
              </a:avLst>
            </a:prstGeom>
            <a:noFill/>
            <a:ln w="254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 txBox="1"/>
            <p:nvPr/>
          </p:nvSpPr>
          <p:spPr>
            <a:xfrm>
              <a:off x="516090" y="848948"/>
              <a:ext cx="344060" cy="28298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150" tIns="10150" rIns="10150" bIns="1015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262626"/>
                </a:buClr>
                <a:buSzPts val="800"/>
                <a:buFont typeface="Arial"/>
                <a:buNone/>
              </a:pPr>
              <a:r>
                <a:rPr lang="ja-JP" sz="800" b="1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rPr>
                <a:t>伸長</a:t>
              </a:r>
              <a:endParaRPr/>
            </a:p>
          </p:txBody>
        </p:sp>
      </p:grpSp>
      <p:pic>
        <p:nvPicPr>
          <p:cNvPr id="62" name="Google Shape;62;p3" descr="LINE公式アカウントのロゴの使用方法とは？種類やダウンロード方法、利用時の注意点を紹介 | Mico（ミコ）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381" y="1234746"/>
            <a:ext cx="656177" cy="655521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Rectangle 62"/>
          <p:cNvSpPr/>
          <p:nvPr/>
        </p:nvSpPr>
        <p:spPr>
          <a:xfrm>
            <a:off x="544108" y="3068960"/>
            <a:ext cx="4180292" cy="2743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333333"/>
                </a:solidFill>
                <a:latin typeface="メイリオ"/>
              </a:rPr>
              <a:t>AS-IS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108" y="3343280"/>
            <a:ext cx="4180292" cy="6400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800" b="1">
                <a:solidFill>
                  <a:srgbClr val="15133D"/>
                </a:solidFill>
                <a:latin typeface="メイリオ"/>
              </a:rPr>
              <a:t>LINE VOOM面に広告を配信できる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724400" y="3068960"/>
            <a:ext cx="457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3467B2"/>
                </a:solidFill>
                <a:latin typeface="メイリオ"/>
              </a:rPr>
              <a:t>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81600" y="3068960"/>
            <a:ext cx="4180292" cy="274320"/>
          </a:xfrm>
          <a:prstGeom prst="rect">
            <a:avLst/>
          </a:prstGeom>
          <a:solidFill>
            <a:srgbClr val="151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Ins="4572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メイリオ"/>
              </a:rPr>
              <a:t>TO-BE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1600" y="3343280"/>
            <a:ext cx="4180292" cy="640080"/>
          </a:xfrm>
          <a:prstGeom prst="rect">
            <a:avLst/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37160" bIns="54864" rtlCol="0" anchor="ctr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15133D"/>
                </a:solidFill>
                <a:latin typeface="メイリオ"/>
              </a:rPr>
              <a:t>VOOM面への広告配信は終了</a:t>
            </a:r>
          </a:p>
          <a:p>
            <a:pPr>
              <a:lnSpc>
                <a:spcPct val="110000"/>
              </a:lnSpc>
              <a:spcBef>
                <a:spcPts val="500"/>
              </a:spcBef>
            </a:pPr>
            <a:r>
              <a:rPr sz="1050">
                <a:solidFill>
                  <a:srgbClr val="333333"/>
                </a:solidFill>
                <a:latin typeface="メイリオ"/>
              </a:rPr>
              <a:t>9/30 11時にサービス終了。投稿・閲覧もできない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4108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VOOMタブはショッピングタブへ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LINEアプリ下部のVOOMタブは、ショッピングタブに切り替わる。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44440" y="4211960"/>
            <a:ext cx="4317452" cy="1371600"/>
          </a:xfrm>
          <a:prstGeom prst="roundRect">
            <a:avLst>
              <a:gd name="adj" fmla="val 6000"/>
            </a:avLst>
          </a:prstGeom>
          <a:solidFill>
            <a:srgbClr val="EAF0FA"/>
          </a:solidFill>
          <a:ln w="12700">
            <a:solidFill>
              <a:srgbClr val="3467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182880" rtlCol="0" anchor="ctr"/>
          <a:lstStyle/>
          <a:p>
            <a:pPr algn="l"/>
            <a:r>
              <a:rPr sz="1900" b="1">
                <a:solidFill>
                  <a:srgbClr val="15133D"/>
                </a:solidFill>
                <a:latin typeface="メイリオ"/>
              </a:rPr>
              <a:t>VOOM面向けの設定は見直し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>
                <a:solidFill>
                  <a:srgbClr val="333333"/>
                </a:solidFill>
                <a:latin typeface="メイリオ"/>
              </a:rPr>
              <a:t>VOOM面を前提にした配信設定・クリエイティブは、残りの配信面に合わせて見直す。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YMJAPAN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532</Words>
  <Application>Microsoft Office PowerPoint</Application>
  <PresentationFormat>A4 210 x 297 mm</PresentationFormat>
  <Paragraphs>98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Meiryo</vt:lpstr>
      <vt:lpstr>Century Gothic</vt:lpstr>
      <vt:lpstr>Meiryo</vt:lpstr>
      <vt:lpstr>Arial</vt:lpstr>
      <vt:lpstr>Calibri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横田 澪央</dc:creator>
  <cp:lastModifiedBy>殿村 亮太</cp:lastModifiedBy>
  <cp:revision>1</cp:revision>
  <dcterms:created xsi:type="dcterms:W3CDTF">2021-08-26T12:24:15Z</dcterms:created>
  <dcterms:modified xsi:type="dcterms:W3CDTF">2026-10-26T04:32:33Z</dcterms:modified>
</cp:coreProperties>
</file>