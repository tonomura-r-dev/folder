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18" r:id="rId1"/>
  </p:sldMasterIdLst>
  <p:notesMasterIdLst>
    <p:notesMasterId r:id="rId4"/>
  </p:notesMasterIdLst>
  <p:handoutMasterIdLst>
    <p:handoutMasterId r:id="rId5"/>
  </p:handoutMasterIdLst>
  <p:sldIdLst>
    <p:sldId id="761" r:id="rId2"/>
    <p:sldId id="762" r:id="rId3"/>
    <p:sldId id="763" r:id="rId10"/>
    <p:sldId id="764" r:id="rId11"/>
    <p:sldId id="765" r:id="rId12"/>
  </p:sldIdLst>
  <p:sldSz cx="9906000" cy="6858000" type="A4"/>
  <p:notesSz cx="6799263" cy="99298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D9F1"/>
    <a:srgbClr val="4F81BD"/>
    <a:srgbClr val="558ED5"/>
    <a:srgbClr val="1F497D"/>
    <a:srgbClr val="FF0033"/>
    <a:srgbClr val="FFECEF"/>
    <a:srgbClr val="06C755"/>
    <a:srgbClr val="E6F9EE"/>
    <a:srgbClr val="00003E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242" autoAdjust="0"/>
  </p:normalViewPr>
  <p:slideViewPr>
    <p:cSldViewPr showGuides="1">
      <p:cViewPr varScale="1">
        <p:scale>
          <a:sx n="70" d="100"/>
          <a:sy n="70" d="100"/>
        </p:scale>
        <p:origin x="1036" y="4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-131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82" d="100"/>
          <a:sy n="82" d="100"/>
        </p:scale>
        <p:origin x="3956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51275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D740AF-C5B1-484E-AC0D-06DF6194BE48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31338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1275" y="9431338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F66FD-972B-4863-95B4-951228FAC2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51269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094" cy="495952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1650" y="0"/>
            <a:ext cx="2946093" cy="495952"/>
          </a:xfrm>
          <a:prstGeom prst="rect">
            <a:avLst/>
          </a:prstGeom>
        </p:spPr>
        <p:txBody>
          <a:bodyPr vert="horz" lIns="88212" tIns="44106" rIns="88212" bIns="44106" rtlCol="0"/>
          <a:lstStyle>
            <a:lvl1pPr algn="r">
              <a:defRPr sz="1200"/>
            </a:lvl1pPr>
          </a:lstStyle>
          <a:p>
            <a:fld id="{9BAA5408-E8C5-4838-A9FF-73DF62848451}" type="datetimeFigureOut">
              <a:rPr kumimoji="1" lang="ja-JP" altLang="en-US" smtClean="0"/>
              <a:t>2026/10/27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212" tIns="44106" rIns="88212" bIns="44106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vert="horz" lIns="88212" tIns="44106" rIns="88212" bIns="44106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32321"/>
            <a:ext cx="2946094" cy="495952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</p:spPr>
        <p:txBody>
          <a:bodyPr vert="horz" lIns="88212" tIns="44106" rIns="88212" bIns="44106" rtlCol="0" anchor="b"/>
          <a:lstStyle>
            <a:lvl1pPr algn="r">
              <a:defRPr sz="1200"/>
            </a:lvl1pPr>
          </a:lstStyle>
          <a:p>
            <a:fld id="{428830D6-43C1-46CA-A712-7A93C69C91B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3320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9256311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</a:rPr>
              <a:t>Copyright(c) 2026 DYM inc. All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schemeClr val="bg1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</p:sldLayoutIdLst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旧「LINE広告」の配信停止（10/26）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10/26以降、旧「LINE広告」では配信も編集もできない。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比較に使うレポートは、提供終了（2027年3月末頃）までに保存しておく。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2026年10月26日（月）に、旧「LINE広告」の新規作成・編集・広告配信が停止された。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停止後の管理画面は閲覧のみ。2027年3月末頃に提供終了となる。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https://www.lycbiz.com/jp/news/line-ads/20260925/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旧「LINE広告」は10/26に配信停止、2027年3月末頃に提供終了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316736"/>
            <a:ext cx="512064" cy="512064"/>
          </a:xfrm>
          <a:prstGeom prst="rect">
            <a:avLst/>
          </a:prstGeom>
        </p:spPr>
      </p:pic>
      <p:sp>
        <p:nvSpPr>
          <p:cNvPr id="28" name="Trapezoid 27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30" name="Trapezoid 29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2" name="Trapezoid 31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120715"/>
            <a:ext cx="5486400" cy="1951592"/>
          </a:xfrm>
          <a:prstGeom prst="rect">
            <a:avLst/>
          </a:prstGeom>
        </p:spPr>
      </p:pic>
      <p:sp>
        <p:nvSpPr>
          <p:cNvPr id="75" name="Rounded Rectangle 73"/>
          <p:cNvSpPr/>
          <p:nvPr/>
        </p:nvSpPr>
        <p:spPr>
          <a:xfrm>
            <a:off x="5961888" y="2889504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APIと一括登録も停止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>
                <a:solidFill>
                  <a:srgbClr val="333333"/>
                </a:solidFill>
                <a:latin typeface="メイリオ"/>
              </a:rPr>
              <a:t>コピー・一括登録での作成、画像・動画の追加・編集、再審査の依頼も不可。API経由も10/26に停止。</a:t>
            </a:r>
          </a:p>
        </p:txBody>
      </p:sp>
      <p:sp>
        <p:nvSpPr>
          <p:cNvPr id="76" name="Rounded Rectangle 73_2"/>
          <p:cNvSpPr/>
          <p:nvPr/>
        </p:nvSpPr>
        <p:spPr>
          <a:xfrm>
            <a:off x="5961888" y="4165091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請求はあとから更新あり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>
                <a:solidFill>
                  <a:srgbClr val="333333"/>
                </a:solidFill>
                <a:latin typeface="メイリオ"/>
              </a:rPr>
              <a:t>停止後も費用・明細があとから更新されることがある。カード決済が配信終了後になる場合もある。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ディスプレイ広告 統合の概要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Yahoo!広告は自動で移行済み。LINE広告は自動では移らないため、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移行ツールか手動でLINEヤフー広告へ移す必要がある。</a:t>
            </a:r>
          </a:p>
        </p:txBody>
      </p:sp>
      <p:pic>
        <p:nvPicPr>
          <p:cNvPr id="22" name="Picture 4" descr="LINEヤフー株式会社」発足 | LINEヤフー株式会社のプレスリリース">
            <a:extLst>
              <a:ext uri="{FF2B5EF4-FFF2-40B4-BE49-F238E27FC236}">
                <a16:creationId xmlns:a16="http://schemas.microsoft.com/office/drawing/2014/main" id="{AAAB2AD5-BBAE-A07B-DC9C-C36C428D1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01" y="1344101"/>
            <a:ext cx="560344" cy="47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2026年4月、LINE広告とYahoo!広告 ディスプレイ広告が統合され、「LINEヤフー広告 ディスプレイ広告」が始まった。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Yahoo!広告は自動で移行済み。LINE広告は自動では移らないため、移行が必要。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https://www.lycbiz.com/jp/column/line-ads/service-information/migration-guide/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LINE広告とYahoo!広告 ディスプレイ広告が「LINEヤフー広告」に統合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sp>
        <p:nvSpPr>
          <p:cNvPr id="27" name="Trapezoid 26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29" name="Trapezoid 28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1" name="Trapezoid 30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3181884"/>
            <a:ext cx="5486400" cy="1829254"/>
          </a:xfrm>
          <a:prstGeom prst="rect">
            <a:avLst/>
          </a:prstGeom>
        </p:spPr>
      </p:pic>
      <p:sp>
        <p:nvSpPr>
          <p:cNvPr id="64" name="Rounded Rectangle 62"/>
          <p:cNvSpPr/>
          <p:nvPr/>
        </p:nvSpPr>
        <p:spPr>
          <a:xfrm>
            <a:off x="5961888" y="2889504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Yahoo!広告は自動で移行済み</a:t>
            </a:r>
            <a:endParaRPr sz="17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Yahoo!広告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 ディスプレイ広告は、2026年4月の統合で自動的に移行。追加の対応は不要。</a:t>
            </a:r>
          </a:p>
        </p:txBody>
      </p:sp>
      <p:sp>
        <p:nvSpPr>
          <p:cNvPr id="65" name="Rounded Rectangle 63"/>
          <p:cNvSpPr/>
          <p:nvPr/>
        </p:nvSpPr>
        <p:spPr>
          <a:xfrm>
            <a:off x="5961888" y="4165091"/>
            <a:ext cx="3767328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>
                <a:solidFill>
                  <a:srgbClr val="15133D"/>
                </a:solidFill>
                <a:latin typeface="メイリオ"/>
              </a:rPr>
              <a:t>LINE広告は自動では移らない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画面や仕様はそのまま引き継がれない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2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アカウントや配信設定は、移行ツールか手動で移す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移行の対象と方法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配信実績とオーディエンスの蓄積で最適化されるため、早めの移行が推奨されている。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移行ツールを使うには、認証済みビジネスマネージャーとの連携が必須。</a:t>
            </a:r>
          </a:p>
        </p:txBody>
      </p:sp>
      <p:pic>
        <p:nvPicPr>
          <p:cNvPr id="22" name="Picture 4" descr="LINEヤフー株式会社」発足 | LINEヤフー株式会社のプレスリリース">
            <a:extLst>
              <a:ext uri="{FF2B5EF4-FFF2-40B4-BE49-F238E27FC236}">
                <a16:creationId xmlns:a16="http://schemas.microsoft.com/office/drawing/2014/main" id="{AAAB2AD5-BBAE-A07B-DC9C-C36C428D1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01" y="1344101"/>
            <a:ext cx="560344" cy="47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LINE広告を使っている広告主・代理店は、LINEヤフー広告への移行が必要。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移行の方法は、移行ツールを使う方法と手動の2つ。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https://www.lycbiz.com/jp/column/line-ads/service-information/migration-guide/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LINE広告を使っている場合は、移行ツールか手動で移行する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sp>
        <p:nvSpPr>
          <p:cNvPr id="27" name="Trapezoid 26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29" name="Trapezoid 28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1" name="Trapezoid 30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sp>
        <p:nvSpPr>
          <p:cNvPr id="64" name="Rounded Rectangle 62"/>
          <p:cNvSpPr/>
          <p:nvPr/>
        </p:nvSpPr>
        <p:spPr>
          <a:xfrm>
            <a:off x="292608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移行が必要な方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LINE広告を使っている広告主と代理店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代理店が管理しているアカウントも対象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5" name="Rounded Rectangle 63"/>
          <p:cNvSpPr/>
          <p:nvPr/>
        </p:nvSpPr>
        <p:spPr>
          <a:xfrm>
            <a:off x="5102352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移行が不要な方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Yahoo!広告だけを使っている場合は、原則として対応不要。</a:t>
            </a:r>
          </a:p>
        </p:txBody>
      </p:sp>
      <p:sp>
        <p:nvSpPr>
          <p:cNvPr id="66" name="Rounded Rectangle 64"/>
          <p:cNvSpPr/>
          <p:nvPr/>
        </p:nvSpPr>
        <p:spPr>
          <a:xfrm>
            <a:off x="292608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方法</a:t>
            </a:r>
            <a:r>
              <a:rPr sz="1400" b="1" dirty="0">
                <a:solidFill>
                  <a:srgbClr val="15133D"/>
                </a:solidFill>
                <a:latin typeface="メイリオ"/>
              </a:rPr>
              <a:t>①：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移行ツール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できる限り自動で移せる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認証済みのビジネスマネージャーとの連携が必須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7" name="Rounded Rectangle 65"/>
          <p:cNvSpPr/>
          <p:nvPr/>
        </p:nvSpPr>
        <p:spPr>
          <a:xfrm>
            <a:off x="5102352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方法</a:t>
            </a:r>
            <a:r>
              <a:rPr sz="1400" b="1" dirty="0">
                <a:solidFill>
                  <a:srgbClr val="15133D"/>
                </a:solidFill>
                <a:latin typeface="メイリオ"/>
              </a:rPr>
              <a:t>②：</a:t>
            </a:r>
            <a:r>
              <a:rPr sz="1400" b="1" dirty="0" err="1">
                <a:solidFill>
                  <a:srgbClr val="15133D"/>
                </a:solidFill>
                <a:latin typeface="メイリオ"/>
              </a:rPr>
              <a:t>手動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Yahoo!広告のアカウントがあれば、そこへ移すか新しく作る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  <a:endParaRPr lang="en-US" sz="1300" dirty="0">
              <a:solidFill>
                <a:srgbClr val="333333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dirty="0" err="1">
                <a:solidFill>
                  <a:srgbClr val="333333"/>
                </a:solidFill>
                <a:latin typeface="メイリオ"/>
              </a:rPr>
              <a:t>なければLINEヤフー広告で新しく作る</a:t>
            </a:r>
            <a:r>
              <a:rPr sz="110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移行ツールで移せるもの・移せないもの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移行後のキャンペーンは配信オフになる。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タグ・コンバージョンを設定し直し、設定を確認してから配信を再開する。</a:t>
            </a:r>
          </a:p>
        </p:txBody>
      </p:sp>
      <p:pic>
        <p:nvPicPr>
          <p:cNvPr id="22" name="Picture 4" descr="LINEヤフー株式会社」発足 | LINEヤフー株式会社のプレスリリース">
            <a:extLst>
              <a:ext uri="{FF2B5EF4-FFF2-40B4-BE49-F238E27FC236}">
                <a16:creationId xmlns:a16="http://schemas.microsoft.com/office/drawing/2014/main" id="{AAAB2AD5-BBAE-A07B-DC9C-C36C428D1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01" y="1344101"/>
            <a:ext cx="560344" cy="47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移行ツールは、LINE広告の配信データをできる限りLINEヤフー広告へコピーする機能。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タグ・コンバージョン設定や過去の実績など、移せないデータもある。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https://www.lycbiz.com/jp/column/line-ads/service-information/migration-guide/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移せないもの（タグ・コンバージョン設定・過去の実績）は移行後に設定し直す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sp>
        <p:nvSpPr>
          <p:cNvPr id="27" name="Trapezoid 26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29" name="Trapezoid 28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1" name="Trapezoid 30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sp>
        <p:nvSpPr>
          <p:cNvPr id="64" name="Rounded Rectangle 62"/>
          <p:cNvSpPr/>
          <p:nvPr/>
        </p:nvSpPr>
        <p:spPr>
          <a:xfrm>
            <a:off x="292608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 dirty="0" err="1">
                <a:solidFill>
                  <a:srgbClr val="15133D"/>
                </a:solidFill>
                <a:latin typeface="メイリオ"/>
              </a:rPr>
              <a:t>移せるもの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dirty="0" err="1">
                <a:solidFill>
                  <a:srgbClr val="333333"/>
                </a:solidFill>
                <a:latin typeface="メイリオ"/>
              </a:rPr>
              <a:t>アカウント・グループ、クレジットカード情報と権限（移すか選べる</a:t>
            </a:r>
            <a:r>
              <a:rPr sz="1050" dirty="0">
                <a:solidFill>
                  <a:srgbClr val="333333"/>
                </a:solidFill>
                <a:latin typeface="メイリオ"/>
              </a:rPr>
              <a:t>）、</a:t>
            </a:r>
            <a:r>
              <a:rPr sz="1050" dirty="0" err="1">
                <a:solidFill>
                  <a:srgbClr val="333333"/>
                </a:solidFill>
                <a:latin typeface="メイリオ"/>
              </a:rPr>
              <a:t>キャンペーン・広告グループ・広告の設定、画像・動画、オーディエンス</a:t>
            </a:r>
            <a:r>
              <a:rPr sz="1050" dirty="0">
                <a:solidFill>
                  <a:srgbClr val="333333"/>
                </a:solidFill>
                <a:latin typeface="メイリオ"/>
              </a:rPr>
              <a:t>。</a:t>
            </a:r>
          </a:p>
        </p:txBody>
      </p:sp>
      <p:sp>
        <p:nvSpPr>
          <p:cNvPr id="65" name="Rounded Rectangle 63"/>
          <p:cNvSpPr/>
          <p:nvPr/>
        </p:nvSpPr>
        <p:spPr>
          <a:xfrm>
            <a:off x="5102352" y="2889504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「商品フィードから販売」のキャンペーン、LINE Tag・コンバージョン設定、過去の実績・レポート（自動入札の学習データ含む）、外部ツールとのAPI連携。</a:t>
            </a:r>
          </a:p>
        </p:txBody>
      </p:sp>
      <p:sp>
        <p:nvSpPr>
          <p:cNvPr id="66" name="Rounded Rectangle 64"/>
          <p:cNvSpPr/>
          <p:nvPr/>
        </p:nvSpPr>
        <p:spPr>
          <a:xfrm>
            <a:off x="292608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事前準備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LINE広告と接続しているLINE公式アカウントを、同じ認証済みビジネスマネージャーに接続。操作する方はビジネスIDを統合しておく。</a:t>
            </a:r>
          </a:p>
        </p:txBody>
      </p:sp>
      <p:sp>
        <p:nvSpPr>
          <p:cNvPr id="67" name="Rounded Rectangle 65"/>
          <p:cNvSpPr/>
          <p:nvPr/>
        </p:nvSpPr>
        <p:spPr>
          <a:xfrm>
            <a:off x="5102352" y="4165091"/>
            <a:ext cx="4626864" cy="11384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対象アカウントと移行後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日本向け配信・運用型・審査承認済みのアカウントが対象。移行後のキャンペーンは配信オフなので、設定を確認してからオンにする。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A7AD685-96C3-0595-82FC-5F4EE9167AF1}"/>
              </a:ext>
            </a:extLst>
          </p:cNvPr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tx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対象業界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A985628-C35A-A3AF-7C23-13C3CA165005}"/>
              </a:ext>
            </a:extLst>
          </p:cNvPr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dirty="0" sz="1400">
                <a:solidFill>
                  <a:prstClr val="black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LINE広告を運用中の広告主</a:t>
            </a:r>
            <a:endParaRPr kumimoji="1" lang="ja-JP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787F5F2-4391-5688-5988-C309CC85C193}"/>
              </a:ext>
            </a:extLst>
          </p:cNvPr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8F417C-B143-9A50-B70F-E9B943E4360A}"/>
              </a:ext>
            </a:extLst>
          </p:cNvPr>
          <p:cNvSpPr/>
          <p:nvPr/>
        </p:nvSpPr>
        <p:spPr>
          <a:xfrm>
            <a:off x="356101" y="1411362"/>
            <a:ext cx="786246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rgbClr val="004DE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	LINE VOOM サービス終了に伴う広告配信の終了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rgbClr val="004DE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E6DC55-B63C-F4E0-7C0C-5D9E8EE93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88175"/>
            <a:ext cx="7512385" cy="3650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tIns="72000">
            <a:spAutoFit/>
          </a:bodyPr>
          <a:lstStyle>
            <a:lvl1pPr>
              <a:defRPr kumimoji="1" sz="3200">
                <a:solidFill>
                  <a:schemeClr val="tx1"/>
                </a:solidFill>
                <a:latin typeface="Calibri" charset="0"/>
                <a:ea typeface="ＭＳ Ｐゴシック" charset="0"/>
                <a:cs typeface="ＭＳ Ｐゴシック" charset="0"/>
              </a:defRPr>
            </a:lvl1pPr>
            <a:lvl2pPr>
              <a:defRPr kumimoji="1" sz="28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2pPr>
            <a:lvl3pPr>
              <a:defRPr kumimoji="1" sz="24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3pPr>
            <a:lvl4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4pPr>
            <a:lvl5pPr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5pPr>
            <a:lvl6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6pPr>
            <a:lvl7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7pPr>
            <a:lvl8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8pPr>
            <a:lvl9pPr eaLnBrk="0" fontAlgn="base" hangingPunct="0"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Calibri" charset="0"/>
                <a:ea typeface="ＭＳ Ｐゴシック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1" lang="ja-JP" altLang="en-US" sz="16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 charset="0"/>
              </a:rPr>
              <a:t>    １０月アップデート情報</a:t>
            </a:r>
            <a:endParaRPr kumimoji="1" lang="en-US" altLang="zh-CN" sz="16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メイリオ" charset="0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8F23976-152A-FFA9-791F-3670F00C3F53}"/>
              </a:ext>
            </a:extLst>
          </p:cNvPr>
          <p:cNvSpPr/>
          <p:nvPr/>
        </p:nvSpPr>
        <p:spPr>
          <a:xfrm>
            <a:off x="0" y="5653300"/>
            <a:ext cx="9906000" cy="7710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VOOM面だけを指定していた広告は、配信されなくなる。</a:t>
            </a:r>
          </a:p>
          <a:p>
            <a:pPr lvl="0" algn="ctr">
              <a:defRPr/>
            </a:pPr>
            <a:r>
              <a:rPr lang="ja-JP" altLang="en-US" sz="14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配信先を見直し、不要になったVOOM関連の設定は削除する。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75088-606E-18AA-6B20-7426123AD730}"/>
              </a:ext>
            </a:extLst>
          </p:cNvPr>
          <p:cNvSpPr/>
          <p:nvPr/>
        </p:nvSpPr>
        <p:spPr>
          <a:xfrm>
            <a:off x="0" y="1890267"/>
            <a:ext cx="9906000" cy="5936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200" b="1" dirty="0" err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2026年9月30日（水）にLINE VOOMのサービスが終了し、VOOM面への広告配信も終了した。</a:t>
            </a:r>
            <a:endParaRPr kumimoji="1" lang="en-US" altLang="ja-JP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終了前の配信実績は、終了後も配信面ごとに確認できる。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3AE5246-7E81-8E90-C904-7D2A34A8F1ED}"/>
              </a:ext>
            </a:extLst>
          </p:cNvPr>
          <p:cNvSpPr txBox="1"/>
          <p:nvPr/>
        </p:nvSpPr>
        <p:spPr>
          <a:xfrm>
            <a:off x="3017520" y="6589831"/>
            <a:ext cx="6035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ja-JP" sz="900" dirty="0">
                <a:solidFill>
                  <a:prstClr val="white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https://www.lycbiz.com/jp/news/ly-ads/20260730/</a:t>
            </a:r>
            <a:endParaRPr kumimoji="1" lang="ja-JP" altLang="en-US" sz="1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1A85B9D-A432-46CB-47C6-565283CCB07C}"/>
              </a:ext>
            </a:extLst>
          </p:cNvPr>
          <p:cNvSpPr/>
          <p:nvPr/>
        </p:nvSpPr>
        <p:spPr>
          <a:xfrm>
            <a:off x="6679732" y="728906"/>
            <a:ext cx="829618" cy="4356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rgbClr val="4F81BD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動画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B423651-6776-1B48-238B-BE68449B5874}"/>
              </a:ext>
            </a:extLst>
          </p:cNvPr>
          <p:cNvSpPr txBox="1"/>
          <p:nvPr/>
        </p:nvSpPr>
        <p:spPr>
          <a:xfrm>
            <a:off x="-53708" y="5372659"/>
            <a:ext cx="8139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800" b="1" i="0" u="none" strike="noStrike" kern="1200" cap="none" spc="0" normalizeH="0" baseline="0" noProof="0" dirty="0">
                <a:ln>
                  <a:noFill/>
                </a:ln>
                <a:solidFill>
                  <a:srgbClr val="F79646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Point</a:t>
            </a:r>
            <a:endParaRPr kumimoji="1" lang="ja-JP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F79646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6CD6764-1C43-E50B-D6BC-86500D89E964}"/>
              </a:ext>
            </a:extLst>
          </p:cNvPr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C82FA94-E9BC-3B25-8B5B-714B440CFE81}"/>
              </a:ext>
            </a:extLst>
          </p:cNvPr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ショッピング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" y="2542032"/>
            <a:ext cx="943660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メイリオ"/>
                <a:ea typeface="メイリオ"/>
                <a:cs typeface="メイリオ"/>
              </a:rPr>
              <a:t>VOOM面への配信の設定によって、影響は3パターン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1631D53-6234-89DD-17AD-1AA01BDC29E9}"/>
              </a:ext>
            </a:extLst>
          </p:cNvPr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noFill/>
          <a:ln w="9525">
            <a:solidFill>
              <a:schemeClr val="tx2"/>
            </a:solidFill>
            <a:prstDash val="sysDash"/>
          </a:ln>
          <a:effectLst/>
        </p:spPr>
        <p:txBody>
          <a:bodyPr rtlCol="0" anchor="ctr"/>
          <a:lstStyle/>
          <a:p>
            <a:pPr algn="ctr">
              <a:buClrTx/>
              <a:buFontTx/>
              <a:buNone/>
            </a:pPr>
            <a:r>
              <a:rPr kumimoji="1" lang="ja-JP" altLang="en-US" sz="1200" kern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バナー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316736"/>
            <a:ext cx="512064" cy="512064"/>
          </a:xfrm>
          <a:prstGeom prst="rect">
            <a:avLst/>
          </a:prstGeom>
        </p:spPr>
      </p:pic>
      <p:sp>
        <p:nvSpPr>
          <p:cNvPr id="28" name="Trapezoid 27"/>
          <p:cNvSpPr/>
          <p:nvPr/>
        </p:nvSpPr>
        <p:spPr>
          <a:xfrm rot="10800000">
            <a:off x="8473303" y="730955"/>
            <a:ext cx="1376241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3303" y="730955"/>
            <a:ext cx="1376241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認知</a:t>
            </a:r>
          </a:p>
        </p:txBody>
      </p:sp>
      <p:sp>
        <p:nvSpPr>
          <p:cNvPr id="30" name="Trapezoid 29"/>
          <p:cNvSpPr/>
          <p:nvPr/>
        </p:nvSpPr>
        <p:spPr>
          <a:xfrm rot="10800000">
            <a:off x="8702676" y="1108265"/>
            <a:ext cx="917494" cy="377310"/>
          </a:xfrm>
          <a:prstGeom prst="trapezoid">
            <a:avLst>
              <a:gd name="adj" fmla="val 60792"/>
            </a:avLst>
          </a:prstGeom>
          <a:solidFill>
            <a:schemeClr val="tx2">
              <a:lumMod val="40000"/>
              <a:lumOff val="60000"/>
            </a:schemeClr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02676" y="1108265"/>
            <a:ext cx="917494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検討</a:t>
            </a:r>
          </a:p>
        </p:txBody>
      </p:sp>
      <p:sp>
        <p:nvSpPr>
          <p:cNvPr id="32" name="Trapezoid 31"/>
          <p:cNvSpPr/>
          <p:nvPr/>
        </p:nvSpPr>
        <p:spPr>
          <a:xfrm rot="10800000">
            <a:off x="8932050" y="1485575"/>
            <a:ext cx="458747" cy="377310"/>
          </a:xfrm>
          <a:prstGeom prst="trapezoid">
            <a:avLst>
              <a:gd name="adj" fmla="val 60792"/>
            </a:avLst>
          </a:prstGeom>
          <a:solidFill>
            <a:schemeClr val="bg1"/>
          </a:solidFill>
          <a:ln w="25400">
            <a:solidFill>
              <a:schemeClr val="tx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32050" y="1485575"/>
            <a:ext cx="458747" cy="37731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ctr"/>
            <a:r>
              <a:rPr sz="800">
                <a:solidFill>
                  <a:schemeClr val="tx1"/>
                </a:solidFill>
                <a:latin typeface="Meiryo UI"/>
              </a:rPr>
              <a:t>獲得</a:t>
            </a:r>
          </a:p>
        </p:txBody>
      </p:sp>
      <p:sp>
        <p:nvSpPr>
          <p:cNvPr id="69" name="Rounded Rectangle 67"/>
          <p:cNvSpPr/>
          <p:nvPr/>
        </p:nvSpPr>
        <p:spPr>
          <a:xfrm>
            <a:off x="292608" y="2889504"/>
            <a:ext cx="3023616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① VOOM面だけ指定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終了後は配信されない。配信設定がONのままでも、配信できる面がなくなるため。</a:t>
            </a:r>
          </a:p>
        </p:txBody>
      </p:sp>
      <p:sp>
        <p:nvSpPr>
          <p:cNvPr id="70" name="Rounded Rectangle 68"/>
          <p:cNvSpPr/>
          <p:nvPr/>
        </p:nvSpPr>
        <p:spPr>
          <a:xfrm>
            <a:off x="3499104" y="2889504"/>
            <a:ext cx="3023616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② VOOM面＋他の面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VOOM面以外への配信は、そのまま続く。</a:t>
            </a:r>
          </a:p>
        </p:txBody>
      </p:sp>
      <p:sp>
        <p:nvSpPr>
          <p:cNvPr id="71" name="Rounded Rectangle 67_v0"/>
          <p:cNvSpPr/>
          <p:nvPr/>
        </p:nvSpPr>
        <p:spPr>
          <a:xfrm>
            <a:off x="6705600" y="2889504"/>
            <a:ext cx="3023616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③ VOOM面を除外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VOOM終了による影響はない。</a:t>
            </a:r>
          </a:p>
        </p:txBody>
      </p:sp>
      <p:sp>
        <p:nvSpPr>
          <p:cNvPr id="72" name="Rounded Rectangle 68_v1"/>
          <p:cNvSpPr/>
          <p:nvPr/>
        </p:nvSpPr>
        <p:spPr>
          <a:xfrm>
            <a:off x="292608" y="4050792"/>
            <a:ext cx="9436608" cy="125272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400" b="1">
                <a:solidFill>
                  <a:srgbClr val="15133D"/>
                </a:solidFill>
                <a:latin typeface="メイリオ"/>
              </a:rPr>
              <a:t>やるべきこと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LINEヤフー広告：配信先リストの中のVOOM関連の設定は自動では消えないため、必要に応じて削除する。</a:t>
            </a:r>
            <a:br>
              <a:rPr sz="1300">
                <a:solidFill>
                  <a:srgbClr val="333333"/>
                </a:solidFill>
                <a:latin typeface="メイリオ"/>
              </a:rPr>
            </a:br>
            <a:r>
              <a:rPr sz="1100">
                <a:solidFill>
                  <a:srgbClr val="333333"/>
                </a:solidFill>
                <a:latin typeface="メイリオ"/>
              </a:rPr>
              <a:t>LINE広告：配信先の「LINE VOOM」は9月30日に選択肢ごと管理画面から消えるため、VOOMだけを選んでいた広告は配信先を見直す。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ctr">
          <a:defRPr kumimoji="1" sz="1400" b="1" dirty="0" smtClean="0">
            <a:latin typeface="メイリオ" panose="020B0604030504040204" pitchFamily="50" charset="-128"/>
            <a:ea typeface="メイリオ" panose="020B060403050404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WEB広告トレンドレポート_2026年6月</Template>
  <TotalTime>5158</TotalTime>
  <Words>343</Words>
  <Application>Microsoft Office PowerPoint</Application>
  <PresentationFormat>A4 210 x 297 mm</PresentationFormat>
  <Paragraphs>66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9" baseType="lpstr">
      <vt:lpstr>Meiryo UI</vt:lpstr>
      <vt:lpstr>メイリオ</vt:lpstr>
      <vt:lpstr>游ゴシック</vt:lpstr>
      <vt:lpstr>Arial</vt:lpstr>
      <vt:lpstr>Calibri</vt:lpstr>
      <vt:lpstr>Century Gothic</vt:lpstr>
      <vt:lpstr>DYMJAPAN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池田 嘉美</dc:creator>
  <cp:lastModifiedBy>岡庭 悠大</cp:lastModifiedBy>
  <cp:revision>81</cp:revision>
  <cp:lastPrinted>2026-07-21T08:53:03Z</cp:lastPrinted>
  <dcterms:created xsi:type="dcterms:W3CDTF">2026-07-15T09:08:48Z</dcterms:created>
  <dcterms:modified xsi:type="dcterms:W3CDTF">2026-10-27T08:13:15Z</dcterms:modified>
</cp:coreProperties>
</file>