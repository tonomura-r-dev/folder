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906000" cy="6858000" type="A4"/>
  <p:notesSz cx="6799263" cy="9929813"/>
  <p:embeddedFontLst>
    <p:embeddedFont>
      <p:font typeface="Meiryo" panose="020B0604030504040204" pitchFamily="50" charset="-128"/>
      <p:regular r:id="rId10"/>
      <p:bold r:id="rId11"/>
      <p:italic r:id="rId12"/>
      <p:boldItalic r:id="rId13"/>
    </p:embeddedFont>
    <p:embeddedFont>
      <p:font typeface="Meiryo" panose="020B0604030504040204" pitchFamily="50" charset="-128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gQCoaVnfxROPv51WSWo8GFar7+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32AC2F-9110-45D6-A1EA-E37EBF87FD90}">
  <a:tblStyle styleId="{5232AC2F-9110-45D6-A1EA-E37EBF87FD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46094" cy="4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1650" y="0"/>
            <a:ext cx="2946093" cy="4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1200" y="744538"/>
            <a:ext cx="53768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686" y="4716161"/>
            <a:ext cx="5439410" cy="446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32321"/>
            <a:ext cx="2946094" cy="4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1650" y="9432321"/>
            <a:ext cx="2946093" cy="4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4200" y="509588"/>
            <a:ext cx="3681413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0686" y="4716161"/>
            <a:ext cx="5439410" cy="446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:notes"/>
          <p:cNvSpPr txBox="1">
            <a:spLocks noGrp="1"/>
          </p:cNvSpPr>
          <p:nvPr>
            <p:ph type="ftr" idx="11"/>
          </p:nvPr>
        </p:nvSpPr>
        <p:spPr>
          <a:xfrm>
            <a:off x="1" y="9432321"/>
            <a:ext cx="2946094" cy="4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:notes"/>
          <p:cNvSpPr txBox="1">
            <a:spLocks noGrp="1"/>
          </p:cNvSpPr>
          <p:nvPr>
            <p:ph type="sldNum" idx="12"/>
          </p:nvPr>
        </p:nvSpPr>
        <p:spPr>
          <a:xfrm>
            <a:off x="3851650" y="9432321"/>
            <a:ext cx="2946093" cy="49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00" tIns="44100" rIns="88200" bIns="441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0686" y="4716161"/>
            <a:ext cx="5439410" cy="4468185"/>
          </a:xfrm>
          <a:prstGeom prst="rect">
            <a:avLst/>
          </a:prstGeom>
        </p:spPr>
        <p:txBody>
          <a:bodyPr spcFirstLastPara="1" wrap="square" lIns="88200" tIns="44100" rIns="88200" bIns="44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68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>
  <p:cSld name="1_タイトル スライド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>
  <p:cSld name="4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14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/>
          <p:nvPr/>
        </p:nvSpPr>
        <p:spPr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Copyright(c) 2025 DYM inc. All Rights Reserved.</a:t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;p12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00324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" name="Google Shape;14;p12"/>
          <p:cNvPicPr preferRelativeResize="0"/>
          <p:nvPr/>
        </p:nvPicPr>
        <p:blipFill rotWithShape="1">
          <a:blip r:embed="rId4">
            <a:alphaModFix/>
          </a:blip>
          <a:srcRect l="-1647" r="-11171"/>
          <a:stretch/>
        </p:blipFill>
        <p:spPr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 txBox="1"/>
          <p:nvPr/>
        </p:nvSpPr>
        <p:spPr>
          <a:xfrm>
            <a:off x="7545288" y="6571255"/>
            <a:ext cx="2133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2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400" b="0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400" b="0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 l="-1647" r="-11171"/>
          <a:stretch/>
        </p:blipFill>
        <p:spPr>
          <a:xfrm>
            <a:off x="8619408" y="188641"/>
            <a:ext cx="1192729" cy="24360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1026684" y="3645024"/>
            <a:ext cx="7873109" cy="45719"/>
          </a:xfrm>
          <a:prstGeom prst="rect">
            <a:avLst/>
          </a:prstGeom>
          <a:solidFill>
            <a:srgbClr val="1513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1480" y="3044550"/>
            <a:ext cx="9070848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200" b="1" i="0" u="none" strike="noStrike" cap="none">
                <a:solidFill>
                  <a:srgbClr val="0F243E"/>
                </a:solidFill>
                <a:latin typeface="メイリオ"/>
                <a:ea typeface="Arial"/>
                <a:cs typeface="Arial"/>
                <a:sym typeface="Arial"/>
              </a:rPr>
              <a:t>2026年10月　LINE広告トレンドレポート</a:t>
            </a:r>
            <a:endParaRPr sz="2000" b="1" i="0" u="none" strike="noStrike" cap="none">
              <a:solidFill>
                <a:srgbClr val="0F24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34;p2_page"/>
          <p:cNvSpPr txBox="1"/>
          <p:nvPr/>
        </p:nvSpPr>
        <p:spPr>
          <a:xfrm>
            <a:off x="318183" y="1483585"/>
            <a:ext cx="1005840" cy="427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P.3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P.4-6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P.7</a:t>
            </a:r>
            <a:endParaRPr sz="1500" b="1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461183" y="1483585"/>
            <a:ext cx="8155331" cy="427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900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【LINE広告】旧「LINE広告」の配信停止（10/26）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【LINEヤフー広告】統合の概要・移行の対象と方法・移行ツール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1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【LINE VOOM】サービス終了に伴う広告配信の終了</a:t>
            </a:r>
            <a:endParaRPr sz="1500" b="1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292801" y="62027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ja-JP" sz="1600" b="0" i="0" u="none" strike="noStrike" cap="none">
                <a:solidFill>
                  <a:srgbClr val="000000"/>
                </a:solidFill>
                <a:latin typeface="メイリオ"/>
                <a:ea typeface="Meiryo"/>
                <a:cs typeface="Meiryo"/>
                <a:sym typeface="Meiryo"/>
              </a:rPr>
              <a:t>    目次</a:t>
            </a:r>
            <a:endParaRPr sz="1600" b="0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sz="12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配信面</a:t>
            </a:r>
            <a:endParaRPr sz="10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LINE広告を運用中の広告主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出典：https://www.lycbiz.com/jp/news/line-ads/20260925/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sz="18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【LINE広告】旧「LINE広告」の配信停止（10/26）</a:t>
            </a:r>
            <a:endParaRPr sz="16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ja-JP" sz="1600" b="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sz="1600" b="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LINEヤフー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2026年10月26日（月）に、旧「LINE広告」の新規作成・編集・広告配信が停止された。</a:t>
            </a:r>
            <a:endParaRPr sz="12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日本向けの広告はすべて「未配信」になり、停止後の管理画面は閲覧のみ。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2027年3月末頃に提供終了となり、それ以降はレポートも確認できなくなる。</a:t>
            </a:r>
            <a:endParaRPr sz="14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1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name="adj" fmla="val 60792"/>
              </a:avLst>
            </a:prstGeom>
            <a:solidFill>
              <a:srgbClr val="EAEDF5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name="adj" fmla="val 60792"/>
              </a:avLst>
            </a:prstGeom>
            <a:noFill/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id="62" name="Google Shape;62;p3" descr="LINE公式アカウントのロゴの使用方法とは？種類やダウンロード方法、利用時の注意点を紹介 | Mico（ミコ）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Rounded Rectangle 73"/>
          <p:cNvSpPr/>
          <p:nvPr/>
        </p:nvSpPr>
        <p:spPr>
          <a:xfrm>
            <a:off x="548640" y="5535518"/>
            <a:ext cx="4315968" cy="975009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700" b="1" dirty="0" err="1">
                <a:solidFill>
                  <a:srgbClr val="15133D"/>
                </a:solidFill>
                <a:latin typeface="メイリオ"/>
              </a:rPr>
              <a:t>APIと一括登録も停止</a:t>
            </a:r>
            <a:endParaRPr sz="1900" b="1" dirty="0">
              <a:solidFill>
                <a:srgbClr val="15133D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dirty="0">
                <a:solidFill>
                  <a:srgbClr val="333333"/>
                </a:solidFill>
                <a:latin typeface="メイリオ"/>
              </a:rPr>
              <a:t>コピー・一括登録での作成、画像・動画の追加・編集、再審査の依頼も不可。API経由も10/26に停止。</a:t>
            </a:r>
          </a:p>
        </p:txBody>
      </p:sp>
      <p:sp>
        <p:nvSpPr>
          <p:cNvPr id="75" name="Rounded Rectangle 73_2"/>
          <p:cNvSpPr/>
          <p:nvPr/>
        </p:nvSpPr>
        <p:spPr>
          <a:xfrm>
            <a:off x="5047488" y="5535519"/>
            <a:ext cx="4315968" cy="975008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700" b="1" dirty="0" err="1">
                <a:solidFill>
                  <a:srgbClr val="15133D"/>
                </a:solidFill>
                <a:latin typeface="メイリオ"/>
              </a:rPr>
              <a:t>請求はあとから更新あり</a:t>
            </a:r>
            <a:endParaRPr sz="1900" b="1" dirty="0">
              <a:solidFill>
                <a:srgbClr val="15133D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dirty="0">
                <a:solidFill>
                  <a:srgbClr val="333333"/>
                </a:solidFill>
                <a:latin typeface="メイリオ"/>
              </a:rPr>
              <a:t>停止後も費用・明細があとから更新されることがある。カード決済が配信終了後になる場合もある。</a:t>
            </a:r>
          </a:p>
        </p:txBody>
      </p:sp>
      <p:pic>
        <p:nvPicPr>
          <p:cNvPr id="76" name="Picture 75" descr="schedule_non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833" y="2738190"/>
            <a:ext cx="7555500" cy="2687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sz="12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配信面</a:t>
            </a:r>
            <a:endParaRPr sz="10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LINE広告を運用中の広告主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出典：https://www.lycbiz.com/jp/column/line-ads/service-information/migration-guide/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sz="18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【LINEヤフー広告】ディスプレイ広告 統合の概要</a:t>
            </a:r>
            <a:endParaRPr sz="16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ja-JP" sz="1600" b="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sz="1600" b="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LINEヤフー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2026年4月、LINE広告とYahoo!広告 ディスプレイ広告が統合され、</a:t>
            </a:r>
            <a:endParaRPr sz="12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「LINEヤフー広告 ディスプレイ広告」の提供が始まった。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Yahoo!広告は自動で移行済み。LINE広告は自動では移らないため、移行が必要。</a:t>
            </a:r>
            <a:endParaRPr sz="14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1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name="adj" fmla="val 60792"/>
              </a:avLst>
            </a:prstGeom>
            <a:solidFill>
              <a:srgbClr val="EAEDF5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name="adj" fmla="val 60792"/>
              </a:avLst>
            </a:prstGeom>
            <a:noFill/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id="62" name="Google Shape;62;p3" descr="LINE公式アカウントのロゴの使用方法とは？種類やダウンロード方法、利用時の注意点を紹介 | Mico（ミコ）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ounded Rectangle 62"/>
          <p:cNvSpPr/>
          <p:nvPr/>
        </p:nvSpPr>
        <p:spPr>
          <a:xfrm>
            <a:off x="548640" y="5399382"/>
            <a:ext cx="4315968" cy="1111146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700" b="1" dirty="0" err="1">
                <a:solidFill>
                  <a:srgbClr val="15133D"/>
                </a:solidFill>
                <a:latin typeface="メイリオ"/>
              </a:rPr>
              <a:t>Yahoo!広告は自動で移行済み</a:t>
            </a:r>
            <a:endParaRPr sz="1700" b="1" dirty="0">
              <a:solidFill>
                <a:srgbClr val="15133D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dirty="0" err="1">
                <a:solidFill>
                  <a:srgbClr val="333333"/>
                </a:solidFill>
                <a:latin typeface="メイリオ"/>
              </a:rPr>
              <a:t>Yahoo!広告</a:t>
            </a:r>
            <a:r>
              <a:rPr sz="1200" dirty="0">
                <a:solidFill>
                  <a:srgbClr val="333333"/>
                </a:solidFill>
                <a:latin typeface="メイリオ"/>
              </a:rPr>
              <a:t> ディスプレイ広告は、2026年4月の統合で自動的に移行。追加の対応は不要。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47488" y="5399382"/>
            <a:ext cx="4315968" cy="1111146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700" b="1" dirty="0">
                <a:solidFill>
                  <a:srgbClr val="15133D"/>
                </a:solidFill>
                <a:latin typeface="メイリオ"/>
              </a:rPr>
              <a:t>LINE広告は自動では移らない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dirty="0" err="1">
                <a:solidFill>
                  <a:srgbClr val="333333"/>
                </a:solidFill>
                <a:latin typeface="メイリオ"/>
              </a:rPr>
              <a:t>画面や仕様はそのまま引き継がれない</a:t>
            </a:r>
            <a:r>
              <a:rPr sz="1200" dirty="0">
                <a:solidFill>
                  <a:srgbClr val="333333"/>
                </a:solidFill>
                <a:latin typeface="メイリオ"/>
              </a:rPr>
              <a:t>。</a:t>
            </a:r>
            <a:endParaRPr lang="en-US" sz="1200" dirty="0">
              <a:solidFill>
                <a:srgbClr val="333333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dirty="0" err="1">
                <a:solidFill>
                  <a:srgbClr val="333333"/>
                </a:solidFill>
                <a:latin typeface="メイリオ"/>
              </a:rPr>
              <a:t>アカウントや配信設定は、移行ツールか手動で移す</a:t>
            </a:r>
            <a:r>
              <a:rPr sz="1200" dirty="0">
                <a:solidFill>
                  <a:srgbClr val="333333"/>
                </a:solidFill>
                <a:latin typeface="メイリオ"/>
              </a:rPr>
              <a:t>。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934210"/>
            <a:ext cx="7064578" cy="23554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sz="12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配信面</a:t>
            </a:r>
            <a:endParaRPr sz="10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LINE広告を運用中の広告主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出典：https://www.lycbiz.com/jp/column/line-ads/service-information/migration-guide/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sz="18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【LINEヤフー広告】移行の対象と方法</a:t>
            </a:r>
            <a:endParaRPr sz="16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ja-JP" sz="1600" b="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sz="1600" b="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LINEヤフー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LINE広告を使っている広告主・代理店は、LINEヤフー広告への移行が必要。</a:t>
            </a:r>
            <a:endParaRPr sz="12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移行の方法は、移行ツールを使う方法と手動の2つ。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配信実績とオーディエンスの蓄積で最適化されるため、早めの移行が推奨されている。</a:t>
            </a:r>
            <a:endParaRPr sz="14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1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name="adj" fmla="val 60792"/>
              </a:avLst>
            </a:prstGeom>
            <a:solidFill>
              <a:srgbClr val="EAEDF5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name="adj" fmla="val 60792"/>
              </a:avLst>
            </a:prstGeom>
            <a:noFill/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id="62" name="Google Shape;62;p3" descr="LINE公式アカウントのロゴの使用方法とは？種類やダウンロード方法、利用時の注意点を紹介 | Mico（ミコ）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ounded Rectangle 62"/>
          <p:cNvSpPr/>
          <p:nvPr/>
        </p:nvSpPr>
        <p:spPr>
          <a:xfrm>
            <a:off x="544108" y="306896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 dirty="0" err="1">
                <a:solidFill>
                  <a:srgbClr val="15133D"/>
                </a:solidFill>
                <a:latin typeface="メイリオ"/>
              </a:rPr>
              <a:t>移行が必要な方</a:t>
            </a:r>
            <a:endParaRPr sz="1900" b="1" dirty="0">
              <a:solidFill>
                <a:srgbClr val="15133D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dirty="0" err="1">
                <a:solidFill>
                  <a:srgbClr val="333333"/>
                </a:solidFill>
                <a:latin typeface="メイリオ"/>
              </a:rPr>
              <a:t>LINE広告を使っている広告主と代理店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。</a:t>
            </a:r>
            <a:endParaRPr lang="en-US" sz="1300" dirty="0">
              <a:solidFill>
                <a:srgbClr val="333333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dirty="0" err="1">
                <a:solidFill>
                  <a:srgbClr val="333333"/>
                </a:solidFill>
                <a:latin typeface="メイリオ"/>
              </a:rPr>
              <a:t>代理店が管理しているアカウントも対象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44440" y="306896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>
                <a:solidFill>
                  <a:srgbClr val="15133D"/>
                </a:solidFill>
                <a:latin typeface="メイリオ"/>
              </a:rPr>
              <a:t>移行が不要な方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メイリオ"/>
              </a:rPr>
              <a:t>Yahoo!広告だけを使っている場合は、原則として対応不要。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4108" y="471488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 dirty="0" err="1">
                <a:solidFill>
                  <a:srgbClr val="15133D"/>
                </a:solidFill>
                <a:latin typeface="メイリオ"/>
              </a:rPr>
              <a:t>方法</a:t>
            </a:r>
            <a:r>
              <a:rPr sz="1900" b="1" dirty="0">
                <a:solidFill>
                  <a:srgbClr val="15133D"/>
                </a:solidFill>
                <a:latin typeface="メイリオ"/>
              </a:rPr>
              <a:t>①：</a:t>
            </a:r>
            <a:r>
              <a:rPr sz="1900" b="1" dirty="0" err="1">
                <a:solidFill>
                  <a:srgbClr val="15133D"/>
                </a:solidFill>
                <a:latin typeface="メイリオ"/>
              </a:rPr>
              <a:t>移行ツール</a:t>
            </a:r>
            <a:endParaRPr sz="1900" b="1" dirty="0">
              <a:solidFill>
                <a:srgbClr val="15133D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dirty="0" err="1">
                <a:solidFill>
                  <a:srgbClr val="333333"/>
                </a:solidFill>
                <a:latin typeface="メイリオ"/>
              </a:rPr>
              <a:t>できる限り自動で移せる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。</a:t>
            </a:r>
            <a:endParaRPr lang="en-US" sz="1300" dirty="0">
              <a:solidFill>
                <a:srgbClr val="333333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dirty="0" err="1">
                <a:solidFill>
                  <a:srgbClr val="333333"/>
                </a:solidFill>
                <a:latin typeface="メイリオ"/>
              </a:rPr>
              <a:t>認証済みのビジネスマネージャーとの連携が必須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44440" y="471488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 dirty="0" err="1">
                <a:solidFill>
                  <a:srgbClr val="15133D"/>
                </a:solidFill>
                <a:latin typeface="メイリオ"/>
              </a:rPr>
              <a:t>方法</a:t>
            </a:r>
            <a:r>
              <a:rPr sz="1900" b="1" dirty="0">
                <a:solidFill>
                  <a:srgbClr val="15133D"/>
                </a:solidFill>
                <a:latin typeface="メイリオ"/>
              </a:rPr>
              <a:t>②：</a:t>
            </a:r>
            <a:r>
              <a:rPr sz="1900" b="1" dirty="0" err="1">
                <a:solidFill>
                  <a:srgbClr val="15133D"/>
                </a:solidFill>
                <a:latin typeface="メイリオ"/>
              </a:rPr>
              <a:t>手動</a:t>
            </a:r>
            <a:endParaRPr sz="1900" b="1" dirty="0">
              <a:solidFill>
                <a:srgbClr val="15133D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dirty="0" err="1">
                <a:solidFill>
                  <a:srgbClr val="333333"/>
                </a:solidFill>
                <a:latin typeface="メイリオ"/>
              </a:rPr>
              <a:t>Yahoo!広告のアカウントがあれば、そこへ移すか新しく作る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。</a:t>
            </a:r>
            <a:endParaRPr lang="en-US" sz="1300" dirty="0">
              <a:solidFill>
                <a:srgbClr val="333333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dirty="0" err="1">
                <a:solidFill>
                  <a:srgbClr val="333333"/>
                </a:solidFill>
                <a:latin typeface="メイリオ"/>
              </a:rPr>
              <a:t>なければLINEヤフー広告で新しく作る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sz="12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配信面</a:t>
            </a:r>
            <a:endParaRPr sz="10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LINE広告を運用中の広告主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出典：https://www.lycbiz.com/jp/column/line-ads/service-information/migration-guide/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sz="18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【LINEヤフー広告】移行ツールで移せるもの・移せないもの</a:t>
            </a:r>
            <a:endParaRPr sz="16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ja-JP" sz="1600" b="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sz="1600" b="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LINEヤフー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移行ツールは、LINE広告の配信データをできる限りLINEヤフー広告へコピーする機能。</a:t>
            </a:r>
            <a:endParaRPr sz="12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タグ・コンバージョン設定や過去の実績など、移せないデータもある。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移行後はキャンペーンが配信オフになるため、設定を確認してから配信を再開する。</a:t>
            </a:r>
            <a:endParaRPr sz="14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1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name="adj" fmla="val 60792"/>
              </a:avLst>
            </a:prstGeom>
            <a:solidFill>
              <a:srgbClr val="EAEDF5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name="adj" fmla="val 60792"/>
              </a:avLst>
            </a:prstGeom>
            <a:noFill/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id="62" name="Google Shape;62;p3" descr="LINE公式アカウントのロゴの使用方法とは？種類やダウンロード方法、利用時の注意点を紹介 | Mico（ミコ）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ounded Rectangle 62"/>
          <p:cNvSpPr/>
          <p:nvPr/>
        </p:nvSpPr>
        <p:spPr>
          <a:xfrm>
            <a:off x="544108" y="306896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 dirty="0" err="1">
                <a:solidFill>
                  <a:srgbClr val="15133D"/>
                </a:solidFill>
                <a:latin typeface="メイリオ"/>
              </a:rPr>
              <a:t>移せるもの</a:t>
            </a:r>
            <a:endParaRPr sz="1900" b="1" dirty="0">
              <a:solidFill>
                <a:srgbClr val="15133D"/>
              </a:solidFill>
              <a:latin typeface="メイリオ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dirty="0" err="1">
                <a:solidFill>
                  <a:srgbClr val="333333"/>
                </a:solidFill>
                <a:latin typeface="メイリオ"/>
              </a:rPr>
              <a:t>アカウント・グループ、クレジットカード情報と権限（移すか選べる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）、</a:t>
            </a:r>
            <a:r>
              <a:rPr sz="1300" dirty="0" err="1">
                <a:solidFill>
                  <a:srgbClr val="333333"/>
                </a:solidFill>
                <a:latin typeface="メイリオ"/>
              </a:rPr>
              <a:t>キャンペーン・広告グループ・広告の設定、画像・動画、オーディエンス</a:t>
            </a:r>
            <a:r>
              <a:rPr sz="1300" dirty="0">
                <a:solidFill>
                  <a:srgbClr val="333333"/>
                </a:solidFill>
                <a:latin typeface="メイリオ"/>
              </a:rPr>
              <a:t>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44440" y="306896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>
                <a:solidFill>
                  <a:srgbClr val="15133D"/>
                </a:solidFill>
                <a:latin typeface="メイリオ"/>
              </a:rPr>
              <a:t>移せないもの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メイリオ"/>
              </a:rPr>
              <a:t>「商品フィードから販売」のキャンペーン、LINE Tag・コンバージョン設定、過去の実績・レポート（自動入札の学習データ含む）、外部ツールとのAPI連携。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4108" y="471488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>
                <a:solidFill>
                  <a:srgbClr val="15133D"/>
                </a:solidFill>
                <a:latin typeface="メイリオ"/>
              </a:rPr>
              <a:t>事前準備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メイリオ"/>
              </a:rPr>
              <a:t>LINE広告と接続しているLINE公式アカウントを、同じ認証済みビジネスマネージャーに接続。操作する方はビジネスIDを統合しておく。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44440" y="4714880"/>
            <a:ext cx="4317452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>
                <a:solidFill>
                  <a:srgbClr val="15133D"/>
                </a:solidFill>
                <a:latin typeface="メイリオ"/>
              </a:rPr>
              <a:t>対象アカウントと移行後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メイリオ"/>
              </a:rPr>
              <a:t>日本向け配信・運用型・審査承認済みのアカウントが対象。移行後のキャンペーンは配信オフなので、設定を確認してからオンにする。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sz="12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配信面</a:t>
            </a:r>
            <a:endParaRPr sz="10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300" b="0" i="0" u="none" strike="noStrike" cap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LINE広告を運用中の広告主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0" i="0" u="none" strike="noStrike" cap="non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出典：https://www.lycbiz.com/jp/news/ly-ads/20260730/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sz="18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 VOOM】サービス終了に伴う広告配信の終了</a:t>
            </a:r>
            <a:endParaRPr sz="1600" b="1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20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ja-JP" sz="1600" b="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sz="1600" b="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LINEヤフー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9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4F81BD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LINE広告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LINEのリニューアルに伴い、2026年9月30日（水）にLINE VOOMのサービスが終了した。</a:t>
            </a:r>
            <a:endParaRPr sz="12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LINEヤフー広告 ディスプレイ広告（運用型）・LINE広告ともに、VOOM面への広告配信も終了。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1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終了前の配信実績は、終了後も配信面ごとに確認できる。</a:t>
            </a:r>
            <a:endParaRPr sz="1400" b="1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1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name="adj" fmla="val 60792"/>
              </a:avLst>
            </a:prstGeom>
            <a:solidFill>
              <a:srgbClr val="EAEDF5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name="adj" fmla="val 60792"/>
              </a:avLst>
            </a:prstGeom>
            <a:solidFill>
              <a:schemeClr val="l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name="adj" fmla="val 60792"/>
              </a:avLst>
            </a:prstGeom>
            <a:noFill/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lang="ja-JP" sz="800" b="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id="62" name="Google Shape;62;p3" descr="LINE公式アカウントのロゴの使用方法とは？種類やダウンロード方法、利用時の注意点を紹介 | Mico（ミコ）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Rounded Rectangle 67"/>
          <p:cNvSpPr/>
          <p:nvPr/>
        </p:nvSpPr>
        <p:spPr>
          <a:xfrm>
            <a:off x="548640" y="3108960"/>
            <a:ext cx="2816352" cy="132588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① VOOM面だけ指定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>
                <a:solidFill>
                  <a:srgbClr val="333333"/>
                </a:solidFill>
                <a:latin typeface="メイリオ"/>
              </a:rPr>
              <a:t>終了後は配信されない。配信設定がONのままでも、配信できる面がなくなるため。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47872" y="3108960"/>
            <a:ext cx="2816352" cy="132588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② VOOM面＋他の面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>
                <a:solidFill>
                  <a:srgbClr val="333333"/>
                </a:solidFill>
                <a:latin typeface="メイリオ"/>
              </a:rPr>
              <a:t>VOOM面以外への配信は、そのまま続く。</a:t>
            </a:r>
          </a:p>
        </p:txBody>
      </p:sp>
      <p:sp>
        <p:nvSpPr>
          <p:cNvPr id="70" name="Rounded Rectangle 67_v0"/>
          <p:cNvSpPr/>
          <p:nvPr/>
        </p:nvSpPr>
        <p:spPr>
          <a:xfrm>
            <a:off x="6547104" y="3108960"/>
            <a:ext cx="2816352" cy="132588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③ VOOM面を除外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>
                <a:solidFill>
                  <a:srgbClr val="333333"/>
                </a:solidFill>
                <a:latin typeface="メイリオ"/>
              </a:rPr>
              <a:t>VOOM終了による影響はない。</a:t>
            </a:r>
          </a:p>
        </p:txBody>
      </p:sp>
      <p:sp>
        <p:nvSpPr>
          <p:cNvPr id="71" name="Rounded Rectangle 68_v1"/>
          <p:cNvSpPr/>
          <p:nvPr/>
        </p:nvSpPr>
        <p:spPr>
          <a:xfrm>
            <a:off x="548640" y="4663440"/>
            <a:ext cx="8814816" cy="141732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182880" rtlCol="0" anchor="ctr"/>
          <a:lstStyle/>
          <a:p>
            <a:pPr algn="l"/>
            <a:r>
              <a:rPr sz="1900" b="1">
                <a:solidFill>
                  <a:srgbClr val="15133D"/>
                </a:solidFill>
                <a:latin typeface="メイリオ"/>
              </a:rPr>
              <a:t>やるべきこと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>
                <a:solidFill>
                  <a:srgbClr val="333333"/>
                </a:solidFill>
                <a:latin typeface="メイリオ"/>
              </a:rPr>
              <a:t>LINEヤフー広告：配信先リストの中のVOOM関連の設定は自動では消えないため、必要に応じて削除する。</a:t>
            </a:r>
            <a:br>
              <a:rPr sz="1300">
                <a:solidFill>
                  <a:srgbClr val="333333"/>
                </a:solidFill>
                <a:latin typeface="メイリオ"/>
              </a:rPr>
            </a:br>
            <a:r>
              <a:rPr sz="1300">
                <a:solidFill>
                  <a:srgbClr val="333333"/>
                </a:solidFill>
                <a:latin typeface="メイリオ"/>
              </a:rPr>
              <a:t>LINE広告：配信先の「LINE VOOM」は9月30日に選択肢ごと管理画面から消えるため、VOOMだけを選んでいた広告は配信先を見直す。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MJAPA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834</Words>
  <Application>Microsoft Office PowerPoint</Application>
  <PresentationFormat>A4 210 x 297 mm</PresentationFormat>
  <Paragraphs>142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Meiryo</vt:lpstr>
      <vt:lpstr>Century Gothic</vt:lpstr>
      <vt:lpstr>Meiryo</vt:lpstr>
      <vt:lpstr>Arial</vt:lpstr>
      <vt:lpstr>Calibri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横田 澪央</dc:creator>
  <cp:lastModifiedBy>殿村 亮太</cp:lastModifiedBy>
  <cp:revision>2</cp:revision>
  <dcterms:created xsi:type="dcterms:W3CDTF">2021-08-26T12:24:15Z</dcterms:created>
  <dcterms:modified xsi:type="dcterms:W3CDTF">2026-10-26T05:05:14Z</dcterms:modified>
</cp:coreProperties>
</file>