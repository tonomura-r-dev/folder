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14"/>
    <p:sldId id="260" r:id="rId15"/>
  </p:sldIdLst>
  <p:sldSz cy="6858000" cx="9906000"/>
  <p:notesSz cx="6799250" cy="9929800"/>
  <p:embeddedFontLst>
    <p:embeddedFont>
      <p:font typeface="Century Gothic"/>
      <p:regular r:id="rId17"/>
      <p:bold r:id="rId18"/>
      <p:italic r:id="rId19"/>
      <p:boldItalic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1" roundtripDataSignature="AMtx7mgQCoaVnfxROPv51WSWo8GFar7+G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232AC2F-9110-45D6-A1EA-E37EBF87FD90}">
  <a:tblStyle styleId="{5232AC2F-9110-45D6-A1EA-E37EBF87FD9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7" Type="http://schemas.openxmlformats.org/officeDocument/2006/relationships/font" Target="fonts/CenturyGothic-regular.fntdata"/><Relationship Id="rId18" Type="http://schemas.openxmlformats.org/officeDocument/2006/relationships/font" Target="fonts/CenturyGothic-bold.fntdata"/><Relationship Id="rId19" Type="http://schemas.openxmlformats.org/officeDocument/2006/relationships/font" Target="fonts/CenturyGothic-italic.fntdata"/><Relationship Id="rId20" Type="http://schemas.openxmlformats.org/officeDocument/2006/relationships/font" Target="fonts/CenturyGothic-boldItalic.fntdata"/><Relationship Id="rId21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1" y="0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anchorCtr="0" anchor="t" bIns="44100" lIns="88200" spcFirstLastPara="1" rIns="88200" wrap="square" tIns="441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51650" y="0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anchorCtr="0" anchor="t" bIns="44100" lIns="88200" spcFirstLastPara="1" rIns="88200" wrap="square" tIns="441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711200" y="744538"/>
            <a:ext cx="5376863" cy="37242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anchorCtr="0" anchor="t" bIns="44100" lIns="88200" spcFirstLastPara="1" rIns="88200" wrap="square" tIns="441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anchorCtr="0" anchor="b" bIns="44100" lIns="88200" spcFirstLastPara="1" rIns="88200" wrap="square" tIns="441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anchorCtr="0" anchor="b" bIns="44100" lIns="88200" spcFirstLastPara="1" rIns="88200" wrap="square" tIns="441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ja-JP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:notes"/>
          <p:cNvSpPr/>
          <p:nvPr>
            <p:ph idx="2" type="sldImg"/>
          </p:nvPr>
        </p:nvSpPr>
        <p:spPr>
          <a:xfrm>
            <a:off x="3124200" y="509588"/>
            <a:ext cx="3681413" cy="25495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22" name="Google Shape;22;p1:notes"/>
          <p:cNvSpPr txBox="1"/>
          <p:nvPr>
            <p:ph idx="1" type="body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anchorCtr="0" anchor="t" bIns="44100" lIns="88200" spcFirstLastPara="1" rIns="88200" wrap="square" tIns="441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:notes"/>
          <p:cNvSpPr txBox="1"/>
          <p:nvPr>
            <p:ph idx="11" type="ftr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anchorCtr="0" anchor="b" bIns="44100" lIns="88200" spcFirstLastPara="1" rIns="88200" wrap="square" tIns="441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" name="Google Shape;24;p1:notes"/>
          <p:cNvSpPr txBox="1"/>
          <p:nvPr>
            <p:ph idx="12" type="sldNum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anchorCtr="0" anchor="b" bIns="44100" lIns="88200" spcFirstLastPara="1" rIns="88200" wrap="square" tIns="441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ja-JP" sz="1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:notes"/>
          <p:cNvSpPr txBox="1"/>
          <p:nvPr>
            <p:ph idx="1" type="body"/>
          </p:nvPr>
        </p:nvSpPr>
        <p:spPr>
          <a:xfrm>
            <a:off x="680720" y="4783307"/>
            <a:ext cx="5445760" cy="39136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/>
          </a:p>
        </p:txBody>
      </p:sp>
      <p:sp>
        <p:nvSpPr>
          <p:cNvPr id="32" name="Google Shape;32;p2:notes"/>
          <p:cNvSpPr/>
          <p:nvPr>
            <p:ph idx="2" type="sldImg"/>
          </p:nvPr>
        </p:nvSpPr>
        <p:spPr>
          <a:xfrm>
            <a:off x="981075" y="1243013"/>
            <a:ext cx="4845050" cy="33543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3:notes"/>
          <p:cNvSpPr txBox="1"/>
          <p:nvPr>
            <p:ph idx="1" type="body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</p:spPr>
        <p:txBody>
          <a:bodyPr anchorCtr="0" anchor="t" bIns="44100" lIns="88200" spcFirstLastPara="1" rIns="88200" wrap="square" tIns="441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3:notes"/>
          <p:cNvSpPr/>
          <p:nvPr>
            <p:ph idx="2" type="sldImg"/>
          </p:nvPr>
        </p:nvSpPr>
        <p:spPr>
          <a:xfrm>
            <a:off x="711200" y="744538"/>
            <a:ext cx="5376863" cy="37242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タイトル スライド">
  <p:cSld name="1_タイトル スライド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タイトルとコンテンツ">
  <p:cSld name="4_タイトルとコンテンツ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4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" name="Google Shape;19;p14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cap="flat" cmpd="sng" w="25400">
            <a:solidFill>
              <a:srgbClr val="191F54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2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1;p12"/>
          <p:cNvSpPr txBox="1"/>
          <p:nvPr/>
        </p:nvSpPr>
        <p:spPr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ja-JP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Copyright(c) 2025 DYM inc. All Rights Reserved.</a:t>
            </a:r>
            <a:endParaRPr/>
          </a:p>
        </p:txBody>
      </p:sp>
      <p:sp>
        <p:nvSpPr>
          <p:cNvPr id="12" name="Google Shape;12;p12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" name="Google Shape;13;p12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cap="flat" cmpd="sng" w="25400">
            <a:solidFill>
              <a:srgbClr val="00324B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14" name="Google Shape;14;p12"/>
          <p:cNvPicPr preferRelativeResize="0"/>
          <p:nvPr/>
        </p:nvPicPr>
        <p:blipFill rotWithShape="1">
          <a:blip r:embed="rId1">
            <a:alphaModFix/>
          </a:blip>
          <a:srcRect b="0" l="-1647" r="-11171" t="0"/>
          <a:stretch/>
        </p:blipFill>
        <p:spPr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12"/>
          <p:cNvSpPr txBox="1"/>
          <p:nvPr/>
        </p:nvSpPr>
        <p:spPr>
          <a:xfrm>
            <a:off x="7545288" y="6571255"/>
            <a:ext cx="2133600" cy="2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252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1" lang="ja-JP" sz="14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‹#›</a:t>
            </a:fld>
            <a:endParaRPr b="0" i="1" sz="1400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"/>
          <p:cNvSpPr/>
          <p:nvPr/>
        </p:nvSpPr>
        <p:spPr>
          <a:xfrm>
            <a:off x="0" y="0"/>
            <a:ext cx="9906000" cy="83671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メイリオ"/>
              </a:rP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" name="Google Shape;27;p1"/>
          <p:cNvPicPr preferRelativeResize="0"/>
          <p:nvPr/>
        </p:nvPicPr>
        <p:blipFill rotWithShape="1">
          <a:blip r:embed="rId3">
            <a:alphaModFix/>
          </a:blip>
          <a:srcRect b="0" l="-1647" r="-11171" t="0"/>
          <a:stretch/>
        </p:blipFill>
        <p:spPr>
          <a:xfrm>
            <a:off x="8619408" y="188641"/>
            <a:ext cx="1192729" cy="243605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1"/>
          <p:cNvSpPr/>
          <p:nvPr/>
        </p:nvSpPr>
        <p:spPr>
          <a:xfrm>
            <a:off x="1026684" y="3645024"/>
            <a:ext cx="7873109" cy="45719"/>
          </a:xfrm>
          <a:prstGeom prst="rect">
            <a:avLst/>
          </a:prstGeom>
          <a:solidFill>
            <a:srgbClr val="1513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メイリオ"/>
              </a:rPr>
              <a:t/>
            </a:r>
            <a:endParaRPr b="1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411480" y="3044550"/>
            <a:ext cx="9070848" cy="6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ja-JP" sz="3200" u="none" cap="none" strike="noStrike">
                <a:solidFill>
                  <a:srgbClr val="0F243E"/>
                </a:solidFill>
                <a:latin typeface="メイリオ"/>
                <a:ea typeface="Arial"/>
                <a:cs typeface="Arial"/>
                <a:sym typeface="Arial"/>
              </a:rPr>
              <a:t>2026年10月　LINE広告トレンドレポート</a:t>
            </a:r>
            <a:endParaRPr b="1" i="0" sz="2000" u="none" cap="none" strike="noStrike">
              <a:solidFill>
                <a:srgbClr val="0F243E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34;p2_page"/>
          <p:cNvSpPr txBox="1"/>
          <p:nvPr/>
        </p:nvSpPr>
        <p:spPr>
          <a:xfrm>
            <a:off x="318183" y="1483585"/>
            <a:ext cx="1005840" cy="4279033"/>
          </a:xfrm>
          <a:prstGeom prst="rect">
            <a:avLst/>
          </a:prstGeom>
          <a:noFill/>
          <a:ln>
            <a:noFill/>
          </a:ln>
        </p:spPr>
        <p:txBody>
          <a:bodyPr anchorCtr="0" anchor="t" bIns="90000" lIns="91425" spcFirstLastPara="1" rIns="91425" wrap="square" tIns="90000">
            <a:spAutoFit/>
          </a:bodyPr>
          <a:lstStyle/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ja-JP" sz="1500" u="none" cap="none" strike="noStrik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P.3</a:t>
            </a:r>
            <a:endParaRPr/>
          </a:p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ja-JP" sz="1500" u="none" cap="none" strike="noStrik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P.4</a:t>
            </a:r>
            <a:endParaRPr/>
          </a:p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ja-JP" sz="1500" u="none" cap="none" strike="noStrik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P.5</a:t>
            </a:r>
            <a:endParaRPr b="1" i="0" sz="1500" u="none" cap="none" strike="noStrik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4" name="Google Shape;34;p2"/>
          <p:cNvSpPr txBox="1"/>
          <p:nvPr/>
        </p:nvSpPr>
        <p:spPr>
          <a:xfrm>
            <a:off x="1461183" y="1483585"/>
            <a:ext cx="8155331" cy="4279033"/>
          </a:xfrm>
          <a:prstGeom prst="rect">
            <a:avLst/>
          </a:prstGeom>
          <a:noFill/>
          <a:ln>
            <a:noFill/>
          </a:ln>
        </p:spPr>
        <p:txBody>
          <a:bodyPr anchorCtr="0" anchor="t" bIns="90000" lIns="91425" spcFirstLastPara="1" rIns="91425" wrap="square" tIns="90000">
            <a:spAutoFit/>
          </a:bodyPr>
          <a:lstStyle/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ja-JP" sz="1500" u="none" cap="none" strike="noStrik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【LINE広告】旧「LINE広告」の配信停止（10/26）</a:t>
            </a:r>
            <a:endParaRPr/>
          </a:p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ja-JP" sz="1500" u="none" cap="none" strike="noStrik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【LINEヤフー広告】ディスプレイ広告への移行で必要な対応</a:t>
            </a:r>
            <a:endParaRPr/>
          </a:p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ja-JP" sz="1500" u="none" cap="none" strike="noStrik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 VOOM】サービス終了に伴う広告枠の終了</a:t>
            </a:r>
            <a:endParaRPr b="1" i="0" sz="1500" u="none" cap="none" strike="noStrik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5" name="Google Shape;35;p2"/>
          <p:cNvSpPr txBox="1"/>
          <p:nvPr/>
        </p:nvSpPr>
        <p:spPr>
          <a:xfrm>
            <a:off x="292801" y="62027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720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ja-JP" sz="1600" u="none" cap="none" strike="noStrike">
                <a:solidFill>
                  <a:srgbClr val="000000"/>
                </a:solidFill>
                <a:latin typeface="メイリオ"/>
                <a:ea typeface="Meiryo"/>
                <a:cs typeface="Meiryo"/>
                <a:sym typeface="Meiryo"/>
              </a:rPr>
              <a:t>    目次</a:t>
            </a:r>
            <a:endParaRPr b="0" i="0" sz="1600" u="none" cap="none" strike="noStrike">
              <a:solidFill>
                <a:srgbClr val="00000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800" u="none" cap="none" strike="noStrik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rgbClr val="4F81BD"/>
            </a:solidFill>
            <a:prstDash val="sysDash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200" u="none" cap="none" strike="noStrik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b="0" i="0" sz="1200" u="none" cap="none" strike="noStrik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rgbClr val="4F81BD"/>
            </a:solidFill>
            <a:prstDash val="sysDash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000" u="none" cap="none" strike="noStrik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配信面</a:t>
            </a:r>
            <a:endParaRPr b="0" i="0" sz="1000" u="none" cap="none" strike="noStrik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300" u="none" cap="none" strike="noStrik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LINE広告を運用中の広告主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800" u="none" cap="none" strike="noStrik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出典：https://www.lycbiz.com/jp/news/line-ads/20260925/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600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b="1" sz="1800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600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【LINE広告】旧「LINE広告」の配信停止（10/26）</a:t>
            </a:r>
            <a:endParaRPr b="1" sz="1600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720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b="0" lang="ja-JP" sz="160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b="0" sz="160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rgbClr val="4F81BD"/>
            </a:solidFill>
            <a:prstDash val="sysDash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9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LINEヤフー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9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広告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tx2"/>
          </a:solidFill>
          <a:ln cap="flat" cmpd="sng" w="9525">
            <a:solidFill>
              <a:srgbClr val="4F81B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LINE広告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メイリオ"/>
              </a:rPr>
              <a:t/>
            </a: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2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2026年10月26日（月）に、旧「LINE広告」の新規作成・編集・広告配信が停止された。</a:t>
            </a:r>
            <a:endParaRPr b="1"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2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日本向けの広告はすべて「未配信」になり、停止後の管理画面は閲覧のみ。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2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2027年3月末頃に提供終了となり、それ以降はレポートも確認できなくなる。</a:t>
            </a:r>
            <a:endParaRPr b="1" sz="14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400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fmla="val 60792" name="adj"/>
              </a:avLst>
            </a:prstGeom>
            <a:solidFill>
              <a:srgbClr val="EAEDF5"/>
            </a:solidFill>
            <a:ln cap="flat" cmpd="sng" w="254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0150" lIns="10150" spcFirstLastPara="1" rIns="10150" wrap="square" tIns="1015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b="1" lang="ja-JP" sz="8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fmla="val 60792" name="adj"/>
              </a:avLst>
            </a:prstGeom>
            <a:solidFill>
              <a:schemeClr val="lt1"/>
            </a:solidFill>
            <a:ln cap="flat" cmpd="sng" w="254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0150" lIns="10150" spcFirstLastPara="1" rIns="10150" wrap="square" tIns="1015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b="1" lang="ja-JP" sz="8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fmla="val 60792" name="adj"/>
              </a:avLst>
            </a:prstGeom>
            <a:solidFill>
              <a:schemeClr val="lt1"/>
            </a:solidFill>
            <a:ln cap="flat" cmpd="sng" w="254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0150" lIns="10150" spcFirstLastPara="1" rIns="10150" wrap="square" tIns="1015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b="1" lang="ja-JP" sz="8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fmla="val 60792" name="adj"/>
              </a:avLst>
            </a:prstGeom>
            <a:noFill/>
            <a:ln cap="flat" cmpd="sng" w="254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0150" lIns="10150" spcFirstLastPara="1" rIns="10150" wrap="square" tIns="1015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b="1" lang="ja-JP" sz="8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descr="LINE公式アカウントのロゴの使用方法とは？種類やダウンロード方法、利用時の注意点を紹介 | Mico（ミコ）" id="62" name="Google Shape;62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ectangle 62"/>
          <p:cNvSpPr/>
          <p:nvPr/>
        </p:nvSpPr>
        <p:spPr>
          <a:xfrm>
            <a:off x="544108" y="3068960"/>
            <a:ext cx="1964416" cy="36576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2026年6月30日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4108" y="3434720"/>
            <a:ext cx="1964416" cy="100584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54864" bIns="54864"/>
          <a:lstStyle/>
          <a:p>
            <a:pPr algn="ctr">
              <a:lnSpc>
                <a:spcPct val="110000"/>
              </a:lnSpc>
            </a:pPr>
            <a:r>
              <a:rPr sz="1050">
                <a:solidFill>
                  <a:srgbClr val="333333"/>
                </a:solidFill>
                <a:latin typeface="メイリオ"/>
              </a:rPr>
              <a:t>新規アカウントの作成が停止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508524" y="3068960"/>
            <a:ext cx="320040" cy="1371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828564" y="3068960"/>
            <a:ext cx="1964416" cy="36576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2026年10月26日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828564" y="3434720"/>
            <a:ext cx="1964416" cy="100584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54864" bIns="54864"/>
          <a:lstStyle/>
          <a:p>
            <a:pPr algn="ctr">
              <a:lnSpc>
                <a:spcPct val="110000"/>
              </a:lnSpc>
            </a:pPr>
            <a:r>
              <a:rPr sz="1050">
                <a:solidFill>
                  <a:srgbClr val="333333"/>
                </a:solidFill>
                <a:latin typeface="メイリオ"/>
              </a:rPr>
              <a:t>新規作成・編集・広告配信が停止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792980" y="3068960"/>
            <a:ext cx="320040" cy="1371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113020" y="3068960"/>
            <a:ext cx="1964416" cy="36576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停止後〜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113020" y="3434720"/>
            <a:ext cx="1964416" cy="100584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54864" bIns="54864"/>
          <a:lstStyle/>
          <a:p>
            <a:pPr algn="ctr">
              <a:lnSpc>
                <a:spcPct val="110000"/>
              </a:lnSpc>
            </a:pPr>
            <a:r>
              <a:rPr sz="1050">
                <a:solidFill>
                  <a:srgbClr val="333333"/>
                </a:solidFill>
                <a:latin typeface="メイリオ"/>
              </a:rPr>
              <a:t>管理画面は閲覧のみ（レポート・明細は確認可）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077436" y="3068960"/>
            <a:ext cx="320040" cy="1371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397476" y="3068960"/>
            <a:ext cx="1964416" cy="36576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2027年3月末頃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397476" y="3434720"/>
            <a:ext cx="1964416" cy="100584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54864" bIns="54864"/>
          <a:lstStyle/>
          <a:p>
            <a:pPr algn="ctr">
              <a:lnSpc>
                <a:spcPct val="110000"/>
              </a:lnSpc>
            </a:pPr>
            <a:r>
              <a:rPr sz="1050">
                <a:solidFill>
                  <a:srgbClr val="333333"/>
                </a:solidFill>
                <a:latin typeface="メイリオ"/>
              </a:rPr>
              <a:t>提供終了（レポートも確認不可）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44108" y="4669160"/>
            <a:ext cx="8817784" cy="9144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レポートは提供終了までに保存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移行先のLINEヤフー広告には過去の配信実績が引き継がれないため、比較に使うレポートは2027年3月末頃の提供終了までに手元に残しておく。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800" u="none" cap="none" strike="noStrik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rgbClr val="4F81BD"/>
            </a:solidFill>
            <a:prstDash val="sysDash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200" u="none" cap="none" strike="noStrik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b="0" i="0" sz="1200" u="none" cap="none" strike="noStrik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rgbClr val="4F81BD"/>
            </a:solidFill>
            <a:prstDash val="sysDash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000" u="none" cap="none" strike="noStrik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配信面</a:t>
            </a:r>
            <a:endParaRPr b="0" i="0" sz="1000" u="none" cap="none" strike="noStrik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300" u="none" cap="none" strike="noStrik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LINE広告を運用中の広告主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800" u="none" cap="none" strike="noStrik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出典：https://www.lycbiz.com/jp/column/line-ads/service-information/migration-guide/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600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b="1" sz="1800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600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【LINEヤフー広告】ディスプレイ広告への移行で必要な対応</a:t>
            </a:r>
            <a:endParaRPr b="1" sz="1600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720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b="0" lang="ja-JP" sz="160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b="0" sz="160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cap="flat" cmpd="sng" w="9525">
            <a:solidFill>
              <a:srgbClr val="4F81B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9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LINEヤフー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9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広告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rgbClr val="4F81BD"/>
            </a:solidFill>
            <a:prstDash val="sysDash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LINE広告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メイリオ"/>
              </a:rPr>
              <a:t/>
            </a: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2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配信を続けるには「LINEヤフー広告 ディスプレイ広告」への切り替えが必要。</a:t>
            </a:r>
            <a:endParaRPr b="1"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2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アカウントや配信設定は自動では移らず、移行ツールか手動で移す。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2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タグ・コンバージョン設定と自動入札の学習データは引き継がれない。</a:t>
            </a:r>
            <a:endParaRPr b="1" sz="14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400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fmla="val 60792" name="adj"/>
              </a:avLst>
            </a:prstGeom>
            <a:solidFill>
              <a:srgbClr val="EAEDF5"/>
            </a:solidFill>
            <a:ln cap="flat" cmpd="sng" w="254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0150" lIns="10150" spcFirstLastPara="1" rIns="10150" wrap="square" tIns="1015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b="1" lang="ja-JP" sz="8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fmla="val 60792" name="adj"/>
              </a:avLst>
            </a:prstGeom>
            <a:solidFill>
              <a:schemeClr val="lt1"/>
            </a:solidFill>
            <a:ln cap="flat" cmpd="sng" w="254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0150" lIns="10150" spcFirstLastPara="1" rIns="10150" wrap="square" tIns="1015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b="1" lang="ja-JP" sz="8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fmla="val 60792" name="adj"/>
              </a:avLst>
            </a:prstGeom>
            <a:solidFill>
              <a:schemeClr val="lt1"/>
            </a:solidFill>
            <a:ln cap="flat" cmpd="sng" w="254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0150" lIns="10150" spcFirstLastPara="1" rIns="10150" wrap="square" tIns="1015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b="1" lang="ja-JP" sz="8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fmla="val 60792" name="adj"/>
              </a:avLst>
            </a:prstGeom>
            <a:noFill/>
            <a:ln cap="flat" cmpd="sng" w="254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0150" lIns="10150" spcFirstLastPara="1" rIns="10150" wrap="square" tIns="1015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b="1" lang="ja-JP" sz="8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descr="LINE公式アカウントのロゴの使用方法とは？種類やダウンロード方法、利用時の注意点を紹介 | Mico（ミコ）" id="62" name="Google Shape;62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317452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移行ツールで移せるもの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キャンペーン・広告グループ・広告の設定、画像・動画、オーディエンス。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44440" y="3068960"/>
            <a:ext cx="4317452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移せないもの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LINE Tagとコンバージョン設定、過去の配信実績・レポート、自動入札の学習データ。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4108" y="4714880"/>
            <a:ext cx="4317452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移行後にやること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タグとコンバージョンを設定し直す。学習データがない状態から始まるため、移行直後は学習期間を見込む。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44440" y="4714880"/>
            <a:ext cx="4317452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移行ツールの対象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日本向け配信・運用型・審査が承認済みのアカウント。予約型や審査待ち・否認のものは対象外。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800" u="none" cap="none" strike="noStrik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rgbClr val="4F81BD"/>
            </a:solidFill>
            <a:prstDash val="sysDash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200" u="none" cap="none" strike="noStrik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b="0" i="0" sz="1200" u="none" cap="none" strike="noStrik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cap="flat" cmpd="sng" w="9525">
            <a:solidFill>
              <a:srgbClr val="4F81B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000" u="none" cap="none" strike="noStrik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配信面</a:t>
            </a:r>
            <a:endParaRPr b="0" i="0" sz="1000" u="none" cap="none" strike="noStrik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300" u="none" cap="none" strike="noStrik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LINE広告を運用中の広告主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800" u="none" cap="none" strike="noStrik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出典：https://www.lycbiz.com/jp/news/ly-ads/20260730/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600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b="1" sz="1800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600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 VOOM】サービス終了に伴う広告枠の終了</a:t>
            </a:r>
            <a:endParaRPr b="1" sz="1600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720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b="0" lang="ja-JP" sz="160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b="0" sz="160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rgbClr val="4F81BD"/>
            </a:solidFill>
            <a:prstDash val="sysDash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9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LINEヤフー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9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広告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rgbClr val="4F81BD"/>
            </a:solidFill>
            <a:prstDash val="sysDash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LINE広告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メイリオ"/>
              </a:rPr>
              <a:t/>
            </a: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2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2026年9月30日（水）11時に、LINE VOOMのサービスが終了した。</a:t>
            </a:r>
            <a:endParaRPr b="1"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2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あわせて、LINE VOOM面への広告配信も終了している。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2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LINEアプリのVOOMタブは、ショッピングタブに切り替わる。</a:t>
            </a:r>
            <a:endParaRPr b="1" sz="14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400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fmla="val 60792" name="adj"/>
              </a:avLst>
            </a:prstGeom>
            <a:solidFill>
              <a:srgbClr val="EAEDF5"/>
            </a:solidFill>
            <a:ln cap="flat" cmpd="sng" w="254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0150" lIns="10150" spcFirstLastPara="1" rIns="10150" wrap="square" tIns="1015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b="1" lang="ja-JP" sz="8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fmla="val 60792" name="adj"/>
              </a:avLst>
            </a:prstGeom>
            <a:solidFill>
              <a:schemeClr val="lt1"/>
            </a:solidFill>
            <a:ln cap="flat" cmpd="sng" w="254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0150" lIns="10150" spcFirstLastPara="1" rIns="10150" wrap="square" tIns="1015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b="1" lang="ja-JP" sz="8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fmla="val 60792" name="adj"/>
              </a:avLst>
            </a:prstGeom>
            <a:solidFill>
              <a:schemeClr val="lt1"/>
            </a:solidFill>
            <a:ln cap="flat" cmpd="sng" w="254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0150" lIns="10150" spcFirstLastPara="1" rIns="10150" wrap="square" tIns="1015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b="1" lang="ja-JP" sz="8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fmla="val 60792" name="adj"/>
              </a:avLst>
            </a:prstGeom>
            <a:noFill/>
            <a:ln cap="flat" cmpd="sng" w="254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0150" lIns="10150" spcFirstLastPara="1" rIns="10150" wrap="square" tIns="1015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b="1" lang="ja-JP" sz="8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descr="LINE公式アカウントのロゴの使用方法とは？種類やダウンロード方法、利用時の注意点を紹介 | Mico（ミコ）" id="62" name="Google Shape;62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ectangle 62"/>
          <p:cNvSpPr/>
          <p:nvPr/>
        </p:nvSpPr>
        <p:spPr>
          <a:xfrm>
            <a:off x="544108" y="3068960"/>
            <a:ext cx="4180292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</a:rPr>
              <a:t>AS-IS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4108" y="3343280"/>
            <a:ext cx="4180292" cy="64008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54864" bIns="54864"/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15133D"/>
                </a:solidFill>
                <a:latin typeface="メイリオ"/>
              </a:rPr>
              <a:t>LINE VOOM面に広告を配信できる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724400" y="3068960"/>
            <a:ext cx="4572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181600" y="3068960"/>
            <a:ext cx="4180292" cy="27432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TO-BE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181600" y="3343280"/>
            <a:ext cx="4180292" cy="64008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54864" bIns="54864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5133D"/>
                </a:solidFill>
                <a:latin typeface="メイリオ"/>
              </a:rPr>
              <a:t>VOOM面への広告配信は終了</a:t>
            </a:r>
          </a:p>
          <a:p>
            <a:pPr>
              <a:lnSpc>
                <a:spcPct val="110000"/>
              </a:lnSpc>
              <a:spcBef>
                <a:spcPts val="500"/>
              </a:spcBef>
            </a:pPr>
            <a:r>
              <a:rPr sz="1050">
                <a:solidFill>
                  <a:srgbClr val="333333"/>
                </a:solidFill>
                <a:latin typeface="メイリオ"/>
              </a:rPr>
              <a:t>9/30 11時にサービス終了。投稿・閲覧もできない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4108" y="4211960"/>
            <a:ext cx="4317452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VOOMタブはショッピングタブへ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LINEアプリ下部のVOOMタブは、ショッピングタブに切り替わる。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44440" y="4211960"/>
            <a:ext cx="4317452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VOOM面向けの設定は見直し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VOOM面を前提にした配信設定・クリエイティブは、残りの配信面に合わせて見直す。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​​テーマ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DYMJAPAN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2021-08-26T12:24:15Z</dcterms:created>
  <dc:creator>横田 澪央</dc:creator>
</cp:coreProperties>
</file>