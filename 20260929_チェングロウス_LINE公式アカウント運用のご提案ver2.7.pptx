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8"/>
  </p:notesMasterIdLst>
  <p:handoutMasterIdLst>
    <p:handoutMasterId r:id="rId29"/>
  </p:handoutMasterIdLst>
  <p:sldIdLst>
    <p:sldId id="2363" r:id="rId3"/>
    <p:sldId id="2721" r:id="rId4"/>
    <p:sldId id="2971" r:id="rId5"/>
    <p:sldId id="2972" r:id="rId6"/>
    <p:sldId id="2904" r:id="rId7"/>
    <p:sldId id="3007" r:id="rId8"/>
    <p:sldId id="2987" r:id="rId9"/>
    <p:sldId id="2999" r:id="rId10"/>
    <p:sldId id="2997" r:id="rId11"/>
    <p:sldId id="2996" r:id="rId12"/>
    <p:sldId id="2973" r:id="rId13"/>
    <p:sldId id="3008" r:id="rId14"/>
    <p:sldId id="3009" r:id="rId15"/>
    <p:sldId id="3010" r:id="rId16"/>
    <p:sldId id="3011" r:id="rId17"/>
    <p:sldId id="2968" r:id="rId18"/>
    <p:sldId id="2908" r:id="rId19"/>
    <p:sldId id="2990" r:id="rId20"/>
    <p:sldId id="2986" r:id="rId21"/>
    <p:sldId id="2991" r:id="rId22"/>
    <p:sldId id="2989" r:id="rId23"/>
    <p:sldId id="2563" r:id="rId24"/>
    <p:sldId id="2959" r:id="rId25"/>
    <p:sldId id="2995" r:id="rId26"/>
    <p:sldId id="1169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36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25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3.emf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―サイトリニューアルに伴うご提案―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/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LINE</a:t>
            </a:r>
            <a:r>
              <a:rPr lang="ja-JP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公式アカウントを活用し、ビジネス拡大に最も貢献したパートナーに贈られる賞です。</a:t>
            </a:r>
            <a:endParaRPr lang="en-US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弊社実績</a:t>
            </a:r>
            <a:endParaRPr lang="ja-JP" altLang="en-US" sz="1600" b="1" dirty="0">
              <a:solidFill>
                <a:srgbClr val="323366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0" name="テキスト プレースホルダー 2">
            <a:extLst>
              <a:ext uri="{FF2B5EF4-FFF2-40B4-BE49-F238E27FC236}">
                <a16:creationId xmlns:a16="http://schemas.microsoft.com/office/drawing/2014/main" id="{18B78559-32E9-7E98-9E42-625866BF0637}"/>
              </a:ext>
            </a:extLst>
          </p:cNvPr>
          <p:cNvSpPr txBox="1">
            <a:spLocks/>
          </p:cNvSpPr>
          <p:nvPr/>
        </p:nvSpPr>
        <p:spPr>
          <a:xfrm>
            <a:off x="4741655" y="135388"/>
            <a:ext cx="3604551" cy="35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750" lvl="0" indent="-539750">
              <a:tabLst>
                <a:tab pos="447675" algn="l"/>
              </a:tabLst>
              <a:defRPr/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【</a:t>
            </a:r>
            <a:r>
              <a:rPr lang="ja-JP" altLang="en-US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参考情報</a:t>
            </a: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】</a:t>
            </a:r>
          </a:p>
          <a:p>
            <a:pPr marL="88900" lvl="0">
              <a:tabLst>
                <a:tab pos="447675" algn="l"/>
              </a:tabLst>
              <a:defRPr/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https://prtimes.jp/main/html/rd/p/000000412.000027235.html</a:t>
            </a:r>
            <a:endParaRPr lang="en-US" altLang="ja-JP" sz="1100" dirty="0">
              <a:solidFill>
                <a:srgbClr val="000000">
                  <a:lumMod val="95000"/>
                  <a:lumOff val="5000"/>
                </a:srgbClr>
              </a:solidFill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Sales Partner Premier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082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5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6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7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89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0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2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3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94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5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6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8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99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101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2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3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04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</a:p>
        </p:txBody>
      </p:sp>
      <p:sp>
        <p:nvSpPr>
          <p:cNvPr id="2105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10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</a:p>
        </p:txBody>
      </p:sp>
      <p:sp>
        <p:nvSpPr>
          <p:cNvPr id="2111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56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ja-JP" sz="700">
                <a:solidFill>
                  <a:schemeClr val="bg1"/>
                </a:solidFill>
              </a:rPr>
              <a:t>※</a:t>
            </a:r>
            <a:r>
              <a:rPr lang="ja-JP" altLang="en-US" sz="700">
                <a:solidFill>
                  <a:schemeClr val="bg1"/>
                </a:solidFill>
              </a:rPr>
              <a:t>受賞時の</a:t>
            </a:r>
            <a:r>
              <a:rPr lang="en-US" altLang="ja-JP" sz="700">
                <a:solidFill>
                  <a:schemeClr val="bg1"/>
                </a:solidFill>
              </a:rPr>
              <a:t>1</a:t>
            </a:r>
            <a:r>
              <a:rPr lang="ja-JP" altLang="en-US" sz="700">
                <a:solidFill>
                  <a:schemeClr val="bg1"/>
                </a:solidFill>
              </a:rPr>
              <a:t>枚</a:t>
            </a:r>
            <a:endParaRPr lang="en-US" altLang="ja-JP" sz="700" dirty="0">
              <a:solidFill>
                <a:schemeClr val="bg1"/>
              </a:solidFill>
            </a:endParaRPr>
          </a:p>
        </p:txBody>
      </p:sp>
      <p:pic>
        <p:nvPicPr>
          <p:cNvPr id="7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ja-JP" altLang="en-US" sz="9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LINE経由の応募は、配信よりもリッチメニュー経由が最も多く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5315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6311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0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400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432000" y="3456000"/>
            <a:ext cx="9043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432000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条件をボタンに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283199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0"/>
          <p:cNvSpPr/>
          <p:nvPr/>
        </p:nvSpPr>
        <p:spPr>
          <a:xfrm>
            <a:off x="35315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382800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2"/>
          <p:cNvSpPr/>
          <p:nvPr/>
        </p:nvSpPr>
        <p:spPr>
          <a:xfrm>
            <a:off x="66311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として機能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3239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8584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7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7504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848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1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768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711199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5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6031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セグメント分け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向上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620000"/>
            <a:ext cx="2232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432000" y="1980000"/>
            <a:ext cx="2232000" cy="25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772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7"/>
          <p:cNvSpPr/>
          <p:nvPr/>
        </p:nvSpPr>
        <p:spPr>
          <a:xfrm>
            <a:off x="3240000" y="1620000"/>
            <a:ext cx="2988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3240000" y="1980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3240000" y="2862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3240000" y="3744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390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2"/>
          <p:cNvSpPr/>
          <p:nvPr/>
        </p:nvSpPr>
        <p:spPr>
          <a:xfrm>
            <a:off x="6840000" y="1620000"/>
            <a:ext cx="26352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840000" y="1980000"/>
            <a:ext cx="2635200" cy="25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2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3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432000" y="489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タグを設置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→離脱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で接点が終わ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る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LINEは、何度でも求人をご案内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432000" y="1655999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440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3131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7"/>
          <p:cNvSpPr/>
          <p:nvPr/>
        </p:nvSpPr>
        <p:spPr>
          <a:xfrm>
            <a:off x="3491999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0" name="Right Arrow 8"/>
          <p:cNvSpPr/>
          <p:nvPr/>
        </p:nvSpPr>
        <p:spPr>
          <a:xfrm>
            <a:off x="5183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9"/>
          <p:cNvSpPr/>
          <p:nvPr/>
        </p:nvSpPr>
        <p:spPr>
          <a:xfrm>
            <a:off x="5544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2" name="Right Arrow 10"/>
          <p:cNvSpPr/>
          <p:nvPr/>
        </p:nvSpPr>
        <p:spPr>
          <a:xfrm>
            <a:off x="7236000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1"/>
          <p:cNvSpPr/>
          <p:nvPr/>
        </p:nvSpPr>
        <p:spPr>
          <a:xfrm>
            <a:off x="7596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432000" y="2520000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440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6" name="Right Arrow 14"/>
          <p:cNvSpPr/>
          <p:nvPr/>
        </p:nvSpPr>
        <p:spPr>
          <a:xfrm>
            <a:off x="3131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5"/>
          <p:cNvSpPr/>
          <p:nvPr/>
        </p:nvSpPr>
        <p:spPr>
          <a:xfrm>
            <a:off x="3491999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8" name="Right Arrow 16"/>
          <p:cNvSpPr/>
          <p:nvPr/>
        </p:nvSpPr>
        <p:spPr>
          <a:xfrm>
            <a:off x="5183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7"/>
          <p:cNvSpPr/>
          <p:nvPr/>
        </p:nvSpPr>
        <p:spPr>
          <a:xfrm>
            <a:off x="5544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ight Arrow 18"/>
          <p:cNvSpPr/>
          <p:nvPr/>
        </p:nvSpPr>
        <p:spPr>
          <a:xfrm>
            <a:off x="7236000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9"/>
          <p:cNvSpPr/>
          <p:nvPr/>
        </p:nvSpPr>
        <p:spPr>
          <a:xfrm>
            <a:off x="7596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544000" y="3024000"/>
            <a:ext cx="180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1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432000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5315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新着求人が届きます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66311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432000" y="5148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何度もご案内できる「転職を検討している方のリスト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LINEでログイン」を使うと、LINEのアカウントでサイトの会員登録が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Profile+を使うと、氏名・電話番号などが自動で入り、確認で登録が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584000"/>
            <a:ext cx="5616000" cy="2815020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432000" y="4434680"/>
            <a:ext cx="5616000" cy="216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228000" y="1584000"/>
            <a:ext cx="32472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228000" y="3240000"/>
            <a:ext cx="3247200" cy="151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432000" y="518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699943"/>
            <a:ext cx="9036000" cy="580115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一方、整備士特化のサービスは、少な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432000" y="1619999"/>
          <a:ext cx="9043200" cy="2249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0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3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4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432000" y="4380253"/>
            <a:ext cx="9043200" cy="396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になる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432000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5315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5315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6311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6311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432000" y="3888000"/>
            <a:ext cx="9043200" cy="243677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再現するときに必要なもの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432000" y="4212000"/>
            <a:ext cx="4392000" cy="936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076000" y="4212000"/>
            <a:ext cx="4399200" cy="93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432000" y="536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サイトリニューアルのタイミング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この仕組みを最初から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構築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4320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8" name="Right Arrow 6"/>
          <p:cNvSpPr/>
          <p:nvPr/>
        </p:nvSpPr>
        <p:spPr>
          <a:xfrm>
            <a:off x="4806000" y="2700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7"/>
          <p:cNvSpPr/>
          <p:nvPr/>
        </p:nvSpPr>
        <p:spPr>
          <a:xfrm>
            <a:off x="51912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1912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・登録と同じ画面で、LINEの友だち追加もあわせてご案内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・応募しなかった方とも、登録者としてつながり続ける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1" name="Down Arrow 9"/>
          <p:cNvSpPr/>
          <p:nvPr/>
        </p:nvSpPr>
        <p:spPr>
          <a:xfrm>
            <a:off x="4665600" y="3870000"/>
            <a:ext cx="503999" cy="288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0"/>
          <p:cNvSpPr/>
          <p:nvPr/>
        </p:nvSpPr>
        <p:spPr>
          <a:xfrm>
            <a:off x="432000" y="4248000"/>
            <a:ext cx="9043200" cy="82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4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会員登録はワンタップで完了。次の課題は、登録した方を応募へどうつなげるか</a:t>
            </a:r>
            <a:endParaRPr sz="14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タウンワークの型をそのまま使うのではなく、貴社のサイトと求人に合わせて工夫します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65325"/>
              </p:ext>
            </p:extLst>
          </p:nvPr>
        </p:nvGraphicFramePr>
        <p:xfrm>
          <a:off x="432000" y="2015999"/>
          <a:ext cx="4391999" cy="1772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、
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</a:t>
                      </a:r>
                      <a:endParaRPr lang="en-US" sz="10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あわせてご案内</a:t>
                      </a:r>
                      <a:endParaRPr sz="10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5076000" y="1584000"/>
            <a:ext cx="43992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076000" y="2015999"/>
            <a:ext cx="43992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</a:t>
            </a: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ー・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配信で使う条件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職種：整備士／営業／受付・事務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地域：都道府県・市区町村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432000" y="3869999"/>
            <a:ext cx="90432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</a:t>
            </a:r>
            <a:r>
              <a:rPr lang="ja-JP" altLang="en-US"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構築に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LINEから条件別に探せる</a:t>
            </a: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ように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432000" y="500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手軽な登録」と「整備士に合わせた条件」で、タウンワークの型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30000"/>
            <a:ext cx="1188000" cy="144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692000" y="1530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72000" bIns="21600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1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1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470" y="1530000"/>
            <a:ext cx="2302258" cy="144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Rounded Rectangle 7"/>
          <p:cNvSpPr/>
          <p:nvPr/>
        </p:nvSpPr>
        <p:spPr>
          <a:xfrm>
            <a:off x="432000" y="3078000"/>
            <a:ext cx="1188000" cy="144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692000" y="3078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72000" bIns="21600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1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1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10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10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10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470" y="3078000"/>
            <a:ext cx="2302258" cy="144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2" name="Rounded Rectangle 10"/>
          <p:cNvSpPr/>
          <p:nvPr/>
        </p:nvSpPr>
        <p:spPr>
          <a:xfrm>
            <a:off x="432000" y="4626000"/>
            <a:ext cx="1188000" cy="14400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692000" y="4626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72000" bIns="21600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</a:t>
            </a:r>
            <a:endParaRPr sz="11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10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10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4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384" y="4626000"/>
            <a:ext cx="810430" cy="144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5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※月約17人＝サイトからの応募（月約47件）×完了画面の表示80%×友だち追加45%の想定／画面はイメージです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②効率改善（ステップ配信・企画配信）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432000" y="1512000"/>
          <a:ext cx="7524000" cy="416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9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42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6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92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8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8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85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費用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8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8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338" y="1532339"/>
            <a:ext cx="1519200" cy="1012799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338" y="2759056"/>
            <a:ext cx="1519200" cy="2699364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TextBox 7"/>
          <p:cNvSpPr txBox="1"/>
          <p:nvPr/>
        </p:nvSpPr>
        <p:spPr>
          <a:xfrm>
            <a:off x="432000" y="5670000"/>
            <a:ext cx="9043200" cy="40525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配信の中身（全10通の例）：0日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あいさつメッセージ（職種を聞く）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職種の違い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2日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働き方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3日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→ 4日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資格取得支援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5日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他の職種との比較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7日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資格別の年収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10日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現場の様子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12日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地域別の新着求人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14日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②（1日後からはステップ配信）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9月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形式に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692000" y="1512000"/>
          <a:ext cx="778320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432000" y="1908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1692000" y="1908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287600" y="1908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883200" y="1908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3276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1692000" y="3276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287600" y="3276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883200" y="3276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432000" y="4643999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1692000" y="4643999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287600" y="4643999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6883200" y="4643999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担当者の対応の手間を増やさずに、友だち・応募者とのやりとりを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容易に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692000" y="1512000"/>
          <a:ext cx="778320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432000" y="1908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1692000" y="1908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587200" y="1908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432000" y="3276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692000" y="3276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5587200" y="3276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432000" y="4643999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692000" y="4643999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5587200" y="4643999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サイトリニューアルと同時の導入をおすすめする理由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以降で蓄積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サイトと同時に始めれば、翌3月の転職のピークを、増えた友だちとともに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抑制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</a:t>
            </a: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データを初日から蓄積できる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半年後には約540人の友だちに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弊社シミュレーション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5315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会員登録の仕組みを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後からLINE対応に作り替えると、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サイトの改修が二度手間になる。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6311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3月の転職のピークに間に合う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32000" y="3996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同時に開始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800000" y="4068000"/>
            <a:ext cx="76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9"/>
          <p:cNvSpPr txBox="1"/>
          <p:nvPr/>
        </p:nvSpPr>
        <p:spPr>
          <a:xfrm>
            <a:off x="1800000" y="4302000"/>
            <a:ext cx="7668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 ────── 友だちが増え続ける ────── 翌3月（転職のピーク）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432000" y="4644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800000" y="4716000"/>
            <a:ext cx="3600000" cy="21600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2"/>
          <p:cNvSpPr/>
          <p:nvPr/>
        </p:nvSpPr>
        <p:spPr>
          <a:xfrm>
            <a:off x="5400000" y="4716000"/>
            <a:ext cx="40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3"/>
          <p:cNvSpPr txBox="1"/>
          <p:nvPr/>
        </p:nvSpPr>
        <p:spPr>
          <a:xfrm>
            <a:off x="1800000" y="4950000"/>
            <a:ext cx="3600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サイトリニューアルと同時に、LINEも最初から入れることをご提案します。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サイトリニューアルに入れる要件3点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432000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LINEでログイン」とLINE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Profile+で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ご案内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5315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5315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6311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6311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432000" y="4140000"/>
            <a:ext cx="9043200" cy="86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  <a:endParaRPr sz="12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</a:t>
            </a: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が、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対応が可能（内容に応じて都度お見積もり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サイト制作会社様と仕様をすり合わせて進めます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32000" y="522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この三点で、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タウンワークの型を貴社サイトで再現できます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スケジュール｜4月にサイトと同時に開設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Profile+は申請とLINEヤフー社の審査があるため、予算が決まり次第、着手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11〜12月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835999" y="158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予算のご決定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来期の予算にLINEを組み込む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432000" y="239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1〜2月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1835999" y="239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アカウント開設、LINE Profile+の申請、サイト制作会社様と仕様のすり合わせ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432000" y="320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2〜3月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835999" y="320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あいさつ・リッチメニュー・ステップ配信の作成、サイトとの連携テスト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432000" y="401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835999" y="401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サイトと同時に開設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運用開始。会員登録・友だち追加を開始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432000" y="482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835999" y="482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はLINEでワンタップ。登録した方を、リッチメニューと配信で応募（CV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②）へ</a:t>
            </a: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584000"/>
          <a:ext cx="9043200" cy="22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2.4万円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432000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5315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52件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6311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1.8万円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公式アカウントの導入と運用にかかる費用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5315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6311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432000" y="3240000"/>
          <a:ext cx="90432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いる</a:t>
            </a:r>
            <a:endParaRPr lang="en-US" altLang="ja-JP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検索は一年を通してあり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中でも、</a:t>
            </a: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月がピーク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432000" y="1548000"/>
            <a:ext cx="396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432000" y="190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8" name="Rectangle 6"/>
          <p:cNvSpPr/>
          <p:nvPr/>
        </p:nvSpPr>
        <p:spPr>
          <a:xfrm>
            <a:off x="2052000" y="1980000"/>
            <a:ext cx="180000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/>
          <p:cNvSpPr txBox="1"/>
          <p:nvPr/>
        </p:nvSpPr>
        <p:spPr>
          <a:xfrm>
            <a:off x="3888000" y="190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432000" y="244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1" name="Rectangle 9"/>
          <p:cNvSpPr/>
          <p:nvPr/>
        </p:nvSpPr>
        <p:spPr>
          <a:xfrm>
            <a:off x="2052000" y="2520000"/>
            <a:ext cx="173881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0"/>
          <p:cNvSpPr txBox="1"/>
          <p:nvPr/>
        </p:nvSpPr>
        <p:spPr>
          <a:xfrm>
            <a:off x="3826810" y="244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432000" y="298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4" name="Rectangle 12"/>
          <p:cNvSpPr/>
          <p:nvPr/>
        </p:nvSpPr>
        <p:spPr>
          <a:xfrm>
            <a:off x="2052000" y="3060000"/>
            <a:ext cx="1682719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3"/>
          <p:cNvSpPr txBox="1"/>
          <p:nvPr/>
        </p:nvSpPr>
        <p:spPr>
          <a:xfrm>
            <a:off x="3770719" y="298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432000" y="3600000"/>
            <a:ext cx="396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680000" y="1548000"/>
            <a:ext cx="4788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8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0" y="1872000"/>
            <a:ext cx="4788000" cy="1556100"/>
          </a:xfrm>
          <a:prstGeom prst="rect">
            <a:avLst/>
          </a:prstGeom>
        </p:spPr>
      </p:pic>
      <p:sp>
        <p:nvSpPr>
          <p:cNvPr id="19" name="Rounded Rectangle 17"/>
          <p:cNvSpPr/>
          <p:nvPr/>
        </p:nvSpPr>
        <p:spPr>
          <a:xfrm>
            <a:off x="4680000" y="3600000"/>
            <a:ext cx="4788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育成すること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が大切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工場求人ナビ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一定の規則性がある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32" y="1861200"/>
            <a:ext cx="5212935" cy="304174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6228000" y="1584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228000" y="2700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228000" y="3816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432000" y="5112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評判・不安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応募の準備」の順番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が最適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432000" y="6246000"/>
            <a:ext cx="9043200" cy="176351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7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7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前後検索データ（起点KW：工場求人ナビ</a:t>
            </a:r>
            <a:r>
              <a:rPr lang="ja-JP" altLang="en-US" sz="7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7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Legend 1"/>
          <p:cNvSpPr/>
          <p:nvPr/>
        </p:nvSpPr>
        <p:spPr>
          <a:xfrm>
            <a:off x="432000" y="1584000"/>
            <a:ext cx="1848000" cy="223200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条件</a:t>
            </a:r>
          </a:p>
        </p:txBody>
      </p:sp>
      <p:sp>
        <p:nvSpPr>
          <p:cNvPr id="13" name="Legend 2"/>
          <p:cNvSpPr/>
          <p:nvPr/>
        </p:nvSpPr>
        <p:spPr>
          <a:xfrm>
            <a:off x="2352000" y="1584000"/>
            <a:ext cx="1848000" cy="223200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評判・不安</a:t>
            </a:r>
          </a:p>
        </p:txBody>
      </p:sp>
      <p:sp>
        <p:nvSpPr>
          <p:cNvPr id="14" name="Legend 3"/>
          <p:cNvSpPr/>
          <p:nvPr/>
        </p:nvSpPr>
        <p:spPr>
          <a:xfrm>
            <a:off x="4272000" y="1584000"/>
            <a:ext cx="1848000" cy="223200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応募の準備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432000" y="829130"/>
            <a:ext cx="9036000" cy="285739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ー」の検索前後15日間。友だち追加につながりやすいのは、検索当日〜翌日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58000"/>
            <a:ext cx="5112000" cy="2982852"/>
          </a:xfrm>
          <a:prstGeom prst="rect">
            <a:avLst/>
          </a:prstGeom>
        </p:spPr>
      </p:pic>
      <p:sp>
        <p:nvSpPr>
          <p:cNvPr id="7" name="Rectangle 11"/>
          <p:cNvSpPr/>
          <p:nvPr/>
        </p:nvSpPr>
        <p:spPr>
          <a:xfrm>
            <a:off x="2907233" y="4397400"/>
            <a:ext cx="936000" cy="223200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9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8" name="Rectangle 12"/>
          <p:cNvSpPr/>
          <p:nvPr/>
        </p:nvSpPr>
        <p:spPr>
          <a:xfrm>
            <a:off x="3072347" y="1458000"/>
            <a:ext cx="605772" cy="2946851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13"/>
          <p:cNvSpPr/>
          <p:nvPr/>
        </p:nvSpPr>
        <p:spPr>
          <a:xfrm>
            <a:off x="57240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0" name="Rounded Rectangle 14"/>
          <p:cNvSpPr/>
          <p:nvPr/>
        </p:nvSpPr>
        <p:spPr>
          <a:xfrm>
            <a:off x="76176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1" name="Rounded Rectangle 15"/>
          <p:cNvSpPr/>
          <p:nvPr/>
        </p:nvSpPr>
        <p:spPr>
          <a:xfrm>
            <a:off x="57240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2" name="Rounded Rectangle 16"/>
          <p:cNvSpPr/>
          <p:nvPr/>
        </p:nvSpPr>
        <p:spPr>
          <a:xfrm>
            <a:off x="76176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3" name="Rounded Rectangle 17"/>
          <p:cNvSpPr/>
          <p:nvPr/>
        </p:nvSpPr>
        <p:spPr>
          <a:xfrm>
            <a:off x="5724000" y="2052000"/>
            <a:ext cx="3751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4" name="Rounded Rectangle 18"/>
          <p:cNvSpPr/>
          <p:nvPr/>
        </p:nvSpPr>
        <p:spPr>
          <a:xfrm>
            <a:off x="57240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endParaRPr/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15" name="Rounded Rectangle 19"/>
          <p:cNvSpPr/>
          <p:nvPr/>
        </p:nvSpPr>
        <p:spPr>
          <a:xfrm>
            <a:off x="76356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16" name="Rounded Rectangle 20"/>
          <p:cNvSpPr/>
          <p:nvPr/>
        </p:nvSpPr>
        <p:spPr>
          <a:xfrm>
            <a:off x="57240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76356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18" name="Connector 22"/>
          <p:cNvCxnSpPr/>
          <p:nvPr/>
        </p:nvCxnSpPr>
        <p:spPr>
          <a:xfrm flipV="1">
            <a:off x="3375233" y="2772000"/>
            <a:ext cx="2312767" cy="154872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3"/>
          <p:cNvSpPr/>
          <p:nvPr/>
        </p:nvSpPr>
        <p:spPr>
          <a:xfrm>
            <a:off x="432000" y="4710852"/>
            <a:ext cx="9043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0" name="Rounded Rectangle 24"/>
          <p:cNvSpPr/>
          <p:nvPr/>
        </p:nvSpPr>
        <p:spPr>
          <a:xfrm>
            <a:off x="432000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1" name="Rounded Rectangle 25"/>
          <p:cNvSpPr/>
          <p:nvPr/>
        </p:nvSpPr>
        <p:spPr>
          <a:xfrm>
            <a:off x="1734171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2" name="Rounded Rectangle 26"/>
          <p:cNvSpPr/>
          <p:nvPr/>
        </p:nvSpPr>
        <p:spPr>
          <a:xfrm>
            <a:off x="3036342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3" name="Rounded Rectangle 27"/>
          <p:cNvSpPr/>
          <p:nvPr/>
        </p:nvSpPr>
        <p:spPr>
          <a:xfrm>
            <a:off x="4338514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4" name="Rounded Rectangle 28"/>
          <p:cNvSpPr/>
          <p:nvPr/>
        </p:nvSpPr>
        <p:spPr>
          <a:xfrm>
            <a:off x="5640685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10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ounded Rectangle 29"/>
          <p:cNvSpPr/>
          <p:nvPr/>
        </p:nvSpPr>
        <p:spPr>
          <a:xfrm>
            <a:off x="6942857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26" name="Rounded Rectangle 30"/>
          <p:cNvSpPr/>
          <p:nvPr/>
        </p:nvSpPr>
        <p:spPr>
          <a:xfrm>
            <a:off x="8245028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27" name="Connector 31"/>
          <p:cNvCxnSpPr/>
          <p:nvPr/>
        </p:nvCxnSpPr>
        <p:spPr>
          <a:xfrm>
            <a:off x="4521600" y="4320720"/>
            <a:ext cx="255599" cy="372131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"/>
          <p:cNvSpPr txBox="1"/>
          <p:nvPr/>
        </p:nvSpPr>
        <p:spPr>
          <a:xfrm>
            <a:off x="432000" y="6282000"/>
            <a:ext cx="9043200" cy="211745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9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9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前後検索データ（起点KW：カーディーラ</a:t>
            </a:r>
            <a:r>
              <a:rPr sz="9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en-US" sz="9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9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7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8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9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10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1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2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13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4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15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2734</Words>
  <Application>Microsoft Office PowerPoint</Application>
  <PresentationFormat>A4 210 x 297 mm</PresentationFormat>
  <Paragraphs>638</Paragraphs>
  <Slides>25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2026-10-02T03:09:06Z</dcterms:modified>
</cp:coreProperties>
</file>