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7"/>
  </p:notesMasterIdLst>
  <p:handoutMasterIdLst>
    <p:handoutMasterId r:id="rId28"/>
  </p:handoutMasterIdLst>
  <p:sldIdLst>
    <p:sldId id="2363" r:id="rId3"/>
    <p:sldId id="3012" r:id="rId33"/>
    <p:sldId id="2971" r:id="rId4"/>
    <p:sldId id="2972" r:id="rId5"/>
    <p:sldId id="2904" r:id="rId6"/>
    <p:sldId id="3007" r:id="rId7"/>
    <p:sldId id="2987" r:id="rId8"/>
    <p:sldId id="2999" r:id="rId9"/>
    <p:sldId id="2997" r:id="rId10"/>
    <p:sldId id="2996" r:id="rId11"/>
    <p:sldId id="2973" r:id="rId12"/>
    <p:sldId id="3008" r:id="rId13"/>
    <p:sldId id="3009" r:id="rId14"/>
    <p:sldId id="3010" r:id="rId15"/>
    <p:sldId id="3011" r:id="rId16"/>
    <p:sldId id="2968" r:id="rId17"/>
    <p:sldId id="2908" r:id="rId18"/>
    <p:sldId id="2990" r:id="rId19"/>
    <p:sldId id="2986" r:id="rId20"/>
    <p:sldId id="2991" r:id="rId21"/>
    <p:sldId id="2989" r:id="rId22"/>
    <p:sldId id="2563" r:id="rId23"/>
    <p:sldId id="2959" r:id="rId24"/>
    <p:sldId id="2995" r:id="rId25"/>
    <p:sldId id="1169" r:id="rId2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7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8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9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LINE経由の応募は、配信よりもリッチメニュー経由が最も多く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 err="1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最多</a:t>
            </a:r>
            <a:endParaRPr sz="4000" b="1" dirty="0">
              <a:solidFill>
                <a:schemeClr val="tx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条件をボタンに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応募の増加へ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として機能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7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10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3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6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7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セグメント分け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向上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3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タグを設置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→離脱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で接点が終わ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る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LINEは、何度でも求人をご案内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0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2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6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8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4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新着求人が届きます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5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6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何度もご案内できる「転職を検討している方のリスト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LINEでログイン」を使うと、LINEのアカウントでサイトの会員登録が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Profile+を使うと、氏名・電話番号などが自動で入り、確認で登録が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7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会員登録のハードル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がる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99943"/>
            <a:ext cx="9036000" cy="580115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一方、整備士特化のサービスは、少な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になる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2" name="TextBox 10"/>
          <p:cNvSpPr txBox="1"/>
          <p:nvPr/>
        </p:nvSpPr>
        <p:spPr>
          <a:xfrm>
            <a:off x="432000" y="3888000"/>
            <a:ext cx="9043200" cy="243677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再現するときに必要なもの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この仕組みを最初から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8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・登録と同じ画面で、LINEの友だち追加もあわせてご案内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1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会員登録はワンタップで完了。次の課題は、登録した方を応募へどうつなげるか</a:t>
            </a:r>
            <a:endParaRPr sz="14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タウンワークの型をそのまま使うのではなく、貴社のサイトと求人に合わせて工夫します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65325"/>
              </p:ext>
            </p:extLst>
          </p:nvPr>
        </p:nvGraphicFramePr>
        <p:xfrm>
          <a:off x="432000" y="2015999"/>
          <a:ext cx="4391999" cy="1772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、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</a:t>
                      </a:r>
                      <a:endParaRPr lang="en-US"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あわせてご案内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</a:t>
            </a: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ー・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配信で使う条件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職種：整備士／営業／受付・事務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地域：都道府県・市区町村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未経験OK・資格取得支援あり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432000" y="3869999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</a:t>
            </a:r>
            <a:r>
              <a:rPr lang="ja-JP" altLang="en-US"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LINEから条件別に探せる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ように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9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手軽な登録」と「整備士に合わせた条件」で、タウンワークの型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9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2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4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5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16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（約35人）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92回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（約140人）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131回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（約219人）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131回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575回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9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あいさつメッセージ（職種を聞く）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②（1日後からはステップ配信）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弊社シミュレーションの9月の値を、動線ごとの友だち数（離脱防止38%・LINEで登録62%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形式に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担当者の対応の手間を増やさずに、友だち・応募者とのやりとりを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容易に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以降で蓄積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抑制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</a:t>
            </a: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データを初日から蓄積できる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半年後には約540人の友だちに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弊社シミュレーション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LINEでログイン」とLINE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Profile+で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が、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対応が可能（内容に応じて都度お見積もり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サイト制作会社様と仕様をすり合わせて進めます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この三点で、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タウンワークの型を貴社サイトで再現できます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Profile+は申請とLINEヤフー社の審査があるため、予算が決まり次第、着手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6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はLINEでワンタップ。登録した方を、リッチメニューと配信で応募（CV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②）へ</a:t>
            </a: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2.4万円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334件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52件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1.8万円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月約6,100人（広告のシミュレーション確定後に差し替え）／LINEで登録＝来訪者の1.0%／費用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公式アカウントの導入と運用にかかる費用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会員登録から応募までをLINEでつなげる仕組みを構築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9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重要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いる</a:t>
            </a:r>
            <a:endParaRPr lang="en-US" altLang="ja-JP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検索は一年を通してあり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中でも、</a:t>
            </a: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月がピーク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7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8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1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4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8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9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20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育成すること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が大切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工場求人ナビ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一定の規則性がある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32" y="1861200"/>
            <a:ext cx="5212935" cy="3041748"/>
          </a:xfrm>
          <a:prstGeom prst="rect">
            <a:avLst/>
          </a:prstGeom>
        </p:spPr>
      </p:pic>
      <p:sp>
        <p:nvSpPr>
          <p:cNvPr id="7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評判・不安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応募の準備」の順番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が最適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176351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7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前後検索データ（起点KW：工場求人ナビ</a:t>
            </a:r>
            <a:r>
              <a:rPr lang="ja-JP" altLang="en-US"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7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Legend 1"/>
          <p:cNvSpPr/>
          <p:nvPr/>
        </p:nvSpPr>
        <p:spPr>
          <a:xfrm>
            <a:off x="43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条件</a:t>
            </a:r>
          </a:p>
        </p:txBody>
      </p:sp>
      <p:sp>
        <p:nvSpPr>
          <p:cNvPr id="13" name="Legend 2"/>
          <p:cNvSpPr/>
          <p:nvPr/>
        </p:nvSpPr>
        <p:spPr>
          <a:xfrm>
            <a:off x="235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評判・不安</a:t>
            </a:r>
          </a:p>
        </p:txBody>
      </p:sp>
      <p:sp>
        <p:nvSpPr>
          <p:cNvPr id="14" name="Legend 3"/>
          <p:cNvSpPr/>
          <p:nvPr/>
        </p:nvSpPr>
        <p:spPr>
          <a:xfrm>
            <a:off x="427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29130"/>
            <a:ext cx="9036000" cy="285739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ー」の検索前後15日間。友だち追加につながりやすいのは、検索当日〜翌日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7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8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0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1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2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3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4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endParaRPr/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15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16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17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18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0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1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2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3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4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26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27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9"/>
          <p:cNvSpPr txBox="1"/>
          <p:nvPr/>
        </p:nvSpPr>
        <p:spPr>
          <a:xfrm>
            <a:off x="432000" y="6282000"/>
            <a:ext cx="9043200" cy="211745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9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前後検索データ（起点KW：カーディーラ</a:t>
            </a:r>
            <a:r>
              <a:rPr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en-US"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)</a:t>
            </a:r>
            <a:endParaRPr sz="9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6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7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8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9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10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1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2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13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4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15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pic>
        <p:nvPicPr>
          <p:cNvPr id="3" name="図 57" descr="文字と写真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BC098C34-07FA-B015-C970-B8433D9E8B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6" t="3967" r="34188" b="52442"/>
          <a:stretch>
            <a:fillRect/>
          </a:stretch>
        </p:blipFill>
        <p:spPr>
          <a:xfrm>
            <a:off x="489022" y="5068469"/>
            <a:ext cx="2046003" cy="1464812"/>
          </a:xfrm>
          <a:prstGeom prst="rect">
            <a:avLst/>
          </a:prstGeom>
        </p:spPr>
      </p:pic>
      <p:sp>
        <p:nvSpPr>
          <p:cNvPr id="4" name="正方形/長方形 32">
            <a:extLst>
              <a:ext uri="{FF2B5EF4-FFF2-40B4-BE49-F238E27FC236}">
                <a16:creationId xmlns:a16="http://schemas.microsoft.com/office/drawing/2014/main" id="{1E52F929-5FD7-9413-24A8-2725B04E4908}"/>
              </a:ext>
            </a:extLst>
          </p:cNvPr>
          <p:cNvSpPr/>
          <p:nvPr/>
        </p:nvSpPr>
        <p:spPr>
          <a:xfrm>
            <a:off x="388723" y="1082314"/>
            <a:ext cx="9129600" cy="10056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11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月、株式会社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ヤフー社が主催する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”LINE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Partner Award 2025” 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が参加。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公式アカウントによるビジネス拡大に最も貢献したとして、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Best LINE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 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Growth</a:t>
            </a:r>
            <a:r>
              <a:rPr lang="en-US" altLang="ja-JP" sz="7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を受賞。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月現在、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公式アカウントの取扱社数は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社以上、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400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アカウント以上まで拡大しており関連サービスも展開中。</a:t>
            </a:r>
            <a:endParaRPr lang="en-US" altLang="ja-JP" sz="12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r"/>
            <a:r>
              <a:rPr lang="en-US" altLang="ja-JP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LINE</a:t>
            </a:r>
            <a:r>
              <a:rPr lang="ja-JP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公式アカウントを活用し、ビジネス拡大に最も貢献したパートナーに贈られる賞です。</a:t>
            </a:r>
            <a:endParaRPr lang="en-US" altLang="ja-JP" sz="9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C34101C7-CA6C-6ED6-33D4-C2B82BDA547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弊社実績</a:t>
            </a:r>
            <a:endParaRPr lang="ja-JP" altLang="en-US" sz="1600" b="1" dirty="0">
              <a:solidFill>
                <a:srgbClr val="323366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6" name="正方形/長方形 48">
            <a:extLst>
              <a:ext uri="{FF2B5EF4-FFF2-40B4-BE49-F238E27FC236}">
                <a16:creationId xmlns:a16="http://schemas.microsoft.com/office/drawing/2014/main" id="{9685C0AB-6B7A-94C5-EFA8-756E59EE714E}"/>
              </a:ext>
            </a:extLst>
          </p:cNvPr>
          <p:cNvSpPr/>
          <p:nvPr/>
        </p:nvSpPr>
        <p:spPr>
          <a:xfrm>
            <a:off x="388723" y="2116303"/>
            <a:ext cx="9128554" cy="30777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弊社受賞遍歴 </a:t>
            </a: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Since.2024</a:t>
            </a: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年</a:t>
            </a: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5</a:t>
            </a: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月～</a:t>
            </a:r>
            <a:endParaRPr lang="en-US" altLang="ja-JP" sz="14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18B78559-32E9-7E98-9E42-625866BF0637}"/>
              </a:ext>
            </a:extLst>
          </p:cNvPr>
          <p:cNvSpPr txBox="1">
            <a:spLocks/>
          </p:cNvSpPr>
          <p:nvPr/>
        </p:nvSpPr>
        <p:spPr>
          <a:xfrm>
            <a:off x="4741655" y="135388"/>
            <a:ext cx="3604551" cy="356140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marL="539750" lvl="0" indent="-539750">
              <a:tabLst>
                <a:tab pos="447675" algn="l"/>
              </a:tabLs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【</a:t>
            </a:r>
            <a:r>
              <a:rPr lang="ja-JP" altLang="en-US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参考情報</a:t>
            </a: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】</a:t>
            </a:r>
          </a:p>
          <a:p>
            <a:pPr marL="88900" lvl="0">
              <a:tabLst>
                <a:tab pos="447675" algn="l"/>
              </a:tabLs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https://prtimes.jp/main/html/rd/p/000000412.000027235.html</a:t>
            </a:r>
            <a:endParaRPr lang="en-US" altLang="ja-JP" sz="1100" dirty="0">
              <a:solidFill>
                <a:srgbClr val="000000">
                  <a:lumMod val="95000"/>
                  <a:lumOff val="5000"/>
                </a:srgb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44">
            <a:extLst>
              <a:ext uri="{FF2B5EF4-FFF2-40B4-BE49-F238E27FC236}">
                <a16:creationId xmlns:a16="http://schemas.microsoft.com/office/drawing/2014/main" id="{02177995-9B5C-9C4B-3202-5DD03969179E}"/>
              </a:ext>
            </a:extLst>
          </p:cNvPr>
          <p:cNvSpPr/>
          <p:nvPr/>
        </p:nvSpPr>
        <p:spPr>
          <a:xfrm>
            <a:off x="495424" y="4784484"/>
            <a:ext cx="3561143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最上位となる </a:t>
            </a: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Sales Partner Premier</a:t>
            </a:r>
          </a:p>
        </p:txBody>
      </p:sp>
      <p:sp>
        <p:nvSpPr>
          <p:cNvPr id="9" name="正方形/長方形 54">
            <a:extLst>
              <a:ext uri="{FF2B5EF4-FFF2-40B4-BE49-F238E27FC236}">
                <a16:creationId xmlns:a16="http://schemas.microsoft.com/office/drawing/2014/main" id="{0E12B4F2-0482-55A4-443A-115FC30E22E8}"/>
              </a:ext>
            </a:extLst>
          </p:cNvPr>
          <p:cNvSpPr/>
          <p:nvPr/>
        </p:nvSpPr>
        <p:spPr>
          <a:xfrm>
            <a:off x="4362995" y="4784484"/>
            <a:ext cx="5165666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buClr>
                <a:srgbClr val="002060"/>
              </a:buClr>
              <a:buSzPts val="1600"/>
            </a:pP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Best LINE</a:t>
            </a: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公式アカウント </a:t>
            </a: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Growth </a:t>
            </a: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の受賞を受ける</a:t>
            </a:r>
            <a:endParaRPr lang="en-US" altLang="ja-JP" sz="12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10" name="直線コネクタ 2081">
            <a:extLst>
              <a:ext uri="{FF2B5EF4-FFF2-40B4-BE49-F238E27FC236}">
                <a16:creationId xmlns:a16="http://schemas.microsoft.com/office/drawing/2014/main" id="{530411FF-29F9-73B2-C470-CBF0BA20AC73}"/>
              </a:ext>
            </a:extLst>
          </p:cNvPr>
          <p:cNvCxnSpPr>
            <a:cxnSpLocks/>
          </p:cNvCxnSpPr>
          <p:nvPr/>
        </p:nvCxnSpPr>
        <p:spPr>
          <a:xfrm>
            <a:off x="3212877" y="2980676"/>
            <a:ext cx="6240687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2084">
            <a:extLst>
              <a:ext uri="{FF2B5EF4-FFF2-40B4-BE49-F238E27FC236}">
                <a16:creationId xmlns:a16="http://schemas.microsoft.com/office/drawing/2014/main" id="{D7948E6E-45A1-2B8A-2983-5CE3031B129A}"/>
              </a:ext>
            </a:extLst>
          </p:cNvPr>
          <p:cNvCxnSpPr>
            <a:cxnSpLocks/>
          </p:cNvCxnSpPr>
          <p:nvPr/>
        </p:nvCxnSpPr>
        <p:spPr>
          <a:xfrm>
            <a:off x="412752" y="3985954"/>
            <a:ext cx="5253034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フローチャート: 結合子 2085">
            <a:extLst>
              <a:ext uri="{FF2B5EF4-FFF2-40B4-BE49-F238E27FC236}">
                <a16:creationId xmlns:a16="http://schemas.microsoft.com/office/drawing/2014/main" id="{19617C5C-724A-7FCE-22E5-5B2ECC96F048}"/>
              </a:ext>
            </a:extLst>
          </p:cNvPr>
          <p:cNvSpPr/>
          <p:nvPr/>
        </p:nvSpPr>
        <p:spPr>
          <a:xfrm>
            <a:off x="3076995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フローチャート: 結合子 2086">
            <a:extLst>
              <a:ext uri="{FF2B5EF4-FFF2-40B4-BE49-F238E27FC236}">
                <a16:creationId xmlns:a16="http://schemas.microsoft.com/office/drawing/2014/main" id="{C7AB064F-FD75-D23A-C3F2-7F831805457C}"/>
              </a:ext>
            </a:extLst>
          </p:cNvPr>
          <p:cNvSpPr/>
          <p:nvPr/>
        </p:nvSpPr>
        <p:spPr>
          <a:xfrm>
            <a:off x="970449" y="3759595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フローチャート: 結合子 2088">
            <a:extLst>
              <a:ext uri="{FF2B5EF4-FFF2-40B4-BE49-F238E27FC236}">
                <a16:creationId xmlns:a16="http://schemas.microsoft.com/office/drawing/2014/main" id="{CE0B51F4-2695-E1D7-F353-BA60386FABE4}"/>
              </a:ext>
            </a:extLst>
          </p:cNvPr>
          <p:cNvSpPr/>
          <p:nvPr/>
        </p:nvSpPr>
        <p:spPr>
          <a:xfrm>
            <a:off x="7801859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フローチャート: 結合子 2089">
            <a:extLst>
              <a:ext uri="{FF2B5EF4-FFF2-40B4-BE49-F238E27FC236}">
                <a16:creationId xmlns:a16="http://schemas.microsoft.com/office/drawing/2014/main" id="{6F2861A8-2376-2999-4214-6F268B03A3E1}"/>
              </a:ext>
            </a:extLst>
          </p:cNvPr>
          <p:cNvSpPr/>
          <p:nvPr/>
        </p:nvSpPr>
        <p:spPr>
          <a:xfrm>
            <a:off x="5439427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フローチャート: 結合子 2091">
            <a:extLst>
              <a:ext uri="{FF2B5EF4-FFF2-40B4-BE49-F238E27FC236}">
                <a16:creationId xmlns:a16="http://schemas.microsoft.com/office/drawing/2014/main" id="{11455BE0-024C-CCCF-549A-5895CCF6FCA5}"/>
              </a:ext>
            </a:extLst>
          </p:cNvPr>
          <p:cNvSpPr/>
          <p:nvPr/>
        </p:nvSpPr>
        <p:spPr>
          <a:xfrm>
            <a:off x="5454960" y="3739586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フローチャート: 結合子 2092">
            <a:extLst>
              <a:ext uri="{FF2B5EF4-FFF2-40B4-BE49-F238E27FC236}">
                <a16:creationId xmlns:a16="http://schemas.microsoft.com/office/drawing/2014/main" id="{6A2B7AEE-64D5-5687-4D90-BFEBFB87978F}"/>
              </a:ext>
            </a:extLst>
          </p:cNvPr>
          <p:cNvSpPr/>
          <p:nvPr/>
        </p:nvSpPr>
        <p:spPr>
          <a:xfrm>
            <a:off x="3076995" y="3776603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テキスト ボックス 2093">
            <a:extLst>
              <a:ext uri="{FF2B5EF4-FFF2-40B4-BE49-F238E27FC236}">
                <a16:creationId xmlns:a16="http://schemas.microsoft.com/office/drawing/2014/main" id="{F181EC8C-1DAE-5AF7-1C4D-4C86090B08E7}"/>
              </a:ext>
            </a:extLst>
          </p:cNvPr>
          <p:cNvSpPr txBox="1"/>
          <p:nvPr/>
        </p:nvSpPr>
        <p:spPr>
          <a:xfrm>
            <a:off x="2824561" y="2498440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19" name="テキスト ボックス 2094">
            <a:extLst>
              <a:ext uri="{FF2B5EF4-FFF2-40B4-BE49-F238E27FC236}">
                <a16:creationId xmlns:a16="http://schemas.microsoft.com/office/drawing/2014/main" id="{E9F47648-05F6-7064-8968-91D3649440CE}"/>
              </a:ext>
            </a:extLst>
          </p:cNvPr>
          <p:cNvSpPr txBox="1"/>
          <p:nvPr/>
        </p:nvSpPr>
        <p:spPr>
          <a:xfrm>
            <a:off x="5232177" y="2496209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0" name="テキスト ボックス 2095">
            <a:extLst>
              <a:ext uri="{FF2B5EF4-FFF2-40B4-BE49-F238E27FC236}">
                <a16:creationId xmlns:a16="http://schemas.microsoft.com/office/drawing/2014/main" id="{2C8EEABD-6A90-AA4E-FBA6-2819EBF654DE}"/>
              </a:ext>
            </a:extLst>
          </p:cNvPr>
          <p:cNvSpPr txBox="1"/>
          <p:nvPr/>
        </p:nvSpPr>
        <p:spPr>
          <a:xfrm>
            <a:off x="7623567" y="2492162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1" name="テキスト ボックス 2097">
            <a:extLst>
              <a:ext uri="{FF2B5EF4-FFF2-40B4-BE49-F238E27FC236}">
                <a16:creationId xmlns:a16="http://schemas.microsoft.com/office/drawing/2014/main" id="{CE12257A-0E7E-B895-AF8E-D15F7AA1D62A}"/>
              </a:ext>
            </a:extLst>
          </p:cNvPr>
          <p:cNvSpPr txBox="1"/>
          <p:nvPr/>
        </p:nvSpPr>
        <p:spPr>
          <a:xfrm>
            <a:off x="2895696" y="3511221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2" name="テキスト ボックス 2098">
            <a:extLst>
              <a:ext uri="{FF2B5EF4-FFF2-40B4-BE49-F238E27FC236}">
                <a16:creationId xmlns:a16="http://schemas.microsoft.com/office/drawing/2014/main" id="{82EEA8C2-D18D-B5B9-3D3F-C9BE318BD901}"/>
              </a:ext>
            </a:extLst>
          </p:cNvPr>
          <p:cNvSpPr txBox="1"/>
          <p:nvPr/>
        </p:nvSpPr>
        <p:spPr>
          <a:xfrm>
            <a:off x="589609" y="3475317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8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3" name="テキスト ボックス 2100">
            <a:extLst>
              <a:ext uri="{FF2B5EF4-FFF2-40B4-BE49-F238E27FC236}">
                <a16:creationId xmlns:a16="http://schemas.microsoft.com/office/drawing/2014/main" id="{E6D4C90C-BD24-1939-D716-C6450E2AD8FC}"/>
              </a:ext>
            </a:extLst>
          </p:cNvPr>
          <p:cNvSpPr txBox="1"/>
          <p:nvPr/>
        </p:nvSpPr>
        <p:spPr>
          <a:xfrm>
            <a:off x="309563" y="4310547"/>
            <a:ext cx="196610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6000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の取り扱いを突破。</a:t>
            </a:r>
            <a:endParaRPr kumimoji="1" lang="ja-JP" altLang="en-US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テキスト ボックス 2101">
            <a:extLst>
              <a:ext uri="{FF2B5EF4-FFF2-40B4-BE49-F238E27FC236}">
                <a16:creationId xmlns:a16="http://schemas.microsoft.com/office/drawing/2014/main" id="{756F6552-3CAE-3310-D96A-5D847F286859}"/>
              </a:ext>
            </a:extLst>
          </p:cNvPr>
          <p:cNvSpPr txBox="1"/>
          <p:nvPr/>
        </p:nvSpPr>
        <p:spPr>
          <a:xfrm>
            <a:off x="2105787" y="3209363"/>
            <a:ext cx="2612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年度上半期の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Sales Partner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lang="en-US" altLang="ja-JP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</a:t>
            </a:r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  <a:endParaRPr lang="en-US" altLang="ja-JP" sz="800" b="1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5" name="テキスト ボックス 2102">
            <a:extLst>
              <a:ext uri="{FF2B5EF4-FFF2-40B4-BE49-F238E27FC236}">
                <a16:creationId xmlns:a16="http://schemas.microsoft.com/office/drawing/2014/main" id="{D5793D3E-32A5-A172-B93D-F2E02806685C}"/>
              </a:ext>
            </a:extLst>
          </p:cNvPr>
          <p:cNvSpPr txBox="1"/>
          <p:nvPr/>
        </p:nvSpPr>
        <p:spPr>
          <a:xfrm>
            <a:off x="4837113" y="3209363"/>
            <a:ext cx="176752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の取り扱いを突破。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103">
            <a:extLst>
              <a:ext uri="{FF2B5EF4-FFF2-40B4-BE49-F238E27FC236}">
                <a16:creationId xmlns:a16="http://schemas.microsoft.com/office/drawing/2014/main" id="{89EE1600-592C-F991-FBB3-472A73DB5551}"/>
              </a:ext>
            </a:extLst>
          </p:cNvPr>
          <p:cNvSpPr txBox="1"/>
          <p:nvPr/>
        </p:nvSpPr>
        <p:spPr>
          <a:xfrm>
            <a:off x="1858111" y="4310547"/>
            <a:ext cx="323480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前回に続き、最高グレードである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kumimoji="1"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</a:p>
        </p:txBody>
      </p:sp>
      <p:sp>
        <p:nvSpPr>
          <p:cNvPr id="27" name="テキスト ボックス 2104">
            <a:extLst>
              <a:ext uri="{FF2B5EF4-FFF2-40B4-BE49-F238E27FC236}">
                <a16:creationId xmlns:a16="http://schemas.microsoft.com/office/drawing/2014/main" id="{735B8649-944E-38AC-EFE9-3FF466013418}"/>
              </a:ext>
            </a:extLst>
          </p:cNvPr>
          <p:cNvSpPr txBox="1"/>
          <p:nvPr/>
        </p:nvSpPr>
        <p:spPr>
          <a:xfrm>
            <a:off x="6722972" y="3209363"/>
            <a:ext cx="2758776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前回に続き、最高グレードである「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」に認定。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15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  <a:endParaRPr lang="en-US" altLang="ja-JP" sz="800" b="1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109">
            <a:extLst>
              <a:ext uri="{FF2B5EF4-FFF2-40B4-BE49-F238E27FC236}">
                <a16:creationId xmlns:a16="http://schemas.microsoft.com/office/drawing/2014/main" id="{9364E84A-3501-3480-3E86-4181D9EDDE0D}"/>
              </a:ext>
            </a:extLst>
          </p:cNvPr>
          <p:cNvSpPr txBox="1"/>
          <p:nvPr/>
        </p:nvSpPr>
        <p:spPr>
          <a:xfrm>
            <a:off x="5204477" y="3512494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現在</a:t>
            </a:r>
          </a:p>
        </p:txBody>
      </p:sp>
      <p:sp>
        <p:nvSpPr>
          <p:cNvPr id="29" name="テキスト ボックス 2110">
            <a:extLst>
              <a:ext uri="{FF2B5EF4-FFF2-40B4-BE49-F238E27FC236}">
                <a16:creationId xmlns:a16="http://schemas.microsoft.com/office/drawing/2014/main" id="{915149AC-7723-29BD-6D17-D471CC831F56}"/>
              </a:ext>
            </a:extLst>
          </p:cNvPr>
          <p:cNvSpPr txBox="1"/>
          <p:nvPr/>
        </p:nvSpPr>
        <p:spPr>
          <a:xfrm>
            <a:off x="4684085" y="4310547"/>
            <a:ext cx="233528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Best 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 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Growth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」部門で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ヤフー社から表彰をいただきました。</a:t>
            </a:r>
            <a:endParaRPr kumimoji="1" lang="ja-JP" altLang="en-US" sz="8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0" name="正方形/長方形 7">
            <a:extLst>
              <a:ext uri="{FF2B5EF4-FFF2-40B4-BE49-F238E27FC236}">
                <a16:creationId xmlns:a16="http://schemas.microsoft.com/office/drawing/2014/main" id="{F974FA57-9312-73D0-6461-C65486B6B90A}"/>
              </a:ext>
            </a:extLst>
          </p:cNvPr>
          <p:cNvSpPr/>
          <p:nvPr/>
        </p:nvSpPr>
        <p:spPr>
          <a:xfrm>
            <a:off x="388723" y="675734"/>
            <a:ext cx="9128556" cy="34901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正方形/長方形 2">
            <a:extLst>
              <a:ext uri="{FF2B5EF4-FFF2-40B4-BE49-F238E27FC236}">
                <a16:creationId xmlns:a16="http://schemas.microsoft.com/office/drawing/2014/main" id="{4661DF32-128A-6B77-5F5D-76D78A1B8378}"/>
              </a:ext>
            </a:extLst>
          </p:cNvPr>
          <p:cNvSpPr/>
          <p:nvPr/>
        </p:nvSpPr>
        <p:spPr>
          <a:xfrm>
            <a:off x="2853632" y="700332"/>
            <a:ext cx="6663645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>
              <a:buClr>
                <a:srgbClr val="002060"/>
              </a:buClr>
              <a:buSzPts val="1600"/>
            </a:pP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ヤフー 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Partner Award 2025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にて「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Best LINE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公式アカウント 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Growth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」受賞</a:t>
            </a:r>
            <a:endParaRPr lang="en-US" altLang="ja-JP" sz="13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32" name="正方形/長方形 5">
            <a:extLst>
              <a:ext uri="{FF2B5EF4-FFF2-40B4-BE49-F238E27FC236}">
                <a16:creationId xmlns:a16="http://schemas.microsoft.com/office/drawing/2014/main" id="{DEE7F595-5FAC-C5CD-0B26-580B6DF09A53}"/>
              </a:ext>
            </a:extLst>
          </p:cNvPr>
          <p:cNvSpPr/>
          <p:nvPr/>
        </p:nvSpPr>
        <p:spPr>
          <a:xfrm>
            <a:off x="432943" y="700332"/>
            <a:ext cx="2391617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DYM × LINEOA</a:t>
            </a:r>
            <a:endParaRPr lang="en-US" altLang="ja-JP" sz="14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6B503BF7-985B-8770-4643-5E3EB6E55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9689" y="5150774"/>
            <a:ext cx="1929199" cy="1286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プレースホルダー 2">
            <a:extLst>
              <a:ext uri="{FF2B5EF4-FFF2-40B4-BE49-F238E27FC236}">
                <a16:creationId xmlns:a16="http://schemas.microsoft.com/office/drawing/2014/main" id="{761ADAB8-B668-8B05-EDE6-B5003466E015}"/>
              </a:ext>
            </a:extLst>
          </p:cNvPr>
          <p:cNvSpPr txBox="1">
            <a:spLocks/>
          </p:cNvSpPr>
          <p:nvPr/>
        </p:nvSpPr>
        <p:spPr>
          <a:xfrm>
            <a:off x="8209814" y="6217102"/>
            <a:ext cx="676273" cy="1577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lvl="0"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lang="ja-JP" altLang="en-US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受賞時の</a:t>
            </a:r>
            <a:r>
              <a:rPr lang="en-US" altLang="ja-JP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1</a:t>
            </a:r>
            <a:r>
              <a:rPr lang="ja-JP" altLang="en-US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枚</a:t>
            </a:r>
            <a:endParaRPr lang="en-US" altLang="ja-JP" sz="700" dirty="0">
              <a:solidFill>
                <a:schemeClr val="bg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35" name="図 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FAB445F-372A-C0D2-7552-790613769A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069" y="4654614"/>
            <a:ext cx="2886575" cy="2294826"/>
          </a:xfrm>
          <a:prstGeom prst="rect">
            <a:avLst/>
          </a:prstGeom>
        </p:spPr>
      </p:pic>
      <p:sp>
        <p:nvSpPr>
          <p:cNvPr id="36" name="テキスト ボックス 9">
            <a:extLst>
              <a:ext uri="{FF2B5EF4-FFF2-40B4-BE49-F238E27FC236}">
                <a16:creationId xmlns:a16="http://schemas.microsoft.com/office/drawing/2014/main" id="{F7A1F49B-800C-42EE-5308-93E8C2B2E88F}"/>
              </a:ext>
            </a:extLst>
          </p:cNvPr>
          <p:cNvSpPr txBox="1"/>
          <p:nvPr/>
        </p:nvSpPr>
        <p:spPr>
          <a:xfrm>
            <a:off x="2535025" y="5767731"/>
            <a:ext cx="4963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現在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Sales Partner Premier</a:t>
            </a:r>
          </a:p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は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を合わせて</a:t>
            </a:r>
            <a:r>
              <a:rPr lang="en-US" altLang="ja-JP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社が認定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未上場企業では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唯一で最上位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9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143215</TotalTime>
  <Words>2427</Words>
  <Application>Microsoft Office PowerPoint</Application>
  <PresentationFormat>A4 210 x 297 mm</PresentationFormat>
  <Paragraphs>609</Paragraphs>
  <Slides>24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2026-09-30T07:01:30Z</dcterms:modified>
</cp:coreProperties>
</file>