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10"/>
  </p:notesMasterIdLst>
  <p:handoutMasterIdLst>
    <p:handoutMasterId r:id="rId11"/>
  </p:handoutMasterIdLst>
  <p:sldIdLst>
    <p:sldId id="257" r:id="rId3"/>
    <p:sldId id="256" r:id="rId4"/>
    <p:sldId id="259" r:id="rId5"/>
    <p:sldId id="260" r:id="rId6"/>
    <p:sldId id="262" r:id="rId7"/>
    <p:sldId id="258" r:id="rId8"/>
    <p:sldId id="261" r:id="rId9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jpg"/><Relationship Id="rId8" Type="http://schemas.openxmlformats.org/officeDocument/2006/relationships/image" Target="../media/image10.jpe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hyperlink" Target="https://youtube.com/shorts/0qI4QgrOppQ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サンクスLINE｜機能・費用</a:t>
            </a:r>
            <a:endParaRPr lang="en-US" altLang="ja-JP"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6123840" y="2144236"/>
            <a:ext cx="2487570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6123841" y="4317370"/>
            <a:ext cx="2487569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6161261" y="1989652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未追加の場合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6161261" y="4195296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追加済みの場合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>
            <a:cxnSpLocks/>
          </p:cNvCxnSpPr>
          <p:nvPr/>
        </p:nvCxnSpPr>
        <p:spPr>
          <a:xfrm flipV="1">
            <a:off x="5819550" y="2932418"/>
            <a:ext cx="318138" cy="42170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5819550" y="3354124"/>
            <a:ext cx="280718" cy="139276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18319" y="2173082"/>
            <a:ext cx="1000253" cy="1694141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27889" y="4316771"/>
            <a:ext cx="1000253" cy="1694142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6161261" y="2335961"/>
            <a:ext cx="1227667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友だち登録ページ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6157879" y="4570201"/>
            <a:ext cx="1338278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トーク画面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遷移する。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873" y="2950101"/>
            <a:ext cx="921141" cy="89556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776" y="2949394"/>
            <a:ext cx="389971" cy="86660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883" y="4314411"/>
            <a:ext cx="271710" cy="60381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708" y="4438236"/>
            <a:ext cx="271710" cy="60381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7855110" y="2591706"/>
            <a:ext cx="321750" cy="32175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693249" y="1644209"/>
            <a:ext cx="1142154" cy="284103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1869100" y="2879016"/>
            <a:ext cx="205320" cy="182781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693249" y="4241092"/>
            <a:ext cx="1142154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</a:t>
            </a: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471" y="2042343"/>
            <a:ext cx="1015294" cy="1834505"/>
          </a:xfrm>
          <a:prstGeom prst="rect">
            <a:avLst/>
          </a:prstGeom>
        </p:spPr>
      </p:pic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2102458" y="1617265"/>
            <a:ext cx="1225682" cy="28410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2100228" y="4219785"/>
            <a:ext cx="1225683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サンクス画面へ</a:t>
            </a:r>
            <a:endParaRPr lang="en-US" altLang="ja-JP" sz="85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2195552" y="2083381"/>
            <a:ext cx="1066362" cy="1789421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3292898" y="1459246"/>
            <a:ext cx="250223" cy="33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1261302" y="837894"/>
            <a:ext cx="2523077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282" tIns="45700" rIns="74282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algn="ctr">
                <a:buSzPts val="1400"/>
              </a:pPr>
              <a:endParaRPr b="1" dirty="0">
                <a:solidFill>
                  <a:schemeClr val="lt1"/>
                </a:solidFill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lIns="74295" rIns="74295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サンクス</a:t>
              </a:r>
              <a:r>
                <a:rPr lang="en-US" altLang="ja-JP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LINE</a:t>
              </a: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7729169" y="4623314"/>
            <a:ext cx="730843" cy="649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4180596" y="846996"/>
            <a:ext cx="4575836" cy="307777"/>
          </a:xfrm>
          <a:prstGeom prst="rect">
            <a:avLst/>
          </a:prstGeom>
        </p:spPr>
        <p:txBody>
          <a:bodyPr wrap="square" lIns="74295" rIns="74295">
            <a:sp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フォーム送信後の</a:t>
            </a:r>
            <a:r>
              <a:rPr lang="en-US" altLang="ja-JP" sz="14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誘導を自動化するツール</a:t>
            </a:r>
            <a:endParaRPr lang="en-US" altLang="ja-JP" sz="1400" dirty="0"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4180597" y="1172815"/>
            <a:ext cx="3833883" cy="230832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既存</a:t>
            </a:r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API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ツールとの併用についても、問題なく稼働が可能。</a:t>
            </a:r>
            <a:endParaRPr lang="ja-JP" altLang="en-US" sz="90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6097538" y="1666571"/>
            <a:ext cx="2513872" cy="284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1209560" y="1525688"/>
            <a:ext cx="1510467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2BEACA-AA0E-EFF8-CDF2-B0A5B5884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2518" y="3590272"/>
            <a:ext cx="379108" cy="6998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71BE53-7CD8-C375-2A00-B224602AC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4699" y="2111288"/>
            <a:ext cx="379108" cy="6998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7D71D80-6086-B1B4-3E2C-EE891B12909E}"/>
              </a:ext>
            </a:extLst>
          </p:cNvPr>
          <p:cNvSpPr/>
          <p:nvPr/>
        </p:nvSpPr>
        <p:spPr>
          <a:xfrm>
            <a:off x="1511868" y="4640731"/>
            <a:ext cx="3960179" cy="659955"/>
          </a:xfrm>
          <a:prstGeom prst="roundRect">
            <a:avLst>
              <a:gd name="adj" fmla="val 25327"/>
            </a:avLst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フォーム入力内容を</a:t>
            </a:r>
            <a:b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トーク入力画面へ引き継ぎ可能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66CF79B-D322-06BC-F342-DE710BE7473B}"/>
              </a:ext>
            </a:extLst>
          </p:cNvPr>
          <p:cNvCxnSpPr>
            <a:cxnSpLocks/>
          </p:cNvCxnSpPr>
          <p:nvPr/>
        </p:nvCxnSpPr>
        <p:spPr>
          <a:xfrm flipH="1" flipV="1">
            <a:off x="1145256" y="4485242"/>
            <a:ext cx="515326" cy="48546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5284944" y="2415812"/>
            <a:ext cx="530810" cy="1821208"/>
          </a:xfrm>
          <a:prstGeom prst="rect">
            <a:avLst/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開発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48" name="矢印: 右 1047">
            <a:extLst>
              <a:ext uri="{FF2B5EF4-FFF2-40B4-BE49-F238E27FC236}">
                <a16:creationId xmlns:a16="http://schemas.microsoft.com/office/drawing/2014/main" id="{6A5BBE8E-2B42-49E0-686B-A6584B59E72F}"/>
              </a:ext>
            </a:extLst>
          </p:cNvPr>
          <p:cNvSpPr/>
          <p:nvPr/>
        </p:nvSpPr>
        <p:spPr>
          <a:xfrm>
            <a:off x="3398999" y="3203047"/>
            <a:ext cx="1843892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1050" name="吹き出し: 角を丸めた四角形 1049">
            <a:extLst>
              <a:ext uri="{FF2B5EF4-FFF2-40B4-BE49-F238E27FC236}">
                <a16:creationId xmlns:a16="http://schemas.microsoft.com/office/drawing/2014/main" id="{0D7606B7-7AEE-445F-FB97-74913C4A4F60}"/>
              </a:ext>
            </a:extLst>
          </p:cNvPr>
          <p:cNvSpPr/>
          <p:nvPr/>
        </p:nvSpPr>
        <p:spPr>
          <a:xfrm>
            <a:off x="3492025" y="2641849"/>
            <a:ext cx="1624523" cy="476757"/>
          </a:xfrm>
          <a:prstGeom prst="wedgeRoundRectCallout">
            <a:avLst/>
          </a:prstGeom>
          <a:solidFill>
            <a:srgbClr val="FDFDFD"/>
          </a:solidFill>
          <a:ln w="19050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完了後約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2~3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秒で</a:t>
            </a:r>
            <a:b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5B4E7079-E54A-2282-BDB8-487FFE5E8981}"/>
              </a:ext>
            </a:extLst>
          </p:cNvPr>
          <p:cNvCxnSpPr>
            <a:cxnSpLocks/>
          </p:cNvCxnSpPr>
          <p:nvPr/>
        </p:nvCxnSpPr>
        <p:spPr>
          <a:xfrm>
            <a:off x="5242891" y="4971540"/>
            <a:ext cx="2486278" cy="256434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矢印: 右 6">
            <a:extLst>
              <a:ext uri="{FF2B5EF4-FFF2-40B4-BE49-F238E27FC236}">
                <a16:creationId xmlns:a16="http://schemas.microsoft.com/office/drawing/2014/main" id="{9EC51A72-DCD0-B1E9-7CCE-6674E65DC641}"/>
              </a:ext>
            </a:extLst>
          </p:cNvPr>
          <p:cNvSpPr/>
          <p:nvPr/>
        </p:nvSpPr>
        <p:spPr>
          <a:xfrm rot="5400000">
            <a:off x="6436767" y="3831408"/>
            <a:ext cx="349205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3DEB8AF5-27EB-F2A5-5738-9D4876D62932}"/>
              </a:ext>
            </a:extLst>
          </p:cNvPr>
          <p:cNvSpPr/>
          <p:nvPr/>
        </p:nvSpPr>
        <p:spPr>
          <a:xfrm>
            <a:off x="1331634" y="5386674"/>
            <a:ext cx="3965148" cy="1126724"/>
          </a:xfrm>
          <a:prstGeom prst="roundRect">
            <a:avLst>
              <a:gd name="adj" fmla="val 8129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F4AEE4F6-B4F2-3B63-B340-970573C6BC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62" y="5422614"/>
            <a:ext cx="1068810" cy="1060107"/>
          </a:xfrm>
          <a:prstGeom prst="rect">
            <a:avLst/>
          </a:prstGeom>
        </p:spPr>
      </p:pic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9E529396-156F-55A0-24A1-E3F30C8D079F}"/>
              </a:ext>
            </a:extLst>
          </p:cNvPr>
          <p:cNvSpPr txBox="1"/>
          <p:nvPr/>
        </p:nvSpPr>
        <p:spPr>
          <a:xfrm>
            <a:off x="2607260" y="6011736"/>
            <a:ext cx="17402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QRコードを読み取って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動画を見る（約22秒）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A39FB9E-0354-C79E-71A4-67DB6A28B75A}"/>
              </a:ext>
            </a:extLst>
          </p:cNvPr>
          <p:cNvSpPr txBox="1"/>
          <p:nvPr/>
        </p:nvSpPr>
        <p:spPr>
          <a:xfrm>
            <a:off x="4032248" y="5546685"/>
            <a:ext cx="869321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再生</a:t>
            </a:r>
            <a:r>
              <a:rPr lang="ja-JP" altLang="en-US" sz="1200" dirty="0">
                <a:solidFill>
                  <a:srgbClr val="00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[▷]</a:t>
            </a:r>
            <a:endParaRPr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2099EF7-D4DC-D52C-E0A5-F84C559A9E47}"/>
              </a:ext>
            </a:extLst>
          </p:cNvPr>
          <p:cNvSpPr txBox="1"/>
          <p:nvPr/>
        </p:nvSpPr>
        <p:spPr>
          <a:xfrm>
            <a:off x="2648894" y="5570417"/>
            <a:ext cx="17402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クリックして再生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広告と一緒にサンクスLINEを実施する理由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3500" y="792000"/>
            <a:ext cx="4212000" cy="3564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7500" y="990000"/>
            <a:ext cx="1053000" cy="324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CV獲得まで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89000" y="864000"/>
            <a:ext cx="2749500" cy="57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施策全体の 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CPA</a:t>
            </a: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 改善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3750" y="1548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2685150" y="1998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1023750" y="2142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2685150" y="2592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1023750" y="2736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 × 成果報酬施策</a:t>
            </a: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2685150" y="3186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1023750" y="3330000"/>
            <a:ext cx="34515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000" y="3950095"/>
            <a:ext cx="3861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CVの取りこぼしを減らし施策全体のCPAを改善</a:t>
            </a:r>
            <a:endParaRPr sz="10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60250" y="792000"/>
            <a:ext cx="4212000" cy="3564000"/>
          </a:xfrm>
          <a:prstGeom prst="roundRect">
            <a:avLst>
              <a:gd name="adj" fmla="val 4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94250" y="990000"/>
            <a:ext cx="1053000" cy="324000"/>
          </a:xfrm>
          <a:prstGeom prst="roundRect">
            <a:avLst>
              <a:gd name="adj" fmla="val 50000"/>
            </a:avLst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749" y="864000"/>
            <a:ext cx="2749500" cy="57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CPO</a:t>
            </a:r>
            <a:r>
              <a:rPr sz="15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 の改善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500" y="1548000"/>
            <a:ext cx="3451500" cy="413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9" name="Isosceles Triangle 18"/>
          <p:cNvSpPr/>
          <p:nvPr/>
        </p:nvSpPr>
        <p:spPr>
          <a:xfrm rot="10800000">
            <a:off x="7101900" y="1998000"/>
            <a:ext cx="128700" cy="108000"/>
          </a:xfrm>
          <a:prstGeom prst="triangle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20" name="Rectangle 19"/>
          <p:cNvSpPr/>
          <p:nvPr/>
        </p:nvSpPr>
        <p:spPr>
          <a:xfrm>
            <a:off x="5440500" y="2142000"/>
            <a:ext cx="34515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21" name="Isosceles Triangle 20"/>
          <p:cNvSpPr/>
          <p:nvPr/>
        </p:nvSpPr>
        <p:spPr>
          <a:xfrm rot="10800000">
            <a:off x="7101900" y="2592000"/>
            <a:ext cx="1287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5440500" y="2736000"/>
            <a:ext cx="34515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LINEでナーチャリング</a:t>
            </a:r>
          </a:p>
        </p:txBody>
      </p:sp>
      <p:sp>
        <p:nvSpPr>
          <p:cNvPr id="23" name="Isosceles Triangle 22"/>
          <p:cNvSpPr/>
          <p:nvPr/>
        </p:nvSpPr>
        <p:spPr>
          <a:xfrm rot="10800000">
            <a:off x="7101900" y="3186000"/>
            <a:ext cx="1287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5440500" y="3330000"/>
            <a:ext cx="3451500" cy="413999"/>
          </a:xfrm>
          <a:prstGeom prst="rect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購入・契約など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35750" y="3950096"/>
            <a:ext cx="3861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CV後の歩留まりを改善し、CPOを改善</a:t>
            </a:r>
          </a:p>
        </p:txBody>
      </p:sp>
      <p:sp>
        <p:nvSpPr>
          <p:cNvPr id="26" name="Pentagon 25"/>
          <p:cNvSpPr/>
          <p:nvPr/>
        </p:nvSpPr>
        <p:spPr>
          <a:xfrm>
            <a:off x="643500" y="4536000"/>
            <a:ext cx="2934750" cy="684000"/>
          </a:xfrm>
          <a:prstGeom prst="homePlate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760500" y="4741330"/>
            <a:ext cx="2583749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CPOの改善</a:t>
            </a:r>
            <a:endParaRPr sz="140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3490500" y="4536000"/>
            <a:ext cx="293475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3753750" y="4741330"/>
            <a:ext cx="2437499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許容CPAの引き上げ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6337499" y="4536000"/>
            <a:ext cx="293475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6600749" y="4741330"/>
            <a:ext cx="2437499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広告配信の拡大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9126000" y="5256000"/>
            <a:ext cx="0" cy="16200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9750" y="5418000"/>
            <a:ext cx="833625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89750" y="5263200"/>
            <a:ext cx="0" cy="1548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349124" y="5292000"/>
            <a:ext cx="3217500" cy="25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さらに成果が増えれば、再投資して継続的に拡大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500" y="5652000"/>
            <a:ext cx="8628750" cy="61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3500" y="5652000"/>
            <a:ext cx="8628750" cy="612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広告とあわせて実施することで、</a:t>
            </a:r>
            <a:r>
              <a:rPr sz="1600" b="1">
                <a:solidFill>
                  <a:srgbClr val="FFE400"/>
                </a:solidFill>
                <a:latin typeface="メイリオ"/>
                <a:ea typeface="メイリオ"/>
                <a:cs typeface="メイリオ"/>
              </a:rPr>
              <a:t>事業全体の効率化</a:t>
            </a: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を図る。</a:t>
            </a:r>
          </a:p>
        </p:txBody>
      </p:sp>
      <p:sp>
        <p:nvSpPr>
          <p:cNvPr id="39" name="Rounded Rectangle 15">
            <a:extLst>
              <a:ext uri="{FF2B5EF4-FFF2-40B4-BE49-F238E27FC236}">
                <a16:creationId xmlns:a16="http://schemas.microsoft.com/office/drawing/2014/main" id="{E32FF46F-8EC5-84E2-0196-27AFC801F6CB}"/>
              </a:ext>
            </a:extLst>
          </p:cNvPr>
          <p:cNvSpPr/>
          <p:nvPr/>
        </p:nvSpPr>
        <p:spPr>
          <a:xfrm>
            <a:off x="8065876" y="985508"/>
            <a:ext cx="1274130" cy="324000"/>
          </a:xfrm>
          <a:prstGeom prst="roundRect">
            <a:avLst>
              <a:gd name="adj" fmla="val 39249"/>
            </a:avLst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重要性 </a:t>
            </a:r>
            <a:r>
              <a:rPr lang="en-US" altLang="ja-JP"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UP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サンクスLINE｜導入・活用実績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LINE活用の参考事例と、サンクスLINE誘導ツールの導入実績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548000"/>
            <a:ext cx="8629200" cy="13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980000"/>
            <a:ext cx="3131999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クリニック｜LINE活用による来院率改善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400" y="2250000"/>
            <a:ext cx="1548000" cy="19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弊社運用の実績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1999" y="2034000"/>
            <a:ext cx="990000" cy="413999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" tIns="7200" rIns="10800" bIns="7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予約完了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63600" y="2241000"/>
            <a:ext cx="1008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86000" y="2034000"/>
            <a:ext cx="990000" cy="413999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" tIns="7200" rIns="10800" bIns="7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97600" y="2241000"/>
            <a:ext cx="1008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120000" y="2034000"/>
            <a:ext cx="9900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" tIns="7200" rIns="10800" bIns="7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予約確認・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前日のお知らせ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2000" y="1853999"/>
            <a:ext cx="2034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予約後の来院率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2000" y="2051999"/>
            <a:ext cx="2034000" cy="503999"/>
          </a:xfrm>
          <a:prstGeom prst="rect">
            <a:avLst/>
          </a:prstGeom>
          <a:noFill/>
        </p:spPr>
        <p:txBody>
          <a:bodyPr wrap="non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40〜50%</a:t>
            </a: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改善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400" y="3078000"/>
            <a:ext cx="3780000" cy="27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人材業界｜サンクスLINE誘導ツール導入実績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6399" y="3114000"/>
            <a:ext cx="1152000" cy="198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DYMの導入実績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導入前後3か月比較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00" y="3761999"/>
            <a:ext cx="1188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00" y="3923999"/>
            <a:ext cx="1188000" cy="30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1,532人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958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28399" y="3761999"/>
            <a:ext cx="1188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8399" y="3923999"/>
            <a:ext cx="1188000" cy="30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8400" y="4320000"/>
            <a:ext cx="25919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6400" y="4373999"/>
            <a:ext cx="2736000" cy="57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導入前比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137.3%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400" y="4986000"/>
            <a:ext cx="2736000" cy="28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+571人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2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32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前年同期間比較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0400" y="3761999"/>
            <a:ext cx="1188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2025年7〜9月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0400" y="3923999"/>
            <a:ext cx="1188000" cy="30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1,650人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946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6399" y="3761999"/>
            <a:ext cx="1188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2026年7〜9月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6399" y="3923999"/>
            <a:ext cx="1188000" cy="30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76400" y="4320000"/>
            <a:ext cx="2592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704399" y="4373999"/>
            <a:ext cx="2736000" cy="57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127.5%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4399" y="4986000"/>
            <a:ext cx="2736000" cy="28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+453人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399" y="3420000"/>
            <a:ext cx="26172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月別比較（友だち増加数・人）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92400" y="3625199"/>
            <a:ext cx="108000" cy="108000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8399" y="3571200"/>
            <a:ext cx="684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20400" y="3625199"/>
            <a:ext cx="108000" cy="10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46399" y="3571200"/>
            <a:ext cx="684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88799" y="4259114"/>
            <a:ext cx="288000" cy="690885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0799" y="4079114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575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19999" y="4211052"/>
            <a:ext cx="288000" cy="738947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11999" y="4031052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0399" y="4968000"/>
            <a:ext cx="756000" cy="151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0399" y="5112000"/>
            <a:ext cx="756000" cy="180000"/>
          </a:xfrm>
          <a:prstGeom prst="rect">
            <a:avLst/>
          </a:prstGeom>
          <a:noFill/>
        </p:spPr>
        <p:txBody>
          <a:bodyPr wrap="non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107%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16800" y="4330005"/>
            <a:ext cx="288000" cy="619994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8799" y="4150005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47999" y="4014000"/>
            <a:ext cx="288000" cy="93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39999" y="3834000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779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8399" y="4968000"/>
            <a:ext cx="756000" cy="151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8月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48399" y="5112000"/>
            <a:ext cx="756000" cy="180000"/>
          </a:xfrm>
          <a:prstGeom prst="rect">
            <a:avLst/>
          </a:prstGeom>
          <a:noFill/>
        </p:spPr>
        <p:txBody>
          <a:bodyPr wrap="non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151%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44800" y="4278338"/>
            <a:ext cx="288000" cy="671661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36800" y="4098338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559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76000" y="4098107"/>
            <a:ext cx="288000" cy="851892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7999" y="3918107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6399" y="4968000"/>
            <a:ext cx="756000" cy="151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6399" y="5112000"/>
            <a:ext cx="756000" cy="180000"/>
          </a:xfrm>
          <a:prstGeom prst="rect">
            <a:avLst/>
          </a:prstGeom>
          <a:noFill/>
        </p:spPr>
        <p:txBody>
          <a:bodyPr wrap="non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127%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28399" y="4950000"/>
            <a:ext cx="2509201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644400" y="5598000"/>
            <a:ext cx="8629200" cy="34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サンクスLINE誘導ツールの導入後、友だち増加数が導入前比137.3%、前年比127.5%に改善。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400" y="5993999"/>
            <a:ext cx="8629200" cy="34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※上段は弊社運用の実績（美容クリニック・LINE活用による来院率の改善）。サンクスLINE誘導ツールの実績とは別。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※下段はサンクスLINE誘導ツール導入前後の友だち増加数（人材業界）。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953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3500" y="3978000"/>
            <a:ext cx="8619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hanks_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886" y="1899562"/>
            <a:ext cx="1439613" cy="17988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11438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500" y="1799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500" y="2322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681875" y="2700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9215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17874" y="2700000"/>
            <a:ext cx="676137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3500" y="3221999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500" y="3420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前日リマインド／求人紹介／選考のご案内</a:t>
            </a:r>
            <a:endParaRPr sz="10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7" name="Picture 16" descr="thanks_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886" y="1899562"/>
            <a:ext cx="1439613" cy="1798875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5096438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9500" y="1799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8500" y="2322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altLang="ja-JP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  <a:endParaRPr lang="ja-JP" alt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66875" y="2700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65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2875" y="2700000"/>
            <a:ext cx="676136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128500" y="3221999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8500" y="3420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面談リマインド／セミナー案内／物件情報</a:t>
            </a:r>
          </a:p>
        </p:txBody>
      </p:sp>
      <p:pic>
        <p:nvPicPr>
          <p:cNvPr id="26" name="Picture 25" descr="thanks_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886" y="4257562"/>
            <a:ext cx="1439613" cy="1798875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11438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500" y="4157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altLang="ja-JP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EC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3500" y="4680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  <a:endParaRPr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1681875" y="5058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9215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17874" y="5058000"/>
            <a:ext cx="676137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3500" y="5580000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500" y="5778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限定商品の案内／キャンペーン・クーポン</a:t>
            </a:r>
          </a:p>
        </p:txBody>
      </p:sp>
      <p:pic>
        <p:nvPicPr>
          <p:cNvPr id="35" name="Picture 34" descr="thanks_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886" y="4257562"/>
            <a:ext cx="1439613" cy="1798875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5096438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79500" y="4157402"/>
            <a:ext cx="2047500" cy="307195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8500" y="4680000"/>
            <a:ext cx="9945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----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  <a:endParaRPr lang="en-US" sz="10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6166875" y="5058000"/>
            <a:ext cx="26325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4065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02875" y="5058000"/>
            <a:ext cx="676136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28500" y="5580000"/>
            <a:ext cx="2635886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8500" y="5778000"/>
            <a:ext cx="2635886" cy="205629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見学会の案内／土地情報／個別相談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6516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ハードルの低いCVからLINEにつなぎ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契約・購入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31517"/>
            <a:ext cx="9111472" cy="316966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ハードル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が低い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を入り口とし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</a:t>
            </a:r>
            <a:r>
              <a:rPr lang="en-US" altLang="ja-JP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でナーチャリングを経て、契約・購入につなげる。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643500" y="2592000"/>
            <a:ext cx="969545" cy="1188000"/>
          </a:xfrm>
          <a:prstGeom prst="homePlate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31250" y="3066258"/>
            <a:ext cx="706295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Chevron 7"/>
          <p:cNvSpPr/>
          <p:nvPr/>
        </p:nvSpPr>
        <p:spPr>
          <a:xfrm>
            <a:off x="1510670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1778881" y="3066258"/>
            <a:ext cx="847840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簡易ページ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2636386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2841136" y="2964691"/>
            <a:ext cx="8478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ハードル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低いCV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762102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966852" y="2964691"/>
            <a:ext cx="8478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14" name="Chevron 13"/>
          <p:cNvSpPr/>
          <p:nvPr/>
        </p:nvSpPr>
        <p:spPr>
          <a:xfrm>
            <a:off x="4887818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5092568" y="2964691"/>
            <a:ext cx="8478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6" name="Chevron 15"/>
          <p:cNvSpPr/>
          <p:nvPr/>
        </p:nvSpPr>
        <p:spPr>
          <a:xfrm>
            <a:off x="6013534" y="2592000"/>
            <a:ext cx="1583590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6218284" y="2964691"/>
            <a:ext cx="1203340" cy="44261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ナーチャリング</a:t>
            </a:r>
          </a:p>
        </p:txBody>
      </p:sp>
      <p:sp>
        <p:nvSpPr>
          <p:cNvPr id="18" name="Chevron 17"/>
          <p:cNvSpPr/>
          <p:nvPr/>
        </p:nvSpPr>
        <p:spPr>
          <a:xfrm>
            <a:off x="7494749" y="2592000"/>
            <a:ext cx="177750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7699499" y="3066257"/>
            <a:ext cx="1397250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など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3500" y="2160000"/>
            <a:ext cx="3177102" cy="504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500" y="1890000"/>
            <a:ext cx="2340000" cy="27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AD・獲得領域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35227" y="2160000"/>
            <a:ext cx="5437022" cy="504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35227" y="1890000"/>
            <a:ext cx="2340000" cy="27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27914" y="1908000"/>
            <a:ext cx="0" cy="3348000"/>
          </a:xfrm>
          <a:prstGeom prst="line">
            <a:avLst/>
          </a:prstGeom>
          <a:ln w="1587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358102" y="3996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簡易診断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58102" y="4302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チェックコンテンツ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58102" y="4608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資料DL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04115" y="3996000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情報提供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04115" y="4302000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04115" y="4608000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04115" y="4913999"/>
            <a:ext cx="2351311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個別フォロー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500" y="5578981"/>
            <a:ext cx="8628750" cy="578038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ハードルが低い</a:t>
            </a:r>
            <a:r>
              <a:rPr lang="en-US" altLang="ja-JP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を獲得するため該当のページ制作から、</a:t>
            </a:r>
            <a:endParaRPr lang="en-US" altLang="ja-JP" sz="16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サンクス</a:t>
            </a:r>
            <a:r>
              <a:rPr lang="en-US" altLang="ja-JP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6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誘導・ナーチャリングを一気通貫で対応可能</a:t>
            </a:r>
            <a:endParaRPr sz="16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前後検索データを活用したステップ配信設計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友だち追加直後で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アクション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率が高い時に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ユーザーの検討行動に合わせた配信を設計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14812" y="162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25" y="1842343"/>
            <a:ext cx="2515500" cy="510327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前後検</a:t>
            </a:r>
            <a:r>
              <a:rPr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索</a:t>
            </a: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lang="en-US" altLang="ja-JP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LY</a:t>
            </a: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生データ）</a:t>
            </a:r>
            <a:endParaRPr lang="en-US"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⇒ユーザーの</a:t>
            </a: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ニーズを把握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43500" y="2443339"/>
            <a:ext cx="25155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452062" y="162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0750" y="1987330"/>
            <a:ext cx="2515500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配信内容・順番を設計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80750" y="2443339"/>
            <a:ext cx="25155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89312" y="1620000"/>
            <a:ext cx="306000" cy="306000"/>
          </a:xfrm>
          <a:prstGeom prst="ellips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7999" y="1987330"/>
            <a:ext cx="2954250" cy="27334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追加直後で</a:t>
            </a: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アクション</a:t>
            </a:r>
            <a:r>
              <a:rPr lang="ja-JP" altLang="en-US"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が起きやすい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317999" y="2443339"/>
            <a:ext cx="2954251" cy="0"/>
          </a:xfrm>
          <a:prstGeom prst="line">
            <a:avLst/>
          </a:prstGeom>
          <a:ln w="19050">
            <a:solidFill>
              <a:srgbClr val="0B7A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Arrow 17"/>
          <p:cNvSpPr/>
          <p:nvPr/>
        </p:nvSpPr>
        <p:spPr>
          <a:xfrm>
            <a:off x="3202875" y="3595339"/>
            <a:ext cx="234000" cy="468000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9" name="Right Arrow 18"/>
          <p:cNvSpPr/>
          <p:nvPr/>
        </p:nvSpPr>
        <p:spPr>
          <a:xfrm>
            <a:off x="6040124" y="3595339"/>
            <a:ext cx="234000" cy="468000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cxnSp>
        <p:nvCxnSpPr>
          <p:cNvPr id="20" name="Connector 19"/>
          <p:cNvCxnSpPr/>
          <p:nvPr/>
        </p:nvCxnSpPr>
        <p:spPr>
          <a:xfrm>
            <a:off x="848250" y="4171339"/>
            <a:ext cx="2281500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8250" y="2659339"/>
            <a:ext cx="0" cy="151200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989000" y="2659339"/>
            <a:ext cx="0" cy="151200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4250" y="2839339"/>
            <a:ext cx="234000" cy="180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UU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856" y="4178539"/>
            <a:ext cx="334788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-15日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771" y="4178539"/>
            <a:ext cx="270669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-7日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5811" y="4178539"/>
            <a:ext cx="270669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-3日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9396" y="4178539"/>
            <a:ext cx="559209" cy="307195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(検索起点)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3963" y="4178539"/>
            <a:ext cx="225784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3日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9003" y="4178539"/>
            <a:ext cx="225784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7日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84798" y="4178539"/>
            <a:ext cx="289904" cy="171773"/>
          </a:xfrm>
          <a:prstGeom prst="rect">
            <a:avLst/>
          </a:prstGeom>
          <a:noFill/>
        </p:spPr>
        <p:txBody>
          <a:bodyPr wrap="none" lIns="29250" tIns="18000" rIns="2925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15日</a:t>
            </a:r>
          </a:p>
        </p:txBody>
      </p:sp>
      <p:sp>
        <p:nvSpPr>
          <p:cNvPr id="31" name="Oval 30"/>
          <p:cNvSpPr/>
          <p:nvPr/>
        </p:nvSpPr>
        <p:spPr>
          <a:xfrm>
            <a:off x="2174974" y="274483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235274" y="2744831"/>
            <a:ext cx="218467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973582" y="280076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335968" y="304864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007339" y="307113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566087" y="307201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626387" y="3072012"/>
            <a:ext cx="149086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224222" y="307361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732481" y="310039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075299" y="311427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248154" y="313799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08454" y="3137999"/>
            <a:ext cx="15143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243256" y="320979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195314" y="321725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701768" y="330026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762965" y="340874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823265" y="3408746"/>
            <a:ext cx="99054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764070" y="346994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012988" y="350577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554709" y="351370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695035" y="352781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755335" y="3527816"/>
            <a:ext cx="101200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754402" y="352862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222114" y="353613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870393" y="356019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490680" y="356701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2550980" y="3567010"/>
            <a:ext cx="13284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803295" y="361829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007748" y="366502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679031" y="367068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798546" y="367960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858846" y="3679609"/>
            <a:ext cx="122598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346384" y="368396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708212" y="3728259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885936" y="378458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973201" y="380867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2033501" y="3808677"/>
            <a:ext cx="196848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434276" y="382729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502102" y="384878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103102" y="385231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431684" y="385694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2491984" y="3856944"/>
            <a:ext cx="10899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957112" y="389125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071759" y="391093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327210" y="391322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094264" y="392384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2154564" y="3923847"/>
            <a:ext cx="90790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509761" y="393643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344056" y="393931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61964" y="394440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896624" y="394869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1956924" y="3948694"/>
            <a:ext cx="212923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947040" y="395815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489551" y="398534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382012" y="401985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6" name="Oval 85"/>
          <p:cNvSpPr/>
          <p:nvPr/>
        </p:nvSpPr>
        <p:spPr>
          <a:xfrm>
            <a:off x="1606119" y="402604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7" name="Rounded Rectangle 86"/>
          <p:cNvSpPr/>
          <p:nvPr/>
        </p:nvSpPr>
        <p:spPr>
          <a:xfrm>
            <a:off x="1666419" y="4026047"/>
            <a:ext cx="157281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8" name="Oval 87"/>
          <p:cNvSpPr/>
          <p:nvPr/>
        </p:nvSpPr>
        <p:spPr>
          <a:xfrm>
            <a:off x="2189770" y="402869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89" name="Oval 88"/>
          <p:cNvSpPr/>
          <p:nvPr/>
        </p:nvSpPr>
        <p:spPr>
          <a:xfrm>
            <a:off x="2581579" y="403066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0" name="Oval 89"/>
          <p:cNvSpPr/>
          <p:nvPr/>
        </p:nvSpPr>
        <p:spPr>
          <a:xfrm>
            <a:off x="1908993" y="403718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1" name="Oval 90"/>
          <p:cNvSpPr/>
          <p:nvPr/>
        </p:nvSpPr>
        <p:spPr>
          <a:xfrm>
            <a:off x="2276001" y="404162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2" name="Rounded Rectangle 91"/>
          <p:cNvSpPr/>
          <p:nvPr/>
        </p:nvSpPr>
        <p:spPr>
          <a:xfrm>
            <a:off x="2336301" y="4041628"/>
            <a:ext cx="107046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3" name="Oval 92"/>
          <p:cNvSpPr/>
          <p:nvPr/>
        </p:nvSpPr>
        <p:spPr>
          <a:xfrm>
            <a:off x="1866016" y="404855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4" name="Oval 93"/>
          <p:cNvSpPr/>
          <p:nvPr/>
        </p:nvSpPr>
        <p:spPr>
          <a:xfrm>
            <a:off x="2081942" y="404983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5" name="Oval 94"/>
          <p:cNvSpPr/>
          <p:nvPr/>
        </p:nvSpPr>
        <p:spPr>
          <a:xfrm>
            <a:off x="2175240" y="406040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6" name="Oval 95"/>
          <p:cNvSpPr/>
          <p:nvPr/>
        </p:nvSpPr>
        <p:spPr>
          <a:xfrm>
            <a:off x="2165289" y="406212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7" name="Rounded Rectangle 96"/>
          <p:cNvSpPr/>
          <p:nvPr/>
        </p:nvSpPr>
        <p:spPr>
          <a:xfrm>
            <a:off x="2225589" y="4062120"/>
            <a:ext cx="159244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8" name="Oval 97"/>
          <p:cNvSpPr/>
          <p:nvPr/>
        </p:nvSpPr>
        <p:spPr>
          <a:xfrm>
            <a:off x="2365996" y="406509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9" name="Oval 98"/>
          <p:cNvSpPr/>
          <p:nvPr/>
        </p:nvSpPr>
        <p:spPr>
          <a:xfrm>
            <a:off x="2318492" y="407152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0" name="Oval 99"/>
          <p:cNvSpPr/>
          <p:nvPr/>
        </p:nvSpPr>
        <p:spPr>
          <a:xfrm>
            <a:off x="2545675" y="4076937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1" name="Oval 100"/>
          <p:cNvSpPr/>
          <p:nvPr/>
        </p:nvSpPr>
        <p:spPr>
          <a:xfrm>
            <a:off x="1355620" y="407833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2" name="Rounded Rectangle 101"/>
          <p:cNvSpPr/>
          <p:nvPr/>
        </p:nvSpPr>
        <p:spPr>
          <a:xfrm>
            <a:off x="1415920" y="4078332"/>
            <a:ext cx="91309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3" name="Oval 102"/>
          <p:cNvSpPr/>
          <p:nvPr/>
        </p:nvSpPr>
        <p:spPr>
          <a:xfrm>
            <a:off x="1764247" y="4078566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4" name="Oval 103"/>
          <p:cNvSpPr/>
          <p:nvPr/>
        </p:nvSpPr>
        <p:spPr>
          <a:xfrm>
            <a:off x="1722435" y="407970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5" name="Oval 104"/>
          <p:cNvSpPr/>
          <p:nvPr/>
        </p:nvSpPr>
        <p:spPr>
          <a:xfrm>
            <a:off x="2021203" y="4079924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6" name="Oval 105"/>
          <p:cNvSpPr/>
          <p:nvPr/>
        </p:nvSpPr>
        <p:spPr>
          <a:xfrm>
            <a:off x="1615776" y="408282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7" name="Rounded Rectangle 106"/>
          <p:cNvSpPr/>
          <p:nvPr/>
        </p:nvSpPr>
        <p:spPr>
          <a:xfrm>
            <a:off x="1676076" y="4082821"/>
            <a:ext cx="157262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8" name="Oval 107"/>
          <p:cNvSpPr/>
          <p:nvPr/>
        </p:nvSpPr>
        <p:spPr>
          <a:xfrm>
            <a:off x="2054659" y="4085173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09" name="Oval 108"/>
          <p:cNvSpPr/>
          <p:nvPr/>
        </p:nvSpPr>
        <p:spPr>
          <a:xfrm>
            <a:off x="1391304" y="408677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0" name="Oval 109"/>
          <p:cNvSpPr/>
          <p:nvPr/>
        </p:nvSpPr>
        <p:spPr>
          <a:xfrm>
            <a:off x="2150492" y="4087892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1" name="Oval 110"/>
          <p:cNvSpPr/>
          <p:nvPr/>
        </p:nvSpPr>
        <p:spPr>
          <a:xfrm>
            <a:off x="2342302" y="408821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2" name="Rounded Rectangle 111"/>
          <p:cNvSpPr/>
          <p:nvPr/>
        </p:nvSpPr>
        <p:spPr>
          <a:xfrm>
            <a:off x="2402602" y="4088218"/>
            <a:ext cx="21654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3" name="Oval 112"/>
          <p:cNvSpPr/>
          <p:nvPr/>
        </p:nvSpPr>
        <p:spPr>
          <a:xfrm>
            <a:off x="1876813" y="408852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4" name="Oval 113"/>
          <p:cNvSpPr/>
          <p:nvPr/>
        </p:nvSpPr>
        <p:spPr>
          <a:xfrm>
            <a:off x="1624306" y="4089535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5" name="Oval 114"/>
          <p:cNvSpPr/>
          <p:nvPr/>
        </p:nvSpPr>
        <p:spPr>
          <a:xfrm>
            <a:off x="2138041" y="4090040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6" name="Oval 115"/>
          <p:cNvSpPr/>
          <p:nvPr/>
        </p:nvSpPr>
        <p:spPr>
          <a:xfrm>
            <a:off x="2101194" y="4091711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7" name="Rounded Rectangle 116"/>
          <p:cNvSpPr/>
          <p:nvPr/>
        </p:nvSpPr>
        <p:spPr>
          <a:xfrm>
            <a:off x="2161494" y="4091711"/>
            <a:ext cx="201385" cy="50400"/>
          </a:xfrm>
          <a:prstGeom prst="roundRect">
            <a:avLst>
              <a:gd name="adj" fmla="val 50000"/>
            </a:avLst>
          </a:prstGeom>
          <a:solidFill>
            <a:srgbClr val="C9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8" name="Oval 117"/>
          <p:cNvSpPr/>
          <p:nvPr/>
        </p:nvSpPr>
        <p:spPr>
          <a:xfrm>
            <a:off x="2247349" y="4092138"/>
            <a:ext cx="50400" cy="504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21" name="Rectangle 120"/>
          <p:cNvSpPr/>
          <p:nvPr/>
        </p:nvSpPr>
        <p:spPr>
          <a:xfrm>
            <a:off x="3480750" y="2515339"/>
            <a:ext cx="102375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検索データ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972500" y="2515339"/>
            <a:ext cx="1023750" cy="2700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LINE配信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480750" y="2947339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不安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4563000" y="3145339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4972500" y="2947339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どの情報を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480750" y="3541338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比較軸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4563000" y="3739339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4972500" y="3541338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どの順番で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480750" y="4135339"/>
            <a:ext cx="102375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関心テーマ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4563000" y="4333339"/>
            <a:ext cx="351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4972500" y="4135339"/>
            <a:ext cx="102375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いつ配信するか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3673313" y="4770998"/>
            <a:ext cx="2322937" cy="62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9250" tIns="18000" rIns="29250" bIns="18000" anchor="t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ニーズをもとに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配信内容・順番・タイミングを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業界・商材ごとに設計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33" name="Connector 132"/>
          <p:cNvCxnSpPr/>
          <p:nvPr/>
        </p:nvCxnSpPr>
        <p:spPr>
          <a:xfrm>
            <a:off x="7166249" y="2623339"/>
            <a:ext cx="0" cy="2556000"/>
          </a:xfrm>
          <a:prstGeom prst="line">
            <a:avLst/>
          </a:prstGeom>
          <a:ln w="2540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7058249" y="2515339"/>
            <a:ext cx="216000" cy="216000"/>
          </a:xfrm>
          <a:prstGeom prst="ellipse">
            <a:avLst/>
          </a:prstGeom>
          <a:solidFill>
            <a:srgbClr val="06C755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35" name="TextBox 134"/>
          <p:cNvSpPr txBox="1"/>
          <p:nvPr/>
        </p:nvSpPr>
        <p:spPr>
          <a:xfrm>
            <a:off x="6317999" y="2520524"/>
            <a:ext cx="73125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37" name="Oval 136"/>
          <p:cNvSpPr/>
          <p:nvPr/>
        </p:nvSpPr>
        <p:spPr>
          <a:xfrm>
            <a:off x="7058249" y="2923167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38" name="TextBox 137"/>
          <p:cNvSpPr txBox="1"/>
          <p:nvPr/>
        </p:nvSpPr>
        <p:spPr>
          <a:xfrm>
            <a:off x="6317999" y="2936816"/>
            <a:ext cx="731250" cy="188701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初回配信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70999" y="2868646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興味喚起</a:t>
            </a:r>
          </a:p>
        </p:txBody>
      </p:sp>
      <p:sp>
        <p:nvSpPr>
          <p:cNvPr id="140" name="Oval 139"/>
          <p:cNvSpPr/>
          <p:nvPr/>
        </p:nvSpPr>
        <p:spPr>
          <a:xfrm>
            <a:off x="7058249" y="3561721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41" name="TextBox 140"/>
          <p:cNvSpPr txBox="1"/>
          <p:nvPr/>
        </p:nvSpPr>
        <p:spPr>
          <a:xfrm>
            <a:off x="6317999" y="3575371"/>
            <a:ext cx="731250" cy="188701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数日後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370999" y="3507201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比較検討情報・不安解消</a:t>
            </a:r>
            <a:endParaRPr sz="105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7058249" y="4250539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000"/>
          </a:p>
        </p:txBody>
      </p:sp>
      <p:sp>
        <p:nvSpPr>
          <p:cNvPr id="144" name="TextBox 143"/>
          <p:cNvSpPr txBox="1"/>
          <p:nvPr/>
        </p:nvSpPr>
        <p:spPr>
          <a:xfrm>
            <a:off x="6317999" y="4264188"/>
            <a:ext cx="731250" cy="188701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1〜2週間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70999" y="4196018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契約・利用</a:t>
            </a:r>
            <a:r>
              <a:rPr sz="1050" b="1" dirty="0" err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オファ</a:t>
            </a:r>
            <a:r>
              <a:rPr sz="10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ー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3500" y="5841474"/>
            <a:ext cx="8628750" cy="34105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前後検索でユーザーニーズを捉え、友だち追加直後のステップ配信に反映</a:t>
            </a:r>
            <a:endParaRPr sz="2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0" name="二等辺三角形 149">
            <a:extLst>
              <a:ext uri="{FF2B5EF4-FFF2-40B4-BE49-F238E27FC236}">
                <a16:creationId xmlns:a16="http://schemas.microsoft.com/office/drawing/2014/main" id="{45749858-75C5-B795-5AA4-35BD51777768}"/>
              </a:ext>
            </a:extLst>
          </p:cNvPr>
          <p:cNvSpPr/>
          <p:nvPr/>
        </p:nvSpPr>
        <p:spPr>
          <a:xfrm rot="10800000">
            <a:off x="7082247" y="5077100"/>
            <a:ext cx="171834" cy="290396"/>
          </a:xfrm>
          <a:prstGeom prst="triangle">
            <a:avLst/>
          </a:prstGeom>
          <a:solidFill>
            <a:srgbClr val="00B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kumimoji="1" lang="ja-JP" altLang="en-US" sz="2000"/>
          </a:p>
        </p:txBody>
      </p:sp>
      <p:sp>
        <p:nvSpPr>
          <p:cNvPr id="152" name="Rounded Rectangle 144">
            <a:extLst>
              <a:ext uri="{FF2B5EF4-FFF2-40B4-BE49-F238E27FC236}">
                <a16:creationId xmlns:a16="http://schemas.microsoft.com/office/drawing/2014/main" id="{9271364C-3269-6287-1367-C96CC9B7B278}"/>
              </a:ext>
            </a:extLst>
          </p:cNvPr>
          <p:cNvSpPr/>
          <p:nvPr/>
        </p:nvSpPr>
        <p:spPr>
          <a:xfrm>
            <a:off x="7370999" y="5025751"/>
            <a:ext cx="190125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3875" tIns="0" rIns="4387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ja-JP" altLang="en-US" sz="1050" b="1" dirty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以降もナーチャリング対象</a:t>
            </a:r>
            <a:endParaRPr sz="1050" b="1" dirty="0">
              <a:solidFill>
                <a:srgbClr val="0B7A3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TextBox 131">
            <a:extLst>
              <a:ext uri="{FF2B5EF4-FFF2-40B4-BE49-F238E27FC236}">
                <a16:creationId xmlns:a16="http://schemas.microsoft.com/office/drawing/2014/main" id="{23F6D43A-CEDB-036F-68BB-B6F0EF86E65C}"/>
              </a:ext>
            </a:extLst>
          </p:cNvPr>
          <p:cNvSpPr txBox="1"/>
          <p:nvPr/>
        </p:nvSpPr>
        <p:spPr>
          <a:xfrm>
            <a:off x="643500" y="4768226"/>
            <a:ext cx="2486250" cy="620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29250" tIns="18000" rIns="29250" bIns="18000" anchor="t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検討後に何を検索しているか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ユーザーの不安・比較軸</a:t>
            </a:r>
            <a:endParaRPr lang="en-US" altLang="ja-JP"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ja-JP" altLang="en-US"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・関心テーマを把握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DYMのコンサル支援内容・費用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ツール導入だけではなく、CPO改善に向けたLINE運用まで支援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643500" y="1800000"/>
            <a:ext cx="2233969" cy="864000"/>
          </a:xfrm>
          <a:prstGeom prst="homePlate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31250" y="2112258"/>
            <a:ext cx="1985344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サンクスLINE導入</a:t>
            </a:r>
          </a:p>
        </p:txBody>
      </p:sp>
      <p:sp>
        <p:nvSpPr>
          <p:cNvPr id="8" name="Chevron 7"/>
          <p:cNvSpPr/>
          <p:nvPr/>
        </p:nvSpPr>
        <p:spPr>
          <a:xfrm>
            <a:off x="2775094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965219" y="2112258"/>
            <a:ext cx="1882969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LINE配信設計</a:t>
            </a:r>
          </a:p>
        </p:txBody>
      </p:sp>
      <p:sp>
        <p:nvSpPr>
          <p:cNvPr id="10" name="Chevron 9"/>
          <p:cNvSpPr/>
          <p:nvPr/>
        </p:nvSpPr>
        <p:spPr>
          <a:xfrm>
            <a:off x="4906688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096812" y="2112258"/>
            <a:ext cx="1882969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効果計測</a:t>
            </a:r>
          </a:p>
        </p:txBody>
      </p:sp>
      <p:sp>
        <p:nvSpPr>
          <p:cNvPr id="12" name="Chevron 11"/>
          <p:cNvSpPr/>
          <p:nvPr/>
        </p:nvSpPr>
        <p:spPr>
          <a:xfrm>
            <a:off x="7038281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7228406" y="2112258"/>
            <a:ext cx="1882969" cy="239484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改善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500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500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設定支援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2094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2094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2094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92094" y="3870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3688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3688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LINE経由CV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3688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来店・面談・購入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5281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5281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配信タイミング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55281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281" y="3911185"/>
            <a:ext cx="1941469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を継続改善</a:t>
            </a:r>
            <a:endParaRPr sz="1000" b="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8126016" y="4212000"/>
            <a:ext cx="0" cy="251999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62828" y="4463999"/>
            <a:ext cx="4263188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62828" y="4230000"/>
            <a:ext cx="0" cy="2339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50578" y="4487185"/>
            <a:ext cx="2925000" cy="20562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計測結果をもとに、配信・導線を見直す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3500" y="5043465"/>
            <a:ext cx="862875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43500" y="5194665"/>
            <a:ext cx="48502" cy="179999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745875" y="5175187"/>
            <a:ext cx="3772348" cy="222556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サンクスLINE誘導ツール｜費用目安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500" y="5544136"/>
            <a:ext cx="1933329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cxnSp>
        <p:nvCxnSpPr>
          <p:cNvPr id="35" name="Connector 34"/>
          <p:cNvCxnSpPr>
            <a:cxnSpLocks/>
          </p:cNvCxnSpPr>
          <p:nvPr/>
        </p:nvCxnSpPr>
        <p:spPr>
          <a:xfrm>
            <a:off x="2742188" y="5529465"/>
            <a:ext cx="0" cy="341999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742188" y="5544136"/>
            <a:ext cx="1933329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14000" y="5194665"/>
            <a:ext cx="58704" cy="179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5016375" y="5175187"/>
            <a:ext cx="4565854" cy="222556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LINE運用コンサル｜費用目安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6688" y="5544136"/>
            <a:ext cx="1560000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</a:t>
            </a:r>
            <a:r>
              <a:rPr lang="ja-JP" altLang="en-US" sz="1000" b="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3126" y="5544136"/>
            <a:ext cx="1560000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</a:t>
            </a:r>
            <a:r>
              <a:rPr lang="en-US" sz="10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19563" y="5545867"/>
            <a:ext cx="1560000" cy="31266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期間</a:t>
            </a:r>
            <a:r>
              <a:rPr lang="en-US" sz="10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6か月〜</a:t>
            </a:r>
          </a:p>
        </p:txBody>
      </p:sp>
      <p:cxnSp>
        <p:nvCxnSpPr>
          <p:cNvPr id="44" name="Connector 43"/>
          <p:cNvCxnSpPr>
            <a:cxnSpLocks/>
          </p:cNvCxnSpPr>
          <p:nvPr/>
        </p:nvCxnSpPr>
        <p:spPr>
          <a:xfrm>
            <a:off x="4797000" y="5151465"/>
            <a:ext cx="0" cy="791997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0813" y="6016994"/>
            <a:ext cx="8628750" cy="188701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※施策内容・配信本数・連携範囲等により、費用は個別にお見積もりいたします。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143371</TotalTime>
  <Words>576</Words>
  <Application>Microsoft Office PowerPoint</Application>
  <PresentationFormat>A4 210 x 297 mm</PresentationFormat>
  <Paragraphs>191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1969</cp:revision>
  <cp:lastPrinted>2022-11-01T11:38:14Z</cp:lastPrinted>
  <dcterms:created xsi:type="dcterms:W3CDTF">2015-09-04T09:21:15Z</dcterms:created>
  <dcterms:modified xsi:type="dcterms:W3CDTF">2026-10-08T09:10:34Z</dcterms:modified>
</cp:coreProperties>
</file>