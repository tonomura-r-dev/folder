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27"/>
  </p:notesMasterIdLst>
  <p:handoutMasterIdLst>
    <p:handoutMasterId r:id="rId28"/>
  </p:handoutMasterIdLst>
  <p:sldIdLst>
    <p:sldId id="2971" r:id="rId4"/>
    <p:sldId id="2972" r:id="rId5"/>
    <p:sldId id="2904" r:id="rId6"/>
    <p:sldId id="3007" r:id="rId7"/>
    <p:sldId id="2987" r:id="rId8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15D0A-BA72-DE45-32FA-363803F1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7D2F8A3-D4B3-B9E6-A613-A157696B87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3FBD4A-B575-3375-091A-F6A24B5A9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AEAEB9-E37C-569F-CBB7-45D65E2A09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38476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81540-B398-8C02-E1F2-1F1C4798C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82C74D-328C-FB0E-E710-C92A52BEF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75EB1E7-3A4C-2E0A-CA67-686800FA8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173A52D-F6CC-DC20-5CFE-D4EBA25ECC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79868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87BDD3-88EE-99A9-AEE2-C1F41DDAB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50017B6-5C78-4075-2708-AC5DB83D5C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ECFD86C-83D9-B8F9-9012-A14834B203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02F5ACB-1F4C-FA7D-D366-8DCBB1214F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9133521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.png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A8E8E-25CB-4B86-C4F6-E5A70235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LINEの成果は、申込みの「後」で決まる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広告で申込みまではとれても、来店・成約・リピートは、その後の追い方次第です。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2323800"/>
            <a:ext cx="1872000" cy="1080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12000" y="2701801"/>
            <a:ext cx="324000" cy="324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44000" y="2323800"/>
            <a:ext cx="1872000" cy="1080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</a:t>
            </a:r>
          </a:p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資料請求・予約・購入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824000" y="2701801"/>
            <a:ext cx="324000" cy="324000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56000" y="2323800"/>
            <a:ext cx="1872000" cy="108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メール・電話で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フォロー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236000" y="2701801"/>
            <a:ext cx="324000" cy="324000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68000" y="2323800"/>
            <a:ext cx="1807199" cy="1080000"/>
          </a:xfrm>
          <a:prstGeom prst="roundRect">
            <a:avLst>
              <a:gd name="adj" fmla="val 10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来店・成約</a:t>
            </a:r>
          </a:p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リピート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56000" y="3547801"/>
            <a:ext cx="4219200" cy="540000"/>
          </a:xfrm>
          <a:prstGeom prst="roundRect">
            <a:avLst>
              <a:gd name="adj" fmla="val 10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/>
            <a:r>
              <a:rPr sz="13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読まれない・つながらない＝取りこぼし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000" y="3547801"/>
            <a:ext cx="4644000" cy="540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/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広告の成果（申込み数）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000" y="4843801"/>
            <a:ext cx="9043200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申込みの「後」の追い方を変えれば、同じ広告費のまま成果が増えます</a:t>
            </a:r>
          </a:p>
        </p:txBody>
      </p:sp>
    </p:spTree>
    <p:extLst>
      <p:ext uri="{BB962C8B-B14F-4D97-AF65-F5344CB8AC3E}">
        <p14:creationId xmlns:p14="http://schemas.microsoft.com/office/powerpoint/2010/main" val="23784845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E5221-666F-DE20-B9E8-FDFC607C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サンクスLINE｜申込みの直後に、LINEでつながる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申込みの完了画面から、そのままLINEへ。関心が一番高いタイミングなので、友だちになっていただきやすい仕組みです。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2485800"/>
            <a:ext cx="1584000" cy="936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フォーム入力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088000" y="2791800"/>
            <a:ext cx="288000" cy="324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448000" y="2485800"/>
            <a:ext cx="1764000" cy="936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申込み完了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購入・予約・資料請求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284000" y="2791800"/>
            <a:ext cx="288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44000" y="2485800"/>
            <a:ext cx="1296000" cy="936000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DYMの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ツールで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LINEへ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012000" y="2791800"/>
            <a:ext cx="288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72000" y="2485800"/>
            <a:ext cx="3103199" cy="432000"/>
          </a:xfrm>
          <a:prstGeom prst="roundRect">
            <a:avLst>
              <a:gd name="adj" fmla="val 10000"/>
            </a:avLst>
          </a:prstGeom>
          <a:solidFill>
            <a:srgbClr val="E8F8EE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はじめての方 → 友だち追加の画面へ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72000" y="2989801"/>
            <a:ext cx="3103199" cy="432000"/>
          </a:xfrm>
          <a:prstGeom prst="roundRect">
            <a:avLst>
              <a:gd name="adj" fmla="val 10000"/>
            </a:avLst>
          </a:prstGeom>
          <a:solidFill>
            <a:srgbClr val="E8F8EE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友だちの方 → トーク画面へ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3709801"/>
            <a:ext cx="2951999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関心が一番高い直後に案内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申込みの直後なので、友だちになっていただきやすい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77599" y="3709801"/>
            <a:ext cx="2951999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友だち集めの広告費ゼロ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今の広告で集めた申込みを、そのままLINEへ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23199" y="3709801"/>
            <a:ext cx="2951999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入力内容をそのまま活用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トークに反映し、配信の出し分けにも使える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000" y="4861800"/>
            <a:ext cx="1655999" cy="32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初期 10万円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60000" y="4861800"/>
            <a:ext cx="1655999" cy="32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月額 3万円〜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0000" y="4861800"/>
            <a:ext cx="5508000" cy="324000"/>
          </a:xfrm>
          <a:prstGeom prst="rect">
            <a:avLst/>
          </a:prstGeom>
          <a:noFill/>
        </p:spPr>
        <p:txBody>
          <a:bodyPr wrap="square" lIns="0" rIns="50400" tIns="21600" bIns="21600" anchor="ctr">
            <a:spAutoFit/>
          </a:bodyPr>
          <a:lstStyle/>
          <a:p>
            <a:pPr algn="l"/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既存のAPIツールとの併用も可能です</a:t>
            </a:r>
          </a:p>
        </p:txBody>
      </p:sp>
    </p:spTree>
    <p:extLst>
      <p:ext uri="{BB962C8B-B14F-4D97-AF65-F5344CB8AC3E}">
        <p14:creationId xmlns:p14="http://schemas.microsoft.com/office/powerpoint/2010/main" val="17159093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LINEで、成果まで育てる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申込んだ方に合わせて、LINEで次の一歩を後押しします。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2215800"/>
            <a:ext cx="2951999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資料請求した方</a:t>
            </a:r>
          </a:p>
        </p:txBody>
      </p:sp>
      <p:sp>
        <p:nvSpPr>
          <p:cNvPr id="6" name="Down Arrow 5"/>
          <p:cNvSpPr/>
          <p:nvPr/>
        </p:nvSpPr>
        <p:spPr>
          <a:xfrm>
            <a:off x="1692000" y="2773801"/>
            <a:ext cx="432000" cy="251999"/>
          </a:xfrm>
          <a:prstGeom prst="down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2000" y="3079801"/>
            <a:ext cx="2951999" cy="648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比較のポイント・事例</a:t>
            </a:r>
          </a:p>
        </p:txBody>
      </p:sp>
      <p:sp>
        <p:nvSpPr>
          <p:cNvPr id="8" name="Down Arrow 7"/>
          <p:cNvSpPr/>
          <p:nvPr/>
        </p:nvSpPr>
        <p:spPr>
          <a:xfrm>
            <a:off x="1692000" y="3781800"/>
            <a:ext cx="432000" cy="251999"/>
          </a:xfrm>
          <a:prstGeom prst="down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2000" y="4087801"/>
            <a:ext cx="2951999" cy="503999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来店・商談へ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7599" y="2215800"/>
            <a:ext cx="2951999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予約した方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4737599" y="2773801"/>
            <a:ext cx="432000" cy="251999"/>
          </a:xfrm>
          <a:prstGeom prst="down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77599" y="3079801"/>
            <a:ext cx="2951999" cy="648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前日・当日のリマインド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4737599" y="3781800"/>
            <a:ext cx="432000" cy="251999"/>
          </a:xfrm>
          <a:prstGeom prst="down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77599" y="4087801"/>
            <a:ext cx="2951999" cy="503999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キャンセルを減らす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23199" y="2215800"/>
            <a:ext cx="2951999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購入した方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7783199" y="2773801"/>
            <a:ext cx="432000" cy="251999"/>
          </a:xfrm>
          <a:prstGeom prst="down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23199" y="3079801"/>
            <a:ext cx="2951999" cy="648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使い方・次回のご案内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7783199" y="3781800"/>
            <a:ext cx="432000" cy="251999"/>
          </a:xfrm>
          <a:prstGeom prst="down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523199" y="4087801"/>
            <a:ext cx="2951999" cy="503999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リピートへ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2000" y="4951801"/>
            <a:ext cx="9043200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弊社実績：美容クリニックで、予約後の来院率が40〜50%改善</a:t>
            </a:r>
          </a:p>
        </p:txBody>
      </p:sp>
    </p:spTree>
    <p:extLst>
      <p:ext uri="{BB962C8B-B14F-4D97-AF65-F5344CB8AC3E}">
        <p14:creationId xmlns:p14="http://schemas.microsoft.com/office/powerpoint/2010/main" val="39399979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広告は「申込みの数」、LINEは「売上」をつくる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同じ広告費のまま、申込みの「後」を伸ばして成約を増やします。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1584000" y="2287800"/>
            <a:ext cx="3204000" cy="27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広告の役割：申込みを集める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96000" y="2287800"/>
            <a:ext cx="4579200" cy="270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LINEの役割：申込んだ方を売上へ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2683800"/>
            <a:ext cx="1044000" cy="864000"/>
          </a:xfrm>
          <a:prstGeom prst="roundRect">
            <a:avLst>
              <a:gd name="adj" fmla="val 10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広告だけ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84000" y="2683800"/>
            <a:ext cx="3204000" cy="864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 100件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広告費 月100万円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860000" y="2953800"/>
            <a:ext cx="288000" cy="324000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20000" y="2683800"/>
            <a:ext cx="1944000" cy="86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7F7F7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メール・電話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236000" y="2953800"/>
            <a:ext cx="288000" cy="324000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596000" y="2683800"/>
            <a:ext cx="1879200" cy="864000"/>
          </a:xfrm>
          <a:prstGeom prst="roundRect">
            <a:avLst>
              <a:gd name="adj" fmla="val 10000"/>
            </a:avLst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成約 20件</a:t>
            </a:r>
          </a:p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1件あたり 5.0万円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3727800"/>
            <a:ext cx="1044000" cy="864000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</a:t>
            </a:r>
          </a:p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＋LINE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84000" y="3727800"/>
            <a:ext cx="3204000" cy="864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 100件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広告費 月100万円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60000" y="3997800"/>
            <a:ext cx="288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220000" y="3727800"/>
            <a:ext cx="1944000" cy="864000"/>
          </a:xfrm>
          <a:prstGeom prst="roundRect">
            <a:avLst>
              <a:gd name="adj" fmla="val 10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サンクスLINE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236000" y="3997800"/>
            <a:ext cx="288000" cy="324000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596000" y="3727800"/>
            <a:ext cx="1879200" cy="864000"/>
          </a:xfrm>
          <a:prstGeom prst="roundRect">
            <a:avLst>
              <a:gd name="adj" fmla="val 1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成約 24件</a:t>
            </a:r>
          </a:p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1件あたり 約4.3万円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2000" y="4879800"/>
            <a:ext cx="9043200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LINEの友だちは毎月たまり、広告を止めても案内を続けられます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※試算例：成約率 20%（広告だけ）→ 24%（広告＋LINE）。1件あたり＝（広告費＋LINE費用 月3万円）÷成約件数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95DA1-C4AC-9E84-EE81-C643FC320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進め方｜広告のご提案と、あわせて始められます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大きな開発は不要です。広告の予算の一部から、小さく始められます。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2143800"/>
            <a:ext cx="864000" cy="864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04000" y="2143800"/>
            <a:ext cx="8071200" cy="86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具体的なご提案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LINEへの動線・配信の内容・成果のシミュレーション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3223800"/>
            <a:ext cx="864000" cy="864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18000" bIns="18000"/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04000" y="3223800"/>
            <a:ext cx="8071200" cy="86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広告と同時に開始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完了画面にLINEへの案内を設置し、配信をスタート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4411800"/>
            <a:ext cx="1655999" cy="32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初期 10万円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60000" y="4411800"/>
            <a:ext cx="1655999" cy="32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月額 3万円〜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60000" y="4411800"/>
            <a:ext cx="5508000" cy="324000"/>
          </a:xfrm>
          <a:prstGeom prst="rect">
            <a:avLst/>
          </a:prstGeom>
          <a:noFill/>
        </p:spPr>
        <p:txBody>
          <a:bodyPr wrap="square" lIns="0" rIns="50400" tIns="21600" bIns="21600" anchor="ctr">
            <a:spAutoFit/>
          </a:bodyPr>
          <a:lstStyle/>
          <a:p>
            <a:pPr algn="l"/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※設定する地点（完了画面）を増やす場合は追加費用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0" y="5023800"/>
            <a:ext cx="9043200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まずは、広告のご提案とあわせて、LINEの設計をご提案します</a:t>
            </a:r>
          </a:p>
        </p:txBody>
      </p:sp>
    </p:spTree>
    <p:extLst>
      <p:ext uri="{BB962C8B-B14F-4D97-AF65-F5344CB8AC3E}">
        <p14:creationId xmlns:p14="http://schemas.microsoft.com/office/powerpoint/2010/main" val="1985544786"/>
      </p:ext>
    </p:extLst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143206</TotalTime>
  <Words>2442</Words>
  <Application>Microsoft Office PowerPoint</Application>
  <PresentationFormat>A4 210 x 297 mm</PresentationFormat>
  <Paragraphs>606</Paragraphs>
  <Slides>24</Slides>
  <Notes>12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24</vt:i4>
      </vt:variant>
    </vt:vector>
  </HeadingPairs>
  <TitlesOfParts>
    <vt:vector size="31" baseType="lpstr">
      <vt:lpstr>Meiryo</vt:lpstr>
      <vt:lpstr>Meiryo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1960</cp:revision>
  <cp:lastPrinted>2022-11-01T11:38:14Z</cp:lastPrinted>
  <dcterms:created xsi:type="dcterms:W3CDTF">2015-09-04T09:21:15Z</dcterms:created>
  <dcterms:modified xsi:type="dcterms:W3CDTF">2026-09-30T06:42:08Z</dcterms:modified>
</cp:coreProperties>
</file>