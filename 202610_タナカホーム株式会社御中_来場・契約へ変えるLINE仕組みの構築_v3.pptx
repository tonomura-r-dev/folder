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305" r:id="rId3"/>
    <p:sldId id="306" r:id="rId4"/>
    <p:sldId id="307" r:id="rId5"/>
    <p:sldId id="309" r:id="rId7"/>
    <p:sldId id="301" r:id="rId8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0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2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023FD08-B3C3-42F8-A153-9D5527DEAE1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81000" y="1243080"/>
            <a:ext cx="4844520" cy="3354120"/>
          </a:xfrm>
          <a:prstGeom prst="rect">
            <a:avLst/>
          </a:prstGeom>
          <a:ln w="0">
            <a:noFill/>
          </a:ln>
        </p:spPr>
      </p:sp>
      <p:sp>
        <p:nvSpPr>
          <p:cNvPr id="1148" name="PlaceHolder 2"/>
          <p:cNvSpPr>
            <a:spLocks noGrp="1"/>
          </p:cNvSpPr>
          <p:nvPr>
            <p:ph type="body"/>
          </p:nvPr>
        </p:nvSpPr>
        <p:spPr>
          <a:xfrm>
            <a:off x="680400" y="4782960"/>
            <a:ext cx="5446080" cy="391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PlaceHolder 3"/>
          <p:cNvSpPr>
            <a:spLocks noGrp="1"/>
          </p:cNvSpPr>
          <p:nvPr>
            <p:ph type="ftr" idx="24"/>
          </p:nvPr>
        </p:nvSpPr>
        <p:spPr>
          <a:xfrm>
            <a:off x="0" y="9441720"/>
            <a:ext cx="2950200" cy="49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1150" name="PlaceHolder 4"/>
          <p:cNvSpPr>
            <a:spLocks noGrp="1"/>
          </p:cNvSpPr>
          <p:nvPr>
            <p:ph type="sldNum" idx="25"/>
          </p:nvPr>
        </p:nvSpPr>
        <p:spPr>
          <a:xfrm>
            <a:off x="3855240" y="9441720"/>
            <a:ext cx="2950200" cy="49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568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956880">
              <a:lnSpc>
                <a:spcPct val="100000"/>
              </a:lnSpc>
              <a:buNone/>
            </a:pPr>
            <a:fld id="{6BEAC167-1E56-4A89-B6CA-078D5C4214B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タイトルと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1"/>
          <p:cNvPicPr/>
          <p:nvPr/>
        </p:nvPicPr>
        <p:blipFill>
          <a:blip r:embed="rId2"/>
          <a:stretch/>
        </p:blipFill>
        <p:spPr>
          <a:xfrm>
            <a:off x="8151480" y="72360"/>
            <a:ext cx="1598400" cy="42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図 4"/>
          <p:cNvPicPr/>
          <p:nvPr/>
        </p:nvPicPr>
        <p:blipFill>
          <a:blip r:embed="rId3"/>
          <a:stretch/>
        </p:blipFill>
        <p:spPr>
          <a:xfrm>
            <a:off x="8151480" y="32400"/>
            <a:ext cx="1652760" cy="63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正方形/長方形 5"/>
          <p:cNvSpPr/>
          <p:nvPr/>
        </p:nvSpPr>
        <p:spPr>
          <a:xfrm>
            <a:off x="0" y="6552720"/>
            <a:ext cx="9905760" cy="332280"/>
          </a:xfrm>
          <a:prstGeom prst="rect">
            <a:avLst/>
          </a:prstGeom>
          <a:solidFill>
            <a:srgbClr val="191F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3" name="スライド番号プレースホルダ 1"/>
          <p:cNvSpPr/>
          <p:nvPr/>
        </p:nvSpPr>
        <p:spPr>
          <a:xfrm>
            <a:off x="7594560" y="6552720"/>
            <a:ext cx="23112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7221DD93-BA6E-44AE-9625-337799002E27}" type="slidenum">
              <a:rPr lang="en-US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テキスト ボックス 8"/>
          <p:cNvSpPr/>
          <p:nvPr/>
        </p:nvSpPr>
        <p:spPr>
          <a:xfrm>
            <a:off x="116640" y="6598080"/>
            <a:ext cx="366588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Copyright(c) DYM Co., Ltd</a:t>
            </a:r>
            <a:r>
              <a:rPr lang="ja-JP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． </a:t>
            </a: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正方形/長方形 1"/>
          <p:cNvSpPr/>
          <p:nvPr/>
        </p:nvSpPr>
        <p:spPr>
          <a:xfrm>
            <a:off x="9398160" y="6591240"/>
            <a:ext cx="418680" cy="2664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タイトルと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1"/>
          <p:cNvPicPr/>
          <p:nvPr/>
        </p:nvPicPr>
        <p:blipFill>
          <a:blip r:embed="rId2"/>
          <a:stretch/>
        </p:blipFill>
        <p:spPr>
          <a:xfrm>
            <a:off x="8151480" y="72360"/>
            <a:ext cx="1598400" cy="42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図 4"/>
          <p:cNvPicPr/>
          <p:nvPr/>
        </p:nvPicPr>
        <p:blipFill>
          <a:blip r:embed="rId3"/>
          <a:stretch/>
        </p:blipFill>
        <p:spPr>
          <a:xfrm>
            <a:off x="8151480" y="32400"/>
            <a:ext cx="1652760" cy="63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正方形/長方形 5"/>
          <p:cNvSpPr/>
          <p:nvPr/>
        </p:nvSpPr>
        <p:spPr>
          <a:xfrm>
            <a:off x="0" y="6552720"/>
            <a:ext cx="9905760" cy="332280"/>
          </a:xfrm>
          <a:prstGeom prst="rect">
            <a:avLst/>
          </a:prstGeom>
          <a:solidFill>
            <a:srgbClr val="191F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" name="スライド番号プレースホルダ 1"/>
          <p:cNvSpPr/>
          <p:nvPr/>
        </p:nvSpPr>
        <p:spPr>
          <a:xfrm>
            <a:off x="7594560" y="6552720"/>
            <a:ext cx="23112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B234BB70-5183-4ABD-92F4-80874DE4EEF5}" type="slidenum">
              <a:rPr lang="en-US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テキスト ボックス 8"/>
          <p:cNvSpPr/>
          <p:nvPr/>
        </p:nvSpPr>
        <p:spPr>
          <a:xfrm>
            <a:off x="116640" y="6598080"/>
            <a:ext cx="366588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Copyright(c) DYM Co., Ltd</a:t>
            </a:r>
            <a:r>
              <a:rPr lang="ja-JP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． </a:t>
            </a: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" name="直線コネクタ 4"/>
          <p:cNvCxnSpPr/>
          <p:nvPr/>
        </p:nvCxnSpPr>
        <p:spPr>
          <a:xfrm>
            <a:off x="0" y="548640"/>
            <a:ext cx="9906120" cy="360"/>
          </a:xfrm>
          <a:prstGeom prst="straightConnector1">
            <a:avLst/>
          </a:prstGeom>
          <a:ln>
            <a:solidFill>
              <a:srgbClr val="191F54"/>
            </a:solidFill>
            <a:round/>
          </a:ln>
        </p:spPr>
      </p:cxnSp>
      <p:sp>
        <p:nvSpPr>
          <p:cNvPr id="12" name="正方形/長方形 6"/>
          <p:cNvSpPr/>
          <p:nvPr/>
        </p:nvSpPr>
        <p:spPr>
          <a:xfrm>
            <a:off x="0" y="0"/>
            <a:ext cx="450720" cy="548280"/>
          </a:xfrm>
          <a:prstGeom prst="rect">
            <a:avLst/>
          </a:prstGeom>
          <a:solidFill>
            <a:srgbClr val="191F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タイトル 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"/>
          <p:cNvPicPr/>
          <p:nvPr/>
        </p:nvPicPr>
        <p:blipFill>
          <a:blip r:embed="rId2"/>
          <a:stretch/>
        </p:blipFill>
        <p:spPr>
          <a:xfrm>
            <a:off x="8151480" y="72360"/>
            <a:ext cx="1598400" cy="42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図 4"/>
          <p:cNvPicPr/>
          <p:nvPr/>
        </p:nvPicPr>
        <p:blipFill>
          <a:blip r:embed="rId3"/>
          <a:stretch/>
        </p:blipFill>
        <p:spPr>
          <a:xfrm>
            <a:off x="8151480" y="32400"/>
            <a:ext cx="1652760" cy="63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正方形/長方形 5"/>
          <p:cNvSpPr/>
          <p:nvPr/>
        </p:nvSpPr>
        <p:spPr>
          <a:xfrm>
            <a:off x="0" y="6552720"/>
            <a:ext cx="9905760" cy="332280"/>
          </a:xfrm>
          <a:prstGeom prst="rect">
            <a:avLst/>
          </a:prstGeom>
          <a:solidFill>
            <a:srgbClr val="191F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8" name="スライド番号プレースホルダ 1"/>
          <p:cNvSpPr/>
          <p:nvPr/>
        </p:nvSpPr>
        <p:spPr>
          <a:xfrm>
            <a:off x="7594560" y="6552720"/>
            <a:ext cx="23112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077BD008-84D6-4C04-8004-9A059DF72521}" type="slidenum">
              <a:rPr lang="en-US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テキスト ボックス 8"/>
          <p:cNvSpPr/>
          <p:nvPr/>
        </p:nvSpPr>
        <p:spPr>
          <a:xfrm>
            <a:off x="116640" y="6598080"/>
            <a:ext cx="366588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Copyright(c) DYM Co., Ltd</a:t>
            </a:r>
            <a:r>
              <a:rPr lang="ja-JP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． </a:t>
            </a: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emf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1"/>
          <p:cNvSpPr/>
          <p:nvPr/>
        </p:nvSpPr>
        <p:spPr>
          <a:xfrm>
            <a:off x="548640" y="2286000"/>
            <a:ext cx="8805672" cy="11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b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600" b="1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メイリオ"/>
                <a:ea typeface="メイリオ"/>
              </a:rPr>
              <a:t>集めた見込み客を逃さずナーチャリングをし、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メイリオ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600" b="1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メイリオ"/>
                <a:ea typeface="メイリオ"/>
              </a:rPr>
              <a:t>来場・契約へ変えるLINE仕組みの構築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cxnSp>
        <p:nvCxnSpPr>
          <p:cNvPr id="28" name="直線コネクタ 4"/>
          <p:cNvCxnSpPr/>
          <p:nvPr/>
        </p:nvCxnSpPr>
        <p:spPr>
          <a:xfrm>
            <a:off x="1336980" y="3604491"/>
            <a:ext cx="7232040" cy="0"/>
          </a:xfrm>
          <a:prstGeom prst="straightConnector1">
            <a:avLst/>
          </a:prstGeom>
          <a:ln w="190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29" name="図 8" descr="背景パターン&#10;&#10;AI 生成コンテンツは誤りを含む可能性があります。"/>
          <p:cNvPicPr/>
          <p:nvPr/>
        </p:nvPicPr>
        <p:blipFill>
          <a:blip r:embed="rId2"/>
          <a:stretch/>
        </p:blipFill>
        <p:spPr>
          <a:xfrm>
            <a:off x="0" y="0"/>
            <a:ext cx="8159400" cy="76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図 9" descr="背景パターン&#10;&#10;AI 生成コンテンツは誤りを含む可能性があります。"/>
          <p:cNvPicPr/>
          <p:nvPr/>
        </p:nvPicPr>
        <p:blipFill>
          <a:blip r:embed="rId2"/>
          <a:stretch/>
        </p:blipFill>
        <p:spPr>
          <a:xfrm>
            <a:off x="7863840" y="494280"/>
            <a:ext cx="204192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テキスト ボックス 6"/>
          <p:cNvSpPr/>
          <p:nvPr/>
        </p:nvSpPr>
        <p:spPr>
          <a:xfrm>
            <a:off x="291960" y="263520"/>
            <a:ext cx="4965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メイリオ"/>
                <a:ea typeface="メイリオ"/>
              </a:rPr>
              <a:t>タナカホーム株式会社 御中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現状と打ち手：広告改善とSEOで、質の高い流入を確保する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青森店の来場は目標に届いていない。集客フェーズは、広告の改善と地域特化のSEOで立て直す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sp>
        <p:nvSpPr>
          <p:cNvPr id="7" name="見出し 青森店の現在地"/>
          <p:cNvSpPr/>
          <p:nvPr/>
        </p:nvSpPr>
        <p:spPr>
          <a:xfrm>
            <a:off x="502920" y="1691640"/>
            <a:ext cx="4343400" cy="34747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青森店の現在地</a:t>
            </a:r>
            <a:endParaRPr lang="ja-JP" altLang="en-US" sz="1200" dirty="0"/>
          </a:p>
        </p:txBody>
      </p:sp>
      <p:graphicFrame>
        <p:nvGraphicFramePr>
          <p:cNvPr id="8" name="現在地 7"/>
          <p:cNvGraphicFramePr>
            <a:graphicFrameLocks noGrp="1"/>
          </p:cNvGraphicFramePr>
          <p:nvPr/>
        </p:nvGraphicFramePr>
        <p:xfrm>
          <a:off x="502920" y="2103120"/>
          <a:ext cx="4343400" cy="28346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来場予約</a:t>
                      </a:r>
                      <a:b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（4展示場）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目標 月50〜60件に対し、現状 月35〜40件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来場予約のCPA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Web広告で約30,000円</a:t>
                      </a:r>
                      <a:b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（ポータル・特典費を含めると注文住宅 約50,000円）</a:t>
                      </a:r>
                      <a:endParaRPr lang="ja-JP" altLang="en-US" sz="10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青森店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予約のキャンセルが2〜3割</a:t>
                      </a:r>
                      <a:b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八戸・おいらせより認知が浅い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自社サイトの</a:t>
                      </a:r>
                      <a:b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資料請求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月一桁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検索広告のCPA</a:t>
                      </a:r>
                      <a:b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（9月）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14,796円 → 47,500円（前年同月比）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見出し 集客フェーズの打ち手"/>
          <p:cNvSpPr/>
          <p:nvPr/>
        </p:nvSpPr>
        <p:spPr>
          <a:xfrm>
            <a:off x="5074920" y="1691640"/>
            <a:ext cx="4325112" cy="34747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集客フェーズの打ち手</a:t>
            </a:r>
            <a:endParaRPr lang="ja-JP" altLang="en-US" sz="1200" dirty="0"/>
          </a:p>
        </p:txBody>
      </p:sp>
      <p:sp>
        <p:nvSpPr>
          <p:cNvPr id="10" name="打ち手1"/>
          <p:cNvSpPr/>
          <p:nvPr/>
        </p:nvSpPr>
        <p:spPr>
          <a:xfrm>
            <a:off x="5074920" y="2103120"/>
            <a:ext cx="4325112" cy="960120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137160" tIns="54864" rIns="109728" bIns="54864" rtlCol="0" anchor="ctr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25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広告の改善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青森店の媒体配分とクリエイティブを見直し、来場予約のCPAを下げる（別紙：集客改善シミュレーション）</a:t>
            </a:r>
            <a:endParaRPr lang="ja-JP" altLang="en-US" sz="1200" dirty="0"/>
          </a:p>
        </p:txBody>
      </p:sp>
      <p:sp>
        <p:nvSpPr>
          <p:cNvPr id="11" name="打ち手2"/>
          <p:cNvSpPr/>
          <p:nvPr/>
        </p:nvSpPr>
        <p:spPr>
          <a:xfrm>
            <a:off x="5074920" y="3154680"/>
            <a:ext cx="4325112" cy="960120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137160" tIns="54864" rIns="109728" bIns="54864" rtlCol="0" anchor="ctr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25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地域特化のSEO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青森・八戸・弘前の地域キーワードと、AI検索への対応で、家づくりを具体的に検討している方の流入を増やす</a:t>
            </a:r>
            <a:endParaRPr lang="ja-JP" altLang="en-US" sz="1200" dirty="0"/>
          </a:p>
        </p:txBody>
      </p:sp>
      <p:sp>
        <p:nvSpPr>
          <p:cNvPr id="12" name="矢印下"/>
          <p:cNvSpPr/>
          <p:nvPr/>
        </p:nvSpPr>
        <p:spPr>
          <a:xfrm>
            <a:off x="7054596" y="4133087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▼</a:t>
            </a:r>
            <a:endParaRPr lang="ja-JP" altLang="en-US" sz="1200" dirty="0"/>
          </a:p>
        </p:txBody>
      </p:sp>
      <p:sp>
        <p:nvSpPr>
          <p:cNvPr id="13" name="結果"/>
          <p:cNvSpPr/>
          <p:nvPr/>
        </p:nvSpPr>
        <p:spPr>
          <a:xfrm>
            <a:off x="5074920" y="4407408"/>
            <a:ext cx="4325112" cy="566928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質が高く、熱量の高い見込み客の流入が増える</a:t>
            </a:r>
            <a:endParaRPr lang="ja-JP" altLang="en-US" sz="1200" dirty="0"/>
          </a:p>
        </p:txBody>
      </p:sp>
      <p:sp>
        <p:nvSpPr>
          <p:cNvPr id="14" name="注記"/>
          <p:cNvSpPr/>
          <p:nvPr/>
        </p:nvSpPr>
        <p:spPr>
          <a:xfrm>
            <a:off x="502920" y="585216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※数字は2026年10月15日の打ち合わせで共有いただいた内容。広告・SEOの詳細は別紙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課題：集めた見込み客の「即決しない層」が離脱し、競合に流れる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流入から成約までの各段階で接点が切れる。検討中の方を受け止める仕組みが、今は無い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sp>
        <p:nvSpPr>
          <p:cNvPr id="7" name="流れ1"/>
          <p:cNvSpPr/>
          <p:nvPr/>
        </p:nvSpPr>
        <p:spPr>
          <a:xfrm>
            <a:off x="502920" y="1691640"/>
            <a:ext cx="2004822" cy="71323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流入</a:t>
            </a:r>
            <a:endParaRPr lang="ja-JP" altLang="en-US" sz="1200" dirty="0"/>
          </a:p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広告・SEO・ポータル</a:t>
            </a:r>
            <a:endParaRPr lang="ja-JP" altLang="en-US" sz="1200" dirty="0"/>
          </a:p>
        </p:txBody>
      </p:sp>
      <p:sp>
        <p:nvSpPr>
          <p:cNvPr id="8" name="矢印"/>
          <p:cNvSpPr/>
          <p:nvPr/>
        </p:nvSpPr>
        <p:spPr>
          <a:xfrm>
            <a:off x="2507741" y="1691640"/>
            <a:ext cx="29260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9" name="流れ2"/>
          <p:cNvSpPr/>
          <p:nvPr/>
        </p:nvSpPr>
        <p:spPr>
          <a:xfrm>
            <a:off x="2800350" y="1691640"/>
            <a:ext cx="2004822" cy="71323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endParaRPr lang="ja-JP" altLang="en-US" sz="1200" dirty="0"/>
          </a:p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資料請求・来場予約 月35〜40件</a:t>
            </a:r>
            <a:endParaRPr lang="ja-JP" altLang="en-US" sz="1200" dirty="0"/>
          </a:p>
        </p:txBody>
      </p:sp>
      <p:sp>
        <p:nvSpPr>
          <p:cNvPr id="10" name="矢印"/>
          <p:cNvSpPr/>
          <p:nvPr/>
        </p:nvSpPr>
        <p:spPr>
          <a:xfrm>
            <a:off x="4805172" y="1691640"/>
            <a:ext cx="29260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1" name="流れ3"/>
          <p:cNvSpPr/>
          <p:nvPr/>
        </p:nvSpPr>
        <p:spPr>
          <a:xfrm>
            <a:off x="5097779" y="1691640"/>
            <a:ext cx="2004822" cy="71323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来場</a:t>
            </a:r>
            <a:endParaRPr lang="ja-JP" altLang="en-US" sz="1200" dirty="0"/>
          </a:p>
        </p:txBody>
      </p:sp>
      <p:sp>
        <p:nvSpPr>
          <p:cNvPr id="12" name="矢印"/>
          <p:cNvSpPr/>
          <p:nvPr/>
        </p:nvSpPr>
        <p:spPr>
          <a:xfrm>
            <a:off x="7102601" y="1691640"/>
            <a:ext cx="29260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3" name="流れ4"/>
          <p:cNvSpPr/>
          <p:nvPr/>
        </p:nvSpPr>
        <p:spPr>
          <a:xfrm>
            <a:off x="7395210" y="1691640"/>
            <a:ext cx="2004822" cy="71323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商談・成約</a:t>
            </a:r>
            <a:endParaRPr lang="ja-JP" altLang="en-US" sz="1200" dirty="0"/>
          </a:p>
        </p:txBody>
      </p:sp>
      <p:sp>
        <p:nvSpPr>
          <p:cNvPr id="14" name="壁1"/>
          <p:cNvSpPr/>
          <p:nvPr/>
        </p:nvSpPr>
        <p:spPr>
          <a:xfrm>
            <a:off x="502920" y="2514600"/>
            <a:ext cx="2004822" cy="18288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91440" tIns="73152" rIns="91440" bIns="54864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05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壁1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来訪者の大半はCVせずに離れる。自社サイトの資料請求は月一桁で、検討中の方の受け皿がない</a:t>
            </a:r>
            <a:endParaRPr lang="ja-JP" altLang="en-US" sz="1200" dirty="0"/>
          </a:p>
        </p:txBody>
      </p:sp>
      <p:sp>
        <p:nvSpPr>
          <p:cNvPr id="15" name="壁2"/>
          <p:cNvSpPr/>
          <p:nvPr/>
        </p:nvSpPr>
        <p:spPr>
          <a:xfrm>
            <a:off x="2800350" y="2514600"/>
            <a:ext cx="2004822" cy="18288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91440" tIns="73152" rIns="91440" bIns="54864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05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壁2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予約の後は電話・メールだけ。青森店は予約のキャンセルが2〜3割</a:t>
            </a:r>
            <a:endParaRPr lang="ja-JP" altLang="en-US" sz="1200" dirty="0"/>
          </a:p>
        </p:txBody>
      </p:sp>
      <p:sp>
        <p:nvSpPr>
          <p:cNvPr id="16" name="壁3"/>
          <p:cNvSpPr/>
          <p:nvPr/>
        </p:nvSpPr>
        <p:spPr>
          <a:xfrm>
            <a:off x="5097779" y="2514600"/>
            <a:ext cx="2004822" cy="18288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91440" tIns="73152" rIns="91440" bIns="54864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05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壁3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検討が浅い段階での来場があり、その場では決まらない</a:t>
            </a:r>
            <a:endParaRPr lang="ja-JP" altLang="en-US" sz="1200" dirty="0"/>
          </a:p>
        </p:txBody>
      </p:sp>
      <p:sp>
        <p:nvSpPr>
          <p:cNvPr id="17" name="壁4"/>
          <p:cNvSpPr/>
          <p:nvPr/>
        </p:nvSpPr>
        <p:spPr>
          <a:xfrm>
            <a:off x="7395210" y="2514600"/>
            <a:ext cx="2004822" cy="18288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91440" tIns="73152" rIns="91440" bIns="54864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ja-JP" altLang="en-US" sz="105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壁4</a:t>
            </a:r>
            <a:endParaRPr lang="ja-JP" altLang="en-US" sz="1200" dirty="0"/>
          </a:p>
          <a:p>
            <a:pPr algn="l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検討が長い方を追い続ける仕組みがなく、競合（一条工務店・大進建設）に流れる</a:t>
            </a:r>
            <a:endParaRPr lang="ja-JP" altLang="en-US" sz="1200" dirty="0"/>
          </a:p>
        </p:txBody>
      </p:sp>
      <p:sp>
        <p:nvSpPr>
          <p:cNvPr id="18" name="示唆"/>
          <p:cNvSpPr/>
          <p:nvPr/>
        </p:nvSpPr>
        <p:spPr>
          <a:xfrm>
            <a:off x="502920" y="5074920"/>
            <a:ext cx="8897112" cy="56692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最大の損失は、</a:t>
            </a:r>
            <a: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熱量の高い見込み客を集めても来場以降の接点が切れること</a:t>
            </a:r>
            <a:endParaRPr lang="ja-JP" altLang="en-US" sz="1200" dirty="0"/>
          </a:p>
        </p:txBody>
      </p:sp>
      <p:sp>
        <p:nvSpPr>
          <p:cNvPr id="19" name="注記"/>
          <p:cNvSpPr/>
          <p:nvPr/>
        </p:nvSpPr>
        <p:spPr>
          <a:xfrm>
            <a:off x="502920" y="585216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※現状の追客は予約後の電話・メール。既存のLINE公式アカウントはイベント告知が中心で、追客には使えていない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 dirty="0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解決策：LINEの配信で</a:t>
            </a:r>
            <a:r>
              <a:rPr lang="ja-JP" altLang="en-US" sz="1600" b="1" u="none" strike="noStrike" dirty="0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ナーチャリングを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売り込みではなく「住みたいイメージ」を配信で育て、来場・商談のときの成約率を底上げする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graphicFrame>
        <p:nvGraphicFramePr>
          <p:cNvPr id="7" name="配信 6"/>
          <p:cNvGraphicFramePr>
            <a:graphicFrameLocks noGrp="1"/>
          </p:cNvGraphicFramePr>
          <p:nvPr/>
        </p:nvGraphicFramePr>
        <p:xfrm>
          <a:off x="502920" y="1691640"/>
          <a:ext cx="8897112" cy="25603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配信コンテンツ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内容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感じてもらうこと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ルームツアー動画</a:t>
                      </a:r>
                      <a:endParaRPr lang="ja-JP" altLang="en-US" sz="11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完成した家の中を歩く動画。間取り・収納・暮らしの動線</a:t>
                      </a:r>
                      <a:endParaRPr lang="ja-JP" altLang="en-US" sz="10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この家に住みたい</a:t>
                      </a:r>
                      <a:endParaRPr lang="ja-JP" altLang="en-US" sz="11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暮らしの風景</a:t>
                      </a:r>
                      <a:endParaRPr lang="ja-JP" altLang="en-US" sz="11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入居後の暮らし・季節ごとの様子・施主の声</a:t>
                      </a:r>
                      <a:endParaRPr lang="ja-JP" altLang="en-US" sz="10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この暮らしがいい</a:t>
                      </a:r>
                      <a:endParaRPr lang="ja-JP" altLang="en-US" sz="11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街並み・エリアの魅力</a:t>
                      </a:r>
                      <a:endParaRPr lang="ja-JP" altLang="en-US" sz="11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八戸・おいらせ・青森・弘前の街並み、土地の情報</a:t>
                      </a:r>
                      <a:endParaRPr lang="ja-JP" altLang="en-US" sz="10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この街に住みたい</a:t>
                      </a:r>
                      <a:endParaRPr lang="ja-JP" altLang="en-US" sz="11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家づくりの知識</a:t>
                      </a:r>
                      <a:endParaRPr lang="ja-JP" altLang="en-US" sz="11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青森の冬を乗り切る性能、費用の考え方、補助金</a:t>
                      </a:r>
                      <a:endParaRPr lang="ja-JP" altLang="en-US" sz="10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この会社は信頼できる</a:t>
                      </a:r>
                      <a:endParaRPr lang="ja-JP" altLang="en-US" sz="11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流れ1"/>
          <p:cNvSpPr/>
          <p:nvPr/>
        </p:nvSpPr>
        <p:spPr>
          <a:xfrm>
            <a:off x="502920" y="4343400"/>
            <a:ext cx="2004822" cy="658368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資料請求・来場予約</a:t>
            </a:r>
            <a:endParaRPr lang="ja-JP" altLang="en-US" sz="1200" dirty="0"/>
          </a:p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完了後にLINE追加</a:t>
            </a:r>
            <a:endParaRPr lang="ja-JP" altLang="en-US" sz="1200" dirty="0"/>
          </a:p>
        </p:txBody>
      </p:sp>
      <p:sp>
        <p:nvSpPr>
          <p:cNvPr id="9" name="矢印"/>
          <p:cNvSpPr/>
          <p:nvPr/>
        </p:nvSpPr>
        <p:spPr>
          <a:xfrm>
            <a:off x="2507741" y="4343400"/>
            <a:ext cx="29260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0" name="流れ2"/>
          <p:cNvSpPr/>
          <p:nvPr/>
        </p:nvSpPr>
        <p:spPr>
          <a:xfrm>
            <a:off x="2800350" y="4343400"/>
            <a:ext cx="2004822" cy="658368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配信でファン化</a:t>
            </a:r>
            <a:endParaRPr lang="ja-JP" altLang="en-US" sz="1200" dirty="0"/>
          </a:p>
        </p:txBody>
      </p:sp>
      <p:sp>
        <p:nvSpPr>
          <p:cNvPr id="11" name="矢印"/>
          <p:cNvSpPr/>
          <p:nvPr/>
        </p:nvSpPr>
        <p:spPr>
          <a:xfrm>
            <a:off x="4805172" y="4343400"/>
            <a:ext cx="29260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2" name="流れ3"/>
          <p:cNvSpPr/>
          <p:nvPr/>
        </p:nvSpPr>
        <p:spPr>
          <a:xfrm>
            <a:off x="5097779" y="4343400"/>
            <a:ext cx="2004822" cy="658368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タイミングが良い時に来場</a:t>
            </a:r>
            <a:endParaRPr lang="ja-JP" altLang="en-US" sz="1200" dirty="0"/>
          </a:p>
        </p:txBody>
      </p:sp>
      <p:sp>
        <p:nvSpPr>
          <p:cNvPr id="13" name="矢印"/>
          <p:cNvSpPr/>
          <p:nvPr/>
        </p:nvSpPr>
        <p:spPr>
          <a:xfrm>
            <a:off x="7102601" y="4343400"/>
            <a:ext cx="29260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4" name="流れ4"/>
          <p:cNvSpPr/>
          <p:nvPr/>
        </p:nvSpPr>
        <p:spPr>
          <a:xfrm>
            <a:off x="7395210" y="4343400"/>
            <a:ext cx="2004822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商談の成約率を底上げ</a:t>
            </a:r>
            <a:endParaRPr lang="ja-JP" altLang="en-US" sz="1200" dirty="0"/>
          </a:p>
        </p:txBody>
      </p:sp>
      <p:sp>
        <p:nvSpPr>
          <p:cNvPr id="20" name="示唆"/>
          <p:cNvSpPr/>
          <p:nvPr/>
        </p:nvSpPr>
        <p:spPr>
          <a:xfrm>
            <a:off x="502920" y="5074920"/>
            <a:ext cx="8897112" cy="56692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資料請求の時点から、</a:t>
            </a:r>
            <a: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来場・契約まで追える</a:t>
            </a: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のがLINEの強み</a:t>
            </a:r>
            <a:endParaRPr lang="ja-JP" altLang="en-US" sz="1200" dirty="0"/>
          </a:p>
        </p:txBody>
      </p:sp>
      <p:sp>
        <p:nvSpPr>
          <p:cNvPr id="15" name="注記"/>
          <p:cNvSpPr/>
          <p:nvPr/>
        </p:nvSpPr>
        <p:spPr>
          <a:xfrm>
            <a:off x="502920" y="585216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※動画・写真はInstagram・Meta広告の素材を流用し、制作の負担を抑える／既存のLINE公式アカウントを活用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 dirty="0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今後の展開：青森店で型を作り、全店へ横展開する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配信の仕組みとコンテンツは、他の店舗・別のターゲットにそのまま転用できる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sp>
        <p:nvSpPr>
          <p:cNvPr id="7" name="見出し 青森店で確立する型"/>
          <p:cNvSpPr/>
          <p:nvPr/>
        </p:nvSpPr>
        <p:spPr>
          <a:xfrm>
            <a:off x="502920" y="1691640"/>
            <a:ext cx="3383280" cy="34747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青森店で確立する型</a:t>
            </a:r>
            <a:endParaRPr lang="ja-JP" altLang="en-US" sz="1200" dirty="0"/>
          </a:p>
        </p:txBody>
      </p:sp>
      <p:sp>
        <p:nvSpPr>
          <p:cNvPr id="8" name="型1"/>
          <p:cNvSpPr/>
          <p:nvPr/>
        </p:nvSpPr>
        <p:spPr>
          <a:xfrm>
            <a:off x="502920" y="2103120"/>
            <a:ext cx="3383280" cy="676656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137160" tIns="36576" rIns="91440" bIns="36576" rtlCol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入口</a:t>
            </a:r>
            <a:endParaRPr lang="ja-JP" altLang="en-US" sz="1200" dirty="0"/>
          </a:p>
          <a:p>
            <a:pPr algn="l">
              <a:lnSpc>
                <a:spcPct val="11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サイト・来場予約・展示場からLINEへ</a:t>
            </a:r>
            <a:endParaRPr lang="ja-JP" altLang="en-US" sz="1200" dirty="0"/>
          </a:p>
        </p:txBody>
      </p:sp>
      <p:sp>
        <p:nvSpPr>
          <p:cNvPr id="9" name="型2"/>
          <p:cNvSpPr/>
          <p:nvPr/>
        </p:nvSpPr>
        <p:spPr>
          <a:xfrm>
            <a:off x="502920" y="2889503"/>
            <a:ext cx="3383280" cy="676656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137160" tIns="36576" rIns="91440" bIns="36576" rtlCol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配信</a:t>
            </a:r>
            <a:endParaRPr lang="ja-JP" altLang="en-US" sz="1200" dirty="0"/>
          </a:p>
          <a:p>
            <a:pPr algn="l">
              <a:lnSpc>
                <a:spcPct val="11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ルームツアー・暮らし・街並みの型</a:t>
            </a:r>
            <a:endParaRPr lang="ja-JP" altLang="en-US" sz="1200" dirty="0"/>
          </a:p>
        </p:txBody>
      </p:sp>
      <p:sp>
        <p:nvSpPr>
          <p:cNvPr id="10" name="型3"/>
          <p:cNvSpPr/>
          <p:nvPr/>
        </p:nvSpPr>
        <p:spPr>
          <a:xfrm>
            <a:off x="502920" y="3675887"/>
            <a:ext cx="3383280" cy="676656"/>
          </a:xfrm>
          <a:prstGeom prst="rect">
            <a:avLst/>
          </a:prstGeom>
          <a:noFill/>
          <a:ln w="9525">
            <a:solidFill>
              <a:srgbClr val="1F285A"/>
            </a:solidFill>
          </a:ln>
        </p:spPr>
        <p:txBody>
          <a:bodyPr wrap="square" lIns="137160" tIns="36576" rIns="91440" bIns="36576" rtlCol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体制</a:t>
            </a:r>
            <a:endParaRPr lang="ja-JP" altLang="en-US" sz="1200" dirty="0"/>
          </a:p>
          <a:p>
            <a:pPr algn="l">
              <a:lnSpc>
                <a:spcPct val="11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営業 × 事務 × 弊社の運用</a:t>
            </a:r>
            <a:endParaRPr lang="ja-JP" altLang="en-US" sz="1200" dirty="0"/>
          </a:p>
        </p:txBody>
      </p:sp>
      <p:sp>
        <p:nvSpPr>
          <p:cNvPr id="11" name="矢印"/>
          <p:cNvSpPr/>
          <p:nvPr/>
        </p:nvSpPr>
        <p:spPr>
          <a:xfrm>
            <a:off x="3931920" y="2103120"/>
            <a:ext cx="457199" cy="23591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8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2" name="見出し 横展開"/>
          <p:cNvSpPr/>
          <p:nvPr/>
        </p:nvSpPr>
        <p:spPr>
          <a:xfrm>
            <a:off x="4434840" y="1691640"/>
            <a:ext cx="4965192" cy="34747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横展開</a:t>
            </a:r>
            <a:endParaRPr lang="ja-JP" altLang="en-US" sz="1200" dirty="0"/>
          </a:p>
        </p:txBody>
      </p:sp>
      <p:graphicFrame>
        <p:nvGraphicFramePr>
          <p:cNvPr id="13" name="横展開 12"/>
          <p:cNvGraphicFramePr>
            <a:graphicFrameLocks noGrp="1"/>
          </p:cNvGraphicFramePr>
          <p:nvPr/>
        </p:nvGraphicFramePr>
        <p:xfrm>
          <a:off x="4434840" y="2103120"/>
          <a:ext cx="4965192" cy="2359152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店舗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八戸・おいらせ・弘前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店舗ごとのQR・URLで、配信を分ける</a:t>
                      </a:r>
                      <a:endParaRPr lang="ja-JP" altLang="en-US" sz="10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商品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注文住宅・分譲・土地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希望に合わせた配信</a:t>
                      </a:r>
                      <a:endParaRPr lang="ja-JP" altLang="en-US" sz="10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層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検討中・来場済・OB施主</a:t>
                      </a:r>
                      <a:endParaRPr lang="ja-JP" altLang="en-US" sz="11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段階に合わせた配信（OB施主には紹介・点検の案内）</a:t>
                      </a:r>
                      <a:endParaRPr lang="ja-JP" altLang="en-US" sz="105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示唆"/>
          <p:cNvSpPr/>
          <p:nvPr/>
        </p:nvSpPr>
        <p:spPr>
          <a:xfrm>
            <a:off x="502920" y="5074920"/>
            <a:ext cx="8897112" cy="56692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集客投資の効果を最大化するために、</a:t>
            </a:r>
            <a: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今、LINE公式アカウントの基盤を構築する</a:t>
            </a:r>
            <a:endParaRPr lang="ja-JP" altLang="en-US" sz="1200" dirty="0"/>
          </a:p>
        </p:txBody>
      </p:sp>
      <p:sp>
        <p:nvSpPr>
          <p:cNvPr id="15" name="注記"/>
          <p:cNvSpPr/>
          <p:nvPr/>
        </p:nvSpPr>
        <p:spPr>
          <a:xfrm>
            <a:off x="502920" y="585216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※1つのアカウントで運用し、店舗・商品・層は友だち追加の経路とタグで分ける／既存のLINE公式アカウントを活用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正方形/長方形 18"/>
          <p:cNvSpPr/>
          <p:nvPr/>
        </p:nvSpPr>
        <p:spPr>
          <a:xfrm>
            <a:off x="1649160" y="5820840"/>
            <a:ext cx="6192360" cy="3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spcBef>
                <a:spcPts val="167"/>
              </a:spcBef>
            </a:pP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株式会社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DYM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〒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141-0032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東京都品川区大崎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1-11-2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ゲートシティ大崎イーストタワー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10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階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67"/>
              </a:spcBef>
            </a:pP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TEL: 03-5745-0200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FAX: 03-3779-8720 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http://dym.asia   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代表取締役　水谷佑毅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4" name="図 1"/>
          <p:cNvPicPr/>
          <p:nvPr/>
        </p:nvPicPr>
        <p:blipFill>
          <a:blip r:embed="rId3"/>
          <a:srcRect l="-1652" r="-11179"/>
          <a:stretch/>
        </p:blipFill>
        <p:spPr>
          <a:xfrm>
            <a:off x="543960" y="5895360"/>
            <a:ext cx="1100520" cy="2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5" name="テキスト ボックス 2"/>
          <p:cNvSpPr/>
          <p:nvPr/>
        </p:nvSpPr>
        <p:spPr>
          <a:xfrm>
            <a:off x="5070240" y="5597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076" name="正方形/長方形 17"/>
          <p:cNvSpPr/>
          <p:nvPr/>
        </p:nvSpPr>
        <p:spPr>
          <a:xfrm>
            <a:off x="2170080" y="989640"/>
            <a:ext cx="55656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360"/>
              </a:spcBef>
            </a:pPr>
            <a:r>
              <a:rPr lang="ja-JP" sz="180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貴社の明るい未来に必ず貢献致します。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正方形/長方形 13"/>
          <p:cNvSpPr/>
          <p:nvPr/>
        </p:nvSpPr>
        <p:spPr>
          <a:xfrm>
            <a:off x="382680" y="2698200"/>
            <a:ext cx="597960" cy="20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47"/>
              </a:spcBef>
            </a:pPr>
            <a:r>
              <a:rPr lang="ja-JP" sz="740" b="0" u="none" strike="noStrike">
                <a:solidFill>
                  <a:srgbClr val="FFFFFF"/>
                </a:solidFill>
                <a:effectLst/>
                <a:uFillTx/>
                <a:latin typeface="メイリオ"/>
                <a:ea typeface="メイリオ"/>
              </a:rPr>
              <a:t>本社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正方形/長方形 14"/>
          <p:cNvSpPr/>
          <p:nvPr/>
        </p:nvSpPr>
        <p:spPr>
          <a:xfrm>
            <a:off x="368280" y="2355120"/>
            <a:ext cx="75636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59"/>
              </a:spcBef>
            </a:pPr>
            <a:r>
              <a:rPr lang="ja-JP" sz="800" b="0" u="none" strike="noStrike">
                <a:solidFill>
                  <a:srgbClr val="FFFFFF"/>
                </a:solidFill>
                <a:effectLst/>
                <a:uFillTx/>
                <a:latin typeface="メイリオ"/>
                <a:ea typeface="メイリオ"/>
              </a:rPr>
              <a:t>本社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79" name="グループ化 21"/>
          <p:cNvGrpSpPr/>
          <p:nvPr/>
        </p:nvGrpSpPr>
        <p:grpSpPr>
          <a:xfrm>
            <a:off x="380880" y="1772640"/>
            <a:ext cx="9143640" cy="3314520"/>
            <a:chOff x="380880" y="1772640"/>
            <a:chExt cx="9143640" cy="3314520"/>
          </a:xfrm>
        </p:grpSpPr>
        <p:pic>
          <p:nvPicPr>
            <p:cNvPr id="1080" name="図 20" descr="ポーズをとる男性グループ&#10;&#10;自動的に生成された説明"/>
            <p:cNvPicPr/>
            <p:nvPr/>
          </p:nvPicPr>
          <p:blipFill>
            <a:blip r:embed="rId4"/>
            <a:srcRect l="3642" r="4070"/>
            <a:stretch/>
          </p:blipFill>
          <p:spPr>
            <a:xfrm>
              <a:off x="7354800" y="3518640"/>
              <a:ext cx="2169720" cy="1567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1" name="図 15" descr="白いシャツを着ている男性&#10;&#10;中程度の精度で自動的に生成された説明"/>
            <p:cNvPicPr/>
            <p:nvPr/>
          </p:nvPicPr>
          <p:blipFill>
            <a:blip r:embed="rId5"/>
            <a:stretch/>
          </p:blipFill>
          <p:spPr>
            <a:xfrm>
              <a:off x="5364720" y="3519720"/>
              <a:ext cx="1989720" cy="1567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2" name="図 9" descr="スーツを着た男性たち&#10;&#10;自動的に生成された説明"/>
            <p:cNvPicPr/>
            <p:nvPr/>
          </p:nvPicPr>
          <p:blipFill>
            <a:blip r:embed="rId6"/>
            <a:srcRect l="10699" r="10360"/>
            <a:stretch/>
          </p:blipFill>
          <p:spPr>
            <a:xfrm>
              <a:off x="7680600" y="1774080"/>
              <a:ext cx="1842120" cy="1745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3" name="図 6" descr="講堂にいる人たち&#10;&#10;中程度の精度で自動的に生成された説明"/>
            <p:cNvPicPr/>
            <p:nvPr/>
          </p:nvPicPr>
          <p:blipFill>
            <a:blip r:embed="rId7"/>
            <a:srcRect l="2513" t="12878" r="2480"/>
            <a:stretch/>
          </p:blipFill>
          <p:spPr>
            <a:xfrm>
              <a:off x="380880" y="1772640"/>
              <a:ext cx="5089320" cy="3314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4" name="図 10" descr="スーツを着た男性グループの写真&#10;&#10;低い精度で自動的に生成された説明"/>
            <p:cNvPicPr/>
            <p:nvPr/>
          </p:nvPicPr>
          <p:blipFill>
            <a:blip r:embed="rId8"/>
            <a:srcRect l="8592" r="6764"/>
            <a:stretch/>
          </p:blipFill>
          <p:spPr>
            <a:xfrm>
              <a:off x="5470920" y="1773000"/>
              <a:ext cx="2215080" cy="1745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85" name="正方形/長方形 5"/>
          <p:cNvSpPr/>
          <p:nvPr/>
        </p:nvSpPr>
        <p:spPr>
          <a:xfrm>
            <a:off x="128160" y="6620400"/>
            <a:ext cx="2852640" cy="237240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6" name="正方形/長方形 1"/>
          <p:cNvSpPr/>
          <p:nvPr/>
        </p:nvSpPr>
        <p:spPr>
          <a:xfrm>
            <a:off x="368280" y="0"/>
            <a:ext cx="9537480" cy="5144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143259</TotalTime>
  <Words>1037</Words>
  <Application>Microsoft Office PowerPoint</Application>
  <PresentationFormat>A4 210 x 297 mm</PresentationFormat>
  <Paragraphs>116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メイリオ</vt:lpstr>
      <vt:lpstr>Arial</vt:lpstr>
      <vt:lpstr>Calibri</vt:lpstr>
      <vt:lpstr>Symbol</vt:lpstr>
      <vt:lpstr>Times New Roman</vt:lpstr>
      <vt:lpstr>Wingdings</vt:lpstr>
      <vt:lpstr>テーマ1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>中村 駿</dc:creator>
  <dc:description/>
  <cp:lastModifiedBy>殿村 亮太</cp:lastModifiedBy>
  <cp:revision>1973</cp:revision>
  <cp:lastPrinted>2022-11-01T11:38:14Z</cp:lastPrinted>
  <dcterms:created xsi:type="dcterms:W3CDTF">2015-09-04T09:21:15Z</dcterms:created>
  <dcterms:modified xsi:type="dcterms:W3CDTF">2026-10-15T16:41:08Z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21</vt:r8>
  </property>
  <property fmtid="{D5CDD505-2E9C-101B-9397-08002B2CF9AE}" pid="3" name="PresentationFormat">
    <vt:lpwstr>A4 210 x 297 mm</vt:lpwstr>
  </property>
  <property fmtid="{D5CDD505-2E9C-101B-9397-08002B2CF9AE}" pid="4" name="Slides">
    <vt:r8>46</vt:r8>
  </property>
</Properties>
</file>