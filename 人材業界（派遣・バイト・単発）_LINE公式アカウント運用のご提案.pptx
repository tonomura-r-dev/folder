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7" r:id="rId2"/>
  </p:sldMasterIdLst>
  <p:notesMasterIdLst>
    <p:notesMasterId r:id="rId36"/>
  </p:notesMasterIdLst>
  <p:handoutMasterIdLst>
    <p:handoutMasterId r:id="rId37"/>
  </p:handoutMasterIdLst>
  <p:sldIdLst>
    <p:sldId id="2363" r:id="rId3"/>
    <p:sldId id="2736" r:id="rId4"/>
    <p:sldId id="2935" r:id="rId5"/>
    <p:sldId id="2989" r:id="rId6"/>
    <p:sldId id="2991" r:id="rId7"/>
    <p:sldId id="2956" r:id="rId8"/>
    <p:sldId id="2762" r:id="rId9"/>
    <p:sldId id="2962" r:id="rId10"/>
    <p:sldId id="2992" r:id="rId11"/>
    <p:sldId id="2993" r:id="rId12"/>
    <p:sldId id="2990" r:id="rId13"/>
    <p:sldId id="2994" r:id="rId14"/>
    <p:sldId id="3009" r:id="rId15"/>
    <p:sldId id="3010" r:id="rId16"/>
    <p:sldId id="3011" r:id="rId17"/>
    <p:sldId id="2939" r:id="rId18"/>
    <p:sldId id="2937" r:id="rId19"/>
    <p:sldId id="2996" r:id="rId20"/>
    <p:sldId id="2997" r:id="rId21"/>
    <p:sldId id="2954" r:id="rId22"/>
    <p:sldId id="2998" r:id="rId23"/>
    <p:sldId id="2966" r:id="rId24"/>
    <p:sldId id="2999" r:id="rId25"/>
    <p:sldId id="3000" r:id="rId26"/>
    <p:sldId id="3001" r:id="rId27"/>
    <p:sldId id="2953" r:id="rId28"/>
    <p:sldId id="3002" r:id="rId29"/>
    <p:sldId id="3003" r:id="rId30"/>
    <p:sldId id="3004" r:id="rId31"/>
    <p:sldId id="2908" r:id="rId32"/>
    <p:sldId id="3005" r:id="rId33"/>
    <p:sldId id="3008" r:id="rId34"/>
    <p:sldId id="1169" r:id="rId35"/>
  </p:sldIdLst>
  <p:sldSz cx="9906000" cy="6858000" type="A4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58" userDrawn="1">
          <p15:clr>
            <a:srgbClr val="A4A3A4"/>
          </p15:clr>
        </p15:guide>
        <p15:guide id="2" pos="3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DFD"/>
    <a:srgbClr val="173559"/>
    <a:srgbClr val="04FA0A"/>
    <a:srgbClr val="2080FF"/>
    <a:srgbClr val="1D8DFF"/>
    <a:srgbClr val="515457"/>
    <a:srgbClr val="F6A454"/>
    <a:srgbClr val="EAEEF4"/>
    <a:srgbClr val="2D6CB9"/>
    <a:srgbClr val="D1D9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中間スタイル 1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157" autoAdjust="0"/>
    <p:restoredTop sz="94424" autoAdjust="0"/>
  </p:normalViewPr>
  <p:slideViewPr>
    <p:cSldViewPr snapToGrid="0">
      <p:cViewPr varScale="1">
        <p:scale>
          <a:sx n="110" d="100"/>
          <a:sy n="110" d="100"/>
        </p:scale>
        <p:origin x="1236" y="102"/>
      </p:cViewPr>
      <p:guideLst>
        <p:guide orient="horz" pos="3158"/>
        <p:guide pos="30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072"/>
    </p:cViewPr>
  </p:sorterViewPr>
  <p:notesViewPr>
    <p:cSldViewPr snapToGrid="0">
      <p:cViewPr varScale="1">
        <p:scale>
          <a:sx n="79" d="100"/>
          <a:sy n="79" d="100"/>
        </p:scale>
        <p:origin x="4014" y="102"/>
      </p:cViewPr>
      <p:guideLst/>
    </p:cSldViewPr>
  </p:notesViewPr>
  <p:gridSpacing cx="1080001" cy="1080001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notesMaster" Target="notesMasters/notesMaster1.xml"/><Relationship Id="rId37" Type="http://schemas.openxmlformats.org/officeDocument/2006/relationships/handoutMaster" Target="handoutMasters/handout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5621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r">
              <a:defRPr sz="1200"/>
            </a:lvl1pPr>
          </a:lstStyle>
          <a:p>
            <a:fld id="{7B45B759-5475-4693-BFD4-53BF6401E4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9530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5082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r">
              <a:defRPr sz="1200"/>
            </a:lvl1pPr>
          </a:lstStyle>
          <a:p>
            <a:fld id="{6AF8158D-F6B1-45E0-9831-E70689DC8490}" type="datetimeFigureOut">
              <a:rPr kumimoji="1" lang="ja-JP" altLang="en-US" smtClean="0"/>
              <a:t>2026/10/21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3013"/>
            <a:ext cx="48450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29" tIns="45765" rIns="91529" bIns="45765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0402" y="4782901"/>
            <a:ext cx="5446396" cy="3913426"/>
          </a:xfrm>
          <a:prstGeom prst="rect">
            <a:avLst/>
          </a:prstGeom>
        </p:spPr>
        <p:txBody>
          <a:bodyPr vert="horz" lIns="91529" tIns="45765" rIns="91529" bIns="45765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5082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r">
              <a:defRPr sz="1200"/>
            </a:lvl1pPr>
          </a:lstStyle>
          <a:p>
            <a:fld id="{022E43C0-6795-4B13-B37C-259C826D4B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0918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E855B-5535-79F7-D3A0-C0A506787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3C6FB8FB-0888-2275-ABE8-A13FDAA10E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2D71EA6C-9577-A559-064D-4DE5700FB2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1C4F904-4503-6BD1-FC32-6AA038134F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54210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956886">
              <a:defRPr/>
            </a:pPr>
            <a:endParaRPr lang="ja-JP" altLang="en-US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defTabSz="956886">
              <a:defRPr/>
            </a:pPr>
            <a:fld id="{929202D6-C1F5-472A-A72F-285F233F82C2}" type="slidenum">
              <a:rPr lang="ja-JP" altLang="en-US">
                <a:solidFill>
                  <a:prstClr val="black"/>
                </a:solidFill>
                <a:latin typeface="Calibri"/>
                <a:ea typeface="ＭＳ Ｐゴシック" panose="020B0600070205080204" pitchFamily="50" charset="-128"/>
              </a:rPr>
              <a:pPr defTabSz="956886">
                <a:defRPr/>
              </a:pPr>
              <a:t>33</a:t>
            </a:fld>
            <a:endParaRPr lang="ja-JP" altLang="en-US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920873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 userDrawn="1"/>
        </p:nvSpPr>
        <p:spPr>
          <a:xfrm>
            <a:off x="9398000" y="6591300"/>
            <a:ext cx="419100" cy="266700"/>
          </a:xfrm>
          <a:prstGeom prst="rect">
            <a:avLst/>
          </a:prstGeom>
          <a:solidFill>
            <a:srgbClr val="191F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8107768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191F5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正方形/長方形 6"/>
          <p:cNvSpPr/>
          <p:nvPr/>
        </p:nvSpPr>
        <p:spPr>
          <a:xfrm>
            <a:off x="0" y="0"/>
            <a:ext cx="451204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8189266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521234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3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1357" y="72255"/>
            <a:ext cx="1598627" cy="424153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1355" y="32333"/>
            <a:ext cx="1653069" cy="635796"/>
          </a:xfrm>
          <a:prstGeom prst="rect">
            <a:avLst/>
          </a:prstGeom>
        </p:spPr>
      </p:pic>
      <p:sp>
        <p:nvSpPr>
          <p:cNvPr id="6" name="正方形/長方形 5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  <p:sp>
        <p:nvSpPr>
          <p:cNvPr id="8" name="スライド番号プレースホルダ 1"/>
          <p:cNvSpPr txBox="1">
            <a:spLocks/>
          </p:cNvSpPr>
          <p:nvPr/>
        </p:nvSpPr>
        <p:spPr>
          <a:xfrm>
            <a:off x="7594600" y="6552729"/>
            <a:ext cx="2311400" cy="365125"/>
          </a:xfrm>
          <a:prstGeom prst="rect">
            <a:avLst/>
          </a:prstGeom>
        </p:spPr>
        <p:txBody>
          <a:bodyPr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b="1" smtClean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pPr algn="r"/>
              <a:t>‹#›</a:t>
            </a:fld>
            <a:endParaRPr lang="ja-JP" altLang="en-US" sz="14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9" name="テキスト ボックス 8"/>
          <p:cNvSpPr txBox="1">
            <a:spLocks noChangeArrowheads="1"/>
          </p:cNvSpPr>
          <p:nvPr userDrawn="1"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Copyright(c) DYM Co., Ltd</a:t>
            </a:r>
            <a:r>
              <a:rPr lang="ja-JP" altLang="en-US" sz="800" b="1" dirty="0" err="1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．</a:t>
            </a: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45870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83" r:id="rId2"/>
    <p:sldLayoutId id="2147483689" r:id="rId3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sp>
        <p:nvSpPr>
          <p:cNvPr id="10" name="テキスト ボックス 9"/>
          <p:cNvSpPr txBox="1">
            <a:spLocks noChangeArrowheads="1"/>
          </p:cNvSpPr>
          <p:nvPr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Copyright(c) DYM Co., </a:t>
            </a:r>
            <a:r>
              <a:rPr lang="en-US" altLang="ja-JP" sz="800" b="1" dirty="0" err="1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Ltd.All</a:t>
            </a: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 Rights Reserved.</a:t>
            </a:r>
          </a:p>
        </p:txBody>
      </p:sp>
      <p:sp>
        <p:nvSpPr>
          <p:cNvPr id="8" name="正方形/長方形 7"/>
          <p:cNvSpPr/>
          <p:nvPr/>
        </p:nvSpPr>
        <p:spPr>
          <a:xfrm>
            <a:off x="0" y="0"/>
            <a:ext cx="416496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cxnSp>
        <p:nvCxnSpPr>
          <p:cNvPr id="4" name="直線コネクタ 3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0032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図 1"/>
          <p:cNvPicPr>
            <a:picLocks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47" r="-11171"/>
          <a:stretch/>
        </p:blipFill>
        <p:spPr bwMode="auto">
          <a:xfrm>
            <a:off x="8619408" y="161057"/>
            <a:ext cx="1192729" cy="263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スライド番号プレースホルダ 1"/>
          <p:cNvSpPr txBox="1">
            <a:spLocks/>
          </p:cNvSpPr>
          <p:nvPr userDrawn="1"/>
        </p:nvSpPr>
        <p:spPr>
          <a:xfrm>
            <a:off x="7545288" y="6571255"/>
            <a:ext cx="2133600" cy="216000"/>
          </a:xfrm>
          <a:prstGeom prst="rect">
            <a:avLst/>
          </a:prstGeom>
        </p:spPr>
        <p:txBody>
          <a:bodyPr tIns="25200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i="1" smtClean="0">
                <a:solidFill>
                  <a:prstClr val="white"/>
                </a:solidFill>
                <a:latin typeface="Century Gothic" panose="020B0502020202020204" pitchFamily="34" charset="0"/>
              </a:rPr>
              <a:pPr algn="r"/>
              <a:t>‹#›</a:t>
            </a:fld>
            <a:endParaRPr lang="ja-JP" altLang="en-US" sz="1400" i="1" dirty="0">
              <a:solidFill>
                <a:prstClr val="white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1138245"/>
      </p:ext>
    </p:extLst>
  </p:cSld>
  <p:clrMap bg1="lt1" tx1="dk1" bg2="lt2" tx2="dk2" accent1="accent1" accent2="accent2" accent3="accent3" accent4="accent4" accent5="accent5" accent6="accent6" hlink="hlink" folHlink="folHlink"/>
  <p:hf hd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jpeg"/><Relationship Id="rId3" Type="http://schemas.openxmlformats.org/officeDocument/2006/relationships/image" Target="../media/image12.jpeg"/><Relationship Id="rId4" Type="http://schemas.openxmlformats.org/officeDocument/2006/relationships/image" Target="../media/image13.jpeg"/><Relationship Id="rId5" Type="http://schemas.openxmlformats.org/officeDocument/2006/relationships/image" Target="../media/image14.jpe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15.jpeg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3" Type="http://schemas.openxmlformats.org/officeDocument/2006/relationships/image" Target="../media/image3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3" Type="http://schemas.openxmlformats.org/officeDocument/2006/relationships/image" Target="../media/image2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3" Type="http://schemas.openxmlformats.org/officeDocument/2006/relationships/image" Target="../media/image30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emf"/><Relationship Id="rId4" Type="http://schemas.openxmlformats.org/officeDocument/2006/relationships/image" Target="../media/image24.jpeg"/><Relationship Id="rId5" Type="http://schemas.openxmlformats.org/officeDocument/2006/relationships/image" Target="../media/image25.jpeg"/><Relationship Id="rId6" Type="http://schemas.openxmlformats.org/officeDocument/2006/relationships/image" Target="../media/image26.jpeg"/><Relationship Id="rId7" Type="http://schemas.openxmlformats.org/officeDocument/2006/relationships/image" Target="../media/image27.jpeg"/><Relationship Id="rId8" Type="http://schemas.openxmlformats.org/officeDocument/2006/relationships/image" Target="../media/image2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9A0322D-BA5F-9122-1E12-FB7AC2AF15A5}"/>
              </a:ext>
            </a:extLst>
          </p:cNvPr>
          <p:cNvSpPr/>
          <p:nvPr/>
        </p:nvSpPr>
        <p:spPr>
          <a:xfrm>
            <a:off x="1665887" y="3038203"/>
            <a:ext cx="657423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ja-I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LINE</a:t>
            </a:r>
            <a:r>
              <a:rPr lang="ja-JP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公式アカウント運用のご提案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3CC59398-53B4-E01E-A60C-6C13628FCBFB}"/>
              </a:ext>
            </a:extLst>
          </p:cNvPr>
          <p:cNvSpPr/>
          <p:nvPr/>
        </p:nvSpPr>
        <p:spPr>
          <a:xfrm>
            <a:off x="1613481" y="2729823"/>
            <a:ext cx="662663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ja-JP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最上位パートナーの知見を活用し、獲得に強い動線を構築する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B532C1C8-7FE6-8830-B27C-27941421F5F9}"/>
              </a:ext>
            </a:extLst>
          </p:cNvPr>
          <p:cNvCxnSpPr>
            <a:cxnSpLocks/>
          </p:cNvCxnSpPr>
          <p:nvPr/>
        </p:nvCxnSpPr>
        <p:spPr>
          <a:xfrm>
            <a:off x="1337175" y="3705064"/>
            <a:ext cx="7231660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図 8" descr="背景パターン&#10;&#10;AI 生成コンテンツは誤りを含む可能性があります。">
            <a:extLst>
              <a:ext uri="{FF2B5EF4-FFF2-40B4-BE49-F238E27FC236}">
                <a16:creationId xmlns:a16="http://schemas.microsoft.com/office/drawing/2014/main" id="{FFE022E1-8FF6-B4B4-B955-17E7CFA964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8159931" cy="766354"/>
          </a:xfrm>
          <a:prstGeom prst="rect">
            <a:avLst/>
          </a:prstGeom>
        </p:spPr>
      </p:pic>
      <p:pic>
        <p:nvPicPr>
          <p:cNvPr id="10" name="図 9" descr="背景パターン&#10;&#10;AI 生成コンテンツは誤りを含む可能性があります。">
            <a:extLst>
              <a:ext uri="{FF2B5EF4-FFF2-40B4-BE49-F238E27FC236}">
                <a16:creationId xmlns:a16="http://schemas.microsoft.com/office/drawing/2014/main" id="{0F2999B3-5873-C495-70F5-12487911C6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494114"/>
            <a:ext cx="2042161" cy="272239"/>
          </a:xfrm>
          <a:prstGeom prst="rect">
            <a:avLst/>
          </a:prstGeom>
        </p:spPr>
      </p:pic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8EDEE7F4-9CB5-D481-E92E-3941E7AB9B1C}"/>
              </a:ext>
            </a:extLst>
          </p:cNvPr>
          <p:cNvSpPr/>
          <p:nvPr/>
        </p:nvSpPr>
        <p:spPr>
          <a:xfrm>
            <a:off x="3422468" y="3910946"/>
            <a:ext cx="3065417" cy="40554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- 2026</a:t>
            </a:r>
            <a:r>
              <a:rPr kumimoji="1" lang="ja-JP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最新版 </a:t>
            </a:r>
            <a:r>
              <a:rPr kumimoji="1" lang="en-US" altLang="ja-JP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-</a:t>
            </a:r>
            <a:endParaRPr kumimoji="1" lang="ja-JP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26E1B5EC-868B-5787-A5AF-C20671BB3688}"/>
              </a:ext>
            </a:extLst>
          </p:cNvPr>
          <p:cNvSpPr/>
          <p:nvPr/>
        </p:nvSpPr>
        <p:spPr>
          <a:xfrm>
            <a:off x="3422468" y="4341752"/>
            <a:ext cx="3065417" cy="40554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業界：人材（派遣・バイト・単発）</a:t>
            </a:r>
          </a:p>
        </p:txBody>
      </p:sp>
    </p:spTree>
    <p:extLst>
      <p:ext uri="{BB962C8B-B14F-4D97-AF65-F5344CB8AC3E}">
        <p14:creationId xmlns:p14="http://schemas.microsoft.com/office/powerpoint/2010/main" val="3944598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D501E-4538-865B-06FF-B4530B24F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52;p28">
            <a:extLst>
              <a:ext uri="{FF2B5EF4-FFF2-40B4-BE49-F238E27FC236}">
                <a16:creationId xmlns:a16="http://schemas.microsoft.com/office/drawing/2014/main" id="{3D3533E4-0377-76E5-495C-9BA89161C5A7}"/>
              </a:ext>
            </a:extLst>
          </p:cNvPr>
          <p:cNvSpPr txBox="1"/>
          <p:nvPr/>
        </p:nvSpPr>
        <p:spPr>
          <a:xfrm>
            <a:off x="547200" y="154743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資料アジェンダ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739175"/>
            <a:ext cx="9043200" cy="58085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dirty="0" err="1">
                <a:solidFill>
                  <a:srgbClr val="1E2761"/>
                </a:solidFill>
                <a:latin typeface="メイリオ"/>
                <a:ea typeface="メイリオ"/>
                <a:cs typeface="Meiryo"/>
              </a:rPr>
              <a:t>派遣・バイトの仕事探しは、数日で応募先が決まり、数か月後にまた始まる</a:t>
            </a:r>
            <a:r>
              <a:rPr sz="1600" b="1" dirty="0">
                <a:solidFill>
                  <a:srgbClr val="1E2761"/>
                </a:solidFill>
                <a:latin typeface="メイリオ"/>
                <a:ea typeface="メイリオ"/>
                <a:cs typeface="Meiryo"/>
              </a:rPr>
              <a:t>。</a:t>
            </a:r>
          </a:p>
          <a:p>
            <a:pPr algn="l">
              <a:lnSpc>
                <a:spcPct val="115000"/>
              </a:lnSpc>
            </a:pPr>
            <a:r>
              <a:rPr sz="1600" b="1" dirty="0" err="1">
                <a:solidFill>
                  <a:srgbClr val="1E2761"/>
                </a:solidFill>
                <a:latin typeface="メイリオ"/>
                <a:ea typeface="メイリオ"/>
                <a:cs typeface="Meiryo"/>
              </a:rPr>
              <a:t>一度応募した方に、次の仕事探し</a:t>
            </a:r>
            <a:r>
              <a:rPr lang="ja-JP" altLang="en-US" sz="1600" b="1" dirty="0">
                <a:solidFill>
                  <a:srgbClr val="1E2761"/>
                </a:solidFill>
                <a:latin typeface="メイリオ"/>
                <a:ea typeface="メイリオ"/>
                <a:cs typeface="Meiryo"/>
              </a:rPr>
              <a:t>が</a:t>
            </a:r>
            <a:r>
              <a:rPr lang="en-US" altLang="ja-JP" sz="1600" b="1" dirty="0">
                <a:solidFill>
                  <a:srgbClr val="1E2761"/>
                </a:solidFill>
                <a:latin typeface="メイリオ"/>
                <a:ea typeface="メイリオ"/>
                <a:cs typeface="Meiryo"/>
              </a:rPr>
              <a:t>LINE</a:t>
            </a:r>
            <a:r>
              <a:rPr lang="ja-JP" altLang="en-US" sz="1600" b="1" dirty="0">
                <a:solidFill>
                  <a:srgbClr val="1E2761"/>
                </a:solidFill>
                <a:latin typeface="メイリオ"/>
                <a:ea typeface="メイリオ"/>
                <a:cs typeface="Meiryo"/>
              </a:rPr>
              <a:t>でスムーズに進むため</a:t>
            </a:r>
            <a:r>
              <a:rPr sz="1600" b="1" dirty="0" err="1">
                <a:solidFill>
                  <a:srgbClr val="1E2761"/>
                </a:solidFill>
                <a:latin typeface="メイリオ"/>
                <a:ea typeface="メイリオ"/>
                <a:cs typeface="Meiryo"/>
              </a:rPr>
              <a:t>のご提案</a:t>
            </a:r>
            <a:r>
              <a:rPr sz="1600" b="1" dirty="0">
                <a:solidFill>
                  <a:srgbClr val="1E2761"/>
                </a:solidFill>
                <a:latin typeface="メイリオ"/>
                <a:ea typeface="メイリオ"/>
                <a:cs typeface="Meiryo"/>
              </a:rPr>
              <a:t>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000" y="1458000"/>
            <a:ext cx="9043200" cy="583200"/>
          </a:xfrm>
          <a:prstGeom prst="roundRect">
            <a:avLst>
              <a:gd name="adj" fmla="val 12000"/>
            </a:avLst>
          </a:prstGeom>
          <a:solidFill>
            <a:srgbClr val="EEF2F9"/>
          </a:solidFill>
          <a:ln w="9525">
            <a:solidFill>
              <a:srgbClr val="C9D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22000" y="1515600"/>
            <a:ext cx="468000" cy="468000"/>
          </a:xfrm>
          <a:prstGeom prst="roundRect">
            <a:avLst>
              <a:gd name="adj" fmla="val 12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22000" y="1515600"/>
            <a:ext cx="4680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メイリオ"/>
                <a:ea typeface="メイリオ"/>
                <a:cs typeface="Meiryo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6000" y="1458000"/>
            <a:ext cx="2232000" cy="5832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E2761"/>
                </a:solidFill>
                <a:latin typeface="メイリオ"/>
                <a:ea typeface="メイリオ"/>
                <a:cs typeface="Meiryo"/>
              </a:rPr>
              <a:t>第1章｜背景と強み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48000" y="1618449"/>
            <a:ext cx="6048000" cy="262301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dirty="0" err="1">
                <a:solidFill>
                  <a:srgbClr val="333333"/>
                </a:solidFill>
                <a:latin typeface="メイリオ"/>
                <a:ea typeface="メイリオ"/>
                <a:cs typeface="Meiryo"/>
              </a:rPr>
              <a:t>仕事探しの流れと、LINEでできること</a:t>
            </a:r>
            <a:endParaRPr sz="1400" b="0" dirty="0">
              <a:solidFill>
                <a:srgbClr val="333333"/>
              </a:solidFill>
              <a:latin typeface="メイリオ"/>
              <a:ea typeface="メイリオ"/>
              <a:cs typeface="Meiryo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32000" y="2098800"/>
            <a:ext cx="9043200" cy="583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9D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22000" y="2156400"/>
            <a:ext cx="468000" cy="468000"/>
          </a:xfrm>
          <a:prstGeom prst="roundRect">
            <a:avLst>
              <a:gd name="adj" fmla="val 12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22000" y="2156400"/>
            <a:ext cx="4680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メイリオ"/>
                <a:ea typeface="メイリオ"/>
                <a:cs typeface="Meiryo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6000" y="2098800"/>
            <a:ext cx="2232000" cy="5832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E2761"/>
                </a:solidFill>
                <a:latin typeface="メイリオ"/>
                <a:ea typeface="メイリオ"/>
                <a:cs typeface="Meiryo"/>
              </a:rPr>
              <a:t>第2章｜全体戦略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48000" y="2098800"/>
            <a:ext cx="6048000" cy="5832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Meiryo"/>
              </a:rPr>
              <a:t>契約満了後の再応募を軸にした全体設計・データ・他社事例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2000" y="2739600"/>
            <a:ext cx="9043200" cy="583200"/>
          </a:xfrm>
          <a:prstGeom prst="roundRect">
            <a:avLst>
              <a:gd name="adj" fmla="val 12000"/>
            </a:avLst>
          </a:prstGeom>
          <a:solidFill>
            <a:srgbClr val="EEF2F9"/>
          </a:solidFill>
          <a:ln w="9525">
            <a:solidFill>
              <a:srgbClr val="C9D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22000" y="2797200"/>
            <a:ext cx="468000" cy="468000"/>
          </a:xfrm>
          <a:prstGeom prst="roundRect">
            <a:avLst>
              <a:gd name="adj" fmla="val 12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2000" y="2797200"/>
            <a:ext cx="4680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メイリオ"/>
                <a:ea typeface="メイリオ"/>
                <a:cs typeface="Meiryo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6000" y="2739600"/>
            <a:ext cx="2232000" cy="5832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E2761"/>
                </a:solidFill>
                <a:latin typeface="メイリオ"/>
                <a:ea typeface="メイリオ"/>
                <a:cs typeface="Meiryo"/>
              </a:rPr>
              <a:t>第3章｜新規獲得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48000" y="2739600"/>
            <a:ext cx="6048000" cy="5832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Meiryo"/>
              </a:rPr>
              <a:t>タウンワークの型・友だち追加の動線・あいさつ・リッチメニュー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2000" y="3380400"/>
            <a:ext cx="9043200" cy="583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9D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22000" y="3438000"/>
            <a:ext cx="468000" cy="468000"/>
          </a:xfrm>
          <a:prstGeom prst="roundRect">
            <a:avLst>
              <a:gd name="adj" fmla="val 12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22000" y="3438000"/>
            <a:ext cx="4680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メイリオ"/>
                <a:ea typeface="メイリオ"/>
                <a:cs typeface="Meiryo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6000" y="3380400"/>
            <a:ext cx="2232000" cy="5832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E2761"/>
                </a:solidFill>
                <a:latin typeface="メイリオ"/>
                <a:ea typeface="メイリオ"/>
                <a:cs typeface="Meiryo"/>
              </a:rPr>
              <a:t>第4章｜配信設計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48000" y="3540849"/>
            <a:ext cx="6048000" cy="262301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Meiryo"/>
              </a:rPr>
              <a:t>14日間のステップ配信・配信文面・満了前のご案内・通知メッセージ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2000" y="4021200"/>
            <a:ext cx="9043200" cy="583200"/>
          </a:xfrm>
          <a:prstGeom prst="roundRect">
            <a:avLst>
              <a:gd name="adj" fmla="val 12000"/>
            </a:avLst>
          </a:prstGeom>
          <a:solidFill>
            <a:srgbClr val="EEF2F9"/>
          </a:solidFill>
          <a:ln w="9525">
            <a:solidFill>
              <a:srgbClr val="C9D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522000" y="4078800"/>
            <a:ext cx="468000" cy="468000"/>
          </a:xfrm>
          <a:prstGeom prst="roundRect">
            <a:avLst>
              <a:gd name="adj" fmla="val 12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22000" y="4078800"/>
            <a:ext cx="4680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メイリオ"/>
                <a:ea typeface="メイリオ"/>
                <a:cs typeface="Meiryo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6000" y="4021200"/>
            <a:ext cx="2232000" cy="5832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E2761"/>
                </a:solidFill>
                <a:latin typeface="メイリオ"/>
                <a:ea typeface="メイリオ"/>
                <a:cs typeface="Meiryo"/>
              </a:rPr>
              <a:t>第5章｜体制実績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48000" y="4181649"/>
            <a:ext cx="6048000" cy="262301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dirty="0" err="1">
                <a:solidFill>
                  <a:srgbClr val="333333"/>
                </a:solidFill>
                <a:latin typeface="メイリオ"/>
                <a:ea typeface="メイリオ"/>
                <a:cs typeface="Meiryo"/>
              </a:rPr>
              <a:t>運用サポート体制・効果測定の設計</a:t>
            </a:r>
            <a:endParaRPr sz="1400" b="0" dirty="0">
              <a:solidFill>
                <a:srgbClr val="333333"/>
              </a:solidFill>
              <a:latin typeface="メイリオ"/>
              <a:ea typeface="メイリオ"/>
              <a:cs typeface="Meiryo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432000" y="4662000"/>
            <a:ext cx="9043200" cy="583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9D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522000" y="4719600"/>
            <a:ext cx="468000" cy="4680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22000" y="4719600"/>
            <a:ext cx="4680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メイリオ"/>
                <a:ea typeface="メイリオ"/>
                <a:cs typeface="Meiryo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6000" y="4662000"/>
            <a:ext cx="2232000" cy="5832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E2761"/>
                </a:solidFill>
                <a:latin typeface="メイリオ"/>
                <a:ea typeface="メイリオ"/>
                <a:cs typeface="Meiryo"/>
              </a:rPr>
              <a:t>第6章｜費用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48000" y="4662000"/>
            <a:ext cx="6048000" cy="5832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Meiryo"/>
              </a:rPr>
              <a:t>費用プラン</a:t>
            </a:r>
          </a:p>
        </p:txBody>
      </p:sp>
    </p:spTree>
    <p:extLst>
      <p:ext uri="{BB962C8B-B14F-4D97-AF65-F5344CB8AC3E}">
        <p14:creationId xmlns:p14="http://schemas.microsoft.com/office/powerpoint/2010/main" val="31128037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579F4-FB71-CB84-349D-670C2D29F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156;p7">
            <a:extLst>
              <a:ext uri="{FF2B5EF4-FFF2-40B4-BE49-F238E27FC236}">
                <a16:creationId xmlns:a16="http://schemas.microsoft.com/office/drawing/2014/main" id="{5303208C-F2F3-3716-B706-B8EDA63E9750}"/>
              </a:ext>
            </a:extLst>
          </p:cNvPr>
          <p:cNvSpPr txBox="1"/>
          <p:nvPr/>
        </p:nvSpPr>
        <p:spPr>
          <a:xfrm>
            <a:off x="547200" y="138118"/>
            <a:ext cx="6514857" cy="338554"/>
          </a:xfrm>
          <a:prstGeom prst="rect">
            <a:avLst/>
          </a:prstGeom>
          <a:noFill/>
          <a:ln w="19050"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600"/>
              <a:buFont typeface="Arial"/>
              <a:buNone/>
            </a:pPr>
            <a:r>
              <a:rPr lang="en-US" altLang="ja-JP" sz="1600" b="1" dirty="0">
                <a:solidFill>
                  <a:srgbClr val="002060"/>
                </a:solidFill>
                <a:latin typeface="Meiryo"/>
                <a:ea typeface="Meiryo"/>
                <a:cs typeface="Meiryo"/>
                <a:sym typeface="Meiryo"/>
              </a:rPr>
              <a:t>［第1章］提案の背景｜仕事探しは、応募のたびにくり返される</a:t>
            </a:r>
            <a:endParaRPr sz="1600" b="1" dirty="0">
              <a:solidFill>
                <a:srgbClr val="002060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417600" y="790329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dirty="0" err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派遣・バイトの応募は数日で決まり、数か月後にはまた次の仕事を探し始める。</a:t>
            </a:r>
          </a:p>
          <a:p>
            <a:pPr algn="l">
              <a:lnSpc>
                <a:spcPct val="120000"/>
              </a:lnSpc>
            </a:pPr>
            <a:r>
              <a:rPr sz="1400" b="1" dirty="0" err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応募のあともつながりを保てれば、次の仕事探しでも貴社を選んでいただきやすくなる。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32000" y="1624820"/>
            <a:ext cx="4392000" cy="2742488"/>
          </a:xfrm>
          <a:prstGeom prst="rect">
            <a:avLst/>
          </a:prstGeom>
          <a:solidFill>
            <a:srgbClr val="F2F2F2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432000" y="1624820"/>
            <a:ext cx="4392000" cy="318728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32000" y="1624820"/>
            <a:ext cx="4392000" cy="342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仕事探しで起きていること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76000" y="2008203"/>
            <a:ext cx="4104000" cy="2217451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21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・応募は、広告や求人サイトから集まる</a:t>
            </a:r>
          </a:p>
          <a:p>
            <a:pPr algn="l">
              <a:lnSpc>
                <a:spcPct val="21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・同じ日に、複数の会社へ応募する</a:t>
            </a:r>
          </a:p>
          <a:p>
            <a:pPr algn="l">
              <a:lnSpc>
                <a:spcPct val="21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・連絡がつかず、面接に来られない方もいる</a:t>
            </a:r>
          </a:p>
          <a:p>
            <a:pPr algn="l">
              <a:lnSpc>
                <a:spcPct val="21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・契約満了や閑散期に、また仕事を探し始める</a:t>
            </a:r>
          </a:p>
          <a:p>
            <a:pPr algn="l">
              <a:lnSpc>
                <a:spcPct val="21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・次の仕事探しも、また広告や検索から始まる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083200" y="1624820"/>
            <a:ext cx="4392000" cy="2742488"/>
          </a:xfrm>
          <a:prstGeom prst="rect">
            <a:avLst/>
          </a:prstGeom>
          <a:solidFill>
            <a:srgbClr val="EEF2F9"/>
          </a:solidFill>
          <a:ln w="1587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5083200" y="1624820"/>
            <a:ext cx="4392000" cy="318728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083200" y="1624820"/>
            <a:ext cx="4392000" cy="342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LINEでできること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227200" y="2008203"/>
            <a:ext cx="4104000" cy="2217451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21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・希望条件に合う新着求人をお届けできる</a:t>
            </a:r>
          </a:p>
          <a:p>
            <a:pPr algn="l">
              <a:lnSpc>
                <a:spcPct val="21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・配信は当日中に約8割が開封される</a:t>
            </a:r>
          </a:p>
          <a:p>
            <a:pPr algn="l">
              <a:lnSpc>
                <a:spcPct val="21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・選択式の質問なら、移動中でも答えやすい</a:t>
            </a:r>
          </a:p>
          <a:p>
            <a:pPr algn="l">
              <a:lnSpc>
                <a:spcPct val="21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・面接・職場見学の前日にご案内できる</a:t>
            </a:r>
          </a:p>
          <a:p>
            <a:pPr algn="l">
              <a:lnSpc>
                <a:spcPct val="21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・契約満了の前に、次のお仕事をご案内できる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32000" y="4755852"/>
            <a:ext cx="9043200" cy="637456"/>
          </a:xfrm>
          <a:prstGeom prst="rect">
            <a:avLst/>
          </a:prstGeom>
          <a:solidFill>
            <a:srgbClr val="EEF2F9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76000" y="4931307"/>
            <a:ext cx="8755200" cy="333089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ja-JP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LINE</a:t>
            </a:r>
            <a:r>
              <a:rPr lang="ja-JP" altLang="en-US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で、応募や選考にスムーズに進めるようにする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出典｜開封率はLINEヤフー公式値</a:t>
            </a:r>
          </a:p>
        </p:txBody>
      </p:sp>
    </p:spTree>
    <p:extLst>
      <p:ext uri="{BB962C8B-B14F-4D97-AF65-F5344CB8AC3E}">
        <p14:creationId xmlns:p14="http://schemas.microsoft.com/office/powerpoint/2010/main" val="993846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44384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dirty="0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［第1章］派遣・バイト求人のWebマーケ構造｜3つの壁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905558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dirty="0" err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応募単価や、求人の量・質は、LINEでは変えられない。</a:t>
            </a:r>
          </a:p>
          <a:p>
            <a:pPr algn="ctr">
              <a:lnSpc>
                <a:spcPct val="120000"/>
              </a:lnSpc>
            </a:pPr>
            <a:r>
              <a:rPr sz="14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LINEで改善できるのは、応募のあとと、次の仕事探しの2つの場面。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1881207"/>
            <a:ext cx="3016800" cy="1588180"/>
          </a:xfrm>
          <a:prstGeom prst="rect">
            <a:avLst/>
          </a:prstGeom>
          <a:solidFill>
            <a:srgbClr val="FFFFFF"/>
          </a:solidFill>
          <a:ln w="1270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" name="Rectangle 4"/>
          <p:cNvSpPr/>
          <p:nvPr/>
        </p:nvSpPr>
        <p:spPr>
          <a:xfrm>
            <a:off x="432000" y="1881207"/>
            <a:ext cx="3016800" cy="331200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" name="TextBox 5"/>
          <p:cNvSpPr txBox="1"/>
          <p:nvPr/>
        </p:nvSpPr>
        <p:spPr>
          <a:xfrm>
            <a:off x="432000" y="1915656"/>
            <a:ext cx="30168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① 応募単価の高騰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0000" y="2284407"/>
            <a:ext cx="1152000" cy="2232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 w="952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8" name="TextBox 7"/>
          <p:cNvSpPr txBox="1"/>
          <p:nvPr/>
        </p:nvSpPr>
        <p:spPr>
          <a:xfrm>
            <a:off x="540000" y="2282554"/>
            <a:ext cx="11520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595959"/>
                </a:solidFill>
                <a:latin typeface="メイリオ"/>
                <a:ea typeface="メイリオ"/>
                <a:cs typeface="メイリオ"/>
              </a:rPr>
              <a:t>LINEの対象外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2601207"/>
            <a:ext cx="2800800" cy="822454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・求人広告の単価は市況で決まる</a:t>
            </a:r>
          </a:p>
          <a:p>
            <a:pPr algn="l">
              <a:lnSpc>
                <a:spcPct val="150000"/>
              </a:lnSpc>
            </a:pPr>
            <a:r>
              <a:rPr sz="12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・求人の仕入れも対象外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17200" y="1881207"/>
            <a:ext cx="3016800" cy="15881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" name="Rectangle 10"/>
          <p:cNvSpPr/>
          <p:nvPr/>
        </p:nvSpPr>
        <p:spPr>
          <a:xfrm>
            <a:off x="3517200" y="1881207"/>
            <a:ext cx="3016800" cy="3312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" name="TextBox 11"/>
          <p:cNvSpPr txBox="1"/>
          <p:nvPr/>
        </p:nvSpPr>
        <p:spPr>
          <a:xfrm>
            <a:off x="3517200" y="1915656"/>
            <a:ext cx="30168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② 応募後に連絡が取りにくい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25200" y="2284407"/>
            <a:ext cx="1152000" cy="223200"/>
          </a:xfrm>
          <a:prstGeom prst="roundRect">
            <a:avLst>
              <a:gd name="adj" fmla="val 10000"/>
            </a:avLst>
          </a:prstGeom>
          <a:solidFill>
            <a:srgbClr val="EEF2F9"/>
          </a:solidFill>
          <a:ln w="952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4" name="TextBox 13"/>
          <p:cNvSpPr txBox="1"/>
          <p:nvPr/>
        </p:nvSpPr>
        <p:spPr>
          <a:xfrm>
            <a:off x="3625200" y="2282554"/>
            <a:ext cx="11520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LINEで改善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25200" y="2601207"/>
            <a:ext cx="2800800" cy="822454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・同じ日に複数社へ応募している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・電話がつながらず面接に至らない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・職場見学の前に不安で足が止まる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02400" y="1881207"/>
            <a:ext cx="3016800" cy="15881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7" name="Rectangle 16"/>
          <p:cNvSpPr/>
          <p:nvPr/>
        </p:nvSpPr>
        <p:spPr>
          <a:xfrm>
            <a:off x="6602400" y="1881207"/>
            <a:ext cx="3016800" cy="3312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8" name="TextBox 17"/>
          <p:cNvSpPr txBox="1"/>
          <p:nvPr/>
        </p:nvSpPr>
        <p:spPr>
          <a:xfrm>
            <a:off x="6602400" y="1915656"/>
            <a:ext cx="30168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③ 再応募につながりにくい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10400" y="2284407"/>
            <a:ext cx="1152000" cy="223200"/>
          </a:xfrm>
          <a:prstGeom prst="roundRect">
            <a:avLst>
              <a:gd name="adj" fmla="val 10000"/>
            </a:avLst>
          </a:prstGeom>
          <a:solidFill>
            <a:srgbClr val="EEF2F9"/>
          </a:solidFill>
          <a:ln w="952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0" name="TextBox 19"/>
          <p:cNvSpPr txBox="1"/>
          <p:nvPr/>
        </p:nvSpPr>
        <p:spPr>
          <a:xfrm>
            <a:off x="6710400" y="2282554"/>
            <a:ext cx="11520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ja-JP" altLang="en-US" sz="12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LINEで改善</a:t>
            </a:r>
            <a:endParaRPr sz="1200" b="1" dirty="0">
              <a:solidFill>
                <a:srgbClr val="00206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710400" y="2601207"/>
            <a:ext cx="2800800" cy="822454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・契約満了・閑散期にまた探し始める</a:t>
            </a:r>
          </a:p>
          <a:p>
            <a:pPr algn="l">
              <a:lnSpc>
                <a:spcPct val="150000"/>
              </a:lnSpc>
            </a:pPr>
            <a:r>
              <a:rPr sz="12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・その時、連絡手段が残りにくい</a:t>
            </a:r>
          </a:p>
          <a:p>
            <a:pPr algn="l">
              <a:lnSpc>
                <a:spcPct val="150000"/>
              </a:lnSpc>
            </a:pPr>
            <a:r>
              <a:rPr sz="12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・次の応募も広告から集め直す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2000" y="3748026"/>
            <a:ext cx="9043200" cy="1204097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>
              <a:lnSpc>
                <a:spcPct val="160000"/>
              </a:lnSpc>
            </a:pPr>
            <a:r>
              <a:rPr sz="160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②③</a:t>
            </a:r>
            <a:r>
              <a:rPr lang="ja-JP" altLang="en-US" sz="160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の</a:t>
            </a:r>
            <a:r>
              <a:rPr sz="160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改善</a:t>
            </a:r>
            <a:r>
              <a:rPr lang="ja-JP" altLang="en-US" sz="160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により、</a:t>
            </a:r>
            <a:r>
              <a:rPr sz="160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広告費はそのままで、同じ方にくり返し応募いただき</a:t>
            </a:r>
            <a:r>
              <a:rPr sz="160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endParaRPr lang="en-US" sz="1600" b="1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>
              <a:lnSpc>
                <a:spcPct val="160000"/>
              </a:lnSpc>
            </a:pPr>
            <a:r>
              <a:rPr sz="160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就業・再就業につながる機会を増やせる</a:t>
            </a:r>
            <a:r>
              <a:rPr sz="160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  <a:p>
            <a:pPr>
              <a:lnSpc>
                <a:spcPct val="160000"/>
              </a:lnSpc>
            </a:pPr>
            <a:r>
              <a:rPr sz="160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応募CPAの改善は、就業率が今と変わらないことを前提に算出する。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2000" y="5242026"/>
            <a:ext cx="9043200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32000" y="5242026"/>
            <a:ext cx="9043200" cy="378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LINEで改善するのは「応募のあと」と「次の仕事探し」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※ 応募から面接に進む割合・リピート応募率は公開データがないため、貴社の実績をもとに算出する／LINEの配信は当日中に約8割が開封される（LINEヤフー公式値）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32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dirty="0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［第1章］Webマーケで「できること」と「できないこと」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830352"/>
            <a:ext cx="93312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ja-JP" altLang="en-US" sz="16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求人内容や時給はそのままに、応募後のご連絡と次のお仕事探しをLINEで支援する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1548000"/>
            <a:ext cx="4392000" cy="2719200"/>
          </a:xfrm>
          <a:prstGeom prst="rect">
            <a:avLst/>
          </a:prstGeom>
          <a:solidFill>
            <a:srgbClr val="F2F2F2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" name="Rectangle 4"/>
          <p:cNvSpPr/>
          <p:nvPr/>
        </p:nvSpPr>
        <p:spPr>
          <a:xfrm>
            <a:off x="432000" y="1548000"/>
            <a:ext cx="4392000" cy="342000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" name="TextBox 5"/>
          <p:cNvSpPr txBox="1"/>
          <p:nvPr/>
        </p:nvSpPr>
        <p:spPr>
          <a:xfrm>
            <a:off x="432000" y="1570152"/>
            <a:ext cx="43920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できないこと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00" y="1835975"/>
            <a:ext cx="4104000" cy="1845811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22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sz="140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求人の質と量（仕入れ</a:t>
            </a: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）</a:t>
            </a:r>
          </a:p>
          <a:p>
            <a:pPr algn="l">
              <a:lnSpc>
                <a:spcPct val="22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sz="140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時給・給与などの条件</a:t>
            </a:r>
            <a:endParaRPr sz="1400" b="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22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sz="140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求人広告の単価</a:t>
            </a:r>
            <a:endParaRPr sz="1400" b="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22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・雇用情勢</a:t>
            </a:r>
          </a:p>
        </p:txBody>
      </p:sp>
      <p:sp>
        <p:nvSpPr>
          <p:cNvPr id="8" name="Rectangle 7"/>
          <p:cNvSpPr/>
          <p:nvPr/>
        </p:nvSpPr>
        <p:spPr>
          <a:xfrm>
            <a:off x="5083200" y="1548000"/>
            <a:ext cx="4392000" cy="2719200"/>
          </a:xfrm>
          <a:prstGeom prst="rect">
            <a:avLst/>
          </a:prstGeom>
          <a:solidFill>
            <a:srgbClr val="EEF2F9"/>
          </a:solidFill>
          <a:ln w="1587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9" name="Rectangle 8"/>
          <p:cNvSpPr/>
          <p:nvPr/>
        </p:nvSpPr>
        <p:spPr>
          <a:xfrm>
            <a:off x="5083200" y="1548000"/>
            <a:ext cx="4392000" cy="342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" name="TextBox 9"/>
          <p:cNvSpPr txBox="1"/>
          <p:nvPr/>
        </p:nvSpPr>
        <p:spPr>
          <a:xfrm>
            <a:off x="5083200" y="1570152"/>
            <a:ext cx="43920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できること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27200" y="1835975"/>
            <a:ext cx="4104000" cy="2319787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22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・応募の直後に、希望条件を5問だけ伺う</a:t>
            </a:r>
          </a:p>
          <a:p>
            <a:pPr algn="l">
              <a:lnSpc>
                <a:spcPct val="22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・条件に合う新着求人をお届けする</a:t>
            </a:r>
          </a:p>
          <a:p>
            <a:pPr algn="l">
              <a:lnSpc>
                <a:spcPct val="22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・面接・職場見学の前日にご案内する</a:t>
            </a:r>
          </a:p>
          <a:p>
            <a:pPr algn="l">
              <a:lnSpc>
                <a:spcPct val="22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・契約満了の前に、次のお仕事をご案内する</a:t>
            </a:r>
          </a:p>
          <a:p>
            <a:pPr algn="l">
              <a:lnSpc>
                <a:spcPct val="22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・閑散期に友だちを増やし、繁忙期の応募へ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81942" y="4753800"/>
            <a:ext cx="4572001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3" name="TextBox 12"/>
          <p:cNvSpPr txBox="1"/>
          <p:nvPr/>
        </p:nvSpPr>
        <p:spPr>
          <a:xfrm>
            <a:off x="630685" y="4753800"/>
            <a:ext cx="8386629" cy="333089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戻ってきていただく仕組みを整える</a:t>
            </a:r>
            <a:endParaRPr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92180-D336-F255-C39D-17584774E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52;p28">
            <a:extLst>
              <a:ext uri="{FF2B5EF4-FFF2-40B4-BE49-F238E27FC236}">
                <a16:creationId xmlns:a16="http://schemas.microsoft.com/office/drawing/2014/main" id="{C912E4CC-70AD-5529-2A5A-4FA0D1C97A2B}"/>
              </a:ext>
            </a:extLst>
          </p:cNvPr>
          <p:cNvSpPr txBox="1"/>
          <p:nvPr/>
        </p:nvSpPr>
        <p:spPr>
          <a:xfrm>
            <a:off x="547200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［第2章］全体設計｜カスタマージャーニー8フェーズ</a:t>
            </a:r>
          </a:p>
        </p:txBody>
      </p:sp>
      <p:sp>
        <p:nvSpPr>
          <p:cNvPr id="3" name="Google Shape;752;p28">
            <a:extLst>
              <a:ext uri="{FF2B5EF4-FFF2-40B4-BE49-F238E27FC236}">
                <a16:creationId xmlns:a16="http://schemas.microsoft.com/office/drawing/2014/main" id="{AF6C2475-3BD5-7DF2-52BD-C0F30E8072CF}"/>
              </a:ext>
            </a:extLst>
          </p:cNvPr>
          <p:cNvSpPr txBox="1"/>
          <p:nvPr/>
        </p:nvSpPr>
        <p:spPr>
          <a:xfrm>
            <a:off x="351453" y="776599"/>
            <a:ext cx="7774305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r>
              <a:rPr lang="ja-JP" altLang="en-US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仕事を探す方の行動の流れ（8つの段階）に合わせて、LINEの施策を配置する。</a:t>
            </a:r>
            <a:endParaRPr lang="en-US" altLang="ja-JP" sz="16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r>
              <a:rPr lang="en-US" altLang="ja-JP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特に力を入れるのは、④応募のあと、⑧契約満了からの再応募。</a:t>
            </a:r>
          </a:p>
        </p:txBody>
      </p:sp>
      <p:cxnSp>
        <p:nvCxnSpPr>
          <p:cNvPr id="2" name="直線コネクタ 1">
            <a:extLst>
              <a:ext uri="{FF2B5EF4-FFF2-40B4-BE49-F238E27FC236}">
                <a16:creationId xmlns:a16="http://schemas.microsoft.com/office/drawing/2014/main" id="{8D0721AE-E7E5-698E-E773-F2614C0DBB07}"/>
              </a:ext>
            </a:extLst>
          </p:cNvPr>
          <p:cNvCxnSpPr>
            <a:cxnSpLocks/>
          </p:cNvCxnSpPr>
          <p:nvPr/>
        </p:nvCxnSpPr>
        <p:spPr>
          <a:xfrm>
            <a:off x="315939" y="2178817"/>
            <a:ext cx="0" cy="2882641"/>
          </a:xfrm>
          <a:prstGeom prst="line">
            <a:avLst/>
          </a:prstGeom>
          <a:ln w="6350">
            <a:solidFill>
              <a:srgbClr val="A6A6A6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3BFFC88E-A589-D631-D366-94F280EFF67D}"/>
              </a:ext>
            </a:extLst>
          </p:cNvPr>
          <p:cNvCxnSpPr>
            <a:cxnSpLocks/>
          </p:cNvCxnSpPr>
          <p:nvPr/>
        </p:nvCxnSpPr>
        <p:spPr>
          <a:xfrm>
            <a:off x="1265077" y="2190680"/>
            <a:ext cx="0" cy="2882641"/>
          </a:xfrm>
          <a:prstGeom prst="line">
            <a:avLst/>
          </a:prstGeom>
          <a:ln w="6350">
            <a:solidFill>
              <a:srgbClr val="A6A6A6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D90E23BB-3076-5B7D-82F3-8433A2B09D1F}"/>
              </a:ext>
            </a:extLst>
          </p:cNvPr>
          <p:cNvCxnSpPr>
            <a:cxnSpLocks/>
          </p:cNvCxnSpPr>
          <p:nvPr/>
        </p:nvCxnSpPr>
        <p:spPr>
          <a:xfrm>
            <a:off x="2202413" y="2188038"/>
            <a:ext cx="0" cy="2882641"/>
          </a:xfrm>
          <a:prstGeom prst="line">
            <a:avLst/>
          </a:prstGeom>
          <a:ln w="6350">
            <a:solidFill>
              <a:srgbClr val="A6A6A6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3A68BF14-4E95-B76C-1300-FF13B29BADF0}"/>
              </a:ext>
            </a:extLst>
          </p:cNvPr>
          <p:cNvCxnSpPr>
            <a:cxnSpLocks/>
          </p:cNvCxnSpPr>
          <p:nvPr/>
        </p:nvCxnSpPr>
        <p:spPr>
          <a:xfrm>
            <a:off x="3136468" y="2207356"/>
            <a:ext cx="0" cy="2882641"/>
          </a:xfrm>
          <a:prstGeom prst="line">
            <a:avLst/>
          </a:prstGeom>
          <a:ln w="6350">
            <a:solidFill>
              <a:srgbClr val="A6A6A6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6558815C-4A36-8DFA-3258-ADAC642B44B6}"/>
              </a:ext>
            </a:extLst>
          </p:cNvPr>
          <p:cNvCxnSpPr>
            <a:cxnSpLocks/>
          </p:cNvCxnSpPr>
          <p:nvPr/>
        </p:nvCxnSpPr>
        <p:spPr>
          <a:xfrm>
            <a:off x="3541980" y="2217939"/>
            <a:ext cx="0" cy="4305308"/>
          </a:xfrm>
          <a:prstGeom prst="line">
            <a:avLst/>
          </a:prstGeom>
          <a:ln w="6350">
            <a:solidFill>
              <a:srgbClr val="A6A6A6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9B24DBF0-6A3A-0783-C6E3-74B28D837D9E}"/>
              </a:ext>
            </a:extLst>
          </p:cNvPr>
          <p:cNvCxnSpPr>
            <a:cxnSpLocks/>
          </p:cNvCxnSpPr>
          <p:nvPr/>
        </p:nvCxnSpPr>
        <p:spPr>
          <a:xfrm>
            <a:off x="4833781" y="2229802"/>
            <a:ext cx="0" cy="4305308"/>
          </a:xfrm>
          <a:prstGeom prst="line">
            <a:avLst/>
          </a:prstGeom>
          <a:ln w="6350">
            <a:solidFill>
              <a:srgbClr val="A6A6A6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D9F92929-7F37-647E-2D3E-0EB84FFB20D1}"/>
              </a:ext>
            </a:extLst>
          </p:cNvPr>
          <p:cNvCxnSpPr>
            <a:cxnSpLocks/>
          </p:cNvCxnSpPr>
          <p:nvPr/>
        </p:nvCxnSpPr>
        <p:spPr>
          <a:xfrm>
            <a:off x="6125582" y="2227160"/>
            <a:ext cx="0" cy="4305308"/>
          </a:xfrm>
          <a:prstGeom prst="line">
            <a:avLst/>
          </a:prstGeom>
          <a:ln w="6350">
            <a:solidFill>
              <a:srgbClr val="A6A6A6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A53FD7B1-4120-4E04-0DDF-B4B54EDB9BFD}"/>
              </a:ext>
            </a:extLst>
          </p:cNvPr>
          <p:cNvCxnSpPr>
            <a:cxnSpLocks/>
          </p:cNvCxnSpPr>
          <p:nvPr/>
        </p:nvCxnSpPr>
        <p:spPr>
          <a:xfrm>
            <a:off x="7417384" y="2217938"/>
            <a:ext cx="0" cy="4305308"/>
          </a:xfrm>
          <a:prstGeom prst="line">
            <a:avLst/>
          </a:prstGeom>
          <a:ln w="6350">
            <a:solidFill>
              <a:srgbClr val="A6A6A6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ABDE72C7-C765-8BB2-E494-8277E0D528BC}"/>
              </a:ext>
            </a:extLst>
          </p:cNvPr>
          <p:cNvSpPr txBox="1"/>
          <p:nvPr/>
        </p:nvSpPr>
        <p:spPr>
          <a:xfrm>
            <a:off x="3542139" y="2124167"/>
            <a:ext cx="2352196" cy="261610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⑤ 面接・職場見学</a:t>
            </a:r>
            <a:endParaRPr lang="ja-JP" altLang="ja-JP" sz="11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96BDDC66-06A4-F147-F6D6-595BB801B1D3}"/>
              </a:ext>
            </a:extLst>
          </p:cNvPr>
          <p:cNvSpPr txBox="1"/>
          <p:nvPr/>
        </p:nvSpPr>
        <p:spPr>
          <a:xfrm>
            <a:off x="6119413" y="2533325"/>
            <a:ext cx="2352196" cy="261610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⑦ 就業中</a:t>
            </a:r>
            <a:endParaRPr lang="ja-JP" altLang="ja-JP" sz="11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375707FE-6207-A0AF-61A0-E9AABECDAC37}"/>
              </a:ext>
            </a:extLst>
          </p:cNvPr>
          <p:cNvSpPr txBox="1"/>
          <p:nvPr/>
        </p:nvSpPr>
        <p:spPr>
          <a:xfrm>
            <a:off x="4830776" y="2328746"/>
            <a:ext cx="2352196" cy="261610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⑥ 採用・就業開始</a:t>
            </a:r>
            <a:endParaRPr lang="ja-JP" altLang="ja-JP" sz="11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49AFAACD-69A5-DAB7-2AB7-5204509E5CCB}"/>
              </a:ext>
            </a:extLst>
          </p:cNvPr>
          <p:cNvSpPr txBox="1"/>
          <p:nvPr/>
        </p:nvSpPr>
        <p:spPr>
          <a:xfrm>
            <a:off x="7408050" y="2737904"/>
            <a:ext cx="2352196" cy="415498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⑧ 契約満了・次の仕事</a:t>
            </a:r>
            <a:endParaRPr lang="en-US" altLang="ja-JP" sz="12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>
              <a:buNone/>
            </a:pPr>
            <a:endParaRPr lang="ja-JP" altLang="ja-JP" sz="9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8B260C5F-25D5-8ED9-9E9C-2E4B97F7FE0C}"/>
              </a:ext>
            </a:extLst>
          </p:cNvPr>
          <p:cNvSpPr txBox="1"/>
          <p:nvPr/>
        </p:nvSpPr>
        <p:spPr>
          <a:xfrm>
            <a:off x="334303" y="2130251"/>
            <a:ext cx="1868111" cy="276999"/>
          </a:xfrm>
          <a:prstGeom prst="rect">
            <a:avLst/>
          </a:prstGeom>
          <a:solidFill>
            <a:srgbClr val="7F7F7F">
              <a:lumMod val="40000"/>
              <a:lumOff val="60000"/>
              <a:alpha val="30000"/>
            </a:srgb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ja-JP" sz="1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① 仕事を探し始める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D76A6924-9615-4D2D-207A-2C463DAF53AF}"/>
              </a:ext>
            </a:extLst>
          </p:cNvPr>
          <p:cNvSpPr txBox="1"/>
          <p:nvPr/>
        </p:nvSpPr>
        <p:spPr>
          <a:xfrm>
            <a:off x="1268358" y="2340913"/>
            <a:ext cx="1868111" cy="261610"/>
          </a:xfrm>
          <a:prstGeom prst="rect">
            <a:avLst/>
          </a:prstGeom>
          <a:solidFill>
            <a:srgbClr val="7F7F7F">
              <a:lumMod val="40000"/>
              <a:lumOff val="60000"/>
              <a:alpha val="30000"/>
            </a:srgb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ja-JP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② 求人を比べる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8C64E429-AF18-081D-2A8E-EDCE056C0C0B}"/>
              </a:ext>
            </a:extLst>
          </p:cNvPr>
          <p:cNvSpPr txBox="1"/>
          <p:nvPr/>
        </p:nvSpPr>
        <p:spPr>
          <a:xfrm>
            <a:off x="2202413" y="2535023"/>
            <a:ext cx="1868111" cy="261610"/>
          </a:xfrm>
          <a:prstGeom prst="rect">
            <a:avLst/>
          </a:prstGeom>
          <a:solidFill>
            <a:srgbClr val="7F7F7F">
              <a:lumMod val="40000"/>
              <a:lumOff val="60000"/>
              <a:alpha val="30000"/>
            </a:srgb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ja-JP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③ 応募先を選ぶ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7B99F819-3A4C-8D01-87D3-59398A0C3663}"/>
              </a:ext>
            </a:extLst>
          </p:cNvPr>
          <p:cNvSpPr txBox="1"/>
          <p:nvPr/>
        </p:nvSpPr>
        <p:spPr>
          <a:xfrm>
            <a:off x="3136468" y="2731376"/>
            <a:ext cx="1868111" cy="261610"/>
          </a:xfrm>
          <a:prstGeom prst="rect">
            <a:avLst/>
          </a:prstGeom>
          <a:solidFill>
            <a:srgbClr val="7F7F7F">
              <a:lumMod val="40000"/>
              <a:lumOff val="60000"/>
              <a:alpha val="30000"/>
            </a:srgb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④ 応募・友だち追加</a:t>
            </a:r>
            <a:endParaRPr lang="ja-JP" altLang="ja-JP" sz="11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22" name="コネクタ: カギ線 21">
            <a:extLst>
              <a:ext uri="{FF2B5EF4-FFF2-40B4-BE49-F238E27FC236}">
                <a16:creationId xmlns:a16="http://schemas.microsoft.com/office/drawing/2014/main" id="{89810CF4-19DD-8F80-464F-FE8E1D250689}"/>
              </a:ext>
            </a:extLst>
          </p:cNvPr>
          <p:cNvCxnSpPr>
            <a:cxnSpLocks/>
            <a:stCxn id="21" idx="0"/>
            <a:endCxn id="14" idx="2"/>
          </p:cNvCxnSpPr>
          <p:nvPr/>
        </p:nvCxnSpPr>
        <p:spPr>
          <a:xfrm rot="5400000" flipH="1" flipV="1">
            <a:off x="4221581" y="2234721"/>
            <a:ext cx="345599" cy="647713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矢印コネクタ 22">
            <a:extLst>
              <a:ext uri="{FF2B5EF4-FFF2-40B4-BE49-F238E27FC236}">
                <a16:creationId xmlns:a16="http://schemas.microsoft.com/office/drawing/2014/main" id="{3F2ACC73-0643-27D8-F1B3-1B871FCEF141}"/>
              </a:ext>
            </a:extLst>
          </p:cNvPr>
          <p:cNvCxnSpPr>
            <a:cxnSpLocks/>
          </p:cNvCxnSpPr>
          <p:nvPr/>
        </p:nvCxnSpPr>
        <p:spPr>
          <a:xfrm>
            <a:off x="334303" y="3515795"/>
            <a:ext cx="3207836" cy="0"/>
          </a:xfrm>
          <a:prstGeom prst="straightConnector1">
            <a:avLst/>
          </a:prstGeom>
          <a:ln w="28575">
            <a:solidFill>
              <a:srgbClr val="1E2761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69C05BA8-18F6-F344-3C54-A5E03AFE2368}"/>
              </a:ext>
            </a:extLst>
          </p:cNvPr>
          <p:cNvCxnSpPr>
            <a:cxnSpLocks/>
          </p:cNvCxnSpPr>
          <p:nvPr/>
        </p:nvCxnSpPr>
        <p:spPr>
          <a:xfrm>
            <a:off x="3122098" y="4928015"/>
            <a:ext cx="6619128" cy="0"/>
          </a:xfrm>
          <a:prstGeom prst="straightConnector1">
            <a:avLst/>
          </a:prstGeom>
          <a:ln w="28575">
            <a:solidFill>
              <a:schemeClr val="tx1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E77786FC-857A-BA29-36E6-9A41C2E99F31}"/>
              </a:ext>
            </a:extLst>
          </p:cNvPr>
          <p:cNvSpPr txBox="1"/>
          <p:nvPr/>
        </p:nvSpPr>
        <p:spPr>
          <a:xfrm>
            <a:off x="1268358" y="3383509"/>
            <a:ext cx="1581214" cy="2616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ja-JP" sz="11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WEB</a:t>
            </a:r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→</a:t>
            </a:r>
            <a:r>
              <a:rPr lang="en-US" altLang="ja-JP" sz="11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LINEOA</a:t>
            </a:r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領域</a:t>
            </a:r>
            <a:endParaRPr lang="ja-JP" altLang="en-US" sz="1100" dirty="0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5B6D9466-EC9E-4057-AB18-8974D147F3E8}"/>
              </a:ext>
            </a:extLst>
          </p:cNvPr>
          <p:cNvSpPr txBox="1"/>
          <p:nvPr/>
        </p:nvSpPr>
        <p:spPr>
          <a:xfrm>
            <a:off x="5558554" y="4804166"/>
            <a:ext cx="1581214" cy="2616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ja-JP" sz="105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LINEOA</a:t>
            </a:r>
            <a:r>
              <a:rPr lang="ja-JP" altLang="en-US" sz="105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➙</a:t>
            </a:r>
            <a:r>
              <a:rPr lang="en-US" altLang="ja-JP" sz="105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WEB</a:t>
            </a:r>
            <a:r>
              <a:rPr lang="ja-JP" altLang="en-US" sz="105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領域</a:t>
            </a:r>
            <a:endParaRPr lang="ja-JP" altLang="en-US" sz="1050" dirty="0"/>
          </a:p>
        </p:txBody>
      </p:sp>
      <p:cxnSp>
        <p:nvCxnSpPr>
          <p:cNvPr id="27" name="直線矢印コネクタ 26">
            <a:extLst>
              <a:ext uri="{FF2B5EF4-FFF2-40B4-BE49-F238E27FC236}">
                <a16:creationId xmlns:a16="http://schemas.microsoft.com/office/drawing/2014/main" id="{C2DCC080-98CE-945F-96A2-C42DE7E0C936}"/>
              </a:ext>
            </a:extLst>
          </p:cNvPr>
          <p:cNvCxnSpPr>
            <a:cxnSpLocks/>
          </p:cNvCxnSpPr>
          <p:nvPr/>
        </p:nvCxnSpPr>
        <p:spPr>
          <a:xfrm>
            <a:off x="3609975" y="3504789"/>
            <a:ext cx="2482432" cy="0"/>
          </a:xfrm>
          <a:prstGeom prst="straightConnector1">
            <a:avLst/>
          </a:prstGeom>
          <a:ln w="28575">
            <a:solidFill>
              <a:srgbClr val="1E2761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EA293A6D-CB27-A495-B2B6-10D3182B0B70}"/>
              </a:ext>
            </a:extLst>
          </p:cNvPr>
          <p:cNvSpPr txBox="1"/>
          <p:nvPr/>
        </p:nvSpPr>
        <p:spPr>
          <a:xfrm>
            <a:off x="3908480" y="3397243"/>
            <a:ext cx="1913269" cy="27699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12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既存接点→LINEOA領域</a:t>
            </a:r>
            <a:endParaRPr lang="ja-JP" altLang="en-US" sz="1200" dirty="0"/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2AFCBDA6-2140-B4C1-A45D-7A34BC218997}"/>
              </a:ext>
            </a:extLst>
          </p:cNvPr>
          <p:cNvSpPr/>
          <p:nvPr/>
        </p:nvSpPr>
        <p:spPr>
          <a:xfrm>
            <a:off x="334303" y="1552575"/>
            <a:ext cx="9425943" cy="44850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0" name="直線矢印コネクタ 29">
            <a:extLst>
              <a:ext uri="{FF2B5EF4-FFF2-40B4-BE49-F238E27FC236}">
                <a16:creationId xmlns:a16="http://schemas.microsoft.com/office/drawing/2014/main" id="{852097C2-692E-64D7-A5ED-5C35A2EFC975}"/>
              </a:ext>
            </a:extLst>
          </p:cNvPr>
          <p:cNvCxnSpPr>
            <a:cxnSpLocks/>
          </p:cNvCxnSpPr>
          <p:nvPr/>
        </p:nvCxnSpPr>
        <p:spPr>
          <a:xfrm>
            <a:off x="417642" y="1782459"/>
            <a:ext cx="9240215" cy="0"/>
          </a:xfrm>
          <a:prstGeom prst="straightConnector1">
            <a:avLst/>
          </a:prstGeom>
          <a:ln w="28575">
            <a:solidFill>
              <a:schemeClr val="tx1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9F2742C3-41F6-3CC5-6355-EC9495CFE608}"/>
              </a:ext>
            </a:extLst>
          </p:cNvPr>
          <p:cNvSpPr txBox="1"/>
          <p:nvPr/>
        </p:nvSpPr>
        <p:spPr>
          <a:xfrm>
            <a:off x="4066503" y="1654589"/>
            <a:ext cx="2315056" cy="2769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12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カスタマージャーニーマップ</a:t>
            </a:r>
            <a:endParaRPr lang="ja-JP" altLang="en-US" sz="1200" dirty="0"/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BF6CFDE9-CDE8-1133-47F9-90F22773AF32}"/>
              </a:ext>
            </a:extLst>
          </p:cNvPr>
          <p:cNvSpPr/>
          <p:nvPr/>
        </p:nvSpPr>
        <p:spPr>
          <a:xfrm>
            <a:off x="315939" y="3613966"/>
            <a:ext cx="5776468" cy="24255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どう友だちになっていただくか（Web→LINE）</a:t>
            </a:r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39DCB4B6-9411-CC10-0D34-9F40EC11AD82}"/>
              </a:ext>
            </a:extLst>
          </p:cNvPr>
          <p:cNvSpPr/>
          <p:nvPr/>
        </p:nvSpPr>
        <p:spPr>
          <a:xfrm>
            <a:off x="3122098" y="5051222"/>
            <a:ext cx="6619128" cy="24255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1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どう応募につなげるか（LINE→応募）</a:t>
            </a:r>
          </a:p>
        </p:txBody>
      </p:sp>
      <p:cxnSp>
        <p:nvCxnSpPr>
          <p:cNvPr id="35" name="直線矢印コネクタ 34">
            <a:extLst>
              <a:ext uri="{FF2B5EF4-FFF2-40B4-BE49-F238E27FC236}">
                <a16:creationId xmlns:a16="http://schemas.microsoft.com/office/drawing/2014/main" id="{B94F8848-87A6-4A24-C2DE-D4A5BD2787D7}"/>
              </a:ext>
            </a:extLst>
          </p:cNvPr>
          <p:cNvCxnSpPr>
            <a:cxnSpLocks/>
          </p:cNvCxnSpPr>
          <p:nvPr/>
        </p:nvCxnSpPr>
        <p:spPr>
          <a:xfrm>
            <a:off x="484665" y="3964795"/>
            <a:ext cx="1503674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13A35DD7-3CE1-ABA2-45A4-29A5F6D013E2}"/>
              </a:ext>
            </a:extLst>
          </p:cNvPr>
          <p:cNvSpPr txBox="1"/>
          <p:nvPr/>
        </p:nvSpPr>
        <p:spPr>
          <a:xfrm>
            <a:off x="853704" y="3860734"/>
            <a:ext cx="822746" cy="27699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ja-JP" sz="12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CPF</a:t>
            </a:r>
            <a:r>
              <a:rPr lang="ja-JP" altLang="en-US" sz="12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広告</a:t>
            </a:r>
            <a:endParaRPr lang="ja-JP" altLang="en-US" sz="1200" b="1" dirty="0"/>
          </a:p>
        </p:txBody>
      </p:sp>
      <p:cxnSp>
        <p:nvCxnSpPr>
          <p:cNvPr id="37" name="直線矢印コネクタ 36">
            <a:extLst>
              <a:ext uri="{FF2B5EF4-FFF2-40B4-BE49-F238E27FC236}">
                <a16:creationId xmlns:a16="http://schemas.microsoft.com/office/drawing/2014/main" id="{4DD36FC2-6468-F5B5-EFB8-BBFB2CF7F452}"/>
              </a:ext>
            </a:extLst>
          </p:cNvPr>
          <p:cNvCxnSpPr>
            <a:cxnSpLocks/>
          </p:cNvCxnSpPr>
          <p:nvPr/>
        </p:nvCxnSpPr>
        <p:spPr>
          <a:xfrm>
            <a:off x="3442595" y="4332466"/>
            <a:ext cx="2037075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52205788-B1CC-5FF9-ED78-B6DD32267E17}"/>
              </a:ext>
            </a:extLst>
          </p:cNvPr>
          <p:cNvSpPr txBox="1"/>
          <p:nvPr/>
        </p:nvSpPr>
        <p:spPr>
          <a:xfrm>
            <a:off x="3811634" y="4198682"/>
            <a:ext cx="1288637" cy="24622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通知メッセージ</a:t>
            </a:r>
            <a:endParaRPr lang="ja-JP" altLang="en-US" sz="1000" b="1" dirty="0"/>
          </a:p>
        </p:txBody>
      </p:sp>
      <p:cxnSp>
        <p:nvCxnSpPr>
          <p:cNvPr id="39" name="直線矢印コネクタ 38">
            <a:extLst>
              <a:ext uri="{FF2B5EF4-FFF2-40B4-BE49-F238E27FC236}">
                <a16:creationId xmlns:a16="http://schemas.microsoft.com/office/drawing/2014/main" id="{923E43E2-8157-8C38-4A7C-C186793E6650}"/>
              </a:ext>
            </a:extLst>
          </p:cNvPr>
          <p:cNvCxnSpPr>
            <a:cxnSpLocks/>
          </p:cNvCxnSpPr>
          <p:nvPr/>
        </p:nvCxnSpPr>
        <p:spPr>
          <a:xfrm>
            <a:off x="3442595" y="4585699"/>
            <a:ext cx="2037075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9B46B511-7630-9D21-552D-BAD1DCEC8387}"/>
              </a:ext>
            </a:extLst>
          </p:cNvPr>
          <p:cNvSpPr txBox="1"/>
          <p:nvPr/>
        </p:nvSpPr>
        <p:spPr>
          <a:xfrm>
            <a:off x="3811634" y="4451915"/>
            <a:ext cx="1288637" cy="24622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サンクス</a:t>
            </a:r>
            <a:r>
              <a:rPr lang="en-US" altLang="ja-JP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LINE</a:t>
            </a:r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誘導</a:t>
            </a:r>
            <a:endParaRPr lang="ja-JP" altLang="en-US" sz="1000" b="1" dirty="0"/>
          </a:p>
        </p:txBody>
      </p:sp>
      <p:cxnSp>
        <p:nvCxnSpPr>
          <p:cNvPr id="41" name="直線矢印コネクタ 40">
            <a:extLst>
              <a:ext uri="{FF2B5EF4-FFF2-40B4-BE49-F238E27FC236}">
                <a16:creationId xmlns:a16="http://schemas.microsoft.com/office/drawing/2014/main" id="{64D8562C-014D-DFB4-2D01-7479448659D1}"/>
              </a:ext>
            </a:extLst>
          </p:cNvPr>
          <p:cNvCxnSpPr>
            <a:cxnSpLocks/>
          </p:cNvCxnSpPr>
          <p:nvPr/>
        </p:nvCxnSpPr>
        <p:spPr>
          <a:xfrm>
            <a:off x="1351697" y="4153168"/>
            <a:ext cx="2037075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540E1D19-5457-9319-2789-430F63EC5A42}"/>
              </a:ext>
            </a:extLst>
          </p:cNvPr>
          <p:cNvSpPr txBox="1"/>
          <p:nvPr/>
        </p:nvSpPr>
        <p:spPr>
          <a:xfrm>
            <a:off x="1720736" y="4019384"/>
            <a:ext cx="1288637" cy="27699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2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通知メッセージ</a:t>
            </a:r>
            <a:endParaRPr lang="ja-JP" altLang="en-US" sz="1200" b="1" dirty="0"/>
          </a:p>
        </p:txBody>
      </p:sp>
      <p:cxnSp>
        <p:nvCxnSpPr>
          <p:cNvPr id="43" name="直線矢印コネクタ 42">
            <a:extLst>
              <a:ext uri="{FF2B5EF4-FFF2-40B4-BE49-F238E27FC236}">
                <a16:creationId xmlns:a16="http://schemas.microsoft.com/office/drawing/2014/main" id="{490155E9-25FB-3090-382A-CA0B7F87F965}"/>
              </a:ext>
            </a:extLst>
          </p:cNvPr>
          <p:cNvCxnSpPr>
            <a:cxnSpLocks/>
          </p:cNvCxnSpPr>
          <p:nvPr/>
        </p:nvCxnSpPr>
        <p:spPr>
          <a:xfrm>
            <a:off x="1351697" y="4384313"/>
            <a:ext cx="2037075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08D35021-E114-E4DF-FF22-BF7BE0CDF4D8}"/>
              </a:ext>
            </a:extLst>
          </p:cNvPr>
          <p:cNvSpPr txBox="1"/>
          <p:nvPr/>
        </p:nvSpPr>
        <p:spPr>
          <a:xfrm>
            <a:off x="1720736" y="4250529"/>
            <a:ext cx="1288637" cy="24622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サイト動線の整備</a:t>
            </a:r>
          </a:p>
        </p:txBody>
      </p:sp>
      <p:cxnSp>
        <p:nvCxnSpPr>
          <p:cNvPr id="45" name="直線矢印コネクタ 44">
            <a:extLst>
              <a:ext uri="{FF2B5EF4-FFF2-40B4-BE49-F238E27FC236}">
                <a16:creationId xmlns:a16="http://schemas.microsoft.com/office/drawing/2014/main" id="{6840C346-E790-A413-26C5-79129D6F5FB7}"/>
              </a:ext>
            </a:extLst>
          </p:cNvPr>
          <p:cNvCxnSpPr>
            <a:cxnSpLocks/>
          </p:cNvCxnSpPr>
          <p:nvPr/>
        </p:nvCxnSpPr>
        <p:spPr>
          <a:xfrm>
            <a:off x="3900757" y="4022150"/>
            <a:ext cx="2037075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715CC99E-9A08-159E-0120-31020FC33D0F}"/>
              </a:ext>
            </a:extLst>
          </p:cNvPr>
          <p:cNvSpPr txBox="1"/>
          <p:nvPr/>
        </p:nvSpPr>
        <p:spPr>
          <a:xfrm>
            <a:off x="4269796" y="3888366"/>
            <a:ext cx="1288637" cy="24622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既存リストの活用</a:t>
            </a:r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</p:txBody>
      </p:sp>
      <p:cxnSp>
        <p:nvCxnSpPr>
          <p:cNvPr id="47" name="直線矢印コネクタ 46">
            <a:extLst>
              <a:ext uri="{FF2B5EF4-FFF2-40B4-BE49-F238E27FC236}">
                <a16:creationId xmlns:a16="http://schemas.microsoft.com/office/drawing/2014/main" id="{C26FDFF8-ECDB-0D20-5A53-4F74EF6D93F8}"/>
              </a:ext>
            </a:extLst>
          </p:cNvPr>
          <p:cNvCxnSpPr>
            <a:cxnSpLocks/>
          </p:cNvCxnSpPr>
          <p:nvPr/>
        </p:nvCxnSpPr>
        <p:spPr>
          <a:xfrm>
            <a:off x="5494489" y="4328530"/>
            <a:ext cx="2037075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03517788-8A00-3CE9-B8A0-DC9904CB9E29}"/>
              </a:ext>
            </a:extLst>
          </p:cNvPr>
          <p:cNvSpPr txBox="1"/>
          <p:nvPr/>
        </p:nvSpPr>
        <p:spPr>
          <a:xfrm>
            <a:off x="5863528" y="4194746"/>
            <a:ext cx="1288637" cy="27699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2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通知メッセージ</a:t>
            </a:r>
            <a:endParaRPr lang="ja-JP" altLang="en-US" sz="1200" b="1" dirty="0"/>
          </a:p>
        </p:txBody>
      </p:sp>
      <p:cxnSp>
        <p:nvCxnSpPr>
          <p:cNvPr id="49" name="直線矢印コネクタ 48">
            <a:extLst>
              <a:ext uri="{FF2B5EF4-FFF2-40B4-BE49-F238E27FC236}">
                <a16:creationId xmlns:a16="http://schemas.microsoft.com/office/drawing/2014/main" id="{8A08B47D-236B-D58F-E880-0E520352BC81}"/>
              </a:ext>
            </a:extLst>
          </p:cNvPr>
          <p:cNvCxnSpPr>
            <a:cxnSpLocks/>
          </p:cNvCxnSpPr>
          <p:nvPr/>
        </p:nvCxnSpPr>
        <p:spPr>
          <a:xfrm>
            <a:off x="5494489" y="4591366"/>
            <a:ext cx="2037075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8376E216-AB77-BC34-74BE-9C14746155C3}"/>
              </a:ext>
            </a:extLst>
          </p:cNvPr>
          <p:cNvSpPr txBox="1"/>
          <p:nvPr/>
        </p:nvSpPr>
        <p:spPr>
          <a:xfrm>
            <a:off x="5863528" y="4457582"/>
            <a:ext cx="1288637" cy="24622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サンクス</a:t>
            </a:r>
            <a:r>
              <a:rPr lang="en-US" altLang="ja-JP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LINE</a:t>
            </a:r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誘導</a:t>
            </a:r>
            <a:endParaRPr lang="ja-JP" altLang="en-US" sz="1000" b="1" dirty="0"/>
          </a:p>
        </p:txBody>
      </p:sp>
      <p:cxnSp>
        <p:nvCxnSpPr>
          <p:cNvPr id="51" name="直線矢印コネクタ 50">
            <a:extLst>
              <a:ext uri="{FF2B5EF4-FFF2-40B4-BE49-F238E27FC236}">
                <a16:creationId xmlns:a16="http://schemas.microsoft.com/office/drawing/2014/main" id="{D6F7AD1E-A403-6C2E-4207-BA25C2D7BCC6}"/>
              </a:ext>
            </a:extLst>
          </p:cNvPr>
          <p:cNvCxnSpPr>
            <a:cxnSpLocks/>
          </p:cNvCxnSpPr>
          <p:nvPr/>
        </p:nvCxnSpPr>
        <p:spPr>
          <a:xfrm>
            <a:off x="751071" y="4630661"/>
            <a:ext cx="1503674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7D798DBD-5393-6131-8034-EC789105D05B}"/>
              </a:ext>
            </a:extLst>
          </p:cNvPr>
          <p:cNvSpPr txBox="1"/>
          <p:nvPr/>
        </p:nvSpPr>
        <p:spPr>
          <a:xfrm>
            <a:off x="983946" y="4526600"/>
            <a:ext cx="1095075" cy="23083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ja-JP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SNS/</a:t>
            </a:r>
            <a:r>
              <a:rPr lang="ja-JP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メルマガ</a:t>
            </a:r>
            <a:endParaRPr lang="ja-JP" alt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53" name="直線矢印コネクタ 52">
            <a:extLst>
              <a:ext uri="{FF2B5EF4-FFF2-40B4-BE49-F238E27FC236}">
                <a16:creationId xmlns:a16="http://schemas.microsoft.com/office/drawing/2014/main" id="{527AED14-C910-4D3E-987F-EA62ABD18D90}"/>
              </a:ext>
            </a:extLst>
          </p:cNvPr>
          <p:cNvCxnSpPr>
            <a:cxnSpLocks/>
          </p:cNvCxnSpPr>
          <p:nvPr/>
        </p:nvCxnSpPr>
        <p:spPr>
          <a:xfrm>
            <a:off x="747965" y="4897406"/>
            <a:ext cx="1503674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テキスト ボックス 53">
            <a:extLst>
              <a:ext uri="{FF2B5EF4-FFF2-40B4-BE49-F238E27FC236}">
                <a16:creationId xmlns:a16="http://schemas.microsoft.com/office/drawing/2014/main" id="{9644DD32-D05B-DE83-7791-37895274BDE9}"/>
              </a:ext>
            </a:extLst>
          </p:cNvPr>
          <p:cNvSpPr txBox="1"/>
          <p:nvPr/>
        </p:nvSpPr>
        <p:spPr>
          <a:xfrm>
            <a:off x="969834" y="4806108"/>
            <a:ext cx="1117086" cy="23083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求人誌・店頭のQR</a:t>
            </a:r>
            <a:endParaRPr lang="ja-JP" alt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55" name="直線矢印コネクタ 54">
            <a:extLst>
              <a:ext uri="{FF2B5EF4-FFF2-40B4-BE49-F238E27FC236}">
                <a16:creationId xmlns:a16="http://schemas.microsoft.com/office/drawing/2014/main" id="{D3D532EE-6712-DE63-E452-E8BEAA167260}"/>
              </a:ext>
            </a:extLst>
          </p:cNvPr>
          <p:cNvCxnSpPr>
            <a:cxnSpLocks/>
          </p:cNvCxnSpPr>
          <p:nvPr/>
        </p:nvCxnSpPr>
        <p:spPr>
          <a:xfrm>
            <a:off x="7259810" y="4444588"/>
            <a:ext cx="2037075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DCDD6E46-B8C3-8536-41F9-F39EB73CBD24}"/>
              </a:ext>
            </a:extLst>
          </p:cNvPr>
          <p:cNvSpPr txBox="1"/>
          <p:nvPr/>
        </p:nvSpPr>
        <p:spPr>
          <a:xfrm>
            <a:off x="7740673" y="4310804"/>
            <a:ext cx="1064989" cy="24622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ja-JP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ID</a:t>
            </a:r>
            <a:r>
              <a:rPr lang="ja-JP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・</a:t>
            </a:r>
            <a:r>
              <a:rPr lang="en-US" altLang="ja-JP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CRM</a:t>
            </a:r>
            <a:r>
              <a:rPr lang="ja-JP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連携</a:t>
            </a:r>
            <a:endParaRPr lang="ja-JP" altLang="en-US" sz="10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57" name="直線矢印コネクタ 56">
            <a:extLst>
              <a:ext uri="{FF2B5EF4-FFF2-40B4-BE49-F238E27FC236}">
                <a16:creationId xmlns:a16="http://schemas.microsoft.com/office/drawing/2014/main" id="{B9C84515-E6C9-A256-421E-9C3EFEBBFF17}"/>
              </a:ext>
            </a:extLst>
          </p:cNvPr>
          <p:cNvCxnSpPr>
            <a:cxnSpLocks/>
          </p:cNvCxnSpPr>
          <p:nvPr/>
        </p:nvCxnSpPr>
        <p:spPr>
          <a:xfrm>
            <a:off x="7697737" y="5495193"/>
            <a:ext cx="2037075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テキスト ボックス 57">
            <a:extLst>
              <a:ext uri="{FF2B5EF4-FFF2-40B4-BE49-F238E27FC236}">
                <a16:creationId xmlns:a16="http://schemas.microsoft.com/office/drawing/2014/main" id="{7E002B77-EFC0-55F3-D3E6-100837F9B195}"/>
              </a:ext>
            </a:extLst>
          </p:cNvPr>
          <p:cNvSpPr txBox="1"/>
          <p:nvPr/>
        </p:nvSpPr>
        <p:spPr>
          <a:xfrm>
            <a:off x="8178600" y="5361409"/>
            <a:ext cx="1064989" cy="26161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1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フォロー体制</a:t>
            </a:r>
            <a:endParaRPr lang="ja-JP" altLang="en-US" sz="11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67" name="直線矢印コネクタ 66">
            <a:extLst>
              <a:ext uri="{FF2B5EF4-FFF2-40B4-BE49-F238E27FC236}">
                <a16:creationId xmlns:a16="http://schemas.microsoft.com/office/drawing/2014/main" id="{03BD82C1-8BEC-3E49-C1DA-A1C214DB1C8C}"/>
              </a:ext>
            </a:extLst>
          </p:cNvPr>
          <p:cNvCxnSpPr>
            <a:cxnSpLocks/>
          </p:cNvCxnSpPr>
          <p:nvPr/>
        </p:nvCxnSpPr>
        <p:spPr>
          <a:xfrm>
            <a:off x="4519454" y="5493723"/>
            <a:ext cx="2982482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テキスト ボックス 80">
            <a:extLst>
              <a:ext uri="{FF2B5EF4-FFF2-40B4-BE49-F238E27FC236}">
                <a16:creationId xmlns:a16="http://schemas.microsoft.com/office/drawing/2014/main" id="{919F797F-1B6A-876C-B468-E147B3D97E8A}"/>
              </a:ext>
            </a:extLst>
          </p:cNvPr>
          <p:cNvSpPr txBox="1"/>
          <p:nvPr/>
        </p:nvSpPr>
        <p:spPr>
          <a:xfrm>
            <a:off x="5267281" y="5359939"/>
            <a:ext cx="1064989" cy="26161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ステップ配信</a:t>
            </a:r>
            <a:endParaRPr lang="ja-JP" altLang="en-US" sz="1100" b="1" dirty="0"/>
          </a:p>
        </p:txBody>
      </p:sp>
      <p:cxnSp>
        <p:nvCxnSpPr>
          <p:cNvPr id="86" name="直線矢印コネクタ 85">
            <a:extLst>
              <a:ext uri="{FF2B5EF4-FFF2-40B4-BE49-F238E27FC236}">
                <a16:creationId xmlns:a16="http://schemas.microsoft.com/office/drawing/2014/main" id="{C96E67E6-B364-7DED-CDB8-DDCEEFB96AD2}"/>
              </a:ext>
            </a:extLst>
          </p:cNvPr>
          <p:cNvCxnSpPr>
            <a:cxnSpLocks/>
          </p:cNvCxnSpPr>
          <p:nvPr/>
        </p:nvCxnSpPr>
        <p:spPr>
          <a:xfrm>
            <a:off x="4519295" y="5766839"/>
            <a:ext cx="2982482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テキスト ボックス 90">
            <a:extLst>
              <a:ext uri="{FF2B5EF4-FFF2-40B4-BE49-F238E27FC236}">
                <a16:creationId xmlns:a16="http://schemas.microsoft.com/office/drawing/2014/main" id="{335DB4AB-DEFA-E356-751F-7106100F929E}"/>
              </a:ext>
            </a:extLst>
          </p:cNvPr>
          <p:cNvSpPr txBox="1"/>
          <p:nvPr/>
        </p:nvSpPr>
        <p:spPr>
          <a:xfrm>
            <a:off x="5267122" y="5633055"/>
            <a:ext cx="1064989" cy="26161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企画配信</a:t>
            </a:r>
            <a:endParaRPr lang="ja-JP" altLang="en-US" sz="1100" b="1" dirty="0"/>
          </a:p>
        </p:txBody>
      </p:sp>
      <p:cxnSp>
        <p:nvCxnSpPr>
          <p:cNvPr id="100" name="直線矢印コネクタ 99">
            <a:extLst>
              <a:ext uri="{FF2B5EF4-FFF2-40B4-BE49-F238E27FC236}">
                <a16:creationId xmlns:a16="http://schemas.microsoft.com/office/drawing/2014/main" id="{7884810E-3E89-4CCB-C00C-B386A34717E4}"/>
              </a:ext>
            </a:extLst>
          </p:cNvPr>
          <p:cNvCxnSpPr>
            <a:cxnSpLocks/>
          </p:cNvCxnSpPr>
          <p:nvPr/>
        </p:nvCxnSpPr>
        <p:spPr>
          <a:xfrm>
            <a:off x="3798688" y="5981626"/>
            <a:ext cx="2464861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テキスト ボックス 100">
            <a:extLst>
              <a:ext uri="{FF2B5EF4-FFF2-40B4-BE49-F238E27FC236}">
                <a16:creationId xmlns:a16="http://schemas.microsoft.com/office/drawing/2014/main" id="{6FD45AC0-2372-776F-6D16-846C0FB7AC64}"/>
              </a:ext>
            </a:extLst>
          </p:cNvPr>
          <p:cNvSpPr txBox="1"/>
          <p:nvPr/>
        </p:nvSpPr>
        <p:spPr>
          <a:xfrm>
            <a:off x="4258152" y="5863519"/>
            <a:ext cx="1288637" cy="27699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2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希望条件の回収</a:t>
            </a:r>
            <a:endParaRPr lang="ja-JP" altLang="en-US" sz="1200" b="1" dirty="0"/>
          </a:p>
        </p:txBody>
      </p:sp>
      <p:cxnSp>
        <p:nvCxnSpPr>
          <p:cNvPr id="102" name="直線矢印コネクタ 101">
            <a:extLst>
              <a:ext uri="{FF2B5EF4-FFF2-40B4-BE49-F238E27FC236}">
                <a16:creationId xmlns:a16="http://schemas.microsoft.com/office/drawing/2014/main" id="{5BF3558A-EBED-81EE-B158-28A7CA5D6693}"/>
              </a:ext>
            </a:extLst>
          </p:cNvPr>
          <p:cNvCxnSpPr>
            <a:cxnSpLocks/>
          </p:cNvCxnSpPr>
          <p:nvPr/>
        </p:nvCxnSpPr>
        <p:spPr>
          <a:xfrm>
            <a:off x="3797428" y="6223951"/>
            <a:ext cx="2452867" cy="6111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テキスト ボックス 109">
            <a:extLst>
              <a:ext uri="{FF2B5EF4-FFF2-40B4-BE49-F238E27FC236}">
                <a16:creationId xmlns:a16="http://schemas.microsoft.com/office/drawing/2014/main" id="{001266CB-AC56-8914-0ACE-8B554DB19B76}"/>
              </a:ext>
            </a:extLst>
          </p:cNvPr>
          <p:cNvSpPr txBox="1"/>
          <p:nvPr/>
        </p:nvSpPr>
        <p:spPr>
          <a:xfrm>
            <a:off x="4273398" y="6133562"/>
            <a:ext cx="1288637" cy="24622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スコアリング等</a:t>
            </a:r>
            <a:endParaRPr lang="ja-JP" altLang="en-US" sz="1000" b="1" dirty="0"/>
          </a:p>
        </p:txBody>
      </p:sp>
      <p:cxnSp>
        <p:nvCxnSpPr>
          <p:cNvPr id="111" name="直線矢印コネクタ 110">
            <a:extLst>
              <a:ext uri="{FF2B5EF4-FFF2-40B4-BE49-F238E27FC236}">
                <a16:creationId xmlns:a16="http://schemas.microsoft.com/office/drawing/2014/main" id="{1B403718-ABF2-11BC-1A05-A9E208B7C0F7}"/>
              </a:ext>
            </a:extLst>
          </p:cNvPr>
          <p:cNvCxnSpPr>
            <a:cxnSpLocks/>
          </p:cNvCxnSpPr>
          <p:nvPr/>
        </p:nvCxnSpPr>
        <p:spPr>
          <a:xfrm>
            <a:off x="7118366" y="5985542"/>
            <a:ext cx="2037075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テキスト ボックス 115">
            <a:extLst>
              <a:ext uri="{FF2B5EF4-FFF2-40B4-BE49-F238E27FC236}">
                <a16:creationId xmlns:a16="http://schemas.microsoft.com/office/drawing/2014/main" id="{B9061E8E-8F76-24D8-6F4C-BBBCDEB37FE0}"/>
              </a:ext>
            </a:extLst>
          </p:cNvPr>
          <p:cNvSpPr txBox="1"/>
          <p:nvPr/>
        </p:nvSpPr>
        <p:spPr>
          <a:xfrm>
            <a:off x="7397140" y="5871116"/>
            <a:ext cx="1288637" cy="24622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満了時期の回収</a:t>
            </a:r>
            <a:endParaRPr lang="ja-JP" altLang="en-US" sz="10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17" name="直線矢印コネクタ 116">
            <a:extLst>
              <a:ext uri="{FF2B5EF4-FFF2-40B4-BE49-F238E27FC236}">
                <a16:creationId xmlns:a16="http://schemas.microsoft.com/office/drawing/2014/main" id="{B31EBA12-BB45-627B-A1FD-F44E077537B1}"/>
              </a:ext>
            </a:extLst>
          </p:cNvPr>
          <p:cNvCxnSpPr>
            <a:cxnSpLocks/>
          </p:cNvCxnSpPr>
          <p:nvPr/>
        </p:nvCxnSpPr>
        <p:spPr>
          <a:xfrm>
            <a:off x="7048606" y="6243059"/>
            <a:ext cx="2037075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テキスト ボックス 117">
            <a:extLst>
              <a:ext uri="{FF2B5EF4-FFF2-40B4-BE49-F238E27FC236}">
                <a16:creationId xmlns:a16="http://schemas.microsoft.com/office/drawing/2014/main" id="{B0C05E5D-44B4-DA5D-7C04-0BDC8A4602CE}"/>
              </a:ext>
            </a:extLst>
          </p:cNvPr>
          <p:cNvSpPr txBox="1"/>
          <p:nvPr/>
        </p:nvSpPr>
        <p:spPr>
          <a:xfrm>
            <a:off x="7336089" y="6137342"/>
            <a:ext cx="1288637" cy="24843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前日リマインド</a:t>
            </a:r>
            <a:endParaRPr lang="ja-JP" altLang="en-US" sz="10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119" name="図 118">
            <a:extLst>
              <a:ext uri="{FF2B5EF4-FFF2-40B4-BE49-F238E27FC236}">
                <a16:creationId xmlns:a16="http://schemas.microsoft.com/office/drawing/2014/main" id="{2F4B65BB-B8AA-5045-2074-C574F9423E6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81" b="4075"/>
          <a:stretch>
            <a:fillRect/>
          </a:stretch>
        </p:blipFill>
        <p:spPr>
          <a:xfrm>
            <a:off x="3005614" y="5048188"/>
            <a:ext cx="703970" cy="1385346"/>
          </a:xfrm>
          <a:prstGeom prst="rect">
            <a:avLst/>
          </a:prstGeom>
        </p:spPr>
      </p:pic>
      <p:sp>
        <p:nvSpPr>
          <p:cNvPr id="66" name="正方形/長方形 65">
            <a:extLst>
              <a:ext uri="{FF2B5EF4-FFF2-40B4-BE49-F238E27FC236}">
                <a16:creationId xmlns:a16="http://schemas.microsoft.com/office/drawing/2014/main" id="{D22C9FBF-7B93-079A-E87E-A4C967CD0194}"/>
              </a:ext>
            </a:extLst>
          </p:cNvPr>
          <p:cNvSpPr/>
          <p:nvPr/>
        </p:nvSpPr>
        <p:spPr>
          <a:xfrm>
            <a:off x="3908480" y="5336376"/>
            <a:ext cx="2944325" cy="1076098"/>
          </a:xfrm>
          <a:prstGeom prst="rect">
            <a:avLst/>
          </a:prstGeom>
          <a:noFill/>
          <a:ln w="15875">
            <a:solidFill>
              <a:srgbClr val="1E276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89B35388-9C44-6C01-ACAA-2E691617E119}"/>
              </a:ext>
            </a:extLst>
          </p:cNvPr>
          <p:cNvSpPr txBox="1"/>
          <p:nvPr/>
        </p:nvSpPr>
        <p:spPr>
          <a:xfrm>
            <a:off x="5723341" y="6303033"/>
            <a:ext cx="1207049" cy="20005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ja-JP" altLang="en-US" sz="7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短期14日／満了前に再開</a:t>
            </a:r>
            <a:endParaRPr lang="ja-JP" altLang="ja-JP" sz="7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762304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68898-91A3-9BC1-3966-7771C36E7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752;p28">
            <a:extLst>
              <a:ext uri="{FF2B5EF4-FFF2-40B4-BE49-F238E27FC236}">
                <a16:creationId xmlns:a16="http://schemas.microsoft.com/office/drawing/2014/main" id="{2ECE7535-75B5-FD71-5DE8-AB1B855FFEDC}"/>
              </a:ext>
            </a:extLst>
          </p:cNvPr>
          <p:cNvSpPr txBox="1"/>
          <p:nvPr/>
        </p:nvSpPr>
        <p:spPr>
          <a:xfrm>
            <a:off x="547200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en-US" altLang="ja-JP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［第2章］全体設計｜LINEで対策できる領域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91D529F5-1969-8F22-8508-5967D82F7783}"/>
              </a:ext>
            </a:extLst>
          </p:cNvPr>
          <p:cNvSpPr/>
          <p:nvPr/>
        </p:nvSpPr>
        <p:spPr>
          <a:xfrm>
            <a:off x="379908" y="1835393"/>
            <a:ext cx="9190811" cy="2162521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0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0D32EA92-3996-F5BA-08AE-72B08F79535C}"/>
              </a:ext>
            </a:extLst>
          </p:cNvPr>
          <p:cNvSpPr/>
          <p:nvPr/>
        </p:nvSpPr>
        <p:spPr>
          <a:xfrm>
            <a:off x="379908" y="4397170"/>
            <a:ext cx="9190811" cy="2022499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7E38EC2-DE76-A5FE-A6B8-3B48F7BD7B46}"/>
              </a:ext>
            </a:extLst>
          </p:cNvPr>
          <p:cNvSpPr txBox="1"/>
          <p:nvPr/>
        </p:nvSpPr>
        <p:spPr>
          <a:xfrm>
            <a:off x="379908" y="1527022"/>
            <a:ext cx="496388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&lt;応募前のユーザー領域&gt;</a:t>
            </a:r>
            <a:endParaRPr lang="ja-JP" alt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15E4FD7-BF96-305B-4DFF-0204D305BAAE}"/>
              </a:ext>
            </a:extLst>
          </p:cNvPr>
          <p:cNvSpPr txBox="1"/>
          <p:nvPr/>
        </p:nvSpPr>
        <p:spPr>
          <a:xfrm>
            <a:off x="379908" y="4089393"/>
            <a:ext cx="496388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&lt;応募済みユーザー領域&gt;</a:t>
            </a:r>
            <a:endParaRPr lang="ja-JP" alt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72450FBF-2EA8-4582-869E-9B2A7C4946D7}"/>
              </a:ext>
            </a:extLst>
          </p:cNvPr>
          <p:cNvSpPr/>
          <p:nvPr/>
        </p:nvSpPr>
        <p:spPr>
          <a:xfrm>
            <a:off x="548883" y="2060461"/>
            <a:ext cx="1355280" cy="243944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HP</a:t>
            </a:r>
            <a:endParaRPr kumimoji="1" lang="ja-JP" altLang="en-US" sz="12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6891C2D7-8AEF-98E4-337B-283DC4374AFC}"/>
              </a:ext>
            </a:extLst>
          </p:cNvPr>
          <p:cNvSpPr/>
          <p:nvPr/>
        </p:nvSpPr>
        <p:spPr>
          <a:xfrm>
            <a:off x="548883" y="2322497"/>
            <a:ext cx="1355280" cy="243944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LP</a:t>
            </a:r>
            <a:endParaRPr kumimoji="1" lang="ja-JP" altLang="en-US" sz="12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3670DE23-5EB2-C1E6-9ED3-6176C87DDEA9}"/>
              </a:ext>
            </a:extLst>
          </p:cNvPr>
          <p:cNvSpPr/>
          <p:nvPr/>
        </p:nvSpPr>
        <p:spPr>
          <a:xfrm>
            <a:off x="548883" y="2659935"/>
            <a:ext cx="1355280" cy="243944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各種</a:t>
            </a:r>
            <a:r>
              <a:rPr kumimoji="1" lang="en-US" altLang="ja-JP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SNS</a:t>
            </a:r>
            <a:endParaRPr kumimoji="1" lang="ja-JP" altLang="en-US" sz="12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98C708B2-F546-DE85-AA3B-2C7B33013111}"/>
              </a:ext>
            </a:extLst>
          </p:cNvPr>
          <p:cNvSpPr/>
          <p:nvPr/>
        </p:nvSpPr>
        <p:spPr>
          <a:xfrm>
            <a:off x="548883" y="2997373"/>
            <a:ext cx="1355280" cy="243944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過去の応募者リスト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812C768D-D601-2E13-45FD-BFE5BA587BC6}"/>
              </a:ext>
            </a:extLst>
          </p:cNvPr>
          <p:cNvSpPr/>
          <p:nvPr/>
        </p:nvSpPr>
        <p:spPr>
          <a:xfrm>
            <a:off x="548883" y="3672249"/>
            <a:ext cx="2943254" cy="243944"/>
          </a:xfrm>
          <a:prstGeom prst="rect">
            <a:avLst/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LINE広告（友だち追加）など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13127993-BF51-568A-20FB-A9FB1DB6C913}"/>
              </a:ext>
            </a:extLst>
          </p:cNvPr>
          <p:cNvSpPr/>
          <p:nvPr/>
        </p:nvSpPr>
        <p:spPr>
          <a:xfrm>
            <a:off x="8170812" y="2408570"/>
            <a:ext cx="1355280" cy="243944"/>
          </a:xfrm>
          <a:prstGeom prst="rect">
            <a:avLst/>
          </a:prstGeom>
          <a:solidFill>
            <a:srgbClr val="1E2761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応募</a:t>
            </a:r>
            <a:endParaRPr kumimoji="1" lang="ja-JP" altLang="en-US" sz="12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2E81D74A-E79F-C90A-80AF-4F6BDF853777}"/>
              </a:ext>
            </a:extLst>
          </p:cNvPr>
          <p:cNvSpPr/>
          <p:nvPr/>
        </p:nvSpPr>
        <p:spPr>
          <a:xfrm>
            <a:off x="548883" y="3334811"/>
            <a:ext cx="2943254" cy="243944"/>
          </a:xfrm>
          <a:prstGeom prst="rect">
            <a:avLst/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200" b="1" dirty="0">
                <a:solidFill>
                  <a:schemeClr val="bg1">
                    <a:lumMod val="7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求人誌・店頭・メールのQRコード</a:t>
            </a:r>
            <a:endParaRPr kumimoji="1" lang="ja-JP" altLang="en-US" sz="1200" b="1" dirty="0">
              <a:solidFill>
                <a:schemeClr val="bg1">
                  <a:lumMod val="7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346217DB-3E59-DD17-6353-BB21863AB6A4}"/>
              </a:ext>
            </a:extLst>
          </p:cNvPr>
          <p:cNvSpPr/>
          <p:nvPr/>
        </p:nvSpPr>
        <p:spPr>
          <a:xfrm>
            <a:off x="1950234" y="2999032"/>
            <a:ext cx="1543806" cy="243944"/>
          </a:xfrm>
          <a:prstGeom prst="rect">
            <a:avLst/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100" b="1" dirty="0">
                <a:solidFill>
                  <a:schemeClr val="bg1">
                    <a:lumMod val="7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メールマガジン</a:t>
            </a:r>
            <a:endParaRPr kumimoji="1" lang="ja-JP" altLang="en-US" sz="1100" b="1" dirty="0">
              <a:solidFill>
                <a:schemeClr val="bg1">
                  <a:lumMod val="7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85B73343-1515-8075-50D7-828D2C7D0482}"/>
              </a:ext>
            </a:extLst>
          </p:cNvPr>
          <p:cNvSpPr/>
          <p:nvPr/>
        </p:nvSpPr>
        <p:spPr>
          <a:xfrm>
            <a:off x="1939622" y="2149679"/>
            <a:ext cx="1543806" cy="295172"/>
          </a:xfrm>
          <a:prstGeom prst="rect">
            <a:avLst/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離脱防止バナー</a:t>
            </a:r>
            <a:r>
              <a:rPr lang="en-US" altLang="ja-JP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  <a:endParaRPr kumimoji="1" lang="ja-JP" altLang="en-US" sz="12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52" name="コネクタ: カギ線 51">
            <a:extLst>
              <a:ext uri="{FF2B5EF4-FFF2-40B4-BE49-F238E27FC236}">
                <a16:creationId xmlns:a16="http://schemas.microsoft.com/office/drawing/2014/main" id="{10A164B9-404C-F131-0FB7-4A7EC00628C8}"/>
              </a:ext>
            </a:extLst>
          </p:cNvPr>
          <p:cNvCxnSpPr>
            <a:cxnSpLocks/>
            <a:stCxn id="14" idx="3"/>
          </p:cNvCxnSpPr>
          <p:nvPr/>
        </p:nvCxnSpPr>
        <p:spPr>
          <a:xfrm flipV="1">
            <a:off x="1904163" y="2540793"/>
            <a:ext cx="1898060" cy="241114"/>
          </a:xfrm>
          <a:prstGeom prst="bentConnector3">
            <a:avLst>
              <a:gd name="adj1" fmla="val 88139"/>
            </a:avLst>
          </a:prstGeom>
          <a:ln>
            <a:solidFill>
              <a:schemeClr val="bg1">
                <a:lumMod val="75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正方形/長方形 79">
            <a:extLst>
              <a:ext uri="{FF2B5EF4-FFF2-40B4-BE49-F238E27FC236}">
                <a16:creationId xmlns:a16="http://schemas.microsoft.com/office/drawing/2014/main" id="{AB39E10C-FA5C-42F3-51FF-A98C96D3A9FE}"/>
              </a:ext>
            </a:extLst>
          </p:cNvPr>
          <p:cNvSpPr/>
          <p:nvPr/>
        </p:nvSpPr>
        <p:spPr>
          <a:xfrm>
            <a:off x="8170812" y="2124073"/>
            <a:ext cx="1355280" cy="243944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新着求人の配信</a:t>
            </a:r>
          </a:p>
        </p:txBody>
      </p:sp>
      <p:sp>
        <p:nvSpPr>
          <p:cNvPr id="130" name="正方形/長方形 129">
            <a:extLst>
              <a:ext uri="{FF2B5EF4-FFF2-40B4-BE49-F238E27FC236}">
                <a16:creationId xmlns:a16="http://schemas.microsoft.com/office/drawing/2014/main" id="{68999E51-25BF-ABC0-E768-EB439414D6AA}"/>
              </a:ext>
            </a:extLst>
          </p:cNvPr>
          <p:cNvSpPr/>
          <p:nvPr/>
        </p:nvSpPr>
        <p:spPr>
          <a:xfrm>
            <a:off x="486784" y="713253"/>
            <a:ext cx="9005456" cy="6532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000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sz="14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応募前に離れた方は友だちとして残り、応募した方には次の仕事探しで戻っていただくなど、</a:t>
            </a:r>
            <a:endParaRPr lang="en-US" altLang="ja-JP" sz="14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14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LINE公式アカウントで対策できる場面は多く、課題に合わせて施策を組み合わせられる。</a:t>
            </a:r>
            <a:endParaRPr lang="ja-JP" altLang="en-US" sz="1400" dirty="0">
              <a:solidFill>
                <a:srgbClr val="1E276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33" name="正方形/長方形 132">
            <a:extLst>
              <a:ext uri="{FF2B5EF4-FFF2-40B4-BE49-F238E27FC236}">
                <a16:creationId xmlns:a16="http://schemas.microsoft.com/office/drawing/2014/main" id="{EF3EB03D-B886-80C5-4DDF-AD318BB1E8CB}"/>
              </a:ext>
            </a:extLst>
          </p:cNvPr>
          <p:cNvSpPr/>
          <p:nvPr/>
        </p:nvSpPr>
        <p:spPr>
          <a:xfrm>
            <a:off x="6444618" y="4938641"/>
            <a:ext cx="2292685" cy="22176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GAでの効果測定</a:t>
            </a:r>
          </a:p>
        </p:txBody>
      </p:sp>
      <p:sp>
        <p:nvSpPr>
          <p:cNvPr id="134" name="正方形/長方形 133">
            <a:extLst>
              <a:ext uri="{FF2B5EF4-FFF2-40B4-BE49-F238E27FC236}">
                <a16:creationId xmlns:a16="http://schemas.microsoft.com/office/drawing/2014/main" id="{8185B158-D6FD-FC9A-D842-E0184FC04A2F}"/>
              </a:ext>
            </a:extLst>
          </p:cNvPr>
          <p:cNvSpPr/>
          <p:nvPr/>
        </p:nvSpPr>
        <p:spPr>
          <a:xfrm>
            <a:off x="6444618" y="5207075"/>
            <a:ext cx="2292685" cy="22176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投稿スケジュール確認</a:t>
            </a:r>
            <a:endParaRPr kumimoji="1" lang="en-US" altLang="ja-JP" sz="12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35" name="正方形/長方形 134">
            <a:extLst>
              <a:ext uri="{FF2B5EF4-FFF2-40B4-BE49-F238E27FC236}">
                <a16:creationId xmlns:a16="http://schemas.microsoft.com/office/drawing/2014/main" id="{CAF16DCF-7CE0-97CD-A1FD-09B08149FF7B}"/>
              </a:ext>
            </a:extLst>
          </p:cNvPr>
          <p:cNvSpPr/>
          <p:nvPr/>
        </p:nvSpPr>
        <p:spPr>
          <a:xfrm>
            <a:off x="6444617" y="5743943"/>
            <a:ext cx="2292685" cy="22176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Call Plus</a:t>
            </a:r>
            <a:endParaRPr kumimoji="1" lang="ja-JP" altLang="en-US" sz="12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36" name="正方形/長方形 135">
            <a:extLst>
              <a:ext uri="{FF2B5EF4-FFF2-40B4-BE49-F238E27FC236}">
                <a16:creationId xmlns:a16="http://schemas.microsoft.com/office/drawing/2014/main" id="{DE164E19-C9CA-ADE8-FE9B-4A4096DD13BE}"/>
              </a:ext>
            </a:extLst>
          </p:cNvPr>
          <p:cNvSpPr/>
          <p:nvPr/>
        </p:nvSpPr>
        <p:spPr>
          <a:xfrm>
            <a:off x="6444617" y="5475509"/>
            <a:ext cx="2292685" cy="22176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Chat Plus</a:t>
            </a:r>
            <a:endParaRPr kumimoji="1" lang="ja-JP" altLang="en-US" sz="12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37" name="正方形/長方形 136">
            <a:extLst>
              <a:ext uri="{FF2B5EF4-FFF2-40B4-BE49-F238E27FC236}">
                <a16:creationId xmlns:a16="http://schemas.microsoft.com/office/drawing/2014/main" id="{FF9A810E-B53B-2631-3BD5-00395512E9C0}"/>
              </a:ext>
            </a:extLst>
          </p:cNvPr>
          <p:cNvSpPr/>
          <p:nvPr/>
        </p:nvSpPr>
        <p:spPr>
          <a:xfrm>
            <a:off x="6444617" y="6012377"/>
            <a:ext cx="2292685" cy="22176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通知メッセージ</a:t>
            </a:r>
          </a:p>
        </p:txBody>
      </p:sp>
      <p:sp>
        <p:nvSpPr>
          <p:cNvPr id="145" name="正方形/長方形 144">
            <a:extLst>
              <a:ext uri="{FF2B5EF4-FFF2-40B4-BE49-F238E27FC236}">
                <a16:creationId xmlns:a16="http://schemas.microsoft.com/office/drawing/2014/main" id="{1DF80BB2-F1C3-A39C-D441-B75E4795CC5B}"/>
              </a:ext>
            </a:extLst>
          </p:cNvPr>
          <p:cNvSpPr/>
          <p:nvPr/>
        </p:nvSpPr>
        <p:spPr>
          <a:xfrm>
            <a:off x="6444617" y="4746848"/>
            <a:ext cx="1424263" cy="16373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定期的な対応（一部）</a:t>
            </a:r>
          </a:p>
        </p:txBody>
      </p: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CABD8985-CFB7-BFB4-C5CA-334F6DD3C337}"/>
              </a:ext>
            </a:extLst>
          </p:cNvPr>
          <p:cNvSpPr/>
          <p:nvPr/>
        </p:nvSpPr>
        <p:spPr>
          <a:xfrm>
            <a:off x="3634802" y="1986633"/>
            <a:ext cx="4080010" cy="2098921"/>
          </a:xfrm>
          <a:prstGeom prst="rect">
            <a:avLst/>
          </a:prstGeom>
          <a:solidFill>
            <a:srgbClr val="1E2761">
              <a:alpha val="8000"/>
            </a:srgb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0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0" name="正方形/長方形 49">
            <a:extLst>
              <a:ext uri="{FF2B5EF4-FFF2-40B4-BE49-F238E27FC236}">
                <a16:creationId xmlns:a16="http://schemas.microsoft.com/office/drawing/2014/main" id="{498D1E1C-883A-4348-5898-29B2849E59E6}"/>
              </a:ext>
            </a:extLst>
          </p:cNvPr>
          <p:cNvSpPr/>
          <p:nvPr/>
        </p:nvSpPr>
        <p:spPr>
          <a:xfrm>
            <a:off x="3802223" y="2418821"/>
            <a:ext cx="1355280" cy="243944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友だち追加</a:t>
            </a:r>
          </a:p>
        </p:txBody>
      </p:sp>
      <p:cxnSp>
        <p:nvCxnSpPr>
          <p:cNvPr id="51" name="コネクタ: カギ線 50">
            <a:extLst>
              <a:ext uri="{FF2B5EF4-FFF2-40B4-BE49-F238E27FC236}">
                <a16:creationId xmlns:a16="http://schemas.microsoft.com/office/drawing/2014/main" id="{2981AEA5-C263-1A76-AF6F-7D4F94F3AC3F}"/>
              </a:ext>
            </a:extLst>
          </p:cNvPr>
          <p:cNvCxnSpPr>
            <a:cxnSpLocks/>
          </p:cNvCxnSpPr>
          <p:nvPr/>
        </p:nvCxnSpPr>
        <p:spPr>
          <a:xfrm flipV="1">
            <a:off x="3492137" y="2540793"/>
            <a:ext cx="310086" cy="915990"/>
          </a:xfrm>
          <a:prstGeom prst="bentConnector3">
            <a:avLst>
              <a:gd name="adj1" fmla="val 27532"/>
            </a:avLst>
          </a:prstGeom>
          <a:ln>
            <a:solidFill>
              <a:schemeClr val="tx2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コネクタ: カギ線 52">
            <a:extLst>
              <a:ext uri="{FF2B5EF4-FFF2-40B4-BE49-F238E27FC236}">
                <a16:creationId xmlns:a16="http://schemas.microsoft.com/office/drawing/2014/main" id="{6898DA80-B20A-0E45-B382-62A8490927C1}"/>
              </a:ext>
            </a:extLst>
          </p:cNvPr>
          <p:cNvCxnSpPr>
            <a:cxnSpLocks/>
          </p:cNvCxnSpPr>
          <p:nvPr/>
        </p:nvCxnSpPr>
        <p:spPr>
          <a:xfrm flipV="1">
            <a:off x="3483428" y="2540793"/>
            <a:ext cx="310086" cy="1253428"/>
          </a:xfrm>
          <a:prstGeom prst="bentConnector3">
            <a:avLst>
              <a:gd name="adj1" fmla="val 30341"/>
            </a:avLst>
          </a:prstGeom>
          <a:ln>
            <a:solidFill>
              <a:schemeClr val="tx2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コネクタ: カギ線 53">
            <a:extLst>
              <a:ext uri="{FF2B5EF4-FFF2-40B4-BE49-F238E27FC236}">
                <a16:creationId xmlns:a16="http://schemas.microsoft.com/office/drawing/2014/main" id="{4194983F-AFC0-FB2F-1207-1AF108AFDA19}"/>
              </a:ext>
            </a:extLst>
          </p:cNvPr>
          <p:cNvCxnSpPr>
            <a:cxnSpLocks/>
          </p:cNvCxnSpPr>
          <p:nvPr/>
        </p:nvCxnSpPr>
        <p:spPr>
          <a:xfrm>
            <a:off x="3483428" y="2297265"/>
            <a:ext cx="318795" cy="243528"/>
          </a:xfrm>
          <a:prstGeom prst="bentConnector3">
            <a:avLst>
              <a:gd name="adj1" fmla="val 28488"/>
            </a:avLst>
          </a:prstGeom>
          <a:ln>
            <a:solidFill>
              <a:schemeClr val="tx2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正方形/長方形 54">
            <a:extLst>
              <a:ext uri="{FF2B5EF4-FFF2-40B4-BE49-F238E27FC236}">
                <a16:creationId xmlns:a16="http://schemas.microsoft.com/office/drawing/2014/main" id="{B20DB094-045E-2E0D-7026-B0BFFA8F2374}"/>
              </a:ext>
            </a:extLst>
          </p:cNvPr>
          <p:cNvSpPr/>
          <p:nvPr/>
        </p:nvSpPr>
        <p:spPr>
          <a:xfrm>
            <a:off x="5319694" y="2122076"/>
            <a:ext cx="2292685" cy="221767"/>
          </a:xfrm>
          <a:prstGeom prst="rect">
            <a:avLst/>
          </a:prstGeom>
          <a:solidFill>
            <a:schemeClr val="tx2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企画配信（セグメント配信）</a:t>
            </a:r>
          </a:p>
        </p:txBody>
      </p:sp>
      <p:sp>
        <p:nvSpPr>
          <p:cNvPr id="56" name="正方形/長方形 55">
            <a:extLst>
              <a:ext uri="{FF2B5EF4-FFF2-40B4-BE49-F238E27FC236}">
                <a16:creationId xmlns:a16="http://schemas.microsoft.com/office/drawing/2014/main" id="{960DE889-CA21-9C03-FD30-9F8BA1C11BE0}"/>
              </a:ext>
            </a:extLst>
          </p:cNvPr>
          <p:cNvSpPr/>
          <p:nvPr/>
        </p:nvSpPr>
        <p:spPr>
          <a:xfrm>
            <a:off x="5319694" y="2387671"/>
            <a:ext cx="2292685" cy="221767"/>
          </a:xfrm>
          <a:prstGeom prst="rect">
            <a:avLst/>
          </a:prstGeom>
          <a:solidFill>
            <a:schemeClr val="tx2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ステップ配信</a:t>
            </a:r>
          </a:p>
        </p:txBody>
      </p:sp>
      <p:sp>
        <p:nvSpPr>
          <p:cNvPr id="64" name="正方形/長方形 63">
            <a:extLst>
              <a:ext uri="{FF2B5EF4-FFF2-40B4-BE49-F238E27FC236}">
                <a16:creationId xmlns:a16="http://schemas.microsoft.com/office/drawing/2014/main" id="{B0198902-7C67-1321-611C-A528F8B056D6}"/>
              </a:ext>
            </a:extLst>
          </p:cNvPr>
          <p:cNvSpPr/>
          <p:nvPr/>
        </p:nvSpPr>
        <p:spPr>
          <a:xfrm>
            <a:off x="5319694" y="2653266"/>
            <a:ext cx="1124924" cy="221767"/>
          </a:xfrm>
          <a:prstGeom prst="rect">
            <a:avLst/>
          </a:prstGeom>
          <a:solidFill>
            <a:schemeClr val="tx2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条件5問</a:t>
            </a:r>
          </a:p>
        </p:txBody>
      </p:sp>
      <p:sp>
        <p:nvSpPr>
          <p:cNvPr id="67" name="正方形/長方形 66">
            <a:extLst>
              <a:ext uri="{FF2B5EF4-FFF2-40B4-BE49-F238E27FC236}">
                <a16:creationId xmlns:a16="http://schemas.microsoft.com/office/drawing/2014/main" id="{EC9DC48F-C12B-8A2A-8E49-C82DF8C2398F}"/>
              </a:ext>
            </a:extLst>
          </p:cNvPr>
          <p:cNvSpPr/>
          <p:nvPr/>
        </p:nvSpPr>
        <p:spPr>
          <a:xfrm>
            <a:off x="3883318" y="2695245"/>
            <a:ext cx="1274185" cy="16661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初期設計の項目</a:t>
            </a:r>
          </a:p>
        </p:txBody>
      </p:sp>
      <p:sp>
        <p:nvSpPr>
          <p:cNvPr id="68" name="テキスト ボックス 67">
            <a:extLst>
              <a:ext uri="{FF2B5EF4-FFF2-40B4-BE49-F238E27FC236}">
                <a16:creationId xmlns:a16="http://schemas.microsoft.com/office/drawing/2014/main" id="{7FD4C92A-1BF4-DC29-74E5-5DDCAEC47D74}"/>
              </a:ext>
            </a:extLst>
          </p:cNvPr>
          <p:cNvSpPr txBox="1"/>
          <p:nvPr/>
        </p:nvSpPr>
        <p:spPr>
          <a:xfrm>
            <a:off x="3894226" y="2879422"/>
            <a:ext cx="127418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ja-JP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</a:t>
            </a:r>
            <a:r>
              <a:rPr lang="ja-JP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プロフィール画面</a:t>
            </a:r>
            <a:endParaRPr kumimoji="1" lang="en-US" altLang="ja-JP" sz="700" dirty="0">
              <a:solidFill>
                <a:schemeClr val="tx1">
                  <a:lumMod val="50000"/>
                  <a:lumOff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</a:t>
            </a:r>
            <a:r>
              <a:rPr kumimoji="1" lang="ja-JP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リッチメニュー</a:t>
            </a:r>
            <a:endParaRPr kumimoji="1" lang="en-US" altLang="ja-JP" sz="700" dirty="0">
              <a:solidFill>
                <a:schemeClr val="tx1">
                  <a:lumMod val="50000"/>
                  <a:lumOff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・あいさつメッセージ</a:t>
            </a:r>
            <a:endParaRPr lang="en-US" altLang="ja-JP" sz="700" dirty="0">
              <a:solidFill>
                <a:schemeClr val="tx1">
                  <a:lumMod val="50000"/>
                  <a:lumOff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・応答メッセージ設定</a:t>
            </a:r>
            <a:endParaRPr lang="en-US" altLang="ja-JP" sz="700" dirty="0">
              <a:solidFill>
                <a:schemeClr val="tx1">
                  <a:lumMod val="50000"/>
                  <a:lumOff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・チャットタグ設定</a:t>
            </a:r>
            <a:endParaRPr lang="en-US" altLang="ja-JP" sz="700" dirty="0">
              <a:solidFill>
                <a:schemeClr val="tx1">
                  <a:lumMod val="50000"/>
                  <a:lumOff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・計測タグ設定</a:t>
            </a:r>
            <a:endParaRPr lang="en-US" altLang="ja-JP" sz="700" dirty="0">
              <a:solidFill>
                <a:schemeClr val="tx1">
                  <a:lumMod val="50000"/>
                  <a:lumOff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</a:t>
            </a:r>
            <a:r>
              <a:rPr lang="en-US" altLang="ja-JP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lang="ja-JP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ログイン </a:t>
            </a:r>
            <a:r>
              <a:rPr lang="en-US" altLang="ja-JP" sz="600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600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別途費用</a:t>
            </a:r>
            <a:endParaRPr lang="en-US" altLang="ja-JP" sz="600" dirty="0">
              <a:solidFill>
                <a:srgbClr val="1E276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</a:t>
            </a:r>
            <a:r>
              <a:rPr lang="en-US" altLang="ja-JP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LINEID</a:t>
            </a:r>
            <a:r>
              <a:rPr lang="ja-JP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連携 </a:t>
            </a:r>
            <a:r>
              <a:rPr lang="en-US" altLang="ja-JP" sz="700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700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別途費用</a:t>
            </a:r>
            <a:endParaRPr lang="en-US" altLang="ja-JP" sz="700" dirty="0">
              <a:solidFill>
                <a:srgbClr val="1E276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9" name="正方形/長方形 68">
            <a:extLst>
              <a:ext uri="{FF2B5EF4-FFF2-40B4-BE49-F238E27FC236}">
                <a16:creationId xmlns:a16="http://schemas.microsoft.com/office/drawing/2014/main" id="{3C7CD555-05D0-53EC-B6D5-ED734EBA27DF}"/>
              </a:ext>
            </a:extLst>
          </p:cNvPr>
          <p:cNvSpPr/>
          <p:nvPr/>
        </p:nvSpPr>
        <p:spPr>
          <a:xfrm>
            <a:off x="5326708" y="2918861"/>
            <a:ext cx="2292685" cy="221767"/>
          </a:xfrm>
          <a:prstGeom prst="rect">
            <a:avLst/>
          </a:prstGeom>
          <a:solidFill>
            <a:schemeClr val="tx2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タグ・セグメントの管理</a:t>
            </a:r>
          </a:p>
        </p:txBody>
      </p:sp>
      <p:sp>
        <p:nvSpPr>
          <p:cNvPr id="74" name="正方形/長方形 73">
            <a:extLst>
              <a:ext uri="{FF2B5EF4-FFF2-40B4-BE49-F238E27FC236}">
                <a16:creationId xmlns:a16="http://schemas.microsoft.com/office/drawing/2014/main" id="{64296BD6-7E19-AF65-3C1F-3AA68F3DB296}"/>
              </a:ext>
            </a:extLst>
          </p:cNvPr>
          <p:cNvSpPr/>
          <p:nvPr/>
        </p:nvSpPr>
        <p:spPr>
          <a:xfrm>
            <a:off x="5326708" y="3450051"/>
            <a:ext cx="2292685" cy="221767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初期設計の見直し</a:t>
            </a:r>
          </a:p>
        </p:txBody>
      </p:sp>
      <p:sp>
        <p:nvSpPr>
          <p:cNvPr id="75" name="正方形/長方形 74">
            <a:extLst>
              <a:ext uri="{FF2B5EF4-FFF2-40B4-BE49-F238E27FC236}">
                <a16:creationId xmlns:a16="http://schemas.microsoft.com/office/drawing/2014/main" id="{2B391CFB-A763-8F28-0B80-C4699C620787}"/>
              </a:ext>
            </a:extLst>
          </p:cNvPr>
          <p:cNvSpPr/>
          <p:nvPr/>
        </p:nvSpPr>
        <p:spPr>
          <a:xfrm>
            <a:off x="5326708" y="3184456"/>
            <a:ext cx="2292685" cy="221767"/>
          </a:xfrm>
          <a:prstGeom prst="rect">
            <a:avLst/>
          </a:prstGeom>
          <a:solidFill>
            <a:schemeClr val="tx2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b="1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よくある質問への自動応答</a:t>
            </a:r>
            <a:endParaRPr lang="ja-JP" altLang="en-US" sz="12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6" name="正方形/長方形 75">
            <a:extLst>
              <a:ext uri="{FF2B5EF4-FFF2-40B4-BE49-F238E27FC236}">
                <a16:creationId xmlns:a16="http://schemas.microsoft.com/office/drawing/2014/main" id="{78BE8892-FE50-BF73-B15E-567C1CFD9A8A}"/>
              </a:ext>
            </a:extLst>
          </p:cNvPr>
          <p:cNvSpPr/>
          <p:nvPr/>
        </p:nvSpPr>
        <p:spPr>
          <a:xfrm>
            <a:off x="6487455" y="2655306"/>
            <a:ext cx="1124924" cy="221767"/>
          </a:xfrm>
          <a:prstGeom prst="rect">
            <a:avLst/>
          </a:prstGeom>
          <a:solidFill>
            <a:schemeClr val="tx2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→ タグ配信</a:t>
            </a:r>
          </a:p>
        </p:txBody>
      </p:sp>
      <p:sp>
        <p:nvSpPr>
          <p:cNvPr id="77" name="正方形/長方形 76">
            <a:extLst>
              <a:ext uri="{FF2B5EF4-FFF2-40B4-BE49-F238E27FC236}">
                <a16:creationId xmlns:a16="http://schemas.microsoft.com/office/drawing/2014/main" id="{5FB8C9E8-13C6-54AE-CC6C-E66EB44BEE66}"/>
              </a:ext>
            </a:extLst>
          </p:cNvPr>
          <p:cNvSpPr/>
          <p:nvPr/>
        </p:nvSpPr>
        <p:spPr>
          <a:xfrm>
            <a:off x="5319693" y="3715648"/>
            <a:ext cx="2292685" cy="221767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条件変更の受付</a:t>
            </a:r>
          </a:p>
        </p:txBody>
      </p:sp>
      <p:cxnSp>
        <p:nvCxnSpPr>
          <p:cNvPr id="78" name="コネクタ: カギ線 77">
            <a:extLst>
              <a:ext uri="{FF2B5EF4-FFF2-40B4-BE49-F238E27FC236}">
                <a16:creationId xmlns:a16="http://schemas.microsoft.com/office/drawing/2014/main" id="{A0B29E3B-5447-4104-E77E-C26EB1CB0F8A}"/>
              </a:ext>
            </a:extLst>
          </p:cNvPr>
          <p:cNvCxnSpPr>
            <a:cxnSpLocks/>
            <a:stCxn id="77" idx="3"/>
          </p:cNvCxnSpPr>
          <p:nvPr/>
        </p:nvCxnSpPr>
        <p:spPr>
          <a:xfrm flipV="1">
            <a:off x="7612378" y="2246045"/>
            <a:ext cx="558434" cy="1580487"/>
          </a:xfrm>
          <a:prstGeom prst="bentConnector3">
            <a:avLst>
              <a:gd name="adj1" fmla="val 76511"/>
            </a:avLst>
          </a:prstGeom>
          <a:ln>
            <a:solidFill>
              <a:schemeClr val="tx2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コネクタ: カギ線 78">
            <a:extLst>
              <a:ext uri="{FF2B5EF4-FFF2-40B4-BE49-F238E27FC236}">
                <a16:creationId xmlns:a16="http://schemas.microsoft.com/office/drawing/2014/main" id="{6F60DF78-AC16-9662-17BD-3EBCD4677BB3}"/>
              </a:ext>
            </a:extLst>
          </p:cNvPr>
          <p:cNvCxnSpPr>
            <a:cxnSpLocks/>
            <a:stCxn id="74" idx="3"/>
          </p:cNvCxnSpPr>
          <p:nvPr/>
        </p:nvCxnSpPr>
        <p:spPr>
          <a:xfrm flipV="1">
            <a:off x="7619393" y="2530542"/>
            <a:ext cx="551419" cy="1030393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コネクタ: カギ線 81">
            <a:extLst>
              <a:ext uri="{FF2B5EF4-FFF2-40B4-BE49-F238E27FC236}">
                <a16:creationId xmlns:a16="http://schemas.microsoft.com/office/drawing/2014/main" id="{9ACE7516-910E-229D-8D61-02389EE1209F}"/>
              </a:ext>
            </a:extLst>
          </p:cNvPr>
          <p:cNvCxnSpPr>
            <a:cxnSpLocks/>
            <a:stCxn id="75" idx="3"/>
          </p:cNvCxnSpPr>
          <p:nvPr/>
        </p:nvCxnSpPr>
        <p:spPr>
          <a:xfrm flipV="1">
            <a:off x="7619393" y="2530542"/>
            <a:ext cx="551419" cy="764798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コネクタ: カギ線 82">
            <a:extLst>
              <a:ext uri="{FF2B5EF4-FFF2-40B4-BE49-F238E27FC236}">
                <a16:creationId xmlns:a16="http://schemas.microsoft.com/office/drawing/2014/main" id="{CFEF0AA5-73C6-3E02-7EDB-57BE374DCDBF}"/>
              </a:ext>
            </a:extLst>
          </p:cNvPr>
          <p:cNvCxnSpPr>
            <a:cxnSpLocks/>
            <a:stCxn id="69" idx="3"/>
          </p:cNvCxnSpPr>
          <p:nvPr/>
        </p:nvCxnSpPr>
        <p:spPr>
          <a:xfrm flipV="1">
            <a:off x="7619393" y="2530542"/>
            <a:ext cx="551419" cy="499203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コネクタ: カギ線 83">
            <a:extLst>
              <a:ext uri="{FF2B5EF4-FFF2-40B4-BE49-F238E27FC236}">
                <a16:creationId xmlns:a16="http://schemas.microsoft.com/office/drawing/2014/main" id="{994CBAF5-3A55-5F8D-2FE3-7E89A4D5C622}"/>
              </a:ext>
            </a:extLst>
          </p:cNvPr>
          <p:cNvCxnSpPr>
            <a:cxnSpLocks/>
            <a:stCxn id="76" idx="3"/>
          </p:cNvCxnSpPr>
          <p:nvPr/>
        </p:nvCxnSpPr>
        <p:spPr>
          <a:xfrm flipV="1">
            <a:off x="7612379" y="2530542"/>
            <a:ext cx="558433" cy="235648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コネクタ: カギ線 84">
            <a:extLst>
              <a:ext uri="{FF2B5EF4-FFF2-40B4-BE49-F238E27FC236}">
                <a16:creationId xmlns:a16="http://schemas.microsoft.com/office/drawing/2014/main" id="{95AFF09E-E9EC-B83D-758F-AB3E03B91C26}"/>
              </a:ext>
            </a:extLst>
          </p:cNvPr>
          <p:cNvCxnSpPr>
            <a:cxnSpLocks/>
            <a:stCxn id="56" idx="3"/>
          </p:cNvCxnSpPr>
          <p:nvPr/>
        </p:nvCxnSpPr>
        <p:spPr>
          <a:xfrm>
            <a:off x="7612379" y="2498555"/>
            <a:ext cx="558433" cy="31987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コネクタ: カギ線 86">
            <a:extLst>
              <a:ext uri="{FF2B5EF4-FFF2-40B4-BE49-F238E27FC236}">
                <a16:creationId xmlns:a16="http://schemas.microsoft.com/office/drawing/2014/main" id="{81E043B6-4E27-2700-F284-741B1F2B6E99}"/>
              </a:ext>
            </a:extLst>
          </p:cNvPr>
          <p:cNvCxnSpPr>
            <a:cxnSpLocks/>
            <a:stCxn id="55" idx="3"/>
          </p:cNvCxnSpPr>
          <p:nvPr/>
        </p:nvCxnSpPr>
        <p:spPr>
          <a:xfrm>
            <a:off x="7612379" y="2232960"/>
            <a:ext cx="558433" cy="297582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左中かっこ 87">
            <a:extLst>
              <a:ext uri="{FF2B5EF4-FFF2-40B4-BE49-F238E27FC236}">
                <a16:creationId xmlns:a16="http://schemas.microsoft.com/office/drawing/2014/main" id="{3EB6A587-08D7-7B0D-8BB4-704F3A9413A8}"/>
              </a:ext>
            </a:extLst>
          </p:cNvPr>
          <p:cNvSpPr/>
          <p:nvPr/>
        </p:nvSpPr>
        <p:spPr>
          <a:xfrm>
            <a:off x="5156221" y="2086266"/>
            <a:ext cx="181099" cy="1866748"/>
          </a:xfrm>
          <a:prstGeom prst="leftBrace">
            <a:avLst>
              <a:gd name="adj1" fmla="val 8333"/>
              <a:gd name="adj2" fmla="val 23194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0" name="正方形/長方形 89">
            <a:extLst>
              <a:ext uri="{FF2B5EF4-FFF2-40B4-BE49-F238E27FC236}">
                <a16:creationId xmlns:a16="http://schemas.microsoft.com/office/drawing/2014/main" id="{13F6801A-CC8C-370B-47CD-0E9A8F78DA92}"/>
              </a:ext>
            </a:extLst>
          </p:cNvPr>
          <p:cNvSpPr/>
          <p:nvPr/>
        </p:nvSpPr>
        <p:spPr>
          <a:xfrm>
            <a:off x="468899" y="4586771"/>
            <a:ext cx="5679352" cy="1887988"/>
          </a:xfrm>
          <a:prstGeom prst="rect">
            <a:avLst/>
          </a:prstGeom>
          <a:solidFill>
            <a:srgbClr val="1E2761">
              <a:alpha val="8000"/>
            </a:srgb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0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2" name="正方形/長方形 91">
            <a:extLst>
              <a:ext uri="{FF2B5EF4-FFF2-40B4-BE49-F238E27FC236}">
                <a16:creationId xmlns:a16="http://schemas.microsoft.com/office/drawing/2014/main" id="{EBF6537D-D75B-DA5C-78EC-88D8F874BA82}"/>
              </a:ext>
            </a:extLst>
          </p:cNvPr>
          <p:cNvSpPr/>
          <p:nvPr/>
        </p:nvSpPr>
        <p:spPr>
          <a:xfrm>
            <a:off x="2207057" y="6002525"/>
            <a:ext cx="848549" cy="243944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友だち化</a:t>
            </a:r>
          </a:p>
        </p:txBody>
      </p:sp>
      <p:sp>
        <p:nvSpPr>
          <p:cNvPr id="93" name="正方形/長方形 92">
            <a:extLst>
              <a:ext uri="{FF2B5EF4-FFF2-40B4-BE49-F238E27FC236}">
                <a16:creationId xmlns:a16="http://schemas.microsoft.com/office/drawing/2014/main" id="{1A52527A-0CF0-029E-8E86-430BD9DEAAA1}"/>
              </a:ext>
            </a:extLst>
          </p:cNvPr>
          <p:cNvSpPr/>
          <p:nvPr/>
        </p:nvSpPr>
        <p:spPr>
          <a:xfrm>
            <a:off x="548883" y="4704947"/>
            <a:ext cx="731277" cy="243944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応募</a:t>
            </a:r>
            <a:endParaRPr kumimoji="1" lang="ja-JP" altLang="en-US" sz="10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95" name="コネクタ: カギ線 94">
            <a:extLst>
              <a:ext uri="{FF2B5EF4-FFF2-40B4-BE49-F238E27FC236}">
                <a16:creationId xmlns:a16="http://schemas.microsoft.com/office/drawing/2014/main" id="{898B747D-663D-3118-8C11-74EB0324AD5C}"/>
              </a:ext>
            </a:extLst>
          </p:cNvPr>
          <p:cNvCxnSpPr>
            <a:stCxn id="93" idx="0"/>
          </p:cNvCxnSpPr>
          <p:nvPr/>
        </p:nvCxnSpPr>
        <p:spPr>
          <a:xfrm rot="5400000" flipH="1" flipV="1">
            <a:off x="3855271" y="-288234"/>
            <a:ext cx="2052433" cy="7933930"/>
          </a:xfrm>
          <a:prstGeom prst="bentConnector3">
            <a:avLst>
              <a:gd name="adj1" fmla="val 8842"/>
            </a:avLst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コネクタ: カギ線 95">
            <a:extLst>
              <a:ext uri="{FF2B5EF4-FFF2-40B4-BE49-F238E27FC236}">
                <a16:creationId xmlns:a16="http://schemas.microsoft.com/office/drawing/2014/main" id="{CA244CA5-B309-FA6E-284D-7CBC7CC2508F}"/>
              </a:ext>
            </a:extLst>
          </p:cNvPr>
          <p:cNvCxnSpPr>
            <a:cxnSpLocks/>
            <a:stCxn id="93" idx="2"/>
            <a:endCxn id="92" idx="1"/>
          </p:cNvCxnSpPr>
          <p:nvPr/>
        </p:nvCxnSpPr>
        <p:spPr>
          <a:xfrm rot="16200000" flipH="1">
            <a:off x="972986" y="4890426"/>
            <a:ext cx="1175606" cy="1292535"/>
          </a:xfrm>
          <a:prstGeom prst="bentConnector2">
            <a:avLst/>
          </a:prstGeom>
          <a:ln>
            <a:solidFill>
              <a:schemeClr val="tx2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正方形/長方形 97">
            <a:extLst>
              <a:ext uri="{FF2B5EF4-FFF2-40B4-BE49-F238E27FC236}">
                <a16:creationId xmlns:a16="http://schemas.microsoft.com/office/drawing/2014/main" id="{B6490177-CFF0-A875-7C56-F0FC8CA2C530}"/>
              </a:ext>
            </a:extLst>
          </p:cNvPr>
          <p:cNvSpPr/>
          <p:nvPr/>
        </p:nvSpPr>
        <p:spPr>
          <a:xfrm>
            <a:off x="562021" y="5819567"/>
            <a:ext cx="1355280" cy="243944"/>
          </a:xfrm>
          <a:prstGeom prst="rect">
            <a:avLst/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b="1" dirty="0" err="1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通知メッセージ</a:t>
            </a:r>
            <a:endParaRPr kumimoji="1" lang="ja-JP" altLang="en-US" sz="12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9" name="正方形/長方形 98">
            <a:extLst>
              <a:ext uri="{FF2B5EF4-FFF2-40B4-BE49-F238E27FC236}">
                <a16:creationId xmlns:a16="http://schemas.microsoft.com/office/drawing/2014/main" id="{6D76C720-225A-6A92-8A49-A13770789615}"/>
              </a:ext>
            </a:extLst>
          </p:cNvPr>
          <p:cNvSpPr/>
          <p:nvPr/>
        </p:nvSpPr>
        <p:spPr>
          <a:xfrm>
            <a:off x="562021" y="6084246"/>
            <a:ext cx="1355280" cy="243944"/>
          </a:xfrm>
          <a:prstGeom prst="rect">
            <a:avLst/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サンクス</a:t>
            </a:r>
            <a:r>
              <a:rPr kumimoji="1" lang="en-US" altLang="ja-JP" sz="10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kumimoji="1" lang="ja-JP" altLang="en-US" sz="10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誘導</a:t>
            </a:r>
          </a:p>
        </p:txBody>
      </p:sp>
      <p:sp>
        <p:nvSpPr>
          <p:cNvPr id="101" name="正方形/長方形 100">
            <a:extLst>
              <a:ext uri="{FF2B5EF4-FFF2-40B4-BE49-F238E27FC236}">
                <a16:creationId xmlns:a16="http://schemas.microsoft.com/office/drawing/2014/main" id="{9927067B-793F-D21C-B90A-7C7E46812D7F}"/>
              </a:ext>
            </a:extLst>
          </p:cNvPr>
          <p:cNvSpPr/>
          <p:nvPr/>
        </p:nvSpPr>
        <p:spPr>
          <a:xfrm>
            <a:off x="3713703" y="4731321"/>
            <a:ext cx="2292685" cy="221767"/>
          </a:xfrm>
          <a:prstGeom prst="rect">
            <a:avLst/>
          </a:prstGeom>
          <a:solidFill>
            <a:schemeClr val="tx2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面接・見学の前日リマインド</a:t>
            </a:r>
          </a:p>
        </p:txBody>
      </p:sp>
      <p:sp>
        <p:nvSpPr>
          <p:cNvPr id="102" name="正方形/長方形 101">
            <a:extLst>
              <a:ext uri="{FF2B5EF4-FFF2-40B4-BE49-F238E27FC236}">
                <a16:creationId xmlns:a16="http://schemas.microsoft.com/office/drawing/2014/main" id="{BD2E83D5-3372-C439-208D-783F428C9D84}"/>
              </a:ext>
            </a:extLst>
          </p:cNvPr>
          <p:cNvSpPr/>
          <p:nvPr/>
        </p:nvSpPr>
        <p:spPr>
          <a:xfrm>
            <a:off x="3713703" y="4996916"/>
            <a:ext cx="2292685" cy="221767"/>
          </a:xfrm>
          <a:prstGeom prst="rect">
            <a:avLst/>
          </a:prstGeom>
          <a:solidFill>
            <a:schemeClr val="tx2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契約満了前の再案内</a:t>
            </a:r>
          </a:p>
        </p:txBody>
      </p:sp>
      <p:sp>
        <p:nvSpPr>
          <p:cNvPr id="104" name="正方形/長方形 103">
            <a:extLst>
              <a:ext uri="{FF2B5EF4-FFF2-40B4-BE49-F238E27FC236}">
                <a16:creationId xmlns:a16="http://schemas.microsoft.com/office/drawing/2014/main" id="{087D59E0-E0CE-3934-C1B4-0EF4D82E0B2E}"/>
              </a:ext>
            </a:extLst>
          </p:cNvPr>
          <p:cNvSpPr/>
          <p:nvPr/>
        </p:nvSpPr>
        <p:spPr>
          <a:xfrm>
            <a:off x="3713703" y="5262511"/>
            <a:ext cx="1124924" cy="221767"/>
          </a:xfrm>
          <a:prstGeom prst="rect">
            <a:avLst/>
          </a:prstGeom>
          <a:solidFill>
            <a:schemeClr val="tx2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就業開始</a:t>
            </a:r>
          </a:p>
        </p:txBody>
      </p:sp>
      <p:sp>
        <p:nvSpPr>
          <p:cNvPr id="105" name="正方形/長方形 104">
            <a:extLst>
              <a:ext uri="{FF2B5EF4-FFF2-40B4-BE49-F238E27FC236}">
                <a16:creationId xmlns:a16="http://schemas.microsoft.com/office/drawing/2014/main" id="{78BB80E0-2482-846A-E4FE-C1770384E88E}"/>
              </a:ext>
            </a:extLst>
          </p:cNvPr>
          <p:cNvSpPr/>
          <p:nvPr/>
        </p:nvSpPr>
        <p:spPr>
          <a:xfrm>
            <a:off x="3720717" y="5528106"/>
            <a:ext cx="2292685" cy="221767"/>
          </a:xfrm>
          <a:prstGeom prst="rect">
            <a:avLst/>
          </a:prstGeom>
          <a:solidFill>
            <a:schemeClr val="tx2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満了時期タグの設定</a:t>
            </a:r>
          </a:p>
        </p:txBody>
      </p:sp>
      <p:sp>
        <p:nvSpPr>
          <p:cNvPr id="111" name="正方形/長方形 110">
            <a:extLst>
              <a:ext uri="{FF2B5EF4-FFF2-40B4-BE49-F238E27FC236}">
                <a16:creationId xmlns:a16="http://schemas.microsoft.com/office/drawing/2014/main" id="{C885333E-56CE-B011-72B9-07B332849355}"/>
              </a:ext>
            </a:extLst>
          </p:cNvPr>
          <p:cNvSpPr/>
          <p:nvPr/>
        </p:nvSpPr>
        <p:spPr>
          <a:xfrm>
            <a:off x="4881464" y="5264551"/>
            <a:ext cx="1124924" cy="221767"/>
          </a:xfrm>
          <a:prstGeom prst="rect">
            <a:avLst/>
          </a:prstGeom>
          <a:solidFill>
            <a:schemeClr val="tx2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就業後フォロー</a:t>
            </a:r>
          </a:p>
        </p:txBody>
      </p:sp>
      <p:cxnSp>
        <p:nvCxnSpPr>
          <p:cNvPr id="112" name="コネクタ: カギ線 111">
            <a:extLst>
              <a:ext uri="{FF2B5EF4-FFF2-40B4-BE49-F238E27FC236}">
                <a16:creationId xmlns:a16="http://schemas.microsoft.com/office/drawing/2014/main" id="{BDA83037-5C06-C2D0-EF8B-90AE0F4336B5}"/>
              </a:ext>
            </a:extLst>
          </p:cNvPr>
          <p:cNvCxnSpPr>
            <a:cxnSpLocks/>
            <a:stCxn id="93" idx="3"/>
            <a:endCxn id="101" idx="1"/>
          </p:cNvCxnSpPr>
          <p:nvPr/>
        </p:nvCxnSpPr>
        <p:spPr>
          <a:xfrm>
            <a:off x="1280160" y="4826919"/>
            <a:ext cx="2433543" cy="15286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コネクタ: カギ線 114">
            <a:extLst>
              <a:ext uri="{FF2B5EF4-FFF2-40B4-BE49-F238E27FC236}">
                <a16:creationId xmlns:a16="http://schemas.microsoft.com/office/drawing/2014/main" id="{BA23D5BC-C7EC-06D4-215C-2852A68F0F9B}"/>
              </a:ext>
            </a:extLst>
          </p:cNvPr>
          <p:cNvCxnSpPr>
            <a:cxnSpLocks/>
            <a:stCxn id="93" idx="3"/>
            <a:endCxn id="102" idx="1"/>
          </p:cNvCxnSpPr>
          <p:nvPr/>
        </p:nvCxnSpPr>
        <p:spPr>
          <a:xfrm>
            <a:off x="1280160" y="4826919"/>
            <a:ext cx="2433543" cy="280881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コネクタ: カギ線 115">
            <a:extLst>
              <a:ext uri="{FF2B5EF4-FFF2-40B4-BE49-F238E27FC236}">
                <a16:creationId xmlns:a16="http://schemas.microsoft.com/office/drawing/2014/main" id="{F8AA6994-29BC-2C26-DE5F-C0C21F502236}"/>
              </a:ext>
            </a:extLst>
          </p:cNvPr>
          <p:cNvCxnSpPr>
            <a:cxnSpLocks/>
            <a:stCxn id="93" idx="3"/>
            <a:endCxn id="104" idx="1"/>
          </p:cNvCxnSpPr>
          <p:nvPr/>
        </p:nvCxnSpPr>
        <p:spPr>
          <a:xfrm>
            <a:off x="1280160" y="4826919"/>
            <a:ext cx="2433543" cy="546476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コネクタ: カギ線 117">
            <a:extLst>
              <a:ext uri="{FF2B5EF4-FFF2-40B4-BE49-F238E27FC236}">
                <a16:creationId xmlns:a16="http://schemas.microsoft.com/office/drawing/2014/main" id="{3AE4A3D0-6C1F-7BCD-3ED2-5F066684CE21}"/>
              </a:ext>
            </a:extLst>
          </p:cNvPr>
          <p:cNvCxnSpPr>
            <a:cxnSpLocks/>
            <a:stCxn id="93" idx="3"/>
            <a:endCxn id="105" idx="1"/>
          </p:cNvCxnSpPr>
          <p:nvPr/>
        </p:nvCxnSpPr>
        <p:spPr>
          <a:xfrm>
            <a:off x="1280160" y="4826919"/>
            <a:ext cx="2440557" cy="812071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正方形/長方形 118">
            <a:extLst>
              <a:ext uri="{FF2B5EF4-FFF2-40B4-BE49-F238E27FC236}">
                <a16:creationId xmlns:a16="http://schemas.microsoft.com/office/drawing/2014/main" id="{F922E2DE-5C74-6CAA-736C-BAC94D2952DF}"/>
              </a:ext>
            </a:extLst>
          </p:cNvPr>
          <p:cNvSpPr/>
          <p:nvPr/>
        </p:nvSpPr>
        <p:spPr>
          <a:xfrm>
            <a:off x="3713703" y="5792944"/>
            <a:ext cx="2292685" cy="22176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不採用・辞退後の次の求人</a:t>
            </a:r>
          </a:p>
        </p:txBody>
      </p:sp>
      <p:sp>
        <p:nvSpPr>
          <p:cNvPr id="121" name="正方形/長方形 120">
            <a:extLst>
              <a:ext uri="{FF2B5EF4-FFF2-40B4-BE49-F238E27FC236}">
                <a16:creationId xmlns:a16="http://schemas.microsoft.com/office/drawing/2014/main" id="{03175683-57AB-6FFA-0F27-7E81645CA47B}"/>
              </a:ext>
            </a:extLst>
          </p:cNvPr>
          <p:cNvSpPr/>
          <p:nvPr/>
        </p:nvSpPr>
        <p:spPr>
          <a:xfrm>
            <a:off x="3720717" y="6061629"/>
            <a:ext cx="2292685" cy="22176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自動応答（FAQ）</a:t>
            </a:r>
          </a:p>
        </p:txBody>
      </p:sp>
      <p:cxnSp>
        <p:nvCxnSpPr>
          <p:cNvPr id="122" name="コネクタ: カギ線 121">
            <a:extLst>
              <a:ext uri="{FF2B5EF4-FFF2-40B4-BE49-F238E27FC236}">
                <a16:creationId xmlns:a16="http://schemas.microsoft.com/office/drawing/2014/main" id="{30FE3CED-649C-7946-1117-B1E2FD2D7F26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605206" y="3681433"/>
            <a:ext cx="3347219" cy="1294966"/>
          </a:xfrm>
          <a:prstGeom prst="bentConnector3">
            <a:avLst>
              <a:gd name="adj1" fmla="val 46358"/>
            </a:avLst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正方形/長方形 123">
            <a:extLst>
              <a:ext uri="{FF2B5EF4-FFF2-40B4-BE49-F238E27FC236}">
                <a16:creationId xmlns:a16="http://schemas.microsoft.com/office/drawing/2014/main" id="{5EB01514-8877-C931-E7AA-81B28EB77681}"/>
              </a:ext>
            </a:extLst>
          </p:cNvPr>
          <p:cNvSpPr/>
          <p:nvPr/>
        </p:nvSpPr>
        <p:spPr>
          <a:xfrm>
            <a:off x="6986937" y="1517116"/>
            <a:ext cx="2583782" cy="252610"/>
          </a:xfrm>
          <a:prstGeom prst="rect">
            <a:avLst/>
          </a:prstGeom>
          <a:solidFill>
            <a:srgbClr val="1E2761">
              <a:alpha val="8000"/>
            </a:srgb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100" b="1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ツールの導入で自動化できる領域</a:t>
            </a:r>
            <a:endParaRPr kumimoji="1" lang="ja-JP" altLang="en-US" sz="1100" b="1" dirty="0">
              <a:solidFill>
                <a:srgbClr val="1E276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342701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3900D-063E-F973-5EF2-005AE1CA2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52;p28">
            <a:extLst>
              <a:ext uri="{FF2B5EF4-FFF2-40B4-BE49-F238E27FC236}">
                <a16:creationId xmlns:a16="http://schemas.microsoft.com/office/drawing/2014/main" id="{6758DBC2-018A-378B-99F0-43DAFE20DF5C}"/>
              </a:ext>
            </a:extLst>
          </p:cNvPr>
          <p:cNvSpPr txBox="1"/>
          <p:nvPr/>
        </p:nvSpPr>
        <p:spPr>
          <a:xfrm>
            <a:off x="547200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［第2章］全体設計｜施策の考え方（どこでLINEにつなぐか）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294458F3-B182-EFAE-9BE8-8E76712736E7}"/>
              </a:ext>
            </a:extLst>
          </p:cNvPr>
          <p:cNvSpPr/>
          <p:nvPr/>
        </p:nvSpPr>
        <p:spPr>
          <a:xfrm>
            <a:off x="175475" y="1823735"/>
            <a:ext cx="4721072" cy="4695338"/>
          </a:xfrm>
          <a:prstGeom prst="rect">
            <a:avLst/>
          </a:prstGeom>
          <a:solidFill>
            <a:schemeClr val="bg1">
              <a:lumMod val="95000"/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EDB57FCC-E034-81EB-B2ED-2EB62032A504}"/>
              </a:ext>
            </a:extLst>
          </p:cNvPr>
          <p:cNvSpPr/>
          <p:nvPr/>
        </p:nvSpPr>
        <p:spPr>
          <a:xfrm>
            <a:off x="4994298" y="1823734"/>
            <a:ext cx="4721072" cy="4695338"/>
          </a:xfrm>
          <a:prstGeom prst="rect">
            <a:avLst/>
          </a:prstGeom>
          <a:solidFill>
            <a:schemeClr val="bg1">
              <a:lumMod val="95000"/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3C363108-225C-23EE-472E-1E1A14DA49E4}"/>
              </a:ext>
            </a:extLst>
          </p:cNvPr>
          <p:cNvSpPr/>
          <p:nvPr/>
        </p:nvSpPr>
        <p:spPr>
          <a:xfrm>
            <a:off x="0" y="777240"/>
            <a:ext cx="1802674" cy="5029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LINEOA</a:t>
            </a:r>
            <a:r>
              <a:rPr kumimoji="1"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施策</a:t>
            </a:r>
          </a:p>
        </p:txBody>
      </p:sp>
      <p:sp>
        <p:nvSpPr>
          <p:cNvPr id="10" name="Google Shape;752;p28">
            <a:extLst>
              <a:ext uri="{FF2B5EF4-FFF2-40B4-BE49-F238E27FC236}">
                <a16:creationId xmlns:a16="http://schemas.microsoft.com/office/drawing/2014/main" id="{9A39965E-24C8-AD90-0D9E-A9BC47D02016}"/>
              </a:ext>
            </a:extLst>
          </p:cNvPr>
          <p:cNvSpPr txBox="1"/>
          <p:nvPr/>
        </p:nvSpPr>
        <p:spPr>
          <a:xfrm>
            <a:off x="1988819" y="736332"/>
            <a:ext cx="7774305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r>
              <a:rPr lang="en-US" altLang="ja-JP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応募した方だけをLINEにつなぐか、応募前に離れた方もつなぐか。</a:t>
            </a:r>
          </a:p>
          <a:p>
            <a:r>
              <a:rPr lang="ja-JP" altLang="en-US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同じ流入でも、その後にご案内できる人数が大きく変わる。</a:t>
            </a:r>
            <a:endParaRPr lang="en-US" altLang="ja-JP" sz="16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1CD1533E-1582-9E17-EE6F-EA2F4BE96D58}"/>
              </a:ext>
            </a:extLst>
          </p:cNvPr>
          <p:cNvSpPr txBox="1"/>
          <p:nvPr/>
        </p:nvSpPr>
        <p:spPr>
          <a:xfrm>
            <a:off x="422130" y="1861195"/>
            <a:ext cx="2352196" cy="307777"/>
          </a:xfrm>
          <a:prstGeom prst="rect">
            <a:avLst/>
          </a:prstGeom>
          <a:solidFill>
            <a:srgbClr val="7F7F7F">
              <a:lumMod val="40000"/>
              <a:lumOff val="60000"/>
              <a:alpha val="30000"/>
            </a:srgb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ja-JP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① 仕事を探し始める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2C43BB1A-3D6A-04B9-F8ED-26CB7DCA3735}"/>
              </a:ext>
            </a:extLst>
          </p:cNvPr>
          <p:cNvSpPr txBox="1"/>
          <p:nvPr/>
        </p:nvSpPr>
        <p:spPr>
          <a:xfrm>
            <a:off x="422130" y="2931847"/>
            <a:ext cx="2352196" cy="307777"/>
          </a:xfrm>
          <a:prstGeom prst="rect">
            <a:avLst/>
          </a:prstGeom>
          <a:solidFill>
            <a:srgbClr val="7F7F7F">
              <a:lumMod val="40000"/>
              <a:lumOff val="60000"/>
              <a:alpha val="30000"/>
            </a:srgb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ja-JP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③ 応募先を選ぶ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BCB10DC8-82CD-0C69-034B-7642E1296837}"/>
              </a:ext>
            </a:extLst>
          </p:cNvPr>
          <p:cNvSpPr txBox="1"/>
          <p:nvPr/>
        </p:nvSpPr>
        <p:spPr>
          <a:xfrm>
            <a:off x="422130" y="2396521"/>
            <a:ext cx="2352196" cy="307777"/>
          </a:xfrm>
          <a:prstGeom prst="rect">
            <a:avLst/>
          </a:prstGeom>
          <a:solidFill>
            <a:srgbClr val="7F7F7F">
              <a:lumMod val="40000"/>
              <a:lumOff val="60000"/>
              <a:alpha val="30000"/>
            </a:srgb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ja-JP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② 求人を比べる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015AFA19-CD5F-9379-AE26-44B78C354860}"/>
              </a:ext>
            </a:extLst>
          </p:cNvPr>
          <p:cNvSpPr txBox="1"/>
          <p:nvPr/>
        </p:nvSpPr>
        <p:spPr>
          <a:xfrm>
            <a:off x="422130" y="3467172"/>
            <a:ext cx="2352196" cy="307777"/>
          </a:xfrm>
          <a:prstGeom prst="rect">
            <a:avLst/>
          </a:prstGeom>
          <a:solidFill>
            <a:srgbClr val="7F7F7F">
              <a:lumMod val="40000"/>
              <a:lumOff val="60000"/>
              <a:alpha val="30000"/>
            </a:srgb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④ 応募後のみ追加</a:t>
            </a:r>
            <a:endParaRPr lang="ja-JP" altLang="ja-JP" sz="1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22062743-7DD1-C474-56DE-C86161967F49}"/>
              </a:ext>
            </a:extLst>
          </p:cNvPr>
          <p:cNvSpPr txBox="1"/>
          <p:nvPr/>
        </p:nvSpPr>
        <p:spPr>
          <a:xfrm>
            <a:off x="422130" y="4407024"/>
            <a:ext cx="2352196" cy="307777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⑤ 面接・職場見学</a:t>
            </a:r>
            <a:endParaRPr lang="ja-JP" altLang="ja-JP" sz="1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B3F98235-7ECD-D5F4-08BE-76857355ABFA}"/>
              </a:ext>
            </a:extLst>
          </p:cNvPr>
          <p:cNvSpPr txBox="1"/>
          <p:nvPr/>
        </p:nvSpPr>
        <p:spPr>
          <a:xfrm>
            <a:off x="422130" y="5477676"/>
            <a:ext cx="2352196" cy="307777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⑦ 就業中</a:t>
            </a:r>
            <a:endParaRPr lang="ja-JP" altLang="ja-JP" sz="1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999F747F-6C0D-0BDB-B5B7-8266514B8949}"/>
              </a:ext>
            </a:extLst>
          </p:cNvPr>
          <p:cNvSpPr txBox="1"/>
          <p:nvPr/>
        </p:nvSpPr>
        <p:spPr>
          <a:xfrm>
            <a:off x="422130" y="4942350"/>
            <a:ext cx="2352196" cy="307777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⑥ 採用・就業開始</a:t>
            </a:r>
            <a:endParaRPr lang="ja-JP" altLang="ja-JP" sz="1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A2277771-01BE-2A4E-C621-929D69C54177}"/>
              </a:ext>
            </a:extLst>
          </p:cNvPr>
          <p:cNvSpPr txBox="1"/>
          <p:nvPr/>
        </p:nvSpPr>
        <p:spPr>
          <a:xfrm>
            <a:off x="422130" y="6013004"/>
            <a:ext cx="2352196" cy="307777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⑧ 契約満了・次の仕事</a:t>
            </a:r>
            <a:endParaRPr lang="ja-JP" altLang="ja-JP" sz="1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21" name="直線矢印コネクタ 20">
            <a:extLst>
              <a:ext uri="{FF2B5EF4-FFF2-40B4-BE49-F238E27FC236}">
                <a16:creationId xmlns:a16="http://schemas.microsoft.com/office/drawing/2014/main" id="{9CD79024-49B9-DF89-8EE9-633017761437}"/>
              </a:ext>
            </a:extLst>
          </p:cNvPr>
          <p:cNvCxnSpPr>
            <a:cxnSpLocks/>
          </p:cNvCxnSpPr>
          <p:nvPr/>
        </p:nvCxnSpPr>
        <p:spPr>
          <a:xfrm>
            <a:off x="725974" y="3934112"/>
            <a:ext cx="0" cy="474234"/>
          </a:xfrm>
          <a:prstGeom prst="straightConnector1">
            <a:avLst/>
          </a:prstGeom>
          <a:ln w="127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3707324A-CA31-10C7-B6B8-E3A9A53CC3A2}"/>
              </a:ext>
            </a:extLst>
          </p:cNvPr>
          <p:cNvSpPr txBox="1"/>
          <p:nvPr/>
        </p:nvSpPr>
        <p:spPr>
          <a:xfrm>
            <a:off x="5143202" y="1861195"/>
            <a:ext cx="2352196" cy="307777"/>
          </a:xfrm>
          <a:prstGeom prst="rect">
            <a:avLst/>
          </a:prstGeom>
          <a:solidFill>
            <a:srgbClr val="7F7F7F">
              <a:lumMod val="40000"/>
              <a:lumOff val="60000"/>
              <a:alpha val="30000"/>
            </a:srgb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ja-JP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① 仕事を探し始める</a:t>
            </a: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2ADFDD2E-A723-2916-4648-0F5E903278F3}"/>
              </a:ext>
            </a:extLst>
          </p:cNvPr>
          <p:cNvSpPr txBox="1"/>
          <p:nvPr/>
        </p:nvSpPr>
        <p:spPr>
          <a:xfrm>
            <a:off x="5143202" y="2931847"/>
            <a:ext cx="2352196" cy="307777"/>
          </a:xfrm>
          <a:prstGeom prst="rect">
            <a:avLst/>
          </a:prstGeom>
          <a:solidFill>
            <a:srgbClr val="7F7F7F">
              <a:lumMod val="40000"/>
              <a:lumOff val="60000"/>
              <a:alpha val="30000"/>
            </a:srgb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ja-JP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③ 応募先を選ぶ</a:t>
            </a: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B895B974-A656-2669-0CE1-C27F2B4B20BE}"/>
              </a:ext>
            </a:extLst>
          </p:cNvPr>
          <p:cNvSpPr txBox="1"/>
          <p:nvPr/>
        </p:nvSpPr>
        <p:spPr>
          <a:xfrm>
            <a:off x="5143202" y="2396521"/>
            <a:ext cx="2352196" cy="307777"/>
          </a:xfrm>
          <a:prstGeom prst="rect">
            <a:avLst/>
          </a:prstGeom>
          <a:solidFill>
            <a:srgbClr val="7F7F7F">
              <a:lumMod val="40000"/>
              <a:lumOff val="60000"/>
              <a:alpha val="30000"/>
            </a:srgb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ja-JP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② 求人を比べる</a:t>
            </a: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A07117C9-502D-4C6F-AA2E-1C1E7CF7B4C6}"/>
              </a:ext>
            </a:extLst>
          </p:cNvPr>
          <p:cNvSpPr txBox="1"/>
          <p:nvPr/>
        </p:nvSpPr>
        <p:spPr>
          <a:xfrm>
            <a:off x="5143202" y="3467173"/>
            <a:ext cx="2352196" cy="307777"/>
          </a:xfrm>
          <a:prstGeom prst="rect">
            <a:avLst/>
          </a:prstGeom>
          <a:solidFill>
            <a:srgbClr val="7F7F7F">
              <a:lumMod val="40000"/>
              <a:lumOff val="60000"/>
              <a:alpha val="30000"/>
            </a:srgb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④ 離脱時も追加</a:t>
            </a:r>
            <a:endParaRPr lang="ja-JP" altLang="ja-JP" sz="1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56761199-CD70-153F-E94B-20E5E833D7A7}"/>
              </a:ext>
            </a:extLst>
          </p:cNvPr>
          <p:cNvSpPr txBox="1"/>
          <p:nvPr/>
        </p:nvSpPr>
        <p:spPr>
          <a:xfrm>
            <a:off x="5143202" y="4407024"/>
            <a:ext cx="2352196" cy="307777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⑤ 面接・職場見学</a:t>
            </a:r>
            <a:endParaRPr lang="ja-JP" altLang="ja-JP" sz="1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72CCB353-50A1-FF17-E933-B1158BEE91E4}"/>
              </a:ext>
            </a:extLst>
          </p:cNvPr>
          <p:cNvSpPr txBox="1"/>
          <p:nvPr/>
        </p:nvSpPr>
        <p:spPr>
          <a:xfrm>
            <a:off x="5143202" y="5477676"/>
            <a:ext cx="2352196" cy="307777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⑦ 就業中</a:t>
            </a:r>
            <a:endParaRPr lang="ja-JP" altLang="ja-JP" sz="1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44A347FC-9BE7-316C-5F13-B7762E412092}"/>
              </a:ext>
            </a:extLst>
          </p:cNvPr>
          <p:cNvSpPr txBox="1"/>
          <p:nvPr/>
        </p:nvSpPr>
        <p:spPr>
          <a:xfrm>
            <a:off x="5143202" y="4942350"/>
            <a:ext cx="2352196" cy="307777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⑥ 採用・就業開始</a:t>
            </a:r>
            <a:endParaRPr lang="ja-JP" altLang="ja-JP" sz="1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31750602-2370-CB79-F23B-20E4B2FC9A45}"/>
              </a:ext>
            </a:extLst>
          </p:cNvPr>
          <p:cNvSpPr txBox="1"/>
          <p:nvPr/>
        </p:nvSpPr>
        <p:spPr>
          <a:xfrm>
            <a:off x="5143202" y="6013004"/>
            <a:ext cx="2352196" cy="307777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⑧ 契約満了・次の仕事</a:t>
            </a:r>
            <a:endParaRPr lang="ja-JP" altLang="ja-JP" sz="1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46" name="直線矢印コネクタ 45">
            <a:extLst>
              <a:ext uri="{FF2B5EF4-FFF2-40B4-BE49-F238E27FC236}">
                <a16:creationId xmlns:a16="http://schemas.microsoft.com/office/drawing/2014/main" id="{7398214A-9BC3-94A2-1B44-ABFB6EF10A95}"/>
              </a:ext>
            </a:extLst>
          </p:cNvPr>
          <p:cNvCxnSpPr>
            <a:cxnSpLocks/>
          </p:cNvCxnSpPr>
          <p:nvPr/>
        </p:nvCxnSpPr>
        <p:spPr>
          <a:xfrm>
            <a:off x="5447046" y="3934112"/>
            <a:ext cx="0" cy="474234"/>
          </a:xfrm>
          <a:prstGeom prst="straightConnector1">
            <a:avLst/>
          </a:prstGeom>
          <a:ln w="127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0" name="図 49">
            <a:extLst>
              <a:ext uri="{FF2B5EF4-FFF2-40B4-BE49-F238E27FC236}">
                <a16:creationId xmlns:a16="http://schemas.microsoft.com/office/drawing/2014/main" id="{BC82B682-A1BD-AF78-6196-B1E02CC1F3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7117" y="3452400"/>
            <a:ext cx="481489" cy="448956"/>
          </a:xfrm>
          <a:prstGeom prst="rect">
            <a:avLst/>
          </a:prstGeom>
        </p:spPr>
      </p:pic>
      <p:pic>
        <p:nvPicPr>
          <p:cNvPr id="54" name="図 53">
            <a:extLst>
              <a:ext uri="{FF2B5EF4-FFF2-40B4-BE49-F238E27FC236}">
                <a16:creationId xmlns:a16="http://schemas.microsoft.com/office/drawing/2014/main" id="{13BFB52F-AE2C-2214-E223-63E053D9FE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4089" y="3453958"/>
            <a:ext cx="481489" cy="448956"/>
          </a:xfrm>
          <a:prstGeom prst="rect">
            <a:avLst/>
          </a:prstGeom>
        </p:spPr>
      </p:pic>
      <p:sp>
        <p:nvSpPr>
          <p:cNvPr id="62" name="正方形/長方形 61">
            <a:extLst>
              <a:ext uri="{FF2B5EF4-FFF2-40B4-BE49-F238E27FC236}">
                <a16:creationId xmlns:a16="http://schemas.microsoft.com/office/drawing/2014/main" id="{EDC00F02-3FEF-F2A7-D36C-00239CB92DE5}"/>
              </a:ext>
            </a:extLst>
          </p:cNvPr>
          <p:cNvSpPr/>
          <p:nvPr/>
        </p:nvSpPr>
        <p:spPr>
          <a:xfrm>
            <a:off x="175475" y="1503248"/>
            <a:ext cx="4721072" cy="297266"/>
          </a:xfrm>
          <a:prstGeom prst="rect">
            <a:avLst/>
          </a:prstGeom>
          <a:solidFill>
            <a:schemeClr val="tx1">
              <a:lumMod val="50000"/>
              <a:lumOff val="50000"/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パターン① 応募した方だけLINEへ</a:t>
            </a:r>
          </a:p>
        </p:txBody>
      </p:sp>
      <p:sp>
        <p:nvSpPr>
          <p:cNvPr id="66" name="正方形/長方形 65">
            <a:extLst>
              <a:ext uri="{FF2B5EF4-FFF2-40B4-BE49-F238E27FC236}">
                <a16:creationId xmlns:a16="http://schemas.microsoft.com/office/drawing/2014/main" id="{3B6038D6-0E00-CDB9-8318-C7D05A37E8F2}"/>
              </a:ext>
            </a:extLst>
          </p:cNvPr>
          <p:cNvSpPr/>
          <p:nvPr/>
        </p:nvSpPr>
        <p:spPr>
          <a:xfrm>
            <a:off x="4994298" y="1503247"/>
            <a:ext cx="4721072" cy="297266"/>
          </a:xfrm>
          <a:prstGeom prst="rect">
            <a:avLst/>
          </a:prstGeom>
          <a:solidFill>
            <a:schemeClr val="tx1">
              <a:lumMod val="50000"/>
              <a:lumOff val="50000"/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パターン② 応募前に離れた方もつなぐ</a:t>
            </a:r>
          </a:p>
        </p:txBody>
      </p:sp>
      <p:pic>
        <p:nvPicPr>
          <p:cNvPr id="70" name="図 69">
            <a:extLst>
              <a:ext uri="{FF2B5EF4-FFF2-40B4-BE49-F238E27FC236}">
                <a16:creationId xmlns:a16="http://schemas.microsoft.com/office/drawing/2014/main" id="{B5C916EA-56BA-12E3-B0EE-D83A8EC905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3045" y="3298969"/>
            <a:ext cx="1792611" cy="2688917"/>
          </a:xfrm>
          <a:prstGeom prst="rect">
            <a:avLst/>
          </a:prstGeom>
        </p:spPr>
      </p:pic>
      <p:pic>
        <p:nvPicPr>
          <p:cNvPr id="826" name="図 825">
            <a:extLst>
              <a:ext uri="{FF2B5EF4-FFF2-40B4-BE49-F238E27FC236}">
                <a16:creationId xmlns:a16="http://schemas.microsoft.com/office/drawing/2014/main" id="{2D4E7AC1-305D-07DC-9608-BFD7502EFD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6321" y="3297600"/>
            <a:ext cx="1586218" cy="2379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93589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［第2章］ニーズ調査｜シーズナリティ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検索のピークは、派遣が3月、バイトがその1か月後の4月。</a:t>
            </a:r>
          </a:p>
          <a:p>
            <a:pPr algn="l">
              <a:lnSpc>
                <a:spcPct val="120000"/>
              </a:lnSpc>
            </a:pPr>
            <a:r>
              <a:rPr sz="14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どちらも12月が最も少ないため、12月に準備を進め、派遣とバイトで配信の時期を1か月ずらす。</a:t>
            </a:r>
          </a:p>
        </p:txBody>
      </p:sp>
      <p:pic>
        <p:nvPicPr>
          <p:cNvPr id="4" name="Picture 3" descr="人材_シーズナリティ_転職と退職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00" y="1512000"/>
            <a:ext cx="8748000" cy="2624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32000" y="4284000"/>
            <a:ext cx="9043200" cy="1075600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● 派遣のピークは3月（指数110.8）、バイトは4月（117.5）。年度替わりに集中する</a:t>
            </a:r>
          </a:p>
          <a:p>
            <a:pPr algn="l">
              <a:lnSpc>
                <a:spcPct val="170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● どちらも12月が最も少ない（派遣88.4／バイト88.0）。友だちを増やしておく時期と考える</a:t>
            </a:r>
          </a:p>
          <a:p>
            <a:pPr algn="l">
              <a:lnSpc>
                <a:spcPct val="170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● バイトは8月にも少なくなる（89.1）。夏は短期・単発の求人を案内しやすい時期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5598000"/>
            <a:ext cx="9043200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2000" y="5598000"/>
            <a:ext cx="9043200" cy="378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検索が少ない時期に友だちを増やし、ピークの応募につなげる</a:t>
            </a:r>
            <a:endParaRPr sz="15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出典｜Googleトレンド「派遣」「バイト」（日本・過去5年・月次／年平均＝100で指数化、12か月そろう4年分の平均）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［第2章］ニーズ調査｜前後検索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6384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「派遣 求人」を検索した方が、その前後15日間に何を調べているか。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検索した当日に派遣会社名が多く並び、同じ日に複数の会社を比べていることが分かる。</a:t>
            </a:r>
          </a:p>
        </p:txBody>
      </p:sp>
      <p:pic>
        <p:nvPicPr>
          <p:cNvPr id="4" name="Picture 3" descr="人材A_前後検索_色分け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1512000"/>
            <a:ext cx="6294857" cy="367199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906857" y="1602000"/>
            <a:ext cx="198000" cy="198000"/>
          </a:xfrm>
          <a:prstGeom prst="rect">
            <a:avLst/>
          </a:prstGeom>
          <a:solidFill>
            <a:srgbClr val="8E4E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76857" y="1587547"/>
            <a:ext cx="2298342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8E4EC6"/>
                </a:solidFill>
                <a:latin typeface="メイリオ"/>
                <a:ea typeface="メイリオ"/>
                <a:cs typeface="メイリオ"/>
              </a:rPr>
              <a:t>仕事を探し始める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6906857" y="1944000"/>
            <a:ext cx="198000" cy="198000"/>
          </a:xfrm>
          <a:prstGeom prst="rect">
            <a:avLst/>
          </a:prstGeom>
          <a:solidFill>
            <a:srgbClr val="346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76857" y="1929547"/>
            <a:ext cx="2298342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467B2"/>
                </a:solidFill>
                <a:latin typeface="メイリオ"/>
                <a:ea typeface="メイリオ"/>
                <a:cs typeface="メイリオ"/>
              </a:rPr>
              <a:t>派遣会社を並べて比較</a:t>
            </a:r>
          </a:p>
        </p:txBody>
      </p:sp>
      <p:sp>
        <p:nvSpPr>
          <p:cNvPr id="9" name="Rectangle 8"/>
          <p:cNvSpPr/>
          <p:nvPr/>
        </p:nvSpPr>
        <p:spPr>
          <a:xfrm>
            <a:off x="6906857" y="2286000"/>
            <a:ext cx="198000" cy="198000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76857" y="2271547"/>
            <a:ext cx="2298342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00897B"/>
                </a:solidFill>
                <a:latin typeface="メイリオ"/>
                <a:ea typeface="メイリオ"/>
                <a:cs typeface="メイリオ"/>
              </a:rPr>
              <a:t>条件を詰める（単発・短期）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06857" y="2628000"/>
            <a:ext cx="198000" cy="1980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76857" y="2613547"/>
            <a:ext cx="2298342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C00000"/>
                </a:solidFill>
                <a:latin typeface="メイリオ"/>
                <a:ea typeface="メイリオ"/>
                <a:cs typeface="メイリオ"/>
              </a:rPr>
              <a:t>続けられるか・辞めどき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6857" y="3131999"/>
            <a:ext cx="2568342" cy="2198215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40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当日「派遣</a:t>
            </a:r>
            <a:r>
              <a:rPr sz="140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3年ルール」</a:t>
            </a:r>
          </a:p>
          <a:p>
            <a:pPr>
              <a:lnSpc>
                <a:spcPct val="160000"/>
              </a:lnSpc>
            </a:pPr>
            <a:r>
              <a:rPr sz="140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</a:t>
            </a:r>
            <a:r>
              <a:rPr lang="ja-JP" altLang="en-US" sz="140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探し始めの段階で、すでに将来の働き方も視野に入れている</a:t>
            </a:r>
            <a:endParaRPr lang="en-US" altLang="ja-JP" sz="1400" b="1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>
              <a:lnSpc>
                <a:spcPct val="160000"/>
              </a:lnSpc>
            </a:pPr>
            <a:endParaRPr lang="en-US" altLang="ja-JP" sz="500" b="1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>
              <a:lnSpc>
                <a:spcPct val="160000"/>
              </a:lnSpc>
            </a:pPr>
            <a:r>
              <a:rPr lang="en-US" altLang="ja-JP" sz="140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5</a:t>
            </a:r>
            <a:r>
              <a:rPr lang="ja-JP" altLang="en-US" sz="140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日後「派遣 更新しない」</a:t>
            </a:r>
          </a:p>
          <a:p>
            <a:pPr algn="l">
              <a:lnSpc>
                <a:spcPct val="160000"/>
              </a:lnSpc>
            </a:pPr>
            <a:r>
              <a:rPr sz="140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 </a:t>
            </a:r>
            <a:r>
              <a:rPr sz="140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次の仕事を考え始めている可能性がある</a:t>
            </a:r>
            <a:endParaRPr sz="1400" b="1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32000" y="5598000"/>
            <a:ext cx="9043200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2000" y="5638152"/>
            <a:ext cx="90432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仕事を探し始めた時点で、すでに次の働き方を気にしている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2000" y="6256074"/>
            <a:ext cx="9043200" cy="30385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dirty="0" err="1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出典｜LINEヤフ</a:t>
            </a:r>
            <a:r>
              <a:rPr sz="800" b="0" dirty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ー </a:t>
            </a:r>
            <a:r>
              <a:rPr sz="800" b="0" dirty="0" err="1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媒体データ（検索の前後行動</a:t>
            </a:r>
            <a:r>
              <a:rPr sz="800" b="0" dirty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）。</a:t>
            </a:r>
            <a:r>
              <a:rPr sz="800" b="0" dirty="0" err="1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起点KW「派遣</a:t>
            </a:r>
            <a:r>
              <a:rPr sz="800" b="0" dirty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 </a:t>
            </a:r>
            <a:r>
              <a:rPr sz="800" b="0" dirty="0" err="1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求人</a:t>
            </a:r>
            <a:r>
              <a:rPr sz="800" b="0" dirty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」・直近1年間（2025年3月17日〜2026年3月22日）。</a:t>
            </a:r>
            <a:endParaRPr lang="en-US" sz="800" b="0" dirty="0">
              <a:solidFill>
                <a:srgbClr val="888888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0000"/>
              </a:lnSpc>
            </a:pPr>
            <a:r>
              <a:rPr sz="800" b="0" dirty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※</a:t>
            </a:r>
            <a:r>
              <a:rPr sz="800" b="0" dirty="0" err="1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検索行動のデータであり、応募者ご本人の行動と同じとは限らない</a:t>
            </a:r>
            <a:endParaRPr sz="800" b="0" dirty="0">
              <a:solidFill>
                <a:srgbClr val="888888"/>
              </a:solidFill>
              <a:latin typeface="メイリオ"/>
              <a:ea typeface="メイリオ"/>
              <a:cs typeface="メイリオ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［第2章］求職者の心理｜不安は、応募のあとにも続く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557117"/>
            <a:ext cx="9331200" cy="77936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dirty="0" err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前後検索を見ると</a:t>
            </a:r>
            <a:r>
              <a:rPr sz="14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、「</a:t>
            </a:r>
            <a:r>
              <a:rPr sz="1400" b="1" dirty="0" err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派遣</a:t>
            </a:r>
            <a:r>
              <a:rPr sz="14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 </a:t>
            </a:r>
            <a:r>
              <a:rPr sz="1400" b="1" dirty="0" err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求人</a:t>
            </a:r>
            <a:r>
              <a:rPr sz="14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」「</a:t>
            </a:r>
            <a:r>
              <a:rPr sz="1400" b="1" dirty="0" err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単発バイト」を検索した方は、検索の前は仕事を探し</a:t>
            </a:r>
            <a:r>
              <a:rPr sz="14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、</a:t>
            </a:r>
            <a:endParaRPr lang="en-US" sz="1400" b="1" dirty="0">
              <a:solidFill>
                <a:srgbClr val="1E2761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0000"/>
              </a:lnSpc>
            </a:pPr>
            <a:r>
              <a:rPr sz="1400" b="1" dirty="0" err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検索の後は「続けられるか</a:t>
            </a:r>
            <a:r>
              <a:rPr sz="14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」「</a:t>
            </a:r>
            <a:r>
              <a:rPr sz="1400" b="1" dirty="0" err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副業として問題ないか」を調べている</a:t>
            </a:r>
            <a:r>
              <a:rPr sz="14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。</a:t>
            </a:r>
          </a:p>
          <a:p>
            <a:pPr algn="l">
              <a:lnSpc>
                <a:spcPct val="120000"/>
              </a:lnSpc>
            </a:pPr>
            <a:r>
              <a:rPr sz="1400" b="1" dirty="0" err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応募のあとも同じ不安があると考え</a:t>
            </a:r>
            <a:r>
              <a:rPr sz="14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、</a:t>
            </a:r>
            <a:r>
              <a:rPr lang="ja-JP" altLang="en-US" sz="14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それに適した</a:t>
            </a:r>
            <a:r>
              <a:rPr sz="1400" b="1" dirty="0" err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配信を設計する</a:t>
            </a:r>
            <a:r>
              <a:rPr sz="14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1548000"/>
            <a:ext cx="9043200" cy="106200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" name="Rectangle 4"/>
          <p:cNvSpPr/>
          <p:nvPr/>
        </p:nvSpPr>
        <p:spPr>
          <a:xfrm>
            <a:off x="432000" y="1548000"/>
            <a:ext cx="1872000" cy="1062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" name="TextBox 5"/>
          <p:cNvSpPr txBox="1"/>
          <p:nvPr/>
        </p:nvSpPr>
        <p:spPr>
          <a:xfrm>
            <a:off x="432000" y="1947849"/>
            <a:ext cx="1872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-7 〜 -1日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30000" y="1620000"/>
            <a:ext cx="6948000" cy="306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スキマ時間で、すぐ稼ぎたい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30000" y="1961999"/>
            <a:ext cx="6948000" cy="529297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副業 在宅 スキマ時間／在宅ワーク 求人／バイト 求人（単発バイト）</a:t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失業保険 計算／ハローワーク 求人（派遣 求人）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00" y="2754000"/>
            <a:ext cx="9043200" cy="106200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" name="Rectangle 9"/>
          <p:cNvSpPr/>
          <p:nvPr/>
        </p:nvSpPr>
        <p:spPr>
          <a:xfrm>
            <a:off x="432000" y="2754000"/>
            <a:ext cx="1872000" cy="1062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" name="TextBox 10"/>
          <p:cNvSpPr txBox="1"/>
          <p:nvPr/>
        </p:nvSpPr>
        <p:spPr>
          <a:xfrm>
            <a:off x="432000" y="3024583"/>
            <a:ext cx="18720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0 〜 +2日</a:t>
            </a:r>
            <a:endParaRPr lang="en-US" sz="14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lnSpc>
                <a:spcPct val="120000"/>
              </a:lnSpc>
            </a:pPr>
            <a:r>
              <a:rPr lang="en-US" altLang="ja-JP" sz="14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</a:t>
            </a:r>
            <a:r>
              <a:rPr lang="ja-JP" altLang="en-US" sz="14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登録時点</a:t>
            </a:r>
            <a:endParaRPr sz="14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30000" y="2826000"/>
            <a:ext cx="6948000" cy="306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同じ日に、複数の会社を比べている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30000" y="3168000"/>
            <a:ext cx="6948000" cy="529297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派遣会社／エン派遣／アデコ／パソナ（派遣 求人）</a:t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タイミー／バイトル／短期バイト／単発バイト アプリ（単発バイト）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000" y="3960000"/>
            <a:ext cx="9043200" cy="106200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5" name="Rectangle 14"/>
          <p:cNvSpPr/>
          <p:nvPr/>
        </p:nvSpPr>
        <p:spPr>
          <a:xfrm>
            <a:off x="432000" y="3960000"/>
            <a:ext cx="1872000" cy="1062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6" name="TextBox 15"/>
          <p:cNvSpPr txBox="1"/>
          <p:nvPr/>
        </p:nvSpPr>
        <p:spPr>
          <a:xfrm>
            <a:off x="432000" y="4359849"/>
            <a:ext cx="1872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+1 〜 +15日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30000" y="4031999"/>
            <a:ext cx="6948000" cy="306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続けられるか・副業として問題ないか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30000" y="4374000"/>
            <a:ext cx="6948000" cy="529297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派遣 更新しない／派遣 職場見学（派遣 求人）</a:t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副業 確定申告 20万円以下／ダブルワーク 扶養内 いくらまで（単発バイト）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2000" y="5220000"/>
            <a:ext cx="9043200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2000" y="5242455"/>
            <a:ext cx="9043200" cy="333089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応募のあとも、役に立つ情報をLINEで届け続ける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出典｜LINEヤフー 媒体データ（検索の前後行動）。起点KW「派遣 求人」「単発バイト」・直近1年間（2025年3月17日〜2026年3月22日）。※検索行動のデータであり、応募後の行動そのものではない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［第2章］他社分析｜主要エージェントのLINE運用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6384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dirty="0" err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大手各社は、すでにLINE公式アカウントを運用している</a:t>
            </a:r>
            <a:r>
              <a:rPr sz="14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。</a:t>
            </a:r>
          </a:p>
          <a:p>
            <a:pPr algn="l">
              <a:lnSpc>
                <a:spcPct val="120000"/>
              </a:lnSpc>
            </a:pPr>
            <a:r>
              <a:rPr sz="1400" b="1" dirty="0" err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差が出るのは友だち数ではなく、友だち追加の直後に何をご案内しているか</a:t>
            </a:r>
            <a:r>
              <a:rPr sz="14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1548000"/>
            <a:ext cx="9043200" cy="3312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399" y="1600147"/>
            <a:ext cx="2635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アカウント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18400" y="1600147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友だち数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44000" y="1600147"/>
            <a:ext cx="20159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アカウント構成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0400" y="1600147"/>
            <a:ext cx="2894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友だち追加直後のご案内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399" y="1938547"/>
            <a:ext cx="2635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リクルートエージェント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18400" y="1938547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1,468,273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4000" y="1938547"/>
            <a:ext cx="20159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0400" y="1938547"/>
            <a:ext cx="2894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アカウント連携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000" y="2224800"/>
            <a:ext cx="9043200" cy="3456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2399" y="2284147"/>
            <a:ext cx="2635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doda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18400" y="2284147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1,338,559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4000" y="2284147"/>
            <a:ext cx="20159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2件（相談／チャレンジ）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0400" y="2284147"/>
            <a:ext cx="2894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あいさつ1行のみ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2399" y="2629747"/>
            <a:ext cx="2635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マイナビ転職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18400" y="2629747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751,112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44000" y="2629747"/>
            <a:ext cx="20159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0400" y="2629747"/>
            <a:ext cx="2894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情報配信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2000" y="2916000"/>
            <a:ext cx="9043200" cy="3456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82399" y="2975347"/>
            <a:ext cx="2635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type[転職]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18400" y="2975347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292,109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44000" y="2975347"/>
            <a:ext cx="20159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サイト・エージェント別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0400" y="2975347"/>
            <a:ext cx="2894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求人カルーセル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2399" y="3320946"/>
            <a:ext cx="2635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type転職エージェント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18400" y="3320946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68,051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44000" y="3320946"/>
            <a:ext cx="20159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同上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0400" y="3320946"/>
            <a:ext cx="2894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登録フォームへ誘導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2000" y="3607200"/>
            <a:ext cx="9043200" cy="3456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82399" y="3666547"/>
            <a:ext cx="2635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UZUZ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18400" y="3666547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26,532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44000" y="3666547"/>
            <a:ext cx="20159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2件（サポート／CS）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30400" y="3666547"/>
            <a:ext cx="2894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選択式アンケート4問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2399" y="4012147"/>
            <a:ext cx="2635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マイナビ保育士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18400" y="4012147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44000" y="4012147"/>
            <a:ext cx="20159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職種特化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30400" y="4012147"/>
            <a:ext cx="2894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3問診断＋非公開求人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2000" y="4464000"/>
            <a:ext cx="9043200" cy="709346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大手ほど、アカウント連携や登録フォームなど、LINEの外へご案内している。</a:t>
            </a:r>
          </a:p>
          <a:p>
            <a:pPr algn="l">
              <a:lnSpc>
                <a:spcPct val="17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LINEの中で完結させているのは、第二新卒特化のUZUZと、職種特化のマイナビ保育士。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32000" y="5598000"/>
            <a:ext cx="9043200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32000" y="5638152"/>
            <a:ext cx="90432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ja-JP" altLang="en-US" sz="16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友だち追加の直後に希望条件を伺い、合う求人をお届けする大手は、まだ少ない</a:t>
            </a:r>
            <a:endParaRPr sz="16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出典｜各社の page.line.me（公式）。2026年9月12日に実機で確認。友だち数は表示値。マイナビ保育士は友だち数非公開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［第2章］運用の参考事例｜タウンワーク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58521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アルバイト求人のタウンワークは、LINEを「求人を探す入口」にした（LINEヤフー公式の導入事例）。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リッチメニューにさまざまなバイト条件を並べ、応募が増えた（2019年公開の事例）。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2000" y="5148072"/>
            <a:ext cx="9043200" cy="374904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出典｜LINEヤフー for Business 導入事例「バイト応募件数約80％増！リッチメニューを生かしたタウンワークのLINE活用事例」（2019年1月公開・数値は取材時点）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" y="5148072"/>
            <a:ext cx="9043416" cy="374904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求人を「届ける」だけでなく、「探す入口」をLINEに置いたことが応募につながった。</a:t>
            </a:r>
            <a:endParaRPr lang="ja-JP" altLang="en-US" sz="1400" dirty="0"/>
          </a:p>
        </p:txBody>
      </p:sp>
      <p:sp>
        <p:nvSpPr>
          <p:cNvPr id="22" name="Rounded Rectangle 21"/>
          <p:cNvSpPr/>
          <p:nvPr/>
        </p:nvSpPr>
        <p:spPr>
          <a:xfrm>
            <a:off x="429768" y="1417320"/>
            <a:ext cx="2880360" cy="960120"/>
          </a:xfrm>
          <a:prstGeom prst="roundRect">
            <a:avLst>
              <a:gd name="adj" fmla="val 6000"/>
            </a:avLst>
          </a:prstGeom>
          <a:solidFill>
            <a:srgbClr val="EEF2F9"/>
          </a:solidFill>
          <a:ln w="9525">
            <a:solidFill>
              <a:srgbClr val="D9D9D9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ja-JP" altLang="en-US" sz="1050" b="1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リッチメニューのタップ数</a:t>
            </a:r>
            <a:endParaRPr lang="ja-JP" altLang="en-US" sz="1200" dirty="0"/>
          </a:p>
          <a:p>
            <a:pPr algn="ctr">
              <a:lnSpc>
                <a:spcPct val="100000"/>
              </a:lnSpc>
              <a:buNone/>
            </a:pPr>
            <a:r>
              <a:rPr lang="ja-JP" altLang="en-US" sz="2000" b="1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＋20%</a:t>
            </a:r>
            <a:endParaRPr lang="ja-JP" altLang="en-US" sz="1200" dirty="0"/>
          </a:p>
          <a:p>
            <a:pPr algn="ctr">
              <a:lnSpc>
                <a:spcPct val="100000"/>
              </a:lnSpc>
              <a:buNone/>
            </a:pPr>
            <a:r>
              <a:rPr lang="ja-JP" altLang="en-US" sz="900" b="0" dirty="0">
                <a:solidFill>
                  <a:srgbClr val="595959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リッチメニューを充実させる前と比べて</a:t>
            </a:r>
            <a:endParaRPr lang="ja-JP" altLang="en-US" sz="1200" dirty="0"/>
          </a:p>
        </p:txBody>
      </p:sp>
      <p:sp>
        <p:nvSpPr>
          <p:cNvPr id="23" name="Rounded Rectangle 22"/>
          <p:cNvSpPr/>
          <p:nvPr/>
        </p:nvSpPr>
        <p:spPr>
          <a:xfrm>
            <a:off x="3511296" y="1417320"/>
            <a:ext cx="2880360" cy="960120"/>
          </a:xfrm>
          <a:prstGeom prst="roundRect">
            <a:avLst>
              <a:gd name="adj" fmla="val 6000"/>
            </a:avLst>
          </a:prstGeom>
          <a:solidFill>
            <a:srgbClr val="EEF2F9"/>
          </a:solidFill>
          <a:ln w="9525">
            <a:solidFill>
              <a:srgbClr val="D9D9D9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ja-JP" altLang="en-US" sz="1050" b="1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リッチメニュー経由の応募数</a:t>
            </a:r>
            <a:endParaRPr lang="ja-JP" altLang="en-US" sz="1200" dirty="0"/>
          </a:p>
          <a:p>
            <a:pPr algn="ctr">
              <a:lnSpc>
                <a:spcPct val="100000"/>
              </a:lnSpc>
              <a:buNone/>
            </a:pPr>
            <a:r>
              <a:rPr lang="ja-JP" altLang="en-US" sz="2000" b="1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＋79%</a:t>
            </a:r>
            <a:endParaRPr lang="ja-JP" altLang="en-US" sz="1200" dirty="0"/>
          </a:p>
          <a:p>
            <a:pPr algn="ctr">
              <a:lnSpc>
                <a:spcPct val="100000"/>
              </a:lnSpc>
              <a:buNone/>
            </a:pPr>
            <a:r>
              <a:rPr lang="ja-JP" altLang="en-US" sz="900" b="0" dirty="0">
                <a:solidFill>
                  <a:srgbClr val="595959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同じく、充実させる前と比べて</a:t>
            </a:r>
            <a:endParaRPr lang="ja-JP" altLang="en-US" sz="1200" dirty="0"/>
          </a:p>
        </p:txBody>
      </p:sp>
      <p:sp>
        <p:nvSpPr>
          <p:cNvPr id="24" name="Rounded Rectangle 23"/>
          <p:cNvSpPr/>
          <p:nvPr/>
        </p:nvSpPr>
        <p:spPr>
          <a:xfrm>
            <a:off x="6592824" y="1417320"/>
            <a:ext cx="2880360" cy="960120"/>
          </a:xfrm>
          <a:prstGeom prst="roundRect">
            <a:avLst>
              <a:gd name="adj" fmla="val 6000"/>
            </a:avLst>
          </a:prstGeom>
          <a:solidFill>
            <a:srgbClr val="EEF2F9"/>
          </a:solidFill>
          <a:ln w="9525">
            <a:solidFill>
              <a:srgbClr val="D9D9D9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ja-JP" altLang="en-US" sz="1050" b="1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LINE経由の応募の内訳</a:t>
            </a:r>
            <a:endParaRPr lang="ja-JP" altLang="en-US" sz="1200" dirty="0"/>
          </a:p>
          <a:p>
            <a:pPr algn="ctr">
              <a:lnSpc>
                <a:spcPct val="100000"/>
              </a:lnSpc>
              <a:buNone/>
            </a:pPr>
            <a:r>
              <a:rPr lang="ja-JP" altLang="en-US" sz="1500" b="1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リッチメニューが最多</a:t>
            </a:r>
            <a:endParaRPr lang="ja-JP" altLang="en-US" sz="1200" dirty="0"/>
          </a:p>
          <a:p>
            <a:pPr algn="ctr">
              <a:lnSpc>
                <a:spcPct val="100000"/>
              </a:lnSpc>
              <a:buNone/>
            </a:pPr>
            <a:r>
              <a:rPr lang="ja-JP" altLang="en-US" sz="900" b="0" dirty="0">
                <a:solidFill>
                  <a:srgbClr val="595959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配信（プッシュ）からの応募を上回る</a:t>
            </a:r>
            <a:endParaRPr lang="ja-JP" altLang="en-US" sz="1200" dirty="0"/>
          </a:p>
        </p:txBody>
      </p:sp>
      <p:sp>
        <p:nvSpPr>
          <p:cNvPr id="25" name="Rectangle 24"/>
          <p:cNvSpPr/>
          <p:nvPr/>
        </p:nvSpPr>
        <p:spPr>
          <a:xfrm>
            <a:off x="429768" y="2487168"/>
            <a:ext cx="9043416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ja-JP" altLang="en-US" sz="1100" b="1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何をしたか</a:t>
            </a:r>
            <a:endParaRPr lang="ja-JP" altLang="en-US" sz="1100" dirty="0"/>
          </a:p>
        </p:txBody>
      </p:sp>
      <p:sp>
        <p:nvSpPr>
          <p:cNvPr id="26" name="Rounded Rectangle 25"/>
          <p:cNvSpPr/>
          <p:nvPr/>
        </p:nvSpPr>
        <p:spPr>
          <a:xfrm>
            <a:off x="429768" y="2761488"/>
            <a:ext cx="4384548" cy="27432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algn="ctr">
              <a:buNone/>
            </a:pPr>
            <a:r>
              <a:rPr lang="ja-JP" altLang="en-US" sz="105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A　リンクでサイトへ</a:t>
            </a:r>
            <a:endParaRPr lang="ja-JP" altLang="en-US" sz="1050" dirty="0"/>
          </a:p>
        </p:txBody>
      </p:sp>
      <p:sp>
        <p:nvSpPr>
          <p:cNvPr id="27" name="Rectangle 26"/>
          <p:cNvSpPr/>
          <p:nvPr/>
        </p:nvSpPr>
        <p:spPr>
          <a:xfrm>
            <a:off x="429768" y="3035808"/>
            <a:ext cx="4384548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リッチメニューのバイト条件をタップすると、</a:t>
            </a:r>
            <a:endParaRPr lang="ja-JP" altLang="en-US" sz="1050" dirty="0"/>
          </a:p>
          <a:p>
            <a:pPr algn="ctr">
              <a:lnSpc>
                <a:spcPct val="105000"/>
              </a:lnSpc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ワンタップでリンク先（サイト）へ移動</a:t>
            </a:r>
            <a:endParaRPr lang="ja-JP" altLang="en-US" sz="1050" dirty="0"/>
          </a:p>
        </p:txBody>
      </p:sp>
      <p:sp>
        <p:nvSpPr>
          <p:cNvPr id="28" name="Rounded Rectangle 27"/>
          <p:cNvSpPr/>
          <p:nvPr/>
        </p:nvSpPr>
        <p:spPr>
          <a:xfrm>
            <a:off x="5088636" y="2761488"/>
            <a:ext cx="4384548" cy="27432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algn="ctr">
              <a:buNone/>
            </a:pPr>
            <a:r>
              <a:rPr lang="ja-JP" altLang="en-US" sz="105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B　トーク検索（LINEの中で完結）</a:t>
            </a:r>
            <a:endParaRPr lang="ja-JP" altLang="en-US" sz="1050" dirty="0"/>
          </a:p>
        </p:txBody>
      </p:sp>
      <p:sp>
        <p:nvSpPr>
          <p:cNvPr id="29" name="Rectangle 28"/>
          <p:cNvSpPr/>
          <p:nvPr/>
        </p:nvSpPr>
        <p:spPr>
          <a:xfrm>
            <a:off x="5088636" y="3035808"/>
            <a:ext cx="4384548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条件を選んだり入力したりすると、</a:t>
            </a:r>
            <a:endParaRPr lang="ja-JP" altLang="en-US" sz="1050" dirty="0"/>
          </a:p>
          <a:p>
            <a:pPr algn="ctr">
              <a:lnSpc>
                <a:spcPct val="105000"/>
              </a:lnSpc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合う求人がカード形式でトークに届く</a:t>
            </a:r>
            <a:endParaRPr lang="ja-JP" altLang="en-US" sz="1050" dirty="0"/>
          </a:p>
        </p:txBody>
      </p:sp>
      <p:sp>
        <p:nvSpPr>
          <p:cNvPr id="30" name="Rectangle 29"/>
          <p:cNvSpPr/>
          <p:nvPr/>
        </p:nvSpPr>
        <p:spPr>
          <a:xfrm>
            <a:off x="429768" y="3904487"/>
            <a:ext cx="9043416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002060"/>
            </a:solidFill>
          </a:ln>
        </p:spPr>
        <p:txBody>
          <a:bodyPr wrap="square" lIns="128016" tIns="36576" rIns="128016" bIns="36576" rtlCol="0" anchor="ctr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ja-JP" altLang="en-US" sz="1100" b="1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最もタップされたのは、一番上に置いた「人気のバイト検索条件」。</a:t>
            </a:r>
            <a:endParaRPr lang="ja-JP" altLang="en-US" sz="1100" dirty="0"/>
          </a:p>
          <a:p>
            <a:pPr algn="l">
              <a:lnSpc>
                <a:spcPct val="105000"/>
              </a:lnSpc>
              <a:buNone/>
            </a:pPr>
            <a:r>
              <a:rPr lang="ja-JP" altLang="en-US" sz="11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リッチメニューは、トーク画面を開くと必ず目に入る場所。そこに「探す」を置いている。</a:t>
            </a:r>
            <a:endParaRPr lang="ja-JP" altLang="en-US" sz="1100" dirty="0"/>
          </a:p>
        </p:txBody>
      </p:sp>
      <p:sp>
        <p:nvSpPr>
          <p:cNvPr id="31" name="Rectangle 30"/>
          <p:cNvSpPr/>
          <p:nvPr/>
        </p:nvSpPr>
        <p:spPr>
          <a:xfrm>
            <a:off x="429768" y="4572000"/>
            <a:ext cx="9043416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ja-JP" altLang="en-US" sz="900" b="0" dirty="0">
                <a:solidFill>
                  <a:srgbClr val="595959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 LINE公式アカウントの開設は2017年4月、リッチメニューの強化は2018年2月から（Messaging APIを利用）。</a:t>
            </a:r>
            <a:endParaRPr lang="ja-JP" altLang="en-US" sz="900" dirty="0"/>
          </a:p>
          <a:p>
            <a:pPr algn="l">
              <a:lnSpc>
                <a:spcPct val="100000"/>
              </a:lnSpc>
              <a:buNone/>
            </a:pPr>
            <a:r>
              <a:rPr lang="ja-JP" altLang="en-US" sz="900" b="0" dirty="0">
                <a:solidFill>
                  <a:srgbClr val="595959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 2019年時点で、今後は利用者の状況や行動に応じてリッチメニューを出し分けることを構想していると紹介されている。</a:t>
            </a:r>
            <a:endParaRPr lang="ja-JP" alt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［第2章］タウンワークの実際の画面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719791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dirty="0" err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友だち追加の直後に「気になるテーマをタップ」と案内し、リッチメニューには学生歓迎などが並ぶ</a:t>
            </a:r>
            <a:r>
              <a:rPr sz="14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。</a:t>
            </a:r>
          </a:p>
          <a:p>
            <a:pPr algn="l">
              <a:lnSpc>
                <a:spcPct val="120000"/>
              </a:lnSpc>
            </a:pPr>
            <a:r>
              <a:rPr sz="1400" b="1" dirty="0" err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条件を選ぶと、条件を入れた状態の検索結果ページへ移動し、応募はサイトで行う</a:t>
            </a:r>
            <a:r>
              <a:rPr sz="14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画面：タウンワーク LINE公式アカウント（2026年9月 弊社確認）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" y="1417320"/>
            <a:ext cx="2103120" cy="27432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algn="ctr">
              <a:buNone/>
            </a:pPr>
            <a:r>
              <a:rPr lang="ja-JP" altLang="en-US" sz="105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1　あいさつ</a:t>
            </a:r>
            <a:endParaRPr lang="ja-JP" altLang="en-US" sz="1050" dirty="0"/>
          </a:p>
        </p:txBody>
      </p:sp>
      <p:pic>
        <p:nvPicPr>
          <p:cNvPr id="22" name="タウンワーク_あいさつ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576" y="1764792"/>
            <a:ext cx="1753502" cy="3794760"/>
          </a:xfrm>
          <a:prstGeom prst="rect">
            <a:avLst/>
          </a:prstGeom>
          <a:ln w="9525">
            <a:solidFill>
              <a:srgbClr val="C6CADD"/>
            </a:solidFill>
          </a:ln>
        </p:spPr>
      </p:pic>
      <p:sp>
        <p:nvSpPr>
          <p:cNvPr id="23" name="Rectangle 22"/>
          <p:cNvSpPr/>
          <p:nvPr/>
        </p:nvSpPr>
        <p:spPr>
          <a:xfrm>
            <a:off x="338328" y="5614416"/>
            <a:ext cx="22860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ja-JP" altLang="en-US" sz="9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追加の直後に「気になるテーマを</a:t>
            </a:r>
            <a:endParaRPr lang="ja-JP" altLang="en-US" sz="950" dirty="0"/>
          </a:p>
          <a:p>
            <a:pPr algn="ctr">
              <a:lnSpc>
                <a:spcPct val="100000"/>
              </a:lnSpc>
              <a:buNone/>
            </a:pPr>
            <a:r>
              <a:rPr lang="ja-JP" altLang="en-US" sz="9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タップ」と時間帯別の画像</a:t>
            </a:r>
            <a:endParaRPr lang="ja-JP" altLang="en-US" sz="950" dirty="0"/>
          </a:p>
        </p:txBody>
      </p:sp>
      <p:sp>
        <p:nvSpPr>
          <p:cNvPr id="24" name="Rounded Rectangle 23"/>
          <p:cNvSpPr/>
          <p:nvPr/>
        </p:nvSpPr>
        <p:spPr>
          <a:xfrm>
            <a:off x="2743200" y="1417320"/>
            <a:ext cx="2103120" cy="27432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algn="ctr">
              <a:buNone/>
            </a:pPr>
            <a:r>
              <a:rPr lang="ja-JP" altLang="en-US" sz="105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　リッチメニュー</a:t>
            </a:r>
            <a:endParaRPr lang="ja-JP" altLang="en-US" sz="1050" dirty="0"/>
          </a:p>
        </p:txBody>
      </p:sp>
      <p:pic>
        <p:nvPicPr>
          <p:cNvPr id="25" name="タウンワーク_リッチメニュー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8008" y="1764792"/>
            <a:ext cx="1753502" cy="3794760"/>
          </a:xfrm>
          <a:prstGeom prst="rect">
            <a:avLst/>
          </a:prstGeom>
          <a:ln w="9525">
            <a:solidFill>
              <a:srgbClr val="C6CADD"/>
            </a:solidFill>
          </a:ln>
        </p:spPr>
      </p:pic>
      <p:sp>
        <p:nvSpPr>
          <p:cNvPr id="26" name="Rectangle 25"/>
          <p:cNvSpPr/>
          <p:nvPr/>
        </p:nvSpPr>
        <p:spPr>
          <a:xfrm>
            <a:off x="2651760" y="5614416"/>
            <a:ext cx="22860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ja-JP" altLang="en-US" sz="9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学生歓迎・単発・1日OKなど</a:t>
            </a:r>
            <a:endParaRPr lang="ja-JP" altLang="en-US" sz="950" dirty="0"/>
          </a:p>
          <a:p>
            <a:pPr algn="ctr">
              <a:lnSpc>
                <a:spcPct val="100000"/>
              </a:lnSpc>
              <a:buNone/>
            </a:pPr>
            <a:r>
              <a:rPr lang="ja-JP" altLang="en-US" sz="9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条件がワンタップ</a:t>
            </a:r>
            <a:endParaRPr lang="ja-JP" altLang="en-US" sz="950" dirty="0"/>
          </a:p>
        </p:txBody>
      </p:sp>
      <p:sp>
        <p:nvSpPr>
          <p:cNvPr id="27" name="Rounded Rectangle 26"/>
          <p:cNvSpPr/>
          <p:nvPr/>
        </p:nvSpPr>
        <p:spPr>
          <a:xfrm>
            <a:off x="5056632" y="1417320"/>
            <a:ext cx="2103120" cy="27432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algn="ctr">
              <a:buNone/>
            </a:pPr>
            <a:r>
              <a:rPr lang="ja-JP" altLang="en-US" sz="105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3　移動先のサイト</a:t>
            </a:r>
            <a:endParaRPr lang="ja-JP" altLang="en-US" sz="1050" dirty="0"/>
          </a:p>
        </p:txBody>
      </p:sp>
      <p:pic>
        <p:nvPicPr>
          <p:cNvPr id="28" name="タウンワーク_移動先のサイト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1440" y="1764792"/>
            <a:ext cx="1753502" cy="3794760"/>
          </a:xfrm>
          <a:prstGeom prst="rect">
            <a:avLst/>
          </a:prstGeom>
          <a:ln w="9525">
            <a:solidFill>
              <a:srgbClr val="C6CADD"/>
            </a:solidFill>
          </a:ln>
        </p:spPr>
      </p:pic>
      <p:sp>
        <p:nvSpPr>
          <p:cNvPr id="29" name="Rectangle 28"/>
          <p:cNvSpPr/>
          <p:nvPr/>
        </p:nvSpPr>
        <p:spPr>
          <a:xfrm>
            <a:off x="4965192" y="5614416"/>
            <a:ext cx="22860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ja-JP" altLang="en-US" sz="9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条件を入れた状態の</a:t>
            </a:r>
            <a:endParaRPr lang="ja-JP" altLang="en-US" sz="950" dirty="0"/>
          </a:p>
          <a:p>
            <a:pPr algn="ctr">
              <a:lnSpc>
                <a:spcPct val="100000"/>
              </a:lnSpc>
              <a:buNone/>
            </a:pPr>
            <a:r>
              <a:rPr lang="ja-JP" altLang="en-US" sz="9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検索結果ページ</a:t>
            </a:r>
            <a:endParaRPr lang="ja-JP" altLang="en-US" sz="950" dirty="0"/>
          </a:p>
        </p:txBody>
      </p:sp>
      <p:sp>
        <p:nvSpPr>
          <p:cNvPr id="30" name="Rounded Rectangle 29"/>
          <p:cNvSpPr/>
          <p:nvPr/>
        </p:nvSpPr>
        <p:spPr>
          <a:xfrm>
            <a:off x="7370064" y="1417320"/>
            <a:ext cx="2103120" cy="27432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algn="ctr">
              <a:buNone/>
            </a:pPr>
            <a:r>
              <a:rPr lang="ja-JP" altLang="en-US" sz="105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4　会員連携の画面</a:t>
            </a:r>
            <a:endParaRPr lang="ja-JP" altLang="en-US" sz="1050" dirty="0"/>
          </a:p>
        </p:txBody>
      </p:sp>
      <p:pic>
        <p:nvPicPr>
          <p:cNvPr id="31" name="タウンワーク_会員連携の画面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4872" y="1764792"/>
            <a:ext cx="1753502" cy="3794760"/>
          </a:xfrm>
          <a:prstGeom prst="rect">
            <a:avLst/>
          </a:prstGeom>
          <a:ln w="9525">
            <a:solidFill>
              <a:srgbClr val="C6CADD"/>
            </a:solidFill>
          </a:ln>
        </p:spPr>
      </p:pic>
      <p:sp>
        <p:nvSpPr>
          <p:cNvPr id="32" name="Rectangle 31"/>
          <p:cNvSpPr/>
          <p:nvPr/>
        </p:nvSpPr>
        <p:spPr>
          <a:xfrm>
            <a:off x="7278624" y="5614416"/>
            <a:ext cx="22860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ja-JP" altLang="en-US" sz="9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合う求人を受け取るための</a:t>
            </a:r>
            <a:endParaRPr lang="ja-JP" altLang="en-US" sz="950" dirty="0"/>
          </a:p>
          <a:p>
            <a:pPr algn="ctr">
              <a:lnSpc>
                <a:spcPct val="100000"/>
              </a:lnSpc>
              <a:buNone/>
            </a:pPr>
            <a:r>
              <a:rPr lang="ja-JP" altLang="en-US" sz="9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会員連携（リクルートID）</a:t>
            </a:r>
            <a:endParaRPr lang="ja-JP" alt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［第3章］タウンワークの取り組みは、3つの仕組みに分けられる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58521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公式事例（2019年）と実際の画面（2026年9月）から、3つの仕組みが読み取れる。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特に①の考え方を、リッチメニュー（P21）に取り入れる。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2000" y="5148072"/>
            <a:ext cx="9043200" cy="374904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※ 出典：LINEヤフー for Business 導入事例（タウンワーク・2019年1月公開）・タウンワーク LINE公式アカウント（2026年9月 弊社確認）。実際の画面はP14。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" y="5148072"/>
            <a:ext cx="9043416" cy="374904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buNone/>
            </a:pPr>
            <a:r>
              <a:rPr lang="ja-JP" altLang="en-US" sz="125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応募はサイトで行い、LINEには「探す入口」と「次に探すきっかけ」を置く。</a:t>
            </a:r>
            <a:endParaRPr lang="ja-JP" altLang="en-US" sz="1250" dirty="0"/>
          </a:p>
        </p:txBody>
      </p:sp>
      <p:sp>
        <p:nvSpPr>
          <p:cNvPr id="22" name="Rounded Rectangle 21"/>
          <p:cNvSpPr/>
          <p:nvPr/>
        </p:nvSpPr>
        <p:spPr>
          <a:xfrm>
            <a:off x="429768" y="1417320"/>
            <a:ext cx="2880360" cy="310896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algn="ctr">
              <a:buNone/>
            </a:pPr>
            <a:r>
              <a:rPr lang="ja-JP" altLang="en-US" sz="11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① リッチメニューを「探す入口」に</a:t>
            </a:r>
            <a:endParaRPr lang="ja-JP" altLang="en-US" sz="1100" dirty="0"/>
          </a:p>
        </p:txBody>
      </p:sp>
      <p:sp>
        <p:nvSpPr>
          <p:cNvPr id="23" name="Rounded Rectangle 22"/>
          <p:cNvSpPr/>
          <p:nvPr/>
        </p:nvSpPr>
        <p:spPr>
          <a:xfrm>
            <a:off x="429768" y="1819656"/>
            <a:ext cx="2880360" cy="1783080"/>
          </a:xfrm>
          <a:prstGeom prst="roundRect">
            <a:avLst>
              <a:gd name="adj" fmla="val 5000"/>
            </a:avLst>
          </a:prstGeom>
          <a:solidFill>
            <a:srgbClr val="EEF2F9"/>
          </a:solidFill>
          <a:ln w="9525">
            <a:solidFill>
              <a:srgbClr val="D9D9D9"/>
            </a:solidFill>
          </a:ln>
        </p:spPr>
        <p:txBody>
          <a:bodyPr wrap="square" lIns="109728" tIns="91440" rIns="91440" bIns="54864" rtlCol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buNone/>
            </a:pPr>
            <a:r>
              <a:rPr lang="ja-JP" altLang="en-US" sz="11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「学生歓迎」「主婦・主夫歓迎」「シニア歓迎」「単発・1日OK」など、バイトの条件をワンタップに。</a:t>
            </a:r>
            <a:endParaRPr lang="ja-JP" altLang="en-US" sz="1150" dirty="0"/>
          </a:p>
          <a:p>
            <a:pPr algn="l">
              <a:lnSpc>
                <a:spcPct val="110000"/>
              </a:lnSpc>
              <a:spcAft>
                <a:spcPts val="600"/>
              </a:spcAft>
              <a:buNone/>
            </a:pPr>
            <a:r>
              <a:rPr lang="ja-JP" altLang="en-US" sz="11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一番上に置いた人気の検索条件が、最もタップされた（2019年公開の事例）。</a:t>
            </a:r>
            <a:endParaRPr lang="ja-JP" altLang="en-US" sz="1150" dirty="0"/>
          </a:p>
        </p:txBody>
      </p:sp>
      <p:sp>
        <p:nvSpPr>
          <p:cNvPr id="24" name="Rounded Rectangle 23"/>
          <p:cNvSpPr/>
          <p:nvPr/>
        </p:nvSpPr>
        <p:spPr>
          <a:xfrm>
            <a:off x="429768" y="3712463"/>
            <a:ext cx="2880360" cy="10241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91440" tIns="73152" rIns="73152" bIns="36576" rtlCol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ja-JP" altLang="en-US" sz="1000" b="1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実際の例</a:t>
            </a:r>
            <a:endParaRPr lang="ja-JP" altLang="en-US" sz="1050" dirty="0"/>
          </a:p>
          <a:p>
            <a:pPr algn="l">
              <a:lnSpc>
                <a:spcPct val="105000"/>
              </a:lnSpc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タップ数 ＋20%</a:t>
            </a:r>
            <a:endParaRPr lang="ja-JP" altLang="en-US" sz="1050" dirty="0"/>
          </a:p>
          <a:p>
            <a:pPr algn="l">
              <a:lnSpc>
                <a:spcPct val="105000"/>
              </a:lnSpc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リッチメニュー経由の応募 ＋79%</a:t>
            </a:r>
            <a:endParaRPr lang="ja-JP" altLang="en-US" sz="1050" dirty="0"/>
          </a:p>
          <a:p>
            <a:pPr algn="l">
              <a:lnSpc>
                <a:spcPct val="105000"/>
              </a:lnSpc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（2019年公開の事例）</a:t>
            </a:r>
            <a:endParaRPr lang="ja-JP" altLang="en-US" sz="1050" dirty="0"/>
          </a:p>
        </p:txBody>
      </p:sp>
      <p:sp>
        <p:nvSpPr>
          <p:cNvPr id="25" name="Rounded Rectangle 24"/>
          <p:cNvSpPr/>
          <p:nvPr/>
        </p:nvSpPr>
        <p:spPr>
          <a:xfrm>
            <a:off x="3511296" y="1417320"/>
            <a:ext cx="2880360" cy="310896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algn="ctr">
              <a:buNone/>
            </a:pPr>
            <a:r>
              <a:rPr lang="ja-JP" altLang="en-US" sz="11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② 追加の直後に、探し方を案内</a:t>
            </a:r>
            <a:endParaRPr lang="ja-JP" altLang="en-US" sz="1100" dirty="0"/>
          </a:p>
        </p:txBody>
      </p:sp>
      <p:sp>
        <p:nvSpPr>
          <p:cNvPr id="26" name="Rounded Rectangle 25"/>
          <p:cNvSpPr/>
          <p:nvPr/>
        </p:nvSpPr>
        <p:spPr>
          <a:xfrm>
            <a:off x="3511296" y="1819656"/>
            <a:ext cx="2880360" cy="1783080"/>
          </a:xfrm>
          <a:prstGeom prst="roundRect">
            <a:avLst>
              <a:gd name="adj" fmla="val 5000"/>
            </a:avLst>
          </a:prstGeom>
          <a:solidFill>
            <a:srgbClr val="EEF2F9"/>
          </a:solidFill>
          <a:ln w="9525">
            <a:solidFill>
              <a:srgbClr val="D9D9D9"/>
            </a:solidFill>
          </a:ln>
        </p:spPr>
        <p:txBody>
          <a:bodyPr wrap="square" lIns="109728" tIns="91440" rIns="91440" bIns="54864" rtlCol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buNone/>
            </a:pPr>
            <a:r>
              <a:rPr lang="ja-JP" altLang="en-US" sz="11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あいさつで「気になるテーマをタップ」と案内し、時間帯別（午前中・お昼から・夕方〜夜・深夜・夜勤）の画像を出す。</a:t>
            </a:r>
            <a:endParaRPr lang="ja-JP" altLang="en-US" sz="1150" dirty="0"/>
          </a:p>
          <a:p>
            <a:pPr algn="l">
              <a:lnSpc>
                <a:spcPct val="110000"/>
              </a:lnSpc>
              <a:spcAft>
                <a:spcPts val="600"/>
              </a:spcAft>
              <a:buNone/>
            </a:pPr>
            <a:r>
              <a:rPr lang="ja-JP" altLang="en-US" sz="11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通知が多いと感じたら、オフにする方法も先に伝えている。</a:t>
            </a:r>
            <a:endParaRPr lang="ja-JP" altLang="en-US" sz="1150" dirty="0"/>
          </a:p>
        </p:txBody>
      </p:sp>
      <p:sp>
        <p:nvSpPr>
          <p:cNvPr id="27" name="Rounded Rectangle 26"/>
          <p:cNvSpPr/>
          <p:nvPr/>
        </p:nvSpPr>
        <p:spPr>
          <a:xfrm>
            <a:off x="3511296" y="3712463"/>
            <a:ext cx="2880360" cy="10241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91440" tIns="73152" rIns="73152" bIns="36576" rtlCol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ja-JP" altLang="en-US" sz="1000" b="1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実際の例</a:t>
            </a:r>
            <a:endParaRPr lang="ja-JP" altLang="en-US" sz="1050" dirty="0"/>
          </a:p>
          <a:p>
            <a:pPr algn="l">
              <a:lnSpc>
                <a:spcPct val="105000"/>
              </a:lnSpc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あいさつ＋時間帯別の画像</a:t>
            </a:r>
            <a:endParaRPr lang="ja-JP" altLang="en-US" sz="1050" dirty="0"/>
          </a:p>
          <a:p>
            <a:pPr algn="l">
              <a:lnSpc>
                <a:spcPct val="105000"/>
              </a:lnSpc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（2026年9月 弊社確認）</a:t>
            </a:r>
            <a:endParaRPr lang="ja-JP" altLang="en-US" sz="1050" dirty="0"/>
          </a:p>
        </p:txBody>
      </p:sp>
      <p:sp>
        <p:nvSpPr>
          <p:cNvPr id="28" name="Rounded Rectangle 27"/>
          <p:cNvSpPr/>
          <p:nvPr/>
        </p:nvSpPr>
        <p:spPr>
          <a:xfrm>
            <a:off x="6592824" y="1417320"/>
            <a:ext cx="2880360" cy="310896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algn="ctr">
              <a:buNone/>
            </a:pPr>
            <a:r>
              <a:rPr lang="ja-JP" altLang="en-US" sz="11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③ 応募はサイトで、LINEは入口</a:t>
            </a:r>
            <a:endParaRPr lang="ja-JP" altLang="en-US" sz="1100" dirty="0"/>
          </a:p>
        </p:txBody>
      </p:sp>
      <p:sp>
        <p:nvSpPr>
          <p:cNvPr id="29" name="Rounded Rectangle 28"/>
          <p:cNvSpPr/>
          <p:nvPr/>
        </p:nvSpPr>
        <p:spPr>
          <a:xfrm>
            <a:off x="6592824" y="1819656"/>
            <a:ext cx="2880360" cy="1783080"/>
          </a:xfrm>
          <a:prstGeom prst="roundRect">
            <a:avLst>
              <a:gd name="adj" fmla="val 5000"/>
            </a:avLst>
          </a:prstGeom>
          <a:solidFill>
            <a:srgbClr val="EEF2F9"/>
          </a:solidFill>
          <a:ln w="9525">
            <a:solidFill>
              <a:srgbClr val="D9D9D9"/>
            </a:solidFill>
          </a:ln>
        </p:spPr>
        <p:txBody>
          <a:bodyPr wrap="square" lIns="109728" tIns="91440" rIns="91440" bIns="54864" rtlCol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buNone/>
            </a:pPr>
            <a:r>
              <a:rPr lang="ja-JP" altLang="en-US" sz="11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条件を選ぶと、条件を入れた状態の検索結果ページへ移動。応募はサイトで行う。</a:t>
            </a:r>
            <a:endParaRPr lang="ja-JP" altLang="en-US" sz="1150" dirty="0"/>
          </a:p>
          <a:p>
            <a:pPr algn="l">
              <a:lnSpc>
                <a:spcPct val="110000"/>
              </a:lnSpc>
              <a:spcAft>
                <a:spcPts val="600"/>
              </a:spcAft>
              <a:buNone/>
            </a:pPr>
            <a:r>
              <a:rPr lang="ja-JP" altLang="en-US" sz="11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合う求人を受け取るために、会員情報とLINEを連携する。</a:t>
            </a:r>
            <a:endParaRPr lang="ja-JP" altLang="en-US" sz="1150" dirty="0"/>
          </a:p>
        </p:txBody>
      </p:sp>
      <p:sp>
        <p:nvSpPr>
          <p:cNvPr id="30" name="Rounded Rectangle 29"/>
          <p:cNvSpPr/>
          <p:nvPr/>
        </p:nvSpPr>
        <p:spPr>
          <a:xfrm>
            <a:off x="6592824" y="3712463"/>
            <a:ext cx="2880360" cy="10241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91440" tIns="73152" rIns="73152" bIns="36576" rtlCol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ja-JP" altLang="en-US" sz="1000" b="1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実際の例</a:t>
            </a:r>
            <a:endParaRPr lang="ja-JP" altLang="en-US" sz="1050" dirty="0"/>
          </a:p>
          <a:p>
            <a:pPr algn="l">
              <a:lnSpc>
                <a:spcPct val="105000"/>
              </a:lnSpc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移動先＝条件入りの検索結果</a:t>
            </a:r>
            <a:endParaRPr lang="ja-JP" altLang="en-US" sz="1050" dirty="0"/>
          </a:p>
          <a:p>
            <a:pPr algn="l">
              <a:lnSpc>
                <a:spcPct val="105000"/>
              </a:lnSpc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会員連携＝リクルートID</a:t>
            </a:r>
            <a:endParaRPr lang="ja-JP" alt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FC836A-F13C-1973-53EF-92ADF9F85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52;p28">
            <a:extLst>
              <a:ext uri="{FF2B5EF4-FFF2-40B4-BE49-F238E27FC236}">
                <a16:creationId xmlns:a16="http://schemas.microsoft.com/office/drawing/2014/main" id="{A8856EBE-32D8-42F5-9D61-C53BF60EFB33}"/>
              </a:ext>
            </a:extLst>
          </p:cNvPr>
          <p:cNvSpPr txBox="1"/>
          <p:nvPr/>
        </p:nvSpPr>
        <p:spPr>
          <a:xfrm>
            <a:off x="547200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［第3章］構築｜施策展開図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A6340BD7-9269-59A1-EA69-7426F07778B6}"/>
              </a:ext>
            </a:extLst>
          </p:cNvPr>
          <p:cNvSpPr/>
          <p:nvPr/>
        </p:nvSpPr>
        <p:spPr>
          <a:xfrm>
            <a:off x="0" y="777240"/>
            <a:ext cx="1802674" cy="5029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LINEOA</a:t>
            </a:r>
            <a:r>
              <a:rPr kumimoji="1"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施策</a:t>
            </a:r>
          </a:p>
        </p:txBody>
      </p:sp>
      <p:sp>
        <p:nvSpPr>
          <p:cNvPr id="3" name="Google Shape;752;p28">
            <a:extLst>
              <a:ext uri="{FF2B5EF4-FFF2-40B4-BE49-F238E27FC236}">
                <a16:creationId xmlns:a16="http://schemas.microsoft.com/office/drawing/2014/main" id="{7C701305-F75E-4087-21C2-FA3CCCA8FB67}"/>
              </a:ext>
            </a:extLst>
          </p:cNvPr>
          <p:cNvSpPr txBox="1"/>
          <p:nvPr/>
        </p:nvSpPr>
        <p:spPr>
          <a:xfrm>
            <a:off x="1988819" y="736332"/>
            <a:ext cx="7774305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r>
              <a:rPr lang="en-US" altLang="ja-JP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「新しい友だちの追加」と「応募につなげる動線」の2つが重要。</a:t>
            </a:r>
          </a:p>
          <a:p>
            <a:r>
              <a:rPr lang="ja-JP" altLang="en-US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企画配信（毎月）とステップ配信（常時）を組み合わせて、動線をつくる。</a:t>
            </a:r>
            <a:endParaRPr lang="en-US" altLang="ja-JP" sz="16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1A40E6EC-1B5E-5E46-EF89-1167C08649BA}"/>
              </a:ext>
            </a:extLst>
          </p:cNvPr>
          <p:cNvSpPr/>
          <p:nvPr/>
        </p:nvSpPr>
        <p:spPr>
          <a:xfrm>
            <a:off x="963202" y="3662763"/>
            <a:ext cx="1706880" cy="338514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　友だち追加後</a:t>
            </a:r>
            <a:r>
              <a:rPr kumimoji="1" lang="en-US" altLang="ja-JP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…</a:t>
            </a:r>
            <a:endParaRPr kumimoji="1" lang="ja-JP" altLang="en-US" sz="1050" b="1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pic>
        <p:nvPicPr>
          <p:cNvPr id="31" name="図 30">
            <a:extLst>
              <a:ext uri="{FF2B5EF4-FFF2-40B4-BE49-F238E27FC236}">
                <a16:creationId xmlns:a16="http://schemas.microsoft.com/office/drawing/2014/main" id="{2FE26F6B-D35B-6A6B-42D2-7944374527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401" y="3566663"/>
            <a:ext cx="582602" cy="543237"/>
          </a:xfrm>
          <a:prstGeom prst="rect">
            <a:avLst/>
          </a:prstGeom>
        </p:spPr>
      </p:pic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39403F1B-B20A-C75C-8FCB-74AAD1581A2F}"/>
              </a:ext>
            </a:extLst>
          </p:cNvPr>
          <p:cNvSpPr/>
          <p:nvPr/>
        </p:nvSpPr>
        <p:spPr>
          <a:xfrm>
            <a:off x="686977" y="2019915"/>
            <a:ext cx="1706880" cy="338514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　</a:t>
            </a:r>
            <a:r>
              <a:rPr kumimoji="1" lang="en-US" altLang="ja-JP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LP</a:t>
            </a:r>
            <a:r>
              <a:rPr kumimoji="1" lang="ja-JP" alt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</a:t>
            </a:r>
            <a:r>
              <a:rPr kumimoji="1" lang="en-US" altLang="ja-JP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HP</a:t>
            </a:r>
            <a:endParaRPr kumimoji="1" lang="ja-JP" altLang="en-US" sz="1050" b="1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pic>
        <p:nvPicPr>
          <p:cNvPr id="35" name="図 34" descr="lpデザインイラスト｜無料イラスト・フリー素材なら「イラストAC」">
            <a:extLst>
              <a:ext uri="{FF2B5EF4-FFF2-40B4-BE49-F238E27FC236}">
                <a16:creationId xmlns:a16="http://schemas.microsoft.com/office/drawing/2014/main" id="{EA2CF7EC-851A-10FF-17B6-E422C43BD1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658" y="1875286"/>
            <a:ext cx="853665" cy="640720"/>
          </a:xfrm>
          <a:prstGeom prst="rect">
            <a:avLst/>
          </a:prstGeom>
        </p:spPr>
      </p:pic>
      <p:sp>
        <p:nvSpPr>
          <p:cNvPr id="40" name="矢印: 下 39">
            <a:extLst>
              <a:ext uri="{FF2B5EF4-FFF2-40B4-BE49-F238E27FC236}">
                <a16:creationId xmlns:a16="http://schemas.microsoft.com/office/drawing/2014/main" id="{0D54B1A9-3944-66DE-F219-BB4192EDE144}"/>
              </a:ext>
            </a:extLst>
          </p:cNvPr>
          <p:cNvSpPr/>
          <p:nvPr/>
        </p:nvSpPr>
        <p:spPr>
          <a:xfrm>
            <a:off x="3290805" y="3630924"/>
            <a:ext cx="792480" cy="1246418"/>
          </a:xfrm>
          <a:prstGeom prst="downArrow">
            <a:avLst/>
          </a:prstGeom>
          <a:gradFill>
            <a:gsLst>
              <a:gs pos="4000">
                <a:schemeClr val="bg1"/>
              </a:gs>
              <a:gs pos="100000">
                <a:schemeClr val="accent1">
                  <a:lumMod val="40000"/>
                  <a:lumOff val="60000"/>
                  <a:alpha val="16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矢印: 下 40">
            <a:extLst>
              <a:ext uri="{FF2B5EF4-FFF2-40B4-BE49-F238E27FC236}">
                <a16:creationId xmlns:a16="http://schemas.microsoft.com/office/drawing/2014/main" id="{781A5984-3599-DC05-2E88-6BB61F188EB3}"/>
              </a:ext>
            </a:extLst>
          </p:cNvPr>
          <p:cNvSpPr/>
          <p:nvPr/>
        </p:nvSpPr>
        <p:spPr>
          <a:xfrm>
            <a:off x="5657443" y="3630924"/>
            <a:ext cx="792480" cy="1246418"/>
          </a:xfrm>
          <a:prstGeom prst="downArrow">
            <a:avLst/>
          </a:prstGeom>
          <a:gradFill>
            <a:gsLst>
              <a:gs pos="4000">
                <a:schemeClr val="bg1"/>
              </a:gs>
              <a:gs pos="100000">
                <a:schemeClr val="accent1">
                  <a:lumMod val="40000"/>
                  <a:lumOff val="60000"/>
                  <a:alpha val="16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矢印: 下 41">
            <a:extLst>
              <a:ext uri="{FF2B5EF4-FFF2-40B4-BE49-F238E27FC236}">
                <a16:creationId xmlns:a16="http://schemas.microsoft.com/office/drawing/2014/main" id="{1C76D7C3-BFEE-8DA3-57FA-033BD7E35285}"/>
              </a:ext>
            </a:extLst>
          </p:cNvPr>
          <p:cNvSpPr/>
          <p:nvPr/>
        </p:nvSpPr>
        <p:spPr>
          <a:xfrm>
            <a:off x="5657443" y="2019915"/>
            <a:ext cx="792480" cy="1246418"/>
          </a:xfrm>
          <a:prstGeom prst="downArrow">
            <a:avLst/>
          </a:prstGeom>
          <a:gradFill>
            <a:gsLst>
              <a:gs pos="4000">
                <a:schemeClr val="bg1"/>
              </a:gs>
              <a:gs pos="100000">
                <a:schemeClr val="accent1">
                  <a:lumMod val="40000"/>
                  <a:lumOff val="60000"/>
                  <a:alpha val="16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矢印: 下 42">
            <a:extLst>
              <a:ext uri="{FF2B5EF4-FFF2-40B4-BE49-F238E27FC236}">
                <a16:creationId xmlns:a16="http://schemas.microsoft.com/office/drawing/2014/main" id="{4E9F9DC2-BA49-A440-DA89-D45BC9E52C3A}"/>
              </a:ext>
            </a:extLst>
          </p:cNvPr>
          <p:cNvSpPr/>
          <p:nvPr/>
        </p:nvSpPr>
        <p:spPr>
          <a:xfrm>
            <a:off x="3290805" y="5241933"/>
            <a:ext cx="792480" cy="1246418"/>
          </a:xfrm>
          <a:prstGeom prst="downArrow">
            <a:avLst/>
          </a:prstGeom>
          <a:gradFill>
            <a:gsLst>
              <a:gs pos="4000">
                <a:schemeClr val="bg1"/>
              </a:gs>
              <a:gs pos="100000">
                <a:schemeClr val="accent1">
                  <a:lumMod val="40000"/>
                  <a:lumOff val="60000"/>
                  <a:alpha val="16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矢印: 下 43">
            <a:extLst>
              <a:ext uri="{FF2B5EF4-FFF2-40B4-BE49-F238E27FC236}">
                <a16:creationId xmlns:a16="http://schemas.microsoft.com/office/drawing/2014/main" id="{6915D3B6-2B4C-5707-CB40-2696B722BA40}"/>
              </a:ext>
            </a:extLst>
          </p:cNvPr>
          <p:cNvSpPr/>
          <p:nvPr/>
        </p:nvSpPr>
        <p:spPr>
          <a:xfrm>
            <a:off x="5657443" y="5241933"/>
            <a:ext cx="792480" cy="1246418"/>
          </a:xfrm>
          <a:prstGeom prst="downArrow">
            <a:avLst/>
          </a:prstGeom>
          <a:gradFill>
            <a:gsLst>
              <a:gs pos="4000">
                <a:schemeClr val="bg1"/>
              </a:gs>
              <a:gs pos="100000">
                <a:srgbClr val="8A95B5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D988BB36-5119-99B1-DF59-D4B80D30745C}"/>
              </a:ext>
            </a:extLst>
          </p:cNvPr>
          <p:cNvSpPr/>
          <p:nvPr/>
        </p:nvSpPr>
        <p:spPr>
          <a:xfrm>
            <a:off x="963202" y="5305611"/>
            <a:ext cx="1706880" cy="338514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具体的な施策</a:t>
            </a:r>
            <a:endParaRPr kumimoji="1" lang="ja-JP" altLang="en-US" sz="1050" b="1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pic>
        <p:nvPicPr>
          <p:cNvPr id="48" name="図 47">
            <a:extLst>
              <a:ext uri="{FF2B5EF4-FFF2-40B4-BE49-F238E27FC236}">
                <a16:creationId xmlns:a16="http://schemas.microsoft.com/office/drawing/2014/main" id="{FE05BA15-FE69-7259-F5B1-7935A92DDF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401" y="5203250"/>
            <a:ext cx="582602" cy="543237"/>
          </a:xfrm>
          <a:prstGeom prst="rect">
            <a:avLst/>
          </a:prstGeom>
        </p:spPr>
      </p:pic>
      <p:sp>
        <p:nvSpPr>
          <p:cNvPr id="68" name="矢印: 下 67">
            <a:extLst>
              <a:ext uri="{FF2B5EF4-FFF2-40B4-BE49-F238E27FC236}">
                <a16:creationId xmlns:a16="http://schemas.microsoft.com/office/drawing/2014/main" id="{552BBE13-4EF3-7D14-9401-EE47B669E0A1}"/>
              </a:ext>
            </a:extLst>
          </p:cNvPr>
          <p:cNvSpPr/>
          <p:nvPr/>
        </p:nvSpPr>
        <p:spPr>
          <a:xfrm>
            <a:off x="8023941" y="3630924"/>
            <a:ext cx="792480" cy="1246418"/>
          </a:xfrm>
          <a:prstGeom prst="downArrow">
            <a:avLst/>
          </a:prstGeom>
          <a:gradFill>
            <a:gsLst>
              <a:gs pos="4000">
                <a:schemeClr val="bg1"/>
              </a:gs>
              <a:gs pos="100000">
                <a:srgbClr val="8A95B5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9" name="矢印: 下 68">
            <a:extLst>
              <a:ext uri="{FF2B5EF4-FFF2-40B4-BE49-F238E27FC236}">
                <a16:creationId xmlns:a16="http://schemas.microsoft.com/office/drawing/2014/main" id="{1CE2AD45-B81D-8C9E-9BEA-EE8F41408D09}"/>
              </a:ext>
            </a:extLst>
          </p:cNvPr>
          <p:cNvSpPr/>
          <p:nvPr/>
        </p:nvSpPr>
        <p:spPr>
          <a:xfrm>
            <a:off x="8023941" y="5241933"/>
            <a:ext cx="792480" cy="1246418"/>
          </a:xfrm>
          <a:prstGeom prst="downArrow">
            <a:avLst/>
          </a:prstGeom>
          <a:gradFill>
            <a:gsLst>
              <a:gs pos="4000">
                <a:schemeClr val="bg1"/>
              </a:gs>
              <a:gs pos="100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0" name="矢印: 下 69">
            <a:extLst>
              <a:ext uri="{FF2B5EF4-FFF2-40B4-BE49-F238E27FC236}">
                <a16:creationId xmlns:a16="http://schemas.microsoft.com/office/drawing/2014/main" id="{841F38E6-682B-0593-E7F1-B970924D2312}"/>
              </a:ext>
            </a:extLst>
          </p:cNvPr>
          <p:cNvSpPr/>
          <p:nvPr/>
        </p:nvSpPr>
        <p:spPr>
          <a:xfrm>
            <a:off x="8007886" y="2028495"/>
            <a:ext cx="792480" cy="1246418"/>
          </a:xfrm>
          <a:prstGeom prst="downArrow">
            <a:avLst/>
          </a:prstGeom>
          <a:gradFill>
            <a:gsLst>
              <a:gs pos="4000">
                <a:schemeClr val="bg1"/>
              </a:gs>
              <a:gs pos="100000">
                <a:schemeClr val="accent1">
                  <a:lumMod val="40000"/>
                  <a:lumOff val="60000"/>
                  <a:alpha val="16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2" name="正方形/長方形 71">
            <a:extLst>
              <a:ext uri="{FF2B5EF4-FFF2-40B4-BE49-F238E27FC236}">
                <a16:creationId xmlns:a16="http://schemas.microsoft.com/office/drawing/2014/main" id="{EB9A5047-E824-A278-1DE7-38BCB5F653E4}"/>
              </a:ext>
            </a:extLst>
          </p:cNvPr>
          <p:cNvSpPr/>
          <p:nvPr/>
        </p:nvSpPr>
        <p:spPr>
          <a:xfrm>
            <a:off x="2835604" y="2013850"/>
            <a:ext cx="1706880" cy="338514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その他動線</a:t>
            </a:r>
            <a:endParaRPr kumimoji="1" lang="ja-JP" altLang="en-US" sz="1050" b="1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grpSp>
        <p:nvGrpSpPr>
          <p:cNvPr id="18" name="グループ化 17">
            <a:extLst>
              <a:ext uri="{FF2B5EF4-FFF2-40B4-BE49-F238E27FC236}">
                <a16:creationId xmlns:a16="http://schemas.microsoft.com/office/drawing/2014/main" id="{D0BB931D-9C48-0F74-78B7-B39FB7567FB3}"/>
              </a:ext>
            </a:extLst>
          </p:cNvPr>
          <p:cNvGrpSpPr/>
          <p:nvPr/>
        </p:nvGrpSpPr>
        <p:grpSpPr>
          <a:xfrm>
            <a:off x="2497445" y="1791214"/>
            <a:ext cx="885030" cy="827297"/>
            <a:chOff x="2497445" y="1791214"/>
            <a:chExt cx="885030" cy="827297"/>
          </a:xfrm>
        </p:grpSpPr>
        <p:pic>
          <p:nvPicPr>
            <p:cNvPr id="73" name="図 72">
              <a:extLst>
                <a:ext uri="{FF2B5EF4-FFF2-40B4-BE49-F238E27FC236}">
                  <a16:creationId xmlns:a16="http://schemas.microsoft.com/office/drawing/2014/main" id="{95316F7A-1FC1-3A66-5456-79F5F636388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497445" y="1791214"/>
              <a:ext cx="420559" cy="556499"/>
            </a:xfrm>
            <a:prstGeom prst="rect">
              <a:avLst/>
            </a:prstGeom>
          </p:spPr>
        </p:pic>
        <p:pic>
          <p:nvPicPr>
            <p:cNvPr id="74" name="図 73" descr="生活・その他】SNSとスマホのかわいいフリーイラスト | フタバのフリーイラスト">
              <a:extLst>
                <a:ext uri="{FF2B5EF4-FFF2-40B4-BE49-F238E27FC236}">
                  <a16:creationId xmlns:a16="http://schemas.microsoft.com/office/drawing/2014/main" id="{425A3C52-3D63-0CC5-2649-471F74876F0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610493" y="1846529"/>
              <a:ext cx="771982" cy="771982"/>
            </a:xfrm>
            <a:prstGeom prst="rect">
              <a:avLst/>
            </a:prstGeom>
          </p:spPr>
        </p:pic>
      </p:grpSp>
      <p:sp>
        <p:nvSpPr>
          <p:cNvPr id="76" name="テキスト ボックス 75">
            <a:extLst>
              <a:ext uri="{FF2B5EF4-FFF2-40B4-BE49-F238E27FC236}">
                <a16:creationId xmlns:a16="http://schemas.microsoft.com/office/drawing/2014/main" id="{A26D9D0D-8E50-52D9-7E65-8B19393671D2}"/>
              </a:ext>
            </a:extLst>
          </p:cNvPr>
          <p:cNvSpPr txBox="1"/>
          <p:nvPr/>
        </p:nvSpPr>
        <p:spPr>
          <a:xfrm>
            <a:off x="4820619" y="2013850"/>
            <a:ext cx="2466126" cy="861774"/>
          </a:xfrm>
          <a:prstGeom prst="rect">
            <a:avLst/>
          </a:prstGeom>
          <a:solidFill>
            <a:schemeClr val="bg1">
              <a:alpha val="2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◯LINE友だち追加のメリットを提示</a:t>
            </a:r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✓新着のお知らせ　✓条件に合う求人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endParaRPr lang="en-US" altLang="ja-JP" sz="1000" dirty="0"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◯LINEでのやり取りへご案内</a:t>
            </a:r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✓</a:t>
            </a:r>
            <a:r>
              <a:rPr lang="en-US" altLang="ja-JP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LINEで条件確認</a:t>
            </a:r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　✓</a:t>
            </a:r>
            <a:r>
              <a:rPr lang="en-US" altLang="ja-JP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LINE</a:t>
            </a:r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で相談</a:t>
            </a:r>
            <a:endParaRPr lang="ja-JP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7" name="テキスト ボックス 76">
            <a:extLst>
              <a:ext uri="{FF2B5EF4-FFF2-40B4-BE49-F238E27FC236}">
                <a16:creationId xmlns:a16="http://schemas.microsoft.com/office/drawing/2014/main" id="{CFFD44FF-E632-A42A-AFD2-C978D5EB4382}"/>
              </a:ext>
            </a:extLst>
          </p:cNvPr>
          <p:cNvSpPr txBox="1"/>
          <p:nvPr/>
        </p:nvSpPr>
        <p:spPr>
          <a:xfrm>
            <a:off x="7498219" y="2013850"/>
            <a:ext cx="1852837" cy="861774"/>
          </a:xfrm>
          <a:prstGeom prst="rect">
            <a:avLst/>
          </a:prstGeom>
          <a:solidFill>
            <a:schemeClr val="bg1">
              <a:alpha val="2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◯LINEで関係を深める</a:t>
            </a:r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✓アンケート回答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endParaRPr lang="en-US" altLang="ja-JP" sz="1000" dirty="0"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◯LINEで希望条件を伺う</a:t>
            </a:r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✓合う求人のご案内</a:t>
            </a:r>
            <a:endParaRPr lang="ja-JP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8" name="テキスト ボックス 77">
            <a:extLst>
              <a:ext uri="{FF2B5EF4-FFF2-40B4-BE49-F238E27FC236}">
                <a16:creationId xmlns:a16="http://schemas.microsoft.com/office/drawing/2014/main" id="{2A92B9D2-AE81-B8F1-2775-9BABDBB2FB72}"/>
              </a:ext>
            </a:extLst>
          </p:cNvPr>
          <p:cNvSpPr txBox="1"/>
          <p:nvPr/>
        </p:nvSpPr>
        <p:spPr>
          <a:xfrm>
            <a:off x="4820619" y="3575596"/>
            <a:ext cx="2466126" cy="1015663"/>
          </a:xfrm>
          <a:prstGeom prst="rect">
            <a:avLst/>
          </a:prstGeom>
          <a:solidFill>
            <a:schemeClr val="bg1">
              <a:alpha val="2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◯企画配信（毎月）</a:t>
            </a:r>
            <a:endParaRPr lang="en-US" altLang="ja-JP" sz="1000" b="1" dirty="0">
              <a:solidFill>
                <a:srgbClr val="1E276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✓季節・時期に合わせた求人特集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働き方の悩み→お役立ち情報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アンケートの回答→合う求人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</p:txBody>
      </p:sp>
      <p:sp>
        <p:nvSpPr>
          <p:cNvPr id="79" name="テキスト ボックス 78">
            <a:extLst>
              <a:ext uri="{FF2B5EF4-FFF2-40B4-BE49-F238E27FC236}">
                <a16:creationId xmlns:a16="http://schemas.microsoft.com/office/drawing/2014/main" id="{3F5D2439-D550-34BB-53D6-091E9B32BF3C}"/>
              </a:ext>
            </a:extLst>
          </p:cNvPr>
          <p:cNvSpPr txBox="1"/>
          <p:nvPr/>
        </p:nvSpPr>
        <p:spPr>
          <a:xfrm>
            <a:off x="7303671" y="3575596"/>
            <a:ext cx="2241933" cy="954107"/>
          </a:xfrm>
          <a:prstGeom prst="rect">
            <a:avLst/>
          </a:prstGeom>
          <a:solidFill>
            <a:schemeClr val="bg1">
              <a:alpha val="2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◯ステップ配信</a:t>
            </a:r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✓追加から14日間の自動配信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（前後検索の順番に沿う）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endParaRPr lang="en-US" altLang="ja-JP" sz="600" dirty="0"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✓応募に進む導線設計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r>
              <a:rPr lang="en-US" altLang="ja-JP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（興味→共感→信頼→応募）</a:t>
            </a:r>
          </a:p>
        </p:txBody>
      </p:sp>
      <p:sp>
        <p:nvSpPr>
          <p:cNvPr id="82" name="テキスト ボックス 81">
            <a:extLst>
              <a:ext uri="{FF2B5EF4-FFF2-40B4-BE49-F238E27FC236}">
                <a16:creationId xmlns:a16="http://schemas.microsoft.com/office/drawing/2014/main" id="{F966D387-7E84-4F68-9C81-89F870210C79}"/>
              </a:ext>
            </a:extLst>
          </p:cNvPr>
          <p:cNvSpPr txBox="1"/>
          <p:nvPr/>
        </p:nvSpPr>
        <p:spPr>
          <a:xfrm>
            <a:off x="2518451" y="3575596"/>
            <a:ext cx="2360837" cy="1015663"/>
          </a:xfrm>
          <a:prstGeom prst="rect">
            <a:avLst/>
          </a:prstGeom>
          <a:solidFill>
            <a:schemeClr val="bg1">
              <a:alpha val="2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◯あいさつメッセージ</a:t>
            </a:r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◯アンケート</a:t>
            </a:r>
            <a:r>
              <a:rPr lang="en-US" altLang="ja-JP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/</a:t>
            </a:r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情報収集</a:t>
            </a:r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r>
              <a:rPr lang="ja-JP" altLang="en-US" sz="1000" b="1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配信セグメントに活用</a:t>
            </a:r>
            <a:endParaRPr lang="en-US" altLang="ja-JP" sz="1000" b="1" dirty="0">
              <a:solidFill>
                <a:srgbClr val="1E276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◯プロフィール・リッチメニュー</a:t>
            </a:r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</p:txBody>
      </p:sp>
      <p:sp>
        <p:nvSpPr>
          <p:cNvPr id="83" name="テキスト ボックス 82">
            <a:extLst>
              <a:ext uri="{FF2B5EF4-FFF2-40B4-BE49-F238E27FC236}">
                <a16:creationId xmlns:a16="http://schemas.microsoft.com/office/drawing/2014/main" id="{DCCA9A41-7AF8-A7E5-C05D-3CCE4D53D056}"/>
              </a:ext>
            </a:extLst>
          </p:cNvPr>
          <p:cNvSpPr txBox="1"/>
          <p:nvPr/>
        </p:nvSpPr>
        <p:spPr>
          <a:xfrm>
            <a:off x="7493762" y="5192489"/>
            <a:ext cx="1852837" cy="969496"/>
          </a:xfrm>
          <a:prstGeom prst="rect">
            <a:avLst/>
          </a:prstGeom>
          <a:solidFill>
            <a:schemeClr val="bg1">
              <a:alpha val="2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◯応募後のフォロー</a:t>
            </a:r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✓よくある質問の自動化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✓チャット定型文の作成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endParaRPr lang="en-US" altLang="ja-JP" sz="7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◯友だち紹介</a:t>
            </a:r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✓紹介特典のご案内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</p:txBody>
      </p:sp>
      <p:sp>
        <p:nvSpPr>
          <p:cNvPr id="84" name="テキスト ボックス 83">
            <a:extLst>
              <a:ext uri="{FF2B5EF4-FFF2-40B4-BE49-F238E27FC236}">
                <a16:creationId xmlns:a16="http://schemas.microsoft.com/office/drawing/2014/main" id="{51666C25-34AB-775A-D360-970178A01029}"/>
              </a:ext>
            </a:extLst>
          </p:cNvPr>
          <p:cNvSpPr txBox="1"/>
          <p:nvPr/>
        </p:nvSpPr>
        <p:spPr>
          <a:xfrm>
            <a:off x="5015076" y="5197869"/>
            <a:ext cx="2038121" cy="861774"/>
          </a:xfrm>
          <a:prstGeom prst="rect">
            <a:avLst/>
          </a:prstGeom>
          <a:solidFill>
            <a:schemeClr val="bg1">
              <a:alpha val="2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◯応募済みの方</a:t>
            </a:r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✓応答メッセージで不安を解消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◯再応募・次の仕事の案内</a:t>
            </a:r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✓満了の時期・近い職種を設定</a:t>
            </a:r>
            <a:endParaRPr lang="en-US" altLang="ja-JP" sz="1000" dirty="0">
              <a:solidFill>
                <a:schemeClr val="bg1">
                  <a:lumMod val="6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</p:txBody>
      </p:sp>
      <p:sp>
        <p:nvSpPr>
          <p:cNvPr id="85" name="テキスト ボックス 84">
            <a:extLst>
              <a:ext uri="{FF2B5EF4-FFF2-40B4-BE49-F238E27FC236}">
                <a16:creationId xmlns:a16="http://schemas.microsoft.com/office/drawing/2014/main" id="{E36E01A8-5E8D-6868-5242-258854A6C11E}"/>
              </a:ext>
            </a:extLst>
          </p:cNvPr>
          <p:cNvSpPr txBox="1"/>
          <p:nvPr/>
        </p:nvSpPr>
        <p:spPr>
          <a:xfrm>
            <a:off x="2577903" y="5197869"/>
            <a:ext cx="2241933" cy="954107"/>
          </a:xfrm>
          <a:prstGeom prst="rect">
            <a:avLst/>
          </a:prstGeom>
          <a:solidFill>
            <a:schemeClr val="bg1">
              <a:alpha val="2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◯希望条件の再確認</a:t>
            </a: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✓反応が止まった方に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希望条件を改めて伺う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endParaRPr lang="en-US" altLang="ja-JP" sz="6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◯求人の再案内</a:t>
            </a:r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✓条件に合う新着を再案内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</p:txBody>
      </p:sp>
      <p:sp>
        <p:nvSpPr>
          <p:cNvPr id="8" name="矢印: 下 7">
            <a:extLst>
              <a:ext uri="{FF2B5EF4-FFF2-40B4-BE49-F238E27FC236}">
                <a16:creationId xmlns:a16="http://schemas.microsoft.com/office/drawing/2014/main" id="{BE6FB710-6D0D-A062-5DC4-E7437CE5BDE1}"/>
              </a:ext>
            </a:extLst>
          </p:cNvPr>
          <p:cNvSpPr/>
          <p:nvPr/>
        </p:nvSpPr>
        <p:spPr>
          <a:xfrm>
            <a:off x="8045609" y="1409403"/>
            <a:ext cx="871728" cy="395993"/>
          </a:xfrm>
          <a:prstGeom prst="downArrow">
            <a:avLst/>
          </a:prstGeom>
          <a:gradFill>
            <a:gsLst>
              <a:gs pos="4000">
                <a:schemeClr val="bg1"/>
              </a:gs>
              <a:gs pos="100000">
                <a:srgbClr val="8A95B5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矢印: 下 9">
            <a:extLst>
              <a:ext uri="{FF2B5EF4-FFF2-40B4-BE49-F238E27FC236}">
                <a16:creationId xmlns:a16="http://schemas.microsoft.com/office/drawing/2014/main" id="{92FDFDEB-CB5F-8A45-29AB-C10FC6580A7C}"/>
              </a:ext>
            </a:extLst>
          </p:cNvPr>
          <p:cNvSpPr/>
          <p:nvPr/>
        </p:nvSpPr>
        <p:spPr>
          <a:xfrm>
            <a:off x="8919666" y="1412851"/>
            <a:ext cx="871728" cy="395993"/>
          </a:xfrm>
          <a:prstGeom prst="downArrow">
            <a:avLst/>
          </a:prstGeom>
          <a:gradFill>
            <a:gsLst>
              <a:gs pos="4000">
                <a:schemeClr val="bg1"/>
              </a:gs>
              <a:gs pos="100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矢印: 下 10">
            <a:extLst>
              <a:ext uri="{FF2B5EF4-FFF2-40B4-BE49-F238E27FC236}">
                <a16:creationId xmlns:a16="http://schemas.microsoft.com/office/drawing/2014/main" id="{218212FE-3645-DB9F-3397-0748130F1AF8}"/>
              </a:ext>
            </a:extLst>
          </p:cNvPr>
          <p:cNvSpPr/>
          <p:nvPr/>
        </p:nvSpPr>
        <p:spPr>
          <a:xfrm>
            <a:off x="7180483" y="1412851"/>
            <a:ext cx="871728" cy="395993"/>
          </a:xfrm>
          <a:prstGeom prst="downArrow">
            <a:avLst/>
          </a:prstGeom>
          <a:gradFill>
            <a:gsLst>
              <a:gs pos="4000">
                <a:schemeClr val="bg1"/>
              </a:gs>
              <a:gs pos="100000">
                <a:schemeClr val="accent1">
                  <a:lumMod val="40000"/>
                  <a:lumOff val="60000"/>
                  <a:alpha val="16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2D2D0860-25E1-93CE-4600-A1274BD77509}"/>
              </a:ext>
            </a:extLst>
          </p:cNvPr>
          <p:cNvSpPr txBox="1"/>
          <p:nvPr/>
        </p:nvSpPr>
        <p:spPr>
          <a:xfrm>
            <a:off x="7180483" y="1445284"/>
            <a:ext cx="8717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企画</a:t>
            </a:r>
            <a:endParaRPr lang="en-US" altLang="ja-JP" sz="800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配信</a:t>
            </a:r>
            <a:endParaRPr lang="ja-JP" altLang="en-US" sz="800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A87B802C-245D-9C6E-1C33-7190F3073124}"/>
              </a:ext>
            </a:extLst>
          </p:cNvPr>
          <p:cNvSpPr txBox="1"/>
          <p:nvPr/>
        </p:nvSpPr>
        <p:spPr>
          <a:xfrm>
            <a:off x="8050075" y="1452197"/>
            <a:ext cx="8717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ステップ</a:t>
            </a:r>
            <a:endParaRPr lang="en-US" altLang="ja-JP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配信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D775BACA-B985-5029-1E70-8D28879E88EC}"/>
              </a:ext>
            </a:extLst>
          </p:cNvPr>
          <p:cNvSpPr txBox="1"/>
          <p:nvPr/>
        </p:nvSpPr>
        <p:spPr>
          <a:xfrm>
            <a:off x="8910735" y="1438122"/>
            <a:ext cx="8717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貴社の対応</a:t>
            </a:r>
            <a:endParaRPr lang="en-US" altLang="ja-JP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を軽減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B0439D32-FABC-CA34-F07C-587F509AEF1D}"/>
              </a:ext>
            </a:extLst>
          </p:cNvPr>
          <p:cNvSpPr/>
          <p:nvPr/>
        </p:nvSpPr>
        <p:spPr>
          <a:xfrm>
            <a:off x="7116723" y="1367434"/>
            <a:ext cx="2725750" cy="483252"/>
          </a:xfrm>
          <a:prstGeom prst="rect">
            <a:avLst/>
          </a:prstGeom>
          <a:noFill/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0" name="コネクタ: カギ線 19">
            <a:extLst>
              <a:ext uri="{FF2B5EF4-FFF2-40B4-BE49-F238E27FC236}">
                <a16:creationId xmlns:a16="http://schemas.microsoft.com/office/drawing/2014/main" id="{B6880BFB-9CE8-682D-5E73-400E7A9D4984}"/>
              </a:ext>
            </a:extLst>
          </p:cNvPr>
          <p:cNvCxnSpPr>
            <a:cxnSpLocks/>
            <a:stCxn id="74" idx="2"/>
            <a:endCxn id="25" idx="0"/>
          </p:cNvCxnSpPr>
          <p:nvPr/>
        </p:nvCxnSpPr>
        <p:spPr>
          <a:xfrm rot="5400000">
            <a:off x="1884437" y="2550716"/>
            <a:ext cx="1044252" cy="1179842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コネクタ: カギ線 26">
            <a:extLst>
              <a:ext uri="{FF2B5EF4-FFF2-40B4-BE49-F238E27FC236}">
                <a16:creationId xmlns:a16="http://schemas.microsoft.com/office/drawing/2014/main" id="{EF07FDA7-6FC7-C204-99A4-DB47A6724969}"/>
              </a:ext>
            </a:extLst>
          </p:cNvPr>
          <p:cNvCxnSpPr>
            <a:cxnSpLocks/>
            <a:endCxn id="25" idx="0"/>
          </p:cNvCxnSpPr>
          <p:nvPr/>
        </p:nvCxnSpPr>
        <p:spPr>
          <a:xfrm rot="16200000" flipH="1">
            <a:off x="693395" y="2539516"/>
            <a:ext cx="1138050" cy="1108444"/>
          </a:xfrm>
          <a:prstGeom prst="bentConnector3">
            <a:avLst>
              <a:gd name="adj1" fmla="val 54185"/>
            </a:avLst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矢印コネクタ 36">
            <a:extLst>
              <a:ext uri="{FF2B5EF4-FFF2-40B4-BE49-F238E27FC236}">
                <a16:creationId xmlns:a16="http://schemas.microsoft.com/office/drawing/2014/main" id="{B79B5748-0A9B-B2A8-36EE-9B6743393A50}"/>
              </a:ext>
            </a:extLst>
          </p:cNvPr>
          <p:cNvCxnSpPr>
            <a:stCxn id="25" idx="2"/>
            <a:endCxn id="46" idx="0"/>
          </p:cNvCxnSpPr>
          <p:nvPr/>
        </p:nvCxnSpPr>
        <p:spPr>
          <a:xfrm>
            <a:off x="1816642" y="4001277"/>
            <a:ext cx="0" cy="1304334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8656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E6EC7-8BED-7DDA-23DD-316D74FFB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52;p28">
            <a:extLst>
              <a:ext uri="{FF2B5EF4-FFF2-40B4-BE49-F238E27FC236}">
                <a16:creationId xmlns:a16="http://schemas.microsoft.com/office/drawing/2014/main" id="{25B1FD88-3B25-D76E-99D7-CDD7E800E787}"/>
              </a:ext>
            </a:extLst>
          </p:cNvPr>
          <p:cNvSpPr txBox="1"/>
          <p:nvPr/>
        </p:nvSpPr>
        <p:spPr>
          <a:xfrm>
            <a:off x="547200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［第3章］構築｜施策展開図（初期・月次）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709B81B2-1251-DE55-B4B3-220553E132F8}"/>
              </a:ext>
            </a:extLst>
          </p:cNvPr>
          <p:cNvSpPr/>
          <p:nvPr/>
        </p:nvSpPr>
        <p:spPr>
          <a:xfrm>
            <a:off x="0" y="777240"/>
            <a:ext cx="1802674" cy="5029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LINEOA</a:t>
            </a:r>
            <a:r>
              <a:rPr kumimoji="1"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施策</a:t>
            </a:r>
          </a:p>
        </p:txBody>
      </p:sp>
      <p:sp>
        <p:nvSpPr>
          <p:cNvPr id="3" name="Google Shape;752;p28">
            <a:extLst>
              <a:ext uri="{FF2B5EF4-FFF2-40B4-BE49-F238E27FC236}">
                <a16:creationId xmlns:a16="http://schemas.microsoft.com/office/drawing/2014/main" id="{1E8D898A-0AF4-2505-8EE3-9F12824F6A59}"/>
              </a:ext>
            </a:extLst>
          </p:cNvPr>
          <p:cNvSpPr txBox="1"/>
          <p:nvPr/>
        </p:nvSpPr>
        <p:spPr>
          <a:xfrm>
            <a:off x="1988819" y="859442"/>
            <a:ext cx="777430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r>
              <a:rPr lang="en-US" altLang="ja-JP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「新しい友だちの追加」と「友だちを応募につなげる動線」の2つが重要。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011C5FFF-B61A-EB8E-326E-072A0E269233}"/>
              </a:ext>
            </a:extLst>
          </p:cNvPr>
          <p:cNvSpPr/>
          <p:nvPr/>
        </p:nvSpPr>
        <p:spPr>
          <a:xfrm>
            <a:off x="3587358" y="1747110"/>
            <a:ext cx="860817" cy="143296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3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初期</a:t>
            </a:r>
            <a:endParaRPr kumimoji="1" lang="en-US" altLang="ja-JP" sz="13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13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（初動）</a:t>
            </a:r>
            <a:endParaRPr kumimoji="1" lang="ja-JP" altLang="en-US" sz="13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41F32D58-29FF-60A6-17B5-A41ACCBE9449}"/>
              </a:ext>
            </a:extLst>
          </p:cNvPr>
          <p:cNvSpPr/>
          <p:nvPr/>
        </p:nvSpPr>
        <p:spPr>
          <a:xfrm>
            <a:off x="3587358" y="3321847"/>
            <a:ext cx="860817" cy="292127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3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月次</a:t>
            </a:r>
            <a:endParaRPr kumimoji="1" lang="en-US" altLang="ja-JP" sz="13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13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（定例）</a:t>
            </a:r>
            <a:endParaRPr kumimoji="1" lang="ja-JP" altLang="en-US" sz="13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22EC6943-AA14-49EA-30CF-5D813BA45BFD}"/>
              </a:ext>
            </a:extLst>
          </p:cNvPr>
          <p:cNvSpPr/>
          <p:nvPr/>
        </p:nvSpPr>
        <p:spPr>
          <a:xfrm>
            <a:off x="336942" y="1729383"/>
            <a:ext cx="2444358" cy="860956"/>
          </a:xfrm>
          <a:prstGeom prst="roundRect">
            <a:avLst>
              <a:gd name="adj" fmla="val 5478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離脱防止・ポップアップ</a:t>
            </a:r>
            <a:endParaRPr kumimoji="1" lang="en-US" altLang="ja-JP" sz="13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endParaRPr kumimoji="1" lang="en-US" altLang="ja-JP" sz="1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en-US" altLang="ja-JP" sz="11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HP・LPで、条件を満たすと</a:t>
            </a:r>
          </a:p>
          <a:p>
            <a:pPr algn="ctr"/>
            <a:r>
              <a:rPr lang="ja-JP" altLang="en-US" sz="11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ポップアップバナーを表示する</a:t>
            </a:r>
            <a:endParaRPr lang="en-US" altLang="ja-JP" sz="1100" dirty="0">
              <a:solidFill>
                <a:schemeClr val="bg1">
                  <a:lumMod val="6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3436AF3F-C2E7-3494-0B01-4BC00578C5FF}"/>
              </a:ext>
            </a:extLst>
          </p:cNvPr>
          <p:cNvSpPr/>
          <p:nvPr/>
        </p:nvSpPr>
        <p:spPr>
          <a:xfrm>
            <a:off x="336942" y="2642195"/>
            <a:ext cx="2444358" cy="860956"/>
          </a:xfrm>
          <a:prstGeom prst="roundRect">
            <a:avLst>
              <a:gd name="adj" fmla="val 5478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通知メッセージ</a:t>
            </a:r>
            <a:endParaRPr kumimoji="1" lang="en-US" altLang="ja-JP" sz="14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endParaRPr kumimoji="1" lang="en-US" altLang="ja-JP" sz="1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12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ユーザーの行動に応じて</a:t>
            </a:r>
            <a:endParaRPr lang="en-US" altLang="ja-JP" sz="1200" dirty="0">
              <a:solidFill>
                <a:schemeClr val="bg1">
                  <a:lumMod val="6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en-US" altLang="ja-JP" sz="12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API連携でメッセージを送る</a:t>
            </a: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6B8D9E5A-638C-EACC-4E99-235D769FBAB5}"/>
              </a:ext>
            </a:extLst>
          </p:cNvPr>
          <p:cNvSpPr/>
          <p:nvPr/>
        </p:nvSpPr>
        <p:spPr>
          <a:xfrm>
            <a:off x="336942" y="3555007"/>
            <a:ext cx="2444358" cy="860956"/>
          </a:xfrm>
          <a:prstGeom prst="roundRect">
            <a:avLst>
              <a:gd name="adj" fmla="val 5478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サンクス</a:t>
            </a:r>
            <a:r>
              <a:rPr kumimoji="1" lang="en-US" altLang="ja-JP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kumimoji="1"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誘導ツール</a:t>
            </a:r>
            <a:endParaRPr kumimoji="1" lang="en-US" altLang="ja-JP" sz="1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endParaRPr kumimoji="1" lang="en-US" altLang="ja-JP" sz="1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en-US" altLang="ja-JP" sz="105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Webサイトの応募完了ページから</a:t>
            </a:r>
          </a:p>
          <a:p>
            <a:pPr algn="ctr"/>
            <a:r>
              <a:rPr lang="ja-JP" altLang="en-US" sz="105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入力情報を引き継ぎ</a:t>
            </a:r>
            <a:r>
              <a:rPr lang="en-US" altLang="ja-JP" sz="105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lang="ja-JP" altLang="en-US" sz="105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へ自動遷移</a:t>
            </a:r>
            <a:endParaRPr lang="en-US" altLang="ja-JP" sz="1050" dirty="0">
              <a:solidFill>
                <a:schemeClr val="bg1">
                  <a:lumMod val="6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340447B4-FBD9-E81D-7902-7B3BF84ED83A}"/>
              </a:ext>
            </a:extLst>
          </p:cNvPr>
          <p:cNvSpPr/>
          <p:nvPr/>
        </p:nvSpPr>
        <p:spPr>
          <a:xfrm>
            <a:off x="336942" y="4458293"/>
            <a:ext cx="2444358" cy="860956"/>
          </a:xfrm>
          <a:prstGeom prst="roundRect">
            <a:avLst>
              <a:gd name="adj" fmla="val 5478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LINEログイン・ID連携など</a:t>
            </a:r>
          </a:p>
          <a:p>
            <a:pPr algn="ctr"/>
            <a:endParaRPr lang="en-US" altLang="ja-JP" sz="1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11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ログインに</a:t>
            </a:r>
            <a:r>
              <a:rPr lang="en-US" altLang="ja-JP" sz="11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lang="ja-JP" altLang="en-US" sz="105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 </a:t>
            </a:r>
            <a:r>
              <a:rPr lang="en-US" altLang="ja-JP" sz="11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ID</a:t>
            </a:r>
            <a:r>
              <a:rPr lang="ja-JP" altLang="en-US" sz="11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を使用</a:t>
            </a:r>
            <a:endParaRPr lang="en-US" altLang="ja-JP" sz="1100" dirty="0">
              <a:solidFill>
                <a:schemeClr val="bg1">
                  <a:lumMod val="6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11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サイトユーザー</a:t>
            </a:r>
            <a:r>
              <a:rPr lang="en-US" altLang="ja-JP" sz="11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ID</a:t>
            </a:r>
            <a:r>
              <a:rPr lang="ja-JP" altLang="en-US" sz="11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と</a:t>
            </a:r>
            <a:r>
              <a:rPr lang="en-US" altLang="ja-JP" sz="11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LINEID</a:t>
            </a:r>
            <a:r>
              <a:rPr lang="ja-JP" altLang="en-US" sz="11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を連携</a:t>
            </a:r>
            <a:endParaRPr kumimoji="1" lang="ja-JP" altLang="en-US" sz="11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BD6C1FC9-285C-AE02-A175-C7061E1A753F}"/>
              </a:ext>
            </a:extLst>
          </p:cNvPr>
          <p:cNvSpPr/>
          <p:nvPr/>
        </p:nvSpPr>
        <p:spPr>
          <a:xfrm>
            <a:off x="336942" y="5361315"/>
            <a:ext cx="2444358" cy="432333"/>
          </a:xfrm>
          <a:prstGeom prst="roundRect">
            <a:avLst>
              <a:gd name="adj" fmla="val 5478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 </a:t>
            </a:r>
            <a:r>
              <a:rPr lang="en-US" altLang="ja-JP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/ CPF</a:t>
            </a:r>
            <a:r>
              <a:rPr lang="ja-JP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広告</a:t>
            </a:r>
            <a:endParaRPr kumimoji="1" lang="ja-JP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74F6F515-C9A5-F22C-3E1C-CF4380DB9991}"/>
              </a:ext>
            </a:extLst>
          </p:cNvPr>
          <p:cNvSpPr/>
          <p:nvPr/>
        </p:nvSpPr>
        <p:spPr>
          <a:xfrm>
            <a:off x="336942" y="5829843"/>
            <a:ext cx="2444358" cy="432333"/>
          </a:xfrm>
          <a:prstGeom prst="roundRect">
            <a:avLst>
              <a:gd name="adj" fmla="val 5478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スタンプ・ポイント施策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0156D598-0831-CD8B-6A89-EE3DAF51A5E9}"/>
              </a:ext>
            </a:extLst>
          </p:cNvPr>
          <p:cNvSpPr/>
          <p:nvPr/>
        </p:nvSpPr>
        <p:spPr>
          <a:xfrm>
            <a:off x="4482711" y="1756635"/>
            <a:ext cx="3233084" cy="143296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・リッチメニュー</a:t>
            </a:r>
            <a:endParaRPr kumimoji="1" lang="en-US" altLang="ja-JP" sz="1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・プロフィールからの動線</a:t>
            </a:r>
            <a:endParaRPr lang="en-US" altLang="ja-JP" sz="1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・あいさつメッセージ</a:t>
            </a:r>
          </a:p>
          <a:p>
            <a:r>
              <a:rPr kumimoji="1"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・キーワード自動応答の設定</a:t>
            </a:r>
            <a:endParaRPr kumimoji="1" lang="en-US" altLang="ja-JP" sz="1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・友だち登録直後アンケート</a:t>
            </a:r>
            <a:endParaRPr lang="en-US" altLang="ja-JP" sz="1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・再アンケート</a:t>
            </a:r>
            <a:endParaRPr lang="en-US" altLang="ja-JP" sz="1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・ステップ配信：応募などの後、決まった日数で自動配信</a:t>
            </a:r>
            <a:endParaRPr kumimoji="1" lang="ja-JP" altLang="en-US" sz="900" dirty="0">
              <a:solidFill>
                <a:schemeClr val="bg1">
                  <a:lumMod val="6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24F01906-5193-F098-3B58-BDCC26D568EA}"/>
              </a:ext>
            </a:extLst>
          </p:cNvPr>
          <p:cNvSpPr/>
          <p:nvPr/>
        </p:nvSpPr>
        <p:spPr>
          <a:xfrm>
            <a:off x="4482711" y="3331372"/>
            <a:ext cx="3233084" cy="29212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[新規] → 毎月の配信</a:t>
            </a:r>
            <a:endParaRPr lang="en-US" altLang="ja-JP" sz="1200" b="1" dirty="0">
              <a:solidFill>
                <a:srgbClr val="1E276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・イベント配信</a:t>
            </a:r>
            <a:endParaRPr lang="en-US" altLang="ja-JP" sz="1200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・新着求人の案内</a:t>
            </a:r>
            <a:endParaRPr lang="en-US" altLang="ja-JP" sz="1200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・企画配信（特定ターゲット）</a:t>
            </a:r>
            <a:endParaRPr lang="en-US" altLang="ja-JP" sz="1200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・希望条件の再確認</a:t>
            </a:r>
            <a:endParaRPr lang="en-US" altLang="ja-JP" sz="1200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・お役立ちコラム・コンテンツ配信</a:t>
            </a:r>
            <a:endParaRPr lang="en-US" altLang="ja-JP" sz="1200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・季節・時事に合わせた配信</a:t>
            </a:r>
            <a:endParaRPr lang="en-US" altLang="ja-JP" sz="1200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︙</a:t>
            </a:r>
          </a:p>
          <a:p>
            <a:endParaRPr lang="en-US" altLang="ja-JP" sz="1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[</a:t>
            </a:r>
            <a:r>
              <a:rPr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調整</a:t>
            </a:r>
            <a:r>
              <a:rPr lang="en-US" altLang="ja-JP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]</a:t>
            </a:r>
          </a:p>
          <a:p>
            <a:r>
              <a:rPr lang="ja-JP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・アンケート</a:t>
            </a:r>
            <a:endParaRPr lang="en-US" altLang="ja-JP" sz="1200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・自動応答</a:t>
            </a:r>
            <a:endParaRPr lang="en-US" altLang="ja-JP" sz="1200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・よくある質問</a:t>
            </a:r>
            <a:endParaRPr lang="en-US" altLang="ja-JP" sz="1200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・リッチメニュー</a:t>
            </a:r>
            <a:endParaRPr lang="en-US" altLang="ja-JP" sz="1200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・ステップ配信</a:t>
            </a:r>
          </a:p>
        </p:txBody>
      </p:sp>
      <p:sp>
        <p:nvSpPr>
          <p:cNvPr id="19" name="左大かっこ 18">
            <a:extLst>
              <a:ext uri="{FF2B5EF4-FFF2-40B4-BE49-F238E27FC236}">
                <a16:creationId xmlns:a16="http://schemas.microsoft.com/office/drawing/2014/main" id="{B9FF3DCE-9B05-09FE-7C2F-B104CD0105BE}"/>
              </a:ext>
            </a:extLst>
          </p:cNvPr>
          <p:cNvSpPr/>
          <p:nvPr/>
        </p:nvSpPr>
        <p:spPr>
          <a:xfrm>
            <a:off x="3210542" y="1800836"/>
            <a:ext cx="215932" cy="4398089"/>
          </a:xfrm>
          <a:prstGeom prst="leftBracket">
            <a:avLst/>
          </a:prstGeom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左大かっこ 23">
            <a:extLst>
              <a:ext uri="{FF2B5EF4-FFF2-40B4-BE49-F238E27FC236}">
                <a16:creationId xmlns:a16="http://schemas.microsoft.com/office/drawing/2014/main" id="{61357E78-5BD2-BBD8-1F18-B1985600E22B}"/>
              </a:ext>
            </a:extLst>
          </p:cNvPr>
          <p:cNvSpPr/>
          <p:nvPr/>
        </p:nvSpPr>
        <p:spPr>
          <a:xfrm flipH="1">
            <a:off x="2892035" y="1756635"/>
            <a:ext cx="215932" cy="4486491"/>
          </a:xfrm>
          <a:prstGeom prst="leftBracket">
            <a:avLst/>
          </a:prstGeom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6" name="図 25">
            <a:extLst>
              <a:ext uri="{FF2B5EF4-FFF2-40B4-BE49-F238E27FC236}">
                <a16:creationId xmlns:a16="http://schemas.microsoft.com/office/drawing/2014/main" id="{56E6CFC0-FB45-E508-C7ED-E0F29C95F3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2090" y="2173993"/>
            <a:ext cx="582602" cy="543237"/>
          </a:xfrm>
          <a:prstGeom prst="rect">
            <a:avLst/>
          </a:prstGeom>
        </p:spPr>
      </p:pic>
      <p:cxnSp>
        <p:nvCxnSpPr>
          <p:cNvPr id="27" name="直線矢印コネクタ 26">
            <a:extLst>
              <a:ext uri="{FF2B5EF4-FFF2-40B4-BE49-F238E27FC236}">
                <a16:creationId xmlns:a16="http://schemas.microsoft.com/office/drawing/2014/main" id="{38D782E3-91EF-D26A-1906-21A51865A939}"/>
              </a:ext>
            </a:extLst>
          </p:cNvPr>
          <p:cNvCxnSpPr>
            <a:cxnSpLocks/>
          </p:cNvCxnSpPr>
          <p:nvPr/>
        </p:nvCxnSpPr>
        <p:spPr>
          <a:xfrm>
            <a:off x="231756" y="1521490"/>
            <a:ext cx="2654192" cy="0"/>
          </a:xfrm>
          <a:prstGeom prst="straightConnector1">
            <a:avLst/>
          </a:prstGeom>
          <a:ln w="28575">
            <a:solidFill>
              <a:srgbClr val="1E2761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39D8C8E0-0854-5217-A7F3-DBD2104BDFAF}"/>
              </a:ext>
            </a:extLst>
          </p:cNvPr>
          <p:cNvSpPr txBox="1"/>
          <p:nvPr/>
        </p:nvSpPr>
        <p:spPr>
          <a:xfrm>
            <a:off x="857833" y="1390138"/>
            <a:ext cx="1306788" cy="2616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友だちの新規追加</a:t>
            </a:r>
            <a:endParaRPr lang="ja-JP" altLang="en-US" sz="1100" dirty="0"/>
          </a:p>
        </p:txBody>
      </p:sp>
      <p:cxnSp>
        <p:nvCxnSpPr>
          <p:cNvPr id="29" name="直線矢印コネクタ 28">
            <a:extLst>
              <a:ext uri="{FF2B5EF4-FFF2-40B4-BE49-F238E27FC236}">
                <a16:creationId xmlns:a16="http://schemas.microsoft.com/office/drawing/2014/main" id="{745F1B07-4D2C-4794-DAEA-D76D3E0CA8CF}"/>
              </a:ext>
            </a:extLst>
          </p:cNvPr>
          <p:cNvCxnSpPr>
            <a:cxnSpLocks/>
          </p:cNvCxnSpPr>
          <p:nvPr/>
        </p:nvCxnSpPr>
        <p:spPr>
          <a:xfrm>
            <a:off x="3248447" y="1521490"/>
            <a:ext cx="6173147" cy="0"/>
          </a:xfrm>
          <a:prstGeom prst="straightConnector1">
            <a:avLst/>
          </a:prstGeom>
          <a:ln w="28575">
            <a:solidFill>
              <a:srgbClr val="1E2761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D5E48196-7DAD-4F3E-ADDE-E36FAC475508}"/>
              </a:ext>
            </a:extLst>
          </p:cNvPr>
          <p:cNvSpPr txBox="1"/>
          <p:nvPr/>
        </p:nvSpPr>
        <p:spPr>
          <a:xfrm>
            <a:off x="5411256" y="1390138"/>
            <a:ext cx="1913269" cy="2616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ja-JP" sz="11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友だちを応募につなげる</a:t>
            </a:r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4EA6E8F1-E33D-1FB9-E4AA-6AD1A2F6B651}"/>
              </a:ext>
            </a:extLst>
          </p:cNvPr>
          <p:cNvSpPr/>
          <p:nvPr/>
        </p:nvSpPr>
        <p:spPr>
          <a:xfrm>
            <a:off x="7750331" y="1748432"/>
            <a:ext cx="1818728" cy="449469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3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[</a:t>
            </a:r>
            <a:r>
              <a:rPr kumimoji="1" lang="ja-JP" altLang="en-US" sz="13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ターゲット設定</a:t>
            </a:r>
            <a:r>
              <a:rPr lang="en-US" altLang="ja-JP" sz="13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]</a:t>
            </a:r>
          </a:p>
          <a:p>
            <a:endParaRPr kumimoji="1" lang="en-US" altLang="ja-JP" sz="7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endParaRPr kumimoji="1" lang="en-US" altLang="ja-JP" sz="7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en-US" altLang="ja-JP" sz="13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LINEの標準機能</a:t>
            </a:r>
          </a:p>
          <a:p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年齢</a:t>
            </a: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/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性別</a:t>
            </a: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/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地域</a:t>
            </a: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…)</a:t>
            </a:r>
          </a:p>
          <a:p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（表示数・クリック数）</a:t>
            </a:r>
          </a:p>
          <a:p>
            <a:endParaRPr lang="en-US" altLang="ja-JP" sz="7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13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 APIツール ※有料</a:t>
            </a:r>
            <a:endParaRPr lang="en-US" altLang="ja-JP" sz="1100" b="1" dirty="0">
              <a:solidFill>
                <a:srgbClr val="1E276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アンケート結果）</a:t>
            </a:r>
            <a:endParaRPr lang="en-US" altLang="ja-JP" sz="11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(WEB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サイトアクション</a:t>
            </a: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</a:p>
          <a:p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リマインド</a:t>
            </a: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/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再通知</a:t>
            </a: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</a:p>
          <a:p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(ID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連携した情報ベース</a:t>
            </a: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</a:p>
          <a:p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ユーザー一覧を取得</a:t>
            </a: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</a:p>
          <a:p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ユーザー</a:t>
            </a: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ID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アップロード</a:t>
            </a: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</a:p>
          <a:p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（行動のスコア付け）</a:t>
            </a:r>
          </a:p>
          <a:p>
            <a:endParaRPr lang="en-US" altLang="ja-JP" sz="11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endParaRPr lang="en-US" altLang="ja-JP" sz="11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endParaRPr lang="en-US" altLang="ja-JP" sz="11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11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※MA</a:t>
            </a:r>
            <a:r>
              <a:rPr lang="ja-JP" altLang="en-US" sz="11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、</a:t>
            </a:r>
            <a:r>
              <a:rPr lang="en-US" altLang="ja-JP" sz="11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CRM</a:t>
            </a:r>
            <a:r>
              <a:rPr lang="ja-JP" altLang="en-US" sz="11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との連携</a:t>
            </a:r>
            <a:endParaRPr lang="en-US" altLang="ja-JP" sz="1100" b="1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(応募・就業データ)</a:t>
            </a:r>
          </a:p>
          <a:p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ユーザー情報</a:t>
            </a:r>
            <a:r>
              <a:rPr lang="ja-JP" altLang="en-US" sz="9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 </a:t>
            </a: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詳細</a:t>
            </a: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F47CAADD-ECBD-1DCC-19D6-6433C921622E}"/>
              </a:ext>
            </a:extLst>
          </p:cNvPr>
          <p:cNvSpPr txBox="1"/>
          <p:nvPr/>
        </p:nvSpPr>
        <p:spPr>
          <a:xfrm>
            <a:off x="2178040" y="2694449"/>
            <a:ext cx="62602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000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1000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有料</a:t>
            </a:r>
            <a:endParaRPr lang="ja-JP" altLang="en-US" sz="1000" dirty="0"/>
          </a:p>
        </p:txBody>
      </p: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00802062-F552-1DFA-430A-41800E76A220}"/>
              </a:ext>
            </a:extLst>
          </p:cNvPr>
          <p:cNvSpPr txBox="1"/>
          <p:nvPr/>
        </p:nvSpPr>
        <p:spPr>
          <a:xfrm>
            <a:off x="2370382" y="1773237"/>
            <a:ext cx="62602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800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800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有料</a:t>
            </a:r>
            <a:endParaRPr lang="ja-JP" altLang="en-US" sz="800" dirty="0"/>
          </a:p>
        </p:txBody>
      </p: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CDCAB868-C79D-2212-70C3-9EF559F32C21}"/>
              </a:ext>
            </a:extLst>
          </p:cNvPr>
          <p:cNvSpPr txBox="1"/>
          <p:nvPr/>
        </p:nvSpPr>
        <p:spPr>
          <a:xfrm>
            <a:off x="2456844" y="3619396"/>
            <a:ext cx="62602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800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800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有料</a:t>
            </a:r>
            <a:endParaRPr lang="ja-JP" altLang="en-US" sz="800" dirty="0"/>
          </a:p>
        </p:txBody>
      </p: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E2ECFC3F-A285-F105-30CE-9144EBB24A11}"/>
              </a:ext>
            </a:extLst>
          </p:cNvPr>
          <p:cNvSpPr txBox="1"/>
          <p:nvPr/>
        </p:nvSpPr>
        <p:spPr>
          <a:xfrm>
            <a:off x="2518621" y="4576567"/>
            <a:ext cx="62602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800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800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有料</a:t>
            </a:r>
            <a:endParaRPr lang="ja-JP" altLang="en-US" sz="800" dirty="0"/>
          </a:p>
        </p:txBody>
      </p:sp>
      <p:sp>
        <p:nvSpPr>
          <p:cNvPr id="53" name="テキスト ボックス 52">
            <a:extLst>
              <a:ext uri="{FF2B5EF4-FFF2-40B4-BE49-F238E27FC236}">
                <a16:creationId xmlns:a16="http://schemas.microsoft.com/office/drawing/2014/main" id="{39AB193A-8274-ABE1-CD3D-54790C3264F6}"/>
              </a:ext>
            </a:extLst>
          </p:cNvPr>
          <p:cNvSpPr txBox="1"/>
          <p:nvPr/>
        </p:nvSpPr>
        <p:spPr>
          <a:xfrm>
            <a:off x="2210158" y="5478733"/>
            <a:ext cx="62602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000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1000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有料</a:t>
            </a:r>
            <a:endParaRPr lang="ja-JP" altLang="en-US" sz="1000" dirty="0"/>
          </a:p>
        </p:txBody>
      </p: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096A37B9-CA3D-92C9-1405-86C6FFCD8C5A}"/>
              </a:ext>
            </a:extLst>
          </p:cNvPr>
          <p:cNvSpPr txBox="1"/>
          <p:nvPr/>
        </p:nvSpPr>
        <p:spPr>
          <a:xfrm>
            <a:off x="2214724" y="5963211"/>
            <a:ext cx="62602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000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1000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有料</a:t>
            </a:r>
            <a:endParaRPr lang="ja-JP" altLang="en-US" sz="1000" dirty="0"/>
          </a:p>
        </p:txBody>
      </p:sp>
      <p:sp>
        <p:nvSpPr>
          <p:cNvPr id="58" name="テキスト ボックス 57">
            <a:extLst>
              <a:ext uri="{FF2B5EF4-FFF2-40B4-BE49-F238E27FC236}">
                <a16:creationId xmlns:a16="http://schemas.microsoft.com/office/drawing/2014/main" id="{AA71FB07-E583-8196-5077-2EAA10A61A0F}"/>
              </a:ext>
            </a:extLst>
          </p:cNvPr>
          <p:cNvSpPr txBox="1"/>
          <p:nvPr/>
        </p:nvSpPr>
        <p:spPr>
          <a:xfrm>
            <a:off x="285223" y="6291679"/>
            <a:ext cx="254725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ja-JP" altLang="en-US" sz="8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その他：Web動線の整備、プレスリリース等</a:t>
            </a:r>
            <a:endParaRPr lang="ja-JP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3BE3835-FB68-0C7D-7CED-C40A02A19AB2}"/>
              </a:ext>
            </a:extLst>
          </p:cNvPr>
          <p:cNvSpPr txBox="1"/>
          <p:nvPr/>
        </p:nvSpPr>
        <p:spPr>
          <a:xfrm>
            <a:off x="6149585" y="3424747"/>
            <a:ext cx="117493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900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900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数量により変動</a:t>
            </a:r>
            <a:endParaRPr lang="ja-JP" altLang="en-US" sz="900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47E1216-C9D3-60D3-B3E8-43E38B5791F4}"/>
              </a:ext>
            </a:extLst>
          </p:cNvPr>
          <p:cNvSpPr txBox="1"/>
          <p:nvPr/>
        </p:nvSpPr>
        <p:spPr>
          <a:xfrm>
            <a:off x="3587357" y="6286698"/>
            <a:ext cx="412843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ja-JP" altLang="en-US" sz="8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※クリエイティブ費用は基本的に含む。開発費用は別途お見積り。</a:t>
            </a:r>
            <a:endParaRPr lang="ja-JP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9256C170-205B-2224-D69D-D964BF991C26}"/>
              </a:ext>
            </a:extLst>
          </p:cNvPr>
          <p:cNvSpPr/>
          <p:nvPr/>
        </p:nvSpPr>
        <p:spPr>
          <a:xfrm>
            <a:off x="7664076" y="1733928"/>
            <a:ext cx="1904982" cy="4562295"/>
          </a:xfrm>
          <a:prstGeom prst="rect">
            <a:avLst/>
          </a:prstGeom>
          <a:solidFill>
            <a:schemeClr val="bg1"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54487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［第3章］構築｜友だち追加の動線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ja-JP" altLang="en-US" sz="14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応募完了画面・サイト・求人誌など、今ある接点を中心に</a:t>
            </a:r>
            <a:r>
              <a:rPr lang="en-US" altLang="ja-JP" sz="14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LINE</a:t>
            </a:r>
            <a:r>
              <a:rPr lang="ja-JP" altLang="en-US" sz="14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の友だちを増やす。</a:t>
            </a:r>
            <a:endParaRPr sz="1400" b="1" dirty="0">
              <a:solidFill>
                <a:srgbClr val="1E2761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32000" y="1548000"/>
            <a:ext cx="9043200" cy="6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32000" y="1548000"/>
            <a:ext cx="2448000" cy="6048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2000" y="1719249"/>
            <a:ext cx="244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① 応募完了画面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51999" y="1719249"/>
            <a:ext cx="4031999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応募の直後に、友だち追加をご案内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56000" y="1736947"/>
            <a:ext cx="23400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最も確実。応募済みの方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00" y="2250000"/>
            <a:ext cx="9043200" cy="6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2000" y="2250000"/>
            <a:ext cx="2448000" cy="6048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2000" y="2421249"/>
            <a:ext cx="244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② 離脱防止ポップアップ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51999" y="2421249"/>
            <a:ext cx="4031999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LPを離れようとした方にLINEをご案内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56000" y="2438947"/>
            <a:ext cx="23400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フォームより気軽な入口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000" y="2951999"/>
            <a:ext cx="9043200" cy="6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2000" y="2951999"/>
            <a:ext cx="2448000" cy="6048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2000" y="3123248"/>
            <a:ext cx="244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③ LINE広告（CPF）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51999" y="3123248"/>
            <a:ext cx="4031999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タップだけで友だち追加が完了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56000" y="3140946"/>
            <a:ext cx="23400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フォームの入力なし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2000" y="3653999"/>
            <a:ext cx="9043200" cy="6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32000" y="3653999"/>
            <a:ext cx="2448000" cy="6048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32000" y="3825248"/>
            <a:ext cx="244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④ 求人誌・店頭のQRコード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51999" y="3825248"/>
            <a:ext cx="4031999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求人誌・店頭ポスター・メールから直接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56000" y="3842946"/>
            <a:ext cx="23400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既存の接点を使う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2000" y="4356000"/>
            <a:ext cx="9043200" cy="60480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32000" y="4356000"/>
            <a:ext cx="2448000" cy="6048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32000" y="4536097"/>
            <a:ext cx="2448000" cy="244604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⑤ 既存リストへ通知メッセージ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51999" y="4527249"/>
            <a:ext cx="4031999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友だち追加のご案内を、電話番号あてに送る（利用できる用途は事前に確認）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56000" y="4544947"/>
            <a:ext cx="23400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過去の応募者へ改めてご案内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2000" y="5148000"/>
            <a:ext cx="9043200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32000" y="5188152"/>
            <a:ext cx="90432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新しく集める前に、今つながりのある方とLINEでつながる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※ ⑤の通知メッセージは、友だち追加していない方にも電話番号あてに届く（別途費用）。用途は審査制のため、求人案内での利用可否は事前に確認する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［第3章］構築｜あいさつメッセージ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ja-JP" altLang="en-US" sz="14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最初に、このアカウントでできることをお伝えする。</a:t>
            </a:r>
          </a:p>
          <a:p>
            <a:pPr>
              <a:lnSpc>
                <a:spcPct val="120000"/>
              </a:lnSpc>
            </a:pPr>
            <a:r>
              <a:rPr lang="ja-JP" altLang="en-US" sz="14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そのうえで希望条件を</a:t>
            </a:r>
            <a:r>
              <a:rPr lang="en-US" altLang="ja-JP" sz="14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5</a:t>
            </a:r>
            <a:r>
              <a:rPr lang="ja-JP" altLang="en-US" sz="14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問だけ伺い、条件に合う新着求人をお届けすると約束する。</a:t>
            </a:r>
            <a:endParaRPr sz="1400" b="1" dirty="0">
              <a:solidFill>
                <a:srgbClr val="1E2761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392000" y="1655999"/>
            <a:ext cx="5076000" cy="1188000"/>
          </a:xfrm>
          <a:prstGeom prst="roundRect">
            <a:avLst>
              <a:gd name="adj" fmla="val 10000"/>
            </a:avLst>
          </a:prstGeom>
          <a:solidFill>
            <a:srgbClr val="EEF2F9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36000" y="1758848"/>
            <a:ext cx="47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最初に電話のことを書く理由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6000" y="2088000"/>
            <a:ext cx="4788000" cy="633941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知らない番号からの着信を、負担に感じる方は多い。先にお伝えすることで、安心して返信いただける。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2000" y="3060000"/>
            <a:ext cx="5076000" cy="1188000"/>
          </a:xfrm>
          <a:prstGeom prst="roundRect">
            <a:avLst>
              <a:gd name="adj" fmla="val 10000"/>
            </a:avLst>
          </a:prstGeom>
          <a:solidFill>
            <a:srgbClr val="EEF2F9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36000" y="3162849"/>
            <a:ext cx="47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「新着のお知らせ」を先に出す理由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6000" y="3491999"/>
            <a:ext cx="4788000" cy="589698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応募が終わっても、また仕事を探す時期が来る。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新着が届く理由があれば、友だちのまま残る。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2000" y="4463999"/>
            <a:ext cx="5076000" cy="1188000"/>
          </a:xfrm>
          <a:prstGeom prst="roundRect">
            <a:avLst>
              <a:gd name="adj" fmla="val 10000"/>
            </a:avLst>
          </a:prstGeom>
          <a:solidFill>
            <a:srgbClr val="EEF2F9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36000" y="4566848"/>
            <a:ext cx="47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5問にする理由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6000" y="4895999"/>
            <a:ext cx="4788000" cy="589698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エリア・職種・時給・曜日・働き方の5つに絞る。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選択式で30秒ほど。その場で答えていただける。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※ 画面はイメージ。文面・ボタン名は貴社のサービスに合わせて調整する</a:t>
            </a:r>
          </a:p>
        </p:txBody>
      </p:sp>
      <p:pic>
        <p:nvPicPr>
          <p:cNvPr id="16" name="Picture 15" descr="人材A_トーク_あいさつ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000" y="1526603"/>
            <a:ext cx="3096000" cy="4644000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4F050509-A9EB-2806-F5E0-B1D74FF6C7D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000" y="1401848"/>
            <a:ext cx="3180000" cy="4770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F4070-0F2B-474C-0AD3-89D288BF8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52;p28">
            <a:extLst>
              <a:ext uri="{FF2B5EF4-FFF2-40B4-BE49-F238E27FC236}">
                <a16:creationId xmlns:a16="http://schemas.microsoft.com/office/drawing/2014/main" id="{35E6F5D8-69FF-EC49-F89A-79FBF0979141}"/>
              </a:ext>
            </a:extLst>
          </p:cNvPr>
          <p:cNvSpPr txBox="1"/>
          <p:nvPr/>
        </p:nvSpPr>
        <p:spPr>
          <a:xfrm>
            <a:off x="547200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［第3章］希望条件（5問）</a:t>
            </a:r>
          </a:p>
        </p:txBody>
      </p:sp>
      <p:sp>
        <p:nvSpPr>
          <p:cNvPr id="2" name="Google Shape;752;p28">
            <a:extLst>
              <a:ext uri="{FF2B5EF4-FFF2-40B4-BE49-F238E27FC236}">
                <a16:creationId xmlns:a16="http://schemas.microsoft.com/office/drawing/2014/main" id="{8DA9D746-57D8-A7F9-7048-09DA5704460D}"/>
              </a:ext>
            </a:extLst>
          </p:cNvPr>
          <p:cNvSpPr txBox="1"/>
          <p:nvPr/>
        </p:nvSpPr>
        <p:spPr>
          <a:xfrm>
            <a:off x="309397" y="642796"/>
            <a:ext cx="9330992" cy="609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応募の直後に、エリア・職種・時給・曜日・働き方を30秒で伺う。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経歴は伺わない。答えやすい5問で、その後にお届けする求人を決める。</a:t>
            </a:r>
          </a:p>
        </p:txBody>
      </p:sp>
      <p:sp>
        <p:nvSpPr>
          <p:cNvPr id="41" name="Shape 2">
            <a:extLst>
              <a:ext uri="{FF2B5EF4-FFF2-40B4-BE49-F238E27FC236}">
                <a16:creationId xmlns:a16="http://schemas.microsoft.com/office/drawing/2014/main" id="{72992F6A-FF2A-7ECF-0D33-F6529A528B57}"/>
              </a:ext>
            </a:extLst>
          </p:cNvPr>
          <p:cNvSpPr/>
          <p:nvPr/>
        </p:nvSpPr>
        <p:spPr>
          <a:xfrm>
            <a:off x="775063" y="1722373"/>
            <a:ext cx="8412480" cy="457200"/>
          </a:xfrm>
          <a:prstGeom prst="roundRect">
            <a:avLst>
              <a:gd name="adj" fmla="val 16000"/>
            </a:avLst>
          </a:prstGeom>
          <a:solidFill>
            <a:srgbClr val="F4F7FF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2" name="Text 3">
            <a:extLst>
              <a:ext uri="{FF2B5EF4-FFF2-40B4-BE49-F238E27FC236}">
                <a16:creationId xmlns:a16="http://schemas.microsoft.com/office/drawing/2014/main" id="{190E6A1A-C1DD-4C8E-3197-5AD6F8426871}"/>
              </a:ext>
            </a:extLst>
          </p:cNvPr>
          <p:cNvSpPr/>
          <p:nvPr/>
        </p:nvSpPr>
        <p:spPr>
          <a:xfrm>
            <a:off x="957943" y="1722373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目的：希望条件を伺い、条件に合う新着求人だけをお届けする（全員に同じ求人を送らない）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3" name="Shape 4">
            <a:extLst>
              <a:ext uri="{FF2B5EF4-FFF2-40B4-BE49-F238E27FC236}">
                <a16:creationId xmlns:a16="http://schemas.microsoft.com/office/drawing/2014/main" id="{D015C19B-5468-998D-251F-6B1B6959CE07}"/>
              </a:ext>
            </a:extLst>
          </p:cNvPr>
          <p:cNvSpPr/>
          <p:nvPr/>
        </p:nvSpPr>
        <p:spPr>
          <a:xfrm>
            <a:off x="775063" y="2316733"/>
            <a:ext cx="8412480" cy="621792"/>
          </a:xfrm>
          <a:prstGeom prst="roundRect">
            <a:avLst>
              <a:gd name="adj" fmla="val 10294"/>
            </a:avLst>
          </a:prstGeom>
          <a:solidFill>
            <a:srgbClr val="F4F7FF"/>
          </a:solidFill>
          <a:ln w="12700">
            <a:solidFill>
              <a:srgbClr val="D1D9F0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4" name="Shape 5">
            <a:extLst>
              <a:ext uri="{FF2B5EF4-FFF2-40B4-BE49-F238E27FC236}">
                <a16:creationId xmlns:a16="http://schemas.microsoft.com/office/drawing/2014/main" id="{414FEA14-8392-6B62-876D-80318C415543}"/>
              </a:ext>
            </a:extLst>
          </p:cNvPr>
          <p:cNvSpPr/>
          <p:nvPr/>
        </p:nvSpPr>
        <p:spPr>
          <a:xfrm>
            <a:off x="848215" y="2426461"/>
            <a:ext cx="329184" cy="32918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5" name="Text 6">
            <a:extLst>
              <a:ext uri="{FF2B5EF4-FFF2-40B4-BE49-F238E27FC236}">
                <a16:creationId xmlns:a16="http://schemas.microsoft.com/office/drawing/2014/main" id="{F75BBB7C-7CE8-CD05-76B4-8EAB532092DA}"/>
              </a:ext>
            </a:extLst>
          </p:cNvPr>
          <p:cNvSpPr/>
          <p:nvPr/>
        </p:nvSpPr>
        <p:spPr>
          <a:xfrm>
            <a:off x="848215" y="2426461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1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6" name="Text 7">
            <a:extLst>
              <a:ext uri="{FF2B5EF4-FFF2-40B4-BE49-F238E27FC236}">
                <a16:creationId xmlns:a16="http://schemas.microsoft.com/office/drawing/2014/main" id="{1A4AA2AA-6FF8-3D30-B16C-44EC5F2961CD}"/>
              </a:ext>
            </a:extLst>
          </p:cNvPr>
          <p:cNvSpPr/>
          <p:nvPr/>
        </p:nvSpPr>
        <p:spPr>
          <a:xfrm>
            <a:off x="1250551" y="2362453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Q1. 働きたいエリアは？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7" name="Text 8">
            <a:extLst>
              <a:ext uri="{FF2B5EF4-FFF2-40B4-BE49-F238E27FC236}">
                <a16:creationId xmlns:a16="http://schemas.microsoft.com/office/drawing/2014/main" id="{7A1F59F1-0B49-73D0-38BD-9948F9A63985}"/>
              </a:ext>
            </a:extLst>
          </p:cNvPr>
          <p:cNvSpPr/>
          <p:nvPr/>
        </p:nvSpPr>
        <p:spPr>
          <a:xfrm>
            <a:off x="1250551" y="2627629"/>
            <a:ext cx="5138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ja-JP" sz="1050">
                <a:solidFill>
                  <a:srgbClr val="64748B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A) 最寄り駅から選ぶ　B) 市区町村から選ぶ　C) 在宅がいい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8" name="Shape 9">
            <a:extLst>
              <a:ext uri="{FF2B5EF4-FFF2-40B4-BE49-F238E27FC236}">
                <a16:creationId xmlns:a16="http://schemas.microsoft.com/office/drawing/2014/main" id="{03F3B165-CA3D-3804-AA50-7C78C7C7EB79}"/>
              </a:ext>
            </a:extLst>
          </p:cNvPr>
          <p:cNvSpPr/>
          <p:nvPr/>
        </p:nvSpPr>
        <p:spPr>
          <a:xfrm>
            <a:off x="6444343" y="2389885"/>
            <a:ext cx="27432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9" name="Text 10">
            <a:extLst>
              <a:ext uri="{FF2B5EF4-FFF2-40B4-BE49-F238E27FC236}">
                <a16:creationId xmlns:a16="http://schemas.microsoft.com/office/drawing/2014/main" id="{DF68B239-8CBC-8341-BA16-8510179A4777}"/>
              </a:ext>
            </a:extLst>
          </p:cNvPr>
          <p:cNvSpPr/>
          <p:nvPr/>
        </p:nvSpPr>
        <p:spPr>
          <a:xfrm>
            <a:off x="6490063" y="2389885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 err="1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最寄り駅・市区町村で出し分ける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0" name="Shape 11">
            <a:extLst>
              <a:ext uri="{FF2B5EF4-FFF2-40B4-BE49-F238E27FC236}">
                <a16:creationId xmlns:a16="http://schemas.microsoft.com/office/drawing/2014/main" id="{CEC57A7B-58B4-1F60-CC69-2D9C22413BEF}"/>
              </a:ext>
            </a:extLst>
          </p:cNvPr>
          <p:cNvSpPr/>
          <p:nvPr/>
        </p:nvSpPr>
        <p:spPr>
          <a:xfrm>
            <a:off x="775063" y="3002532"/>
            <a:ext cx="841248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2700">
            <a:solidFill>
              <a:srgbClr val="D1D9F0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1" name="Shape 12">
            <a:extLst>
              <a:ext uri="{FF2B5EF4-FFF2-40B4-BE49-F238E27FC236}">
                <a16:creationId xmlns:a16="http://schemas.microsoft.com/office/drawing/2014/main" id="{0FF9816E-5F43-9459-6349-51431111FD45}"/>
              </a:ext>
            </a:extLst>
          </p:cNvPr>
          <p:cNvSpPr/>
          <p:nvPr/>
        </p:nvSpPr>
        <p:spPr>
          <a:xfrm>
            <a:off x="848215" y="3112260"/>
            <a:ext cx="329184" cy="32918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2" name="Text 13">
            <a:extLst>
              <a:ext uri="{FF2B5EF4-FFF2-40B4-BE49-F238E27FC236}">
                <a16:creationId xmlns:a16="http://schemas.microsoft.com/office/drawing/2014/main" id="{2BF8E88C-4FC5-B1C2-A8E8-D33029A55D78}"/>
              </a:ext>
            </a:extLst>
          </p:cNvPr>
          <p:cNvSpPr/>
          <p:nvPr/>
        </p:nvSpPr>
        <p:spPr>
          <a:xfrm>
            <a:off x="848215" y="311226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2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3" name="Text 14">
            <a:extLst>
              <a:ext uri="{FF2B5EF4-FFF2-40B4-BE49-F238E27FC236}">
                <a16:creationId xmlns:a16="http://schemas.microsoft.com/office/drawing/2014/main" id="{4AB095EB-AFFB-C1EB-53C1-4C882C450F66}"/>
              </a:ext>
            </a:extLst>
          </p:cNvPr>
          <p:cNvSpPr/>
          <p:nvPr/>
        </p:nvSpPr>
        <p:spPr>
          <a:xfrm>
            <a:off x="1250551" y="3048252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Q2. 希望の職種は？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4" name="Text 15">
            <a:extLst>
              <a:ext uri="{FF2B5EF4-FFF2-40B4-BE49-F238E27FC236}">
                <a16:creationId xmlns:a16="http://schemas.microsoft.com/office/drawing/2014/main" id="{C6FBF75D-9A2C-AB9C-797C-A65992057C82}"/>
              </a:ext>
            </a:extLst>
          </p:cNvPr>
          <p:cNvSpPr/>
          <p:nvPr/>
        </p:nvSpPr>
        <p:spPr>
          <a:xfrm>
            <a:off x="1250551" y="3313428"/>
            <a:ext cx="5138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A) 事務　B) 軽作業・倉庫　C) 販売・飲食　D) その他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5" name="Shape 16">
            <a:extLst>
              <a:ext uri="{FF2B5EF4-FFF2-40B4-BE49-F238E27FC236}">
                <a16:creationId xmlns:a16="http://schemas.microsoft.com/office/drawing/2014/main" id="{8B4031C1-8F8E-5381-AAC9-77A14A56B7F6}"/>
              </a:ext>
            </a:extLst>
          </p:cNvPr>
          <p:cNvSpPr/>
          <p:nvPr/>
        </p:nvSpPr>
        <p:spPr>
          <a:xfrm>
            <a:off x="6444343" y="3075684"/>
            <a:ext cx="27432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6" name="Text 17">
            <a:extLst>
              <a:ext uri="{FF2B5EF4-FFF2-40B4-BE49-F238E27FC236}">
                <a16:creationId xmlns:a16="http://schemas.microsoft.com/office/drawing/2014/main" id="{35FE734F-4C1A-3B7B-8AA4-C2546973E56B}"/>
              </a:ext>
            </a:extLst>
          </p:cNvPr>
          <p:cNvSpPr/>
          <p:nvPr/>
        </p:nvSpPr>
        <p:spPr>
          <a:xfrm>
            <a:off x="6490063" y="3075684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ja-JP" altLang="en-US" sz="110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新着の出し分けの軸になる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7" name="Shape 18">
            <a:extLst>
              <a:ext uri="{FF2B5EF4-FFF2-40B4-BE49-F238E27FC236}">
                <a16:creationId xmlns:a16="http://schemas.microsoft.com/office/drawing/2014/main" id="{77F0529F-1B78-5C45-07C3-2B6DD4A77258}"/>
              </a:ext>
            </a:extLst>
          </p:cNvPr>
          <p:cNvSpPr/>
          <p:nvPr/>
        </p:nvSpPr>
        <p:spPr>
          <a:xfrm>
            <a:off x="775063" y="3688333"/>
            <a:ext cx="8412480" cy="621792"/>
          </a:xfrm>
          <a:prstGeom prst="roundRect">
            <a:avLst>
              <a:gd name="adj" fmla="val 10294"/>
            </a:avLst>
          </a:prstGeom>
          <a:solidFill>
            <a:srgbClr val="F4F7FF"/>
          </a:solidFill>
          <a:ln w="12700">
            <a:solidFill>
              <a:srgbClr val="D1D9F0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8" name="Shape 19">
            <a:extLst>
              <a:ext uri="{FF2B5EF4-FFF2-40B4-BE49-F238E27FC236}">
                <a16:creationId xmlns:a16="http://schemas.microsoft.com/office/drawing/2014/main" id="{5CB9124D-3C60-302E-AD9D-68ADA9CED3C8}"/>
              </a:ext>
            </a:extLst>
          </p:cNvPr>
          <p:cNvSpPr/>
          <p:nvPr/>
        </p:nvSpPr>
        <p:spPr>
          <a:xfrm>
            <a:off x="848215" y="3798061"/>
            <a:ext cx="329184" cy="32918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9" name="Text 20">
            <a:extLst>
              <a:ext uri="{FF2B5EF4-FFF2-40B4-BE49-F238E27FC236}">
                <a16:creationId xmlns:a16="http://schemas.microsoft.com/office/drawing/2014/main" id="{DD06F576-0404-24E3-3484-9A5F77A77D7A}"/>
              </a:ext>
            </a:extLst>
          </p:cNvPr>
          <p:cNvSpPr/>
          <p:nvPr/>
        </p:nvSpPr>
        <p:spPr>
          <a:xfrm>
            <a:off x="848215" y="3798061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3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0" name="Text 21">
            <a:extLst>
              <a:ext uri="{FF2B5EF4-FFF2-40B4-BE49-F238E27FC236}">
                <a16:creationId xmlns:a16="http://schemas.microsoft.com/office/drawing/2014/main" id="{362B56FE-0308-5ACA-794F-33A473A74E16}"/>
              </a:ext>
            </a:extLst>
          </p:cNvPr>
          <p:cNvSpPr/>
          <p:nvPr/>
        </p:nvSpPr>
        <p:spPr>
          <a:xfrm>
            <a:off x="1250551" y="3734052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Q3. 希望の時給は？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1" name="Text 22">
            <a:extLst>
              <a:ext uri="{FF2B5EF4-FFF2-40B4-BE49-F238E27FC236}">
                <a16:creationId xmlns:a16="http://schemas.microsoft.com/office/drawing/2014/main" id="{CECF4E63-76E9-FEA5-7805-491752940936}"/>
              </a:ext>
            </a:extLst>
          </p:cNvPr>
          <p:cNvSpPr/>
          <p:nvPr/>
        </p:nvSpPr>
        <p:spPr>
          <a:xfrm>
            <a:off x="1250551" y="3999229"/>
            <a:ext cx="5138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A) 1,200円未満　B) 1,200〜1,499円　C) 1,500〜1,799円　D) 1,800円〜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2" name="Shape 23">
            <a:extLst>
              <a:ext uri="{FF2B5EF4-FFF2-40B4-BE49-F238E27FC236}">
                <a16:creationId xmlns:a16="http://schemas.microsoft.com/office/drawing/2014/main" id="{DBA9622A-FDA2-1DDD-FBA3-73C50D3AB695}"/>
              </a:ext>
            </a:extLst>
          </p:cNvPr>
          <p:cNvSpPr/>
          <p:nvPr/>
        </p:nvSpPr>
        <p:spPr>
          <a:xfrm>
            <a:off x="6444343" y="3761484"/>
            <a:ext cx="27432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3" name="Text 24">
            <a:extLst>
              <a:ext uri="{FF2B5EF4-FFF2-40B4-BE49-F238E27FC236}">
                <a16:creationId xmlns:a16="http://schemas.microsoft.com/office/drawing/2014/main" id="{C60B9780-970F-8551-EE91-8044786C7B7C}"/>
              </a:ext>
            </a:extLst>
          </p:cNvPr>
          <p:cNvSpPr/>
          <p:nvPr/>
        </p:nvSpPr>
        <p:spPr>
          <a:xfrm>
            <a:off x="6490063" y="3761484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 err="1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Day2「時給の相場」の軸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4" name="Shape 25">
            <a:extLst>
              <a:ext uri="{FF2B5EF4-FFF2-40B4-BE49-F238E27FC236}">
                <a16:creationId xmlns:a16="http://schemas.microsoft.com/office/drawing/2014/main" id="{E6646D0D-AC17-9974-8BF6-E0C26901E16D}"/>
              </a:ext>
            </a:extLst>
          </p:cNvPr>
          <p:cNvSpPr/>
          <p:nvPr/>
        </p:nvSpPr>
        <p:spPr>
          <a:xfrm>
            <a:off x="775063" y="4374133"/>
            <a:ext cx="841248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2700">
            <a:solidFill>
              <a:srgbClr val="D1D9F0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5" name="Shape 26">
            <a:extLst>
              <a:ext uri="{FF2B5EF4-FFF2-40B4-BE49-F238E27FC236}">
                <a16:creationId xmlns:a16="http://schemas.microsoft.com/office/drawing/2014/main" id="{86330F7C-C512-505C-521A-A5D1453510E6}"/>
              </a:ext>
            </a:extLst>
          </p:cNvPr>
          <p:cNvSpPr/>
          <p:nvPr/>
        </p:nvSpPr>
        <p:spPr>
          <a:xfrm>
            <a:off x="848215" y="4483861"/>
            <a:ext cx="329184" cy="32918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6" name="Text 27">
            <a:extLst>
              <a:ext uri="{FF2B5EF4-FFF2-40B4-BE49-F238E27FC236}">
                <a16:creationId xmlns:a16="http://schemas.microsoft.com/office/drawing/2014/main" id="{8A40057C-798D-FCB7-8B6B-C2507589C664}"/>
              </a:ext>
            </a:extLst>
          </p:cNvPr>
          <p:cNvSpPr/>
          <p:nvPr/>
        </p:nvSpPr>
        <p:spPr>
          <a:xfrm>
            <a:off x="848215" y="4483861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4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7" name="Text 28">
            <a:extLst>
              <a:ext uri="{FF2B5EF4-FFF2-40B4-BE49-F238E27FC236}">
                <a16:creationId xmlns:a16="http://schemas.microsoft.com/office/drawing/2014/main" id="{FB185C3E-B3C3-8368-764A-0E889BE9E1DC}"/>
              </a:ext>
            </a:extLst>
          </p:cNvPr>
          <p:cNvSpPr/>
          <p:nvPr/>
        </p:nvSpPr>
        <p:spPr>
          <a:xfrm>
            <a:off x="1250551" y="4419853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Q4. 働ける曜日・時間帯は？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8" name="Text 29">
            <a:extLst>
              <a:ext uri="{FF2B5EF4-FFF2-40B4-BE49-F238E27FC236}">
                <a16:creationId xmlns:a16="http://schemas.microsoft.com/office/drawing/2014/main" id="{83A0111B-6C16-924D-2F24-F3322312058F}"/>
              </a:ext>
            </a:extLst>
          </p:cNvPr>
          <p:cNvSpPr/>
          <p:nvPr/>
        </p:nvSpPr>
        <p:spPr>
          <a:xfrm>
            <a:off x="1250551" y="4685029"/>
            <a:ext cx="5138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ja-JP" sz="1050">
                <a:solidFill>
                  <a:srgbClr val="64748B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A) 平日の日中　B) 平日の夜　C) 土日　D) 曜日は問わない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9" name="Shape 30">
            <a:extLst>
              <a:ext uri="{FF2B5EF4-FFF2-40B4-BE49-F238E27FC236}">
                <a16:creationId xmlns:a16="http://schemas.microsoft.com/office/drawing/2014/main" id="{B12A9147-2862-DE3E-8AA5-154403D7E2E5}"/>
              </a:ext>
            </a:extLst>
          </p:cNvPr>
          <p:cNvSpPr/>
          <p:nvPr/>
        </p:nvSpPr>
        <p:spPr>
          <a:xfrm>
            <a:off x="6444343" y="4447285"/>
            <a:ext cx="27432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0" name="Text 31">
            <a:extLst>
              <a:ext uri="{FF2B5EF4-FFF2-40B4-BE49-F238E27FC236}">
                <a16:creationId xmlns:a16="http://schemas.microsoft.com/office/drawing/2014/main" id="{B1610132-9C94-4121-0174-5C4B56C1E9C4}"/>
              </a:ext>
            </a:extLst>
          </p:cNvPr>
          <p:cNvSpPr/>
          <p:nvPr/>
        </p:nvSpPr>
        <p:spPr>
          <a:xfrm>
            <a:off x="6490063" y="4447285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 err="1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「今日から働ける」求人を絞る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1" name="Shape 32">
            <a:extLst>
              <a:ext uri="{FF2B5EF4-FFF2-40B4-BE49-F238E27FC236}">
                <a16:creationId xmlns:a16="http://schemas.microsoft.com/office/drawing/2014/main" id="{5E0CF565-2E70-3594-94E3-B92DBA09CE1D}"/>
              </a:ext>
            </a:extLst>
          </p:cNvPr>
          <p:cNvSpPr/>
          <p:nvPr/>
        </p:nvSpPr>
        <p:spPr>
          <a:xfrm>
            <a:off x="775063" y="5059933"/>
            <a:ext cx="8412480" cy="621792"/>
          </a:xfrm>
          <a:prstGeom prst="roundRect">
            <a:avLst>
              <a:gd name="adj" fmla="val 10294"/>
            </a:avLst>
          </a:prstGeom>
          <a:solidFill>
            <a:srgbClr val="F4F7FF"/>
          </a:solidFill>
          <a:ln w="12700">
            <a:solidFill>
              <a:srgbClr val="D1D9F0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2" name="Shape 33">
            <a:extLst>
              <a:ext uri="{FF2B5EF4-FFF2-40B4-BE49-F238E27FC236}">
                <a16:creationId xmlns:a16="http://schemas.microsoft.com/office/drawing/2014/main" id="{C3888C1F-7E31-5CB5-DB8C-6376B4A23075}"/>
              </a:ext>
            </a:extLst>
          </p:cNvPr>
          <p:cNvSpPr/>
          <p:nvPr/>
        </p:nvSpPr>
        <p:spPr>
          <a:xfrm>
            <a:off x="848215" y="5169660"/>
            <a:ext cx="329184" cy="32918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3" name="Text 34">
            <a:extLst>
              <a:ext uri="{FF2B5EF4-FFF2-40B4-BE49-F238E27FC236}">
                <a16:creationId xmlns:a16="http://schemas.microsoft.com/office/drawing/2014/main" id="{59588FF7-10F6-8141-4359-836B851E5424}"/>
              </a:ext>
            </a:extLst>
          </p:cNvPr>
          <p:cNvSpPr/>
          <p:nvPr/>
        </p:nvSpPr>
        <p:spPr>
          <a:xfrm>
            <a:off x="848215" y="516966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5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4" name="Text 35">
            <a:extLst>
              <a:ext uri="{FF2B5EF4-FFF2-40B4-BE49-F238E27FC236}">
                <a16:creationId xmlns:a16="http://schemas.microsoft.com/office/drawing/2014/main" id="{C5CFC561-6A8F-BACD-E02C-A277E8A3063E}"/>
              </a:ext>
            </a:extLst>
          </p:cNvPr>
          <p:cNvSpPr/>
          <p:nvPr/>
        </p:nvSpPr>
        <p:spPr>
          <a:xfrm>
            <a:off x="1250551" y="5105653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Q5. 希望の働き方は？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5" name="Text 36">
            <a:extLst>
              <a:ext uri="{FF2B5EF4-FFF2-40B4-BE49-F238E27FC236}">
                <a16:creationId xmlns:a16="http://schemas.microsoft.com/office/drawing/2014/main" id="{BE1F2F6E-238F-21D4-40A5-BD1CB63C8953}"/>
              </a:ext>
            </a:extLst>
          </p:cNvPr>
          <p:cNvSpPr/>
          <p:nvPr/>
        </p:nvSpPr>
        <p:spPr>
          <a:xfrm>
            <a:off x="1250551" y="5370829"/>
            <a:ext cx="5138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ja-JP" sz="1050">
                <a:solidFill>
                  <a:srgbClr val="64748B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A) 派遣　B) バイト・パート　C) 単発・日払い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6" name="Shape 37">
            <a:extLst>
              <a:ext uri="{FF2B5EF4-FFF2-40B4-BE49-F238E27FC236}">
                <a16:creationId xmlns:a16="http://schemas.microsoft.com/office/drawing/2014/main" id="{E835EF93-AE65-C080-A583-076B9485CC6B}"/>
              </a:ext>
            </a:extLst>
          </p:cNvPr>
          <p:cNvSpPr/>
          <p:nvPr/>
        </p:nvSpPr>
        <p:spPr>
          <a:xfrm>
            <a:off x="6444343" y="5133085"/>
            <a:ext cx="27432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7" name="Text 38">
            <a:extLst>
              <a:ext uri="{FF2B5EF4-FFF2-40B4-BE49-F238E27FC236}">
                <a16:creationId xmlns:a16="http://schemas.microsoft.com/office/drawing/2014/main" id="{4E76941A-97E1-A80A-F7B6-9B05D68E1AA2}"/>
              </a:ext>
            </a:extLst>
          </p:cNvPr>
          <p:cNvSpPr/>
          <p:nvPr/>
        </p:nvSpPr>
        <p:spPr>
          <a:xfrm>
            <a:off x="6490063" y="5133085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ja-JP" altLang="en-US" sz="110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「単発」は新着配信のみ（派遣を基準に設計）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B080DFA3-5E6A-7CB9-A83C-9D87074C7C62}"/>
              </a:ext>
            </a:extLst>
          </p:cNvPr>
          <p:cNvSpPr/>
          <p:nvPr/>
        </p:nvSpPr>
        <p:spPr>
          <a:xfrm>
            <a:off x="167640" y="1572768"/>
            <a:ext cx="9570720" cy="47722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FDC81EE9-FE25-DEA2-3BE6-5D4BC6729956}"/>
              </a:ext>
            </a:extLst>
          </p:cNvPr>
          <p:cNvSpPr/>
          <p:nvPr/>
        </p:nvSpPr>
        <p:spPr>
          <a:xfrm>
            <a:off x="4940121" y="59287"/>
            <a:ext cx="2597727" cy="4156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9010635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57152"/>
            <a:ext cx="79200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dirty="0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［第3章］構築｜リッチメニュー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求人を探す入口と、応募前の不安を減らすボタンを並べる。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※ 画面はイメージ。ボタン名は運用しながら調整する</a:t>
            </a:r>
          </a:p>
        </p:txBody>
      </p:sp>
      <p:pic>
        <p:nvPicPr>
          <p:cNvPr id="27" name="Picture 26" descr="haken_richmenu_pho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2800" y="1324800"/>
            <a:ext cx="2935631" cy="4572000"/>
          </a:xfrm>
          <a:prstGeom prst="rect">
            <a:avLst/>
          </a:prstGeom>
        </p:spPr>
      </p:pic>
      <p:cxnSp>
        <p:nvCxnSpPr>
          <p:cNvPr id="28" name="Connector 27"/>
          <p:cNvCxnSpPr/>
          <p:nvPr/>
        </p:nvCxnSpPr>
        <p:spPr>
          <a:xfrm>
            <a:off x="4523878" y="4023403"/>
            <a:ext cx="780553" cy="0"/>
          </a:xfrm>
          <a:prstGeom prst="line">
            <a:avLst/>
          </a:prstGeom>
          <a:ln w="12700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5358431" y="3690403"/>
            <a:ext cx="43200" cy="666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66431" y="3690403"/>
            <a:ext cx="2628000" cy="666000"/>
          </a:xfrm>
          <a:prstGeom prst="rect">
            <a:avLst/>
          </a:prstGeom>
          <a:noFill/>
        </p:spPr>
        <p:txBody>
          <a:bodyPr wrap="square" anchor="ctr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探す・進む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条件に合う求人を探し、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応募・登録はサイトで行う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523878" y="4880214"/>
            <a:ext cx="780553" cy="0"/>
          </a:xfrm>
          <a:prstGeom prst="line">
            <a:avLst/>
          </a:prstGeom>
          <a:ln w="12700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5358431" y="4547214"/>
            <a:ext cx="43200" cy="666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66431" y="4547214"/>
            <a:ext cx="2628000" cy="666000"/>
          </a:xfrm>
          <a:prstGeom prst="rect">
            <a:avLst/>
          </a:prstGeom>
          <a:noFill/>
        </p:spPr>
        <p:txBody>
          <a:bodyPr wrap="square" anchor="ctr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不安を減らす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職場や働き方の疑問に、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応募の前にお答えする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567DEB-0D7B-8670-6390-E396B1D53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52;p28">
            <a:extLst>
              <a:ext uri="{FF2B5EF4-FFF2-40B4-BE49-F238E27FC236}">
                <a16:creationId xmlns:a16="http://schemas.microsoft.com/office/drawing/2014/main" id="{D55786A2-F100-6AA6-4BA2-C612ABD2107D}"/>
              </a:ext>
            </a:extLst>
          </p:cNvPr>
          <p:cNvSpPr txBox="1"/>
          <p:nvPr/>
        </p:nvSpPr>
        <p:spPr>
          <a:xfrm>
            <a:off x="547200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［第4章］配信設計｜追加後15日でアクティブ率が落ちる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E9062440-B6A0-85EE-461D-E9A5F53310B0}"/>
              </a:ext>
            </a:extLst>
          </p:cNvPr>
          <p:cNvSpPr/>
          <p:nvPr/>
        </p:nvSpPr>
        <p:spPr>
          <a:xfrm>
            <a:off x="0" y="777240"/>
            <a:ext cx="1802674" cy="5029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LINEOA</a:t>
            </a:r>
            <a:r>
              <a:rPr kumimoji="1"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施策</a:t>
            </a:r>
          </a:p>
        </p:txBody>
      </p:sp>
      <p:sp>
        <p:nvSpPr>
          <p:cNvPr id="3" name="Google Shape;752;p28">
            <a:extLst>
              <a:ext uri="{FF2B5EF4-FFF2-40B4-BE49-F238E27FC236}">
                <a16:creationId xmlns:a16="http://schemas.microsoft.com/office/drawing/2014/main" id="{CCEADF0C-2806-160C-2545-0CBF2DE16851}"/>
              </a:ext>
            </a:extLst>
          </p:cNvPr>
          <p:cNvSpPr txBox="1"/>
          <p:nvPr/>
        </p:nvSpPr>
        <p:spPr>
          <a:xfrm>
            <a:off x="1988819" y="736332"/>
            <a:ext cx="7917181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r>
              <a:rPr lang="en-US" altLang="ja-JP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友だち追加から15日ほどで反応が下がり、ブロックも増えやすい。</a:t>
            </a:r>
          </a:p>
          <a:p>
            <a:r>
              <a:rPr lang="ja-JP" altLang="en-US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そのため、最初の14日間のステップ配信を先に整える。</a:t>
            </a:r>
            <a:endParaRPr lang="en-US" altLang="ja-JP" sz="16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599FD372-1931-8AF9-6FBE-007F188CE8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4710" y="1746287"/>
            <a:ext cx="582602" cy="543237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70DDBD12-962F-75E1-F777-2A8CB1A1A43C}"/>
              </a:ext>
            </a:extLst>
          </p:cNvPr>
          <p:cNvSpPr/>
          <p:nvPr/>
        </p:nvSpPr>
        <p:spPr>
          <a:xfrm>
            <a:off x="2232491" y="1817608"/>
            <a:ext cx="5694068" cy="400594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友だち追加</a:t>
            </a:r>
          </a:p>
        </p:txBody>
      </p:sp>
      <p:sp>
        <p:nvSpPr>
          <p:cNvPr id="16" name="矢印: 下 15">
            <a:extLst>
              <a:ext uri="{FF2B5EF4-FFF2-40B4-BE49-F238E27FC236}">
                <a16:creationId xmlns:a16="http://schemas.microsoft.com/office/drawing/2014/main" id="{96A68A56-39E1-8BAC-2C49-CC19FBEC68F7}"/>
              </a:ext>
            </a:extLst>
          </p:cNvPr>
          <p:cNvSpPr/>
          <p:nvPr/>
        </p:nvSpPr>
        <p:spPr>
          <a:xfrm>
            <a:off x="6666282" y="2317059"/>
            <a:ext cx="470263" cy="1837509"/>
          </a:xfrm>
          <a:prstGeom prst="downArrow">
            <a:avLst>
              <a:gd name="adj1" fmla="val 50000"/>
              <a:gd name="adj2" fmla="val 110764"/>
            </a:avLst>
          </a:prstGeom>
          <a:gradFill>
            <a:gsLst>
              <a:gs pos="0">
                <a:srgbClr val="1E2761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499B7760-FDC6-B260-9507-F94BFB256854}"/>
              </a:ext>
            </a:extLst>
          </p:cNvPr>
          <p:cNvCxnSpPr>
            <a:cxnSpLocks/>
          </p:cNvCxnSpPr>
          <p:nvPr/>
        </p:nvCxnSpPr>
        <p:spPr>
          <a:xfrm>
            <a:off x="1603884" y="4293068"/>
            <a:ext cx="6889823" cy="0"/>
          </a:xfrm>
          <a:prstGeom prst="line">
            <a:avLst/>
          </a:prstGeom>
          <a:ln w="63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矢印: 下 21">
            <a:extLst>
              <a:ext uri="{FF2B5EF4-FFF2-40B4-BE49-F238E27FC236}">
                <a16:creationId xmlns:a16="http://schemas.microsoft.com/office/drawing/2014/main" id="{57EAA642-99EB-D59A-CA2D-CF128F520650}"/>
              </a:ext>
            </a:extLst>
          </p:cNvPr>
          <p:cNvSpPr/>
          <p:nvPr/>
        </p:nvSpPr>
        <p:spPr>
          <a:xfrm>
            <a:off x="6666281" y="4376126"/>
            <a:ext cx="470263" cy="880030"/>
          </a:xfrm>
          <a:prstGeom prst="downArrow">
            <a:avLst>
              <a:gd name="adj1" fmla="val 50000"/>
              <a:gd name="adj2" fmla="val 110764"/>
            </a:avLst>
          </a:prstGeom>
          <a:gradFill>
            <a:gsLst>
              <a:gs pos="0">
                <a:srgbClr val="1E2761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FC84D888-2F3B-56B2-6D8B-43495766B724}"/>
              </a:ext>
            </a:extLst>
          </p:cNvPr>
          <p:cNvCxnSpPr>
            <a:cxnSpLocks/>
          </p:cNvCxnSpPr>
          <p:nvPr/>
        </p:nvCxnSpPr>
        <p:spPr>
          <a:xfrm>
            <a:off x="1603884" y="5394656"/>
            <a:ext cx="6889823" cy="0"/>
          </a:xfrm>
          <a:prstGeom prst="line">
            <a:avLst/>
          </a:prstGeom>
          <a:ln w="63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2DDEE958-B9A4-B3B7-0AB5-40E083E922F6}"/>
              </a:ext>
            </a:extLst>
          </p:cNvPr>
          <p:cNvSpPr txBox="1"/>
          <p:nvPr/>
        </p:nvSpPr>
        <p:spPr>
          <a:xfrm>
            <a:off x="887729" y="4154568"/>
            <a:ext cx="49638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15</a:t>
            </a: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日後</a:t>
            </a:r>
            <a:endParaRPr lang="ja-JP" altLang="en-US" sz="1400" dirty="0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99B2BE93-6AC1-B592-319F-2D44EB64DCDF}"/>
              </a:ext>
            </a:extLst>
          </p:cNvPr>
          <p:cNvSpPr txBox="1"/>
          <p:nvPr/>
        </p:nvSpPr>
        <p:spPr>
          <a:xfrm>
            <a:off x="887729" y="5258075"/>
            <a:ext cx="49638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30</a:t>
            </a: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日後</a:t>
            </a:r>
            <a:endParaRPr lang="ja-JP" altLang="en-US" sz="1400" dirty="0"/>
          </a:p>
        </p:txBody>
      </p:sp>
      <p:sp>
        <p:nvSpPr>
          <p:cNvPr id="32" name="矢印: 下 31">
            <a:extLst>
              <a:ext uri="{FF2B5EF4-FFF2-40B4-BE49-F238E27FC236}">
                <a16:creationId xmlns:a16="http://schemas.microsoft.com/office/drawing/2014/main" id="{F0BAD90B-19DF-C716-880C-57948735A10E}"/>
              </a:ext>
            </a:extLst>
          </p:cNvPr>
          <p:cNvSpPr/>
          <p:nvPr/>
        </p:nvSpPr>
        <p:spPr>
          <a:xfrm>
            <a:off x="6666281" y="5477713"/>
            <a:ext cx="470263" cy="880030"/>
          </a:xfrm>
          <a:prstGeom prst="downArrow">
            <a:avLst>
              <a:gd name="adj1" fmla="val 50000"/>
              <a:gd name="adj2" fmla="val 110764"/>
            </a:avLst>
          </a:prstGeom>
          <a:gradFill>
            <a:gsLst>
              <a:gs pos="0">
                <a:srgbClr val="1E2761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直角三角形 32">
            <a:extLst>
              <a:ext uri="{FF2B5EF4-FFF2-40B4-BE49-F238E27FC236}">
                <a16:creationId xmlns:a16="http://schemas.microsoft.com/office/drawing/2014/main" id="{21D9755D-523C-2A6A-B045-29C102846ABF}"/>
              </a:ext>
            </a:extLst>
          </p:cNvPr>
          <p:cNvSpPr/>
          <p:nvPr/>
        </p:nvSpPr>
        <p:spPr>
          <a:xfrm flipV="1">
            <a:off x="7837714" y="2289524"/>
            <a:ext cx="1244098" cy="3105132"/>
          </a:xfrm>
          <a:prstGeom prst="rtTriangle">
            <a:avLst/>
          </a:prstGeom>
          <a:solidFill>
            <a:srgbClr val="1E2761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dirty="0">
              <a:solidFill>
                <a:srgbClr val="1E2761"/>
              </a:solidFill>
            </a:endParaRP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D6796F30-9C92-1751-9461-7D96ED3FD472}"/>
              </a:ext>
            </a:extLst>
          </p:cNvPr>
          <p:cNvSpPr txBox="1"/>
          <p:nvPr/>
        </p:nvSpPr>
        <p:spPr>
          <a:xfrm>
            <a:off x="7376370" y="2507385"/>
            <a:ext cx="21045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1200" b="1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アクティブ率：高</a:t>
            </a:r>
          </a:p>
        </p:txBody>
      </p:sp>
      <p:sp>
        <p:nvSpPr>
          <p:cNvPr id="45" name="直角三角形 44">
            <a:extLst>
              <a:ext uri="{FF2B5EF4-FFF2-40B4-BE49-F238E27FC236}">
                <a16:creationId xmlns:a16="http://schemas.microsoft.com/office/drawing/2014/main" id="{70153691-BF19-7E23-69C7-A1735ED95D0B}"/>
              </a:ext>
            </a:extLst>
          </p:cNvPr>
          <p:cNvSpPr/>
          <p:nvPr/>
        </p:nvSpPr>
        <p:spPr>
          <a:xfrm flipV="1">
            <a:off x="7837713" y="5403361"/>
            <a:ext cx="399367" cy="946289"/>
          </a:xfrm>
          <a:prstGeom prst="rtTriangle">
            <a:avLst/>
          </a:prstGeom>
          <a:solidFill>
            <a:srgbClr val="1E2761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dirty="0">
              <a:solidFill>
                <a:srgbClr val="1E2761"/>
              </a:solidFill>
            </a:endParaRPr>
          </a:p>
        </p:txBody>
      </p: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39E95A0F-F089-7BBE-05C6-60749997D8B5}"/>
              </a:ext>
            </a:extLst>
          </p:cNvPr>
          <p:cNvSpPr txBox="1"/>
          <p:nvPr/>
        </p:nvSpPr>
        <p:spPr>
          <a:xfrm>
            <a:off x="7376370" y="4777647"/>
            <a:ext cx="21045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1200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アクティブ率：低</a:t>
            </a:r>
          </a:p>
        </p:txBody>
      </p:sp>
      <p:sp>
        <p:nvSpPr>
          <p:cNvPr id="51" name="正方形/長方形 50">
            <a:extLst>
              <a:ext uri="{FF2B5EF4-FFF2-40B4-BE49-F238E27FC236}">
                <a16:creationId xmlns:a16="http://schemas.microsoft.com/office/drawing/2014/main" id="{6E8EECEE-A26C-FE65-851C-D89DA2943DDA}"/>
              </a:ext>
            </a:extLst>
          </p:cNvPr>
          <p:cNvSpPr/>
          <p:nvPr/>
        </p:nvSpPr>
        <p:spPr>
          <a:xfrm>
            <a:off x="4822207" y="3086837"/>
            <a:ext cx="1653346" cy="217314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ステップ配信</a:t>
            </a:r>
          </a:p>
        </p:txBody>
      </p:sp>
      <p:sp>
        <p:nvSpPr>
          <p:cNvPr id="53" name="正方形/長方形 52">
            <a:extLst>
              <a:ext uri="{FF2B5EF4-FFF2-40B4-BE49-F238E27FC236}">
                <a16:creationId xmlns:a16="http://schemas.microsoft.com/office/drawing/2014/main" id="{81454DD3-4503-BFE5-0C14-038581D067FE}"/>
              </a:ext>
            </a:extLst>
          </p:cNvPr>
          <p:cNvSpPr/>
          <p:nvPr/>
        </p:nvSpPr>
        <p:spPr>
          <a:xfrm>
            <a:off x="2232491" y="2685169"/>
            <a:ext cx="4334226" cy="33452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希望条件（5問）</a:t>
            </a:r>
          </a:p>
        </p:txBody>
      </p:sp>
      <p:sp>
        <p:nvSpPr>
          <p:cNvPr id="55" name="正方形/長方形 54">
            <a:extLst>
              <a:ext uri="{FF2B5EF4-FFF2-40B4-BE49-F238E27FC236}">
                <a16:creationId xmlns:a16="http://schemas.microsoft.com/office/drawing/2014/main" id="{50620861-661B-61FD-CF03-A1B419A375AE}"/>
              </a:ext>
            </a:extLst>
          </p:cNvPr>
          <p:cNvSpPr/>
          <p:nvPr/>
        </p:nvSpPr>
        <p:spPr>
          <a:xfrm>
            <a:off x="2326221" y="3086838"/>
            <a:ext cx="2411242" cy="217314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企画配信</a:t>
            </a:r>
          </a:p>
        </p:txBody>
      </p:sp>
      <p:sp>
        <p:nvSpPr>
          <p:cNvPr id="57" name="正方形/長方形 56">
            <a:extLst>
              <a:ext uri="{FF2B5EF4-FFF2-40B4-BE49-F238E27FC236}">
                <a16:creationId xmlns:a16="http://schemas.microsoft.com/office/drawing/2014/main" id="{4459A76C-C890-8CC0-17D9-2EF08525C001}"/>
              </a:ext>
            </a:extLst>
          </p:cNvPr>
          <p:cNvSpPr/>
          <p:nvPr/>
        </p:nvSpPr>
        <p:spPr>
          <a:xfrm>
            <a:off x="2232491" y="5442735"/>
            <a:ext cx="4334226" cy="33452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時期に合わせた配信</a:t>
            </a:r>
          </a:p>
        </p:txBody>
      </p:sp>
      <p:sp>
        <p:nvSpPr>
          <p:cNvPr id="65" name="正方形/長方形 64">
            <a:extLst>
              <a:ext uri="{FF2B5EF4-FFF2-40B4-BE49-F238E27FC236}">
                <a16:creationId xmlns:a16="http://schemas.microsoft.com/office/drawing/2014/main" id="{A8F1D398-BD32-DDD8-1642-E52C2B235BA4}"/>
              </a:ext>
            </a:extLst>
          </p:cNvPr>
          <p:cNvSpPr/>
          <p:nvPr/>
        </p:nvSpPr>
        <p:spPr>
          <a:xfrm>
            <a:off x="2232491" y="2302562"/>
            <a:ext cx="4334226" cy="33452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あいさつメッセージ・リッチメニュー</a:t>
            </a:r>
          </a:p>
        </p:txBody>
      </p:sp>
      <p:sp>
        <p:nvSpPr>
          <p:cNvPr id="67" name="正方形/長方形 66">
            <a:extLst>
              <a:ext uri="{FF2B5EF4-FFF2-40B4-BE49-F238E27FC236}">
                <a16:creationId xmlns:a16="http://schemas.microsoft.com/office/drawing/2014/main" id="{F991B595-167D-EE44-3530-4DCE8C7B208F}"/>
              </a:ext>
            </a:extLst>
          </p:cNvPr>
          <p:cNvSpPr/>
          <p:nvPr/>
        </p:nvSpPr>
        <p:spPr>
          <a:xfrm>
            <a:off x="4822207" y="5838470"/>
            <a:ext cx="1653346" cy="48978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00" b="1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5" name="正方形/長方形 74">
            <a:extLst>
              <a:ext uri="{FF2B5EF4-FFF2-40B4-BE49-F238E27FC236}">
                <a16:creationId xmlns:a16="http://schemas.microsoft.com/office/drawing/2014/main" id="{16B28472-CB01-9D89-509B-26D59B4BA089}"/>
              </a:ext>
            </a:extLst>
          </p:cNvPr>
          <p:cNvSpPr/>
          <p:nvPr/>
        </p:nvSpPr>
        <p:spPr>
          <a:xfrm>
            <a:off x="2326221" y="5838471"/>
            <a:ext cx="2411242" cy="48978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00" b="1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1" name="正方形/長方形 80">
            <a:extLst>
              <a:ext uri="{FF2B5EF4-FFF2-40B4-BE49-F238E27FC236}">
                <a16:creationId xmlns:a16="http://schemas.microsoft.com/office/drawing/2014/main" id="{A5ED7B27-E5A3-1AD6-2F12-1265E4591B60}"/>
              </a:ext>
            </a:extLst>
          </p:cNvPr>
          <p:cNvSpPr/>
          <p:nvPr/>
        </p:nvSpPr>
        <p:spPr>
          <a:xfrm>
            <a:off x="115726" y="6285606"/>
            <a:ext cx="7578805" cy="999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" name="TextBox 25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※ 日数は目安。一般的なLINE公式アカウント運用の傾向であり、貴社の実績とは異なる場合がある</a:t>
            </a:r>
          </a:p>
        </p:txBody>
      </p:sp>
    </p:spTree>
    <p:extLst>
      <p:ext uri="{BB962C8B-B14F-4D97-AF65-F5344CB8AC3E}">
        <p14:creationId xmlns:p14="http://schemas.microsoft.com/office/powerpoint/2010/main" val="1065560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［第4章］配信設計｜14日ステップの全体像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6384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配信は、反応が高い友だち追加後の14日間で組む。求人をお届けするのはDay0とDay14だけ。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前後検索で見えた「比較 → 相場 → 続けられるか」の順に、疑問に答える。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1548000"/>
            <a:ext cx="9043200" cy="3312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399" y="1600147"/>
            <a:ext cx="76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46400" y="1600147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役割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02400" y="1600147"/>
            <a:ext cx="364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配信内容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46400" y="1600147"/>
            <a:ext cx="2678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根拠（前後検索）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399" y="1978147"/>
            <a:ext cx="76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46400" y="1978147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比較の最中に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02400" y="1978147"/>
            <a:ext cx="364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ja-JP" altLang="en-US"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あいさつ＋条件5問 → 合う求人を3件</a:t>
            </a:r>
            <a:endParaRPr sz="1200" b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746400" y="1978147"/>
            <a:ext cx="2678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0日に派遣会社名が並ぶ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000" y="2304000"/>
            <a:ext cx="9043200" cy="4248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2399" y="2402947"/>
            <a:ext cx="76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6400" y="2402947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相場を示す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02400" y="2402947"/>
            <a:ext cx="364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希望エリア・職種の時給の相場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6400" y="2402947"/>
            <a:ext cx="2678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+2日「派遣 時給 相場」（仮説）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2399" y="2827747"/>
            <a:ext cx="76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6400" y="2827747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相談先を伝える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02400" y="2827747"/>
            <a:ext cx="364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合わなかったときの相談窓口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46400" y="2827747"/>
            <a:ext cx="2678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「派遣 契約期間内 辞める」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2000" y="3153600"/>
            <a:ext cx="9043200" cy="4248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82399" y="3252547"/>
            <a:ext cx="76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46400" y="3252547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不安を解消する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02400" y="3252547"/>
            <a:ext cx="364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職場見学・面接の流れと持ち物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46400" y="3252547"/>
            <a:ext cx="2678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+15日「派遣 職場見学」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2399" y="3677347"/>
            <a:ext cx="76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6400" y="3677347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新着の案内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02400" y="3677347"/>
            <a:ext cx="364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今週の新着まとめ＋「条件を変える」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46400" y="3677347"/>
            <a:ext cx="2678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条件が合わないと他社へ流れる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2000" y="4003199"/>
            <a:ext cx="9043200" cy="4248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82399" y="4102146"/>
            <a:ext cx="76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満了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46400" y="4102146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1ヶ月前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02400" y="4102146"/>
            <a:ext cx="364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次のご希望は？（条件5問を再送）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46400" y="4102146"/>
            <a:ext cx="2678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+5日「派遣 更新しない」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2399" y="4526947"/>
            <a:ext cx="76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満了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46400" y="4526947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2週間前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02400" y="4526947"/>
            <a:ext cx="364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条件に合う新着を3件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46400" y="4526947"/>
            <a:ext cx="2678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次を探す方に、他社より先に届く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2000" y="5112000"/>
            <a:ext cx="9043200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32000" y="5152152"/>
            <a:ext cx="90432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Day6は求人をお届けしない回にし、Day14の新着を開いていただきやすくする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※ Q5（働き方）の回答で配信の流れを変える。「単発・日払い」はステップ配信に入れず、新着のお知らせのみ。面接予約・就業開始など状況が変わったら、その時点で配信を切り替える。契約満了前のご案内は、満了予定日をもとにお送りする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［第4章］配信設計｜実文面 Day0・Day6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Day0は5問の回答直後に、条件に合う求人を3件だけお届けする。Day6は求人をお届けしない。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「合わなかったら相談できる」と先に伝えることで、信頼につなげる。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92000" y="1655999"/>
            <a:ext cx="5076000" cy="1188000"/>
          </a:xfrm>
          <a:prstGeom prst="roundRect">
            <a:avLst>
              <a:gd name="adj" fmla="val 10000"/>
            </a:avLst>
          </a:prstGeom>
          <a:solidFill>
            <a:srgbClr val="EEF2F9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36000" y="1758848"/>
            <a:ext cx="47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Day0｜3件だけお届けする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6000" y="2088000"/>
            <a:ext cx="4788000" cy="633941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何十件も並べず、条件に合う3件に絞る。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複数の会社を比べている方の、選ぶ手間を減らす。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2000" y="3060000"/>
            <a:ext cx="5076000" cy="1188000"/>
          </a:xfrm>
          <a:prstGeom prst="roundRect">
            <a:avLst>
              <a:gd name="adj" fmla="val 10000"/>
            </a:avLst>
          </a:prstGeom>
          <a:solidFill>
            <a:srgbClr val="EEF2F9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36000" y="3162849"/>
            <a:ext cx="47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Day6｜求人はお届けしない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6000" y="3491999"/>
            <a:ext cx="4788000" cy="633941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「合わなかったときの相談先」だけを伝える。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前後検索でも「契約期間内 辞める」が調べられている。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2000" y="4463999"/>
            <a:ext cx="5076000" cy="1188000"/>
          </a:xfrm>
          <a:prstGeom prst="roundRect">
            <a:avLst>
              <a:gd name="adj" fmla="val 10000"/>
            </a:avLst>
          </a:prstGeom>
          <a:solidFill>
            <a:srgbClr val="EEF2F9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36000" y="4566848"/>
            <a:ext cx="47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この回の狙い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6000" y="4895999"/>
            <a:ext cx="4788000" cy="633941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「ここなら続けられそう」と感じていただくこと。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Day14の新着を開いていただくきっかけにする。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※ 画面はイメージ。絵文字・改行・通知に表示される冒頭15字まで設計する</a:t>
            </a:r>
          </a:p>
        </p:txBody>
      </p:sp>
      <p:pic>
        <p:nvPicPr>
          <p:cNvPr id="16" name="Picture 15" descr="人材A_トーク_Day0-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000" y="1526603"/>
            <a:ext cx="3096000" cy="4644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［第4章］配信設計｜実文面 Day14・契約満了前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Day14は新着のまとめと「条件を変える」のご案内。契約満了の1か月前には、こちらからご案内する。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次に探し始める時期が分かるのは、就業中の方だけ。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92000" y="1655999"/>
            <a:ext cx="5076000" cy="1188000"/>
          </a:xfrm>
          <a:prstGeom prst="roundRect">
            <a:avLst>
              <a:gd name="adj" fmla="val 10000"/>
            </a:avLst>
          </a:prstGeom>
          <a:solidFill>
            <a:srgbClr val="EEF2F9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36000" y="1758848"/>
            <a:ext cx="47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Day14｜条件を変えられることを伝える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6000" y="2088000"/>
            <a:ext cx="4788000" cy="633941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「応募してください」ではなく、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合わなければ条件を変えられると伝える。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2000" y="3060000"/>
            <a:ext cx="5076000" cy="1188000"/>
          </a:xfrm>
          <a:prstGeom prst="roundRect">
            <a:avLst>
              <a:gd name="adj" fmla="val 10000"/>
            </a:avLst>
          </a:prstGeom>
          <a:solidFill>
            <a:srgbClr val="EEF2F9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36000" y="3162849"/>
            <a:ext cx="47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満了1か月前｜先にご案内する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6000" y="3491999"/>
            <a:ext cx="4788000" cy="633941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契約満了予定日をもとにお送りする。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他社より先に、次のご希望を伺える。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2000" y="4463999"/>
            <a:ext cx="5076000" cy="1188000"/>
          </a:xfrm>
          <a:prstGeom prst="roundRect">
            <a:avLst>
              <a:gd name="adj" fmla="val 10000"/>
            </a:avLst>
          </a:prstGeom>
          <a:solidFill>
            <a:srgbClr val="EEF2F9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36000" y="4566848"/>
            <a:ext cx="47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更新する方への対応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6000" y="4895999"/>
            <a:ext cx="4788000" cy="633941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「更新する」を選んだ方は、次の満了まで通知を止める。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派遣のお仕事は1回で終わらない。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※ 画面はイメージ。絵文字・改行・通知に表示される冒頭15字まで設計する</a:t>
            </a:r>
          </a:p>
        </p:txBody>
      </p:sp>
      <p:pic>
        <p:nvPicPr>
          <p:cNvPr id="16" name="Picture 15" descr="人材A_トーク_Day7-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000" y="1526603"/>
            <a:ext cx="3096000" cy="4644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33825-9171-A79A-31F7-FBB36FFE7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52;p28">
            <a:extLst>
              <a:ext uri="{FF2B5EF4-FFF2-40B4-BE49-F238E27FC236}">
                <a16:creationId xmlns:a16="http://schemas.microsoft.com/office/drawing/2014/main" id="{FCD327D4-877A-97BF-5A3D-BA2BFF89C5D1}"/>
              </a:ext>
            </a:extLst>
          </p:cNvPr>
          <p:cNvSpPr txBox="1"/>
          <p:nvPr/>
        </p:nvSpPr>
        <p:spPr>
          <a:xfrm>
            <a:off x="547200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［第4章］年間の企画投稿カレンダー</a:t>
            </a:r>
          </a:p>
        </p:txBody>
      </p:sp>
      <p:sp>
        <p:nvSpPr>
          <p:cNvPr id="2" name="Google Shape;752;p28">
            <a:extLst>
              <a:ext uri="{FF2B5EF4-FFF2-40B4-BE49-F238E27FC236}">
                <a16:creationId xmlns:a16="http://schemas.microsoft.com/office/drawing/2014/main" id="{344F9C81-17B8-CD75-7943-C74785EA9326}"/>
              </a:ext>
            </a:extLst>
          </p:cNvPr>
          <p:cNvSpPr txBox="1"/>
          <p:nvPr/>
        </p:nvSpPr>
        <p:spPr>
          <a:xfrm>
            <a:off x="309397" y="687600"/>
            <a:ext cx="9330992" cy="609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検索のピークは、派遣が3月、バイトが4月。どちらも12月が最も少ない。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12月に友だちを増やし、3月は派遣、4月はバイトの応募へつなげる。</a:t>
            </a:r>
          </a:p>
        </p:txBody>
      </p:sp>
      <p:sp>
        <p:nvSpPr>
          <p:cNvPr id="3" name="Shape 2">
            <a:extLst>
              <a:ext uri="{FF2B5EF4-FFF2-40B4-BE49-F238E27FC236}">
                <a16:creationId xmlns:a16="http://schemas.microsoft.com/office/drawing/2014/main" id="{C60A8489-6BE4-3B93-2131-E11F42129098}"/>
              </a:ext>
            </a:extLst>
          </p:cNvPr>
          <p:cNvSpPr/>
          <p:nvPr/>
        </p:nvSpPr>
        <p:spPr>
          <a:xfrm>
            <a:off x="683623" y="2150404"/>
            <a:ext cx="42062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946CD2D-A79C-A7B7-15A1-A1837415507A}"/>
              </a:ext>
            </a:extLst>
          </p:cNvPr>
          <p:cNvSpPr/>
          <p:nvPr/>
        </p:nvSpPr>
        <p:spPr>
          <a:xfrm>
            <a:off x="793351" y="2241844"/>
            <a:ext cx="658368" cy="292608"/>
          </a:xfrm>
          <a:prstGeom prst="roundRect">
            <a:avLst>
              <a:gd name="adj" fmla="val 1875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B03F4F1-34EC-318B-44DB-813F9A260ADC}"/>
              </a:ext>
            </a:extLst>
          </p:cNvPr>
          <p:cNvSpPr/>
          <p:nvPr/>
        </p:nvSpPr>
        <p:spPr>
          <a:xfrm>
            <a:off x="793351" y="2241844"/>
            <a:ext cx="658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2-3月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C1B56B7E-2C3F-30E8-B262-184104348BC9}"/>
              </a:ext>
            </a:extLst>
          </p:cNvPr>
          <p:cNvSpPr/>
          <p:nvPr/>
        </p:nvSpPr>
        <p:spPr>
          <a:xfrm>
            <a:off x="1506583" y="2260132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F4F7FF"/>
          </a:solidFill>
          <a:ln w="12700">
            <a:solidFill>
              <a:srgbClr val="E8EDF8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84711DF-BA77-8F0A-2104-C18090ED3CC4}"/>
              </a:ext>
            </a:extLst>
          </p:cNvPr>
          <p:cNvSpPr/>
          <p:nvPr/>
        </p:nvSpPr>
        <p:spPr>
          <a:xfrm>
            <a:off x="1506583" y="226013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派遣のピーク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76CECB1-59BF-1E7A-094C-226743CD5D1F}"/>
              </a:ext>
            </a:extLst>
          </p:cNvPr>
          <p:cNvSpPr/>
          <p:nvPr/>
        </p:nvSpPr>
        <p:spPr>
          <a:xfrm>
            <a:off x="793351" y="260760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「4月からの就業先さがし」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E9330544-7DE3-4156-FDB0-0068C25C7D92}"/>
              </a:ext>
            </a:extLst>
          </p:cNvPr>
          <p:cNvSpPr/>
          <p:nvPr/>
        </p:nvSpPr>
        <p:spPr>
          <a:xfrm>
            <a:off x="793351" y="2927643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派遣は3月がピーク（指数110.8）。</a:t>
            </a:r>
          </a:p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年度替わりで、契約満了と就業先さがしが重なる。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施策：12月に増やした友だちへ、条件別の新着を一斉に案内。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6C89C044-CC81-F526-4C28-8C8818A84AC8}"/>
              </a:ext>
            </a:extLst>
          </p:cNvPr>
          <p:cNvSpPr/>
          <p:nvPr/>
        </p:nvSpPr>
        <p:spPr>
          <a:xfrm>
            <a:off x="793351" y="3723171"/>
            <a:ext cx="3931920" cy="228600"/>
          </a:xfrm>
          <a:prstGeom prst="roundRect">
            <a:avLst>
              <a:gd name="adj" fmla="val 16000"/>
            </a:avLst>
          </a:prstGeom>
          <a:solidFill>
            <a:srgbClr val="F4F7FF"/>
          </a:solidFill>
          <a:ln w="12700">
            <a:solidFill>
              <a:srgbClr val="D1D9F0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EBB9FD63-B2E1-8ED6-289B-17E75D53D0CF}"/>
              </a:ext>
            </a:extLst>
          </p:cNvPr>
          <p:cNvSpPr/>
          <p:nvPr/>
        </p:nvSpPr>
        <p:spPr>
          <a:xfrm>
            <a:off x="793351" y="3723171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KPI：応募数／面接・職場見学の実施率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718FE43C-F46C-BAA4-F102-48BC91B9077E}"/>
              </a:ext>
            </a:extLst>
          </p:cNvPr>
          <p:cNvSpPr/>
          <p:nvPr/>
        </p:nvSpPr>
        <p:spPr>
          <a:xfrm>
            <a:off x="5118463" y="2150404"/>
            <a:ext cx="42062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BCFAF28F-3A41-62B7-ED14-2C88314DE693}"/>
              </a:ext>
            </a:extLst>
          </p:cNvPr>
          <p:cNvSpPr/>
          <p:nvPr/>
        </p:nvSpPr>
        <p:spPr>
          <a:xfrm>
            <a:off x="5228191" y="2241844"/>
            <a:ext cx="658368" cy="292608"/>
          </a:xfrm>
          <a:prstGeom prst="roundRect">
            <a:avLst>
              <a:gd name="adj" fmla="val 18750"/>
            </a:avLst>
          </a:prstGeom>
          <a:solidFill>
            <a:srgbClr val="1E2761"/>
          </a:solidFill>
          <a:ln w="12700">
            <a:noFill/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5636307B-10AB-ADC3-1727-AB8FC5831143}"/>
              </a:ext>
            </a:extLst>
          </p:cNvPr>
          <p:cNvSpPr/>
          <p:nvPr/>
        </p:nvSpPr>
        <p:spPr>
          <a:xfrm>
            <a:off x="5228191" y="2241844"/>
            <a:ext cx="658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4月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4D4B9A45-FCB5-6DB2-B02F-57FFE5D56691}"/>
              </a:ext>
            </a:extLst>
          </p:cNvPr>
          <p:cNvSpPr/>
          <p:nvPr/>
        </p:nvSpPr>
        <p:spPr>
          <a:xfrm>
            <a:off x="5941423" y="2260132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F4F7FF"/>
          </a:solidFill>
          <a:ln w="12700">
            <a:solidFill>
              <a:srgbClr val="E8EDF8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5AB9A477-5190-5925-BA00-7C28E41E2AE9}"/>
              </a:ext>
            </a:extLst>
          </p:cNvPr>
          <p:cNvSpPr/>
          <p:nvPr/>
        </p:nvSpPr>
        <p:spPr>
          <a:xfrm>
            <a:off x="5941423" y="226013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バイトのピーク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F0DF4241-0F34-404F-9C8A-0C5C0B3F7B0B}"/>
              </a:ext>
            </a:extLst>
          </p:cNvPr>
          <p:cNvSpPr/>
          <p:nvPr/>
        </p:nvSpPr>
        <p:spPr>
          <a:xfrm>
            <a:off x="5228191" y="260760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「新生活のシフトさがし」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2F5CBA0E-C68D-2D85-8F64-5D9ED46DE52D}"/>
              </a:ext>
            </a:extLst>
          </p:cNvPr>
          <p:cNvSpPr/>
          <p:nvPr/>
        </p:nvSpPr>
        <p:spPr>
          <a:xfrm>
            <a:off x="5228191" y="2927643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 err="1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バイトは4月がピーク（指数117.5）。派遣より1か月遅い。</a:t>
            </a:r>
          </a:p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 err="1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新生活が始まり、シフトを組める時期に探し始める。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施策：3月の派遣の配信とずらし、4月にバイトの新着を案内。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7EF6A367-39C2-356A-9B47-3D3671D8D918}"/>
              </a:ext>
            </a:extLst>
          </p:cNvPr>
          <p:cNvSpPr/>
          <p:nvPr/>
        </p:nvSpPr>
        <p:spPr>
          <a:xfrm>
            <a:off x="5228191" y="3723171"/>
            <a:ext cx="3931920" cy="228600"/>
          </a:xfrm>
          <a:prstGeom prst="roundRect">
            <a:avLst>
              <a:gd name="adj" fmla="val 16000"/>
            </a:avLst>
          </a:prstGeom>
          <a:solidFill>
            <a:srgbClr val="F4F7FF"/>
          </a:solidFill>
          <a:ln w="12700">
            <a:solidFill>
              <a:srgbClr val="D1D9F0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5E166AEE-8473-61AD-BC51-7204C60ECFE2}"/>
              </a:ext>
            </a:extLst>
          </p:cNvPr>
          <p:cNvSpPr/>
          <p:nvPr/>
        </p:nvSpPr>
        <p:spPr>
          <a:xfrm>
            <a:off x="5228191" y="3723171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KPI：応募数／希望条件の回答率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487B2061-6B88-0A18-0E57-12185B834CCF}"/>
              </a:ext>
            </a:extLst>
          </p:cNvPr>
          <p:cNvSpPr/>
          <p:nvPr/>
        </p:nvSpPr>
        <p:spPr>
          <a:xfrm>
            <a:off x="683623" y="4207803"/>
            <a:ext cx="42062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D80051DD-55DD-DDC4-1C20-FA43FB837AEB}"/>
              </a:ext>
            </a:extLst>
          </p:cNvPr>
          <p:cNvSpPr/>
          <p:nvPr/>
        </p:nvSpPr>
        <p:spPr>
          <a:xfrm>
            <a:off x="793351" y="4299244"/>
            <a:ext cx="658368" cy="292608"/>
          </a:xfrm>
          <a:prstGeom prst="roundRect">
            <a:avLst>
              <a:gd name="adj" fmla="val 18750"/>
            </a:avLst>
          </a:prstGeom>
          <a:solidFill>
            <a:srgbClr val="1E2761"/>
          </a:solidFill>
          <a:ln w="12700">
            <a:noFill/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166D040C-5E3C-D384-1752-F340D729E508}"/>
              </a:ext>
            </a:extLst>
          </p:cNvPr>
          <p:cNvSpPr/>
          <p:nvPr/>
        </p:nvSpPr>
        <p:spPr>
          <a:xfrm>
            <a:off x="793351" y="4299244"/>
            <a:ext cx="658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9-10月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E1D75AA6-DC2D-C974-1F8F-EA3764B5E2B1}"/>
              </a:ext>
            </a:extLst>
          </p:cNvPr>
          <p:cNvSpPr/>
          <p:nvPr/>
        </p:nvSpPr>
        <p:spPr>
          <a:xfrm>
            <a:off x="1506583" y="4317531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F4F7FF"/>
          </a:solidFill>
          <a:ln w="12700">
            <a:solidFill>
              <a:srgbClr val="E8EDF8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2C81E4D3-7404-C45A-3360-2888B2C16CEC}"/>
              </a:ext>
            </a:extLst>
          </p:cNvPr>
          <p:cNvSpPr/>
          <p:nvPr/>
        </p:nvSpPr>
        <p:spPr>
          <a:xfrm>
            <a:off x="1506583" y="4317531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秋の戻り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D74753E2-5389-A4C0-99DF-F1EBD9F21486}"/>
              </a:ext>
            </a:extLst>
          </p:cNvPr>
          <p:cNvSpPr/>
          <p:nvPr/>
        </p:nvSpPr>
        <p:spPr>
          <a:xfrm>
            <a:off x="793351" y="466500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「下半期からの新しい仕事」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15421AF9-EA34-4D6D-A17B-353040384108}"/>
              </a:ext>
            </a:extLst>
          </p:cNvPr>
          <p:cNvSpPr/>
          <p:nvPr/>
        </p:nvSpPr>
        <p:spPr>
          <a:xfrm>
            <a:off x="793351" y="4985044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派遣は10月に指数が戻る（102.4）。</a:t>
            </a:r>
          </a:p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 err="1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8月に少なくなったあと、下半期の入れ替えで動く。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施策：契約満了に合わせてご案内し、12月へつなげる。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5BE67E13-AD4F-4228-9F1A-8B4E0CCBEBBE}"/>
              </a:ext>
            </a:extLst>
          </p:cNvPr>
          <p:cNvSpPr/>
          <p:nvPr/>
        </p:nvSpPr>
        <p:spPr>
          <a:xfrm>
            <a:off x="793351" y="5780571"/>
            <a:ext cx="3931920" cy="228600"/>
          </a:xfrm>
          <a:prstGeom prst="roundRect">
            <a:avLst>
              <a:gd name="adj" fmla="val 16000"/>
            </a:avLst>
          </a:prstGeom>
          <a:solidFill>
            <a:srgbClr val="F4F7FF"/>
          </a:solidFill>
          <a:ln w="12700">
            <a:solidFill>
              <a:srgbClr val="D1D9F0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schemeClr val="tx1">
                  <a:lumMod val="50000"/>
                  <a:lumOff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9E653D90-A148-4540-DAAB-BDE1AE7D11F9}"/>
              </a:ext>
            </a:extLst>
          </p:cNvPr>
          <p:cNvSpPr/>
          <p:nvPr/>
        </p:nvSpPr>
        <p:spPr>
          <a:xfrm>
            <a:off x="793351" y="5780571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KPI：再応募数（満了後に戻った方）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9A903725-E0FA-B7ED-BE7F-3E870C011999}"/>
              </a:ext>
            </a:extLst>
          </p:cNvPr>
          <p:cNvSpPr/>
          <p:nvPr/>
        </p:nvSpPr>
        <p:spPr>
          <a:xfrm>
            <a:off x="5118463" y="4207803"/>
            <a:ext cx="42062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chemeClr val="tx2">
                <a:lumMod val="50000"/>
              </a:schemeClr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E560804C-2AD2-34CF-80F2-47723D89B9EE}"/>
              </a:ext>
            </a:extLst>
          </p:cNvPr>
          <p:cNvSpPr/>
          <p:nvPr/>
        </p:nvSpPr>
        <p:spPr>
          <a:xfrm>
            <a:off x="5228191" y="4299244"/>
            <a:ext cx="658368" cy="292608"/>
          </a:xfrm>
          <a:prstGeom prst="roundRect">
            <a:avLst>
              <a:gd name="adj" fmla="val 18750"/>
            </a:avLst>
          </a:prstGeom>
          <a:solidFill>
            <a:schemeClr val="tx2">
              <a:lumMod val="5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0D3AA494-1CCC-455B-FD0B-69A03482B0B2}"/>
              </a:ext>
            </a:extLst>
          </p:cNvPr>
          <p:cNvSpPr/>
          <p:nvPr/>
        </p:nvSpPr>
        <p:spPr>
          <a:xfrm>
            <a:off x="5228191" y="4299244"/>
            <a:ext cx="658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12月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7CE7A172-10BE-1E65-8E12-21F725E375E4}"/>
              </a:ext>
            </a:extLst>
          </p:cNvPr>
          <p:cNvSpPr/>
          <p:nvPr/>
        </p:nvSpPr>
        <p:spPr>
          <a:xfrm>
            <a:off x="5941423" y="4317531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F4F7FF"/>
          </a:solidFill>
          <a:ln w="12700">
            <a:solidFill>
              <a:srgbClr val="E8EDF8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6FF1A96D-D52E-0E30-532A-ECE831BE9605}"/>
              </a:ext>
            </a:extLst>
          </p:cNvPr>
          <p:cNvSpPr/>
          <p:nvPr/>
        </p:nvSpPr>
        <p:spPr>
          <a:xfrm>
            <a:off x="5941423" y="4317531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準備の時期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6B191EBD-ED99-BB14-8C62-5B0BA0590745}"/>
              </a:ext>
            </a:extLst>
          </p:cNvPr>
          <p:cNvSpPr/>
          <p:nvPr/>
        </p:nvSpPr>
        <p:spPr>
          <a:xfrm>
            <a:off x="5228191" y="466500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「年明けから働きたい方の先行受付」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13B90534-5D2F-7E51-02AE-C33CF568ED2E}"/>
              </a:ext>
            </a:extLst>
          </p:cNvPr>
          <p:cNvSpPr/>
          <p:nvPr/>
        </p:nvSpPr>
        <p:spPr>
          <a:xfrm>
            <a:off x="5228191" y="4985044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 err="1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1年で最も少ない月（派遣88.4／バイト88.0）。</a:t>
            </a:r>
          </a:p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 err="1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友だちを増やしやすい時期と考える。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施策：条件の再確認と新着の先行案内。3〜4月の応募へ。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985D5473-A6B2-6E6C-69A6-536638C669C1}"/>
              </a:ext>
            </a:extLst>
          </p:cNvPr>
          <p:cNvSpPr/>
          <p:nvPr/>
        </p:nvSpPr>
        <p:spPr>
          <a:xfrm>
            <a:off x="5228191" y="5780571"/>
            <a:ext cx="3931920" cy="228600"/>
          </a:xfrm>
          <a:prstGeom prst="roundRect">
            <a:avLst>
              <a:gd name="adj" fmla="val 16000"/>
            </a:avLst>
          </a:prstGeom>
          <a:solidFill>
            <a:srgbClr val="F4F7FF"/>
          </a:solidFill>
          <a:ln w="12700">
            <a:solidFill>
              <a:srgbClr val="D1D9F0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665AB6CB-040B-F5AE-5EDC-FD4A6C6C841A}"/>
              </a:ext>
            </a:extLst>
          </p:cNvPr>
          <p:cNvSpPr/>
          <p:nvPr/>
        </p:nvSpPr>
        <p:spPr>
          <a:xfrm>
            <a:off x="5228191" y="5780571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KPI：友だち追加数（この月は応募のご案内を控える）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2" name="Shape 2">
            <a:extLst>
              <a:ext uri="{FF2B5EF4-FFF2-40B4-BE49-F238E27FC236}">
                <a16:creationId xmlns:a16="http://schemas.microsoft.com/office/drawing/2014/main" id="{22BE1ADA-BF01-A520-0D77-972E7821FCE2}"/>
              </a:ext>
            </a:extLst>
          </p:cNvPr>
          <p:cNvSpPr/>
          <p:nvPr/>
        </p:nvSpPr>
        <p:spPr>
          <a:xfrm>
            <a:off x="683623" y="1612213"/>
            <a:ext cx="8646160" cy="457200"/>
          </a:xfrm>
          <a:prstGeom prst="roundRect">
            <a:avLst>
              <a:gd name="adj" fmla="val 16000"/>
            </a:avLst>
          </a:prstGeom>
          <a:solidFill>
            <a:srgbClr val="F4F7FF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3" name="Text 3">
            <a:extLst>
              <a:ext uri="{FF2B5EF4-FFF2-40B4-BE49-F238E27FC236}">
                <a16:creationId xmlns:a16="http://schemas.microsoft.com/office/drawing/2014/main" id="{F90B8BB4-8425-50C4-639B-16BEF90627DF}"/>
              </a:ext>
            </a:extLst>
          </p:cNvPr>
          <p:cNvSpPr/>
          <p:nvPr/>
        </p:nvSpPr>
        <p:spPr>
          <a:xfrm>
            <a:off x="866503" y="1612213"/>
            <a:ext cx="8458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ja-JP" altLang="en-US" sz="1200" b="1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派遣とバイトで配信を1か月ずらす（3月に派遣、4月にバイト）。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8517C2D8-2B96-60F6-B4C8-41F2D3663705}"/>
              </a:ext>
            </a:extLst>
          </p:cNvPr>
          <p:cNvSpPr/>
          <p:nvPr/>
        </p:nvSpPr>
        <p:spPr>
          <a:xfrm>
            <a:off x="139337" y="1445006"/>
            <a:ext cx="9570720" cy="47722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F12EE9E2-9122-74C3-0A3B-F81EEC972BBE}"/>
              </a:ext>
            </a:extLst>
          </p:cNvPr>
          <p:cNvSpPr/>
          <p:nvPr/>
        </p:nvSpPr>
        <p:spPr>
          <a:xfrm>
            <a:off x="4940121" y="59287"/>
            <a:ext cx="2597727" cy="4156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1853059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［第4章］配信設計｜通知メッセージ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友だち追加していない方にも、電話番号あてに届く。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面接・職場見学の前日のご案内は、実施率の改善につながる。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92000" y="1655999"/>
            <a:ext cx="5076000" cy="1188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36000" y="1758848"/>
            <a:ext cx="47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① 面接・職場見学の前日のご案内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6000" y="2088000"/>
            <a:ext cx="4788000" cy="633941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日時・場所・道順・持ち物・服装を前日に送付する。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欠席が減ると、派遣先・掲載企業との関係も続く。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2000" y="3060000"/>
            <a:ext cx="5076000" cy="1188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36000" y="3162849"/>
            <a:ext cx="47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② 過去の応募者への友だち追加のご案内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6000" y="3491999"/>
            <a:ext cx="4788000" cy="633941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連絡が途絶えた方へも、友だち追加をご案内する。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求人は、友だち追加の後に通常の配信でお届けする。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2000" y="4463999"/>
            <a:ext cx="5076000" cy="1188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36000" y="4566848"/>
            <a:ext cx="47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③ 契約満了の1か月前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6000" y="4895999"/>
            <a:ext cx="4788000" cy="633941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更新のご意向の確認として、次のご希望を伺う。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探し始める時期が分かるため、先にご案内できる。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※ 通知メッセージは別途費用（初期10万円／月額8万円〜＋通数単価7円）。用途は審査制で、配送・予約確認などの個別通知が前提。求人案内での利用可否は事前に確認する</a:t>
            </a:r>
          </a:p>
        </p:txBody>
      </p:sp>
      <p:pic>
        <p:nvPicPr>
          <p:cNvPr id="16" name="Picture 15" descr="人材A_通知メッセージ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735" y="1526603"/>
            <a:ext cx="3076528" cy="4614792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［第4章］歩留まり｜面接・職場見学の実施率をどう上げるか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880449"/>
            <a:ext cx="93312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dirty="0" err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応募数も広告費も増やさずに、面接・職場見学に来られる方を増やす</a:t>
            </a:r>
            <a:r>
              <a:rPr sz="14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1548000"/>
            <a:ext cx="9043200" cy="77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32000" y="1548000"/>
            <a:ext cx="2736000" cy="774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2000" y="1803849"/>
            <a:ext cx="2736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① 前日にご案内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11999" y="1803849"/>
            <a:ext cx="3024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日時・場所・道順・持ち物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8000" y="1803849"/>
            <a:ext cx="29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無断欠席を防ぐ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00" y="2430000"/>
            <a:ext cx="9043200" cy="77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2000" y="2430000"/>
            <a:ext cx="2736000" cy="774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2000" y="2685849"/>
            <a:ext cx="2736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② 不安に先に答える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11999" y="2685849"/>
            <a:ext cx="3024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職場見学の流れを事前に送る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8000" y="2685849"/>
            <a:ext cx="29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落ちる不安を和らげる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000" y="3311999"/>
            <a:ext cx="9043200" cy="77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2000" y="3311999"/>
            <a:ext cx="2736000" cy="774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2000" y="3567848"/>
            <a:ext cx="2736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③ 日程をその場で確定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11999" y="3567848"/>
            <a:ext cx="3024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LINEで候補日を選んでいただく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8000" y="3567848"/>
            <a:ext cx="29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電話の往復中の離脱を防ぐ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2000" y="4194000"/>
            <a:ext cx="9043200" cy="77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32000" y="4194000"/>
            <a:ext cx="2736000" cy="774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32000" y="4449849"/>
            <a:ext cx="2736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④ 合わなければ次をご案内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11999" y="4449849"/>
            <a:ext cx="3024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不採用・辞退の翌日に別の求人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8000" y="4458697"/>
            <a:ext cx="2988000" cy="244604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関心が高いうちに、次の応募へ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2000" y="5148000"/>
            <a:ext cx="9043200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32000" y="5188152"/>
            <a:ext cx="90432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応募の数より、就業・再就業につながることを目指す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※ 応募から面接に進む割合の業界水準は公開データがないため、貴社の実績をもとに算出する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［第4章］歩留まり｜求職者が動く時間帯に、LINEで対応する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777827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dirty="0" err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求職者が仕事を探すのは夜間・土日が多く、電話で対応できる時間とずれやすい</a:t>
            </a:r>
            <a:r>
              <a:rPr sz="14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。</a:t>
            </a:r>
          </a:p>
          <a:p>
            <a:pPr algn="l">
              <a:lnSpc>
                <a:spcPct val="120000"/>
              </a:lnSpc>
            </a:pPr>
            <a:r>
              <a:rPr sz="1400" b="1" dirty="0" err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その時間帯のやり取りを、LINEで補う</a:t>
            </a:r>
            <a:r>
              <a:rPr sz="14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1548000"/>
            <a:ext cx="4392000" cy="3096000"/>
          </a:xfrm>
          <a:prstGeom prst="rect">
            <a:avLst/>
          </a:prstGeom>
          <a:solidFill>
            <a:srgbClr val="F2F2F2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32000" y="1548000"/>
            <a:ext cx="4392000" cy="342000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2000" y="1570152"/>
            <a:ext cx="43920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起きやすいこと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00" y="1998000"/>
            <a:ext cx="4104000" cy="1765020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21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・応募直後のお電話が、つながりにくい</a:t>
            </a:r>
          </a:p>
          <a:p>
            <a:pPr algn="l">
              <a:lnSpc>
                <a:spcPct val="21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・折り返しが夕方以降に集中する</a:t>
            </a:r>
          </a:p>
          <a:p>
            <a:pPr algn="l">
              <a:lnSpc>
                <a:spcPct val="21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・面接日程の調整で、電話が何度も往復する</a:t>
            </a:r>
          </a:p>
          <a:p>
            <a:pPr algn="l">
              <a:lnSpc>
                <a:spcPct val="21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・同じご質問に、何度も回答している</a:t>
            </a:r>
          </a:p>
        </p:txBody>
      </p:sp>
      <p:sp>
        <p:nvSpPr>
          <p:cNvPr id="8" name="Rectangle 7"/>
          <p:cNvSpPr/>
          <p:nvPr/>
        </p:nvSpPr>
        <p:spPr>
          <a:xfrm>
            <a:off x="5083200" y="1548000"/>
            <a:ext cx="4392000" cy="3096000"/>
          </a:xfrm>
          <a:prstGeom prst="rect">
            <a:avLst/>
          </a:prstGeom>
          <a:solidFill>
            <a:srgbClr val="EEF2F9"/>
          </a:solidFill>
          <a:ln w="1587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83200" y="1548000"/>
            <a:ext cx="4392000" cy="342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83200" y="1570152"/>
            <a:ext cx="43920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LINEに置き換えられるもの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27200" y="1998000"/>
            <a:ext cx="4104000" cy="1765020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21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・面接・職場見学の日程調整</a:t>
            </a:r>
          </a:p>
          <a:p>
            <a:pPr algn="l">
              <a:lnSpc>
                <a:spcPct val="21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・よくある質問（自動応答）</a:t>
            </a:r>
          </a:p>
          <a:p>
            <a:pPr algn="l">
              <a:lnSpc>
                <a:spcPct val="21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・前日のご案内</a:t>
            </a:r>
          </a:p>
          <a:p>
            <a:pPr algn="l">
              <a:lnSpc>
                <a:spcPct val="21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・希望条件の変更の受付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000" y="4896000"/>
            <a:ext cx="9043200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2000" y="4936152"/>
            <a:ext cx="90432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人を増やすより、やり取りの時間帯を合わせることが大切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※ LINEなら、求職者の都合の良い時間にやり取りできる。電話でなくてもよいやり取りを、LINEに移す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5A5A4-75AD-516A-9D25-18F8EF002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752;p28">
            <a:extLst>
              <a:ext uri="{FF2B5EF4-FFF2-40B4-BE49-F238E27FC236}">
                <a16:creationId xmlns:a16="http://schemas.microsoft.com/office/drawing/2014/main" id="{0308A94D-067F-5D10-BF02-6777DD32E821}"/>
              </a:ext>
            </a:extLst>
          </p:cNvPr>
          <p:cNvSpPr txBox="1"/>
          <p:nvPr/>
        </p:nvSpPr>
        <p:spPr>
          <a:xfrm>
            <a:off x="547200" y="138137"/>
            <a:ext cx="7027574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en-US" altLang="ja-JP" sz="1600" b="1" dirty="0">
                <a:solidFill>
                  <a:srgbClr val="323366"/>
                </a:solidFill>
                <a:latin typeface="Meiryo"/>
                <a:ea typeface="Meiryo"/>
                <a:cs typeface="Meiryo"/>
                <a:sym typeface="Meiryo"/>
              </a:rPr>
              <a:t>［第5章］運用サポート体制</a:t>
            </a:r>
            <a:endParaRPr lang="en-US" altLang="ja-JP" sz="1600" b="1" dirty="0">
              <a:solidFill>
                <a:schemeClr val="tx1">
                  <a:lumMod val="50000"/>
                  <a:lumOff val="50000"/>
                </a:schemeClr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31489518-639C-6F8B-3CC2-E3A3D82066B2}"/>
              </a:ext>
            </a:extLst>
          </p:cNvPr>
          <p:cNvSpPr/>
          <p:nvPr/>
        </p:nvSpPr>
        <p:spPr>
          <a:xfrm>
            <a:off x="275003" y="1728082"/>
            <a:ext cx="9355994" cy="13912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222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ja-JP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① 月1回の定例会</a:t>
            </a:r>
            <a:endParaRPr lang="en-US" altLang="ja-JP" sz="2400" dirty="0">
              <a:solidFill>
                <a:schemeClr val="tx1">
                  <a:lumMod val="50000"/>
                  <a:lumOff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GAレポートと連携し、応募率・面接の実施率を毎月確認する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DD339252-F691-EA9D-983C-6241C7AABA77}"/>
              </a:ext>
            </a:extLst>
          </p:cNvPr>
          <p:cNvSpPr/>
          <p:nvPr/>
        </p:nvSpPr>
        <p:spPr>
          <a:xfrm>
            <a:off x="275003" y="3221875"/>
            <a:ext cx="9355994" cy="13912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222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ja-JP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② 企画配信の制作</a:t>
            </a:r>
            <a:endParaRPr lang="en-US" altLang="ja-JP" sz="2400" dirty="0">
              <a:solidFill>
                <a:schemeClr val="tx1">
                  <a:lumMod val="50000"/>
                  <a:lumOff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年間カレンダーに沿った配信を、貴社に代わって作成する</a:t>
            </a:r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71A329C6-D6CA-D19E-C8A2-D6D234F2FA53}"/>
              </a:ext>
            </a:extLst>
          </p:cNvPr>
          <p:cNvCxnSpPr/>
          <p:nvPr/>
        </p:nvCxnSpPr>
        <p:spPr>
          <a:xfrm>
            <a:off x="1519747" y="1452035"/>
            <a:ext cx="657899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楕円 12">
            <a:extLst>
              <a:ext uri="{FF2B5EF4-FFF2-40B4-BE49-F238E27FC236}">
                <a16:creationId xmlns:a16="http://schemas.microsoft.com/office/drawing/2014/main" id="{718487F9-9129-0E91-A220-B2EF077840F3}"/>
              </a:ext>
            </a:extLst>
          </p:cNvPr>
          <p:cNvSpPr/>
          <p:nvPr/>
        </p:nvSpPr>
        <p:spPr>
          <a:xfrm>
            <a:off x="1358536" y="579155"/>
            <a:ext cx="7419703" cy="761655"/>
          </a:xfrm>
          <a:prstGeom prst="ellipse">
            <a:avLst/>
          </a:prstGeom>
          <a:solidFill>
            <a:schemeClr val="accent1">
              <a:lumMod val="40000"/>
              <a:lumOff val="60000"/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ja-JP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D2F1E1CA-9D65-A02D-917C-CB72A01459A6}"/>
              </a:ext>
            </a:extLst>
          </p:cNvPr>
          <p:cNvSpPr/>
          <p:nvPr/>
        </p:nvSpPr>
        <p:spPr>
          <a:xfrm>
            <a:off x="1502508" y="687600"/>
            <a:ext cx="6647975" cy="46166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ja-JP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構築だけでなく、運用しながら改善する体制。</a:t>
            </a:r>
          </a:p>
        </p:txBody>
      </p:sp>
      <p:sp>
        <p:nvSpPr>
          <p:cNvPr id="15" name="下矢印 1">
            <a:extLst>
              <a:ext uri="{FF2B5EF4-FFF2-40B4-BE49-F238E27FC236}">
                <a16:creationId xmlns:a16="http://schemas.microsoft.com/office/drawing/2014/main" id="{453026E5-FC32-AC14-0437-B9F8A5DB717B}"/>
              </a:ext>
            </a:extLst>
          </p:cNvPr>
          <p:cNvSpPr/>
          <p:nvPr/>
        </p:nvSpPr>
        <p:spPr>
          <a:xfrm>
            <a:off x="3379742" y="4715668"/>
            <a:ext cx="3196046" cy="421640"/>
          </a:xfrm>
          <a:prstGeom prst="downArrow">
            <a:avLst>
              <a:gd name="adj1" fmla="val 50000"/>
              <a:gd name="adj2" fmla="val 52758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ja-JP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ED0D0284-90AC-92C0-335B-D83B919080B0}"/>
              </a:ext>
            </a:extLst>
          </p:cNvPr>
          <p:cNvSpPr/>
          <p:nvPr/>
        </p:nvSpPr>
        <p:spPr>
          <a:xfrm>
            <a:off x="275003" y="5239812"/>
            <a:ext cx="9355994" cy="8671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222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③ チャット対応（自動応答の範囲。有人対応（Chat Plus／Call Plus）は別途）</a:t>
            </a:r>
          </a:p>
        </p:txBody>
      </p:sp>
    </p:spTree>
    <p:extLst>
      <p:ext uri="{BB962C8B-B14F-4D97-AF65-F5344CB8AC3E}">
        <p14:creationId xmlns:p14="http://schemas.microsoft.com/office/powerpoint/2010/main" val="9709585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［第5章］成果｜効果測定の設計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815649"/>
            <a:ext cx="93312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すぐに見る指標と、後から見る指標を分ける。リピート応募は満了を待つため、お約束に含めない。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4896000"/>
            <a:ext cx="9043200" cy="671644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応募CPAの改善は、就業・再就業率が現状と変わらないことを前提に算出する。</a:t>
            </a:r>
          </a:p>
          <a:p>
            <a:pPr algn="l">
              <a:lnSpc>
                <a:spcPct val="16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貴社の実績（月の応募数・面接の実施数・広告費）をいただければ、貴社に合わせた数値をお出しする。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応募CPA ＝（広告費 ＋ LINE運用費）÷ 応募数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1530000"/>
            <a:ext cx="9043200" cy="342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5199" y="1530000"/>
            <a:ext cx="1209600" cy="342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771200" y="1569849"/>
            <a:ext cx="3297600" cy="262301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Meiryo"/>
              </a:rPr>
              <a:t>指標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55199" y="1569849"/>
            <a:ext cx="1713600" cy="262301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Meiryo"/>
              </a:rPr>
              <a:t>確認できる時期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55200" y="1569849"/>
            <a:ext cx="2476800" cy="262301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Meiryo"/>
              </a:rPr>
              <a:t>扱い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199" y="1957152"/>
            <a:ext cx="1209600" cy="297695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Meiryo"/>
              </a:rPr>
              <a:t>すぐに見る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71200" y="1872000"/>
            <a:ext cx="32976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Meiryo"/>
              </a:rPr>
              <a:t>応募率（友だち → 応募）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55199" y="1872000"/>
            <a:ext cx="17136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Meiryo"/>
              </a:rPr>
              <a:t>1週間〜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55200" y="1872000"/>
            <a:ext cx="24768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Meiryo"/>
              </a:rPr>
              <a:t>成果指標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2000" y="2340000"/>
            <a:ext cx="9043200" cy="4680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5199" y="2425152"/>
            <a:ext cx="1209600" cy="297695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Meiryo"/>
              </a:rPr>
              <a:t>すぐに見る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71200" y="2340000"/>
            <a:ext cx="32976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Meiryo"/>
              </a:rPr>
              <a:t>面接・職場見学の実施率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55199" y="2340000"/>
            <a:ext cx="17136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Meiryo"/>
              </a:rPr>
              <a:t>1ヶ月〜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55200" y="2340000"/>
            <a:ext cx="24768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Meiryo"/>
              </a:rPr>
              <a:t>成果指標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199" y="2893152"/>
            <a:ext cx="1209600" cy="297695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7F7F7F"/>
                </a:solidFill>
                <a:latin typeface="メイリオ"/>
                <a:ea typeface="メイリオ"/>
                <a:cs typeface="Meiryo"/>
              </a:rPr>
              <a:t>後から見る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71200" y="2808000"/>
            <a:ext cx="32976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Meiryo"/>
              </a:rPr>
              <a:t>就業・再就業／応募CPA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55199" y="2808000"/>
            <a:ext cx="17136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Meiryo"/>
              </a:rPr>
              <a:t>3〜6ヶ月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55200" y="2808000"/>
            <a:ext cx="24768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Meiryo"/>
              </a:rPr>
              <a:t>就業率が今と同じ水準という前提で算出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2000" y="3456000"/>
            <a:ext cx="9043200" cy="5760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270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58000" y="3595152"/>
            <a:ext cx="1224000" cy="297695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595959"/>
                </a:solidFill>
                <a:latin typeface="メイリオ"/>
                <a:ea typeface="メイリオ"/>
                <a:cs typeface="Meiryo"/>
              </a:rPr>
              <a:t>これまで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00000" y="3456000"/>
            <a:ext cx="7560000" cy="576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Meiryo"/>
              </a:rPr>
              <a:t>応募 → お電話 → つながらない → 面接に来ない → 満了で連絡が途切れる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2000" y="4121999"/>
            <a:ext cx="9043200" cy="576000"/>
          </a:xfrm>
          <a:prstGeom prst="roundRect">
            <a:avLst>
              <a:gd name="adj" fmla="val 12000"/>
            </a:avLst>
          </a:prstGeom>
          <a:solidFill>
            <a:srgbClr val="EEF2F9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58000" y="4261151"/>
            <a:ext cx="1224000" cy="297695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Meiryo"/>
              </a:rPr>
              <a:t>LINE併用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00000" y="4121999"/>
            <a:ext cx="7560000" cy="576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Meiryo"/>
              </a:rPr>
              <a:t>応募 → LINEで条件5問 → 合う求人3件 → 前日リマインド → 満了前に再応募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［第6章］費用プラン（6ヶ月〜／税抜）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貴社の課題とご予算に合わせて、4つのプランから選べる。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初期費用は初月のみ。2か月目以降は月額費用のみ。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1512000"/>
            <a:ext cx="9043200" cy="3312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399" y="1564147"/>
            <a:ext cx="2347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プラン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30400" y="1564147"/>
            <a:ext cx="1771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初期費用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02400" y="1564147"/>
            <a:ext cx="220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月額費用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06400" y="1564147"/>
            <a:ext cx="2318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399" y="1960147"/>
            <a:ext cx="2347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コンサル基本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30400" y="1960147"/>
            <a:ext cx="1771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10万円〜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2400" y="1960147"/>
            <a:ext cx="220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20 / 30 / 50万円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06400" y="1960147"/>
            <a:ext cx="2318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TW" altLang="en-US"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月</a:t>
            </a:r>
            <a:r>
              <a:rPr lang="en-US" altLang="zh-TW"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3</a:t>
            </a:r>
            <a:r>
              <a:rPr lang="zh-TW" altLang="en-US"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／</a:t>
            </a:r>
            <a:r>
              <a:rPr lang="en-US" altLang="zh-TW"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5</a:t>
            </a:r>
            <a:r>
              <a:rPr lang="zh-TW" altLang="en-US"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／</a:t>
            </a:r>
            <a:r>
              <a:rPr lang="en-US" altLang="zh-TW"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9</a:t>
            </a:r>
            <a:r>
              <a:rPr lang="zh-TW" altLang="en-US"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投稿。設計</a:t>
            </a:r>
            <a:r>
              <a:rPr lang="en-US" altLang="zh-TW"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〜</a:t>
            </a:r>
            <a:r>
              <a:rPr lang="zh-TW" altLang="en-US"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運用</a:t>
            </a:r>
            <a:endParaRPr sz="1200" b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32000" y="2304000"/>
            <a:ext cx="9043200" cy="4608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2399" y="2420947"/>
            <a:ext cx="2347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成果報酬型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30400" y="2420947"/>
            <a:ext cx="1771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10万円〜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2400" y="2420947"/>
            <a:ext cx="220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単価 × 成果数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06400" y="2420947"/>
            <a:ext cx="2318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アカウント費・ツール費は別途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2399" y="2881747"/>
            <a:ext cx="2347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初動設計のみ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30400" y="2881747"/>
            <a:ext cx="1771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10万円〜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2400" y="2881747"/>
            <a:ext cx="220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0万円〜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06400" y="2881747"/>
            <a:ext cx="2318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GA計測とステップ配信を構築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2000" y="3225600"/>
            <a:ext cx="9043200" cy="4608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82399" y="3342547"/>
            <a:ext cx="2347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運用代行・効率改善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30400" y="3342547"/>
            <a:ext cx="1771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5万円〜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02400" y="3342547"/>
            <a:ext cx="220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5万円〜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06400" y="3342547"/>
            <a:ext cx="2318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既存運用の改善。月3投稿〜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2000" y="3888000"/>
            <a:ext cx="4392000" cy="1584000"/>
          </a:xfrm>
          <a:prstGeom prst="roundRect">
            <a:avLst>
              <a:gd name="adj" fmla="val 10000"/>
            </a:avLst>
          </a:prstGeom>
          <a:solidFill>
            <a:srgbClr val="EEF2F9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76000" y="3960000"/>
            <a:ext cx="4104000" cy="270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無償で付帯するもの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6000" y="4266000"/>
            <a:ext cx="4104000" cy="1099453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プロフィール／リッチメニュー／あいさつメッセージ／初期アンケート／キーワード自動応答／ステップ配信／セグメント配信／チャットタグ管理／チャット対応（自動応答の範囲）／GAレポート連携／クリエイティブ／定例会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83200" y="3888000"/>
            <a:ext cx="4392000" cy="1584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227200" y="3960000"/>
            <a:ext cx="4104000" cy="270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別途費用がかかるもの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27200" y="4266000"/>
            <a:ext cx="4104000" cy="1168703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通知メッセージ　初期10万＋月8万〜＋通数7円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ポップアップ（離脱防止）初期1.5万＋月3万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サンクスLINE誘導 初期15万＋月3万〜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アカウント開設 初期1万〜／ID連携 初期20万〜＋月5万〜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2000" y="5598000"/>
            <a:ext cx="9043200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32000" y="5638152"/>
            <a:ext cx="90432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まずは初動設計のみ（初期10万円・月額0円〜）から始めることも可能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2000" y="6329941"/>
            <a:ext cx="9043200" cy="156118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dirty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すべて税抜・6か月〜の契約。成果地点と単価は個別に調整する。開発やツール導入は別途費用。目安：コンサル基本＋通知メッセージで月28万円〜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18"/>
          <p:cNvSpPr>
            <a:spLocks noChangeArrowheads="1"/>
          </p:cNvSpPr>
          <p:nvPr/>
        </p:nvSpPr>
        <p:spPr bwMode="auto">
          <a:xfrm>
            <a:off x="1649030" y="5820984"/>
            <a:ext cx="6192837" cy="3736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marL="0" lvl="1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株式会社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DYM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〒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141-0032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東京都品川区大崎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1-11-2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ゲートシティ大崎イーストタワー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10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階</a:t>
            </a:r>
            <a:endParaRPr lang="en-US" altLang="ja-JP" sz="831" b="1" dirty="0">
              <a:solidFill>
                <a:prstClr val="black"/>
              </a:solidFill>
              <a:latin typeface="メイリオ"/>
              <a:ea typeface="メイリオ"/>
              <a:cs typeface="メイリオ"/>
            </a:endParaRPr>
          </a:p>
          <a:p>
            <a:pPr marL="0" lvl="1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TEL: 03-5745-0200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FAX: 03-3779-8720 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http://dym.asia   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代表取締役　水谷佑毅</a:t>
            </a:r>
          </a:p>
        </p:txBody>
      </p:sp>
      <p:pic>
        <p:nvPicPr>
          <p:cNvPr id="24" name="図 1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647" r="-11171"/>
          <a:stretch/>
        </p:blipFill>
        <p:spPr bwMode="auto">
          <a:xfrm>
            <a:off x="543897" y="5895365"/>
            <a:ext cx="1100981" cy="2248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テキスト ボックス 2"/>
          <p:cNvSpPr txBox="1"/>
          <p:nvPr/>
        </p:nvSpPr>
        <p:spPr>
          <a:xfrm>
            <a:off x="5070232" y="559776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ja-JP" altLang="en-US">
              <a:solidFill>
                <a:prstClr val="black"/>
              </a:solidFill>
              <a:latin typeface="Arial" pitchFamily="34" charset="0"/>
              <a:ea typeface="ＭＳ Ｐゴシック" pitchFamily="50" charset="-128"/>
            </a:endParaRPr>
          </a:p>
        </p:txBody>
      </p:sp>
      <p:sp>
        <p:nvSpPr>
          <p:cNvPr id="18" name="正方形/長方形 17"/>
          <p:cNvSpPr/>
          <p:nvPr/>
        </p:nvSpPr>
        <p:spPr>
          <a:xfrm>
            <a:off x="2170038" y="989684"/>
            <a:ext cx="55659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ja-JP" altLang="en-US" b="1" dirty="0">
                <a:solidFill>
                  <a:prstClr val="black"/>
                </a:solidFill>
                <a:latin typeface="メイリオ" charset="0"/>
                <a:ea typeface="メイリオ" charset="0"/>
                <a:cs typeface="メイリオ" charset="0"/>
              </a:rPr>
              <a:t>貴社の明るい未来に必ず貢献致します。</a:t>
            </a:r>
          </a:p>
        </p:txBody>
      </p:sp>
      <p:sp>
        <p:nvSpPr>
          <p:cNvPr id="14" name="正方形/長方形 13"/>
          <p:cNvSpPr/>
          <p:nvPr/>
        </p:nvSpPr>
        <p:spPr>
          <a:xfrm>
            <a:off x="382695" y="2698377"/>
            <a:ext cx="598220" cy="2058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ja-JP" altLang="en-US" sz="738">
                <a:solidFill>
                  <a:srgbClr val="FFFFFF"/>
                </a:solidFill>
                <a:latin typeface="メイリオ" charset="0"/>
                <a:ea typeface="メイリオ" charset="0"/>
                <a:cs typeface="メイリオ" charset="0"/>
              </a:rPr>
              <a:t>本社</a:t>
            </a:r>
          </a:p>
        </p:txBody>
      </p:sp>
      <p:sp>
        <p:nvSpPr>
          <p:cNvPr id="15" name="正方形/長方形 14"/>
          <p:cNvSpPr/>
          <p:nvPr/>
        </p:nvSpPr>
        <p:spPr>
          <a:xfrm>
            <a:off x="368300" y="2355213"/>
            <a:ext cx="756684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ja-JP" altLang="en-US" sz="800" dirty="0">
                <a:solidFill>
                  <a:srgbClr val="FFFFFF"/>
                </a:solidFill>
                <a:latin typeface="メイリオ" charset="0"/>
                <a:ea typeface="メイリオ" charset="0"/>
                <a:cs typeface="メイリオ" charset="0"/>
              </a:rPr>
              <a:t>本社</a:t>
            </a:r>
          </a:p>
        </p:txBody>
      </p:sp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05A1AABC-CDB8-5B83-4CFD-649967A361BF}"/>
              </a:ext>
            </a:extLst>
          </p:cNvPr>
          <p:cNvGrpSpPr/>
          <p:nvPr/>
        </p:nvGrpSpPr>
        <p:grpSpPr>
          <a:xfrm>
            <a:off x="381002" y="1772817"/>
            <a:ext cx="9143999" cy="3314853"/>
            <a:chOff x="1" y="1772816"/>
            <a:chExt cx="9143999" cy="3314853"/>
          </a:xfrm>
        </p:grpSpPr>
        <p:pic>
          <p:nvPicPr>
            <p:cNvPr id="21" name="図 20" descr="ポーズをとる男性グループ&#10;&#10;自動的に生成された説明">
              <a:extLst>
                <a:ext uri="{FF2B5EF4-FFF2-40B4-BE49-F238E27FC236}">
                  <a16:creationId xmlns:a16="http://schemas.microsoft.com/office/drawing/2014/main" id="{4927F40E-D146-C638-5583-C9DC2984722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42" r="4076"/>
            <a:stretch/>
          </p:blipFill>
          <p:spPr>
            <a:xfrm>
              <a:off x="6973793" y="3518745"/>
              <a:ext cx="2170207" cy="1567781"/>
            </a:xfrm>
            <a:prstGeom prst="rect">
              <a:avLst/>
            </a:prstGeom>
          </p:spPr>
        </p:pic>
        <p:pic>
          <p:nvPicPr>
            <p:cNvPr id="16" name="図 15" descr="白いシャツを着ている男性&#10;&#10;中程度の精度で自動的に生成された説明">
              <a:extLst>
                <a:ext uri="{FF2B5EF4-FFF2-40B4-BE49-F238E27FC236}">
                  <a16:creationId xmlns:a16="http://schemas.microsoft.com/office/drawing/2014/main" id="{2ECDFCA7-8611-D865-F999-FDCD0EC2126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83808" y="3519888"/>
              <a:ext cx="1989985" cy="1567781"/>
            </a:xfrm>
            <a:prstGeom prst="rect">
              <a:avLst/>
            </a:prstGeom>
          </p:spPr>
        </p:pic>
        <p:pic>
          <p:nvPicPr>
            <p:cNvPr id="10" name="図 9" descr="スーツを着た男性たち&#10;&#10;自動的に生成された説明">
              <a:extLst>
                <a:ext uri="{FF2B5EF4-FFF2-40B4-BE49-F238E27FC236}">
                  <a16:creationId xmlns:a16="http://schemas.microsoft.com/office/drawing/2014/main" id="{9D3AD52A-1514-4350-FFDD-09984B3666E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703" r="10363"/>
            <a:stretch/>
          </p:blipFill>
          <p:spPr>
            <a:xfrm>
              <a:off x="7299681" y="1773979"/>
              <a:ext cx="1842624" cy="1745909"/>
            </a:xfrm>
            <a:prstGeom prst="rect">
              <a:avLst/>
            </a:prstGeom>
          </p:spPr>
        </p:pic>
        <p:pic>
          <p:nvPicPr>
            <p:cNvPr id="7" name="図 6" descr="講堂にいる人たち&#10;&#10;中程度の精度で自動的に生成された説明">
              <a:extLst>
                <a:ext uri="{FF2B5EF4-FFF2-40B4-BE49-F238E27FC236}">
                  <a16:creationId xmlns:a16="http://schemas.microsoft.com/office/drawing/2014/main" id="{B1CA0DFF-0DAF-D5BD-8D9F-8AFB103E269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12" t="12879" r="2477"/>
            <a:stretch/>
          </p:blipFill>
          <p:spPr>
            <a:xfrm>
              <a:off x="1" y="1772816"/>
              <a:ext cx="5089778" cy="3314853"/>
            </a:xfrm>
            <a:prstGeom prst="rect">
              <a:avLst/>
            </a:prstGeom>
          </p:spPr>
        </p:pic>
        <p:pic>
          <p:nvPicPr>
            <p:cNvPr id="11" name="図 10" descr="スーツを着た男性グループの写真&#10;&#10;低い精度で自動的に生成された説明">
              <a:extLst>
                <a:ext uri="{FF2B5EF4-FFF2-40B4-BE49-F238E27FC236}">
                  <a16:creationId xmlns:a16="http://schemas.microsoft.com/office/drawing/2014/main" id="{FEFAFF33-EFBF-C67E-586A-08D93AF295F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595" r="6763"/>
            <a:stretch/>
          </p:blipFill>
          <p:spPr>
            <a:xfrm>
              <a:off x="5089779" y="1772836"/>
              <a:ext cx="2215315" cy="1745909"/>
            </a:xfrm>
            <a:prstGeom prst="rect">
              <a:avLst/>
            </a:prstGeom>
          </p:spPr>
        </p:pic>
      </p:grp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238B92EF-519D-929F-4345-5BAC445EF234}"/>
              </a:ext>
            </a:extLst>
          </p:cNvPr>
          <p:cNvSpPr/>
          <p:nvPr/>
        </p:nvSpPr>
        <p:spPr>
          <a:xfrm>
            <a:off x="128016" y="6620256"/>
            <a:ext cx="2852928" cy="237744"/>
          </a:xfrm>
          <a:prstGeom prst="rect">
            <a:avLst/>
          </a:prstGeom>
          <a:solidFill>
            <a:srgbClr val="191F54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949B271-D24D-666E-90F2-EA616E1EABC2}"/>
              </a:ext>
            </a:extLst>
          </p:cNvPr>
          <p:cNvSpPr/>
          <p:nvPr/>
        </p:nvSpPr>
        <p:spPr>
          <a:xfrm>
            <a:off x="368300" y="0"/>
            <a:ext cx="9537700" cy="5149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85355464"/>
      </p:ext>
    </p:extLst>
  </p:cSld>
  <p:clrMapOvr>
    <a:masterClrMapping/>
  </p:clrMapOvr>
  <p:transition spd="slow"/>
</p:sld>
</file>

<file path=ppt/theme/theme1.xml><?xml version="1.0" encoding="utf-8"?>
<a:theme xmlns:a="http://schemas.openxmlformats.org/drawingml/2006/main" name="テーマ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テーマ1" id="{8EA1701B-0E00-4167-9612-575199E01EDB}" vid="{8EF6575E-BB77-44AE-AF00-801DE4CAFB82}"/>
    </a:ext>
  </a:extLst>
</a:theme>
</file>

<file path=ppt/theme/theme2.xml><?xml version="1.0" encoding="utf-8"?>
<a:theme xmlns:a="http://schemas.openxmlformats.org/drawingml/2006/main" name="DYMJAPA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141734</TotalTime>
  <Words>4175</Words>
  <Application>Microsoft Office PowerPoint</Application>
  <PresentationFormat>A4 210 x 297 mm</PresentationFormat>
  <Paragraphs>766</Paragraphs>
  <Slides>33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33</vt:i4>
      </vt:variant>
    </vt:vector>
  </HeadingPairs>
  <TitlesOfParts>
    <vt:vector size="40" baseType="lpstr">
      <vt:lpstr>Meiryo</vt:lpstr>
      <vt:lpstr>Meiryo</vt:lpstr>
      <vt:lpstr>Arial</vt:lpstr>
      <vt:lpstr>Calibri</vt:lpstr>
      <vt:lpstr>Century Gothic</vt:lpstr>
      <vt:lpstr>テーマ1</vt:lpstr>
      <vt:lpstr>DYMJAPAN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中村 駿</dc:creator>
  <cp:lastModifiedBy>殿村 亮太</cp:lastModifiedBy>
  <cp:revision>1928</cp:revision>
  <cp:lastPrinted>2022-11-01T11:38:14Z</cp:lastPrinted>
  <dcterms:created xsi:type="dcterms:W3CDTF">2015-09-04T09:21:15Z</dcterms:created>
  <dcterms:modified xsi:type="dcterms:W3CDTF">2026-10-21T09:06:50Z</dcterms:modified>
</cp:coreProperties>
</file>