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6"/>
  </p:notesMasterIdLst>
  <p:handoutMasterIdLst>
    <p:handoutMasterId r:id="rId37"/>
  </p:handoutMasterIdLst>
  <p:sldIdLst>
    <p:sldId id="2363" r:id="rId3"/>
    <p:sldId id="2736" r:id="rId4"/>
    <p:sldId id="2935" r:id="rId5"/>
    <p:sldId id="2989" r:id="rId6"/>
    <p:sldId id="2991" r:id="rId7"/>
    <p:sldId id="2956" r:id="rId8"/>
    <p:sldId id="2762" r:id="rId9"/>
    <p:sldId id="2962" r:id="rId10"/>
    <p:sldId id="2992" r:id="rId11"/>
    <p:sldId id="2993" r:id="rId12"/>
    <p:sldId id="2990" r:id="rId13"/>
    <p:sldId id="2994" r:id="rId14"/>
    <p:sldId id="3009" r:id="rId15"/>
    <p:sldId id="3010" r:id="rId16"/>
    <p:sldId id="3011" r:id="rId17"/>
    <p:sldId id="2939" r:id="rId18"/>
    <p:sldId id="2937" r:id="rId19"/>
    <p:sldId id="2996" r:id="rId20"/>
    <p:sldId id="2997" r:id="rId21"/>
    <p:sldId id="2954" r:id="rId22"/>
    <p:sldId id="2998" r:id="rId23"/>
    <p:sldId id="2966" r:id="rId24"/>
    <p:sldId id="2999" r:id="rId25"/>
    <p:sldId id="3000" r:id="rId26"/>
    <p:sldId id="3001" r:id="rId27"/>
    <p:sldId id="2953" r:id="rId28"/>
    <p:sldId id="3002" r:id="rId29"/>
    <p:sldId id="3003" r:id="rId30"/>
    <p:sldId id="3004" r:id="rId31"/>
    <p:sldId id="2908" r:id="rId32"/>
    <p:sldId id="3005" r:id="rId33"/>
    <p:sldId id="3008" r:id="rId34"/>
    <p:sldId id="1169" r:id="rId3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33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Relationship Id="rId5" Type="http://schemas.openxmlformats.org/officeDocument/2006/relationships/image" Target="../media/image14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15.jpe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23.jpeg"/><Relationship Id="rId5" Type="http://schemas.openxmlformats.org/officeDocument/2006/relationships/image" Target="../media/image24.jpeg"/><Relationship Id="rId6" Type="http://schemas.openxmlformats.org/officeDocument/2006/relationships/image" Target="../media/image25.jpeg"/><Relationship Id="rId7" Type="http://schemas.openxmlformats.org/officeDocument/2006/relationships/image" Target="../media/image26.jpeg"/><Relationship Id="rId8" Type="http://schemas.openxmlformats.org/officeDocument/2006/relationships/image" Target="../media/image2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最上位パートナーの知見を活用し、獲得に強い動線を構築する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422468" y="3910946"/>
            <a:ext cx="3065417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422468" y="4341752"/>
            <a:ext cx="3065417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業界：人材（派遣・バイト・単発）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D3533E4-0377-76E5-495C-9BA89161C5A7}"/>
              </a:ext>
            </a:extLst>
          </p:cNvPr>
          <p:cNvSpPr txBox="1"/>
          <p:nvPr/>
        </p:nvSpPr>
        <p:spPr>
          <a:xfrm>
            <a:off x="547200" y="154743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資料アジェンダ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87600"/>
            <a:ext cx="9043200" cy="684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派遣・バイトの仕事探しは、数日で応募先が決まり、数か月後にまた始まる。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一度応募した方に、次の仕事探しでも戻ってきていただくためのご提案。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458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22000" y="1515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2000" y="1515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1458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第1章｜背景と強み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16184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仕事探しの流れと、LINEでできること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2000" y="20988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2000" y="21564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2000" y="21564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0988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第2章｜全体戦略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20988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契約満了後の再応募を軸にした全体設計・データ・他社事例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7396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2000" y="27972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000" y="27972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27396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第3章｜新規獲得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8000" y="27396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タウンワークの型・友だち追加の動線・あいさつ・リッチメニュー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3804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2000" y="34380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2000" y="34380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000" y="33804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第4章｜配信設計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000" y="35408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7日間のステップ配信・配信文面・満了前のご案内・通知メッセージ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32000" y="40212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22000" y="40788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2000" y="40788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6000" y="40212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第5章｜体制実績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8000" y="41816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運用サポート体制・効果測定の設計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32000" y="4662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22000" y="4719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2000" y="4719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6000" y="4662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第6章｜費用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8000" y="46620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費用プラン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7200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en-US" altLang="ja-JP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［第1章］提案の背景｜仕事探しは、応募のたびにくり返される</a:t>
            </a:r>
            <a:endParaRPr sz="1600" b="1" dirty="0">
              <a:solidFill>
                <a:srgbClr val="00206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17600" y="790329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派遣・バイトの応募は数日で決まり、数か月後にはまた次の仕事を探し始める。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応募のあともつながりを保てれば、次の仕事探しでも貴社を選んでいただきやすくなる。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1624820"/>
            <a:ext cx="4392000" cy="2742488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32000" y="1624820"/>
            <a:ext cx="4392000" cy="318728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20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仕事探しで起きていること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・応募は、広告や求人サイトから集まる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・同じ日に、複数の会社へ応募する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・連絡がつかず、面接に来られない方もいる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・契約満了や閑散期に、また仕事を探し始める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・次の仕事探しも、また広告や検索から始まる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083200" y="1624820"/>
            <a:ext cx="4392000" cy="2742488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83200" y="1624820"/>
            <a:ext cx="4392000" cy="31872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832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72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・希望条件に合う新着求人をお届けできる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・配信は当日中に約8割が開封される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・選択式の質問なら、移動中でも答えやすい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・契約満了の前に、次のお仕事をご案内できる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4755852"/>
            <a:ext cx="9043200" cy="637456"/>
          </a:xfrm>
          <a:prstGeom prst="rect">
            <a:avLst/>
          </a:prstGeom>
          <a:solidFill>
            <a:srgbClr val="EEF2F9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76000" y="4931307"/>
            <a:ext cx="8755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ja-JP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で、応募や選考にスムーズに進めるようにする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出典｜開封率はLINEヤフー公式値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44384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［第1章］派遣・バイト求人のWebマーケ構造｜3つの壁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応募単価や、求人の量・質は、LINEでは変えられない。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LINEで改善できるのは、応募のあとと、次の仕事探しの2つの場面。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881207"/>
            <a:ext cx="3016800" cy="3312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応募単価の高騰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5400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595959"/>
                </a:solidFill>
                <a:latin typeface="メイリオ"/>
                <a:ea typeface="メイリオ"/>
                <a:cs typeface="メイリオ"/>
              </a:rPr>
              <a:t>LINEの対象外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・求人広告の単価は市況で決まる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・求人の仕入れも対象外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72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ectangle 10"/>
          <p:cNvSpPr/>
          <p:nvPr/>
        </p:nvSpPr>
        <p:spPr>
          <a:xfrm>
            <a:off x="3517200" y="1881207"/>
            <a:ext cx="30168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35172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応募後に連絡が取りにくい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2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TextBox 13"/>
          <p:cNvSpPr txBox="1"/>
          <p:nvPr/>
        </p:nvSpPr>
        <p:spPr>
          <a:xfrm>
            <a:off x="36252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2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・同じ日に複数社へ応募している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・電話がつながらず面接に至らない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・職場見学の前に不安で足が止まる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2400" y="1881207"/>
            <a:ext cx="3016800" cy="15881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ectangle 16"/>
          <p:cNvSpPr/>
          <p:nvPr/>
        </p:nvSpPr>
        <p:spPr>
          <a:xfrm>
            <a:off x="6602400" y="1881207"/>
            <a:ext cx="3016800" cy="3312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66024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再応募につながりにくい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04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67104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LINEで改善</a:t>
            </a:r>
            <a:endParaRPr sz="12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104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・契約満了・閑散期にまた探し始める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・その時、連絡手段が残りにくい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・次の応募も広告から集め直す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32000" y="3748026"/>
            <a:ext cx="9043200" cy="8593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②③を改善すると、広告費はそのままで、同じ方にくり返し応募いただき、就業・再就業につながる機会を増やせる。</a:t>
            </a:r>
          </a:p>
          <a:p>
            <a:pPr algn="l">
              <a:lnSpc>
                <a:spcPct val="160000"/>
              </a:lnSpc>
            </a:pPr>
            <a:r>
              <a:rPr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応募CPAの改善は、就業率が今と変わらないことを前提に算出する。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LINEで改善するのは「応募のあと」と「次の仕事探し」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応募から面接に進む割合・リピート応募率は公開データがないため、貴社の実績をもとに算出する／LINEの配信は当日中に約8割が開封される（LINEヤフー公式値）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32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［第1章］Webマーケで「できること」と「できないこと」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30352"/>
            <a:ext cx="9331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求人内容や時給はそのままに、応募後のご連絡と次のお仕事探しをLINEで支援する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27192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できないこと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835975"/>
            <a:ext cx="4104000" cy="184581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求人の質と量（仕入れ</a:t>
            </a: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時給・給与などの条件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求人広告の単価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・雇用情勢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27192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835975"/>
            <a:ext cx="4104000" cy="23197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・応募の直後に、希望条件を5問だけ伺う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・条件に合う新着求人をお届けする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・面接・職場見学の前日にご案内する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・契約満了の前に、次のお仕事をご案内する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・閑散期に友だちを増やし、繁忙期の応募へ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481942" y="4753800"/>
            <a:ext cx="4572001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630685" y="4753800"/>
            <a:ext cx="8386629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戻ってきていただく仕組みを整える</a:t>
            </a:r>
            <a:endParaRPr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C912E4CC-70AD-5529-2A5A-4FA0D1C97A2B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［第2章］全体設計｜カスタマージャーニー8フェーズ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AF6C2475-3BD5-7DF2-52BD-C0F30E8072CF}"/>
              </a:ext>
            </a:extLst>
          </p:cNvPr>
          <p:cNvSpPr txBox="1"/>
          <p:nvPr/>
        </p:nvSpPr>
        <p:spPr>
          <a:xfrm>
            <a:off x="1988819" y="687600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仕事を探す方の行動の流れ（8つの段階）に合わせて、LINEの施策を配置する。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特に力を入れるのは、④応募のあと、⑧契約満了からの再応募。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D0721AE-E7E5-698E-E773-F2614C0DBB07}"/>
              </a:ext>
            </a:extLst>
          </p:cNvPr>
          <p:cNvCxnSpPr>
            <a:cxnSpLocks/>
          </p:cNvCxnSpPr>
          <p:nvPr/>
        </p:nvCxnSpPr>
        <p:spPr>
          <a:xfrm>
            <a:off x="315939" y="2178817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BFFC88E-A589-D631-D366-94F280EFF67D}"/>
              </a:ext>
            </a:extLst>
          </p:cNvPr>
          <p:cNvCxnSpPr>
            <a:cxnSpLocks/>
          </p:cNvCxnSpPr>
          <p:nvPr/>
        </p:nvCxnSpPr>
        <p:spPr>
          <a:xfrm>
            <a:off x="1265077" y="2190680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90E23BB-3076-5B7D-82F3-8433A2B09D1F}"/>
              </a:ext>
            </a:extLst>
          </p:cNvPr>
          <p:cNvCxnSpPr>
            <a:cxnSpLocks/>
          </p:cNvCxnSpPr>
          <p:nvPr/>
        </p:nvCxnSpPr>
        <p:spPr>
          <a:xfrm>
            <a:off x="2202413" y="2188038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A68BF14-4E95-B76C-1300-FF13B29BADF0}"/>
              </a:ext>
            </a:extLst>
          </p:cNvPr>
          <p:cNvCxnSpPr>
            <a:cxnSpLocks/>
          </p:cNvCxnSpPr>
          <p:nvPr/>
        </p:nvCxnSpPr>
        <p:spPr>
          <a:xfrm>
            <a:off x="3136468" y="2207356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6558815C-4A36-8DFA-3258-ADAC642B44B6}"/>
              </a:ext>
            </a:extLst>
          </p:cNvPr>
          <p:cNvCxnSpPr>
            <a:cxnSpLocks/>
          </p:cNvCxnSpPr>
          <p:nvPr/>
        </p:nvCxnSpPr>
        <p:spPr>
          <a:xfrm>
            <a:off x="3541980" y="2217939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B24DBF0-6A3A-0783-C6E3-74B28D837D9E}"/>
              </a:ext>
            </a:extLst>
          </p:cNvPr>
          <p:cNvCxnSpPr>
            <a:cxnSpLocks/>
          </p:cNvCxnSpPr>
          <p:nvPr/>
        </p:nvCxnSpPr>
        <p:spPr>
          <a:xfrm>
            <a:off x="4833781" y="2229802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9F92929-7F37-647E-2D3E-0EB84FFB20D1}"/>
              </a:ext>
            </a:extLst>
          </p:cNvPr>
          <p:cNvCxnSpPr>
            <a:cxnSpLocks/>
          </p:cNvCxnSpPr>
          <p:nvPr/>
        </p:nvCxnSpPr>
        <p:spPr>
          <a:xfrm>
            <a:off x="6125582" y="2227160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53FD7B1-4120-4E04-0DDF-B4B54EDB9BFD}"/>
              </a:ext>
            </a:extLst>
          </p:cNvPr>
          <p:cNvCxnSpPr>
            <a:cxnSpLocks/>
          </p:cNvCxnSpPr>
          <p:nvPr/>
        </p:nvCxnSpPr>
        <p:spPr>
          <a:xfrm>
            <a:off x="7417384" y="2217938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BDE72C7-C765-8BB2-E494-8277E0D528BC}"/>
              </a:ext>
            </a:extLst>
          </p:cNvPr>
          <p:cNvSpPr txBox="1"/>
          <p:nvPr/>
        </p:nvSpPr>
        <p:spPr>
          <a:xfrm>
            <a:off x="3542139" y="2124167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BDDC66-06A4-F147-F6D6-595BB801B1D3}"/>
              </a:ext>
            </a:extLst>
          </p:cNvPr>
          <p:cNvSpPr txBox="1"/>
          <p:nvPr/>
        </p:nvSpPr>
        <p:spPr>
          <a:xfrm>
            <a:off x="6119413" y="2533325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5707FE-6207-A0AF-61A0-E9AABECDAC37}"/>
              </a:ext>
            </a:extLst>
          </p:cNvPr>
          <p:cNvSpPr txBox="1"/>
          <p:nvPr/>
        </p:nvSpPr>
        <p:spPr>
          <a:xfrm>
            <a:off x="4830776" y="2328746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9AFAACD-69A5-DAB7-2AB7-5204509E5CCB}"/>
              </a:ext>
            </a:extLst>
          </p:cNvPr>
          <p:cNvSpPr txBox="1"/>
          <p:nvPr/>
        </p:nvSpPr>
        <p:spPr>
          <a:xfrm>
            <a:off x="7408050" y="2737904"/>
            <a:ext cx="2352196" cy="415498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buNone/>
            </a:pPr>
            <a:endParaRPr lang="ja-JP" altLang="ja-JP" sz="9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B260C5F-25D5-8ED9-9E9C-2E4B97F7FE0C}"/>
              </a:ext>
            </a:extLst>
          </p:cNvPr>
          <p:cNvSpPr txBox="1"/>
          <p:nvPr/>
        </p:nvSpPr>
        <p:spPr>
          <a:xfrm>
            <a:off x="334303" y="2130251"/>
            <a:ext cx="1868111" cy="276999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6A6924-9615-4D2D-207A-2C463DAF53AF}"/>
              </a:ext>
            </a:extLst>
          </p:cNvPr>
          <p:cNvSpPr txBox="1"/>
          <p:nvPr/>
        </p:nvSpPr>
        <p:spPr>
          <a:xfrm>
            <a:off x="1268358" y="234091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C64E429-AF18-081D-2A8E-EDCE056C0C0B}"/>
              </a:ext>
            </a:extLst>
          </p:cNvPr>
          <p:cNvSpPr txBox="1"/>
          <p:nvPr/>
        </p:nvSpPr>
        <p:spPr>
          <a:xfrm>
            <a:off x="2202413" y="253502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B99F819-3A4C-8D01-87D3-59398A0C3663}"/>
              </a:ext>
            </a:extLst>
          </p:cNvPr>
          <p:cNvSpPr txBox="1"/>
          <p:nvPr/>
        </p:nvSpPr>
        <p:spPr>
          <a:xfrm>
            <a:off x="3136468" y="2731376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応募・友だち追加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89810CF4-19DD-8F80-464F-FE8E1D250689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rot="5400000" flipH="1" flipV="1">
            <a:off x="4221581" y="2234721"/>
            <a:ext cx="345599" cy="64771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3F2ACC73-0643-27D8-F1B3-1B871FCEF141}"/>
              </a:ext>
            </a:extLst>
          </p:cNvPr>
          <p:cNvCxnSpPr>
            <a:cxnSpLocks/>
          </p:cNvCxnSpPr>
          <p:nvPr/>
        </p:nvCxnSpPr>
        <p:spPr>
          <a:xfrm>
            <a:off x="334303" y="3515795"/>
            <a:ext cx="3207836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69C05BA8-18F6-F344-3C54-A5E03AFE2368}"/>
              </a:ext>
            </a:extLst>
          </p:cNvPr>
          <p:cNvCxnSpPr>
            <a:cxnSpLocks/>
          </p:cNvCxnSpPr>
          <p:nvPr/>
        </p:nvCxnSpPr>
        <p:spPr>
          <a:xfrm>
            <a:off x="3122098" y="4928015"/>
            <a:ext cx="6619128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77786FC-857A-BA29-36E6-9A41C2E99F31}"/>
              </a:ext>
            </a:extLst>
          </p:cNvPr>
          <p:cNvSpPr txBox="1"/>
          <p:nvPr/>
        </p:nvSpPr>
        <p:spPr>
          <a:xfrm>
            <a:off x="1268358" y="3383509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→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100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B6D9466-EC9E-4057-AB18-8974D147F3E8}"/>
              </a:ext>
            </a:extLst>
          </p:cNvPr>
          <p:cNvSpPr txBox="1"/>
          <p:nvPr/>
        </p:nvSpPr>
        <p:spPr>
          <a:xfrm>
            <a:off x="5558554" y="4804166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➙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050" dirty="0"/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2DCC080-98CE-945F-96A2-C42DE7E0C936}"/>
              </a:ext>
            </a:extLst>
          </p:cNvPr>
          <p:cNvCxnSpPr>
            <a:cxnSpLocks/>
          </p:cNvCxnSpPr>
          <p:nvPr/>
        </p:nvCxnSpPr>
        <p:spPr>
          <a:xfrm>
            <a:off x="3609975" y="3504789"/>
            <a:ext cx="248243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A293A6D-CB27-A495-B2B6-10D3182B0B70}"/>
              </a:ext>
            </a:extLst>
          </p:cNvPr>
          <p:cNvSpPr txBox="1"/>
          <p:nvPr/>
        </p:nvSpPr>
        <p:spPr>
          <a:xfrm>
            <a:off x="3908480" y="3397243"/>
            <a:ext cx="1913269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既存接点→LINEOA領域</a:t>
            </a:r>
            <a:endParaRPr lang="ja-JP" altLang="en-US" sz="1200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AFCBDA6-2140-B4C1-A45D-7A34BC218997}"/>
              </a:ext>
            </a:extLst>
          </p:cNvPr>
          <p:cNvSpPr/>
          <p:nvPr/>
        </p:nvSpPr>
        <p:spPr>
          <a:xfrm>
            <a:off x="334303" y="1552575"/>
            <a:ext cx="9425943" cy="448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52097C2-692E-64D7-A5ED-5C35A2EFC975}"/>
              </a:ext>
            </a:extLst>
          </p:cNvPr>
          <p:cNvCxnSpPr>
            <a:cxnSpLocks/>
          </p:cNvCxnSpPr>
          <p:nvPr/>
        </p:nvCxnSpPr>
        <p:spPr>
          <a:xfrm>
            <a:off x="417642" y="1782459"/>
            <a:ext cx="9240215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F2742C3-41F6-3CC5-6355-EC9495CFE608}"/>
              </a:ext>
            </a:extLst>
          </p:cNvPr>
          <p:cNvSpPr txBox="1"/>
          <p:nvPr/>
        </p:nvSpPr>
        <p:spPr>
          <a:xfrm>
            <a:off x="4066503" y="1654589"/>
            <a:ext cx="2315056" cy="276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カスタマージャーニーマップ</a:t>
            </a:r>
            <a:endParaRPr lang="ja-JP" altLang="en-US" sz="1200" dirty="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F6CFDE9-CDE8-1133-47F9-90F22773AF32}"/>
              </a:ext>
            </a:extLst>
          </p:cNvPr>
          <p:cNvSpPr/>
          <p:nvPr/>
        </p:nvSpPr>
        <p:spPr>
          <a:xfrm>
            <a:off x="315939" y="3613966"/>
            <a:ext cx="577646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どう友だちになっていただくか（Web→LINE）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DCB4B6-9411-CC10-0D34-9F40EC11AD82}"/>
              </a:ext>
            </a:extLst>
          </p:cNvPr>
          <p:cNvSpPr/>
          <p:nvPr/>
        </p:nvSpPr>
        <p:spPr>
          <a:xfrm>
            <a:off x="3122098" y="5051222"/>
            <a:ext cx="661912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どう応募につなげるか（LINE→応募）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94F8848-87A6-4A24-C2DE-D4A5BD2787D7}"/>
              </a:ext>
            </a:extLst>
          </p:cNvPr>
          <p:cNvCxnSpPr>
            <a:cxnSpLocks/>
          </p:cNvCxnSpPr>
          <p:nvPr/>
        </p:nvCxnSpPr>
        <p:spPr>
          <a:xfrm>
            <a:off x="484665" y="3964795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3A35DD7-3CE1-ABA2-45A4-29A5F6D013E2}"/>
              </a:ext>
            </a:extLst>
          </p:cNvPr>
          <p:cNvSpPr txBox="1"/>
          <p:nvPr/>
        </p:nvSpPr>
        <p:spPr>
          <a:xfrm>
            <a:off x="853704" y="3860734"/>
            <a:ext cx="82274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CPF</a:t>
            </a: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広告</a:t>
            </a:r>
            <a:endParaRPr lang="ja-JP" altLang="en-US" sz="1200" b="1" dirty="0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DD36FC2-6468-F5B5-EFB8-BBFB2CF7F452}"/>
              </a:ext>
            </a:extLst>
          </p:cNvPr>
          <p:cNvCxnSpPr>
            <a:cxnSpLocks/>
          </p:cNvCxnSpPr>
          <p:nvPr/>
        </p:nvCxnSpPr>
        <p:spPr>
          <a:xfrm>
            <a:off x="3442595" y="43324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2205788-B1CC-5FF9-ED78-B6DD32267E17}"/>
              </a:ext>
            </a:extLst>
          </p:cNvPr>
          <p:cNvSpPr txBox="1"/>
          <p:nvPr/>
        </p:nvSpPr>
        <p:spPr>
          <a:xfrm>
            <a:off x="3811634" y="41986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000" b="1" dirty="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23E43E2-8157-8C38-4A7C-C186793E6650}"/>
              </a:ext>
            </a:extLst>
          </p:cNvPr>
          <p:cNvCxnSpPr>
            <a:cxnSpLocks/>
          </p:cNvCxnSpPr>
          <p:nvPr/>
        </p:nvCxnSpPr>
        <p:spPr>
          <a:xfrm>
            <a:off x="3442595" y="458569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B46B511-7630-9D21-552D-BAD1DCEC8387}"/>
              </a:ext>
            </a:extLst>
          </p:cNvPr>
          <p:cNvSpPr txBox="1"/>
          <p:nvPr/>
        </p:nvSpPr>
        <p:spPr>
          <a:xfrm>
            <a:off x="3811634" y="4451915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4D8562C-014D-DFB4-2D01-7479448659D1}"/>
              </a:ext>
            </a:extLst>
          </p:cNvPr>
          <p:cNvCxnSpPr>
            <a:cxnSpLocks/>
          </p:cNvCxnSpPr>
          <p:nvPr/>
        </p:nvCxnSpPr>
        <p:spPr>
          <a:xfrm>
            <a:off x="1351697" y="415316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40E1D19-5457-9319-2789-430F63EC5A42}"/>
              </a:ext>
            </a:extLst>
          </p:cNvPr>
          <p:cNvSpPr txBox="1"/>
          <p:nvPr/>
        </p:nvSpPr>
        <p:spPr>
          <a:xfrm>
            <a:off x="1720736" y="4019384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90155E9-25FB-3090-382A-CA0B7F87F965}"/>
              </a:ext>
            </a:extLst>
          </p:cNvPr>
          <p:cNvCxnSpPr>
            <a:cxnSpLocks/>
          </p:cNvCxnSpPr>
          <p:nvPr/>
        </p:nvCxnSpPr>
        <p:spPr>
          <a:xfrm>
            <a:off x="1351697" y="438431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8D35021-E114-E4DF-FF22-BF7BE0CDF4D8}"/>
              </a:ext>
            </a:extLst>
          </p:cNvPr>
          <p:cNvSpPr txBox="1"/>
          <p:nvPr/>
        </p:nvSpPr>
        <p:spPr>
          <a:xfrm>
            <a:off x="1720736" y="4250529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サイト動線の整備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6840C346-E790-A413-26C5-79129D6F5FB7}"/>
              </a:ext>
            </a:extLst>
          </p:cNvPr>
          <p:cNvCxnSpPr>
            <a:cxnSpLocks/>
          </p:cNvCxnSpPr>
          <p:nvPr/>
        </p:nvCxnSpPr>
        <p:spPr>
          <a:xfrm>
            <a:off x="3900757" y="402215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15CC99E-9A08-159E-0120-31020FC33D0F}"/>
              </a:ext>
            </a:extLst>
          </p:cNvPr>
          <p:cNvSpPr txBox="1"/>
          <p:nvPr/>
        </p:nvSpPr>
        <p:spPr>
          <a:xfrm>
            <a:off x="4269796" y="388836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既存リストの活用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26FDFF8-ECDB-0D20-5A53-4F74EF6D93F8}"/>
              </a:ext>
            </a:extLst>
          </p:cNvPr>
          <p:cNvCxnSpPr>
            <a:cxnSpLocks/>
          </p:cNvCxnSpPr>
          <p:nvPr/>
        </p:nvCxnSpPr>
        <p:spPr>
          <a:xfrm>
            <a:off x="5494489" y="432853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3517788-8A00-3CE9-B8A0-DC9904CB9E29}"/>
              </a:ext>
            </a:extLst>
          </p:cNvPr>
          <p:cNvSpPr txBox="1"/>
          <p:nvPr/>
        </p:nvSpPr>
        <p:spPr>
          <a:xfrm>
            <a:off x="5863528" y="4194746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A08B47D-236B-D58F-E880-0E520352BC81}"/>
              </a:ext>
            </a:extLst>
          </p:cNvPr>
          <p:cNvCxnSpPr>
            <a:cxnSpLocks/>
          </p:cNvCxnSpPr>
          <p:nvPr/>
        </p:nvCxnSpPr>
        <p:spPr>
          <a:xfrm>
            <a:off x="5494489" y="45913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76E216-AB77-BC34-74BE-9C14746155C3}"/>
              </a:ext>
            </a:extLst>
          </p:cNvPr>
          <p:cNvSpPr txBox="1"/>
          <p:nvPr/>
        </p:nvSpPr>
        <p:spPr>
          <a:xfrm>
            <a:off x="5863528" y="44575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6F7AD1E-A403-6C2E-4207-BA25C2D7BCC6}"/>
              </a:ext>
            </a:extLst>
          </p:cNvPr>
          <p:cNvCxnSpPr>
            <a:cxnSpLocks/>
          </p:cNvCxnSpPr>
          <p:nvPr/>
        </p:nvCxnSpPr>
        <p:spPr>
          <a:xfrm>
            <a:off x="751071" y="4630661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D798DBD-5393-6131-8034-EC789105D05B}"/>
              </a:ext>
            </a:extLst>
          </p:cNvPr>
          <p:cNvSpPr txBox="1"/>
          <p:nvPr/>
        </p:nvSpPr>
        <p:spPr>
          <a:xfrm>
            <a:off x="983946" y="4526600"/>
            <a:ext cx="1095075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SNS/</a:t>
            </a:r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メルマガ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527AED14-C910-4D3E-987F-EA62ABD18D90}"/>
              </a:ext>
            </a:extLst>
          </p:cNvPr>
          <p:cNvCxnSpPr>
            <a:cxnSpLocks/>
          </p:cNvCxnSpPr>
          <p:nvPr/>
        </p:nvCxnSpPr>
        <p:spPr>
          <a:xfrm>
            <a:off x="747965" y="4897406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9644DD32-D05B-DE83-7791-37895274BDE9}"/>
              </a:ext>
            </a:extLst>
          </p:cNvPr>
          <p:cNvSpPr txBox="1"/>
          <p:nvPr/>
        </p:nvSpPr>
        <p:spPr>
          <a:xfrm>
            <a:off x="969834" y="4806108"/>
            <a:ext cx="1117086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求人誌・店頭のQR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D3D532EE-6712-DE63-E452-E8BEAA167260}"/>
              </a:ext>
            </a:extLst>
          </p:cNvPr>
          <p:cNvCxnSpPr>
            <a:cxnSpLocks/>
          </p:cNvCxnSpPr>
          <p:nvPr/>
        </p:nvCxnSpPr>
        <p:spPr>
          <a:xfrm>
            <a:off x="7259810" y="444458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CDD6E46-B8C3-8536-41F9-F39EB73CBD24}"/>
              </a:ext>
            </a:extLst>
          </p:cNvPr>
          <p:cNvSpPr txBox="1"/>
          <p:nvPr/>
        </p:nvSpPr>
        <p:spPr>
          <a:xfrm>
            <a:off x="7740673" y="4310804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ID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・</a:t>
            </a:r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CRM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連携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9C84515-E6C9-A256-421E-9C3EFEBBFF17}"/>
              </a:ext>
            </a:extLst>
          </p:cNvPr>
          <p:cNvCxnSpPr>
            <a:cxnSpLocks/>
          </p:cNvCxnSpPr>
          <p:nvPr/>
        </p:nvCxnSpPr>
        <p:spPr>
          <a:xfrm>
            <a:off x="7697737" y="549519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7E002B77-EFC0-55F3-D3E6-100837F9B195}"/>
              </a:ext>
            </a:extLst>
          </p:cNvPr>
          <p:cNvSpPr txBox="1"/>
          <p:nvPr/>
        </p:nvSpPr>
        <p:spPr>
          <a:xfrm>
            <a:off x="8178600" y="536140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フォロー体制</a:t>
            </a:r>
            <a:endParaRPr lang="ja-JP" altLang="en-US" sz="11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03BD82C1-8BEC-3E49-C1DA-A1C214DB1C8C}"/>
              </a:ext>
            </a:extLst>
          </p:cNvPr>
          <p:cNvCxnSpPr>
            <a:cxnSpLocks/>
          </p:cNvCxnSpPr>
          <p:nvPr/>
        </p:nvCxnSpPr>
        <p:spPr>
          <a:xfrm>
            <a:off x="4519454" y="5493723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919F797F-1B6A-876C-B468-E147B3D97E8A}"/>
              </a:ext>
            </a:extLst>
          </p:cNvPr>
          <p:cNvSpPr txBox="1"/>
          <p:nvPr/>
        </p:nvSpPr>
        <p:spPr>
          <a:xfrm>
            <a:off x="5267281" y="535993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ステップ配信</a:t>
            </a:r>
            <a:endParaRPr lang="ja-JP" altLang="en-US" sz="1100" b="1" dirty="0"/>
          </a:p>
        </p:txBody>
      </p: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C96E67E6-B364-7DED-CDB8-DDCEEFB96AD2}"/>
              </a:ext>
            </a:extLst>
          </p:cNvPr>
          <p:cNvCxnSpPr>
            <a:cxnSpLocks/>
          </p:cNvCxnSpPr>
          <p:nvPr/>
        </p:nvCxnSpPr>
        <p:spPr>
          <a:xfrm>
            <a:off x="4519295" y="5766839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335DB4AB-DEFA-E356-751F-7106100F929E}"/>
              </a:ext>
            </a:extLst>
          </p:cNvPr>
          <p:cNvSpPr txBox="1"/>
          <p:nvPr/>
        </p:nvSpPr>
        <p:spPr>
          <a:xfrm>
            <a:off x="5267122" y="5633055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</a:t>
            </a:r>
            <a:endParaRPr lang="ja-JP" altLang="en-US" sz="1100" b="1" dirty="0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7884810E-3E89-4CCB-C00C-B386A34717E4}"/>
              </a:ext>
            </a:extLst>
          </p:cNvPr>
          <p:cNvCxnSpPr>
            <a:cxnSpLocks/>
          </p:cNvCxnSpPr>
          <p:nvPr/>
        </p:nvCxnSpPr>
        <p:spPr>
          <a:xfrm>
            <a:off x="3798688" y="5981626"/>
            <a:ext cx="2464861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6FD45AC0-2372-776F-6D16-846C0FB7AC64}"/>
              </a:ext>
            </a:extLst>
          </p:cNvPr>
          <p:cNvSpPr txBox="1"/>
          <p:nvPr/>
        </p:nvSpPr>
        <p:spPr>
          <a:xfrm>
            <a:off x="4258152" y="5863519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希望条件の回収</a:t>
            </a:r>
            <a:endParaRPr lang="ja-JP" altLang="en-US" sz="1200" b="1" dirty="0"/>
          </a:p>
        </p:txBody>
      </p: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5BF3558A-EBED-81EE-B158-28A7CA5D6693}"/>
              </a:ext>
            </a:extLst>
          </p:cNvPr>
          <p:cNvCxnSpPr>
            <a:cxnSpLocks/>
          </p:cNvCxnSpPr>
          <p:nvPr/>
        </p:nvCxnSpPr>
        <p:spPr>
          <a:xfrm>
            <a:off x="3797428" y="6223951"/>
            <a:ext cx="2452867" cy="611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テキスト ボックス 109">
            <a:extLst>
              <a:ext uri="{FF2B5EF4-FFF2-40B4-BE49-F238E27FC236}">
                <a16:creationId xmlns:a16="http://schemas.microsoft.com/office/drawing/2014/main" id="{001266CB-AC56-8914-0ACE-8B554DB19B76}"/>
              </a:ext>
            </a:extLst>
          </p:cNvPr>
          <p:cNvSpPr txBox="1"/>
          <p:nvPr/>
        </p:nvSpPr>
        <p:spPr>
          <a:xfrm>
            <a:off x="4273398" y="613356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スコアリング等</a:t>
            </a:r>
            <a:endParaRPr lang="ja-JP" altLang="en-US" sz="1000" b="1" dirty="0"/>
          </a:p>
        </p:txBody>
      </p:sp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1B403718-ABF2-11BC-1A05-A9E208B7C0F7}"/>
              </a:ext>
            </a:extLst>
          </p:cNvPr>
          <p:cNvCxnSpPr>
            <a:cxnSpLocks/>
          </p:cNvCxnSpPr>
          <p:nvPr/>
        </p:nvCxnSpPr>
        <p:spPr>
          <a:xfrm>
            <a:off x="7118366" y="5985542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B9061E8E-8F76-24D8-6F4C-BBBCDEB37FE0}"/>
              </a:ext>
            </a:extLst>
          </p:cNvPr>
          <p:cNvSpPr txBox="1"/>
          <p:nvPr/>
        </p:nvSpPr>
        <p:spPr>
          <a:xfrm>
            <a:off x="7397140" y="587111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満了時期の回収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17" name="直線矢印コネクタ 116">
            <a:extLst>
              <a:ext uri="{FF2B5EF4-FFF2-40B4-BE49-F238E27FC236}">
                <a16:creationId xmlns:a16="http://schemas.microsoft.com/office/drawing/2014/main" id="{B31EBA12-BB45-627B-A1FD-F44E077537B1}"/>
              </a:ext>
            </a:extLst>
          </p:cNvPr>
          <p:cNvCxnSpPr>
            <a:cxnSpLocks/>
          </p:cNvCxnSpPr>
          <p:nvPr/>
        </p:nvCxnSpPr>
        <p:spPr>
          <a:xfrm>
            <a:off x="7048606" y="624305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B0C05E5D-44B4-DA5D-7C04-0BDC8A4602CE}"/>
              </a:ext>
            </a:extLst>
          </p:cNvPr>
          <p:cNvSpPr txBox="1"/>
          <p:nvPr/>
        </p:nvSpPr>
        <p:spPr>
          <a:xfrm>
            <a:off x="7336089" y="6137342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前日リマインド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19" name="図 118">
            <a:extLst>
              <a:ext uri="{FF2B5EF4-FFF2-40B4-BE49-F238E27FC236}">
                <a16:creationId xmlns:a16="http://schemas.microsoft.com/office/drawing/2014/main" id="{2F4B65BB-B8AA-5045-2074-C574F9423E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4075"/>
          <a:stretch>
            <a:fillRect/>
          </a:stretch>
        </p:blipFill>
        <p:spPr>
          <a:xfrm>
            <a:off x="3005614" y="5048188"/>
            <a:ext cx="703970" cy="1385346"/>
          </a:xfrm>
          <a:prstGeom prst="rect">
            <a:avLst/>
          </a:prstGeom>
        </p:spPr>
      </p:pic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22C9FBF-7B93-079A-E87E-A4C967CD0194}"/>
              </a:ext>
            </a:extLst>
          </p:cNvPr>
          <p:cNvSpPr/>
          <p:nvPr/>
        </p:nvSpPr>
        <p:spPr>
          <a:xfrm>
            <a:off x="3908480" y="5336376"/>
            <a:ext cx="2944325" cy="1076098"/>
          </a:xfrm>
          <a:prstGeom prst="rect">
            <a:avLst/>
          </a:prstGeom>
          <a:noFill/>
          <a:ln w="15875">
            <a:solidFill>
              <a:srgbClr val="1E276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B35388-9C44-6C01-ACAA-2E691617E119}"/>
              </a:ext>
            </a:extLst>
          </p:cNvPr>
          <p:cNvSpPr txBox="1"/>
          <p:nvPr/>
        </p:nvSpPr>
        <p:spPr>
          <a:xfrm>
            <a:off x="5723341" y="6303033"/>
            <a:ext cx="1207049" cy="200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en-US" sz="7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短期7日／満了前に再開</a:t>
            </a:r>
            <a:endParaRPr lang="ja-JP" altLang="ja-JP" sz="7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2ECE7535-75B5-FD71-5DE8-AB1B855FFED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［第2章］全体設計｜LINEで対策できる領域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1D529F5-1969-8F22-8508-5967D82F7783}"/>
              </a:ext>
            </a:extLst>
          </p:cNvPr>
          <p:cNvSpPr/>
          <p:nvPr/>
        </p:nvSpPr>
        <p:spPr>
          <a:xfrm>
            <a:off x="379908" y="1835393"/>
            <a:ext cx="9190811" cy="2162521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32EA92-3996-F5BA-08AE-72B08F79535C}"/>
              </a:ext>
            </a:extLst>
          </p:cNvPr>
          <p:cNvSpPr/>
          <p:nvPr/>
        </p:nvSpPr>
        <p:spPr>
          <a:xfrm>
            <a:off x="379908" y="4397170"/>
            <a:ext cx="9190811" cy="2022499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7E38EC2-DE76-A5FE-A6B8-3B48F7BD7B46}"/>
              </a:ext>
            </a:extLst>
          </p:cNvPr>
          <p:cNvSpPr txBox="1"/>
          <p:nvPr/>
        </p:nvSpPr>
        <p:spPr>
          <a:xfrm>
            <a:off x="379908" y="1527022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&lt;応募前のユーザー領域&gt;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5E4FD7-BF96-305B-4DFF-0204D305BAAE}"/>
              </a:ext>
            </a:extLst>
          </p:cNvPr>
          <p:cNvSpPr txBox="1"/>
          <p:nvPr/>
        </p:nvSpPr>
        <p:spPr>
          <a:xfrm>
            <a:off x="379908" y="4089393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&lt;応募済みユーザー領域&gt;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450FBF-2EA8-4582-869E-9B2A7C4946D7}"/>
              </a:ext>
            </a:extLst>
          </p:cNvPr>
          <p:cNvSpPr/>
          <p:nvPr/>
        </p:nvSpPr>
        <p:spPr>
          <a:xfrm>
            <a:off x="548883" y="2060461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891C2D7-8AEF-98E4-337B-283DC4374AFC}"/>
              </a:ext>
            </a:extLst>
          </p:cNvPr>
          <p:cNvSpPr/>
          <p:nvPr/>
        </p:nvSpPr>
        <p:spPr>
          <a:xfrm>
            <a:off x="548883" y="2322497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670DE23-5EB2-C1E6-9ED3-6176C87DDEA9}"/>
              </a:ext>
            </a:extLst>
          </p:cNvPr>
          <p:cNvSpPr/>
          <p:nvPr/>
        </p:nvSpPr>
        <p:spPr>
          <a:xfrm>
            <a:off x="548883" y="2659935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各種</a:t>
            </a:r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SNS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C708B2-F546-DE85-AA3B-2C7B33013111}"/>
              </a:ext>
            </a:extLst>
          </p:cNvPr>
          <p:cNvSpPr/>
          <p:nvPr/>
        </p:nvSpPr>
        <p:spPr>
          <a:xfrm>
            <a:off x="548883" y="2997373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過去の応募者リスト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12C768D-D601-2E13-45FD-BFE5BA587BC6}"/>
              </a:ext>
            </a:extLst>
          </p:cNvPr>
          <p:cNvSpPr/>
          <p:nvPr/>
        </p:nvSpPr>
        <p:spPr>
          <a:xfrm>
            <a:off x="548883" y="3672249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LINE広告（友だち追加）など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3127993-BF51-568A-20FB-A9FB1DB6C913}"/>
              </a:ext>
            </a:extLst>
          </p:cNvPr>
          <p:cNvSpPr/>
          <p:nvPr/>
        </p:nvSpPr>
        <p:spPr>
          <a:xfrm>
            <a:off x="8170812" y="2408570"/>
            <a:ext cx="1355280" cy="243944"/>
          </a:xfrm>
          <a:prstGeom prst="rect">
            <a:avLst/>
          </a:prstGeom>
          <a:solidFill>
            <a:srgbClr val="1E276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2E81D74A-E79F-C90A-80AF-4F6BDF853777}"/>
              </a:ext>
            </a:extLst>
          </p:cNvPr>
          <p:cNvSpPr/>
          <p:nvPr/>
        </p:nvSpPr>
        <p:spPr>
          <a:xfrm>
            <a:off x="548883" y="3334811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求人誌・店頭・メールのQRコード</a:t>
            </a:r>
            <a:endParaRPr kumimoji="1" lang="ja-JP" altLang="en-US" sz="12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346217DB-3E59-DD17-6353-BB21863AB6A4}"/>
              </a:ext>
            </a:extLst>
          </p:cNvPr>
          <p:cNvSpPr/>
          <p:nvPr/>
        </p:nvSpPr>
        <p:spPr>
          <a:xfrm>
            <a:off x="1950234" y="2999032"/>
            <a:ext cx="1543806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メールマガジン</a:t>
            </a:r>
            <a:endParaRPr kumimoji="1" lang="ja-JP" altLang="en-US" sz="11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B73343-1515-8075-50D7-828D2C7D0482}"/>
              </a:ext>
            </a:extLst>
          </p:cNvPr>
          <p:cNvSpPr/>
          <p:nvPr/>
        </p:nvSpPr>
        <p:spPr>
          <a:xfrm>
            <a:off x="1939622" y="2149679"/>
            <a:ext cx="1543806" cy="295172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離脱防止バナー</a:t>
            </a:r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2" name="コネクタ: カギ線 51">
            <a:extLst>
              <a:ext uri="{FF2B5EF4-FFF2-40B4-BE49-F238E27FC236}">
                <a16:creationId xmlns:a16="http://schemas.microsoft.com/office/drawing/2014/main" id="{10A164B9-404C-F131-0FB7-4A7EC00628C8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1904163" y="2540793"/>
            <a:ext cx="1898060" cy="241114"/>
          </a:xfrm>
          <a:prstGeom prst="bentConnector3">
            <a:avLst>
              <a:gd name="adj1" fmla="val 88139"/>
            </a:avLst>
          </a:prstGeom>
          <a:ln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AB39E10C-FA5C-42F3-51FF-A98C96D3A9FE}"/>
              </a:ext>
            </a:extLst>
          </p:cNvPr>
          <p:cNvSpPr/>
          <p:nvPr/>
        </p:nvSpPr>
        <p:spPr>
          <a:xfrm>
            <a:off x="8170812" y="2124073"/>
            <a:ext cx="1355280" cy="243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新着求人の配信</a:t>
            </a:r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68999E51-25BF-ABC0-E768-EB439414D6AA}"/>
              </a:ext>
            </a:extLst>
          </p:cNvPr>
          <p:cNvSpPr/>
          <p:nvPr/>
        </p:nvSpPr>
        <p:spPr>
          <a:xfrm>
            <a:off x="486784" y="713253"/>
            <a:ext cx="9005456" cy="6532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応募前に離れた方は友だちとして残し、応募した方には次の仕事探しで戻っていただくなど、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LINE公式アカウントで対策できる場面は多く、課題に合わせて施策を組み合わせられる。</a:t>
            </a:r>
            <a:endParaRPr lang="ja-JP" altLang="en-US" sz="14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EF3EB03D-B886-80C5-4DDF-AD318BB1E8CB}"/>
              </a:ext>
            </a:extLst>
          </p:cNvPr>
          <p:cNvSpPr/>
          <p:nvPr/>
        </p:nvSpPr>
        <p:spPr>
          <a:xfrm>
            <a:off x="6444618" y="4938641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GAでの効果測定</a:t>
            </a:r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8185B158-D6FD-FC9A-D842-E0184FC04A2F}"/>
              </a:ext>
            </a:extLst>
          </p:cNvPr>
          <p:cNvSpPr/>
          <p:nvPr/>
        </p:nvSpPr>
        <p:spPr>
          <a:xfrm>
            <a:off x="6444618" y="5207075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投稿スケジュール確認</a:t>
            </a:r>
            <a:endParaRPr kumimoji="1" lang="en-US" altLang="ja-JP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CAF16DCF-7CE0-97CD-A1FD-09B08149FF7B}"/>
              </a:ext>
            </a:extLst>
          </p:cNvPr>
          <p:cNvSpPr/>
          <p:nvPr/>
        </p:nvSpPr>
        <p:spPr>
          <a:xfrm>
            <a:off x="6444617" y="5743943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Call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DE164E19-C9CA-ADE8-FE9B-4A4096DD13BE}"/>
              </a:ext>
            </a:extLst>
          </p:cNvPr>
          <p:cNvSpPr/>
          <p:nvPr/>
        </p:nvSpPr>
        <p:spPr>
          <a:xfrm>
            <a:off x="6444617" y="5475509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Chat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FF9A810E-B53B-2631-3BD5-00395512E9C0}"/>
              </a:ext>
            </a:extLst>
          </p:cNvPr>
          <p:cNvSpPr/>
          <p:nvPr/>
        </p:nvSpPr>
        <p:spPr>
          <a:xfrm>
            <a:off x="6444617" y="6012377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1DF80BB2-F1C3-A39C-D441-B75E4795CC5B}"/>
              </a:ext>
            </a:extLst>
          </p:cNvPr>
          <p:cNvSpPr/>
          <p:nvPr/>
        </p:nvSpPr>
        <p:spPr>
          <a:xfrm>
            <a:off x="6444617" y="4746848"/>
            <a:ext cx="1424263" cy="16373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定期的な対応（一部）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CABD8985-CFB7-BFB4-C5CA-334F6DD3C337}"/>
              </a:ext>
            </a:extLst>
          </p:cNvPr>
          <p:cNvSpPr/>
          <p:nvPr/>
        </p:nvSpPr>
        <p:spPr>
          <a:xfrm>
            <a:off x="3634802" y="1986633"/>
            <a:ext cx="4080010" cy="2098921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498D1E1C-883A-4348-5898-29B2849E59E6}"/>
              </a:ext>
            </a:extLst>
          </p:cNvPr>
          <p:cNvSpPr/>
          <p:nvPr/>
        </p:nvSpPr>
        <p:spPr>
          <a:xfrm>
            <a:off x="3802223" y="2418821"/>
            <a:ext cx="1355280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cxnSp>
        <p:nvCxnSpPr>
          <p:cNvPr id="51" name="コネクタ: カギ線 50">
            <a:extLst>
              <a:ext uri="{FF2B5EF4-FFF2-40B4-BE49-F238E27FC236}">
                <a16:creationId xmlns:a16="http://schemas.microsoft.com/office/drawing/2014/main" id="{2981AEA5-C263-1A76-AF6F-7D4F94F3AC3F}"/>
              </a:ext>
            </a:extLst>
          </p:cNvPr>
          <p:cNvCxnSpPr>
            <a:cxnSpLocks/>
          </p:cNvCxnSpPr>
          <p:nvPr/>
        </p:nvCxnSpPr>
        <p:spPr>
          <a:xfrm flipV="1">
            <a:off x="3492137" y="2540793"/>
            <a:ext cx="310086" cy="915990"/>
          </a:xfrm>
          <a:prstGeom prst="bentConnector3">
            <a:avLst>
              <a:gd name="adj1" fmla="val 27532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コネクタ: カギ線 52">
            <a:extLst>
              <a:ext uri="{FF2B5EF4-FFF2-40B4-BE49-F238E27FC236}">
                <a16:creationId xmlns:a16="http://schemas.microsoft.com/office/drawing/2014/main" id="{6898DA80-B20A-0E45-B382-62A8490927C1}"/>
              </a:ext>
            </a:extLst>
          </p:cNvPr>
          <p:cNvCxnSpPr>
            <a:cxnSpLocks/>
          </p:cNvCxnSpPr>
          <p:nvPr/>
        </p:nvCxnSpPr>
        <p:spPr>
          <a:xfrm flipV="1">
            <a:off x="3483428" y="2540793"/>
            <a:ext cx="310086" cy="1253428"/>
          </a:xfrm>
          <a:prstGeom prst="bentConnector3">
            <a:avLst>
              <a:gd name="adj1" fmla="val 3034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コネクタ: カギ線 53">
            <a:extLst>
              <a:ext uri="{FF2B5EF4-FFF2-40B4-BE49-F238E27FC236}">
                <a16:creationId xmlns:a16="http://schemas.microsoft.com/office/drawing/2014/main" id="{4194983F-AFC0-FB2F-1207-1AF108AFDA19}"/>
              </a:ext>
            </a:extLst>
          </p:cNvPr>
          <p:cNvCxnSpPr>
            <a:cxnSpLocks/>
          </p:cNvCxnSpPr>
          <p:nvPr/>
        </p:nvCxnSpPr>
        <p:spPr>
          <a:xfrm>
            <a:off x="3483428" y="2297265"/>
            <a:ext cx="318795" cy="243528"/>
          </a:xfrm>
          <a:prstGeom prst="bentConnector3">
            <a:avLst>
              <a:gd name="adj1" fmla="val 28488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B20DB094-045E-2E0D-7026-B0BFFA8F2374}"/>
              </a:ext>
            </a:extLst>
          </p:cNvPr>
          <p:cNvSpPr/>
          <p:nvPr/>
        </p:nvSpPr>
        <p:spPr>
          <a:xfrm>
            <a:off x="5319694" y="212207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企画配信（セグメント配信）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960DE889-CA21-9C03-FD30-9F8BA1C11BE0}"/>
              </a:ext>
            </a:extLst>
          </p:cNvPr>
          <p:cNvSpPr/>
          <p:nvPr/>
        </p:nvSpPr>
        <p:spPr>
          <a:xfrm>
            <a:off x="5319694" y="238767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B0198902-7C67-1321-611C-A528F8B056D6}"/>
              </a:ext>
            </a:extLst>
          </p:cNvPr>
          <p:cNvSpPr/>
          <p:nvPr/>
        </p:nvSpPr>
        <p:spPr>
          <a:xfrm>
            <a:off x="5319694" y="265326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条件5問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EC9DC48F-C12B-8A2A-8E49-C82DF8C2398F}"/>
              </a:ext>
            </a:extLst>
          </p:cNvPr>
          <p:cNvSpPr/>
          <p:nvPr/>
        </p:nvSpPr>
        <p:spPr>
          <a:xfrm>
            <a:off x="3883318" y="2695245"/>
            <a:ext cx="1274185" cy="16661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初期設計の項目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7FD4C92A-1BF4-DC29-74E5-5DDCAEC47D74}"/>
              </a:ext>
            </a:extLst>
          </p:cNvPr>
          <p:cNvSpPr txBox="1"/>
          <p:nvPr/>
        </p:nvSpPr>
        <p:spPr>
          <a:xfrm>
            <a:off x="3894226" y="2879422"/>
            <a:ext cx="12741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プロフィール画面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・応答メッセージ設定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・チャットタグ設定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・計測タグ設定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 </a:t>
            </a:r>
            <a:r>
              <a:rPr lang="en-US" altLang="ja-JP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6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 </a:t>
            </a:r>
            <a:r>
              <a:rPr lang="en-US" altLang="ja-JP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7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3C7CD555-05D0-53EC-B6D5-ED734EBA27DF}"/>
              </a:ext>
            </a:extLst>
          </p:cNvPr>
          <p:cNvSpPr/>
          <p:nvPr/>
        </p:nvSpPr>
        <p:spPr>
          <a:xfrm>
            <a:off x="5326708" y="291886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タグ・セグメントの管理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64296BD6-7E19-AF65-3C1F-3AA68F3DB296}"/>
              </a:ext>
            </a:extLst>
          </p:cNvPr>
          <p:cNvSpPr/>
          <p:nvPr/>
        </p:nvSpPr>
        <p:spPr>
          <a:xfrm>
            <a:off x="5326708" y="3450051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初期設計の見直し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B391CFB-A763-8F28-0B80-C4699C620787}"/>
              </a:ext>
            </a:extLst>
          </p:cNvPr>
          <p:cNvSpPr/>
          <p:nvPr/>
        </p:nvSpPr>
        <p:spPr>
          <a:xfrm>
            <a:off x="5326708" y="318445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よくある質問への自動応答</a:t>
            </a:r>
            <a:endParaRPr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78BE8892-FE50-BF73-B15E-567C1CFD9A8A}"/>
              </a:ext>
            </a:extLst>
          </p:cNvPr>
          <p:cNvSpPr/>
          <p:nvPr/>
        </p:nvSpPr>
        <p:spPr>
          <a:xfrm>
            <a:off x="6487455" y="265530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タグ配信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FB8C9E8-13C6-54AE-CC6C-E66EB44BEE66}"/>
              </a:ext>
            </a:extLst>
          </p:cNvPr>
          <p:cNvSpPr/>
          <p:nvPr/>
        </p:nvSpPr>
        <p:spPr>
          <a:xfrm>
            <a:off x="5319693" y="3715648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条件変更の受付</a:t>
            </a:r>
          </a:p>
        </p:txBody>
      </p:sp>
      <p:cxnSp>
        <p:nvCxnSpPr>
          <p:cNvPr id="78" name="コネクタ: カギ線 77">
            <a:extLst>
              <a:ext uri="{FF2B5EF4-FFF2-40B4-BE49-F238E27FC236}">
                <a16:creationId xmlns:a16="http://schemas.microsoft.com/office/drawing/2014/main" id="{A0B29E3B-5447-4104-E77E-C26EB1CB0F8A}"/>
              </a:ext>
            </a:extLst>
          </p:cNvPr>
          <p:cNvCxnSpPr>
            <a:cxnSpLocks/>
            <a:stCxn id="77" idx="3"/>
          </p:cNvCxnSpPr>
          <p:nvPr/>
        </p:nvCxnSpPr>
        <p:spPr>
          <a:xfrm flipV="1">
            <a:off x="7612378" y="2246045"/>
            <a:ext cx="558434" cy="1580487"/>
          </a:xfrm>
          <a:prstGeom prst="bentConnector3">
            <a:avLst>
              <a:gd name="adj1" fmla="val 7651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コネクタ: カギ線 78">
            <a:extLst>
              <a:ext uri="{FF2B5EF4-FFF2-40B4-BE49-F238E27FC236}">
                <a16:creationId xmlns:a16="http://schemas.microsoft.com/office/drawing/2014/main" id="{6F60DF78-AC16-9662-17BD-3EBCD4677BB3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7619393" y="2530542"/>
            <a:ext cx="551419" cy="10303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コネクタ: カギ線 81">
            <a:extLst>
              <a:ext uri="{FF2B5EF4-FFF2-40B4-BE49-F238E27FC236}">
                <a16:creationId xmlns:a16="http://schemas.microsoft.com/office/drawing/2014/main" id="{9ACE7516-910E-229D-8D61-02389EE1209F}"/>
              </a:ext>
            </a:extLst>
          </p:cNvPr>
          <p:cNvCxnSpPr>
            <a:cxnSpLocks/>
            <a:stCxn id="75" idx="3"/>
          </p:cNvCxnSpPr>
          <p:nvPr/>
        </p:nvCxnSpPr>
        <p:spPr>
          <a:xfrm flipV="1">
            <a:off x="7619393" y="2530542"/>
            <a:ext cx="551419" cy="76479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CFEF0AA5-73C6-3E02-7EDB-57BE374DCDBF}"/>
              </a:ext>
            </a:extLst>
          </p:cNvPr>
          <p:cNvCxnSpPr>
            <a:cxnSpLocks/>
            <a:stCxn id="69" idx="3"/>
          </p:cNvCxnSpPr>
          <p:nvPr/>
        </p:nvCxnSpPr>
        <p:spPr>
          <a:xfrm flipV="1">
            <a:off x="7619393" y="2530542"/>
            <a:ext cx="551419" cy="4992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994CBAF5-3A55-5F8D-2FE3-7E89A4D5C622}"/>
              </a:ext>
            </a:extLst>
          </p:cNvPr>
          <p:cNvCxnSpPr>
            <a:cxnSpLocks/>
            <a:stCxn id="76" idx="3"/>
          </p:cNvCxnSpPr>
          <p:nvPr/>
        </p:nvCxnSpPr>
        <p:spPr>
          <a:xfrm flipV="1">
            <a:off x="7612379" y="2530542"/>
            <a:ext cx="558433" cy="2356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コネクタ: カギ線 84">
            <a:extLst>
              <a:ext uri="{FF2B5EF4-FFF2-40B4-BE49-F238E27FC236}">
                <a16:creationId xmlns:a16="http://schemas.microsoft.com/office/drawing/2014/main" id="{95AFF09E-E9EC-B83D-758F-AB3E03B91C2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7612379" y="2498555"/>
            <a:ext cx="558433" cy="319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81E043B6-4E27-2700-F284-741B1F2B6E9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7612379" y="2232960"/>
            <a:ext cx="558433" cy="29758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左中かっこ 87">
            <a:extLst>
              <a:ext uri="{FF2B5EF4-FFF2-40B4-BE49-F238E27FC236}">
                <a16:creationId xmlns:a16="http://schemas.microsoft.com/office/drawing/2014/main" id="{3EB6A587-08D7-7B0D-8BB4-704F3A9413A8}"/>
              </a:ext>
            </a:extLst>
          </p:cNvPr>
          <p:cNvSpPr/>
          <p:nvPr/>
        </p:nvSpPr>
        <p:spPr>
          <a:xfrm>
            <a:off x="5156221" y="2086266"/>
            <a:ext cx="181099" cy="1866748"/>
          </a:xfrm>
          <a:prstGeom prst="leftBrace">
            <a:avLst>
              <a:gd name="adj1" fmla="val 8333"/>
              <a:gd name="adj2" fmla="val 2319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13F6801A-CC8C-370B-47CD-0E9A8F78DA92}"/>
              </a:ext>
            </a:extLst>
          </p:cNvPr>
          <p:cNvSpPr/>
          <p:nvPr/>
        </p:nvSpPr>
        <p:spPr>
          <a:xfrm>
            <a:off x="468899" y="4586771"/>
            <a:ext cx="5679352" cy="1887988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EBF6537D-D75B-DA5C-78EC-88D8F874BA82}"/>
              </a:ext>
            </a:extLst>
          </p:cNvPr>
          <p:cNvSpPr/>
          <p:nvPr/>
        </p:nvSpPr>
        <p:spPr>
          <a:xfrm>
            <a:off x="2207057" y="6002525"/>
            <a:ext cx="848549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友だち化</a:t>
            </a:r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1A52527A-0CF0-029E-8E86-430BD9DEAAA1}"/>
              </a:ext>
            </a:extLst>
          </p:cNvPr>
          <p:cNvSpPr/>
          <p:nvPr/>
        </p:nvSpPr>
        <p:spPr>
          <a:xfrm>
            <a:off x="548883" y="4704947"/>
            <a:ext cx="731277" cy="24394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898B747D-663D-3118-8C11-74EB0324AD5C}"/>
              </a:ext>
            </a:extLst>
          </p:cNvPr>
          <p:cNvCxnSpPr>
            <a:stCxn id="93" idx="0"/>
          </p:cNvCxnSpPr>
          <p:nvPr/>
        </p:nvCxnSpPr>
        <p:spPr>
          <a:xfrm rot="5400000" flipH="1" flipV="1">
            <a:off x="3855271" y="-288234"/>
            <a:ext cx="2052433" cy="7933930"/>
          </a:xfrm>
          <a:prstGeom prst="bentConnector3">
            <a:avLst>
              <a:gd name="adj1" fmla="val 8842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CA244CA5-B309-FA6E-284D-7CBC7CC2508F}"/>
              </a:ext>
            </a:extLst>
          </p:cNvPr>
          <p:cNvCxnSpPr>
            <a:cxnSpLocks/>
            <a:stCxn id="93" idx="2"/>
            <a:endCxn id="92" idx="1"/>
          </p:cNvCxnSpPr>
          <p:nvPr/>
        </p:nvCxnSpPr>
        <p:spPr>
          <a:xfrm rot="16200000" flipH="1">
            <a:off x="972986" y="4890426"/>
            <a:ext cx="1175606" cy="1292535"/>
          </a:xfrm>
          <a:prstGeom prst="bentConnector2">
            <a:avLst/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B6490177-CFF0-A875-7C56-F0FC8CA2C530}"/>
              </a:ext>
            </a:extLst>
          </p:cNvPr>
          <p:cNvSpPr/>
          <p:nvPr/>
        </p:nvSpPr>
        <p:spPr>
          <a:xfrm>
            <a:off x="562021" y="5819567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 err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6D76C720-225A-6A92-8A49-A13770789615}"/>
              </a:ext>
            </a:extLst>
          </p:cNvPr>
          <p:cNvSpPr/>
          <p:nvPr/>
        </p:nvSpPr>
        <p:spPr>
          <a:xfrm>
            <a:off x="562021" y="6084246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</a:t>
            </a: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9927067B-793F-D21C-B90A-7C7E46812D7F}"/>
              </a:ext>
            </a:extLst>
          </p:cNvPr>
          <p:cNvSpPr/>
          <p:nvPr/>
        </p:nvSpPr>
        <p:spPr>
          <a:xfrm>
            <a:off x="3713703" y="473132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面接・見学の前日リマインド</a:t>
            </a: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BD2E83D5-3372-C439-208D-783F428C9D84}"/>
              </a:ext>
            </a:extLst>
          </p:cNvPr>
          <p:cNvSpPr/>
          <p:nvPr/>
        </p:nvSpPr>
        <p:spPr>
          <a:xfrm>
            <a:off x="3713703" y="499691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契約満了前の再案内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087D59E0-E0CE-3934-C1B4-0EF4D82E0B2E}"/>
              </a:ext>
            </a:extLst>
          </p:cNvPr>
          <p:cNvSpPr/>
          <p:nvPr/>
        </p:nvSpPr>
        <p:spPr>
          <a:xfrm>
            <a:off x="3713703" y="526251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就業開始</a:t>
            </a:r>
          </a:p>
        </p:txBody>
      </p:sp>
      <p:sp>
        <p:nvSpPr>
          <p:cNvPr id="105" name="正方形/長方形 104">
            <a:extLst>
              <a:ext uri="{FF2B5EF4-FFF2-40B4-BE49-F238E27FC236}">
                <a16:creationId xmlns:a16="http://schemas.microsoft.com/office/drawing/2014/main" id="{78BB80E0-2482-846A-E4FE-C1770384E88E}"/>
              </a:ext>
            </a:extLst>
          </p:cNvPr>
          <p:cNvSpPr/>
          <p:nvPr/>
        </p:nvSpPr>
        <p:spPr>
          <a:xfrm>
            <a:off x="3720717" y="552810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満了時期タグの設定</a:t>
            </a:r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C885333E-56CE-B011-72B9-07B332849355}"/>
              </a:ext>
            </a:extLst>
          </p:cNvPr>
          <p:cNvSpPr/>
          <p:nvPr/>
        </p:nvSpPr>
        <p:spPr>
          <a:xfrm>
            <a:off x="4881464" y="526455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就業後フォロー</a:t>
            </a:r>
          </a:p>
        </p:txBody>
      </p:sp>
      <p:cxnSp>
        <p:nvCxnSpPr>
          <p:cNvPr id="112" name="コネクタ: カギ線 111">
            <a:extLst>
              <a:ext uri="{FF2B5EF4-FFF2-40B4-BE49-F238E27FC236}">
                <a16:creationId xmlns:a16="http://schemas.microsoft.com/office/drawing/2014/main" id="{BDA83037-5C06-C2D0-EF8B-90AE0F4336B5}"/>
              </a:ext>
            </a:extLst>
          </p:cNvPr>
          <p:cNvCxnSpPr>
            <a:cxnSpLocks/>
            <a:stCxn id="93" idx="3"/>
            <a:endCxn id="101" idx="1"/>
          </p:cNvCxnSpPr>
          <p:nvPr/>
        </p:nvCxnSpPr>
        <p:spPr>
          <a:xfrm>
            <a:off x="1280160" y="4826919"/>
            <a:ext cx="2433543" cy="1528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コネクタ: カギ線 114">
            <a:extLst>
              <a:ext uri="{FF2B5EF4-FFF2-40B4-BE49-F238E27FC236}">
                <a16:creationId xmlns:a16="http://schemas.microsoft.com/office/drawing/2014/main" id="{BA23D5BC-C7EC-06D4-215C-2852A68F0F9B}"/>
              </a:ext>
            </a:extLst>
          </p:cNvPr>
          <p:cNvCxnSpPr>
            <a:cxnSpLocks/>
            <a:stCxn id="93" idx="3"/>
            <a:endCxn id="102" idx="1"/>
          </p:cNvCxnSpPr>
          <p:nvPr/>
        </p:nvCxnSpPr>
        <p:spPr>
          <a:xfrm>
            <a:off x="1280160" y="4826919"/>
            <a:ext cx="2433543" cy="2808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F8AA6994-29BC-2C26-DE5F-C0C21F502236}"/>
              </a:ext>
            </a:extLst>
          </p:cNvPr>
          <p:cNvCxnSpPr>
            <a:cxnSpLocks/>
            <a:stCxn id="93" idx="3"/>
            <a:endCxn id="104" idx="1"/>
          </p:cNvCxnSpPr>
          <p:nvPr/>
        </p:nvCxnSpPr>
        <p:spPr>
          <a:xfrm>
            <a:off x="1280160" y="4826919"/>
            <a:ext cx="2433543" cy="54647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3AE4A3D0-6C1F-7BCD-3ED2-5F066684CE21}"/>
              </a:ext>
            </a:extLst>
          </p:cNvPr>
          <p:cNvCxnSpPr>
            <a:cxnSpLocks/>
            <a:stCxn id="93" idx="3"/>
            <a:endCxn id="105" idx="1"/>
          </p:cNvCxnSpPr>
          <p:nvPr/>
        </p:nvCxnSpPr>
        <p:spPr>
          <a:xfrm>
            <a:off x="1280160" y="4826919"/>
            <a:ext cx="2440557" cy="81207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F922E2DE-5C74-6CAA-736C-BAC94D2952DF}"/>
              </a:ext>
            </a:extLst>
          </p:cNvPr>
          <p:cNvSpPr/>
          <p:nvPr/>
        </p:nvSpPr>
        <p:spPr>
          <a:xfrm>
            <a:off x="3713703" y="5792944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不採用・辞退後の次の求人</a:t>
            </a: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03175683-57AB-6FFA-0F27-7E81645CA47B}"/>
              </a:ext>
            </a:extLst>
          </p:cNvPr>
          <p:cNvSpPr/>
          <p:nvPr/>
        </p:nvSpPr>
        <p:spPr>
          <a:xfrm>
            <a:off x="3720717" y="6061629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自動応答（FAQ）</a:t>
            </a:r>
          </a:p>
        </p:txBody>
      </p:sp>
      <p:cxnSp>
        <p:nvCxnSpPr>
          <p:cNvPr id="122" name="コネクタ: カギ線 121">
            <a:extLst>
              <a:ext uri="{FF2B5EF4-FFF2-40B4-BE49-F238E27FC236}">
                <a16:creationId xmlns:a16="http://schemas.microsoft.com/office/drawing/2014/main" id="{30FE3CED-649C-7946-1117-B1E2FD2D7F2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605206" y="3681433"/>
            <a:ext cx="3347219" cy="1294966"/>
          </a:xfrm>
          <a:prstGeom prst="bentConnector3">
            <a:avLst>
              <a:gd name="adj1" fmla="val 46358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5EB01514-8877-C931-E7AA-81B28EB77681}"/>
              </a:ext>
            </a:extLst>
          </p:cNvPr>
          <p:cNvSpPr/>
          <p:nvPr/>
        </p:nvSpPr>
        <p:spPr>
          <a:xfrm>
            <a:off x="6986937" y="1517116"/>
            <a:ext cx="2583782" cy="252610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ツールの導入で自動化できる領域</a:t>
            </a:r>
            <a:endParaRPr kumimoji="1" lang="ja-JP" altLang="en-US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6758DBC2-018A-378B-99F0-43DAFE20DF5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［第2章］全体設計｜施策の考え方（どこでLINEにつなぐか）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94458F3-B182-EFAE-9BE8-8E76712736E7}"/>
              </a:ext>
            </a:extLst>
          </p:cNvPr>
          <p:cNvSpPr/>
          <p:nvPr/>
        </p:nvSpPr>
        <p:spPr>
          <a:xfrm>
            <a:off x="175475" y="1823735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DB57FCC-E034-81EB-B2ED-2EB62032A504}"/>
              </a:ext>
            </a:extLst>
          </p:cNvPr>
          <p:cNvSpPr/>
          <p:nvPr/>
        </p:nvSpPr>
        <p:spPr>
          <a:xfrm>
            <a:off x="4994298" y="1823734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C363108-225C-23EE-472E-1E1A14DA49E4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10" name="Google Shape;752;p28">
            <a:extLst>
              <a:ext uri="{FF2B5EF4-FFF2-40B4-BE49-F238E27FC236}">
                <a16:creationId xmlns:a16="http://schemas.microsoft.com/office/drawing/2014/main" id="{9A39965E-24C8-AD90-0D9E-A9BC47D02016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応募した方だけをLINEにつなぐか、応募前に離れた方もつなぐか。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同じ流入でも、その後にご案内できる人数が大きく変わる。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D1533E-1582-9E17-EE6F-EA2F4BE96D58}"/>
              </a:ext>
            </a:extLst>
          </p:cNvPr>
          <p:cNvSpPr txBox="1"/>
          <p:nvPr/>
        </p:nvSpPr>
        <p:spPr>
          <a:xfrm>
            <a:off x="422130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C43BB1A-3D6A-04B9-F8ED-26CB7DCA3735}"/>
              </a:ext>
            </a:extLst>
          </p:cNvPr>
          <p:cNvSpPr txBox="1"/>
          <p:nvPr/>
        </p:nvSpPr>
        <p:spPr>
          <a:xfrm>
            <a:off x="422130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B10DC8-82CD-0C69-034B-7642E1296837}"/>
              </a:ext>
            </a:extLst>
          </p:cNvPr>
          <p:cNvSpPr txBox="1"/>
          <p:nvPr/>
        </p:nvSpPr>
        <p:spPr>
          <a:xfrm>
            <a:off x="422130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15AFA19-CD5F-9379-AE26-44B78C354860}"/>
              </a:ext>
            </a:extLst>
          </p:cNvPr>
          <p:cNvSpPr txBox="1"/>
          <p:nvPr/>
        </p:nvSpPr>
        <p:spPr>
          <a:xfrm>
            <a:off x="422130" y="3467172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応募後のみ追加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2062743-7DD1-C474-56DE-C86161967F49}"/>
              </a:ext>
            </a:extLst>
          </p:cNvPr>
          <p:cNvSpPr txBox="1"/>
          <p:nvPr/>
        </p:nvSpPr>
        <p:spPr>
          <a:xfrm>
            <a:off x="422130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3F98235-7ECD-D5F4-08BE-76857355ABFA}"/>
              </a:ext>
            </a:extLst>
          </p:cNvPr>
          <p:cNvSpPr txBox="1"/>
          <p:nvPr/>
        </p:nvSpPr>
        <p:spPr>
          <a:xfrm>
            <a:off x="422130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99F747F-6C0D-0BDB-B5B7-8266514B8949}"/>
              </a:ext>
            </a:extLst>
          </p:cNvPr>
          <p:cNvSpPr txBox="1"/>
          <p:nvPr/>
        </p:nvSpPr>
        <p:spPr>
          <a:xfrm>
            <a:off x="422130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2277771-01BE-2A4E-C621-929D69C54177}"/>
              </a:ext>
            </a:extLst>
          </p:cNvPr>
          <p:cNvSpPr txBox="1"/>
          <p:nvPr/>
        </p:nvSpPr>
        <p:spPr>
          <a:xfrm>
            <a:off x="422130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9CD79024-49B9-DF89-8EE9-633017761437}"/>
              </a:ext>
            </a:extLst>
          </p:cNvPr>
          <p:cNvCxnSpPr>
            <a:cxnSpLocks/>
          </p:cNvCxnSpPr>
          <p:nvPr/>
        </p:nvCxnSpPr>
        <p:spPr>
          <a:xfrm>
            <a:off x="725974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707324A-CA31-10C7-B6B8-E3A9A53CC3A2}"/>
              </a:ext>
            </a:extLst>
          </p:cNvPr>
          <p:cNvSpPr txBox="1"/>
          <p:nvPr/>
        </p:nvSpPr>
        <p:spPr>
          <a:xfrm>
            <a:off x="5143202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DFDD2E-A723-2916-4648-0F5E903278F3}"/>
              </a:ext>
            </a:extLst>
          </p:cNvPr>
          <p:cNvSpPr txBox="1"/>
          <p:nvPr/>
        </p:nvSpPr>
        <p:spPr>
          <a:xfrm>
            <a:off x="5143202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895B974-A656-2669-0CE1-C27F2B4B20BE}"/>
              </a:ext>
            </a:extLst>
          </p:cNvPr>
          <p:cNvSpPr txBox="1"/>
          <p:nvPr/>
        </p:nvSpPr>
        <p:spPr>
          <a:xfrm>
            <a:off x="5143202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A07117C9-502D-4C6F-AA2E-1C1E7CF7B4C6}"/>
              </a:ext>
            </a:extLst>
          </p:cNvPr>
          <p:cNvSpPr txBox="1"/>
          <p:nvPr/>
        </p:nvSpPr>
        <p:spPr>
          <a:xfrm>
            <a:off x="5143202" y="3467173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離脱時も追加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6761199-CD70-153F-E94B-20E5E833D7A7}"/>
              </a:ext>
            </a:extLst>
          </p:cNvPr>
          <p:cNvSpPr txBox="1"/>
          <p:nvPr/>
        </p:nvSpPr>
        <p:spPr>
          <a:xfrm>
            <a:off x="5143202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72CCB353-50A1-FF17-E933-B1158BEE91E4}"/>
              </a:ext>
            </a:extLst>
          </p:cNvPr>
          <p:cNvSpPr txBox="1"/>
          <p:nvPr/>
        </p:nvSpPr>
        <p:spPr>
          <a:xfrm>
            <a:off x="5143202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4A347FC-9BE7-316C-5F13-B7762E412092}"/>
              </a:ext>
            </a:extLst>
          </p:cNvPr>
          <p:cNvSpPr txBox="1"/>
          <p:nvPr/>
        </p:nvSpPr>
        <p:spPr>
          <a:xfrm>
            <a:off x="5143202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1750602-2370-CB79-F23B-20E4B2FC9A45}"/>
              </a:ext>
            </a:extLst>
          </p:cNvPr>
          <p:cNvSpPr txBox="1"/>
          <p:nvPr/>
        </p:nvSpPr>
        <p:spPr>
          <a:xfrm>
            <a:off x="5143202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7398214A-9BC3-94A2-1B44-ABFB6EF10A95}"/>
              </a:ext>
            </a:extLst>
          </p:cNvPr>
          <p:cNvCxnSpPr>
            <a:cxnSpLocks/>
          </p:cNvCxnSpPr>
          <p:nvPr/>
        </p:nvCxnSpPr>
        <p:spPr>
          <a:xfrm>
            <a:off x="5447046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図 49">
            <a:extLst>
              <a:ext uri="{FF2B5EF4-FFF2-40B4-BE49-F238E27FC236}">
                <a16:creationId xmlns:a16="http://schemas.microsoft.com/office/drawing/2014/main" id="{BC82B682-A1BD-AF78-6196-B1E02CC1F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117" y="3452400"/>
            <a:ext cx="481489" cy="448956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13BFB52F-AE2C-2214-E223-63E053D9F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89" y="3453958"/>
            <a:ext cx="481489" cy="448956"/>
          </a:xfrm>
          <a:prstGeom prst="rect">
            <a:avLst/>
          </a:prstGeom>
        </p:spPr>
      </p:pic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EDC00F02-3FEF-F2A7-D36C-00239CB92DE5}"/>
              </a:ext>
            </a:extLst>
          </p:cNvPr>
          <p:cNvSpPr/>
          <p:nvPr/>
        </p:nvSpPr>
        <p:spPr>
          <a:xfrm>
            <a:off x="175475" y="1503248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パターン① 応募した方だけLINEへ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3B6038D6-0E00-CDB9-8318-C7D05A37E8F2}"/>
              </a:ext>
            </a:extLst>
          </p:cNvPr>
          <p:cNvSpPr/>
          <p:nvPr/>
        </p:nvSpPr>
        <p:spPr>
          <a:xfrm>
            <a:off x="4994298" y="1503247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パターン② 応募前に離れた方もつなぐ</a:t>
            </a:r>
          </a:p>
        </p:txBody>
      </p:sp>
      <p:pic>
        <p:nvPicPr>
          <p:cNvPr id="70" name="図 69">
            <a:extLst>
              <a:ext uri="{FF2B5EF4-FFF2-40B4-BE49-F238E27FC236}">
                <a16:creationId xmlns:a16="http://schemas.microsoft.com/office/drawing/2014/main" id="{B5C916EA-56BA-12E3-B0EE-D83A8EC90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045" y="3298969"/>
            <a:ext cx="1792611" cy="2688917"/>
          </a:xfrm>
          <a:prstGeom prst="rect">
            <a:avLst/>
          </a:prstGeom>
        </p:spPr>
      </p:pic>
      <p:pic>
        <p:nvPicPr>
          <p:cNvPr id="826" name="図 825">
            <a:extLst>
              <a:ext uri="{FF2B5EF4-FFF2-40B4-BE49-F238E27FC236}">
                <a16:creationId xmlns:a16="http://schemas.microsoft.com/office/drawing/2014/main" id="{2D4E7AC1-305D-07DC-9608-BFD7502EF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6321" y="3297600"/>
            <a:ext cx="1586218" cy="237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［第2章］ニーズ調査｜シーズナリティ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検索のピークは、派遣が3月、バイトがその1か月後の4月。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どちらも12月が最も少ないため、12月に準備を進め、派遣とバイトで配信の時期を1か月ずらす。</a:t>
            </a:r>
          </a:p>
        </p:txBody>
      </p:sp>
      <p:pic>
        <p:nvPicPr>
          <p:cNvPr id="4" name="Picture 3" descr="人材_シーズナリティ_転職と退職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512000"/>
            <a:ext cx="8748000" cy="262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4284000"/>
            <a:ext cx="9043200" cy="107560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派遣のピークは3月（指数110.8）、バイトは4月（117.5）。年度替わりに集中する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どちらも12月が最も少ない（派遣88.4／バイト88.0）。友だちを増やしておく時期と考える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バイトは8月にも少なくなる（89.1）。夏は短期・単発の求人を案内しやすい時期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検索が少ない時期に友だちを増やし、ピークの応募につなげる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出典｜Googleトレンド「派遣」「バイト」（日本・過去5年・月次／年平均＝100で指数化、12か月そろう4年分の平均）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［第2章］ニーズ調査｜前後検索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「派遣 求人」を検索した方が、その前後15日間に何を調べているか。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検索した当日に派遣会社名が多く並び、同じ日に複数の会社を比べていることが分かる。</a:t>
            </a:r>
          </a:p>
        </p:txBody>
      </p:sp>
      <p:pic>
        <p:nvPicPr>
          <p:cNvPr id="4" name="Picture 3" descr="人材A_前後検索_色分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512000"/>
            <a:ext cx="6294857" cy="3671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06857" y="1602000"/>
            <a:ext cx="198000" cy="198000"/>
          </a:xfrm>
          <a:prstGeom prst="rect">
            <a:avLst/>
          </a:prstGeom>
          <a:solidFill>
            <a:srgbClr val="8E4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76857" y="1587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8E4EC6"/>
                </a:solidFill>
                <a:latin typeface="メイリオ"/>
                <a:ea typeface="メイリオ"/>
                <a:cs typeface="メイリオ"/>
              </a:rPr>
              <a:t>仕事を探し始める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6857" y="1944000"/>
            <a:ext cx="198000" cy="198000"/>
          </a:xfrm>
          <a:prstGeom prst="rect">
            <a:avLst/>
          </a:prstGeom>
          <a:solidFill>
            <a:srgbClr val="346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6857" y="1929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派遣会社を並べて比較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6857" y="2286000"/>
            <a:ext cx="198000" cy="1980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76857" y="2271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条件を詰める（単発・短期）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6857" y="2628000"/>
            <a:ext cx="198000" cy="19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76857" y="2613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続けられるか・辞めどき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6857" y="3131999"/>
            <a:ext cx="2568342" cy="136106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探し始めた時点で、先の働き方も気にしている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5日後「派遣 更新しない」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次の仕事を考え始めている可能性がある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仕事を探し始めた時点で、すでに次の働き方を気にしている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媒体データ（検索の前後行動）。起点KW「派遣 求人」・直近1年間（2025年3月17日〜2026年3月22日）。※検索行動のデータであり、応募者ご本人の行動と同じとは限らない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［第2章］求職者の心理｜不安は、応募のあとにも続く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3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前後検索を見ると、「派遣 求人」「単発バイト」を検索した方は、検索の前は仕事を探し、検索の後は「続けられるか」「副業として問題ないか」を調べている。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応募のあとも同じ不安があると考え、配信を設計する。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47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-7 〜 -1日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000" y="1620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スキマ時間で、すぐ稼ぎたい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000" y="1961999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在宅 スキマ時間／在宅ワーク 求人／バイト 求人（単発バイト）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失業保険 計算／ハローワーク 求人（派遣 求人）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754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432000" y="2754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432000" y="3153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 〜 +2日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0000" y="2826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0000" y="3168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派遣会社／エン派遣／アデコ／パソナ（派遣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タイミー／バイトル／短期バイト／単発バイト アプリ（単発バイト）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960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ectangle 14"/>
          <p:cNvSpPr/>
          <p:nvPr/>
        </p:nvSpPr>
        <p:spPr>
          <a:xfrm>
            <a:off x="432000" y="3960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432000" y="4359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+1 〜 +15日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0000" y="4031999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続けられるか・副業として問題ないか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0000" y="4374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 更新しない／派遣 職場見学（派遣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確定申告 20万円以下／ダブルワーク 扶養内 いくらまで（単発バイト）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5220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5242455"/>
            <a:ext cx="9043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応募のあとも、役に立つ情報をLINEで届け続ける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媒体データ（検索の前後行動）。起点KW「派遣 求人」「単発バイト」・直近1年間（2025年3月17日〜2026年3月22日）。※検索行動のデータであり、応募後の行動そのものではない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［第2章］他社分析｜主要エージェントのLINE運用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大手各社は、すでにLINE公式アカウントを運用している。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差が出るのは友だち数ではなく、友だち追加の直後に何をご案内しているか。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8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4000" y="1600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アカウント構成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0400" y="1600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友だち追加直後のご案内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385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リクルートエージェント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400" y="1938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1,468,273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4000" y="19385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0400" y="19385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アカウント連携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2248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284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400" y="2284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1,338,559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4000" y="2284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2件（相談／チャレンジ）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0400" y="2284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あいさつ1行のみ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6297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マイナビ転職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400" y="2629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751,112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4000" y="26297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0400" y="26297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情報配信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29160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29753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type[転職]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18400" y="2975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292,109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4000" y="29753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サイト・エージェント別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0400" y="29753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求人カルーセル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320946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type転職エージェント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8400" y="33209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68,051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4000" y="3320946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0400" y="3320946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登録フォームへ誘導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36072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36665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UZUZ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18400" y="3666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26,532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4000" y="36665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2件（サポート／CS）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0400" y="36665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選択式アンケート4問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012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マイナビ保育士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18400" y="4012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44000" y="4012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職種特化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0400" y="4012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3問診断＋非公開求人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000" y="4464000"/>
            <a:ext cx="9043200" cy="709346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大手ほど、アカウント連携や登録フォームなど、LINEの外へご案内している。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LINEの中で完結させているのは、第二新卒特化のUZUZと、職種特化のマイナビ保育士。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LINEの中で希望を伺い、合う求人までお届けする運用は、総合大手ではまだ少ない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出典｜各社の page.line.me（公式）。2026年9月12日に実機で確認。友だち数は表示値。マイナビ保育士は友だち数非公開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［第2章］運用の参考事例｜タウンワーク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アルバイト求人のタウンワークは、LINEを「求人を探す入口」にした（LINEヤフー公式の導入事例）。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リッチメニューにさまざまなバイト条件を並べ、応募が増えた（2019年公開の事例）。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for Business 導入事例「バイト応募件数約80％増！リッチメニューを生かしたタウンワークのLINE活用事例」（2019年1月公開・数値は取材時点）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求人を「届ける」だけでなく、「探す入口」をLINEに置いたことが応募につながった。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リッチメニューのタップ数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＋20%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リッチメニューを充実させる前と比べて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3511296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＋79%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同じく、充実させる前と比べて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6592824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LINE経由の応募の内訳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リッチメニューが最多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配信（プッシュ）からの応募を上回る</a:t>
            </a:r>
            <a:endParaRPr lang="ja-JP" alt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429768" y="2487168"/>
            <a:ext cx="90434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何をしたか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429768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　リンクでサイトへ</a:t>
            </a:r>
            <a:endParaRPr lang="ja-JP" altLang="en-US" sz="1050" dirty="0"/>
          </a:p>
        </p:txBody>
      </p:sp>
      <p:sp>
        <p:nvSpPr>
          <p:cNvPr id="27" name="Rectangle 26"/>
          <p:cNvSpPr/>
          <p:nvPr/>
        </p:nvSpPr>
        <p:spPr>
          <a:xfrm>
            <a:off x="429768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リッチメニューのバイト条件をタップすると、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ワンタップでリンク先（サイト）へ移動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5088636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　トーク検索（LINEの中で完結）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5088636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条件を選んだり入力したりすると、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合う求人がカード形式でトークに届く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429768" y="3904487"/>
            <a:ext cx="904341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128016" tIns="36576" rIns="128016" bIns="36576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最もタップされたのは、一番上に置いた「人気のバイト検索条件」。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リッチメニューは、トーク画面を開くと必ず目に入る場所。そこに「探す」を置いている。</a:t>
            </a:r>
            <a:endParaRPr lang="ja-JP" altLang="en-US" sz="1050" dirty="0"/>
          </a:p>
        </p:txBody>
      </p:sp>
      <p:sp>
        <p:nvSpPr>
          <p:cNvPr id="31" name="Rectangle 30"/>
          <p:cNvSpPr/>
          <p:nvPr/>
        </p:nvSpPr>
        <p:spPr>
          <a:xfrm>
            <a:off x="429768" y="4572000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LINE公式アカウントの開設は2017年4月、リッチメニューの強化は2018年2月から（Messaging APIを利用）。</a:t>
            </a:r>
            <a:endParaRPr lang="ja-JP" altLang="en-US" sz="900" dirty="0"/>
          </a:p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2019年時点で、今後は利用者の状況や行動に応じてリッチメニューを出し分けることを構想していると紹介されている。</a:t>
            </a:r>
            <a:endParaRPr lang="ja-JP" alt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友だち追加の直後に「気になるテーマをタップ」と案内し、リッチメニューには学生歓迎などが並ぶ。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条件を選ぶと、条件を入れた状態の検索結果ページへ移動し、応募はサイトで行う作り。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　あいさつ</a:t>
            </a:r>
            <a:endParaRPr lang="ja-JP" altLang="en-US" sz="1050" dirty="0"/>
          </a:p>
        </p:txBody>
      </p:sp>
      <p:pic>
        <p:nvPicPr>
          <p:cNvPr id="22" name="タウンワーク_あいさ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6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3" name="Rectangle 22"/>
          <p:cNvSpPr/>
          <p:nvPr/>
        </p:nvSpPr>
        <p:spPr>
          <a:xfrm>
            <a:off x="338328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追加の直後に「気になるテーマを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タップ」と時間帯別の画像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2743200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　リッチメニュー</a:t>
            </a:r>
            <a:endParaRPr lang="ja-JP" altLang="en-US" sz="1050" dirty="0"/>
          </a:p>
        </p:txBody>
      </p:sp>
      <p:pic>
        <p:nvPicPr>
          <p:cNvPr id="25" name="タウンワーク_リッチメニュ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008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2651760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学生歓迎・単発・1日OKなど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条件がワンタップ</a:t>
            </a:r>
            <a:endParaRPr lang="ja-JP" altLang="en-US" sz="950" dirty="0"/>
          </a:p>
        </p:txBody>
      </p:sp>
      <p:sp>
        <p:nvSpPr>
          <p:cNvPr id="27" name="Rounded Rectangle 26"/>
          <p:cNvSpPr/>
          <p:nvPr/>
        </p:nvSpPr>
        <p:spPr>
          <a:xfrm>
            <a:off x="5056632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　移動先のサイト</a:t>
            </a:r>
            <a:endParaRPr lang="ja-JP" altLang="en-US" sz="1050" dirty="0"/>
          </a:p>
        </p:txBody>
      </p:sp>
      <p:pic>
        <p:nvPicPr>
          <p:cNvPr id="28" name="タウンワーク_移動先のサイト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1440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9" name="Rectangle 28"/>
          <p:cNvSpPr/>
          <p:nvPr/>
        </p:nvSpPr>
        <p:spPr>
          <a:xfrm>
            <a:off x="4965192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条件を入れた状態の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検索結果ページ</a:t>
            </a:r>
            <a:endParaRPr lang="ja-JP" altLang="en-US" sz="950" dirty="0"/>
          </a:p>
        </p:txBody>
      </p:sp>
      <p:sp>
        <p:nvSpPr>
          <p:cNvPr id="30" name="Rounded Rectangle 29"/>
          <p:cNvSpPr/>
          <p:nvPr/>
        </p:nvSpPr>
        <p:spPr>
          <a:xfrm>
            <a:off x="7370064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4　会員連携の画面</a:t>
            </a:r>
            <a:endParaRPr lang="ja-JP" altLang="en-US" sz="1050" dirty="0"/>
          </a:p>
        </p:txBody>
      </p:sp>
      <p:pic>
        <p:nvPicPr>
          <p:cNvPr id="31" name="タウンワーク_会員連携の画面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4872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7278624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会員連携（リクルートID）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［第3章］タウンワークの取り組みは、3つの仕組みに分けられる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公式事例（2019年）と実際の画面（2026年9月）から、3つの仕組みが読み取れる。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特に①の考え方を、リッチメニュー（P21）に取り入れる。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出典：LINEヤフー for Business 導入事例（タウンワーク・2019年1月公開）・タウンワーク LINE公式アカウント（2026年9月 弊社確認）。実際の画面はP14。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応募はサイトで行い、LINEには「探す入口」と「次に探すきっかけ」を置く。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リッチメニューを「探す入口」に</a:t>
            </a: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「学生歓迎」「主婦・主夫歓迎」「シニア歓迎」「単発・1日OK」など、バイトの条件をワンタップに。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一番上に置いた人気の検索条件が、最もタップされた（2019年公開の事例）。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タップ数 ＋20%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 ＋79%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（2019年公開の事例）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追加の直後に、探し方を案内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あいさつで「気になるテーマをタップ」と案内し、時間帯別（午前中・お昼から・夕方〜夜・深夜・夜勤）の画像を出す。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通知が多いと感じたら、オフにする方法も先に伝えている。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あいさつ＋時間帯別の画像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（2026年9月 弊社確認）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6592824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応募はサイトで、LINEは入口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条件を選ぶと、条件を入れた状態の検索結果ページへ移動。応募はサイトで行う。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合う求人を受け取るために、会員情報とLINEを連携する。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移動先＝条件入りの検索結果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会員連携＝リクルートID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8856EBE-32D8-42F5-9D61-C53BF60EFB33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［第3章］構築｜施策展開図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6340BD7-9269-59A1-EA69-7426F07778B6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7C701305-F75E-4087-21C2-FA3CCCA8FB67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「新しい友だちの追加」と「応募につなげる動線」の2つが重要。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企画配信（毎月）とステップ配信（常時）を組み合わせて、動線をつくる。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A40E6EC-1B5E-5E46-EF89-1167C08649BA}"/>
              </a:ext>
            </a:extLst>
          </p:cNvPr>
          <p:cNvSpPr/>
          <p:nvPr/>
        </p:nvSpPr>
        <p:spPr>
          <a:xfrm>
            <a:off x="963202" y="3662763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友だち追加後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2FE26F6B-D35B-6A6B-42D2-794437452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3566663"/>
            <a:ext cx="582602" cy="543237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403F1B-B20A-C75C-8FCB-74AAD1581A2F}"/>
              </a:ext>
            </a:extLst>
          </p:cNvPr>
          <p:cNvSpPr/>
          <p:nvPr/>
        </p:nvSpPr>
        <p:spPr>
          <a:xfrm>
            <a:off x="686977" y="2019915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5" name="図 34" descr="lpデザインイラスト｜無料イラスト・フリー素材なら「イラストAC」">
            <a:extLst>
              <a:ext uri="{FF2B5EF4-FFF2-40B4-BE49-F238E27FC236}">
                <a16:creationId xmlns:a16="http://schemas.microsoft.com/office/drawing/2014/main" id="{EA2CF7EC-851A-10FF-17B6-E422C43BD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58" y="1875286"/>
            <a:ext cx="853665" cy="640720"/>
          </a:xfrm>
          <a:prstGeom prst="rect">
            <a:avLst/>
          </a:prstGeom>
        </p:spPr>
      </p:pic>
      <p:sp>
        <p:nvSpPr>
          <p:cNvPr id="40" name="矢印: 下 39">
            <a:extLst>
              <a:ext uri="{FF2B5EF4-FFF2-40B4-BE49-F238E27FC236}">
                <a16:creationId xmlns:a16="http://schemas.microsoft.com/office/drawing/2014/main" id="{0D54B1A9-3944-66DE-F219-BB4192EDE144}"/>
              </a:ext>
            </a:extLst>
          </p:cNvPr>
          <p:cNvSpPr/>
          <p:nvPr/>
        </p:nvSpPr>
        <p:spPr>
          <a:xfrm>
            <a:off x="3290805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矢印: 下 40">
            <a:extLst>
              <a:ext uri="{FF2B5EF4-FFF2-40B4-BE49-F238E27FC236}">
                <a16:creationId xmlns:a16="http://schemas.microsoft.com/office/drawing/2014/main" id="{781A5984-3599-DC05-2E88-6BB61F188EB3}"/>
              </a:ext>
            </a:extLst>
          </p:cNvPr>
          <p:cNvSpPr/>
          <p:nvPr/>
        </p:nvSpPr>
        <p:spPr>
          <a:xfrm>
            <a:off x="5657443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矢印: 下 41">
            <a:extLst>
              <a:ext uri="{FF2B5EF4-FFF2-40B4-BE49-F238E27FC236}">
                <a16:creationId xmlns:a16="http://schemas.microsoft.com/office/drawing/2014/main" id="{1C76D7C3-BFEE-8DA3-57FA-033BD7E35285}"/>
              </a:ext>
            </a:extLst>
          </p:cNvPr>
          <p:cNvSpPr/>
          <p:nvPr/>
        </p:nvSpPr>
        <p:spPr>
          <a:xfrm>
            <a:off x="5657443" y="201991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矢印: 下 42">
            <a:extLst>
              <a:ext uri="{FF2B5EF4-FFF2-40B4-BE49-F238E27FC236}">
                <a16:creationId xmlns:a16="http://schemas.microsoft.com/office/drawing/2014/main" id="{4E9F9DC2-BA49-A440-DA89-D45BC9E52C3A}"/>
              </a:ext>
            </a:extLst>
          </p:cNvPr>
          <p:cNvSpPr/>
          <p:nvPr/>
        </p:nvSpPr>
        <p:spPr>
          <a:xfrm>
            <a:off x="3290805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矢印: 下 43">
            <a:extLst>
              <a:ext uri="{FF2B5EF4-FFF2-40B4-BE49-F238E27FC236}">
                <a16:creationId xmlns:a16="http://schemas.microsoft.com/office/drawing/2014/main" id="{6915D3B6-2B4C-5707-CB40-2696B722BA40}"/>
              </a:ext>
            </a:extLst>
          </p:cNvPr>
          <p:cNvSpPr/>
          <p:nvPr/>
        </p:nvSpPr>
        <p:spPr>
          <a:xfrm>
            <a:off x="5657443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988BB36-5119-99B1-DF59-D4B80D30745C}"/>
              </a:ext>
            </a:extLst>
          </p:cNvPr>
          <p:cNvSpPr/>
          <p:nvPr/>
        </p:nvSpPr>
        <p:spPr>
          <a:xfrm>
            <a:off x="963202" y="5305611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具体的な施策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48" name="図 47">
            <a:extLst>
              <a:ext uri="{FF2B5EF4-FFF2-40B4-BE49-F238E27FC236}">
                <a16:creationId xmlns:a16="http://schemas.microsoft.com/office/drawing/2014/main" id="{FE05BA15-FE69-7259-F5B1-7935A92D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5203250"/>
            <a:ext cx="582602" cy="543237"/>
          </a:xfrm>
          <a:prstGeom prst="rect">
            <a:avLst/>
          </a:prstGeom>
        </p:spPr>
      </p:pic>
      <p:sp>
        <p:nvSpPr>
          <p:cNvPr id="68" name="矢印: 下 67">
            <a:extLst>
              <a:ext uri="{FF2B5EF4-FFF2-40B4-BE49-F238E27FC236}">
                <a16:creationId xmlns:a16="http://schemas.microsoft.com/office/drawing/2014/main" id="{552BBE13-4EF3-7D14-9401-EE47B669E0A1}"/>
              </a:ext>
            </a:extLst>
          </p:cNvPr>
          <p:cNvSpPr/>
          <p:nvPr/>
        </p:nvSpPr>
        <p:spPr>
          <a:xfrm>
            <a:off x="8023941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矢印: 下 68">
            <a:extLst>
              <a:ext uri="{FF2B5EF4-FFF2-40B4-BE49-F238E27FC236}">
                <a16:creationId xmlns:a16="http://schemas.microsoft.com/office/drawing/2014/main" id="{1CE2AD45-B81D-8C9E-9BEA-EE8F41408D09}"/>
              </a:ext>
            </a:extLst>
          </p:cNvPr>
          <p:cNvSpPr/>
          <p:nvPr/>
        </p:nvSpPr>
        <p:spPr>
          <a:xfrm>
            <a:off x="8023941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矢印: 下 69">
            <a:extLst>
              <a:ext uri="{FF2B5EF4-FFF2-40B4-BE49-F238E27FC236}">
                <a16:creationId xmlns:a16="http://schemas.microsoft.com/office/drawing/2014/main" id="{841F38E6-682B-0593-E7F1-B970924D2312}"/>
              </a:ext>
            </a:extLst>
          </p:cNvPr>
          <p:cNvSpPr/>
          <p:nvPr/>
        </p:nvSpPr>
        <p:spPr>
          <a:xfrm>
            <a:off x="8007886" y="202849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EB9A5047-E824-A278-1DE7-38BCB5F653E4}"/>
              </a:ext>
            </a:extLst>
          </p:cNvPr>
          <p:cNvSpPr/>
          <p:nvPr/>
        </p:nvSpPr>
        <p:spPr>
          <a:xfrm>
            <a:off x="2835604" y="2013850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その他動線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0BB931D-9C48-0F74-78B7-B39FB7567FB3}"/>
              </a:ext>
            </a:extLst>
          </p:cNvPr>
          <p:cNvGrpSpPr/>
          <p:nvPr/>
        </p:nvGrpSpPr>
        <p:grpSpPr>
          <a:xfrm>
            <a:off x="2497445" y="1791214"/>
            <a:ext cx="885030" cy="827297"/>
            <a:chOff x="2497445" y="1791214"/>
            <a:chExt cx="885030" cy="827297"/>
          </a:xfrm>
        </p:grpSpPr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95316F7A-1FC1-3A66-5456-79F5F6363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7445" y="1791214"/>
              <a:ext cx="420559" cy="556499"/>
            </a:xfrm>
            <a:prstGeom prst="rect">
              <a:avLst/>
            </a:prstGeom>
          </p:spPr>
        </p:pic>
        <p:pic>
          <p:nvPicPr>
            <p:cNvPr id="74" name="図 73" descr="生活・その他】SNSとスマホのかわいいフリーイラスト | フタバのフリーイラスト">
              <a:extLst>
                <a:ext uri="{FF2B5EF4-FFF2-40B4-BE49-F238E27FC236}">
                  <a16:creationId xmlns:a16="http://schemas.microsoft.com/office/drawing/2014/main" id="{425A3C52-3D63-0CC5-2649-471F74876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10493" y="1846529"/>
              <a:ext cx="771982" cy="771982"/>
            </a:xfrm>
            <a:prstGeom prst="rect">
              <a:avLst/>
            </a:prstGeom>
          </p:spPr>
        </p:pic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A26D9D0D-8E50-52D9-7E65-8B19393671D2}"/>
              </a:ext>
            </a:extLst>
          </p:cNvPr>
          <p:cNvSpPr txBox="1"/>
          <p:nvPr/>
        </p:nvSpPr>
        <p:spPr>
          <a:xfrm>
            <a:off x="4820619" y="2013850"/>
            <a:ext cx="2466126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◯LINE友だち追加のメリットを提示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✓新着のお知らせ　✓条件に合う求人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◯LINEでのやり取りへご案内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LINEで条件確認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　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で相談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CFFD44FF-E632-A42A-AFD2-C978D5EB4382}"/>
              </a:ext>
            </a:extLst>
          </p:cNvPr>
          <p:cNvSpPr txBox="1"/>
          <p:nvPr/>
        </p:nvSpPr>
        <p:spPr>
          <a:xfrm>
            <a:off x="7498219" y="2013850"/>
            <a:ext cx="1852837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◯LINEで関係を深める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✓アンケート回答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◯LINEで希望条件を伺う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✓合う求人のご案内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2A92B9D2-AE81-B8F1-2775-9BABDBB2FB72}"/>
              </a:ext>
            </a:extLst>
          </p:cNvPr>
          <p:cNvSpPr txBox="1"/>
          <p:nvPr/>
        </p:nvSpPr>
        <p:spPr>
          <a:xfrm>
            <a:off x="4820619" y="3575596"/>
            <a:ext cx="2466126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◯企画配信（毎月）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✓季節・時期に合わせた求人特集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働き方の悩み→お役立ち情報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アンケートの回答→合う求人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3F5D2439-D550-34BB-53D6-091E9B32BF3C}"/>
              </a:ext>
            </a:extLst>
          </p:cNvPr>
          <p:cNvSpPr txBox="1"/>
          <p:nvPr/>
        </p:nvSpPr>
        <p:spPr>
          <a:xfrm>
            <a:off x="7303671" y="3575596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◯ステップ配信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✓追加から7日間の自動配信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（前後検索の順番に沿う）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✓応募に進む導線設計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（興味→共感→信頼→応募）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F966D387-7E84-4F68-9C81-89F870210C79}"/>
              </a:ext>
            </a:extLst>
          </p:cNvPr>
          <p:cNvSpPr txBox="1"/>
          <p:nvPr/>
        </p:nvSpPr>
        <p:spPr>
          <a:xfrm>
            <a:off x="2518451" y="3575596"/>
            <a:ext cx="2360837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◯あいさつメッセージ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◯アンケート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/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情報収集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配信セグメントに活用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◯プロフィール・リッチメニュー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DCCA9A41-7AF8-A7E5-C05D-3CCE4D53D056}"/>
              </a:ext>
            </a:extLst>
          </p:cNvPr>
          <p:cNvSpPr txBox="1"/>
          <p:nvPr/>
        </p:nvSpPr>
        <p:spPr>
          <a:xfrm>
            <a:off x="7493762" y="5192489"/>
            <a:ext cx="1852837" cy="969496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◯応募後のフォロー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✓よくある質問の自動化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✓チャット定型文の作成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7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◯友だち紹介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✓紹介特典のご案内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51666C25-34AB-775A-D360-970178A01029}"/>
              </a:ext>
            </a:extLst>
          </p:cNvPr>
          <p:cNvSpPr txBox="1"/>
          <p:nvPr/>
        </p:nvSpPr>
        <p:spPr>
          <a:xfrm>
            <a:off x="5015076" y="5197869"/>
            <a:ext cx="2038121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◯応募済みの方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✓応答メッセージで不安を解消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◯再応募・次の仕事の案内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✓満了の時期・近い職種を設定</a:t>
            </a:r>
            <a:endParaRPr lang="en-US" altLang="ja-JP" sz="10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E36E01A8-5E8D-6868-5242-258854A6C11E}"/>
              </a:ext>
            </a:extLst>
          </p:cNvPr>
          <p:cNvSpPr txBox="1"/>
          <p:nvPr/>
        </p:nvSpPr>
        <p:spPr>
          <a:xfrm>
            <a:off x="2577903" y="5197869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◯希望条件の再確認</a:t>
            </a: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✓反応が止まった方に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希望条件を改めて伺う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◯求人の再案内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✓条件に合う新着を再案内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E6FB710-6D0D-A062-5DC4-E7437CE5BDE1}"/>
              </a:ext>
            </a:extLst>
          </p:cNvPr>
          <p:cNvSpPr/>
          <p:nvPr/>
        </p:nvSpPr>
        <p:spPr>
          <a:xfrm>
            <a:off x="8045609" y="1409403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92FDFDEB-CB5F-8A45-29AB-C10FC6580A7C}"/>
              </a:ext>
            </a:extLst>
          </p:cNvPr>
          <p:cNvSpPr/>
          <p:nvPr/>
        </p:nvSpPr>
        <p:spPr>
          <a:xfrm>
            <a:off x="8919666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218212FE-3645-DB9F-3397-0748130F1AF8}"/>
              </a:ext>
            </a:extLst>
          </p:cNvPr>
          <p:cNvSpPr/>
          <p:nvPr/>
        </p:nvSpPr>
        <p:spPr>
          <a:xfrm>
            <a:off x="7180483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D2D0860-25E1-93CE-4600-A1274BD77509}"/>
              </a:ext>
            </a:extLst>
          </p:cNvPr>
          <p:cNvSpPr txBox="1"/>
          <p:nvPr/>
        </p:nvSpPr>
        <p:spPr>
          <a:xfrm>
            <a:off x="7180483" y="1445284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配信</a:t>
            </a:r>
            <a:endParaRPr lang="ja-JP" altLang="en-US" sz="8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87B802C-245D-9C6E-1C33-7190F3073124}"/>
              </a:ext>
            </a:extLst>
          </p:cNvPr>
          <p:cNvSpPr txBox="1"/>
          <p:nvPr/>
        </p:nvSpPr>
        <p:spPr>
          <a:xfrm>
            <a:off x="8050075" y="1452197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ステップ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配信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775BACA-B985-5029-1E70-8D28879E88EC}"/>
              </a:ext>
            </a:extLst>
          </p:cNvPr>
          <p:cNvSpPr txBox="1"/>
          <p:nvPr/>
        </p:nvSpPr>
        <p:spPr>
          <a:xfrm>
            <a:off x="8910735" y="1438122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貴社の対応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を軽減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0439D32-FABC-CA34-F07C-587F509AEF1D}"/>
              </a:ext>
            </a:extLst>
          </p:cNvPr>
          <p:cNvSpPr/>
          <p:nvPr/>
        </p:nvSpPr>
        <p:spPr>
          <a:xfrm>
            <a:off x="7116723" y="1367434"/>
            <a:ext cx="2725750" cy="483252"/>
          </a:xfrm>
          <a:prstGeom prst="rect">
            <a:avLst/>
          </a:prstGeom>
          <a:noFill/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B6880BFB-9CE8-682D-5E73-400E7A9D4984}"/>
              </a:ext>
            </a:extLst>
          </p:cNvPr>
          <p:cNvCxnSpPr>
            <a:cxnSpLocks/>
            <a:stCxn id="74" idx="2"/>
            <a:endCxn id="25" idx="0"/>
          </p:cNvCxnSpPr>
          <p:nvPr/>
        </p:nvCxnSpPr>
        <p:spPr>
          <a:xfrm rot="5400000">
            <a:off x="1884437" y="2550716"/>
            <a:ext cx="1044252" cy="117984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EF07FDA7-6FC7-C204-99A4-DB47A6724969}"/>
              </a:ext>
            </a:extLst>
          </p:cNvPr>
          <p:cNvCxnSpPr>
            <a:cxnSpLocks/>
            <a:endCxn id="25" idx="0"/>
          </p:cNvCxnSpPr>
          <p:nvPr/>
        </p:nvCxnSpPr>
        <p:spPr>
          <a:xfrm rot="16200000" flipH="1">
            <a:off x="693395" y="2539516"/>
            <a:ext cx="1138050" cy="1108444"/>
          </a:xfrm>
          <a:prstGeom prst="bentConnector3">
            <a:avLst>
              <a:gd name="adj1" fmla="val 5418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B79B5748-0A9B-B2A8-36EE-9B6743393A50}"/>
              </a:ext>
            </a:extLst>
          </p:cNvPr>
          <p:cNvCxnSpPr>
            <a:stCxn id="25" idx="2"/>
            <a:endCxn id="46" idx="0"/>
          </p:cNvCxnSpPr>
          <p:nvPr/>
        </p:nvCxnSpPr>
        <p:spPr>
          <a:xfrm>
            <a:off x="1816642" y="4001277"/>
            <a:ext cx="0" cy="13043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25B1FD88-3B25-D76E-99D7-CDD7E800E787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［第3章］構築｜施策展開図（初期・月次）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09B81B2-1251-DE55-B4B3-220553E132F8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E8D898A-0AF4-2505-8EE3-9F12824F6A59}"/>
              </a:ext>
            </a:extLst>
          </p:cNvPr>
          <p:cNvSpPr txBox="1"/>
          <p:nvPr/>
        </p:nvSpPr>
        <p:spPr>
          <a:xfrm>
            <a:off x="1988819" y="859442"/>
            <a:ext cx="777430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「新しい友だちの追加」と「友だちを応募につなげる動線」の2つが重要。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11C5FFF-B61A-EB8E-326E-072A0E269233}"/>
              </a:ext>
            </a:extLst>
          </p:cNvPr>
          <p:cNvSpPr/>
          <p:nvPr/>
        </p:nvSpPr>
        <p:spPr>
          <a:xfrm>
            <a:off x="3587358" y="1747110"/>
            <a:ext cx="860817" cy="14329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初期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（初動）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F32D58-29FF-60A6-17B5-A41ACCBE9449}"/>
              </a:ext>
            </a:extLst>
          </p:cNvPr>
          <p:cNvSpPr/>
          <p:nvPr/>
        </p:nvSpPr>
        <p:spPr>
          <a:xfrm>
            <a:off x="3587358" y="3321847"/>
            <a:ext cx="860817" cy="29212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月次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（定例）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2EC6943-AA14-49EA-30CF-5D813BA45BFD}"/>
              </a:ext>
            </a:extLst>
          </p:cNvPr>
          <p:cNvSpPr/>
          <p:nvPr/>
        </p:nvSpPr>
        <p:spPr>
          <a:xfrm>
            <a:off x="336942" y="172938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離脱防止・ポップアップ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HP・LPで、条件を満たすと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ポップアップバナーを表示する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436AF3F-C2E7-3494-0B01-4BC00578C5FF}"/>
              </a:ext>
            </a:extLst>
          </p:cNvPr>
          <p:cNvSpPr/>
          <p:nvPr/>
        </p:nvSpPr>
        <p:spPr>
          <a:xfrm>
            <a:off x="336942" y="2642195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en-US" altLang="ja-JP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ユーザーの行動に応じて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API連携でメッセージを送る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B8D9E5A-638C-EACC-4E99-235D769FBAB5}"/>
              </a:ext>
            </a:extLst>
          </p:cNvPr>
          <p:cNvSpPr/>
          <p:nvPr/>
        </p:nvSpPr>
        <p:spPr>
          <a:xfrm>
            <a:off x="336942" y="3555007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誘導ツール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Webサイトの応募完了ページから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入力情報を引き継ぎ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40447B4-FBD9-E81D-7902-7B3BF84ED83A}"/>
              </a:ext>
            </a:extLst>
          </p:cNvPr>
          <p:cNvSpPr/>
          <p:nvPr/>
        </p:nvSpPr>
        <p:spPr>
          <a:xfrm>
            <a:off x="336942" y="445829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LINEログイン・ID連携など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ログインに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を使用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サイトユーザー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を連携</a:t>
            </a:r>
            <a:endParaRPr kumimoji="1" lang="ja-JP" altLang="en-US" sz="11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BD6C1FC9-285C-AE02-A175-C7061E1A753F}"/>
              </a:ext>
            </a:extLst>
          </p:cNvPr>
          <p:cNvSpPr/>
          <p:nvPr/>
        </p:nvSpPr>
        <p:spPr>
          <a:xfrm>
            <a:off x="336942" y="5361315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 CPF</a:t>
            </a:r>
            <a:r>
              <a:rPr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</a:t>
            </a:r>
            <a:endParaRPr kumimoji="1" lang="ja-JP" alt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4F6F515-C9A5-F22C-3E1C-CF4380DB9991}"/>
              </a:ext>
            </a:extLst>
          </p:cNvPr>
          <p:cNvSpPr/>
          <p:nvPr/>
        </p:nvSpPr>
        <p:spPr>
          <a:xfrm>
            <a:off x="336942" y="5829843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スタンプ・ポイント施策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156D598-0831-CD8B-6A89-EE3DAF51A5E9}"/>
              </a:ext>
            </a:extLst>
          </p:cNvPr>
          <p:cNvSpPr/>
          <p:nvPr/>
        </p:nvSpPr>
        <p:spPr>
          <a:xfrm>
            <a:off x="4482711" y="1756635"/>
            <a:ext cx="3233084" cy="14329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・プロフィールからの動線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・キーワード自動応答の設定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・友だち登録直後アンケート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・ステップ配信：応募などの後、決まった日数で自動配信</a:t>
            </a:r>
            <a:endParaRPr kumimoji="1" lang="ja-JP" altLang="en-US" sz="9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F01906-5193-F098-3B58-BDCC26D568EA}"/>
              </a:ext>
            </a:extLst>
          </p:cNvPr>
          <p:cNvSpPr/>
          <p:nvPr/>
        </p:nvSpPr>
        <p:spPr>
          <a:xfrm>
            <a:off x="4482711" y="3331372"/>
            <a:ext cx="3233084" cy="29212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[新規] → 毎月の配信</a:t>
            </a:r>
            <a:endParaRPr lang="en-US" altLang="ja-JP" sz="12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・イベント配信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・新着求人の案内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・企画配信（特定ターゲット）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・希望条件の再確認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・お役立ちコラム・コンテンツ配信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・季節・時事に合わせた配信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︙</a:t>
            </a:r>
          </a:p>
          <a:p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調整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・アンケート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・自動応答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・よくある質問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</a:p>
        </p:txBody>
      </p:sp>
      <p:sp>
        <p:nvSpPr>
          <p:cNvPr id="19" name="左大かっこ 18">
            <a:extLst>
              <a:ext uri="{FF2B5EF4-FFF2-40B4-BE49-F238E27FC236}">
                <a16:creationId xmlns:a16="http://schemas.microsoft.com/office/drawing/2014/main" id="{B9FF3DCE-9B05-09FE-7C2F-B104CD0105BE}"/>
              </a:ext>
            </a:extLst>
          </p:cNvPr>
          <p:cNvSpPr/>
          <p:nvPr/>
        </p:nvSpPr>
        <p:spPr>
          <a:xfrm>
            <a:off x="3210542" y="1800836"/>
            <a:ext cx="215932" cy="4398089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左大かっこ 23">
            <a:extLst>
              <a:ext uri="{FF2B5EF4-FFF2-40B4-BE49-F238E27FC236}">
                <a16:creationId xmlns:a16="http://schemas.microsoft.com/office/drawing/2014/main" id="{61357E78-5BD2-BBD8-1F18-B1985600E22B}"/>
              </a:ext>
            </a:extLst>
          </p:cNvPr>
          <p:cNvSpPr/>
          <p:nvPr/>
        </p:nvSpPr>
        <p:spPr>
          <a:xfrm flipH="1">
            <a:off x="2892035" y="1756635"/>
            <a:ext cx="215932" cy="4486491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56E6CFC0-FB45-E508-C7ED-E0F29C95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90" y="2173993"/>
            <a:ext cx="582602" cy="543237"/>
          </a:xfrm>
          <a:prstGeom prst="rect">
            <a:avLst/>
          </a:prstGeom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D782E3-91EF-D26A-1906-21A51865A939}"/>
              </a:ext>
            </a:extLst>
          </p:cNvPr>
          <p:cNvCxnSpPr>
            <a:cxnSpLocks/>
          </p:cNvCxnSpPr>
          <p:nvPr/>
        </p:nvCxnSpPr>
        <p:spPr>
          <a:xfrm>
            <a:off x="231756" y="1521490"/>
            <a:ext cx="265419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9D8C8E0-0854-5217-A7F3-DBD2104BDFAF}"/>
              </a:ext>
            </a:extLst>
          </p:cNvPr>
          <p:cNvSpPr txBox="1"/>
          <p:nvPr/>
        </p:nvSpPr>
        <p:spPr>
          <a:xfrm>
            <a:off x="857833" y="1390138"/>
            <a:ext cx="1306788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endParaRPr lang="ja-JP" altLang="en-US" sz="1100" dirty="0"/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5F1B07-4D2C-4794-DAEA-D76D3E0CA8CF}"/>
              </a:ext>
            </a:extLst>
          </p:cNvPr>
          <p:cNvCxnSpPr>
            <a:cxnSpLocks/>
          </p:cNvCxnSpPr>
          <p:nvPr/>
        </p:nvCxnSpPr>
        <p:spPr>
          <a:xfrm>
            <a:off x="3248447" y="1521490"/>
            <a:ext cx="6173147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5E48196-7DAD-4F3E-ADDE-E36FAC475508}"/>
              </a:ext>
            </a:extLst>
          </p:cNvPr>
          <p:cNvSpPr txBox="1"/>
          <p:nvPr/>
        </p:nvSpPr>
        <p:spPr>
          <a:xfrm>
            <a:off x="5411256" y="1390138"/>
            <a:ext cx="1913269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友だちを応募につなげる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4EA6E8F1-E33D-1FB9-E4AA-6AD1A2F6B651}"/>
              </a:ext>
            </a:extLst>
          </p:cNvPr>
          <p:cNvSpPr/>
          <p:nvPr/>
        </p:nvSpPr>
        <p:spPr>
          <a:xfrm>
            <a:off x="7750331" y="1748432"/>
            <a:ext cx="1818728" cy="449469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kumimoji="1"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ターゲット設定</a:t>
            </a:r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LINEの標準機能</a:t>
            </a:r>
            <a:endParaRPr kumimoji="1" lang="en-US" altLang="ja-JP" sz="13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年齢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性別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地域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（表示数・クリック数）</a:t>
            </a:r>
          </a:p>
          <a:p>
            <a:endParaRPr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 APIツール ※有料</a:t>
            </a:r>
            <a:endParaRPr lang="en-US" altLang="ja-JP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アンケート結果）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(WEB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サイトアクション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再通知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連携した情報ベース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ユーザー一覧を取得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アップロード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（行動のスコア付け）</a:t>
            </a: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※MA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、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CRM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との連携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(応募・就業データ)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ユーザー情報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詳細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47CAADD-ECBD-1DCC-19D6-6433C921622E}"/>
              </a:ext>
            </a:extLst>
          </p:cNvPr>
          <p:cNvSpPr txBox="1"/>
          <p:nvPr/>
        </p:nvSpPr>
        <p:spPr>
          <a:xfrm>
            <a:off x="2178040" y="2694449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00802062-F552-1DFA-430A-41800E76A220}"/>
              </a:ext>
            </a:extLst>
          </p:cNvPr>
          <p:cNvSpPr txBox="1"/>
          <p:nvPr/>
        </p:nvSpPr>
        <p:spPr>
          <a:xfrm>
            <a:off x="2370382" y="177323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DCAB868-C79D-2212-70C3-9EF559F32C21}"/>
              </a:ext>
            </a:extLst>
          </p:cNvPr>
          <p:cNvSpPr txBox="1"/>
          <p:nvPr/>
        </p:nvSpPr>
        <p:spPr>
          <a:xfrm>
            <a:off x="2456844" y="3619396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2ECFC3F-A285-F105-30CE-9144EBB24A11}"/>
              </a:ext>
            </a:extLst>
          </p:cNvPr>
          <p:cNvSpPr txBox="1"/>
          <p:nvPr/>
        </p:nvSpPr>
        <p:spPr>
          <a:xfrm>
            <a:off x="2518621" y="457656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9AB193A-8274-ABE1-CD3D-54790C3264F6}"/>
              </a:ext>
            </a:extLst>
          </p:cNvPr>
          <p:cNvSpPr txBox="1"/>
          <p:nvPr/>
        </p:nvSpPr>
        <p:spPr>
          <a:xfrm>
            <a:off x="2210158" y="5478733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96A37B9-CA3D-92C9-1405-86C6FFCD8C5A}"/>
              </a:ext>
            </a:extLst>
          </p:cNvPr>
          <p:cNvSpPr txBox="1"/>
          <p:nvPr/>
        </p:nvSpPr>
        <p:spPr>
          <a:xfrm>
            <a:off x="2214724" y="5963211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A71FB07-E583-8196-5077-2EAA10A61A0F}"/>
              </a:ext>
            </a:extLst>
          </p:cNvPr>
          <p:cNvSpPr txBox="1"/>
          <p:nvPr/>
        </p:nvSpPr>
        <p:spPr>
          <a:xfrm>
            <a:off x="285223" y="6291679"/>
            <a:ext cx="25472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その他：Web動線の整備、プレスリリース等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BE3835-FB68-0C7D-7CED-C40A02A19AB2}"/>
              </a:ext>
            </a:extLst>
          </p:cNvPr>
          <p:cNvSpPr txBox="1"/>
          <p:nvPr/>
        </p:nvSpPr>
        <p:spPr>
          <a:xfrm>
            <a:off x="6149585" y="3424747"/>
            <a:ext cx="11749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数量により変動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47E1216-C9D3-60D3-B3E8-43E38B5791F4}"/>
              </a:ext>
            </a:extLst>
          </p:cNvPr>
          <p:cNvSpPr txBox="1"/>
          <p:nvPr/>
        </p:nvSpPr>
        <p:spPr>
          <a:xfrm>
            <a:off x="3587357" y="6286698"/>
            <a:ext cx="41284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※クリエイティブ費用は基本的に含む。開発費用は別途お見積り。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256C170-205B-2224-D69D-D964BF991C26}"/>
              </a:ext>
            </a:extLst>
          </p:cNvPr>
          <p:cNvSpPr/>
          <p:nvPr/>
        </p:nvSpPr>
        <p:spPr>
          <a:xfrm>
            <a:off x="7664076" y="1733928"/>
            <a:ext cx="1904982" cy="4562295"/>
          </a:xfrm>
          <a:prstGeom prst="rect">
            <a:avLst/>
          </a:prstGeom>
          <a:solidFill>
            <a:schemeClr val="bg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［第3章］構築｜友だち追加の動線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広告を増やさずに、今の応募者にLINEの友だちになっていただく。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719249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51999" y="1719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応募の直後に、友だち追加をご案内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6000" y="1736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最も確実。応募済みの方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250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250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421249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1999" y="2421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LPを離れようとした方にLINEをご案内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6000" y="2438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フォームより気軽な入口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2951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2951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123248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1999" y="3123248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タップだけで友だち追加が完了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6000" y="3140946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フォームの入力なし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3653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3653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3825248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求人誌・店頭のQRコード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1999" y="3825248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求人誌・店頭ポスター・メールから直接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6000" y="3842946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既存の接点を使う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4356000"/>
            <a:ext cx="9043200" cy="60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2000" y="4356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2000" y="4536097"/>
            <a:ext cx="244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既存リストへ通知メッセージ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51999" y="4527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友だち追加のご案内を、電話番号あてに送る（利用できる用途は事前に確認）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6000" y="4544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過去の応募者へ改めてご案内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新しく集める前に、今つながりのある方とLINEでつながる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⑤の通知メッセージは、友だち追加していない方にも電話番号あてに届く（別途費用）。用途は審査制のため、求人案内での利用可否は事前に確認する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［第3章］構築｜あいさつメッセージ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1行目で「営業のお電話はいたしません」とお伝えする。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そのうえで希望条件を5問だけ伺い、条件に合う新着求人をお届けすると約束する。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最初に電話のことを書く理由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知らない番号からの着信を、負担に感じる方は多い。先にお伝えすることで、安心して返信いただける。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「新着のお知らせ」を先に出す理由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応募が終わっても、また仕事を探す時期が来る。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新着が届く理由があれば、友だちのまま残る。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5問にする理由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エリア・職種・時給・曜日・働き方の5つに絞る。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選択式で30秒ほど。その場で答えていただける。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画面はイメージ。文面・ボタン名は貴社のサービスに合わせて調整する</a:t>
            </a:r>
          </a:p>
        </p:txBody>
      </p:sp>
      <p:pic>
        <p:nvPicPr>
          <p:cNvPr id="16" name="Picture 15" descr="人材A_トーク_あいさ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5E6F5D8-69FF-EC49-F89A-79FBF097914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［第3章］希望条件（5問）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8DA9D746-57D8-A7F9-7048-09DA5704460D}"/>
              </a:ext>
            </a:extLst>
          </p:cNvPr>
          <p:cNvSpPr txBox="1"/>
          <p:nvPr/>
        </p:nvSpPr>
        <p:spPr>
          <a:xfrm>
            <a:off x="309397" y="642796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応募の直後に、エリア・職種・時給・曜日・働き方を30秒で伺う。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経歴は伺わない。答えやすい5問で、その後にお届けする求人を決める。</a:t>
            </a:r>
          </a:p>
        </p:txBody>
      </p:sp>
      <p:sp>
        <p:nvSpPr>
          <p:cNvPr id="41" name="Shape 2">
            <a:extLst>
              <a:ext uri="{FF2B5EF4-FFF2-40B4-BE49-F238E27FC236}">
                <a16:creationId xmlns:a16="http://schemas.microsoft.com/office/drawing/2014/main" id="{72992F6A-FF2A-7ECF-0D33-F6529A528B57}"/>
              </a:ext>
            </a:extLst>
          </p:cNvPr>
          <p:cNvSpPr/>
          <p:nvPr/>
        </p:nvSpPr>
        <p:spPr>
          <a:xfrm>
            <a:off x="775063" y="1722373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190E6A1A-C1DD-4C8E-3197-5AD6F8426871}"/>
              </a:ext>
            </a:extLst>
          </p:cNvPr>
          <p:cNvSpPr/>
          <p:nvPr/>
        </p:nvSpPr>
        <p:spPr>
          <a:xfrm>
            <a:off x="957943" y="1722373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目的：希望条件を伺い、条件に合う新着求人だけをお届けする（全員に同じ求人を送らない）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D015C19B-5468-998D-251F-6B1B6959CE07}"/>
              </a:ext>
            </a:extLst>
          </p:cNvPr>
          <p:cNvSpPr/>
          <p:nvPr/>
        </p:nvSpPr>
        <p:spPr>
          <a:xfrm>
            <a:off x="775063" y="23167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414FEA14-8392-6B62-876D-80318C415543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F75BBB7C-7CE8-CD05-76B4-8EAB532092DA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1A4AA2AA-6FF8-3D30-B16C-44EC5F2961CD}"/>
              </a:ext>
            </a:extLst>
          </p:cNvPr>
          <p:cNvSpPr/>
          <p:nvPr/>
        </p:nvSpPr>
        <p:spPr>
          <a:xfrm>
            <a:off x="1250551" y="23624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Q1. 働きたいエリアは？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7A1F59F1-0B49-73D0-38BD-9948F9A63985}"/>
              </a:ext>
            </a:extLst>
          </p:cNvPr>
          <p:cNvSpPr/>
          <p:nvPr/>
        </p:nvSpPr>
        <p:spPr>
          <a:xfrm>
            <a:off x="1250551" y="26276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最寄り駅から選ぶ　B) 市区町村から選ぶ　C) 在宅がいい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" name="Shape 9">
            <a:extLst>
              <a:ext uri="{FF2B5EF4-FFF2-40B4-BE49-F238E27FC236}">
                <a16:creationId xmlns:a16="http://schemas.microsoft.com/office/drawing/2014/main" id="{03F3B165-CA3D-3804-AA50-7C78C7C7EB79}"/>
              </a:ext>
            </a:extLst>
          </p:cNvPr>
          <p:cNvSpPr/>
          <p:nvPr/>
        </p:nvSpPr>
        <p:spPr>
          <a:xfrm>
            <a:off x="6444343" y="23898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" name="Text 10">
            <a:extLst>
              <a:ext uri="{FF2B5EF4-FFF2-40B4-BE49-F238E27FC236}">
                <a16:creationId xmlns:a16="http://schemas.microsoft.com/office/drawing/2014/main" id="{DF68B239-8CBC-8341-BA16-8510179A4777}"/>
              </a:ext>
            </a:extLst>
          </p:cNvPr>
          <p:cNvSpPr/>
          <p:nvPr/>
        </p:nvSpPr>
        <p:spPr>
          <a:xfrm>
            <a:off x="6490063" y="23898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最寄り駅・市区町村で出し分ける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CEC57A7B-58B4-1F60-CC69-2D9C22413BEF}"/>
              </a:ext>
            </a:extLst>
          </p:cNvPr>
          <p:cNvSpPr/>
          <p:nvPr/>
        </p:nvSpPr>
        <p:spPr>
          <a:xfrm>
            <a:off x="775063" y="3002532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0FF9816E-5F43-9459-6349-51431111FD45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2BF8E88C-4FC5-B1C2-A8E8-D33029A55D78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4AB095EB-AFFB-C1EB-53C1-4C882C450F66}"/>
              </a:ext>
            </a:extLst>
          </p:cNvPr>
          <p:cNvSpPr/>
          <p:nvPr/>
        </p:nvSpPr>
        <p:spPr>
          <a:xfrm>
            <a:off x="1250551" y="30482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Q2. 希望の職種は？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C6FBF75D-9A2C-AB9C-797C-A65992057C82}"/>
              </a:ext>
            </a:extLst>
          </p:cNvPr>
          <p:cNvSpPr/>
          <p:nvPr/>
        </p:nvSpPr>
        <p:spPr>
          <a:xfrm>
            <a:off x="1250551" y="3313428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事務　B) 軽作業・倉庫　C) 販売・飲食　D) その他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8B4031C1-8F8E-5381-AAC9-77A14A56B7F6}"/>
              </a:ext>
            </a:extLst>
          </p:cNvPr>
          <p:cNvSpPr/>
          <p:nvPr/>
        </p:nvSpPr>
        <p:spPr>
          <a:xfrm>
            <a:off x="6444343" y="30756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35FE734F-4C1A-3B7B-8AA4-C2546973E56B}"/>
              </a:ext>
            </a:extLst>
          </p:cNvPr>
          <p:cNvSpPr/>
          <p:nvPr/>
        </p:nvSpPr>
        <p:spPr>
          <a:xfrm>
            <a:off x="6490063" y="30756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新着の出し分けの軸になる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77F0529F-1B78-5C45-07C3-2B6DD4A77258}"/>
              </a:ext>
            </a:extLst>
          </p:cNvPr>
          <p:cNvSpPr/>
          <p:nvPr/>
        </p:nvSpPr>
        <p:spPr>
          <a:xfrm>
            <a:off x="775063" y="36883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5CB9124D-3C60-302E-AD9D-68ADA9CED3C8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DD06F576-0404-24E3-3484-9A5F77A77D7A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362B56FE-0308-5ACA-794F-33A473A74E16}"/>
              </a:ext>
            </a:extLst>
          </p:cNvPr>
          <p:cNvSpPr/>
          <p:nvPr/>
        </p:nvSpPr>
        <p:spPr>
          <a:xfrm>
            <a:off x="1250551" y="37340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Q3. 希望の時給は？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CECF4E63-76E9-FEA5-7805-491752940936}"/>
              </a:ext>
            </a:extLst>
          </p:cNvPr>
          <p:cNvSpPr/>
          <p:nvPr/>
        </p:nvSpPr>
        <p:spPr>
          <a:xfrm>
            <a:off x="1250551" y="39992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1,200円未満　B) 1,200〜1,499円　C) 1,500〜1,799円　D) 1,800円〜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2" name="Shape 23">
            <a:extLst>
              <a:ext uri="{FF2B5EF4-FFF2-40B4-BE49-F238E27FC236}">
                <a16:creationId xmlns:a16="http://schemas.microsoft.com/office/drawing/2014/main" id="{DBA9622A-FDA2-1DDD-FBA3-73C50D3AB695}"/>
              </a:ext>
            </a:extLst>
          </p:cNvPr>
          <p:cNvSpPr/>
          <p:nvPr/>
        </p:nvSpPr>
        <p:spPr>
          <a:xfrm>
            <a:off x="6444343" y="37614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C60B9780-970F-8551-EE91-8044786C7B7C}"/>
              </a:ext>
            </a:extLst>
          </p:cNvPr>
          <p:cNvSpPr/>
          <p:nvPr/>
        </p:nvSpPr>
        <p:spPr>
          <a:xfrm>
            <a:off x="6490063" y="37614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Day1「時給の相場」の軸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4" name="Shape 25">
            <a:extLst>
              <a:ext uri="{FF2B5EF4-FFF2-40B4-BE49-F238E27FC236}">
                <a16:creationId xmlns:a16="http://schemas.microsoft.com/office/drawing/2014/main" id="{E6646D0D-AC17-9974-8BF6-E0C26901E16D}"/>
              </a:ext>
            </a:extLst>
          </p:cNvPr>
          <p:cNvSpPr/>
          <p:nvPr/>
        </p:nvSpPr>
        <p:spPr>
          <a:xfrm>
            <a:off x="775063" y="43741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86330F7C-C512-505C-521A-A5D1453510E6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8A40057C-798D-FCB7-8B6B-C2507589C664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FB185C3E-B3C3-8368-764A-0E889BE9E1DC}"/>
              </a:ext>
            </a:extLst>
          </p:cNvPr>
          <p:cNvSpPr/>
          <p:nvPr/>
        </p:nvSpPr>
        <p:spPr>
          <a:xfrm>
            <a:off x="1250551" y="44198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Q4. 働ける曜日・時間帯は？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8" name="Text 29">
            <a:extLst>
              <a:ext uri="{FF2B5EF4-FFF2-40B4-BE49-F238E27FC236}">
                <a16:creationId xmlns:a16="http://schemas.microsoft.com/office/drawing/2014/main" id="{83A0111B-6C16-924D-2F24-F3322312058F}"/>
              </a:ext>
            </a:extLst>
          </p:cNvPr>
          <p:cNvSpPr/>
          <p:nvPr/>
        </p:nvSpPr>
        <p:spPr>
          <a:xfrm>
            <a:off x="1250551" y="46850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平日の日中　B) 平日の夜　C) 土日　D) 曜日は問わない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B12A9147-2862-DE3E-8AA5-154403D7E2E5}"/>
              </a:ext>
            </a:extLst>
          </p:cNvPr>
          <p:cNvSpPr/>
          <p:nvPr/>
        </p:nvSpPr>
        <p:spPr>
          <a:xfrm>
            <a:off x="6444343" y="44472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B1610132-9C94-4121-0174-5C4B56C1E9C4}"/>
              </a:ext>
            </a:extLst>
          </p:cNvPr>
          <p:cNvSpPr/>
          <p:nvPr/>
        </p:nvSpPr>
        <p:spPr>
          <a:xfrm>
            <a:off x="6490063" y="44472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「今日から働ける」求人を絞る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1" name="Shape 32">
            <a:extLst>
              <a:ext uri="{FF2B5EF4-FFF2-40B4-BE49-F238E27FC236}">
                <a16:creationId xmlns:a16="http://schemas.microsoft.com/office/drawing/2014/main" id="{5E0CF565-2E70-3594-94E3-B92DBA09CE1D}"/>
              </a:ext>
            </a:extLst>
          </p:cNvPr>
          <p:cNvSpPr/>
          <p:nvPr/>
        </p:nvSpPr>
        <p:spPr>
          <a:xfrm>
            <a:off x="775063" y="50599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C3888C1F-7E31-5CB5-DB8C-6376B4A23075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59588FF7-10F6-8141-4359-836B851E5424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5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C5CFC561-6A8F-BACD-E02C-A277E8A3063E}"/>
              </a:ext>
            </a:extLst>
          </p:cNvPr>
          <p:cNvSpPr/>
          <p:nvPr/>
        </p:nvSpPr>
        <p:spPr>
          <a:xfrm>
            <a:off x="1250551" y="51056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Q5. 希望の働き方は？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Text 36">
            <a:extLst>
              <a:ext uri="{FF2B5EF4-FFF2-40B4-BE49-F238E27FC236}">
                <a16:creationId xmlns:a16="http://schemas.microsoft.com/office/drawing/2014/main" id="{BE1F2F6E-238F-21D4-40A5-BD1CB63C8953}"/>
              </a:ext>
            </a:extLst>
          </p:cNvPr>
          <p:cNvSpPr/>
          <p:nvPr/>
        </p:nvSpPr>
        <p:spPr>
          <a:xfrm>
            <a:off x="1250551" y="53708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派遣　B) バイト・パート　C) 単発・日払い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Shape 37">
            <a:extLst>
              <a:ext uri="{FF2B5EF4-FFF2-40B4-BE49-F238E27FC236}">
                <a16:creationId xmlns:a16="http://schemas.microsoft.com/office/drawing/2014/main" id="{E835EF93-AE65-C080-A583-076B9485CC6B}"/>
              </a:ext>
            </a:extLst>
          </p:cNvPr>
          <p:cNvSpPr/>
          <p:nvPr/>
        </p:nvSpPr>
        <p:spPr>
          <a:xfrm>
            <a:off x="6444343" y="51330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7" name="Text 38">
            <a:extLst>
              <a:ext uri="{FF2B5EF4-FFF2-40B4-BE49-F238E27FC236}">
                <a16:creationId xmlns:a16="http://schemas.microsoft.com/office/drawing/2014/main" id="{4E76941A-97E1-A80A-F7B6-9B05D68E1AA2}"/>
              </a:ext>
            </a:extLst>
          </p:cNvPr>
          <p:cNvSpPr/>
          <p:nvPr/>
        </p:nvSpPr>
        <p:spPr>
          <a:xfrm>
            <a:off x="6490063" y="51330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「単発」は新着配信のみ（派遣を基準に設計）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080DFA3-5E6A-7CB9-A83C-9D87074C7C62}"/>
              </a:ext>
            </a:extLst>
          </p:cNvPr>
          <p:cNvSpPr/>
          <p:nvPr/>
        </p:nvSpPr>
        <p:spPr>
          <a:xfrm>
            <a:off x="167640" y="1572768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DC81EE9-FE25-DEA2-3BE6-5D4BC6729956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［第3章］構築｜リッチメニュー（3タブ × 6枠）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「条件を変える」「通知を止める」も、見える場所に置く。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やめ方が分からないと、ブロックにつながりやすい。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80000" y="15840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8000" y="15824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今すぐ探す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8000" y="18341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最も重要なボタン。左上に固定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6480000" y="21672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8000" y="21656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条件に合う新着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000" y="24173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希望条件から一覧へ送る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80000" y="27504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8000" y="27488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希望条件を変える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8000" y="30005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条件が合わず他社へ流れるのを防ぐ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80000" y="33336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8000" y="33320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よくある質問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000" y="35837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職場見学・持ち物を事前にご案内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80000" y="39168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8000" y="39152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通知を止める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000" y="41669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ブロックの代わりになる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80000" y="4500000"/>
            <a:ext cx="2988000" cy="503999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8000" y="44984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今は働いている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8000" y="47501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就業中は停止し、満了前に再開する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84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224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「今は働いている」を選べるので、次の仕事探しで戻ってきていただける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画面はイメージ。タブ構成とボタン名は運用しながら調整する。タウンワークもリッチメニューにバイトの条件を並べ、リッチメニュー経由の応募が＋79%（2019年公開・P13）</a:t>
            </a:r>
          </a:p>
        </p:txBody>
      </p:sp>
      <p:pic>
        <p:nvPicPr>
          <p:cNvPr id="27" name="Picture 26" descr="人材A_リッチメニュ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584" y="1512000"/>
            <a:ext cx="4292830" cy="286188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D55786A2-F100-6AA6-4BA2-C612ABD2107D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［第4章］配信設計｜追加後15日でアクティブ率が落ちる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9062440-B6A0-85EE-461D-E9A5F53310B0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CCEADF0C-2806-160C-2545-0CBF2DE16851}"/>
              </a:ext>
            </a:extLst>
          </p:cNvPr>
          <p:cNvSpPr txBox="1"/>
          <p:nvPr/>
        </p:nvSpPr>
        <p:spPr>
          <a:xfrm>
            <a:off x="1988819" y="736332"/>
            <a:ext cx="7917181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友だち追加から15日ほどで反応が下がり、ブロックも増えやすい。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そのため、応募が決まる最初の7日間のステップ配信を先に整える。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99FD372-1931-8AF9-6FBE-007F188CE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10" y="1746287"/>
            <a:ext cx="582602" cy="54323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0DDBD12-962F-75E1-F777-2A8CB1A1A43C}"/>
              </a:ext>
            </a:extLst>
          </p:cNvPr>
          <p:cNvSpPr/>
          <p:nvPr/>
        </p:nvSpPr>
        <p:spPr>
          <a:xfrm>
            <a:off x="2232491" y="1817608"/>
            <a:ext cx="5694068" cy="40059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96A68A56-39E1-8BAC-2C49-CC19FBEC68F7}"/>
              </a:ext>
            </a:extLst>
          </p:cNvPr>
          <p:cNvSpPr/>
          <p:nvPr/>
        </p:nvSpPr>
        <p:spPr>
          <a:xfrm>
            <a:off x="6666282" y="2317059"/>
            <a:ext cx="470263" cy="1837509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99B7760-FDC6-B260-9507-F94BFB256854}"/>
              </a:ext>
            </a:extLst>
          </p:cNvPr>
          <p:cNvCxnSpPr>
            <a:cxnSpLocks/>
          </p:cNvCxnSpPr>
          <p:nvPr/>
        </p:nvCxnSpPr>
        <p:spPr>
          <a:xfrm>
            <a:off x="1603884" y="4293068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矢印: 下 21">
            <a:extLst>
              <a:ext uri="{FF2B5EF4-FFF2-40B4-BE49-F238E27FC236}">
                <a16:creationId xmlns:a16="http://schemas.microsoft.com/office/drawing/2014/main" id="{57EAA642-99EB-D59A-CA2D-CF128F520650}"/>
              </a:ext>
            </a:extLst>
          </p:cNvPr>
          <p:cNvSpPr/>
          <p:nvPr/>
        </p:nvSpPr>
        <p:spPr>
          <a:xfrm>
            <a:off x="6666281" y="4376126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C84D888-2F3B-56B2-6D8B-43495766B724}"/>
              </a:ext>
            </a:extLst>
          </p:cNvPr>
          <p:cNvCxnSpPr>
            <a:cxnSpLocks/>
          </p:cNvCxnSpPr>
          <p:nvPr/>
        </p:nvCxnSpPr>
        <p:spPr>
          <a:xfrm>
            <a:off x="1603884" y="5394656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DDEE958-B9A4-B3B7-0AB5-40E083E922F6}"/>
              </a:ext>
            </a:extLst>
          </p:cNvPr>
          <p:cNvSpPr txBox="1"/>
          <p:nvPr/>
        </p:nvSpPr>
        <p:spPr>
          <a:xfrm>
            <a:off x="887729" y="4154568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15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9B2BE93-6AC1-B592-319F-2D44EB64DCDF}"/>
              </a:ext>
            </a:extLst>
          </p:cNvPr>
          <p:cNvSpPr txBox="1"/>
          <p:nvPr/>
        </p:nvSpPr>
        <p:spPr>
          <a:xfrm>
            <a:off x="887729" y="5258075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30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32" name="矢印: 下 31">
            <a:extLst>
              <a:ext uri="{FF2B5EF4-FFF2-40B4-BE49-F238E27FC236}">
                <a16:creationId xmlns:a16="http://schemas.microsoft.com/office/drawing/2014/main" id="{F0BAD90B-19DF-C716-880C-57948735A10E}"/>
              </a:ext>
            </a:extLst>
          </p:cNvPr>
          <p:cNvSpPr/>
          <p:nvPr/>
        </p:nvSpPr>
        <p:spPr>
          <a:xfrm>
            <a:off x="6666281" y="5477713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直角三角形 32">
            <a:extLst>
              <a:ext uri="{FF2B5EF4-FFF2-40B4-BE49-F238E27FC236}">
                <a16:creationId xmlns:a16="http://schemas.microsoft.com/office/drawing/2014/main" id="{21D9755D-523C-2A6A-B045-29C102846ABF}"/>
              </a:ext>
            </a:extLst>
          </p:cNvPr>
          <p:cNvSpPr/>
          <p:nvPr/>
        </p:nvSpPr>
        <p:spPr>
          <a:xfrm flipV="1">
            <a:off x="7837714" y="2289524"/>
            <a:ext cx="1244098" cy="3105132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6796F30-9C92-1751-9461-7D96ED3FD472}"/>
              </a:ext>
            </a:extLst>
          </p:cNvPr>
          <p:cNvSpPr txBox="1"/>
          <p:nvPr/>
        </p:nvSpPr>
        <p:spPr>
          <a:xfrm>
            <a:off x="7376370" y="2507385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アクティブ率：高</a:t>
            </a:r>
          </a:p>
        </p:txBody>
      </p:sp>
      <p:sp>
        <p:nvSpPr>
          <p:cNvPr id="45" name="直角三角形 44">
            <a:extLst>
              <a:ext uri="{FF2B5EF4-FFF2-40B4-BE49-F238E27FC236}">
                <a16:creationId xmlns:a16="http://schemas.microsoft.com/office/drawing/2014/main" id="{70153691-BF19-7E23-69C7-A1735ED95D0B}"/>
              </a:ext>
            </a:extLst>
          </p:cNvPr>
          <p:cNvSpPr/>
          <p:nvPr/>
        </p:nvSpPr>
        <p:spPr>
          <a:xfrm flipV="1">
            <a:off x="7837713" y="5403361"/>
            <a:ext cx="399367" cy="946289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9E95A0F-F089-7BBE-05C6-60749997D8B5}"/>
              </a:ext>
            </a:extLst>
          </p:cNvPr>
          <p:cNvSpPr txBox="1"/>
          <p:nvPr/>
        </p:nvSpPr>
        <p:spPr>
          <a:xfrm>
            <a:off x="7376370" y="4777647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6E8EECEE-A26C-FE65-851C-D89DA2943DDA}"/>
              </a:ext>
            </a:extLst>
          </p:cNvPr>
          <p:cNvSpPr/>
          <p:nvPr/>
        </p:nvSpPr>
        <p:spPr>
          <a:xfrm>
            <a:off x="4822207" y="3086837"/>
            <a:ext cx="1653346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1454DD3-4503-BFE5-0C14-038581D067FE}"/>
              </a:ext>
            </a:extLst>
          </p:cNvPr>
          <p:cNvSpPr/>
          <p:nvPr/>
        </p:nvSpPr>
        <p:spPr>
          <a:xfrm>
            <a:off x="2232491" y="2685169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希望条件（5問）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50620861-661B-61FD-CF03-A1B419A375AE}"/>
              </a:ext>
            </a:extLst>
          </p:cNvPr>
          <p:cNvSpPr/>
          <p:nvPr/>
        </p:nvSpPr>
        <p:spPr>
          <a:xfrm>
            <a:off x="2326221" y="3086838"/>
            <a:ext cx="2411242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459A76C-C890-8CC0-17D9-2EF08525C001}"/>
              </a:ext>
            </a:extLst>
          </p:cNvPr>
          <p:cNvSpPr/>
          <p:nvPr/>
        </p:nvSpPr>
        <p:spPr>
          <a:xfrm>
            <a:off x="2232491" y="5442735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時期に合わせた配信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8F1D398-BD32-DDD8-1642-E52C2B235BA4}"/>
              </a:ext>
            </a:extLst>
          </p:cNvPr>
          <p:cNvSpPr/>
          <p:nvPr/>
        </p:nvSpPr>
        <p:spPr>
          <a:xfrm>
            <a:off x="2232491" y="2302562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あいさつメッセージ・リッチメニュー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F991B595-167D-EE44-3530-4DCE8C7B208F}"/>
              </a:ext>
            </a:extLst>
          </p:cNvPr>
          <p:cNvSpPr/>
          <p:nvPr/>
        </p:nvSpPr>
        <p:spPr>
          <a:xfrm>
            <a:off x="4822207" y="5838470"/>
            <a:ext cx="1653346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16B28472-CB01-9D89-509B-26D59B4BA089}"/>
              </a:ext>
            </a:extLst>
          </p:cNvPr>
          <p:cNvSpPr/>
          <p:nvPr/>
        </p:nvSpPr>
        <p:spPr>
          <a:xfrm>
            <a:off x="2326221" y="5838471"/>
            <a:ext cx="2411242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5ED7B27-E5A3-1AD6-2F12-1265E4591B60}"/>
              </a:ext>
            </a:extLst>
          </p:cNvPr>
          <p:cNvSpPr/>
          <p:nvPr/>
        </p:nvSpPr>
        <p:spPr>
          <a:xfrm>
            <a:off x="115726" y="6285606"/>
            <a:ext cx="7578805" cy="999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日数は目安。一般的なLINE公式アカウント運用の傾向であり、貴社の実績とは異なる場合がある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［第4章］配信設計｜7日ステップの全体像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応募は数日で決まるため、配信は7日間で組む。求人をお届けするのはDay0とDay7だけ。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前後検索で見えた「比較 → 相場 → 続けられるか」の順に、疑問に答える。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6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役割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2400" y="1600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400" y="1600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根拠（前後検索）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78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400" y="1978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比較の最中に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2400" y="1978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あいさつ＋条件5問 → 合う求人を3件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46400" y="1978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0日に派遣会社名が並ぶ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02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400" y="2402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相場を示す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400" y="2402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希望エリア・職種の時給の相場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6400" y="2402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+2日「派遣 時給 相場」（仮説）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277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6400" y="2827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相談先を伝える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400" y="28277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合わなかったときの相談窓口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6400" y="28277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「派遣 契約期間内 辞める」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1536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2525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400" y="3252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不安を解消する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2400" y="32525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職場見学・面接の流れと持ち物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6400" y="32525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+15日「派遣 職場見学」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6773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400" y="3677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新着の案内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400" y="36773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今週の新着まとめ＋「条件を変える」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6400" y="36773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条件が合わないと他社へ流れる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4003199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4102146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400" y="41021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1ヶ月前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400" y="4102146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次のご希望は？（条件5問を再送）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6400" y="4102146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+5日「派遣 更新しない」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526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6400" y="4526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400" y="4526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条件に合う新着を3件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46400" y="4526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次を探す方に、他社より先に届く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000" y="5112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5152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Day3は求人をお届けしない回にし、Day7の新着を開いていただきやすくする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Q5（働き方）の回答で配信の流れを変える。「単発・日払い」はステップ配信に入れず、新着のお知らせのみ。面接予約・就業開始など状況が変わったら、その時点で配信を切り替える。契約満了前のご案内は、満了予定日をもとにお送りす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Day0・Day3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Day0は5問の回答直後に、条件に合う求人を3件だけお届けする。Day3は求人をお届けしない。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「合わなかったら相談できる」と先に伝えることで、信頼につなげる。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Day0｜3件だけお届けする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何十件も並べず、条件に合う3件に絞る。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複数の会社を比べている方の、選ぶ手間を減らす。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Day3｜求人はお届けしない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「合わなかったときの相談先」だけを伝える。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前後検索でも「契約期間内 辞める」が調べられている。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この回の狙い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「ここなら続けられそう」と感じていただくこと。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Day7の新着を開いていただくきっかけにする。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0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Day7・契約満了前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Day7は新着のまとめと「条件を変える」のご案内。契約満了の1か月前には、こちらからご案内する。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次に探し始める時期が分かるのは、就業中の方だけ。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Day7｜条件を変えられることを伝える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「応募してください」ではなく、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合わなければ条件を変えられると伝える。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満了1か月前｜先にご案内する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契約満了予定日をもとにお送りする。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他社より先に、次のご希望を伺える。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更新する方への対応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「更新する」を選んだ方は、次の満了まで通知を止める。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派遣のお仕事は1回で終わらない。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7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FCD327D4-877A-97BF-5A3D-BA2BFF89C5D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［第4章］年間の企画投稿カレンダー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344F9C81-17B8-CD75-7943-C74785EA9326}"/>
              </a:ext>
            </a:extLst>
          </p:cNvPr>
          <p:cNvSpPr txBox="1"/>
          <p:nvPr/>
        </p:nvSpPr>
        <p:spPr>
          <a:xfrm>
            <a:off x="309397" y="687600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検索のピークは、派遣が3月、バイトが4月。どちらも12月が最も少ない。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12月に友だちを増やし、3月は派遣、4月はバイトの応募へつなげる。</a:t>
            </a: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C60A8489-6BE4-3B93-2131-E11F42129098}"/>
              </a:ext>
            </a:extLst>
          </p:cNvPr>
          <p:cNvSpPr/>
          <p:nvPr/>
        </p:nvSpPr>
        <p:spPr>
          <a:xfrm>
            <a:off x="68362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46CD2D-A79C-A7B7-15A1-A1837415507A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03F4F1-34EC-318B-44DB-813F9A260ADC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2-3月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B56B7E-2C3F-30E8-B262-184104348BC9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4711DF-BA77-8F0A-2104-C18090ED3CC4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派遣のピーク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76CECB1-59BF-1E7A-094C-226743CD5D1F}"/>
              </a:ext>
            </a:extLst>
          </p:cNvPr>
          <p:cNvSpPr/>
          <p:nvPr/>
        </p:nvSpPr>
        <p:spPr>
          <a:xfrm>
            <a:off x="79335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「4月からの就業先さがし」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330544-7DE3-4156-FDB0-0068C25C7D92}"/>
              </a:ext>
            </a:extLst>
          </p:cNvPr>
          <p:cNvSpPr/>
          <p:nvPr/>
        </p:nvSpPr>
        <p:spPr>
          <a:xfrm>
            <a:off x="79335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派遣は3月がピーク（指数110.8）。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年度替わりで、契約満了と就業先さがしが重なる。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施策：12月に増やした友だちへ、条件別の新着を一斉に案内。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C89C044-CC81-F526-4C28-8C8818A84AC8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BB9FD63-B2E1-8ED6-289B-17E75D53D0CF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KPI：応募数／面接・職場見学の実施率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18FE43C-F46C-BAA4-F102-48BC91B9077E}"/>
              </a:ext>
            </a:extLst>
          </p:cNvPr>
          <p:cNvSpPr/>
          <p:nvPr/>
        </p:nvSpPr>
        <p:spPr>
          <a:xfrm>
            <a:off x="511846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CFAF28F-3A41-62B7-ED14-2C88314DE69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636307B-10AB-ADC3-1727-AB8FC583114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D4B9A45-FCB5-6DB2-B02F-57FFE5D56691}"/>
              </a:ext>
            </a:extLst>
          </p:cNvPr>
          <p:cNvSpPr/>
          <p:nvPr/>
        </p:nvSpPr>
        <p:spPr>
          <a:xfrm>
            <a:off x="594142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AB9A477-5190-5925-BA00-7C28E41E2AE9}"/>
              </a:ext>
            </a:extLst>
          </p:cNvPr>
          <p:cNvSpPr/>
          <p:nvPr/>
        </p:nvSpPr>
        <p:spPr>
          <a:xfrm>
            <a:off x="5941423" y="226013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バイトのピーク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DF4241-0F34-404F-9C8A-0C5C0B3F7B0B}"/>
              </a:ext>
            </a:extLst>
          </p:cNvPr>
          <p:cNvSpPr/>
          <p:nvPr/>
        </p:nvSpPr>
        <p:spPr>
          <a:xfrm>
            <a:off x="522819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「新生活のシフトさがし」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5CBA0E-C68D-2D85-8F64-5D9ED46DE52D}"/>
              </a:ext>
            </a:extLst>
          </p:cNvPr>
          <p:cNvSpPr/>
          <p:nvPr/>
        </p:nvSpPr>
        <p:spPr>
          <a:xfrm>
            <a:off x="522819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バイトは4月がピーク（指数117.5）。派遣より1か月遅い。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新生活が始まり、シフトを組める時期に探し始める。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施策：3月の派遣の配信とずらし、4月にバイトの新着を案内。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EF6A367-39C2-356A-9B47-3D3671D8D918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166AEE-8473-61AD-BC51-7204C60ECFE2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KPI：応募数／希望条件の回答率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87B2061-6B88-0A18-0E57-12185B834CCF}"/>
              </a:ext>
            </a:extLst>
          </p:cNvPr>
          <p:cNvSpPr/>
          <p:nvPr/>
        </p:nvSpPr>
        <p:spPr>
          <a:xfrm>
            <a:off x="68362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80051DD-55DD-DDC4-1C20-FA43FB837AEB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66D040C-5E3C-D384-1752-F340D729E508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9-10月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1D75AA6-DC2D-C974-1F8F-EA3764B5E2B1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C81E4D3-7404-C45A-3360-2888B2C16CEC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秋の戻り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74753E2-5389-A4C0-99DF-F1EBD9F21486}"/>
              </a:ext>
            </a:extLst>
          </p:cNvPr>
          <p:cNvSpPr/>
          <p:nvPr/>
        </p:nvSpPr>
        <p:spPr>
          <a:xfrm>
            <a:off x="79335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「下半期からの新しい仕事」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5421AF9-EA34-4D6D-A17B-353040384108}"/>
              </a:ext>
            </a:extLst>
          </p:cNvPr>
          <p:cNvSpPr/>
          <p:nvPr/>
        </p:nvSpPr>
        <p:spPr>
          <a:xfrm>
            <a:off x="79335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派遣は10月に指数が戻る（102.4）。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8月に少なくなったあと、下半期の入れ替えで動く。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施策：契約満了に合わせてご案内し、12月へつなげる。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BE67E13-AD4F-4228-9F1A-8B4E0CCBEBBE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E653D90-A148-4540-DAAB-BDE1AE7D11F9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KPI：再応募数（満了後に戻った方）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A903725-E0FA-B7ED-BE7F-3E870C011999}"/>
              </a:ext>
            </a:extLst>
          </p:cNvPr>
          <p:cNvSpPr/>
          <p:nvPr/>
        </p:nvSpPr>
        <p:spPr>
          <a:xfrm>
            <a:off x="511846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560804C-2AD2-34CF-80F2-47723D89B9EE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tx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0D3AA494-1CCC-455B-FD0B-69A03482B0B2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12月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CE7A172-10BE-1E65-8E12-21F725E375E4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FF1A96D-D52E-0E30-532A-ECE831BE9605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準備の時期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B191EBD-ED99-BB14-8C62-5B0BA0590745}"/>
              </a:ext>
            </a:extLst>
          </p:cNvPr>
          <p:cNvSpPr/>
          <p:nvPr/>
        </p:nvSpPr>
        <p:spPr>
          <a:xfrm>
            <a:off x="522819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「年明けから働きたい方の先行受付」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13B90534-5D2F-7E51-02AE-C33CF568ED2E}"/>
              </a:ext>
            </a:extLst>
          </p:cNvPr>
          <p:cNvSpPr/>
          <p:nvPr/>
        </p:nvSpPr>
        <p:spPr>
          <a:xfrm>
            <a:off x="522819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1年で最も少ない月（派遣88.4／バイト88.0）。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友だちを増やしやすい時期と考える。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施策：条件の再確認と新着の先行案内。3〜4月の応募へ。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985D5473-A6B2-6E6C-69A6-536638C669C1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65AB6CB-040B-F5AE-5EDC-FD4A6C6C841A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KPI：友だち追加数（この月は応募のご案内を控える）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Shape 2">
            <a:extLst>
              <a:ext uri="{FF2B5EF4-FFF2-40B4-BE49-F238E27FC236}">
                <a16:creationId xmlns:a16="http://schemas.microsoft.com/office/drawing/2014/main" id="{22BE1ADA-BF01-A520-0D77-972E7821FCE2}"/>
              </a:ext>
            </a:extLst>
          </p:cNvPr>
          <p:cNvSpPr/>
          <p:nvPr/>
        </p:nvSpPr>
        <p:spPr>
          <a:xfrm>
            <a:off x="683623" y="1612213"/>
            <a:ext cx="864616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F90B8BB4-8425-50C4-639B-16BEF90627DF}"/>
              </a:ext>
            </a:extLst>
          </p:cNvPr>
          <p:cNvSpPr/>
          <p:nvPr/>
        </p:nvSpPr>
        <p:spPr>
          <a:xfrm>
            <a:off x="866503" y="1612213"/>
            <a:ext cx="8458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派遣とバイトで配信を1か月ずらす（3月に派遣、4月にバイト）。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17C2D8-2B96-60F6-B4C8-41F2D3663705}"/>
              </a:ext>
            </a:extLst>
          </p:cNvPr>
          <p:cNvSpPr/>
          <p:nvPr/>
        </p:nvSpPr>
        <p:spPr>
          <a:xfrm>
            <a:off x="139337" y="1445006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12EE9E2-9122-74C3-0A3B-F81EEC972BBE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［第4章］配信設計｜通知メッセージ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友だち追加していない方にも、電話番号あてに届く。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面接・職場見学の前日のご案内は、実施率の改善につながる。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① 面接・職場見学の前日のご案内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日時・場所・道順・持ち物・服装を前日に送付する。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欠席が減ると、派遣先・掲載企業との関係も続く。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② 過去の応募者への友だち追加のご案内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連絡が途絶えた方へも、友だち追加をご案内する。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求人は、友だち追加の後に通常の配信でお届けする。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③ 契約満了の1か月前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更新のご意向の確認として、次のご希望を伺う。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探し始める時期が分かるため、先にご案内できる。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通知メッセージは別途費用（初期10万円／月額8万円〜＋通数単価7円）。用途は審査制で、配送・予約確認などの個別通知が前提。求人案内での利用可否は事前に確認する</a:t>
            </a:r>
          </a:p>
        </p:txBody>
      </p:sp>
      <p:pic>
        <p:nvPicPr>
          <p:cNvPr id="16" name="Picture 15" descr="人材A_通知メッセ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35" y="1526603"/>
            <a:ext cx="3076528" cy="461479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［第4章］歩留まり｜面接・職場見学の実施率をどう上げるか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応募数も広告費も増やさずに、面接・職場見学に来られる方を増やす。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前日にご案内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803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8000" y="1803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無断欠席を防ぐ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不安に先に答える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685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職場見学の流れを事前に送る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2685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落ちる不安を和らげる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日程をその場で確定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567848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LINEで候補日を選んでいただく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3567848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電話の往復中の離脱を防ぐ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合わなければ次をご案内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449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不採用・辞退の翌日に別の求人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458697"/>
            <a:ext cx="298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関心が高いうちに、次の応募へ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応募の数より、就業・再就業につながることを目指す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応募から面接に進む割合の業界水準は公開データがないため、貴社の実績をもとに算出する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［第4章］歩留まり｜求職者が動く時間帯に、LINEで対応する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求職者が仕事を探すのは夜間・土日が多く、電話で対応できる時間とずれやすい。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その時間帯のやり取りを、LINEで補う。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309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起きやすいこと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・応募直後のお電話が、つながりにくい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・折り返しが夕方以降に集中する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・面接日程の調整で、電話が何度も往復する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・同じご質問に、何度も回答している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3096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LINEに置き換えられるもの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・面接・職場見学の日程調整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・よくある質問（自動応答）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・前日のご案内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・希望条件の変更の受付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4896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2000" y="4936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人を増やすより、やり取りの時間帯を合わせることが大切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LINEなら、求職者の都合の良い時間にやり取りできる。電話でなくてもよいやり取りを、LINEに移す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7200" y="138137"/>
            <a:ext cx="7027574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Meiryo"/>
                <a:ea typeface="Meiryo"/>
                <a:cs typeface="Meiryo"/>
                <a:sym typeface="Meiryo"/>
              </a:rPr>
              <a:t>［第5章］運用サポート体制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月1回の定例会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GAレポートと連携し、応募率・面接の実施率を毎月確認する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企画配信の制作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年間カレンダーに沿った配信を、貴社に代わって作成する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3756183" y="751045"/>
            <a:ext cx="2022158" cy="58976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687600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構築だけでなく、運用しながら改善する体制。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チャット対応（自動応答の範囲。有人対応（Chat Plus／Call Plus）は別途）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［第5章］成果｜効果測定の設計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156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すぐに見る指標と、後から見る指標を分ける。リピート応募は満了を待つため、お約束に含めない。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896000"/>
            <a:ext cx="9043200" cy="67164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応募CPAの改善は、就業・再就業率が現状と変わらないことを前提に算出する。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貴社の実績（月の応募数・面接の実施数・広告費）をいただければ、貴社に合わせた数値をお出しする。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応募CPA ＝（広告費 ＋ LINE運用費）÷ 応募数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530000"/>
            <a:ext cx="90432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199" y="1530000"/>
            <a:ext cx="1209600" cy="342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71200" y="1569849"/>
            <a:ext cx="3297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指標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5199" y="1569849"/>
            <a:ext cx="1713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確認できる時期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5200" y="1569849"/>
            <a:ext cx="24768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扱い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199" y="1957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200" y="1872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応募率（友だち → 応募）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5199" y="1872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1週間〜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5200" y="1872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340000"/>
            <a:ext cx="9043200" cy="468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199" y="2425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200" y="2340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面接・職場見学の実施率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5199" y="2340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1ヶ月〜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5200" y="2340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199" y="2893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7F7F7F"/>
                </a:solidFill>
                <a:latin typeface="メイリオ"/>
                <a:ea typeface="メイリオ"/>
                <a:cs typeface="Meiryo"/>
              </a:rPr>
              <a:t>後から見る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1200" y="2808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就業・再就業／応募CPA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5199" y="2808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3〜6ヶ月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5200" y="2808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就業率が今と同じ水準という前提で算出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56000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8000" y="3595152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95959"/>
                </a:solidFill>
                <a:latin typeface="メイリオ"/>
                <a:ea typeface="メイリオ"/>
                <a:cs typeface="Meiryo"/>
              </a:rPr>
              <a:t>これまで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0000" y="3456000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お電話 → つながらない → 面接に来ない → 満了で連絡が途切れる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4121999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8000" y="4261151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LINE併用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00000" y="4121999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LINEで条件5問 → 合う求人3件 → 前日リマインド → 満了前に再応募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［第6章］費用プラン（6ヶ月〜／税抜）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貴社の課題とご予算に合わせて、4つのプランから選べる。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初期費用は初月のみ。2か月目以降は月額費用のみ。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12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564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0400" y="1564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2400" y="1564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6400" y="1564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60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コンサル基本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400" y="1960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400" y="1960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 / 30 / 50万円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6400" y="1960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投稿。設計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〜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209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成果報酬型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0400" y="24209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00" y="24209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単価 × 成果数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6400" y="24209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アカウント費・ツール費は別途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817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初動設計のみ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0400" y="28817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400" y="28817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0万円〜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6400" y="28817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GA計測とステップ配信を構築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2256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3425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運用代行・効率改善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0400" y="33425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2400" y="33425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6400" y="33425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既存運用の改善。月3投稿〜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0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無償で付帯するもの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266000"/>
            <a:ext cx="4104000" cy="109945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ロフィール／リッチメニュー／あいさつメッセージ／初期アンケート／キーワード自動応答／ステップ配信／セグメント配信／チャットタグ管理／チャット対応（自動応答の範囲）／GAレポート連携／クリエイティブ／定例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32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272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別途費用がかかるもの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7200" y="4266000"/>
            <a:ext cx="4104000" cy="116870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通知メッセージ　初期10万＋月8万〜＋通数7円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ポップアップ（離脱防止）初期1.5万＋月3万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 初期15万＋月3万〜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 初期1万〜／ID連携 初期20万〜＋月5万〜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まずは初動設計のみ（初期10万円・月額0円〜）から始めることも可能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6329941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すべて税抜・6か月〜の契約。成果地点と単価は個別に調整する。開発やツール導入は別途費用。目安：コンサル基本＋通知メッセージで月28万円〜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141702</TotalTime>
  <Words>4218</Words>
  <Application>Microsoft Office PowerPoint</Application>
  <PresentationFormat>A4 210 x 297 mm</PresentationFormat>
  <Paragraphs>761</Paragraphs>
  <Slides>33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33</vt:i4>
      </vt:variant>
    </vt:vector>
  </HeadingPairs>
  <TitlesOfParts>
    <vt:vector size="40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1927</cp:revision>
  <cp:lastPrinted>2022-11-01T11:38:14Z</cp:lastPrinted>
  <dcterms:created xsi:type="dcterms:W3CDTF">2015-09-04T09:21:15Z</dcterms:created>
  <dcterms:modified xsi:type="dcterms:W3CDTF">2026-10-21T08:13:26Z</dcterms:modified>
</cp:coreProperties>
</file>