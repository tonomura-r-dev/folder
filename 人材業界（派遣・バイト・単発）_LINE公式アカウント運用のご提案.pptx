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6"/>
  </p:notesMasterIdLst>
  <p:handoutMasterIdLst>
    <p:handoutMasterId r:id="rId37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997" r:id="rId21"/>
    <p:sldId id="2954" r:id="rId22"/>
    <p:sldId id="2998" r:id="rId23"/>
    <p:sldId id="2966" r:id="rId24"/>
    <p:sldId id="2999" r:id="rId25"/>
    <p:sldId id="3000" r:id="rId26"/>
    <p:sldId id="3001" r:id="rId27"/>
    <p:sldId id="2953" r:id="rId28"/>
    <p:sldId id="3002" r:id="rId29"/>
    <p:sldId id="3003" r:id="rId30"/>
    <p:sldId id="3004" r:id="rId31"/>
    <p:sldId id="2908" r:id="rId32"/>
    <p:sldId id="3005" r:id="rId33"/>
    <p:sldId id="3008" r:id="rId34"/>
    <p:sldId id="1169" r:id="rId3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3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jpeg"/><Relationship Id="rId7" Type="http://schemas.openxmlformats.org/officeDocument/2006/relationships/image" Target="../media/image27.jpeg"/><Relationship Id="rId8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契約満了後の再応募を軸にした全体設計・データ・他社事例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第3章｜新規獲得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タウンワークの型・友だち追加の動線・あいさつ・リッチメニュー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5408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14日間のステップ配信・配信文面・満了前のご案内・通知メッセージ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媒体データ（検索の前後行動）。起点KW「派遣 求人」「単発バイト」・直近1年間（2025年3月17日〜2026年3月22日）。※検索行動のデータであり、応募後の行動そのものではない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［第2章］他社分析｜主要エージェントのLINE運用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大手各社は、すでにLINE公式アカウントを運用している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差が出るのは友だち数ではなく、友だち追加の直後に何をご案内しているか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4000" y="1600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アカウント構成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0400" y="1600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友だち追加直後のご案内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38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リクルートエージェント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400" y="1938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1,468,273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000" y="1938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0400" y="1938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アカウント連携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2248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284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400" y="2284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1,338,559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4000" y="2284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2件（相談／チャレンジ）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0400" y="2284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あいさつ1行のみ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6297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マイナビ転職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400" y="2629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751,112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4000" y="26297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400" y="26297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9160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29753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type[転職]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400" y="2975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292,109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4000" y="29753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サイト・エージェント別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0400" y="29753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求人カルーセル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320946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type転職エージェント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400" y="33209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68,051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4000" y="3320946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0400" y="3320946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登録フォームへ誘導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36072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3666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UZUZ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8400" y="3666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26,532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4000" y="3666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2件（サポート／CS）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0400" y="3666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選択式アンケート4問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012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マイナビ保育士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18400" y="4012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4000" y="4012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職種特化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0400" y="4012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3問診断＋非公開求人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4464000"/>
            <a:ext cx="9043200" cy="709346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大手ほど、アカウント連携や登録フォームなど、LINEの外へご案内している。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LINEの中で完結させているのは、第二新卒特化のUZUZと、職種特化のマイナビ保育士。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友だち追加の直後に希望条件を伺い、合う求人をお届けする大手は、まだ少ない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 page.line.me（公式）。2026年9月12日に実機で確認。友だち数は表示値。マイナビ保育士は友だち数非公開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応募完了画面・サイト・求人誌など、今ある接点を中心に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の友だちを増やす。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19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719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応募の直後に、友だち追加をご案内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6000" y="1736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最も確実。応募済みの方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421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1999" y="2421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LPを離れようとした方にLINEをご案内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6000" y="2438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フォームより気軽な入口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123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1999" y="3123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タップだけで友だち追加が完了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6000" y="3140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フォームの入力なし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3825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1999" y="3825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求人誌・店頭ポスター・メールから直接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6000" y="3842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既存の接点を使う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2000" y="4536097"/>
            <a:ext cx="244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既存リストへ通知メッセージ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1999" y="4527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友だち追加のご案内を、電話番号あてに送る（利用できる用途は事前に確認）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6000" y="4544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過去の応募者へ改めてご案内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新しく集める前に、今つながりのある方とLINEでつながる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条件を変える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通知を止める」も、見える場所に置く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やめ方が分からないと、ブロックにつながりやすい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80000" y="15840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8000" y="15824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今すぐ探す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8000" y="18341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最も重要なボタン。左上に固定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0000" y="21672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8000" y="21656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条件に合う新着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000" y="24173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希望条件から一覧へ送る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80000" y="27504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8000" y="27488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希望条件を変える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8000" y="30005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条件が合わず他社へ流れるのを防ぐ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80000" y="33336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8000" y="33320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よくある質問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000" y="35837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職場見学・持ち物を事前にご案内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80000" y="39168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8000" y="39152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通知を止める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000" y="41669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ブロックの代わりになる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80000" y="4500000"/>
            <a:ext cx="2988000" cy="503999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8000" y="44984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今は働いている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8000" y="47501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就業中は停止し、満了前に再開する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84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224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「今は働いている」を選べるので、次の仕事探しで戻ってきていただける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画面はイメージ。タブ構成とボタン名は運用しながら調整する。タウンワークもリッチメニューにバイトの条件を並べ、リッチメニュー経由の応募が＋79%（2019年公開・P13）</a:t>
            </a:r>
          </a:p>
        </p:txBody>
      </p:sp>
      <p:pic>
        <p:nvPicPr>
          <p:cNvPr id="27" name="Picture 26" descr="人材A_リッチメニュ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584" y="1512000"/>
            <a:ext cx="4292830" cy="286188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相談先を伝える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141734</TotalTime>
  <Words>4175</Words>
  <Application>Microsoft Office PowerPoint</Application>
  <PresentationFormat>A4 210 x 297 mm</PresentationFormat>
  <Paragraphs>766</Paragraphs>
  <Slides>33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33</vt:i4>
      </vt:variant>
    </vt:vector>
  </HeadingPairs>
  <TitlesOfParts>
    <vt:vector size="4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1928</cp:revision>
  <cp:lastPrinted>2022-11-01T11:38:14Z</cp:lastPrinted>
  <dcterms:created xsi:type="dcterms:W3CDTF">2015-09-04T09:21:15Z</dcterms:created>
  <dcterms:modified xsi:type="dcterms:W3CDTF">2026-10-21T09:06:50Z</dcterms:modified>
</cp:coreProperties>
</file>