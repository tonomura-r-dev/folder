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36"/>
  </p:notesMasterIdLst>
  <p:handoutMasterIdLst>
    <p:handoutMasterId r:id="rId37"/>
  </p:handoutMasterIdLst>
  <p:sldIdLst>
    <p:sldId id="2363" r:id="rId3"/>
    <p:sldId id="2736" r:id="rId4"/>
    <p:sldId id="2935" r:id="rId5"/>
    <p:sldId id="2989" r:id="rId6"/>
    <p:sldId id="2991" r:id="rId7"/>
    <p:sldId id="2956" r:id="rId8"/>
    <p:sldId id="2762" r:id="rId9"/>
    <p:sldId id="2962" r:id="rId10"/>
    <p:sldId id="2992" r:id="rId11"/>
    <p:sldId id="2993" r:id="rId12"/>
    <p:sldId id="2990" r:id="rId13"/>
    <p:sldId id="2994" r:id="rId14"/>
    <p:sldId id="3009" r:id="rId15"/>
    <p:sldId id="3010" r:id="rId16"/>
    <p:sldId id="3011" r:id="rId17"/>
    <p:sldId id="2939" r:id="rId18"/>
    <p:sldId id="2937" r:id="rId19"/>
    <p:sldId id="2996" r:id="rId20"/>
    <p:sldId id="2997" r:id="rId21"/>
    <p:sldId id="2954" r:id="rId22"/>
    <p:sldId id="2998" r:id="rId23"/>
    <p:sldId id="2966" r:id="rId24"/>
    <p:sldId id="2999" r:id="rId25"/>
    <p:sldId id="3000" r:id="rId26"/>
    <p:sldId id="3001" r:id="rId27"/>
    <p:sldId id="2953" r:id="rId28"/>
    <p:sldId id="3002" r:id="rId29"/>
    <p:sldId id="3003" r:id="rId30"/>
    <p:sldId id="3004" r:id="rId31"/>
    <p:sldId id="2908" r:id="rId32"/>
    <p:sldId id="3005" r:id="rId33"/>
    <p:sldId id="3008" r:id="rId34"/>
    <p:sldId id="1169" r:id="rId35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notesMaster" Target="notesMasters/notesMaster1.xml"/><Relationship Id="rId37" Type="http://schemas.openxmlformats.org/officeDocument/2006/relationships/handoutMaster" Target="handoutMasters/handout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EE855B-5535-79F7-D3A0-C0A506787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C6FB8FB-0888-2275-ABE8-A13FDAA10E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D71EA6C-9577-A559-064D-4DE5700FB2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1C4F904-4503-6BD1-FC32-6AA038134FF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2E43C0-6795-4B13-B37C-259C826D4B6A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42108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33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Relationship Id="rId5" Type="http://schemas.openxmlformats.org/officeDocument/2006/relationships/image" Target="../media/image14.jpe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15.jpeg"/><Relationship Id="rId4" Type="http://schemas.openxmlformats.org/officeDocument/2006/relationships/image" Target="../media/image16.png"/><Relationship Id="rId5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3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24.jpeg"/><Relationship Id="rId5" Type="http://schemas.openxmlformats.org/officeDocument/2006/relationships/image" Target="../media/image25.jpeg"/><Relationship Id="rId6" Type="http://schemas.openxmlformats.org/officeDocument/2006/relationships/image" Target="../media/image26.jpeg"/><Relationship Id="rId7" Type="http://schemas.openxmlformats.org/officeDocument/2006/relationships/image" Target="../media/image27.jpeg"/><Relationship Id="rId8" Type="http://schemas.openxmlformats.org/officeDocument/2006/relationships/image" Target="../media/image28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Meiryo" panose="020B0604030504040204" pitchFamily="34" charset="-128"/>
                <a:ea typeface="Meiryo" panose="020B0604030504040204" pitchFamily="34" charset="-128"/>
              </a:rPr>
              <a:t>最上位パートナーの知見を活用し、獲得に強い動線を構築する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8EDEE7F4-9CB5-D481-E92E-3941E7AB9B1C}"/>
              </a:ext>
            </a:extLst>
          </p:cNvPr>
          <p:cNvSpPr/>
          <p:nvPr/>
        </p:nvSpPr>
        <p:spPr>
          <a:xfrm>
            <a:off x="3422468" y="3910946"/>
            <a:ext cx="3065417" cy="40554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- 2026</a:t>
            </a:r>
            <a:r>
              <a:rPr kumimoji="1" lang="ja-JP" altLang="en-US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最新版 </a:t>
            </a:r>
            <a:r>
              <a:rPr kumimoji="1" lang="en-US" altLang="ja-JP" sz="1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</a:t>
            </a:r>
            <a:endParaRPr kumimoji="1" lang="ja-JP" altLang="en-US" sz="1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26E1B5EC-868B-5787-A5AF-C20671BB3688}"/>
              </a:ext>
            </a:extLst>
          </p:cNvPr>
          <p:cNvSpPr/>
          <p:nvPr/>
        </p:nvSpPr>
        <p:spPr>
          <a:xfrm>
            <a:off x="3422468" y="4341752"/>
            <a:ext cx="3065417" cy="405546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業界：人材（派遣・バイト・単発）</a:t>
            </a: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501E-4538-865B-06FF-B4530B24F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D3533E4-0377-76E5-495C-9BA89161C5A7}"/>
              </a:ext>
            </a:extLst>
          </p:cNvPr>
          <p:cNvSpPr txBox="1"/>
          <p:nvPr/>
        </p:nvSpPr>
        <p:spPr>
          <a:xfrm>
            <a:off x="547200" y="154743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資料アジェンダ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2000" y="739175"/>
            <a:ext cx="9043200" cy="58085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派遣・バイトの仕事探しは、数日で応募先が決まり、数か月後にまた始まる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  <a:p>
            <a:pPr algn="l">
              <a:lnSpc>
                <a:spcPct val="115000"/>
              </a:lnSpc>
            </a:pP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一度応募した方に、次の仕事探し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が</a:t>
            </a:r>
            <a:r>
              <a:rPr lang="en-US" altLang="ja-JP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LINE</a:t>
            </a: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でスムーズに進むため</a:t>
            </a:r>
            <a:r>
              <a:rPr sz="1600" b="1" dirty="0" err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のご提案</a:t>
            </a:r>
            <a:r>
              <a:rPr sz="1600" b="1" dirty="0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2000" y="1458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22000" y="1515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22000" y="1515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6000" y="1458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第1章｜背景と強み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48000" y="16184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仕事探しの流れと、LINEでできること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432000" y="20988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522000" y="21564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2000" y="21564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6000" y="20988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第2章｜全体戦略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48000" y="20988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契約満了後の再応募を軸にした全体設計・データ・他社分析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000" y="27396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522000" y="27972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22000" y="27972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6000" y="27396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第3章｜参考事例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48000" y="27396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タウンワークのLINE運用（公式事例・実際の画面・3つの仕組み）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000" y="33804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522000" y="34380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22000" y="34380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6000" y="33804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第4章｜配信設計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8000" y="3383280"/>
            <a:ext cx="6048000" cy="585216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友だち追加の動線・あいさつ・リッチメニュー</a:t>
            </a:r>
          </a:p>
          <a:p>
            <a:pPr algn="l">
              <a:lnSpc>
                <a:spcPct val="115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14日間のステップ配信・満了前のご案内・通知メッセージ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40212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952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ounded Rectangle 26"/>
          <p:cNvSpPr/>
          <p:nvPr/>
        </p:nvSpPr>
        <p:spPr>
          <a:xfrm>
            <a:off x="522000" y="40788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22000" y="40788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6000" y="40212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第5章｜体制実績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348000" y="4181649"/>
            <a:ext cx="60480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運用サポート体制・効果測定の設計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Meiryo"/>
            </a:endParaRPr>
          </a:p>
        </p:txBody>
      </p:sp>
      <p:sp>
        <p:nvSpPr>
          <p:cNvPr id="31" name="Rounded Rectangle 30"/>
          <p:cNvSpPr/>
          <p:nvPr/>
        </p:nvSpPr>
        <p:spPr>
          <a:xfrm>
            <a:off x="432000" y="4662000"/>
            <a:ext cx="9043200" cy="58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C9D2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22000" y="4719600"/>
            <a:ext cx="468000" cy="468000"/>
          </a:xfrm>
          <a:prstGeom prst="roundRect">
            <a:avLst>
              <a:gd name="adj" fmla="val 12000"/>
            </a:avLst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2000" y="4719600"/>
            <a:ext cx="4680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6000" y="4662000"/>
            <a:ext cx="2232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1E2761"/>
                </a:solidFill>
                <a:latin typeface="メイリオ"/>
                <a:ea typeface="メイリオ"/>
                <a:cs typeface="Meiryo"/>
              </a:rPr>
              <a:t>第6章｜費用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48000" y="4662000"/>
            <a:ext cx="6048000" cy="5832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費用プラン</a:t>
            </a:r>
          </a:p>
        </p:txBody>
      </p:sp>
    </p:spTree>
    <p:extLst>
      <p:ext uri="{BB962C8B-B14F-4D97-AF65-F5344CB8AC3E}">
        <p14:creationId xmlns:p14="http://schemas.microsoft.com/office/powerpoint/2010/main" val="3112803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B579F4-FB71-CB84-349D-670C2D29F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156;p7">
            <a:extLst>
              <a:ext uri="{FF2B5EF4-FFF2-40B4-BE49-F238E27FC236}">
                <a16:creationId xmlns:a16="http://schemas.microsoft.com/office/drawing/2014/main" id="{5303208C-F2F3-3716-B706-B8EDA63E9750}"/>
              </a:ext>
            </a:extLst>
          </p:cNvPr>
          <p:cNvSpPr txBox="1"/>
          <p:nvPr/>
        </p:nvSpPr>
        <p:spPr>
          <a:xfrm>
            <a:off x="547200" y="138118"/>
            <a:ext cx="6514857" cy="338554"/>
          </a:xfrm>
          <a:prstGeom prst="rect">
            <a:avLst/>
          </a:prstGeom>
          <a:noFill/>
          <a:ln w="19050"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Font typeface="Arial"/>
              <a:buNone/>
            </a:pPr>
            <a:r>
              <a:rPr lang="en-US" altLang="ja-JP" sz="1600" b="1" dirty="0">
                <a:solidFill>
                  <a:srgbClr val="002060"/>
                </a:solidFill>
                <a:latin typeface="Meiryo"/>
                <a:ea typeface="Meiryo"/>
                <a:cs typeface="Meiryo"/>
                <a:sym typeface="Meiryo"/>
              </a:rPr>
              <a:t>［第1章］提案の背景｜仕事探しは、応募のたびにくり返される</a:t>
            </a:r>
            <a:endParaRPr sz="1600" b="1" dirty="0">
              <a:solidFill>
                <a:srgbClr val="002060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417600" y="790329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派遣・バイトの応募は数日で決まり、数か月後にはまた次の仕事を探し始める。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応募のあともつながりを保てれば、次の仕事探しでも貴社を選んでいただきやすくなる。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32000" y="1624820"/>
            <a:ext cx="4392000" cy="2742488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432000" y="1624820"/>
            <a:ext cx="4392000" cy="318728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20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仕事探しで起きていること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760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・応募は、広告や求人サイトから集まる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・同じ日に、複数の会社へ応募する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・連絡がつかず、面接に来られない方もいる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・契約満了や閑散期に、また仕事を探し始める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・次の仕事探しも、また広告や検索から始まる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083200" y="1624820"/>
            <a:ext cx="4392000" cy="2742488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5083200" y="1624820"/>
            <a:ext cx="4392000" cy="318728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083200" y="1624820"/>
            <a:ext cx="4392000" cy="342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LINEでできること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27200" y="2008203"/>
            <a:ext cx="4104000" cy="221745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・希望条件に合う新着求人をお届けできる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・配信は当日中に約8割が開封される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・選択式の質問なら、移動中でも答えやすい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・面接・職場見学の前日にご案内できる</a:t>
            </a:r>
          </a:p>
          <a:p>
            <a:pPr algn="l">
              <a:lnSpc>
                <a:spcPct val="21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・契約満了の前に、次のお仕事をご案内できる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32000" y="4755852"/>
            <a:ext cx="9043200" cy="637456"/>
          </a:xfrm>
          <a:prstGeom prst="rect">
            <a:avLst/>
          </a:prstGeom>
          <a:solidFill>
            <a:srgbClr val="EEF2F9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76000" y="4931307"/>
            <a:ext cx="8755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en-US" altLang="ja-JP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で、応募や選考にスムーズに進めるようにする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出典｜開封率はLINEヤフー公式値</a:t>
            </a:r>
          </a:p>
        </p:txBody>
      </p:sp>
    </p:spTree>
    <p:extLst>
      <p:ext uri="{BB962C8B-B14F-4D97-AF65-F5344CB8AC3E}">
        <p14:creationId xmlns:p14="http://schemas.microsoft.com/office/powerpoint/2010/main" val="99384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44384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［第1章］派遣・バイト求人のWebマーケ構造｜3つの壁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905558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応募単価や、求人の量・質は、LINEでは変えられない。</a:t>
            </a:r>
          </a:p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LINEで改善できるのは、応募のあとと、次の仕事探しの2つの場面。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881207"/>
            <a:ext cx="3016800" cy="3312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応募単価の高騰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952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8" name="TextBox 7"/>
          <p:cNvSpPr txBox="1"/>
          <p:nvPr/>
        </p:nvSpPr>
        <p:spPr>
          <a:xfrm>
            <a:off x="5400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595959"/>
                </a:solidFill>
                <a:latin typeface="メイリオ"/>
                <a:ea typeface="メイリオ"/>
                <a:cs typeface="メイリオ"/>
              </a:rPr>
              <a:t>LINEの対象外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00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・求人広告の単価は市況で決まる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・求人の仕入れも対象外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17200" y="1881207"/>
            <a:ext cx="3016800" cy="158818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Rectangle 10"/>
          <p:cNvSpPr/>
          <p:nvPr/>
        </p:nvSpPr>
        <p:spPr>
          <a:xfrm>
            <a:off x="3517200" y="1881207"/>
            <a:ext cx="30168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2" name="TextBox 11"/>
          <p:cNvSpPr txBox="1"/>
          <p:nvPr/>
        </p:nvSpPr>
        <p:spPr>
          <a:xfrm>
            <a:off x="35172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応募後に連絡が取りにくい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252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4" name="TextBox 13"/>
          <p:cNvSpPr txBox="1"/>
          <p:nvPr/>
        </p:nvSpPr>
        <p:spPr>
          <a:xfrm>
            <a:off x="36252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LINEで改善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252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・同じ日に複数社へ応募している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・電話がつながらず面接に至らない</a:t>
            </a:r>
          </a:p>
          <a:p>
            <a:pPr algn="l">
              <a:lnSpc>
                <a:spcPct val="15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・職場見学の前に不安で足が止まる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02400" y="1881207"/>
            <a:ext cx="3016800" cy="15881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7" name="Rectangle 16"/>
          <p:cNvSpPr/>
          <p:nvPr/>
        </p:nvSpPr>
        <p:spPr>
          <a:xfrm>
            <a:off x="6602400" y="1881207"/>
            <a:ext cx="3016800" cy="3312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8" name="TextBox 17"/>
          <p:cNvSpPr txBox="1"/>
          <p:nvPr/>
        </p:nvSpPr>
        <p:spPr>
          <a:xfrm>
            <a:off x="6602400" y="1915656"/>
            <a:ext cx="30168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再応募につながりにくい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710400" y="2284407"/>
            <a:ext cx="1152000" cy="2232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952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20" name="TextBox 19"/>
          <p:cNvSpPr txBox="1"/>
          <p:nvPr/>
        </p:nvSpPr>
        <p:spPr>
          <a:xfrm>
            <a:off x="6710400" y="2282554"/>
            <a:ext cx="11520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LINEで改善</a:t>
            </a:r>
            <a:endParaRPr sz="12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710400" y="2601207"/>
            <a:ext cx="2800800" cy="82245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・契約満了・閑散期にまた探し始める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・その時、連絡手段が残りにくい</a:t>
            </a:r>
          </a:p>
          <a:p>
            <a:pPr algn="l">
              <a:lnSpc>
                <a:spcPct val="150000"/>
              </a:lnSpc>
            </a:pPr>
            <a:r>
              <a:rPr sz="12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・次の応募も広告から集め直す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2000" y="3748026"/>
            <a:ext cx="9043200" cy="12040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>
              <a:lnSpc>
                <a:spcPct val="160000"/>
              </a:lnSpc>
            </a:pP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②③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の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改善</a:t>
            </a:r>
            <a:r>
              <a:rPr lang="ja-JP" altLang="en-US"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により、</a:t>
            </a: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広告費はそのままで、同じ方にくり返し応募いただき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6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就業・再就業につながる機会を増やせる</a:t>
            </a:r>
            <a:r>
              <a:rPr sz="16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>
              <a:lnSpc>
                <a:spcPct val="160000"/>
              </a:lnSpc>
            </a:pPr>
            <a:r>
              <a:rPr sz="16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応募CPAの改善は、就業率が今と変わらないことを前提に算出する。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32000" y="5242026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LINEで改善するのは「応募のあと」と「次の仕事探し」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応募から面接に進む割合・リピート応募率は公開データがないため、貴社の実績をもとに算出する／LINEの配信は当日中に約8割が開封される（LINEヤフー公式値）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32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［第1章］Webマーケで「できること」と「できないこと」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30352"/>
            <a:ext cx="9331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lang="ja-JP" altLang="en-US" sz="16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求人内容や時給はそのままに、応募後のご連絡と次のお仕事探しをLINEで支援する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27192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できないこと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835975"/>
            <a:ext cx="4104000" cy="184581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求人の質と量（仕入れ</a:t>
            </a: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）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時給・給与などの条件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</a:t>
            </a:r>
            <a:r>
              <a:rPr sz="1400" b="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求人広告の単価</a:t>
            </a:r>
            <a:endParaRPr sz="1400" b="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・雇用情勢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27192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できること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835975"/>
            <a:ext cx="4104000" cy="231978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・応募の直後に、希望条件を5問だけ伺う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・条件に合う新着求人をお届けする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・面接・職場見学の前日にご案内する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・契約満了の前に、次のお仕事をご案内する</a:t>
            </a:r>
          </a:p>
          <a:p>
            <a:pPr algn="l">
              <a:lnSpc>
                <a:spcPct val="220000"/>
              </a:lnSpc>
            </a:pPr>
            <a:r>
              <a:rPr sz="1400" b="0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・閑散期に友だちを増やし、繁忙期の応募へ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81942" y="4753800"/>
            <a:ext cx="4572001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630685" y="4753800"/>
            <a:ext cx="8386629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戻ってきていただく仕組みを整える</a:t>
            </a:r>
            <a:endParaRPr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［第2章］全体設計｜カスタマージャーニー8フェーズ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351453" y="776599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仕事を探す方の行動の流れ（8つの段階）に合わせて、LINEの施策を配置する。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特に力を入れるのは、④応募のあと、⑧契約満了からの再応募。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A6A6A6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2616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15498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276999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261610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応募・友だち追加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21581" y="2234721"/>
            <a:ext cx="345599" cy="647713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→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100" dirty="0"/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領域</a:t>
            </a:r>
            <a:endParaRPr lang="ja-JP" altLang="en-US" sz="1050" dirty="0"/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76999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既存接点→LINEOA領域</a:t>
            </a:r>
            <a:endParaRPr lang="ja-JP" altLang="en-US" sz="1200" dirty="0"/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7699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カスタマージャーニーマップ</a:t>
            </a:r>
            <a:endParaRPr lang="ja-JP" altLang="en-US" sz="1200" dirty="0"/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どう友だちになっていただくか（Web→LINE）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どう応募につなげるか（LINE→応募）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CPF</a:t>
            </a:r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広告</a:t>
            </a:r>
            <a:endParaRPr lang="ja-JP" altLang="en-US" sz="1200" b="1" dirty="0"/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000" b="1" dirty="0"/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通知メッセージ</a:t>
            </a:r>
            <a:endParaRPr lang="ja-JP" altLang="en-US" sz="1200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誘導</a:t>
            </a:r>
            <a:endParaRPr lang="ja-JP" altLang="en-US" sz="1000" b="1" dirty="0"/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求人誌・店頭のQR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フォロー体制</a:t>
            </a:r>
            <a:endParaRPr lang="ja-JP" altLang="en-US" sz="11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ステップ配信</a:t>
            </a:r>
            <a:endParaRPr lang="ja-JP" altLang="en-US" sz="1100" b="1" dirty="0"/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61610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</a:t>
            </a:r>
            <a:endParaRPr lang="ja-JP" altLang="en-US" sz="1100" b="1" dirty="0"/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7699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希望条件の回収</a:t>
            </a:r>
            <a:endParaRPr lang="ja-JP" altLang="en-US" sz="1200" b="1" dirty="0"/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スコアリング等</a:t>
            </a:r>
            <a:endParaRPr lang="ja-JP" altLang="en-US" sz="1000" b="1" dirty="0"/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満了時期の回収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前日リマインド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rgbClr val="1E276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短期14日／満了前に再開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68898-91A3-9BC1-3966-7771C36E75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2ECE7535-75B5-FD71-5DE8-AB1B855FFED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［第2章］全体設計｜LINEで対策できる領域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1D529F5-1969-8F22-8508-5967D82F7783}"/>
              </a:ext>
            </a:extLst>
          </p:cNvPr>
          <p:cNvSpPr/>
          <p:nvPr/>
        </p:nvSpPr>
        <p:spPr>
          <a:xfrm>
            <a:off x="379908" y="1835393"/>
            <a:ext cx="9190811" cy="2162521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D32EA92-3996-F5BA-08AE-72B08F79535C}"/>
              </a:ext>
            </a:extLst>
          </p:cNvPr>
          <p:cNvSpPr/>
          <p:nvPr/>
        </p:nvSpPr>
        <p:spPr>
          <a:xfrm>
            <a:off x="379908" y="4397170"/>
            <a:ext cx="9190811" cy="2022499"/>
          </a:xfrm>
          <a:prstGeom prst="rect">
            <a:avLst/>
          </a:prstGeom>
          <a:noFill/>
          <a:ln w="63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C7E38EC2-DE76-A5FE-A6B8-3B48F7BD7B46}"/>
              </a:ext>
            </a:extLst>
          </p:cNvPr>
          <p:cNvSpPr txBox="1"/>
          <p:nvPr/>
        </p:nvSpPr>
        <p:spPr>
          <a:xfrm>
            <a:off x="379908" y="1527022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&lt;応募前のユーザー領域&gt;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315E4FD7-BF96-305B-4DFF-0204D305BAAE}"/>
              </a:ext>
            </a:extLst>
          </p:cNvPr>
          <p:cNvSpPr txBox="1"/>
          <p:nvPr/>
        </p:nvSpPr>
        <p:spPr>
          <a:xfrm>
            <a:off x="379908" y="4089393"/>
            <a:ext cx="496388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&lt;応募済みユーザー領域&gt;</a:t>
            </a:r>
            <a:endParaRPr lang="ja-JP" alt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72450FBF-2EA8-4582-869E-9B2A7C4946D7}"/>
              </a:ext>
            </a:extLst>
          </p:cNvPr>
          <p:cNvSpPr/>
          <p:nvPr/>
        </p:nvSpPr>
        <p:spPr>
          <a:xfrm>
            <a:off x="548883" y="2060461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6891C2D7-8AEF-98E4-337B-283DC4374AFC}"/>
              </a:ext>
            </a:extLst>
          </p:cNvPr>
          <p:cNvSpPr/>
          <p:nvPr/>
        </p:nvSpPr>
        <p:spPr>
          <a:xfrm>
            <a:off x="548883" y="2322497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3670DE23-5EB2-C1E6-9ED3-6176C87DDEA9}"/>
              </a:ext>
            </a:extLst>
          </p:cNvPr>
          <p:cNvSpPr/>
          <p:nvPr/>
        </p:nvSpPr>
        <p:spPr>
          <a:xfrm>
            <a:off x="548883" y="2659935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各種</a:t>
            </a:r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SNS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8C708B2-F546-DE85-AA3B-2C7B33013111}"/>
              </a:ext>
            </a:extLst>
          </p:cNvPr>
          <p:cNvSpPr/>
          <p:nvPr/>
        </p:nvSpPr>
        <p:spPr>
          <a:xfrm>
            <a:off x="548883" y="2997373"/>
            <a:ext cx="1355280" cy="243944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過去の応募者リスト</a:t>
            </a: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12C768D-D601-2E13-45FD-BFE5BA587BC6}"/>
              </a:ext>
            </a:extLst>
          </p:cNvPr>
          <p:cNvSpPr/>
          <p:nvPr/>
        </p:nvSpPr>
        <p:spPr>
          <a:xfrm>
            <a:off x="548883" y="3672249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LINE広告（友だち追加）など</a:t>
            </a:r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3127993-BF51-568A-20FB-A9FB1DB6C913}"/>
              </a:ext>
            </a:extLst>
          </p:cNvPr>
          <p:cNvSpPr/>
          <p:nvPr/>
        </p:nvSpPr>
        <p:spPr>
          <a:xfrm>
            <a:off x="8170812" y="2408570"/>
            <a:ext cx="1355280" cy="243944"/>
          </a:xfrm>
          <a:prstGeom prst="rect">
            <a:avLst/>
          </a:prstGeom>
          <a:solidFill>
            <a:srgbClr val="1E2761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2E81D74A-E79F-C90A-80AF-4F6BDF853777}"/>
              </a:ext>
            </a:extLst>
          </p:cNvPr>
          <p:cNvSpPr/>
          <p:nvPr/>
        </p:nvSpPr>
        <p:spPr>
          <a:xfrm>
            <a:off x="548883" y="3334811"/>
            <a:ext cx="2943254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求人誌・店頭・メールのQRコード</a:t>
            </a:r>
            <a:endParaRPr kumimoji="1" lang="ja-JP" altLang="en-US" sz="12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正方形/長方形 44">
            <a:extLst>
              <a:ext uri="{FF2B5EF4-FFF2-40B4-BE49-F238E27FC236}">
                <a16:creationId xmlns:a16="http://schemas.microsoft.com/office/drawing/2014/main" id="{346217DB-3E59-DD17-6353-BB21863AB6A4}"/>
              </a:ext>
            </a:extLst>
          </p:cNvPr>
          <p:cNvSpPr/>
          <p:nvPr/>
        </p:nvSpPr>
        <p:spPr>
          <a:xfrm>
            <a:off x="1950234" y="2999032"/>
            <a:ext cx="1543806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chemeClr val="bg1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メールマガジン</a:t>
            </a:r>
            <a:endParaRPr kumimoji="1" lang="ja-JP" altLang="en-US" sz="1100" b="1" dirty="0">
              <a:solidFill>
                <a:schemeClr val="bg1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B73343-1515-8075-50D7-828D2C7D0482}"/>
              </a:ext>
            </a:extLst>
          </p:cNvPr>
          <p:cNvSpPr/>
          <p:nvPr/>
        </p:nvSpPr>
        <p:spPr>
          <a:xfrm>
            <a:off x="1939622" y="2149679"/>
            <a:ext cx="1543806" cy="295172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離脱防止バナー</a:t>
            </a:r>
            <a:r>
              <a:rPr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52" name="コネクタ: カギ線 51">
            <a:extLst>
              <a:ext uri="{FF2B5EF4-FFF2-40B4-BE49-F238E27FC236}">
                <a16:creationId xmlns:a16="http://schemas.microsoft.com/office/drawing/2014/main" id="{10A164B9-404C-F131-0FB7-4A7EC00628C8}"/>
              </a:ext>
            </a:extLst>
          </p:cNvPr>
          <p:cNvCxnSpPr>
            <a:cxnSpLocks/>
            <a:stCxn id="14" idx="3"/>
          </p:cNvCxnSpPr>
          <p:nvPr/>
        </p:nvCxnSpPr>
        <p:spPr>
          <a:xfrm flipV="1">
            <a:off x="1904163" y="2540793"/>
            <a:ext cx="1898060" cy="241114"/>
          </a:xfrm>
          <a:prstGeom prst="bentConnector3">
            <a:avLst>
              <a:gd name="adj1" fmla="val 88139"/>
            </a:avLst>
          </a:prstGeom>
          <a:ln>
            <a:solidFill>
              <a:schemeClr val="bg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正方形/長方形 79">
            <a:extLst>
              <a:ext uri="{FF2B5EF4-FFF2-40B4-BE49-F238E27FC236}">
                <a16:creationId xmlns:a16="http://schemas.microsoft.com/office/drawing/2014/main" id="{AB39E10C-FA5C-42F3-51FF-A98C96D3A9FE}"/>
              </a:ext>
            </a:extLst>
          </p:cNvPr>
          <p:cNvSpPr/>
          <p:nvPr/>
        </p:nvSpPr>
        <p:spPr>
          <a:xfrm>
            <a:off x="8170812" y="2124073"/>
            <a:ext cx="1355280" cy="243944"/>
          </a:xfrm>
          <a:prstGeom prst="rect">
            <a:avLst/>
          </a:prstGeom>
          <a:solidFill>
            <a:schemeClr val="bg1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新着求人の配信</a:t>
            </a:r>
          </a:p>
        </p:txBody>
      </p:sp>
      <p:sp>
        <p:nvSpPr>
          <p:cNvPr id="130" name="正方形/長方形 129">
            <a:extLst>
              <a:ext uri="{FF2B5EF4-FFF2-40B4-BE49-F238E27FC236}">
                <a16:creationId xmlns:a16="http://schemas.microsoft.com/office/drawing/2014/main" id="{68999E51-25BF-ABC0-E768-EB439414D6AA}"/>
              </a:ext>
            </a:extLst>
          </p:cNvPr>
          <p:cNvSpPr/>
          <p:nvPr/>
        </p:nvSpPr>
        <p:spPr>
          <a:xfrm>
            <a:off x="486784" y="713253"/>
            <a:ext cx="9005456" cy="65324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応募前に離れた方は友だちとして残り、応募した方には次の仕事探しで戻っていただくなど、</a:t>
            </a:r>
            <a:endParaRPr lang="en-US" altLang="ja-JP" sz="14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LINE公式アカウントで対策できる場面は多く、課題に合わせて施策を組み合わせられる。</a:t>
            </a:r>
            <a:endParaRPr lang="ja-JP" altLang="en-US" sz="14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3" name="正方形/長方形 132">
            <a:extLst>
              <a:ext uri="{FF2B5EF4-FFF2-40B4-BE49-F238E27FC236}">
                <a16:creationId xmlns:a16="http://schemas.microsoft.com/office/drawing/2014/main" id="{EF3EB03D-B886-80C5-4DDF-AD318BB1E8CB}"/>
              </a:ext>
            </a:extLst>
          </p:cNvPr>
          <p:cNvSpPr/>
          <p:nvPr/>
        </p:nvSpPr>
        <p:spPr>
          <a:xfrm>
            <a:off x="6444618" y="4938641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GAでの効果測定</a:t>
            </a:r>
          </a:p>
        </p:txBody>
      </p:sp>
      <p:sp>
        <p:nvSpPr>
          <p:cNvPr id="134" name="正方形/長方形 133">
            <a:extLst>
              <a:ext uri="{FF2B5EF4-FFF2-40B4-BE49-F238E27FC236}">
                <a16:creationId xmlns:a16="http://schemas.microsoft.com/office/drawing/2014/main" id="{8185B158-D6FD-FC9A-D842-E0184FC04A2F}"/>
              </a:ext>
            </a:extLst>
          </p:cNvPr>
          <p:cNvSpPr/>
          <p:nvPr/>
        </p:nvSpPr>
        <p:spPr>
          <a:xfrm>
            <a:off x="6444618" y="5207075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投稿スケジュール確認</a:t>
            </a:r>
            <a:endParaRPr kumimoji="1" lang="en-US" altLang="ja-JP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5" name="正方形/長方形 134">
            <a:extLst>
              <a:ext uri="{FF2B5EF4-FFF2-40B4-BE49-F238E27FC236}">
                <a16:creationId xmlns:a16="http://schemas.microsoft.com/office/drawing/2014/main" id="{CAF16DCF-7CE0-97CD-A1FD-09B08149FF7B}"/>
              </a:ext>
            </a:extLst>
          </p:cNvPr>
          <p:cNvSpPr/>
          <p:nvPr/>
        </p:nvSpPr>
        <p:spPr>
          <a:xfrm>
            <a:off x="6444617" y="5743943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Call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6" name="正方形/長方形 135">
            <a:extLst>
              <a:ext uri="{FF2B5EF4-FFF2-40B4-BE49-F238E27FC236}">
                <a16:creationId xmlns:a16="http://schemas.microsoft.com/office/drawing/2014/main" id="{DE164E19-C9CA-ADE8-FE9B-4A4096DD13BE}"/>
              </a:ext>
            </a:extLst>
          </p:cNvPr>
          <p:cNvSpPr/>
          <p:nvPr/>
        </p:nvSpPr>
        <p:spPr>
          <a:xfrm>
            <a:off x="6444617" y="5475509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Chat Plus</a:t>
            </a:r>
            <a:endParaRPr kumimoji="1"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7" name="正方形/長方形 136">
            <a:extLst>
              <a:ext uri="{FF2B5EF4-FFF2-40B4-BE49-F238E27FC236}">
                <a16:creationId xmlns:a16="http://schemas.microsoft.com/office/drawing/2014/main" id="{FF9A810E-B53B-2631-3BD5-00395512E9C0}"/>
              </a:ext>
            </a:extLst>
          </p:cNvPr>
          <p:cNvSpPr/>
          <p:nvPr/>
        </p:nvSpPr>
        <p:spPr>
          <a:xfrm>
            <a:off x="6444617" y="6012377"/>
            <a:ext cx="2292685" cy="221767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</a:p>
        </p:txBody>
      </p:sp>
      <p:sp>
        <p:nvSpPr>
          <p:cNvPr id="145" name="正方形/長方形 144">
            <a:extLst>
              <a:ext uri="{FF2B5EF4-FFF2-40B4-BE49-F238E27FC236}">
                <a16:creationId xmlns:a16="http://schemas.microsoft.com/office/drawing/2014/main" id="{1DF80BB2-F1C3-A39C-D441-B75E4795CC5B}"/>
              </a:ext>
            </a:extLst>
          </p:cNvPr>
          <p:cNvSpPr/>
          <p:nvPr/>
        </p:nvSpPr>
        <p:spPr>
          <a:xfrm>
            <a:off x="6444617" y="4746848"/>
            <a:ext cx="1424263" cy="16373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定期的な対応（一部）</a:t>
            </a:r>
          </a:p>
        </p:txBody>
      </p:sp>
      <p:sp>
        <p:nvSpPr>
          <p:cNvPr id="49" name="正方形/長方形 48">
            <a:extLst>
              <a:ext uri="{FF2B5EF4-FFF2-40B4-BE49-F238E27FC236}">
                <a16:creationId xmlns:a16="http://schemas.microsoft.com/office/drawing/2014/main" id="{CABD8985-CFB7-BFB4-C5CA-334F6DD3C337}"/>
              </a:ext>
            </a:extLst>
          </p:cNvPr>
          <p:cNvSpPr/>
          <p:nvPr/>
        </p:nvSpPr>
        <p:spPr>
          <a:xfrm>
            <a:off x="3634802" y="1986633"/>
            <a:ext cx="4080010" cy="2098921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正方形/長方形 49">
            <a:extLst>
              <a:ext uri="{FF2B5EF4-FFF2-40B4-BE49-F238E27FC236}">
                <a16:creationId xmlns:a16="http://schemas.microsoft.com/office/drawing/2014/main" id="{498D1E1C-883A-4348-5898-29B2849E59E6}"/>
              </a:ext>
            </a:extLst>
          </p:cNvPr>
          <p:cNvSpPr/>
          <p:nvPr/>
        </p:nvSpPr>
        <p:spPr>
          <a:xfrm>
            <a:off x="3802223" y="2418821"/>
            <a:ext cx="1355280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cxnSp>
        <p:nvCxnSpPr>
          <p:cNvPr id="51" name="コネクタ: カギ線 50">
            <a:extLst>
              <a:ext uri="{FF2B5EF4-FFF2-40B4-BE49-F238E27FC236}">
                <a16:creationId xmlns:a16="http://schemas.microsoft.com/office/drawing/2014/main" id="{2981AEA5-C263-1A76-AF6F-7D4F94F3AC3F}"/>
              </a:ext>
            </a:extLst>
          </p:cNvPr>
          <p:cNvCxnSpPr>
            <a:cxnSpLocks/>
          </p:cNvCxnSpPr>
          <p:nvPr/>
        </p:nvCxnSpPr>
        <p:spPr>
          <a:xfrm flipV="1">
            <a:off x="3492137" y="2540793"/>
            <a:ext cx="310086" cy="915990"/>
          </a:xfrm>
          <a:prstGeom prst="bentConnector3">
            <a:avLst>
              <a:gd name="adj1" fmla="val 27532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コネクタ: カギ線 52">
            <a:extLst>
              <a:ext uri="{FF2B5EF4-FFF2-40B4-BE49-F238E27FC236}">
                <a16:creationId xmlns:a16="http://schemas.microsoft.com/office/drawing/2014/main" id="{6898DA80-B20A-0E45-B382-62A8490927C1}"/>
              </a:ext>
            </a:extLst>
          </p:cNvPr>
          <p:cNvCxnSpPr>
            <a:cxnSpLocks/>
          </p:cNvCxnSpPr>
          <p:nvPr/>
        </p:nvCxnSpPr>
        <p:spPr>
          <a:xfrm flipV="1">
            <a:off x="3483428" y="2540793"/>
            <a:ext cx="310086" cy="1253428"/>
          </a:xfrm>
          <a:prstGeom prst="bentConnector3">
            <a:avLst>
              <a:gd name="adj1" fmla="val 3034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コネクタ: カギ線 53">
            <a:extLst>
              <a:ext uri="{FF2B5EF4-FFF2-40B4-BE49-F238E27FC236}">
                <a16:creationId xmlns:a16="http://schemas.microsoft.com/office/drawing/2014/main" id="{4194983F-AFC0-FB2F-1207-1AF108AFDA19}"/>
              </a:ext>
            </a:extLst>
          </p:cNvPr>
          <p:cNvCxnSpPr>
            <a:cxnSpLocks/>
          </p:cNvCxnSpPr>
          <p:nvPr/>
        </p:nvCxnSpPr>
        <p:spPr>
          <a:xfrm>
            <a:off x="3483428" y="2297265"/>
            <a:ext cx="318795" cy="243528"/>
          </a:xfrm>
          <a:prstGeom prst="bentConnector3">
            <a:avLst>
              <a:gd name="adj1" fmla="val 28488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B20DB094-045E-2E0D-7026-B0BFFA8F2374}"/>
              </a:ext>
            </a:extLst>
          </p:cNvPr>
          <p:cNvSpPr/>
          <p:nvPr/>
        </p:nvSpPr>
        <p:spPr>
          <a:xfrm>
            <a:off x="5319694" y="212207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企画配信（セグメント配信）</a:t>
            </a:r>
          </a:p>
        </p:txBody>
      </p:sp>
      <p:sp>
        <p:nvSpPr>
          <p:cNvPr id="56" name="正方形/長方形 55">
            <a:extLst>
              <a:ext uri="{FF2B5EF4-FFF2-40B4-BE49-F238E27FC236}">
                <a16:creationId xmlns:a16="http://schemas.microsoft.com/office/drawing/2014/main" id="{960DE889-CA21-9C03-FD30-9F8BA1C11BE0}"/>
              </a:ext>
            </a:extLst>
          </p:cNvPr>
          <p:cNvSpPr/>
          <p:nvPr/>
        </p:nvSpPr>
        <p:spPr>
          <a:xfrm>
            <a:off x="5319694" y="238767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64" name="正方形/長方形 63">
            <a:extLst>
              <a:ext uri="{FF2B5EF4-FFF2-40B4-BE49-F238E27FC236}">
                <a16:creationId xmlns:a16="http://schemas.microsoft.com/office/drawing/2014/main" id="{B0198902-7C67-1321-611C-A528F8B056D6}"/>
              </a:ext>
            </a:extLst>
          </p:cNvPr>
          <p:cNvSpPr/>
          <p:nvPr/>
        </p:nvSpPr>
        <p:spPr>
          <a:xfrm>
            <a:off x="5319694" y="265326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条件5問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EC9DC48F-C12B-8A2A-8E49-C82DF8C2398F}"/>
              </a:ext>
            </a:extLst>
          </p:cNvPr>
          <p:cNvSpPr/>
          <p:nvPr/>
        </p:nvSpPr>
        <p:spPr>
          <a:xfrm>
            <a:off x="3883318" y="2695245"/>
            <a:ext cx="1274185" cy="16661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初期設計の項目</a:t>
            </a:r>
          </a:p>
        </p:txBody>
      </p:sp>
      <p:sp>
        <p:nvSpPr>
          <p:cNvPr id="68" name="テキスト ボックス 67">
            <a:extLst>
              <a:ext uri="{FF2B5EF4-FFF2-40B4-BE49-F238E27FC236}">
                <a16:creationId xmlns:a16="http://schemas.microsoft.com/office/drawing/2014/main" id="{7FD4C92A-1BF4-DC29-74E5-5DDCAEC47D74}"/>
              </a:ext>
            </a:extLst>
          </p:cNvPr>
          <p:cNvSpPr txBox="1"/>
          <p:nvPr/>
        </p:nvSpPr>
        <p:spPr>
          <a:xfrm>
            <a:off x="3894226" y="2879422"/>
            <a:ext cx="1274185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プロフィール画面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</a:t>
            </a:r>
            <a:endParaRPr kumimoji="1"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・応答メッセージ設定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・チャットタグ設定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・計測タグ設定</a:t>
            </a:r>
            <a:endParaRPr lang="en-US" altLang="ja-JP" sz="7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 </a:t>
            </a:r>
            <a:r>
              <a:rPr lang="en-US" altLang="ja-JP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6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6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lang="en-US" altLang="ja-JP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7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 </a:t>
            </a:r>
            <a:r>
              <a:rPr lang="en-US" altLang="ja-JP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7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別途費用</a:t>
            </a:r>
            <a:endParaRPr lang="en-US" altLang="ja-JP" sz="700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正方形/長方形 68">
            <a:extLst>
              <a:ext uri="{FF2B5EF4-FFF2-40B4-BE49-F238E27FC236}">
                <a16:creationId xmlns:a16="http://schemas.microsoft.com/office/drawing/2014/main" id="{3C7CD555-05D0-53EC-B6D5-ED734EBA27DF}"/>
              </a:ext>
            </a:extLst>
          </p:cNvPr>
          <p:cNvSpPr/>
          <p:nvPr/>
        </p:nvSpPr>
        <p:spPr>
          <a:xfrm>
            <a:off x="5326708" y="291886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タグ・セグメントの管理</a:t>
            </a:r>
          </a:p>
        </p:txBody>
      </p:sp>
      <p:sp>
        <p:nvSpPr>
          <p:cNvPr id="74" name="正方形/長方形 73">
            <a:extLst>
              <a:ext uri="{FF2B5EF4-FFF2-40B4-BE49-F238E27FC236}">
                <a16:creationId xmlns:a16="http://schemas.microsoft.com/office/drawing/2014/main" id="{64296BD6-7E19-AF65-3C1F-3AA68F3DB296}"/>
              </a:ext>
            </a:extLst>
          </p:cNvPr>
          <p:cNvSpPr/>
          <p:nvPr/>
        </p:nvSpPr>
        <p:spPr>
          <a:xfrm>
            <a:off x="5326708" y="3450051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初期設計の見直し</a:t>
            </a: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2B391CFB-A763-8F28-0B80-C4699C620787}"/>
              </a:ext>
            </a:extLst>
          </p:cNvPr>
          <p:cNvSpPr/>
          <p:nvPr/>
        </p:nvSpPr>
        <p:spPr>
          <a:xfrm>
            <a:off x="5326708" y="318445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sz="1200" b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よくある質問への自動応答</a:t>
            </a:r>
            <a:endParaRPr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正方形/長方形 75">
            <a:extLst>
              <a:ext uri="{FF2B5EF4-FFF2-40B4-BE49-F238E27FC236}">
                <a16:creationId xmlns:a16="http://schemas.microsoft.com/office/drawing/2014/main" id="{78BE8892-FE50-BF73-B15E-567C1CFD9A8A}"/>
              </a:ext>
            </a:extLst>
          </p:cNvPr>
          <p:cNvSpPr/>
          <p:nvPr/>
        </p:nvSpPr>
        <p:spPr>
          <a:xfrm>
            <a:off x="6487455" y="2655306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タグ配信</a:t>
            </a:r>
          </a:p>
        </p:txBody>
      </p:sp>
      <p:sp>
        <p:nvSpPr>
          <p:cNvPr id="77" name="正方形/長方形 76">
            <a:extLst>
              <a:ext uri="{FF2B5EF4-FFF2-40B4-BE49-F238E27FC236}">
                <a16:creationId xmlns:a16="http://schemas.microsoft.com/office/drawing/2014/main" id="{5FB8C9E8-13C6-54AE-CC6C-E66EB44BEE66}"/>
              </a:ext>
            </a:extLst>
          </p:cNvPr>
          <p:cNvSpPr/>
          <p:nvPr/>
        </p:nvSpPr>
        <p:spPr>
          <a:xfrm>
            <a:off x="5319693" y="3715648"/>
            <a:ext cx="2292685" cy="221767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条件変更の受付</a:t>
            </a:r>
          </a:p>
        </p:txBody>
      </p:sp>
      <p:cxnSp>
        <p:nvCxnSpPr>
          <p:cNvPr id="78" name="コネクタ: カギ線 77">
            <a:extLst>
              <a:ext uri="{FF2B5EF4-FFF2-40B4-BE49-F238E27FC236}">
                <a16:creationId xmlns:a16="http://schemas.microsoft.com/office/drawing/2014/main" id="{A0B29E3B-5447-4104-E77E-C26EB1CB0F8A}"/>
              </a:ext>
            </a:extLst>
          </p:cNvPr>
          <p:cNvCxnSpPr>
            <a:cxnSpLocks/>
            <a:stCxn id="77" idx="3"/>
          </p:cNvCxnSpPr>
          <p:nvPr/>
        </p:nvCxnSpPr>
        <p:spPr>
          <a:xfrm flipV="1">
            <a:off x="7612378" y="2246045"/>
            <a:ext cx="558434" cy="1580487"/>
          </a:xfrm>
          <a:prstGeom prst="bentConnector3">
            <a:avLst>
              <a:gd name="adj1" fmla="val 76511"/>
            </a:avLst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コネクタ: カギ線 78">
            <a:extLst>
              <a:ext uri="{FF2B5EF4-FFF2-40B4-BE49-F238E27FC236}">
                <a16:creationId xmlns:a16="http://schemas.microsoft.com/office/drawing/2014/main" id="{6F60DF78-AC16-9662-17BD-3EBCD4677BB3}"/>
              </a:ext>
            </a:extLst>
          </p:cNvPr>
          <p:cNvCxnSpPr>
            <a:cxnSpLocks/>
            <a:stCxn id="74" idx="3"/>
          </p:cNvCxnSpPr>
          <p:nvPr/>
        </p:nvCxnSpPr>
        <p:spPr>
          <a:xfrm flipV="1">
            <a:off x="7619393" y="2530542"/>
            <a:ext cx="551419" cy="103039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コネクタ: カギ線 81">
            <a:extLst>
              <a:ext uri="{FF2B5EF4-FFF2-40B4-BE49-F238E27FC236}">
                <a16:creationId xmlns:a16="http://schemas.microsoft.com/office/drawing/2014/main" id="{9ACE7516-910E-229D-8D61-02389EE1209F}"/>
              </a:ext>
            </a:extLst>
          </p:cNvPr>
          <p:cNvCxnSpPr>
            <a:cxnSpLocks/>
            <a:stCxn id="75" idx="3"/>
          </p:cNvCxnSpPr>
          <p:nvPr/>
        </p:nvCxnSpPr>
        <p:spPr>
          <a:xfrm flipV="1">
            <a:off x="7619393" y="2530542"/>
            <a:ext cx="551419" cy="76479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コネクタ: カギ線 82">
            <a:extLst>
              <a:ext uri="{FF2B5EF4-FFF2-40B4-BE49-F238E27FC236}">
                <a16:creationId xmlns:a16="http://schemas.microsoft.com/office/drawing/2014/main" id="{CFEF0AA5-73C6-3E02-7EDB-57BE374DCDBF}"/>
              </a:ext>
            </a:extLst>
          </p:cNvPr>
          <p:cNvCxnSpPr>
            <a:cxnSpLocks/>
            <a:stCxn id="69" idx="3"/>
          </p:cNvCxnSpPr>
          <p:nvPr/>
        </p:nvCxnSpPr>
        <p:spPr>
          <a:xfrm flipV="1">
            <a:off x="7619393" y="2530542"/>
            <a:ext cx="551419" cy="499203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コネクタ: カギ線 83">
            <a:extLst>
              <a:ext uri="{FF2B5EF4-FFF2-40B4-BE49-F238E27FC236}">
                <a16:creationId xmlns:a16="http://schemas.microsoft.com/office/drawing/2014/main" id="{994CBAF5-3A55-5F8D-2FE3-7E89A4D5C622}"/>
              </a:ext>
            </a:extLst>
          </p:cNvPr>
          <p:cNvCxnSpPr>
            <a:cxnSpLocks/>
            <a:stCxn id="76" idx="3"/>
          </p:cNvCxnSpPr>
          <p:nvPr/>
        </p:nvCxnSpPr>
        <p:spPr>
          <a:xfrm flipV="1">
            <a:off x="7612379" y="2530542"/>
            <a:ext cx="558433" cy="235648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コネクタ: カギ線 84">
            <a:extLst>
              <a:ext uri="{FF2B5EF4-FFF2-40B4-BE49-F238E27FC236}">
                <a16:creationId xmlns:a16="http://schemas.microsoft.com/office/drawing/2014/main" id="{95AFF09E-E9EC-B83D-758F-AB3E03B91C26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7612379" y="2498555"/>
            <a:ext cx="558433" cy="31987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コネクタ: カギ線 86">
            <a:extLst>
              <a:ext uri="{FF2B5EF4-FFF2-40B4-BE49-F238E27FC236}">
                <a16:creationId xmlns:a16="http://schemas.microsoft.com/office/drawing/2014/main" id="{81E043B6-4E27-2700-F284-741B1F2B6E9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7612379" y="2232960"/>
            <a:ext cx="558433" cy="297582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左中かっこ 87">
            <a:extLst>
              <a:ext uri="{FF2B5EF4-FFF2-40B4-BE49-F238E27FC236}">
                <a16:creationId xmlns:a16="http://schemas.microsoft.com/office/drawing/2014/main" id="{3EB6A587-08D7-7B0D-8BB4-704F3A9413A8}"/>
              </a:ext>
            </a:extLst>
          </p:cNvPr>
          <p:cNvSpPr/>
          <p:nvPr/>
        </p:nvSpPr>
        <p:spPr>
          <a:xfrm>
            <a:off x="5156221" y="2086266"/>
            <a:ext cx="181099" cy="1866748"/>
          </a:xfrm>
          <a:prstGeom prst="leftBrace">
            <a:avLst>
              <a:gd name="adj1" fmla="val 8333"/>
              <a:gd name="adj2" fmla="val 23194"/>
            </a:avLst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0" name="正方形/長方形 89">
            <a:extLst>
              <a:ext uri="{FF2B5EF4-FFF2-40B4-BE49-F238E27FC236}">
                <a16:creationId xmlns:a16="http://schemas.microsoft.com/office/drawing/2014/main" id="{13F6801A-CC8C-370B-47CD-0E9A8F78DA92}"/>
              </a:ext>
            </a:extLst>
          </p:cNvPr>
          <p:cNvSpPr/>
          <p:nvPr/>
        </p:nvSpPr>
        <p:spPr>
          <a:xfrm>
            <a:off x="468899" y="4586771"/>
            <a:ext cx="5679352" cy="1887988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2" name="正方形/長方形 91">
            <a:extLst>
              <a:ext uri="{FF2B5EF4-FFF2-40B4-BE49-F238E27FC236}">
                <a16:creationId xmlns:a16="http://schemas.microsoft.com/office/drawing/2014/main" id="{EBF6537D-D75B-DA5C-78EC-88D8F874BA82}"/>
              </a:ext>
            </a:extLst>
          </p:cNvPr>
          <p:cNvSpPr/>
          <p:nvPr/>
        </p:nvSpPr>
        <p:spPr>
          <a:xfrm>
            <a:off x="2207057" y="6002525"/>
            <a:ext cx="848549" cy="243944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友だち化</a:t>
            </a:r>
          </a:p>
        </p:txBody>
      </p:sp>
      <p:sp>
        <p:nvSpPr>
          <p:cNvPr id="93" name="正方形/長方形 92">
            <a:extLst>
              <a:ext uri="{FF2B5EF4-FFF2-40B4-BE49-F238E27FC236}">
                <a16:creationId xmlns:a16="http://schemas.microsoft.com/office/drawing/2014/main" id="{1A52527A-0CF0-029E-8E86-430BD9DEAAA1}"/>
              </a:ext>
            </a:extLst>
          </p:cNvPr>
          <p:cNvSpPr/>
          <p:nvPr/>
        </p:nvSpPr>
        <p:spPr>
          <a:xfrm>
            <a:off x="548883" y="4704947"/>
            <a:ext cx="731277" cy="243944"/>
          </a:xfrm>
          <a:prstGeom prst="rect">
            <a:avLst/>
          </a:prstGeom>
          <a:solidFill>
            <a:schemeClr val="bg1">
              <a:lumMod val="8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</a:t>
            </a:r>
            <a:endParaRPr kumimoji="1" lang="ja-JP" altLang="en-US" sz="10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95" name="コネクタ: カギ線 94">
            <a:extLst>
              <a:ext uri="{FF2B5EF4-FFF2-40B4-BE49-F238E27FC236}">
                <a16:creationId xmlns:a16="http://schemas.microsoft.com/office/drawing/2014/main" id="{898B747D-663D-3118-8C11-74EB0324AD5C}"/>
              </a:ext>
            </a:extLst>
          </p:cNvPr>
          <p:cNvCxnSpPr>
            <a:stCxn id="93" idx="0"/>
          </p:cNvCxnSpPr>
          <p:nvPr/>
        </p:nvCxnSpPr>
        <p:spPr>
          <a:xfrm rot="5400000" flipH="1" flipV="1">
            <a:off x="3855271" y="-288234"/>
            <a:ext cx="2052433" cy="7933930"/>
          </a:xfrm>
          <a:prstGeom prst="bentConnector3">
            <a:avLst>
              <a:gd name="adj1" fmla="val 8842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コネクタ: カギ線 95">
            <a:extLst>
              <a:ext uri="{FF2B5EF4-FFF2-40B4-BE49-F238E27FC236}">
                <a16:creationId xmlns:a16="http://schemas.microsoft.com/office/drawing/2014/main" id="{CA244CA5-B309-FA6E-284D-7CBC7CC2508F}"/>
              </a:ext>
            </a:extLst>
          </p:cNvPr>
          <p:cNvCxnSpPr>
            <a:cxnSpLocks/>
            <a:stCxn id="93" idx="2"/>
            <a:endCxn id="92" idx="1"/>
          </p:cNvCxnSpPr>
          <p:nvPr/>
        </p:nvCxnSpPr>
        <p:spPr>
          <a:xfrm rot="16200000" flipH="1">
            <a:off x="972986" y="4890426"/>
            <a:ext cx="1175606" cy="1292535"/>
          </a:xfrm>
          <a:prstGeom prst="bentConnector2">
            <a:avLst/>
          </a:prstGeom>
          <a:ln>
            <a:solidFill>
              <a:schemeClr val="tx2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正方形/長方形 97">
            <a:extLst>
              <a:ext uri="{FF2B5EF4-FFF2-40B4-BE49-F238E27FC236}">
                <a16:creationId xmlns:a16="http://schemas.microsoft.com/office/drawing/2014/main" id="{B6490177-CFF0-A875-7C56-F0FC8CA2C530}"/>
              </a:ext>
            </a:extLst>
          </p:cNvPr>
          <p:cNvSpPr/>
          <p:nvPr/>
        </p:nvSpPr>
        <p:spPr>
          <a:xfrm>
            <a:off x="562021" y="5819567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 err="1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ja-JP" altLang="en-US" sz="12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9" name="正方形/長方形 98">
            <a:extLst>
              <a:ext uri="{FF2B5EF4-FFF2-40B4-BE49-F238E27FC236}">
                <a16:creationId xmlns:a16="http://schemas.microsoft.com/office/drawing/2014/main" id="{6D76C720-225A-6A92-8A49-A13770789615}"/>
              </a:ext>
            </a:extLst>
          </p:cNvPr>
          <p:cNvSpPr/>
          <p:nvPr/>
        </p:nvSpPr>
        <p:spPr>
          <a:xfrm>
            <a:off x="562021" y="6084246"/>
            <a:ext cx="1355280" cy="243944"/>
          </a:xfrm>
          <a:prstGeom prst="rect">
            <a:avLst/>
          </a:prstGeom>
          <a:solidFill>
            <a:schemeClr val="tx2"/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</a:t>
            </a:r>
          </a:p>
        </p:txBody>
      </p:sp>
      <p:sp>
        <p:nvSpPr>
          <p:cNvPr id="101" name="正方形/長方形 100">
            <a:extLst>
              <a:ext uri="{FF2B5EF4-FFF2-40B4-BE49-F238E27FC236}">
                <a16:creationId xmlns:a16="http://schemas.microsoft.com/office/drawing/2014/main" id="{9927067B-793F-D21C-B90A-7C7E46812D7F}"/>
              </a:ext>
            </a:extLst>
          </p:cNvPr>
          <p:cNvSpPr/>
          <p:nvPr/>
        </p:nvSpPr>
        <p:spPr>
          <a:xfrm>
            <a:off x="3713703" y="4731321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面接・見学の前日リマインド</a:t>
            </a:r>
          </a:p>
        </p:txBody>
      </p:sp>
      <p:sp>
        <p:nvSpPr>
          <p:cNvPr id="102" name="正方形/長方形 101">
            <a:extLst>
              <a:ext uri="{FF2B5EF4-FFF2-40B4-BE49-F238E27FC236}">
                <a16:creationId xmlns:a16="http://schemas.microsoft.com/office/drawing/2014/main" id="{BD2E83D5-3372-C439-208D-783F428C9D84}"/>
              </a:ext>
            </a:extLst>
          </p:cNvPr>
          <p:cNvSpPr/>
          <p:nvPr/>
        </p:nvSpPr>
        <p:spPr>
          <a:xfrm>
            <a:off x="3713703" y="499691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契約満了前の再案内</a:t>
            </a:r>
          </a:p>
        </p:txBody>
      </p:sp>
      <p:sp>
        <p:nvSpPr>
          <p:cNvPr id="104" name="正方形/長方形 103">
            <a:extLst>
              <a:ext uri="{FF2B5EF4-FFF2-40B4-BE49-F238E27FC236}">
                <a16:creationId xmlns:a16="http://schemas.microsoft.com/office/drawing/2014/main" id="{087D59E0-E0CE-3934-C1B4-0EF4D82E0B2E}"/>
              </a:ext>
            </a:extLst>
          </p:cNvPr>
          <p:cNvSpPr/>
          <p:nvPr/>
        </p:nvSpPr>
        <p:spPr>
          <a:xfrm>
            <a:off x="3713703" y="526251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就業開始</a:t>
            </a:r>
          </a:p>
        </p:txBody>
      </p:sp>
      <p:sp>
        <p:nvSpPr>
          <p:cNvPr id="105" name="正方形/長方形 104">
            <a:extLst>
              <a:ext uri="{FF2B5EF4-FFF2-40B4-BE49-F238E27FC236}">
                <a16:creationId xmlns:a16="http://schemas.microsoft.com/office/drawing/2014/main" id="{78BB80E0-2482-846A-E4FE-C1770384E88E}"/>
              </a:ext>
            </a:extLst>
          </p:cNvPr>
          <p:cNvSpPr/>
          <p:nvPr/>
        </p:nvSpPr>
        <p:spPr>
          <a:xfrm>
            <a:off x="3720717" y="5528106"/>
            <a:ext cx="2292685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満了時期タグの設定</a:t>
            </a:r>
          </a:p>
        </p:txBody>
      </p:sp>
      <p:sp>
        <p:nvSpPr>
          <p:cNvPr id="111" name="正方形/長方形 110">
            <a:extLst>
              <a:ext uri="{FF2B5EF4-FFF2-40B4-BE49-F238E27FC236}">
                <a16:creationId xmlns:a16="http://schemas.microsoft.com/office/drawing/2014/main" id="{C885333E-56CE-B011-72B9-07B332849355}"/>
              </a:ext>
            </a:extLst>
          </p:cNvPr>
          <p:cNvSpPr/>
          <p:nvPr/>
        </p:nvSpPr>
        <p:spPr>
          <a:xfrm>
            <a:off x="4881464" y="5264551"/>
            <a:ext cx="1124924" cy="221767"/>
          </a:xfrm>
          <a:prstGeom prst="rect">
            <a:avLst/>
          </a:prstGeom>
          <a:solidFill>
            <a:schemeClr val="tx2">
              <a:lumMod val="7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就業後フォロー</a:t>
            </a:r>
          </a:p>
        </p:txBody>
      </p:sp>
      <p:cxnSp>
        <p:nvCxnSpPr>
          <p:cNvPr id="112" name="コネクタ: カギ線 111">
            <a:extLst>
              <a:ext uri="{FF2B5EF4-FFF2-40B4-BE49-F238E27FC236}">
                <a16:creationId xmlns:a16="http://schemas.microsoft.com/office/drawing/2014/main" id="{BDA83037-5C06-C2D0-EF8B-90AE0F4336B5}"/>
              </a:ext>
            </a:extLst>
          </p:cNvPr>
          <p:cNvCxnSpPr>
            <a:cxnSpLocks/>
            <a:stCxn id="93" idx="3"/>
            <a:endCxn id="101" idx="1"/>
          </p:cNvCxnSpPr>
          <p:nvPr/>
        </p:nvCxnSpPr>
        <p:spPr>
          <a:xfrm>
            <a:off x="1280160" y="4826919"/>
            <a:ext cx="2433543" cy="1528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コネクタ: カギ線 114">
            <a:extLst>
              <a:ext uri="{FF2B5EF4-FFF2-40B4-BE49-F238E27FC236}">
                <a16:creationId xmlns:a16="http://schemas.microsoft.com/office/drawing/2014/main" id="{BA23D5BC-C7EC-06D4-215C-2852A68F0F9B}"/>
              </a:ext>
            </a:extLst>
          </p:cNvPr>
          <p:cNvCxnSpPr>
            <a:cxnSpLocks/>
            <a:stCxn id="93" idx="3"/>
            <a:endCxn id="102" idx="1"/>
          </p:cNvCxnSpPr>
          <p:nvPr/>
        </p:nvCxnSpPr>
        <p:spPr>
          <a:xfrm>
            <a:off x="1280160" y="4826919"/>
            <a:ext cx="2433543" cy="28088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コネクタ: カギ線 115">
            <a:extLst>
              <a:ext uri="{FF2B5EF4-FFF2-40B4-BE49-F238E27FC236}">
                <a16:creationId xmlns:a16="http://schemas.microsoft.com/office/drawing/2014/main" id="{F8AA6994-29BC-2C26-DE5F-C0C21F502236}"/>
              </a:ext>
            </a:extLst>
          </p:cNvPr>
          <p:cNvCxnSpPr>
            <a:cxnSpLocks/>
            <a:stCxn id="93" idx="3"/>
            <a:endCxn id="104" idx="1"/>
          </p:cNvCxnSpPr>
          <p:nvPr/>
        </p:nvCxnSpPr>
        <p:spPr>
          <a:xfrm>
            <a:off x="1280160" y="4826919"/>
            <a:ext cx="2433543" cy="546476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コネクタ: カギ線 117">
            <a:extLst>
              <a:ext uri="{FF2B5EF4-FFF2-40B4-BE49-F238E27FC236}">
                <a16:creationId xmlns:a16="http://schemas.microsoft.com/office/drawing/2014/main" id="{3AE4A3D0-6C1F-7BCD-3ED2-5F066684CE21}"/>
              </a:ext>
            </a:extLst>
          </p:cNvPr>
          <p:cNvCxnSpPr>
            <a:cxnSpLocks/>
            <a:stCxn id="93" idx="3"/>
            <a:endCxn id="105" idx="1"/>
          </p:cNvCxnSpPr>
          <p:nvPr/>
        </p:nvCxnSpPr>
        <p:spPr>
          <a:xfrm>
            <a:off x="1280160" y="4826919"/>
            <a:ext cx="2440557" cy="812071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正方形/長方形 118">
            <a:extLst>
              <a:ext uri="{FF2B5EF4-FFF2-40B4-BE49-F238E27FC236}">
                <a16:creationId xmlns:a16="http://schemas.microsoft.com/office/drawing/2014/main" id="{F922E2DE-5C74-6CAA-736C-BAC94D2952DF}"/>
              </a:ext>
            </a:extLst>
          </p:cNvPr>
          <p:cNvSpPr/>
          <p:nvPr/>
        </p:nvSpPr>
        <p:spPr>
          <a:xfrm>
            <a:off x="3713703" y="5792944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不採用・辞退後の次の求人</a:t>
            </a:r>
          </a:p>
        </p:txBody>
      </p:sp>
      <p:sp>
        <p:nvSpPr>
          <p:cNvPr id="121" name="正方形/長方形 120">
            <a:extLst>
              <a:ext uri="{FF2B5EF4-FFF2-40B4-BE49-F238E27FC236}">
                <a16:creationId xmlns:a16="http://schemas.microsoft.com/office/drawing/2014/main" id="{03175683-57AB-6FFA-0F27-7E81645CA47B}"/>
              </a:ext>
            </a:extLst>
          </p:cNvPr>
          <p:cNvSpPr/>
          <p:nvPr/>
        </p:nvSpPr>
        <p:spPr>
          <a:xfrm>
            <a:off x="3720717" y="6061629"/>
            <a:ext cx="2292685" cy="221767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自動応答（FAQ）</a:t>
            </a:r>
          </a:p>
        </p:txBody>
      </p:sp>
      <p:cxnSp>
        <p:nvCxnSpPr>
          <p:cNvPr id="122" name="コネクタ: カギ線 121">
            <a:extLst>
              <a:ext uri="{FF2B5EF4-FFF2-40B4-BE49-F238E27FC236}">
                <a16:creationId xmlns:a16="http://schemas.microsoft.com/office/drawing/2014/main" id="{30FE3CED-649C-7946-1117-B1E2FD2D7F26}"/>
              </a:ext>
            </a:extLst>
          </p:cNvPr>
          <p:cNvCxnSpPr>
            <a:cxnSpLocks/>
          </p:cNvCxnSpPr>
          <p:nvPr/>
        </p:nvCxnSpPr>
        <p:spPr>
          <a:xfrm rot="5400000" flipH="1" flipV="1">
            <a:off x="1605206" y="3681433"/>
            <a:ext cx="3347219" cy="1294966"/>
          </a:xfrm>
          <a:prstGeom prst="bentConnector3">
            <a:avLst>
              <a:gd name="adj1" fmla="val 46358"/>
            </a:avLst>
          </a:prstGeom>
          <a:ln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正方形/長方形 123">
            <a:extLst>
              <a:ext uri="{FF2B5EF4-FFF2-40B4-BE49-F238E27FC236}">
                <a16:creationId xmlns:a16="http://schemas.microsoft.com/office/drawing/2014/main" id="{5EB01514-8877-C931-E7AA-81B28EB77681}"/>
              </a:ext>
            </a:extLst>
          </p:cNvPr>
          <p:cNvSpPr/>
          <p:nvPr/>
        </p:nvSpPr>
        <p:spPr>
          <a:xfrm>
            <a:off x="6986937" y="1517116"/>
            <a:ext cx="2583782" cy="252610"/>
          </a:xfrm>
          <a:prstGeom prst="rect">
            <a:avLst/>
          </a:prstGeom>
          <a:solidFill>
            <a:srgbClr val="1E2761">
              <a:alpha val="8000"/>
            </a:srgb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1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ツールの導入で自動化できる領域</a:t>
            </a:r>
            <a:endParaRPr kumimoji="1" lang="ja-JP" altLang="en-US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3427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3900D-063E-F973-5EF2-005AE1CA21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6758DBC2-018A-378B-99F0-43DAFE20DF5C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［第2章］全体設計｜施策の考え方（どこでLINEにつなぐか）</a:t>
            </a: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294458F3-B182-EFAE-9BE8-8E76712736E7}"/>
              </a:ext>
            </a:extLst>
          </p:cNvPr>
          <p:cNvSpPr/>
          <p:nvPr/>
        </p:nvSpPr>
        <p:spPr>
          <a:xfrm>
            <a:off x="175475" y="1823735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DB57FCC-E034-81EB-B2ED-2EB62032A504}"/>
              </a:ext>
            </a:extLst>
          </p:cNvPr>
          <p:cNvSpPr/>
          <p:nvPr/>
        </p:nvSpPr>
        <p:spPr>
          <a:xfrm>
            <a:off x="4994298" y="1823734"/>
            <a:ext cx="4721072" cy="4695338"/>
          </a:xfrm>
          <a:prstGeom prst="rect">
            <a:avLst/>
          </a:prstGeom>
          <a:solidFill>
            <a:schemeClr val="bg1">
              <a:lumMod val="95000"/>
              <a:alpha val="38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3C363108-225C-23EE-472E-1E1A14DA49E4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10" name="Google Shape;752;p28">
            <a:extLst>
              <a:ext uri="{FF2B5EF4-FFF2-40B4-BE49-F238E27FC236}">
                <a16:creationId xmlns:a16="http://schemas.microsoft.com/office/drawing/2014/main" id="{9A39965E-24C8-AD90-0D9E-A9BC47D02016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応募した方だけをLINEにつなぐか、応募前に離れた方もつなぐか。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同じ流入でも、その後にご案内できる人数が大きく変わる。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CD1533E-1582-9E17-EE6F-EA2F4BE96D58}"/>
              </a:ext>
            </a:extLst>
          </p:cNvPr>
          <p:cNvSpPr txBox="1"/>
          <p:nvPr/>
        </p:nvSpPr>
        <p:spPr>
          <a:xfrm>
            <a:off x="422130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C43BB1A-3D6A-04B9-F8ED-26CB7DCA3735}"/>
              </a:ext>
            </a:extLst>
          </p:cNvPr>
          <p:cNvSpPr txBox="1"/>
          <p:nvPr/>
        </p:nvSpPr>
        <p:spPr>
          <a:xfrm>
            <a:off x="422130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B10DC8-82CD-0C69-034B-7642E1296837}"/>
              </a:ext>
            </a:extLst>
          </p:cNvPr>
          <p:cNvSpPr txBox="1"/>
          <p:nvPr/>
        </p:nvSpPr>
        <p:spPr>
          <a:xfrm>
            <a:off x="422130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15AFA19-CD5F-9379-AE26-44B78C354860}"/>
              </a:ext>
            </a:extLst>
          </p:cNvPr>
          <p:cNvSpPr txBox="1"/>
          <p:nvPr/>
        </p:nvSpPr>
        <p:spPr>
          <a:xfrm>
            <a:off x="422130" y="3467172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応募後のみ追加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2062743-7DD1-C474-56DE-C86161967F49}"/>
              </a:ext>
            </a:extLst>
          </p:cNvPr>
          <p:cNvSpPr txBox="1"/>
          <p:nvPr/>
        </p:nvSpPr>
        <p:spPr>
          <a:xfrm>
            <a:off x="422130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3F98235-7ECD-D5F4-08BE-76857355ABFA}"/>
              </a:ext>
            </a:extLst>
          </p:cNvPr>
          <p:cNvSpPr txBox="1"/>
          <p:nvPr/>
        </p:nvSpPr>
        <p:spPr>
          <a:xfrm>
            <a:off x="422130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999F747F-6C0D-0BDB-B5B7-8266514B8949}"/>
              </a:ext>
            </a:extLst>
          </p:cNvPr>
          <p:cNvSpPr txBox="1"/>
          <p:nvPr/>
        </p:nvSpPr>
        <p:spPr>
          <a:xfrm>
            <a:off x="422130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2277771-01BE-2A4E-C621-929D69C54177}"/>
              </a:ext>
            </a:extLst>
          </p:cNvPr>
          <p:cNvSpPr txBox="1"/>
          <p:nvPr/>
        </p:nvSpPr>
        <p:spPr>
          <a:xfrm>
            <a:off x="422130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9CD79024-49B9-DF89-8EE9-633017761437}"/>
              </a:ext>
            </a:extLst>
          </p:cNvPr>
          <p:cNvCxnSpPr>
            <a:cxnSpLocks/>
          </p:cNvCxnSpPr>
          <p:nvPr/>
        </p:nvCxnSpPr>
        <p:spPr>
          <a:xfrm>
            <a:off x="725974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3707324A-CA31-10C7-B6B8-E3A9A53CC3A2}"/>
              </a:ext>
            </a:extLst>
          </p:cNvPr>
          <p:cNvSpPr txBox="1"/>
          <p:nvPr/>
        </p:nvSpPr>
        <p:spPr>
          <a:xfrm>
            <a:off x="5143202" y="1861195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① 仕事を探し始める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ADFDD2E-A723-2916-4648-0F5E903278F3}"/>
              </a:ext>
            </a:extLst>
          </p:cNvPr>
          <p:cNvSpPr txBox="1"/>
          <p:nvPr/>
        </p:nvSpPr>
        <p:spPr>
          <a:xfrm>
            <a:off x="5143202" y="2931847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③ 応募先を選ぶ</a:t>
            </a: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B895B974-A656-2669-0CE1-C27F2B4B20BE}"/>
              </a:ext>
            </a:extLst>
          </p:cNvPr>
          <p:cNvSpPr txBox="1"/>
          <p:nvPr/>
        </p:nvSpPr>
        <p:spPr>
          <a:xfrm>
            <a:off x="5143202" y="2396521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② 求人を比べる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A07117C9-502D-4C6F-AA2E-1C1E7CF7B4C6}"/>
              </a:ext>
            </a:extLst>
          </p:cNvPr>
          <p:cNvSpPr txBox="1"/>
          <p:nvPr/>
        </p:nvSpPr>
        <p:spPr>
          <a:xfrm>
            <a:off x="5143202" y="3467173"/>
            <a:ext cx="2352196" cy="307777"/>
          </a:xfrm>
          <a:prstGeom prst="rect">
            <a:avLst/>
          </a:prstGeom>
          <a:solidFill>
            <a:srgbClr val="7F7F7F">
              <a:lumMod val="40000"/>
              <a:lumOff val="60000"/>
              <a:alpha val="30000"/>
            </a:srgb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④ 離脱時も追加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6761199-CD70-153F-E94B-20E5E833D7A7}"/>
              </a:ext>
            </a:extLst>
          </p:cNvPr>
          <p:cNvSpPr txBox="1"/>
          <p:nvPr/>
        </p:nvSpPr>
        <p:spPr>
          <a:xfrm>
            <a:off x="5143202" y="440702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⑤ 面接・職場見学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72CCB353-50A1-FF17-E933-B1158BEE91E4}"/>
              </a:ext>
            </a:extLst>
          </p:cNvPr>
          <p:cNvSpPr txBox="1"/>
          <p:nvPr/>
        </p:nvSpPr>
        <p:spPr>
          <a:xfrm>
            <a:off x="5143202" y="5477676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⑦ 就業中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44A347FC-9BE7-316C-5F13-B7762E412092}"/>
              </a:ext>
            </a:extLst>
          </p:cNvPr>
          <p:cNvSpPr txBox="1"/>
          <p:nvPr/>
        </p:nvSpPr>
        <p:spPr>
          <a:xfrm>
            <a:off x="5143202" y="4942350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⑥ 採用・就業開始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1750602-2370-CB79-F23B-20E4B2FC9A45}"/>
              </a:ext>
            </a:extLst>
          </p:cNvPr>
          <p:cNvSpPr txBox="1"/>
          <p:nvPr/>
        </p:nvSpPr>
        <p:spPr>
          <a:xfrm>
            <a:off x="5143202" y="6013004"/>
            <a:ext cx="2352196" cy="307777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⑧ 契約満了・次の仕事</a:t>
            </a:r>
            <a:endParaRPr lang="ja-JP" altLang="ja-JP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46" name="直線矢印コネクタ 45">
            <a:extLst>
              <a:ext uri="{FF2B5EF4-FFF2-40B4-BE49-F238E27FC236}">
                <a16:creationId xmlns:a16="http://schemas.microsoft.com/office/drawing/2014/main" id="{7398214A-9BC3-94A2-1B44-ABFB6EF10A95}"/>
              </a:ext>
            </a:extLst>
          </p:cNvPr>
          <p:cNvCxnSpPr>
            <a:cxnSpLocks/>
          </p:cNvCxnSpPr>
          <p:nvPr/>
        </p:nvCxnSpPr>
        <p:spPr>
          <a:xfrm>
            <a:off x="5447046" y="3934112"/>
            <a:ext cx="0" cy="474234"/>
          </a:xfrm>
          <a:prstGeom prst="straightConnector1">
            <a:avLst/>
          </a:prstGeom>
          <a:ln w="12700">
            <a:solidFill>
              <a:schemeClr val="tx1"/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0" name="図 49">
            <a:extLst>
              <a:ext uri="{FF2B5EF4-FFF2-40B4-BE49-F238E27FC236}">
                <a16:creationId xmlns:a16="http://schemas.microsoft.com/office/drawing/2014/main" id="{BC82B682-A1BD-AF78-6196-B1E02CC1F3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77117" y="3452400"/>
            <a:ext cx="481489" cy="448956"/>
          </a:xfrm>
          <a:prstGeom prst="rect">
            <a:avLst/>
          </a:prstGeom>
        </p:spPr>
      </p:pic>
      <p:pic>
        <p:nvPicPr>
          <p:cNvPr id="54" name="図 53">
            <a:extLst>
              <a:ext uri="{FF2B5EF4-FFF2-40B4-BE49-F238E27FC236}">
                <a16:creationId xmlns:a16="http://schemas.microsoft.com/office/drawing/2014/main" id="{13BFB52F-AE2C-2214-E223-63E053D9FE0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4089" y="3453958"/>
            <a:ext cx="481489" cy="448956"/>
          </a:xfrm>
          <a:prstGeom prst="rect">
            <a:avLst/>
          </a:prstGeom>
        </p:spPr>
      </p:pic>
      <p:sp>
        <p:nvSpPr>
          <p:cNvPr id="62" name="正方形/長方形 61">
            <a:extLst>
              <a:ext uri="{FF2B5EF4-FFF2-40B4-BE49-F238E27FC236}">
                <a16:creationId xmlns:a16="http://schemas.microsoft.com/office/drawing/2014/main" id="{EDC00F02-3FEF-F2A7-D36C-00239CB92DE5}"/>
              </a:ext>
            </a:extLst>
          </p:cNvPr>
          <p:cNvSpPr/>
          <p:nvPr/>
        </p:nvSpPr>
        <p:spPr>
          <a:xfrm>
            <a:off x="175475" y="1503248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パターン① 応募した方だけLINEへ</a:t>
            </a:r>
          </a:p>
        </p:txBody>
      </p:sp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3B6038D6-0E00-CDB9-8318-C7D05A37E8F2}"/>
              </a:ext>
            </a:extLst>
          </p:cNvPr>
          <p:cNvSpPr/>
          <p:nvPr/>
        </p:nvSpPr>
        <p:spPr>
          <a:xfrm>
            <a:off x="4994298" y="1503247"/>
            <a:ext cx="4721072" cy="297266"/>
          </a:xfrm>
          <a:prstGeom prst="rect">
            <a:avLst/>
          </a:prstGeom>
          <a:solidFill>
            <a:schemeClr val="tx1">
              <a:lumMod val="50000"/>
              <a:lumOff val="50000"/>
              <a:alpha val="86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パターン② 応募前に離れた方もつなぐ</a:t>
            </a:r>
          </a:p>
        </p:txBody>
      </p:sp>
      <p:pic>
        <p:nvPicPr>
          <p:cNvPr id="70" name="図 69">
            <a:extLst>
              <a:ext uri="{FF2B5EF4-FFF2-40B4-BE49-F238E27FC236}">
                <a16:creationId xmlns:a16="http://schemas.microsoft.com/office/drawing/2014/main" id="{B5C916EA-56BA-12E3-B0EE-D83A8EC905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83045" y="3298969"/>
            <a:ext cx="1792611" cy="2688917"/>
          </a:xfrm>
          <a:prstGeom prst="rect">
            <a:avLst/>
          </a:prstGeom>
        </p:spPr>
      </p:pic>
      <p:pic>
        <p:nvPicPr>
          <p:cNvPr id="826" name="図 825">
            <a:extLst>
              <a:ext uri="{FF2B5EF4-FFF2-40B4-BE49-F238E27FC236}">
                <a16:creationId xmlns:a16="http://schemas.microsoft.com/office/drawing/2014/main" id="{2D4E7AC1-305D-07DC-9608-BFD7502EFD5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16321" y="3297600"/>
            <a:ext cx="1586218" cy="2379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3589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［第2章］ニーズ調査｜シーズナリティ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検索のピークは、派遣が3月、バイトがその1か月後の4月。</a:t>
            </a:r>
          </a:p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どちらも12月が最も少ないため、12月に準備を進め、派遣とバイトで配信の時期を1か月ずらす。</a:t>
            </a:r>
          </a:p>
        </p:txBody>
      </p:sp>
      <p:pic>
        <p:nvPicPr>
          <p:cNvPr id="4" name="Picture 3" descr="人材_シーズナリティ_転職と退職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8748000" cy="2624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32000" y="4284000"/>
            <a:ext cx="9043200" cy="107560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派遣のピークは3月（指数110.8）、バイトは4月（117.5）。年度替わりに集中する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どちらも12月が最も少ない（派遣88.4／バイト88.0）。友だちを増やしておく時期と考える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● バイトは8月にも少なくなる（89.1）。夏は短期・単発の求人を案内しやすい時期</a:t>
            </a:r>
          </a:p>
        </p:txBody>
      </p:sp>
      <p:sp>
        <p:nvSpPr>
          <p:cNvPr id="6" name="Rectangle 5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検索が少ない時期に友だちを増やし、ピークの応募につなげる</a:t>
            </a:r>
            <a:endParaRPr sz="15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出典｜Googleトレンド「派遣」「バイト」（日本・過去5年・月次／年平均＝100で指数化、12か月そろう4年分の平均）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［第2章］ニーズ調査｜前後検索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「派遣 求人」を検索した方が、その前後15日間に何を調べているか。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検索した当日に派遣会社名が多く並び、同じ日に複数の会社を比べていることが分かる。</a:t>
            </a:r>
          </a:p>
        </p:txBody>
      </p:sp>
      <p:pic>
        <p:nvPicPr>
          <p:cNvPr id="4" name="Picture 3" descr="人材A_前後検索_色分け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000" y="1512000"/>
            <a:ext cx="6294857" cy="3671999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6906857" y="1602000"/>
            <a:ext cx="198000" cy="198000"/>
          </a:xfrm>
          <a:prstGeom prst="rect">
            <a:avLst/>
          </a:prstGeom>
          <a:solidFill>
            <a:srgbClr val="8E4E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76857" y="1587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8E4EC6"/>
                </a:solidFill>
                <a:latin typeface="メイリオ"/>
                <a:ea typeface="メイリオ"/>
                <a:cs typeface="メイリオ"/>
              </a:rPr>
              <a:t>仕事を探し始める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6906857" y="1944000"/>
            <a:ext cx="198000" cy="198000"/>
          </a:xfrm>
          <a:prstGeom prst="rect">
            <a:avLst/>
          </a:prstGeom>
          <a:solidFill>
            <a:srgbClr val="346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76857" y="1929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467B2"/>
                </a:solidFill>
                <a:latin typeface="メイリオ"/>
                <a:ea typeface="メイリオ"/>
                <a:cs typeface="メイリオ"/>
              </a:rPr>
              <a:t>派遣会社を並べて比較</a:t>
            </a:r>
          </a:p>
        </p:txBody>
      </p:sp>
      <p:sp>
        <p:nvSpPr>
          <p:cNvPr id="9" name="Rectangle 8"/>
          <p:cNvSpPr/>
          <p:nvPr/>
        </p:nvSpPr>
        <p:spPr>
          <a:xfrm>
            <a:off x="6906857" y="2286000"/>
            <a:ext cx="198000" cy="198000"/>
          </a:xfrm>
          <a:prstGeom prst="rect">
            <a:avLst/>
          </a:prstGeom>
          <a:solidFill>
            <a:srgbClr val="0089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176857" y="2271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00897B"/>
                </a:solidFill>
                <a:latin typeface="メイリオ"/>
                <a:ea typeface="メイリオ"/>
                <a:cs typeface="メイリオ"/>
              </a:rPr>
              <a:t>条件を詰める（単発・短期）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06857" y="2628000"/>
            <a:ext cx="198000" cy="19800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176857" y="2613547"/>
            <a:ext cx="2298342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C00000"/>
                </a:solidFill>
                <a:latin typeface="メイリオ"/>
                <a:ea typeface="メイリオ"/>
                <a:cs typeface="メイリオ"/>
              </a:rPr>
              <a:t>続けられるか・辞めどき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06857" y="3131999"/>
            <a:ext cx="2568342" cy="2198215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当日「派遣</a:t>
            </a: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 3年ルール」</a:t>
            </a:r>
          </a:p>
          <a:p>
            <a:pPr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探し始めの段階で、すでに将来の働き方も視野に入れている</a:t>
            </a:r>
            <a:endParaRPr lang="en-US" altLang="ja-JP"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endParaRPr lang="en-US" altLang="ja-JP" sz="5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  <a:p>
            <a:pPr>
              <a:lnSpc>
                <a:spcPct val="160000"/>
              </a:lnSpc>
            </a:pPr>
            <a:r>
              <a:rPr lang="en-US" altLang="ja-JP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日後「派遣 更新しない」</a:t>
            </a:r>
          </a:p>
          <a:p>
            <a:pPr algn="l">
              <a:lnSpc>
                <a:spcPct val="160000"/>
              </a:lnSpc>
            </a:pPr>
            <a:r>
              <a:rPr sz="1400"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</a:t>
            </a:r>
            <a:r>
              <a:rPr sz="1400"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次の仕事を考え始めている可能性がある</a:t>
            </a:r>
            <a:endParaRPr sz="1400"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仕事を探し始めた時点で、すでに次の働き方を気にしている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検索行動のデータであり、応募者ご本人の行動と同じとは限らない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［第2章］求職者の心理｜不安は、応募のあとにも続く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557117"/>
            <a:ext cx="9331200" cy="77936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前後検索を見ると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派遣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単発バイト」を検索した方は、検索の前は仕事を探し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endParaRPr lang="en-US"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検索の後は「続けられるか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副業として問題ないか」を調べている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応募のあとも同じ不安があると考え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、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それに適した</a:t>
            </a: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配信を設計する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6" name="TextBox 5"/>
          <p:cNvSpPr txBox="1"/>
          <p:nvPr/>
        </p:nvSpPr>
        <p:spPr>
          <a:xfrm>
            <a:off x="432000" y="1947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-7 〜 -1日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30000" y="1620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スキマ時間で、すぐ稼ぎたい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30000" y="1961999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在宅 スキマ時間／在宅ワーク 求人／バイト 求人（単発バイト）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失業保険 計算／ハローワーク 求人（派遣 求人）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754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0" name="Rectangle 9"/>
          <p:cNvSpPr/>
          <p:nvPr/>
        </p:nvSpPr>
        <p:spPr>
          <a:xfrm>
            <a:off x="432000" y="2754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1" name="TextBox 10"/>
          <p:cNvSpPr txBox="1"/>
          <p:nvPr/>
        </p:nvSpPr>
        <p:spPr>
          <a:xfrm>
            <a:off x="432000" y="3024583"/>
            <a:ext cx="18720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0 〜 +2日</a:t>
            </a:r>
            <a:endParaRPr lang="en-US"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</a:pPr>
            <a:r>
              <a:rPr lang="en-US" altLang="ja-JP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  <a:r>
              <a:rPr lang="ja-JP" altLang="en-US" sz="14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登録時点</a:t>
            </a:r>
            <a:endParaRPr sz="14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430000" y="2826000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同じ日に、複数の会社を比べている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30000" y="3168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派遣会社／エン派遣／アデコ／パソナ（派遣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タイミー／バイトル／短期バイト／単発バイト アプリ（単発バイト）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960000"/>
            <a:ext cx="9043200" cy="10620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5" name="Rectangle 14"/>
          <p:cNvSpPr/>
          <p:nvPr/>
        </p:nvSpPr>
        <p:spPr>
          <a:xfrm>
            <a:off x="432000" y="3960000"/>
            <a:ext cx="1872000" cy="1062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/>
          </a:p>
        </p:txBody>
      </p:sp>
      <p:sp>
        <p:nvSpPr>
          <p:cNvPr id="16" name="TextBox 15"/>
          <p:cNvSpPr txBox="1"/>
          <p:nvPr/>
        </p:nvSpPr>
        <p:spPr>
          <a:xfrm>
            <a:off x="432000" y="4359849"/>
            <a:ext cx="1872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+1 〜 +15日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30000" y="4031999"/>
            <a:ext cx="6948000" cy="306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続けられるか・副業として問題ないか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30000" y="4374000"/>
            <a:ext cx="6948000" cy="529297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 更新しない／派遣 職場見学（派遣 求人）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副業 確定申告 20万円以下／ダブルワーク 扶養内 いくらまで（単発バイト）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5220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5242455"/>
            <a:ext cx="9043200" cy="333089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応募のあとも、役に立つ情報をLINEで届け続ける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2000" y="6256074"/>
            <a:ext cx="9043200" cy="30385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ー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媒体データ（検索の前後行動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）。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起点KW「派遣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求人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」「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単発バイト</a:t>
            </a: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」・直近1年間（2025年3月17日〜2026年3月22日）。</a:t>
            </a:r>
            <a:endParaRPr lang="en-US"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</a:t>
            </a:r>
            <a:r>
              <a:rPr sz="800" b="0" dirty="0" err="1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検索行動のデータであり、応募後の行動そのものではない</a:t>
            </a:r>
            <a:endParaRPr sz="800" b="0" dirty="0">
              <a:solidFill>
                <a:srgbClr val="888888"/>
              </a:solidFill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［第2章］他社分析｜主要エージェントのLINE運用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大手各社は、すでにLINE公式アカウントを運用している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差が出るのは友だち数ではなく、友だち追加の直後に何をご案内しているか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18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44000" y="1600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アカウント構成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400" y="1600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友だち追加直後のご案内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38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リクルートエージェント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18400" y="1938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1,468,273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44000" y="1938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0400" y="1938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アカウント連携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2248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284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doda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18400" y="2284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1,338,559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44000" y="2284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2件（相談／チャレンジ）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0400" y="2284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あいさつ1行のみ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6297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マイナビ転職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18400" y="2629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751,112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44000" y="26297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30400" y="26297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情報配信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29160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29753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type[転職]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18400" y="2975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292,109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44000" y="29753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サイト・エージェント別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30400" y="29753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求人カルーセル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320946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type転職エージェント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218400" y="33209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68,051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4000" y="3320946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同上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30400" y="3320946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登録フォームへ誘導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3607200"/>
            <a:ext cx="9043200" cy="3456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36665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UZUZ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218400" y="3666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26,532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44000" y="36665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2件（サポート／CS）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30400" y="36665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選択式アンケート4問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012147"/>
            <a:ext cx="2635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マイナビ保育士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18400" y="4012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44000" y="4012147"/>
            <a:ext cx="20159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職種特化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530400" y="4012147"/>
            <a:ext cx="2894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3問診断＋非公開求人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2000" y="4464000"/>
            <a:ext cx="9043200" cy="709346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大手ほど、アカウント連携や登録フォームなど、LINEの外へご案内している。</a:t>
            </a:r>
          </a:p>
          <a:p>
            <a:pPr algn="l">
              <a:lnSpc>
                <a:spcPct val="17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LINEの中で完結させているのは、第二新卒特化のUZUZと、職種特化のマイナビ保育士。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友だち追加の直後に希望条件を伺い、合う求人をお届けする大手は、まだ少ない</a:t>
            </a:r>
            <a:endParaRPr sz="1600" b="1" dirty="0">
              <a:solidFill>
                <a:srgbClr val="FFFFF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出典｜各社の page.line.me（公式）。2026年9月12日に実機で確認。友だち数は表示値。マイナビ保育士は友だち数非公開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［第3章］運用の参考事例｜タウンワーク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アルバイト求人のタウンワークは、LINEを「求人を探す入口」にした（LINEヤフー公式の導入事例）。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リッチメニューにさまざまなバイト条件を並べ、応募が増えた（2019年公開の事例）。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for Business 導入事例「バイト応募件数約80％増！リッチメニューを生かしたタウンワークのLINE活用事例」（2019年1月公開・数値は取材時点）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求人を「届ける」だけでなく、「探す入口」をLINEに置いたことが応募につながった。</a:t>
            </a:r>
            <a:endParaRPr lang="ja-JP" altLang="en-US" sz="14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リッチメニューのタップ数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＋20%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リッチメニューを充実させる前と比べて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3511296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リッチメニュー経由の応募数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20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＋79%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同じく、充実させる前と比べて</a:t>
            </a: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6592824" y="1417320"/>
            <a:ext cx="2880360" cy="960120"/>
          </a:xfrm>
          <a:prstGeom prst="roundRect">
            <a:avLst>
              <a:gd name="adj" fmla="val 6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105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LINE経由の応募の内訳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15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リッチメニューが最多</a:t>
            </a:r>
            <a:endParaRPr lang="ja-JP" altLang="en-US" sz="120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配信（プッシュ）からの応募を上回る</a:t>
            </a:r>
            <a:endParaRPr lang="ja-JP" altLang="en-US" sz="1200" dirty="0"/>
          </a:p>
        </p:txBody>
      </p:sp>
      <p:sp>
        <p:nvSpPr>
          <p:cNvPr id="25" name="Rectangle 24"/>
          <p:cNvSpPr/>
          <p:nvPr/>
        </p:nvSpPr>
        <p:spPr>
          <a:xfrm>
            <a:off x="429768" y="2487168"/>
            <a:ext cx="9043416" cy="25603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何をしたか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429768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　リンクでサイトへ</a:t>
            </a:r>
            <a:endParaRPr lang="ja-JP" altLang="en-US" sz="1050" dirty="0"/>
          </a:p>
        </p:txBody>
      </p:sp>
      <p:sp>
        <p:nvSpPr>
          <p:cNvPr id="27" name="Rectangle 26"/>
          <p:cNvSpPr/>
          <p:nvPr/>
        </p:nvSpPr>
        <p:spPr>
          <a:xfrm>
            <a:off x="429768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リッチメニューのバイト条件をタップすると、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ワンタップでリンク先（サイト）へ移動</a:t>
            </a:r>
            <a:endParaRPr lang="ja-JP" altLang="en-US" sz="1050" dirty="0"/>
          </a:p>
        </p:txBody>
      </p:sp>
      <p:sp>
        <p:nvSpPr>
          <p:cNvPr id="28" name="Rounded Rectangle 27"/>
          <p:cNvSpPr/>
          <p:nvPr/>
        </p:nvSpPr>
        <p:spPr>
          <a:xfrm>
            <a:off x="5088636" y="2761488"/>
            <a:ext cx="4384548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　トーク検索（LINEの中で完結）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5088636" y="3035808"/>
            <a:ext cx="4384548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54864" tIns="27432" rIns="54864" bIns="27432" rtlCol="0" anchor="ctr">
            <a:noAutofit/>
          </a:bodyPr>
          <a:lstStyle/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条件を選んだり入力したりすると、</a:t>
            </a:r>
            <a:endParaRPr lang="ja-JP" altLang="en-US" sz="1050" dirty="0"/>
          </a:p>
          <a:p>
            <a:pPr algn="ctr">
              <a:lnSpc>
                <a:spcPct val="105000"/>
              </a:lnSpc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合う求人がカード形式でトークに届く</a:t>
            </a:r>
            <a:endParaRPr lang="ja-JP" altLang="en-US" sz="1050" dirty="0"/>
          </a:p>
        </p:txBody>
      </p:sp>
      <p:sp>
        <p:nvSpPr>
          <p:cNvPr id="30" name="Rectangle 29"/>
          <p:cNvSpPr/>
          <p:nvPr/>
        </p:nvSpPr>
        <p:spPr>
          <a:xfrm>
            <a:off x="429768" y="3904487"/>
            <a:ext cx="9043416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002060"/>
            </a:solidFill>
          </a:ln>
        </p:spPr>
        <p:txBody>
          <a:bodyPr wrap="square" lIns="128016" tIns="36576" rIns="128016" bIns="36576" rtlCol="0" anchor="ctr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最もタップされたのは、一番上に置いた「人気のバイト検索条件」。</a:t>
            </a:r>
            <a:endParaRPr lang="ja-JP" altLang="en-US" sz="11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リッチメニューは、トーク画面を開くと必ず目に入る場所。そこに「探す」を置いている。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429768" y="4572000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LINE公式アカウントの開設は2017年4月、リッチメニューの強化は2018年2月から（Messaging APIを利用）。</a:t>
            </a:r>
            <a:endParaRPr lang="ja-JP" altLang="en-US" sz="900" dirty="0"/>
          </a:p>
          <a:p>
            <a:pPr algn="l">
              <a:lnSpc>
                <a:spcPct val="100000"/>
              </a:lnSpc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 2019年時点で、今後は利用者の状況や行動に応じてリッチメニューを出し分けることを構想していると紹介されている。</a:t>
            </a:r>
            <a:endParaRPr lang="ja-JP" alt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［第3章］タウンワークの実際の画面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719791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友だち追加の直後に「気になるテーマをタップ」と案内し、リッチメニューには学生歓迎などが並ぶ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条件を選ぶと、条件を入れた状態の検索結果ページへ移動し、応募はサイトで行う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画面：タウンワーク LINE公式アカウント（2026年9月 弊社確認）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　あいさつ</a:t>
            </a:r>
            <a:endParaRPr lang="ja-JP" altLang="en-US" sz="1050" dirty="0"/>
          </a:p>
        </p:txBody>
      </p:sp>
      <p:pic>
        <p:nvPicPr>
          <p:cNvPr id="22" name="タウンワーク_あいさつ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76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3" name="Rectangle 22"/>
          <p:cNvSpPr/>
          <p:nvPr/>
        </p:nvSpPr>
        <p:spPr>
          <a:xfrm>
            <a:off x="338328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追加の直後に「気になるテーマを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タップ」と時間帯別の画像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2743200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　リッチメニュー</a:t>
            </a:r>
            <a:endParaRPr lang="ja-JP" altLang="en-US" sz="1050" dirty="0"/>
          </a:p>
        </p:txBody>
      </p:sp>
      <p:pic>
        <p:nvPicPr>
          <p:cNvPr id="25" name="タウンワーク_リッチメニュー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8008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6" name="Rectangle 25"/>
          <p:cNvSpPr/>
          <p:nvPr/>
        </p:nvSpPr>
        <p:spPr>
          <a:xfrm>
            <a:off x="2651760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学生歓迎・単発・1日OKなど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条件がワンタップ</a:t>
            </a:r>
            <a:endParaRPr lang="ja-JP" altLang="en-US" sz="950" dirty="0"/>
          </a:p>
        </p:txBody>
      </p:sp>
      <p:sp>
        <p:nvSpPr>
          <p:cNvPr id="27" name="Rounded Rectangle 26"/>
          <p:cNvSpPr/>
          <p:nvPr/>
        </p:nvSpPr>
        <p:spPr>
          <a:xfrm>
            <a:off x="5056632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3　移動先のサイト</a:t>
            </a:r>
            <a:endParaRPr lang="ja-JP" altLang="en-US" sz="1050" dirty="0"/>
          </a:p>
        </p:txBody>
      </p:sp>
      <p:pic>
        <p:nvPicPr>
          <p:cNvPr id="28" name="タウンワーク_移動先のサイ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31440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9" name="Rectangle 28"/>
          <p:cNvSpPr/>
          <p:nvPr/>
        </p:nvSpPr>
        <p:spPr>
          <a:xfrm>
            <a:off x="4965192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条件を入れた状態の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検索結果ページ</a:t>
            </a:r>
            <a:endParaRPr lang="ja-JP" altLang="en-US" sz="950" dirty="0"/>
          </a:p>
        </p:txBody>
      </p:sp>
      <p:sp>
        <p:nvSpPr>
          <p:cNvPr id="30" name="Rounded Rectangle 29"/>
          <p:cNvSpPr/>
          <p:nvPr/>
        </p:nvSpPr>
        <p:spPr>
          <a:xfrm>
            <a:off x="7370064" y="1417320"/>
            <a:ext cx="2103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4　会員連携の画面</a:t>
            </a:r>
            <a:endParaRPr lang="ja-JP" altLang="en-US" sz="1050" dirty="0"/>
          </a:p>
        </p:txBody>
      </p:sp>
      <p:pic>
        <p:nvPicPr>
          <p:cNvPr id="31" name="タウンワーク_会員連携の画面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44872" y="1764792"/>
            <a:ext cx="1753502" cy="3794760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7278624" y="5614416"/>
            <a:ext cx="2286000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合う求人を受け取るための</a:t>
            </a:r>
            <a:endParaRPr lang="ja-JP" altLang="en-US" sz="950" dirty="0"/>
          </a:p>
          <a:p>
            <a:pPr algn="ctr">
              <a:lnSpc>
                <a:spcPct val="100000"/>
              </a:lnSpc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会員連携（リクルートID）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［第3章］タウンワークの取り組みは、3つの仕組みに分けられる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公式事例（2019年）と実際の画面（2026年9月）から、3つの仕組みが読み取れる。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特に①の考え方を、リッチメニュー（P21）に取り入れる。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000" y="5148072"/>
            <a:ext cx="9043200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出典：LINEヤフー for Business 導入事例（タウンワーク・2019年1月公開）・タウンワーク LINE公式アカウント（2026年9月 弊社確認）。実際の画面はP14。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148072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2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応募はサイトで行い、LINEには「探す入口」と「次に探すきっかけ」を置く。</a:t>
            </a:r>
            <a:endParaRPr lang="ja-JP" altLang="en-US" sz="125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リッチメニューを「探す入口」に</a:t>
            </a: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「学生歓迎」「主婦・主夫歓迎」「シニア歓迎」「単発・1日OK」など、バイトの条件をワンタップに。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一番上に置いた人気の検索条件が、最もタップされた（2019年公開の事例）。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タップ数 ＋20%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リッチメニュー経由の応募 ＋79%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（2019年公開の事例）</a:t>
            </a:r>
            <a:endParaRPr lang="ja-JP" altLang="en-US" sz="120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追加の直後に、探し方を案内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あいさつで「気になるテーマをタップ」と案内し、時間帯別（午前中・お昼から・夕方〜夜・深夜・夜勤）の画像を出す。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通知が多いと感じたら、オフにする方法も先に伝えている。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あいさつ＋時間帯別の画像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（2026年9月 弊社確認）</a:t>
            </a: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6592824" y="141732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応募はサイトで、LINEは入口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819656"/>
            <a:ext cx="2880360" cy="1783080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91440" rIns="91440" bIns="54864" rtlCol="0" anchor="t">
            <a:no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条件を選ぶと、条件を入れた状態の検索結果ページへ移動。応募はサイトで行う。</a:t>
            </a:r>
            <a:endParaRPr lang="ja-JP" altLang="en-US" sz="1150" dirty="0"/>
          </a:p>
          <a:p>
            <a:pPr algn="l">
              <a:lnSpc>
                <a:spcPct val="110000"/>
              </a:lnSpc>
              <a:spcAft>
                <a:spcPts val="6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合う求人を受け取るために、会員情報とLINEを連携する。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3712463"/>
            <a:ext cx="2880360" cy="10241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91440" tIns="73152" rIns="73152" bIns="36576" rtlCol="0" anchor="t">
            <a:noAutofit/>
          </a:bodyPr>
          <a:lstStyle/>
          <a:p>
            <a:pPr algn="l">
              <a:lnSpc>
                <a:spcPct val="105000"/>
              </a:lnSpc>
              <a:buNone/>
            </a:pPr>
            <a:r>
              <a:rPr lang="ja-JP" altLang="en-US" sz="1100" b="1" dirty="0">
                <a:solidFill>
                  <a:srgbClr val="00206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実際の例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移動先＝条件入りの検索結果</a:t>
            </a:r>
            <a:endParaRPr lang="ja-JP" altLang="en-US" sz="1200" dirty="0"/>
          </a:p>
          <a:p>
            <a:pPr algn="l">
              <a:lnSpc>
                <a:spcPct val="105000"/>
              </a:lnSpc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会員連携＝リクルートID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C836A-F13C-1973-53EF-92ADF9F85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A8856EBE-32D8-42F5-9D61-C53BF60EFB33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6340BD7-9269-59A1-EA69-7426F07778B6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7C701305-F75E-4087-21C2-FA3CCCA8FB67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「新しい友だちの追加」と「応募につなげる動線」の2つが重要。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企画配信（毎月）とステップ配信（常時）を組み合わせて、動線をつくる。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1A40E6EC-1B5E-5E46-EF89-1167C08649BA}"/>
              </a:ext>
            </a:extLst>
          </p:cNvPr>
          <p:cNvSpPr/>
          <p:nvPr/>
        </p:nvSpPr>
        <p:spPr>
          <a:xfrm>
            <a:off x="963202" y="3662763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友だち追加後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1" name="図 30">
            <a:extLst>
              <a:ext uri="{FF2B5EF4-FFF2-40B4-BE49-F238E27FC236}">
                <a16:creationId xmlns:a16="http://schemas.microsoft.com/office/drawing/2014/main" id="{2FE26F6B-D35B-6A6B-42D2-7944374527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3566663"/>
            <a:ext cx="582602" cy="543237"/>
          </a:xfrm>
          <a:prstGeom prst="rect">
            <a:avLst/>
          </a:prstGeom>
        </p:spPr>
      </p:pic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403F1B-B20A-C75C-8FCB-74AAD1581A2F}"/>
              </a:ext>
            </a:extLst>
          </p:cNvPr>
          <p:cNvSpPr/>
          <p:nvPr/>
        </p:nvSpPr>
        <p:spPr>
          <a:xfrm>
            <a:off x="686977" y="2019915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LP</a:t>
            </a:r>
            <a:r>
              <a:rPr kumimoji="1"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</a:t>
            </a:r>
            <a:r>
              <a:rPr kumimoji="1" lang="en-US" altLang="ja-JP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5" name="図 34" descr="lpデザインイラスト｜無料イラスト・フリー素材なら「イラストAC」">
            <a:extLst>
              <a:ext uri="{FF2B5EF4-FFF2-40B4-BE49-F238E27FC236}">
                <a16:creationId xmlns:a16="http://schemas.microsoft.com/office/drawing/2014/main" id="{EA2CF7EC-851A-10FF-17B6-E422C43BD1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658" y="1875286"/>
            <a:ext cx="853665" cy="640720"/>
          </a:xfrm>
          <a:prstGeom prst="rect">
            <a:avLst/>
          </a:prstGeom>
        </p:spPr>
      </p:pic>
      <p:sp>
        <p:nvSpPr>
          <p:cNvPr id="40" name="矢印: 下 39">
            <a:extLst>
              <a:ext uri="{FF2B5EF4-FFF2-40B4-BE49-F238E27FC236}">
                <a16:creationId xmlns:a16="http://schemas.microsoft.com/office/drawing/2014/main" id="{0D54B1A9-3944-66DE-F219-BB4192EDE144}"/>
              </a:ext>
            </a:extLst>
          </p:cNvPr>
          <p:cNvSpPr/>
          <p:nvPr/>
        </p:nvSpPr>
        <p:spPr>
          <a:xfrm>
            <a:off x="3290805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矢印: 下 40">
            <a:extLst>
              <a:ext uri="{FF2B5EF4-FFF2-40B4-BE49-F238E27FC236}">
                <a16:creationId xmlns:a16="http://schemas.microsoft.com/office/drawing/2014/main" id="{781A5984-3599-DC05-2E88-6BB61F188EB3}"/>
              </a:ext>
            </a:extLst>
          </p:cNvPr>
          <p:cNvSpPr/>
          <p:nvPr/>
        </p:nvSpPr>
        <p:spPr>
          <a:xfrm>
            <a:off x="5657443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矢印: 下 41">
            <a:extLst>
              <a:ext uri="{FF2B5EF4-FFF2-40B4-BE49-F238E27FC236}">
                <a16:creationId xmlns:a16="http://schemas.microsoft.com/office/drawing/2014/main" id="{1C76D7C3-BFEE-8DA3-57FA-033BD7E35285}"/>
              </a:ext>
            </a:extLst>
          </p:cNvPr>
          <p:cNvSpPr/>
          <p:nvPr/>
        </p:nvSpPr>
        <p:spPr>
          <a:xfrm>
            <a:off x="5657443" y="201991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矢印: 下 42">
            <a:extLst>
              <a:ext uri="{FF2B5EF4-FFF2-40B4-BE49-F238E27FC236}">
                <a16:creationId xmlns:a16="http://schemas.microsoft.com/office/drawing/2014/main" id="{4E9F9DC2-BA49-A440-DA89-D45BC9E52C3A}"/>
              </a:ext>
            </a:extLst>
          </p:cNvPr>
          <p:cNvSpPr/>
          <p:nvPr/>
        </p:nvSpPr>
        <p:spPr>
          <a:xfrm>
            <a:off x="3290805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矢印: 下 43">
            <a:extLst>
              <a:ext uri="{FF2B5EF4-FFF2-40B4-BE49-F238E27FC236}">
                <a16:creationId xmlns:a16="http://schemas.microsoft.com/office/drawing/2014/main" id="{6915D3B6-2B4C-5707-CB40-2696B722BA40}"/>
              </a:ext>
            </a:extLst>
          </p:cNvPr>
          <p:cNvSpPr/>
          <p:nvPr/>
        </p:nvSpPr>
        <p:spPr>
          <a:xfrm>
            <a:off x="5657443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6" name="正方形/長方形 45">
            <a:extLst>
              <a:ext uri="{FF2B5EF4-FFF2-40B4-BE49-F238E27FC236}">
                <a16:creationId xmlns:a16="http://schemas.microsoft.com/office/drawing/2014/main" id="{D988BB36-5119-99B1-DF59-D4B80D30745C}"/>
              </a:ext>
            </a:extLst>
          </p:cNvPr>
          <p:cNvSpPr/>
          <p:nvPr/>
        </p:nvSpPr>
        <p:spPr>
          <a:xfrm>
            <a:off x="963202" y="5305611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具体的な施策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48" name="図 47">
            <a:extLst>
              <a:ext uri="{FF2B5EF4-FFF2-40B4-BE49-F238E27FC236}">
                <a16:creationId xmlns:a16="http://schemas.microsoft.com/office/drawing/2014/main" id="{FE05BA15-FE69-7259-F5B1-7935A92DDFC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401" y="5203250"/>
            <a:ext cx="582602" cy="543237"/>
          </a:xfrm>
          <a:prstGeom prst="rect">
            <a:avLst/>
          </a:prstGeom>
        </p:spPr>
      </p:pic>
      <p:sp>
        <p:nvSpPr>
          <p:cNvPr id="68" name="矢印: 下 67">
            <a:extLst>
              <a:ext uri="{FF2B5EF4-FFF2-40B4-BE49-F238E27FC236}">
                <a16:creationId xmlns:a16="http://schemas.microsoft.com/office/drawing/2014/main" id="{552BBE13-4EF3-7D14-9401-EE47B669E0A1}"/>
              </a:ext>
            </a:extLst>
          </p:cNvPr>
          <p:cNvSpPr/>
          <p:nvPr/>
        </p:nvSpPr>
        <p:spPr>
          <a:xfrm>
            <a:off x="8023941" y="3630924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9" name="矢印: 下 68">
            <a:extLst>
              <a:ext uri="{FF2B5EF4-FFF2-40B4-BE49-F238E27FC236}">
                <a16:creationId xmlns:a16="http://schemas.microsoft.com/office/drawing/2014/main" id="{1CE2AD45-B81D-8C9E-9BEA-EE8F41408D09}"/>
              </a:ext>
            </a:extLst>
          </p:cNvPr>
          <p:cNvSpPr/>
          <p:nvPr/>
        </p:nvSpPr>
        <p:spPr>
          <a:xfrm>
            <a:off x="8023941" y="5241933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0" name="矢印: 下 69">
            <a:extLst>
              <a:ext uri="{FF2B5EF4-FFF2-40B4-BE49-F238E27FC236}">
                <a16:creationId xmlns:a16="http://schemas.microsoft.com/office/drawing/2014/main" id="{841F38E6-682B-0593-E7F1-B970924D2312}"/>
              </a:ext>
            </a:extLst>
          </p:cNvPr>
          <p:cNvSpPr/>
          <p:nvPr/>
        </p:nvSpPr>
        <p:spPr>
          <a:xfrm>
            <a:off x="8007886" y="2028495"/>
            <a:ext cx="792480" cy="1246418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2" name="正方形/長方形 71">
            <a:extLst>
              <a:ext uri="{FF2B5EF4-FFF2-40B4-BE49-F238E27FC236}">
                <a16:creationId xmlns:a16="http://schemas.microsoft.com/office/drawing/2014/main" id="{EB9A5047-E824-A278-1DE7-38BCB5F653E4}"/>
              </a:ext>
            </a:extLst>
          </p:cNvPr>
          <p:cNvSpPr/>
          <p:nvPr/>
        </p:nvSpPr>
        <p:spPr>
          <a:xfrm>
            <a:off x="2835604" y="2013850"/>
            <a:ext cx="1706880" cy="338514"/>
          </a:xfrm>
          <a:prstGeom prst="rect">
            <a:avLst/>
          </a:prstGeom>
          <a:solidFill>
            <a:schemeClr val="bg1"/>
          </a:solidFill>
          <a:ln w="9525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5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その他動線</a:t>
            </a:r>
            <a:endParaRPr kumimoji="1" lang="ja-JP" altLang="en-US" sz="105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D0BB931D-9C48-0F74-78B7-B39FB7567FB3}"/>
              </a:ext>
            </a:extLst>
          </p:cNvPr>
          <p:cNvGrpSpPr/>
          <p:nvPr/>
        </p:nvGrpSpPr>
        <p:grpSpPr>
          <a:xfrm>
            <a:off x="2497445" y="1791214"/>
            <a:ext cx="885030" cy="827297"/>
            <a:chOff x="2497445" y="1791214"/>
            <a:chExt cx="885030" cy="827297"/>
          </a:xfrm>
        </p:grpSpPr>
        <p:pic>
          <p:nvPicPr>
            <p:cNvPr id="73" name="図 72">
              <a:extLst>
                <a:ext uri="{FF2B5EF4-FFF2-40B4-BE49-F238E27FC236}">
                  <a16:creationId xmlns:a16="http://schemas.microsoft.com/office/drawing/2014/main" id="{95316F7A-1FC1-3A66-5456-79F5F636388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497445" y="1791214"/>
              <a:ext cx="420559" cy="556499"/>
            </a:xfrm>
            <a:prstGeom prst="rect">
              <a:avLst/>
            </a:prstGeom>
          </p:spPr>
        </p:pic>
        <p:pic>
          <p:nvPicPr>
            <p:cNvPr id="74" name="図 73" descr="生活・その他】SNSとスマホのかわいいフリーイラスト | フタバのフリーイラスト">
              <a:extLst>
                <a:ext uri="{FF2B5EF4-FFF2-40B4-BE49-F238E27FC236}">
                  <a16:creationId xmlns:a16="http://schemas.microsoft.com/office/drawing/2014/main" id="{425A3C52-3D63-0CC5-2649-471F74876F0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610493" y="1846529"/>
              <a:ext cx="771982" cy="771982"/>
            </a:xfrm>
            <a:prstGeom prst="rect">
              <a:avLst/>
            </a:prstGeom>
          </p:spPr>
        </p:pic>
      </p:grpSp>
      <p:sp>
        <p:nvSpPr>
          <p:cNvPr id="76" name="テキスト ボックス 75">
            <a:extLst>
              <a:ext uri="{FF2B5EF4-FFF2-40B4-BE49-F238E27FC236}">
                <a16:creationId xmlns:a16="http://schemas.microsoft.com/office/drawing/2014/main" id="{A26D9D0D-8E50-52D9-7E65-8B19393671D2}"/>
              </a:ext>
            </a:extLst>
          </p:cNvPr>
          <p:cNvSpPr txBox="1"/>
          <p:nvPr/>
        </p:nvSpPr>
        <p:spPr>
          <a:xfrm>
            <a:off x="4820619" y="2013850"/>
            <a:ext cx="2466126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◯LINE友だち追加のメリットを提示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✓新着のお知らせ　✓条件に合う求人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◯LINEでのやり取りへご案内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LINEで条件確認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　✓</a:t>
            </a:r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LINE</a:t>
            </a:r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で相談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7" name="テキスト ボックス 76">
            <a:extLst>
              <a:ext uri="{FF2B5EF4-FFF2-40B4-BE49-F238E27FC236}">
                <a16:creationId xmlns:a16="http://schemas.microsoft.com/office/drawing/2014/main" id="{CFFD44FF-E632-A42A-AFD2-C978D5EB4382}"/>
              </a:ext>
            </a:extLst>
          </p:cNvPr>
          <p:cNvSpPr txBox="1"/>
          <p:nvPr/>
        </p:nvSpPr>
        <p:spPr>
          <a:xfrm>
            <a:off x="7498219" y="2013850"/>
            <a:ext cx="1852837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◯LINEで関係を深める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✓アンケート回答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◯LINEで希望条件を伺う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✓合う求人のご案内</a:t>
            </a:r>
            <a:endParaRPr lang="ja-JP" altLang="en-US" sz="10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78" name="テキスト ボックス 77">
            <a:extLst>
              <a:ext uri="{FF2B5EF4-FFF2-40B4-BE49-F238E27FC236}">
                <a16:creationId xmlns:a16="http://schemas.microsoft.com/office/drawing/2014/main" id="{2A92B9D2-AE81-B8F1-2775-9BABDBB2FB72}"/>
              </a:ext>
            </a:extLst>
          </p:cNvPr>
          <p:cNvSpPr txBox="1"/>
          <p:nvPr/>
        </p:nvSpPr>
        <p:spPr>
          <a:xfrm>
            <a:off x="4820619" y="3575596"/>
            <a:ext cx="2466126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◯企画配信（毎月）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✓季節・時期に合わせた求人特集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働き方の悩み→お役立ち情報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アンケートの回答→合う求人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79" name="テキスト ボックス 78">
            <a:extLst>
              <a:ext uri="{FF2B5EF4-FFF2-40B4-BE49-F238E27FC236}">
                <a16:creationId xmlns:a16="http://schemas.microsoft.com/office/drawing/2014/main" id="{3F5D2439-D550-34BB-53D6-091E9B32BF3C}"/>
              </a:ext>
            </a:extLst>
          </p:cNvPr>
          <p:cNvSpPr txBox="1"/>
          <p:nvPr/>
        </p:nvSpPr>
        <p:spPr>
          <a:xfrm>
            <a:off x="7303671" y="3575596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◯ステップ配信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✓追加から14日間の自動配信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（前後検索の順番に沿う）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✓応募に進む導線設計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en-US" altLang="ja-JP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（興味→共感→信頼→応募）</a:t>
            </a:r>
          </a:p>
        </p:txBody>
      </p:sp>
      <p:sp>
        <p:nvSpPr>
          <p:cNvPr id="82" name="テキスト ボックス 81">
            <a:extLst>
              <a:ext uri="{FF2B5EF4-FFF2-40B4-BE49-F238E27FC236}">
                <a16:creationId xmlns:a16="http://schemas.microsoft.com/office/drawing/2014/main" id="{F966D387-7E84-4F68-9C81-89F870210C79}"/>
              </a:ext>
            </a:extLst>
          </p:cNvPr>
          <p:cNvSpPr txBox="1"/>
          <p:nvPr/>
        </p:nvSpPr>
        <p:spPr>
          <a:xfrm>
            <a:off x="2518451" y="3575596"/>
            <a:ext cx="2360837" cy="1015663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◯あいさつメッセージ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◯アンケート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情報収集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配信セグメントに活用</a:t>
            </a:r>
            <a:endParaRPr lang="en-US" altLang="ja-JP" sz="10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◯プロフィール・リッチメニュー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sp>
        <p:nvSpPr>
          <p:cNvPr id="83" name="テキスト ボックス 82">
            <a:extLst>
              <a:ext uri="{FF2B5EF4-FFF2-40B4-BE49-F238E27FC236}">
                <a16:creationId xmlns:a16="http://schemas.microsoft.com/office/drawing/2014/main" id="{DCCA9A41-7AF8-A7E5-C05D-3CCE4D53D056}"/>
              </a:ext>
            </a:extLst>
          </p:cNvPr>
          <p:cNvSpPr txBox="1"/>
          <p:nvPr/>
        </p:nvSpPr>
        <p:spPr>
          <a:xfrm>
            <a:off x="7493762" y="5192489"/>
            <a:ext cx="1852837" cy="969496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◯応募後のフォロー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✓よくある質問の自動化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✓チャット定型文の作成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7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◯友だち紹介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✓紹介特典のご案内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4" name="テキスト ボックス 83">
            <a:extLst>
              <a:ext uri="{FF2B5EF4-FFF2-40B4-BE49-F238E27FC236}">
                <a16:creationId xmlns:a16="http://schemas.microsoft.com/office/drawing/2014/main" id="{51666C25-34AB-775A-D360-970178A01029}"/>
              </a:ext>
            </a:extLst>
          </p:cNvPr>
          <p:cNvSpPr txBox="1"/>
          <p:nvPr/>
        </p:nvSpPr>
        <p:spPr>
          <a:xfrm>
            <a:off x="5015076" y="5197869"/>
            <a:ext cx="2038121" cy="861774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◯応募済みの方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✓応答メッセージで不安を解消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◯再応募・次の仕事の案内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✓満了の時期・近い職種を設定</a:t>
            </a:r>
            <a:endParaRPr lang="en-US" altLang="ja-JP" sz="10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5" name="テキスト ボックス 84">
            <a:extLst>
              <a:ext uri="{FF2B5EF4-FFF2-40B4-BE49-F238E27FC236}">
                <a16:creationId xmlns:a16="http://schemas.microsoft.com/office/drawing/2014/main" id="{E36E01A8-5E8D-6868-5242-258854A6C11E}"/>
              </a:ext>
            </a:extLst>
          </p:cNvPr>
          <p:cNvSpPr txBox="1"/>
          <p:nvPr/>
        </p:nvSpPr>
        <p:spPr>
          <a:xfrm>
            <a:off x="2577903" y="5197869"/>
            <a:ext cx="2241933" cy="954107"/>
          </a:xfrm>
          <a:prstGeom prst="rect">
            <a:avLst/>
          </a:prstGeom>
          <a:solidFill>
            <a:schemeClr val="bg1">
              <a:alpha val="2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◯希望条件の再確認</a:t>
            </a: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✓反応が止まった方に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希望条件を改めて伺う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endParaRPr lang="en-US" altLang="ja-JP" sz="6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◯求人の再案内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10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✓条件に合う新着を再案内</a:t>
            </a:r>
            <a:endParaRPr lang="en-US" altLang="ja-JP" sz="1000" dirty="0">
              <a:solidFill>
                <a:schemeClr val="bg1">
                  <a:lumMod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sym typeface="Meiryo"/>
            </a:endParaRPr>
          </a:p>
        </p:txBody>
      </p:sp>
      <p:sp>
        <p:nvSpPr>
          <p:cNvPr id="8" name="矢印: 下 7">
            <a:extLst>
              <a:ext uri="{FF2B5EF4-FFF2-40B4-BE49-F238E27FC236}">
                <a16:creationId xmlns:a16="http://schemas.microsoft.com/office/drawing/2014/main" id="{BE6FB710-6D0D-A062-5DC4-E7437CE5BDE1}"/>
              </a:ext>
            </a:extLst>
          </p:cNvPr>
          <p:cNvSpPr/>
          <p:nvPr/>
        </p:nvSpPr>
        <p:spPr>
          <a:xfrm>
            <a:off x="8045609" y="1409403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rgbClr val="8A95B5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矢印: 下 9">
            <a:extLst>
              <a:ext uri="{FF2B5EF4-FFF2-40B4-BE49-F238E27FC236}">
                <a16:creationId xmlns:a16="http://schemas.microsoft.com/office/drawing/2014/main" id="{92FDFDEB-CB5F-8A45-29AB-C10FC6580A7C}"/>
              </a:ext>
            </a:extLst>
          </p:cNvPr>
          <p:cNvSpPr/>
          <p:nvPr/>
        </p:nvSpPr>
        <p:spPr>
          <a:xfrm>
            <a:off x="8919666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bg1">
                  <a:lumMod val="7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矢印: 下 10">
            <a:extLst>
              <a:ext uri="{FF2B5EF4-FFF2-40B4-BE49-F238E27FC236}">
                <a16:creationId xmlns:a16="http://schemas.microsoft.com/office/drawing/2014/main" id="{218212FE-3645-DB9F-3397-0748130F1AF8}"/>
              </a:ext>
            </a:extLst>
          </p:cNvPr>
          <p:cNvSpPr/>
          <p:nvPr/>
        </p:nvSpPr>
        <p:spPr>
          <a:xfrm>
            <a:off x="7180483" y="1412851"/>
            <a:ext cx="871728" cy="395993"/>
          </a:xfrm>
          <a:prstGeom prst="downArrow">
            <a:avLst/>
          </a:prstGeom>
          <a:gradFill>
            <a:gsLst>
              <a:gs pos="4000">
                <a:schemeClr val="bg1"/>
              </a:gs>
              <a:gs pos="100000">
                <a:schemeClr val="accent1">
                  <a:lumMod val="40000"/>
                  <a:lumOff val="60000"/>
                  <a:alpha val="16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2D2D0860-25E1-93CE-4600-A1274BD77509}"/>
              </a:ext>
            </a:extLst>
          </p:cNvPr>
          <p:cNvSpPr txBox="1"/>
          <p:nvPr/>
        </p:nvSpPr>
        <p:spPr>
          <a:xfrm>
            <a:off x="7180483" y="1445284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企画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  <a:sym typeface="Meiryo"/>
              </a:rPr>
              <a:t>配信</a:t>
            </a:r>
            <a:endParaRPr lang="ja-JP" altLang="en-US" sz="8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A87B802C-245D-9C6E-1C33-7190F3073124}"/>
              </a:ext>
            </a:extLst>
          </p:cNvPr>
          <p:cNvSpPr txBox="1"/>
          <p:nvPr/>
        </p:nvSpPr>
        <p:spPr>
          <a:xfrm>
            <a:off x="8050075" y="1452197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ステップ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配信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D775BACA-B985-5029-1E70-8D28879E88EC}"/>
              </a:ext>
            </a:extLst>
          </p:cNvPr>
          <p:cNvSpPr txBox="1"/>
          <p:nvPr/>
        </p:nvSpPr>
        <p:spPr>
          <a:xfrm>
            <a:off x="8910735" y="1438122"/>
            <a:ext cx="8717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貴社の対応</a:t>
            </a:r>
            <a:endParaRPr lang="en-US" altLang="ja-JP" sz="8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8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を軽減</a:t>
            </a: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B0439D32-FABC-CA34-F07C-587F509AEF1D}"/>
              </a:ext>
            </a:extLst>
          </p:cNvPr>
          <p:cNvSpPr/>
          <p:nvPr/>
        </p:nvSpPr>
        <p:spPr>
          <a:xfrm>
            <a:off x="7116723" y="1367434"/>
            <a:ext cx="2725750" cy="483252"/>
          </a:xfrm>
          <a:prstGeom prst="rect">
            <a:avLst/>
          </a:prstGeom>
          <a:noFill/>
          <a:ln w="952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B6880BFB-9CE8-682D-5E73-400E7A9D4984}"/>
              </a:ext>
            </a:extLst>
          </p:cNvPr>
          <p:cNvCxnSpPr>
            <a:cxnSpLocks/>
            <a:stCxn id="74" idx="2"/>
            <a:endCxn id="25" idx="0"/>
          </p:cNvCxnSpPr>
          <p:nvPr/>
        </p:nvCxnSpPr>
        <p:spPr>
          <a:xfrm rot="5400000">
            <a:off x="1884437" y="2550716"/>
            <a:ext cx="1044252" cy="1179842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コネクタ: カギ線 26">
            <a:extLst>
              <a:ext uri="{FF2B5EF4-FFF2-40B4-BE49-F238E27FC236}">
                <a16:creationId xmlns:a16="http://schemas.microsoft.com/office/drawing/2014/main" id="{EF07FDA7-6FC7-C204-99A4-DB47A6724969}"/>
              </a:ext>
            </a:extLst>
          </p:cNvPr>
          <p:cNvCxnSpPr>
            <a:cxnSpLocks/>
            <a:endCxn id="25" idx="0"/>
          </p:cNvCxnSpPr>
          <p:nvPr/>
        </p:nvCxnSpPr>
        <p:spPr>
          <a:xfrm rot="16200000" flipH="1">
            <a:off x="693395" y="2539516"/>
            <a:ext cx="1138050" cy="1108444"/>
          </a:xfrm>
          <a:prstGeom prst="bentConnector3">
            <a:avLst>
              <a:gd name="adj1" fmla="val 54185"/>
            </a:avLst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B79B5748-0A9B-B2A8-36EE-9B6743393A50}"/>
              </a:ext>
            </a:extLst>
          </p:cNvPr>
          <p:cNvCxnSpPr>
            <a:stCxn id="25" idx="2"/>
            <a:endCxn id="46" idx="0"/>
          </p:cNvCxnSpPr>
          <p:nvPr/>
        </p:nvCxnSpPr>
        <p:spPr>
          <a:xfrm>
            <a:off x="1816642" y="4001277"/>
            <a:ext cx="0" cy="13043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86567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［第4章］構築｜施策展開図（初期・月次）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「新しい友だちの追加」と「友だちを応募につなげる動線」の2つが重要。</a:t>
            </a: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初期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（初動）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月次</a:t>
            </a:r>
            <a:endParaRPr kumimoji="1" lang="en-US" altLang="ja-JP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3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（定例）</a:t>
            </a:r>
            <a:endParaRPr kumimoji="1" lang="ja-JP" altLang="en-US" sz="13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離脱防止・ポップアップ</a:t>
            </a:r>
            <a:endParaRPr kumimoji="1" lang="en-US" altLang="ja-JP" sz="13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HP・LPで、条件を満たすと</a:t>
            </a: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ポップアップバナーを表示する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通知メッセージ</a:t>
            </a:r>
            <a:endParaRPr kumimoji="1" lang="en-US" altLang="ja-JP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ユーザーの行動に応じて</a:t>
            </a:r>
            <a:endParaRPr lang="en-US" altLang="ja-JP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2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API連携でメッセージを送る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Webサイトの応募完了ページから</a:t>
            </a: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3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LINEログイン・ID連携など</a:t>
            </a: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ログインに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を使用</a:t>
            </a:r>
            <a:endParaRPr lang="en-US" altLang="ja-JP" sz="11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サイトユーザー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lang="en-US" altLang="ja-JP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LINEID</a:t>
            </a:r>
            <a:r>
              <a:rPr lang="ja-JP" altLang="en-US" sz="11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を連携</a:t>
            </a:r>
            <a:endParaRPr kumimoji="1" lang="ja-JP" altLang="en-US" sz="11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 CPF</a:t>
            </a:r>
            <a:r>
              <a:rPr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広告</a:t>
            </a:r>
            <a:endParaRPr kumimoji="1" lang="ja-JP" altLang="en-US" sz="14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スタンプ・ポイント施策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・プロフィールからの動線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・あいさつメッセージ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・キーワード自動応答の設定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・ステップ配信：応募などの後、決まった日数で自動配信</a:t>
            </a:r>
            <a:endParaRPr kumimoji="1" lang="ja-JP" altLang="en-US" sz="9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[新規] → 毎月の配信</a:t>
            </a:r>
            <a:endParaRPr lang="en-US" altLang="ja-JP" sz="12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・新着求人の案内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・希望条件の再確認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・季節・時事に合わせた配信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・よくある質問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1E276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友だちの新規追加</a:t>
            </a:r>
            <a:endParaRPr lang="ja-JP" altLang="en-US" sz="1100" dirty="0"/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rgbClr val="1E276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友だちを応募につなげる</a:t>
            </a: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[</a:t>
            </a:r>
            <a:r>
              <a:rPr kumimoji="1" lang="ja-JP" altLang="en-US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ターゲット設定</a:t>
            </a:r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LINEの標準機能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年齢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性別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地域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…)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（表示数・クリック数）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3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 APIツール ※有料</a:t>
            </a:r>
            <a:endParaRPr lang="en-US" altLang="ja-JP" sz="1100" b="1" dirty="0">
              <a:solidFill>
                <a:srgbClr val="1E276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アンケート結果）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(WEB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サイトアクション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/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再通知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連携した情報ベース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ユーザー一覧を取得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ID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アップロード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（行動のスコア付け）</a:t>
            </a: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※MA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、</a:t>
            </a:r>
            <a:r>
              <a:rPr lang="en-US" altLang="ja-JP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CRM</a:t>
            </a:r>
            <a:r>
              <a:rPr lang="ja-JP" altLang="en-US" sz="11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との連携</a:t>
            </a:r>
            <a:endParaRPr lang="en-US" altLang="ja-JP" sz="11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(応募・就業データ)</a:t>
            </a:r>
          </a:p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詳細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8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800" dirty="0"/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10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有料</a:t>
            </a:r>
            <a:endParaRPr lang="ja-JP" altLang="en-US" sz="1000" dirty="0"/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その他：Web動線の整備、プレスリリース等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</a:t>
            </a:r>
            <a:r>
              <a:rPr lang="ja-JP" altLang="en-US" sz="9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数量により変動</a:t>
            </a:r>
            <a:endParaRPr lang="ja-JP" altLang="en-US" sz="900" dirty="0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※クリエイティブ費用は基本的に含む。開発費用は別途お見積り。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［第4章］構築｜友だち追加の動線と、その後の配信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どこで友だちになったかで、その方に配信する内容を決める。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2000" y="2250000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250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32000" y="2951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2951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432000" y="3653999"/>
            <a:ext cx="9043200" cy="604800"/>
          </a:xfrm>
          <a:prstGeom prst="rect">
            <a:avLst/>
          </a:prstGeom>
          <a:solidFill>
            <a:srgbClr val="FFFFFF"/>
          </a:solidFill>
          <a:ln w="952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3653999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32000" y="4356000"/>
            <a:ext cx="9043200" cy="604800"/>
          </a:xfrm>
          <a:prstGeom prst="rect">
            <a:avLst/>
          </a:prstGeom>
          <a:solidFill>
            <a:srgbClr val="FFFFFF"/>
          </a:solidFill>
          <a:ln w="15875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32000" y="4356000"/>
            <a:ext cx="2448000" cy="6048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⑤の通知メッセージは、友だち追加していない方にも電話番号あてに届く（別途費用）。用途は審査制のため、求人案内での利用可否は事前に確認する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1216152"/>
            <a:ext cx="2450592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友だち追加の場面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1216152"/>
            <a:ext cx="1965959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登録する方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0" y="1216152"/>
            <a:ext cx="4352544" cy="274320"/>
          </a:xfrm>
          <a:prstGeom prst="rect">
            <a:avLst/>
          </a:prstGeom>
          <a:noFill/>
        </p:spPr>
        <p:txBody>
          <a:bodyPr wrap="square" anchor="b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その方に配信する内容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" y="1545336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応募完了画面＊</a:t>
            </a:r>
          </a:p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（サンクスLINE誘導）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71800" y="1545336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応募した方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1545336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 → 希望条件5問 → 14日間のステップ配信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面接・職場見学の前日のご案内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" y="2249424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離脱防止ポップアップ＊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2249424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応募せずに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LPを離れた方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0" y="2249424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条件に合う新着求人と、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リッチメニューの「探す入口」をご案内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" y="2953512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LINE広告（CPF）＊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71800" y="2953512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まだ貴社を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知らない方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0" y="2953512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あいさつで「できること」をご案内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→ 希望条件5問 → 新着求人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" y="3657600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求人誌・店頭のQRコード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971800" y="3657600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求人誌・店頭で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貴社を知った方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0" y="3657600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掲載エリアの新着求人をご案内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" y="4361687"/>
            <a:ext cx="2450592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⑤ 通知メッセージ＊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71800" y="4361687"/>
            <a:ext cx="1965959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過去に応募した方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（既存リスト）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029200" y="4361687"/>
            <a:ext cx="4352544" cy="60350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希望条件の再確認 → 次のお仕事のご案内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9768" y="5120639"/>
            <a:ext cx="9043416" cy="914400"/>
          </a:xfrm>
          <a:prstGeom prst="rect">
            <a:avLst/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72000" tIns="18000" rIns="72000" bIns="1800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6928" y="5138928"/>
            <a:ext cx="8769096" cy="877824"/>
          </a:xfrm>
          <a:prstGeom prst="rect">
            <a:avLst/>
          </a:prstGeom>
          <a:noFill/>
        </p:spPr>
        <p:txBody>
          <a:bodyPr wrap="square" anchor="ctr" lIns="36000" rIns="36000" tIns="10800" bIns="10800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＊ 別途費用がかかるもの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① サンクスLINE誘導：初期15万円・月額3万円〜　　② 離脱防止ポップアップ：初期1.5万円・月額3万円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15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③ LINE広告（CPF）：広告費が別途かかる　　⑤ 通知メッセージ：初期10万円・月額8万円〜＋通数7円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［第4章］構築｜あいさつメッセージ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最初に、このアカウントでできることをお伝えする。</a:t>
            </a:r>
          </a:p>
          <a:p>
            <a:pPr>
              <a:lnSpc>
                <a:spcPct val="120000"/>
              </a:lnSpc>
            </a:pP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そのうえで希望条件を</a:t>
            </a:r>
            <a:r>
              <a:rPr lang="en-US" altLang="ja-JP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ja-JP" altLang="en-US"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問だけ伺い、条件に合う新着求人をお届けすると約束する。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最初に電話のことを書く理由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知らない番号からの着信を、負担に感じる方は多い。先にお伝えすることで、安心して返信いただける。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「新着のお知らせ」を先に出す理由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応募が終わっても、また仕事を探す時期が来る。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新着が届く理由があれば、友だちのまま残る。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5問にする理由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589698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エリア・職種・時給・曜日・働き方の5つに絞る。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選択式で30秒ほど。その場で答えていただける。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画面はイメージ。文面・ボタン名は貴社のサービスに合わせて調整する</a:t>
            </a:r>
          </a:p>
        </p:txBody>
      </p:sp>
      <p:pic>
        <p:nvPicPr>
          <p:cNvPr id="16" name="Picture 15" descr="人材A_トーク_あいさつ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4F050509-A9EB-2806-F5E0-B1D74FF6C7D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2000" y="1401848"/>
            <a:ext cx="3180000" cy="477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DF4070-0F2B-474C-0AD3-89D288BF8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35E6F5D8-69FF-EC49-F89A-79FBF097914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［第4章］希望条件（5問）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8DA9D746-57D8-A7F9-7048-09DA5704460D}"/>
              </a:ext>
            </a:extLst>
          </p:cNvPr>
          <p:cNvSpPr txBox="1"/>
          <p:nvPr/>
        </p:nvSpPr>
        <p:spPr>
          <a:xfrm>
            <a:off x="309397" y="642796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応募の直後に、エリア・職種・時給・曜日・働き方を30秒で伺う。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経歴は伺わない。答えやすい5問で、その後にお届けする求人を決める。</a:t>
            </a:r>
          </a:p>
        </p:txBody>
      </p:sp>
      <p:sp>
        <p:nvSpPr>
          <p:cNvPr id="41" name="Shape 2">
            <a:extLst>
              <a:ext uri="{FF2B5EF4-FFF2-40B4-BE49-F238E27FC236}">
                <a16:creationId xmlns:a16="http://schemas.microsoft.com/office/drawing/2014/main" id="{72992F6A-FF2A-7ECF-0D33-F6529A528B57}"/>
              </a:ext>
            </a:extLst>
          </p:cNvPr>
          <p:cNvSpPr/>
          <p:nvPr/>
        </p:nvSpPr>
        <p:spPr>
          <a:xfrm>
            <a:off x="775063" y="1722373"/>
            <a:ext cx="841248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Text 3">
            <a:extLst>
              <a:ext uri="{FF2B5EF4-FFF2-40B4-BE49-F238E27FC236}">
                <a16:creationId xmlns:a16="http://schemas.microsoft.com/office/drawing/2014/main" id="{190E6A1A-C1DD-4C8E-3197-5AD6F8426871}"/>
              </a:ext>
            </a:extLst>
          </p:cNvPr>
          <p:cNvSpPr/>
          <p:nvPr/>
        </p:nvSpPr>
        <p:spPr>
          <a:xfrm>
            <a:off x="957943" y="1722373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目的：希望条件を伺い、条件に合う新着求人だけをお届けする（全員に同じ求人を送らない）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Shape 4">
            <a:extLst>
              <a:ext uri="{FF2B5EF4-FFF2-40B4-BE49-F238E27FC236}">
                <a16:creationId xmlns:a16="http://schemas.microsoft.com/office/drawing/2014/main" id="{D015C19B-5468-998D-251F-6B1B6959CE07}"/>
              </a:ext>
            </a:extLst>
          </p:cNvPr>
          <p:cNvSpPr/>
          <p:nvPr/>
        </p:nvSpPr>
        <p:spPr>
          <a:xfrm>
            <a:off x="775063" y="23167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4" name="Shape 5">
            <a:extLst>
              <a:ext uri="{FF2B5EF4-FFF2-40B4-BE49-F238E27FC236}">
                <a16:creationId xmlns:a16="http://schemas.microsoft.com/office/drawing/2014/main" id="{414FEA14-8392-6B62-876D-80318C415543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5" name="Text 6">
            <a:extLst>
              <a:ext uri="{FF2B5EF4-FFF2-40B4-BE49-F238E27FC236}">
                <a16:creationId xmlns:a16="http://schemas.microsoft.com/office/drawing/2014/main" id="{F75BBB7C-7CE8-CD05-76B4-8EAB532092DA}"/>
              </a:ext>
            </a:extLst>
          </p:cNvPr>
          <p:cNvSpPr/>
          <p:nvPr/>
        </p:nvSpPr>
        <p:spPr>
          <a:xfrm>
            <a:off x="848215" y="24264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6" name="Text 7">
            <a:extLst>
              <a:ext uri="{FF2B5EF4-FFF2-40B4-BE49-F238E27FC236}">
                <a16:creationId xmlns:a16="http://schemas.microsoft.com/office/drawing/2014/main" id="{1A4AA2AA-6FF8-3D30-B16C-44EC5F2961CD}"/>
              </a:ext>
            </a:extLst>
          </p:cNvPr>
          <p:cNvSpPr/>
          <p:nvPr/>
        </p:nvSpPr>
        <p:spPr>
          <a:xfrm>
            <a:off x="1250551" y="23624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Q1. 働きたいエリアは？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Text 8">
            <a:extLst>
              <a:ext uri="{FF2B5EF4-FFF2-40B4-BE49-F238E27FC236}">
                <a16:creationId xmlns:a16="http://schemas.microsoft.com/office/drawing/2014/main" id="{7A1F59F1-0B49-73D0-38BD-9948F9A63985}"/>
              </a:ext>
            </a:extLst>
          </p:cNvPr>
          <p:cNvSpPr/>
          <p:nvPr/>
        </p:nvSpPr>
        <p:spPr>
          <a:xfrm>
            <a:off x="1250551" y="26276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最寄り駅から選ぶ　B) 市区町村から選ぶ　C) 在宅がいい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8" name="Shape 9">
            <a:extLst>
              <a:ext uri="{FF2B5EF4-FFF2-40B4-BE49-F238E27FC236}">
                <a16:creationId xmlns:a16="http://schemas.microsoft.com/office/drawing/2014/main" id="{03F3B165-CA3D-3804-AA50-7C78C7C7EB79}"/>
              </a:ext>
            </a:extLst>
          </p:cNvPr>
          <p:cNvSpPr/>
          <p:nvPr/>
        </p:nvSpPr>
        <p:spPr>
          <a:xfrm>
            <a:off x="6444343" y="23898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9" name="Text 10">
            <a:extLst>
              <a:ext uri="{FF2B5EF4-FFF2-40B4-BE49-F238E27FC236}">
                <a16:creationId xmlns:a16="http://schemas.microsoft.com/office/drawing/2014/main" id="{DF68B239-8CBC-8341-BA16-8510179A4777}"/>
              </a:ext>
            </a:extLst>
          </p:cNvPr>
          <p:cNvSpPr/>
          <p:nvPr/>
        </p:nvSpPr>
        <p:spPr>
          <a:xfrm>
            <a:off x="6490063" y="23898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最寄り駅・市区町村で出し分ける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Shape 11">
            <a:extLst>
              <a:ext uri="{FF2B5EF4-FFF2-40B4-BE49-F238E27FC236}">
                <a16:creationId xmlns:a16="http://schemas.microsoft.com/office/drawing/2014/main" id="{CEC57A7B-58B4-1F60-CC69-2D9C22413BEF}"/>
              </a:ext>
            </a:extLst>
          </p:cNvPr>
          <p:cNvSpPr/>
          <p:nvPr/>
        </p:nvSpPr>
        <p:spPr>
          <a:xfrm>
            <a:off x="775063" y="3002532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1" name="Shape 12">
            <a:extLst>
              <a:ext uri="{FF2B5EF4-FFF2-40B4-BE49-F238E27FC236}">
                <a16:creationId xmlns:a16="http://schemas.microsoft.com/office/drawing/2014/main" id="{0FF9816E-5F43-9459-6349-51431111FD45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Text 13">
            <a:extLst>
              <a:ext uri="{FF2B5EF4-FFF2-40B4-BE49-F238E27FC236}">
                <a16:creationId xmlns:a16="http://schemas.microsoft.com/office/drawing/2014/main" id="{2BF8E88C-4FC5-B1C2-A8E8-D33029A55D78}"/>
              </a:ext>
            </a:extLst>
          </p:cNvPr>
          <p:cNvSpPr/>
          <p:nvPr/>
        </p:nvSpPr>
        <p:spPr>
          <a:xfrm>
            <a:off x="848215" y="31122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3" name="Text 14">
            <a:extLst>
              <a:ext uri="{FF2B5EF4-FFF2-40B4-BE49-F238E27FC236}">
                <a16:creationId xmlns:a16="http://schemas.microsoft.com/office/drawing/2014/main" id="{4AB095EB-AFFB-C1EB-53C1-4C882C450F66}"/>
              </a:ext>
            </a:extLst>
          </p:cNvPr>
          <p:cNvSpPr/>
          <p:nvPr/>
        </p:nvSpPr>
        <p:spPr>
          <a:xfrm>
            <a:off x="1250551" y="30482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Q2. 希望の職種は？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Text 15">
            <a:extLst>
              <a:ext uri="{FF2B5EF4-FFF2-40B4-BE49-F238E27FC236}">
                <a16:creationId xmlns:a16="http://schemas.microsoft.com/office/drawing/2014/main" id="{C6FBF75D-9A2C-AB9C-797C-A65992057C82}"/>
              </a:ext>
            </a:extLst>
          </p:cNvPr>
          <p:cNvSpPr/>
          <p:nvPr/>
        </p:nvSpPr>
        <p:spPr>
          <a:xfrm>
            <a:off x="1250551" y="3313428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事務　B) 軽作業・倉庫　C) 販売・飲食　D) その他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5" name="Shape 16">
            <a:extLst>
              <a:ext uri="{FF2B5EF4-FFF2-40B4-BE49-F238E27FC236}">
                <a16:creationId xmlns:a16="http://schemas.microsoft.com/office/drawing/2014/main" id="{8B4031C1-8F8E-5381-AAC9-77A14A56B7F6}"/>
              </a:ext>
            </a:extLst>
          </p:cNvPr>
          <p:cNvSpPr/>
          <p:nvPr/>
        </p:nvSpPr>
        <p:spPr>
          <a:xfrm>
            <a:off x="6444343" y="30756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6" name="Text 17">
            <a:extLst>
              <a:ext uri="{FF2B5EF4-FFF2-40B4-BE49-F238E27FC236}">
                <a16:creationId xmlns:a16="http://schemas.microsoft.com/office/drawing/2014/main" id="{35FE734F-4C1A-3B7B-8AA4-C2546973E56B}"/>
              </a:ext>
            </a:extLst>
          </p:cNvPr>
          <p:cNvSpPr/>
          <p:nvPr/>
        </p:nvSpPr>
        <p:spPr>
          <a:xfrm>
            <a:off x="6490063" y="30756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新着の出し分けの軸になる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7" name="Shape 18">
            <a:extLst>
              <a:ext uri="{FF2B5EF4-FFF2-40B4-BE49-F238E27FC236}">
                <a16:creationId xmlns:a16="http://schemas.microsoft.com/office/drawing/2014/main" id="{77F0529F-1B78-5C45-07C3-2B6DD4A77258}"/>
              </a:ext>
            </a:extLst>
          </p:cNvPr>
          <p:cNvSpPr/>
          <p:nvPr/>
        </p:nvSpPr>
        <p:spPr>
          <a:xfrm>
            <a:off x="775063" y="36883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8" name="Shape 19">
            <a:extLst>
              <a:ext uri="{FF2B5EF4-FFF2-40B4-BE49-F238E27FC236}">
                <a16:creationId xmlns:a16="http://schemas.microsoft.com/office/drawing/2014/main" id="{5CB9124D-3C60-302E-AD9D-68ADA9CED3C8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9" name="Text 20">
            <a:extLst>
              <a:ext uri="{FF2B5EF4-FFF2-40B4-BE49-F238E27FC236}">
                <a16:creationId xmlns:a16="http://schemas.microsoft.com/office/drawing/2014/main" id="{DD06F576-0404-24E3-3484-9A5F77A77D7A}"/>
              </a:ext>
            </a:extLst>
          </p:cNvPr>
          <p:cNvSpPr/>
          <p:nvPr/>
        </p:nvSpPr>
        <p:spPr>
          <a:xfrm>
            <a:off x="848215" y="37980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3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0" name="Text 21">
            <a:extLst>
              <a:ext uri="{FF2B5EF4-FFF2-40B4-BE49-F238E27FC236}">
                <a16:creationId xmlns:a16="http://schemas.microsoft.com/office/drawing/2014/main" id="{362B56FE-0308-5ACA-794F-33A473A74E16}"/>
              </a:ext>
            </a:extLst>
          </p:cNvPr>
          <p:cNvSpPr/>
          <p:nvPr/>
        </p:nvSpPr>
        <p:spPr>
          <a:xfrm>
            <a:off x="1250551" y="3734052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Q3. 希望の時給は？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1" name="Text 22">
            <a:extLst>
              <a:ext uri="{FF2B5EF4-FFF2-40B4-BE49-F238E27FC236}">
                <a16:creationId xmlns:a16="http://schemas.microsoft.com/office/drawing/2014/main" id="{CECF4E63-76E9-FEA5-7805-491752940936}"/>
              </a:ext>
            </a:extLst>
          </p:cNvPr>
          <p:cNvSpPr/>
          <p:nvPr/>
        </p:nvSpPr>
        <p:spPr>
          <a:xfrm>
            <a:off x="1250551" y="39992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1,200円未満　B) 1,200〜1,499円　C) 1,500〜1,799円　D) 1,800円〜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2" name="Shape 23">
            <a:extLst>
              <a:ext uri="{FF2B5EF4-FFF2-40B4-BE49-F238E27FC236}">
                <a16:creationId xmlns:a16="http://schemas.microsoft.com/office/drawing/2014/main" id="{DBA9622A-FDA2-1DDD-FBA3-73C50D3AB695}"/>
              </a:ext>
            </a:extLst>
          </p:cNvPr>
          <p:cNvSpPr/>
          <p:nvPr/>
        </p:nvSpPr>
        <p:spPr>
          <a:xfrm>
            <a:off x="6444343" y="3761484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Text 24">
            <a:extLst>
              <a:ext uri="{FF2B5EF4-FFF2-40B4-BE49-F238E27FC236}">
                <a16:creationId xmlns:a16="http://schemas.microsoft.com/office/drawing/2014/main" id="{C60B9780-970F-8551-EE91-8044786C7B7C}"/>
              </a:ext>
            </a:extLst>
          </p:cNvPr>
          <p:cNvSpPr/>
          <p:nvPr/>
        </p:nvSpPr>
        <p:spPr>
          <a:xfrm>
            <a:off x="6490063" y="3761484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Day2「時給の相場」の軸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4" name="Shape 25">
            <a:extLst>
              <a:ext uri="{FF2B5EF4-FFF2-40B4-BE49-F238E27FC236}">
                <a16:creationId xmlns:a16="http://schemas.microsoft.com/office/drawing/2014/main" id="{E6646D0D-AC17-9974-8BF6-E0C26901E16D}"/>
              </a:ext>
            </a:extLst>
          </p:cNvPr>
          <p:cNvSpPr/>
          <p:nvPr/>
        </p:nvSpPr>
        <p:spPr>
          <a:xfrm>
            <a:off x="775063" y="43741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FFF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5" name="Shape 26">
            <a:extLst>
              <a:ext uri="{FF2B5EF4-FFF2-40B4-BE49-F238E27FC236}">
                <a16:creationId xmlns:a16="http://schemas.microsoft.com/office/drawing/2014/main" id="{86330F7C-C512-505C-521A-A5D1453510E6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6" name="Text 27">
            <a:extLst>
              <a:ext uri="{FF2B5EF4-FFF2-40B4-BE49-F238E27FC236}">
                <a16:creationId xmlns:a16="http://schemas.microsoft.com/office/drawing/2014/main" id="{8A40057C-798D-FCB7-8B6B-C2507589C664}"/>
              </a:ext>
            </a:extLst>
          </p:cNvPr>
          <p:cNvSpPr/>
          <p:nvPr/>
        </p:nvSpPr>
        <p:spPr>
          <a:xfrm>
            <a:off x="848215" y="4483861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7" name="Text 28">
            <a:extLst>
              <a:ext uri="{FF2B5EF4-FFF2-40B4-BE49-F238E27FC236}">
                <a16:creationId xmlns:a16="http://schemas.microsoft.com/office/drawing/2014/main" id="{FB185C3E-B3C3-8368-764A-0E889BE9E1DC}"/>
              </a:ext>
            </a:extLst>
          </p:cNvPr>
          <p:cNvSpPr/>
          <p:nvPr/>
        </p:nvSpPr>
        <p:spPr>
          <a:xfrm>
            <a:off x="1250551" y="44198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Q4. 働ける曜日・時間帯は？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8" name="Text 29">
            <a:extLst>
              <a:ext uri="{FF2B5EF4-FFF2-40B4-BE49-F238E27FC236}">
                <a16:creationId xmlns:a16="http://schemas.microsoft.com/office/drawing/2014/main" id="{83A0111B-6C16-924D-2F24-F3322312058F}"/>
              </a:ext>
            </a:extLst>
          </p:cNvPr>
          <p:cNvSpPr/>
          <p:nvPr/>
        </p:nvSpPr>
        <p:spPr>
          <a:xfrm>
            <a:off x="1250551" y="46850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平日の日中　B) 平日の夜　C) 土日　D) 曜日は問わない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9" name="Shape 30">
            <a:extLst>
              <a:ext uri="{FF2B5EF4-FFF2-40B4-BE49-F238E27FC236}">
                <a16:creationId xmlns:a16="http://schemas.microsoft.com/office/drawing/2014/main" id="{B12A9147-2862-DE3E-8AA5-154403D7E2E5}"/>
              </a:ext>
            </a:extLst>
          </p:cNvPr>
          <p:cNvSpPr/>
          <p:nvPr/>
        </p:nvSpPr>
        <p:spPr>
          <a:xfrm>
            <a:off x="6444343" y="44472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0" name="Text 31">
            <a:extLst>
              <a:ext uri="{FF2B5EF4-FFF2-40B4-BE49-F238E27FC236}">
                <a16:creationId xmlns:a16="http://schemas.microsoft.com/office/drawing/2014/main" id="{B1610132-9C94-4121-0174-5C4B56C1E9C4}"/>
              </a:ext>
            </a:extLst>
          </p:cNvPr>
          <p:cNvSpPr/>
          <p:nvPr/>
        </p:nvSpPr>
        <p:spPr>
          <a:xfrm>
            <a:off x="6490063" y="44472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100" dirty="0" err="1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「今日から働ける」求人を絞る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1" name="Shape 32">
            <a:extLst>
              <a:ext uri="{FF2B5EF4-FFF2-40B4-BE49-F238E27FC236}">
                <a16:creationId xmlns:a16="http://schemas.microsoft.com/office/drawing/2014/main" id="{5E0CF565-2E70-3594-94E3-B92DBA09CE1D}"/>
              </a:ext>
            </a:extLst>
          </p:cNvPr>
          <p:cNvSpPr/>
          <p:nvPr/>
        </p:nvSpPr>
        <p:spPr>
          <a:xfrm>
            <a:off x="775063" y="5059933"/>
            <a:ext cx="8412480" cy="621792"/>
          </a:xfrm>
          <a:prstGeom prst="roundRect">
            <a:avLst>
              <a:gd name="adj" fmla="val 10294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2" name="Shape 33">
            <a:extLst>
              <a:ext uri="{FF2B5EF4-FFF2-40B4-BE49-F238E27FC236}">
                <a16:creationId xmlns:a16="http://schemas.microsoft.com/office/drawing/2014/main" id="{C3888C1F-7E31-5CB5-DB8C-6376B4A23075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3" name="Text 34">
            <a:extLst>
              <a:ext uri="{FF2B5EF4-FFF2-40B4-BE49-F238E27FC236}">
                <a16:creationId xmlns:a16="http://schemas.microsoft.com/office/drawing/2014/main" id="{59588FF7-10F6-8141-4359-836B851E5424}"/>
              </a:ext>
            </a:extLst>
          </p:cNvPr>
          <p:cNvSpPr/>
          <p:nvPr/>
        </p:nvSpPr>
        <p:spPr>
          <a:xfrm>
            <a:off x="848215" y="5169660"/>
            <a:ext cx="329184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5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4" name="Text 35">
            <a:extLst>
              <a:ext uri="{FF2B5EF4-FFF2-40B4-BE49-F238E27FC236}">
                <a16:creationId xmlns:a16="http://schemas.microsoft.com/office/drawing/2014/main" id="{C5CFC561-6A8F-BACD-E02C-A277E8A3063E}"/>
              </a:ext>
            </a:extLst>
          </p:cNvPr>
          <p:cNvSpPr/>
          <p:nvPr/>
        </p:nvSpPr>
        <p:spPr>
          <a:xfrm>
            <a:off x="1250551" y="5105653"/>
            <a:ext cx="5303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Q5. 希望の働き方は？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BE1F2F6E-238F-21D4-40A5-BD1CB63C8953}"/>
              </a:ext>
            </a:extLst>
          </p:cNvPr>
          <p:cNvSpPr/>
          <p:nvPr/>
        </p:nvSpPr>
        <p:spPr>
          <a:xfrm>
            <a:off x="1250551" y="5370829"/>
            <a:ext cx="5138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altLang="ja-JP" sz="1050">
                <a:solidFill>
                  <a:srgbClr val="64748B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A) 派遣　B) バイト・パート　C) 単発・日払い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6" name="Shape 37">
            <a:extLst>
              <a:ext uri="{FF2B5EF4-FFF2-40B4-BE49-F238E27FC236}">
                <a16:creationId xmlns:a16="http://schemas.microsoft.com/office/drawing/2014/main" id="{E835EF93-AE65-C080-A583-076B9485CC6B}"/>
              </a:ext>
            </a:extLst>
          </p:cNvPr>
          <p:cNvSpPr/>
          <p:nvPr/>
        </p:nvSpPr>
        <p:spPr>
          <a:xfrm>
            <a:off x="6444343" y="5133085"/>
            <a:ext cx="274320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7" name="Text 38">
            <a:extLst>
              <a:ext uri="{FF2B5EF4-FFF2-40B4-BE49-F238E27FC236}">
                <a16:creationId xmlns:a16="http://schemas.microsoft.com/office/drawing/2014/main" id="{4E76941A-97E1-A80A-F7B6-9B05D68E1AA2}"/>
              </a:ext>
            </a:extLst>
          </p:cNvPr>
          <p:cNvSpPr/>
          <p:nvPr/>
        </p:nvSpPr>
        <p:spPr>
          <a:xfrm>
            <a:off x="6490063" y="5133085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ja-JP" altLang="en-US" sz="110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「単発」は新着配信のみ（派遣を基準に設計）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B080DFA3-5E6A-7CB9-A83C-9D87074C7C62}"/>
              </a:ext>
            </a:extLst>
          </p:cNvPr>
          <p:cNvSpPr/>
          <p:nvPr/>
        </p:nvSpPr>
        <p:spPr>
          <a:xfrm>
            <a:off x="167640" y="1572768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FDC81EE9-FE25-DEA2-3BE6-5D4BC6729956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9010635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57152"/>
            <a:ext cx="7920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dirty="0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［第4章］構築｜リッチメニュー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求人を探す入口と、応募前の不安を減らすボタンを並べる。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画面はイメージ。ボタン名は運用しながら調整する</a:t>
            </a:r>
          </a:p>
        </p:txBody>
      </p:sp>
      <p:pic>
        <p:nvPicPr>
          <p:cNvPr id="27" name="Picture 26" descr="haken_richmenu_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625" y="1287533"/>
            <a:ext cx="2844770" cy="4572000"/>
          </a:xfrm>
          <a:prstGeom prst="rect">
            <a:avLst/>
          </a:prstGeom>
        </p:spPr>
      </p:pic>
      <p:cxnSp>
        <p:nvCxnSpPr>
          <p:cNvPr id="28" name="Connector 27"/>
          <p:cNvCxnSpPr>
            <a:cxnSpLocks/>
          </p:cNvCxnSpPr>
          <p:nvPr/>
        </p:nvCxnSpPr>
        <p:spPr>
          <a:xfrm>
            <a:off x="3611702" y="3986136"/>
            <a:ext cx="507028" cy="0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140131" y="3643599"/>
            <a:ext cx="2029011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探す・進む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条件に合う求人を探し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応募・登録はサイトで行う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1" name="Connector 30"/>
          <p:cNvCxnSpPr>
            <a:cxnSpLocks/>
          </p:cNvCxnSpPr>
          <p:nvPr/>
        </p:nvCxnSpPr>
        <p:spPr>
          <a:xfrm flipV="1">
            <a:off x="3611702" y="4842946"/>
            <a:ext cx="507028" cy="1"/>
          </a:xfrm>
          <a:prstGeom prst="line">
            <a:avLst/>
          </a:prstGeom>
          <a:ln w="12700">
            <a:solidFill>
              <a:srgbClr val="A6A6A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118730" y="4500410"/>
            <a:ext cx="1937847" cy="687121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不安を減らす</a:t>
            </a:r>
            <a:endParaRPr sz="1400" b="1" dirty="0">
              <a:solidFill>
                <a:srgbClr val="1E2761"/>
              </a:solidFill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職場や働き方の疑問に</a:t>
            </a:r>
            <a:r>
              <a:rPr sz="1200" b="0" dirty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200" b="0" dirty="0" err="1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応募の前にお答えする</a:t>
            </a:r>
            <a:endParaRPr sz="1200" b="0" dirty="0">
              <a:solidFill>
                <a:srgbClr val="64748B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DF9D0CBE-306A-322A-82C9-550529049B96}"/>
              </a:ext>
            </a:extLst>
          </p:cNvPr>
          <p:cNvSpPr txBox="1"/>
          <p:nvPr/>
        </p:nvSpPr>
        <p:spPr>
          <a:xfrm>
            <a:off x="6169142" y="1873884"/>
            <a:ext cx="384942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探す・進む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仕事情報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⇒条件に合う求人を探す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（応募はサイトで行う）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マイページ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⇒希望条件や応募状況を確認する</a:t>
            </a:r>
          </a:p>
          <a:p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Web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登録・来社予約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⇒登録の手続き・来社の予約に進む</a:t>
            </a:r>
          </a:p>
          <a:p>
            <a:endParaRPr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不安を減らす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⇒仕事内容・給与・職場見学の疑問に答える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社員インタビュー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⇒実際に働く方の声で職場を知る</a:t>
            </a: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en-US" altLang="ja-JP" sz="14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⇒電話以外に、</a:t>
            </a:r>
            <a:r>
              <a:rPr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でも相談できる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567DEB-0D7B-8670-6390-E396B1D536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D55786A2-F100-6AA6-4BA2-C612ABD2107D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［第4章］配信設計｜追加後15日でアクティブ率が落ちる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E9062440-B6A0-85EE-461D-E9A5F53310B0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CCEADF0C-2806-160C-2545-0CBF2DE16851}"/>
              </a:ext>
            </a:extLst>
          </p:cNvPr>
          <p:cNvSpPr txBox="1"/>
          <p:nvPr/>
        </p:nvSpPr>
        <p:spPr>
          <a:xfrm>
            <a:off x="1988819" y="736332"/>
            <a:ext cx="7917181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友だち追加から15日ほどで反応が下がり、ブロックも増えやすい。</a:t>
            </a:r>
          </a:p>
          <a:p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そのため、最初の14日間のステップ配信を先に整える。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Meiryo"/>
              <a:sym typeface="Meiryo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99FD372-1931-8AF9-6FBE-007F188CE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4710" y="1746287"/>
            <a:ext cx="582602" cy="543237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0DDBD12-962F-75E1-F777-2A8CB1A1A43C}"/>
              </a:ext>
            </a:extLst>
          </p:cNvPr>
          <p:cNvSpPr/>
          <p:nvPr/>
        </p:nvSpPr>
        <p:spPr>
          <a:xfrm>
            <a:off x="2232491" y="1817608"/>
            <a:ext cx="5694068" cy="40059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</a:p>
        </p:txBody>
      </p:sp>
      <p:sp>
        <p:nvSpPr>
          <p:cNvPr id="16" name="矢印: 下 15">
            <a:extLst>
              <a:ext uri="{FF2B5EF4-FFF2-40B4-BE49-F238E27FC236}">
                <a16:creationId xmlns:a16="http://schemas.microsoft.com/office/drawing/2014/main" id="{96A68A56-39E1-8BAC-2C49-CC19FBEC68F7}"/>
              </a:ext>
            </a:extLst>
          </p:cNvPr>
          <p:cNvSpPr/>
          <p:nvPr/>
        </p:nvSpPr>
        <p:spPr>
          <a:xfrm>
            <a:off x="6666282" y="2317059"/>
            <a:ext cx="470263" cy="1837509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99B7760-FDC6-B260-9507-F94BFB256854}"/>
              </a:ext>
            </a:extLst>
          </p:cNvPr>
          <p:cNvCxnSpPr>
            <a:cxnSpLocks/>
          </p:cNvCxnSpPr>
          <p:nvPr/>
        </p:nvCxnSpPr>
        <p:spPr>
          <a:xfrm>
            <a:off x="1603884" y="4293068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矢印: 下 21">
            <a:extLst>
              <a:ext uri="{FF2B5EF4-FFF2-40B4-BE49-F238E27FC236}">
                <a16:creationId xmlns:a16="http://schemas.microsoft.com/office/drawing/2014/main" id="{57EAA642-99EB-D59A-CA2D-CF128F520650}"/>
              </a:ext>
            </a:extLst>
          </p:cNvPr>
          <p:cNvSpPr/>
          <p:nvPr/>
        </p:nvSpPr>
        <p:spPr>
          <a:xfrm>
            <a:off x="6666281" y="4376126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3" name="直線コネクタ 22">
            <a:extLst>
              <a:ext uri="{FF2B5EF4-FFF2-40B4-BE49-F238E27FC236}">
                <a16:creationId xmlns:a16="http://schemas.microsoft.com/office/drawing/2014/main" id="{FC84D888-2F3B-56B2-6D8B-43495766B724}"/>
              </a:ext>
            </a:extLst>
          </p:cNvPr>
          <p:cNvCxnSpPr>
            <a:cxnSpLocks/>
          </p:cNvCxnSpPr>
          <p:nvPr/>
        </p:nvCxnSpPr>
        <p:spPr>
          <a:xfrm>
            <a:off x="1603884" y="5394656"/>
            <a:ext cx="6889823" cy="0"/>
          </a:xfrm>
          <a:prstGeom prst="line">
            <a:avLst/>
          </a:prstGeom>
          <a:ln w="6350">
            <a:solidFill>
              <a:schemeClr val="tx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2DDEE958-B9A4-B3B7-0AB5-40E083E922F6}"/>
              </a:ext>
            </a:extLst>
          </p:cNvPr>
          <p:cNvSpPr txBox="1"/>
          <p:nvPr/>
        </p:nvSpPr>
        <p:spPr>
          <a:xfrm>
            <a:off x="887729" y="4154568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15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99B2BE93-6AC1-B592-319F-2D44EB64DCDF}"/>
              </a:ext>
            </a:extLst>
          </p:cNvPr>
          <p:cNvSpPr txBox="1"/>
          <p:nvPr/>
        </p:nvSpPr>
        <p:spPr>
          <a:xfrm>
            <a:off x="887729" y="5258075"/>
            <a:ext cx="496388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30</a:t>
            </a:r>
            <a:r>
              <a:rPr lang="ja-JP" altLang="en-US" sz="1400" b="1" dirty="0"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日後</a:t>
            </a:r>
            <a:endParaRPr lang="ja-JP" altLang="en-US" sz="1400" dirty="0"/>
          </a:p>
        </p:txBody>
      </p:sp>
      <p:sp>
        <p:nvSpPr>
          <p:cNvPr id="32" name="矢印: 下 31">
            <a:extLst>
              <a:ext uri="{FF2B5EF4-FFF2-40B4-BE49-F238E27FC236}">
                <a16:creationId xmlns:a16="http://schemas.microsoft.com/office/drawing/2014/main" id="{F0BAD90B-19DF-C716-880C-57948735A10E}"/>
              </a:ext>
            </a:extLst>
          </p:cNvPr>
          <p:cNvSpPr/>
          <p:nvPr/>
        </p:nvSpPr>
        <p:spPr>
          <a:xfrm>
            <a:off x="6666281" y="5477713"/>
            <a:ext cx="470263" cy="880030"/>
          </a:xfrm>
          <a:prstGeom prst="downArrow">
            <a:avLst>
              <a:gd name="adj1" fmla="val 50000"/>
              <a:gd name="adj2" fmla="val 110764"/>
            </a:avLst>
          </a:prstGeom>
          <a:gradFill>
            <a:gsLst>
              <a:gs pos="0">
                <a:srgbClr val="1E2761"/>
              </a:gs>
              <a:gs pos="100000">
                <a:schemeClr val="bg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3" name="直角三角形 32">
            <a:extLst>
              <a:ext uri="{FF2B5EF4-FFF2-40B4-BE49-F238E27FC236}">
                <a16:creationId xmlns:a16="http://schemas.microsoft.com/office/drawing/2014/main" id="{21D9755D-523C-2A6A-B045-29C102846ABF}"/>
              </a:ext>
            </a:extLst>
          </p:cNvPr>
          <p:cNvSpPr/>
          <p:nvPr/>
        </p:nvSpPr>
        <p:spPr>
          <a:xfrm flipV="1">
            <a:off x="7837714" y="2289524"/>
            <a:ext cx="1244098" cy="3105132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6796F30-9C92-1751-9461-7D96ED3FD472}"/>
              </a:ext>
            </a:extLst>
          </p:cNvPr>
          <p:cNvSpPr txBox="1"/>
          <p:nvPr/>
        </p:nvSpPr>
        <p:spPr>
          <a:xfrm>
            <a:off x="7376370" y="2507385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アクティブ率：高</a:t>
            </a:r>
          </a:p>
        </p:txBody>
      </p:sp>
      <p:sp>
        <p:nvSpPr>
          <p:cNvPr id="45" name="直角三角形 44">
            <a:extLst>
              <a:ext uri="{FF2B5EF4-FFF2-40B4-BE49-F238E27FC236}">
                <a16:creationId xmlns:a16="http://schemas.microsoft.com/office/drawing/2014/main" id="{70153691-BF19-7E23-69C7-A1735ED95D0B}"/>
              </a:ext>
            </a:extLst>
          </p:cNvPr>
          <p:cNvSpPr/>
          <p:nvPr/>
        </p:nvSpPr>
        <p:spPr>
          <a:xfrm flipV="1">
            <a:off x="7837713" y="5403361"/>
            <a:ext cx="399367" cy="946289"/>
          </a:xfrm>
          <a:prstGeom prst="rtTriangle">
            <a:avLst/>
          </a:prstGeom>
          <a:solidFill>
            <a:srgbClr val="1E2761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dirty="0">
              <a:solidFill>
                <a:srgbClr val="1E2761"/>
              </a:solidFill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39E95A0F-F089-7BBE-05C6-60749997D8B5}"/>
              </a:ext>
            </a:extLst>
          </p:cNvPr>
          <p:cNvSpPr txBox="1"/>
          <p:nvPr/>
        </p:nvSpPr>
        <p:spPr>
          <a:xfrm>
            <a:off x="7376370" y="4777647"/>
            <a:ext cx="210459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ja-JP" altLang="en-US" sz="120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アクティブ率：低</a:t>
            </a:r>
          </a:p>
        </p:txBody>
      </p:sp>
      <p:sp>
        <p:nvSpPr>
          <p:cNvPr id="51" name="正方形/長方形 50">
            <a:extLst>
              <a:ext uri="{FF2B5EF4-FFF2-40B4-BE49-F238E27FC236}">
                <a16:creationId xmlns:a16="http://schemas.microsoft.com/office/drawing/2014/main" id="{6E8EECEE-A26C-FE65-851C-D89DA2943DDA}"/>
              </a:ext>
            </a:extLst>
          </p:cNvPr>
          <p:cNvSpPr/>
          <p:nvPr/>
        </p:nvSpPr>
        <p:spPr>
          <a:xfrm>
            <a:off x="4822207" y="3086837"/>
            <a:ext cx="1653346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ステップ配信</a:t>
            </a:r>
          </a:p>
        </p:txBody>
      </p:sp>
      <p:sp>
        <p:nvSpPr>
          <p:cNvPr id="53" name="正方形/長方形 52">
            <a:extLst>
              <a:ext uri="{FF2B5EF4-FFF2-40B4-BE49-F238E27FC236}">
                <a16:creationId xmlns:a16="http://schemas.microsoft.com/office/drawing/2014/main" id="{81454DD3-4503-BFE5-0C14-038581D067FE}"/>
              </a:ext>
            </a:extLst>
          </p:cNvPr>
          <p:cNvSpPr/>
          <p:nvPr/>
        </p:nvSpPr>
        <p:spPr>
          <a:xfrm>
            <a:off x="2232491" y="2685169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希望条件（5問）</a:t>
            </a:r>
          </a:p>
        </p:txBody>
      </p:sp>
      <p:sp>
        <p:nvSpPr>
          <p:cNvPr id="55" name="正方形/長方形 54">
            <a:extLst>
              <a:ext uri="{FF2B5EF4-FFF2-40B4-BE49-F238E27FC236}">
                <a16:creationId xmlns:a16="http://schemas.microsoft.com/office/drawing/2014/main" id="{50620861-661B-61FD-CF03-A1B419A375AE}"/>
              </a:ext>
            </a:extLst>
          </p:cNvPr>
          <p:cNvSpPr/>
          <p:nvPr/>
        </p:nvSpPr>
        <p:spPr>
          <a:xfrm>
            <a:off x="2326221" y="3086838"/>
            <a:ext cx="2411242" cy="217314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企画配信</a:t>
            </a:r>
          </a:p>
        </p:txBody>
      </p:sp>
      <p:sp>
        <p:nvSpPr>
          <p:cNvPr id="57" name="正方形/長方形 56">
            <a:extLst>
              <a:ext uri="{FF2B5EF4-FFF2-40B4-BE49-F238E27FC236}">
                <a16:creationId xmlns:a16="http://schemas.microsoft.com/office/drawing/2014/main" id="{4459A76C-C890-8CC0-17D9-2EF08525C001}"/>
              </a:ext>
            </a:extLst>
          </p:cNvPr>
          <p:cNvSpPr/>
          <p:nvPr/>
        </p:nvSpPr>
        <p:spPr>
          <a:xfrm>
            <a:off x="2232491" y="5442735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時期に合わせた配信</a:t>
            </a:r>
          </a:p>
        </p:txBody>
      </p:sp>
      <p:sp>
        <p:nvSpPr>
          <p:cNvPr id="65" name="正方形/長方形 64">
            <a:extLst>
              <a:ext uri="{FF2B5EF4-FFF2-40B4-BE49-F238E27FC236}">
                <a16:creationId xmlns:a16="http://schemas.microsoft.com/office/drawing/2014/main" id="{A8F1D398-BD32-DDD8-1642-E52C2B235BA4}"/>
              </a:ext>
            </a:extLst>
          </p:cNvPr>
          <p:cNvSpPr/>
          <p:nvPr/>
        </p:nvSpPr>
        <p:spPr>
          <a:xfrm>
            <a:off x="2232491" y="2302562"/>
            <a:ext cx="4334226" cy="334529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あいさつメッセージ・リッチメニュー</a:t>
            </a:r>
          </a:p>
        </p:txBody>
      </p:sp>
      <p:sp>
        <p:nvSpPr>
          <p:cNvPr id="67" name="正方形/長方形 66">
            <a:extLst>
              <a:ext uri="{FF2B5EF4-FFF2-40B4-BE49-F238E27FC236}">
                <a16:creationId xmlns:a16="http://schemas.microsoft.com/office/drawing/2014/main" id="{F991B595-167D-EE44-3530-4DCE8C7B208F}"/>
              </a:ext>
            </a:extLst>
          </p:cNvPr>
          <p:cNvSpPr/>
          <p:nvPr/>
        </p:nvSpPr>
        <p:spPr>
          <a:xfrm>
            <a:off x="4822207" y="5838470"/>
            <a:ext cx="1653346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5" name="正方形/長方形 74">
            <a:extLst>
              <a:ext uri="{FF2B5EF4-FFF2-40B4-BE49-F238E27FC236}">
                <a16:creationId xmlns:a16="http://schemas.microsoft.com/office/drawing/2014/main" id="{16B28472-CB01-9D89-509B-26D59B4BA089}"/>
              </a:ext>
            </a:extLst>
          </p:cNvPr>
          <p:cNvSpPr/>
          <p:nvPr/>
        </p:nvSpPr>
        <p:spPr>
          <a:xfrm>
            <a:off x="2326221" y="5838471"/>
            <a:ext cx="2411242" cy="48978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0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1" name="正方形/長方形 80">
            <a:extLst>
              <a:ext uri="{FF2B5EF4-FFF2-40B4-BE49-F238E27FC236}">
                <a16:creationId xmlns:a16="http://schemas.microsoft.com/office/drawing/2014/main" id="{A5ED7B27-E5A3-1AD6-2F12-1265E4591B60}"/>
              </a:ext>
            </a:extLst>
          </p:cNvPr>
          <p:cNvSpPr/>
          <p:nvPr/>
        </p:nvSpPr>
        <p:spPr>
          <a:xfrm>
            <a:off x="115726" y="6285606"/>
            <a:ext cx="7578805" cy="9993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日数は目安。一般的なLINE公式アカウント運用の傾向であり、貴社の実績とは異なる場合がある</a:t>
            </a:r>
          </a:p>
        </p:txBody>
      </p:sp>
    </p:spTree>
    <p:extLst>
      <p:ext uri="{BB962C8B-B14F-4D97-AF65-F5344CB8AC3E}">
        <p14:creationId xmlns:p14="http://schemas.microsoft.com/office/powerpoint/2010/main" val="1065560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［第4章］配信設計｜14日ステップの全体像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6384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配信は、反応が高い友だち追加後の14日間で組む。求人をお届けするのはDay0とDay14だけ。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前後検索で見えた「比較 → 相場 → 続けられるか」の順に、疑問に答える。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600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6400" y="1600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役割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02400" y="1600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400" y="1600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根拠（前後検索）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781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6400" y="19781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比較の最中に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02400" y="19781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ja-JP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あいさつ＋条件5問 → 合う求人を3件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746400" y="19781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0日に派遣会社名が並ぶ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02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6400" y="2402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相場を示す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02400" y="2402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希望エリア・職種の時給の相場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46400" y="2402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+2日「派遣 時給 相場」（仮説）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277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6400" y="28277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相談先を伝える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02400" y="28277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合わなかったときの相談窓口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46400" y="28277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「派遣 契約期間内 辞める」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153600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2525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6400" y="32525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不安を解消する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02400" y="32525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職場見学・面接の流れと持ち物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46400" y="32525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+15日「派遣 職場見学」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2399" y="36773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46400" y="36773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新着の案内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02400" y="36773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今週の新着まとめ＋「条件を変える」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6400" y="36773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条件が合わないと他社へ流れる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2000" y="4003199"/>
            <a:ext cx="9043200" cy="424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82399" y="4102146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346400" y="4102146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1ヶ月前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02400" y="4102146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次のご希望は？（条件5問を再送）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46400" y="4102146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+5日「派遣 更新しない」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2399" y="4526947"/>
            <a:ext cx="76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満了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346400" y="4526947"/>
            <a:ext cx="1555199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2週間前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02400" y="4526947"/>
            <a:ext cx="364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条件に合う新着を3件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746400" y="4526947"/>
            <a:ext cx="267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次を探す方に、他社より先に届く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2000" y="5112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2000" y="5152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Day6は求人をお届けしない回にし、Day14の新着を開いていただきやすくする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Q5（働き方）の回答で配信の流れを変える。「単発・日払い」はステップ配信に入れず、新着のお知らせのみ。面接予約・就業開始など状況が変わったら、その時点で配信を切り替える。契約満了前のご案内は、満了予定日をもとにお送りす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Day0・Day6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Day0は5問の回答直後に、条件に合う求人を3件だけお届けする。Day6は求人をお届けしない。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「合わなかったら相談できる」と先に伝えることで、信頼につなげる。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Day0｜3件だけお届けする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何十件も並べず、条件に合う3件に絞る。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複数の会社を比べている方の、選ぶ手間を減らす。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Day6｜求人はお届けしない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「合わなかったときの相談先」だけを伝える。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前後検索でも「契約期間内 辞める」が調べられている。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この回の狙い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「ここなら続けられそう」と感じていただくこと。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Day14の新着を開いていただくきっかけにする。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0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［第4章］配信設計｜実文面 Day14・契約満了前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Day14は新着のまとめと「条件を変える」のご案内。契約満了の1か月前には、こちらからご案内する。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次に探し始める時期が分かるのは、就業中の方だけ。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Day14｜条件を変えられることを伝える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「応募してください」ではなく、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合わなければ条件を変えられると伝える。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満了1か月前｜先にご案内する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契約満了予定日をもとにお送りする。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他社より先に、次のご希望を伺える。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更新する方への対応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「更新する」を選んだ方は、次の満了まで通知を止める。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派遣のお仕事は1回で終わらない。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画面はイメージ。絵文字・改行・通知に表示される冒頭15字まで設計する</a:t>
            </a:r>
          </a:p>
        </p:txBody>
      </p:sp>
      <p:pic>
        <p:nvPicPr>
          <p:cNvPr id="16" name="Picture 15" descr="人材A_トーク_Day7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2000" y="1526603"/>
            <a:ext cx="3096000" cy="4644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033825-9171-A79A-31F7-FBB36FFE7B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FCD327D4-877A-97BF-5A3D-BA2BFF89C5D1}"/>
              </a:ext>
            </a:extLst>
          </p:cNvPr>
          <p:cNvSpPr txBox="1"/>
          <p:nvPr/>
        </p:nvSpPr>
        <p:spPr>
          <a:xfrm>
            <a:off x="547200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Meiryo"/>
                <a:sym typeface="Meiryo"/>
              </a:rPr>
              <a:t>［第4章］年間の企画投稿カレンダー</a:t>
            </a:r>
          </a:p>
        </p:txBody>
      </p:sp>
      <p:sp>
        <p:nvSpPr>
          <p:cNvPr id="2" name="Google Shape;752;p28">
            <a:extLst>
              <a:ext uri="{FF2B5EF4-FFF2-40B4-BE49-F238E27FC236}">
                <a16:creationId xmlns:a16="http://schemas.microsoft.com/office/drawing/2014/main" id="{344F9C81-17B8-CD75-7943-C74785EA9326}"/>
              </a:ext>
            </a:extLst>
          </p:cNvPr>
          <p:cNvSpPr txBox="1"/>
          <p:nvPr/>
        </p:nvSpPr>
        <p:spPr>
          <a:xfrm>
            <a:off x="309397" y="687600"/>
            <a:ext cx="9330992" cy="60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検索のピークは、派遣が3月、バイトが4月。どちらも12月が最も少ない。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12月に友だちを増やし、3月は派遣、4月はバイトの応募へつなげる。</a:t>
            </a:r>
          </a:p>
        </p:txBody>
      </p:sp>
      <p:sp>
        <p:nvSpPr>
          <p:cNvPr id="3" name="Shape 2">
            <a:extLst>
              <a:ext uri="{FF2B5EF4-FFF2-40B4-BE49-F238E27FC236}">
                <a16:creationId xmlns:a16="http://schemas.microsoft.com/office/drawing/2014/main" id="{C60A8489-6BE4-3B93-2131-E11F42129098}"/>
              </a:ext>
            </a:extLst>
          </p:cNvPr>
          <p:cNvSpPr/>
          <p:nvPr/>
        </p:nvSpPr>
        <p:spPr>
          <a:xfrm>
            <a:off x="68362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D946CD2D-A79C-A7B7-15A1-A1837415507A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AB03F4F1-34EC-318B-44DB-813F9A260ADC}"/>
              </a:ext>
            </a:extLst>
          </p:cNvPr>
          <p:cNvSpPr/>
          <p:nvPr/>
        </p:nvSpPr>
        <p:spPr>
          <a:xfrm>
            <a:off x="79335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2-3月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C1B56B7E-2C3F-30E8-B262-184104348BC9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A84711DF-BA77-8F0A-2104-C18090ED3CC4}"/>
              </a:ext>
            </a:extLst>
          </p:cNvPr>
          <p:cNvSpPr/>
          <p:nvPr/>
        </p:nvSpPr>
        <p:spPr>
          <a:xfrm>
            <a:off x="1506583" y="2260132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派遣のピーク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F76CECB1-59BF-1E7A-094C-226743CD5D1F}"/>
              </a:ext>
            </a:extLst>
          </p:cNvPr>
          <p:cNvSpPr/>
          <p:nvPr/>
        </p:nvSpPr>
        <p:spPr>
          <a:xfrm>
            <a:off x="79335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「4月からの就業先さがし」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E9330544-7DE3-4156-FDB0-0068C25C7D92}"/>
              </a:ext>
            </a:extLst>
          </p:cNvPr>
          <p:cNvSpPr/>
          <p:nvPr/>
        </p:nvSpPr>
        <p:spPr>
          <a:xfrm>
            <a:off x="79335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派遣は3月がピーク（指数110.8）。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年度替わりで、契約満了と就業先さがしが重なる。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施策：12月に増やした友だちへ、条件別の新着を一斉に案内。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6C89C044-CC81-F526-4C28-8C8818A84AC8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EBB9FD63-B2E1-8ED6-289B-17E75D53D0CF}"/>
              </a:ext>
            </a:extLst>
          </p:cNvPr>
          <p:cNvSpPr/>
          <p:nvPr/>
        </p:nvSpPr>
        <p:spPr>
          <a:xfrm>
            <a:off x="79335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KPI：応募数／面接・職場見学の実施率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3" name="Shape 11">
            <a:extLst>
              <a:ext uri="{FF2B5EF4-FFF2-40B4-BE49-F238E27FC236}">
                <a16:creationId xmlns:a16="http://schemas.microsoft.com/office/drawing/2014/main" id="{718FE43C-F46C-BAA4-F102-48BC91B9077E}"/>
              </a:ext>
            </a:extLst>
          </p:cNvPr>
          <p:cNvSpPr/>
          <p:nvPr/>
        </p:nvSpPr>
        <p:spPr>
          <a:xfrm>
            <a:off x="5118463" y="2150404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BCFAF28F-3A41-62B7-ED14-2C88314DE69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5636307B-10AB-ADC3-1727-AB8FC5831143}"/>
              </a:ext>
            </a:extLst>
          </p:cNvPr>
          <p:cNvSpPr/>
          <p:nvPr/>
        </p:nvSpPr>
        <p:spPr>
          <a:xfrm>
            <a:off x="5228191" y="22418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4月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6" name="Shape 14">
            <a:extLst>
              <a:ext uri="{FF2B5EF4-FFF2-40B4-BE49-F238E27FC236}">
                <a16:creationId xmlns:a16="http://schemas.microsoft.com/office/drawing/2014/main" id="{4D4B9A45-FCB5-6DB2-B02F-57FFE5D56691}"/>
              </a:ext>
            </a:extLst>
          </p:cNvPr>
          <p:cNvSpPr/>
          <p:nvPr/>
        </p:nvSpPr>
        <p:spPr>
          <a:xfrm>
            <a:off x="5941423" y="2260132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5AB9A477-5190-5925-BA00-7C28E41E2AE9}"/>
              </a:ext>
            </a:extLst>
          </p:cNvPr>
          <p:cNvSpPr/>
          <p:nvPr/>
        </p:nvSpPr>
        <p:spPr>
          <a:xfrm>
            <a:off x="5941423" y="2260132"/>
            <a:ext cx="11887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バイトのピーク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F0DF4241-0F34-404F-9C8A-0C5C0B3F7B0B}"/>
              </a:ext>
            </a:extLst>
          </p:cNvPr>
          <p:cNvSpPr/>
          <p:nvPr/>
        </p:nvSpPr>
        <p:spPr>
          <a:xfrm>
            <a:off x="5228191" y="26076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「新生活のシフトさがし」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F5CBA0E-C68D-2D85-8F64-5D9ED46DE52D}"/>
              </a:ext>
            </a:extLst>
          </p:cNvPr>
          <p:cNvSpPr/>
          <p:nvPr/>
        </p:nvSpPr>
        <p:spPr>
          <a:xfrm>
            <a:off x="5228191" y="2927643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バイトは4月がピーク（指数117.5）。派遣より1か月遅い。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新生活が始まり、シフトを組める時期に探し始める。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施策：3月の派遣の配信とずらし、4月にバイトの新着を案内。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0" name="Shape 18">
            <a:extLst>
              <a:ext uri="{FF2B5EF4-FFF2-40B4-BE49-F238E27FC236}">
                <a16:creationId xmlns:a16="http://schemas.microsoft.com/office/drawing/2014/main" id="{7EF6A367-39C2-356A-9B47-3D3671D8D918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1" name="Text 19">
            <a:extLst>
              <a:ext uri="{FF2B5EF4-FFF2-40B4-BE49-F238E27FC236}">
                <a16:creationId xmlns:a16="http://schemas.microsoft.com/office/drawing/2014/main" id="{5E166AEE-8473-61AD-BC51-7204C60ECFE2}"/>
              </a:ext>
            </a:extLst>
          </p:cNvPr>
          <p:cNvSpPr/>
          <p:nvPr/>
        </p:nvSpPr>
        <p:spPr>
          <a:xfrm>
            <a:off x="5228191" y="37231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KPI：応募数／希望条件の回答率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487B2061-6B88-0A18-0E57-12185B834CCF}"/>
              </a:ext>
            </a:extLst>
          </p:cNvPr>
          <p:cNvSpPr/>
          <p:nvPr/>
        </p:nvSpPr>
        <p:spPr>
          <a:xfrm>
            <a:off x="68362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D80051DD-55DD-DDC4-1C20-FA43FB837AEB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166D040C-5E3C-D384-1752-F340D729E508}"/>
              </a:ext>
            </a:extLst>
          </p:cNvPr>
          <p:cNvSpPr/>
          <p:nvPr/>
        </p:nvSpPr>
        <p:spPr>
          <a:xfrm>
            <a:off x="79335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9-10月</a:t>
            </a:r>
            <a:endParaRPr kumimoji="0" lang="en-US" sz="10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E1D75AA6-DC2D-C974-1F8F-EA3764B5E2B1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2C81E4D3-7404-C45A-3360-2888B2C16CEC}"/>
              </a:ext>
            </a:extLst>
          </p:cNvPr>
          <p:cNvSpPr/>
          <p:nvPr/>
        </p:nvSpPr>
        <p:spPr>
          <a:xfrm>
            <a:off x="150658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秋の戻り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D74753E2-5389-A4C0-99DF-F1EBD9F21486}"/>
              </a:ext>
            </a:extLst>
          </p:cNvPr>
          <p:cNvSpPr/>
          <p:nvPr/>
        </p:nvSpPr>
        <p:spPr>
          <a:xfrm>
            <a:off x="79335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「下半期からの新しい仕事」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15421AF9-EA34-4D6D-A17B-353040384108}"/>
              </a:ext>
            </a:extLst>
          </p:cNvPr>
          <p:cNvSpPr/>
          <p:nvPr/>
        </p:nvSpPr>
        <p:spPr>
          <a:xfrm>
            <a:off x="79335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派遣は10月に指数が戻る（102.4）。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8月に少なくなったあと、下半期の入れ替えで動く。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施策：契約満了に合わせてご案内し、12月へつなげる。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5BE67E13-AD4F-4228-9F1A-8B4E0CCBEBBE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9E653D90-A148-4540-DAAB-BDE1AE7D11F9}"/>
              </a:ext>
            </a:extLst>
          </p:cNvPr>
          <p:cNvSpPr/>
          <p:nvPr/>
        </p:nvSpPr>
        <p:spPr>
          <a:xfrm>
            <a:off x="79335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KPI：再応募数（満了後に戻った方）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9A903725-E0FA-B7ED-BE7F-3E870C011999}"/>
              </a:ext>
            </a:extLst>
          </p:cNvPr>
          <p:cNvSpPr/>
          <p:nvPr/>
        </p:nvSpPr>
        <p:spPr>
          <a:xfrm>
            <a:off x="5118463" y="4207803"/>
            <a:ext cx="42062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chemeClr val="tx2">
                <a:lumMod val="50000"/>
              </a:schemeClr>
            </a:solidFill>
            <a:prstDash val="solid"/>
          </a:ln>
          <a:effectLst>
            <a:outerShdw blurRad="1016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Shape 30">
            <a:extLst>
              <a:ext uri="{FF2B5EF4-FFF2-40B4-BE49-F238E27FC236}">
                <a16:creationId xmlns:a16="http://schemas.microsoft.com/office/drawing/2014/main" id="{E560804C-2AD2-34CF-80F2-47723D89B9EE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oundRect">
            <a:avLst>
              <a:gd name="adj" fmla="val 18750"/>
            </a:avLst>
          </a:prstGeom>
          <a:solidFill>
            <a:schemeClr val="tx2">
              <a:lumMod val="50000"/>
            </a:schemeClr>
          </a:solidFill>
          <a:ln w="12700">
            <a:noFill/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0D3AA494-1CCC-455B-FD0B-69A03482B0B2}"/>
              </a:ext>
            </a:extLst>
          </p:cNvPr>
          <p:cNvSpPr/>
          <p:nvPr/>
        </p:nvSpPr>
        <p:spPr>
          <a:xfrm>
            <a:off x="5228191" y="4299244"/>
            <a:ext cx="65836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12月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7CE7A172-10BE-1E65-8E12-21F725E375E4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oundRect">
            <a:avLst>
              <a:gd name="adj" fmla="val 14286"/>
            </a:avLst>
          </a:prstGeom>
          <a:solidFill>
            <a:srgbClr val="F4F7FF"/>
          </a:solidFill>
          <a:ln w="12700">
            <a:solidFill>
              <a:srgbClr val="E8EDF8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6FF1A96D-D52E-0E30-532A-ECE831BE9605}"/>
              </a:ext>
            </a:extLst>
          </p:cNvPr>
          <p:cNvSpPr/>
          <p:nvPr/>
        </p:nvSpPr>
        <p:spPr>
          <a:xfrm>
            <a:off x="5941423" y="4317531"/>
            <a:ext cx="10058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準備の時期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6B191EBD-ED99-BB14-8C62-5B0BA0590745}"/>
              </a:ext>
            </a:extLst>
          </p:cNvPr>
          <p:cNvSpPr/>
          <p:nvPr/>
        </p:nvSpPr>
        <p:spPr>
          <a:xfrm>
            <a:off x="5228191" y="466500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 dirty="0">
                <a:ln>
                  <a:noFill/>
                </a:ln>
                <a:solidFill>
                  <a:srgbClr val="1E2761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「年明けから働きたい方の先行受付」</a:t>
            </a:r>
            <a:endParaRPr kumimoji="0" lang="en-US" sz="12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13B90534-5D2F-7E51-02AE-C33CF568ED2E}"/>
              </a:ext>
            </a:extLst>
          </p:cNvPr>
          <p:cNvSpPr/>
          <p:nvPr/>
        </p:nvSpPr>
        <p:spPr>
          <a:xfrm>
            <a:off x="5228191" y="4985044"/>
            <a:ext cx="39319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1年で最も少ない月（派遣88.4／バイト88.0）。</a:t>
            </a: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 err="1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友だちを増やしやすい時期と考える。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marL="0" marR="0" lvl="0" indent="0" defTabSz="91440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 dirty="0">
                <a:ln>
                  <a:noFill/>
                </a:ln>
                <a:solidFill>
                  <a:srgbClr val="64748B"/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施策：条件の再確認と新着の先行案内。3〜4月の応募へ。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985D5473-A6B2-6E6C-69A6-536638C669C1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D1D9F0"/>
            </a:solidFill>
            <a:prstDash val="solid"/>
          </a:ln>
        </p:spPr>
        <p:txBody>
          <a:bodyPr/>
          <a:lstStyle/>
          <a:p>
            <a:endParaRPr kumimoji="0" lang="ja-JP" altLang="en-US">
              <a:solidFill>
                <a:prstClr val="black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665AB6CB-040B-F5AE-5EDC-FD4A6C6C841A}"/>
              </a:ext>
            </a:extLst>
          </p:cNvPr>
          <p:cNvSpPr/>
          <p:nvPr/>
        </p:nvSpPr>
        <p:spPr>
          <a:xfrm>
            <a:off x="5228191" y="5780571"/>
            <a:ext cx="3931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0" cap="none" spc="0" normalizeH="0" baseline="0" noProof="0" dirty="0">
                <a:ln>
                  <a:noFill/>
                </a:ln>
                <a:solidFill>
                  <a:schemeClr val="tx1">
                    <a:lumMod val="50000"/>
                    <a:lumOff val="50000"/>
                  </a:schemeClr>
                </a:solidFill>
                <a:effectLst/>
                <a:uLnTx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KPI：友だち追加数（この月は応募のご案内を控える）</a:t>
            </a:r>
            <a:endParaRPr kumimoji="0" lang="en-US" sz="1100" b="0" i="0" u="none" strike="noStrike" kern="0" cap="none" spc="0" normalizeH="0" baseline="0" noProof="0" dirty="0">
              <a:ln>
                <a:noFill/>
              </a:ln>
              <a:solidFill>
                <a:schemeClr val="tx1">
                  <a:lumMod val="50000"/>
                  <a:lumOff val="50000"/>
                </a:schemeClr>
              </a:solidFill>
              <a:effectLst/>
              <a:uLnTx/>
              <a:uFillTx/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2" name="Shape 2">
            <a:extLst>
              <a:ext uri="{FF2B5EF4-FFF2-40B4-BE49-F238E27FC236}">
                <a16:creationId xmlns:a16="http://schemas.microsoft.com/office/drawing/2014/main" id="{22BE1ADA-BF01-A520-0D77-972E7821FCE2}"/>
              </a:ext>
            </a:extLst>
          </p:cNvPr>
          <p:cNvSpPr/>
          <p:nvPr/>
        </p:nvSpPr>
        <p:spPr>
          <a:xfrm>
            <a:off x="683623" y="1612213"/>
            <a:ext cx="8646160" cy="457200"/>
          </a:xfrm>
          <a:prstGeom prst="roundRect">
            <a:avLst>
              <a:gd name="adj" fmla="val 16000"/>
            </a:avLst>
          </a:prstGeom>
          <a:solidFill>
            <a:srgbClr val="F4F7FF"/>
          </a:solidFill>
          <a:ln w="12700">
            <a:solidFill>
              <a:srgbClr val="1E2761"/>
            </a:solidFill>
            <a:prstDash val="solid"/>
          </a:ln>
        </p:spPr>
        <p:txBody>
          <a:bodyPr/>
          <a:lstStyle/>
          <a:p>
            <a:endParaRPr lang="ja-JP" altLang="en-US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3" name="Text 3">
            <a:extLst>
              <a:ext uri="{FF2B5EF4-FFF2-40B4-BE49-F238E27FC236}">
                <a16:creationId xmlns:a16="http://schemas.microsoft.com/office/drawing/2014/main" id="{F90B8BB4-8425-50C4-639B-16BEF90627DF}"/>
              </a:ext>
            </a:extLst>
          </p:cNvPr>
          <p:cNvSpPr/>
          <p:nvPr/>
        </p:nvSpPr>
        <p:spPr>
          <a:xfrm>
            <a:off x="866503" y="1612213"/>
            <a:ext cx="8458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ja-JP" altLang="en-US" sz="1200" b="1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Calibri" pitchFamily="34" charset="-120"/>
              </a:rPr>
              <a:t>派遣とバイトで配信を1か月ずらす（3月に派遣、4月にバイト）。</a:t>
            </a:r>
            <a:endParaRPr lang="en-US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8517C2D8-2B96-60F6-B4C8-41F2D3663705}"/>
              </a:ext>
            </a:extLst>
          </p:cNvPr>
          <p:cNvSpPr/>
          <p:nvPr/>
        </p:nvSpPr>
        <p:spPr>
          <a:xfrm>
            <a:off x="139337" y="1445006"/>
            <a:ext cx="9570720" cy="47722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F12EE9E2-9122-74C3-0A3B-F81EEC972BBE}"/>
              </a:ext>
            </a:extLst>
          </p:cNvPr>
          <p:cNvSpPr/>
          <p:nvPr/>
        </p:nvSpPr>
        <p:spPr>
          <a:xfrm>
            <a:off x="4940121" y="59287"/>
            <a:ext cx="2597727" cy="41563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21853059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［第4章］配信設計｜通知メッセージ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友だち追加していない方にも、電話番号あてに届く。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面接・職場見学の前日のご案内は、実施率の改善につながる。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92000" y="1655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36000" y="1758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① 面接・職場見学の前日のご案内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6000" y="2088000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日時・場所・道順・持ち物・服装を前日に送付する。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欠席が減ると、派遣先・掲載企業との関係も続く。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2000" y="3060000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36000" y="3162849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② 過去の応募者への友だち追加のご案内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36000" y="3491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連絡が途絶えた方へも、友だち追加をご案内する。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求人は、友だち追加の後に通常の配信でお届けする。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92000" y="4463999"/>
            <a:ext cx="5076000" cy="118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36000" y="4566848"/>
            <a:ext cx="47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③ 契約満了の1か月前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000" y="4895999"/>
            <a:ext cx="4788000" cy="633941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更新のご意向の確認として、次のご希望を伺う。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探し始める時期が分かるため、先にご案内できる。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通知メッセージは別途費用（初期10万円／月額8万円〜＋通数単価7円）。用途は審査制で、配送・予約確認などの個別通知が前提。求人案内での利用可否は事前に確認する</a:t>
            </a:r>
          </a:p>
        </p:txBody>
      </p:sp>
      <p:pic>
        <p:nvPicPr>
          <p:cNvPr id="16" name="Picture 15" descr="人材A_通知メッセージ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1735" y="1526603"/>
            <a:ext cx="3076528" cy="4614792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［第4章］歩留まり｜面接・職場見学の実施率をどう上げるか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8804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応募数も広告費も増やさずに、面接・職場見学に来られる方を増やす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803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前日にご案内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11999" y="1803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日時・場所・道順・持ち物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8000" y="1803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無断欠席を防ぐ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000" y="2430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2000" y="2430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2000" y="2685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不安に先に答える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1999" y="2685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職場見学の流れを事前に送る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8000" y="2685849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落ちる不安を和らげる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2000" y="3311999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2000" y="3311999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000" y="3567848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日程をその場で確定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11999" y="3567848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LINEで候補日を選んでいただく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8000" y="3567848"/>
            <a:ext cx="2988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電話の往復中の離脱を防ぐ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2000" y="4194000"/>
            <a:ext cx="9043200" cy="77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432000" y="4194000"/>
            <a:ext cx="2736000" cy="774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32000" y="4449849"/>
            <a:ext cx="2736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合わなければ次をご案内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11999" y="4449849"/>
            <a:ext cx="30240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不採用・辞退の翌日に別の求人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8000" y="4458697"/>
            <a:ext cx="2988000" cy="244604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64748B"/>
                </a:solidFill>
                <a:latin typeface="メイリオ"/>
                <a:ea typeface="メイリオ"/>
                <a:cs typeface="メイリオ"/>
              </a:rPr>
              <a:t>関心が高いうちに、次の応募へ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2000" y="514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2000" y="518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応募の数より、就業・再就業につながることを目指す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応募から面接に進む割合の業界水準は公開データがないため、貴社の実績をもとに算出する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［第4章］歩留まり｜求職者が動く時間帯に、LINEで対応する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2000" y="777827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求職者が仕事を探すのは夜間・土日が多く、電話で対応できる時間とずれやすい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  <a:p>
            <a:pPr algn="l">
              <a:lnSpc>
                <a:spcPct val="120000"/>
              </a:lnSpc>
            </a:pPr>
            <a:r>
              <a:rPr sz="1400" b="1" dirty="0" err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その時間帯のやり取りを、LINEで補う</a:t>
            </a:r>
            <a:r>
              <a:rPr sz="1400" b="1" dirty="0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48000"/>
            <a:ext cx="4392000" cy="3096000"/>
          </a:xfrm>
          <a:prstGeom prst="rect">
            <a:avLst/>
          </a:prstGeom>
          <a:solidFill>
            <a:srgbClr val="F2F2F2"/>
          </a:solidFill>
          <a:ln w="15875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32000" y="1548000"/>
            <a:ext cx="4392000" cy="342000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320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起きやすいこと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・応募直後のお電話が、つながりにくい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・折り返しが夕方以降に集中する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・面接日程の調整で、電話が何度も往復する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・同じご質問に、何度も回答している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83200" y="1548000"/>
            <a:ext cx="4392000" cy="3096000"/>
          </a:xfrm>
          <a:prstGeom prst="rect">
            <a:avLst/>
          </a:prstGeom>
          <a:solidFill>
            <a:srgbClr val="EEF2F9"/>
          </a:solidFill>
          <a:ln w="15875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083200" y="1548000"/>
            <a:ext cx="43920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083200" y="1570152"/>
            <a:ext cx="43920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LINEに置き換えられるもの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27200" y="1998000"/>
            <a:ext cx="4104000" cy="1765020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・面接・職場見学の日程調整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・よくある質問（自動応答）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・前日のご案内</a:t>
            </a:r>
          </a:p>
          <a:p>
            <a:pPr algn="l">
              <a:lnSpc>
                <a:spcPct val="210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・希望条件の変更の受付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2000" y="4896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2000" y="4936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人を増やすより、やり取りの時間帯を合わせることが大切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 LINEなら、求職者の都合の良い時間にやり取りできる。電話でなくてもよいやり取りを、LINEに移す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C5A5A4-75AD-516A-9D25-18F8EF002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752;p28">
            <a:extLst>
              <a:ext uri="{FF2B5EF4-FFF2-40B4-BE49-F238E27FC236}">
                <a16:creationId xmlns:a16="http://schemas.microsoft.com/office/drawing/2014/main" id="{0308A94D-067F-5D10-BF02-6777DD32E821}"/>
              </a:ext>
            </a:extLst>
          </p:cNvPr>
          <p:cNvSpPr txBox="1"/>
          <p:nvPr/>
        </p:nvSpPr>
        <p:spPr>
          <a:xfrm>
            <a:off x="547200" y="138137"/>
            <a:ext cx="7027574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en-US" altLang="ja-JP" sz="1600" b="1" dirty="0">
                <a:solidFill>
                  <a:srgbClr val="323366"/>
                </a:solidFill>
                <a:latin typeface="Meiryo"/>
                <a:ea typeface="Meiryo"/>
                <a:cs typeface="Meiryo"/>
                <a:sym typeface="Meiryo"/>
              </a:rPr>
              <a:t>［第5章］運用サポート体制</a:t>
            </a:r>
            <a:endParaRPr lang="en-US" altLang="ja-JP" sz="1600" b="1" dirty="0">
              <a:solidFill>
                <a:schemeClr val="tx1">
                  <a:lumMod val="50000"/>
                  <a:lumOff val="50000"/>
                </a:schemeClr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31489518-639C-6F8B-3CC2-E3A3D82066B2}"/>
              </a:ext>
            </a:extLst>
          </p:cNvPr>
          <p:cNvSpPr/>
          <p:nvPr/>
        </p:nvSpPr>
        <p:spPr>
          <a:xfrm>
            <a:off x="275003" y="1728082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月1回の定例会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GAレポートと連携し、応募率・面接の実施率を毎月確認する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D339252-F691-EA9D-983C-6241C7AABA77}"/>
              </a:ext>
            </a:extLst>
          </p:cNvPr>
          <p:cNvSpPr/>
          <p:nvPr/>
        </p:nvSpPr>
        <p:spPr>
          <a:xfrm>
            <a:off x="275003" y="3221875"/>
            <a:ext cx="9355994" cy="139128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企画配信の制作</a:t>
            </a:r>
            <a:endParaRPr lang="en-US" altLang="ja-JP" sz="2400" dirty="0">
              <a:solidFill>
                <a:schemeClr val="tx1">
                  <a:lumMod val="50000"/>
                  <a:lumOff val="50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ctr"/>
            <a:r>
              <a:rPr lang="ja-JP" altLang="en-US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年間カレンダーに沿った配信を、貴社に代わって作成する</a:t>
            </a:r>
          </a:p>
        </p:txBody>
      </p: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71A329C6-D6CA-D19E-C8A2-D6D234F2FA53}"/>
              </a:ext>
            </a:extLst>
          </p:cNvPr>
          <p:cNvCxnSpPr/>
          <p:nvPr/>
        </p:nvCxnSpPr>
        <p:spPr>
          <a:xfrm>
            <a:off x="1519747" y="1452035"/>
            <a:ext cx="657899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楕円 12">
            <a:extLst>
              <a:ext uri="{FF2B5EF4-FFF2-40B4-BE49-F238E27FC236}">
                <a16:creationId xmlns:a16="http://schemas.microsoft.com/office/drawing/2014/main" id="{718487F9-9129-0E91-A220-B2EF077840F3}"/>
              </a:ext>
            </a:extLst>
          </p:cNvPr>
          <p:cNvSpPr/>
          <p:nvPr/>
        </p:nvSpPr>
        <p:spPr>
          <a:xfrm>
            <a:off x="1358536" y="579155"/>
            <a:ext cx="7419703" cy="761655"/>
          </a:xfrm>
          <a:prstGeom prst="ellipse">
            <a:avLst/>
          </a:prstGeom>
          <a:solidFill>
            <a:schemeClr val="accent1">
              <a:lumMod val="40000"/>
              <a:lumOff val="60000"/>
              <a:alpha val="41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4" name="正方形/長方形 13">
            <a:extLst>
              <a:ext uri="{FF2B5EF4-FFF2-40B4-BE49-F238E27FC236}">
                <a16:creationId xmlns:a16="http://schemas.microsoft.com/office/drawing/2014/main" id="{D2F1E1CA-9D65-A02D-917C-CB72A01459A6}"/>
              </a:ext>
            </a:extLst>
          </p:cNvPr>
          <p:cNvSpPr/>
          <p:nvPr/>
        </p:nvSpPr>
        <p:spPr>
          <a:xfrm>
            <a:off x="1502508" y="687600"/>
            <a:ext cx="6647975" cy="461665"/>
          </a:xfrm>
          <a:prstGeom prst="rect">
            <a:avLst/>
          </a:prstGeom>
        </p:spPr>
        <p:txBody>
          <a:bodyPr wrap="none">
            <a:spAutoFit/>
          </a:bodyPr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ja-JP" altLang="en-US" sz="24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構築だけでなく、運用しながら改善する体制。</a:t>
            </a:r>
          </a:p>
        </p:txBody>
      </p:sp>
      <p:sp>
        <p:nvSpPr>
          <p:cNvPr id="15" name="下矢印 1">
            <a:extLst>
              <a:ext uri="{FF2B5EF4-FFF2-40B4-BE49-F238E27FC236}">
                <a16:creationId xmlns:a16="http://schemas.microsoft.com/office/drawing/2014/main" id="{453026E5-FC32-AC14-0437-B9F8A5DB717B}"/>
              </a:ext>
            </a:extLst>
          </p:cNvPr>
          <p:cNvSpPr/>
          <p:nvPr/>
        </p:nvSpPr>
        <p:spPr>
          <a:xfrm>
            <a:off x="3379742" y="4715668"/>
            <a:ext cx="3196046" cy="421640"/>
          </a:xfrm>
          <a:prstGeom prst="downArrow">
            <a:avLst>
              <a:gd name="adj1" fmla="val 50000"/>
              <a:gd name="adj2" fmla="val 52758"/>
            </a:avLst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kumimoji="1" lang="ja-JP" altLang="en-US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D0D0284-90AC-92C0-335B-D83B919080B0}"/>
              </a:ext>
            </a:extLst>
          </p:cNvPr>
          <p:cNvSpPr/>
          <p:nvPr/>
        </p:nvSpPr>
        <p:spPr>
          <a:xfrm>
            <a:off x="275003" y="5239812"/>
            <a:ext cx="9355994" cy="8671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22225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ja-JP" sz="24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チャット対応（自動応答の範囲。有人対応（Chat Plus／Call Plus）は別途）</a:t>
            </a:r>
          </a:p>
        </p:txBody>
      </p:sp>
    </p:spTree>
    <p:extLst>
      <p:ext uri="{BB962C8B-B14F-4D97-AF65-F5344CB8AC3E}">
        <p14:creationId xmlns:p14="http://schemas.microsoft.com/office/powerpoint/2010/main" val="97095852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［第5章］成果｜効果測定の設計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815649"/>
            <a:ext cx="9331200" cy="262301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すぐに見る指標と、後から見る指標を分ける。リピート応募は満了を待つため、お約束に含めない。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2000" y="4896000"/>
            <a:ext cx="9043200" cy="671644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応募CPAの改善は、就業・再就業率が現状と変わらないことを前提に算出する。</a:t>
            </a:r>
          </a:p>
          <a:p>
            <a:pPr algn="l">
              <a:lnSpc>
                <a:spcPct val="16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貴社の実績（月の応募数・面接の実施数・広告費）をいただければ、貴社に合わせた数値をお出しする。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2000" y="6246000"/>
            <a:ext cx="9043200" cy="324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応募CPA ＝（広告費 ＋ LINE運用費）÷ 応募数</a:t>
            </a:r>
          </a:p>
        </p:txBody>
      </p:sp>
      <p:sp>
        <p:nvSpPr>
          <p:cNvPr id="8" name="Rectangle 7"/>
          <p:cNvSpPr/>
          <p:nvPr/>
        </p:nvSpPr>
        <p:spPr>
          <a:xfrm>
            <a:off x="432000" y="1530000"/>
            <a:ext cx="9043200" cy="342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75199" y="1530000"/>
            <a:ext cx="1209600" cy="342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771200" y="1569849"/>
            <a:ext cx="3297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指標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5199" y="1569849"/>
            <a:ext cx="17136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確認できる時期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55200" y="1569849"/>
            <a:ext cx="2476800" cy="262301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Meiryo"/>
              </a:rPr>
              <a:t>扱い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199" y="1957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71200" y="1872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応募率（友だち → 応募）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55199" y="1872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1週間〜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200" y="1872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2000" y="2340000"/>
            <a:ext cx="9043200" cy="4680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199" y="2425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すぐに見る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1200" y="2340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面接・職場見学の実施率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55199" y="2340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1ヶ月〜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55200" y="2340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成果指標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199" y="2893152"/>
            <a:ext cx="12096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7F7F7F"/>
                </a:solidFill>
                <a:latin typeface="メイリオ"/>
                <a:ea typeface="メイリオ"/>
                <a:cs typeface="Meiryo"/>
              </a:rPr>
              <a:t>後から見る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1200" y="2808000"/>
            <a:ext cx="3297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就業・再就業／応募CPA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55199" y="2808000"/>
            <a:ext cx="17136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3〜6ヶ月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55200" y="2808000"/>
            <a:ext cx="2476800" cy="468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就業率が今と同じ水準という前提で算出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2000" y="3456000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 w="1270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8000" y="3595152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95959"/>
                </a:solidFill>
                <a:latin typeface="メイリオ"/>
                <a:ea typeface="メイリオ"/>
                <a:cs typeface="Meiryo"/>
              </a:rPr>
              <a:t>これまで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00000" y="3456000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お電話 → つながらない → 面接に来ない → 満了で連絡が途切れる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32000" y="4121999"/>
            <a:ext cx="9043200" cy="576000"/>
          </a:xfrm>
          <a:prstGeom prst="roundRect">
            <a:avLst>
              <a:gd name="adj" fmla="val 12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558000" y="4261151"/>
            <a:ext cx="1224000" cy="297695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Meiryo"/>
              </a:rPr>
              <a:t>LINE併用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00000" y="4121999"/>
            <a:ext cx="7560000" cy="576000"/>
          </a:xfrm>
          <a:prstGeom prst="rect">
            <a:avLst/>
          </a:prstGeom>
          <a:noFill/>
        </p:spPr>
        <p:txBody>
          <a:bodyPr wrap="square" lIns="36000" tIns="7200" rIns="36000" bIns="720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33333"/>
                </a:solidFill>
                <a:latin typeface="メイリオ"/>
                <a:ea typeface="メイリオ"/>
                <a:cs typeface="Meiryo"/>
              </a:rPr>
              <a:t>応募 → LINEで条件5問 → 合う求人3件 → 前日リマインド → 満了前に再応募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［第6章］費用プラン（6ヶ月〜／税抜）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20833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貴社の課題とご予算に合わせて、4つのプランから選べる。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初期費用は初月のみ。2か月目以降は月額費用のみ。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432000" y="1512000"/>
            <a:ext cx="9043200" cy="3312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82399" y="1564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プラン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30400" y="1564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初期費用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02400" y="1564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月額費用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06400" y="1564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2399" y="19601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コンサル基本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30400" y="19601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2400" y="19601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20 / 30 / 50万円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06400" y="19601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3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／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投稿。設計</a:t>
            </a:r>
            <a:r>
              <a:rPr lang="en-US" altLang="zh-TW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〜</a:t>
            </a:r>
            <a:r>
              <a:rPr lang="zh-TW" altLang="en-US"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</a:t>
            </a:r>
            <a:endParaRPr sz="1200" b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32000" y="23040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82399" y="24209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成果報酬型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30400" y="24209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02400" y="24209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単価 × 成果数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06400" y="24209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アカウント費・ツール費は別途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2399" y="28817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初動設計のみ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30400" y="28817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02400" y="28817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0万円〜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6400" y="28817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GA計測とステップ配信を構築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2000" y="3225600"/>
            <a:ext cx="9043200" cy="460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82399" y="3342547"/>
            <a:ext cx="2347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運用代行・効率改善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30400" y="3342547"/>
            <a:ext cx="1771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02400" y="3342547"/>
            <a:ext cx="22032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5万円〜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6400" y="3342547"/>
            <a:ext cx="2318400" cy="22690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既存運用の改善。月3投稿〜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20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EEF2F9"/>
          </a:solidFill>
          <a:ln w="12700">
            <a:solidFill>
              <a:srgbClr val="0020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760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無償で付帯するもの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6000" y="4266000"/>
            <a:ext cx="4104000" cy="109945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プロフィール／リッチメニュー／あいさつメッセージ／初期アンケート／キーワード自動応答／ステップ配信／セグメント配信／チャットタグ管理／チャット対応（自動応答の範囲）／GAレポート連携／クリエイティブ／定例会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83200" y="3888000"/>
            <a:ext cx="4392000" cy="1584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E276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227200" y="3960000"/>
            <a:ext cx="4104000" cy="2700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別途費用がかかるもの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27200" y="4266000"/>
            <a:ext cx="4104000" cy="1168703"/>
          </a:xfrm>
          <a:prstGeom prst="rect">
            <a:avLst/>
          </a:prstGeom>
          <a:noFill/>
        </p:spPr>
        <p:txBody>
          <a:bodyPr wrap="square" lIns="28800" tIns="7200" rIns="28800" bIns="7200" anchor="t">
            <a:spAutoFit/>
          </a:bodyPr>
          <a:lstStyle/>
          <a:p>
            <a:pPr algn="l">
              <a:lnSpc>
                <a:spcPct val="160000"/>
              </a:lnSpc>
            </a:pPr>
            <a:r>
              <a:rPr sz="11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通知メッセージ　初期10万＋月8万〜＋通数7円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ポップアップ（離脱防止）初期1.5万＋月3万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サンクスLINE誘導 初期15万＋月3万〜</a:t>
            </a:r>
          </a:p>
          <a:p>
            <a:pPr algn="l">
              <a:lnSpc>
                <a:spcPct val="160000"/>
              </a:lnSpc>
            </a:pPr>
            <a:r>
              <a:rPr sz="11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アカウント開設 初期1万〜／ID連携 初期20万〜＋月5万〜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2000" y="5598000"/>
            <a:ext cx="9043200" cy="378000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000" y="5638152"/>
            <a:ext cx="9043200" cy="297695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6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まずは初動設計のみ（初期10万円・月額0円〜）から始めることも可能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2000" y="6329941"/>
            <a:ext cx="9043200" cy="156118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800" b="0" dirty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すべて税抜・6か月〜の契約。成果地点と単価は個別に調整する。開発やツール導入は別途費用。目安：コンサル基本＋通知メッセージで月28万円〜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141743</TotalTime>
  <Words>4225</Words>
  <Application>Microsoft Office PowerPoint</Application>
  <PresentationFormat>A4 210 x 297 mm</PresentationFormat>
  <Paragraphs>776</Paragraphs>
  <Slides>33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33</vt:i4>
      </vt:variant>
    </vt:vector>
  </HeadingPairs>
  <TitlesOfParts>
    <vt:vector size="40" baseType="lpstr">
      <vt:lpstr>Meiryo</vt:lpstr>
      <vt:lpstr>Meiryo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1929</cp:revision>
  <cp:lastPrinted>2022-11-01T11:38:14Z</cp:lastPrinted>
  <dcterms:created xsi:type="dcterms:W3CDTF">2015-09-04T09:21:15Z</dcterms:created>
  <dcterms:modified xsi:type="dcterms:W3CDTF">2026-10-21T09:43:01Z</dcterms:modified>
</cp:coreProperties>
</file>