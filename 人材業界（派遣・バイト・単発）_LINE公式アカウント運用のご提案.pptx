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7"/>
  </p:notesMasterIdLst>
  <p:handoutMasterIdLst>
    <p:handoutMasterId r:id="rId38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57" r:id="rId21"/>
    <p:sldId id="2997" r:id="rId22"/>
    <p:sldId id="2954" r:id="rId23"/>
    <p:sldId id="2998" r:id="rId24"/>
    <p:sldId id="2966" r:id="rId25"/>
    <p:sldId id="2999" r:id="rId26"/>
    <p:sldId id="3012" r:id="rId43"/>
    <p:sldId id="3013" r:id="rId44"/>
    <p:sldId id="3014" r:id="rId45"/>
    <p:sldId id="3015" r:id="rId46"/>
    <p:sldId id="3016" r:id="rId47"/>
    <p:sldId id="3017" r:id="rId48"/>
    <p:sldId id="3000" r:id="rId27"/>
    <p:sldId id="3001" r:id="rId28"/>
    <p:sldId id="2953" r:id="rId29"/>
    <p:sldId id="3002" r:id="rId30"/>
    <p:sldId id="3003" r:id="rId31"/>
    <p:sldId id="3004" r:id="rId32"/>
    <p:sldId id="2908" r:id="rId33"/>
    <p:sldId id="3005" r:id="rId34"/>
    <p:sldId id="3008" r:id="rId35"/>
    <p:sldId id="1169" r:id="rId3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31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36.xml"/><Relationship Id="rId33" Type="http://schemas.openxmlformats.org/officeDocument/2006/relationships/slide" Target="slides/slide37.xml"/><Relationship Id="rId34" Type="http://schemas.openxmlformats.org/officeDocument/2006/relationships/slide" Target="slides/slide38.xml"/><Relationship Id="rId35" Type="http://schemas.openxmlformats.org/officeDocument/2006/relationships/slide" Target="slides/slide39.xml"/><Relationship Id="rId36" Type="http://schemas.openxmlformats.org/officeDocument/2006/relationships/slide" Target="slides/slide40.xml"/><Relationship Id="rId37" Type="http://schemas.openxmlformats.org/officeDocument/2006/relationships/notesMaster" Target="notesMasters/notesMaster1.xml"/><Relationship Id="rId38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8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eg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jpg"/><Relationship Id="rId8" Type="http://schemas.openxmlformats.org/officeDocument/2006/relationships/image" Target="../media/image24.jpe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hyperlink" Target="https://youtube.com/shorts/0qI4QgrOppQ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jpeg"/><Relationship Id="rId7" Type="http://schemas.openxmlformats.org/officeDocument/2006/relationships/image" Target="../media/image36.jpeg"/><Relationship Id="rId8" Type="http://schemas.openxmlformats.org/officeDocument/2006/relationships/image" Target="../media/image3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329940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友だち数は表示値。マンパワーグループは「JOBNET」のアカウント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784" y="1563029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4936" y="1563029"/>
            <a:ext cx="20574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8056" y="1563029"/>
            <a:ext cx="11430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2496" y="1563029"/>
            <a:ext cx="3703319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7256" y="1563029"/>
            <a:ext cx="178308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936" y="1873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10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派遣</a:t>
            </a:r>
            <a:endParaRPr sz="10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608056" y="18739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2496" y="1901054"/>
            <a:ext cx="3703319" cy="40294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</a:t>
            </a: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ジョブタイプ診断、在宅・週4日以内など条件別の求人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7256" y="1873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1784" y="23311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4936" y="2331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8056" y="2331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2496" y="2331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7256" y="2331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4936" y="27883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8056" y="27883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2496" y="27883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7256" y="27883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784" y="3245524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4936" y="3245524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8056" y="3245524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2496" y="3245524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7256" y="3245524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4936" y="37027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8056" y="37027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2496" y="37027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7256" y="37027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1784" y="41599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04936" y="4159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8056" y="4280670"/>
            <a:ext cx="1143000" cy="21571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6,194,444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842496" y="41599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7256" y="4159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4936" y="4617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8056" y="4617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2496" y="4617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7256" y="4617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最初に「できること」を伝える理由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何が届く（希望に合う新着情報）のかを先に伝えることで、ブロックを防ぐ。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しくみ → 職場見学」の順に、疑問に答える。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比べ方を伝える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派遣会社の比べ方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同じ日に複数の会社を比べている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しくみを伝える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［第4章］配信設計｜入口ごとの14日ステップ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どの入口から友だちになっても、Day0・2・6・10・14の5回で応募（CV）までつなげる。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入口ごとに、届ける順番と中身を変える。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Day0〜14は友だち追加からの日数。①の応募した方には、面接・見学の準備を先にお届けする。中身は前後検索（P10・P11）で調べられている順に合わせる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1298448"/>
            <a:ext cx="1783080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入口（ゴール）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288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3670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3052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2435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1817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304288" y="1600200"/>
            <a:ext cx="7168896" cy="0"/>
          </a:xfrm>
          <a:prstGeom prst="line">
            <a:avLst/>
          </a:prstGeom>
          <a:ln w="158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29768" y="1700784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ゴール：面接・見学に来る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04288" y="1700784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までの流れ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663086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63670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91102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持ち物・服装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122468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23052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50484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3件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6581851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82435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09867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8041233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41817" y="1700784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69249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" y="2578608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304288" y="2578608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31720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68" name="Isosceles Triangle 67"/>
          <p:cNvSpPr/>
          <p:nvPr/>
        </p:nvSpPr>
        <p:spPr>
          <a:xfrm rot="5400000">
            <a:off x="3663086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63670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91102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5122468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23052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50484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6581851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82435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09867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8041233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41817" y="2578608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9249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" y="3456432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04288" y="3456432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31720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できること→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3663086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63670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91102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登録から就業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までのサポート</a:t>
            </a:r>
          </a:p>
        </p:txBody>
      </p:sp>
      <p:sp>
        <p:nvSpPr>
          <p:cNvPr id="86" name="Isosceles Triangle 85"/>
          <p:cNvSpPr/>
          <p:nvPr/>
        </p:nvSpPr>
        <p:spPr>
          <a:xfrm rot="5400000">
            <a:off x="5122468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23052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0484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89" name="Isosceles Triangle 88"/>
          <p:cNvSpPr/>
          <p:nvPr/>
        </p:nvSpPr>
        <p:spPr>
          <a:xfrm rot="5400000">
            <a:off x="6581851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82435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09867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92" name="Isosceles Triangle 91"/>
          <p:cNvSpPr/>
          <p:nvPr/>
        </p:nvSpPr>
        <p:spPr>
          <a:xfrm rot="5400000">
            <a:off x="8041233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41817" y="3456432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169249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人気の求人の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" y="4334256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304288" y="4334256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31720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求人3件</a:t>
            </a: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663086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763670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91102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</a:t>
            </a:r>
          </a:p>
        </p:txBody>
      </p:sp>
      <p:sp>
        <p:nvSpPr>
          <p:cNvPr id="101" name="Isosceles Triangle 100"/>
          <p:cNvSpPr/>
          <p:nvPr/>
        </p:nvSpPr>
        <p:spPr>
          <a:xfrm rot="5400000">
            <a:off x="5122468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223052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250484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扶養内・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掛け持ちで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働くときの目安</a:t>
            </a:r>
          </a:p>
        </p:txBody>
      </p:sp>
      <p:sp>
        <p:nvSpPr>
          <p:cNvPr id="104" name="Isosceles Triangle 103"/>
          <p:cNvSpPr/>
          <p:nvPr/>
        </p:nvSpPr>
        <p:spPr>
          <a:xfrm rot="5400000">
            <a:off x="6581851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82435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09867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8041233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1817" y="4334256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169249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9768" y="5212080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ゴール：再応募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304288" y="5212080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31720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（次に探す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時期も）</a:t>
            </a:r>
          </a:p>
        </p:txBody>
      </p:sp>
      <p:sp>
        <p:nvSpPr>
          <p:cNvPr id="113" name="Isosceles Triangle 112"/>
          <p:cNvSpPr/>
          <p:nvPr/>
        </p:nvSpPr>
        <p:spPr>
          <a:xfrm rot="5400000">
            <a:off x="3663086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63670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791102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時期が近い方に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116" name="Isosceles Triangle 115"/>
          <p:cNvSpPr/>
          <p:nvPr/>
        </p:nvSpPr>
        <p:spPr>
          <a:xfrm rot="5400000">
            <a:off x="5122468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223052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50484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更新しないとき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の次の探し方</a:t>
            </a:r>
          </a:p>
        </p:txBody>
      </p:sp>
      <p:sp>
        <p:nvSpPr>
          <p:cNvPr id="119" name="Isosceles Triangle 118"/>
          <p:cNvSpPr/>
          <p:nvPr/>
        </p:nvSpPr>
        <p:spPr>
          <a:xfrm rot="5400000">
            <a:off x="6581851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682435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09867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前回と近い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職種の新着</a:t>
            </a:r>
          </a:p>
        </p:txBody>
      </p:sp>
      <p:sp>
        <p:nvSpPr>
          <p:cNvPr id="122" name="Isosceles Triangle 121"/>
          <p:cNvSpPr/>
          <p:nvPr/>
        </p:nvSpPr>
        <p:spPr>
          <a:xfrm rot="5400000">
            <a:off x="8041233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141817" y="5212080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69249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［第4章］配信設計｜入口①　応募完了画面からの14日ステップ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応募した方には、面接・職場見学の準備を先にお届けし、来ていただくまでつなげる。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応募完了画面（サンクスLINE誘導）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面接・職場見学に来る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ご応募ありがとうございます！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・3問の求人診断で希望を確認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・日程の確認・変更はLINEで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日程を確認する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来ていただく準備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面接・見学の前に確認したい3つのこと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・持ち物（本人確認書類など）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・会場までの行き方・連絡先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持ち物を確認する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ほかの求人も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ほかにも、条件に合う求人があります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・診断の回答に合う求人3件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・時給・エリア・曜日を並べて比較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派遣で働く前に知っておきたいこと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次の応募へ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今週の新着と、条件の見直し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・「条件を変える」で希望を更新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・次の応募のご案内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更新しない」＝次の仕事を考え始めている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条件を変える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［第4章］配信設計｜入口②　離脱防止ポップアップからの14日ステップ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LPを離れた方には、比べるときの疑問に順に答え、14日目に応募をご案内する。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応募せずにLPを離れた方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30秒で、合うお仕事が分かります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・回答に合う求人3件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会社の比べ方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派遣会社を選ぶときの3つのポイント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・求人の数とエリア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・登録から就業までのサポート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・お給料の受け取り方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比べ方を見る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派遣のしくみ、3分で分かります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・この回は求人をお送りしない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［第4章］配信設計｜入口③　LINE広告からの14日ステップ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まだ貴社を知らない方には、できることとサポートを先に伝え、14日目に応募をご案内する。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LINE広告（CPF）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まだ貴社を知らない方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できることの紹介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このLINEでできること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・条件に合う求人のお知らせ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・面接・見学の日程の確認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−7〜−1日「バイト 求人」「ハローワーク 求人」で探し始めている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選ぶ理由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登録から働き始めるまで、サポートします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・担当者のサポート内容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サポートを見る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派遣で働く前に知っておきたいこと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いま人気の求人をまとめました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・人気の求人のまとめ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［第4章］配信設計｜入口④　求人誌・店頭のQRコードからの14日ステップ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求人誌・店頭で知った方には、掲載エリアの求人を中心に届け、14日目に応募をご案内する。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求人誌・店頭のQRコード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求人誌・店頭で貴社を知った方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地域の求人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掲載エリアのお仕事をまとめました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・3問の求人診断（エリアは掲載地域）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・掲載エリアの求人3件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—（求人誌・店頭で見た地域から始める）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近くの新着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近くの新着が入りました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・掲載エリアの新着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・時給・曜日を並べて比較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0〜+2日「短期バイト」「単発バイト アプリ」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働く条件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扶養内・掛け持ちで働くときの目安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・扶養内で働くときの目安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・掛け持ちのときの確定申告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・合う働き方の選び方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+1〜+15日「ダブルワーク 扶養内 いくらまで」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目安を見る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［第4章］配信設計｜入口⑤　通知メッセージからの14日ステップ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過去に応募した方には、次に探す時期を伺い、時期に合わせて再応募をご案内する。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通知メッセージ（既存リスト）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時期を伺う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次のお仕事、いつ頃から探しますか？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・次に探す時期を伺う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・希望条件の確認（3問）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・時期に合わせてご案内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3年ルール」＝先の働き方も気にしている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診断に答える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先にお届け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探し始めの方に、先にお届けします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・時期が近い方に合う求人3件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・前回の希望条件をもとに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満了前の疑問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契約を更新しないときの、次の探し方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・次のお仕事の探し方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探し方を見る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経験を生かす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前回と近いお仕事の新着です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・前回と近い職種の新着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・経験を生かせる求人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—（前回の応募職種をもとに出し分け）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今週の新着と、条件の見直し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・「条件を変える」で希望を更新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・再応募のご案内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働き方のしくみを先に伝えることで、信頼につなげる。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3年ルール・契約期間のしくみだけを伝える。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前後検索でも「派遣 3年ルール」が調べられている。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7" name="Picture 16" descr="haken_day6_shiku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141755</TotalTime>
  <Words>4481</Words>
  <Application>Microsoft Office PowerPoint</Application>
  <PresentationFormat>A4 210 x 297 mm</PresentationFormat>
  <Paragraphs>819</Paragraphs>
  <Slides>34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2026-10-22T07:46:19Z</dcterms:modified>
</cp:coreProperties>
</file>