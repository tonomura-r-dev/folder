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7"/>
  </p:notesMasterIdLst>
  <p:handoutMasterIdLst>
    <p:handoutMasterId r:id="rId38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57" r:id="rId21"/>
    <p:sldId id="2997" r:id="rId22"/>
    <p:sldId id="2954" r:id="rId23"/>
    <p:sldId id="2998" r:id="rId24"/>
    <p:sldId id="2966" r:id="rId25"/>
    <p:sldId id="2999" r:id="rId26"/>
    <p:sldId id="3012" r:id="rId43"/>
    <p:sldId id="3013" r:id="rId44"/>
    <p:sldId id="3014" r:id="rId45"/>
    <p:sldId id="3015" r:id="rId46"/>
    <p:sldId id="3016" r:id="rId47"/>
    <p:sldId id="3017" r:id="rId48"/>
    <p:sldId id="3000" r:id="rId27"/>
    <p:sldId id="3001" r:id="rId28"/>
    <p:sldId id="2953" r:id="rId29"/>
    <p:sldId id="3002" r:id="rId30"/>
    <p:sldId id="3003" r:id="rId31"/>
    <p:sldId id="3004" r:id="rId32"/>
    <p:sldId id="2908" r:id="rId33"/>
    <p:sldId id="3005" r:id="rId34"/>
    <p:sldId id="3008" r:id="rId35"/>
    <p:sldId id="1169" r:id="rId3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handoutMaster" Target="handoutMasters/handout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slide" Target="slides/slide2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34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jpeg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jpg"/><Relationship Id="rId8" Type="http://schemas.openxmlformats.org/officeDocument/2006/relationships/image" Target="../media/image24.jpe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hyperlink" Target="https://youtube.com/shorts/0qI4QgrOppQ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png"/><Relationship Id="rId3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33.jpeg"/><Relationship Id="rId5" Type="http://schemas.openxmlformats.org/officeDocument/2006/relationships/image" Target="../media/image34.jpeg"/><Relationship Id="rId6" Type="http://schemas.openxmlformats.org/officeDocument/2006/relationships/image" Target="../media/image35.jpeg"/><Relationship Id="rId7" Type="http://schemas.openxmlformats.org/officeDocument/2006/relationships/image" Target="../media/image36.jpeg"/><Relationship Id="rId8" Type="http://schemas.openxmlformats.org/officeDocument/2006/relationships/image" Target="../media/image37.jpe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第3章｜参考事例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タウンワークのLINE運用（公式事例・実際の画面・3つの仕組み）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3280"/>
            <a:ext cx="6048000" cy="585216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友だち追加の動線・あいさつ・リッチメニュー</a:t>
            </a:r>
          </a:p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単発バイト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検索行動のデータであり、応募後の行動そのものではない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［第2章］他社分析｜派遣・バイト大手のLINE運用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大手各社は、LINEを「求人を探す入口」か「希望を伺って求人を届ける場」として使っている。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応募の手続きは、サイト・アプリ・マイページで行う会社が多い。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6128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2704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追加の直後に希望を伺い、合う求人を届ける形は、派遣大手がすでに取り入れている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329940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出典｜各社の公式サイトのLINE紹介ページ・LINE公式アカウントのプロフィール（2026年10月22日確認）。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友だち数は表示値。マンパワーグループは「JOBNET」のアカウント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1784" y="1563029"/>
            <a:ext cx="9043416" cy="310896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4936" y="1563029"/>
            <a:ext cx="205740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会社（区分）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8056" y="1563029"/>
            <a:ext cx="114300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2496" y="1563029"/>
            <a:ext cx="3703319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LINEでできること（各社の案内）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7256" y="1563029"/>
            <a:ext cx="1783080" cy="310896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LINEの使い方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4936" y="18739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スタッフサービス</a:t>
            </a:r>
            <a:r>
              <a:rPr sz="10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sz="10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派遣</a:t>
            </a:r>
            <a:endParaRPr sz="10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2608056" y="18739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5,248,970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2496" y="1901054"/>
            <a:ext cx="3703319" cy="40294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希望に合う求人情報が届く</a:t>
            </a:r>
            <a:r>
              <a:rPr sz="11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  <a:endParaRPr lang="en-US" sz="11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ジョブタイプ診断、在宅・週4日以内など条件別の求人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7256" y="18739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探す入口＋診断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1784" y="233112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04936" y="23311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アデコ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8056" y="23311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1,010,975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2496" y="23311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追加後のアンケート（約1分）で希望を伺い、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条件に合う求人を配信。求人への応募も可能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637256" y="23311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希望を伺って届ける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4936" y="27883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ランスタッド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608056" y="27883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76,424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2496" y="27883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希望条件に合う求人の案内。入社書類の提出、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就業中のチャット相談・勤怠報告まで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7256" y="27883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届ける＋就業中の連絡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784" y="3245524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04936" y="3245524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マンパワーグループ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派遣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8056" y="3245524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11,030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2496" y="3245524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求人情報・キャンペーン・セミナーの配信。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応募はJOBNETのマイページから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37256" y="3245524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マイページへつなぐ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4936" y="37027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バイトル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8056" y="37027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15,848,943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42496" y="37027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おすすめ求人や、あなたに合った情報を届ける。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トークのメニューから条件・キーワードで探す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7256" y="37027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探す入口＋届ける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1784" y="4159925"/>
            <a:ext cx="9043416" cy="457200"/>
          </a:xfrm>
          <a:prstGeom prst="rect">
            <a:avLst/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04936" y="41599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マイナビバイト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バイト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8056" y="4280670"/>
            <a:ext cx="1143000" cy="21571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lang="en-US" altLang="ja-JP" sz="12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6,194,444</a:t>
            </a:r>
            <a:endParaRPr sz="12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3842496" y="41599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学生・主婦（夫）・フリーター向けの情報、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履歴書・面接対策、保存した求人の通知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7256" y="41599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情報・通知の配信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4936" y="4617125"/>
            <a:ext cx="20574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</a:t>
            </a:r>
            <a:r>
              <a:rPr sz="10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　単発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608056" y="4617125"/>
            <a:ext cx="114300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199,061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42496" y="4617125"/>
            <a:ext cx="3703319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あなたに合ったおすすめの求人を届ける。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仕事探し・申込みはアプリで行う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7256" y="4617125"/>
            <a:ext cx="1783080" cy="4572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届ける＋アプリへ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［第4章］構築｜友だち追加の動線と、その後の配信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どこで友だちになっても、まず求人診断で希望条件を伺い、その後の配信を場面ごとに変える。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216152"/>
            <a:ext cx="2450592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友だち追加の場面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1216152"/>
            <a:ext cx="1965959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216152"/>
            <a:ext cx="4352544" cy="274320"/>
          </a:xfrm>
          <a:prstGeom prst="rect">
            <a:avLst/>
          </a:prstGeom>
          <a:noFill/>
        </p:spPr>
        <p:txBody>
          <a:bodyPr wrap="square" lIns="36000" tIns="10800" rIns="36000" bIns="10800" anchor="b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その方に配信する内容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1545336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応募完了画面＊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（サンクスLINE誘導）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1545336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1545336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求人診断（希望条件5問）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面接・見学の前日のご案内、満了前に次のお仕事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2249424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2249424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応募せずに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2249424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条件に合う求人／時給・続けられるかの不安に回答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" y="2953512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2953512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知らない方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2953512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このアカウントでできること → 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条件に合う求人を3件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3657600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3657600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貴社を知った方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657600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求人診断（エリアは掲載地域から）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掲載エリアの新着求人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4361687"/>
            <a:ext cx="2450592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61687"/>
            <a:ext cx="1965959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（既存リスト）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361687"/>
            <a:ext cx="4352544" cy="6035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求人診断（次に探す時期も伺う）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時期に合わせて求人をご案内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5120639"/>
            <a:ext cx="9043416" cy="914400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66928" y="5138928"/>
            <a:ext cx="8769096" cy="87782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＊ 別途費用がかかるもの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サンクスLINE誘導：初期15万円・月額3万円〜　　② 離脱防止ポップアップ：初期1.5万円・月額3万円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 LINE広告（CPF）：広告費が別途かかる　　⑤ 通知メッセージ：初期10万円・月額8万円〜＋通数7円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サンクスLINE｜機能・費用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最初に電話のことを書く理由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知らない番号からの着信を、負担に感じる方は多い。先にお伝えすることで、安心して返信いただける。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求人を探す入口と、応募前の不安を減らすボタンを並べる。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画面はイメージ。ボタン名は運用しながら調整する</a:t>
            </a:r>
          </a:p>
        </p:txBody>
      </p:sp>
      <p:pic>
        <p:nvPicPr>
          <p:cNvPr id="27" name="Picture 26" descr="haken_richmenu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25" y="1287533"/>
            <a:ext cx="2844770" cy="4572000"/>
          </a:xfrm>
          <a:prstGeom prst="rect">
            <a:avLst/>
          </a:prstGeom>
        </p:spPr>
      </p:pic>
      <p:cxnSp>
        <p:nvCxnSpPr>
          <p:cNvPr id="28" name="Connector 27"/>
          <p:cNvCxnSpPr>
            <a:cxnSpLocks/>
          </p:cNvCxnSpPr>
          <p:nvPr/>
        </p:nvCxnSpPr>
        <p:spPr>
          <a:xfrm>
            <a:off x="3611702" y="3986136"/>
            <a:ext cx="507028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40131" y="3643599"/>
            <a:ext cx="2029011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探す・進む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条件に合う求人を探し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応募・登録はサイトで行う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 flipV="1">
            <a:off x="3611702" y="4842946"/>
            <a:ext cx="507028" cy="1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8730" y="4500410"/>
            <a:ext cx="1937847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不安を減らす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職場や働き方の疑問に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応募の前にお答えする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D0CBE-306A-322A-82C9-550529049B96}"/>
              </a:ext>
            </a:extLst>
          </p:cNvPr>
          <p:cNvSpPr txBox="1"/>
          <p:nvPr/>
        </p:nvSpPr>
        <p:spPr>
          <a:xfrm>
            <a:off x="6169142" y="1873884"/>
            <a:ext cx="384942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探す・進む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仕事情報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⇒条件に合う求人を探す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（応募はサイトで行う）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マイページ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⇒希望条件や応募状況を確認する</a:t>
            </a:r>
          </a:p>
          <a:p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登録・来社予約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⇒登録の手続き・来社の予約に進む</a:t>
            </a:r>
          </a:p>
          <a:p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不安を減らす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⇒仕事内容・給与・職場見学の疑問に答える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社員インタビュー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⇒実際に働く方の声で職場を知る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⇒電話以外に、</a:t>
            </a:r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でも相談できる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しくみ → 職場見学」の順に、疑問に答える。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比べ方を伝える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派遣会社の比べ方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同じ日に複数の会社を比べている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しくみを伝える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派遣のしくみ（3年ルール・契約期間）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［第4章］配信設計｜入口ごとの14日ステップ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どの入口から友だちになっても、Day0・2・6・10・14の5回で応募（CV）までつなげる。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入口ごとに、届ける順番と中身を変える。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Day0〜14は友だち追加からの日数。①の応募した方には、面接・見学の準備を先にお届けする。中身は前後検索（P10・P11）で調べられている順に合わせる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9768" y="1298448"/>
            <a:ext cx="1783080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入口（ゴール）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04288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63670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23052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82435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41817" y="1298448"/>
            <a:ext cx="1331366" cy="27432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304288" y="1600200"/>
            <a:ext cx="7168896" cy="0"/>
          </a:xfrm>
          <a:prstGeom prst="line">
            <a:avLst/>
          </a:prstGeom>
          <a:ln w="15875">
            <a:solidFill>
              <a:srgbClr val="1E276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29768" y="1700784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ゴール：面接・見学に来る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04288" y="1700784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31720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までの流れ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3663086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63670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91102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持ち物・服装</a:t>
            </a:r>
          </a:p>
        </p:txBody>
      </p:sp>
      <p:sp>
        <p:nvSpPr>
          <p:cNvPr id="56" name="Isosceles Triangle 55"/>
          <p:cNvSpPr/>
          <p:nvPr/>
        </p:nvSpPr>
        <p:spPr>
          <a:xfrm rot="5400000">
            <a:off x="5122468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23052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50484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3件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6581851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682435" y="1700784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09867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8041233" y="2039112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41817" y="1700784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69249" y="1700784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＋「条件を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変える」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9768" y="2578608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304288" y="2578608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31720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68" name="Isosceles Triangle 67"/>
          <p:cNvSpPr/>
          <p:nvPr/>
        </p:nvSpPr>
        <p:spPr>
          <a:xfrm rot="5400000">
            <a:off x="3663086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763670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91102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比べ方</a:t>
            </a:r>
          </a:p>
        </p:txBody>
      </p:sp>
      <p:sp>
        <p:nvSpPr>
          <p:cNvPr id="71" name="Isosceles Triangle 70"/>
          <p:cNvSpPr/>
          <p:nvPr/>
        </p:nvSpPr>
        <p:spPr>
          <a:xfrm rot="5400000">
            <a:off x="5122468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223052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250484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74" name="Isosceles Triangle 73"/>
          <p:cNvSpPr/>
          <p:nvPr/>
        </p:nvSpPr>
        <p:spPr>
          <a:xfrm rot="5400000">
            <a:off x="6581851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82435" y="2578608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709867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77" name="Isosceles Triangle 76"/>
          <p:cNvSpPr/>
          <p:nvPr/>
        </p:nvSpPr>
        <p:spPr>
          <a:xfrm rot="5400000">
            <a:off x="8041233" y="2916936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141817" y="2578608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69249" y="2578608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29768" y="3456432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304288" y="3456432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331720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できること→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83" name="Isosceles Triangle 82"/>
          <p:cNvSpPr/>
          <p:nvPr/>
        </p:nvSpPr>
        <p:spPr>
          <a:xfrm rot="5400000">
            <a:off x="3663086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63670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791102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登録から就業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までのサポート</a:t>
            </a:r>
          </a:p>
        </p:txBody>
      </p:sp>
      <p:sp>
        <p:nvSpPr>
          <p:cNvPr id="86" name="Isosceles Triangle 85"/>
          <p:cNvSpPr/>
          <p:nvPr/>
        </p:nvSpPr>
        <p:spPr>
          <a:xfrm rot="5400000">
            <a:off x="5122468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223052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250484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派遣のしくみ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（3年ルール・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契約期間）</a:t>
            </a:r>
          </a:p>
        </p:txBody>
      </p:sp>
      <p:sp>
        <p:nvSpPr>
          <p:cNvPr id="89" name="Isosceles Triangle 88"/>
          <p:cNvSpPr/>
          <p:nvPr/>
        </p:nvSpPr>
        <p:spPr>
          <a:xfrm rot="5400000">
            <a:off x="6581851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682435" y="3456432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709867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92" name="Isosceles Triangle 91"/>
          <p:cNvSpPr/>
          <p:nvPr/>
        </p:nvSpPr>
        <p:spPr>
          <a:xfrm rot="5400000">
            <a:off x="8041233" y="3794760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141817" y="3456432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169249" y="3456432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人気の求人の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9768" y="4334256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ゴール：応募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304288" y="4334256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331720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求人3件</a:t>
            </a:r>
          </a:p>
        </p:txBody>
      </p:sp>
      <p:sp>
        <p:nvSpPr>
          <p:cNvPr id="98" name="Isosceles Triangle 97"/>
          <p:cNvSpPr/>
          <p:nvPr/>
        </p:nvSpPr>
        <p:spPr>
          <a:xfrm rot="5400000">
            <a:off x="3663086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763670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791102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</a:t>
            </a:r>
          </a:p>
        </p:txBody>
      </p:sp>
      <p:sp>
        <p:nvSpPr>
          <p:cNvPr id="101" name="Isosceles Triangle 100"/>
          <p:cNvSpPr/>
          <p:nvPr/>
        </p:nvSpPr>
        <p:spPr>
          <a:xfrm rot="5400000">
            <a:off x="5122468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223052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250484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扶養内・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掛け持ちで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働くときの目安</a:t>
            </a:r>
          </a:p>
        </p:txBody>
      </p:sp>
      <p:sp>
        <p:nvSpPr>
          <p:cNvPr id="104" name="Isosceles Triangle 103"/>
          <p:cNvSpPr/>
          <p:nvPr/>
        </p:nvSpPr>
        <p:spPr>
          <a:xfrm rot="5400000">
            <a:off x="6581851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682435" y="4334256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09867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面接・見学の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流れと持ち物</a:t>
            </a:r>
          </a:p>
        </p:txBody>
      </p:sp>
      <p:sp>
        <p:nvSpPr>
          <p:cNvPr id="107" name="Isosceles Triangle 106"/>
          <p:cNvSpPr/>
          <p:nvPr/>
        </p:nvSpPr>
        <p:spPr>
          <a:xfrm rot="5400000">
            <a:off x="8041233" y="4672584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41817" y="4334256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169249" y="4334256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＋応募のご案内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29768" y="5212080"/>
            <a:ext cx="1783080" cy="804672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D6DBEA"/>
                </a:solidFill>
                <a:latin typeface="メイリオ"/>
                <a:ea typeface="メイリオ"/>
                <a:cs typeface="メイリオ"/>
              </a:rPr>
              <a:t>ゴール：再応募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304288" y="5212080"/>
            <a:ext cx="1331366" cy="804672"/>
          </a:xfrm>
          <a:prstGeom prst="rect">
            <a:avLst/>
          </a:prstGeom>
          <a:solidFill>
            <a:srgbClr val="F4F7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331720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求人診断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（次に探す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時期も）</a:t>
            </a:r>
          </a:p>
        </p:txBody>
      </p:sp>
      <p:sp>
        <p:nvSpPr>
          <p:cNvPr id="113" name="Isosceles Triangle 112"/>
          <p:cNvSpPr/>
          <p:nvPr/>
        </p:nvSpPr>
        <p:spPr>
          <a:xfrm rot="5400000">
            <a:off x="3663086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763670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791102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時期が近い方に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合う求人3件</a:t>
            </a:r>
          </a:p>
        </p:txBody>
      </p:sp>
      <p:sp>
        <p:nvSpPr>
          <p:cNvPr id="116" name="Isosceles Triangle 115"/>
          <p:cNvSpPr/>
          <p:nvPr/>
        </p:nvSpPr>
        <p:spPr>
          <a:xfrm rot="5400000">
            <a:off x="5122468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223052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250484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更新しないとき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の次の探し方</a:t>
            </a:r>
          </a:p>
        </p:txBody>
      </p:sp>
      <p:sp>
        <p:nvSpPr>
          <p:cNvPr id="119" name="Isosceles Triangle 118"/>
          <p:cNvSpPr/>
          <p:nvPr/>
        </p:nvSpPr>
        <p:spPr>
          <a:xfrm rot="5400000">
            <a:off x="6581851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6682435" y="5212080"/>
            <a:ext cx="1331366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709867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前回と近い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職種の新着</a:t>
            </a:r>
          </a:p>
        </p:txBody>
      </p:sp>
      <p:sp>
        <p:nvSpPr>
          <p:cNvPr id="122" name="Isosceles Triangle 121"/>
          <p:cNvSpPr/>
          <p:nvPr/>
        </p:nvSpPr>
        <p:spPr>
          <a:xfrm rot="5400000">
            <a:off x="8041233" y="5550408"/>
            <a:ext cx="73152" cy="128016"/>
          </a:xfrm>
          <a:prstGeom prst="triangl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141817" y="5212080"/>
            <a:ext cx="1331366" cy="80467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69249" y="5212080"/>
            <a:ext cx="1276502" cy="804672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新着のまとめ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＋「条件を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変える」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働き方のしくみを先に伝えることで、信頼につなげる。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3年ルール・契約期間のしくみだけを伝える。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前後検索でも「派遣 3年ルール」が調べられている。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7" name="Picture 16" descr="haken_day6_shiku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［第4章］配信設計｜入口①　応募完了画面からの14日ステップ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応募した方には、面接・職場見学の準備を先にお届けし、来ていただくまでつなげる。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応募完了画面（サンクスLINE誘導）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面接・職場見学に来る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追加直後：診断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ご応募ありがとうございます！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・3問の求人診断で希望を確認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・日程の確認・変更はLINEで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0〜+2日に派遣会社名が並ぶ（エン派遣・アデコ・パソナ）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日程を確認する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来ていただく準備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面接・見学の前に確認したい3つのこと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・持ち物（本人確認書類など）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・服装の目安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・会場までの行き方・連絡先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持ち物を確認する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ほかの求人も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ほかにも、条件に合う求人があります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・診断の回答に合う求人3件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・時給・エリア・曜日を並べて比較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しくみの説明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派遣で働く前に知っておきたいこと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・3年ルールのしくみ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・契約期間と更新の流れ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次の応募へ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今週の新着と、条件の見直し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・「条件を変える」で希望を更新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・次の応募のご案内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5日後「派遣 更新しない」＝次の仕事を考え始めている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条件を変える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［第4章］配信設計｜入口②　離脱防止ポップアップからの14日ステップ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LPを離れた方には、比べるときの疑問に順に答え、14日目に応募をご案内する。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離脱防止ポップアップ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応募せずにLPを離れた方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追加直後：診断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30秒で、合うお仕事が分かります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・3問の求人診断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・回答に合う求人3件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0〜+2日に派遣会社名が並ぶ（エン派遣・アデコ・パソナ）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会社の比べ方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派遣会社を選ぶときの3つのポイント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・求人の数とエリア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・登録から就業までのサポート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・お給料の受け取り方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比べ方を見る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しくみの説明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派遣のしくみ、3分で分かります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・3年ルールのしくみ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・契約期間と更新の流れ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・この回は求人をお送りしない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応募のあとは、こう進みます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・応募から就業までの流れ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・持ち物・服装の目安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・日程の変更はLINEで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応募のご案内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今週の新着をまとめました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［第4章］配信設計｜入口③　LINE広告からの14日ステップ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まだ貴社を知らない方には、できることとサポートを先に伝え、14日目に応募をご案内する。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LINE広告（CPF）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まだ貴社を知らない方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できることの紹介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このLINEでできること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・3問の求人診断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・条件に合う求人のお知らせ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・面接・見学の日程の確認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−7〜−1日「バイト 求人」「ハローワーク 求人」で探し始めている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選ぶ理由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登録から働き始めるまで、サポートします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・登録から就業までの流れ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・担当者のサポート内容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0〜+2日に派遣会社名が並ぶ（エン派遣・アデコ・パソナ）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サポートを見る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しくみの説明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派遣で働く前に知っておきたいこと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・3年ルールのしくみ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・契約期間と更新の流れ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しくみを見る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応募のあとは、こう進みます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・応募から就業までの流れ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・持ち物・服装の目安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・日程の変更はLINEで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応募のご案内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いま人気の求人をまとめました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・人気の求人のまとめ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［第4章］配信設計｜入口④　求人誌・店頭のQRコードからの14日ステップ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求人誌・店頭で知った方には、掲載エリアの求人を中心に届け、14日目に応募をご案内する。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求人誌・店頭のQRコード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求人誌・店頭で貴社を知った方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地域の求人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掲載エリアのお仕事をまとめました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・3問の求人診断（エリアは掲載地域）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・掲載エリアの求人3件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—（求人誌・店頭で見た地域から始める）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近くの新着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近くの新着が入りました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・掲載エリアの新着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・時給・曜日を並べて比較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0〜+2日「短期バイト」「単発バイト アプリ」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新着を見る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働く条件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扶養内・掛け持ちで働くときの目安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・扶養内で働くときの目安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・掛け持ちのときの確定申告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・合う働き方の選び方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+1〜+15日「ダブルワーク 扶養内 いくらまで」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目安を見る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応募の準備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応募のあとは、こう進みます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・応募から就業までの流れ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・持ち物・服装の目安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・日程の変更はLINEで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+1〜+15日「派遣 職場見学」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流れを見る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応募のご案内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今週の新着をまとめました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［第4章］配信設計｜入口⑤　通知メッセージからの14日ステップ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47088" y="676656"/>
            <a:ext cx="7754112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過去に応募した方には、次に探す時期を伺い、時期に合わせて再応募をご案内する。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Day0〜14は友だち追加からの日数。検索データは前後検索（P10・P11）より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0896" y="676656"/>
            <a:ext cx="1417320" cy="457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入口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通知メッセージ（既存リスト）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80816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6535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31864" y="1261872"/>
            <a:ext cx="294132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77584" y="1261872"/>
            <a:ext cx="2849880" cy="51206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ゴール（CV）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再応募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9768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時期を伺う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次のお仕事、いつ頃から探しますか？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・次に探す時期を伺う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・希望条件の確認（3問）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・時期に合わせてご案内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1208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7784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 3年ルール」＝先の働き方も気にしている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1208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診断に答える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64054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264054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Day2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先にお届け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55494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探し始めの方に、先にお届けします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55494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・時期が近い方に合う求人3件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・前回の希望条件をもとに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・気になる求人はそのまま応募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355494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92070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355494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求人を見る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098340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98340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満了前の疑問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189780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契約を更新しないときの、次の探し方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89780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・契約満了までの流れ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・次のお仕事の探し方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89780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226356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5日後「派遣 更新しない」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89780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探し方を見る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32627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932627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Day10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経験を生かす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24067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前回と近いお仕事の新着です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24067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・前回と近い職種の新着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・経験を生かせる求人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・条件の変更もこちらから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24067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60643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—（前回の応募職種をもとに出し分け）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24067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新着を見る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66913" y="1883664"/>
            <a:ext cx="1706270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66913" y="1883664"/>
            <a:ext cx="1706270" cy="566928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Day14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再応募のご案内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58353" y="2523744"/>
            <a:ext cx="1523390" cy="749807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今週の新着と、条件の見直し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858353" y="3291840"/>
            <a:ext cx="1523390" cy="13716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・条件に合う新着のまとめ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・「条件を変える」で希望を更新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・再応募のご案内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858353" y="4700016"/>
            <a:ext cx="1523390" cy="786384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894929" y="4736592"/>
            <a:ext cx="1450238" cy="713232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［検索データ］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—（Day0〜10の反応をもとにご案内）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858353" y="5632704"/>
            <a:ext cx="1523390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141755</TotalTime>
  <Words>4481</Words>
  <Application>Microsoft Office PowerPoint</Application>
  <PresentationFormat>A4 210 x 297 mm</PresentationFormat>
  <Paragraphs>819</Paragraphs>
  <Slides>34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34</vt:i4>
      </vt:variant>
    </vt:vector>
  </HeadingPairs>
  <TitlesOfParts>
    <vt:vector size="41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1931</cp:revision>
  <cp:lastPrinted>2022-11-01T11:38:14Z</cp:lastPrinted>
  <dcterms:created xsi:type="dcterms:W3CDTF">2015-09-04T09:21:15Z</dcterms:created>
  <dcterms:modified xsi:type="dcterms:W3CDTF">2026-10-22T07:46:19Z</dcterms:modified>
</cp:coreProperties>
</file>