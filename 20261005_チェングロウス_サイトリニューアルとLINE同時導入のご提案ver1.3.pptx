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3021" r:id="rId43"/>
    <p:sldId id="3034" r:id="rId28"/>
    <p:sldId id="3022" r:id="rId44"/>
    <p:sldId id="3026" r:id="rId48"/>
    <p:sldId id="3023" r:id="rId45"/>
    <p:sldId id="2987" r:id="rId10"/>
    <p:sldId id="3027" r:id="rId49"/>
    <p:sldId id="3035" r:id="rId29"/>
    <p:sldId id="2971" r:id="rId6"/>
    <p:sldId id="2972" r:id="rId7"/>
    <p:sldId id="3025" r:id="rId47"/>
    <p:sldId id="3036" r:id="rId26"/>
    <p:sldId id="3028" r:id="rId50"/>
    <p:sldId id="3029" r:id="rId51"/>
    <p:sldId id="3030" r:id="rId52"/>
    <p:sldId id="3031" r:id="rId53"/>
    <p:sldId id="3037" r:id="rId31"/>
    <p:sldId id="3032" r:id="rId54"/>
    <p:sldId id="3033" r:id="rId55"/>
    <p:sldId id="2991" r:id="rId30"/>
    <p:sldId id="3024" r:id="rId46"/>
    <p:sldId id="2990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10" Type="http://schemas.openxmlformats.org/officeDocument/2006/relationships/slide" Target="slides/slide10.xml"/><Relationship Id="rId26" Type="http://schemas.openxmlformats.org/officeDocument/2006/relationships/slide" Target="slides/slide22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18.xml"/><Relationship Id="rId31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1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300" b="1">
                  <a:solidFill>
                    <a:srgbClr val="1F285A"/>
                  </a:solidFill>
                  <a:latin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―新サイトの集客力と応募率を最大化する「同時導入」プラン―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1764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0000" y="1872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0" y="1872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サイト改修後も残る課題と、LINEの役割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0000" y="2790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000" y="2898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898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タウンワークの実績と勝因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0000" y="3816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0000" y="3924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8000" y="3924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導線・画面・自動応答のイメージ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000" y="4842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0000" y="4950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4950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友だち獲得の試算・費用・進め方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0000" y="5868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サイトを新しくしても、応募しない「検討層・離脱層」は残る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その後の接点が残らない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整備士は、複数の経路を比べて仕事を探している（仕事を探した経路・複数回答）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解決策｜Web × LINEの同時導入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応募に至らない方を、LINEの友だちとしてストックする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新着求人を配信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会員の予備軍が貯まる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配信のクリックで、興味のある職種が分かる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4月から成果を出すために、11月頃から準備を始める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3096000"/>
            <a:ext cx="7848000" cy="0"/>
          </a:xfrm>
          <a:prstGeom prst="line">
            <a:avLst/>
          </a:prstGeom>
          <a:ln w="317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</a:t>
            </a:r>
          </a:p>
        </p:txBody>
      </p:sp>
      <p:sp>
        <p:nvSpPr>
          <p:cNvPr id="8" name="Oval 7"/>
          <p:cNvSpPr/>
          <p:nvPr/>
        </p:nvSpPr>
        <p:spPr>
          <a:xfrm>
            <a:off x="2088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サイト制作段階から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LINE連携を設計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999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公開後の大きな改修を避けられる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6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2" name="Oval 11"/>
          <p:cNvSpPr/>
          <p:nvPr/>
        </p:nvSpPr>
        <p:spPr>
          <a:xfrm>
            <a:off x="4662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6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公開前に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申請・実装・検証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公開日からすぐ施策を動かせる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6" name="Oval 15"/>
          <p:cNvSpPr/>
          <p:nvPr/>
        </p:nvSpPr>
        <p:spPr>
          <a:xfrm>
            <a:off x="7235999" y="2808000"/>
            <a:ext cx="576000" cy="576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4月から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そのまま本格運用へ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運用設計をやり直す必要がない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148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202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初期構築から運用・改善まで一貫して支援することで、サイト公開後もスムーズに本格運用へ移行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【事例】求人業界におけるLINE活用のインパクト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「タウンワーク」は、LINEリッチメニューからの検索強化で、応募数が79%増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総合大手の求人サービスは、数十万〜数百万人規模でLINEを活用している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リッチメニューに人気の検索条件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</a:t>
            </a:r>
            <a:endParaRPr lang="en-US"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条件に合う求人がカードで並ぶ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検索結果から、サイトで応募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導入事例（タウンワーク・2019年公開）／友だち数：page.line.me（公式）2026-09-21実測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勝因は、ワンタップで求人を探せる常設の入口（リッチメニュー）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求人を受け取るための会員連携を案内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時間帯などの条件がワンタップ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資格・職種・こだわり条件は、LINEのワンタップ検索と相性が良い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1999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現行サイトは「その場の応募」のみで、求職者データが残らない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氏名・経歴・パスワードの入力が壁に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長期的に育てるリストがない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LINEによるエントリーハードルの低減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Profile+で、登録は「確認して押すだけ」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項目ごとに申請・LINEヤフー社の審査あり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蓄積した友だちに、条件に合う求人をLINEで直接届ける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応募前の方とも接点が残る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新サイトのあらゆる接点から、自然にLINEへ誘導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求人詳細</a:t>
            </a:r>
          </a:p>
        </p:txBody>
      </p:sp>
      <p:sp>
        <p:nvSpPr>
          <p:cNvPr id="7" name="Down Arrow 6"/>
          <p:cNvSpPr/>
          <p:nvPr/>
        </p:nvSpPr>
        <p:spPr>
          <a:xfrm>
            <a:off x="1656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56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キープ画面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780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LINEでキープ」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80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相談窓口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03999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03999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28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64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応募完了後の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028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71999"/>
            <a:ext cx="8319600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　友だち追加＝会員・見込み客のストック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860000" y="4212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1999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条件検索・相談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08000" y="471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2000" y="4464000"/>
            <a:ext cx="1475999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サイトへ戻って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※キープ画面・相談窓口は、新サイトに追加する接点の想定。シミュレーションの数字に含めるのは動線00・01のみ（動線02は含めない）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ユーザー体験イメージ①｜サイト訪問からLINE保存まで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ポップアップ・ボタンで、サイトからその場でLINEへ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655999"/>
            <a:ext cx="4031999" cy="25219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離脱防止ポップアップ（動線00）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離脱しそうな方に「新着求人をLINEでお届け」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「LINEで登録」ボタン（動線01）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会員登録と友だち追加が同時に完了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12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ポップアップ・ボタンの訴求の例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「気になる求人をLINEでキープ」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「LINEで適正年収を相談」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「新着求人をLINEでお届け」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自動車求人に特化したリッチメニューを、トーク画面に常設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44000" rIns="108000" bIns="36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職種をタップ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求人ページからサイトで応募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友だち追加直後のアンケートで、資格・希望時期を把握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友だち登録数・獲得シミュレーション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新サイトの来訪（月約6,100人）に応じて、友だちは半年で542人まで増加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000" y="1548000"/>
          <a:ext cx="8316000" cy="201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/>
        </p:nvGraphicFramePr>
        <p:xfrm>
          <a:off x="793680" y="3671999"/>
          <a:ext cx="8319744" cy="16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月約6,100人（広告のシミュレーション確定後に差し替え）／LINEで登録＝来訪者の1.0%／会員登録（CV①）・応募（CV②）はLINEでの登録・リッチメニューと配信からの件数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 → サイト → LINE → 応募の流れの中で、費用がかかる場所を分けて見る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28000"/>
            <a:ext cx="2160000" cy="827999"/>
          </a:xfrm>
          <a:prstGeom prst="homePlate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広告・流入</a:t>
            </a:r>
          </a:p>
        </p:txBody>
      </p:sp>
      <p:sp>
        <p:nvSpPr>
          <p:cNvPr id="7" name="Chevron 6"/>
          <p:cNvSpPr/>
          <p:nvPr/>
        </p:nvSpPr>
        <p:spPr>
          <a:xfrm>
            <a:off x="2844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8" name="Chevron 7"/>
          <p:cNvSpPr/>
          <p:nvPr/>
        </p:nvSpPr>
        <p:spPr>
          <a:xfrm>
            <a:off x="4896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LINEで接点を残す</a:t>
            </a:r>
          </a:p>
        </p:txBody>
      </p:sp>
      <p:sp>
        <p:nvSpPr>
          <p:cNvPr id="9" name="Chevron 8"/>
          <p:cNvSpPr/>
          <p:nvPr/>
        </p:nvSpPr>
        <p:spPr>
          <a:xfrm>
            <a:off x="6948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4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6000" y="2700000"/>
            <a:ext cx="4212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担い手：各広告媒体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サイトへの来訪を増やす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担い手：サイト制作会社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見やすさ・検索性・応募フォームを改善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2826000"/>
            <a:ext cx="4212000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担い手：弊社（本提案）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来訪者を友だち・会員として蓄積し、応募までつなげる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140000"/>
            <a:ext cx="432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4140000"/>
            <a:ext cx="3744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LINEの費用は、サイト制作費・広告費とは役割が異なる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4140000"/>
            <a:ext cx="4212000" cy="936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72000" rIns="144000" bIns="7200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LINE独自構築費のかかり方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初期費用：11月頃〜　｜　月額費用：4月〜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LINE公式アカウント利用料：別途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LINE連携開発：内容に応じて別途お見積もり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40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49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LINEの費用を分けることで、友だち・会員・応募への効果を単独で把握できる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LINE運用コンサルの固定費を基本に、必要な施策だけ追加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584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基本固定費（LINE運用コンサル）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908000"/>
            <a:ext cx="4104000" cy="12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11月頃〜の設計・初期構築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0000" y="2015999"/>
            <a:ext cx="0" cy="1116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4000" y="1908000"/>
            <a:ext cx="4104000" cy="12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4月以降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月額 </a:t>
            </a: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配信・分析・改善・毎月のレポート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276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 LINE公式アカウント利用料（開設3万円〜／月額0.5万円〜・配信通数で変動）　　＋ 必要に応じて追加施策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780000"/>
            <a:ext cx="432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オプション（必要に応じて）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0" y="3780000"/>
            <a:ext cx="1368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0" y="3780000"/>
            <a:ext cx="1368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000" y="4050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4086000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8000" y="4086000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ページを離れる方をLINEへ誘導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4086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1.5万円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000" y="4086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4482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4518000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8000" y="4518000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応募完了後にLINEへ誘導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8000" y="4518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0" y="4518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000" y="4913999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000" y="4949999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Profile+／LINE連携開発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8000" y="4949999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登録の自動入力・会員連携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8000" y="4949999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別途お見積もり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345999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56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体制：弊社＝設計・運用・制作・毎月のレポート／貴社＝求人情報・面談体制の共有、サイト制作会社様との連携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スケジュール｜11月頃から初期構築、4月から本格運用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11月〜3月で設計・構築し、4月のサイト公開と同時に運用へ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584000"/>
            <a:ext cx="4608000" cy="306000"/>
          </a:xfrm>
          <a:prstGeom prst="homePlate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11月〜3月｜設計・構築</a:t>
            </a:r>
          </a:p>
        </p:txBody>
      </p:sp>
      <p:sp>
        <p:nvSpPr>
          <p:cNvPr id="7" name="Chevron 6"/>
          <p:cNvSpPr/>
          <p:nvPr/>
        </p:nvSpPr>
        <p:spPr>
          <a:xfrm>
            <a:off x="5256000" y="1584000"/>
            <a:ext cx="3852000" cy="306000"/>
          </a:xfrm>
          <a:prstGeom prst="chevron">
            <a:avLst>
              <a:gd name="adj" fmla="val 5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8000" rIns="108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4月〜｜運用・改善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2000" y="1925999"/>
            <a:ext cx="381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1999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0000" y="2214000"/>
            <a:ext cx="4463999" cy="37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214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アカウント・リッチメニュー・配信シナリオ・計測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000" y="2646000"/>
            <a:ext cx="4463999" cy="37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646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連携仕様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サイト制作会社と、LINE連携の仕様を調整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00" y="3078000"/>
            <a:ext cx="4463999" cy="378000"/>
          </a:xfrm>
          <a:prstGeom prst="rect">
            <a:avLst/>
          </a:prstGeom>
          <a:solidFill>
            <a:srgbClr val="E4E8F6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3078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実装・検証　</a:t>
            </a: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開発・実装・公開前テスト</a:t>
            </a:r>
          </a:p>
        </p:txBody>
      </p:sp>
      <p:sp>
        <p:nvSpPr>
          <p:cNvPr id="24" name="Diamond 23"/>
          <p:cNvSpPr/>
          <p:nvPr/>
        </p:nvSpPr>
        <p:spPr>
          <a:xfrm>
            <a:off x="5130000" y="3564000"/>
            <a:ext cx="324000" cy="324000"/>
          </a:xfrm>
          <a:prstGeom prst="diamond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36000" y="3726000"/>
            <a:ext cx="4140000" cy="0"/>
          </a:xfrm>
          <a:prstGeom prst="line">
            <a:avLst/>
          </a:prstGeom>
          <a:ln w="19050">
            <a:solidFill>
              <a:srgbClr val="1F28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08000" y="3510000"/>
            <a:ext cx="3600000" cy="43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サイト公開　／　LINE本格稼働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10000" y="3941999"/>
            <a:ext cx="3780000" cy="37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0" y="3941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ステップ配信・企画配信・応募への追客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0000" y="4373999"/>
            <a:ext cx="3780000" cy="378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0" y="4373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分析　</a:t>
            </a:r>
            <a:r>
              <a:rPr sz="11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KPI計測・月次レポート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0000" y="4805999"/>
            <a:ext cx="3780000" cy="378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0" y="4805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改善　</a:t>
            </a:r>
            <a:r>
              <a:rPr sz="11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導線・配信・セグメントを改善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92000" y="1925999"/>
            <a:ext cx="0" cy="3312001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2000" y="5346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2000" y="540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初期構築で設計した内容を、そのまま運用へ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000" y="5903999"/>
            <a:ext cx="831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※11月頃〜3月は設計・構築が中心。必要に応じて一部施策の先行稼働も検討可能（先行稼働分はシミュレーションに含めない）／LINE Profile+の審査期間は申請内容により変動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サイトリニューアルだけでは残る「検討層・離脱層」をLINEでストック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大手求人サービスの事例から、自動車求人Naviで使える型を整理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サイトとLINEをつなぎ、会員登録から応募までの導線を設計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11月頃から初期構築を進め、4月から本格運用へ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