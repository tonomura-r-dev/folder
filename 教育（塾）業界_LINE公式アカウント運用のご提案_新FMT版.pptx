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8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52.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73"/>
  </p:notesMasterIdLst>
  <p:handoutMasterIdLst>
    <p:handoutMasterId r:id="rId74"/>
  </p:handoutMasterIdLst>
  <p:sldIdLst>
    <p:sldId id="2363" r:id="rId3"/>
    <p:sldId id="2726" r:id="rId4"/>
    <p:sldId id="3194" r:id="rId79"/>
    <p:sldId id="2721" r:id="rId5"/>
    <p:sldId id="2723" r:id="rId6"/>
    <p:sldId id="2724" r:id="rId7"/>
    <p:sldId id="3150" r:id="rId8"/>
    <p:sldId id="3151" r:id="rId9"/>
    <p:sldId id="2365" r:id="rId10"/>
    <p:sldId id="2725" r:id="rId11"/>
    <p:sldId id="3195" r:id="rId80"/>
    <p:sldId id="2727" r:id="rId12"/>
    <p:sldId id="3152" r:id="rId13"/>
    <p:sldId id="3153" r:id="rId14"/>
    <p:sldId id="3132" r:id="rId15"/>
    <p:sldId id="3154" r:id="rId16"/>
    <p:sldId id="3155" r:id="rId17"/>
    <p:sldId id="3156" r:id="rId18"/>
    <p:sldId id="3157" r:id="rId19"/>
    <p:sldId id="3158" r:id="rId20"/>
    <p:sldId id="3159" r:id="rId21"/>
    <p:sldId id="3160" r:id="rId22"/>
    <p:sldId id="3161" r:id="rId23"/>
    <p:sldId id="3162" r:id="rId24"/>
    <p:sldId id="3163" r:id="rId25"/>
    <p:sldId id="3164" r:id="rId26"/>
    <p:sldId id="3165" r:id="rId27"/>
    <p:sldId id="2728" r:id="rId28"/>
    <p:sldId id="3217" r:id="rId102"/>
    <p:sldId id="3218" r:id="rId103"/>
    <p:sldId id="3219" r:id="rId104"/>
    <p:sldId id="3220" r:id="rId105"/>
    <p:sldId id="3221" r:id="rId106"/>
    <p:sldId id="3222" r:id="rId107"/>
    <p:sldId id="3223" r:id="rId108"/>
    <p:sldId id="3224" r:id="rId109"/>
    <p:sldId id="3166" r:id="rId29"/>
    <p:sldId id="3167" r:id="rId30"/>
    <p:sldId id="3168" r:id="rId31"/>
    <p:sldId id="3169" r:id="rId32"/>
    <p:sldId id="3170" r:id="rId33"/>
    <p:sldId id="3171" r:id="rId34"/>
    <p:sldId id="3172" r:id="rId35"/>
    <p:sldId id="3173" r:id="rId36"/>
    <p:sldId id="3174" r:id="rId37"/>
    <p:sldId id="3175" r:id="rId38"/>
    <p:sldId id="3176" r:id="rId39"/>
    <p:sldId id="3177" r:id="rId40"/>
    <p:sldId id="3178" r:id="rId41"/>
    <p:sldId id="2729" r:id="rId42"/>
    <p:sldId id="3196" r:id="rId81"/>
    <p:sldId id="3197" r:id="rId82"/>
    <p:sldId id="3198" r:id="rId83"/>
    <p:sldId id="3199" r:id="rId84"/>
    <p:sldId id="2730" r:id="rId44"/>
    <p:sldId id="3200" r:id="rId85"/>
    <p:sldId id="3201" r:id="rId86"/>
    <p:sldId id="3202" r:id="rId87"/>
    <p:sldId id="3203" r:id="rId88"/>
    <p:sldId id="3204" r:id="rId89"/>
    <p:sldId id="3136" r:id="rId54"/>
    <p:sldId id="3205" r:id="rId90"/>
    <p:sldId id="3206" r:id="rId91"/>
    <p:sldId id="3207" r:id="rId92"/>
    <p:sldId id="3208" r:id="rId93"/>
    <p:sldId id="3209" r:id="rId94"/>
    <p:sldId id="3210" r:id="rId95"/>
    <p:sldId id="3211" r:id="rId96"/>
    <p:sldId id="3212" r:id="rId97"/>
    <p:sldId id="3213" r:id="rId98"/>
    <p:sldId id="3214" r:id="rId99"/>
    <p:sldId id="3215" r:id="rId100"/>
    <p:sldId id="3216" r:id="rId101"/>
    <p:sldId id="1169" r:id="rId59"/>
    <p:sldId id="3181" r:id="rId60"/>
    <p:sldId id="3182" r:id="rId61"/>
    <p:sldId id="3183" r:id="rId62"/>
    <p:sldId id="3184" r:id="rId63"/>
    <p:sldId id="3185" r:id="rId64"/>
    <p:sldId id="3186" r:id="rId65"/>
    <p:sldId id="3187" r:id="rId66"/>
    <p:sldId id="3188" r:id="rId67"/>
    <p:sldId id="3189" r:id="rId68"/>
    <p:sldId id="3190" r:id="rId69"/>
    <p:sldId id="3191" r:id="rId70"/>
    <p:sldId id="3192" r:id="rId71"/>
    <p:sldId id="3193" r:id="rId7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4" Type="http://schemas.openxmlformats.org/officeDocument/2006/relationships/slide" Target="slides/slide42.xml"/><Relationship Id="rId54" Type="http://schemas.openxmlformats.org/officeDocument/2006/relationships/slide" Target="slides/slide52.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notesMaster" Target="notesMasters/notesMaster1.xml"/><Relationship Id="rId74" Type="http://schemas.openxmlformats.org/officeDocument/2006/relationships/handoutMaster" Target="handoutMasters/handout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6.png"/><Relationship Id="rId3" Type="http://schemas.openxmlformats.org/officeDocument/2006/relationships/image" Target="../media/image7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jpg"/><Relationship Id="rId3" Type="http://schemas.openxmlformats.org/officeDocument/2006/relationships/image" Target="../media/image79.jp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svg"/><Relationship Id="rId7" Type="http://schemas.openxmlformats.org/officeDocument/2006/relationships/image" Target="../media/image8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jpg"/><Relationship Id="rId3" Type="http://schemas.openxmlformats.org/officeDocument/2006/relationships/image" Target="../media/image90.jp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53.jpeg"/><Relationship Id="rId8" Type="http://schemas.openxmlformats.org/officeDocument/2006/relationships/image" Target="../media/image91.jpg"/><Relationship Id="rId9" Type="http://schemas.openxmlformats.org/officeDocument/2006/relationships/image" Target="../media/image54.png"/><Relationship Id="rId10" Type="http://schemas.openxmlformats.org/officeDocument/2006/relationships/image" Target="../media/image92.png"/><Relationship Id="rId11" Type="http://schemas.openxmlformats.org/officeDocument/2006/relationships/hyperlink" Target="https://youtube.com/shorts/0qI4QgrOppQ"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保護者の「迷っている期間」に寄り添い、資料請求から入会までをつなぐ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出生数は8年で27.7%減った一方、学習塾市場は伸びている。</a:t>
            </a:r>
          </a:p>
          <a:p>
            <a:pPr algn="l">
              <a:lnSpc>
                <a:spcPct val="128000"/>
              </a:lnSpc>
            </a:pPr>
            <a:r>
              <a:rPr sz="1200" dirty="0" err="1">
                <a:solidFill>
                  <a:srgbClr val="333333"/>
                </a:solidFill>
                <a:latin typeface="メイリオ"/>
                <a:ea typeface="メイリオ"/>
                <a:cs typeface="メイリオ"/>
              </a:rPr>
              <a:t>子どもの数が減るなか、一人ひとりに選ばれるための競争が強まっている。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675599"/>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675599"/>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子どもの数は今後も減り、競争はさらに強まる。検討中の保護者を取りこぼさない仕組みが重要。</a:t>
            </a:r>
          </a:p>
        </p:txBody>
      </p:sp>
      <p:sp>
        <p:nvSpPr>
          <p:cNvPr id="19" name="Rounded Rectangle 18"/>
          <p:cNvSpPr/>
          <p:nvPr/>
        </p:nvSpPr>
        <p:spPr>
          <a:xfrm>
            <a:off x="432000" y="4431599"/>
            <a:ext cx="9043200" cy="1058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485599"/>
            <a:ext cx="8827200" cy="960219"/>
          </a:xfrm>
          <a:prstGeom prst="rect">
            <a:avLst/>
          </a:prstGeom>
          <a:noFill/>
        </p:spPr>
        <p:txBody>
          <a:bodyPr wrap="square" lIns="50400" tIns="21600" rIns="50400" bIns="21600" anchor="t">
            <a:spAutoFit/>
          </a:bodyPr>
          <a:lstStyle/>
          <a:p>
            <a:pPr algn="l">
              <a:spcAft>
                <a:spcPts val="400"/>
              </a:spcAft>
            </a:pPr>
            <a:r>
              <a:rPr sz="1400" b="1" dirty="0">
                <a:solidFill>
                  <a:srgbClr val="C00000"/>
                </a:solidFill>
                <a:latin typeface="メイリオ"/>
                <a:ea typeface="メイリオ"/>
                <a:cs typeface="メイリオ"/>
              </a:rPr>
              <a:t>市場規模は「定義」で約2倍変わる</a:t>
            </a:r>
          </a:p>
          <a:p>
            <a:pPr algn="l">
              <a:lnSpc>
                <a:spcPct val="125000"/>
              </a:lnSpc>
              <a:spcAft>
                <a:spcPts val="200"/>
              </a:spcAft>
            </a:pPr>
            <a:r>
              <a:rPr sz="1100" dirty="0">
                <a:solidFill>
                  <a:srgbClr val="333333"/>
                </a:solidFill>
                <a:latin typeface="メイリオ"/>
                <a:ea typeface="メイリオ"/>
                <a:cs typeface="メイリオ"/>
              </a:rPr>
              <a:t>経産省「特定サービス産業動態統計」4,965億円＝受講生500人以上の主要事業者のみ（市場の約4〜5割）。</a:t>
            </a:r>
            <a:r>
              <a:rPr sz="1100" dirty="0" err="1">
                <a:solidFill>
                  <a:srgbClr val="333333"/>
                </a:solidFill>
                <a:latin typeface="メイリオ"/>
                <a:ea typeface="メイリオ"/>
                <a:cs typeface="メイリオ"/>
              </a:rPr>
              <a:t>個人塾・中小は含まない</a:t>
            </a:r>
            <a:r>
              <a:rPr sz="1100" dirty="0">
                <a:solidFill>
                  <a:srgbClr val="333333"/>
                </a:solidFill>
                <a:latin typeface="メイリオ"/>
                <a:ea typeface="メイリオ"/>
                <a:cs typeface="メイリオ"/>
              </a:rPr>
              <a:t>。</a:t>
            </a:r>
          </a:p>
          <a:p>
            <a:pPr algn="l">
              <a:lnSpc>
                <a:spcPct val="125000"/>
              </a:lnSpc>
            </a:pPr>
            <a:r>
              <a:rPr sz="1100" dirty="0">
                <a:solidFill>
                  <a:srgbClr val="333333"/>
                </a:solidFill>
                <a:latin typeface="メイリオ"/>
                <a:ea typeface="メイリオ"/>
                <a:cs typeface="メイリオ"/>
              </a:rPr>
              <a:t>矢野経済研究所の全体推計＝9,870億円（2023年度）。個人経営の補習塾・中小予備校まで含むため約2倍。</a:t>
            </a:r>
            <a:endParaRPr lang="en-US" sz="1100" dirty="0">
              <a:solidFill>
                <a:srgbClr val="333333"/>
              </a:solidFill>
              <a:latin typeface="メイリオ"/>
              <a:ea typeface="メイリオ"/>
              <a:cs typeface="メイリオ"/>
            </a:endParaRPr>
          </a:p>
          <a:p>
            <a:pPr algn="l">
              <a:lnSpc>
                <a:spcPct val="125000"/>
              </a:lnSpc>
            </a:pPr>
            <a:r>
              <a:rPr sz="1100" dirty="0" err="1">
                <a:solidFill>
                  <a:srgbClr val="333333"/>
                </a:solidFill>
                <a:latin typeface="メイリオ"/>
                <a:ea typeface="メイリオ"/>
                <a:cs typeface="メイリオ"/>
              </a:rPr>
              <a:t>どちらも正しく、対象の範囲が異なる</a:t>
            </a:r>
            <a:r>
              <a:rPr sz="1100" dirty="0">
                <a:solidFill>
                  <a:srgbClr val="333333"/>
                </a:solidFill>
                <a:latin typeface="メイリオ"/>
                <a:ea typeface="メイリオ"/>
                <a:cs typeface="メイリオ"/>
              </a:rPr>
              <a:t>。</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82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塾を調べているのは、40代の母親が中心。塾選びで最も困っているのは、料金ではなく</a:t>
            </a:r>
          </a:p>
          <a:p>
            <a:pPr algn="l">
              <a:lnSpc>
                <a:spcPct val="128000"/>
              </a:lnSpc>
            </a:pPr>
            <a:r>
              <a:rPr sz="1200" dirty="0">
                <a:solidFill>
                  <a:srgbClr val="333333"/>
                </a:solidFill>
                <a:latin typeface="メイリオ"/>
                <a:ea typeface="メイリオ"/>
                <a:cs typeface="メイリオ"/>
              </a:rPr>
              <a:t>「</a:t>
            </a:r>
            <a:r>
              <a:rPr sz="1200" dirty="0" err="1">
                <a:solidFill>
                  <a:srgbClr val="333333"/>
                </a:solidFill>
                <a:latin typeface="メイリオ"/>
                <a:ea typeface="メイリオ"/>
                <a:cs typeface="メイリオ"/>
              </a:rPr>
              <a:t>うちの子に合う塾が分からない</a:t>
            </a:r>
            <a:r>
              <a:rPr sz="1200" dirty="0">
                <a:solidFill>
                  <a:srgbClr val="333333"/>
                </a:solidFill>
                <a:latin typeface="メイリオ"/>
                <a:ea typeface="メイリオ"/>
                <a:cs typeface="メイリオ"/>
              </a:rPr>
              <a:t>」（63.5%）。</a:t>
            </a:r>
            <a:r>
              <a:rPr sz="1200" dirty="0" err="1">
                <a:solidFill>
                  <a:srgbClr val="333333"/>
                </a:solidFill>
                <a:latin typeface="メイリオ"/>
                <a:ea typeface="メイリオ"/>
                <a:cs typeface="メイリオ"/>
              </a:rPr>
              <a:t>費用よりも、合うかどうか分からないこと</a:t>
            </a:r>
            <a:r>
              <a:rPr lang="ja-JP" altLang="en-US" sz="1200" dirty="0">
                <a:solidFill>
                  <a:srgbClr val="333333"/>
                </a:solidFill>
                <a:latin typeface="メイリオ"/>
                <a:ea typeface="メイリオ"/>
                <a:cs typeface="メイリオ"/>
              </a:rPr>
              <a:t>が主な要因</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336758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566235" y="225445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性別</a:t>
            </a:r>
            <a:endParaRPr sz="1000" b="1" dirty="0">
              <a:solidFill>
                <a:srgbClr val="FFFFFF"/>
              </a:solidFill>
              <a:latin typeface="メイリオ"/>
              <a:ea typeface="メイリオ"/>
              <a:cs typeface="メイリオ"/>
            </a:endParaRPr>
          </a:p>
        </p:txBody>
      </p:sp>
      <p:sp>
        <p:nvSpPr>
          <p:cNvPr id="9" name="TextBox 8"/>
          <p:cNvSpPr txBox="1"/>
          <p:nvPr/>
        </p:nvSpPr>
        <p:spPr>
          <a:xfrm>
            <a:off x="1530000" y="2034167"/>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67.4%</a:t>
            </a:r>
          </a:p>
        </p:txBody>
      </p:sp>
      <p:sp>
        <p:nvSpPr>
          <p:cNvPr id="10" name="TextBox 9"/>
          <p:cNvSpPr txBox="1"/>
          <p:nvPr/>
        </p:nvSpPr>
        <p:spPr>
          <a:xfrm>
            <a:off x="2637000" y="2159625"/>
            <a:ext cx="1835999" cy="387177"/>
          </a:xfrm>
          <a:prstGeom prst="rect">
            <a:avLst/>
          </a:prstGeom>
          <a:noFill/>
        </p:spPr>
        <p:txBody>
          <a:bodyPr wrap="square" lIns="50400" tIns="21600" rIns="50400" bIns="21600" anchor="ctr">
            <a:spAutoFit/>
          </a:bodyPr>
          <a:lstStyle/>
          <a:p>
            <a:pPr algn="l">
              <a:lnSpc>
                <a:spcPct val="120000"/>
              </a:lnSpc>
            </a:pPr>
            <a:r>
              <a:rPr sz="950" dirty="0" err="1">
                <a:solidFill>
                  <a:srgbClr val="333333"/>
                </a:solidFill>
                <a:latin typeface="メイリオ"/>
                <a:ea typeface="メイリオ"/>
                <a:cs typeface="メイリオ"/>
              </a:rPr>
              <a:t>起点KW「塾</a:t>
            </a:r>
            <a:r>
              <a:rPr sz="950" dirty="0">
                <a:solidFill>
                  <a:srgbClr val="333333"/>
                </a:solidFill>
                <a:latin typeface="メイリオ"/>
                <a:ea typeface="メイリオ"/>
                <a:cs typeface="メイリオ"/>
              </a:rPr>
              <a:t>」</a:t>
            </a:r>
            <a:endParaRPr lang="en-US" sz="950" dirty="0">
              <a:solidFill>
                <a:srgbClr val="333333"/>
              </a:solidFill>
              <a:latin typeface="メイリオ"/>
              <a:ea typeface="メイリオ"/>
              <a:cs typeface="メイリオ"/>
            </a:endParaRPr>
          </a:p>
          <a:p>
            <a:pPr algn="l">
              <a:lnSpc>
                <a:spcPct val="120000"/>
              </a:lnSpc>
            </a:pPr>
            <a:r>
              <a:rPr sz="950" dirty="0">
                <a:solidFill>
                  <a:srgbClr val="333333"/>
                </a:solidFill>
                <a:latin typeface="メイリオ"/>
                <a:ea typeface="メイリオ"/>
                <a:cs typeface="メイリオ"/>
              </a:rPr>
              <a:t>「塾 費用」も65.5%</a:t>
            </a:r>
          </a:p>
        </p:txBody>
      </p:sp>
      <p:sp>
        <p:nvSpPr>
          <p:cNvPr id="11" name="Rounded Rectangle 10"/>
          <p:cNvSpPr/>
          <p:nvPr/>
        </p:nvSpPr>
        <p:spPr>
          <a:xfrm>
            <a:off x="566235" y="2789377"/>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557237" y="2964370"/>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個別クエリ</a:t>
            </a:r>
            <a:endParaRPr sz="1000" b="1" dirty="0">
              <a:solidFill>
                <a:srgbClr val="FFFFFF"/>
              </a:solidFill>
              <a:latin typeface="メイリオ"/>
              <a:ea typeface="メイリオ"/>
              <a:cs typeface="メイリオ"/>
            </a:endParaRPr>
          </a:p>
        </p:txBody>
      </p:sp>
      <p:sp>
        <p:nvSpPr>
          <p:cNvPr id="13" name="TextBox 12"/>
          <p:cNvSpPr txBox="1"/>
          <p:nvPr/>
        </p:nvSpPr>
        <p:spPr>
          <a:xfrm>
            <a:off x="1565236" y="2785546"/>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86〜88%</a:t>
            </a:r>
          </a:p>
        </p:txBody>
      </p:sp>
      <p:sp>
        <p:nvSpPr>
          <p:cNvPr id="14" name="TextBox 13"/>
          <p:cNvSpPr txBox="1"/>
          <p:nvPr/>
        </p:nvSpPr>
        <p:spPr>
          <a:xfrm>
            <a:off x="2618236" y="2854823"/>
            <a:ext cx="1989764" cy="387177"/>
          </a:xfrm>
          <a:prstGeom prst="rect">
            <a:avLst/>
          </a:prstGeom>
          <a:noFill/>
        </p:spPr>
        <p:txBody>
          <a:bodyPr wrap="square" lIns="50400" tIns="21600" rIns="50400" bIns="21600" anchor="ctr">
            <a:spAutoFit/>
          </a:bodyPr>
          <a:lstStyle/>
          <a:p>
            <a:pPr algn="l">
              <a:lnSpc>
                <a:spcPct val="120000"/>
              </a:lnSpc>
            </a:pPr>
            <a:r>
              <a:rPr sz="950" dirty="0">
                <a:solidFill>
                  <a:srgbClr val="333333"/>
                </a:solidFill>
                <a:latin typeface="メイリオ"/>
                <a:ea typeface="メイリオ"/>
                <a:cs typeface="メイリオ"/>
              </a:rPr>
              <a:t>「塾 いつから通わせる」86.5%／「</a:t>
            </a:r>
            <a:r>
              <a:rPr sz="950" dirty="0" err="1">
                <a:solidFill>
                  <a:srgbClr val="333333"/>
                </a:solidFill>
                <a:latin typeface="メイリオ"/>
                <a:ea typeface="メイリオ"/>
                <a:cs typeface="メイリオ"/>
              </a:rPr>
              <a:t>高校受験</a:t>
            </a:r>
            <a:r>
              <a:rPr sz="950" dirty="0">
                <a:solidFill>
                  <a:srgbClr val="333333"/>
                </a:solidFill>
                <a:latin typeface="メイリオ"/>
                <a:ea typeface="メイリオ"/>
                <a:cs typeface="メイリオ"/>
              </a:rPr>
              <a:t> 塾 いつから」87.9%</a:t>
            </a:r>
          </a:p>
        </p:txBody>
      </p:sp>
      <p:sp>
        <p:nvSpPr>
          <p:cNvPr id="15" name="Rounded Rectangle 14"/>
          <p:cNvSpPr/>
          <p:nvPr/>
        </p:nvSpPr>
        <p:spPr>
          <a:xfrm>
            <a:off x="547200" y="3534116"/>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547200" y="3711609"/>
            <a:ext cx="900000" cy="197510"/>
          </a:xfrm>
          <a:prstGeom prst="rect">
            <a:avLst/>
          </a:prstGeom>
          <a:noFill/>
        </p:spPr>
        <p:txBody>
          <a:bodyPr wrap="square" lIns="50400" tIns="21600" rIns="50400" bIns="21600" anchor="ctr">
            <a:spAutoFit/>
          </a:bodyPr>
          <a:lstStyle/>
          <a:p>
            <a:pPr algn="ctr"/>
            <a:r>
              <a:rPr sz="1000" b="1">
                <a:solidFill>
                  <a:srgbClr val="FFFFFF"/>
                </a:solidFill>
                <a:latin typeface="メイリオ"/>
                <a:ea typeface="メイリオ"/>
                <a:cs typeface="メイリオ"/>
              </a:rPr>
              <a:t>年代</a:t>
            </a:r>
          </a:p>
        </p:txBody>
      </p:sp>
      <p:sp>
        <p:nvSpPr>
          <p:cNvPr id="17" name="TextBox 16"/>
          <p:cNvSpPr txBox="1"/>
          <p:nvPr/>
        </p:nvSpPr>
        <p:spPr>
          <a:xfrm>
            <a:off x="1519201" y="3532792"/>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40代 52.8%</a:t>
            </a:r>
          </a:p>
        </p:txBody>
      </p:sp>
      <p:sp>
        <p:nvSpPr>
          <p:cNvPr id="18" name="TextBox 17"/>
          <p:cNvSpPr txBox="1"/>
          <p:nvPr/>
        </p:nvSpPr>
        <p:spPr>
          <a:xfrm>
            <a:off x="2599201" y="3620729"/>
            <a:ext cx="1835999" cy="387177"/>
          </a:xfrm>
          <a:prstGeom prst="rect">
            <a:avLst/>
          </a:prstGeom>
          <a:noFill/>
        </p:spPr>
        <p:txBody>
          <a:bodyPr wrap="square" lIns="50400" tIns="21600" rIns="50400" bIns="21600" anchor="ctr">
            <a:spAutoFit/>
          </a:bodyPr>
          <a:lstStyle/>
          <a:p>
            <a:pPr algn="l">
              <a:lnSpc>
                <a:spcPct val="120000"/>
              </a:lnSpc>
            </a:pPr>
            <a:r>
              <a:rPr sz="950" dirty="0">
                <a:solidFill>
                  <a:srgbClr val="333333"/>
                </a:solidFill>
                <a:latin typeface="メイリオ"/>
                <a:ea typeface="メイリオ"/>
                <a:cs typeface="メイリオ"/>
              </a:rPr>
              <a:t>50代23.5%／30代11.1%</a:t>
            </a:r>
            <a:endParaRPr lang="en-US" sz="950" dirty="0">
              <a:solidFill>
                <a:srgbClr val="333333"/>
              </a:solidFill>
              <a:latin typeface="メイリオ"/>
              <a:ea typeface="メイリオ"/>
              <a:cs typeface="メイリオ"/>
            </a:endParaRPr>
          </a:p>
          <a:p>
            <a:pPr algn="l">
              <a:lnSpc>
                <a:spcPct val="120000"/>
              </a:lnSpc>
            </a:pPr>
            <a:r>
              <a:rPr sz="950" dirty="0">
                <a:solidFill>
                  <a:srgbClr val="333333"/>
                </a:solidFill>
                <a:latin typeface="メイリオ"/>
                <a:ea typeface="メイリオ"/>
                <a:cs typeface="メイリオ"/>
              </a:rPr>
              <a:t>（同音異義語を除いた数値）</a:t>
            </a:r>
          </a:p>
        </p:txBody>
      </p:sp>
      <p:sp>
        <p:nvSpPr>
          <p:cNvPr id="19" name="Rounded Rectangle 18"/>
          <p:cNvSpPr/>
          <p:nvPr/>
        </p:nvSpPr>
        <p:spPr>
          <a:xfrm>
            <a:off x="571201" y="4256255"/>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566235" y="443374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学年別の違い</a:t>
            </a:r>
            <a:endParaRPr sz="1000" b="1" dirty="0">
              <a:solidFill>
                <a:srgbClr val="FFFFFF"/>
              </a:solidFill>
              <a:latin typeface="メイリオ"/>
              <a:ea typeface="メイリオ"/>
              <a:cs typeface="メイリオ"/>
            </a:endParaRPr>
          </a:p>
        </p:txBody>
      </p:sp>
      <p:sp>
        <p:nvSpPr>
          <p:cNvPr id="21" name="TextBox 20"/>
          <p:cNvSpPr txBox="1"/>
          <p:nvPr/>
        </p:nvSpPr>
        <p:spPr>
          <a:xfrm>
            <a:off x="1543202" y="4274695"/>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30代 22.1%</a:t>
            </a:r>
          </a:p>
        </p:txBody>
      </p:sp>
      <p:sp>
        <p:nvSpPr>
          <p:cNvPr id="22" name="TextBox 21"/>
          <p:cNvSpPr txBox="1"/>
          <p:nvPr/>
        </p:nvSpPr>
        <p:spPr>
          <a:xfrm>
            <a:off x="2650201" y="4339207"/>
            <a:ext cx="1835999" cy="387177"/>
          </a:xfrm>
          <a:prstGeom prst="rect">
            <a:avLst/>
          </a:prstGeom>
          <a:noFill/>
        </p:spPr>
        <p:txBody>
          <a:bodyPr wrap="square" lIns="50400" tIns="21600" rIns="50400" bIns="21600" anchor="ctr">
            <a:spAutoFit/>
          </a:bodyPr>
          <a:lstStyle/>
          <a:p>
            <a:pPr algn="l">
              <a:lnSpc>
                <a:spcPct val="120000"/>
              </a:lnSpc>
            </a:pPr>
            <a:r>
              <a:rPr sz="950" dirty="0">
                <a:solidFill>
                  <a:srgbClr val="333333"/>
                </a:solidFill>
                <a:latin typeface="メイリオ"/>
                <a:ea typeface="メイリオ"/>
                <a:cs typeface="メイリオ"/>
              </a:rPr>
              <a:t>「塾 費用」では30代が上昇</a:t>
            </a:r>
            <a:endParaRPr lang="en-US" sz="950" dirty="0">
              <a:solidFill>
                <a:srgbClr val="333333"/>
              </a:solidFill>
              <a:latin typeface="メイリオ"/>
              <a:ea typeface="メイリオ"/>
              <a:cs typeface="メイリオ"/>
            </a:endParaRPr>
          </a:p>
          <a:p>
            <a:pPr algn="l">
              <a:lnSpc>
                <a:spcPct val="120000"/>
              </a:lnSpc>
            </a:pPr>
            <a:r>
              <a:rPr sz="950" dirty="0">
                <a:solidFill>
                  <a:srgbClr val="333333"/>
                </a:solidFill>
                <a:latin typeface="メイリオ"/>
                <a:ea typeface="メイリオ"/>
                <a:cs typeface="メイリオ"/>
              </a:rPr>
              <a:t>＝小学生の保護者は30代が多い</a:t>
            </a:r>
          </a:p>
        </p:txBody>
      </p:sp>
      <p:sp>
        <p:nvSpPr>
          <p:cNvPr id="24" name="Rounded Rectangle 23"/>
          <p:cNvSpPr/>
          <p:nvPr/>
        </p:nvSpPr>
        <p:spPr>
          <a:xfrm>
            <a:off x="4823999" y="1619999"/>
            <a:ext cx="4651200" cy="3367587"/>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保護者の心の声（データから読み取れること）</a:t>
            </a:r>
          </a:p>
        </p:txBody>
      </p:sp>
      <p:sp>
        <p:nvSpPr>
          <p:cNvPr id="26" name="Rounded Rectangle 25"/>
          <p:cNvSpPr/>
          <p:nvPr/>
        </p:nvSpPr>
        <p:spPr>
          <a:xfrm>
            <a:off x="4949999" y="205199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200" b="1" dirty="0">
                <a:solidFill>
                  <a:srgbClr val="333333"/>
                </a:solidFill>
                <a:latin typeface="メイリオ"/>
                <a:ea typeface="メイリオ"/>
                <a:cs typeface="メイリオ"/>
              </a:rPr>
              <a:t>「</a:t>
            </a:r>
            <a:r>
              <a:rPr sz="1200" b="1" dirty="0" err="1">
                <a:solidFill>
                  <a:srgbClr val="333333"/>
                </a:solidFill>
                <a:latin typeface="メイリオ"/>
                <a:ea typeface="メイリオ"/>
                <a:cs typeface="メイリオ"/>
              </a:rPr>
              <a:t>うちの子に合うのか、通ってみるまで分からない</a:t>
            </a:r>
            <a:r>
              <a:rPr sz="1200" b="1" dirty="0">
                <a:solidFill>
                  <a:srgbClr val="333333"/>
                </a:solidFill>
                <a:latin typeface="メイリオ"/>
                <a:ea typeface="メイリオ"/>
                <a:cs typeface="メイリオ"/>
              </a:rPr>
              <a:t>」</a:t>
            </a:r>
          </a:p>
          <a:p>
            <a:pPr algn="l">
              <a:lnSpc>
                <a:spcPct val="115000"/>
              </a:lnSpc>
            </a:pPr>
            <a:r>
              <a:rPr sz="1000" dirty="0" err="1">
                <a:solidFill>
                  <a:srgbClr val="7F7F7F"/>
                </a:solidFill>
                <a:latin typeface="メイリオ"/>
                <a:ea typeface="メイリオ"/>
                <a:cs typeface="メイリオ"/>
              </a:rPr>
              <a:t>塾選び最大の苦労</a:t>
            </a:r>
            <a:r>
              <a:rPr sz="1000" dirty="0">
                <a:solidFill>
                  <a:srgbClr val="7F7F7F"/>
                </a:solidFill>
                <a:latin typeface="メイリオ"/>
                <a:ea typeface="メイリオ"/>
                <a:cs typeface="メイリオ"/>
              </a:rPr>
              <a:t> 63.5%（塾ナラ2025・n=200）</a:t>
            </a:r>
          </a:p>
        </p:txBody>
      </p:sp>
      <p:sp>
        <p:nvSpPr>
          <p:cNvPr id="27" name="Rounded Rectangle 26"/>
          <p:cNvSpPr/>
          <p:nvPr/>
        </p:nvSpPr>
        <p:spPr>
          <a:xfrm>
            <a:off x="4942799" y="2806673"/>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200" b="1" dirty="0">
                <a:solidFill>
                  <a:srgbClr val="333333"/>
                </a:solidFill>
                <a:latin typeface="メイリオ"/>
                <a:ea typeface="メイリオ"/>
                <a:cs typeface="メイリオ"/>
              </a:rPr>
              <a:t>「</a:t>
            </a:r>
            <a:r>
              <a:rPr sz="1200" b="1" dirty="0" err="1">
                <a:solidFill>
                  <a:srgbClr val="333333"/>
                </a:solidFill>
                <a:latin typeface="メイリオ"/>
                <a:ea typeface="メイリオ"/>
                <a:cs typeface="メイリオ"/>
              </a:rPr>
              <a:t>集団と個別、どっちが向いてるのか判断できない</a:t>
            </a:r>
            <a:r>
              <a:rPr sz="1200" b="1" dirty="0">
                <a:solidFill>
                  <a:srgbClr val="333333"/>
                </a:solidFill>
                <a:latin typeface="メイリオ"/>
                <a:ea typeface="メイリオ"/>
                <a:cs typeface="メイリオ"/>
              </a:rPr>
              <a:t>」</a:t>
            </a:r>
          </a:p>
          <a:p>
            <a:pPr algn="l">
              <a:lnSpc>
                <a:spcPct val="115000"/>
              </a:lnSpc>
            </a:pPr>
            <a:r>
              <a:rPr sz="1000" dirty="0">
                <a:solidFill>
                  <a:srgbClr val="7F7F7F"/>
                </a:solidFill>
                <a:latin typeface="メイリオ"/>
                <a:ea typeface="メイリオ"/>
                <a:cs typeface="メイリオ"/>
              </a:rPr>
              <a:t>「情報が多すぎる」17.0%</a:t>
            </a:r>
          </a:p>
        </p:txBody>
      </p:sp>
      <p:sp>
        <p:nvSpPr>
          <p:cNvPr id="28" name="Rounded Rectangle 27"/>
          <p:cNvSpPr/>
          <p:nvPr/>
        </p:nvSpPr>
        <p:spPr>
          <a:xfrm>
            <a:off x="4942799" y="356134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200" b="1" dirty="0">
                <a:solidFill>
                  <a:srgbClr val="333333"/>
                </a:solidFill>
                <a:latin typeface="メイリオ"/>
                <a:ea typeface="メイリオ"/>
                <a:cs typeface="メイリオ"/>
              </a:rPr>
              <a:t>「</a:t>
            </a:r>
            <a:r>
              <a:rPr sz="1200" b="1" dirty="0" err="1">
                <a:solidFill>
                  <a:srgbClr val="333333"/>
                </a:solidFill>
                <a:latin typeface="メイリオ"/>
                <a:ea typeface="メイリオ"/>
                <a:cs typeface="メイリオ"/>
              </a:rPr>
              <a:t>月謝の他に講習費がいくら乗るのか読めない</a:t>
            </a:r>
            <a:r>
              <a:rPr sz="1200" b="1" dirty="0">
                <a:solidFill>
                  <a:srgbClr val="333333"/>
                </a:solidFill>
                <a:latin typeface="メイリオ"/>
                <a:ea typeface="メイリオ"/>
                <a:cs typeface="メイリオ"/>
              </a:rPr>
              <a:t>」</a:t>
            </a:r>
          </a:p>
          <a:p>
            <a:pPr algn="l">
              <a:lnSpc>
                <a:spcPct val="115000"/>
              </a:lnSpc>
            </a:pPr>
            <a:r>
              <a:rPr sz="10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2799" y="4274467"/>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200" b="1" dirty="0">
                <a:solidFill>
                  <a:srgbClr val="333333"/>
                </a:solidFill>
                <a:latin typeface="メイリオ"/>
                <a:ea typeface="メイリオ"/>
                <a:cs typeface="メイリオ"/>
              </a:rPr>
              <a:t>「集団と個別、どちらに入れたらいいのか」</a:t>
            </a:r>
          </a:p>
          <a:p>
            <a:pPr algn="l">
              <a:lnSpc>
                <a:spcPct val="115000"/>
              </a:lnSpc>
            </a:pPr>
            <a:r>
              <a:rPr sz="10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42800" y="5316193"/>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費用より、「合うかどうか分からない」ことが決められない理由。</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だから、申し込む前に「合う・合わない」を確かめられるようにする。</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82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まず気軽な申し込み（資料請求）でつながり、体験予約、入会へ進んでいただく。</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入会は教室で行うため、LINEで計測する</a:t>
            </a:r>
            <a:r>
              <a:rPr lang="ja-JP" altLang="en-US" sz="1200" dirty="0">
                <a:solidFill>
                  <a:srgbClr val="333333"/>
                </a:solidFill>
                <a:latin typeface="メイリオ"/>
                <a:ea typeface="メイリオ"/>
                <a:cs typeface="メイリオ"/>
              </a:rPr>
              <a:t>成果地点</a:t>
            </a:r>
            <a:r>
              <a:rPr sz="1200" dirty="0">
                <a:solidFill>
                  <a:srgbClr val="333333"/>
                </a:solidFill>
                <a:latin typeface="メイリオ"/>
                <a:ea typeface="メイリオ"/>
                <a:cs typeface="メイリオ"/>
              </a:rPr>
              <a:t>は資料請求と体験予約の2つ。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dirty="0" err="1">
                <a:solidFill>
                  <a:srgbClr val="333333"/>
                </a:solidFill>
                <a:latin typeface="メイリオ"/>
                <a:ea typeface="メイリオ"/>
                <a:cs typeface="メイリオ"/>
              </a:rPr>
              <a:t>広告・チラシ</a:t>
            </a:r>
            <a:endParaRPr sz="1200" b="0" dirty="0">
              <a:solidFill>
                <a:srgbClr val="333333"/>
              </a:solidFill>
              <a:latin typeface="メイリオ"/>
              <a:ea typeface="メイリオ"/>
              <a:cs typeface="メイリオ"/>
            </a:endParaRPr>
          </a:p>
          <a:p>
            <a:pPr algn="ctr"/>
            <a:r>
              <a:rPr sz="1200" b="0" dirty="0">
                <a:solidFill>
                  <a:srgbClr val="333333"/>
                </a:solidFill>
                <a:latin typeface="メイリオ"/>
                <a:ea typeface="メイリオ"/>
                <a:cs typeface="メイリオ"/>
              </a:rPr>
              <a:t>・</a:t>
            </a:r>
            <a:r>
              <a:rPr sz="1200" b="0" dirty="0" err="1">
                <a:solidFill>
                  <a:srgbClr val="333333"/>
                </a:solidFill>
                <a:latin typeface="メイリオ"/>
                <a:ea typeface="メイリオ"/>
                <a:cs typeface="メイリオ"/>
              </a:rPr>
              <a:t>口コミ</a:t>
            </a:r>
            <a:endParaRPr sz="1200" b="0" dirty="0">
              <a:solidFill>
                <a:srgbClr val="333333"/>
              </a:solidFill>
              <a:latin typeface="メイリオ"/>
              <a:ea typeface="メイリオ"/>
              <a:cs typeface="メイリオ"/>
            </a:endParaRP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帰る保護者を</a:t>
            </a:r>
          </a:p>
          <a:p>
            <a:pPr algn="ctr"/>
            <a:r>
              <a:rPr sz="12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比べている間</a:t>
            </a:r>
          </a:p>
          <a:p>
            <a:pPr algn="ctr"/>
            <a:r>
              <a:rPr sz="12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dirty="0">
                <a:solidFill>
                  <a:srgbClr val="FFFFFF"/>
                </a:solidFill>
                <a:latin typeface="メイリオ"/>
                <a:ea typeface="メイリオ"/>
                <a:cs typeface="メイリオ"/>
              </a:rPr>
              <a:t>④</a:t>
            </a:r>
            <a:r>
              <a:rPr sz="1000" b="1" dirty="0" err="1">
                <a:solidFill>
                  <a:srgbClr val="FFFFFF"/>
                </a:solidFill>
                <a:latin typeface="メイリオ"/>
                <a:ea typeface="メイリオ"/>
                <a:cs typeface="メイリオ"/>
              </a:rPr>
              <a:t>リード</a:t>
            </a:r>
            <a:endParaRPr lang="en-US" sz="1000" b="1" dirty="0">
              <a:solidFill>
                <a:srgbClr val="FFFFFF"/>
              </a:solidFill>
              <a:latin typeface="メイリオ"/>
              <a:ea typeface="メイリオ"/>
              <a:cs typeface="メイリオ"/>
            </a:endParaRPr>
          </a:p>
          <a:p>
            <a:pPr algn="ctr"/>
            <a:r>
              <a:rPr sz="1000" b="1" dirty="0" err="1">
                <a:solidFill>
                  <a:srgbClr val="FFFFFF"/>
                </a:solidFill>
                <a:latin typeface="メイリオ"/>
                <a:ea typeface="メイリオ"/>
                <a:cs typeface="メイリオ"/>
              </a:rPr>
              <a:t>獲得</a:t>
            </a:r>
            <a:endParaRPr sz="1000" b="1" dirty="0">
              <a:solidFill>
                <a:srgbClr val="FFFFFF"/>
              </a:solidFill>
              <a:latin typeface="メイリオ"/>
              <a:ea typeface="メイリオ"/>
              <a:cs typeface="メイリオ"/>
            </a:endParaRP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30秒診断 →</a:t>
            </a:r>
          </a:p>
          <a:p>
            <a:pPr algn="ctr"/>
            <a:r>
              <a:rPr sz="12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dirty="0">
                <a:solidFill>
                  <a:srgbClr val="FFFFFF"/>
                </a:solidFill>
                <a:latin typeface="メイリオ"/>
                <a:ea typeface="メイリオ"/>
                <a:cs typeface="メイリオ"/>
              </a:rPr>
              <a:t>⑤</a:t>
            </a:r>
            <a:r>
              <a:rPr sz="1000" b="1" dirty="0" err="1">
                <a:solidFill>
                  <a:srgbClr val="FFFFFF"/>
                </a:solidFill>
                <a:latin typeface="メイリオ"/>
                <a:ea typeface="メイリオ"/>
                <a:cs typeface="メイリオ"/>
              </a:rPr>
              <a:t>リード</a:t>
            </a:r>
            <a:endParaRPr lang="en-US" sz="1000" b="1" dirty="0">
              <a:solidFill>
                <a:srgbClr val="FFFFFF"/>
              </a:solidFill>
              <a:latin typeface="メイリオ"/>
              <a:ea typeface="メイリオ"/>
              <a:cs typeface="メイリオ"/>
            </a:endParaRPr>
          </a:p>
          <a:p>
            <a:pPr algn="ctr"/>
            <a:r>
              <a:rPr sz="1000" b="1" dirty="0" err="1">
                <a:solidFill>
                  <a:srgbClr val="FFFFFF"/>
                </a:solidFill>
                <a:latin typeface="メイリオ"/>
                <a:ea typeface="メイリオ"/>
                <a:cs typeface="メイリオ"/>
              </a:rPr>
              <a:t>有効化</a:t>
            </a:r>
            <a:endParaRPr sz="1000" b="1" dirty="0">
              <a:solidFill>
                <a:srgbClr val="FFFFFF"/>
              </a:solidFill>
              <a:latin typeface="メイリオ"/>
              <a:ea typeface="メイリオ"/>
              <a:cs typeface="メイリオ"/>
            </a:endParaRP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資料を読む方へ</a:t>
            </a:r>
          </a:p>
          <a:p>
            <a:pPr algn="ctr"/>
            <a:r>
              <a:rPr sz="1200" b="0">
                <a:solidFill>
                  <a:srgbClr val="333333"/>
                </a:solidFill>
                <a:latin typeface="メイリオ"/>
                <a:ea typeface="メイリオ"/>
                <a:cs typeface="メイリオ"/>
              </a:rPr>
              <a:t>続けて配信→体験予約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dirty="0" err="1">
                <a:solidFill>
                  <a:srgbClr val="333333"/>
                </a:solidFill>
                <a:latin typeface="メイリオ"/>
                <a:ea typeface="メイリオ"/>
                <a:cs typeface="メイリオ"/>
              </a:rPr>
              <a:t>体験に来なかった</a:t>
            </a:r>
            <a:r>
              <a:rPr sz="1200" b="0" dirty="0">
                <a:solidFill>
                  <a:srgbClr val="333333"/>
                </a:solidFill>
                <a:latin typeface="メイリオ"/>
                <a:ea typeface="メイリオ"/>
                <a:cs typeface="メイリオ"/>
              </a:rPr>
              <a:t>・</a:t>
            </a:r>
          </a:p>
          <a:p>
            <a:pPr algn="ctr"/>
            <a:r>
              <a:rPr sz="1200" b="0" dirty="0" err="1">
                <a:solidFill>
                  <a:srgbClr val="333333"/>
                </a:solidFill>
                <a:latin typeface="メイリオ"/>
                <a:ea typeface="メイリオ"/>
                <a:cs typeface="メイリオ"/>
              </a:rPr>
              <a:t>入会しなかった方へ</a:t>
            </a:r>
            <a:endParaRPr sz="1200" b="0" dirty="0">
              <a:solidFill>
                <a:srgbClr val="333333"/>
              </a:solidFill>
              <a:latin typeface="メイリオ"/>
              <a:ea typeface="メイリオ"/>
              <a:cs typeface="メイリオ"/>
            </a:endParaRP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1000" b="1" dirty="0">
                <a:solidFill>
                  <a:srgbClr val="FFFFFF"/>
                </a:solidFill>
                <a:latin typeface="メイリオ"/>
                <a:ea typeface="メイリオ"/>
                <a:cs typeface="メイリオ"/>
              </a:rPr>
              <a:t>⑦</a:t>
            </a:r>
            <a:r>
              <a:rPr sz="1000" b="1" dirty="0" err="1">
                <a:solidFill>
                  <a:srgbClr val="FFFFFF"/>
                </a:solidFill>
                <a:latin typeface="メイリオ"/>
                <a:ea typeface="メイリオ"/>
                <a:cs typeface="メイリオ"/>
              </a:rPr>
              <a:t>入会</a:t>
            </a:r>
            <a:endParaRPr lang="en-US" sz="1000" b="1" dirty="0">
              <a:solidFill>
                <a:srgbClr val="FFFFFF"/>
              </a:solidFill>
              <a:latin typeface="メイリオ"/>
              <a:ea typeface="メイリオ"/>
              <a:cs typeface="メイリオ"/>
            </a:endParaRPr>
          </a:p>
          <a:p>
            <a:pPr algn="ctr"/>
            <a:r>
              <a:rPr sz="1000" b="1" dirty="0">
                <a:solidFill>
                  <a:srgbClr val="FFFFFF"/>
                </a:solidFill>
                <a:latin typeface="メイリオ"/>
                <a:ea typeface="メイリオ"/>
                <a:cs typeface="メイリオ"/>
              </a:rPr>
              <a:t>（契</a:t>
            </a:r>
            <a:r>
              <a:rPr lang="ja-JP" altLang="en-US" sz="1000" b="1" dirty="0">
                <a:solidFill>
                  <a:srgbClr val="FFFFFF"/>
                </a:solidFill>
                <a:latin typeface="メイリオ"/>
                <a:ea typeface="メイリオ"/>
                <a:cs typeface="メイリオ"/>
              </a:rPr>
              <a:t>約</a:t>
            </a:r>
            <a:r>
              <a:rPr sz="1000" b="1" dirty="0">
                <a:solidFill>
                  <a:srgbClr val="FFFFFF"/>
                </a:solidFill>
                <a:latin typeface="メイリオ"/>
                <a:ea typeface="メイリオ"/>
                <a:cs typeface="メイリオ"/>
              </a:rPr>
              <a:t>）</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教室で入会</a:t>
            </a:r>
          </a:p>
          <a:p>
            <a:pPr algn="ctr"/>
            <a:r>
              <a:rPr sz="12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0996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FFFFFF"/>
                </a:solidFill>
                <a:latin typeface="メイリオ"/>
                <a:ea typeface="メイリオ"/>
                <a:cs typeface="メイリオ"/>
              </a:rPr>
              <a:t>CV①</a:t>
            </a:r>
          </a:p>
          <a:p>
            <a:pPr algn="ctr"/>
            <a:r>
              <a:rPr sz="105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0996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FFFFFF"/>
                </a:solidFill>
                <a:latin typeface="メイリオ"/>
                <a:ea typeface="メイリオ"/>
                <a:cs typeface="メイリオ"/>
              </a:rPr>
              <a:t>CV②</a:t>
            </a:r>
          </a:p>
          <a:p>
            <a:pPr algn="ctr"/>
            <a:r>
              <a:rPr sz="105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0996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FFFFFF"/>
                </a:solidFill>
                <a:latin typeface="メイリオ"/>
                <a:ea typeface="メイリオ"/>
                <a:cs typeface="メイリオ"/>
              </a:rPr>
              <a:t>入会</a:t>
            </a:r>
          </a:p>
          <a:p>
            <a:pPr algn="ctr"/>
            <a:r>
              <a:rPr sz="1050" b="1">
                <a:solidFill>
                  <a:srgbClr val="FFFFFF"/>
                </a:solidFill>
                <a:latin typeface="メイリオ"/>
                <a:ea typeface="メイリオ"/>
                <a:cs typeface="メイリオ"/>
              </a:rPr>
              <a:t>（契約）</a:t>
            </a:r>
          </a:p>
        </p:txBody>
      </p:sp>
      <p:sp>
        <p:nvSpPr>
          <p:cNvPr id="33" name="Rectangle 32"/>
          <p:cNvSpPr/>
          <p:nvPr/>
        </p:nvSpPr>
        <p:spPr>
          <a:xfrm>
            <a:off x="3938438" y="3571654"/>
            <a:ext cx="3407580" cy="11489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1" dirty="0">
                <a:solidFill>
                  <a:srgbClr val="1F285A"/>
                </a:solidFill>
                <a:latin typeface="メイリオ"/>
                <a:ea typeface="メイリオ"/>
                <a:cs typeface="メイリオ"/>
              </a:rPr>
              <a:t>↑ </a:t>
            </a:r>
            <a:r>
              <a:rPr sz="1000" b="1" dirty="0" err="1">
                <a:solidFill>
                  <a:srgbClr val="1F285A"/>
                </a:solidFill>
                <a:latin typeface="メイリオ"/>
                <a:ea typeface="メイリオ"/>
                <a:cs typeface="メイリオ"/>
              </a:rPr>
              <a:t>この間に「読んで・比べて・迷う」期間がある</a:t>
            </a:r>
            <a:r>
              <a:rPr sz="1000" b="1" dirty="0">
                <a:solidFill>
                  <a:srgbClr val="1F285A"/>
                </a:solidFill>
                <a:latin typeface="メイリオ"/>
                <a:ea typeface="メイリオ"/>
                <a:cs typeface="メイリオ"/>
              </a:rPr>
              <a:t>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897B"/>
                </a:solidFill>
                <a:latin typeface="メイリオ"/>
                <a:ea typeface="メイリオ"/>
                <a:cs typeface="メイリオ"/>
              </a:rPr>
              <a:t>CV① 資料請求（気軽な申し込み）</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8154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dirty="0">
                <a:solidFill>
                  <a:srgbClr val="00897B"/>
                </a:solidFill>
                <a:latin typeface="メイリオ"/>
                <a:ea typeface="メイリオ"/>
                <a:cs typeface="メイリオ"/>
              </a:rPr>
              <a:t>CV② </a:t>
            </a:r>
            <a:r>
              <a:rPr sz="1450" b="1" dirty="0" err="1">
                <a:solidFill>
                  <a:srgbClr val="00897B"/>
                </a:solidFill>
                <a:latin typeface="メイリオ"/>
                <a:ea typeface="メイリオ"/>
                <a:cs typeface="メイリオ"/>
              </a:rPr>
              <a:t>体験予約（検討が進んだ申し込み</a:t>
            </a:r>
            <a:r>
              <a:rPr sz="1450" b="1" dirty="0">
                <a:solidFill>
                  <a:srgbClr val="00897B"/>
                </a:solidFill>
                <a:latin typeface="メイリオ"/>
                <a:ea typeface="メイリオ"/>
                <a:cs typeface="メイリオ"/>
              </a:rPr>
              <a:t>）</a:t>
            </a:r>
          </a:p>
          <a:p>
            <a:pPr algn="l"/>
            <a:r>
              <a:rPr sz="1350" b="0" dirty="0">
                <a:solidFill>
                  <a:srgbClr val="333333"/>
                </a:solidFill>
                <a:latin typeface="メイリオ"/>
                <a:ea typeface="メイリオ"/>
                <a:cs typeface="メイリオ"/>
              </a:rPr>
              <a:t>・</a:t>
            </a:r>
            <a:r>
              <a:rPr sz="1350" b="0" dirty="0" err="1">
                <a:solidFill>
                  <a:srgbClr val="333333"/>
                </a:solidFill>
                <a:latin typeface="メイリオ"/>
                <a:ea typeface="メイリオ"/>
                <a:cs typeface="メイリオ"/>
              </a:rPr>
              <a:t>資料を読んで「合いそう」と思った保護者が進む</a:t>
            </a:r>
            <a:endParaRPr sz="1350" b="0" dirty="0">
              <a:solidFill>
                <a:srgbClr val="333333"/>
              </a:solidFill>
              <a:latin typeface="メイリオ"/>
              <a:ea typeface="メイリオ"/>
              <a:cs typeface="メイリオ"/>
            </a:endParaRPr>
          </a:p>
          <a:p>
            <a:pPr algn="l"/>
            <a:r>
              <a:rPr sz="1350" b="0" dirty="0">
                <a:solidFill>
                  <a:srgbClr val="333333"/>
                </a:solidFill>
                <a:latin typeface="メイリオ"/>
                <a:ea typeface="メイリオ"/>
                <a:cs typeface="メイリオ"/>
              </a:rPr>
              <a:t>・</a:t>
            </a:r>
            <a:r>
              <a:rPr sz="1350" b="0" dirty="0" err="1">
                <a:solidFill>
                  <a:srgbClr val="333333"/>
                </a:solidFill>
                <a:latin typeface="メイリオ"/>
                <a:ea typeface="メイリオ"/>
                <a:cs typeface="メイリオ"/>
              </a:rPr>
              <a:t>体験に来ていただければ、入会は教室でご案内できる</a:t>
            </a:r>
            <a:endParaRPr sz="1350" b="0" dirty="0">
              <a:solidFill>
                <a:srgbClr val="333333"/>
              </a:solidFill>
              <a:latin typeface="メイリオ"/>
              <a:ea typeface="メイリオ"/>
              <a:cs typeface="メイリオ"/>
            </a:endParaRP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700" b="1">
                <a:solidFill>
                  <a:srgbClr val="FFFFFF"/>
                </a:solidFill>
                <a:latin typeface="メイリオ"/>
                <a:ea typeface="メイリオ"/>
                <a:cs typeface="メイリオ"/>
              </a:rPr>
              <a:t>いきなり体験をおすすめせず、資料請求 → 体験予約 → 入会の順に進んでいただく。</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サイトを訪れても、問い合わせをせずに離れる保護者が多い。</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離脱防止ポップアップで、サイトを離れる前にLINEの友だちになっていただく。</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資料請求のあと、体験予約までの間に「読んで・比べて・迷う」期間があり、ここで他の塾に流れやすい。</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体験に来なかった・入会しなかった保護者とは、つながりが途切れやすい。</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貴塾で最も改善したいフェーズを伺い、それに合わせたプランをご提案する。</a:t>
            </a:r>
            <a:endParaRPr lang="ja-JP" alt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LINEの施策は、目的ごとに5つのパターンに分けられる。</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最初につくるのは、診断・リッチメニュー・14日間の配信。</a:t>
            </a:r>
          </a:p>
          <a:p>
            <a:pPr algn="l">
              <a:lnSpc>
                <a:spcPct val="128000"/>
              </a:lnSpc>
            </a:pPr>
            <a:r>
              <a:rPr sz="1200">
                <a:solidFill>
                  <a:srgbClr val="333333"/>
                </a:solidFill>
                <a:latin typeface="メイリオ"/>
                <a:ea typeface="メイリオ"/>
                <a:cs typeface="メイリオ"/>
              </a:rPr>
              <a:t>その後は毎月、企画配信と出し分け配信を運用する。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最初につくるもの</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毎月運用するもの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特に作り込むのは、診断・リッチメニュー・14日間の配信の3つ。</a:t>
            </a:r>
          </a:p>
          <a:p>
            <a:pPr algn="ctr"/>
            <a:r>
              <a:rPr sz="1100" b="0">
                <a:solidFill>
                  <a:srgbClr val="333333"/>
                </a:solidFill>
                <a:latin typeface="メイリオ"/>
                <a:ea typeface="メイリオ"/>
                <a:cs typeface="メイリオ"/>
              </a:rPr>
              <a:t>この3つが、その後のすべての配信の土台になる。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右の番号は、8フェーズのどこに効くか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授業の質や合格実績はLINEでは変えられない。LINEで整えられるのは、保護者とのつながりと、体験・入会までの流れ。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電話や来塾なしで、コースと料金の資料が届く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日時・持ち物・変更方法を前日にお届けし、当日の来塾につなげる</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Web上で資料請求・体験予約などの成果地点に到達しているかどうかを軸に、</a:t>
            </a:r>
          </a:p>
          <a:p>
            <a:r>
              <a:rPr lang="ja-JP" altLang="en-US" sz="1600" b="1" dirty="0">
                <a:latin typeface="メイリオ" panose="020B0604030504040204" pitchFamily="50" charset="-128"/>
                <a:ea typeface="メイリオ" panose="020B0604030504040204" pitchFamily="50" charset="-128"/>
                <a:cs typeface="Meiryo"/>
                <a:sym typeface="Meiryo"/>
              </a:rPr>
              <a:t>配信の流れを組み立てることで、ブロックを抑えながら運用する。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検討初期の保護者を取りこぼしやすい</a:t>
            </a:r>
            <a:endParaRPr sz="1200" b="0" dirty="0">
              <a:solidFill>
                <a:srgbClr val="1C2233"/>
              </a:solidFill>
              <a:latin typeface="メイリオ"/>
            </a:endParaRPr>
          </a:p>
          <a:p>
            <a:r>
              <a:rPr sz="1200" b="0" dirty="0">
                <a:solidFill>
                  <a:srgbClr val="1C2233"/>
                </a:solidFill>
                <a:latin typeface="メイリオ"/>
                <a:ea typeface="メイリオ"/>
              </a:rPr>
              <a:t>✓ 電話の折り返しに手間がかかる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Web予約は既に機能している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通知メッセージを使いたい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7F7F7F"/>
                </a:solidFill>
                <a:latin typeface="メイリオ"/>
                <a:ea typeface="メイリオ"/>
                <a:cs typeface="メイリオ"/>
              </a:rPr>
              <a:t>フォームだけの場合</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まだ決めていない保護者は、ここで離れやすい</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LINEを加えると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まだ決めていない保護者とも、つながっておける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入口のハードルを下げて、まだ決めていない保護者ともつながる。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出典｜LINEヤフー前後検索（2026年10月取得）。横軸＝起点の検索の前後15日、縦軸＝検索した人数（UU）。配信の中身はP24・P81</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6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費用の目安と始める時期を先にお伝えする</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同じタイプのお子さまの事例と、体験授業のご案内</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出典｜LINEヤフー前後検索（2026年10月取得）。横軸＝起点の検索の前後15日、縦軸＝検索した人数（UU）。配信の中身はP24・P81</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同じ志望校のお子さまの事例と、体験授業のご案内</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出典｜LINEヤフー前後検索（2026年10月取得）。横軸＝起点の検索の前後15日、縦軸＝検索した人数（UU）。配信の中身はP24・P81</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まずは、家でできる勉強のコツをお届けする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次の定期テストから逆算した体験授業のご案内</a:t>
            </a:r>
            <a:endParaRPr lang="ja-JP" alt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出典｜LINEヤフー前後検索（2026年10月取得）。横軸＝起点の検索の前後15日、縦軸＝検索した人数（UU）。配信の中身はP24・P81</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学年と目指す級を伺い、次の英検から逆算した準備をお届けする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同じ級を目指したお子さまの事例と、体験授業のご案内</a:t>
            </a:r>
            <a:endParaRPr lang="ja-JP" alt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比べている間は、ご案内より先に役立つ情報を届け、体験予約に進んでいただく。</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※前後検索（P20〜P23）：比べている間は、塾の費用・いつから・口コミを調べている。配信の中身をこれに合わせる。明光義塾のステップ配信の例はP39</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（前後検索・P20〜P23）</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ご案内より先に、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まだ予約していない方</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00897B"/>
                </a:solidFill>
                <a:latin typeface="メイリオ"/>
                <a:ea typeface="メイリオ"/>
                <a:cs typeface="メイリオ"/>
              </a:rPr>
              <a:t>体験予約した方</a:t>
            </a:r>
          </a:p>
          <a:p>
            <a:pPr algn="ctr"/>
            <a:r>
              <a:rPr sz="1100" b="0">
                <a:solidFill>
                  <a:srgbClr val="333333"/>
                </a:solidFill>
                <a:latin typeface="メイリオ"/>
                <a:ea typeface="メイリオ"/>
                <a:cs typeface="メイリオ"/>
              </a:rPr>
              <a:t>→ 前日リマインドへ（P48）</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予約しなかった方</a:t>
            </a:r>
          </a:p>
          <a:p>
            <a:pPr algn="ctr"/>
            <a:r>
              <a:rPr sz="1100" b="0">
                <a:solidFill>
                  <a:srgbClr val="333333"/>
                </a:solidFill>
                <a:latin typeface="メイリオ"/>
                <a:ea typeface="メイリオ"/>
                <a:cs typeface="メイリオ"/>
              </a:rPr>
              <a:t>→ 週1回の配信へ合流し、講習の時期に再案内（⑥再育成）</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通知の冒頭（最初の15文字ほど）で開封が左右されるため、冒頭も1通ずつ決める。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※事例の数字は、貴塾の実績（学年・期間・通った回数）に合わせて作成する。体験予約の前日のメッセージはP48</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540000" y="2394000"/>
            <a:ext cx="2664000" cy="1873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塾を探す前に、今日からできることを1つ</a:t>
            </a:r>
          </a:p>
          <a:p>
            <a:pPr algn="l"/>
            <a:r>
              <a:rPr sz="850" b="0" dirty="0" err="1">
                <a:solidFill>
                  <a:srgbClr val="333333"/>
                </a:solidFill>
                <a:latin typeface="メイリオ"/>
                <a:ea typeface="メイリオ"/>
                <a:cs typeface="メイリオ"/>
              </a:rPr>
              <a:t>だけ</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伸びる子の家庭は、テスト返却の日に</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これをやっています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間違いを「ケアレスミス」と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わからなかった」に仕分け</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わからなかった」だけ付箋</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週末に付箋の問題だけ解き直す</a:t>
            </a:r>
            <a:endParaRPr sz="850" b="0" dirty="0">
              <a:solidFill>
                <a:srgbClr val="333333"/>
              </a:solidFill>
              <a:latin typeface="メイリオ"/>
              <a:ea typeface="メイリオ"/>
              <a:cs typeface="メイリオ"/>
            </a:endParaRP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塾はその先</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付箋が多すぎて手に負えな</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い」ときの選択肢で大丈夫です</a:t>
            </a:r>
            <a:r>
              <a:rPr sz="850" b="0" dirty="0">
                <a:solidFill>
                  <a:srgbClr val="333333"/>
                </a:solidFill>
                <a:latin typeface="メイリオ"/>
                <a:ea typeface="メイリオ"/>
                <a:cs typeface="メイリオ"/>
              </a:rPr>
              <a:t>😊</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607200" y="2393999"/>
            <a:ext cx="2664000" cy="1646777"/>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診断で</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タイプ」だったお子さまと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同じタイプの、中2のAさんのお話です。</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入塾前は「授業についていけない」が</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悩みでしたが、分からない所まで戻った</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ことで、3か月後の定期テストで</a:t>
            </a:r>
          </a:p>
          <a:p>
            <a:pPr algn="l"/>
            <a:r>
              <a:rPr sz="850" b="0" dirty="0" err="1">
                <a:solidFill>
                  <a:srgbClr val="333333"/>
                </a:solidFill>
                <a:latin typeface="メイリオ"/>
                <a:ea typeface="メイリオ"/>
                <a:cs typeface="メイリオ"/>
              </a:rPr>
              <a:t>数学が◯点</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点に</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お子さまに合うかどうかは</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体験で確かめられます</a:t>
            </a:r>
            <a:r>
              <a:rPr sz="850" b="0" dirty="0">
                <a:solidFill>
                  <a:srgbClr val="333333"/>
                </a:solidFill>
                <a:latin typeface="メイリオ"/>
                <a:ea typeface="メイリオ"/>
                <a:cs typeface="メイリオ"/>
              </a:rPr>
              <a:t>。</a:t>
            </a:r>
          </a:p>
        </p:txBody>
      </p:sp>
      <p:sp>
        <p:nvSpPr>
          <p:cNvPr id="31" name="Rounded Rectangle 30"/>
          <p:cNvSpPr/>
          <p:nvPr/>
        </p:nvSpPr>
        <p:spPr>
          <a:xfrm>
            <a:off x="36072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674400" y="2394000"/>
            <a:ext cx="2664000" cy="1646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次の定期テストまで、あと約◯日</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入塾手続きから授業開始まで約1週間、</a:t>
            </a:r>
          </a:p>
          <a:p>
            <a:pPr algn="l"/>
            <a:r>
              <a:rPr sz="850" b="0" dirty="0">
                <a:solidFill>
                  <a:srgbClr val="333333"/>
                </a:solidFill>
                <a:latin typeface="メイリオ"/>
                <a:ea typeface="メイリオ"/>
                <a:cs typeface="メイリオ"/>
              </a:rPr>
              <a:t>テスト対策には3週間ほどかかるため、</a:t>
            </a:r>
          </a:p>
          <a:p>
            <a:pPr algn="l"/>
            <a:r>
              <a:rPr sz="850" b="0" dirty="0" err="1">
                <a:solidFill>
                  <a:srgbClr val="333333"/>
                </a:solidFill>
                <a:latin typeface="メイリオ"/>
                <a:ea typeface="メイリオ"/>
                <a:cs typeface="メイリオ"/>
              </a:rPr>
              <a:t>ご検討中なら今週がひとつの分かれ目</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です</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まだ迷っている」段階でも大丈夫</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体験だけ受けて、テスト後にゆっくり</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決めたご家庭も多いです</a:t>
            </a:r>
            <a:r>
              <a:rPr sz="850" b="0" dirty="0">
                <a:solidFill>
                  <a:srgbClr val="333333"/>
                </a:solidFill>
                <a:latin typeface="メイリオ"/>
                <a:ea typeface="メイリオ"/>
                <a:cs typeface="メイリオ"/>
              </a:rPr>
              <a:t>😊</a:t>
            </a:r>
          </a:p>
        </p:txBody>
      </p:sp>
      <p:sp>
        <p:nvSpPr>
          <p:cNvPr id="36" name="Rounded Rectangle 35"/>
          <p:cNvSpPr/>
          <p:nvPr/>
        </p:nvSpPr>
        <p:spPr>
          <a:xfrm>
            <a:off x="66744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今週の体験枠を見る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検索のピークの前から、LINEでつながっておく。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出典｜Googleトレンド（日本・2026年年初来・週次）※相対値。規模の違うキーワードは別のグラフで表示</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2"/>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3"/>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4"/>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ectangle 36"/>
          <p:cNvSpPr/>
          <p:nvPr/>
        </p:nvSpPr>
        <p:spPr>
          <a:xfrm>
            <a:off x="5148000" y="3420000"/>
            <a:ext cx="4320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dirty="0" err="1">
                <a:solidFill>
                  <a:srgbClr val="002060"/>
                </a:solidFill>
                <a:latin typeface="メイリオ"/>
                <a:ea typeface="メイリオ"/>
                <a:cs typeface="メイリオ"/>
              </a:rPr>
              <a:t>読み取れること</a:t>
            </a:r>
            <a:endParaRPr sz="1150" b="1" dirty="0">
              <a:solidFill>
                <a:srgbClr val="002060"/>
              </a:solidFill>
              <a:latin typeface="メイリオ"/>
              <a:ea typeface="メイリオ"/>
              <a:cs typeface="メイリオ"/>
            </a:endParaRPr>
          </a:p>
          <a:p>
            <a:pPr algn="l"/>
            <a:r>
              <a:rPr sz="1100" b="0" dirty="0">
                <a:solidFill>
                  <a:srgbClr val="333333"/>
                </a:solidFill>
                <a:latin typeface="メイリオ"/>
                <a:ea typeface="メイリオ"/>
                <a:cs typeface="メイリオ"/>
              </a:rPr>
              <a:t>・「塾」は2月上旬がピーク。ただし年間を通して大きくは落ちない</a:t>
            </a:r>
          </a:p>
          <a:p>
            <a:pPr algn="l"/>
            <a:r>
              <a:rPr sz="1100" b="0" dirty="0">
                <a:solidFill>
                  <a:srgbClr val="333333"/>
                </a:solidFill>
                <a:latin typeface="メイリオ"/>
                <a:ea typeface="メイリオ"/>
                <a:cs typeface="メイリオ"/>
              </a:rPr>
              <a:t>・講習は夏が圧倒的。冬期・春期の3〜5倍</a:t>
            </a:r>
          </a:p>
          <a:p>
            <a:pPr algn="l"/>
            <a:r>
              <a:rPr sz="1100" b="0" dirty="0">
                <a:solidFill>
                  <a:srgbClr val="333333"/>
                </a:solidFill>
                <a:latin typeface="メイリオ"/>
                <a:ea typeface="メイリオ"/>
                <a:cs typeface="メイリオ"/>
              </a:rPr>
              <a:t>・受験の検索は1月中旬〜2月上旬に集中</a:t>
            </a:r>
          </a:p>
          <a:p>
            <a:pPr algn="l"/>
            <a:r>
              <a:rPr sz="1100" b="1" dirty="0">
                <a:solidFill>
                  <a:srgbClr val="1F285A"/>
                </a:solidFill>
                <a:latin typeface="メイリオ"/>
                <a:ea typeface="メイリオ"/>
                <a:cs typeface="メイリオ"/>
              </a:rPr>
              <a:t>→ ピークの時期だけ広告を増やすより、</a:t>
            </a:r>
          </a:p>
          <a:p>
            <a:pPr algn="l"/>
            <a:r>
              <a:rPr sz="1100" b="1" dirty="0">
                <a:solidFill>
                  <a:srgbClr val="1F285A"/>
                </a:solidFill>
                <a:latin typeface="メイリオ"/>
                <a:ea typeface="メイリオ"/>
                <a:cs typeface="メイリオ"/>
              </a:rPr>
              <a:t>　 ピークの前からLINEでつながっておく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50" b="1">
                <a:solidFill>
                  <a:srgbClr val="FFFFFF"/>
                </a:solidFill>
                <a:latin typeface="メイリオ"/>
                <a:ea typeface="メイリオ"/>
                <a:cs typeface="メイリオ"/>
              </a:rPr>
              <a:t>検索のピークの前から、LINEでつながっておく。</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検索のピーク（2月・7月）の前から、その時期に保護者が気にしていることに合わせて配信する。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「塾」の検索は2月上旬がピーク</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「テスト後、9割の家庭がしない事」（P25）</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年間で最も申し込みが集まる時期</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出典｜Googleトレンド（日本・2026年年初来・週次）。各月の内容は弊社の見解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「塾はすぐには申し込まれない」という前提で、サイトから友だちになっていただき、比べている間をLINEで支えている。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大手でも、取り組みの軸は「友だちになっていただき、比べている間をLINEで支える」こと。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友だち追加の直後に、30秒の相性チェックと「このままLINEで無料体験の予約」を案内している。</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p:cNvPicPr>
            <a:picLocks noChangeAspect="1"/>
          </p:cNvPicPr>
          <p:nvPr/>
        </p:nvPicPr>
        <p:blipFill>
          <a:blip r:embed="rId2"/>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p:cNvPicPr>
            <a:picLocks noChangeAspect="1"/>
          </p:cNvPicPr>
          <p:nvPr/>
        </p:nvPicPr>
        <p:blipFill>
          <a:blip r:embed="rId3"/>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p:cNvPicPr>
            <a:picLocks noChangeAspect="1"/>
          </p:cNvPicPr>
          <p:nvPr/>
        </p:nvPicPr>
        <p:blipFill>
          <a:blip r:embed="rId4"/>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友だち追加のあと、相手に合わせた配信が自動で届く（2023年の公式事例の画面）。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p:cNvPicPr>
            <a:picLocks noChangeAspect="1"/>
          </p:cNvPicPr>
          <p:nvPr/>
        </p:nvPicPr>
        <p:blipFill>
          <a:blip r:embed="rId2"/>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楽しみながら答えていただき、保護者か生徒かが分かる。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p:cNvPicPr>
            <a:picLocks noChangeAspect="1"/>
          </p:cNvPicPr>
          <p:nvPr/>
        </p:nvPicPr>
        <p:blipFill>
          <a:blip r:embed="rId3"/>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明光義塾の取り組みは、3つの仕組みに分けられる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公式事例（2023年）と実際の画面（2026年10月）から、3つの仕組みが読み取れる。</a:t>
            </a:r>
          </a:p>
          <a:p>
            <a:pPr algn="l">
              <a:lnSpc>
                <a:spcPct val="128000"/>
              </a:lnSpc>
            </a:pPr>
            <a:r>
              <a:rPr sz="1200" dirty="0" err="1">
                <a:solidFill>
                  <a:srgbClr val="333333"/>
                </a:solidFill>
                <a:latin typeface="メイリオ"/>
                <a:ea typeface="メイリオ"/>
                <a:cs typeface="メイリオ"/>
              </a:rPr>
              <a:t>この仕組みを、入口（P41）・診断（P45）・配信の出し分け（P47）・ステップ配信（P24）に取り入れる。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弊社確認）。実際の画面はP38。</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FFFFFF"/>
                </a:solidFill>
                <a:latin typeface="メイリオ"/>
                <a:ea typeface="メイリオ"/>
                <a:cs typeface="メイリオ"/>
              </a:rPr>
              <a:t>友だちになっていただき、質問に答えていただき、合う方にお届けする。この時期の資料請求は前年比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2023年は、アンケートで保護者か生徒か、塾に通っているかを伺った。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配信した方の55%が反応（P39）</a:t>
            </a:r>
            <a:endParaRPr lang="ja-JP" alt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決断を急がせず、「資料と診断を受け取るだけ」でつながる入口をつくる。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※ボタンの文言は弊社の見解。離脱防止ポップアップはSitelead等（別途費用）。明光義塾も、サイトの初回訪問時・離脱時のポップアップで友だちを集めていた（公式事例・P37）</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問い合わせをせずに離れる保護者は多い</a:t>
            </a:r>
          </a:p>
          <a:p>
            <a:pPr algn="l"/>
            <a:r>
              <a:rPr sz="1000" b="0">
                <a:solidFill>
                  <a:srgbClr val="333333"/>
                </a:solidFill>
                <a:latin typeface="メイリオ"/>
                <a:ea typeface="メイリオ"/>
                <a:cs typeface="メイリオ"/>
              </a:rPr>
              <a:t>一番の悩みは「合うか分からない」63.5%（P8）</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サイトの離脱防止ポップアップ</a:t>
            </a:r>
          </a:p>
          <a:p>
            <a:pPr algn="l"/>
            <a:r>
              <a:rPr sz="1200" b="0">
                <a:solidFill>
                  <a:srgbClr val="333333"/>
                </a:solidFill>
                <a:latin typeface="メイリオ"/>
                <a:ea typeface="メイリオ"/>
                <a:cs typeface="メイリオ"/>
              </a:rPr>
              <a:t>サイトを離れようとした時に表示。広告費を増やさずにつながれる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今のチラシにQRコードを1つ加えるだけ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「一緒に体験しよう」をLINEで送っていただく（P42）</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950" b="0">
                <a:solidFill>
                  <a:srgbClr val="7F7F7F"/>
                </a:solidFill>
                <a:latin typeface="メイリオ"/>
                <a:ea typeface="メイリオ"/>
                <a:cs typeface="メイリオ"/>
              </a:rPr>
              <a:t>※お名前・お電話番号は不要です</a:t>
            </a:r>
          </a:p>
        </p:txBody>
      </p:sp>
      <p:sp>
        <p:nvSpPr>
          <p:cNvPr id="46" name="Rectangle 4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
        <p:nvSpPr>
          <p:cNvPr id="56" name="Rectangle 5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2人まとめてLINEで予約（P42）</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最初の1通で安心できることを先に伝え、診断へ進んでいただく。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※文面の教室長名・対応時間・配信頻度は、貴塾の運用に合わせて調整する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診断へ進んでいただく</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30秒診断をはじめる</a:t>
            </a:r>
          </a:p>
        </p:txBody>
      </p:sp>
      <p:sp>
        <p:nvSpPr>
          <p:cNvPr id="57" name="Rectangle 56"/>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申し込む前に「集団・個別・映像のどれが合うか」をお伝えし、納得してから体験へ。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※明光義塾は、相性チェック（5問）と合わせて、LINEの中での体験予約も案内している（P38）。競合の診断（トライの性格別学習法診断など）はP79を参照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「合う・合わない」をお伝えする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同じ悩みだったお子さまの変化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
        <p:nvSpPr>
          <p:cNvPr id="69" name="Rectangle 68"/>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最も押していただきたいボタン（無料体験・教室見学の予約）を右下に置く。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※体験予約済みの方には、タブ②（体験当日の流れ・アクセス・日程変更など）を出し分ける。明光義塾は、一番大きい枠に「授業料シミュレーション」を置いている（P38）</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最も押していただきたいボタンを、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0">
                <a:solidFill>
                  <a:srgbClr val="333333"/>
                </a:solidFill>
                <a:latin typeface="メイリオ"/>
                <a:ea typeface="メイリオ"/>
                <a:cs typeface="メイリオ"/>
              </a:rPr>
              <a:t>・右下：最も押していただきたいボタン。体験・見学の予約（CV②）</a:t>
            </a:r>
          </a:p>
          <a:p>
            <a:pPr algn="l"/>
            <a:r>
              <a:rPr sz="1100" b="0">
                <a:solidFill>
                  <a:srgbClr val="333333"/>
                </a:solidFill>
                <a:latin typeface="メイリオ"/>
                <a:ea typeface="メイリオ"/>
                <a:cs typeface="メイリオ"/>
              </a:rPr>
              <a:t>・左下：資料を受け取る（CV①）。体験はまだ先という保護者の受け皿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
        <p:nvSpPr>
          <p:cNvPr id="86" name="Rectangle 8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同じ内容を全員に送ると、合わない方からブロックされやすい。</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合わない方からブロックされやすい</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「情報収集だけ」→ ご案内は控え、週1回の情報のみ</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※明光義塾は、アンケートの回答をもとに「まだ塾に通っていない」お子さま・保護者に絞って配信していた（公式事例・P37）</a:t>
            </a:r>
          </a:p>
        </p:txBody>
      </p:sp>
      <p:sp>
        <p:nvSpPr>
          <p:cNvPr id="40" name="Rectangle 39"/>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マネタイズ最大化</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体験を予約しても、当日来られない方がいる。理由として多いのは「忘れた」「持ち物が不安」「変更の仕方が分からない」。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前日までに先回りしてご案内し、体験への来塾と入会につなげる。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※体験に来られない割合・改善の幅は、貴塾の実績をもとに確認する</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当日来られない方がいる</a:t>
            </a:r>
          </a:p>
          <a:p>
            <a:pPr algn="l"/>
            <a:r>
              <a:rPr sz="1000" b="0">
                <a:solidFill>
                  <a:srgbClr val="333333"/>
                </a:solidFill>
                <a:latin typeface="メイリオ"/>
                <a:ea typeface="メイリオ"/>
                <a:cs typeface="メイリオ"/>
              </a:rPr>
              <a:t>（割合は貴塾の実績で確認）</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来られない理由を、</a:t>
            </a:r>
          </a:p>
          <a:p>
            <a:pPr algn="l"/>
            <a:r>
              <a:rPr sz="1000" b="0">
                <a:solidFill>
                  <a:srgbClr val="333333"/>
                </a:solidFill>
                <a:latin typeface="メイリオ"/>
                <a:ea typeface="メイリオ"/>
                <a:cs typeface="メイリオ"/>
              </a:rPr>
              <a:t>前日までに先回りして解消する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endParaRPr sz="950" b="0">
              <a:solidFill>
                <a:srgbClr val="333333"/>
              </a:solidFill>
              <a:latin typeface="メイリオ"/>
              <a:ea typeface="メイリオ"/>
              <a:cs typeface="メイリオ"/>
            </a:endParaRP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体験に来ていただきやすい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
        <p:nvSpPr>
          <p:cNvPr id="72" name="Rectangle 71"/>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CPOの改善（CV質）</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講習の時期に合わせて、もう一度ご案内する。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もう一度ご案内する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休眠顧客の有効化</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603504" y="1043132"/>
            <a:ext cx="82296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Appendix（参考資料）</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ファン化・自社アプリ登録に「ハードルが高い」と感じるユーザーが増えている。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 友だち追加 → LINEで診断・体験予約 → 入会 の導線で、ハードルを下げながら運用が可能。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継続・講習</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友だち紹介につなげる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※ヒアリングのうえ、</a:t>
            </a: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不足している施策を明示</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LINE誘導から1.5〜3%程度が、資料請求・体験予約につながる（弊社想定の目安）。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貴塾の集客課題に合わせて、LINE公式アカウントの構築モデルを活用し、集客効率を改善。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LINE広告（友だち追加）</a:t>
            </a: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メールマガジン・電話</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体験予約のご案内</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自動応答の設定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質問内容別に即返信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※弊社想定の上限目安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検討度が高い方：即スタッフ対応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サンクスメッセージ＋</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講習・コースのご案内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一斉配信で再びつながる</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対象を絞った配信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（特典で友だち追加を促進）</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紹介キャンペーン・継続促進</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各割合は弊社想定の上限目安であり、保証値ではない。参考：LINEヤフー社の公開値では、メッセージは受信当日中に約8割が開封される。</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本編の検索データから、取り組むべきことを整理する。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塾名を調べる前の保護者と先につながり、申し込む前に「合う・合わない」を確かめられるようにする。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サイトを訪れても、問い合わせをせずに離れる保護者は多い</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塾名を調べる前から、保護者は調べ始めている（P20〜P23）</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一番の悩みは「うちの子に合うか分からない」63.5%（P8）</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申し込む前に「合う・合わない」をお伝えする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検索のピークは2月と7月（P26）</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dirty="0" err="1">
                <a:solidFill>
                  <a:srgbClr val="333333"/>
                </a:solidFill>
                <a:latin typeface="メイリオ"/>
                <a:ea typeface="メイリオ"/>
                <a:cs typeface="メイリオ"/>
              </a:rPr>
              <a:t>ピークの前からつながっておく</a:t>
            </a:r>
            <a:endParaRPr sz="1100" b="1" dirty="0">
              <a:solidFill>
                <a:srgbClr val="333333"/>
              </a:solidFill>
              <a:latin typeface="メイリオ"/>
              <a:ea typeface="メイリオ"/>
              <a:cs typeface="メイリオ"/>
            </a:endParaRP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診断と資料をきっかけにLINEの友だちになっていただき、比べている間も情報を届け続ける。</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1F285A"/>
                </a:solidFill>
                <a:latin typeface="メイリオ"/>
                <a:ea typeface="メイリオ"/>
                <a:cs typeface="メイリオ"/>
              </a:rPr>
              <a:t>明光義塾はLINEで成果を出している（公式事例・P37）</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・トライは生徒向け。森塾・ナビは公式サイトでLINEの導線を確認できなかった</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どこで、何をお伝えして、LINEの友だちになっていただくか。1教室あたり月250人をモデル値とした。</a:t>
            </a:r>
          </a:p>
          <a:p>
            <a:pPr algn="l">
              <a:lnSpc>
                <a:spcPct val="128000"/>
              </a:lnSpc>
            </a:pPr>
            <a:r>
              <a:rPr sz="1200">
                <a:solidFill>
                  <a:srgbClr val="333333"/>
                </a:solidFill>
                <a:latin typeface="メイリオ"/>
                <a:ea typeface="メイリオ"/>
                <a:cs typeface="メイリオ"/>
              </a:rPr>
              <a:t>最も多いのは、サイトを離れようとする保護者に表示する離脱防止ポップアップ。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00 離脱防止</a:t>
            </a:r>
          </a:p>
          <a:p>
            <a:pPr algn="l"/>
            <a:r>
              <a:rPr sz="115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QRから受け取る</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資料請求（CV①）と体験予約（CV②）につなげる。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750" b="0">
                <a:solidFill>
                  <a:srgbClr val="7F7F7F"/>
                </a:solidFill>
                <a:latin typeface="メイリオ"/>
                <a:ea typeface="メイリオ"/>
                <a:cs typeface="メイリオ"/>
              </a:rPr>
              <a:t>※10教室のモデル値（例）。新しい友だちは1教室あたり月250人（P80）×10教室。開封率・クリック率＝弊社運用の目安（ステップ配信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案内なし</a:t>
            </a:r>
          </a:p>
          <a:p>
            <a:pPr algn="ctr"/>
            <a:r>
              <a:rPr sz="950" b="0">
                <a:solidFill>
                  <a:srgbClr val="7F7F7F"/>
                </a:solidFill>
                <a:latin typeface="メイリオ"/>
                <a:ea typeface="メイリオ"/>
                <a:cs typeface="メイリオ"/>
              </a:rPr>
              <a:t>信頼関係づくり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資料未請求の方</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体験未予約の方</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資料を請求した方</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至らなかった方</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1}" type="slidenum">
              <a:rPr sz="1200" b="1">
                <a:solidFill>
                  <a:srgbClr val="FFFFFF"/>
                </a:solidFill>
                <a:latin typeface="メイリオ"/>
                <a:ea typeface="メイリオ"/>
                <a:cs typeface="メイリオ"/>
              </a:rPr>
              <a:t>64</a:t>
            </a:fld>
            <a:endParaRPr sz="1200" b="1">
              <a:solidFill>
                <a:srgbClr val="FFFFFF"/>
              </a:solidFill>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すぐ答えられることは自動で、相談ごとは人が答える。押していただきたいボタンは右下に置く。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2}" type="slidenum">
              <a:rPr sz="1200" b="1">
                <a:solidFill>
                  <a:srgbClr val="FFFFFF"/>
                </a:solidFill>
                <a:latin typeface="メイリオ"/>
                <a:ea typeface="メイリオ"/>
                <a:cs typeface="メイリオ"/>
              </a:rPr>
              <a:t>65</a:t>
            </a:fld>
            <a:endParaRPr sz="1200" b="1">
              <a:solidFill>
                <a:srgbClr val="FFFFFF"/>
              </a:solidFill>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教室の手間を増やさずに運用する。予約の受付・日程変更・持ち物の案内は、LINEで自動にする。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入会は教室で決まるため、3か月ごとに教室からご報告いただいて確認する。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3か月ごとに見る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入会数（教室からご報告いただく）</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友だちの数ではなく、資料請求・体験予約・入会で見る。</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次の申し込みのピークから逆算して着手する。14日間のステップ配信が一巡すると、数字が見え始める。</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・3か月ごとに体験→入会の割合を確認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逆算のしかた（検索のピークから）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2〜3月の入会期に向けて　→　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7〜8月の夏期講習に向けて　→　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14日間の配信が一巡してから、数字が見え始める</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18の具体施策が、どのフェーズで効くかを1枚にまとめた。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友だち追加までが6施策、追加後が12施策。追加後の施策が多い構成。</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⑦入会（契約）</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⑧継続・紹介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どう友だちになっていただくか（①〜④）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LINE広告（友だち追加）</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LINE登録をゴールに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どう申し込みにつなげるか（⑤〜⑧）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キーワード自動応答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検討度の高い方の検知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未入会の方へ再案内</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時期に合わせた配信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通知メッセージで再案内</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資料請求後のリマインド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自動応答と有人の切り替え</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入会後のフォロー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通塾状況に合わせた講習案内</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関連コースのご案内</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施策は友だち追加の後に多い。友だちを増やした後の関わり方で差がつく。</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他塾ではまだ少ない企画の例（ご参考）。</a:t>
            </a:r>
          </a:p>
          <a:p>
            <a:pPr algn="l">
              <a:lnSpc>
                <a:spcPct val="128000"/>
              </a:lnSpc>
            </a:pPr>
            <a:r>
              <a:rPr sz="1200">
                <a:solidFill>
                  <a:srgbClr val="333333"/>
                </a:solidFill>
                <a:latin typeface="メイリオ"/>
                <a:ea typeface="メイリオ"/>
                <a:cs typeface="メイリオ"/>
              </a:rPr>
              <a:t>地域で先行できる企画案。</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小3〜中2の保護者へ、学年ごとに「この時期にやるべきこと」を毎月配信。入塾が多い学年（中学受験は小4／その他は小5・6）の1学年前からつながる</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24時間の質問対応。ただし塾は「先生」で選ばれる業界のため、有人対応の価値を下げない設計が必要</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△＝この業界では優先度低（弊社の見解）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優先度の判定は弊社の見解。根拠は巻末の出典一覧を参照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5-10</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6" name="テキスト ボックス 5">
            <a:extLst>
              <a:ext uri="{FF2B5EF4-FFF2-40B4-BE49-F238E27FC236}">
                <a16:creationId xmlns:a16="http://schemas.microsoft.com/office/drawing/2014/main" id="{14EEAC90-C9E7-2110-180C-DAC5C9A3E290}"/>
              </a:ext>
            </a:extLst>
          </p:cNvPr>
          <p:cNvSpPr txBox="1"/>
          <p:nvPr/>
        </p:nvSpPr>
        <p:spPr>
          <a:xfrm>
            <a:off x="320847" y="3458307"/>
            <a:ext cx="3538935" cy="246221"/>
          </a:xfrm>
          <a:prstGeom prst="rect">
            <a:avLst/>
          </a:prstGeom>
          <a:solidFill>
            <a:schemeClr val="bg1">
              <a:alpha val="65000"/>
            </a:schemeClr>
          </a:solidFill>
        </p:spPr>
        <p:txBody>
          <a:bodyPr wrap="square">
            <a:spAutoFit/>
          </a:bodyPr>
          <a:lstStyle/>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初期設計も</a:t>
            </a:r>
            <a:r>
              <a:rPr kumimoji="1" lang="en-US" altLang="ja-JP" sz="1000" dirty="0">
                <a:solidFill>
                  <a:srgbClr val="FF0000"/>
                </a:solidFill>
                <a:latin typeface="メイリオ" panose="020B0604030504040204" pitchFamily="50" charset="-128"/>
                <a:ea typeface="メイリオ" panose="020B0604030504040204" pitchFamily="50" charset="-128"/>
              </a:rPr>
              <a:t>3</a:t>
            </a:r>
            <a:r>
              <a:rPr kumimoji="1" lang="ja-JP" altLang="en-US" sz="1000" dirty="0">
                <a:solidFill>
                  <a:srgbClr val="FF0000"/>
                </a:solidFill>
                <a:latin typeface="メイリオ" panose="020B0604030504040204" pitchFamily="50" charset="-128"/>
                <a:ea typeface="メイリオ" panose="020B0604030504040204" pitchFamily="50" charset="-128"/>
              </a:rPr>
              <a:t>か月に</a:t>
            </a:r>
            <a:r>
              <a:rPr kumimoji="1" lang="en-US" altLang="ja-JP" sz="1000" dirty="0">
                <a:solidFill>
                  <a:srgbClr val="FF0000"/>
                </a:solidFill>
                <a:latin typeface="メイリオ" panose="020B0604030504040204" pitchFamily="50" charset="-128"/>
                <a:ea typeface="メイリオ" panose="020B0604030504040204" pitchFamily="50" charset="-128"/>
              </a:rPr>
              <a:t>1</a:t>
            </a:r>
            <a:r>
              <a:rPr kumimoji="1" lang="ja-JP" altLang="en-US" sz="1000" dirty="0">
                <a:solidFill>
                  <a:srgbClr val="FF0000"/>
                </a:solidFill>
                <a:latin typeface="メイリオ" panose="020B0604030504040204" pitchFamily="50" charset="-128"/>
                <a:ea typeface="メイリオ" panose="020B0604030504040204" pitchFamily="50" charset="-128"/>
              </a:rPr>
              <a:t>回の頻度で設計の見直しを行います。</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FF"/>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FF"/>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FF"/>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FF"/>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2"/>
          <a:stretch>
            <a:fillRect/>
          </a:stretch>
        </p:blipFill>
        <p:spPr>
          <a:xfrm>
            <a:off x="1183616" y="2131090"/>
            <a:ext cx="2498573" cy="1744287"/>
          </a:xfrm>
          <a:prstGeom prst="rect">
            <a:avLst/>
          </a:prstGeom>
        </p:spPr>
      </p:pic>
      <p:pic>
        <p:nvPicPr>
          <p:cNvPr id="8" name="図 7"/>
          <p:cNvPicPr>
            <a:picLocks noChangeAspect="1"/>
          </p:cNvPicPr>
          <p:nvPr/>
        </p:nvPicPr>
        <p:blipFill>
          <a:blip r:embed="rId3"/>
          <a:stretch>
            <a:fillRect/>
          </a:stretch>
        </p:blipFill>
        <p:spPr>
          <a:xfrm>
            <a:off x="3456146" y="2402524"/>
            <a:ext cx="2393091" cy="1668595"/>
          </a:xfrm>
          <a:prstGeom prst="rect">
            <a:avLst/>
          </a:prstGeom>
        </p:spPr>
      </p:pic>
      <p:pic>
        <p:nvPicPr>
          <p:cNvPr id="10" name="図 9"/>
          <p:cNvPicPr>
            <a:picLocks noChangeAspect="1"/>
          </p:cNvPicPr>
          <p:nvPr/>
        </p:nvPicPr>
        <p:blipFill>
          <a:blip r:embed="rId4"/>
          <a:stretch>
            <a:fillRect/>
          </a:stretch>
        </p:blipFill>
        <p:spPr>
          <a:xfrm>
            <a:off x="5697714" y="2676687"/>
            <a:ext cx="2432174" cy="1698131"/>
          </a:xfrm>
          <a:prstGeom prst="rect">
            <a:avLst/>
          </a:prstGeom>
        </p:spPr>
      </p:pic>
      <p:pic>
        <p:nvPicPr>
          <p:cNvPr id="14" name="図 13"/>
          <p:cNvPicPr>
            <a:picLocks noChangeAspect="1"/>
          </p:cNvPicPr>
          <p:nvPr/>
        </p:nvPicPr>
        <p:blipFill>
          <a:blip r:embed="rId5"/>
          <a:stretch>
            <a:fillRect/>
          </a:stretch>
        </p:blipFill>
        <p:spPr>
          <a:xfrm>
            <a:off x="1158180" y="4165451"/>
            <a:ext cx="2417022" cy="1682579"/>
          </a:xfrm>
          <a:prstGeom prst="rect">
            <a:avLst/>
          </a:prstGeom>
        </p:spPr>
      </p:pic>
      <p:pic>
        <p:nvPicPr>
          <p:cNvPr id="15" name="図 14"/>
          <p:cNvPicPr>
            <a:picLocks noChangeAspect="1"/>
          </p:cNvPicPr>
          <p:nvPr/>
        </p:nvPicPr>
        <p:blipFill>
          <a:blip r:embed="rId6"/>
          <a:stretch>
            <a:fillRect/>
          </a:stretch>
        </p:blipFill>
        <p:spPr>
          <a:xfrm>
            <a:off x="3434655" y="4410829"/>
            <a:ext cx="2417022" cy="1683209"/>
          </a:xfrm>
          <a:prstGeom prst="rect">
            <a:avLst/>
          </a:prstGeom>
        </p:spPr>
      </p:pic>
      <p:pic>
        <p:nvPicPr>
          <p:cNvPr id="24" name="図 23"/>
          <p:cNvPicPr>
            <a:picLocks noChangeAspect="1"/>
          </p:cNvPicPr>
          <p:nvPr/>
        </p:nvPicPr>
        <p:blipFill>
          <a:blip r:embed="rId7"/>
          <a:stretch>
            <a:fillRect/>
          </a:stretch>
        </p:blipFill>
        <p:spPr>
          <a:xfrm>
            <a:off x="5697714" y="4687135"/>
            <a:ext cx="2427146" cy="1691079"/>
          </a:xfrm>
          <a:prstGeom prst="rect">
            <a:avLst/>
          </a:prstGeom>
        </p:spPr>
      </p:pic>
      <p:pic>
        <p:nvPicPr>
          <p:cNvPr id="26" name="図 25"/>
          <p:cNvPicPr>
            <a:picLocks noChangeAspect="1"/>
          </p:cNvPicPr>
          <p:nvPr/>
        </p:nvPicPr>
        <p:blipFill>
          <a:blip r:embed="rId8"/>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（貴塾要望によりカスタマイズ予定）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2"/>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3"/>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3"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4"/>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6"/>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4"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新規・既存・ファン化・効率化のうち、貴塾がいま最も伸ばしたいものを決める</a:t>
            </a:r>
          </a:p>
        </p:txBody>
      </p:sp>
      <p:sp>
        <p:nvSpPr>
          <p:cNvPr id="7" name="Rectangle 3">
            <a:extLst>
              <a:ext uri="{FF2B5EF4-FFF2-40B4-BE49-F238E27FC236}">
                <a16:creationId xmlns:a16="http://schemas.microsoft.com/office/drawing/2014/main" id="{0E411E5A-CC07-761C-CB20-F06A383B1BB9}"/>
              </a:ext>
            </a:extLst>
          </p:cNvPr>
          <p:cNvSpPr/>
          <p:nvPr/>
        </p:nvSpPr>
        <p:spPr>
          <a:xfrm>
            <a:off x="841248" y="1783080"/>
            <a:ext cx="12527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121408" y="1783080"/>
            <a:ext cx="3794760"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943600" y="1783080"/>
            <a:ext cx="822960"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841248" y="22037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121408" y="22037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5943600" y="22037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841248" y="31181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121408" y="31181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943600" y="31181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841248" y="40325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121408" y="40325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943600" y="40325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841248" y="4946904"/>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54" name="Rectangle 6">
            <a:extLst>
              <a:ext uri="{FF2B5EF4-FFF2-40B4-BE49-F238E27FC236}">
                <a16:creationId xmlns:a16="http://schemas.microsoft.com/office/drawing/2014/main" id="{3006611C-155B-26D2-87F5-F1073BED0DD5}"/>
              </a:ext>
            </a:extLst>
          </p:cNvPr>
          <p:cNvSpPr/>
          <p:nvPr/>
        </p:nvSpPr>
        <p:spPr>
          <a:xfrm>
            <a:off x="6793992" y="1783080"/>
            <a:ext cx="2203704"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55" name="Rectangle 10">
            <a:extLst>
              <a:ext uri="{FF2B5EF4-FFF2-40B4-BE49-F238E27FC236}">
                <a16:creationId xmlns:a16="http://schemas.microsoft.com/office/drawing/2014/main" id="{86F1D30D-393D-E40A-6D1C-9AFE711E6551}"/>
              </a:ext>
            </a:extLst>
          </p:cNvPr>
          <p:cNvSpPr/>
          <p:nvPr/>
        </p:nvSpPr>
        <p:spPr>
          <a:xfrm>
            <a:off x="6793992" y="22037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56" name="Rectangle 14">
            <a:extLst>
              <a:ext uri="{FF2B5EF4-FFF2-40B4-BE49-F238E27FC236}">
                <a16:creationId xmlns:a16="http://schemas.microsoft.com/office/drawing/2014/main" id="{BDC1EB93-A86A-84CE-F73E-2149AD61E5FC}"/>
              </a:ext>
            </a:extLst>
          </p:cNvPr>
          <p:cNvSpPr/>
          <p:nvPr/>
        </p:nvSpPr>
        <p:spPr>
          <a:xfrm>
            <a:off x="6793992" y="31181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57" name="Rectangle 18">
            <a:extLst>
              <a:ext uri="{FF2B5EF4-FFF2-40B4-BE49-F238E27FC236}">
                <a16:creationId xmlns:a16="http://schemas.microsoft.com/office/drawing/2014/main" id="{188A2264-AC44-69F3-AADC-6C99A3918A5E}"/>
              </a:ext>
            </a:extLst>
          </p:cNvPr>
          <p:cNvSpPr/>
          <p:nvPr/>
        </p:nvSpPr>
        <p:spPr>
          <a:xfrm>
            <a:off x="6793992" y="40325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58" name="Rectangle 22">
            <a:extLst>
              <a:ext uri="{FF2B5EF4-FFF2-40B4-BE49-F238E27FC236}">
                <a16:creationId xmlns:a16="http://schemas.microsoft.com/office/drawing/2014/main" id="{E8B63E0D-903B-EFBB-A4FF-728A697ABE8D}"/>
              </a:ext>
            </a:extLst>
          </p:cNvPr>
          <p:cNvSpPr/>
          <p:nvPr/>
        </p:nvSpPr>
        <p:spPr>
          <a:xfrm>
            <a:off x="6793992" y="4946904"/>
            <a:ext cx="2203704"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45" name="Rectangle 20">
            <a:extLst>
              <a:ext uri="{FF2B5EF4-FFF2-40B4-BE49-F238E27FC236}">
                <a16:creationId xmlns:a16="http://schemas.microsoft.com/office/drawing/2014/main" id="{B7F2AF46-39FB-CD72-C394-6101BBA1E6AE}"/>
              </a:ext>
            </a:extLst>
          </p:cNvPr>
          <p:cNvSpPr/>
          <p:nvPr/>
        </p:nvSpPr>
        <p:spPr>
          <a:xfrm>
            <a:off x="2121408" y="4946904"/>
            <a:ext cx="37947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943600" y="4946904"/>
            <a:ext cx="822960"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841248" y="5897880"/>
            <a:ext cx="8156448" cy="603504"/>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a:t>
            </a:r>
            <a:br>
              <a:rPr sz="1400" b="1">
                <a:solidFill>
                  <a:srgbClr val="1F2A5C"/>
                </a:solidFill>
                <a:latin typeface="メイリオ"/>
                <a:ea typeface="メイリオ"/>
                <a:cs typeface="メイリオ"/>
              </a:rPr>
            </a:br>
            <a:r>
              <a:rPr sz="1400" b="1">
                <a:solidFill>
                  <a:srgbClr val="1F2A5C"/>
                </a:solidFill>
                <a:latin typeface="メイリオ"/>
                <a:ea typeface="メイリオ"/>
                <a:cs typeface="メイリオ"/>
              </a:rPr>
              <a:t>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サイトの流入・CVの数から、LINEの友だちにできる保護者の規模を見積もる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841248" y="1783080"/>
            <a:ext cx="207568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944368" y="1783080"/>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841248" y="2203704"/>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944368" y="2203704"/>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841248" y="2770632"/>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944368" y="2770632"/>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841248" y="3337560"/>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944368" y="3337560"/>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841248" y="3904487"/>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944368" y="3904487"/>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841248" y="4471416"/>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944368" y="4471416"/>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841248" y="5038344"/>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944368" y="5038344"/>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841248" y="5605272"/>
            <a:ext cx="2075688" cy="539496"/>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6" name="Rectangle 5">
            <a:extLst>
              <a:ext uri="{FF2B5EF4-FFF2-40B4-BE49-F238E27FC236}">
                <a16:creationId xmlns:a16="http://schemas.microsoft.com/office/drawing/2014/main" id="{B38F1B92-D634-77F8-3356-02B435E0FAEE}"/>
              </a:ext>
            </a:extLst>
          </p:cNvPr>
          <p:cNvSpPr/>
          <p:nvPr/>
        </p:nvSpPr>
        <p:spPr>
          <a:xfrm>
            <a:off x="6967728" y="1783080"/>
            <a:ext cx="202996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7" name="Rectangle 8">
            <a:extLst>
              <a:ext uri="{FF2B5EF4-FFF2-40B4-BE49-F238E27FC236}">
                <a16:creationId xmlns:a16="http://schemas.microsoft.com/office/drawing/2014/main" id="{192BDBE0-827A-A566-E2C7-3CE69EF889BE}"/>
              </a:ext>
            </a:extLst>
          </p:cNvPr>
          <p:cNvSpPr/>
          <p:nvPr/>
        </p:nvSpPr>
        <p:spPr>
          <a:xfrm>
            <a:off x="6967728" y="2203704"/>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8" name="Rectangle 11">
            <a:extLst>
              <a:ext uri="{FF2B5EF4-FFF2-40B4-BE49-F238E27FC236}">
                <a16:creationId xmlns:a16="http://schemas.microsoft.com/office/drawing/2014/main" id="{DF2E3318-BC22-D10A-07C4-5D09E1B00A87}"/>
              </a:ext>
            </a:extLst>
          </p:cNvPr>
          <p:cNvSpPr/>
          <p:nvPr/>
        </p:nvSpPr>
        <p:spPr>
          <a:xfrm>
            <a:off x="6967728" y="2770632"/>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9" name="Rectangle 14">
            <a:extLst>
              <a:ext uri="{FF2B5EF4-FFF2-40B4-BE49-F238E27FC236}">
                <a16:creationId xmlns:a16="http://schemas.microsoft.com/office/drawing/2014/main" id="{2F30D830-C8E5-B05E-3354-E6780E4D8F34}"/>
              </a:ext>
            </a:extLst>
          </p:cNvPr>
          <p:cNvSpPr/>
          <p:nvPr/>
        </p:nvSpPr>
        <p:spPr>
          <a:xfrm>
            <a:off x="6967728" y="3337560"/>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0" name="Rectangle 17">
            <a:extLst>
              <a:ext uri="{FF2B5EF4-FFF2-40B4-BE49-F238E27FC236}">
                <a16:creationId xmlns:a16="http://schemas.microsoft.com/office/drawing/2014/main" id="{68B146F0-A9E6-7C8D-DC20-A149DB41E5D2}"/>
              </a:ext>
            </a:extLst>
          </p:cNvPr>
          <p:cNvSpPr/>
          <p:nvPr/>
        </p:nvSpPr>
        <p:spPr>
          <a:xfrm>
            <a:off x="6967728" y="3904487"/>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1" name="Rectangle 20">
            <a:extLst>
              <a:ext uri="{FF2B5EF4-FFF2-40B4-BE49-F238E27FC236}">
                <a16:creationId xmlns:a16="http://schemas.microsoft.com/office/drawing/2014/main" id="{886B0D5C-0C30-0B30-0BA4-E1C772ECF373}"/>
              </a:ext>
            </a:extLst>
          </p:cNvPr>
          <p:cNvSpPr/>
          <p:nvPr/>
        </p:nvSpPr>
        <p:spPr>
          <a:xfrm>
            <a:off x="6967728" y="4471416"/>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2" name="Rectangle 23">
            <a:extLst>
              <a:ext uri="{FF2B5EF4-FFF2-40B4-BE49-F238E27FC236}">
                <a16:creationId xmlns:a16="http://schemas.microsoft.com/office/drawing/2014/main" id="{22594C73-0280-1178-5856-83C2C8C7B870}"/>
              </a:ext>
            </a:extLst>
          </p:cNvPr>
          <p:cNvSpPr/>
          <p:nvPr/>
        </p:nvSpPr>
        <p:spPr>
          <a:xfrm>
            <a:off x="6967728" y="5038344"/>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3" name="Rectangle 26">
            <a:extLst>
              <a:ext uri="{FF2B5EF4-FFF2-40B4-BE49-F238E27FC236}">
                <a16:creationId xmlns:a16="http://schemas.microsoft.com/office/drawing/2014/main" id="{646B48C3-12AF-E6E5-8AEE-F4C5DD2EEC0C}"/>
              </a:ext>
            </a:extLst>
          </p:cNvPr>
          <p:cNvSpPr/>
          <p:nvPr/>
        </p:nvSpPr>
        <p:spPr>
          <a:xfrm>
            <a:off x="6967728" y="5605272"/>
            <a:ext cx="202996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1" name="Rectangle 25">
            <a:extLst>
              <a:ext uri="{FF2B5EF4-FFF2-40B4-BE49-F238E27FC236}">
                <a16:creationId xmlns:a16="http://schemas.microsoft.com/office/drawing/2014/main" id="{FC84BF14-9CF1-6C23-B694-B5ABD998471B}"/>
              </a:ext>
            </a:extLst>
          </p:cNvPr>
          <p:cNvSpPr/>
          <p:nvPr/>
        </p:nvSpPr>
        <p:spPr>
          <a:xfrm>
            <a:off x="2944368" y="5605272"/>
            <a:ext cx="3995928" cy="539496"/>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841248" y="6307118"/>
            <a:ext cx="8156448"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※数値は貴塾ヒアリングおよびGA等の外部計測をもとに想定します</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すでにいる友だちと配信の実績を、提案の出発点にする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836762" y="1780907"/>
            <a:ext cx="1714414"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836762" y="2203668"/>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836762" y="2809782"/>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836762" y="3424605"/>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836762" y="4030719"/>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836762" y="4645542"/>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836762" y="5251655"/>
            <a:ext cx="1714414"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70" name="Rectangle 5">
            <a:extLst>
              <a:ext uri="{FF2B5EF4-FFF2-40B4-BE49-F238E27FC236}">
                <a16:creationId xmlns:a16="http://schemas.microsoft.com/office/drawing/2014/main" id="{5BA3C8AC-F83B-8887-50C2-B4AED74F4F54}"/>
              </a:ext>
            </a:extLst>
          </p:cNvPr>
          <p:cNvSpPr/>
          <p:nvPr/>
        </p:nvSpPr>
        <p:spPr>
          <a:xfrm>
            <a:off x="6601968" y="1780907"/>
            <a:ext cx="2395383"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1" name="Rectangle 8">
            <a:extLst>
              <a:ext uri="{FF2B5EF4-FFF2-40B4-BE49-F238E27FC236}">
                <a16:creationId xmlns:a16="http://schemas.microsoft.com/office/drawing/2014/main" id="{090C52B4-5C5E-4082-D9D0-B3F682D1D56B}"/>
              </a:ext>
            </a:extLst>
          </p:cNvPr>
          <p:cNvSpPr/>
          <p:nvPr/>
        </p:nvSpPr>
        <p:spPr>
          <a:xfrm>
            <a:off x="6601968" y="2203668"/>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2" name="Rectangle 11">
            <a:extLst>
              <a:ext uri="{FF2B5EF4-FFF2-40B4-BE49-F238E27FC236}">
                <a16:creationId xmlns:a16="http://schemas.microsoft.com/office/drawing/2014/main" id="{5D95E04F-E0EF-7048-CE4F-52EF8E06A51C}"/>
              </a:ext>
            </a:extLst>
          </p:cNvPr>
          <p:cNvSpPr/>
          <p:nvPr/>
        </p:nvSpPr>
        <p:spPr>
          <a:xfrm>
            <a:off x="6601968" y="2809782"/>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3" name="Rectangle 14">
            <a:extLst>
              <a:ext uri="{FF2B5EF4-FFF2-40B4-BE49-F238E27FC236}">
                <a16:creationId xmlns:a16="http://schemas.microsoft.com/office/drawing/2014/main" id="{8DF123B9-F9C1-F5AC-B9B8-847E3B54BB6E}"/>
              </a:ext>
            </a:extLst>
          </p:cNvPr>
          <p:cNvSpPr/>
          <p:nvPr/>
        </p:nvSpPr>
        <p:spPr>
          <a:xfrm>
            <a:off x="6601968" y="3424605"/>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4" name="Rectangle 17">
            <a:extLst>
              <a:ext uri="{FF2B5EF4-FFF2-40B4-BE49-F238E27FC236}">
                <a16:creationId xmlns:a16="http://schemas.microsoft.com/office/drawing/2014/main" id="{8586DBF7-7FC5-FCBD-008A-A179145000C4}"/>
              </a:ext>
            </a:extLst>
          </p:cNvPr>
          <p:cNvSpPr/>
          <p:nvPr/>
        </p:nvSpPr>
        <p:spPr>
          <a:xfrm>
            <a:off x="6601968" y="4030719"/>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0">
            <a:extLst>
              <a:ext uri="{FF2B5EF4-FFF2-40B4-BE49-F238E27FC236}">
                <a16:creationId xmlns:a16="http://schemas.microsoft.com/office/drawing/2014/main" id="{DB7FB4C0-51C6-3078-A140-B7A1B50F861A}"/>
              </a:ext>
            </a:extLst>
          </p:cNvPr>
          <p:cNvSpPr/>
          <p:nvPr/>
        </p:nvSpPr>
        <p:spPr>
          <a:xfrm>
            <a:off x="6601968" y="4645542"/>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6" name="Rectangle 23">
            <a:extLst>
              <a:ext uri="{FF2B5EF4-FFF2-40B4-BE49-F238E27FC236}">
                <a16:creationId xmlns:a16="http://schemas.microsoft.com/office/drawing/2014/main" id="{0B10266D-13DE-7185-5A31-5B2D7BD7491A}"/>
              </a:ext>
            </a:extLst>
          </p:cNvPr>
          <p:cNvSpPr/>
          <p:nvPr/>
        </p:nvSpPr>
        <p:spPr>
          <a:xfrm>
            <a:off x="6601968" y="5251655"/>
            <a:ext cx="2395383"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836762" y="6000207"/>
            <a:ext cx="8160589"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年間の募集スケジュールや配信の確認体制など、運用の進め方に関わる点を伺う</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841248" y="1783080"/>
            <a:ext cx="1709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3080"/>
            <a:ext cx="641908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841248" y="2203704"/>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704"/>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841248" y="2811780"/>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2578608" y="2811780"/>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841248" y="3419856"/>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2578608" y="3419856"/>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841248" y="4027932"/>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2578608" y="4027932"/>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841248" y="4636008"/>
            <a:ext cx="1709928" cy="566928"/>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2578608" y="4636008"/>
            <a:ext cx="6419088" cy="56692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841248" y="5897880"/>
            <a:ext cx="8156448" cy="603504"/>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a:t>
            </a:r>
            <a:br>
              <a:rPr lang="ja-JP" altLang="en-US" sz="1400" b="1" dirty="0">
                <a:solidFill>
                  <a:srgbClr val="1F2A5C"/>
                </a:solidFill>
                <a:latin typeface="メイリオ"/>
                <a:ea typeface="メイリオ"/>
                <a:cs typeface="メイリオ"/>
              </a:rPr>
            </a:br>
            <a:r>
              <a:rPr lang="ja-JP" altLang="en-US" sz="1400" b="1" dirty="0">
                <a:solidFill>
                  <a:srgbClr val="1F2A5C"/>
                </a:solidFill>
                <a:latin typeface="メイリオ"/>
                <a:ea typeface="メイリオ"/>
                <a:cs typeface="メイリオ"/>
              </a:rPr>
              <a:t>管理画面の共有をいただければ詳細なご提案が可能</a:t>
            </a:r>
            <a:endParaRPr sz="1400" b="1" dirty="0">
              <a:solidFill>
                <a:srgbClr val="1F2A5C"/>
              </a:solidFill>
              <a:latin typeface="メイリオ"/>
              <a:ea typeface="メイリオ"/>
              <a:cs typeface="メイリオ"/>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上のアクションユーザー、貴塾保有リストをターゲット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上のアクションユーザー、貴塾保有リストをターゲット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Rectangle 88"/>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90" name="Rectangle 89"/>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サイト・チラシ・教室・友だちの紹介</a:t>
            </a:r>
          </a:p>
          <a:p>
            <a:pPr algn="l">
              <a:lnSpc>
                <a:spcPct val="110000"/>
              </a:lnSpc>
              <a:spcAft>
                <a:spcPts val="0"/>
              </a:spcAft>
            </a:pPr>
            <a:r>
              <a:rPr sz="1050" b="0">
                <a:solidFill>
                  <a:srgbClr val="333333"/>
                </a:solidFill>
                <a:latin typeface="メイリオ"/>
                <a:ea typeface="メイリオ"/>
                <a:cs typeface="メイリオ"/>
              </a:rPr>
              <a:t>離脱防止ポップアップ／チラシ・教室のQR／</a:t>
            </a:r>
          </a:p>
          <a:p>
            <a:pPr algn="l">
              <a:lnSpc>
                <a:spcPct val="110000"/>
              </a:lnSpc>
              <a:spcAft>
                <a:spcPts val="0"/>
              </a:spcAft>
            </a:pPr>
            <a:r>
              <a:rPr sz="1050" b="0">
                <a:solidFill>
                  <a:srgbClr val="333333"/>
                </a:solidFill>
                <a:latin typeface="メイリオ"/>
                <a:ea typeface="メイリオ"/>
                <a:cs typeface="メイリオ"/>
              </a:rPr>
              <a:t>友だちからの紹介</a:t>
            </a:r>
          </a:p>
        </p:txBody>
      </p:sp>
      <p:sp>
        <p:nvSpPr>
          <p:cNvPr id="91" name="TextBox 90"/>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93" name="Rectangle 92"/>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友だち追加</a:t>
            </a:r>
          </a:p>
          <a:p>
            <a:pPr algn="l">
              <a:lnSpc>
                <a:spcPct val="110000"/>
              </a:lnSpc>
              <a:spcAft>
                <a:spcPts val="0"/>
              </a:spcAft>
            </a:pPr>
            <a:r>
              <a:rPr sz="1050" b="0">
                <a:solidFill>
                  <a:srgbClr val="333333"/>
                </a:solidFill>
                <a:latin typeface="メイリオ"/>
                <a:ea typeface="メイリオ"/>
                <a:cs typeface="メイリオ"/>
              </a:rPr>
              <a:t>資料と診断を受け取る</a:t>
            </a:r>
          </a:p>
        </p:txBody>
      </p:sp>
      <p:sp>
        <p:nvSpPr>
          <p:cNvPr id="94" name="TextBox 93"/>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6" name="Rectangle 95"/>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あいさつメッセージ・30秒ぴったり診断</a:t>
            </a:r>
          </a:p>
        </p:txBody>
      </p:sp>
      <p:sp>
        <p:nvSpPr>
          <p:cNvPr id="97" name="TextBox 96"/>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8" name="Rectangle 97"/>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9" name="Rectangle 98"/>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友だちとしてつながり続ける</a:t>
            </a:r>
          </a:p>
        </p:txBody>
      </p:sp>
      <p:sp>
        <p:nvSpPr>
          <p:cNvPr id="100" name="TextBox 99"/>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塾を決めていない保護者とも、</a:t>
            </a:r>
          </a:p>
          <a:p>
            <a:pPr algn="l">
              <a:lnSpc>
                <a:spcPct val="105000"/>
              </a:lnSpc>
              <a:spcAft>
                <a:spcPts val="200"/>
              </a:spcAft>
            </a:pPr>
            <a:r>
              <a:rPr sz="1200" b="0">
                <a:solidFill>
                  <a:srgbClr val="333333"/>
                </a:solidFill>
                <a:latin typeface="メイリオ"/>
                <a:ea typeface="メイリオ"/>
                <a:cs typeface="メイリオ"/>
              </a:rPr>
              <a:t>LINEでつながる</a:t>
            </a:r>
          </a:p>
        </p:txBody>
      </p:sp>
      <p:sp>
        <p:nvSpPr>
          <p:cNvPr id="101" name="TextBox 100"/>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塾を探している保護者</a:t>
            </a:r>
          </a:p>
          <a:p>
            <a:pPr algn="l">
              <a:lnSpc>
                <a:spcPct val="105000"/>
              </a:lnSpc>
              <a:spcAft>
                <a:spcPts val="200"/>
              </a:spcAft>
            </a:pPr>
            <a:r>
              <a:rPr sz="1200" b="0">
                <a:solidFill>
                  <a:srgbClr val="333333"/>
                </a:solidFill>
                <a:latin typeface="メイリオ"/>
                <a:ea typeface="メイリオ"/>
                <a:cs typeface="メイリオ"/>
              </a:rPr>
              <a:t>（一番の悩みは「合う塾が分からない」）</a:t>
            </a:r>
          </a:p>
        </p:txBody>
      </p:sp>
      <p:sp>
        <p:nvSpPr>
          <p:cNvPr id="102" name="TextBox 101"/>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離脱防止ポップアップ／</a:t>
            </a:r>
          </a:p>
          <a:p>
            <a:pPr algn="l">
              <a:lnSpc>
                <a:spcPct val="105000"/>
              </a:lnSpc>
              <a:spcAft>
                <a:spcPts val="200"/>
              </a:spcAft>
            </a:pPr>
            <a:r>
              <a:rPr sz="1200" b="0">
                <a:solidFill>
                  <a:srgbClr val="333333"/>
                </a:solidFill>
                <a:latin typeface="メイリオ"/>
                <a:ea typeface="メイリオ"/>
                <a:cs typeface="メイリオ"/>
              </a:rPr>
              <a:t>チラシ・教室掲示のQR／</a:t>
            </a:r>
          </a:p>
          <a:p>
            <a:pPr algn="l">
              <a:lnSpc>
                <a:spcPct val="105000"/>
              </a:lnSpc>
              <a:spcAft>
                <a:spcPts val="200"/>
              </a:spcAft>
            </a:pPr>
            <a:r>
              <a:rPr sz="1200" b="0">
                <a:solidFill>
                  <a:srgbClr val="333333"/>
                </a:solidFill>
                <a:latin typeface="メイリオ"/>
                <a:ea typeface="メイリオ"/>
                <a:cs typeface="メイリオ"/>
              </a:rPr>
              <a:t>友だちからの紹介</a:t>
            </a:r>
          </a:p>
        </p:txBody>
      </p:sp>
      <p:sp>
        <p:nvSpPr>
          <p:cNvPr id="103" name="TextBox 102"/>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友だち追加数／入口ごとの追加数</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Rectangle 84"/>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86" name="Rectangle 85"/>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友だち全体</a:t>
            </a:r>
          </a:p>
        </p:txBody>
      </p:sp>
      <p:sp>
        <p:nvSpPr>
          <p:cNvPr id="87" name="TextBox 86"/>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8" name="Rectangle 87"/>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89" name="Rectangle 88"/>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企画配信</a:t>
            </a:r>
          </a:p>
          <a:p>
            <a:pPr algn="l">
              <a:lnSpc>
                <a:spcPct val="110000"/>
              </a:lnSpc>
              <a:spcAft>
                <a:spcPts val="0"/>
              </a:spcAft>
            </a:pPr>
            <a:r>
              <a:rPr sz="1050" b="0">
                <a:solidFill>
                  <a:srgbClr val="333333"/>
                </a:solidFill>
                <a:latin typeface="メイリオ"/>
                <a:ea typeface="メイリオ"/>
                <a:cs typeface="メイリオ"/>
              </a:rPr>
              <a:t>年間の配信カレンダー（講習・定期テスト・新学年）</a:t>
            </a:r>
          </a:p>
        </p:txBody>
      </p:sp>
      <p:sp>
        <p:nvSpPr>
          <p:cNvPr id="90" name="TextBox 89"/>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1" name="Rectangle 90"/>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2" name="Rectangle 91"/>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友だちと一緒の体験枠をLINEで案内</a:t>
            </a:r>
          </a:p>
        </p:txBody>
      </p:sp>
      <p:sp>
        <p:nvSpPr>
          <p:cNvPr id="93" name="TextBox 92"/>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4" name="Rectangle 93"/>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5" name="Rectangle 94"/>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友だちの保護者の友だち追加・体験予約</a:t>
            </a:r>
          </a:p>
        </p:txBody>
      </p:sp>
      <p:sp>
        <p:nvSpPr>
          <p:cNvPr id="96" name="TextBox 9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講習・イベントを広く知らせ、</a:t>
            </a:r>
          </a:p>
          <a:p>
            <a:pPr algn="l">
              <a:lnSpc>
                <a:spcPct val="105000"/>
              </a:lnSpc>
              <a:spcAft>
                <a:spcPts val="200"/>
              </a:spcAft>
            </a:pPr>
            <a:r>
              <a:rPr sz="1200" b="0">
                <a:solidFill>
                  <a:srgbClr val="333333"/>
                </a:solidFill>
                <a:latin typeface="メイリオ"/>
                <a:ea typeface="メイリオ"/>
                <a:cs typeface="メイリオ"/>
              </a:rPr>
              <a:t>保護者どうしの口コミをLINEにつなげる</a:t>
            </a:r>
          </a:p>
        </p:txBody>
      </p:sp>
      <p:sp>
        <p:nvSpPr>
          <p:cNvPr id="97" name="TextBox 9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友だち全体</a:t>
            </a:r>
          </a:p>
          <a:p>
            <a:pPr algn="l">
              <a:lnSpc>
                <a:spcPct val="105000"/>
              </a:lnSpc>
              <a:spcAft>
                <a:spcPts val="200"/>
              </a:spcAft>
            </a:pPr>
            <a:r>
              <a:rPr sz="1200" b="0">
                <a:solidFill>
                  <a:srgbClr val="333333"/>
                </a:solidFill>
                <a:latin typeface="メイリオ"/>
                <a:ea typeface="メイリオ"/>
                <a:cs typeface="メイリオ"/>
              </a:rPr>
              <a:t>（体験・入会の前の保護者も含む）</a:t>
            </a:r>
          </a:p>
        </p:txBody>
      </p:sp>
      <p:sp>
        <p:nvSpPr>
          <p:cNvPr id="98" name="TextBox 9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年間の配信カレンダーに沿った企画配信／</a:t>
            </a:r>
          </a:p>
          <a:p>
            <a:pPr algn="l">
              <a:lnSpc>
                <a:spcPct val="105000"/>
              </a:lnSpc>
              <a:spcAft>
                <a:spcPts val="200"/>
              </a:spcAft>
            </a:pPr>
            <a:r>
              <a:rPr sz="1200" b="0">
                <a:solidFill>
                  <a:srgbClr val="333333"/>
                </a:solidFill>
                <a:latin typeface="メイリオ"/>
                <a:ea typeface="メイリオ"/>
                <a:cs typeface="メイリオ"/>
              </a:rPr>
              <a:t>友だちと一緒の体験枠／</a:t>
            </a:r>
          </a:p>
          <a:p>
            <a:pPr algn="l">
              <a:lnSpc>
                <a:spcPct val="105000"/>
              </a:lnSpc>
              <a:spcAft>
                <a:spcPts val="200"/>
              </a:spcAft>
            </a:pPr>
            <a:r>
              <a:rPr sz="1200" b="0">
                <a:solidFill>
                  <a:srgbClr val="333333"/>
                </a:solidFill>
                <a:latin typeface="メイリオ"/>
                <a:ea typeface="メイリオ"/>
                <a:cs typeface="メイリオ"/>
              </a:rPr>
              <a:t>診断結果を友だちに送れる</a:t>
            </a:r>
          </a:p>
        </p:txBody>
      </p:sp>
      <p:sp>
        <p:nvSpPr>
          <p:cNvPr id="99" name="TextBox 9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配信到達数・開封率／</a:t>
            </a:r>
          </a:p>
          <a:p>
            <a:pPr algn="l">
              <a:lnSpc>
                <a:spcPct val="105000"/>
              </a:lnSpc>
              <a:spcAft>
                <a:spcPts val="200"/>
              </a:spcAft>
            </a:pPr>
            <a:r>
              <a:rPr sz="1200" b="0">
                <a:solidFill>
                  <a:srgbClr val="333333"/>
                </a:solidFill>
                <a:latin typeface="メイリオ"/>
                <a:ea typeface="メイリオ"/>
                <a:cs typeface="メイリオ"/>
              </a:rPr>
              <a:t>紹介からの友だち追加数</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Rectangle 107"/>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9" name="Rectangle 108"/>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友だち追加から14日以内の保護者</a:t>
            </a:r>
          </a:p>
        </p:txBody>
      </p:sp>
      <p:sp>
        <p:nvSpPr>
          <p:cNvPr id="110" name="TextBox 109"/>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12" name="Rectangle 111"/>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30秒ぴったり診断（4問）</a:t>
            </a:r>
          </a:p>
        </p:txBody>
      </p:sp>
      <p:sp>
        <p:nvSpPr>
          <p:cNvPr id="113" name="TextBox 112"/>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5" name="Rectangle 114"/>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14日間の配信</a:t>
            </a:r>
          </a:p>
          <a:p>
            <a:pPr algn="l">
              <a:lnSpc>
                <a:spcPct val="110000"/>
              </a:lnSpc>
              <a:spcAft>
                <a:spcPts val="0"/>
              </a:spcAft>
            </a:pPr>
            <a:r>
              <a:rPr sz="1050" b="0">
                <a:solidFill>
                  <a:srgbClr val="333333"/>
                </a:solidFill>
                <a:latin typeface="メイリオ"/>
                <a:ea typeface="メイリオ"/>
                <a:cs typeface="メイリオ"/>
              </a:rPr>
              <a:t>体験のご案内は7日後・14日後の2通</a:t>
            </a:r>
          </a:p>
        </p:txBody>
      </p:sp>
      <p:sp>
        <p:nvSpPr>
          <p:cNvPr id="116" name="TextBox 115"/>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8" name="Rectangle 117"/>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資料請求（CV①）・体験予約（CV②）</a:t>
            </a:r>
          </a:p>
        </p:txBody>
      </p:sp>
      <p:sp>
        <p:nvSpPr>
          <p:cNvPr id="119" name="TextBox 118"/>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比べている14日間に、</a:t>
            </a:r>
          </a:p>
          <a:p>
            <a:pPr algn="l">
              <a:lnSpc>
                <a:spcPct val="105000"/>
              </a:lnSpc>
              <a:spcAft>
                <a:spcPts val="200"/>
              </a:spcAft>
            </a:pPr>
            <a:r>
              <a:rPr sz="1200" b="0">
                <a:solidFill>
                  <a:srgbClr val="333333"/>
                </a:solidFill>
                <a:latin typeface="メイリオ"/>
                <a:ea typeface="メイリオ"/>
                <a:cs typeface="メイリオ"/>
              </a:rPr>
              <a:t>資料請求・体験予約へ進んでいただく</a:t>
            </a:r>
          </a:p>
        </p:txBody>
      </p:sp>
      <p:sp>
        <p:nvSpPr>
          <p:cNvPr id="120" name="TextBox 119"/>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友だち追加から14日以内の保護者</a:t>
            </a:r>
          </a:p>
        </p:txBody>
      </p:sp>
      <p:sp>
        <p:nvSpPr>
          <p:cNvPr id="121" name="TextBox 120"/>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費用・時期・口コミの疑問に答える配信／</a:t>
            </a:r>
          </a:p>
          <a:p>
            <a:pPr algn="l">
              <a:lnSpc>
                <a:spcPct val="105000"/>
              </a:lnSpc>
              <a:spcAft>
                <a:spcPts val="200"/>
              </a:spcAft>
            </a:pPr>
            <a:r>
              <a:rPr sz="1200" b="0">
                <a:solidFill>
                  <a:srgbClr val="333333"/>
                </a:solidFill>
                <a:latin typeface="メイリオ"/>
                <a:ea typeface="メイリオ"/>
                <a:cs typeface="メイリオ"/>
              </a:rPr>
              <a:t>診断の回答で合う学び方をお伝え／</a:t>
            </a:r>
          </a:p>
          <a:p>
            <a:pPr algn="l">
              <a:lnSpc>
                <a:spcPct val="105000"/>
              </a:lnSpc>
              <a:spcAft>
                <a:spcPts val="200"/>
              </a:spcAft>
            </a:pPr>
            <a:r>
              <a:rPr sz="1200" b="0">
                <a:solidFill>
                  <a:srgbClr val="333333"/>
                </a:solidFill>
                <a:latin typeface="メイリオ"/>
                <a:ea typeface="メイリオ"/>
                <a:cs typeface="メイリオ"/>
              </a:rPr>
              <a:t>右下に無料体験・見学の予約</a:t>
            </a:r>
          </a:p>
        </p:txBody>
      </p:sp>
      <p:sp>
        <p:nvSpPr>
          <p:cNvPr id="122" name="TextBox 121"/>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資料請求数／体験予約数</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CPO</a:t>
            </a:r>
            <a:r>
              <a:rPr kumimoji="1" lang="ja-JP" altLang="en-US" sz="1200" b="1" dirty="0">
                <a:solidFill>
                  <a:srgbClr val="FFFFFF"/>
                </a:solidFill>
                <a:latin typeface="メイリオ" panose="020B0604030504040204" pitchFamily="50" charset="-128"/>
                <a:ea typeface="メイリオ" panose="020B0604030504040204" pitchFamily="50" charset="-128"/>
              </a:rPr>
              <a:t>の改善（</a:t>
            </a: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体験を予約した保護者</a:t>
            </a:r>
          </a:p>
        </p:txBody>
      </p:sp>
      <p:sp>
        <p:nvSpPr>
          <p:cNvPr id="106" name="TextBox 105"/>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予約の確認・カレンダー登録</a:t>
            </a:r>
          </a:p>
        </p:txBody>
      </p:sp>
      <p:sp>
        <p:nvSpPr>
          <p:cNvPr id="109" name="TextBox 108"/>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体験の前日までの配信</a:t>
            </a:r>
          </a:p>
          <a:p>
            <a:pPr algn="l">
              <a:lnSpc>
                <a:spcPct val="110000"/>
              </a:lnSpc>
              <a:spcAft>
                <a:spcPts val="0"/>
              </a:spcAft>
            </a:pPr>
            <a:r>
              <a:rPr sz="1050" b="0">
                <a:solidFill>
                  <a:srgbClr val="333333"/>
                </a:solidFill>
                <a:latin typeface="メイリオ"/>
                <a:ea typeface="メイリオ"/>
                <a:cs typeface="メイリオ"/>
              </a:rPr>
              <a:t>講師の紹介・持ち物とアクセス・日程の変更方法</a:t>
            </a:r>
          </a:p>
        </p:txBody>
      </p:sp>
      <p:sp>
        <p:nvSpPr>
          <p:cNvPr id="112" name="TextBox 111"/>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体験への来塾・入会</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体験を予約した後、当日来られる方を</a:t>
            </a:r>
          </a:p>
          <a:p>
            <a:pPr algn="l">
              <a:lnSpc>
                <a:spcPct val="105000"/>
              </a:lnSpc>
              <a:spcAft>
                <a:spcPts val="200"/>
              </a:spcAft>
            </a:pPr>
            <a:r>
              <a:rPr sz="1200" b="0">
                <a:solidFill>
                  <a:srgbClr val="333333"/>
                </a:solidFill>
                <a:latin typeface="メイリオ"/>
                <a:ea typeface="メイリオ"/>
                <a:cs typeface="メイリオ"/>
              </a:rPr>
              <a:t>増やし、入会につなげる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体験を予約した保護者</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予約の直後から翌日まで5回の自動配信／</a:t>
            </a:r>
          </a:p>
          <a:p>
            <a:pPr algn="l">
              <a:lnSpc>
                <a:spcPct val="105000"/>
              </a:lnSpc>
              <a:spcAft>
                <a:spcPts val="200"/>
              </a:spcAft>
            </a:pPr>
            <a:r>
              <a:rPr sz="1200" b="0">
                <a:solidFill>
                  <a:srgbClr val="333333"/>
                </a:solidFill>
                <a:latin typeface="メイリオ"/>
                <a:ea typeface="メイリオ"/>
                <a:cs typeface="メイリオ"/>
              </a:rPr>
              <a:t>日程の変更はトークで受け付け／</a:t>
            </a:r>
          </a:p>
          <a:p>
            <a:pPr algn="l">
              <a:lnSpc>
                <a:spcPct val="105000"/>
              </a:lnSpc>
              <a:spcAft>
                <a:spcPts val="200"/>
              </a:spcAft>
            </a:pPr>
            <a:r>
              <a:rPr sz="1200" b="0">
                <a:solidFill>
                  <a:srgbClr val="333333"/>
                </a:solidFill>
                <a:latin typeface="メイリオ"/>
                <a:ea typeface="メイリオ"/>
                <a:cs typeface="メイリオ"/>
              </a:rPr>
              <a:t>翌日に診断結果と入会のご相談</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体験の来塾率／キャンセル率／</a:t>
            </a:r>
          </a:p>
          <a:p>
            <a:pPr algn="l">
              <a:lnSpc>
                <a:spcPct val="105000"/>
              </a:lnSpc>
              <a:spcAft>
                <a:spcPts val="200"/>
              </a:spcAft>
            </a:pPr>
            <a:r>
              <a:rPr sz="1200" b="0">
                <a:solidFill>
                  <a:srgbClr val="333333"/>
                </a:solidFill>
                <a:latin typeface="メイリオ"/>
                <a:ea typeface="メイリオ"/>
                <a:cs typeface="メイリオ"/>
              </a:rPr>
              <a:t>体験から入会の割合</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資料請求・体験だけで止まった保護者</a:t>
            </a:r>
          </a:p>
        </p:txBody>
      </p:sp>
      <p:sp>
        <p:nvSpPr>
          <p:cNvPr id="106" name="TextBox 105"/>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通知メッセージ（電話番号でLINEに届く）</a:t>
            </a:r>
          </a:p>
        </p:txBody>
      </p:sp>
      <p:sp>
        <p:nvSpPr>
          <p:cNvPr id="109" name="TextBox 108"/>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講習の時期の再案内</a:t>
            </a:r>
          </a:p>
          <a:p>
            <a:pPr algn="l">
              <a:lnSpc>
                <a:spcPct val="110000"/>
              </a:lnSpc>
              <a:spcAft>
                <a:spcPts val="0"/>
              </a:spcAft>
            </a:pPr>
            <a:r>
              <a:rPr sz="1050" b="0">
                <a:solidFill>
                  <a:srgbClr val="333333"/>
                </a:solidFill>
                <a:latin typeface="メイリオ"/>
                <a:ea typeface="メイリオ"/>
                <a:cs typeface="メイリオ"/>
              </a:rPr>
              <a:t>夏期講習・冬期講習・新学年の前</a:t>
            </a:r>
          </a:p>
        </p:txBody>
      </p:sp>
      <p:sp>
        <p:nvSpPr>
          <p:cNvPr id="112" name="TextBox 111"/>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体験予約・講習の申し込み</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止まっている保護者に、</a:t>
            </a:r>
          </a:p>
          <a:p>
            <a:pPr algn="l">
              <a:lnSpc>
                <a:spcPct val="105000"/>
              </a:lnSpc>
              <a:spcAft>
                <a:spcPts val="200"/>
              </a:spcAft>
            </a:pPr>
            <a:r>
              <a:rPr sz="1200" b="0">
                <a:solidFill>
                  <a:srgbClr val="333333"/>
                </a:solidFill>
                <a:latin typeface="メイリオ"/>
                <a:ea typeface="メイリオ"/>
                <a:cs typeface="メイリオ"/>
              </a:rPr>
              <a:t>講習の時期にもう一度ご案内する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資料請求だけで止まった保護者／</a:t>
            </a:r>
          </a:p>
          <a:p>
            <a:pPr algn="l">
              <a:lnSpc>
                <a:spcPct val="105000"/>
              </a:lnSpc>
              <a:spcAft>
                <a:spcPts val="200"/>
              </a:spcAft>
            </a:pPr>
            <a:r>
              <a:rPr sz="1200" b="0">
                <a:solidFill>
                  <a:srgbClr val="333333"/>
                </a:solidFill>
                <a:latin typeface="メイリオ"/>
                <a:ea typeface="メイリオ"/>
                <a:cs typeface="メイリオ"/>
              </a:rPr>
              <a:t>体験に来たが入会しなかった保護者</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夏期講習・冬期講習・新学年の前に再案内／</a:t>
            </a:r>
          </a:p>
          <a:p>
            <a:pPr algn="l">
              <a:lnSpc>
                <a:spcPct val="105000"/>
              </a:lnSpc>
              <a:spcAft>
                <a:spcPts val="200"/>
              </a:spcAft>
            </a:pPr>
            <a:r>
              <a:rPr sz="1200" b="0">
                <a:solidFill>
                  <a:srgbClr val="333333"/>
                </a:solidFill>
                <a:latin typeface="メイリオ"/>
                <a:ea typeface="メイリオ"/>
                <a:cs typeface="メイリオ"/>
              </a:rPr>
              <a:t>いつ・何で接点があったかを書いた文面</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再案内からの体験予約数／</a:t>
            </a:r>
          </a:p>
          <a:p>
            <a:pPr algn="l">
              <a:lnSpc>
                <a:spcPct val="105000"/>
              </a:lnSpc>
              <a:spcAft>
                <a:spcPts val="200"/>
              </a:spcAft>
            </a:pPr>
            <a:r>
              <a:rPr sz="1200" b="0">
                <a:solidFill>
                  <a:srgbClr val="333333"/>
                </a:solidFill>
                <a:latin typeface="メイリオ"/>
                <a:ea typeface="メイリオ"/>
                <a:cs typeface="メイリオ"/>
              </a:rPr>
              <a:t>講習の申し込み数</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診断に答えた保護者</a:t>
            </a:r>
          </a:p>
        </p:txBody>
      </p:sp>
      <p:sp>
        <p:nvSpPr>
          <p:cNvPr id="106" name="TextBox 105"/>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診断タグ＋行動タグ</a:t>
            </a:r>
          </a:p>
          <a:p>
            <a:pPr algn="l">
              <a:lnSpc>
                <a:spcPct val="110000"/>
              </a:lnSpc>
              <a:spcAft>
                <a:spcPts val="0"/>
              </a:spcAft>
            </a:pPr>
            <a:r>
              <a:rPr sz="1050" b="0">
                <a:solidFill>
                  <a:srgbClr val="333333"/>
                </a:solidFill>
                <a:latin typeface="メイリオ"/>
                <a:ea typeface="メイリオ"/>
                <a:cs typeface="メイリオ"/>
              </a:rPr>
              <a:t>学年・悩み・性格・時期／押したボタン・予約の有無</a:t>
            </a:r>
          </a:p>
        </p:txBody>
      </p:sp>
      <p:sp>
        <p:nvSpPr>
          <p:cNvPr id="109" name="TextBox 108"/>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保護者ごとに「うちの子の話」になる配信</a:t>
            </a:r>
          </a:p>
        </p:txBody>
      </p:sp>
      <p:sp>
        <p:nvSpPr>
          <p:cNvPr id="112" name="TextBox 111"/>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体験予約・入会</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保護者ごとに合う内容を届け、</a:t>
            </a:r>
          </a:p>
          <a:p>
            <a:pPr algn="l">
              <a:lnSpc>
                <a:spcPct val="105000"/>
              </a:lnSpc>
              <a:spcAft>
                <a:spcPts val="200"/>
              </a:spcAft>
            </a:pPr>
            <a:r>
              <a:rPr sz="1200" b="0">
                <a:solidFill>
                  <a:srgbClr val="333333"/>
                </a:solidFill>
                <a:latin typeface="メイリオ"/>
                <a:ea typeface="メイリオ"/>
                <a:cs typeface="メイリオ"/>
              </a:rPr>
              <a:t>入会まで進めていただく</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診断に答えた保護者／</a:t>
            </a:r>
          </a:p>
          <a:p>
            <a:pPr algn="l">
              <a:lnSpc>
                <a:spcPct val="105000"/>
              </a:lnSpc>
              <a:spcAft>
                <a:spcPts val="200"/>
              </a:spcAft>
            </a:pPr>
            <a:r>
              <a:rPr sz="1200" b="0">
                <a:solidFill>
                  <a:srgbClr val="333333"/>
                </a:solidFill>
                <a:latin typeface="メイリオ"/>
                <a:ea typeface="メイリオ"/>
                <a:cs typeface="メイリオ"/>
              </a:rPr>
              <a:t>資料請求したが体験予約していない保護者</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回答と行動で配信を出し分け／</a:t>
            </a:r>
          </a:p>
          <a:p>
            <a:pPr algn="l">
              <a:lnSpc>
                <a:spcPct val="105000"/>
              </a:lnSpc>
              <a:spcAft>
                <a:spcPts val="200"/>
              </a:spcAft>
            </a:pPr>
            <a:r>
              <a:rPr sz="1200" b="0">
                <a:solidFill>
                  <a:srgbClr val="333333"/>
                </a:solidFill>
                <a:latin typeface="メイリオ"/>
                <a:ea typeface="メイリオ"/>
                <a:cs typeface="メイリオ"/>
              </a:rPr>
              <a:t>資料請求だけの方に体験の案内を追加／</a:t>
            </a:r>
          </a:p>
          <a:p>
            <a:pPr algn="l">
              <a:lnSpc>
                <a:spcPct val="105000"/>
              </a:lnSpc>
              <a:spcAft>
                <a:spcPts val="200"/>
              </a:spcAft>
            </a:pPr>
            <a:r>
              <a:rPr sz="1200" b="0">
                <a:solidFill>
                  <a:srgbClr val="333333"/>
                </a:solidFill>
                <a:latin typeface="メイリオ"/>
                <a:ea typeface="メイリオ"/>
                <a:cs typeface="メイリオ"/>
              </a:rPr>
              <a:t>「情報収集だけ」の方は週1回の情報のみ</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体験予約数／入会数／ブロック率</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入会した保護者</a:t>
            </a:r>
          </a:p>
        </p:txBody>
      </p:sp>
      <p:sp>
        <p:nvSpPr>
          <p:cNvPr id="106" name="TextBox 105"/>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学年・コースでタグ付け</a:t>
            </a:r>
          </a:p>
        </p:txBody>
      </p:sp>
      <p:sp>
        <p:nvSpPr>
          <p:cNvPr id="109" name="TextBox 108"/>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講習・定期テストの時期の配信</a:t>
            </a:r>
          </a:p>
          <a:p>
            <a:pPr algn="l">
              <a:lnSpc>
                <a:spcPct val="110000"/>
              </a:lnSpc>
              <a:spcAft>
                <a:spcPts val="0"/>
              </a:spcAft>
            </a:pPr>
            <a:r>
              <a:rPr sz="1050" b="0">
                <a:solidFill>
                  <a:srgbClr val="333333"/>
                </a:solidFill>
                <a:latin typeface="メイリオ"/>
                <a:ea typeface="メイリオ"/>
                <a:cs typeface="メイリオ"/>
              </a:rPr>
              <a:t>年間の配信カレンダー</a:t>
            </a:r>
          </a:p>
        </p:txBody>
      </p:sp>
      <p:sp>
        <p:nvSpPr>
          <p:cNvPr id="112" name="TextBox 111"/>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講習の受講・通塾の継続</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入会の後も、講習・テストの時期に</a:t>
            </a:r>
          </a:p>
          <a:p>
            <a:pPr algn="l">
              <a:lnSpc>
                <a:spcPct val="105000"/>
              </a:lnSpc>
              <a:spcAft>
                <a:spcPts val="200"/>
              </a:spcAft>
            </a:pPr>
            <a:r>
              <a:rPr sz="1200" b="0">
                <a:solidFill>
                  <a:srgbClr val="333333"/>
                </a:solidFill>
                <a:latin typeface="メイリオ"/>
                <a:ea typeface="メイリオ"/>
                <a:cs typeface="メイリオ"/>
              </a:rPr>
              <a:t>必要なご案内を届ける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入会した保護者</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夏期講習・冬期講習・春期講習の案内／</a:t>
            </a:r>
          </a:p>
          <a:p>
            <a:pPr algn="l">
              <a:lnSpc>
                <a:spcPct val="105000"/>
              </a:lnSpc>
              <a:spcAft>
                <a:spcPts val="200"/>
              </a:spcAft>
            </a:pPr>
            <a:r>
              <a:rPr sz="1200" b="0">
                <a:solidFill>
                  <a:srgbClr val="333333"/>
                </a:solidFill>
                <a:latin typeface="メイリオ"/>
                <a:ea typeface="メイリオ"/>
                <a:cs typeface="メイリオ"/>
              </a:rPr>
              <a:t>定期テストの前後の学習のご案内／</a:t>
            </a:r>
          </a:p>
          <a:p>
            <a:pPr algn="l">
              <a:lnSpc>
                <a:spcPct val="105000"/>
              </a:lnSpc>
              <a:spcAft>
                <a:spcPts val="200"/>
              </a:spcAft>
            </a:pPr>
            <a:r>
              <a:rPr sz="1200" b="0">
                <a:solidFill>
                  <a:srgbClr val="333333"/>
                </a:solidFill>
                <a:latin typeface="メイリオ"/>
                <a:ea typeface="メイリオ"/>
                <a:cs typeface="メイリオ"/>
              </a:rPr>
              <a:t>学年・コースに合わせた出し分け</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講習の申し込み数／継続率</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0666F0DA-BF7D-5966-BD1A-BE7B1A9ECF9F}"/>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854964" y="2583179"/>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632204" y="2583179"/>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通塾中の保護者</a:t>
            </a:r>
          </a:p>
        </p:txBody>
      </p:sp>
      <p:sp>
        <p:nvSpPr>
          <p:cNvPr id="106" name="TextBox 105"/>
          <p:cNvSpPr txBox="1"/>
          <p:nvPr/>
        </p:nvSpPr>
        <p:spPr>
          <a:xfrm>
            <a:off x="854964" y="3177539"/>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854964" y="3351275"/>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632204" y="3351275"/>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通塾中の保護者のタグ付け</a:t>
            </a:r>
          </a:p>
        </p:txBody>
      </p:sp>
      <p:sp>
        <p:nvSpPr>
          <p:cNvPr id="109" name="TextBox 108"/>
          <p:cNvSpPr txBox="1"/>
          <p:nvPr/>
        </p:nvSpPr>
        <p:spPr>
          <a:xfrm>
            <a:off x="854964" y="3945635"/>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854964" y="4119371"/>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632204" y="4119371"/>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教室からのお知らせ・紹介のご案内</a:t>
            </a:r>
          </a:p>
          <a:p>
            <a:pPr algn="l">
              <a:lnSpc>
                <a:spcPct val="110000"/>
              </a:lnSpc>
              <a:spcAft>
                <a:spcPts val="0"/>
              </a:spcAft>
            </a:pPr>
            <a:r>
              <a:rPr sz="1050" b="0">
                <a:solidFill>
                  <a:srgbClr val="333333"/>
                </a:solidFill>
                <a:latin typeface="メイリオ"/>
                <a:ea typeface="メイリオ"/>
                <a:cs typeface="メイリオ"/>
              </a:rPr>
              <a:t>友だちと一緒に（LINEの転送で紹介）</a:t>
            </a:r>
          </a:p>
        </p:txBody>
      </p:sp>
      <p:sp>
        <p:nvSpPr>
          <p:cNvPr id="112" name="TextBox 111"/>
          <p:cNvSpPr txBox="1"/>
          <p:nvPr/>
        </p:nvSpPr>
        <p:spPr>
          <a:xfrm>
            <a:off x="854964" y="4713731"/>
            <a:ext cx="777239" cy="182880"/>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854964" y="4887468"/>
            <a:ext cx="777239" cy="603504"/>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632204" y="4887468"/>
            <a:ext cx="3931920" cy="603504"/>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64800" tIns="10800" rIns="43200" bIns="10800"/>
          <a:lstStyle/>
          <a:p>
            <a:pPr algn="l">
              <a:lnSpc>
                <a:spcPct val="110000"/>
              </a:lnSpc>
              <a:spcAft>
                <a:spcPts val="0"/>
              </a:spcAft>
            </a:pPr>
            <a:r>
              <a:rPr sz="1400" b="1">
                <a:solidFill>
                  <a:srgbClr val="1F2A5C"/>
                </a:solidFill>
                <a:latin typeface="メイリオ"/>
                <a:ea typeface="メイリオ"/>
                <a:cs typeface="メイリオ"/>
              </a:rPr>
              <a:t>通塾の継続・紹介</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通塾中の保護者とのつながりを強くし、</a:t>
            </a:r>
          </a:p>
          <a:p>
            <a:pPr algn="l">
              <a:lnSpc>
                <a:spcPct val="105000"/>
              </a:lnSpc>
              <a:spcAft>
                <a:spcPts val="200"/>
              </a:spcAft>
            </a:pPr>
            <a:r>
              <a:rPr sz="1200" b="0">
                <a:solidFill>
                  <a:srgbClr val="333333"/>
                </a:solidFill>
                <a:latin typeface="メイリオ"/>
                <a:ea typeface="メイリオ"/>
                <a:cs typeface="メイリオ"/>
              </a:rPr>
              <a:t>紹介につなげる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通塾中の保護者</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教室・講習のお知らせ／</a:t>
            </a:r>
          </a:p>
          <a:p>
            <a:pPr algn="l">
              <a:lnSpc>
                <a:spcPct val="105000"/>
              </a:lnSpc>
              <a:spcAft>
                <a:spcPts val="200"/>
              </a:spcAft>
            </a:pPr>
            <a:r>
              <a:rPr sz="1200" b="0">
                <a:solidFill>
                  <a:srgbClr val="333333"/>
                </a:solidFill>
                <a:latin typeface="メイリオ"/>
                <a:ea typeface="メイリオ"/>
                <a:cs typeface="メイリオ"/>
              </a:rPr>
              <a:t>LINEの転送で友だちに紹介／</a:t>
            </a:r>
          </a:p>
          <a:p>
            <a:pPr algn="l">
              <a:lnSpc>
                <a:spcPct val="105000"/>
              </a:lnSpc>
              <a:spcAft>
                <a:spcPts val="200"/>
              </a:spcAft>
            </a:pPr>
            <a:r>
              <a:rPr sz="1200" b="0">
                <a:solidFill>
                  <a:srgbClr val="333333"/>
                </a:solidFill>
                <a:latin typeface="メイリオ"/>
                <a:ea typeface="メイリオ"/>
                <a:cs typeface="メイリオ"/>
              </a:rPr>
              <a:t>紹介の特典の案内（中身は貴塾で決める）</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紹介からの友だち追加数／</a:t>
            </a:r>
          </a:p>
          <a:p>
            <a:pPr algn="l">
              <a:lnSpc>
                <a:spcPct val="105000"/>
              </a:lnSpc>
              <a:spcAft>
                <a:spcPts val="200"/>
              </a:spcAft>
            </a:pPr>
            <a:r>
              <a:rPr sz="1200" b="0">
                <a:solidFill>
                  <a:srgbClr val="333333"/>
                </a:solidFill>
                <a:latin typeface="メイリオ"/>
                <a:ea typeface="メイリオ"/>
                <a:cs typeface="メイリオ"/>
              </a:rPr>
              <a:t>紹介からの体験予約数</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145154</TotalTime>
  <Words>9789</Words>
  <Application>Microsoft Office PowerPoint</Application>
  <PresentationFormat>A4 210 x 297 mm</PresentationFormat>
  <Paragraphs>2105</Paragraphs>
  <Slides>70</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70</vt:i4>
      </vt:variant>
    </vt:vector>
  </HeadingPairs>
  <TitlesOfParts>
    <vt:vector size="77"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1980</cp:revision>
  <cp:lastPrinted>2022-11-01T11:38:14Z</cp:lastPrinted>
  <dcterms:created xsi:type="dcterms:W3CDTF">2015-09-04T09:21:15Z</dcterms:created>
  <dcterms:modified xsi:type="dcterms:W3CDTF">2026-10-29T10:18:59Z</dcterms:modified>
</cp:coreProperties>
</file>