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74"/>
  </p:notesMasterIdLst>
  <p:handoutMasterIdLst>
    <p:handoutMasterId r:id="rId75"/>
  </p:handoutMasterIdLst>
  <p:sldIdLst>
    <p:sldId id="2363" r:id="rId3"/>
    <p:sldId id="2726" r:id="rId4"/>
    <p:sldId id="2721" r:id="rId5"/>
    <p:sldId id="2723" r:id="rId6"/>
    <p:sldId id="2724" r:id="rId7"/>
    <p:sldId id="3150" r:id="rId8"/>
    <p:sldId id="3151" r:id="rId9"/>
    <p:sldId id="2365" r:id="rId10"/>
    <p:sldId id="2725" r:id="rId11"/>
    <p:sldId id="2727" r:id="rId12"/>
    <p:sldId id="3152" r:id="rId13"/>
    <p:sldId id="3153" r:id="rId14"/>
    <p:sldId id="3132" r:id="rId15"/>
    <p:sldId id="3154" r:id="rId16"/>
    <p:sldId id="3155" r:id="rId17"/>
    <p:sldId id="3156" r:id="rId18"/>
    <p:sldId id="3157" r:id="rId19"/>
    <p:sldId id="3158" r:id="rId20"/>
    <p:sldId id="3159" r:id="rId21"/>
    <p:sldId id="3160" r:id="rId22"/>
    <p:sldId id="3161" r:id="rId23"/>
    <p:sldId id="3162" r:id="rId24"/>
    <p:sldId id="3163" r:id="rId25"/>
    <p:sldId id="3164" r:id="rId26"/>
    <p:sldId id="3165" r:id="rId27"/>
    <p:sldId id="2728" r:id="rId28"/>
    <p:sldId id="3166" r:id="rId29"/>
    <p:sldId id="3167" r:id="rId30"/>
    <p:sldId id="3168" r:id="rId31"/>
    <p:sldId id="3169" r:id="rId32"/>
    <p:sldId id="3170" r:id="rId33"/>
    <p:sldId id="3171" r:id="rId34"/>
    <p:sldId id="3172" r:id="rId35"/>
    <p:sldId id="3173" r:id="rId36"/>
    <p:sldId id="3174" r:id="rId37"/>
    <p:sldId id="3175" r:id="rId38"/>
    <p:sldId id="3176" r:id="rId39"/>
    <p:sldId id="3177" r:id="rId40"/>
    <p:sldId id="3178" r:id="rId41"/>
    <p:sldId id="2729" r:id="rId42"/>
    <p:sldId id="3179" r:id="rId43"/>
    <p:sldId id="2730" r:id="rId44"/>
    <p:sldId id="2563" r:id="rId45"/>
    <p:sldId id="2959" r:id="rId46"/>
    <p:sldId id="2970" r:id="rId47"/>
    <p:sldId id="2968" r:id="rId48"/>
    <p:sldId id="2969" r:id="rId49"/>
    <p:sldId id="2639" r:id="rId50"/>
    <p:sldId id="2575" r:id="rId51"/>
    <p:sldId id="2910" r:id="rId52"/>
    <p:sldId id="3180" r:id="rId53"/>
    <p:sldId id="3136" r:id="rId54"/>
    <p:sldId id="3137" r:id="rId55"/>
    <p:sldId id="3138" r:id="rId56"/>
    <p:sldId id="3139" r:id="rId57"/>
    <p:sldId id="3140" r:id="rId58"/>
    <p:sldId id="1169" r:id="rId59"/>
    <p:sldId id="3181" r:id="rId60"/>
    <p:sldId id="3182" r:id="rId61"/>
    <p:sldId id="3183" r:id="rId62"/>
    <p:sldId id="3184" r:id="rId63"/>
    <p:sldId id="3185" r:id="rId64"/>
    <p:sldId id="3186" r:id="rId65"/>
    <p:sldId id="3187" r:id="rId66"/>
    <p:sldId id="3188" r:id="rId67"/>
    <p:sldId id="3189" r:id="rId68"/>
    <p:sldId id="3190" r:id="rId69"/>
    <p:sldId id="3191" r:id="rId70"/>
    <p:sldId id="3192" r:id="rId71"/>
    <p:sldId id="3193" r:id="rId72"/>
    <p:sldId id="3194" r:id="rId73"/>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70" Type="http://schemas.openxmlformats.org/officeDocument/2006/relationships/slide" Target="slides/slide68.xml"/><Relationship Id="rId71" Type="http://schemas.openxmlformats.org/officeDocument/2006/relationships/slide" Target="slides/slide69.xml"/><Relationship Id="rId72" Type="http://schemas.openxmlformats.org/officeDocument/2006/relationships/slide" Target="slides/slide70.xml"/><Relationship Id="rId73" Type="http://schemas.openxmlformats.org/officeDocument/2006/relationships/slide" Target="slides/slide71.xml"/><Relationship Id="rId74" Type="http://schemas.openxmlformats.org/officeDocument/2006/relationships/notesMaster" Target="notesMasters/notesMaster1.xml"/><Relationship Id="rId75" Type="http://schemas.openxmlformats.org/officeDocument/2006/relationships/handoutMaster" Target="handoutMasters/handout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jpeg"/><Relationship Id="rId3" Type="http://schemas.openxmlformats.org/officeDocument/2006/relationships/image" Target="../media/image50.jpe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jpeg"/><Relationship Id="rId7" Type="http://schemas.openxmlformats.org/officeDocument/2006/relationships/image" Target="../media/image54.png"/><Relationship Id="rId8" Type="http://schemas.openxmlformats.org/officeDocument/2006/relationships/image" Target="../media/image55.png"/><Relationship Id="rId9" Type="http://schemas.openxmlformats.org/officeDocument/2006/relationships/image" Target="../media/image56.png"/><Relationship Id="rId10" Type="http://schemas.openxmlformats.org/officeDocument/2006/relationships/image" Target="../media/image57.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1.jpeg"/><Relationship Id="rId5" Type="http://schemas.openxmlformats.org/officeDocument/2006/relationships/image" Target="../media/image62.jpeg"/><Relationship Id="rId6" Type="http://schemas.openxmlformats.org/officeDocument/2006/relationships/image" Target="../media/image63.jpeg"/><Relationship Id="rId7" Type="http://schemas.openxmlformats.org/officeDocument/2006/relationships/image" Target="../media/image64.jpeg"/><Relationship Id="rId8" Type="http://schemas.openxmlformats.org/officeDocument/2006/relationships/image" Target="../media/image65.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保護者の「迷っている期間」に寄り添い、資料請求から入会までをつなぐ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出生数は8年で27.7%減った一方、学習塾市場は伸びている。</a:t>
            </a:r>
          </a:p>
          <a:p>
            <a:pPr algn="l">
              <a:lnSpc>
                <a:spcPct val="128000"/>
              </a:lnSpc>
            </a:pPr>
            <a:r>
              <a:rPr sz="1200" dirty="0" err="1">
                <a:solidFill>
                  <a:srgbClr val="333333"/>
                </a:solidFill>
                <a:latin typeface="メイリオ"/>
                <a:ea typeface="メイリオ"/>
                <a:cs typeface="メイリオ"/>
              </a:rPr>
              <a:t>子どもの数が減るなか、一人ひとりに選ばれるための競争が強まっている。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1,005,677人 → 727,277人</a:t>
            </a:r>
          </a:p>
        </p:txBody>
      </p:sp>
      <p:sp>
        <p:nvSpPr>
          <p:cNvPr id="9" name="Rounded Rectangle 8"/>
          <p:cNvSpPr/>
          <p:nvPr/>
        </p:nvSpPr>
        <p:spPr>
          <a:xfrm>
            <a:off x="34824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4,374億円 → 4,965億円</a:t>
            </a:r>
          </a:p>
        </p:txBody>
      </p:sp>
      <p:sp>
        <p:nvSpPr>
          <p:cNvPr id="13" name="Rounded Rectangle 12"/>
          <p:cNvSpPr/>
          <p:nvPr/>
        </p:nvSpPr>
        <p:spPr>
          <a:xfrm>
            <a:off x="6532800" y="1875599"/>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983599"/>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343599"/>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955599"/>
            <a:ext cx="2942400" cy="468000"/>
          </a:xfrm>
          <a:prstGeom prst="rect">
            <a:avLst/>
          </a:prstGeom>
          <a:noFill/>
        </p:spPr>
        <p:txBody>
          <a:bodyPr wrap="square" lIns="50400" tIns="21600" rIns="50400" bIns="21600" anchor="ctr">
            <a:spAutoFit/>
          </a:bodyPr>
          <a:lstStyle/>
          <a:p>
            <a:pPr algn="ctr">
              <a:lnSpc>
                <a:spcPct val="120000"/>
              </a:lnSpc>
            </a:pPr>
            <a:r>
              <a:rPr sz="1150">
                <a:solidFill>
                  <a:srgbClr val="333333"/>
                </a:solidFill>
                <a:latin typeface="メイリオ"/>
                <a:ea typeface="メイリオ"/>
                <a:cs typeface="メイリオ"/>
              </a:rPr>
              <a:t>654.3万人 → 591.0万人</a:t>
            </a:r>
          </a:p>
        </p:txBody>
      </p:sp>
      <p:sp>
        <p:nvSpPr>
          <p:cNvPr id="17" name="Rounded Rectangle 16"/>
          <p:cNvSpPr/>
          <p:nvPr/>
        </p:nvSpPr>
        <p:spPr>
          <a:xfrm>
            <a:off x="432000" y="3675599"/>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675599"/>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子どもの数は今後も減り、競争はさらに強まる。検討中の保護者を取りこぼさない仕組みが重要。</a:t>
            </a:r>
          </a:p>
        </p:txBody>
      </p:sp>
      <p:sp>
        <p:nvSpPr>
          <p:cNvPr id="19" name="Rounded Rectangle 18"/>
          <p:cNvSpPr/>
          <p:nvPr/>
        </p:nvSpPr>
        <p:spPr>
          <a:xfrm>
            <a:off x="432000" y="4431599"/>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485599"/>
            <a:ext cx="8827200" cy="664946"/>
          </a:xfrm>
          <a:prstGeom prst="rect">
            <a:avLst/>
          </a:prstGeom>
          <a:noFill/>
        </p:spPr>
        <p:txBody>
          <a:bodyPr wrap="square" lIns="50400" tIns="21600" rIns="50400" bIns="21600" anchor="t">
            <a:spAutoFit/>
          </a:bodyPr>
          <a:lstStyle/>
          <a:p>
            <a:pPr algn="l">
              <a:spcAft>
                <a:spcPts val="400"/>
              </a:spcAft>
            </a:pPr>
            <a:r>
              <a:rPr sz="1100" b="1" dirty="0">
                <a:solidFill>
                  <a:srgbClr val="C00000"/>
                </a:solidFill>
                <a:latin typeface="メイリオ"/>
                <a:ea typeface="メイリオ"/>
                <a:cs typeface="メイリオ"/>
              </a:rPr>
              <a:t>市場規模は「定義」で約2倍変わる</a:t>
            </a:r>
          </a:p>
          <a:p>
            <a:pPr algn="l">
              <a:lnSpc>
                <a:spcPct val="125000"/>
              </a:lnSpc>
              <a:spcAft>
                <a:spcPts val="200"/>
              </a:spcAft>
            </a:pPr>
            <a:r>
              <a:rPr sz="1000" dirty="0">
                <a:solidFill>
                  <a:srgbClr val="333333"/>
                </a:solidFill>
                <a:latin typeface="メイリオ"/>
                <a:ea typeface="メイリオ"/>
                <a:cs typeface="メイリオ"/>
              </a:rPr>
              <a:t>経産省「特定サービス産業動態統計」4,965億円＝受講生500人以上の主要事業者のみ（市場の約4〜5割）。</a:t>
            </a:r>
            <a:r>
              <a:rPr sz="1000" dirty="0" err="1">
                <a:solidFill>
                  <a:srgbClr val="333333"/>
                </a:solidFill>
                <a:latin typeface="メイリオ"/>
                <a:ea typeface="メイリオ"/>
                <a:cs typeface="メイリオ"/>
              </a:rPr>
              <a:t>個人塾・中小は含まない</a:t>
            </a:r>
            <a:r>
              <a:rPr sz="1000" dirty="0">
                <a:solidFill>
                  <a:srgbClr val="333333"/>
                </a:solidFill>
                <a:latin typeface="メイリオ"/>
                <a:ea typeface="メイリオ"/>
                <a:cs typeface="メイリオ"/>
              </a:rPr>
              <a:t>。</a:t>
            </a:r>
          </a:p>
          <a:p>
            <a:pPr algn="l">
              <a:lnSpc>
                <a:spcPct val="125000"/>
              </a:lnSpc>
            </a:pPr>
            <a:r>
              <a:rPr sz="1000" dirty="0">
                <a:solidFill>
                  <a:srgbClr val="333333"/>
                </a:solidFill>
                <a:latin typeface="メイリオ"/>
                <a:ea typeface="メイリオ"/>
                <a:cs typeface="メイリオ"/>
              </a:rPr>
              <a:t>矢野経済研究所の全体推計＝9,870億円（2023年度）。個人経営の補習塾・中小予備校まで含むため約2倍。どちらも正しく、対象の範囲が異なる。</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塾を調べているのは、40代の母親が中心。塾選びで最も困っているのは、料金ではなく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「うちの子に合う塾が分からない」（63.5%）。費用よりも、合うかどうか分からないことが決められない理由。</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336758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8" name="TextBox 7"/>
          <p:cNvSpPr txBox="1"/>
          <p:nvPr/>
        </p:nvSpPr>
        <p:spPr>
          <a:xfrm>
            <a:off x="566235" y="225445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性別</a:t>
            </a:r>
            <a:endParaRPr sz="1000" b="1" dirty="0">
              <a:solidFill>
                <a:srgbClr val="FFFFFF"/>
              </a:solidFill>
              <a:latin typeface="メイリオ"/>
              <a:ea typeface="メイリオ"/>
              <a:cs typeface="メイリオ"/>
            </a:endParaRPr>
          </a:p>
        </p:txBody>
      </p:sp>
      <p:sp>
        <p:nvSpPr>
          <p:cNvPr id="9" name="TextBox 8"/>
          <p:cNvSpPr txBox="1"/>
          <p:nvPr/>
        </p:nvSpPr>
        <p:spPr>
          <a:xfrm>
            <a:off x="1530000" y="2034167"/>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67.4%</a:t>
            </a:r>
          </a:p>
        </p:txBody>
      </p:sp>
      <p:sp>
        <p:nvSpPr>
          <p:cNvPr id="10" name="TextBox 9"/>
          <p:cNvSpPr txBox="1"/>
          <p:nvPr/>
        </p:nvSpPr>
        <p:spPr>
          <a:xfrm>
            <a:off x="2637000" y="2168665"/>
            <a:ext cx="1835999" cy="369096"/>
          </a:xfrm>
          <a:prstGeom prst="rect">
            <a:avLst/>
          </a:prstGeom>
          <a:noFill/>
        </p:spPr>
        <p:txBody>
          <a:bodyPr wrap="square" lIns="50400" tIns="21600" rIns="50400" bIns="21600" anchor="ctr">
            <a:spAutoFit/>
          </a:bodyPr>
          <a:lstStyle/>
          <a:p>
            <a:pPr algn="l">
              <a:lnSpc>
                <a:spcPct val="120000"/>
              </a:lnSpc>
            </a:pPr>
            <a:r>
              <a:rPr sz="900" dirty="0" err="1">
                <a:solidFill>
                  <a:srgbClr val="333333"/>
                </a:solidFill>
                <a:latin typeface="メイリオ"/>
                <a:ea typeface="メイリオ"/>
                <a:cs typeface="メイリオ"/>
              </a:rPr>
              <a:t>起点KW「塾</a:t>
            </a:r>
            <a:r>
              <a:rPr sz="900" dirty="0">
                <a:solidFill>
                  <a:srgbClr val="333333"/>
                </a:solidFill>
                <a:latin typeface="メイリオ"/>
                <a:ea typeface="メイリオ"/>
                <a:cs typeface="メイリオ"/>
              </a:rPr>
              <a:t>」</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「塾 費用」も65.5%</a:t>
            </a:r>
          </a:p>
        </p:txBody>
      </p:sp>
      <p:sp>
        <p:nvSpPr>
          <p:cNvPr id="11" name="Rounded Rectangle 10"/>
          <p:cNvSpPr/>
          <p:nvPr/>
        </p:nvSpPr>
        <p:spPr>
          <a:xfrm>
            <a:off x="566235" y="2789377"/>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2" name="TextBox 11"/>
          <p:cNvSpPr txBox="1"/>
          <p:nvPr/>
        </p:nvSpPr>
        <p:spPr>
          <a:xfrm>
            <a:off x="557237" y="2964370"/>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個別クエリ</a:t>
            </a:r>
            <a:endParaRPr sz="1000" b="1" dirty="0">
              <a:solidFill>
                <a:srgbClr val="FFFFFF"/>
              </a:solidFill>
              <a:latin typeface="メイリオ"/>
              <a:ea typeface="メイリオ"/>
              <a:cs typeface="メイリオ"/>
            </a:endParaRPr>
          </a:p>
        </p:txBody>
      </p:sp>
      <p:sp>
        <p:nvSpPr>
          <p:cNvPr id="13" name="TextBox 12"/>
          <p:cNvSpPr txBox="1"/>
          <p:nvPr/>
        </p:nvSpPr>
        <p:spPr>
          <a:xfrm>
            <a:off x="1565236" y="2785546"/>
            <a:ext cx="1080000" cy="536064"/>
          </a:xfrm>
          <a:prstGeom prst="rect">
            <a:avLst/>
          </a:prstGeom>
          <a:noFill/>
        </p:spPr>
        <p:txBody>
          <a:bodyPr wrap="square" lIns="50400" tIns="21600" rIns="50400" bIns="21600" anchor="ctr">
            <a:spAutoFit/>
          </a:bodyPr>
          <a:lstStyle/>
          <a:p>
            <a:pPr algn="ctr"/>
            <a:r>
              <a:rPr sz="1600" b="1" dirty="0" err="1">
                <a:solidFill>
                  <a:srgbClr val="1F285A"/>
                </a:solidFill>
                <a:latin typeface="メイリオ"/>
                <a:ea typeface="メイリオ"/>
                <a:cs typeface="メイリオ"/>
              </a:rPr>
              <a:t>女性</a:t>
            </a:r>
            <a:r>
              <a:rPr sz="1600" b="1" dirty="0">
                <a:solidFill>
                  <a:srgbClr val="1F285A"/>
                </a:solidFill>
                <a:latin typeface="メイリオ"/>
                <a:ea typeface="メイリオ"/>
                <a:cs typeface="メイリオ"/>
              </a:rPr>
              <a:t> 86〜88%</a:t>
            </a:r>
          </a:p>
        </p:txBody>
      </p:sp>
      <p:sp>
        <p:nvSpPr>
          <p:cNvPr id="14" name="TextBox 13"/>
          <p:cNvSpPr txBox="1"/>
          <p:nvPr/>
        </p:nvSpPr>
        <p:spPr>
          <a:xfrm>
            <a:off x="2618236" y="2780764"/>
            <a:ext cx="1835999" cy="535295"/>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いつから通わせる」86.5%／「</a:t>
            </a:r>
            <a:r>
              <a:rPr sz="900" dirty="0" err="1">
                <a:solidFill>
                  <a:srgbClr val="333333"/>
                </a:solidFill>
                <a:latin typeface="メイリオ"/>
                <a:ea typeface="メイリオ"/>
                <a:cs typeface="メイリオ"/>
              </a:rPr>
              <a:t>高校受験</a:t>
            </a:r>
            <a:r>
              <a:rPr sz="900" dirty="0">
                <a:solidFill>
                  <a:srgbClr val="333333"/>
                </a:solidFill>
                <a:latin typeface="メイリオ"/>
                <a:ea typeface="メイリオ"/>
                <a:cs typeface="メイリオ"/>
              </a:rPr>
              <a:t> 塾 いつから」87.9%</a:t>
            </a:r>
          </a:p>
        </p:txBody>
      </p:sp>
      <p:sp>
        <p:nvSpPr>
          <p:cNvPr id="15" name="Rounded Rectangle 14"/>
          <p:cNvSpPr/>
          <p:nvPr/>
        </p:nvSpPr>
        <p:spPr>
          <a:xfrm>
            <a:off x="547200" y="3534116"/>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547200" y="3711609"/>
            <a:ext cx="900000" cy="197510"/>
          </a:xfrm>
          <a:prstGeom prst="rect">
            <a:avLst/>
          </a:prstGeom>
          <a:noFill/>
        </p:spPr>
        <p:txBody>
          <a:bodyPr wrap="square" lIns="50400" tIns="21600" rIns="50400" bIns="21600" anchor="ctr">
            <a:spAutoFit/>
          </a:bodyPr>
          <a:lstStyle/>
          <a:p>
            <a:pPr algn="ctr"/>
            <a:r>
              <a:rPr sz="1000" b="1">
                <a:solidFill>
                  <a:srgbClr val="FFFFFF"/>
                </a:solidFill>
                <a:latin typeface="メイリオ"/>
                <a:ea typeface="メイリオ"/>
                <a:cs typeface="メイリオ"/>
              </a:rPr>
              <a:t>年代</a:t>
            </a:r>
          </a:p>
        </p:txBody>
      </p:sp>
      <p:sp>
        <p:nvSpPr>
          <p:cNvPr id="17" name="TextBox 16"/>
          <p:cNvSpPr txBox="1"/>
          <p:nvPr/>
        </p:nvSpPr>
        <p:spPr>
          <a:xfrm>
            <a:off x="1519201" y="3532792"/>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40代 52.8%</a:t>
            </a:r>
          </a:p>
        </p:txBody>
      </p:sp>
      <p:sp>
        <p:nvSpPr>
          <p:cNvPr id="18" name="TextBox 17"/>
          <p:cNvSpPr txBox="1"/>
          <p:nvPr/>
        </p:nvSpPr>
        <p:spPr>
          <a:xfrm>
            <a:off x="2599201" y="3629769"/>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50代23.5%／30代11.1%</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（同音異義語を除いた数値）</a:t>
            </a:r>
          </a:p>
        </p:txBody>
      </p:sp>
      <p:sp>
        <p:nvSpPr>
          <p:cNvPr id="19" name="Rounded Rectangle 18"/>
          <p:cNvSpPr/>
          <p:nvPr/>
        </p:nvSpPr>
        <p:spPr>
          <a:xfrm>
            <a:off x="571201" y="4256255"/>
            <a:ext cx="900000" cy="552496"/>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0" name="TextBox 19"/>
          <p:cNvSpPr txBox="1"/>
          <p:nvPr/>
        </p:nvSpPr>
        <p:spPr>
          <a:xfrm>
            <a:off x="566235" y="4433748"/>
            <a:ext cx="900000" cy="197510"/>
          </a:xfrm>
          <a:prstGeom prst="rect">
            <a:avLst/>
          </a:prstGeom>
          <a:noFill/>
        </p:spPr>
        <p:txBody>
          <a:bodyPr wrap="square" lIns="50400" tIns="21600" rIns="50400" bIns="21600" anchor="ctr">
            <a:spAutoFit/>
          </a:bodyPr>
          <a:lstStyle/>
          <a:p>
            <a:pPr algn="ctr"/>
            <a:r>
              <a:rPr sz="1000" b="1" dirty="0" err="1">
                <a:solidFill>
                  <a:srgbClr val="FFFFFF"/>
                </a:solidFill>
                <a:latin typeface="メイリオ"/>
                <a:ea typeface="メイリオ"/>
                <a:cs typeface="メイリオ"/>
              </a:rPr>
              <a:t>学年別の違い</a:t>
            </a:r>
            <a:endParaRPr sz="1000" b="1" dirty="0">
              <a:solidFill>
                <a:srgbClr val="FFFFFF"/>
              </a:solidFill>
              <a:latin typeface="メイリオ"/>
              <a:ea typeface="メイリオ"/>
              <a:cs typeface="メイリオ"/>
            </a:endParaRPr>
          </a:p>
        </p:txBody>
      </p:sp>
      <p:sp>
        <p:nvSpPr>
          <p:cNvPr id="21" name="TextBox 20"/>
          <p:cNvSpPr txBox="1"/>
          <p:nvPr/>
        </p:nvSpPr>
        <p:spPr>
          <a:xfrm>
            <a:off x="1543202" y="4274695"/>
            <a:ext cx="1080000" cy="536064"/>
          </a:xfrm>
          <a:prstGeom prst="rect">
            <a:avLst/>
          </a:prstGeom>
          <a:noFill/>
        </p:spPr>
        <p:txBody>
          <a:bodyPr wrap="square" lIns="50400" tIns="21600" rIns="50400" bIns="21600" anchor="ctr">
            <a:spAutoFit/>
          </a:bodyPr>
          <a:lstStyle/>
          <a:p>
            <a:pPr algn="ctr"/>
            <a:r>
              <a:rPr sz="1600" b="1" dirty="0">
                <a:solidFill>
                  <a:srgbClr val="1F285A"/>
                </a:solidFill>
                <a:latin typeface="メイリオ"/>
                <a:ea typeface="メイリオ"/>
                <a:cs typeface="メイリオ"/>
              </a:rPr>
              <a:t>30代 22.1%</a:t>
            </a:r>
          </a:p>
        </p:txBody>
      </p:sp>
      <p:sp>
        <p:nvSpPr>
          <p:cNvPr id="22" name="TextBox 21"/>
          <p:cNvSpPr txBox="1"/>
          <p:nvPr/>
        </p:nvSpPr>
        <p:spPr>
          <a:xfrm>
            <a:off x="2650201" y="4348247"/>
            <a:ext cx="1835999" cy="369096"/>
          </a:xfrm>
          <a:prstGeom prst="rect">
            <a:avLst/>
          </a:prstGeom>
          <a:noFill/>
        </p:spPr>
        <p:txBody>
          <a:bodyPr wrap="square" lIns="50400" tIns="21600" rIns="50400" bIns="21600" anchor="ctr">
            <a:spAutoFit/>
          </a:bodyPr>
          <a:lstStyle/>
          <a:p>
            <a:pPr algn="l">
              <a:lnSpc>
                <a:spcPct val="120000"/>
              </a:lnSpc>
            </a:pPr>
            <a:r>
              <a:rPr sz="900" dirty="0">
                <a:solidFill>
                  <a:srgbClr val="333333"/>
                </a:solidFill>
                <a:latin typeface="メイリオ"/>
                <a:ea typeface="メイリオ"/>
                <a:cs typeface="メイリオ"/>
              </a:rPr>
              <a:t>「塾 費用」では30代が上昇</a:t>
            </a:r>
            <a:endParaRPr lang="en-US" sz="900" dirty="0">
              <a:solidFill>
                <a:srgbClr val="333333"/>
              </a:solidFill>
              <a:latin typeface="メイリオ"/>
              <a:ea typeface="メイリオ"/>
              <a:cs typeface="メイリオ"/>
            </a:endParaRPr>
          </a:p>
          <a:p>
            <a:pPr algn="l">
              <a:lnSpc>
                <a:spcPct val="120000"/>
              </a:lnSpc>
            </a:pPr>
            <a:r>
              <a:rPr sz="900" dirty="0">
                <a:solidFill>
                  <a:srgbClr val="333333"/>
                </a:solidFill>
                <a:latin typeface="メイリオ"/>
                <a:ea typeface="メイリオ"/>
                <a:cs typeface="メイリオ"/>
              </a:rPr>
              <a:t>＝小学生の保護者は30代が多い</a:t>
            </a:r>
          </a:p>
        </p:txBody>
      </p:sp>
      <p:sp>
        <p:nvSpPr>
          <p:cNvPr id="24" name="Rounded Rectangle 23"/>
          <p:cNvSpPr/>
          <p:nvPr/>
        </p:nvSpPr>
        <p:spPr>
          <a:xfrm>
            <a:off x="4823999" y="1619999"/>
            <a:ext cx="4651200" cy="3367587"/>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保護者の心の声（データから読み取れること）</a:t>
            </a:r>
          </a:p>
        </p:txBody>
      </p:sp>
      <p:sp>
        <p:nvSpPr>
          <p:cNvPr id="26" name="Rounded Rectangle 25"/>
          <p:cNvSpPr/>
          <p:nvPr/>
        </p:nvSpPr>
        <p:spPr>
          <a:xfrm>
            <a:off x="4949999" y="205199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うちの子に合うのか、通ってみるまで分からない</a:t>
            </a:r>
            <a:r>
              <a:rPr sz="1100" b="1" dirty="0">
                <a:solidFill>
                  <a:srgbClr val="333333"/>
                </a:solidFill>
                <a:latin typeface="メイリオ"/>
                <a:ea typeface="メイリオ"/>
                <a:cs typeface="メイリオ"/>
              </a:rPr>
              <a:t>」</a:t>
            </a:r>
          </a:p>
          <a:p>
            <a:pPr algn="l">
              <a:lnSpc>
                <a:spcPct val="115000"/>
              </a:lnSpc>
            </a:pPr>
            <a:r>
              <a:rPr sz="900" dirty="0" err="1">
                <a:solidFill>
                  <a:srgbClr val="7F7F7F"/>
                </a:solidFill>
                <a:latin typeface="メイリオ"/>
                <a:ea typeface="メイリオ"/>
                <a:cs typeface="メイリオ"/>
              </a:rPr>
              <a:t>塾選び最大の苦労</a:t>
            </a:r>
            <a:r>
              <a:rPr sz="900" dirty="0">
                <a:solidFill>
                  <a:srgbClr val="7F7F7F"/>
                </a:solidFill>
                <a:latin typeface="メイリオ"/>
                <a:ea typeface="メイリオ"/>
                <a:cs typeface="メイリオ"/>
              </a:rPr>
              <a:t> 63.5%（塾ナラ2025・n=200）</a:t>
            </a:r>
          </a:p>
        </p:txBody>
      </p:sp>
      <p:sp>
        <p:nvSpPr>
          <p:cNvPr id="27" name="Rounded Rectangle 26"/>
          <p:cNvSpPr/>
          <p:nvPr/>
        </p:nvSpPr>
        <p:spPr>
          <a:xfrm>
            <a:off x="4942799" y="2806673"/>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集団と個別、どっちが向いてるのか判断できない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「情報が多すぎる」17.0%</a:t>
            </a:r>
          </a:p>
        </p:txBody>
      </p:sp>
      <p:sp>
        <p:nvSpPr>
          <p:cNvPr id="28" name="Rounded Rectangle 27"/>
          <p:cNvSpPr/>
          <p:nvPr/>
        </p:nvSpPr>
        <p:spPr>
          <a:xfrm>
            <a:off x="4942799" y="3561348"/>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a:t>
            </a:r>
            <a:r>
              <a:rPr sz="1100" b="1" dirty="0" err="1">
                <a:solidFill>
                  <a:srgbClr val="333333"/>
                </a:solidFill>
                <a:latin typeface="メイリオ"/>
                <a:ea typeface="メイリオ"/>
                <a:cs typeface="メイリオ"/>
              </a:rPr>
              <a:t>月謝の他に講習費がいくら乗るのか読めない</a:t>
            </a:r>
            <a:r>
              <a:rPr sz="1100" b="1" dirty="0">
                <a:solidFill>
                  <a:srgbClr val="333333"/>
                </a:solidFill>
                <a:latin typeface="メイリオ"/>
                <a:ea typeface="メイリオ"/>
                <a:cs typeface="メイリオ"/>
              </a:rPr>
              <a:t>」</a:t>
            </a:r>
          </a:p>
          <a:p>
            <a:pPr algn="l">
              <a:lnSpc>
                <a:spcPct val="115000"/>
              </a:lnSpc>
            </a:pPr>
            <a:r>
              <a:rPr sz="9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2799" y="4274467"/>
            <a:ext cx="4392000" cy="512905"/>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100" b="1" dirty="0">
                <a:solidFill>
                  <a:srgbClr val="333333"/>
                </a:solidFill>
                <a:latin typeface="メイリオ"/>
                <a:ea typeface="メイリオ"/>
                <a:cs typeface="メイリオ"/>
              </a:rPr>
              <a:t>「集団と個別、どちらに入れたらいいのか」</a:t>
            </a:r>
          </a:p>
          <a:p>
            <a:pPr algn="l">
              <a:lnSpc>
                <a:spcPct val="115000"/>
              </a:lnSpc>
            </a:pPr>
            <a:r>
              <a:rPr sz="9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42800" y="5316193"/>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費用より、「合うかどうか分からない」ことが決められない理由。</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だから、申し込む前に「合う・合わない」を確かめられるようにする。</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82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まず気軽な申し込み（資料請求）でつながり、体験予約、入会へ進んでいただく。</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入会は教室で行うため、LINEで計測する</a:t>
            </a:r>
            <a:r>
              <a:rPr lang="ja-JP" altLang="en-US" sz="1200" dirty="0">
                <a:solidFill>
                  <a:srgbClr val="333333"/>
                </a:solidFill>
                <a:latin typeface="メイリオ"/>
                <a:ea typeface="メイリオ"/>
                <a:cs typeface="メイリオ"/>
              </a:rPr>
              <a:t>成果地点</a:t>
            </a:r>
            <a:r>
              <a:rPr sz="1200" dirty="0">
                <a:solidFill>
                  <a:srgbClr val="333333"/>
                </a:solidFill>
                <a:latin typeface="メイリオ"/>
                <a:ea typeface="メイリオ"/>
                <a:cs typeface="メイリオ"/>
              </a:rPr>
              <a:t>は資料請求と体験予約の2つ。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資料を読む方へ</a:t>
            </a:r>
          </a:p>
          <a:p>
            <a:pPr algn="ctr"/>
            <a:r>
              <a:rPr sz="1100" b="0">
                <a:solidFill>
                  <a:srgbClr val="333333"/>
                </a:solidFill>
                <a:latin typeface="メイリオ"/>
                <a:ea typeface="メイリオ"/>
                <a:cs typeface="メイリオ"/>
              </a:rPr>
              <a:t>続けて配信→体験予約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入会しなかった方へ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897B"/>
                </a:solidFill>
                <a:latin typeface="メイリオ"/>
                <a:ea typeface="メイリオ"/>
                <a:cs typeface="メイリオ"/>
              </a:rPr>
              <a:t>CV① 資料請求（気軽な申し込み）</a:t>
            </a:r>
          </a:p>
          <a:p>
            <a:pPr algn="l"/>
            <a:r>
              <a:rPr sz="1250" b="0">
                <a:solidFill>
                  <a:srgbClr val="333333"/>
                </a:solidFill>
                <a:latin typeface="メイリオ"/>
                <a:ea typeface="メイリオ"/>
                <a:cs typeface="メイリオ"/>
              </a:rPr>
              <a:t>・まだ決めていない保護者でも、気軽に申し込める</a:t>
            </a:r>
          </a:p>
          <a:p>
            <a:pPr algn="l"/>
            <a:r>
              <a:rPr sz="125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00897B"/>
                </a:solidFill>
                <a:latin typeface="メイリオ"/>
                <a:ea typeface="メイリオ"/>
                <a:cs typeface="メイリオ"/>
              </a:rPr>
              <a:t>CV② 体験予約（検討が進んだ申し込み）</a:t>
            </a:r>
          </a:p>
          <a:p>
            <a:pPr algn="l"/>
            <a:r>
              <a:rPr sz="1350" b="0">
                <a:solidFill>
                  <a:srgbClr val="333333"/>
                </a:solidFill>
                <a:latin typeface="メイリオ"/>
                <a:ea typeface="メイリオ"/>
                <a:cs typeface="メイリオ"/>
              </a:rPr>
              <a:t>・資料を読んで「合いそう」と思った保護者が進む</a:t>
            </a:r>
          </a:p>
          <a:p>
            <a:pPr algn="l"/>
            <a:r>
              <a:rPr sz="1350" b="0">
                <a:solidFill>
                  <a:srgbClr val="333333"/>
                </a:solidFill>
                <a:latin typeface="メイリオ"/>
                <a:ea typeface="メイリオ"/>
                <a:cs typeface="メイリオ"/>
              </a:rPr>
              <a:t>・体験に来ていただければ、入会は教室でご案内できる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700" b="1">
                <a:solidFill>
                  <a:srgbClr val="FFFFFF"/>
                </a:solidFill>
                <a:latin typeface="メイリオ"/>
                <a:ea typeface="メイリオ"/>
                <a:cs typeface="メイリオ"/>
              </a:rPr>
              <a:t>いきなり体験をおすすめせず、資料請求 → 体験予約 → 入会の順に進んでいただく。</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最大の課題</a:t>
            </a:r>
            <a:endParaRPr lang="ja-JP" altLang="en-US" sz="11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② 離脱</a:t>
            </a:r>
            <a:endParaRPr lang="ja-JP" altLang="en-US" sz="155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サイトを訪れても、問い合わせをせずに離れる保護者が多い。</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離脱防止ポップアップで、サイトを離れる前にLINEの友だちになっていただく。</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55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資料請求のあと、体験予約までの間に「読んで・比べて・迷う」期間があり、ここで他の塾に流れやすい。</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550" b="1" dirty="0">
                <a:solidFill>
                  <a:srgbClr val="1F285A"/>
                </a:solidFill>
                <a:latin typeface="メイリオ" panose="020B0604030504040204" pitchFamily="50" charset="-128"/>
                <a:ea typeface="メイリオ" panose="020B0604030504040204" pitchFamily="50" charset="-128"/>
              </a:rPr>
              <a:t>⑥ 再育成</a:t>
            </a:r>
            <a:endParaRPr lang="ja-JP" altLang="en-US" sz="155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起きやすいこと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体験に来なかった・入会しなかった保護者とは、つながりが途切れやすい。</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550" b="1" dirty="0">
                <a:solidFill>
                  <a:srgbClr val="FFFFFF"/>
                </a:solidFill>
                <a:latin typeface="メイリオ" panose="020B0604030504040204" pitchFamily="50" charset="-128"/>
                <a:ea typeface="メイリオ" panose="020B0604030504040204" pitchFamily="50" charset="-128"/>
              </a:rPr>
              <a:t>貴塾で最も改善したいフェーズを伺い、それに合わせたプランをご提案する。</a:t>
            </a:r>
            <a:endParaRPr lang="ja-JP" alt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LINEの施策は、目的ごとに5つのパターンに分けられる。</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最初につくるのは、診断・リッチメニュー・14日間の配信。</a:t>
            </a:r>
          </a:p>
          <a:p>
            <a:pPr algn="l">
              <a:lnSpc>
                <a:spcPct val="128000"/>
              </a:lnSpc>
            </a:pPr>
            <a:r>
              <a:rPr sz="1200">
                <a:solidFill>
                  <a:srgbClr val="333333"/>
                </a:solidFill>
                <a:latin typeface="メイリオ"/>
                <a:ea typeface="メイリオ"/>
                <a:cs typeface="メイリオ"/>
              </a:rPr>
              <a:t>その後は毎月、企画配信と出し分け配信を運用する。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最初につくるもの</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毎月運用するもの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特に作り込むのは、診断・リッチメニュー・14日間の配信の3つ。</a:t>
            </a:r>
          </a:p>
          <a:p>
            <a:pPr algn="ctr"/>
            <a:r>
              <a:rPr sz="1100" b="0">
                <a:solidFill>
                  <a:srgbClr val="333333"/>
                </a:solidFill>
                <a:latin typeface="メイリオ"/>
                <a:ea typeface="メイリオ"/>
                <a:cs typeface="メイリオ"/>
              </a:rPr>
              <a:t>この3つが、その後のすべての配信の土台になる。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右の番号は、8フェーズのどこに効くか</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授業の質や合格実績はLINEでは変えられない。LINEで整えられるのは、保護者とのつながりと、体験・入会までの流れ。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電話や来塾なしで、コースと料金の資料が届く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0">
                <a:solidFill>
                  <a:srgbClr val="333333"/>
                </a:solidFill>
                <a:latin typeface="メイリオ"/>
                <a:ea typeface="メイリオ"/>
                <a:cs typeface="メイリオ"/>
              </a:rPr>
              <a:t>日時・持ち物・変更方法を前日にお届けし、当日の来塾につなげる</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0">
                <a:solidFill>
                  <a:srgbClr val="7F7F7F"/>
                </a:solidFill>
                <a:latin typeface="メイリオ"/>
                <a:ea typeface="メイリオ"/>
                <a:cs typeface="メイリオ"/>
              </a:rPr>
              <a:t>LINEではできないこと：授業の質を上げる／合格実績をつくる／講師を採用・育成する</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700" dirty="0">
                <a:latin typeface="メイリオ" panose="020B0604030504040204" pitchFamily="50" charset="-128"/>
                <a:ea typeface="メイリオ" panose="020B0604030504040204" pitchFamily="50" charset="-128"/>
              </a:rPr>
              <a:t>LINE施策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Web上で資料請求・体験予約などの成果地点に到達しているかどうかを軸に、</a:t>
            </a:r>
          </a:p>
          <a:p>
            <a:r>
              <a:rPr lang="ja-JP" altLang="en-US" sz="1600" b="1" dirty="0">
                <a:latin typeface="メイリオ" panose="020B0604030504040204" pitchFamily="50" charset="-128"/>
                <a:ea typeface="メイリオ" panose="020B0604030504040204" pitchFamily="50" charset="-128"/>
                <a:cs typeface="Meiryo"/>
                <a:sym typeface="Meiryo"/>
              </a:rPr>
              <a:t>配信の流れを組み立てることで、ブロックを抑えながら運用する。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検討初期の保護者を取りこぼしやすい</a:t>
            </a:r>
            <a:endParaRPr sz="1200" b="0" dirty="0">
              <a:solidFill>
                <a:srgbClr val="1C2233"/>
              </a:solidFill>
              <a:latin typeface="メイリオ"/>
            </a:endParaRPr>
          </a:p>
          <a:p>
            <a:r>
              <a:rPr sz="1200" b="0" dirty="0">
                <a:solidFill>
                  <a:srgbClr val="1C2233"/>
                </a:solidFill>
                <a:latin typeface="メイリオ"/>
                <a:ea typeface="メイリオ"/>
              </a:rPr>
              <a:t>✓ 電話の折り返しに手間がかかる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Web予約は既に機能している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通知メッセージを使いたい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「まだ決めなくて</a:t>
            </a:r>
          </a:p>
          <a:p>
            <a:pPr algn="ctr"/>
            <a:r>
              <a:rPr sz="100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名前・電話番号</a:t>
            </a:r>
          </a:p>
          <a:p>
            <a:pPr algn="ctr"/>
            <a:r>
              <a:rPr sz="100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学年・悩み・性格</a:t>
            </a:r>
          </a:p>
          <a:p>
            <a:pPr algn="ctr"/>
            <a:r>
              <a:rPr sz="100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コース・料金の</a:t>
            </a:r>
          </a:p>
          <a:p>
            <a:pPr algn="ctr"/>
            <a:r>
              <a:rPr sz="100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LINEで日時を</a:t>
            </a:r>
          </a:p>
          <a:p>
            <a:pPr algn="ctr"/>
            <a:r>
              <a:rPr sz="100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00" b="0">
                <a:solidFill>
                  <a:srgbClr val="7F7F7F"/>
                </a:solidFill>
                <a:latin typeface="メイリオ"/>
                <a:ea typeface="メイリオ"/>
                <a:cs typeface="メイリオ"/>
              </a:rPr>
              <a:t>教室で</a:t>
            </a:r>
          </a:p>
          <a:p>
            <a:pPr algn="ctr"/>
            <a:r>
              <a:rPr sz="100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7F7F7F"/>
                </a:solidFill>
                <a:latin typeface="メイリオ"/>
                <a:ea typeface="メイリオ"/>
                <a:cs typeface="メイリオ"/>
              </a:rPr>
              <a:t>フォームだけの場合</a:t>
            </a:r>
          </a:p>
          <a:p>
            <a:pPr algn="l"/>
            <a:r>
              <a:rPr sz="1250" b="0">
                <a:solidFill>
                  <a:srgbClr val="333333"/>
                </a:solidFill>
                <a:latin typeface="メイリオ"/>
                <a:ea typeface="メイリオ"/>
                <a:cs typeface="メイリオ"/>
              </a:rPr>
              <a:t>サイト → 資料請求フォーム／電話 → 体験</a:t>
            </a:r>
          </a:p>
          <a:p>
            <a:pPr algn="l"/>
            <a:r>
              <a:rPr sz="1250" b="0">
                <a:solidFill>
                  <a:srgbClr val="333333"/>
                </a:solidFill>
                <a:latin typeface="メイリオ"/>
                <a:ea typeface="メイリオ"/>
                <a:cs typeface="メイリオ"/>
              </a:rPr>
              <a:t>・フォームに名前・住所・電話番号を入れる</a:t>
            </a:r>
          </a:p>
          <a:p>
            <a:pPr algn="l"/>
            <a:r>
              <a:rPr sz="1250" b="0">
                <a:solidFill>
                  <a:srgbClr val="333333"/>
                </a:solidFill>
                <a:latin typeface="メイリオ"/>
                <a:ea typeface="メイリオ"/>
                <a:cs typeface="メイリオ"/>
              </a:rPr>
              <a:t>・電話がかかってくるかもしれない</a:t>
            </a:r>
          </a:p>
          <a:p>
            <a:pPr algn="l"/>
            <a:r>
              <a:rPr sz="1250" b="1">
                <a:solidFill>
                  <a:srgbClr val="C00000"/>
                </a:solidFill>
                <a:latin typeface="メイリオ"/>
                <a:ea typeface="メイリオ"/>
                <a:cs typeface="メイリオ"/>
              </a:rPr>
              <a:t>→ まだ決めていない保護者は、ここで離れやすい</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LINEを加えると</a:t>
            </a:r>
          </a:p>
          <a:p>
            <a:pPr algn="l"/>
            <a:r>
              <a:rPr sz="1250" b="0">
                <a:solidFill>
                  <a:srgbClr val="333333"/>
                </a:solidFill>
                <a:latin typeface="メイリオ"/>
                <a:ea typeface="メイリオ"/>
                <a:cs typeface="メイリオ"/>
              </a:rPr>
              <a:t>サイト → LINE → 診断 → 資料 → 体験</a:t>
            </a:r>
          </a:p>
          <a:p>
            <a:pPr algn="l"/>
            <a:r>
              <a:rPr sz="1250" b="0">
                <a:solidFill>
                  <a:srgbClr val="333333"/>
                </a:solidFill>
                <a:latin typeface="メイリオ"/>
                <a:ea typeface="メイリオ"/>
                <a:cs typeface="メイリオ"/>
              </a:rPr>
              <a:t>・タップ1回で友だち追加。入力はいらない</a:t>
            </a:r>
          </a:p>
          <a:p>
            <a:pPr algn="l"/>
            <a:r>
              <a:rPr sz="1250" b="0">
                <a:solidFill>
                  <a:srgbClr val="333333"/>
                </a:solidFill>
                <a:latin typeface="メイリオ"/>
                <a:ea typeface="メイリオ"/>
                <a:cs typeface="メイリオ"/>
              </a:rPr>
              <a:t>・資料を読んでから、体験を決められる</a:t>
            </a:r>
          </a:p>
          <a:p>
            <a:pPr algn="l"/>
            <a:r>
              <a:rPr sz="1250" b="1">
                <a:solidFill>
                  <a:srgbClr val="1F285A"/>
                </a:solidFill>
                <a:latin typeface="メイリオ"/>
                <a:ea typeface="メイリオ"/>
                <a:cs typeface="メイリオ"/>
              </a:rPr>
              <a:t>→ まだ決めていない保護者とも、つながっておける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入口のハードルを下げて、まだ決めていない保護者ともつながる。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中学受験の保護者は、検索の前に志望校・偏差値・算数検定を調べ、当日は塾の名前に集中する。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そのあとは、入室テスト・料金・口コミで比べている。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塾の名前を調べる前（志望校・偏差値を調べる時期）に、LINEでつながっておく。</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「中学受験 塾」の検索前後（LINEヤフー前後検索・実データ）</a:t>
            </a:r>
            <a:endParaRPr lang="ja-JP" altLang="en-US" sz="1250" dirty="0"/>
          </a:p>
        </p:txBody>
      </p:sp>
      <p:pic>
        <p:nvPicPr>
          <p:cNvPr id="27" name="前後検索_中学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私立中学 偏差値ランキング／海城中学・女子学院／栄東中学校 入試／中学受験 偏差値40</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6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算数検定／予習シリーズ／中学受験 社会 勉強方法／中学受験 親の関わり方</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塾選び／塾 ランキング／個別指導のみ／塾 費用／4年生から始める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日能研・早稲田アカデミー・サピックス／サピックス 入室テスト／日能研 費用／明光義塾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志望校・偏差値を調べている → 学年と志望校を伺い、入試から逆算した準備をお届けする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塾選び・費用・いつからを比べている → 費用の目安と始める時期を先にお伝えする</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入室テスト・口コミで比べている → 同じタイプのお子さまの事例と、体験授業のご案内</a:t>
            </a:r>
            <a:endParaRPr lang="ja-JP" alt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前後検索「中高一貫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中高一貫の保護者は、都立中高一貫校・中等教育学校の名前と入試日程を、15日前から調べている。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塾の名前（ena・栄光ゼミナール・日能研）は当日に集中し、そのあとは料金・合格実績で比べている。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学校名と日程を調べ始める15日前から、志望校の情報でつながる。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「中高一貫 塾」の検索前後（LINEヤフー前後検索・実データ）</a:t>
            </a:r>
            <a:endParaRPr lang="ja-JP" altLang="en-US" sz="1250" dirty="0"/>
          </a:p>
        </p:txBody>
      </p:sp>
      <p:pic>
        <p:nvPicPr>
          <p:cNvPr id="27" name="前後検索_中高一貫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0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都立中高一貫校／立川国際・三鷹・九段中等教育学校／都立高校 入試日程／都立推薦 日程</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8E4EC6"/>
                </a:solidFill>
                <a:latin typeface="メイリオ" panose="020B0604030504040204" pitchFamily="50" charset="-128"/>
                <a:ea typeface="メイリオ" panose="020B0604030504040204" pitchFamily="50" charset="-128"/>
              </a:rPr>
              <a:t>② 検定・勉強法</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声の教育社（過去問）／四谷大塚 予習シリーズ</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中学受験 塾選び／中学受験 塾 費用／中学受験 全落ち／中高一貫 塾</a:t>
            </a:r>
            <a:endParaRPr lang="en-US" altLang="ja-JP" sz="10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0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350" dirty="0"/>
          </a:p>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ena・栄光ゼミナール・日能研／栄光ゼミナール 料金／早稲田アカデミー 合格実績／森塾 口コミ</a:t>
            </a:r>
            <a:endParaRPr lang="ja-JP" altLang="en-US" sz="13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学校名・入試日程を調べている → 志望校を伺い、入試から逆算した準備をお届けする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塾の費用・全落ちを心配している → 年間の費用の目安と、準備の進め方</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料金・合格実績で比べている → 同じ志望校のお子さまの事例と、体験授業のご案内</a:t>
            </a:r>
            <a:endParaRPr lang="ja-JP" alt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高校受験の保護者は、当日に「塾 いつから・費用・ランキング・勉強方法」をまとめて調べている。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その前は志望校の偏差値、そのあとは塾の名前と料金で比べている。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「いつから・費用」を調べる当日に、その答えをLINEで先に届ける。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「高校受験 塾」の検索前後（LINEヤフー前後検索・実データ）</a:t>
            </a:r>
            <a:endParaRPr lang="ja-JP" altLang="en-US" sz="1250" dirty="0"/>
          </a:p>
        </p:txBody>
      </p:sp>
      <p:pic>
        <p:nvPicPr>
          <p:cNvPr id="27" name="前後検索_高校受験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0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都立高校／高校受験 偏差値／東京都 高校 偏差値／都立高校 入試</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8E4EC6"/>
                </a:solidFill>
                <a:latin typeface="メイリオ" panose="020B0604030504040204" pitchFamily="50" charset="-128"/>
                <a:ea typeface="メイリオ" panose="020B0604030504040204" pitchFamily="50" charset="-128"/>
              </a:rPr>
              <a:t>② 検定・勉強法</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勉強方法／数検3級／高校受験 塾なし／中学 英語</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高校受験 塾 いつから／塾 費用／塾 ランキング／中学受験 高校受験 どっち／オンライン 塾</a:t>
            </a:r>
            <a:endParaRPr lang="en-US" altLang="ja-JP" sz="9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0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早稲田アカデミー・栄光ゼミナール・臨海セミナー／早稲アカ 個別 料金／臨海セミナー 口コミ</a:t>
            </a:r>
            <a:endParaRPr lang="ja-JP" altLang="en-US" sz="120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勉強方法・塾なしで迷っている → まずは、家でできる勉強のコツをお届けする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5日後｜月謝＋講習費の年間の目安</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いつから・費用を調べている → 年間の費用の目安と、始める時期</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14日後｜テストから逆算＋体験のご案内②</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塾の名前・料金で比べている → 次の定期テストから逆算した体験授業のご案内</a:t>
            </a:r>
            <a:endParaRPr lang="ja-JP" alt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前後検索「英語 塾」</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英語の保護者は、塾より先に英検（日程・級・合格発表）を調べている。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当日は英語塾・個別指導塾の名前、そのあとは料金・口コミで比べている。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4" name="Rounded Rectangle 23"/>
          <p:cNvSpPr/>
          <p:nvPr/>
        </p:nvSpPr>
        <p:spPr>
          <a:xfrm>
            <a:off x="429768" y="5870448"/>
            <a:ext cx="9043416" cy="329184"/>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英検の日程を調べるタイミングで、英検の情報からつながる。</a:t>
            </a:r>
            <a:endParaRPr lang="ja-JP" altLang="en-US" sz="12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出典｜LINEヤフー前後検索（2026年10月取得）。横軸＝起点の検索の前後15日、縦軸＝検索した人数（UU）。配信の中身はP22・P64</a:t>
            </a:r>
            <a:endParaRPr lang="ja-JP" altLang="en-US" sz="750" dirty="0"/>
          </a:p>
        </p:txBody>
      </p:sp>
      <p:sp>
        <p:nvSpPr>
          <p:cNvPr id="26" name="Rectangle 25"/>
          <p:cNvSpPr/>
          <p:nvPr/>
        </p:nvSpPr>
        <p:spPr>
          <a:xfrm>
            <a:off x="429768" y="1463040"/>
            <a:ext cx="9043416" cy="256032"/>
          </a:xfrm>
          <a:prstGeom prst="rect">
            <a:avLst/>
          </a:prstGeom>
          <a:solidFill>
            <a:srgbClr val="1F285A"/>
          </a:solidFill>
          <a:ln>
            <a:noFill/>
          </a:ln>
        </p:spPr>
        <p:txBody>
          <a:bodyPr wrap="square" lIns="45720" tIns="0" rIns="45720"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「英語 塾」の検索前後（LINEヤフー前後検索・実データ）</a:t>
            </a:r>
            <a:endParaRPr lang="ja-JP" altLang="en-US" sz="1250" dirty="0"/>
          </a:p>
        </p:txBody>
      </p:sp>
      <p:pic>
        <p:nvPicPr>
          <p:cNvPr id="27" name="前後検索_英語 塾"/>
          <p:cNvPicPr>
            <a:picLocks noChangeAspect="1"/>
          </p:cNvPicPr>
          <p:nvPr/>
        </p:nvPicPr>
        <p:blipFill>
          <a:blip r:embed="rId2"/>
          <a:stretch>
            <a:fillRect/>
          </a:stretch>
        </p:blipFill>
        <p:spPr>
          <a:xfrm>
            <a:off x="429768" y="1792224"/>
            <a:ext cx="5641848" cy="3292018"/>
          </a:xfrm>
          <a:prstGeom prst="rect">
            <a:avLst/>
          </a:prstGeom>
          <a:ln w="9525">
            <a:solidFill>
              <a:srgbClr val="C6CADD"/>
            </a:solidFill>
          </a:ln>
        </p:spPr>
      </p:pic>
      <p:sp>
        <p:nvSpPr>
          <p:cNvPr id="28" name="Rectangle 27"/>
          <p:cNvSpPr/>
          <p:nvPr/>
        </p:nvSpPr>
        <p:spPr>
          <a:xfrm>
            <a:off x="6181344" y="1792224"/>
            <a:ext cx="3291840" cy="3292018"/>
          </a:xfrm>
          <a:prstGeom prst="rect">
            <a:avLst/>
          </a:prstGeom>
          <a:solidFill>
            <a:srgbClr val="F4F7FF"/>
          </a:solidFill>
          <a:ln w="9525">
            <a:solidFill>
              <a:srgbClr val="D9D9D9"/>
            </a:solidFill>
          </a:ln>
        </p:spPr>
        <p:txBody>
          <a:bodyPr wrap="square" lIns="91440" tIns="45720" rIns="73152" bIns="45720" rtlCol="0" anchor="ctr">
            <a:noAutofit/>
          </a:bodyPr>
          <a:lstStyle/>
          <a:p>
            <a:pPr algn="l">
              <a:lnSpc>
                <a:spcPct val="105000"/>
              </a:lnSpc>
              <a:buNone/>
            </a:pPr>
            <a:r>
              <a:rPr lang="ja-JP" altLang="en-US" sz="1250" b="1" dirty="0">
                <a:solidFill>
                  <a:srgbClr val="3467B2"/>
                </a:solidFill>
                <a:latin typeface="メイリオ" panose="020B0604030504040204" pitchFamily="50" charset="-128"/>
                <a:ea typeface="メイリオ" panose="020B0604030504040204" pitchFamily="50" charset="-128"/>
              </a:rPr>
              <a:t>① 志望校・偏差値</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中高一貫校／大学受験／開成高校／高校受験</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8E4EC6"/>
                </a:solidFill>
                <a:latin typeface="メイリオ" panose="020B0604030504040204" pitchFamily="50" charset="-128"/>
                <a:ea typeface="メイリオ" panose="020B0604030504040204" pitchFamily="50" charset="-128"/>
              </a:rPr>
              <a:t>② 検定・勉強法</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英検 日程／英検3級・2級・準1級／英検 合格発表／漢検／スタディサプリ／英単語</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C2185B"/>
                </a:solidFill>
                <a:latin typeface="メイリオ" panose="020B0604030504040204" pitchFamily="50" charset="-128"/>
                <a:ea typeface="メイリオ" panose="020B0604030504040204" pitchFamily="50" charset="-128"/>
              </a:rPr>
              <a:t>③ 塾選び・費用・時期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個別指導塾／英語塾 中高一貫校／高校受験 塾／小学生 英語 塾</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lnSpc>
                <a:spcPct val="105000"/>
              </a:lnSpc>
              <a:buNone/>
            </a:pPr>
            <a:endParaRPr lang="ja-JP" altLang="en-US" sz="800" dirty="0"/>
          </a:p>
          <a:p>
            <a:pPr algn="l">
              <a:lnSpc>
                <a:spcPct val="105000"/>
              </a:lnSpc>
              <a:buNone/>
            </a:pPr>
            <a:r>
              <a:rPr lang="ja-JP" altLang="en-US" sz="1250" b="1" dirty="0">
                <a:solidFill>
                  <a:srgbClr val="00897B"/>
                </a:solidFill>
                <a:latin typeface="メイリオ" panose="020B0604030504040204" pitchFamily="50" charset="-128"/>
                <a:ea typeface="メイリオ" panose="020B0604030504040204" pitchFamily="50" charset="-128"/>
              </a:rPr>
              <a:t>④ 塾名・料金・口コミ</a:t>
            </a:r>
            <a:endParaRPr lang="ja-JP" altLang="en-US" sz="145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武田塾・明光義塾・森塾／英検アカデミー 料金・口コミ／武田塾 料金</a:t>
            </a:r>
            <a:endParaRPr lang="ja-JP" altLang="en-US" sz="1450" dirty="0"/>
          </a:p>
        </p:txBody>
      </p:sp>
      <p:sp>
        <p:nvSpPr>
          <p:cNvPr id="29" name="Rounded Rectangle 28"/>
          <p:cNvSpPr/>
          <p:nvPr/>
        </p:nvSpPr>
        <p:spPr>
          <a:xfrm>
            <a:off x="429768" y="5157394"/>
            <a:ext cx="960120" cy="658368"/>
          </a:xfrm>
          <a:prstGeom prst="roundRect">
            <a:avLst>
              <a:gd name="adj" fmla="val 8000"/>
            </a:avLst>
          </a:prstGeom>
          <a:solidFill>
            <a:srgbClr val="1F285A"/>
          </a:solidFill>
          <a:ln>
            <a:noFill/>
          </a:ln>
        </p:spPr>
        <p:txBody>
          <a:bodyPr wrap="square" lIns="36576" tIns="0" rIns="36576" bIns="0" rtlCol="0" anchor="ctr">
            <a:noAutofit/>
          </a:bodyPr>
          <a:lstStyle/>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この流れで</a:t>
            </a:r>
            <a:endParaRPr lang="ja-JP" altLang="en-US" sz="1000" dirty="0"/>
          </a:p>
          <a:p>
            <a:pPr algn="ctr">
              <a:lnSpc>
                <a:spcPct val="105000"/>
              </a:lnSpc>
              <a:buNone/>
            </a:pPr>
            <a:r>
              <a:rPr lang="ja-JP" altLang="en-US" sz="1000" b="1" dirty="0">
                <a:solidFill>
                  <a:srgbClr val="FFFFFF"/>
                </a:solidFill>
                <a:latin typeface="メイリオ" panose="020B0604030504040204" pitchFamily="50" charset="-128"/>
                <a:ea typeface="メイリオ" panose="020B0604030504040204" pitchFamily="50" charset="-128"/>
              </a:rPr>
              <a:t>配信すること</a:t>
            </a:r>
            <a:endParaRPr lang="ja-JP" altLang="en-US" sz="1000" dirty="0"/>
          </a:p>
        </p:txBody>
      </p:sp>
      <p:sp>
        <p:nvSpPr>
          <p:cNvPr id="30" name="Rectangle 29"/>
          <p:cNvSpPr/>
          <p:nvPr/>
        </p:nvSpPr>
        <p:spPr>
          <a:xfrm>
            <a:off x="1463040"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追加直後｜あいさつ＋30秒診断</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英検の日程・級を調べている → 学年と目指す級を伺い、次の英検から逆算した準備をお届けする</a:t>
            </a:r>
            <a:endParaRPr lang="ja-JP" altLang="en-US" sz="1200" dirty="0"/>
          </a:p>
        </p:txBody>
      </p:sp>
      <p:sp>
        <p:nvSpPr>
          <p:cNvPr id="31" name="Rectangle 30"/>
          <p:cNvSpPr/>
          <p:nvPr/>
        </p:nvSpPr>
        <p:spPr>
          <a:xfrm>
            <a:off x="4157472"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3日後｜家でできる勉強のコツ</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英単語・勉強法を調べている → 家でできる英語の勉強のコツ</a:t>
            </a:r>
            <a:endParaRPr lang="ja-JP" altLang="en-US" sz="1200" dirty="0"/>
          </a:p>
        </p:txBody>
      </p:sp>
      <p:sp>
        <p:nvSpPr>
          <p:cNvPr id="32" name="Rectangle 31"/>
          <p:cNvSpPr/>
          <p:nvPr/>
        </p:nvSpPr>
        <p:spPr>
          <a:xfrm>
            <a:off x="6851904" y="5157394"/>
            <a:ext cx="2621280" cy="658368"/>
          </a:xfrm>
          <a:prstGeom prst="rect">
            <a:avLst/>
          </a:prstGeom>
          <a:solidFill>
            <a:srgbClr val="FFFFFF"/>
          </a:solidFill>
          <a:ln w="9525">
            <a:solidFill>
              <a:srgbClr val="D9D9D9"/>
            </a:solidFill>
          </a:ln>
        </p:spPr>
        <p:txBody>
          <a:bodyPr wrap="square" lIns="73152" tIns="27432" rIns="54864" bIns="27432" rtlCol="0" anchor="ctr">
            <a:noAutofit/>
          </a:bodyPr>
          <a:lstStyle/>
          <a:p>
            <a:pPr algn="l">
              <a:lnSpc>
                <a:spcPct val="105000"/>
              </a:lnSpc>
              <a:buNone/>
            </a:pPr>
            <a:r>
              <a:rPr lang="ja-JP" altLang="en-US" sz="950" b="1" dirty="0">
                <a:solidFill>
                  <a:srgbClr val="1F285A"/>
                </a:solidFill>
                <a:latin typeface="メイリオ" panose="020B0604030504040204" pitchFamily="50" charset="-128"/>
                <a:ea typeface="メイリオ" panose="020B0604030504040204" pitchFamily="50" charset="-128"/>
              </a:rPr>
              <a:t>7日後｜事例＋体験のご案内①</a:t>
            </a:r>
            <a:endParaRPr lang="ja-JP" altLang="en-US" sz="1200" dirty="0"/>
          </a:p>
          <a:p>
            <a:pPr algn="l">
              <a:lnSpc>
                <a:spcPct val="105000"/>
              </a:lnSpc>
              <a:buNone/>
            </a:pPr>
            <a:r>
              <a:rPr lang="ja-JP" altLang="en-US" sz="900" b="0" dirty="0">
                <a:solidFill>
                  <a:srgbClr val="333333"/>
                </a:solidFill>
                <a:latin typeface="メイリオ" panose="020B0604030504040204" pitchFamily="50" charset="-128"/>
                <a:ea typeface="メイリオ" panose="020B0604030504040204" pitchFamily="50" charset="-128"/>
              </a:rPr>
              <a:t>料金・口コミで比べている → 同じ級を目指したお子さまの事例と、体験授業のご案内</a:t>
            </a:r>
            <a:endParaRPr lang="ja-JP" alt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比べている間は、ご案内より先に役立つ情報を届け、体験予約に進んでいただく。</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※前後検索（P18〜P21）：比べている間は、塾の費用・いつから・口コミを調べている。配信の中身をこれに合わせる。明光義塾のステップ配信の例はP29</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（前後検索・P18〜P21）</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ご案内より先に、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まだ予約していない方</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00897B"/>
                </a:solidFill>
                <a:latin typeface="メイリオ"/>
                <a:ea typeface="メイリオ"/>
                <a:cs typeface="メイリオ"/>
              </a:rPr>
              <a:t>体験予約した方</a:t>
            </a:r>
          </a:p>
          <a:p>
            <a:pPr algn="ctr"/>
            <a:r>
              <a:rPr sz="1100" b="0">
                <a:solidFill>
                  <a:srgbClr val="333333"/>
                </a:solidFill>
                <a:latin typeface="メイリオ"/>
                <a:ea typeface="メイリオ"/>
                <a:cs typeface="メイリオ"/>
              </a:rPr>
              <a:t>→ 前日リマインドへ（P38）</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50" b="1">
                <a:solidFill>
                  <a:srgbClr val="1F285A"/>
                </a:solidFill>
                <a:latin typeface="メイリオ"/>
                <a:ea typeface="メイリオ"/>
                <a:cs typeface="メイリオ"/>
              </a:rPr>
              <a:t>予約しなかった方</a:t>
            </a:r>
          </a:p>
          <a:p>
            <a:pPr algn="ctr"/>
            <a:r>
              <a:rPr sz="1100" b="0">
                <a:solidFill>
                  <a:srgbClr val="333333"/>
                </a:solidFill>
                <a:latin typeface="メイリオ"/>
                <a:ea typeface="メイリオ"/>
                <a:cs typeface="メイリオ"/>
              </a:rPr>
              <a:t>→ 週1回の配信へ合流し、講習の時期に再案内（⑥再育成）</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通知の冒頭（最初の15文字ほど）で開封が左右されるため、冒頭も1通ずつ決める。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※事例の数字は、貴塾の実績（学年・期間・通った回数）に合わせて作成する。体験予約の前日のメッセージはP38</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540000" y="2394000"/>
            <a:ext cx="2664000" cy="1873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塾を探す前に、今日からできることを1つ</a:t>
            </a:r>
          </a:p>
          <a:p>
            <a:pPr algn="l"/>
            <a:r>
              <a:rPr sz="850" b="0" dirty="0" err="1">
                <a:solidFill>
                  <a:srgbClr val="333333"/>
                </a:solidFill>
                <a:latin typeface="メイリオ"/>
                <a:ea typeface="メイリオ"/>
                <a:cs typeface="メイリオ"/>
              </a:rPr>
              <a:t>だけ</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伸びる子の家庭は、テスト返却の日に</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これをやっています</a:t>
            </a:r>
            <a:r>
              <a:rPr sz="850" b="0" dirty="0">
                <a:solidFill>
                  <a:srgbClr val="333333"/>
                </a:solidFill>
                <a:latin typeface="メイリオ"/>
                <a:ea typeface="メイリオ"/>
                <a:cs typeface="メイリオ"/>
              </a:rPr>
              <a:t>👇</a:t>
            </a: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間違いを「ケアレスミス」と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わからなかった」に仕分け</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わからなかった」だけ付箋</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 </a:t>
            </a:r>
            <a:r>
              <a:rPr sz="850" b="0" dirty="0" err="1">
                <a:solidFill>
                  <a:srgbClr val="333333"/>
                </a:solidFill>
                <a:latin typeface="メイリオ"/>
                <a:ea typeface="メイリオ"/>
                <a:cs typeface="メイリオ"/>
              </a:rPr>
              <a:t>週末に付箋の問題だけ解き直す</a:t>
            </a:r>
            <a:endParaRPr sz="850" b="0" dirty="0">
              <a:solidFill>
                <a:srgbClr val="333333"/>
              </a:solidFill>
              <a:latin typeface="メイリオ"/>
              <a:ea typeface="メイリオ"/>
              <a:cs typeface="メイリオ"/>
            </a:endParaRP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塾はその先</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付箋が多すぎて手に負えな</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い」ときの選択肢で大丈夫です</a:t>
            </a:r>
            <a:r>
              <a:rPr sz="850" b="0" dirty="0">
                <a:solidFill>
                  <a:srgbClr val="333333"/>
                </a:solidFill>
                <a:latin typeface="メイリオ"/>
                <a:ea typeface="メイリオ"/>
                <a:cs typeface="メイリオ"/>
              </a:rPr>
              <a:t>😊</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607200" y="2393999"/>
            <a:ext cx="2664000" cy="1646777"/>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診断で</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タイプ」だったお子さまと</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同じタイプの、中2のAさんのお話です。</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入塾前は「授業についていけない」が</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悩みでしたが、分からない所まで戻った</a:t>
            </a:r>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ことで、3か月後の定期テストで</a:t>
            </a:r>
          </a:p>
          <a:p>
            <a:pPr algn="l"/>
            <a:r>
              <a:rPr sz="850" b="0" dirty="0" err="1">
                <a:solidFill>
                  <a:srgbClr val="333333"/>
                </a:solidFill>
                <a:latin typeface="メイリオ"/>
                <a:ea typeface="メイリオ"/>
                <a:cs typeface="メイリオ"/>
              </a:rPr>
              <a:t>数学が◯点</a:t>
            </a:r>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点に</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お子さまに合うかどうかは</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体験で確かめられます</a:t>
            </a:r>
            <a:r>
              <a:rPr sz="850" b="0" dirty="0">
                <a:solidFill>
                  <a:srgbClr val="333333"/>
                </a:solidFill>
                <a:latin typeface="メイリオ"/>
                <a:ea typeface="メイリオ"/>
                <a:cs typeface="メイリオ"/>
              </a:rPr>
              <a:t>。</a:t>
            </a:r>
          </a:p>
        </p:txBody>
      </p:sp>
      <p:sp>
        <p:nvSpPr>
          <p:cNvPr id="31" name="Rounded Rectangle 30"/>
          <p:cNvSpPr/>
          <p:nvPr/>
        </p:nvSpPr>
        <p:spPr>
          <a:xfrm>
            <a:off x="36072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3227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674400" y="2394000"/>
            <a:ext cx="2664000" cy="164677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塾の佐藤です</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次の定期テストまで、あと約◯日</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入塾手続きから授業開始まで約1週間、</a:t>
            </a:r>
          </a:p>
          <a:p>
            <a:pPr algn="l"/>
            <a:r>
              <a:rPr sz="850" b="0" dirty="0">
                <a:solidFill>
                  <a:srgbClr val="333333"/>
                </a:solidFill>
                <a:latin typeface="メイリオ"/>
                <a:ea typeface="メイリオ"/>
                <a:cs typeface="メイリオ"/>
              </a:rPr>
              <a:t>テスト対策には3週間ほどかかるため、</a:t>
            </a:r>
          </a:p>
          <a:p>
            <a:pPr algn="l"/>
            <a:r>
              <a:rPr sz="850" b="0" dirty="0" err="1">
                <a:solidFill>
                  <a:srgbClr val="333333"/>
                </a:solidFill>
                <a:latin typeface="メイリオ"/>
                <a:ea typeface="メイリオ"/>
                <a:cs typeface="メイリオ"/>
              </a:rPr>
              <a:t>ご検討中なら今週がひとつの分かれ目</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です</a:t>
            </a:r>
            <a:r>
              <a:rPr sz="850" b="0" dirty="0">
                <a:solidFill>
                  <a:srgbClr val="333333"/>
                </a:solidFill>
                <a:latin typeface="メイリオ"/>
                <a:ea typeface="メイリオ"/>
                <a:cs typeface="メイリオ"/>
              </a:rPr>
              <a:t>。</a:t>
            </a:r>
          </a:p>
          <a:p>
            <a:pPr algn="l"/>
            <a:endParaRPr sz="850" b="0" dirty="0">
              <a:solidFill>
                <a:srgbClr val="333333"/>
              </a:solidFill>
              <a:latin typeface="メイリオ"/>
              <a:ea typeface="メイリオ"/>
              <a:cs typeface="メイリオ"/>
            </a:endParaRPr>
          </a:p>
          <a:p>
            <a:pPr algn="l"/>
            <a:r>
              <a:rPr sz="850" b="0" dirty="0">
                <a:solidFill>
                  <a:srgbClr val="333333"/>
                </a:solidFill>
                <a:latin typeface="メイリオ"/>
                <a:ea typeface="メイリオ"/>
                <a:cs typeface="メイリオ"/>
              </a:rPr>
              <a:t>「</a:t>
            </a:r>
            <a:r>
              <a:rPr sz="850" b="0" dirty="0" err="1">
                <a:solidFill>
                  <a:srgbClr val="333333"/>
                </a:solidFill>
                <a:latin typeface="メイリオ"/>
                <a:ea typeface="メイリオ"/>
                <a:cs typeface="メイリオ"/>
              </a:rPr>
              <a:t>まだ迷っている」段階でも大丈夫</a:t>
            </a:r>
            <a:r>
              <a:rPr sz="850" b="0" dirty="0">
                <a:solidFill>
                  <a:srgbClr val="333333"/>
                </a:solidFill>
                <a:latin typeface="メイリオ"/>
                <a:ea typeface="メイリオ"/>
                <a:cs typeface="メイリオ"/>
              </a:rPr>
              <a:t>。</a:t>
            </a:r>
          </a:p>
          <a:p>
            <a:pPr algn="l"/>
            <a:r>
              <a:rPr sz="850" b="0" dirty="0" err="1">
                <a:solidFill>
                  <a:srgbClr val="333333"/>
                </a:solidFill>
                <a:latin typeface="メイリオ"/>
                <a:ea typeface="メイリオ"/>
                <a:cs typeface="メイリオ"/>
              </a:rPr>
              <a:t>体験だけ受けて、テスト後にゆっくり</a:t>
            </a:r>
            <a:endParaRPr sz="850" b="0" dirty="0">
              <a:solidFill>
                <a:srgbClr val="333333"/>
              </a:solidFill>
              <a:latin typeface="メイリオ"/>
              <a:ea typeface="メイリオ"/>
              <a:cs typeface="メイリオ"/>
            </a:endParaRPr>
          </a:p>
          <a:p>
            <a:pPr algn="l"/>
            <a:r>
              <a:rPr sz="850" b="0" dirty="0" err="1">
                <a:solidFill>
                  <a:srgbClr val="333333"/>
                </a:solidFill>
                <a:latin typeface="メイリオ"/>
                <a:ea typeface="メイリオ"/>
                <a:cs typeface="メイリオ"/>
              </a:rPr>
              <a:t>決めたご家庭も多いです</a:t>
            </a:r>
            <a:r>
              <a:rPr sz="850" b="0" dirty="0">
                <a:solidFill>
                  <a:srgbClr val="333333"/>
                </a:solidFill>
                <a:latin typeface="メイリオ"/>
                <a:ea typeface="メイリオ"/>
                <a:cs typeface="メイリオ"/>
              </a:rPr>
              <a:t>😊</a:t>
            </a:r>
          </a:p>
        </p:txBody>
      </p:sp>
      <p:sp>
        <p:nvSpPr>
          <p:cNvPr id="36" name="Rounded Rectangle 35"/>
          <p:cNvSpPr/>
          <p:nvPr/>
        </p:nvSpPr>
        <p:spPr>
          <a:xfrm>
            <a:off x="6674400" y="4158000"/>
            <a:ext cx="2664000" cy="232907"/>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 今週の体験枠を見る</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検索のピークの前から、LINEでつながっておく。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出典｜Googleトレンド（日本・2026年年初来・週次）※相対値。規模の違うキーワードは別のグラフで表示</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2"/>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3"/>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4"/>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ectangle 36"/>
          <p:cNvSpPr/>
          <p:nvPr/>
        </p:nvSpPr>
        <p:spPr>
          <a:xfrm>
            <a:off x="5148000" y="3420000"/>
            <a:ext cx="4320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dirty="0" err="1">
                <a:solidFill>
                  <a:srgbClr val="002060"/>
                </a:solidFill>
                <a:latin typeface="メイリオ"/>
                <a:ea typeface="メイリオ"/>
                <a:cs typeface="メイリオ"/>
              </a:rPr>
              <a:t>読み取れること</a:t>
            </a:r>
            <a:endParaRPr sz="1150" b="1" dirty="0">
              <a:solidFill>
                <a:srgbClr val="002060"/>
              </a:solidFill>
              <a:latin typeface="メイリオ"/>
              <a:ea typeface="メイリオ"/>
              <a:cs typeface="メイリオ"/>
            </a:endParaRPr>
          </a:p>
          <a:p>
            <a:pPr algn="l"/>
            <a:r>
              <a:rPr sz="1100" b="0" dirty="0">
                <a:solidFill>
                  <a:srgbClr val="333333"/>
                </a:solidFill>
                <a:latin typeface="メイリオ"/>
                <a:ea typeface="メイリオ"/>
                <a:cs typeface="メイリオ"/>
              </a:rPr>
              <a:t>・「塾」は2月上旬がピーク。ただし年間を通して大きくは落ちない</a:t>
            </a:r>
          </a:p>
          <a:p>
            <a:pPr algn="l"/>
            <a:r>
              <a:rPr sz="1100" b="0" dirty="0">
                <a:solidFill>
                  <a:srgbClr val="333333"/>
                </a:solidFill>
                <a:latin typeface="メイリオ"/>
                <a:ea typeface="メイリオ"/>
                <a:cs typeface="メイリオ"/>
              </a:rPr>
              <a:t>・講習は夏が圧倒的。冬期・春期の3〜5倍</a:t>
            </a:r>
          </a:p>
          <a:p>
            <a:pPr algn="l"/>
            <a:r>
              <a:rPr sz="1100" b="0" dirty="0">
                <a:solidFill>
                  <a:srgbClr val="333333"/>
                </a:solidFill>
                <a:latin typeface="メイリオ"/>
                <a:ea typeface="メイリオ"/>
                <a:cs typeface="メイリオ"/>
              </a:rPr>
              <a:t>・受験の検索は1月中旬〜2月上旬に集中</a:t>
            </a:r>
          </a:p>
          <a:p>
            <a:pPr algn="l"/>
            <a:r>
              <a:rPr sz="1100" b="1" dirty="0">
                <a:solidFill>
                  <a:srgbClr val="1F285A"/>
                </a:solidFill>
                <a:latin typeface="メイリオ"/>
                <a:ea typeface="メイリオ"/>
                <a:cs typeface="メイリオ"/>
              </a:rPr>
              <a:t>→ ピークの時期だけ広告を増やすより、</a:t>
            </a:r>
          </a:p>
          <a:p>
            <a:pPr algn="l"/>
            <a:r>
              <a:rPr sz="1100" b="1" dirty="0">
                <a:solidFill>
                  <a:srgbClr val="1F285A"/>
                </a:solidFill>
                <a:latin typeface="メイリオ"/>
                <a:ea typeface="メイリオ"/>
                <a:cs typeface="メイリオ"/>
              </a:rPr>
              <a:t>　 ピークの前からLINEでつながっておく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50" b="1">
                <a:solidFill>
                  <a:srgbClr val="FFFFFF"/>
                </a:solidFill>
                <a:latin typeface="メイリオ"/>
                <a:ea typeface="メイリオ"/>
                <a:cs typeface="メイリオ"/>
              </a:rPr>
              <a:t>検索のピークの前から、LINEでつながっておく。</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検索のピーク（2月・7月）の前から、その時期に保護者が気にしていることに合わせて配信する。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「塾」の検索は2月上旬がピーク</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「テスト後、9割の家庭がしない事」（P23）</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年間で最も申し込みが集まる時期</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出典｜Googleトレンド（日本・2026年年初来・週次）。各月の内容は弊社の見解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「塾はすぐには申し込まれない」という前提で、サイトから友だちになっていただき、比べている間をLINEで支えている。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大手でも、取り組みの軸は「友だちになっていただき、比べている間をLINEで支える」こと。</a:t>
            </a:r>
          </a:p>
        </p:txBody>
      </p:sp>
      <p:sp>
        <p:nvSpPr>
          <p:cNvPr id="105" name="Rounded Rectangle 104"/>
          <p:cNvSpPr/>
          <p:nvPr/>
        </p:nvSpPr>
        <p:spPr>
          <a:xfrm>
            <a:off x="429768"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9601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0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8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606040"/>
            <a:ext cx="9043416" cy="640080"/>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0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00" b="0" dirty="0">
                <a:solidFill>
                  <a:srgbClr val="333333"/>
                </a:solidFill>
                <a:latin typeface="メイリオ" panose="020B0604030504040204" pitchFamily="50" charset="-128"/>
                <a:ea typeface="メイリオ" panose="020B0604030504040204" pitchFamily="50" charset="-128"/>
              </a:rPr>
            </a:br>
            <a:r>
              <a:rPr lang="ja-JP" altLang="en-US" sz="100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0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00" dirty="0"/>
          </a:p>
        </p:txBody>
      </p:sp>
      <p:sp>
        <p:nvSpPr>
          <p:cNvPr id="109" name="Rectangle 108"/>
          <p:cNvSpPr/>
          <p:nvPr/>
        </p:nvSpPr>
        <p:spPr>
          <a:xfrm>
            <a:off x="429768" y="3383280"/>
            <a:ext cx="9043416" cy="274320"/>
          </a:xfrm>
          <a:prstGeom prst="rect">
            <a:avLst/>
          </a:prstGeom>
          <a:noFill/>
          <a:ln>
            <a:noFill/>
          </a:ln>
        </p:spPr>
        <p:txBody>
          <a:bodyPr wrap="square" lIns="0" tIns="0" rIns="0" bIns="0" rtlCol="0" anchor="ctr">
            <a:noAutofit/>
          </a:bodyPr>
          <a:lstStyle/>
          <a:p>
            <a:pPr algn="l">
              <a:buNone/>
            </a:pPr>
            <a:r>
              <a:rPr lang="ja-JP" altLang="en-US" sz="13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300" dirty="0"/>
          </a:p>
        </p:txBody>
      </p:sp>
      <p:sp>
        <p:nvSpPr>
          <p:cNvPr id="110" name="Rectangle 109"/>
          <p:cNvSpPr/>
          <p:nvPr/>
        </p:nvSpPr>
        <p:spPr>
          <a:xfrm>
            <a:off x="429768"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友だち追加</a:t>
            </a:r>
            <a:endParaRPr lang="ja-JP" altLang="en-US" sz="1150" dirty="0"/>
          </a:p>
        </p:txBody>
      </p:sp>
      <p:sp>
        <p:nvSpPr>
          <p:cNvPr id="111" name="Rounded Rectangle 110"/>
          <p:cNvSpPr/>
          <p:nvPr/>
        </p:nvSpPr>
        <p:spPr>
          <a:xfrm>
            <a:off x="429768"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　サイトで</a:t>
            </a:r>
            <a:endParaRPr lang="ja-JP" altLang="en-US" sz="1100" dirty="0"/>
          </a:p>
        </p:txBody>
      </p:sp>
      <p:sp>
        <p:nvSpPr>
          <p:cNvPr id="112" name="Rectangle 111"/>
          <p:cNvSpPr/>
          <p:nvPr/>
        </p:nvSpPr>
        <p:spPr>
          <a:xfrm>
            <a:off x="2718054"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150" dirty="0"/>
          </a:p>
        </p:txBody>
      </p:sp>
      <p:sp>
        <p:nvSpPr>
          <p:cNvPr id="113" name="Rounded Rectangle 112"/>
          <p:cNvSpPr/>
          <p:nvPr/>
        </p:nvSpPr>
        <p:spPr>
          <a:xfrm>
            <a:off x="2718054"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　追加のあと</a:t>
            </a:r>
            <a:endParaRPr lang="ja-JP" altLang="en-US" sz="1100" dirty="0"/>
          </a:p>
        </p:txBody>
      </p:sp>
      <p:sp>
        <p:nvSpPr>
          <p:cNvPr id="114" name="Rectangle 113"/>
          <p:cNvSpPr/>
          <p:nvPr/>
        </p:nvSpPr>
        <p:spPr>
          <a:xfrm>
            <a:off x="5006340"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150" dirty="0"/>
          </a:p>
        </p:txBody>
      </p:sp>
      <p:sp>
        <p:nvSpPr>
          <p:cNvPr id="115" name="Rounded Rectangle 114"/>
          <p:cNvSpPr/>
          <p:nvPr/>
        </p:nvSpPr>
        <p:spPr>
          <a:xfrm>
            <a:off x="5006340"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　スタンプで</a:t>
            </a:r>
            <a:endParaRPr lang="ja-JP" altLang="en-US" sz="1100" dirty="0"/>
          </a:p>
        </p:txBody>
      </p:sp>
      <p:sp>
        <p:nvSpPr>
          <p:cNvPr id="116" name="Rectangle 115"/>
          <p:cNvSpPr/>
          <p:nvPr/>
        </p:nvSpPr>
        <p:spPr>
          <a:xfrm>
            <a:off x="7294626" y="3950208"/>
            <a:ext cx="2178558" cy="82296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回答をもとに、</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150" dirty="0"/>
          </a:p>
          <a:p>
            <a:pPr algn="ctr">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150" dirty="0"/>
          </a:p>
        </p:txBody>
      </p:sp>
      <p:sp>
        <p:nvSpPr>
          <p:cNvPr id="117" name="Rounded Rectangle 116"/>
          <p:cNvSpPr/>
          <p:nvPr/>
        </p:nvSpPr>
        <p:spPr>
          <a:xfrm>
            <a:off x="7294626" y="3694176"/>
            <a:ext cx="2178558" cy="256032"/>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　配信で</a:t>
            </a:r>
            <a:endParaRPr lang="ja-JP" altLang="en-US" sz="1100" dirty="0"/>
          </a:p>
        </p:txBody>
      </p:sp>
      <p:sp>
        <p:nvSpPr>
          <p:cNvPr id="118" name="Rectangle 117"/>
          <p:cNvSpPr/>
          <p:nvPr/>
        </p:nvSpPr>
        <p:spPr>
          <a:xfrm>
            <a:off x="429768" y="489204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友だち追加の直後に、30秒の相性チェックと「このままLINEで無料体験の予約」を案内している。</a:t>
            </a:r>
          </a:p>
          <a:p>
            <a:pPr algn="l">
              <a:lnSpc>
                <a:spcPct val="128000"/>
              </a:lnSpc>
            </a:pPr>
            <a:r>
              <a:rPr sz="1250" dirty="0" err="1">
                <a:solidFill>
                  <a:srgbClr val="333333"/>
                </a:solidFill>
                <a:latin typeface="メイリオ"/>
                <a:ea typeface="メイリオ"/>
                <a:cs typeface="メイリオ"/>
              </a:rPr>
              <a:t>リッチメニューの一番大きい枠は「授業料シミュレーション」。</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200" dirty="0"/>
          </a:p>
        </p:txBody>
      </p:sp>
      <p:pic>
        <p:nvPicPr>
          <p:cNvPr id="69" name="明光義塾_あいさつ＋相性チェック"/>
          <p:cNvPicPr>
            <a:picLocks noChangeAspect="1"/>
          </p:cNvPicPr>
          <p:nvPr/>
        </p:nvPicPr>
        <p:blipFill>
          <a:blip r:embed="rId2"/>
          <a:stretch>
            <a:fillRect/>
          </a:stretch>
        </p:blipFill>
        <p:spPr>
          <a:xfrm>
            <a:off x="935964" y="1847088"/>
            <a:ext cx="1730806" cy="3749039"/>
          </a:xfrm>
          <a:prstGeom prst="rect">
            <a:avLst/>
          </a:prstGeom>
          <a:ln w="9525">
            <a:solidFill>
              <a:srgbClr val="C6CADD"/>
            </a:solidFill>
          </a:ln>
        </p:spPr>
      </p:pic>
      <p:sp>
        <p:nvSpPr>
          <p:cNvPr id="70" name="Rectangle 69"/>
          <p:cNvSpPr/>
          <p:nvPr/>
        </p:nvSpPr>
        <p:spPr>
          <a:xfrm>
            <a:off x="429768"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200" dirty="0"/>
          </a:p>
        </p:txBody>
      </p:sp>
      <p:pic>
        <p:nvPicPr>
          <p:cNvPr id="72" name="明光義塾_LINEの中で体験予約"/>
          <p:cNvPicPr>
            <a:picLocks noChangeAspect="1"/>
          </p:cNvPicPr>
          <p:nvPr/>
        </p:nvPicPr>
        <p:blipFill>
          <a:blip r:embed="rId3"/>
          <a:stretch>
            <a:fillRect/>
          </a:stretch>
        </p:blipFill>
        <p:spPr>
          <a:xfrm>
            <a:off x="4086072" y="1847088"/>
            <a:ext cx="1730806" cy="3749039"/>
          </a:xfrm>
          <a:prstGeom prst="rect">
            <a:avLst/>
          </a:prstGeom>
          <a:ln w="9525">
            <a:solidFill>
              <a:srgbClr val="C6CADD"/>
            </a:solidFill>
          </a:ln>
        </p:spPr>
      </p:pic>
      <p:sp>
        <p:nvSpPr>
          <p:cNvPr id="73" name="Rectangle 72"/>
          <p:cNvSpPr/>
          <p:nvPr/>
        </p:nvSpPr>
        <p:spPr>
          <a:xfrm>
            <a:off x="3579876"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200" dirty="0"/>
          </a:p>
        </p:txBody>
      </p:sp>
      <p:pic>
        <p:nvPicPr>
          <p:cNvPr id="75" name="明光義塾_リッチメニュー"/>
          <p:cNvPicPr>
            <a:picLocks noChangeAspect="1"/>
          </p:cNvPicPr>
          <p:nvPr/>
        </p:nvPicPr>
        <p:blipFill>
          <a:blip r:embed="rId4"/>
          <a:stretch>
            <a:fillRect/>
          </a:stretch>
        </p:blipFill>
        <p:spPr>
          <a:xfrm>
            <a:off x="7236180" y="1847088"/>
            <a:ext cx="1730806" cy="3749039"/>
          </a:xfrm>
          <a:prstGeom prst="rect">
            <a:avLst/>
          </a:prstGeom>
          <a:ln w="9525">
            <a:solidFill>
              <a:srgbClr val="C6CADD"/>
            </a:solidFill>
          </a:ln>
        </p:spPr>
      </p:pic>
      <p:sp>
        <p:nvSpPr>
          <p:cNvPr id="76" name="Rectangle 75"/>
          <p:cNvSpPr/>
          <p:nvPr/>
        </p:nvSpPr>
        <p:spPr>
          <a:xfrm>
            <a:off x="6729984" y="5669280"/>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友だち追加のあと、相手に合わせた配信が自動で届く（2023年の公式事例の画面）。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200" dirty="0"/>
          </a:p>
        </p:txBody>
      </p:sp>
      <p:pic>
        <p:nvPicPr>
          <p:cNvPr id="106" name="明光義塾_ステップ配信_1"/>
          <p:cNvPicPr>
            <a:picLocks noChangeAspect="1"/>
          </p:cNvPicPr>
          <p:nvPr/>
        </p:nvPicPr>
        <p:blipFill>
          <a:blip r:embed="rId2"/>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楽しみながら答えていただき、保護者か生徒かが分かる。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00" dirty="0"/>
          </a:p>
        </p:txBody>
      </p:sp>
      <p:sp>
        <p:nvSpPr>
          <p:cNvPr id="108" name="Rounded Rectangle 107"/>
          <p:cNvSpPr/>
          <p:nvPr/>
        </p:nvSpPr>
        <p:spPr>
          <a:xfrm>
            <a:off x="5047488" y="1481328"/>
            <a:ext cx="4425696"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200" dirty="0"/>
          </a:p>
        </p:txBody>
      </p:sp>
      <p:pic>
        <p:nvPicPr>
          <p:cNvPr id="109" name="明光義塾_ステップ配信_2"/>
          <p:cNvPicPr>
            <a:picLocks noChangeAspect="1"/>
          </p:cNvPicPr>
          <p:nvPr/>
        </p:nvPicPr>
        <p:blipFill>
          <a:blip r:embed="rId3"/>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00584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00" dirty="0"/>
          </a:p>
          <a:p>
            <a:pPr algn="l">
              <a:lnSpc>
                <a:spcPct val="110000"/>
              </a:lnSpc>
              <a:buNone/>
            </a:pPr>
            <a:r>
              <a:rPr lang="ja-JP" altLang="en-US" sz="100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明光義塾の取り組みは、3つの仕組みに分けられる</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公式事例（2023年）と実際の画面（2026年10月）から、3つの仕組みが読み取れる。</a:t>
            </a:r>
          </a:p>
          <a:p>
            <a:pPr algn="l">
              <a:lnSpc>
                <a:spcPct val="128000"/>
              </a:lnSpc>
            </a:pPr>
            <a:r>
              <a:rPr sz="1200" dirty="0" err="1">
                <a:solidFill>
                  <a:srgbClr val="333333"/>
                </a:solidFill>
                <a:latin typeface="メイリオ"/>
                <a:ea typeface="メイリオ"/>
                <a:cs typeface="メイリオ"/>
              </a:rPr>
              <a:t>この仕組みを、入口（P31）・診断（P35）・配信の出し分け（P37）・ステップ配信（P22）に取り入れる。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 出典：LINEヤフー for Business 導入事例（2024年4月5日）・明光義塾 LINE公式アカウント（2026-10-19 弊社確認）。実際の画面はP28。</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FFFFFF"/>
                </a:solidFill>
                <a:latin typeface="メイリオ"/>
                <a:ea typeface="メイリオ"/>
                <a:cs typeface="メイリオ"/>
              </a:rPr>
              <a:t>友だちになっていただき、質問に答えていただき、合う方にお届けする。この時期の資料請求は前年比 約120%（公式事例）。</a:t>
            </a:r>
          </a:p>
        </p:txBody>
      </p:sp>
      <p:sp>
        <p:nvSpPr>
          <p:cNvPr id="105" name="Rounded Rectangle 104"/>
          <p:cNvSpPr/>
          <p:nvPr/>
        </p:nvSpPr>
        <p:spPr>
          <a:xfrm>
            <a:off x="429768"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50" dirty="0"/>
          </a:p>
        </p:txBody>
      </p:sp>
      <p:sp>
        <p:nvSpPr>
          <p:cNvPr id="106" name="Rounded Rectangle 105"/>
          <p:cNvSpPr/>
          <p:nvPr/>
        </p:nvSpPr>
        <p:spPr>
          <a:xfrm>
            <a:off x="429768"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100" dirty="0"/>
          </a:p>
        </p:txBody>
      </p:sp>
      <p:sp>
        <p:nvSpPr>
          <p:cNvPr id="107" name="Rounded Rectangle 106"/>
          <p:cNvSpPr/>
          <p:nvPr/>
        </p:nvSpPr>
        <p:spPr>
          <a:xfrm>
            <a:off x="429768"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00" dirty="0"/>
          </a:p>
        </p:txBody>
      </p:sp>
      <p:sp>
        <p:nvSpPr>
          <p:cNvPr id="108" name="Rounded Rectangle 107"/>
          <p:cNvSpPr/>
          <p:nvPr/>
        </p:nvSpPr>
        <p:spPr>
          <a:xfrm>
            <a:off x="3511296"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50" dirty="0"/>
          </a:p>
        </p:txBody>
      </p:sp>
      <p:sp>
        <p:nvSpPr>
          <p:cNvPr id="109" name="Rounded Rectangle 108"/>
          <p:cNvSpPr/>
          <p:nvPr/>
        </p:nvSpPr>
        <p:spPr>
          <a:xfrm>
            <a:off x="3511296"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100" dirty="0"/>
          </a:p>
        </p:txBody>
      </p:sp>
      <p:sp>
        <p:nvSpPr>
          <p:cNvPr id="110" name="Rounded Rectangle 109"/>
          <p:cNvSpPr/>
          <p:nvPr/>
        </p:nvSpPr>
        <p:spPr>
          <a:xfrm>
            <a:off x="3511296"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00" dirty="0"/>
          </a:p>
        </p:txBody>
      </p:sp>
      <p:sp>
        <p:nvSpPr>
          <p:cNvPr id="111" name="Rounded Rectangle 110"/>
          <p:cNvSpPr/>
          <p:nvPr/>
        </p:nvSpPr>
        <p:spPr>
          <a:xfrm>
            <a:off x="6592824" y="1508760"/>
            <a:ext cx="288036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50" dirty="0"/>
          </a:p>
        </p:txBody>
      </p:sp>
      <p:sp>
        <p:nvSpPr>
          <p:cNvPr id="112" name="Rounded Rectangle 111"/>
          <p:cNvSpPr/>
          <p:nvPr/>
        </p:nvSpPr>
        <p:spPr>
          <a:xfrm>
            <a:off x="6592824" y="1911095"/>
            <a:ext cx="2880360" cy="1600200"/>
          </a:xfrm>
          <a:prstGeom prst="roundRect">
            <a:avLst>
              <a:gd name="adj" fmla="val 5000"/>
            </a:avLst>
          </a:prstGeom>
          <a:solidFill>
            <a:srgbClr val="F4F7FF"/>
          </a:solidFill>
          <a:ln w="9525">
            <a:solidFill>
              <a:srgbClr val="D9D9D9"/>
            </a:solidFill>
          </a:ln>
        </p:spPr>
        <p:txBody>
          <a:bodyPr wrap="square" lIns="109728" tIns="91440" rIns="91440" bIns="54864" rtlCol="0" anchor="t">
            <a:noAutofit/>
          </a:bodyPr>
          <a:lstStyle/>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2023年は、アンケートで保護者か生徒か、塾に通っているかを伺った。</a:t>
            </a:r>
            <a:endParaRPr lang="ja-JP" altLang="en-US" sz="1100" dirty="0"/>
          </a:p>
          <a:p>
            <a:pPr algn="l">
              <a:lnSpc>
                <a:spcPct val="110000"/>
              </a:lnSpc>
              <a:spcAft>
                <a:spcPts val="600"/>
              </a:spcAft>
              <a:buNone/>
            </a:pPr>
            <a:r>
              <a:rPr lang="ja-JP" altLang="en-US" sz="110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100" dirty="0"/>
          </a:p>
        </p:txBody>
      </p:sp>
      <p:sp>
        <p:nvSpPr>
          <p:cNvPr id="113" name="Rounded Rectangle 112"/>
          <p:cNvSpPr/>
          <p:nvPr/>
        </p:nvSpPr>
        <p:spPr>
          <a:xfrm>
            <a:off x="6592824" y="3621024"/>
            <a:ext cx="2880360" cy="91440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00" dirty="0"/>
          </a:p>
          <a:p>
            <a:pPr algn="l">
              <a:lnSpc>
                <a:spcPct val="105000"/>
              </a:lnSpc>
              <a:buNone/>
            </a:pPr>
            <a:r>
              <a:rPr lang="ja-JP" altLang="en-US" sz="1100" b="0" dirty="0">
                <a:solidFill>
                  <a:srgbClr val="333333"/>
                </a:solidFill>
                <a:latin typeface="メイリオ" panose="020B0604030504040204" pitchFamily="50" charset="-128"/>
                <a:ea typeface="メイリオ" panose="020B0604030504040204" pitchFamily="50" charset="-128"/>
              </a:rPr>
              <a:t>→ 配信した方の55%が反応（P29）</a:t>
            </a:r>
            <a:endParaRPr lang="ja-JP" alt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決断を急がせず、「資料と診断を受け取るだけ」でつながる入口をつくる。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※ボタンの文言は弊社の見解。離脱防止ポップアップはSitelead等（別途費用）。明光義塾も、サイトの初回訪問時・離脱時のポップアップで友だちを集めていた（公式事例・P27）</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問い合わせをせずに離れる保護者は多い</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サイトの離脱防止ポップアップ</a:t>
            </a:r>
          </a:p>
          <a:p>
            <a:pPr algn="l"/>
            <a:r>
              <a:rPr sz="1200" b="0">
                <a:solidFill>
                  <a:srgbClr val="333333"/>
                </a:solidFill>
                <a:latin typeface="メイリオ"/>
                <a:ea typeface="メイリオ"/>
                <a:cs typeface="メイリオ"/>
              </a:rPr>
              <a:t>サイトを離れようとした時に表示。広告費を増やさずにつながれる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チラシ・教室掲示のQR</a:t>
            </a:r>
          </a:p>
          <a:p>
            <a:pPr algn="l"/>
            <a:r>
              <a:rPr sz="1200" b="0">
                <a:solidFill>
                  <a:srgbClr val="333333"/>
                </a:solidFill>
                <a:latin typeface="メイリオ"/>
                <a:ea typeface="メイリオ"/>
                <a:cs typeface="メイリオ"/>
              </a:rPr>
              <a:t>今のチラシにQRコードを1つ加えるだけ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友だちからの紹介（入会前）</a:t>
            </a:r>
          </a:p>
          <a:p>
            <a:pPr algn="l"/>
            <a:r>
              <a:rPr sz="1200" b="0">
                <a:solidFill>
                  <a:srgbClr val="333333"/>
                </a:solidFill>
                <a:latin typeface="メイリオ"/>
                <a:ea typeface="メイリオ"/>
                <a:cs typeface="メイリオ"/>
              </a:rPr>
              <a:t>「一緒に体験しよう」をLINEで送っていただく（P32）</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950" b="0">
                <a:solidFill>
                  <a:srgbClr val="7F7F7F"/>
                </a:solidFill>
                <a:latin typeface="メイリオ"/>
                <a:ea typeface="メイリオ"/>
                <a:cs typeface="メイリオ"/>
              </a:rPr>
              <a:t>※お名前・お電話番号は不要です</a:t>
            </a:r>
          </a:p>
        </p:txBody>
      </p:sp>
      <p:sp>
        <p:nvSpPr>
          <p:cNvPr id="46" name="Rectangle 4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塾を知ったきっかけの1位は</a:t>
            </a:r>
          </a:p>
          <a:p>
            <a:pPr algn="l"/>
            <a:r>
              <a:rPr sz="115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333333"/>
                </a:solidFill>
                <a:latin typeface="メイリオ"/>
                <a:ea typeface="メイリオ"/>
                <a:cs typeface="メイリオ"/>
              </a:rPr>
              <a:t>友だちとの会話を、</a:t>
            </a:r>
          </a:p>
          <a:p>
            <a:pPr algn="l"/>
            <a:r>
              <a:rPr sz="115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0">
                <a:solidFill>
                  <a:srgbClr val="FFFFFF"/>
                </a:solidFill>
                <a:latin typeface="メイリオ"/>
                <a:ea typeface="メイリオ"/>
                <a:cs typeface="メイリオ"/>
              </a:rPr>
              <a:t>友だちと一緒の体験枠をLINEで予約</a:t>
            </a:r>
          </a:p>
          <a:p>
            <a:pPr algn="l"/>
            <a:r>
              <a:rPr sz="115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通う習慣がつきやすい</a:t>
            </a:r>
          </a:p>
          <a:p>
            <a:pPr algn="l"/>
            <a:r>
              <a:rPr sz="12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励まし合える</a:t>
            </a:r>
          </a:p>
          <a:p>
            <a:pPr algn="l"/>
            <a:r>
              <a:rPr sz="12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1">
                <a:solidFill>
                  <a:srgbClr val="1F285A"/>
                </a:solidFill>
                <a:latin typeface="メイリオ"/>
                <a:ea typeface="メイリオ"/>
                <a:cs typeface="メイリオ"/>
              </a:rPr>
              <a:t>送り迎えを分担できる</a:t>
            </a:r>
          </a:p>
          <a:p>
            <a:pPr algn="l"/>
            <a:r>
              <a:rPr sz="12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
        <p:nvSpPr>
          <p:cNvPr id="56" name="Rectangle 5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友だちと一緒の体験枠</a:t>
            </a:r>
          </a:p>
          <a:p>
            <a:pPr algn="l"/>
            <a:r>
              <a:rPr sz="1100" b="0">
                <a:solidFill>
                  <a:srgbClr val="333333"/>
                </a:solidFill>
                <a:latin typeface="メイリオ"/>
                <a:ea typeface="メイリオ"/>
                <a:cs typeface="メイリオ"/>
              </a:rPr>
              <a:t>2人まとめてLINEで予約（P32）</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診断結果を友だちに送れる</a:t>
            </a:r>
          </a:p>
          <a:p>
            <a:pPr algn="l"/>
            <a:r>
              <a:rPr sz="110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体験に来た保護者へ案内</a:t>
            </a:r>
          </a:p>
          <a:p>
            <a:pPr algn="l"/>
            <a:r>
              <a:rPr sz="110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口コミで選ばれる業界だから、口コミが生まれる場所にLINEの入口を置く。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露出の強化</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最初の1通で安心できることを先に伝え、診断へ進んでいただく。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※文面の教室長名・対応時間・配信頻度は、貴塾の運用に合わせて調整する</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友だち追加の直後は、</a:t>
            </a:r>
          </a:p>
          <a:p>
            <a:pPr algn="l"/>
            <a:r>
              <a:rPr sz="12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安心できることを先に伝えて、</a:t>
            </a:r>
          </a:p>
          <a:p>
            <a:pPr algn="l"/>
            <a:r>
              <a:rPr sz="1200" b="0">
                <a:solidFill>
                  <a:srgbClr val="333333"/>
                </a:solidFill>
                <a:latin typeface="メイリオ"/>
                <a:ea typeface="メイリオ"/>
                <a:cs typeface="メイリオ"/>
              </a:rPr>
              <a:t>診断へ進んでいただく</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あいさつメッセージの</a:t>
            </a:r>
          </a:p>
          <a:p>
            <a:pPr algn="l"/>
            <a:r>
              <a:rPr sz="12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endParaRPr sz="800" b="0">
              <a:solidFill>
                <a:srgbClr val="333333"/>
              </a:solidFill>
              <a:latin typeface="メイリオ"/>
              <a:ea typeface="メイリオ"/>
              <a:cs typeface="メイリオ"/>
            </a:endParaRP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FFFFFF"/>
                </a:solidFill>
                <a:latin typeface="メイリオ"/>
                <a:ea typeface="メイリオ"/>
                <a:cs typeface="メイリオ"/>
              </a:rPr>
              <a:t>30秒診断をはじめる</a:t>
            </a:r>
          </a:p>
        </p:txBody>
      </p:sp>
      <p:sp>
        <p:nvSpPr>
          <p:cNvPr id="57" name="Rectangle 56"/>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申し込む前に「集団・個別・映像のどれが合うか」をお伝えし、納得してから体験へ。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※明光義塾は、相性チェック（5問）と合わせて、LINEの中での体験予約も案内している（P28）。競合の診断（トライの性格別学習法診断など）はP62を参照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「合う・合わない」をお伝えする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同じ悩みだったお子さまの変化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
        <p:nvSpPr>
          <p:cNvPr id="69" name="Rectangle 68"/>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最も押していただきたいボタン（無料体験・教室見学の予約）を右下に置く。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80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※体験予約済みの方には、タブ②（体験当日の流れ・アクセス・日程変更など）を出し分ける。明光義塾は、一番大きい枠に「授業料シミュレーション」を置いている（P28）</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最も押していただきたいボタンを、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30秒</a:t>
            </a:r>
          </a:p>
          <a:p>
            <a:pPr algn="ctr"/>
            <a:r>
              <a:rPr sz="9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教室・講師</a:t>
            </a:r>
          </a:p>
          <a:p>
            <a:pPr algn="ctr"/>
            <a:r>
              <a:rPr sz="9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資料を</a:t>
            </a:r>
          </a:p>
          <a:p>
            <a:pPr algn="ctr"/>
            <a:r>
              <a:rPr sz="9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1F285A"/>
                </a:solidFill>
                <a:latin typeface="メイリオ"/>
                <a:ea typeface="メイリオ"/>
                <a:cs typeface="メイリオ"/>
              </a:rPr>
              <a:t>友だちと</a:t>
            </a:r>
          </a:p>
          <a:p>
            <a:pPr algn="ctr"/>
            <a:r>
              <a:rPr sz="9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450" b="0">
                <a:solidFill>
                  <a:srgbClr val="333333"/>
                </a:solidFill>
                <a:latin typeface="メイリオ"/>
                <a:ea typeface="メイリオ"/>
                <a:cs typeface="メイリオ"/>
              </a:rPr>
              <a:t>📅</a:t>
            </a:r>
          </a:p>
          <a:p>
            <a:pPr algn="ctr"/>
            <a:r>
              <a:rPr sz="900" b="1">
                <a:solidFill>
                  <a:srgbClr val="FFFFFF"/>
                </a:solidFill>
                <a:latin typeface="メイリオ"/>
                <a:ea typeface="メイリオ"/>
                <a:cs typeface="メイリオ"/>
              </a:rPr>
              <a:t>無料体験・</a:t>
            </a:r>
          </a:p>
          <a:p>
            <a:pPr algn="ctr"/>
            <a:r>
              <a:rPr sz="9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0">
                <a:solidFill>
                  <a:srgbClr val="333333"/>
                </a:solidFill>
                <a:latin typeface="メイリオ"/>
                <a:ea typeface="メイリオ"/>
                <a:cs typeface="メイリオ"/>
              </a:rPr>
              <a:t>・右下：最も押していただきたいボタン。体験・見学の予約（CV②）</a:t>
            </a:r>
          </a:p>
          <a:p>
            <a:pPr algn="l"/>
            <a:r>
              <a:rPr sz="1100" b="0">
                <a:solidFill>
                  <a:srgbClr val="333333"/>
                </a:solidFill>
                <a:latin typeface="メイリオ"/>
                <a:ea typeface="メイリオ"/>
                <a:cs typeface="メイリオ"/>
              </a:rPr>
              <a:t>・左下：資料を受け取る（CV①）。体験はまだ先という保護者の受け皿</a:t>
            </a:r>
          </a:p>
          <a:p>
            <a:pPr algn="l"/>
            <a:r>
              <a:rPr sz="1100" b="0">
                <a:solidFill>
                  <a:srgbClr val="333333"/>
                </a:solidFill>
                <a:latin typeface="メイリオ"/>
                <a:ea typeface="メイリオ"/>
                <a:cs typeface="メイリオ"/>
              </a:rPr>
              <a:t>・上段：比べるときに見たい情報（診断・料金・教室）</a:t>
            </a:r>
          </a:p>
          <a:p>
            <a:pPr algn="l"/>
            <a:r>
              <a:rPr sz="110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
        <p:nvSpPr>
          <p:cNvPr id="86" name="Rectangle 85"/>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CVの最大化</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同じ内容を全員に送ると、合わない方からブロックされやすい。</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同じ内容を全員に送ると、</a:t>
            </a:r>
          </a:p>
          <a:p>
            <a:pPr algn="l"/>
            <a:r>
              <a:rPr sz="1200" b="0">
                <a:solidFill>
                  <a:srgbClr val="333333"/>
                </a:solidFill>
                <a:latin typeface="メイリオ"/>
                <a:ea typeface="メイリオ"/>
                <a:cs typeface="メイリオ"/>
              </a:rPr>
              <a:t>合わない方からブロックされやすい</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保護者ごとに、</a:t>
            </a:r>
          </a:p>
          <a:p>
            <a:pPr algn="l"/>
            <a:r>
              <a:rPr sz="12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診断タグ＋行動タグで</a:t>
            </a:r>
          </a:p>
          <a:p>
            <a:pPr algn="l"/>
            <a:r>
              <a:rPr sz="12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「情報収集だけ」→ ご案内は控え、週1回の情報のみ</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※明光義塾は、アンケートの回答をもとに「まだ塾に通っていない」お子さま・保護者に絞って配信していた（公式事例・P27）</a:t>
            </a:r>
          </a:p>
        </p:txBody>
      </p:sp>
      <p:sp>
        <p:nvSpPr>
          <p:cNvPr id="40" name="Rectangle 39"/>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マネタイズ最大化</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体験を予約しても、当日来られない方がいる。理由として多いのは「忘れた」「持ち物が不安」「変更の仕方が分からない」。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前日までに先回りしてご案内し、体験への来塾と入会につなげる。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※体験に来られない割合・改善の幅は、貴塾の実績をもとに確認する</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当日来られない方がいる</a:t>
            </a:r>
          </a:p>
          <a:p>
            <a:pPr algn="l"/>
            <a:r>
              <a:rPr sz="1000" b="0">
                <a:solidFill>
                  <a:srgbClr val="333333"/>
                </a:solidFill>
                <a:latin typeface="メイリオ"/>
                <a:ea typeface="メイリオ"/>
                <a:cs typeface="メイリオ"/>
              </a:rPr>
              <a:t>（割合は貴塾の実績で確認）</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333333"/>
                </a:solidFill>
                <a:latin typeface="メイリオ"/>
                <a:ea typeface="メイリオ"/>
                <a:cs typeface="メイリオ"/>
              </a:rPr>
              <a:t>来られない理由を、</a:t>
            </a:r>
          </a:p>
          <a:p>
            <a:pPr algn="l"/>
            <a:r>
              <a:rPr sz="1000" b="0">
                <a:solidFill>
                  <a:srgbClr val="333333"/>
                </a:solidFill>
                <a:latin typeface="メイリオ"/>
                <a:ea typeface="メイリオ"/>
                <a:cs typeface="メイリオ"/>
              </a:rPr>
              <a:t>前日までに先回りして解消する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予約内容の確認</a:t>
            </a:r>
          </a:p>
          <a:p>
            <a:pPr algn="ctr"/>
            <a:r>
              <a:rPr sz="100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担当講師の紹介</a:t>
            </a:r>
          </a:p>
          <a:p>
            <a:pPr algn="ctr"/>
            <a:r>
              <a:rPr sz="100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持ち物・アクセス</a:t>
            </a:r>
          </a:p>
          <a:p>
            <a:pPr algn="ctr"/>
            <a:r>
              <a:rPr sz="100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「お待ちしています」</a:t>
            </a:r>
          </a:p>
          <a:p>
            <a:pPr algn="ctr"/>
            <a:r>
              <a:rPr sz="100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1F285A"/>
                </a:solidFill>
                <a:latin typeface="メイリオ"/>
                <a:ea typeface="メイリオ"/>
                <a:cs typeface="メイリオ"/>
              </a:rPr>
              <a:t>お礼＋診断結果</a:t>
            </a:r>
          </a:p>
          <a:p>
            <a:pPr algn="ctr"/>
            <a:r>
              <a:rPr sz="100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【明日◯時〜】体験授業のご確認です😊</a:t>
            </a:r>
          </a:p>
          <a:p>
            <a:pPr algn="l"/>
            <a:r>
              <a:rPr sz="950" b="0">
                <a:solidFill>
                  <a:srgbClr val="333333"/>
                </a:solidFill>
                <a:latin typeface="メイリオ"/>
                <a:ea typeface="メイリオ"/>
                <a:cs typeface="メイリオ"/>
              </a:rPr>
              <a:t>◯◯塾 △△教室（地図はこちら▼）</a:t>
            </a:r>
          </a:p>
          <a:p>
            <a:pPr algn="l"/>
            <a:r>
              <a:rPr sz="950" b="0">
                <a:solidFill>
                  <a:srgbClr val="333333"/>
                </a:solidFill>
                <a:latin typeface="メイリオ"/>
                <a:ea typeface="メイリオ"/>
                <a:cs typeface="メイリオ"/>
              </a:rPr>
              <a:t>✏️ 持ち物：筆記用具だけでOK（教材はご用意します）</a:t>
            </a:r>
          </a:p>
          <a:p>
            <a:pPr algn="l"/>
            <a:r>
              <a:rPr sz="950" b="0">
                <a:solidFill>
                  <a:srgbClr val="333333"/>
                </a:solidFill>
                <a:latin typeface="メイリオ"/>
                <a:ea typeface="メイリオ"/>
                <a:cs typeface="メイリオ"/>
              </a:rPr>
              <a:t>🚲 駐輪場：教室裏にあります</a:t>
            </a:r>
          </a:p>
          <a:p>
            <a:pPr algn="l"/>
            <a:r>
              <a:rPr sz="950" b="0">
                <a:solidFill>
                  <a:srgbClr val="333333"/>
                </a:solidFill>
                <a:latin typeface="メイリオ"/>
                <a:ea typeface="メイリオ"/>
                <a:cs typeface="メイリオ"/>
              </a:rPr>
              <a:t>👪 保護者さまは「見学」でも「面談だけ」でも大丈夫です</a:t>
            </a:r>
          </a:p>
          <a:p>
            <a:pPr algn="l"/>
            <a:endParaRPr sz="950" b="0">
              <a:solidFill>
                <a:srgbClr val="333333"/>
              </a:solidFill>
              <a:latin typeface="メイリオ"/>
              <a:ea typeface="メイリオ"/>
              <a:cs typeface="メイリオ"/>
            </a:endParaRPr>
          </a:p>
          <a:p>
            <a:pPr algn="l"/>
            <a:r>
              <a:rPr sz="950" b="0">
                <a:solidFill>
                  <a:srgbClr val="333333"/>
                </a:solidFill>
                <a:latin typeface="メイリオ"/>
                <a:ea typeface="メイリオ"/>
                <a:cs typeface="メイリオ"/>
              </a:rPr>
              <a:t>ご都合が変わったら、このトークに「変更」と送って</a:t>
            </a:r>
          </a:p>
          <a:p>
            <a:pPr algn="l"/>
            <a:r>
              <a:rPr sz="950" b="0">
                <a:solidFill>
                  <a:srgbClr val="333333"/>
                </a:solidFill>
                <a:latin typeface="メイリオ"/>
                <a:ea typeface="メイリオ"/>
                <a:cs typeface="メイリオ"/>
              </a:rPr>
              <a:t>ください。別の日程をご案内します。</a:t>
            </a:r>
          </a:p>
          <a:p>
            <a:pPr algn="l"/>
            <a:r>
              <a:rPr sz="95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333333"/>
                </a:solidFill>
                <a:latin typeface="メイリオ"/>
                <a:ea typeface="メイリオ"/>
                <a:cs typeface="メイリオ"/>
              </a:rPr>
              <a:t>「キャンセル料はありません」を必ず書く</a:t>
            </a:r>
          </a:p>
          <a:p>
            <a:pPr algn="l"/>
            <a:r>
              <a:rPr sz="1200" b="0">
                <a:solidFill>
                  <a:srgbClr val="333333"/>
                </a:solidFill>
                <a:latin typeface="メイリオ"/>
                <a:ea typeface="メイリオ"/>
                <a:cs typeface="メイリオ"/>
              </a:rPr>
              <a:t>変更・キャンセルの自由を先に伝えたほうが、</a:t>
            </a:r>
          </a:p>
          <a:p>
            <a:pPr algn="l"/>
            <a:r>
              <a:rPr sz="1200" b="0">
                <a:solidFill>
                  <a:srgbClr val="333333"/>
                </a:solidFill>
                <a:latin typeface="メイリオ"/>
                <a:ea typeface="メイリオ"/>
                <a:cs typeface="メイリオ"/>
              </a:rPr>
              <a:t>体験に来ていただきやすい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翌日のメッセージで入会へ</a:t>
            </a:r>
          </a:p>
          <a:p>
            <a:pPr algn="l"/>
            <a:r>
              <a:rPr sz="1200" b="0">
                <a:solidFill>
                  <a:srgbClr val="333333"/>
                </a:solidFill>
                <a:latin typeface="メイリオ"/>
                <a:ea typeface="メイリオ"/>
                <a:cs typeface="メイリオ"/>
              </a:rPr>
              <a:t>お礼と診断結果を送り、入会の相談は</a:t>
            </a:r>
          </a:p>
          <a:p>
            <a:pPr algn="l"/>
            <a:r>
              <a:rPr sz="1200" b="0">
                <a:solidFill>
                  <a:srgbClr val="333333"/>
                </a:solidFill>
                <a:latin typeface="メイリオ"/>
                <a:ea typeface="メイリオ"/>
                <a:cs typeface="メイリオ"/>
              </a:rPr>
              <a:t>LINEで受け付けて教室へつなぐ</a:t>
            </a:r>
          </a:p>
        </p:txBody>
      </p:sp>
      <p:sp>
        <p:nvSpPr>
          <p:cNvPr id="72" name="Rectangle 71"/>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CPOの改善（CV質）</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講習の時期に合わせて、もう一度ご案内する。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通知メッセージは別途費用。利用条件・単価はLINEヤフーの規定で変わるため、要件定義の際に最新の条件を確認する</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資料請求や体験だけで止まった</a:t>
            </a:r>
          </a:p>
          <a:p>
            <a:pPr algn="l"/>
            <a:r>
              <a:rPr sz="12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333333"/>
                </a:solidFill>
                <a:latin typeface="メイリオ"/>
                <a:ea typeface="メイリオ"/>
                <a:cs typeface="メイリオ"/>
              </a:rPr>
              <a:t>講習の時期に合わせて、</a:t>
            </a:r>
          </a:p>
          <a:p>
            <a:pPr algn="l"/>
            <a:r>
              <a:rPr sz="1200" b="0">
                <a:solidFill>
                  <a:srgbClr val="333333"/>
                </a:solidFill>
                <a:latin typeface="メイリオ"/>
                <a:ea typeface="メイリオ"/>
                <a:cs typeface="メイリオ"/>
              </a:rPr>
              <a:t>もう一度ご案内する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0">
                <a:solidFill>
                  <a:srgbClr val="FFFFFF"/>
                </a:solidFill>
                <a:latin typeface="メイリオ"/>
                <a:ea typeface="メイリオ"/>
                <a:cs typeface="メイリオ"/>
              </a:rPr>
              <a:t>通知メッセージ（電話番号で</a:t>
            </a:r>
          </a:p>
          <a:p>
            <a:pPr algn="l"/>
            <a:r>
              <a:rPr sz="12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資料請求だけで止まっている保護者</a:t>
            </a:r>
          </a:p>
          <a:p>
            <a:pPr algn="l"/>
            <a:r>
              <a:rPr sz="12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体験に来たが、入会しなかった保護者</a:t>
            </a:r>
          </a:p>
          <a:p>
            <a:pPr algn="l"/>
            <a:r>
              <a:rPr sz="12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0">
                <a:solidFill>
                  <a:srgbClr val="333333"/>
                </a:solidFill>
                <a:latin typeface="メイリオ"/>
                <a:ea typeface="メイリオ"/>
                <a:cs typeface="メイリオ"/>
              </a:rPr>
              <a:t>例：「夏期講習のご案内です。以前いただいた資料請求の</a:t>
            </a:r>
          </a:p>
          <a:p>
            <a:pPr algn="l"/>
            <a:r>
              <a:rPr sz="110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1">
                <a:solidFill>
                  <a:srgbClr val="1F285A"/>
                </a:solidFill>
                <a:latin typeface="メイリオ"/>
                <a:ea typeface="メイリオ"/>
                <a:cs typeface="メイリオ"/>
              </a:rPr>
              <a:t>注意すること</a:t>
            </a:r>
          </a:p>
          <a:p>
            <a:pPr algn="l"/>
            <a:r>
              <a:rPr sz="1200" b="0">
                <a:solidFill>
                  <a:srgbClr val="333333"/>
                </a:solidFill>
                <a:latin typeface="メイリオ"/>
                <a:ea typeface="メイリオ"/>
                <a:cs typeface="メイリオ"/>
              </a:rPr>
              <a:t>・関係がはっきりしている相手だけに送る（資料請求・体験をした保護者）</a:t>
            </a:r>
          </a:p>
          <a:p>
            <a:pPr algn="l"/>
            <a:r>
              <a:rPr sz="1200" b="0">
                <a:solidFill>
                  <a:srgbClr val="333333"/>
                </a:solidFill>
                <a:latin typeface="メイリオ"/>
                <a:ea typeface="メイリオ"/>
                <a:cs typeface="メイリオ"/>
              </a:rPr>
              <a:t>・「知らないのに届いた」と思われない文面にする（いつ・何で接点があったかを書く）</a:t>
            </a:r>
          </a:p>
        </p:txBody>
      </p:sp>
      <p:sp>
        <p:nvSpPr>
          <p:cNvPr id="55" name="Rectangle 54"/>
          <p:cNvSpPr/>
          <p:nvPr/>
        </p:nvSpPr>
        <p:spPr>
          <a:xfrm>
            <a:off x="5897880" y="182880"/>
            <a:ext cx="178308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休眠顧客の有効化</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ご予算と最大の課題に合わせて、3つのプランから選べる。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いずれも6か月〜の契約・税抜。開発やツール導入は別途費用。</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・企画配信 月4〜5本（週1回）</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marL="146304" indent="-146304" algn="l">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・API連携なども含めて対応可能</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・企画配信 月1〜2本</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4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400" dirty="0"/>
          </a:p>
          <a:p>
            <a:pPr marL="146304" indent="-146304" algn="l">
              <a:lnSpc>
                <a:spcPct val="115000"/>
              </a:lnSpc>
              <a:spcAft>
                <a:spcPts val="600"/>
              </a:spcAft>
              <a:buNone/>
            </a:pPr>
            <a:r>
              <a:rPr lang="ja-JP" altLang="en-US" sz="12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400" dirty="0"/>
          </a:p>
          <a:p>
            <a:pPr marL="146304" indent="-146304" algn="l">
              <a:lnSpc>
                <a:spcPct val="115000"/>
              </a:lnSpc>
              <a:spcAft>
                <a:spcPts val="600"/>
              </a:spcAft>
              <a:buNone/>
            </a:pPr>
            <a:r>
              <a:rPr lang="ja-JP" altLang="en-US" sz="1400" b="0" dirty="0">
                <a:solidFill>
                  <a:srgbClr val="333333"/>
                </a:solidFill>
                <a:latin typeface="メイリオ" panose="020B0604030504040204" pitchFamily="50" charset="-128"/>
                <a:ea typeface="メイリオ" panose="020B0604030504040204" pitchFamily="50" charset="-128"/>
              </a:rPr>
              <a:t>・初期構築</a:t>
            </a:r>
            <a:endParaRPr lang="ja-JP" altLang="en-US" sz="14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15万円</a:t>
            </a:r>
            <a:endParaRPr lang="ja-JP" alt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設定地点追加</a:t>
            </a:r>
            <a:endParaRPr sz="1050" b="1" i="0" u="none" strike="noStrike" cap="none" dirty="0">
              <a:solidFill>
                <a:srgbClr val="FFFFFF"/>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配信の実務（原稿・制作・設定・分析）は弊社が担当する。</a:t>
            </a:r>
          </a:p>
          <a:p>
            <a:pPr algn="l">
              <a:lnSpc>
                <a:spcPct val="128000"/>
              </a:lnSpc>
            </a:pPr>
            <a:r>
              <a:rPr sz="1200">
                <a:solidFill>
                  <a:srgbClr val="333333"/>
                </a:solidFill>
                <a:latin typeface="メイリオ"/>
                <a:ea typeface="メイリオ"/>
                <a:cs typeface="メイリオ"/>
              </a:rPr>
              <a:t>貴塾にお願いするのは、教室の情報のご提供と、月1回の定例会へのご参加のみ。</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300" b="1">
                <a:solidFill>
                  <a:srgbClr val="FFFFFF"/>
                </a:solidFill>
                <a:latin typeface="メイリオ"/>
                <a:ea typeface="メイリオ"/>
                <a:cs typeface="メイリオ"/>
              </a:rPr>
              <a:t>貴塾｜教室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配信企画のご提案（弊社）→ 貴塾のご確認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2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2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a:solidFill>
                  <a:srgbClr val="FFFFFF"/>
                </a:solidFill>
                <a:latin typeface="メイリオ"/>
                <a:ea typeface="メイリオ"/>
                <a:cs typeface="メイリオ"/>
              </a:rPr>
              <a:t>配信の実務は弊社が担当し、教室は授業と体験に集中できる。</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体制の人数・担当者名は契約時に確定する。定例会はオンライン可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新規・既存・ファン化・効率化のうち、貴塾がいま最も伸ばしたいものを決める</a:t>
            </a:r>
          </a:p>
        </p:txBody>
      </p:sp>
      <p:sp>
        <p:nvSpPr>
          <p:cNvPr id="7" name="Rectangle 3">
            <a:extLst>
              <a:ext uri="{FF2B5EF4-FFF2-40B4-BE49-F238E27FC236}">
                <a16:creationId xmlns:a16="http://schemas.microsoft.com/office/drawing/2014/main" id="{0E411E5A-CC07-761C-CB20-F06A383B1BB9}"/>
              </a:ext>
            </a:extLst>
          </p:cNvPr>
          <p:cNvSpPr/>
          <p:nvPr/>
        </p:nvSpPr>
        <p:spPr>
          <a:xfrm>
            <a:off x="384048"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1664207"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5687568"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重要度</a:t>
            </a:r>
          </a:p>
        </p:txBody>
      </p:sp>
      <p:sp>
        <p:nvSpPr>
          <p:cNvPr id="13" name="Rectangle 6">
            <a:extLst>
              <a:ext uri="{FF2B5EF4-FFF2-40B4-BE49-F238E27FC236}">
                <a16:creationId xmlns:a16="http://schemas.microsoft.com/office/drawing/2014/main" id="{3006611C-155B-26D2-87F5-F1073BED0DD5}"/>
              </a:ext>
            </a:extLst>
          </p:cNvPr>
          <p:cNvSpPr/>
          <p:nvPr/>
        </p:nvSpPr>
        <p:spPr>
          <a:xfrm>
            <a:off x="7059168" y="1746073"/>
            <a:ext cx="244144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度合い・目標</a:t>
            </a:r>
          </a:p>
        </p:txBody>
      </p:sp>
      <p:sp>
        <p:nvSpPr>
          <p:cNvPr id="18" name="Rectangle 7">
            <a:extLst>
              <a:ext uri="{FF2B5EF4-FFF2-40B4-BE49-F238E27FC236}">
                <a16:creationId xmlns:a16="http://schemas.microsoft.com/office/drawing/2014/main" id="{0DE26C81-EAA6-9BC7-2010-07A0AE499222}"/>
              </a:ext>
            </a:extLst>
          </p:cNvPr>
          <p:cNvSpPr/>
          <p:nvPr/>
        </p:nvSpPr>
        <p:spPr>
          <a:xfrm>
            <a:off x="384048"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1664207"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dirty="0" err="1">
                <a:solidFill>
                  <a:srgbClr val="333333"/>
                </a:solidFill>
                <a:latin typeface="メイリオ"/>
                <a:ea typeface="メイリオ"/>
                <a:cs typeface="メイリオ"/>
              </a:rPr>
              <a:t>友だち追加の入口を増やす（ポップアップ・広告・店頭</a:t>
            </a:r>
            <a:r>
              <a:rPr sz="1100" b="0" dirty="0">
                <a:solidFill>
                  <a:srgbClr val="333333"/>
                </a:solidFill>
                <a:latin typeface="メイリオ"/>
                <a:ea typeface="メイリオ"/>
                <a:cs typeface="メイリオ"/>
              </a:rPr>
              <a:t>）</a:t>
            </a:r>
          </a:p>
        </p:txBody>
      </p:sp>
      <p:sp>
        <p:nvSpPr>
          <p:cNvPr id="23" name="Rectangle 9">
            <a:extLst>
              <a:ext uri="{FF2B5EF4-FFF2-40B4-BE49-F238E27FC236}">
                <a16:creationId xmlns:a16="http://schemas.microsoft.com/office/drawing/2014/main" id="{4D555954-77CD-7E09-CEBD-4C58033525FD}"/>
              </a:ext>
            </a:extLst>
          </p:cNvPr>
          <p:cNvSpPr/>
          <p:nvPr/>
        </p:nvSpPr>
        <p:spPr>
          <a:xfrm>
            <a:off x="5687568"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25" name="Rectangle 10">
            <a:extLst>
              <a:ext uri="{FF2B5EF4-FFF2-40B4-BE49-F238E27FC236}">
                <a16:creationId xmlns:a16="http://schemas.microsoft.com/office/drawing/2014/main" id="{86F1D30D-393D-E40A-6D1C-9AFE711E6551}"/>
              </a:ext>
            </a:extLst>
          </p:cNvPr>
          <p:cNvSpPr/>
          <p:nvPr/>
        </p:nvSpPr>
        <p:spPr>
          <a:xfrm>
            <a:off x="7059168" y="21941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（例：月間追加数）</a:t>
            </a:r>
          </a:p>
        </p:txBody>
      </p:sp>
      <p:sp>
        <p:nvSpPr>
          <p:cNvPr id="27" name="Rectangle 11">
            <a:extLst>
              <a:ext uri="{FF2B5EF4-FFF2-40B4-BE49-F238E27FC236}">
                <a16:creationId xmlns:a16="http://schemas.microsoft.com/office/drawing/2014/main" id="{CB2A3195-221A-72EE-7427-467D873BA83B}"/>
              </a:ext>
            </a:extLst>
          </p:cNvPr>
          <p:cNvSpPr/>
          <p:nvPr/>
        </p:nvSpPr>
        <p:spPr>
          <a:xfrm>
            <a:off x="384048"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1664207"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5687568"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33" name="Rectangle 14">
            <a:extLst>
              <a:ext uri="{FF2B5EF4-FFF2-40B4-BE49-F238E27FC236}">
                <a16:creationId xmlns:a16="http://schemas.microsoft.com/office/drawing/2014/main" id="{BDC1EB93-A86A-84CE-F73E-2149AD61E5FC}"/>
              </a:ext>
            </a:extLst>
          </p:cNvPr>
          <p:cNvSpPr/>
          <p:nvPr/>
        </p:nvSpPr>
        <p:spPr>
          <a:xfrm>
            <a:off x="7059168" y="31085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（例：CV数・リピート率）</a:t>
            </a:r>
          </a:p>
        </p:txBody>
      </p:sp>
      <p:sp>
        <p:nvSpPr>
          <p:cNvPr id="35" name="Rectangle 15">
            <a:extLst>
              <a:ext uri="{FF2B5EF4-FFF2-40B4-BE49-F238E27FC236}">
                <a16:creationId xmlns:a16="http://schemas.microsoft.com/office/drawing/2014/main" id="{6C54381C-EDB8-6610-8581-D5F4C5355345}"/>
              </a:ext>
            </a:extLst>
          </p:cNvPr>
          <p:cNvSpPr/>
          <p:nvPr/>
        </p:nvSpPr>
        <p:spPr>
          <a:xfrm>
            <a:off x="384048"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1664207"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5687568"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1" name="Rectangle 18">
            <a:extLst>
              <a:ext uri="{FF2B5EF4-FFF2-40B4-BE49-F238E27FC236}">
                <a16:creationId xmlns:a16="http://schemas.microsoft.com/office/drawing/2014/main" id="{188A2264-AC44-69F3-AADC-6C99A3918A5E}"/>
              </a:ext>
            </a:extLst>
          </p:cNvPr>
          <p:cNvSpPr/>
          <p:nvPr/>
        </p:nvSpPr>
        <p:spPr>
          <a:xfrm>
            <a:off x="7059168" y="40229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（例：会員数・反応率）</a:t>
            </a:r>
          </a:p>
        </p:txBody>
      </p:sp>
      <p:sp>
        <p:nvSpPr>
          <p:cNvPr id="43" name="Rectangle 19">
            <a:extLst>
              <a:ext uri="{FF2B5EF4-FFF2-40B4-BE49-F238E27FC236}">
                <a16:creationId xmlns:a16="http://schemas.microsoft.com/office/drawing/2014/main" id="{16CB7492-2668-EFB7-5628-A5714FE43E02}"/>
              </a:ext>
            </a:extLst>
          </p:cNvPr>
          <p:cNvSpPr/>
          <p:nvPr/>
        </p:nvSpPr>
        <p:spPr>
          <a:xfrm>
            <a:off x="384048"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2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1664207"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0">
                <a:solidFill>
                  <a:srgbClr val="333333"/>
                </a:solidFill>
                <a:latin typeface="メイリオ"/>
                <a:ea typeface="メイリオ"/>
                <a:cs typeface="メイリオ"/>
              </a:rPr>
              <a:t>通数費・運用工数の削減（セグメント・自動化）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5687568"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 ○ △</a:t>
            </a:r>
          </a:p>
        </p:txBody>
      </p:sp>
      <p:sp>
        <p:nvSpPr>
          <p:cNvPr id="49" name="Rectangle 22">
            <a:extLst>
              <a:ext uri="{FF2B5EF4-FFF2-40B4-BE49-F238E27FC236}">
                <a16:creationId xmlns:a16="http://schemas.microsoft.com/office/drawing/2014/main" id="{E8B63E0D-903B-EFBB-A4FF-728A697ABE8D}"/>
              </a:ext>
            </a:extLst>
          </p:cNvPr>
          <p:cNvSpPr/>
          <p:nvPr/>
        </p:nvSpPr>
        <p:spPr>
          <a:xfrm>
            <a:off x="7059168" y="4937329"/>
            <a:ext cx="244144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200" b="0">
                <a:solidFill>
                  <a:srgbClr val="999999"/>
                </a:solidFill>
                <a:latin typeface="メイリオ"/>
                <a:ea typeface="メイリオ"/>
                <a:cs typeface="メイリオ"/>
              </a:rPr>
              <a:t>（例：通数費の削減額）</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◎＝最重視／○＝重視／△＝優先度は低い。ヒアリングで記入し、施策の配分と予算の目安に反映します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サイトの流入・CVの数から、LINEの友だちにできる保護者の規模を見積もる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384048"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2578608"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B38F1B92-D634-77F8-3356-02B435E0FAEE}"/>
              </a:ext>
            </a:extLst>
          </p:cNvPr>
          <p:cNvSpPr/>
          <p:nvPr/>
        </p:nvSpPr>
        <p:spPr>
          <a:xfrm>
            <a:off x="6601968" y="1754781"/>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CF4FAB5-94CA-8D75-4428-FE51AE61E877}"/>
              </a:ext>
            </a:extLst>
          </p:cNvPr>
          <p:cNvSpPr/>
          <p:nvPr/>
        </p:nvSpPr>
        <p:spPr>
          <a:xfrm>
            <a:off x="384048"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2578608"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サイト全体のユニークユーザー数</a:t>
            </a:r>
          </a:p>
        </p:txBody>
      </p:sp>
      <p:sp>
        <p:nvSpPr>
          <p:cNvPr id="21" name="Rectangle 8">
            <a:extLst>
              <a:ext uri="{FF2B5EF4-FFF2-40B4-BE49-F238E27FC236}">
                <a16:creationId xmlns:a16="http://schemas.microsoft.com/office/drawing/2014/main" id="{192BDBE0-827A-A566-E2C7-3CE69EF889BE}"/>
              </a:ext>
            </a:extLst>
          </p:cNvPr>
          <p:cNvSpPr/>
          <p:nvPr/>
        </p:nvSpPr>
        <p:spPr>
          <a:xfrm>
            <a:off x="6601968" y="217210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D73FA1D7-BEA3-B981-6155-AEFEF0286995}"/>
              </a:ext>
            </a:extLst>
          </p:cNvPr>
          <p:cNvSpPr/>
          <p:nvPr/>
        </p:nvSpPr>
        <p:spPr>
          <a:xfrm>
            <a:off x="384048"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2578608"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広告経由の流入と月間の広告費</a:t>
            </a:r>
          </a:p>
        </p:txBody>
      </p:sp>
      <p:sp>
        <p:nvSpPr>
          <p:cNvPr id="32" name="Rectangle 11">
            <a:extLst>
              <a:ext uri="{FF2B5EF4-FFF2-40B4-BE49-F238E27FC236}">
                <a16:creationId xmlns:a16="http://schemas.microsoft.com/office/drawing/2014/main" id="{DF2E3318-BC22-D10A-07C4-5D09E1B00A87}"/>
              </a:ext>
            </a:extLst>
          </p:cNvPr>
          <p:cNvSpPr/>
          <p:nvPr/>
        </p:nvSpPr>
        <p:spPr>
          <a:xfrm>
            <a:off x="6601968" y="273989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697ECEAF-7BB9-7DE2-205B-BF4102EA1DC3}"/>
              </a:ext>
            </a:extLst>
          </p:cNvPr>
          <p:cNvSpPr/>
          <p:nvPr/>
        </p:nvSpPr>
        <p:spPr>
          <a:xfrm>
            <a:off x="384048"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2578608"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申込・予約・購入などの件数</a:t>
            </a:r>
          </a:p>
        </p:txBody>
      </p:sp>
      <p:sp>
        <p:nvSpPr>
          <p:cNvPr id="44" name="Rectangle 14">
            <a:extLst>
              <a:ext uri="{FF2B5EF4-FFF2-40B4-BE49-F238E27FC236}">
                <a16:creationId xmlns:a16="http://schemas.microsoft.com/office/drawing/2014/main" id="{2F30D830-C8E5-B05E-3354-E6780E4D8F34}"/>
              </a:ext>
            </a:extLst>
          </p:cNvPr>
          <p:cNvSpPr/>
          <p:nvPr/>
        </p:nvSpPr>
        <p:spPr>
          <a:xfrm>
            <a:off x="6601968" y="3307697"/>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61F4857C-44FC-330D-6E38-FCB957103270}"/>
              </a:ext>
            </a:extLst>
          </p:cNvPr>
          <p:cNvSpPr/>
          <p:nvPr/>
        </p:nvSpPr>
        <p:spPr>
          <a:xfrm>
            <a:off x="384048"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2578608"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電話／フォーム／来店予約／購入など</a:t>
            </a:r>
          </a:p>
        </p:txBody>
      </p:sp>
      <p:sp>
        <p:nvSpPr>
          <p:cNvPr id="55" name="Rectangle 17">
            <a:extLst>
              <a:ext uri="{FF2B5EF4-FFF2-40B4-BE49-F238E27FC236}">
                <a16:creationId xmlns:a16="http://schemas.microsoft.com/office/drawing/2014/main" id="{68B146F0-A9E6-7C8D-DC20-A149DB41E5D2}"/>
              </a:ext>
            </a:extLst>
          </p:cNvPr>
          <p:cNvSpPr/>
          <p:nvPr/>
        </p:nvSpPr>
        <p:spPr>
          <a:xfrm>
            <a:off x="6601968" y="3875494"/>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E3B3C022-C821-43A8-BDFA-36760FBCB427}"/>
              </a:ext>
            </a:extLst>
          </p:cNvPr>
          <p:cNvSpPr/>
          <p:nvPr/>
        </p:nvSpPr>
        <p:spPr>
          <a:xfrm>
            <a:off x="384048"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2578608"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SEO・広告・SNS・ディスプレイの比率</a:t>
            </a:r>
          </a:p>
        </p:txBody>
      </p:sp>
      <p:sp>
        <p:nvSpPr>
          <p:cNvPr id="61" name="Rectangle 20">
            <a:extLst>
              <a:ext uri="{FF2B5EF4-FFF2-40B4-BE49-F238E27FC236}">
                <a16:creationId xmlns:a16="http://schemas.microsoft.com/office/drawing/2014/main" id="{886B0D5C-0C30-0B30-0BA4-E1C772ECF373}"/>
              </a:ext>
            </a:extLst>
          </p:cNvPr>
          <p:cNvSpPr/>
          <p:nvPr/>
        </p:nvSpPr>
        <p:spPr>
          <a:xfrm>
            <a:off x="6601968" y="4443293"/>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7313DF05-AD69-66C6-AA40-BD1CA81439B5}"/>
              </a:ext>
            </a:extLst>
          </p:cNvPr>
          <p:cNvSpPr/>
          <p:nvPr/>
        </p:nvSpPr>
        <p:spPr>
          <a:xfrm>
            <a:off x="384048"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2578608"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サイト上の友だち追加の入口の有無</a:t>
            </a:r>
          </a:p>
        </p:txBody>
      </p:sp>
      <p:sp>
        <p:nvSpPr>
          <p:cNvPr id="67" name="Rectangle 23">
            <a:extLst>
              <a:ext uri="{FF2B5EF4-FFF2-40B4-BE49-F238E27FC236}">
                <a16:creationId xmlns:a16="http://schemas.microsoft.com/office/drawing/2014/main" id="{22594C73-0280-1178-5856-83C2C8C7B870}"/>
              </a:ext>
            </a:extLst>
          </p:cNvPr>
          <p:cNvSpPr/>
          <p:nvPr/>
        </p:nvSpPr>
        <p:spPr>
          <a:xfrm>
            <a:off x="6601968" y="5011091"/>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C6E03287-2BFA-C776-5D36-CFA637C8C321}"/>
              </a:ext>
            </a:extLst>
          </p:cNvPr>
          <p:cNvSpPr/>
          <p:nvPr/>
        </p:nvSpPr>
        <p:spPr>
          <a:xfrm>
            <a:off x="384048"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2578608"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メール会員・他SNSのフォロワー数など</a:t>
            </a:r>
          </a:p>
        </p:txBody>
      </p:sp>
      <p:sp>
        <p:nvSpPr>
          <p:cNvPr id="73" name="Rectangle 26">
            <a:extLst>
              <a:ext uri="{FF2B5EF4-FFF2-40B4-BE49-F238E27FC236}">
                <a16:creationId xmlns:a16="http://schemas.microsoft.com/office/drawing/2014/main" id="{646B48C3-12AF-E6E5-8AEE-F4C5DD2EEC0C}"/>
              </a:ext>
            </a:extLst>
          </p:cNvPr>
          <p:cNvSpPr/>
          <p:nvPr/>
        </p:nvSpPr>
        <p:spPr>
          <a:xfrm>
            <a:off x="6601968" y="5578889"/>
            <a:ext cx="289864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すでにいる友だちと配信の実績を、提案の出発点にする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384048"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2578608"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確認内容</a:t>
            </a:r>
          </a:p>
        </p:txBody>
      </p:sp>
      <p:sp>
        <p:nvSpPr>
          <p:cNvPr id="12" name="Rectangle 5">
            <a:extLst>
              <a:ext uri="{FF2B5EF4-FFF2-40B4-BE49-F238E27FC236}">
                <a16:creationId xmlns:a16="http://schemas.microsoft.com/office/drawing/2014/main" id="{5BA3C8AC-F83B-8887-50C2-B4AED74F4F54}"/>
              </a:ext>
            </a:extLst>
          </p:cNvPr>
          <p:cNvSpPr/>
          <p:nvPr/>
        </p:nvSpPr>
        <p:spPr>
          <a:xfrm>
            <a:off x="6601968" y="1780907"/>
            <a:ext cx="289864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00" b="1">
                <a:solidFill>
                  <a:srgbClr val="FFFFFF"/>
                </a:solidFill>
                <a:latin typeface="メイリオ"/>
                <a:ea typeface="メイリオ"/>
                <a:cs typeface="メイリオ"/>
              </a:rPr>
              <a:t>数値・内容</a:t>
            </a:r>
          </a:p>
        </p:txBody>
      </p:sp>
      <p:sp>
        <p:nvSpPr>
          <p:cNvPr id="15" name="Rectangle 6">
            <a:extLst>
              <a:ext uri="{FF2B5EF4-FFF2-40B4-BE49-F238E27FC236}">
                <a16:creationId xmlns:a16="http://schemas.microsoft.com/office/drawing/2014/main" id="{E019A0C2-CAAE-25A0-61D2-699B65C42417}"/>
              </a:ext>
            </a:extLst>
          </p:cNvPr>
          <p:cNvSpPr/>
          <p:nvPr/>
        </p:nvSpPr>
        <p:spPr>
          <a:xfrm>
            <a:off x="384048"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2578608"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累計と、直近の月間増加数</a:t>
            </a:r>
          </a:p>
        </p:txBody>
      </p:sp>
      <p:sp>
        <p:nvSpPr>
          <p:cNvPr id="21" name="Rectangle 8">
            <a:extLst>
              <a:ext uri="{FF2B5EF4-FFF2-40B4-BE49-F238E27FC236}">
                <a16:creationId xmlns:a16="http://schemas.microsoft.com/office/drawing/2014/main" id="{090C52B4-5C5E-4082-D9D0-B3F682D1D56B}"/>
              </a:ext>
            </a:extLst>
          </p:cNvPr>
          <p:cNvSpPr/>
          <p:nvPr/>
        </p:nvSpPr>
        <p:spPr>
          <a:xfrm>
            <a:off x="6601968" y="2203668"/>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24" name="Rectangle 9">
            <a:extLst>
              <a:ext uri="{FF2B5EF4-FFF2-40B4-BE49-F238E27FC236}">
                <a16:creationId xmlns:a16="http://schemas.microsoft.com/office/drawing/2014/main" id="{382D44E1-F4E2-5751-D452-0D8CCC481730}"/>
              </a:ext>
            </a:extLst>
          </p:cNvPr>
          <p:cNvSpPr/>
          <p:nvPr/>
        </p:nvSpPr>
        <p:spPr>
          <a:xfrm>
            <a:off x="384048"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2578608"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ブロック率、開封率、クリック率</a:t>
            </a:r>
          </a:p>
        </p:txBody>
      </p:sp>
      <p:sp>
        <p:nvSpPr>
          <p:cNvPr id="32" name="Rectangle 11">
            <a:extLst>
              <a:ext uri="{FF2B5EF4-FFF2-40B4-BE49-F238E27FC236}">
                <a16:creationId xmlns:a16="http://schemas.microsoft.com/office/drawing/2014/main" id="{5D95E04F-E0EF-7048-CE4F-52EF8E06A51C}"/>
              </a:ext>
            </a:extLst>
          </p:cNvPr>
          <p:cNvSpPr/>
          <p:nvPr/>
        </p:nvSpPr>
        <p:spPr>
          <a:xfrm>
            <a:off x="6601968" y="280978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36" name="Rectangle 12">
            <a:extLst>
              <a:ext uri="{FF2B5EF4-FFF2-40B4-BE49-F238E27FC236}">
                <a16:creationId xmlns:a16="http://schemas.microsoft.com/office/drawing/2014/main" id="{C5BC36E1-E9EC-5F99-6730-862D59A7268A}"/>
              </a:ext>
            </a:extLst>
          </p:cNvPr>
          <p:cNvSpPr/>
          <p:nvPr/>
        </p:nvSpPr>
        <p:spPr>
          <a:xfrm>
            <a:off x="384048"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2578608"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一斉配信・ステップ配信の本数、月間通数</a:t>
            </a:r>
          </a:p>
        </p:txBody>
      </p:sp>
      <p:sp>
        <p:nvSpPr>
          <p:cNvPr id="44" name="Rectangle 14">
            <a:extLst>
              <a:ext uri="{FF2B5EF4-FFF2-40B4-BE49-F238E27FC236}">
                <a16:creationId xmlns:a16="http://schemas.microsoft.com/office/drawing/2014/main" id="{8DF123B9-F9C1-F5AC-B9B8-847E3B54BB6E}"/>
              </a:ext>
            </a:extLst>
          </p:cNvPr>
          <p:cNvSpPr/>
          <p:nvPr/>
        </p:nvSpPr>
        <p:spPr>
          <a:xfrm>
            <a:off x="6601968" y="342460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48" name="Rectangle 15">
            <a:extLst>
              <a:ext uri="{FF2B5EF4-FFF2-40B4-BE49-F238E27FC236}">
                <a16:creationId xmlns:a16="http://schemas.microsoft.com/office/drawing/2014/main" id="{7A4A3E0B-F476-7DC4-F177-948A5D80A39F}"/>
              </a:ext>
            </a:extLst>
          </p:cNvPr>
          <p:cNvSpPr/>
          <p:nvPr/>
        </p:nvSpPr>
        <p:spPr>
          <a:xfrm>
            <a:off x="384048"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2578608"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LINE公式アカウントの料金プラン</a:t>
            </a:r>
          </a:p>
        </p:txBody>
      </p:sp>
      <p:sp>
        <p:nvSpPr>
          <p:cNvPr id="55" name="Rectangle 17">
            <a:extLst>
              <a:ext uri="{FF2B5EF4-FFF2-40B4-BE49-F238E27FC236}">
                <a16:creationId xmlns:a16="http://schemas.microsoft.com/office/drawing/2014/main" id="{8586DBF7-7FC5-FCBD-008A-A179145000C4}"/>
              </a:ext>
            </a:extLst>
          </p:cNvPr>
          <p:cNvSpPr/>
          <p:nvPr/>
        </p:nvSpPr>
        <p:spPr>
          <a:xfrm>
            <a:off x="6601968" y="4030719"/>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57" name="Rectangle 18">
            <a:extLst>
              <a:ext uri="{FF2B5EF4-FFF2-40B4-BE49-F238E27FC236}">
                <a16:creationId xmlns:a16="http://schemas.microsoft.com/office/drawing/2014/main" id="{279B2C05-4721-5850-5790-24F42D16195C}"/>
              </a:ext>
            </a:extLst>
          </p:cNvPr>
          <p:cNvSpPr/>
          <p:nvPr/>
        </p:nvSpPr>
        <p:spPr>
          <a:xfrm>
            <a:off x="384048"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2578608"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APIツール（Lステップ等）の有無・プラン</a:t>
            </a:r>
          </a:p>
        </p:txBody>
      </p:sp>
      <p:sp>
        <p:nvSpPr>
          <p:cNvPr id="61" name="Rectangle 20">
            <a:extLst>
              <a:ext uri="{FF2B5EF4-FFF2-40B4-BE49-F238E27FC236}">
                <a16:creationId xmlns:a16="http://schemas.microsoft.com/office/drawing/2014/main" id="{DB7FB4C0-51C6-3078-A140-B7A1B50F861A}"/>
              </a:ext>
            </a:extLst>
          </p:cNvPr>
          <p:cNvSpPr/>
          <p:nvPr/>
        </p:nvSpPr>
        <p:spPr>
          <a:xfrm>
            <a:off x="6601968" y="4645542"/>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3" name="Rectangle 21">
            <a:extLst>
              <a:ext uri="{FF2B5EF4-FFF2-40B4-BE49-F238E27FC236}">
                <a16:creationId xmlns:a16="http://schemas.microsoft.com/office/drawing/2014/main" id="{F4210959-8935-1BA3-A155-B4D4B1BE79EA}"/>
              </a:ext>
            </a:extLst>
          </p:cNvPr>
          <p:cNvSpPr/>
          <p:nvPr/>
        </p:nvSpPr>
        <p:spPr>
          <a:xfrm>
            <a:off x="384048"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2578608"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50" b="0">
                <a:solidFill>
                  <a:srgbClr val="333333"/>
                </a:solidFill>
                <a:latin typeface="メイリオ"/>
                <a:ea typeface="メイリオ"/>
                <a:cs typeface="メイリオ"/>
              </a:rPr>
              <a:t>アカウント費・ツール費・運用費・通数費の月額合計</a:t>
            </a:r>
          </a:p>
        </p:txBody>
      </p:sp>
      <p:sp>
        <p:nvSpPr>
          <p:cNvPr id="67" name="Rectangle 23">
            <a:extLst>
              <a:ext uri="{FF2B5EF4-FFF2-40B4-BE49-F238E27FC236}">
                <a16:creationId xmlns:a16="http://schemas.microsoft.com/office/drawing/2014/main" id="{0B10266D-13DE-7185-5A31-5B2D7BD7491A}"/>
              </a:ext>
            </a:extLst>
          </p:cNvPr>
          <p:cNvSpPr/>
          <p:nvPr/>
        </p:nvSpPr>
        <p:spPr>
          <a:xfrm>
            <a:off x="6601968" y="5251655"/>
            <a:ext cx="289864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150" b="0">
                <a:solidFill>
                  <a:srgbClr val="999999"/>
                </a:solidFill>
                <a:latin typeface="メイリオ"/>
                <a:ea typeface="メイリオ"/>
                <a:cs typeface="メイリオ"/>
              </a:rPr>
              <a:t>（ご記入）</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150" b="1">
                <a:solidFill>
                  <a:srgbClr val="1F2A5C"/>
                </a:solidFill>
                <a:latin typeface="メイリオ"/>
                <a:ea typeface="メイリオ"/>
                <a:cs typeface="メイリオ"/>
              </a:rPr>
              <a:t>アクティブ率・通数費の現状を見て、セグメント配信などで改善できる範囲を提案に反映します</a:t>
            </a:r>
          </a:p>
        </p:txBody>
      </p:sp>
    </p:spTree>
    <p:extLst>
      <p:ext uri="{BB962C8B-B14F-4D97-AF65-F5344CB8AC3E}">
        <p14:creationId xmlns:p14="http://schemas.microsoft.com/office/powerpoint/2010/main" val="23631056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1282799"/>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年間の募集スケジュールや配信の確認体制など、運用の進め方に関わる点を伺う</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150" b="1" dirty="0">
                <a:solidFill>
                  <a:srgbClr val="1F2A5C"/>
                </a:solidFill>
                <a:latin typeface="メイリオ"/>
                <a:ea typeface="メイリオ"/>
                <a:cs typeface="メイリオ"/>
              </a:rPr>
              <a:t>LINE Official</a:t>
            </a:r>
            <a:r>
              <a:rPr lang="ja-JP" altLang="en-US" sz="1150" b="1" dirty="0">
                <a:solidFill>
                  <a:srgbClr val="1F2A5C"/>
                </a:solidFill>
                <a:latin typeface="メイリオ"/>
                <a:ea typeface="メイリオ"/>
                <a:cs typeface="メイリオ"/>
              </a:rPr>
              <a:t> </a:t>
            </a:r>
            <a:r>
              <a:rPr lang="en-US" altLang="ja-JP" sz="1150" b="1" dirty="0">
                <a:solidFill>
                  <a:srgbClr val="1F2A5C"/>
                </a:solidFill>
                <a:latin typeface="メイリオ"/>
                <a:ea typeface="メイリオ"/>
                <a:cs typeface="メイリオ"/>
              </a:rPr>
              <a:t>Manager</a:t>
            </a:r>
            <a:r>
              <a:rPr lang="ja-JP" altLang="en-US" sz="1150" b="1" dirty="0">
                <a:solidFill>
                  <a:srgbClr val="1F2A5C"/>
                </a:solidFill>
                <a:latin typeface="メイリオ"/>
                <a:ea typeface="メイリオ"/>
                <a:cs typeface="メイリオ"/>
              </a:rPr>
              <a:t>、</a:t>
            </a:r>
            <a:r>
              <a:rPr lang="en-US" altLang="ja-JP" sz="1150" b="1" dirty="0">
                <a:solidFill>
                  <a:srgbClr val="1F2A5C"/>
                </a:solidFill>
                <a:latin typeface="メイリオ"/>
                <a:ea typeface="メイリオ"/>
                <a:cs typeface="メイリオ"/>
              </a:rPr>
              <a:t>API</a:t>
            </a:r>
            <a:r>
              <a:rPr lang="ja-JP" altLang="en-US" sz="1150" b="1" dirty="0">
                <a:solidFill>
                  <a:srgbClr val="1F2A5C"/>
                </a:solidFill>
                <a:latin typeface="メイリオ"/>
                <a:ea typeface="メイリオ"/>
                <a:cs typeface="メイリオ"/>
              </a:rPr>
              <a:t>ツール等、配信にかかわる管理画面の共有をいただければ詳細なご提案が可能です。</a:t>
            </a:r>
            <a:endParaRPr sz="115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603504" y="1043132"/>
            <a:ext cx="82296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Appendix（参考資料）</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ファン化・自社アプリ登録に「ハードルが高い」と感じるユーザーが増えている。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 友だち追加 → LINEで診断・体験予約 → 入会 の導線で、ハードルを下げながら運用が可能。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継続・講習</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友だち紹介につなげる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※ヒアリングのうえ、</a:t>
            </a: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不足している施策を明示</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LINE誘導から1.5〜3%程度が、資料請求・体験予約につながる（弊社想定の目安）。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貴塾の集客課題に合わせて、LINE公式アカウントの構築モデルを活用し、集客効率を改善。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2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2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50" dirty="0">
                <a:solidFill>
                  <a:schemeClr val="tx1">
                    <a:lumMod val="65000"/>
                    <a:lumOff val="35000"/>
                  </a:schemeClr>
                </a:solidFill>
                <a:latin typeface="メイリオ" panose="020B0604030504040204" pitchFamily="50" charset="-128"/>
                <a:ea typeface="メイリオ" panose="020B0604030504040204" pitchFamily="50" charset="-128"/>
              </a:rPr>
              <a:t>LINE広告（友だち追加）</a:t>
            </a:r>
          </a:p>
          <a:p>
            <a:pPr algn="ctr"/>
            <a:r>
              <a:rPr lang="ja-JP" altLang="en-US" sz="11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1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50" dirty="0">
                <a:solidFill>
                  <a:schemeClr val="tx1">
                    <a:lumMod val="65000"/>
                    <a:lumOff val="35000"/>
                  </a:schemeClr>
                </a:solidFill>
                <a:latin typeface="メイリオ" panose="020B0604030504040204" pitchFamily="50" charset="-128"/>
                <a:ea typeface="メイリオ" panose="020B0604030504040204" pitchFamily="50" charset="-128"/>
              </a:rPr>
              <a:t>資料請求・体験予約済み</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通知メッセージ</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メールマガジン・電話</a:t>
            </a:r>
            <a:endParaRPr kumimoji="1" lang="en-US" altLang="ja-JP" sz="11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11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11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11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体験予約のご案内</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自動応答の設定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質問内容別に即返信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※弊社想定の上限目安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検討度が高い方：即スタッフ対応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サンクスメッセージ＋</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講習・コースのご案内</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一斉配信で再びつながる</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対象を絞った配信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（特典で友だち追加を促進）</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紹介キャンペーン・継続促進</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各割合は弊社想定の上限目安であり、保証値ではない。参考：LINEヤフー社の公開値では、メッセージは受信当日中に約8割が開封される。</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本編の検索データから、取り組むべきことを整理する。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塾名を調べる前の保護者と先につながり、申し込む前に「合う・合わない」を確かめられるようにする。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サイトを訪れても、問い合わせをせずに離れる保護者は多い</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塾名を調べる前から、保護者は調べ始めている（P18〜P21）</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a:solidFill>
                  <a:srgbClr val="333333"/>
                </a:solidFill>
                <a:latin typeface="メイリオ"/>
                <a:ea typeface="メイリオ"/>
                <a:cs typeface="メイリオ"/>
              </a:rPr>
              <a:t>申し込む前に「合う・合わない」をお伝えする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250" b="0">
                <a:solidFill>
                  <a:srgbClr val="333333"/>
                </a:solidFill>
                <a:latin typeface="メイリオ"/>
                <a:ea typeface="メイリオ"/>
                <a:cs typeface="メイリオ"/>
              </a:rPr>
              <a:t>検索のピークは2月と7月（P24）</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100" b="1" dirty="0" err="1">
                <a:solidFill>
                  <a:srgbClr val="333333"/>
                </a:solidFill>
                <a:latin typeface="メイリオ"/>
                <a:ea typeface="メイリオ"/>
                <a:cs typeface="メイリオ"/>
              </a:rPr>
              <a:t>ピークの前からつながっておく</a:t>
            </a:r>
            <a:endParaRPr sz="1100" b="1" dirty="0">
              <a:solidFill>
                <a:srgbClr val="333333"/>
              </a:solidFill>
              <a:latin typeface="メイリオ"/>
              <a:ea typeface="メイリオ"/>
              <a:cs typeface="メイリオ"/>
            </a:endParaRP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診断と資料をきっかけにLINEの友だちになっていただき、比べている間も情報を届け続ける。</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5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明光義塾</a:t>
            </a:r>
          </a:p>
          <a:p>
            <a:pPr algn="ctr"/>
            <a:r>
              <a:rPr sz="9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あり（多数）</a:t>
            </a:r>
          </a:p>
          <a:p>
            <a:pPr algn="ctr"/>
            <a:r>
              <a:rPr sz="100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00897B"/>
                </a:solidFill>
                <a:latin typeface="メイリオ"/>
                <a:ea typeface="メイリオ"/>
                <a:cs typeface="メイリオ"/>
              </a:rPr>
              <a:t>あり</a:t>
            </a:r>
          </a:p>
          <a:p>
            <a:pPr algn="ctr"/>
            <a:r>
              <a:rPr sz="90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大手</a:t>
            </a:r>
          </a:p>
          <a:p>
            <a:pPr algn="ctr"/>
            <a:r>
              <a:rPr sz="120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トライさん</a:t>
            </a:r>
          </a:p>
          <a:p>
            <a:pPr algn="ctr"/>
            <a:r>
              <a:rPr sz="9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333333"/>
                </a:solidFill>
                <a:latin typeface="メイリオ"/>
                <a:ea typeface="メイリオ"/>
                <a:cs typeface="メイリオ"/>
              </a:rPr>
              <a:t>生徒</a:t>
            </a:r>
          </a:p>
          <a:p>
            <a:pPr algn="ctr"/>
            <a:r>
              <a:rPr sz="100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333333"/>
                </a:solidFill>
                <a:latin typeface="メイリオ"/>
                <a:ea typeface="メイリオ"/>
                <a:cs typeface="メイリオ"/>
              </a:rPr>
              <a:t>Webの性格診断あり</a:t>
            </a:r>
          </a:p>
          <a:p>
            <a:pPr algn="ctr"/>
            <a:r>
              <a:rPr sz="90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00897B"/>
                </a:solidFill>
                <a:latin typeface="メイリオ"/>
                <a:ea typeface="メイリオ"/>
                <a:cs typeface="メイリオ"/>
              </a:rPr>
              <a:t>あり</a:t>
            </a:r>
          </a:p>
          <a:p>
            <a:pPr algn="ctr"/>
            <a:r>
              <a:rPr sz="100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50" b="1">
                <a:solidFill>
                  <a:srgbClr val="333333"/>
                </a:solidFill>
                <a:latin typeface="メイリオ"/>
                <a:ea typeface="メイリオ"/>
                <a:cs typeface="メイリオ"/>
              </a:rPr>
              <a:t>運営会社名義</a:t>
            </a:r>
          </a:p>
          <a:p>
            <a:pPr algn="ctr"/>
            <a:r>
              <a:rPr sz="950" b="0">
                <a:solidFill>
                  <a:srgbClr val="333333"/>
                </a:solidFill>
                <a:latin typeface="メイリオ"/>
                <a:ea typeface="メイリオ"/>
                <a:cs typeface="メイリオ"/>
              </a:rPr>
              <a:t>（スプリックス）</a:t>
            </a:r>
          </a:p>
          <a:p>
            <a:pPr algn="ctr"/>
            <a:r>
              <a:rPr sz="9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000" b="1">
                <a:solidFill>
                  <a:srgbClr val="7F7F7F"/>
                </a:solidFill>
                <a:latin typeface="メイリオ"/>
                <a:ea typeface="メイリオ"/>
                <a:cs typeface="メイリオ"/>
              </a:rPr>
              <a:t>中堅</a:t>
            </a:r>
          </a:p>
          <a:p>
            <a:pPr algn="ctr"/>
            <a:r>
              <a:rPr sz="120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0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1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1F285A"/>
                </a:solidFill>
                <a:latin typeface="メイリオ"/>
                <a:ea typeface="メイリオ"/>
                <a:cs typeface="メイリオ"/>
              </a:rPr>
              <a:t>明光義塾はLINEで成果を出している（公式事例・P27）</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・トライは生徒向け。森塾・ナビは公式サイトでLINEの導線を確認できなかった</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300" b="1">
                <a:solidFill>
                  <a:srgbClr val="FFFFFF"/>
                </a:solidFill>
                <a:latin typeface="メイリオ"/>
                <a:ea typeface="メイリオ"/>
                <a:cs typeface="メイリオ"/>
              </a:rPr>
              <a:t>保護者向けに、診断から体験予約までをLINEでつないでいる塾は、まだ少ない。</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どこで、何をお伝えして、LINEの友だちになっていただくか。1教室あたり月250人をモデル値とした。</a:t>
            </a:r>
          </a:p>
          <a:p>
            <a:pPr algn="l">
              <a:lnSpc>
                <a:spcPct val="128000"/>
              </a:lnSpc>
            </a:pPr>
            <a:r>
              <a:rPr sz="1200">
                <a:solidFill>
                  <a:srgbClr val="333333"/>
                </a:solidFill>
                <a:latin typeface="メイリオ"/>
                <a:ea typeface="メイリオ"/>
                <a:cs typeface="メイリオ"/>
              </a:rPr>
              <a:t>最も多いのは、サイトを離れようとする保護者に表示する離脱防止ポップアップ。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00 離脱防止</a:t>
            </a:r>
          </a:p>
          <a:p>
            <a:pPr algn="l"/>
            <a:r>
              <a:rPr sz="115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「まだ決めなくて大丈夫です」</a:t>
            </a:r>
          </a:p>
          <a:p>
            <a:pPr algn="l"/>
            <a:r>
              <a:rPr sz="115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01 完了画面</a:t>
            </a:r>
          </a:p>
          <a:p>
            <a:pPr algn="l"/>
            <a:r>
              <a:rPr sz="115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資料請求・体験予約の完了画面で</a:t>
            </a:r>
          </a:p>
          <a:p>
            <a:pPr algn="l"/>
            <a:r>
              <a:rPr sz="115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3万円〜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15万円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1">
                <a:solidFill>
                  <a:srgbClr val="333333"/>
                </a:solidFill>
                <a:latin typeface="メイリオ"/>
                <a:ea typeface="メイリオ"/>
                <a:cs typeface="メイリオ"/>
              </a:rPr>
              <a:t>02 チラシ・</a:t>
            </a:r>
          </a:p>
          <a:p>
            <a:pPr algn="l"/>
            <a:r>
              <a:rPr sz="115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l"/>
            <a:r>
              <a:rPr sz="1350" b="0">
                <a:solidFill>
                  <a:srgbClr val="333333"/>
                </a:solidFill>
                <a:latin typeface="メイリオ"/>
                <a:ea typeface="メイリオ"/>
                <a:cs typeface="メイリオ"/>
              </a:rPr>
              <a:t>LINE限定</a:t>
            </a:r>
          </a:p>
          <a:p>
            <a:pPr algn="l"/>
            <a:r>
              <a:rPr sz="115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7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43200" tIns="28800" rIns="43200" bIns="28800" rtlCol="0" anchor="ctr"/>
          <a:lstStyle/>
          <a:p>
            <a:pPr algn="ctr"/>
            <a:r>
              <a:rPr sz="150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QRから受け取る</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資料請求（CV①）と体験予約（CV②）につなげる。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750" b="0">
                <a:solidFill>
                  <a:srgbClr val="7F7F7F"/>
                </a:solidFill>
                <a:latin typeface="メイリオ"/>
                <a:ea typeface="メイリオ"/>
                <a:cs typeface="メイリオ"/>
              </a:rPr>
              <a:t>※10教室のモデル値（例）。新しい友だちは1教室あたり月250人（P63）×10教室。開封率・クリック率＝弊社運用の目安（ステップ配信 72.5%×12%／企画配信 78%×10%）。CVR＝0.3〜1.0%。件数は整数（端数は四捨五入）</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[ステップ配信]　友だち追加から14日間・自動（新しい友だち 月2,500人＝10教室）</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案内なし</a:t>
            </a:r>
          </a:p>
          <a:p>
            <a:pPr algn="ctr"/>
            <a:r>
              <a:rPr sz="950" b="0">
                <a:solidFill>
                  <a:srgbClr val="7F7F7F"/>
                </a:solidFill>
                <a:latin typeface="メイリオ"/>
                <a:ea typeface="メイリオ"/>
                <a:cs typeface="メイリオ"/>
              </a:rPr>
              <a:t>信頼関係づくり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資料未請求の方</a:t>
            </a:r>
          </a:p>
          <a:p>
            <a:pPr algn="l"/>
            <a:r>
              <a:rPr sz="950" b="0">
                <a:solidFill>
                  <a:srgbClr val="7F7F7F"/>
                </a:solidFill>
                <a:latin typeface="メイリオ"/>
                <a:ea typeface="メイリオ"/>
                <a:cs typeface="メイリオ"/>
              </a:rPr>
              <a:t>約2,500人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体験未予約の方</a:t>
            </a:r>
          </a:p>
          <a:p>
            <a:pPr algn="l"/>
            <a:r>
              <a:rPr sz="950" b="0">
                <a:solidFill>
                  <a:srgbClr val="7F7F7F"/>
                </a:solidFill>
                <a:latin typeface="メイリオ"/>
                <a:ea typeface="メイリオ"/>
                <a:cs typeface="メイリオ"/>
              </a:rPr>
              <a:t>約2,500人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28800" rIns="108000" bIns="28800" rtlCol="0" anchor="ctr"/>
          <a:lstStyle/>
          <a:p>
            <a:pPr algn="l"/>
            <a:r>
              <a:rPr sz="1200" b="1">
                <a:solidFill>
                  <a:srgbClr val="FFFFFF"/>
                </a:solidFill>
                <a:latin typeface="メイリオ"/>
                <a:ea typeface="メイリオ"/>
                <a:cs typeface="メイリオ"/>
              </a:rPr>
              <a:t>[企画配信]　月1〜2本（友だち 累計約10,000人・ブロックを除いて約6,800人）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FFFFFF"/>
                </a:solidFill>
                <a:latin typeface="メイリオ"/>
                <a:ea typeface="メイリオ"/>
                <a:cs typeface="メイリオ"/>
              </a:rPr>
              <a:t>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資料を請求した方</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30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至らなかった方</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20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140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333333"/>
                </a:solidFill>
                <a:latin typeface="メイリオ"/>
                <a:ea typeface="メイリオ"/>
                <a:cs typeface="メイリオ"/>
              </a:rPr>
              <a:t>10教室で月に 資料請求 約5件・体験予約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1}" type="slidenum">
              <a:rPr sz="1200" b="1">
                <a:solidFill>
                  <a:srgbClr val="FFFFFF"/>
                </a:solidFill>
                <a:latin typeface="メイリオ"/>
                <a:ea typeface="メイリオ"/>
                <a:cs typeface="メイリオ"/>
              </a:rPr>
              <a:t>64</a:t>
            </a:fld>
            <a:endParaRPr sz="1200" b="1">
              <a:solidFill>
                <a:srgbClr val="FFFFFF"/>
              </a:solidFill>
              <a:latin typeface="メイリオ"/>
              <a:ea typeface="メイリオ"/>
              <a:cs typeface="メイリオ"/>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すぐ答えられることは自動で、相談ごとは人が答える。押していただきたいボタンは右下に置く。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90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125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0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10800" tIns="28800" rIns="10800" bIns="28800" rtlCol="0" anchor="ctr"/>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endParaRP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すぐ答える仕組みが、</a:t>
            </a:r>
          </a:p>
          <a:p>
            <a:pPr algn="ctr"/>
            <a:r>
              <a:rPr sz="15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r"/>
            <a:fld id="{8C1D2E3F-4A5B-4C6D-9E7F-000000000002}" type="slidenum">
              <a:rPr sz="1200" b="1">
                <a:solidFill>
                  <a:srgbClr val="FFFFFF"/>
                </a:solidFill>
                <a:latin typeface="メイリオ"/>
                <a:ea typeface="メイリオ"/>
                <a:cs typeface="メイリオ"/>
              </a:rPr>
              <a:t>65</a:t>
            </a:fld>
            <a:endParaRPr sz="1200" b="1">
              <a:solidFill>
                <a:srgbClr val="FFFFFF"/>
              </a:solidFill>
              <a:latin typeface="メイリオ"/>
              <a:ea typeface="メイリオ"/>
              <a:cs typeface="メイリオ"/>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教室の手間を増やさずに運用する。予約の受付・日程変更・持ち物の案内は、LINEで自動にする。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55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4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ctr"/>
          <a:lstStyle/>
          <a:p>
            <a:pPr algn="ctr"/>
            <a:r>
              <a:rPr sz="13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000" tIns="28800" rIns="18000" bIns="28800" rtlCol="0" anchor="t"/>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入会は教室で決まるため、3か月ごとに教室からご報告いただいて確認する。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200" b="1">
                <a:solidFill>
                  <a:srgbClr val="FFFFFF"/>
                </a:solidFill>
                <a:latin typeface="メイリオ"/>
                <a:ea typeface="メイリオ"/>
                <a:cs typeface="メイリオ"/>
              </a:rPr>
              <a:t>3か月ごとに見る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入会数（教室からご報告いただく）</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13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500" b="1">
                <a:solidFill>
                  <a:srgbClr val="333333"/>
                </a:solidFill>
                <a:latin typeface="メイリオ"/>
                <a:ea typeface="メイリオ"/>
                <a:cs typeface="メイリオ"/>
              </a:rPr>
              <a:t>友だちの数ではなく、資料請求・体験予約・入会で見る。</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次の申し込みのピークから逆算して着手する。14日間のステップ配信が一巡すると、数字が見え始める。</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・3か月ごとに体験→入会の割合を確認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逆算のしかた（検索のピークから）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2〜3月の入会期に向けて　→　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300" b="1">
                <a:solidFill>
                  <a:srgbClr val="1F285A"/>
                </a:solidFill>
                <a:latin typeface="メイリオ"/>
                <a:ea typeface="メイリオ"/>
                <a:cs typeface="メイリオ"/>
              </a:rPr>
              <a:t>7〜8月の夏期講習に向けて　→　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14日間の配信が一巡してから、数字が見え始める</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700">
                <a:latin typeface="メイリオ" panose="020B0604030504040204" pitchFamily="50" charset="-128"/>
                <a:ea typeface="メイリオ" panose="020B0604030504040204" pitchFamily="50" charset="-128"/>
              </a:rPr>
              <a:t>集客動線</a:t>
            </a:r>
            <a:endParaRPr kumimoji="1" lang="ja-JP" altLang="en-US" sz="17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18の具体施策が、どのフェーズで効くかを1枚にまとめた。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友だち追加までが6施策、追加後が12施策。追加後の施策が多い構成。</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⑦入会（契約）</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300" b="1" dirty="0">
                <a:latin typeface="メイリオ" panose="020B0604030504040204" pitchFamily="50" charset="-128"/>
                <a:ea typeface="メイリオ" panose="020B0604030504040204" pitchFamily="50" charset="-128"/>
              </a:rPr>
              <a:t>⑥ 有効リードの再育成</a:t>
            </a:r>
            <a:endParaRPr lang="ja-JP" altLang="ja-JP" sz="13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⑧継続・紹介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どう友だちになっていただくか（①〜④）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LINE広告（友だち追加）</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LINE登録をゴールに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どう申し込みにつなげるか（⑤〜⑧）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キーワード自動応答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検討度の高い方の検知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未入会の方へ再案内</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時期に合わせた配信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通知メッセージで再案内</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資料請求後のリマインド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自動応答と有人の切り替え</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入会後のフォロー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通塾状況に合わせた講習案内</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関連コースのご案内</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施策は友だち追加の後に多い。友だちを増やした後の関わり方で差がつく。</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他塾ではまだ少ない企画の例（ご参考）。</a:t>
            </a:r>
          </a:p>
          <a:p>
            <a:pPr algn="l">
              <a:lnSpc>
                <a:spcPct val="128000"/>
              </a:lnSpc>
            </a:pPr>
            <a:r>
              <a:rPr sz="1200">
                <a:solidFill>
                  <a:srgbClr val="333333"/>
                </a:solidFill>
                <a:latin typeface="メイリオ"/>
                <a:ea typeface="メイリオ"/>
                <a:cs typeface="メイリオ"/>
              </a:rPr>
              <a:t>地域で先行できる企画案。</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小3〜中2の保護者へ、学年ごとに「この時期にやるべきこと」を毎月配信。入塾が多い学年（中学受験は小4／その他は小5・6）の1学年前からつながる</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24時間の質問対応。ただし塾は「先生」で選ばれる業界のため、有人対応の価値を下げない設計が必要</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1150">
                <a:solidFill>
                  <a:srgbClr val="333333"/>
                </a:solidFill>
                <a:latin typeface="メイリオ"/>
                <a:ea typeface="メイリオ"/>
                <a:cs typeface="メイリオ"/>
              </a:rPr>
              <a:t>◎＝根拠データあり・すぐ実行できる　／　○＝条件付きで有効　／　△＝この業界では優先度低（弊社の見解）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優先度の判定は弊社の見解。根拠は巻末の出典一覧を参照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28800" rIns="28800" bIns="28800" rtlCol="0" anchor="ctr"/>
          <a:lstStyle/>
          <a:p>
            <a:pPr algn="ctr"/>
            <a:r>
              <a:rPr sz="700" b="1">
                <a:solidFill>
                  <a:srgbClr val="1F285A"/>
                </a:solidFill>
                <a:latin typeface="メイリオ"/>
                <a:ea typeface="メイリオ"/>
                <a:cs typeface="メイリオ"/>
              </a:rPr>
              <a:t>⑧紹介</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50">
                <a:solidFill>
                  <a:srgbClr val="333333"/>
                </a:solidFill>
                <a:latin typeface="メイリオ"/>
                <a:ea typeface="メイリオ"/>
                <a:cs typeface="メイリオ"/>
              </a:rPr>
              <a:t>この資料で使用した数値の出典一覧。</a:t>
            </a:r>
          </a:p>
          <a:p>
            <a:pPr algn="l">
              <a:lnSpc>
                <a:spcPct val="128000"/>
              </a:lnSpc>
            </a:pPr>
            <a:r>
              <a:rPr sz="1250">
                <a:solidFill>
                  <a:srgbClr val="333333"/>
                </a:solidFill>
                <a:latin typeface="メイリオ"/>
                <a:ea typeface="メイリオ"/>
                <a:cs typeface="メイリオ"/>
              </a:rPr>
              <a:t>出典のない数値は記載していない。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90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P18〜P21・P61・P22</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P24・P25</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P62</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P32・P33</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P70</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ctr"/>
          <a:lstStyle/>
          <a:p>
            <a:pPr algn="ctr"/>
            <a:r>
              <a:rPr sz="1000" b="1">
                <a:solidFill>
                  <a:srgbClr val="1F285A"/>
                </a:solidFill>
                <a:latin typeface="メイリオ"/>
                <a:ea typeface="メイリオ"/>
                <a:cs typeface="メイリオ"/>
              </a:rPr>
              <a:t>P27〜P29・P30</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wrap="square" lIns="72000" tIns="28800" rIns="72000" bIns="28800" rtlCol="0" anchor="t"/>
          <a:lstStyle/>
          <a:p>
            <a:pPr algn="l"/>
            <a:r>
              <a:rPr sz="1300" b="1">
                <a:solidFill>
                  <a:srgbClr val="1F285A"/>
                </a:solidFill>
                <a:latin typeface="メイリオ"/>
                <a:ea typeface="メイリオ"/>
                <a:cs typeface="メイリオ"/>
              </a:rPr>
              <a:t>LINEヤフー公式データ</a:t>
            </a:r>
          </a:p>
          <a:p>
            <a:pPr algn="l"/>
            <a:r>
              <a:rPr sz="1150" b="0">
                <a:solidFill>
                  <a:srgbClr val="333333"/>
                </a:solidFill>
                <a:latin typeface="メイリオ"/>
                <a:ea typeface="メイリオ"/>
                <a:cs typeface="メイリオ"/>
              </a:rPr>
              <a:t>・LINE 国内月間利用者数：1億人突破（2025年12月末時点）</a:t>
            </a:r>
          </a:p>
          <a:p>
            <a:pPr algn="l"/>
            <a:r>
              <a:rPr sz="1150" b="0">
                <a:solidFill>
                  <a:srgbClr val="333333"/>
                </a:solidFill>
                <a:latin typeface="メイリオ"/>
                <a:ea typeface="メイリオ"/>
                <a:cs typeface="メイリオ"/>
              </a:rPr>
              <a:t>・メッセージの開封：受信直後 約2割／3〜6時間で約5割／当日中に約8割</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145144</TotalTime>
  <Words>9966</Words>
  <Application>Microsoft Office PowerPoint</Application>
  <PresentationFormat>A4 210 x 297 mm</PresentationFormat>
  <Paragraphs>2126</Paragraphs>
  <Slides>71</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71</vt:i4>
      </vt:variant>
    </vt:vector>
  </HeadingPairs>
  <TitlesOfParts>
    <vt:vector size="78"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1979</cp:revision>
  <cp:lastPrinted>2022-11-01T11:38:14Z</cp:lastPrinted>
  <dcterms:created xsi:type="dcterms:W3CDTF">2015-09-04T09:21:15Z</dcterms:created>
  <dcterms:modified xsi:type="dcterms:W3CDTF">2026-10-22T09:15:28Z</dcterms:modified>
</cp:coreProperties>
</file>