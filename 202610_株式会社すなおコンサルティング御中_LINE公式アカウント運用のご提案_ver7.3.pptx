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3" r:id="rId34"/>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32</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（必要に応じて、簡易的な興味分野の把握）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配信の出し分け：予約した方／予約していない方</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出し分けの考え方</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開催のない月の層（予約していない方）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開催のない月の配信で、次回までつながりを保てる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次のイベントの案内を、開催が決まり次第届けられる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123444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友だち追加の流入経路（離脱防止ポップアップ／予約完了後のご案内）で分け、予約した方は当日の参加へ、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予約していない方は開催のない月の配信で次のイベントへつなげる。流入経路だけでは予約・参加・入会の状況をすべて把握できないため、状況に応じた出し分けは、連携の仕様を確認のうえ設計。</a:t>
            </a:r>
          </a:p>
        </p:txBody>
      </p:sp>
    </p:spTree>
    <p:extLst>
      <p:ext uri="{BB962C8B-B14F-4D97-AF65-F5344CB8AC3E}">
        <p14:creationId xmlns:p14="http://schemas.microsoft.com/office/powerpoint/2010/main" val="3203648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LINEステップ配信シナリオ（5通）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興味分野の把握（簡易アンケート）</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949440"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前後検索「投資セミナー」：比べる・確かめる・始めるが15日続く</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セミナーを探した方は、その日にほかのセミナーと比べて不安を確かめ、1〜4日後に始め方を調べる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pic>
        <p:nvPicPr>
          <p:cNvPr id="50" name="Picture 49" descr="sunao_zengo_toushi_seminar_color.png"/>
          <p:cNvPicPr>
            <a:picLocks noChangeAspect="1"/>
          </p:cNvPicPr>
          <p:nvPr/>
        </p:nvPicPr>
        <p:blipFill>
          <a:blip r:embed="rId2"/>
          <a:stretch>
            <a:fillRect/>
          </a:stretch>
        </p:blipFill>
        <p:spPr>
          <a:xfrm>
            <a:off x="420624" y="1627632"/>
            <a:ext cx="5715000" cy="3334702"/>
          </a:xfrm>
          <a:prstGeom prst="rect">
            <a:avLst/>
          </a:prstGeom>
        </p:spPr>
      </p:pic>
      <p:sp>
        <p:nvSpPr>
          <p:cNvPr id="51" name="Oval 50"/>
          <p:cNvSpPr/>
          <p:nvPr/>
        </p:nvSpPr>
        <p:spPr>
          <a:xfrm>
            <a:off x="6355080" y="1700784"/>
            <a:ext cx="164592" cy="164592"/>
          </a:xfrm>
          <a:prstGeom prst="ellipse">
            <a:avLst/>
          </a:prstGeom>
          <a:solidFill>
            <a:srgbClr val="3467B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2" name="TextBox 51"/>
          <p:cNvSpPr txBox="1"/>
          <p:nvPr/>
        </p:nvSpPr>
        <p:spPr>
          <a:xfrm>
            <a:off x="6583680" y="1627632"/>
            <a:ext cx="2926080" cy="1051560"/>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比べる（0日前後）</a:t>
            </a:r>
          </a:p>
          <a:p>
            <a:pPr algn="l">
              <a:lnSpc>
                <a:spcPct val="105000"/>
              </a:lnSpc>
              <a:spcAft>
                <a:spcPts val="200"/>
              </a:spcAft>
            </a:pPr>
            <a:r>
              <a:rPr sz="1200" b="0">
                <a:solidFill>
                  <a:srgbClr val="333333"/>
                </a:solidFill>
                <a:latin typeface="メイリオ"/>
                <a:ea typeface="メイリオ"/>
                <a:cs typeface="メイリオ"/>
              </a:rPr>
              <a:t>ほかのセミナー・イベント</a:t>
            </a:r>
          </a:p>
          <a:p>
            <a:pPr algn="l">
              <a:lnSpc>
                <a:spcPct val="105000"/>
              </a:lnSpc>
              <a:spcAft>
                <a:spcPts val="200"/>
              </a:spcAft>
            </a:pPr>
            <a:r>
              <a:rPr sz="1100" b="0">
                <a:solidFill>
                  <a:srgbClr val="777777"/>
                </a:solidFill>
                <a:latin typeface="メイリオ"/>
                <a:ea typeface="メイリオ"/>
                <a:cs typeface="メイリオ"/>
              </a:rPr>
              <a:t>投資セミナー 東京</a:t>
            </a:r>
          </a:p>
          <a:p>
            <a:pPr algn="l">
              <a:lnSpc>
                <a:spcPct val="105000"/>
              </a:lnSpc>
              <a:spcAft>
                <a:spcPts val="200"/>
              </a:spcAft>
            </a:pPr>
            <a:r>
              <a:rPr sz="1100" b="0">
                <a:solidFill>
                  <a:srgbClr val="777777"/>
                </a:solidFill>
                <a:latin typeface="メイリオ"/>
                <a:ea typeface="メイリオ"/>
                <a:cs typeface="メイリオ"/>
              </a:rPr>
              <a:t>資産運用セミナー・マネーセミナー</a:t>
            </a:r>
          </a:p>
        </p:txBody>
      </p:sp>
      <p:sp>
        <p:nvSpPr>
          <p:cNvPr id="53" name="Oval 52"/>
          <p:cNvSpPr/>
          <p:nvPr/>
        </p:nvSpPr>
        <p:spPr>
          <a:xfrm>
            <a:off x="6355080" y="2834640"/>
            <a:ext cx="164592" cy="164592"/>
          </a:xfrm>
          <a:prstGeom prst="ellipse">
            <a:avLst/>
          </a:prstGeom>
          <a:solidFill>
            <a:srgbClr val="8E4EC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6583680" y="2761488"/>
            <a:ext cx="2926080" cy="1051560"/>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確かめる（0日前後）</a:t>
            </a:r>
          </a:p>
          <a:p>
            <a:pPr algn="l">
              <a:lnSpc>
                <a:spcPct val="105000"/>
              </a:lnSpc>
              <a:spcAft>
                <a:spcPts val="200"/>
              </a:spcAft>
            </a:pPr>
            <a:r>
              <a:rPr sz="1200" b="0">
                <a:solidFill>
                  <a:srgbClr val="333333"/>
                </a:solidFill>
                <a:latin typeface="メイリオ"/>
                <a:ea typeface="メイリオ"/>
                <a:cs typeface="メイリオ"/>
              </a:rPr>
              <a:t>不安・安全性</a:t>
            </a:r>
          </a:p>
          <a:p>
            <a:pPr algn="l">
              <a:lnSpc>
                <a:spcPct val="105000"/>
              </a:lnSpc>
              <a:spcAft>
                <a:spcPts val="200"/>
              </a:spcAft>
            </a:pPr>
            <a:r>
              <a:rPr sz="1100" b="0">
                <a:solidFill>
                  <a:srgbClr val="777777"/>
                </a:solidFill>
                <a:latin typeface="メイリオ"/>
                <a:ea typeface="メイリオ"/>
                <a:cs typeface="メイリオ"/>
              </a:rPr>
              <a:t>投資詐欺・金融庁</a:t>
            </a:r>
          </a:p>
        </p:txBody>
      </p:sp>
      <p:sp>
        <p:nvSpPr>
          <p:cNvPr id="55" name="Oval 54"/>
          <p:cNvSpPr/>
          <p:nvPr/>
        </p:nvSpPr>
        <p:spPr>
          <a:xfrm>
            <a:off x="6355080" y="3968496"/>
            <a:ext cx="164592" cy="164592"/>
          </a:xfrm>
          <a:prstGeom prst="ellipse">
            <a:avLst/>
          </a:prstGeom>
          <a:solidFill>
            <a:srgbClr val="00897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6" name="TextBox 55"/>
          <p:cNvSpPr txBox="1"/>
          <p:nvPr/>
        </p:nvSpPr>
        <p:spPr>
          <a:xfrm>
            <a:off x="6583680" y="3895343"/>
            <a:ext cx="2926080" cy="1051560"/>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始める（1〜4日後）</a:t>
            </a:r>
          </a:p>
          <a:p>
            <a:pPr algn="l">
              <a:lnSpc>
                <a:spcPct val="105000"/>
              </a:lnSpc>
              <a:spcAft>
                <a:spcPts val="200"/>
              </a:spcAft>
            </a:pPr>
            <a:r>
              <a:rPr sz="1200" b="0">
                <a:solidFill>
                  <a:srgbClr val="333333"/>
                </a:solidFill>
                <a:latin typeface="メイリオ"/>
                <a:ea typeface="メイリオ"/>
                <a:cs typeface="メイリオ"/>
              </a:rPr>
              <a:t>自分で始める方法</a:t>
            </a:r>
          </a:p>
          <a:p>
            <a:pPr algn="l">
              <a:lnSpc>
                <a:spcPct val="105000"/>
              </a:lnSpc>
              <a:spcAft>
                <a:spcPts val="200"/>
              </a:spcAft>
            </a:pPr>
            <a:r>
              <a:rPr sz="1100" b="0">
                <a:solidFill>
                  <a:srgbClr val="777777"/>
                </a:solidFill>
                <a:latin typeface="メイリオ"/>
                <a:ea typeface="メイリオ"/>
                <a:cs typeface="メイリオ"/>
              </a:rPr>
              <a:t>口座開設・ポートフォリオ</a:t>
            </a:r>
          </a:p>
          <a:p>
            <a:pPr algn="l">
              <a:lnSpc>
                <a:spcPct val="105000"/>
              </a:lnSpc>
              <a:spcAft>
                <a:spcPts val="200"/>
              </a:spcAft>
            </a:pPr>
            <a:r>
              <a:rPr sz="1100" b="0">
                <a:solidFill>
                  <a:srgbClr val="777777"/>
                </a:solidFill>
                <a:latin typeface="メイリオ"/>
                <a:ea typeface="メイリオ"/>
                <a:cs typeface="メイリオ"/>
              </a:rPr>
              <a:t>etfとは・nisa つみたて投資枠</a:t>
            </a:r>
          </a:p>
        </p:txBody>
      </p:sp>
      <p:sp>
        <p:nvSpPr>
          <p:cNvPr id="57" name="Rectangle 56"/>
          <p:cNvSpPr/>
          <p:nvPr/>
        </p:nvSpPr>
        <p:spPr>
          <a:xfrm>
            <a:off x="420624" y="5120639"/>
            <a:ext cx="9052560" cy="713232"/>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43200" rIns="108000" bIns="43200"/>
          <a:lstStyle/>
          <a:p>
            <a:pPr algn="l">
              <a:lnSpc>
                <a:spcPct val="110000"/>
              </a:lnSpc>
              <a:spcAft>
                <a:spcPts val="200"/>
              </a:spcAft>
            </a:pPr>
            <a:r>
              <a:rPr sz="1300" b="1">
                <a:solidFill>
                  <a:srgbClr val="1F2A5C"/>
                </a:solidFill>
                <a:latin typeface="メイリオ"/>
                <a:ea typeface="メイリオ"/>
                <a:cs typeface="メイリオ"/>
              </a:rPr>
              <a:t>示唆</a:t>
            </a:r>
          </a:p>
          <a:p>
            <a:pPr algn="l">
              <a:lnSpc>
                <a:spcPct val="110000"/>
              </a:lnSpc>
              <a:spcAft>
                <a:spcPts val="0"/>
              </a:spcAft>
            </a:pPr>
            <a:r>
              <a:rPr sz="1300" b="0">
                <a:solidFill>
                  <a:srgbClr val="333333"/>
                </a:solidFill>
                <a:latin typeface="メイリオ"/>
                <a:ea typeface="メイリオ"/>
                <a:cs typeface="メイリオ"/>
              </a:rPr>
              <a:t>友だち追加から15日間は関心が続くため、2日おきに「比べる → 確かめる → 始める」の順で届ける</a:t>
            </a:r>
          </a:p>
        </p:txBody>
      </p:sp>
      <p:sp>
        <p:nvSpPr>
          <p:cNvPr id="58" name="TextBox 57"/>
          <p:cNvSpPr txBox="1"/>
          <p:nvPr/>
        </p:nvSpPr>
        <p:spPr>
          <a:xfrm>
            <a:off x="420624" y="59436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出典｜LINEヤフーの前後検索データ（「投資セミナー」）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949440"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診断：最初の2問で、どんな方かが分かるようにする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答えでタグを付け、その後の配信をその方に合わせる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Rectangle 49"/>
          <p:cNvSpPr/>
          <p:nvPr/>
        </p:nvSpPr>
        <p:spPr>
          <a:xfrm>
            <a:off x="420624" y="192024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51" name="Rectangle 50"/>
          <p:cNvSpPr/>
          <p:nvPr/>
        </p:nvSpPr>
        <p:spPr>
          <a:xfrm>
            <a:off x="1911095" y="1920240"/>
            <a:ext cx="3611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a:t>
            </a:r>
          </a:p>
        </p:txBody>
      </p:sp>
      <p:sp>
        <p:nvSpPr>
          <p:cNvPr id="52" name="Rectangle 51"/>
          <p:cNvSpPr/>
          <p:nvPr/>
        </p:nvSpPr>
        <p:spPr>
          <a:xfrm>
            <a:off x="5550408" y="1920240"/>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付けるタグ</a:t>
            </a:r>
          </a:p>
        </p:txBody>
      </p:sp>
      <p:sp>
        <p:nvSpPr>
          <p:cNvPr id="53" name="Rectangle 52"/>
          <p:cNvSpPr/>
          <p:nvPr/>
        </p:nvSpPr>
        <p:spPr>
          <a:xfrm>
            <a:off x="6903720" y="1920240"/>
            <a:ext cx="256946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配信での使い方</a:t>
            </a:r>
          </a:p>
        </p:txBody>
      </p:sp>
      <p:sp>
        <p:nvSpPr>
          <p:cNvPr id="54" name="Rectangle 53"/>
          <p:cNvSpPr/>
          <p:nvPr/>
        </p:nvSpPr>
        <p:spPr>
          <a:xfrm>
            <a:off x="420624" y="2313432"/>
            <a:ext cx="1463040"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a:t>
            </a:r>
          </a:p>
        </p:txBody>
      </p:sp>
      <p:sp>
        <p:nvSpPr>
          <p:cNvPr id="55" name="Rectangle 54"/>
          <p:cNvSpPr/>
          <p:nvPr/>
        </p:nvSpPr>
        <p:spPr>
          <a:xfrm>
            <a:off x="1911095" y="2313432"/>
            <a:ext cx="3611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56" name="Rectangle 55"/>
          <p:cNvSpPr/>
          <p:nvPr/>
        </p:nvSpPr>
        <p:spPr>
          <a:xfrm>
            <a:off x="5550408" y="231343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a:t>
            </a:r>
          </a:p>
          <a:p>
            <a:pPr algn="l">
              <a:lnSpc>
                <a:spcPct val="110000"/>
              </a:lnSpc>
              <a:spcAft>
                <a:spcPts val="0"/>
              </a:spcAft>
            </a:pPr>
            <a:r>
              <a:rPr sz="1200" b="0">
                <a:solidFill>
                  <a:srgbClr val="333333"/>
                </a:solidFill>
                <a:latin typeface="メイリオ"/>
                <a:ea typeface="メイリオ"/>
                <a:cs typeface="メイリオ"/>
              </a:rPr>
              <a:t>一般</a:t>
            </a:r>
          </a:p>
        </p:txBody>
      </p:sp>
      <p:sp>
        <p:nvSpPr>
          <p:cNvPr id="57" name="Rectangle 56"/>
          <p:cNvSpPr/>
          <p:nvPr/>
        </p:nvSpPr>
        <p:spPr>
          <a:xfrm>
            <a:off x="6903720" y="2313432"/>
            <a:ext cx="2569464"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一般の方には、一般の方向けの</a:t>
            </a:r>
          </a:p>
          <a:p>
            <a:pPr algn="l">
              <a:lnSpc>
                <a:spcPct val="110000"/>
              </a:lnSpc>
              <a:spcAft>
                <a:spcPts val="0"/>
              </a:spcAft>
            </a:pPr>
            <a:r>
              <a:rPr sz="1200" b="0">
                <a:solidFill>
                  <a:srgbClr val="333333"/>
                </a:solidFill>
                <a:latin typeface="メイリオ"/>
                <a:ea typeface="メイリオ"/>
                <a:cs typeface="メイリオ"/>
              </a:rPr>
              <a:t>セミナーを案内</a:t>
            </a:r>
          </a:p>
        </p:txBody>
      </p:sp>
      <p:sp>
        <p:nvSpPr>
          <p:cNvPr id="58" name="Rectangle 57"/>
          <p:cNvSpPr/>
          <p:nvPr/>
        </p:nvSpPr>
        <p:spPr>
          <a:xfrm>
            <a:off x="420624" y="3054095"/>
            <a:ext cx="1463040" cy="1453896"/>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a:t>
            </a:r>
          </a:p>
        </p:txBody>
      </p:sp>
      <p:sp>
        <p:nvSpPr>
          <p:cNvPr id="59" name="Rectangle 58"/>
          <p:cNvSpPr/>
          <p:nvPr/>
        </p:nvSpPr>
        <p:spPr>
          <a:xfrm>
            <a:off x="1911095" y="3054095"/>
            <a:ext cx="3611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保険営業の方：成約を上げたい／</a:t>
            </a:r>
          </a:p>
          <a:p>
            <a:pPr algn="l">
              <a:lnSpc>
                <a:spcPct val="110000"/>
              </a:lnSpc>
              <a:spcAft>
                <a:spcPts val="0"/>
              </a:spcAft>
            </a:pPr>
            <a:r>
              <a:rPr sz="1200" b="0">
                <a:solidFill>
                  <a:srgbClr val="333333"/>
                </a:solidFill>
                <a:latin typeface="メイリオ"/>
                <a:ea typeface="メイリオ"/>
                <a:cs typeface="メイリオ"/>
              </a:rPr>
              <a:t>紹介を増やしたい／働く時間を減らしたい</a:t>
            </a:r>
          </a:p>
        </p:txBody>
      </p:sp>
      <p:sp>
        <p:nvSpPr>
          <p:cNvPr id="60" name="Rectangle 59"/>
          <p:cNvSpPr/>
          <p:nvPr/>
        </p:nvSpPr>
        <p:spPr>
          <a:xfrm>
            <a:off x="5550408" y="3054095"/>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成約・紹介・</a:t>
            </a:r>
          </a:p>
          <a:p>
            <a:pPr algn="l">
              <a:lnSpc>
                <a:spcPct val="110000"/>
              </a:lnSpc>
              <a:spcAft>
                <a:spcPts val="0"/>
              </a:spcAft>
            </a:pPr>
            <a:r>
              <a:rPr sz="1200" b="0">
                <a:solidFill>
                  <a:srgbClr val="333333"/>
                </a:solidFill>
                <a:latin typeface="メイリオ"/>
                <a:ea typeface="メイリオ"/>
                <a:cs typeface="メイリオ"/>
              </a:rPr>
              <a:t>時間</a:t>
            </a:r>
          </a:p>
        </p:txBody>
      </p:sp>
      <p:sp>
        <p:nvSpPr>
          <p:cNvPr id="61" name="Rectangle 60"/>
          <p:cNvSpPr/>
          <p:nvPr/>
        </p:nvSpPr>
        <p:spPr>
          <a:xfrm>
            <a:off x="6903720" y="3054095"/>
            <a:ext cx="2569464"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受講生の声を、同じ悩み</a:t>
            </a:r>
          </a:p>
          <a:p>
            <a:pPr algn="l">
              <a:lnSpc>
                <a:spcPct val="110000"/>
              </a:lnSpc>
              <a:spcAft>
                <a:spcPts val="0"/>
              </a:spcAft>
            </a:pPr>
            <a:r>
              <a:rPr sz="1200" b="0">
                <a:solidFill>
                  <a:srgbClr val="333333"/>
                </a:solidFill>
                <a:latin typeface="メイリオ"/>
                <a:ea typeface="メイリオ"/>
                <a:cs typeface="メイリオ"/>
              </a:rPr>
              <a:t>だった方の声にする</a:t>
            </a:r>
          </a:p>
        </p:txBody>
      </p:sp>
      <p:sp>
        <p:nvSpPr>
          <p:cNvPr id="62" name="Rectangle 61"/>
          <p:cNvSpPr/>
          <p:nvPr/>
        </p:nvSpPr>
        <p:spPr>
          <a:xfrm>
            <a:off x="1911095" y="3794760"/>
            <a:ext cx="3611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一般の方：資産形成を始めたい／</a:t>
            </a:r>
          </a:p>
          <a:p>
            <a:pPr algn="l">
              <a:lnSpc>
                <a:spcPct val="110000"/>
              </a:lnSpc>
              <a:spcAft>
                <a:spcPts val="0"/>
              </a:spcAft>
            </a:pPr>
            <a:r>
              <a:rPr sz="1200" b="0">
                <a:solidFill>
                  <a:srgbClr val="333333"/>
                </a:solidFill>
                <a:latin typeface="メイリオ"/>
                <a:ea typeface="メイリオ"/>
                <a:cs typeface="メイリオ"/>
              </a:rPr>
              <a:t>保険を見直したい</a:t>
            </a:r>
          </a:p>
        </p:txBody>
      </p:sp>
      <p:sp>
        <p:nvSpPr>
          <p:cNvPr id="63" name="Rectangle 62"/>
          <p:cNvSpPr/>
          <p:nvPr/>
        </p:nvSpPr>
        <p:spPr>
          <a:xfrm>
            <a:off x="5550408" y="379476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資産形成・</a:t>
            </a:r>
          </a:p>
          <a:p>
            <a:pPr algn="l">
              <a:lnSpc>
                <a:spcPct val="110000"/>
              </a:lnSpc>
              <a:spcAft>
                <a:spcPts val="0"/>
              </a:spcAft>
            </a:pPr>
            <a:r>
              <a:rPr sz="1200" b="0">
                <a:solidFill>
                  <a:srgbClr val="333333"/>
                </a:solidFill>
                <a:latin typeface="メイリオ"/>
                <a:ea typeface="メイリオ"/>
                <a:cs typeface="メイリオ"/>
              </a:rPr>
              <a:t>見直し</a:t>
            </a:r>
          </a:p>
        </p:txBody>
      </p:sp>
      <p:sp>
        <p:nvSpPr>
          <p:cNvPr id="64" name="Rectangle 63"/>
          <p:cNvSpPr/>
          <p:nvPr/>
        </p:nvSpPr>
        <p:spPr>
          <a:xfrm>
            <a:off x="6903720" y="3794760"/>
            <a:ext cx="2569464"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一般の方向けの案内の</a:t>
            </a:r>
          </a:p>
          <a:p>
            <a:pPr algn="l">
              <a:lnSpc>
                <a:spcPct val="110000"/>
              </a:lnSpc>
              <a:spcAft>
                <a:spcPts val="0"/>
              </a:spcAft>
            </a:pPr>
            <a:r>
              <a:rPr sz="1200" b="0">
                <a:solidFill>
                  <a:srgbClr val="333333"/>
                </a:solidFill>
                <a:latin typeface="メイリオ"/>
                <a:ea typeface="メイリオ"/>
                <a:cs typeface="メイリオ"/>
              </a:rPr>
              <a:t>中身を変える</a:t>
            </a:r>
          </a:p>
        </p:txBody>
      </p:sp>
      <p:sp>
        <p:nvSpPr>
          <p:cNvPr id="65" name="Rectangle 64"/>
          <p:cNvSpPr/>
          <p:nvPr/>
        </p:nvSpPr>
        <p:spPr>
          <a:xfrm>
            <a:off x="420624" y="4809744"/>
            <a:ext cx="9052560" cy="713232"/>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43200" rIns="108000" bIns="43200"/>
          <a:lstStyle/>
          <a:p>
            <a:pPr algn="l">
              <a:lnSpc>
                <a:spcPct val="110000"/>
              </a:lnSpc>
              <a:spcAft>
                <a:spcPts val="200"/>
              </a:spcAft>
            </a:pPr>
            <a:r>
              <a:rPr sz="1300" b="1">
                <a:solidFill>
                  <a:srgbClr val="1F2A5C"/>
                </a:solidFill>
                <a:latin typeface="メイリオ"/>
                <a:ea typeface="メイリオ"/>
                <a:cs typeface="メイリオ"/>
              </a:rPr>
              <a:t>示唆</a:t>
            </a:r>
          </a:p>
          <a:p>
            <a:pPr algn="l">
              <a:lnSpc>
                <a:spcPct val="110000"/>
              </a:lnSpc>
              <a:spcAft>
                <a:spcPts val="0"/>
              </a:spcAft>
            </a:pPr>
            <a:r>
              <a:rPr sz="1300" b="0">
                <a:solidFill>
                  <a:srgbClr val="333333"/>
                </a:solidFill>
                <a:latin typeface="メイリオ"/>
                <a:ea typeface="メイリオ"/>
                <a:cs typeface="メイリオ"/>
              </a:rPr>
              <a:t>一度の診断で、その方に合う受講生の声とセミナーを届けられる。聞くのは友だち追加直後の1回だけにする</a:t>
            </a:r>
          </a:p>
        </p:txBody>
      </p:sp>
      <p:sp>
        <p:nvSpPr>
          <p:cNvPr id="66" name="TextBox 65"/>
          <p:cNvSpPr txBox="1"/>
          <p:nvPr/>
        </p:nvSpPr>
        <p:spPr>
          <a:xfrm>
            <a:off x="420624" y="5678424"/>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※答えはボタンで選ぶ形。押したボタンで、その後の配信を分ける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949440"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ステップ配信（8通・案）：関心が続く15日間は、2日おきに届ける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前後検索の順番（比べる → 確かめる → 始める）に合わせて、セミナーの予約まで案内する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Rectangle 49"/>
          <p:cNvSpPr/>
          <p:nvPr/>
        </p:nvSpPr>
        <p:spPr>
          <a:xfrm>
            <a:off x="420624" y="16916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0日目</a:t>
            </a:r>
          </a:p>
        </p:txBody>
      </p:sp>
      <p:sp>
        <p:nvSpPr>
          <p:cNvPr id="51" name="Rectangle 50"/>
          <p:cNvSpPr/>
          <p:nvPr/>
        </p:nvSpPr>
        <p:spPr>
          <a:xfrm>
            <a:off x="420624" y="20939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あいさつ・参加特典</a:t>
            </a:r>
          </a:p>
        </p:txBody>
      </p:sp>
      <p:sp>
        <p:nvSpPr>
          <p:cNvPr id="52" name="Rectangle 51"/>
          <p:cNvSpPr/>
          <p:nvPr/>
        </p:nvSpPr>
        <p:spPr>
          <a:xfrm>
            <a:off x="420624" y="25511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参加特典をご案内し、</a:t>
            </a:r>
          </a:p>
          <a:p>
            <a:pPr algn="l">
              <a:lnSpc>
                <a:spcPct val="110000"/>
              </a:lnSpc>
              <a:spcAft>
                <a:spcPts val="0"/>
              </a:spcAft>
            </a:pPr>
            <a:r>
              <a:rPr sz="1200" b="0">
                <a:solidFill>
                  <a:srgbClr val="333333"/>
                </a:solidFill>
                <a:latin typeface="メイリオ"/>
                <a:ea typeface="メイリオ"/>
                <a:cs typeface="メイリオ"/>
              </a:rPr>
              <a:t>2問の診断で関心を確認</a:t>
            </a:r>
          </a:p>
        </p:txBody>
      </p:sp>
      <p:sp>
        <p:nvSpPr>
          <p:cNvPr id="53" name="Rectangle 52"/>
          <p:cNvSpPr/>
          <p:nvPr/>
        </p:nvSpPr>
        <p:spPr>
          <a:xfrm>
            <a:off x="2715768" y="16916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2日目｜比べる</a:t>
            </a:r>
          </a:p>
        </p:txBody>
      </p:sp>
      <p:sp>
        <p:nvSpPr>
          <p:cNvPr id="54" name="Rectangle 53"/>
          <p:cNvSpPr/>
          <p:nvPr/>
        </p:nvSpPr>
        <p:spPr>
          <a:xfrm>
            <a:off x="2715768" y="20939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ほかのセミナーとの違い</a:t>
            </a:r>
          </a:p>
        </p:txBody>
      </p:sp>
      <p:sp>
        <p:nvSpPr>
          <p:cNvPr id="55" name="Rectangle 54"/>
          <p:cNvSpPr/>
          <p:nvPr/>
        </p:nvSpPr>
        <p:spPr>
          <a:xfrm>
            <a:off x="2715768" y="25511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両想い営業・ライフプラン</a:t>
            </a:r>
          </a:p>
          <a:p>
            <a:pPr algn="l">
              <a:lnSpc>
                <a:spcPct val="110000"/>
              </a:lnSpc>
              <a:spcAft>
                <a:spcPts val="0"/>
              </a:spcAft>
            </a:pPr>
            <a:r>
              <a:rPr sz="1200" b="0">
                <a:solidFill>
                  <a:srgbClr val="333333"/>
                </a:solidFill>
                <a:latin typeface="メイリオ"/>
                <a:ea typeface="メイリオ"/>
                <a:cs typeface="メイリオ"/>
              </a:rPr>
              <a:t>ブロックを動画で紹介</a:t>
            </a:r>
          </a:p>
        </p:txBody>
      </p:sp>
      <p:sp>
        <p:nvSpPr>
          <p:cNvPr id="56" name="Rectangle 55"/>
          <p:cNvSpPr/>
          <p:nvPr/>
        </p:nvSpPr>
        <p:spPr>
          <a:xfrm>
            <a:off x="5010912" y="16916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4日目｜確かめる</a:t>
            </a:r>
          </a:p>
        </p:txBody>
      </p:sp>
      <p:sp>
        <p:nvSpPr>
          <p:cNvPr id="57" name="Rectangle 56"/>
          <p:cNvSpPr/>
          <p:nvPr/>
        </p:nvSpPr>
        <p:spPr>
          <a:xfrm>
            <a:off x="5010912" y="20939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安心して参加できる理由</a:t>
            </a:r>
          </a:p>
        </p:txBody>
      </p:sp>
      <p:sp>
        <p:nvSpPr>
          <p:cNvPr id="58" name="Rectangle 57"/>
          <p:cNvSpPr/>
          <p:nvPr/>
        </p:nvSpPr>
        <p:spPr>
          <a:xfrm>
            <a:off x="5010912" y="25511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講師の経歴と、参加は</a:t>
            </a:r>
          </a:p>
          <a:p>
            <a:pPr algn="l">
              <a:lnSpc>
                <a:spcPct val="110000"/>
              </a:lnSpc>
              <a:spcAft>
                <a:spcPts val="0"/>
              </a:spcAft>
            </a:pPr>
            <a:r>
              <a:rPr sz="1200" b="0">
                <a:solidFill>
                  <a:srgbClr val="333333"/>
                </a:solidFill>
                <a:latin typeface="メイリオ"/>
                <a:ea typeface="メイリオ"/>
                <a:cs typeface="メイリオ"/>
              </a:rPr>
              <a:t>無料であることをお伝え</a:t>
            </a:r>
          </a:p>
        </p:txBody>
      </p:sp>
      <p:sp>
        <p:nvSpPr>
          <p:cNvPr id="59" name="Rectangle 58"/>
          <p:cNvSpPr/>
          <p:nvPr/>
        </p:nvSpPr>
        <p:spPr>
          <a:xfrm>
            <a:off x="7306056" y="16916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6日目｜始める</a:t>
            </a:r>
          </a:p>
        </p:txBody>
      </p:sp>
      <p:sp>
        <p:nvSpPr>
          <p:cNvPr id="60" name="Rectangle 59"/>
          <p:cNvSpPr/>
          <p:nvPr/>
        </p:nvSpPr>
        <p:spPr>
          <a:xfrm>
            <a:off x="7306056" y="20939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セミナーで分かること</a:t>
            </a:r>
          </a:p>
        </p:txBody>
      </p:sp>
      <p:sp>
        <p:nvSpPr>
          <p:cNvPr id="61" name="Rectangle 60"/>
          <p:cNvSpPr/>
          <p:nvPr/>
        </p:nvSpPr>
        <p:spPr>
          <a:xfrm>
            <a:off x="7306056" y="25511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面談の進め方など、</a:t>
            </a:r>
          </a:p>
          <a:p>
            <a:pPr algn="l">
              <a:lnSpc>
                <a:spcPct val="110000"/>
              </a:lnSpc>
              <a:spcAft>
                <a:spcPts val="0"/>
              </a:spcAft>
            </a:pPr>
            <a:r>
              <a:rPr sz="1200" b="0">
                <a:solidFill>
                  <a:srgbClr val="333333"/>
                </a:solidFill>
                <a:latin typeface="メイリオ"/>
                <a:ea typeface="メイリオ"/>
                <a:cs typeface="メイリオ"/>
              </a:rPr>
              <a:t>参加して持ち帰れること</a:t>
            </a:r>
          </a:p>
        </p:txBody>
      </p:sp>
      <p:sp>
        <p:nvSpPr>
          <p:cNvPr id="62" name="Rectangle 61"/>
          <p:cNvSpPr/>
          <p:nvPr/>
        </p:nvSpPr>
        <p:spPr>
          <a:xfrm>
            <a:off x="420624" y="35204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8日目</a:t>
            </a:r>
          </a:p>
        </p:txBody>
      </p:sp>
      <p:sp>
        <p:nvSpPr>
          <p:cNvPr id="63" name="Rectangle 62"/>
          <p:cNvSpPr/>
          <p:nvPr/>
        </p:nvSpPr>
        <p:spPr>
          <a:xfrm>
            <a:off x="420624" y="39227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受講生の声</a:t>
            </a:r>
          </a:p>
        </p:txBody>
      </p:sp>
      <p:sp>
        <p:nvSpPr>
          <p:cNvPr id="64" name="Rectangle 63"/>
          <p:cNvSpPr/>
          <p:nvPr/>
        </p:nvSpPr>
        <p:spPr>
          <a:xfrm>
            <a:off x="420624" y="43799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診断の答えに合わせて、</a:t>
            </a:r>
          </a:p>
          <a:p>
            <a:pPr algn="l">
              <a:lnSpc>
                <a:spcPct val="110000"/>
              </a:lnSpc>
              <a:spcAft>
                <a:spcPts val="0"/>
              </a:spcAft>
            </a:pPr>
            <a:r>
              <a:rPr sz="1200" b="0">
                <a:solidFill>
                  <a:srgbClr val="333333"/>
                </a:solidFill>
                <a:latin typeface="メイリオ"/>
                <a:ea typeface="メイリオ"/>
                <a:cs typeface="メイリオ"/>
              </a:rPr>
              <a:t>同じ悩みだった方の声</a:t>
            </a:r>
          </a:p>
        </p:txBody>
      </p:sp>
      <p:sp>
        <p:nvSpPr>
          <p:cNvPr id="65" name="Rectangle 64"/>
          <p:cNvSpPr/>
          <p:nvPr/>
        </p:nvSpPr>
        <p:spPr>
          <a:xfrm>
            <a:off x="2715768" y="35204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10日目</a:t>
            </a:r>
          </a:p>
        </p:txBody>
      </p:sp>
      <p:sp>
        <p:nvSpPr>
          <p:cNvPr id="66" name="Rectangle 65"/>
          <p:cNvSpPr/>
          <p:nvPr/>
        </p:nvSpPr>
        <p:spPr>
          <a:xfrm>
            <a:off x="2715768" y="39227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よくある質問</a:t>
            </a:r>
          </a:p>
        </p:txBody>
      </p:sp>
      <p:sp>
        <p:nvSpPr>
          <p:cNvPr id="67" name="Rectangle 66"/>
          <p:cNvSpPr/>
          <p:nvPr/>
        </p:nvSpPr>
        <p:spPr>
          <a:xfrm>
            <a:off x="2715768" y="43799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地方から参加できる・</a:t>
            </a:r>
          </a:p>
          <a:p>
            <a:pPr algn="l">
              <a:lnSpc>
                <a:spcPct val="110000"/>
              </a:lnSpc>
              <a:spcAft>
                <a:spcPts val="0"/>
              </a:spcAft>
            </a:pPr>
            <a:r>
              <a:rPr sz="1200" b="0">
                <a:solidFill>
                  <a:srgbClr val="333333"/>
                </a:solidFill>
                <a:latin typeface="メイリオ"/>
                <a:ea typeface="メイリオ"/>
                <a:cs typeface="メイリオ"/>
              </a:rPr>
              <a:t>初心者でも分かる</a:t>
            </a:r>
          </a:p>
        </p:txBody>
      </p:sp>
      <p:sp>
        <p:nvSpPr>
          <p:cNvPr id="68" name="Rectangle 67"/>
          <p:cNvSpPr/>
          <p:nvPr/>
        </p:nvSpPr>
        <p:spPr>
          <a:xfrm>
            <a:off x="5010912" y="35204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12日目</a:t>
            </a:r>
          </a:p>
        </p:txBody>
      </p:sp>
      <p:sp>
        <p:nvSpPr>
          <p:cNvPr id="69" name="Rectangle 68"/>
          <p:cNvSpPr/>
          <p:nvPr/>
        </p:nvSpPr>
        <p:spPr>
          <a:xfrm>
            <a:off x="5010912" y="39227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次回セミナーのご案内</a:t>
            </a:r>
          </a:p>
        </p:txBody>
      </p:sp>
      <p:sp>
        <p:nvSpPr>
          <p:cNvPr id="70" name="Rectangle 69"/>
          <p:cNvSpPr/>
          <p:nvPr/>
        </p:nvSpPr>
        <p:spPr>
          <a:xfrm>
            <a:off x="5010912" y="43799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開催日程と</a:t>
            </a:r>
          </a:p>
          <a:p>
            <a:pPr algn="l">
              <a:lnSpc>
                <a:spcPct val="110000"/>
              </a:lnSpc>
              <a:spcAft>
                <a:spcPts val="0"/>
              </a:spcAft>
            </a:pPr>
            <a:r>
              <a:rPr sz="1200" b="0">
                <a:solidFill>
                  <a:srgbClr val="333333"/>
                </a:solidFill>
                <a:latin typeface="メイリオ"/>
                <a:ea typeface="メイリオ"/>
                <a:cs typeface="メイリオ"/>
              </a:rPr>
              <a:t>予約ページをご案内</a:t>
            </a:r>
          </a:p>
        </p:txBody>
      </p:sp>
      <p:sp>
        <p:nvSpPr>
          <p:cNvPr id="71" name="Rectangle 70"/>
          <p:cNvSpPr/>
          <p:nvPr/>
        </p:nvSpPr>
        <p:spPr>
          <a:xfrm>
            <a:off x="7306056" y="3520440"/>
            <a:ext cx="21671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14日目</a:t>
            </a:r>
          </a:p>
        </p:txBody>
      </p:sp>
      <p:sp>
        <p:nvSpPr>
          <p:cNvPr id="72" name="Rectangle 71"/>
          <p:cNvSpPr/>
          <p:nvPr/>
        </p:nvSpPr>
        <p:spPr>
          <a:xfrm>
            <a:off x="7306056" y="3922776"/>
            <a:ext cx="2167128" cy="42062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A5C"/>
                </a:solidFill>
                <a:latin typeface="メイリオ"/>
                <a:ea typeface="メイリオ"/>
                <a:cs typeface="メイリオ"/>
              </a:rPr>
              <a:t>予約締切のご案内</a:t>
            </a:r>
          </a:p>
        </p:txBody>
      </p:sp>
      <p:sp>
        <p:nvSpPr>
          <p:cNvPr id="73" name="Rectangle 72"/>
          <p:cNvSpPr/>
          <p:nvPr/>
        </p:nvSpPr>
        <p:spPr>
          <a:xfrm>
            <a:off x="7306056" y="4379976"/>
            <a:ext cx="2167128" cy="786384"/>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72000" tIns="28800" rIns="54000" bIns="18000"/>
          <a:lstStyle/>
          <a:p>
            <a:pPr algn="l">
              <a:lnSpc>
                <a:spcPct val="110000"/>
              </a:lnSpc>
              <a:spcAft>
                <a:spcPts val="0"/>
              </a:spcAft>
            </a:pPr>
            <a:r>
              <a:rPr sz="1200" b="0">
                <a:solidFill>
                  <a:srgbClr val="333333"/>
                </a:solidFill>
                <a:latin typeface="メイリオ"/>
                <a:ea typeface="メイリオ"/>
                <a:cs typeface="メイリオ"/>
              </a:rPr>
              <a:t>締切が近いことを</a:t>
            </a:r>
          </a:p>
          <a:p>
            <a:pPr algn="l">
              <a:lnSpc>
                <a:spcPct val="110000"/>
              </a:lnSpc>
              <a:spcAft>
                <a:spcPts val="0"/>
              </a:spcAft>
            </a:pPr>
            <a:r>
              <a:rPr sz="1200" b="0">
                <a:solidFill>
                  <a:srgbClr val="333333"/>
                </a:solidFill>
                <a:latin typeface="メイリオ"/>
                <a:ea typeface="メイリオ"/>
                <a:cs typeface="メイリオ"/>
              </a:rPr>
              <a:t>お伝えし、予約を後押し</a:t>
            </a:r>
          </a:p>
        </p:txBody>
      </p:sp>
      <p:sp>
        <p:nvSpPr>
          <p:cNvPr id="74" name="TextBox 73"/>
          <p:cNvSpPr txBox="1"/>
          <p:nvPr/>
        </p:nvSpPr>
        <p:spPr>
          <a:xfrm>
            <a:off x="420624" y="5440680"/>
            <a:ext cx="9052560" cy="64008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※一般の方を選んだ方には、一般の方向けの案内を中心に配信</a:t>
            </a:r>
          </a:p>
          <a:p>
            <a:pPr algn="l">
              <a:lnSpc>
                <a:spcPct val="105000"/>
              </a:lnSpc>
              <a:spcAft>
                <a:spcPts val="200"/>
              </a:spcAft>
            </a:pPr>
            <a:r>
              <a:rPr sz="900" b="0">
                <a:solidFill>
                  <a:srgbClr val="777777"/>
                </a:solidFill>
                <a:latin typeface="メイリオ"/>
                <a:ea typeface="メイリオ"/>
                <a:cs typeface="メイリオ"/>
              </a:rPr>
              <a:t>※配信内容は、貴社LPの「生産性4倍セミナーの特徴」「受講生の声」「よくある質問」「講師紹介」をもとにした例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949440"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16日以降の配信：開催の有無で、回数と中身を変える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15日を過ぎたら回数を絞ってつながりを保ち、開催月は予約・参加まで後押しする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Rectangle 49"/>
          <p:cNvSpPr/>
          <p:nvPr/>
        </p:nvSpPr>
        <p:spPr>
          <a:xfrm>
            <a:off x="420624" y="192024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51" name="Rectangle 50"/>
          <p:cNvSpPr/>
          <p:nvPr/>
        </p:nvSpPr>
        <p:spPr>
          <a:xfrm>
            <a:off x="2157984" y="192024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52" name="TextBox 51"/>
          <p:cNvSpPr txBox="1"/>
          <p:nvPr/>
        </p:nvSpPr>
        <p:spPr>
          <a:xfrm>
            <a:off x="4450080" y="192024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53" name="Rectangle 52"/>
          <p:cNvSpPr/>
          <p:nvPr/>
        </p:nvSpPr>
        <p:spPr>
          <a:xfrm>
            <a:off x="4669535" y="192024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54" name="TextBox 53"/>
          <p:cNvSpPr txBox="1"/>
          <p:nvPr/>
        </p:nvSpPr>
        <p:spPr>
          <a:xfrm>
            <a:off x="6961631" y="192024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55" name="Rectangle 54"/>
          <p:cNvSpPr/>
          <p:nvPr/>
        </p:nvSpPr>
        <p:spPr>
          <a:xfrm>
            <a:off x="7181087" y="192024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56" name="Rectangle 55"/>
          <p:cNvSpPr/>
          <p:nvPr/>
        </p:nvSpPr>
        <p:spPr>
          <a:xfrm>
            <a:off x="420624" y="352044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57" name="Rectangle 56"/>
          <p:cNvSpPr/>
          <p:nvPr/>
        </p:nvSpPr>
        <p:spPr>
          <a:xfrm>
            <a:off x="2157984" y="352044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58" name="TextBox 57"/>
          <p:cNvSpPr txBox="1"/>
          <p:nvPr/>
        </p:nvSpPr>
        <p:spPr>
          <a:xfrm>
            <a:off x="3445459" y="352044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59" name="Rectangle 58"/>
          <p:cNvSpPr/>
          <p:nvPr/>
        </p:nvSpPr>
        <p:spPr>
          <a:xfrm>
            <a:off x="3664915" y="352044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60" name="TextBox 59"/>
          <p:cNvSpPr txBox="1"/>
          <p:nvPr/>
        </p:nvSpPr>
        <p:spPr>
          <a:xfrm>
            <a:off x="4952390" y="352044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61" name="Rectangle 60"/>
          <p:cNvSpPr/>
          <p:nvPr/>
        </p:nvSpPr>
        <p:spPr>
          <a:xfrm>
            <a:off x="5171846" y="352044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62" name="TextBox 61"/>
          <p:cNvSpPr txBox="1"/>
          <p:nvPr/>
        </p:nvSpPr>
        <p:spPr>
          <a:xfrm>
            <a:off x="6459321" y="352044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63" name="Rectangle 62"/>
          <p:cNvSpPr/>
          <p:nvPr/>
        </p:nvSpPr>
        <p:spPr>
          <a:xfrm>
            <a:off x="6678777" y="352044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64" name="TextBox 63"/>
          <p:cNvSpPr txBox="1"/>
          <p:nvPr/>
        </p:nvSpPr>
        <p:spPr>
          <a:xfrm>
            <a:off x="7966252" y="352044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65" name="Rectangle 64"/>
          <p:cNvSpPr/>
          <p:nvPr/>
        </p:nvSpPr>
        <p:spPr>
          <a:xfrm>
            <a:off x="8185708" y="352044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66" name="TextBox 65"/>
          <p:cNvSpPr txBox="1"/>
          <p:nvPr/>
        </p:nvSpPr>
        <p:spPr>
          <a:xfrm>
            <a:off x="420624" y="498348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