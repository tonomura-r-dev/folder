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8.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3"/>
  </p:notesMasterIdLst>
  <p:handoutMasterIdLst>
    <p:handoutMasterId r:id="rId64"/>
  </p:handoutMasterIdLst>
  <p:sldIdLst>
    <p:sldId id="2363" r:id="rId3"/>
    <p:sldId id="2988" r:id="rId4"/>
    <p:sldId id="2971" r:id="rId5"/>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35" r:id="rId69"/>
    <p:sldId id="3015" r:id="rId20"/>
    <p:sldId id="2957" r:id="rId21"/>
    <p:sldId id="3022" r:id="rId22"/>
    <p:sldId id="3031" r:id="rId23"/>
    <p:sldId id="3023" r:id="rId24"/>
    <p:sldId id="3024" r:id="rId25"/>
    <p:sldId id="3019" r:id="rId26"/>
    <p:sldId id="3032" r:id="rId27"/>
    <p:sldId id="3028" r:id="rId28"/>
    <p:sldId id="2970" r:id="rId29"/>
    <p:sldId id="2959" r:id="rId30"/>
    <p:sldId id="3025" r:id="rId31"/>
    <p:sldId id="3034" r:id="rId32"/>
    <p:sldId id="2966" r:id="rId33"/>
    <p:sldId id="3036" r:id="rId70"/>
    <p:sldId id="3037" r:id="rId71"/>
    <p:sldId id="3038" r:id="rId72"/>
    <p:sldId id="3039" r:id="rId73"/>
    <p:sldId id="3013" r:id="rId34"/>
    <p:sldId id="3011" r:id="rId36"/>
    <p:sldId id="2734" r:id="rId37"/>
    <p:sldId id="2595" r:id="rId38"/>
    <p:sldId id="2566" r:id="rId39"/>
    <p:sldId id="2915" r:id="rId40"/>
    <p:sldId id="2619" r:id="rId41"/>
    <p:sldId id="1169" r:id="rId42"/>
    <p:sldId id="2961" r:id="rId43"/>
    <p:sldId id="2908" r:id="rId44"/>
    <p:sldId id="2935" r:id="rId45"/>
    <p:sldId id="2919" r:id="rId46"/>
    <p:sldId id="2519" r:id="rId47"/>
    <p:sldId id="2931" r:id="rId48"/>
    <p:sldId id="2749" r:id="rId49"/>
    <p:sldId id="2950" r:id="rId50"/>
    <p:sldId id="2563" r:id="rId51"/>
    <p:sldId id="2968" r:id="rId52"/>
    <p:sldId id="2969" r:id="rId53"/>
    <p:sldId id="2951" r:id="rId54"/>
    <p:sldId id="2841" r:id="rId55"/>
    <p:sldId id="2849" r:id="rId56"/>
    <p:sldId id="2904" r:id="rId57"/>
    <p:sldId id="2905" r:id="rId58"/>
    <p:sldId id="2906" r:id="rId59"/>
    <p:sldId id="2907" r:id="rId60"/>
    <p:sldId id="2575" r:id="rId61"/>
    <p:sldId id="2910" r:id="rId6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openxmlformats.org/officeDocument/2006/relationships/slide" Target="slides/slide18.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40</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eg"/><Relationship Id="rId8" Type="http://schemas.openxmlformats.org/officeDocument/2006/relationships/image" Target="../media/image20.jp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youtube.com/shorts/0qI4QgrOppQ"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40.jpeg"/><Relationship Id="rId5" Type="http://schemas.openxmlformats.org/officeDocument/2006/relationships/image" Target="../media/image41.jpeg"/><Relationship Id="rId6" Type="http://schemas.openxmlformats.org/officeDocument/2006/relationships/image" Target="../media/image42.jpeg"/><Relationship Id="rId7" Type="http://schemas.openxmlformats.org/officeDocument/2006/relationships/image" Target="../media/image43.jpeg"/><Relationship Id="rId8" Type="http://schemas.openxmlformats.org/officeDocument/2006/relationships/image" Target="../media/image44.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 Id="rId6" Type="http://schemas.openxmlformats.org/officeDocument/2006/relationships/image" Target="../media/image48.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jpg"/><Relationship Id="rId5" Type="http://schemas.openxmlformats.org/officeDocument/2006/relationships/image" Target="../media/image7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集めた方と、次のイベント参加・サロン入会まで接点を持ち続けることが重要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a:t>
                      </a:r>
                      <a:endParaRPr lang="en-US" altLang="ja-JP" sz="1200" b="1" dirty="0">
                        <a:solidFill>
                          <a:srgbClr val="1F2A5C"/>
                        </a:solidFill>
                        <a:latin typeface="メイリオ" panose="020B0604030504040204" pitchFamily="50" charset="-128"/>
                        <a:ea typeface="メイリオ" panose="020B0604030504040204" pitchFamily="50" charset="-128"/>
                      </a:endParaRPr>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学びたい方が増えている。そのため、セミナーで出会った方とLINEでつながり、次のセミナー・サロンの入会まで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
        <p:nvSpPr>
          <p:cNvPr id="8" name="Rectangle 7"/>
          <p:cNvSpPr/>
          <p:nvPr/>
        </p:nvSpPr>
        <p:spPr>
          <a:xfrm>
            <a:off x="502920" y="1828800"/>
            <a:ext cx="3520440" cy="192024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9" name="Rectangle 8"/>
          <p:cNvSpPr/>
          <p:nvPr/>
        </p:nvSpPr>
        <p:spPr>
          <a:xfrm>
            <a:off x="502920" y="1463040"/>
            <a:ext cx="3520440" cy="365760"/>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広告</a:t>
            </a:r>
          </a:p>
        </p:txBody>
      </p:sp>
      <p:sp>
        <p:nvSpPr>
          <p:cNvPr id="10" name="TextBox 9"/>
          <p:cNvSpPr txBox="1"/>
          <p:nvPr/>
        </p:nvSpPr>
        <p:spPr>
          <a:xfrm>
            <a:off x="594360" y="19019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0">
                <a:solidFill>
                  <a:srgbClr val="333333"/>
                </a:solidFill>
                <a:latin typeface="メイリオ"/>
                <a:ea typeface="メイリオ"/>
                <a:cs typeface="メイリオ"/>
              </a:rPr>
              <a:t>新しい見込み客との接点を獲得する</a:t>
            </a:r>
          </a:p>
        </p:txBody>
      </p:sp>
      <p:cxnSp>
        <p:nvCxnSpPr>
          <p:cNvPr id="11" name="Connector 10"/>
          <p:cNvCxnSpPr/>
          <p:nvPr/>
        </p:nvCxnSpPr>
        <p:spPr>
          <a:xfrm>
            <a:off x="640080" y="23317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94360" y="23591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0">
                <a:solidFill>
                  <a:srgbClr val="333333"/>
                </a:solidFill>
                <a:latin typeface="メイリオ"/>
                <a:ea typeface="メイリオ"/>
                <a:cs typeface="メイリオ"/>
              </a:rPr>
              <a:t>まだつながっていない方</a:t>
            </a:r>
          </a:p>
        </p:txBody>
      </p:sp>
      <p:cxnSp>
        <p:nvCxnSpPr>
          <p:cNvPr id="13" name="Connector 12"/>
          <p:cNvCxnSpPr/>
          <p:nvPr/>
        </p:nvCxnSpPr>
        <p:spPr>
          <a:xfrm>
            <a:off x="640080" y="27889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4360" y="28163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0">
                <a:solidFill>
                  <a:srgbClr val="333333"/>
                </a:solidFill>
                <a:latin typeface="メイリオ"/>
                <a:ea typeface="メイリオ"/>
                <a:cs typeface="メイリオ"/>
              </a:rPr>
              <a:t>広告を配信している期間</a:t>
            </a:r>
          </a:p>
        </p:txBody>
      </p:sp>
      <p:cxnSp>
        <p:nvCxnSpPr>
          <p:cNvPr id="15" name="Connector 14"/>
          <p:cNvCxnSpPr/>
          <p:nvPr/>
        </p:nvCxnSpPr>
        <p:spPr>
          <a:xfrm>
            <a:off x="640080" y="32461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94360" y="32735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0">
                <a:solidFill>
                  <a:srgbClr val="333333"/>
                </a:solidFill>
                <a:latin typeface="メイリオ"/>
                <a:ea typeface="メイリオ"/>
                <a:cs typeface="メイリオ"/>
              </a:rPr>
              <a:t>セミナー予約などの反響</a:t>
            </a:r>
          </a:p>
        </p:txBody>
      </p:sp>
      <p:sp>
        <p:nvSpPr>
          <p:cNvPr id="17" name="Rectangle 16"/>
          <p:cNvSpPr/>
          <p:nvPr/>
        </p:nvSpPr>
        <p:spPr>
          <a:xfrm>
            <a:off x="4846320" y="1828800"/>
            <a:ext cx="4553712" cy="1920240"/>
          </a:xfrm>
          <a:prstGeom prst="rect">
            <a:avLst/>
          </a:prstGeom>
          <a:solidFill>
            <a:srgbClr val="F4F7FF"/>
          </a:solidFill>
          <a:ln w="1587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8" name="Rectangle 17"/>
          <p:cNvSpPr/>
          <p:nvPr/>
        </p:nvSpPr>
        <p:spPr>
          <a:xfrm>
            <a:off x="4846320" y="1463040"/>
            <a:ext cx="4553712" cy="36576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LINE公式アカウント</a:t>
            </a:r>
          </a:p>
        </p:txBody>
      </p:sp>
      <p:sp>
        <p:nvSpPr>
          <p:cNvPr id="19" name="TextBox 18"/>
          <p:cNvSpPr txBox="1"/>
          <p:nvPr/>
        </p:nvSpPr>
        <p:spPr>
          <a:xfrm>
            <a:off x="4937760" y="19019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1">
                <a:solidFill>
                  <a:srgbClr val="1F285A"/>
                </a:solidFill>
                <a:latin typeface="メイリオ"/>
                <a:ea typeface="メイリオ"/>
                <a:cs typeface="メイリオ"/>
              </a:rPr>
              <a:t>一度つながった見込み客に、継続して情報を届ける</a:t>
            </a:r>
          </a:p>
        </p:txBody>
      </p:sp>
      <p:cxnSp>
        <p:nvCxnSpPr>
          <p:cNvPr id="20" name="Connector 19"/>
          <p:cNvCxnSpPr/>
          <p:nvPr/>
        </p:nvCxnSpPr>
        <p:spPr>
          <a:xfrm>
            <a:off x="4983480" y="23317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4937760" y="23591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1">
                <a:solidFill>
                  <a:srgbClr val="1F285A"/>
                </a:solidFill>
                <a:latin typeface="メイリオ"/>
                <a:ea typeface="メイリオ"/>
                <a:cs typeface="メイリオ"/>
              </a:rPr>
              <a:t>友だち追加した方</a:t>
            </a:r>
          </a:p>
        </p:txBody>
      </p:sp>
      <p:cxnSp>
        <p:nvCxnSpPr>
          <p:cNvPr id="22" name="Connector 21"/>
          <p:cNvCxnSpPr/>
          <p:nvPr/>
        </p:nvCxnSpPr>
        <p:spPr>
          <a:xfrm>
            <a:off x="4983480" y="27889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4937760" y="28163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1">
                <a:solidFill>
                  <a:srgbClr val="1F285A"/>
                </a:solidFill>
                <a:latin typeface="メイリオ"/>
                <a:ea typeface="メイリオ"/>
                <a:cs typeface="メイリオ"/>
              </a:rPr>
              <a:t>開催月も、開催のない月も</a:t>
            </a:r>
          </a:p>
        </p:txBody>
      </p:sp>
      <p:cxnSp>
        <p:nvCxnSpPr>
          <p:cNvPr id="24" name="Connector 23"/>
          <p:cNvCxnSpPr/>
          <p:nvPr/>
        </p:nvCxnSpPr>
        <p:spPr>
          <a:xfrm>
            <a:off x="4983480" y="32461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937760" y="32735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1">
                <a:solidFill>
                  <a:srgbClr val="1F285A"/>
                </a:solidFill>
                <a:latin typeface="メイリオ"/>
                <a:ea typeface="メイリオ"/>
                <a:cs typeface="メイリオ"/>
              </a:rPr>
              <a:t>友だち（次回以降も案内できる相手）</a:t>
            </a:r>
          </a:p>
        </p:txBody>
      </p:sp>
      <p:sp>
        <p:nvSpPr>
          <p:cNvPr id="26" name="TextBox 25"/>
          <p:cNvSpPr txBox="1"/>
          <p:nvPr/>
        </p:nvSpPr>
        <p:spPr>
          <a:xfrm>
            <a:off x="4023360" y="2286000"/>
            <a:ext cx="822960" cy="274320"/>
          </a:xfrm>
          <a:prstGeom prst="rect">
            <a:avLst/>
          </a:prstGeom>
          <a:noFill/>
        </p:spPr>
        <p:txBody>
          <a:bodyPr wrap="square" anchor="b" lIns="36000" rIns="36000" tIns="10800" bIns="10800">
            <a:spAutoFit/>
          </a:bodyPr>
          <a:lstStyle/>
          <a:p>
            <a:pPr algn="ctr">
              <a:lnSpc>
                <a:spcPct val="105000"/>
              </a:lnSpc>
              <a:spcAft>
                <a:spcPts val="200"/>
              </a:spcAft>
            </a:pPr>
            <a:r>
              <a:rPr sz="1000" b="1">
                <a:solidFill>
                  <a:srgbClr val="1F285A"/>
                </a:solidFill>
                <a:latin typeface="メイリオ"/>
                <a:ea typeface="メイリオ"/>
                <a:cs typeface="メイリオ"/>
              </a:rPr>
              <a:t>友だち追加</a:t>
            </a:r>
          </a:p>
        </p:txBody>
      </p:sp>
      <p:sp>
        <p:nvSpPr>
          <p:cNvPr id="27" name="Right Arrow 26"/>
          <p:cNvSpPr/>
          <p:nvPr/>
        </p:nvSpPr>
        <p:spPr>
          <a:xfrm>
            <a:off x="4133088" y="2606039"/>
            <a:ext cx="603504" cy="365760"/>
          </a:xfrm>
          <a:prstGeom prst="rightArrow">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1259239623"/>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07336">
                  <a:extLst>
                    <a:ext uri="{9D8B030D-6E8A-4147-A177-3AD203B41FA5}">
                      <a16:colId xmlns:a16="http://schemas.microsoft.com/office/drawing/2014/main" val="20001"/>
                    </a:ext>
                  </a:extLst>
                </a:gridCol>
                <a:gridCol w="2673531">
                  <a:extLst>
                    <a:ext uri="{9D8B030D-6E8A-4147-A177-3AD203B41FA5}">
                      <a16:colId xmlns:a16="http://schemas.microsoft.com/office/drawing/2014/main" val="20002"/>
                    </a:ext>
                  </a:extLst>
                </a:gridCol>
                <a:gridCol w="2471493">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119633429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6か月（セミナー開催月と開催のない月で、配信内容と工数が変わる）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友だちを増やし、ブロック率を抑えながら、セミナー参加・サロン入会につなげる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開催のない月は月1〜2回、開催月は月4〜5回の企画配信で、つながりを保つ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開催月・開催のない月</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それぞれに合わせて届ける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想定動線（フェーズごとのLINEの役割）①〜④</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⑦マネタイズ</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r>
              <a:rPr lang="ja-JP" altLang="en-US" sz="1000" b="1" dirty="0">
                <a:solidFill>
                  <a:srgbClr val="BFBFBF"/>
                </a:solidFill>
                <a:latin typeface="メイリオ" panose="020B0604030504040204" pitchFamily="50" charset="-128"/>
                <a:ea typeface="メイリオ" panose="020B0604030504040204" pitchFamily="50" charset="-128"/>
                <a:cs typeface="メイリオ"/>
              </a:rPr>
              <a:t>成約</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r>
              <a:rPr lang="ja-JP" altLang="en-US" sz="1000" b="1" dirty="0">
                <a:solidFill>
                  <a:srgbClr val="BFBFBF"/>
                </a:solidFill>
                <a:latin typeface="メイリオ" panose="020B0604030504040204" pitchFamily="50" charset="-128"/>
                <a:ea typeface="メイリオ" panose="020B0604030504040204" pitchFamily="50" charset="-128"/>
                <a:cs typeface="メイリオ"/>
              </a:rPr>
              <a:t>購入</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solidFill>
                  <a:srgbClr val="BFBFBF"/>
                </a:solidFill>
                <a:latin typeface="メイリオ" panose="020B0604030504040204" pitchFamily="50" charset="-128"/>
                <a:ea typeface="メイリオ" panose="020B0604030504040204" pitchFamily="50" charset="-128"/>
                <a:cs typeface="メイリオ"/>
              </a:rPr>
              <a:t>⑧</a:t>
            </a:r>
            <a:r>
              <a:rPr lang="en-US" altLang="ja-JP" sz="1100" dirty="0">
                <a:solidFill>
                  <a:srgbClr val="BFBFBF"/>
                </a:solidFill>
                <a:latin typeface="メイリオ" panose="020B0604030504040204" pitchFamily="50" charset="-128"/>
                <a:ea typeface="メイリオ" panose="020B0604030504040204" pitchFamily="50" charset="-128"/>
                <a:cs typeface="メイリオ"/>
              </a:rPr>
              <a:t>LTV</a:t>
            </a:r>
            <a:r>
              <a:rPr lang="ja-JP" altLang="en-US" sz="1100" dirty="0">
                <a:solidFill>
                  <a:srgbClr val="BFBFBF"/>
                </a:solidFill>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LPを離れる方を友だちにし、セミナーの予約・参加までつなげる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① 接触</a:t>
            </a:r>
          </a:p>
          <a:p>
            <a:pPr algn="ctr">
              <a:lnSpc>
                <a:spcPct val="110000"/>
              </a:lnSpc>
              <a:spcAft>
                <a:spcPts val="0"/>
              </a:spcAft>
            </a:pPr>
            <a:r>
              <a:rPr sz="1050" b="1">
                <a:solidFill>
                  <a:srgbClr val="1F285A"/>
                </a:solidFill>
                <a:latin typeface="メイリオ"/>
                <a:ea typeface="メイリオ"/>
                <a:cs typeface="メイリオ"/>
              </a:rPr>
              <a:t>（認知・流入）</a:t>
            </a:r>
          </a:p>
        </p:txBody>
      </p:sp>
      <p:sp>
        <p:nvSpPr>
          <p:cNvPr id="47" name="Isosceles Triangle 46"/>
          <p:cNvSpPr/>
          <p:nvPr/>
        </p:nvSpPr>
        <p:spPr>
          <a:xfrm rot="5400000">
            <a:off x="2587751"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TextBox 47"/>
          <p:cNvSpPr txBox="1"/>
          <p:nvPr/>
        </p:nvSpPr>
        <p:spPr>
          <a:xfrm>
            <a:off x="384048"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49" name="TextBox 48"/>
          <p:cNvSpPr txBox="1"/>
          <p:nvPr/>
        </p:nvSpPr>
        <p:spPr>
          <a:xfrm>
            <a:off x="384048"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営業力を上げたい・</a:t>
            </a:r>
          </a:p>
          <a:p>
            <a:pPr algn="l">
              <a:lnSpc>
                <a:spcPct val="105000"/>
              </a:lnSpc>
              <a:spcAft>
                <a:spcPts val="200"/>
              </a:spcAft>
            </a:pPr>
            <a:r>
              <a:rPr sz="1300" b="0">
                <a:solidFill>
                  <a:srgbClr val="333333"/>
                </a:solidFill>
                <a:latin typeface="メイリオ"/>
                <a:ea typeface="メイリオ"/>
                <a:cs typeface="メイリオ"/>
              </a:rPr>
              <a:t>情報収集中</a:t>
            </a:r>
          </a:p>
        </p:txBody>
      </p:sp>
      <p:cxnSp>
        <p:nvCxnSpPr>
          <p:cNvPr id="50" name="Connector 49"/>
          <p:cNvCxnSpPr/>
          <p:nvPr/>
        </p:nvCxnSpPr>
        <p:spPr>
          <a:xfrm>
            <a:off x="429768"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1" name="Rectangle 50"/>
          <p:cNvSpPr/>
          <p:nvPr/>
        </p:nvSpPr>
        <p:spPr>
          <a:xfrm>
            <a:off x="384048"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離脱防止ポップアップ</a:t>
            </a:r>
          </a:p>
          <a:p>
            <a:pPr algn="l">
              <a:lnSpc>
                <a:spcPct val="110000"/>
              </a:lnSpc>
              <a:spcAft>
                <a:spcPts val="0"/>
              </a:spcAft>
            </a:pPr>
            <a:r>
              <a:rPr sz="1300" b="1">
                <a:solidFill>
                  <a:srgbClr val="1F285A"/>
                </a:solidFill>
                <a:latin typeface="メイリオ"/>
                <a:ea typeface="メイリオ"/>
                <a:cs typeface="メイリオ"/>
              </a:rPr>
              <a:t>（推奨）</a:t>
            </a:r>
          </a:p>
        </p:txBody>
      </p:sp>
      <p:sp>
        <p:nvSpPr>
          <p:cNvPr id="52" name="Rectangle 51"/>
          <p:cNvSpPr/>
          <p:nvPr/>
        </p:nvSpPr>
        <p:spPr>
          <a:xfrm>
            <a:off x="2798063"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② サイト離脱</a:t>
            </a:r>
          </a:p>
          <a:p>
            <a:pPr algn="ctr">
              <a:lnSpc>
                <a:spcPct val="110000"/>
              </a:lnSpc>
              <a:spcAft>
                <a:spcPts val="0"/>
              </a:spcAft>
            </a:pPr>
            <a:r>
              <a:rPr sz="1050" b="1">
                <a:solidFill>
                  <a:srgbClr val="1F285A"/>
                </a:solidFill>
                <a:latin typeface="メイリオ"/>
                <a:ea typeface="メイリオ"/>
                <a:cs typeface="メイリオ"/>
              </a:rPr>
              <a:t>（対策）</a:t>
            </a:r>
          </a:p>
        </p:txBody>
      </p:sp>
      <p:sp>
        <p:nvSpPr>
          <p:cNvPr id="53" name="Isosceles Triangle 52"/>
          <p:cNvSpPr/>
          <p:nvPr/>
        </p:nvSpPr>
        <p:spPr>
          <a:xfrm rot="5400000">
            <a:off x="5001768"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4" name="TextBox 53"/>
          <p:cNvSpPr txBox="1"/>
          <p:nvPr/>
        </p:nvSpPr>
        <p:spPr>
          <a:xfrm>
            <a:off x="2798063"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55" name="TextBox 54"/>
          <p:cNvSpPr txBox="1"/>
          <p:nvPr/>
        </p:nvSpPr>
        <p:spPr>
          <a:xfrm>
            <a:off x="2798063"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今回は申し込まない</a:t>
            </a:r>
          </a:p>
        </p:txBody>
      </p:sp>
      <p:cxnSp>
        <p:nvCxnSpPr>
          <p:cNvPr id="56" name="Connector 55"/>
          <p:cNvCxnSpPr/>
          <p:nvPr/>
        </p:nvCxnSpPr>
        <p:spPr>
          <a:xfrm>
            <a:off x="2843783"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7" name="Rectangle 56"/>
          <p:cNvSpPr/>
          <p:nvPr/>
        </p:nvSpPr>
        <p:spPr>
          <a:xfrm>
            <a:off x="2798063"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ポップアップから</a:t>
            </a:r>
          </a:p>
          <a:p>
            <a:pPr algn="l">
              <a:lnSpc>
                <a:spcPct val="110000"/>
              </a:lnSpc>
              <a:spcAft>
                <a:spcPts val="0"/>
              </a:spcAft>
            </a:pPr>
            <a:r>
              <a:rPr sz="1300" b="1">
                <a:solidFill>
                  <a:srgbClr val="1F285A"/>
                </a:solidFill>
                <a:latin typeface="メイリオ"/>
                <a:ea typeface="メイリオ"/>
                <a:cs typeface="メイリオ"/>
              </a:rPr>
              <a:t>LINE友だち化</a:t>
            </a:r>
          </a:p>
        </p:txBody>
      </p:sp>
      <p:sp>
        <p:nvSpPr>
          <p:cNvPr id="58" name="Rectangle 57"/>
          <p:cNvSpPr/>
          <p:nvPr/>
        </p:nvSpPr>
        <p:spPr>
          <a:xfrm>
            <a:off x="5212079"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③ 育成</a:t>
            </a:r>
          </a:p>
          <a:p>
            <a:pPr algn="ctr">
              <a:lnSpc>
                <a:spcPct val="110000"/>
              </a:lnSpc>
              <a:spcAft>
                <a:spcPts val="0"/>
              </a:spcAft>
            </a:pPr>
            <a:r>
              <a:rPr sz="1050" b="1">
                <a:solidFill>
                  <a:srgbClr val="1F285A"/>
                </a:solidFill>
                <a:latin typeface="メイリオ"/>
                <a:ea typeface="メイリオ"/>
                <a:cs typeface="メイリオ"/>
              </a:rPr>
              <a:t>（興味喚起）</a:t>
            </a:r>
          </a:p>
        </p:txBody>
      </p:sp>
      <p:sp>
        <p:nvSpPr>
          <p:cNvPr id="59" name="Isosceles Triangle 58"/>
          <p:cNvSpPr/>
          <p:nvPr/>
        </p:nvSpPr>
        <p:spPr>
          <a:xfrm rot="5400000">
            <a:off x="7415784"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60" name="TextBox 59"/>
          <p:cNvSpPr txBox="1"/>
          <p:nvPr/>
        </p:nvSpPr>
        <p:spPr>
          <a:xfrm>
            <a:off x="5212079"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1" name="TextBox 60"/>
          <p:cNvSpPr txBox="1"/>
          <p:nvPr/>
        </p:nvSpPr>
        <p:spPr>
          <a:xfrm>
            <a:off x="5212079"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どんなセミナーか</a:t>
            </a:r>
          </a:p>
          <a:p>
            <a:pPr algn="l">
              <a:lnSpc>
                <a:spcPct val="105000"/>
              </a:lnSpc>
              <a:spcAft>
                <a:spcPts val="200"/>
              </a:spcAft>
            </a:pPr>
            <a:r>
              <a:rPr sz="1300" b="0">
                <a:solidFill>
                  <a:srgbClr val="333333"/>
                </a:solidFill>
                <a:latin typeface="メイリオ"/>
                <a:ea typeface="メイリオ"/>
                <a:cs typeface="メイリオ"/>
              </a:rPr>
              <a:t>分からない</a:t>
            </a:r>
          </a:p>
        </p:txBody>
      </p:sp>
      <p:cxnSp>
        <p:nvCxnSpPr>
          <p:cNvPr id="62" name="Connector 61"/>
          <p:cNvCxnSpPr/>
          <p:nvPr/>
        </p:nvCxnSpPr>
        <p:spPr>
          <a:xfrm>
            <a:off x="5257799" y="4572000"/>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3" name="Rectangle 62"/>
          <p:cNvSpPr/>
          <p:nvPr/>
        </p:nvSpPr>
        <p:spPr>
          <a:xfrm>
            <a:off x="5212079"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見どころ・特典を</a:t>
            </a:r>
          </a:p>
          <a:p>
            <a:pPr algn="l">
              <a:lnSpc>
                <a:spcPct val="110000"/>
              </a:lnSpc>
              <a:spcAft>
                <a:spcPts val="0"/>
              </a:spcAft>
            </a:pPr>
            <a:r>
              <a:rPr sz="1300" b="1">
                <a:solidFill>
                  <a:srgbClr val="1F285A"/>
                </a:solidFill>
                <a:latin typeface="メイリオ"/>
                <a:ea typeface="メイリオ"/>
                <a:cs typeface="メイリオ"/>
              </a:rPr>
              <a:t>ステップ配信</a:t>
            </a:r>
          </a:p>
        </p:txBody>
      </p:sp>
      <p:sp>
        <p:nvSpPr>
          <p:cNvPr id="64" name="Rectangle 63"/>
          <p:cNvSpPr/>
          <p:nvPr/>
        </p:nvSpPr>
        <p:spPr>
          <a:xfrm>
            <a:off x="7626095"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④ リード獲得</a:t>
            </a:r>
          </a:p>
          <a:p>
            <a:pPr algn="ctr">
              <a:lnSpc>
                <a:spcPct val="110000"/>
              </a:lnSpc>
              <a:spcAft>
                <a:spcPts val="0"/>
              </a:spcAft>
            </a:pPr>
            <a:r>
              <a:rPr sz="1050" b="1">
                <a:solidFill>
                  <a:srgbClr val="1F285A"/>
                </a:solidFill>
                <a:latin typeface="メイリオ"/>
                <a:ea typeface="メイリオ"/>
                <a:cs typeface="メイリオ"/>
              </a:rPr>
              <a:t>(web/LINE)</a:t>
            </a:r>
          </a:p>
        </p:txBody>
      </p:sp>
      <p:sp>
        <p:nvSpPr>
          <p:cNvPr id="65" name="TextBox 64"/>
          <p:cNvSpPr txBox="1"/>
          <p:nvPr/>
        </p:nvSpPr>
        <p:spPr>
          <a:xfrm>
            <a:off x="7626095"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6" name="TextBox 65"/>
          <p:cNvSpPr txBox="1"/>
          <p:nvPr/>
        </p:nvSpPr>
        <p:spPr>
          <a:xfrm>
            <a:off x="7626095"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セミナーを予約した</a:t>
            </a:r>
          </a:p>
        </p:txBody>
      </p:sp>
      <p:cxnSp>
        <p:nvCxnSpPr>
          <p:cNvPr id="67" name="Connector 66"/>
          <p:cNvCxnSpPr/>
          <p:nvPr/>
        </p:nvCxnSpPr>
        <p:spPr>
          <a:xfrm>
            <a:off x="7671816"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7626095"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予約後の友だち追加・</a:t>
            </a:r>
          </a:p>
          <a:p>
            <a:pPr algn="l">
              <a:lnSpc>
                <a:spcPct val="110000"/>
              </a:lnSpc>
              <a:spcAft>
                <a:spcPts val="0"/>
              </a:spcAft>
            </a:pPr>
            <a:r>
              <a:rPr sz="1300" b="1">
                <a:solidFill>
                  <a:srgbClr val="1F285A"/>
                </a:solidFill>
                <a:latin typeface="メイリオ"/>
                <a:ea typeface="メイリオ"/>
                <a:cs typeface="メイリオ"/>
              </a:rPr>
              <a:t>前日の案内</a:t>
            </a: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想定動線（フェーズごとのLINEの役割）⑤〜⑧</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solidFill>
                  <a:srgbClr val="BFBFBF"/>
                </a:solidFill>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solidFill>
                  <a:srgbClr val="BFBFBF"/>
                </a:solidFill>
                <a:latin typeface="メイリオ" panose="020B0604030504040204" pitchFamily="50" charset="-128"/>
                <a:ea typeface="メイリオ" panose="020B0604030504040204" pitchFamily="50" charset="-128"/>
                <a:cs typeface="メイリオ"/>
              </a:rPr>
              <a:t>② サイト離脱</a:t>
            </a:r>
            <a:r>
              <a:rPr lang="ja-JP" altLang="en-US" sz="1100" dirty="0">
                <a:solidFill>
                  <a:srgbClr val="BFBFBF"/>
                </a:solidFill>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solidFill>
                  <a:srgbClr val="BFBFBF"/>
                </a:solidFill>
                <a:latin typeface="メイリオ" panose="020B0604030504040204" pitchFamily="50" charset="-128"/>
                <a:ea typeface="メイリオ" panose="020B0604030504040204" pitchFamily="50" charset="-128"/>
                <a:cs typeface="メイリオ"/>
              </a:rPr>
              <a:t>③ 育成（興味</a:t>
            </a:r>
            <a:r>
              <a:rPr lang="ja-JP" altLang="en-US" sz="1100" b="1" dirty="0">
                <a:solidFill>
                  <a:srgbClr val="BFBFBF"/>
                </a:solidFill>
                <a:latin typeface="メイリオ" panose="020B0604030504040204" pitchFamily="50" charset="-128"/>
                <a:ea typeface="メイリオ" panose="020B0604030504040204" pitchFamily="50" charset="-128"/>
                <a:cs typeface="メイリオ"/>
              </a:rPr>
              <a:t>喚起</a:t>
            </a:r>
            <a:r>
              <a:rPr lang="ja-JP" altLang="ja-JP" sz="1100" b="1" dirty="0">
                <a:solidFill>
                  <a:srgbClr val="BFBFBF"/>
                </a:solidFill>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④リード獲得 </a:t>
            </a:r>
            <a:r>
              <a:rPr lang="en-US" altLang="ja-JP" sz="900" b="1" dirty="0">
                <a:solidFill>
                  <a:srgbClr val="BFBFBF"/>
                </a:solidFill>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参加後の関心が高いうちにサロン入会を案内し、次のイベント・紹介までつなげる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⑤ リード有効化</a:t>
            </a:r>
          </a:p>
        </p:txBody>
      </p:sp>
      <p:sp>
        <p:nvSpPr>
          <p:cNvPr id="47" name="Isosceles Triangle 46"/>
          <p:cNvSpPr/>
          <p:nvPr/>
        </p:nvSpPr>
        <p:spPr>
          <a:xfrm rot="5400000">
            <a:off x="2587751"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TextBox 47"/>
          <p:cNvSpPr txBox="1"/>
          <p:nvPr/>
        </p:nvSpPr>
        <p:spPr>
          <a:xfrm>
            <a:off x="384048"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49" name="TextBox 48"/>
          <p:cNvSpPr txBox="1"/>
          <p:nvPr/>
        </p:nvSpPr>
        <p:spPr>
          <a:xfrm>
            <a:off x="384048"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参加して</a:t>
            </a:r>
          </a:p>
          <a:p>
            <a:pPr algn="l">
              <a:lnSpc>
                <a:spcPct val="105000"/>
              </a:lnSpc>
              <a:spcAft>
                <a:spcPts val="200"/>
              </a:spcAft>
            </a:pPr>
            <a:r>
              <a:rPr sz="1300" b="0">
                <a:solidFill>
                  <a:srgbClr val="333333"/>
                </a:solidFill>
                <a:latin typeface="メイリオ"/>
                <a:ea typeface="メイリオ"/>
                <a:cs typeface="メイリオ"/>
              </a:rPr>
              <a:t>関心が高まっている</a:t>
            </a:r>
          </a:p>
        </p:txBody>
      </p:sp>
      <p:cxnSp>
        <p:nvCxnSpPr>
          <p:cNvPr id="50" name="Connector 49"/>
          <p:cNvCxnSpPr/>
          <p:nvPr/>
        </p:nvCxnSpPr>
        <p:spPr>
          <a:xfrm>
            <a:off x="429768"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1" name="Rectangle 50"/>
          <p:cNvSpPr/>
          <p:nvPr/>
        </p:nvSpPr>
        <p:spPr>
          <a:xfrm>
            <a:off x="384048"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参加直後にサロンを案内</a:t>
            </a:r>
          </a:p>
        </p:txBody>
      </p:sp>
      <p:sp>
        <p:nvSpPr>
          <p:cNvPr id="52" name="Rectangle 51"/>
          <p:cNvSpPr/>
          <p:nvPr/>
        </p:nvSpPr>
        <p:spPr>
          <a:xfrm>
            <a:off x="2798063"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⑥ 有効リードの再育成</a:t>
            </a:r>
          </a:p>
        </p:txBody>
      </p:sp>
      <p:sp>
        <p:nvSpPr>
          <p:cNvPr id="53" name="Isosceles Triangle 52"/>
          <p:cNvSpPr/>
          <p:nvPr/>
        </p:nvSpPr>
        <p:spPr>
          <a:xfrm rot="5400000">
            <a:off x="5001768"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4" name="TextBox 53"/>
          <p:cNvSpPr txBox="1"/>
          <p:nvPr/>
        </p:nvSpPr>
        <p:spPr>
          <a:xfrm>
            <a:off x="2798063"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55" name="TextBox 54"/>
          <p:cNvSpPr txBox="1"/>
          <p:nvPr/>
        </p:nvSpPr>
        <p:spPr>
          <a:xfrm>
            <a:off x="2798063"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未入会／予約したが不参加</a:t>
            </a:r>
          </a:p>
        </p:txBody>
      </p:sp>
      <p:cxnSp>
        <p:nvCxnSpPr>
          <p:cNvPr id="56" name="Connector 55"/>
          <p:cNvCxnSpPr/>
          <p:nvPr/>
        </p:nvCxnSpPr>
        <p:spPr>
          <a:xfrm>
            <a:off x="2843783"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7" name="Rectangle 56"/>
          <p:cNvSpPr/>
          <p:nvPr/>
        </p:nvSpPr>
        <p:spPr>
          <a:xfrm>
            <a:off x="2798063"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月1〜2回の配信で次回へ</a:t>
            </a:r>
          </a:p>
        </p:txBody>
      </p:sp>
      <p:sp>
        <p:nvSpPr>
          <p:cNvPr id="58" name="Rectangle 57"/>
          <p:cNvSpPr/>
          <p:nvPr/>
        </p:nvSpPr>
        <p:spPr>
          <a:xfrm>
            <a:off x="5212079"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⑦ マネタイズ</a:t>
            </a:r>
          </a:p>
          <a:p>
            <a:pPr algn="ctr">
              <a:lnSpc>
                <a:spcPct val="110000"/>
              </a:lnSpc>
              <a:spcAft>
                <a:spcPts val="0"/>
              </a:spcAft>
            </a:pPr>
            <a:r>
              <a:rPr sz="1050" b="1">
                <a:solidFill>
                  <a:srgbClr val="1F285A"/>
                </a:solidFill>
                <a:latin typeface="メイリオ"/>
                <a:ea typeface="メイリオ"/>
                <a:cs typeface="メイリオ"/>
              </a:rPr>
              <a:t>(成約/購入)</a:t>
            </a:r>
          </a:p>
        </p:txBody>
      </p:sp>
      <p:sp>
        <p:nvSpPr>
          <p:cNvPr id="59" name="Isosceles Triangle 58"/>
          <p:cNvSpPr/>
          <p:nvPr/>
        </p:nvSpPr>
        <p:spPr>
          <a:xfrm rot="5400000">
            <a:off x="7415784"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60" name="TextBox 59"/>
          <p:cNvSpPr txBox="1"/>
          <p:nvPr/>
        </p:nvSpPr>
        <p:spPr>
          <a:xfrm>
            <a:off x="5212079"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1" name="TextBox 60"/>
          <p:cNvSpPr txBox="1"/>
          <p:nvPr/>
        </p:nvSpPr>
        <p:spPr>
          <a:xfrm>
            <a:off x="5212079"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サロンの入会を検討</a:t>
            </a:r>
          </a:p>
        </p:txBody>
      </p:sp>
      <p:cxnSp>
        <p:nvCxnSpPr>
          <p:cNvPr id="62" name="Connector 61"/>
          <p:cNvCxnSpPr/>
          <p:nvPr/>
        </p:nvCxnSpPr>
        <p:spPr>
          <a:xfrm>
            <a:off x="5257799" y="4572000"/>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3" name="Rectangle 62"/>
          <p:cNvSpPr/>
          <p:nvPr/>
        </p:nvSpPr>
        <p:spPr>
          <a:xfrm>
            <a:off x="5212079"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入会した方の声を配信</a:t>
            </a:r>
          </a:p>
        </p:txBody>
      </p:sp>
      <p:sp>
        <p:nvSpPr>
          <p:cNvPr id="64" name="Rectangle 63"/>
          <p:cNvSpPr/>
          <p:nvPr/>
        </p:nvSpPr>
        <p:spPr>
          <a:xfrm>
            <a:off x="7626095"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⑧ LTV最大化・紹介</a:t>
            </a:r>
          </a:p>
        </p:txBody>
      </p:sp>
      <p:sp>
        <p:nvSpPr>
          <p:cNvPr id="65" name="TextBox 64"/>
          <p:cNvSpPr txBox="1"/>
          <p:nvPr/>
        </p:nvSpPr>
        <p:spPr>
          <a:xfrm>
            <a:off x="7626095"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6" name="TextBox 65"/>
          <p:cNvSpPr txBox="1"/>
          <p:nvPr/>
        </p:nvSpPr>
        <p:spPr>
          <a:xfrm>
            <a:off x="7626095"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サロンに入会</a:t>
            </a:r>
          </a:p>
        </p:txBody>
      </p:sp>
      <p:cxnSp>
        <p:nvCxnSpPr>
          <p:cNvPr id="67" name="Connector 66"/>
          <p:cNvCxnSpPr/>
          <p:nvPr/>
        </p:nvCxnSpPr>
        <p:spPr>
          <a:xfrm>
            <a:off x="7671816"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7626095" y="4645152"/>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イベント案内・紹介</a:t>
            </a:r>
          </a:p>
          <a:p>
            <a:pPr algn="l">
              <a:lnSpc>
                <a:spcPct val="110000"/>
              </a:lnSpc>
              <a:spcAft>
                <a:spcPts val="0"/>
              </a:spcAft>
            </a:pPr>
            <a:r>
              <a:rPr sz="1300" b="1">
                <a:solidFill>
                  <a:srgbClr val="1F285A"/>
                </a:solidFill>
                <a:latin typeface="メイリオ"/>
                <a:ea typeface="メイリオ"/>
                <a:cs typeface="メイリオ"/>
              </a:rPr>
              <a:t>（中長期）</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開催のない月の配信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¥285,000程度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開催のない月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開催のない月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¥315,000程度／開催のない月 ¥165,000〜）</a:t>
            </a:r>
            <a:endParaRPr lang="ja-JP" altLang="en-US" sz="1200" dirty="0">
              <a:latin typeface="メイリオ"/>
              <a:ea typeface="メイリオ"/>
              <a:cs typeface="メイリオ"/>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extLst>
              <p:ext uri="{D42A27DB-BD31-4B8C-83A1-F6EECF244321}">
                <p14:modId xmlns:p14="http://schemas.microsoft.com/office/powerpoint/2010/main" val="1493693055"/>
              </p:ext>
            </p:extLst>
          </p:nvPr>
        </p:nvGraphicFramePr>
        <p:xfrm>
          <a:off x="381000" y="1490760"/>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285,000円程度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315,000円程度（＋30,000円〜）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4214720398"/>
              </p:ext>
            </p:extLst>
          </p:nvPr>
        </p:nvGraphicFramePr>
        <p:xfrm>
          <a:off x="381000" y="1484376"/>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en-US" altLang="ja-JP" sz="1500" b="0" dirty="0">
                          <a:solidFill>
                            <a:srgbClr val="333333"/>
                          </a:solidFill>
                          <a:latin typeface="メイリオ" panose="020B0604030504040204" pitchFamily="50" charset="-128"/>
                          <a:ea typeface="メイリオ" panose="020B0604030504040204" pitchFamily="50" charset="-128"/>
                          <a:cs typeface="メイリオ"/>
                        </a:rPr>
                        <a:t>25</a:t>
                      </a:r>
                      <a:r>
                        <a:rPr lang="ja-JP" altLang="en-US" sz="1500" b="0" dirty="0">
                          <a:solidFill>
                            <a:srgbClr val="333333"/>
                          </a:solidFill>
                          <a:latin typeface="メイリオ" panose="020B0604030504040204" pitchFamily="50" charset="-128"/>
                          <a:ea typeface="メイリオ" panose="020B0604030504040204" pitchFamily="50" charset="-128"/>
                          <a:cs typeface="メイリオ"/>
                        </a:rPr>
                        <a:t>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en-US" altLang="ja-JP" sz="1600" b="1" dirty="0">
                          <a:solidFill>
                            <a:srgbClr val="1F285A"/>
                          </a:solidFill>
                          <a:latin typeface="メイリオ" panose="020B0604030504040204" pitchFamily="50" charset="-128"/>
                          <a:ea typeface="メイリオ" panose="020B0604030504040204" pitchFamily="50" charset="-128"/>
                          <a:cs typeface="メイリオ"/>
                        </a:rPr>
                        <a:t>28</a:t>
                      </a:r>
                      <a:r>
                        <a:rPr lang="ja-JP" altLang="en-US" sz="1600" b="1" dirty="0">
                          <a:solidFill>
                            <a:srgbClr val="1F285A"/>
                          </a:solidFill>
                          <a:latin typeface="メイリオ" panose="020B0604030504040204" pitchFamily="50" charset="-128"/>
                          <a:ea typeface="メイリオ" panose="020B0604030504040204" pitchFamily="50" charset="-128"/>
                          <a:cs typeface="メイリオ"/>
                        </a:rPr>
                        <a:t>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1470470243"/>
              </p:ext>
            </p:extLst>
          </p:nvPr>
        </p:nvGraphicFramePr>
        <p:xfrm>
          <a:off x="381000" y="1490760"/>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a:t>
                      </a:r>
                      <a:endParaRPr lang="en-US" altLang="ja-JP" sz="1300" b="1" dirty="0">
                        <a:solidFill>
                          <a:srgbClr val="1F285A"/>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配信の内容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開催のない月の層（予約していない方）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開催のない月の配信で、次回までつながりを保てる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予約していない方は開催のない月の配信で次のイベントへつなげる。流入経路だけでは予約・参加・入会の状況をすべて把握できないため、状況に応じた出し分けは、連携の仕様を確認のうえ設計。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セミナー開催月・開催のない月の企画配信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開催月は月4〜5回、開催のない月は月1〜2回の配信案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前後検索「投資セミナー」</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セミナーを探した方は、その日にほかのセミナーと比べて不安を確かめ、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1〜4日後に始め方を調べる。関心が続く15日間をステップ配信で追う。</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63" name="正方形/長方形 262">
            <a:extLst>
              <a:ext uri="{FF2B5EF4-FFF2-40B4-BE49-F238E27FC236}">
                <a16:creationId xmlns:a16="http://schemas.microsoft.com/office/drawing/2014/main" id="{748363DA-2C29-7135-6BD0-55F74CF1062A}"/>
              </a:ext>
            </a:extLst>
          </p:cNvPr>
          <p:cNvSpPr/>
          <p:nvPr/>
        </p:nvSpPr>
        <p:spPr>
          <a:xfrm>
            <a:off x="868680" y="6219402"/>
            <a:ext cx="3580333"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494733" y="6219402"/>
            <a:ext cx="3414827"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pic>
        <p:nvPicPr>
          <p:cNvPr id="853" name="Picture 852" descr="sunao_zengo_toushi_seminar_color.png"/>
          <p:cNvPicPr>
            <a:picLocks noChangeAspect="1"/>
          </p:cNvPicPr>
          <p:nvPr/>
        </p:nvPicPr>
        <p:blipFill>
          <a:blip r:embed="rId5"/>
          <a:stretch>
            <a:fillRect/>
          </a:stretch>
        </p:blipFill>
        <p:spPr>
          <a:xfrm>
            <a:off x="868680" y="2157984"/>
            <a:ext cx="7040880" cy="4108353"/>
          </a:xfrm>
          <a:prstGeom prst="rect">
            <a:avLst/>
          </a:prstGeom>
        </p:spPr>
      </p:pic>
      <p:sp>
        <p:nvSpPr>
          <p:cNvPr id="267" name="正方形/長方形 266">
            <a:extLst>
              <a:ext uri="{FF2B5EF4-FFF2-40B4-BE49-F238E27FC236}">
                <a16:creationId xmlns:a16="http://schemas.microsoft.com/office/drawing/2014/main" id="{AD15A6B3-E0B8-2B6E-5872-4F23BABCE27E}"/>
              </a:ext>
            </a:extLst>
          </p:cNvPr>
          <p:cNvSpPr/>
          <p:nvPr/>
        </p:nvSpPr>
        <p:spPr>
          <a:xfrm>
            <a:off x="4494733" y="1700784"/>
            <a:ext cx="823782" cy="4565553"/>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357573"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686757"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1646576" y="2519059"/>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1397588" y="2213387"/>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投資セミナー</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16日以降へ</a:t>
            </a:r>
            <a:endParaRPr lang="en-US" altLang="ja-JP" sz="800" dirty="0">
              <a:latin typeface="メイリオ" panose="020B0604030504040204" pitchFamily="50" charset="-128"/>
              <a:ea typeface="メイリオ" panose="020B0604030504040204" pitchFamily="50" charset="-128"/>
            </a:endParaRPr>
          </a:p>
          <a:p>
            <a:r>
              <a:rPr lang="ja-JP" altLang="en-US" sz="800" b="1" dirty="0">
                <a:latin typeface="メイリオ" panose="020B0604030504040204" pitchFamily="50" charset="-128"/>
                <a:ea typeface="メイリオ" panose="020B0604030504040204" pitchFamily="50" charset="-128"/>
              </a:rPr>
              <a:t/>
            </a:r>
            <a:endParaRPr lang="en-US" altLang="ja-JP" sz="800" dirty="0">
              <a:latin typeface="メイリオ" panose="020B0604030504040204" pitchFamily="50" charset="-128"/>
              <a:ea typeface="メイリオ" panose="020B0604030504040204" pitchFamily="50" charset="-128"/>
            </a:endParaRPr>
          </a:p>
          <a:p>
            <a:r>
              <a:rPr lang="ja-JP" altLang="en-US" sz="800" b="1" dirty="0">
                <a:latin typeface="メイリオ" panose="020B0604030504040204" pitchFamily="50" charset="-128"/>
                <a:ea typeface="メイリオ" panose="020B0604030504040204" pitchFamily="50" charset="-128"/>
              </a:rPr>
              <a:t>（企画配信で</a:t>
            </a:r>
            <a:endParaRPr lang="en-US" altLang="ja-JP" sz="800" dirty="0">
              <a:latin typeface="メイリオ" panose="020B0604030504040204" pitchFamily="50" charset="-128"/>
              <a:ea typeface="メイリオ" panose="020B0604030504040204" pitchFamily="50" charset="-128"/>
            </a:endParaRPr>
          </a:p>
          <a:p>
            <a:r>
              <a:rPr lang="ja-JP" altLang="en-US" sz="800" b="1" dirty="0">
                <a:latin typeface="メイリオ" panose="020B0604030504040204" pitchFamily="50" charset="-128"/>
                <a:ea typeface="メイリオ" panose="020B0604030504040204" pitchFamily="50" charset="-128"/>
              </a:rPr>
              <a:t>再アプローチ）</a:t>
            </a:r>
            <a:endParaRPr lang="en-US" altLang="ja-JP" sz="800" dirty="0">
              <a:latin typeface="メイリオ" panose="020B0604030504040204" pitchFamily="50" charset="-128"/>
              <a:ea typeface="メイリオ" panose="020B0604030504040204" pitchFamily="50" charset="-128"/>
            </a:endParaRPr>
          </a:p>
        </p:txBody>
      </p:sp>
      <p:sp>
        <p:nvSpPr>
          <p:cNvPr id="854" name="Rectangle 853"/>
          <p:cNvSpPr/>
          <p:nvPr/>
        </p:nvSpPr>
        <p:spPr>
          <a:xfrm>
            <a:off x="8065008" y="1847088"/>
            <a:ext cx="1691640" cy="274320"/>
          </a:xfrm>
          <a:prstGeom prst="rect">
            <a:avLst/>
          </a:prstGeom>
          <a:solidFill>
            <a:srgbClr val="3467B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050" b="1">
                <a:solidFill>
                  <a:srgbClr val="FFFFFF"/>
                </a:solidFill>
                <a:latin typeface="メイリオ"/>
                <a:ea typeface="メイリオ"/>
                <a:cs typeface="メイリオ"/>
              </a:rPr>
              <a:t>比べる：ほかのセミナー</a:t>
            </a:r>
          </a:p>
        </p:txBody>
      </p:sp>
      <p:sp>
        <p:nvSpPr>
          <p:cNvPr id="855" name="Rectangle 854"/>
          <p:cNvSpPr/>
          <p:nvPr/>
        </p:nvSpPr>
        <p:spPr>
          <a:xfrm>
            <a:off x="8065008" y="2176272"/>
            <a:ext cx="1691640" cy="274320"/>
          </a:xfrm>
          <a:prstGeom prst="rect">
            <a:avLst/>
          </a:prstGeom>
          <a:solidFill>
            <a:srgbClr val="8E4EC6"/>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050" b="1">
                <a:solidFill>
                  <a:srgbClr val="FFFFFF"/>
                </a:solidFill>
                <a:latin typeface="メイリオ"/>
                <a:ea typeface="メイリオ"/>
                <a:cs typeface="メイリオ"/>
              </a:rPr>
              <a:t>確かめる：不安・安全性</a:t>
            </a:r>
          </a:p>
        </p:txBody>
      </p:sp>
      <p:sp>
        <p:nvSpPr>
          <p:cNvPr id="856" name="Rectangle 855"/>
          <p:cNvSpPr/>
          <p:nvPr/>
        </p:nvSpPr>
        <p:spPr>
          <a:xfrm>
            <a:off x="8065008" y="2505456"/>
            <a:ext cx="1691640" cy="274320"/>
          </a:xfrm>
          <a:prstGeom prst="rect">
            <a:avLst/>
          </a:prstGeom>
          <a:solidFill>
            <a:srgbClr val="00897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050" b="1">
                <a:solidFill>
                  <a:srgbClr val="FFFFFF"/>
                </a:solidFill>
                <a:latin typeface="メイリオ"/>
                <a:ea typeface="メイリオ"/>
                <a:cs typeface="メイリオ"/>
              </a:rPr>
              <a:t>始める：始め方</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5669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7772400"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診断：最初の2問で、どんな方かを分かるようにする</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答えでタグを付け、その後の配信をその方に合わせる</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施策の考え方</a:t>
            </a:r>
            <a:endParaRPr lang="ja-JP" altLang="en-US" sz="1100" dirty="0"/>
          </a:p>
        </p:txBody>
      </p:sp>
      <p:sp>
        <p:nvSpPr>
          <p:cNvPr id="32" name="Rectangle 29">
            <a:extLst>
              <a:ext uri="{FF2B5EF4-FFF2-40B4-BE49-F238E27FC236}">
                <a16:creationId xmlns:a16="http://schemas.microsoft.com/office/drawing/2014/main" id="{C9B761A3-7BC1-BEDC-5294-579F8513A3B8}"/>
              </a:ext>
            </a:extLst>
          </p:cNvPr>
          <p:cNvSpPr/>
          <p:nvPr/>
        </p:nvSpPr>
        <p:spPr>
          <a:xfrm>
            <a:off x="3291840" y="4315526"/>
            <a:ext cx="2468880" cy="1463040"/>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291840" y="4315526"/>
            <a:ext cx="2468880" cy="2926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タグ・セグメント（例）</a:t>
            </a:r>
          </a:p>
        </p:txBody>
      </p:sp>
      <p:sp>
        <p:nvSpPr>
          <p:cNvPr id="34" name="Oval 31">
            <a:extLst>
              <a:ext uri="{FF2B5EF4-FFF2-40B4-BE49-F238E27FC236}">
                <a16:creationId xmlns:a16="http://schemas.microsoft.com/office/drawing/2014/main" id="{44AA6966-72C4-4DBF-CD4A-516799942AE3}"/>
              </a:ext>
            </a:extLst>
          </p:cNvPr>
          <p:cNvSpPr/>
          <p:nvPr/>
        </p:nvSpPr>
        <p:spPr>
          <a:xfrm>
            <a:off x="3410712" y="4681286"/>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3730752" y="4690430"/>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3410712" y="5001326"/>
            <a:ext cx="1051560" cy="246888"/>
          </a:xfrm>
          <a:prstGeom prst="round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保険営業</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4535424" y="5001326"/>
            <a:ext cx="1097280" cy="246888"/>
          </a:xfrm>
          <a:prstGeom prst="round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紹介を増やしたい</a:t>
            </a:r>
          </a:p>
        </p:txBody>
      </p:sp>
      <p:sp>
        <p:nvSpPr>
          <p:cNvPr id="38" name="Rectangle 35">
            <a:extLst>
              <a:ext uri="{FF2B5EF4-FFF2-40B4-BE49-F238E27FC236}">
                <a16:creationId xmlns:a16="http://schemas.microsoft.com/office/drawing/2014/main" id="{EFFFAAD6-D553-33A2-0CDA-D0F89C23C45A}"/>
              </a:ext>
            </a:extLst>
          </p:cNvPr>
          <p:cNvSpPr/>
          <p:nvPr/>
        </p:nvSpPr>
        <p:spPr>
          <a:xfrm>
            <a:off x="3383280" y="5293934"/>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 紹介に悩んでいた受講生の声を配信</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502920" y="1812629"/>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557784" y="2003406"/>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914400" y="1918113"/>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友だち追加ありがとうございます！参加特典は…</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612648" y="24240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914400" y="2471397"/>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あてはまる方は？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914400" y="2789790"/>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一般</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1426464" y="2789790"/>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保険営業</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2468880" y="2789790"/>
            <a:ext cx="457200" cy="237744"/>
          </a:xfrm>
          <a:prstGeom prst="round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612648" y="3173838"/>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914400" y="3168567"/>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【8日目】受講生の声</a:t>
            </a:r>
          </a:p>
        </p:txBody>
      </p:sp>
      <p:sp>
        <p:nvSpPr>
          <p:cNvPr id="50" name="Oval 49">
            <a:extLst>
              <a:ext uri="{FF2B5EF4-FFF2-40B4-BE49-F238E27FC236}">
                <a16:creationId xmlns:a16="http://schemas.microsoft.com/office/drawing/2014/main" id="{D7FC1F60-741B-1216-E3C2-B9A9825969FD}"/>
              </a:ext>
            </a:extLst>
          </p:cNvPr>
          <p:cNvSpPr/>
          <p:nvPr/>
        </p:nvSpPr>
        <p:spPr>
          <a:xfrm>
            <a:off x="612648" y="374991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914400" y="374463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【今月】次回セミナーのご案内</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1737360" y="4234542"/>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日程を教えて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612648" y="452715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914400" y="4544763"/>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次回の日程はこちらです→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557784" y="5191614"/>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576072" y="5209902"/>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1170432" y="5209902"/>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1764792" y="5209902"/>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2359152" y="5209902"/>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講師</a:t>
            </a:r>
          </a:p>
        </p:txBody>
      </p:sp>
      <p:sp>
        <p:nvSpPr>
          <p:cNvPr id="91" name="Rectangle 37">
            <a:extLst>
              <a:ext uri="{FF2B5EF4-FFF2-40B4-BE49-F238E27FC236}">
                <a16:creationId xmlns:a16="http://schemas.microsoft.com/office/drawing/2014/main" id="{815B0ED0-A740-600B-6C02-0EA2C830954C}"/>
              </a:ext>
            </a:extLst>
          </p:cNvPr>
          <p:cNvSpPr/>
          <p:nvPr/>
        </p:nvSpPr>
        <p:spPr>
          <a:xfrm>
            <a:off x="807059" y="1705904"/>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3" name="Oval 39">
            <a:extLst>
              <a:ext uri="{FF2B5EF4-FFF2-40B4-BE49-F238E27FC236}">
                <a16:creationId xmlns:a16="http://schemas.microsoft.com/office/drawing/2014/main" id="{BD5572D2-C987-F20B-3DAE-F41EEAF2F9EC}"/>
              </a:ext>
            </a:extLst>
          </p:cNvPr>
          <p:cNvSpPr/>
          <p:nvPr/>
        </p:nvSpPr>
        <p:spPr>
          <a:xfrm>
            <a:off x="612648" y="192111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94" name="Rectangle 93"/>
          <p:cNvSpPr/>
          <p:nvPr/>
        </p:nvSpPr>
        <p:spPr>
          <a:xfrm>
            <a:off x="3291840" y="1810512"/>
            <a:ext cx="14173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質問</a:t>
            </a:r>
          </a:p>
        </p:txBody>
      </p:sp>
      <p:sp>
        <p:nvSpPr>
          <p:cNvPr id="95" name="Rectangle 94"/>
          <p:cNvSpPr/>
          <p:nvPr/>
        </p:nvSpPr>
        <p:spPr>
          <a:xfrm>
            <a:off x="4736592" y="1810512"/>
            <a:ext cx="2514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選択肢（付けるタグ）</a:t>
            </a:r>
          </a:p>
        </p:txBody>
      </p:sp>
      <p:sp>
        <p:nvSpPr>
          <p:cNvPr id="96" name="Rectangle 95"/>
          <p:cNvSpPr/>
          <p:nvPr/>
        </p:nvSpPr>
        <p:spPr>
          <a:xfrm>
            <a:off x="7278624" y="1810512"/>
            <a:ext cx="2231136"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配信での使い方</a:t>
            </a:r>
          </a:p>
        </p:txBody>
      </p:sp>
      <p:sp>
        <p:nvSpPr>
          <p:cNvPr id="97" name="Rectangle 96"/>
          <p:cNvSpPr/>
          <p:nvPr/>
        </p:nvSpPr>
        <p:spPr>
          <a:xfrm>
            <a:off x="3291840" y="2203704"/>
            <a:ext cx="1417320" cy="89611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1">
                <a:solidFill>
                  <a:srgbClr val="1F2A5C"/>
                </a:solidFill>
                <a:latin typeface="メイリオ"/>
                <a:ea typeface="メイリオ"/>
                <a:cs typeface="メイリオ"/>
              </a:rPr>
              <a:t>1問目</a:t>
            </a:r>
          </a:p>
          <a:p>
            <a:pPr algn="l">
              <a:lnSpc>
                <a:spcPct val="110000"/>
              </a:lnSpc>
              <a:spcAft>
                <a:spcPts val="0"/>
              </a:spcAft>
            </a:pPr>
            <a:r>
              <a:rPr sz="1200" b="1">
                <a:solidFill>
                  <a:srgbClr val="1F2A5C"/>
                </a:solidFill>
                <a:latin typeface="メイリオ"/>
                <a:ea typeface="メイリオ"/>
                <a:cs typeface="メイリオ"/>
              </a:rPr>
              <a:t>あてはまる方</a:t>
            </a:r>
          </a:p>
        </p:txBody>
      </p:sp>
      <p:sp>
        <p:nvSpPr>
          <p:cNvPr id="98" name="Rectangle 97"/>
          <p:cNvSpPr/>
          <p:nvPr/>
        </p:nvSpPr>
        <p:spPr>
          <a:xfrm>
            <a:off x="4736592" y="2203704"/>
            <a:ext cx="2514600" cy="89611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0">
                <a:solidFill>
                  <a:srgbClr val="333333"/>
                </a:solidFill>
                <a:latin typeface="メイリオ"/>
                <a:ea typeface="メイリオ"/>
                <a:cs typeface="メイリオ"/>
              </a:rPr>
              <a:t>保険営業の方／一般の方</a:t>
            </a:r>
          </a:p>
        </p:txBody>
      </p:sp>
      <p:sp>
        <p:nvSpPr>
          <p:cNvPr id="99" name="Rectangle 98"/>
          <p:cNvSpPr/>
          <p:nvPr/>
        </p:nvSpPr>
        <p:spPr>
          <a:xfrm>
            <a:off x="7278624" y="2203704"/>
            <a:ext cx="2231136" cy="89611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0">
                <a:solidFill>
                  <a:srgbClr val="333333"/>
                </a:solidFill>
                <a:latin typeface="メイリオ"/>
                <a:ea typeface="メイリオ"/>
                <a:cs typeface="メイリオ"/>
              </a:rPr>
              <a:t>一般の方には、一般の方向け</a:t>
            </a:r>
          </a:p>
          <a:p>
            <a:pPr algn="l">
              <a:lnSpc>
                <a:spcPct val="110000"/>
              </a:lnSpc>
              <a:spcAft>
                <a:spcPts val="0"/>
              </a:spcAft>
            </a:pPr>
            <a:r>
              <a:rPr sz="1200" b="0">
                <a:solidFill>
                  <a:srgbClr val="333333"/>
                </a:solidFill>
                <a:latin typeface="メイリオ"/>
                <a:ea typeface="メイリオ"/>
                <a:cs typeface="メイリオ"/>
              </a:rPr>
              <a:t>のセミナーを案内</a:t>
            </a:r>
          </a:p>
        </p:txBody>
      </p:sp>
      <p:sp>
        <p:nvSpPr>
          <p:cNvPr id="100" name="Rectangle 99"/>
          <p:cNvSpPr/>
          <p:nvPr/>
        </p:nvSpPr>
        <p:spPr>
          <a:xfrm>
            <a:off x="3291840" y="3127248"/>
            <a:ext cx="1417320" cy="89611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1">
                <a:solidFill>
                  <a:srgbClr val="1F2A5C"/>
                </a:solidFill>
                <a:latin typeface="メイリオ"/>
                <a:ea typeface="メイリオ"/>
                <a:cs typeface="メイリオ"/>
              </a:rPr>
              <a:t>2問目</a:t>
            </a:r>
          </a:p>
          <a:p>
            <a:pPr algn="l">
              <a:lnSpc>
                <a:spcPct val="110000"/>
              </a:lnSpc>
              <a:spcAft>
                <a:spcPts val="0"/>
              </a:spcAft>
            </a:pPr>
            <a:r>
              <a:rPr sz="1200" b="1">
                <a:solidFill>
                  <a:srgbClr val="1F2A5C"/>
                </a:solidFill>
                <a:latin typeface="メイリオ"/>
                <a:ea typeface="メイリオ"/>
                <a:cs typeface="メイリオ"/>
              </a:rPr>
              <a:t>いちばんの関心</a:t>
            </a:r>
          </a:p>
        </p:txBody>
      </p:sp>
      <p:sp>
        <p:nvSpPr>
          <p:cNvPr id="101" name="Rectangle 100"/>
          <p:cNvSpPr/>
          <p:nvPr/>
        </p:nvSpPr>
        <p:spPr>
          <a:xfrm>
            <a:off x="4736592" y="3127248"/>
            <a:ext cx="2514600" cy="89611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0">
                <a:solidFill>
                  <a:srgbClr val="333333"/>
                </a:solidFill>
                <a:latin typeface="メイリオ"/>
                <a:ea typeface="メイリオ"/>
                <a:cs typeface="メイリオ"/>
              </a:rPr>
              <a:t>保険営業の方：成約／紹介／</a:t>
            </a:r>
          </a:p>
          <a:p>
            <a:pPr algn="l">
              <a:lnSpc>
                <a:spcPct val="110000"/>
              </a:lnSpc>
              <a:spcAft>
                <a:spcPts val="0"/>
              </a:spcAft>
            </a:pPr>
            <a:r>
              <a:rPr sz="1200" b="0">
                <a:solidFill>
                  <a:srgbClr val="333333"/>
                </a:solidFill>
                <a:latin typeface="メイリオ"/>
                <a:ea typeface="メイリオ"/>
                <a:cs typeface="メイリオ"/>
              </a:rPr>
              <a:t>働く時間</a:t>
            </a:r>
          </a:p>
          <a:p>
            <a:pPr algn="l">
              <a:lnSpc>
                <a:spcPct val="110000"/>
              </a:lnSpc>
              <a:spcAft>
                <a:spcPts val="0"/>
              </a:spcAft>
            </a:pPr>
            <a:r>
              <a:rPr sz="1200" b="0">
                <a:solidFill>
                  <a:srgbClr val="333333"/>
                </a:solidFill>
                <a:latin typeface="メイリオ"/>
                <a:ea typeface="メイリオ"/>
                <a:cs typeface="メイリオ"/>
              </a:rPr>
              <a:t>一般の方：資産形成／見直し</a:t>
            </a:r>
          </a:p>
        </p:txBody>
      </p:sp>
      <p:sp>
        <p:nvSpPr>
          <p:cNvPr id="102" name="Rectangle 101"/>
          <p:cNvSpPr/>
          <p:nvPr/>
        </p:nvSpPr>
        <p:spPr>
          <a:xfrm>
            <a:off x="7278624" y="3127248"/>
            <a:ext cx="2231136" cy="89611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90000" tIns="18000" rIns="54000" bIns="18000"/>
          <a:lstStyle/>
          <a:p>
            <a:pPr algn="l">
              <a:lnSpc>
                <a:spcPct val="110000"/>
              </a:lnSpc>
              <a:spcAft>
                <a:spcPts val="0"/>
              </a:spcAft>
            </a:pPr>
            <a:r>
              <a:rPr sz="1200" b="0">
                <a:solidFill>
                  <a:srgbClr val="333333"/>
                </a:solidFill>
                <a:latin typeface="メイリオ"/>
                <a:ea typeface="メイリオ"/>
                <a:cs typeface="メイリオ"/>
              </a:rPr>
              <a:t>受講生の声を、同じ悩み</a:t>
            </a:r>
          </a:p>
          <a:p>
            <a:pPr algn="l">
              <a:lnSpc>
                <a:spcPct val="110000"/>
              </a:lnSpc>
              <a:spcAft>
                <a:spcPts val="0"/>
              </a:spcAft>
            </a:pPr>
            <a:r>
              <a:rPr sz="1200" b="0">
                <a:solidFill>
                  <a:srgbClr val="333333"/>
                </a:solidFill>
                <a:latin typeface="メイリオ"/>
                <a:ea typeface="メイリオ"/>
                <a:cs typeface="メイリオ"/>
              </a:rPr>
              <a:t>だった方の声にする</a:t>
            </a:r>
          </a:p>
        </p:txBody>
      </p:sp>
      <p:sp>
        <p:nvSpPr>
          <p:cNvPr id="103" name="Rectangle 102"/>
          <p:cNvSpPr/>
          <p:nvPr/>
        </p:nvSpPr>
        <p:spPr>
          <a:xfrm>
            <a:off x="5943600" y="4315968"/>
            <a:ext cx="3566160" cy="1463040"/>
          </a:xfrm>
          <a:prstGeom prst="rect">
            <a:avLst/>
          </a:prstGeom>
          <a:solidFill>
            <a:srgbClr val="F5F7FA"/>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90000" tIns="43200" rIns="72000" bIns="36000"/>
          <a:lstStyle/>
          <a:p>
            <a:pPr algn="l">
              <a:lnSpc>
                <a:spcPct val="110000"/>
              </a:lnSpc>
              <a:spcAft>
                <a:spcPts val="200"/>
              </a:spcAft>
            </a:pPr>
            <a:r>
              <a:rPr sz="1300" b="1">
                <a:solidFill>
                  <a:srgbClr val="1F2A5C"/>
                </a:solidFill>
                <a:latin typeface="メイリオ"/>
                <a:ea typeface="メイリオ"/>
                <a:cs typeface="メイリオ"/>
              </a:rPr>
              <a:t>示唆</a:t>
            </a:r>
          </a:p>
          <a:p>
            <a:pPr algn="l">
              <a:lnSpc>
                <a:spcPct val="110000"/>
              </a:lnSpc>
              <a:spcAft>
                <a:spcPts val="0"/>
              </a:spcAft>
            </a:pPr>
            <a:r>
              <a:rPr sz="1200" b="0">
                <a:solidFill>
                  <a:srgbClr val="333333"/>
                </a:solidFill>
                <a:latin typeface="メイリオ"/>
                <a:ea typeface="メイリオ"/>
                <a:cs typeface="メイリオ"/>
              </a:rPr>
              <a:t>一度の診断で、その方に合う受講生の声とセミナーを届けられる。聞くのは友だち追加直後の1回だけにする</a:t>
            </a:r>
          </a:p>
        </p:txBody>
      </p:sp>
      <p:sp>
        <p:nvSpPr>
          <p:cNvPr id="104" name="TextBox 103"/>
          <p:cNvSpPr txBox="1"/>
          <p:nvPr/>
        </p:nvSpPr>
        <p:spPr>
          <a:xfrm>
            <a:off x="420624" y="5943600"/>
            <a:ext cx="9052560" cy="274320"/>
          </a:xfrm>
          <a:prstGeom prst="rect">
            <a:avLst/>
          </a:prstGeom>
          <a:noFill/>
        </p:spPr>
        <p:txBody>
          <a:bodyPr wrap="square" anchor="t"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※答えはボタンで選ぶ形。押したボタンで、その後の配信を分ける</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セミナーを探した直後から、比べる → 確かめる → 始めるの順に不安を解消し、</a:t>
            </a:r>
          </a:p>
          <a:p>
            <a:r>
              <a:rPr lang="ja-JP" altLang="en-US" sz="1600" b="1" dirty="0">
                <a:latin typeface="メイリオ" panose="020B0604030504040204" pitchFamily="50" charset="-128"/>
                <a:ea typeface="メイリオ" panose="020B0604030504040204" pitchFamily="50" charset="-128"/>
                <a:cs typeface="Meiryo"/>
                <a:sym typeface="Meiryo"/>
              </a:rPr>
              <a:t>15日以内にセミナーの予約へつなげる配信を構築。</a:t>
            </a:r>
          </a:p>
        </p:txBody>
      </p:sp>
      <p:sp>
        <p:nvSpPr>
          <p:cNvPr id="11" name="Rectangle 10"/>
          <p:cNvSpPr/>
          <p:nvPr/>
        </p:nvSpPr>
        <p:spPr>
          <a:xfrm>
            <a:off x="384048" y="1481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2" name="Rectangle 11"/>
          <p:cNvSpPr/>
          <p:nvPr/>
        </p:nvSpPr>
        <p:spPr>
          <a:xfrm>
            <a:off x="384048" y="1481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0日目</a:t>
            </a:r>
          </a:p>
          <a:p>
            <a:pPr algn="ctr">
              <a:lnSpc>
                <a:spcPct val="110000"/>
              </a:lnSpc>
              <a:spcAft>
                <a:spcPts val="0"/>
              </a:spcAft>
            </a:pPr>
            <a:r>
              <a:rPr sz="1050" b="0">
                <a:solidFill>
                  <a:srgbClr val="FFFFFF"/>
                </a:solidFill>
                <a:latin typeface="メイリオ"/>
                <a:ea typeface="メイリオ"/>
                <a:cs typeface="メイリオ"/>
              </a:rPr>
              <a:t>追加直後：診断</a:t>
            </a:r>
          </a:p>
        </p:txBody>
      </p:sp>
      <p:sp>
        <p:nvSpPr>
          <p:cNvPr id="13" name="Rectangle 12"/>
          <p:cNvSpPr/>
          <p:nvPr/>
        </p:nvSpPr>
        <p:spPr>
          <a:xfrm>
            <a:off x="457200" y="1975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ご登録ありがとう</a:t>
            </a:r>
          </a:p>
          <a:p>
            <a:pPr algn="ctr">
              <a:lnSpc>
                <a:spcPct val="110000"/>
              </a:lnSpc>
              <a:spcAft>
                <a:spcPts val="0"/>
              </a:spcAft>
            </a:pPr>
            <a:r>
              <a:rPr sz="1200" b="1">
                <a:solidFill>
                  <a:srgbClr val="1F2A5C"/>
                </a:solidFill>
                <a:latin typeface="メイリオ"/>
                <a:ea typeface="メイリオ"/>
                <a:cs typeface="メイリオ"/>
              </a:rPr>
              <a:t>ございます！</a:t>
            </a:r>
          </a:p>
        </p:txBody>
      </p:sp>
      <p:sp>
        <p:nvSpPr>
          <p:cNvPr id="14" name="Rectangle 13"/>
          <p:cNvSpPr/>
          <p:nvPr/>
        </p:nvSpPr>
        <p:spPr>
          <a:xfrm>
            <a:off x="457200" y="2432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参加特典のご案内</a:t>
            </a:r>
          </a:p>
          <a:p>
            <a:pPr algn="ctr">
              <a:lnSpc>
                <a:spcPct val="110000"/>
              </a:lnSpc>
              <a:spcAft>
                <a:spcPts val="0"/>
              </a:spcAft>
            </a:pPr>
            <a:r>
              <a:rPr sz="1100" b="0">
                <a:solidFill>
                  <a:srgbClr val="333333"/>
                </a:solidFill>
                <a:latin typeface="メイリオ"/>
                <a:ea typeface="メイリオ"/>
                <a:cs typeface="メイリオ"/>
              </a:rPr>
              <a:t>2問の診断で関心を確認</a:t>
            </a:r>
          </a:p>
        </p:txBody>
      </p:sp>
      <p:sp>
        <p:nvSpPr>
          <p:cNvPr id="15" name="Rectangle 14"/>
          <p:cNvSpPr/>
          <p:nvPr/>
        </p:nvSpPr>
        <p:spPr>
          <a:xfrm>
            <a:off x="475488" y="2816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—（診断の答えで出し分け）</a:t>
            </a:r>
          </a:p>
        </p:txBody>
      </p:sp>
      <p:sp>
        <p:nvSpPr>
          <p:cNvPr id="16" name="Rectangle 15"/>
          <p:cNvSpPr/>
          <p:nvPr/>
        </p:nvSpPr>
        <p:spPr>
          <a:xfrm>
            <a:off x="612647" y="3328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2問で診断する</a:t>
            </a:r>
          </a:p>
        </p:txBody>
      </p:sp>
      <p:sp>
        <p:nvSpPr>
          <p:cNvPr id="17" name="Rectangle 16"/>
          <p:cNvSpPr/>
          <p:nvPr/>
        </p:nvSpPr>
        <p:spPr>
          <a:xfrm>
            <a:off x="2688336" y="1481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8" name="Rectangle 17"/>
          <p:cNvSpPr/>
          <p:nvPr/>
        </p:nvSpPr>
        <p:spPr>
          <a:xfrm>
            <a:off x="2688336" y="1481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2日目</a:t>
            </a:r>
          </a:p>
          <a:p>
            <a:pPr algn="ctr">
              <a:lnSpc>
                <a:spcPct val="110000"/>
              </a:lnSpc>
              <a:spcAft>
                <a:spcPts val="0"/>
              </a:spcAft>
            </a:pPr>
            <a:r>
              <a:rPr sz="1050" b="0">
                <a:solidFill>
                  <a:srgbClr val="FFFFFF"/>
                </a:solidFill>
                <a:latin typeface="メイリオ"/>
                <a:ea typeface="メイリオ"/>
                <a:cs typeface="メイリオ"/>
              </a:rPr>
              <a:t>比べる</a:t>
            </a:r>
          </a:p>
        </p:txBody>
      </p:sp>
      <p:sp>
        <p:nvSpPr>
          <p:cNvPr id="19" name="Rectangle 18"/>
          <p:cNvSpPr/>
          <p:nvPr/>
        </p:nvSpPr>
        <p:spPr>
          <a:xfrm>
            <a:off x="2761488" y="1975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ほかのセミナーと、</a:t>
            </a:r>
          </a:p>
          <a:p>
            <a:pPr algn="ctr">
              <a:lnSpc>
                <a:spcPct val="110000"/>
              </a:lnSpc>
              <a:spcAft>
                <a:spcPts val="0"/>
              </a:spcAft>
            </a:pPr>
            <a:r>
              <a:rPr sz="1200" b="1">
                <a:solidFill>
                  <a:srgbClr val="1F2A5C"/>
                </a:solidFill>
                <a:latin typeface="メイリオ"/>
                <a:ea typeface="メイリオ"/>
                <a:cs typeface="メイリオ"/>
              </a:rPr>
              <a:t>ここが違います</a:t>
            </a:r>
          </a:p>
        </p:txBody>
      </p:sp>
      <p:sp>
        <p:nvSpPr>
          <p:cNvPr id="20" name="Rectangle 19"/>
          <p:cNvSpPr/>
          <p:nvPr/>
        </p:nvSpPr>
        <p:spPr>
          <a:xfrm>
            <a:off x="2761488" y="2432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両想い営業・ライフプラン</a:t>
            </a:r>
          </a:p>
          <a:p>
            <a:pPr algn="ctr">
              <a:lnSpc>
                <a:spcPct val="110000"/>
              </a:lnSpc>
              <a:spcAft>
                <a:spcPts val="0"/>
              </a:spcAft>
            </a:pPr>
            <a:r>
              <a:rPr sz="1100" b="0">
                <a:solidFill>
                  <a:srgbClr val="333333"/>
                </a:solidFill>
                <a:latin typeface="メイリオ"/>
                <a:ea typeface="メイリオ"/>
                <a:cs typeface="メイリオ"/>
              </a:rPr>
              <a:t>ブロックを動画で紹介</a:t>
            </a:r>
          </a:p>
        </p:txBody>
      </p:sp>
      <p:sp>
        <p:nvSpPr>
          <p:cNvPr id="21" name="Rectangle 20"/>
          <p:cNvSpPr/>
          <p:nvPr/>
        </p:nvSpPr>
        <p:spPr>
          <a:xfrm>
            <a:off x="2779776" y="2816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検索した日に「投資セミナー 東京」「資産運用セミナー」と比べている</a:t>
            </a:r>
          </a:p>
        </p:txBody>
      </p:sp>
      <p:sp>
        <p:nvSpPr>
          <p:cNvPr id="22" name="Rectangle 21"/>
          <p:cNvSpPr/>
          <p:nvPr/>
        </p:nvSpPr>
        <p:spPr>
          <a:xfrm>
            <a:off x="2916936" y="3328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見どころ動画を見る</a:t>
            </a:r>
          </a:p>
        </p:txBody>
      </p:sp>
      <p:sp>
        <p:nvSpPr>
          <p:cNvPr id="23" name="Rectangle 22"/>
          <p:cNvSpPr/>
          <p:nvPr/>
        </p:nvSpPr>
        <p:spPr>
          <a:xfrm>
            <a:off x="4992624" y="1481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24" name="Rectangle 23"/>
          <p:cNvSpPr/>
          <p:nvPr/>
        </p:nvSpPr>
        <p:spPr>
          <a:xfrm>
            <a:off x="4992624" y="1481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4日目</a:t>
            </a:r>
          </a:p>
          <a:p>
            <a:pPr algn="ctr">
              <a:lnSpc>
                <a:spcPct val="110000"/>
              </a:lnSpc>
              <a:spcAft>
                <a:spcPts val="0"/>
              </a:spcAft>
            </a:pPr>
            <a:r>
              <a:rPr sz="1050" b="0">
                <a:solidFill>
                  <a:srgbClr val="FFFFFF"/>
                </a:solidFill>
                <a:latin typeface="メイリオ"/>
                <a:ea typeface="メイリオ"/>
                <a:cs typeface="メイリオ"/>
              </a:rPr>
              <a:t>確かめる</a:t>
            </a:r>
          </a:p>
        </p:txBody>
      </p:sp>
      <p:sp>
        <p:nvSpPr>
          <p:cNvPr id="25" name="Rectangle 24"/>
          <p:cNvSpPr/>
          <p:nvPr/>
        </p:nvSpPr>
        <p:spPr>
          <a:xfrm>
            <a:off x="5065776" y="1975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安心してご参加ください</a:t>
            </a:r>
          </a:p>
        </p:txBody>
      </p:sp>
      <p:sp>
        <p:nvSpPr>
          <p:cNvPr id="26" name="Rectangle 25"/>
          <p:cNvSpPr/>
          <p:nvPr/>
        </p:nvSpPr>
        <p:spPr>
          <a:xfrm>
            <a:off x="5065776" y="2432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講師の経歴と実績</a:t>
            </a:r>
          </a:p>
          <a:p>
            <a:pPr algn="ctr">
              <a:lnSpc>
                <a:spcPct val="110000"/>
              </a:lnSpc>
              <a:spcAft>
                <a:spcPts val="0"/>
              </a:spcAft>
            </a:pPr>
            <a:r>
              <a:rPr sz="1100" b="0">
                <a:solidFill>
                  <a:srgbClr val="333333"/>
                </a:solidFill>
                <a:latin typeface="メイリオ"/>
                <a:ea typeface="メイリオ"/>
                <a:cs typeface="メイリオ"/>
              </a:rPr>
              <a:t>参加は無料</a:t>
            </a:r>
          </a:p>
        </p:txBody>
      </p:sp>
      <p:sp>
        <p:nvSpPr>
          <p:cNvPr id="27" name="Rectangle 26"/>
          <p:cNvSpPr/>
          <p:nvPr/>
        </p:nvSpPr>
        <p:spPr>
          <a:xfrm>
            <a:off x="5084064" y="2816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検索した日に「投資詐欺」「金融庁」で不安を確かめている</a:t>
            </a:r>
          </a:p>
        </p:txBody>
      </p:sp>
      <p:sp>
        <p:nvSpPr>
          <p:cNvPr id="28" name="Rectangle 27"/>
          <p:cNvSpPr/>
          <p:nvPr/>
        </p:nvSpPr>
        <p:spPr>
          <a:xfrm>
            <a:off x="5221224" y="3328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講師紹介を見る</a:t>
            </a:r>
          </a:p>
        </p:txBody>
      </p:sp>
      <p:sp>
        <p:nvSpPr>
          <p:cNvPr id="29" name="Rectangle 28"/>
          <p:cNvSpPr/>
          <p:nvPr/>
        </p:nvSpPr>
        <p:spPr>
          <a:xfrm>
            <a:off x="7296912" y="1481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30" name="Rectangle 29"/>
          <p:cNvSpPr/>
          <p:nvPr/>
        </p:nvSpPr>
        <p:spPr>
          <a:xfrm>
            <a:off x="7296912" y="1481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6日目</a:t>
            </a:r>
          </a:p>
          <a:p>
            <a:pPr algn="ctr">
              <a:lnSpc>
                <a:spcPct val="110000"/>
              </a:lnSpc>
              <a:spcAft>
                <a:spcPts val="0"/>
              </a:spcAft>
            </a:pPr>
            <a:r>
              <a:rPr sz="1050" b="0">
                <a:solidFill>
                  <a:srgbClr val="FFFFFF"/>
                </a:solidFill>
                <a:latin typeface="メイリオ"/>
                <a:ea typeface="メイリオ"/>
                <a:cs typeface="メイリオ"/>
              </a:rPr>
              <a:t>始める</a:t>
            </a:r>
          </a:p>
        </p:txBody>
      </p:sp>
      <p:sp>
        <p:nvSpPr>
          <p:cNvPr id="31" name="Rectangle 30"/>
          <p:cNvSpPr/>
          <p:nvPr/>
        </p:nvSpPr>
        <p:spPr>
          <a:xfrm>
            <a:off x="7370064" y="1975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セミナーで持ち帰れること</a:t>
            </a:r>
          </a:p>
        </p:txBody>
      </p:sp>
      <p:sp>
        <p:nvSpPr>
          <p:cNvPr id="32" name="Rectangle 31"/>
          <p:cNvSpPr/>
          <p:nvPr/>
        </p:nvSpPr>
        <p:spPr>
          <a:xfrm>
            <a:off x="7370064" y="2432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週2日で成果を出す</a:t>
            </a:r>
          </a:p>
          <a:p>
            <a:pPr algn="ctr">
              <a:lnSpc>
                <a:spcPct val="110000"/>
              </a:lnSpc>
              <a:spcAft>
                <a:spcPts val="0"/>
              </a:spcAft>
            </a:pPr>
            <a:r>
              <a:rPr sz="1100" b="0">
                <a:solidFill>
                  <a:srgbClr val="333333"/>
                </a:solidFill>
                <a:latin typeface="メイリオ"/>
                <a:ea typeface="メイリオ"/>
                <a:cs typeface="メイリオ"/>
              </a:rPr>
              <a:t>面談メソッド</a:t>
            </a:r>
          </a:p>
        </p:txBody>
      </p:sp>
      <p:sp>
        <p:nvSpPr>
          <p:cNvPr id="33" name="Rectangle 32"/>
          <p:cNvSpPr/>
          <p:nvPr/>
        </p:nvSpPr>
        <p:spPr>
          <a:xfrm>
            <a:off x="7388352" y="2816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1〜4日後に「口座開設」「nisa つみたて投資枠」など始め方を検索</a:t>
            </a:r>
          </a:p>
        </p:txBody>
      </p:sp>
      <p:sp>
        <p:nvSpPr>
          <p:cNvPr id="34" name="Rectangle 33"/>
          <p:cNvSpPr/>
          <p:nvPr/>
        </p:nvSpPr>
        <p:spPr>
          <a:xfrm>
            <a:off x="7525512" y="3328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内容を詳しく見る</a:t>
            </a:r>
          </a:p>
        </p:txBody>
      </p:sp>
      <p:sp>
        <p:nvSpPr>
          <p:cNvPr id="35" name="Rectangle 34"/>
          <p:cNvSpPr/>
          <p:nvPr/>
        </p:nvSpPr>
        <p:spPr>
          <a:xfrm>
            <a:off x="384048" y="3767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36" name="Rectangle 35"/>
          <p:cNvSpPr/>
          <p:nvPr/>
        </p:nvSpPr>
        <p:spPr>
          <a:xfrm>
            <a:off x="384048" y="3767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8日目</a:t>
            </a:r>
          </a:p>
          <a:p>
            <a:pPr algn="ctr">
              <a:lnSpc>
                <a:spcPct val="110000"/>
              </a:lnSpc>
              <a:spcAft>
                <a:spcPts val="0"/>
              </a:spcAft>
            </a:pPr>
            <a:r>
              <a:rPr sz="1050" b="0">
                <a:solidFill>
                  <a:srgbClr val="FFFFFF"/>
                </a:solidFill>
                <a:latin typeface="メイリオ"/>
                <a:ea typeface="メイリオ"/>
                <a:cs typeface="メイリオ"/>
              </a:rPr>
              <a:t>受講生の声</a:t>
            </a:r>
          </a:p>
        </p:txBody>
      </p:sp>
      <p:sp>
        <p:nvSpPr>
          <p:cNvPr id="37" name="Rectangle 36"/>
          <p:cNvSpPr/>
          <p:nvPr/>
        </p:nvSpPr>
        <p:spPr>
          <a:xfrm>
            <a:off x="457200" y="4261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同じ悩みから、</a:t>
            </a:r>
          </a:p>
          <a:p>
            <a:pPr algn="ctr">
              <a:lnSpc>
                <a:spcPct val="110000"/>
              </a:lnSpc>
              <a:spcAft>
                <a:spcPts val="0"/>
              </a:spcAft>
            </a:pPr>
            <a:r>
              <a:rPr sz="1200" b="1">
                <a:solidFill>
                  <a:srgbClr val="1F2A5C"/>
                </a:solidFill>
                <a:latin typeface="メイリオ"/>
                <a:ea typeface="メイリオ"/>
                <a:cs typeface="メイリオ"/>
              </a:rPr>
              <a:t>成果を出した方の声</a:t>
            </a:r>
          </a:p>
        </p:txBody>
      </p:sp>
      <p:sp>
        <p:nvSpPr>
          <p:cNvPr id="38" name="Rectangle 37"/>
          <p:cNvSpPr/>
          <p:nvPr/>
        </p:nvSpPr>
        <p:spPr>
          <a:xfrm>
            <a:off x="457200" y="4718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診断の答えに合わせる</a:t>
            </a:r>
          </a:p>
          <a:p>
            <a:pPr algn="ctr">
              <a:lnSpc>
                <a:spcPct val="110000"/>
              </a:lnSpc>
              <a:spcAft>
                <a:spcPts val="0"/>
              </a:spcAft>
            </a:pPr>
            <a:r>
              <a:rPr sz="1100" b="0">
                <a:solidFill>
                  <a:srgbClr val="333333"/>
                </a:solidFill>
                <a:latin typeface="メイリオ"/>
                <a:ea typeface="メイリオ"/>
                <a:cs typeface="メイリオ"/>
              </a:rPr>
              <a:t>（成約／紹介／働く時間）</a:t>
            </a:r>
          </a:p>
        </p:txBody>
      </p:sp>
      <p:sp>
        <p:nvSpPr>
          <p:cNvPr id="39" name="Rectangle 38"/>
          <p:cNvSpPr/>
          <p:nvPr/>
        </p:nvSpPr>
        <p:spPr>
          <a:xfrm>
            <a:off x="475488" y="5102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—（診断の答えで出し分け）</a:t>
            </a:r>
          </a:p>
        </p:txBody>
      </p:sp>
      <p:sp>
        <p:nvSpPr>
          <p:cNvPr id="40" name="Rectangle 39"/>
          <p:cNvSpPr/>
          <p:nvPr/>
        </p:nvSpPr>
        <p:spPr>
          <a:xfrm>
            <a:off x="612647" y="5614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受講生の声を見る</a:t>
            </a:r>
          </a:p>
        </p:txBody>
      </p:sp>
      <p:sp>
        <p:nvSpPr>
          <p:cNvPr id="41" name="Rectangle 40"/>
          <p:cNvSpPr/>
          <p:nvPr/>
        </p:nvSpPr>
        <p:spPr>
          <a:xfrm>
            <a:off x="2688336" y="3767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2" name="Rectangle 41"/>
          <p:cNvSpPr/>
          <p:nvPr/>
        </p:nvSpPr>
        <p:spPr>
          <a:xfrm>
            <a:off x="2688336" y="3767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10日目</a:t>
            </a:r>
          </a:p>
          <a:p>
            <a:pPr algn="ctr">
              <a:lnSpc>
                <a:spcPct val="110000"/>
              </a:lnSpc>
              <a:spcAft>
                <a:spcPts val="0"/>
              </a:spcAft>
            </a:pPr>
            <a:r>
              <a:rPr sz="1050" b="0">
                <a:solidFill>
                  <a:srgbClr val="FFFFFF"/>
                </a:solidFill>
                <a:latin typeface="メイリオ"/>
                <a:ea typeface="メイリオ"/>
                <a:cs typeface="メイリオ"/>
              </a:rPr>
              <a:t>よくある質問</a:t>
            </a:r>
          </a:p>
        </p:txBody>
      </p:sp>
      <p:sp>
        <p:nvSpPr>
          <p:cNvPr id="43" name="Rectangle 42"/>
          <p:cNvSpPr/>
          <p:nvPr/>
        </p:nvSpPr>
        <p:spPr>
          <a:xfrm>
            <a:off x="2761488" y="4261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参加前のよくある質問</a:t>
            </a:r>
          </a:p>
        </p:txBody>
      </p:sp>
      <p:sp>
        <p:nvSpPr>
          <p:cNvPr id="44" name="Rectangle 43"/>
          <p:cNvSpPr/>
          <p:nvPr/>
        </p:nvSpPr>
        <p:spPr>
          <a:xfrm>
            <a:off x="2761488" y="4718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地方からも参加できる</a:t>
            </a:r>
          </a:p>
          <a:p>
            <a:pPr algn="ctr">
              <a:lnSpc>
                <a:spcPct val="110000"/>
              </a:lnSpc>
              <a:spcAft>
                <a:spcPts val="0"/>
              </a:spcAft>
            </a:pPr>
            <a:r>
              <a:rPr sz="1100" b="0">
                <a:solidFill>
                  <a:srgbClr val="333333"/>
                </a:solidFill>
                <a:latin typeface="メイリオ"/>
                <a:ea typeface="メイリオ"/>
                <a:cs typeface="メイリオ"/>
              </a:rPr>
              <a:t>初心者でも分かる</a:t>
            </a:r>
          </a:p>
        </p:txBody>
      </p:sp>
      <p:sp>
        <p:nvSpPr>
          <p:cNvPr id="45" name="Rectangle 44"/>
          <p:cNvSpPr/>
          <p:nvPr/>
        </p:nvSpPr>
        <p:spPr>
          <a:xfrm>
            <a:off x="2779776" y="5102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7〜15日後も「インデックスファンド」など学びの検索が続く</a:t>
            </a:r>
          </a:p>
        </p:txBody>
      </p:sp>
      <p:sp>
        <p:nvSpPr>
          <p:cNvPr id="46" name="Rectangle 45"/>
          <p:cNvSpPr/>
          <p:nvPr/>
        </p:nvSpPr>
        <p:spPr>
          <a:xfrm>
            <a:off x="2916936" y="5614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よくある質問を見る</a:t>
            </a:r>
          </a:p>
        </p:txBody>
      </p:sp>
      <p:sp>
        <p:nvSpPr>
          <p:cNvPr id="47" name="Rectangle 46"/>
          <p:cNvSpPr/>
          <p:nvPr/>
        </p:nvSpPr>
        <p:spPr>
          <a:xfrm>
            <a:off x="4992624" y="3767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Rectangle 47"/>
          <p:cNvSpPr/>
          <p:nvPr/>
        </p:nvSpPr>
        <p:spPr>
          <a:xfrm>
            <a:off x="4992624" y="3767328"/>
            <a:ext cx="219456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12日目</a:t>
            </a:r>
          </a:p>
          <a:p>
            <a:pPr algn="ctr">
              <a:lnSpc>
                <a:spcPct val="110000"/>
              </a:lnSpc>
              <a:spcAft>
                <a:spcPts val="0"/>
              </a:spcAft>
            </a:pPr>
            <a:r>
              <a:rPr sz="1050" b="0">
                <a:solidFill>
                  <a:srgbClr val="FFFFFF"/>
                </a:solidFill>
                <a:latin typeface="メイリオ"/>
                <a:ea typeface="メイリオ"/>
                <a:cs typeface="メイリオ"/>
              </a:rPr>
              <a:t>予約</a:t>
            </a:r>
          </a:p>
        </p:txBody>
      </p:sp>
      <p:sp>
        <p:nvSpPr>
          <p:cNvPr id="49" name="Rectangle 48"/>
          <p:cNvSpPr/>
          <p:nvPr/>
        </p:nvSpPr>
        <p:spPr>
          <a:xfrm>
            <a:off x="5065776" y="4261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次回セミナーのご案内</a:t>
            </a:r>
          </a:p>
        </p:txBody>
      </p:sp>
      <p:sp>
        <p:nvSpPr>
          <p:cNvPr id="50" name="Rectangle 49"/>
          <p:cNvSpPr/>
          <p:nvPr/>
        </p:nvSpPr>
        <p:spPr>
          <a:xfrm>
            <a:off x="5065776" y="4718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開催日程</a:t>
            </a:r>
          </a:p>
          <a:p>
            <a:pPr algn="ctr">
              <a:lnSpc>
                <a:spcPct val="110000"/>
              </a:lnSpc>
              <a:spcAft>
                <a:spcPts val="0"/>
              </a:spcAft>
            </a:pPr>
            <a:r>
              <a:rPr sz="1100" b="0">
                <a:solidFill>
                  <a:srgbClr val="333333"/>
                </a:solidFill>
                <a:latin typeface="メイリオ"/>
                <a:ea typeface="メイリオ"/>
                <a:cs typeface="メイリオ"/>
              </a:rPr>
              <a:t>予約ページ</a:t>
            </a:r>
          </a:p>
        </p:txBody>
      </p:sp>
      <p:sp>
        <p:nvSpPr>
          <p:cNvPr id="51" name="Rectangle 50"/>
          <p:cNvSpPr/>
          <p:nvPr/>
        </p:nvSpPr>
        <p:spPr>
          <a:xfrm>
            <a:off x="5084064" y="5102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—（募集期間に合わせて配信）</a:t>
            </a:r>
          </a:p>
        </p:txBody>
      </p:sp>
      <p:sp>
        <p:nvSpPr>
          <p:cNvPr id="52" name="Rectangle 51"/>
          <p:cNvSpPr/>
          <p:nvPr/>
        </p:nvSpPr>
        <p:spPr>
          <a:xfrm>
            <a:off x="5221224" y="5614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日程を見て予約する</a:t>
            </a:r>
          </a:p>
        </p:txBody>
      </p:sp>
      <p:sp>
        <p:nvSpPr>
          <p:cNvPr id="53" name="Rectangle 52"/>
          <p:cNvSpPr/>
          <p:nvPr/>
        </p:nvSpPr>
        <p:spPr>
          <a:xfrm>
            <a:off x="7296912" y="3767328"/>
            <a:ext cx="2194560" cy="21945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4" name="Rectangle 53"/>
          <p:cNvSpPr/>
          <p:nvPr/>
        </p:nvSpPr>
        <p:spPr>
          <a:xfrm>
            <a:off x="7296912" y="3767328"/>
            <a:ext cx="2194560" cy="45720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7200" rIns="18000" bIns="7200"/>
          <a:lstStyle/>
          <a:p>
            <a:pPr algn="ctr">
              <a:lnSpc>
                <a:spcPct val="110000"/>
              </a:lnSpc>
              <a:spcAft>
                <a:spcPts val="0"/>
              </a:spcAft>
            </a:pPr>
            <a:r>
              <a:rPr sz="1400" b="1">
                <a:solidFill>
                  <a:srgbClr val="FFFFFF"/>
                </a:solidFill>
                <a:latin typeface="メイリオ"/>
                <a:ea typeface="メイリオ"/>
                <a:cs typeface="メイリオ"/>
              </a:rPr>
              <a:t>14日目</a:t>
            </a:r>
          </a:p>
          <a:p>
            <a:pPr algn="ctr">
              <a:lnSpc>
                <a:spcPct val="110000"/>
              </a:lnSpc>
              <a:spcAft>
                <a:spcPts val="0"/>
              </a:spcAft>
            </a:pPr>
            <a:r>
              <a:rPr sz="1050" b="0">
                <a:solidFill>
                  <a:srgbClr val="FFFFFF"/>
                </a:solidFill>
                <a:latin typeface="メイリオ"/>
                <a:ea typeface="メイリオ"/>
                <a:cs typeface="メイリオ"/>
              </a:rPr>
              <a:t>締切</a:t>
            </a:r>
          </a:p>
        </p:txBody>
      </p:sp>
      <p:sp>
        <p:nvSpPr>
          <p:cNvPr id="55" name="Rectangle 54"/>
          <p:cNvSpPr/>
          <p:nvPr/>
        </p:nvSpPr>
        <p:spPr>
          <a:xfrm>
            <a:off x="7370064" y="4261104"/>
            <a:ext cx="2048255"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200" b="1">
                <a:solidFill>
                  <a:srgbClr val="1F2A5C"/>
                </a:solidFill>
                <a:latin typeface="メイリオ"/>
                <a:ea typeface="メイリオ"/>
                <a:cs typeface="メイリオ"/>
              </a:rPr>
              <a:t>予約の締切が</a:t>
            </a:r>
          </a:p>
          <a:p>
            <a:pPr algn="ctr">
              <a:lnSpc>
                <a:spcPct val="110000"/>
              </a:lnSpc>
              <a:spcAft>
                <a:spcPts val="0"/>
              </a:spcAft>
            </a:pPr>
            <a:r>
              <a:rPr sz="1200" b="1">
                <a:solidFill>
                  <a:srgbClr val="1F2A5C"/>
                </a:solidFill>
                <a:latin typeface="メイリオ"/>
                <a:ea typeface="メイリオ"/>
                <a:cs typeface="メイリオ"/>
              </a:rPr>
              <a:t>近づいています</a:t>
            </a:r>
          </a:p>
        </p:txBody>
      </p:sp>
      <p:sp>
        <p:nvSpPr>
          <p:cNvPr id="56" name="Rectangle 55"/>
          <p:cNvSpPr/>
          <p:nvPr/>
        </p:nvSpPr>
        <p:spPr>
          <a:xfrm>
            <a:off x="7370064" y="4718304"/>
            <a:ext cx="2048255"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8000" tIns="0" rIns="18000" bIns="0"/>
          <a:lstStyle/>
          <a:p>
            <a:pPr algn="ctr">
              <a:lnSpc>
                <a:spcPct val="110000"/>
              </a:lnSpc>
              <a:spcAft>
                <a:spcPts val="0"/>
              </a:spcAft>
            </a:pPr>
            <a:r>
              <a:rPr sz="1100" b="0">
                <a:solidFill>
                  <a:srgbClr val="333333"/>
                </a:solidFill>
                <a:latin typeface="メイリオ"/>
                <a:ea typeface="メイリオ"/>
                <a:cs typeface="メイリオ"/>
              </a:rPr>
              <a:t>締切日のお知らせ</a:t>
            </a:r>
          </a:p>
          <a:p>
            <a:pPr algn="ctr">
              <a:lnSpc>
                <a:spcPct val="110000"/>
              </a:lnSpc>
              <a:spcAft>
                <a:spcPts val="0"/>
              </a:spcAft>
            </a:pPr>
            <a:r>
              <a:rPr sz="1100" b="0">
                <a:solidFill>
                  <a:srgbClr val="333333"/>
                </a:solidFill>
                <a:latin typeface="メイリオ"/>
                <a:ea typeface="メイリオ"/>
                <a:cs typeface="メイリオ"/>
              </a:rPr>
              <a:t>予約ページ</a:t>
            </a:r>
          </a:p>
        </p:txBody>
      </p:sp>
      <p:sp>
        <p:nvSpPr>
          <p:cNvPr id="57" name="Rectangle 56"/>
          <p:cNvSpPr/>
          <p:nvPr/>
        </p:nvSpPr>
        <p:spPr>
          <a:xfrm>
            <a:off x="7388352" y="5102352"/>
            <a:ext cx="2011679" cy="438912"/>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28800" tIns="10800" rIns="21600" bIns="7200"/>
          <a:lstStyle/>
          <a:p>
            <a:pPr algn="l">
              <a:lnSpc>
                <a:spcPct val="110000"/>
              </a:lnSpc>
              <a:spcAft>
                <a:spcPts val="0"/>
              </a:spcAft>
            </a:pPr>
            <a:r>
              <a:rPr sz="800" b="1">
                <a:solidFill>
                  <a:srgbClr val="777777"/>
                </a:solidFill>
                <a:latin typeface="メイリオ"/>
                <a:ea typeface="メイリオ"/>
                <a:cs typeface="メイリオ"/>
              </a:rPr>
              <a:t>［検索データ］</a:t>
            </a:r>
          </a:p>
          <a:p>
            <a:pPr algn="l">
              <a:lnSpc>
                <a:spcPct val="110000"/>
              </a:lnSpc>
              <a:spcAft>
                <a:spcPts val="0"/>
              </a:spcAft>
            </a:pPr>
            <a:r>
              <a:rPr sz="850" b="0">
                <a:solidFill>
                  <a:srgbClr val="333333"/>
                </a:solidFill>
                <a:latin typeface="メイリオ"/>
                <a:ea typeface="メイリオ"/>
                <a:cs typeface="メイリオ"/>
              </a:rPr>
              <a:t>—（募集期間に合わせて配信）</a:t>
            </a:r>
          </a:p>
        </p:txBody>
      </p:sp>
      <p:sp>
        <p:nvSpPr>
          <p:cNvPr id="58" name="Rectangle 57"/>
          <p:cNvSpPr/>
          <p:nvPr/>
        </p:nvSpPr>
        <p:spPr>
          <a:xfrm>
            <a:off x="7525512" y="5614416"/>
            <a:ext cx="1737359" cy="256032"/>
          </a:xfrm>
          <a:prstGeom prst="rect">
            <a:avLst/>
          </a:prstGeom>
          <a:solidFill>
            <a:srgbClr val="FFFFFF"/>
          </a:solidFill>
          <a:ln w="12700">
            <a:solidFill>
              <a:srgbClr val="1F2A5C"/>
            </a:solidFill>
          </a:ln>
          <a:effectLst/>
        </p:spPr>
        <p:style>
          <a:lnRef idx="1">
            <a:schemeClr val="accent1"/>
          </a:lnRef>
          <a:fillRef idx="3">
            <a:schemeClr val="accent1"/>
          </a:fillRef>
          <a:effectRef idx="0">
            <a:schemeClr val="accent1"/>
          </a:effectRef>
          <a:fontRef idx="minor">
            <a:schemeClr val="lt1"/>
          </a:fontRef>
        </p:style>
        <p:txBody>
          <a:bodyPr rtlCol="0" anchor="ctr" wrap="square" lIns="10800" tIns="0" rIns="10800" bIns="0"/>
          <a:lstStyle/>
          <a:p>
            <a:pPr algn="ctr">
              <a:lnSpc>
                <a:spcPct val="110000"/>
              </a:lnSpc>
              <a:spcAft>
                <a:spcPts val="0"/>
              </a:spcAft>
            </a:pPr>
            <a:r>
              <a:rPr sz="1000" b="1">
                <a:solidFill>
                  <a:srgbClr val="1F2A5C"/>
                </a:solidFill>
                <a:latin typeface="メイリオ"/>
                <a:ea typeface="メイリオ"/>
                <a:cs typeface="メイリオ"/>
              </a:rPr>
              <a:t>予約する</a:t>
            </a:r>
          </a:p>
        </p:txBody>
      </p:sp>
      <p:sp>
        <p:nvSpPr>
          <p:cNvPr id="59" name="TextBox 58"/>
          <p:cNvSpPr txBox="1"/>
          <p:nvPr/>
        </p:nvSpPr>
        <p:spPr>
          <a:xfrm>
            <a:off x="420624" y="6016752"/>
            <a:ext cx="9052560" cy="457200"/>
          </a:xfrm>
          <a:prstGeom prst="rect">
            <a:avLst/>
          </a:prstGeom>
          <a:noFill/>
        </p:spPr>
        <p:txBody>
          <a:bodyPr wrap="square" anchor="t"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※募集期間外は、次回の案内開始時に届ける。入口（離脱防止ポップアップ／通常の友だち追加）で、0日目のあいさつの言葉を変える</a:t>
            </a:r>
          </a:p>
          <a:p>
            <a:pPr algn="l">
              <a:lnSpc>
                <a:spcPct val="105000"/>
              </a:lnSpc>
              <a:spcAft>
                <a:spcPts val="200"/>
              </a:spcAft>
            </a:pPr>
            <a:r>
              <a:rPr sz="900" b="0">
                <a:solidFill>
                  <a:srgbClr val="777777"/>
                </a:solidFill>
                <a:latin typeface="メイリオ"/>
                <a:ea typeface="メイリオ"/>
                <a:cs typeface="メイリオ"/>
              </a:rPr>
              <a:t>※一般の方には一般の方向けの案内を中心に配信。配信内容は、貴社LPの「生産性4倍セミナーの特徴」「受講生の声」「よくある質問」「講師紹介」をもとにした例</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15日を過ぎた友だちには回数を絞ってつながりを保ち、</a:t>
            </a:r>
          </a:p>
          <a:p>
            <a:r>
              <a:rPr lang="ja-JP" altLang="en-US" sz="1600" b="1" dirty="0">
                <a:latin typeface="メイリオ" panose="020B0604030504040204" pitchFamily="50" charset="-128"/>
                <a:ea typeface="メイリオ" panose="020B0604030504040204" pitchFamily="50" charset="-128"/>
                <a:cs typeface="Meiryo"/>
                <a:sym typeface="Meiryo"/>
              </a:rPr>
              <a:t>開催月は企画配信で、予約・参加まで後押しする。</a:t>
            </a:r>
          </a:p>
        </p:txBody>
      </p:sp>
      <p:sp>
        <p:nvSpPr>
          <p:cNvPr id="11" name="Rectangle 10"/>
          <p:cNvSpPr/>
          <p:nvPr/>
        </p:nvSpPr>
        <p:spPr>
          <a:xfrm>
            <a:off x="420624" y="2011680"/>
            <a:ext cx="1600200" cy="128015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200"/>
              </a:spcAft>
            </a:pPr>
            <a:r>
              <a:rPr sz="1300" b="1">
                <a:solidFill>
                  <a:srgbClr val="FFFFFF"/>
                </a:solidFill>
                <a:latin typeface="メイリオ"/>
                <a:ea typeface="メイリオ"/>
                <a:cs typeface="メイリオ"/>
              </a:rPr>
              <a:t>開催のない月</a:t>
            </a:r>
          </a:p>
          <a:p>
            <a:pPr algn="ctr">
              <a:lnSpc>
                <a:spcPct val="110000"/>
              </a:lnSpc>
              <a:spcAft>
                <a:spcPts val="0"/>
              </a:spcAft>
            </a:pPr>
            <a:r>
              <a:rPr sz="1200" b="0">
                <a:solidFill>
                  <a:srgbClr val="FFFFFF"/>
                </a:solidFill>
                <a:latin typeface="メイリオ"/>
                <a:ea typeface="メイリオ"/>
                <a:cs typeface="メイリオ"/>
              </a:rPr>
              <a:t>月1〜2回</a:t>
            </a:r>
          </a:p>
        </p:txBody>
      </p:sp>
      <p:sp>
        <p:nvSpPr>
          <p:cNvPr id="12" name="Rectangle 11"/>
          <p:cNvSpPr/>
          <p:nvPr/>
        </p:nvSpPr>
        <p:spPr>
          <a:xfrm>
            <a:off x="2157984" y="2011680"/>
            <a:ext cx="2292096"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講師のコラム</a:t>
            </a:r>
          </a:p>
          <a:p>
            <a:pPr algn="ctr">
              <a:lnSpc>
                <a:spcPct val="110000"/>
              </a:lnSpc>
              <a:spcAft>
                <a:spcPts val="0"/>
              </a:spcAft>
            </a:pPr>
            <a:r>
              <a:rPr sz="1200" b="0">
                <a:solidFill>
                  <a:srgbClr val="333333"/>
                </a:solidFill>
                <a:latin typeface="メイリオ"/>
                <a:ea typeface="メイリオ"/>
                <a:cs typeface="メイリオ"/>
              </a:rPr>
              <a:t>営業のヒントを届ける</a:t>
            </a:r>
          </a:p>
        </p:txBody>
      </p:sp>
      <p:sp>
        <p:nvSpPr>
          <p:cNvPr id="13" name="TextBox 12"/>
          <p:cNvSpPr txBox="1"/>
          <p:nvPr/>
        </p:nvSpPr>
        <p:spPr>
          <a:xfrm>
            <a:off x="4450080" y="201168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14" name="Rectangle 13"/>
          <p:cNvSpPr/>
          <p:nvPr/>
        </p:nvSpPr>
        <p:spPr>
          <a:xfrm>
            <a:off x="4669535" y="2011680"/>
            <a:ext cx="2292096"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受講生の声</a:t>
            </a:r>
          </a:p>
          <a:p>
            <a:pPr algn="ctr">
              <a:lnSpc>
                <a:spcPct val="110000"/>
              </a:lnSpc>
              <a:spcAft>
                <a:spcPts val="0"/>
              </a:spcAft>
            </a:pPr>
            <a:r>
              <a:rPr sz="1200" b="0">
                <a:solidFill>
                  <a:srgbClr val="333333"/>
                </a:solidFill>
                <a:latin typeface="メイリオ"/>
                <a:ea typeface="メイリオ"/>
                <a:cs typeface="メイリオ"/>
              </a:rPr>
              <a:t>成果が出た方の話</a:t>
            </a:r>
          </a:p>
        </p:txBody>
      </p:sp>
      <p:sp>
        <p:nvSpPr>
          <p:cNvPr id="15" name="TextBox 14"/>
          <p:cNvSpPr txBox="1"/>
          <p:nvPr/>
        </p:nvSpPr>
        <p:spPr>
          <a:xfrm>
            <a:off x="6961631" y="201168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16" name="Rectangle 15"/>
          <p:cNvSpPr/>
          <p:nvPr/>
        </p:nvSpPr>
        <p:spPr>
          <a:xfrm>
            <a:off x="7181087" y="2011680"/>
            <a:ext cx="2292096"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次回の予告</a:t>
            </a:r>
          </a:p>
          <a:p>
            <a:pPr algn="ctr">
              <a:lnSpc>
                <a:spcPct val="110000"/>
              </a:lnSpc>
              <a:spcAft>
                <a:spcPts val="0"/>
              </a:spcAft>
            </a:pPr>
            <a:r>
              <a:rPr sz="1200" b="0">
                <a:solidFill>
                  <a:srgbClr val="333333"/>
                </a:solidFill>
                <a:latin typeface="メイリオ"/>
                <a:ea typeface="メイリオ"/>
                <a:cs typeface="メイリオ"/>
              </a:rPr>
              <a:t>次のセミナーの時期</a:t>
            </a:r>
          </a:p>
        </p:txBody>
      </p:sp>
      <p:sp>
        <p:nvSpPr>
          <p:cNvPr id="17" name="Rectangle 16"/>
          <p:cNvSpPr/>
          <p:nvPr/>
        </p:nvSpPr>
        <p:spPr>
          <a:xfrm>
            <a:off x="420624" y="3566160"/>
            <a:ext cx="1600200" cy="128015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200"/>
              </a:spcAft>
            </a:pPr>
            <a:r>
              <a:rPr sz="1300" b="1">
                <a:solidFill>
                  <a:srgbClr val="FFFFFF"/>
                </a:solidFill>
                <a:latin typeface="メイリオ"/>
                <a:ea typeface="メイリオ"/>
                <a:cs typeface="メイリオ"/>
              </a:rPr>
              <a:t>開催月</a:t>
            </a:r>
          </a:p>
          <a:p>
            <a:pPr algn="ctr">
              <a:lnSpc>
                <a:spcPct val="110000"/>
              </a:lnSpc>
              <a:spcAft>
                <a:spcPts val="0"/>
              </a:spcAft>
            </a:pPr>
            <a:r>
              <a:rPr sz="1200" b="0">
                <a:solidFill>
                  <a:srgbClr val="FFFFFF"/>
                </a:solidFill>
                <a:latin typeface="メイリオ"/>
                <a:ea typeface="メイリオ"/>
                <a:cs typeface="メイリオ"/>
              </a:rPr>
              <a:t>月4〜5回</a:t>
            </a:r>
          </a:p>
        </p:txBody>
      </p:sp>
      <p:sp>
        <p:nvSpPr>
          <p:cNvPr id="18" name="Rectangle 17"/>
          <p:cNvSpPr/>
          <p:nvPr/>
        </p:nvSpPr>
        <p:spPr>
          <a:xfrm>
            <a:off x="2157984" y="3566160"/>
            <a:ext cx="1287475"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開催のご案内</a:t>
            </a:r>
          </a:p>
          <a:p>
            <a:pPr algn="ctr">
              <a:lnSpc>
                <a:spcPct val="110000"/>
              </a:lnSpc>
              <a:spcAft>
                <a:spcPts val="0"/>
              </a:spcAft>
            </a:pPr>
            <a:r>
              <a:rPr sz="1200" b="0">
                <a:solidFill>
                  <a:srgbClr val="333333"/>
                </a:solidFill>
                <a:latin typeface="メイリオ"/>
                <a:ea typeface="メイリオ"/>
                <a:cs typeface="メイリオ"/>
              </a:rPr>
              <a:t>日程と予約ページ</a:t>
            </a:r>
          </a:p>
        </p:txBody>
      </p:sp>
      <p:sp>
        <p:nvSpPr>
          <p:cNvPr id="19" name="TextBox 18"/>
          <p:cNvSpPr txBox="1"/>
          <p:nvPr/>
        </p:nvSpPr>
        <p:spPr>
          <a:xfrm>
            <a:off x="3445459" y="356616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20" name="Rectangle 19"/>
          <p:cNvSpPr/>
          <p:nvPr/>
        </p:nvSpPr>
        <p:spPr>
          <a:xfrm>
            <a:off x="3664915" y="3566160"/>
            <a:ext cx="1287475"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見どころ</a:t>
            </a:r>
          </a:p>
          <a:p>
            <a:pPr algn="ctr">
              <a:lnSpc>
                <a:spcPct val="110000"/>
              </a:lnSpc>
              <a:spcAft>
                <a:spcPts val="0"/>
              </a:spcAft>
            </a:pPr>
            <a:r>
              <a:rPr sz="1200" b="0">
                <a:solidFill>
                  <a:srgbClr val="333333"/>
                </a:solidFill>
                <a:latin typeface="メイリオ"/>
                <a:ea typeface="メイリオ"/>
                <a:cs typeface="メイリオ"/>
              </a:rPr>
              <a:t>動画・受講生の声</a:t>
            </a:r>
          </a:p>
        </p:txBody>
      </p:sp>
      <p:sp>
        <p:nvSpPr>
          <p:cNvPr id="21" name="TextBox 20"/>
          <p:cNvSpPr txBox="1"/>
          <p:nvPr/>
        </p:nvSpPr>
        <p:spPr>
          <a:xfrm>
            <a:off x="4952390" y="356616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22" name="Rectangle 21"/>
          <p:cNvSpPr/>
          <p:nvPr/>
        </p:nvSpPr>
        <p:spPr>
          <a:xfrm>
            <a:off x="5171846" y="3566160"/>
            <a:ext cx="1287475"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予約締切</a:t>
            </a:r>
          </a:p>
          <a:p>
            <a:pPr algn="ctr">
              <a:lnSpc>
                <a:spcPct val="110000"/>
              </a:lnSpc>
              <a:spcAft>
                <a:spcPts val="0"/>
              </a:spcAft>
            </a:pPr>
            <a:r>
              <a:rPr sz="1200" b="0">
                <a:solidFill>
                  <a:srgbClr val="333333"/>
                </a:solidFill>
                <a:latin typeface="メイリオ"/>
                <a:ea typeface="メイリオ"/>
                <a:cs typeface="メイリオ"/>
              </a:rPr>
              <a:t>締切をお知らせ</a:t>
            </a:r>
          </a:p>
        </p:txBody>
      </p:sp>
      <p:sp>
        <p:nvSpPr>
          <p:cNvPr id="23" name="TextBox 22"/>
          <p:cNvSpPr txBox="1"/>
          <p:nvPr/>
        </p:nvSpPr>
        <p:spPr>
          <a:xfrm>
            <a:off x="6459321" y="356616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24" name="Rectangle 23"/>
          <p:cNvSpPr/>
          <p:nvPr/>
        </p:nvSpPr>
        <p:spPr>
          <a:xfrm>
            <a:off x="6678777" y="3566160"/>
            <a:ext cx="1287475"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前日・当日</a:t>
            </a:r>
          </a:p>
          <a:p>
            <a:pPr algn="ctr">
              <a:lnSpc>
                <a:spcPct val="110000"/>
              </a:lnSpc>
              <a:spcAft>
                <a:spcPts val="0"/>
              </a:spcAft>
            </a:pPr>
            <a:r>
              <a:rPr sz="1200" b="0">
                <a:solidFill>
                  <a:srgbClr val="333333"/>
                </a:solidFill>
                <a:latin typeface="メイリオ"/>
                <a:ea typeface="メイリオ"/>
                <a:cs typeface="メイリオ"/>
              </a:rPr>
              <a:t>予約した方へ</a:t>
            </a:r>
          </a:p>
          <a:p>
            <a:pPr algn="ctr">
              <a:lnSpc>
                <a:spcPct val="110000"/>
              </a:lnSpc>
              <a:spcAft>
                <a:spcPts val="0"/>
              </a:spcAft>
            </a:pPr>
            <a:r>
              <a:rPr sz="1200" b="0">
                <a:solidFill>
                  <a:srgbClr val="333333"/>
                </a:solidFill>
                <a:latin typeface="メイリオ"/>
                <a:ea typeface="メイリオ"/>
                <a:cs typeface="メイリオ"/>
              </a:rPr>
              <a:t>リマインド</a:t>
            </a:r>
          </a:p>
        </p:txBody>
      </p:sp>
      <p:sp>
        <p:nvSpPr>
          <p:cNvPr id="25" name="TextBox 24"/>
          <p:cNvSpPr txBox="1"/>
          <p:nvPr/>
        </p:nvSpPr>
        <p:spPr>
          <a:xfrm>
            <a:off x="7966252" y="3566160"/>
            <a:ext cx="219456" cy="1280159"/>
          </a:xfrm>
          <a:prstGeom prst="rect">
            <a:avLst/>
          </a:prstGeom>
          <a:noFill/>
        </p:spPr>
        <p:txBody>
          <a:bodyPr wrap="square" anchor="ctr" lIns="36000" rIns="36000" tIns="10800" bIns="10800">
            <a:spAutoFit/>
          </a:bodyPr>
          <a:lstStyle/>
          <a:p>
            <a:pPr algn="ctr">
              <a:lnSpc>
                <a:spcPct val="105000"/>
              </a:lnSpc>
              <a:spcAft>
                <a:spcPts val="200"/>
              </a:spcAft>
            </a:pPr>
            <a:r>
              <a:rPr sz="1100" b="0">
                <a:solidFill>
                  <a:srgbClr val="1F2A5C"/>
                </a:solidFill>
                <a:latin typeface="メイリオ"/>
                <a:ea typeface="メイリオ"/>
                <a:cs typeface="メイリオ"/>
              </a:rPr>
              <a:t>▶</a:t>
            </a:r>
          </a:p>
        </p:txBody>
      </p:sp>
      <p:sp>
        <p:nvSpPr>
          <p:cNvPr id="26" name="Rectangle 25"/>
          <p:cNvSpPr/>
          <p:nvPr/>
        </p:nvSpPr>
        <p:spPr>
          <a:xfrm>
            <a:off x="8185708" y="3566160"/>
            <a:ext cx="1287475" cy="128015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rtlCol="0" anchor="ctr" wrap="square" lIns="28800" tIns="18000" rIns="28800" bIns="18000"/>
          <a:lstStyle/>
          <a:p>
            <a:pPr algn="ctr">
              <a:lnSpc>
                <a:spcPct val="110000"/>
              </a:lnSpc>
              <a:spcAft>
                <a:spcPts val="300"/>
              </a:spcAft>
            </a:pPr>
            <a:r>
              <a:rPr sz="1300" b="1">
                <a:solidFill>
                  <a:srgbClr val="1F2A5C"/>
                </a:solidFill>
                <a:latin typeface="メイリオ"/>
                <a:ea typeface="メイリオ"/>
                <a:cs typeface="メイリオ"/>
              </a:rPr>
              <a:t>参加後</a:t>
            </a:r>
          </a:p>
          <a:p>
            <a:pPr algn="ctr">
              <a:lnSpc>
                <a:spcPct val="110000"/>
              </a:lnSpc>
              <a:spcAft>
                <a:spcPts val="0"/>
              </a:spcAft>
            </a:pPr>
            <a:r>
              <a:rPr sz="1200" b="0">
                <a:solidFill>
                  <a:srgbClr val="333333"/>
                </a:solidFill>
                <a:latin typeface="メイリオ"/>
                <a:ea typeface="メイリオ"/>
                <a:cs typeface="メイリオ"/>
              </a:rPr>
              <a:t>サロンのご案内</a:t>
            </a:r>
          </a:p>
          <a:p>
            <a:pPr algn="ctr">
              <a:lnSpc>
                <a:spcPct val="110000"/>
              </a:lnSpc>
              <a:spcAft>
                <a:spcPts val="0"/>
              </a:spcAft>
            </a:pPr>
            <a:r>
              <a:rPr sz="1200" b="0">
                <a:solidFill>
                  <a:srgbClr val="333333"/>
                </a:solidFill>
                <a:latin typeface="メイリオ"/>
                <a:ea typeface="メイリオ"/>
                <a:cs typeface="メイリオ"/>
              </a:rPr>
              <a:t>（次のページ）</a:t>
            </a:r>
          </a:p>
        </p:txBody>
      </p:sp>
      <p:sp>
        <p:nvSpPr>
          <p:cNvPr id="27" name="TextBox 26"/>
          <p:cNvSpPr txBox="1"/>
          <p:nvPr/>
        </p:nvSpPr>
        <p:spPr>
          <a:xfrm>
            <a:off x="420624" y="5029200"/>
            <a:ext cx="9052560" cy="274320"/>
          </a:xfrm>
          <a:prstGeom prst="rect">
            <a:avLst/>
          </a:prstGeom>
          <a:noFill/>
        </p:spPr>
        <p:txBody>
          <a:bodyPr wrap="square" anchor="t" lIns="36000" rIns="36000" tIns="10800" bIns="10800">
            <a:spAutoFit/>
          </a:bodyPr>
          <a:lstStyle/>
          <a:p>
            <a:pPr algn="l">
              <a:lnSpc>
                <a:spcPct val="105000"/>
              </a:lnSpc>
              <a:spcAft>
                <a:spcPts val="200"/>
              </a:spcAft>
            </a:pPr>
            <a:r>
              <a:rPr sz="900" b="0">
                <a:solidFill>
                  <a:srgbClr val="777777"/>
                </a:solidFill>
                <a:latin typeface="メイリオ"/>
                <a:ea typeface="メイリオ"/>
                <a:cs typeface="メイリオ"/>
              </a:rPr>
              <a:t>※前日・当日のリマインドと参加後のフォローは、予約・参加した方を特定できる範囲で実施（予約システム等との連携は、可否を確認のうえ設計）</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142343</TotalTime>
  <Words>7487</Words>
  <Application>Microsoft Office PowerPoint</Application>
  <PresentationFormat>A4 210 x 297 mm</PresentationFormat>
  <Paragraphs>1325</Paragraphs>
  <Slides>60</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60</vt:i4>
      </vt:variant>
    </vt:vector>
  </HeadingPairs>
  <TitlesOfParts>
    <vt:vector size="66"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1956</cp:revision>
  <cp:lastPrinted>2022-11-01T11:38:14Z</cp:lastPrinted>
  <dcterms:created xsi:type="dcterms:W3CDTF">2015-09-04T09:21:15Z</dcterms:created>
  <dcterms:modified xsi:type="dcterms:W3CDTF">2026-10-22T05:59:23Z</dcterms:modified>
</cp:coreProperties>
</file>