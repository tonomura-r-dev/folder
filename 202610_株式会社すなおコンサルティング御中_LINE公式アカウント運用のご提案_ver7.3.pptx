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185818" cy="253916"/>
          </a:xfrm>
          <a:prstGeom prst="roundRect">
            <a:avLst/>
          </a:prstGeom>
          <a:solidFill>
            <a:srgbClr val="3467B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rgbClr val="333333"/>
                </a:solidFill>
                <a:latin typeface="メイリオ" panose="020B0604030504040204" pitchFamily="50" charset="-128"/>
                <a:ea typeface="メイリオ" panose="020B0604030504040204" pitchFamily="50" charset="-128"/>
              </a:rPr>
              <a:t>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185818" cy="253916"/>
          </a:xfrm>
          <a:prstGeom prst="roundRect">
            <a:avLst/>
          </a:prstGeom>
          <a:solidFill>
            <a:srgbClr val="8E4EC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rgbClr val="333333"/>
                </a:solidFill>
                <a:latin typeface="メイリオ" panose="020B0604030504040204" pitchFamily="50" charset="-128"/>
                <a:ea typeface="メイリオ" panose="020B0604030504040204" pitchFamily="50" charset="-128"/>
              </a:rPr>
              <a:t>確かめる</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185818" cy="253916"/>
          </a:xfrm>
          <a:prstGeom prst="roundRect">
            <a:avLst/>
          </a:prstGeom>
          <a:solidFill>
            <a:srgbClr val="00897B">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rgbClr val="333333"/>
                </a:solidFill>
                <a:latin typeface="メイリオ" panose="020B0604030504040204" pitchFamily="50" charset="-128"/>
                <a:ea typeface="メイリオ" panose="020B0604030504040204" pitchFamily="50" charset="-128"/>
              </a:rPr>
              <a:t>始める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4864608"/>
            <a:ext cx="2404872" cy="768096"/>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1500"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セミナー予約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376172"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よくある質問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2180844"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参加特典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71500"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講師紹介</a:t>
            </a:r>
          </a:p>
        </p:txBody>
      </p:sp>
      <p:sp>
        <p:nvSpPr>
          <p:cNvPr id="60" name="Rectangle 58">
            <a:extLst>
              <a:ext uri="{FF2B5EF4-FFF2-40B4-BE49-F238E27FC236}">
                <a16:creationId xmlns:a16="http://schemas.microsoft.com/office/drawing/2014/main" id="{985C54A4-91FC-0879-5A7C-BF14447F2D4C}"/>
              </a:ext>
            </a:extLst>
          </p:cNvPr>
          <p:cNvSpPr/>
          <p:nvPr/>
        </p:nvSpPr>
        <p:spPr>
          <a:xfrm>
            <a:off x="1376172"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受講生の声</a:t>
            </a:r>
          </a:p>
        </p:txBody>
      </p:sp>
      <p:sp>
        <p:nvSpPr>
          <p:cNvPr id="60" name="Rectangle 58">
            <a:extLst>
              <a:ext uri="{FF2B5EF4-FFF2-40B4-BE49-F238E27FC236}">
                <a16:creationId xmlns:a16="http://schemas.microsoft.com/office/drawing/2014/main" id="{985C54A4-91FC-0879-5A7C-BF14447F2D4C}"/>
              </a:ext>
            </a:extLst>
          </p:cNvPr>
          <p:cNvSpPr/>
          <p:nvPr/>
        </p:nvSpPr>
        <p:spPr>
          <a:xfrm>
            <a:off x="2180844"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お問い合わせ</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6002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919472" y="1810512"/>
            <a:ext cx="459028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選択肢（営業のお悩みタイプ診断・2問・30秒）</a:t>
            </a:r>
          </a:p>
        </p:txBody>
      </p:sp>
      <p:sp>
        <p:nvSpPr>
          <p:cNvPr id="96" name="Rectangle 95"/>
          <p:cNvSpPr/>
          <p:nvPr/>
        </p:nvSpPr>
        <p:spPr>
          <a:xfrm>
            <a:off x="3291840" y="2203704"/>
            <a:ext cx="1600200" cy="50292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あてはまる方は？</a:t>
            </a:r>
          </a:p>
        </p:txBody>
      </p:sp>
      <p:sp>
        <p:nvSpPr>
          <p:cNvPr id="97" name="Rectangle 96"/>
          <p:cNvSpPr/>
          <p:nvPr/>
        </p:nvSpPr>
        <p:spPr>
          <a:xfrm>
            <a:off x="4919472" y="2203704"/>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8" name="Rectangle 97"/>
          <p:cNvSpPr/>
          <p:nvPr/>
        </p:nvSpPr>
        <p:spPr>
          <a:xfrm>
            <a:off x="3291840" y="2734056"/>
            <a:ext cx="1600200" cy="103327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いちばんの関心は？</a:t>
            </a:r>
          </a:p>
        </p:txBody>
      </p:sp>
      <p:sp>
        <p:nvSpPr>
          <p:cNvPr id="99" name="Rectangle 98"/>
          <p:cNvSpPr/>
          <p:nvPr/>
        </p:nvSpPr>
        <p:spPr>
          <a:xfrm>
            <a:off x="4919472" y="2734056"/>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保険営業の方：成約を上げたい／働く時間を減らしたい</a:t>
            </a:r>
          </a:p>
        </p:txBody>
      </p:sp>
      <p:sp>
        <p:nvSpPr>
          <p:cNvPr id="100" name="Rectangle 99"/>
          <p:cNvSpPr/>
          <p:nvPr/>
        </p:nvSpPr>
        <p:spPr>
          <a:xfrm>
            <a:off x="4919472" y="3264408"/>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一般の方：資産形成を始めたい／保険を見直したい</a:t>
            </a:r>
          </a:p>
        </p:txBody>
      </p:sp>
      <p:sp>
        <p:nvSpPr>
          <p:cNvPr id="101" name="Rectangle 100"/>
          <p:cNvSpPr/>
          <p:nvPr/>
        </p:nvSpPr>
        <p:spPr>
          <a:xfrm>
            <a:off x="3291840" y="3913632"/>
            <a:ext cx="2103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結果のタイプ</a:t>
            </a:r>
          </a:p>
        </p:txBody>
      </p:sp>
      <p:sp>
        <p:nvSpPr>
          <p:cNvPr id="102" name="Rectangle 101"/>
          <p:cNvSpPr/>
          <p:nvPr/>
        </p:nvSpPr>
        <p:spPr>
          <a:xfrm>
            <a:off x="5422392" y="3913632"/>
            <a:ext cx="40873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その後に届ける内容</a:t>
            </a:r>
          </a:p>
        </p:txBody>
      </p:sp>
      <p:sp>
        <p:nvSpPr>
          <p:cNvPr id="103" name="Rectangle 102"/>
          <p:cNvSpPr/>
          <p:nvPr/>
        </p:nvSpPr>
        <p:spPr>
          <a:xfrm>
            <a:off x="3291840" y="4306824"/>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成約タイプ</a:t>
            </a:r>
          </a:p>
          <a:p>
            <a:pPr algn="l">
              <a:lnSpc>
                <a:spcPct val="110000"/>
              </a:lnSpc>
              <a:spcAft>
                <a:spcPts val="0"/>
              </a:spcAft>
            </a:pPr>
            <a:r>
              <a:rPr sz="1200" b="1">
                <a:solidFill>
                  <a:srgbClr val="1F2A5C"/>
                </a:solidFill>
                <a:latin typeface="メイリオ"/>
                <a:ea typeface="メイリオ"/>
                <a:cs typeface="メイリオ"/>
              </a:rPr>
              <a:t>面談で決めきれない方</a:t>
            </a:r>
          </a:p>
        </p:txBody>
      </p:sp>
      <p:sp>
        <p:nvSpPr>
          <p:cNvPr id="104" name="Rectangle 103"/>
          <p:cNvSpPr/>
          <p:nvPr/>
        </p:nvSpPr>
        <p:spPr>
          <a:xfrm>
            <a:off x="5422392" y="4306824"/>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面談の進め方が変わった受講生の声</a:t>
            </a:r>
          </a:p>
          <a:p>
            <a:pPr algn="l">
              <a:lnSpc>
                <a:spcPct val="110000"/>
              </a:lnSpc>
              <a:spcAft>
                <a:spcPts val="0"/>
              </a:spcAft>
            </a:pPr>
            <a:r>
              <a:rPr sz="1200" b="0">
                <a:solidFill>
                  <a:srgbClr val="333333"/>
                </a:solidFill>
                <a:latin typeface="メイリオ"/>
                <a:ea typeface="メイリオ"/>
                <a:cs typeface="メイリオ"/>
              </a:rPr>
              <a:t>両想い営業の見どころ</a:t>
            </a:r>
          </a:p>
        </p:txBody>
      </p:sp>
      <p:sp>
        <p:nvSpPr>
          <p:cNvPr id="105" name="Rectangle 104"/>
          <p:cNvSpPr/>
          <p:nvPr/>
        </p:nvSpPr>
        <p:spPr>
          <a:xfrm>
            <a:off x="3291840" y="4791456"/>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時間タイプ</a:t>
            </a:r>
          </a:p>
          <a:p>
            <a:pPr algn="l">
              <a:lnSpc>
                <a:spcPct val="110000"/>
              </a:lnSpc>
              <a:spcAft>
                <a:spcPts val="0"/>
              </a:spcAft>
            </a:pPr>
            <a:r>
              <a:rPr sz="1200" b="1">
                <a:solidFill>
                  <a:srgbClr val="1F2A5C"/>
                </a:solidFill>
                <a:latin typeface="メイリオ"/>
                <a:ea typeface="メイリオ"/>
                <a:cs typeface="メイリオ"/>
              </a:rPr>
              <a:t>働く時間を減らしたい方</a:t>
            </a:r>
          </a:p>
        </p:txBody>
      </p:sp>
      <p:sp>
        <p:nvSpPr>
          <p:cNvPr id="106" name="Rectangle 105"/>
          <p:cNvSpPr/>
          <p:nvPr/>
        </p:nvSpPr>
        <p:spPr>
          <a:xfrm>
            <a:off x="5422392" y="4791456"/>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講師紹介（週2日の営業で毎年TOT）</a:t>
            </a:r>
          </a:p>
          <a:p>
            <a:pPr algn="l">
              <a:lnSpc>
                <a:spcPct val="110000"/>
              </a:lnSpc>
              <a:spcAft>
                <a:spcPts val="0"/>
              </a:spcAft>
            </a:pPr>
            <a:r>
              <a:rPr sz="1200" b="0">
                <a:solidFill>
                  <a:srgbClr val="333333"/>
                </a:solidFill>
                <a:latin typeface="メイリオ"/>
                <a:ea typeface="メイリオ"/>
                <a:cs typeface="メイリオ"/>
              </a:rPr>
              <a:t>講師メッセージ（働く時間を半分以下に）</a:t>
            </a:r>
          </a:p>
        </p:txBody>
      </p:sp>
      <p:sp>
        <p:nvSpPr>
          <p:cNvPr id="107" name="Rectangle 106"/>
          <p:cNvSpPr/>
          <p:nvPr/>
        </p:nvSpPr>
        <p:spPr>
          <a:xfrm>
            <a:off x="3291840" y="5276088"/>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一般の方</a:t>
            </a:r>
          </a:p>
        </p:txBody>
      </p:sp>
      <p:sp>
        <p:nvSpPr>
          <p:cNvPr id="108" name="Rectangle 107"/>
          <p:cNvSpPr/>
          <p:nvPr/>
        </p:nvSpPr>
        <p:spPr>
          <a:xfrm>
            <a:off x="5422392" y="5276088"/>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一般の方向けのマネーセミナーのご案内</a:t>
            </a:r>
          </a:p>
        </p:txBody>
      </p:sp>
      <p:sp>
        <p:nvSpPr>
          <p:cNvPr id="109" name="TextBox 108"/>
          <p:cNvSpPr txBox="1"/>
          <p:nvPr/>
        </p:nvSpPr>
        <p:spPr>
          <a:xfrm>
            <a:off x="420624" y="5833872"/>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※答えはボタンで選ぶ形。押したボタンでタグを付け、その後の配信を分ける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