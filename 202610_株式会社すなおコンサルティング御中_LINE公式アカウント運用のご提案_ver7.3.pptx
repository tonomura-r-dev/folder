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38.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3"/>
  </p:notesMasterIdLst>
  <p:handoutMasterIdLst>
    <p:handoutMasterId r:id="rId64"/>
  </p:handoutMasterIdLst>
  <p:sldIdLst>
    <p:sldId id="2363" r:id="rId3"/>
    <p:sldId id="2988" r:id="rId4"/>
    <p:sldId id="2971" r:id="rId5"/>
    <p:sldId id="2972" r:id="rId6"/>
    <p:sldId id="2736" r:id="rId7"/>
    <p:sldId id="2976" r:id="rId8"/>
    <p:sldId id="3033" r:id="rId9"/>
    <p:sldId id="3026" r:id="rId10"/>
    <p:sldId id="2986" r:id="rId11"/>
    <p:sldId id="2761" r:id="rId12"/>
    <p:sldId id="3021" r:id="rId13"/>
    <p:sldId id="3008" r:id="rId14"/>
    <p:sldId id="2737" r:id="rId15"/>
    <p:sldId id="2979" r:id="rId16"/>
    <p:sldId id="3006" r:id="rId17"/>
    <p:sldId id="3027" r:id="rId18"/>
    <p:sldId id="2989" r:id="rId19"/>
    <p:sldId id="3035" r:id="rId69"/>
    <p:sldId id="3015" r:id="rId20"/>
    <p:sldId id="2957" r:id="rId21"/>
    <p:sldId id="3022" r:id="rId22"/>
    <p:sldId id="3031" r:id="rId23"/>
    <p:sldId id="3023" r:id="rId24"/>
    <p:sldId id="3024" r:id="rId25"/>
    <p:sldId id="3019" r:id="rId26"/>
    <p:sldId id="3032" r:id="rId27"/>
    <p:sldId id="3028" r:id="rId28"/>
    <p:sldId id="2970" r:id="rId29"/>
    <p:sldId id="2959" r:id="rId30"/>
    <p:sldId id="3025" r:id="rId31"/>
    <p:sldId id="3034" r:id="rId32"/>
    <p:sldId id="2966" r:id="rId33"/>
    <p:sldId id="3036" r:id="rId70"/>
    <p:sldId id="3037" r:id="rId71"/>
    <p:sldId id="3038" r:id="rId72"/>
    <p:sldId id="3039" r:id="rId73"/>
    <p:sldId id="3011" r:id="rId36"/>
    <p:sldId id="2734" r:id="rId37"/>
    <p:sldId id="2595" r:id="rId38"/>
    <p:sldId id="2566" r:id="rId39"/>
    <p:sldId id="2915" r:id="rId40"/>
    <p:sldId id="2619" r:id="rId41"/>
    <p:sldId id="1169" r:id="rId42"/>
    <p:sldId id="2961" r:id="rId43"/>
    <p:sldId id="2908" r:id="rId44"/>
    <p:sldId id="2935" r:id="rId45"/>
    <p:sldId id="2919" r:id="rId46"/>
    <p:sldId id="2519" r:id="rId47"/>
    <p:sldId id="2931" r:id="rId48"/>
    <p:sldId id="2749" r:id="rId49"/>
    <p:sldId id="2950" r:id="rId50"/>
    <p:sldId id="2563" r:id="rId51"/>
    <p:sldId id="2968" r:id="rId52"/>
    <p:sldId id="2969" r:id="rId53"/>
    <p:sldId id="2951" r:id="rId54"/>
    <p:sldId id="2841" r:id="rId55"/>
    <p:sldId id="2849" r:id="rId56"/>
    <p:sldId id="2904" r:id="rId57"/>
    <p:sldId id="2905" r:id="rId58"/>
    <p:sldId id="2906" r:id="rId59"/>
    <p:sldId id="2907" r:id="rId60"/>
    <p:sldId id="2575" r:id="rId61"/>
    <p:sldId id="2910" r:id="rId62"/>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FDFDFD"/>
    <a:srgbClr val="173559"/>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 Id="rId69" Type="http://schemas.openxmlformats.org/officeDocument/2006/relationships/slide" Target="slides/slide18.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2026/10/22</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A4272-5DA9-3CCF-23F3-9466DBC1B84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FD5C72-277A-86ED-D54E-FE626540E2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F71F2ED-0463-0DB8-0277-A35A864B316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D54FEC3-6CD7-0B2F-7F8F-E9EA265B8458}"/>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35530082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20E-DA68-EF51-102C-8A8F426BC2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CF3953B-7C5E-F4EE-4A6B-ED8A375555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937431-13FD-3E05-9A43-DCB7C90B899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2A18B0F-EA65-28D1-0695-DBC0FCD085B9}"/>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5089330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18865823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3B6B0-6587-3186-12B6-A952A7A5D12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DBB0FD4-EC87-837C-B6C4-420DF35669C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0D00E3-9072-6B26-2C54-100B09DEBA1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F5CD577-5D30-A22F-CC79-63E4DE657085}"/>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093741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66AA4-1AC1-0B6A-8DD3-54899EB2E2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4BF6DE-3BFF-29D8-3037-FBBE63C7FD8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B3F9493-7009-9A31-DAE6-BB1112CC20A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D6E5153-623E-955A-9E75-0EA3C02F1D85}"/>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02780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87073-46E4-97E2-AA29-34C04E4216C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16C4E1-C336-7022-85BD-D0261416B80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2802BD2-A4F7-3ACB-C314-CC3BD50FC0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C9B1FE-F22D-0B70-94D0-AC959C46242D}"/>
              </a:ext>
            </a:extLst>
          </p:cNvPr>
          <p:cNvSpPr>
            <a:spLocks noGrp="1"/>
          </p:cNvSpPr>
          <p:nvPr>
            <p:ph type="sldNum" sz="quarter" idx="10"/>
          </p:nvPr>
        </p:nvSpPr>
        <p:spPr/>
        <p:txBody>
          <a:bodyPr/>
          <a:lstStyle/>
          <a:p>
            <a:fld id="{022E43C0-6795-4B13-B37C-259C826D4B6A}" type="slidenum">
              <a:rPr kumimoji="1" lang="ja-JP" altLang="en-US" smtClean="0"/>
              <a:t>34</a:t>
            </a:fld>
            <a:endParaRPr kumimoji="1" lang="ja-JP" altLang="en-US"/>
          </a:p>
        </p:txBody>
      </p:sp>
    </p:spTree>
    <p:extLst>
      <p:ext uri="{BB962C8B-B14F-4D97-AF65-F5344CB8AC3E}">
        <p14:creationId xmlns:p14="http://schemas.microsoft.com/office/powerpoint/2010/main" val="28889650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37</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40</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jpeg"/><Relationship Id="rId8" Type="http://schemas.openxmlformats.org/officeDocument/2006/relationships/image" Target="../media/image20.jp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hyperlink" Target="https://youtube.com/shorts/0qI4QgrOppQ"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image" Target="../media/image30.png"/><Relationship Id="rId10"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2.png"/><Relationship Id="rId4"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svg"/><Relationship Id="rId8"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emf"/><Relationship Id="rId4" Type="http://schemas.openxmlformats.org/officeDocument/2006/relationships/image" Target="../media/image40.jpeg"/><Relationship Id="rId5" Type="http://schemas.openxmlformats.org/officeDocument/2006/relationships/image" Target="../media/image41.jpeg"/><Relationship Id="rId6" Type="http://schemas.openxmlformats.org/officeDocument/2006/relationships/image" Target="../media/image42.jpeg"/><Relationship Id="rId7" Type="http://schemas.openxmlformats.org/officeDocument/2006/relationships/image" Target="../media/image43.jpeg"/><Relationship Id="rId8" Type="http://schemas.openxmlformats.org/officeDocument/2006/relationships/image" Target="../media/image44.jpe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5.svg"/><Relationship Id="rId4" Type="http://schemas.openxmlformats.org/officeDocument/2006/relationships/image" Target="../media/image46.svg"/><Relationship Id="rId5" Type="http://schemas.openxmlformats.org/officeDocument/2006/relationships/image" Target="../media/image47.svg"/><Relationship Id="rId6" Type="http://schemas.openxmlformats.org/officeDocument/2006/relationships/image" Target="../media/image48.sv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jpe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jpg"/><Relationship Id="rId5" Type="http://schemas.openxmlformats.org/officeDocument/2006/relationships/image" Target="../media/image7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331720"/>
            <a:ext cx="6626632" cy="658368"/>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広告で集めた見込み客をLINEで育成し、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次のセミナー参加・サロン入会へ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A461DC58-6517-316F-E5FE-0F7AB1043C43}"/>
              </a:ext>
            </a:extLst>
          </p:cNvPr>
          <p:cNvSpPr txBox="1"/>
          <p:nvPr/>
        </p:nvSpPr>
        <p:spPr>
          <a:xfrm>
            <a:off x="365759" y="216290"/>
            <a:ext cx="5233851" cy="338554"/>
          </a:xfrm>
          <a:prstGeom prst="rect">
            <a:avLst/>
          </a:prstGeom>
          <a:noFill/>
        </p:spPr>
        <p:txBody>
          <a:bodyPr wrap="square">
            <a:spAutoFit/>
          </a:bodyP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株式会社すなおコンサルティング 御中</a:t>
            </a:r>
            <a:endParaRPr lang="ja-JP" altLang="en-US" sz="1050" dirty="0">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A891A-F874-A527-E24E-39C71E4366C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4042977"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現状把握</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631432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現状把握</a:t>
            </a:r>
            <a:endParaRPr sz="1600" b="1" dirty="0">
              <a:solidFill>
                <a:srgbClr val="002060"/>
              </a:solidFill>
              <a:latin typeface="メイリオ"/>
              <a:ea typeface="メイリオ"/>
              <a:cs typeface="メイリオ"/>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1200" b="1" dirty="0">
                <a:solidFill>
                  <a:schemeClr val="bg1"/>
                </a:solidFill>
                <a:latin typeface="メイリオ" panose="020B0604030504040204" pitchFamily="50" charset="-128"/>
                <a:ea typeface="メイリオ" panose="020B0604030504040204" pitchFamily="50" charset="-128"/>
                <a:cs typeface="メイリオ"/>
              </a:rPr>
              <a:t>ステータス</a:t>
            </a:r>
            <a:endParaRPr lang="ja-JP" altLang="en-US" sz="1200" b="1" dirty="0">
              <a:solidFill>
                <a:schemeClr val="bg1"/>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LP（セミナー申込みページ）ステータス</a:t>
            </a:r>
            <a:endParaRPr lang="ja-JP" altLang="en-US" sz="1200" dirty="0">
              <a:solidFill>
                <a:schemeClr val="bg1"/>
              </a:solidFill>
              <a:latin typeface="メイリオ"/>
              <a:ea typeface="メイリオ"/>
              <a:cs typeface="メイリオ"/>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広告でセミナー予約を獲得（1回 約8</a:t>
            </a:r>
            <a:r>
              <a:rPr lang="en-US" altLang="ja-JP" sz="1050" dirty="0">
                <a:latin typeface="メイリオ" panose="020B0604030504040204" pitchFamily="50" charset="-128"/>
                <a:ea typeface="メイリオ" panose="020B0604030504040204" pitchFamily="50" charset="-128"/>
                <a:cs typeface="メイリオ"/>
              </a:rPr>
              <a:t>0</a:t>
            </a:r>
            <a:r>
              <a:rPr lang="ja-JP" altLang="en-US" sz="1050" dirty="0">
                <a:latin typeface="メイリオ" panose="020B0604030504040204" pitchFamily="50" charset="-128"/>
                <a:ea typeface="メイリオ" panose="020B0604030504040204" pitchFamily="50" charset="-128"/>
                <a:cs typeface="メイリオ"/>
              </a:rPr>
              <a:t>件・CPA 約26,0</a:t>
            </a:r>
            <a:r>
              <a:rPr lang="en-US" altLang="ja-JP" sz="1050" dirty="0">
                <a:latin typeface="メイリオ" panose="020B0604030504040204" pitchFamily="50" charset="-128"/>
                <a:ea typeface="メイリオ" panose="020B0604030504040204" pitchFamily="50" charset="-128"/>
                <a:cs typeface="メイリオ"/>
              </a:rPr>
              <a:t>00</a:t>
            </a:r>
            <a:r>
              <a:rPr lang="ja-JP" altLang="en-US" sz="1050" dirty="0">
                <a:latin typeface="メイリオ" panose="020B0604030504040204" pitchFamily="50" charset="-128"/>
                <a:ea typeface="メイリオ" panose="020B0604030504040204" pitchFamily="50" charset="-128"/>
                <a:cs typeface="メイリオ"/>
              </a:rPr>
              <a:t>円）。</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接点を次回イベントまで継続できる仕組みを強化する。</a:t>
            </a:r>
            <a:endParaRPr lang="en-US" altLang="ja-JP" sz="105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LINE公式アカウントを、</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latin typeface="メイリオ" panose="020B0604030504040204" pitchFamily="50" charset="-128"/>
                <a:ea typeface="メイリオ" panose="020B0604030504040204" pitchFamily="50" charset="-128"/>
                <a:cs typeface="メイリオ"/>
              </a:rPr>
              <a:t>見込み客との継続的な接点として活用</a:t>
            </a:r>
            <a:endParaRPr lang="en-US" altLang="ja-JP" sz="1050" dirty="0">
              <a:latin typeface="メイリオ" panose="020B0604030504040204" pitchFamily="50" charset="-128"/>
              <a:ea typeface="メイリオ" panose="020B0604030504040204" pitchFamily="50" charset="-128"/>
              <a:cs typeface="メイリオ"/>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LP 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4908654"/>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※1回のイベントの数値。LP UUは</a:t>
            </a:r>
          </a:p>
          <a:p>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　広告のクリック数からの想定数値。</a:t>
            </a:r>
            <a:endParaRPr lang="ja-JP" altLang="en-US" sz="1400" dirty="0">
              <a:solidFill>
                <a:schemeClr val="bg1">
                  <a:lumMod val="65000"/>
                </a:schemeClr>
              </a:solidFill>
              <a:latin typeface="メイリオ"/>
              <a:ea typeface="メイリオ"/>
              <a:cs typeface="メイリオ"/>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うち広告</a:t>
            </a:r>
            <a:r>
              <a:rPr lang="en-US" altLang="ja-JP" sz="1000" dirty="0">
                <a:solidFill>
                  <a:schemeClr val="bg1"/>
                </a:solidFill>
                <a:latin typeface="メイリオ" panose="020B0604030504040204" pitchFamily="50" charset="-128"/>
                <a:ea typeface="メイリオ" panose="020B0604030504040204" pitchFamily="50" charset="-128"/>
                <a:cs typeface="メイリオ"/>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広告費用</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17317" y="455097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メイン流入元</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17317" y="423495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他</a:t>
            </a:r>
            <a:r>
              <a:rPr lang="en-US" altLang="ja-JP" sz="1000" dirty="0">
                <a:solidFill>
                  <a:schemeClr val="bg1"/>
                </a:solidFill>
                <a:latin typeface="メイリオ" panose="020B0604030504040204" pitchFamily="50" charset="-128"/>
                <a:ea typeface="メイリオ" panose="020B0604030504040204" pitchFamily="50" charset="-128"/>
                <a:cs typeface="メイリオ"/>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17317" y="391892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イベント開催</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CV数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CV</a:t>
            </a:r>
            <a:r>
              <a:rPr lang="ja-JP" altLang="en-US" sz="1000" dirty="0">
                <a:solidFill>
                  <a:schemeClr val="bg1"/>
                </a:solidFill>
                <a:latin typeface="メイリオ" panose="020B0604030504040204" pitchFamily="50" charset="-128"/>
                <a:ea typeface="メイリオ" panose="020B0604030504040204" pitchFamily="50" charset="-128"/>
                <a:cs typeface="メイリオ"/>
              </a:rPr>
              <a:t>地点</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LINE</a:t>
            </a:r>
            <a:r>
              <a:rPr lang="ja-JP" altLang="en-US" sz="1000" dirty="0">
                <a:solidFill>
                  <a:schemeClr val="bg1"/>
                </a:solidFill>
                <a:latin typeface="メイリオ" panose="020B0604030504040204" pitchFamily="50" charset="-128"/>
                <a:ea typeface="メイリオ" panose="020B0604030504040204" pitchFamily="50" charset="-128"/>
                <a:cs typeface="メイリオ"/>
              </a:rPr>
              <a:t>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友だち数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アクティブ数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ブロック率</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ツール</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想定コスト</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月間投稿数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ステップ実施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プロフ動線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3,000</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535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約3,000</a:t>
            </a: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約210万円</a:t>
            </a: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11624" y="455639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広告</a:t>
            </a: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11624" y="424037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Facebookグループ</a:t>
            </a: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11624" y="3924345"/>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年4回</a:t>
            </a: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71256"/>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80件</a:t>
            </a: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セミナー予約</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rgbClr val="1F2A5C"/>
                </a:solidFill>
                <a:latin typeface="メイリオ" panose="020B0604030504040204" pitchFamily="50" charset="-128"/>
                <a:ea typeface="メイリオ" panose="020B0604030504040204" pitchFamily="50" charset="-128"/>
                <a:cs typeface="メイリオ"/>
              </a:rPr>
              <a:t>なし</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pic>
        <p:nvPicPr>
          <p:cNvPr id="192" name="Picture 191" descr="sunao_lp_firstview.png"/>
          <p:cNvPicPr>
            <a:picLocks noChangeAspect="1"/>
          </p:cNvPicPr>
          <p:nvPr/>
        </p:nvPicPr>
        <p:blipFill>
          <a:blip r:embed="rId4"/>
          <a:stretch>
            <a:fillRect/>
          </a:stretch>
        </p:blipFill>
        <p:spPr>
          <a:xfrm>
            <a:off x="507335" y="2271233"/>
            <a:ext cx="1557206" cy="2637933"/>
          </a:xfrm>
          <a:prstGeom prst="rect">
            <a:avLst/>
          </a:prstGeom>
        </p:spPr>
      </p:pic>
      <p:sp>
        <p:nvSpPr>
          <p:cNvPr id="2" name="テキスト ボックス 1">
            <a:extLst>
              <a:ext uri="{FF2B5EF4-FFF2-40B4-BE49-F238E27FC236}">
                <a16:creationId xmlns:a16="http://schemas.microsoft.com/office/drawing/2014/main" id="{3F83FE19-1018-A2D8-4032-86D45BF09F48}"/>
              </a:ext>
            </a:extLst>
          </p:cNvPr>
          <p:cNvSpPr txBox="1"/>
          <p:nvPr/>
        </p:nvSpPr>
        <p:spPr>
          <a:xfrm>
            <a:off x="1282764" y="767248"/>
            <a:ext cx="7340471" cy="369332"/>
          </a:xfrm>
          <a:prstGeom prst="rect">
            <a:avLst/>
          </a:prstGeom>
          <a:noFill/>
        </p:spPr>
        <p:txBody>
          <a:bodyPr wrap="none" rtlCol="0">
            <a:spAutoFit/>
          </a:bodyPr>
          <a:lstStyle/>
          <a:p>
            <a:r>
              <a:rPr kumimoji="1" lang="ja-JP" altLang="en-US" b="1" dirty="0">
                <a:latin typeface="メイリオ" panose="020B0604030504040204" pitchFamily="50" charset="-128"/>
                <a:ea typeface="メイリオ" panose="020B0604030504040204" pitchFamily="50" charset="-128"/>
              </a:rPr>
              <a:t>集めた見込み客との接点を次回イベントまで続ける仕組みを強化する</a:t>
            </a:r>
          </a:p>
        </p:txBody>
      </p:sp>
    </p:spTree>
    <p:extLst>
      <p:ext uri="{BB962C8B-B14F-4D97-AF65-F5344CB8AC3E}">
        <p14:creationId xmlns:p14="http://schemas.microsoft.com/office/powerpoint/2010/main" val="23784845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5" y="2249778"/>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8" name="正方形/長方形 27">
            <a:extLst>
              <a:ext uri="{FF2B5EF4-FFF2-40B4-BE49-F238E27FC236}">
                <a16:creationId xmlns:a16="http://schemas.microsoft.com/office/drawing/2014/main" id="{985D0F3D-E958-2764-0030-33A43FBBB844}"/>
              </a:ext>
            </a:extLst>
          </p:cNvPr>
          <p:cNvSpPr/>
          <p:nvPr/>
        </p:nvSpPr>
        <p:spPr>
          <a:xfrm>
            <a:off x="377495" y="3168907"/>
            <a:ext cx="9425943" cy="12803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386385"/>
            <a:ext cx="1868110"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4" y="3532648"/>
            <a:ext cx="3640831"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5" y="3170605"/>
            <a:ext cx="2157994" cy="253916"/>
          </a:xfrm>
          <a:prstGeom prst="rect">
            <a:avLst/>
          </a:prstGeom>
          <a:no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メイリオ"/>
              </a:rPr>
              <a:t>&lt;</a:t>
            </a:r>
            <a:r>
              <a:rPr lang="ja-JP" altLang="en-US" sz="1050" b="1" dirty="0">
                <a:latin typeface="メイリオ" panose="020B0604030504040204" pitchFamily="50" charset="-128"/>
                <a:ea typeface="メイリオ" panose="020B0604030504040204" pitchFamily="50" charset="-128"/>
                <a:cs typeface="メイリオ"/>
              </a:rPr>
              <a:t>貴社のユーザー動線イメージ</a:t>
            </a:r>
            <a:r>
              <a:rPr lang="en-US" altLang="ja-JP" sz="1050" b="1" dirty="0">
                <a:latin typeface="メイリオ" panose="020B0604030504040204" pitchFamily="50" charset="-128"/>
                <a:ea typeface="メイリオ" panose="020B0604030504040204" pitchFamily="50" charset="-128"/>
                <a:cs typeface="メイリオ"/>
              </a:rPr>
              <a:t>&gt;</a:t>
            </a:r>
            <a:endParaRPr lang="ja-JP" altLang="en-US" sz="1050" b="1" dirty="0">
              <a:latin typeface="メイリオ" panose="020B0604030504040204" pitchFamily="50" charset="-128"/>
              <a:ea typeface="メイリオ" panose="020B0604030504040204" pitchFamily="50" charset="-128"/>
              <a:cs typeface="メイリオ"/>
            </a:endParaRPr>
          </a:p>
        </p:txBody>
      </p:sp>
      <p:sp>
        <p:nvSpPr>
          <p:cNvPr id="24" name="テキスト ボックス 23">
            <a:extLst>
              <a:ext uri="{FF2B5EF4-FFF2-40B4-BE49-F238E27FC236}">
                <a16:creationId xmlns:a16="http://schemas.microsoft.com/office/drawing/2014/main" id="{86D765FE-5D14-B727-20F8-7C773D684C03}"/>
              </a:ext>
            </a:extLst>
          </p:cNvPr>
          <p:cNvSpPr txBox="1"/>
          <p:nvPr/>
        </p:nvSpPr>
        <p:spPr>
          <a:xfrm>
            <a:off x="3542137" y="3670478"/>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9" name="テキスト ボックス 18">
            <a:extLst>
              <a:ext uri="{FF2B5EF4-FFF2-40B4-BE49-F238E27FC236}">
                <a16:creationId xmlns:a16="http://schemas.microsoft.com/office/drawing/2014/main" id="{54872F58-9C7B-BF3F-8FD6-90758592757B}"/>
              </a:ext>
            </a:extLst>
          </p:cNvPr>
          <p:cNvSpPr txBox="1"/>
          <p:nvPr/>
        </p:nvSpPr>
        <p:spPr>
          <a:xfrm>
            <a:off x="7408050" y="2697616"/>
            <a:ext cx="2352196" cy="4001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71A37862-DC0D-FFB9-A4C0-DFCD839440E7}"/>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23" name="テキスト ボックス 22">
            <a:extLst>
              <a:ext uri="{FF2B5EF4-FFF2-40B4-BE49-F238E27FC236}">
                <a16:creationId xmlns:a16="http://schemas.microsoft.com/office/drawing/2014/main" id="{687CD251-15DA-69B7-5940-0B47AE7838C7}"/>
              </a:ext>
            </a:extLst>
          </p:cNvPr>
          <p:cNvSpPr txBox="1"/>
          <p:nvPr/>
        </p:nvSpPr>
        <p:spPr>
          <a:xfrm>
            <a:off x="1268357" y="2262194"/>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広告で新しい見込み客を集め、LINEで継続的に育成し、</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次回イベント・サロン入会へつなげる動線を、8フェーズで整理する。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10" name="正方形/長方形 9">
            <a:extLst>
              <a:ext uri="{FF2B5EF4-FFF2-40B4-BE49-F238E27FC236}">
                <a16:creationId xmlns:a16="http://schemas.microsoft.com/office/drawing/2014/main" id="{BC3DB233-2109-75A0-E58B-5975C2C6368D}"/>
              </a:ext>
            </a:extLst>
          </p:cNvPr>
          <p:cNvSpPr/>
          <p:nvPr/>
        </p:nvSpPr>
        <p:spPr>
          <a:xfrm>
            <a:off x="377494" y="4594042"/>
            <a:ext cx="9425943" cy="1545908"/>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solidFill>
                  <a:schemeClr val="tx1"/>
                </a:solidFill>
                <a:latin typeface="メイリオ" panose="020B0604030504040204" pitchFamily="50" charset="-128"/>
                <a:ea typeface="メイリオ" panose="020B0604030504040204" pitchFamily="50" charset="-128"/>
                <a:cs typeface="メイリオ"/>
              </a:rPr>
              <a:t>サービス特性として、</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kumimoji="1" lang="en-US" altLang="ja-JP" sz="6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ターゲット</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：保険営業の方向けのセミナー・サロンが主軸（一般の方向けのマネーセミナーもあり）</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商材・サービス</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 セミナー参加の段階では費用の不安は小さく、金額の判断はサロン入会の段階</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【イベントは年4回】 </a:t>
            </a:r>
            <a:r>
              <a:rPr lang="ja-JP" altLang="en-US" sz="1200" dirty="0">
                <a:solidFill>
                  <a:schemeClr val="tx1"/>
                </a:solidFill>
                <a:latin typeface="メイリオ" panose="020B0604030504040204" pitchFamily="50" charset="-128"/>
                <a:ea typeface="メイリオ" panose="020B0604030504040204" pitchFamily="50" charset="-128"/>
                <a:cs typeface="メイリオ"/>
              </a:rPr>
              <a:t>：イベントの間の時期にも、継続して情報を届けることが重要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en-US" altLang="ja-JP" sz="1200" b="1" dirty="0" err="1">
                <a:solidFill>
                  <a:schemeClr val="tx1"/>
                </a:solidFill>
                <a:latin typeface="メイリオ" panose="020B0604030504040204" pitchFamily="50" charset="-128"/>
                <a:ea typeface="メイリオ" panose="020B0604030504040204" pitchFamily="50" charset="-128"/>
                <a:cs typeface="メイリオ"/>
              </a:rPr>
              <a:t>広告</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kumimoji="1" lang="ja-JP" altLang="en-US" sz="1200" dirty="0">
                <a:solidFill>
                  <a:schemeClr val="tx1"/>
                </a:solidFill>
                <a:latin typeface="メイリオ" panose="020B0604030504040204" pitchFamily="50" charset="-128"/>
                <a:ea typeface="メイリオ" panose="020B0604030504040204" pitchFamily="50" charset="-128"/>
                <a:cs typeface="メイリオ"/>
              </a:rPr>
              <a:t>：</a:t>
            </a:r>
            <a:r>
              <a:rPr lang="en-US" altLang="ja-JP" sz="1200" dirty="0">
                <a:solidFill>
                  <a:schemeClr val="tx1"/>
                </a:solidFill>
                <a:latin typeface="メイリオ" panose="020B0604030504040204" pitchFamily="50" charset="-128"/>
                <a:ea typeface="メイリオ" panose="020B0604030504040204" pitchFamily="50" charset="-128"/>
                <a:cs typeface="メイリオ"/>
              </a:rPr>
              <a:t> </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セミナー予約</a:t>
            </a:r>
            <a:r>
              <a:rPr lang="ja-JP" altLang="en-US" sz="1200" dirty="0">
                <a:solidFill>
                  <a:schemeClr val="tx1"/>
                </a:solidFill>
                <a:latin typeface="メイリオ" panose="020B0604030504040204" pitchFamily="50" charset="-128"/>
                <a:ea typeface="メイリオ" panose="020B0604030504040204" pitchFamily="50" charset="-128"/>
                <a:cs typeface="メイリオ"/>
              </a:rPr>
              <a:t>者</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を集めている</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solidFill>
                <a:latin typeface="メイリオ" panose="020B0604030504040204" pitchFamily="50" charset="-128"/>
                <a:ea typeface="メイリオ" panose="020B0604030504040204" pitchFamily="50" charset="-128"/>
                <a:cs typeface="メイリオ"/>
              </a:rPr>
              <a:t>という特性があり、</a:t>
            </a:r>
            <a:r>
              <a:rPr lang="ja-JP" altLang="en-US" sz="1200" b="1" dirty="0">
                <a:solidFill>
                  <a:srgbClr val="1F2A5C"/>
                </a:solidFill>
                <a:latin typeface="メイリオ" panose="020B0604030504040204" pitchFamily="50" charset="-128"/>
                <a:ea typeface="メイリオ" panose="020B0604030504040204" pitchFamily="50" charset="-128"/>
                <a:cs typeface="メイリオ"/>
              </a:rPr>
              <a:t>集めた方と、次のイベント参加・サロン入会まで接点を持ち続けることが重要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4" y="2496774"/>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p:cNvCxnSpPr>
          <p:nvPr/>
        </p:nvCxnSpPr>
        <p:spPr>
          <a:xfrm rot="5400000" flipH="1" flipV="1">
            <a:off x="4264071" y="2454256"/>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4" y="2498472"/>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714703"/>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1" name="テキスト ボックス 10">
            <a:extLst>
              <a:ext uri="{FF2B5EF4-FFF2-40B4-BE49-F238E27FC236}">
                <a16:creationId xmlns:a16="http://schemas.microsoft.com/office/drawing/2014/main" id="{2393C1D2-496B-1648-5EFD-E8E0242ED7FD}"/>
              </a:ext>
            </a:extLst>
          </p:cNvPr>
          <p:cNvSpPr txBox="1"/>
          <p:nvPr/>
        </p:nvSpPr>
        <p:spPr>
          <a:xfrm>
            <a:off x="7408050" y="4096480"/>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1A845779-79CA-4072-2A28-CD9E201361F3}"/>
              </a:ext>
            </a:extLst>
          </p:cNvPr>
          <p:cNvSpPr txBox="1"/>
          <p:nvPr/>
        </p:nvSpPr>
        <p:spPr>
          <a:xfrm>
            <a:off x="6381559" y="3815834"/>
            <a:ext cx="2202588"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市場・ユーザー・競合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8DBEE-A033-E538-7B67-FCA6549C3DF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研修・学びの市場：営業職の学びのニーズが伸びている</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208551" y="821985"/>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企業の研修への投資も、個人がお金を払って学ぶ市場も伸びている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extLst>
              <p:ext uri="{D42A27DB-BD31-4B8C-83A1-F6EECF244321}">
                <p14:modId xmlns:p14="http://schemas.microsoft.com/office/powerpoint/2010/main" val="3429415095"/>
              </p:ext>
            </p:extLst>
          </p:nvPr>
        </p:nvGraphicFramePr>
        <p:xfrm>
          <a:off x="420624" y="1645920"/>
          <a:ext cx="9052560" cy="265684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企業向け研修サービス市場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6,075億円（前年度比3.7%増）。</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　2026年度は6,300億円の予測</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企業の人材育成への投資は増えている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eラーニング市場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3,924億円（前年度比2.7%増）。法人向け 1,294億円（4.7%増）・個人向け 2,630億円（1.7%増）。個人向けは資格関連の伸びで3年ぶりのプラス</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個人がお金を払って学ぶ市場も、</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再び伸び始めている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オンラインサロン</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最大手のDMMオンラインサロンの流通総額は2024年度 </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約60億円。シェアは61.9%（2021年度は51.4%）</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有料のオンラインコミュニティで学ぶ形が定着している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保険営業の方の</a:t>
                      </a:r>
                      <a:endParaRPr lang="en-US" altLang="ja-JP" sz="1200" b="1" dirty="0">
                        <a:solidFill>
                          <a:srgbClr val="1F2A5C"/>
                        </a:solidFill>
                        <a:latin typeface="メイリオ" panose="020B0604030504040204" pitchFamily="50" charset="-128"/>
                        <a:ea typeface="メイリオ" panose="020B0604030504040204" pitchFamily="50" charset="-128"/>
                      </a:endParaRPr>
                    </a:p>
                    <a:p>
                      <a:pPr algn="l">
                        <a:buNone/>
                      </a:pPr>
                      <a:r>
                        <a:rPr lang="ja-JP" altLang="en-US" sz="1200" b="1" dirty="0">
                          <a:solidFill>
                            <a:srgbClr val="1F2A5C"/>
                          </a:solidFill>
                          <a:latin typeface="メイリオ" panose="020B0604030504040204" pitchFamily="50" charset="-128"/>
                          <a:ea typeface="メイリオ" panose="020B0604030504040204" pitchFamily="50" charset="-128"/>
                        </a:rPr>
                        <a:t>接触回数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コロナ前と比べ、接触回数が「減少した」営業職員が55.5%（2023年調査）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限られた面談で成果を出すやり方を学ぶ必要がある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2932556337"/>
                  </a:ext>
                </a:extLst>
              </a:tr>
            </a:tbl>
          </a:graphicData>
        </a:graphic>
      </p:graphicFrame>
      <p:sp>
        <p:nvSpPr>
          <p:cNvPr id="52" name="示唆"/>
          <p:cNvSpPr/>
          <p:nvPr/>
        </p:nvSpPr>
        <p:spPr>
          <a:xfrm>
            <a:off x="420624" y="446735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学びたい方が増えている。そのため、セミナーで出会った方とLINEでつながり、次のセミナー・サロンの入会まで</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案内を続ける場を整えることが重要。</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※企業向け研修サービス市場：矢野経済研究所（2026年8月24日）／eラーニング市場：矢野経済研究所（2026年4月22日。2025年度は見込み）／オンラインサロン：DMM.com発表（2025年11月14日。調査：デロイト トーマツ ミック経済研究所）／接触回数：矢野経済研究所「生命保険の営業職員アンケート調査」（2023年4〜6月、生命保険の営業職員400名）</a:t>
            </a:r>
            <a:endParaRPr lang="ja-JP" altLang="en-US" sz="1200" dirty="0"/>
          </a:p>
        </p:txBody>
      </p:sp>
    </p:spTree>
    <p:extLst>
      <p:ext uri="{BB962C8B-B14F-4D97-AF65-F5344CB8AC3E}">
        <p14:creationId xmlns:p14="http://schemas.microsoft.com/office/powerpoint/2010/main" val="2544728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お金への関心は高まる一方で、学ぶ機会が少ない</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208551" y="855516"/>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資産形成を始める方は増えているのに、金融について学んでいない方が約9割</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extLst>
              <p:ext uri="{D42A27DB-BD31-4B8C-83A1-F6EECF244321}">
                <p14:modId xmlns:p14="http://schemas.microsoft.com/office/powerpoint/2010/main" val="3122004456"/>
              </p:ext>
            </p:extLst>
          </p:nvPr>
        </p:nvGraphicFramePr>
        <p:xfrm>
          <a:off x="420624" y="1645920"/>
          <a:ext cx="9052560" cy="285496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NISA口座数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2,125万 → 2024年末 2,559万 → 2025年末 2,821万口座（政府目標：2027年末までに3,400万口座）</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資産形成を始める方は増え続けている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NISAの累計買付額</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35兆円 → 2024年末 53兆円 → 2025年末 71兆円。2027年末の政府目標56兆円をすでに超えた</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実際にお金が動いている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金融経済教育</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「受けたと認識している」方は8.7%。</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一方で67.5%が「学校で行うべき」と回答</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学ぶ機会が少なく、</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学びたいというニーズは大きい</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知識・計画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金融リテラシーの正答率は53.8%（前回から1.9ポイント低下）。老後の資金計画をたてている方は40.1%、商品性を理解せずに投資信託を買った方は29.3%</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相談に乗れる方が求められている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476197571"/>
                  </a:ext>
                </a:extLst>
              </a:tr>
            </a:tbl>
          </a:graphicData>
        </a:graphic>
      </p:graphicFrame>
      <p:sp>
        <p:nvSpPr>
          <p:cNvPr id="52" name="示唆"/>
          <p:cNvSpPr/>
          <p:nvPr/>
        </p:nvSpPr>
        <p:spPr>
          <a:xfrm>
            <a:off x="420624" y="466547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お金への関心が高まる一方で、学ぶ機会が少ない。保険営業の方にとって、相談につながるチャンスが増えている。一般の方向けのマネーセミナーも、LINEで次回の案内を続けられる。</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NISA口座数・買付額：金融庁「NISAの利用状況」（2025年12月末時点）／金融経済教育・正答率・資金計画・投資信託：金融経済教育推進機構（J-FLEC）「金融リテラシー調査（2025年）」（2026年3月27日公表、30,000人）</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ターゲット：保険営業の方が主軸。一般の方向けも考慮</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対象によって、関心のある内容と申込先が異なる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ターゲット 49"/>
          <p:cNvGraphicFramePr>
            <a:graphicFrameLocks noGrp="1"/>
          </p:cNvGraphicFramePr>
          <p:nvPr>
            <p:extLst>
              <p:ext uri="{D42A27DB-BD31-4B8C-83A1-F6EECF244321}">
                <p14:modId xmlns:p14="http://schemas.microsoft.com/office/powerpoint/2010/main" val="3726247305"/>
              </p:ext>
            </p:extLst>
          </p:nvPr>
        </p:nvGraphicFramePr>
        <p:xfrm>
          <a:off x="420624" y="1645920"/>
          <a:ext cx="9052559" cy="2633472"/>
        </p:xfrm>
        <a:graphic>
          <a:graphicData uri="http://schemas.openxmlformats.org/drawingml/2006/table">
            <a:tbl>
              <a:tblPr/>
              <a:tblGrid>
                <a:gridCol w="192024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保険営業の方（主軸）</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一般の方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関心</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営業力の向上（面談・提案の進め方）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資産形成・お金の知識</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申込先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生産性4倍セミナー → オンラインサロン「ハッピーライフ」</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資産形成・マネーセミナー等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LINEで届ける内容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セミナーの見どころ・受講生の声・サロンのご案内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マネーセミナー等のご案内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出し分けの基本</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保険営業の方向けのLPから友だち追加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一般の方向けの申込みページ等から</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bl>
          </a:graphicData>
        </a:graphic>
      </p:graphicFrame>
      <p:sp>
        <p:nvSpPr>
          <p:cNvPr id="52" name="示唆"/>
          <p:cNvSpPr/>
          <p:nvPr/>
        </p:nvSpPr>
        <p:spPr>
          <a:xfrm>
            <a:off x="420624" y="4526280"/>
            <a:ext cx="9052560" cy="109728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示唆</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同じLINE公式アカウントで運用する場合は、友だち追加の流入経路（どのページから追加したか）で出し分ける。</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一般の方向けセミナーの参加者には、保険営業の方向けサロンへの入会を前提にした案内はしない。</a:t>
            </a:r>
            <a:endParaRPr lang="ja-JP" altLang="en-US" sz="1200" dirty="0">
              <a:latin typeface="メイリオ"/>
              <a:ea typeface="メイリオ"/>
              <a:cs typeface="メイリオ"/>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3E23-EB7F-D169-38DE-98B27F305DB6}"/>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C62F92F0-EE46-60C0-E453-43E26B4DBD66}"/>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競合調査：貴社施策内で検討の訴求軸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保険営業の方向けの他社も、LINEで特典や学びを届けている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他社のLINE 49"/>
          <p:cNvGraphicFramePr>
            <a:graphicFrameLocks noGrp="1"/>
          </p:cNvGraphicFramePr>
          <p:nvPr>
            <p:extLst>
              <p:ext uri="{D42A27DB-BD31-4B8C-83A1-F6EECF244321}">
                <p14:modId xmlns:p14="http://schemas.microsoft.com/office/powerpoint/2010/main" val="3478589760"/>
              </p:ext>
            </p:extLst>
          </p:nvPr>
        </p:nvGraphicFramePr>
        <p:xfrm>
          <a:off x="420624" y="1645920"/>
          <a:ext cx="6492240" cy="2194560"/>
        </p:xfrm>
        <a:graphic>
          <a:graphicData uri="http://schemas.openxmlformats.org/drawingml/2006/table">
            <a:tbl>
              <a:tblPr/>
              <a:tblGrid>
                <a:gridCol w="16002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他社</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サービス</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LINEでしていること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野沢塾</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保険営業の方向けの講座（月2回）</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サイトのボタンから友だち追加。あいさつで特典の動画を届ける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R&amp;C保険営業ラボ</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保険営業の方向けの無料の学習サービス</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（2026年9月開始）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登録時の5問のアンケートに合わせて、資料・動画を段階的に配信</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bl>
          </a:graphicData>
        </a:graphic>
      </p:graphicFrame>
      <p:sp>
        <p:nvSpPr>
          <p:cNvPr id="51" name="貴社の訴求軸 見出し"/>
          <p:cNvSpPr/>
          <p:nvPr/>
        </p:nvSpPr>
        <p:spPr>
          <a:xfrm>
            <a:off x="420624" y="4160520"/>
            <a:ext cx="182880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貴社の訴求軸</a:t>
            </a:r>
            <a:endParaRPr lang="ja-JP" altLang="en-US" sz="1200" dirty="0"/>
          </a:p>
        </p:txBody>
      </p:sp>
      <p:sp>
        <p:nvSpPr>
          <p:cNvPr id="52" name="貴社の訴求軸"/>
          <p:cNvSpPr/>
          <p:nvPr/>
        </p:nvSpPr>
        <p:spPr>
          <a:xfrm>
            <a:off x="420624" y="4471416"/>
            <a:ext cx="6492240" cy="822960"/>
          </a:xfrm>
          <a:prstGeom prst="rect">
            <a:avLst/>
          </a:prstGeom>
          <a:solidFill>
            <a:srgbClr val="EEF1F8"/>
          </a:solidFill>
          <a:ln w="9525">
            <a:solidFill>
              <a:srgbClr val="1F2A5C"/>
            </a:solidFill>
          </a:ln>
        </p:spPr>
        <p:txBody>
          <a:bodyPr wrap="square" lIns="73152" tIns="36576" rIns="73152" bIns="36576" rtlCol="0" anchor="ctr">
            <a:noAutofit/>
          </a:bodyPr>
          <a:lstStyle/>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イベントの予約・参加に合わせて、案内を変える</a:t>
            </a:r>
            <a:endParaRPr lang="ja-JP" altLang="en-US" sz="1200" dirty="0"/>
          </a:p>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参加後は、サロンの入会へつなげる</a:t>
            </a:r>
            <a:endParaRPr lang="ja-JP" altLang="en-US" sz="1200" dirty="0"/>
          </a:p>
        </p:txBody>
      </p:sp>
      <p:pic>
        <p:nvPicPr>
          <p:cNvPr id="53" name="Picture 52" descr="image.png"/>
          <p:cNvPicPr>
            <a:picLocks noChangeAspect="1"/>
          </p:cNvPicPr>
          <p:nvPr/>
        </p:nvPicPr>
        <p:blipFill>
          <a:blip r:embed="rId3"/>
          <a:stretch>
            <a:fillRect/>
          </a:stretch>
        </p:blipFill>
        <p:spPr>
          <a:xfrm>
            <a:off x="7492936" y="1645920"/>
            <a:ext cx="1583054" cy="3429000"/>
          </a:xfrm>
          <a:prstGeom prst="rect">
            <a:avLst/>
          </a:prstGeom>
        </p:spPr>
      </p:pic>
      <p:sp>
        <p:nvSpPr>
          <p:cNvPr id="54" name="画像の説明"/>
          <p:cNvSpPr/>
          <p:nvPr/>
        </p:nvSpPr>
        <p:spPr>
          <a:xfrm>
            <a:off x="6995160" y="5120640"/>
            <a:ext cx="2560320" cy="228600"/>
          </a:xfrm>
          <a:prstGeom prst="rect">
            <a:avLst/>
          </a:prstGeom>
          <a:noFill/>
          <a:ln>
            <a:noFill/>
          </a:ln>
        </p:spPr>
        <p:txBody>
          <a:bodyPr wrap="square" lIns="0" tIns="0" rIns="0" bIns="0" rtlCol="0" anchor="t">
            <a:noAutofit/>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rPr>
              <a:t>野沢塾のあいさつ（LINE公式アカウント）</a:t>
            </a:r>
            <a:endParaRPr lang="ja-JP" altLang="en-US" sz="1200" dirty="0"/>
          </a:p>
        </p:txBody>
      </p:sp>
      <p:sp>
        <p:nvSpPr>
          <p:cNvPr id="55"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※野沢塾：LINE公式アカウント（2026年10月19日確認）・公式サイト（2026年10月18日確認）より。画面の名前とパスワードは伏せている</a:t>
            </a:r>
            <a:endParaRPr lang="ja-JP" altLang="en-US" sz="1200" dirty="0"/>
          </a:p>
          <a:p>
            <a:pPr algn="l">
              <a:buNone/>
            </a:pPr>
            <a:r>
              <a:rPr lang="ja-JP" altLang="en-US" sz="900" b="0" dirty="0">
                <a:solidFill>
                  <a:srgbClr val="7F7F7F"/>
                </a:solidFill>
                <a:latin typeface="メイリオ" panose="020B0604030504040204" pitchFamily="50" charset="-128"/>
                <a:ea typeface="メイリオ" panose="020B0604030504040204" pitchFamily="50" charset="-128"/>
              </a:rPr>
              <a:t>※R&amp;C保険営業ラボ：R&amp;C株式会社のプレスリリースより。</a:t>
            </a:r>
            <a:endParaRPr lang="ja-JP" altLang="en-US" sz="1200" dirty="0"/>
          </a:p>
        </p:txBody>
      </p:sp>
    </p:spTree>
    <p:extLst>
      <p:ext uri="{BB962C8B-B14F-4D97-AF65-F5344CB8AC3E}">
        <p14:creationId xmlns:p14="http://schemas.microsoft.com/office/powerpoint/2010/main" val="1861406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841248" y="3038203"/>
            <a:ext cx="8229600"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なぜLINE公式アカウントなのか</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err="1">
                <a:latin typeface="メイリオ" panose="020B0604030504040204" pitchFamily="50" charset="-128"/>
                <a:ea typeface="メイリオ" panose="020B0604030504040204" pitchFamily="50" charset="-128"/>
                <a:cs typeface="メイリオ"/>
                <a:sym typeface="Meiryo"/>
              </a:rPr>
              <a:t>広告で新規見込み客を集め、LINEで関係を積み上げる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6" name="メリット 見出し"/>
          <p:cNvSpPr/>
          <p:nvPr/>
        </p:nvSpPr>
        <p:spPr>
          <a:xfrm>
            <a:off x="502920" y="3886200"/>
            <a:ext cx="310896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LINE公式アカウントのメリット</a:t>
            </a:r>
            <a:endParaRPr lang="ja-JP" altLang="en-US" sz="1200" dirty="0">
              <a:latin typeface="メイリオ"/>
              <a:ea typeface="メイリオ"/>
              <a:cs typeface="メイリオ"/>
            </a:endParaRPr>
          </a:p>
        </p:txBody>
      </p:sp>
      <p:sp>
        <p:nvSpPr>
          <p:cNvPr id="7" name="メリット"/>
          <p:cNvSpPr/>
          <p:nvPr/>
        </p:nvSpPr>
        <p:spPr>
          <a:xfrm>
            <a:off x="502920" y="4197096"/>
            <a:ext cx="8897112" cy="1737360"/>
          </a:xfrm>
          <a:prstGeom prst="rect">
            <a:avLst/>
          </a:prstGeom>
          <a:solidFill>
            <a:srgbClr val="EEF1F8"/>
          </a:solidFill>
          <a:ln w="9525">
            <a:solidFill>
              <a:srgbClr val="1F2A5C"/>
            </a:solidFill>
          </a:ln>
        </p:spPr>
        <p:txBody>
          <a:bodyPr wrap="square" lIns="274320" tIns="54864" rIns="182880" bIns="54864" rtlCol="0" anchor="ctr">
            <a:noAutofit/>
          </a:bodyPr>
          <a:lstStyle/>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・友だち追加した方に、継続して情報を届けられる（次回以降のイベントも案内できる）</a:t>
            </a:r>
            <a:endParaRPr lang="ja-JP" altLang="en-US" sz="1200" dirty="0">
              <a:latin typeface="メイリオ"/>
              <a:ea typeface="メイリオ"/>
              <a:cs typeface="メイリオ"/>
            </a:endParaRPr>
          </a:p>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・イベントのない時期も、見込み客との接点を持てる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・通知を通じて、見込み客との接点をつくれる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・友だちとして、見込み客を蓄積できる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・中長期的に、広告への依存度を下げられる可能性がある</a:t>
            </a:r>
            <a:endParaRPr lang="ja-JP" altLang="en-US" sz="1200" dirty="0">
              <a:latin typeface="メイリオ"/>
              <a:ea typeface="メイリオ"/>
              <a:cs typeface="メイリオ"/>
            </a:endParaRPr>
          </a:p>
        </p:txBody>
      </p:sp>
      <p:sp>
        <p:nvSpPr>
          <p:cNvPr id="8" name="Rectangle 7"/>
          <p:cNvSpPr/>
          <p:nvPr/>
        </p:nvSpPr>
        <p:spPr>
          <a:xfrm>
            <a:off x="502920" y="1828800"/>
            <a:ext cx="3520440" cy="192024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9" name="Rectangle 8"/>
          <p:cNvSpPr/>
          <p:nvPr/>
        </p:nvSpPr>
        <p:spPr>
          <a:xfrm>
            <a:off x="502920" y="1463040"/>
            <a:ext cx="3520440" cy="365760"/>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広告</a:t>
            </a:r>
          </a:p>
        </p:txBody>
      </p:sp>
      <p:sp>
        <p:nvSpPr>
          <p:cNvPr id="10" name="TextBox 9"/>
          <p:cNvSpPr txBox="1"/>
          <p:nvPr/>
        </p:nvSpPr>
        <p:spPr>
          <a:xfrm>
            <a:off x="594360" y="1901951"/>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役割</a:t>
            </a:r>
          </a:p>
          <a:p>
            <a:pPr algn="l">
              <a:lnSpc>
                <a:spcPct val="105000"/>
              </a:lnSpc>
              <a:spcAft>
                <a:spcPts val="200"/>
              </a:spcAft>
            </a:pPr>
            <a:r>
              <a:rPr sz="1300" b="0">
                <a:solidFill>
                  <a:srgbClr val="333333"/>
                </a:solidFill>
                <a:latin typeface="メイリオ"/>
                <a:ea typeface="メイリオ"/>
                <a:cs typeface="メイリオ"/>
              </a:rPr>
              <a:t>新しい見込み客との接点を獲得する</a:t>
            </a:r>
          </a:p>
        </p:txBody>
      </p:sp>
      <p:cxnSp>
        <p:nvCxnSpPr>
          <p:cNvPr id="11" name="Connector 10"/>
          <p:cNvCxnSpPr/>
          <p:nvPr/>
        </p:nvCxnSpPr>
        <p:spPr>
          <a:xfrm>
            <a:off x="640080" y="23317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594360" y="2359152"/>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主に届く相手</a:t>
            </a:r>
          </a:p>
          <a:p>
            <a:pPr algn="l">
              <a:lnSpc>
                <a:spcPct val="105000"/>
              </a:lnSpc>
              <a:spcAft>
                <a:spcPts val="200"/>
              </a:spcAft>
            </a:pPr>
            <a:r>
              <a:rPr sz="1300" b="0">
                <a:solidFill>
                  <a:srgbClr val="333333"/>
                </a:solidFill>
                <a:latin typeface="メイリオ"/>
                <a:ea typeface="メイリオ"/>
                <a:cs typeface="メイリオ"/>
              </a:rPr>
              <a:t>まだつながっていない方</a:t>
            </a:r>
          </a:p>
        </p:txBody>
      </p:sp>
      <p:cxnSp>
        <p:nvCxnSpPr>
          <p:cNvPr id="13" name="Connector 12"/>
          <p:cNvCxnSpPr/>
          <p:nvPr/>
        </p:nvCxnSpPr>
        <p:spPr>
          <a:xfrm>
            <a:off x="640080" y="27889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594360" y="2816351"/>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届けられる時期</a:t>
            </a:r>
          </a:p>
          <a:p>
            <a:pPr algn="l">
              <a:lnSpc>
                <a:spcPct val="105000"/>
              </a:lnSpc>
              <a:spcAft>
                <a:spcPts val="200"/>
              </a:spcAft>
            </a:pPr>
            <a:r>
              <a:rPr sz="1300" b="0">
                <a:solidFill>
                  <a:srgbClr val="333333"/>
                </a:solidFill>
                <a:latin typeface="メイリオ"/>
                <a:ea typeface="メイリオ"/>
                <a:cs typeface="メイリオ"/>
              </a:rPr>
              <a:t>広告を配信している期間</a:t>
            </a:r>
          </a:p>
        </p:txBody>
      </p:sp>
      <p:cxnSp>
        <p:nvCxnSpPr>
          <p:cNvPr id="15" name="Connector 14"/>
          <p:cNvCxnSpPr/>
          <p:nvPr/>
        </p:nvCxnSpPr>
        <p:spPr>
          <a:xfrm>
            <a:off x="640080" y="32461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594360" y="3273552"/>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積み上がるもの</a:t>
            </a:r>
          </a:p>
          <a:p>
            <a:pPr algn="l">
              <a:lnSpc>
                <a:spcPct val="105000"/>
              </a:lnSpc>
              <a:spcAft>
                <a:spcPts val="200"/>
              </a:spcAft>
            </a:pPr>
            <a:r>
              <a:rPr sz="1300" b="0">
                <a:solidFill>
                  <a:srgbClr val="333333"/>
                </a:solidFill>
                <a:latin typeface="メイリオ"/>
                <a:ea typeface="メイリオ"/>
                <a:cs typeface="メイリオ"/>
              </a:rPr>
              <a:t>セミナー予約などの反響</a:t>
            </a:r>
          </a:p>
        </p:txBody>
      </p:sp>
      <p:sp>
        <p:nvSpPr>
          <p:cNvPr id="17" name="Rectangle 16"/>
          <p:cNvSpPr/>
          <p:nvPr/>
        </p:nvSpPr>
        <p:spPr>
          <a:xfrm>
            <a:off x="4846320" y="1828800"/>
            <a:ext cx="4553712" cy="1920240"/>
          </a:xfrm>
          <a:prstGeom prst="rect">
            <a:avLst/>
          </a:prstGeom>
          <a:solidFill>
            <a:srgbClr val="F4F7FF"/>
          </a:solidFill>
          <a:ln w="1587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8" name="Rectangle 17"/>
          <p:cNvSpPr/>
          <p:nvPr/>
        </p:nvSpPr>
        <p:spPr>
          <a:xfrm>
            <a:off x="4846320" y="1463040"/>
            <a:ext cx="4553712" cy="36576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LINE公式アカウント</a:t>
            </a:r>
          </a:p>
        </p:txBody>
      </p:sp>
      <p:sp>
        <p:nvSpPr>
          <p:cNvPr id="19" name="TextBox 18"/>
          <p:cNvSpPr txBox="1"/>
          <p:nvPr/>
        </p:nvSpPr>
        <p:spPr>
          <a:xfrm>
            <a:off x="4937760" y="1901951"/>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役割</a:t>
            </a:r>
          </a:p>
          <a:p>
            <a:pPr algn="l">
              <a:lnSpc>
                <a:spcPct val="105000"/>
              </a:lnSpc>
              <a:spcAft>
                <a:spcPts val="200"/>
              </a:spcAft>
            </a:pPr>
            <a:r>
              <a:rPr sz="1300" b="1">
                <a:solidFill>
                  <a:srgbClr val="1F285A"/>
                </a:solidFill>
                <a:latin typeface="メイリオ"/>
                <a:ea typeface="メイリオ"/>
                <a:cs typeface="メイリオ"/>
              </a:rPr>
              <a:t>一度つながった見込み客に、継続して情報を届ける</a:t>
            </a:r>
          </a:p>
        </p:txBody>
      </p:sp>
      <p:cxnSp>
        <p:nvCxnSpPr>
          <p:cNvPr id="20" name="Connector 19"/>
          <p:cNvCxnSpPr/>
          <p:nvPr/>
        </p:nvCxnSpPr>
        <p:spPr>
          <a:xfrm>
            <a:off x="4983480" y="23317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4937760" y="2359152"/>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主に届く相手</a:t>
            </a:r>
          </a:p>
          <a:p>
            <a:pPr algn="l">
              <a:lnSpc>
                <a:spcPct val="105000"/>
              </a:lnSpc>
              <a:spcAft>
                <a:spcPts val="200"/>
              </a:spcAft>
            </a:pPr>
            <a:r>
              <a:rPr sz="1300" b="1">
                <a:solidFill>
                  <a:srgbClr val="1F285A"/>
                </a:solidFill>
                <a:latin typeface="メイリオ"/>
                <a:ea typeface="メイリオ"/>
                <a:cs typeface="メイリオ"/>
              </a:rPr>
              <a:t>友だち追加した方</a:t>
            </a:r>
          </a:p>
        </p:txBody>
      </p:sp>
      <p:cxnSp>
        <p:nvCxnSpPr>
          <p:cNvPr id="22" name="Connector 21"/>
          <p:cNvCxnSpPr/>
          <p:nvPr/>
        </p:nvCxnSpPr>
        <p:spPr>
          <a:xfrm>
            <a:off x="4983480" y="27889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4937760" y="2816351"/>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届けられる時期</a:t>
            </a:r>
          </a:p>
          <a:p>
            <a:pPr algn="l">
              <a:lnSpc>
                <a:spcPct val="105000"/>
              </a:lnSpc>
              <a:spcAft>
                <a:spcPts val="200"/>
              </a:spcAft>
            </a:pPr>
            <a:r>
              <a:rPr sz="1300" b="1">
                <a:solidFill>
                  <a:srgbClr val="1F285A"/>
                </a:solidFill>
                <a:latin typeface="メイリオ"/>
                <a:ea typeface="メイリオ"/>
                <a:cs typeface="メイリオ"/>
              </a:rPr>
              <a:t>開催月も、開催のない月も</a:t>
            </a:r>
          </a:p>
        </p:txBody>
      </p:sp>
      <p:cxnSp>
        <p:nvCxnSpPr>
          <p:cNvPr id="24" name="Connector 23"/>
          <p:cNvCxnSpPr/>
          <p:nvPr/>
        </p:nvCxnSpPr>
        <p:spPr>
          <a:xfrm>
            <a:off x="4983480" y="32461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4937760" y="3273552"/>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積み上がるもの</a:t>
            </a:r>
          </a:p>
          <a:p>
            <a:pPr algn="l">
              <a:lnSpc>
                <a:spcPct val="105000"/>
              </a:lnSpc>
              <a:spcAft>
                <a:spcPts val="200"/>
              </a:spcAft>
            </a:pPr>
            <a:r>
              <a:rPr sz="1300" b="1">
                <a:solidFill>
                  <a:srgbClr val="1F285A"/>
                </a:solidFill>
                <a:latin typeface="メイリオ"/>
                <a:ea typeface="メイリオ"/>
                <a:cs typeface="メイリオ"/>
              </a:rPr>
              <a:t>友だち（次回以降も案内できる相手）</a:t>
            </a:r>
          </a:p>
        </p:txBody>
      </p:sp>
      <p:sp>
        <p:nvSpPr>
          <p:cNvPr id="26" name="TextBox 25"/>
          <p:cNvSpPr txBox="1"/>
          <p:nvPr/>
        </p:nvSpPr>
        <p:spPr>
          <a:xfrm>
            <a:off x="4023360" y="2286000"/>
            <a:ext cx="822960" cy="274320"/>
          </a:xfrm>
          <a:prstGeom prst="rect">
            <a:avLst/>
          </a:prstGeom>
          <a:noFill/>
        </p:spPr>
        <p:txBody>
          <a:bodyPr wrap="square" anchor="b" lIns="36000" rIns="36000" tIns="10800" bIns="10800">
            <a:spAutoFit/>
          </a:bodyPr>
          <a:lstStyle/>
          <a:p>
            <a:pPr algn="ctr">
              <a:lnSpc>
                <a:spcPct val="105000"/>
              </a:lnSpc>
              <a:spcAft>
                <a:spcPts val="200"/>
              </a:spcAft>
            </a:pPr>
            <a:r>
              <a:rPr sz="1000" b="1">
                <a:solidFill>
                  <a:srgbClr val="1F285A"/>
                </a:solidFill>
                <a:latin typeface="メイリオ"/>
                <a:ea typeface="メイリオ"/>
                <a:cs typeface="メイリオ"/>
              </a:rPr>
              <a:t>友だち追加</a:t>
            </a:r>
          </a:p>
        </p:txBody>
      </p:sp>
      <p:sp>
        <p:nvSpPr>
          <p:cNvPr id="27" name="Right Arrow 26"/>
          <p:cNvSpPr/>
          <p:nvPr/>
        </p:nvSpPr>
        <p:spPr>
          <a:xfrm>
            <a:off x="4133088" y="2606039"/>
            <a:ext cx="603504" cy="365760"/>
          </a:xfrm>
          <a:prstGeom prst="rightArrow">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AA527-0EA1-7A75-453D-963C8B528D5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B6D9B23-C685-E912-4659-E23BCCC23FC3}"/>
              </a:ext>
            </a:extLst>
          </p:cNvPr>
          <p:cNvSpPr txBox="1"/>
          <p:nvPr/>
        </p:nvSpPr>
        <p:spPr>
          <a:xfrm>
            <a:off x="548883" y="138137"/>
            <a:ext cx="768096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事例紹介：保険・イベント集客でのLINEの成果</a:t>
            </a:r>
          </a:p>
        </p:txBody>
      </p:sp>
      <p:sp>
        <p:nvSpPr>
          <p:cNvPr id="5"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6"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7"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8"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338554"/>
          </a:xfrm>
          <a:prstGeom prst="rect">
            <a:avLst/>
          </a:prstGeom>
          <a:noFill/>
        </p:spPr>
        <p:txBody>
          <a:bodyPr wrap="square">
            <a:spAutoFit/>
          </a:bodyPr>
          <a:lstStyle/>
          <a:p>
            <a:pPr marL="228600">
              <a:spcAft>
                <a:spcPts val="800"/>
              </a:spcAft>
              <a:buNone/>
            </a:pPr>
            <a:r>
              <a:rPr lang="ja-JP" altLang="ja-JP" sz="1600" dirty="0">
                <a:effectLst/>
                <a:latin typeface="メイリオ" panose="02020603050405020304" pitchFamily="18" charset="0"/>
                <a:ea typeface="メイリオ" panose="020B0604030504040204" pitchFamily="50" charset="-128"/>
                <a:cs typeface="メイリオ" panose="020B0604030504040204" pitchFamily="50" charset="-128"/>
              </a:rPr>
              <a:t>保険・イベント集客の事例</a:t>
            </a:r>
            <a:endParaRPr lang="en-US" altLang="ja-JP" sz="16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9" name="事例 8"/>
          <p:cNvGraphicFramePr>
            <a:graphicFrameLocks noGrp="1"/>
          </p:cNvGraphicFramePr>
          <p:nvPr>
            <p:extLst>
              <p:ext uri="{D42A27DB-BD31-4B8C-83A1-F6EECF244321}">
                <p14:modId xmlns:p14="http://schemas.microsoft.com/office/powerpoint/2010/main" val="1259239623"/>
              </p:ext>
            </p:extLst>
          </p:nvPr>
        </p:nvGraphicFramePr>
        <p:xfrm>
          <a:off x="420624" y="1783080"/>
          <a:ext cx="9052560" cy="3767328"/>
        </p:xfrm>
        <a:graphic>
          <a:graphicData uri="http://schemas.openxmlformats.org/drawingml/2006/table">
            <a:tbl>
              <a:tblPr/>
              <a:tblGrid>
                <a:gridCol w="1600200">
                  <a:extLst>
                    <a:ext uri="{9D8B030D-6E8A-4147-A177-3AD203B41FA5}">
                      <a16:colId xmlns:a16="http://schemas.microsoft.com/office/drawing/2014/main" val="20000"/>
                    </a:ext>
                  </a:extLst>
                </a:gridCol>
                <a:gridCol w="2307336">
                  <a:extLst>
                    <a:ext uri="{9D8B030D-6E8A-4147-A177-3AD203B41FA5}">
                      <a16:colId xmlns:a16="http://schemas.microsoft.com/office/drawing/2014/main" val="20001"/>
                    </a:ext>
                  </a:extLst>
                </a:gridCol>
                <a:gridCol w="2673531">
                  <a:extLst>
                    <a:ext uri="{9D8B030D-6E8A-4147-A177-3AD203B41FA5}">
                      <a16:colId xmlns:a16="http://schemas.microsoft.com/office/drawing/2014/main" val="20002"/>
                    </a:ext>
                  </a:extLst>
                </a:gridCol>
                <a:gridCol w="2471493">
                  <a:extLst>
                    <a:ext uri="{9D8B030D-6E8A-4147-A177-3AD203B41FA5}">
                      <a16:colId xmlns:a16="http://schemas.microsoft.com/office/drawing/2014/main" val="20003"/>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業種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LINEでしたこと</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結果</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貴社での活かし方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同じ内容をメールとLINEで配信</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約8倍</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資料請求のCV率（メール比）</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次回セミナーの案内を、LINEで届ける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1887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営業職員経由で、お客様にLINEの友だち追加を案内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5.2%</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営業職員経由の友だちのブロック率（自然に友だちになった方は74.9%）</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接点のある方を友だちにし、</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配信を届け続ける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教室・スクール</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見学会（イベント）の案内をLINEで配信</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約7割</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見学会の参加者の入会率</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セミナー参加後に、サロンの</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0" name="注記"/>
          <p:cNvSpPr/>
          <p:nvPr/>
        </p:nvSpPr>
        <p:spPr>
          <a:xfrm>
            <a:off x="420624" y="585216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※LINEヤフー for Business 掲載の導入事例（数値は各社調べ）。生命保険会社＝2024年4月・2025年2月公開、教室・スクール＝2021年8月公開</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21557982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運用方針・全体導線</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要件定義</a:t>
            </a:r>
            <a:endParaRPr sz="1600" b="1" dirty="0">
              <a:solidFill>
                <a:srgbClr val="002060"/>
              </a:solidFill>
              <a:latin typeface="メイリオ"/>
              <a:ea typeface="メイリオ"/>
              <a:cs typeface="メイリオ"/>
              <a:sym typeface="Meiryo"/>
            </a:endParaRPr>
          </a:p>
        </p:txBody>
      </p:sp>
      <p:graphicFrame>
        <p:nvGraphicFramePr>
          <p:cNvPr id="46" name="要件定義 45"/>
          <p:cNvGraphicFramePr>
            <a:graphicFrameLocks noGrp="1"/>
          </p:cNvGraphicFramePr>
          <p:nvPr>
            <p:extLst>
              <p:ext uri="{D42A27DB-BD31-4B8C-83A1-F6EECF244321}">
                <p14:modId xmlns:p14="http://schemas.microsoft.com/office/powerpoint/2010/main" val="1196334290"/>
              </p:ext>
            </p:extLst>
          </p:nvPr>
        </p:nvGraphicFramePr>
        <p:xfrm>
          <a:off x="420624" y="1082040"/>
          <a:ext cx="9052560" cy="4434840"/>
        </p:xfrm>
        <a:graphic>
          <a:graphicData uri="http://schemas.openxmlformats.org/drawingml/2006/table">
            <a:tbl>
              <a:tblPr/>
              <a:tblGrid>
                <a:gridCol w="201168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73152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プロモーション目的</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広告で獲得した見込み客をLINE公式アカウントに蓄積し、継続的な情報配信で、</a:t>
                      </a:r>
                      <a:endParaRPr lang="en-US" altLang="ja-JP" sz="14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次回セミナーへの参加とオンラインサロンへの入会を増やす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中長期の目的</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入会後の継続利用・紹介にもLINEを活用し、LTV最大化をめざす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1"/>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契約期間</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6か月（セミナー開催月と開催のない月で、配信内容と工数が変わる）</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配信目標</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友だちを増やし、ブロック率を抑えながら、セミナー参加・サロン入会につなげる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（6か月の想定は、概算お見積りに記載）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3"/>
                  </a:ext>
                </a:extLst>
              </a:tr>
              <a:tr h="128016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手法（ご提案）</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① 離脱防止ポップアップ（推奨）で、LPを離れる方を対象に</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　 予約完了後は、サンクスLINE誘導（追加オプション）または通常のご案内</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② 友だち追加直後・予約した方・参加後の段階ごとで、案内を変える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③ 開催のない月は月1〜2回、開催月は月4〜5回の企画配信で、つながりを保つ</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9144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＋αの施策</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過去のセミナー予約者・参加者へのご案内（通知メッセージ）</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サロンの申込み完了ページからのLINE誘導（サンクスLINE誘導）</a:t>
                      </a:r>
                      <a:endParaRPr lang="ja-JP" altLang="en-US" sz="1300" dirty="0">
                        <a:latin typeface="メイリオ"/>
                        <a:ea typeface="メイリオ"/>
                        <a:cs typeface="メイリオ"/>
                      </a:endParaRPr>
                    </a:p>
                    <a:p>
                      <a:pPr algn="l">
                        <a:buNone/>
                      </a:pPr>
                      <a:r>
                        <a:rPr lang="ja-JP" altLang="en-US" sz="1100" b="0" dirty="0">
                          <a:solidFill>
                            <a:srgbClr val="7F7F7F"/>
                          </a:solidFill>
                          <a:latin typeface="メイリオ" panose="020B0604030504040204" pitchFamily="50" charset="-128"/>
                          <a:ea typeface="メイリオ" panose="020B0604030504040204" pitchFamily="50" charset="-128"/>
                          <a:cs typeface="メイリオ"/>
                        </a:rPr>
                        <a:t>※通知メッセージは、予約時の電話番号がある場合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5F7FA"/>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366202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BE316-B5A0-8BF0-8055-8F5EB8BA81E4}"/>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D9E611B-4E41-7D55-FDAA-59D5455231E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運用方針</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一度集めた見込み客を蓄積し、継続的にアプローチできる仕組みを強化する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KEY TAKEAWAY 見出し"/>
          <p:cNvSpPr/>
          <p:nvPr/>
        </p:nvSpPr>
        <p:spPr>
          <a:xfrm>
            <a:off x="420624" y="1600200"/>
            <a:ext cx="210312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KEY TAKEAWAY</a:t>
            </a:r>
            <a:endParaRPr lang="ja-JP" altLang="en-US" sz="1200" dirty="0">
              <a:latin typeface="メイリオ"/>
              <a:ea typeface="メイリオ"/>
              <a:cs typeface="メイリオ"/>
            </a:endParaRPr>
          </a:p>
        </p:txBody>
      </p:sp>
      <p:sp>
        <p:nvSpPr>
          <p:cNvPr id="51" name="KEY TAKEAWAY"/>
          <p:cNvSpPr/>
          <p:nvPr/>
        </p:nvSpPr>
        <p:spPr>
          <a:xfrm>
            <a:off x="420624" y="1911095"/>
            <a:ext cx="9120232" cy="731520"/>
          </a:xfrm>
          <a:prstGeom prst="rect">
            <a:avLst/>
          </a:prstGeom>
          <a:solidFill>
            <a:srgbClr val="EEF1F8"/>
          </a:solidFill>
          <a:ln w="9525">
            <a:solidFill>
              <a:srgbClr val="1F2A5C"/>
            </a:solidFill>
          </a:ln>
        </p:spPr>
        <p:txBody>
          <a:bodyPr wrap="square" lIns="73152" tIns="36576" rIns="73152" bIns="36576" rtlCol="0" anchor="ctr">
            <a:noAutofit/>
          </a:bodyPr>
          <a:lstStyle/>
          <a:p>
            <a:pPr algn="ctr">
              <a:buNone/>
            </a:pPr>
            <a:r>
              <a:rPr lang="ja-JP" altLang="en-US" sz="2000" b="1" dirty="0">
                <a:solidFill>
                  <a:srgbClr val="1F2A5C"/>
                </a:solidFill>
                <a:latin typeface="メイリオ" panose="020B0604030504040204" pitchFamily="50" charset="-128"/>
                <a:ea typeface="メイリオ" panose="020B0604030504040204" pitchFamily="50" charset="-128"/>
                <a:cs typeface="メイリオ"/>
              </a:rPr>
              <a:t>イベント開催時だけでない時期にも継続して情報を届ける</a:t>
            </a:r>
            <a:endParaRPr lang="ja-JP" altLang="en-US" sz="1200" dirty="0">
              <a:latin typeface="メイリオ"/>
              <a:ea typeface="メイリオ"/>
              <a:cs typeface="メイリオ"/>
            </a:endParaRPr>
          </a:p>
        </p:txBody>
      </p:sp>
      <p:graphicFrame>
        <p:nvGraphicFramePr>
          <p:cNvPr id="52" name="3つのポイント 51"/>
          <p:cNvGraphicFramePr>
            <a:graphicFrameLocks noGrp="1"/>
          </p:cNvGraphicFramePr>
          <p:nvPr>
            <p:extLst>
              <p:ext uri="{D42A27DB-BD31-4B8C-83A1-F6EECF244321}">
                <p14:modId xmlns:p14="http://schemas.microsoft.com/office/powerpoint/2010/main" val="2678730967"/>
              </p:ext>
            </p:extLst>
          </p:nvPr>
        </p:nvGraphicFramePr>
        <p:xfrm>
          <a:off x="420623" y="2926080"/>
          <a:ext cx="9120233" cy="2834640"/>
        </p:xfrm>
        <a:graphic>
          <a:graphicData uri="http://schemas.openxmlformats.org/drawingml/2006/table">
            <a:tbl>
              <a:tblPr/>
              <a:tblGrid>
                <a:gridCol w="1566101">
                  <a:extLst>
                    <a:ext uri="{9D8B030D-6E8A-4147-A177-3AD203B41FA5}">
                      <a16:colId xmlns:a16="http://schemas.microsoft.com/office/drawing/2014/main" val="20000"/>
                    </a:ext>
                  </a:extLst>
                </a:gridCol>
                <a:gridCol w="2487336">
                  <a:extLst>
                    <a:ext uri="{9D8B030D-6E8A-4147-A177-3AD203B41FA5}">
                      <a16:colId xmlns:a16="http://schemas.microsoft.com/office/drawing/2014/main" val="20001"/>
                    </a:ext>
                  </a:extLst>
                </a:gridCol>
                <a:gridCol w="3869190">
                  <a:extLst>
                    <a:ext uri="{9D8B030D-6E8A-4147-A177-3AD203B41FA5}">
                      <a16:colId xmlns:a16="http://schemas.microsoft.com/office/drawing/2014/main" val="20002"/>
                    </a:ext>
                  </a:extLst>
                </a:gridCol>
                <a:gridCol w="1197606">
                  <a:extLst>
                    <a:ext uri="{9D8B030D-6E8A-4147-A177-3AD203B41FA5}">
                      <a16:colId xmlns:a16="http://schemas.microsoft.com/office/drawing/2014/main" val="20003"/>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強化するポイント</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打ち手</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伸ばす数字</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01 集める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LPを見た方・予約した方と、LINEでつながる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・離脱防止ポップアップで友だちに</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・予約者はサンクスLINE誘導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02 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開催月・開催のない月</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それぞれに合わせて届ける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・企画配信：開催のない月は月1〜2回／開催月は月4〜5回</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・予約した方へ、前日・当日のリマインド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予約・参加数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03 つなげる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参加後、関心が高いうちに</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サロン入会を案内する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・参加後に、振り返りとサロンの内容をご案内</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・受講生の声で、入会の判断材料を届ける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729555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全体導線：広告で集め、LINEで育て、セミナー参加・サロン入会へ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広告による新規集客と、LINEによる継続的な顧客育成を組み合わせる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広告の領域"/>
          <p:cNvSpPr/>
          <p:nvPr/>
        </p:nvSpPr>
        <p:spPr>
          <a:xfrm>
            <a:off x="420624" y="1645920"/>
            <a:ext cx="2871215"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広告（新規集客）</a:t>
            </a:r>
            <a:endParaRPr lang="ja-JP" altLang="en-US" sz="1200" dirty="0">
              <a:latin typeface="メイリオ"/>
              <a:ea typeface="メイリオ"/>
              <a:cs typeface="メイリオ"/>
            </a:endParaRPr>
          </a:p>
        </p:txBody>
      </p:sp>
      <p:sp>
        <p:nvSpPr>
          <p:cNvPr id="51" name="LINEの領域"/>
          <p:cNvSpPr/>
          <p:nvPr/>
        </p:nvSpPr>
        <p:spPr>
          <a:xfrm>
            <a:off x="3511296" y="1645920"/>
            <a:ext cx="5961888" cy="310896"/>
          </a:xfrm>
          <a:prstGeom prst="rect">
            <a:avLst/>
          </a:prstGeom>
          <a:solidFill>
            <a:srgbClr val="06C755"/>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LINE公式アカウント（継続的な顧客育成）</a:t>
            </a:r>
            <a:endParaRPr lang="ja-JP" altLang="en-US" sz="1200" dirty="0">
              <a:latin typeface="メイリオ"/>
              <a:ea typeface="メイリオ"/>
              <a:cs typeface="メイリオ"/>
            </a:endParaRPr>
          </a:p>
        </p:txBody>
      </p:sp>
      <p:sp>
        <p:nvSpPr>
          <p:cNvPr id="52" name="導線 広告"/>
          <p:cNvSpPr/>
          <p:nvPr/>
        </p:nvSpPr>
        <p:spPr>
          <a:xfrm>
            <a:off x="420624"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53" name="導線の説明 広告"/>
          <p:cNvSpPr/>
          <p:nvPr/>
        </p:nvSpPr>
        <p:spPr>
          <a:xfrm>
            <a:off x="42062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広告などで、新しい見込み客と接点をつくる</a:t>
            </a:r>
            <a:endParaRPr lang="ja-JP" altLang="en-US" sz="1200" dirty="0">
              <a:latin typeface="メイリオ"/>
              <a:ea typeface="メイリオ"/>
              <a:cs typeface="メイリオ"/>
            </a:endParaRPr>
          </a:p>
        </p:txBody>
      </p:sp>
      <p:sp>
        <p:nvSpPr>
          <p:cNvPr id="54" name="矢印"/>
          <p:cNvSpPr/>
          <p:nvPr/>
        </p:nvSpPr>
        <p:spPr>
          <a:xfrm>
            <a:off x="1746504"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5" name="導線 セミナーLP"/>
          <p:cNvSpPr/>
          <p:nvPr/>
        </p:nvSpPr>
        <p:spPr>
          <a:xfrm>
            <a:off x="1965960"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セミナーLP</a:t>
            </a:r>
            <a:endParaRPr lang="ja-JP" altLang="en-US" sz="1200" dirty="0">
              <a:latin typeface="メイリオ"/>
              <a:ea typeface="メイリオ"/>
              <a:cs typeface="メイリオ"/>
            </a:endParaRPr>
          </a:p>
        </p:txBody>
      </p:sp>
      <p:sp>
        <p:nvSpPr>
          <p:cNvPr id="56" name="導線の説明 セミナーLP"/>
          <p:cNvSpPr/>
          <p:nvPr/>
        </p:nvSpPr>
        <p:spPr>
          <a:xfrm>
            <a:off x="1965960"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セミナーの内容を知り、予約につなげる</a:t>
            </a:r>
            <a:endParaRPr lang="ja-JP" altLang="en-US" sz="1200" dirty="0">
              <a:latin typeface="メイリオ"/>
              <a:ea typeface="メイリオ"/>
              <a:cs typeface="メイリオ"/>
            </a:endParaRPr>
          </a:p>
        </p:txBody>
      </p:sp>
      <p:sp>
        <p:nvSpPr>
          <p:cNvPr id="57" name="矢印"/>
          <p:cNvSpPr/>
          <p:nvPr/>
        </p:nvSpPr>
        <p:spPr>
          <a:xfrm>
            <a:off x="3291839"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8" name="導線 LINE友だち追加"/>
          <p:cNvSpPr/>
          <p:nvPr/>
        </p:nvSpPr>
        <p:spPr>
          <a:xfrm>
            <a:off x="3511296"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LINE友だち</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a:t>
            </a:r>
            <a:endParaRPr lang="ja-JP" altLang="en-US" sz="1200" dirty="0">
              <a:latin typeface="メイリオ"/>
              <a:ea typeface="メイリオ"/>
              <a:cs typeface="メイリオ"/>
            </a:endParaRPr>
          </a:p>
        </p:txBody>
      </p:sp>
      <p:sp>
        <p:nvSpPr>
          <p:cNvPr id="59" name="導線の説明 LINE友だち追加"/>
          <p:cNvSpPr/>
          <p:nvPr/>
        </p:nvSpPr>
        <p:spPr>
          <a:xfrm>
            <a:off x="3511296"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予約完了後のご案内（サンクスLINE誘導は追加オプション）</a:t>
            </a:r>
            <a:endParaRPr lang="ja-JP" altLang="en-US" sz="1200" dirty="0">
              <a:latin typeface="メイリオ"/>
              <a:ea typeface="メイリオ"/>
              <a:cs typeface="メイリオ"/>
            </a:endParaRPr>
          </a:p>
        </p:txBody>
      </p:sp>
      <p:sp>
        <p:nvSpPr>
          <p:cNvPr id="60" name="矢印"/>
          <p:cNvSpPr/>
          <p:nvPr/>
        </p:nvSpPr>
        <p:spPr>
          <a:xfrm>
            <a:off x="4837176"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1" name="導線 継続的な情報配信"/>
          <p:cNvSpPr/>
          <p:nvPr/>
        </p:nvSpPr>
        <p:spPr>
          <a:xfrm>
            <a:off x="5056632"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継続的な</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情報配信</a:t>
            </a:r>
            <a:endParaRPr lang="ja-JP" altLang="en-US" sz="1200" dirty="0">
              <a:latin typeface="メイリオ"/>
              <a:ea typeface="メイリオ"/>
              <a:cs typeface="メイリオ"/>
            </a:endParaRPr>
          </a:p>
        </p:txBody>
      </p:sp>
      <p:sp>
        <p:nvSpPr>
          <p:cNvPr id="62" name="導線の説明 継続的な情報配信"/>
          <p:cNvSpPr/>
          <p:nvPr/>
        </p:nvSpPr>
        <p:spPr>
          <a:xfrm>
            <a:off x="5056632"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あいさつ・見どころ動画・参加特典</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企画配信：開催のない月は月1〜2回／開催月は月4〜5回</a:t>
            </a:r>
            <a:endParaRPr lang="ja-JP" altLang="en-US" sz="1200" dirty="0">
              <a:latin typeface="メイリオ"/>
              <a:ea typeface="メイリオ"/>
              <a:cs typeface="メイリオ"/>
            </a:endParaRPr>
          </a:p>
        </p:txBody>
      </p:sp>
      <p:sp>
        <p:nvSpPr>
          <p:cNvPr id="63" name="矢印"/>
          <p:cNvSpPr/>
          <p:nvPr/>
        </p:nvSpPr>
        <p:spPr>
          <a:xfrm>
            <a:off x="6382512"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4" name="導線 セミナー予約・参加"/>
          <p:cNvSpPr/>
          <p:nvPr/>
        </p:nvSpPr>
        <p:spPr>
          <a:xfrm>
            <a:off x="6601968"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セミナー予約・参加</a:t>
            </a:r>
            <a:endParaRPr lang="ja-JP" altLang="en-US" sz="1200" dirty="0">
              <a:latin typeface="メイリオ"/>
              <a:ea typeface="メイリオ"/>
              <a:cs typeface="メイリオ"/>
            </a:endParaRPr>
          </a:p>
        </p:txBody>
      </p:sp>
      <p:sp>
        <p:nvSpPr>
          <p:cNvPr id="65" name="導線の説明 セミナー予約・参加"/>
          <p:cNvSpPr/>
          <p:nvPr/>
        </p:nvSpPr>
        <p:spPr>
          <a:xfrm>
            <a:off x="6601968"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p:txBody>
      </p:sp>
      <p:sp>
        <p:nvSpPr>
          <p:cNvPr id="66" name="矢印"/>
          <p:cNvSpPr/>
          <p:nvPr/>
        </p:nvSpPr>
        <p:spPr>
          <a:xfrm>
            <a:off x="7927848"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7" name="導線 オンラインサロン入会"/>
          <p:cNvSpPr/>
          <p:nvPr/>
        </p:nvSpPr>
        <p:spPr>
          <a:xfrm>
            <a:off x="8147304"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sp>
        <p:nvSpPr>
          <p:cNvPr id="68" name="導線の説明 オンラインサロン入会"/>
          <p:cNvSpPr/>
          <p:nvPr/>
        </p:nvSpPr>
        <p:spPr>
          <a:xfrm>
            <a:off x="814730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参加後の振り返り・サロンの内容紹介・入会のご案内</a:t>
            </a:r>
            <a:endParaRPr lang="ja-JP" altLang="en-US" sz="1200" dirty="0">
              <a:latin typeface="メイリオ"/>
              <a:ea typeface="メイリオ"/>
              <a:cs typeface="メイリオ"/>
            </a:endParaRPr>
          </a:p>
        </p:txBody>
      </p:sp>
      <p:sp>
        <p:nvSpPr>
          <p:cNvPr id="69" name="中長期"/>
          <p:cNvSpPr/>
          <p:nvPr/>
        </p:nvSpPr>
        <p:spPr>
          <a:xfrm>
            <a:off x="3511296" y="4754880"/>
            <a:ext cx="5961888" cy="457200"/>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中長期：入会後の継続利用・紹介にも、LINEでの情報配信を活用</a:t>
            </a:r>
            <a:endParaRPr lang="ja-JP" altLang="en-US" sz="1200" dirty="0">
              <a:latin typeface="メイリオ"/>
              <a:ea typeface="メイリオ"/>
              <a:cs typeface="メイリオ"/>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42A8-3E67-5B74-44A3-2319A4429A9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想定動線（フェーズごとのLINEの役割）①〜④</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⑦マネタイズ</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r>
              <a:rPr lang="ja-JP" altLang="en-US" sz="1000" b="1" dirty="0">
                <a:solidFill>
                  <a:srgbClr val="BFBFBF"/>
                </a:solidFill>
                <a:latin typeface="メイリオ" panose="020B0604030504040204" pitchFamily="50" charset="-128"/>
                <a:ea typeface="メイリオ" panose="020B0604030504040204" pitchFamily="50" charset="-128"/>
                <a:cs typeface="メイリオ"/>
              </a:rPr>
              <a:t>成約</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r>
              <a:rPr lang="ja-JP" altLang="en-US" sz="1000" b="1" dirty="0">
                <a:solidFill>
                  <a:srgbClr val="BFBFBF"/>
                </a:solidFill>
                <a:latin typeface="メイリオ" panose="020B0604030504040204" pitchFamily="50" charset="-128"/>
                <a:ea typeface="メイリオ" panose="020B0604030504040204" pitchFamily="50" charset="-128"/>
                <a:cs typeface="メイリオ"/>
              </a:rPr>
              <a:t>購入</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solidFill>
                  <a:srgbClr val="BFBFBF"/>
                </a:solidFill>
                <a:latin typeface="メイリオ" panose="020B0604030504040204" pitchFamily="50" charset="-128"/>
                <a:ea typeface="メイリオ" panose="020B0604030504040204" pitchFamily="50" charset="-128"/>
                <a:cs typeface="メイリオ"/>
              </a:rPr>
              <a:t>⑧</a:t>
            </a:r>
            <a:r>
              <a:rPr lang="en-US" altLang="ja-JP" sz="1100" dirty="0">
                <a:solidFill>
                  <a:srgbClr val="BFBFBF"/>
                </a:solidFill>
                <a:latin typeface="メイリオ" panose="020B0604030504040204" pitchFamily="50" charset="-128"/>
                <a:ea typeface="メイリオ" panose="020B0604030504040204" pitchFamily="50" charset="-128"/>
                <a:cs typeface="メイリオ"/>
              </a:rPr>
              <a:t>LTV</a:t>
            </a:r>
            <a:r>
              <a:rPr lang="ja-JP" altLang="en-US" sz="1100" dirty="0">
                <a:solidFill>
                  <a:srgbClr val="BFBFBF"/>
                </a:solidFill>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LPを離れる方を友だちにし、セミナーの予約・参加までつなげる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46" name="Rectangle 45"/>
          <p:cNvSpPr/>
          <p:nvPr/>
        </p:nvSpPr>
        <p:spPr>
          <a:xfrm>
            <a:off x="384048"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① 接触</a:t>
            </a:r>
          </a:p>
          <a:p>
            <a:pPr algn="ctr">
              <a:lnSpc>
                <a:spcPct val="110000"/>
              </a:lnSpc>
              <a:spcAft>
                <a:spcPts val="0"/>
              </a:spcAft>
            </a:pPr>
            <a:r>
              <a:rPr sz="1050" b="1">
                <a:solidFill>
                  <a:srgbClr val="1F285A"/>
                </a:solidFill>
                <a:latin typeface="メイリオ"/>
                <a:ea typeface="メイリオ"/>
                <a:cs typeface="メイリオ"/>
              </a:rPr>
              <a:t>（認知・流入）</a:t>
            </a:r>
          </a:p>
        </p:txBody>
      </p:sp>
      <p:sp>
        <p:nvSpPr>
          <p:cNvPr id="47" name="Isosceles Triangle 46"/>
          <p:cNvSpPr/>
          <p:nvPr/>
        </p:nvSpPr>
        <p:spPr>
          <a:xfrm rot="5400000">
            <a:off x="2587751"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TextBox 47"/>
          <p:cNvSpPr txBox="1"/>
          <p:nvPr/>
        </p:nvSpPr>
        <p:spPr>
          <a:xfrm>
            <a:off x="384048"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49" name="TextBox 48"/>
          <p:cNvSpPr txBox="1"/>
          <p:nvPr/>
        </p:nvSpPr>
        <p:spPr>
          <a:xfrm>
            <a:off x="384048"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営業力を上げたい・</a:t>
            </a:r>
          </a:p>
          <a:p>
            <a:pPr algn="l">
              <a:lnSpc>
                <a:spcPct val="105000"/>
              </a:lnSpc>
              <a:spcAft>
                <a:spcPts val="200"/>
              </a:spcAft>
            </a:pPr>
            <a:r>
              <a:rPr sz="1300" b="0">
                <a:solidFill>
                  <a:srgbClr val="333333"/>
                </a:solidFill>
                <a:latin typeface="メイリオ"/>
                <a:ea typeface="メイリオ"/>
                <a:cs typeface="メイリオ"/>
              </a:rPr>
              <a:t>情報収集中</a:t>
            </a:r>
          </a:p>
        </p:txBody>
      </p:sp>
      <p:cxnSp>
        <p:nvCxnSpPr>
          <p:cNvPr id="50" name="Connector 49"/>
          <p:cNvCxnSpPr/>
          <p:nvPr/>
        </p:nvCxnSpPr>
        <p:spPr>
          <a:xfrm>
            <a:off x="429768"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1" name="Rectangle 50"/>
          <p:cNvSpPr/>
          <p:nvPr/>
        </p:nvSpPr>
        <p:spPr>
          <a:xfrm>
            <a:off x="384048"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離脱防止ポップアップ</a:t>
            </a:r>
          </a:p>
          <a:p>
            <a:pPr algn="l">
              <a:lnSpc>
                <a:spcPct val="110000"/>
              </a:lnSpc>
              <a:spcAft>
                <a:spcPts val="0"/>
              </a:spcAft>
            </a:pPr>
            <a:r>
              <a:rPr sz="1300" b="1">
                <a:solidFill>
                  <a:srgbClr val="1F285A"/>
                </a:solidFill>
                <a:latin typeface="メイリオ"/>
                <a:ea typeface="メイリオ"/>
                <a:cs typeface="メイリオ"/>
              </a:rPr>
              <a:t>（推奨）</a:t>
            </a:r>
          </a:p>
        </p:txBody>
      </p:sp>
      <p:sp>
        <p:nvSpPr>
          <p:cNvPr id="52" name="Rectangle 51"/>
          <p:cNvSpPr/>
          <p:nvPr/>
        </p:nvSpPr>
        <p:spPr>
          <a:xfrm>
            <a:off x="2798063"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② サイト離脱</a:t>
            </a:r>
          </a:p>
          <a:p>
            <a:pPr algn="ctr">
              <a:lnSpc>
                <a:spcPct val="110000"/>
              </a:lnSpc>
              <a:spcAft>
                <a:spcPts val="0"/>
              </a:spcAft>
            </a:pPr>
            <a:r>
              <a:rPr sz="1050" b="1">
                <a:solidFill>
                  <a:srgbClr val="1F285A"/>
                </a:solidFill>
                <a:latin typeface="メイリオ"/>
                <a:ea typeface="メイリオ"/>
                <a:cs typeface="メイリオ"/>
              </a:rPr>
              <a:t>（対策）</a:t>
            </a:r>
          </a:p>
        </p:txBody>
      </p:sp>
      <p:sp>
        <p:nvSpPr>
          <p:cNvPr id="53" name="Isosceles Triangle 52"/>
          <p:cNvSpPr/>
          <p:nvPr/>
        </p:nvSpPr>
        <p:spPr>
          <a:xfrm rot="5400000">
            <a:off x="5001768"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TextBox 53"/>
          <p:cNvSpPr txBox="1"/>
          <p:nvPr/>
        </p:nvSpPr>
        <p:spPr>
          <a:xfrm>
            <a:off x="2798063"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55" name="TextBox 54"/>
          <p:cNvSpPr txBox="1"/>
          <p:nvPr/>
        </p:nvSpPr>
        <p:spPr>
          <a:xfrm>
            <a:off x="2798063"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今回は申し込まない</a:t>
            </a:r>
          </a:p>
        </p:txBody>
      </p:sp>
      <p:cxnSp>
        <p:nvCxnSpPr>
          <p:cNvPr id="56" name="Connector 55"/>
          <p:cNvCxnSpPr/>
          <p:nvPr/>
        </p:nvCxnSpPr>
        <p:spPr>
          <a:xfrm>
            <a:off x="2843783"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7" name="Rectangle 56"/>
          <p:cNvSpPr/>
          <p:nvPr/>
        </p:nvSpPr>
        <p:spPr>
          <a:xfrm>
            <a:off x="2798063"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ポップアップから</a:t>
            </a:r>
          </a:p>
          <a:p>
            <a:pPr algn="l">
              <a:lnSpc>
                <a:spcPct val="110000"/>
              </a:lnSpc>
              <a:spcAft>
                <a:spcPts val="0"/>
              </a:spcAft>
            </a:pPr>
            <a:r>
              <a:rPr sz="1300" b="1">
                <a:solidFill>
                  <a:srgbClr val="1F285A"/>
                </a:solidFill>
                <a:latin typeface="メイリオ"/>
                <a:ea typeface="メイリオ"/>
                <a:cs typeface="メイリオ"/>
              </a:rPr>
              <a:t>LINE友だち化</a:t>
            </a:r>
          </a:p>
        </p:txBody>
      </p:sp>
      <p:sp>
        <p:nvSpPr>
          <p:cNvPr id="58" name="Rectangle 57"/>
          <p:cNvSpPr/>
          <p:nvPr/>
        </p:nvSpPr>
        <p:spPr>
          <a:xfrm>
            <a:off x="5212079"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③ 育成</a:t>
            </a:r>
          </a:p>
          <a:p>
            <a:pPr algn="ctr">
              <a:lnSpc>
                <a:spcPct val="110000"/>
              </a:lnSpc>
              <a:spcAft>
                <a:spcPts val="0"/>
              </a:spcAft>
            </a:pPr>
            <a:r>
              <a:rPr sz="1050" b="1">
                <a:solidFill>
                  <a:srgbClr val="1F285A"/>
                </a:solidFill>
                <a:latin typeface="メイリオ"/>
                <a:ea typeface="メイリオ"/>
                <a:cs typeface="メイリオ"/>
              </a:rPr>
              <a:t>（興味喚起）</a:t>
            </a:r>
          </a:p>
        </p:txBody>
      </p:sp>
      <p:sp>
        <p:nvSpPr>
          <p:cNvPr id="59" name="Isosceles Triangle 58"/>
          <p:cNvSpPr/>
          <p:nvPr/>
        </p:nvSpPr>
        <p:spPr>
          <a:xfrm rot="5400000">
            <a:off x="7415784"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60" name="TextBox 59"/>
          <p:cNvSpPr txBox="1"/>
          <p:nvPr/>
        </p:nvSpPr>
        <p:spPr>
          <a:xfrm>
            <a:off x="5212079"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1" name="TextBox 60"/>
          <p:cNvSpPr txBox="1"/>
          <p:nvPr/>
        </p:nvSpPr>
        <p:spPr>
          <a:xfrm>
            <a:off x="5212079"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どんなセミナーか</a:t>
            </a:r>
          </a:p>
          <a:p>
            <a:pPr algn="l">
              <a:lnSpc>
                <a:spcPct val="105000"/>
              </a:lnSpc>
              <a:spcAft>
                <a:spcPts val="200"/>
              </a:spcAft>
            </a:pPr>
            <a:r>
              <a:rPr sz="1300" b="0">
                <a:solidFill>
                  <a:srgbClr val="333333"/>
                </a:solidFill>
                <a:latin typeface="メイリオ"/>
                <a:ea typeface="メイリオ"/>
                <a:cs typeface="メイリオ"/>
              </a:rPr>
              <a:t>分からない</a:t>
            </a:r>
          </a:p>
        </p:txBody>
      </p:sp>
      <p:cxnSp>
        <p:nvCxnSpPr>
          <p:cNvPr id="62" name="Connector 61"/>
          <p:cNvCxnSpPr/>
          <p:nvPr/>
        </p:nvCxnSpPr>
        <p:spPr>
          <a:xfrm>
            <a:off x="5257799" y="4572000"/>
            <a:ext cx="2048257"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3" name="Rectangle 62"/>
          <p:cNvSpPr/>
          <p:nvPr/>
        </p:nvSpPr>
        <p:spPr>
          <a:xfrm>
            <a:off x="5212079"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見どころ・特典を</a:t>
            </a:r>
          </a:p>
          <a:p>
            <a:pPr algn="l">
              <a:lnSpc>
                <a:spcPct val="110000"/>
              </a:lnSpc>
              <a:spcAft>
                <a:spcPts val="0"/>
              </a:spcAft>
            </a:pPr>
            <a:r>
              <a:rPr sz="1300" b="1">
                <a:solidFill>
                  <a:srgbClr val="1F285A"/>
                </a:solidFill>
                <a:latin typeface="メイリオ"/>
                <a:ea typeface="メイリオ"/>
                <a:cs typeface="メイリオ"/>
              </a:rPr>
              <a:t>ステップ配信</a:t>
            </a:r>
          </a:p>
        </p:txBody>
      </p:sp>
      <p:sp>
        <p:nvSpPr>
          <p:cNvPr id="64" name="Rectangle 63"/>
          <p:cNvSpPr/>
          <p:nvPr/>
        </p:nvSpPr>
        <p:spPr>
          <a:xfrm>
            <a:off x="7626095"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④ リード獲得</a:t>
            </a:r>
          </a:p>
          <a:p>
            <a:pPr algn="ctr">
              <a:lnSpc>
                <a:spcPct val="110000"/>
              </a:lnSpc>
              <a:spcAft>
                <a:spcPts val="0"/>
              </a:spcAft>
            </a:pPr>
            <a:r>
              <a:rPr sz="1050" b="1">
                <a:solidFill>
                  <a:srgbClr val="1F285A"/>
                </a:solidFill>
                <a:latin typeface="メイリオ"/>
                <a:ea typeface="メイリオ"/>
                <a:cs typeface="メイリオ"/>
              </a:rPr>
              <a:t>(web/LINE)</a:t>
            </a:r>
          </a:p>
        </p:txBody>
      </p:sp>
      <p:sp>
        <p:nvSpPr>
          <p:cNvPr id="65" name="TextBox 64"/>
          <p:cNvSpPr txBox="1"/>
          <p:nvPr/>
        </p:nvSpPr>
        <p:spPr>
          <a:xfrm>
            <a:off x="7626095"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6" name="TextBox 65"/>
          <p:cNvSpPr txBox="1"/>
          <p:nvPr/>
        </p:nvSpPr>
        <p:spPr>
          <a:xfrm>
            <a:off x="7626095"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セミナーを予約した</a:t>
            </a:r>
          </a:p>
        </p:txBody>
      </p:sp>
      <p:cxnSp>
        <p:nvCxnSpPr>
          <p:cNvPr id="67" name="Connector 66"/>
          <p:cNvCxnSpPr/>
          <p:nvPr/>
        </p:nvCxnSpPr>
        <p:spPr>
          <a:xfrm>
            <a:off x="7671816"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7626095"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予約後の友だち追加・</a:t>
            </a:r>
          </a:p>
          <a:p>
            <a:pPr algn="l">
              <a:lnSpc>
                <a:spcPct val="110000"/>
              </a:lnSpc>
              <a:spcAft>
                <a:spcPts val="0"/>
              </a:spcAft>
            </a:pPr>
            <a:r>
              <a:rPr sz="1300" b="1">
                <a:solidFill>
                  <a:srgbClr val="1F285A"/>
                </a:solidFill>
                <a:latin typeface="メイリオ"/>
                <a:ea typeface="メイリオ"/>
                <a:cs typeface="メイリオ"/>
              </a:rPr>
              <a:t>前日の案内</a:t>
            </a:r>
          </a:p>
        </p:txBody>
      </p:sp>
    </p:spTree>
    <p:extLst>
      <p:ext uri="{BB962C8B-B14F-4D97-AF65-F5344CB8AC3E}">
        <p14:creationId xmlns:p14="http://schemas.microsoft.com/office/powerpoint/2010/main" val="3571272317"/>
      </p:ext>
    </p:extLst>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想定動線（フェーズごとのLINEの役割）⑤〜⑧</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solidFill>
                  <a:srgbClr val="BFBFBF"/>
                </a:solidFill>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solidFill>
                  <a:srgbClr val="BFBFBF"/>
                </a:solidFill>
                <a:latin typeface="メイリオ" panose="020B0604030504040204" pitchFamily="50" charset="-128"/>
                <a:ea typeface="メイリオ" panose="020B0604030504040204" pitchFamily="50" charset="-128"/>
                <a:cs typeface="メイリオ"/>
              </a:rPr>
              <a:t>② サイト離脱</a:t>
            </a:r>
            <a:r>
              <a:rPr lang="ja-JP" altLang="en-US" sz="1100" dirty="0">
                <a:solidFill>
                  <a:srgbClr val="BFBFBF"/>
                </a:solidFill>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solidFill>
                  <a:srgbClr val="BFBFBF"/>
                </a:solidFill>
                <a:latin typeface="メイリオ" panose="020B0604030504040204" pitchFamily="50" charset="-128"/>
                <a:ea typeface="メイリオ" panose="020B0604030504040204" pitchFamily="50" charset="-128"/>
                <a:cs typeface="メイリオ"/>
              </a:rPr>
              <a:t>③ 育成（興味</a:t>
            </a:r>
            <a:r>
              <a:rPr lang="ja-JP" altLang="en-US" sz="1100" b="1" dirty="0">
                <a:solidFill>
                  <a:srgbClr val="BFBFBF"/>
                </a:solidFill>
                <a:latin typeface="メイリオ" panose="020B0604030504040204" pitchFamily="50" charset="-128"/>
                <a:ea typeface="メイリオ" panose="020B0604030504040204" pitchFamily="50" charset="-128"/>
                <a:cs typeface="メイリオ"/>
              </a:rPr>
              <a:t>喚起</a:t>
            </a:r>
            <a:r>
              <a:rPr lang="ja-JP" altLang="ja-JP" sz="1100" b="1" dirty="0">
                <a:solidFill>
                  <a:srgbClr val="BFBFBF"/>
                </a:solidFill>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④リード獲得 </a:t>
            </a:r>
            <a:r>
              <a:rPr lang="en-US" altLang="ja-JP" sz="900" b="1" dirty="0">
                <a:solidFill>
                  <a:srgbClr val="BFBFBF"/>
                </a:solidFill>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参加後の関心が高いうちにサロン入会を案内し、次のイベント・紹介までつなげる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46" name="Rectangle 45"/>
          <p:cNvSpPr/>
          <p:nvPr/>
        </p:nvSpPr>
        <p:spPr>
          <a:xfrm>
            <a:off x="384048"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⑤ リード有効化</a:t>
            </a:r>
          </a:p>
        </p:txBody>
      </p:sp>
      <p:sp>
        <p:nvSpPr>
          <p:cNvPr id="47" name="Isosceles Triangle 46"/>
          <p:cNvSpPr/>
          <p:nvPr/>
        </p:nvSpPr>
        <p:spPr>
          <a:xfrm rot="5400000">
            <a:off x="2587751"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TextBox 47"/>
          <p:cNvSpPr txBox="1"/>
          <p:nvPr/>
        </p:nvSpPr>
        <p:spPr>
          <a:xfrm>
            <a:off x="384048"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49" name="TextBox 48"/>
          <p:cNvSpPr txBox="1"/>
          <p:nvPr/>
        </p:nvSpPr>
        <p:spPr>
          <a:xfrm>
            <a:off x="384048"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参加して</a:t>
            </a:r>
          </a:p>
          <a:p>
            <a:pPr algn="l">
              <a:lnSpc>
                <a:spcPct val="105000"/>
              </a:lnSpc>
              <a:spcAft>
                <a:spcPts val="200"/>
              </a:spcAft>
            </a:pPr>
            <a:r>
              <a:rPr sz="1300" b="0">
                <a:solidFill>
                  <a:srgbClr val="333333"/>
                </a:solidFill>
                <a:latin typeface="メイリオ"/>
                <a:ea typeface="メイリオ"/>
                <a:cs typeface="メイリオ"/>
              </a:rPr>
              <a:t>関心が高まっている</a:t>
            </a:r>
          </a:p>
        </p:txBody>
      </p:sp>
      <p:cxnSp>
        <p:nvCxnSpPr>
          <p:cNvPr id="50" name="Connector 49"/>
          <p:cNvCxnSpPr/>
          <p:nvPr/>
        </p:nvCxnSpPr>
        <p:spPr>
          <a:xfrm>
            <a:off x="429768"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1" name="Rectangle 50"/>
          <p:cNvSpPr/>
          <p:nvPr/>
        </p:nvSpPr>
        <p:spPr>
          <a:xfrm>
            <a:off x="384048"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参加直後にサロンを案内</a:t>
            </a:r>
          </a:p>
        </p:txBody>
      </p:sp>
      <p:sp>
        <p:nvSpPr>
          <p:cNvPr id="52" name="Rectangle 51"/>
          <p:cNvSpPr/>
          <p:nvPr/>
        </p:nvSpPr>
        <p:spPr>
          <a:xfrm>
            <a:off x="2798063"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⑥ 有効リードの再育成</a:t>
            </a:r>
          </a:p>
        </p:txBody>
      </p:sp>
      <p:sp>
        <p:nvSpPr>
          <p:cNvPr id="53" name="Isosceles Triangle 52"/>
          <p:cNvSpPr/>
          <p:nvPr/>
        </p:nvSpPr>
        <p:spPr>
          <a:xfrm rot="5400000">
            <a:off x="5001768"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TextBox 53"/>
          <p:cNvSpPr txBox="1"/>
          <p:nvPr/>
        </p:nvSpPr>
        <p:spPr>
          <a:xfrm>
            <a:off x="2798063"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55" name="TextBox 54"/>
          <p:cNvSpPr txBox="1"/>
          <p:nvPr/>
        </p:nvSpPr>
        <p:spPr>
          <a:xfrm>
            <a:off x="2798063"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未入会／予約したが不参加</a:t>
            </a:r>
          </a:p>
        </p:txBody>
      </p:sp>
      <p:cxnSp>
        <p:nvCxnSpPr>
          <p:cNvPr id="56" name="Connector 55"/>
          <p:cNvCxnSpPr/>
          <p:nvPr/>
        </p:nvCxnSpPr>
        <p:spPr>
          <a:xfrm>
            <a:off x="2843783"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7" name="Rectangle 56"/>
          <p:cNvSpPr/>
          <p:nvPr/>
        </p:nvSpPr>
        <p:spPr>
          <a:xfrm>
            <a:off x="2798063"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月1〜2回の配信で次回へ</a:t>
            </a:r>
          </a:p>
        </p:txBody>
      </p:sp>
      <p:sp>
        <p:nvSpPr>
          <p:cNvPr id="58" name="Rectangle 57"/>
          <p:cNvSpPr/>
          <p:nvPr/>
        </p:nvSpPr>
        <p:spPr>
          <a:xfrm>
            <a:off x="5212079"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⑦ マネタイズ</a:t>
            </a:r>
          </a:p>
          <a:p>
            <a:pPr algn="ctr">
              <a:lnSpc>
                <a:spcPct val="110000"/>
              </a:lnSpc>
              <a:spcAft>
                <a:spcPts val="0"/>
              </a:spcAft>
            </a:pPr>
            <a:r>
              <a:rPr sz="1050" b="1">
                <a:solidFill>
                  <a:srgbClr val="1F285A"/>
                </a:solidFill>
                <a:latin typeface="メイリオ"/>
                <a:ea typeface="メイリオ"/>
                <a:cs typeface="メイリオ"/>
              </a:rPr>
              <a:t>(成約/購入)</a:t>
            </a:r>
          </a:p>
        </p:txBody>
      </p:sp>
      <p:sp>
        <p:nvSpPr>
          <p:cNvPr id="59" name="Isosceles Triangle 58"/>
          <p:cNvSpPr/>
          <p:nvPr/>
        </p:nvSpPr>
        <p:spPr>
          <a:xfrm rot="5400000">
            <a:off x="7415784"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60" name="TextBox 59"/>
          <p:cNvSpPr txBox="1"/>
          <p:nvPr/>
        </p:nvSpPr>
        <p:spPr>
          <a:xfrm>
            <a:off x="5212079"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1" name="TextBox 60"/>
          <p:cNvSpPr txBox="1"/>
          <p:nvPr/>
        </p:nvSpPr>
        <p:spPr>
          <a:xfrm>
            <a:off x="5212079"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サロンの入会を検討</a:t>
            </a:r>
          </a:p>
        </p:txBody>
      </p:sp>
      <p:cxnSp>
        <p:nvCxnSpPr>
          <p:cNvPr id="62" name="Connector 61"/>
          <p:cNvCxnSpPr/>
          <p:nvPr/>
        </p:nvCxnSpPr>
        <p:spPr>
          <a:xfrm>
            <a:off x="5257799" y="4572000"/>
            <a:ext cx="2048257"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3" name="Rectangle 62"/>
          <p:cNvSpPr/>
          <p:nvPr/>
        </p:nvSpPr>
        <p:spPr>
          <a:xfrm>
            <a:off x="5212079"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入会した方の声を配信</a:t>
            </a:r>
          </a:p>
        </p:txBody>
      </p:sp>
      <p:sp>
        <p:nvSpPr>
          <p:cNvPr id="64" name="Rectangle 63"/>
          <p:cNvSpPr/>
          <p:nvPr/>
        </p:nvSpPr>
        <p:spPr>
          <a:xfrm>
            <a:off x="7626095"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⑧ LTV最大化・紹介</a:t>
            </a:r>
          </a:p>
        </p:txBody>
      </p:sp>
      <p:sp>
        <p:nvSpPr>
          <p:cNvPr id="65" name="TextBox 64"/>
          <p:cNvSpPr txBox="1"/>
          <p:nvPr/>
        </p:nvSpPr>
        <p:spPr>
          <a:xfrm>
            <a:off x="7626095"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6" name="TextBox 65"/>
          <p:cNvSpPr txBox="1"/>
          <p:nvPr/>
        </p:nvSpPr>
        <p:spPr>
          <a:xfrm>
            <a:off x="7626095"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サロンに入会</a:t>
            </a:r>
          </a:p>
        </p:txBody>
      </p:sp>
      <p:cxnSp>
        <p:nvCxnSpPr>
          <p:cNvPr id="67" name="Connector 66"/>
          <p:cNvCxnSpPr/>
          <p:nvPr/>
        </p:nvCxnSpPr>
        <p:spPr>
          <a:xfrm>
            <a:off x="7671816"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7626095"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イベント案内・紹介</a:t>
            </a:r>
          </a:p>
          <a:p>
            <a:pPr algn="l">
              <a:lnSpc>
                <a:spcPct val="110000"/>
              </a:lnSpc>
              <a:spcAft>
                <a:spcPts val="0"/>
              </a:spcAft>
            </a:pPr>
            <a:r>
              <a:rPr sz="1300" b="1">
                <a:solidFill>
                  <a:srgbClr val="1F285A"/>
                </a:solidFill>
                <a:latin typeface="メイリオ"/>
                <a:ea typeface="メイリオ"/>
                <a:cs typeface="メイリオ"/>
              </a:rPr>
              <a:t>（中長期）</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D3B1F-7F7B-6271-9DE8-D3CECB4AEE7A}"/>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8421BF1B-3828-BADE-4033-28B8258FFCB2}"/>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全体設計</a:t>
            </a:r>
          </a:p>
        </p:txBody>
      </p:sp>
      <p:sp>
        <p:nvSpPr>
          <p:cNvPr id="3" name="テキスト ボックス 2">
            <a:extLst>
              <a:ext uri="{FF2B5EF4-FFF2-40B4-BE49-F238E27FC236}">
                <a16:creationId xmlns:a16="http://schemas.microsoft.com/office/drawing/2014/main" id="{EDD3D979-9EEB-6B18-F888-A17F98CFB00B}"/>
              </a:ext>
            </a:extLst>
          </p:cNvPr>
          <p:cNvSpPr txBox="1"/>
          <p:nvPr/>
        </p:nvSpPr>
        <p:spPr>
          <a:xfrm>
            <a:off x="4630780" y="1385918"/>
            <a:ext cx="1285343"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4" name="テキスト ボックス 3">
            <a:extLst>
              <a:ext uri="{FF2B5EF4-FFF2-40B4-BE49-F238E27FC236}">
                <a16:creationId xmlns:a16="http://schemas.microsoft.com/office/drawing/2014/main" id="{74A29E67-E629-D5BB-0BF0-30595AA3A156}"/>
              </a:ext>
            </a:extLst>
          </p:cNvPr>
          <p:cNvSpPr txBox="1"/>
          <p:nvPr/>
        </p:nvSpPr>
        <p:spPr>
          <a:xfrm>
            <a:off x="726950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 入会</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5" name="テキスト ボックス 4">
            <a:extLst>
              <a:ext uri="{FF2B5EF4-FFF2-40B4-BE49-F238E27FC236}">
                <a16:creationId xmlns:a16="http://schemas.microsoft.com/office/drawing/2014/main" id="{C8FAABE7-2498-0A19-8EFA-AE3DAED1CE38}"/>
              </a:ext>
            </a:extLst>
          </p:cNvPr>
          <p:cNvSpPr txBox="1"/>
          <p:nvPr/>
        </p:nvSpPr>
        <p:spPr>
          <a:xfrm>
            <a:off x="595014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7A77BB20-672A-267B-1278-73B82EFDB35A}"/>
              </a:ext>
            </a:extLst>
          </p:cNvPr>
          <p:cNvSpPr txBox="1"/>
          <p:nvPr/>
        </p:nvSpPr>
        <p:spPr>
          <a:xfrm>
            <a:off x="2435404" y="1385918"/>
            <a:ext cx="1063671" cy="261610"/>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a:t>
            </a:r>
          </a:p>
        </p:txBody>
      </p:sp>
      <p:sp>
        <p:nvSpPr>
          <p:cNvPr id="11" name="テキスト ボックス 10">
            <a:extLst>
              <a:ext uri="{FF2B5EF4-FFF2-40B4-BE49-F238E27FC236}">
                <a16:creationId xmlns:a16="http://schemas.microsoft.com/office/drawing/2014/main" id="{757FA4CB-2B6D-1C58-A1D7-FBC3E968719E}"/>
              </a:ext>
            </a:extLst>
          </p:cNvPr>
          <p:cNvSpPr txBox="1"/>
          <p:nvPr/>
        </p:nvSpPr>
        <p:spPr>
          <a:xfrm>
            <a:off x="3533092" y="1385918"/>
            <a:ext cx="1063671" cy="261610"/>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 リード</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6" name="正方形/長方形 15">
            <a:extLst>
              <a:ext uri="{FF2B5EF4-FFF2-40B4-BE49-F238E27FC236}">
                <a16:creationId xmlns:a16="http://schemas.microsoft.com/office/drawing/2014/main" id="{9F1496A9-1AA6-8C00-6027-75BA16E87457}"/>
              </a:ext>
            </a:extLst>
          </p:cNvPr>
          <p:cNvSpPr/>
          <p:nvPr/>
        </p:nvSpPr>
        <p:spPr>
          <a:xfrm>
            <a:off x="240028" y="773977"/>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7" name="直線矢印コネクタ 16">
            <a:extLst>
              <a:ext uri="{FF2B5EF4-FFF2-40B4-BE49-F238E27FC236}">
                <a16:creationId xmlns:a16="http://schemas.microsoft.com/office/drawing/2014/main" id="{0B8C27AC-9240-5C32-389B-1F46C1A17D15}"/>
              </a:ext>
            </a:extLst>
          </p:cNvPr>
          <p:cNvCxnSpPr>
            <a:cxnSpLocks/>
          </p:cNvCxnSpPr>
          <p:nvPr/>
        </p:nvCxnSpPr>
        <p:spPr>
          <a:xfrm>
            <a:off x="323367" y="1003861"/>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9BA284C9-F4DC-DB06-4BAF-EC4EB7A246B5}"/>
              </a:ext>
            </a:extLst>
          </p:cNvPr>
          <p:cNvSpPr txBox="1"/>
          <p:nvPr/>
        </p:nvSpPr>
        <p:spPr>
          <a:xfrm>
            <a:off x="3972228" y="875991"/>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5717FF50-BC66-88D1-6E63-63A2832D9840}"/>
              </a:ext>
            </a:extLst>
          </p:cNvPr>
          <p:cNvSpPr txBox="1"/>
          <p:nvPr/>
        </p:nvSpPr>
        <p:spPr>
          <a:xfrm>
            <a:off x="8588858" y="1385918"/>
            <a:ext cx="1339302" cy="2616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 紹介</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46D32A0E-F7DE-9D8C-2548-B53782ECD867}"/>
              </a:ext>
            </a:extLst>
          </p:cNvPr>
          <p:cNvSpPr txBox="1"/>
          <p:nvPr/>
        </p:nvSpPr>
        <p:spPr>
          <a:xfrm>
            <a:off x="240028"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a:t>
            </a:r>
          </a:p>
        </p:txBody>
      </p:sp>
      <p:sp>
        <p:nvSpPr>
          <p:cNvPr id="22" name="テキスト ボックス 21">
            <a:extLst>
              <a:ext uri="{FF2B5EF4-FFF2-40B4-BE49-F238E27FC236}">
                <a16:creationId xmlns:a16="http://schemas.microsoft.com/office/drawing/2014/main" id="{38E909FA-CB5E-B051-BA39-70C6E514BC74}"/>
              </a:ext>
            </a:extLst>
          </p:cNvPr>
          <p:cNvSpPr txBox="1"/>
          <p:nvPr/>
        </p:nvSpPr>
        <p:spPr>
          <a:xfrm>
            <a:off x="1337716"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a:t>
            </a:r>
            <a:r>
              <a:rPr lang="ja-JP" altLang="en-US" sz="1100" dirty="0">
                <a:latin typeface="メイリオ" panose="020B0604030504040204" pitchFamily="50" charset="-128"/>
                <a:ea typeface="メイリオ" panose="020B0604030504040204" pitchFamily="50" charset="-128"/>
                <a:cs typeface="メイリオ"/>
              </a:rPr>
              <a:t>離脱</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39" name="正方形/長方形 38">
            <a:extLst>
              <a:ext uri="{FF2B5EF4-FFF2-40B4-BE49-F238E27FC236}">
                <a16:creationId xmlns:a16="http://schemas.microsoft.com/office/drawing/2014/main" id="{0387F7F8-78A2-5984-62D7-5E0BC6139087}"/>
              </a:ext>
            </a:extLst>
          </p:cNvPr>
          <p:cNvSpPr/>
          <p:nvPr/>
        </p:nvSpPr>
        <p:spPr>
          <a:xfrm>
            <a:off x="1587355" y="2875302"/>
            <a:ext cx="697117" cy="7563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離</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脱</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防</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止</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41" name="正方形/長方形 40">
            <a:extLst>
              <a:ext uri="{FF2B5EF4-FFF2-40B4-BE49-F238E27FC236}">
                <a16:creationId xmlns:a16="http://schemas.microsoft.com/office/drawing/2014/main" id="{4EA0C91B-78C6-BBBB-2C69-9BB0F2452933}"/>
              </a:ext>
            </a:extLst>
          </p:cNvPr>
          <p:cNvSpPr/>
          <p:nvPr/>
        </p:nvSpPr>
        <p:spPr>
          <a:xfrm>
            <a:off x="2618680" y="3637979"/>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16F18994-DA2E-D80B-5B66-954D59885119}"/>
              </a:ext>
            </a:extLst>
          </p:cNvPr>
          <p:cNvSpPr/>
          <p:nvPr/>
        </p:nvSpPr>
        <p:spPr>
          <a:xfrm>
            <a:off x="3554602" y="3544936"/>
            <a:ext cx="1020649"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予約完了後の</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友だち追加</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4" name="直線矢印コネクタ 43">
            <a:extLst>
              <a:ext uri="{FF2B5EF4-FFF2-40B4-BE49-F238E27FC236}">
                <a16:creationId xmlns:a16="http://schemas.microsoft.com/office/drawing/2014/main" id="{EB54D42B-999A-C988-8087-353D7313BC5D}"/>
              </a:ext>
            </a:extLst>
          </p:cNvPr>
          <p:cNvCxnSpPr>
            <a:cxnSpLocks/>
          </p:cNvCxnSpPr>
          <p:nvPr/>
        </p:nvCxnSpPr>
        <p:spPr>
          <a:xfrm>
            <a:off x="3332019" y="3790376"/>
            <a:ext cx="198486"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98DC54E6-D786-24C4-0A98-CF27487E94A5}"/>
              </a:ext>
            </a:extLst>
          </p:cNvPr>
          <p:cNvSpPr/>
          <p:nvPr/>
        </p:nvSpPr>
        <p:spPr>
          <a:xfrm>
            <a:off x="2628833" y="4890712"/>
            <a:ext cx="843512"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追加誘導</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9" name="直線矢印コネクタ 48">
            <a:extLst>
              <a:ext uri="{FF2B5EF4-FFF2-40B4-BE49-F238E27FC236}">
                <a16:creationId xmlns:a16="http://schemas.microsoft.com/office/drawing/2014/main" id="{D6140142-DD1A-809C-DE27-D2CD7D992B51}"/>
              </a:ext>
            </a:extLst>
          </p:cNvPr>
          <p:cNvCxnSpPr>
            <a:cxnSpLocks/>
          </p:cNvCxnSpPr>
          <p:nvPr/>
        </p:nvCxnSpPr>
        <p:spPr>
          <a:xfrm>
            <a:off x="3572613" y="5136153"/>
            <a:ext cx="1974603"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6" name="左中かっこ 55">
            <a:extLst>
              <a:ext uri="{FF2B5EF4-FFF2-40B4-BE49-F238E27FC236}">
                <a16:creationId xmlns:a16="http://schemas.microsoft.com/office/drawing/2014/main" id="{9F7871CB-0948-ED66-262E-E4668DAEA788}"/>
              </a:ext>
            </a:extLst>
          </p:cNvPr>
          <p:cNvSpPr/>
          <p:nvPr/>
        </p:nvSpPr>
        <p:spPr>
          <a:xfrm>
            <a:off x="3306385" y="5445071"/>
            <a:ext cx="165959" cy="752529"/>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524DFC21-9336-5CCC-A46E-6B03A60F8CD8}"/>
              </a:ext>
            </a:extLst>
          </p:cNvPr>
          <p:cNvSpPr txBox="1"/>
          <p:nvPr/>
        </p:nvSpPr>
        <p:spPr>
          <a:xfrm>
            <a:off x="3472344" y="5451968"/>
            <a:ext cx="1307291"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・見どころ</a:t>
            </a:r>
            <a:r>
              <a:rPr lang="ja-JP" altLang="en-US" sz="1000" b="1" dirty="0">
                <a:latin typeface="メイリオ" panose="020B0604030504040204" pitchFamily="50" charset="-128"/>
                <a:ea typeface="メイリオ" panose="020B0604030504040204" pitchFamily="50" charset="-128"/>
                <a:cs typeface="メイリオ"/>
              </a:rPr>
              <a:t>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・参加特典</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・ステップ配信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0" name="左中かっこ 59">
            <a:extLst>
              <a:ext uri="{FF2B5EF4-FFF2-40B4-BE49-F238E27FC236}">
                <a16:creationId xmlns:a16="http://schemas.microsoft.com/office/drawing/2014/main" id="{6D1FBEB7-0DA2-6BD0-D8E5-5287AABE463D}"/>
              </a:ext>
            </a:extLst>
          </p:cNvPr>
          <p:cNvSpPr/>
          <p:nvPr/>
        </p:nvSpPr>
        <p:spPr>
          <a:xfrm>
            <a:off x="4341554" y="4064872"/>
            <a:ext cx="165959" cy="681427"/>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62" name="テキスト ボックス 61">
            <a:extLst>
              <a:ext uri="{FF2B5EF4-FFF2-40B4-BE49-F238E27FC236}">
                <a16:creationId xmlns:a16="http://schemas.microsoft.com/office/drawing/2014/main" id="{23E526DD-37E7-611C-2660-347E6E25E45B}"/>
              </a:ext>
            </a:extLst>
          </p:cNvPr>
          <p:cNvSpPr txBox="1"/>
          <p:nvPr/>
        </p:nvSpPr>
        <p:spPr>
          <a:xfrm>
            <a:off x="4507513" y="4071769"/>
            <a:ext cx="1737360"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・前日・当日のリマインド</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・見どころ配信</a:t>
            </a:r>
            <a:endParaRPr lang="en-US" altLang="ja-JP" sz="1000" b="1" dirty="0">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・参加者の声</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65" name="直線矢印コネクタ 64">
            <a:extLst>
              <a:ext uri="{FF2B5EF4-FFF2-40B4-BE49-F238E27FC236}">
                <a16:creationId xmlns:a16="http://schemas.microsoft.com/office/drawing/2014/main" id="{92F8C127-A45A-8F56-9D6E-7D83C0CD059C}"/>
              </a:ext>
            </a:extLst>
          </p:cNvPr>
          <p:cNvCxnSpPr>
            <a:cxnSpLocks/>
          </p:cNvCxnSpPr>
          <p:nvPr/>
        </p:nvCxnSpPr>
        <p:spPr>
          <a:xfrm>
            <a:off x="4702245" y="3762641"/>
            <a:ext cx="761292"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8" name="直線矢印コネクタ 77">
            <a:extLst>
              <a:ext uri="{FF2B5EF4-FFF2-40B4-BE49-F238E27FC236}">
                <a16:creationId xmlns:a16="http://schemas.microsoft.com/office/drawing/2014/main" id="{18BC9B61-1AB1-C280-3AB3-0A3065C47874}"/>
              </a:ext>
            </a:extLst>
          </p:cNvPr>
          <p:cNvCxnSpPr>
            <a:cxnSpLocks/>
          </p:cNvCxnSpPr>
          <p:nvPr/>
        </p:nvCxnSpPr>
        <p:spPr>
          <a:xfrm flipV="1">
            <a:off x="879791" y="2657573"/>
            <a:ext cx="4546592"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6" name="直線矢印コネクタ 85">
            <a:extLst>
              <a:ext uri="{FF2B5EF4-FFF2-40B4-BE49-F238E27FC236}">
                <a16:creationId xmlns:a16="http://schemas.microsoft.com/office/drawing/2014/main" id="{0C63AA03-27C4-0484-5A97-8C858F657C28}"/>
              </a:ext>
            </a:extLst>
          </p:cNvPr>
          <p:cNvCxnSpPr>
            <a:cxnSpLocks/>
          </p:cNvCxnSpPr>
          <p:nvPr/>
        </p:nvCxnSpPr>
        <p:spPr>
          <a:xfrm flipV="1">
            <a:off x="1120433" y="3147854"/>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テキスト ボックス 86">
            <a:extLst>
              <a:ext uri="{FF2B5EF4-FFF2-40B4-BE49-F238E27FC236}">
                <a16:creationId xmlns:a16="http://schemas.microsoft.com/office/drawing/2014/main" id="{91706F5F-C2C9-CFA6-A6DA-6320D8935BA3}"/>
              </a:ext>
            </a:extLst>
          </p:cNvPr>
          <p:cNvSpPr txBox="1"/>
          <p:nvPr/>
        </p:nvSpPr>
        <p:spPr>
          <a:xfrm>
            <a:off x="968181" y="2932648"/>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88" name="直線矢印コネクタ 87">
            <a:extLst>
              <a:ext uri="{FF2B5EF4-FFF2-40B4-BE49-F238E27FC236}">
                <a16:creationId xmlns:a16="http://schemas.microsoft.com/office/drawing/2014/main" id="{826F5558-E52E-4955-ECF0-22B6B8A29748}"/>
              </a:ext>
            </a:extLst>
          </p:cNvPr>
          <p:cNvCxnSpPr>
            <a:cxnSpLocks/>
          </p:cNvCxnSpPr>
          <p:nvPr/>
        </p:nvCxnSpPr>
        <p:spPr>
          <a:xfrm flipV="1">
            <a:off x="2290047" y="3020133"/>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C87D3212-5CA7-479B-A73E-22643A6E1B0C}"/>
              </a:ext>
            </a:extLst>
          </p:cNvPr>
          <p:cNvSpPr txBox="1"/>
          <p:nvPr/>
        </p:nvSpPr>
        <p:spPr>
          <a:xfrm>
            <a:off x="2137795" y="2804927"/>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91" name="コネクタ: カギ線 90">
            <a:extLst>
              <a:ext uri="{FF2B5EF4-FFF2-40B4-BE49-F238E27FC236}">
                <a16:creationId xmlns:a16="http://schemas.microsoft.com/office/drawing/2014/main" id="{E092BAF5-1123-4B1D-F3A5-6BB3C08065DE}"/>
              </a:ext>
            </a:extLst>
          </p:cNvPr>
          <p:cNvCxnSpPr>
            <a:stCxn id="39" idx="3"/>
            <a:endCxn id="41" idx="1"/>
          </p:cNvCxnSpPr>
          <p:nvPr/>
        </p:nvCxnSpPr>
        <p:spPr>
          <a:xfrm>
            <a:off x="2284472" y="3253466"/>
            <a:ext cx="334208" cy="536912"/>
          </a:xfrm>
          <a:prstGeom prst="bentConnector3">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コネクタ: カギ線 94">
            <a:extLst>
              <a:ext uri="{FF2B5EF4-FFF2-40B4-BE49-F238E27FC236}">
                <a16:creationId xmlns:a16="http://schemas.microsoft.com/office/drawing/2014/main" id="{368BF7F4-176E-2B84-4610-9F916AC5F605}"/>
              </a:ext>
            </a:extLst>
          </p:cNvPr>
          <p:cNvCxnSpPr>
            <a:cxnSpLocks/>
            <a:stCxn id="39" idx="3"/>
            <a:endCxn id="48" idx="1"/>
          </p:cNvCxnSpPr>
          <p:nvPr/>
        </p:nvCxnSpPr>
        <p:spPr>
          <a:xfrm>
            <a:off x="2284472" y="3253466"/>
            <a:ext cx="344361" cy="1882687"/>
          </a:xfrm>
          <a:prstGeom prst="bentConnector3">
            <a:avLst>
              <a:gd name="adj1" fmla="val 50000"/>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8" name="直線矢印コネクタ 97">
            <a:extLst>
              <a:ext uri="{FF2B5EF4-FFF2-40B4-BE49-F238E27FC236}">
                <a16:creationId xmlns:a16="http://schemas.microsoft.com/office/drawing/2014/main" id="{81E1473F-6265-659C-CC0B-C6FE85BCA3EC}"/>
              </a:ext>
            </a:extLst>
          </p:cNvPr>
          <p:cNvCxnSpPr>
            <a:cxnSpLocks/>
          </p:cNvCxnSpPr>
          <p:nvPr/>
        </p:nvCxnSpPr>
        <p:spPr>
          <a:xfrm>
            <a:off x="1018332" y="2261854"/>
            <a:ext cx="6368884"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9" name="正方形/長方形 98">
            <a:extLst>
              <a:ext uri="{FF2B5EF4-FFF2-40B4-BE49-F238E27FC236}">
                <a16:creationId xmlns:a16="http://schemas.microsoft.com/office/drawing/2014/main" id="{71342B33-5F5E-5ACC-6866-024BDB2FCF99}"/>
              </a:ext>
            </a:extLst>
          </p:cNvPr>
          <p:cNvSpPr/>
          <p:nvPr/>
        </p:nvSpPr>
        <p:spPr>
          <a:xfrm>
            <a:off x="2618679" y="2095601"/>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1" name="正方形/長方形 100">
            <a:extLst>
              <a:ext uri="{FF2B5EF4-FFF2-40B4-BE49-F238E27FC236}">
                <a16:creationId xmlns:a16="http://schemas.microsoft.com/office/drawing/2014/main" id="{47073071-D09C-A372-757E-07EDFC1B4691}"/>
              </a:ext>
            </a:extLst>
          </p:cNvPr>
          <p:cNvSpPr/>
          <p:nvPr/>
        </p:nvSpPr>
        <p:spPr>
          <a:xfrm>
            <a:off x="7490414" y="2123310"/>
            <a:ext cx="843512" cy="277088"/>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3" name="正方形/長方形 102">
            <a:extLst>
              <a:ext uri="{FF2B5EF4-FFF2-40B4-BE49-F238E27FC236}">
                <a16:creationId xmlns:a16="http://schemas.microsoft.com/office/drawing/2014/main" id="{362FF045-6EC3-A2C7-23A8-F82F6C32CA62}"/>
              </a:ext>
            </a:extLst>
          </p:cNvPr>
          <p:cNvSpPr/>
          <p:nvPr/>
        </p:nvSpPr>
        <p:spPr>
          <a:xfrm>
            <a:off x="5151597" y="2099217"/>
            <a:ext cx="843512" cy="304064"/>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参加</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104" name="直線矢印コネクタ 103">
            <a:extLst>
              <a:ext uri="{FF2B5EF4-FFF2-40B4-BE49-F238E27FC236}">
                <a16:creationId xmlns:a16="http://schemas.microsoft.com/office/drawing/2014/main" id="{B2BEB3B0-AB21-E350-31D0-2459E72A227A}"/>
              </a:ext>
            </a:extLst>
          </p:cNvPr>
          <p:cNvCxnSpPr>
            <a:cxnSpLocks/>
          </p:cNvCxnSpPr>
          <p:nvPr/>
        </p:nvCxnSpPr>
        <p:spPr>
          <a:xfrm rot="16200000">
            <a:off x="4316154" y="3825356"/>
            <a:ext cx="2628196" cy="2483"/>
          </a:xfrm>
          <a:prstGeom prst="straightConnector1">
            <a:avLst/>
          </a:prstGeom>
          <a:ln w="57150">
            <a:solidFill>
              <a:srgbClr val="1F2A5C"/>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6" name="正方形/長方形 105">
            <a:extLst>
              <a:ext uri="{FF2B5EF4-FFF2-40B4-BE49-F238E27FC236}">
                <a16:creationId xmlns:a16="http://schemas.microsoft.com/office/drawing/2014/main" id="{294E5883-9E5C-CC39-B584-0348ED134790}"/>
              </a:ext>
            </a:extLst>
          </p:cNvPr>
          <p:cNvSpPr/>
          <p:nvPr/>
        </p:nvSpPr>
        <p:spPr>
          <a:xfrm>
            <a:off x="425513" y="1810959"/>
            <a:ext cx="697117" cy="464415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AD</a:t>
            </a: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8" name="正方形/長方形 107">
            <a:extLst>
              <a:ext uri="{FF2B5EF4-FFF2-40B4-BE49-F238E27FC236}">
                <a16:creationId xmlns:a16="http://schemas.microsoft.com/office/drawing/2014/main" id="{BF61B903-1FDC-8BAE-D2B9-3470F4804967}"/>
              </a:ext>
            </a:extLst>
          </p:cNvPr>
          <p:cNvSpPr/>
          <p:nvPr/>
        </p:nvSpPr>
        <p:spPr>
          <a:xfrm>
            <a:off x="5088255" y="5754882"/>
            <a:ext cx="1135687"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ctr">
              <a:buFontTx/>
              <a:buChar char="-"/>
            </a:pPr>
            <a:r>
              <a:rPr lang="ja-JP" altLang="en-US" sz="1000" b="1" dirty="0">
                <a:solidFill>
                  <a:schemeClr val="tx1"/>
                </a:solidFill>
                <a:latin typeface="メイリオ" panose="020B0604030504040204" pitchFamily="50" charset="-128"/>
                <a:ea typeface="メイリオ" panose="020B0604030504040204" pitchFamily="50" charset="-128"/>
                <a:cs typeface="メイリオ"/>
              </a:rPr>
              <a:t>開催のない月の配信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2" name="直線矢印コネクタ 1">
            <a:extLst>
              <a:ext uri="{FF2B5EF4-FFF2-40B4-BE49-F238E27FC236}">
                <a16:creationId xmlns:a16="http://schemas.microsoft.com/office/drawing/2014/main" id="{BE373B3A-392A-272B-09F4-3EDF2F42A980}"/>
              </a:ext>
            </a:extLst>
          </p:cNvPr>
          <p:cNvCxnSpPr>
            <a:cxnSpLocks/>
          </p:cNvCxnSpPr>
          <p:nvPr/>
        </p:nvCxnSpPr>
        <p:spPr>
          <a:xfrm flipV="1">
            <a:off x="5137316" y="5576055"/>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B9BD1D1-C76F-12F8-B85E-165B4A6C8BFD}"/>
              </a:ext>
            </a:extLst>
          </p:cNvPr>
          <p:cNvSpPr txBox="1"/>
          <p:nvPr/>
        </p:nvSpPr>
        <p:spPr>
          <a:xfrm>
            <a:off x="4985064" y="5360849"/>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 name="正方形/長方形 9">
            <a:extLst>
              <a:ext uri="{FF2B5EF4-FFF2-40B4-BE49-F238E27FC236}">
                <a16:creationId xmlns:a16="http://schemas.microsoft.com/office/drawing/2014/main" id="{452A1327-261D-FFA5-8AB0-FBC92A2407B8}"/>
              </a:ext>
            </a:extLst>
          </p:cNvPr>
          <p:cNvSpPr/>
          <p:nvPr/>
        </p:nvSpPr>
        <p:spPr>
          <a:xfrm>
            <a:off x="5995109" y="2633366"/>
            <a:ext cx="3273814" cy="14024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●イベント直後に、サロンの</a:t>
            </a: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申込みフォームを案内</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（申込みはいつでも可能）</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en-US" altLang="ja-JP" sz="1000" dirty="0" err="1">
                <a:solidFill>
                  <a:srgbClr val="1F2A5C"/>
                </a:solidFill>
                <a:latin typeface="メイリオ" panose="020B0604030504040204" pitchFamily="50" charset="-128"/>
                <a:ea typeface="メイリオ" panose="020B0604030504040204" pitchFamily="50" charset="-128"/>
                <a:cs typeface="メイリオ"/>
              </a:rPr>
              <a:t>個別チャットは貴社で対応</a:t>
            </a:r>
            <a:endParaRPr lang="en-US" altLang="ja-JP" sz="1000"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（自動応答などの効率化は弊社で設定）</a:t>
            </a:r>
          </a:p>
        </p:txBody>
      </p:sp>
      <p:sp>
        <p:nvSpPr>
          <p:cNvPr id="109" name="予約後の友だち追加の注記"/>
          <p:cNvSpPr/>
          <p:nvPr/>
        </p:nvSpPr>
        <p:spPr>
          <a:xfrm>
            <a:off x="6309360" y="4160520"/>
            <a:ext cx="2962656" cy="548640"/>
          </a:xfrm>
          <a:prstGeom prst="rect">
            <a:avLst/>
          </a:prstGeom>
          <a:noFill/>
          <a:ln>
            <a:noFill/>
          </a:ln>
        </p:spPr>
        <p:txBody>
          <a:bodyPr wrap="square" lIns="4572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※予約完了後の友だち追加は、サンクスLINE誘導（追加オプション）または通常の友だち追加のご案内で実施</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39474872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期待成果・費用</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cs typeface="メイリオ"/>
              </a:rPr>
              <a:t>概算お見積り：推奨構成（ポップアップあり）での6か月の運用</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¥145,000〜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開催月 ¥285,000程度</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開催のない月 ¥135,000〜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cs typeface="メイリオ"/>
              </a:rPr>
              <a:t>6か月後（サンクスLINE誘導あり）</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200" b="0" u="none" strike="noStrike">
                <a:solidFill>
                  <a:schemeClr val="dk1"/>
                </a:solidFill>
                <a:effectLst/>
                <a:uFillTx/>
                <a:latin typeface="メイリオ"/>
                <a:ea typeface="メイリオ"/>
                <a:cs typeface="メイリオ"/>
              </a:rPr>
              <a:t>開催月 4〜5回</a:t>
            </a:r>
            <a:endParaRPr lang="en-US" sz="1300" b="0" u="none" strike="noStrike">
              <a:solidFill>
                <a:srgbClr val="000000"/>
              </a:solidFill>
              <a:effectLst/>
              <a:uFillTx/>
              <a:latin typeface="メイリオ"/>
              <a:ea typeface="メイリオ"/>
              <a:cs typeface="メイリオ"/>
            </a:endParaRPr>
          </a:p>
          <a:p>
            <a:pPr algn="ctr" defTabSz="914400">
              <a:lnSpc>
                <a:spcPct val="100000"/>
              </a:lnSpc>
            </a:pPr>
            <a:r>
              <a:rPr lang="zh-CN" sz="1200" b="0" u="none" strike="noStrike">
                <a:solidFill>
                  <a:schemeClr val="dk1"/>
                </a:solidFill>
                <a:effectLst/>
                <a:uFillTx/>
                <a:latin typeface="メイリオ"/>
                <a:ea typeface="メイリオ"/>
                <a:cs typeface="メイリオ"/>
              </a:rPr>
              <a:t>開催のない月 1〜2回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dirty="0">
                <a:solidFill>
                  <a:schemeClr val="lt1"/>
                </a:solidFill>
                <a:effectLst/>
                <a:uFillTx/>
                <a:latin typeface="メイリオ"/>
                <a:ea typeface="メイリオ"/>
                <a:cs typeface="メイリオ"/>
              </a:rPr>
              <a:t>前日・当日の</a:t>
            </a:r>
            <a:endParaRPr lang="en-US" sz="1200" b="0" u="none" strike="noStrike" dirty="0">
              <a:solidFill>
                <a:srgbClr val="FFFFFF"/>
              </a:solidFill>
              <a:effectLst/>
              <a:uFillTx/>
              <a:latin typeface="メイリオ"/>
              <a:ea typeface="メイリオ"/>
              <a:cs typeface="メイリオ"/>
            </a:endParaRPr>
          </a:p>
          <a:p>
            <a:pPr algn="ctr" defTabSz="914400">
              <a:lnSpc>
                <a:spcPct val="90000"/>
              </a:lnSpc>
            </a:pPr>
            <a:r>
              <a:rPr lang="ja-JP" sz="1200" b="0" u="none" strike="noStrike" dirty="0">
                <a:solidFill>
                  <a:schemeClr val="lt1"/>
                </a:solidFill>
                <a:effectLst/>
                <a:uFillTx/>
                <a:latin typeface="メイリオ"/>
                <a:ea typeface="メイリオ"/>
                <a:cs typeface="メイリオ"/>
              </a:rPr>
              <a:t>リマインド</a:t>
            </a:r>
            <a:endParaRPr lang="en-US" sz="1200" b="0" u="none" strike="noStrike" dirty="0">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予約ごとに配信</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ステップ配信</a:t>
            </a:r>
            <a:endParaRPr lang="en-US" sz="1300" b="0" u="none" strike="noStrike" dirty="0">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8通の改善</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個別チャット</a:t>
            </a:r>
            <a:endParaRPr lang="en-US" sz="1300" b="0" u="none" strike="noStrike" dirty="0">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貴社で対応</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友だち数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配信可能な人数</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導入（推奨）</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追加オプション</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アカウント開設</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対応</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8通を構築</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8フェーズで設計</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cs typeface="メイリオ"/>
              </a:rPr>
              <a:t>131人</a:t>
            </a:r>
            <a:endParaRPr lang="en-US" sz="1400" b="0" u="none" strike="noStrike">
              <a:solidFill>
                <a:srgbClr val="00000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90人</a:t>
            </a:r>
            <a:endParaRPr lang="en-US" sz="1400" b="0" u="none" strike="noStrike">
              <a:solidFill>
                <a:srgbClr val="00000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11件/6か月</a:t>
            </a:r>
            <a:endParaRPr lang="en-US" sz="1400" b="0" u="none" strike="noStrike">
              <a:solidFill>
                <a:srgbClr val="000000"/>
              </a:solidFill>
              <a:effectLst/>
              <a:uFillTx/>
              <a:latin typeface="メイリオ"/>
              <a:ea typeface="メイリオ"/>
              <a:cs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cs typeface="メイリオ"/>
              </a:rPr>
              <a:t>プラン②｜イベントに合わせた運用で、集めた方を友だちにし、次のセミナー予約・入会へつなげる</a:t>
            </a:r>
            <a:endParaRPr lang="en-US" sz="1400" b="0" u="none" strike="noStrike">
              <a:solidFill>
                <a:srgbClr val="000000"/>
              </a:solidFill>
              <a:effectLst/>
              <a:uFillTx/>
              <a:latin typeface="メイリオ"/>
              <a:ea typeface="メイリオ"/>
              <a:cs typeface="メイリオ"/>
            </a:endParaRPr>
          </a:p>
        </p:txBody>
      </p:sp>
      <p:sp>
        <p:nvSpPr>
          <p:cNvPr id="382" name="正方形/長方形 85"/>
          <p:cNvSpPr/>
          <p:nvPr/>
        </p:nvSpPr>
        <p:spPr>
          <a:xfrm>
            <a:off x="6812280" y="3383424"/>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83" name="テキスト ボックス 26"/>
          <p:cNvSpPr/>
          <p:nvPr/>
        </p:nvSpPr>
        <p:spPr>
          <a:xfrm>
            <a:off x="8256960" y="3383424"/>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4件/6か月</a:t>
            </a:r>
            <a:endParaRPr lang="en-US" sz="1400" b="0" u="none" strike="noStrike">
              <a:solidFill>
                <a:srgbClr val="000000"/>
              </a:solidFill>
              <a:effectLst/>
              <a:uFillTx/>
              <a:latin typeface="メイリオ"/>
              <a:ea typeface="メイリオ"/>
              <a:cs typeface="メイリオ"/>
            </a:endParaRPr>
          </a:p>
        </p:txBody>
      </p:sp>
      <p:sp>
        <p:nvSpPr>
          <p:cNvPr id="3" name="正方形/長方形 57">
            <a:extLst>
              <a:ext uri="{FF2B5EF4-FFF2-40B4-BE49-F238E27FC236}">
                <a16:creationId xmlns:a16="http://schemas.microsoft.com/office/drawing/2014/main" id="{F866D691-36CB-2858-C7C4-274E9BD31295}"/>
              </a:ext>
            </a:extLst>
          </p:cNvPr>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b="0" u="none" strike="noStrike" dirty="0">
                <a:solidFill>
                  <a:schemeClr val="lt1"/>
                </a:solidFill>
                <a:effectLst/>
                <a:uFillTx/>
                <a:latin typeface="メイリオ"/>
                <a:ea typeface="メイリオ"/>
                <a:cs typeface="メイリオ"/>
              </a:rPr>
              <a:t>月次レポート</a:t>
            </a:r>
            <a:r>
              <a:rPr lang="ja-JP" altLang="en-US" sz="1300" dirty="0">
                <a:solidFill>
                  <a:srgbClr val="FFFFFF"/>
                </a:solidFill>
                <a:latin typeface="メイリオ"/>
                <a:ea typeface="メイリオ"/>
                <a:cs typeface="メイリオ"/>
              </a:rPr>
              <a:t>・</a:t>
            </a:r>
            <a:endParaRPr lang="en-US" altLang="ja-JP" sz="1300" dirty="0">
              <a:solidFill>
                <a:srgbClr val="FFFFFF"/>
              </a:solidFill>
              <a:latin typeface="メイリオ"/>
              <a:ea typeface="メイリオ"/>
              <a:cs typeface="メイリオ"/>
            </a:endParaRPr>
          </a:p>
          <a:p>
            <a:pPr algn="ctr" defTabSz="914400">
              <a:lnSpc>
                <a:spcPct val="100000"/>
              </a:lnSpc>
            </a:pPr>
            <a:r>
              <a:rPr lang="ja-JP" altLang="en-US" sz="1300" b="0" u="none" strike="noStrike" dirty="0">
                <a:solidFill>
                  <a:srgbClr val="FFFFFF"/>
                </a:solidFill>
                <a:effectLst/>
                <a:uFillTx/>
                <a:latin typeface="メイリオ"/>
                <a:ea typeface="メイリオ"/>
                <a:cs typeface="メイリオ"/>
              </a:rPr>
              <a:t>定例会</a:t>
            </a:r>
            <a:endParaRPr lang="en-US" altLang="ja-JP" sz="1300" b="0" u="none" strike="noStrike" dirty="0">
              <a:solidFill>
                <a:schemeClr val="lt1"/>
              </a:solidFill>
              <a:effectLst/>
              <a:uFillTx/>
              <a:latin typeface="メイリオ"/>
              <a:ea typeface="メイリオ"/>
              <a:cs typeface="メイリオ"/>
            </a:endParaRPr>
          </a:p>
        </p:txBody>
      </p:sp>
      <p:sp>
        <p:nvSpPr>
          <p:cNvPr id="5" name="正方形/長方形 61">
            <a:extLst>
              <a:ext uri="{FF2B5EF4-FFF2-40B4-BE49-F238E27FC236}">
                <a16:creationId xmlns:a16="http://schemas.microsoft.com/office/drawing/2014/main" id="{916B9146-7BB6-4276-D5B6-30DF19D48AA1}"/>
              </a:ext>
            </a:extLst>
          </p:cNvPr>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dirty="0">
                <a:solidFill>
                  <a:schemeClr val="dk1"/>
                </a:solidFill>
                <a:latin typeface="メイリオ"/>
                <a:ea typeface="メイリオ"/>
                <a:cs typeface="メイリオ"/>
              </a:rPr>
              <a:t>月１回</a:t>
            </a:r>
            <a:endParaRPr lang="en-US" sz="1300" b="0" u="none" strike="noStrike" dirty="0">
              <a:solidFill>
                <a:srgbClr val="000000"/>
              </a:solidFill>
              <a:effectLst/>
              <a:uFillTx/>
              <a:latin typeface="メイリオ"/>
              <a:ea typeface="メイリオ"/>
              <a:cs typeface="メイリオ"/>
            </a:endParaRPr>
          </a:p>
        </p:txBody>
      </p:sp>
      <p:sp>
        <p:nvSpPr>
          <p:cNvPr id="384" name="想定の注記"/>
          <p:cNvSpPr/>
          <p:nvPr/>
        </p:nvSpPr>
        <p:spPr>
          <a:xfrm>
            <a:off x="6748272" y="3931920"/>
            <a:ext cx="2898648" cy="2286000"/>
          </a:xfrm>
          <a:prstGeom prst="rect">
            <a:avLst/>
          </a:prstGeom>
          <a:noFill/>
          <a:ln>
            <a:noFill/>
          </a:ln>
        </p:spPr>
        <p:txBody>
          <a:bodyPr wrap="square" lIns="45720" tIns="0" rIns="0" bIns="0" rtlCol="0" anchor="t">
            <a:noAutofit/>
          </a:bodyPr>
          <a:lstStyle/>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※SIMによる想定値（実績ではない）。ポップアップ＋サンクスLINE誘導の場合</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※推奨構成（ポップアップのみ）では、予約完了後の友だち追加が減るため、友だち数・配信可能な人数は少なくなる想定</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※セミナー予約・サロン入会は、LINEの配信・リンクからの件数。友だち数ほどの差は見込まないが、同数とは限らない</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※配信可能な人数＝ブロックされずに届く友だちの数</a:t>
            </a:r>
            <a:endParaRPr lang="ja-JP" altLang="en-US" sz="1200" dirty="0">
              <a:latin typeface="メイリオ"/>
              <a:ea typeface="メイリオ"/>
              <a:cs typeface="メイリオ"/>
            </a:endParaRPr>
          </a:p>
        </p:txBody>
      </p:sp>
      <p:sp>
        <p:nvSpPr>
          <p:cNvPr id="385" name="追加オプション"/>
          <p:cNvSpPr/>
          <p:nvPr/>
        </p:nvSpPr>
        <p:spPr>
          <a:xfrm>
            <a:off x="265176" y="6053328"/>
            <a:ext cx="5971032" cy="411480"/>
          </a:xfrm>
          <a:prstGeom prst="rect">
            <a:avLst/>
          </a:prstGeom>
          <a:solidFill>
            <a:srgbClr val="F5F7FA"/>
          </a:solidFill>
          <a:ln w="9525">
            <a:solidFill>
              <a:srgbClr val="1F2A5C"/>
            </a:solidFill>
          </a:ln>
        </p:spPr>
        <p:txBody>
          <a:bodyPr wrap="square" lIns="91440" tIns="18288" rIns="91440" bIns="18288" rtlCol="0" anchor="ctr">
            <a:noAutofit/>
          </a:bodyPr>
          <a:lstStyle/>
          <a:p>
            <a:pPr algn="l">
              <a:buNone/>
            </a:pPr>
            <a:r>
              <a:rPr lang="ja-JP" altLang="en-US" sz="1100" b="1" dirty="0">
                <a:solidFill>
                  <a:srgbClr val="1F2A5C"/>
                </a:solidFill>
                <a:latin typeface="メイリオ" panose="020B0604030504040204" pitchFamily="50" charset="-128"/>
                <a:ea typeface="メイリオ" panose="020B0604030504040204" pitchFamily="50" charset="-128"/>
                <a:cs typeface="メイリオ"/>
              </a:rPr>
              <a:t>追加オプション｜サンクスLINE誘導：初期＋¥150,000・月額＋¥30,000〜</a:t>
            </a:r>
            <a:endParaRPr lang="ja-JP" altLang="en-US" sz="1200" dirty="0">
              <a:latin typeface="メイリオ"/>
              <a:ea typeface="メイリオ"/>
              <a:cs typeface="メイリオ"/>
            </a:endParaRPr>
          </a:p>
          <a:p>
            <a:pPr algn="l">
              <a:buNone/>
            </a:pPr>
            <a:r>
              <a:rPr lang="ja-JP" altLang="en-US" sz="1000" b="0" dirty="0">
                <a:solidFill>
                  <a:srgbClr val="333333"/>
                </a:solidFill>
                <a:latin typeface="メイリオ" panose="020B0604030504040204" pitchFamily="50" charset="-128"/>
                <a:ea typeface="メイリオ" panose="020B0604030504040204" pitchFamily="50" charset="-128"/>
                <a:cs typeface="メイリオ"/>
              </a:rPr>
              <a:t>（追加した場合の合計：初期 ¥295,000〜／開催月 ¥315,000程度／開催のない月 ¥165,000〜）</a:t>
            </a:r>
            <a:endParaRPr lang="ja-JP" altLang="en-US" sz="1200" dirty="0">
              <a:latin typeface="メイリオ"/>
              <a:ea typeface="メイリオ"/>
              <a:cs typeface="メイリオ"/>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費用の比較：推奨構成と、サンクスLINE誘導を追加する場合</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費用の比較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ポップアップの導入を推奨。サンクスLINE誘導は追加の選択肢</a:t>
            </a:r>
            <a:endParaRPr lang="en-US" sz="1600" b="0" u="none" strike="noStrike" dirty="0">
              <a:solidFill>
                <a:srgbClr val="000000"/>
              </a:solidFill>
              <a:effectLst/>
              <a:uFillTx/>
              <a:latin typeface="メイリオ"/>
              <a:ea typeface="メイリオ"/>
              <a:cs typeface="メイリオ"/>
            </a:endParaRPr>
          </a:p>
        </p:txBody>
      </p:sp>
      <p:graphicFrame>
        <p:nvGraphicFramePr>
          <p:cNvPr id="638" name="費用の比較 637"/>
          <p:cNvGraphicFramePr>
            <a:graphicFrameLocks noGrp="1"/>
          </p:cNvGraphicFramePr>
          <p:nvPr>
            <p:extLst>
              <p:ext uri="{D42A27DB-BD31-4B8C-83A1-F6EECF244321}">
                <p14:modId xmlns:p14="http://schemas.microsoft.com/office/powerpoint/2010/main" val="1493693055"/>
              </p:ext>
            </p:extLst>
          </p:nvPr>
        </p:nvGraphicFramePr>
        <p:xfrm>
          <a:off x="381000" y="1490760"/>
          <a:ext cx="9144000" cy="3264408"/>
        </p:xfrm>
        <a:graphic>
          <a:graphicData uri="http://schemas.openxmlformats.org/drawingml/2006/table">
            <a:tbl>
              <a:tblPr/>
              <a:tblGrid>
                <a:gridCol w="25146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推奨構成：ポップアップあり</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追加構成：＋サンクスLINE誘導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295,000円〜（＋150,000円）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月額費用（開催のない月）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135,000円〜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165,000円〜（＋30,000円〜）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285,000円程度</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315,000円程度（＋30,000円〜）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友だちの入口</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離脱防止ポップアップで、LPを離れる方を友だちに。予約完了ページには通常の友だち追加ボタン等を設置（費用・実装条件は仕様確認のうえ）</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上記に加え、予約完了後にLINEへ自動遷移（フォームの入力内容の引き継ぎも可能）</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6400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追加するメリット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予約した方を友だちにしやすくなり、特にセミナー開催時期の友だち追加数の上積みが期待できる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料金プラン：3つのプランの費用</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料金プランの比較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ご予算と運用の体制に合わせて、3つのプランをご用意</a:t>
            </a:r>
            <a:endParaRPr lang="en-US" sz="1600" b="0" u="none" strike="noStrike" dirty="0">
              <a:solidFill>
                <a:srgbClr val="000000"/>
              </a:solidFill>
              <a:effectLst/>
              <a:uFillTx/>
              <a:latin typeface="メイリオ"/>
              <a:ea typeface="メイリオ"/>
              <a:cs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4214720398"/>
              </p:ext>
            </p:extLst>
          </p:nvPr>
        </p:nvGraphicFramePr>
        <p:xfrm>
          <a:off x="381000" y="1484376"/>
          <a:ext cx="9144000" cy="3889248"/>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400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初期費用</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（開催のない月）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200,000円〜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en-US" altLang="ja-JP" sz="1500" b="0" dirty="0">
                          <a:solidFill>
                            <a:srgbClr val="333333"/>
                          </a:solidFill>
                          <a:latin typeface="メイリオ" panose="020B0604030504040204" pitchFamily="50" charset="-128"/>
                          <a:ea typeface="メイリオ" panose="020B0604030504040204" pitchFamily="50" charset="-128"/>
                          <a:cs typeface="メイリオ"/>
                        </a:rPr>
                        <a:t>25</a:t>
                      </a:r>
                      <a:r>
                        <a:rPr lang="ja-JP" altLang="en-US" sz="1500" b="0" dirty="0">
                          <a:solidFill>
                            <a:srgbClr val="333333"/>
                          </a:solidFill>
                          <a:latin typeface="メイリオ" panose="020B0604030504040204" pitchFamily="50" charset="-128"/>
                          <a:ea typeface="メイリオ" panose="020B0604030504040204" pitchFamily="50" charset="-128"/>
                          <a:cs typeface="メイリオ"/>
                        </a:rPr>
                        <a:t>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月額ツール・LINE関連費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（開催のない月）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135,000円〜</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235,000円〜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5"/>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en-US" altLang="ja-JP" sz="1600" b="1" dirty="0">
                          <a:solidFill>
                            <a:srgbClr val="1F285A"/>
                          </a:solidFill>
                          <a:latin typeface="メイリオ" panose="020B0604030504040204" pitchFamily="50" charset="-128"/>
                          <a:ea typeface="メイリオ" panose="020B0604030504040204" pitchFamily="50" charset="-128"/>
                          <a:cs typeface="メイリオ"/>
                        </a:rPr>
                        <a:t>28</a:t>
                      </a:r>
                      <a:r>
                        <a:rPr lang="ja-JP" altLang="en-US" sz="1600" b="1" dirty="0">
                          <a:solidFill>
                            <a:srgbClr val="1F285A"/>
                          </a:solidFill>
                          <a:latin typeface="メイリオ" panose="020B0604030504040204" pitchFamily="50" charset="-128"/>
                          <a:ea typeface="メイリオ" panose="020B0604030504040204" pitchFamily="50" charset="-128"/>
                          <a:cs typeface="メイリオ"/>
                        </a:rPr>
                        <a:t>5,000円程度</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運用内容：プランごとの対応範囲</a:t>
            </a:r>
            <a:endParaRPr lang="en-US" sz="1600" b="0" u="none" strike="noStrike">
              <a:solidFill>
                <a:srgbClr val="000000"/>
              </a:solidFill>
              <a:effectLst/>
              <a:uFillTx/>
              <a:latin typeface="メイリオ"/>
              <a:ea typeface="メイリオ"/>
              <a:cs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運用内容の比較</a:t>
            </a:r>
            <a:endParaRPr lang="en-US" sz="1400" b="0" u="none" strike="noStrike">
              <a:solidFill>
                <a:srgbClr val="FFFFFF"/>
              </a:solidFill>
              <a:effectLst/>
              <a:uFillTx/>
              <a:latin typeface="メイリオ"/>
              <a:ea typeface="メイリオ"/>
              <a:cs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3つのプランの運用内容の比較</a:t>
            </a:r>
            <a:endParaRPr lang="en-US" sz="1600" b="0" u="none" strike="noStrike" dirty="0">
              <a:solidFill>
                <a:srgbClr val="000000"/>
              </a:solidFill>
              <a:effectLst/>
              <a:uFillTx/>
              <a:latin typeface="メイリオ"/>
              <a:ea typeface="メイリオ"/>
              <a:cs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1470470243"/>
              </p:ext>
            </p:extLst>
          </p:nvPr>
        </p:nvGraphicFramePr>
        <p:xfrm>
          <a:off x="381000" y="1490760"/>
          <a:ext cx="9144000" cy="3642969"/>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ポップアップ（推奨）・</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サンクスLINE誘導（追加）</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ステップ配信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企画配信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なし（貴社で運用）</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月4〜5回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開催のない月は月1〜2回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開催のない月は月2回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セミナー前日・</a:t>
                      </a:r>
                      <a:endParaRPr lang="en-US" altLang="ja-JP" sz="1300" b="1" dirty="0">
                        <a:solidFill>
                          <a:srgbClr val="1F285A"/>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当日のリマインド</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結果の分析・改善</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（月次レポート・定例会）</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dirty="0">
                          <a:latin typeface="メイリオ"/>
                          <a:ea typeface="メイリオ"/>
                          <a:cs typeface="メイリオ"/>
                        </a:rPr>
                        <a:t>対応</a:t>
                      </a:r>
                      <a:endParaRPr lang="en-US" altLang="ja-JP"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個別チャット</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286000" y="859443"/>
            <a:ext cx="7406640"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別案：成果件数に応じた費用で、リスクを抑えて運用を始められる</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流入経路ごとにステップ配信を構築し、CV数の増加を図る。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1F2A5C"/>
                </a:solidFill>
                <a:latin typeface="メイリオ" panose="020B0604030504040204" pitchFamily="50" charset="-128"/>
                <a:ea typeface="メイリオ" panose="020B0604030504040204" pitchFamily="50" charset="-128"/>
                <a:cs typeface="メイリオ"/>
              </a:rPr>
              <a:t>GA</a:t>
            </a:r>
            <a:r>
              <a:rPr lang="ja-JP" altLang="en-US" sz="800" dirty="0">
                <a:solidFill>
                  <a:srgbClr val="1F2A5C"/>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1F2A5C"/>
                </a:solidFill>
                <a:latin typeface="メイリオ" panose="020B0604030504040204" pitchFamily="50" charset="-128"/>
                <a:ea typeface="メイリオ" panose="020B0604030504040204" pitchFamily="50" charset="-128"/>
                <a:cs typeface="メイリオ"/>
              </a:rPr>
              <a:t>CPA</a:t>
            </a:r>
            <a:r>
              <a:rPr lang="ja-JP" altLang="en-US" sz="800" dirty="0">
                <a:solidFill>
                  <a:srgbClr val="1F2A5C"/>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749039"/>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今回の成果単価の費用感</a:t>
            </a:r>
            <a:endParaRPr lang="ja-JP" altLang="en-US" sz="1200" dirty="0">
              <a:latin typeface="メイリオ"/>
              <a:ea typeface="メイリオ"/>
              <a:cs typeface="メイリオ"/>
            </a:endParaRPr>
          </a:p>
        </p:txBody>
      </p:sp>
      <p:graphicFrame>
        <p:nvGraphicFramePr>
          <p:cNvPr id="31" name="成果報酬単価 30"/>
          <p:cNvGraphicFramePr>
            <a:graphicFrameLocks noGrp="1"/>
          </p:cNvGraphicFramePr>
          <p:nvPr/>
        </p:nvGraphicFramePr>
        <p:xfrm>
          <a:off x="548640" y="4114800"/>
          <a:ext cx="8860536" cy="132588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4105656">
                  <a:extLst>
                    <a:ext uri="{9D8B030D-6E8A-4147-A177-3AD203B41FA5}">
                      <a16:colId xmlns:a16="http://schemas.microsoft.com/office/drawing/2014/main" val="20002"/>
                    </a:ext>
                  </a:extLst>
                </a:gridCol>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成果の地点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成果報酬単価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成果件数の数え方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リピート予約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LINEのリンクからの2回目以降の予約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32" name="注記"/>
          <p:cNvSpPr/>
          <p:nvPr/>
        </p:nvSpPr>
        <p:spPr>
          <a:xfrm>
            <a:off x="420624" y="553212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※成果地点の定義・重複計上の有無・計測方法は、ご契約前に確認のうえ決定</a:t>
            </a:r>
            <a:endParaRPr lang="ja-JP" altLang="en-US" sz="1200" dirty="0">
              <a:latin typeface="メイリオ"/>
              <a:ea typeface="メイリオ"/>
              <a:cs typeface="メイリオ"/>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LINE施策の全体像：6つの段階で、友だち獲得から入会まで案内</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友だち追加の時期と状況に合わせて、届ける内容を変える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LINE施策の全体像 49"/>
          <p:cNvGraphicFramePr>
            <a:graphicFrameLocks noGrp="1"/>
          </p:cNvGraphicFramePr>
          <p:nvPr>
            <p:extLst>
              <p:ext uri="{D42A27DB-BD31-4B8C-83A1-F6EECF244321}">
                <p14:modId xmlns:p14="http://schemas.microsoft.com/office/powerpoint/2010/main" val="101222327"/>
              </p:ext>
            </p:extLst>
          </p:nvPr>
        </p:nvGraphicFramePr>
        <p:xfrm>
          <a:off x="420624" y="1600200"/>
          <a:ext cx="9052560" cy="3931920"/>
        </p:xfrm>
        <a:graphic>
          <a:graphicData uri="http://schemas.openxmlformats.org/drawingml/2006/table">
            <a:tbl>
              <a:tblPr/>
              <a:tblGrid>
                <a:gridCol w="1700276">
                  <a:extLst>
                    <a:ext uri="{9D8B030D-6E8A-4147-A177-3AD203B41FA5}">
                      <a16:colId xmlns:a16="http://schemas.microsoft.com/office/drawing/2014/main" val="20000"/>
                    </a:ext>
                  </a:extLst>
                </a:gridCol>
                <a:gridCol w="4229100">
                  <a:extLst>
                    <a:ext uri="{9D8B030D-6E8A-4147-A177-3AD203B41FA5}">
                      <a16:colId xmlns:a16="http://schemas.microsoft.com/office/drawing/2014/main" val="20001"/>
                    </a:ext>
                  </a:extLst>
                </a:gridCol>
                <a:gridCol w="3123184">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主な施策</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315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① 友だち獲得</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離脱防止ポップアップ（推奨）／予約完了後の友だち追加：サンクスLINE誘導（追加オプション）または通常の</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LPを離れる方・予約した方とつながる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② 友だち追加直後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あいさつメッセージ・見どころ動画・参加特典</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（診断で、関心に合わせて出し分け）</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セミナーの中身を伝え、予約につなげる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③ 予約した方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当日の参加を後押しする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④ 参加後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セミナー内容の振り返り／</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サロンの内容紹介・入会のご案内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関心が高いうちに、入会を案内する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⑤ 開催のない月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月1〜2回の企画配信／次回イベントのご案内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イベントのない期間もつながりを保つ</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⑥ 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月4〜5回の企画配信</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開催に合わせて、予約・参加を後押しする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6"/>
                  </a:ext>
                </a:extLst>
              </a:tr>
            </a:tbl>
          </a:graphicData>
        </a:graphic>
      </p:graphicFrame>
      <p:sp>
        <p:nvSpPr>
          <p:cNvPr id="51" name="注記"/>
          <p:cNvSpPr/>
          <p:nvPr/>
        </p:nvSpPr>
        <p:spPr>
          <a:xfrm>
            <a:off x="420624" y="562356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※③のリマインドは、企画配信の回数とは別に、予約ごとに配信</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※③④は、予約・参加した方を特定できる範囲で実施（予約完了後の友だち追加など）。予約システム等との連携は、可否を確認のうえ設計</a:t>
            </a:r>
            <a:endParaRPr lang="ja-JP" altLang="en-US" sz="1200" dirty="0">
              <a:latin typeface="メイリオ"/>
              <a:ea typeface="メイリオ"/>
              <a:cs typeface="メイリオ"/>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a:solidFill>
            <a:schemeClr val="tx2"/>
          </a:solidFill>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2"/>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3"/>
          <a:stretch>
            <a:fillRect/>
          </a:stretch>
        </p:blipFill>
        <p:spPr>
          <a:xfrm>
            <a:off x="579513" y="1977951"/>
            <a:ext cx="5023065" cy="2231287"/>
          </a:xfrm>
          <a:prstGeom prst="rect">
            <a:avLst/>
          </a:prstGeom>
        </p:spPr>
      </p:pic>
      <p:grpSp>
        <p:nvGrpSpPr>
          <p:cNvPr id="2" name="グループ化 1">
            <a:extLst>
              <a:ext uri="{FF2B5EF4-FFF2-40B4-BE49-F238E27FC236}">
                <a16:creationId xmlns:a16="http://schemas.microsoft.com/office/drawing/2014/main" id="{B58110A5-3249-591F-F0D8-9733B5C19419}"/>
              </a:ext>
            </a:extLst>
          </p:cNvPr>
          <p:cNvGrpSpPr/>
          <p:nvPr/>
        </p:nvGrpSpPr>
        <p:grpSpPr>
          <a:xfrm>
            <a:off x="543398" y="777681"/>
            <a:ext cx="3105325" cy="485102"/>
            <a:chOff x="507969" y="928495"/>
            <a:chExt cx="3105325" cy="485102"/>
          </a:xfrm>
          <a:solidFill>
            <a:schemeClr val="tx2"/>
          </a:solidFill>
        </p:grpSpPr>
        <p:sp>
          <p:nvSpPr>
            <p:cNvPr id="10" name="Google Shape;51;p19">
              <a:extLst>
                <a:ext uri="{FF2B5EF4-FFF2-40B4-BE49-F238E27FC236}">
                  <a16:creationId xmlns:a16="http://schemas.microsoft.com/office/drawing/2014/main" id="{2624D4C3-8EE7-C79A-AD39-F7C125FED5C3}"/>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8134CCE0-9B09-BEAB-56F6-583858DE4FFA}"/>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18" name="Google Shape;51;p19">
            <a:extLst>
              <a:ext uri="{FF2B5EF4-FFF2-40B4-BE49-F238E27FC236}">
                <a16:creationId xmlns:a16="http://schemas.microsoft.com/office/drawing/2014/main" id="{ABAC4CA8-0C86-B839-6335-8FB2EF8DA230}"/>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20" name="Google Shape;51;p19">
            <a:extLst>
              <a:ext uri="{FF2B5EF4-FFF2-40B4-BE49-F238E27FC236}">
                <a16:creationId xmlns:a16="http://schemas.microsoft.com/office/drawing/2014/main" id="{54BADA25-EAD6-B857-B5DA-8E7366A2D4D6}"/>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26" name="図 25">
            <a:extLst>
              <a:ext uri="{FF2B5EF4-FFF2-40B4-BE49-F238E27FC236}">
                <a16:creationId xmlns:a16="http://schemas.microsoft.com/office/drawing/2014/main" id="{EDC5B771-42F2-76B0-A6E7-50BC96175819}"/>
              </a:ext>
            </a:extLst>
          </p:cNvPr>
          <p:cNvPicPr>
            <a:picLocks noChangeAspect="1"/>
          </p:cNvPicPr>
          <p:nvPr/>
        </p:nvPicPr>
        <p:blipFill>
          <a:blip r:embed="rId4"/>
          <a:stretch>
            <a:fillRect/>
          </a:stretch>
        </p:blipFill>
        <p:spPr>
          <a:xfrm>
            <a:off x="5743237" y="2258734"/>
            <a:ext cx="1190032" cy="2417060"/>
          </a:xfrm>
          <a:prstGeom prst="rect">
            <a:avLst/>
          </a:prstGeom>
        </p:spPr>
      </p:pic>
      <p:pic>
        <p:nvPicPr>
          <p:cNvPr id="46" name="図 45">
            <a:extLst>
              <a:ext uri="{FF2B5EF4-FFF2-40B4-BE49-F238E27FC236}">
                <a16:creationId xmlns:a16="http://schemas.microsoft.com/office/drawing/2014/main" id="{CDFFD994-B78C-9580-A303-CCE3C06EF4D0}"/>
              </a:ext>
            </a:extLst>
          </p:cNvPr>
          <p:cNvPicPr>
            <a:picLocks noChangeAspect="1"/>
          </p:cNvPicPr>
          <p:nvPr/>
        </p:nvPicPr>
        <p:blipFill>
          <a:blip r:embed="rId4"/>
          <a:stretch>
            <a:fillRect/>
          </a:stretch>
        </p:blipFill>
        <p:spPr>
          <a:xfrm>
            <a:off x="7682503" y="2258734"/>
            <a:ext cx="1190032" cy="2417060"/>
          </a:xfrm>
          <a:prstGeom prst="rect">
            <a:avLst/>
          </a:prstGeom>
        </p:spPr>
      </p:pic>
      <p:pic>
        <p:nvPicPr>
          <p:cNvPr id="48" name="図 47">
            <a:extLst>
              <a:ext uri="{FF2B5EF4-FFF2-40B4-BE49-F238E27FC236}">
                <a16:creationId xmlns:a16="http://schemas.microsoft.com/office/drawing/2014/main" id="{2F2D6E3E-D262-6FC3-26DE-F7F8A36D53EB}"/>
              </a:ext>
            </a:extLst>
          </p:cNvPr>
          <p:cNvPicPr>
            <a:picLocks noChangeAspect="1"/>
          </p:cNvPicPr>
          <p:nvPr/>
        </p:nvPicPr>
        <p:blipFill>
          <a:blip r:embed="rId4"/>
          <a:stretch>
            <a:fillRect/>
          </a:stretch>
        </p:blipFill>
        <p:spPr>
          <a:xfrm>
            <a:off x="8367522" y="4081984"/>
            <a:ext cx="1190032" cy="2417060"/>
          </a:xfrm>
          <a:prstGeom prst="rect">
            <a:avLst/>
          </a:prstGeom>
        </p:spPr>
      </p:pic>
      <p:sp>
        <p:nvSpPr>
          <p:cNvPr id="50" name="正方形/長方形 49">
            <a:extLst>
              <a:ext uri="{FF2B5EF4-FFF2-40B4-BE49-F238E27FC236}">
                <a16:creationId xmlns:a16="http://schemas.microsoft.com/office/drawing/2014/main" id="{C15238B5-4395-F723-0A79-2790FCF7C350}"/>
              </a:ext>
            </a:extLst>
          </p:cNvPr>
          <p:cNvSpPr/>
          <p:nvPr/>
        </p:nvSpPr>
        <p:spPr>
          <a:xfrm>
            <a:off x="8404597"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56" name="図 55">
            <a:extLst>
              <a:ext uri="{FF2B5EF4-FFF2-40B4-BE49-F238E27FC236}">
                <a16:creationId xmlns:a16="http://schemas.microsoft.com/office/drawing/2014/main" id="{EF814CDE-D628-AA7F-3C9D-D1DAF2358FE4}"/>
              </a:ext>
            </a:extLst>
          </p:cNvPr>
          <p:cNvPicPr>
            <a:picLocks noChangeAspect="1"/>
          </p:cNvPicPr>
          <p:nvPr/>
        </p:nvPicPr>
        <p:blipFill>
          <a:blip r:embed="rId4"/>
          <a:stretch>
            <a:fillRect/>
          </a:stretch>
        </p:blipFill>
        <p:spPr>
          <a:xfrm>
            <a:off x="6278620" y="4081984"/>
            <a:ext cx="1190032" cy="2417060"/>
          </a:xfrm>
          <a:prstGeom prst="rect">
            <a:avLst/>
          </a:prstGeom>
        </p:spPr>
      </p:pic>
      <p:sp>
        <p:nvSpPr>
          <p:cNvPr id="58" name="正方形/長方形 57">
            <a:extLst>
              <a:ext uri="{FF2B5EF4-FFF2-40B4-BE49-F238E27FC236}">
                <a16:creationId xmlns:a16="http://schemas.microsoft.com/office/drawing/2014/main" id="{8EAB183B-DD91-4D27-96EA-958B1E359EDF}"/>
              </a:ext>
            </a:extLst>
          </p:cNvPr>
          <p:cNvSpPr/>
          <p:nvPr/>
        </p:nvSpPr>
        <p:spPr>
          <a:xfrm>
            <a:off x="6315695"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66" name="図 65">
            <a:extLst>
              <a:ext uri="{FF2B5EF4-FFF2-40B4-BE49-F238E27FC236}">
                <a16:creationId xmlns:a16="http://schemas.microsoft.com/office/drawing/2014/main" id="{C2855CFF-6E8D-0B73-876F-08A7CAF411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364783" y="4682317"/>
            <a:ext cx="999311" cy="999311"/>
          </a:xfrm>
          <a:prstGeom prst="rect">
            <a:avLst/>
          </a:prstGeom>
        </p:spPr>
      </p:pic>
      <p:sp>
        <p:nvSpPr>
          <p:cNvPr id="68" name="テキスト ボックス 67">
            <a:extLst>
              <a:ext uri="{FF2B5EF4-FFF2-40B4-BE49-F238E27FC236}">
                <a16:creationId xmlns:a16="http://schemas.microsoft.com/office/drawing/2014/main" id="{A25E8A43-2530-9596-D092-B486168F2683}"/>
              </a:ext>
            </a:extLst>
          </p:cNvPr>
          <p:cNvSpPr txBox="1"/>
          <p:nvPr/>
        </p:nvSpPr>
        <p:spPr>
          <a:xfrm>
            <a:off x="6161730"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ja-JP" altLang="en-US" sz="1000" b="1" dirty="0">
                <a:solidFill>
                  <a:schemeClr val="bg1"/>
                </a:solidFill>
                <a:latin typeface="メイリオ"/>
                <a:ea typeface="メイリオ"/>
                <a:cs typeface="メイリオ"/>
                <a:sym typeface="Meiryo"/>
              </a:rPr>
              <a:t>セミナーLPへ</a:t>
            </a:r>
            <a:endParaRPr lang="ja-JP" altLang="en-US" sz="1050" b="1" dirty="0">
              <a:solidFill>
                <a:schemeClr val="bg1"/>
              </a:solidFill>
              <a:latin typeface="メイリオ"/>
              <a:ea typeface="メイリオ"/>
              <a:cs typeface="メイリオ"/>
            </a:endParaRPr>
          </a:p>
        </p:txBody>
      </p:sp>
      <p:sp>
        <p:nvSpPr>
          <p:cNvPr id="70" name="テキスト ボックス 69">
            <a:extLst>
              <a:ext uri="{FF2B5EF4-FFF2-40B4-BE49-F238E27FC236}">
                <a16:creationId xmlns:a16="http://schemas.microsoft.com/office/drawing/2014/main" id="{0728AAC8-ACED-DE14-79C2-5D2E1E568CE7}"/>
              </a:ext>
            </a:extLst>
          </p:cNvPr>
          <p:cNvSpPr txBox="1"/>
          <p:nvPr/>
        </p:nvSpPr>
        <p:spPr>
          <a:xfrm>
            <a:off x="8248538"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en-US" altLang="ja-JP" sz="1000" b="1" dirty="0">
                <a:solidFill>
                  <a:schemeClr val="bg1"/>
                </a:solidFill>
                <a:latin typeface="メイリオ"/>
                <a:ea typeface="メイリオ"/>
                <a:cs typeface="メイリオ"/>
                <a:sym typeface="Meiryo"/>
              </a:rPr>
              <a:t>LINE</a:t>
            </a:r>
            <a:r>
              <a:rPr lang="ja-JP" altLang="en-US" sz="1000" b="1" dirty="0">
                <a:solidFill>
                  <a:schemeClr val="bg1"/>
                </a:solidFill>
                <a:latin typeface="メイリオ"/>
                <a:ea typeface="メイリオ"/>
                <a:cs typeface="メイリオ"/>
                <a:sym typeface="Meiryo"/>
              </a:rPr>
              <a:t>追加へ</a:t>
            </a:r>
            <a:endParaRPr lang="ja-JP" altLang="en-US" sz="1050" b="1" dirty="0">
              <a:solidFill>
                <a:schemeClr val="bg1"/>
              </a:solidFill>
              <a:latin typeface="メイリオ"/>
              <a:ea typeface="メイリオ"/>
              <a:cs typeface="メイリオ"/>
            </a:endParaRPr>
          </a:p>
        </p:txBody>
      </p:sp>
      <p:pic>
        <p:nvPicPr>
          <p:cNvPr id="74" name="図 73">
            <a:extLst>
              <a:ext uri="{FF2B5EF4-FFF2-40B4-BE49-F238E27FC236}">
                <a16:creationId xmlns:a16="http://schemas.microsoft.com/office/drawing/2014/main" id="{4C49234A-BFF2-AECE-086F-27D9165ADB4C}"/>
              </a:ext>
            </a:extLst>
          </p:cNvPr>
          <p:cNvPicPr>
            <a:picLocks noChangeAspect="1"/>
          </p:cNvPicPr>
          <p:nvPr/>
        </p:nvPicPr>
        <p:blipFill>
          <a:blip r:embed="rId6"/>
          <a:stretch>
            <a:fillRect/>
          </a:stretch>
        </p:blipFill>
        <p:spPr>
          <a:xfrm>
            <a:off x="8471302" y="4682317"/>
            <a:ext cx="976991" cy="976991"/>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cs typeface="メイリオ"/>
                </a:rPr>
                <a:t>サンクス</a:t>
              </a:r>
              <a:r>
                <a:rPr lang="en-US" altLang="ja-JP" sz="1200" b="1" dirty="0">
                  <a:solidFill>
                    <a:schemeClr val="bg1"/>
                  </a:solidFill>
                  <a:latin typeface="メイリオ" panose="020B0604030504040204" pitchFamily="34" charset="-128"/>
                  <a:ea typeface="メイリオ" panose="020B0604030504040204" pitchFamily="34" charset="-128"/>
                  <a:cs typeface="メイリオ"/>
                </a:rPr>
                <a:t>LINE</a:t>
              </a:r>
              <a:r>
                <a:rPr lang="ja-JP" altLang="en-US" sz="12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9" name="正方形/長方形 8">
            <a:extLst>
              <a:ext uri="{FF2B5EF4-FFF2-40B4-BE49-F238E27FC236}">
                <a16:creationId xmlns:a16="http://schemas.microsoft.com/office/drawing/2014/main" id="{DC4FF56C-47EE-47DB-92F1-3F0EF57613D9}"/>
              </a:ext>
            </a:extLst>
          </p:cNvPr>
          <p:cNvSpPr/>
          <p:nvPr/>
        </p:nvSpPr>
        <p:spPr>
          <a:xfrm>
            <a:off x="3931920" y="1371600"/>
            <a:ext cx="4754880" cy="274320"/>
          </a:xfrm>
          <a:prstGeom prst="rect">
            <a:avLst/>
          </a:prstGeom>
        </p:spPr>
        <p:txBody>
          <a:bodyPr wrap="square" lIns="74295" rIns="74295">
            <a:spAutoFit/>
          </a:bodyPr>
          <a:lstStyle/>
          <a:p>
            <a:pPr lvl="0">
              <a:buClr>
                <a:schemeClr val="dk1"/>
              </a:buClr>
              <a:buSzPts val="1500"/>
            </a:pPr>
            <a:r>
              <a:rPr lang="ja-JP" altLang="en-US" sz="1300" dirty="0">
                <a:latin typeface="メイリオ"/>
                <a:ea typeface="メイリオ"/>
                <a:cs typeface="メイリオ"/>
                <a:sym typeface="Meiryo"/>
              </a:rPr>
              <a:t>予約後のLINE誘導を自動化し、開催時期の友だち数を上積み</a:t>
            </a:r>
            <a:endParaRPr lang="en-US" altLang="ja-JP" sz="1400" dirty="0">
              <a:latin typeface="メイリオ"/>
              <a:ea typeface="メイリオ"/>
              <a:cs typeface="メイリオ"/>
              <a:sym typeface="Meiryo"/>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3931920" y="1645920"/>
            <a:ext cx="2148840" cy="201168"/>
          </a:xfrm>
          <a:prstGeom prst="rect">
            <a:avLst/>
          </a:prstGeom>
          <a:noFill/>
        </p:spPr>
        <p:txBody>
          <a:bodyPr wrap="square" lIns="74295" rIns="74295">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※既存APIツールとの併用も可能</a:t>
            </a:r>
            <a:endParaRPr lang="ja-JP" altLang="en-US" sz="900" dirty="0">
              <a:solidFill>
                <a:srgbClr val="1F2A5C"/>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cs typeface="メイリオ"/>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cs typeface="メイリオ"/>
              </a:rPr>
            </a:br>
            <a:r>
              <a:rPr lang="en-US" altLang="ja-JP" sz="13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300" dirty="0">
                <a:solidFill>
                  <a:schemeClr val="tx1"/>
                </a:solidFill>
                <a:latin typeface="メイリオ" panose="020B0604030504040204" pitchFamily="50" charset="-128"/>
                <a:ea typeface="メイリオ" panose="020B0604030504040204" pitchFamily="50" charset="-128"/>
                <a:cs typeface="メイリオ"/>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完了後約</a:t>
            </a:r>
            <a:r>
              <a:rPr lang="en-US" altLang="ja-JP" sz="1100" dirty="0">
                <a:solidFill>
                  <a:schemeClr val="tx1"/>
                </a:solidFill>
                <a:latin typeface="メイリオ" panose="020B0604030504040204" pitchFamily="50" charset="-128"/>
                <a:ea typeface="メイリオ" panose="020B0604030504040204" pitchFamily="50" charset="-128"/>
                <a:cs typeface="メイリオ"/>
              </a:rPr>
              <a:t>2~3</a:t>
            </a:r>
            <a:r>
              <a:rPr lang="ja-JP" altLang="en-US" sz="1100" dirty="0">
                <a:solidFill>
                  <a:schemeClr val="tx1"/>
                </a:solidFill>
                <a:latin typeface="メイリオ" panose="020B0604030504040204" pitchFamily="50" charset="-128"/>
                <a:ea typeface="メイリオ" panose="020B0604030504040204" pitchFamily="50" charset="-128"/>
                <a:cs typeface="メイリオ"/>
              </a:rPr>
              <a:t>秒で</a:t>
            </a:r>
            <a:br>
              <a:rPr lang="en-US" altLang="ja-JP" sz="1100" dirty="0">
                <a:solidFill>
                  <a:schemeClr val="tx1"/>
                </a:solidFill>
                <a:latin typeface="メイリオ" panose="020B0604030504040204" pitchFamily="50" charset="-128"/>
                <a:ea typeface="メイリオ" panose="020B0604030504040204" pitchFamily="50" charset="-128"/>
                <a:cs typeface="メイリオ"/>
              </a:rPr>
            </a:b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へ自動遷移</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cs typeface="メイリオ"/>
              </a:rPr>
              <a:t>QRコードを読み取って</a:t>
            </a:r>
            <a:endParaRPr lang="en-US" altLang="ja-JP" sz="1050" b="1" dirty="0">
              <a:latin typeface="メイリオ" panose="020B0604030504040204" pitchFamily="50" charset="-128"/>
              <a:ea typeface="メイリオ" panose="020B0604030504040204" pitchFamily="50" charset="-128"/>
              <a:cs typeface="メイリオ"/>
            </a:endParaRPr>
          </a:p>
          <a:p>
            <a:r>
              <a:rPr lang="ja-JP" altLang="ja-JP" sz="1050" b="1" dirty="0">
                <a:latin typeface="メイリオ" panose="020B0604030504040204" pitchFamily="50" charset="-128"/>
                <a:ea typeface="メイリオ" panose="020B0604030504040204" pitchFamily="50" charset="-128"/>
                <a:cs typeface="メイリオ"/>
              </a:rPr>
              <a:t>動画を見る（約22秒）</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cs typeface="メイリオ"/>
              </a:rPr>
              <a:t>クリックして再生</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1053" name="Google Shape;51;p19">
            <a:extLst>
              <a:ext uri="{FF2B5EF4-FFF2-40B4-BE49-F238E27FC236}">
                <a16:creationId xmlns:a16="http://schemas.microsoft.com/office/drawing/2014/main" id="{A4070FDA-7C99-27DE-6A9C-437C1D5DD3B3}"/>
              </a:ext>
            </a:extLst>
          </p:cNvPr>
          <p:cNvSpPr/>
          <p:nvPr/>
        </p:nvSpPr>
        <p:spPr>
          <a:xfrm>
            <a:off x="3931920" y="841248"/>
            <a:ext cx="13258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初期：</a:t>
            </a:r>
            <a:r>
              <a:rPr lang="en-US" altLang="ja-JP" b="1" dirty="0">
                <a:solidFill>
                  <a:schemeClr val="lt1"/>
                </a:solidFill>
                <a:latin typeface="メイリオ"/>
                <a:ea typeface="メイリオ"/>
                <a:cs typeface="メイリオ"/>
                <a:sym typeface="Meiryo"/>
              </a:rPr>
              <a:t>15</a:t>
            </a:r>
            <a:r>
              <a:rPr lang="ja-JP" altLang="en-US" b="1" dirty="0">
                <a:solidFill>
                  <a:schemeClr val="lt1"/>
                </a:solidFill>
                <a:latin typeface="メイリオ"/>
                <a:ea typeface="メイリオ"/>
                <a:cs typeface="メイリオ"/>
                <a:sym typeface="Meiryo"/>
              </a:rPr>
              <a:t>万円</a:t>
            </a:r>
            <a:endParaRPr b="1" dirty="0">
              <a:solidFill>
                <a:schemeClr val="lt1"/>
              </a:solidFill>
              <a:latin typeface="メイリオ"/>
              <a:ea typeface="メイリオ"/>
              <a:cs typeface="メイリオ"/>
              <a:sym typeface="Meiryo"/>
            </a:endParaRPr>
          </a:p>
        </p:txBody>
      </p:sp>
      <p:sp>
        <p:nvSpPr>
          <p:cNvPr id="1054" name="Google Shape;51;p19">
            <a:extLst>
              <a:ext uri="{FF2B5EF4-FFF2-40B4-BE49-F238E27FC236}">
                <a16:creationId xmlns:a16="http://schemas.microsoft.com/office/drawing/2014/main" id="{40C4675F-5DCC-DD57-BE14-B3A7697A02CD}"/>
              </a:ext>
            </a:extLst>
          </p:cNvPr>
          <p:cNvSpPr/>
          <p:nvPr/>
        </p:nvSpPr>
        <p:spPr>
          <a:xfrm>
            <a:off x="5349240" y="841248"/>
            <a:ext cx="17830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月額</a:t>
            </a:r>
            <a:r>
              <a:rPr lang="en-US" altLang="ja-JP" b="1" dirty="0">
                <a:solidFill>
                  <a:schemeClr val="lt1"/>
                </a:solidFill>
                <a:latin typeface="メイリオ"/>
                <a:ea typeface="メイリオ"/>
                <a:cs typeface="メイリオ"/>
                <a:sym typeface="Meiryo"/>
              </a:rPr>
              <a:t>3</a:t>
            </a:r>
            <a:r>
              <a:rPr lang="ja-JP" altLang="en-US" b="1" dirty="0">
                <a:solidFill>
                  <a:schemeClr val="lt1"/>
                </a:solidFill>
                <a:latin typeface="メイリオ"/>
                <a:ea typeface="メイリオ"/>
                <a:cs typeface="メイリオ"/>
                <a:sym typeface="Meiryo"/>
              </a:rPr>
              <a:t>万円～</a:t>
            </a:r>
            <a:endParaRPr lang="en-US" altLang="ja-JP" b="1" dirty="0">
              <a:solidFill>
                <a:schemeClr val="lt1"/>
              </a:solidFill>
              <a:latin typeface="メイリオ"/>
              <a:ea typeface="メイリオ"/>
              <a:cs typeface="メイリオ"/>
              <a:sym typeface="Meiryo"/>
            </a:endParaRPr>
          </a:p>
          <a:p>
            <a:pPr algn="ctr">
              <a:buSzPts val="1400"/>
            </a:pPr>
            <a:r>
              <a:rPr lang="en-US" altLang="ja-JP" sz="850" b="1" dirty="0">
                <a:solidFill>
                  <a:srgbClr val="FFFFFF"/>
                </a:solidFill>
                <a:latin typeface="メイリオ"/>
                <a:ea typeface="メイリオ"/>
                <a:cs typeface="メイリオ"/>
                <a:sym typeface="Meiryo"/>
              </a:rPr>
              <a:t>+</a:t>
            </a:r>
            <a:r>
              <a:rPr lang="ja-JP" altLang="en-US" sz="850" b="1" dirty="0">
                <a:solidFill>
                  <a:srgbClr val="FFFFFF"/>
                </a:solidFill>
                <a:latin typeface="メイリオ"/>
                <a:ea typeface="メイリオ"/>
                <a:cs typeface="メイリオ"/>
                <a:sym typeface="Meiryo"/>
              </a:rPr>
              <a:t>設定地点追加</a:t>
            </a:r>
            <a:endParaRPr sz="850" b="1" dirty="0">
              <a:solidFill>
                <a:srgbClr val="FFFFFF"/>
              </a:solidFill>
              <a:latin typeface="メイリオ"/>
              <a:ea typeface="メイリオ"/>
              <a:cs typeface="メイリオ"/>
              <a:sym typeface="Meiryo"/>
            </a:endParaRPr>
          </a:p>
        </p:txBody>
      </p:sp>
      <p:sp>
        <p:nvSpPr>
          <p:cNvPr id="1056" name="追加オプションの注記"/>
          <p:cNvSpPr/>
          <p:nvPr/>
        </p:nvSpPr>
        <p:spPr>
          <a:xfrm>
            <a:off x="5486400" y="6272784"/>
            <a:ext cx="4023360" cy="201168"/>
          </a:xfrm>
          <a:prstGeom prst="rect">
            <a:avLst/>
          </a:prstGeom>
          <a:noFill/>
          <a:ln>
            <a:noFill/>
          </a:ln>
        </p:spPr>
        <p:txBody>
          <a:bodyPr wrap="square" lIns="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※最低利用期間・停止条件は確認のうえご案内</a:t>
            </a:r>
            <a:endParaRPr lang="ja-JP" altLang="en-US" sz="1200" dirty="0">
              <a:latin typeface="メイリオ"/>
              <a:ea typeface="メイリオ"/>
              <a:cs typeface="メイリオ"/>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配信の内容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LINEOA</a:t>
            </a:r>
            <a:r>
              <a:rPr kumimoji="1" lang="ja-JP" altLang="en-US" sz="1400" dirty="0">
                <a:latin typeface="メイリオ" panose="020B0604030504040204" pitchFamily="50" charset="-128"/>
                <a:ea typeface="メイリオ" panose="020B0604030504040204" pitchFamily="50" charset="-128"/>
                <a:cs typeface="メイリオ"/>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友だち追加から15日ほどで反応が下がり、ブロックも増えやすい。</a:t>
            </a:r>
          </a:p>
          <a:p>
            <a:r>
              <a:rPr lang="ja-JP" altLang="en-US" sz="1600" b="1" dirty="0">
                <a:latin typeface="メイリオ" panose="020B0604030504040204" pitchFamily="50" charset="-128"/>
                <a:ea typeface="メイリオ" panose="020B0604030504040204" pitchFamily="50" charset="-128"/>
                <a:cs typeface="メイリオ"/>
                <a:sym typeface="Meiryo"/>
              </a:rPr>
              <a:t>そのため、段階に合わせて配信を変え、イベントのない時期は回数を絞る。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cs typeface="メイリオ"/>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solidFill>
                  <a:srgbClr val="1F2A5C"/>
                </a:solidFill>
                <a:latin typeface="メイリオ" panose="020B0604030504040204" pitchFamily="50" charset="-128"/>
                <a:ea typeface="メイリオ" panose="020B0604030504040204" pitchFamily="50" charset="-128"/>
                <a:cs typeface="メイリオ"/>
                <a:sym typeface="Meiryo"/>
              </a:rPr>
              <a:t>15</a:t>
            </a:r>
            <a:r>
              <a:rPr lang="ja-JP" altLang="en-US" sz="1200" b="1" dirty="0">
                <a:solidFill>
                  <a:srgbClr val="1F2A5C"/>
                </a:solidFill>
                <a:latin typeface="メイリオ" panose="020B0604030504040204" pitchFamily="50" charset="-128"/>
                <a:ea typeface="メイリオ" panose="020B0604030504040204" pitchFamily="50" charset="-128"/>
                <a:cs typeface="メイリオ"/>
                <a:sym typeface="Meiryo"/>
              </a:rPr>
              <a:t>日後</a:t>
            </a:r>
            <a:endParaRPr lang="ja-JP" altLang="en-US" sz="12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メイリオ"/>
                <a:sym typeface="Meiryo"/>
              </a:rPr>
              <a:t>30</a:t>
            </a:r>
            <a:r>
              <a:rPr lang="ja-JP" altLang="en-US" sz="1200" b="1" dirty="0">
                <a:latin typeface="メイリオ" panose="020B0604030504040204" pitchFamily="50" charset="-128"/>
                <a:ea typeface="メイリオ" panose="020B0604030504040204" pitchFamily="50" charset="-128"/>
                <a:cs typeface="メイリオ"/>
                <a:sym typeface="Meiryo"/>
              </a:rPr>
              <a:t>日後</a:t>
            </a:r>
            <a:endParaRPr lang="ja-JP" altLang="en-US" sz="1200" dirty="0">
              <a:latin typeface="メイリオ"/>
              <a:ea typeface="メイリオ"/>
              <a:cs typeface="メイリオ"/>
            </a:endParaRPr>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 name="Google Shape;752;p28">
            <a:extLst>
              <a:ext uri="{FF2B5EF4-FFF2-40B4-BE49-F238E27FC236}">
                <a16:creationId xmlns:a16="http://schemas.microsoft.com/office/drawing/2014/main" id="{A711D9CD-A0E9-90A0-722C-36249BABF896}"/>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1065560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6D1CC-B1BA-828E-295F-EADD0CDEFAB4}"/>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417026AF-4DDE-BCC5-590F-D8DDBF5664B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参加後のフォローアップ：関心が高いうちに、入会の判断材料を届ける</a:t>
            </a:r>
          </a:p>
        </p:txBody>
      </p:sp>
      <p:sp>
        <p:nvSpPr>
          <p:cNvPr id="5" name="Lead">
            <a:extLst>
              <a:ext uri="{FF2B5EF4-FFF2-40B4-BE49-F238E27FC236}">
                <a16:creationId xmlns:a16="http://schemas.microsoft.com/office/drawing/2014/main" id="{392B90DB-59D9-CA69-BB23-380EC53A1799}"/>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参加直後と参加後30〜60日に、サロンの内容と入会方法をお届けする</a:t>
            </a:r>
          </a:p>
        </p:txBody>
      </p:sp>
      <p:sp>
        <p:nvSpPr>
          <p:cNvPr id="7" name="Body">
            <a:extLst>
              <a:ext uri="{FF2B5EF4-FFF2-40B4-BE49-F238E27FC236}">
                <a16:creationId xmlns:a16="http://schemas.microsoft.com/office/drawing/2014/main" id="{BE3C0D2E-9E33-CCCB-465C-36479CC64146}"/>
              </a:ext>
            </a:extLst>
          </p:cNvPr>
          <p:cNvSpPr txBox="1"/>
          <p:nvPr/>
        </p:nvSpPr>
        <p:spPr>
          <a:xfrm>
            <a:off x="342900" y="3164840"/>
            <a:ext cx="6743700" cy="3810000"/>
          </a:xfrm>
          <a:prstGeom prst="rect">
            <a:avLst/>
          </a:prstGeom>
          <a:noFill/>
        </p:spPr>
        <p:txBody>
          <a:bodyPr wrap="square" lIns="0" tIns="0" rIns="0" bIns="0" anchor="t"/>
          <a:lstStyle/>
          <a:p>
            <a:endParaRPr>
              <a:latin typeface="メイリオ"/>
              <a:ea typeface="メイリオ"/>
              <a:cs typeface="メイリオ"/>
            </a:endParaRPr>
          </a:p>
        </p:txBody>
      </p:sp>
      <p:sp>
        <p:nvSpPr>
          <p:cNvPr id="4" name="TextBox 2006">
            <a:extLst>
              <a:ext uri="{FF2B5EF4-FFF2-40B4-BE49-F238E27FC236}">
                <a16:creationId xmlns:a16="http://schemas.microsoft.com/office/drawing/2014/main" id="{D2F2FC8A-1E7E-57E2-6839-B8D5EF164194}"/>
              </a:ext>
            </a:extLst>
          </p:cNvPr>
          <p:cNvSpPr txBox="1"/>
          <p:nvPr/>
        </p:nvSpPr>
        <p:spPr>
          <a:xfrm>
            <a:off x="456501" y="1091185"/>
            <a:ext cx="9052560" cy="320040"/>
          </a:xfrm>
          <a:prstGeom prst="rect">
            <a:avLst/>
          </a:prstGeom>
          <a:noFill/>
        </p:spPr>
        <p:txBody>
          <a:bodyPr wrap="square">
            <a:spAutoFit/>
          </a:bodyPr>
          <a:lstStyle/>
          <a:p>
            <a:pPr algn="l"/>
            <a:r>
              <a:rPr sz="1400" b="1">
                <a:solidFill>
                  <a:srgbClr val="1F2A5C"/>
                </a:solidFill>
                <a:latin typeface="メイリオ"/>
                <a:ea typeface="メイリオ"/>
                <a:cs typeface="メイリオ"/>
              </a:rPr>
              <a:t>配信内容（例）</a:t>
            </a:r>
          </a:p>
        </p:txBody>
      </p:sp>
      <p:sp>
        <p:nvSpPr>
          <p:cNvPr id="8" name="Chevron 2007">
            <a:extLst>
              <a:ext uri="{FF2B5EF4-FFF2-40B4-BE49-F238E27FC236}">
                <a16:creationId xmlns:a16="http://schemas.microsoft.com/office/drawing/2014/main" id="{10212EE1-F4B4-8DDA-CF71-F80F8F6403F8}"/>
              </a:ext>
            </a:extLst>
          </p:cNvPr>
          <p:cNvSpPr/>
          <p:nvPr/>
        </p:nvSpPr>
        <p:spPr>
          <a:xfrm>
            <a:off x="456501"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参加直後</a:t>
            </a:r>
          </a:p>
          <a:p>
            <a:pPr algn="ctr"/>
            <a:r>
              <a:rPr sz="1200">
                <a:solidFill>
                  <a:srgbClr val="FFFFFF"/>
                </a:solidFill>
                <a:latin typeface="メイリオ"/>
                <a:ea typeface="メイリオ"/>
                <a:cs typeface="メイリオ"/>
              </a:rPr>
              <a:t>関心が高いうちに、サロンをご案内</a:t>
            </a:r>
          </a:p>
        </p:txBody>
      </p:sp>
      <p:sp>
        <p:nvSpPr>
          <p:cNvPr id="11" name="Chevron 2008">
            <a:extLst>
              <a:ext uri="{FF2B5EF4-FFF2-40B4-BE49-F238E27FC236}">
                <a16:creationId xmlns:a16="http://schemas.microsoft.com/office/drawing/2014/main" id="{785204DB-5C6A-DF80-2A53-F86C50DB8BFE}"/>
              </a:ext>
            </a:extLst>
          </p:cNvPr>
          <p:cNvSpPr/>
          <p:nvPr/>
        </p:nvSpPr>
        <p:spPr>
          <a:xfrm>
            <a:off x="5037645"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参加後30〜60日</a:t>
            </a:r>
          </a:p>
          <a:p>
            <a:pPr algn="ctr"/>
            <a:r>
              <a:rPr sz="1200">
                <a:solidFill>
                  <a:srgbClr val="FFFFFF"/>
                </a:solidFill>
                <a:latin typeface="メイリオ"/>
                <a:ea typeface="メイリオ"/>
                <a:cs typeface="メイリオ"/>
              </a:rPr>
              <a:t>迷っている方へ、成果と続け方を届ける</a:t>
            </a:r>
          </a:p>
        </p:txBody>
      </p:sp>
      <p:sp>
        <p:nvSpPr>
          <p:cNvPr id="12" name="配信内容"/>
          <p:cNvSpPr/>
          <p:nvPr/>
        </p:nvSpPr>
        <p:spPr>
          <a:xfrm>
            <a:off x="548640"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セミナーの振り返り</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両想い営業・ライフプランブロックの要点をおさらい</a:t>
            </a:r>
            <a:endParaRPr lang="ja-JP" altLang="en-US" sz="1200" dirty="0">
              <a:latin typeface="メイリオ"/>
              <a:ea typeface="メイリオ"/>
              <a:cs typeface="メイリオ"/>
            </a:endParaRPr>
          </a:p>
        </p:txBody>
      </p:sp>
      <p:cxnSp>
        <p:nvCxnSpPr>
          <p:cNvPr id="13" name="Connector 12"/>
          <p:cNvCxnSpPr/>
          <p:nvPr/>
        </p:nvCxnSpPr>
        <p:spPr>
          <a:xfrm>
            <a:off x="548640" y="2993136"/>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配信内容"/>
          <p:cNvSpPr/>
          <p:nvPr/>
        </p:nvSpPr>
        <p:spPr>
          <a:xfrm>
            <a:off x="548640"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「契約で頭がいっぱい」だった方が、個人保険でTOT</a:t>
            </a:r>
            <a:endParaRPr lang="ja-JP" altLang="en-US" sz="1200" dirty="0">
              <a:latin typeface="メイリオ"/>
              <a:ea typeface="メイリオ"/>
              <a:cs typeface="メイリオ"/>
            </a:endParaRPr>
          </a:p>
        </p:txBody>
      </p:sp>
      <p:cxnSp>
        <p:nvCxnSpPr>
          <p:cNvPr id="15" name="Connector 14"/>
          <p:cNvCxnSpPr/>
          <p:nvPr/>
        </p:nvCxnSpPr>
        <p:spPr>
          <a:xfrm>
            <a:off x="548640" y="3669793"/>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配信内容"/>
          <p:cNvSpPr/>
          <p:nvPr/>
        </p:nvSpPr>
        <p:spPr>
          <a:xfrm>
            <a:off x="548640"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ライフプランブロックは、サロンの方だけが使える</a:t>
            </a:r>
            <a:endParaRPr lang="ja-JP" altLang="en-US" sz="1200" dirty="0">
              <a:latin typeface="メイリオ"/>
              <a:ea typeface="メイリオ"/>
              <a:cs typeface="メイリオ"/>
            </a:endParaRPr>
          </a:p>
        </p:txBody>
      </p:sp>
      <p:sp>
        <p:nvSpPr>
          <p:cNvPr id="17" name="配信内容"/>
          <p:cNvSpPr/>
          <p:nvPr/>
        </p:nvSpPr>
        <p:spPr>
          <a:xfrm>
            <a:off x="5129783"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ロープレ動画で面談を振り返り、TOTを達成</a:t>
            </a:r>
            <a:endParaRPr lang="ja-JP" altLang="en-US" sz="1200" dirty="0">
              <a:latin typeface="メイリオ"/>
              <a:ea typeface="メイリオ"/>
              <a:cs typeface="メイリオ"/>
            </a:endParaRPr>
          </a:p>
        </p:txBody>
      </p:sp>
      <p:cxnSp>
        <p:nvCxnSpPr>
          <p:cNvPr id="18" name="Connector 17"/>
          <p:cNvCxnSpPr/>
          <p:nvPr/>
        </p:nvCxnSpPr>
        <p:spPr>
          <a:xfrm>
            <a:off x="5129783" y="2993136"/>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配信内容"/>
          <p:cNvSpPr/>
          <p:nvPr/>
        </p:nvSpPr>
        <p:spPr>
          <a:xfrm>
            <a:off x="5129783"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講師メッセージ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毎日遅くまで働いた頃から、働く時間を半分以下に</a:t>
            </a:r>
            <a:endParaRPr lang="ja-JP" altLang="en-US" sz="1200" dirty="0">
              <a:latin typeface="メイリオ"/>
              <a:ea typeface="メイリオ"/>
              <a:cs typeface="メイリオ"/>
            </a:endParaRPr>
          </a:p>
        </p:txBody>
      </p:sp>
      <p:cxnSp>
        <p:nvCxnSpPr>
          <p:cNvPr id="20" name="Connector 19"/>
          <p:cNvCxnSpPr/>
          <p:nvPr/>
        </p:nvCxnSpPr>
        <p:spPr>
          <a:xfrm>
            <a:off x="5129783" y="3669793"/>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配信内容"/>
          <p:cNvSpPr/>
          <p:nvPr/>
        </p:nvSpPr>
        <p:spPr>
          <a:xfrm>
            <a:off x="5129783"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次のセミナーのご案内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次回の日程と、サロン入会のお申込み方法</a:t>
            </a:r>
            <a:endParaRPr lang="ja-JP" altLang="en-US" sz="1200" dirty="0">
              <a:latin typeface="メイリオ"/>
              <a:ea typeface="メイリオ"/>
              <a:cs typeface="メイリオ"/>
            </a:endParaRPr>
          </a:p>
        </p:txBody>
      </p:sp>
      <p:sp>
        <p:nvSpPr>
          <p:cNvPr id="22" name="注記"/>
          <p:cNvSpPr/>
          <p:nvPr/>
        </p:nvSpPr>
        <p:spPr>
          <a:xfrm>
            <a:off x="457200" y="5916168"/>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※参加した方を判別できる場合に、その情報を活用して配信（自動で判別できるかは、予約システム等との連携の可否による）</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※配信内容は、貴社LPの「受講生の声」「講師メッセージ」「よくある質問」「講師紹介」をもとにした例</a:t>
            </a:r>
            <a:endParaRPr lang="ja-JP" altLang="en-US" sz="1200" dirty="0">
              <a:latin typeface="メイリオ"/>
              <a:ea typeface="メイリオ"/>
              <a:cs typeface="メイリオ"/>
            </a:endParaRPr>
          </a:p>
        </p:txBody>
      </p:sp>
      <p:sp>
        <p:nvSpPr>
          <p:cNvPr id="23" name="ほかの配信案"/>
          <p:cNvSpPr/>
          <p:nvPr/>
        </p:nvSpPr>
        <p:spPr>
          <a:xfrm>
            <a:off x="457200" y="4474463"/>
            <a:ext cx="9052560" cy="292608"/>
          </a:xfrm>
          <a:prstGeom prst="rect">
            <a:avLst/>
          </a:prstGeom>
          <a:noFill/>
          <a:ln>
            <a:noFill/>
          </a:ln>
        </p:spPr>
        <p:txBody>
          <a:bodyPr wrap="square" lIns="91440" tIns="0" rIns="0" bIns="0"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他の案</a:t>
            </a:r>
            <a:endParaRPr lang="ja-JP" altLang="en-US" sz="1200" dirty="0">
              <a:latin typeface="メイリオ"/>
              <a:ea typeface="メイリオ"/>
              <a:cs typeface="メイリオ"/>
            </a:endParaRPr>
          </a:p>
        </p:txBody>
      </p:sp>
      <p:sp>
        <p:nvSpPr>
          <p:cNvPr id="24" name="ほかの配信案 項目"/>
          <p:cNvSpPr/>
          <p:nvPr/>
        </p:nvSpPr>
        <p:spPr>
          <a:xfrm>
            <a:off x="457200" y="4767071"/>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よくある質問</a:t>
            </a:r>
            <a:endParaRPr lang="ja-JP" altLang="en-US" sz="1200" dirty="0">
              <a:latin typeface="メイリオ"/>
              <a:ea typeface="メイリオ"/>
              <a:cs typeface="メイリオ"/>
            </a:endParaRPr>
          </a:p>
        </p:txBody>
      </p:sp>
      <p:sp>
        <p:nvSpPr>
          <p:cNvPr id="25" name="ほかの配信案 内容"/>
          <p:cNvSpPr/>
          <p:nvPr/>
        </p:nvSpPr>
        <p:spPr>
          <a:xfrm>
            <a:off x="2377440" y="4767071"/>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次のセミナーの案内に添える</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地方からも参加できる・録画はない・初心者でも分かる・参加は無料</a:t>
            </a:r>
            <a:endParaRPr lang="ja-JP" altLang="en-US" sz="1200" dirty="0">
              <a:latin typeface="メイリオ"/>
              <a:ea typeface="メイリオ"/>
              <a:cs typeface="メイリオ"/>
            </a:endParaRPr>
          </a:p>
        </p:txBody>
      </p:sp>
      <p:sp>
        <p:nvSpPr>
          <p:cNvPr id="26" name="ほかの配信案 項目"/>
          <p:cNvSpPr/>
          <p:nvPr/>
        </p:nvSpPr>
        <p:spPr>
          <a:xfrm>
            <a:off x="457200" y="5352287"/>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講師紹介</a:t>
            </a:r>
            <a:endParaRPr lang="ja-JP" altLang="en-US" sz="1200" dirty="0">
              <a:latin typeface="メイリオ"/>
              <a:ea typeface="メイリオ"/>
              <a:cs typeface="メイリオ"/>
            </a:endParaRPr>
          </a:p>
        </p:txBody>
      </p:sp>
      <p:sp>
        <p:nvSpPr>
          <p:cNvPr id="27" name="ほかの配信案 内容"/>
          <p:cNvSpPr/>
          <p:nvPr/>
        </p:nvSpPr>
        <p:spPr>
          <a:xfrm>
            <a:off x="2377440" y="5352287"/>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入会を迷っている方へ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谷岡様の経歴：契約件数全国1位で表彰・週2日の営業で毎年TOT</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4396800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運用体制・スケジュール</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cs typeface="メイリオ"/>
              </a:rPr>
              <a:t>WEB</a:t>
            </a:r>
            <a:r>
              <a:rPr lang="ja-JP" altLang="en-US" sz="2400" dirty="0">
                <a:solidFill>
                  <a:schemeClr val="bg1"/>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cs typeface="メイリオ"/>
              </a:rPr>
              <a:t>☑</a:t>
            </a:r>
            <a:endParaRPr lang="ja-JP" altLang="en-US" sz="3600" dirty="0">
              <a:latin typeface="メイリオ"/>
              <a:ea typeface="メイリオ"/>
              <a:cs typeface="メイリオ"/>
            </a:endParaRPr>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cs typeface="メイリオ"/>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1400" dirty="0">
                <a:solidFill>
                  <a:schemeClr val="bg1"/>
                </a:solidFill>
                <a:latin typeface="メイリオ" panose="020B0604030504040204" pitchFamily="50" charset="-128"/>
                <a:ea typeface="メイリオ" panose="020B0604030504040204" pitchFamily="50" charset="-128"/>
                <a:cs typeface="メイリオ"/>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cs typeface="メイリオ"/>
              </a:rPr>
              <a:t>効果計測</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ツールなし</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kumimoji="1" lang="ja-JP" altLang="en-US" sz="1200" b="1" dirty="0">
                <a:latin typeface="メイリオ" panose="020B0604030504040204" pitchFamily="50" charset="-128"/>
                <a:ea typeface="メイリオ" panose="020B0604030504040204" pitchFamily="50" charset="-128"/>
                <a:cs typeface="メイリオ"/>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cs typeface="メイリオ"/>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ツール有無</a:t>
            </a:r>
            <a:endParaRPr lang="en-US" altLang="ja-JP" sz="1200" b="1" dirty="0">
              <a:latin typeface="メイリオ" panose="020B0604030504040204" pitchFamily="50" charset="-128"/>
              <a:ea typeface="メイリオ" panose="020B0604030504040204" pitchFamily="50" charset="-128"/>
              <a:cs typeface="メイリオ"/>
            </a:endParaRPr>
          </a:p>
          <a:p>
            <a:pPr algn="ctr"/>
            <a:r>
              <a:rPr kumimoji="1" lang="ja-JP" altLang="en-US" sz="1200" b="1" dirty="0">
                <a:latin typeface="メイリオ" panose="020B0604030504040204" pitchFamily="50" charset="-128"/>
                <a:ea typeface="メイリオ" panose="020B0604030504040204" pitchFamily="50" charset="-128"/>
                <a:cs typeface="メイリオ"/>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cs typeface="メイリオ"/>
              </a:rPr>
              <a:t>定期投稿、シナリオ、リッチメニュー等に設定の</a:t>
            </a:r>
            <a:endParaRPr lang="en-US" altLang="ja-JP" sz="1400" dirty="0">
              <a:latin typeface="メイリオ" panose="020B0604030504040204" pitchFamily="50" charset="-128"/>
              <a:ea typeface="メイリオ" panose="020B0604030504040204" pitchFamily="50" charset="-128"/>
              <a:cs typeface="メイリオ"/>
            </a:endParaRPr>
          </a:p>
          <a:p>
            <a:r>
              <a:rPr lang="ja-JP" altLang="en-US" sz="1400" dirty="0">
                <a:latin typeface="メイリオ" panose="020B0604030504040204" pitchFamily="50" charset="-128"/>
                <a:ea typeface="メイリオ" panose="020B0604030504040204" pitchFamily="50" charset="-128"/>
                <a:cs typeface="メイリオ"/>
              </a:rPr>
              <a:t>リンクについて、</a:t>
            </a:r>
            <a:r>
              <a:rPr lang="en-US" altLang="ja-JP" sz="1400" dirty="0">
                <a:solidFill>
                  <a:srgbClr val="1F2A5C"/>
                </a:solidFill>
                <a:latin typeface="メイリオ" panose="020B0604030504040204" pitchFamily="50" charset="-128"/>
                <a:ea typeface="メイリオ" panose="020B0604030504040204" pitchFamily="50" charset="-128"/>
                <a:cs typeface="メイリオ"/>
              </a:rPr>
              <a:t>GA</a:t>
            </a:r>
            <a:r>
              <a:rPr lang="ja-JP" altLang="en-US" sz="1400" dirty="0" err="1">
                <a:solidFill>
                  <a:srgbClr val="1F2A5C"/>
                </a:solidFill>
                <a:latin typeface="メイリオ" panose="020B0604030504040204" pitchFamily="50" charset="-128"/>
                <a:ea typeface="メイリオ" panose="020B0604030504040204" pitchFamily="50" charset="-128"/>
                <a:cs typeface="メイリオ"/>
              </a:rPr>
              <a:t>、</a:t>
            </a:r>
            <a:r>
              <a:rPr lang="en-US" altLang="ja-JP" sz="1400" dirty="0">
                <a:solidFill>
                  <a:srgbClr val="1F2A5C"/>
                </a:solidFill>
                <a:latin typeface="メイリオ" panose="020B0604030504040204" pitchFamily="50" charset="-128"/>
                <a:ea typeface="メイリオ" panose="020B0604030504040204" pitchFamily="50" charset="-128"/>
                <a:cs typeface="メイリオ"/>
              </a:rPr>
              <a:t>MA</a:t>
            </a:r>
            <a:r>
              <a:rPr lang="ja-JP" altLang="en-US" sz="1400" dirty="0">
                <a:solidFill>
                  <a:srgbClr val="1F2A5C"/>
                </a:solidFill>
                <a:latin typeface="メイリオ" panose="020B0604030504040204" pitchFamily="50" charset="-128"/>
                <a:ea typeface="メイリオ" panose="020B0604030504040204" pitchFamily="50" charset="-128"/>
                <a:cs typeface="メイリオ"/>
              </a:rPr>
              <a:t>ツールでの計測可能</a:t>
            </a:r>
            <a:r>
              <a:rPr lang="ja-JP" altLang="en-US" sz="1400" dirty="0">
                <a:latin typeface="メイリオ" panose="020B0604030504040204" pitchFamily="50" charset="-128"/>
                <a:ea typeface="メイリオ" panose="020B0604030504040204" pitchFamily="50" charset="-128"/>
                <a:cs typeface="メイリオ"/>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cs typeface="メイリオ"/>
              </a:rPr>
              <a:t>DYM</a:t>
            </a:r>
            <a:endParaRPr lang="ja-JP" altLang="en-US" dirty="0">
              <a:latin typeface="メイリオ" panose="020B0604030504040204" pitchFamily="50" charset="-128"/>
              <a:ea typeface="メイリオ" panose="020B0604030504040204" pitchFamily="50" charset="-128"/>
              <a:cs typeface="メイリオ"/>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レポート（日次）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kumimoji="1"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レポート（月次）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cs typeface="メイリオ"/>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cs typeface="メイリオ"/>
            </a:endParaRPr>
          </a:p>
          <a:p>
            <a:pPr algn="ctr"/>
            <a:r>
              <a:rPr lang="ja-JP" altLang="en-US" sz="1400" dirty="0">
                <a:latin typeface="メイリオ" panose="020B0604030504040204" pitchFamily="50" charset="-128"/>
                <a:ea typeface="メイリオ" panose="020B0604030504040204" pitchFamily="50" charset="-128"/>
                <a:cs typeface="メイリオ"/>
              </a:rPr>
              <a:t>投稿別</a:t>
            </a:r>
            <a:r>
              <a:rPr lang="en-US" altLang="ja-JP" sz="1400" dirty="0">
                <a:latin typeface="メイリオ" panose="020B0604030504040204" pitchFamily="50" charset="-128"/>
                <a:ea typeface="メイリオ" panose="020B0604030504040204" pitchFamily="50" charset="-128"/>
                <a:cs typeface="メイリオ"/>
              </a:rPr>
              <a:t>×</a:t>
            </a:r>
            <a:r>
              <a:rPr lang="ja-JP" altLang="en-US" sz="1400" dirty="0">
                <a:latin typeface="メイリオ" panose="020B0604030504040204" pitchFamily="50" charset="-128"/>
                <a:ea typeface="メイリオ" panose="020B0604030504040204" pitchFamily="50" charset="-128"/>
                <a:cs typeface="メイリオ"/>
              </a:rPr>
              <a:t>セグメント別でデータ化でき、</a:t>
            </a:r>
            <a:r>
              <a:rPr lang="en-US" altLang="ja-JP" sz="1400" dirty="0">
                <a:latin typeface="メイリオ" panose="020B0604030504040204" pitchFamily="50" charset="-128"/>
                <a:ea typeface="メイリオ" panose="020B0604030504040204" pitchFamily="50" charset="-128"/>
                <a:cs typeface="メイリオ"/>
              </a:rPr>
              <a:t>AB</a:t>
            </a:r>
            <a:r>
              <a:rPr lang="ja-JP" altLang="en-US" sz="1400" dirty="0">
                <a:latin typeface="メイリオ" panose="020B0604030504040204" pitchFamily="50" charset="-128"/>
                <a:ea typeface="メイリオ" panose="020B0604030504040204" pitchFamily="50" charset="-128"/>
                <a:cs typeface="メイリオ"/>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弊社体制図</a:t>
            </a:r>
            <a:endParaRPr kumimoji="1" lang="ja-JP" altLang="en-US" sz="1600" b="1" dirty="0">
              <a:latin typeface="メイリオ" panose="020B0604030504040204" pitchFamily="50" charset="-128"/>
              <a:ea typeface="メイリオ" panose="020B0604030504040204" pitchFamily="50" charset="-128"/>
              <a:cs typeface="メイリオ"/>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メイリオ"/>
                <a:ea typeface="メイリオ"/>
                <a:cs typeface="メイリオ"/>
                <a:sym typeface="Meiryo"/>
              </a:rPr>
              <a:t>GA</a:t>
            </a:r>
            <a:r>
              <a:rPr lang="ja-JP" altLang="en-US" sz="1600" b="1" dirty="0">
                <a:solidFill>
                  <a:schemeClr val="tx1">
                    <a:lumMod val="65000"/>
                    <a:lumOff val="35000"/>
                  </a:schemeClr>
                </a:solidFill>
                <a:latin typeface="メイリオ"/>
                <a:ea typeface="メイリオ"/>
                <a:cs typeface="メイリオ"/>
                <a:sym typeface="Meiryo"/>
              </a:rPr>
              <a:t>及び</a:t>
            </a:r>
            <a:r>
              <a:rPr lang="en-US" altLang="ja-JP" sz="1600" b="1" dirty="0">
                <a:solidFill>
                  <a:schemeClr val="tx1">
                    <a:lumMod val="65000"/>
                    <a:lumOff val="35000"/>
                  </a:schemeClr>
                </a:solidFill>
                <a:latin typeface="メイリオ"/>
                <a:ea typeface="メイリオ"/>
                <a:cs typeface="メイリオ"/>
                <a:sym typeface="Meiryo"/>
              </a:rPr>
              <a:t>MA</a:t>
            </a:r>
            <a:r>
              <a:rPr lang="ja-JP" altLang="en-US" sz="1600" b="1" dirty="0">
                <a:solidFill>
                  <a:schemeClr val="tx1">
                    <a:lumMod val="65000"/>
                    <a:lumOff val="35000"/>
                  </a:schemeClr>
                </a:solidFill>
                <a:latin typeface="メイリオ"/>
                <a:ea typeface="メイリオ"/>
                <a:cs typeface="メイリオ"/>
                <a:sym typeface="Meiryo"/>
              </a:rPr>
              <a:t>ツール両面での計測ができるようパラメータ管理。</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公式アカウントの管理画面には出ない、サイト上の結果を紐づけ。</a:t>
            </a:r>
            <a:endParaRPr sz="1600" b="1" dirty="0">
              <a:solidFill>
                <a:schemeClr val="tx1">
                  <a:lumMod val="65000"/>
                  <a:lumOff val="35000"/>
                </a:schemeClr>
              </a:solidFill>
              <a:latin typeface="メイリオ"/>
              <a:ea typeface="メイリオ"/>
              <a:cs typeface="メイリオ"/>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体制図（イメージ）</a:t>
            </a:r>
            <a:endParaRPr sz="1600" b="1" dirty="0">
              <a:solidFill>
                <a:srgbClr val="002060"/>
              </a:solidFill>
              <a:latin typeface="メイリオ"/>
              <a:ea typeface="メイリオ"/>
              <a:cs typeface="メイリオ"/>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広告・SNS運用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入稿作業</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運用サポート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cs typeface="メイリオ"/>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制作</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1F2A5C"/>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LINEOA運用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広告運用統括・コンサル</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　</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latin typeface="メイリオ"/>
              <a:ea typeface="メイリオ"/>
              <a:cs typeface="メイリオ"/>
            </a:endParaRPr>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35440024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ツール導入・連携の設定 / 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3566160" y="5841409"/>
            <a:ext cx="597471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※契約期間は6か月。貴社作業・確認にかかる時間により前後する場合があ</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ります</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46" name="正方形/長方形 2"/>
          <p:cNvSpPr/>
          <p:nvPr/>
        </p:nvSpPr>
        <p:spPr>
          <a:xfrm>
            <a:off x="7902506" y="2743200"/>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ツールの選択</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実装条件の確認</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（サンクスLINE誘導の</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契約・停止条件）</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121434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latin typeface="メイリオ"/>
                <a:ea typeface="メイリオ"/>
                <a:cs typeface="メイリオ"/>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latin typeface="メイリオ"/>
                <a:ea typeface="メイリオ"/>
                <a:cs typeface="メイリオ"/>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latin typeface="メイリオ"/>
                <a:ea typeface="メイリオ"/>
                <a:cs typeface="メイリオ"/>
              </a:defRPr>
            </a:pPr>
            <a:endParaRPr lang="ja-JP" altLang="en-US">
              <a:solidFill>
                <a:prstClr val="black"/>
              </a:solidFill>
              <a:latin typeface="メイリオ" pitchFamily="34" charset="0"/>
              <a:ea typeface="メイリオ" pitchFamily="50" charset="-128"/>
              <a:cs typeface="メイリオ"/>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4185355464"/>
      </p:ext>
    </p:extLst>
  </p:cSld>
  <p:clrMapOvr>
    <a:masterClrMapping/>
  </p:clrMapOvr>
  <p:transition spd="slow"/>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補足資料・その他サービス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アカウント効果を</a:t>
            </a:r>
            <a:r>
              <a:rPr lang="ja-JP" altLang="en-US" sz="2400" b="1" dirty="0">
                <a:latin typeface="メイリオ" panose="020B0604030504040204" pitchFamily="50" charset="-128"/>
                <a:ea typeface="メイリオ" panose="020B0604030504040204" pitchFamily="50" charset="-128"/>
                <a:cs typeface="メイリオ"/>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spTree>
    <p:extLst>
      <p:ext uri="{BB962C8B-B14F-4D97-AF65-F5344CB8AC3E}">
        <p14:creationId xmlns:p14="http://schemas.microsoft.com/office/powerpoint/2010/main" val="9709585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離脱防止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友だち追加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で学習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の動線での</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DYM</a:t>
            </a:r>
            <a:r>
              <a:rPr lang="ja-JP" altLang="en-US" sz="1200" dirty="0">
                <a:solidFill>
                  <a:schemeClr val="bg1"/>
                </a:solidFill>
                <a:latin typeface="メイリオ" panose="020B0604030504040204" pitchFamily="50" charset="-128"/>
                <a:ea typeface="メイリオ" panose="020B0604030504040204" pitchFamily="50" charset="-128"/>
                <a:cs typeface="メイリオ"/>
              </a:rPr>
              <a:t>施策</a:t>
            </a:r>
            <a:endParaRPr lang="ja-JP" altLang="en-US" sz="1200" dirty="0">
              <a:solidFill>
                <a:schemeClr val="bg1"/>
              </a:solidFill>
              <a:latin typeface="メイリオ"/>
              <a:ea typeface="メイリオ"/>
              <a:cs typeface="メイリオ"/>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現状施策</a:t>
            </a:r>
            <a:endParaRPr lang="ja-JP" altLang="en-US" sz="1200" dirty="0">
              <a:solidFill>
                <a:schemeClr val="bg1"/>
              </a:solidFill>
              <a:latin typeface="メイリオ"/>
              <a:ea typeface="メイリオ"/>
              <a:cs typeface="メイリオ"/>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※ID</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ミニアプリ・診断 →</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 </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特典</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 </a:t>
            </a:r>
            <a:r>
              <a:rPr kumimoji="1" lang="ja-JP" altLang="en-US" sz="1200" b="1" dirty="0">
                <a:latin typeface="メイリオ" panose="020B0604030504040204" pitchFamily="50" charset="-128"/>
                <a:ea typeface="メイリオ" panose="020B0604030504040204" pitchFamily="50" charset="-128"/>
                <a:cs typeface="メイリオ"/>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自社</a:t>
            </a:r>
            <a:r>
              <a:rPr kumimoji="1" lang="en-US" altLang="ja-JP" sz="1200" b="1" dirty="0">
                <a:latin typeface="メイリオ" panose="020B0604030504040204" pitchFamily="50" charset="-128"/>
                <a:ea typeface="メイリオ" panose="020B0604030504040204" pitchFamily="50" charset="-128"/>
                <a:cs typeface="メイリオ"/>
              </a:rPr>
              <a:t>App/</a:t>
            </a:r>
            <a:r>
              <a:rPr kumimoji="1" lang="ja-JP" altLang="en-US" sz="1200" b="1" dirty="0">
                <a:latin typeface="メイリオ" panose="020B0604030504040204" pitchFamily="50" charset="-128"/>
                <a:ea typeface="メイリオ" panose="020B0604030504040204" pitchFamily="50" charset="-128"/>
                <a:cs typeface="メイリオ"/>
              </a:rPr>
              <a:t>ネットワーク</a:t>
            </a:r>
            <a:endParaRPr kumimoji="1" lang="en-US" altLang="ja-JP" sz="1200" b="1" dirty="0">
              <a:latin typeface="メイリオ" panose="020B0604030504040204" pitchFamily="50" charset="-128"/>
              <a:ea typeface="メイリオ" panose="020B0604030504040204" pitchFamily="50" charset="-128"/>
              <a:cs typeface="メイリオ"/>
            </a:endParaRPr>
          </a:p>
          <a:p>
            <a:pPr algn="ctr"/>
            <a:r>
              <a:rPr lang="ja-JP" altLang="en-US" sz="1200" b="1" dirty="0">
                <a:latin typeface="メイリオ" panose="020B0604030504040204" pitchFamily="50" charset="-128"/>
                <a:ea typeface="メイリオ" panose="020B0604030504040204" pitchFamily="50" charset="-128"/>
                <a:cs typeface="メイリオ"/>
              </a:rPr>
              <a:t>（</a:t>
            </a:r>
            <a:r>
              <a:rPr lang="en-US" altLang="ja-JP" sz="1200" b="1" dirty="0">
                <a:latin typeface="メイリオ" panose="020B0604030504040204" pitchFamily="50" charset="-128"/>
                <a:ea typeface="メイリオ" panose="020B0604030504040204" pitchFamily="50" charset="-128"/>
                <a:cs typeface="メイリオ"/>
              </a:rPr>
              <a:t>ID</a:t>
            </a:r>
            <a:r>
              <a:rPr lang="ja-JP" altLang="en-US" sz="1200" b="1" dirty="0">
                <a:latin typeface="メイリオ" panose="020B0604030504040204" pitchFamily="50" charset="-128"/>
                <a:ea typeface="メイリオ" panose="020B0604030504040204" pitchFamily="50" charset="-128"/>
                <a:cs typeface="メイリオ"/>
              </a:rPr>
              <a:t>連携等の開発）</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cs typeface="メイリオ"/>
              </a:rPr>
              <a:t>LINE</a:t>
            </a:r>
            <a:r>
              <a:rPr lang="ja-JP" altLang="en-US" sz="1200" b="1" dirty="0">
                <a:latin typeface="メイリオ" panose="020B0604030504040204" pitchFamily="50" charset="-128"/>
                <a:ea typeface="メイリオ" panose="020B0604030504040204" pitchFamily="50" charset="-128"/>
                <a:cs typeface="メイリオ"/>
              </a:rPr>
              <a:t>でログイン</a:t>
            </a:r>
          </a:p>
        </p:txBody>
      </p:sp>
    </p:spTree>
    <p:extLst>
      <p:ext uri="{BB962C8B-B14F-4D97-AF65-F5344CB8AC3E}">
        <p14:creationId xmlns:p14="http://schemas.microsoft.com/office/powerpoint/2010/main" val="42651367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法人</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が</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増加傾向</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cs typeface="メイリオ"/>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cs typeface="メイリオ"/>
                </a:rPr>
                <a:t>　　　　</a:t>
              </a:r>
              <a:r>
                <a:rPr lang="en-US" sz="1400" dirty="0" err="1">
                  <a:solidFill>
                    <a:srgbClr val="040606"/>
                  </a:solidFill>
                  <a:latin typeface="メイリオ" panose="020B0604030504040204" pitchFamily="50" charset="-128"/>
                  <a:ea typeface="メイリオ" panose="020B0604030504040204" pitchFamily="50" charset="-128"/>
                  <a:cs typeface="メイリオ"/>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cs typeface="メイリオ"/>
                </a:rPr>
                <a:t>、</a:t>
              </a:r>
              <a:r>
                <a:rPr lang="ja-JP" altLang="en-US" sz="1400" dirty="0">
                  <a:solidFill>
                    <a:srgbClr val="040606"/>
                  </a:solidFill>
                  <a:latin typeface="メイリオ" panose="020B0604030504040204" pitchFamily="50" charset="-128"/>
                  <a:ea typeface="メイリオ" panose="020B0604030504040204" pitchFamily="50" charset="-128"/>
                  <a:cs typeface="メイリオ"/>
                </a:rPr>
                <a:t>テレマーケティング </a:t>
              </a:r>
              <a:r>
                <a:rPr lang="en-US" sz="1400" dirty="0" err="1">
                  <a:solidFill>
                    <a:srgbClr val="040606"/>
                  </a:solidFill>
                  <a:latin typeface="メイリオ" panose="020B0604030504040204" pitchFamily="50" charset="-128"/>
                  <a:ea typeface="メイリオ" panose="020B0604030504040204" pitchFamily="50" charset="-128"/>
                  <a:cs typeface="メイリオ"/>
                </a:rPr>
                <a:t>が主流</a:t>
              </a:r>
              <a:endParaRPr lang="en-US" sz="1400" dirty="0">
                <a:solidFill>
                  <a:srgbClr val="040606"/>
                </a:solidFill>
                <a:latin typeface="メイリオ" panose="020B0604030504040204" pitchFamily="50" charset="-128"/>
                <a:ea typeface="メイリオ" panose="020B0604030504040204" pitchFamily="50" charset="-128"/>
                <a:cs typeface="メイリオ"/>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b="1" dirty="0">
                  <a:solidFill>
                    <a:srgbClr val="00B900"/>
                  </a:solidFill>
                  <a:latin typeface="メイリオ" panose="020B0604030504040204" pitchFamily="50" charset="-128"/>
                  <a:ea typeface="メイリオ" panose="020B0604030504040204" pitchFamily="50" charset="-128"/>
                  <a:cs typeface="メイリオ"/>
                </a:rPr>
                <a:t>LINE</a:t>
              </a:r>
              <a:r>
                <a:rPr lang="ja-JP" altLang="en-US" sz="1400" b="1" dirty="0">
                  <a:solidFill>
                    <a:srgbClr val="00B900"/>
                  </a:solidFill>
                  <a:latin typeface="メイリオ" panose="020B0604030504040204" pitchFamily="50" charset="-128"/>
                  <a:ea typeface="メイリオ" panose="020B0604030504040204" pitchFamily="50" charset="-128"/>
                  <a:cs typeface="メイリオ"/>
                </a:rPr>
                <a:t>公式アカウント</a:t>
              </a:r>
              <a:r>
                <a:rPr 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dirty="0" err="1">
                  <a:solidFill>
                    <a:srgbClr val="00B900"/>
                  </a:solidFill>
                  <a:latin typeface="メイリオ" panose="020B0604030504040204" pitchFamily="50" charset="-128"/>
                  <a:ea typeface="メイリオ" panose="020B0604030504040204" pitchFamily="50" charset="-128"/>
                  <a:cs typeface="メイリオ"/>
                </a:rPr>
                <a:t>が主流</a:t>
              </a:r>
              <a:endParaRPr lang="en-US" sz="1400" dirty="0">
                <a:solidFill>
                  <a:srgbClr val="00B900"/>
                </a:solidFill>
                <a:latin typeface="メイリオ" panose="020B0604030504040204" pitchFamily="50" charset="-128"/>
                <a:ea typeface="メイリオ" panose="020B0604030504040204" pitchFamily="50" charset="-128"/>
                <a:cs typeface="メイリオ"/>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cs typeface="メイリオ"/>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latin typeface="メイリオ"/>
              <a:ea typeface="メイリオ"/>
              <a:cs typeface="メイリオ"/>
            </a:endParaRPr>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cs typeface="メイリオ"/>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今すぐ客」以外の</a:t>
            </a:r>
            <a:r>
              <a:rPr lang="ja-JP" altLang="en-US" sz="1400" dirty="0">
                <a:solidFill>
                  <a:srgbClr val="343434"/>
                </a:solidFill>
                <a:latin typeface="メイリオ" panose="020B0604030504040204" pitchFamily="50" charset="-128"/>
                <a:ea typeface="メイリオ" panose="020B0604030504040204" pitchFamily="50" charset="-128"/>
                <a:cs typeface="メイリオ"/>
              </a:rPr>
              <a:t>約</a:t>
            </a:r>
            <a:r>
              <a:rPr lang="en-US" altLang="ja-JP" sz="1400" dirty="0">
                <a:solidFill>
                  <a:srgbClr val="343434"/>
                </a:solidFill>
                <a:latin typeface="メイリオ" panose="020B0604030504040204" pitchFamily="50" charset="-128"/>
                <a:ea typeface="メイリオ" panose="020B0604030504040204" pitchFamily="50" charset="-128"/>
                <a:cs typeface="メイリオ"/>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結果として</a:t>
            </a:r>
            <a:r>
              <a:rPr lang="ja-JP" altLang="en-US" sz="1400" dirty="0" err="1">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げ</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cs typeface="メイリオ"/>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cs typeface="メイリオ"/>
              </a:rPr>
              <a:t>9-</a:t>
            </a:r>
            <a:r>
              <a:rPr lang="en-US" sz="1554" dirty="0">
                <a:solidFill>
                  <a:srgbClr val="494848"/>
                </a:solidFill>
                <a:latin typeface="メイリオ" panose="020B0604030504040204" pitchFamily="50" charset="-128"/>
                <a:ea typeface="メイリオ" panose="020B0604030504040204" pitchFamily="50" charset="-128"/>
                <a:cs typeface="メイリオ"/>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cs typeface="メイリオ"/>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en-US" sz="1200" b="1" dirty="0" err="1">
                <a:solidFill>
                  <a:srgbClr val="494848"/>
                </a:solidFill>
                <a:latin typeface="メイリオ" panose="020B0604030504040204" pitchFamily="50" charset="-128"/>
                <a:ea typeface="メイリオ" panose="020B0604030504040204" pitchFamily="50" charset="-128"/>
                <a:cs typeface="メイリオ"/>
              </a:rPr>
              <a:t>今すぐ</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cs typeface="メイリオ"/>
              </a:rPr>
              <a:t>のは</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リスクが大きい。</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cs typeface="メイリオ"/>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将来的な顧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客」教育をLINE</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上で構築し</a:t>
            </a:r>
            <a:r>
              <a:rPr lang="en-US" sz="1200" b="1" dirty="0">
                <a:solidFill>
                  <a:srgbClr val="494848"/>
                </a:solidFill>
                <a:latin typeface="メイリオ" panose="020B0604030504040204" pitchFamily="50" charset="-128"/>
                <a:ea typeface="メイリオ" panose="020B0604030504040204" pitchFamily="50" charset="-128"/>
                <a:cs typeface="メイリオ"/>
              </a:rPr>
              <a:t>行</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う。</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cs typeface="メイリオ"/>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メイリオ"/>
                <a:ea typeface="メイリオ"/>
                <a:cs typeface="メイリオ"/>
                <a:sym typeface="Meiryo"/>
              </a:rPr>
              <a:t>WEB</a:t>
            </a:r>
            <a:r>
              <a:rPr lang="ja-JP" altLang="en-US" sz="1400" dirty="0">
                <a:latin typeface="メイリオ"/>
                <a:ea typeface="メイリオ"/>
                <a:cs typeface="メイリオ"/>
                <a:sym typeface="Meiryo"/>
              </a:rPr>
              <a:t>広告における</a:t>
            </a:r>
            <a:r>
              <a:rPr lang="ja-JP" altLang="en-US" sz="1400" b="1" dirty="0">
                <a:latin typeface="メイリオ"/>
                <a:ea typeface="メイリオ"/>
                <a:cs typeface="メイリオ"/>
                <a:sym typeface="Meiryo"/>
              </a:rPr>
              <a:t>競合性が高</a:t>
            </a:r>
            <a:r>
              <a:rPr lang="ja-JP" altLang="en-US" sz="1400" dirty="0">
                <a:latin typeface="メイリオ"/>
                <a:ea typeface="メイリオ"/>
                <a:cs typeface="メイリオ"/>
                <a:sym typeface="Meiryo"/>
              </a:rPr>
              <a:t>くなり</a:t>
            </a:r>
            <a:endParaRPr lang="en-US" altLang="ja-JP" sz="1400" dirty="0">
              <a:latin typeface="メイリオ"/>
              <a:ea typeface="メイリオ"/>
              <a:cs typeface="メイリオ"/>
              <a:sym typeface="Meiryo"/>
            </a:endParaRPr>
          </a:p>
          <a:p>
            <a:pPr algn="ctr"/>
            <a:r>
              <a:rPr lang="ja-JP" altLang="en-US" sz="1400" b="1" dirty="0">
                <a:solidFill>
                  <a:srgbClr val="1F2A5C"/>
                </a:solidFill>
                <a:latin typeface="メイリオ"/>
                <a:ea typeface="メイリオ"/>
                <a:cs typeface="メイリオ"/>
                <a:sym typeface="Meiryo"/>
              </a:rPr>
              <a:t>単価指標（</a:t>
            </a:r>
            <a:r>
              <a:rPr lang="en-US" altLang="ja-JP" sz="1400" b="1" dirty="0">
                <a:solidFill>
                  <a:srgbClr val="1F2A5C"/>
                </a:solidFill>
                <a:latin typeface="メイリオ"/>
                <a:ea typeface="メイリオ"/>
                <a:cs typeface="メイリオ"/>
                <a:sym typeface="Meiryo"/>
              </a:rPr>
              <a:t>CPC</a:t>
            </a:r>
            <a:r>
              <a:rPr lang="ja-JP" altLang="en-US" sz="1400" b="1" dirty="0">
                <a:solidFill>
                  <a:srgbClr val="1F2A5C"/>
                </a:solidFill>
                <a:latin typeface="メイリオ"/>
                <a:ea typeface="メイリオ"/>
                <a:cs typeface="メイリオ"/>
                <a:sym typeface="Meiryo"/>
              </a:rPr>
              <a:t>及び</a:t>
            </a:r>
            <a:r>
              <a:rPr lang="en-US" altLang="ja-JP" sz="1400" b="1" dirty="0">
                <a:solidFill>
                  <a:srgbClr val="1F2A5C"/>
                </a:solidFill>
                <a:latin typeface="メイリオ"/>
                <a:ea typeface="メイリオ"/>
                <a:cs typeface="メイリオ"/>
                <a:sym typeface="Meiryo"/>
              </a:rPr>
              <a:t>CPA</a:t>
            </a:r>
            <a:r>
              <a:rPr lang="ja-JP" altLang="en-US" sz="1400" b="1" dirty="0">
                <a:solidFill>
                  <a:srgbClr val="1F2A5C"/>
                </a:solidFill>
                <a:latin typeface="メイリオ"/>
                <a:ea typeface="メイリオ"/>
                <a:cs typeface="メイリオ"/>
                <a:sym typeface="Meiryo"/>
              </a:rPr>
              <a:t>）が高騰</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メイリオ"/>
                <a:ea typeface="メイリオ"/>
                <a:cs typeface="メイリオ"/>
                <a:sym typeface="Meiryo"/>
              </a:rPr>
              <a:t>集客施策における</a:t>
            </a:r>
            <a:r>
              <a:rPr lang="en-US" altLang="ja-JP" sz="1400" b="1" dirty="0">
                <a:latin typeface="メイリオ"/>
                <a:ea typeface="メイリオ"/>
                <a:cs typeface="メイリオ"/>
                <a:sym typeface="Meiryo"/>
              </a:rPr>
              <a:t>CVR</a:t>
            </a:r>
            <a:r>
              <a:rPr lang="ja-JP" altLang="en-US" sz="1400" b="1" dirty="0">
                <a:latin typeface="メイリオ"/>
                <a:ea typeface="メイリオ"/>
                <a:cs typeface="メイリオ"/>
                <a:sym typeface="Meiryo"/>
              </a:rPr>
              <a:t>は高くても</a:t>
            </a:r>
            <a:r>
              <a:rPr lang="en-US" altLang="ja-JP" sz="1400" b="1" dirty="0">
                <a:latin typeface="メイリオ"/>
                <a:ea typeface="メイリオ"/>
                <a:cs typeface="メイリオ"/>
                <a:sym typeface="Meiryo"/>
              </a:rPr>
              <a:t>2%</a:t>
            </a:r>
            <a:r>
              <a:rPr lang="ja-JP" altLang="en-US" sz="1400" b="1" dirty="0">
                <a:latin typeface="メイリオ"/>
                <a:ea typeface="メイリオ"/>
                <a:cs typeface="メイリオ"/>
                <a:sym typeface="Meiryo"/>
              </a:rPr>
              <a:t>程度</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a:p>
            <a:pPr algn="ctr"/>
            <a:r>
              <a:rPr lang="en-US" altLang="ja-JP" sz="1400" dirty="0">
                <a:solidFill>
                  <a:srgbClr val="1F2A5C"/>
                </a:solidFill>
                <a:latin typeface="メイリオ"/>
                <a:ea typeface="メイリオ"/>
                <a:cs typeface="メイリオ"/>
                <a:sym typeface="Meiryo"/>
              </a:rPr>
              <a:t>CV</a:t>
            </a:r>
            <a:r>
              <a:rPr lang="ja-JP" altLang="en-US" sz="1400" dirty="0">
                <a:solidFill>
                  <a:srgbClr val="1F2A5C"/>
                </a:solidFill>
                <a:latin typeface="メイリオ"/>
                <a:ea typeface="メイリオ"/>
                <a:cs typeface="メイリオ"/>
                <a:sym typeface="Meiryo"/>
              </a:rPr>
              <a:t>に至らず離脱するユーザーが大部分</a:t>
            </a:r>
            <a:r>
              <a:rPr lang="ja-JP" altLang="en-US" sz="1400" dirty="0">
                <a:latin typeface="メイリオ"/>
                <a:ea typeface="メイリオ"/>
                <a:cs typeface="メイリオ"/>
                <a:sym typeface="Meiryo"/>
              </a:rPr>
              <a:t>。</a:t>
            </a:r>
            <a:endParaRPr lang="ja-JP" altLang="en-US" sz="1400" dirty="0">
              <a:latin typeface="メイリオ"/>
              <a:ea typeface="メイリオ"/>
              <a:cs typeface="メイリオ"/>
            </a:endParaRPr>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CVR</a:t>
            </a:r>
            <a:endParaRPr lang="ja-JP" altLang="en-US" b="1" dirty="0">
              <a:latin typeface="メイリオ" panose="020B0604030504040204" pitchFamily="50" charset="-128"/>
              <a:ea typeface="メイリオ" panose="020B0604030504040204" pitchFamily="50" charset="-128"/>
              <a:cs typeface="メイリオ"/>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CPC</a:t>
            </a:r>
            <a:endParaRPr lang="ja-JP" altLang="en-US"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5621484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cs typeface="メイリオ"/>
              </a:rPr>
              <a:t>10-40</a:t>
            </a:r>
            <a:r>
              <a:rPr lang="ja-JP" altLang="en-US" sz="1400" dirty="0">
                <a:solidFill>
                  <a:srgbClr val="343434"/>
                </a:solidFill>
                <a:latin typeface="メイリオ" panose="020B0604030504040204" pitchFamily="50" charset="-128"/>
                <a:ea typeface="メイリオ" panose="020B0604030504040204" pitchFamily="50" charset="-128"/>
                <a:cs typeface="メイリオ"/>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cs typeface="メイリオ"/>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cs typeface="メイリオ"/>
              </a:rPr>
              <a:t>LINEOA</a:t>
            </a:r>
            <a:r>
              <a:rPr lang="ja-JP" altLang="en-US" sz="1400" b="1" dirty="0">
                <a:solidFill>
                  <a:srgbClr val="343434"/>
                </a:solidFill>
                <a:latin typeface="メイリオ" panose="020B0604030504040204" pitchFamily="50" charset="-128"/>
                <a:ea typeface="メイリオ" panose="020B0604030504040204" pitchFamily="50" charset="-128"/>
                <a:cs typeface="メイリオ"/>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される。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cs typeface="メイリオ"/>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cs typeface="メイリオ"/>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LINE</a:t>
            </a:r>
            <a:r>
              <a:rPr lang="ja-JP" altLang="en-US" sz="1400" dirty="0">
                <a:latin typeface="メイリオ" panose="020B0604030504040204" pitchFamily="50" charset="-128"/>
                <a:ea typeface="メイリオ" panose="020B0604030504040204" pitchFamily="50" charset="-128"/>
                <a:cs typeface="メイリオ"/>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メイリオ"/>
                <a:sym typeface="Meiryo"/>
              </a:rPr>
              <a:t>CV</a:t>
            </a:r>
            <a:r>
              <a:rPr lang="ja-JP" altLang="en-US" sz="1400" dirty="0">
                <a:latin typeface="メイリオ" panose="020B0604030504040204" pitchFamily="50" charset="-128"/>
                <a:ea typeface="メイリオ" panose="020B0604030504040204" pitchFamily="50" charset="-128"/>
                <a:cs typeface="メイリオ"/>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メイリオ"/>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1F2A5C"/>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5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1F2A5C"/>
                </a:solidFill>
                <a:latin typeface="メイリオ" panose="020B0604030504040204" pitchFamily="50" charset="-128"/>
                <a:ea typeface="メイリオ" panose="020B0604030504040204" pitchFamily="50" charset="-128"/>
                <a:cs typeface="メイリオ"/>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r>
              <a:rPr kumimoji="1" lang="en-US" altLang="ja-JP" sz="1100" dirty="0">
                <a:solidFill>
                  <a:schemeClr val="tx2"/>
                </a:solidFill>
                <a:latin typeface="メイリオ" panose="020B0604030504040204" pitchFamily="50" charset="-128"/>
                <a:ea typeface="メイリオ" panose="020B0604030504040204" pitchFamily="50" charset="-128"/>
                <a:cs typeface="メイリオ"/>
              </a:rPr>
              <a:t>LINE</a:t>
            </a:r>
            <a:r>
              <a:rPr kumimoji="1" lang="ja-JP" altLang="en-US" sz="1100" dirty="0">
                <a:solidFill>
                  <a:schemeClr val="tx2"/>
                </a:solidFill>
                <a:latin typeface="メイリオ" panose="020B0604030504040204" pitchFamily="50" charset="-128"/>
                <a:ea typeface="メイリオ" panose="020B0604030504040204" pitchFamily="50" charset="-128"/>
                <a:cs typeface="メイリオ"/>
              </a:rPr>
              <a:t>施策内</a:t>
            </a: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endParaRPr kumimoji="1" lang="ja-JP" altLang="en-US" sz="1100" dirty="0">
              <a:solidFill>
                <a:schemeClr val="tx2"/>
              </a:solidFill>
              <a:latin typeface="メイリオ" panose="020B0604030504040204" pitchFamily="50" charset="-128"/>
              <a:ea typeface="メイリオ" panose="020B0604030504040204" pitchFamily="50" charset="-128"/>
              <a:cs typeface="メイリオ"/>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アクティブ数</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kumimoji="1" lang="ja-JP" altLang="en-US" sz="800" dirty="0">
                <a:latin typeface="メイリオ" panose="020B0604030504040204" pitchFamily="50" charset="-128"/>
                <a:ea typeface="メイリオ" panose="020B0604030504040204" pitchFamily="50" charset="-128"/>
                <a:cs typeface="メイリオ"/>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セグメント率</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lang="en-US" altLang="ja-JP" sz="1000" dirty="0">
                <a:latin typeface="メイリオ" panose="020B0604030504040204" pitchFamily="50" charset="-128"/>
                <a:ea typeface="メイリオ" panose="020B0604030504040204" pitchFamily="50" charset="-128"/>
                <a:cs typeface="メイリオ"/>
              </a:rPr>
              <a:t>or</a:t>
            </a:r>
          </a:p>
          <a:p>
            <a:pPr algn="ctr"/>
            <a:r>
              <a:rPr kumimoji="1" lang="ja-JP" altLang="en-US" sz="1000" b="1" dirty="0">
                <a:latin typeface="メイリオ" panose="020B0604030504040204" pitchFamily="50" charset="-128"/>
                <a:ea typeface="メイリオ" panose="020B0604030504040204" pitchFamily="50" charset="-128"/>
                <a:cs typeface="メイリオ"/>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cs typeface="メイリオ"/>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cs typeface="メイリオ"/>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1F2A5C"/>
                </a:solidFill>
                <a:latin typeface="メイリオ" panose="020B0604030504040204" pitchFamily="50" charset="-128"/>
                <a:ea typeface="メイリオ" panose="020B0604030504040204" pitchFamily="50" charset="-128"/>
                <a:cs typeface="メイリオ"/>
              </a:rPr>
              <a:t>85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1F2A5C"/>
                </a:solidFill>
                <a:latin typeface="メイリオ" panose="020B0604030504040204" pitchFamily="50" charset="-128"/>
                <a:ea typeface="メイリオ" panose="020B0604030504040204" pitchFamily="50" charset="-128"/>
                <a:cs typeface="メイリオ"/>
              </a:rPr>
              <a:t>12.5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1F2A5C"/>
                </a:solidFill>
                <a:latin typeface="メイリオ" panose="020B0604030504040204" pitchFamily="50" charset="-128"/>
                <a:ea typeface="メイリオ" panose="020B0604030504040204" pitchFamily="50" charset="-128"/>
                <a:cs typeface="メイリオ"/>
              </a:rPr>
              <a:t>0.5</a:t>
            </a:r>
            <a:r>
              <a:rPr kumimoji="1" lang="en-US" altLang="ja-JP" sz="1400" b="1" dirty="0">
                <a:solidFill>
                  <a:srgbClr val="1F2A5C"/>
                </a:solidFill>
                <a:latin typeface="メイリオ" panose="020B0604030504040204" pitchFamily="50" charset="-128"/>
                <a:ea typeface="メイリオ" panose="020B0604030504040204" pitchFamily="50" charset="-128"/>
                <a:cs typeface="メイリオ"/>
              </a:rPr>
              <a:t> %</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70 %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8.25 %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cs typeface="メイリオ"/>
              </a:rPr>
              <a:t>0.3 %</a:t>
            </a:r>
            <a:endParaRPr kumimoji="1"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cs typeface="メイリオ"/>
              </a:rPr>
              <a:t>DYM</a:t>
            </a:r>
            <a:r>
              <a:rPr kumimoji="1" lang="ja-JP" altLang="en-US" sz="1200" b="1" dirty="0">
                <a:solidFill>
                  <a:srgbClr val="FFFFFF"/>
                </a:solidFill>
                <a:latin typeface="メイリオ" panose="020B0604030504040204" pitchFamily="50" charset="-128"/>
                <a:ea typeface="メイリオ" panose="020B0604030504040204" pitchFamily="50" charset="-128"/>
                <a:cs typeface="メイリオ"/>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cs typeface="メイリオ"/>
              </a:rPr>
              <a:t>業界平均</a:t>
            </a:r>
            <a:endParaRPr lang="en-US" altLang="ja-JP" sz="1200" b="1" dirty="0">
              <a:solidFill>
                <a:schemeClr val="bg1"/>
              </a:solidFill>
              <a:latin typeface="メイリオ" panose="020B0604030504040204" pitchFamily="50" charset="-128"/>
              <a:ea typeface="メイリオ" panose="020B0604030504040204" pitchFamily="50" charset="-128"/>
              <a:cs typeface="メイリオ"/>
            </a:endParaRPr>
          </a:p>
          <a:p>
            <a:pPr algn="ctr"/>
            <a:r>
              <a:rPr lang="en-US" altLang="ja-JP" sz="8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800" b="1" dirty="0">
                <a:solidFill>
                  <a:schemeClr val="bg1"/>
                </a:solidFill>
                <a:latin typeface="メイリオ" panose="020B0604030504040204" pitchFamily="50" charset="-128"/>
                <a:ea typeface="メイリオ" panose="020B0604030504040204" pitchFamily="50" charset="-128"/>
                <a:cs typeface="メイリオ"/>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FFFF"/>
                </a:solidFill>
                <a:latin typeface="メイリオ" panose="020B0604030504040204" pitchFamily="50" charset="-128"/>
                <a:ea typeface="メイリオ" panose="020B0604030504040204" pitchFamily="50" charset="-128"/>
                <a:cs typeface="メイリオ"/>
              </a:rPr>
              <a:t>施策の流れ</a:t>
            </a:r>
          </a:p>
        </p:txBody>
      </p:sp>
    </p:spTree>
    <p:extLst>
      <p:ext uri="{BB962C8B-B14F-4D97-AF65-F5344CB8AC3E}">
        <p14:creationId xmlns:p14="http://schemas.microsoft.com/office/powerpoint/2010/main" val="24218423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業態平均で</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最大３</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のユーザーは有効化</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マネタイズ可能</a:t>
            </a:r>
            <a:r>
              <a:rPr lang="ja-JP" altLang="en-US" sz="1400" dirty="0">
                <a:solidFill>
                  <a:srgbClr val="343434"/>
                </a:solidFill>
                <a:latin typeface="メイリオ" panose="020B0604030504040204" pitchFamily="50" charset="-128"/>
                <a:ea typeface="メイリオ" panose="020B0604030504040204" pitchFamily="50" charset="-128"/>
                <a:cs typeface="メイリオ"/>
              </a:rPr>
              <a:t> とされている。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cs typeface="メイリオ"/>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cs typeface="メイリオ"/>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A5C"/>
                </a:solidFill>
                <a:latin typeface="メイリオ" panose="020B0604030504040204" pitchFamily="50" charset="-128"/>
                <a:ea typeface="メイリオ" panose="020B0604030504040204" pitchFamily="50" charset="-128"/>
                <a:cs typeface="メイリオ"/>
              </a:rPr>
              <a:t>CV</a:t>
            </a: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するユーザー割合</a:t>
            </a:r>
            <a:endParaRPr kumimoji="1" lang="en-US" altLang="ja-JP" sz="1100" b="1"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ja-JP" altLang="en-US" sz="1000" dirty="0">
                <a:solidFill>
                  <a:srgbClr val="1F2A5C"/>
                </a:solidFill>
                <a:latin typeface="メイリオ" panose="020B0604030504040204" pitchFamily="50" charset="-128"/>
                <a:ea typeface="メイリオ" panose="020B0604030504040204" pitchFamily="50" charset="-128"/>
                <a:cs typeface="メイリオ"/>
              </a:rPr>
              <a:t>平均値</a:t>
            </a:r>
            <a:endParaRPr kumimoji="1" lang="ja-JP" altLang="en-US" sz="10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A5C"/>
                </a:solidFill>
                <a:latin typeface="メイリオ" panose="020B0604030504040204" pitchFamily="50" charset="-128"/>
                <a:ea typeface="メイリオ" panose="020B0604030504040204" pitchFamily="50" charset="-128"/>
                <a:cs typeface="メイリオ"/>
              </a:rPr>
              <a:t>３</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1.5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離脱防止バナー</a:t>
            </a:r>
            <a:endParaRPr lang="en-US" altLang="ja-JP" sz="2000" b="1" dirty="0">
              <a:solidFill>
                <a:srgbClr val="002060"/>
              </a:solidFill>
              <a:latin typeface="メイリオ"/>
              <a:ea typeface="メイリオ"/>
              <a:cs typeface="メイリオ"/>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2000" b="1" dirty="0">
              <a:solidFill>
                <a:srgbClr val="002060"/>
              </a:solidFill>
              <a:latin typeface="メイリオ"/>
              <a:ea typeface="メイリオ"/>
              <a:cs typeface="メイリオ"/>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サンクス</a:t>
            </a: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誘導</a:t>
            </a:r>
            <a:endParaRPr lang="en-US" altLang="ja-JP" sz="2000" b="1" dirty="0">
              <a:solidFill>
                <a:srgbClr val="002060"/>
              </a:solidFill>
              <a:latin typeface="メイリオ"/>
              <a:ea typeface="メイリオ"/>
              <a:cs typeface="メイリオ"/>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事例：車買取</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興味はあるが利用まで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至らなかったユーザーを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友だちとして囲い込む。</a:t>
            </a:r>
            <a:endParaRPr lang="en-US" altLang="ja-JP" sz="1400" dirty="0">
              <a:latin typeface="メイリオ"/>
              <a:ea typeface="メイリオ"/>
              <a:cs typeface="メイリオ"/>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メイリオ"/>
                <a:ea typeface="メイリオ"/>
                <a:cs typeface="メイリオ"/>
                <a:sym typeface="Meiryo"/>
              </a:rPr>
              <a:t>CPF</a:t>
            </a:r>
            <a:r>
              <a:rPr lang="ja-JP" altLang="en-US" sz="1400" dirty="0">
                <a:latin typeface="メイリオ"/>
                <a:ea typeface="メイリオ"/>
                <a:cs typeface="メイリオ"/>
                <a:sym typeface="Meiryo"/>
              </a:rPr>
              <a:t>約</a:t>
            </a:r>
            <a:r>
              <a:rPr lang="en-US" altLang="ja-JP" sz="1400" dirty="0">
                <a:latin typeface="メイリオ"/>
                <a:ea typeface="メイリオ"/>
                <a:cs typeface="メイリオ"/>
                <a:sym typeface="Meiryo"/>
              </a:rPr>
              <a:t>100-200</a:t>
            </a:r>
            <a:r>
              <a:rPr lang="ja-JP" altLang="en-US" sz="1400" dirty="0">
                <a:latin typeface="メイリオ"/>
                <a:ea typeface="メイリオ"/>
                <a:cs typeface="メイリオ"/>
                <a:sym typeface="Meiryo"/>
              </a:rPr>
              <a:t>円台。</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かなり安価かつ成果報酬で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友だちを増やす広告。</a:t>
            </a:r>
            <a:endParaRPr lang="en-US" altLang="ja-JP" sz="1400" dirty="0">
              <a:latin typeface="メイリオ"/>
              <a:ea typeface="メイリオ"/>
              <a:cs typeface="メイリオ"/>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事例：アパレル</a:t>
            </a:r>
            <a:endParaRPr lang="en-US" altLang="ja-JP" sz="1400" dirty="0">
              <a:solidFill>
                <a:schemeClr val="tx1">
                  <a:lumMod val="50000"/>
                  <a:lumOff val="50000"/>
                </a:schemeClr>
              </a:solidFill>
              <a:latin typeface="メイリオ"/>
              <a:ea typeface="メイリオ"/>
              <a:cs typeface="メイリオ"/>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1</a:t>
            </a:r>
            <a:r>
              <a:rPr lang="ja-JP" altLang="en-US" sz="1200" dirty="0">
                <a:solidFill>
                  <a:schemeClr val="tx1">
                    <a:lumMod val="50000"/>
                    <a:lumOff val="50000"/>
                  </a:schemeClr>
                </a:solidFill>
                <a:latin typeface="メイリオ"/>
                <a:ea typeface="メイリオ"/>
                <a:cs typeface="メイリオ"/>
                <a:sym typeface="Meiryo"/>
              </a:rPr>
              <a:t>人あたり</a:t>
            </a:r>
            <a:r>
              <a:rPr lang="en-US" altLang="ja-JP" sz="1200" dirty="0">
                <a:solidFill>
                  <a:schemeClr val="tx1">
                    <a:lumMod val="50000"/>
                    <a:lumOff val="50000"/>
                  </a:schemeClr>
                </a:solidFill>
                <a:latin typeface="メイリオ"/>
                <a:ea typeface="メイリオ"/>
                <a:cs typeface="メイリオ"/>
                <a:sym typeface="Meiryo"/>
              </a:rPr>
              <a:t>50</a:t>
            </a:r>
            <a:r>
              <a:rPr lang="ja-JP" altLang="en-US" sz="1200" dirty="0">
                <a:solidFill>
                  <a:schemeClr val="tx1">
                    <a:lumMod val="50000"/>
                    <a:lumOff val="50000"/>
                  </a:schemeClr>
                </a:solidFill>
                <a:latin typeface="メイリオ"/>
                <a:ea typeface="メイリオ"/>
                <a:cs typeface="メイリオ"/>
                <a:sym typeface="Meiryo"/>
              </a:rPr>
              <a:t>円で友だち獲得</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経由の購入</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サンクスページに到達した</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ユーザーを自動で</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に誘導。</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友だち追加、追客に活用可能。</a:t>
            </a:r>
            <a:endParaRPr lang="en-US" altLang="ja-JP" sz="1400" dirty="0">
              <a:latin typeface="メイリオ"/>
              <a:ea typeface="メイリオ"/>
              <a:cs typeface="メイリオ"/>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事例：美容医療</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LP</a:t>
            </a:r>
            <a:r>
              <a:rPr lang="ja-JP" altLang="en-US" sz="1200" dirty="0">
                <a:solidFill>
                  <a:schemeClr val="tx1">
                    <a:lumMod val="50000"/>
                    <a:lumOff val="50000"/>
                  </a:schemeClr>
                </a:solidFill>
                <a:latin typeface="メイリオ"/>
                <a:ea typeface="メイリオ"/>
                <a:cs typeface="メイリオ"/>
                <a:sym typeface="Meiryo"/>
              </a:rPr>
              <a:t>離脱ユーザーに対して</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誘導を実施。</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追加から</a:t>
            </a:r>
            <a:r>
              <a:rPr lang="en-US" altLang="ja-JP" sz="1200" dirty="0">
                <a:solidFill>
                  <a:schemeClr val="tx1">
                    <a:lumMod val="50000"/>
                    <a:lumOff val="50000"/>
                  </a:schemeClr>
                </a:solidFill>
                <a:latin typeface="メイリオ"/>
                <a:ea typeface="メイリオ"/>
                <a:cs typeface="メイリオ"/>
                <a:sym typeface="Meiryo"/>
              </a:rPr>
              <a:t>20</a:t>
            </a:r>
            <a:r>
              <a:rPr lang="ja-JP" altLang="en-US" sz="1200" dirty="0">
                <a:solidFill>
                  <a:schemeClr val="tx1">
                    <a:lumMod val="50000"/>
                    <a:lumOff val="50000"/>
                  </a:schemeClr>
                </a:solidFill>
                <a:latin typeface="メイリオ"/>
                <a:ea typeface="メイリオ"/>
                <a:cs typeface="メイリオ"/>
                <a:sym typeface="Meiryo"/>
              </a:rPr>
              <a:t>％が</a:t>
            </a:r>
            <a:r>
              <a:rPr lang="en-US" altLang="ja-JP" sz="1200" dirty="0">
                <a:solidFill>
                  <a:schemeClr val="tx1">
                    <a:lumMod val="50000"/>
                    <a:lumOff val="50000"/>
                  </a:schemeClr>
                </a:solidFill>
                <a:latin typeface="メイリオ"/>
                <a:ea typeface="メイリオ"/>
                <a:cs typeface="メイリオ"/>
                <a:sym typeface="Meiryo"/>
              </a:rPr>
              <a:t>CV</a:t>
            </a:r>
          </a:p>
          <a:p>
            <a:pPr lvl="0">
              <a:buClr>
                <a:schemeClr val="dk1"/>
              </a:buClr>
              <a:buSzPts val="1500"/>
            </a:pP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導入後友だち増加数が</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倍に。</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実反響率も</a:t>
            </a:r>
            <a:r>
              <a:rPr lang="en-US" altLang="ja-JP" sz="1200" dirty="0">
                <a:solidFill>
                  <a:schemeClr val="tx1">
                    <a:lumMod val="50000"/>
                    <a:lumOff val="50000"/>
                  </a:schemeClr>
                </a:solidFill>
                <a:latin typeface="メイリオ"/>
                <a:ea typeface="メイリオ"/>
                <a:cs typeface="メイリオ"/>
                <a:sym typeface="Meiryo"/>
              </a:rPr>
              <a:t>40%</a:t>
            </a:r>
            <a:r>
              <a:rPr lang="ja-JP" altLang="en-US" sz="1200" dirty="0">
                <a:solidFill>
                  <a:schemeClr val="tx1">
                    <a:lumMod val="50000"/>
                    <a:lumOff val="50000"/>
                  </a:schemeClr>
                </a:solidFill>
                <a:latin typeface="メイリオ"/>
                <a:ea typeface="メイリオ"/>
                <a:cs typeface="メイリオ"/>
                <a:sym typeface="Meiryo"/>
              </a:rPr>
              <a:t>程度改善。</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通知メッセージ</a:t>
            </a:r>
            <a:endParaRPr lang="en-US" altLang="ja-JP" sz="2000" b="1" dirty="0">
              <a:solidFill>
                <a:srgbClr val="002060"/>
              </a:solidFill>
              <a:latin typeface="メイリオ"/>
              <a:ea typeface="メイリオ"/>
              <a:cs typeface="メイリオ"/>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友だちではないユーザーに</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対して予約完了通知などを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送り友だちを増やす。</a:t>
            </a:r>
            <a:endParaRPr lang="en-US" altLang="ja-JP" sz="1400" dirty="0">
              <a:latin typeface="メイリオ"/>
              <a:ea typeface="メイリオ"/>
              <a:cs typeface="メイリオ"/>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事例：宅配ピザ</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通知メッセージ導入４ヶ月で</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友だち数</a:t>
            </a:r>
            <a:r>
              <a:rPr lang="en-US" altLang="ja-JP" sz="1200" dirty="0">
                <a:solidFill>
                  <a:schemeClr val="tx1">
                    <a:lumMod val="50000"/>
                    <a:lumOff val="50000"/>
                  </a:schemeClr>
                </a:solidFill>
                <a:latin typeface="メイリオ"/>
                <a:ea typeface="メイリオ"/>
                <a:cs typeface="メイリオ"/>
                <a:sym typeface="Meiryo"/>
              </a:rPr>
              <a:t>2</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メイリオ"/>
                <a:ea typeface="メイリオ"/>
                <a:cs typeface="メイリオ"/>
                <a:sym typeface="Meiryo"/>
              </a:rPr>
              <a:t>準顕在（獲得見込みが高い）層の</a:t>
            </a:r>
            <a:r>
              <a:rPr lang="ja-JP" altLang="en-US" sz="1600" b="1" dirty="0">
                <a:latin typeface="メイリオ"/>
                <a:ea typeface="メイリオ"/>
                <a:cs typeface="メイリオ"/>
                <a:sym typeface="Meiryo"/>
              </a:rPr>
              <a:t>独自獲得手法が豊富</a:t>
            </a:r>
            <a:r>
              <a:rPr lang="ja-JP" altLang="en-US" sz="1600" dirty="0">
                <a:latin typeface="メイリオ"/>
                <a:ea typeface="メイリオ"/>
                <a:cs typeface="メイリオ"/>
                <a:sym typeface="Meiryo"/>
              </a:rPr>
              <a:t>で尚且つ</a:t>
            </a:r>
            <a:r>
              <a:rPr lang="ja-JP" altLang="en-US" sz="1600" b="1" dirty="0">
                <a:latin typeface="メイリオ"/>
                <a:ea typeface="メイリオ"/>
                <a:cs typeface="メイリオ"/>
                <a:sym typeface="Meiryo"/>
              </a:rPr>
              <a:t>利用までナーチャリング</a:t>
            </a:r>
            <a:endParaRPr lang="en-US" altLang="ja-JP" sz="1600" b="1" dirty="0">
              <a:latin typeface="メイリオ"/>
              <a:ea typeface="メイリオ"/>
              <a:cs typeface="メイリオ"/>
              <a:sym typeface="Meiryo"/>
            </a:endParaRPr>
          </a:p>
          <a:p>
            <a:pPr lvl="0" algn="ctr">
              <a:buClr>
                <a:schemeClr val="dk1"/>
              </a:buClr>
              <a:buSzPts val="1500"/>
            </a:pPr>
            <a:r>
              <a:rPr lang="en-US" altLang="ja-JP" sz="1100" dirty="0">
                <a:solidFill>
                  <a:srgbClr val="1F2A5C"/>
                </a:solidFill>
                <a:latin typeface="メイリオ"/>
                <a:ea typeface="メイリオ"/>
                <a:cs typeface="メイリオ"/>
                <a:sym typeface="Meiryo"/>
              </a:rPr>
              <a:t>※</a:t>
            </a:r>
            <a:r>
              <a:rPr lang="ja-JP" altLang="en-US" sz="1100" dirty="0">
                <a:solidFill>
                  <a:srgbClr val="1F2A5C"/>
                </a:solidFill>
                <a:latin typeface="メイリオ"/>
                <a:ea typeface="メイリオ"/>
                <a:cs typeface="メイリオ"/>
                <a:sym typeface="Meiryo"/>
              </a:rPr>
              <a:t>実施想定の友だち追加動線について、★を記載しております。</a:t>
            </a:r>
            <a:endParaRPr lang="en-US" altLang="ja-JP" sz="1600" dirty="0">
              <a:solidFill>
                <a:srgbClr val="1F2A5C"/>
              </a:solidFill>
              <a:latin typeface="メイリオ"/>
              <a:ea typeface="メイリオ"/>
              <a:cs typeface="メイリオ"/>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2" name="星: 5 pt 11">
            <a:extLst>
              <a:ext uri="{FF2B5EF4-FFF2-40B4-BE49-F238E27FC236}">
                <a16:creationId xmlns:a16="http://schemas.microsoft.com/office/drawing/2014/main" id="{2C908883-96FE-2C98-5753-AECCC0E66D37}"/>
              </a:ext>
            </a:extLst>
          </p:cNvPr>
          <p:cNvSpPr/>
          <p:nvPr/>
        </p:nvSpPr>
        <p:spPr>
          <a:xfrm>
            <a:off x="9252865"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Tree>
    <p:extLst>
      <p:ext uri="{BB962C8B-B14F-4D97-AF65-F5344CB8AC3E}">
        <p14:creationId xmlns:p14="http://schemas.microsoft.com/office/powerpoint/2010/main" val="30001345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cs typeface="メイリオ"/>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やまや（</a:t>
            </a:r>
            <a:r>
              <a:rPr kumimoji="1" lang="en-US" altLang="ja-JP" sz="1100" dirty="0">
                <a:solidFill>
                  <a:schemeClr val="tx1"/>
                </a:solidFill>
                <a:latin typeface="メイリオ" panose="020B0604030504040204" pitchFamily="50" charset="-128"/>
                <a:ea typeface="メイリオ" panose="020B0604030504040204" pitchFamily="50" charset="-128"/>
                <a:cs typeface="メイリオ"/>
              </a:rPr>
              <a:t>EC</a:t>
            </a: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メイリオ"/>
                <a:ea typeface="メイリオ"/>
                <a:cs typeface="メイリオ"/>
                <a:sym typeface="Meiryo"/>
              </a:rPr>
              <a:t>利用可能なシーン一例</a:t>
            </a:r>
            <a:endParaRPr sz="900" i="0" u="none" strike="noStrike" cap="none" dirty="0">
              <a:solidFill>
                <a:srgbClr val="FFFFFF"/>
              </a:solidFill>
              <a:latin typeface="メイリオ"/>
              <a:ea typeface="メイリオ"/>
              <a:cs typeface="メイリオ"/>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サービス内容</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カスタマージャーニー（8フェーズ）</a:t>
            </a:r>
            <a:endParaRPr lang="en-US" sz="1300" dirty="0">
              <a:latin typeface="メイリオ" panose="020B0604030504040204" pitchFamily="50" charset="-128"/>
              <a:ea typeface="メイリオ" panose="020B0604030504040204" pitchFamily="50" charset="-128"/>
              <a:cs typeface="メイリオ"/>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接触〜リピートまでの動線設計</a:t>
            </a:r>
            <a:endParaRPr lang="en-US" sz="10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02</a:t>
            </a:r>
            <a:endParaRPr lang="en-US" sz="1300" dirty="0">
              <a:latin typeface="メイリオ" panose="020B0604030504040204" pitchFamily="50" charset="-128"/>
              <a:ea typeface="メイリオ" panose="020B0604030504040204" pitchFamily="50" charset="-128"/>
              <a:cs typeface="メイリオ"/>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LINEステップ配信シナリオ（8通）</a:t>
            </a:r>
            <a:endParaRPr lang="en-US" sz="1300" dirty="0">
              <a:latin typeface="メイリオ" panose="020B0604030504040204" pitchFamily="50" charset="-128"/>
              <a:ea typeface="メイリオ" panose="020B0604030504040204" pitchFamily="50" charset="-128"/>
              <a:cs typeface="メイリオ"/>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友だち追加直後〜セミナー予約まで</a:t>
            </a:r>
            <a:endParaRPr lang="en-US" sz="1000" dirty="0">
              <a:latin typeface="メイリオ" panose="020B0604030504040204" pitchFamily="50" charset="-128"/>
              <a:ea typeface="メイリオ" panose="020B0604030504040204" pitchFamily="50" charset="-128"/>
              <a:cs typeface="メイリオ"/>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03</a:t>
            </a:r>
            <a:endParaRPr lang="en-US" sz="1300" dirty="0">
              <a:latin typeface="メイリオ" panose="020B0604030504040204" pitchFamily="50" charset="-128"/>
              <a:ea typeface="メイリオ" panose="020B0604030504040204" pitchFamily="50" charset="-128"/>
              <a:cs typeface="メイリオ"/>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診断によるセグメント分け（2問）</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流入経路・興味分野に応じた配信の出し分け</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04</a:t>
            </a:r>
            <a:endParaRPr lang="en-US" sz="1300" dirty="0">
              <a:latin typeface="メイリオ" panose="020B0604030504040204" pitchFamily="50" charset="-128"/>
              <a:ea typeface="メイリオ" panose="020B0604030504040204" pitchFamily="50" charset="-128"/>
              <a:cs typeface="メイリオ"/>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セグメント設定</a:t>
            </a:r>
            <a:endParaRPr lang="en-US" sz="1300" dirty="0">
              <a:latin typeface="メイリオ" panose="020B0604030504040204" pitchFamily="50" charset="-128"/>
              <a:ea typeface="メイリオ" panose="020B0604030504040204" pitchFamily="50" charset="-128"/>
              <a:cs typeface="メイリオ"/>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endParaRPr lang="en-US" sz="1000" dirty="0">
              <a:latin typeface="メイリオ" panose="020B0604030504040204" pitchFamily="50" charset="-128"/>
              <a:ea typeface="メイリオ" panose="020B0604030504040204" pitchFamily="50" charset="-128"/>
              <a:cs typeface="メイリオ"/>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a:latin typeface="メイリオ" panose="020B0604030504040204" pitchFamily="50" charset="-128"/>
                <a:ea typeface="メイリオ" panose="020B0604030504040204" pitchFamily="50" charset="-128"/>
                <a:cs typeface="メイリオ"/>
              </a:rPr>
              <a:t>WEB</a:t>
            </a:r>
            <a:r>
              <a:rPr lang="ja-JP" altLang="en-US" sz="1000" dirty="0">
                <a:latin typeface="メイリオ" panose="020B0604030504040204" pitchFamily="50" charset="-128"/>
                <a:ea typeface="メイリオ" panose="020B0604030504040204" pitchFamily="50" charset="-128"/>
                <a:cs typeface="メイリオ"/>
              </a:rPr>
              <a:t>サイトアクション、</a:t>
            </a:r>
            <a:r>
              <a:rPr lang="en-US" altLang="ja-JP" sz="1000" dirty="0">
                <a:latin typeface="メイリオ" panose="020B0604030504040204" pitchFamily="50" charset="-128"/>
                <a:ea typeface="メイリオ" panose="020B0604030504040204" pitchFamily="50" charset="-128"/>
                <a:cs typeface="メイリオ"/>
              </a:rPr>
              <a:t>LINE</a:t>
            </a:r>
            <a:r>
              <a:rPr lang="ja-JP" altLang="en-US" sz="1000" dirty="0">
                <a:latin typeface="メイリオ" panose="020B0604030504040204" pitchFamily="50" charset="-128"/>
                <a:ea typeface="メイリオ" panose="020B0604030504040204" pitchFamily="50" charset="-128"/>
                <a:cs typeface="メイリオ"/>
              </a:rPr>
              <a:t>上アクションのスコアリング 等を活用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sz="1300" dirty="0">
              <a:latin typeface="メイリオ" panose="020B0604030504040204" pitchFamily="50" charset="-128"/>
              <a:ea typeface="メイリオ" panose="020B0604030504040204" pitchFamily="50" charset="-128"/>
              <a:cs typeface="メイリオ"/>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効果計測・改善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配信ごとの開封・クリック・予約を確認し、次の配信に反映</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06</a:t>
            </a:r>
            <a:endParaRPr lang="en-US" sz="1300" dirty="0">
              <a:latin typeface="メイリオ" panose="020B0604030504040204" pitchFamily="50" charset="-128"/>
              <a:ea typeface="メイリオ" panose="020B0604030504040204" pitchFamily="50" charset="-128"/>
              <a:cs typeface="メイリオ"/>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セミナー開催月・開催のない月の企画配信</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開催月は月4〜5回、開催のない月は月1〜2回の配信案</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07</a:t>
            </a:r>
            <a:endParaRPr lang="en-US" sz="1300" dirty="0">
              <a:latin typeface="メイリオ" panose="020B0604030504040204" pitchFamily="50" charset="-128"/>
              <a:ea typeface="メイリオ" panose="020B0604030504040204" pitchFamily="50" charset="-128"/>
              <a:cs typeface="メイリオ"/>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各種設定の更新・改善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000" dirty="0">
                <a:latin typeface="メイリオ" panose="020B0604030504040204" pitchFamily="50" charset="-128"/>
                <a:ea typeface="メイリオ" panose="020B0604030504040204" pitchFamily="50" charset="-128"/>
                <a:cs typeface="メイリオ"/>
              </a:rPr>
              <a:t>あいさつメッセージ、リッチメニュー、</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の改修（</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は別途費用）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初期費用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月額費用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2F2F2"/>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altLang="ja-JP" sz="1400" dirty="0">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cs typeface="メイリオ"/>
              </a:rPr>
              <a:t>～　　　 の修正・調整も</a:t>
            </a:r>
            <a:endParaRPr lang="en-US" altLang="ja-JP" sz="1400" b="1" dirty="0">
              <a:latin typeface="メイリオ" panose="020B0604030504040204" pitchFamily="50" charset="-128"/>
              <a:ea typeface="メイリオ" panose="020B0604030504040204" pitchFamily="50" charset="-128"/>
              <a:cs typeface="メイリオ"/>
            </a:endParaRPr>
          </a:p>
          <a:p>
            <a:endParaRPr kumimoji="1" lang="en-US" altLang="ja-JP" sz="1400" b="1" dirty="0">
              <a:latin typeface="メイリオ" panose="020B0604030504040204" pitchFamily="50" charset="-128"/>
              <a:ea typeface="メイリオ" panose="020B0604030504040204" pitchFamily="50" charset="-128"/>
              <a:cs typeface="メイリオ"/>
            </a:endParaRPr>
          </a:p>
          <a:p>
            <a:r>
              <a:rPr lang="ja-JP" altLang="en-US" sz="1400" b="1" dirty="0">
                <a:latin typeface="メイリオ" panose="020B0604030504040204" pitchFamily="50" charset="-128"/>
                <a:ea typeface="メイリオ" panose="020B0604030504040204" pitchFamily="50" charset="-128"/>
                <a:cs typeface="メイリオ"/>
              </a:rPr>
              <a:t>月次対応内に含んでおります。</a:t>
            </a:r>
            <a:endParaRPr kumimoji="1" lang="en-US" altLang="ja-JP" sz="1400"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369353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cs typeface="メイリオ"/>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LINEOA</a:t>
            </a:r>
            <a:r>
              <a:rPr lang="ja-JP" altLang="en-US" sz="1600" b="1" dirty="0">
                <a:latin typeface="メイリオ" panose="020B0604030504040204" pitchFamily="50" charset="-128"/>
                <a:ea typeface="メイリオ" panose="020B0604030504040204" pitchFamily="50" charset="-128"/>
                <a:cs typeface="メイリオ"/>
                <a:sym typeface="Meiryo"/>
              </a:rPr>
              <a:t>の運用業務・</a:t>
            </a:r>
            <a:r>
              <a:rPr lang="en-US" altLang="ja-JP" sz="1600" b="1" dirty="0">
                <a:latin typeface="メイリオ" panose="020B0604030504040204" pitchFamily="50" charset="-128"/>
                <a:ea typeface="メイリオ" panose="020B0604030504040204" pitchFamily="50" charset="-128"/>
                <a:cs typeface="メイリオ"/>
                <a:sym typeface="Meiryo"/>
              </a:rPr>
              <a:t>CR</a:t>
            </a:r>
            <a:r>
              <a:rPr lang="ja-JP" altLang="en-US" sz="1600" b="1" dirty="0">
                <a:latin typeface="メイリオ" panose="020B0604030504040204" pitchFamily="50" charset="-128"/>
                <a:ea typeface="メイリオ" panose="020B0604030504040204" pitchFamily="50" charset="-128"/>
                <a:cs typeface="メイリオ"/>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追加作業における費用感　</a:t>
            </a:r>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&gt;</a:t>
            </a:r>
            <a:endParaRPr lang="ja-JP" altLang="en-US" sz="1050" dirty="0">
              <a:solidFill>
                <a:schemeClr val="tx1">
                  <a:lumMod val="65000"/>
                  <a:lumOff val="35000"/>
                </a:schemeClr>
              </a:solidFill>
              <a:latin typeface="メイリオ"/>
              <a:ea typeface="メイリオ"/>
              <a:cs typeface="メイリオ"/>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¥200,000~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チャット対応</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 </a:t>
                      </a:r>
                      <a:r>
                        <a:rPr lang="en-US" altLang="ja-JP"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サポートは可能</a:t>
                      </a:r>
                      <a:endParaRPr lang="ja-JP" altLang="en-US" sz="1100" b="0" i="0" u="none" strike="noStrike" dirty="0">
                        <a:solidFill>
                          <a:srgbClr val="1F2A5C"/>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1F2A5C"/>
                </a:solidFill>
                <a:latin typeface="メイリオ" panose="020B0604030504040204" pitchFamily="50" charset="-128"/>
                <a:ea typeface="メイリオ" panose="020B0604030504040204" pitchFamily="50" charset="-128"/>
                <a:cs typeface="メイリオ"/>
                <a:sym typeface="Meiryo"/>
              </a:rPr>
              <a:t>貴社リソースの状況に応じて都度発注でのご依頼も各単価で受けさせていただきます。</a:t>
            </a:r>
            <a:endParaRPr lang="ja-JP" altLang="en-US" sz="1400" dirty="0">
              <a:latin typeface="メイリオ"/>
              <a:ea typeface="メイリオ"/>
              <a:cs typeface="メイリオ"/>
            </a:endParaRPr>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880881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　</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[CRM</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及び</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API</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ツールとの連携</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t>
            </a:r>
            <a:endParaRPr lang="ja-JP" altLang="en-US" sz="1600" b="1" dirty="0">
              <a:solidFill>
                <a:srgbClr val="1F2A5C"/>
              </a:solidFill>
              <a:latin typeface="メイリオ" panose="020B0604030504040204" pitchFamily="50" charset="-128"/>
              <a:ea typeface="メイリオ" panose="020B0604030504040204" pitchFamily="50" charset="-128"/>
              <a:cs typeface="メイリオ"/>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cs typeface="メイリオ"/>
              </a:rPr>
              <a:t>「</a:t>
            </a:r>
            <a:r>
              <a:rPr kumimoji="1" lang="en-US" altLang="ja-JP" sz="1400" dirty="0">
                <a:solidFill>
                  <a:srgbClr val="073763"/>
                </a:solidFill>
                <a:latin typeface="メイリオ" panose="020B0604030504040204" pitchFamily="50" charset="-128"/>
                <a:ea typeface="メイリオ" panose="020B0604030504040204" pitchFamily="50" charset="-128"/>
                <a:cs typeface="メイリオ"/>
              </a:rPr>
              <a:t>CRM</a:t>
            </a:r>
            <a:r>
              <a:rPr kumimoji="1" lang="ja-JP" altLang="en-US" sz="1400" dirty="0">
                <a:solidFill>
                  <a:srgbClr val="073763"/>
                </a:solidFill>
                <a:latin typeface="メイリオ" panose="020B0604030504040204" pitchFamily="50" charset="-128"/>
                <a:ea typeface="メイリオ" panose="020B0604030504040204" pitchFamily="50" charset="-128"/>
                <a:cs typeface="メイリオ"/>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が重要</a:t>
            </a:r>
            <a:br>
              <a:rPr lang="en-US" altLang="ja-JP" sz="1400" dirty="0">
                <a:solidFill>
                  <a:srgbClr val="073763"/>
                </a:solidFill>
                <a:latin typeface="メイリオ" panose="020B0604030504040204" pitchFamily="50" charset="-128"/>
                <a:ea typeface="メイリオ" panose="020B0604030504040204" pitchFamily="50" charset="-128"/>
                <a:cs typeface="メイリオ"/>
              </a:rPr>
            </a:br>
            <a:r>
              <a:rPr lang="ja-JP" altLang="en-US" sz="1400" b="1" dirty="0">
                <a:solidFill>
                  <a:srgbClr val="073763"/>
                </a:solidFill>
                <a:latin typeface="メイリオ" panose="020B0604030504040204" pitchFamily="50" charset="-128"/>
                <a:ea typeface="メイリオ" panose="020B0604030504040204" pitchFamily="50" charset="-128"/>
                <a:cs typeface="メイリオ"/>
              </a:rPr>
              <a:t>要件定義</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cs typeface="メイリオ"/>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a:t>
            </a:r>
            <a:r>
              <a:rPr lang="en-US" altLang="ja-JP" sz="1400" dirty="0">
                <a:latin typeface="メイリオ" panose="020B0604030504040204" pitchFamily="50" charset="-128"/>
                <a:ea typeface="メイリオ" panose="020B0604030504040204" pitchFamily="50" charset="-128"/>
                <a:cs typeface="メイリオ"/>
                <a:sym typeface="Meiryo"/>
              </a:rPr>
              <a:t>API</a:t>
            </a:r>
            <a:r>
              <a:rPr lang="ja-JP" altLang="en-US" sz="1400" dirty="0">
                <a:latin typeface="メイリオ" panose="020B0604030504040204" pitchFamily="50" charset="-128"/>
                <a:ea typeface="メイリオ" panose="020B0604030504040204" pitchFamily="50" charset="-128"/>
                <a:cs typeface="メイリオ"/>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貴社内の顧客管理（</a:t>
            </a: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）ツールとの連携の実施も可能です。</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 </a:t>
            </a:r>
            <a:r>
              <a:rPr lang="en-US" altLang="ja-JP" sz="11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開発は別途費用</a:t>
            </a:r>
            <a:endParaRPr lang="en-US" altLang="ja-JP" sz="1400" dirty="0">
              <a:solidFill>
                <a:srgbClr val="1F2A5C"/>
              </a:solidFill>
              <a:latin typeface="メイリオ" panose="020B0604030504040204" pitchFamily="50" charset="-128"/>
              <a:ea typeface="メイリオ" panose="020B0604030504040204" pitchFamily="50" charset="-128"/>
              <a:cs typeface="メイリオ"/>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メッセ送信</a:t>
            </a:r>
          </a:p>
        </p:txBody>
      </p:sp>
    </p:spTree>
    <p:extLst>
      <p:ext uri="{BB962C8B-B14F-4D97-AF65-F5344CB8AC3E}">
        <p14:creationId xmlns:p14="http://schemas.microsoft.com/office/powerpoint/2010/main" val="9826497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その他 代表的な活用機能</a:t>
            </a:r>
            <a:endParaRPr sz="1600" b="1" dirty="0">
              <a:solidFill>
                <a:srgbClr val="002060"/>
              </a:solidFill>
              <a:latin typeface="メイリオ"/>
              <a:ea typeface="メイリオ"/>
              <a:cs typeface="メイリオ"/>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ミニアプリ</a:t>
            </a:r>
            <a:endParaRPr lang="en-US" altLang="ja-JP" sz="1600" b="1" dirty="0">
              <a:latin typeface="メイリオ" panose="020B0604030504040204" pitchFamily="50" charset="-128"/>
              <a:ea typeface="メイリオ" panose="020B0604030504040204" pitchFamily="50" charset="-128"/>
              <a:cs typeface="メイリオ"/>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内で活用できるミニアプリでは、ゲームや抽選といった機能を</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アプリ開発よりも大幅に格安な価格帯で利用できるサービス。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チャット</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FAQ</a:t>
            </a:r>
            <a:r>
              <a:rPr lang="ja-JP" altLang="en-US" sz="1600" b="1" dirty="0">
                <a:solidFill>
                  <a:schemeClr val="tx1">
                    <a:lumMod val="65000"/>
                    <a:lumOff val="35000"/>
                  </a:schemeClr>
                </a:solidFill>
                <a:latin typeface="メイリオ"/>
                <a:ea typeface="メイリオ"/>
                <a:cs typeface="メイリオ"/>
                <a:sym typeface="Meiryo"/>
              </a:rPr>
              <a:t>をもとにした</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による自動応答や、</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LINE】Chat</a:t>
            </a:r>
            <a:r>
              <a:rPr lang="en-US" altLang="ja-JP" sz="1600" b="1" dirty="0">
                <a:latin typeface="メイリオ" panose="020B0604030504040204" pitchFamily="50" charset="-128"/>
                <a:ea typeface="メイリオ" panose="020B0604030504040204" pitchFamily="50" charset="-128"/>
                <a:cs typeface="メイリオ"/>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ホームページから気軽にチャットで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問い合わせができるようになり</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資料請求や商品の購入に繋がる。</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公式</a:t>
            </a: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6927665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コール</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公式アカウントの有料オプション機能で、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LINE】Call</a:t>
            </a:r>
            <a:r>
              <a:rPr lang="en-US" altLang="ja-JP" sz="1600" b="1" dirty="0">
                <a:latin typeface="メイリオ" panose="020B0604030504040204" pitchFamily="50" charset="-128"/>
                <a:ea typeface="メイリオ" panose="020B0604030504040204" pitchFamily="50" charset="-128"/>
                <a:cs typeface="メイリオ"/>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さらに「</a:t>
            </a:r>
            <a:r>
              <a:rPr lang="en-US" altLang="ja-JP" sz="1600" b="1" dirty="0">
                <a:solidFill>
                  <a:schemeClr val="tx1">
                    <a:lumMod val="65000"/>
                    <a:lumOff val="35000"/>
                  </a:schemeClr>
                </a:solidFill>
                <a:latin typeface="メイリオ"/>
                <a:ea typeface="メイリオ"/>
                <a:cs typeface="メイリオ"/>
                <a:sym typeface="Meiryo"/>
              </a:rPr>
              <a:t>LINE Ai Call</a:t>
            </a:r>
            <a:r>
              <a:rPr lang="ja-JP" altLang="en-US" sz="1600" b="1" dirty="0">
                <a:solidFill>
                  <a:schemeClr val="tx1">
                    <a:lumMod val="65000"/>
                    <a:lumOff val="35000"/>
                  </a:schemeClr>
                </a:solidFill>
                <a:latin typeface="メイリオ"/>
                <a:ea typeface="メイリオ"/>
                <a:cs typeface="メイリオ"/>
                <a:sym typeface="Meiryo"/>
              </a:rPr>
              <a:t>」を活用するとユーザーの要望に対して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による自然な</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対話応答が可能に。要件に応じて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と有人オペレータの振り分け業務効率化を支援。</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でログイン</a:t>
            </a:r>
            <a:endParaRPr lang="en-US" altLang="ja-JP" sz="1600" b="1" dirty="0">
              <a:latin typeface="メイリオ" panose="020B0604030504040204" pitchFamily="50" charset="-128"/>
              <a:ea typeface="メイリオ" panose="020B0604030504040204" pitchFamily="50" charset="-128"/>
              <a:cs typeface="メイリオ"/>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でログイン」は、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上のユーザー情報を活用して</a:t>
            </a:r>
            <a:r>
              <a:rPr lang="en-US" altLang="ja-JP" sz="1600" b="1" dirty="0">
                <a:solidFill>
                  <a:schemeClr val="tx1">
                    <a:lumMod val="65000"/>
                    <a:lumOff val="35000"/>
                  </a:schemeClr>
                </a:solidFill>
                <a:latin typeface="メイリオ"/>
                <a:ea typeface="メイリオ"/>
                <a:cs typeface="メイリオ"/>
                <a:sym typeface="Meiryo"/>
              </a:rPr>
              <a:t>WEB</a:t>
            </a:r>
            <a:r>
              <a:rPr lang="ja-JP" altLang="en-US" sz="1600" b="1" dirty="0">
                <a:solidFill>
                  <a:schemeClr val="tx1">
                    <a:lumMod val="65000"/>
                    <a:lumOff val="35000"/>
                  </a:schemeClr>
                </a:solidFill>
                <a:latin typeface="メイリオ"/>
                <a:ea typeface="メイリオ"/>
                <a:cs typeface="メイリオ"/>
                <a:sym typeface="Meiryo"/>
              </a:rPr>
              <a:t>サイト登録が出来る仕組み。</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ID</a:t>
            </a:r>
            <a:r>
              <a:rPr lang="ja-JP" altLang="en-US" sz="1600" b="1" dirty="0">
                <a:solidFill>
                  <a:schemeClr val="tx1">
                    <a:lumMod val="65000"/>
                    <a:lumOff val="35000"/>
                  </a:schemeClr>
                </a:solidFill>
                <a:latin typeface="メイリオ"/>
                <a:ea typeface="メイリオ"/>
                <a:cs typeface="メイリオ"/>
                <a:sym typeface="Meiryo"/>
              </a:rPr>
              <a:t>連携を完了することにより、サービス</a:t>
            </a:r>
            <a:r>
              <a:rPr lang="en-US" altLang="ja-JP" sz="1600" b="1" dirty="0">
                <a:solidFill>
                  <a:schemeClr val="tx1">
                    <a:lumMod val="65000"/>
                    <a:lumOff val="35000"/>
                  </a:schemeClr>
                </a:solidFill>
                <a:latin typeface="メイリオ"/>
                <a:ea typeface="メイリオ"/>
                <a:cs typeface="メイリオ"/>
                <a:sym typeface="Meiryo"/>
              </a:rPr>
              <a:t>(WEB) </a:t>
            </a:r>
            <a:r>
              <a:rPr lang="ja-JP" altLang="en-US" sz="1600" b="1" dirty="0">
                <a:solidFill>
                  <a:schemeClr val="tx1">
                    <a:lumMod val="65000"/>
                    <a:lumOff val="35000"/>
                  </a:schemeClr>
                </a:solidFill>
                <a:latin typeface="メイリオ"/>
                <a:ea typeface="メイリオ"/>
                <a:cs typeface="メイリオ"/>
                <a:sym typeface="Meiryo"/>
              </a:rPr>
              <a:t>⇔ </a:t>
            </a:r>
            <a:r>
              <a:rPr lang="en-US" altLang="ja-JP" sz="1600" b="1" dirty="0">
                <a:solidFill>
                  <a:schemeClr val="tx1">
                    <a:lumMod val="65000"/>
                    <a:lumOff val="35000"/>
                  </a:schemeClr>
                </a:solidFill>
                <a:latin typeface="メイリオ"/>
                <a:ea typeface="メイリオ"/>
                <a:cs typeface="メイリオ"/>
                <a:sym typeface="Meiryo"/>
              </a:rPr>
              <a:t>LINE </a:t>
            </a:r>
            <a:r>
              <a:rPr lang="ja-JP" altLang="en-US" sz="1600" b="1" dirty="0">
                <a:solidFill>
                  <a:schemeClr val="tx1">
                    <a:lumMod val="65000"/>
                    <a:lumOff val="35000"/>
                  </a:schemeClr>
                </a:solidFill>
                <a:latin typeface="メイリオ"/>
                <a:ea typeface="メイリオ"/>
                <a:cs typeface="メイリオ"/>
                <a:sym typeface="Meiryo"/>
              </a:rPr>
              <a:t>での効果的なメッセージが可能に。</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オフライン動線</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400" b="1" dirty="0">
                <a:solidFill>
                  <a:srgbClr val="002060"/>
                </a:solidFill>
                <a:latin typeface="メイリオ"/>
                <a:ea typeface="メイリオ"/>
                <a:cs typeface="メイリオ"/>
                <a:sym typeface="Meiryo"/>
              </a:rPr>
              <a:t>ニュースリリース等</a:t>
            </a:r>
            <a:endParaRPr lang="en-US" altLang="ja-JP" sz="1400" b="1" dirty="0">
              <a:solidFill>
                <a:srgbClr val="002060"/>
              </a:solidFill>
              <a:latin typeface="メイリオ"/>
              <a:ea typeface="メイリオ"/>
              <a:cs typeface="メイリオ"/>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WEB</a:t>
            </a:r>
            <a:r>
              <a:rPr lang="ja-JP" altLang="en-US" sz="2000" b="1" dirty="0">
                <a:solidFill>
                  <a:srgbClr val="002060"/>
                </a:solidFill>
                <a:latin typeface="メイリオ"/>
                <a:ea typeface="メイリオ"/>
                <a:cs typeface="メイリオ"/>
                <a:sym typeface="Meiryo"/>
              </a:rPr>
              <a:t>サイト動線整備</a:t>
            </a:r>
            <a:endParaRPr lang="en-US" altLang="ja-JP" sz="2000" b="1" dirty="0">
              <a:solidFill>
                <a:srgbClr val="002060"/>
              </a:solidFill>
              <a:latin typeface="メイリオ"/>
              <a:ea typeface="メイリオ"/>
              <a:cs typeface="メイリオ"/>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友だち紹介</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200" b="1" dirty="0">
                <a:solidFill>
                  <a:srgbClr val="002060"/>
                </a:solidFill>
                <a:latin typeface="メイリオ"/>
                <a:ea typeface="メイリオ"/>
                <a:cs typeface="メイリオ"/>
                <a:sym typeface="Meiryo"/>
              </a:rPr>
              <a:t>（</a:t>
            </a:r>
            <a:r>
              <a:rPr lang="en-US" altLang="ja-JP" sz="1200" b="1" dirty="0">
                <a:solidFill>
                  <a:srgbClr val="002060"/>
                </a:solidFill>
                <a:latin typeface="メイリオ"/>
                <a:ea typeface="メイリオ"/>
                <a:cs typeface="メイリオ"/>
                <a:sym typeface="Meiryo"/>
              </a:rPr>
              <a:t>LINE</a:t>
            </a:r>
            <a:r>
              <a:rPr lang="ja-JP" altLang="en-US" sz="1200" b="1" dirty="0">
                <a:solidFill>
                  <a:srgbClr val="002060"/>
                </a:solidFill>
                <a:latin typeface="メイリオ"/>
                <a:ea typeface="メイリオ"/>
                <a:cs typeface="メイリオ"/>
                <a:sym typeface="Meiryo"/>
              </a:rPr>
              <a:t>ポイントコネクト）</a:t>
            </a:r>
            <a:endParaRPr lang="en-US" altLang="ja-JP" sz="1200" b="1" dirty="0">
              <a:solidFill>
                <a:srgbClr val="002060"/>
              </a:solidFill>
              <a:latin typeface="メイリオ"/>
              <a:ea typeface="メイリオ"/>
              <a:cs typeface="メイリオ"/>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ポイント</a:t>
            </a:r>
            <a:r>
              <a:rPr lang="en-US" altLang="ja-JP" sz="2000" b="1" dirty="0">
                <a:solidFill>
                  <a:srgbClr val="002060"/>
                </a:solidFill>
                <a:latin typeface="メイリオ"/>
                <a:ea typeface="メイリオ"/>
                <a:cs typeface="メイリオ"/>
                <a:sym typeface="Meiryo"/>
              </a:rPr>
              <a:t>Ads</a:t>
            </a:r>
            <a:endParaRPr lang="en-US" altLang="ja-JP" sz="1400" b="1" dirty="0">
              <a:solidFill>
                <a:srgbClr val="002060"/>
              </a:solidFill>
              <a:latin typeface="メイリオ"/>
              <a:ea typeface="メイリオ"/>
              <a:cs typeface="メイリオ"/>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スタンプ施策</a:t>
            </a:r>
            <a:endParaRPr lang="en-US" altLang="ja-JP" sz="2000" b="1" dirty="0">
              <a:solidFill>
                <a:srgbClr val="002060"/>
              </a:solidFill>
              <a:latin typeface="メイリオ"/>
              <a:ea typeface="メイリオ"/>
              <a:cs typeface="メイリオ"/>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1200" b="1" dirty="0">
              <a:solidFill>
                <a:srgbClr val="002060"/>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メイリオ"/>
                <a:ea typeface="メイリオ"/>
                <a:cs typeface="メイリオ"/>
                <a:sym typeface="Meiryo"/>
              </a:rPr>
              <a:t>サービス停止中</a:t>
            </a:r>
            <a:endParaRPr lang="ja-JP" altLang="en-US" b="1" dirty="0">
              <a:solidFill>
                <a:schemeClr val="tx1">
                  <a:lumMod val="50000"/>
                  <a:lumOff val="50000"/>
                </a:schemeClr>
              </a:solidFill>
              <a:latin typeface="メイリオ"/>
              <a:ea typeface="メイリオ"/>
              <a:cs typeface="メイリオ"/>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a:t>
            </a:r>
            <a:r>
              <a:rPr lang="en-US" altLang="ja-JP" sz="1200" dirty="0">
                <a:latin typeface="メイリオ"/>
                <a:ea typeface="メイリオ"/>
                <a:cs typeface="メイリオ"/>
                <a:sym typeface="Meiryo"/>
              </a:rPr>
              <a:t>1</a:t>
            </a:r>
            <a:r>
              <a:rPr lang="ja-JP" altLang="en-US" sz="1200" dirty="0">
                <a:latin typeface="メイリオ"/>
                <a:ea typeface="メイリオ"/>
                <a:cs typeface="メイリオ"/>
                <a:sym typeface="Meiryo"/>
              </a:rPr>
              <a:t>ヶ月</a:t>
            </a:r>
            <a:r>
              <a:rPr lang="en-US" altLang="ja-JP" sz="1200" dirty="0">
                <a:latin typeface="メイリオ"/>
                <a:ea typeface="メイリオ"/>
                <a:cs typeface="メイリオ"/>
                <a:sym typeface="Meiryo"/>
              </a:rPr>
              <a:t>~</a:t>
            </a:r>
            <a:r>
              <a:rPr lang="ja-JP" altLang="en-US" sz="1200" dirty="0">
                <a:latin typeface="メイリオ"/>
                <a:ea typeface="メイリオ"/>
                <a:cs typeface="メイリオ"/>
                <a:sym typeface="Meiryo"/>
              </a:rPr>
              <a:t>）</a:t>
            </a:r>
            <a:endParaRPr lang="ja-JP" altLang="en-US" sz="2000" dirty="0">
              <a:solidFill>
                <a:srgbClr val="1F2A5C"/>
              </a:solidFill>
              <a:latin typeface="メイリオ"/>
              <a:ea typeface="メイリオ"/>
              <a:cs typeface="メイリオ"/>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各拡張施策についても</a:t>
            </a:r>
            <a:r>
              <a:rPr lang="en-US" altLang="ja-JP" sz="1600" b="1" dirty="0">
                <a:solidFill>
                  <a:schemeClr val="tx1">
                    <a:lumMod val="65000"/>
                    <a:lumOff val="35000"/>
                  </a:schemeClr>
                </a:solidFill>
                <a:latin typeface="メイリオ"/>
                <a:ea typeface="メイリオ"/>
                <a:cs typeface="メイリオ"/>
                <a:sym typeface="Meiryo"/>
              </a:rPr>
              <a:t>MIN</a:t>
            </a:r>
            <a:r>
              <a:rPr lang="ja-JP" altLang="en-US" sz="1600" b="1" dirty="0">
                <a:solidFill>
                  <a:schemeClr val="tx1">
                    <a:lumMod val="65000"/>
                    <a:lumOff val="35000"/>
                  </a:schemeClr>
                </a:solidFill>
                <a:latin typeface="メイリオ"/>
                <a:ea typeface="メイリオ"/>
                <a:cs typeface="メイリオ"/>
                <a:sym typeface="Meiryo"/>
              </a:rPr>
              <a:t>金額からの発注、動線設計が可能です。</a:t>
            </a:r>
            <a:endParaRPr lang="en-US" altLang="ja-JP" sz="1600" b="1" dirty="0">
              <a:solidFill>
                <a:schemeClr val="tx1">
                  <a:lumMod val="65000"/>
                  <a:lumOff val="35000"/>
                </a:schemeClr>
              </a:solidFill>
              <a:latin typeface="メイリオ"/>
              <a:ea typeface="メイリオ"/>
              <a:cs typeface="メイリオ"/>
              <a:sym typeface="Meiryo"/>
            </a:endParaRPr>
          </a:p>
          <a:p>
            <a:pPr lvl="0" algn="ctr">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広告</a:t>
            </a:r>
            <a:r>
              <a:rPr lang="ja-JP" altLang="en-US" sz="1200" b="1" dirty="0">
                <a:latin typeface="メイリオ" panose="020B0604030504040204" pitchFamily="50" charset="-128"/>
                <a:ea typeface="メイリオ" panose="020B0604030504040204" pitchFamily="50" charset="-128"/>
                <a:cs typeface="メイリオ"/>
              </a:rPr>
              <a:t>（友だち追加）</a:t>
            </a:r>
            <a:endParaRPr lang="en-US" altLang="ja-JP" sz="1200" b="1" dirty="0">
              <a:latin typeface="メイリオ" panose="020B0604030504040204" pitchFamily="50" charset="-128"/>
              <a:ea typeface="メイリオ" panose="020B0604030504040204" pitchFamily="50" charset="-128"/>
              <a:cs typeface="メイリオ"/>
            </a:endParaRPr>
          </a:p>
          <a:p>
            <a:pPr algn="ctr"/>
            <a:r>
              <a:rPr lang="en-US" altLang="ja-JP" sz="1200" b="1" dirty="0">
                <a:solidFill>
                  <a:srgbClr val="FFFFFF"/>
                </a:solidFill>
                <a:latin typeface="メイリオ" panose="020B0604030504040204" pitchFamily="50" charset="-128"/>
                <a:ea typeface="メイリオ" panose="020B0604030504040204" pitchFamily="50" charset="-128"/>
                <a:cs typeface="メイリオ"/>
              </a:rPr>
              <a:t>※CPF</a:t>
            </a:r>
            <a:r>
              <a:rPr lang="ja-JP" altLang="en-US" sz="1200" b="1" dirty="0">
                <a:solidFill>
                  <a:srgbClr val="FFFFFF"/>
                </a:solidFill>
                <a:latin typeface="メイリオ" panose="020B0604030504040204" pitchFamily="50" charset="-128"/>
                <a:ea typeface="メイリオ" panose="020B0604030504040204" pitchFamily="50" charset="-128"/>
                <a:cs typeface="メイリオ"/>
              </a:rPr>
              <a:t>広告</a:t>
            </a:r>
            <a:r>
              <a:rPr lang="en-US" altLang="ja-JP" sz="1200" b="1" dirty="0">
                <a:solidFill>
                  <a:srgbClr val="FFFFFF"/>
                </a:solidFill>
                <a:latin typeface="メイリオ" panose="020B0604030504040204" pitchFamily="50" charset="-128"/>
                <a:ea typeface="メイリオ" panose="020B0604030504040204" pitchFamily="50" charset="-128"/>
                <a:cs typeface="メイリオ"/>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公式アカウントの友だちを増やすための広告を、</a:t>
            </a:r>
            <a:br>
              <a:rPr lang="en-US" altLang="ja-JP" sz="1600" b="1" dirty="0">
                <a:solidFill>
                  <a:schemeClr val="tx1">
                    <a:lumMod val="65000"/>
                    <a:lumOff val="35000"/>
                  </a:schemeClr>
                </a:solidFill>
                <a:latin typeface="メイリオ"/>
                <a:ea typeface="メイリオ"/>
                <a:cs typeface="メイリオ"/>
                <a:sym typeface="Meiryo"/>
              </a:rPr>
            </a:b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広告の管理画面より</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アプリ内で掲載できる機能。</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en-US" altLang="ja-JP" sz="1200" b="1" dirty="0">
                  <a:solidFill>
                    <a:srgbClr val="0070C0"/>
                  </a:solidFill>
                  <a:latin typeface="メイリオ"/>
                  <a:ea typeface="メイリオ"/>
                  <a:cs typeface="メイリオ"/>
                  <a:sym typeface="Meiryo"/>
                </a:rPr>
                <a:t>LINE</a:t>
              </a:r>
              <a:r>
                <a:rPr lang="ja-JP" altLang="en-US" sz="1200" b="1" dirty="0">
                  <a:solidFill>
                    <a:srgbClr val="0070C0"/>
                  </a:solidFill>
                  <a:latin typeface="メイリオ"/>
                  <a:ea typeface="メイリオ"/>
                  <a:cs typeface="メイリオ"/>
                  <a:sym typeface="Meiryo"/>
                </a:rPr>
                <a:t>公式アカウントまでの導線</a:t>
              </a:r>
              <a:endParaRPr lang="en-US" altLang="ja-JP" sz="1200" b="1" dirty="0">
                <a:solidFill>
                  <a:srgbClr val="0070C0"/>
                </a:solidFill>
                <a:latin typeface="メイリオ"/>
                <a:ea typeface="メイリオ"/>
                <a:cs typeface="メイリオ"/>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200" b="1" dirty="0">
                  <a:solidFill>
                    <a:srgbClr val="0070C0"/>
                  </a:solidFill>
                  <a:latin typeface="メイリオ"/>
                  <a:ea typeface="メイリオ"/>
                  <a:cs typeface="メイリオ"/>
                  <a:sym typeface="Meiryo"/>
                </a:rPr>
                <a:t>「友だち追加広告」との違い</a:t>
              </a:r>
              <a:endParaRPr lang="en-US" altLang="ja-JP" sz="1200" b="1" dirty="0">
                <a:solidFill>
                  <a:srgbClr val="0070C0"/>
                </a:solidFill>
                <a:latin typeface="メイリオ"/>
                <a:ea typeface="メイリオ"/>
                <a:cs typeface="メイリオ"/>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ctr"/>
            <a:r>
              <a:rPr kumimoji="1" lang="en-US" altLang="ja-JP" sz="1200" dirty="0">
                <a:latin typeface="メイリオ" panose="020B0604030504040204" pitchFamily="50" charset="-128"/>
                <a:ea typeface="メイリオ" panose="020B0604030504040204" pitchFamily="50" charset="-128"/>
                <a:cs typeface="メイリオ"/>
              </a:rPr>
              <a:t>LINE</a:t>
            </a:r>
            <a:r>
              <a:rPr kumimoji="1" lang="ja-JP" altLang="en-US" sz="1200" dirty="0">
                <a:latin typeface="メイリオ" panose="020B0604030504040204" pitchFamily="50" charset="-128"/>
                <a:ea typeface="メイリオ" panose="020B0604030504040204" pitchFamily="50" charset="-128"/>
                <a:cs typeface="メイリオ"/>
              </a:rPr>
              <a:t>アプリ内から</a:t>
            </a:r>
            <a:br>
              <a:rPr kumimoji="1" lang="en-US" altLang="ja-JP" sz="1200" dirty="0">
                <a:latin typeface="メイリオ" panose="020B0604030504040204" pitchFamily="50" charset="-128"/>
                <a:ea typeface="メイリオ" panose="020B0604030504040204" pitchFamily="50" charset="-128"/>
                <a:cs typeface="メイリオ"/>
              </a:rPr>
            </a:br>
            <a:r>
              <a:rPr kumimoji="1" lang="ja-JP" altLang="en-US" sz="1200" dirty="0">
                <a:latin typeface="メイリオ" panose="020B0604030504040204" pitchFamily="50" charset="-128"/>
                <a:ea typeface="メイリオ" panose="020B0604030504040204" pitchFamily="50" charset="-128"/>
                <a:cs typeface="メイリオ"/>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600" b="1" dirty="0">
                <a:solidFill>
                  <a:srgbClr val="33CC33"/>
                </a:solidFill>
                <a:latin typeface="メイリオ" panose="020B0604030504040204" pitchFamily="50" charset="-128"/>
                <a:ea typeface="メイリオ" panose="020B0604030504040204" pitchFamily="50" charset="-128"/>
                <a:cs typeface="メイリオ"/>
              </a:rPr>
              <a:t>直接</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200" dirty="0">
                <a:latin typeface="メイリオ" panose="020B0604030504040204" pitchFamily="50" charset="-128"/>
                <a:ea typeface="メイリオ" panose="020B0604030504040204" pitchFamily="50" charset="-128"/>
                <a:cs typeface="メイリオ"/>
              </a:rPr>
              <a:t>誘導</a:t>
            </a:r>
            <a:endParaRPr kumimoji="1" lang="en-US" altLang="ja-JP" sz="12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706008177"/>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65A1212B-9A99-C03C-9B39-B48B0013BC6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前後検索「投資セミナー」</a:t>
            </a:r>
          </a:p>
        </p:txBody>
      </p:sp>
      <p:sp>
        <p:nvSpPr>
          <p:cNvPr id="8" name="正方形/長方形 7">
            <a:extLst>
              <a:ext uri="{FF2B5EF4-FFF2-40B4-BE49-F238E27FC236}">
                <a16:creationId xmlns:a16="http://schemas.microsoft.com/office/drawing/2014/main" id="{77655FAD-2CE9-1ACF-42D9-A55667D797D3}"/>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endParaRPr kumimoji="1" lang="ja-JP" altLang="en-US" sz="1400" dirty="0">
              <a:latin typeface="メイリオ" panose="020B0604030504040204" pitchFamily="50" charset="-128"/>
              <a:ea typeface="メイリオ" panose="020B0604030504040204" pitchFamily="50" charset="-128"/>
            </a:endParaRPr>
          </a:p>
        </p:txBody>
      </p:sp>
      <p:sp>
        <p:nvSpPr>
          <p:cNvPr id="10" name="Google Shape;752;p28">
            <a:extLst>
              <a:ext uri="{FF2B5EF4-FFF2-40B4-BE49-F238E27FC236}">
                <a16:creationId xmlns:a16="http://schemas.microsoft.com/office/drawing/2014/main" id="{B56FE2F8-7980-8B94-6C87-C3C5C519D1BB}"/>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セミナーを探した方は、その日にほかのセミナーと比べて不安を確かめ、</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1〜4日後に始め方を調べる。関心が続く15日間をステップ配信で追う。</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63" name="正方形/長方形 262">
            <a:extLst>
              <a:ext uri="{FF2B5EF4-FFF2-40B4-BE49-F238E27FC236}">
                <a16:creationId xmlns:a16="http://schemas.microsoft.com/office/drawing/2014/main" id="{748363DA-2C29-7135-6BD0-55F74CF1062A}"/>
              </a:ext>
            </a:extLst>
          </p:cNvPr>
          <p:cNvSpPr/>
          <p:nvPr/>
        </p:nvSpPr>
        <p:spPr>
          <a:xfrm>
            <a:off x="868680" y="6219402"/>
            <a:ext cx="3580333"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rPr>
              <a:t>”</a:t>
            </a:r>
            <a:r>
              <a:rPr kumimoji="1" lang="ja-JP" altLang="en-US" sz="1050" b="1" dirty="0">
                <a:solidFill>
                  <a:schemeClr val="tx1"/>
                </a:solidFill>
                <a:latin typeface="メイリオ" panose="020B0604030504040204" pitchFamily="50" charset="-128"/>
                <a:ea typeface="メイリオ" panose="020B0604030504040204" pitchFamily="50" charset="-128"/>
              </a:rPr>
              <a:t>前</a:t>
            </a:r>
            <a:r>
              <a:rPr kumimoji="1" lang="en-US" altLang="ja-JP" sz="1050" b="1" dirty="0">
                <a:solidFill>
                  <a:schemeClr val="tx1"/>
                </a:solidFill>
                <a:latin typeface="メイリオ" panose="020B0604030504040204" pitchFamily="50" charset="-128"/>
                <a:ea typeface="メイリオ" panose="020B0604030504040204" pitchFamily="50" charset="-128"/>
              </a:rPr>
              <a:t>”15</a:t>
            </a:r>
            <a:r>
              <a:rPr kumimoji="1" lang="ja-JP" altLang="en-US" sz="1050" b="1" dirty="0">
                <a:solidFill>
                  <a:schemeClr val="tx1"/>
                </a:solidFill>
                <a:latin typeface="メイリオ" panose="020B0604030504040204" pitchFamily="50" charset="-128"/>
                <a:ea typeface="メイリオ" panose="020B0604030504040204" pitchFamily="50" charset="-128"/>
              </a:rPr>
              <a:t>日</a:t>
            </a:r>
          </a:p>
        </p:txBody>
      </p:sp>
      <p:sp>
        <p:nvSpPr>
          <p:cNvPr id="264" name="正方形/長方形 263">
            <a:extLst>
              <a:ext uri="{FF2B5EF4-FFF2-40B4-BE49-F238E27FC236}">
                <a16:creationId xmlns:a16="http://schemas.microsoft.com/office/drawing/2014/main" id="{E30C2E59-75D1-61B8-7100-9431FCDA1BB0}"/>
              </a:ext>
            </a:extLst>
          </p:cNvPr>
          <p:cNvSpPr/>
          <p:nvPr/>
        </p:nvSpPr>
        <p:spPr>
          <a:xfrm>
            <a:off x="4494733" y="6219402"/>
            <a:ext cx="3414827"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後</a:t>
            </a:r>
            <a:r>
              <a:rPr lang="en-US" altLang="ja-JP" sz="1050" b="1" dirty="0">
                <a:solidFill>
                  <a:schemeClr val="tx1"/>
                </a:solidFill>
                <a:latin typeface="メイリオ" panose="020B0604030504040204" pitchFamily="50" charset="-128"/>
                <a:ea typeface="メイリオ" panose="020B0604030504040204" pitchFamily="50" charset="-128"/>
              </a:rPr>
              <a:t>”15</a:t>
            </a:r>
            <a:r>
              <a:rPr lang="ja-JP" altLang="en-US" sz="1050" b="1" dirty="0">
                <a:solidFill>
                  <a:schemeClr val="tx1"/>
                </a:solidFill>
                <a:latin typeface="メイリオ" panose="020B0604030504040204" pitchFamily="50" charset="-128"/>
                <a:ea typeface="メイリオ" panose="020B0604030504040204" pitchFamily="50" charset="-128"/>
              </a:rPr>
              <a:t>日</a:t>
            </a:r>
          </a:p>
        </p:txBody>
      </p:sp>
      <p:cxnSp>
        <p:nvCxnSpPr>
          <p:cNvPr id="265" name="直線矢印コネクタ 264">
            <a:extLst>
              <a:ext uri="{FF2B5EF4-FFF2-40B4-BE49-F238E27FC236}">
                <a16:creationId xmlns:a16="http://schemas.microsoft.com/office/drawing/2014/main" id="{D5256C44-BCFD-25DA-BA57-DCD0FDFF9A61}"/>
              </a:ext>
            </a:extLst>
          </p:cNvPr>
          <p:cNvCxnSpPr>
            <a:cxnSpLocks/>
          </p:cNvCxnSpPr>
          <p:nvPr/>
        </p:nvCxnSpPr>
        <p:spPr>
          <a:xfrm flipV="1">
            <a:off x="245734" y="1875367"/>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66" name="テキスト ボックス 265">
            <a:extLst>
              <a:ext uri="{FF2B5EF4-FFF2-40B4-BE49-F238E27FC236}">
                <a16:creationId xmlns:a16="http://schemas.microsoft.com/office/drawing/2014/main" id="{7C17D56F-1AC6-34AD-A4BB-4EC0DABD016D}"/>
              </a:ext>
            </a:extLst>
          </p:cNvPr>
          <p:cNvSpPr txBox="1"/>
          <p:nvPr/>
        </p:nvSpPr>
        <p:spPr>
          <a:xfrm>
            <a:off x="174707" y="2012591"/>
            <a:ext cx="1079863" cy="253916"/>
          </a:xfrm>
          <a:prstGeom prst="rect">
            <a:avLst/>
          </a:prstGeom>
          <a:noFill/>
        </p:spPr>
        <p:txBody>
          <a:bodyPr wrap="square">
            <a:spAutoFit/>
          </a:bodyPr>
          <a:lstStyle/>
          <a:p>
            <a:r>
              <a:rPr lang="ja-JP" altLang="en-US" sz="1050" b="1" dirty="0">
                <a:solidFill>
                  <a:srgbClr val="FF0000"/>
                </a:solidFill>
                <a:latin typeface="メイリオ" panose="020B0604030504040204" pitchFamily="50" charset="-128"/>
                <a:ea typeface="メイリオ" panose="020B0604030504040204" pitchFamily="50" charset="-128"/>
              </a:rPr>
              <a:t>検索</a:t>
            </a:r>
            <a:r>
              <a:rPr lang="en-US" altLang="ja-JP" sz="1050" b="1" dirty="0">
                <a:solidFill>
                  <a:srgbClr val="FF0000"/>
                </a:solidFill>
                <a:latin typeface="メイリオ" panose="020B0604030504040204" pitchFamily="50" charset="-128"/>
                <a:ea typeface="メイリオ" panose="020B0604030504040204" pitchFamily="50" charset="-128"/>
              </a:rPr>
              <a:t>Vol:</a:t>
            </a:r>
            <a:r>
              <a:rPr lang="ja-JP" altLang="en-US" sz="1050" b="1" dirty="0">
                <a:solidFill>
                  <a:srgbClr val="FF0000"/>
                </a:solidFill>
                <a:latin typeface="メイリオ" panose="020B0604030504040204" pitchFamily="50" charset="-128"/>
                <a:ea typeface="メイリオ" panose="020B0604030504040204" pitchFamily="50" charset="-128"/>
              </a:rPr>
              <a:t>多</a:t>
            </a:r>
            <a:endParaRPr kumimoji="1" lang="ja-JP" altLang="en-US" sz="1050" b="1" dirty="0">
              <a:solidFill>
                <a:srgbClr val="FF0000"/>
              </a:solidFill>
              <a:latin typeface="メイリオ" panose="020B0604030504040204" pitchFamily="50" charset="-128"/>
              <a:ea typeface="メイリオ" panose="020B0604030504040204" pitchFamily="50" charset="-128"/>
            </a:endParaRPr>
          </a:p>
        </p:txBody>
      </p:sp>
      <p:pic>
        <p:nvPicPr>
          <p:cNvPr id="853" name="Picture 852" descr="sunao_zengo_toushi_seminar_color.png"/>
          <p:cNvPicPr>
            <a:picLocks noChangeAspect="1"/>
          </p:cNvPicPr>
          <p:nvPr/>
        </p:nvPicPr>
        <p:blipFill>
          <a:blip r:embed="rId5"/>
          <a:stretch>
            <a:fillRect/>
          </a:stretch>
        </p:blipFill>
        <p:spPr>
          <a:xfrm>
            <a:off x="868680" y="2157984"/>
            <a:ext cx="7040880" cy="4108353"/>
          </a:xfrm>
          <a:prstGeom prst="rect">
            <a:avLst/>
          </a:prstGeom>
        </p:spPr>
      </p:pic>
      <p:sp>
        <p:nvSpPr>
          <p:cNvPr id="267" name="正方形/長方形 266">
            <a:extLst>
              <a:ext uri="{FF2B5EF4-FFF2-40B4-BE49-F238E27FC236}">
                <a16:creationId xmlns:a16="http://schemas.microsoft.com/office/drawing/2014/main" id="{AD15A6B3-E0B8-2B6E-5872-4F23BABCE27E}"/>
              </a:ext>
            </a:extLst>
          </p:cNvPr>
          <p:cNvSpPr/>
          <p:nvPr/>
        </p:nvSpPr>
        <p:spPr>
          <a:xfrm>
            <a:off x="4494733" y="1700784"/>
            <a:ext cx="823782" cy="4565553"/>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8" name="図 267" descr="LINE公式アカウントのロゴを活用しよう！注意点やNG例も合わせて解説 - LINEマーケティングツールFANVO">
            <a:extLst>
              <a:ext uri="{FF2B5EF4-FFF2-40B4-BE49-F238E27FC236}">
                <a16:creationId xmlns:a16="http://schemas.microsoft.com/office/drawing/2014/main" id="{4024ED2F-A038-044E-2128-7BF7E408248D}"/>
              </a:ext>
            </a:extLst>
          </p:cNvPr>
          <p:cNvPicPr>
            <a:picLocks noChangeAspect="1"/>
          </p:cNvPicPr>
          <p:nvPr/>
        </p:nvPicPr>
        <p:blipFill>
          <a:blip r:embed="rId3"/>
          <a:stretch>
            <a:fillRect/>
          </a:stretch>
        </p:blipFill>
        <p:spPr>
          <a:xfrm>
            <a:off x="4357573" y="1580689"/>
            <a:ext cx="419340" cy="418460"/>
          </a:xfrm>
          <a:prstGeom prst="rect">
            <a:avLst/>
          </a:prstGeom>
        </p:spPr>
      </p:pic>
      <p:sp>
        <p:nvSpPr>
          <p:cNvPr id="269" name="テキスト ボックス 268">
            <a:extLst>
              <a:ext uri="{FF2B5EF4-FFF2-40B4-BE49-F238E27FC236}">
                <a16:creationId xmlns:a16="http://schemas.microsoft.com/office/drawing/2014/main" id="{3EAD58A7-446F-1E3A-A612-6D6F889B81B1}"/>
              </a:ext>
            </a:extLst>
          </p:cNvPr>
          <p:cNvSpPr txBox="1"/>
          <p:nvPr/>
        </p:nvSpPr>
        <p:spPr>
          <a:xfrm>
            <a:off x="4686757" y="1744562"/>
            <a:ext cx="1195820" cy="430887"/>
          </a:xfrm>
          <a:prstGeom prst="rect">
            <a:avLst/>
          </a:prstGeom>
          <a:noFill/>
        </p:spPr>
        <p:txBody>
          <a:bodyPr wrap="square">
            <a:spAutoFit/>
          </a:bodyPr>
          <a:lstStyle/>
          <a:p>
            <a:r>
              <a:rPr lang="en-US" altLang="ja-JP" sz="1100" b="1" dirty="0">
                <a:latin typeface="Meiryo"/>
                <a:ea typeface="Meiryo"/>
                <a:cs typeface="Meiryo"/>
                <a:sym typeface="Meiryo"/>
              </a:rPr>
              <a:t>OA</a:t>
            </a:r>
            <a:r>
              <a:rPr lang="ja-JP" altLang="en-US" sz="1100" b="1" dirty="0">
                <a:latin typeface="Meiryo"/>
                <a:ea typeface="Meiryo"/>
                <a:cs typeface="Meiryo"/>
                <a:sym typeface="Meiryo"/>
              </a:rPr>
              <a:t>追加想定</a:t>
            </a:r>
            <a:endParaRPr lang="en-US" altLang="ja-JP" sz="1100" b="1" dirty="0">
              <a:latin typeface="Meiryo"/>
              <a:ea typeface="Meiryo"/>
              <a:cs typeface="Meiryo"/>
              <a:sym typeface="Meiryo"/>
            </a:endParaRPr>
          </a:p>
          <a:p>
            <a:r>
              <a:rPr lang="en-US" altLang="ja-JP" sz="1000" b="1" dirty="0">
                <a:solidFill>
                  <a:srgbClr val="00B050"/>
                </a:solidFill>
                <a:latin typeface="Meiryo"/>
                <a:ea typeface="Meiryo"/>
                <a:sym typeface="Meiryo"/>
              </a:rPr>
              <a:t>※</a:t>
            </a:r>
            <a:r>
              <a:rPr lang="ja-JP" altLang="en-US" sz="1000" b="1" dirty="0">
                <a:solidFill>
                  <a:srgbClr val="00B050"/>
                </a:solidFill>
                <a:latin typeface="Meiryo"/>
                <a:ea typeface="Meiryo"/>
                <a:sym typeface="Meiryo"/>
              </a:rPr>
              <a:t>検索</a:t>
            </a:r>
            <a:r>
              <a:rPr lang="en-US" altLang="ja-JP" sz="1000" b="1" dirty="0">
                <a:solidFill>
                  <a:srgbClr val="00B050"/>
                </a:solidFill>
                <a:latin typeface="Meiryo"/>
                <a:ea typeface="Meiryo"/>
                <a:sym typeface="Meiryo"/>
              </a:rPr>
              <a:t>0-1</a:t>
            </a:r>
            <a:r>
              <a:rPr lang="ja-JP" altLang="en-US" sz="1000" b="1" dirty="0">
                <a:solidFill>
                  <a:srgbClr val="00B050"/>
                </a:solidFill>
                <a:latin typeface="Meiryo"/>
                <a:ea typeface="Meiryo"/>
                <a:sym typeface="Meiryo"/>
              </a:rPr>
              <a:t>日後</a:t>
            </a:r>
            <a:endParaRPr lang="ja-JP" altLang="en-US" sz="1050" dirty="0">
              <a:solidFill>
                <a:srgbClr val="00B050"/>
              </a:solidFill>
            </a:endParaRPr>
          </a:p>
        </p:txBody>
      </p:sp>
      <p:pic>
        <p:nvPicPr>
          <p:cNvPr id="849" name="図 848" descr="LINEヤフー株式会社」発足 | LINEヤフー株式会社のプレスリリース">
            <a:extLst>
              <a:ext uri="{FF2B5EF4-FFF2-40B4-BE49-F238E27FC236}">
                <a16:creationId xmlns:a16="http://schemas.microsoft.com/office/drawing/2014/main" id="{60D7FCFC-3E1E-701A-1303-62D7A9D128FA}"/>
              </a:ext>
            </a:extLst>
          </p:cNvPr>
          <p:cNvPicPr>
            <a:picLocks noChangeAspect="1"/>
          </p:cNvPicPr>
          <p:nvPr/>
        </p:nvPicPr>
        <p:blipFill>
          <a:blip r:embed="rId4"/>
          <a:stretch>
            <a:fillRect/>
          </a:stretch>
        </p:blipFill>
        <p:spPr>
          <a:xfrm>
            <a:off x="46676" y="1461167"/>
            <a:ext cx="1005885" cy="288352"/>
          </a:xfrm>
          <a:prstGeom prst="rect">
            <a:avLst/>
          </a:prstGeom>
        </p:spPr>
      </p:pic>
      <p:sp>
        <p:nvSpPr>
          <p:cNvPr id="850" name="テキスト ボックス 849">
            <a:extLst>
              <a:ext uri="{FF2B5EF4-FFF2-40B4-BE49-F238E27FC236}">
                <a16:creationId xmlns:a16="http://schemas.microsoft.com/office/drawing/2014/main" id="{3A261F00-4A8B-21CB-F7B0-8CC632CF7CDD}"/>
              </a:ext>
            </a:extLst>
          </p:cNvPr>
          <p:cNvSpPr txBox="1"/>
          <p:nvPr/>
        </p:nvSpPr>
        <p:spPr>
          <a:xfrm>
            <a:off x="1009178" y="1497381"/>
            <a:ext cx="4962524" cy="253916"/>
          </a:xfrm>
          <a:prstGeom prst="rect">
            <a:avLst/>
          </a:prstGeom>
          <a:noFill/>
        </p:spPr>
        <p:txBody>
          <a:bodyPr wrap="square">
            <a:spAutoFit/>
          </a:bodyPr>
          <a:lstStyle/>
          <a:p>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上位代理店限定での公開データ</a:t>
            </a:r>
          </a:p>
        </p:txBody>
      </p:sp>
      <p:sp>
        <p:nvSpPr>
          <p:cNvPr id="851" name="テキスト ボックス 850">
            <a:extLst>
              <a:ext uri="{FF2B5EF4-FFF2-40B4-BE49-F238E27FC236}">
                <a16:creationId xmlns:a16="http://schemas.microsoft.com/office/drawing/2014/main" id="{3BD55E69-4725-07C2-26E9-B6484FEEF81E}"/>
              </a:ext>
            </a:extLst>
          </p:cNvPr>
          <p:cNvSpPr txBox="1"/>
          <p:nvPr/>
        </p:nvSpPr>
        <p:spPr>
          <a:xfrm>
            <a:off x="1646576" y="2519059"/>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852" name="正方形/長方形 851">
            <a:extLst>
              <a:ext uri="{FF2B5EF4-FFF2-40B4-BE49-F238E27FC236}">
                <a16:creationId xmlns:a16="http://schemas.microsoft.com/office/drawing/2014/main" id="{461533CA-41F7-8934-E587-4E31271808B7}"/>
              </a:ext>
            </a:extLst>
          </p:cNvPr>
          <p:cNvSpPr/>
          <p:nvPr/>
        </p:nvSpPr>
        <p:spPr>
          <a:xfrm>
            <a:off x="1397588" y="2213387"/>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投資セミナー</a:t>
            </a:r>
          </a:p>
        </p:txBody>
      </p:sp>
      <p:sp>
        <p:nvSpPr>
          <p:cNvPr id="3" name="矢印: 下 2">
            <a:extLst>
              <a:ext uri="{FF2B5EF4-FFF2-40B4-BE49-F238E27FC236}">
                <a16:creationId xmlns:a16="http://schemas.microsoft.com/office/drawing/2014/main" id="{4F31925E-982C-C749-2736-F69C9019276B}"/>
              </a:ext>
            </a:extLst>
          </p:cNvPr>
          <p:cNvSpPr/>
          <p:nvPr/>
        </p:nvSpPr>
        <p:spPr>
          <a:xfrm rot="16200000">
            <a:off x="7818572" y="4034181"/>
            <a:ext cx="792480" cy="586887"/>
          </a:xfrm>
          <a:prstGeom prst="downArrow">
            <a:avLst/>
          </a:prstGeom>
          <a:gradFill>
            <a:gsLst>
              <a:gs pos="4000">
                <a:schemeClr val="bg1">
                  <a:alpha val="70000"/>
                </a:schemeClr>
              </a:gs>
              <a:gs pos="100000">
                <a:schemeClr val="accent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67EC0E9-2D4D-AC08-2177-AA06F517920B}"/>
              </a:ext>
            </a:extLst>
          </p:cNvPr>
          <p:cNvSpPr txBox="1"/>
          <p:nvPr/>
        </p:nvSpPr>
        <p:spPr>
          <a:xfrm>
            <a:off x="8439270" y="4065718"/>
            <a:ext cx="1461731" cy="523220"/>
          </a:xfrm>
          <a:prstGeom prst="rect">
            <a:avLst/>
          </a:prstGeom>
          <a:noFill/>
        </p:spPr>
        <p:txBody>
          <a:bodyPr wrap="square">
            <a:spAutoFit/>
          </a:bodyPr>
          <a:lstStyle/>
          <a:p>
            <a:r>
              <a:rPr lang="ja-JP" altLang="en-US" sz="800" b="1" dirty="0">
                <a:latin typeface="メイリオ" panose="020B0604030504040204" pitchFamily="50" charset="-128"/>
                <a:ea typeface="メイリオ" panose="020B0604030504040204" pitchFamily="50" charset="-128"/>
              </a:rPr>
              <a:t>16日以降へ</a:t>
            </a:r>
            <a:endParaRPr lang="en-US" altLang="ja-JP" sz="800" dirty="0">
              <a:latin typeface="メイリオ" panose="020B0604030504040204" pitchFamily="50" charset="-128"/>
              <a:ea typeface="メイリオ" panose="020B0604030504040204" pitchFamily="50" charset="-128"/>
            </a:endParaRPr>
          </a:p>
          <a:p>
            <a:r>
              <a:rPr lang="ja-JP" altLang="en-US" sz="800" b="1" dirty="0">
                <a:latin typeface="メイリオ" panose="020B0604030504040204" pitchFamily="50" charset="-128"/>
                <a:ea typeface="メイリオ" panose="020B0604030504040204" pitchFamily="50" charset="-128"/>
              </a:rPr>
              <a:t/>
            </a:r>
            <a:endParaRPr lang="en-US" altLang="ja-JP" sz="800" dirty="0">
              <a:latin typeface="メイリオ" panose="020B0604030504040204" pitchFamily="50" charset="-128"/>
              <a:ea typeface="メイリオ" panose="020B0604030504040204" pitchFamily="50" charset="-128"/>
            </a:endParaRPr>
          </a:p>
          <a:p>
            <a:r>
              <a:rPr lang="ja-JP" altLang="en-US" sz="800" b="1" dirty="0">
                <a:latin typeface="メイリオ" panose="020B0604030504040204" pitchFamily="50" charset="-128"/>
                <a:ea typeface="メイリオ" panose="020B0604030504040204" pitchFamily="50" charset="-128"/>
              </a:rPr>
              <a:t>（企画配信で</a:t>
            </a:r>
            <a:endParaRPr lang="en-US" altLang="ja-JP" sz="800" dirty="0">
              <a:latin typeface="メイリオ" panose="020B0604030504040204" pitchFamily="50" charset="-128"/>
              <a:ea typeface="メイリオ" panose="020B0604030504040204" pitchFamily="50" charset="-128"/>
            </a:endParaRPr>
          </a:p>
          <a:p>
            <a:r>
              <a:rPr lang="ja-JP" altLang="en-US" sz="800" b="1" dirty="0">
                <a:latin typeface="メイリオ" panose="020B0604030504040204" pitchFamily="50" charset="-128"/>
                <a:ea typeface="メイリオ" panose="020B0604030504040204" pitchFamily="50" charset="-128"/>
              </a:rPr>
              <a:t>再アプローチ）</a:t>
            </a:r>
            <a:endParaRPr lang="en-US" altLang="ja-JP" sz="800" dirty="0">
              <a:latin typeface="メイリオ" panose="020B0604030504040204" pitchFamily="50" charset="-128"/>
              <a:ea typeface="メイリオ" panose="020B0604030504040204" pitchFamily="50" charset="-128"/>
            </a:endParaRPr>
          </a:p>
        </p:txBody>
      </p:sp>
      <p:sp>
        <p:nvSpPr>
          <p:cNvPr id="854" name="Rectangle 853"/>
          <p:cNvSpPr/>
          <p:nvPr/>
        </p:nvSpPr>
        <p:spPr>
          <a:xfrm>
            <a:off x="8065008" y="1847088"/>
            <a:ext cx="1691640" cy="274320"/>
          </a:xfrm>
          <a:prstGeom prst="rect">
            <a:avLst/>
          </a:prstGeom>
          <a:solidFill>
            <a:srgbClr val="3467B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050" b="1">
                <a:solidFill>
                  <a:srgbClr val="FFFFFF"/>
                </a:solidFill>
                <a:latin typeface="メイリオ"/>
                <a:ea typeface="メイリオ"/>
                <a:cs typeface="メイリオ"/>
              </a:rPr>
              <a:t>比べる：ほかのセミナー</a:t>
            </a:r>
          </a:p>
        </p:txBody>
      </p:sp>
      <p:sp>
        <p:nvSpPr>
          <p:cNvPr id="855" name="Rectangle 854"/>
          <p:cNvSpPr/>
          <p:nvPr/>
        </p:nvSpPr>
        <p:spPr>
          <a:xfrm>
            <a:off x="8065008" y="2176272"/>
            <a:ext cx="1691640" cy="274320"/>
          </a:xfrm>
          <a:prstGeom prst="rect">
            <a:avLst/>
          </a:prstGeom>
          <a:solidFill>
            <a:srgbClr val="8E4EC6"/>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050" b="1">
                <a:solidFill>
                  <a:srgbClr val="FFFFFF"/>
                </a:solidFill>
                <a:latin typeface="メイリオ"/>
                <a:ea typeface="メイリオ"/>
                <a:cs typeface="メイリオ"/>
              </a:rPr>
              <a:t>確かめる：不安・安全性</a:t>
            </a:r>
          </a:p>
        </p:txBody>
      </p:sp>
      <p:sp>
        <p:nvSpPr>
          <p:cNvPr id="856" name="Rectangle 855"/>
          <p:cNvSpPr/>
          <p:nvPr/>
        </p:nvSpPr>
        <p:spPr>
          <a:xfrm>
            <a:off x="8065008" y="2505456"/>
            <a:ext cx="1691640" cy="274320"/>
          </a:xfrm>
          <a:prstGeom prst="rect">
            <a:avLst/>
          </a:prstGeom>
          <a:solidFill>
            <a:srgbClr val="00897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050" b="1">
                <a:solidFill>
                  <a:srgbClr val="FFFFFF"/>
                </a:solidFill>
                <a:latin typeface="メイリオ"/>
                <a:ea typeface="メイリオ"/>
                <a:cs typeface="メイリオ"/>
              </a:rPr>
              <a:t>始める：始め方</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セミナーを探した直後から不安を順に解消し、</a:t>
            </a:r>
          </a:p>
          <a:p>
            <a:r>
              <a:rPr lang="ja-JP" altLang="en-US" sz="1600" b="1" dirty="0">
                <a:latin typeface="メイリオ" panose="020B0604030504040204" pitchFamily="50" charset="-128"/>
                <a:ea typeface="メイリオ" panose="020B0604030504040204" pitchFamily="50" charset="-128"/>
                <a:cs typeface="Meiryo"/>
                <a:sym typeface="Meiryo"/>
              </a:rPr>
              <a:t>15日以内にCV（セミナー予約）へつなげる配信を設計。</a:t>
            </a:r>
          </a:p>
        </p:txBody>
      </p:sp>
      <p:sp>
        <p:nvSpPr>
          <p:cNvPr id="11" name="Rectangle 10"/>
          <p:cNvSpPr/>
          <p:nvPr/>
        </p:nvSpPr>
        <p:spPr>
          <a:xfrm>
            <a:off x="384048"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2" name="Rectangle 11"/>
          <p:cNvSpPr/>
          <p:nvPr/>
        </p:nvSpPr>
        <p:spPr>
          <a:xfrm>
            <a:off x="384048"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0日目</a:t>
            </a:r>
          </a:p>
          <a:p>
            <a:pPr algn="ctr">
              <a:lnSpc>
                <a:spcPct val="110000"/>
              </a:lnSpc>
              <a:spcAft>
                <a:spcPts val="0"/>
              </a:spcAft>
            </a:pPr>
            <a:r>
              <a:rPr sz="1050" b="0">
                <a:solidFill>
                  <a:srgbClr val="FFFFFF"/>
                </a:solidFill>
                <a:latin typeface="メイリオ"/>
                <a:ea typeface="メイリオ"/>
                <a:cs typeface="メイリオ"/>
              </a:rPr>
              <a:t>追加直後：診断</a:t>
            </a:r>
          </a:p>
        </p:txBody>
      </p:sp>
      <p:sp>
        <p:nvSpPr>
          <p:cNvPr id="13" name="Rectangle 12"/>
          <p:cNvSpPr/>
          <p:nvPr/>
        </p:nvSpPr>
        <p:spPr>
          <a:xfrm>
            <a:off x="457200"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ご登録ありがとう</a:t>
            </a:r>
          </a:p>
          <a:p>
            <a:pPr algn="ctr">
              <a:lnSpc>
                <a:spcPct val="110000"/>
              </a:lnSpc>
              <a:spcAft>
                <a:spcPts val="0"/>
              </a:spcAft>
            </a:pPr>
            <a:r>
              <a:rPr sz="1200" b="1">
                <a:solidFill>
                  <a:srgbClr val="1F2A5C"/>
                </a:solidFill>
                <a:latin typeface="メイリオ"/>
                <a:ea typeface="メイリオ"/>
                <a:cs typeface="メイリオ"/>
              </a:rPr>
              <a:t>ございます！</a:t>
            </a:r>
          </a:p>
        </p:txBody>
      </p:sp>
      <p:sp>
        <p:nvSpPr>
          <p:cNvPr id="14" name="Rectangle 13"/>
          <p:cNvSpPr/>
          <p:nvPr/>
        </p:nvSpPr>
        <p:spPr>
          <a:xfrm>
            <a:off x="457200"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参加特典のご案内</a:t>
            </a:r>
          </a:p>
          <a:p>
            <a:pPr algn="ctr">
              <a:lnSpc>
                <a:spcPct val="110000"/>
              </a:lnSpc>
              <a:spcAft>
                <a:spcPts val="0"/>
              </a:spcAft>
            </a:pPr>
            <a:r>
              <a:rPr sz="1100" b="0">
                <a:solidFill>
                  <a:srgbClr val="333333"/>
                </a:solidFill>
                <a:latin typeface="メイリオ"/>
                <a:ea typeface="メイリオ"/>
                <a:cs typeface="メイリオ"/>
              </a:rPr>
              <a:t>2問の診断で関心を確認</a:t>
            </a:r>
          </a:p>
        </p:txBody>
      </p:sp>
      <p:sp>
        <p:nvSpPr>
          <p:cNvPr id="15" name="Rectangle 14"/>
          <p:cNvSpPr/>
          <p:nvPr/>
        </p:nvSpPr>
        <p:spPr>
          <a:xfrm>
            <a:off x="475488"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—（診断の答えで出し分け）</a:t>
            </a:r>
          </a:p>
        </p:txBody>
      </p:sp>
      <p:sp>
        <p:nvSpPr>
          <p:cNvPr id="16" name="Rectangle 15"/>
          <p:cNvSpPr/>
          <p:nvPr/>
        </p:nvSpPr>
        <p:spPr>
          <a:xfrm>
            <a:off x="612647"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2問で診断する</a:t>
            </a:r>
          </a:p>
        </p:txBody>
      </p:sp>
      <p:sp>
        <p:nvSpPr>
          <p:cNvPr id="17" name="Rectangle 16"/>
          <p:cNvSpPr/>
          <p:nvPr/>
        </p:nvSpPr>
        <p:spPr>
          <a:xfrm>
            <a:off x="2688336"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8" name="Rectangle 17"/>
          <p:cNvSpPr/>
          <p:nvPr/>
        </p:nvSpPr>
        <p:spPr>
          <a:xfrm>
            <a:off x="2688336"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2日目</a:t>
            </a:r>
          </a:p>
          <a:p>
            <a:pPr algn="ctr">
              <a:lnSpc>
                <a:spcPct val="110000"/>
              </a:lnSpc>
              <a:spcAft>
                <a:spcPts val="0"/>
              </a:spcAft>
            </a:pPr>
            <a:r>
              <a:rPr sz="1050" b="0">
                <a:solidFill>
                  <a:srgbClr val="FFFFFF"/>
                </a:solidFill>
                <a:latin typeface="メイリオ"/>
                <a:ea typeface="メイリオ"/>
                <a:cs typeface="メイリオ"/>
              </a:rPr>
              <a:t>比べる</a:t>
            </a:r>
          </a:p>
        </p:txBody>
      </p:sp>
      <p:sp>
        <p:nvSpPr>
          <p:cNvPr id="19" name="Rectangle 18"/>
          <p:cNvSpPr/>
          <p:nvPr/>
        </p:nvSpPr>
        <p:spPr>
          <a:xfrm>
            <a:off x="2761488"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ほかのセミナーと、</a:t>
            </a:r>
          </a:p>
          <a:p>
            <a:pPr algn="ctr">
              <a:lnSpc>
                <a:spcPct val="110000"/>
              </a:lnSpc>
              <a:spcAft>
                <a:spcPts val="0"/>
              </a:spcAft>
            </a:pPr>
            <a:r>
              <a:rPr sz="1200" b="1">
                <a:solidFill>
                  <a:srgbClr val="1F2A5C"/>
                </a:solidFill>
                <a:latin typeface="メイリオ"/>
                <a:ea typeface="メイリオ"/>
                <a:cs typeface="メイリオ"/>
              </a:rPr>
              <a:t>ここが違います</a:t>
            </a:r>
          </a:p>
        </p:txBody>
      </p:sp>
      <p:sp>
        <p:nvSpPr>
          <p:cNvPr id="20" name="Rectangle 19"/>
          <p:cNvSpPr/>
          <p:nvPr/>
        </p:nvSpPr>
        <p:spPr>
          <a:xfrm>
            <a:off x="2761488"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両想い営業・ライフプラン</a:t>
            </a:r>
          </a:p>
          <a:p>
            <a:pPr algn="ctr">
              <a:lnSpc>
                <a:spcPct val="110000"/>
              </a:lnSpc>
              <a:spcAft>
                <a:spcPts val="0"/>
              </a:spcAft>
            </a:pPr>
            <a:r>
              <a:rPr sz="1100" b="0">
                <a:solidFill>
                  <a:srgbClr val="333333"/>
                </a:solidFill>
                <a:latin typeface="メイリオ"/>
                <a:ea typeface="メイリオ"/>
                <a:cs typeface="メイリオ"/>
              </a:rPr>
              <a:t>ブロックを動画で紹介</a:t>
            </a:r>
          </a:p>
        </p:txBody>
      </p:sp>
      <p:sp>
        <p:nvSpPr>
          <p:cNvPr id="21" name="Rectangle 20"/>
          <p:cNvSpPr/>
          <p:nvPr/>
        </p:nvSpPr>
        <p:spPr>
          <a:xfrm>
            <a:off x="2779776"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検索した日に「投資セミナー 東京」「資産運用セミナー」と比べている</a:t>
            </a:r>
          </a:p>
        </p:txBody>
      </p:sp>
      <p:sp>
        <p:nvSpPr>
          <p:cNvPr id="22" name="Rectangle 21"/>
          <p:cNvSpPr/>
          <p:nvPr/>
        </p:nvSpPr>
        <p:spPr>
          <a:xfrm>
            <a:off x="2916936"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見どころ動画を見る</a:t>
            </a:r>
          </a:p>
        </p:txBody>
      </p:sp>
      <p:sp>
        <p:nvSpPr>
          <p:cNvPr id="23" name="Rectangle 22"/>
          <p:cNvSpPr/>
          <p:nvPr/>
        </p:nvSpPr>
        <p:spPr>
          <a:xfrm>
            <a:off x="4992624"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24" name="Rectangle 23"/>
          <p:cNvSpPr/>
          <p:nvPr/>
        </p:nvSpPr>
        <p:spPr>
          <a:xfrm>
            <a:off x="4992624"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4日目</a:t>
            </a:r>
          </a:p>
          <a:p>
            <a:pPr algn="ctr">
              <a:lnSpc>
                <a:spcPct val="110000"/>
              </a:lnSpc>
              <a:spcAft>
                <a:spcPts val="0"/>
              </a:spcAft>
            </a:pPr>
            <a:r>
              <a:rPr sz="1050" b="0">
                <a:solidFill>
                  <a:srgbClr val="FFFFFF"/>
                </a:solidFill>
                <a:latin typeface="メイリオ"/>
                <a:ea typeface="メイリオ"/>
                <a:cs typeface="メイリオ"/>
              </a:rPr>
              <a:t>確かめる</a:t>
            </a:r>
          </a:p>
        </p:txBody>
      </p:sp>
      <p:sp>
        <p:nvSpPr>
          <p:cNvPr id="25" name="Rectangle 24"/>
          <p:cNvSpPr/>
          <p:nvPr/>
        </p:nvSpPr>
        <p:spPr>
          <a:xfrm>
            <a:off x="5065776"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安心してご参加ください</a:t>
            </a:r>
          </a:p>
        </p:txBody>
      </p:sp>
      <p:sp>
        <p:nvSpPr>
          <p:cNvPr id="26" name="Rectangle 25"/>
          <p:cNvSpPr/>
          <p:nvPr/>
        </p:nvSpPr>
        <p:spPr>
          <a:xfrm>
            <a:off x="5065776"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講師の経歴と実績</a:t>
            </a:r>
          </a:p>
          <a:p>
            <a:pPr algn="ctr">
              <a:lnSpc>
                <a:spcPct val="110000"/>
              </a:lnSpc>
              <a:spcAft>
                <a:spcPts val="0"/>
              </a:spcAft>
            </a:pPr>
            <a:r>
              <a:rPr sz="1100" b="0">
                <a:solidFill>
                  <a:srgbClr val="333333"/>
                </a:solidFill>
                <a:latin typeface="メイリオ"/>
                <a:ea typeface="メイリオ"/>
                <a:cs typeface="メイリオ"/>
              </a:rPr>
              <a:t>参加は無料</a:t>
            </a:r>
          </a:p>
        </p:txBody>
      </p:sp>
      <p:sp>
        <p:nvSpPr>
          <p:cNvPr id="27" name="Rectangle 26"/>
          <p:cNvSpPr/>
          <p:nvPr/>
        </p:nvSpPr>
        <p:spPr>
          <a:xfrm>
            <a:off x="5084064"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検索した日に「投資詐欺」「金融庁」で不安を確かめている</a:t>
            </a:r>
          </a:p>
        </p:txBody>
      </p:sp>
      <p:sp>
        <p:nvSpPr>
          <p:cNvPr id="28" name="Rectangle 27"/>
          <p:cNvSpPr/>
          <p:nvPr/>
        </p:nvSpPr>
        <p:spPr>
          <a:xfrm>
            <a:off x="5221224"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講師紹介を見る</a:t>
            </a:r>
          </a:p>
        </p:txBody>
      </p:sp>
      <p:sp>
        <p:nvSpPr>
          <p:cNvPr id="29" name="Rectangle 28"/>
          <p:cNvSpPr/>
          <p:nvPr/>
        </p:nvSpPr>
        <p:spPr>
          <a:xfrm>
            <a:off x="7296912"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0" name="Rectangle 29"/>
          <p:cNvSpPr/>
          <p:nvPr/>
        </p:nvSpPr>
        <p:spPr>
          <a:xfrm>
            <a:off x="7296912"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6日目</a:t>
            </a:r>
          </a:p>
          <a:p>
            <a:pPr algn="ctr">
              <a:lnSpc>
                <a:spcPct val="110000"/>
              </a:lnSpc>
              <a:spcAft>
                <a:spcPts val="0"/>
              </a:spcAft>
            </a:pPr>
            <a:r>
              <a:rPr sz="1050" b="0">
                <a:solidFill>
                  <a:srgbClr val="FFFFFF"/>
                </a:solidFill>
                <a:latin typeface="メイリオ"/>
                <a:ea typeface="メイリオ"/>
                <a:cs typeface="メイリオ"/>
              </a:rPr>
              <a:t>始める</a:t>
            </a:r>
          </a:p>
        </p:txBody>
      </p:sp>
      <p:sp>
        <p:nvSpPr>
          <p:cNvPr id="31" name="Rectangle 30"/>
          <p:cNvSpPr/>
          <p:nvPr/>
        </p:nvSpPr>
        <p:spPr>
          <a:xfrm>
            <a:off x="7370064"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セミナーで持ち帰れること</a:t>
            </a:r>
          </a:p>
        </p:txBody>
      </p:sp>
      <p:sp>
        <p:nvSpPr>
          <p:cNvPr id="32" name="Rectangle 31"/>
          <p:cNvSpPr/>
          <p:nvPr/>
        </p:nvSpPr>
        <p:spPr>
          <a:xfrm>
            <a:off x="7370064"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週2日で成果を出す</a:t>
            </a:r>
          </a:p>
          <a:p>
            <a:pPr algn="ctr">
              <a:lnSpc>
                <a:spcPct val="110000"/>
              </a:lnSpc>
              <a:spcAft>
                <a:spcPts val="0"/>
              </a:spcAft>
            </a:pPr>
            <a:r>
              <a:rPr sz="1100" b="0">
                <a:solidFill>
                  <a:srgbClr val="333333"/>
                </a:solidFill>
                <a:latin typeface="メイリオ"/>
                <a:ea typeface="メイリオ"/>
                <a:cs typeface="メイリオ"/>
              </a:rPr>
              <a:t>面談メソッド</a:t>
            </a:r>
          </a:p>
        </p:txBody>
      </p:sp>
      <p:sp>
        <p:nvSpPr>
          <p:cNvPr id="33" name="Rectangle 32"/>
          <p:cNvSpPr/>
          <p:nvPr/>
        </p:nvSpPr>
        <p:spPr>
          <a:xfrm>
            <a:off x="7388352"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1〜4日後に「口座開設」「nisa つみたて投資枠」など始め方を検索</a:t>
            </a:r>
          </a:p>
        </p:txBody>
      </p:sp>
      <p:sp>
        <p:nvSpPr>
          <p:cNvPr id="34" name="Rectangle 33"/>
          <p:cNvSpPr/>
          <p:nvPr/>
        </p:nvSpPr>
        <p:spPr>
          <a:xfrm>
            <a:off x="7525512"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内容を詳しく見る</a:t>
            </a:r>
          </a:p>
        </p:txBody>
      </p:sp>
      <p:sp>
        <p:nvSpPr>
          <p:cNvPr id="35" name="Rectangle 34"/>
          <p:cNvSpPr/>
          <p:nvPr/>
        </p:nvSpPr>
        <p:spPr>
          <a:xfrm>
            <a:off x="384048"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6" name="Rectangle 35"/>
          <p:cNvSpPr/>
          <p:nvPr/>
        </p:nvSpPr>
        <p:spPr>
          <a:xfrm>
            <a:off x="384048"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8日目</a:t>
            </a:r>
          </a:p>
          <a:p>
            <a:pPr algn="ctr">
              <a:lnSpc>
                <a:spcPct val="110000"/>
              </a:lnSpc>
              <a:spcAft>
                <a:spcPts val="0"/>
              </a:spcAft>
            </a:pPr>
            <a:r>
              <a:rPr sz="1050" b="0">
                <a:solidFill>
                  <a:srgbClr val="FFFFFF"/>
                </a:solidFill>
                <a:latin typeface="メイリオ"/>
                <a:ea typeface="メイリオ"/>
                <a:cs typeface="メイリオ"/>
              </a:rPr>
              <a:t>受講生の声</a:t>
            </a:r>
          </a:p>
        </p:txBody>
      </p:sp>
      <p:sp>
        <p:nvSpPr>
          <p:cNvPr id="37" name="Rectangle 36"/>
          <p:cNvSpPr/>
          <p:nvPr/>
        </p:nvSpPr>
        <p:spPr>
          <a:xfrm>
            <a:off x="457200"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同じ悩みから、</a:t>
            </a:r>
          </a:p>
          <a:p>
            <a:pPr algn="ctr">
              <a:lnSpc>
                <a:spcPct val="110000"/>
              </a:lnSpc>
              <a:spcAft>
                <a:spcPts val="0"/>
              </a:spcAft>
            </a:pPr>
            <a:r>
              <a:rPr sz="1200" b="1">
                <a:solidFill>
                  <a:srgbClr val="1F2A5C"/>
                </a:solidFill>
                <a:latin typeface="メイリオ"/>
                <a:ea typeface="メイリオ"/>
                <a:cs typeface="メイリオ"/>
              </a:rPr>
              <a:t>成果を出した方の声</a:t>
            </a:r>
          </a:p>
        </p:txBody>
      </p:sp>
      <p:sp>
        <p:nvSpPr>
          <p:cNvPr id="38" name="Rectangle 37"/>
          <p:cNvSpPr/>
          <p:nvPr/>
        </p:nvSpPr>
        <p:spPr>
          <a:xfrm>
            <a:off x="457200"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診断の答えに合わせる</a:t>
            </a:r>
          </a:p>
          <a:p>
            <a:pPr algn="ctr">
              <a:lnSpc>
                <a:spcPct val="110000"/>
              </a:lnSpc>
              <a:spcAft>
                <a:spcPts val="0"/>
              </a:spcAft>
            </a:pPr>
            <a:r>
              <a:rPr sz="1100" b="0">
                <a:solidFill>
                  <a:srgbClr val="333333"/>
                </a:solidFill>
                <a:latin typeface="メイリオ"/>
                <a:ea typeface="メイリオ"/>
                <a:cs typeface="メイリオ"/>
              </a:rPr>
              <a:t>（成約／紹介／働く時間）</a:t>
            </a:r>
          </a:p>
        </p:txBody>
      </p:sp>
      <p:sp>
        <p:nvSpPr>
          <p:cNvPr id="39" name="Rectangle 38"/>
          <p:cNvSpPr/>
          <p:nvPr/>
        </p:nvSpPr>
        <p:spPr>
          <a:xfrm>
            <a:off x="475488"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—（診断の答えで出し分け）</a:t>
            </a:r>
          </a:p>
        </p:txBody>
      </p:sp>
      <p:sp>
        <p:nvSpPr>
          <p:cNvPr id="40" name="Rectangle 39"/>
          <p:cNvSpPr/>
          <p:nvPr/>
        </p:nvSpPr>
        <p:spPr>
          <a:xfrm>
            <a:off x="612647"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受講生の声を見る</a:t>
            </a:r>
          </a:p>
        </p:txBody>
      </p:sp>
      <p:sp>
        <p:nvSpPr>
          <p:cNvPr id="41" name="Rectangle 40"/>
          <p:cNvSpPr/>
          <p:nvPr/>
        </p:nvSpPr>
        <p:spPr>
          <a:xfrm>
            <a:off x="2688336"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2" name="Rectangle 41"/>
          <p:cNvSpPr/>
          <p:nvPr/>
        </p:nvSpPr>
        <p:spPr>
          <a:xfrm>
            <a:off x="2688336"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10日目</a:t>
            </a:r>
          </a:p>
          <a:p>
            <a:pPr algn="ctr">
              <a:lnSpc>
                <a:spcPct val="110000"/>
              </a:lnSpc>
              <a:spcAft>
                <a:spcPts val="0"/>
              </a:spcAft>
            </a:pPr>
            <a:r>
              <a:rPr sz="1050" b="0">
                <a:solidFill>
                  <a:srgbClr val="FFFFFF"/>
                </a:solidFill>
                <a:latin typeface="メイリオ"/>
                <a:ea typeface="メイリオ"/>
                <a:cs typeface="メイリオ"/>
              </a:rPr>
              <a:t>よくある質問</a:t>
            </a:r>
          </a:p>
        </p:txBody>
      </p:sp>
      <p:sp>
        <p:nvSpPr>
          <p:cNvPr id="43" name="Rectangle 42"/>
          <p:cNvSpPr/>
          <p:nvPr/>
        </p:nvSpPr>
        <p:spPr>
          <a:xfrm>
            <a:off x="2761488"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参加前のよくある質問</a:t>
            </a:r>
          </a:p>
        </p:txBody>
      </p:sp>
      <p:sp>
        <p:nvSpPr>
          <p:cNvPr id="44" name="Rectangle 43"/>
          <p:cNvSpPr/>
          <p:nvPr/>
        </p:nvSpPr>
        <p:spPr>
          <a:xfrm>
            <a:off x="2761488"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地方からも参加できる</a:t>
            </a:r>
          </a:p>
          <a:p>
            <a:pPr algn="ctr">
              <a:lnSpc>
                <a:spcPct val="110000"/>
              </a:lnSpc>
              <a:spcAft>
                <a:spcPts val="0"/>
              </a:spcAft>
            </a:pPr>
            <a:r>
              <a:rPr sz="1100" b="0">
                <a:solidFill>
                  <a:srgbClr val="333333"/>
                </a:solidFill>
                <a:latin typeface="メイリオ"/>
                <a:ea typeface="メイリオ"/>
                <a:cs typeface="メイリオ"/>
              </a:rPr>
              <a:t>初心者でも分かる</a:t>
            </a:r>
          </a:p>
        </p:txBody>
      </p:sp>
      <p:sp>
        <p:nvSpPr>
          <p:cNvPr id="45" name="Rectangle 44"/>
          <p:cNvSpPr/>
          <p:nvPr/>
        </p:nvSpPr>
        <p:spPr>
          <a:xfrm>
            <a:off x="2779776"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7〜15日後も「インデックスファンド」など学びの検索が続く</a:t>
            </a:r>
          </a:p>
        </p:txBody>
      </p:sp>
      <p:sp>
        <p:nvSpPr>
          <p:cNvPr id="46" name="Rectangle 45"/>
          <p:cNvSpPr/>
          <p:nvPr/>
        </p:nvSpPr>
        <p:spPr>
          <a:xfrm>
            <a:off x="2916936"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よくある質問を見る</a:t>
            </a:r>
          </a:p>
        </p:txBody>
      </p:sp>
      <p:sp>
        <p:nvSpPr>
          <p:cNvPr id="47" name="Rectangle 46"/>
          <p:cNvSpPr/>
          <p:nvPr/>
        </p:nvSpPr>
        <p:spPr>
          <a:xfrm>
            <a:off x="4992624"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Rectangle 47"/>
          <p:cNvSpPr/>
          <p:nvPr/>
        </p:nvSpPr>
        <p:spPr>
          <a:xfrm>
            <a:off x="4992624"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12日目</a:t>
            </a:r>
          </a:p>
          <a:p>
            <a:pPr algn="ctr">
              <a:lnSpc>
                <a:spcPct val="110000"/>
              </a:lnSpc>
              <a:spcAft>
                <a:spcPts val="0"/>
              </a:spcAft>
            </a:pPr>
            <a:r>
              <a:rPr sz="1050" b="0">
                <a:solidFill>
                  <a:srgbClr val="FFFFFF"/>
                </a:solidFill>
                <a:latin typeface="メイリオ"/>
                <a:ea typeface="メイリオ"/>
                <a:cs typeface="メイリオ"/>
              </a:rPr>
              <a:t>予約</a:t>
            </a:r>
          </a:p>
        </p:txBody>
      </p:sp>
      <p:sp>
        <p:nvSpPr>
          <p:cNvPr id="49" name="Rectangle 48"/>
          <p:cNvSpPr/>
          <p:nvPr/>
        </p:nvSpPr>
        <p:spPr>
          <a:xfrm>
            <a:off x="5065776"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次回セミナーのご案内</a:t>
            </a:r>
          </a:p>
        </p:txBody>
      </p:sp>
      <p:sp>
        <p:nvSpPr>
          <p:cNvPr id="50" name="Rectangle 49"/>
          <p:cNvSpPr/>
          <p:nvPr/>
        </p:nvSpPr>
        <p:spPr>
          <a:xfrm>
            <a:off x="5065776"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開催日程</a:t>
            </a:r>
          </a:p>
          <a:p>
            <a:pPr algn="ctr">
              <a:lnSpc>
                <a:spcPct val="110000"/>
              </a:lnSpc>
              <a:spcAft>
                <a:spcPts val="0"/>
              </a:spcAft>
            </a:pPr>
            <a:r>
              <a:rPr sz="1100" b="0">
                <a:solidFill>
                  <a:srgbClr val="333333"/>
                </a:solidFill>
                <a:latin typeface="メイリオ"/>
                <a:ea typeface="メイリオ"/>
                <a:cs typeface="メイリオ"/>
              </a:rPr>
              <a:t>予約ページ</a:t>
            </a:r>
          </a:p>
        </p:txBody>
      </p:sp>
      <p:sp>
        <p:nvSpPr>
          <p:cNvPr id="51" name="Rectangle 50"/>
          <p:cNvSpPr/>
          <p:nvPr/>
        </p:nvSpPr>
        <p:spPr>
          <a:xfrm>
            <a:off x="5084064"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—（募集期間に合わせて配信）</a:t>
            </a:r>
          </a:p>
        </p:txBody>
      </p:sp>
      <p:sp>
        <p:nvSpPr>
          <p:cNvPr id="52" name="Rectangle 51"/>
          <p:cNvSpPr/>
          <p:nvPr/>
        </p:nvSpPr>
        <p:spPr>
          <a:xfrm>
            <a:off x="5221224"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日程を見て予約する</a:t>
            </a:r>
          </a:p>
        </p:txBody>
      </p:sp>
      <p:sp>
        <p:nvSpPr>
          <p:cNvPr id="53" name="Rectangle 52"/>
          <p:cNvSpPr/>
          <p:nvPr/>
        </p:nvSpPr>
        <p:spPr>
          <a:xfrm>
            <a:off x="7296912"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Rectangle 53"/>
          <p:cNvSpPr/>
          <p:nvPr/>
        </p:nvSpPr>
        <p:spPr>
          <a:xfrm>
            <a:off x="7296912" y="3767328"/>
            <a:ext cx="2194560" cy="45720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14日目</a:t>
            </a:r>
          </a:p>
          <a:p>
            <a:pPr algn="ctr">
              <a:lnSpc>
                <a:spcPct val="110000"/>
              </a:lnSpc>
              <a:spcAft>
                <a:spcPts val="0"/>
              </a:spcAft>
            </a:pPr>
            <a:r>
              <a:rPr sz="1050" b="0">
                <a:solidFill>
                  <a:srgbClr val="FFFFFF"/>
                </a:solidFill>
                <a:latin typeface="メイリオ"/>
                <a:ea typeface="メイリオ"/>
                <a:cs typeface="メイリオ"/>
              </a:rPr>
              <a:t>締切</a:t>
            </a:r>
          </a:p>
        </p:txBody>
      </p:sp>
      <p:sp>
        <p:nvSpPr>
          <p:cNvPr id="55" name="Rectangle 54"/>
          <p:cNvSpPr/>
          <p:nvPr/>
        </p:nvSpPr>
        <p:spPr>
          <a:xfrm>
            <a:off x="7370064"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予約の締切が</a:t>
            </a:r>
          </a:p>
          <a:p>
            <a:pPr algn="ctr">
              <a:lnSpc>
                <a:spcPct val="110000"/>
              </a:lnSpc>
              <a:spcAft>
                <a:spcPts val="0"/>
              </a:spcAft>
            </a:pPr>
            <a:r>
              <a:rPr sz="1200" b="1">
                <a:solidFill>
                  <a:srgbClr val="1F2A5C"/>
                </a:solidFill>
                <a:latin typeface="メイリオ"/>
                <a:ea typeface="メイリオ"/>
                <a:cs typeface="メイリオ"/>
              </a:rPr>
              <a:t>近づいています</a:t>
            </a:r>
          </a:p>
        </p:txBody>
      </p:sp>
      <p:sp>
        <p:nvSpPr>
          <p:cNvPr id="56" name="Rectangle 55"/>
          <p:cNvSpPr/>
          <p:nvPr/>
        </p:nvSpPr>
        <p:spPr>
          <a:xfrm>
            <a:off x="7370064"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締切日のお知らせ</a:t>
            </a:r>
          </a:p>
          <a:p>
            <a:pPr algn="ctr">
              <a:lnSpc>
                <a:spcPct val="110000"/>
              </a:lnSpc>
              <a:spcAft>
                <a:spcPts val="0"/>
              </a:spcAft>
            </a:pPr>
            <a:r>
              <a:rPr sz="1100" b="0">
                <a:solidFill>
                  <a:srgbClr val="333333"/>
                </a:solidFill>
                <a:latin typeface="メイリオ"/>
                <a:ea typeface="メイリオ"/>
                <a:cs typeface="メイリオ"/>
              </a:rPr>
              <a:t>予約ページ</a:t>
            </a:r>
          </a:p>
        </p:txBody>
      </p:sp>
      <p:sp>
        <p:nvSpPr>
          <p:cNvPr id="57" name="Rectangle 56"/>
          <p:cNvSpPr/>
          <p:nvPr/>
        </p:nvSpPr>
        <p:spPr>
          <a:xfrm>
            <a:off x="7388352"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—（募集期間に合わせて配信）</a:t>
            </a:r>
          </a:p>
        </p:txBody>
      </p:sp>
      <p:sp>
        <p:nvSpPr>
          <p:cNvPr id="58" name="Rectangle 57"/>
          <p:cNvSpPr/>
          <p:nvPr/>
        </p:nvSpPr>
        <p:spPr>
          <a:xfrm>
            <a:off x="7525512"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予約する</a:t>
            </a:r>
          </a:p>
        </p:txBody>
      </p:sp>
      <p:sp>
        <p:nvSpPr>
          <p:cNvPr id="59" name="TextBox 58"/>
          <p:cNvSpPr txBox="1"/>
          <p:nvPr/>
        </p:nvSpPr>
        <p:spPr>
          <a:xfrm>
            <a:off x="420624" y="6016752"/>
            <a:ext cx="9052560" cy="45720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※募集期間外は、次回の案内開始時に届ける。入口（離脱防止ポップアップ／通常の友だち追加）で、0日目のあいさつの言葉を変える</a:t>
            </a:r>
          </a:p>
          <a:p>
            <a:pPr algn="l">
              <a:lnSpc>
                <a:spcPct val="105000"/>
              </a:lnSpc>
              <a:spcAft>
                <a:spcPts val="200"/>
              </a:spcAft>
            </a:pPr>
            <a:r>
              <a:rPr sz="900" b="0">
                <a:solidFill>
                  <a:srgbClr val="777777"/>
                </a:solidFill>
                <a:latin typeface="メイリオ"/>
                <a:ea typeface="メイリオ"/>
                <a:cs typeface="メイリオ"/>
              </a:rPr>
              <a:t>※一般の方には一般の方向けの案内を中心に配信。配信内容は、貴社LPの「生産性4倍セミナーの特徴」「受講生の声」「よくある質問」「講師紹介」をもとにした例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15日を過ぎた友だちには回数を絞ってつながりを保ち、</a:t>
            </a:r>
          </a:p>
          <a:p>
            <a:r>
              <a:rPr lang="ja-JP" altLang="en-US" sz="1600" b="1" dirty="0">
                <a:latin typeface="メイリオ" panose="020B0604030504040204" pitchFamily="50" charset="-128"/>
                <a:ea typeface="メイリオ" panose="020B0604030504040204" pitchFamily="50" charset="-128"/>
                <a:cs typeface="Meiryo"/>
                <a:sym typeface="Meiryo"/>
              </a:rPr>
              <a:t>開催月は企画配信で、予約・参加まで後押しする。</a:t>
            </a:r>
          </a:p>
        </p:txBody>
      </p:sp>
      <p:sp>
        <p:nvSpPr>
          <p:cNvPr id="11" name="Rectangle 10"/>
          <p:cNvSpPr/>
          <p:nvPr/>
        </p:nvSpPr>
        <p:spPr>
          <a:xfrm>
            <a:off x="420624" y="2011680"/>
            <a:ext cx="1600200" cy="128015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300" b="1">
                <a:solidFill>
                  <a:srgbClr val="FFFFFF"/>
                </a:solidFill>
                <a:latin typeface="メイリオ"/>
                <a:ea typeface="メイリオ"/>
                <a:cs typeface="メイリオ"/>
              </a:rPr>
              <a:t>開催のない月</a:t>
            </a:r>
          </a:p>
          <a:p>
            <a:pPr algn="ctr">
              <a:lnSpc>
                <a:spcPct val="110000"/>
              </a:lnSpc>
              <a:spcAft>
                <a:spcPts val="0"/>
              </a:spcAft>
            </a:pPr>
            <a:r>
              <a:rPr sz="1200" b="0">
                <a:solidFill>
                  <a:srgbClr val="FFFFFF"/>
                </a:solidFill>
                <a:latin typeface="メイリオ"/>
                <a:ea typeface="メイリオ"/>
                <a:cs typeface="メイリオ"/>
              </a:rPr>
              <a:t>月1〜2回</a:t>
            </a:r>
          </a:p>
        </p:txBody>
      </p:sp>
      <p:sp>
        <p:nvSpPr>
          <p:cNvPr id="12" name="Rectangle 11"/>
          <p:cNvSpPr/>
          <p:nvPr/>
        </p:nvSpPr>
        <p:spPr>
          <a:xfrm>
            <a:off x="2157984"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講師のコラム</a:t>
            </a:r>
          </a:p>
          <a:p>
            <a:pPr algn="ctr">
              <a:lnSpc>
                <a:spcPct val="110000"/>
              </a:lnSpc>
              <a:spcAft>
                <a:spcPts val="0"/>
              </a:spcAft>
            </a:pPr>
            <a:r>
              <a:rPr sz="1200" b="0">
                <a:solidFill>
                  <a:srgbClr val="333333"/>
                </a:solidFill>
                <a:latin typeface="メイリオ"/>
                <a:ea typeface="メイリオ"/>
                <a:cs typeface="メイリオ"/>
              </a:rPr>
              <a:t>営業のヒントを届ける</a:t>
            </a:r>
          </a:p>
        </p:txBody>
      </p:sp>
      <p:sp>
        <p:nvSpPr>
          <p:cNvPr id="13" name="TextBox 12"/>
          <p:cNvSpPr txBox="1"/>
          <p:nvPr/>
        </p:nvSpPr>
        <p:spPr>
          <a:xfrm>
            <a:off x="4450080" y="201168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14" name="Rectangle 13"/>
          <p:cNvSpPr/>
          <p:nvPr/>
        </p:nvSpPr>
        <p:spPr>
          <a:xfrm>
            <a:off x="4669535"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受講生の声</a:t>
            </a:r>
          </a:p>
          <a:p>
            <a:pPr algn="ctr">
              <a:lnSpc>
                <a:spcPct val="110000"/>
              </a:lnSpc>
              <a:spcAft>
                <a:spcPts val="0"/>
              </a:spcAft>
            </a:pPr>
            <a:r>
              <a:rPr sz="1200" b="0">
                <a:solidFill>
                  <a:srgbClr val="333333"/>
                </a:solidFill>
                <a:latin typeface="メイリオ"/>
                <a:ea typeface="メイリオ"/>
                <a:cs typeface="メイリオ"/>
              </a:rPr>
              <a:t>成果が出た方の話</a:t>
            </a:r>
          </a:p>
        </p:txBody>
      </p:sp>
      <p:sp>
        <p:nvSpPr>
          <p:cNvPr id="15" name="TextBox 14"/>
          <p:cNvSpPr txBox="1"/>
          <p:nvPr/>
        </p:nvSpPr>
        <p:spPr>
          <a:xfrm>
            <a:off x="6961631" y="201168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16" name="Rectangle 15"/>
          <p:cNvSpPr/>
          <p:nvPr/>
        </p:nvSpPr>
        <p:spPr>
          <a:xfrm>
            <a:off x="7181087"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次回の予告</a:t>
            </a:r>
          </a:p>
          <a:p>
            <a:pPr algn="ctr">
              <a:lnSpc>
                <a:spcPct val="110000"/>
              </a:lnSpc>
              <a:spcAft>
                <a:spcPts val="0"/>
              </a:spcAft>
            </a:pPr>
            <a:r>
              <a:rPr sz="1200" b="0">
                <a:solidFill>
                  <a:srgbClr val="333333"/>
                </a:solidFill>
                <a:latin typeface="メイリオ"/>
                <a:ea typeface="メイリオ"/>
                <a:cs typeface="メイリオ"/>
              </a:rPr>
              <a:t>次のセミナーの時期</a:t>
            </a:r>
          </a:p>
        </p:txBody>
      </p:sp>
      <p:sp>
        <p:nvSpPr>
          <p:cNvPr id="17" name="Rectangle 16"/>
          <p:cNvSpPr/>
          <p:nvPr/>
        </p:nvSpPr>
        <p:spPr>
          <a:xfrm>
            <a:off x="420624" y="3566160"/>
            <a:ext cx="1600200" cy="128015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300" b="1">
                <a:solidFill>
                  <a:srgbClr val="FFFFFF"/>
                </a:solidFill>
                <a:latin typeface="メイリオ"/>
                <a:ea typeface="メイリオ"/>
                <a:cs typeface="メイリオ"/>
              </a:rPr>
              <a:t>開催月</a:t>
            </a:r>
          </a:p>
          <a:p>
            <a:pPr algn="ctr">
              <a:lnSpc>
                <a:spcPct val="110000"/>
              </a:lnSpc>
              <a:spcAft>
                <a:spcPts val="0"/>
              </a:spcAft>
            </a:pPr>
            <a:r>
              <a:rPr sz="1200" b="0">
                <a:solidFill>
                  <a:srgbClr val="FFFFFF"/>
                </a:solidFill>
                <a:latin typeface="メイリオ"/>
                <a:ea typeface="メイリオ"/>
                <a:cs typeface="メイリオ"/>
              </a:rPr>
              <a:t>月4〜5回</a:t>
            </a:r>
          </a:p>
        </p:txBody>
      </p:sp>
      <p:sp>
        <p:nvSpPr>
          <p:cNvPr id="18" name="Rectangle 17"/>
          <p:cNvSpPr/>
          <p:nvPr/>
        </p:nvSpPr>
        <p:spPr>
          <a:xfrm>
            <a:off x="2157984"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開催のご案内</a:t>
            </a:r>
          </a:p>
          <a:p>
            <a:pPr algn="ctr">
              <a:lnSpc>
                <a:spcPct val="110000"/>
              </a:lnSpc>
              <a:spcAft>
                <a:spcPts val="0"/>
              </a:spcAft>
            </a:pPr>
            <a:r>
              <a:rPr sz="1200" b="0">
                <a:solidFill>
                  <a:srgbClr val="333333"/>
                </a:solidFill>
                <a:latin typeface="メイリオ"/>
                <a:ea typeface="メイリオ"/>
                <a:cs typeface="メイリオ"/>
              </a:rPr>
              <a:t>日程と予約ページ</a:t>
            </a:r>
          </a:p>
        </p:txBody>
      </p:sp>
      <p:sp>
        <p:nvSpPr>
          <p:cNvPr id="19" name="TextBox 18"/>
          <p:cNvSpPr txBox="1"/>
          <p:nvPr/>
        </p:nvSpPr>
        <p:spPr>
          <a:xfrm>
            <a:off x="3445459"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0" name="Rectangle 19"/>
          <p:cNvSpPr/>
          <p:nvPr/>
        </p:nvSpPr>
        <p:spPr>
          <a:xfrm>
            <a:off x="3664915"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見どころ</a:t>
            </a:r>
          </a:p>
          <a:p>
            <a:pPr algn="ctr">
              <a:lnSpc>
                <a:spcPct val="110000"/>
              </a:lnSpc>
              <a:spcAft>
                <a:spcPts val="0"/>
              </a:spcAft>
            </a:pPr>
            <a:r>
              <a:rPr sz="1200" b="0">
                <a:solidFill>
                  <a:srgbClr val="333333"/>
                </a:solidFill>
                <a:latin typeface="メイリオ"/>
                <a:ea typeface="メイリオ"/>
                <a:cs typeface="メイリオ"/>
              </a:rPr>
              <a:t>動画・受講生の声</a:t>
            </a:r>
          </a:p>
        </p:txBody>
      </p:sp>
      <p:sp>
        <p:nvSpPr>
          <p:cNvPr id="21" name="TextBox 20"/>
          <p:cNvSpPr txBox="1"/>
          <p:nvPr/>
        </p:nvSpPr>
        <p:spPr>
          <a:xfrm>
            <a:off x="4952390"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2" name="Rectangle 21"/>
          <p:cNvSpPr/>
          <p:nvPr/>
        </p:nvSpPr>
        <p:spPr>
          <a:xfrm>
            <a:off x="5171846"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予約締切</a:t>
            </a:r>
          </a:p>
          <a:p>
            <a:pPr algn="ctr">
              <a:lnSpc>
                <a:spcPct val="110000"/>
              </a:lnSpc>
              <a:spcAft>
                <a:spcPts val="0"/>
              </a:spcAft>
            </a:pPr>
            <a:r>
              <a:rPr sz="1200" b="0">
                <a:solidFill>
                  <a:srgbClr val="333333"/>
                </a:solidFill>
                <a:latin typeface="メイリオ"/>
                <a:ea typeface="メイリオ"/>
                <a:cs typeface="メイリオ"/>
              </a:rPr>
              <a:t>締切をお知らせ</a:t>
            </a:r>
          </a:p>
        </p:txBody>
      </p:sp>
      <p:sp>
        <p:nvSpPr>
          <p:cNvPr id="23" name="TextBox 22"/>
          <p:cNvSpPr txBox="1"/>
          <p:nvPr/>
        </p:nvSpPr>
        <p:spPr>
          <a:xfrm>
            <a:off x="6459321"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4" name="Rectangle 23"/>
          <p:cNvSpPr/>
          <p:nvPr/>
        </p:nvSpPr>
        <p:spPr>
          <a:xfrm>
            <a:off x="6678777"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前日・当日</a:t>
            </a:r>
          </a:p>
          <a:p>
            <a:pPr algn="ctr">
              <a:lnSpc>
                <a:spcPct val="110000"/>
              </a:lnSpc>
              <a:spcAft>
                <a:spcPts val="0"/>
              </a:spcAft>
            </a:pPr>
            <a:r>
              <a:rPr sz="1200" b="0">
                <a:solidFill>
                  <a:srgbClr val="333333"/>
                </a:solidFill>
                <a:latin typeface="メイリオ"/>
                <a:ea typeface="メイリオ"/>
                <a:cs typeface="メイリオ"/>
              </a:rPr>
              <a:t>予約した方へ</a:t>
            </a:r>
          </a:p>
          <a:p>
            <a:pPr algn="ctr">
              <a:lnSpc>
                <a:spcPct val="110000"/>
              </a:lnSpc>
              <a:spcAft>
                <a:spcPts val="0"/>
              </a:spcAft>
            </a:pPr>
            <a:r>
              <a:rPr sz="1200" b="0">
                <a:solidFill>
                  <a:srgbClr val="333333"/>
                </a:solidFill>
                <a:latin typeface="メイリオ"/>
                <a:ea typeface="メイリオ"/>
                <a:cs typeface="メイリオ"/>
              </a:rPr>
              <a:t>リマインド</a:t>
            </a:r>
          </a:p>
        </p:txBody>
      </p:sp>
      <p:sp>
        <p:nvSpPr>
          <p:cNvPr id="25" name="TextBox 24"/>
          <p:cNvSpPr txBox="1"/>
          <p:nvPr/>
        </p:nvSpPr>
        <p:spPr>
          <a:xfrm>
            <a:off x="7966252"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6" name="Rectangle 25"/>
          <p:cNvSpPr/>
          <p:nvPr/>
        </p:nvSpPr>
        <p:spPr>
          <a:xfrm>
            <a:off x="8185708"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参加後</a:t>
            </a:r>
          </a:p>
          <a:p>
            <a:pPr algn="ctr">
              <a:lnSpc>
                <a:spcPct val="110000"/>
              </a:lnSpc>
              <a:spcAft>
                <a:spcPts val="0"/>
              </a:spcAft>
            </a:pPr>
            <a:r>
              <a:rPr sz="1200" b="0">
                <a:solidFill>
                  <a:srgbClr val="333333"/>
                </a:solidFill>
                <a:latin typeface="メイリオ"/>
                <a:ea typeface="メイリオ"/>
                <a:cs typeface="メイリオ"/>
              </a:rPr>
              <a:t>サロンのご案内</a:t>
            </a:r>
          </a:p>
          <a:p>
            <a:pPr algn="ctr">
              <a:lnSpc>
                <a:spcPct val="110000"/>
              </a:lnSpc>
              <a:spcAft>
                <a:spcPts val="0"/>
              </a:spcAft>
            </a:pPr>
            <a:r>
              <a:rPr sz="1200" b="0">
                <a:solidFill>
                  <a:srgbClr val="333333"/>
                </a:solidFill>
                <a:latin typeface="メイリオ"/>
                <a:ea typeface="メイリオ"/>
                <a:cs typeface="メイリオ"/>
              </a:rPr>
              <a:t>（次のページ）</a:t>
            </a:r>
          </a:p>
        </p:txBody>
      </p:sp>
      <p:sp>
        <p:nvSpPr>
          <p:cNvPr id="27" name="TextBox 26"/>
          <p:cNvSpPr txBox="1"/>
          <p:nvPr/>
        </p:nvSpPr>
        <p:spPr>
          <a:xfrm>
            <a:off x="420624" y="5029200"/>
            <a:ext cx="9052560" cy="27432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※前日・当日のリマインドと参加後のフォローは、予約・参加した方を特定できる範囲で実施（予約システム等との連携は、可否を確認のうえ設計）</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56692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7772400"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診断：回答でセグメントを分け、配信の精度を高める</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診断の答えでタグを付け、配信の出し分けに使う</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施策の考え方</a:t>
            </a:r>
            <a:endParaRPr lang="ja-JP" altLang="en-US" sz="1100" dirty="0"/>
          </a:p>
        </p:txBody>
      </p:sp>
      <p:sp>
        <p:nvSpPr>
          <p:cNvPr id="32" name="Rectangle 29">
            <a:extLst>
              <a:ext uri="{FF2B5EF4-FFF2-40B4-BE49-F238E27FC236}">
                <a16:creationId xmlns:a16="http://schemas.microsoft.com/office/drawing/2014/main" id="{C9B761A3-7BC1-BEDC-5294-579F8513A3B8}"/>
              </a:ext>
            </a:extLst>
          </p:cNvPr>
          <p:cNvSpPr/>
          <p:nvPr/>
        </p:nvSpPr>
        <p:spPr>
          <a:xfrm>
            <a:off x="3291840" y="4315526"/>
            <a:ext cx="2468880" cy="1463040"/>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3" name="Rectangle 30">
            <a:extLst>
              <a:ext uri="{FF2B5EF4-FFF2-40B4-BE49-F238E27FC236}">
                <a16:creationId xmlns:a16="http://schemas.microsoft.com/office/drawing/2014/main" id="{D5B2D1C3-B341-4022-F0D3-00797EE985D3}"/>
              </a:ext>
            </a:extLst>
          </p:cNvPr>
          <p:cNvSpPr/>
          <p:nvPr/>
        </p:nvSpPr>
        <p:spPr>
          <a:xfrm>
            <a:off x="3291840" y="4315526"/>
            <a:ext cx="2468880" cy="2926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タグ・セグメント（例）</a:t>
            </a:r>
          </a:p>
        </p:txBody>
      </p:sp>
      <p:sp>
        <p:nvSpPr>
          <p:cNvPr id="34" name="Oval 31">
            <a:extLst>
              <a:ext uri="{FF2B5EF4-FFF2-40B4-BE49-F238E27FC236}">
                <a16:creationId xmlns:a16="http://schemas.microsoft.com/office/drawing/2014/main" id="{44AA6966-72C4-4DBF-CD4A-516799942AE3}"/>
              </a:ext>
            </a:extLst>
          </p:cNvPr>
          <p:cNvSpPr/>
          <p:nvPr/>
        </p:nvSpPr>
        <p:spPr>
          <a:xfrm>
            <a:off x="3410712" y="4681286"/>
            <a:ext cx="256032" cy="256032"/>
          </a:xfrm>
          <a:prstGeom prst="ellipse">
            <a:avLst/>
          </a:prstGeom>
          <a:solidFill>
            <a:srgbClr val="B8C2D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5" name="Rectangle 32">
            <a:extLst>
              <a:ext uri="{FF2B5EF4-FFF2-40B4-BE49-F238E27FC236}">
                <a16:creationId xmlns:a16="http://schemas.microsoft.com/office/drawing/2014/main" id="{7E386317-C0CE-5DF8-898B-CDBB3753252D}"/>
              </a:ext>
            </a:extLst>
          </p:cNvPr>
          <p:cNvSpPr/>
          <p:nvPr/>
        </p:nvSpPr>
        <p:spPr>
          <a:xfrm>
            <a:off x="3730752" y="4690430"/>
            <a:ext cx="64008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Aさん</a:t>
            </a:r>
          </a:p>
        </p:txBody>
      </p:sp>
      <p:sp>
        <p:nvSpPr>
          <p:cNvPr id="36" name="Rounded Rectangle 33">
            <a:extLst>
              <a:ext uri="{FF2B5EF4-FFF2-40B4-BE49-F238E27FC236}">
                <a16:creationId xmlns:a16="http://schemas.microsoft.com/office/drawing/2014/main" id="{FDBC4478-2C7F-2573-7388-907010AB0607}"/>
              </a:ext>
            </a:extLst>
          </p:cNvPr>
          <p:cNvSpPr/>
          <p:nvPr/>
        </p:nvSpPr>
        <p:spPr>
          <a:xfrm>
            <a:off x="3410712" y="5001326"/>
            <a:ext cx="1051560" cy="246888"/>
          </a:xfrm>
          <a:prstGeom prst="round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保険営業</a:t>
            </a:r>
          </a:p>
        </p:txBody>
      </p:sp>
      <p:sp>
        <p:nvSpPr>
          <p:cNvPr id="37" name="Rounded Rectangle 34">
            <a:extLst>
              <a:ext uri="{FF2B5EF4-FFF2-40B4-BE49-F238E27FC236}">
                <a16:creationId xmlns:a16="http://schemas.microsoft.com/office/drawing/2014/main" id="{8BC31972-FFC1-17C4-77C9-69243CB4E570}"/>
              </a:ext>
            </a:extLst>
          </p:cNvPr>
          <p:cNvSpPr/>
          <p:nvPr/>
        </p:nvSpPr>
        <p:spPr>
          <a:xfrm>
            <a:off x="4535424" y="5001326"/>
            <a:ext cx="1097280" cy="246888"/>
          </a:xfrm>
          <a:prstGeom prst="round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紹介を増やしたい</a:t>
            </a:r>
          </a:p>
        </p:txBody>
      </p:sp>
      <p:sp>
        <p:nvSpPr>
          <p:cNvPr id="38" name="Rectangle 35">
            <a:extLst>
              <a:ext uri="{FF2B5EF4-FFF2-40B4-BE49-F238E27FC236}">
                <a16:creationId xmlns:a16="http://schemas.microsoft.com/office/drawing/2014/main" id="{EFFFAAD6-D553-33A2-0CDA-D0F89C23C45A}"/>
              </a:ext>
            </a:extLst>
          </p:cNvPr>
          <p:cNvSpPr/>
          <p:nvPr/>
        </p:nvSpPr>
        <p:spPr>
          <a:xfrm>
            <a:off x="3383280" y="5293934"/>
            <a:ext cx="2286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t"/>
          <a:lstStyle/>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タグで対象を絞る</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 紹介に悩んでいた受講生の声を配信</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39" name="Rounded Rectangle 36">
            <a:extLst>
              <a:ext uri="{FF2B5EF4-FFF2-40B4-BE49-F238E27FC236}">
                <a16:creationId xmlns:a16="http://schemas.microsoft.com/office/drawing/2014/main" id="{EB89F4C5-3674-C37F-0213-9BCB6D7C0FCB}"/>
              </a:ext>
            </a:extLst>
          </p:cNvPr>
          <p:cNvSpPr/>
          <p:nvPr/>
        </p:nvSpPr>
        <p:spPr>
          <a:xfrm>
            <a:off x="502920" y="1812629"/>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557784" y="2003406"/>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914400" y="1918113"/>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友だち追加ありがとうございます！参加特典は…</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612648" y="24240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914400" y="2471397"/>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あてはまる方は？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914400" y="2789790"/>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一般</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1426464" y="2789790"/>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保険営業</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2468880" y="2789790"/>
            <a:ext cx="457200" cy="237744"/>
          </a:xfrm>
          <a:prstGeom prst="round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612648" y="3173838"/>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914400" y="3168567"/>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【8日目】受講生の声</a:t>
            </a:r>
          </a:p>
        </p:txBody>
      </p:sp>
      <p:sp>
        <p:nvSpPr>
          <p:cNvPr id="50" name="Oval 49">
            <a:extLst>
              <a:ext uri="{FF2B5EF4-FFF2-40B4-BE49-F238E27FC236}">
                <a16:creationId xmlns:a16="http://schemas.microsoft.com/office/drawing/2014/main" id="{D7FC1F60-741B-1216-E3C2-B9A9825969FD}"/>
              </a:ext>
            </a:extLst>
          </p:cNvPr>
          <p:cNvSpPr/>
          <p:nvPr/>
        </p:nvSpPr>
        <p:spPr>
          <a:xfrm>
            <a:off x="612648" y="374991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914400" y="374463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【今月】次回セミナーのご案内</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1737360" y="4234542"/>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日程を教えて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612648" y="452715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914400" y="4544763"/>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次回の日程はこちらです→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557784" y="4864608"/>
            <a:ext cx="2404872" cy="768096"/>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571500" y="4882896"/>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セミナー予約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1376172" y="4882896"/>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よくある質問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2180844" y="4882896"/>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参加特典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571500" y="5257800"/>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講師紹介</a:t>
            </a:r>
          </a:p>
        </p:txBody>
      </p:sp>
      <p:sp>
        <p:nvSpPr>
          <p:cNvPr id="60" name="Rectangle 58">
            <a:extLst>
              <a:ext uri="{FF2B5EF4-FFF2-40B4-BE49-F238E27FC236}">
                <a16:creationId xmlns:a16="http://schemas.microsoft.com/office/drawing/2014/main" id="{985C54A4-91FC-0879-5A7C-BF14447F2D4C}"/>
              </a:ext>
            </a:extLst>
          </p:cNvPr>
          <p:cNvSpPr/>
          <p:nvPr/>
        </p:nvSpPr>
        <p:spPr>
          <a:xfrm>
            <a:off x="1376172" y="5257800"/>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受講生の声</a:t>
            </a:r>
          </a:p>
        </p:txBody>
      </p:sp>
      <p:sp>
        <p:nvSpPr>
          <p:cNvPr id="60" name="Rectangle 58">
            <a:extLst>
              <a:ext uri="{FF2B5EF4-FFF2-40B4-BE49-F238E27FC236}">
                <a16:creationId xmlns:a16="http://schemas.microsoft.com/office/drawing/2014/main" id="{985C54A4-91FC-0879-5A7C-BF14447F2D4C}"/>
              </a:ext>
            </a:extLst>
          </p:cNvPr>
          <p:cNvSpPr/>
          <p:nvPr/>
        </p:nvSpPr>
        <p:spPr>
          <a:xfrm>
            <a:off x="2180844" y="5257800"/>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お問い合わせ</a:t>
            </a:r>
          </a:p>
        </p:txBody>
      </p:sp>
      <p:sp>
        <p:nvSpPr>
          <p:cNvPr id="91" name="Rectangle 37">
            <a:extLst>
              <a:ext uri="{FF2B5EF4-FFF2-40B4-BE49-F238E27FC236}">
                <a16:creationId xmlns:a16="http://schemas.microsoft.com/office/drawing/2014/main" id="{815B0ED0-A740-600B-6C02-0EA2C830954C}"/>
              </a:ext>
            </a:extLst>
          </p:cNvPr>
          <p:cNvSpPr/>
          <p:nvPr/>
        </p:nvSpPr>
        <p:spPr>
          <a:xfrm>
            <a:off x="807059" y="1705904"/>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3" name="Oval 39">
            <a:extLst>
              <a:ext uri="{FF2B5EF4-FFF2-40B4-BE49-F238E27FC236}">
                <a16:creationId xmlns:a16="http://schemas.microsoft.com/office/drawing/2014/main" id="{BD5572D2-C987-F20B-3DAE-F41EEAF2F9EC}"/>
              </a:ext>
            </a:extLst>
          </p:cNvPr>
          <p:cNvSpPr/>
          <p:nvPr/>
        </p:nvSpPr>
        <p:spPr>
          <a:xfrm>
            <a:off x="612648" y="192111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94" name="Rectangle 93"/>
          <p:cNvSpPr/>
          <p:nvPr/>
        </p:nvSpPr>
        <p:spPr>
          <a:xfrm>
            <a:off x="3291840" y="1810512"/>
            <a:ext cx="141732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質問</a:t>
            </a:r>
          </a:p>
        </p:txBody>
      </p:sp>
      <p:sp>
        <p:nvSpPr>
          <p:cNvPr id="95" name="Rectangle 94"/>
          <p:cNvSpPr/>
          <p:nvPr/>
        </p:nvSpPr>
        <p:spPr>
          <a:xfrm>
            <a:off x="4736592" y="1810512"/>
            <a:ext cx="25146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選択肢（付けるタグ）</a:t>
            </a:r>
          </a:p>
        </p:txBody>
      </p:sp>
      <p:sp>
        <p:nvSpPr>
          <p:cNvPr id="96" name="Rectangle 95"/>
          <p:cNvSpPr/>
          <p:nvPr/>
        </p:nvSpPr>
        <p:spPr>
          <a:xfrm>
            <a:off x="7278624" y="1810512"/>
            <a:ext cx="2231136"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配信での使い方</a:t>
            </a:r>
          </a:p>
        </p:txBody>
      </p:sp>
      <p:sp>
        <p:nvSpPr>
          <p:cNvPr id="97" name="Rectangle 96"/>
          <p:cNvSpPr/>
          <p:nvPr/>
        </p:nvSpPr>
        <p:spPr>
          <a:xfrm>
            <a:off x="3291840" y="2203704"/>
            <a:ext cx="1417320" cy="89611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1問目</a:t>
            </a:r>
          </a:p>
          <a:p>
            <a:pPr algn="l">
              <a:lnSpc>
                <a:spcPct val="110000"/>
              </a:lnSpc>
              <a:spcAft>
                <a:spcPts val="0"/>
              </a:spcAft>
            </a:pPr>
            <a:r>
              <a:rPr sz="1200" b="1">
                <a:solidFill>
                  <a:srgbClr val="1F2A5C"/>
                </a:solidFill>
                <a:latin typeface="メイリオ"/>
                <a:ea typeface="メイリオ"/>
                <a:cs typeface="メイリオ"/>
              </a:rPr>
              <a:t>あてはまる方</a:t>
            </a:r>
          </a:p>
        </p:txBody>
      </p:sp>
      <p:sp>
        <p:nvSpPr>
          <p:cNvPr id="98" name="Rectangle 97"/>
          <p:cNvSpPr/>
          <p:nvPr/>
        </p:nvSpPr>
        <p:spPr>
          <a:xfrm>
            <a:off x="4736592" y="2203704"/>
            <a:ext cx="2514600" cy="89611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保険営業の方／一般の方</a:t>
            </a:r>
          </a:p>
        </p:txBody>
      </p:sp>
      <p:sp>
        <p:nvSpPr>
          <p:cNvPr id="99" name="Rectangle 98"/>
          <p:cNvSpPr/>
          <p:nvPr/>
        </p:nvSpPr>
        <p:spPr>
          <a:xfrm>
            <a:off x="7278624" y="2203704"/>
            <a:ext cx="2231136" cy="89611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一般の方には、一般の方向け</a:t>
            </a:r>
          </a:p>
          <a:p>
            <a:pPr algn="l">
              <a:lnSpc>
                <a:spcPct val="110000"/>
              </a:lnSpc>
              <a:spcAft>
                <a:spcPts val="0"/>
              </a:spcAft>
            </a:pPr>
            <a:r>
              <a:rPr sz="1200" b="0">
                <a:solidFill>
                  <a:srgbClr val="333333"/>
                </a:solidFill>
                <a:latin typeface="メイリオ"/>
                <a:ea typeface="メイリオ"/>
                <a:cs typeface="メイリオ"/>
              </a:rPr>
              <a:t>のセミナーを案内</a:t>
            </a:r>
          </a:p>
        </p:txBody>
      </p:sp>
      <p:sp>
        <p:nvSpPr>
          <p:cNvPr id="100" name="Rectangle 99"/>
          <p:cNvSpPr/>
          <p:nvPr/>
        </p:nvSpPr>
        <p:spPr>
          <a:xfrm>
            <a:off x="3291840" y="3127248"/>
            <a:ext cx="1417320" cy="89611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2問目</a:t>
            </a:r>
          </a:p>
          <a:p>
            <a:pPr algn="l">
              <a:lnSpc>
                <a:spcPct val="110000"/>
              </a:lnSpc>
              <a:spcAft>
                <a:spcPts val="0"/>
              </a:spcAft>
            </a:pPr>
            <a:r>
              <a:rPr sz="1200" b="1">
                <a:solidFill>
                  <a:srgbClr val="1F2A5C"/>
                </a:solidFill>
                <a:latin typeface="メイリオ"/>
                <a:ea typeface="メイリオ"/>
                <a:cs typeface="メイリオ"/>
              </a:rPr>
              <a:t>いちばんの関心</a:t>
            </a:r>
          </a:p>
        </p:txBody>
      </p:sp>
      <p:sp>
        <p:nvSpPr>
          <p:cNvPr id="101" name="Rectangle 100"/>
          <p:cNvSpPr/>
          <p:nvPr/>
        </p:nvSpPr>
        <p:spPr>
          <a:xfrm>
            <a:off x="4736592" y="3127248"/>
            <a:ext cx="2514600" cy="89611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保険営業の方：成約／紹介／</a:t>
            </a:r>
          </a:p>
          <a:p>
            <a:pPr algn="l">
              <a:lnSpc>
                <a:spcPct val="110000"/>
              </a:lnSpc>
              <a:spcAft>
                <a:spcPts val="0"/>
              </a:spcAft>
            </a:pPr>
            <a:r>
              <a:rPr sz="1200" b="0">
                <a:solidFill>
                  <a:srgbClr val="333333"/>
                </a:solidFill>
                <a:latin typeface="メイリオ"/>
                <a:ea typeface="メイリオ"/>
                <a:cs typeface="メイリオ"/>
              </a:rPr>
              <a:t>働く時間</a:t>
            </a:r>
          </a:p>
          <a:p>
            <a:pPr algn="l">
              <a:lnSpc>
                <a:spcPct val="110000"/>
              </a:lnSpc>
              <a:spcAft>
                <a:spcPts val="0"/>
              </a:spcAft>
            </a:pPr>
            <a:r>
              <a:rPr sz="1200" b="0">
                <a:solidFill>
                  <a:srgbClr val="333333"/>
                </a:solidFill>
                <a:latin typeface="メイリオ"/>
                <a:ea typeface="メイリオ"/>
                <a:cs typeface="メイリオ"/>
              </a:rPr>
              <a:t>一般の方：資産形成／見直し</a:t>
            </a:r>
          </a:p>
        </p:txBody>
      </p:sp>
      <p:sp>
        <p:nvSpPr>
          <p:cNvPr id="102" name="Rectangle 101"/>
          <p:cNvSpPr/>
          <p:nvPr/>
        </p:nvSpPr>
        <p:spPr>
          <a:xfrm>
            <a:off x="7278624" y="3127248"/>
            <a:ext cx="2231136" cy="89611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受講生の声を、同じ悩み</a:t>
            </a:r>
          </a:p>
          <a:p>
            <a:pPr algn="l">
              <a:lnSpc>
                <a:spcPct val="110000"/>
              </a:lnSpc>
              <a:spcAft>
                <a:spcPts val="0"/>
              </a:spcAft>
            </a:pPr>
            <a:r>
              <a:rPr sz="1200" b="0">
                <a:solidFill>
                  <a:srgbClr val="333333"/>
                </a:solidFill>
                <a:latin typeface="メイリオ"/>
                <a:ea typeface="メイリオ"/>
                <a:cs typeface="メイリオ"/>
              </a:rPr>
              <a:t>だった方の声にする</a:t>
            </a:r>
          </a:p>
        </p:txBody>
      </p:sp>
      <p:sp>
        <p:nvSpPr>
          <p:cNvPr id="103" name="Rectangle 102"/>
          <p:cNvSpPr/>
          <p:nvPr/>
        </p:nvSpPr>
        <p:spPr>
          <a:xfrm>
            <a:off x="5943600" y="4315968"/>
            <a:ext cx="3566160" cy="1463040"/>
          </a:xfrm>
          <a:prstGeom prst="rect">
            <a:avLst/>
          </a:prstGeom>
          <a:solidFill>
            <a:srgbClr val="F5F7FA"/>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90000" tIns="43200" rIns="72000" bIns="36000"/>
          <a:lstStyle/>
          <a:p>
            <a:pPr algn="l">
              <a:lnSpc>
                <a:spcPct val="110000"/>
              </a:lnSpc>
              <a:spcAft>
                <a:spcPts val="200"/>
              </a:spcAft>
            </a:pPr>
            <a:r>
              <a:rPr sz="1300" b="1">
                <a:solidFill>
                  <a:srgbClr val="1F2A5C"/>
                </a:solidFill>
                <a:latin typeface="メイリオ"/>
                <a:ea typeface="メイリオ"/>
                <a:cs typeface="メイリオ"/>
              </a:rPr>
              <a:t>示唆</a:t>
            </a:r>
          </a:p>
          <a:p>
            <a:pPr algn="l">
              <a:lnSpc>
                <a:spcPct val="110000"/>
              </a:lnSpc>
              <a:spcAft>
                <a:spcPts val="0"/>
              </a:spcAft>
            </a:pPr>
            <a:r>
              <a:rPr sz="1200" b="0">
                <a:solidFill>
                  <a:srgbClr val="333333"/>
                </a:solidFill>
                <a:latin typeface="メイリオ"/>
                <a:ea typeface="メイリオ"/>
                <a:cs typeface="メイリオ"/>
              </a:rPr>
              <a:t>一度の診断で、その方に合う受講生の声とセミナーを届けられる。聞くのは友だち追加直後の1回だけにする</a:t>
            </a:r>
          </a:p>
        </p:txBody>
      </p:sp>
      <p:sp>
        <p:nvSpPr>
          <p:cNvPr id="104" name="TextBox 103"/>
          <p:cNvSpPr txBox="1"/>
          <p:nvPr/>
        </p:nvSpPr>
        <p:spPr>
          <a:xfrm>
            <a:off x="420624" y="5943600"/>
            <a:ext cx="9052560" cy="27432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※答えはボタンで選ぶ形。押したボタンで、その後の配信を分ける</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142343</TotalTime>
  <Words>7487</Words>
  <Application>Microsoft Office PowerPoint</Application>
  <PresentationFormat>A4 210 x 297 mm</PresentationFormat>
  <Paragraphs>1325</Paragraphs>
  <Slides>60</Slides>
  <Notes>19</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60</vt:i4>
      </vt:variant>
    </vt:vector>
  </HeadingPairs>
  <TitlesOfParts>
    <vt:vector size="66" baseType="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1956</cp:revision>
  <cp:lastPrinted>2022-11-01T11:38:14Z</cp:lastPrinted>
  <dcterms:created xsi:type="dcterms:W3CDTF">2015-09-04T09:21:15Z</dcterms:created>
  <dcterms:modified xsi:type="dcterms:W3CDTF">2026-10-22T05:59:23Z</dcterms:modified>
</cp:coreProperties>
</file>