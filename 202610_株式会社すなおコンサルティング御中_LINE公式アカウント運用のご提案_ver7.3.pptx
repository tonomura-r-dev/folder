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3" r:id="rId34"/>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32</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image" Target="../media/image7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8通の改善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8通を構築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（診断で、関心に合わせて出し分け）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配信の出し分け：予約した方／予約していない方</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出し分けの考え方</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開催のない月の層（予約していない方）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開催のない月の配信で、次回までつながりを保てる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次のイベントの案内を、開催が決まり次第届けられる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123444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友だち追加の流入経路（離脱防止ポップアップ／予約完了後のご案内）で分け、予約した方は当日の参加へ、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予約していない方は開催のない月の配信で次のイベントへつなげる。流入経路だけでは予約・参加・入会の状況をすべて把握できないため、状況に応じた出し分けは、連携の仕様を確認のうえ設計。</a:t>
            </a:r>
          </a:p>
        </p:txBody>
      </p:sp>
    </p:spTree>
    <p:extLst>
      <p:ext uri="{BB962C8B-B14F-4D97-AF65-F5344CB8AC3E}">
        <p14:creationId xmlns:p14="http://schemas.microsoft.com/office/powerpoint/2010/main" val="3203648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LINEステップ配信シナリオ（8通）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診断によるセグメント分け（2問）</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前後検索「投資セミナー」</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セミナーを探した方は、その日にほかのセミナーと比べて不安を確かめ、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1〜4日後に始め方を調べる。関心が続く15日間をステップ配信で追う。</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63" name="正方形/長方形 262">
            <a:extLst>
              <a:ext uri="{FF2B5EF4-FFF2-40B4-BE49-F238E27FC236}">
                <a16:creationId xmlns:a16="http://schemas.microsoft.com/office/drawing/2014/main" id="{748363DA-2C29-7135-6BD0-55F74CF1062A}"/>
              </a:ext>
            </a:extLst>
          </p:cNvPr>
          <p:cNvSpPr/>
          <p:nvPr/>
        </p:nvSpPr>
        <p:spPr>
          <a:xfrm>
            <a:off x="868680" y="6219402"/>
            <a:ext cx="3580333"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94733" y="6219402"/>
            <a:ext cx="3414827"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pic>
        <p:nvPicPr>
          <p:cNvPr id="853" name="Picture 852" descr="sunao_zengo_toushi_seminar_color.png"/>
          <p:cNvPicPr>
            <a:picLocks noChangeAspect="1"/>
          </p:cNvPicPr>
          <p:nvPr/>
        </p:nvPicPr>
        <p:blipFill>
          <a:blip r:embed="rId5"/>
          <a:stretch>
            <a:fillRect/>
          </a:stretch>
        </p:blipFill>
        <p:spPr>
          <a:xfrm>
            <a:off x="868680" y="2157984"/>
            <a:ext cx="7040880" cy="4108353"/>
          </a:xfrm>
          <a:prstGeom prst="rect">
            <a:avLst/>
          </a:prstGeom>
        </p:spPr>
      </p:pic>
      <p:sp>
        <p:nvSpPr>
          <p:cNvPr id="267" name="正方形/長方形 266">
            <a:extLst>
              <a:ext uri="{FF2B5EF4-FFF2-40B4-BE49-F238E27FC236}">
                <a16:creationId xmlns:a16="http://schemas.microsoft.com/office/drawing/2014/main" id="{AD15A6B3-E0B8-2B6E-5872-4F23BABCE27E}"/>
              </a:ext>
            </a:extLst>
          </p:cNvPr>
          <p:cNvSpPr/>
          <p:nvPr/>
        </p:nvSpPr>
        <p:spPr>
          <a:xfrm>
            <a:off x="4494733" y="1700784"/>
            <a:ext cx="823782" cy="4565553"/>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57573"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86757"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投資セミナー</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16日以降へ</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（企画配信で</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再アプローチ）</a:t>
            </a:r>
            <a:endParaRPr lang="en-US" altLang="ja-JP" sz="800" dirty="0">
              <a:latin typeface="メイリオ" panose="020B0604030504040204" pitchFamily="50" charset="-128"/>
              <a:ea typeface="メイリオ" panose="020B0604030504040204" pitchFamily="50" charset="-128"/>
            </a:endParaRPr>
          </a:p>
        </p:txBody>
      </p:sp>
      <p:sp>
        <p:nvSpPr>
          <p:cNvPr id="854" name="Rectangle 853"/>
          <p:cNvSpPr/>
          <p:nvPr/>
        </p:nvSpPr>
        <p:spPr>
          <a:xfrm>
            <a:off x="8065008" y="1847088"/>
            <a:ext cx="1691640" cy="274320"/>
          </a:xfrm>
          <a:prstGeom prst="rect">
            <a:avLst/>
          </a:prstGeom>
          <a:solidFill>
            <a:srgbClr val="3467B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比べる：ほかのセミナー</a:t>
            </a:r>
          </a:p>
        </p:txBody>
      </p:sp>
      <p:sp>
        <p:nvSpPr>
          <p:cNvPr id="855" name="Rectangle 854"/>
          <p:cNvSpPr/>
          <p:nvPr/>
        </p:nvSpPr>
        <p:spPr>
          <a:xfrm>
            <a:off x="8065008" y="2176272"/>
            <a:ext cx="1691640" cy="274320"/>
          </a:xfrm>
          <a:prstGeom prst="rect">
            <a:avLst/>
          </a:prstGeom>
          <a:solidFill>
            <a:srgbClr val="8E4EC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確かめる：不安・安全性</a:t>
            </a:r>
          </a:p>
        </p:txBody>
      </p:sp>
      <p:sp>
        <p:nvSpPr>
          <p:cNvPr id="856" name="Rectangle 855"/>
          <p:cNvSpPr/>
          <p:nvPr/>
        </p:nvSpPr>
        <p:spPr>
          <a:xfrm>
            <a:off x="8065008" y="2505456"/>
            <a:ext cx="1691640" cy="274320"/>
          </a:xfrm>
          <a:prstGeom prst="rect">
            <a:avLst/>
          </a:prstGeom>
          <a:solidFill>
            <a:srgbClr val="00897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始める：始め方</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2問で診断する</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見どころ動画を見る</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講師紹介を見る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内容を詳しく見る</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（成約／紹介／働く時間）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受講生の声を見る</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よくある質問を見る</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日程を見て予約する</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予約する</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2" name="Rectangle 29">
            <a:extLst>
              <a:ext uri="{FF2B5EF4-FFF2-40B4-BE49-F238E27FC236}">
                <a16:creationId xmlns:a16="http://schemas.microsoft.com/office/drawing/2014/main" id="{C9B761A3-7BC1-BEDC-5294-579F8513A3B8}"/>
              </a:ext>
            </a:extLst>
          </p:cNvPr>
          <p:cNvSpPr/>
          <p:nvPr/>
        </p:nvSpPr>
        <p:spPr>
          <a:xfrm>
            <a:off x="3291840" y="4315526"/>
            <a:ext cx="2468880" cy="1463040"/>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291840" y="4315526"/>
            <a:ext cx="2468880" cy="2926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タグ・セグメント（例）</a:t>
            </a:r>
          </a:p>
        </p:txBody>
      </p:sp>
      <p:sp>
        <p:nvSpPr>
          <p:cNvPr id="34" name="Oval 31">
            <a:extLst>
              <a:ext uri="{FF2B5EF4-FFF2-40B4-BE49-F238E27FC236}">
                <a16:creationId xmlns:a16="http://schemas.microsoft.com/office/drawing/2014/main" id="{44AA6966-72C4-4DBF-CD4A-516799942AE3}"/>
              </a:ext>
            </a:extLst>
          </p:cNvPr>
          <p:cNvSpPr/>
          <p:nvPr/>
        </p:nvSpPr>
        <p:spPr>
          <a:xfrm>
            <a:off x="3410712" y="4681286"/>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3730752" y="4690430"/>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3410712" y="5001326"/>
            <a:ext cx="105156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4535424" y="5001326"/>
            <a:ext cx="109728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紹介を増やしたい</a:t>
            </a:r>
          </a:p>
        </p:txBody>
      </p:sp>
      <p:sp>
        <p:nvSpPr>
          <p:cNvPr id="38" name="Rectangle 35">
            <a:extLst>
              <a:ext uri="{FF2B5EF4-FFF2-40B4-BE49-F238E27FC236}">
                <a16:creationId xmlns:a16="http://schemas.microsoft.com/office/drawing/2014/main" id="{EFFFAAD6-D553-33A2-0CDA-D0F89C23C45A}"/>
              </a:ext>
            </a:extLst>
          </p:cNvPr>
          <p:cNvSpPr/>
          <p:nvPr/>
        </p:nvSpPr>
        <p:spPr>
          <a:xfrm>
            <a:off x="3383280" y="5293934"/>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 紹介に悩んでいた受講生の声を配信</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5191614"/>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607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17043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176479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235915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4173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736592" y="1810512"/>
            <a:ext cx="2514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選択肢（付けるタグ）</a:t>
            </a:r>
          </a:p>
        </p:txBody>
      </p:sp>
      <p:sp>
        <p:nvSpPr>
          <p:cNvPr id="96" name="Rectangle 95"/>
          <p:cNvSpPr/>
          <p:nvPr/>
        </p:nvSpPr>
        <p:spPr>
          <a:xfrm>
            <a:off x="7278624" y="1810512"/>
            <a:ext cx="2231136"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配信での使い方</a:t>
            </a:r>
          </a:p>
        </p:txBody>
      </p:sp>
      <p:sp>
        <p:nvSpPr>
          <p:cNvPr id="97" name="Rectangle 96"/>
          <p:cNvSpPr/>
          <p:nvPr/>
        </p:nvSpPr>
        <p:spPr>
          <a:xfrm>
            <a:off x="3291840" y="2203704"/>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a:t>
            </a:r>
          </a:p>
        </p:txBody>
      </p:sp>
      <p:sp>
        <p:nvSpPr>
          <p:cNvPr id="98" name="Rectangle 97"/>
          <p:cNvSpPr/>
          <p:nvPr/>
        </p:nvSpPr>
        <p:spPr>
          <a:xfrm>
            <a:off x="4736592" y="2203704"/>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9" name="Rectangle 98"/>
          <p:cNvSpPr/>
          <p:nvPr/>
        </p:nvSpPr>
        <p:spPr>
          <a:xfrm>
            <a:off x="7278624" y="2203704"/>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一般の方には、一般の方向け</a:t>
            </a:r>
          </a:p>
          <a:p>
            <a:pPr algn="l">
              <a:lnSpc>
                <a:spcPct val="110000"/>
              </a:lnSpc>
              <a:spcAft>
                <a:spcPts val="0"/>
              </a:spcAft>
            </a:pPr>
            <a:r>
              <a:rPr sz="1200" b="0">
                <a:solidFill>
                  <a:srgbClr val="333333"/>
                </a:solidFill>
                <a:latin typeface="メイリオ"/>
                <a:ea typeface="メイリオ"/>
                <a:cs typeface="メイリオ"/>
              </a:rPr>
              <a:t>のセミナーを案内</a:t>
            </a:r>
          </a:p>
        </p:txBody>
      </p:sp>
      <p:sp>
        <p:nvSpPr>
          <p:cNvPr id="100" name="Rectangle 99"/>
          <p:cNvSpPr/>
          <p:nvPr/>
        </p:nvSpPr>
        <p:spPr>
          <a:xfrm>
            <a:off x="3291840" y="3127248"/>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a:t>
            </a:r>
          </a:p>
        </p:txBody>
      </p:sp>
      <p:sp>
        <p:nvSpPr>
          <p:cNvPr id="101" name="Rectangle 100"/>
          <p:cNvSpPr/>
          <p:nvPr/>
        </p:nvSpPr>
        <p:spPr>
          <a:xfrm>
            <a:off x="4736592" y="3127248"/>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保険営業の方：成約／紹介／</a:t>
            </a:r>
          </a:p>
          <a:p>
            <a:pPr algn="l">
              <a:lnSpc>
                <a:spcPct val="110000"/>
              </a:lnSpc>
              <a:spcAft>
                <a:spcPts val="0"/>
              </a:spcAft>
            </a:pPr>
            <a:r>
              <a:rPr sz="1200" b="0">
                <a:solidFill>
                  <a:srgbClr val="333333"/>
                </a:solidFill>
                <a:latin typeface="メイリオ"/>
                <a:ea typeface="メイリオ"/>
                <a:cs typeface="メイリオ"/>
              </a:rPr>
              <a:t>働く時間</a:t>
            </a:r>
          </a:p>
          <a:p>
            <a:pPr algn="l">
              <a:lnSpc>
                <a:spcPct val="110000"/>
              </a:lnSpc>
              <a:spcAft>
                <a:spcPts val="0"/>
              </a:spcAft>
            </a:pPr>
            <a:r>
              <a:rPr sz="1200" b="0">
                <a:solidFill>
                  <a:srgbClr val="333333"/>
                </a:solidFill>
                <a:latin typeface="メイリオ"/>
                <a:ea typeface="メイリオ"/>
                <a:cs typeface="メイリオ"/>
              </a:rPr>
              <a:t>一般の方：資産形成／見直し</a:t>
            </a:r>
          </a:p>
        </p:txBody>
      </p:sp>
      <p:sp>
        <p:nvSpPr>
          <p:cNvPr id="102" name="Rectangle 101"/>
          <p:cNvSpPr/>
          <p:nvPr/>
        </p:nvSpPr>
        <p:spPr>
          <a:xfrm>
            <a:off x="7278624" y="3127248"/>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受講生の声を、同じ悩み</a:t>
            </a:r>
          </a:p>
          <a:p>
            <a:pPr algn="l">
              <a:lnSpc>
                <a:spcPct val="110000"/>
              </a:lnSpc>
              <a:spcAft>
                <a:spcPts val="0"/>
              </a:spcAft>
            </a:pPr>
            <a:r>
              <a:rPr sz="1200" b="0">
                <a:solidFill>
                  <a:srgbClr val="333333"/>
                </a:solidFill>
                <a:latin typeface="メイリオ"/>
                <a:ea typeface="メイリオ"/>
                <a:cs typeface="メイリオ"/>
              </a:rPr>
              <a:t>だった方の声にする</a:t>
            </a:r>
          </a:p>
        </p:txBody>
      </p:sp>
      <p:sp>
        <p:nvSpPr>
          <p:cNvPr id="103" name="Rectangle 102"/>
          <p:cNvSpPr/>
          <p:nvPr/>
        </p:nvSpPr>
        <p:spPr>
          <a:xfrm>
            <a:off x="5943600" y="4315968"/>
            <a:ext cx="3566160" cy="1463040"/>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90000" tIns="43200" rIns="72000" bIns="36000"/>
          <a:lstStyle/>
          <a:p>
            <a:pPr algn="l">
              <a:lnSpc>
                <a:spcPct val="110000"/>
              </a:lnSpc>
              <a:spcAft>
                <a:spcPts val="200"/>
              </a:spcAft>
            </a:pPr>
            <a:r>
              <a:rPr sz="1300" b="1">
                <a:solidFill>
                  <a:srgbClr val="1F2A5C"/>
                </a:solidFill>
                <a:latin typeface="メイリオ"/>
                <a:ea typeface="メイリオ"/>
                <a:cs typeface="メイリオ"/>
              </a:rPr>
              <a:t>示唆</a:t>
            </a:r>
          </a:p>
          <a:p>
            <a:pPr algn="l">
              <a:lnSpc>
                <a:spcPct val="110000"/>
              </a:lnSpc>
              <a:spcAft>
                <a:spcPts val="0"/>
              </a:spcAft>
            </a:pPr>
            <a:r>
              <a:rPr sz="1200" b="0">
                <a:solidFill>
                  <a:srgbClr val="333333"/>
                </a:solidFill>
                <a:latin typeface="メイリオ"/>
                <a:ea typeface="メイリオ"/>
                <a:cs typeface="メイリオ"/>
              </a:rPr>
              <a:t>一度の診断で、その方に合う受講生の声とセミナーを届けられる。聞くのは友だち追加直後の1回だけにする</a:t>
            </a:r>
          </a:p>
        </p:txBody>
      </p:sp>
      <p:sp>
        <p:nvSpPr>
          <p:cNvPr id="104" name="TextBox 103"/>
          <p:cNvSpPr txBox="1"/>
          <p:nvPr/>
        </p:nvSpPr>
        <p:spPr>
          <a:xfrm>
            <a:off x="420624" y="59436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