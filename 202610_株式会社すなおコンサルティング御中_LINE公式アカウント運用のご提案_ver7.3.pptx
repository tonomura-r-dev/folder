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8.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3"/>
  </p:notesMasterIdLst>
  <p:handoutMasterIdLst>
    <p:handoutMasterId r:id="rId64"/>
  </p:handoutMasterIdLst>
  <p:sldIdLst>
    <p:sldId id="2363" r:id="rId3"/>
    <p:sldId id="2988" r:id="rId4"/>
    <p:sldId id="2971" r:id="rId5"/>
    <p:sldId id="2972" r:id="rId6"/>
    <p:sldId id="2736" r:id="rId7"/>
    <p:sldId id="2976" r:id="rId8"/>
    <p:sldId id="3033" r:id="rId9"/>
    <p:sldId id="3026" r:id="rId10"/>
    <p:sldId id="2986" r:id="rId11"/>
    <p:sldId id="2761" r:id="rId12"/>
    <p:sldId id="3021" r:id="rId13"/>
    <p:sldId id="3008" r:id="rId14"/>
    <p:sldId id="2737" r:id="rId15"/>
    <p:sldId id="2979" r:id="rId16"/>
    <p:sldId id="3006" r:id="rId17"/>
    <p:sldId id="3027" r:id="rId18"/>
    <p:sldId id="2989" r:id="rId19"/>
    <p:sldId id="3035" r:id="rId69"/>
    <p:sldId id="3015" r:id="rId20"/>
    <p:sldId id="2957" r:id="rId21"/>
    <p:sldId id="3022" r:id="rId22"/>
    <p:sldId id="3031" r:id="rId23"/>
    <p:sldId id="3023" r:id="rId24"/>
    <p:sldId id="3024" r:id="rId25"/>
    <p:sldId id="3019" r:id="rId26"/>
    <p:sldId id="3032" r:id="rId27"/>
    <p:sldId id="3028" r:id="rId28"/>
    <p:sldId id="2970" r:id="rId29"/>
    <p:sldId id="2959" r:id="rId30"/>
    <p:sldId id="3025" r:id="rId31"/>
    <p:sldId id="3034" r:id="rId32"/>
    <p:sldId id="2966" r:id="rId33"/>
    <p:sldId id="3036" r:id="rId70"/>
    <p:sldId id="3037" r:id="rId71"/>
    <p:sldId id="3038" r:id="rId72"/>
    <p:sldId id="3039" r:id="rId73"/>
    <p:sldId id="3011" r:id="rId36"/>
    <p:sldId id="2734" r:id="rId37"/>
    <p:sldId id="2595" r:id="rId38"/>
    <p:sldId id="2566" r:id="rId39"/>
    <p:sldId id="2915" r:id="rId40"/>
    <p:sldId id="2619" r:id="rId41"/>
    <p:sldId id="1169" r:id="rId42"/>
    <p:sldId id="2961" r:id="rId43"/>
    <p:sldId id="2908" r:id="rId44"/>
    <p:sldId id="2935" r:id="rId45"/>
    <p:sldId id="2919" r:id="rId46"/>
    <p:sldId id="2519" r:id="rId47"/>
    <p:sldId id="2931" r:id="rId48"/>
    <p:sldId id="2749" r:id="rId49"/>
    <p:sldId id="2950" r:id="rId50"/>
    <p:sldId id="2563" r:id="rId51"/>
    <p:sldId id="2968" r:id="rId52"/>
    <p:sldId id="2969" r:id="rId53"/>
    <p:sldId id="2951" r:id="rId54"/>
    <p:sldId id="2841" r:id="rId55"/>
    <p:sldId id="2849" r:id="rId56"/>
    <p:sldId id="2904" r:id="rId57"/>
    <p:sldId id="2905" r:id="rId58"/>
    <p:sldId id="2906" r:id="rId59"/>
    <p:sldId id="2907" r:id="rId60"/>
    <p:sldId id="2575" r:id="rId61"/>
    <p:sldId id="2910" r:id="rId6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18.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40</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jpeg"/><Relationship Id="rId8" Type="http://schemas.openxmlformats.org/officeDocument/2006/relationships/image" Target="../media/image20.jp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hyperlink" Target="https://youtube.com/shorts/0qI4QgrOppQ"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2.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svg"/><Relationship Id="rId8"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emf"/><Relationship Id="rId4" Type="http://schemas.openxmlformats.org/officeDocument/2006/relationships/image" Target="../media/image40.jpeg"/><Relationship Id="rId5" Type="http://schemas.openxmlformats.org/officeDocument/2006/relationships/image" Target="../media/image41.jpeg"/><Relationship Id="rId6" Type="http://schemas.openxmlformats.org/officeDocument/2006/relationships/image" Target="../media/image42.jpeg"/><Relationship Id="rId7" Type="http://schemas.openxmlformats.org/officeDocument/2006/relationships/image" Target="../media/image43.jpeg"/><Relationship Id="rId8" Type="http://schemas.openxmlformats.org/officeDocument/2006/relationships/image" Target="../media/image44.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5.svg"/><Relationship Id="rId4" Type="http://schemas.openxmlformats.org/officeDocument/2006/relationships/image" Target="../media/image46.svg"/><Relationship Id="rId5" Type="http://schemas.openxmlformats.org/officeDocument/2006/relationships/image" Target="../media/image47.svg"/><Relationship Id="rId6" Type="http://schemas.openxmlformats.org/officeDocument/2006/relationships/image" Target="../media/image4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image" Target="../media/image7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4042977"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532648"/>
            <a:ext cx="3640831"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という特性があり、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集めた方と、次のイベント参加・サロン入会まで接点を持ち続けることが重要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1A845779-79CA-4072-2A28-CD9E201361F3}"/>
              </a:ext>
            </a:extLst>
          </p:cNvPr>
          <p:cNvSpPr txBox="1"/>
          <p:nvPr/>
        </p:nvSpPr>
        <p:spPr>
          <a:xfrm>
            <a:off x="6381559" y="3815834"/>
            <a:ext cx="2202588"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研修・学びの市場：営業職の学びのニーズが伸びている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21985"/>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企業の研修への投資も、個人がお金を払って学ぶ市場も伸びている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429415095"/>
              </p:ext>
            </p:extLst>
          </p:nvPr>
        </p:nvGraphicFramePr>
        <p:xfrm>
          <a:off x="420624" y="1645920"/>
          <a:ext cx="9052560" cy="265684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企業向け研修サービス市場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6,075億円（前年度比3.7%増）。</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　2026年度は6,300億円の予測</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企業の人材育成への投資は増えている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eラーニング市場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3,924億円（前年度比2.7%増）。法人向け 1,294億円（4.7%増）・個人向け 2,630億円（1.7%増）。個人向けは資格関連の伸びで3年ぶりのプラス</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個人がお金を払って学ぶ市場も、</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再び伸び始めている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オンラインサロン</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最大手のDMMオンラインサロンの流通総額は2024年度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約60億円。シェアは61.9%（2021年度は51.4%）</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有料のオンラインコミュニティで学ぶ形が定着している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保険営業の方の</a:t>
                      </a:r>
                      <a:endParaRPr lang="en-US" altLang="ja-JP" sz="1200" b="1" dirty="0">
                        <a:solidFill>
                          <a:srgbClr val="1F2A5C"/>
                        </a:solidFill>
                        <a:latin typeface="メイリオ" panose="020B0604030504040204" pitchFamily="50" charset="-128"/>
                        <a:ea typeface="メイリオ" panose="020B0604030504040204" pitchFamily="50" charset="-128"/>
                      </a:endParaRPr>
                    </a:p>
                    <a:p>
                      <a:pPr algn="l">
                        <a:buNone/>
                      </a:pPr>
                      <a:r>
                        <a:rPr lang="ja-JP" altLang="en-US" sz="1200" b="1" dirty="0">
                          <a:solidFill>
                            <a:srgbClr val="1F2A5C"/>
                          </a:solidFill>
                          <a:latin typeface="メイリオ" panose="020B0604030504040204" pitchFamily="50" charset="-128"/>
                          <a:ea typeface="メイリオ" panose="020B0604030504040204" pitchFamily="50" charset="-128"/>
                        </a:rPr>
                        <a:t>接触回数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限られた面談で成果を出すやり方を学ぶ必要がある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2932556337"/>
                  </a:ext>
                </a:extLst>
              </a:tr>
            </a:tbl>
          </a:graphicData>
        </a:graphic>
      </p:graphicFrame>
      <p:sp>
        <p:nvSpPr>
          <p:cNvPr id="52" name="示唆"/>
          <p:cNvSpPr/>
          <p:nvPr/>
        </p:nvSpPr>
        <p:spPr>
          <a:xfrm>
            <a:off x="420624" y="446735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学びたい方が増えている。そのため、セミナーで出会った方とLINEでつながり、次のセミナー・サロンの入会まで</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案内を続ける場を整えることが重要。</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※企業向け研修サービス市場：矢野経済研究所（2026年8月24日）／eラーニング市場：矢野経済研究所（2026年4月22日。2025年度は見込み）／オンラインサロン：DMM.com発表（2025年11月14日。調査：デロイト トーマツ ミック経済研究所）／接触回数：矢野経済研究所「生命保険の営業職員アンケート調査」（2023年4〜6月、生命保険の営業職員400名）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お金への関心は高まる一方で、学ぶ機会が少ない</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55516"/>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資産形成を始める方は増えているのに、金融について学んでいない方が約9割</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122004456"/>
              </p:ext>
            </p:extLst>
          </p:nvPr>
        </p:nvGraphicFramePr>
        <p:xfrm>
          <a:off x="420624" y="1645920"/>
          <a:ext cx="9052560" cy="285496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NISA口座数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2,125万 → 2024年末 2,559万 → 2025年末 2,821万口座（政府目標：2027年末までに3,400万口座）</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資産形成を始める方は増え続けている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NISAの累計買付額</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35兆円 → 2024年末 53兆円 → 2025年末 71兆円。2027年末の政府目標56兆円をすでに超えた</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実際にお金が動いている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金融経済教育</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「受けたと認識している」方は8.7%。</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一方で67.5%が「学校で行うべき」と回答</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学ぶ機会が少なく、</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学びたいというニーズは大きい</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知識・計画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金融リテラシーの正答率は53.8%（前回から1.9ポイント低下）。老後の資金計画をたてている方は40.1%、商品性を理解せずに投資信託を買った方は29.3%</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相談に乗れる方が求められている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476197571"/>
                  </a:ext>
                </a:extLst>
              </a:tr>
            </a:tbl>
          </a:graphicData>
        </a:graphic>
      </p:graphicFrame>
      <p:sp>
        <p:nvSpPr>
          <p:cNvPr id="52" name="示唆"/>
          <p:cNvSpPr/>
          <p:nvPr/>
        </p:nvSpPr>
        <p:spPr>
          <a:xfrm>
            <a:off x="420624" y="466547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お金への関心が高まる一方で、学ぶ機会が少ない。保険営業の方にとって、相談につながるチャンスが増えている。一般の方向けのマネーセミナーも、LINEで次回の案内を続けられる。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NISA口座数・買付額：金融庁「NISAの利用状況」（2025年12月末時点）／金融経済教育・正答率・資金計画・投資信託：金融経済教育推進機構（J-FLEC）「金融リテラシー調査（2025年）」（2026年3月27日公表、30,000人）</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726247305"/>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2" name="示唆"/>
          <p:cNvSpPr/>
          <p:nvPr/>
        </p:nvSpPr>
        <p:spPr>
          <a:xfrm>
            <a:off x="420624" y="4526280"/>
            <a:ext cx="9052560"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競合調査：貴社施策内で検討の訴求軸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extLst>
              <p:ext uri="{D42A27DB-BD31-4B8C-83A1-F6EECF244321}">
                <p14:modId xmlns:p14="http://schemas.microsoft.com/office/powerpoint/2010/main" val="3478589760"/>
              </p:ext>
            </p:extLst>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
        <p:nvSpPr>
          <p:cNvPr id="8" name="Rectangle 7"/>
          <p:cNvSpPr/>
          <p:nvPr/>
        </p:nvSpPr>
        <p:spPr>
          <a:xfrm>
            <a:off x="502920" y="1828800"/>
            <a:ext cx="3520440" cy="192024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9" name="Rectangle 8"/>
          <p:cNvSpPr/>
          <p:nvPr/>
        </p:nvSpPr>
        <p:spPr>
          <a:xfrm>
            <a:off x="502920" y="1463040"/>
            <a:ext cx="3520440" cy="365760"/>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広告</a:t>
            </a:r>
          </a:p>
        </p:txBody>
      </p:sp>
      <p:sp>
        <p:nvSpPr>
          <p:cNvPr id="10" name="TextBox 9"/>
          <p:cNvSpPr txBox="1"/>
          <p:nvPr/>
        </p:nvSpPr>
        <p:spPr>
          <a:xfrm>
            <a:off x="594360" y="19019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0">
                <a:solidFill>
                  <a:srgbClr val="333333"/>
                </a:solidFill>
                <a:latin typeface="メイリオ"/>
                <a:ea typeface="メイリオ"/>
                <a:cs typeface="メイリオ"/>
              </a:rPr>
              <a:t>新しい見込み客との接点を獲得する</a:t>
            </a:r>
          </a:p>
        </p:txBody>
      </p:sp>
      <p:cxnSp>
        <p:nvCxnSpPr>
          <p:cNvPr id="11" name="Connector 10"/>
          <p:cNvCxnSpPr/>
          <p:nvPr/>
        </p:nvCxnSpPr>
        <p:spPr>
          <a:xfrm>
            <a:off x="640080" y="23317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94360" y="23591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0">
                <a:solidFill>
                  <a:srgbClr val="333333"/>
                </a:solidFill>
                <a:latin typeface="メイリオ"/>
                <a:ea typeface="メイリオ"/>
                <a:cs typeface="メイリオ"/>
              </a:rPr>
              <a:t>まだつながっていない方</a:t>
            </a:r>
          </a:p>
        </p:txBody>
      </p:sp>
      <p:cxnSp>
        <p:nvCxnSpPr>
          <p:cNvPr id="13" name="Connector 12"/>
          <p:cNvCxnSpPr/>
          <p:nvPr/>
        </p:nvCxnSpPr>
        <p:spPr>
          <a:xfrm>
            <a:off x="640080" y="27889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94360" y="28163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0">
                <a:solidFill>
                  <a:srgbClr val="333333"/>
                </a:solidFill>
                <a:latin typeface="メイリオ"/>
                <a:ea typeface="メイリオ"/>
                <a:cs typeface="メイリオ"/>
              </a:rPr>
              <a:t>広告を配信している期間</a:t>
            </a:r>
          </a:p>
        </p:txBody>
      </p:sp>
      <p:cxnSp>
        <p:nvCxnSpPr>
          <p:cNvPr id="15" name="Connector 14"/>
          <p:cNvCxnSpPr/>
          <p:nvPr/>
        </p:nvCxnSpPr>
        <p:spPr>
          <a:xfrm>
            <a:off x="640080" y="32461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94360" y="32735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0">
                <a:solidFill>
                  <a:srgbClr val="333333"/>
                </a:solidFill>
                <a:latin typeface="メイリオ"/>
                <a:ea typeface="メイリオ"/>
                <a:cs typeface="メイリオ"/>
              </a:rPr>
              <a:t>セミナー予約などの反響</a:t>
            </a:r>
          </a:p>
        </p:txBody>
      </p:sp>
      <p:sp>
        <p:nvSpPr>
          <p:cNvPr id="17" name="Rectangle 16"/>
          <p:cNvSpPr/>
          <p:nvPr/>
        </p:nvSpPr>
        <p:spPr>
          <a:xfrm>
            <a:off x="4846320" y="1828800"/>
            <a:ext cx="4553712" cy="1920240"/>
          </a:xfrm>
          <a:prstGeom prst="rect">
            <a:avLst/>
          </a:prstGeom>
          <a:solidFill>
            <a:srgbClr val="F4F7FF"/>
          </a:solidFill>
          <a:ln w="1587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4846320" y="1463040"/>
            <a:ext cx="4553712" cy="36576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LINE公式アカウント</a:t>
            </a:r>
          </a:p>
        </p:txBody>
      </p:sp>
      <p:sp>
        <p:nvSpPr>
          <p:cNvPr id="19" name="TextBox 18"/>
          <p:cNvSpPr txBox="1"/>
          <p:nvPr/>
        </p:nvSpPr>
        <p:spPr>
          <a:xfrm>
            <a:off x="4937760" y="19019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1">
                <a:solidFill>
                  <a:srgbClr val="1F285A"/>
                </a:solidFill>
                <a:latin typeface="メイリオ"/>
                <a:ea typeface="メイリオ"/>
                <a:cs typeface="メイリオ"/>
              </a:rPr>
              <a:t>一度つながった見込み客に、継続して情報を届ける</a:t>
            </a:r>
          </a:p>
        </p:txBody>
      </p:sp>
      <p:cxnSp>
        <p:nvCxnSpPr>
          <p:cNvPr id="20" name="Connector 19"/>
          <p:cNvCxnSpPr/>
          <p:nvPr/>
        </p:nvCxnSpPr>
        <p:spPr>
          <a:xfrm>
            <a:off x="4983480" y="23317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4937760" y="23591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1">
                <a:solidFill>
                  <a:srgbClr val="1F285A"/>
                </a:solidFill>
                <a:latin typeface="メイリオ"/>
                <a:ea typeface="メイリオ"/>
                <a:cs typeface="メイリオ"/>
              </a:rPr>
              <a:t>友だち追加した方</a:t>
            </a:r>
          </a:p>
        </p:txBody>
      </p:sp>
      <p:cxnSp>
        <p:nvCxnSpPr>
          <p:cNvPr id="22" name="Connector 21"/>
          <p:cNvCxnSpPr/>
          <p:nvPr/>
        </p:nvCxnSpPr>
        <p:spPr>
          <a:xfrm>
            <a:off x="4983480" y="27889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4937760" y="28163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1">
                <a:solidFill>
                  <a:srgbClr val="1F285A"/>
                </a:solidFill>
                <a:latin typeface="メイリオ"/>
                <a:ea typeface="メイリオ"/>
                <a:cs typeface="メイリオ"/>
              </a:rPr>
              <a:t>開催月も、開催のない月も</a:t>
            </a:r>
          </a:p>
        </p:txBody>
      </p:sp>
      <p:cxnSp>
        <p:nvCxnSpPr>
          <p:cNvPr id="24" name="Connector 23"/>
          <p:cNvCxnSpPr/>
          <p:nvPr/>
        </p:nvCxnSpPr>
        <p:spPr>
          <a:xfrm>
            <a:off x="4983480" y="32461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4937760" y="32735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1">
                <a:solidFill>
                  <a:srgbClr val="1F285A"/>
                </a:solidFill>
                <a:latin typeface="メイリオ"/>
                <a:ea typeface="メイリオ"/>
                <a:cs typeface="メイリオ"/>
              </a:rPr>
              <a:t>友だち（次回以降も案内できる相手）</a:t>
            </a:r>
          </a:p>
        </p:txBody>
      </p:sp>
      <p:sp>
        <p:nvSpPr>
          <p:cNvPr id="26" name="TextBox 25"/>
          <p:cNvSpPr txBox="1"/>
          <p:nvPr/>
        </p:nvSpPr>
        <p:spPr>
          <a:xfrm>
            <a:off x="4023360" y="2286000"/>
            <a:ext cx="822960" cy="274320"/>
          </a:xfrm>
          <a:prstGeom prst="rect">
            <a:avLst/>
          </a:prstGeom>
          <a:noFill/>
        </p:spPr>
        <p:txBody>
          <a:bodyPr wrap="square" anchor="b" lIns="36000" rIns="36000" tIns="10800" bIns="10800">
            <a:spAutoFit/>
          </a:bodyPr>
          <a:lstStyle/>
          <a:p>
            <a:pPr algn="ctr">
              <a:lnSpc>
                <a:spcPct val="105000"/>
              </a:lnSpc>
              <a:spcAft>
                <a:spcPts val="200"/>
              </a:spcAft>
            </a:pPr>
            <a:r>
              <a:rPr sz="1000" b="1">
                <a:solidFill>
                  <a:srgbClr val="1F285A"/>
                </a:solidFill>
                <a:latin typeface="メイリオ"/>
                <a:ea typeface="メイリオ"/>
                <a:cs typeface="メイリオ"/>
              </a:rPr>
              <a:t>友だち追加</a:t>
            </a:r>
          </a:p>
        </p:txBody>
      </p:sp>
      <p:sp>
        <p:nvSpPr>
          <p:cNvPr id="27" name="Right Arrow 26"/>
          <p:cNvSpPr/>
          <p:nvPr/>
        </p:nvSpPr>
        <p:spPr>
          <a:xfrm>
            <a:off x="4133088" y="2606039"/>
            <a:ext cx="603504" cy="365760"/>
          </a:xfrm>
          <a:prstGeom prst="rightArrow">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768096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事例紹介：保険・イベント集客でのLINEの成果</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8"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338554"/>
          </a:xfrm>
          <a:prstGeom prst="rect">
            <a:avLst/>
          </a:prstGeom>
          <a:noFill/>
        </p:spPr>
        <p:txBody>
          <a:bodyPr wrap="square">
            <a:spAutoFit/>
          </a:bodyPr>
          <a:lstStyle/>
          <a:p>
            <a:pPr marL="228600">
              <a:spcAft>
                <a:spcPts val="800"/>
              </a:spcAft>
              <a:buNone/>
            </a:pPr>
            <a:r>
              <a:rPr lang="ja-JP" altLang="ja-JP" sz="1600" dirty="0">
                <a:effectLst/>
                <a:latin typeface="メイリオ" panose="02020603050405020304" pitchFamily="18" charset="0"/>
                <a:ea typeface="メイリオ" panose="020B0604030504040204" pitchFamily="50" charset="-128"/>
                <a:cs typeface="メイリオ" panose="020B0604030504040204" pitchFamily="50" charset="-128"/>
              </a:rPr>
              <a:t>保険・イベント集客の事例</a:t>
            </a:r>
            <a:endParaRPr lang="en-US" altLang="ja-JP" sz="16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9" name="事例 8"/>
          <p:cNvGraphicFramePr>
            <a:graphicFrameLocks noGrp="1"/>
          </p:cNvGraphicFramePr>
          <p:nvPr>
            <p:extLst>
              <p:ext uri="{D42A27DB-BD31-4B8C-83A1-F6EECF244321}">
                <p14:modId xmlns:p14="http://schemas.microsoft.com/office/powerpoint/2010/main" val="1259239623"/>
              </p:ext>
            </p:extLst>
          </p:nvPr>
        </p:nvGraphicFramePr>
        <p:xfrm>
          <a:off x="420624" y="1783080"/>
          <a:ext cx="9052560" cy="3767328"/>
        </p:xfrm>
        <a:graphic>
          <a:graphicData uri="http://schemas.openxmlformats.org/drawingml/2006/table">
            <a:tbl>
              <a:tblPr/>
              <a:tblGrid>
                <a:gridCol w="1600200">
                  <a:extLst>
                    <a:ext uri="{9D8B030D-6E8A-4147-A177-3AD203B41FA5}">
                      <a16:colId xmlns:a16="http://schemas.microsoft.com/office/drawing/2014/main" val="20000"/>
                    </a:ext>
                  </a:extLst>
                </a:gridCol>
                <a:gridCol w="2307336">
                  <a:extLst>
                    <a:ext uri="{9D8B030D-6E8A-4147-A177-3AD203B41FA5}">
                      <a16:colId xmlns:a16="http://schemas.microsoft.com/office/drawing/2014/main" val="20001"/>
                    </a:ext>
                  </a:extLst>
                </a:gridCol>
                <a:gridCol w="2673531">
                  <a:extLst>
                    <a:ext uri="{9D8B030D-6E8A-4147-A177-3AD203B41FA5}">
                      <a16:colId xmlns:a16="http://schemas.microsoft.com/office/drawing/2014/main" val="20002"/>
                    </a:ext>
                  </a:extLst>
                </a:gridCol>
                <a:gridCol w="2471493">
                  <a:extLst>
                    <a:ext uri="{9D8B030D-6E8A-4147-A177-3AD203B41FA5}">
                      <a16:colId xmlns:a16="http://schemas.microsoft.com/office/drawing/2014/main" val="20003"/>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業種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LINEでしたこと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結果</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貴社での活かし方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同じ内容をメールとLINEで配信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約8倍</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資料請求のCV率（メール比）</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次回セミナーの案内を、LINEで届ける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1887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営業職員経由で、お客様にLINEの友だち追加を案内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5.2%</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営業職員経由の友だちのブロック率（自然に友だちになった方は74.9%）</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接点のある方を友だちにし、</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配信を届け続ける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教室・スクール</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見学会（イベント）の案内をLINEで配信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約7割</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見学会の参加者の入会率</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セミナー参加後に、サロンの</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注記"/>
          <p:cNvSpPr/>
          <p:nvPr/>
        </p:nvSpPr>
        <p:spPr>
          <a:xfrm>
            <a:off x="420624" y="585216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※LINEヤフー for Business 掲載の導入事例（数値は各社調べ）。生命保険会社＝2024年4月・2025年2月公開、教室・スクール＝2021年8月公開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155798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1196334290"/>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6か月（セミナー開催月と開催のない月で、配信内容と工数が変わる）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友だちを増やし、ブロック率を抑えながら、セミナー参加・サロン入会につなげる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離脱防止ポップアップ（推奨）で、LPを離れる方を対象に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友だち追加直後・予約した方・参加後の段階ごとで、案内を変える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開催のない月は月1〜2回、開催月は月4〜5回の企画配信で、つながりを保つ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イベント開催時だけでない時期にも継続して情報を届ける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2678730967"/>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開催月・開催のない月</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それぞれに合わせて届ける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セミナーの内容を知り、予約につなげる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想定動線（フェーズごとのLINEの役割）①〜④</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⑦マネタイズ</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成約</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購入</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solidFill>
                  <a:srgbClr val="BFBFBF"/>
                </a:solidFill>
                <a:latin typeface="メイリオ" panose="020B0604030504040204" pitchFamily="50" charset="-128"/>
                <a:ea typeface="メイリオ" panose="020B0604030504040204" pitchFamily="50" charset="-128"/>
                <a:cs typeface="メイリオ"/>
              </a:rPr>
              <a:t>⑧</a:t>
            </a:r>
            <a:r>
              <a:rPr lang="en-US" altLang="ja-JP" sz="1100" dirty="0">
                <a:solidFill>
                  <a:srgbClr val="BFBFBF"/>
                </a:solidFill>
                <a:latin typeface="メイリオ" panose="020B0604030504040204" pitchFamily="50" charset="-128"/>
                <a:ea typeface="メイリオ" panose="020B0604030504040204" pitchFamily="50" charset="-128"/>
                <a:cs typeface="メイリオ"/>
              </a:rPr>
              <a:t>LTV</a:t>
            </a:r>
            <a:r>
              <a:rPr lang="ja-JP" altLang="en-US" sz="1100" dirty="0">
                <a:solidFill>
                  <a:srgbClr val="BFBFBF"/>
                </a:solidFill>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LPを離れる方を友だちにし、セミナーの予約・参加までつなげる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① 接触</a:t>
            </a:r>
          </a:p>
          <a:p>
            <a:pPr algn="ctr">
              <a:lnSpc>
                <a:spcPct val="110000"/>
              </a:lnSpc>
              <a:spcAft>
                <a:spcPts val="0"/>
              </a:spcAft>
            </a:pPr>
            <a:r>
              <a:rPr sz="1050" b="1">
                <a:solidFill>
                  <a:srgbClr val="1F285A"/>
                </a:solidFill>
                <a:latin typeface="メイリオ"/>
                <a:ea typeface="メイリオ"/>
                <a:cs typeface="メイリオ"/>
              </a:rPr>
              <a:t>（認知・流入）</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営業力を上げたい・</a:t>
            </a:r>
          </a:p>
          <a:p>
            <a:pPr algn="l">
              <a:lnSpc>
                <a:spcPct val="105000"/>
              </a:lnSpc>
              <a:spcAft>
                <a:spcPts val="200"/>
              </a:spcAft>
            </a:pPr>
            <a:r>
              <a:rPr sz="1300" b="0">
                <a:solidFill>
                  <a:srgbClr val="333333"/>
                </a:solidFill>
                <a:latin typeface="メイリオ"/>
                <a:ea typeface="メイリオ"/>
                <a:cs typeface="メイリオ"/>
              </a:rPr>
              <a:t>情報収集中</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離脱防止ポップアップ</a:t>
            </a:r>
          </a:p>
          <a:p>
            <a:pPr algn="l">
              <a:lnSpc>
                <a:spcPct val="110000"/>
              </a:lnSpc>
              <a:spcAft>
                <a:spcPts val="0"/>
              </a:spcAft>
            </a:pPr>
            <a:r>
              <a:rPr sz="1300" b="1">
                <a:solidFill>
                  <a:srgbClr val="1F285A"/>
                </a:solidFill>
                <a:latin typeface="メイリオ"/>
                <a:ea typeface="メイリオ"/>
                <a:cs typeface="メイリオ"/>
              </a:rPr>
              <a:t>（推奨）</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② サイト離脱</a:t>
            </a:r>
          </a:p>
          <a:p>
            <a:pPr algn="ctr">
              <a:lnSpc>
                <a:spcPct val="110000"/>
              </a:lnSpc>
              <a:spcAft>
                <a:spcPts val="0"/>
              </a:spcAft>
            </a:pPr>
            <a:r>
              <a:rPr sz="1050" b="1">
                <a:solidFill>
                  <a:srgbClr val="1F285A"/>
                </a:solidFill>
                <a:latin typeface="メイリオ"/>
                <a:ea typeface="メイリオ"/>
                <a:cs typeface="メイリオ"/>
              </a:rPr>
              <a:t>（対策）</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今回は申し込まない</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ポップアップから</a:t>
            </a:r>
          </a:p>
          <a:p>
            <a:pPr algn="l">
              <a:lnSpc>
                <a:spcPct val="110000"/>
              </a:lnSpc>
              <a:spcAft>
                <a:spcPts val="0"/>
              </a:spcAft>
            </a:pPr>
            <a:r>
              <a:rPr sz="1300" b="1">
                <a:solidFill>
                  <a:srgbClr val="1F285A"/>
                </a:solidFill>
                <a:latin typeface="メイリオ"/>
                <a:ea typeface="メイリオ"/>
                <a:cs typeface="メイリオ"/>
              </a:rPr>
              <a:t>LINE友だち化</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③ 育成</a:t>
            </a:r>
          </a:p>
          <a:p>
            <a:pPr algn="ctr">
              <a:lnSpc>
                <a:spcPct val="110000"/>
              </a:lnSpc>
              <a:spcAft>
                <a:spcPts val="0"/>
              </a:spcAft>
            </a:pPr>
            <a:r>
              <a:rPr sz="1050" b="1">
                <a:solidFill>
                  <a:srgbClr val="1F285A"/>
                </a:solidFill>
                <a:latin typeface="メイリオ"/>
                <a:ea typeface="メイリオ"/>
                <a:cs typeface="メイリオ"/>
              </a:rPr>
              <a:t>（興味喚起）</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どんなセミナーか</a:t>
            </a:r>
          </a:p>
          <a:p>
            <a:pPr algn="l">
              <a:lnSpc>
                <a:spcPct val="105000"/>
              </a:lnSpc>
              <a:spcAft>
                <a:spcPts val="200"/>
              </a:spcAft>
            </a:pPr>
            <a:r>
              <a:rPr sz="1300" b="0">
                <a:solidFill>
                  <a:srgbClr val="333333"/>
                </a:solidFill>
                <a:latin typeface="メイリオ"/>
                <a:ea typeface="メイリオ"/>
                <a:cs typeface="メイリオ"/>
              </a:rPr>
              <a:t>分からない</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見どころ・特典を</a:t>
            </a:r>
          </a:p>
          <a:p>
            <a:pPr algn="l">
              <a:lnSpc>
                <a:spcPct val="110000"/>
              </a:lnSpc>
              <a:spcAft>
                <a:spcPts val="0"/>
              </a:spcAft>
            </a:pPr>
            <a:r>
              <a:rPr sz="1300" b="1">
                <a:solidFill>
                  <a:srgbClr val="1F285A"/>
                </a:solidFill>
                <a:latin typeface="メイリオ"/>
                <a:ea typeface="メイリオ"/>
                <a:cs typeface="メイリオ"/>
              </a:rPr>
              <a:t>ステップ配信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④ リード獲得</a:t>
            </a:r>
          </a:p>
          <a:p>
            <a:pPr algn="ctr">
              <a:lnSpc>
                <a:spcPct val="110000"/>
              </a:lnSpc>
              <a:spcAft>
                <a:spcPts val="0"/>
              </a:spcAft>
            </a:pPr>
            <a:r>
              <a:rPr sz="1050" b="1">
                <a:solidFill>
                  <a:srgbClr val="1F285A"/>
                </a:solidFill>
                <a:latin typeface="メイリオ"/>
                <a:ea typeface="メイリオ"/>
                <a:cs typeface="メイリオ"/>
              </a:rPr>
              <a:t>(web/LINE)</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セミナーを予約した</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予約後の友だち追加・</a:t>
            </a:r>
          </a:p>
          <a:p>
            <a:pPr algn="l">
              <a:lnSpc>
                <a:spcPct val="110000"/>
              </a:lnSpc>
              <a:spcAft>
                <a:spcPts val="0"/>
              </a:spcAft>
            </a:pPr>
            <a:r>
              <a:rPr sz="1300" b="1">
                <a:solidFill>
                  <a:srgbClr val="1F285A"/>
                </a:solidFill>
                <a:latin typeface="メイリオ"/>
                <a:ea typeface="メイリオ"/>
                <a:cs typeface="メイリオ"/>
              </a:rPr>
              <a:t>前日の案内</a:t>
            </a:r>
          </a:p>
        </p:txBody>
      </p:sp>
    </p:spTree>
    <p:extLst>
      <p:ext uri="{BB962C8B-B14F-4D97-AF65-F5344CB8AC3E}">
        <p14:creationId xmlns:p14="http://schemas.microsoft.com/office/powerpoint/2010/main" val="35712723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想定動線（フェーズごとのLINEの役割）⑤〜⑧</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② サイト離脱</a:t>
            </a:r>
            <a:r>
              <a:rPr lang="ja-JP" altLang="en-US" sz="1100" dirty="0">
                <a:solidFill>
                  <a:srgbClr val="BFBFBF"/>
                </a:solidFill>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solidFill>
                  <a:srgbClr val="BFBFBF"/>
                </a:solidFill>
                <a:latin typeface="メイリオ" panose="020B0604030504040204" pitchFamily="50" charset="-128"/>
                <a:ea typeface="メイリオ" panose="020B0604030504040204" pitchFamily="50" charset="-128"/>
                <a:cs typeface="メイリオ"/>
              </a:rPr>
              <a:t>③ 育成（興味</a:t>
            </a:r>
            <a:r>
              <a:rPr lang="ja-JP" altLang="en-US" sz="1100" b="1" dirty="0">
                <a:solidFill>
                  <a:srgbClr val="BFBFBF"/>
                </a:solidFill>
                <a:latin typeface="メイリオ" panose="020B0604030504040204" pitchFamily="50" charset="-128"/>
                <a:ea typeface="メイリオ" panose="020B0604030504040204" pitchFamily="50" charset="-128"/>
                <a:cs typeface="メイリオ"/>
              </a:rPr>
              <a:t>喚起</a:t>
            </a:r>
            <a:r>
              <a:rPr lang="ja-JP" altLang="ja-JP" sz="1100" b="1" dirty="0">
                <a:solidFill>
                  <a:srgbClr val="BFBFBF"/>
                </a:solidFill>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④リード獲得 </a:t>
            </a:r>
            <a:r>
              <a:rPr lang="en-US" altLang="ja-JP" sz="900" b="1" dirty="0">
                <a:solidFill>
                  <a:srgbClr val="BFBFBF"/>
                </a:solidFill>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参加後の関心が高いうちにサロン入会を案内し、次のイベント・紹介までつなげる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⑤ リード有効化</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参加して</a:t>
            </a:r>
          </a:p>
          <a:p>
            <a:pPr algn="l">
              <a:lnSpc>
                <a:spcPct val="105000"/>
              </a:lnSpc>
              <a:spcAft>
                <a:spcPts val="200"/>
              </a:spcAft>
            </a:pPr>
            <a:r>
              <a:rPr sz="1300" b="0">
                <a:solidFill>
                  <a:srgbClr val="333333"/>
                </a:solidFill>
                <a:latin typeface="メイリオ"/>
                <a:ea typeface="メイリオ"/>
                <a:cs typeface="メイリオ"/>
              </a:rPr>
              <a:t>関心が高まっている</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参加直後にサロンを案内</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⑥ 有効リードの再育成</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未入会／予約したが不参加</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月1〜2回の配信で次回へ</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⑦ マネタイズ</a:t>
            </a:r>
          </a:p>
          <a:p>
            <a:pPr algn="ctr">
              <a:lnSpc>
                <a:spcPct val="110000"/>
              </a:lnSpc>
              <a:spcAft>
                <a:spcPts val="0"/>
              </a:spcAft>
            </a:pPr>
            <a:r>
              <a:rPr sz="1050" b="1">
                <a:solidFill>
                  <a:srgbClr val="1F285A"/>
                </a:solidFill>
                <a:latin typeface="メイリオ"/>
                <a:ea typeface="メイリオ"/>
                <a:cs typeface="メイリオ"/>
              </a:rPr>
              <a:t>(成約/購入)</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サロンの入会を検討</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入会した方の声を配信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⑧ LTV最大化・紹介</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サロンに入会</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イベント案内・紹介</a:t>
            </a:r>
          </a:p>
          <a:p>
            <a:pPr algn="l">
              <a:lnSpc>
                <a:spcPct val="110000"/>
              </a:lnSpc>
              <a:spcAft>
                <a:spcPts val="0"/>
              </a:spcAft>
            </a:pPr>
            <a:r>
              <a:rPr sz="1300" b="1">
                <a:solidFill>
                  <a:srgbClr val="1F285A"/>
                </a:solidFill>
                <a:latin typeface="メイリオ"/>
                <a:ea typeface="メイリオ"/>
                <a:cs typeface="メイリオ"/>
              </a:rPr>
              <a:t>（中長期）</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入会</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a:t>
            </a:r>
            <a:r>
              <a:rPr lang="ja-JP" altLang="en-US" sz="1000" b="1" dirty="0">
                <a:latin typeface="メイリオ" panose="020B0604030504040204" pitchFamily="50" charset="-128"/>
                <a:ea typeface="メイリオ" panose="020B0604030504040204" pitchFamily="50" charset="-128"/>
                <a:cs typeface="メイリオ"/>
              </a:rPr>
              <a:t>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・見どころ配信</a:t>
            </a:r>
            <a:endParaRPr lang="en-US" altLang="ja-JP" sz="1000" b="1" dirty="0">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・参加者の声</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開催のない月の配信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en-US" altLang="ja-JP" sz="1000" dirty="0" err="1">
                <a:solidFill>
                  <a:srgbClr val="1F2A5C"/>
                </a:solidFill>
                <a:latin typeface="メイリオ" panose="020B0604030504040204" pitchFamily="50" charset="-128"/>
                <a:ea typeface="メイリオ" panose="020B0604030504040204" pitchFamily="50" charset="-128"/>
                <a:cs typeface="メイリオ"/>
              </a:rPr>
              <a:t>個別チャットは貴社で対応</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（自動応答などの効率化は弊社で設定）</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¥285,000程度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開催のない月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開催のない月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8通の改善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8通を構築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¥315,000程度／開催のない月 ¥165,000〜）</a:t>
            </a:r>
            <a:endParaRPr lang="ja-JP" altLang="en-US" sz="1200" dirty="0">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extLst>
              <p:ext uri="{D42A27DB-BD31-4B8C-83A1-F6EECF244321}">
                <p14:modId xmlns:p14="http://schemas.microsoft.com/office/powerpoint/2010/main" val="1493693055"/>
              </p:ext>
            </p:extLst>
          </p:nvPr>
        </p:nvGraphicFramePr>
        <p:xfrm>
          <a:off x="381000" y="1490760"/>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285,000円程度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315,000円程度（＋30,000円〜）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14720398"/>
              </p:ext>
            </p:extLst>
          </p:nvPr>
        </p:nvGraphicFramePr>
        <p:xfrm>
          <a:off x="381000" y="1484376"/>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cs typeface="メイリオ"/>
                        </a:rPr>
                        <a:t>25</a:t>
                      </a:r>
                      <a:r>
                        <a:rPr lang="ja-JP" altLang="en-US" sz="1500" b="0" dirty="0">
                          <a:solidFill>
                            <a:srgbClr val="333333"/>
                          </a:solidFill>
                          <a:latin typeface="メイリオ" panose="020B0604030504040204" pitchFamily="50" charset="-128"/>
                          <a:ea typeface="メイリオ" panose="020B0604030504040204" pitchFamily="50" charset="-128"/>
                          <a:cs typeface="メイリオ"/>
                        </a:rPr>
                        <a:t>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600" b="1" dirty="0">
                          <a:solidFill>
                            <a:srgbClr val="1F285A"/>
                          </a:solidFill>
                          <a:latin typeface="メイリオ" panose="020B0604030504040204" pitchFamily="50" charset="-128"/>
                          <a:ea typeface="メイリオ" panose="020B0604030504040204" pitchFamily="50" charset="-128"/>
                          <a:cs typeface="メイリオ"/>
                        </a:rPr>
                        <a:t>28</a:t>
                      </a:r>
                      <a:r>
                        <a:rPr lang="ja-JP" altLang="en-US" sz="1600" b="1" dirty="0">
                          <a:solidFill>
                            <a:srgbClr val="1F285A"/>
                          </a:solidFill>
                          <a:latin typeface="メイリオ" panose="020B0604030504040204" pitchFamily="50" charset="-128"/>
                          <a:ea typeface="メイリオ" panose="020B0604030504040204" pitchFamily="50" charset="-128"/>
                          <a:cs typeface="メイリオ"/>
                        </a:rPr>
                        <a:t>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1470470243"/>
              </p:ext>
            </p:extLst>
          </p:nvPr>
        </p:nvGraphicFramePr>
        <p:xfrm>
          <a:off x="381000" y="1490760"/>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a:t>
                      </a:r>
                      <a:endParaRPr lang="en-US" altLang="ja-JP" sz="1300" b="1" dirty="0">
                        <a:solidFill>
                          <a:srgbClr val="1F285A"/>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流入経路ごとにステップ配信を構築し、CV数の増加を図る。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extLst>
              <p:ext uri="{D42A27DB-BD31-4B8C-83A1-F6EECF244321}">
                <p14:modId xmlns:p14="http://schemas.microsoft.com/office/powerpoint/2010/main" val="101222327"/>
              </p:ext>
            </p:extLst>
          </p:nvPr>
        </p:nvGraphicFramePr>
        <p:xfrm>
          <a:off x="420624" y="1600200"/>
          <a:ext cx="9052560" cy="3931920"/>
        </p:xfrm>
        <a:graphic>
          <a:graphicData uri="http://schemas.openxmlformats.org/drawingml/2006/table">
            <a:tbl>
              <a:tblPr/>
              <a:tblGrid>
                <a:gridCol w="1700276">
                  <a:extLst>
                    <a:ext uri="{9D8B030D-6E8A-4147-A177-3AD203B41FA5}">
                      <a16:colId xmlns:a16="http://schemas.microsoft.com/office/drawing/2014/main" val="20000"/>
                    </a:ext>
                  </a:extLst>
                </a:gridCol>
                <a:gridCol w="4229100">
                  <a:extLst>
                    <a:ext uri="{9D8B030D-6E8A-4147-A177-3AD203B41FA5}">
                      <a16:colId xmlns:a16="http://schemas.microsoft.com/office/drawing/2014/main" val="20001"/>
                    </a:ext>
                  </a:extLst>
                </a:gridCol>
                <a:gridCol w="3123184">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離脱防止ポップアップ（推奨）／予約完了後の友だち追加：サンクスLINE誘導（追加オプション）または通常の</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（診断で、関心に合わせて出し分け）</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セミナーLPへ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配信の内容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友だち追加から15日ほどで反応が下がり、ブロックも増えやすい。</a:t>
            </a:r>
          </a:p>
          <a:p>
            <a:r>
              <a:rPr lang="ja-JP" altLang="en-US" sz="1600" b="1" dirty="0">
                <a:latin typeface="メイリオ" panose="020B0604030504040204" pitchFamily="50" charset="-128"/>
                <a:ea typeface="メイリオ" panose="020B0604030504040204" pitchFamily="50" charset="-128"/>
                <a:cs typeface="メイリオ"/>
                <a:sym typeface="Meiryo"/>
              </a:rPr>
              <a:t>そのため、段階に合わせて配信を変え、イベントのない時期は回数を絞る。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関心が高いうちに、サロンをご案内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谷岡様の経歴：契約件数全国1位で表彰・週2日の営業で毎年TOT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597471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※契約期間は6か月。貴社作業・確認にかかる時間により前後する場合があ</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ります</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LINEステップ配信シナリオ（8通）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診断によるセグメント分け（2問）</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セミナー開催月・開催のない月の企画配信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開催月は月4〜5回、開催のない月は月1〜2回の配信案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前後検索「投資セミナー」</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セミナーを探した方は、その日にほかのセミナーと比べて不安を確かめ、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1〜4日後に始め方を調べる。関心が続く15日間をステップ配信で追う。</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63" name="正方形/長方形 262">
            <a:extLst>
              <a:ext uri="{FF2B5EF4-FFF2-40B4-BE49-F238E27FC236}">
                <a16:creationId xmlns:a16="http://schemas.microsoft.com/office/drawing/2014/main" id="{748363DA-2C29-7135-6BD0-55F74CF1062A}"/>
              </a:ext>
            </a:extLst>
          </p:cNvPr>
          <p:cNvSpPr/>
          <p:nvPr/>
        </p:nvSpPr>
        <p:spPr>
          <a:xfrm>
            <a:off x="868680" y="6219402"/>
            <a:ext cx="3580333"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94733" y="6219402"/>
            <a:ext cx="3414827"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pic>
        <p:nvPicPr>
          <p:cNvPr id="853" name="Picture 852" descr="sunao_zengo_toushi_seminar_color.png"/>
          <p:cNvPicPr>
            <a:picLocks noChangeAspect="1"/>
          </p:cNvPicPr>
          <p:nvPr/>
        </p:nvPicPr>
        <p:blipFill>
          <a:blip r:embed="rId5"/>
          <a:stretch>
            <a:fillRect/>
          </a:stretch>
        </p:blipFill>
        <p:spPr>
          <a:xfrm>
            <a:off x="868680" y="2157984"/>
            <a:ext cx="7040880" cy="4108353"/>
          </a:xfrm>
          <a:prstGeom prst="rect">
            <a:avLst/>
          </a:prstGeom>
        </p:spPr>
      </p:pic>
      <p:sp>
        <p:nvSpPr>
          <p:cNvPr id="267" name="正方形/長方形 266">
            <a:extLst>
              <a:ext uri="{FF2B5EF4-FFF2-40B4-BE49-F238E27FC236}">
                <a16:creationId xmlns:a16="http://schemas.microsoft.com/office/drawing/2014/main" id="{AD15A6B3-E0B8-2B6E-5872-4F23BABCE27E}"/>
              </a:ext>
            </a:extLst>
          </p:cNvPr>
          <p:cNvSpPr/>
          <p:nvPr/>
        </p:nvSpPr>
        <p:spPr>
          <a:xfrm>
            <a:off x="4494733" y="1700784"/>
            <a:ext cx="823782" cy="4565553"/>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57573"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86757"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1646576" y="2519059"/>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1397588" y="2213387"/>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投資セミナー</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16日以降へ</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（企画配信で</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再アプローチ）</a:t>
            </a:r>
            <a:endParaRPr lang="en-US" altLang="ja-JP" sz="800" dirty="0">
              <a:latin typeface="メイリオ" panose="020B0604030504040204" pitchFamily="50" charset="-128"/>
              <a:ea typeface="メイリオ" panose="020B0604030504040204" pitchFamily="50" charset="-128"/>
            </a:endParaRPr>
          </a:p>
        </p:txBody>
      </p:sp>
      <p:sp>
        <p:nvSpPr>
          <p:cNvPr id="854" name="Rectangle 853"/>
          <p:cNvSpPr/>
          <p:nvPr/>
        </p:nvSpPr>
        <p:spPr>
          <a:xfrm>
            <a:off x="8065008" y="1847088"/>
            <a:ext cx="1691640" cy="274320"/>
          </a:xfrm>
          <a:prstGeom prst="rect">
            <a:avLst/>
          </a:prstGeom>
          <a:solidFill>
            <a:srgbClr val="3467B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比べる：ほかのセミナー</a:t>
            </a:r>
          </a:p>
        </p:txBody>
      </p:sp>
      <p:sp>
        <p:nvSpPr>
          <p:cNvPr id="855" name="Rectangle 854"/>
          <p:cNvSpPr/>
          <p:nvPr/>
        </p:nvSpPr>
        <p:spPr>
          <a:xfrm>
            <a:off x="8065008" y="2176272"/>
            <a:ext cx="1691640" cy="274320"/>
          </a:xfrm>
          <a:prstGeom prst="rect">
            <a:avLst/>
          </a:prstGeom>
          <a:solidFill>
            <a:srgbClr val="8E4EC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確かめる：不安・安全性</a:t>
            </a:r>
          </a:p>
        </p:txBody>
      </p:sp>
      <p:sp>
        <p:nvSpPr>
          <p:cNvPr id="856" name="Rectangle 855"/>
          <p:cNvSpPr/>
          <p:nvPr/>
        </p:nvSpPr>
        <p:spPr>
          <a:xfrm>
            <a:off x="8065008" y="2505456"/>
            <a:ext cx="1691640" cy="274320"/>
          </a:xfrm>
          <a:prstGeom prst="rect">
            <a:avLst/>
          </a:prstGeom>
          <a:solidFill>
            <a:srgbClr val="00897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始める：始め方</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セミナーを探した直後から不安を順に解消し、</a:t>
            </a:r>
          </a:p>
          <a:p>
            <a:r>
              <a:rPr lang="ja-JP" altLang="en-US" sz="1600" b="1" dirty="0">
                <a:latin typeface="メイリオ" panose="020B0604030504040204" pitchFamily="50" charset="-128"/>
                <a:ea typeface="メイリオ" panose="020B0604030504040204" pitchFamily="50" charset="-128"/>
                <a:cs typeface="Meiryo"/>
                <a:sym typeface="Meiryo"/>
              </a:rPr>
              <a:t>15日以内にCV（セミナー予約）へつなげる配信を設計。</a:t>
            </a:r>
          </a:p>
        </p:txBody>
      </p:sp>
      <p:sp>
        <p:nvSpPr>
          <p:cNvPr id="11" name="Rectangle 10"/>
          <p:cNvSpPr/>
          <p:nvPr/>
        </p:nvSpPr>
        <p:spPr>
          <a:xfrm>
            <a:off x="384048"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2" name="Rectangle 11"/>
          <p:cNvSpPr/>
          <p:nvPr/>
        </p:nvSpPr>
        <p:spPr>
          <a:xfrm>
            <a:off x="384048"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0日目</a:t>
            </a:r>
          </a:p>
          <a:p>
            <a:pPr algn="ctr">
              <a:lnSpc>
                <a:spcPct val="110000"/>
              </a:lnSpc>
              <a:spcAft>
                <a:spcPts val="0"/>
              </a:spcAft>
            </a:pPr>
            <a:r>
              <a:rPr sz="1050" b="0">
                <a:solidFill>
                  <a:srgbClr val="FFFFFF"/>
                </a:solidFill>
                <a:latin typeface="メイリオ"/>
                <a:ea typeface="メイリオ"/>
                <a:cs typeface="メイリオ"/>
              </a:rPr>
              <a:t>追加直後：診断</a:t>
            </a:r>
          </a:p>
        </p:txBody>
      </p:sp>
      <p:sp>
        <p:nvSpPr>
          <p:cNvPr id="13" name="Rectangle 12"/>
          <p:cNvSpPr/>
          <p:nvPr/>
        </p:nvSpPr>
        <p:spPr>
          <a:xfrm>
            <a:off x="457200"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ご登録ありがとう</a:t>
            </a:r>
          </a:p>
          <a:p>
            <a:pPr algn="ctr">
              <a:lnSpc>
                <a:spcPct val="110000"/>
              </a:lnSpc>
              <a:spcAft>
                <a:spcPts val="0"/>
              </a:spcAft>
            </a:pPr>
            <a:r>
              <a:rPr sz="1200" b="1">
                <a:solidFill>
                  <a:srgbClr val="1F2A5C"/>
                </a:solidFill>
                <a:latin typeface="メイリオ"/>
                <a:ea typeface="メイリオ"/>
                <a:cs typeface="メイリオ"/>
              </a:rPr>
              <a:t>ございます！</a:t>
            </a:r>
          </a:p>
        </p:txBody>
      </p:sp>
      <p:sp>
        <p:nvSpPr>
          <p:cNvPr id="14" name="Rectangle 13"/>
          <p:cNvSpPr/>
          <p:nvPr/>
        </p:nvSpPr>
        <p:spPr>
          <a:xfrm>
            <a:off x="457200"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参加特典のご案内</a:t>
            </a:r>
          </a:p>
          <a:p>
            <a:pPr algn="ctr">
              <a:lnSpc>
                <a:spcPct val="110000"/>
              </a:lnSpc>
              <a:spcAft>
                <a:spcPts val="0"/>
              </a:spcAft>
            </a:pPr>
            <a:r>
              <a:rPr sz="1100" b="0">
                <a:solidFill>
                  <a:srgbClr val="333333"/>
                </a:solidFill>
                <a:latin typeface="メイリオ"/>
                <a:ea typeface="メイリオ"/>
                <a:cs typeface="メイリオ"/>
              </a:rPr>
              <a:t>2問の診断で関心を確認</a:t>
            </a:r>
          </a:p>
        </p:txBody>
      </p:sp>
      <p:sp>
        <p:nvSpPr>
          <p:cNvPr id="15" name="Rectangle 14"/>
          <p:cNvSpPr/>
          <p:nvPr/>
        </p:nvSpPr>
        <p:spPr>
          <a:xfrm>
            <a:off x="475488"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16" name="Rectangle 15"/>
          <p:cNvSpPr/>
          <p:nvPr/>
        </p:nvSpPr>
        <p:spPr>
          <a:xfrm>
            <a:off x="612647"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2問で診断する</a:t>
            </a:r>
          </a:p>
        </p:txBody>
      </p:sp>
      <p:sp>
        <p:nvSpPr>
          <p:cNvPr id="17" name="Rectangle 16"/>
          <p:cNvSpPr/>
          <p:nvPr/>
        </p:nvSpPr>
        <p:spPr>
          <a:xfrm>
            <a:off x="2688336"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2688336"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2日目</a:t>
            </a:r>
          </a:p>
          <a:p>
            <a:pPr algn="ctr">
              <a:lnSpc>
                <a:spcPct val="110000"/>
              </a:lnSpc>
              <a:spcAft>
                <a:spcPts val="0"/>
              </a:spcAft>
            </a:pPr>
            <a:r>
              <a:rPr sz="1050" b="0">
                <a:solidFill>
                  <a:srgbClr val="FFFFFF"/>
                </a:solidFill>
                <a:latin typeface="メイリオ"/>
                <a:ea typeface="メイリオ"/>
                <a:cs typeface="メイリオ"/>
              </a:rPr>
              <a:t>比べる</a:t>
            </a:r>
          </a:p>
        </p:txBody>
      </p:sp>
      <p:sp>
        <p:nvSpPr>
          <p:cNvPr id="19" name="Rectangle 18"/>
          <p:cNvSpPr/>
          <p:nvPr/>
        </p:nvSpPr>
        <p:spPr>
          <a:xfrm>
            <a:off x="2761488"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ほかのセミナーと、</a:t>
            </a:r>
          </a:p>
          <a:p>
            <a:pPr algn="ctr">
              <a:lnSpc>
                <a:spcPct val="110000"/>
              </a:lnSpc>
              <a:spcAft>
                <a:spcPts val="0"/>
              </a:spcAft>
            </a:pPr>
            <a:r>
              <a:rPr sz="1200" b="1">
                <a:solidFill>
                  <a:srgbClr val="1F2A5C"/>
                </a:solidFill>
                <a:latin typeface="メイリオ"/>
                <a:ea typeface="メイリオ"/>
                <a:cs typeface="メイリオ"/>
              </a:rPr>
              <a:t>ここが違います</a:t>
            </a:r>
          </a:p>
        </p:txBody>
      </p:sp>
      <p:sp>
        <p:nvSpPr>
          <p:cNvPr id="20" name="Rectangle 19"/>
          <p:cNvSpPr/>
          <p:nvPr/>
        </p:nvSpPr>
        <p:spPr>
          <a:xfrm>
            <a:off x="2761488"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両想い営業・ライフプラン</a:t>
            </a:r>
          </a:p>
          <a:p>
            <a:pPr algn="ctr">
              <a:lnSpc>
                <a:spcPct val="110000"/>
              </a:lnSpc>
              <a:spcAft>
                <a:spcPts val="0"/>
              </a:spcAft>
            </a:pPr>
            <a:r>
              <a:rPr sz="1100" b="0">
                <a:solidFill>
                  <a:srgbClr val="333333"/>
                </a:solidFill>
                <a:latin typeface="メイリオ"/>
                <a:ea typeface="メイリオ"/>
                <a:cs typeface="メイリオ"/>
              </a:rPr>
              <a:t>ブロックを動画で紹介</a:t>
            </a:r>
          </a:p>
        </p:txBody>
      </p:sp>
      <p:sp>
        <p:nvSpPr>
          <p:cNvPr id="21" name="Rectangle 20"/>
          <p:cNvSpPr/>
          <p:nvPr/>
        </p:nvSpPr>
        <p:spPr>
          <a:xfrm>
            <a:off x="2779776"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検索した日に「投資セミナー 東京」「資産運用セミナー」と比べている</a:t>
            </a:r>
          </a:p>
        </p:txBody>
      </p:sp>
      <p:sp>
        <p:nvSpPr>
          <p:cNvPr id="22" name="Rectangle 21"/>
          <p:cNvSpPr/>
          <p:nvPr/>
        </p:nvSpPr>
        <p:spPr>
          <a:xfrm>
            <a:off x="2916936"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見どころ動画を見る</a:t>
            </a:r>
          </a:p>
        </p:txBody>
      </p:sp>
      <p:sp>
        <p:nvSpPr>
          <p:cNvPr id="23" name="Rectangle 22"/>
          <p:cNvSpPr/>
          <p:nvPr/>
        </p:nvSpPr>
        <p:spPr>
          <a:xfrm>
            <a:off x="4992624"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4" name="Rectangle 23"/>
          <p:cNvSpPr/>
          <p:nvPr/>
        </p:nvSpPr>
        <p:spPr>
          <a:xfrm>
            <a:off x="4992624"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4日目</a:t>
            </a:r>
          </a:p>
          <a:p>
            <a:pPr algn="ctr">
              <a:lnSpc>
                <a:spcPct val="110000"/>
              </a:lnSpc>
              <a:spcAft>
                <a:spcPts val="0"/>
              </a:spcAft>
            </a:pPr>
            <a:r>
              <a:rPr sz="1050" b="0">
                <a:solidFill>
                  <a:srgbClr val="FFFFFF"/>
                </a:solidFill>
                <a:latin typeface="メイリオ"/>
                <a:ea typeface="メイリオ"/>
                <a:cs typeface="メイリオ"/>
              </a:rPr>
              <a:t>確かめる</a:t>
            </a:r>
          </a:p>
        </p:txBody>
      </p:sp>
      <p:sp>
        <p:nvSpPr>
          <p:cNvPr id="25" name="Rectangle 24"/>
          <p:cNvSpPr/>
          <p:nvPr/>
        </p:nvSpPr>
        <p:spPr>
          <a:xfrm>
            <a:off x="5065776"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安心してご参加ください</a:t>
            </a:r>
          </a:p>
        </p:txBody>
      </p:sp>
      <p:sp>
        <p:nvSpPr>
          <p:cNvPr id="26" name="Rectangle 25"/>
          <p:cNvSpPr/>
          <p:nvPr/>
        </p:nvSpPr>
        <p:spPr>
          <a:xfrm>
            <a:off x="5065776"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講師の経歴と実績</a:t>
            </a:r>
          </a:p>
          <a:p>
            <a:pPr algn="ctr">
              <a:lnSpc>
                <a:spcPct val="110000"/>
              </a:lnSpc>
              <a:spcAft>
                <a:spcPts val="0"/>
              </a:spcAft>
            </a:pPr>
            <a:r>
              <a:rPr sz="1100" b="0">
                <a:solidFill>
                  <a:srgbClr val="333333"/>
                </a:solidFill>
                <a:latin typeface="メイリオ"/>
                <a:ea typeface="メイリオ"/>
                <a:cs typeface="メイリオ"/>
              </a:rPr>
              <a:t>参加は無料</a:t>
            </a:r>
          </a:p>
        </p:txBody>
      </p:sp>
      <p:sp>
        <p:nvSpPr>
          <p:cNvPr id="27" name="Rectangle 26"/>
          <p:cNvSpPr/>
          <p:nvPr/>
        </p:nvSpPr>
        <p:spPr>
          <a:xfrm>
            <a:off x="5084064"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検索した日に「投資詐欺」「金融庁」で不安を確かめている</a:t>
            </a:r>
          </a:p>
        </p:txBody>
      </p:sp>
      <p:sp>
        <p:nvSpPr>
          <p:cNvPr id="28" name="Rectangle 27"/>
          <p:cNvSpPr/>
          <p:nvPr/>
        </p:nvSpPr>
        <p:spPr>
          <a:xfrm>
            <a:off x="5221224"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講師紹介を見る</a:t>
            </a:r>
          </a:p>
        </p:txBody>
      </p:sp>
      <p:sp>
        <p:nvSpPr>
          <p:cNvPr id="29" name="Rectangle 28"/>
          <p:cNvSpPr/>
          <p:nvPr/>
        </p:nvSpPr>
        <p:spPr>
          <a:xfrm>
            <a:off x="7296912"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0" name="Rectangle 29"/>
          <p:cNvSpPr/>
          <p:nvPr/>
        </p:nvSpPr>
        <p:spPr>
          <a:xfrm>
            <a:off x="7296912"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6日目</a:t>
            </a:r>
          </a:p>
          <a:p>
            <a:pPr algn="ctr">
              <a:lnSpc>
                <a:spcPct val="110000"/>
              </a:lnSpc>
              <a:spcAft>
                <a:spcPts val="0"/>
              </a:spcAft>
            </a:pPr>
            <a:r>
              <a:rPr sz="1050" b="0">
                <a:solidFill>
                  <a:srgbClr val="FFFFFF"/>
                </a:solidFill>
                <a:latin typeface="メイリオ"/>
                <a:ea typeface="メイリオ"/>
                <a:cs typeface="メイリオ"/>
              </a:rPr>
              <a:t>始める</a:t>
            </a:r>
          </a:p>
        </p:txBody>
      </p:sp>
      <p:sp>
        <p:nvSpPr>
          <p:cNvPr id="31" name="Rectangle 30"/>
          <p:cNvSpPr/>
          <p:nvPr/>
        </p:nvSpPr>
        <p:spPr>
          <a:xfrm>
            <a:off x="7370064"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セミナーで持ち帰れること</a:t>
            </a:r>
          </a:p>
        </p:txBody>
      </p:sp>
      <p:sp>
        <p:nvSpPr>
          <p:cNvPr id="32" name="Rectangle 31"/>
          <p:cNvSpPr/>
          <p:nvPr/>
        </p:nvSpPr>
        <p:spPr>
          <a:xfrm>
            <a:off x="7370064"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週2日で成果を出す</a:t>
            </a:r>
          </a:p>
          <a:p>
            <a:pPr algn="ctr">
              <a:lnSpc>
                <a:spcPct val="110000"/>
              </a:lnSpc>
              <a:spcAft>
                <a:spcPts val="0"/>
              </a:spcAft>
            </a:pPr>
            <a:r>
              <a:rPr sz="1100" b="0">
                <a:solidFill>
                  <a:srgbClr val="333333"/>
                </a:solidFill>
                <a:latin typeface="メイリオ"/>
                <a:ea typeface="メイリオ"/>
                <a:cs typeface="メイリオ"/>
              </a:rPr>
              <a:t>面談メソッド</a:t>
            </a:r>
          </a:p>
        </p:txBody>
      </p:sp>
      <p:sp>
        <p:nvSpPr>
          <p:cNvPr id="33" name="Rectangle 32"/>
          <p:cNvSpPr/>
          <p:nvPr/>
        </p:nvSpPr>
        <p:spPr>
          <a:xfrm>
            <a:off x="7388352"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1〜4日後に「口座開設」「nisa つみたて投資枠」など始め方を検索</a:t>
            </a:r>
          </a:p>
        </p:txBody>
      </p:sp>
      <p:sp>
        <p:nvSpPr>
          <p:cNvPr id="34" name="Rectangle 33"/>
          <p:cNvSpPr/>
          <p:nvPr/>
        </p:nvSpPr>
        <p:spPr>
          <a:xfrm>
            <a:off x="7525512"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内容を詳しく見る</a:t>
            </a:r>
          </a:p>
        </p:txBody>
      </p:sp>
      <p:sp>
        <p:nvSpPr>
          <p:cNvPr id="35" name="Rectangle 34"/>
          <p:cNvSpPr/>
          <p:nvPr/>
        </p:nvSpPr>
        <p:spPr>
          <a:xfrm>
            <a:off x="384048"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6" name="Rectangle 35"/>
          <p:cNvSpPr/>
          <p:nvPr/>
        </p:nvSpPr>
        <p:spPr>
          <a:xfrm>
            <a:off x="384048"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8日目</a:t>
            </a:r>
          </a:p>
          <a:p>
            <a:pPr algn="ctr">
              <a:lnSpc>
                <a:spcPct val="110000"/>
              </a:lnSpc>
              <a:spcAft>
                <a:spcPts val="0"/>
              </a:spcAft>
            </a:pPr>
            <a:r>
              <a:rPr sz="1050" b="0">
                <a:solidFill>
                  <a:srgbClr val="FFFFFF"/>
                </a:solidFill>
                <a:latin typeface="メイリオ"/>
                <a:ea typeface="メイリオ"/>
                <a:cs typeface="メイリオ"/>
              </a:rPr>
              <a:t>受講生の声</a:t>
            </a:r>
          </a:p>
        </p:txBody>
      </p:sp>
      <p:sp>
        <p:nvSpPr>
          <p:cNvPr id="37" name="Rectangle 36"/>
          <p:cNvSpPr/>
          <p:nvPr/>
        </p:nvSpPr>
        <p:spPr>
          <a:xfrm>
            <a:off x="457200"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同じ悩みから、</a:t>
            </a:r>
          </a:p>
          <a:p>
            <a:pPr algn="ctr">
              <a:lnSpc>
                <a:spcPct val="110000"/>
              </a:lnSpc>
              <a:spcAft>
                <a:spcPts val="0"/>
              </a:spcAft>
            </a:pPr>
            <a:r>
              <a:rPr sz="1200" b="1">
                <a:solidFill>
                  <a:srgbClr val="1F2A5C"/>
                </a:solidFill>
                <a:latin typeface="メイリオ"/>
                <a:ea typeface="メイリオ"/>
                <a:cs typeface="メイリオ"/>
              </a:rPr>
              <a:t>成果を出した方の声</a:t>
            </a:r>
          </a:p>
        </p:txBody>
      </p:sp>
      <p:sp>
        <p:nvSpPr>
          <p:cNvPr id="38" name="Rectangle 37"/>
          <p:cNvSpPr/>
          <p:nvPr/>
        </p:nvSpPr>
        <p:spPr>
          <a:xfrm>
            <a:off x="457200"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診断の答えに合わせる</a:t>
            </a:r>
          </a:p>
          <a:p>
            <a:pPr algn="ctr">
              <a:lnSpc>
                <a:spcPct val="110000"/>
              </a:lnSpc>
              <a:spcAft>
                <a:spcPts val="0"/>
              </a:spcAft>
            </a:pPr>
            <a:r>
              <a:rPr sz="1100" b="0">
                <a:solidFill>
                  <a:srgbClr val="333333"/>
                </a:solidFill>
                <a:latin typeface="メイリオ"/>
                <a:ea typeface="メイリオ"/>
                <a:cs typeface="メイリオ"/>
              </a:rPr>
              <a:t>（成約／紹介／働く時間）</a:t>
            </a:r>
          </a:p>
        </p:txBody>
      </p:sp>
      <p:sp>
        <p:nvSpPr>
          <p:cNvPr id="39" name="Rectangle 38"/>
          <p:cNvSpPr/>
          <p:nvPr/>
        </p:nvSpPr>
        <p:spPr>
          <a:xfrm>
            <a:off x="475488"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40" name="Rectangle 39"/>
          <p:cNvSpPr/>
          <p:nvPr/>
        </p:nvSpPr>
        <p:spPr>
          <a:xfrm>
            <a:off x="612647"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受講生の声を見る</a:t>
            </a:r>
          </a:p>
        </p:txBody>
      </p:sp>
      <p:sp>
        <p:nvSpPr>
          <p:cNvPr id="41" name="Rectangle 40"/>
          <p:cNvSpPr/>
          <p:nvPr/>
        </p:nvSpPr>
        <p:spPr>
          <a:xfrm>
            <a:off x="2688336"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2" name="Rectangle 41"/>
          <p:cNvSpPr/>
          <p:nvPr/>
        </p:nvSpPr>
        <p:spPr>
          <a:xfrm>
            <a:off x="2688336"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10日目</a:t>
            </a:r>
          </a:p>
          <a:p>
            <a:pPr algn="ctr">
              <a:lnSpc>
                <a:spcPct val="110000"/>
              </a:lnSpc>
              <a:spcAft>
                <a:spcPts val="0"/>
              </a:spcAft>
            </a:pPr>
            <a:r>
              <a:rPr sz="1050" b="0">
                <a:solidFill>
                  <a:srgbClr val="FFFFFF"/>
                </a:solidFill>
                <a:latin typeface="メイリオ"/>
                <a:ea typeface="メイリオ"/>
                <a:cs typeface="メイリオ"/>
              </a:rPr>
              <a:t>よくある質問</a:t>
            </a:r>
          </a:p>
        </p:txBody>
      </p:sp>
      <p:sp>
        <p:nvSpPr>
          <p:cNvPr id="43" name="Rectangle 42"/>
          <p:cNvSpPr/>
          <p:nvPr/>
        </p:nvSpPr>
        <p:spPr>
          <a:xfrm>
            <a:off x="2761488"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参加前のよくある質問</a:t>
            </a:r>
          </a:p>
        </p:txBody>
      </p:sp>
      <p:sp>
        <p:nvSpPr>
          <p:cNvPr id="44" name="Rectangle 43"/>
          <p:cNvSpPr/>
          <p:nvPr/>
        </p:nvSpPr>
        <p:spPr>
          <a:xfrm>
            <a:off x="2761488"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地方からも参加できる</a:t>
            </a:r>
          </a:p>
          <a:p>
            <a:pPr algn="ctr">
              <a:lnSpc>
                <a:spcPct val="110000"/>
              </a:lnSpc>
              <a:spcAft>
                <a:spcPts val="0"/>
              </a:spcAft>
            </a:pPr>
            <a:r>
              <a:rPr sz="1100" b="0">
                <a:solidFill>
                  <a:srgbClr val="333333"/>
                </a:solidFill>
                <a:latin typeface="メイリオ"/>
                <a:ea typeface="メイリオ"/>
                <a:cs typeface="メイリオ"/>
              </a:rPr>
              <a:t>初心者でも分かる</a:t>
            </a:r>
          </a:p>
        </p:txBody>
      </p:sp>
      <p:sp>
        <p:nvSpPr>
          <p:cNvPr id="45" name="Rectangle 44"/>
          <p:cNvSpPr/>
          <p:nvPr/>
        </p:nvSpPr>
        <p:spPr>
          <a:xfrm>
            <a:off x="2779776"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7〜15日後も「インデックスファンド」など学びの検索が続く</a:t>
            </a:r>
          </a:p>
        </p:txBody>
      </p:sp>
      <p:sp>
        <p:nvSpPr>
          <p:cNvPr id="46" name="Rectangle 45"/>
          <p:cNvSpPr/>
          <p:nvPr/>
        </p:nvSpPr>
        <p:spPr>
          <a:xfrm>
            <a:off x="2916936"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よくある質問を見る</a:t>
            </a:r>
          </a:p>
        </p:txBody>
      </p:sp>
      <p:sp>
        <p:nvSpPr>
          <p:cNvPr id="47" name="Rectangle 46"/>
          <p:cNvSpPr/>
          <p:nvPr/>
        </p:nvSpPr>
        <p:spPr>
          <a:xfrm>
            <a:off x="4992624"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Rectangle 47"/>
          <p:cNvSpPr/>
          <p:nvPr/>
        </p:nvSpPr>
        <p:spPr>
          <a:xfrm>
            <a:off x="4992624"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12日目</a:t>
            </a:r>
          </a:p>
          <a:p>
            <a:pPr algn="ctr">
              <a:lnSpc>
                <a:spcPct val="110000"/>
              </a:lnSpc>
              <a:spcAft>
                <a:spcPts val="0"/>
              </a:spcAft>
            </a:pPr>
            <a:r>
              <a:rPr sz="1050" b="0">
                <a:solidFill>
                  <a:srgbClr val="FFFFFF"/>
                </a:solidFill>
                <a:latin typeface="メイリオ"/>
                <a:ea typeface="メイリオ"/>
                <a:cs typeface="メイリオ"/>
              </a:rPr>
              <a:t>予約</a:t>
            </a:r>
          </a:p>
        </p:txBody>
      </p:sp>
      <p:sp>
        <p:nvSpPr>
          <p:cNvPr id="49" name="Rectangle 48"/>
          <p:cNvSpPr/>
          <p:nvPr/>
        </p:nvSpPr>
        <p:spPr>
          <a:xfrm>
            <a:off x="5065776"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次回セミナーのご案内</a:t>
            </a:r>
          </a:p>
        </p:txBody>
      </p:sp>
      <p:sp>
        <p:nvSpPr>
          <p:cNvPr id="50" name="Rectangle 49"/>
          <p:cNvSpPr/>
          <p:nvPr/>
        </p:nvSpPr>
        <p:spPr>
          <a:xfrm>
            <a:off x="5065776"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開催日程</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1" name="Rectangle 50"/>
          <p:cNvSpPr/>
          <p:nvPr/>
        </p:nvSpPr>
        <p:spPr>
          <a:xfrm>
            <a:off x="5084064"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2" name="Rectangle 51"/>
          <p:cNvSpPr/>
          <p:nvPr/>
        </p:nvSpPr>
        <p:spPr>
          <a:xfrm>
            <a:off x="5221224"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日程を見て予約する</a:t>
            </a:r>
          </a:p>
        </p:txBody>
      </p:sp>
      <p:sp>
        <p:nvSpPr>
          <p:cNvPr id="53" name="Rectangle 52"/>
          <p:cNvSpPr/>
          <p:nvPr/>
        </p:nvSpPr>
        <p:spPr>
          <a:xfrm>
            <a:off x="7296912"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Rectangle 53"/>
          <p:cNvSpPr/>
          <p:nvPr/>
        </p:nvSpPr>
        <p:spPr>
          <a:xfrm>
            <a:off x="7296912" y="3767328"/>
            <a:ext cx="2194560" cy="45720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14日目</a:t>
            </a:r>
          </a:p>
          <a:p>
            <a:pPr algn="ctr">
              <a:lnSpc>
                <a:spcPct val="110000"/>
              </a:lnSpc>
              <a:spcAft>
                <a:spcPts val="0"/>
              </a:spcAft>
            </a:pPr>
            <a:r>
              <a:rPr sz="1050" b="0">
                <a:solidFill>
                  <a:srgbClr val="FFFFFF"/>
                </a:solidFill>
                <a:latin typeface="メイリオ"/>
                <a:ea typeface="メイリオ"/>
                <a:cs typeface="メイリオ"/>
              </a:rPr>
              <a:t>締切</a:t>
            </a:r>
          </a:p>
        </p:txBody>
      </p:sp>
      <p:sp>
        <p:nvSpPr>
          <p:cNvPr id="55" name="Rectangle 54"/>
          <p:cNvSpPr/>
          <p:nvPr/>
        </p:nvSpPr>
        <p:spPr>
          <a:xfrm>
            <a:off x="7370064"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予約の締切が</a:t>
            </a:r>
          </a:p>
          <a:p>
            <a:pPr algn="ctr">
              <a:lnSpc>
                <a:spcPct val="110000"/>
              </a:lnSpc>
              <a:spcAft>
                <a:spcPts val="0"/>
              </a:spcAft>
            </a:pPr>
            <a:r>
              <a:rPr sz="1200" b="1">
                <a:solidFill>
                  <a:srgbClr val="1F2A5C"/>
                </a:solidFill>
                <a:latin typeface="メイリオ"/>
                <a:ea typeface="メイリオ"/>
                <a:cs typeface="メイリオ"/>
              </a:rPr>
              <a:t>近づいています</a:t>
            </a:r>
          </a:p>
        </p:txBody>
      </p:sp>
      <p:sp>
        <p:nvSpPr>
          <p:cNvPr id="56" name="Rectangle 55"/>
          <p:cNvSpPr/>
          <p:nvPr/>
        </p:nvSpPr>
        <p:spPr>
          <a:xfrm>
            <a:off x="7370064"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締切日のお知らせ</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7" name="Rectangle 56"/>
          <p:cNvSpPr/>
          <p:nvPr/>
        </p:nvSpPr>
        <p:spPr>
          <a:xfrm>
            <a:off x="7388352"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8" name="Rectangle 57"/>
          <p:cNvSpPr/>
          <p:nvPr/>
        </p:nvSpPr>
        <p:spPr>
          <a:xfrm>
            <a:off x="7525512"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予約する</a:t>
            </a:r>
          </a:p>
        </p:txBody>
      </p:sp>
      <p:sp>
        <p:nvSpPr>
          <p:cNvPr id="59" name="TextBox 58"/>
          <p:cNvSpPr txBox="1"/>
          <p:nvPr/>
        </p:nvSpPr>
        <p:spPr>
          <a:xfrm>
            <a:off x="420624" y="6016752"/>
            <a:ext cx="9052560" cy="45720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※募集期間外は、次回の案内開始時に届ける。入口（離脱防止ポップアップ／通常の友だち追加）で、0日目のあいさつの言葉を変える</a:t>
            </a:r>
          </a:p>
          <a:p>
            <a:pPr algn="l">
              <a:lnSpc>
                <a:spcPct val="105000"/>
              </a:lnSpc>
              <a:spcAft>
                <a:spcPts val="200"/>
              </a:spcAft>
            </a:pPr>
            <a:r>
              <a:rPr sz="900" b="0">
                <a:solidFill>
                  <a:srgbClr val="777777"/>
                </a:solidFill>
                <a:latin typeface="メイリオ"/>
                <a:ea typeface="メイリオ"/>
                <a:cs typeface="メイリオ"/>
              </a:rPr>
              <a:t>※一般の方には一般の方向けの案内を中心に配信。配信内容は、貴社LPの「生産性4倍セミナーの特徴」「受講生の声」「よくある質問」「講師紹介」をもとにした例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15日を過ぎた友だちには回数を絞ってつながりを保ち、</a:t>
            </a:r>
          </a:p>
          <a:p>
            <a:r>
              <a:rPr lang="ja-JP" altLang="en-US" sz="1600" b="1" dirty="0">
                <a:latin typeface="メイリオ" panose="020B0604030504040204" pitchFamily="50" charset="-128"/>
                <a:ea typeface="メイリオ" panose="020B0604030504040204" pitchFamily="50" charset="-128"/>
                <a:cs typeface="Meiryo"/>
                <a:sym typeface="Meiryo"/>
              </a:rPr>
              <a:t>開催月は企画配信で、予約・参加まで後押しする。</a:t>
            </a:r>
          </a:p>
        </p:txBody>
      </p:sp>
      <p:sp>
        <p:nvSpPr>
          <p:cNvPr id="11" name="Rectangle 10"/>
          <p:cNvSpPr/>
          <p:nvPr/>
        </p:nvSpPr>
        <p:spPr>
          <a:xfrm>
            <a:off x="420624" y="201168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開催のない月</a:t>
            </a:r>
          </a:p>
          <a:p>
            <a:pPr algn="ctr">
              <a:lnSpc>
                <a:spcPct val="110000"/>
              </a:lnSpc>
              <a:spcAft>
                <a:spcPts val="0"/>
              </a:spcAft>
            </a:pPr>
            <a:r>
              <a:rPr sz="1200" b="0">
                <a:solidFill>
                  <a:srgbClr val="FFFFFF"/>
                </a:solidFill>
                <a:latin typeface="メイリオ"/>
                <a:ea typeface="メイリオ"/>
                <a:cs typeface="メイリオ"/>
              </a:rPr>
              <a:t>月1〜2回</a:t>
            </a:r>
          </a:p>
        </p:txBody>
      </p:sp>
      <p:sp>
        <p:nvSpPr>
          <p:cNvPr id="12" name="Rectangle 11"/>
          <p:cNvSpPr/>
          <p:nvPr/>
        </p:nvSpPr>
        <p:spPr>
          <a:xfrm>
            <a:off x="2157984"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講師のコラム</a:t>
            </a:r>
          </a:p>
          <a:p>
            <a:pPr algn="ctr">
              <a:lnSpc>
                <a:spcPct val="110000"/>
              </a:lnSpc>
              <a:spcAft>
                <a:spcPts val="0"/>
              </a:spcAft>
            </a:pPr>
            <a:r>
              <a:rPr sz="1200" b="0">
                <a:solidFill>
                  <a:srgbClr val="333333"/>
                </a:solidFill>
                <a:latin typeface="メイリオ"/>
                <a:ea typeface="メイリオ"/>
                <a:cs typeface="メイリオ"/>
              </a:rPr>
              <a:t>営業のヒントを届ける</a:t>
            </a:r>
          </a:p>
        </p:txBody>
      </p:sp>
      <p:sp>
        <p:nvSpPr>
          <p:cNvPr id="13" name="TextBox 12"/>
          <p:cNvSpPr txBox="1"/>
          <p:nvPr/>
        </p:nvSpPr>
        <p:spPr>
          <a:xfrm>
            <a:off x="4450080"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4" name="Rectangle 13"/>
          <p:cNvSpPr/>
          <p:nvPr/>
        </p:nvSpPr>
        <p:spPr>
          <a:xfrm>
            <a:off x="4669535"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受講生の声</a:t>
            </a:r>
          </a:p>
          <a:p>
            <a:pPr algn="ctr">
              <a:lnSpc>
                <a:spcPct val="110000"/>
              </a:lnSpc>
              <a:spcAft>
                <a:spcPts val="0"/>
              </a:spcAft>
            </a:pPr>
            <a:r>
              <a:rPr sz="1200" b="0">
                <a:solidFill>
                  <a:srgbClr val="333333"/>
                </a:solidFill>
                <a:latin typeface="メイリオ"/>
                <a:ea typeface="メイリオ"/>
                <a:cs typeface="メイリオ"/>
              </a:rPr>
              <a:t>成果が出た方の話</a:t>
            </a:r>
          </a:p>
        </p:txBody>
      </p:sp>
      <p:sp>
        <p:nvSpPr>
          <p:cNvPr id="15" name="TextBox 14"/>
          <p:cNvSpPr txBox="1"/>
          <p:nvPr/>
        </p:nvSpPr>
        <p:spPr>
          <a:xfrm>
            <a:off x="6961631"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6" name="Rectangle 15"/>
          <p:cNvSpPr/>
          <p:nvPr/>
        </p:nvSpPr>
        <p:spPr>
          <a:xfrm>
            <a:off x="7181087"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次回の予告</a:t>
            </a:r>
          </a:p>
          <a:p>
            <a:pPr algn="ctr">
              <a:lnSpc>
                <a:spcPct val="110000"/>
              </a:lnSpc>
              <a:spcAft>
                <a:spcPts val="0"/>
              </a:spcAft>
            </a:pPr>
            <a:r>
              <a:rPr sz="1200" b="0">
                <a:solidFill>
                  <a:srgbClr val="333333"/>
                </a:solidFill>
                <a:latin typeface="メイリオ"/>
                <a:ea typeface="メイリオ"/>
                <a:cs typeface="メイリオ"/>
              </a:rPr>
              <a:t>次のセミナーの時期</a:t>
            </a:r>
          </a:p>
        </p:txBody>
      </p:sp>
      <p:sp>
        <p:nvSpPr>
          <p:cNvPr id="17" name="Rectangle 16"/>
          <p:cNvSpPr/>
          <p:nvPr/>
        </p:nvSpPr>
        <p:spPr>
          <a:xfrm>
            <a:off x="420624" y="356616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開催月</a:t>
            </a:r>
          </a:p>
          <a:p>
            <a:pPr algn="ctr">
              <a:lnSpc>
                <a:spcPct val="110000"/>
              </a:lnSpc>
              <a:spcAft>
                <a:spcPts val="0"/>
              </a:spcAft>
            </a:pPr>
            <a:r>
              <a:rPr sz="1200" b="0">
                <a:solidFill>
                  <a:srgbClr val="FFFFFF"/>
                </a:solidFill>
                <a:latin typeface="メイリオ"/>
                <a:ea typeface="メイリオ"/>
                <a:cs typeface="メイリオ"/>
              </a:rPr>
              <a:t>月4〜5回</a:t>
            </a:r>
          </a:p>
        </p:txBody>
      </p:sp>
      <p:sp>
        <p:nvSpPr>
          <p:cNvPr id="18" name="Rectangle 17"/>
          <p:cNvSpPr/>
          <p:nvPr/>
        </p:nvSpPr>
        <p:spPr>
          <a:xfrm>
            <a:off x="2157984"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開催のご案内</a:t>
            </a:r>
          </a:p>
          <a:p>
            <a:pPr algn="ctr">
              <a:lnSpc>
                <a:spcPct val="110000"/>
              </a:lnSpc>
              <a:spcAft>
                <a:spcPts val="0"/>
              </a:spcAft>
            </a:pPr>
            <a:r>
              <a:rPr sz="1200" b="0">
                <a:solidFill>
                  <a:srgbClr val="333333"/>
                </a:solidFill>
                <a:latin typeface="メイリオ"/>
                <a:ea typeface="メイリオ"/>
                <a:cs typeface="メイリオ"/>
              </a:rPr>
              <a:t>日程と予約ページ</a:t>
            </a:r>
          </a:p>
        </p:txBody>
      </p:sp>
      <p:sp>
        <p:nvSpPr>
          <p:cNvPr id="19" name="TextBox 18"/>
          <p:cNvSpPr txBox="1"/>
          <p:nvPr/>
        </p:nvSpPr>
        <p:spPr>
          <a:xfrm>
            <a:off x="3445459"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0" name="Rectangle 19"/>
          <p:cNvSpPr/>
          <p:nvPr/>
        </p:nvSpPr>
        <p:spPr>
          <a:xfrm>
            <a:off x="3664915"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見どころ</a:t>
            </a:r>
          </a:p>
          <a:p>
            <a:pPr algn="ctr">
              <a:lnSpc>
                <a:spcPct val="110000"/>
              </a:lnSpc>
              <a:spcAft>
                <a:spcPts val="0"/>
              </a:spcAft>
            </a:pPr>
            <a:r>
              <a:rPr sz="1200" b="0">
                <a:solidFill>
                  <a:srgbClr val="333333"/>
                </a:solidFill>
                <a:latin typeface="メイリオ"/>
                <a:ea typeface="メイリオ"/>
                <a:cs typeface="メイリオ"/>
              </a:rPr>
              <a:t>動画・受講生の声</a:t>
            </a:r>
          </a:p>
        </p:txBody>
      </p:sp>
      <p:sp>
        <p:nvSpPr>
          <p:cNvPr id="21" name="TextBox 20"/>
          <p:cNvSpPr txBox="1"/>
          <p:nvPr/>
        </p:nvSpPr>
        <p:spPr>
          <a:xfrm>
            <a:off x="4952390"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2" name="Rectangle 21"/>
          <p:cNvSpPr/>
          <p:nvPr/>
        </p:nvSpPr>
        <p:spPr>
          <a:xfrm>
            <a:off x="5171846"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予約締切</a:t>
            </a:r>
          </a:p>
          <a:p>
            <a:pPr algn="ctr">
              <a:lnSpc>
                <a:spcPct val="110000"/>
              </a:lnSpc>
              <a:spcAft>
                <a:spcPts val="0"/>
              </a:spcAft>
            </a:pPr>
            <a:r>
              <a:rPr sz="1200" b="0">
                <a:solidFill>
                  <a:srgbClr val="333333"/>
                </a:solidFill>
                <a:latin typeface="メイリオ"/>
                <a:ea typeface="メイリオ"/>
                <a:cs typeface="メイリオ"/>
              </a:rPr>
              <a:t>締切をお知らせ</a:t>
            </a:r>
          </a:p>
        </p:txBody>
      </p:sp>
      <p:sp>
        <p:nvSpPr>
          <p:cNvPr id="23" name="TextBox 22"/>
          <p:cNvSpPr txBox="1"/>
          <p:nvPr/>
        </p:nvSpPr>
        <p:spPr>
          <a:xfrm>
            <a:off x="6459321"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4" name="Rectangle 23"/>
          <p:cNvSpPr/>
          <p:nvPr/>
        </p:nvSpPr>
        <p:spPr>
          <a:xfrm>
            <a:off x="6678777"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前日・当日</a:t>
            </a:r>
          </a:p>
          <a:p>
            <a:pPr algn="ctr">
              <a:lnSpc>
                <a:spcPct val="110000"/>
              </a:lnSpc>
              <a:spcAft>
                <a:spcPts val="0"/>
              </a:spcAft>
            </a:pPr>
            <a:r>
              <a:rPr sz="1200" b="0">
                <a:solidFill>
                  <a:srgbClr val="333333"/>
                </a:solidFill>
                <a:latin typeface="メイリオ"/>
                <a:ea typeface="メイリオ"/>
                <a:cs typeface="メイリオ"/>
              </a:rPr>
              <a:t>予約した方へ</a:t>
            </a:r>
          </a:p>
          <a:p>
            <a:pPr algn="ctr">
              <a:lnSpc>
                <a:spcPct val="110000"/>
              </a:lnSpc>
              <a:spcAft>
                <a:spcPts val="0"/>
              </a:spcAft>
            </a:pPr>
            <a:r>
              <a:rPr sz="1200" b="0">
                <a:solidFill>
                  <a:srgbClr val="333333"/>
                </a:solidFill>
                <a:latin typeface="メイリオ"/>
                <a:ea typeface="メイリオ"/>
                <a:cs typeface="メイリオ"/>
              </a:rPr>
              <a:t>リマインド</a:t>
            </a:r>
          </a:p>
        </p:txBody>
      </p:sp>
      <p:sp>
        <p:nvSpPr>
          <p:cNvPr id="25" name="TextBox 24"/>
          <p:cNvSpPr txBox="1"/>
          <p:nvPr/>
        </p:nvSpPr>
        <p:spPr>
          <a:xfrm>
            <a:off x="7966252"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6" name="Rectangle 25"/>
          <p:cNvSpPr/>
          <p:nvPr/>
        </p:nvSpPr>
        <p:spPr>
          <a:xfrm>
            <a:off x="8185708"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参加後</a:t>
            </a:r>
          </a:p>
          <a:p>
            <a:pPr algn="ctr">
              <a:lnSpc>
                <a:spcPct val="110000"/>
              </a:lnSpc>
              <a:spcAft>
                <a:spcPts val="0"/>
              </a:spcAft>
            </a:pPr>
            <a:r>
              <a:rPr sz="1200" b="0">
                <a:solidFill>
                  <a:srgbClr val="333333"/>
                </a:solidFill>
                <a:latin typeface="メイリオ"/>
                <a:ea typeface="メイリオ"/>
                <a:cs typeface="メイリオ"/>
              </a:rPr>
              <a:t>サロンのご案内</a:t>
            </a:r>
          </a:p>
          <a:p>
            <a:pPr algn="ctr">
              <a:lnSpc>
                <a:spcPct val="110000"/>
              </a:lnSpc>
              <a:spcAft>
                <a:spcPts val="0"/>
              </a:spcAft>
            </a:pPr>
            <a:r>
              <a:rPr sz="1200" b="0">
                <a:solidFill>
                  <a:srgbClr val="333333"/>
                </a:solidFill>
                <a:latin typeface="メイリオ"/>
                <a:ea typeface="メイリオ"/>
                <a:cs typeface="メイリオ"/>
              </a:rPr>
              <a:t>（次のページ）</a:t>
            </a:r>
          </a:p>
        </p:txBody>
      </p:sp>
      <p:sp>
        <p:nvSpPr>
          <p:cNvPr id="27" name="TextBox 26"/>
          <p:cNvSpPr txBox="1"/>
          <p:nvPr/>
        </p:nvSpPr>
        <p:spPr>
          <a:xfrm>
            <a:off x="420624" y="50292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※前日・当日のリマインドと参加後のフォローは、予約・参加した方を特定できる範囲で実施（予約システム等との連携は、可否を確認のうえ設計）</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5669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7772400"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診断：回答でセグメントを分け、配信の精度を高める</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診断の答えでタグを付け、配信の出し分けに使う</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施策の考え方</a:t>
            </a:r>
            <a:endParaRPr lang="ja-JP" altLang="en-US" sz="1100" dirty="0"/>
          </a:p>
        </p:txBody>
      </p:sp>
      <p:sp>
        <p:nvSpPr>
          <p:cNvPr id="39" name="Rounded Rectangle 36">
            <a:extLst>
              <a:ext uri="{FF2B5EF4-FFF2-40B4-BE49-F238E27FC236}">
                <a16:creationId xmlns:a16="http://schemas.microsoft.com/office/drawing/2014/main" id="{EB89F4C5-3674-C37F-0213-9BCB6D7C0FCB}"/>
              </a:ext>
            </a:extLst>
          </p:cNvPr>
          <p:cNvSpPr/>
          <p:nvPr/>
        </p:nvSpPr>
        <p:spPr>
          <a:xfrm>
            <a:off x="502920" y="1812629"/>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557784" y="2003406"/>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914400" y="1918113"/>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友だち追加ありがとうございます！参加特典は…</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612648" y="24240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914400" y="2471397"/>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あてはまる方は？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914400" y="2789790"/>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一般</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1426464" y="2789790"/>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2468880" y="2789790"/>
            <a:ext cx="457200" cy="237744"/>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612648" y="3173838"/>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914400" y="3168567"/>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【8日目】受講生の声</a:t>
            </a:r>
          </a:p>
        </p:txBody>
      </p:sp>
      <p:sp>
        <p:nvSpPr>
          <p:cNvPr id="50" name="Oval 49">
            <a:extLst>
              <a:ext uri="{FF2B5EF4-FFF2-40B4-BE49-F238E27FC236}">
                <a16:creationId xmlns:a16="http://schemas.microsoft.com/office/drawing/2014/main" id="{D7FC1F60-741B-1216-E3C2-B9A9825969FD}"/>
              </a:ext>
            </a:extLst>
          </p:cNvPr>
          <p:cNvSpPr/>
          <p:nvPr/>
        </p:nvSpPr>
        <p:spPr>
          <a:xfrm>
            <a:off x="612648" y="37499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914400" y="374463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【今月】次回セミナーのご案内</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1737360" y="4234542"/>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日程を教えて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612648" y="452715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914400" y="4544763"/>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次回の日程はこちらです→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557784" y="4864608"/>
            <a:ext cx="2404872" cy="768096"/>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571500"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セミナー予約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1376172"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よくある質問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2180844"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参加特典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71500"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講師紹介</a:t>
            </a:r>
          </a:p>
        </p:txBody>
      </p:sp>
      <p:sp>
        <p:nvSpPr>
          <p:cNvPr id="60" name="Rectangle 58">
            <a:extLst>
              <a:ext uri="{FF2B5EF4-FFF2-40B4-BE49-F238E27FC236}">
                <a16:creationId xmlns:a16="http://schemas.microsoft.com/office/drawing/2014/main" id="{985C54A4-91FC-0879-5A7C-BF14447F2D4C}"/>
              </a:ext>
            </a:extLst>
          </p:cNvPr>
          <p:cNvSpPr/>
          <p:nvPr/>
        </p:nvSpPr>
        <p:spPr>
          <a:xfrm>
            <a:off x="1376172"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受講生の声</a:t>
            </a:r>
          </a:p>
        </p:txBody>
      </p:sp>
      <p:sp>
        <p:nvSpPr>
          <p:cNvPr id="60" name="Rectangle 58">
            <a:extLst>
              <a:ext uri="{FF2B5EF4-FFF2-40B4-BE49-F238E27FC236}">
                <a16:creationId xmlns:a16="http://schemas.microsoft.com/office/drawing/2014/main" id="{985C54A4-91FC-0879-5A7C-BF14447F2D4C}"/>
              </a:ext>
            </a:extLst>
          </p:cNvPr>
          <p:cNvSpPr/>
          <p:nvPr/>
        </p:nvSpPr>
        <p:spPr>
          <a:xfrm>
            <a:off x="2180844"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お問い合わせ</a:t>
            </a:r>
          </a:p>
        </p:txBody>
      </p:sp>
      <p:sp>
        <p:nvSpPr>
          <p:cNvPr id="91" name="Rectangle 37">
            <a:extLst>
              <a:ext uri="{FF2B5EF4-FFF2-40B4-BE49-F238E27FC236}">
                <a16:creationId xmlns:a16="http://schemas.microsoft.com/office/drawing/2014/main" id="{815B0ED0-A740-600B-6C02-0EA2C830954C}"/>
              </a:ext>
            </a:extLst>
          </p:cNvPr>
          <p:cNvSpPr/>
          <p:nvPr/>
        </p:nvSpPr>
        <p:spPr>
          <a:xfrm>
            <a:off x="807059" y="1705904"/>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3" name="Oval 39">
            <a:extLst>
              <a:ext uri="{FF2B5EF4-FFF2-40B4-BE49-F238E27FC236}">
                <a16:creationId xmlns:a16="http://schemas.microsoft.com/office/drawing/2014/main" id="{BD5572D2-C987-F20B-3DAE-F41EEAF2F9EC}"/>
              </a:ext>
            </a:extLst>
          </p:cNvPr>
          <p:cNvSpPr/>
          <p:nvPr/>
        </p:nvSpPr>
        <p:spPr>
          <a:xfrm>
            <a:off x="612648" y="19211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94" name="Rectangle 93"/>
          <p:cNvSpPr/>
          <p:nvPr/>
        </p:nvSpPr>
        <p:spPr>
          <a:xfrm>
            <a:off x="3291840" y="1810512"/>
            <a:ext cx="16002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質問</a:t>
            </a:r>
          </a:p>
        </p:txBody>
      </p:sp>
      <p:sp>
        <p:nvSpPr>
          <p:cNvPr id="95" name="Rectangle 94"/>
          <p:cNvSpPr/>
          <p:nvPr/>
        </p:nvSpPr>
        <p:spPr>
          <a:xfrm>
            <a:off x="4919472" y="1810512"/>
            <a:ext cx="459028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選択肢（営業のお悩みタイプ診断・2問・30秒）</a:t>
            </a:r>
          </a:p>
        </p:txBody>
      </p:sp>
      <p:sp>
        <p:nvSpPr>
          <p:cNvPr id="96" name="Rectangle 95"/>
          <p:cNvSpPr/>
          <p:nvPr/>
        </p:nvSpPr>
        <p:spPr>
          <a:xfrm>
            <a:off x="3291840" y="2203704"/>
            <a:ext cx="1600200" cy="50292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1問目</a:t>
            </a:r>
          </a:p>
          <a:p>
            <a:pPr algn="l">
              <a:lnSpc>
                <a:spcPct val="110000"/>
              </a:lnSpc>
              <a:spcAft>
                <a:spcPts val="0"/>
              </a:spcAft>
            </a:pPr>
            <a:r>
              <a:rPr sz="1200" b="1">
                <a:solidFill>
                  <a:srgbClr val="1F2A5C"/>
                </a:solidFill>
                <a:latin typeface="メイリオ"/>
                <a:ea typeface="メイリオ"/>
                <a:cs typeface="メイリオ"/>
              </a:rPr>
              <a:t>あてはまる方は？</a:t>
            </a:r>
          </a:p>
        </p:txBody>
      </p:sp>
      <p:sp>
        <p:nvSpPr>
          <p:cNvPr id="97" name="Rectangle 96"/>
          <p:cNvSpPr/>
          <p:nvPr/>
        </p:nvSpPr>
        <p:spPr>
          <a:xfrm>
            <a:off x="4919472" y="2203704"/>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保険営業の方／一般の方</a:t>
            </a:r>
          </a:p>
        </p:txBody>
      </p:sp>
      <p:sp>
        <p:nvSpPr>
          <p:cNvPr id="98" name="Rectangle 97"/>
          <p:cNvSpPr/>
          <p:nvPr/>
        </p:nvSpPr>
        <p:spPr>
          <a:xfrm>
            <a:off x="3291840" y="2734056"/>
            <a:ext cx="1600200" cy="103327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2問目</a:t>
            </a:r>
          </a:p>
          <a:p>
            <a:pPr algn="l">
              <a:lnSpc>
                <a:spcPct val="110000"/>
              </a:lnSpc>
              <a:spcAft>
                <a:spcPts val="0"/>
              </a:spcAft>
            </a:pPr>
            <a:r>
              <a:rPr sz="1200" b="1">
                <a:solidFill>
                  <a:srgbClr val="1F2A5C"/>
                </a:solidFill>
                <a:latin typeface="メイリオ"/>
                <a:ea typeface="メイリオ"/>
                <a:cs typeface="メイリオ"/>
              </a:rPr>
              <a:t>いちばんの関心は？</a:t>
            </a:r>
          </a:p>
        </p:txBody>
      </p:sp>
      <p:sp>
        <p:nvSpPr>
          <p:cNvPr id="99" name="Rectangle 98"/>
          <p:cNvSpPr/>
          <p:nvPr/>
        </p:nvSpPr>
        <p:spPr>
          <a:xfrm>
            <a:off x="4919472" y="2734056"/>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保険営業の方：成約を上げたい／紹介を増やしたい／</a:t>
            </a:r>
          </a:p>
          <a:p>
            <a:pPr algn="l">
              <a:lnSpc>
                <a:spcPct val="110000"/>
              </a:lnSpc>
              <a:spcAft>
                <a:spcPts val="0"/>
              </a:spcAft>
            </a:pPr>
            <a:r>
              <a:rPr sz="1200" b="0">
                <a:solidFill>
                  <a:srgbClr val="333333"/>
                </a:solidFill>
                <a:latin typeface="メイリオ"/>
                <a:ea typeface="メイリオ"/>
                <a:cs typeface="メイリオ"/>
              </a:rPr>
              <a:t>働く時間を減らしたい</a:t>
            </a:r>
          </a:p>
        </p:txBody>
      </p:sp>
      <p:sp>
        <p:nvSpPr>
          <p:cNvPr id="100" name="Rectangle 99"/>
          <p:cNvSpPr/>
          <p:nvPr/>
        </p:nvSpPr>
        <p:spPr>
          <a:xfrm>
            <a:off x="4919472" y="3264408"/>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一般の方：資産形成を始めたい／保険を見直したい</a:t>
            </a:r>
          </a:p>
        </p:txBody>
      </p:sp>
      <p:sp>
        <p:nvSpPr>
          <p:cNvPr id="101" name="Rectangle 100"/>
          <p:cNvSpPr/>
          <p:nvPr/>
        </p:nvSpPr>
        <p:spPr>
          <a:xfrm>
            <a:off x="3291840" y="3913632"/>
            <a:ext cx="2103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結果のタイプ</a:t>
            </a:r>
          </a:p>
        </p:txBody>
      </p:sp>
      <p:sp>
        <p:nvSpPr>
          <p:cNvPr id="102" name="Rectangle 101"/>
          <p:cNvSpPr/>
          <p:nvPr/>
        </p:nvSpPr>
        <p:spPr>
          <a:xfrm>
            <a:off x="5422392" y="3913632"/>
            <a:ext cx="40873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その後に届ける内容</a:t>
            </a:r>
          </a:p>
        </p:txBody>
      </p:sp>
      <p:sp>
        <p:nvSpPr>
          <p:cNvPr id="103" name="Rectangle 102"/>
          <p:cNvSpPr/>
          <p:nvPr/>
        </p:nvSpPr>
        <p:spPr>
          <a:xfrm>
            <a:off x="3291840" y="4306824"/>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成約タイプ</a:t>
            </a:r>
          </a:p>
          <a:p>
            <a:pPr algn="l">
              <a:lnSpc>
                <a:spcPct val="110000"/>
              </a:lnSpc>
              <a:spcAft>
                <a:spcPts val="0"/>
              </a:spcAft>
            </a:pPr>
            <a:r>
              <a:rPr sz="1200" b="1">
                <a:solidFill>
                  <a:srgbClr val="1F2A5C"/>
                </a:solidFill>
                <a:latin typeface="メイリオ"/>
                <a:ea typeface="メイリオ"/>
                <a:cs typeface="メイリオ"/>
              </a:rPr>
              <a:t>面談で決めきれない方</a:t>
            </a:r>
          </a:p>
        </p:txBody>
      </p:sp>
      <p:sp>
        <p:nvSpPr>
          <p:cNvPr id="104" name="Rectangle 103"/>
          <p:cNvSpPr/>
          <p:nvPr/>
        </p:nvSpPr>
        <p:spPr>
          <a:xfrm>
            <a:off x="5422392" y="4306824"/>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面談の進め方が変わった受講生の声</a:t>
            </a:r>
          </a:p>
          <a:p>
            <a:pPr algn="l">
              <a:lnSpc>
                <a:spcPct val="110000"/>
              </a:lnSpc>
              <a:spcAft>
                <a:spcPts val="0"/>
              </a:spcAft>
            </a:pPr>
            <a:r>
              <a:rPr sz="1200" b="0">
                <a:solidFill>
                  <a:srgbClr val="333333"/>
                </a:solidFill>
                <a:latin typeface="メイリオ"/>
                <a:ea typeface="メイリオ"/>
                <a:cs typeface="メイリオ"/>
              </a:rPr>
              <a:t>両想い営業の見どころ</a:t>
            </a:r>
          </a:p>
        </p:txBody>
      </p:sp>
      <p:sp>
        <p:nvSpPr>
          <p:cNvPr id="105" name="Rectangle 104"/>
          <p:cNvSpPr/>
          <p:nvPr/>
        </p:nvSpPr>
        <p:spPr>
          <a:xfrm>
            <a:off x="3291840" y="4791456"/>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紹介タイプ</a:t>
            </a:r>
          </a:p>
          <a:p>
            <a:pPr algn="l">
              <a:lnSpc>
                <a:spcPct val="110000"/>
              </a:lnSpc>
              <a:spcAft>
                <a:spcPts val="0"/>
              </a:spcAft>
            </a:pPr>
            <a:r>
              <a:rPr sz="1200" b="1">
                <a:solidFill>
                  <a:srgbClr val="1F2A5C"/>
                </a:solidFill>
                <a:latin typeface="メイリオ"/>
                <a:ea typeface="メイリオ"/>
                <a:cs typeface="メイリオ"/>
              </a:rPr>
              <a:t>紹介が広がらない方</a:t>
            </a:r>
          </a:p>
        </p:txBody>
      </p:sp>
      <p:sp>
        <p:nvSpPr>
          <p:cNvPr id="106" name="Rectangle 105"/>
          <p:cNvSpPr/>
          <p:nvPr/>
        </p:nvSpPr>
        <p:spPr>
          <a:xfrm>
            <a:off x="5422392" y="4791456"/>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紹介が増えた受講生の声</a:t>
            </a:r>
          </a:p>
        </p:txBody>
      </p:sp>
      <p:sp>
        <p:nvSpPr>
          <p:cNvPr id="107" name="Rectangle 106"/>
          <p:cNvSpPr/>
          <p:nvPr/>
        </p:nvSpPr>
        <p:spPr>
          <a:xfrm>
            <a:off x="3291840" y="5276088"/>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時間タイプ</a:t>
            </a:r>
          </a:p>
          <a:p>
            <a:pPr algn="l">
              <a:lnSpc>
                <a:spcPct val="110000"/>
              </a:lnSpc>
              <a:spcAft>
                <a:spcPts val="0"/>
              </a:spcAft>
            </a:pPr>
            <a:r>
              <a:rPr sz="1200" b="1">
                <a:solidFill>
                  <a:srgbClr val="1F2A5C"/>
                </a:solidFill>
                <a:latin typeface="メイリオ"/>
                <a:ea typeface="メイリオ"/>
                <a:cs typeface="メイリオ"/>
              </a:rPr>
              <a:t>働く時間を減らしたい方</a:t>
            </a:r>
          </a:p>
        </p:txBody>
      </p:sp>
      <p:sp>
        <p:nvSpPr>
          <p:cNvPr id="108" name="Rectangle 107"/>
          <p:cNvSpPr/>
          <p:nvPr/>
        </p:nvSpPr>
        <p:spPr>
          <a:xfrm>
            <a:off x="5422392" y="5276088"/>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講師の話（週2日の営業で毎年TOT）</a:t>
            </a:r>
          </a:p>
          <a:p>
            <a:pPr algn="l">
              <a:lnSpc>
                <a:spcPct val="110000"/>
              </a:lnSpc>
              <a:spcAft>
                <a:spcPts val="0"/>
              </a:spcAft>
            </a:pPr>
            <a:r>
              <a:rPr sz="1200" b="0">
                <a:solidFill>
                  <a:srgbClr val="333333"/>
                </a:solidFill>
                <a:latin typeface="メイリオ"/>
                <a:ea typeface="メイリオ"/>
                <a:cs typeface="メイリオ"/>
              </a:rPr>
              <a:t>働き方が変わった受講生の声</a:t>
            </a:r>
          </a:p>
        </p:txBody>
      </p:sp>
      <p:sp>
        <p:nvSpPr>
          <p:cNvPr id="109" name="Rectangle 108"/>
          <p:cNvSpPr/>
          <p:nvPr/>
        </p:nvSpPr>
        <p:spPr>
          <a:xfrm>
            <a:off x="3291840" y="5760720"/>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一般の方</a:t>
            </a:r>
          </a:p>
        </p:txBody>
      </p:sp>
      <p:sp>
        <p:nvSpPr>
          <p:cNvPr id="110" name="Rectangle 109"/>
          <p:cNvSpPr/>
          <p:nvPr/>
        </p:nvSpPr>
        <p:spPr>
          <a:xfrm>
            <a:off x="5422392" y="5760720"/>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一般の方向けのマネーセミナーのご案内</a:t>
            </a:r>
          </a:p>
        </p:txBody>
      </p:sp>
      <p:sp>
        <p:nvSpPr>
          <p:cNvPr id="111" name="TextBox 110"/>
          <p:cNvSpPr txBox="1"/>
          <p:nvPr/>
        </p:nvSpPr>
        <p:spPr>
          <a:xfrm>
            <a:off x="420624" y="6318504"/>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※答えはボタンで選ぶ形。押したボタンでタグを付け、その後の配信を分ける</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142343</TotalTime>
  <Words>7487</Words>
  <Application>Microsoft Office PowerPoint</Application>
  <PresentationFormat>A4 210 x 297 mm</PresentationFormat>
  <Paragraphs>1325</Paragraphs>
  <Slides>60</Slides>
  <Notes>19</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60</vt:i4>
      </vt:variant>
    </vt:vector>
  </HeadingPairs>
  <TitlesOfParts>
    <vt:vector size="66"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2026-10-22T05:59:23Z</dcterms:modified>
</cp:coreProperties>
</file>