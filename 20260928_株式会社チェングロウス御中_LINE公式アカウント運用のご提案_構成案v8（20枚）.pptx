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自動車求人Navi LINE公式アカウント運用のご提案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メイリオ"/>
                <a:latin typeface="メイリオ"/>
                <a:ea typeface="メイリオ"/>
                <a:cs typeface="メイリオ"/>
              </a:rPr>
              <a:t>構成案（簡易スケルトン・20枚版）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アジェンダ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・業界の課題 → 貴社の現状 → 全体設計 → 施策 → 効果・費用 → 弊社の運用の順に進める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業界の課題①　人が足りない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・整備士は求人倍率5.46倍。事業者の約6割が人手不足を感じている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・整備学校の入学者は約4割減、平均年齢は47.2歳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・営業は12.55倍でさらに不足、受付は0.96倍で人が集まる（主役は整備士）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・採用側の悩み：「応募が少ない」52.4%、「条件に合う人が来ない」42.9%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業界の課題②　求職者は比べながら動いている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・エージェント・総合・特化の3経路を併用（特化サイトの84%は有資格者）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・決め手の1位は給与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・検索は一年中ある（山は3月、谷は12月。差は約1.4倍）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前後検索でわかること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274320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・「カーディーラー」の前後検索：受付嬢・年収などへの関心が検索当日〜翌日に出る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・参考：近い業種（工場求人・期間工）の前後検索の型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検索前＝求人サイトや条件で広く比較／検索当日＝ブランド名・具体的な求人で意思決定に近づく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検索後＝勤務条件・評判・志望動機を確認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・「自動車整備士」の前後検索は未取得。取得後に差し替える</a:t>
            </a:r>
          </a:p>
        </p:txBody>
      </p:sp>
      <p:pic>
        <p:nvPicPr>
          <p:cNvPr id="10" name="Picture 9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8961120" cy="52288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6172200"/>
            <a:ext cx="896112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E0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96600"/>
                </a:solidFill>
                <a:latin typeface="メイリオ"/>
                <a:latin typeface="メイリオ"/>
                <a:ea typeface="メイリオ"/>
                <a:cs typeface="メイリオ"/>
              </a:rPr>
              <a:t>⚠ 参考画像：工場求人ナビの前後検索（近い業種。自動車整備士のデータではない）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まとめ：だから「来た人を逃さない受け皿」が要る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・総合大手はLINEを大規模に活用。整備士特化ではまだ少ない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・先に始めた方が有利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貴社の現状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・強み：オートバックスグループ／転職支援／資格取得支援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・今の入口は「応募」か「転職支援の申込」の2つだけ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・整備士の応募単価は6万円（目標2〜2.5万円）。登録はほぼ発生していない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・変えられないこと：市場の倍率・広告単価／変えられること：来た人を残す・登録を軽くする・応募まで追う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最適解は、実績のある型をお手本にすること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・お手本：タウンワーク（リッチメニューで条件検索 → 応募数79%増・LINEヤフー公式）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・貴社向けの工夫①：LINEだけで登録が完了する（タウンワークはリクルートIDが必要）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・貴社向けの工夫②：条件は整備士向け（職種・資格・エリア）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・貴社向けの工夫③：通知メッセージでLINE外の応募者もLINEに合流させる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全体設計｜業界課題 → だからこの施策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・業界課題の一つひとつに、だから何をするかを対応させる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・8フェーズのうち、取りこぼしが起きている「サイト離脱」と「登録から応募まで」にLINEを置く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CVの置き方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・CV①＝「LINEで登録」で完了（LINEアカウントが会員証になる）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・CV②＝求人応募。職種・資格・エリアは登録後にLINEで聞く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・規模の近い参考：保育box（LINEの応募率がメルマガの5倍。1.25%と0.25%）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4章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サイトリニューアルに入れること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・①「LINEで登録・ログイン」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・②会員名簿にLINEの番号を保存し、条件で選んで送れるようにする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・③条件別の検索結果ページ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・開発はDYMで対応可能（都度見積もり）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・全体像：広告で呼び込み → サイトで受け止め → LINEで残して登録・応募・面談まで運ぶ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友だち追加の動線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・動線00 離脱防止ポップアップ：帰ろうとした人に新着求人をLINEで案内し、応募しなかった人も残す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・動線01「LINEで登録」ボタン：登録と友だち追加が同時にできる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・動線02 完了画面：応募後の連絡をLINEに寄せ、不採用・辞退時の再案内の余地も残す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Profile+と通知メッセージ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・Profile+で入力を減らす：氏名・電話番号等が自動で入り、確認して押すだけ（利用には申請と契約が必要）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・LINE経由の人：Profile+で登録してLINEで連絡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・LINEを通らない応募者（Indeed・求人ボックス等）：通知メッセージで「応募受付完了」を届け、その場で友だち追加してもらう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あいさつ・リッチメニュー・分岐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・あいさつは全員共通：1通目「LINEで登録」、2通目「すぐ転職したい？」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・リッチメニュー：職種・地域・条件をワンタップで検索。未経験・資格取得支援の入口も置く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・「まだ」の人はタグで絞り、興味のある内容だけ届けて配信数を抑える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配信で応募まで運ぶ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・登録から応募までのステップ配信（前後検索の型を参考に順番を設計）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・会員名簿の条件で選んで、合う新着求人だけを届ける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・年間の企画配信は3月の山に向けて前倒し。応募しなかった人はクリック履歴で絞って再度声をかける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5章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通知メッセージ・自動応答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・「応募受付完了」「会員登録完了」の公式ひな形を使用（販促は不可）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・面談日程への利用は申込時に確認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・資格・受験料・勤務地などのよくある質問は自動応答で返す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6章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効果測定・費用対効果・スケジュール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・CV①（登録）とCV②（応募）を分けて測定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・成果シミュレーション：広告SIMの数字に合わせて見込みを示す（差し込み待ち）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・費用対効果：投資額を何ヶ月で回収できるか（数字はSIM確定後）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・スケジュール：11〜12月に予算決定 → 申請 → 4月にサイトと同時開設 → 翌3月の山までに友だちを貯める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172200"/>
            <a:ext cx="8961120" cy="502920"/>
          </a:xfrm>
          <a:prstGeom prst="rect">
            <a:avLst/>
          </a:prstGeom>
          <a:solidFill>
            <a:srgbClr val="FFF3CD"/>
          </a:solidFill>
          <a:ln w="9525">
            <a:solidFill>
              <a:srgbClr val="E0B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8595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96600"/>
                </a:solidFill>
                <a:latin typeface="メイリオ"/>
                <a:latin typeface="メイリオ"/>
                <a:ea typeface="メイリオ"/>
                <a:cs typeface="メイリオ"/>
              </a:rPr>
              <a:t>⚠ 差し込み待ち：DYM広告チームの広告SIM（Meta30万・リス70万）確認中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LINEヤフー公式の実績と次のご確認事項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・求人・人材の事例：保育box（応募率5倍）／トライト（面接設定率127%）／ランスタッド（返答率20%→80%）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・LINEで会員登録が増えた事例：登録と同時の連携率 約9割／新規会員登録 約3.5倍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・次のご確認：取得する項目・通知メッセージの運用・面談体制が決まれば構築へ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74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4980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2060"/>
                </a:solidFill>
                <a:latin typeface="メイリオ"/>
                <a:latin typeface="メイリオ"/>
                <a:ea typeface="メイリオ"/>
                <a:cs typeface="メイリオ"/>
              </a:rPr>
              <a:t>【汎用】弊社のLINE公式アカウント運用について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961120" cy="1905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8961120" cy="4480560"/>
          </a:xfrm>
          <a:prstGeom prst="rect">
            <a:avLst/>
          </a:prstGeom>
          <a:solidFill>
            <a:srgbClr val="F4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8412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・なぜLINEか：企業の活用が増加／若年層は電話・メールを避ける傾向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・施策展開図：新規の友だち追加と、既存友だちの育成・応募への着地の2動線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・改善モデル：①友だち・リードを増やす ②面談に引き上げる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・運用プラン：サービス内容（予算型コンサル）／都度発注（開発・Profile+・通知メッセージ等）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latin typeface="メイリオ"/>
                <a:ea typeface="メイリオ"/>
                <a:cs typeface="メイリオ"/>
              </a:rPr>
              <a:t>　・弊社体制図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902952" cy="685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メイリオ"/>
                <a:latin typeface="メイリオ"/>
                <a:ea typeface="メイリオ"/>
                <a:cs typeface="メイリオ"/>
              </a:rPr>
              <a:t>株式会社DYM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