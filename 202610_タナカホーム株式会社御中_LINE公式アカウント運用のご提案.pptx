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3.svg" ContentType="image/svg+xml"/>
  <Override PartName="/ppt/media/image14.svg" ContentType="image/svg+xml"/>
  <Override PartName="/ppt/media/image15.svg" ContentType="image/svg+xml"/>
  <Override PartName="/ppt/media/image1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9" r:id="rId2"/>
    <p:sldId id="311" r:id="rId3"/>
    <p:sldId id="305" r:id="rId4"/>
    <p:sldId id="312" r:id="rId5"/>
    <p:sldId id="333" r:id="rId35"/>
    <p:sldId id="334" r:id="rId36"/>
    <p:sldId id="306" r:id="rId6"/>
    <p:sldId id="313" r:id="rId7"/>
    <p:sldId id="310" r:id="rId8"/>
    <p:sldId id="314" r:id="rId9"/>
    <p:sldId id="335" r:id="rId37"/>
    <p:sldId id="315" r:id="rId11"/>
    <p:sldId id="336" r:id="rId38"/>
    <p:sldId id="337" r:id="rId39"/>
    <p:sldId id="338" r:id="rId40"/>
    <p:sldId id="309" r:id="rId14"/>
    <p:sldId id="318" r:id="rId15"/>
    <p:sldId id="301" r:id="rId16"/>
    <p:sldId id="320" r:id="rId17"/>
    <p:sldId id="321" r:id="rId18"/>
    <p:sldId id="322" r:id="rId19"/>
    <p:sldId id="323" r:id="rId20"/>
    <p:sldId id="324" r:id="rId21"/>
    <p:sldId id="325" r:id="rId22"/>
    <p:sldId id="326" r:id="rId23"/>
    <p:sldId id="327" r:id="rId24"/>
    <p:sldId id="328" r:id="rId25"/>
    <p:sldId id="329" r:id="rId26"/>
    <p:sldId id="330" r:id="rId27"/>
    <p:sldId id="331" r:id="rId28"/>
    <p:sldId id="332"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1" Type="http://schemas.openxmlformats.org/officeDocument/2006/relationships/slide" Target="slides/slide12.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11.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emf"/><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jpeg"/><Relationship Id="rId7" Type="http://schemas.openxmlformats.org/officeDocument/2006/relationships/image" Target="../media/image11.jpeg"/><Relationship Id="rId8" Type="http://schemas.openxmlformats.org/officeDocument/2006/relationships/image" Target="../media/image12.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6.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250" b="1" dirty="0">
                          <a:solidFill>
                            <a:srgbClr val="7F7F7F"/>
                          </a:solidFill>
                          <a:latin typeface="メイリオ" panose="020B0604030504040204" pitchFamily="50" charset="-128"/>
                          <a:ea typeface="メイリオ" panose="020B0604030504040204" pitchFamily="50" charset="-128"/>
                        </a:rPr>
                        <a:t>Appendix</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LINE公式アカウントのメリット／中長期の施策／スポットでのご依頼</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3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3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広告の改善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a:t>
            </a:r>
            <a:endParaRPr lang="ja-JP" altLang="en-US" sz="13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SEO</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3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300" dirty="0"/>
          </a:p>
        </p:txBody>
      </p:sp>
      <p:graphicFrame>
        <p:nvGraphicFramePr>
          <p:cNvPr id="15" name="現在地 14"/>
          <p:cNvGraphicFramePr>
            <a:graphicFrameLocks noGrp="1"/>
          </p:cNvGraphicFramePr>
          <p:nvPr>
            <p:extLst>
              <p:ext uri="{D42A27DB-BD31-4B8C-83A1-F6EECF244321}">
                <p14:modId xmlns:p14="http://schemas.microsoft.com/office/powerpoint/2010/main" val="1788489286"/>
              </p:ext>
            </p:extLst>
          </p:nvPr>
        </p:nvGraphicFramePr>
        <p:xfrm>
          <a:off x="435836" y="2269374"/>
          <a:ext cx="4343400" cy="2852925"/>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（4展示場）</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目標 月50〜60件に対し、現状 月35〜40件</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来場予約のCPA</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Web広告で約30,000円</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約50,000円）</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青森店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250" b="0" dirty="0">
                          <a:solidFill>
                            <a:srgbClr val="333333"/>
                          </a:solidFill>
                          <a:latin typeface="メイリオ" panose="020B0604030504040204" pitchFamily="50" charset="-128"/>
                          <a:ea typeface="メイリオ" panose="020B0604030504040204" pitchFamily="50" charset="-128"/>
                        </a:rPr>
                      </a:br>
                      <a:r>
                        <a:rPr lang="ja-JP" altLang="en-US" sz="125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自社サイトの</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資料請求</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月一桁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検索広告のCPA</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（9月）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14,796円 → 47,500円（前年同月比）</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2642181131"/>
              </p:ext>
            </p:extLst>
          </p:nvPr>
        </p:nvGraphicFramePr>
        <p:xfrm>
          <a:off x="502920" y="1691640"/>
          <a:ext cx="5532120" cy="3246119"/>
        </p:xfrm>
        <a:graphic>
          <a:graphicData uri="http://schemas.openxmlformats.org/drawingml/2006/table">
            <a:tbl>
              <a:tblPr/>
              <a:tblGrid>
                <a:gridCol w="1371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友だち数</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417人</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友だちの入口</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配信</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1:1チャット</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競合の強み：一条工務店は性能と実績、大進建設は全館空調と特典</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青森で比べられる2社は、性能に加えて、実績・特典でも選ぶ理由をつくっている</a:t>
            </a:r>
            <a:endParaRPr lang="en-US" sz="1400" b="1" u="none" strike="noStrike" dirty="0">
              <a:effectLst/>
              <a:uFillTx/>
              <a:latin typeface="メイリオ"/>
            </a:endParaRPr>
          </a:p>
        </p:txBody>
      </p:sp>
      <p:graphicFrame>
        <p:nvGraphicFramePr>
          <p:cNvPr id="7" name="競合の強み 6"/>
          <p:cNvGraphicFramePr>
            <a:graphicFrameLocks noGrp="1"/>
          </p:cNvGraphicFramePr>
          <p:nvPr/>
        </p:nvGraphicFramePr>
        <p:xfrm>
          <a:off x="502920" y="1691640"/>
          <a:ext cx="6766559" cy="2880360"/>
        </p:xfrm>
        <a:graphic>
          <a:graphicData uri="http://schemas.openxmlformats.org/drawingml/2006/table">
            <a:tbl>
              <a:tblPr/>
              <a:tblGrid>
                <a:gridCol w="1234440"/>
                <a:gridCol w="1828800"/>
                <a:gridCol w="1828800"/>
                <a:gridCol w="1874519"/>
              </a:tblGrid>
              <a:tr h="365760">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一条工務店</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大進建設</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タナカホーム</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77724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主な訴求</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「家は、性能。」</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全館空調</a:t>
                      </a:r>
                      <a:br>
                        <a:rPr lang="ja-JP" altLang="en-US" sz="1200" b="1" dirty="0">
                          <a:solidFill>
                            <a:srgbClr val="1F285A"/>
                          </a:solidFill>
                          <a:latin typeface="メイリオ" panose="020B0604030504040204" pitchFamily="50" charset="-128"/>
                          <a:ea typeface="メイリオ" panose="020B0604030504040204" pitchFamily="50" charset="-128"/>
                        </a:rPr>
                      </a:br>
                      <a:r>
                        <a:rPr lang="ja-JP" altLang="en-US" sz="1200" b="1" dirty="0">
                          <a:solidFill>
                            <a:srgbClr val="1F285A"/>
                          </a:solidFill>
                          <a:latin typeface="メイリオ" panose="020B0604030504040204" pitchFamily="50" charset="-128"/>
                          <a:ea typeface="メイリオ" panose="020B0604030504040204" pitchFamily="50" charset="-128"/>
                        </a:rPr>
                        <a:t>7つの機能と保証</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地元を知り尽くした地場の会社</a:t>
                      </a:r>
                      <a:br>
                        <a:rPr lang="ja-JP" altLang="en-US" sz="1200" b="1" dirty="0">
                          <a:solidFill>
                            <a:srgbClr val="1F285A"/>
                          </a:solidFill>
                          <a:latin typeface="メイリオ" panose="020B0604030504040204" pitchFamily="50" charset="-128"/>
                          <a:ea typeface="メイリオ" panose="020B0604030504040204" pitchFamily="50" charset="-128"/>
                        </a:rPr>
                      </a:br>
                      <a:r>
                        <a:rPr lang="ja-JP" altLang="en-US" sz="1200" b="1" dirty="0">
                          <a:solidFill>
                            <a:srgbClr val="1F285A"/>
                          </a:solidFill>
                          <a:latin typeface="メイリオ" panose="020B0604030504040204" pitchFamily="50" charset="-128"/>
                          <a:ea typeface="メイリオ" panose="020B0604030504040204" pitchFamily="50" charset="-128"/>
                        </a:rPr>
                        <a:t>W断熱・トリプルガラス樹脂窓（標準）</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8580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実績・拠点</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青森県戸建 着工棟数 No.1（2024年度）</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県内の建築実績 4,167棟</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青森を中心に、宮城にも拠点</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八戸で1973年に創業（50年以上）</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05156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LINEの取り組み</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サイトの公式SNSの一覧から、公式LINEへ</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LINE登録で最大4万円分</a:t>
                      </a:r>
                      <a:br>
                        <a:rPr lang="ja-JP" altLang="en-US" sz="1200" b="1" dirty="0">
                          <a:solidFill>
                            <a:srgbClr val="1F285A"/>
                          </a:solidFill>
                          <a:latin typeface="メイリオ" panose="020B0604030504040204" pitchFamily="50" charset="-128"/>
                          <a:ea typeface="メイリオ" panose="020B0604030504040204" pitchFamily="50" charset="-128"/>
                        </a:rPr>
                      </a:br>
                      <a:r>
                        <a:rPr lang="ja-JP" altLang="en-US" sz="1200" b="1" dirty="0">
                          <a:solidFill>
                            <a:srgbClr val="1F285A"/>
                          </a:solidFill>
                          <a:latin typeface="メイリオ" panose="020B0604030504040204" pitchFamily="50" charset="-128"/>
                          <a:ea typeface="メイリオ" panose="020B0604030504040204" pitchFamily="50" charset="-128"/>
                        </a:rPr>
                        <a:t>（はじめての資料請求と来場予約で1万円分、来場後の事前審査で最大3万円分）</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来場特典に上乗せで友だち登録</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北国の暮らしのお役立ち情報を発信</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大進建設のポップアップ" descr="大進建設_LINE登録キャンペーン_20261016.png"/>
          <p:cNvPicPr>
            <a:picLocks noChangeAspect="1"/>
          </p:cNvPicPr>
          <p:nvPr/>
        </p:nvPicPr>
        <p:blipFill>
          <a:blip r:embed="rId2"/>
          <a:stretch>
            <a:fillRect/>
          </a:stretch>
        </p:blipFill>
        <p:spPr>
          <a:xfrm>
            <a:off x="7406640" y="1691640"/>
            <a:ext cx="1993392" cy="1993392"/>
          </a:xfrm>
          <a:prstGeom prst="rect">
            <a:avLst/>
          </a:prstGeom>
        </p:spPr>
      </p:pic>
      <p:sp>
        <p:nvSpPr>
          <p:cNvPr id="9" name="画像の説明"/>
          <p:cNvSpPr/>
          <p:nvPr/>
        </p:nvSpPr>
        <p:spPr>
          <a:xfrm>
            <a:off x="7315200" y="3730752"/>
            <a:ext cx="217627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大進建設のサイトのポップアップ</a:t>
            </a:r>
            <a:endParaRPr lang="ja-JP" altLang="en-US" sz="1200" dirty="0"/>
          </a:p>
        </p:txBody>
      </p:sp>
      <p:sp>
        <p:nvSpPr>
          <p:cNvPr id="10"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※各社の公式サイト・LINE公式アカウントより（2026年10月16日確認）。一条工務店の着工棟数は住宅産業研究所調べ（2024年度）</a:t>
            </a:r>
            <a:endParaRPr lang="ja-JP" altLang="en-US" sz="12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競合の取り組みに対して：LINEで、タナカホームを選ぶ理由を届ける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性能・診断・特典で比べられる中、地元の会社ならではの情報で、選ばれる理由をつくる</a:t>
            </a:r>
            <a:endParaRPr lang="en-US" sz="1400" b="1" u="none" strike="noStrike" dirty="0">
              <a:effectLst/>
              <a:uFillTx/>
              <a:latin typeface="メイリオ"/>
            </a:endParaRPr>
          </a:p>
        </p:txBody>
      </p:sp>
      <p:graphicFrame>
        <p:nvGraphicFramePr>
          <p:cNvPr id="7" name="競合の取り組みに対して 6"/>
          <p:cNvGraphicFramePr>
            <a:graphicFrameLocks noGrp="1"/>
          </p:cNvGraphicFramePr>
          <p:nvPr/>
        </p:nvGraphicFramePr>
        <p:xfrm>
          <a:off x="502920" y="1691640"/>
          <a:ext cx="8897112" cy="2971800"/>
        </p:xfrm>
        <a:graphic>
          <a:graphicData uri="http://schemas.openxmlformats.org/drawingml/2006/table">
            <a:tbl>
              <a:tblPr/>
              <a:tblGrid>
                <a:gridCol w="3840480"/>
                <a:gridCol w="411480"/>
                <a:gridCol w="4645152"/>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競合の取り組み</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タナカホームのLINEで行うこと</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868680">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性能を前面に打ち出す</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一条工務店「家は、性能。」</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t>
                      </a:r>
                      <a:endParaRPr lang="ja-JP" altLang="en-US" sz="13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1" dirty="0">
                          <a:solidFill>
                            <a:srgbClr val="1F285A"/>
                          </a:solidFill>
                          <a:latin typeface="メイリオ" panose="020B0604030504040204" pitchFamily="50" charset="-128"/>
                          <a:ea typeface="メイリオ" panose="020B0604030504040204" pitchFamily="50" charset="-128"/>
                        </a:rPr>
                        <a:t>青森の冬の暮らし（暖房費・雪・断熱）を、地元の施工事例とあわせて届ける</a:t>
                      </a:r>
                      <a:endParaRPr lang="ja-JP" altLang="en-US" sz="12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LINEで診断・間取り作成を受け付ける</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セキスイハイム「カタログ無料診断」「無料間取り作成」</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t>
                      </a:r>
                      <a:endParaRPr lang="ja-JP" altLang="en-US" sz="13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1" dirty="0">
                          <a:solidFill>
                            <a:srgbClr val="1F285A"/>
                          </a:solidFill>
                          <a:latin typeface="メイリオ" panose="020B0604030504040204" pitchFamily="50" charset="-128"/>
                          <a:ea typeface="メイリオ" panose="020B0604030504040204" pitchFamily="50" charset="-128"/>
                        </a:rPr>
                        <a:t>予算の簡易診断、平屋か2階建てかの診断で希望を聞き分け、届ける情報を分ける</a:t>
                      </a:r>
                      <a:endParaRPr lang="ja-JP" altLang="en-US" sz="12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特典で来場の先まで追う</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大進建設「LINE登録で最大4万円分」</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t>
                      </a:r>
                      <a:endParaRPr lang="ja-JP" altLang="en-US" sz="13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1" dirty="0">
                          <a:solidFill>
                            <a:srgbClr val="1F285A"/>
                          </a:solidFill>
                          <a:latin typeface="メイリオ" panose="020B0604030504040204" pitchFamily="50" charset="-128"/>
                          <a:ea typeface="メイリオ" panose="020B0604030504040204" pitchFamily="50" charset="-128"/>
                        </a:rPr>
                        <a:t>特典の金額ではなく、検討の順番に沿った情報で、契約まで追う</a:t>
                      </a:r>
                      <a:endParaRPr lang="ja-JP" altLang="en-US" sz="12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48463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rPr>
              <a:t>タナカホームを選ぶ理由を届けられること</a:t>
            </a:r>
            <a:endParaRPr lang="ja-JP" altLang="en-US" sz="1200" dirty="0"/>
          </a:p>
        </p:txBody>
      </p:sp>
      <p:sp>
        <p:nvSpPr>
          <p:cNvPr id="9" name="注記"/>
          <p:cNvSpPr/>
          <p:nvPr/>
        </p:nvSpPr>
        <p:spPr>
          <a:xfrm>
            <a:off x="502920" y="553212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※セキスイハイムはLINE公式アカウントのプロフィールより（2026年10月16日確認）</a:t>
            </a:r>
            <a:endParaRPr lang="ja-JP"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流入</a:t>
            </a:r>
            <a:endParaRPr lang="ja-JP" altLang="en-US" sz="1300" dirty="0"/>
          </a:p>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3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来場予約・来場</a:t>
            </a:r>
            <a:endParaRPr lang="ja-JP" altLang="en-US" sz="13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商談・契約</a:t>
            </a:r>
            <a:endParaRPr lang="ja-JP" altLang="en-US" sz="13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3"/>
          <a:stretch>
            <a:fillRect/>
          </a:stretch>
        </p:blipFill>
        <p:spPr>
          <a:xfrm>
            <a:off x="502920" y="1600200"/>
            <a:ext cx="5943600" cy="3468090"/>
          </a:xfrm>
          <a:prstGeom prst="rect">
            <a:avLst/>
          </a:prstGeom>
        </p:spPr>
      </p:pic>
      <p:sp>
        <p:nvSpPr>
          <p:cNvPr id="8" name="LINE追加の時期"/>
          <p:cNvSpPr/>
          <p:nvPr/>
        </p:nvSpPr>
        <p:spPr>
          <a:xfrm>
            <a:off x="3554958" y="1644777"/>
            <a:ext cx="692429" cy="323926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INE追加 札"/>
          <p:cNvSpPr/>
          <p:nvPr/>
        </p:nvSpPr>
        <p:spPr>
          <a:xfrm>
            <a:off x="3443973" y="5104866"/>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62940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62940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62940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6812280" y="2340864"/>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629400" y="2651760"/>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629400" y="2926079"/>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629400" y="3694176"/>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629400" y="3968496"/>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629400" y="473659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629400" y="5010912"/>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40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※LINEヤフー社の前後検索データより。「注文住宅」を検索した方が、前後15日間に検索した言葉（縦軸＝検索した人数）。色分けは弊社</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サイトに来る</a:t>
            </a:r>
            <a:endParaRPr lang="ja-JP" altLang="en-US" sz="13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a:t>
            </a:r>
            <a:endParaRPr lang="ja-JP" altLang="en-US" sz="13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a:t>
            </a:r>
            <a:endParaRPr lang="ja-JP" altLang="en-US" sz="13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a:t>
            </a:r>
            <a:endParaRPr lang="ja-JP" altLang="en-US" sz="13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契約</a:t>
            </a:r>
            <a:endParaRPr lang="ja-JP" altLang="en-US" sz="1300" dirty="0"/>
          </a:p>
        </p:txBody>
      </p:sp>
      <p:sp>
        <p:nvSpPr>
          <p:cNvPr id="18"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今のLINE：来場予約・来場のご案内</a:t>
            </a:r>
            <a:endParaRPr lang="ja-JP" altLang="en-US" sz="1300" dirty="0"/>
          </a:p>
        </p:txBody>
      </p:sp>
      <p:sp>
        <p:nvSpPr>
          <p:cNvPr id="19"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300" dirty="0"/>
          </a:p>
        </p:txBody>
      </p:sp>
      <p:sp>
        <p:nvSpPr>
          <p:cNvPr id="20"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300" dirty="0"/>
          </a:p>
        </p:txBody>
      </p:sp>
      <p:sp>
        <p:nvSpPr>
          <p:cNvPr id="21" name="可能になること01"/>
          <p:cNvSpPr/>
          <p:nvPr/>
        </p:nvSpPr>
        <p:spPr>
          <a:xfrm>
            <a:off x="502920"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300" dirty="0"/>
          </a:p>
        </p:txBody>
      </p:sp>
      <p:sp>
        <p:nvSpPr>
          <p:cNvPr id="22" name="可能になること02"/>
          <p:cNvSpPr/>
          <p:nvPr/>
        </p:nvSpPr>
        <p:spPr>
          <a:xfrm>
            <a:off x="3529584"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300" dirty="0"/>
          </a:p>
        </p:txBody>
      </p:sp>
      <p:sp>
        <p:nvSpPr>
          <p:cNvPr id="23" name="可能になること03"/>
          <p:cNvSpPr/>
          <p:nvPr/>
        </p:nvSpPr>
        <p:spPr>
          <a:xfrm>
            <a:off x="6556248"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入口</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タイミング</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7F7F7F"/>
                          </a:solidFill>
                          <a:latin typeface="メイリオ" panose="020B0604030504040204" pitchFamily="50" charset="-128"/>
                          <a:ea typeface="メイリオ" panose="020B0604030504040204" pitchFamily="50" charset="-128"/>
                        </a:rPr>
                        <a:t>今</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完了した直後</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3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3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友だち増加数</a:t>
            </a:r>
            <a:endParaRPr lang="ja-JP" altLang="en-US" sz="13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3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前年比127.5%</a:t>
            </a:r>
            <a:endParaRPr lang="ja-JP" altLang="en-US" sz="13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解決策：LINEの配信でナーチャリングを</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前後検索で見える検討の順番に合わせた、14日間のステップ配信（全5通）と月4回程度の企画配信で、来場予約を後押し</a:t>
            </a:r>
            <a:br>
              <a:rPr lang="zh-CN" sz="1400" b="0" u="none" strike="noStrike" dirty="0">
                <a:solidFill>
                  <a:srgbClr val="5A6378"/>
                </a:solidFill>
                <a:effectLst/>
                <a:uFillTx/>
                <a:latin typeface="メイリオ"/>
                <a:ea typeface="メイリオ"/>
              </a:rPr>
            </a:br>
            <a:endParaRPr lang="en-US" sz="1400" b="0" u="none" strike="noStrike" dirty="0">
              <a:solidFill>
                <a:srgbClr val="000000"/>
              </a:solidFill>
              <a:effectLst/>
              <a:uFillTx/>
              <a:latin typeface="メイリオ"/>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[ステップ配信・全5通｜新しい友だちへ追加後に自動配信]</a:t>
            </a:r>
            <a:endParaRPr lang="en-US" sz="1400" b="0" u="none" strike="noStrike">
              <a:solidFill>
                <a:srgbClr val="000000"/>
              </a:solidFill>
              <a:effectLst/>
              <a:uFillTx/>
              <a:latin typeface="メイリオ"/>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当日〜1日後</a:t>
            </a:r>
            <a:endParaRPr lang="en-US" sz="1200" b="0" u="none" strike="noStrike">
              <a:solidFill>
                <a:srgbClr val="FFFFFF"/>
              </a:solidFill>
              <a:effectLst/>
              <a:uFillTx/>
              <a:latin typeface="メイリオ"/>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施工事例・会社の特長</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土地探しのご相談</a:t>
            </a:r>
            <a:endParaRPr lang="en-US" sz="1200" b="0" u="none" strike="noStrike">
              <a:solidFill>
                <a:srgbClr val="000000"/>
              </a:solidFill>
              <a:effectLst/>
              <a:uFillTx/>
              <a:latin typeface="メイリオ"/>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比べる会社の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候補に入る</a:t>
            </a:r>
            <a:endParaRPr lang="en-US" sz="1200" b="0" u="none" strike="noStrike">
              <a:solidFill>
                <a:srgbClr val="000000"/>
              </a:solidFill>
              <a:effectLst/>
              <a:uFillTx/>
              <a:latin typeface="メイリオ"/>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資料請求へ</a:t>
            </a:r>
            <a:endParaRPr lang="en-US" sz="1200" b="0" u="none" strike="noStrike">
              <a:solidFill>
                <a:srgbClr val="FFFFFF"/>
              </a:solidFill>
              <a:effectLst/>
              <a:uFillTx/>
              <a:latin typeface="メイリオ"/>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2〜7日後</a:t>
            </a:r>
            <a:endParaRPr lang="en-US" sz="1200" b="0" u="none" strike="noStrike">
              <a:solidFill>
                <a:srgbClr val="FFFFFF"/>
              </a:solidFill>
              <a:effectLst/>
              <a:uFillTx/>
              <a:latin typeface="メイリオ"/>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住宅ローン・坪単価の考え方</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平屋・2階建ての価格の目安</a:t>
            </a:r>
            <a:endParaRPr lang="en-US" sz="1200" b="0" u="none" strike="noStrike">
              <a:solidFill>
                <a:srgbClr val="000000"/>
              </a:solidFill>
              <a:effectLst/>
              <a:uFillTx/>
              <a:latin typeface="メイリオ"/>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8〜14日後</a:t>
            </a:r>
            <a:endParaRPr lang="en-US" sz="1200" b="0" u="none" strike="noStrike">
              <a:solidFill>
                <a:srgbClr val="FFFFFF"/>
              </a:solidFill>
              <a:effectLst/>
              <a:uFillTx/>
              <a:latin typeface="メイリオ"/>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青森の冬を快適にする断熱・間取り</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ルームツアー動画</a:t>
            </a:r>
            <a:endParaRPr lang="en-US" altLang="ja-JP" sz="1200" b="0" u="none" strike="noStrike" dirty="0">
              <a:solidFill>
                <a:srgbClr val="333333"/>
              </a:solidFill>
              <a:effectLst/>
              <a:uFillTx/>
              <a:latin typeface="メイリオ"/>
              <a:ea typeface="メイリオ"/>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住みたいイメージを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育てる</a:t>
            </a:r>
            <a:endParaRPr lang="en-US" altLang="ja-JP" sz="1200" b="0" u="none" strike="noStrike" dirty="0">
              <a:solidFill>
                <a:srgbClr val="333333"/>
              </a:solidFill>
              <a:effectLst/>
              <a:uFillTx/>
              <a:latin typeface="メイリオ"/>
              <a:ea typeface="メイリオ"/>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メイリオ"/>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メイリオ"/>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メイリオ"/>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見学会・</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モデルハウス公開</a:t>
            </a:r>
            <a:endParaRPr lang="en-US" sz="1200" b="0" u="none" strike="noStrike">
              <a:solidFill>
                <a:srgbClr val="000000"/>
              </a:solidFill>
              <a:effectLst/>
              <a:uFillTx/>
              <a:latin typeface="メイリオ"/>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見に行く理由を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つくる</a:t>
            </a:r>
            <a:endParaRPr lang="en-US" sz="1200" b="0" u="none" strike="noStrike">
              <a:solidFill>
                <a:srgbClr val="000000"/>
              </a:solidFill>
              <a:effectLst/>
              <a:uFillTx/>
              <a:latin typeface="メイリオ"/>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来場予約前の方</a:t>
            </a:r>
            <a:endParaRPr lang="en-US" sz="1200" b="0" u="none" strike="noStrike">
              <a:solidFill>
                <a:srgbClr val="000000"/>
              </a:solidFill>
              <a:effectLst/>
              <a:uFillTx/>
              <a:latin typeface="メイリオ"/>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来場予約済みを除く</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メイリオ"/>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予算の簡易診断</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平屋か2階建てか</a:t>
            </a:r>
            <a:endParaRPr lang="en-US" sz="1200" b="0" u="none" strike="noStrike">
              <a:solidFill>
                <a:srgbClr val="000000"/>
              </a:solidFill>
              <a:effectLst/>
              <a:uFillTx/>
              <a:latin typeface="メイリオ"/>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希望を聞き分ける</a:t>
            </a:r>
            <a:endParaRPr lang="en-US" sz="1200" b="0" u="none" strike="noStrike">
              <a:solidFill>
                <a:srgbClr val="000000"/>
              </a:solidFill>
              <a:effectLst/>
              <a:uFillTx/>
              <a:latin typeface="メイリオ"/>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費用に関心がある方</a:t>
            </a:r>
            <a:endParaRPr lang="en-US" sz="1200" b="0" u="none" strike="noStrike">
              <a:solidFill>
                <a:srgbClr val="000000"/>
              </a:solidFill>
              <a:effectLst/>
              <a:uFillTx/>
              <a:latin typeface="メイリオ"/>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住宅ローンの配信を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クリックした方</a:t>
            </a:r>
            <a:endParaRPr lang="en-US" sz="1200" b="0" u="none" strike="noStrike">
              <a:solidFill>
                <a:srgbClr val="000000"/>
              </a:solidFill>
              <a:effectLst/>
              <a:uFillTx/>
              <a:latin typeface="メイリオ"/>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資金計画の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個別相談のご案内</a:t>
            </a:r>
            <a:endParaRPr lang="en-US" sz="1200" b="0" u="none" strike="noStrike">
              <a:solidFill>
                <a:srgbClr val="000000"/>
              </a:solidFill>
              <a:effectLst/>
              <a:uFillTx/>
              <a:latin typeface="メイリオ"/>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契約前の方</a:t>
            </a:r>
            <a:endParaRPr lang="en-US" sz="1200" b="0" u="none" strike="noStrike">
              <a:solidFill>
                <a:srgbClr val="000000"/>
              </a:solidFill>
              <a:effectLst/>
              <a:uFillTx/>
              <a:latin typeface="メイリオ"/>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来場済みのタグ</a:t>
            </a:r>
            <a:endParaRPr lang="en-US" sz="1200" b="0" u="none" strike="noStrike">
              <a:solidFill>
                <a:srgbClr val="000000"/>
              </a:solidFill>
              <a:effectLst/>
              <a:uFillTx/>
              <a:latin typeface="メイリオ"/>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お客様の声</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構造見学会</a:t>
            </a:r>
            <a:endParaRPr lang="en-US" sz="1200" b="0" u="none" strike="noStrike">
              <a:solidFill>
                <a:srgbClr val="000000"/>
              </a:solidFill>
              <a:effectLst/>
              <a:uFillTx/>
              <a:latin typeface="メイリオ"/>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契約前の後押し</a:t>
            </a:r>
            <a:endParaRPr lang="en-US" sz="1200" b="0" u="none" strike="noStrike">
              <a:solidFill>
                <a:srgbClr val="000000"/>
              </a:solidFill>
              <a:effectLst/>
              <a:uFillTx/>
              <a:latin typeface="メイリオ"/>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商談・契約へ</a:t>
            </a:r>
            <a:endParaRPr lang="en-US" sz="1200" b="0" u="none" strike="noStrike">
              <a:solidFill>
                <a:srgbClr val="FFFFFF"/>
              </a:solidFill>
              <a:effectLst/>
              <a:uFillTx/>
              <a:latin typeface="メイリオ"/>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メイリオ"/>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メイリオ"/>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予約の完了</a:t>
            </a:r>
            <a:endParaRPr lang="ja-JP" altLang="en-US" sz="13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予約の確認</a:t>
            </a:r>
            <a:endParaRPr lang="ja-JP" altLang="en-US" sz="13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3日前</a:t>
            </a:r>
            <a:endParaRPr lang="ja-JP" altLang="en-US" sz="13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前日</a:t>
            </a:r>
            <a:endParaRPr lang="ja-JP" altLang="en-US" sz="13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来場の後</a:t>
            </a:r>
            <a:endParaRPr lang="ja-JP" altLang="en-US" sz="1300" dirty="0"/>
          </a:p>
        </p:txBody>
      </p:sp>
      <p:sp>
        <p:nvSpPr>
          <p:cNvPr id="16" name="お知らせ1"/>
          <p:cNvSpPr/>
          <p:nvPr/>
        </p:nvSpPr>
        <p:spPr>
          <a:xfrm>
            <a:off x="502920"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300" dirty="0"/>
          </a:p>
        </p:txBody>
      </p:sp>
      <p:sp>
        <p:nvSpPr>
          <p:cNvPr id="17" name="お知らせ2"/>
          <p:cNvSpPr/>
          <p:nvPr/>
        </p:nvSpPr>
        <p:spPr>
          <a:xfrm>
            <a:off x="2328062"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300" dirty="0"/>
          </a:p>
        </p:txBody>
      </p:sp>
      <p:sp>
        <p:nvSpPr>
          <p:cNvPr id="18" name="お知らせ3"/>
          <p:cNvSpPr/>
          <p:nvPr/>
        </p:nvSpPr>
        <p:spPr>
          <a:xfrm>
            <a:off x="4153204"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300" dirty="0"/>
          </a:p>
        </p:txBody>
      </p:sp>
      <p:sp>
        <p:nvSpPr>
          <p:cNvPr id="19" name="お知らせ4"/>
          <p:cNvSpPr/>
          <p:nvPr/>
        </p:nvSpPr>
        <p:spPr>
          <a:xfrm>
            <a:off x="5978347"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300" dirty="0"/>
          </a:p>
        </p:txBody>
      </p:sp>
      <p:sp>
        <p:nvSpPr>
          <p:cNvPr id="20" name="お知らせ5"/>
          <p:cNvSpPr/>
          <p:nvPr/>
        </p:nvSpPr>
        <p:spPr>
          <a:xfrm>
            <a:off x="7803489"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300" dirty="0"/>
          </a:p>
        </p:txBody>
      </p:sp>
      <p:sp>
        <p:nvSpPr>
          <p:cNvPr id="21"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300" dirty="0"/>
          </a:p>
        </p:txBody>
      </p:sp>
      <p:sp>
        <p:nvSpPr>
          <p:cNvPr id="22"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300" dirty="0"/>
          </a:p>
        </p:txBody>
      </p:sp>
      <p:sp>
        <p:nvSpPr>
          <p:cNvPr id="23"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20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3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3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概算お見積り：月26万円で、6か月目に資料請求 月11件・来場予約 月8件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来場前のお知らせ</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予約ごとに配信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資料請求</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来場予約</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サイトの</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LINEボタン</a:t>
            </a:r>
            <a:endParaRPr lang="en-US" sz="1300" b="0" u="none" strike="noStrike">
              <a:solidFill>
                <a:srgbClr val="FFFFFF"/>
              </a:solidFill>
              <a:effectLst/>
              <a:uFillTx/>
              <a:latin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設置</a:t>
            </a:r>
            <a:endParaRPr lang="en-US" sz="1300" b="0" u="none" strike="noStrike">
              <a:solidFill>
                <a:srgbClr val="000000"/>
              </a:solidFill>
              <a:effectLst/>
              <a:uFillTx/>
              <a:latin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1,493人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11件/月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8件/月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プラン②｜総合運用で、友だちの入口を増やし、検討の順番に沿った配信で資料請求・来場予約を増やす</a:t>
            </a:r>
            <a:endParaRPr lang="en-US" sz="1400" b="0" u="none" strike="noStrike">
              <a:solidFill>
                <a:srgbClr val="000000"/>
              </a:solidFill>
              <a:effectLst/>
              <a:uFillTx/>
              <a:latin typeface="メイリオ"/>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＋LINE広告</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460,000円〜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 100,000円〜＋離脱防止 15,000円＋サンクスLINE誘導 150,000円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30,000円＋サンクスLINE誘導 30,000円〜。LINE公式アカウント利用料は別（貴社のご契約のまま）</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※契約期間は6か月〜。概算お見積りのページはプラン②の場合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LINE広告</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（友だち追加）</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300" dirty="0"/>
          </a:p>
        </p:txBody>
      </p:sp>
      <p:sp>
        <p:nvSpPr>
          <p:cNvPr id="8" name="型1"/>
          <p:cNvSpPr/>
          <p:nvPr/>
        </p:nvSpPr>
        <p:spPr>
          <a:xfrm>
            <a:off x="502920" y="2103120"/>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① 入口</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300" dirty="0"/>
          </a:p>
        </p:txBody>
      </p:sp>
      <p:sp>
        <p:nvSpPr>
          <p:cNvPr id="9" name="型2"/>
          <p:cNvSpPr/>
          <p:nvPr/>
        </p:nvSpPr>
        <p:spPr>
          <a:xfrm>
            <a:off x="502920" y="2944368"/>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② 配信</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300" dirty="0"/>
          </a:p>
        </p:txBody>
      </p:sp>
      <p:sp>
        <p:nvSpPr>
          <p:cNvPr id="10" name="型3"/>
          <p:cNvSpPr/>
          <p:nvPr/>
        </p:nvSpPr>
        <p:spPr>
          <a:xfrm>
            <a:off x="502920" y="3785615"/>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③ 改善</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3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横展開</a:t>
            </a:r>
            <a:endParaRPr lang="ja-JP" altLang="en-US" sz="13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店舗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商品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層</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3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進め方</a:t>
            </a:r>
            <a:endParaRPr lang="ja-JP" altLang="en-US" sz="13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12月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構築：離脱防止・サイトのLINEボタン・サンクスLINE誘導、ステップ配信、来場前のお知らせ</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3月〜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143274</TotalTime>
  <Words>3655</Words>
  <Application>Microsoft Office PowerPoint</Application>
  <PresentationFormat>A4 210 x 297 mm</PresentationFormat>
  <Paragraphs>573</Paragraphs>
  <Slides>28</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28</vt:i4>
      </vt:variant>
    </vt:vector>
  </HeadingPairs>
  <TitlesOfParts>
    <vt:vector size="36"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1974</cp:revision>
  <cp:lastPrinted>2022-11-01T11:38:14Z</cp:lastPrinted>
  <dcterms:created xsi:type="dcterms:W3CDTF">2015-09-04T09:21:15Z</dcterms:created>
  <dcterms:modified xsi:type="dcterms:W3CDTF">2026-10-16T04:19:57Z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