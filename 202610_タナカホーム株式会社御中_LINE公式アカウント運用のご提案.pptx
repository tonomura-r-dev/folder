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06" r:id="rId6"/>
    <p:sldId id="313" r:id="rId7"/>
    <p:sldId id="310" r:id="rId8"/>
    <p:sldId id="314" r:id="rId9"/>
    <p:sldId id="307" r:id="rId10"/>
    <p:sldId id="315" r:id="rId11"/>
    <p:sldId id="316" r:id="rId12"/>
    <p:sldId id="317" r:id="rId13"/>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来場予約は目標50〜60件に対し35〜40件。広告と地域SEOで質の高い見込み客を集める。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目標に届いていない。集客フェーズは、広告の改善と地域特化のSEOで立て直す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地域特化のSEO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解決策：LINEの配信で</a:t>
            </a:r>
            <a:r>
              <a:rPr lang="ja-JP" altLang="en-US" sz="1600" b="1" u="none" strike="noStrike" dirty="0">
                <a:solidFill>
                  <a:srgbClr val="323366"/>
                </a:solidFill>
                <a:effectLst/>
                <a:uFillTx/>
                <a:latin typeface="メイリオ"/>
                <a:ea typeface="メイリオ"/>
              </a:rPr>
              <a:t>ナーチャリングを</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検討の順番に合わせて配信し、「住みたいイメージ」を育てる</a:t>
            </a:r>
            <a:endParaRPr lang="en-US" sz="1400" b="1" u="none" strike="noStrike" dirty="0">
              <a:effectLst/>
              <a:uFillTx/>
              <a:latin typeface="メイリオ"/>
            </a:endParaRPr>
          </a:p>
        </p:txBody>
      </p:sp>
      <p:graphicFrame>
        <p:nvGraphicFramePr>
          <p:cNvPr id="7" name="配信 6"/>
          <p:cNvGraphicFramePr>
            <a:graphicFrameLocks noGrp="1"/>
          </p:cNvGraphicFramePr>
          <p:nvPr>
            <p:extLst>
              <p:ext uri="{D42A27DB-BD31-4B8C-83A1-F6EECF244321}">
                <p14:modId xmlns:p14="http://schemas.microsoft.com/office/powerpoint/2010/main" val="3859804822"/>
              </p:ext>
            </p:extLst>
          </p:nvPr>
        </p:nvGraphicFramePr>
        <p:xfrm>
          <a:off x="502920" y="1691640"/>
          <a:ext cx="8897112" cy="2633472"/>
        </p:xfrm>
        <a:graphic>
          <a:graphicData uri="http://schemas.openxmlformats.org/drawingml/2006/table">
            <a:tbl>
              <a:tblPr/>
              <a:tblGrid>
                <a:gridCol w="12344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tblGrid>
              <a:tr h="365760">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時期</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検討者が調べていること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配信するコンテンツ</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感じてもらうこと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当日〜1日</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大手ハウスメーカーの比較、土地探し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会社の特長・施工事例、街並みと土地の情報</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この会社・この街がいい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1〜7日後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住宅ローンのシミュレーション・審査、坪単価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費用・住宅ローンの考え方、補助金</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これなら建てられる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7〜15日後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断熱等級、間取り、吹き抜け、ルームツアー</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青森の冬を乗り切る性能、間取り、ルームツアー動画、入居後の暮らし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この家に住みたい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50" b="0" dirty="0">
                          <a:solidFill>
                            <a:srgbClr val="333333"/>
                          </a:solidFill>
                          <a:latin typeface="メイリオ" panose="020B0604030504040204" pitchFamily="50" charset="-128"/>
                          <a:ea typeface="メイリオ" panose="020B0604030504040204" pitchFamily="50" charset="-128"/>
                        </a:rPr>
                        <a:t>―</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見学会・来場予約のご案内、来場前日のお知らせ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見に行きたい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流れ1"/>
          <p:cNvSpPr/>
          <p:nvPr/>
        </p:nvSpPr>
        <p:spPr>
          <a:xfrm>
            <a:off x="502920" y="4526280"/>
            <a:ext cx="2004822" cy="658368"/>
          </a:xfrm>
          <a:prstGeom prst="rect">
            <a:avLst/>
          </a:prstGeom>
          <a:noFill/>
          <a:ln w="9525">
            <a:solidFill>
              <a:srgbClr val="1F285A"/>
            </a:solidFill>
          </a:ln>
        </p:spPr>
        <p:txBody>
          <a:bodyPr wrap="square" lIns="54864" tIns="36576" rIns="54864" bIns="36576" rtlCol="0" anchor="ctr">
            <a:noAutofit/>
          </a:bodyPr>
          <a:lstStyle/>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友だち追加</a:t>
            </a:r>
            <a:endParaRPr lang="ja-JP" altLang="en-US" sz="1200" dirty="0"/>
          </a:p>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資料請求・来場予約・サイト</a:t>
            </a:r>
            <a:endParaRPr lang="ja-JP" altLang="en-US" sz="1200" dirty="0"/>
          </a:p>
        </p:txBody>
      </p:sp>
      <p:sp>
        <p:nvSpPr>
          <p:cNvPr id="9" name="矢印"/>
          <p:cNvSpPr/>
          <p:nvPr/>
        </p:nvSpPr>
        <p:spPr>
          <a:xfrm>
            <a:off x="250774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0" name="流れ2"/>
          <p:cNvSpPr/>
          <p:nvPr/>
        </p:nvSpPr>
        <p:spPr>
          <a:xfrm>
            <a:off x="2800350"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配信でファン化</a:t>
            </a:r>
            <a:endParaRPr lang="ja-JP" altLang="en-US" sz="1200" dirty="0"/>
          </a:p>
        </p:txBody>
      </p:sp>
      <p:sp>
        <p:nvSpPr>
          <p:cNvPr id="11" name="矢印"/>
          <p:cNvSpPr/>
          <p:nvPr/>
        </p:nvSpPr>
        <p:spPr>
          <a:xfrm>
            <a:off x="4805172"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流れ3"/>
          <p:cNvSpPr/>
          <p:nvPr/>
        </p:nvSpPr>
        <p:spPr>
          <a:xfrm>
            <a:off x="5097779"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タイミングが良い時に来場</a:t>
            </a:r>
            <a:endParaRPr lang="ja-JP" altLang="en-US" sz="1200" dirty="0"/>
          </a:p>
        </p:txBody>
      </p:sp>
      <p:sp>
        <p:nvSpPr>
          <p:cNvPr id="13" name="矢印"/>
          <p:cNvSpPr/>
          <p:nvPr/>
        </p:nvSpPr>
        <p:spPr>
          <a:xfrm>
            <a:off x="710260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4" name="流れ4"/>
          <p:cNvSpPr/>
          <p:nvPr/>
        </p:nvSpPr>
        <p:spPr>
          <a:xfrm>
            <a:off x="7395210" y="4526280"/>
            <a:ext cx="2004822" cy="658368"/>
          </a:xfrm>
          <a:prstGeom prst="rect">
            <a:avLst/>
          </a:prstGeom>
          <a:solidFill>
            <a:srgbClr val="C00000"/>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※時期と調べていることは、LINEヤフー社の前後検索データより／動画・写真は今の配信やInstagramの素材を活かす</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試算：6か月目に、LINE経由の資料請求 月11件・来場予約 月8件</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サイトから友だちを増やし、検討の順番に沿った配信で、資料請求・来場予約につなげる</a:t>
            </a:r>
            <a:endParaRPr lang="en-US" sz="1400" b="1" u="none" strike="noStrike" dirty="0">
              <a:effectLst/>
              <a:uFillTx/>
              <a:latin typeface="メイリオ"/>
            </a:endParaRPr>
          </a:p>
        </p:txBody>
      </p:sp>
      <p:graphicFrame>
        <p:nvGraphicFramePr>
          <p:cNvPr id="7" name="試算 6"/>
          <p:cNvGraphicFramePr>
            <a:graphicFrameLocks noGrp="1"/>
          </p:cNvGraphicFramePr>
          <p:nvPr/>
        </p:nvGraphicFramePr>
        <p:xfrm>
          <a:off x="502920" y="1691640"/>
          <a:ext cx="8897112" cy="3108960"/>
        </p:xfrm>
        <a:graphic>
          <a:graphicData uri="http://schemas.openxmlformats.org/drawingml/2006/table">
            <a:tbl>
              <a:tblPr/>
              <a:tblGrid>
                <a:gridCol w="242316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078992">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1078992">
                  <a:extLst>
                    <a:ext uri="{9D8B030D-6E8A-4147-A177-3AD203B41FA5}">
                      <a16:colId xmlns:a16="http://schemas.microsoft.com/office/drawing/2014/main" val="20006"/>
                    </a:ext>
                  </a:extLst>
                </a:gridCol>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5か月目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6か月目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新しく友だちになる方（人）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179</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友だち数（累計・人）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594</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772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950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1,130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1,311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1,493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配信が届く友だち（人）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428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912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1,030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配信からのクリック</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637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613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676</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738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資料請求（LINE経由・件）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9</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5"/>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来場予約（LINE経由・件）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2</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3</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6"/>
                  </a:ext>
                </a:extLst>
              </a:tr>
            </a:tbl>
          </a:graphicData>
        </a:graphic>
      </p:graphicFrame>
      <p:sp>
        <p:nvSpPr>
          <p:cNvPr id="8"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※前提：サイトのUU 月13,228／今の友だち417人／友だちの入口＝離脱防止・サイトのLINEボタン・サンクスLINE誘導／配信＝企画配信 月4本＋ステップ配信5通／ブロック率は28%から月ごとに上昇</a:t>
            </a:r>
            <a:endParaRPr lang="ja-JP" altLang="en-US" sz="1200" dirty="0"/>
          </a:p>
        </p:txBody>
      </p:sp>
      <p:sp>
        <p:nvSpPr>
          <p:cNvPr id="9" name="注記"/>
          <p:cNvSpPr/>
          <p:nvPr/>
        </p:nvSpPr>
        <p:spPr>
          <a:xfrm>
            <a:off x="502920" y="5376672"/>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※配信が届く友だち＝ブロックしていない友だち。資料請求・来場予約は、LINEの配信からのクリックを通ったものだけを数える</a:t>
            </a:r>
            <a:endParaRPr lang="ja-JP" alt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費用：運用の範囲に合わせて、3つのプランから選べる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おすすめは、構築から運用・改善まで一貫して行う「構築＋運用プラン」</a:t>
            </a:r>
            <a:endParaRPr lang="en-US" sz="1400" b="1" u="none" strike="noStrike" dirty="0">
              <a:effectLst/>
              <a:uFillTx/>
              <a:latin typeface="メイリオ"/>
            </a:endParaRPr>
          </a:p>
        </p:txBody>
      </p:sp>
      <p:graphicFrame>
        <p:nvGraphicFramePr>
          <p:cNvPr id="7" name="3つのプラン 6"/>
          <p:cNvGraphicFramePr>
            <a:graphicFrameLocks noGrp="1"/>
          </p:cNvGraphicFramePr>
          <p:nvPr/>
        </p:nvGraphicFramePr>
        <p:xfrm>
          <a:off x="502920" y="1600200"/>
          <a:ext cx="8897111" cy="3675888"/>
        </p:xfrm>
        <a:graphic>
          <a:graphicData uri="http://schemas.openxmlformats.org/drawingml/2006/table">
            <a:tbl>
              <a:tblPr/>
              <a:tblGrid>
                <a:gridCol w="1874519"/>
                <a:gridCol w="2340864"/>
                <a:gridCol w="2340864"/>
                <a:gridCol w="2340864"/>
              </a:tblGrid>
              <a:tr h="50292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構築＋運用プラン</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（おすすめ）</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構築＋運用＋広告プラン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r>
              <a:tr h="36576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初期費用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月額費用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26万円〜</a:t>
                      </a:r>
                      <a:endParaRPr lang="ja-JP" altLang="en-US" sz="16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月額の内訳</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離脱防止 3万円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サンクスLINE誘導 3万円〜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＋LINE運用コンサル 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構築＋運用プランの内容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＋LINE広告（友だち追加）20万円〜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ステップ配信の構築</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企画配信・</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貴社で運用</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LINE広告で</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友だちを増やす</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注記"/>
          <p:cNvSpPr/>
          <p:nvPr/>
        </p:nvSpPr>
        <p:spPr>
          <a:xfrm>
            <a:off x="502920" y="5715000"/>
            <a:ext cx="8897112" cy="384048"/>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※初期費用＝運用設計・構築 10万円〜＋離脱防止 1.5万円＋サンクスLINE誘導 15万円。LINE公式アカウント利用料は別（貴社のご契約のまま）。契約期間は6か月〜。試算のページは構築＋運用プランの場合</a:t>
            </a:r>
            <a:endParaRPr lang="ja-JP" altLang="en-US" sz="1200" dirty="0"/>
          </a:p>
        </p:txBody>
      </p:sp>
      <p:sp>
        <p:nvSpPr>
          <p:cNvPr id="9" name="注記"/>
          <p:cNvSpPr/>
          <p:nvPr/>
        </p:nvSpPr>
        <p:spPr>
          <a:xfrm>
            <a:off x="502920" y="612648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競合のLINE：大進建設は、特典で来場後の事前審査まで追っている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ポイントは、特典の金額ではなく、検討中の方に役立つ情報で契約まで追えること</a:t>
            </a:r>
            <a:endParaRPr lang="en-US" sz="1400" b="1" u="none" strike="noStrike" dirty="0">
              <a:effectLst/>
              <a:uFillTx/>
              <a:latin typeface="メイリオ"/>
            </a:endParaRPr>
          </a:p>
        </p:txBody>
      </p:sp>
      <p:graphicFrame>
        <p:nvGraphicFramePr>
          <p:cNvPr id="7" name="競合のLINE 6"/>
          <p:cNvGraphicFramePr>
            <a:graphicFrameLocks noGrp="1"/>
          </p:cNvGraphicFramePr>
          <p:nvPr/>
        </p:nvGraphicFramePr>
        <p:xfrm>
          <a:off x="502920" y="1691640"/>
          <a:ext cx="6766560" cy="3337560"/>
        </p:xfrm>
        <a:graphic>
          <a:graphicData uri="http://schemas.openxmlformats.org/drawingml/2006/table">
            <a:tbl>
              <a:tblPr/>
              <a:tblGrid>
                <a:gridCol w="1325880"/>
                <a:gridCol w="1783080"/>
                <a:gridCol w="2057400"/>
                <a:gridCol w="1600200"/>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サイトのポップアップ</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サイトのポップアップ</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サイトの公式SNSの一覧</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友だち追加の</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特典</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最大7,000円分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（予約来場 5,000円分＋友だち登録 2,000円分）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7F7F7F"/>
                          </a:solidFill>
                          <a:latin typeface="メイリオ" panose="020B0604030504040204" pitchFamily="50" charset="-128"/>
                          <a:ea typeface="メイリオ" panose="020B0604030504040204" pitchFamily="50" charset="-128"/>
                        </a:rPr>
                        <a:t>サイトのトップでは</a:t>
                      </a:r>
                      <a:br>
                        <a:rPr lang="ja-JP" altLang="en-US" sz="950" b="0" dirty="0">
                          <a:solidFill>
                            <a:srgbClr val="7F7F7F"/>
                          </a:solidFill>
                          <a:latin typeface="メイリオ" panose="020B0604030504040204" pitchFamily="50" charset="-128"/>
                          <a:ea typeface="メイリオ" panose="020B0604030504040204" pitchFamily="50" charset="-128"/>
                        </a:rPr>
                      </a:br>
                      <a:r>
                        <a:rPr lang="ja-JP" altLang="en-US" sz="950" b="0" dirty="0">
                          <a:solidFill>
                            <a:srgbClr val="7F7F7F"/>
                          </a:solidFill>
                          <a:latin typeface="メイリオ" panose="020B0604030504040204" pitchFamily="50" charset="-128"/>
                          <a:ea typeface="メイリオ" panose="020B0604030504040204" pitchFamily="50" charset="-128"/>
                        </a:rPr>
                        <a:t>確認できず</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特典の対象に</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なる段階</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予約来場</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資料請求・来場予約</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 来場後の事前審査</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そのほか</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実写真のカルーセルで</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見学会をご案内</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友だち追加のリンクに、ページごとの計測を入れている</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前後検索「注文住宅」で、当日に多く検索される会社</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53035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※2026年10月16日時点で、各社のサイトを弊社で確認</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