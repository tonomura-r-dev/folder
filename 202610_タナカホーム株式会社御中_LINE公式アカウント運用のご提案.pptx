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35" r:id="rId37"/>
    <p:sldId id="315" r:id="rId11"/>
    <p:sldId id="336" r:id="rId38"/>
    <p:sldId id="337" r:id="rId39"/>
    <p:sldId id="338" r:id="rId40"/>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LINE追加の時期"/>
          <p:cNvSpPr/>
          <p:nvPr/>
        </p:nvSpPr>
        <p:spPr>
          <a:xfrm>
            <a:off x="3742776" y="1647520"/>
            <a:ext cx="735040" cy="343860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653096" y="5318287"/>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主な訴求</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全館空調</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実績・拠点</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LINEの取り組み</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8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85" name="Google Shape;156;p7"/>
          <p:cNvSpPr/>
          <p:nvPr/>
        </p:nvSpPr>
        <p:spPr>
          <a:xfrm>
            <a:off x="549000" y="138240"/>
            <a:ext cx="76809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rPr>
              <a:t>解決策：LINEの配信でナーチャリングを</a:t>
            </a:r>
            <a:endParaRPr lang="en-US" sz="1600" b="0" u="none" strike="noStrike">
              <a:solidFill>
                <a:srgbClr val="000000"/>
              </a:solidFill>
              <a:effectLst/>
              <a:uFillTx/>
              <a:latin typeface="メイリオ"/>
            </a:endParaRPr>
          </a:p>
        </p:txBody>
      </p:sp>
      <p:sp>
        <p:nvSpPr>
          <p:cNvPr id="386" name="TextBox 2"/>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zh-CN" sz="1400" b="0" u="none" strike="noStrike" dirty="0">
                <a:solidFill>
                  <a:srgbClr val="5A6378"/>
                </a:solidFill>
                <a:effectLst/>
                <a:uFillTx/>
                <a:latin typeface="メイリオ"/>
                <a:ea typeface="メイリオ"/>
              </a:rPr>
              <a:t>前後検索で見える検討の順番に合わせた、14日間のステップ配信（全5通）と月4回程度の企画配信で、来場予約を後押し</a:t>
            </a:r>
            <a:br>
              <a:rPr lang="zh-CN" sz="1400" b="0" u="none" strike="noStrike" dirty="0">
                <a:solidFill>
                  <a:srgbClr val="5A6378"/>
                </a:solidFill>
                <a:effectLst/>
                <a:uFillTx/>
                <a:latin typeface="メイリオ"/>
                <a:ea typeface="メイリオ"/>
              </a:rPr>
            </a:br>
            <a:endParaRPr lang="en-US" sz="1400" b="0" u="none" strike="noStrike" dirty="0">
              <a:solidFill>
                <a:srgbClr val="000000"/>
              </a:solidFill>
              <a:effectLst/>
              <a:uFillTx/>
              <a:latin typeface="メイリオ"/>
            </a:endParaRPr>
          </a:p>
        </p:txBody>
      </p:sp>
      <p:sp>
        <p:nvSpPr>
          <p:cNvPr id="387" name="TextBox 3"/>
          <p:cNvSpPr/>
          <p:nvPr/>
        </p:nvSpPr>
        <p:spPr>
          <a:xfrm>
            <a:off x="384120" y="1371600"/>
            <a:ext cx="9125712"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[ステップ配信・全5通｜新しい友だちへ追加後に自動配信]</a:t>
            </a:r>
            <a:endParaRPr lang="en-US" sz="1400" b="0" u="none" strike="noStrike">
              <a:solidFill>
                <a:srgbClr val="000000"/>
              </a:solidFill>
              <a:effectLst/>
              <a:uFillTx/>
              <a:latin typeface="メイリオ"/>
            </a:endParaRPr>
          </a:p>
        </p:txBody>
      </p:sp>
      <p:sp>
        <p:nvSpPr>
          <p:cNvPr id="388" name="Rounded Rectangle 4"/>
          <p:cNvSpPr/>
          <p:nvPr/>
        </p:nvSpPr>
        <p:spPr>
          <a:xfrm>
            <a:off x="384048" y="192024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当日〜1日後</a:t>
            </a:r>
            <a:endParaRPr lang="en-US" sz="1200" b="0" u="none" strike="noStrike">
              <a:solidFill>
                <a:srgbClr val="FFFFFF"/>
              </a:solidFill>
              <a:effectLst/>
              <a:uFillTx/>
              <a:latin typeface="メイリオ"/>
            </a:endParaRPr>
          </a:p>
        </p:txBody>
      </p:sp>
      <p:sp>
        <p:nvSpPr>
          <p:cNvPr id="390" name="Right Arrow 6"/>
          <p:cNvSpPr/>
          <p:nvPr/>
        </p:nvSpPr>
        <p:spPr>
          <a:xfrm>
            <a:off x="2121408"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3" name="Rounded Rectangle 9"/>
          <p:cNvSpPr/>
          <p:nvPr/>
        </p:nvSpPr>
        <p:spPr>
          <a:xfrm>
            <a:off x="2359152" y="192024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施工事例・会社の特長</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土地探しのご相談</a:t>
            </a:r>
            <a:endParaRPr lang="en-US" sz="1200" b="0" u="none" strike="noStrike">
              <a:solidFill>
                <a:srgbClr val="000000"/>
              </a:solidFill>
              <a:effectLst/>
              <a:uFillTx/>
              <a:latin typeface="メイリオ"/>
            </a:endParaRPr>
          </a:p>
        </p:txBody>
      </p:sp>
      <p:sp>
        <p:nvSpPr>
          <p:cNvPr id="394" name="Right Arrow 10"/>
          <p:cNvSpPr/>
          <p:nvPr/>
        </p:nvSpPr>
        <p:spPr>
          <a:xfrm>
            <a:off x="5084064"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5" name="Rounded Rectangle 11"/>
          <p:cNvSpPr/>
          <p:nvPr/>
        </p:nvSpPr>
        <p:spPr>
          <a:xfrm>
            <a:off x="5321808" y="192024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比べる会社の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候補に入る</a:t>
            </a:r>
            <a:endParaRPr lang="en-US" sz="1200" b="0" u="none" strike="noStrike">
              <a:solidFill>
                <a:srgbClr val="000000"/>
              </a:solidFill>
              <a:effectLst/>
              <a:uFillTx/>
              <a:latin typeface="メイリオ"/>
            </a:endParaRPr>
          </a:p>
        </p:txBody>
      </p:sp>
      <p:sp>
        <p:nvSpPr>
          <p:cNvPr id="396" name="Right Arrow 12"/>
          <p:cNvSpPr/>
          <p:nvPr/>
        </p:nvSpPr>
        <p:spPr>
          <a:xfrm>
            <a:off x="7808975" y="2089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397" name="Rounded Rectangle 13"/>
          <p:cNvSpPr/>
          <p:nvPr/>
        </p:nvSpPr>
        <p:spPr>
          <a:xfrm>
            <a:off x="8046720" y="192024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資料請求へ</a:t>
            </a:r>
            <a:endParaRPr lang="en-US" sz="1200" b="0" u="none" strike="noStrike">
              <a:solidFill>
                <a:srgbClr val="FFFFFF"/>
              </a:solidFill>
              <a:effectLst/>
              <a:uFillTx/>
              <a:latin typeface="メイリオ"/>
            </a:endParaRPr>
          </a:p>
        </p:txBody>
      </p:sp>
      <p:sp>
        <p:nvSpPr>
          <p:cNvPr id="398" name="Rounded Rectangle 14"/>
          <p:cNvSpPr/>
          <p:nvPr/>
        </p:nvSpPr>
        <p:spPr>
          <a:xfrm>
            <a:off x="384048" y="246888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2〜7日後</a:t>
            </a:r>
            <a:endParaRPr lang="en-US" sz="1200" b="0" u="none" strike="noStrike">
              <a:solidFill>
                <a:srgbClr val="FFFFFF"/>
              </a:solidFill>
              <a:effectLst/>
              <a:uFillTx/>
              <a:latin typeface="メイリオ"/>
            </a:endParaRPr>
          </a:p>
        </p:txBody>
      </p:sp>
      <p:sp>
        <p:nvSpPr>
          <p:cNvPr id="400" name="Right Arrow 16"/>
          <p:cNvSpPr/>
          <p:nvPr/>
        </p:nvSpPr>
        <p:spPr>
          <a:xfrm>
            <a:off x="2121408"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3" name="Rounded Rectangle 19"/>
          <p:cNvSpPr/>
          <p:nvPr/>
        </p:nvSpPr>
        <p:spPr>
          <a:xfrm>
            <a:off x="2359152" y="246888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住宅ローン・坪単価の考え方</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平屋・2階建ての価格の目安</a:t>
            </a:r>
            <a:endParaRPr lang="en-US" sz="1200" b="0" u="none" strike="noStrike">
              <a:solidFill>
                <a:srgbClr val="000000"/>
              </a:solidFill>
              <a:effectLst/>
              <a:uFillTx/>
              <a:latin typeface="メイリオ"/>
            </a:endParaRPr>
          </a:p>
        </p:txBody>
      </p:sp>
      <p:sp>
        <p:nvSpPr>
          <p:cNvPr id="404" name="Right Arrow 20"/>
          <p:cNvSpPr/>
          <p:nvPr/>
        </p:nvSpPr>
        <p:spPr>
          <a:xfrm>
            <a:off x="5084064"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5" name="Rounded Rectangle 21"/>
          <p:cNvSpPr/>
          <p:nvPr/>
        </p:nvSpPr>
        <p:spPr>
          <a:xfrm>
            <a:off x="5321808" y="246888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06" name="Right Arrow 22"/>
          <p:cNvSpPr/>
          <p:nvPr/>
        </p:nvSpPr>
        <p:spPr>
          <a:xfrm>
            <a:off x="7808975" y="263844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07" name="Rounded Rectangle 23"/>
          <p:cNvSpPr/>
          <p:nvPr/>
        </p:nvSpPr>
        <p:spPr>
          <a:xfrm>
            <a:off x="8046720" y="246888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08" name="Rounded Rectangle 24"/>
          <p:cNvSpPr/>
          <p:nvPr/>
        </p:nvSpPr>
        <p:spPr>
          <a:xfrm>
            <a:off x="384048" y="3017520"/>
            <a:ext cx="1737360" cy="48420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0" tIns="18360" rIns="0" bIns="18360" anchor="ctr">
            <a:noAutofit/>
          </a:bodyPr>
          <a:lstStyle/>
          <a:p>
            <a:pPr algn="ctr" defTabSz="914400">
              <a:lnSpc>
                <a:spcPct val="90000"/>
              </a:lnSpc>
              <a:tabLst>
                <a:tab pos="0" algn="l"/>
              </a:tabLst>
            </a:pPr>
            <a:r>
              <a:rPr lang="en-US" sz="1200" b="1" u="none" strike="noStrike">
                <a:solidFill>
                  <a:srgbClr val="FFFFFF"/>
                </a:solidFill>
                <a:effectLst/>
                <a:uFillTx/>
                <a:latin typeface="メイリオ"/>
                <a:ea typeface="メイリオ"/>
              </a:rPr>
              <a:t>8〜14日後</a:t>
            </a:r>
            <a:endParaRPr lang="en-US" sz="1200" b="0" u="none" strike="noStrike">
              <a:solidFill>
                <a:srgbClr val="FFFFFF"/>
              </a:solidFill>
              <a:effectLst/>
              <a:uFillTx/>
              <a:latin typeface="メイリオ"/>
            </a:endParaRPr>
          </a:p>
        </p:txBody>
      </p:sp>
      <p:sp>
        <p:nvSpPr>
          <p:cNvPr id="410" name="Right Arrow 26"/>
          <p:cNvSpPr/>
          <p:nvPr/>
        </p:nvSpPr>
        <p:spPr>
          <a:xfrm>
            <a:off x="2121408"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3" name="Rounded Rectangle 29"/>
          <p:cNvSpPr/>
          <p:nvPr/>
        </p:nvSpPr>
        <p:spPr>
          <a:xfrm>
            <a:off x="2359152" y="3017520"/>
            <a:ext cx="2724912"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青森の冬を快適にする断熱・間取り</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ルームツアー動画</a:t>
            </a:r>
            <a:endParaRPr lang="en-US" altLang="ja-JP" sz="1200" b="0" u="none" strike="noStrike" dirty="0">
              <a:solidFill>
                <a:srgbClr val="333333"/>
              </a:solidFill>
              <a:effectLst/>
              <a:uFillTx/>
              <a:latin typeface="メイリオ"/>
              <a:ea typeface="メイリオ"/>
            </a:endParaRPr>
          </a:p>
        </p:txBody>
      </p:sp>
      <p:sp>
        <p:nvSpPr>
          <p:cNvPr id="414" name="Right Arrow 30"/>
          <p:cNvSpPr/>
          <p:nvPr/>
        </p:nvSpPr>
        <p:spPr>
          <a:xfrm>
            <a:off x="5084064"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5" name="Rounded Rectangle 31"/>
          <p:cNvSpPr/>
          <p:nvPr/>
        </p:nvSpPr>
        <p:spPr>
          <a:xfrm>
            <a:off x="5321808" y="3017520"/>
            <a:ext cx="2487168"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住みたいイメージを</a:t>
            </a:r>
            <a:endParaRPr lang="en-US" altLang="ja-JP" sz="1200" b="0" u="none" strike="noStrike" dirty="0">
              <a:solidFill>
                <a:srgbClr val="333333"/>
              </a:solidFill>
              <a:effectLst/>
              <a:uFillTx/>
              <a:latin typeface="メイリオ"/>
              <a:ea typeface="メイリオ"/>
            </a:endParaRPr>
          </a:p>
          <a:p>
            <a:pPr algn="ctr" defTabSz="914400">
              <a:lnSpc>
                <a:spcPct val="90000"/>
              </a:lnSpc>
              <a:tabLst>
                <a:tab pos="0" algn="l"/>
              </a:tabLst>
            </a:pPr>
            <a:r>
              <a:rPr lang="ja-JP" altLang="en-US" sz="1200" b="0" u="none" strike="noStrike" dirty="0">
                <a:solidFill>
                  <a:srgbClr val="333333"/>
                </a:solidFill>
                <a:effectLst/>
                <a:uFillTx/>
                <a:latin typeface="メイリオ"/>
                <a:ea typeface="メイリオ"/>
              </a:rPr>
              <a:t>育てる</a:t>
            </a:r>
            <a:endParaRPr lang="en-US" altLang="ja-JP" sz="1200" b="0" u="none" strike="noStrike" dirty="0">
              <a:solidFill>
                <a:srgbClr val="333333"/>
              </a:solidFill>
              <a:effectLst/>
              <a:uFillTx/>
              <a:latin typeface="メイリオ"/>
              <a:ea typeface="メイリオ"/>
            </a:endParaRPr>
          </a:p>
        </p:txBody>
      </p:sp>
      <p:sp>
        <p:nvSpPr>
          <p:cNvPr id="416" name="Right Arrow 32"/>
          <p:cNvSpPr/>
          <p:nvPr/>
        </p:nvSpPr>
        <p:spPr>
          <a:xfrm>
            <a:off x="7808975" y="31870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17" name="Rounded Rectangle 33"/>
          <p:cNvSpPr/>
          <p:nvPr/>
        </p:nvSpPr>
        <p:spPr>
          <a:xfrm>
            <a:off x="8046720" y="3017520"/>
            <a:ext cx="146304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18" name="TextBox 34"/>
          <p:cNvSpPr/>
          <p:nvPr/>
        </p:nvSpPr>
        <p:spPr>
          <a:xfrm>
            <a:off x="384120" y="3712320"/>
            <a:ext cx="3657240" cy="292320"/>
          </a:xfrm>
          <a:prstGeom prst="rect">
            <a:avLst/>
          </a:prstGeom>
          <a:noFill/>
          <a:ln w="0">
            <a:noFill/>
          </a:ln>
        </p:spPr>
        <p:style>
          <a:lnRef idx="0">
            <a:scrgbClr r="0" g="0" b="0"/>
          </a:lnRef>
          <a:fillRef idx="0">
            <a:scrgbClr r="0" g="0" b="0"/>
          </a:fillRef>
          <a:effectRef idx="0">
            <a:scrgbClr r="0" g="0" b="0"/>
          </a:effectRef>
          <a:fontRef idx="minor"/>
        </p:style>
        <p:txBody>
          <a:bodyPr lIns="45720" tIns="0" rIns="45720" bIns="0" anchor="ctr">
            <a:noAutofit/>
          </a:bodyPr>
          <a:lstStyle/>
          <a:p>
            <a:pPr defTabSz="914400">
              <a:lnSpc>
                <a:spcPct val="100000"/>
              </a:lnSpc>
              <a:tabLst>
                <a:tab pos="0" algn="l"/>
              </a:tabLst>
            </a:pPr>
            <a:r>
              <a:rPr lang="en-US" sz="1400" b="1" u="none" strike="noStrike">
                <a:solidFill>
                  <a:srgbClr val="1F2A5C"/>
                </a:solidFill>
                <a:effectLst/>
                <a:uFillTx/>
                <a:latin typeface="メイリオ"/>
                <a:ea typeface="メイリオ"/>
              </a:rPr>
              <a:t>[</a:t>
            </a:r>
            <a:r>
              <a:rPr lang="zh-CN" sz="1400" b="1" u="none" strike="noStrike">
                <a:solidFill>
                  <a:srgbClr val="1F2A5C"/>
                </a:solidFill>
                <a:effectLst/>
                <a:uFillTx/>
                <a:latin typeface="メイリオ"/>
                <a:ea typeface="メイリオ"/>
              </a:rPr>
              <a:t>企画配信</a:t>
            </a:r>
            <a:r>
              <a:rPr lang="en-US" sz="1400" b="1" u="none" strike="noStrike">
                <a:solidFill>
                  <a:srgbClr val="1F2A5C"/>
                </a:solidFill>
                <a:effectLst/>
                <a:uFillTx/>
                <a:latin typeface="メイリオ"/>
                <a:ea typeface="メイリオ"/>
              </a:rPr>
              <a:t>]</a:t>
            </a:r>
            <a:endParaRPr lang="en-US" sz="1400" b="0" u="none" strike="noStrike">
              <a:solidFill>
                <a:srgbClr val="000000"/>
              </a:solidFill>
              <a:effectLst/>
              <a:uFillTx/>
              <a:latin typeface="メイリオ"/>
            </a:endParaRPr>
          </a:p>
        </p:txBody>
      </p:sp>
      <p:sp>
        <p:nvSpPr>
          <p:cNvPr id="419" name="Rounded Rectangle 35"/>
          <p:cNvSpPr/>
          <p:nvPr/>
        </p:nvSpPr>
        <p:spPr>
          <a:xfrm>
            <a:off x="38412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友だち全員</a:t>
            </a:r>
            <a:endParaRPr lang="en-US" sz="1200" b="0" u="none" strike="noStrike">
              <a:solidFill>
                <a:srgbClr val="000000"/>
              </a:solidFill>
              <a:effectLst/>
              <a:uFillTx/>
              <a:latin typeface="メイリオ"/>
            </a:endParaRPr>
          </a:p>
        </p:txBody>
      </p:sp>
      <p:sp>
        <p:nvSpPr>
          <p:cNvPr id="420" name="Right Arrow 36"/>
          <p:cNvSpPr/>
          <p:nvPr/>
        </p:nvSpPr>
        <p:spPr>
          <a:xfrm>
            <a:off x="212148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1" name="Rounded Rectangle 37"/>
          <p:cNvSpPr/>
          <p:nvPr/>
        </p:nvSpPr>
        <p:spPr>
          <a:xfrm>
            <a:off x="2359080" y="426096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絞り込みなし</a:t>
            </a:r>
            <a:endParaRPr lang="en-US" sz="1200" b="0" u="none" strike="noStrike">
              <a:solidFill>
                <a:srgbClr val="000000"/>
              </a:solidFill>
              <a:effectLst/>
              <a:uFillTx/>
              <a:latin typeface="メイリオ"/>
            </a:endParaRPr>
          </a:p>
        </p:txBody>
      </p:sp>
      <p:sp>
        <p:nvSpPr>
          <p:cNvPr id="422" name="Right Arrow 38"/>
          <p:cNvSpPr/>
          <p:nvPr/>
        </p:nvSpPr>
        <p:spPr>
          <a:xfrm>
            <a:off x="409644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3" name="Rounded Rectangle 39"/>
          <p:cNvSpPr/>
          <p:nvPr/>
        </p:nvSpPr>
        <p:spPr>
          <a:xfrm>
            <a:off x="4334400" y="426096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見学会・</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モデルハウス公開</a:t>
            </a:r>
            <a:endParaRPr lang="en-US" sz="1200" b="0" u="none" strike="noStrike">
              <a:solidFill>
                <a:srgbClr val="000000"/>
              </a:solidFill>
              <a:effectLst/>
              <a:uFillTx/>
              <a:latin typeface="メイリオ"/>
            </a:endParaRPr>
          </a:p>
        </p:txBody>
      </p:sp>
      <p:sp>
        <p:nvSpPr>
          <p:cNvPr id="424" name="Right Arrow 40"/>
          <p:cNvSpPr/>
          <p:nvPr/>
        </p:nvSpPr>
        <p:spPr>
          <a:xfrm>
            <a:off x="59803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5" name="Rounded Rectangle 41"/>
          <p:cNvSpPr/>
          <p:nvPr/>
        </p:nvSpPr>
        <p:spPr>
          <a:xfrm>
            <a:off x="6217920" y="426096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見に行く理由を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つくる</a:t>
            </a:r>
            <a:endParaRPr lang="en-US" sz="1200" b="0" u="none" strike="noStrike">
              <a:solidFill>
                <a:srgbClr val="000000"/>
              </a:solidFill>
              <a:effectLst/>
              <a:uFillTx/>
              <a:latin typeface="メイリオ"/>
            </a:endParaRPr>
          </a:p>
        </p:txBody>
      </p:sp>
      <p:sp>
        <p:nvSpPr>
          <p:cNvPr id="426" name="Right Arrow 42"/>
          <p:cNvSpPr/>
          <p:nvPr/>
        </p:nvSpPr>
        <p:spPr>
          <a:xfrm>
            <a:off x="7809120" y="443088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27" name="Rounded Rectangle 43"/>
          <p:cNvSpPr/>
          <p:nvPr/>
        </p:nvSpPr>
        <p:spPr>
          <a:xfrm>
            <a:off x="8046720" y="426096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28" name="Rounded Rectangle 44"/>
          <p:cNvSpPr/>
          <p:nvPr/>
        </p:nvSpPr>
        <p:spPr>
          <a:xfrm>
            <a:off x="38412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来場予約前の方</a:t>
            </a:r>
            <a:endParaRPr lang="en-US" sz="1200" b="0" u="none" strike="noStrike">
              <a:solidFill>
                <a:srgbClr val="000000"/>
              </a:solidFill>
              <a:effectLst/>
              <a:uFillTx/>
              <a:latin typeface="メイリオ"/>
            </a:endParaRPr>
          </a:p>
        </p:txBody>
      </p:sp>
      <p:sp>
        <p:nvSpPr>
          <p:cNvPr id="429" name="Right Arrow 45"/>
          <p:cNvSpPr/>
          <p:nvPr/>
        </p:nvSpPr>
        <p:spPr>
          <a:xfrm>
            <a:off x="212148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0" name="Rounded Rectangle 46"/>
          <p:cNvSpPr/>
          <p:nvPr/>
        </p:nvSpPr>
        <p:spPr>
          <a:xfrm>
            <a:off x="2359080" y="480960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来場予約済みを除く</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（チャットタグ）</a:t>
            </a:r>
            <a:endParaRPr lang="en-US" sz="1200" b="0" u="none" strike="noStrike">
              <a:solidFill>
                <a:srgbClr val="000000"/>
              </a:solidFill>
              <a:effectLst/>
              <a:uFillTx/>
              <a:latin typeface="メイリオ"/>
            </a:endParaRPr>
          </a:p>
        </p:txBody>
      </p:sp>
      <p:sp>
        <p:nvSpPr>
          <p:cNvPr id="431" name="Right Arrow 47"/>
          <p:cNvSpPr/>
          <p:nvPr/>
        </p:nvSpPr>
        <p:spPr>
          <a:xfrm>
            <a:off x="409644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2" name="Rounded Rectangle 48"/>
          <p:cNvSpPr/>
          <p:nvPr/>
        </p:nvSpPr>
        <p:spPr>
          <a:xfrm>
            <a:off x="4334400" y="480960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予算の簡易診断</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平屋か2階建てか</a:t>
            </a:r>
            <a:endParaRPr lang="en-US" sz="1200" b="0" u="none" strike="noStrike">
              <a:solidFill>
                <a:srgbClr val="000000"/>
              </a:solidFill>
              <a:effectLst/>
              <a:uFillTx/>
              <a:latin typeface="メイリオ"/>
            </a:endParaRPr>
          </a:p>
        </p:txBody>
      </p:sp>
      <p:sp>
        <p:nvSpPr>
          <p:cNvPr id="433" name="Right Arrow 49"/>
          <p:cNvSpPr/>
          <p:nvPr/>
        </p:nvSpPr>
        <p:spPr>
          <a:xfrm>
            <a:off x="59803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4" name="Rounded Rectangle 50"/>
          <p:cNvSpPr/>
          <p:nvPr/>
        </p:nvSpPr>
        <p:spPr>
          <a:xfrm>
            <a:off x="6217920" y="480960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希望を聞き分ける</a:t>
            </a:r>
            <a:endParaRPr lang="en-US" sz="1200" b="0" u="none" strike="noStrike">
              <a:solidFill>
                <a:srgbClr val="000000"/>
              </a:solidFill>
              <a:effectLst/>
              <a:uFillTx/>
              <a:latin typeface="メイリオ"/>
            </a:endParaRPr>
          </a:p>
        </p:txBody>
      </p:sp>
      <p:sp>
        <p:nvSpPr>
          <p:cNvPr id="435" name="Right Arrow 51"/>
          <p:cNvSpPr/>
          <p:nvPr/>
        </p:nvSpPr>
        <p:spPr>
          <a:xfrm>
            <a:off x="7809120" y="497952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6" name="Rounded Rectangle 52"/>
          <p:cNvSpPr/>
          <p:nvPr/>
        </p:nvSpPr>
        <p:spPr>
          <a:xfrm>
            <a:off x="8046720" y="480960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37" name="Rounded Rectangle 53"/>
          <p:cNvSpPr/>
          <p:nvPr/>
        </p:nvSpPr>
        <p:spPr>
          <a:xfrm>
            <a:off x="38412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費用に関心がある方</a:t>
            </a:r>
            <a:endParaRPr lang="en-US" sz="1200" b="0" u="none" strike="noStrike">
              <a:solidFill>
                <a:srgbClr val="000000"/>
              </a:solidFill>
              <a:effectLst/>
              <a:uFillTx/>
              <a:latin typeface="メイリオ"/>
            </a:endParaRPr>
          </a:p>
        </p:txBody>
      </p:sp>
      <p:sp>
        <p:nvSpPr>
          <p:cNvPr id="438" name="Right Arrow 54"/>
          <p:cNvSpPr/>
          <p:nvPr/>
        </p:nvSpPr>
        <p:spPr>
          <a:xfrm>
            <a:off x="212148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39" name="Rounded Rectangle 55"/>
          <p:cNvSpPr/>
          <p:nvPr/>
        </p:nvSpPr>
        <p:spPr>
          <a:xfrm>
            <a:off x="2359080" y="535824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住宅ローンの配信を</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クリックした方</a:t>
            </a:r>
            <a:endParaRPr lang="en-US" sz="1200" b="0" u="none" strike="noStrike">
              <a:solidFill>
                <a:srgbClr val="000000"/>
              </a:solidFill>
              <a:effectLst/>
              <a:uFillTx/>
              <a:latin typeface="メイリオ"/>
            </a:endParaRPr>
          </a:p>
        </p:txBody>
      </p:sp>
      <p:sp>
        <p:nvSpPr>
          <p:cNvPr id="440" name="Right Arrow 56"/>
          <p:cNvSpPr/>
          <p:nvPr/>
        </p:nvSpPr>
        <p:spPr>
          <a:xfrm>
            <a:off x="409644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1" name="Rounded Rectangle 57"/>
          <p:cNvSpPr/>
          <p:nvPr/>
        </p:nvSpPr>
        <p:spPr>
          <a:xfrm>
            <a:off x="4334400" y="535824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資金計画の</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個別相談のご案内</a:t>
            </a:r>
            <a:endParaRPr lang="en-US" sz="1200" b="0" u="none" strike="noStrike">
              <a:solidFill>
                <a:srgbClr val="000000"/>
              </a:solidFill>
              <a:effectLst/>
              <a:uFillTx/>
              <a:latin typeface="メイリオ"/>
            </a:endParaRPr>
          </a:p>
        </p:txBody>
      </p:sp>
      <p:sp>
        <p:nvSpPr>
          <p:cNvPr id="442" name="Right Arrow 58"/>
          <p:cNvSpPr/>
          <p:nvPr/>
        </p:nvSpPr>
        <p:spPr>
          <a:xfrm>
            <a:off x="59803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3" name="Rounded Rectangle 59"/>
          <p:cNvSpPr/>
          <p:nvPr/>
        </p:nvSpPr>
        <p:spPr>
          <a:xfrm>
            <a:off x="6217920" y="535824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費用の不安を解消</a:t>
            </a:r>
            <a:endParaRPr lang="en-US" sz="1200" b="0" u="none" strike="noStrike">
              <a:solidFill>
                <a:srgbClr val="000000"/>
              </a:solidFill>
              <a:effectLst/>
              <a:uFillTx/>
              <a:latin typeface="メイリオ"/>
            </a:endParaRPr>
          </a:p>
        </p:txBody>
      </p:sp>
      <p:sp>
        <p:nvSpPr>
          <p:cNvPr id="444" name="Right Arrow 60"/>
          <p:cNvSpPr/>
          <p:nvPr/>
        </p:nvSpPr>
        <p:spPr>
          <a:xfrm>
            <a:off x="7809120" y="552816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5" name="Rounded Rectangle 61"/>
          <p:cNvSpPr/>
          <p:nvPr/>
        </p:nvSpPr>
        <p:spPr>
          <a:xfrm>
            <a:off x="8046720" y="535824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来場予約へ</a:t>
            </a:r>
            <a:endParaRPr lang="en-US" sz="1200" b="0" u="none" strike="noStrike">
              <a:solidFill>
                <a:srgbClr val="FFFFFF"/>
              </a:solidFill>
              <a:effectLst/>
              <a:uFillTx/>
              <a:latin typeface="メイリオ"/>
            </a:endParaRPr>
          </a:p>
        </p:txBody>
      </p:sp>
      <p:sp>
        <p:nvSpPr>
          <p:cNvPr id="446" name="Rounded Rectangle 62"/>
          <p:cNvSpPr/>
          <p:nvPr/>
        </p:nvSpPr>
        <p:spPr>
          <a:xfrm>
            <a:off x="38412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契約前の方</a:t>
            </a:r>
            <a:endParaRPr lang="en-US" sz="1200" b="0" u="none" strike="noStrike">
              <a:solidFill>
                <a:srgbClr val="000000"/>
              </a:solidFill>
              <a:effectLst/>
              <a:uFillTx/>
              <a:latin typeface="メイリオ"/>
            </a:endParaRPr>
          </a:p>
        </p:txBody>
      </p:sp>
      <p:sp>
        <p:nvSpPr>
          <p:cNvPr id="447" name="Right Arrow 63"/>
          <p:cNvSpPr/>
          <p:nvPr/>
        </p:nvSpPr>
        <p:spPr>
          <a:xfrm>
            <a:off x="212148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48" name="Rounded Rectangle 64"/>
          <p:cNvSpPr/>
          <p:nvPr/>
        </p:nvSpPr>
        <p:spPr>
          <a:xfrm>
            <a:off x="2359080" y="5906880"/>
            <a:ext cx="173700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来場済みのタグ</a:t>
            </a:r>
            <a:endParaRPr lang="en-US" sz="1200" b="0" u="none" strike="noStrike">
              <a:solidFill>
                <a:srgbClr val="000000"/>
              </a:solidFill>
              <a:effectLst/>
              <a:uFillTx/>
              <a:latin typeface="メイリオ"/>
            </a:endParaRPr>
          </a:p>
        </p:txBody>
      </p:sp>
      <p:sp>
        <p:nvSpPr>
          <p:cNvPr id="449" name="Right Arrow 65"/>
          <p:cNvSpPr/>
          <p:nvPr/>
        </p:nvSpPr>
        <p:spPr>
          <a:xfrm>
            <a:off x="409644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0" name="Rounded Rectangle 66"/>
          <p:cNvSpPr/>
          <p:nvPr/>
        </p:nvSpPr>
        <p:spPr>
          <a:xfrm>
            <a:off x="4334400" y="5906880"/>
            <a:ext cx="164556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お客様の声</a:t>
            </a:r>
            <a:endParaRPr lang="en-US" sz="1200" b="0" u="none" strike="noStrike">
              <a:solidFill>
                <a:srgbClr val="000000"/>
              </a:solidFill>
              <a:effectLst/>
              <a:uFillTx/>
              <a:latin typeface="メイリオ"/>
            </a:endParaRPr>
          </a:p>
          <a:p>
            <a:pPr algn="ctr" defTabSz="914400">
              <a:lnSpc>
                <a:spcPct val="90000"/>
              </a:lnSpc>
              <a:tabLst>
                <a:tab pos="0" algn="l"/>
              </a:tabLst>
            </a:pPr>
            <a:r>
              <a:rPr lang="zh-CN" sz="1200" b="0" u="none" strike="noStrike">
                <a:solidFill>
                  <a:srgbClr val="333333"/>
                </a:solidFill>
                <a:effectLst/>
                <a:uFillTx/>
                <a:latin typeface="メイリオ"/>
                <a:ea typeface="メイリオ"/>
              </a:rPr>
              <a:t>構造見学会</a:t>
            </a:r>
            <a:endParaRPr lang="en-US" sz="1200" b="0" u="none" strike="noStrike">
              <a:solidFill>
                <a:srgbClr val="000000"/>
              </a:solidFill>
              <a:effectLst/>
              <a:uFillTx/>
              <a:latin typeface="メイリオ"/>
            </a:endParaRPr>
          </a:p>
        </p:txBody>
      </p:sp>
      <p:sp>
        <p:nvSpPr>
          <p:cNvPr id="451" name="Right Arrow 67"/>
          <p:cNvSpPr/>
          <p:nvPr/>
        </p:nvSpPr>
        <p:spPr>
          <a:xfrm>
            <a:off x="59803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2" name="Rounded Rectangle 68"/>
          <p:cNvSpPr/>
          <p:nvPr/>
        </p:nvSpPr>
        <p:spPr>
          <a:xfrm>
            <a:off x="6217920" y="5906880"/>
            <a:ext cx="1590840" cy="48420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0" u="none" strike="noStrike">
                <a:solidFill>
                  <a:srgbClr val="333333"/>
                </a:solidFill>
                <a:effectLst/>
                <a:uFillTx/>
                <a:latin typeface="メイリオ"/>
                <a:ea typeface="メイリオ"/>
              </a:rPr>
              <a:t>契約前の後押し</a:t>
            </a:r>
            <a:endParaRPr lang="en-US" sz="1200" b="0" u="none" strike="noStrike">
              <a:solidFill>
                <a:srgbClr val="000000"/>
              </a:solidFill>
              <a:effectLst/>
              <a:uFillTx/>
              <a:latin typeface="メイリオ"/>
            </a:endParaRPr>
          </a:p>
        </p:txBody>
      </p:sp>
      <p:sp>
        <p:nvSpPr>
          <p:cNvPr id="453" name="Right Arrow 69"/>
          <p:cNvSpPr/>
          <p:nvPr/>
        </p:nvSpPr>
        <p:spPr>
          <a:xfrm>
            <a:off x="7809120" y="6076800"/>
            <a:ext cx="237240" cy="145080"/>
          </a:xfrm>
          <a:prstGeom prst="rightArrow">
            <a:avLst>
              <a:gd name="adj1" fmla="val 50000"/>
              <a:gd name="adj2" fmla="val 50000"/>
            </a:avLst>
          </a:prstGeom>
          <a:solidFill>
            <a:srgbClr val="9AA1AE"/>
          </a:solidFill>
          <a:ln w="9525">
            <a:noFill/>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90000" tIns="28080" rIns="90000" bIns="2808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endParaRPr>
          </a:p>
        </p:txBody>
      </p:sp>
      <p:sp>
        <p:nvSpPr>
          <p:cNvPr id="454" name="Rounded Rectangle 70"/>
          <p:cNvSpPr/>
          <p:nvPr/>
        </p:nvSpPr>
        <p:spPr>
          <a:xfrm>
            <a:off x="8046720" y="5906880"/>
            <a:ext cx="1462680" cy="48420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0">
            <a:scrgbClr r="0" g="0" b="0"/>
          </a:lnRef>
          <a:fillRef idx="0">
            <a:scrgbClr r="0" g="0" b="0"/>
          </a:fillRef>
          <a:effectRef idx="0">
            <a:scrgbClr r="0" g="0" b="0"/>
          </a:effectRef>
          <a:fontRef idx="minor"/>
        </p:style>
        <p:txBody>
          <a:bodyPr lIns="36720" tIns="18360" rIns="36720" bIns="18360" anchor="ctr">
            <a:noAutofit/>
          </a:bodyPr>
          <a:lstStyle/>
          <a:p>
            <a:pPr algn="ctr" defTabSz="914400">
              <a:lnSpc>
                <a:spcPct val="90000"/>
              </a:lnSpc>
              <a:tabLst>
                <a:tab pos="0" algn="l"/>
              </a:tabLst>
            </a:pPr>
            <a:r>
              <a:rPr lang="zh-CN" sz="1200" b="1" u="none" strike="noStrike">
                <a:solidFill>
                  <a:srgbClr val="FFFFFF"/>
                </a:solidFill>
                <a:effectLst/>
                <a:uFillTx/>
                <a:latin typeface="メイリオ"/>
                <a:ea typeface="メイリオ"/>
              </a:rPr>
              <a:t>商談・契約へ</a:t>
            </a:r>
            <a:endParaRPr lang="en-US" sz="1200" b="0" u="none" strike="noStrike">
              <a:solidFill>
                <a:srgbClr val="FFFFFF"/>
              </a:solidFill>
              <a:effectLst/>
              <a:uFillTx/>
              <a:latin typeface="メイリオ"/>
            </a:endParaRPr>
          </a:p>
        </p:txBody>
      </p:sp>
      <p:sp>
        <p:nvSpPr>
          <p:cNvPr id="457" name="テキスト ボックス 9"/>
          <p:cNvSpPr/>
          <p:nvPr/>
        </p:nvSpPr>
        <p:spPr>
          <a:xfrm>
            <a:off x="2359152" y="1664280"/>
            <a:ext cx="2724912"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58" name="テキスト ボックス 11"/>
          <p:cNvSpPr/>
          <p:nvPr/>
        </p:nvSpPr>
        <p:spPr>
          <a:xfrm>
            <a:off x="5321808" y="1664280"/>
            <a:ext cx="2487168"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
        <p:nvSpPr>
          <p:cNvPr id="459" name="テキスト ボックス 14"/>
          <p:cNvSpPr/>
          <p:nvPr/>
        </p:nvSpPr>
        <p:spPr>
          <a:xfrm>
            <a:off x="38412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ターゲット層</a:t>
            </a:r>
            <a:endParaRPr lang="en-US" sz="1200" b="0" u="none" strike="noStrike">
              <a:solidFill>
                <a:srgbClr val="000000"/>
              </a:solidFill>
              <a:effectLst/>
              <a:uFillTx/>
              <a:latin typeface="メイリオ"/>
            </a:endParaRPr>
          </a:p>
        </p:txBody>
      </p:sp>
      <p:sp>
        <p:nvSpPr>
          <p:cNvPr id="460" name="テキスト ボックス 16"/>
          <p:cNvSpPr/>
          <p:nvPr/>
        </p:nvSpPr>
        <p:spPr>
          <a:xfrm>
            <a:off x="2359080" y="4005000"/>
            <a:ext cx="173700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セグメント方法</a:t>
            </a:r>
            <a:endParaRPr lang="en-US" sz="1200" b="0" u="none" strike="noStrike">
              <a:solidFill>
                <a:srgbClr val="000000"/>
              </a:solidFill>
              <a:effectLst/>
              <a:uFillTx/>
              <a:latin typeface="メイリオ"/>
            </a:endParaRPr>
          </a:p>
        </p:txBody>
      </p:sp>
      <p:sp>
        <p:nvSpPr>
          <p:cNvPr id="461" name="テキスト ボックス 18"/>
          <p:cNvSpPr/>
          <p:nvPr/>
        </p:nvSpPr>
        <p:spPr>
          <a:xfrm>
            <a:off x="4334400" y="4005000"/>
            <a:ext cx="164556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333333"/>
                </a:solidFill>
                <a:effectLst/>
                <a:uFillTx/>
                <a:latin typeface="メイリオ"/>
                <a:ea typeface="メイリオ"/>
              </a:rPr>
              <a:t>配信コンテンツ</a:t>
            </a:r>
            <a:endParaRPr lang="en-US" sz="1200" b="0" u="none" strike="noStrike">
              <a:solidFill>
                <a:srgbClr val="000000"/>
              </a:solidFill>
              <a:effectLst/>
              <a:uFillTx/>
              <a:latin typeface="メイリオ"/>
            </a:endParaRPr>
          </a:p>
        </p:txBody>
      </p:sp>
      <p:sp>
        <p:nvSpPr>
          <p:cNvPr id="462" name="テキスト ボックス 21"/>
          <p:cNvSpPr/>
          <p:nvPr/>
        </p:nvSpPr>
        <p:spPr>
          <a:xfrm>
            <a:off x="6217920" y="4005000"/>
            <a:ext cx="1590840" cy="255600"/>
          </a:xfrm>
          <a:prstGeom prst="rect">
            <a:avLst/>
          </a:prstGeom>
          <a:noFill/>
          <a:ln w="0">
            <a:noFill/>
          </a:ln>
        </p:spPr>
        <p:style>
          <a:lnRef idx="0">
            <a:scrgbClr r="0" g="0" b="0"/>
          </a:lnRef>
          <a:fillRef idx="0">
            <a:scrgbClr r="0" g="0" b="0"/>
          </a:fillRef>
          <a:effectRef idx="0">
            <a:scrgbClr r="0" g="0" b="0"/>
          </a:effectRef>
          <a:fontRef idx="minor"/>
        </p:style>
        <p:txBody>
          <a:bodyPr lIns="18360" tIns="0" rIns="18360" bIns="18360" anchor="b">
            <a:noAutofit/>
          </a:bodyPr>
          <a:lstStyle/>
          <a:p>
            <a:pPr algn="ctr" defTabSz="914400">
              <a:lnSpc>
                <a:spcPct val="100000"/>
              </a:lnSpc>
              <a:tabLst>
                <a:tab pos="0" algn="l"/>
              </a:tabLst>
            </a:pPr>
            <a:r>
              <a:rPr lang="ja-JP" sz="1200" b="0" u="none" strike="noStrike">
                <a:solidFill>
                  <a:srgbClr val="FF0000"/>
                </a:solidFill>
                <a:effectLst/>
                <a:uFillTx/>
                <a:latin typeface="メイリオ"/>
                <a:ea typeface="メイリオ"/>
              </a:rPr>
              <a:t>ねらい</a:t>
            </a:r>
            <a:endParaRPr lang="en-US" sz="1200" b="0" u="none" strike="noStrike">
              <a:solidFill>
                <a:srgbClr val="000000"/>
              </a:solidFill>
              <a:effectLst/>
              <a:uFillTx/>
              <a:latin typeface="メイリオ"/>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概算お見積り：月26万円で、6か月目に資料請求 月11件・来場予約 月8件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¥260,000〜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月4回程度</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来場前のお知らせ</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予約ごとに配信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2" name="正方形/長方形 81"/>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資料請求</a:t>
            </a:r>
            <a:endParaRPr lang="en-US" sz="1400" b="0" u="none" strike="noStrike">
              <a:solidFill>
                <a:srgbClr val="000000"/>
              </a:solidFill>
              <a:effectLst/>
              <a:uFillTx/>
              <a:latin typeface="メイリオ"/>
            </a:endParaRPr>
          </a:p>
        </p:txBody>
      </p:sp>
      <p:sp>
        <p:nvSpPr>
          <p:cNvPr id="364" name="正方形/長方形 85"/>
          <p:cNvSpPr/>
          <p:nvPr/>
        </p:nvSpPr>
        <p:spPr>
          <a:xfrm>
            <a:off x="6812280" y="2907792"/>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来場予約</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離脱防止</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サンクス</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LINE誘導</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9" name="正方形/長方形 25"/>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サイトの</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LINEボタン</a:t>
            </a:r>
            <a:endParaRPr lang="en-US" sz="1300" b="0" u="none" strike="noStrike">
              <a:solidFill>
                <a:srgbClr val="FFFFFF"/>
              </a:solidFill>
              <a:effectLst/>
              <a:uFillTx/>
              <a:latin typeface="メイリオ"/>
            </a:endParaRPr>
          </a:p>
        </p:txBody>
      </p:sp>
      <p:sp>
        <p:nvSpPr>
          <p:cNvPr id="370" name="正方形/長方形 29"/>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設置</a:t>
            </a:r>
            <a:endParaRPr lang="en-US" sz="1300" b="0" u="none" strike="noStrike">
              <a:solidFill>
                <a:srgbClr val="000000"/>
              </a:solidFill>
              <a:effectLst/>
              <a:uFillTx/>
              <a:latin typeface="メイリオ"/>
            </a:endParaRPr>
          </a:p>
        </p:txBody>
      </p:sp>
      <p:sp>
        <p:nvSpPr>
          <p:cNvPr id="371" name="正方形/長方形 33"/>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1,493人</a:t>
            </a:r>
            <a:endParaRPr lang="en-US" sz="1400" b="0" u="none" strike="noStrike">
              <a:solidFill>
                <a:srgbClr val="000000"/>
              </a:solidFill>
              <a:effectLst/>
              <a:uFillTx/>
              <a:latin typeface="メイリオ"/>
            </a:endParaRPr>
          </a:p>
        </p:txBody>
      </p:sp>
      <p:sp>
        <p:nvSpPr>
          <p:cNvPr id="376" name="テキスト ボックス 15"/>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11件/月</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907792"/>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8件/月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プラン①｜総合運用で、友だちの入口を増やし、検討の順番に沿った配信で資料請求・来場予約を増やす</a:t>
            </a:r>
            <a:endParaRPr lang="en-US" sz="1400" b="0" u="none" strike="noStrike">
              <a:solidFill>
                <a:srgbClr val="000000"/>
              </a:solidFill>
              <a:effectLst/>
              <a:uFillTx/>
              <a:latin typeface="メイリオ"/>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料金プラン：3つのプランの費用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運用範囲に合わせて、3つのプランをご用意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なし</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＋LINE広告</a:t>
                      </a:r>
                      <a:endParaRPr lang="ja-JP" altLang="en-US" sz="1500" dirty="0"/>
                    </a:p>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260,000円〜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460,000円〜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1" dirty="0">
                          <a:solidFill>
                            <a:srgbClr val="1F285A"/>
                          </a:solidFill>
                          <a:latin typeface="メイリオ" panose="020B0604030504040204" pitchFamily="50" charset="-128"/>
                          <a:ea typeface="メイリオ" panose="020B0604030504040204" pitchFamily="50" charset="-128"/>
                        </a:rPr>
                        <a:t>60,000円〜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 100,000円〜＋離脱防止 15,000円＋サンクスLINE誘導 150,000円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※月額ツール・LINE関連費＝離脱防止 30,000円＋サンクスLINE誘導 30,000円〜。LINE公式アカウント利用料は別（貴社のご契約のまま）</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3つのプランの運用内容</a:t>
            </a:r>
            <a:r>
              <a:rPr lang="ja-JP" altLang="en-US" sz="1600" b="1" u="none" strike="noStrike" dirty="0">
                <a:solidFill>
                  <a:schemeClr val="dk1"/>
                </a:solidFill>
                <a:effectLst/>
                <a:uFillTx/>
                <a:latin typeface="メイリオ"/>
                <a:ea typeface="メイリオ"/>
              </a:rPr>
              <a:t>の</a:t>
            </a:r>
            <a:r>
              <a:rPr lang="ja-JP" sz="1600" b="1" u="none" strike="noStrike" dirty="0">
                <a:solidFill>
                  <a:schemeClr val="dk1"/>
                </a:solidFill>
                <a:effectLst/>
                <a:uFillTx/>
                <a:latin typeface="メイリオ"/>
                <a:ea typeface="メイリオ"/>
              </a:rPr>
              <a:t>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4323282"/>
        </p:xfrm>
        <a:graphic>
          <a:graphicData uri="http://schemas.openxmlformats.org/drawingml/2006/table">
            <a:tbl>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総合運用＋友だち獲得</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プラン③</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初期導入</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離脱防止・</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設置</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14日間・5通</a:t>
                      </a:r>
                      <a:endParaRPr lang="ja-JP" altLang="en-US" sz="1300" dirty="0"/>
                    </a:p>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（構築のみ）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月4回程度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なし（貴社で運用）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設定のみ</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LINE広告</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（友だち追加）</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なし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