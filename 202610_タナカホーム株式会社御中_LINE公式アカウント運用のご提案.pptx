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34" r:id="rId36"/>
    <p:sldId id="306" r:id="rId6"/>
    <p:sldId id="313" r:id="rId7"/>
    <p:sldId id="310" r:id="rId8"/>
    <p:sldId id="314" r:id="rId9"/>
    <p:sldId id="335" r:id="rId37"/>
    <p:sldId id="315" r:id="rId11"/>
    <p:sldId id="336" r:id="rId38"/>
    <p:sldId id="337" r:id="rId39"/>
    <p:sldId id="338" r:id="rId40"/>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Appendix</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2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2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広告の改善</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青森店の媒体配分とクリエイティブを見直し、来場予約のCPAを下げる（別紙：集客改善シミュレーション）</a:t>
            </a:r>
            <a:endParaRPr lang="ja-JP" altLang="en-US" sz="12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SEO</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2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2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2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（4展示場）</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来場予約のCPA</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Web広告で約30,000円</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約50,000円）</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青森店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100" b="0" dirty="0">
                          <a:solidFill>
                            <a:srgbClr val="333333"/>
                          </a:solidFill>
                          <a:latin typeface="メイリオ" panose="020B0604030504040204" pitchFamily="50" charset="-128"/>
                          <a:ea typeface="メイリオ" panose="020B0604030504040204" pitchFamily="50" charset="-128"/>
                        </a:rPr>
                      </a:br>
                      <a:r>
                        <a:rPr lang="ja-JP" altLang="en-US" sz="110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自社サイトの</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資料請求</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月一桁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検索広告のCPA</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（9月）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417人</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友だちの入口</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1:1チャット</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流入</a:t>
            </a:r>
            <a:endParaRPr lang="ja-JP" altLang="en-US" sz="1200" dirty="0"/>
          </a:p>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2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来場予約・来場</a:t>
            </a:r>
            <a:endParaRPr lang="ja-JP" altLang="en-US" sz="12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6309360" cy="3681511"/>
          </a:xfrm>
          <a:prstGeom prst="rect">
            <a:avLst/>
          </a:prstGeom>
        </p:spPr>
      </p:pic>
      <p:sp>
        <p:nvSpPr>
          <p:cNvPr id="8" name="LINE追加の時期"/>
          <p:cNvSpPr/>
          <p:nvPr/>
        </p:nvSpPr>
        <p:spPr>
          <a:xfrm>
            <a:off x="3742776" y="1647520"/>
            <a:ext cx="735040" cy="343860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追加 札"/>
          <p:cNvSpPr/>
          <p:nvPr/>
        </p:nvSpPr>
        <p:spPr>
          <a:xfrm>
            <a:off x="3653096" y="5318287"/>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99516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7178040" y="1600200"/>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99516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7178040" y="1847088"/>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99516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7178040" y="2093976"/>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99516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7178040" y="2340864"/>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995160" y="2651760"/>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995160" y="2907791"/>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995160" y="3621024"/>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995160" y="3877056"/>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995160" y="4590288"/>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995160" y="4846320"/>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596128"/>
            <a:ext cx="8897112" cy="45720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25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089904"/>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サイトに来る</a:t>
            </a:r>
            <a:endParaRPr lang="ja-JP" altLang="en-US" sz="12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a:t>
            </a:r>
            <a:endParaRPr lang="ja-JP" altLang="en-US" sz="12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a:t>
            </a:r>
            <a:endParaRPr lang="ja-JP" altLang="en-US" sz="12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a:t>
            </a:r>
            <a:endParaRPr lang="ja-JP" altLang="en-US" sz="12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契約</a:t>
            </a:r>
            <a:endParaRPr lang="ja-JP" altLang="en-US" sz="1200" dirty="0"/>
          </a:p>
        </p:txBody>
      </p:sp>
      <p:sp>
        <p:nvSpPr>
          <p:cNvPr id="18" name="帯の名前 今"/>
          <p:cNvSpPr/>
          <p:nvPr/>
        </p:nvSpPr>
        <p:spPr>
          <a:xfrm>
            <a:off x="502920" y="2331720"/>
            <a:ext cx="1463040" cy="438912"/>
          </a:xfrm>
          <a:prstGeom prst="rect">
            <a:avLst/>
          </a:prstGeom>
          <a:noFill/>
          <a:ln>
            <a:noFill/>
          </a:ln>
        </p:spPr>
        <p:txBody>
          <a:bodyPr wrap="square" lIns="73152" tIns="36576" rIns="73152" bIns="36576" rtlCol="0" anchor="ctr">
            <a:noAutofit/>
          </a:bodyPr>
          <a:lstStyle/>
          <a:p>
            <a:pPr algn="ctr">
              <a:buNone/>
            </a:pPr>
            <a:r>
              <a:rPr lang="ja-JP" altLang="en-US" sz="1050" b="1" dirty="0">
                <a:solidFill>
                  <a:srgbClr val="7F7F7F"/>
                </a:solidFill>
                <a:latin typeface="メイリオ" panose="020B0604030504040204" pitchFamily="50" charset="-128"/>
                <a:ea typeface="メイリオ" panose="020B0604030504040204" pitchFamily="50" charset="-128"/>
              </a:rPr>
              <a:t>今のLINE</a:t>
            </a:r>
            <a:endParaRPr lang="ja-JP" altLang="en-US" sz="1200" dirty="0"/>
          </a:p>
        </p:txBody>
      </p:sp>
      <p:sp>
        <p:nvSpPr>
          <p:cNvPr id="19"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来場予約・来場のご案内</a:t>
            </a:r>
            <a:endParaRPr lang="ja-JP" altLang="en-US" sz="1200" dirty="0"/>
          </a:p>
        </p:txBody>
      </p:sp>
      <p:sp>
        <p:nvSpPr>
          <p:cNvPr id="20"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200" dirty="0"/>
          </a:p>
        </p:txBody>
      </p:sp>
      <p:sp>
        <p:nvSpPr>
          <p:cNvPr id="21"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200" dirty="0"/>
          </a:p>
        </p:txBody>
      </p:sp>
      <p:sp>
        <p:nvSpPr>
          <p:cNvPr id="22" name="可能になること01"/>
          <p:cNvSpPr/>
          <p:nvPr/>
        </p:nvSpPr>
        <p:spPr>
          <a:xfrm>
            <a:off x="502920"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200" dirty="0"/>
          </a:p>
        </p:txBody>
      </p:sp>
      <p:sp>
        <p:nvSpPr>
          <p:cNvPr id="23" name="可能になること02"/>
          <p:cNvSpPr/>
          <p:nvPr/>
        </p:nvSpPr>
        <p:spPr>
          <a:xfrm>
            <a:off x="3529584"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200" dirty="0"/>
          </a:p>
        </p:txBody>
      </p:sp>
      <p:sp>
        <p:nvSpPr>
          <p:cNvPr id="24" name="可能になること03"/>
          <p:cNvSpPr/>
          <p:nvPr/>
        </p:nvSpPr>
        <p:spPr>
          <a:xfrm>
            <a:off x="6556248"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200" dirty="0"/>
          </a:p>
        </p:txBody>
      </p:sp>
      <p:sp>
        <p:nvSpPr>
          <p:cNvPr id="2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※広告の改善は、別紙の集客改善シミュレーションとあわせてご提案</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入口</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タイミング</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離脱防止</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完了した直後</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2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050" b="1" dirty="0">
                <a:solidFill>
                  <a:srgbClr val="1F285A"/>
                </a:solidFill>
                <a:latin typeface="メイリオ" panose="020B0604030504040204" pitchFamily="50" charset="-128"/>
                <a:ea typeface="メイリオ" panose="020B0604030504040204" pitchFamily="50" charset="-128"/>
              </a:rPr>
              <a:t>友だち増加数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200" dirty="0"/>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前年比127.5%</a:t>
            </a:r>
            <a:endParaRPr lang="ja-JP"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予約の完了</a:t>
            </a:r>
            <a:endParaRPr lang="ja-JP" altLang="en-US" sz="12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予約の確認</a:t>
            </a:r>
            <a:endParaRPr lang="ja-JP" altLang="en-US" sz="12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3日前</a:t>
            </a:r>
            <a:endParaRPr lang="ja-JP" altLang="en-US" sz="12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前日</a:t>
            </a:r>
            <a:endParaRPr lang="ja-JP" altLang="en-US" sz="12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来場の後</a:t>
            </a:r>
            <a:endParaRPr lang="ja-JP" altLang="en-US" sz="12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2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2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2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2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2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2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2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2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200" dirty="0"/>
          </a:p>
        </p:txBody>
      </p:sp>
      <p:sp>
        <p:nvSpPr>
          <p:cNvPr id="8" name="型1"/>
          <p:cNvSpPr/>
          <p:nvPr/>
        </p:nvSpPr>
        <p:spPr>
          <a:xfrm>
            <a:off x="502920" y="2103120"/>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① 入口</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200" dirty="0"/>
          </a:p>
        </p:txBody>
      </p:sp>
      <p:sp>
        <p:nvSpPr>
          <p:cNvPr id="9" name="型2"/>
          <p:cNvSpPr/>
          <p:nvPr/>
        </p:nvSpPr>
        <p:spPr>
          <a:xfrm>
            <a:off x="502920" y="2889503"/>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② 配信</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200" dirty="0"/>
          </a:p>
        </p:txBody>
      </p:sp>
      <p:sp>
        <p:nvSpPr>
          <p:cNvPr id="10" name="型3"/>
          <p:cNvSpPr/>
          <p:nvPr/>
        </p:nvSpPr>
        <p:spPr>
          <a:xfrm>
            <a:off x="502920" y="3675887"/>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③ 改善</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2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横展開</a:t>
            </a:r>
            <a:endParaRPr lang="ja-JP" altLang="en-US" sz="12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店舗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商品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層</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2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進め方</a:t>
            </a:r>
            <a:endParaRPr lang="ja-JP" altLang="en-US" sz="12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12月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3月〜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競合の強み：一条工務店は性能と実績、大進建設は全館空調と特典</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青森で比べられる2社は、性能に加えて、実績・特典でも選ぶ理由をつくっている</a:t>
            </a:r>
            <a:endParaRPr lang="en-US" sz="1400" b="1" u="none" strike="noStrike" dirty="0">
              <a:effectLst/>
              <a:uFillTx/>
              <a:latin typeface="メイリオ"/>
            </a:endParaRPr>
          </a:p>
        </p:txBody>
      </p:sp>
      <p:graphicFrame>
        <p:nvGraphicFramePr>
          <p:cNvPr id="7" name="競合の強み 6"/>
          <p:cNvGraphicFramePr>
            <a:graphicFrameLocks noGrp="1"/>
          </p:cNvGraphicFramePr>
          <p:nvPr/>
        </p:nvGraphicFramePr>
        <p:xfrm>
          <a:off x="502920" y="1691640"/>
          <a:ext cx="6766559" cy="2880360"/>
        </p:xfrm>
        <a:graphic>
          <a:graphicData uri="http://schemas.openxmlformats.org/drawingml/2006/table">
            <a:tbl>
              <a:tblPr/>
              <a:tblGrid>
                <a:gridCol w="1234440"/>
                <a:gridCol w="1828800"/>
                <a:gridCol w="1828800"/>
                <a:gridCol w="1874519"/>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一条工務店</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大進建設</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77724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主な訴求</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全館空調</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7つの機能と保証</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1" dirty="0">
                          <a:solidFill>
                            <a:srgbClr val="1F285A"/>
                          </a:solidFill>
                          <a:latin typeface="メイリオ" panose="020B0604030504040204" pitchFamily="50" charset="-128"/>
                          <a:ea typeface="メイリオ" panose="020B0604030504040204" pitchFamily="50" charset="-128"/>
                        </a:rPr>
                        <a:t>地元を知り尽くした地場の会社</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W断熱・トリプルガラス樹脂窓（標準）</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858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実績・拠点</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青森県戸建 着工棟数 No.1（2024年度）</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県内の建築実績 4,167棟</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青森を中心に、宮城にも拠点</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八戸で1973年に創業（50年以上）</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LINEの取り組み</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サイトの公式SNSの一覧から、公式LINEへ</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1" dirty="0">
                          <a:solidFill>
                            <a:srgbClr val="1F285A"/>
                          </a:solidFill>
                          <a:latin typeface="メイリオ" panose="020B0604030504040204" pitchFamily="50" charset="-128"/>
                          <a:ea typeface="メイリオ" panose="020B0604030504040204" pitchFamily="50" charset="-128"/>
                        </a:rPr>
                        <a:t>LINE登録で最大4万円分</a:t>
                      </a:r>
                      <a:br>
                        <a:rPr lang="ja-JP" altLang="en-US" sz="950" b="1" dirty="0">
                          <a:solidFill>
                            <a:srgbClr val="1F285A"/>
                          </a:solidFill>
                          <a:latin typeface="メイリオ" panose="020B0604030504040204" pitchFamily="50" charset="-128"/>
                          <a:ea typeface="メイリオ" panose="020B0604030504040204" pitchFamily="50" charset="-128"/>
                        </a:rPr>
                      </a:br>
                      <a:r>
                        <a:rPr lang="ja-JP" altLang="en-US" sz="95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来場特典に上乗せで友だち登録</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北国の暮らしのお役立ち情報を発信</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※各社の公式サイト・LINE公式アカウントより（2026年10月16日確認）。一条工務店の着工棟数は住宅産業研究所調べ（2024年度）</a:t>
            </a:r>
            <a:endParaRPr lang="ja-JP" altLang="en-US" sz="1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競合の取り組みに対して：LINEで、タナカホームを選ぶ理由を届ける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性能・診断・特典で比べられる中、地元の会社ならではの情報で、選ばれる理由をつくる</a:t>
            </a:r>
            <a:endParaRPr lang="en-US" sz="1400" b="1" u="none" strike="noStrike" dirty="0">
              <a:effectLst/>
              <a:uFillTx/>
              <a:latin typeface="メイリオ"/>
            </a:endParaRPr>
          </a:p>
        </p:txBody>
      </p:sp>
      <p:graphicFrame>
        <p:nvGraphicFramePr>
          <p:cNvPr id="7" name="競合の取り組みに対して 6"/>
          <p:cNvGraphicFramePr>
            <a:graphicFrameLocks noGrp="1"/>
          </p:cNvGraphicFramePr>
          <p:nvPr/>
        </p:nvGraphicFramePr>
        <p:xfrm>
          <a:off x="502920" y="1691640"/>
          <a:ext cx="8897112" cy="2971800"/>
        </p:xfrm>
        <a:graphic>
          <a:graphicData uri="http://schemas.openxmlformats.org/drawingml/2006/table">
            <a:tbl>
              <a:tblPr/>
              <a:tblGrid>
                <a:gridCol w="3840480"/>
                <a:gridCol w="411480"/>
                <a:gridCol w="4645152"/>
              </a:tblGrid>
              <a:tr h="365760">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競合の取り組み</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タナカホームのLINEで行うこと</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性能を前面に打ち出す</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一条工務店「家は、性能。」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青森の冬の暮らし（暖房費・雪・断熱）を、地元の施工事例とあわせて届ける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LINEで診断・間取り作成を受け付ける</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セキスイハイム「カタログ無料診断」「無料間取り作成」</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予算の簡易診断、平屋か2階建てかの診断で希望を聞き分け、届ける情報を分ける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特典で来場の先まで追う</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大進建設「LINE登録で最大4万円分」</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特典の金額ではなく、検討の順番に沿った情報で、契約まで追う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48463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rPr>
              <a:t>タナカホームを選ぶ理由を届けられること</a:t>
            </a:r>
            <a:endParaRPr lang="ja-JP" altLang="en-US" sz="1200" dirty="0"/>
          </a:p>
        </p:txBody>
      </p:sp>
      <p:sp>
        <p:nvSpPr>
          <p:cNvPr id="9" name="注記"/>
          <p:cNvSpPr/>
          <p:nvPr/>
        </p:nvSpPr>
        <p:spPr>
          <a:xfrm>
            <a:off x="502920" y="55321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※セキスイハイムはLINE公式アカウントのプロフィールより（2026年10月16日確認）</a:t>
            </a:r>
            <a:endParaRPr lang="ja-JP" altLang="en-US" sz="12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試算：月26万円で、6か月目に資料請求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予約ごとに配信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サイトの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LINEボタン</a:t>
            </a:r>
            <a:endParaRPr lang="en-US" sz="1300" b="0" u="none" strike="noStrike">
              <a:solidFill>
                <a:srgbClr val="FFFFFF"/>
              </a:solidFill>
              <a:effectLst/>
              <a:uFillTx/>
              <a:latin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設置</a:t>
            </a:r>
            <a:endParaRPr lang="en-US" sz="1300" b="0" u="none" strike="noStrike">
              <a:solidFill>
                <a:srgbClr val="000000"/>
              </a:solidFill>
              <a:effectLst/>
              <a:uFillTx/>
              <a:latin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1,493人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
        <p:nvSpPr>
          <p:cNvPr id="383" name="月ごとの問い合わせ 見出し"/>
          <p:cNvSpPr/>
          <p:nvPr/>
        </p:nvSpPr>
        <p:spPr>
          <a:xfrm>
            <a:off x="6812280" y="3419856"/>
            <a:ext cx="2834640" cy="274320"/>
          </a:xfrm>
          <a:prstGeom prst="rect">
            <a:avLst/>
          </a:prstGeom>
          <a:noFill/>
          <a:ln>
            <a:noFill/>
          </a:ln>
        </p:spPr>
        <p:txBody>
          <a:bodyPr wrap="square" lIns="18288" tIns="0" rIns="0" bIns="0" rtlCol="0" anchor="ctr">
            <a:noAutofit/>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月ごとの資料請求・来場予約（件）</a:t>
            </a:r>
            <a:endParaRPr lang="ja-JP" altLang="en-US" sz="1200" dirty="0"/>
          </a:p>
        </p:txBody>
      </p:sp>
      <p:graphicFrame>
        <p:nvGraphicFramePr>
          <p:cNvPr id="384" name="月ごとの資料請求・来場予約 383"/>
          <p:cNvGraphicFramePr>
            <a:graphicFrameLocks noGrp="1"/>
          </p:cNvGraphicFramePr>
          <p:nvPr/>
        </p:nvGraphicFramePr>
        <p:xfrm>
          <a:off x="6812280" y="3712463"/>
          <a:ext cx="2834640" cy="1060704"/>
        </p:xfrm>
        <a:graphic>
          <a:graphicData uri="http://schemas.openxmlformats.org/drawingml/2006/table">
            <a:tbl>
              <a:tblPr/>
              <a:tblGrid>
                <a:gridCol w="749808"/>
                <a:gridCol w="347472"/>
                <a:gridCol w="347472"/>
                <a:gridCol w="347472"/>
                <a:gridCol w="347472"/>
                <a:gridCol w="347472"/>
                <a:gridCol w="347472"/>
              </a:tblGrid>
              <a:tr h="329184">
                <a:tc>
                  <a:txBody>
                    <a:bodyPr/>
                    <a:lstStyle/>
                    <a:p>
                      <a:pPr algn="ctr">
                        <a:buNone/>
                      </a:pPr>
                      <a:r>
                        <a:rPr lang="ja-JP" altLang="en-US" sz="850" b="1" dirty="0">
                          <a:solidFill>
                            <a:srgbClr val="FFFFFF"/>
                          </a:solidFill>
                          <a:latin typeface="メイリオ" panose="020B0604030504040204" pitchFamily="50" charset="-128"/>
                          <a:ea typeface="メイリオ" panose="020B0604030504040204" pitchFamily="50" charset="-128"/>
                        </a:rPr>
                        <a:t>か月目</a:t>
                      </a:r>
                      <a:endParaRPr lang="ja-JP" altLang="en-US" sz="85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1</a:t>
                      </a:r>
                      <a:endParaRPr lang="ja-JP" altLang="en-US" sz="95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2</a:t>
                      </a:r>
                      <a:endParaRPr lang="ja-JP" altLang="en-US" sz="95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3</a:t>
                      </a:r>
                      <a:endParaRPr lang="ja-JP" altLang="en-US" sz="95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4</a:t>
                      </a:r>
                      <a:endParaRPr lang="ja-JP" altLang="en-US" sz="95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5</a:t>
                      </a:r>
                      <a:endParaRPr lang="ja-JP" altLang="en-US" sz="95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6</a:t>
                      </a:r>
                      <a:endParaRPr lang="ja-JP" altLang="en-US" sz="95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365760">
                <a:tc>
                  <a:txBody>
                    <a:bodyPr/>
                    <a:lstStyle/>
                    <a:p>
                      <a:pPr algn="ctr">
                        <a:buNone/>
                      </a:pPr>
                      <a:r>
                        <a:rPr lang="ja-JP" altLang="en-US" sz="900" b="1" dirty="0">
                          <a:solidFill>
                            <a:srgbClr val="1F285A"/>
                          </a:solidFill>
                          <a:latin typeface="メイリオ" panose="020B0604030504040204" pitchFamily="50" charset="-128"/>
                          <a:ea typeface="メイリオ" panose="020B0604030504040204" pitchFamily="50" charset="-128"/>
                        </a:rPr>
                        <a:t>資料請求</a:t>
                      </a:r>
                      <a:endParaRPr lang="ja-JP" altLang="en-US" sz="9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4</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6</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6</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8</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9</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11</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65760">
                <a:tc>
                  <a:txBody>
                    <a:bodyPr/>
                    <a:lstStyle/>
                    <a:p>
                      <a:pPr algn="ctr">
                        <a:buNone/>
                      </a:pPr>
                      <a:r>
                        <a:rPr lang="ja-JP" altLang="en-US" sz="900" b="1" dirty="0">
                          <a:solidFill>
                            <a:srgbClr val="1F285A"/>
                          </a:solidFill>
                          <a:latin typeface="メイリオ" panose="020B0604030504040204" pitchFamily="50" charset="-128"/>
                          <a:ea typeface="メイリオ" panose="020B0604030504040204" pitchFamily="50" charset="-128"/>
                        </a:rPr>
                        <a:t>来場予約</a:t>
                      </a:r>
                      <a:endParaRPr lang="ja-JP" altLang="en-US" sz="9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2</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3</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4</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6</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7</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8</a:t>
                      </a:r>
                      <a:endParaRPr lang="ja-JP" altLang="en-US" sz="1100" dirty="0"/>
                    </a:p>
                  </a:txBody>
                  <a:tcPr marL="18288" marR="18288"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385" name="注記"/>
          <p:cNvSpPr/>
          <p:nvPr/>
        </p:nvSpPr>
        <p:spPr>
          <a:xfrm>
            <a:off x="6812280" y="4892040"/>
            <a:ext cx="2834640" cy="685800"/>
          </a:xfrm>
          <a:prstGeom prst="rect">
            <a:avLst/>
          </a:prstGeom>
          <a:noFill/>
          <a:ln>
            <a:noFill/>
          </a:ln>
        </p:spPr>
        <p:txBody>
          <a:bodyPr wrap="square" lIns="0" tIns="0" rIns="0" bIns="0" rtlCol="0" anchor="t">
            <a:noAutofit/>
          </a:bodyPr>
          <a:lstStyle/>
          <a:p>
            <a:pPr algn="l">
              <a:lnSpc>
                <a:spcPct val="115000"/>
              </a:lnSpc>
              <a:buNone/>
            </a:pPr>
            <a:r>
              <a:rPr lang="ja-JP" altLang="en-US" sz="800" b="0" dirty="0">
                <a:solidFill>
                  <a:srgbClr val="7F7F7F"/>
                </a:solidFill>
                <a:latin typeface="メイリオ" panose="020B0604030504040204" pitchFamily="50" charset="-128"/>
                <a:ea typeface="メイリオ" panose="020B0604030504040204" pitchFamily="50" charset="-128"/>
              </a:rPr>
              <a:t>※試算の前提：サイトのUU 月13,228／今の友だち417人。LINE公式アカウント利用料は別</a:t>
            </a:r>
            <a:endParaRPr lang="ja-JP" altLang="en-US" sz="12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30,000円〜。LINE公式アカウント利用料は別（貴社のご契約のまま）</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※契約期間は6か月〜。試算のページはプラン①の場合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