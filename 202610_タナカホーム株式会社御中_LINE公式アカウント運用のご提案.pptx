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media/image13.svg" ContentType="image/svg+xml"/>
  <Override PartName="/ppt/media/image14.svg" ContentType="image/svg+xml"/>
  <Override PartName="/ppt/media/image15.svg" ContentType="image/svg+xml"/>
  <Override PartName="/ppt/media/image1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0"/>
  </p:notesMasterIdLst>
  <p:sldIdLst>
    <p:sldId id="319" r:id="rId2"/>
    <p:sldId id="311" r:id="rId3"/>
    <p:sldId id="305" r:id="rId4"/>
    <p:sldId id="312" r:id="rId5"/>
    <p:sldId id="333" r:id="rId35"/>
    <p:sldId id="306" r:id="rId6"/>
    <p:sldId id="313" r:id="rId7"/>
    <p:sldId id="310" r:id="rId8"/>
    <p:sldId id="314" r:id="rId9"/>
    <p:sldId id="307" r:id="rId10"/>
    <p:sldId id="315" r:id="rId11"/>
    <p:sldId id="316" r:id="rId12"/>
    <p:sldId id="317" r:id="rId13"/>
    <p:sldId id="309" r:id="rId14"/>
    <p:sldId id="318" r:id="rId15"/>
    <p:sldId id="301" r:id="rId16"/>
    <p:sldId id="320" r:id="rId17"/>
    <p:sldId id="321" r:id="rId18"/>
    <p:sldId id="322" r:id="rId19"/>
    <p:sldId id="323" r:id="rId20"/>
    <p:sldId id="324" r:id="rId21"/>
    <p:sldId id="325" r:id="rId22"/>
    <p:sldId id="326" r:id="rId23"/>
    <p:sldId id="327" r:id="rId24"/>
    <p:sldId id="328" r:id="rId25"/>
    <p:sldId id="329" r:id="rId26"/>
    <p:sldId id="330" r:id="rId27"/>
    <p:sldId id="331" r:id="rId28"/>
    <p:sldId id="332" r:id="rId29"/>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4" d="100"/>
          <a:sy n="104" d="100"/>
        </p:scale>
        <p:origin x="15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35" Type="http://schemas.openxmlformats.org/officeDocument/2006/relationships/slide" Target="slides/slide2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1"/>
        <c:ser>
          <c:idx val="0"/>
          <c:order val="0"/>
          <c:tx>
            <c:strRef>
              <c:f>Sheet1!$B$1</c:f>
              <c:strCache>
                <c:ptCount val="1"/>
                <c:pt idx="0">
                  <c:v>平屋</c:v>
                </c:pt>
              </c:strCache>
            </c:strRef>
          </c:tx>
          <c:invertIfNegative val="1"/>
          <c:dPt>
            <c:idx val="0"/>
            <c:invertIfNegative val="1"/>
            <c:bubble3D val="0"/>
            <c:spPr>
              <a:solidFill>
                <a:srgbClr val="1F285A"/>
              </a:solidFill>
            </c:spPr>
            <c:extLst>
              <c:ext xmlns:c16="http://schemas.microsoft.com/office/drawing/2014/chart" uri="{C3380CC4-5D6E-409C-BE32-E72D297353CC}">
                <c16:uniqueId val="{00000001-E4DC-4448-802D-983EA201CFED}"/>
              </c:ext>
            </c:extLst>
          </c:dPt>
          <c:dPt>
            <c:idx val="1"/>
            <c:invertIfNegative val="1"/>
            <c:bubble3D val="0"/>
            <c:spPr>
              <a:solidFill>
                <a:srgbClr val="1F285A"/>
              </a:solidFill>
            </c:spPr>
            <c:extLst>
              <c:ext xmlns:c16="http://schemas.microsoft.com/office/drawing/2014/chart" uri="{C3380CC4-5D6E-409C-BE32-E72D297353CC}">
                <c16:uniqueId val="{00000003-E4DC-4448-802D-983EA201CFED}"/>
              </c:ext>
            </c:extLst>
          </c:dPt>
          <c:dPt>
            <c:idx val="2"/>
            <c:invertIfNegative val="1"/>
            <c:bubble3D val="0"/>
            <c:spPr>
              <a:solidFill>
                <a:srgbClr val="C9CEDF"/>
              </a:solidFill>
            </c:spPr>
            <c:extLst>
              <c:ext xmlns:c16="http://schemas.microsoft.com/office/drawing/2014/chart" uri="{C3380CC4-5D6E-409C-BE32-E72D297353CC}">
                <c16:uniqueId val="{00000005-E4DC-4448-802D-983EA201CFED}"/>
              </c:ext>
            </c:extLst>
          </c:dPt>
          <c:dPt>
            <c:idx val="3"/>
            <c:invertIfNegative val="1"/>
            <c:bubble3D val="0"/>
            <c:spPr>
              <a:solidFill>
                <a:srgbClr val="C9CEDF"/>
              </a:solidFill>
            </c:spPr>
            <c:extLst>
              <c:ext xmlns:c16="http://schemas.microsoft.com/office/drawing/2014/chart" uri="{C3380CC4-5D6E-409C-BE32-E72D297353CC}">
                <c16:uniqueId val="{00000007-E4DC-4448-802D-983EA201CFED}"/>
              </c:ext>
            </c:extLst>
          </c:dPt>
          <c:dPt>
            <c:idx val="4"/>
            <c:invertIfNegative val="1"/>
            <c:bubble3D val="0"/>
            <c:spPr>
              <a:solidFill>
                <a:srgbClr val="C9CEDF"/>
              </a:solidFill>
            </c:spPr>
            <c:extLst>
              <c:ext xmlns:c16="http://schemas.microsoft.com/office/drawing/2014/chart" uri="{C3380CC4-5D6E-409C-BE32-E72D297353CC}">
                <c16:uniqueId val="{00000009-E4DC-4448-802D-983EA201CFED}"/>
              </c:ext>
            </c:extLst>
          </c:dPt>
          <c:dPt>
            <c:idx val="5"/>
            <c:invertIfNegative val="1"/>
            <c:bubble3D val="0"/>
            <c:spPr>
              <a:solidFill>
                <a:srgbClr val="C9CEDF"/>
              </a:solidFill>
            </c:spPr>
            <c:extLst>
              <c:ext xmlns:c16="http://schemas.microsoft.com/office/drawing/2014/chart" uri="{C3380CC4-5D6E-409C-BE32-E72D297353CC}">
                <c16:uniqueId val="{0000000B-E4DC-4448-802D-983EA201CFED}"/>
              </c:ext>
            </c:extLst>
          </c:dPt>
          <c:dPt>
            <c:idx val="6"/>
            <c:invertIfNegative val="1"/>
            <c:bubble3D val="0"/>
            <c:spPr>
              <a:solidFill>
                <a:srgbClr val="C9CEDF"/>
              </a:solidFill>
            </c:spPr>
            <c:extLst>
              <c:ext xmlns:c16="http://schemas.microsoft.com/office/drawing/2014/chart" uri="{C3380CC4-5D6E-409C-BE32-E72D297353CC}">
                <c16:uniqueId val="{0000000D-E4DC-4448-802D-983EA201CFED}"/>
              </c:ext>
            </c:extLst>
          </c:dPt>
          <c:dPt>
            <c:idx val="7"/>
            <c:invertIfNegative val="1"/>
            <c:bubble3D val="0"/>
            <c:spPr>
              <a:solidFill>
                <a:srgbClr val="C9CEDF"/>
              </a:solidFill>
            </c:spPr>
            <c:extLst>
              <c:ext xmlns:c16="http://schemas.microsoft.com/office/drawing/2014/chart" uri="{C3380CC4-5D6E-409C-BE32-E72D297353CC}">
                <c16:uniqueId val="{0000000F-E4DC-4448-802D-983EA201CFED}"/>
              </c:ext>
            </c:extLst>
          </c:dPt>
          <c:dPt>
            <c:idx val="8"/>
            <c:invertIfNegative val="1"/>
            <c:bubble3D val="0"/>
            <c:spPr>
              <a:solidFill>
                <a:srgbClr val="C9CEDF"/>
              </a:solidFill>
            </c:spPr>
            <c:extLst>
              <c:ext xmlns:c16="http://schemas.microsoft.com/office/drawing/2014/chart" uri="{C3380CC4-5D6E-409C-BE32-E72D297353CC}">
                <c16:uniqueId val="{00000011-E4DC-4448-802D-983EA201CFED}"/>
              </c:ext>
            </c:extLst>
          </c:dPt>
          <c:dPt>
            <c:idx val="9"/>
            <c:invertIfNegative val="1"/>
            <c:bubble3D val="0"/>
            <c:spPr>
              <a:solidFill>
                <a:srgbClr val="C9CEDF"/>
              </a:solidFill>
            </c:spPr>
            <c:extLst>
              <c:ext xmlns:c16="http://schemas.microsoft.com/office/drawing/2014/chart" uri="{C3380CC4-5D6E-409C-BE32-E72D297353CC}">
                <c16:uniqueId val="{00000013-E4DC-4448-802D-983EA201CFED}"/>
              </c:ext>
            </c:extLst>
          </c:dPt>
          <c:dPt>
            <c:idx val="10"/>
            <c:invertIfNegative val="1"/>
            <c:bubble3D val="0"/>
            <c:spPr>
              <a:solidFill>
                <a:srgbClr val="C9CEDF"/>
              </a:solidFill>
            </c:spPr>
            <c:extLst>
              <c:ext xmlns:c16="http://schemas.microsoft.com/office/drawing/2014/chart" uri="{C3380CC4-5D6E-409C-BE32-E72D297353CC}">
                <c16:uniqueId val="{00000015-E4DC-4448-802D-983EA201CFED}"/>
              </c:ext>
            </c:extLst>
          </c:dPt>
          <c:dPt>
            <c:idx val="11"/>
            <c:invertIfNegative val="1"/>
            <c:bubble3D val="0"/>
            <c:spPr>
              <a:solidFill>
                <a:srgbClr val="C9CEDF"/>
              </a:solidFill>
            </c:spPr>
            <c:extLst>
              <c:ext xmlns:c16="http://schemas.microsoft.com/office/drawing/2014/chart" uri="{C3380CC4-5D6E-409C-BE32-E72D297353CC}">
                <c16:uniqueId val="{00000017-E4DC-4448-802D-983EA201CFED}"/>
              </c:ext>
            </c:extLst>
          </c:dPt>
          <c:dLbls>
            <c:numFmt formatCode="0" sourceLinked="0"/>
            <c:spPr>
              <a:noFill/>
              <a:ln>
                <a:noFill/>
              </a:ln>
              <a:effectLst/>
            </c:spPr>
            <c:txPr>
              <a:bodyPr/>
              <a:lstStyle/>
              <a:p>
                <a:pPr>
                  <a:defRPr sz="900">
                    <a:latin typeface="メイリオ"/>
                  </a:defRPr>
                </a:pPr>
                <a:endParaRPr lang="ja-JP"/>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Sheet1!$A$2:$A$13</c:f>
              <c:strCache>
                <c:ptCount val="12"/>
                <c:pt idx="0">
                  <c:v>1月</c:v>
                </c:pt>
                <c:pt idx="1">
                  <c:v>2月</c:v>
                </c:pt>
                <c:pt idx="2">
                  <c:v>3月</c:v>
                </c:pt>
                <c:pt idx="3">
                  <c:v>4月</c:v>
                </c:pt>
                <c:pt idx="4">
                  <c:v>5月</c:v>
                </c:pt>
                <c:pt idx="5">
                  <c:v>6月</c:v>
                </c:pt>
                <c:pt idx="6">
                  <c:v>7月</c:v>
                </c:pt>
                <c:pt idx="7">
                  <c:v>8月</c:v>
                </c:pt>
                <c:pt idx="8">
                  <c:v>9月</c:v>
                </c:pt>
                <c:pt idx="9">
                  <c:v>10月</c:v>
                </c:pt>
                <c:pt idx="10">
                  <c:v>11月</c:v>
                </c:pt>
                <c:pt idx="11">
                  <c:v>12月</c:v>
                </c:pt>
              </c:strCache>
            </c:strRef>
          </c:cat>
          <c:val>
            <c:numRef>
              <c:f>Sheet1!$B$2:$B$13</c:f>
              <c:numCache>
                <c:formatCode>General</c:formatCode>
                <c:ptCount val="12"/>
                <c:pt idx="0">
                  <c:v>80</c:v>
                </c:pt>
                <c:pt idx="1">
                  <c:v>83</c:v>
                </c:pt>
                <c:pt idx="2">
                  <c:v>78</c:v>
                </c:pt>
                <c:pt idx="3">
                  <c:v>70</c:v>
                </c:pt>
                <c:pt idx="4">
                  <c:v>69</c:v>
                </c:pt>
                <c:pt idx="5">
                  <c:v>73</c:v>
                </c:pt>
                <c:pt idx="6">
                  <c:v>58</c:v>
                </c:pt>
                <c:pt idx="7">
                  <c:v>70</c:v>
                </c:pt>
                <c:pt idx="8">
                  <c:v>76</c:v>
                </c:pt>
                <c:pt idx="9">
                  <c:v>78</c:v>
                </c:pt>
                <c:pt idx="10">
                  <c:v>63</c:v>
                </c:pt>
                <c:pt idx="11">
                  <c:v>68</c:v>
                </c:pt>
              </c:numCache>
            </c:numRef>
          </c:val>
          <c:extLst>
            <c:ext xmlns:c16="http://schemas.microsoft.com/office/drawing/2014/chart" uri="{C3380CC4-5D6E-409C-BE32-E72D297353CC}">
              <c16:uniqueId val="{00000018-E4DC-4448-802D-983EA201CFED}"/>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9D9"/>
            </a:solidFill>
          </a:ln>
        </c:spPr>
        <c:txPr>
          <a:bodyPr/>
          <a:lstStyle/>
          <a:p>
            <a:pPr>
              <a:defRPr sz="900"/>
            </a:pPr>
            <a:endParaRPr lang="ja-JP"/>
          </a:p>
        </c:txPr>
        <c:crossAx val="-2113994440"/>
        <c:crosses val="autoZero"/>
        <c:auto val="1"/>
        <c:lblAlgn val="ctr"/>
        <c:lblOffset val="100"/>
        <c:noMultiLvlLbl val="0"/>
      </c:catAx>
      <c:valAx>
        <c:axId val="-2113994440"/>
        <c:scaling>
          <c:orientation val="minMax"/>
          <c:max val="10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900">
          <a:solidFill>
            <a:srgbClr val="333333"/>
          </a:solidFill>
          <a:latin typeface="メイリオ"/>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Calibri"/>
              </a:rPr>
              <a:t>Click to move the slide</a:t>
            </a:r>
          </a:p>
        </p:txBody>
      </p:sp>
      <p:sp>
        <p:nvSpPr>
          <p:cNvPr id="2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22"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23"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24"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25"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023FD08-B3C3-42F8-A153-9D5527DEAE10}"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7" name="PlaceHolder 1"/>
          <p:cNvSpPr>
            <a:spLocks noGrp="1" noRot="1" noChangeAspect="1"/>
          </p:cNvSpPr>
          <p:nvPr>
            <p:ph type="sldImg"/>
          </p:nvPr>
        </p:nvSpPr>
        <p:spPr>
          <a:xfrm>
            <a:off x="981000" y="1243080"/>
            <a:ext cx="4844520" cy="3354120"/>
          </a:xfrm>
          <a:prstGeom prst="rect">
            <a:avLst/>
          </a:prstGeom>
          <a:ln w="0">
            <a:noFill/>
          </a:ln>
        </p:spPr>
      </p:sp>
      <p:sp>
        <p:nvSpPr>
          <p:cNvPr id="114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9" name="PlaceHolder 3"/>
          <p:cNvSpPr>
            <a:spLocks noGrp="1"/>
          </p:cNvSpPr>
          <p:nvPr>
            <p:ph type="ftr" idx="24"/>
          </p:nvPr>
        </p:nvSpPr>
        <p:spPr>
          <a:xfrm>
            <a:off x="0" y="9441720"/>
            <a:ext cx="2950200" cy="497160"/>
          </a:xfrm>
          <a:prstGeom prst="rect">
            <a:avLst/>
          </a:prstGeom>
          <a:noFill/>
          <a:ln w="0">
            <a:noFill/>
          </a:ln>
        </p:spPr>
        <p:txBody>
          <a:bodyPr lIns="91440" tIns="45720" rIns="91440" bIns="45720" anchor="b">
            <a:noAutofit/>
          </a:bodyPr>
          <a:lstStyle/>
          <a:p>
            <a:pPr indent="0">
              <a:buNone/>
            </a:pPr>
            <a:endParaRPr lang="en-US" sz="1200" b="0" u="none" strike="noStrike">
              <a:solidFill>
                <a:schemeClr val="dk1"/>
              </a:solidFill>
              <a:effectLst/>
              <a:uFillTx/>
              <a:latin typeface="+mn-lt"/>
              <a:ea typeface="+mn-ea"/>
            </a:endParaRPr>
          </a:p>
        </p:txBody>
      </p:sp>
      <p:sp>
        <p:nvSpPr>
          <p:cNvPr id="1150" name="PlaceHolder 4"/>
          <p:cNvSpPr>
            <a:spLocks noGrp="1"/>
          </p:cNvSpPr>
          <p:nvPr>
            <p:ph type="sldNum" idx="25"/>
          </p:nvPr>
        </p:nvSpPr>
        <p:spPr>
          <a:xfrm>
            <a:off x="3855240" y="9441720"/>
            <a:ext cx="2950200" cy="497160"/>
          </a:xfrm>
          <a:prstGeom prst="rect">
            <a:avLst/>
          </a:prstGeom>
          <a:noFill/>
          <a:ln w="0">
            <a:noFill/>
          </a:ln>
        </p:spPr>
        <p:txBody>
          <a:bodyPr lIns="91440" tIns="45720" rIns="91440" bIns="45720" anchor="b">
            <a:noAutofit/>
          </a:bodyPr>
          <a:lstStyle>
            <a:lvl1pPr indent="0" algn="r" defTabSz="956880">
              <a:lnSpc>
                <a:spcPct val="100000"/>
              </a:lnSpc>
              <a:buNone/>
              <a:defRPr lang="en-US" sz="1200" b="0" u="none" strike="noStrike">
                <a:solidFill>
                  <a:srgbClr val="000000"/>
                </a:solidFill>
                <a:effectLst/>
                <a:uFillTx/>
                <a:latin typeface="Calibri"/>
                <a:ea typeface="ＭＳ Ｐゴシック"/>
              </a:defRPr>
            </a:lvl1pPr>
          </a:lstStyle>
          <a:p>
            <a:pPr indent="0" algn="r" defTabSz="956880">
              <a:lnSpc>
                <a:spcPct val="100000"/>
              </a:lnSpc>
              <a:buNone/>
            </a:pPr>
            <a:fld id="{6BEAC167-1E56-4A89-B6CA-078D5C4214BA}" type="slidenum">
              <a:rPr lang="en-US" sz="1200" b="0" u="none" strike="noStrike">
                <a:solidFill>
                  <a:srgbClr val="000000"/>
                </a:solidFill>
                <a:effectLst/>
                <a:uFillTx/>
                <a:latin typeface="Calibri"/>
                <a:ea typeface="ＭＳ Ｐゴシック"/>
              </a:rPr>
              <a:t>15</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2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2"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3"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7221DD93-BA6E-44AE-9625-337799002E27}"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4"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
        <p:nvSpPr>
          <p:cNvPr id="5" name="正方形/長方形 1"/>
          <p:cNvSpPr/>
          <p:nvPr/>
        </p:nvSpPr>
        <p:spPr>
          <a:xfrm>
            <a:off x="9398160" y="6591240"/>
            <a:ext cx="418680" cy="2664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4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8"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9"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B234BB70-5183-4ABD-92F4-80874DE4EEF5}"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0"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cxnSp>
        <p:nvCxnSpPr>
          <p:cNvPr id="11" name="直線コネクタ 4"/>
          <p:cNvCxnSpPr/>
          <p:nvPr/>
        </p:nvCxnSpPr>
        <p:spPr>
          <a:xfrm>
            <a:off x="0" y="548640"/>
            <a:ext cx="9906120" cy="360"/>
          </a:xfrm>
          <a:prstGeom prst="straightConnector1">
            <a:avLst/>
          </a:prstGeom>
          <a:ln>
            <a:solidFill>
              <a:srgbClr val="191F54"/>
            </a:solidFill>
            <a:round/>
          </a:ln>
        </p:spPr>
      </p:cxnSp>
      <p:sp>
        <p:nvSpPr>
          <p:cNvPr id="12"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3" name="PlaceHolder 1"/>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p>
            <a:pPr indent="0">
              <a:buNone/>
            </a:pPr>
            <a:r>
              <a:rPr lang="en-US" sz="1800" b="0" u="none" strike="noStrike">
                <a:solidFill>
                  <a:schemeClr val="dk1"/>
                </a:solidFill>
                <a:effectLst/>
                <a:uFillTx/>
                <a:latin typeface="Calibri"/>
              </a:rPr>
              <a:t>Click to edit the title text format</a:t>
            </a:r>
          </a:p>
        </p:txBody>
      </p:sp>
      <p:sp>
        <p:nvSpPr>
          <p:cNvPr id="14" name="PlaceHolder 2"/>
          <p:cNvSpPr>
            <a:spLocks noGrp="1"/>
          </p:cNvSpPr>
          <p:nvPr>
            <p:ph type="body"/>
          </p:nvPr>
        </p:nvSpPr>
        <p:spPr>
          <a:xfrm>
            <a:off x="495000" y="1604520"/>
            <a:ext cx="89150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1_タイトル スライド">
    <p:bg>
      <p:bgPr>
        <a:solidFill>
          <a:srgbClr val="FFFFFF"/>
        </a:solidFill>
        <a:effectLst/>
      </p:bgPr>
    </p:bg>
    <p:spTree>
      <p:nvGrpSpPr>
        <p:cNvPr id="1" name=""/>
        <p:cNvGrpSpPr/>
        <p:nvPr/>
      </p:nvGrpSpPr>
      <p:grpSpPr>
        <a:xfrm>
          <a:off x="0" y="0"/>
          <a:ext cx="0" cy="0"/>
          <a:chOff x="0" y="0"/>
          <a:chExt cx="0" cy="0"/>
        </a:xfrm>
      </p:grpSpPr>
      <p:pic>
        <p:nvPicPr>
          <p:cNvPr id="15" name="図 1"/>
          <p:cNvPicPr/>
          <p:nvPr/>
        </p:nvPicPr>
        <p:blipFill>
          <a:blip r:embed="rId2"/>
          <a:stretch/>
        </p:blipFill>
        <p:spPr>
          <a:xfrm>
            <a:off x="8151480" y="72360"/>
            <a:ext cx="1598400" cy="423720"/>
          </a:xfrm>
          <a:prstGeom prst="rect">
            <a:avLst/>
          </a:prstGeom>
          <a:noFill/>
          <a:ln w="0">
            <a:noFill/>
          </a:ln>
        </p:spPr>
      </p:pic>
      <p:pic>
        <p:nvPicPr>
          <p:cNvPr id="16" name="図 4"/>
          <p:cNvPicPr/>
          <p:nvPr/>
        </p:nvPicPr>
        <p:blipFill>
          <a:blip r:embed="rId3"/>
          <a:stretch/>
        </p:blipFill>
        <p:spPr>
          <a:xfrm>
            <a:off x="8151480" y="32400"/>
            <a:ext cx="1652760" cy="635400"/>
          </a:xfrm>
          <a:prstGeom prst="rect">
            <a:avLst/>
          </a:prstGeom>
          <a:noFill/>
          <a:ln w="0">
            <a:noFill/>
          </a:ln>
        </p:spPr>
      </p:pic>
      <p:sp>
        <p:nvSpPr>
          <p:cNvPr id="17"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8"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077BD008-84D6-4C04-8004-9A059DF72521}"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9"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3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7.emf"/><Relationship Id="rId4" Type="http://schemas.openxmlformats.org/officeDocument/2006/relationships/image" Target="../media/image8.jpeg"/><Relationship Id="rId5" Type="http://schemas.openxmlformats.org/officeDocument/2006/relationships/image" Target="../media/image9.jpeg"/><Relationship Id="rId6" Type="http://schemas.openxmlformats.org/officeDocument/2006/relationships/image" Target="../media/image10.jpeg"/><Relationship Id="rId7" Type="http://schemas.openxmlformats.org/officeDocument/2006/relationships/image" Target="../media/image11.jpeg"/><Relationship Id="rId8" Type="http://schemas.openxmlformats.org/officeDocument/2006/relationships/image" Target="../media/image12.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svg"/><Relationship Id="rId3" Type="http://schemas.openxmlformats.org/officeDocument/2006/relationships/image" Target="../media/image14.svg"/><Relationship Id="rId4" Type="http://schemas.openxmlformats.org/officeDocument/2006/relationships/image" Target="../media/image15.svg"/><Relationship Id="rId5" Type="http://schemas.openxmlformats.org/officeDocument/2006/relationships/image" Target="../media/image16.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正方形/長方形 1"/>
          <p:cNvSpPr/>
          <p:nvPr/>
        </p:nvSpPr>
        <p:spPr>
          <a:xfrm>
            <a:off x="1665660" y="2937630"/>
            <a:ext cx="6573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dirty="0">
                <a:solidFill>
                  <a:schemeClr val="dk1">
                    <a:lumMod val="75000"/>
                    <a:lumOff val="25000"/>
                  </a:schemeClr>
                </a:solidFill>
                <a:effectLst/>
                <a:uFillTx/>
                <a:latin typeface="メイリオ"/>
                <a:ea typeface="メイリオ"/>
              </a:rPr>
              <a:t>LINE公式アカウント運用のご提案</a:t>
            </a:r>
            <a:endParaRPr lang="en-US" sz="3200" b="0" u="none" strike="noStrike" dirty="0">
              <a:solidFill>
                <a:srgbClr val="000000"/>
              </a:solidFill>
              <a:effectLst/>
              <a:uFillTx/>
              <a:latin typeface="メイリオ"/>
            </a:endParaRPr>
          </a:p>
        </p:txBody>
      </p:sp>
      <p:sp>
        <p:nvSpPr>
          <p:cNvPr id="27" name="正方形/長方形 5"/>
          <p:cNvSpPr/>
          <p:nvPr/>
        </p:nvSpPr>
        <p:spPr>
          <a:xfrm>
            <a:off x="1336792" y="1922429"/>
            <a:ext cx="7231989" cy="1042415"/>
          </a:xfrm>
          <a:prstGeom prst="rect">
            <a:avLst/>
          </a:prstGeom>
          <a:noFill/>
          <a:ln w="0">
            <a:noFill/>
          </a:ln>
        </p:spPr>
        <p:style>
          <a:lnRef idx="0">
            <a:scrgbClr r="0" g="0" b="0"/>
          </a:lnRef>
          <a:fillRef idx="0">
            <a:scrgbClr r="0" g="0" b="0"/>
          </a:fillRef>
          <a:effectRef idx="0">
            <a:scrgbClr r="0" g="0" b="0"/>
          </a:effectRef>
          <a:fontRef idx="minor"/>
        </p:style>
        <p:txBody>
          <a:bodyPr wrap="square" lIns="91440" tIns="45720" rIns="91440" bIns="45720" anchor="b">
            <a:noAutofit/>
          </a:bodyPr>
          <a:lstStyle/>
          <a:p>
            <a:pPr algn="ctr"/>
            <a:r>
              <a:rPr lang="ja-JP" sz="1600" b="0" u="none" strike="noStrike" dirty="0">
                <a:solidFill>
                  <a:schemeClr val="dk1">
                    <a:lumMod val="50000"/>
                    <a:lumOff val="50000"/>
                  </a:schemeClr>
                </a:solidFill>
                <a:effectLst/>
                <a:uFillTx/>
                <a:latin typeface="メイリオ"/>
                <a:ea typeface="メイリオ"/>
              </a:rPr>
              <a:t>集めた見込み客を逃さずナーチャリングをし、</a:t>
            </a:r>
          </a:p>
          <a:p>
            <a:pPr algn="ctr"/>
            <a:r>
              <a:rPr lang="ja-JP" sz="1600" b="0" u="none" strike="noStrike" dirty="0">
                <a:solidFill>
                  <a:schemeClr val="dk1">
                    <a:lumMod val="50000"/>
                    <a:lumOff val="50000"/>
                  </a:schemeClr>
                </a:solidFill>
                <a:effectLst/>
                <a:uFillTx/>
                <a:latin typeface="メイリオ"/>
                <a:ea typeface="メイリオ"/>
              </a:rPr>
              <a:t>来場・契約へ変えるLINE仕組みの構築</a:t>
            </a:r>
          </a:p>
        </p:txBody>
      </p:sp>
      <p:cxnSp>
        <p:nvCxnSpPr>
          <p:cNvPr id="28" name="直線コネクタ 4"/>
          <p:cNvCxnSpPr/>
          <p:nvPr/>
        </p:nvCxnSpPr>
        <p:spPr>
          <a:xfrm>
            <a:off x="1336980" y="3604491"/>
            <a:ext cx="7232040" cy="0"/>
          </a:xfrm>
          <a:prstGeom prst="straightConnector1">
            <a:avLst/>
          </a:prstGeom>
          <a:ln w="19050">
            <a:solidFill>
              <a:srgbClr val="000000">
                <a:lumMod val="50000"/>
                <a:lumOff val="50000"/>
              </a:srgbClr>
            </a:solidFill>
            <a:round/>
          </a:ln>
        </p:spPr>
      </p:cxnSp>
      <p:pic>
        <p:nvPicPr>
          <p:cNvPr id="29" name="図 8" descr="背景パターン&#10;&#10;AI 生成コンテンツは誤りを含む可能性があります。"/>
          <p:cNvPicPr/>
          <p:nvPr/>
        </p:nvPicPr>
        <p:blipFill>
          <a:blip r:embed="rId2"/>
          <a:stretch/>
        </p:blipFill>
        <p:spPr>
          <a:xfrm>
            <a:off x="0" y="0"/>
            <a:ext cx="8159400" cy="766080"/>
          </a:xfrm>
          <a:prstGeom prst="rect">
            <a:avLst/>
          </a:prstGeom>
          <a:noFill/>
          <a:ln w="0">
            <a:noFill/>
          </a:ln>
        </p:spPr>
      </p:pic>
      <p:pic>
        <p:nvPicPr>
          <p:cNvPr id="30" name="図 9" descr="背景パターン&#10;&#10;AI 生成コンテンツは誤りを含む可能性があります。"/>
          <p:cNvPicPr/>
          <p:nvPr/>
        </p:nvPicPr>
        <p:blipFill>
          <a:blip r:embed="rId2"/>
          <a:stretch/>
        </p:blipFill>
        <p:spPr>
          <a:xfrm>
            <a:off x="7863840" y="494280"/>
            <a:ext cx="2041920" cy="271800"/>
          </a:xfrm>
          <a:prstGeom prst="rect">
            <a:avLst/>
          </a:prstGeom>
          <a:noFill/>
          <a:ln w="0">
            <a:noFill/>
          </a:ln>
        </p:spPr>
      </p:pic>
      <p:sp>
        <p:nvSpPr>
          <p:cNvPr id="3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メイリオ"/>
                <a:ea typeface="メイリオ"/>
              </a:rPr>
              <a:t>タナカホーム株式会社 御中</a:t>
            </a:r>
            <a:endParaRPr lang="en-US" sz="1600" b="0" u="none" strike="noStrike">
              <a:solidFill>
                <a:srgbClr val="000000"/>
              </a:solidFill>
              <a:effectLst/>
              <a:uFillTx/>
              <a:latin typeface="メイリオ"/>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提案の流れ</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資料請求</a:t>
            </a:r>
            <a:r>
              <a:rPr lang="ja-JP" altLang="en-US" sz="1400" b="1" dirty="0">
                <a:latin typeface="メイリオ" panose="020B0604030504040204" pitchFamily="50" charset="-128"/>
                <a:ea typeface="メイリオ" panose="020B0604030504040204" pitchFamily="50" charset="-128"/>
              </a:rPr>
              <a:t>以前</a:t>
            </a:r>
            <a:r>
              <a:rPr lang="ja-JP" sz="1400" b="1" u="none" strike="noStrike" dirty="0">
                <a:effectLst/>
                <a:uFillTx/>
                <a:latin typeface="メイリオ" panose="020B0604030504040204" pitchFamily="50" charset="-128"/>
                <a:ea typeface="メイリオ" panose="020B0604030504040204" pitchFamily="50" charset="-128"/>
              </a:rPr>
              <a:t>からLINEでつながり、来場・契約まで案内する。</a:t>
            </a:r>
            <a:endParaRPr lang="en-US" sz="1400" b="1" u="none" strike="noStrike" dirty="0">
              <a:effectLst/>
              <a:uFillTx/>
              <a:latin typeface="メイリオ"/>
            </a:endParaRPr>
          </a:p>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青森店で確立し、他店舗へ広げることも見据える</a:t>
            </a:r>
            <a:endParaRPr lang="en-US" sz="1400" b="1" u="none" strike="noStrike" dirty="0">
              <a:effectLst/>
              <a:uFillTx/>
              <a:latin typeface="メイリオ"/>
            </a:endParaRPr>
          </a:p>
        </p:txBody>
      </p:sp>
      <p:graphicFrame>
        <p:nvGraphicFramePr>
          <p:cNvPr id="7" name="提案の流れ 6"/>
          <p:cNvGraphicFramePr>
            <a:graphicFrameLocks noGrp="1"/>
          </p:cNvGraphicFramePr>
          <p:nvPr>
            <p:extLst>
              <p:ext uri="{D42A27DB-BD31-4B8C-83A1-F6EECF244321}">
                <p14:modId xmlns:p14="http://schemas.microsoft.com/office/powerpoint/2010/main" val="3956596197"/>
              </p:ext>
            </p:extLst>
          </p:nvPr>
        </p:nvGraphicFramePr>
        <p:xfrm>
          <a:off x="502920" y="1691640"/>
          <a:ext cx="8897112" cy="2852928"/>
        </p:xfrm>
        <a:graphic>
          <a:graphicData uri="http://schemas.openxmlformats.org/drawingml/2006/table">
            <a:tbl>
              <a:tblPr/>
              <a:tblGrid>
                <a:gridCol w="1920240">
                  <a:extLst>
                    <a:ext uri="{9D8B030D-6E8A-4147-A177-3AD203B41FA5}">
                      <a16:colId xmlns:a16="http://schemas.microsoft.com/office/drawing/2014/main" val="20000"/>
                    </a:ext>
                  </a:extLst>
                </a:gridCol>
                <a:gridCol w="6976872">
                  <a:extLst>
                    <a:ext uri="{9D8B030D-6E8A-4147-A177-3AD203B41FA5}">
                      <a16:colId xmlns:a16="http://schemas.microsoft.com/office/drawing/2014/main" val="20001"/>
                    </a:ext>
                  </a:extLst>
                </a:gridCol>
              </a:tblGrid>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1. 現状と打ち手</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来場予約は目標50〜60件に対し35〜40件。広告と地域SEOで質の高い見込み客を集める。</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LINEは来場予約のご案内が中心</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2. 課題</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来場を決める前の検討中の方と、LINEでつながれていない。</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検討期間の約2週間の接点が、来場を左右する</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3. 解決策</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資料請求以前から来場・契約までを追う。</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前後検索に沿って配信し、来場前日のお知らせでキャンセルも減らす</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4. 今後の展開</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青森店で型をつくり、全店に広げる</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aphicFrame>
        <p:nvGraphicFramePr>
          <p:cNvPr id="8" name="Appendix 7"/>
          <p:cNvGraphicFramePr>
            <a:graphicFrameLocks noGrp="1"/>
          </p:cNvGraphicFramePr>
          <p:nvPr/>
        </p:nvGraphicFramePr>
        <p:xfrm>
          <a:off x="502920" y="4846320"/>
          <a:ext cx="8897112" cy="457200"/>
        </p:xfrm>
        <a:graphic>
          <a:graphicData uri="http://schemas.openxmlformats.org/drawingml/2006/table">
            <a:tbl>
              <a:tblPr/>
              <a:tblGrid>
                <a:gridCol w="1920240">
                  <a:extLst>
                    <a:ext uri="{9D8B030D-6E8A-4147-A177-3AD203B41FA5}">
                      <a16:colId xmlns:a16="http://schemas.microsoft.com/office/drawing/2014/main" val="20000"/>
                    </a:ext>
                  </a:extLst>
                </a:gridCol>
                <a:gridCol w="6976872">
                  <a:extLst>
                    <a:ext uri="{9D8B030D-6E8A-4147-A177-3AD203B41FA5}">
                      <a16:colId xmlns:a16="http://schemas.microsoft.com/office/drawing/2014/main" val="20001"/>
                    </a:ext>
                  </a:extLst>
                </a:gridCol>
              </a:tblGrid>
              <a:tr h="457200">
                <a:tc>
                  <a:txBody>
                    <a:bodyPr/>
                    <a:lstStyle/>
                    <a:p>
                      <a:pPr algn="ctr">
                        <a:buNone/>
                      </a:pPr>
                      <a:r>
                        <a:rPr lang="ja-JP" altLang="en-US" sz="1100" b="1" dirty="0">
                          <a:solidFill>
                            <a:srgbClr val="7F7F7F"/>
                          </a:solidFill>
                          <a:latin typeface="メイリオ" panose="020B0604030504040204" pitchFamily="50" charset="-128"/>
                          <a:ea typeface="メイリオ" panose="020B0604030504040204" pitchFamily="50" charset="-128"/>
                        </a:rPr>
                        <a:t>Appendix</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l">
                        <a:buNone/>
                      </a:pPr>
                      <a:r>
                        <a:rPr lang="ja-JP" altLang="en-US" sz="1100" b="0" dirty="0">
                          <a:solidFill>
                            <a:srgbClr val="7F7F7F"/>
                          </a:solidFill>
                          <a:latin typeface="メイリオ" panose="020B0604030504040204" pitchFamily="50" charset="-128"/>
                          <a:ea typeface="メイリオ" panose="020B0604030504040204" pitchFamily="50" charset="-128"/>
                        </a:rPr>
                        <a:t>LINE公式アカウントのメリット／中長期の施策／スポットでのご依頼</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現状と打ち手：広告改善とSEOで、質の高い流入を確保する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青森店の来場</a:t>
            </a:r>
            <a:r>
              <a:rPr lang="ja-JP" altLang="en-US" sz="1400" b="1" u="none" strike="noStrike" dirty="0">
                <a:effectLst/>
                <a:uFillTx/>
                <a:latin typeface="メイリオ" panose="020B0604030504040204" pitchFamily="50" charset="-128"/>
                <a:ea typeface="メイリオ" panose="020B0604030504040204" pitchFamily="50" charset="-128"/>
              </a:rPr>
              <a:t>が</a:t>
            </a:r>
            <a:r>
              <a:rPr lang="ja-JP" sz="1400" b="1" u="none" strike="noStrike" dirty="0">
                <a:effectLst/>
                <a:uFillTx/>
                <a:latin typeface="メイリオ" panose="020B0604030504040204" pitchFamily="50" charset="-128"/>
                <a:ea typeface="メイリオ" panose="020B0604030504040204" pitchFamily="50" charset="-128"/>
              </a:rPr>
              <a:t>目標に届いていない。集客フェーズは、広告の改善と地域特化のSEOで立て直す</a:t>
            </a:r>
            <a:endParaRPr lang="en-US" altLang="ja-JP" sz="1400" b="1" u="none" strike="noStrike" dirty="0">
              <a:effectLst/>
              <a:uFillTx/>
              <a:latin typeface="メイリオ" panose="020B0604030504040204" pitchFamily="50" charset="-128"/>
              <a:ea typeface="メイリオ" panose="020B0604030504040204" pitchFamily="50" charset="-128"/>
            </a:endParaRPr>
          </a:p>
          <a:p>
            <a:pPr algn="ctr" defTabSz="914400">
              <a:lnSpc>
                <a:spcPct val="100000"/>
              </a:lnSpc>
            </a:pPr>
            <a:r>
              <a:rPr lang="ja-JP" altLang="en-US" sz="1400" b="1" dirty="0">
                <a:latin typeface="メイリオ" panose="020B0604030504040204" pitchFamily="50" charset="-128"/>
                <a:ea typeface="メイリオ" panose="020B0604030504040204" pitchFamily="50" charset="-128"/>
              </a:rPr>
              <a:t>⇒見込み客は</a:t>
            </a:r>
            <a:r>
              <a:rPr lang="en-US" altLang="ja-JP" sz="1400" b="1" dirty="0">
                <a:latin typeface="メイリオ" panose="020B0604030504040204" pitchFamily="50" charset="-128"/>
                <a:ea typeface="メイリオ" panose="020B0604030504040204" pitchFamily="50" charset="-128"/>
              </a:rPr>
              <a:t>LINE</a:t>
            </a:r>
            <a:r>
              <a:rPr lang="ja-JP" altLang="en-US" sz="1400" b="1" dirty="0">
                <a:latin typeface="メイリオ" panose="020B0604030504040204" pitchFamily="50" charset="-128"/>
                <a:ea typeface="メイリオ" panose="020B0604030504040204" pitchFamily="50" charset="-128"/>
              </a:rPr>
              <a:t>でナーチャリングする</a:t>
            </a:r>
            <a:endParaRPr lang="en-US" sz="1400" b="1" u="none" strike="noStrike" dirty="0">
              <a:effectLst/>
              <a:uFillTx/>
              <a:latin typeface="メイリオ"/>
            </a:endParaRPr>
          </a:p>
        </p:txBody>
      </p:sp>
      <p:sp>
        <p:nvSpPr>
          <p:cNvPr id="7" name="見出し 青森店の現在地"/>
          <p:cNvSpPr/>
          <p:nvPr/>
        </p:nvSpPr>
        <p:spPr>
          <a:xfrm>
            <a:off x="435836" y="1857894"/>
            <a:ext cx="434340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青森店の現在地</a:t>
            </a:r>
            <a:endParaRPr lang="ja-JP" altLang="en-US" sz="1200" dirty="0"/>
          </a:p>
        </p:txBody>
      </p:sp>
      <p:sp>
        <p:nvSpPr>
          <p:cNvPr id="9" name="見出し 集客フェーズの打ち手"/>
          <p:cNvSpPr/>
          <p:nvPr/>
        </p:nvSpPr>
        <p:spPr>
          <a:xfrm>
            <a:off x="5007836" y="1857894"/>
            <a:ext cx="432511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集客フェーズの打ち手</a:t>
            </a:r>
            <a:endParaRPr lang="ja-JP" altLang="en-US" sz="1200" dirty="0"/>
          </a:p>
        </p:txBody>
      </p:sp>
      <p:sp>
        <p:nvSpPr>
          <p:cNvPr id="10" name="打ち手1"/>
          <p:cNvSpPr/>
          <p:nvPr/>
        </p:nvSpPr>
        <p:spPr>
          <a:xfrm>
            <a:off x="5007836" y="2269374"/>
            <a:ext cx="4325112" cy="960120"/>
          </a:xfrm>
          <a:prstGeom prst="rect">
            <a:avLst/>
          </a:prstGeom>
          <a:noFill/>
          <a:ln w="9525">
            <a:solidFill>
              <a:srgbClr val="1F285A"/>
            </a:solidFill>
          </a:ln>
        </p:spPr>
        <p:txBody>
          <a:bodyPr wrap="square" lIns="137160" tIns="54864" rIns="109728" bIns="54864" rtlCol="0" anchor="ctr">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広告の改善</a:t>
            </a:r>
            <a:endParaRPr lang="ja-JP" altLang="en-US" sz="1200" dirty="0"/>
          </a:p>
          <a:p>
            <a:pPr algn="l">
              <a:lnSpc>
                <a:spcPct val="120000"/>
              </a:lnSpc>
              <a:buNone/>
            </a:pPr>
            <a:r>
              <a:rPr lang="ja-JP" altLang="en-US" sz="1050" b="0" dirty="0">
                <a:solidFill>
                  <a:srgbClr val="333333"/>
                </a:solidFill>
                <a:latin typeface="メイリオ" panose="020B0604030504040204" pitchFamily="50" charset="-128"/>
                <a:ea typeface="メイリオ" panose="020B0604030504040204" pitchFamily="50" charset="-128"/>
              </a:rPr>
              <a:t>青森店の媒体配分とクリエイティブを見直し、来場予約のCPAを下げる（別紙：集客改善シミュレーション）</a:t>
            </a:r>
            <a:endParaRPr lang="ja-JP" altLang="en-US" sz="1200" dirty="0"/>
          </a:p>
        </p:txBody>
      </p:sp>
      <p:sp>
        <p:nvSpPr>
          <p:cNvPr id="11" name="打ち手2"/>
          <p:cNvSpPr/>
          <p:nvPr/>
        </p:nvSpPr>
        <p:spPr>
          <a:xfrm>
            <a:off x="5007836" y="3320934"/>
            <a:ext cx="4325112" cy="960120"/>
          </a:xfrm>
          <a:prstGeom prst="rect">
            <a:avLst/>
          </a:prstGeom>
          <a:noFill/>
          <a:ln w="9525">
            <a:solidFill>
              <a:srgbClr val="1F285A"/>
            </a:solidFill>
          </a:ln>
        </p:spPr>
        <p:txBody>
          <a:bodyPr wrap="square" lIns="137160" tIns="54864" rIns="109728" bIns="54864" rtlCol="0" anchor="ctr">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地域特化のSEO</a:t>
            </a:r>
            <a:endParaRPr lang="ja-JP" altLang="en-US" sz="1200" dirty="0"/>
          </a:p>
          <a:p>
            <a:pPr algn="l">
              <a:lnSpc>
                <a:spcPct val="120000"/>
              </a:lnSpc>
              <a:buNone/>
            </a:pPr>
            <a:r>
              <a:rPr lang="ja-JP" altLang="en-US" sz="1050" b="0" dirty="0">
                <a:solidFill>
                  <a:srgbClr val="333333"/>
                </a:solidFill>
                <a:latin typeface="メイリオ" panose="020B0604030504040204" pitchFamily="50" charset="-128"/>
                <a:ea typeface="メイリオ" panose="020B0604030504040204" pitchFamily="50" charset="-128"/>
              </a:rPr>
              <a:t>青森・八戸・弘前の地域キーワードと、AI検索への対応で、家づくりを具体的に検討している方の流入を増やす</a:t>
            </a:r>
            <a:endParaRPr lang="ja-JP" altLang="en-US" sz="1200" dirty="0"/>
          </a:p>
        </p:txBody>
      </p:sp>
      <p:sp>
        <p:nvSpPr>
          <p:cNvPr id="12" name="矢印下"/>
          <p:cNvSpPr/>
          <p:nvPr/>
        </p:nvSpPr>
        <p:spPr>
          <a:xfrm>
            <a:off x="6987512" y="4299341"/>
            <a:ext cx="365760" cy="256032"/>
          </a:xfrm>
          <a:prstGeom prst="rect">
            <a:avLst/>
          </a:prstGeom>
          <a:noFill/>
          <a:ln>
            <a:noFill/>
          </a:ln>
        </p:spPr>
        <p:txBody>
          <a:bodyPr wrap="square" lIns="0" tIns="0" rIns="0" bIns="0" rtlCol="0" anchor="ctr">
            <a:noAutofit/>
          </a:bodyPr>
          <a:lstStyle/>
          <a:p>
            <a:pPr algn="ctr">
              <a:buNone/>
            </a:pPr>
            <a:r>
              <a:rPr lang="ja-JP" altLang="en-US" sz="12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3" name="結果"/>
          <p:cNvSpPr/>
          <p:nvPr/>
        </p:nvSpPr>
        <p:spPr>
          <a:xfrm>
            <a:off x="5007836" y="4573662"/>
            <a:ext cx="4325112" cy="566928"/>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質が高く、熱量の高い見込み客の流入が増える</a:t>
            </a:r>
            <a:endParaRPr lang="ja-JP" altLang="en-US" sz="1200" dirty="0"/>
          </a:p>
        </p:txBody>
      </p:sp>
      <p:graphicFrame>
        <p:nvGraphicFramePr>
          <p:cNvPr id="15" name="現在地 14"/>
          <p:cNvGraphicFramePr>
            <a:graphicFrameLocks noGrp="1"/>
          </p:cNvGraphicFramePr>
          <p:nvPr>
            <p:extLst>
              <p:ext uri="{D42A27DB-BD31-4B8C-83A1-F6EECF244321}">
                <p14:modId xmlns:p14="http://schemas.microsoft.com/office/powerpoint/2010/main" val="1788489286"/>
              </p:ext>
            </p:extLst>
          </p:nvPr>
        </p:nvGraphicFramePr>
        <p:xfrm>
          <a:off x="435836" y="2269374"/>
          <a:ext cx="4343400" cy="2852925"/>
        </p:xfrm>
        <a:graphic>
          <a:graphicData uri="http://schemas.openxmlformats.org/drawingml/2006/table">
            <a:tbl>
              <a:tblPr/>
              <a:tblGrid>
                <a:gridCol w="14173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来場予約</a:t>
                      </a:r>
                      <a:br>
                        <a:rPr lang="ja-JP" altLang="en-US" sz="1100" b="1" dirty="0">
                          <a:solidFill>
                            <a:srgbClr val="1F285A"/>
                          </a:solidFill>
                          <a:latin typeface="メイリオ" panose="020B0604030504040204" pitchFamily="50" charset="-128"/>
                          <a:ea typeface="メイリオ" panose="020B0604030504040204" pitchFamily="50" charset="-128"/>
                        </a:rPr>
                      </a:br>
                      <a:r>
                        <a:rPr lang="ja-JP" altLang="en-US" sz="1100" b="1" dirty="0">
                          <a:solidFill>
                            <a:srgbClr val="1F285A"/>
                          </a:solidFill>
                          <a:latin typeface="メイリオ" panose="020B0604030504040204" pitchFamily="50" charset="-128"/>
                          <a:ea typeface="メイリオ" panose="020B0604030504040204" pitchFamily="50" charset="-128"/>
                        </a:rPr>
                        <a:t>（4展示場）</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目標 月50〜60件に対し、現状 月35〜40件</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来場予約のCPA</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Web広告で約30,000円</a:t>
                      </a:r>
                      <a:br>
                        <a:rPr lang="ja-JP" altLang="en-US" sz="1050" b="0" dirty="0">
                          <a:solidFill>
                            <a:srgbClr val="333333"/>
                          </a:solidFill>
                          <a:latin typeface="メイリオ" panose="020B0604030504040204" pitchFamily="50" charset="-128"/>
                          <a:ea typeface="メイリオ" panose="020B0604030504040204" pitchFamily="50" charset="-128"/>
                        </a:rPr>
                      </a:br>
                      <a:r>
                        <a:rPr lang="ja-JP" altLang="en-US" sz="1050" b="0" dirty="0">
                          <a:solidFill>
                            <a:srgbClr val="333333"/>
                          </a:solidFill>
                          <a:latin typeface="メイリオ" panose="020B0604030504040204" pitchFamily="50" charset="-128"/>
                          <a:ea typeface="メイリオ" panose="020B0604030504040204" pitchFamily="50" charset="-128"/>
                        </a:rPr>
                        <a:t>（ポータル・特典費を含めると注文住宅 </a:t>
                      </a:r>
                      <a:endParaRPr lang="en-US" altLang="ja-JP" sz="10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050" b="0" dirty="0">
                          <a:solidFill>
                            <a:srgbClr val="333333"/>
                          </a:solidFill>
                          <a:latin typeface="メイリオ" panose="020B0604030504040204" pitchFamily="50" charset="-128"/>
                          <a:ea typeface="メイリオ" panose="020B0604030504040204" pitchFamily="50" charset="-128"/>
                        </a:rPr>
                        <a:t>約50,000円）</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青森店</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予約のキャンセルが2〜3割</a:t>
                      </a:r>
                      <a:br>
                        <a:rPr lang="ja-JP" altLang="en-US" sz="1100" b="0" dirty="0">
                          <a:solidFill>
                            <a:srgbClr val="333333"/>
                          </a:solidFill>
                          <a:latin typeface="メイリオ" panose="020B0604030504040204" pitchFamily="50" charset="-128"/>
                          <a:ea typeface="メイリオ" panose="020B0604030504040204" pitchFamily="50" charset="-128"/>
                        </a:rPr>
                      </a:br>
                      <a:r>
                        <a:rPr lang="ja-JP" altLang="en-US" sz="1100" b="0" dirty="0">
                          <a:solidFill>
                            <a:srgbClr val="333333"/>
                          </a:solidFill>
                          <a:latin typeface="メイリオ" panose="020B0604030504040204" pitchFamily="50" charset="-128"/>
                          <a:ea typeface="メイリオ" panose="020B0604030504040204" pitchFamily="50" charset="-128"/>
                        </a:rPr>
                        <a:t>八戸・おいらせより認知が浅い</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自社サイトの</a:t>
                      </a:r>
                      <a:br>
                        <a:rPr lang="ja-JP" altLang="en-US" sz="1100" b="1" dirty="0">
                          <a:solidFill>
                            <a:srgbClr val="1F285A"/>
                          </a:solidFill>
                          <a:latin typeface="メイリオ" panose="020B0604030504040204" pitchFamily="50" charset="-128"/>
                          <a:ea typeface="メイリオ" panose="020B0604030504040204" pitchFamily="50" charset="-128"/>
                        </a:rPr>
                      </a:br>
                      <a:r>
                        <a:rPr lang="ja-JP" altLang="en-US" sz="1100" b="1" dirty="0">
                          <a:solidFill>
                            <a:srgbClr val="1F285A"/>
                          </a:solidFill>
                          <a:latin typeface="メイリオ" panose="020B0604030504040204" pitchFamily="50" charset="-128"/>
                          <a:ea typeface="メイリオ" panose="020B0604030504040204" pitchFamily="50" charset="-128"/>
                        </a:rPr>
                        <a:t>資料請求</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月一桁</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検索広告のCPA</a:t>
                      </a:r>
                      <a:br>
                        <a:rPr lang="ja-JP" altLang="en-US" sz="1100" b="1" dirty="0">
                          <a:solidFill>
                            <a:srgbClr val="1F285A"/>
                          </a:solidFill>
                          <a:latin typeface="メイリオ" panose="020B0604030504040204" pitchFamily="50" charset="-128"/>
                          <a:ea typeface="メイリオ" panose="020B0604030504040204" pitchFamily="50" charset="-128"/>
                        </a:rPr>
                      </a:br>
                      <a:r>
                        <a:rPr lang="ja-JP" altLang="en-US" sz="1100" b="1" dirty="0">
                          <a:solidFill>
                            <a:srgbClr val="1F285A"/>
                          </a:solidFill>
                          <a:latin typeface="メイリオ" panose="020B0604030504040204" pitchFamily="50" charset="-128"/>
                          <a:ea typeface="メイリオ" panose="020B0604030504040204" pitchFamily="50" charset="-128"/>
                        </a:rPr>
                        <a:t>（9月）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14,796円 → 47,500円（前年同月比）</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LINE公式アカウントの現状：来場を決めた方へのご案内は整っている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実写真の配信と来場特典のご案内で、来場予約までの流れができている</a:t>
            </a:r>
            <a:endParaRPr lang="en-US" sz="1400" b="1" u="none" strike="noStrike" dirty="0">
              <a:effectLst/>
              <a:uFillTx/>
              <a:latin typeface="メイリオ"/>
            </a:endParaRPr>
          </a:p>
        </p:txBody>
      </p:sp>
      <p:graphicFrame>
        <p:nvGraphicFramePr>
          <p:cNvPr id="7" name="LINEの現状 6"/>
          <p:cNvGraphicFramePr>
            <a:graphicFrameLocks noGrp="1"/>
          </p:cNvGraphicFramePr>
          <p:nvPr>
            <p:extLst>
              <p:ext uri="{D42A27DB-BD31-4B8C-83A1-F6EECF244321}">
                <p14:modId xmlns:p14="http://schemas.microsoft.com/office/powerpoint/2010/main" val="2642181131"/>
              </p:ext>
            </p:extLst>
          </p:nvPr>
        </p:nvGraphicFramePr>
        <p:xfrm>
          <a:off x="502920" y="1691640"/>
          <a:ext cx="5532120" cy="3246119"/>
        </p:xfrm>
        <a:graphic>
          <a:graphicData uri="http://schemas.openxmlformats.org/drawingml/2006/table">
            <a:tbl>
              <a:tblPr/>
              <a:tblGrid>
                <a:gridCol w="137160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tblGrid>
              <a:tr h="510396">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友だち数</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417人</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96218">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友だちの入口</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サイトのポップアップ「LINEお友だち登録キャンペーン」</a:t>
                      </a:r>
                      <a:endParaRPr lang="ja-JP" altLang="en-US" sz="1100" dirty="0"/>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来場特典 最大7,000円分（予約来場 5,000円分＋友だち登録 2,000円分）</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96218">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配信</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見学会・来場予約のご案内が中心</a:t>
                      </a:r>
                      <a:endParaRPr lang="ja-JP" altLang="en-US" sz="1100" dirty="0"/>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実写真の画像とカルーセルで、見学会の中身が伝わる作り</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10396">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リッチメニュー</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予約／ホームページ／公式SNS</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32891">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1:1チャット</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担当者が返信する設定。個別のご相談を受けられる</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pic>
        <p:nvPicPr>
          <p:cNvPr id="8" name="LINEの配信" descr="tanaka_line_talk.png"/>
          <p:cNvPicPr>
            <a:picLocks noChangeAspect="1"/>
          </p:cNvPicPr>
          <p:nvPr/>
        </p:nvPicPr>
        <p:blipFill>
          <a:blip r:embed="rId2"/>
          <a:stretch>
            <a:fillRect/>
          </a:stretch>
        </p:blipFill>
        <p:spPr>
          <a:xfrm>
            <a:off x="6355080" y="1691640"/>
            <a:ext cx="1371600" cy="2971800"/>
          </a:xfrm>
          <a:prstGeom prst="rect">
            <a:avLst/>
          </a:prstGeom>
        </p:spPr>
      </p:pic>
      <p:sp>
        <p:nvSpPr>
          <p:cNvPr id="9" name="画像の説明"/>
          <p:cNvSpPr/>
          <p:nvPr/>
        </p:nvSpPr>
        <p:spPr>
          <a:xfrm>
            <a:off x="6172200" y="4709160"/>
            <a:ext cx="1737360"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LINEの配信</a:t>
            </a:r>
            <a:endParaRPr lang="ja-JP" altLang="en-US" sz="1200" dirty="0"/>
          </a:p>
        </p:txBody>
      </p:sp>
      <p:pic>
        <p:nvPicPr>
          <p:cNvPr id="10" name="サイトのポップアップ" descr="tanaka_line_popup.png"/>
          <p:cNvPicPr>
            <a:picLocks noChangeAspect="1"/>
          </p:cNvPicPr>
          <p:nvPr/>
        </p:nvPicPr>
        <p:blipFill>
          <a:blip r:embed="rId3"/>
          <a:stretch>
            <a:fillRect/>
          </a:stretch>
        </p:blipFill>
        <p:spPr>
          <a:xfrm>
            <a:off x="7909560" y="1691640"/>
            <a:ext cx="1490472" cy="1545336"/>
          </a:xfrm>
          <a:prstGeom prst="rect">
            <a:avLst/>
          </a:prstGeom>
        </p:spPr>
      </p:pic>
      <p:sp>
        <p:nvSpPr>
          <p:cNvPr id="11" name="画像の説明"/>
          <p:cNvSpPr/>
          <p:nvPr/>
        </p:nvSpPr>
        <p:spPr>
          <a:xfrm>
            <a:off x="7818120" y="3291840"/>
            <a:ext cx="1673352"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サイトのポップアップ</a:t>
            </a:r>
            <a:endParaRPr lang="ja-JP" altLang="en-US" sz="1200" dirty="0"/>
          </a:p>
        </p:txBody>
      </p:sp>
      <p:sp>
        <p:nvSpPr>
          <p:cNvPr id="12"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※2026年10月時点で、貴社のLINE公式アカウントとサイトを弊社で確認</a:t>
            </a:r>
            <a:endParaRPr lang="ja-JP" alt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課題：来場を決める前の検討中の方と、LINEでつながれていない</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サイトに来た方の多くは、来場予約も資料請求もせずに離れている</a:t>
            </a:r>
            <a:endParaRPr lang="en-US" sz="1400" b="1" u="none" strike="noStrike" dirty="0">
              <a:effectLst/>
              <a:uFillTx/>
              <a:latin typeface="メイリオ"/>
            </a:endParaRPr>
          </a:p>
        </p:txBody>
      </p:sp>
      <p:sp>
        <p:nvSpPr>
          <p:cNvPr id="7" name="流れ1"/>
          <p:cNvSpPr/>
          <p:nvPr/>
        </p:nvSpPr>
        <p:spPr>
          <a:xfrm>
            <a:off x="50292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流入</a:t>
            </a:r>
            <a:endParaRPr lang="ja-JP" altLang="en-US" sz="1200" dirty="0"/>
          </a:p>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広告・SEO・ポータル</a:t>
            </a:r>
            <a:endParaRPr lang="ja-JP" altLang="en-US" sz="1200" dirty="0"/>
          </a:p>
        </p:txBody>
      </p:sp>
      <p:sp>
        <p:nvSpPr>
          <p:cNvPr id="8" name="矢印"/>
          <p:cNvSpPr/>
          <p:nvPr/>
        </p:nvSpPr>
        <p:spPr>
          <a:xfrm>
            <a:off x="2507741"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9" name="流れ2"/>
          <p:cNvSpPr/>
          <p:nvPr/>
        </p:nvSpPr>
        <p:spPr>
          <a:xfrm>
            <a:off x="280035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資料請求</a:t>
            </a:r>
            <a:endParaRPr lang="ja-JP" altLang="en-US" sz="1200" dirty="0"/>
          </a:p>
        </p:txBody>
      </p:sp>
      <p:sp>
        <p:nvSpPr>
          <p:cNvPr id="10" name="矢印"/>
          <p:cNvSpPr/>
          <p:nvPr/>
        </p:nvSpPr>
        <p:spPr>
          <a:xfrm>
            <a:off x="4805172"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1" name="流れ3"/>
          <p:cNvSpPr/>
          <p:nvPr/>
        </p:nvSpPr>
        <p:spPr>
          <a:xfrm>
            <a:off x="5097779"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来場予約・来場</a:t>
            </a:r>
            <a:endParaRPr lang="ja-JP" altLang="en-US" sz="1200" dirty="0"/>
          </a:p>
        </p:txBody>
      </p:sp>
      <p:sp>
        <p:nvSpPr>
          <p:cNvPr id="12" name="矢印"/>
          <p:cNvSpPr/>
          <p:nvPr/>
        </p:nvSpPr>
        <p:spPr>
          <a:xfrm>
            <a:off x="7102601"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3" name="流れ4"/>
          <p:cNvSpPr/>
          <p:nvPr/>
        </p:nvSpPr>
        <p:spPr>
          <a:xfrm>
            <a:off x="739521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商談・契約</a:t>
            </a:r>
            <a:endParaRPr lang="ja-JP" altLang="en-US" sz="1200" dirty="0"/>
          </a:p>
        </p:txBody>
      </p:sp>
      <p:sp>
        <p:nvSpPr>
          <p:cNvPr id="14" name="状態1"/>
          <p:cNvSpPr/>
          <p:nvPr/>
        </p:nvSpPr>
        <p:spPr>
          <a:xfrm>
            <a:off x="50292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検討の動き</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来場を決めるまでの間、複数の会社を比べ、費用や性能を調べ続ける</a:t>
            </a:r>
            <a:endParaRPr lang="ja-JP" altLang="en-US" sz="1400" dirty="0"/>
          </a:p>
        </p:txBody>
      </p:sp>
      <p:sp>
        <p:nvSpPr>
          <p:cNvPr id="15" name="状態2"/>
          <p:cNvSpPr/>
          <p:nvPr/>
        </p:nvSpPr>
        <p:spPr>
          <a:xfrm>
            <a:off x="280035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資料請求の後</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今の友だち登録のご案内は来場特典とセット。来場を決める前の方には、友だちになる理由がない</a:t>
            </a:r>
            <a:endParaRPr lang="ja-JP" altLang="en-US" sz="1400" dirty="0"/>
          </a:p>
        </p:txBody>
      </p:sp>
      <p:sp>
        <p:nvSpPr>
          <p:cNvPr id="16" name="状態3"/>
          <p:cNvSpPr/>
          <p:nvPr/>
        </p:nvSpPr>
        <p:spPr>
          <a:xfrm>
            <a:off x="5097779"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来場予約の後</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LINEで見学会・来場予約をご案内できている</a:t>
            </a:r>
            <a:endParaRPr lang="ja-JP" altLang="en-US" sz="1400" dirty="0"/>
          </a:p>
        </p:txBody>
      </p:sp>
      <p:sp>
        <p:nvSpPr>
          <p:cNvPr id="17" name="状態4"/>
          <p:cNvSpPr/>
          <p:nvPr/>
        </p:nvSpPr>
        <p:spPr>
          <a:xfrm>
            <a:off x="739521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来場の後</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競合（一条工務店・大進建設）と比べながら、契約まで検討が続く</a:t>
            </a:r>
            <a:endParaRPr lang="ja-JP" altLang="en-US" sz="1400" dirty="0"/>
          </a:p>
        </p:txBody>
      </p:sp>
      <p:sp>
        <p:nvSpPr>
          <p:cNvPr id="18" name="範囲 これから"/>
          <p:cNvSpPr/>
          <p:nvPr/>
        </p:nvSpPr>
        <p:spPr>
          <a:xfrm>
            <a:off x="502920" y="4069080"/>
            <a:ext cx="4302252" cy="548640"/>
          </a:xfrm>
          <a:prstGeom prst="rect">
            <a:avLst/>
          </a:prstGeom>
          <a:solidFill>
            <a:srgbClr val="F4F7FF"/>
          </a:solidFill>
          <a:ln w="9525">
            <a:solidFill>
              <a:srgbClr val="1F285A"/>
            </a:solidFill>
            <a:prstDash val="dash"/>
          </a:ln>
        </p:spPr>
        <p:txBody>
          <a:bodyPr wrap="square" lIns="73152" tIns="36576" rIns="73152" bIns="36576" rtlCol="0" anchor="ctr">
            <a:noAutofit/>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来場を決める前：LINEでつながる入口がまだない</a:t>
            </a:r>
            <a:endParaRPr lang="ja-JP" altLang="en-US" sz="1400" dirty="0"/>
          </a:p>
        </p:txBody>
      </p:sp>
      <p:sp>
        <p:nvSpPr>
          <p:cNvPr id="19" name="範囲 今"/>
          <p:cNvSpPr/>
          <p:nvPr/>
        </p:nvSpPr>
        <p:spPr>
          <a:xfrm>
            <a:off x="5097780" y="4069080"/>
            <a:ext cx="4302252" cy="54864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来場を決めた後：今のLINEがご案内している範囲</a:t>
            </a:r>
            <a:endParaRPr lang="ja-JP" altLang="en-US" sz="1400" dirty="0"/>
          </a:p>
        </p:txBody>
      </p:sp>
      <p:sp>
        <p:nvSpPr>
          <p:cNvPr id="20" name="示唆"/>
          <p:cNvSpPr/>
          <p:nvPr/>
        </p:nvSpPr>
        <p:spPr>
          <a:xfrm>
            <a:off x="502920" y="50749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課題は配信の中身ではなく、</a:t>
            </a:r>
            <a:r>
              <a:rPr lang="ja-JP" altLang="en-US" sz="1400" b="1" dirty="0">
                <a:solidFill>
                  <a:srgbClr val="C00000"/>
                </a:solidFill>
                <a:latin typeface="メイリオ" panose="020B0604030504040204" pitchFamily="50" charset="-128"/>
                <a:ea typeface="メイリオ" panose="020B0604030504040204" pitchFamily="50" charset="-128"/>
              </a:rPr>
              <a:t>LINEでつながっている範囲にある</a:t>
            </a:r>
            <a:endParaRPr lang="ja-JP" altLang="en-US" sz="1400" dirty="0"/>
          </a:p>
        </p:txBody>
      </p:sp>
      <p:sp>
        <p:nvSpPr>
          <p:cNvPr id="21"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※検討者の動きは、LINEヤフー社の前後検索データより</a:t>
            </a:r>
            <a:endParaRPr lang="ja-JP" alt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前後検索「注文住宅」：当日に大手を比べ、その後は住宅ローン・性能を調べる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検討期間の約2週間の接点が、来場を左右する</a:t>
            </a:r>
            <a:endParaRPr lang="en-US" sz="1400" b="1" u="none" strike="noStrike" dirty="0">
              <a:effectLst/>
              <a:uFillTx/>
              <a:latin typeface="メイリオ"/>
            </a:endParaRPr>
          </a:p>
        </p:txBody>
      </p:sp>
      <p:pic>
        <p:nvPicPr>
          <p:cNvPr id="7" name="前後検索 注文住宅（色分け）" descr="tanaka_zengo_chumon_color.png"/>
          <p:cNvPicPr>
            <a:picLocks noChangeAspect="1"/>
          </p:cNvPicPr>
          <p:nvPr/>
        </p:nvPicPr>
        <p:blipFill>
          <a:blip r:embed="rId3"/>
          <a:stretch>
            <a:fillRect/>
          </a:stretch>
        </p:blipFill>
        <p:spPr>
          <a:xfrm>
            <a:off x="502920" y="1600200"/>
            <a:ext cx="6309360" cy="3681511"/>
          </a:xfrm>
          <a:prstGeom prst="rect">
            <a:avLst/>
          </a:prstGeom>
        </p:spPr>
      </p:pic>
      <p:sp>
        <p:nvSpPr>
          <p:cNvPr id="8" name="凡例の色"/>
          <p:cNvSpPr/>
          <p:nvPr/>
        </p:nvSpPr>
        <p:spPr>
          <a:xfrm>
            <a:off x="6995160" y="1655064"/>
            <a:ext cx="137160" cy="137160"/>
          </a:xfrm>
          <a:prstGeom prst="rect">
            <a:avLst/>
          </a:prstGeom>
          <a:solidFill>
            <a:srgbClr val="3467B2"/>
          </a:solidFill>
          <a:ln>
            <a:noFill/>
          </a:ln>
        </p:spPr>
        <p:txBody>
          <a:bodyPr wrap="square" lIns="0" tIns="0" rIns="0" bIns="0" rtlCol="0" anchor="ctr">
            <a:noAutofit/>
          </a:bodyPr>
          <a:lstStyle/>
          <a:p>
            <a:pPr algn="l">
              <a:buNone/>
            </a:pPr>
            <a:endParaRPr lang="ja-JP" altLang="en-US" sz="1200" dirty="0"/>
          </a:p>
        </p:txBody>
      </p:sp>
      <p:sp>
        <p:nvSpPr>
          <p:cNvPr id="9" name="凡例"/>
          <p:cNvSpPr/>
          <p:nvPr/>
        </p:nvSpPr>
        <p:spPr>
          <a:xfrm>
            <a:off x="7178040" y="1600200"/>
            <a:ext cx="2221991" cy="246888"/>
          </a:xfrm>
          <a:prstGeom prst="rect">
            <a:avLst/>
          </a:prstGeom>
          <a:noFill/>
          <a:ln>
            <a:noFill/>
          </a:ln>
        </p:spPr>
        <p:txBody>
          <a:bodyPr wrap="square" lIns="0" tIns="0" rIns="0" bIns="0" rtlCol="0" anchor="ctr">
            <a:noAutofit/>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住宅会社を比べる</a:t>
            </a:r>
            <a:endParaRPr lang="ja-JP" altLang="en-US" sz="1200" dirty="0"/>
          </a:p>
        </p:txBody>
      </p:sp>
      <p:sp>
        <p:nvSpPr>
          <p:cNvPr id="10" name="凡例の色"/>
          <p:cNvSpPr/>
          <p:nvPr/>
        </p:nvSpPr>
        <p:spPr>
          <a:xfrm>
            <a:off x="6995160" y="1901952"/>
            <a:ext cx="137160" cy="137160"/>
          </a:xfrm>
          <a:prstGeom prst="rect">
            <a:avLst/>
          </a:prstGeom>
          <a:solidFill>
            <a:srgbClr val="D9661F"/>
          </a:solidFill>
          <a:ln>
            <a:noFill/>
          </a:ln>
        </p:spPr>
        <p:txBody>
          <a:bodyPr wrap="square" lIns="0" tIns="0" rIns="0" bIns="0" rtlCol="0" anchor="ctr">
            <a:noAutofit/>
          </a:bodyPr>
          <a:lstStyle/>
          <a:p>
            <a:pPr algn="l">
              <a:buNone/>
            </a:pPr>
            <a:endParaRPr lang="ja-JP" altLang="en-US" sz="1200" dirty="0"/>
          </a:p>
        </p:txBody>
      </p:sp>
      <p:sp>
        <p:nvSpPr>
          <p:cNvPr id="11" name="凡例"/>
          <p:cNvSpPr/>
          <p:nvPr/>
        </p:nvSpPr>
        <p:spPr>
          <a:xfrm>
            <a:off x="7178040" y="1847088"/>
            <a:ext cx="2221991" cy="246888"/>
          </a:xfrm>
          <a:prstGeom prst="rect">
            <a:avLst/>
          </a:prstGeom>
          <a:noFill/>
          <a:ln>
            <a:noFill/>
          </a:ln>
        </p:spPr>
        <p:txBody>
          <a:bodyPr wrap="square" lIns="0" tIns="0" rIns="0" bIns="0" rtlCol="0" anchor="ctr">
            <a:noAutofit/>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費用・住宅ローンを調べる</a:t>
            </a:r>
            <a:endParaRPr lang="ja-JP" altLang="en-US" sz="1200" dirty="0"/>
          </a:p>
        </p:txBody>
      </p:sp>
      <p:sp>
        <p:nvSpPr>
          <p:cNvPr id="12" name="凡例の色"/>
          <p:cNvSpPr/>
          <p:nvPr/>
        </p:nvSpPr>
        <p:spPr>
          <a:xfrm>
            <a:off x="6995160" y="2148840"/>
            <a:ext cx="137160" cy="137160"/>
          </a:xfrm>
          <a:prstGeom prst="rect">
            <a:avLst/>
          </a:prstGeom>
          <a:solidFill>
            <a:srgbClr val="8E4EC6"/>
          </a:solidFill>
          <a:ln>
            <a:noFill/>
          </a:ln>
        </p:spPr>
        <p:txBody>
          <a:bodyPr wrap="square" lIns="0" tIns="0" rIns="0" bIns="0" rtlCol="0" anchor="ctr">
            <a:noAutofit/>
          </a:bodyPr>
          <a:lstStyle/>
          <a:p>
            <a:pPr algn="l">
              <a:buNone/>
            </a:pPr>
            <a:endParaRPr lang="ja-JP" altLang="en-US" sz="1200" dirty="0"/>
          </a:p>
        </p:txBody>
      </p:sp>
      <p:sp>
        <p:nvSpPr>
          <p:cNvPr id="13" name="凡例"/>
          <p:cNvSpPr/>
          <p:nvPr/>
        </p:nvSpPr>
        <p:spPr>
          <a:xfrm>
            <a:off x="7178040" y="2093976"/>
            <a:ext cx="2221991" cy="246888"/>
          </a:xfrm>
          <a:prstGeom prst="rect">
            <a:avLst/>
          </a:prstGeom>
          <a:noFill/>
          <a:ln>
            <a:noFill/>
          </a:ln>
        </p:spPr>
        <p:txBody>
          <a:bodyPr wrap="square" lIns="0" tIns="0" rIns="0" bIns="0" rtlCol="0" anchor="ctr">
            <a:noAutofit/>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間取り・性能を調べる</a:t>
            </a:r>
            <a:endParaRPr lang="ja-JP" altLang="en-US" sz="1200" dirty="0"/>
          </a:p>
        </p:txBody>
      </p:sp>
      <p:sp>
        <p:nvSpPr>
          <p:cNvPr id="14" name="凡例の色"/>
          <p:cNvSpPr/>
          <p:nvPr/>
        </p:nvSpPr>
        <p:spPr>
          <a:xfrm>
            <a:off x="6995160" y="2395728"/>
            <a:ext cx="137160" cy="137160"/>
          </a:xfrm>
          <a:prstGeom prst="rect">
            <a:avLst/>
          </a:prstGeom>
          <a:solidFill>
            <a:srgbClr val="00897B"/>
          </a:solidFill>
          <a:ln>
            <a:noFill/>
          </a:ln>
        </p:spPr>
        <p:txBody>
          <a:bodyPr wrap="square" lIns="0" tIns="0" rIns="0" bIns="0" rtlCol="0" anchor="ctr">
            <a:noAutofit/>
          </a:bodyPr>
          <a:lstStyle/>
          <a:p>
            <a:pPr algn="l">
              <a:buNone/>
            </a:pPr>
            <a:endParaRPr lang="ja-JP" altLang="en-US" sz="1200" dirty="0"/>
          </a:p>
        </p:txBody>
      </p:sp>
      <p:sp>
        <p:nvSpPr>
          <p:cNvPr id="15" name="凡例"/>
          <p:cNvSpPr/>
          <p:nvPr/>
        </p:nvSpPr>
        <p:spPr>
          <a:xfrm>
            <a:off x="7178040" y="2340864"/>
            <a:ext cx="2221991" cy="246888"/>
          </a:xfrm>
          <a:prstGeom prst="rect">
            <a:avLst/>
          </a:prstGeom>
          <a:noFill/>
          <a:ln>
            <a:noFill/>
          </a:ln>
        </p:spPr>
        <p:txBody>
          <a:bodyPr wrap="square" lIns="0" tIns="0" rIns="0" bIns="0" rtlCol="0" anchor="ctr">
            <a:noAutofit/>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土地を調べる</a:t>
            </a:r>
            <a:endParaRPr lang="ja-JP" altLang="en-US" sz="1200" dirty="0"/>
          </a:p>
        </p:txBody>
      </p:sp>
      <p:sp>
        <p:nvSpPr>
          <p:cNvPr id="16" name="分析 当日"/>
          <p:cNvSpPr/>
          <p:nvPr/>
        </p:nvSpPr>
        <p:spPr>
          <a:xfrm>
            <a:off x="6995160" y="2651760"/>
            <a:ext cx="2404872" cy="25603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当日</a:t>
            </a:r>
            <a:endParaRPr lang="ja-JP" altLang="en-US" sz="1200" dirty="0"/>
          </a:p>
        </p:txBody>
      </p:sp>
      <p:sp>
        <p:nvSpPr>
          <p:cNvPr id="17" name="分析 当日 本文"/>
          <p:cNvSpPr/>
          <p:nvPr/>
        </p:nvSpPr>
        <p:spPr>
          <a:xfrm>
            <a:off x="6995160" y="2907791"/>
            <a:ext cx="2404872" cy="640080"/>
          </a:xfrm>
          <a:prstGeom prst="rect">
            <a:avLst/>
          </a:prstGeom>
          <a:noFill/>
          <a:ln w="9525">
            <a:solidFill>
              <a:srgbClr val="D9D9D9"/>
            </a:solidFill>
          </a:ln>
        </p:spPr>
        <p:txBody>
          <a:bodyPr wrap="square" lIns="73152" tIns="45720" rIns="73152" bIns="36576" rtlCol="0" anchor="t">
            <a:noAutofit/>
          </a:bodyPr>
          <a:lstStyle/>
          <a:p>
            <a:pPr algn="l">
              <a:lnSpc>
                <a:spcPct val="112000"/>
              </a:lnSpc>
              <a:buNone/>
            </a:pPr>
            <a:r>
              <a:rPr lang="ja-JP" altLang="en-US" sz="1000" b="1" dirty="0">
                <a:solidFill>
                  <a:srgbClr val="1F285A"/>
                </a:solidFill>
                <a:latin typeface="メイリオ" panose="020B0604030504040204" pitchFamily="50" charset="-128"/>
                <a:ea typeface="メイリオ" panose="020B0604030504040204" pitchFamily="50" charset="-128"/>
              </a:rPr>
              <a:t>住宅会社名が中心</a:t>
            </a:r>
            <a:endParaRPr lang="ja-JP" altLang="en-US" sz="1200" dirty="0"/>
          </a:p>
          <a:p>
            <a:pPr algn="l">
              <a:lnSpc>
                <a:spcPct val="112000"/>
              </a:lnSpc>
              <a:buNone/>
            </a:pPr>
            <a:r>
              <a:rPr lang="ja-JP" altLang="en-US" sz="900" b="0" dirty="0">
                <a:solidFill>
                  <a:srgbClr val="333333"/>
                </a:solidFill>
                <a:latin typeface="メイリオ" panose="020B0604030504040204" pitchFamily="50" charset="-128"/>
                <a:ea typeface="メイリオ" panose="020B0604030504040204" pitchFamily="50" charset="-128"/>
              </a:rPr>
              <a:t>一条工務店・積水ハウス・住友林業など。住宅展示場・土地探しも</a:t>
            </a:r>
            <a:endParaRPr lang="ja-JP" altLang="en-US" sz="1200" dirty="0"/>
          </a:p>
        </p:txBody>
      </p:sp>
      <p:sp>
        <p:nvSpPr>
          <p:cNvPr id="18" name="分析 1〜7日後"/>
          <p:cNvSpPr/>
          <p:nvPr/>
        </p:nvSpPr>
        <p:spPr>
          <a:xfrm>
            <a:off x="6995160" y="3621024"/>
            <a:ext cx="2404872" cy="25603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1〜7日後</a:t>
            </a:r>
            <a:endParaRPr lang="ja-JP" altLang="en-US" sz="1200" dirty="0"/>
          </a:p>
        </p:txBody>
      </p:sp>
      <p:sp>
        <p:nvSpPr>
          <p:cNvPr id="19" name="分析 1〜7日後 本文"/>
          <p:cNvSpPr/>
          <p:nvPr/>
        </p:nvSpPr>
        <p:spPr>
          <a:xfrm>
            <a:off x="6995160" y="3877056"/>
            <a:ext cx="2404872" cy="640080"/>
          </a:xfrm>
          <a:prstGeom prst="rect">
            <a:avLst/>
          </a:prstGeom>
          <a:noFill/>
          <a:ln w="9525">
            <a:solidFill>
              <a:srgbClr val="D9D9D9"/>
            </a:solidFill>
          </a:ln>
        </p:spPr>
        <p:txBody>
          <a:bodyPr wrap="square" lIns="73152" tIns="45720" rIns="73152" bIns="36576" rtlCol="0" anchor="t">
            <a:noAutofit/>
          </a:bodyPr>
          <a:lstStyle/>
          <a:p>
            <a:pPr algn="l">
              <a:lnSpc>
                <a:spcPct val="112000"/>
              </a:lnSpc>
              <a:buNone/>
            </a:pPr>
            <a:r>
              <a:rPr lang="ja-JP" altLang="en-US" sz="1000" b="1" dirty="0">
                <a:solidFill>
                  <a:srgbClr val="1F285A"/>
                </a:solidFill>
                <a:latin typeface="メイリオ" panose="020B0604030504040204" pitchFamily="50" charset="-128"/>
                <a:ea typeface="メイリオ" panose="020B0604030504040204" pitchFamily="50" charset="-128"/>
              </a:rPr>
              <a:t>住宅ローンと坪単価が増える</a:t>
            </a:r>
            <a:endParaRPr lang="ja-JP" altLang="en-US" sz="1200" dirty="0"/>
          </a:p>
          <a:p>
            <a:pPr algn="l">
              <a:lnSpc>
                <a:spcPct val="112000"/>
              </a:lnSpc>
              <a:buNone/>
            </a:pPr>
            <a:r>
              <a:rPr lang="ja-JP" altLang="en-US" sz="900" b="0" dirty="0">
                <a:solidFill>
                  <a:srgbClr val="333333"/>
                </a:solidFill>
                <a:latin typeface="メイリオ" panose="020B0604030504040204" pitchFamily="50" charset="-128"/>
                <a:ea typeface="メイリオ" panose="020B0604030504040204" pitchFamily="50" charset="-128"/>
              </a:rPr>
              <a:t>シミュレーション・審査・控除、坪単価。比べる会社はさらに広がる</a:t>
            </a:r>
            <a:endParaRPr lang="ja-JP" altLang="en-US" sz="1200" dirty="0"/>
          </a:p>
        </p:txBody>
      </p:sp>
      <p:sp>
        <p:nvSpPr>
          <p:cNvPr id="20" name="分析 7〜15日後"/>
          <p:cNvSpPr/>
          <p:nvPr/>
        </p:nvSpPr>
        <p:spPr>
          <a:xfrm>
            <a:off x="6995160" y="4590288"/>
            <a:ext cx="2404872" cy="25603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7〜15日後</a:t>
            </a:r>
            <a:endParaRPr lang="ja-JP" altLang="en-US" sz="1200" dirty="0"/>
          </a:p>
        </p:txBody>
      </p:sp>
      <p:sp>
        <p:nvSpPr>
          <p:cNvPr id="21" name="分析 7〜15日後 本文"/>
          <p:cNvSpPr/>
          <p:nvPr/>
        </p:nvSpPr>
        <p:spPr>
          <a:xfrm>
            <a:off x="6995160" y="4846320"/>
            <a:ext cx="2404872" cy="640080"/>
          </a:xfrm>
          <a:prstGeom prst="rect">
            <a:avLst/>
          </a:prstGeom>
          <a:noFill/>
          <a:ln w="9525">
            <a:solidFill>
              <a:srgbClr val="D9D9D9"/>
            </a:solidFill>
          </a:ln>
        </p:spPr>
        <p:txBody>
          <a:bodyPr wrap="square" lIns="73152" tIns="45720" rIns="73152" bIns="36576" rtlCol="0" anchor="t">
            <a:noAutofit/>
          </a:bodyPr>
          <a:lstStyle/>
          <a:p>
            <a:pPr algn="l">
              <a:lnSpc>
                <a:spcPct val="112000"/>
              </a:lnSpc>
              <a:buNone/>
            </a:pPr>
            <a:r>
              <a:rPr lang="ja-JP" altLang="en-US" sz="1000" b="1" dirty="0">
                <a:solidFill>
                  <a:srgbClr val="1F285A"/>
                </a:solidFill>
                <a:latin typeface="メイリオ" panose="020B0604030504040204" pitchFamily="50" charset="-128"/>
                <a:ea typeface="メイリオ" panose="020B0604030504040204" pitchFamily="50" charset="-128"/>
              </a:rPr>
              <a:t>間取り・性能が中心</a:t>
            </a:r>
            <a:endParaRPr lang="ja-JP" altLang="en-US" sz="1200" dirty="0"/>
          </a:p>
          <a:p>
            <a:pPr algn="l">
              <a:lnSpc>
                <a:spcPct val="112000"/>
              </a:lnSpc>
              <a:buNone/>
            </a:pPr>
            <a:r>
              <a:rPr lang="ja-JP" altLang="en-US" sz="900" b="0" dirty="0">
                <a:solidFill>
                  <a:srgbClr val="333333"/>
                </a:solidFill>
                <a:latin typeface="メイリオ" panose="020B0604030504040204" pitchFamily="50" charset="-128"/>
                <a:ea typeface="メイリオ" panose="020B0604030504040204" pitchFamily="50" charset="-128"/>
              </a:rPr>
              <a:t>断熱等級・吹き抜け・パントリー・ルームツアー。住宅ローンは金利の比較へ</a:t>
            </a:r>
            <a:endParaRPr lang="ja-JP" altLang="en-US" sz="1200" dirty="0"/>
          </a:p>
        </p:txBody>
      </p:sp>
      <p:sp>
        <p:nvSpPr>
          <p:cNvPr id="22" name="示唆"/>
          <p:cNvSpPr/>
          <p:nvPr/>
        </p:nvSpPr>
        <p:spPr>
          <a:xfrm>
            <a:off x="502920" y="5596128"/>
            <a:ext cx="8897112" cy="457200"/>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会社を比べる → 費用 → 間取り・性能 の順に、</a:t>
            </a:r>
            <a:r>
              <a:rPr lang="ja-JP" altLang="en-US" sz="1250" b="1" dirty="0">
                <a:solidFill>
                  <a:srgbClr val="C00000"/>
                </a:solidFill>
                <a:latin typeface="メイリオ" panose="020B0604030504040204" pitchFamily="50" charset="-128"/>
                <a:ea typeface="メイリオ" panose="020B0604030504040204" pitchFamily="50" charset="-128"/>
              </a:rPr>
              <a:t>約2週間かけて検討が進む</a:t>
            </a:r>
            <a:endParaRPr lang="ja-JP" altLang="en-US" sz="1200" dirty="0"/>
          </a:p>
        </p:txBody>
      </p:sp>
      <p:sp>
        <p:nvSpPr>
          <p:cNvPr id="23" name="注記"/>
          <p:cNvSpPr/>
          <p:nvPr/>
        </p:nvSpPr>
        <p:spPr>
          <a:xfrm>
            <a:off x="502920" y="6089904"/>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850" b="0" dirty="0">
                <a:solidFill>
                  <a:srgbClr val="7F7F7F"/>
                </a:solidFill>
                <a:latin typeface="メイリオ" panose="020B0604030504040204" pitchFamily="50" charset="-128"/>
                <a:ea typeface="メイリオ" panose="020B0604030504040204" pitchFamily="50" charset="-128"/>
              </a:rPr>
              <a:t>※LINEヤフー社の前後検索データより。「注文住宅」を検索した方が、前後15日間に検索した言葉（縦軸＝検索した人数）。色分けは弊社</a:t>
            </a:r>
            <a:endParaRPr lang="ja-JP" alt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解決策：資料請求以前から、来場・契約までを追う</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altLang="en-US" sz="1400" b="1" dirty="0">
                <a:latin typeface="メイリオ" panose="020B0604030504040204" pitchFamily="50" charset="-128"/>
                <a:ea typeface="メイリオ" panose="020B0604030504040204" pitchFamily="50" charset="-128"/>
              </a:rPr>
              <a:t>契約</a:t>
            </a:r>
            <a:r>
              <a:rPr lang="ja-JP" sz="1400" b="1" u="none" strike="noStrike" dirty="0">
                <a:effectLst/>
                <a:uFillTx/>
                <a:latin typeface="メイリオ" panose="020B0604030504040204" pitchFamily="50" charset="-128"/>
                <a:ea typeface="メイリオ" panose="020B0604030504040204" pitchFamily="50" charset="-128"/>
              </a:rPr>
              <a:t>まで追い続けられることが、LINEの強み。</a:t>
            </a:r>
            <a:endParaRPr lang="en-US" altLang="ja-JP" sz="1400" b="1" u="none" strike="noStrike" dirty="0">
              <a:effectLst/>
              <a:uFillTx/>
              <a:latin typeface="メイリオ" panose="020B0604030504040204" pitchFamily="50" charset="-128"/>
              <a:ea typeface="メイリオ" panose="020B0604030504040204" pitchFamily="50" charset="-128"/>
            </a:endParaRPr>
          </a:p>
        </p:txBody>
      </p:sp>
      <p:sp>
        <p:nvSpPr>
          <p:cNvPr id="7" name="流れ1"/>
          <p:cNvSpPr/>
          <p:nvPr/>
        </p:nvSpPr>
        <p:spPr>
          <a:xfrm>
            <a:off x="502920"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サイトに来る</a:t>
            </a:r>
            <a:endParaRPr lang="ja-JP" altLang="en-US" sz="1200" dirty="0"/>
          </a:p>
        </p:txBody>
      </p:sp>
      <p:sp>
        <p:nvSpPr>
          <p:cNvPr id="8" name="矢印"/>
          <p:cNvSpPr/>
          <p:nvPr/>
        </p:nvSpPr>
        <p:spPr>
          <a:xfrm>
            <a:off x="1833372"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9" name="流れ2"/>
          <p:cNvSpPr/>
          <p:nvPr/>
        </p:nvSpPr>
        <p:spPr>
          <a:xfrm>
            <a:off x="2016252"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資料請求</a:t>
            </a:r>
            <a:endParaRPr lang="ja-JP" altLang="en-US" sz="1200" dirty="0"/>
          </a:p>
        </p:txBody>
      </p:sp>
      <p:sp>
        <p:nvSpPr>
          <p:cNvPr id="10" name="矢印"/>
          <p:cNvSpPr/>
          <p:nvPr/>
        </p:nvSpPr>
        <p:spPr>
          <a:xfrm>
            <a:off x="3346704"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1" name="流れ3"/>
          <p:cNvSpPr/>
          <p:nvPr/>
        </p:nvSpPr>
        <p:spPr>
          <a:xfrm>
            <a:off x="3529584"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来場予約</a:t>
            </a:r>
            <a:endParaRPr lang="ja-JP" altLang="en-US" sz="1200" dirty="0"/>
          </a:p>
        </p:txBody>
      </p:sp>
      <p:sp>
        <p:nvSpPr>
          <p:cNvPr id="12" name="矢印"/>
          <p:cNvSpPr/>
          <p:nvPr/>
        </p:nvSpPr>
        <p:spPr>
          <a:xfrm>
            <a:off x="4860036"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3" name="流れ4"/>
          <p:cNvSpPr/>
          <p:nvPr/>
        </p:nvSpPr>
        <p:spPr>
          <a:xfrm>
            <a:off x="5042916"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来場</a:t>
            </a:r>
            <a:endParaRPr lang="ja-JP" altLang="en-US" sz="1200" dirty="0"/>
          </a:p>
        </p:txBody>
      </p:sp>
      <p:sp>
        <p:nvSpPr>
          <p:cNvPr id="14" name="矢印"/>
          <p:cNvSpPr/>
          <p:nvPr/>
        </p:nvSpPr>
        <p:spPr>
          <a:xfrm>
            <a:off x="6373368"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5" name="流れ5"/>
          <p:cNvSpPr/>
          <p:nvPr/>
        </p:nvSpPr>
        <p:spPr>
          <a:xfrm>
            <a:off x="6556248"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商談</a:t>
            </a:r>
            <a:endParaRPr lang="ja-JP" altLang="en-US" sz="1200" dirty="0"/>
          </a:p>
        </p:txBody>
      </p:sp>
      <p:sp>
        <p:nvSpPr>
          <p:cNvPr id="16" name="矢印"/>
          <p:cNvSpPr/>
          <p:nvPr/>
        </p:nvSpPr>
        <p:spPr>
          <a:xfrm>
            <a:off x="7886700"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7" name="流れ6"/>
          <p:cNvSpPr/>
          <p:nvPr/>
        </p:nvSpPr>
        <p:spPr>
          <a:xfrm>
            <a:off x="8069580"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契約</a:t>
            </a:r>
            <a:endParaRPr lang="ja-JP" altLang="en-US" sz="1200" dirty="0"/>
          </a:p>
        </p:txBody>
      </p:sp>
      <p:sp>
        <p:nvSpPr>
          <p:cNvPr id="18" name="帯の名前 今"/>
          <p:cNvSpPr/>
          <p:nvPr/>
        </p:nvSpPr>
        <p:spPr>
          <a:xfrm>
            <a:off x="502920" y="2331720"/>
            <a:ext cx="1463040" cy="438912"/>
          </a:xfrm>
          <a:prstGeom prst="rect">
            <a:avLst/>
          </a:prstGeom>
          <a:noFill/>
          <a:ln>
            <a:noFill/>
          </a:ln>
        </p:spPr>
        <p:txBody>
          <a:bodyPr wrap="square" lIns="73152" tIns="36576" rIns="73152" bIns="36576" rtlCol="0" anchor="ctr">
            <a:noAutofit/>
          </a:bodyPr>
          <a:lstStyle/>
          <a:p>
            <a:pPr algn="ctr">
              <a:buNone/>
            </a:pPr>
            <a:r>
              <a:rPr lang="ja-JP" altLang="en-US" sz="1050" b="1" dirty="0">
                <a:solidFill>
                  <a:srgbClr val="7F7F7F"/>
                </a:solidFill>
                <a:latin typeface="メイリオ" panose="020B0604030504040204" pitchFamily="50" charset="-128"/>
                <a:ea typeface="メイリオ" panose="020B0604030504040204" pitchFamily="50" charset="-128"/>
              </a:rPr>
              <a:t>今のLINE</a:t>
            </a:r>
            <a:endParaRPr lang="ja-JP" altLang="en-US" sz="1200" dirty="0"/>
          </a:p>
        </p:txBody>
      </p:sp>
      <p:sp>
        <p:nvSpPr>
          <p:cNvPr id="19" name="帯 今のLINE"/>
          <p:cNvSpPr/>
          <p:nvPr/>
        </p:nvSpPr>
        <p:spPr>
          <a:xfrm>
            <a:off x="3529584" y="2331720"/>
            <a:ext cx="2843783" cy="438912"/>
          </a:xfrm>
          <a:prstGeom prst="rect">
            <a:avLst/>
          </a:prstGeom>
          <a:solidFill>
            <a:srgbClr val="F2F2F2"/>
          </a:solidFill>
          <a:ln w="9525">
            <a:solidFill>
              <a:srgbClr val="D9D9D9"/>
            </a:solidFill>
          </a:ln>
        </p:spPr>
        <p:txBody>
          <a:bodyPr wrap="square" lIns="73152" tIns="36576" rIns="73152" bIns="36576" rtlCol="0" anchor="ctr">
            <a:noAutofit/>
          </a:bodyPr>
          <a:lstStyle/>
          <a:p>
            <a:pPr algn="ctr">
              <a:buNone/>
            </a:pPr>
            <a:r>
              <a:rPr lang="ja-JP" altLang="en-US" sz="1100" b="1" dirty="0">
                <a:solidFill>
                  <a:srgbClr val="7F7F7F"/>
                </a:solidFill>
                <a:latin typeface="メイリオ" panose="020B0604030504040204" pitchFamily="50" charset="-128"/>
                <a:ea typeface="メイリオ" panose="020B0604030504040204" pitchFamily="50" charset="-128"/>
              </a:rPr>
              <a:t>来場予約・来場のご案内</a:t>
            </a:r>
            <a:endParaRPr lang="ja-JP" altLang="en-US" sz="1200" dirty="0"/>
          </a:p>
        </p:txBody>
      </p:sp>
      <p:sp>
        <p:nvSpPr>
          <p:cNvPr id="20" name="帯 弊社のご提案"/>
          <p:cNvSpPr/>
          <p:nvPr/>
        </p:nvSpPr>
        <p:spPr>
          <a:xfrm>
            <a:off x="502920" y="2862072"/>
            <a:ext cx="8897112" cy="5029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弊社のご提案：資料請求の前から、契約まで追う</a:t>
            </a:r>
            <a:endParaRPr lang="ja-JP" altLang="en-US" sz="1200" dirty="0"/>
          </a:p>
        </p:txBody>
      </p:sp>
      <p:sp>
        <p:nvSpPr>
          <p:cNvPr id="21" name="見出し これで可能になること"/>
          <p:cNvSpPr/>
          <p:nvPr/>
        </p:nvSpPr>
        <p:spPr>
          <a:xfrm>
            <a:off x="502920" y="3611880"/>
            <a:ext cx="889711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これで可能になること</a:t>
            </a:r>
            <a:endParaRPr lang="ja-JP" altLang="en-US" sz="1200" dirty="0"/>
          </a:p>
        </p:txBody>
      </p:sp>
      <p:sp>
        <p:nvSpPr>
          <p:cNvPr id="22" name="可能になること01"/>
          <p:cNvSpPr/>
          <p:nvPr/>
        </p:nvSpPr>
        <p:spPr>
          <a:xfrm>
            <a:off x="502920" y="4069080"/>
            <a:ext cx="2843784" cy="132588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01</a:t>
            </a:r>
            <a:endParaRPr lang="ja-JP" altLang="en-US" sz="1200" dirty="0"/>
          </a:p>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来場を決める前の方を取りこぼさない</a:t>
            </a:r>
            <a:endParaRPr lang="ja-JP" altLang="en-US" sz="1200" dirty="0"/>
          </a:p>
          <a:p>
            <a:pPr algn="l">
              <a:lnSpc>
                <a:spcPct val="120000"/>
              </a:lnSpc>
              <a:buNone/>
            </a:pPr>
            <a:r>
              <a:rPr lang="ja-JP" altLang="en-US" sz="1000" b="0" dirty="0">
                <a:solidFill>
                  <a:srgbClr val="333333"/>
                </a:solidFill>
                <a:latin typeface="メイリオ" panose="020B0604030504040204" pitchFamily="50" charset="-128"/>
                <a:ea typeface="メイリオ" panose="020B0604030504040204" pitchFamily="50" charset="-128"/>
              </a:rPr>
              <a:t>サイトに来た方・資料請求をした方が友だちになり、比べている間も情報を届けられる</a:t>
            </a:r>
            <a:endParaRPr lang="ja-JP" altLang="en-US" sz="1200" dirty="0"/>
          </a:p>
        </p:txBody>
      </p:sp>
      <p:sp>
        <p:nvSpPr>
          <p:cNvPr id="23" name="可能になること02"/>
          <p:cNvSpPr/>
          <p:nvPr/>
        </p:nvSpPr>
        <p:spPr>
          <a:xfrm>
            <a:off x="3529584" y="4069080"/>
            <a:ext cx="2843784" cy="132588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02</a:t>
            </a:r>
            <a:endParaRPr lang="ja-JP" altLang="en-US" sz="1200" dirty="0"/>
          </a:p>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来場予約のキャンセルを減らす</a:t>
            </a:r>
            <a:endParaRPr lang="ja-JP" altLang="en-US" sz="1200" dirty="0"/>
          </a:p>
          <a:p>
            <a:pPr algn="l">
              <a:lnSpc>
                <a:spcPct val="120000"/>
              </a:lnSpc>
              <a:buNone/>
            </a:pPr>
            <a:r>
              <a:rPr lang="ja-JP" altLang="en-US" sz="1000" b="0" dirty="0">
                <a:solidFill>
                  <a:srgbClr val="333333"/>
                </a:solidFill>
                <a:latin typeface="メイリオ" panose="020B0604030504040204" pitchFamily="50" charset="-128"/>
                <a:ea typeface="メイリオ" panose="020B0604030504040204" pitchFamily="50" charset="-128"/>
              </a:rPr>
              <a:t>予約から来場までをLINEでつなぎ、前日にお知らせする</a:t>
            </a:r>
            <a:endParaRPr lang="ja-JP" altLang="en-US" sz="1200" dirty="0"/>
          </a:p>
        </p:txBody>
      </p:sp>
      <p:sp>
        <p:nvSpPr>
          <p:cNvPr id="24" name="可能になること03"/>
          <p:cNvSpPr/>
          <p:nvPr/>
        </p:nvSpPr>
        <p:spPr>
          <a:xfrm>
            <a:off x="6556248" y="4069080"/>
            <a:ext cx="2843784" cy="132588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03</a:t>
            </a:r>
            <a:endParaRPr lang="ja-JP" altLang="en-US" sz="1200" dirty="0"/>
          </a:p>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契約につながる集客が分かる</a:t>
            </a:r>
            <a:endParaRPr lang="ja-JP" altLang="en-US" sz="1200" dirty="0"/>
          </a:p>
          <a:p>
            <a:pPr algn="l">
              <a:lnSpc>
                <a:spcPct val="120000"/>
              </a:lnSpc>
              <a:buNone/>
            </a:pPr>
            <a:r>
              <a:rPr lang="ja-JP" altLang="en-US" sz="1000" b="0" dirty="0">
                <a:solidFill>
                  <a:srgbClr val="333333"/>
                </a:solidFill>
                <a:latin typeface="メイリオ" panose="020B0604030504040204" pitchFamily="50" charset="-128"/>
                <a:ea typeface="メイリオ" panose="020B0604030504040204" pitchFamily="50" charset="-128"/>
              </a:rPr>
              <a:t>契約までの結果を貴社の記録と合わせて確認し、広告の改善に生かす</a:t>
            </a:r>
            <a:endParaRPr lang="ja-JP" altLang="en-US" sz="1200" dirty="0"/>
          </a:p>
        </p:txBody>
      </p:sp>
      <p:sp>
        <p:nvSpPr>
          <p:cNvPr id="25"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※広告の改善は、別紙の集客改善シミュレーションとあわせてご提案</a:t>
            </a:r>
            <a:endParaRPr lang="ja-JP" alt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友だちの入口：来場特典に加え、家づくりの情報で友だちになっていただく</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サイトを離れる前、資料請求の直後など、検討中の方が友だちになる理由を用意する</a:t>
            </a:r>
            <a:endParaRPr lang="en-US" sz="1400" b="1" u="none" strike="noStrike" dirty="0">
              <a:effectLst/>
              <a:uFillTx/>
              <a:latin typeface="メイリオ"/>
            </a:endParaRPr>
          </a:p>
        </p:txBody>
      </p:sp>
      <p:graphicFrame>
        <p:nvGraphicFramePr>
          <p:cNvPr id="7" name="友だちの入口 6"/>
          <p:cNvGraphicFramePr>
            <a:graphicFrameLocks noGrp="1"/>
          </p:cNvGraphicFramePr>
          <p:nvPr>
            <p:extLst>
              <p:ext uri="{D42A27DB-BD31-4B8C-83A1-F6EECF244321}">
                <p14:modId xmlns:p14="http://schemas.microsoft.com/office/powerpoint/2010/main" val="2964617158"/>
              </p:ext>
            </p:extLst>
          </p:nvPr>
        </p:nvGraphicFramePr>
        <p:xfrm>
          <a:off x="502920" y="1691640"/>
          <a:ext cx="8897111" cy="2331720"/>
        </p:xfrm>
        <a:graphic>
          <a:graphicData uri="http://schemas.openxmlformats.org/drawingml/2006/table">
            <a:tbl>
              <a:tblPr/>
              <a:tblGrid>
                <a:gridCol w="731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gridCol w="3822191">
                  <a:extLst>
                    <a:ext uri="{9D8B030D-6E8A-4147-A177-3AD203B41FA5}">
                      <a16:colId xmlns:a16="http://schemas.microsoft.com/office/drawing/2014/main" val="20003"/>
                    </a:ext>
                  </a:extLst>
                </a:gridCol>
              </a:tblGrid>
              <a:tr h="365760">
                <a:tc>
                  <a:txBody>
                    <a:bodyPr/>
                    <a:lstStyle/>
                    <a:p>
                      <a:pPr algn="ctr">
                        <a:buNone/>
                      </a:pP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入口</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タイミング</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友だちになる理由</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57200">
                <a:tc>
                  <a:txBody>
                    <a:bodyPr/>
                    <a:lstStyle/>
                    <a:p>
                      <a:pPr algn="ctr">
                        <a:buNone/>
                      </a:pPr>
                      <a:r>
                        <a:rPr lang="ja-JP" altLang="en-US" sz="1200" b="1" dirty="0">
                          <a:solidFill>
                            <a:srgbClr val="7F7F7F"/>
                          </a:solidFill>
                          <a:latin typeface="メイリオ" panose="020B0604030504040204" pitchFamily="50" charset="-128"/>
                          <a:ea typeface="メイリオ" panose="020B0604030504040204" pitchFamily="50" charset="-128"/>
                        </a:rPr>
                        <a:t>今</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l">
                        <a:buNone/>
                      </a:pPr>
                      <a:r>
                        <a:rPr lang="ja-JP" altLang="en-US" sz="1100" b="0" dirty="0">
                          <a:solidFill>
                            <a:srgbClr val="7F7F7F"/>
                          </a:solidFill>
                          <a:latin typeface="メイリオ" panose="020B0604030504040204" pitchFamily="50" charset="-128"/>
                          <a:ea typeface="メイリオ" panose="020B0604030504040204" pitchFamily="50" charset="-128"/>
                        </a:rPr>
                        <a:t>来場特典のキャンペーン</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7F7F7F"/>
                          </a:solidFill>
                          <a:latin typeface="メイリオ" panose="020B0604030504040204" pitchFamily="50" charset="-128"/>
                          <a:ea typeface="メイリオ" panose="020B0604030504040204" pitchFamily="50" charset="-128"/>
                        </a:rPr>
                        <a:t>来場を決めたとき</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7F7F7F"/>
                          </a:solidFill>
                          <a:latin typeface="メイリオ" panose="020B0604030504040204" pitchFamily="50" charset="-128"/>
                          <a:ea typeface="メイリオ" panose="020B0604030504040204" pitchFamily="50" charset="-128"/>
                        </a:rPr>
                        <a:t>来場特典の上乗せ</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追加</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離脱防止</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サイトを閉じようとしたとき</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家づくりの情報（例：平屋の間取り、費用の目安）をLINEでお届け</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追加</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サイトのLINEボタン</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施工事例・見学会のページを見ているとき</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見学会や新しい施工事例のお知らせ</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追加</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サンクスLINE誘導</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資料請求・来場予約が</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完了した直後</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資料の続き（ルームツアー・費用・土地）、</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来場前のお知らせ</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実績 見出し"/>
          <p:cNvSpPr/>
          <p:nvPr/>
        </p:nvSpPr>
        <p:spPr>
          <a:xfrm>
            <a:off x="502920" y="4160520"/>
            <a:ext cx="1737360" cy="91440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弊社の導入実績</a:t>
            </a:r>
            <a:endParaRPr lang="ja-JP" altLang="en-US" sz="1200" dirty="0"/>
          </a:p>
        </p:txBody>
      </p:sp>
      <p:sp>
        <p:nvSpPr>
          <p:cNvPr id="9" name="実績 施策"/>
          <p:cNvSpPr/>
          <p:nvPr/>
        </p:nvSpPr>
        <p:spPr>
          <a:xfrm>
            <a:off x="2240280" y="4160520"/>
            <a:ext cx="4206240" cy="914400"/>
          </a:xfrm>
          <a:prstGeom prst="rect">
            <a:avLst/>
          </a:prstGeom>
          <a:solidFill>
            <a:srgbClr val="F4F7FF"/>
          </a:solidFill>
          <a:ln>
            <a:noFill/>
          </a:ln>
        </p:spPr>
        <p:txBody>
          <a:bodyPr wrap="square" lIns="137160" tIns="54864" rIns="91440" bIns="54864" rtlCol="0" anchor="ctr">
            <a:noAutofit/>
          </a:bodyPr>
          <a:lstStyle/>
          <a:p>
            <a:pPr algn="l">
              <a:lnSpc>
                <a:spcPct val="120000"/>
              </a:lnSpc>
              <a:buNone/>
            </a:pPr>
            <a:r>
              <a:rPr lang="ja-JP" altLang="en-US" sz="1200" b="1" dirty="0">
                <a:solidFill>
                  <a:srgbClr val="1F285A"/>
                </a:solidFill>
                <a:latin typeface="メイリオ" panose="020B0604030504040204" pitchFamily="50" charset="-128"/>
                <a:ea typeface="メイリオ" panose="020B0604030504040204" pitchFamily="50" charset="-128"/>
              </a:rPr>
              <a:t>人材業界</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サンクスLINE誘導ツールを導入</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友だち増加数（3か月）1,532人 → 2,103人</a:t>
            </a:r>
            <a:endParaRPr lang="ja-JP" altLang="en-US" sz="1400" dirty="0"/>
          </a:p>
        </p:txBody>
      </p:sp>
      <p:sp>
        <p:nvSpPr>
          <p:cNvPr id="10" name="実績 数字"/>
          <p:cNvSpPr/>
          <p:nvPr/>
        </p:nvSpPr>
        <p:spPr>
          <a:xfrm>
            <a:off x="6446520" y="4160520"/>
            <a:ext cx="2953512" cy="914400"/>
          </a:xfrm>
          <a:prstGeom prst="rect">
            <a:avLst/>
          </a:prstGeom>
          <a:solidFill>
            <a:srgbClr val="F4F7FF"/>
          </a:solidFill>
          <a:ln>
            <a:noFill/>
          </a:ln>
        </p:spPr>
        <p:txBody>
          <a:bodyPr wrap="square" lIns="73152" tIns="36576" rIns="73152" bIns="36576" rtlCol="0" anchor="ctr">
            <a:noAutofit/>
          </a:bodyPr>
          <a:lstStyle/>
          <a:p>
            <a:pPr algn="ctr">
              <a:lnSpc>
                <a:spcPct val="100000"/>
              </a:lnSpc>
              <a:buNone/>
            </a:pPr>
            <a:r>
              <a:rPr lang="ja-JP" altLang="en-US" sz="1050" b="1" dirty="0">
                <a:solidFill>
                  <a:srgbClr val="1F285A"/>
                </a:solidFill>
                <a:latin typeface="メイリオ" panose="020B0604030504040204" pitchFamily="50" charset="-128"/>
                <a:ea typeface="メイリオ" panose="020B0604030504040204" pitchFamily="50" charset="-128"/>
              </a:rPr>
              <a:t>友だち増加数</a:t>
            </a:r>
            <a:endParaRPr lang="ja-JP" altLang="en-US" sz="12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導入前比137.3%</a:t>
            </a:r>
            <a:endParaRPr lang="ja-JP" altLang="en-US" sz="1200" dirty="0"/>
          </a:p>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rPr>
              <a:t>前年比127.5%</a:t>
            </a:r>
            <a:endParaRPr lang="ja-JP" alt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rgbClr val="323366"/>
                </a:solidFill>
                <a:effectLst/>
                <a:uFillTx/>
                <a:latin typeface="メイリオ"/>
                <a:ea typeface="メイリオ"/>
              </a:rPr>
              <a:t>解決策：LINEの配信で</a:t>
            </a:r>
            <a:r>
              <a:rPr lang="ja-JP" altLang="en-US" sz="1600" b="1" u="none" strike="noStrike" dirty="0">
                <a:solidFill>
                  <a:srgbClr val="323366"/>
                </a:solidFill>
                <a:effectLst/>
                <a:uFillTx/>
                <a:latin typeface="メイリオ"/>
                <a:ea typeface="メイリオ"/>
              </a:rPr>
              <a:t>ナーチャリングを</a:t>
            </a:r>
            <a:endParaRPr lang="en-US" sz="1600" b="0" u="none" strike="noStrike" dirty="0">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検討の順番に合わせて配信し、「住みたいイメージ」を育てる</a:t>
            </a:r>
            <a:endParaRPr lang="en-US" sz="1400" b="1" u="none" strike="noStrike" dirty="0">
              <a:effectLst/>
              <a:uFillTx/>
              <a:latin typeface="メイリオ"/>
            </a:endParaRPr>
          </a:p>
        </p:txBody>
      </p:sp>
      <p:graphicFrame>
        <p:nvGraphicFramePr>
          <p:cNvPr id="7" name="配信 6"/>
          <p:cNvGraphicFramePr>
            <a:graphicFrameLocks noGrp="1"/>
          </p:cNvGraphicFramePr>
          <p:nvPr>
            <p:extLst>
              <p:ext uri="{D42A27DB-BD31-4B8C-83A1-F6EECF244321}">
                <p14:modId xmlns:p14="http://schemas.microsoft.com/office/powerpoint/2010/main" val="3859804822"/>
              </p:ext>
            </p:extLst>
          </p:nvPr>
        </p:nvGraphicFramePr>
        <p:xfrm>
          <a:off x="502920" y="1691640"/>
          <a:ext cx="8897112" cy="2633472"/>
        </p:xfrm>
        <a:graphic>
          <a:graphicData uri="http://schemas.openxmlformats.org/drawingml/2006/table">
            <a:tbl>
              <a:tblPr/>
              <a:tblGrid>
                <a:gridCol w="123444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3154680">
                  <a:extLst>
                    <a:ext uri="{9D8B030D-6E8A-4147-A177-3AD203B41FA5}">
                      <a16:colId xmlns:a16="http://schemas.microsoft.com/office/drawing/2014/main" val="20002"/>
                    </a:ext>
                  </a:extLst>
                </a:gridCol>
                <a:gridCol w="1901952">
                  <a:extLst>
                    <a:ext uri="{9D8B030D-6E8A-4147-A177-3AD203B41FA5}">
                      <a16:colId xmlns:a16="http://schemas.microsoft.com/office/drawing/2014/main" val="20003"/>
                    </a:ext>
                  </a:extLst>
                </a:gridCol>
              </a:tblGrid>
              <a:tr h="365760">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時期</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検討者が調べていること</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配信するコンテンツ</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感じてもらうこと</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566928">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当日〜1日</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大手ハウスメーカーの比較、土地探し</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会社の特長・施工事例、街並みと土地の情報</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この会社・この街がいい</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1〜7日後</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住宅ローンのシミュレーション・審査、坪単価</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費用・住宅ローンの考え方、補助金</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これなら建てられる</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7〜15日後</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断熱等級、間取り、吹き抜け、ルームツアー</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青森の冬を乗り切る性能、間取り、ルームツアー動画、入居後の暮らし</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この家に住みたい</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来場前</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050" b="0" dirty="0">
                          <a:solidFill>
                            <a:srgbClr val="333333"/>
                          </a:solidFill>
                          <a:latin typeface="メイリオ" panose="020B0604030504040204" pitchFamily="50" charset="-128"/>
                          <a:ea typeface="メイリオ" panose="020B0604030504040204" pitchFamily="50" charset="-128"/>
                        </a:rPr>
                        <a:t>―</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見学会・来場予約のご案内、来場前日のお知らせ</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見に行きたい</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流れ1"/>
          <p:cNvSpPr/>
          <p:nvPr/>
        </p:nvSpPr>
        <p:spPr>
          <a:xfrm>
            <a:off x="502920" y="4526280"/>
            <a:ext cx="2004822" cy="658368"/>
          </a:xfrm>
          <a:prstGeom prst="rect">
            <a:avLst/>
          </a:prstGeom>
          <a:noFill/>
          <a:ln w="9525">
            <a:solidFill>
              <a:srgbClr val="1F285A"/>
            </a:solidFill>
          </a:ln>
        </p:spPr>
        <p:txBody>
          <a:bodyPr wrap="square" lIns="54864" tIns="36576" rIns="54864" bIns="36576" rtlCol="0" anchor="ctr">
            <a:noAutofit/>
          </a:bodyPr>
          <a:lstStyle/>
          <a:p>
            <a:pPr algn="ctr">
              <a:lnSpc>
                <a:spcPct val="115000"/>
              </a:lnSpc>
              <a:buNone/>
            </a:pPr>
            <a:r>
              <a:rPr lang="ja-JP" altLang="en-US" sz="1100" b="1" dirty="0">
                <a:solidFill>
                  <a:srgbClr val="1F285A"/>
                </a:solidFill>
                <a:latin typeface="メイリオ" panose="020B0604030504040204" pitchFamily="50" charset="-128"/>
                <a:ea typeface="メイリオ" panose="020B0604030504040204" pitchFamily="50" charset="-128"/>
              </a:rPr>
              <a:t>友だち追加</a:t>
            </a:r>
            <a:endParaRPr lang="ja-JP" altLang="en-US" sz="1200" dirty="0"/>
          </a:p>
          <a:p>
            <a:pPr algn="ctr">
              <a:lnSpc>
                <a:spcPct val="115000"/>
              </a:lnSpc>
              <a:buNone/>
            </a:pPr>
            <a:r>
              <a:rPr lang="ja-JP" altLang="en-US" sz="1100" b="1" dirty="0">
                <a:solidFill>
                  <a:srgbClr val="1F285A"/>
                </a:solidFill>
                <a:latin typeface="メイリオ" panose="020B0604030504040204" pitchFamily="50" charset="-128"/>
                <a:ea typeface="メイリオ" panose="020B0604030504040204" pitchFamily="50" charset="-128"/>
              </a:rPr>
              <a:t>資料請求・来場予約・サイト</a:t>
            </a:r>
            <a:endParaRPr lang="ja-JP" altLang="en-US" sz="1200" dirty="0"/>
          </a:p>
        </p:txBody>
      </p:sp>
      <p:sp>
        <p:nvSpPr>
          <p:cNvPr id="9" name="矢印"/>
          <p:cNvSpPr/>
          <p:nvPr/>
        </p:nvSpPr>
        <p:spPr>
          <a:xfrm>
            <a:off x="2507741" y="452628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0" name="流れ2"/>
          <p:cNvSpPr/>
          <p:nvPr/>
        </p:nvSpPr>
        <p:spPr>
          <a:xfrm>
            <a:off x="2800350" y="452628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配信でファン化</a:t>
            </a:r>
            <a:endParaRPr lang="ja-JP" altLang="en-US" sz="1200" dirty="0"/>
          </a:p>
        </p:txBody>
      </p:sp>
      <p:sp>
        <p:nvSpPr>
          <p:cNvPr id="11" name="矢印"/>
          <p:cNvSpPr/>
          <p:nvPr/>
        </p:nvSpPr>
        <p:spPr>
          <a:xfrm>
            <a:off x="4805172" y="452628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2" name="流れ3"/>
          <p:cNvSpPr/>
          <p:nvPr/>
        </p:nvSpPr>
        <p:spPr>
          <a:xfrm>
            <a:off x="5097779" y="452628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タイミングが良い時に来場</a:t>
            </a:r>
            <a:endParaRPr lang="ja-JP" altLang="en-US" sz="1200" dirty="0"/>
          </a:p>
        </p:txBody>
      </p:sp>
      <p:sp>
        <p:nvSpPr>
          <p:cNvPr id="13" name="矢印"/>
          <p:cNvSpPr/>
          <p:nvPr/>
        </p:nvSpPr>
        <p:spPr>
          <a:xfrm>
            <a:off x="7102601" y="452628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4" name="流れ4"/>
          <p:cNvSpPr/>
          <p:nvPr/>
        </p:nvSpPr>
        <p:spPr>
          <a:xfrm>
            <a:off x="7395210" y="4526280"/>
            <a:ext cx="2004822" cy="658368"/>
          </a:xfrm>
          <a:prstGeom prst="rect">
            <a:avLst/>
          </a:prstGeom>
          <a:solidFill>
            <a:srgbClr val="C00000"/>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商談・契約</a:t>
            </a:r>
            <a:endParaRPr lang="ja-JP" altLang="en-US" sz="1200" dirty="0"/>
          </a:p>
        </p:txBody>
      </p:sp>
      <p:sp>
        <p:nvSpPr>
          <p:cNvPr id="15"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※時期と調べていることは、LINEヤフー社の前後検索データより／動画・写真は今の配信やInstagramの素材を活かす</a:t>
            </a:r>
            <a:endParaRPr lang="ja-JP" alt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来場前のお知らせ：予約から来場までをLINEでつなぎ、キャンセルを減らす</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日程の変更もLINEのチャットで受け付け、キャンセルではなく変更につなげる</a:t>
            </a:r>
            <a:endParaRPr lang="en-US" sz="1400" b="1" u="none" strike="noStrike" dirty="0">
              <a:effectLst/>
              <a:uFillTx/>
              <a:latin typeface="メイリオ"/>
            </a:endParaRPr>
          </a:p>
        </p:txBody>
      </p:sp>
      <p:sp>
        <p:nvSpPr>
          <p:cNvPr id="7" name="流れ1"/>
          <p:cNvSpPr/>
          <p:nvPr/>
        </p:nvSpPr>
        <p:spPr>
          <a:xfrm>
            <a:off x="502920"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予約の完了</a:t>
            </a:r>
            <a:endParaRPr lang="ja-JP" altLang="en-US" sz="1200" dirty="0"/>
          </a:p>
        </p:txBody>
      </p:sp>
      <p:sp>
        <p:nvSpPr>
          <p:cNvPr id="8" name="矢印"/>
          <p:cNvSpPr/>
          <p:nvPr/>
        </p:nvSpPr>
        <p:spPr>
          <a:xfrm>
            <a:off x="2099462"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9" name="流れ2"/>
          <p:cNvSpPr/>
          <p:nvPr/>
        </p:nvSpPr>
        <p:spPr>
          <a:xfrm>
            <a:off x="2328062"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予約の確認</a:t>
            </a:r>
            <a:endParaRPr lang="ja-JP" altLang="en-US" sz="1200" dirty="0"/>
          </a:p>
        </p:txBody>
      </p:sp>
      <p:sp>
        <p:nvSpPr>
          <p:cNvPr id="10" name="矢印"/>
          <p:cNvSpPr/>
          <p:nvPr/>
        </p:nvSpPr>
        <p:spPr>
          <a:xfrm>
            <a:off x="3924604"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1" name="流れ3"/>
          <p:cNvSpPr/>
          <p:nvPr/>
        </p:nvSpPr>
        <p:spPr>
          <a:xfrm>
            <a:off x="4153204"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3日前</a:t>
            </a:r>
            <a:endParaRPr lang="ja-JP" altLang="en-US" sz="1200" dirty="0"/>
          </a:p>
        </p:txBody>
      </p:sp>
      <p:sp>
        <p:nvSpPr>
          <p:cNvPr id="12" name="矢印"/>
          <p:cNvSpPr/>
          <p:nvPr/>
        </p:nvSpPr>
        <p:spPr>
          <a:xfrm>
            <a:off x="5749747"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3" name="流れ4"/>
          <p:cNvSpPr/>
          <p:nvPr/>
        </p:nvSpPr>
        <p:spPr>
          <a:xfrm>
            <a:off x="5978347"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前日</a:t>
            </a:r>
            <a:endParaRPr lang="ja-JP" altLang="en-US" sz="1200" dirty="0"/>
          </a:p>
        </p:txBody>
      </p:sp>
      <p:sp>
        <p:nvSpPr>
          <p:cNvPr id="14" name="矢印"/>
          <p:cNvSpPr/>
          <p:nvPr/>
        </p:nvSpPr>
        <p:spPr>
          <a:xfrm>
            <a:off x="7574889"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5" name="流れ5"/>
          <p:cNvSpPr/>
          <p:nvPr/>
        </p:nvSpPr>
        <p:spPr>
          <a:xfrm>
            <a:off x="7803489"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来場の後</a:t>
            </a:r>
            <a:endParaRPr lang="ja-JP" altLang="en-US" sz="1200" dirty="0"/>
          </a:p>
        </p:txBody>
      </p:sp>
      <p:sp>
        <p:nvSpPr>
          <p:cNvPr id="16" name="お知らせ1"/>
          <p:cNvSpPr/>
          <p:nvPr/>
        </p:nvSpPr>
        <p:spPr>
          <a:xfrm>
            <a:off x="502920"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事前アンケートの回答後に、LINEの友だち追加をご案内</a:t>
            </a:r>
            <a:endParaRPr lang="ja-JP" altLang="en-US" sz="1200" dirty="0"/>
          </a:p>
        </p:txBody>
      </p:sp>
      <p:sp>
        <p:nvSpPr>
          <p:cNvPr id="17" name="お知らせ2"/>
          <p:cNvSpPr/>
          <p:nvPr/>
        </p:nvSpPr>
        <p:spPr>
          <a:xfrm>
            <a:off x="2328062"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日時・展示場・担当者をLINEでお知らせ</a:t>
            </a:r>
            <a:endParaRPr lang="ja-JP" altLang="en-US" sz="1200" dirty="0"/>
          </a:p>
        </p:txBody>
      </p:sp>
      <p:sp>
        <p:nvSpPr>
          <p:cNvPr id="18" name="お知らせ3"/>
          <p:cNvSpPr/>
          <p:nvPr/>
        </p:nvSpPr>
        <p:spPr>
          <a:xfrm>
            <a:off x="4153204"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当日の見どころ・流れ・所要時間をご案内</a:t>
            </a:r>
            <a:endParaRPr lang="ja-JP" altLang="en-US" sz="1200" dirty="0"/>
          </a:p>
        </p:txBody>
      </p:sp>
      <p:sp>
        <p:nvSpPr>
          <p:cNvPr id="19" name="お知らせ4"/>
          <p:cNvSpPr/>
          <p:nvPr/>
        </p:nvSpPr>
        <p:spPr>
          <a:xfrm>
            <a:off x="5978347"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日時・場所・地図・駐車場をお知らせ。日程の変更はチャットで受付</a:t>
            </a:r>
            <a:endParaRPr lang="ja-JP" altLang="en-US" sz="1200" dirty="0"/>
          </a:p>
        </p:txBody>
      </p:sp>
      <p:sp>
        <p:nvSpPr>
          <p:cNvPr id="20" name="お知らせ5"/>
          <p:cNvSpPr/>
          <p:nvPr/>
        </p:nvSpPr>
        <p:spPr>
          <a:xfrm>
            <a:off x="7803489"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お礼と、次のご相談（商談）のご案内</a:t>
            </a:r>
            <a:endParaRPr lang="ja-JP" altLang="en-US" sz="1200" dirty="0"/>
          </a:p>
        </p:txBody>
      </p:sp>
      <p:sp>
        <p:nvSpPr>
          <p:cNvPr id="21" name="実績 見出し"/>
          <p:cNvSpPr/>
          <p:nvPr/>
        </p:nvSpPr>
        <p:spPr>
          <a:xfrm>
            <a:off x="502920" y="4160520"/>
            <a:ext cx="1737360" cy="91440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弊社運用の実績</a:t>
            </a:r>
            <a:endParaRPr lang="ja-JP" altLang="en-US" sz="1200" dirty="0"/>
          </a:p>
        </p:txBody>
      </p:sp>
      <p:sp>
        <p:nvSpPr>
          <p:cNvPr id="22" name="実績 施策"/>
          <p:cNvSpPr/>
          <p:nvPr/>
        </p:nvSpPr>
        <p:spPr>
          <a:xfrm>
            <a:off x="2240280" y="4160520"/>
            <a:ext cx="4206240" cy="914400"/>
          </a:xfrm>
          <a:prstGeom prst="rect">
            <a:avLst/>
          </a:prstGeom>
          <a:solidFill>
            <a:srgbClr val="F4F7FF"/>
          </a:solidFill>
          <a:ln>
            <a:noFill/>
          </a:ln>
        </p:spPr>
        <p:txBody>
          <a:bodyPr wrap="square" lIns="137160" tIns="54864" rIns="91440" bIns="54864" rtlCol="0" anchor="ctr">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美容クリニック</a:t>
            </a:r>
            <a:endParaRPr lang="ja-JP" altLang="en-US" sz="1200" dirty="0"/>
          </a:p>
          <a:p>
            <a:pPr algn="l">
              <a:lnSpc>
                <a:spcPct val="120000"/>
              </a:lnSpc>
              <a:buNone/>
            </a:pPr>
            <a:r>
              <a:rPr lang="ja-JP" altLang="en-US" sz="1050" b="0" dirty="0">
                <a:solidFill>
                  <a:srgbClr val="333333"/>
                </a:solidFill>
                <a:latin typeface="メイリオ" panose="020B0604030504040204" pitchFamily="50" charset="-128"/>
                <a:ea typeface="メイリオ" panose="020B0604030504040204" pitchFamily="50" charset="-128"/>
              </a:rPr>
              <a:t>予約の完了後にLINEへご案内し、予約の確認・前日のお知らせを配信</a:t>
            </a:r>
            <a:endParaRPr lang="ja-JP" altLang="en-US" sz="1200" dirty="0"/>
          </a:p>
        </p:txBody>
      </p:sp>
      <p:sp>
        <p:nvSpPr>
          <p:cNvPr id="23" name="実績 数字"/>
          <p:cNvSpPr/>
          <p:nvPr/>
        </p:nvSpPr>
        <p:spPr>
          <a:xfrm>
            <a:off x="6446520" y="4160520"/>
            <a:ext cx="2953512" cy="914400"/>
          </a:xfrm>
          <a:prstGeom prst="rect">
            <a:avLst/>
          </a:prstGeom>
          <a:solidFill>
            <a:srgbClr val="F4F7FF"/>
          </a:solidFill>
          <a:ln>
            <a:noFill/>
          </a:ln>
        </p:spPr>
        <p:txBody>
          <a:bodyPr wrap="square" lIns="73152" tIns="36576" rIns="73152" bIns="36576" rtlCol="0" anchor="ctr">
            <a:noAutofit/>
          </a:bodyPr>
          <a:lstStyle/>
          <a:p>
            <a:pPr algn="ctr">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予約後の来院率</a:t>
            </a:r>
            <a:endParaRPr lang="ja-JP" altLang="en-US" sz="1200" dirty="0"/>
          </a:p>
          <a:p>
            <a:pPr algn="ctr">
              <a:lnSpc>
                <a:spcPct val="105000"/>
              </a:lnSpc>
              <a:buNone/>
            </a:pPr>
            <a:r>
              <a:rPr lang="ja-JP" altLang="en-US" sz="2200" b="1" dirty="0">
                <a:solidFill>
                  <a:srgbClr val="1F285A"/>
                </a:solidFill>
                <a:latin typeface="メイリオ" panose="020B0604030504040204" pitchFamily="50" charset="-128"/>
                <a:ea typeface="メイリオ" panose="020B0604030504040204" pitchFamily="50" charset="-128"/>
              </a:rPr>
              <a:t>40〜50%改善</a:t>
            </a:r>
            <a:endParaRPr lang="ja-JP" alt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試算：6か月目に、LINE経由の資料請求 月11件・来場予約 月8件</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サイトから友だちを増やし、検討の順番に沿った配信で、資料請求・来場予約につなげる</a:t>
            </a:r>
            <a:endParaRPr lang="en-US" sz="1400" b="1" u="none" strike="noStrike" dirty="0">
              <a:effectLst/>
              <a:uFillTx/>
              <a:latin typeface="メイリオ"/>
            </a:endParaRPr>
          </a:p>
        </p:txBody>
      </p:sp>
      <p:graphicFrame>
        <p:nvGraphicFramePr>
          <p:cNvPr id="7" name="試算 6"/>
          <p:cNvGraphicFramePr>
            <a:graphicFrameLocks noGrp="1"/>
          </p:cNvGraphicFramePr>
          <p:nvPr/>
        </p:nvGraphicFramePr>
        <p:xfrm>
          <a:off x="502920" y="1691640"/>
          <a:ext cx="8897112" cy="3108960"/>
        </p:xfrm>
        <a:graphic>
          <a:graphicData uri="http://schemas.openxmlformats.org/drawingml/2006/table">
            <a:tbl>
              <a:tblPr/>
              <a:tblGrid>
                <a:gridCol w="2423160">
                  <a:extLst>
                    <a:ext uri="{9D8B030D-6E8A-4147-A177-3AD203B41FA5}">
                      <a16:colId xmlns:a16="http://schemas.microsoft.com/office/drawing/2014/main" val="20000"/>
                    </a:ext>
                  </a:extLst>
                </a:gridCol>
                <a:gridCol w="1078992">
                  <a:extLst>
                    <a:ext uri="{9D8B030D-6E8A-4147-A177-3AD203B41FA5}">
                      <a16:colId xmlns:a16="http://schemas.microsoft.com/office/drawing/2014/main" val="20001"/>
                    </a:ext>
                  </a:extLst>
                </a:gridCol>
                <a:gridCol w="1078992">
                  <a:extLst>
                    <a:ext uri="{9D8B030D-6E8A-4147-A177-3AD203B41FA5}">
                      <a16:colId xmlns:a16="http://schemas.microsoft.com/office/drawing/2014/main" val="20002"/>
                    </a:ext>
                  </a:extLst>
                </a:gridCol>
                <a:gridCol w="1078992">
                  <a:extLst>
                    <a:ext uri="{9D8B030D-6E8A-4147-A177-3AD203B41FA5}">
                      <a16:colId xmlns:a16="http://schemas.microsoft.com/office/drawing/2014/main" val="20003"/>
                    </a:ext>
                  </a:extLst>
                </a:gridCol>
                <a:gridCol w="1078992">
                  <a:extLst>
                    <a:ext uri="{9D8B030D-6E8A-4147-A177-3AD203B41FA5}">
                      <a16:colId xmlns:a16="http://schemas.microsoft.com/office/drawing/2014/main" val="20004"/>
                    </a:ext>
                  </a:extLst>
                </a:gridCol>
                <a:gridCol w="1078992">
                  <a:extLst>
                    <a:ext uri="{9D8B030D-6E8A-4147-A177-3AD203B41FA5}">
                      <a16:colId xmlns:a16="http://schemas.microsoft.com/office/drawing/2014/main" val="20005"/>
                    </a:ext>
                  </a:extLst>
                </a:gridCol>
                <a:gridCol w="1078992">
                  <a:extLst>
                    <a:ext uri="{9D8B030D-6E8A-4147-A177-3AD203B41FA5}">
                      <a16:colId xmlns:a16="http://schemas.microsoft.com/office/drawing/2014/main" val="20006"/>
                    </a:ext>
                  </a:extLst>
                </a:gridCol>
              </a:tblGrid>
              <a:tr h="365760">
                <a:tc>
                  <a:txBody>
                    <a:bodyPr/>
                    <a:lstStyle/>
                    <a:p>
                      <a:pPr algn="ctr">
                        <a:buNone/>
                      </a:pP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1か月目</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2か月目</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3か月目</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4か月目</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5か月目</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6か月目</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5720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新しく友だちになる方（人）</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177</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177</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179</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180</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181</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182</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友だち数（累計・人）</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594</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772</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950</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1,130</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1,311</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1,493</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配信が届く友だち（人）</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428</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551</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673</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793</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912</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1,030</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配信からのクリック</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477</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557</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637</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613</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676</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738</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資料請求（LINE経由・件）</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4</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6</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6</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8</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9</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11</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extLst>
                  <a:ext uri="{0D108BD9-81ED-4DB2-BD59-A6C34878D82A}">
                    <a16:rowId xmlns:a16="http://schemas.microsoft.com/office/drawing/2014/main" val="10005"/>
                  </a:ext>
                </a:extLst>
              </a:tr>
              <a:tr h="45720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来場予約（LINE経由・件）</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2</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3</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4</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6</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7</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8</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extLst>
                  <a:ext uri="{0D108BD9-81ED-4DB2-BD59-A6C34878D82A}">
                    <a16:rowId xmlns:a16="http://schemas.microsoft.com/office/drawing/2014/main" val="10006"/>
                  </a:ext>
                </a:extLst>
              </a:tr>
            </a:tbl>
          </a:graphicData>
        </a:graphic>
      </p:graphicFrame>
      <p:sp>
        <p:nvSpPr>
          <p:cNvPr id="8" name="注記"/>
          <p:cNvSpPr/>
          <p:nvPr/>
        </p:nvSpPr>
        <p:spPr>
          <a:xfrm>
            <a:off x="502920" y="4937760"/>
            <a:ext cx="8897112" cy="41148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※前提：サイトのUU 月13,228／今の友だち417人／友だちの入口＝離脱防止・サイトのLINEボタン・サンクスLINE誘導／配信＝企画配信 月4本＋ステップ配信5通／ブロック率は28%から月ごとに上昇</a:t>
            </a:r>
            <a:endParaRPr lang="ja-JP" altLang="en-US" sz="1200" dirty="0"/>
          </a:p>
        </p:txBody>
      </p:sp>
      <p:sp>
        <p:nvSpPr>
          <p:cNvPr id="9" name="注記"/>
          <p:cNvSpPr/>
          <p:nvPr/>
        </p:nvSpPr>
        <p:spPr>
          <a:xfrm>
            <a:off x="502920" y="5376672"/>
            <a:ext cx="8897112" cy="41148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※配信が届く友だち＝ブロックしていない友だち。資料請求・来場予約は、LINEの配信からのクリックを通ったものだけを数える</a:t>
            </a:r>
            <a:endParaRPr lang="ja-JP" alt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費用：運用の範囲に合わせて、3つのプランから選べる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おすすめは、構築から運用・改善まで一貫して行う竹プラン</a:t>
            </a:r>
            <a:endParaRPr lang="en-US" sz="1400" b="1" u="none" strike="noStrike" dirty="0">
              <a:effectLst/>
              <a:uFillTx/>
              <a:latin typeface="メイリオ"/>
            </a:endParaRPr>
          </a:p>
        </p:txBody>
      </p:sp>
      <p:graphicFrame>
        <p:nvGraphicFramePr>
          <p:cNvPr id="7" name="3つのプラン 6"/>
          <p:cNvGraphicFramePr>
            <a:graphicFrameLocks noGrp="1"/>
          </p:cNvGraphicFramePr>
          <p:nvPr/>
        </p:nvGraphicFramePr>
        <p:xfrm>
          <a:off x="502920" y="1600200"/>
          <a:ext cx="8897111" cy="3675888"/>
        </p:xfrm>
        <a:graphic>
          <a:graphicData uri="http://schemas.openxmlformats.org/drawingml/2006/table">
            <a:tbl>
              <a:tblPr/>
              <a:tblGrid>
                <a:gridCol w="1874519"/>
                <a:gridCol w="2340864"/>
                <a:gridCol w="2340864"/>
                <a:gridCol w="2340864"/>
              </a:tblGrid>
              <a:tr h="502920">
                <a:tc>
                  <a:txBody>
                    <a:bodyPr/>
                    <a:lstStyle/>
                    <a:p>
                      <a:pPr algn="ctr">
                        <a:buNone/>
                      </a:pP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梅</a:t>
                      </a:r>
                      <a:endParaRPr lang="ja-JP" altLang="en-US" sz="1100" dirty="0"/>
                    </a:p>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構築プラン</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3E5C99"/>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竹（おすすめ）</a:t>
                      </a:r>
                      <a:endParaRPr lang="ja-JP" altLang="en-US" sz="1100" dirty="0"/>
                    </a:p>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構築＋運用プラン</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松</a:t>
                      </a:r>
                      <a:endParaRPr lang="ja-JP" altLang="en-US" sz="1100" dirty="0"/>
                    </a:p>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構築＋運用＋広告プラン</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3E5C99"/>
                    </a:solidFill>
                  </a:tcPr>
                </a:tc>
              </a:tr>
              <a:tr h="365760">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初期費用</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26.5万円〜</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26.5万円〜</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26.5万円〜</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438912">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月額費用</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6万円〜</a:t>
                      </a:r>
                      <a:endParaRPr lang="ja-JP" altLang="en-US" sz="14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rPr>
                        <a:t>26万円〜</a:t>
                      </a:r>
                      <a:endParaRPr lang="ja-JP" altLang="en-US" sz="16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46万円〜</a:t>
                      </a:r>
                      <a:endParaRPr lang="ja-JP" altLang="en-US" sz="14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50292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月額の内訳</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950" b="0" dirty="0">
                          <a:solidFill>
                            <a:srgbClr val="333333"/>
                          </a:solidFill>
                          <a:latin typeface="メイリオ" panose="020B0604030504040204" pitchFamily="50" charset="-128"/>
                          <a:ea typeface="メイリオ" panose="020B0604030504040204" pitchFamily="50" charset="-128"/>
                        </a:rPr>
                        <a:t>離脱防止 3万円</a:t>
                      </a:r>
                      <a:br>
                        <a:rPr lang="ja-JP" altLang="en-US" sz="950" b="0" dirty="0">
                          <a:solidFill>
                            <a:srgbClr val="333333"/>
                          </a:solidFill>
                          <a:latin typeface="メイリオ" panose="020B0604030504040204" pitchFamily="50" charset="-128"/>
                          <a:ea typeface="メイリオ" panose="020B0604030504040204" pitchFamily="50" charset="-128"/>
                        </a:rPr>
                      </a:br>
                      <a:r>
                        <a:rPr lang="ja-JP" altLang="en-US" sz="950" b="0" dirty="0">
                          <a:solidFill>
                            <a:srgbClr val="333333"/>
                          </a:solidFill>
                          <a:latin typeface="メイリオ" panose="020B0604030504040204" pitchFamily="50" charset="-128"/>
                          <a:ea typeface="メイリオ" panose="020B0604030504040204" pitchFamily="50" charset="-128"/>
                        </a:rPr>
                        <a:t>サンクスLINE誘導 3万円〜</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950" b="0" dirty="0">
                          <a:solidFill>
                            <a:srgbClr val="333333"/>
                          </a:solidFill>
                          <a:latin typeface="メイリオ" panose="020B0604030504040204" pitchFamily="50" charset="-128"/>
                          <a:ea typeface="メイリオ" panose="020B0604030504040204" pitchFamily="50" charset="-128"/>
                        </a:rPr>
                        <a:t>梅の内容</a:t>
                      </a:r>
                      <a:br>
                        <a:rPr lang="ja-JP" altLang="en-US" sz="950" b="0" dirty="0">
                          <a:solidFill>
                            <a:srgbClr val="333333"/>
                          </a:solidFill>
                          <a:latin typeface="メイリオ" panose="020B0604030504040204" pitchFamily="50" charset="-128"/>
                          <a:ea typeface="メイリオ" panose="020B0604030504040204" pitchFamily="50" charset="-128"/>
                        </a:rPr>
                      </a:br>
                      <a:r>
                        <a:rPr lang="ja-JP" altLang="en-US" sz="950" b="0" dirty="0">
                          <a:solidFill>
                            <a:srgbClr val="333333"/>
                          </a:solidFill>
                          <a:latin typeface="メイリオ" panose="020B0604030504040204" pitchFamily="50" charset="-128"/>
                          <a:ea typeface="メイリオ" panose="020B0604030504040204" pitchFamily="50" charset="-128"/>
                        </a:rPr>
                        <a:t>＋LINE運用コンサル 20万円〜</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950" b="0" dirty="0">
                          <a:solidFill>
                            <a:srgbClr val="333333"/>
                          </a:solidFill>
                          <a:latin typeface="メイリオ" panose="020B0604030504040204" pitchFamily="50" charset="-128"/>
                          <a:ea typeface="メイリオ" panose="020B0604030504040204" pitchFamily="50" charset="-128"/>
                        </a:rPr>
                        <a:t>竹の内容</a:t>
                      </a:r>
                      <a:br>
                        <a:rPr lang="ja-JP" altLang="en-US" sz="950" b="0" dirty="0">
                          <a:solidFill>
                            <a:srgbClr val="333333"/>
                          </a:solidFill>
                          <a:latin typeface="メイリオ" panose="020B0604030504040204" pitchFamily="50" charset="-128"/>
                          <a:ea typeface="メイリオ" panose="020B0604030504040204" pitchFamily="50" charset="-128"/>
                        </a:rPr>
                      </a:br>
                      <a:r>
                        <a:rPr lang="ja-JP" altLang="en-US" sz="950" b="0" dirty="0">
                          <a:solidFill>
                            <a:srgbClr val="333333"/>
                          </a:solidFill>
                          <a:latin typeface="メイリオ" panose="020B0604030504040204" pitchFamily="50" charset="-128"/>
                          <a:ea typeface="メイリオ" panose="020B0604030504040204" pitchFamily="50" charset="-128"/>
                        </a:rPr>
                        <a:t>＋LINE広告（友だち追加）20万円〜</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329184">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友だちの入口</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329184">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ステップ配信の構築</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438912">
                <a:tc>
                  <a:txBody>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企画配信・</a:t>
                      </a:r>
                      <a:br>
                        <a:rPr lang="ja-JP" altLang="en-US" sz="1000" b="1" dirty="0">
                          <a:solidFill>
                            <a:srgbClr val="1F285A"/>
                          </a:solidFill>
                          <a:latin typeface="メイリオ" panose="020B0604030504040204" pitchFamily="50" charset="-128"/>
                          <a:ea typeface="メイリオ" panose="020B0604030504040204" pitchFamily="50" charset="-128"/>
                        </a:rPr>
                      </a:br>
                      <a:r>
                        <a:rPr lang="ja-JP" altLang="en-US" sz="1000" b="1" dirty="0">
                          <a:solidFill>
                            <a:srgbClr val="1F285A"/>
                          </a:solidFill>
                          <a:latin typeface="メイリオ" panose="020B0604030504040204" pitchFamily="50" charset="-128"/>
                          <a:ea typeface="メイリオ" panose="020B0604030504040204" pitchFamily="50" charset="-128"/>
                        </a:rPr>
                        <a:t>来場前のお知らせ</a:t>
                      </a:r>
                      <a:endParaRPr lang="ja-JP" altLang="en-US" sz="10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000" b="0" dirty="0">
                          <a:solidFill>
                            <a:srgbClr val="7F7F7F"/>
                          </a:solidFill>
                          <a:latin typeface="メイリオ" panose="020B0604030504040204" pitchFamily="50" charset="-128"/>
                          <a:ea typeface="メイリオ" panose="020B0604030504040204" pitchFamily="50" charset="-128"/>
                        </a:rPr>
                        <a:t>貴社で運用</a:t>
                      </a:r>
                      <a:endParaRPr lang="ja-JP" altLang="en-US" sz="10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329184">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結果の分析・改善</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0" dirty="0">
                          <a:solidFill>
                            <a:srgbClr val="7F7F7F"/>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438912">
                <a:tc>
                  <a:txBody>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LINE広告で</a:t>
                      </a:r>
                      <a:br>
                        <a:rPr lang="ja-JP" altLang="en-US" sz="1000" b="1" dirty="0">
                          <a:solidFill>
                            <a:srgbClr val="1F285A"/>
                          </a:solidFill>
                          <a:latin typeface="メイリオ" panose="020B0604030504040204" pitchFamily="50" charset="-128"/>
                          <a:ea typeface="メイリオ" panose="020B0604030504040204" pitchFamily="50" charset="-128"/>
                        </a:rPr>
                      </a:br>
                      <a:r>
                        <a:rPr lang="ja-JP" altLang="en-US" sz="1000" b="1" dirty="0">
                          <a:solidFill>
                            <a:srgbClr val="1F285A"/>
                          </a:solidFill>
                          <a:latin typeface="メイリオ" panose="020B0604030504040204" pitchFamily="50" charset="-128"/>
                          <a:ea typeface="メイリオ" panose="020B0604030504040204" pitchFamily="50" charset="-128"/>
                        </a:rPr>
                        <a:t>友だちを増やす</a:t>
                      </a:r>
                      <a:endParaRPr lang="ja-JP" altLang="en-US" sz="10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0" dirty="0">
                          <a:solidFill>
                            <a:srgbClr val="7F7F7F"/>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7F7F7F"/>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8" name="注記"/>
          <p:cNvSpPr/>
          <p:nvPr/>
        </p:nvSpPr>
        <p:spPr>
          <a:xfrm>
            <a:off x="502920" y="5715000"/>
            <a:ext cx="8897112" cy="384048"/>
          </a:xfrm>
          <a:prstGeom prst="rect">
            <a:avLst/>
          </a:prstGeom>
          <a:noFill/>
          <a:ln>
            <a:noFill/>
          </a:ln>
        </p:spPr>
        <p:txBody>
          <a:bodyPr wrap="square" lIns="0" tIns="0" rIns="0" bIns="0" rtlCol="0" anchor="t">
            <a:noAutofit/>
          </a:bodyPr>
          <a:lstStyle/>
          <a:p>
            <a:pPr algn="l">
              <a:lnSpc>
                <a:spcPct val="115000"/>
              </a:lnSpc>
              <a:buNone/>
            </a:pPr>
            <a:r>
              <a:rPr lang="ja-JP" altLang="en-US" sz="850" b="0" dirty="0">
                <a:solidFill>
                  <a:srgbClr val="7F7F7F"/>
                </a:solidFill>
                <a:latin typeface="メイリオ" panose="020B0604030504040204" pitchFamily="50" charset="-128"/>
                <a:ea typeface="メイリオ" panose="020B0604030504040204" pitchFamily="50" charset="-128"/>
              </a:rPr>
              <a:t>※初期費用＝運用設計・構築 10万円〜＋離脱防止 1.5万円＋サンクスLINE誘導 15万円。LINE公式アカウント利用料は別（貴社のご契約のまま）。契約期間は6か月〜。試算のページは竹プランの場合</a:t>
            </a:r>
            <a:endParaRPr lang="ja-JP" altLang="en-US" sz="1200" dirty="0"/>
          </a:p>
        </p:txBody>
      </p:sp>
      <p:sp>
        <p:nvSpPr>
          <p:cNvPr id="9" name="注記"/>
          <p:cNvSpPr/>
          <p:nvPr/>
        </p:nvSpPr>
        <p:spPr>
          <a:xfrm>
            <a:off x="502920" y="612648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850" b="0" dirty="0">
                <a:solidFill>
                  <a:srgbClr val="7F7F7F"/>
                </a:solidFill>
                <a:latin typeface="メイリオ" panose="020B0604030504040204" pitchFamily="50" charset="-128"/>
                <a:ea typeface="メイリオ" panose="020B0604030504040204" pitchFamily="50" charset="-128"/>
              </a:rPr>
              <a:t>※施策内容・配信本数・連携範囲等により、費用は個別にお見積もりいたします。</a:t>
            </a:r>
            <a:endParaRPr lang="ja-JP" alt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rgbClr val="323366"/>
                </a:solidFill>
                <a:effectLst/>
                <a:uFillTx/>
                <a:latin typeface="メイリオ"/>
                <a:ea typeface="メイリオ"/>
              </a:rPr>
              <a:t>今後の展開：青森店で型を作り、全店へ横展開する</a:t>
            </a:r>
            <a:endParaRPr lang="en-US" sz="1600" b="0" u="none" strike="noStrike" dirty="0">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配信の仕組みとコンテンツは、他の店舗・別のターゲットにそのまま転用できる</a:t>
            </a:r>
            <a:endParaRPr lang="en-US" sz="1400" b="1" u="none" strike="noStrike" dirty="0">
              <a:effectLst/>
              <a:uFillTx/>
              <a:latin typeface="メイリオ"/>
            </a:endParaRPr>
          </a:p>
        </p:txBody>
      </p:sp>
      <p:sp>
        <p:nvSpPr>
          <p:cNvPr id="7" name="見出し 青森店で確立する型"/>
          <p:cNvSpPr/>
          <p:nvPr/>
        </p:nvSpPr>
        <p:spPr>
          <a:xfrm>
            <a:off x="502920" y="1691640"/>
            <a:ext cx="338328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青森店で確立する型</a:t>
            </a:r>
            <a:endParaRPr lang="ja-JP" altLang="en-US" sz="1200" dirty="0"/>
          </a:p>
        </p:txBody>
      </p:sp>
      <p:sp>
        <p:nvSpPr>
          <p:cNvPr id="8" name="型1"/>
          <p:cNvSpPr/>
          <p:nvPr/>
        </p:nvSpPr>
        <p:spPr>
          <a:xfrm>
            <a:off x="502920" y="2103120"/>
            <a:ext cx="3383280" cy="676656"/>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rPr>
              <a:t>① 入口</a:t>
            </a:r>
            <a:endParaRPr lang="ja-JP" altLang="en-US" sz="1200" dirty="0"/>
          </a:p>
          <a:p>
            <a:pPr algn="l">
              <a:lnSpc>
                <a:spcPct val="115000"/>
              </a:lnSpc>
              <a:buNone/>
            </a:pPr>
            <a:r>
              <a:rPr lang="ja-JP" altLang="en-US" sz="1050" b="0" dirty="0">
                <a:solidFill>
                  <a:srgbClr val="333333"/>
                </a:solidFill>
                <a:latin typeface="メイリオ" panose="020B0604030504040204" pitchFamily="50" charset="-128"/>
                <a:ea typeface="メイリオ" panose="020B0604030504040204" pitchFamily="50" charset="-128"/>
              </a:rPr>
              <a:t>資料請求・来場予約・サイトからLINEへ</a:t>
            </a:r>
            <a:endParaRPr lang="ja-JP" altLang="en-US" sz="1200" dirty="0"/>
          </a:p>
        </p:txBody>
      </p:sp>
      <p:sp>
        <p:nvSpPr>
          <p:cNvPr id="9" name="型2"/>
          <p:cNvSpPr/>
          <p:nvPr/>
        </p:nvSpPr>
        <p:spPr>
          <a:xfrm>
            <a:off x="502920" y="2889503"/>
            <a:ext cx="3383280" cy="676656"/>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rPr>
              <a:t>② 配信</a:t>
            </a:r>
            <a:endParaRPr lang="ja-JP" altLang="en-US" sz="1200" dirty="0"/>
          </a:p>
          <a:p>
            <a:pPr algn="l">
              <a:lnSpc>
                <a:spcPct val="115000"/>
              </a:lnSpc>
              <a:buNone/>
            </a:pPr>
            <a:r>
              <a:rPr lang="ja-JP" altLang="en-US" sz="1050" b="0" dirty="0">
                <a:solidFill>
                  <a:srgbClr val="333333"/>
                </a:solidFill>
                <a:latin typeface="メイリオ" panose="020B0604030504040204" pitchFamily="50" charset="-128"/>
                <a:ea typeface="メイリオ" panose="020B0604030504040204" pitchFamily="50" charset="-128"/>
              </a:rPr>
              <a:t>検討の順番に沿ったステップ配信</a:t>
            </a:r>
            <a:endParaRPr lang="ja-JP" altLang="en-US" sz="1200" dirty="0"/>
          </a:p>
        </p:txBody>
      </p:sp>
      <p:sp>
        <p:nvSpPr>
          <p:cNvPr id="10" name="型3"/>
          <p:cNvSpPr/>
          <p:nvPr/>
        </p:nvSpPr>
        <p:spPr>
          <a:xfrm>
            <a:off x="502920" y="3675887"/>
            <a:ext cx="3383280" cy="676656"/>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rPr>
              <a:t>③ 改善</a:t>
            </a:r>
            <a:endParaRPr lang="ja-JP" altLang="en-US" sz="1200" dirty="0"/>
          </a:p>
          <a:p>
            <a:pPr algn="l">
              <a:lnSpc>
                <a:spcPct val="115000"/>
              </a:lnSpc>
              <a:buNone/>
            </a:pPr>
            <a:r>
              <a:rPr lang="ja-JP" altLang="en-US" sz="1050" b="0" dirty="0">
                <a:solidFill>
                  <a:srgbClr val="333333"/>
                </a:solidFill>
                <a:latin typeface="メイリオ" panose="020B0604030504040204" pitchFamily="50" charset="-128"/>
                <a:ea typeface="メイリオ" panose="020B0604030504040204" pitchFamily="50" charset="-128"/>
              </a:rPr>
              <a:t>来場・契約の結果を見て、配信と広告を見直す</a:t>
            </a:r>
            <a:endParaRPr lang="ja-JP" altLang="en-US" sz="1200" dirty="0"/>
          </a:p>
        </p:txBody>
      </p:sp>
      <p:sp>
        <p:nvSpPr>
          <p:cNvPr id="11" name="矢印"/>
          <p:cNvSpPr/>
          <p:nvPr/>
        </p:nvSpPr>
        <p:spPr>
          <a:xfrm>
            <a:off x="3931920" y="2103120"/>
            <a:ext cx="457199" cy="2359152"/>
          </a:xfrm>
          <a:prstGeom prst="rect">
            <a:avLst/>
          </a:prstGeom>
          <a:noFill/>
          <a:ln>
            <a:noFill/>
          </a:ln>
        </p:spPr>
        <p:txBody>
          <a:bodyPr wrap="square" lIns="0" tIns="0" rIns="0" bIns="0" rtlCol="0" anchor="ctr">
            <a:noAutofit/>
          </a:bodyPr>
          <a:lstStyle/>
          <a:p>
            <a:pPr algn="ctr">
              <a:buNone/>
            </a:pPr>
            <a:r>
              <a:rPr lang="ja-JP" altLang="en-US" sz="18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2" name="見出し 横展開"/>
          <p:cNvSpPr/>
          <p:nvPr/>
        </p:nvSpPr>
        <p:spPr>
          <a:xfrm>
            <a:off x="4434840" y="1691640"/>
            <a:ext cx="496519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横展開</a:t>
            </a:r>
            <a:endParaRPr lang="ja-JP" altLang="en-US" sz="1200" dirty="0"/>
          </a:p>
        </p:txBody>
      </p:sp>
      <p:graphicFrame>
        <p:nvGraphicFramePr>
          <p:cNvPr id="13" name="横展開 12"/>
          <p:cNvGraphicFramePr>
            <a:graphicFrameLocks noGrp="1"/>
          </p:cNvGraphicFramePr>
          <p:nvPr/>
        </p:nvGraphicFramePr>
        <p:xfrm>
          <a:off x="4434840" y="2103120"/>
          <a:ext cx="4965192" cy="2359152"/>
        </p:xfrm>
        <a:graphic>
          <a:graphicData uri="http://schemas.openxmlformats.org/drawingml/2006/table">
            <a:tbl>
              <a:tblPr/>
              <a:tblGrid>
                <a:gridCol w="86868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2313432">
                  <a:extLst>
                    <a:ext uri="{9D8B030D-6E8A-4147-A177-3AD203B41FA5}">
                      <a16:colId xmlns:a16="http://schemas.microsoft.com/office/drawing/2014/main" val="20002"/>
                    </a:ext>
                  </a:extLst>
                </a:gridCol>
              </a:tblGrid>
              <a:tr h="786384">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店舗</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八戸・おいらせ・弘前</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店舗ごとのQR・URLで、配信を分ける</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86384">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商品</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注文住宅・分譲・土地</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希望に合わせた配信</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86384">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層</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検討中・来場済・OB施主</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段階に合わせた配信（OB施主には紹介・点検の案内）</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14" name="示唆"/>
          <p:cNvSpPr/>
          <p:nvPr/>
        </p:nvSpPr>
        <p:spPr>
          <a:xfrm>
            <a:off x="502920" y="50749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集客投資の効果を最大化するために、</a:t>
            </a:r>
            <a:r>
              <a:rPr lang="ja-JP" altLang="en-US" sz="1300" b="1" dirty="0">
                <a:solidFill>
                  <a:srgbClr val="C00000"/>
                </a:solidFill>
                <a:latin typeface="メイリオ" panose="020B0604030504040204" pitchFamily="50" charset="-128"/>
                <a:ea typeface="メイリオ" panose="020B0604030504040204" pitchFamily="50" charset="-128"/>
              </a:rPr>
              <a:t>今、LINEでつながる範囲を広げる</a:t>
            </a:r>
            <a:endParaRPr lang="ja-JP" altLang="en-US" sz="1200" dirty="0"/>
          </a:p>
        </p:txBody>
      </p:sp>
      <p:sp>
        <p:nvSpPr>
          <p:cNvPr id="15"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※1つのアカウントで運用し、店舗・商品・層は友だち追加の経路とタグで分ける／既存のLINE公式アカウントを活用</a:t>
            </a:r>
            <a:endParaRPr lang="ja-JP" alt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スケジュール：検索が最も増える年明けまでに、LINEの仕組みを整える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11月から設計・構築を進め、1月から運用を始める</a:t>
            </a:r>
            <a:endParaRPr lang="en-US" sz="1400" b="1" u="none" strike="noStrike" dirty="0">
              <a:effectLst/>
              <a:uFillTx/>
              <a:latin typeface="メイリオ"/>
            </a:endParaRPr>
          </a:p>
        </p:txBody>
      </p:sp>
      <p:sp>
        <p:nvSpPr>
          <p:cNvPr id="7" name="見出し 「平屋」の検索（青森県・月別）"/>
          <p:cNvSpPr/>
          <p:nvPr/>
        </p:nvSpPr>
        <p:spPr>
          <a:xfrm>
            <a:off x="502920" y="1691640"/>
            <a:ext cx="406908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「平屋」の検索（青森県・月別）</a:t>
            </a:r>
            <a:endParaRPr lang="ja-JP" altLang="en-US" sz="1200" dirty="0"/>
          </a:p>
        </p:txBody>
      </p:sp>
      <p:graphicFrame>
        <p:nvGraphicFramePr>
          <p:cNvPr id="8" name="検索の月別"/>
          <p:cNvGraphicFramePr>
            <a:graphicFrameLocks noGrp="1"/>
          </p:cNvGraphicFramePr>
          <p:nvPr/>
        </p:nvGraphicFramePr>
        <p:xfrm>
          <a:off x="502920" y="2103120"/>
          <a:ext cx="4069080" cy="2743200"/>
        </p:xfrm>
        <a:graphic>
          <a:graphicData uri="http://schemas.openxmlformats.org/drawingml/2006/chart">
            <c:chart xmlns:c="http://schemas.openxmlformats.org/drawingml/2006/chart" xmlns:r="http://schemas.openxmlformats.org/officeDocument/2006/relationships" r:id="rId2"/>
          </a:graphicData>
        </a:graphic>
      </p:graphicFrame>
      <p:sp>
        <p:nvSpPr>
          <p:cNvPr id="9" name="見出し 進め方"/>
          <p:cNvSpPr/>
          <p:nvPr/>
        </p:nvSpPr>
        <p:spPr>
          <a:xfrm>
            <a:off x="4800600" y="1691640"/>
            <a:ext cx="459943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進め方</a:t>
            </a:r>
            <a:endParaRPr lang="ja-JP" altLang="en-US" sz="1200" dirty="0"/>
          </a:p>
        </p:txBody>
      </p:sp>
      <p:graphicFrame>
        <p:nvGraphicFramePr>
          <p:cNvPr id="10" name="進め方 9"/>
          <p:cNvGraphicFramePr>
            <a:graphicFrameLocks noGrp="1"/>
          </p:cNvGraphicFramePr>
          <p:nvPr/>
        </p:nvGraphicFramePr>
        <p:xfrm>
          <a:off x="4800600" y="2103120"/>
          <a:ext cx="4599432" cy="2743200"/>
        </p:xfrm>
        <a:graphic>
          <a:graphicData uri="http://schemas.openxmlformats.org/drawingml/2006/table">
            <a:tbl>
              <a:tblPr/>
              <a:tblGrid>
                <a:gridCol w="868680">
                  <a:extLst>
                    <a:ext uri="{9D8B030D-6E8A-4147-A177-3AD203B41FA5}">
                      <a16:colId xmlns:a16="http://schemas.microsoft.com/office/drawing/2014/main" val="20000"/>
                    </a:ext>
                  </a:extLst>
                </a:gridCol>
                <a:gridCol w="3730752">
                  <a:extLst>
                    <a:ext uri="{9D8B030D-6E8A-4147-A177-3AD203B41FA5}">
                      <a16:colId xmlns:a16="http://schemas.microsoft.com/office/drawing/2014/main" val="20001"/>
                    </a:ext>
                  </a:extLst>
                </a:gridCol>
              </a:tblGrid>
              <a:tr h="685800">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11月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設計：友だちの入口、配信の内容と順番、使う写真・動画の確認</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685800">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12月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構築：離脱防止・サイトのLINEボタン・サンクスLINE誘導、ステップ配信、来場前のお知らせ</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1月〜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1" dirty="0">
                          <a:solidFill>
                            <a:srgbClr val="1F285A"/>
                          </a:solidFill>
                          <a:latin typeface="メイリオ" panose="020B0604030504040204" pitchFamily="50" charset="-128"/>
                          <a:ea typeface="メイリオ" panose="020B0604030504040204" pitchFamily="50" charset="-128"/>
                        </a:rPr>
                        <a:t>運用開始：検索が増える時期に、友だちを集めて配信する</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3月〜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改善：来場・契約の結果を見て、配信と広告を見直す。他店舗への展開を準備</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1" name="注記"/>
          <p:cNvSpPr/>
          <p:nvPr/>
        </p:nvSpPr>
        <p:spPr>
          <a:xfrm>
            <a:off x="502920" y="5029200"/>
            <a:ext cx="8897112" cy="41148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※Googleトレンドより。2016年10月〜2026年9月で最も多い月を100とした値を、直近5年（2021年10月〜2026年9月）の月ごとに平均。全国の「注文住宅」も1〜2月が最も多い</a:t>
            </a:r>
            <a:endParaRPr lang="ja-JP" altLang="en-US" sz="1200" dirty="0"/>
          </a:p>
        </p:txBody>
      </p:sp>
      <p:sp>
        <p:nvSpPr>
          <p:cNvPr id="12" name="注記"/>
          <p:cNvSpPr/>
          <p:nvPr/>
        </p:nvSpPr>
        <p:spPr>
          <a:xfrm>
            <a:off x="502920" y="5468112"/>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※スケジュールは、ご契約の時期により前後する</a:t>
            </a:r>
            <a:endParaRPr lang="ja-JP" alt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3" name="正方形/長方形 18"/>
          <p:cNvSpPr/>
          <p:nvPr/>
        </p:nvSpPr>
        <p:spPr>
          <a:xfrm>
            <a:off x="1649160" y="5820840"/>
            <a:ext cx="6192360" cy="373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spcBef>
                <a:spcPts val="167"/>
              </a:spcBef>
            </a:pPr>
            <a:r>
              <a:rPr lang="ja-JP" sz="830" b="1" u="none" strike="noStrike">
                <a:solidFill>
                  <a:srgbClr val="000000"/>
                </a:solidFill>
                <a:effectLst/>
                <a:uFillTx/>
                <a:latin typeface="メイリオ"/>
                <a:ea typeface="メイリオ"/>
              </a:rPr>
              <a:t>株式会社</a:t>
            </a:r>
            <a:r>
              <a:rPr lang="en-US" sz="830" b="1" u="none" strike="noStrike">
                <a:solidFill>
                  <a:srgbClr val="000000"/>
                </a:solidFill>
                <a:effectLst/>
                <a:uFillTx/>
                <a:latin typeface="メイリオ"/>
                <a:ea typeface="メイリオ"/>
              </a:rPr>
              <a:t>DYM</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141-0032</a:t>
            </a:r>
            <a:r>
              <a:rPr lang="ja-JP" sz="830" b="1" u="none" strike="noStrike">
                <a:solidFill>
                  <a:srgbClr val="000000"/>
                </a:solidFill>
                <a:effectLst/>
                <a:uFillTx/>
                <a:latin typeface="メイリオ"/>
                <a:ea typeface="メイリオ"/>
              </a:rPr>
              <a:t>　東京都品川区大崎</a:t>
            </a:r>
            <a:r>
              <a:rPr lang="en-US" sz="830" b="1" u="none" strike="noStrike">
                <a:solidFill>
                  <a:srgbClr val="000000"/>
                </a:solidFill>
                <a:effectLst/>
                <a:uFillTx/>
                <a:latin typeface="メイリオ"/>
                <a:ea typeface="メイリオ"/>
              </a:rPr>
              <a:t>1-11-2</a:t>
            </a:r>
            <a:r>
              <a:rPr lang="ja-JP" sz="830" b="1" u="none" strike="noStrike">
                <a:solidFill>
                  <a:srgbClr val="000000"/>
                </a:solidFill>
                <a:effectLst/>
                <a:uFillTx/>
                <a:latin typeface="メイリオ"/>
                <a:ea typeface="メイリオ"/>
              </a:rPr>
              <a:t>　ゲートシティ大崎イーストタワー</a:t>
            </a:r>
            <a:r>
              <a:rPr lang="en-US" sz="830" b="1" u="none" strike="noStrike">
                <a:solidFill>
                  <a:srgbClr val="000000"/>
                </a:solidFill>
                <a:effectLst/>
                <a:uFillTx/>
                <a:latin typeface="メイリオ"/>
                <a:ea typeface="メイリオ"/>
              </a:rPr>
              <a:t>10</a:t>
            </a:r>
            <a:r>
              <a:rPr lang="ja-JP" sz="830" b="1" u="none" strike="noStrike">
                <a:solidFill>
                  <a:srgbClr val="000000"/>
                </a:solidFill>
                <a:effectLst/>
                <a:uFillTx/>
                <a:latin typeface="メイリオ"/>
                <a:ea typeface="メイリオ"/>
              </a:rPr>
              <a:t>階</a:t>
            </a:r>
            <a:endParaRPr lang="en-US" sz="830" b="0" u="none" strike="noStrike">
              <a:solidFill>
                <a:srgbClr val="000000"/>
              </a:solidFill>
              <a:effectLst/>
              <a:uFillTx/>
              <a:latin typeface="Arial"/>
            </a:endParaRPr>
          </a:p>
          <a:p>
            <a:pPr defTabSz="914400">
              <a:lnSpc>
                <a:spcPct val="100000"/>
              </a:lnSpc>
              <a:spcBef>
                <a:spcPts val="167"/>
              </a:spcBef>
            </a:pPr>
            <a:r>
              <a:rPr lang="en-US" sz="830" b="1" u="none" strike="noStrike">
                <a:solidFill>
                  <a:srgbClr val="000000"/>
                </a:solidFill>
                <a:effectLst/>
                <a:uFillTx/>
                <a:latin typeface="メイリオ"/>
                <a:ea typeface="メイリオ"/>
              </a:rPr>
              <a:t>TEL: 03-5745-0200</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FAX: 03-3779-8720 </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http://dym.asia   </a:t>
            </a:r>
            <a:r>
              <a:rPr lang="ja-JP" sz="830" b="1" u="none" strike="noStrike">
                <a:solidFill>
                  <a:srgbClr val="000000"/>
                </a:solidFill>
                <a:effectLst/>
                <a:uFillTx/>
                <a:latin typeface="メイリオ"/>
                <a:ea typeface="メイリオ"/>
              </a:rPr>
              <a:t>代表取締役　水谷佑毅</a:t>
            </a:r>
            <a:endParaRPr lang="en-US" sz="830" b="0" u="none" strike="noStrike">
              <a:solidFill>
                <a:srgbClr val="000000"/>
              </a:solidFill>
              <a:effectLst/>
              <a:uFillTx/>
              <a:latin typeface="Arial"/>
            </a:endParaRPr>
          </a:p>
        </p:txBody>
      </p:sp>
      <p:pic>
        <p:nvPicPr>
          <p:cNvPr id="1074" name="図 1"/>
          <p:cNvPicPr/>
          <p:nvPr/>
        </p:nvPicPr>
        <p:blipFill>
          <a:blip r:embed="rId3"/>
          <a:srcRect l="-1652" r="-11179"/>
          <a:stretch/>
        </p:blipFill>
        <p:spPr>
          <a:xfrm>
            <a:off x="543960" y="5895360"/>
            <a:ext cx="1100520" cy="224640"/>
          </a:xfrm>
          <a:prstGeom prst="rect">
            <a:avLst/>
          </a:prstGeom>
          <a:noFill/>
          <a:ln w="0">
            <a:noFill/>
          </a:ln>
        </p:spPr>
      </p:pic>
      <p:sp>
        <p:nvSpPr>
          <p:cNvPr id="1075" name="テキスト ボックス 2"/>
          <p:cNvSpPr/>
          <p:nvPr/>
        </p:nvSpPr>
        <p:spPr>
          <a:xfrm>
            <a:off x="5070240" y="559764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endParaRPr lang="en-US" sz="1800" b="0" u="none" strike="noStrike">
              <a:solidFill>
                <a:srgbClr val="000000"/>
              </a:solidFill>
              <a:effectLst/>
              <a:uFillTx/>
              <a:latin typeface="Arial"/>
              <a:ea typeface="ＭＳ Ｐゴシック"/>
            </a:endParaRPr>
          </a:p>
        </p:txBody>
      </p:sp>
      <p:sp>
        <p:nvSpPr>
          <p:cNvPr id="1076" name="正方形/長方形 17"/>
          <p:cNvSpPr/>
          <p:nvPr/>
        </p:nvSpPr>
        <p:spPr>
          <a:xfrm>
            <a:off x="2170080" y="989640"/>
            <a:ext cx="556560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360"/>
              </a:spcBef>
            </a:pPr>
            <a:r>
              <a:rPr lang="ja-JP" sz="1800" b="1" u="none" strike="noStrike">
                <a:solidFill>
                  <a:srgbClr val="000000"/>
                </a:solidFill>
                <a:effectLst/>
                <a:uFillTx/>
                <a:latin typeface="メイリオ"/>
                <a:ea typeface="メイリオ"/>
              </a:rPr>
              <a:t>貴社の明るい未来に必ず貢献致します。</a:t>
            </a:r>
            <a:endParaRPr lang="en-US" sz="1800" b="0" u="none" strike="noStrike">
              <a:solidFill>
                <a:srgbClr val="000000"/>
              </a:solidFill>
              <a:effectLst/>
              <a:uFillTx/>
              <a:latin typeface="Arial"/>
            </a:endParaRPr>
          </a:p>
        </p:txBody>
      </p:sp>
      <p:sp>
        <p:nvSpPr>
          <p:cNvPr id="1077" name="正方形/長方形 13"/>
          <p:cNvSpPr/>
          <p:nvPr/>
        </p:nvSpPr>
        <p:spPr>
          <a:xfrm>
            <a:off x="382680" y="2698200"/>
            <a:ext cx="597960" cy="20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47"/>
              </a:spcBef>
            </a:pPr>
            <a:r>
              <a:rPr lang="ja-JP" sz="740" b="0" u="none" strike="noStrike">
                <a:solidFill>
                  <a:srgbClr val="FFFFFF"/>
                </a:solidFill>
                <a:effectLst/>
                <a:uFillTx/>
                <a:latin typeface="メイリオ"/>
                <a:ea typeface="メイリオ"/>
              </a:rPr>
              <a:t>本社</a:t>
            </a:r>
            <a:endParaRPr lang="en-US" sz="740" b="0" u="none" strike="noStrike">
              <a:solidFill>
                <a:srgbClr val="000000"/>
              </a:solidFill>
              <a:effectLst/>
              <a:uFillTx/>
              <a:latin typeface="Arial"/>
            </a:endParaRPr>
          </a:p>
        </p:txBody>
      </p:sp>
      <p:sp>
        <p:nvSpPr>
          <p:cNvPr id="1078" name="正方形/長方形 14"/>
          <p:cNvSpPr/>
          <p:nvPr/>
        </p:nvSpPr>
        <p:spPr>
          <a:xfrm>
            <a:off x="368280" y="2355120"/>
            <a:ext cx="75636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59"/>
              </a:spcBef>
            </a:pPr>
            <a:r>
              <a:rPr lang="ja-JP" sz="800" b="0" u="none" strike="noStrike">
                <a:solidFill>
                  <a:srgbClr val="FFFFFF"/>
                </a:solidFill>
                <a:effectLst/>
                <a:uFillTx/>
                <a:latin typeface="メイリオ"/>
                <a:ea typeface="メイリオ"/>
              </a:rPr>
              <a:t>本社</a:t>
            </a:r>
            <a:endParaRPr lang="en-US" sz="800" b="0" u="none" strike="noStrike">
              <a:solidFill>
                <a:srgbClr val="000000"/>
              </a:solidFill>
              <a:effectLst/>
              <a:uFillTx/>
              <a:latin typeface="Arial"/>
            </a:endParaRPr>
          </a:p>
        </p:txBody>
      </p:sp>
      <p:grpSp>
        <p:nvGrpSpPr>
          <p:cNvPr id="1079" name="グループ化 21"/>
          <p:cNvGrpSpPr/>
          <p:nvPr/>
        </p:nvGrpSpPr>
        <p:grpSpPr>
          <a:xfrm>
            <a:off x="380880" y="1772640"/>
            <a:ext cx="9143640" cy="3314520"/>
            <a:chOff x="380880" y="1772640"/>
            <a:chExt cx="9143640" cy="3314520"/>
          </a:xfrm>
        </p:grpSpPr>
        <p:pic>
          <p:nvPicPr>
            <p:cNvPr id="1080" name="図 20" descr="ポーズをとる男性グループ&#10;&#10;自動的に生成された説明"/>
            <p:cNvPicPr/>
            <p:nvPr/>
          </p:nvPicPr>
          <p:blipFill>
            <a:blip r:embed="rId4"/>
            <a:srcRect l="3642" r="4070"/>
            <a:stretch/>
          </p:blipFill>
          <p:spPr>
            <a:xfrm>
              <a:off x="7354800" y="3518640"/>
              <a:ext cx="2169720" cy="1567440"/>
            </a:xfrm>
            <a:prstGeom prst="rect">
              <a:avLst/>
            </a:prstGeom>
            <a:noFill/>
            <a:ln w="0">
              <a:noFill/>
            </a:ln>
          </p:spPr>
        </p:pic>
        <p:pic>
          <p:nvPicPr>
            <p:cNvPr id="1081" name="図 15" descr="白いシャツを着ている男性&#10;&#10;中程度の精度で自動的に生成された説明"/>
            <p:cNvPicPr/>
            <p:nvPr/>
          </p:nvPicPr>
          <p:blipFill>
            <a:blip r:embed="rId5"/>
            <a:stretch/>
          </p:blipFill>
          <p:spPr>
            <a:xfrm>
              <a:off x="5364720" y="3519720"/>
              <a:ext cx="1989720" cy="1567440"/>
            </a:xfrm>
            <a:prstGeom prst="rect">
              <a:avLst/>
            </a:prstGeom>
            <a:noFill/>
            <a:ln w="0">
              <a:noFill/>
            </a:ln>
          </p:spPr>
        </p:pic>
        <p:pic>
          <p:nvPicPr>
            <p:cNvPr id="1082" name="図 9" descr="スーツを着た男性たち&#10;&#10;自動的に生成された説明"/>
            <p:cNvPicPr/>
            <p:nvPr/>
          </p:nvPicPr>
          <p:blipFill>
            <a:blip r:embed="rId6"/>
            <a:srcRect l="10699" r="10360"/>
            <a:stretch/>
          </p:blipFill>
          <p:spPr>
            <a:xfrm>
              <a:off x="7680600" y="1774080"/>
              <a:ext cx="1842120" cy="1745640"/>
            </a:xfrm>
            <a:prstGeom prst="rect">
              <a:avLst/>
            </a:prstGeom>
            <a:noFill/>
            <a:ln w="0">
              <a:noFill/>
            </a:ln>
          </p:spPr>
        </p:pic>
        <p:pic>
          <p:nvPicPr>
            <p:cNvPr id="1083" name="図 6" descr="講堂にいる人たち&#10;&#10;中程度の精度で自動的に生成された説明"/>
            <p:cNvPicPr/>
            <p:nvPr/>
          </p:nvPicPr>
          <p:blipFill>
            <a:blip r:embed="rId7"/>
            <a:srcRect l="2513" t="12878" r="2480"/>
            <a:stretch/>
          </p:blipFill>
          <p:spPr>
            <a:xfrm>
              <a:off x="380880" y="1772640"/>
              <a:ext cx="5089320" cy="3314520"/>
            </a:xfrm>
            <a:prstGeom prst="rect">
              <a:avLst/>
            </a:prstGeom>
            <a:noFill/>
            <a:ln w="0">
              <a:noFill/>
            </a:ln>
          </p:spPr>
        </p:pic>
        <p:pic>
          <p:nvPicPr>
            <p:cNvPr id="1084" name="図 10" descr="スーツを着た男性グループの写真&#10;&#10;低い精度で自動的に生成された説明"/>
            <p:cNvPicPr/>
            <p:nvPr/>
          </p:nvPicPr>
          <p:blipFill>
            <a:blip r:embed="rId8"/>
            <a:srcRect l="8592" r="6764"/>
            <a:stretch/>
          </p:blipFill>
          <p:spPr>
            <a:xfrm>
              <a:off x="5470920" y="1773000"/>
              <a:ext cx="2215080" cy="1745640"/>
            </a:xfrm>
            <a:prstGeom prst="rect">
              <a:avLst/>
            </a:prstGeom>
            <a:noFill/>
            <a:ln w="0">
              <a:noFill/>
            </a:ln>
          </p:spPr>
        </p:pic>
      </p:grpSp>
      <p:sp>
        <p:nvSpPr>
          <p:cNvPr id="1085" name="正方形/長方形 5"/>
          <p:cNvSpPr/>
          <p:nvPr/>
        </p:nvSpPr>
        <p:spPr>
          <a:xfrm>
            <a:off x="128160" y="6620400"/>
            <a:ext cx="2852640" cy="237240"/>
          </a:xfrm>
          <a:prstGeom prst="rect">
            <a:avLst/>
          </a:prstGeom>
          <a:solidFill>
            <a:srgbClr val="191F54"/>
          </a:solidFill>
          <a:ln>
            <a:solidFill>
              <a:srgbClr val="10253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86" name="正方形/長方形 1"/>
          <p:cNvSpPr/>
          <p:nvPr/>
        </p:nvSpPr>
        <p:spPr>
          <a:xfrm>
            <a:off x="368280" y="0"/>
            <a:ext cx="9537480" cy="514440"/>
          </a:xfrm>
          <a:prstGeom prst="rect">
            <a:avLst/>
          </a:prstGeom>
          <a:solidFill>
            <a:schemeClr val="bg1"/>
          </a:solidFill>
          <a:ln>
            <a:solidFill>
              <a:srgbClr val="FFFF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Appendix</a:t>
            </a:r>
            <a:endParaRPr lang="en-US" sz="1600" b="0" u="none" strike="noStrike">
              <a:solidFill>
                <a:srgbClr val="000000"/>
              </a:solidFill>
              <a:effectLst/>
              <a:uFillTx/>
              <a:latin typeface="メイリオ"/>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参考資料</a:t>
            </a:r>
            <a:endParaRPr lang="en-US" sz="3200" b="0" u="none" strike="noStrike">
              <a:solidFill>
                <a:srgbClr val="000000"/>
              </a:solidFill>
              <a:effectLst/>
              <a:uFillTx/>
              <a:latin typeface="メイリオ"/>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ユーザーコミュニケーションに、</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公式アカウントを導入する法人が増加傾向。</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開封率に関してはメールマガジンの</a:t>
            </a:r>
            <a:r>
              <a:rPr lang="en-US" sz="1400" b="1" u="none" strike="noStrike">
                <a:solidFill>
                  <a:srgbClr val="343434"/>
                </a:solidFill>
                <a:effectLst/>
                <a:uFillTx/>
                <a:latin typeface="メイリオ"/>
                <a:ea typeface="メイリオ"/>
              </a:rPr>
              <a:t>6</a:t>
            </a:r>
            <a:r>
              <a:rPr lang="ja-JP" sz="1400" b="1" u="none" strike="noStrike">
                <a:solidFill>
                  <a:srgbClr val="343434"/>
                </a:solidFill>
                <a:effectLst/>
                <a:uFillTx/>
                <a:latin typeface="メイリオ"/>
                <a:ea typeface="メイリオ"/>
              </a:rPr>
              <a:t>倍を誇る</a:t>
            </a:r>
            <a:r>
              <a:rPr lang="ja-JP" sz="1400" b="0" u="none" strike="noStrike">
                <a:solidFill>
                  <a:srgbClr val="343434"/>
                </a:solidFill>
                <a:effectLst/>
                <a:uFillTx/>
                <a:latin typeface="メイリオ"/>
                <a:ea typeface="メイリオ"/>
              </a:rPr>
              <a:t>と言われています。</a:t>
            </a:r>
            <a:endParaRPr lang="en-US" sz="1400" b="0" u="none" strike="noStrike">
              <a:solidFill>
                <a:srgbClr val="000000"/>
              </a:solidFill>
              <a:effectLst/>
              <a:uFillTx/>
              <a:latin typeface="Arial"/>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rPr>
                <a:t>　　　　メールマガジン、テレマーケティング が主流</a:t>
              </a:r>
              <a:endParaRPr lang="en-US" sz="1400" b="0" u="none" strike="noStrike">
                <a:solidFill>
                  <a:srgbClr val="000000"/>
                </a:solidFill>
                <a:effectLst/>
                <a:uFillTx/>
                <a:latin typeface="Arial"/>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2"/>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rPr>
                <a:t>　　　　＋</a:t>
              </a:r>
              <a:r>
                <a:rPr lang="en-US" sz="1400" b="1" u="none" strike="noStrike">
                  <a:solidFill>
                    <a:srgbClr val="00B900"/>
                  </a:solidFill>
                  <a:effectLst/>
                  <a:uFillTx/>
                  <a:latin typeface="メイリオ"/>
                  <a:ea typeface="メイリオ"/>
                </a:rPr>
                <a:t>LINE</a:t>
              </a:r>
              <a:r>
                <a:rPr lang="ja-JP" sz="1400" b="1" u="none" strike="noStrike">
                  <a:solidFill>
                    <a:srgbClr val="00B900"/>
                  </a:solidFill>
                  <a:effectLst/>
                  <a:uFillTx/>
                  <a:latin typeface="メイリオ"/>
                  <a:ea typeface="メイリオ"/>
                </a:rPr>
                <a:t>公式アカウント </a:t>
              </a:r>
              <a:r>
                <a:rPr lang="ja-JP" sz="1400" b="0" u="none" strike="noStrike">
                  <a:solidFill>
                    <a:srgbClr val="00B900"/>
                  </a:solidFill>
                  <a:effectLst/>
                  <a:uFillTx/>
                  <a:latin typeface="メイリオ"/>
                  <a:ea typeface="メイリオ"/>
                </a:rPr>
                <a:t>が主流</a:t>
              </a:r>
              <a:endParaRPr lang="en-US" sz="1400" b="0" u="none" strike="noStrike">
                <a:solidFill>
                  <a:srgbClr val="000000"/>
                </a:solidFill>
                <a:effectLst/>
                <a:uFillTx/>
                <a:latin typeface="Arial"/>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rPr>
              <a:t>メールマガジン</a:t>
            </a:r>
            <a:endParaRPr lang="en-US" sz="1400" b="0" u="none" strike="noStrike">
              <a:solidFill>
                <a:srgbClr val="000000"/>
              </a:solidFill>
              <a:effectLst/>
              <a:uFillTx/>
              <a:latin typeface="Arial"/>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入力が面倒・間違いが発生</a:t>
            </a:r>
            <a:endParaRPr lang="en-US" sz="1400" b="0" u="none" strike="noStrike">
              <a:solidFill>
                <a:srgbClr val="000000"/>
              </a:solidFill>
              <a:effectLst/>
              <a:uFillTx/>
              <a:latin typeface="Arial"/>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迷惑メールなどに入る</a:t>
            </a:r>
            <a:endParaRPr lang="en-US" sz="1400" b="0" u="none" strike="noStrike">
              <a:solidFill>
                <a:srgbClr val="000000"/>
              </a:solidFill>
              <a:effectLst/>
              <a:uFillTx/>
              <a:latin typeface="Arial"/>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10</a:t>
            </a:r>
            <a:r>
              <a:rPr lang="zh-CN" sz="1400" b="0" u="none" strike="noStrike">
                <a:solidFill>
                  <a:srgbClr val="040606"/>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a:t>
            </a:r>
            <a:r>
              <a:rPr lang="zh-CN" sz="1400" b="0" u="none" strike="noStrike">
                <a:solidFill>
                  <a:srgbClr val="040606"/>
                </a:solidFill>
                <a:effectLst/>
                <a:uFillTx/>
                <a:latin typeface="メイリオ"/>
                <a:ea typeface="メイリオ"/>
              </a:rPr>
              <a:t>時間</a:t>
            </a:r>
            <a:endParaRPr lang="en-US" sz="1400" b="0" u="none" strike="noStrike">
              <a:solidFill>
                <a:srgbClr val="000000"/>
              </a:solidFill>
              <a:effectLst/>
              <a:uFillTx/>
              <a:latin typeface="Arial"/>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到達</a:t>
            </a:r>
            <a:endParaRPr lang="en-US" sz="1400" b="0" u="none" strike="noStrike">
              <a:solidFill>
                <a:srgbClr val="000000"/>
              </a:solidFill>
              <a:effectLst/>
              <a:uFillTx/>
              <a:latin typeface="Arial"/>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開封率</a:t>
            </a:r>
            <a:endParaRPr lang="en-US" sz="1400" b="0" u="none" strike="noStrike">
              <a:solidFill>
                <a:srgbClr val="000000"/>
              </a:solidFill>
              <a:effectLst/>
              <a:uFillTx/>
              <a:latin typeface="Arial"/>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開封まで</a:t>
            </a:r>
            <a:endParaRPr lang="en-US" sz="1400" b="0" u="none" strike="noStrike">
              <a:solidFill>
                <a:srgbClr val="000000"/>
              </a:solidFill>
              <a:effectLst/>
              <a:uFillTx/>
              <a:latin typeface="Arial"/>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Calibri"/>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rPr>
              <a:t>LINE</a:t>
            </a:r>
            <a:endParaRPr lang="en-US" sz="1400" b="0" u="none" strike="noStrike">
              <a:solidFill>
                <a:srgbClr val="000000"/>
              </a:solidFill>
              <a:effectLst/>
              <a:uFillTx/>
              <a:latin typeface="Arial"/>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確実に届く</a:t>
            </a:r>
            <a:endParaRPr lang="en-US" sz="1400" b="0" u="none" strike="noStrike">
              <a:solidFill>
                <a:srgbClr val="000000"/>
              </a:solidFill>
              <a:effectLst/>
              <a:uFillTx/>
              <a:latin typeface="Arial"/>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60</a:t>
            </a:r>
            <a:r>
              <a:rPr lang="zh-CN" sz="1400" b="1" u="none" strike="noStrike">
                <a:solidFill>
                  <a:srgbClr val="00B449"/>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15</a:t>
            </a:r>
            <a:r>
              <a:rPr lang="zh-CN" sz="1400" b="1" u="none" strike="noStrike">
                <a:solidFill>
                  <a:srgbClr val="00B449"/>
                </a:solidFill>
                <a:effectLst/>
                <a:uFillTx/>
                <a:latin typeface="メイリオ"/>
                <a:ea typeface="メイリオ"/>
              </a:rPr>
              <a:t>分</a:t>
            </a:r>
            <a:endParaRPr lang="en-US" sz="1400" b="0" u="none" strike="noStrike">
              <a:solidFill>
                <a:srgbClr val="000000"/>
              </a:solidFill>
              <a:effectLst/>
              <a:uFillTx/>
              <a:latin typeface="Arial"/>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ワンタップで追加</a:t>
            </a:r>
            <a:endParaRPr lang="en-US" sz="1400" b="0" u="none" strike="noStrike">
              <a:solidFill>
                <a:srgbClr val="000000"/>
              </a:solidFill>
              <a:effectLst/>
              <a:uFillTx/>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rPr>
              <a:t>「今すぐ客」以外の</a:t>
            </a:r>
            <a:r>
              <a:rPr lang="ja-JP" sz="1400" b="0" u="none" strike="noStrike">
                <a:solidFill>
                  <a:srgbClr val="343434"/>
                </a:solidFill>
                <a:effectLst/>
                <a:uFillTx/>
                <a:latin typeface="メイリオ"/>
                <a:ea typeface="メイリオ"/>
              </a:rPr>
              <a:t>約</a:t>
            </a:r>
            <a:r>
              <a:rPr lang="en-US" sz="1400" b="0" u="none" strike="noStrike">
                <a:solidFill>
                  <a:srgbClr val="343434"/>
                </a:solidFill>
                <a:effectLst/>
                <a:uFillTx/>
                <a:latin typeface="メイリオ"/>
                <a:ea typeface="メイリオ"/>
              </a:rPr>
              <a:t>99</a:t>
            </a:r>
            <a:r>
              <a:rPr lang="ja-JP" sz="1400" b="0" u="none" strike="noStrike">
                <a:solidFill>
                  <a:srgbClr val="343434"/>
                </a:solidFill>
                <a:effectLst/>
                <a:uFillTx/>
                <a:latin typeface="メイリオ"/>
                <a:ea typeface="メイリオ"/>
              </a:rPr>
              <a:t>％の層をリストマーケティングで顧客に引き上げることが重要。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結果として、リード獲得率向上、リピート率向上、売上向上に繋げる。</a:t>
            </a:r>
            <a:endParaRPr lang="en-US" sz="1400" b="0" u="none" strike="noStrike">
              <a:solidFill>
                <a:srgbClr val="000000"/>
              </a:solidFill>
              <a:effectLst/>
              <a:uFillTx/>
              <a:latin typeface="Arial"/>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必要性</a:t>
            </a:r>
            <a:endParaRPr lang="en-US" sz="1240" b="0" u="none" strike="noStrike">
              <a:solidFill>
                <a:srgbClr val="000000"/>
              </a:solidFill>
              <a:effectLst/>
              <a:uFillTx/>
              <a:latin typeface="Arial"/>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緊急性</a:t>
            </a:r>
            <a:endParaRPr lang="en-US" sz="1240" b="0" u="none" strike="noStrike">
              <a:solidFill>
                <a:srgbClr val="000000"/>
              </a:solidFill>
              <a:effectLst/>
              <a:uFillTx/>
              <a:latin typeface="Arial"/>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今すぐ客</a:t>
            </a:r>
            <a:endParaRPr lang="en-US" sz="1240" b="0" u="none" strike="noStrike">
              <a:solidFill>
                <a:srgbClr val="000000"/>
              </a:solidFill>
              <a:effectLst/>
              <a:uFillTx/>
              <a:latin typeface="Arial"/>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そのうち客</a:t>
            </a:r>
            <a:endParaRPr lang="en-US" sz="1240" b="0" u="none" strike="noStrike">
              <a:solidFill>
                <a:srgbClr val="000000"/>
              </a:solidFill>
              <a:effectLst/>
              <a:uFillTx/>
              <a:latin typeface="Arial"/>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rPr>
              <a:t>まだまだ客</a:t>
            </a:r>
            <a:endParaRPr lang="en-US" sz="1240" b="0" u="none" strike="noStrike">
              <a:solidFill>
                <a:srgbClr val="000000"/>
              </a:solidFill>
              <a:effectLst/>
              <a:uFillTx/>
              <a:latin typeface="Arial"/>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お悩み客</a:t>
            </a:r>
            <a:endParaRPr lang="en-US" sz="1240" b="0" u="none" strike="noStrike">
              <a:solidFill>
                <a:srgbClr val="000000"/>
              </a:solidFill>
              <a:effectLst/>
              <a:uFillTx/>
              <a:latin typeface="Arial"/>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1-2</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rPr>
              <a:t>80</a:t>
            </a:r>
            <a:r>
              <a:rPr lang="zh-CN" sz="1560" b="0" u="none" strike="noStrike">
                <a:solidFill>
                  <a:srgbClr val="FFFFFF"/>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「今すぐ</a:t>
            </a:r>
            <a:r>
              <a:rPr lang="ja-JP" sz="1200" b="1" u="none" strike="noStrike">
                <a:solidFill>
                  <a:srgbClr val="494848"/>
                </a:solidFill>
                <a:effectLst/>
                <a:uFillTx/>
                <a:latin typeface="メイリオ"/>
                <a:ea typeface="メイリオ"/>
              </a:rPr>
              <a:t>顧客」を高い広告費を投資して獲得するのはリスクが大きい。</a:t>
            </a:r>
            <a:endParaRPr lang="en-US" sz="1200" b="0" u="none" strike="noStrike">
              <a:solidFill>
                <a:srgbClr val="000000"/>
              </a:solidFill>
              <a:effectLst/>
              <a:uFillTx/>
              <a:latin typeface="Arial"/>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リストとして獲得するだけでなく</a:t>
            </a:r>
            <a:endParaRPr lang="en-US" sz="1200" b="0" u="none" strike="noStrike">
              <a:solidFill>
                <a:srgbClr val="000000"/>
              </a:solidFill>
              <a:effectLst/>
              <a:uFillTx/>
              <a:latin typeface="Arial"/>
            </a:endParaRPr>
          </a:p>
          <a:p>
            <a:pPr defTabSz="914400">
              <a:lnSpc>
                <a:spcPts val="2177"/>
              </a:lnSpc>
            </a:pPr>
            <a:r>
              <a:rPr lang="zh-CN" sz="1200" b="1" u="none" strike="noStrike">
                <a:solidFill>
                  <a:srgbClr val="494848"/>
                </a:solidFill>
                <a:effectLst/>
                <a:uFillTx/>
                <a:latin typeface="メイリオ"/>
                <a:ea typeface="メイリオ"/>
              </a:rPr>
              <a:t>「</a:t>
            </a:r>
            <a:r>
              <a:rPr lang="ja-JP" sz="1200" b="1" u="none" strike="noStrike">
                <a:solidFill>
                  <a:srgbClr val="494848"/>
                </a:solidFill>
                <a:effectLst/>
                <a:uFillTx/>
                <a:latin typeface="メイリオ"/>
                <a:ea typeface="メイリオ"/>
              </a:rPr>
              <a:t>将来的な顧客」教育を</a:t>
            </a:r>
            <a:r>
              <a:rPr lang="en-US" sz="1200" b="1" u="none" strike="noStrike">
                <a:solidFill>
                  <a:srgbClr val="494848"/>
                </a:solidFill>
                <a:effectLst/>
                <a:uFillTx/>
                <a:latin typeface="メイリオ"/>
                <a:ea typeface="メイリオ"/>
              </a:rPr>
              <a:t>LINE</a:t>
            </a:r>
            <a:r>
              <a:rPr lang="ja-JP" sz="1200" b="1" u="none" strike="noStrike">
                <a:solidFill>
                  <a:srgbClr val="494848"/>
                </a:solidFill>
                <a:effectLst/>
                <a:uFillTx/>
                <a:latin typeface="メイリオ"/>
                <a:ea typeface="メイリオ"/>
              </a:rPr>
              <a:t>上で構築し行う。</a:t>
            </a:r>
            <a:endParaRPr lang="en-US" sz="1200" b="0" u="none" strike="noStrike">
              <a:solidFill>
                <a:srgbClr val="000000"/>
              </a:solidFill>
              <a:effectLst/>
              <a:uFillTx/>
              <a:latin typeface="Arial"/>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Arial"/>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Meiryo"/>
                <a:ea typeface="Meiryo"/>
              </a:rPr>
              <a:t>WEB</a:t>
            </a:r>
            <a:r>
              <a:rPr lang="ja-JP" sz="1400" b="0" u="none" strike="noStrike">
                <a:solidFill>
                  <a:schemeClr val="dk1"/>
                </a:solidFill>
                <a:effectLst/>
                <a:uFillTx/>
                <a:latin typeface="Meiryo"/>
                <a:ea typeface="Meiryo"/>
              </a:rPr>
              <a:t>広告における</a:t>
            </a:r>
            <a:r>
              <a:rPr lang="ja-JP" sz="1400" b="1" u="none" strike="noStrike">
                <a:solidFill>
                  <a:schemeClr val="dk1"/>
                </a:solidFill>
                <a:effectLst/>
                <a:uFillTx/>
                <a:latin typeface="Meiryo"/>
                <a:ea typeface="Meiryo"/>
              </a:rPr>
              <a:t>競合性が高</a:t>
            </a:r>
            <a:r>
              <a:rPr lang="ja-JP" sz="1400" b="0" u="none" strike="noStrike">
                <a:solidFill>
                  <a:schemeClr val="dk1"/>
                </a:solidFill>
                <a:effectLst/>
                <a:uFillTx/>
                <a:latin typeface="Meiryo"/>
                <a:ea typeface="Meiryo"/>
              </a:rPr>
              <a:t>くなり</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rgbClr val="FF0000"/>
                </a:solidFill>
                <a:effectLst/>
                <a:uFillTx/>
                <a:latin typeface="Meiryo"/>
                <a:ea typeface="Meiryo"/>
              </a:rPr>
              <a:t>単価指標（</a:t>
            </a:r>
            <a:r>
              <a:rPr lang="en-US" sz="1400" b="1" u="none" strike="noStrike">
                <a:solidFill>
                  <a:srgbClr val="FF0000"/>
                </a:solidFill>
                <a:effectLst/>
                <a:uFillTx/>
                <a:latin typeface="Meiryo"/>
                <a:ea typeface="Meiryo"/>
              </a:rPr>
              <a:t>CPC</a:t>
            </a:r>
            <a:r>
              <a:rPr lang="ja-JP" sz="1400" b="1" u="none" strike="noStrike">
                <a:solidFill>
                  <a:srgbClr val="FF0000"/>
                </a:solidFill>
                <a:effectLst/>
                <a:uFillTx/>
                <a:latin typeface="Meiryo"/>
                <a:ea typeface="Meiryo"/>
              </a:rPr>
              <a:t>及び</a:t>
            </a:r>
            <a:r>
              <a:rPr lang="en-US" sz="1400" b="1" u="none" strike="noStrike">
                <a:solidFill>
                  <a:srgbClr val="FF0000"/>
                </a:solidFill>
                <a:effectLst/>
                <a:uFillTx/>
                <a:latin typeface="Meiryo"/>
                <a:ea typeface="Meiryo"/>
              </a:rPr>
              <a:t>CPA</a:t>
            </a:r>
            <a:r>
              <a:rPr lang="ja-JP" sz="1400" b="1" u="none" strike="noStrike">
                <a:solidFill>
                  <a:srgbClr val="FF0000"/>
                </a:solidFill>
                <a:effectLst/>
                <a:uFillTx/>
                <a:latin typeface="Meiryo"/>
                <a:ea typeface="Meiryo"/>
              </a:rPr>
              <a:t>）が高騰</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Meiryo"/>
                <a:ea typeface="Meiryo"/>
              </a:rPr>
              <a:t>集客施策における</a:t>
            </a:r>
            <a:r>
              <a:rPr lang="en-US" sz="1400" b="1" u="none" strike="noStrike">
                <a:solidFill>
                  <a:schemeClr val="dk1"/>
                </a:solidFill>
                <a:effectLst/>
                <a:uFillTx/>
                <a:latin typeface="Meiryo"/>
                <a:ea typeface="Meiryo"/>
              </a:rPr>
              <a:t>CVR</a:t>
            </a:r>
            <a:r>
              <a:rPr lang="ja-JP" sz="1400" b="1" u="none" strike="noStrike">
                <a:solidFill>
                  <a:schemeClr val="dk1"/>
                </a:solidFill>
                <a:effectLst/>
                <a:uFillTx/>
                <a:latin typeface="Meiryo"/>
                <a:ea typeface="Meiryo"/>
              </a:rPr>
              <a:t>は高くても</a:t>
            </a:r>
            <a:r>
              <a:rPr lang="en-US" sz="1400" b="1" u="none" strike="noStrike">
                <a:solidFill>
                  <a:schemeClr val="dk1"/>
                </a:solidFill>
                <a:effectLst/>
                <a:uFillTx/>
                <a:latin typeface="Meiryo"/>
                <a:ea typeface="Meiryo"/>
              </a:rPr>
              <a:t>2%</a:t>
            </a:r>
            <a:r>
              <a:rPr lang="ja-JP" sz="1400" b="1" u="none" strike="noStrike">
                <a:solidFill>
                  <a:schemeClr val="dk1"/>
                </a:solidFill>
                <a:effectLst/>
                <a:uFillTx/>
                <a:latin typeface="Meiryo"/>
                <a:ea typeface="Meiryo"/>
              </a:rPr>
              <a:t>程度</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a:p>
            <a:pPr algn="ctr" defTabSz="914400">
              <a:lnSpc>
                <a:spcPct val="100000"/>
              </a:lnSpc>
            </a:pPr>
            <a:r>
              <a:rPr lang="en-US" sz="1400" b="0" u="none" strike="noStrike">
                <a:solidFill>
                  <a:srgbClr val="FF0000"/>
                </a:solidFill>
                <a:effectLst/>
                <a:uFillTx/>
                <a:latin typeface="Meiryo"/>
                <a:ea typeface="Meiryo"/>
              </a:rPr>
              <a:t>CV</a:t>
            </a:r>
            <a:r>
              <a:rPr lang="ja-JP" sz="1400" b="0" u="none" strike="noStrike">
                <a:solidFill>
                  <a:srgbClr val="FF0000"/>
                </a:solidFill>
                <a:effectLst/>
                <a:uFillTx/>
                <a:latin typeface="Meiryo"/>
                <a:ea typeface="Meiryo"/>
              </a:rPr>
              <a:t>に至らず離脱するユーザーが大部分</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CVR</a:t>
            </a:r>
            <a:endParaRPr lang="en-US" sz="1800" b="0" u="none" strike="noStrike">
              <a:solidFill>
                <a:srgbClr val="000000"/>
              </a:solidFill>
              <a:effectLst/>
              <a:uFillTx/>
              <a:latin typeface="Arial"/>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CPC</a:t>
            </a:r>
            <a:endParaRPr lang="en-US" sz="1800" b="0" u="none" strike="noStrike">
              <a:solidFill>
                <a:srgbClr val="000000"/>
              </a:solidFill>
              <a:effectLst/>
              <a:uFillTx/>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利用年齢層により変動はするものの、</a:t>
            </a:r>
            <a:r>
              <a:rPr lang="en-US" sz="1400" b="0" u="none" strike="noStrike">
                <a:solidFill>
                  <a:srgbClr val="343434"/>
                </a:solidFill>
                <a:effectLst/>
                <a:uFillTx/>
                <a:latin typeface="メイリオ"/>
                <a:ea typeface="メイリオ"/>
              </a:rPr>
              <a:t>10-40</a:t>
            </a:r>
            <a:r>
              <a:rPr lang="ja-JP" sz="1400" b="0" u="none" strike="noStrike">
                <a:solidFill>
                  <a:srgbClr val="343434"/>
                </a:solidFill>
                <a:effectLst/>
                <a:uFillTx/>
                <a:latin typeface="メイリオ"/>
                <a:ea typeface="メイリオ"/>
              </a:rPr>
              <a:t>代を中心に電話、メールを忌避する動きが強まっている。</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既存ユーザー以外の年齢層の獲得にあたって、利用率の高い</a:t>
            </a:r>
            <a:r>
              <a:rPr lang="en-US" sz="1400" b="1" u="none" strike="noStrike">
                <a:solidFill>
                  <a:srgbClr val="343434"/>
                </a:solidFill>
                <a:effectLst/>
                <a:uFillTx/>
                <a:latin typeface="メイリオ"/>
                <a:ea typeface="メイリオ"/>
              </a:rPr>
              <a:t>LINEOA</a:t>
            </a:r>
            <a:r>
              <a:rPr lang="ja-JP" sz="1400" b="1" u="none" strike="noStrike">
                <a:solidFill>
                  <a:srgbClr val="343434"/>
                </a:solidFill>
                <a:effectLst/>
                <a:uFillTx/>
                <a:latin typeface="メイリオ"/>
                <a:ea typeface="メイリオ"/>
              </a:rPr>
              <a:t>施策が非常に重要と想定</a:t>
            </a:r>
            <a:r>
              <a:rPr lang="ja-JP" sz="1400" b="0" u="none" strike="noStrike">
                <a:solidFill>
                  <a:srgbClr val="343434"/>
                </a:solidFill>
                <a:effectLst/>
                <a:uFillTx/>
                <a:latin typeface="メイリオ"/>
                <a:ea typeface="メイリオ"/>
              </a:rPr>
              <a:t>される。</a:t>
            </a:r>
            <a:endParaRPr lang="en-US" sz="1400" b="0" u="none" strike="noStrike">
              <a:solidFill>
                <a:srgbClr val="000000"/>
              </a:solidFill>
              <a:effectLst/>
              <a:uFillTx/>
              <a:latin typeface="Arial"/>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aphicFrame>
        <p:nvGraphicFramePr>
          <p:cNvPr id="875" name="表 49"/>
          <p:cNvGraphicFramePr/>
          <p:nvPr/>
        </p:nvGraphicFramePr>
        <p:xfrm>
          <a:off x="367560" y="1662840"/>
          <a:ext cx="916740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rPr>
                        <a:t>年齢層</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LINE</a:t>
                      </a:r>
                      <a:r>
                        <a:rPr lang="ja-JP" sz="1000" b="0" u="none" strike="noStrike">
                          <a:solidFill>
                            <a:srgbClr val="000000"/>
                          </a:solidFill>
                          <a:effectLst/>
                          <a:uFillTx/>
                          <a:latin typeface="メイリオ"/>
                          <a:ea typeface="メイリオ"/>
                        </a:rPr>
                        <a:t>・チャット系</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メール・メルマガ</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電話</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主要な特徴・</a:t>
                      </a:r>
                      <a:r>
                        <a:rPr lang="en-US" sz="1000" b="0" u="none" strike="noStrike">
                          <a:solidFill>
                            <a:srgbClr val="000000"/>
                          </a:solidFill>
                          <a:effectLst/>
                          <a:uFillTx/>
                          <a:latin typeface="メイリオ"/>
                          <a:ea typeface="メイリオ"/>
                        </a:rPr>
                        <a:t>SNS</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10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20</a:t>
                      </a:r>
                      <a:r>
                        <a:rPr lang="ja-JP" sz="1050" b="1" u="none" strike="noStrike">
                          <a:solidFill>
                            <a:srgbClr val="000000"/>
                          </a:solidFill>
                          <a:effectLst/>
                          <a:uFillTx/>
                          <a:latin typeface="メイリオ"/>
                          <a:ea typeface="メイリオ"/>
                        </a:rPr>
                        <a:t>代　</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利用率：極めて低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Tiktok YouTube</a:t>
                      </a:r>
                      <a:r>
                        <a:rPr lang="ja-JP" sz="800" b="0" u="none" strike="noStrike">
                          <a:solidFill>
                            <a:srgbClr val="000000"/>
                          </a:solidFill>
                          <a:effectLst/>
                          <a:uFillTx/>
                          <a:latin typeface="メイリオ"/>
                          <a:ea typeface="メイリオ"/>
                        </a:rPr>
                        <a:t>が情報収集の起点。</a:t>
                      </a:r>
                      <a:br>
                        <a:rPr sz="800"/>
                      </a:br>
                      <a:r>
                        <a:rPr lang="en-US" sz="800" b="0" u="none" strike="noStrike">
                          <a:solidFill>
                            <a:srgbClr val="000000"/>
                          </a:solidFill>
                          <a:effectLst/>
                          <a:uFillTx/>
                          <a:latin typeface="メイリオ"/>
                          <a:ea typeface="メイリオ"/>
                        </a:rPr>
                        <a:t>Instagram</a:t>
                      </a:r>
                      <a:r>
                        <a:rPr lang="ja-JP" sz="800" b="0" u="none" strike="noStrike">
                          <a:solidFill>
                            <a:srgbClr val="000000"/>
                          </a:solidFill>
                          <a:effectLst/>
                          <a:uFillTx/>
                          <a:latin typeface="メイリオ"/>
                          <a:ea typeface="メイリオ"/>
                        </a:rPr>
                        <a:t>、</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の</a:t>
                      </a:r>
                      <a:r>
                        <a:rPr lang="en-US" sz="800" b="0" u="none" strike="noStrike">
                          <a:solidFill>
                            <a:srgbClr val="000000"/>
                          </a:solidFill>
                          <a:effectLst/>
                          <a:uFillTx/>
                          <a:latin typeface="メイリオ"/>
                          <a:ea typeface="メイリオ"/>
                        </a:rPr>
                        <a:t>DM</a:t>
                      </a:r>
                      <a:r>
                        <a:rPr lang="ja-JP" sz="800" b="0" u="none" strike="noStrike">
                          <a:solidFill>
                            <a:srgbClr val="000000"/>
                          </a:solidFill>
                          <a:effectLst/>
                          <a:uFillTx/>
                          <a:latin typeface="メイリオ"/>
                          <a:ea typeface="メイリオ"/>
                        </a:rPr>
                        <a:t>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連絡網として活用。</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日常連絡の絶対的インフラ。</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企業や公式からの連絡は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読まれない傾向。</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「電話恐怖症」を持つ人も。</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30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40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利用率：中〜高</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Facebook</a:t>
                      </a:r>
                      <a:r>
                        <a:rPr lang="ja-JP" sz="800" b="0" u="none" strike="noStrike">
                          <a:solidFill>
                            <a:srgbClr val="000000"/>
                          </a:solidFill>
                          <a:effectLst/>
                          <a:uFillTx/>
                          <a:latin typeface="メイリオ"/>
                          <a:ea typeface="メイリオ"/>
                        </a:rPr>
                        <a:t>や</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での情報収集が活発。</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プライベートの連絡網。</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仕事や、メルマガでの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セールス情報に抵抗なし。</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プライベートでは減少傾向も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仕事では必須。</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50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60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80%</a:t>
                      </a:r>
                      <a:r>
                        <a:rPr lang="ja-JP" sz="1000" b="1" u="none" strike="noStrike">
                          <a:solidFill>
                            <a:srgbClr val="000000"/>
                          </a:solidFill>
                          <a:effectLst/>
                          <a:uFillTx/>
                          <a:latin typeface="メイリオ"/>
                          <a:ea typeface="メイリオ"/>
                        </a:rPr>
                        <a:t>〜</a:t>
                      </a:r>
                      <a:r>
                        <a:rPr lang="en-US" sz="1000" b="1" u="none" strike="noStrike">
                          <a:solidFill>
                            <a:srgbClr val="000000"/>
                          </a:solidFill>
                          <a:effectLst/>
                          <a:uFillTx/>
                          <a:latin typeface="メイリオ"/>
                          <a:ea typeface="メイリオ"/>
                        </a:rPr>
                        <a:t>90%</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YouTube</a:t>
                      </a:r>
                      <a:r>
                        <a:rPr lang="ja-JP" sz="800" b="0" u="none" strike="noStrike">
                          <a:solidFill>
                            <a:srgbClr val="000000"/>
                          </a:solidFill>
                          <a:effectLst/>
                          <a:uFillTx/>
                          <a:latin typeface="メイリオ"/>
                          <a:ea typeface="メイリオ"/>
                        </a:rPr>
                        <a:t>での趣味動画視聴も普及。</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家族や友人との連絡で定着。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最も好まれる企業からの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情報受取ツール。</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予約や急ぎの用件で信頼性が高い。</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rPr>
                        <a:t>70</a:t>
                      </a:r>
                      <a:r>
                        <a:rPr lang="ja-JP" sz="1050" b="1" u="none" strike="noStrike">
                          <a:solidFill>
                            <a:srgbClr val="000000"/>
                          </a:solidFill>
                          <a:effectLst/>
                          <a:uFillTx/>
                          <a:latin typeface="メイリオ"/>
                          <a:ea typeface="メイリオ"/>
                        </a:rPr>
                        <a:t>代以上</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70%</a:t>
                      </a:r>
                      <a:r>
                        <a:rPr lang="ja-JP" sz="1000" b="1" u="none" strike="noStrike">
                          <a:solidFill>
                            <a:srgbClr val="000000"/>
                          </a:solidFill>
                          <a:effectLst/>
                          <a:uFillTx/>
                          <a:latin typeface="メイリオ"/>
                          <a:ea typeface="メイリオ"/>
                        </a:rPr>
                        <a:t>前後</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利用率：最も高い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rPr>
                        <a:t>連絡手段としての電話が</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最優先される層。</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高齢者層にも普及が進む。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操作に不慣れで到達率が下がる。</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重要な連絡や問い合わせは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電話がメイン。</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ja-JP" sz="1400" b="0" u="none" strike="noStrike">
                <a:solidFill>
                  <a:schemeClr val="dk1"/>
                </a:solidFill>
                <a:effectLst/>
                <a:uFillTx/>
                <a:latin typeface="メイリオ"/>
                <a:ea typeface="メイリオ"/>
              </a:rPr>
              <a:t>公式アカウントの施策内（開封率、クリック率、</a:t>
            </a:r>
            <a:r>
              <a:rPr lang="en-US" sz="1400" b="0" u="none" strike="noStrike">
                <a:solidFill>
                  <a:schemeClr val="dk1"/>
                </a:solidFill>
                <a:effectLst/>
                <a:uFillTx/>
                <a:latin typeface="メイリオ"/>
                <a:ea typeface="メイリオ"/>
              </a:rPr>
              <a:t>CV</a:t>
            </a:r>
            <a:r>
              <a:rPr lang="ja-JP" sz="1400" b="0" u="none" strike="noStrike">
                <a:solidFill>
                  <a:schemeClr val="dk1"/>
                </a:solidFill>
                <a:effectLst/>
                <a:uFillTx/>
                <a:latin typeface="メイリオ"/>
                <a:ea typeface="メイリオ"/>
              </a:rPr>
              <a:t>率）で高い水準の施策をご提供。</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初期設計のみのご依頼でも、大きく数値改善できるポイントの導入支援が可能です。</a:t>
            </a:r>
            <a:endParaRPr lang="en-US" sz="1400" b="0" u="none" strike="noStrike">
              <a:solidFill>
                <a:srgbClr val="000000"/>
              </a:solidFill>
              <a:effectLst/>
              <a:uFillTx/>
              <a:latin typeface="Arial"/>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endParaRPr lang="en-US" sz="1050" b="0" u="none" strike="noStrike">
              <a:solidFill>
                <a:srgbClr val="FFFFFF"/>
              </a:solidFill>
              <a:effectLst/>
              <a:uFillTx/>
              <a:latin typeface="Arial"/>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営業トスアップ</a:t>
            </a:r>
            <a:endParaRPr lang="en-US" sz="1050" b="0" u="none" strike="noStrike">
              <a:solidFill>
                <a:srgbClr val="000000"/>
              </a:solidFill>
              <a:effectLst/>
              <a:uFillTx/>
              <a:latin typeface="Arial"/>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rPr>
              <a:t>（成果地点）</a:t>
            </a:r>
            <a:endParaRPr lang="en-US" sz="1100" b="0" u="none" strike="noStrike">
              <a:solidFill>
                <a:srgbClr val="000000"/>
              </a:solidFill>
              <a:effectLst/>
              <a:uFillTx/>
              <a:latin typeface="Arial"/>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通常メッセージ（企画投稿）</a:t>
            </a:r>
            <a:endParaRPr lang="en-US" sz="1050" b="0" u="none" strike="noStrike">
              <a:solidFill>
                <a:srgbClr val="FFFFFF"/>
              </a:solidFill>
              <a:effectLst/>
              <a:uFillTx/>
              <a:latin typeface="Arial"/>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通常メッセージ（ステップ配信投稿）</a:t>
            </a:r>
            <a:endParaRPr lang="en-US" sz="1050" b="0" u="none" strike="noStrike">
              <a:solidFill>
                <a:srgbClr val="FFFFFF"/>
              </a:solidFill>
              <a:effectLst/>
              <a:uFillTx/>
              <a:latin typeface="Arial"/>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その他指標（リッチメニュー、プロフ、挨拶メッセ）</a:t>
            </a:r>
            <a:endParaRPr lang="en-US" sz="1050" b="0" u="none" strike="noStrike">
              <a:solidFill>
                <a:srgbClr val="FFFFFF"/>
              </a:solidFill>
              <a:effectLst/>
              <a:uFillTx/>
              <a:latin typeface="Arial"/>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rPr>
              <a:t>（</a:t>
            </a:r>
            <a:r>
              <a:rPr lang="en-US" sz="1100" b="0" u="none" strike="noStrike">
                <a:solidFill>
                  <a:schemeClr val="dk2"/>
                </a:solidFill>
                <a:effectLst/>
                <a:uFillTx/>
                <a:latin typeface="メイリオ"/>
                <a:ea typeface="メイリオ"/>
              </a:rPr>
              <a:t>LINE</a:t>
            </a:r>
            <a:r>
              <a:rPr lang="ja-JP" sz="1100" b="0" u="none" strike="noStrike">
                <a:solidFill>
                  <a:schemeClr val="dk2"/>
                </a:solidFill>
                <a:effectLst/>
                <a:uFillTx/>
                <a:latin typeface="メイリオ"/>
                <a:ea typeface="メイリオ"/>
              </a:rPr>
              <a:t>施策内）</a:t>
            </a:r>
            <a:endParaRPr lang="en-US" sz="1100" b="0" u="none" strike="noStrike">
              <a:solidFill>
                <a:srgbClr val="000000"/>
              </a:solidFill>
              <a:effectLst/>
              <a:uFillTx/>
              <a:latin typeface="Arial"/>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友だち追加</a:t>
            </a:r>
            <a:endParaRPr lang="en-US" sz="1050" b="0" u="none" strike="noStrike">
              <a:solidFill>
                <a:srgbClr val="FFFFFF"/>
              </a:solidFill>
              <a:effectLst/>
              <a:uFillTx/>
              <a:latin typeface="Arial"/>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アクティブ数</a:t>
            </a:r>
            <a:endParaRPr lang="en-US" sz="1000" b="0" u="none" strike="noStrike">
              <a:solidFill>
                <a:srgbClr val="000000"/>
              </a:solidFill>
              <a:effectLst/>
              <a:uFillTx/>
              <a:latin typeface="Arial"/>
            </a:endParaRPr>
          </a:p>
          <a:p>
            <a:pPr algn="ctr" defTabSz="914400">
              <a:lnSpc>
                <a:spcPct val="100000"/>
              </a:lnSpc>
            </a:pPr>
            <a:r>
              <a:rPr lang="ja-JP" sz="800" b="0" u="none" strike="noStrike">
                <a:solidFill>
                  <a:schemeClr val="dk1"/>
                </a:solidFill>
                <a:effectLst/>
                <a:uFillTx/>
                <a:latin typeface="メイリオ"/>
                <a:ea typeface="メイリオ"/>
              </a:rPr>
              <a:t>（非ブロック率）</a:t>
            </a:r>
            <a:endParaRPr lang="en-US" sz="800" b="0" u="none" strike="noStrike">
              <a:solidFill>
                <a:srgbClr val="000000"/>
              </a:solidFill>
              <a:effectLst/>
              <a:uFillTx/>
              <a:latin typeface="Arial"/>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セグメント率</a:t>
            </a:r>
            <a:endParaRPr lang="en-US" sz="1000" b="0" u="none" strike="noStrike">
              <a:solidFill>
                <a:srgbClr val="000000"/>
              </a:solidFill>
              <a:effectLst/>
              <a:uFillTx/>
              <a:latin typeface="Arial"/>
            </a:endParaRPr>
          </a:p>
          <a:p>
            <a:pPr algn="ctr" defTabSz="914400">
              <a:lnSpc>
                <a:spcPct val="100000"/>
              </a:lnSpc>
            </a:pPr>
            <a:r>
              <a:rPr lang="en-US" sz="1000" b="0" u="none" strike="noStrike">
                <a:solidFill>
                  <a:schemeClr val="dk1"/>
                </a:solidFill>
                <a:effectLst/>
                <a:uFillTx/>
                <a:latin typeface="メイリオ"/>
                <a:ea typeface="メイリオ"/>
              </a:rPr>
              <a:t>or</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chemeClr val="dk1"/>
                </a:solidFill>
                <a:effectLst/>
                <a:uFillTx/>
                <a:latin typeface="メイリオ"/>
                <a:ea typeface="メイリオ"/>
              </a:rPr>
              <a:t>ステップ配信設定数</a:t>
            </a:r>
            <a:endParaRPr lang="en-US" sz="1000" b="0" u="none" strike="noStrike">
              <a:solidFill>
                <a:srgbClr val="000000"/>
              </a:solidFill>
              <a:effectLst/>
              <a:uFillTx/>
              <a:latin typeface="Arial"/>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rPr>
              <a:t>（ターゲット戦略）</a:t>
            </a:r>
            <a:endParaRPr lang="en-US" sz="1100" b="0" u="none" strike="noStrike">
              <a:solidFill>
                <a:srgbClr val="000000"/>
              </a:solidFill>
              <a:effectLst/>
              <a:uFillTx/>
              <a:latin typeface="Arial"/>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月間通数</a:t>
            </a:r>
            <a:endParaRPr lang="en-US" sz="1050" b="0" u="none" strike="noStrike">
              <a:solidFill>
                <a:srgbClr val="FFFFFF"/>
              </a:solidFill>
              <a:effectLst/>
              <a:uFillTx/>
              <a:latin typeface="Arial"/>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000000"/>
              </a:solidFill>
              <a:effectLst/>
              <a:uFillTx/>
              <a:latin typeface="Arial"/>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000000"/>
              </a:solidFill>
              <a:effectLst/>
              <a:uFillTx/>
              <a:latin typeface="Arial"/>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000000"/>
              </a:solidFill>
              <a:effectLst/>
              <a:uFillTx/>
              <a:latin typeface="Arial"/>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85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rPr>
              <a:t>12.5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0.5</a:t>
            </a:r>
            <a:r>
              <a:rPr lang="en-US" sz="1400" b="1" u="none" strike="noStrike">
                <a:solidFill>
                  <a:srgbClr val="FF0000"/>
                </a:solidFill>
                <a:effectLst/>
                <a:uFillTx/>
                <a:latin typeface="メイリオ"/>
                <a:ea typeface="メイリオ"/>
              </a:rPr>
              <a:t> %</a:t>
            </a:r>
            <a:endParaRPr lang="en-US" sz="1400" b="0" u="none" strike="noStrike">
              <a:solidFill>
                <a:srgbClr val="000000"/>
              </a:solidFill>
              <a:effectLst/>
              <a:uFillTx/>
              <a:latin typeface="Arial"/>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70 %</a:t>
            </a:r>
            <a:endParaRPr lang="en-US" sz="1400" b="0" u="none" strike="noStrike">
              <a:solidFill>
                <a:srgbClr val="000000"/>
              </a:solidFill>
              <a:effectLst/>
              <a:uFillTx/>
              <a:latin typeface="Arial"/>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8.25 %</a:t>
            </a:r>
            <a:endParaRPr lang="en-US" sz="1400" b="0" u="none" strike="noStrike">
              <a:solidFill>
                <a:srgbClr val="000000"/>
              </a:solidFill>
              <a:effectLst/>
              <a:uFillTx/>
              <a:latin typeface="Arial"/>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0.3 %</a:t>
            </a:r>
            <a:endParaRPr lang="en-US" sz="1400" b="0" u="none" strike="noStrike">
              <a:solidFill>
                <a:srgbClr val="000000"/>
              </a:solidFill>
              <a:effectLst/>
              <a:uFillTx/>
              <a:latin typeface="Arial"/>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rPr>
              <a:t>DYM</a:t>
            </a:r>
            <a:r>
              <a:rPr lang="ja-JP" sz="1200" b="1" u="none" strike="noStrike">
                <a:solidFill>
                  <a:srgbClr val="FFC000"/>
                </a:solidFill>
                <a:effectLst/>
                <a:uFillTx/>
                <a:latin typeface="メイリオ"/>
                <a:ea typeface="メイリオ"/>
              </a:rPr>
              <a:t>実績</a:t>
            </a:r>
            <a:endParaRPr lang="en-US" sz="1200" b="0" u="none" strike="noStrike">
              <a:solidFill>
                <a:srgbClr val="FFFFFF"/>
              </a:solidFill>
              <a:effectLst/>
              <a:uFillTx/>
              <a:latin typeface="Arial"/>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業界平均</a:t>
            </a:r>
            <a:endParaRPr lang="en-US" sz="1200" b="0" u="none" strike="noStrike">
              <a:solidFill>
                <a:srgbClr val="FFFFFF"/>
              </a:solidFill>
              <a:effectLst/>
              <a:uFillTx/>
              <a:latin typeface="Arial"/>
            </a:endParaRPr>
          </a:p>
          <a:p>
            <a:pPr algn="ctr" defTabSz="914400">
              <a:lnSpc>
                <a:spcPct val="100000"/>
              </a:lnSpc>
            </a:pPr>
            <a:r>
              <a:rPr lang="en-US" sz="800" b="1" u="none" strike="noStrike">
                <a:solidFill>
                  <a:schemeClr val="lt1"/>
                </a:solidFill>
                <a:effectLst/>
                <a:uFillTx/>
                <a:latin typeface="メイリオ"/>
                <a:ea typeface="メイリオ"/>
              </a:rPr>
              <a:t>(LINE</a:t>
            </a:r>
            <a:r>
              <a:rPr lang="ja-JP" sz="800" b="1" u="none" strike="noStrike">
                <a:solidFill>
                  <a:schemeClr val="lt1"/>
                </a:solidFill>
                <a:effectLst/>
                <a:uFillTx/>
                <a:latin typeface="メイリオ"/>
                <a:ea typeface="メイリオ"/>
              </a:rPr>
              <a:t>ヤフー社より共有）</a:t>
            </a:r>
            <a:endParaRPr lang="en-US" sz="800" b="0" u="none" strike="noStrike">
              <a:solidFill>
                <a:srgbClr val="FFFFFF"/>
              </a:solidFill>
              <a:effectLst/>
              <a:uFillTx/>
              <a:latin typeface="Arial"/>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rPr>
              <a:t>施策の流れ</a:t>
            </a:r>
            <a:endParaRPr lang="en-US" sz="1400" b="0" u="none" strike="noStrike">
              <a:solidFill>
                <a:srgbClr val="FFFFFF"/>
              </a:solidFill>
              <a:effectLst/>
              <a:uFillTx/>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　</a:t>
            </a:r>
            <a:r>
              <a:rPr lang="en-US" sz="1400" b="1" u="none" strike="noStrike">
                <a:solidFill>
                  <a:srgbClr val="FF0000"/>
                </a:solidFill>
                <a:effectLst/>
                <a:uFillTx/>
                <a:latin typeface="メイリオ"/>
                <a:ea typeface="メイリオ"/>
              </a:rPr>
              <a:t>[CRM</a:t>
            </a:r>
            <a:r>
              <a:rPr lang="ja-JP" sz="1400" b="1" u="none" strike="noStrike">
                <a:solidFill>
                  <a:srgbClr val="FF0000"/>
                </a:solidFill>
                <a:effectLst/>
                <a:uFillTx/>
                <a:latin typeface="メイリオ"/>
                <a:ea typeface="メイリオ"/>
              </a:rPr>
              <a:t>及び</a:t>
            </a:r>
            <a:r>
              <a:rPr lang="en-US" sz="1400" b="1" u="none" strike="noStrike">
                <a:solidFill>
                  <a:srgbClr val="FF0000"/>
                </a:solidFill>
                <a:effectLst/>
                <a:uFillTx/>
                <a:latin typeface="メイリオ"/>
                <a:ea typeface="メイリオ"/>
              </a:rPr>
              <a:t>API</a:t>
            </a:r>
            <a:r>
              <a:rPr lang="ja-JP" sz="1400" b="1" u="none" strike="noStrike">
                <a:solidFill>
                  <a:srgbClr val="FF0000"/>
                </a:solidFill>
                <a:effectLst/>
                <a:uFillTx/>
                <a:latin typeface="メイリオ"/>
                <a:ea typeface="メイリオ"/>
              </a:rPr>
              <a:t>ツールとの連携</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rPr>
              <a:t>「</a:t>
            </a:r>
            <a:r>
              <a:rPr lang="en-US" sz="1400" b="0" u="none" strike="noStrike">
                <a:solidFill>
                  <a:srgbClr val="073763"/>
                </a:solidFill>
                <a:effectLst/>
                <a:uFillTx/>
                <a:latin typeface="メイリオ"/>
                <a:ea typeface="メイリオ"/>
              </a:rPr>
              <a:t>CRM</a:t>
            </a:r>
            <a:r>
              <a:rPr lang="ja-JP" sz="1400" b="0" u="none" strike="noStrike">
                <a:solidFill>
                  <a:srgbClr val="073763"/>
                </a:solidFill>
                <a:effectLst/>
                <a:uFillTx/>
                <a:latin typeface="メイリオ"/>
                <a:ea typeface="メイリオ"/>
              </a:rPr>
              <a:t>側でどんな情報を取りたいか」が重要</a:t>
            </a:r>
            <a:br>
              <a:rPr sz="1400"/>
            </a:br>
            <a:r>
              <a:rPr lang="ja-JP" sz="1400" b="1" u="none" strike="noStrike">
                <a:solidFill>
                  <a:srgbClr val="073763"/>
                </a:solidFill>
                <a:effectLst/>
                <a:uFillTx/>
                <a:latin typeface="メイリオ"/>
                <a:ea typeface="メイリオ"/>
              </a:rPr>
              <a:t>要件定義</a:t>
            </a:r>
            <a:r>
              <a:rPr lang="ja-JP" sz="1400" b="0" u="none" strike="noStrike">
                <a:solidFill>
                  <a:srgbClr val="073763"/>
                </a:solidFill>
                <a:effectLst/>
                <a:uFillTx/>
                <a:latin typeface="メイリオ"/>
                <a:ea typeface="メイリオ"/>
              </a:rPr>
              <a:t>を先にする必要がある</a:t>
            </a:r>
            <a:endParaRPr lang="en-US" sz="1400" b="0" u="none" strike="noStrike">
              <a:solidFill>
                <a:srgbClr val="000000"/>
              </a:solidFill>
              <a:effectLst/>
              <a:uFillTx/>
              <a:latin typeface="Arial"/>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▼CRM</a:t>
            </a:r>
            <a:r>
              <a:rPr lang="ja-JP" sz="1200" b="0" u="none" strike="noStrike">
                <a:solidFill>
                  <a:schemeClr val="dk1">
                    <a:lumMod val="75000"/>
                    <a:lumOff val="25000"/>
                  </a:schemeClr>
                </a:solidFill>
                <a:effectLst/>
                <a:uFillTx/>
                <a:latin typeface="メイリオ"/>
                <a:ea typeface="メイリオ"/>
              </a:rPr>
              <a:t>によるセグメント配信の違い</a:t>
            </a:r>
            <a:endParaRPr lang="en-US" sz="1200" b="0" u="none" strike="noStrike">
              <a:solidFill>
                <a:srgbClr val="000000"/>
              </a:solidFill>
              <a:effectLst/>
              <a:uFillTx/>
              <a:latin typeface="Arial"/>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endParaRPr>
          </a:p>
        </p:txBody>
      </p:sp>
      <p:pic>
        <p:nvPicPr>
          <p:cNvPr id="986" name="図 5"/>
          <p:cNvPicPr/>
          <p:nvPr/>
        </p:nvPicPr>
        <p:blipFill>
          <a:blip r:embed="rId2"/>
          <a:stretch/>
        </p:blipFill>
        <p:spPr>
          <a:xfrm>
            <a:off x="767880" y="2097720"/>
            <a:ext cx="1748520" cy="1226520"/>
          </a:xfrm>
          <a:prstGeom prst="rect">
            <a:avLst/>
          </a:prstGeom>
          <a:noFill/>
          <a:ln w="0">
            <a:noFill/>
          </a:ln>
        </p:spPr>
      </p:pic>
      <p:pic>
        <p:nvPicPr>
          <p:cNvPr id="987" name="図 6"/>
          <p:cNvPicPr/>
          <p:nvPr/>
        </p:nvPicPr>
        <p:blipFill>
          <a:blip r:embed="rId3"/>
          <a:stretch/>
        </p:blipFill>
        <p:spPr>
          <a:xfrm>
            <a:off x="2629440" y="2290320"/>
            <a:ext cx="2165760" cy="762120"/>
          </a:xfrm>
          <a:prstGeom prst="rect">
            <a:avLst/>
          </a:prstGeom>
          <a:noFill/>
          <a:ln w="0">
            <a:noFill/>
          </a:ln>
        </p:spPr>
      </p:pic>
      <p:pic>
        <p:nvPicPr>
          <p:cNvPr id="988" name="図 7"/>
          <p:cNvPicPr/>
          <p:nvPr/>
        </p:nvPicPr>
        <p:blipFill>
          <a:blip r:embed="rId4"/>
          <a:stretch/>
        </p:blipFill>
        <p:spPr>
          <a:xfrm>
            <a:off x="732600" y="3382560"/>
            <a:ext cx="1896480" cy="592560"/>
          </a:xfrm>
          <a:prstGeom prst="rect">
            <a:avLst/>
          </a:prstGeom>
          <a:noFill/>
          <a:ln w="0">
            <a:noFill/>
          </a:ln>
        </p:spPr>
      </p:pic>
      <p:pic>
        <p:nvPicPr>
          <p:cNvPr id="989" name="図 9"/>
          <p:cNvPicPr/>
          <p:nvPr/>
        </p:nvPicPr>
        <p:blipFill>
          <a:blip r:embed="rId5"/>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▼参考：L</a:t>
            </a:r>
            <a:r>
              <a:rPr lang="ja-JP" sz="1200" b="0" u="none" strike="noStrike">
                <a:solidFill>
                  <a:schemeClr val="dk1">
                    <a:lumMod val="75000"/>
                    <a:lumOff val="25000"/>
                  </a:schemeClr>
                </a:solidFill>
                <a:effectLst/>
                <a:uFillTx/>
                <a:latin typeface="メイリオ"/>
                <a:ea typeface="メイリオ"/>
              </a:rPr>
              <a:t>ステップ</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連携機能</a:t>
            </a:r>
            <a:endParaRPr lang="en-US" sz="1200" b="0" u="none" strike="noStrike">
              <a:solidFill>
                <a:srgbClr val="000000"/>
              </a:solidFill>
              <a:effectLst/>
              <a:uFillTx/>
              <a:latin typeface="Arial"/>
            </a:endParaRPr>
          </a:p>
        </p:txBody>
      </p:sp>
      <p:pic>
        <p:nvPicPr>
          <p:cNvPr id="992" name="図 12"/>
          <p:cNvPicPr/>
          <p:nvPr/>
        </p:nvPicPr>
        <p:blipFill>
          <a:blip r:embed="rId6"/>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a:t>
            </a:r>
            <a:r>
              <a:rPr lang="en-US" sz="1400" b="0" u="none" strike="noStrike">
                <a:solidFill>
                  <a:schemeClr val="dk1"/>
                </a:solidFill>
                <a:effectLst/>
                <a:uFillTx/>
                <a:latin typeface="メイリオ"/>
                <a:ea typeface="メイリオ"/>
              </a:rPr>
              <a:t>API</a:t>
            </a:r>
            <a:r>
              <a:rPr lang="ja-JP" sz="1400" b="0" u="none" strike="noStrike">
                <a:solidFill>
                  <a:schemeClr val="dk1"/>
                </a:solidFill>
                <a:effectLst/>
                <a:uFillTx/>
                <a:latin typeface="メイリオ"/>
                <a:ea typeface="メイリオ"/>
              </a:rPr>
              <a:t>ツールで要件定義を行いつつ、効率化及び詳細なセグメント設計を目的として、</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貴社内の顧客管理（</a:t>
            </a: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）ツールとの連携の実施も可能です。</a:t>
            </a:r>
            <a:r>
              <a:rPr lang="en-US" sz="1100" b="0" u="none" strike="noStrike">
                <a:solidFill>
                  <a:srgbClr val="FF0000"/>
                </a:solidFill>
                <a:effectLst/>
                <a:uFillTx/>
                <a:latin typeface="メイリオ"/>
                <a:ea typeface="メイリオ"/>
              </a:rPr>
              <a:t> ※開発は別途費用</a:t>
            </a:r>
            <a:endParaRPr lang="en-US" sz="1100" b="0" u="none" strike="noStrike">
              <a:solidFill>
                <a:srgbClr val="000000"/>
              </a:solidFill>
              <a:effectLst/>
              <a:uFillTx/>
              <a:latin typeface="Arial"/>
            </a:endParaRPr>
          </a:p>
        </p:txBody>
      </p:sp>
      <p:pic>
        <p:nvPicPr>
          <p:cNvPr id="994" name="図 15"/>
          <p:cNvPicPr/>
          <p:nvPr/>
        </p:nvPicPr>
        <p:blipFill>
          <a:blip r:embed="rId7"/>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LINE</a:t>
            </a:r>
            <a:r>
              <a:rPr lang="ja-JP" sz="1200" b="0" u="none" strike="noStrike">
                <a:solidFill>
                  <a:schemeClr val="dk1">
                    <a:lumMod val="75000"/>
                    <a:lumOff val="25000"/>
                  </a:schemeClr>
                </a:solidFill>
                <a:effectLst/>
                <a:uFillTx/>
                <a:latin typeface="メイリオ"/>
                <a:ea typeface="メイリオ"/>
              </a:rPr>
              <a:t>公式と</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ツール間の</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rPr>
              <a:t>情報連携</a:t>
            </a:r>
            <a:endParaRPr lang="en-US" sz="1200" b="0" u="none" strike="noStrike">
              <a:solidFill>
                <a:srgbClr val="000000"/>
              </a:solidFill>
              <a:effectLst/>
              <a:uFillTx/>
              <a:latin typeface="Arial"/>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rPr>
              <a:t>メッセ送信</a:t>
            </a:r>
            <a:endParaRPr lang="en-US" sz="1200" b="0" u="none" strike="noStrike">
              <a:solidFill>
                <a:srgbClr val="000000"/>
              </a:solidFill>
              <a:effectLst/>
              <a:uFillTx/>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ミニアプリ</a:t>
            </a:r>
            <a:endParaRPr lang="en-US" sz="1600" b="0" u="none" strike="noStrike">
              <a:solidFill>
                <a:srgbClr val="FFFFFF"/>
              </a:solidFill>
              <a:effectLst/>
              <a:uFillTx/>
              <a:latin typeface="Arial"/>
            </a:endParaRPr>
          </a:p>
        </p:txBody>
      </p:sp>
      <p:pic>
        <p:nvPicPr>
          <p:cNvPr id="999" name="図 14"/>
          <p:cNvPicPr/>
          <p:nvPr/>
        </p:nvPicPr>
        <p:blipFill>
          <a:blip r:embed="rId2"/>
          <a:stretch/>
        </p:blipFill>
        <p:spPr>
          <a:xfrm>
            <a:off x="394920" y="4223520"/>
            <a:ext cx="4883400" cy="2255040"/>
          </a:xfrm>
          <a:prstGeom prst="rect">
            <a:avLst/>
          </a:prstGeom>
          <a:noFill/>
          <a:ln w="0">
            <a:noFill/>
          </a:ln>
        </p:spPr>
      </p:pic>
      <p:pic>
        <p:nvPicPr>
          <p:cNvPr id="1000" name="図 15"/>
          <p:cNvPicPr/>
          <p:nvPr/>
        </p:nvPicPr>
        <p:blipFill>
          <a:blip r:embed="rId3"/>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内で活用できるミニアプリでは、ゲームや抽選といった機能を</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アプリ開発よりも大幅に格安な価格帯で利用できるサービス。</a:t>
            </a:r>
            <a:endParaRPr lang="en-US" sz="1600" b="0" u="none" strike="noStrike">
              <a:solidFill>
                <a:srgbClr val="000000"/>
              </a:solidFill>
              <a:effectLst/>
              <a:uFillTx/>
              <a:latin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チャット</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FAQ</a:t>
            </a:r>
            <a:r>
              <a:rPr lang="ja-JP" sz="1600" b="1" u="none" strike="noStrike">
                <a:solidFill>
                  <a:schemeClr val="dk1">
                    <a:lumMod val="65000"/>
                    <a:lumOff val="35000"/>
                  </a:schemeClr>
                </a:solidFill>
                <a:effectLst/>
                <a:uFillTx/>
                <a:latin typeface="Meiryo"/>
                <a:ea typeface="Meiryo"/>
              </a:rPr>
              <a:t>をもとにした</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による自動応答や、</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有人でのチャット対応による細かなサポートを可能にするオプション機能。</a:t>
            </a:r>
            <a:endParaRPr lang="en-US" sz="1600" b="0" u="none" strike="noStrike">
              <a:solidFill>
                <a:srgbClr val="000000"/>
              </a:solidFill>
              <a:effectLst/>
              <a:uFillTx/>
              <a:latin typeface="Arial"/>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Chat Plus</a:t>
            </a:r>
            <a:endParaRPr lang="en-US" sz="1600" b="0" u="none" strike="noStrike">
              <a:solidFill>
                <a:srgbClr val="FFFFFF"/>
              </a:solidFill>
              <a:effectLst/>
              <a:uFillTx/>
              <a:latin typeface="Arial"/>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ホームページから気軽にチャットで</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問い合わせができるようになり</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資料請求や商品の購入に繋がる。</a:t>
            </a:r>
            <a:endParaRPr lang="en-US" sz="1600" b="0" u="none" strike="noStrike">
              <a:solidFill>
                <a:srgbClr val="000000"/>
              </a:solidFill>
              <a:effectLst/>
              <a:uFillTx/>
              <a:latin typeface="Arial"/>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自動応答と有人応答を使い分けることが</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「訪問者管理機能」により、ホームページに訪れたユーザーを一覧で見ることが可能</a:t>
            </a:r>
            <a:endParaRPr lang="en-US" sz="1560" b="0" u="none" strike="noStrike">
              <a:solidFill>
                <a:srgbClr val="000000"/>
              </a:solidFill>
              <a:effectLst/>
              <a:uFillTx/>
              <a:latin typeface="Arial"/>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公式</a:t>
            </a: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とチャットボットを連携し</a:t>
            </a:r>
            <a:endParaRPr lang="en-US" sz="1560" b="0" u="none" strike="noStrike">
              <a:solidFill>
                <a:srgbClr val="000000"/>
              </a:solidFill>
              <a:effectLst/>
              <a:uFillTx/>
              <a:latin typeface="Arial"/>
            </a:endParaRPr>
          </a:p>
          <a:p>
            <a:pPr defTabSz="914400">
              <a:lnSpc>
                <a:spcPts val="2177"/>
              </a:lnSpc>
            </a:pP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上でも同じチャットボットを活用</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コール</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公式アカウントの有料オプション機能で、</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公式アカウントからユーザーがカスタマーサポートに電話できるサービス。</a:t>
            </a:r>
            <a:endParaRPr lang="en-US" sz="1600" b="0" u="none" strike="noStrike">
              <a:solidFill>
                <a:srgbClr val="000000"/>
              </a:solidFill>
              <a:effectLst/>
              <a:uFillTx/>
              <a:latin typeface="Arial"/>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Call Plus</a:t>
            </a:r>
            <a:endParaRPr lang="en-US" sz="1600" b="0" u="none" strike="noStrike">
              <a:solidFill>
                <a:srgbClr val="FFFFFF"/>
              </a:solidFill>
              <a:effectLst/>
              <a:uFillTx/>
              <a:latin typeface="Arial"/>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さらに「</a:t>
            </a:r>
            <a:r>
              <a:rPr lang="en-US" sz="1600" b="1" u="none" strike="noStrike">
                <a:solidFill>
                  <a:schemeClr val="dk1">
                    <a:lumMod val="65000"/>
                    <a:lumOff val="35000"/>
                  </a:schemeClr>
                </a:solidFill>
                <a:effectLst/>
                <a:uFillTx/>
                <a:latin typeface="Meiryo"/>
                <a:ea typeface="Meiryo"/>
              </a:rPr>
              <a:t>LINE Ai Call</a:t>
            </a:r>
            <a:r>
              <a:rPr lang="ja-JP" sz="1600" b="1" u="none" strike="noStrike">
                <a:solidFill>
                  <a:schemeClr val="dk1">
                    <a:lumMod val="65000"/>
                    <a:lumOff val="35000"/>
                  </a:schemeClr>
                </a:solidFill>
                <a:effectLst/>
                <a:uFillTx/>
                <a:latin typeface="Meiryo"/>
                <a:ea typeface="Meiryo"/>
              </a:rPr>
              <a:t>」を活用するとユーザーの要望に対して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による自然な</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対話応答が可能に。要件に応じて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と有人オペレータの振り分け業務効率化を支援。</a:t>
            </a:r>
            <a:endParaRPr lang="en-US" sz="1600" b="0" u="none" strike="noStrike">
              <a:solidFill>
                <a:srgbClr val="000000"/>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でログイン</a:t>
            </a:r>
            <a:endParaRPr lang="en-US" sz="1600" b="0" u="none" strike="noStrike">
              <a:solidFill>
                <a:srgbClr val="FFFFFF"/>
              </a:solidFill>
              <a:effectLst/>
              <a:uFillTx/>
              <a:latin typeface="Arial"/>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でログイン」は、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上のユーザー情報を活用して</a:t>
            </a:r>
            <a:r>
              <a:rPr lang="en-US" sz="1600" b="1" u="none" strike="noStrike">
                <a:solidFill>
                  <a:schemeClr val="dk1">
                    <a:lumMod val="65000"/>
                    <a:lumOff val="35000"/>
                  </a:schemeClr>
                </a:solidFill>
                <a:effectLst/>
                <a:uFillTx/>
                <a:latin typeface="Meiryo"/>
                <a:ea typeface="Meiryo"/>
              </a:rPr>
              <a:t>WEB</a:t>
            </a:r>
            <a:r>
              <a:rPr lang="ja-JP" sz="1600" b="1" u="none" strike="noStrike">
                <a:solidFill>
                  <a:schemeClr val="dk1">
                    <a:lumMod val="65000"/>
                    <a:lumOff val="35000"/>
                  </a:schemeClr>
                </a:solidFill>
                <a:effectLst/>
                <a:uFillTx/>
                <a:latin typeface="Meiryo"/>
                <a:ea typeface="Meiryo"/>
              </a:rPr>
              <a:t>サイト登録が出来る仕組み。</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ID</a:t>
            </a:r>
            <a:r>
              <a:rPr lang="ja-JP" sz="1600" b="1" u="none" strike="noStrike">
                <a:solidFill>
                  <a:schemeClr val="dk1">
                    <a:lumMod val="65000"/>
                    <a:lumOff val="35000"/>
                  </a:schemeClr>
                </a:solidFill>
                <a:effectLst/>
                <a:uFillTx/>
                <a:latin typeface="Meiryo"/>
                <a:ea typeface="Meiryo"/>
              </a:rPr>
              <a:t>連携を完了することにより、サービス</a:t>
            </a:r>
            <a:r>
              <a:rPr lang="en-US" sz="1600" b="1" u="none" strike="noStrike">
                <a:solidFill>
                  <a:schemeClr val="dk1">
                    <a:lumMod val="65000"/>
                    <a:lumOff val="35000"/>
                  </a:schemeClr>
                </a:solidFill>
                <a:effectLst/>
                <a:uFillTx/>
                <a:latin typeface="Meiryo"/>
                <a:ea typeface="Meiryo"/>
              </a:rPr>
              <a:t>(WEB) ⇔ LINE </a:t>
            </a:r>
            <a:r>
              <a:rPr lang="ja-JP" sz="1600" b="1" u="none" strike="noStrike">
                <a:solidFill>
                  <a:schemeClr val="dk1">
                    <a:lumMod val="65000"/>
                    <a:lumOff val="35000"/>
                  </a:schemeClr>
                </a:solidFill>
                <a:effectLst/>
                <a:uFillTx/>
                <a:latin typeface="Meiryo"/>
                <a:ea typeface="Meiryo"/>
              </a:rPr>
              <a:t>での効果的なメッセージが可能に。</a:t>
            </a:r>
            <a:endParaRPr lang="en-US" sz="1600" b="0" u="none" strike="noStrike">
              <a:solidFill>
                <a:srgbClr val="000000"/>
              </a:solidFill>
              <a:effectLst/>
              <a:uFillTx/>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オフライン動線</a:t>
            </a:r>
            <a:endParaRPr lang="en-US" sz="2000" b="0" u="none" strike="noStrike">
              <a:solidFill>
                <a:srgbClr val="000000"/>
              </a:solidFill>
              <a:effectLst/>
              <a:uFillTx/>
              <a:latin typeface="Arial"/>
            </a:endParaRPr>
          </a:p>
          <a:p>
            <a:pPr algn="ctr" defTabSz="914400">
              <a:lnSpc>
                <a:spcPct val="100000"/>
              </a:lnSpc>
            </a:pPr>
            <a:r>
              <a:rPr lang="ja-JP" sz="1400" b="1" u="none" strike="noStrike">
                <a:solidFill>
                  <a:srgbClr val="002060"/>
                </a:solidFill>
                <a:effectLst/>
                <a:uFillTx/>
                <a:latin typeface="Meiryo"/>
                <a:ea typeface="Meiryo"/>
              </a:rPr>
              <a:t>ニュースリリース等</a:t>
            </a:r>
            <a:endParaRPr lang="en-US" sz="1400" b="0" u="none" strike="noStrike">
              <a:solidFill>
                <a:srgbClr val="000000"/>
              </a:solidFill>
              <a:effectLst/>
              <a:uFillTx/>
              <a:latin typeface="Arial"/>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WEB</a:t>
            </a:r>
            <a:r>
              <a:rPr lang="ja-JP" sz="2000" b="1" u="none" strike="noStrike">
                <a:solidFill>
                  <a:srgbClr val="002060"/>
                </a:solidFill>
                <a:effectLst/>
                <a:uFillTx/>
                <a:latin typeface="Meiryo"/>
                <a:ea typeface="Meiryo"/>
              </a:rPr>
              <a:t>サイト動線整備</a:t>
            </a:r>
            <a:endParaRPr lang="en-US" sz="2000" b="0" u="none" strike="noStrike">
              <a:solidFill>
                <a:srgbClr val="000000"/>
              </a:solidFill>
              <a:effectLst/>
              <a:uFillTx/>
              <a:latin typeface="Arial"/>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友だち紹介</a:t>
            </a:r>
            <a:endParaRPr lang="en-US" sz="2000" b="0" u="none" strike="noStrike">
              <a:solidFill>
                <a:srgbClr val="000000"/>
              </a:solidFill>
              <a:effectLst/>
              <a:uFillTx/>
              <a:latin typeface="Arial"/>
            </a:endParaRPr>
          </a:p>
          <a:p>
            <a:pPr algn="ctr" defTabSz="914400">
              <a:lnSpc>
                <a:spcPct val="100000"/>
              </a:lnSpc>
            </a:pPr>
            <a:r>
              <a:rPr lang="ja-JP" sz="1200" b="1" u="none" strike="noStrike">
                <a:solidFill>
                  <a:srgbClr val="002060"/>
                </a:solidFill>
                <a:effectLst/>
                <a:uFillTx/>
                <a:latin typeface="Meiryo"/>
                <a:ea typeface="Meiryo"/>
              </a:rPr>
              <a:t>（</a:t>
            </a:r>
            <a:r>
              <a:rPr lang="en-US" sz="1200" b="1" u="none" strike="noStrike">
                <a:solidFill>
                  <a:srgbClr val="002060"/>
                </a:solidFill>
                <a:effectLst/>
                <a:uFillTx/>
                <a:latin typeface="Meiryo"/>
                <a:ea typeface="Meiryo"/>
              </a:rPr>
              <a:t>LINE</a:t>
            </a:r>
            <a:r>
              <a:rPr lang="ja-JP" sz="1200" b="1" u="none" strike="noStrike">
                <a:solidFill>
                  <a:srgbClr val="002060"/>
                </a:solidFill>
                <a:effectLst/>
                <a:uFillTx/>
                <a:latin typeface="Meiryo"/>
                <a:ea typeface="Meiryo"/>
              </a:rPr>
              <a:t>ポイントコネクト）</a:t>
            </a:r>
            <a:endParaRPr lang="en-US" sz="1200" b="0" u="none" strike="noStrike">
              <a:solidFill>
                <a:srgbClr val="000000"/>
              </a:solidFill>
              <a:effectLst/>
              <a:uFillTx/>
              <a:latin typeface="Arial"/>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ポイント</a:t>
            </a:r>
            <a:r>
              <a:rPr lang="en-US" sz="2000" b="1" u="none" strike="noStrike">
                <a:solidFill>
                  <a:srgbClr val="002060"/>
                </a:solidFill>
                <a:effectLst/>
                <a:uFillTx/>
                <a:latin typeface="Meiryo"/>
                <a:ea typeface="Meiryo"/>
              </a:rPr>
              <a:t>Ads</a:t>
            </a:r>
            <a:endParaRPr lang="en-US" sz="2000" b="0" u="none" strike="noStrike">
              <a:solidFill>
                <a:srgbClr val="000000"/>
              </a:solidFill>
              <a:effectLst/>
              <a:uFillTx/>
              <a:latin typeface="Arial"/>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スタンプ施策</a:t>
            </a:r>
            <a:endParaRPr lang="en-US" sz="2000" b="0" u="none" strike="noStrike">
              <a:solidFill>
                <a:srgbClr val="000000"/>
              </a:solidFill>
              <a:effectLst/>
              <a:uFillTx/>
              <a:latin typeface="Arial"/>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Meiryo"/>
                <a:ea typeface="Meiryo"/>
              </a:rPr>
              <a:t>サービス停止中</a:t>
            </a:r>
            <a:endParaRPr lang="en-US" sz="1800" b="0" u="none" strike="noStrike">
              <a:solidFill>
                <a:srgbClr val="000000"/>
              </a:solidFill>
              <a:effectLst/>
              <a:uFillTx/>
              <a:latin typeface="Arial"/>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a:t>
            </a:r>
            <a:r>
              <a:rPr lang="en-US" sz="1200" b="0" u="none" strike="noStrike">
                <a:solidFill>
                  <a:schemeClr val="dk1"/>
                </a:solidFill>
                <a:effectLst/>
                <a:uFillTx/>
                <a:latin typeface="Meiryo"/>
                <a:ea typeface="Meiryo"/>
              </a:rPr>
              <a:t>1</a:t>
            </a:r>
            <a:r>
              <a:rPr lang="ja-JP" sz="1200" b="0" u="none" strike="noStrike">
                <a:solidFill>
                  <a:schemeClr val="dk1"/>
                </a:solidFill>
                <a:effectLst/>
                <a:uFillTx/>
                <a:latin typeface="Meiryo"/>
                <a:ea typeface="Meiryo"/>
              </a:rPr>
              <a:t>ヶ月</a:t>
            </a:r>
            <a:r>
              <a:rPr lang="en-US" sz="1200" b="0" u="none" strike="noStrike">
                <a:solidFill>
                  <a:schemeClr val="dk1"/>
                </a:solidFill>
                <a:effectLst/>
                <a:uFillTx/>
                <a:latin typeface="Meiryo"/>
                <a:ea typeface="Meiryo"/>
              </a:rPr>
              <a:t>~</a:t>
            </a:r>
            <a:r>
              <a:rPr lang="ja-JP" sz="1200" b="0" u="none" strike="noStrike">
                <a:solidFill>
                  <a:schemeClr val="dk1"/>
                </a:solidFill>
                <a:effectLst/>
                <a:uFillTx/>
                <a:latin typeface="Meiryo"/>
                <a:ea typeface="Meiryo"/>
              </a:rPr>
              <a:t>）</a:t>
            </a:r>
            <a:endParaRPr lang="en-US" sz="1200" b="0" u="none" strike="noStrike">
              <a:solidFill>
                <a:srgbClr val="000000"/>
              </a:solidFill>
              <a:effectLst/>
              <a:uFillTx/>
              <a:latin typeface="Arial"/>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Meiryo"/>
                <a:ea typeface="Meiryo"/>
              </a:rPr>
              <a:t>各拡張施策についても</a:t>
            </a:r>
            <a:r>
              <a:rPr lang="en-US" sz="1600" b="1" u="none" strike="noStrike">
                <a:solidFill>
                  <a:schemeClr val="dk1">
                    <a:lumMod val="65000"/>
                    <a:lumOff val="35000"/>
                  </a:schemeClr>
                </a:solidFill>
                <a:effectLst/>
                <a:uFillTx/>
                <a:latin typeface="Meiryo"/>
                <a:ea typeface="Meiryo"/>
              </a:rPr>
              <a:t>MIN</a:t>
            </a:r>
            <a:r>
              <a:rPr lang="ja-JP" sz="1600" b="1" u="none" strike="noStrike">
                <a:solidFill>
                  <a:schemeClr val="dk1">
                    <a:lumMod val="65000"/>
                    <a:lumOff val="35000"/>
                  </a:schemeClr>
                </a:solidFill>
                <a:effectLst/>
                <a:uFillTx/>
                <a:latin typeface="Meiryo"/>
                <a:ea typeface="Meiryo"/>
              </a:rPr>
              <a:t>金額からの発注、動線設計が可能です。</a:t>
            </a:r>
            <a:endParaRPr lang="en-US" sz="1600" b="0" u="none" strike="noStrike">
              <a:solidFill>
                <a:srgbClr val="000000"/>
              </a:solidFill>
              <a:effectLst/>
              <a:uFillTx/>
              <a:latin typeface="Arial"/>
            </a:endParaRPr>
          </a:p>
          <a:p>
            <a:pPr algn="ct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友だち追加後の動線設計（特に友だち追加後すぐ）の検証後の拡大施策として用意。</a:t>
            </a:r>
            <a:endParaRPr lang="en-US" sz="1600" b="0" u="none" strike="noStrike">
              <a:solidFill>
                <a:srgbClr val="000000"/>
              </a:solidFill>
              <a:effectLst/>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pic>
        <p:nvPicPr>
          <p:cNvPr id="1060" name="図 51"/>
          <p:cNvPicPr/>
          <p:nvPr/>
        </p:nvPicPr>
        <p:blipFill>
          <a:blip r:embed="rId2"/>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広告</a:t>
            </a: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a:p>
            <a:pPr algn="ctr" defTabSz="914400">
              <a:lnSpc>
                <a:spcPct val="100000"/>
              </a:lnSpc>
            </a:pPr>
            <a:r>
              <a:rPr lang="en-US" sz="1200" b="1" u="none" strike="noStrike">
                <a:solidFill>
                  <a:srgbClr val="FFFF00"/>
                </a:solidFill>
                <a:effectLst/>
                <a:uFillTx/>
                <a:latin typeface="メイリオ"/>
                <a:ea typeface="メイリオ"/>
              </a:rPr>
              <a:t>※CPF</a:t>
            </a:r>
            <a:r>
              <a:rPr lang="ja-JP" sz="1200" b="1" u="none" strike="noStrike">
                <a:solidFill>
                  <a:srgbClr val="FFFF00"/>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公式アカウントの友だちを増やすための広告を、</a:t>
            </a:r>
            <a:br>
              <a:rPr sz="1600"/>
            </a:b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広告の管理画面より</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アプリ内で掲載できる機能。</a:t>
            </a:r>
            <a:endParaRPr lang="en-US" sz="1600" b="0" u="none" strike="noStrike">
              <a:solidFill>
                <a:srgbClr val="000000"/>
              </a:solidFill>
              <a:effectLst/>
              <a:uFillTx/>
              <a:latin typeface="Arial"/>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Meiryo"/>
                  <a:ea typeface="Meiryo"/>
                </a:rPr>
                <a:t>LINE</a:t>
              </a:r>
              <a:r>
                <a:rPr lang="ja-JP" sz="1200" b="1" u="none" strike="noStrike">
                  <a:solidFill>
                    <a:srgbClr val="0070C0"/>
                  </a:solidFill>
                  <a:effectLst/>
                  <a:uFillTx/>
                  <a:latin typeface="Meiryo"/>
                  <a:ea typeface="Meiryo"/>
                </a:rPr>
                <a:t>公式アカウントまでの導線</a:t>
              </a:r>
              <a:endParaRPr lang="en-US" sz="1200" b="0" u="none" strike="noStrike">
                <a:solidFill>
                  <a:srgbClr val="000000"/>
                </a:solidFill>
                <a:effectLst/>
                <a:uFillTx/>
                <a:latin typeface="Arial"/>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Meiryo"/>
                  <a:ea typeface="Meiryo"/>
                </a:rPr>
                <a:t>「友だち追加広告」との違い</a:t>
              </a:r>
              <a:endParaRPr lang="en-US" sz="1200" b="0" u="none" strike="noStrike">
                <a:solidFill>
                  <a:srgbClr val="000000"/>
                </a:solidFill>
                <a:effectLst/>
                <a:uFillTx/>
                <a:latin typeface="Arial"/>
              </a:endParaRPr>
            </a:p>
          </p:txBody>
        </p:sp>
      </p:grpSp>
      <p:pic>
        <p:nvPicPr>
          <p:cNvPr id="1069" name="table"/>
          <p:cNvPicPr/>
          <p:nvPr/>
        </p:nvPicPr>
        <p:blipFill>
          <a:blip r:embed="rId3"/>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rPr>
              <a:t>LINE</a:t>
            </a:r>
            <a:r>
              <a:rPr lang="ja-JP" sz="1200" b="0" u="none" strike="noStrike">
                <a:solidFill>
                  <a:srgbClr val="000000"/>
                </a:solidFill>
                <a:effectLst/>
                <a:uFillTx/>
                <a:latin typeface="メイリオ"/>
                <a:ea typeface="メイリオ"/>
              </a:rPr>
              <a:t>アプリ内から</a:t>
            </a:r>
            <a:br>
              <a:rPr sz="1200"/>
            </a:br>
            <a:r>
              <a:rPr lang="ja-JP" sz="1200" b="0" u="none" strike="noStrike">
                <a:solidFill>
                  <a:srgbClr val="000000"/>
                </a:solidFill>
                <a:effectLst/>
                <a:uFillTx/>
                <a:latin typeface="メイリオ"/>
                <a:ea typeface="メイリオ"/>
              </a:rPr>
              <a:t>自社アカウントに</a:t>
            </a:r>
            <a:r>
              <a:rPr lang="en-US" sz="1600" b="1" u="none" strike="noStrike">
                <a:solidFill>
                  <a:srgbClr val="33CC33"/>
                </a:solidFill>
                <a:effectLst/>
                <a:uFillTx/>
                <a:latin typeface="メイリオ"/>
                <a:ea typeface="メイリオ"/>
              </a:rPr>
              <a:t>“直接”</a:t>
            </a:r>
            <a:r>
              <a:rPr lang="ja-JP" sz="1200" b="0" u="none" strike="noStrike">
                <a:solidFill>
                  <a:srgbClr val="000000"/>
                </a:solidFill>
                <a:effectLst/>
                <a:uFillTx/>
                <a:latin typeface="メイリオ"/>
                <a:ea typeface="メイリオ"/>
              </a:rPr>
              <a:t>誘導</a:t>
            </a:r>
            <a:endParaRPr lang="en-US" sz="1200" b="0" u="none" strike="noStrike">
              <a:solidFill>
                <a:srgbClr val="000000"/>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都度発注プラン</a:t>
            </a:r>
            <a:endParaRPr lang="en-US" sz="1400" b="0" u="none" strike="noStrike">
              <a:solidFill>
                <a:srgbClr val="FFFFFF"/>
              </a:solidFill>
              <a:effectLst/>
              <a:uFillTx/>
              <a:latin typeface="Arial"/>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dirty="0">
                <a:solidFill>
                  <a:schemeClr val="dk1"/>
                </a:solidFill>
                <a:effectLst/>
                <a:uFillTx/>
                <a:latin typeface="メイリオ"/>
                <a:ea typeface="メイリオ"/>
              </a:rPr>
              <a:t>LINEOA</a:t>
            </a:r>
            <a:r>
              <a:rPr lang="ja-JP" sz="1600" b="1" u="none" strike="noStrike" dirty="0">
                <a:solidFill>
                  <a:schemeClr val="dk1"/>
                </a:solidFill>
                <a:effectLst/>
                <a:uFillTx/>
                <a:latin typeface="メイリオ"/>
                <a:ea typeface="メイリオ"/>
              </a:rPr>
              <a:t>の運用業務・</a:t>
            </a:r>
            <a:r>
              <a:rPr lang="en-US" sz="1600" b="1" u="none" strike="noStrike" dirty="0">
                <a:solidFill>
                  <a:schemeClr val="dk1"/>
                </a:solidFill>
                <a:effectLst/>
                <a:uFillTx/>
                <a:latin typeface="メイリオ"/>
                <a:ea typeface="メイリオ"/>
              </a:rPr>
              <a:t>CR</a:t>
            </a:r>
            <a:r>
              <a:rPr lang="ja-JP" sz="1600" b="1" u="none" strike="noStrike" dirty="0">
                <a:solidFill>
                  <a:schemeClr val="dk1"/>
                </a:solidFill>
                <a:effectLst/>
                <a:uFillTx/>
                <a:latin typeface="メイリオ"/>
                <a:ea typeface="メイリオ"/>
              </a:rPr>
              <a:t>制作業務を一部外出ししてご依頼も。</a:t>
            </a:r>
            <a:endParaRPr lang="en-US" sz="1600" b="0" u="none" strike="noStrike" dirty="0">
              <a:solidFill>
                <a:srgbClr val="000000"/>
              </a:solidFill>
              <a:effectLst/>
              <a:uFillTx/>
              <a:latin typeface="Arial"/>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rPr>
              <a:t>&lt;</a:t>
            </a:r>
            <a:r>
              <a:rPr lang="ja-JP" sz="1050" b="0" u="none" strike="noStrike">
                <a:solidFill>
                  <a:schemeClr val="dk1">
                    <a:lumMod val="65000"/>
                    <a:lumOff val="35000"/>
                  </a:schemeClr>
                </a:solidFill>
                <a:effectLst/>
                <a:uFillTx/>
                <a:latin typeface="メイリオ"/>
                <a:ea typeface="メイリオ"/>
              </a:rPr>
              <a:t>追加作業における費用感　</a:t>
            </a:r>
            <a:r>
              <a:rPr lang="en-US" sz="900" b="0" u="none" strike="noStrike">
                <a:solidFill>
                  <a:srgbClr val="FF0000"/>
                </a:solidFill>
                <a:effectLst/>
                <a:uFillTx/>
                <a:latin typeface="メイリオ"/>
                <a:ea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rPr>
              <a:t>&gt;</a:t>
            </a:r>
            <a:endParaRPr lang="en-US" sz="1050" b="0" u="none" strike="noStrike">
              <a:solidFill>
                <a:srgbClr val="000000"/>
              </a:solidFill>
              <a:effectLst/>
              <a:uFillTx/>
              <a:latin typeface="Arial"/>
            </a:endParaRPr>
          </a:p>
        </p:txBody>
      </p:sp>
      <p:graphicFrame>
        <p:nvGraphicFramePr>
          <p:cNvPr id="646" name="表 13"/>
          <p:cNvGraphicFramePr/>
          <p:nvPr/>
        </p:nvGraphicFramePr>
        <p:xfrm>
          <a:off x="706680" y="1862640"/>
          <a:ext cx="8542080" cy="406728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内容</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月額</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アカウント開設</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API</a:t>
                      </a:r>
                      <a:r>
                        <a:rPr lang="ja-JP" sz="1100" b="0" u="none" strike="noStrike">
                          <a:solidFill>
                            <a:srgbClr val="000000"/>
                          </a:solidFill>
                          <a:effectLst/>
                          <a:uFillTx/>
                          <a:latin typeface="メイリオ"/>
                          <a:ea typeface="メイリオ"/>
                        </a:rPr>
                        <a:t>ツール導入</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プロフィール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ID</a:t>
                      </a:r>
                      <a:r>
                        <a:rPr lang="ja-JP" sz="1100" b="0" u="none" strike="noStrike">
                          <a:solidFill>
                            <a:srgbClr val="000000"/>
                          </a:solidFill>
                          <a:effectLst/>
                          <a:uFillTx/>
                          <a:latin typeface="メイリオ"/>
                          <a:ea typeface="メイリオ"/>
                        </a:rPr>
                        <a:t>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リッチメニュー</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ログイン</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あいさつメッセージ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通知メッセージ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初期アンケート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チャットボット機能</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KW</a:t>
                      </a:r>
                      <a:r>
                        <a:rPr lang="ja-JP" sz="1100" b="0" u="none" strike="noStrike">
                          <a:solidFill>
                            <a:srgbClr val="000000"/>
                          </a:solidFill>
                          <a:effectLst/>
                          <a:uFillTx/>
                          <a:latin typeface="メイリオ"/>
                          <a:ea typeface="メイリオ"/>
                        </a:rPr>
                        <a:t>の自動応答</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Chat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ステップ配信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Call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セグメント配信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決済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チャットタグ管理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予約管理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チャット対応</a:t>
                      </a:r>
                      <a:r>
                        <a:rPr lang="en-US" sz="700" b="0" u="none" strike="noStrike">
                          <a:solidFill>
                            <a:srgbClr val="FF0000"/>
                          </a:solidFill>
                          <a:effectLst/>
                          <a:uFillTx/>
                          <a:latin typeface="メイリオ"/>
                          <a:ea typeface="メイリオ"/>
                        </a:rPr>
                        <a:t> ※サポートは可能</a:t>
                      </a:r>
                      <a:endParaRPr lang="en-US" sz="7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¥100,000</a:t>
                      </a:r>
                      <a:r>
                        <a:rPr lang="ja-JP"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rPr>
                        <a:t>件数により変動</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GA(CRM)</a:t>
                      </a:r>
                      <a:r>
                        <a:rPr lang="ja-JP" sz="1100" b="0" u="none" strike="noStrike">
                          <a:solidFill>
                            <a:srgbClr val="000000"/>
                          </a:solidFill>
                          <a:effectLst/>
                          <a:uFillTx/>
                          <a:latin typeface="メイリオ"/>
                          <a:ea typeface="メイリオ"/>
                        </a:rPr>
                        <a:t>レポート連携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クリエイティブ</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¥15,000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離脱防止ツール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投稿作成</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サンクス</a:t>
                      </a: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誘導ツール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rPr>
              <a:t>貴社リソースの状況に応じて、都度発注でのご依頼も各単価で対応可能</a:t>
            </a:r>
            <a:endParaRPr lang="en-US" sz="1400" b="0" u="none" strike="noStrike">
              <a:solidFill>
                <a:srgbClr val="000000"/>
              </a:solidFill>
              <a:effectLst/>
              <a:uFillTx/>
              <a:latin typeface="Arial"/>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endParaR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競合のLINE：大進建設は、特典で来場後の事前審査まで追っている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ポイントは、特典の金額ではなく、検討中の方に役立つ情報で契約まで追えること</a:t>
            </a:r>
            <a:endParaRPr lang="en-US" sz="1400" b="1" u="none" strike="noStrike" dirty="0">
              <a:effectLst/>
              <a:uFillTx/>
              <a:latin typeface="メイリオ"/>
            </a:endParaRPr>
          </a:p>
        </p:txBody>
      </p:sp>
      <p:graphicFrame>
        <p:nvGraphicFramePr>
          <p:cNvPr id="7" name="競合のLINE 6"/>
          <p:cNvGraphicFramePr>
            <a:graphicFrameLocks noGrp="1"/>
          </p:cNvGraphicFramePr>
          <p:nvPr/>
        </p:nvGraphicFramePr>
        <p:xfrm>
          <a:off x="502920" y="1691640"/>
          <a:ext cx="6766560" cy="3337560"/>
        </p:xfrm>
        <a:graphic>
          <a:graphicData uri="http://schemas.openxmlformats.org/drawingml/2006/table">
            <a:tbl>
              <a:tblPr/>
              <a:tblGrid>
                <a:gridCol w="1325880"/>
                <a:gridCol w="1783080"/>
                <a:gridCol w="2057400"/>
                <a:gridCol w="1600200"/>
              </a:tblGrid>
              <a:tr h="365760">
                <a:tc>
                  <a:txBody>
                    <a:bodyPr/>
                    <a:lstStyle/>
                    <a:p>
                      <a:pPr algn="ctr">
                        <a:buNone/>
                      </a:pP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タナカホーム</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大進建設</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一条工務店</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r>
              <a:tr h="50292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友だちの入口</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00" b="0" dirty="0">
                          <a:solidFill>
                            <a:srgbClr val="333333"/>
                          </a:solidFill>
                          <a:latin typeface="メイリオ" panose="020B0604030504040204" pitchFamily="50" charset="-128"/>
                          <a:ea typeface="メイリオ" panose="020B0604030504040204" pitchFamily="50" charset="-128"/>
                        </a:rPr>
                        <a:t>サイトのポップアップ</a:t>
                      </a:r>
                      <a:endParaRPr lang="ja-JP" altLang="en-US" sz="10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00" b="0" dirty="0">
                          <a:solidFill>
                            <a:srgbClr val="333333"/>
                          </a:solidFill>
                          <a:latin typeface="メイリオ" panose="020B0604030504040204" pitchFamily="50" charset="-128"/>
                          <a:ea typeface="メイリオ" panose="020B0604030504040204" pitchFamily="50" charset="-128"/>
                        </a:rPr>
                        <a:t>サイトのポップアップ</a:t>
                      </a:r>
                      <a:endParaRPr lang="ja-JP" altLang="en-US" sz="10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00" b="0" dirty="0">
                          <a:solidFill>
                            <a:srgbClr val="333333"/>
                          </a:solidFill>
                          <a:latin typeface="メイリオ" panose="020B0604030504040204" pitchFamily="50" charset="-128"/>
                          <a:ea typeface="メイリオ" panose="020B0604030504040204" pitchFamily="50" charset="-128"/>
                        </a:rPr>
                        <a:t>サイトの公式SNSの一覧</a:t>
                      </a:r>
                      <a:endParaRPr lang="ja-JP" altLang="en-US" sz="10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105156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友だち追加の</a:t>
                      </a:r>
                      <a:br>
                        <a:rPr lang="ja-JP" altLang="en-US" sz="1050" b="1" dirty="0">
                          <a:solidFill>
                            <a:srgbClr val="1F285A"/>
                          </a:solidFill>
                          <a:latin typeface="メイリオ" panose="020B0604030504040204" pitchFamily="50" charset="-128"/>
                          <a:ea typeface="メイリオ" panose="020B0604030504040204" pitchFamily="50" charset="-128"/>
                        </a:rPr>
                      </a:br>
                      <a:r>
                        <a:rPr lang="ja-JP" altLang="en-US" sz="1050" b="1" dirty="0">
                          <a:solidFill>
                            <a:srgbClr val="1F285A"/>
                          </a:solidFill>
                          <a:latin typeface="メイリオ" panose="020B0604030504040204" pitchFamily="50" charset="-128"/>
                          <a:ea typeface="メイリオ" panose="020B0604030504040204" pitchFamily="50" charset="-128"/>
                        </a:rPr>
                        <a:t>特典</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来場特典に上乗せ</a:t>
                      </a:r>
                      <a:br>
                        <a:rPr lang="ja-JP" altLang="en-US" sz="950" b="0" dirty="0">
                          <a:solidFill>
                            <a:srgbClr val="333333"/>
                          </a:solidFill>
                          <a:latin typeface="メイリオ" panose="020B0604030504040204" pitchFamily="50" charset="-128"/>
                          <a:ea typeface="メイリオ" panose="020B0604030504040204" pitchFamily="50" charset="-128"/>
                        </a:rPr>
                      </a:br>
                      <a:r>
                        <a:rPr lang="ja-JP" altLang="en-US" sz="950" b="0" dirty="0">
                          <a:solidFill>
                            <a:srgbClr val="333333"/>
                          </a:solidFill>
                          <a:latin typeface="メイリオ" panose="020B0604030504040204" pitchFamily="50" charset="-128"/>
                          <a:ea typeface="メイリオ" panose="020B0604030504040204" pitchFamily="50" charset="-128"/>
                        </a:rPr>
                        <a:t>最大7,000円分</a:t>
                      </a:r>
                      <a:br>
                        <a:rPr lang="ja-JP" altLang="en-US" sz="950" b="0" dirty="0">
                          <a:solidFill>
                            <a:srgbClr val="333333"/>
                          </a:solidFill>
                          <a:latin typeface="メイリオ" panose="020B0604030504040204" pitchFamily="50" charset="-128"/>
                          <a:ea typeface="メイリオ" panose="020B0604030504040204" pitchFamily="50" charset="-128"/>
                        </a:rPr>
                      </a:br>
                      <a:r>
                        <a:rPr lang="ja-JP" altLang="en-US" sz="950" b="0" dirty="0">
                          <a:solidFill>
                            <a:srgbClr val="333333"/>
                          </a:solidFill>
                          <a:latin typeface="メイリオ" panose="020B0604030504040204" pitchFamily="50" charset="-128"/>
                          <a:ea typeface="メイリオ" panose="020B0604030504040204" pitchFamily="50" charset="-128"/>
                        </a:rPr>
                        <a:t>（予約来場 5,000円分＋友だち登録 2,000円分）</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950" b="1" dirty="0">
                          <a:solidFill>
                            <a:srgbClr val="1F285A"/>
                          </a:solidFill>
                          <a:latin typeface="メイリオ" panose="020B0604030504040204" pitchFamily="50" charset="-128"/>
                          <a:ea typeface="メイリオ" panose="020B0604030504040204" pitchFamily="50" charset="-128"/>
                        </a:rPr>
                        <a:t>最大4万円分</a:t>
                      </a:r>
                      <a:br>
                        <a:rPr lang="ja-JP" altLang="en-US" sz="950" b="1" dirty="0">
                          <a:solidFill>
                            <a:srgbClr val="1F285A"/>
                          </a:solidFill>
                          <a:latin typeface="メイリオ" panose="020B0604030504040204" pitchFamily="50" charset="-128"/>
                          <a:ea typeface="メイリオ" panose="020B0604030504040204" pitchFamily="50" charset="-128"/>
                        </a:rPr>
                      </a:br>
                      <a:r>
                        <a:rPr lang="ja-JP" altLang="en-US" sz="950" b="1" dirty="0">
                          <a:solidFill>
                            <a:srgbClr val="1F285A"/>
                          </a:solidFill>
                          <a:latin typeface="メイリオ" panose="020B0604030504040204" pitchFamily="50" charset="-128"/>
                          <a:ea typeface="メイリオ" panose="020B0604030504040204" pitchFamily="50" charset="-128"/>
                        </a:rPr>
                        <a:t>（はじめての資料請求と来場予約で1万円分、来場後の事前審査で最大3万円分）</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950" b="0" dirty="0">
                          <a:solidFill>
                            <a:srgbClr val="7F7F7F"/>
                          </a:solidFill>
                          <a:latin typeface="メイリオ" panose="020B0604030504040204" pitchFamily="50" charset="-128"/>
                          <a:ea typeface="メイリオ" panose="020B0604030504040204" pitchFamily="50" charset="-128"/>
                        </a:rPr>
                        <a:t>サイトのトップでは</a:t>
                      </a:r>
                      <a:br>
                        <a:rPr lang="ja-JP" altLang="en-US" sz="950" b="0" dirty="0">
                          <a:solidFill>
                            <a:srgbClr val="7F7F7F"/>
                          </a:solidFill>
                          <a:latin typeface="メイリオ" panose="020B0604030504040204" pitchFamily="50" charset="-128"/>
                          <a:ea typeface="メイリオ" panose="020B0604030504040204" pitchFamily="50" charset="-128"/>
                        </a:rPr>
                      </a:br>
                      <a:r>
                        <a:rPr lang="ja-JP" altLang="en-US" sz="950" b="0" dirty="0">
                          <a:solidFill>
                            <a:srgbClr val="7F7F7F"/>
                          </a:solidFill>
                          <a:latin typeface="メイリオ" panose="020B0604030504040204" pitchFamily="50" charset="-128"/>
                          <a:ea typeface="メイリオ" panose="020B0604030504040204" pitchFamily="50" charset="-128"/>
                        </a:rPr>
                        <a:t>確認できず</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64008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特典の対象に</a:t>
                      </a:r>
                      <a:br>
                        <a:rPr lang="ja-JP" altLang="en-US" sz="1050" b="1" dirty="0">
                          <a:solidFill>
                            <a:srgbClr val="1F285A"/>
                          </a:solidFill>
                          <a:latin typeface="メイリオ" panose="020B0604030504040204" pitchFamily="50" charset="-128"/>
                          <a:ea typeface="メイリオ" panose="020B0604030504040204" pitchFamily="50" charset="-128"/>
                        </a:rPr>
                      </a:br>
                      <a:r>
                        <a:rPr lang="ja-JP" altLang="en-US" sz="1050" b="1" dirty="0">
                          <a:solidFill>
                            <a:srgbClr val="1F285A"/>
                          </a:solidFill>
                          <a:latin typeface="メイリオ" panose="020B0604030504040204" pitchFamily="50" charset="-128"/>
                          <a:ea typeface="メイリオ" panose="020B0604030504040204" pitchFamily="50" charset="-128"/>
                        </a:rPr>
                        <a:t>なる段階</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00" b="0" dirty="0">
                          <a:solidFill>
                            <a:srgbClr val="333333"/>
                          </a:solidFill>
                          <a:latin typeface="メイリオ" panose="020B0604030504040204" pitchFamily="50" charset="-128"/>
                          <a:ea typeface="メイリオ" panose="020B0604030504040204" pitchFamily="50" charset="-128"/>
                        </a:rPr>
                        <a:t>予約来場</a:t>
                      </a:r>
                      <a:endParaRPr lang="ja-JP" altLang="en-US" sz="10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00" b="1" dirty="0">
                          <a:solidFill>
                            <a:srgbClr val="1F285A"/>
                          </a:solidFill>
                          <a:latin typeface="メイリオ" panose="020B0604030504040204" pitchFamily="50" charset="-128"/>
                          <a:ea typeface="メイリオ" panose="020B0604030504040204" pitchFamily="50" charset="-128"/>
                        </a:rPr>
                        <a:t>資料請求・来場予約</a:t>
                      </a:r>
                      <a:br>
                        <a:rPr lang="ja-JP" altLang="en-US" sz="1000" b="1" dirty="0">
                          <a:solidFill>
                            <a:srgbClr val="1F285A"/>
                          </a:solidFill>
                          <a:latin typeface="メイリオ" panose="020B0604030504040204" pitchFamily="50" charset="-128"/>
                          <a:ea typeface="メイリオ" panose="020B0604030504040204" pitchFamily="50" charset="-128"/>
                        </a:rPr>
                      </a:br>
                      <a:r>
                        <a:rPr lang="ja-JP" altLang="en-US" sz="1000" b="1" dirty="0">
                          <a:solidFill>
                            <a:srgbClr val="1F285A"/>
                          </a:solidFill>
                          <a:latin typeface="メイリオ" panose="020B0604030504040204" pitchFamily="50" charset="-128"/>
                          <a:ea typeface="メイリオ" panose="020B0604030504040204" pitchFamily="50" charset="-128"/>
                        </a:rPr>
                        <a:t>→ 来場後の事前審査</a:t>
                      </a:r>
                      <a:endParaRPr lang="ja-JP" altLang="en-US" sz="10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7F7F7F"/>
                          </a:solidFill>
                          <a:latin typeface="メイリオ" panose="020B0604030504040204" pitchFamily="50" charset="-128"/>
                          <a:ea typeface="メイリオ" panose="020B0604030504040204" pitchFamily="50" charset="-128"/>
                        </a:rPr>
                        <a:t>―</a:t>
                      </a:r>
                      <a:endParaRPr lang="ja-JP" altLang="en-US" sz="10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77724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そのほか</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実写真のカルーセルで</a:t>
                      </a:r>
                      <a:br>
                        <a:rPr lang="ja-JP" altLang="en-US" sz="950" b="0" dirty="0">
                          <a:solidFill>
                            <a:srgbClr val="333333"/>
                          </a:solidFill>
                          <a:latin typeface="メイリオ" panose="020B0604030504040204" pitchFamily="50" charset="-128"/>
                          <a:ea typeface="メイリオ" panose="020B0604030504040204" pitchFamily="50" charset="-128"/>
                        </a:rPr>
                      </a:br>
                      <a:r>
                        <a:rPr lang="ja-JP" altLang="en-US" sz="950" b="0" dirty="0">
                          <a:solidFill>
                            <a:srgbClr val="333333"/>
                          </a:solidFill>
                          <a:latin typeface="メイリオ" panose="020B0604030504040204" pitchFamily="50" charset="-128"/>
                          <a:ea typeface="メイリオ" panose="020B0604030504040204" pitchFamily="50" charset="-128"/>
                        </a:rPr>
                        <a:t>見学会をご案内</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友だち追加のリンクに、ページごとの計測を入れている</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前後検索「注文住宅」で、当日に多く検索される会社</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bl>
          </a:graphicData>
        </a:graphic>
      </p:graphicFrame>
      <p:pic>
        <p:nvPicPr>
          <p:cNvPr id="8" name="大進建設のポップアップ" descr="大進建設_LINE登録キャンペーン_20261016.png"/>
          <p:cNvPicPr>
            <a:picLocks noChangeAspect="1"/>
          </p:cNvPicPr>
          <p:nvPr/>
        </p:nvPicPr>
        <p:blipFill>
          <a:blip r:embed="rId2"/>
          <a:stretch>
            <a:fillRect/>
          </a:stretch>
        </p:blipFill>
        <p:spPr>
          <a:xfrm>
            <a:off x="7406640" y="1691640"/>
            <a:ext cx="1993392" cy="1993392"/>
          </a:xfrm>
          <a:prstGeom prst="rect">
            <a:avLst/>
          </a:prstGeom>
        </p:spPr>
      </p:pic>
      <p:sp>
        <p:nvSpPr>
          <p:cNvPr id="9" name="画像の説明"/>
          <p:cNvSpPr/>
          <p:nvPr/>
        </p:nvSpPr>
        <p:spPr>
          <a:xfrm>
            <a:off x="7315200" y="3730752"/>
            <a:ext cx="2176272"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大進建設のサイトのポップアップ</a:t>
            </a:r>
            <a:endParaRPr lang="ja-JP" altLang="en-US" sz="1200" dirty="0"/>
          </a:p>
        </p:txBody>
      </p:sp>
      <p:sp>
        <p:nvSpPr>
          <p:cNvPr id="10" name="注記"/>
          <p:cNvSpPr/>
          <p:nvPr/>
        </p:nvSpPr>
        <p:spPr>
          <a:xfrm>
            <a:off x="502920" y="530352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※2026年10月16日時点で、各社のサイトを弊社で確認</a:t>
            </a:r>
            <a:endParaRPr lang="ja-JP" altLang="en-US" sz="1200" dirty="0"/>
          </a:p>
        </p:txBody>
      </p:sp>
    </p:spTree>
  </p:cSld>
  <p:clrMapOvr>
    <a:masterClrMapping/>
  </p:clrMapOvr>
</p:sld>
</file>

<file path=ppt/theme/theme1.xml><?xml version="1.0" encoding="utf-8"?>
<a:theme xmlns:a="http://schemas.openxmlformats.org/drawingml/2006/main" name="テーマ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143274</TotalTime>
  <Words>3655</Words>
  <Application>Microsoft Office PowerPoint</Application>
  <PresentationFormat>A4 210 x 297 mm</PresentationFormat>
  <Paragraphs>573</Paragraphs>
  <Slides>28</Slides>
  <Notes>1</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28</vt:i4>
      </vt:variant>
    </vt:vector>
  </HeadingPairs>
  <TitlesOfParts>
    <vt:vector size="36" baseType="lpstr">
      <vt:lpstr>Meiryo</vt:lpstr>
      <vt:lpstr>Meiryo</vt:lpstr>
      <vt:lpstr>Arial</vt:lpstr>
      <vt:lpstr>Calibri</vt:lpstr>
      <vt:lpstr>Symbol</vt:lpstr>
      <vt:lpstr>Times New Roman</vt:lpstr>
      <vt:lpstr>Wingdings</vt:lpstr>
      <vt:lpstr>テーマ1</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subject/>
  <dc:creator>中村 駿</dc:creator>
  <dc:description/>
  <cp:lastModifiedBy>殿村 亮太</cp:lastModifiedBy>
  <cp:revision>1974</cp:revision>
  <cp:lastPrinted>2022-11-01T11:38:14Z</cp:lastPrinted>
  <dcterms:created xsi:type="dcterms:W3CDTF">2015-09-04T09:21:15Z</dcterms:created>
  <dcterms:modified xsi:type="dcterms:W3CDTF">2026-10-16T04:19:57Z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21</vt:r8>
  </property>
  <property fmtid="{D5CDD505-2E9C-101B-9397-08002B2CF9AE}" pid="3" name="PresentationFormat">
    <vt:lpwstr>A4 210 x 297 mm</vt:lpwstr>
  </property>
  <property fmtid="{D5CDD505-2E9C-101B-9397-08002B2CF9AE}" pid="4" name="Slides">
    <vt:r8>46</vt:r8>
  </property>
</Properties>
</file>