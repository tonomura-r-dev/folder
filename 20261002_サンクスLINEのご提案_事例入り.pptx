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3008" r:id="rId7"/>
    <p:sldId id="2971" r:id="rId3"/>
    <p:sldId id="2972" r:id="rId4"/>
    <p:sldId id="2904" r:id="rId5"/>
    <p:sldId id="3007" r:id="rId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jp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サンクスLINE｜重要性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800" dirty="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申込みの直後に、LINEでつながる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19"/>
          <p:cNvSpPr txBox="1"/>
          <p:nvPr/>
        </p:nvSpPr>
        <p:spPr>
          <a:xfrm>
            <a:off x="1080000" y="1620000"/>
            <a:ext cx="7740000" cy="792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申込み⇒来店までに、一定数が離脱する。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広告費を増やしても、この離脱層は減らない。</a:t>
            </a:r>
          </a:p>
        </p:txBody>
      </p:sp>
      <p:sp>
        <p:nvSpPr>
          <p:cNvPr id="7" name="Rounded Rectangle 12"/>
          <p:cNvSpPr/>
          <p:nvPr/>
        </p:nvSpPr>
        <p:spPr>
          <a:xfrm>
            <a:off x="1080000" y="2592000"/>
            <a:ext cx="2484000" cy="280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468000" rIns="144000" bIns="54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保険見直し本舗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予約したのに、面談に来ない方がいる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来店に至らない割合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6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2〜3割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面談を予約したユーザーのうち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12"/>
          <p:cNvSpPr/>
          <p:nvPr/>
        </p:nvSpPr>
        <p:spPr>
          <a:xfrm>
            <a:off x="1224000" y="2700000"/>
            <a:ext cx="1512000" cy="2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1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LINEヤフー公式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ounded Rectangle 12"/>
          <p:cNvSpPr/>
          <p:nvPr/>
        </p:nvSpPr>
        <p:spPr>
          <a:xfrm>
            <a:off x="3708000" y="2592000"/>
            <a:ext cx="2484000" cy="280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468000" rIns="144000" bIns="54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琴平バス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申込み直後のLINEは、よく読まれる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メッセージの開封率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6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約70%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LINE通知メッセージの配信後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12"/>
          <p:cNvSpPr/>
          <p:nvPr/>
        </p:nvSpPr>
        <p:spPr>
          <a:xfrm>
            <a:off x="3852000" y="2700000"/>
            <a:ext cx="1512000" cy="2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1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LINEヤフー公式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ounded Rectangle 12"/>
          <p:cNvSpPr/>
          <p:nvPr/>
        </p:nvSpPr>
        <p:spPr>
          <a:xfrm>
            <a:off x="6336000" y="2592000"/>
            <a:ext cx="2484000" cy="280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468000" rIns="144000" bIns="54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琴平バス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読まれるだけでなく、クリックもされる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6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約5倍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メルマガのクリック率との比較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6480000" y="2700000"/>
            <a:ext cx="1512000" cy="2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1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LINEヤフー公式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4"/>
          <p:cNvSpPr/>
          <p:nvPr/>
        </p:nvSpPr>
        <p:spPr>
          <a:xfrm>
            <a:off x="1080000" y="5580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関心が一番高い申込み直後に、LINEでつながるのが最適</a:t>
            </a:r>
          </a:p>
        </p:txBody>
      </p:sp>
      <p:sp>
        <p:nvSpPr>
          <p:cNvPr id="14" name="TextBox 19"/>
          <p:cNvSpPr txBox="1"/>
          <p:nvPr/>
        </p:nvSpPr>
        <p:spPr>
          <a:xfrm>
            <a:off x="1080000" y="6156000"/>
            <a:ext cx="7740000" cy="251999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導入事例（保険見直し本舗・琴平バス）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シーン1｜来店・来院の予約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予約を、来店・来院につなげる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655999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予約完了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17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655999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予約確認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17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655999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前日に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お知らせ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17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655999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448000"/>
            <a:ext cx="2484000" cy="313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468000" rIns="144000" bIns="54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美容クリニック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予約完了画面からLINEへ誘導し、予約確認・前日のお知らせを配信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予約後の来院率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0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40〜50%改善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弊社運用の実績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4"/>
          <p:cNvSpPr/>
          <p:nvPr/>
        </p:nvSpPr>
        <p:spPr>
          <a:xfrm>
            <a:off x="1224000" y="2556000"/>
            <a:ext cx="1007999" cy="251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弊社実績</a:t>
            </a:r>
          </a:p>
        </p:txBody>
      </p:sp>
      <p:sp>
        <p:nvSpPr>
          <p:cNvPr id="15" name="Rounded Rectangle 12"/>
          <p:cNvSpPr/>
          <p:nvPr/>
        </p:nvSpPr>
        <p:spPr>
          <a:xfrm>
            <a:off x="3708000" y="2448000"/>
            <a:ext cx="2484000" cy="313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468000" rIns="144000" bIns="54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保険見直し本舗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予約日時のリマインドを、LINE通知メッセージで配信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予約からの面談実施率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0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5ポイント増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予約100件あたり、面談が5件増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3852000" y="2556000"/>
            <a:ext cx="1512000" cy="2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1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LINEヤフー公式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12"/>
          <p:cNvSpPr/>
          <p:nvPr/>
        </p:nvSpPr>
        <p:spPr>
          <a:xfrm>
            <a:off x="6336000" y="2448000"/>
            <a:ext cx="2484000" cy="313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468000" rIns="144000" bIns="54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ジャパンプロデュース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美容室。次回予約のリマインドをLINEで自動通知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次回予約客数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0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約200→240名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リピート率も88→91%（導入前後の半年比較。LINEミニアプリを併用）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Rounded Rectangle 12"/>
          <p:cNvSpPr/>
          <p:nvPr/>
        </p:nvSpPr>
        <p:spPr>
          <a:xfrm>
            <a:off x="6480000" y="2556000"/>
            <a:ext cx="1512000" cy="2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1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LINEヤフー公式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無断キャンセルを防ぎ、来店につなげる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000" y="6156000"/>
            <a:ext cx="7740000" cy="251999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出典：弊社運用実績／LINEヤフー for Business 導入事例（保険見直し本舗・ジャパンプロデュース）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シーン2｜資料請求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資料請求を、予約・商談につなげる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LINEへ案内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事例・動画を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見学・商談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の予約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3798000" cy="28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468000" rIns="144000" bIns="54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皮膚科クリニック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友だち追加後のステップ配信で、予約を案内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LINE経由の予約数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8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約1.2倍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ステップ配信の実施前との比較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224000" y="2736000"/>
            <a:ext cx="1512000" cy="2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1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LINEヤフー公式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5022000" y="2628000"/>
            <a:ext cx="3798000" cy="28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468000" rIns="144000" bIns="54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UZUZ（就職支援）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LINEのチャットボットで情報を提供し、面談予約へ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LINE経由の問い合わせの面談予約率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8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55%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他のチャネルと比べて高い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5166000" y="2736000"/>
            <a:ext cx="1512000" cy="2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1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LINEヤフー公式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資料請求のみで終わらせず、予約・商談につなげる</a:t>
            </a:r>
          </a:p>
        </p:txBody>
      </p:sp>
      <p:sp>
        <p:nvSpPr>
          <p:cNvPr id="18" name="TextBox 19"/>
          <p:cNvSpPr txBox="1"/>
          <p:nvPr/>
        </p:nvSpPr>
        <p:spPr>
          <a:xfrm>
            <a:off x="1080000" y="6156000"/>
            <a:ext cx="7740000" cy="251999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導入事例（アクネクリニック・UZUZ）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シーン3｜購入・来店の後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来店・購入の後も、LINEでつながり続ける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翌日に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アンケート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次のタイミングで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クーポン・案内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リピート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3798000" cy="28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468000" rIns="144000" bIns="54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Dazy（飲食店）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来店翌日にアンケートを配信。再来店の少し前にクーポンを配信（LINEミニアプリを併用）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リピーターの売上割合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8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7.6→12.9%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2025年1月と3月の比較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224000" y="2736000"/>
            <a:ext cx="1512000" cy="2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1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LINEヤフー公式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5022000" y="2628000"/>
            <a:ext cx="3798000" cy="28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468000" rIns="144000" bIns="54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たんじろう（飲食店）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来店翌日の11時に、アンケートとクーポンを自動配信（LINEミニアプリを併用）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8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19.4→40%超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2024年1月と2025年1月の比較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5166000" y="2736000"/>
            <a:ext cx="1512000" cy="2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1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LINEヤフー公式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購入・来店の後も、LINEで次の来店につなげる</a:t>
            </a:r>
          </a:p>
        </p:txBody>
      </p:sp>
      <p:sp>
        <p:nvSpPr>
          <p:cNvPr id="18" name="TextBox 19"/>
          <p:cNvSpPr txBox="1"/>
          <p:nvPr/>
        </p:nvSpPr>
        <p:spPr>
          <a:xfrm>
            <a:off x="1080000" y="6156000"/>
            <a:ext cx="7740000" cy="251999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導入事例（Dazy・たんじろう）。LINEでつながった後の施策の例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404798" y="193805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5808682" y="241574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5808681" y="458896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5974632" y="23047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非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5974632" y="44668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既存の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/>
          <p:nvPr/>
        </p:nvCxnSpPr>
        <p:spPr>
          <a:xfrm>
            <a:off x="4361857" y="3239708"/>
            <a:ext cx="1407469" cy="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4361857" y="3392108"/>
            <a:ext cx="1407469" cy="135838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4867227" y="2304788"/>
            <a:ext cx="374449" cy="3205847"/>
          </a:xfrm>
          <a:prstGeom prst="rect">
            <a:avLst/>
          </a:prstGeom>
          <a:solidFill>
            <a:srgbClr val="00FF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</a:t>
            </a: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Y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｜ルで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</a:t>
            </a:r>
            <a:b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N</a:t>
            </a:r>
            <a:b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</a:t>
            </a: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動線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</a:p>
        </p:txBody>
      </p: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2128994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4325046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5974631" y="2701376"/>
            <a:ext cx="18590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5971905" y="4914274"/>
            <a:ext cx="18590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設定によりフォーム入力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内容を踏襲した入力画面</a:t>
            </a:r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を表示させることが可能。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↓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配信セグメントに利用可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301" y="3085325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8027" y="3091633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919" y="4322141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8319" y="4474541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8414131" y="2644225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315283" y="2196668"/>
            <a:ext cx="1778402" cy="3994401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5" name="二等辺三角形 34">
            <a:extLst>
              <a:ext uri="{FF2B5EF4-FFF2-40B4-BE49-F238E27FC236}">
                <a16:creationId xmlns:a16="http://schemas.microsoft.com/office/drawing/2014/main" id="{D9FB7255-AF30-7B82-6180-D447A3754744}"/>
              </a:ext>
            </a:extLst>
          </p:cNvPr>
          <p:cNvSpPr/>
          <p:nvPr/>
        </p:nvSpPr>
        <p:spPr>
          <a:xfrm rot="5400000">
            <a:off x="2108593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225165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7" name="二等辺三角形 36">
            <a:extLst>
              <a:ext uri="{FF2B5EF4-FFF2-40B4-BE49-F238E27FC236}">
                <a16:creationId xmlns:a16="http://schemas.microsoft.com/office/drawing/2014/main" id="{9D8E2C96-1207-00B8-6FC3-23370EFD7A03}"/>
              </a:ext>
            </a:extLst>
          </p:cNvPr>
          <p:cNvSpPr/>
          <p:nvPr/>
        </p:nvSpPr>
        <p:spPr>
          <a:xfrm rot="5400000">
            <a:off x="2341737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14547" y="4198381"/>
            <a:ext cx="1154315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</a:t>
            </a:r>
          </a:p>
        </p:txBody>
      </p:sp>
      <p:pic>
        <p:nvPicPr>
          <p:cNvPr id="40" name="図 3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2B8DDCE0-83B3-5BAA-0FFE-3D329FBE2D9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663353" y="2289246"/>
            <a:ext cx="1048252" cy="1775437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EE7C7FD3-78CB-4D67-F96A-D6F8017FE2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171" y="2325575"/>
            <a:ext cx="494484" cy="86136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2E6CA8C2-2D04-CD9A-C431-4766768BBF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33" y="2328011"/>
            <a:ext cx="494484" cy="86136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E5BE860E-2799-E5F4-ADCA-4ADBD44E0D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116" y="3773334"/>
            <a:ext cx="494484" cy="86136"/>
          </a:xfrm>
          <a:prstGeom prst="rect">
            <a:avLst/>
          </a:prstGeom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157" y="2445202"/>
            <a:ext cx="1076073" cy="1468487"/>
          </a:xfrm>
          <a:prstGeom prst="rect">
            <a:avLst/>
          </a:prstGeom>
        </p:spPr>
      </p:pic>
      <p:pic>
        <p:nvPicPr>
          <p:cNvPr id="1024" name="図 1023">
            <a:extLst>
              <a:ext uri="{FF2B5EF4-FFF2-40B4-BE49-F238E27FC236}">
                <a16:creationId xmlns:a16="http://schemas.microsoft.com/office/drawing/2014/main" id="{E5E4719A-E6F5-34E0-F2FD-37322E2A76A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5324" y="2303179"/>
            <a:ext cx="560995" cy="133465"/>
          </a:xfrm>
          <a:prstGeom prst="rect">
            <a:avLst/>
          </a:prstGeom>
        </p:spPr>
      </p:pic>
      <p:sp>
        <p:nvSpPr>
          <p:cNvPr id="1026" name="テキスト ボックス 1025">
            <a:extLst>
              <a:ext uri="{FF2B5EF4-FFF2-40B4-BE49-F238E27FC236}">
                <a16:creationId xmlns:a16="http://schemas.microsoft.com/office/drawing/2014/main" id="{1B57767B-4EA3-C247-B88C-4D505A95BD20}"/>
              </a:ext>
            </a:extLst>
          </p:cNvPr>
          <p:cNvSpPr txBox="1"/>
          <p:nvPr/>
        </p:nvSpPr>
        <p:spPr>
          <a:xfrm>
            <a:off x="-490844" y="4711039"/>
            <a:ext cx="34055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入力した内容を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トークに反映が可能。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584156" y="2196668"/>
            <a:ext cx="1778402" cy="399440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909322" y="4198381"/>
            <a:ext cx="1154315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endParaRPr kumimoji="1" lang="ja-JP" altLang="en-US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6" name="正方形/長方形 1035">
            <a:extLst>
              <a:ext uri="{FF2B5EF4-FFF2-40B4-BE49-F238E27FC236}">
                <a16:creationId xmlns:a16="http://schemas.microsoft.com/office/drawing/2014/main" id="{43EEA9CC-C52C-B219-FF18-6E6EA44E4D24}"/>
              </a:ext>
            </a:extLst>
          </p:cNvPr>
          <p:cNvSpPr/>
          <p:nvPr/>
        </p:nvSpPr>
        <p:spPr>
          <a:xfrm>
            <a:off x="2692868" y="4436119"/>
            <a:ext cx="1396722" cy="10450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・購入完了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・セミナー予約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・登録完了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・メルマガ登録</a:t>
            </a:r>
            <a:endParaRPr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・その他</a:t>
            </a: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977448" y="2296209"/>
            <a:ext cx="1048252" cy="1775437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866329" y="4627146"/>
            <a:ext cx="395417" cy="52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図 1039">
            <a:extLst>
              <a:ext uri="{FF2B5EF4-FFF2-40B4-BE49-F238E27FC236}">
                <a16:creationId xmlns:a16="http://schemas.microsoft.com/office/drawing/2014/main" id="{D40EFC68-F8C8-CACE-392A-C804A102B4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5266" y="2332538"/>
            <a:ext cx="494484" cy="86136"/>
          </a:xfrm>
          <a:prstGeom prst="rect">
            <a:avLst/>
          </a:prstGeom>
        </p:spPr>
      </p:pic>
      <p:pic>
        <p:nvPicPr>
          <p:cNvPr id="1041" name="図 1040">
            <a:extLst>
              <a:ext uri="{FF2B5EF4-FFF2-40B4-BE49-F238E27FC236}">
                <a16:creationId xmlns:a16="http://schemas.microsoft.com/office/drawing/2014/main" id="{BA9B0596-4197-6BA5-B58D-7E67FD1379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28" y="2334974"/>
            <a:ext cx="494484" cy="86136"/>
          </a:xfrm>
          <a:prstGeom prst="rect">
            <a:avLst/>
          </a:prstGeom>
        </p:spPr>
      </p:pic>
      <p:pic>
        <p:nvPicPr>
          <p:cNvPr id="1042" name="図 1041">
            <a:extLst>
              <a:ext uri="{FF2B5EF4-FFF2-40B4-BE49-F238E27FC236}">
                <a16:creationId xmlns:a16="http://schemas.microsoft.com/office/drawing/2014/main" id="{A3D5D1CE-703D-3244-20B5-0CBB6C5EB4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4211" y="3780297"/>
            <a:ext cx="494484" cy="86136"/>
          </a:xfrm>
          <a:prstGeom prst="rect">
            <a:avLst/>
          </a:prstGeom>
        </p:spPr>
      </p:pic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434489DF-76E5-B08D-AB93-7A020A3C23F0}"/>
              </a:ext>
            </a:extLst>
          </p:cNvPr>
          <p:cNvSpPr txBox="1"/>
          <p:nvPr/>
        </p:nvSpPr>
        <p:spPr>
          <a:xfrm>
            <a:off x="360000" y="5400000"/>
            <a:ext cx="1679395" cy="33855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ユーザーの個人情報収集が</a:t>
            </a:r>
            <a:endParaRPr lang="en-US" altLang="ja-JP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完了したタイミング</a:t>
            </a:r>
            <a:endParaRPr kumimoji="1" lang="ja-JP" altLang="en-US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サンクス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LINE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8247347" y="4702330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5EB654A-0759-70F8-6BA7-95CA3A0F983F}"/>
              </a:ext>
            </a:extLst>
          </p:cNvPr>
          <p:cNvCxnSpPr>
            <a:cxnSpLocks/>
          </p:cNvCxnSpPr>
          <p:nvPr/>
        </p:nvCxnSpPr>
        <p:spPr>
          <a:xfrm flipV="1">
            <a:off x="7672763" y="5102505"/>
            <a:ext cx="574585" cy="332494"/>
          </a:xfrm>
          <a:prstGeom prst="bentConnector3">
            <a:avLst>
              <a:gd name="adj1" fmla="val 50000"/>
            </a:avLst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18E3FE3-7B20-5966-421F-4ECB81603538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>
            <a:off x="6904149" y="3132263"/>
            <a:ext cx="1" cy="133462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BDB9444-3A0E-B235-58FC-9F8C81BAEA44}"/>
              </a:ext>
            </a:extLst>
          </p:cNvPr>
          <p:cNvSpPr txBox="1"/>
          <p:nvPr/>
        </p:nvSpPr>
        <p:spPr>
          <a:xfrm>
            <a:off x="6323825" y="3523709"/>
            <a:ext cx="1161782" cy="261610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100" b="1" dirty="0">
                <a:solidFill>
                  <a:srgbClr val="00C057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友だち追加後</a:t>
            </a:r>
            <a:endParaRPr lang="ja-JP" altLang="en-US" sz="1100" dirty="0">
              <a:solidFill>
                <a:srgbClr val="00C057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サンクス到達時の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動線が弊社開発により可能に。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費用を抑えての導入が可能で、新規反響の質改善に寄与。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091506" y="1404000"/>
            <a:ext cx="47186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初期：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15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万円～</a:t>
            </a:r>
            <a:endParaRPr lang="en-US" altLang="ja-JP"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altLang="ja-JP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設定地点追加</a:t>
            </a:r>
            <a:endParaRPr sz="1050" b="1" i="0" u="none" strike="noStrike" cap="none" dirty="0">
              <a:solidFill>
                <a:srgbClr val="FFFF0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D9706AF3-2C8D-6646-76C8-7802A4F734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94819" y="3047336"/>
            <a:ext cx="430977" cy="4596748"/>
          </a:xfrm>
          <a:prstGeom prst="bentConnector2">
            <a:avLst/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7C92C6B-4F06-7ED3-0627-D0C168299913}"/>
              </a:ext>
            </a:extLst>
          </p:cNvPr>
          <p:cNvSpPr txBox="1"/>
          <p:nvPr/>
        </p:nvSpPr>
        <p:spPr>
          <a:xfrm>
            <a:off x="115187" y="5639542"/>
            <a:ext cx="5785781" cy="461665"/>
          </a:xfrm>
          <a:prstGeom prst="rect">
            <a:avLst/>
          </a:prstGeom>
          <a:solidFill>
            <a:schemeClr val="bg1">
              <a:alpha val="62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高開封率のLINEに誘導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して</a:t>
            </a:r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反響→実売上への引上げ率、リピート率改善。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ja-JP" sz="1200" dirty="0" b="1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弊社運用の美容クリニック様では、予約後来院率が40〜50%改善</a:t>
            </a:r>
            <a:endParaRPr lang="ja-JP" altLang="en-US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