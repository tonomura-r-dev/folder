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1" r:id="rId3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15D0A-BA72-DE45-32FA-363803F1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7D2F8A3-D4B3-B9E6-A613-A157696B8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33FBD4A-B575-3375-091A-F6A24B5A9B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AEAEB9-E37C-569F-CBB7-45D65E2A09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8476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AD6A8E8E-25CB-4B86-C4F6-E5A702358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61078"/>
            <a:ext cx="8784000" cy="2898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ja-JP" sz="1800" dirty="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1620000"/>
            <a:ext cx="7740000" cy="792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申込み⇒来店までに、一定数が離脱する。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広告費を増やしても、この離脱層は減らない。</a:t>
            </a:r>
          </a:p>
        </p:txBody>
      </p:sp>
      <p:sp>
        <p:nvSpPr>
          <p:cNvPr id="7" name="Rounded Rectangle 12"/>
          <p:cNvSpPr/>
          <p:nvPr/>
        </p:nvSpPr>
        <p:spPr>
          <a:xfrm>
            <a:off x="1080000" y="2592000"/>
            <a:ext cx="7740000" cy="93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バス会社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申込み直後のLINE通知メッセージは、よく読まれ、クリックもされる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12"/>
          <p:cNvSpPr/>
          <p:nvPr/>
        </p:nvSpPr>
        <p:spPr>
          <a:xfrm>
            <a:off x="1080000" y="3600000"/>
            <a:ext cx="3798000" cy="176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メッセージの開封率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約70%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LINE通知メッセージの配信後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ounded Rectangle 12"/>
          <p:cNvSpPr/>
          <p:nvPr/>
        </p:nvSpPr>
        <p:spPr>
          <a:xfrm>
            <a:off x="5022000" y="3600000"/>
            <a:ext cx="3798000" cy="1764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クリック率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約5倍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メルマガのクリック率との比較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1080000" y="5580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関心が一番高い申込み直後に、LINEでつながるのが最適</a:t>
            </a:r>
          </a:p>
        </p:txBody>
      </p:sp>
    </p:spTree>
    <p:extLst>
      <p:ext uri="{BB962C8B-B14F-4D97-AF65-F5344CB8AC3E}">
        <p14:creationId xmlns:p14="http://schemas.microsoft.com/office/powerpoint/2010/main" val="2378484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予約完了画面からLINEへ誘導し、予約確認・前日のお知らせを配信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40〜50%改善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/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美容室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次回予約のリマインドをLINEで自動通知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次回予約客数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20%増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約200→240名。リピート率も88→91%（導入前後の半年比較。LINEミニアプリを併用）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無断キャンセルを防ぎ、来店につなげる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の予約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皮膚科クリニック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友だち追加後のステップ配信で、予約を案内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LINE経由の予約数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約1.2倍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ステップ配信の実施前との比較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就職支援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LINEのチャットボットで情報を提供し、面談予約へ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LINEで問い合わせた方のうち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55%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が、面談を予約（他のチャネルと比べて高い）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資料請求のみで終わらせず、予約・商談につなげる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シーン3｜購入・来店の後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来店・購入の後も、LINEでつながり続ける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購入・来店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54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096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翌日に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アンケート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12000" y="1728000"/>
            <a:ext cx="1655999" cy="61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次のタイミングで</a:t>
            </a:r>
          </a:p>
          <a:p>
            <a:pPr algn="ctr">
              <a:lnSpc>
                <a:spcPct val="120000"/>
              </a:lnSpc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クーポン・案内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785999" y="1889999"/>
            <a:ext cx="324000" cy="288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27999" y="1728000"/>
            <a:ext cx="1655999" cy="61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3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リピート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080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居酒屋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来店翌日にアンケートを配信。再来店の少し前にクーポンを配信（LINEミニアプリを併用）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ounded Rectangle 12"/>
          <p:cNvSpPr/>
          <p:nvPr/>
        </p:nvSpPr>
        <p:spPr>
          <a:xfrm>
            <a:off x="1080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リピーターの売上割合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7.6→12.9%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2025年1月と3月の比較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Rounded Rectangle 12"/>
          <p:cNvSpPr/>
          <p:nvPr/>
        </p:nvSpPr>
        <p:spPr>
          <a:xfrm>
            <a:off x="5022000" y="2628000"/>
            <a:ext cx="3798000" cy="1296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焼肉店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来店翌日の11時に、アンケートとクーポンを自動配信（LINEミニアプリを併用）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2"/>
          <p:cNvSpPr/>
          <p:nvPr/>
        </p:nvSpPr>
        <p:spPr>
          <a:xfrm>
            <a:off x="5022000" y="3960000"/>
            <a:ext cx="3798000" cy="1548000"/>
          </a:xfrm>
          <a:prstGeom prst="roundRect">
            <a:avLst>
              <a:gd name="adj" fmla="val 6000"/>
            </a:avLst>
          </a:prstGeom>
          <a:noFill/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0" tIns="72000" rIns="180000" bIns="36000" rtlCol="0" anchor="t"/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リピーター率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32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19.4→40%超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2024年1月と2025年1月の比較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Rounded Rectangle 4"/>
          <p:cNvSpPr/>
          <p:nvPr/>
        </p:nvSpPr>
        <p:spPr>
          <a:xfrm>
            <a:off x="1080000" y="5652000"/>
            <a:ext cx="7740000" cy="432000"/>
          </a:xfrm>
          <a:prstGeom prst="roundRect">
            <a:avLst>
              <a:gd name="adj" fmla="val 1000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購入・来店の後も、LINEで次の来店につなげる</a:t>
            </a:r>
          </a:p>
        </p:txBody>
      </p:sp>
      <p:sp>
        <p:nvSpPr>
          <p:cNvPr id="18" name="TextBox 19"/>
          <p:cNvSpPr txBox="1"/>
          <p:nvPr/>
        </p:nvSpPr>
        <p:spPr>
          <a:xfrm>
            <a:off x="1080000" y="6156000"/>
            <a:ext cx="7740000" cy="251999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※サンクスLINE単体の効果ではなく、LINEでつながった後の施策の例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 b="1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