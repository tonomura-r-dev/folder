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08" r:id="rId7"/>
    <p:sldId id="2971" r:id="rId3"/>
    <p:sldId id="2972" r:id="rId4"/>
    <p:sldId id="2904" r:id="rId5"/>
    <p:sldId id="3007" r:id="rId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jp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サンクスLINE｜重要性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800" dirty="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申込みの直後に、LINEでつながる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19"/>
          <p:cNvSpPr txBox="1"/>
          <p:nvPr/>
        </p:nvSpPr>
        <p:spPr>
          <a:xfrm>
            <a:off x="1080000" y="1512000"/>
            <a:ext cx="7740000" cy="104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申込み⇒来店までに、一定数が離脱する。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広告費を増やしても、この離脱層は減らない。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申込み完了の画面は、関心が一番高い瞬間。ここでLINEにつなげる。</a:t>
            </a:r>
          </a:p>
        </p:txBody>
      </p:sp>
      <p:sp>
        <p:nvSpPr>
          <p:cNvPr id="7" name="Rounded Rectangle 12"/>
          <p:cNvSpPr/>
          <p:nvPr/>
        </p:nvSpPr>
        <p:spPr>
          <a:xfrm>
            <a:off x="1080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読まれる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バス会社：申込み直後のLINE通知メッセージは、よく読まれ、クリックもされる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12"/>
          <p:cNvSpPr/>
          <p:nvPr/>
        </p:nvSpPr>
        <p:spPr>
          <a:xfrm>
            <a:off x="1080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メッセージの開封率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クリック率はメルマガの約5倍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2"/>
          <p:cNvSpPr/>
          <p:nvPr/>
        </p:nvSpPr>
        <p:spPr>
          <a:xfrm>
            <a:off x="5022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動く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美容クリニック：予約完了画面からLINEへ誘導し、予約確認・前日のお知らせを配信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12"/>
          <p:cNvSpPr/>
          <p:nvPr/>
        </p:nvSpPr>
        <p:spPr>
          <a:xfrm>
            <a:off x="5022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40〜50%改善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/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1080000" y="5652000"/>
            <a:ext cx="7740000" cy="43200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関心が一番高い申込み直後に、LINEでつながるのが最適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シーン1｜来店・来院の予約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予約を、来店・来院につなげる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754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096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770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5112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前日に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sp>
        <p:nvSpPr>
          <p:cNvPr id="11" name="Right Arrow 5"/>
          <p:cNvSpPr/>
          <p:nvPr/>
        </p:nvSpPr>
        <p:spPr>
          <a:xfrm>
            <a:off x="6785999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7127999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80000" y="2628000"/>
            <a:ext cx="7740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美容室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次回予約のリマインドをLINEで自動通知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1080000" y="3960000"/>
            <a:ext cx="7740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次回予約客数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20%増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約200→240名。リピート率も88→91%（導入前後の半年比較。LINEミニアプリを併用）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4"/>
          <p:cNvSpPr/>
          <p:nvPr/>
        </p:nvSpPr>
        <p:spPr>
          <a:xfrm>
            <a:off x="1080000" y="5652000"/>
            <a:ext cx="7740000" cy="43200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無断キャンセルを防ぎ、来店につなげる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シーン2｜資料請求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資料請求を、予約・商談につなげる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754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096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LINEへ案内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770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5112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事例・動画を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11" name="Right Arrow 5"/>
          <p:cNvSpPr/>
          <p:nvPr/>
        </p:nvSpPr>
        <p:spPr>
          <a:xfrm>
            <a:off x="6785999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7127999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見学・商談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の予約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80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友だち追加後のステップ配信で、予約を案内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1080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LINE経由の予約数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約1.2倍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ステップ配信の実施前との比較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2"/>
          <p:cNvSpPr/>
          <p:nvPr/>
        </p:nvSpPr>
        <p:spPr>
          <a:xfrm>
            <a:off x="5022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LINEのチャットボットで情報を提供し、面談予約へ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2"/>
          <p:cNvSpPr/>
          <p:nvPr/>
        </p:nvSpPr>
        <p:spPr>
          <a:xfrm>
            <a:off x="5022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LINEで問い合わせた方のうち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が、面談を予約（他のチャネルと比べて高い）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1080000" y="5652000"/>
            <a:ext cx="7740000" cy="43200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資料請求のみで終わらせず、予約・商談につなげる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シーン3｜購入・来店の後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84000"/>
            <a:ext cx="9036000" cy="432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来店・購入の後も、LINEでつながり続ける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2"/>
          <p:cNvSpPr/>
          <p:nvPr/>
        </p:nvSpPr>
        <p:spPr>
          <a:xfrm>
            <a:off x="1080000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購入・来店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ight Arrow 5"/>
          <p:cNvSpPr/>
          <p:nvPr/>
        </p:nvSpPr>
        <p:spPr>
          <a:xfrm>
            <a:off x="2754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4"/>
          <p:cNvSpPr/>
          <p:nvPr/>
        </p:nvSpPr>
        <p:spPr>
          <a:xfrm>
            <a:off x="3096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翌日に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</p:txBody>
      </p:sp>
      <p:sp>
        <p:nvSpPr>
          <p:cNvPr id="9" name="Right Arrow 5"/>
          <p:cNvSpPr/>
          <p:nvPr/>
        </p:nvSpPr>
        <p:spPr>
          <a:xfrm>
            <a:off x="4770000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5112000" y="1728000"/>
            <a:ext cx="1655999" cy="61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次のタイミングで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クーポン・案内</a:t>
            </a:r>
          </a:p>
        </p:txBody>
      </p:sp>
      <p:sp>
        <p:nvSpPr>
          <p:cNvPr id="11" name="Right Arrow 5"/>
          <p:cNvSpPr/>
          <p:nvPr/>
        </p:nvSpPr>
        <p:spPr>
          <a:xfrm>
            <a:off x="6785999" y="1889999"/>
            <a:ext cx="324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7127999" y="1728000"/>
            <a:ext cx="1655999" cy="6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再来店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リピート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80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居酒屋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来店翌日にアンケートを配信。再来店の少し前にクーポンを配信（LINEミニアプリを併用）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1080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リピーターの売上割合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7.6→12.9%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2025年1月と3月の比較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2"/>
          <p:cNvSpPr/>
          <p:nvPr/>
        </p:nvSpPr>
        <p:spPr>
          <a:xfrm>
            <a:off x="5022000" y="2628000"/>
            <a:ext cx="3798000" cy="1296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焼肉店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来店翌日の11時に、アンケートとクーポンを自動配信（LINEミニアプリを併用）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2"/>
          <p:cNvSpPr/>
          <p:nvPr/>
        </p:nvSpPr>
        <p:spPr>
          <a:xfrm>
            <a:off x="5022000" y="3960000"/>
            <a:ext cx="3798000" cy="1548000"/>
          </a:xfrm>
          <a:prstGeom prst="roundRect">
            <a:avLst>
              <a:gd name="adj" fmla="val 6000"/>
            </a:avLst>
          </a:prstGeom>
          <a:noFill/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36000" rtlCol="0" anchor="t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リピーター率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3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19.4→40%超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2024年1月と2025年1月の比較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4"/>
          <p:cNvSpPr/>
          <p:nvPr/>
        </p:nvSpPr>
        <p:spPr>
          <a:xfrm>
            <a:off x="1080000" y="5652000"/>
            <a:ext cx="7740000" cy="432000"/>
          </a:xfrm>
          <a:prstGeom prst="roundRect">
            <a:avLst>
              <a:gd name="adj" fmla="val 1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購入・来店の後も、LINEで次の来店につなげる</a:t>
            </a:r>
          </a:p>
        </p:txBody>
      </p:sp>
      <p:sp>
        <p:nvSpPr>
          <p:cNvPr id="18" name="TextBox 19"/>
          <p:cNvSpPr txBox="1"/>
          <p:nvPr/>
        </p:nvSpPr>
        <p:spPr>
          <a:xfrm>
            <a:off x="1080000" y="6156000"/>
            <a:ext cx="7740000" cy="251999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※サンクスLINE単体の効果ではなく、LINEでつながった後の施策の例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404798" y="1938056"/>
            <a:ext cx="1859036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5808682" y="2415743"/>
            <a:ext cx="374887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5808681" y="4588963"/>
            <a:ext cx="374887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5974632" y="2304788"/>
            <a:ext cx="1859036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非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5974632" y="4466888"/>
            <a:ext cx="1859036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既存の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/>
          <p:nvPr/>
        </p:nvCxnSpPr>
        <p:spPr>
          <a:xfrm>
            <a:off x="4361857" y="3239708"/>
            <a:ext cx="1407469" cy="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4361857" y="3392108"/>
            <a:ext cx="1407469" cy="1358385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4867227" y="2304788"/>
            <a:ext cx="374449" cy="3205847"/>
          </a:xfrm>
          <a:prstGeom prst="rect">
            <a:avLst/>
          </a:prstGeom>
          <a:solidFill>
            <a:srgbClr val="00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｜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</a:t>
            </a:r>
          </a:p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Y</a:t>
            </a:r>
          </a:p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｜ルで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</a:t>
            </a:r>
            <a:b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</a:t>
            </a:r>
          </a:p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N</a:t>
            </a:r>
            <a:b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E</a:t>
            </a: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動線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｜</a:t>
            </a:r>
          </a:p>
        </p:txBody>
      </p: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999618" y="2128994"/>
            <a:ext cx="1231081" cy="2085097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999618" y="4325046"/>
            <a:ext cx="1231081" cy="2085098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5974631" y="2701376"/>
            <a:ext cx="18590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登録ページ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5971905" y="4914274"/>
            <a:ext cx="18590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画面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設定によりフォーム入力</a:t>
            </a:r>
            <a:endParaRPr kumimoji="1"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　内容を踏襲した入力画面</a:t>
            </a:r>
            <a:endParaRPr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　を表示させることが可能。</a:t>
            </a:r>
            <a:endParaRPr kumimoji="1"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↓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配信セグメントに利用可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301" y="3085325"/>
            <a:ext cx="1133712" cy="110223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027" y="3091633"/>
            <a:ext cx="479964" cy="10665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919" y="4322141"/>
            <a:ext cx="334412" cy="74315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319" y="4474541"/>
            <a:ext cx="334412" cy="74315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8414131" y="2644225"/>
            <a:ext cx="396000" cy="39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315283" y="2196668"/>
            <a:ext cx="1778402" cy="3994401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D9FB7255-AF30-7B82-6180-D447A3754744}"/>
              </a:ext>
            </a:extLst>
          </p:cNvPr>
          <p:cNvSpPr/>
          <p:nvPr/>
        </p:nvSpPr>
        <p:spPr>
          <a:xfrm rot="5400000">
            <a:off x="2108593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225165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7" name="二等辺三角形 36">
            <a:extLst>
              <a:ext uri="{FF2B5EF4-FFF2-40B4-BE49-F238E27FC236}">
                <a16:creationId xmlns:a16="http://schemas.microsoft.com/office/drawing/2014/main" id="{9D8E2C96-1207-00B8-6FC3-23370EFD7A03}"/>
              </a:ext>
            </a:extLst>
          </p:cNvPr>
          <p:cNvSpPr/>
          <p:nvPr/>
        </p:nvSpPr>
        <p:spPr>
          <a:xfrm rot="5400000">
            <a:off x="2341737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14547" y="4198381"/>
            <a:ext cx="1154315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</a:t>
            </a:r>
          </a:p>
        </p:txBody>
      </p:sp>
      <p:pic>
        <p:nvPicPr>
          <p:cNvPr id="40" name="図 39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B8DDCE0-83B3-5BAA-0FFE-3D329FBE2D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663353" y="2289246"/>
            <a:ext cx="1048252" cy="1775437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EE7C7FD3-78CB-4D67-F96A-D6F8017FE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1" y="2325575"/>
            <a:ext cx="494484" cy="8613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E6CA8C2-2D04-CD9A-C431-4766768BBF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33" y="2328011"/>
            <a:ext cx="494484" cy="86136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E5BE860E-2799-E5F4-ADCA-4ADBD44E0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16" y="3773334"/>
            <a:ext cx="494484" cy="86136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57" y="2445202"/>
            <a:ext cx="1076073" cy="1468487"/>
          </a:xfrm>
          <a:prstGeom prst="rect">
            <a:avLst/>
          </a:prstGeom>
        </p:spPr>
      </p:pic>
      <p:pic>
        <p:nvPicPr>
          <p:cNvPr id="1024" name="図 1023">
            <a:extLst>
              <a:ext uri="{FF2B5EF4-FFF2-40B4-BE49-F238E27FC236}">
                <a16:creationId xmlns:a16="http://schemas.microsoft.com/office/drawing/2014/main" id="{E5E4719A-E6F5-34E0-F2FD-37322E2A76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324" y="2303179"/>
            <a:ext cx="560995" cy="133465"/>
          </a:xfrm>
          <a:prstGeom prst="rect">
            <a:avLst/>
          </a:prstGeom>
        </p:spPr>
      </p:pic>
      <p:sp>
        <p:nvSpPr>
          <p:cNvPr id="1026" name="テキスト ボックス 1025">
            <a:extLst>
              <a:ext uri="{FF2B5EF4-FFF2-40B4-BE49-F238E27FC236}">
                <a16:creationId xmlns:a16="http://schemas.microsoft.com/office/drawing/2014/main" id="{1B57767B-4EA3-C247-B88C-4D505A95BD20}"/>
              </a:ext>
            </a:extLst>
          </p:cNvPr>
          <p:cNvSpPr txBox="1"/>
          <p:nvPr/>
        </p:nvSpPr>
        <p:spPr>
          <a:xfrm>
            <a:off x="-490844" y="4711039"/>
            <a:ext cx="3405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入力した内容を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トークに反映が可能。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584156" y="2196668"/>
            <a:ext cx="1778402" cy="399440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909322" y="4198381"/>
            <a:ext cx="1154315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CV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36" name="正方形/長方形 1035">
            <a:extLst>
              <a:ext uri="{FF2B5EF4-FFF2-40B4-BE49-F238E27FC236}">
                <a16:creationId xmlns:a16="http://schemas.microsoft.com/office/drawing/2014/main" id="{43EEA9CC-C52C-B219-FF18-6E6EA44E4D24}"/>
              </a:ext>
            </a:extLst>
          </p:cNvPr>
          <p:cNvSpPr/>
          <p:nvPr/>
        </p:nvSpPr>
        <p:spPr>
          <a:xfrm>
            <a:off x="2692868" y="4436119"/>
            <a:ext cx="1396722" cy="1045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・購入完了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・セミナー予約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・登録完了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・メルマガ登録</a:t>
            </a:r>
            <a:endParaRPr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・その他</a:t>
            </a: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977448" y="2296209"/>
            <a:ext cx="1048252" cy="1775437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866329" y="4627146"/>
            <a:ext cx="395417" cy="52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図 1039">
            <a:extLst>
              <a:ext uri="{FF2B5EF4-FFF2-40B4-BE49-F238E27FC236}">
                <a16:creationId xmlns:a16="http://schemas.microsoft.com/office/drawing/2014/main" id="{D40EFC68-F8C8-CACE-392A-C804A102B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5266" y="2332538"/>
            <a:ext cx="494484" cy="86136"/>
          </a:xfrm>
          <a:prstGeom prst="rect">
            <a:avLst/>
          </a:prstGeom>
        </p:spPr>
      </p:pic>
      <p:pic>
        <p:nvPicPr>
          <p:cNvPr id="1041" name="図 1040">
            <a:extLst>
              <a:ext uri="{FF2B5EF4-FFF2-40B4-BE49-F238E27FC236}">
                <a16:creationId xmlns:a16="http://schemas.microsoft.com/office/drawing/2014/main" id="{BA9B0596-4197-6BA5-B58D-7E67FD137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28" y="2334974"/>
            <a:ext cx="494484" cy="86136"/>
          </a:xfrm>
          <a:prstGeom prst="rect">
            <a:avLst/>
          </a:prstGeom>
        </p:spPr>
      </p:pic>
      <p:pic>
        <p:nvPicPr>
          <p:cNvPr id="1042" name="図 1041">
            <a:extLst>
              <a:ext uri="{FF2B5EF4-FFF2-40B4-BE49-F238E27FC236}">
                <a16:creationId xmlns:a16="http://schemas.microsoft.com/office/drawing/2014/main" id="{A3D5D1CE-703D-3244-20B5-0CBB6C5EB4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11" y="3780297"/>
            <a:ext cx="494484" cy="86136"/>
          </a:xfrm>
          <a:prstGeom prst="rect">
            <a:avLst/>
          </a:prstGeom>
        </p:spPr>
      </p:pic>
      <p:sp>
        <p:nvSpPr>
          <p:cNvPr id="1043" name="テキスト ボックス 1042">
            <a:extLst>
              <a:ext uri="{FF2B5EF4-FFF2-40B4-BE49-F238E27FC236}">
                <a16:creationId xmlns:a16="http://schemas.microsoft.com/office/drawing/2014/main" id="{434489DF-76E5-B08D-AB93-7A020A3C23F0}"/>
              </a:ext>
            </a:extLst>
          </p:cNvPr>
          <p:cNvSpPr txBox="1"/>
          <p:nvPr/>
        </p:nvSpPr>
        <p:spPr>
          <a:xfrm>
            <a:off x="360000" y="5400000"/>
            <a:ext cx="1679395" cy="33855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ユーザーの個人情報収集が</a:t>
            </a:r>
            <a:endParaRPr lang="en-US" altLang="ja-JP" sz="800" b="1" dirty="0">
              <a:solidFill>
                <a:schemeClr val="bg1">
                  <a:lumMod val="8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完了したタイミング</a:t>
            </a:r>
            <a:endParaRPr kumimoji="1" lang="ja-JP" altLang="en-US" sz="800" b="1" dirty="0">
              <a:solidFill>
                <a:schemeClr val="bg1">
                  <a:lumMod val="8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543398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サンクス</a:t>
              </a:r>
              <a:r>
                <a:rPr kumimoji="1" lang="en-US" altLang="ja-JP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LINE</a:t>
              </a:r>
              <a:r>
                <a:rPr kumimoji="1"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8247347" y="4702330"/>
            <a:ext cx="899499" cy="799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C5EB654A-0759-70F8-6BA7-95CA3A0F983F}"/>
              </a:ext>
            </a:extLst>
          </p:cNvPr>
          <p:cNvCxnSpPr>
            <a:cxnSpLocks/>
          </p:cNvCxnSpPr>
          <p:nvPr/>
        </p:nvCxnSpPr>
        <p:spPr>
          <a:xfrm flipV="1">
            <a:off x="7672763" y="5102505"/>
            <a:ext cx="574585" cy="332494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18E3FE3-7B20-5966-421F-4ECB81603538}"/>
              </a:ext>
            </a:extLst>
          </p:cNvPr>
          <p:cNvCxnSpPr>
            <a:cxnSpLocks/>
            <a:stCxn id="48" idx="2"/>
            <a:endCxn id="21" idx="0"/>
          </p:cNvCxnSpPr>
          <p:nvPr/>
        </p:nvCxnSpPr>
        <p:spPr>
          <a:xfrm>
            <a:off x="6904149" y="3132263"/>
            <a:ext cx="1" cy="1334625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DB9444-3A0E-B235-58FC-9F8C81BAEA44}"/>
              </a:ext>
            </a:extLst>
          </p:cNvPr>
          <p:cNvSpPr txBox="1"/>
          <p:nvPr/>
        </p:nvSpPr>
        <p:spPr>
          <a:xfrm>
            <a:off x="6323825" y="3523709"/>
            <a:ext cx="1161782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100" b="1" dirty="0">
                <a:solidFill>
                  <a:srgbClr val="00C057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友だち追加後</a:t>
            </a:r>
            <a:endParaRPr lang="ja-JP" altLang="en-US" sz="1100" dirty="0">
              <a:solidFill>
                <a:srgbClr val="00C057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3806311" y="788165"/>
            <a:ext cx="58800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500"/>
            </a:pP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サンクス到達時の</a:t>
            </a:r>
            <a:r>
              <a:rPr lang="en-US" altLang="ja-JP" sz="16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動線が弊社開発により可能に。</a:t>
            </a:r>
            <a:endParaRPr lang="en-US" altLang="ja-JP" sz="1600" dirty="0">
              <a:latin typeface="メイリオ"/>
              <a:ea typeface="メイリオ"/>
              <a:cs typeface="メイリオ"/>
              <a:sym typeface="Meiryo"/>
            </a:endParaRPr>
          </a:p>
          <a:p>
            <a:pPr lvl="0" algn="ctr">
              <a:buClr>
                <a:schemeClr val="dk1"/>
              </a:buClr>
              <a:buSzPts val="1500"/>
            </a:pP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費用を抑えての導入が可能で、新規反響の質改善に寄与。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091506" y="1404000"/>
            <a:ext cx="47186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5769326" y="1938056"/>
            <a:ext cx="3788228" cy="244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  <a:endParaRPr kumimoji="1" lang="ja-JP" altLang="en-US" sz="11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543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初期：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15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万円</a:t>
            </a:r>
            <a:endParaRPr sz="1400" b="1" i="0" u="none" strike="noStrike" cap="none" dirty="0">
              <a:solidFill>
                <a:schemeClr val="lt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2137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月額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3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万円～</a:t>
            </a:r>
            <a:endParaRPr lang="en-US" altLang="ja-JP" sz="1400" b="1" i="0" u="none" strike="noStrike" cap="none" dirty="0">
              <a:solidFill>
                <a:schemeClr val="lt1"/>
              </a:solidFill>
              <a:latin typeface="メイリオ"/>
              <a:ea typeface="メイリオ"/>
              <a:cs typeface="メイリオ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ja-JP" sz="1050" b="1" dirty="0">
                <a:solidFill>
                  <a:srgbClr val="FFFF00"/>
                </a:solidFill>
                <a:latin typeface="メイリオ"/>
                <a:ea typeface="メイリオ"/>
                <a:cs typeface="メイリオ"/>
                <a:sym typeface="Meiryo"/>
              </a:rPr>
              <a:t>+</a:t>
            </a:r>
            <a:r>
              <a:rPr lang="ja-JP" altLang="en-US" sz="1050" b="1" dirty="0">
                <a:solidFill>
                  <a:srgbClr val="FFFF00"/>
                </a:solidFill>
                <a:latin typeface="メイリオ"/>
                <a:ea typeface="メイリオ"/>
                <a:cs typeface="メイリオ"/>
                <a:sym typeface="Meiryo"/>
              </a:rPr>
              <a:t>設定地点追加</a:t>
            </a:r>
            <a:endParaRPr sz="1050" b="1" i="0" u="none" strike="noStrike" cap="none" dirty="0">
              <a:solidFill>
                <a:srgbClr val="FFFF0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D9706AF3-2C8D-6646-76C8-7802A4F734F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94819" y="3047336"/>
            <a:ext cx="430977" cy="4596748"/>
          </a:xfrm>
          <a:prstGeom prst="bentConnector2">
            <a:avLst/>
          </a:prstGeom>
          <a:ln w="158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7C92C6B-4F06-7ED3-0627-D0C168299913}"/>
              </a:ext>
            </a:extLst>
          </p:cNvPr>
          <p:cNvSpPr txBox="1"/>
          <p:nvPr/>
        </p:nvSpPr>
        <p:spPr>
          <a:xfrm>
            <a:off x="0" y="5639542"/>
            <a:ext cx="5971903" cy="523220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高開封率のLINEに誘導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して</a:t>
            </a:r>
            <a:r>
              <a:rPr lang="ja-JP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反響→実売上への引上げ率、リピート率改善。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ja-JP" sz="1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美容クリニックでは、予約後来院率が40〜50%改善</a:t>
            </a:r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