
<file path=[Content_Types].xml><?xml version="1.0" encoding="utf-8"?>
<Types xmlns="http://schemas.openxmlformats.org/package/2006/content-types">
  <Default Extension="emf" ContentType="image/x-emf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4" r:id="rId1"/>
    <p:sldMasterId id="2147483687" r:id="rId2"/>
  </p:sldMasterIdLst>
  <p:notesMasterIdLst>
    <p:notesMasterId r:id="rId8"/>
  </p:notesMasterIdLst>
  <p:handoutMasterIdLst>
    <p:handoutMasterId r:id="rId9"/>
  </p:handoutMasterIdLst>
  <p:sldIdLst>
    <p:sldId id="3008" r:id="rId7"/>
    <p:sldId id="2971" r:id="rId3"/>
    <p:sldId id="2972" r:id="rId4"/>
    <p:sldId id="2904" r:id="rId5"/>
    <p:sldId id="3007" r:id="rId6"/>
  </p:sldIdLst>
  <p:sldSz cx="9906000" cy="6858000" type="A4"/>
  <p:notesSz cx="6807200" cy="9939338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158" userDrawn="1">
          <p15:clr>
            <a:srgbClr val="A4A3A4"/>
          </p15:clr>
        </p15:guide>
        <p15:guide id="2" pos="308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4FA0A"/>
    <a:srgbClr val="173559"/>
    <a:srgbClr val="FDFDFD"/>
    <a:srgbClr val="2080FF"/>
    <a:srgbClr val="1D8DFF"/>
    <a:srgbClr val="515457"/>
    <a:srgbClr val="F6A454"/>
    <a:srgbClr val="EAEEF4"/>
    <a:srgbClr val="2D6CB9"/>
    <a:srgbClr val="D1D9E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中間スタイル 2 - アクセント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B301B821-A1FF-4177-AEE7-76D212191A09}" styleName="中間スタイル 1 - アクセント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69012ECD-51FC-41F1-AA8D-1B2483CD663E}" styleName="淡色スタイル 2 - アクセント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8157" autoAdjust="0"/>
    <p:restoredTop sz="94424" autoAdjust="0"/>
  </p:normalViewPr>
  <p:slideViewPr>
    <p:cSldViewPr snapToGrid="0">
      <p:cViewPr varScale="1">
        <p:scale>
          <a:sx n="110" d="100"/>
          <a:sy n="110" d="100"/>
        </p:scale>
        <p:origin x="1236" y="102"/>
      </p:cViewPr>
      <p:guideLst>
        <p:guide orient="horz" pos="3158"/>
        <p:guide pos="308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3072"/>
    </p:cViewPr>
  </p:sorterViewPr>
  <p:notesViewPr>
    <p:cSldViewPr snapToGrid="0">
      <p:cViewPr varScale="1">
        <p:scale>
          <a:sx n="79" d="100"/>
          <a:sy n="79" d="100"/>
        </p:scale>
        <p:origin x="4014" y="102"/>
      </p:cViewPr>
      <p:guideLst/>
    </p:cSldViewPr>
  </p:notesViewPr>
  <p:gridSpacing cx="1080001" cy="1080001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notesMaster" Target="notesMasters/notesMaster1.xml"/><Relationship Id="rId9" Type="http://schemas.openxmlformats.org/officeDocument/2006/relationships/handoutMaster" Target="handoutMasters/handout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フッター プレースホルダー 3"/>
          <p:cNvSpPr>
            <a:spLocks noGrp="1"/>
          </p:cNvSpPr>
          <p:nvPr>
            <p:ph type="ftr" sz="quarter" idx="2"/>
          </p:nvPr>
        </p:nvSpPr>
        <p:spPr>
          <a:xfrm>
            <a:off x="0" y="9441662"/>
            <a:ext cx="2949420" cy="497676"/>
          </a:xfrm>
          <a:prstGeom prst="rect">
            <a:avLst/>
          </a:prstGeom>
        </p:spPr>
        <p:txBody>
          <a:bodyPr vert="horz" lIns="90561" tIns="45280" rIns="90561" bIns="4528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3"/>
          </p:nvPr>
        </p:nvSpPr>
        <p:spPr>
          <a:xfrm>
            <a:off x="3856210" y="9441662"/>
            <a:ext cx="2949420" cy="497676"/>
          </a:xfrm>
          <a:prstGeom prst="rect">
            <a:avLst/>
          </a:prstGeom>
        </p:spPr>
        <p:txBody>
          <a:bodyPr vert="horz" lIns="90561" tIns="45280" rIns="90561" bIns="45280" rtlCol="0" anchor="b"/>
          <a:lstStyle>
            <a:lvl1pPr algn="r">
              <a:defRPr sz="1200"/>
            </a:lvl1pPr>
          </a:lstStyle>
          <a:p>
            <a:fld id="{7B45B759-5475-4693-BFD4-53BF6401E48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5953079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1" y="2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55082" y="2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/>
          <a:lstStyle>
            <a:lvl1pPr algn="r">
              <a:defRPr sz="1200"/>
            </a:lvl1pPr>
          </a:lstStyle>
          <a:p>
            <a:fld id="{6AF8158D-F6B1-45E0-9831-E70689DC8490}" type="datetimeFigureOut">
              <a:rPr kumimoji="1" lang="ja-JP" altLang="en-US" smtClean="0"/>
              <a:t>2026/9/30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981075" y="1243013"/>
            <a:ext cx="4845050" cy="33543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529" tIns="45765" rIns="91529" bIns="45765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0402" y="4782901"/>
            <a:ext cx="5446396" cy="3913426"/>
          </a:xfrm>
          <a:prstGeom prst="rect">
            <a:avLst/>
          </a:prstGeom>
        </p:spPr>
        <p:txBody>
          <a:bodyPr vert="horz" lIns="91529" tIns="45765" rIns="91529" bIns="45765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1" y="9441817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55082" y="9441817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 anchor="b"/>
          <a:lstStyle>
            <a:lvl1pPr algn="r">
              <a:defRPr sz="1200"/>
            </a:lvl1pPr>
          </a:lstStyle>
          <a:p>
            <a:fld id="{022E43C0-6795-4B13-B37C-259C826D4B6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409189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215D0A-BA72-DE45-32FA-363803F140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27D2F8A3-D4B3-B9E6-A613-A157696B87F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933FBD4A-B575-3375-091A-F6A24B5A9BD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4CAEAEB9-E37C-569F-CBB7-45D65E2A090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22E43C0-6795-4B13-B37C-259C826D4B6A}" type="slidenum">
              <a:rPr kumimoji="1" lang="ja-JP" altLang="en-US" smtClean="0"/>
              <a:t>1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2384761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681540-B398-8C02-E1F2-1F1C4798CC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2A82C74D-328C-FB0E-E710-C92A52BEF4B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175EB1E7-3A4C-2E0A-CA67-686800FA87A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2173A52D-F6CC-DC20-5CFE-D4EBA25ECCB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22E43C0-6795-4B13-B37C-259C826D4B6A}" type="slidenum">
              <a:rPr kumimoji="1" lang="ja-JP" altLang="en-US" smtClean="0"/>
              <a:t>2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37986807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/>
          <p:cNvSpPr/>
          <p:nvPr userDrawn="1"/>
        </p:nvSpPr>
        <p:spPr>
          <a:xfrm>
            <a:off x="9398000" y="6591300"/>
            <a:ext cx="419100" cy="266700"/>
          </a:xfrm>
          <a:prstGeom prst="rect">
            <a:avLst/>
          </a:prstGeom>
          <a:solidFill>
            <a:srgbClr val="191F5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58107768"/>
      </p:ext>
    </p:extLst>
  </p:cSld>
  <p:clrMapOvr>
    <a:masterClrMapping/>
  </p:clrMapOvr>
  <p:hf hd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4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直線コネクタ 4"/>
          <p:cNvCxnSpPr/>
          <p:nvPr/>
        </p:nvCxnSpPr>
        <p:spPr>
          <a:xfrm>
            <a:off x="0" y="548680"/>
            <a:ext cx="9906000" cy="0"/>
          </a:xfrm>
          <a:prstGeom prst="line">
            <a:avLst/>
          </a:prstGeom>
          <a:ln>
            <a:solidFill>
              <a:srgbClr val="191F5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正方形/長方形 6"/>
          <p:cNvSpPr/>
          <p:nvPr/>
        </p:nvSpPr>
        <p:spPr>
          <a:xfrm>
            <a:off x="0" y="0"/>
            <a:ext cx="451204" cy="548680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800">
              <a:solidFill>
                <a:prstClr val="whit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58189266"/>
      </p:ext>
    </p:extLst>
  </p:cSld>
  <p:clrMapOvr>
    <a:masterClrMapping/>
  </p:clrMapOvr>
  <p:hf hd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8521234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Relationship Id="rId5" Type="http://schemas.openxmlformats.org/officeDocument/2006/relationships/image" Target="../media/image1.png"/><Relationship Id="rId6" Type="http://schemas.openxmlformats.org/officeDocument/2006/relationships/image" Target="../media/image2.pn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image" Target="../media/image3.em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51357" y="72255"/>
            <a:ext cx="1598627" cy="424153"/>
          </a:xfrm>
          <a:prstGeom prst="rect">
            <a:avLst/>
          </a:prstGeom>
        </p:spPr>
      </p:pic>
      <p:pic>
        <p:nvPicPr>
          <p:cNvPr id="5" name="図 4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51355" y="32333"/>
            <a:ext cx="1653069" cy="635796"/>
          </a:xfrm>
          <a:prstGeom prst="rect">
            <a:avLst/>
          </a:prstGeom>
        </p:spPr>
      </p:pic>
      <p:sp>
        <p:nvSpPr>
          <p:cNvPr id="6" name="正方形/長方形 5"/>
          <p:cNvSpPr/>
          <p:nvPr/>
        </p:nvSpPr>
        <p:spPr>
          <a:xfrm>
            <a:off x="0" y="6552728"/>
            <a:ext cx="9906000" cy="332656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800">
              <a:solidFill>
                <a:prstClr val="white"/>
              </a:solidFill>
            </a:endParaRPr>
          </a:p>
        </p:txBody>
      </p:sp>
      <p:sp>
        <p:nvSpPr>
          <p:cNvPr id="8" name="スライド番号プレースホルダ 1"/>
          <p:cNvSpPr txBox="1">
            <a:spLocks/>
          </p:cNvSpPr>
          <p:nvPr/>
        </p:nvSpPr>
        <p:spPr>
          <a:xfrm>
            <a:off x="7594600" y="6552729"/>
            <a:ext cx="2311400" cy="365125"/>
          </a:xfrm>
          <a:prstGeom prst="rect">
            <a:avLst/>
          </a:prstGeom>
        </p:spPr>
        <p:txBody>
          <a:bodyPr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9FC100E3-15F5-4145-A942-47DB1D8B776D}" type="slidenum">
              <a:rPr lang="ja-JP" altLang="en-US" sz="1400" b="1" smtClean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</a:rPr>
              <a:pPr algn="r"/>
              <a:t>‹#›</a:t>
            </a:fld>
            <a:endParaRPr lang="ja-JP" altLang="en-US" sz="1400" b="1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 panose="020B0604030504040204" pitchFamily="50" charset="-128"/>
            </a:endParaRPr>
          </a:p>
        </p:txBody>
      </p:sp>
      <p:sp>
        <p:nvSpPr>
          <p:cNvPr id="9" name="テキスト ボックス 8"/>
          <p:cNvSpPr txBox="1">
            <a:spLocks noChangeArrowheads="1"/>
          </p:cNvSpPr>
          <p:nvPr userDrawn="1"/>
        </p:nvSpPr>
        <p:spPr bwMode="auto">
          <a:xfrm>
            <a:off x="116569" y="6597932"/>
            <a:ext cx="3666301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>
              <a:defRPr/>
            </a:pPr>
            <a:r>
              <a:rPr lang="en-US" altLang="ja-JP" sz="8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Copyright(c) DYM Co., Ltd</a:t>
            </a:r>
            <a:r>
              <a:rPr lang="ja-JP" altLang="en-US" sz="800" b="1" dirty="0" err="1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．</a:t>
            </a:r>
            <a:r>
              <a:rPr lang="en-US" altLang="ja-JP" sz="8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 All Rights Reserved.</a:t>
            </a:r>
          </a:p>
        </p:txBody>
      </p:sp>
    </p:spTree>
    <p:extLst>
      <p:ext uri="{BB962C8B-B14F-4D97-AF65-F5344CB8AC3E}">
        <p14:creationId xmlns:p14="http://schemas.microsoft.com/office/powerpoint/2010/main" val="3458703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6" r:id="rId1"/>
    <p:sldLayoutId id="2147483683" r:id="rId2"/>
    <p:sldLayoutId id="2147483689" r:id="rId3"/>
  </p:sldLayoutIdLst>
  <p:hf hdr="0" dt="0"/>
  <p:txStyles>
    <p:titleStyle>
      <a:lvl1pPr algn="ctr" rtl="0" eaLnBrk="1" fontAlgn="base" hangingPunct="1">
        <a:spcBef>
          <a:spcPct val="0"/>
        </a:spcBef>
        <a:spcAft>
          <a:spcPct val="0"/>
        </a:spcAft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5pPr>
      <a:lvl6pPr marL="4572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6pPr>
      <a:lvl7pPr marL="9144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7pPr>
      <a:lvl8pPr marL="13716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8pPr>
      <a:lvl9pPr marL="18288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正方形/長方形 4"/>
          <p:cNvSpPr/>
          <p:nvPr/>
        </p:nvSpPr>
        <p:spPr>
          <a:xfrm>
            <a:off x="0" y="6552728"/>
            <a:ext cx="9906000" cy="332656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>
              <a:solidFill>
                <a:prstClr val="white"/>
              </a:solidFill>
            </a:endParaRPr>
          </a:p>
        </p:txBody>
      </p:sp>
      <p:sp>
        <p:nvSpPr>
          <p:cNvPr id="10" name="テキスト ボックス 9"/>
          <p:cNvSpPr txBox="1">
            <a:spLocks noChangeArrowheads="1"/>
          </p:cNvSpPr>
          <p:nvPr/>
        </p:nvSpPr>
        <p:spPr bwMode="auto">
          <a:xfrm>
            <a:off x="116569" y="6597932"/>
            <a:ext cx="3666301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>
              <a:defRPr/>
            </a:pPr>
            <a:r>
              <a:rPr lang="en-US" altLang="ja-JP" sz="800" b="1" dirty="0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Copyright(c) DYM Co., </a:t>
            </a:r>
            <a:r>
              <a:rPr lang="en-US" altLang="ja-JP" sz="800" b="1" dirty="0" err="1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Ltd.All</a:t>
            </a:r>
            <a:r>
              <a:rPr lang="en-US" altLang="ja-JP" sz="800" b="1" dirty="0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 Rights Reserved.</a:t>
            </a:r>
          </a:p>
        </p:txBody>
      </p:sp>
      <p:sp>
        <p:nvSpPr>
          <p:cNvPr id="8" name="正方形/長方形 7"/>
          <p:cNvSpPr/>
          <p:nvPr/>
        </p:nvSpPr>
        <p:spPr>
          <a:xfrm>
            <a:off x="0" y="0"/>
            <a:ext cx="416496" cy="548680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>
              <a:solidFill>
                <a:prstClr val="white"/>
              </a:solidFill>
            </a:endParaRPr>
          </a:p>
        </p:txBody>
      </p:sp>
      <p:cxnSp>
        <p:nvCxnSpPr>
          <p:cNvPr id="4" name="直線コネクタ 3"/>
          <p:cNvCxnSpPr/>
          <p:nvPr/>
        </p:nvCxnSpPr>
        <p:spPr>
          <a:xfrm>
            <a:off x="0" y="548680"/>
            <a:ext cx="9906000" cy="0"/>
          </a:xfrm>
          <a:prstGeom prst="line">
            <a:avLst/>
          </a:prstGeom>
          <a:ln>
            <a:solidFill>
              <a:srgbClr val="0032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9" name="図 1"/>
          <p:cNvPicPr>
            <a:picLocks/>
          </p:cNvPicPr>
          <p:nvPr userDrawn="1"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647" r="-11171"/>
          <a:stretch/>
        </p:blipFill>
        <p:spPr bwMode="auto">
          <a:xfrm>
            <a:off x="8619408" y="161057"/>
            <a:ext cx="1192729" cy="26331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スライド番号プレースホルダ 1"/>
          <p:cNvSpPr txBox="1">
            <a:spLocks/>
          </p:cNvSpPr>
          <p:nvPr userDrawn="1"/>
        </p:nvSpPr>
        <p:spPr>
          <a:xfrm>
            <a:off x="7545288" y="6571255"/>
            <a:ext cx="2133600" cy="216000"/>
          </a:xfrm>
          <a:prstGeom prst="rect">
            <a:avLst/>
          </a:prstGeom>
        </p:spPr>
        <p:txBody>
          <a:bodyPr tIns="25200"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9FC100E3-15F5-4145-A942-47DB1D8B776D}" type="slidenum">
              <a:rPr lang="ja-JP" altLang="en-US" sz="1400" i="1" smtClean="0">
                <a:solidFill>
                  <a:prstClr val="white"/>
                </a:solidFill>
                <a:latin typeface="Century Gothic" panose="020B0502020202020204" pitchFamily="34" charset="0"/>
              </a:rPr>
              <a:pPr algn="r"/>
              <a:t>‹#›</a:t>
            </a:fld>
            <a:endParaRPr lang="ja-JP" altLang="en-US" sz="1400" i="1" dirty="0">
              <a:solidFill>
                <a:prstClr val="white"/>
              </a:solidFill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11138245"/>
      </p:ext>
    </p:extLst>
  </p:cSld>
  <p:clrMap bg1="lt1" tx1="dk1" bg2="lt2" tx2="dk2" accent1="accent1" accent2="accent2" accent3="accent3" accent4="accent4" accent5="accent5" accent6="accent6" hlink="hlink" folHlink="folHlink"/>
  <p:hf hdr="0" dt="0"/>
  <p:txStyles>
    <p:titleStyle>
      <a:lvl1pPr algn="ctr" defTabSz="457200" rtl="0" eaLnBrk="1" fontAlgn="base" hangingPunct="1">
        <a:spcBef>
          <a:spcPct val="0"/>
        </a:spcBef>
        <a:spcAft>
          <a:spcPct val="0"/>
        </a:spcAft>
        <a:defRPr kumimoji="1" sz="4400" kern="1200">
          <a:solidFill>
            <a:schemeClr val="tx1"/>
          </a:solidFill>
          <a:latin typeface="+mj-lt"/>
          <a:ea typeface="+mj-ea"/>
          <a:cs typeface="ＭＳ Ｐゴシック" charset="0"/>
        </a:defRPr>
      </a:lvl1pPr>
      <a:lvl2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2pPr>
      <a:lvl3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3pPr>
      <a:lvl4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4pPr>
      <a:lvl5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5pPr>
      <a:lvl6pPr marL="4572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6pPr>
      <a:lvl7pPr marL="9144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7pPr>
      <a:lvl8pPr marL="13716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8pPr>
      <a:lvl9pPr marL="18288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3200" kern="1200">
          <a:solidFill>
            <a:schemeClr val="tx1"/>
          </a:solidFill>
          <a:latin typeface="+mn-lt"/>
          <a:ea typeface="+mn-ea"/>
          <a:cs typeface="ＭＳ Ｐゴシック" charset="0"/>
        </a:defRPr>
      </a:lvl1pPr>
      <a:lvl2pPr marL="742950" indent="-28575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jpg"/><Relationship Id="rId3" Type="http://schemas.openxmlformats.org/officeDocument/2006/relationships/image" Target="../media/image5.jp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jpg"/><Relationship Id="rId7" Type="http://schemas.openxmlformats.org/officeDocument/2006/relationships/image" Target="../media/image9.png"/><Relationship Id="rId8" Type="http://schemas.openxmlformats.org/officeDocument/2006/relationships/image" Target="../media/image10.png"/><Relationship Id="rId9" Type="http://schemas.openxmlformats.org/officeDocument/2006/relationships/image" Target="../media/image11.png"/><Relationship Id="rId10" Type="http://schemas.openxmlformats.org/officeDocument/2006/relationships/image" Target="../media/image12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" name="">
          <a:extLst>
            <a:ext uri="{FF2B5EF4-FFF2-40B4-BE49-F238E27FC236}">
              <a16:creationId xmlns:a16="http://schemas.microsoft.com/office/drawing/2014/main" id="{AD6A8E8E-25CB-4B86-C4F6-E5A7023586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 dirty="0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サンクスLINE｜重要性</a:t>
            </a:r>
          </a:p>
        </p:txBody>
      </p:sp>
      <p:sp>
        <p:nvSpPr>
          <p:cNvPr id="4" name="TextBox 2"/>
          <p:cNvSpPr txBox="1"/>
          <p:nvPr/>
        </p:nvSpPr>
        <p:spPr>
          <a:xfrm>
            <a:off x="432000" y="684000"/>
            <a:ext cx="9036000" cy="4320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lang="en-US" altLang="ja-JP" sz="1800" dirty="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申込みの直後に、LINEでつながる</a:t>
            </a:r>
            <a:endParaRPr sz="16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5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19"/>
          <p:cNvSpPr txBox="1"/>
          <p:nvPr/>
        </p:nvSpPr>
        <p:spPr>
          <a:xfrm>
            <a:off x="1080000" y="1620000"/>
            <a:ext cx="7740000" cy="792000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8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申込み⇒来店までに、一定数が離脱する。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8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広告費を増やしても、この離脱層は減らない。</a:t>
            </a:r>
          </a:p>
        </p:txBody>
      </p:sp>
      <p:sp>
        <p:nvSpPr>
          <p:cNvPr id="7" name="Rounded Rectangle 12"/>
          <p:cNvSpPr/>
          <p:nvPr/>
        </p:nvSpPr>
        <p:spPr>
          <a:xfrm>
            <a:off x="1080000" y="2628000"/>
            <a:ext cx="2484000" cy="1296000"/>
          </a:xfrm>
          <a:prstGeom prst="roundRect">
            <a:avLst>
              <a:gd name="adj" fmla="val 6000"/>
            </a:avLst>
          </a:prstGeom>
          <a:noFill/>
          <a:ln w="1905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0" tIns="72000" rIns="180000" bIns="36000" rtlCol="0" anchor="t"/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1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つながる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 b="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申込み完了の画面は、関心が一番高い瞬間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8" name="Rounded Rectangle 12"/>
          <p:cNvSpPr/>
          <p:nvPr/>
        </p:nvSpPr>
        <p:spPr>
          <a:xfrm>
            <a:off x="1080000" y="3960000"/>
            <a:ext cx="2484000" cy="1548000"/>
          </a:xfrm>
          <a:prstGeom prst="roundRect">
            <a:avLst>
              <a:gd name="adj" fmla="val 6000"/>
            </a:avLst>
          </a:prstGeom>
          <a:noFill/>
          <a:ln w="1905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0" tIns="72000" rIns="180000" bIns="36000" rtlCol="0" anchor="t"/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300" b="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友だち追加のタイミング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200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申込み直後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 dirty="0" err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完了画面からLINEへ移行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9" name="Rounded Rectangle 12"/>
          <p:cNvSpPr/>
          <p:nvPr/>
        </p:nvSpPr>
        <p:spPr>
          <a:xfrm>
            <a:off x="3708000" y="2628000"/>
            <a:ext cx="2484000" cy="1296000"/>
          </a:xfrm>
          <a:prstGeom prst="roundRect">
            <a:avLst>
              <a:gd name="adj" fmla="val 6000"/>
            </a:avLst>
          </a:prstGeom>
          <a:noFill/>
          <a:ln w="1905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0" tIns="72000" rIns="180000" bIns="36000" rtlCol="0" anchor="t"/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1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読まれる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 b="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バス会社：申込み直後のLINE通知メッセージは、よく読まれる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0" name="Rounded Rectangle 12"/>
          <p:cNvSpPr/>
          <p:nvPr/>
        </p:nvSpPr>
        <p:spPr>
          <a:xfrm>
            <a:off x="3708000" y="3960000"/>
            <a:ext cx="2484000" cy="1548000"/>
          </a:xfrm>
          <a:prstGeom prst="roundRect">
            <a:avLst>
              <a:gd name="adj" fmla="val 6000"/>
            </a:avLst>
          </a:prstGeom>
          <a:noFill/>
          <a:ln w="1905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0" tIns="72000" rIns="180000" bIns="36000" rtlCol="0" anchor="t"/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300" b="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メッセージの開封率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200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約70%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 dirty="0" err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クリック率はメルマガの約5倍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1" name="Rounded Rectangle 12"/>
          <p:cNvSpPr/>
          <p:nvPr/>
        </p:nvSpPr>
        <p:spPr>
          <a:xfrm>
            <a:off x="6336000" y="2628000"/>
            <a:ext cx="2484000" cy="1296000"/>
          </a:xfrm>
          <a:prstGeom prst="roundRect">
            <a:avLst>
              <a:gd name="adj" fmla="val 6000"/>
            </a:avLst>
          </a:prstGeom>
          <a:noFill/>
          <a:ln w="1905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0" tIns="72000" rIns="180000" bIns="36000" rtlCol="0" anchor="t"/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1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動く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 b="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美容クリニック：予約確認・前日のお知らせをLINEで配信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2" name="Rounded Rectangle 12"/>
          <p:cNvSpPr/>
          <p:nvPr/>
        </p:nvSpPr>
        <p:spPr>
          <a:xfrm>
            <a:off x="6336000" y="3960000"/>
            <a:ext cx="2484000" cy="1548000"/>
          </a:xfrm>
          <a:prstGeom prst="roundRect">
            <a:avLst>
              <a:gd name="adj" fmla="val 6000"/>
            </a:avLst>
          </a:prstGeom>
          <a:noFill/>
          <a:ln w="1905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0" tIns="72000" rIns="180000" bIns="36000" rtlCol="0" anchor="t"/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300" b="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予約後の来院率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200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40〜50%改善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 dirty="0" err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/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3" name="Rounded Rectangle 4"/>
          <p:cNvSpPr/>
          <p:nvPr/>
        </p:nvSpPr>
        <p:spPr>
          <a:xfrm>
            <a:off x="1080000" y="5652000"/>
            <a:ext cx="7740000" cy="432000"/>
          </a:xfrm>
          <a:prstGeom prst="roundRect">
            <a:avLst>
              <a:gd name="adj" fmla="val 10000"/>
            </a:avLst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5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関心が一番高い申込み直後に、LINEでつながるのが最適</a:t>
            </a:r>
          </a:p>
        </p:txBody>
      </p:sp>
    </p:spTree>
    <p:extLst>
      <p:ext uri="{BB962C8B-B14F-4D97-AF65-F5344CB8AC3E}">
        <p14:creationId xmlns:p14="http://schemas.microsoft.com/office/powerpoint/2010/main" val="237848453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" name="">
          <a:extLst>
            <a:ext uri="{FF2B5EF4-FFF2-40B4-BE49-F238E27FC236}">
              <a16:creationId xmlns:a16="http://schemas.microsoft.com/office/drawing/2014/main" id="{E70E5221-666F-DE20-B9E8-FDFC607CC2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シーン1｜来店・来院の予約</a:t>
            </a:r>
          </a:p>
        </p:txBody>
      </p:sp>
      <p:sp>
        <p:nvSpPr>
          <p:cNvPr id="4" name="TextBox 2"/>
          <p:cNvSpPr txBox="1"/>
          <p:nvPr/>
        </p:nvSpPr>
        <p:spPr>
          <a:xfrm>
            <a:off x="432000" y="684000"/>
            <a:ext cx="9036000" cy="4320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dirty="0" err="1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予約を、来店・来院につなげる</a:t>
            </a:r>
            <a:endParaRPr lang="en-US" sz="16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5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12"/>
          <p:cNvSpPr/>
          <p:nvPr/>
        </p:nvSpPr>
        <p:spPr>
          <a:xfrm>
            <a:off x="1080000" y="1728000"/>
            <a:ext cx="1655999" cy="61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ctr"/>
          <a:lstStyle/>
          <a:p>
            <a:pPr algn="ctr">
              <a:lnSpc>
                <a:spcPct val="130000"/>
              </a:lnSpc>
              <a:spcAft>
                <a:spcPts val="500"/>
              </a:spcAft>
            </a:pPr>
            <a:r>
              <a:rPr sz="130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予約完了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7" name="Right Arrow 5"/>
          <p:cNvSpPr/>
          <p:nvPr/>
        </p:nvSpPr>
        <p:spPr>
          <a:xfrm>
            <a:off x="2754000" y="1889999"/>
            <a:ext cx="324000" cy="288000"/>
          </a:xfrm>
          <a:prstGeom prst="rightArrow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メイリオ"/>
              <a:ea typeface="メイリオ"/>
              <a:cs typeface="メイリオ"/>
            </a:endParaRPr>
          </a:p>
        </p:txBody>
      </p:sp>
      <p:sp>
        <p:nvSpPr>
          <p:cNvPr id="8" name="Rounded Rectangle 4"/>
          <p:cNvSpPr/>
          <p:nvPr/>
        </p:nvSpPr>
        <p:spPr>
          <a:xfrm>
            <a:off x="3096000" y="1728000"/>
            <a:ext cx="1655999" cy="612000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LINEで</a:t>
            </a:r>
          </a:p>
          <a:p>
            <a:pPr algn="ctr">
              <a:lnSpc>
                <a:spcPct val="120000"/>
              </a:lnSpc>
            </a:pPr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予約確認</a:t>
            </a:r>
          </a:p>
        </p:txBody>
      </p:sp>
      <p:sp>
        <p:nvSpPr>
          <p:cNvPr id="9" name="Right Arrow 5"/>
          <p:cNvSpPr/>
          <p:nvPr/>
        </p:nvSpPr>
        <p:spPr>
          <a:xfrm>
            <a:off x="4770000" y="1889999"/>
            <a:ext cx="324000" cy="288000"/>
          </a:xfrm>
          <a:prstGeom prst="rightArrow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メイリオ"/>
              <a:ea typeface="メイリオ"/>
              <a:cs typeface="メイリオ"/>
            </a:endParaRPr>
          </a:p>
        </p:txBody>
      </p:sp>
      <p:sp>
        <p:nvSpPr>
          <p:cNvPr id="10" name="Rounded Rectangle 4"/>
          <p:cNvSpPr/>
          <p:nvPr/>
        </p:nvSpPr>
        <p:spPr>
          <a:xfrm>
            <a:off x="5112000" y="1728000"/>
            <a:ext cx="1655999" cy="612000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前日に</a:t>
            </a:r>
          </a:p>
          <a:p>
            <a:pPr algn="ctr">
              <a:lnSpc>
                <a:spcPct val="120000"/>
              </a:lnSpc>
            </a:pPr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お知らせ</a:t>
            </a:r>
          </a:p>
        </p:txBody>
      </p:sp>
      <p:sp>
        <p:nvSpPr>
          <p:cNvPr id="11" name="Right Arrow 5"/>
          <p:cNvSpPr/>
          <p:nvPr/>
        </p:nvSpPr>
        <p:spPr>
          <a:xfrm>
            <a:off x="6785999" y="1889999"/>
            <a:ext cx="324000" cy="288000"/>
          </a:xfrm>
          <a:prstGeom prst="rightArrow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メイリオ"/>
              <a:ea typeface="メイリオ"/>
              <a:cs typeface="メイリオ"/>
            </a:endParaRPr>
          </a:p>
        </p:txBody>
      </p:sp>
      <p:sp>
        <p:nvSpPr>
          <p:cNvPr id="12" name="Rounded Rectangle 12"/>
          <p:cNvSpPr/>
          <p:nvPr/>
        </p:nvSpPr>
        <p:spPr>
          <a:xfrm>
            <a:off x="7127999" y="1728000"/>
            <a:ext cx="1655999" cy="61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ctr"/>
          <a:lstStyle/>
          <a:p>
            <a:pPr algn="ctr">
              <a:lnSpc>
                <a:spcPct val="130000"/>
              </a:lnSpc>
              <a:spcAft>
                <a:spcPts val="500"/>
              </a:spcAft>
            </a:pPr>
            <a:r>
              <a:rPr sz="130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来店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1080000" y="2628000"/>
            <a:ext cx="3798000" cy="1296000"/>
          </a:xfrm>
          <a:prstGeom prst="roundRect">
            <a:avLst>
              <a:gd name="adj" fmla="val 6000"/>
            </a:avLst>
          </a:prstGeom>
          <a:noFill/>
          <a:ln w="1905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0" tIns="72000" rIns="180000" bIns="36000" rtlCol="0" anchor="t"/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1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美容クリニック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 b="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予約完了画面からLINEへ誘導し、予約確認・前日のお知らせを配信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4" name="Rounded Rectangle 12"/>
          <p:cNvSpPr/>
          <p:nvPr/>
        </p:nvSpPr>
        <p:spPr>
          <a:xfrm>
            <a:off x="1080000" y="3960000"/>
            <a:ext cx="3798000" cy="1548000"/>
          </a:xfrm>
          <a:prstGeom prst="roundRect">
            <a:avLst>
              <a:gd name="adj" fmla="val 6000"/>
            </a:avLst>
          </a:prstGeom>
          <a:noFill/>
          <a:ln w="1905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0" tIns="72000" rIns="180000" bIns="36000" rtlCol="0" anchor="t"/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300" b="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予約後の来院率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320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40〜50%改善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 dirty="0" err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/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5" name="Rounded Rectangle 12"/>
          <p:cNvSpPr/>
          <p:nvPr/>
        </p:nvSpPr>
        <p:spPr>
          <a:xfrm>
            <a:off x="5022000" y="2628000"/>
            <a:ext cx="3798000" cy="1296000"/>
          </a:xfrm>
          <a:prstGeom prst="roundRect">
            <a:avLst>
              <a:gd name="adj" fmla="val 6000"/>
            </a:avLst>
          </a:prstGeom>
          <a:noFill/>
          <a:ln w="1905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0" tIns="72000" rIns="180000" bIns="36000" rtlCol="0" anchor="t"/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1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美容室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 b="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次回予約のリマインドをLINEで自動通知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6" name="Rounded Rectangle 12"/>
          <p:cNvSpPr/>
          <p:nvPr/>
        </p:nvSpPr>
        <p:spPr>
          <a:xfrm>
            <a:off x="5022000" y="3960000"/>
            <a:ext cx="3798000" cy="1548000"/>
          </a:xfrm>
          <a:prstGeom prst="roundRect">
            <a:avLst>
              <a:gd name="adj" fmla="val 6000"/>
            </a:avLst>
          </a:prstGeom>
          <a:noFill/>
          <a:ln w="1905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0" tIns="72000" rIns="180000" bIns="36000" rtlCol="0" anchor="t"/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300" b="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次回予約客数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320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20%増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 dirty="0" err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約200→240名。リピート率も88→91%（導入前後の半年比較。LINEミニアプリを併用）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7" name="Rounded Rectangle 4"/>
          <p:cNvSpPr/>
          <p:nvPr/>
        </p:nvSpPr>
        <p:spPr>
          <a:xfrm>
            <a:off x="1080000" y="5652000"/>
            <a:ext cx="7740000" cy="432000"/>
          </a:xfrm>
          <a:prstGeom prst="roundRect">
            <a:avLst>
              <a:gd name="adj" fmla="val 10000"/>
            </a:avLst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5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無断キャンセルを防ぎ、来店につなげる</a:t>
            </a:r>
          </a:p>
        </p:txBody>
      </p:sp>
    </p:spTree>
    <p:extLst>
      <p:ext uri="{BB962C8B-B14F-4D97-AF65-F5344CB8AC3E}">
        <p14:creationId xmlns:p14="http://schemas.microsoft.com/office/powerpoint/2010/main" val="171590932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シーン2｜資料請求</a:t>
            </a:r>
          </a:p>
        </p:txBody>
      </p:sp>
      <p:sp>
        <p:nvSpPr>
          <p:cNvPr id="4" name="TextBox 2"/>
          <p:cNvSpPr txBox="1"/>
          <p:nvPr/>
        </p:nvSpPr>
        <p:spPr>
          <a:xfrm>
            <a:off x="432000" y="684000"/>
            <a:ext cx="9036000" cy="4320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dirty="0" err="1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資料請求を、予約・商談につなげる</a:t>
            </a:r>
            <a:endParaRPr sz="16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5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12"/>
          <p:cNvSpPr/>
          <p:nvPr/>
        </p:nvSpPr>
        <p:spPr>
          <a:xfrm>
            <a:off x="1080000" y="1728000"/>
            <a:ext cx="1655999" cy="61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ctr"/>
          <a:lstStyle/>
          <a:p>
            <a:pPr algn="ctr">
              <a:lnSpc>
                <a:spcPct val="130000"/>
              </a:lnSpc>
              <a:spcAft>
                <a:spcPts val="500"/>
              </a:spcAft>
            </a:pPr>
            <a:r>
              <a:rPr sz="130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資料請求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7" name="Right Arrow 5"/>
          <p:cNvSpPr/>
          <p:nvPr/>
        </p:nvSpPr>
        <p:spPr>
          <a:xfrm>
            <a:off x="2754000" y="1889999"/>
            <a:ext cx="324000" cy="288000"/>
          </a:xfrm>
          <a:prstGeom prst="rightArrow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メイリオ"/>
              <a:ea typeface="メイリオ"/>
              <a:cs typeface="メイリオ"/>
            </a:endParaRPr>
          </a:p>
        </p:txBody>
      </p:sp>
      <p:sp>
        <p:nvSpPr>
          <p:cNvPr id="8" name="Rounded Rectangle 4"/>
          <p:cNvSpPr/>
          <p:nvPr/>
        </p:nvSpPr>
        <p:spPr>
          <a:xfrm>
            <a:off x="3096000" y="1728000"/>
            <a:ext cx="1655999" cy="612000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LINEへ案内</a:t>
            </a:r>
          </a:p>
        </p:txBody>
      </p:sp>
      <p:sp>
        <p:nvSpPr>
          <p:cNvPr id="9" name="Right Arrow 5"/>
          <p:cNvSpPr/>
          <p:nvPr/>
        </p:nvSpPr>
        <p:spPr>
          <a:xfrm>
            <a:off x="4770000" y="1889999"/>
            <a:ext cx="324000" cy="288000"/>
          </a:xfrm>
          <a:prstGeom prst="rightArrow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メイリオ"/>
              <a:ea typeface="メイリオ"/>
              <a:cs typeface="メイリオ"/>
            </a:endParaRPr>
          </a:p>
        </p:txBody>
      </p:sp>
      <p:sp>
        <p:nvSpPr>
          <p:cNvPr id="10" name="Rounded Rectangle 4"/>
          <p:cNvSpPr/>
          <p:nvPr/>
        </p:nvSpPr>
        <p:spPr>
          <a:xfrm>
            <a:off x="5112000" y="1728000"/>
            <a:ext cx="1655999" cy="612000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事例・動画を</a:t>
            </a:r>
          </a:p>
          <a:p>
            <a:pPr algn="ctr">
              <a:lnSpc>
                <a:spcPct val="120000"/>
              </a:lnSpc>
            </a:pPr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配信</a:t>
            </a:r>
          </a:p>
        </p:txBody>
      </p:sp>
      <p:sp>
        <p:nvSpPr>
          <p:cNvPr id="11" name="Right Arrow 5"/>
          <p:cNvSpPr/>
          <p:nvPr/>
        </p:nvSpPr>
        <p:spPr>
          <a:xfrm>
            <a:off x="6785999" y="1889999"/>
            <a:ext cx="324000" cy="288000"/>
          </a:xfrm>
          <a:prstGeom prst="rightArrow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メイリオ"/>
              <a:ea typeface="メイリオ"/>
              <a:cs typeface="メイリオ"/>
            </a:endParaRPr>
          </a:p>
        </p:txBody>
      </p:sp>
      <p:sp>
        <p:nvSpPr>
          <p:cNvPr id="12" name="Rounded Rectangle 12"/>
          <p:cNvSpPr/>
          <p:nvPr/>
        </p:nvSpPr>
        <p:spPr>
          <a:xfrm>
            <a:off x="7127999" y="1728000"/>
            <a:ext cx="1655999" cy="61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ctr"/>
          <a:lstStyle/>
          <a:p>
            <a:pPr algn="ctr">
              <a:lnSpc>
                <a:spcPct val="130000"/>
              </a:lnSpc>
              <a:spcAft>
                <a:spcPts val="500"/>
              </a:spcAft>
            </a:pPr>
            <a:r>
              <a:rPr sz="130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見学・商談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ctr">
              <a:lnSpc>
                <a:spcPct val="130000"/>
              </a:lnSpc>
              <a:spcAft>
                <a:spcPts val="500"/>
              </a:spcAft>
            </a:pPr>
            <a:r>
              <a:rPr sz="130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の予約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1080000" y="2628000"/>
            <a:ext cx="3798000" cy="1296000"/>
          </a:xfrm>
          <a:prstGeom prst="roundRect">
            <a:avLst>
              <a:gd name="adj" fmla="val 6000"/>
            </a:avLst>
          </a:prstGeom>
          <a:noFill/>
          <a:ln w="1905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0" tIns="72000" rIns="180000" bIns="36000" rtlCol="0" anchor="t"/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1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皮膚科クリニック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 b="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友だち追加後のステップ配信で、予約を案内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4" name="Rounded Rectangle 12"/>
          <p:cNvSpPr/>
          <p:nvPr/>
        </p:nvSpPr>
        <p:spPr>
          <a:xfrm>
            <a:off x="1080000" y="3960000"/>
            <a:ext cx="3798000" cy="1548000"/>
          </a:xfrm>
          <a:prstGeom prst="roundRect">
            <a:avLst>
              <a:gd name="adj" fmla="val 6000"/>
            </a:avLst>
          </a:prstGeom>
          <a:noFill/>
          <a:ln w="1905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0" tIns="72000" rIns="180000" bIns="36000" rtlCol="0" anchor="t"/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300" b="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LINE経由の予約数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320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約1.2倍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 dirty="0" err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ステップ配信の実施前との比較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5" name="Rounded Rectangle 12"/>
          <p:cNvSpPr/>
          <p:nvPr/>
        </p:nvSpPr>
        <p:spPr>
          <a:xfrm>
            <a:off x="5022000" y="2628000"/>
            <a:ext cx="3798000" cy="1296000"/>
          </a:xfrm>
          <a:prstGeom prst="roundRect">
            <a:avLst>
              <a:gd name="adj" fmla="val 6000"/>
            </a:avLst>
          </a:prstGeom>
          <a:noFill/>
          <a:ln w="1905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0" tIns="72000" rIns="180000" bIns="36000" rtlCol="0" anchor="t"/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1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就職支援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 b="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LINEのチャットボットで情報を提供し、面談予約へ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6" name="Rounded Rectangle 12"/>
          <p:cNvSpPr/>
          <p:nvPr/>
        </p:nvSpPr>
        <p:spPr>
          <a:xfrm>
            <a:off x="5022000" y="3960000"/>
            <a:ext cx="3798000" cy="1548000"/>
          </a:xfrm>
          <a:prstGeom prst="roundRect">
            <a:avLst>
              <a:gd name="adj" fmla="val 6000"/>
            </a:avLst>
          </a:prstGeom>
          <a:noFill/>
          <a:ln w="1905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0" tIns="72000" rIns="180000" bIns="36000" rtlCol="0" anchor="t"/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300" b="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LINEで問い合わせた方のうち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320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55%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 dirty="0" err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が、面談を予約（他のチャネルと比べて高い）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7" name="Rounded Rectangle 4"/>
          <p:cNvSpPr/>
          <p:nvPr/>
        </p:nvSpPr>
        <p:spPr>
          <a:xfrm>
            <a:off x="1080000" y="5652000"/>
            <a:ext cx="7740000" cy="432000"/>
          </a:xfrm>
          <a:prstGeom prst="roundRect">
            <a:avLst>
              <a:gd name="adj" fmla="val 10000"/>
            </a:avLst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5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資料請求のみで終わらせず、予約・商談につなげる</a:t>
            </a:r>
          </a:p>
        </p:txBody>
      </p:sp>
    </p:spTree>
    <p:extLst>
      <p:ext uri="{BB962C8B-B14F-4D97-AF65-F5344CB8AC3E}">
        <p14:creationId xmlns:p14="http://schemas.microsoft.com/office/powerpoint/2010/main" val="393999798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シーン3｜購入・来店の後</a:t>
            </a:r>
          </a:p>
        </p:txBody>
      </p:sp>
      <p:sp>
        <p:nvSpPr>
          <p:cNvPr id="4" name="TextBox 2"/>
          <p:cNvSpPr txBox="1"/>
          <p:nvPr/>
        </p:nvSpPr>
        <p:spPr>
          <a:xfrm>
            <a:off x="432000" y="684000"/>
            <a:ext cx="9036000" cy="4320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dirty="0" err="1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来店・購入の後も、LINEでつながり続ける</a:t>
            </a:r>
            <a:endParaRPr sz="16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5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12"/>
          <p:cNvSpPr/>
          <p:nvPr/>
        </p:nvSpPr>
        <p:spPr>
          <a:xfrm>
            <a:off x="1080000" y="1728000"/>
            <a:ext cx="1655999" cy="61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ctr"/>
          <a:lstStyle/>
          <a:p>
            <a:pPr algn="ctr">
              <a:lnSpc>
                <a:spcPct val="130000"/>
              </a:lnSpc>
              <a:spcAft>
                <a:spcPts val="500"/>
              </a:spcAft>
            </a:pPr>
            <a:r>
              <a:rPr sz="130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購入・来店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7" name="Right Arrow 5"/>
          <p:cNvSpPr/>
          <p:nvPr/>
        </p:nvSpPr>
        <p:spPr>
          <a:xfrm>
            <a:off x="2754000" y="1889999"/>
            <a:ext cx="324000" cy="288000"/>
          </a:xfrm>
          <a:prstGeom prst="rightArrow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メイリオ"/>
              <a:ea typeface="メイリオ"/>
              <a:cs typeface="メイリオ"/>
            </a:endParaRPr>
          </a:p>
        </p:txBody>
      </p:sp>
      <p:sp>
        <p:nvSpPr>
          <p:cNvPr id="8" name="Rounded Rectangle 4"/>
          <p:cNvSpPr/>
          <p:nvPr/>
        </p:nvSpPr>
        <p:spPr>
          <a:xfrm>
            <a:off x="3096000" y="1728000"/>
            <a:ext cx="1655999" cy="612000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翌日に</a:t>
            </a:r>
          </a:p>
          <a:p>
            <a:pPr algn="ctr">
              <a:lnSpc>
                <a:spcPct val="120000"/>
              </a:lnSpc>
            </a:pPr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アンケート</a:t>
            </a:r>
          </a:p>
        </p:txBody>
      </p:sp>
      <p:sp>
        <p:nvSpPr>
          <p:cNvPr id="9" name="Right Arrow 5"/>
          <p:cNvSpPr/>
          <p:nvPr/>
        </p:nvSpPr>
        <p:spPr>
          <a:xfrm>
            <a:off x="4770000" y="1889999"/>
            <a:ext cx="324000" cy="288000"/>
          </a:xfrm>
          <a:prstGeom prst="rightArrow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メイリオ"/>
              <a:ea typeface="メイリオ"/>
              <a:cs typeface="メイリオ"/>
            </a:endParaRPr>
          </a:p>
        </p:txBody>
      </p:sp>
      <p:sp>
        <p:nvSpPr>
          <p:cNvPr id="10" name="Rounded Rectangle 4"/>
          <p:cNvSpPr/>
          <p:nvPr/>
        </p:nvSpPr>
        <p:spPr>
          <a:xfrm>
            <a:off x="5112000" y="1728000"/>
            <a:ext cx="1655999" cy="612000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次のタイミングで</a:t>
            </a:r>
          </a:p>
          <a:p>
            <a:pPr algn="ctr">
              <a:lnSpc>
                <a:spcPct val="120000"/>
              </a:lnSpc>
            </a:pPr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クーポン・案内</a:t>
            </a:r>
          </a:p>
        </p:txBody>
      </p:sp>
      <p:sp>
        <p:nvSpPr>
          <p:cNvPr id="11" name="Right Arrow 5"/>
          <p:cNvSpPr/>
          <p:nvPr/>
        </p:nvSpPr>
        <p:spPr>
          <a:xfrm>
            <a:off x="6785999" y="1889999"/>
            <a:ext cx="324000" cy="288000"/>
          </a:xfrm>
          <a:prstGeom prst="rightArrow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メイリオ"/>
              <a:ea typeface="メイリオ"/>
              <a:cs typeface="メイリオ"/>
            </a:endParaRPr>
          </a:p>
        </p:txBody>
      </p:sp>
      <p:sp>
        <p:nvSpPr>
          <p:cNvPr id="12" name="Rounded Rectangle 12"/>
          <p:cNvSpPr/>
          <p:nvPr/>
        </p:nvSpPr>
        <p:spPr>
          <a:xfrm>
            <a:off x="7127999" y="1728000"/>
            <a:ext cx="1655999" cy="61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ctr"/>
          <a:lstStyle/>
          <a:p>
            <a:pPr algn="ctr">
              <a:lnSpc>
                <a:spcPct val="130000"/>
              </a:lnSpc>
              <a:spcAft>
                <a:spcPts val="500"/>
              </a:spcAft>
            </a:pPr>
            <a:r>
              <a:rPr sz="130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再来店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ctr">
              <a:lnSpc>
                <a:spcPct val="130000"/>
              </a:lnSpc>
              <a:spcAft>
                <a:spcPts val="500"/>
              </a:spcAft>
            </a:pPr>
            <a:r>
              <a:rPr sz="130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リピート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1080000" y="2628000"/>
            <a:ext cx="3798000" cy="1296000"/>
          </a:xfrm>
          <a:prstGeom prst="roundRect">
            <a:avLst>
              <a:gd name="adj" fmla="val 6000"/>
            </a:avLst>
          </a:prstGeom>
          <a:noFill/>
          <a:ln w="1905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0" tIns="72000" rIns="180000" bIns="36000" rtlCol="0" anchor="t"/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1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居酒屋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 b="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来店翌日にアンケートを配信。再来店の少し前にクーポンを配信（LINEミニアプリを併用）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4" name="Rounded Rectangle 12"/>
          <p:cNvSpPr/>
          <p:nvPr/>
        </p:nvSpPr>
        <p:spPr>
          <a:xfrm>
            <a:off x="1080000" y="3960000"/>
            <a:ext cx="3798000" cy="1548000"/>
          </a:xfrm>
          <a:prstGeom prst="roundRect">
            <a:avLst>
              <a:gd name="adj" fmla="val 6000"/>
            </a:avLst>
          </a:prstGeom>
          <a:noFill/>
          <a:ln w="1905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0" tIns="72000" rIns="180000" bIns="36000" rtlCol="0" anchor="t"/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300" b="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リピーターの売上割合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320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7.6→12.9%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 dirty="0" err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2025年1月と3月の比較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5" name="Rounded Rectangle 12"/>
          <p:cNvSpPr/>
          <p:nvPr/>
        </p:nvSpPr>
        <p:spPr>
          <a:xfrm>
            <a:off x="5022000" y="2628000"/>
            <a:ext cx="3798000" cy="1296000"/>
          </a:xfrm>
          <a:prstGeom prst="roundRect">
            <a:avLst>
              <a:gd name="adj" fmla="val 6000"/>
            </a:avLst>
          </a:prstGeom>
          <a:noFill/>
          <a:ln w="1905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0" tIns="72000" rIns="180000" bIns="36000" rtlCol="0" anchor="t"/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1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焼肉店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 b="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来店翌日の11時に、アンケートとクーポンを自動配信（LINEミニアプリを併用）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6" name="Rounded Rectangle 12"/>
          <p:cNvSpPr/>
          <p:nvPr/>
        </p:nvSpPr>
        <p:spPr>
          <a:xfrm>
            <a:off x="5022000" y="3960000"/>
            <a:ext cx="3798000" cy="1548000"/>
          </a:xfrm>
          <a:prstGeom prst="roundRect">
            <a:avLst>
              <a:gd name="adj" fmla="val 6000"/>
            </a:avLst>
          </a:prstGeom>
          <a:noFill/>
          <a:ln w="1905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0" tIns="72000" rIns="180000" bIns="36000" rtlCol="0" anchor="t"/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300" b="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リピーター率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320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19.4→40%超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 dirty="0" err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2024年1月と2025年1月の比較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7" name="Rounded Rectangle 4"/>
          <p:cNvSpPr/>
          <p:nvPr/>
        </p:nvSpPr>
        <p:spPr>
          <a:xfrm>
            <a:off x="1080000" y="5652000"/>
            <a:ext cx="7740000" cy="432000"/>
          </a:xfrm>
          <a:prstGeom prst="roundRect">
            <a:avLst>
              <a:gd name="adj" fmla="val 10000"/>
            </a:avLst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5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購入・来店の後も、LINEで次の来店につなげる</a:t>
            </a:r>
          </a:p>
        </p:txBody>
      </p:sp>
      <p:sp>
        <p:nvSpPr>
          <p:cNvPr id="18" name="TextBox 19"/>
          <p:cNvSpPr txBox="1"/>
          <p:nvPr/>
        </p:nvSpPr>
        <p:spPr>
          <a:xfrm>
            <a:off x="1080000" y="6156000"/>
            <a:ext cx="7740000" cy="251999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※サンクスLINE単体の効果ではなく、LINEでつながった後の施策の例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2" name="Google Shape;752;p28">
            <a:extLst>
              <a:ext uri="{FF2B5EF4-FFF2-40B4-BE49-F238E27FC236}">
                <a16:creationId xmlns:a16="http://schemas.microsoft.com/office/drawing/2014/main" id="{AA80CD04-9456-70DB-2E44-D3EDB1461933}"/>
              </a:ext>
            </a:extLst>
          </p:cNvPr>
          <p:cNvSpPr txBox="1"/>
          <p:nvPr/>
        </p:nvSpPr>
        <p:spPr>
          <a:xfrm>
            <a:off x="548883" y="138137"/>
            <a:ext cx="6276325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lvl="0"/>
            <a:r>
              <a:rPr lang="ja-JP" altLang="en-US" sz="1600" b="1" dirty="0">
                <a:solidFill>
                  <a:srgbClr val="002060"/>
                </a:solidFill>
                <a:latin typeface="メイリオ"/>
                <a:ea typeface="メイリオ"/>
                <a:cs typeface="メイリオ"/>
                <a:sym typeface="Meiryo"/>
              </a:rPr>
              <a:t>サンクスLINE｜機能</a:t>
            </a:r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189A6A4C-E34E-E7CF-D6DD-C175E600A94D}"/>
              </a:ext>
            </a:extLst>
          </p:cNvPr>
          <p:cNvSpPr/>
          <p:nvPr/>
        </p:nvSpPr>
        <p:spPr>
          <a:xfrm>
            <a:off x="1404798" y="1938056"/>
            <a:ext cx="1859036" cy="244151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1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WEB</a:t>
            </a:r>
            <a:r>
              <a:rPr kumimoji="1" lang="ja-JP" altLang="en-US" sz="11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サイト</a:t>
            </a:r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32BBF438-B1EF-A61A-EE3D-69CD39766C7E}"/>
              </a:ext>
            </a:extLst>
          </p:cNvPr>
          <p:cNvSpPr/>
          <p:nvPr/>
        </p:nvSpPr>
        <p:spPr>
          <a:xfrm>
            <a:off x="5808682" y="2415743"/>
            <a:ext cx="3748873" cy="1821208"/>
          </a:xfrm>
          <a:prstGeom prst="rect">
            <a:avLst/>
          </a:prstGeom>
          <a:noFill/>
          <a:ln>
            <a:solidFill>
              <a:schemeClr val="tx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メイリオ"/>
              <a:ea typeface="メイリオ"/>
              <a:cs typeface="メイリオ"/>
            </a:endParaRPr>
          </a:p>
        </p:txBody>
      </p:sp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1A1E4128-77DC-C871-EE20-5BD43326E078}"/>
              </a:ext>
            </a:extLst>
          </p:cNvPr>
          <p:cNvSpPr/>
          <p:nvPr/>
        </p:nvSpPr>
        <p:spPr>
          <a:xfrm>
            <a:off x="5808681" y="4588963"/>
            <a:ext cx="3748873" cy="1821208"/>
          </a:xfrm>
          <a:prstGeom prst="rect">
            <a:avLst/>
          </a:prstGeom>
          <a:noFill/>
          <a:ln>
            <a:solidFill>
              <a:schemeClr val="tx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メイリオ"/>
              <a:ea typeface="メイリオ"/>
              <a:cs typeface="メイリオ"/>
            </a:endParaRPr>
          </a:p>
        </p:txBody>
      </p:sp>
      <p:sp>
        <p:nvSpPr>
          <p:cNvPr id="20" name="正方形/長方形 19">
            <a:extLst>
              <a:ext uri="{FF2B5EF4-FFF2-40B4-BE49-F238E27FC236}">
                <a16:creationId xmlns:a16="http://schemas.microsoft.com/office/drawing/2014/main" id="{F37BB268-660A-FEE4-BB39-0E338F1DDC23}"/>
              </a:ext>
            </a:extLst>
          </p:cNvPr>
          <p:cNvSpPr/>
          <p:nvPr/>
        </p:nvSpPr>
        <p:spPr>
          <a:xfrm>
            <a:off x="5974632" y="2304788"/>
            <a:ext cx="1859036" cy="24415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非</a:t>
            </a:r>
            <a:r>
              <a:rPr lang="en-US" altLang="ja-JP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LINE</a:t>
            </a:r>
            <a:r>
              <a:rPr lang="ja-JP" altLang="en-US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友だちの場合</a:t>
            </a:r>
          </a:p>
        </p:txBody>
      </p:sp>
      <p:sp>
        <p:nvSpPr>
          <p:cNvPr id="21" name="正方形/長方形 20">
            <a:extLst>
              <a:ext uri="{FF2B5EF4-FFF2-40B4-BE49-F238E27FC236}">
                <a16:creationId xmlns:a16="http://schemas.microsoft.com/office/drawing/2014/main" id="{C9FF4626-FD17-CA1C-8064-F46606D0BCCE}"/>
              </a:ext>
            </a:extLst>
          </p:cNvPr>
          <p:cNvSpPr/>
          <p:nvPr/>
        </p:nvSpPr>
        <p:spPr>
          <a:xfrm>
            <a:off x="5974632" y="4466888"/>
            <a:ext cx="1859036" cy="24415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既存の</a:t>
            </a:r>
            <a:r>
              <a:rPr lang="en-US" altLang="ja-JP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LINE</a:t>
            </a:r>
            <a:r>
              <a:rPr lang="ja-JP" altLang="en-US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友だちの場合</a:t>
            </a:r>
          </a:p>
        </p:txBody>
      </p:sp>
      <p:cxnSp>
        <p:nvCxnSpPr>
          <p:cNvPr id="23" name="直線矢印コネクタ 22">
            <a:extLst>
              <a:ext uri="{FF2B5EF4-FFF2-40B4-BE49-F238E27FC236}">
                <a16:creationId xmlns:a16="http://schemas.microsoft.com/office/drawing/2014/main" id="{8F202453-7FF9-8AE7-D10D-66F74A74A2F4}"/>
              </a:ext>
            </a:extLst>
          </p:cNvPr>
          <p:cNvCxnSpPr/>
          <p:nvPr/>
        </p:nvCxnSpPr>
        <p:spPr>
          <a:xfrm>
            <a:off x="4361857" y="3239708"/>
            <a:ext cx="1407469" cy="0"/>
          </a:xfrm>
          <a:prstGeom prst="straightConnector1">
            <a:avLst/>
          </a:prstGeom>
          <a:ln w="19050">
            <a:solidFill>
              <a:srgbClr val="00B050">
                <a:alpha val="80000"/>
              </a:srgbClr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直線矢印コネクタ 23">
            <a:extLst>
              <a:ext uri="{FF2B5EF4-FFF2-40B4-BE49-F238E27FC236}">
                <a16:creationId xmlns:a16="http://schemas.microsoft.com/office/drawing/2014/main" id="{C92F6E28-BBFF-1A56-AC22-CA16D2F1B1EA}"/>
              </a:ext>
            </a:extLst>
          </p:cNvPr>
          <p:cNvCxnSpPr>
            <a:cxnSpLocks/>
          </p:cNvCxnSpPr>
          <p:nvPr/>
        </p:nvCxnSpPr>
        <p:spPr>
          <a:xfrm>
            <a:off x="4361857" y="3392108"/>
            <a:ext cx="1407469" cy="1358385"/>
          </a:xfrm>
          <a:prstGeom prst="straightConnector1">
            <a:avLst/>
          </a:prstGeom>
          <a:ln w="19050">
            <a:solidFill>
              <a:srgbClr val="00B050">
                <a:alpha val="80000"/>
              </a:srgbClr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正方形/長方形 28">
            <a:extLst>
              <a:ext uri="{FF2B5EF4-FFF2-40B4-BE49-F238E27FC236}">
                <a16:creationId xmlns:a16="http://schemas.microsoft.com/office/drawing/2014/main" id="{1D29A9C3-A3E8-0780-A758-0C8E7E376668}"/>
              </a:ext>
            </a:extLst>
          </p:cNvPr>
          <p:cNvSpPr/>
          <p:nvPr/>
        </p:nvSpPr>
        <p:spPr>
          <a:xfrm>
            <a:off x="4867227" y="2304788"/>
            <a:ext cx="374449" cy="3205847"/>
          </a:xfrm>
          <a:prstGeom prst="rect">
            <a:avLst/>
          </a:prstGeom>
          <a:solidFill>
            <a:srgbClr val="00FF00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｜</a:t>
            </a:r>
            <a:r>
              <a:rPr lang="en-US" altLang="ja-JP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D</a:t>
            </a:r>
          </a:p>
          <a:p>
            <a:pPr algn="ctr"/>
            <a:r>
              <a:rPr kumimoji="1" lang="en-US" altLang="ja-JP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Y</a:t>
            </a:r>
          </a:p>
          <a:p>
            <a:pPr algn="ctr"/>
            <a:r>
              <a:rPr lang="en-US" altLang="ja-JP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M</a:t>
            </a:r>
            <a:r>
              <a:rPr lang="ja-JP" altLang="en-US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ツ</a:t>
            </a:r>
            <a:endParaRPr lang="en-US" altLang="ja-JP" sz="1100" b="1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pPr algn="ctr"/>
            <a:r>
              <a:rPr kumimoji="1" lang="ja-JP" altLang="en-US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｜ルで</a:t>
            </a:r>
            <a:endParaRPr kumimoji="1" lang="en-US" altLang="ja-JP" sz="1100" b="1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pPr algn="ctr"/>
            <a:r>
              <a:rPr kumimoji="1" lang="en-US" altLang="ja-JP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L</a:t>
            </a:r>
            <a:br>
              <a:rPr kumimoji="1" lang="en-US" altLang="ja-JP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</a:br>
            <a:r>
              <a:rPr kumimoji="1" lang="en-US" altLang="ja-JP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I</a:t>
            </a:r>
          </a:p>
          <a:p>
            <a:pPr algn="ctr"/>
            <a:r>
              <a:rPr lang="en-US" altLang="ja-JP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N</a:t>
            </a:r>
            <a:br>
              <a:rPr lang="en-US" altLang="ja-JP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</a:br>
            <a:r>
              <a:rPr lang="en-US" altLang="ja-JP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E</a:t>
            </a:r>
          </a:p>
          <a:p>
            <a:pPr algn="ctr"/>
            <a:r>
              <a:rPr kumimoji="1" lang="ja-JP" altLang="en-US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動線</a:t>
            </a:r>
            <a:endParaRPr kumimoji="1" lang="en-US" altLang="ja-JP" sz="1100" b="1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pPr algn="ctr"/>
            <a:r>
              <a:rPr lang="ja-JP" altLang="en-US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に</a:t>
            </a:r>
            <a:endParaRPr kumimoji="1" lang="en-US" altLang="ja-JP" sz="1100" b="1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pPr algn="ctr"/>
            <a:r>
              <a:rPr kumimoji="1" lang="ja-JP" altLang="en-US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｜</a:t>
            </a:r>
          </a:p>
        </p:txBody>
      </p:sp>
      <p:pic>
        <p:nvPicPr>
          <p:cNvPr id="45" name="図 44" descr="グラフィカル ユーザー インターフェイス, アプリケーション, Teams&#10;&#10;AI 生成コンテンツは誤りを含む可能性があります。">
            <a:extLst>
              <a:ext uri="{FF2B5EF4-FFF2-40B4-BE49-F238E27FC236}">
                <a16:creationId xmlns:a16="http://schemas.microsoft.com/office/drawing/2014/main" id="{E91CA7A5-62B3-F1F8-38C3-DDCE33E1CC3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580"/>
          <a:stretch>
            <a:fillRect/>
          </a:stretch>
        </p:blipFill>
        <p:spPr>
          <a:xfrm>
            <a:off x="7999618" y="2128994"/>
            <a:ext cx="1231081" cy="2085097"/>
          </a:xfrm>
          <a:prstGeom prst="rect">
            <a:avLst/>
          </a:prstGeom>
        </p:spPr>
      </p:pic>
      <p:pic>
        <p:nvPicPr>
          <p:cNvPr id="46" name="図 45" descr="電卓の写真のスマートフォンのスクリーンショット&#10;&#10;AI 生成コンテンツは誤りを含む可能性があります。">
            <a:extLst>
              <a:ext uri="{FF2B5EF4-FFF2-40B4-BE49-F238E27FC236}">
                <a16:creationId xmlns:a16="http://schemas.microsoft.com/office/drawing/2014/main" id="{31EEAD2C-3BE8-0210-FD8E-46D52B30A0AE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580"/>
          <a:stretch>
            <a:fillRect/>
          </a:stretch>
        </p:blipFill>
        <p:spPr>
          <a:xfrm>
            <a:off x="7999618" y="4325046"/>
            <a:ext cx="1231081" cy="2085098"/>
          </a:xfrm>
          <a:prstGeom prst="rect">
            <a:avLst/>
          </a:prstGeom>
        </p:spPr>
      </p:pic>
      <p:sp>
        <p:nvSpPr>
          <p:cNvPr id="48" name="テキスト ボックス 47">
            <a:extLst>
              <a:ext uri="{FF2B5EF4-FFF2-40B4-BE49-F238E27FC236}">
                <a16:creationId xmlns:a16="http://schemas.microsoft.com/office/drawing/2014/main" id="{E989AEB3-EF0E-8885-B426-8B6A5E01F40A}"/>
              </a:ext>
            </a:extLst>
          </p:cNvPr>
          <p:cNvSpPr txBox="1"/>
          <p:nvPr/>
        </p:nvSpPr>
        <p:spPr>
          <a:xfrm>
            <a:off x="5974631" y="2701376"/>
            <a:ext cx="1859035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公式アカウントの</a:t>
            </a:r>
            <a:r>
              <a:rPr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友だち</a:t>
            </a:r>
            <a:endParaRPr lang="en-US" altLang="ja-JP" sz="1100" b="1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r>
              <a:rPr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登録ページ</a:t>
            </a:r>
            <a:r>
              <a:rPr lang="ja-JP" altLang="en-US" sz="1100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へ遷移する。</a:t>
            </a:r>
            <a:endParaRPr kumimoji="1" lang="ja-JP" altLang="en-US" sz="1100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sp>
        <p:nvSpPr>
          <p:cNvPr id="49" name="テキスト ボックス 48">
            <a:extLst>
              <a:ext uri="{FF2B5EF4-FFF2-40B4-BE49-F238E27FC236}">
                <a16:creationId xmlns:a16="http://schemas.microsoft.com/office/drawing/2014/main" id="{4E6D08E3-E0B3-1DF4-0533-E4EE67240415}"/>
              </a:ext>
            </a:extLst>
          </p:cNvPr>
          <p:cNvSpPr txBox="1"/>
          <p:nvPr/>
        </p:nvSpPr>
        <p:spPr>
          <a:xfrm>
            <a:off x="5971905" y="4914274"/>
            <a:ext cx="1859035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公式アカウントの</a:t>
            </a:r>
            <a:r>
              <a:rPr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トーク</a:t>
            </a:r>
            <a:endParaRPr lang="en-US" altLang="ja-JP" sz="1100" b="1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r>
              <a:rPr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画面</a:t>
            </a:r>
            <a:r>
              <a:rPr lang="ja-JP" altLang="en-US" sz="1100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へ遷移する。</a:t>
            </a:r>
            <a:endParaRPr lang="en-US" altLang="ja-JP" sz="1100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r>
              <a:rPr kumimoji="1" lang="en-US" altLang="ja-JP" sz="10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※</a:t>
            </a:r>
            <a:r>
              <a:rPr kumimoji="1" lang="ja-JP" altLang="en-US" sz="10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設定によりフォーム入力</a:t>
            </a:r>
            <a:endParaRPr kumimoji="1" lang="en-US" altLang="ja-JP" sz="1000" dirty="0">
              <a:solidFill>
                <a:srgbClr val="FF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r>
              <a:rPr lang="ja-JP" altLang="en-US" sz="10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　内容を踏襲した入力画面</a:t>
            </a:r>
            <a:endParaRPr lang="en-US" altLang="ja-JP" sz="1000" dirty="0">
              <a:solidFill>
                <a:srgbClr val="FF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r>
              <a:rPr kumimoji="1" lang="ja-JP" altLang="en-US" sz="10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　を表示させることが可能。</a:t>
            </a:r>
            <a:endParaRPr kumimoji="1" lang="en-US" altLang="ja-JP" sz="1000" dirty="0">
              <a:solidFill>
                <a:srgbClr val="FF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endParaRPr lang="en-US" altLang="ja-JP" sz="1000" dirty="0">
              <a:solidFill>
                <a:srgbClr val="FF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r>
              <a:rPr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↓</a:t>
            </a:r>
            <a:endParaRPr lang="en-US" altLang="ja-JP" sz="1100" b="1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r>
              <a:rPr kumimoji="1"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配信セグメントに利用可</a:t>
            </a:r>
            <a:endParaRPr kumimoji="1" lang="ja-JP" altLang="en-US" sz="1100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pic>
        <p:nvPicPr>
          <p:cNvPr id="56" name="図 55">
            <a:extLst>
              <a:ext uri="{FF2B5EF4-FFF2-40B4-BE49-F238E27FC236}">
                <a16:creationId xmlns:a16="http://schemas.microsoft.com/office/drawing/2014/main" id="{0B7B313D-7D5F-4357-9B38-DFC3DBC5FCF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8301" y="3085325"/>
            <a:ext cx="1133712" cy="110223"/>
          </a:xfrm>
          <a:prstGeom prst="rect">
            <a:avLst/>
          </a:prstGeom>
        </p:spPr>
      </p:pic>
      <p:pic>
        <p:nvPicPr>
          <p:cNvPr id="57" name="図 56">
            <a:extLst>
              <a:ext uri="{FF2B5EF4-FFF2-40B4-BE49-F238E27FC236}">
                <a16:creationId xmlns:a16="http://schemas.microsoft.com/office/drawing/2014/main" id="{A8EA42C4-338F-850B-B276-B83DC2A7314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78027" y="3091633"/>
            <a:ext cx="479964" cy="106659"/>
          </a:xfrm>
          <a:prstGeom prst="rect">
            <a:avLst/>
          </a:prstGeom>
        </p:spPr>
      </p:pic>
      <p:pic>
        <p:nvPicPr>
          <p:cNvPr id="58" name="図 57">
            <a:extLst>
              <a:ext uri="{FF2B5EF4-FFF2-40B4-BE49-F238E27FC236}">
                <a16:creationId xmlns:a16="http://schemas.microsoft.com/office/drawing/2014/main" id="{CCB04072-A708-EEE7-1345-D4C9E9FA9C1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95919" y="4322141"/>
            <a:ext cx="334412" cy="74315"/>
          </a:xfrm>
          <a:prstGeom prst="rect">
            <a:avLst/>
          </a:prstGeom>
        </p:spPr>
      </p:pic>
      <p:pic>
        <p:nvPicPr>
          <p:cNvPr id="59" name="図 58">
            <a:extLst>
              <a:ext uri="{FF2B5EF4-FFF2-40B4-BE49-F238E27FC236}">
                <a16:creationId xmlns:a16="http://schemas.microsoft.com/office/drawing/2014/main" id="{EDED354B-362F-AAF7-76A6-52D8547EDC9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48319" y="4474541"/>
            <a:ext cx="334412" cy="74315"/>
          </a:xfrm>
          <a:prstGeom prst="rect">
            <a:avLst/>
          </a:prstGeom>
        </p:spPr>
      </p:pic>
      <p:sp>
        <p:nvSpPr>
          <p:cNvPr id="1030" name="楕円 1029">
            <a:extLst>
              <a:ext uri="{FF2B5EF4-FFF2-40B4-BE49-F238E27FC236}">
                <a16:creationId xmlns:a16="http://schemas.microsoft.com/office/drawing/2014/main" id="{A0934BB8-8F8D-D4F0-8D59-8F32A6A6E03A}"/>
              </a:ext>
            </a:extLst>
          </p:cNvPr>
          <p:cNvSpPr/>
          <p:nvPr/>
        </p:nvSpPr>
        <p:spPr>
          <a:xfrm>
            <a:off x="8414131" y="2644225"/>
            <a:ext cx="396000" cy="396000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8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ロゴ</a:t>
            </a:r>
          </a:p>
        </p:txBody>
      </p:sp>
      <p:sp>
        <p:nvSpPr>
          <p:cNvPr id="34" name="正方形/長方形 33">
            <a:extLst>
              <a:ext uri="{FF2B5EF4-FFF2-40B4-BE49-F238E27FC236}">
                <a16:creationId xmlns:a16="http://schemas.microsoft.com/office/drawing/2014/main" id="{A593FC72-954C-48DC-E845-1A5FCE4C9E00}"/>
              </a:ext>
            </a:extLst>
          </p:cNvPr>
          <p:cNvSpPr/>
          <p:nvPr/>
        </p:nvSpPr>
        <p:spPr>
          <a:xfrm>
            <a:off x="315283" y="2196668"/>
            <a:ext cx="1778402" cy="3994401"/>
          </a:xfrm>
          <a:prstGeom prst="rect">
            <a:avLst/>
          </a:prstGeom>
          <a:noFill/>
          <a:ln>
            <a:solidFill>
              <a:schemeClr val="tx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メイリオ"/>
              <a:ea typeface="メイリオ"/>
              <a:cs typeface="メイリオ"/>
            </a:endParaRPr>
          </a:p>
        </p:txBody>
      </p:sp>
      <p:sp>
        <p:nvSpPr>
          <p:cNvPr id="35" name="二等辺三角形 34">
            <a:extLst>
              <a:ext uri="{FF2B5EF4-FFF2-40B4-BE49-F238E27FC236}">
                <a16:creationId xmlns:a16="http://schemas.microsoft.com/office/drawing/2014/main" id="{D9FB7255-AF30-7B82-6180-D447A3754744}"/>
              </a:ext>
            </a:extLst>
          </p:cNvPr>
          <p:cNvSpPr/>
          <p:nvPr/>
        </p:nvSpPr>
        <p:spPr>
          <a:xfrm rot="5400000">
            <a:off x="2108593" y="2360745"/>
            <a:ext cx="252701" cy="198744"/>
          </a:xfrm>
          <a:prstGeom prst="triangle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メイリオ"/>
              <a:ea typeface="メイリオ"/>
              <a:cs typeface="メイリオ"/>
            </a:endParaRPr>
          </a:p>
        </p:txBody>
      </p:sp>
      <p:sp>
        <p:nvSpPr>
          <p:cNvPr id="36" name="二等辺三角形 35">
            <a:extLst>
              <a:ext uri="{FF2B5EF4-FFF2-40B4-BE49-F238E27FC236}">
                <a16:creationId xmlns:a16="http://schemas.microsoft.com/office/drawing/2014/main" id="{626832A8-575E-5E2B-73F4-BE5567514E57}"/>
              </a:ext>
            </a:extLst>
          </p:cNvPr>
          <p:cNvSpPr/>
          <p:nvPr/>
        </p:nvSpPr>
        <p:spPr>
          <a:xfrm rot="5400000">
            <a:off x="2225165" y="2360745"/>
            <a:ext cx="252701" cy="198744"/>
          </a:xfrm>
          <a:prstGeom prst="triangle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メイリオ"/>
              <a:ea typeface="メイリオ"/>
              <a:cs typeface="メイリオ"/>
            </a:endParaRPr>
          </a:p>
        </p:txBody>
      </p:sp>
      <p:sp>
        <p:nvSpPr>
          <p:cNvPr id="37" name="二等辺三角形 36">
            <a:extLst>
              <a:ext uri="{FF2B5EF4-FFF2-40B4-BE49-F238E27FC236}">
                <a16:creationId xmlns:a16="http://schemas.microsoft.com/office/drawing/2014/main" id="{9D8E2C96-1207-00B8-6FC3-23370EFD7A03}"/>
              </a:ext>
            </a:extLst>
          </p:cNvPr>
          <p:cNvSpPr/>
          <p:nvPr/>
        </p:nvSpPr>
        <p:spPr>
          <a:xfrm rot="5400000">
            <a:off x="2341737" y="2360745"/>
            <a:ext cx="252701" cy="198744"/>
          </a:xfrm>
          <a:prstGeom prst="triangle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メイリオ"/>
              <a:ea typeface="メイリオ"/>
              <a:cs typeface="メイリオ"/>
            </a:endParaRPr>
          </a:p>
        </p:txBody>
      </p:sp>
      <p:sp>
        <p:nvSpPr>
          <p:cNvPr id="38" name="正方形/長方形 37">
            <a:extLst>
              <a:ext uri="{FF2B5EF4-FFF2-40B4-BE49-F238E27FC236}">
                <a16:creationId xmlns:a16="http://schemas.microsoft.com/office/drawing/2014/main" id="{28671F13-F479-AFF6-9832-C7C00D2D05EE}"/>
              </a:ext>
            </a:extLst>
          </p:cNvPr>
          <p:cNvSpPr/>
          <p:nvPr/>
        </p:nvSpPr>
        <p:spPr>
          <a:xfrm>
            <a:off x="614547" y="4198381"/>
            <a:ext cx="1154315" cy="244151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フォーム</a:t>
            </a:r>
          </a:p>
        </p:txBody>
      </p:sp>
      <p:pic>
        <p:nvPicPr>
          <p:cNvPr id="40" name="図 39" descr="テキスト, 手紙&#10;&#10;AI 生成コンテンツは誤りを含む可能性があります。">
            <a:extLst>
              <a:ext uri="{FF2B5EF4-FFF2-40B4-BE49-F238E27FC236}">
                <a16:creationId xmlns:a16="http://schemas.microsoft.com/office/drawing/2014/main" id="{2B8DDCE0-83B3-5BAA-0FFE-3D329FBE2D94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580"/>
          <a:stretch>
            <a:fillRect/>
          </a:stretch>
        </p:blipFill>
        <p:spPr>
          <a:xfrm>
            <a:off x="663353" y="2289246"/>
            <a:ext cx="1048252" cy="1775437"/>
          </a:xfrm>
          <a:prstGeom prst="rect">
            <a:avLst/>
          </a:prstGeom>
        </p:spPr>
      </p:pic>
      <p:pic>
        <p:nvPicPr>
          <p:cNvPr id="41" name="図 40">
            <a:extLst>
              <a:ext uri="{FF2B5EF4-FFF2-40B4-BE49-F238E27FC236}">
                <a16:creationId xmlns:a16="http://schemas.microsoft.com/office/drawing/2014/main" id="{EE7C7FD3-78CB-4D67-F96A-D6F8017FE22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1171" y="2325575"/>
            <a:ext cx="494484" cy="86136"/>
          </a:xfrm>
          <a:prstGeom prst="rect">
            <a:avLst/>
          </a:prstGeom>
        </p:spPr>
      </p:pic>
      <p:pic>
        <p:nvPicPr>
          <p:cNvPr id="42" name="図 41">
            <a:extLst>
              <a:ext uri="{FF2B5EF4-FFF2-40B4-BE49-F238E27FC236}">
                <a16:creationId xmlns:a16="http://schemas.microsoft.com/office/drawing/2014/main" id="{2E6CA8C2-2D04-CD9A-C431-4766768BBF3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0233" y="2328011"/>
            <a:ext cx="494484" cy="86136"/>
          </a:xfrm>
          <a:prstGeom prst="rect">
            <a:avLst/>
          </a:prstGeom>
        </p:spPr>
      </p:pic>
      <p:pic>
        <p:nvPicPr>
          <p:cNvPr id="47" name="図 46">
            <a:extLst>
              <a:ext uri="{FF2B5EF4-FFF2-40B4-BE49-F238E27FC236}">
                <a16:creationId xmlns:a16="http://schemas.microsoft.com/office/drawing/2014/main" id="{E5BE860E-2799-E5F4-ADCA-4ADBD44E0D0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0116" y="3773334"/>
            <a:ext cx="494484" cy="86136"/>
          </a:xfrm>
          <a:prstGeom prst="rect">
            <a:avLst/>
          </a:prstGeom>
        </p:spPr>
      </p:pic>
      <p:pic>
        <p:nvPicPr>
          <p:cNvPr id="55" name="図 54">
            <a:extLst>
              <a:ext uri="{FF2B5EF4-FFF2-40B4-BE49-F238E27FC236}">
                <a16:creationId xmlns:a16="http://schemas.microsoft.com/office/drawing/2014/main" id="{8AF12F67-4C9A-867F-4608-8FE9DA811630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7157" y="2445202"/>
            <a:ext cx="1076073" cy="1468487"/>
          </a:xfrm>
          <a:prstGeom prst="rect">
            <a:avLst/>
          </a:prstGeom>
        </p:spPr>
      </p:pic>
      <p:pic>
        <p:nvPicPr>
          <p:cNvPr id="1024" name="図 1023">
            <a:extLst>
              <a:ext uri="{FF2B5EF4-FFF2-40B4-BE49-F238E27FC236}">
                <a16:creationId xmlns:a16="http://schemas.microsoft.com/office/drawing/2014/main" id="{E5E4719A-E6F5-34E0-F2FD-37322E2A76AA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25324" y="2303179"/>
            <a:ext cx="560995" cy="133465"/>
          </a:xfrm>
          <a:prstGeom prst="rect">
            <a:avLst/>
          </a:prstGeom>
        </p:spPr>
      </p:pic>
      <p:sp>
        <p:nvSpPr>
          <p:cNvPr id="1026" name="テキスト ボックス 1025">
            <a:extLst>
              <a:ext uri="{FF2B5EF4-FFF2-40B4-BE49-F238E27FC236}">
                <a16:creationId xmlns:a16="http://schemas.microsoft.com/office/drawing/2014/main" id="{1B57767B-4EA3-C247-B88C-4D505A95BD20}"/>
              </a:ext>
            </a:extLst>
          </p:cNvPr>
          <p:cNvSpPr txBox="1"/>
          <p:nvPr/>
        </p:nvSpPr>
        <p:spPr>
          <a:xfrm>
            <a:off x="-490844" y="4711039"/>
            <a:ext cx="3405553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ja-JP" sz="1000" b="1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※</a:t>
            </a:r>
            <a:r>
              <a:rPr lang="ja-JP" altLang="en-US" sz="1000" b="1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入力した内容を</a:t>
            </a:r>
            <a:endParaRPr lang="en-US" altLang="ja-JP" sz="1000" b="1" dirty="0">
              <a:solidFill>
                <a:srgbClr val="FF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pPr algn="ctr"/>
            <a:r>
              <a:rPr lang="ja-JP" altLang="en-US" sz="1000" b="1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トークに反映が可能。</a:t>
            </a:r>
            <a:endParaRPr lang="en-US" altLang="ja-JP" sz="1000" b="1" dirty="0">
              <a:solidFill>
                <a:srgbClr val="FF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sp>
        <p:nvSpPr>
          <p:cNvPr id="1032" name="正方形/長方形 1031">
            <a:extLst>
              <a:ext uri="{FF2B5EF4-FFF2-40B4-BE49-F238E27FC236}">
                <a16:creationId xmlns:a16="http://schemas.microsoft.com/office/drawing/2014/main" id="{D1D96D42-255C-636E-49E5-2CDA95DD6764}"/>
              </a:ext>
            </a:extLst>
          </p:cNvPr>
          <p:cNvSpPr/>
          <p:nvPr/>
        </p:nvSpPr>
        <p:spPr>
          <a:xfrm>
            <a:off x="2584156" y="2196668"/>
            <a:ext cx="1778402" cy="3994401"/>
          </a:xfrm>
          <a:prstGeom prst="rect">
            <a:avLst/>
          </a:prstGeom>
          <a:solidFill>
            <a:schemeClr val="bg1"/>
          </a:solidFill>
          <a:ln>
            <a:solidFill>
              <a:schemeClr val="tx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メイリオ"/>
              <a:ea typeface="メイリオ"/>
              <a:cs typeface="メイリオ"/>
            </a:endParaRPr>
          </a:p>
        </p:txBody>
      </p:sp>
      <p:sp>
        <p:nvSpPr>
          <p:cNvPr id="1034" name="正方形/長方形 1033">
            <a:extLst>
              <a:ext uri="{FF2B5EF4-FFF2-40B4-BE49-F238E27FC236}">
                <a16:creationId xmlns:a16="http://schemas.microsoft.com/office/drawing/2014/main" id="{8693E451-BCB1-207B-6B73-131F2A8588BF}"/>
              </a:ext>
            </a:extLst>
          </p:cNvPr>
          <p:cNvSpPr/>
          <p:nvPr/>
        </p:nvSpPr>
        <p:spPr>
          <a:xfrm>
            <a:off x="2909322" y="4198381"/>
            <a:ext cx="1154315" cy="244151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CV</a:t>
            </a:r>
            <a:endParaRPr kumimoji="1" lang="ja-JP" altLang="en-US" sz="1100" b="1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sp>
        <p:nvSpPr>
          <p:cNvPr id="1036" name="正方形/長方形 1035">
            <a:extLst>
              <a:ext uri="{FF2B5EF4-FFF2-40B4-BE49-F238E27FC236}">
                <a16:creationId xmlns:a16="http://schemas.microsoft.com/office/drawing/2014/main" id="{43EEA9CC-C52C-B219-FF18-6E6EA44E4D24}"/>
              </a:ext>
            </a:extLst>
          </p:cNvPr>
          <p:cNvSpPr/>
          <p:nvPr/>
        </p:nvSpPr>
        <p:spPr>
          <a:xfrm>
            <a:off x="2692868" y="4436119"/>
            <a:ext cx="1396722" cy="104502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ja-JP" altLang="en-US" sz="11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・購入完了</a:t>
            </a:r>
            <a:endParaRPr kumimoji="1" lang="en-US" altLang="ja-JP" sz="1100" b="1" dirty="0">
              <a:solidFill>
                <a:schemeClr val="tx1">
                  <a:lumMod val="50000"/>
                  <a:lumOff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r>
              <a:rPr kumimoji="1" lang="ja-JP" altLang="en-US" sz="11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・セミナー予約</a:t>
            </a:r>
            <a:endParaRPr kumimoji="1" lang="en-US" altLang="ja-JP" sz="1100" b="1" dirty="0">
              <a:solidFill>
                <a:schemeClr val="tx1">
                  <a:lumMod val="50000"/>
                  <a:lumOff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r>
              <a:rPr kumimoji="1" lang="ja-JP" altLang="en-US" sz="11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・登録完了</a:t>
            </a:r>
            <a:endParaRPr kumimoji="1" lang="en-US" altLang="ja-JP" sz="1100" b="1" dirty="0">
              <a:solidFill>
                <a:schemeClr val="tx1">
                  <a:lumMod val="50000"/>
                  <a:lumOff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r>
              <a:rPr lang="ja-JP" altLang="en-US" sz="11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・メルマガ登録</a:t>
            </a:r>
            <a:endParaRPr lang="en-US" altLang="ja-JP" sz="1100" b="1" dirty="0">
              <a:solidFill>
                <a:schemeClr val="tx1">
                  <a:lumMod val="50000"/>
                  <a:lumOff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r>
              <a:rPr kumimoji="1" lang="ja-JP" altLang="en-US" sz="11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・その他</a:t>
            </a:r>
          </a:p>
        </p:txBody>
      </p:sp>
      <p:pic>
        <p:nvPicPr>
          <p:cNvPr id="1038" name="図 1037" descr="テキスト, 手紙&#10;&#10;AI 生成コンテンツは誤りを含む可能性があります。">
            <a:extLst>
              <a:ext uri="{FF2B5EF4-FFF2-40B4-BE49-F238E27FC236}">
                <a16:creationId xmlns:a16="http://schemas.microsoft.com/office/drawing/2014/main" id="{85260668-6C66-A032-FFE0-0276021F9433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580"/>
          <a:stretch>
            <a:fillRect/>
          </a:stretch>
        </p:blipFill>
        <p:spPr>
          <a:xfrm>
            <a:off x="2977448" y="2296209"/>
            <a:ext cx="1048252" cy="1775437"/>
          </a:xfrm>
          <a:prstGeom prst="rect">
            <a:avLst/>
          </a:prstGeom>
        </p:spPr>
      </p:pic>
      <p:pic>
        <p:nvPicPr>
          <p:cNvPr id="1039" name="Picture 2" descr="買い物完了！イラスト｜無料イラスト・フリー素材なら「イラストAC」">
            <a:extLst>
              <a:ext uri="{FF2B5EF4-FFF2-40B4-BE49-F238E27FC236}">
                <a16:creationId xmlns:a16="http://schemas.microsoft.com/office/drawing/2014/main" id="{23D05307-D6FE-6284-27D3-3433EE0122E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270" r="23682"/>
          <a:stretch>
            <a:fillRect/>
          </a:stretch>
        </p:blipFill>
        <p:spPr bwMode="auto">
          <a:xfrm>
            <a:off x="3866329" y="4627146"/>
            <a:ext cx="395417" cy="5295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40" name="図 1039">
            <a:extLst>
              <a:ext uri="{FF2B5EF4-FFF2-40B4-BE49-F238E27FC236}">
                <a16:creationId xmlns:a16="http://schemas.microsoft.com/office/drawing/2014/main" id="{D40EFC68-F8C8-CACE-392A-C804A102B41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955266" y="2332538"/>
            <a:ext cx="494484" cy="86136"/>
          </a:xfrm>
          <a:prstGeom prst="rect">
            <a:avLst/>
          </a:prstGeom>
        </p:spPr>
      </p:pic>
      <p:pic>
        <p:nvPicPr>
          <p:cNvPr id="1041" name="図 1040">
            <a:extLst>
              <a:ext uri="{FF2B5EF4-FFF2-40B4-BE49-F238E27FC236}">
                <a16:creationId xmlns:a16="http://schemas.microsoft.com/office/drawing/2014/main" id="{BA9B0596-4197-6BA5-B58D-7E67FD1379B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944328" y="2334974"/>
            <a:ext cx="494484" cy="86136"/>
          </a:xfrm>
          <a:prstGeom prst="rect">
            <a:avLst/>
          </a:prstGeom>
        </p:spPr>
      </p:pic>
      <p:pic>
        <p:nvPicPr>
          <p:cNvPr id="1042" name="図 1041">
            <a:extLst>
              <a:ext uri="{FF2B5EF4-FFF2-40B4-BE49-F238E27FC236}">
                <a16:creationId xmlns:a16="http://schemas.microsoft.com/office/drawing/2014/main" id="{A3D5D1CE-703D-3244-20B5-0CBB6C5EB46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124211" y="3780297"/>
            <a:ext cx="494484" cy="86136"/>
          </a:xfrm>
          <a:prstGeom prst="rect">
            <a:avLst/>
          </a:prstGeom>
        </p:spPr>
      </p:pic>
      <p:sp>
        <p:nvSpPr>
          <p:cNvPr id="1043" name="テキスト ボックス 1042">
            <a:extLst>
              <a:ext uri="{FF2B5EF4-FFF2-40B4-BE49-F238E27FC236}">
                <a16:creationId xmlns:a16="http://schemas.microsoft.com/office/drawing/2014/main" id="{434489DF-76E5-B08D-AB93-7A020A3C23F0}"/>
              </a:ext>
            </a:extLst>
          </p:cNvPr>
          <p:cNvSpPr txBox="1"/>
          <p:nvPr/>
        </p:nvSpPr>
        <p:spPr>
          <a:xfrm>
            <a:off x="360000" y="5400000"/>
            <a:ext cx="1679395" cy="338554"/>
          </a:xfrm>
          <a:prstGeom prst="rect">
            <a:avLst/>
          </a:prstGeom>
          <a:solidFill>
            <a:schemeClr val="bg1">
              <a:alpha val="56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en-US" altLang="ja-JP" sz="800" b="1" dirty="0">
                <a:solidFill>
                  <a:schemeClr val="bg1">
                    <a:lumMod val="8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※</a:t>
            </a:r>
            <a:r>
              <a:rPr lang="ja-JP" altLang="en-US" sz="800" b="1" dirty="0">
                <a:solidFill>
                  <a:schemeClr val="bg1">
                    <a:lumMod val="8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ユーザーの個人情報収集が</a:t>
            </a:r>
            <a:endParaRPr lang="en-US" altLang="ja-JP" sz="800" b="1" dirty="0">
              <a:solidFill>
                <a:schemeClr val="bg1">
                  <a:lumMod val="8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pPr algn="ctr"/>
            <a:r>
              <a:rPr lang="ja-JP" altLang="en-US" sz="800" b="1" dirty="0">
                <a:solidFill>
                  <a:schemeClr val="bg1">
                    <a:lumMod val="8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完了したタイミング</a:t>
            </a:r>
            <a:endParaRPr kumimoji="1" lang="ja-JP" altLang="en-US" sz="800" b="1" dirty="0">
              <a:solidFill>
                <a:schemeClr val="bg1">
                  <a:lumMod val="8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grpSp>
        <p:nvGrpSpPr>
          <p:cNvPr id="3" name="グループ化 2">
            <a:extLst>
              <a:ext uri="{FF2B5EF4-FFF2-40B4-BE49-F238E27FC236}">
                <a16:creationId xmlns:a16="http://schemas.microsoft.com/office/drawing/2014/main" id="{E76D8F54-2926-2D56-7238-F66ACCBC4F20}"/>
              </a:ext>
            </a:extLst>
          </p:cNvPr>
          <p:cNvGrpSpPr/>
          <p:nvPr/>
        </p:nvGrpSpPr>
        <p:grpSpPr>
          <a:xfrm>
            <a:off x="543398" y="777681"/>
            <a:ext cx="3105325" cy="485102"/>
            <a:chOff x="507969" y="928495"/>
            <a:chExt cx="3105325" cy="485102"/>
          </a:xfrm>
        </p:grpSpPr>
        <p:sp>
          <p:nvSpPr>
            <p:cNvPr id="4" name="Google Shape;51;p19">
              <a:extLst>
                <a:ext uri="{FF2B5EF4-FFF2-40B4-BE49-F238E27FC236}">
                  <a16:creationId xmlns:a16="http://schemas.microsoft.com/office/drawing/2014/main" id="{98F6BB16-EFC6-9846-2A11-E624E876E64B}"/>
                </a:ext>
              </a:extLst>
            </p:cNvPr>
            <p:cNvSpPr/>
            <p:nvPr/>
          </p:nvSpPr>
          <p:spPr>
            <a:xfrm>
              <a:off x="507969" y="928495"/>
              <a:ext cx="3105325" cy="485102"/>
            </a:xfrm>
            <a:prstGeom prst="roundRect">
              <a:avLst>
                <a:gd name="adj" fmla="val 16667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9pPr>
            </a:lstStyle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1" i="0" u="none" strike="noStrike" cap="none" dirty="0">
                <a:solidFill>
                  <a:schemeClr val="lt1"/>
                </a:solidFill>
                <a:latin typeface="メイリオ"/>
                <a:ea typeface="メイリオ"/>
                <a:cs typeface="メイリオ"/>
                <a:sym typeface="Meiryo"/>
              </a:endParaRPr>
            </a:p>
          </p:txBody>
        </p:sp>
        <p:sp>
          <p:nvSpPr>
            <p:cNvPr id="5" name="テキスト ボックス 4">
              <a:extLst>
                <a:ext uri="{FF2B5EF4-FFF2-40B4-BE49-F238E27FC236}">
                  <a16:creationId xmlns:a16="http://schemas.microsoft.com/office/drawing/2014/main" id="{560EDF30-5F09-B70A-2993-8CD4F9E40EFA}"/>
                </a:ext>
              </a:extLst>
            </p:cNvPr>
            <p:cNvSpPr txBox="1"/>
            <p:nvPr/>
          </p:nvSpPr>
          <p:spPr>
            <a:xfrm>
              <a:off x="1140096" y="988192"/>
              <a:ext cx="1832553" cy="35779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9pPr>
            </a:lstStyle>
            <a:p>
              <a:pPr>
                <a:lnSpc>
                  <a:spcPct val="120000"/>
                </a:lnSpc>
              </a:pPr>
              <a:r>
                <a:rPr kumimoji="1" lang="ja-JP" altLang="en-US" sz="1500" b="1" dirty="0">
                  <a:solidFill>
                    <a:schemeClr val="bg1"/>
                  </a:solidFill>
                  <a:latin typeface="メイリオ" panose="020B0604030504040204" pitchFamily="34" charset="-128"/>
                  <a:ea typeface="メイリオ" panose="020B0604030504040204" pitchFamily="34" charset="-128"/>
                  <a:cs typeface="メイリオ"/>
                </a:rPr>
                <a:t>サンクス</a:t>
              </a:r>
              <a:r>
                <a:rPr kumimoji="1" lang="en-US" altLang="ja-JP" sz="1500" b="1" dirty="0">
                  <a:solidFill>
                    <a:schemeClr val="bg1"/>
                  </a:solidFill>
                  <a:latin typeface="メイリオ" panose="020B0604030504040204" pitchFamily="34" charset="-128"/>
                  <a:ea typeface="メイリオ" panose="020B0604030504040204" pitchFamily="34" charset="-128"/>
                  <a:cs typeface="メイリオ"/>
                </a:rPr>
                <a:t>LINE</a:t>
              </a:r>
              <a:r>
                <a:rPr kumimoji="1" lang="ja-JP" altLang="en-US" sz="1500" b="1" dirty="0">
                  <a:solidFill>
                    <a:schemeClr val="bg1"/>
                  </a:solidFill>
                  <a:latin typeface="メイリオ" panose="020B0604030504040204" pitchFamily="34" charset="-128"/>
                  <a:ea typeface="メイリオ" panose="020B0604030504040204" pitchFamily="34" charset="-128"/>
                  <a:cs typeface="メイリオ"/>
                </a:rPr>
                <a:t>誘導</a:t>
              </a:r>
            </a:p>
          </p:txBody>
        </p:sp>
      </p:grp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8B20BFF3-9D3E-A4D7-FF5A-70927F78FC9D}"/>
              </a:ext>
            </a:extLst>
          </p:cNvPr>
          <p:cNvSpPr/>
          <p:nvPr/>
        </p:nvSpPr>
        <p:spPr>
          <a:xfrm>
            <a:off x="8247347" y="4702330"/>
            <a:ext cx="899499" cy="79959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7" name="コネクタ: カギ線 6">
            <a:extLst>
              <a:ext uri="{FF2B5EF4-FFF2-40B4-BE49-F238E27FC236}">
                <a16:creationId xmlns:a16="http://schemas.microsoft.com/office/drawing/2014/main" id="{C5EB654A-0759-70F8-6BA7-95CA3A0F983F}"/>
              </a:ext>
            </a:extLst>
          </p:cNvPr>
          <p:cNvCxnSpPr>
            <a:cxnSpLocks/>
          </p:cNvCxnSpPr>
          <p:nvPr/>
        </p:nvCxnSpPr>
        <p:spPr>
          <a:xfrm flipV="1">
            <a:off x="7672763" y="5102505"/>
            <a:ext cx="574585" cy="332494"/>
          </a:xfrm>
          <a:prstGeom prst="bentConnector3">
            <a:avLst>
              <a:gd name="adj1" fmla="val 50000"/>
            </a:avLst>
          </a:prstGeom>
          <a:ln w="15875">
            <a:solidFill>
              <a:srgbClr val="FF0000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直線矢印コネクタ 12">
            <a:extLst>
              <a:ext uri="{FF2B5EF4-FFF2-40B4-BE49-F238E27FC236}">
                <a16:creationId xmlns:a16="http://schemas.microsoft.com/office/drawing/2014/main" id="{218E3FE3-7B20-5966-421F-4ECB81603538}"/>
              </a:ext>
            </a:extLst>
          </p:cNvPr>
          <p:cNvCxnSpPr>
            <a:cxnSpLocks/>
            <a:stCxn id="48" idx="2"/>
            <a:endCxn id="21" idx="0"/>
          </p:cNvCxnSpPr>
          <p:nvPr/>
        </p:nvCxnSpPr>
        <p:spPr>
          <a:xfrm>
            <a:off x="6904149" y="3132263"/>
            <a:ext cx="1" cy="1334625"/>
          </a:xfrm>
          <a:prstGeom prst="straightConnector1">
            <a:avLst/>
          </a:prstGeom>
          <a:ln w="19050">
            <a:solidFill>
              <a:srgbClr val="00B050">
                <a:alpha val="80000"/>
              </a:srgbClr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DBDB9444-3A0E-B235-58FC-9F8C81BAEA44}"/>
              </a:ext>
            </a:extLst>
          </p:cNvPr>
          <p:cNvSpPr txBox="1"/>
          <p:nvPr/>
        </p:nvSpPr>
        <p:spPr>
          <a:xfrm>
            <a:off x="6323825" y="3523709"/>
            <a:ext cx="1161782" cy="261610"/>
          </a:xfrm>
          <a:prstGeom prst="rect">
            <a:avLst/>
          </a:prstGeom>
          <a:solidFill>
            <a:schemeClr val="bg1">
              <a:alpha val="70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kumimoji="1" lang="ja-JP" altLang="en-US" sz="1100" b="1" dirty="0">
                <a:solidFill>
                  <a:srgbClr val="00C057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友だち追加後</a:t>
            </a:r>
            <a:endParaRPr lang="ja-JP" altLang="en-US" sz="1100" dirty="0">
              <a:solidFill>
                <a:srgbClr val="00C057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DC4FF56C-47EE-47DB-92F1-3F0EF57613D9}"/>
              </a:ext>
            </a:extLst>
          </p:cNvPr>
          <p:cNvSpPr/>
          <p:nvPr/>
        </p:nvSpPr>
        <p:spPr>
          <a:xfrm>
            <a:off x="3806311" y="788165"/>
            <a:ext cx="5880088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ctr">
              <a:buClr>
                <a:schemeClr val="dk1"/>
              </a:buClr>
              <a:buSzPts val="1500"/>
            </a:pPr>
            <a:r>
              <a:rPr lang="ja-JP" altLang="en-US" sz="1600" dirty="0">
                <a:latin typeface="メイリオ"/>
                <a:ea typeface="メイリオ"/>
                <a:cs typeface="メイリオ"/>
                <a:sym typeface="Meiryo"/>
              </a:rPr>
              <a:t>サンクス到達時の</a:t>
            </a:r>
            <a:r>
              <a:rPr lang="en-US" altLang="ja-JP" sz="1600" dirty="0">
                <a:latin typeface="メイリオ"/>
                <a:ea typeface="メイリオ"/>
                <a:cs typeface="メイリオ"/>
                <a:sym typeface="Meiryo"/>
              </a:rPr>
              <a:t>LINE</a:t>
            </a:r>
            <a:r>
              <a:rPr lang="ja-JP" altLang="en-US" sz="1600" dirty="0">
                <a:latin typeface="メイリオ"/>
                <a:ea typeface="メイリオ"/>
                <a:cs typeface="メイリオ"/>
                <a:sym typeface="Meiryo"/>
              </a:rPr>
              <a:t>動線が弊社開発により可能に。</a:t>
            </a:r>
            <a:endParaRPr lang="en-US" altLang="ja-JP" sz="1600" dirty="0">
              <a:latin typeface="メイリオ"/>
              <a:ea typeface="メイリオ"/>
              <a:cs typeface="メイリオ"/>
              <a:sym typeface="Meiryo"/>
            </a:endParaRPr>
          </a:p>
          <a:p>
            <a:pPr lvl="0" algn="ctr">
              <a:buClr>
                <a:schemeClr val="dk1"/>
              </a:buClr>
              <a:buSzPts val="1500"/>
            </a:pPr>
            <a:r>
              <a:rPr lang="ja-JP" altLang="en-US" sz="1600" dirty="0">
                <a:latin typeface="メイリオ"/>
                <a:ea typeface="メイリオ"/>
                <a:cs typeface="メイリオ"/>
                <a:sym typeface="Meiryo"/>
              </a:rPr>
              <a:t>費用を抑えての導入が可能で、新規反響の質改善に寄与。</a:t>
            </a:r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5ED6F7D2-546D-BF9F-9805-58455D7E2831}"/>
              </a:ext>
            </a:extLst>
          </p:cNvPr>
          <p:cNvSpPr txBox="1"/>
          <p:nvPr/>
        </p:nvSpPr>
        <p:spPr>
          <a:xfrm>
            <a:off x="4091506" y="1404000"/>
            <a:ext cx="4718625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9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※</a:t>
            </a:r>
            <a:r>
              <a:rPr lang="ja-JP" altLang="en-US" sz="9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既存</a:t>
            </a:r>
            <a:r>
              <a:rPr lang="en-US" altLang="ja-JP" sz="9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API</a:t>
            </a:r>
            <a:r>
              <a:rPr lang="ja-JP" altLang="en-US" sz="9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ツールとの併用についても、問題なく稼働が可能。</a:t>
            </a:r>
            <a:endParaRPr lang="ja-JP" altLang="en-US" sz="900" dirty="0">
              <a:solidFill>
                <a:srgbClr val="FF0000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F5B8C83A-7191-D772-EF88-AE268D007E63}"/>
              </a:ext>
            </a:extLst>
          </p:cNvPr>
          <p:cNvSpPr/>
          <p:nvPr/>
        </p:nvSpPr>
        <p:spPr>
          <a:xfrm>
            <a:off x="5769326" y="1938056"/>
            <a:ext cx="3788228" cy="244151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1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動作イメージ</a:t>
            </a:r>
            <a:endParaRPr kumimoji="1" lang="ja-JP" altLang="en-US" sz="1100" b="1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sp>
        <p:nvSpPr>
          <p:cNvPr id="26" name="Google Shape;51;p19">
            <a:extLst>
              <a:ext uri="{FF2B5EF4-FFF2-40B4-BE49-F238E27FC236}">
                <a16:creationId xmlns:a16="http://schemas.microsoft.com/office/drawing/2014/main" id="{A4070FDA-7C99-27DE-6A9C-437C1D5DD3B3}"/>
              </a:ext>
            </a:extLst>
          </p:cNvPr>
          <p:cNvSpPr/>
          <p:nvPr/>
        </p:nvSpPr>
        <p:spPr>
          <a:xfrm>
            <a:off x="543399" y="1321261"/>
            <a:ext cx="1510826" cy="485102"/>
          </a:xfrm>
          <a:prstGeom prst="roundRect">
            <a:avLst>
              <a:gd name="adj" fmla="val 16667"/>
            </a:avLst>
          </a:prstGeom>
          <a:solidFill>
            <a:schemeClr val="tx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9pPr>
          </a:lstStyle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ja-JP" altLang="en-US" sz="1400" b="1" i="0" u="none" strike="noStrike" cap="none" dirty="0">
                <a:solidFill>
                  <a:schemeClr val="lt1"/>
                </a:solidFill>
                <a:latin typeface="メイリオ"/>
                <a:ea typeface="メイリオ"/>
                <a:cs typeface="メイリオ"/>
                <a:sym typeface="Meiryo"/>
              </a:rPr>
              <a:t>初期：</a:t>
            </a:r>
            <a:r>
              <a:rPr lang="en-US" altLang="ja-JP" sz="1400" b="1" i="0" u="none" strike="noStrike" cap="none" dirty="0">
                <a:solidFill>
                  <a:schemeClr val="lt1"/>
                </a:solidFill>
                <a:latin typeface="メイリオ"/>
                <a:ea typeface="メイリオ"/>
                <a:cs typeface="メイリオ"/>
                <a:sym typeface="Meiryo"/>
              </a:rPr>
              <a:t>15</a:t>
            </a:r>
            <a:r>
              <a:rPr lang="ja-JP" altLang="en-US" sz="1400" b="1" i="0" u="none" strike="noStrike" cap="none" dirty="0">
                <a:solidFill>
                  <a:schemeClr val="lt1"/>
                </a:solidFill>
                <a:latin typeface="メイリオ"/>
                <a:ea typeface="メイリオ"/>
                <a:cs typeface="メイリオ"/>
                <a:sym typeface="Meiryo"/>
              </a:rPr>
              <a:t>万円</a:t>
            </a:r>
            <a:endParaRPr sz="1400" b="1" i="0" u="none" strike="noStrike" cap="none" dirty="0">
              <a:solidFill>
                <a:schemeClr val="lt1"/>
              </a:solidFill>
              <a:latin typeface="メイリオ"/>
              <a:ea typeface="メイリオ"/>
              <a:cs typeface="メイリオ"/>
              <a:sym typeface="Meiryo"/>
            </a:endParaRPr>
          </a:p>
        </p:txBody>
      </p:sp>
      <p:sp>
        <p:nvSpPr>
          <p:cNvPr id="28" name="Google Shape;51;p19">
            <a:extLst>
              <a:ext uri="{FF2B5EF4-FFF2-40B4-BE49-F238E27FC236}">
                <a16:creationId xmlns:a16="http://schemas.microsoft.com/office/drawing/2014/main" id="{40C4675F-5DCC-DD57-BE14-B3A7697A02CD}"/>
              </a:ext>
            </a:extLst>
          </p:cNvPr>
          <p:cNvSpPr/>
          <p:nvPr/>
        </p:nvSpPr>
        <p:spPr>
          <a:xfrm>
            <a:off x="2137897" y="1321261"/>
            <a:ext cx="1510826" cy="485102"/>
          </a:xfrm>
          <a:prstGeom prst="roundRect">
            <a:avLst>
              <a:gd name="adj" fmla="val 16667"/>
            </a:avLst>
          </a:prstGeom>
          <a:solidFill>
            <a:schemeClr val="tx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9pPr>
          </a:lstStyle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ja-JP" altLang="en-US" sz="1400" b="1" i="0" u="none" strike="noStrike" cap="none" dirty="0">
                <a:solidFill>
                  <a:schemeClr val="lt1"/>
                </a:solidFill>
                <a:latin typeface="メイリオ"/>
                <a:ea typeface="メイリオ"/>
                <a:cs typeface="メイリオ"/>
                <a:sym typeface="Meiryo"/>
              </a:rPr>
              <a:t>月額</a:t>
            </a:r>
            <a:r>
              <a:rPr lang="en-US" altLang="ja-JP" sz="1400" b="1" i="0" u="none" strike="noStrike" cap="none" dirty="0">
                <a:solidFill>
                  <a:schemeClr val="lt1"/>
                </a:solidFill>
                <a:latin typeface="メイリオ"/>
                <a:ea typeface="メイリオ"/>
                <a:cs typeface="メイリオ"/>
                <a:sym typeface="Meiryo"/>
              </a:rPr>
              <a:t>3</a:t>
            </a:r>
            <a:r>
              <a:rPr lang="ja-JP" altLang="en-US" sz="1400" b="1" i="0" u="none" strike="noStrike" cap="none" dirty="0">
                <a:solidFill>
                  <a:schemeClr val="lt1"/>
                </a:solidFill>
                <a:latin typeface="メイリオ"/>
                <a:ea typeface="メイリオ"/>
                <a:cs typeface="メイリオ"/>
                <a:sym typeface="Meiryo"/>
              </a:rPr>
              <a:t>万円～</a:t>
            </a:r>
            <a:endParaRPr lang="en-US" altLang="ja-JP" sz="1400" b="1" i="0" u="none" strike="noStrike" cap="none" dirty="0">
              <a:solidFill>
                <a:schemeClr val="lt1"/>
              </a:solidFill>
              <a:latin typeface="メイリオ"/>
              <a:ea typeface="メイリオ"/>
              <a:cs typeface="メイリオ"/>
              <a:sym typeface="Meiryo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altLang="ja-JP" sz="1050" b="1" dirty="0">
                <a:solidFill>
                  <a:srgbClr val="FFFF00"/>
                </a:solidFill>
                <a:latin typeface="メイリオ"/>
                <a:ea typeface="メイリオ"/>
                <a:cs typeface="メイリオ"/>
                <a:sym typeface="Meiryo"/>
              </a:rPr>
              <a:t>+</a:t>
            </a:r>
            <a:r>
              <a:rPr lang="ja-JP" altLang="en-US" sz="1050" b="1" dirty="0">
                <a:solidFill>
                  <a:srgbClr val="FFFF00"/>
                </a:solidFill>
                <a:latin typeface="メイリオ"/>
                <a:ea typeface="メイリオ"/>
                <a:cs typeface="メイリオ"/>
                <a:sym typeface="Meiryo"/>
              </a:rPr>
              <a:t>設定地点追加</a:t>
            </a:r>
            <a:endParaRPr sz="1050" b="1" i="0" u="none" strike="noStrike" cap="none" dirty="0">
              <a:solidFill>
                <a:srgbClr val="FFFF00"/>
              </a:solidFill>
              <a:latin typeface="メイリオ"/>
              <a:ea typeface="メイリオ"/>
              <a:cs typeface="メイリオ"/>
              <a:sym typeface="Meiryo"/>
            </a:endParaRPr>
          </a:p>
        </p:txBody>
      </p:sp>
      <p:cxnSp>
        <p:nvCxnSpPr>
          <p:cNvPr id="30" name="コネクタ: カギ線 29">
            <a:extLst>
              <a:ext uri="{FF2B5EF4-FFF2-40B4-BE49-F238E27FC236}">
                <a16:creationId xmlns:a16="http://schemas.microsoft.com/office/drawing/2014/main" id="{D9706AF3-2C8D-6646-76C8-7802A4F734FC}"/>
              </a:ext>
            </a:extLst>
          </p:cNvPr>
          <p:cNvCxnSpPr>
            <a:cxnSpLocks/>
          </p:cNvCxnSpPr>
          <p:nvPr/>
        </p:nvCxnSpPr>
        <p:spPr>
          <a:xfrm rot="16200000" flipH="1">
            <a:off x="3294819" y="3047336"/>
            <a:ext cx="430977" cy="4596748"/>
          </a:xfrm>
          <a:prstGeom prst="bentConnector2">
            <a:avLst/>
          </a:prstGeom>
          <a:ln w="15875">
            <a:solidFill>
              <a:srgbClr val="FF0000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テキスト ボックス 49">
            <a:extLst>
              <a:ext uri="{FF2B5EF4-FFF2-40B4-BE49-F238E27FC236}">
                <a16:creationId xmlns:a16="http://schemas.microsoft.com/office/drawing/2014/main" id="{97C92C6B-4F06-7ED3-0627-D0C168299913}"/>
              </a:ext>
            </a:extLst>
          </p:cNvPr>
          <p:cNvSpPr txBox="1"/>
          <p:nvPr/>
        </p:nvSpPr>
        <p:spPr>
          <a:xfrm>
            <a:off x="0" y="5639542"/>
            <a:ext cx="5971903" cy="523220"/>
          </a:xfrm>
          <a:prstGeom prst="rect">
            <a:avLst/>
          </a:prstGeom>
          <a:solidFill>
            <a:schemeClr val="bg1">
              <a:alpha val="62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ja-JP" altLang="ja-JP" sz="1400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高開封率のLINEに誘導</a:t>
            </a:r>
            <a:r>
              <a:rPr lang="ja-JP" altLang="en-US" sz="1400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して</a:t>
            </a:r>
            <a:r>
              <a:rPr lang="ja-JP" altLang="ja-JP" sz="1400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反響→実売上への引上げ率、リピート率改善。</a:t>
            </a:r>
            <a:endParaRPr lang="en-US" altLang="ja-JP" sz="1400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pPr algn="ctr"/>
            <a:r>
              <a:rPr lang="ja-JP" altLang="ja-JP" sz="1400" b="1" dirty="0">
                <a:solidFill>
                  <a:srgbClr val="1F285A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美容クリニックでは、予約後来院率が40〜50%改善</a:t>
            </a:r>
            <a:endParaRPr lang="ja-JP" altLang="en-US" sz="1400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テーマ1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テーマ1" id="{8EA1701B-0E00-4167-9612-575199E01EDB}" vid="{8EF6575E-BB77-44AE-AF00-801DE4CAFB82}"/>
    </a:ext>
  </a:extLst>
</a:theme>
</file>

<file path=ppt/theme/theme2.xml><?xml version="1.0" encoding="utf-8"?>
<a:theme xmlns:a="http://schemas.openxmlformats.org/drawingml/2006/main" name="DYMJAPA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Default Theme</Template>
  <TotalTime>143216</TotalTime>
  <Words>319</Words>
  <Application>Microsoft Office PowerPoint</Application>
  <PresentationFormat>A4 210 x 297 mm</PresentationFormat>
  <Paragraphs>80</Paragraphs>
  <Slides>5</Slides>
  <Notes>3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2</vt:i4>
      </vt:variant>
      <vt:variant>
        <vt:lpstr>スライド タイトル</vt:lpstr>
      </vt:variant>
      <vt:variant>
        <vt:i4>5</vt:i4>
      </vt:variant>
    </vt:vector>
  </HeadingPairs>
  <TitlesOfParts>
    <vt:vector size="11" baseType="lpstr">
      <vt:lpstr>メイリオ</vt:lpstr>
      <vt:lpstr>Arial</vt:lpstr>
      <vt:lpstr>Calibri</vt:lpstr>
      <vt:lpstr>Century Gothic</vt:lpstr>
      <vt:lpstr>テーマ1</vt:lpstr>
      <vt:lpstr>DYMJAPAN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中村 駿</dc:creator>
  <cp:lastModifiedBy>殿村 亮太</cp:lastModifiedBy>
  <cp:revision>1963</cp:revision>
  <cp:lastPrinted>2022-11-01T11:38:14Z</cp:lastPrinted>
  <dcterms:created xsi:type="dcterms:W3CDTF">2015-09-04T09:21:15Z</dcterms:created>
  <dcterms:modified xsi:type="dcterms:W3CDTF">2026-09-30T08:47:37Z</dcterms:modified>
</cp:coreProperties>
</file>